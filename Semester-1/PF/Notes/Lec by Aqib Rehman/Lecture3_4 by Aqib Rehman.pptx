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81" r:id="rId3"/>
    <p:sldId id="282" r:id="rId4"/>
    <p:sldId id="283" r:id="rId5"/>
    <p:sldId id="266" r:id="rId6"/>
    <p:sldId id="258" r:id="rId7"/>
    <p:sldId id="259" r:id="rId8"/>
    <p:sldId id="267" r:id="rId9"/>
    <p:sldId id="260" r:id="rId10"/>
    <p:sldId id="275" r:id="rId11"/>
    <p:sldId id="269" r:id="rId12"/>
    <p:sldId id="285" r:id="rId13"/>
    <p:sldId id="284" r:id="rId14"/>
    <p:sldId id="286" r:id="rId15"/>
    <p:sldId id="272" r:id="rId16"/>
    <p:sldId id="274" r:id="rId17"/>
    <p:sldId id="268" r:id="rId18"/>
    <p:sldId id="278" r:id="rId19"/>
    <p:sldId id="298" r:id="rId20"/>
    <p:sldId id="304" r:id="rId21"/>
    <p:sldId id="264" r:id="rId22"/>
    <p:sldId id="300" r:id="rId23"/>
    <p:sldId id="302" r:id="rId24"/>
    <p:sldId id="303" r:id="rId25"/>
    <p:sldId id="301" r:id="rId26"/>
    <p:sldId id="265" r:id="rId27"/>
    <p:sldId id="279" r:id="rId28"/>
    <p:sldId id="280" r:id="rId29"/>
    <p:sldId id="277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57" autoAdjust="0"/>
    <p:restoredTop sz="94717" autoAdjust="0"/>
  </p:normalViewPr>
  <p:slideViewPr>
    <p:cSldViewPr>
      <p:cViewPr varScale="1">
        <p:scale>
          <a:sx n="75" d="100"/>
          <a:sy n="75" d="100"/>
        </p:scale>
        <p:origin x="10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A8172-805F-494F-9B16-EE43D2BCDBC7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A62CD-03D2-4F56-B2B4-A673A9AF81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118246-5A94-4E09-885F-82F545FE2467}" type="slidenum">
              <a:rPr lang="en-AU" smtClean="0"/>
              <a:pPr/>
              <a:t>1</a:t>
            </a:fld>
            <a:endParaRPr lang="en-A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NOTE: An unsigned 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variable can also be de 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ned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using only the word unsigned.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the following variable definitions are equivalent.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days;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 days;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A62CD-03D2-4F56-B2B4-A673A9AF815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 &amp; Lifetime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of a declaration is the part of the program for which the declaration is in effect.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C/C++ use lexical scoping.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lifetime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of a variable or object is the time period in which the variable/object has valid memory.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Lifetime is also called "allocation method" or "storage duration."</a:t>
            </a:r>
          </a:p>
          <a:p>
            <a:endParaRPr lang="en-US" dirty="0" smtClean="0"/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Lifetime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 static variable is stored in the data segment of the "object file" of a program. Its lifetime is the entire duration of the program's execution.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Automatic: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 automatic variable has a lifetime that begins when program execution enters the function or statement block or compound and ends when execution leaves the block. Automatic variables are stored in a "function call stack".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The lifetime of a dynamic object begins when memory is allocated for the object (e.g., by a call to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 or using new) and ends when memory is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deallocated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(e.g., by a call to free() or using delete). Dynamic objects are stored in "the heap".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 scope: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"visible" within function or statement block from point of declaration until the end of the block.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scope: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"seen" by class members.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 scope: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visible within namespace block.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scope: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visible within current text file.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 scope: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visible everywhere unless "hidden".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A62CD-03D2-4F56-B2B4-A673A9AF815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54D17-8F0A-4F49-AED3-86F07B0F2A92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AE3AE-0A68-4C1F-AB32-F1E60E314B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79512" y="764704"/>
            <a:ext cx="8642350" cy="90011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CS-1002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Programming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fundamentals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4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AU" sz="4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57313" y="6357938"/>
            <a:ext cx="6500812" cy="214312"/>
          </a:xfrm>
        </p:spPr>
        <p:txBody>
          <a:bodyPr/>
          <a:lstStyle/>
          <a:p>
            <a:pPr>
              <a:defRPr/>
            </a:pPr>
            <a:r>
              <a:rPr lang="en-US" sz="1400" dirty="0" smtClean="0">
                <a:solidFill>
                  <a:srgbClr val="C00000"/>
                </a:solidFill>
              </a:rPr>
              <a:t>FAST National University of Computer and Emerging Sciences, Islamabad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3076" name="TextBox 7"/>
          <p:cNvSpPr txBox="1">
            <a:spLocks noChangeArrowheads="1"/>
          </p:cNvSpPr>
          <p:nvPr/>
        </p:nvSpPr>
        <p:spPr bwMode="auto">
          <a:xfrm>
            <a:off x="1331640" y="2348880"/>
            <a:ext cx="65008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>
                <a:cs typeface="Times New Roman" pitchFamily="18" charset="0"/>
              </a:rPr>
              <a:t>Instructor : </a:t>
            </a:r>
            <a:r>
              <a:rPr lang="en-US" sz="2800" dirty="0" smtClean="0">
                <a:cs typeface="Times New Roman" pitchFamily="18" charset="0"/>
              </a:rPr>
              <a:t>Aqib Rehman</a:t>
            </a:r>
            <a:endParaRPr lang="en-US" sz="2800" dirty="0">
              <a:cs typeface="Times New Roman" pitchFamily="18" charset="0"/>
            </a:endParaRPr>
          </a:p>
          <a:p>
            <a:pPr algn="ctr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aqib.rehman@isb.nu.edu.pk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6188" y="4149080"/>
            <a:ext cx="1643062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Fall 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2023</a:t>
            </a:r>
          </a:p>
          <a:p>
            <a:pPr algn="ctr">
              <a:defRPr/>
            </a:pPr>
            <a:endParaRPr lang="en-US" sz="2400" b="1" dirty="0" smtClean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153400" cy="215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766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33400"/>
            <a:ext cx="6172200" cy="499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0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33400"/>
            <a:ext cx="4114800" cy="43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5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Variable and Literal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Variables represent storage locations in the computer’s memory. </a:t>
            </a:r>
          </a:p>
          <a:p>
            <a:r>
              <a:rPr lang="en-US" b="1" dirty="0" smtClean="0"/>
              <a:t>Literals are fixed values that are assigned to variables.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Literals are also called constants</a:t>
            </a:r>
          </a:p>
          <a:p>
            <a:endParaRPr lang="en-US" b="1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495800"/>
            <a:ext cx="73914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Variables stores data at particular memory location:</a:t>
            </a:r>
          </a:p>
          <a:p>
            <a:pPr lvl="1"/>
            <a:r>
              <a:rPr lang="en-US" dirty="0" smtClean="0"/>
              <a:t>Name</a:t>
            </a:r>
          </a:p>
          <a:p>
            <a:pPr lvl="1"/>
            <a:r>
              <a:rPr lang="en-US" dirty="0" smtClean="0"/>
              <a:t>Type</a:t>
            </a:r>
          </a:p>
          <a:p>
            <a:pPr lvl="1"/>
            <a:r>
              <a:rPr lang="en-US" dirty="0" smtClean="0"/>
              <a:t>Value</a:t>
            </a:r>
          </a:p>
          <a:p>
            <a:pPr lvl="1"/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Lifetime + Variable scope + Variable visibility </a:t>
            </a:r>
          </a:p>
          <a:p>
            <a:pPr lvl="1"/>
            <a:r>
              <a:rPr lang="en-US" dirty="0" smtClean="0"/>
              <a:t>Polarity</a:t>
            </a:r>
          </a:p>
          <a:p>
            <a:pPr lvl="1"/>
            <a:r>
              <a:rPr lang="en-US" dirty="0" smtClean="0"/>
              <a:t>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1. Variable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Also referred to as</a:t>
            </a:r>
            <a:r>
              <a:rPr lang="en-US" b="1" dirty="0" smtClean="0"/>
              <a:t> </a:t>
            </a:r>
            <a:r>
              <a:rPr lang="en-US" b="1" dirty="0" smtClean="0">
                <a:solidFill>
                  <a:srgbClr val="FF0000"/>
                </a:solidFill>
              </a:rPr>
              <a:t>identifiers</a:t>
            </a:r>
          </a:p>
          <a:p>
            <a:r>
              <a:rPr lang="en-US" b="1" dirty="0" smtClean="0"/>
              <a:t>Rules:</a:t>
            </a:r>
          </a:p>
          <a:p>
            <a:pPr lvl="1"/>
            <a:r>
              <a:rPr lang="en-US" dirty="0" smtClean="0"/>
              <a:t>You cannot use a C++ keyword (reserved word) as a variable name.</a:t>
            </a:r>
          </a:p>
          <a:p>
            <a:pPr lvl="1"/>
            <a:r>
              <a:rPr lang="en-US" dirty="0" smtClean="0"/>
              <a:t>Variable names in C++ can range from 1 to 255 characters.</a:t>
            </a:r>
          </a:p>
          <a:p>
            <a:pPr lvl="1"/>
            <a:r>
              <a:rPr lang="en-US" dirty="0" smtClean="0"/>
              <a:t>All variable names must begin with a letter of the alphabet (a-z, A-Z) or an underscore( _ ). </a:t>
            </a:r>
          </a:p>
          <a:p>
            <a:pPr lvl="1"/>
            <a:r>
              <a:rPr lang="en-US" dirty="0" smtClean="0"/>
              <a:t>After the first initial letter, variable names can also contain letters and numbers.  </a:t>
            </a:r>
          </a:p>
          <a:p>
            <a:pPr lvl="1"/>
            <a:r>
              <a:rPr lang="en-US" dirty="0" smtClean="0"/>
              <a:t>No spaces or special characters are allowed.</a:t>
            </a:r>
          </a:p>
          <a:p>
            <a:pPr lvl="1"/>
            <a:r>
              <a:rPr lang="en-US" dirty="0" smtClean="0"/>
              <a:t>C++ is case Sensitive. Uppercase characters are distinct from lowercase characters.   </a:t>
            </a:r>
          </a:p>
          <a:p>
            <a:pPr lvl="2"/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Reserved Keywords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2.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There are many different types of data. Variables are classified according to their data type, which determines the kind of information that may be stored in them.</a:t>
            </a:r>
          </a:p>
          <a:p>
            <a:pPr algn="just"/>
            <a:r>
              <a:rPr lang="en-US" dirty="0" smtClean="0"/>
              <a:t>C++ recognizes following built-in data types which are designated by reserved words:</a:t>
            </a:r>
          </a:p>
          <a:p>
            <a:pPr lvl="3"/>
            <a:r>
              <a:rPr lang="en-US" b="1" dirty="0" smtClean="0"/>
              <a:t>char </a:t>
            </a:r>
          </a:p>
          <a:p>
            <a:pPr lvl="3"/>
            <a:r>
              <a:rPr lang="en-US" b="1" dirty="0" smtClean="0"/>
              <a:t>short</a:t>
            </a:r>
          </a:p>
          <a:p>
            <a:pPr lvl="3"/>
            <a:r>
              <a:rPr lang="en-US" b="1" dirty="0" smtClean="0"/>
              <a:t>float </a:t>
            </a:r>
          </a:p>
          <a:p>
            <a:pPr lvl="3"/>
            <a:r>
              <a:rPr lang="en-US" b="1" dirty="0" smtClean="0"/>
              <a:t>long double </a:t>
            </a:r>
          </a:p>
          <a:p>
            <a:pPr lvl="3"/>
            <a:r>
              <a:rPr lang="en-US" b="1" dirty="0" smtClean="0"/>
              <a:t>unsigned </a:t>
            </a:r>
            <a:r>
              <a:rPr lang="en-US" b="1" dirty="0" err="1" smtClean="0"/>
              <a:t>int</a:t>
            </a:r>
            <a:r>
              <a:rPr lang="en-US" b="1" dirty="0" smtClean="0"/>
              <a:t> </a:t>
            </a:r>
          </a:p>
          <a:p>
            <a:pPr lvl="3"/>
            <a:r>
              <a:rPr lang="en-US" b="1" dirty="0" smtClean="0"/>
              <a:t>unsigned long </a:t>
            </a:r>
            <a:r>
              <a:rPr lang="en-US" b="1" dirty="0" err="1" smtClean="0"/>
              <a:t>int</a:t>
            </a:r>
            <a:endParaRPr lang="en-US" b="1" dirty="0" smtClean="0"/>
          </a:p>
          <a:p>
            <a:pPr lvl="3"/>
            <a:r>
              <a:rPr lang="en-US" b="1" dirty="0" smtClean="0"/>
              <a:t>long</a:t>
            </a:r>
          </a:p>
          <a:p>
            <a:pPr lvl="3"/>
            <a:r>
              <a:rPr lang="en-US" b="1" dirty="0" smtClean="0"/>
              <a:t>double</a:t>
            </a:r>
          </a:p>
          <a:p>
            <a:pPr lvl="3"/>
            <a:r>
              <a:rPr lang="en-US" b="1" dirty="0" smtClean="0"/>
              <a:t>unsigned char</a:t>
            </a:r>
          </a:p>
          <a:p>
            <a:pPr lvl="3"/>
            <a:r>
              <a:rPr lang="en-US" b="1" dirty="0" smtClean="0"/>
              <a:t>unsigned short</a:t>
            </a:r>
          </a:p>
          <a:p>
            <a:pPr lvl="3"/>
            <a:r>
              <a:rPr lang="en-US" b="1" dirty="0" err="1" smtClean="0"/>
              <a:t>boolean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Size of Variable</a:t>
            </a:r>
          </a:p>
          <a:p>
            <a:pPr lvl="1"/>
            <a:r>
              <a:rPr lang="en-US" dirty="0" smtClean="0"/>
              <a:t>Memory occupied by a variable.</a:t>
            </a:r>
          </a:p>
          <a:p>
            <a:pPr lvl="1"/>
            <a:r>
              <a:rPr lang="en-US" dirty="0" smtClean="0"/>
              <a:t>Express in bytes [</a:t>
            </a:r>
            <a:r>
              <a:rPr lang="en-US" dirty="0" smtClean="0">
                <a:solidFill>
                  <a:srgbClr val="FF0000"/>
                </a:solidFill>
              </a:rPr>
              <a:t>1 byte = 8 bits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Depends upon the type of variable</a:t>
            </a:r>
          </a:p>
          <a:p>
            <a:pPr lvl="1"/>
            <a:r>
              <a:rPr lang="en-US" b="1" dirty="0" smtClean="0"/>
              <a:t>The </a:t>
            </a:r>
            <a:r>
              <a:rPr lang="en-US" sz="2800" b="1" dirty="0" err="1" smtClean="0">
                <a:solidFill>
                  <a:srgbClr val="FF0000"/>
                </a:solidFill>
              </a:rPr>
              <a:t>sizeof</a:t>
            </a:r>
            <a:r>
              <a:rPr lang="en-US" sz="2800" b="1" dirty="0" smtClean="0"/>
              <a:t> </a:t>
            </a:r>
            <a:r>
              <a:rPr lang="en-US" b="1" dirty="0" smtClean="0"/>
              <a:t>operator is used to determine the size of a variable.</a:t>
            </a:r>
          </a:p>
          <a:p>
            <a:pPr lvl="1"/>
            <a:r>
              <a:rPr lang="en-US" b="1" dirty="0" err="1">
                <a:solidFill>
                  <a:srgbClr val="00B0F0"/>
                </a:solidFill>
              </a:rPr>
              <a:t>sizeof</a:t>
            </a:r>
            <a:r>
              <a:rPr lang="en-US" b="1" dirty="0">
                <a:solidFill>
                  <a:srgbClr val="00B0F0"/>
                </a:solidFill>
              </a:rPr>
              <a:t> (data type)</a:t>
            </a:r>
            <a:endParaRPr lang="en-US" b="1" dirty="0" smtClean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Polarity</a:t>
            </a:r>
          </a:p>
          <a:p>
            <a:pPr lvl="1"/>
            <a:r>
              <a:rPr lang="en-US" b="1" dirty="0" smtClean="0"/>
              <a:t>Signed or Unsigned</a:t>
            </a:r>
          </a:p>
          <a:p>
            <a:pPr lvl="1"/>
            <a:r>
              <a:rPr lang="en-US" b="1" dirty="0" smtClean="0"/>
              <a:t>Only integer or character can be signed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900" b="1" dirty="0" smtClean="0">
                <a:solidFill>
                  <a:srgbClr val="FF0000"/>
                </a:solidFill>
              </a:rPr>
              <a:t>Integer Data types</a:t>
            </a:r>
            <a:br>
              <a:rPr lang="en-US" sz="4900" b="1" dirty="0" smtClean="0">
                <a:solidFill>
                  <a:srgbClr val="FF0000"/>
                </a:solidFill>
              </a:rPr>
            </a:br>
            <a:endParaRPr lang="en-US" sz="49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76400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Integer variables can only hold whole numbers.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4600"/>
            <a:ext cx="8875562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6154"/>
          <a:stretch/>
        </p:blipFill>
        <p:spPr>
          <a:xfrm>
            <a:off x="838200" y="1600200"/>
            <a:ext cx="7477125" cy="213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209800" y="4724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 Byte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009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214437"/>
            <a:ext cx="79152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7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23975"/>
            <a:ext cx="80010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0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Floating-Point Data Types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Floating-point data types are used to define variables that can hold real numbers.</a:t>
            </a:r>
          </a:p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771774"/>
            <a:ext cx="82296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 err="1" smtClean="0">
                <a:solidFill>
                  <a:srgbClr val="FF0000"/>
                </a:solidFill>
              </a:rPr>
              <a:t>bool</a:t>
            </a:r>
            <a:r>
              <a:rPr lang="en-US" b="1" dirty="0" smtClean="0">
                <a:solidFill>
                  <a:srgbClr val="FF0000"/>
                </a:solidFill>
              </a:rPr>
              <a:t> Data Type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/>
          <a:lstStyle/>
          <a:p>
            <a:r>
              <a:rPr lang="en-US" b="1" dirty="0" smtClean="0"/>
              <a:t>Boolean variables are set to either “</a:t>
            </a:r>
            <a:r>
              <a:rPr lang="en-US" b="1" dirty="0" smtClean="0">
                <a:solidFill>
                  <a:srgbClr val="FF0000"/>
                </a:solidFill>
              </a:rPr>
              <a:t>true</a:t>
            </a:r>
            <a:r>
              <a:rPr lang="en-US" b="1" dirty="0" smtClean="0"/>
              <a:t>” or “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b="1" dirty="0" smtClean="0"/>
              <a:t>”.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Variable </a:t>
            </a: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Lifetime: </a:t>
            </a:r>
            <a:r>
              <a:rPr lang="en-US" sz="2800" b="1" dirty="0" smtClean="0"/>
              <a:t>The lifetime of a variable the time period in which the variable is in memory. </a:t>
            </a:r>
          </a:p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6. Variable scope: </a:t>
            </a:r>
            <a:r>
              <a:rPr lang="en-US" sz="2800" b="1" dirty="0" smtClean="0"/>
              <a:t>A variable s scope is the part of the program that has access to the variable.</a:t>
            </a:r>
            <a:endParaRPr lang="en-US" sz="3600" b="1" dirty="0" smtClean="0"/>
          </a:p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7. Variable visibility: </a:t>
            </a:r>
            <a:r>
              <a:rPr lang="en-US" sz="2800" b="1" dirty="0" smtClean="0"/>
              <a:t>Availability of a variable.</a:t>
            </a:r>
          </a:p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8. Address of variable: </a:t>
            </a:r>
            <a:r>
              <a:rPr lang="en-US" sz="2800" b="1" dirty="0" smtClean="0"/>
              <a:t>Where a variable reside in memory. Can be displayed using “&amp;” operator.</a:t>
            </a:r>
          </a:p>
          <a:p>
            <a:pPr>
              <a:buNone/>
            </a:pPr>
            <a:endParaRPr lang="en-US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Named 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Literals may be given names that symbolically represent them in a program.</a:t>
            </a:r>
          </a:p>
          <a:p>
            <a:endParaRPr lang="en-US" b="1" dirty="0" smtClean="0"/>
          </a:p>
          <a:p>
            <a:r>
              <a:rPr lang="en-US" b="1" dirty="0" smtClean="0"/>
              <a:t>const  </a:t>
            </a:r>
            <a:r>
              <a:rPr lang="en-US" b="1" dirty="0" smtClean="0">
                <a:solidFill>
                  <a:srgbClr val="0070C0"/>
                </a:solidFill>
              </a:rPr>
              <a:t>qualifier</a:t>
            </a:r>
            <a:r>
              <a:rPr lang="en-US" b="1" dirty="0" smtClean="0"/>
              <a:t> is used.</a:t>
            </a:r>
          </a:p>
          <a:p>
            <a:endParaRPr lang="en-US" b="1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00B050"/>
                </a:solidFill>
              </a:rPr>
              <a:t> const </a:t>
            </a:r>
            <a:r>
              <a:rPr lang="en-US" b="1" dirty="0" err="1" smtClean="0"/>
              <a:t>int</a:t>
            </a:r>
            <a:r>
              <a:rPr lang="en-US" b="1" dirty="0" smtClean="0"/>
              <a:t> a =10;</a:t>
            </a:r>
          </a:p>
          <a:p>
            <a:pPr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b="1" dirty="0" smtClean="0"/>
              <a:t>Remember when a value is declared const it is assigned a value immediately and that value is Read only. i.e. we can not change 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Writing first Program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600" dirty="0" smtClean="0">
                <a:solidFill>
                  <a:srgbClr val="0070C0"/>
                </a:solidFill>
              </a:rPr>
              <a:t>// This is a simple C++ program. Call this file Sample.cpp.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>
                <a:solidFill>
                  <a:srgbClr val="C00000"/>
                </a:solidFill>
              </a:rPr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using</a:t>
            </a:r>
            <a:r>
              <a:rPr lang="en-US" dirty="0" smtClean="0"/>
              <a:t> </a:t>
            </a:r>
            <a:r>
              <a:rPr lang="en-US" b="1" dirty="0" smtClean="0"/>
              <a:t>namespace</a:t>
            </a:r>
            <a:r>
              <a:rPr lang="en-US" dirty="0" smtClean="0"/>
              <a:t> std;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/>
              <a:t>main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 { </a:t>
            </a:r>
          </a:p>
          <a:p>
            <a:pPr lvl="1"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"C++ is power programming."; </a:t>
            </a:r>
          </a:p>
          <a:p>
            <a:pPr lvl="1">
              <a:buNone/>
            </a:pPr>
            <a:r>
              <a:rPr lang="en-US" b="1" dirty="0" smtClean="0"/>
              <a:t>return</a:t>
            </a:r>
            <a:r>
              <a:rPr lang="en-US" dirty="0" smtClean="0"/>
              <a:t> 0;</a:t>
            </a:r>
          </a:p>
          <a:p>
            <a:pPr>
              <a:buNone/>
            </a:pPr>
            <a:r>
              <a:rPr lang="en-US" dirty="0" smtClean="0"/>
              <a:t>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1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cout</a:t>
            </a:r>
            <a:r>
              <a:rPr lang="en-US" b="1" dirty="0" smtClean="0">
                <a:solidFill>
                  <a:srgbClr val="FF0000"/>
                </a:solidFill>
              </a:rPr>
              <a:t> and </a:t>
            </a:r>
            <a:r>
              <a:rPr lang="en-US" b="1" dirty="0" err="1" smtClean="0">
                <a:solidFill>
                  <a:srgbClr val="FF0000"/>
                </a:solidFill>
              </a:rPr>
              <a:t>cin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Objects of </a:t>
            </a:r>
            <a:r>
              <a:rPr lang="en-US" dirty="0" err="1" smtClean="0">
                <a:solidFill>
                  <a:srgbClr val="0070C0"/>
                </a:solidFill>
              </a:rPr>
              <a:t>iostream</a:t>
            </a:r>
            <a:r>
              <a:rPr lang="en-US" dirty="0" smtClean="0"/>
              <a:t> class</a:t>
            </a:r>
          </a:p>
          <a:p>
            <a:r>
              <a:rPr lang="en-US" dirty="0" smtClean="0"/>
              <a:t>Used for taking input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cin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 smtClean="0"/>
              <a:t>and for output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cout</a:t>
            </a:r>
            <a:r>
              <a:rPr lang="en-US" dirty="0" smtClean="0">
                <a:solidFill>
                  <a:srgbClr val="0070C0"/>
                </a:solidFill>
              </a:rPr>
              <a:t>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8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Special Characters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1447800"/>
            <a:ext cx="8610600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Starting C++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C++ statements </a:t>
            </a:r>
          </a:p>
          <a:p>
            <a:pPr lvl="1"/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 are fragments of the C++ program that are executed in sequence</a:t>
            </a:r>
          </a:p>
          <a:p>
            <a:r>
              <a:rPr lang="en-US" b="1" dirty="0" smtClean="0"/>
              <a:t>Two types of statements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statements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Single line of code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Compound Statements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Compound statements are multiple lines or curly braces-enclosed sequences of statements called blocks.</a:t>
            </a:r>
          </a:p>
        </p:txBody>
      </p:sp>
    </p:spTree>
    <p:extLst>
      <p:ext uri="{BB962C8B-B14F-4D97-AF65-F5344CB8AC3E}">
        <p14:creationId xmlns:p14="http://schemas.microsoft.com/office/powerpoint/2010/main" val="244272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Simple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Declaration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Assignment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Expression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Labels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751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Compound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b="1" dirty="0" smtClean="0"/>
              <a:t>Selection statements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If statement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If-else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Nested if else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Switch</a:t>
            </a:r>
          </a:p>
          <a:p>
            <a:pPr marL="571500" indent="-514350">
              <a:buFont typeface="+mj-lt"/>
              <a:buAutoNum type="arabicPeriod"/>
            </a:pPr>
            <a:r>
              <a:rPr lang="en-US" sz="3600" b="1" dirty="0" smtClean="0"/>
              <a:t>Iteration Statements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While loop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Do while loop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For loop</a:t>
            </a:r>
          </a:p>
          <a:p>
            <a:pPr marL="571500" indent="-514350">
              <a:buFont typeface="+mj-lt"/>
              <a:buAutoNum type="arabicPeriod"/>
            </a:pPr>
            <a:r>
              <a:rPr lang="en-US" sz="3600" b="1" dirty="0" smtClean="0"/>
              <a:t>Jump statements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Break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Continue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smtClean="0"/>
              <a:t>Return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600" dirty="0" err="1" smtClean="0"/>
              <a:t>Goto</a:t>
            </a:r>
            <a:r>
              <a:rPr lang="en-US" sz="2600" dirty="0" smtClean="0"/>
              <a:t> identifier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9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4900" b="1" dirty="0" smtClean="0"/>
              <a:t>Variable deceleration and Initialization/Assignment</a:t>
            </a:r>
            <a:br>
              <a:rPr lang="en-US" sz="4900" b="1" dirty="0" smtClean="0"/>
            </a:br>
            <a:endParaRPr lang="en-US" sz="49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 a;  </a:t>
            </a:r>
            <a:r>
              <a:rPr lang="en-US" sz="2800" dirty="0" smtClean="0">
                <a:solidFill>
                  <a:srgbClr val="00B050"/>
                </a:solidFill>
              </a:rPr>
              <a:t>//Declaration</a:t>
            </a:r>
          </a:p>
          <a:p>
            <a:pPr>
              <a:buNone/>
            </a:pPr>
            <a:r>
              <a:rPr lang="en-US" sz="2800" dirty="0" smtClean="0"/>
              <a:t>a = 15; </a:t>
            </a:r>
            <a:r>
              <a:rPr lang="en-US" sz="2800" dirty="0" smtClean="0">
                <a:solidFill>
                  <a:srgbClr val="00B050"/>
                </a:solidFill>
              </a:rPr>
              <a:t>// Initialization</a:t>
            </a:r>
          </a:p>
          <a:p>
            <a:pPr>
              <a:buNone/>
            </a:pPr>
            <a:r>
              <a:rPr lang="en-US" sz="2800" dirty="0" smtClean="0"/>
              <a:t>a = 30; </a:t>
            </a:r>
            <a:r>
              <a:rPr lang="en-US" sz="2800" dirty="0" smtClean="0">
                <a:solidFill>
                  <a:srgbClr val="00B050"/>
                </a:solidFill>
              </a:rPr>
              <a:t>//Assignment</a:t>
            </a:r>
          </a:p>
          <a:p>
            <a:pPr>
              <a:buNone/>
            </a:pPr>
            <a:endParaRPr lang="en-US" sz="28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a=15; </a:t>
            </a:r>
            <a:r>
              <a:rPr lang="en-US" sz="2800" dirty="0" smtClean="0">
                <a:solidFill>
                  <a:srgbClr val="00B050"/>
                </a:solidFill>
              </a:rPr>
              <a:t>// Declaration + Initialization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a, b, c, d; </a:t>
            </a:r>
            <a:r>
              <a:rPr lang="en-US" sz="2800" dirty="0" smtClean="0">
                <a:solidFill>
                  <a:srgbClr val="00B050"/>
                </a:solidFill>
              </a:rPr>
              <a:t>// Multiple Declaration</a:t>
            </a:r>
          </a:p>
          <a:p>
            <a:pPr>
              <a:buNone/>
            </a:pPr>
            <a:r>
              <a:rPr lang="en-US" sz="2800" dirty="0" smtClean="0"/>
              <a:t>a=b=c=d=10; </a:t>
            </a:r>
            <a:r>
              <a:rPr lang="en-US" sz="2800" dirty="0" smtClean="0">
                <a:solidFill>
                  <a:srgbClr val="00B050"/>
                </a:solidFill>
              </a:rPr>
              <a:t>// Multiple Assignment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a=b=c=d=10;  // </a:t>
            </a:r>
            <a:endParaRPr lang="en-US" sz="2800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a,b,c,d</a:t>
            </a:r>
            <a:r>
              <a:rPr lang="en-US" sz="2800" dirty="0" smtClean="0"/>
              <a:t>=10;   //</a:t>
            </a:r>
            <a:r>
              <a:rPr lang="en-US" sz="2800" dirty="0" smtClean="0">
                <a:solidFill>
                  <a:srgbClr val="00B050"/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0795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Escape sequences / Control Characters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838199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  <a:latin typeface="Bradley Hand ITC" pitchFamily="66" charset="0"/>
              </a:rPr>
              <a:t>Questions(???)</a:t>
            </a:r>
          </a:p>
          <a:p>
            <a:endParaRPr lang="en-US" b="1" dirty="0" smtClean="0">
              <a:solidFill>
                <a:srgbClr val="FF0000"/>
              </a:solidFill>
              <a:latin typeface="Bradley Hand ITC" pitchFamily="66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Bradley Hand ITC" pitchFamily="66" charset="0"/>
              </a:rPr>
              <a:t>Thanks</a:t>
            </a:r>
            <a:r>
              <a:rPr lang="en-US" dirty="0" smtClean="0">
                <a:latin typeface="Bradley Hand ITC" pitchFamily="66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dirty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Number systems </a:t>
            </a:r>
            <a:r>
              <a:rPr lang="en-US" dirty="0" smtClean="0"/>
              <a:t>(Decimal, Octal, Binary and Hexadecimal) and their inter conversion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ASCII</a:t>
            </a:r>
            <a:r>
              <a:rPr lang="en-US" dirty="0" smtClean="0"/>
              <a:t> character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2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Book:</a:t>
            </a:r>
            <a:r>
              <a:rPr lang="en-US" dirty="0" smtClean="0"/>
              <a:t> STARTING OUT WITH </a:t>
            </a:r>
            <a:r>
              <a:rPr lang="en-US" b="1" dirty="0" smtClean="0"/>
              <a:t>C++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Chapter No.2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Author</a:t>
            </a:r>
            <a:r>
              <a:rPr lang="en-US" b="1" dirty="0" smtClean="0"/>
              <a:t>: Tony Gaddis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909762"/>
            <a:ext cx="69056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1981200"/>
            <a:ext cx="68294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1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38200"/>
            <a:ext cx="699135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7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609600"/>
            <a:ext cx="815509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5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00"/>
            <a:ext cx="826519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7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27662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0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857375"/>
            <a:ext cx="6572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1966912"/>
            <a:ext cx="67341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6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528762"/>
            <a:ext cx="64198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8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1790700"/>
            <a:ext cx="6467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581</Words>
  <Application>Microsoft Office PowerPoint</Application>
  <PresentationFormat>On-screen Show (4:3)</PresentationFormat>
  <Paragraphs>164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Bradley Hand ITC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Variable and Literal</vt:lpstr>
      <vt:lpstr>Variable</vt:lpstr>
      <vt:lpstr>1. Variable Name</vt:lpstr>
      <vt:lpstr>C++ Reserved Keywords</vt:lpstr>
      <vt:lpstr>2. Data Types</vt:lpstr>
      <vt:lpstr>PowerPoint Presentation</vt:lpstr>
      <vt:lpstr> Integer Data types </vt:lpstr>
      <vt:lpstr>PowerPoint Presentation</vt:lpstr>
      <vt:lpstr>PowerPoint Presentation</vt:lpstr>
      <vt:lpstr>PowerPoint Presentation</vt:lpstr>
      <vt:lpstr>Floating-Point Data Types</vt:lpstr>
      <vt:lpstr>The bool Data Type</vt:lpstr>
      <vt:lpstr>PowerPoint Presentation</vt:lpstr>
      <vt:lpstr>Named Constants</vt:lpstr>
      <vt:lpstr>Writing first Program in C++</vt:lpstr>
      <vt:lpstr>cout and cin</vt:lpstr>
      <vt:lpstr>C++ Special Characters</vt:lpstr>
      <vt:lpstr>Starting C++</vt:lpstr>
      <vt:lpstr>Simple statements</vt:lpstr>
      <vt:lpstr>Compound statements</vt:lpstr>
      <vt:lpstr> Variable deceleration and Initialization/Assignment </vt:lpstr>
      <vt:lpstr>Escape sequences / Control Characters</vt:lpstr>
      <vt:lpstr>PowerPoint Presentation</vt:lpstr>
      <vt:lpstr>Reading Assignment</vt:lpstr>
      <vt:lpstr>References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</dc:creator>
  <cp:lastModifiedBy>Aqib Rehman</cp:lastModifiedBy>
  <cp:revision>38</cp:revision>
  <dcterms:created xsi:type="dcterms:W3CDTF">2017-10-18T07:15:59Z</dcterms:created>
  <dcterms:modified xsi:type="dcterms:W3CDTF">2023-09-06T07:34:43Z</dcterms:modified>
</cp:coreProperties>
</file>