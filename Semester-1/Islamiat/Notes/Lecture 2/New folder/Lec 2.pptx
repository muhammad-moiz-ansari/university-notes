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4" r:id="rId5"/>
    <p:sldId id="265" r:id="rId6"/>
    <p:sldId id="266" r:id="rId7"/>
    <p:sldId id="267" r:id="rId8"/>
    <p:sldId id="268" r:id="rId9"/>
    <p:sldId id="288" r:id="rId10"/>
    <p:sldId id="286" r:id="rId11"/>
    <p:sldId id="269" r:id="rId12"/>
    <p:sldId id="270" r:id="rId13"/>
    <p:sldId id="287"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9" r:id="rId30"/>
    <p:sldId id="29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showGuides="1">
      <p:cViewPr varScale="1">
        <p:scale>
          <a:sx n="72" d="100"/>
          <a:sy n="72" d="100"/>
        </p:scale>
        <p:origin x="1014"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 Id="rId4" Type="http://schemas.openxmlformats.org/officeDocument/2006/relationships/image" Target="../media/image18.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 Id="rId4" Type="http://schemas.openxmlformats.org/officeDocument/2006/relationships/image" Target="../media/image18.pn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19C823-67E5-4DFE-936E-24B5496AA8B9}" type="doc">
      <dgm:prSet loTypeId="urn:microsoft.com/office/officeart/2005/8/layout/vList3" loCatId="list" qsTypeId="urn:microsoft.com/office/officeart/2005/8/quickstyle/3d3" qsCatId="3D" csTypeId="urn:microsoft.com/office/officeart/2005/8/colors/colorful4" csCatId="colorful" phldr="1"/>
      <dgm:spPr/>
    </dgm:pt>
    <dgm:pt modelId="{1C29DE9C-B765-4D5D-830D-EB6492FFF2B3}">
      <dgm:prSet phldrT="[Text]"/>
      <dgm:spPr/>
      <dgm:t>
        <a:bodyPr/>
        <a:lstStyle/>
        <a:p>
          <a:r>
            <a:rPr lang="en-US" dirty="0" smtClean="0"/>
            <a:t>What is Islam?</a:t>
          </a:r>
          <a:endParaRPr lang="en-US" dirty="0"/>
        </a:p>
      </dgm:t>
    </dgm:pt>
    <dgm:pt modelId="{296543E7-BB37-47B2-A495-BA413BD12100}" type="parTrans" cxnId="{BD2702D9-AE73-4215-8EB7-9464EF029098}">
      <dgm:prSet/>
      <dgm:spPr/>
      <dgm:t>
        <a:bodyPr/>
        <a:lstStyle/>
        <a:p>
          <a:endParaRPr lang="en-US"/>
        </a:p>
      </dgm:t>
    </dgm:pt>
    <dgm:pt modelId="{DC061C99-A476-4E06-997A-0C1B17CA3B04}" type="sibTrans" cxnId="{BD2702D9-AE73-4215-8EB7-9464EF029098}">
      <dgm:prSet/>
      <dgm:spPr/>
      <dgm:t>
        <a:bodyPr/>
        <a:lstStyle/>
        <a:p>
          <a:endParaRPr lang="en-US"/>
        </a:p>
      </dgm:t>
    </dgm:pt>
    <dgm:pt modelId="{3F8B67E0-42E8-4734-AFC2-788A146CDD77}">
      <dgm:prSet phldrT="[Text]"/>
      <dgm:spPr/>
      <dgm:t>
        <a:bodyPr/>
        <a:lstStyle/>
        <a:p>
          <a:r>
            <a:rPr lang="en-US" dirty="0" smtClean="0"/>
            <a:t>What is </a:t>
          </a:r>
          <a:r>
            <a:rPr lang="en-US" dirty="0" err="1" smtClean="0"/>
            <a:t>Eman</a:t>
          </a:r>
          <a:r>
            <a:rPr lang="en-US" dirty="0" smtClean="0"/>
            <a:t>?</a:t>
          </a:r>
          <a:endParaRPr lang="en-US" dirty="0"/>
        </a:p>
      </dgm:t>
    </dgm:pt>
    <dgm:pt modelId="{44B6E4AE-15EA-4B9E-A681-B33161F03BB1}" type="parTrans" cxnId="{DA30F770-246B-4ED1-BD1F-8D2AE8E5F1AF}">
      <dgm:prSet/>
      <dgm:spPr/>
      <dgm:t>
        <a:bodyPr/>
        <a:lstStyle/>
        <a:p>
          <a:endParaRPr lang="en-US"/>
        </a:p>
      </dgm:t>
    </dgm:pt>
    <dgm:pt modelId="{75B63A2B-30CD-4055-85A1-B42672F09784}" type="sibTrans" cxnId="{DA30F770-246B-4ED1-BD1F-8D2AE8E5F1AF}">
      <dgm:prSet/>
      <dgm:spPr/>
      <dgm:t>
        <a:bodyPr/>
        <a:lstStyle/>
        <a:p>
          <a:endParaRPr lang="en-US"/>
        </a:p>
      </dgm:t>
    </dgm:pt>
    <dgm:pt modelId="{D266EB50-FF6A-47C5-9BDF-3691C805AD0B}">
      <dgm:prSet phldrT="[Text]"/>
      <dgm:spPr/>
      <dgm:t>
        <a:bodyPr/>
        <a:lstStyle/>
        <a:p>
          <a:r>
            <a:rPr lang="en-US" dirty="0" smtClean="0"/>
            <a:t>What is </a:t>
          </a:r>
          <a:r>
            <a:rPr lang="en-US" dirty="0" err="1" smtClean="0"/>
            <a:t>Ehsan</a:t>
          </a:r>
          <a:r>
            <a:rPr lang="en-US" dirty="0" smtClean="0"/>
            <a:t>?</a:t>
          </a:r>
          <a:endParaRPr lang="en-US" dirty="0"/>
        </a:p>
      </dgm:t>
    </dgm:pt>
    <dgm:pt modelId="{7397F3D4-DD9C-4171-A220-8CA954DEFA2F}" type="parTrans" cxnId="{58D5F467-A4C8-4A0B-A8FA-C4CB2383C754}">
      <dgm:prSet/>
      <dgm:spPr/>
      <dgm:t>
        <a:bodyPr/>
        <a:lstStyle/>
        <a:p>
          <a:endParaRPr lang="en-US"/>
        </a:p>
      </dgm:t>
    </dgm:pt>
    <dgm:pt modelId="{F1537F96-17D4-4933-8C89-D2C53F8752CF}" type="sibTrans" cxnId="{58D5F467-A4C8-4A0B-A8FA-C4CB2383C754}">
      <dgm:prSet/>
      <dgm:spPr/>
      <dgm:t>
        <a:bodyPr/>
        <a:lstStyle/>
        <a:p>
          <a:endParaRPr lang="en-US"/>
        </a:p>
      </dgm:t>
    </dgm:pt>
    <dgm:pt modelId="{2DD391B6-502E-42C9-9C9B-E353F9867AD0}">
      <dgm:prSet phldrT="[Text]"/>
      <dgm:spPr/>
      <dgm:t>
        <a:bodyPr/>
        <a:lstStyle/>
        <a:p>
          <a:r>
            <a:rPr lang="en-US" dirty="0" smtClean="0"/>
            <a:t>What are the signs of The Hour (Doomsday)?</a:t>
          </a:r>
          <a:endParaRPr lang="en-US" dirty="0"/>
        </a:p>
      </dgm:t>
    </dgm:pt>
    <dgm:pt modelId="{2E43AAC1-2A4A-478F-8721-DFC259D5DE17}" type="parTrans" cxnId="{7F0E30A3-3124-4D09-A887-9DA473B04C3F}">
      <dgm:prSet/>
      <dgm:spPr/>
      <dgm:t>
        <a:bodyPr/>
        <a:lstStyle/>
        <a:p>
          <a:endParaRPr lang="en-US"/>
        </a:p>
      </dgm:t>
    </dgm:pt>
    <dgm:pt modelId="{F613FE7C-2895-4E56-B755-50F21FEE5E11}" type="sibTrans" cxnId="{7F0E30A3-3124-4D09-A887-9DA473B04C3F}">
      <dgm:prSet/>
      <dgm:spPr/>
      <dgm:t>
        <a:bodyPr/>
        <a:lstStyle/>
        <a:p>
          <a:endParaRPr lang="en-US"/>
        </a:p>
      </dgm:t>
    </dgm:pt>
    <dgm:pt modelId="{FF79EA5C-DEF6-4B3A-9EDD-BE58A277F671}" type="pres">
      <dgm:prSet presAssocID="{4119C823-67E5-4DFE-936E-24B5496AA8B9}" presName="linearFlow" presStyleCnt="0">
        <dgm:presLayoutVars>
          <dgm:dir/>
          <dgm:resizeHandles val="exact"/>
        </dgm:presLayoutVars>
      </dgm:prSet>
      <dgm:spPr/>
    </dgm:pt>
    <dgm:pt modelId="{E4F67718-E35E-4DDD-93FA-43195F837AF5}" type="pres">
      <dgm:prSet presAssocID="{1C29DE9C-B765-4D5D-830D-EB6492FFF2B3}" presName="composite" presStyleCnt="0"/>
      <dgm:spPr/>
    </dgm:pt>
    <dgm:pt modelId="{7A44F2DE-5B52-4C02-B825-9321425977F6}" type="pres">
      <dgm:prSet presAssocID="{1C29DE9C-B765-4D5D-830D-EB6492FFF2B3}" presName="imgShp" presStyleLbl="fgImgPlace1" presStyleIdx="0" presStyleCnt="4"/>
      <dgm:spPr>
        <a:blipFill rotWithShape="1">
          <a:blip xmlns:r="http://schemas.openxmlformats.org/officeDocument/2006/relationships" r:embed="rId1"/>
          <a:stretch>
            <a:fillRect/>
          </a:stretch>
        </a:blipFill>
      </dgm:spPr>
    </dgm:pt>
    <dgm:pt modelId="{2DB5E0E5-E4C2-4C27-89EF-B68FD066DB2A}" type="pres">
      <dgm:prSet presAssocID="{1C29DE9C-B765-4D5D-830D-EB6492FFF2B3}" presName="txShp" presStyleLbl="node1" presStyleIdx="0" presStyleCnt="4">
        <dgm:presLayoutVars>
          <dgm:bulletEnabled val="1"/>
        </dgm:presLayoutVars>
      </dgm:prSet>
      <dgm:spPr/>
      <dgm:t>
        <a:bodyPr/>
        <a:lstStyle/>
        <a:p>
          <a:endParaRPr lang="en-US"/>
        </a:p>
      </dgm:t>
    </dgm:pt>
    <dgm:pt modelId="{6D5F2D5F-4BF2-4FD5-83A5-A1C623CFC2D0}" type="pres">
      <dgm:prSet presAssocID="{DC061C99-A476-4E06-997A-0C1B17CA3B04}" presName="spacing" presStyleCnt="0"/>
      <dgm:spPr/>
    </dgm:pt>
    <dgm:pt modelId="{9CB08D44-28FA-4647-881B-CD21A5E8FF2F}" type="pres">
      <dgm:prSet presAssocID="{3F8B67E0-42E8-4734-AFC2-788A146CDD77}" presName="composite" presStyleCnt="0"/>
      <dgm:spPr/>
    </dgm:pt>
    <dgm:pt modelId="{514035F8-8524-4F89-88C5-B16B2DDF72FC}" type="pres">
      <dgm:prSet presAssocID="{3F8B67E0-42E8-4734-AFC2-788A146CDD77}" presName="imgShp" presStyleLbl="fgImgPlace1" presStyleIdx="1" presStyleCnt="4"/>
      <dgm:spPr>
        <a:blipFill rotWithShape="1">
          <a:blip xmlns:r="http://schemas.openxmlformats.org/officeDocument/2006/relationships" r:embed="rId2"/>
          <a:stretch>
            <a:fillRect/>
          </a:stretch>
        </a:blipFill>
      </dgm:spPr>
    </dgm:pt>
    <dgm:pt modelId="{AE6B277E-8F52-4109-AF74-63C14A04F962}" type="pres">
      <dgm:prSet presAssocID="{3F8B67E0-42E8-4734-AFC2-788A146CDD77}" presName="txShp" presStyleLbl="node1" presStyleIdx="1" presStyleCnt="4">
        <dgm:presLayoutVars>
          <dgm:bulletEnabled val="1"/>
        </dgm:presLayoutVars>
      </dgm:prSet>
      <dgm:spPr/>
    </dgm:pt>
    <dgm:pt modelId="{E858E053-2D22-484C-A1B5-4F31DB6937DB}" type="pres">
      <dgm:prSet presAssocID="{75B63A2B-30CD-4055-85A1-B42672F09784}" presName="spacing" presStyleCnt="0"/>
      <dgm:spPr/>
    </dgm:pt>
    <dgm:pt modelId="{6715D214-4902-48FA-927F-BA17115F40AA}" type="pres">
      <dgm:prSet presAssocID="{D266EB50-FF6A-47C5-9BDF-3691C805AD0B}" presName="composite" presStyleCnt="0"/>
      <dgm:spPr/>
    </dgm:pt>
    <dgm:pt modelId="{C13809D4-C286-4CB3-AB9C-165A4676C813}" type="pres">
      <dgm:prSet presAssocID="{D266EB50-FF6A-47C5-9BDF-3691C805AD0B}" presName="imgShp" presStyleLbl="fgImgPlace1" presStyleIdx="2" presStyleCnt="4"/>
      <dgm:spPr>
        <a:blipFill rotWithShape="1">
          <a:blip xmlns:r="http://schemas.openxmlformats.org/officeDocument/2006/relationships" r:embed="rId3"/>
          <a:stretch>
            <a:fillRect/>
          </a:stretch>
        </a:blipFill>
      </dgm:spPr>
    </dgm:pt>
    <dgm:pt modelId="{F56ED880-E818-494A-8E38-8469622D586D}" type="pres">
      <dgm:prSet presAssocID="{D266EB50-FF6A-47C5-9BDF-3691C805AD0B}" presName="txShp" presStyleLbl="node1" presStyleIdx="2" presStyleCnt="4">
        <dgm:presLayoutVars>
          <dgm:bulletEnabled val="1"/>
        </dgm:presLayoutVars>
      </dgm:prSet>
      <dgm:spPr/>
      <dgm:t>
        <a:bodyPr/>
        <a:lstStyle/>
        <a:p>
          <a:endParaRPr lang="en-US"/>
        </a:p>
      </dgm:t>
    </dgm:pt>
    <dgm:pt modelId="{62891DD7-AE14-4C4C-B73A-CE3D7640BD0D}" type="pres">
      <dgm:prSet presAssocID="{F1537F96-17D4-4933-8C89-D2C53F8752CF}" presName="spacing" presStyleCnt="0"/>
      <dgm:spPr/>
    </dgm:pt>
    <dgm:pt modelId="{C29CE0B9-548D-4A4C-91AA-C1A7B271E74D}" type="pres">
      <dgm:prSet presAssocID="{2DD391B6-502E-42C9-9C9B-E353F9867AD0}" presName="composite" presStyleCnt="0"/>
      <dgm:spPr/>
    </dgm:pt>
    <dgm:pt modelId="{4622DBE3-9C3A-4264-98C1-36762D23B637}" type="pres">
      <dgm:prSet presAssocID="{2DD391B6-502E-42C9-9C9B-E353F9867AD0}" presName="imgShp" presStyleLbl="fgImgPlace1" presStyleIdx="3" presStyleCnt="4"/>
      <dgm:spPr>
        <a:blipFill rotWithShape="1">
          <a:blip xmlns:r="http://schemas.openxmlformats.org/officeDocument/2006/relationships" r:embed="rId4"/>
          <a:stretch>
            <a:fillRect/>
          </a:stretch>
        </a:blipFill>
      </dgm:spPr>
    </dgm:pt>
    <dgm:pt modelId="{1DA3B3E4-C0F1-4748-B4D2-51203292AD1A}" type="pres">
      <dgm:prSet presAssocID="{2DD391B6-502E-42C9-9C9B-E353F9867AD0}" presName="txShp" presStyleLbl="node1" presStyleIdx="3" presStyleCnt="4">
        <dgm:presLayoutVars>
          <dgm:bulletEnabled val="1"/>
        </dgm:presLayoutVars>
      </dgm:prSet>
      <dgm:spPr/>
      <dgm:t>
        <a:bodyPr/>
        <a:lstStyle/>
        <a:p>
          <a:endParaRPr lang="en-US"/>
        </a:p>
      </dgm:t>
    </dgm:pt>
  </dgm:ptLst>
  <dgm:cxnLst>
    <dgm:cxn modelId="{DA30F770-246B-4ED1-BD1F-8D2AE8E5F1AF}" srcId="{4119C823-67E5-4DFE-936E-24B5496AA8B9}" destId="{3F8B67E0-42E8-4734-AFC2-788A146CDD77}" srcOrd="1" destOrd="0" parTransId="{44B6E4AE-15EA-4B9E-A681-B33161F03BB1}" sibTransId="{75B63A2B-30CD-4055-85A1-B42672F09784}"/>
    <dgm:cxn modelId="{B1F0564C-0C54-4248-BA86-9D13F820E1A8}" type="presOf" srcId="{1C29DE9C-B765-4D5D-830D-EB6492FFF2B3}" destId="{2DB5E0E5-E4C2-4C27-89EF-B68FD066DB2A}" srcOrd="0" destOrd="0" presId="urn:microsoft.com/office/officeart/2005/8/layout/vList3"/>
    <dgm:cxn modelId="{7F0E30A3-3124-4D09-A887-9DA473B04C3F}" srcId="{4119C823-67E5-4DFE-936E-24B5496AA8B9}" destId="{2DD391B6-502E-42C9-9C9B-E353F9867AD0}" srcOrd="3" destOrd="0" parTransId="{2E43AAC1-2A4A-478F-8721-DFC259D5DE17}" sibTransId="{F613FE7C-2895-4E56-B755-50F21FEE5E11}"/>
    <dgm:cxn modelId="{6C031484-DC4B-4140-9EC2-470F67CF0559}" type="presOf" srcId="{4119C823-67E5-4DFE-936E-24B5496AA8B9}" destId="{FF79EA5C-DEF6-4B3A-9EDD-BE58A277F671}" srcOrd="0" destOrd="0" presId="urn:microsoft.com/office/officeart/2005/8/layout/vList3"/>
    <dgm:cxn modelId="{BD2702D9-AE73-4215-8EB7-9464EF029098}" srcId="{4119C823-67E5-4DFE-936E-24B5496AA8B9}" destId="{1C29DE9C-B765-4D5D-830D-EB6492FFF2B3}" srcOrd="0" destOrd="0" parTransId="{296543E7-BB37-47B2-A495-BA413BD12100}" sibTransId="{DC061C99-A476-4E06-997A-0C1B17CA3B04}"/>
    <dgm:cxn modelId="{58D5F467-A4C8-4A0B-A8FA-C4CB2383C754}" srcId="{4119C823-67E5-4DFE-936E-24B5496AA8B9}" destId="{D266EB50-FF6A-47C5-9BDF-3691C805AD0B}" srcOrd="2" destOrd="0" parTransId="{7397F3D4-DD9C-4171-A220-8CA954DEFA2F}" sibTransId="{F1537F96-17D4-4933-8C89-D2C53F8752CF}"/>
    <dgm:cxn modelId="{F86FB018-2141-4A59-B954-7DB9C1231C5F}" type="presOf" srcId="{3F8B67E0-42E8-4734-AFC2-788A146CDD77}" destId="{AE6B277E-8F52-4109-AF74-63C14A04F962}" srcOrd="0" destOrd="0" presId="urn:microsoft.com/office/officeart/2005/8/layout/vList3"/>
    <dgm:cxn modelId="{0A446357-6FA8-44C4-B73D-DE57E2B1A714}" type="presOf" srcId="{2DD391B6-502E-42C9-9C9B-E353F9867AD0}" destId="{1DA3B3E4-C0F1-4748-B4D2-51203292AD1A}" srcOrd="0" destOrd="0" presId="urn:microsoft.com/office/officeart/2005/8/layout/vList3"/>
    <dgm:cxn modelId="{2927728C-CD48-4228-A160-DF455D7AEA24}" type="presOf" srcId="{D266EB50-FF6A-47C5-9BDF-3691C805AD0B}" destId="{F56ED880-E818-494A-8E38-8469622D586D}" srcOrd="0" destOrd="0" presId="urn:microsoft.com/office/officeart/2005/8/layout/vList3"/>
    <dgm:cxn modelId="{3F18DC3C-1B9E-492F-BDA6-20950CD782C6}" type="presParOf" srcId="{FF79EA5C-DEF6-4B3A-9EDD-BE58A277F671}" destId="{E4F67718-E35E-4DDD-93FA-43195F837AF5}" srcOrd="0" destOrd="0" presId="urn:microsoft.com/office/officeart/2005/8/layout/vList3"/>
    <dgm:cxn modelId="{C230C322-3265-436A-A6EE-A290520FCD16}" type="presParOf" srcId="{E4F67718-E35E-4DDD-93FA-43195F837AF5}" destId="{7A44F2DE-5B52-4C02-B825-9321425977F6}" srcOrd="0" destOrd="0" presId="urn:microsoft.com/office/officeart/2005/8/layout/vList3"/>
    <dgm:cxn modelId="{938CEA0E-83A7-4782-AAD9-271BB156FF75}" type="presParOf" srcId="{E4F67718-E35E-4DDD-93FA-43195F837AF5}" destId="{2DB5E0E5-E4C2-4C27-89EF-B68FD066DB2A}" srcOrd="1" destOrd="0" presId="urn:microsoft.com/office/officeart/2005/8/layout/vList3"/>
    <dgm:cxn modelId="{9F470EA4-171D-4D41-9CFA-CF9F4004116E}" type="presParOf" srcId="{FF79EA5C-DEF6-4B3A-9EDD-BE58A277F671}" destId="{6D5F2D5F-4BF2-4FD5-83A5-A1C623CFC2D0}" srcOrd="1" destOrd="0" presId="urn:microsoft.com/office/officeart/2005/8/layout/vList3"/>
    <dgm:cxn modelId="{5C654BEF-8C23-4405-9D8C-B37EC8C8E6F5}" type="presParOf" srcId="{FF79EA5C-DEF6-4B3A-9EDD-BE58A277F671}" destId="{9CB08D44-28FA-4647-881B-CD21A5E8FF2F}" srcOrd="2" destOrd="0" presId="urn:microsoft.com/office/officeart/2005/8/layout/vList3"/>
    <dgm:cxn modelId="{8BD3AC24-E3C7-4827-B9FA-DDB7923DC544}" type="presParOf" srcId="{9CB08D44-28FA-4647-881B-CD21A5E8FF2F}" destId="{514035F8-8524-4F89-88C5-B16B2DDF72FC}" srcOrd="0" destOrd="0" presId="urn:microsoft.com/office/officeart/2005/8/layout/vList3"/>
    <dgm:cxn modelId="{E59368A7-DAA6-4FE3-8210-FD6DFF845DB0}" type="presParOf" srcId="{9CB08D44-28FA-4647-881B-CD21A5E8FF2F}" destId="{AE6B277E-8F52-4109-AF74-63C14A04F962}" srcOrd="1" destOrd="0" presId="urn:microsoft.com/office/officeart/2005/8/layout/vList3"/>
    <dgm:cxn modelId="{887C8C65-171D-4133-9858-708DB59147E9}" type="presParOf" srcId="{FF79EA5C-DEF6-4B3A-9EDD-BE58A277F671}" destId="{E858E053-2D22-484C-A1B5-4F31DB6937DB}" srcOrd="3" destOrd="0" presId="urn:microsoft.com/office/officeart/2005/8/layout/vList3"/>
    <dgm:cxn modelId="{C5F02900-4CA1-417F-B490-4A822A55B1EE}" type="presParOf" srcId="{FF79EA5C-DEF6-4B3A-9EDD-BE58A277F671}" destId="{6715D214-4902-48FA-927F-BA17115F40AA}" srcOrd="4" destOrd="0" presId="urn:microsoft.com/office/officeart/2005/8/layout/vList3"/>
    <dgm:cxn modelId="{27645256-3661-4730-A723-4C7C4E672740}" type="presParOf" srcId="{6715D214-4902-48FA-927F-BA17115F40AA}" destId="{C13809D4-C286-4CB3-AB9C-165A4676C813}" srcOrd="0" destOrd="0" presId="urn:microsoft.com/office/officeart/2005/8/layout/vList3"/>
    <dgm:cxn modelId="{72DB5376-6EF6-4EFF-B453-4DFCE3647DC4}" type="presParOf" srcId="{6715D214-4902-48FA-927F-BA17115F40AA}" destId="{F56ED880-E818-494A-8E38-8469622D586D}" srcOrd="1" destOrd="0" presId="urn:microsoft.com/office/officeart/2005/8/layout/vList3"/>
    <dgm:cxn modelId="{79941906-0F2B-4AB9-A580-F7D62EEFB38D}" type="presParOf" srcId="{FF79EA5C-DEF6-4B3A-9EDD-BE58A277F671}" destId="{62891DD7-AE14-4C4C-B73A-CE3D7640BD0D}" srcOrd="5" destOrd="0" presId="urn:microsoft.com/office/officeart/2005/8/layout/vList3"/>
    <dgm:cxn modelId="{5C3DA214-DE53-4891-9F13-9168A26C4E92}" type="presParOf" srcId="{FF79EA5C-DEF6-4B3A-9EDD-BE58A277F671}" destId="{C29CE0B9-548D-4A4C-91AA-C1A7B271E74D}" srcOrd="6" destOrd="0" presId="urn:microsoft.com/office/officeart/2005/8/layout/vList3"/>
    <dgm:cxn modelId="{829DBAE6-F38D-4362-9CBE-856941960956}" type="presParOf" srcId="{C29CE0B9-548D-4A4C-91AA-C1A7B271E74D}" destId="{4622DBE3-9C3A-4264-98C1-36762D23B637}" srcOrd="0" destOrd="0" presId="urn:microsoft.com/office/officeart/2005/8/layout/vList3"/>
    <dgm:cxn modelId="{6FDF86DD-3E4E-4908-A7E1-5FF01764FEE1}" type="presParOf" srcId="{C29CE0B9-548D-4A4C-91AA-C1A7B271E74D}" destId="{1DA3B3E4-C0F1-4748-B4D2-51203292AD1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B5E0E5-E4C2-4C27-89EF-B68FD066DB2A}">
      <dsp:nvSpPr>
        <dsp:cNvPr id="0" name=""/>
        <dsp:cNvSpPr/>
      </dsp:nvSpPr>
      <dsp:spPr>
        <a:xfrm rot="10800000">
          <a:off x="2329837" y="3811"/>
          <a:ext cx="8107679" cy="1150709"/>
        </a:xfrm>
        <a:prstGeom prst="homePlate">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07431" tIns="121920" rIns="227584" bIns="121920" numCol="1" spcCol="1270" anchor="ctr" anchorCtr="0">
          <a:noAutofit/>
        </a:bodyPr>
        <a:lstStyle/>
        <a:p>
          <a:pPr lvl="0" algn="ctr" defTabSz="1422400">
            <a:lnSpc>
              <a:spcPct val="90000"/>
            </a:lnSpc>
            <a:spcBef>
              <a:spcPct val="0"/>
            </a:spcBef>
            <a:spcAft>
              <a:spcPct val="35000"/>
            </a:spcAft>
          </a:pPr>
          <a:r>
            <a:rPr lang="en-US" sz="3200" kern="1200" dirty="0" smtClean="0"/>
            <a:t>What is Islam?</a:t>
          </a:r>
          <a:endParaRPr lang="en-US" sz="3200" kern="1200" dirty="0"/>
        </a:p>
      </dsp:txBody>
      <dsp:txXfrm rot="10800000">
        <a:off x="2617514" y="3811"/>
        <a:ext cx="7820002" cy="1150709"/>
      </dsp:txXfrm>
    </dsp:sp>
    <dsp:sp modelId="{7A44F2DE-5B52-4C02-B825-9321425977F6}">
      <dsp:nvSpPr>
        <dsp:cNvPr id="0" name=""/>
        <dsp:cNvSpPr/>
      </dsp:nvSpPr>
      <dsp:spPr>
        <a:xfrm>
          <a:off x="1754482" y="3811"/>
          <a:ext cx="1150709" cy="1150709"/>
        </a:xfrm>
        <a:prstGeom prst="ellipse">
          <a:avLst/>
        </a:prstGeom>
        <a:blipFill rotWithShape="1">
          <a:blip xmlns:r="http://schemas.openxmlformats.org/officeDocument/2006/relationships" r:embed="rId1"/>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AE6B277E-8F52-4109-AF74-63C14A04F962}">
      <dsp:nvSpPr>
        <dsp:cNvPr id="0" name=""/>
        <dsp:cNvSpPr/>
      </dsp:nvSpPr>
      <dsp:spPr>
        <a:xfrm rot="10800000">
          <a:off x="2329837" y="1498015"/>
          <a:ext cx="8107679" cy="1150709"/>
        </a:xfrm>
        <a:prstGeom prst="homePlate">
          <a:avLst/>
        </a:prstGeom>
        <a:solidFill>
          <a:schemeClr val="accent4">
            <a:hueOff val="3465231"/>
            <a:satOff val="-15989"/>
            <a:lumOff val="58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07431" tIns="121920" rIns="227584" bIns="121920" numCol="1" spcCol="1270" anchor="ctr" anchorCtr="0">
          <a:noAutofit/>
        </a:bodyPr>
        <a:lstStyle/>
        <a:p>
          <a:pPr lvl="0" algn="ctr" defTabSz="1422400">
            <a:lnSpc>
              <a:spcPct val="90000"/>
            </a:lnSpc>
            <a:spcBef>
              <a:spcPct val="0"/>
            </a:spcBef>
            <a:spcAft>
              <a:spcPct val="35000"/>
            </a:spcAft>
          </a:pPr>
          <a:r>
            <a:rPr lang="en-US" sz="3200" kern="1200" dirty="0" smtClean="0"/>
            <a:t>What is </a:t>
          </a:r>
          <a:r>
            <a:rPr lang="en-US" sz="3200" kern="1200" dirty="0" err="1" smtClean="0"/>
            <a:t>Eman</a:t>
          </a:r>
          <a:r>
            <a:rPr lang="en-US" sz="3200" kern="1200" dirty="0" smtClean="0"/>
            <a:t>?</a:t>
          </a:r>
          <a:endParaRPr lang="en-US" sz="3200" kern="1200" dirty="0"/>
        </a:p>
      </dsp:txBody>
      <dsp:txXfrm rot="10800000">
        <a:off x="2617514" y="1498015"/>
        <a:ext cx="7820002" cy="1150709"/>
      </dsp:txXfrm>
    </dsp:sp>
    <dsp:sp modelId="{514035F8-8524-4F89-88C5-B16B2DDF72FC}">
      <dsp:nvSpPr>
        <dsp:cNvPr id="0" name=""/>
        <dsp:cNvSpPr/>
      </dsp:nvSpPr>
      <dsp:spPr>
        <a:xfrm>
          <a:off x="1754482" y="1498015"/>
          <a:ext cx="1150709" cy="1150709"/>
        </a:xfrm>
        <a:prstGeom prst="ellipse">
          <a:avLst/>
        </a:prstGeom>
        <a:blipFill rotWithShape="1">
          <a:blip xmlns:r="http://schemas.openxmlformats.org/officeDocument/2006/relationships" r:embed="rId2"/>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F56ED880-E818-494A-8E38-8469622D586D}">
      <dsp:nvSpPr>
        <dsp:cNvPr id="0" name=""/>
        <dsp:cNvSpPr/>
      </dsp:nvSpPr>
      <dsp:spPr>
        <a:xfrm rot="10800000">
          <a:off x="2329837" y="2992220"/>
          <a:ext cx="8107679" cy="1150709"/>
        </a:xfrm>
        <a:prstGeom prst="homePlate">
          <a:avLst/>
        </a:prstGeom>
        <a:solidFill>
          <a:schemeClr val="accent4">
            <a:hueOff val="6930461"/>
            <a:satOff val="-31979"/>
            <a:lumOff val="117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07431" tIns="121920" rIns="227584" bIns="121920" numCol="1" spcCol="1270" anchor="ctr" anchorCtr="0">
          <a:noAutofit/>
        </a:bodyPr>
        <a:lstStyle/>
        <a:p>
          <a:pPr lvl="0" algn="ctr" defTabSz="1422400">
            <a:lnSpc>
              <a:spcPct val="90000"/>
            </a:lnSpc>
            <a:spcBef>
              <a:spcPct val="0"/>
            </a:spcBef>
            <a:spcAft>
              <a:spcPct val="35000"/>
            </a:spcAft>
          </a:pPr>
          <a:r>
            <a:rPr lang="en-US" sz="3200" kern="1200" dirty="0" smtClean="0"/>
            <a:t>What is </a:t>
          </a:r>
          <a:r>
            <a:rPr lang="en-US" sz="3200" kern="1200" dirty="0" err="1" smtClean="0"/>
            <a:t>Ehsan</a:t>
          </a:r>
          <a:r>
            <a:rPr lang="en-US" sz="3200" kern="1200" dirty="0" smtClean="0"/>
            <a:t>?</a:t>
          </a:r>
          <a:endParaRPr lang="en-US" sz="3200" kern="1200" dirty="0"/>
        </a:p>
      </dsp:txBody>
      <dsp:txXfrm rot="10800000">
        <a:off x="2617514" y="2992220"/>
        <a:ext cx="7820002" cy="1150709"/>
      </dsp:txXfrm>
    </dsp:sp>
    <dsp:sp modelId="{C13809D4-C286-4CB3-AB9C-165A4676C813}">
      <dsp:nvSpPr>
        <dsp:cNvPr id="0" name=""/>
        <dsp:cNvSpPr/>
      </dsp:nvSpPr>
      <dsp:spPr>
        <a:xfrm>
          <a:off x="1754482" y="2992220"/>
          <a:ext cx="1150709" cy="1150709"/>
        </a:xfrm>
        <a:prstGeom prst="ellipse">
          <a:avLst/>
        </a:prstGeom>
        <a:blipFill rotWithShape="1">
          <a:blip xmlns:r="http://schemas.openxmlformats.org/officeDocument/2006/relationships" r:embed="rId3"/>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1DA3B3E4-C0F1-4748-B4D2-51203292AD1A}">
      <dsp:nvSpPr>
        <dsp:cNvPr id="0" name=""/>
        <dsp:cNvSpPr/>
      </dsp:nvSpPr>
      <dsp:spPr>
        <a:xfrm rot="10800000">
          <a:off x="2329837" y="4486424"/>
          <a:ext cx="8107679" cy="1150709"/>
        </a:xfrm>
        <a:prstGeom prst="homePlate">
          <a:avLst/>
        </a:prstGeom>
        <a:solidFill>
          <a:schemeClr val="accent4">
            <a:hueOff val="10395692"/>
            <a:satOff val="-47968"/>
            <a:lumOff val="176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07431" tIns="121920" rIns="227584" bIns="121920" numCol="1" spcCol="1270" anchor="ctr" anchorCtr="0">
          <a:noAutofit/>
        </a:bodyPr>
        <a:lstStyle/>
        <a:p>
          <a:pPr lvl="0" algn="ctr" defTabSz="1422400">
            <a:lnSpc>
              <a:spcPct val="90000"/>
            </a:lnSpc>
            <a:spcBef>
              <a:spcPct val="0"/>
            </a:spcBef>
            <a:spcAft>
              <a:spcPct val="35000"/>
            </a:spcAft>
          </a:pPr>
          <a:r>
            <a:rPr lang="en-US" sz="3200" kern="1200" dirty="0" smtClean="0"/>
            <a:t>What are the signs of The Hour (Doomsday)?</a:t>
          </a:r>
          <a:endParaRPr lang="en-US" sz="3200" kern="1200" dirty="0"/>
        </a:p>
      </dsp:txBody>
      <dsp:txXfrm rot="10800000">
        <a:off x="2617514" y="4486424"/>
        <a:ext cx="7820002" cy="1150709"/>
      </dsp:txXfrm>
    </dsp:sp>
    <dsp:sp modelId="{4622DBE3-9C3A-4264-98C1-36762D23B637}">
      <dsp:nvSpPr>
        <dsp:cNvPr id="0" name=""/>
        <dsp:cNvSpPr/>
      </dsp:nvSpPr>
      <dsp:spPr>
        <a:xfrm>
          <a:off x="1754482" y="4486424"/>
          <a:ext cx="1150709" cy="1150709"/>
        </a:xfrm>
        <a:prstGeom prst="ellipse">
          <a:avLst/>
        </a:prstGeom>
        <a:blipFill rotWithShape="1">
          <a:blip xmlns:r="http://schemas.openxmlformats.org/officeDocument/2006/relationships" r:embed="rId4"/>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A6660C0-8571-498A-A470-369C757CBA98}" type="datetimeFigureOut">
              <a:rPr lang="en-US" smtClean="0"/>
              <a:t>1/30/2023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829FB-46A2-4FF5-9541-2AB92D286467}" type="slidenum">
              <a:rPr lang="en-US" smtClean="0"/>
              <a:t>‹#›</a:t>
            </a:fld>
            <a:endParaRPr lang="en-US"/>
          </a:p>
        </p:txBody>
      </p:sp>
    </p:spTree>
    <p:extLst>
      <p:ext uri="{BB962C8B-B14F-4D97-AF65-F5344CB8AC3E}">
        <p14:creationId xmlns:p14="http://schemas.microsoft.com/office/powerpoint/2010/main" val="1901660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6660C0-8571-498A-A470-369C757CBA98}" type="datetimeFigureOut">
              <a:rPr lang="en-US" smtClean="0"/>
              <a:t>1/30/2023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829FB-46A2-4FF5-9541-2AB92D286467}" type="slidenum">
              <a:rPr lang="en-US" smtClean="0"/>
              <a:t>‹#›</a:t>
            </a:fld>
            <a:endParaRPr lang="en-US"/>
          </a:p>
        </p:txBody>
      </p:sp>
    </p:spTree>
    <p:extLst>
      <p:ext uri="{BB962C8B-B14F-4D97-AF65-F5344CB8AC3E}">
        <p14:creationId xmlns:p14="http://schemas.microsoft.com/office/powerpoint/2010/main" val="2684436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6660C0-8571-498A-A470-369C757CBA98}" type="datetimeFigureOut">
              <a:rPr lang="en-US" smtClean="0"/>
              <a:t>1/30/2023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829FB-46A2-4FF5-9541-2AB92D286467}" type="slidenum">
              <a:rPr lang="en-US" smtClean="0"/>
              <a:t>‹#›</a:t>
            </a:fld>
            <a:endParaRPr lang="en-US"/>
          </a:p>
        </p:txBody>
      </p:sp>
    </p:spTree>
    <p:extLst>
      <p:ext uri="{BB962C8B-B14F-4D97-AF65-F5344CB8AC3E}">
        <p14:creationId xmlns:p14="http://schemas.microsoft.com/office/powerpoint/2010/main" val="575997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A6660C0-8571-498A-A470-369C757CBA98}" type="datetimeFigureOut">
              <a:rPr lang="en-US" smtClean="0"/>
              <a:t>1/30/2023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829FB-46A2-4FF5-9541-2AB92D286467}" type="slidenum">
              <a:rPr lang="en-US" smtClean="0"/>
              <a:t>‹#›</a:t>
            </a:fld>
            <a:endParaRPr lang="en-US"/>
          </a:p>
        </p:txBody>
      </p:sp>
    </p:spTree>
    <p:extLst>
      <p:ext uri="{BB962C8B-B14F-4D97-AF65-F5344CB8AC3E}">
        <p14:creationId xmlns:p14="http://schemas.microsoft.com/office/powerpoint/2010/main" val="1006686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A6660C0-8571-498A-A470-369C757CBA98}" type="datetimeFigureOut">
              <a:rPr lang="en-US" smtClean="0"/>
              <a:t>1/30/2023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6829FB-46A2-4FF5-9541-2AB92D286467}" type="slidenum">
              <a:rPr lang="en-US" smtClean="0"/>
              <a:t>‹#›</a:t>
            </a:fld>
            <a:endParaRPr lang="en-US"/>
          </a:p>
        </p:txBody>
      </p:sp>
    </p:spTree>
    <p:extLst>
      <p:ext uri="{BB962C8B-B14F-4D97-AF65-F5344CB8AC3E}">
        <p14:creationId xmlns:p14="http://schemas.microsoft.com/office/powerpoint/2010/main" val="953411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A6660C0-8571-498A-A470-369C757CBA98}" type="datetimeFigureOut">
              <a:rPr lang="en-US" smtClean="0"/>
              <a:t>1/30/2023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6829FB-46A2-4FF5-9541-2AB92D286467}" type="slidenum">
              <a:rPr lang="en-US" smtClean="0"/>
              <a:t>‹#›</a:t>
            </a:fld>
            <a:endParaRPr lang="en-US"/>
          </a:p>
        </p:txBody>
      </p:sp>
    </p:spTree>
    <p:extLst>
      <p:ext uri="{BB962C8B-B14F-4D97-AF65-F5344CB8AC3E}">
        <p14:creationId xmlns:p14="http://schemas.microsoft.com/office/powerpoint/2010/main" val="3634703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660C0-8571-498A-A470-369C757CBA98}" type="datetimeFigureOut">
              <a:rPr lang="en-US" smtClean="0"/>
              <a:t>1/30/2023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6829FB-46A2-4FF5-9541-2AB92D286467}" type="slidenum">
              <a:rPr lang="en-US" smtClean="0"/>
              <a:t>‹#›</a:t>
            </a:fld>
            <a:endParaRPr lang="en-US"/>
          </a:p>
        </p:txBody>
      </p:sp>
    </p:spTree>
    <p:extLst>
      <p:ext uri="{BB962C8B-B14F-4D97-AF65-F5344CB8AC3E}">
        <p14:creationId xmlns:p14="http://schemas.microsoft.com/office/powerpoint/2010/main" val="3670888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6660C0-8571-498A-A470-369C757CBA98}" type="datetimeFigureOut">
              <a:rPr lang="en-US" smtClean="0"/>
              <a:t>1/30/2023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829FB-46A2-4FF5-9541-2AB92D286467}" type="slidenum">
              <a:rPr lang="en-US" smtClean="0"/>
              <a:t>‹#›</a:t>
            </a:fld>
            <a:endParaRPr lang="en-US"/>
          </a:p>
        </p:txBody>
      </p:sp>
    </p:spTree>
    <p:extLst>
      <p:ext uri="{BB962C8B-B14F-4D97-AF65-F5344CB8AC3E}">
        <p14:creationId xmlns:p14="http://schemas.microsoft.com/office/powerpoint/2010/main" val="4121224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6660C0-8571-498A-A470-369C757CBA98}" type="datetimeFigureOut">
              <a:rPr lang="en-US" smtClean="0"/>
              <a:t>1/30/2023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829FB-46A2-4FF5-9541-2AB92D286467}" type="slidenum">
              <a:rPr lang="en-US" smtClean="0"/>
              <a:t>‹#›</a:t>
            </a:fld>
            <a:endParaRPr lang="en-US"/>
          </a:p>
        </p:txBody>
      </p:sp>
    </p:spTree>
    <p:extLst>
      <p:ext uri="{BB962C8B-B14F-4D97-AF65-F5344CB8AC3E}">
        <p14:creationId xmlns:p14="http://schemas.microsoft.com/office/powerpoint/2010/main" val="2861430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6660C0-8571-498A-A470-369C757CBA98}" type="datetimeFigureOut">
              <a:rPr lang="en-US" smtClean="0"/>
              <a:t>1/30/2023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829FB-46A2-4FF5-9541-2AB92D286467}" type="slidenum">
              <a:rPr lang="en-US" smtClean="0"/>
              <a:t>‹#›</a:t>
            </a:fld>
            <a:endParaRPr lang="en-US"/>
          </a:p>
        </p:txBody>
      </p:sp>
    </p:spTree>
    <p:extLst>
      <p:ext uri="{BB962C8B-B14F-4D97-AF65-F5344CB8AC3E}">
        <p14:creationId xmlns:p14="http://schemas.microsoft.com/office/powerpoint/2010/main" val="870588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6660C0-8571-498A-A470-369C757CBA98}" type="datetimeFigureOut">
              <a:rPr lang="en-US" smtClean="0"/>
              <a:t>1/30/2023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829FB-46A2-4FF5-9541-2AB92D286467}" type="slidenum">
              <a:rPr lang="en-US" smtClean="0"/>
              <a:t>‹#›</a:t>
            </a:fld>
            <a:endParaRPr lang="en-US"/>
          </a:p>
        </p:txBody>
      </p:sp>
    </p:spTree>
    <p:extLst>
      <p:ext uri="{BB962C8B-B14F-4D97-AF65-F5344CB8AC3E}">
        <p14:creationId xmlns:p14="http://schemas.microsoft.com/office/powerpoint/2010/main" val="3348614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660C0-8571-498A-A470-369C757CBA98}" type="datetimeFigureOut">
              <a:rPr lang="en-US" smtClean="0"/>
              <a:t>1/30/2023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6829FB-46A2-4FF5-9541-2AB92D286467}" type="slidenum">
              <a:rPr lang="en-US" smtClean="0"/>
              <a:t>‹#›</a:t>
            </a:fld>
            <a:endParaRPr lang="en-US"/>
          </a:p>
        </p:txBody>
      </p:sp>
    </p:spTree>
    <p:extLst>
      <p:ext uri="{BB962C8B-B14F-4D97-AF65-F5344CB8AC3E}">
        <p14:creationId xmlns:p14="http://schemas.microsoft.com/office/powerpoint/2010/main" val="3222857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slide" Target="slide10.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7.xml"/><Relationship Id="rId1" Type="http://schemas.openxmlformats.org/officeDocument/2006/relationships/slideLayout" Target="../slideLayouts/slideLayout1.xml"/><Relationship Id="rId4" Type="http://schemas.openxmlformats.org/officeDocument/2006/relationships/slide" Target="slide2.xml"/></Relationships>
</file>

<file path=ppt/slides/_rels/slide5.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2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 Target="slide2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 Target="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rabic Calligraphy of Bismillah, the first verse of Quran, translated as In  the name of God, the merciful, the compassionate, in thuluth Calligraphy  Islamic Vector 5191786 Vector Art at Vecteez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 y="101600"/>
            <a:ext cx="11988800" cy="6647543"/>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59613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2630906" y="0"/>
            <a:ext cx="3475371" cy="6858000"/>
            <a:chOff x="0" y="0"/>
            <a:chExt cx="3475371" cy="6858000"/>
          </a:xfrm>
        </p:grpSpPr>
        <p:sp>
          <p:nvSpPr>
            <p:cNvPr id="4" name="Rectangle 3"/>
            <p:cNvSpPr/>
            <p:nvPr/>
          </p:nvSpPr>
          <p:spPr>
            <a:xfrm>
              <a:off x="0" y="0"/>
              <a:ext cx="2575775"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hlinkClick r:id="rId2" action="ppaction://hlinksldjump"/>
            </p:cNvPr>
            <p:cNvSpPr/>
            <p:nvPr/>
          </p:nvSpPr>
          <p:spPr>
            <a:xfrm>
              <a:off x="99811" y="566670"/>
              <a:ext cx="2343955" cy="618186"/>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Introduction of the  Course</a:t>
              </a:r>
              <a:endParaRPr lang="en-US" dirty="0"/>
            </a:p>
          </p:txBody>
        </p:sp>
        <p:sp>
          <p:nvSpPr>
            <p:cNvPr id="6" name="Rectangle 5"/>
            <p:cNvSpPr/>
            <p:nvPr/>
          </p:nvSpPr>
          <p:spPr>
            <a:xfrm>
              <a:off x="99811" y="1447263"/>
              <a:ext cx="2343955" cy="618186"/>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hlinkClick r:id="rId3" action="ppaction://hlinksldjump"/>
                </a:rPr>
                <a:t>Religion</a:t>
              </a:r>
              <a:r>
                <a:rPr lang="en-US" dirty="0" smtClean="0"/>
                <a:t> </a:t>
              </a:r>
              <a:endParaRPr lang="en-US" dirty="0"/>
            </a:p>
          </p:txBody>
        </p:sp>
        <p:sp>
          <p:nvSpPr>
            <p:cNvPr id="7" name="Rectangle 6">
              <a:hlinkClick r:id="rId4" action="ppaction://hlinksldjump"/>
            </p:cNvPr>
            <p:cNvSpPr/>
            <p:nvPr/>
          </p:nvSpPr>
          <p:spPr>
            <a:xfrm>
              <a:off x="99811" y="2370249"/>
              <a:ext cx="2343955" cy="61818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Deen</a:t>
              </a:r>
              <a:r>
                <a:rPr lang="en-US" dirty="0" smtClean="0"/>
                <a:t> </a:t>
              </a:r>
              <a:r>
                <a:rPr lang="en-US" dirty="0" smtClean="0">
                  <a:hlinkClick r:id="rId4" action="ppaction://hlinksldjump"/>
                </a:rPr>
                <a:t>&amp;</a:t>
              </a:r>
              <a:r>
                <a:rPr lang="en-US" dirty="0" smtClean="0"/>
                <a:t> </a:t>
              </a:r>
              <a:r>
                <a:rPr lang="en-US" dirty="0" err="1" smtClean="0"/>
                <a:t>Madhab</a:t>
              </a:r>
              <a:endParaRPr lang="en-US" dirty="0"/>
            </a:p>
          </p:txBody>
        </p:sp>
        <p:grpSp>
          <p:nvGrpSpPr>
            <p:cNvPr id="16" name="Group 15"/>
            <p:cNvGrpSpPr/>
            <p:nvPr/>
          </p:nvGrpSpPr>
          <p:grpSpPr>
            <a:xfrm>
              <a:off x="2922711" y="161628"/>
              <a:ext cx="552660" cy="357312"/>
              <a:chOff x="3145133" y="1826695"/>
              <a:chExt cx="552660" cy="357312"/>
            </a:xfrm>
          </p:grpSpPr>
          <p:sp>
            <p:nvSpPr>
              <p:cNvPr id="13" name="Rounded Rectangle 12"/>
              <p:cNvSpPr/>
              <p:nvPr/>
            </p:nvSpPr>
            <p:spPr>
              <a:xfrm>
                <a:off x="3145134" y="1826695"/>
                <a:ext cx="552659" cy="72443"/>
              </a:xfrm>
              <a:prstGeom prst="roundRect">
                <a:avLst>
                  <a:gd name="adj" fmla="val 50000"/>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3145134" y="1962431"/>
                <a:ext cx="552659" cy="72443"/>
              </a:xfrm>
              <a:prstGeom prst="roundRect">
                <a:avLst>
                  <a:gd name="adj" fmla="val 50000"/>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3145133" y="2111564"/>
                <a:ext cx="552659" cy="72443"/>
              </a:xfrm>
              <a:prstGeom prst="roundRect">
                <a:avLst>
                  <a:gd name="adj" fmla="val 50000"/>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8" name="TextBox 17"/>
          <p:cNvSpPr txBox="1"/>
          <p:nvPr/>
        </p:nvSpPr>
        <p:spPr>
          <a:xfrm>
            <a:off x="844465" y="1808018"/>
            <a:ext cx="10620832" cy="2246769"/>
          </a:xfrm>
          <a:prstGeom prst="rect">
            <a:avLst/>
          </a:prstGeom>
          <a:noFill/>
        </p:spPr>
        <p:txBody>
          <a:bodyPr wrap="square" rtlCol="0">
            <a:spAutoFit/>
          </a:bodyPr>
          <a:lstStyle/>
          <a:p>
            <a:pPr algn="ctr"/>
            <a:r>
              <a:rPr lang="en-US" sz="2800" dirty="0" smtClean="0">
                <a:latin typeface="Times New Roman" panose="02020603050405020304" pitchFamily="18" charset="0"/>
                <a:cs typeface="Times New Roman" panose="02020603050405020304" pitchFamily="18" charset="0"/>
              </a:rPr>
              <a:t>     SS-1002</a:t>
            </a:r>
          </a:p>
          <a:p>
            <a:pPr algn="ctr"/>
            <a:r>
              <a:rPr lang="en-US" sz="2800" dirty="0" smtClean="0">
                <a:latin typeface="Times New Roman" panose="02020603050405020304" pitchFamily="18" charset="0"/>
                <a:cs typeface="Times New Roman" panose="02020603050405020304" pitchFamily="18" charset="0"/>
              </a:rPr>
              <a:t>    Islamic &amp; Religious Studies</a:t>
            </a:r>
          </a:p>
          <a:p>
            <a:pPr algn="ctr"/>
            <a:endParaRPr lang="en-US" sz="2800" dirty="0" smtClean="0">
              <a:latin typeface="Times New Roman" panose="02020603050405020304" pitchFamily="18" charset="0"/>
              <a:cs typeface="Times New Roman" panose="02020603050405020304" pitchFamily="18" charset="0"/>
            </a:endParaRPr>
          </a:p>
          <a:p>
            <a:pPr algn="ctr"/>
            <a:r>
              <a:rPr lang="en-US" sz="2800" dirty="0" smtClean="0">
                <a:latin typeface="Times New Roman" panose="02020603050405020304" pitchFamily="18" charset="0"/>
                <a:cs typeface="Times New Roman" panose="02020603050405020304" pitchFamily="18" charset="0"/>
              </a:rPr>
              <a:t>School of </a:t>
            </a:r>
            <a:r>
              <a:rPr lang="en-US" sz="2800" dirty="0" smtClean="0">
                <a:latin typeface="Times New Roman" panose="02020603050405020304" pitchFamily="18" charset="0"/>
                <a:cs typeface="Times New Roman" panose="02020603050405020304" pitchFamily="18" charset="0"/>
              </a:rPr>
              <a:t>Computing</a:t>
            </a:r>
            <a:endParaRPr lang="en-US" sz="2800" dirty="0" smtClean="0">
              <a:latin typeface="Times New Roman" panose="02020603050405020304" pitchFamily="18" charset="0"/>
              <a:cs typeface="Times New Roman" panose="02020603050405020304" pitchFamily="18" charset="0"/>
            </a:endParaRPr>
          </a:p>
          <a:p>
            <a:pPr algn="ctr"/>
            <a:r>
              <a:rPr lang="en-US" sz="2800" dirty="0" smtClean="0">
                <a:latin typeface="Times New Roman" panose="02020603050405020304" pitchFamily="18" charset="0"/>
                <a:cs typeface="Times New Roman" panose="02020603050405020304" pitchFamily="18" charset="0"/>
              </a:rPr>
              <a:t>           National University of Computer and Emerging Sciences</a:t>
            </a:r>
          </a:p>
        </p:txBody>
      </p:sp>
      <p:sp>
        <p:nvSpPr>
          <p:cNvPr id="22" name="TextBox 21"/>
          <p:cNvSpPr txBox="1"/>
          <p:nvPr/>
        </p:nvSpPr>
        <p:spPr>
          <a:xfrm>
            <a:off x="4586514" y="5054421"/>
            <a:ext cx="6878782" cy="954107"/>
          </a:xfrm>
          <a:prstGeom prst="rect">
            <a:avLst/>
          </a:prstGeom>
          <a:noFill/>
        </p:spPr>
        <p:txBody>
          <a:bodyPr wrap="square" rtlCol="0">
            <a:spAutoFit/>
          </a:bodyPr>
          <a:lstStyle/>
          <a:p>
            <a:pPr algn="r"/>
            <a:r>
              <a:rPr lang="en-US" sz="2800" dirty="0" err="1" smtClean="0">
                <a:latin typeface="Times New Roman" panose="02020603050405020304" pitchFamily="18" charset="0"/>
                <a:cs typeface="Times New Roman" panose="02020603050405020304" pitchFamily="18" charset="0"/>
              </a:rPr>
              <a:t>Sobia</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Shehzadi</a:t>
            </a:r>
            <a:endParaRPr lang="en-US" sz="2800" dirty="0" smtClean="0">
              <a:latin typeface="Times New Roman" panose="02020603050405020304" pitchFamily="18" charset="0"/>
              <a:cs typeface="Times New Roman" panose="02020603050405020304" pitchFamily="18" charset="0"/>
            </a:endParaRPr>
          </a:p>
          <a:p>
            <a:pPr algn="r"/>
            <a:r>
              <a:rPr lang="en-US" sz="2800" dirty="0" smtClean="0">
                <a:latin typeface="Times New Roman" panose="02020603050405020304" pitchFamily="18" charset="0"/>
                <a:cs typeface="Times New Roman" panose="02020603050405020304" pitchFamily="18" charset="0"/>
              </a:rPr>
              <a:t>sobia.shehzadi.v@nu.edu.pk</a:t>
            </a:r>
          </a:p>
        </p:txBody>
      </p:sp>
      <p:pic>
        <p:nvPicPr>
          <p:cNvPr id="1026" name="Picture 2" descr="fast-logo | Uni Mento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58400" y="0"/>
            <a:ext cx="213360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3139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2.91667E-6 0 L 0.20782 0.01111 " pathEditMode="relative" rAng="0" ptsTypes="AA">
                                      <p:cBhvr>
                                        <p:cTn id="6" dur="2000" fill="hold"/>
                                        <p:tgtEl>
                                          <p:spTgt spid="17"/>
                                        </p:tgtEl>
                                        <p:attrNameLst>
                                          <p:attrName>ppt_x</p:attrName>
                                          <p:attrName>ppt_y</p:attrName>
                                        </p:attrNameLst>
                                      </p:cBhvr>
                                      <p:rCtr x="10391" y="556"/>
                                    </p:animMotion>
                                  </p:childTnLst>
                                </p:cTn>
                              </p:par>
                            </p:childTnLst>
                          </p:cTn>
                        </p:par>
                      </p:childTnLst>
                    </p:cTn>
                  </p:par>
                  <p:par>
                    <p:cTn id="7" fill="hold">
                      <p:stCondLst>
                        <p:cond delay="indefinite"/>
                      </p:stCondLst>
                      <p:childTnLst>
                        <p:par>
                          <p:cTn id="8" fill="hold">
                            <p:stCondLst>
                              <p:cond delay="0"/>
                            </p:stCondLst>
                            <p:childTnLst>
                              <p:par>
                                <p:cTn id="9" presetID="35" presetClass="path" presetSubtype="0" accel="50000" decel="50000" fill="hold" nodeType="clickEffect">
                                  <p:stCondLst>
                                    <p:cond delay="0"/>
                                  </p:stCondLst>
                                  <p:childTnLst>
                                    <p:animMotion origin="layout" path="M -2.91667E-6 0 L 0.2112 0.01111 " pathEditMode="relative" rAng="0" ptsTypes="AA">
                                      <p:cBhvr>
                                        <p:cTn id="10" dur="2000" fill="hold"/>
                                        <p:tgtEl>
                                          <p:spTgt spid="17"/>
                                        </p:tgtEl>
                                        <p:attrNameLst>
                                          <p:attrName>ppt_x</p:attrName>
                                          <p:attrName>ppt_y</p:attrName>
                                        </p:attrNameLst>
                                      </p:cBhvr>
                                      <p:rCtr x="10560" y="5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65486" y="3730171"/>
            <a:ext cx="1553028" cy="3193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ecture ppt video online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032" y="0"/>
            <a:ext cx="12192001" cy="685800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83199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2630906" y="0"/>
            <a:ext cx="3475371" cy="6858000"/>
            <a:chOff x="0" y="0"/>
            <a:chExt cx="3475371" cy="6858000"/>
          </a:xfrm>
        </p:grpSpPr>
        <p:sp>
          <p:nvSpPr>
            <p:cNvPr id="4" name="Rectangle 3"/>
            <p:cNvSpPr/>
            <p:nvPr/>
          </p:nvSpPr>
          <p:spPr>
            <a:xfrm>
              <a:off x="0" y="0"/>
              <a:ext cx="2575775"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hlinkClick r:id="rId2" action="ppaction://hlinksldjump"/>
            </p:cNvPr>
            <p:cNvSpPr/>
            <p:nvPr/>
          </p:nvSpPr>
          <p:spPr>
            <a:xfrm>
              <a:off x="99811" y="566670"/>
              <a:ext cx="2343955" cy="618186"/>
            </a:xfrm>
            <a:prstGeom prst="rect">
              <a:avLst/>
            </a:prstGeom>
            <a:solidFill>
              <a:srgbClr val="4BD3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Literal Meaning of Islam</a:t>
              </a:r>
              <a:endParaRPr lang="en-US" dirty="0"/>
            </a:p>
          </p:txBody>
        </p:sp>
        <p:sp>
          <p:nvSpPr>
            <p:cNvPr id="6" name="Rectangle 5">
              <a:hlinkClick r:id="" action="ppaction://noaction"/>
            </p:cNvPr>
            <p:cNvSpPr/>
            <p:nvPr/>
          </p:nvSpPr>
          <p:spPr>
            <a:xfrm>
              <a:off x="99811" y="1447263"/>
              <a:ext cx="2343955" cy="618186"/>
            </a:xfrm>
            <a:prstGeom prst="rect">
              <a:avLst/>
            </a:prstGeom>
            <a:solidFill>
              <a:srgbClr val="4BD3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Terminological Meaning of Islam</a:t>
              </a:r>
              <a:endParaRPr lang="en-US" dirty="0"/>
            </a:p>
          </p:txBody>
        </p:sp>
        <p:sp>
          <p:nvSpPr>
            <p:cNvPr id="7" name="Rectangle 6">
              <a:hlinkClick r:id="" action="ppaction://noaction"/>
            </p:cNvPr>
            <p:cNvSpPr/>
            <p:nvPr/>
          </p:nvSpPr>
          <p:spPr>
            <a:xfrm>
              <a:off x="99811" y="2370249"/>
              <a:ext cx="2343955" cy="618186"/>
            </a:xfrm>
            <a:prstGeom prst="rect">
              <a:avLst/>
            </a:prstGeom>
            <a:solidFill>
              <a:srgbClr val="4BD3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Literal Meaning of </a:t>
              </a:r>
              <a:r>
                <a:rPr lang="en-US" dirty="0" err="1" smtClean="0"/>
                <a:t>Eman</a:t>
              </a:r>
              <a:endParaRPr lang="en-US" dirty="0"/>
            </a:p>
          </p:txBody>
        </p:sp>
        <p:sp>
          <p:nvSpPr>
            <p:cNvPr id="8" name="Rectangle 7">
              <a:hlinkClick r:id="" action="ppaction://noaction"/>
            </p:cNvPr>
            <p:cNvSpPr/>
            <p:nvPr/>
          </p:nvSpPr>
          <p:spPr>
            <a:xfrm>
              <a:off x="99811" y="3250842"/>
              <a:ext cx="2343955" cy="618186"/>
            </a:xfrm>
            <a:prstGeom prst="rect">
              <a:avLst/>
            </a:prstGeom>
            <a:solidFill>
              <a:srgbClr val="4BD3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Terminological Meaning of </a:t>
              </a:r>
              <a:r>
                <a:rPr lang="en-US" dirty="0" err="1" smtClean="0"/>
                <a:t>Eman</a:t>
              </a:r>
              <a:endParaRPr lang="en-US" dirty="0"/>
            </a:p>
          </p:txBody>
        </p:sp>
        <p:sp>
          <p:nvSpPr>
            <p:cNvPr id="10" name="Rectangle 9">
              <a:hlinkClick r:id="" action="ppaction://noaction"/>
            </p:cNvPr>
            <p:cNvSpPr/>
            <p:nvPr/>
          </p:nvSpPr>
          <p:spPr>
            <a:xfrm>
              <a:off x="99811" y="4131435"/>
              <a:ext cx="2343955" cy="618186"/>
            </a:xfrm>
            <a:prstGeom prst="rect">
              <a:avLst/>
            </a:prstGeom>
            <a:solidFill>
              <a:srgbClr val="4BD3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Difference between Islam &amp; </a:t>
              </a:r>
              <a:r>
                <a:rPr lang="en-US" dirty="0" err="1" smtClean="0"/>
                <a:t>Eman</a:t>
              </a:r>
              <a:r>
                <a:rPr lang="en-US" dirty="0" smtClean="0"/>
                <a:t> </a:t>
              </a:r>
              <a:endParaRPr lang="en-US" dirty="0"/>
            </a:p>
          </p:txBody>
        </p:sp>
        <p:grpSp>
          <p:nvGrpSpPr>
            <p:cNvPr id="16" name="Group 15"/>
            <p:cNvGrpSpPr/>
            <p:nvPr/>
          </p:nvGrpSpPr>
          <p:grpSpPr>
            <a:xfrm>
              <a:off x="2922711" y="161628"/>
              <a:ext cx="552660" cy="357312"/>
              <a:chOff x="3145133" y="1826695"/>
              <a:chExt cx="552660" cy="357312"/>
            </a:xfrm>
          </p:grpSpPr>
          <p:sp>
            <p:nvSpPr>
              <p:cNvPr id="13" name="Rounded Rectangle 12"/>
              <p:cNvSpPr/>
              <p:nvPr/>
            </p:nvSpPr>
            <p:spPr>
              <a:xfrm>
                <a:off x="3145134" y="1826695"/>
                <a:ext cx="552659" cy="72443"/>
              </a:xfrm>
              <a:prstGeom prst="roundRect">
                <a:avLst>
                  <a:gd name="adj" fmla="val 50000"/>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3145134" y="1962431"/>
                <a:ext cx="552659" cy="72443"/>
              </a:xfrm>
              <a:prstGeom prst="roundRect">
                <a:avLst>
                  <a:gd name="adj" fmla="val 50000"/>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3145133" y="2111564"/>
                <a:ext cx="552659" cy="72443"/>
              </a:xfrm>
              <a:prstGeom prst="roundRect">
                <a:avLst>
                  <a:gd name="adj" fmla="val 50000"/>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8" name="TextBox 17"/>
          <p:cNvSpPr txBox="1"/>
          <p:nvPr/>
        </p:nvSpPr>
        <p:spPr>
          <a:xfrm>
            <a:off x="4572000" y="1808018"/>
            <a:ext cx="6400800" cy="923330"/>
          </a:xfrm>
          <a:prstGeom prst="rect">
            <a:avLst/>
          </a:prstGeom>
          <a:noFill/>
        </p:spPr>
        <p:txBody>
          <a:bodyPr wrap="square" rtlCol="0">
            <a:spAutoFit/>
          </a:bodyPr>
          <a:lstStyle/>
          <a:p>
            <a:r>
              <a:rPr lang="en-US" sz="5400" dirty="0">
                <a:latin typeface="Arial Black" panose="020B0A04020102020204" pitchFamily="34" charset="0"/>
              </a:rPr>
              <a:t>Islam and </a:t>
            </a:r>
            <a:r>
              <a:rPr lang="en-US" sz="5400" dirty="0" err="1">
                <a:latin typeface="Arial Black" panose="020B0A04020102020204" pitchFamily="34" charset="0"/>
              </a:rPr>
              <a:t>Eman</a:t>
            </a:r>
            <a:endParaRPr lang="en-US" sz="5400" dirty="0">
              <a:latin typeface="Arial Black" panose="020B0A04020102020204" pitchFamily="34" charset="0"/>
            </a:endParaRPr>
          </a:p>
        </p:txBody>
      </p:sp>
      <p:cxnSp>
        <p:nvCxnSpPr>
          <p:cNvPr id="21" name="Straight Connector 20"/>
          <p:cNvCxnSpPr/>
          <p:nvPr/>
        </p:nvCxnSpPr>
        <p:spPr>
          <a:xfrm>
            <a:off x="4572000" y="2988435"/>
            <a:ext cx="616226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3"/>
          <a:stretch>
            <a:fillRect/>
          </a:stretch>
        </p:blipFill>
        <p:spPr>
          <a:xfrm>
            <a:off x="4571999" y="3359495"/>
            <a:ext cx="6162261" cy="3266591"/>
          </a:xfrm>
          <a:prstGeom prst="rect">
            <a:avLst/>
          </a:prstGeom>
        </p:spPr>
      </p:pic>
      <p:sp>
        <p:nvSpPr>
          <p:cNvPr id="19" name="Chevron 18">
            <a:hlinkClick r:id="rId4" action="ppaction://hlinksldjump"/>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74995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2.91667E-6 0 L 0.20782 0.01111 " pathEditMode="relative" rAng="0" ptsTypes="AA">
                                      <p:cBhvr>
                                        <p:cTn id="6" dur="2000" fill="hold"/>
                                        <p:tgtEl>
                                          <p:spTgt spid="17"/>
                                        </p:tgtEl>
                                        <p:attrNameLst>
                                          <p:attrName>ppt_x</p:attrName>
                                          <p:attrName>ppt_y</p:attrName>
                                        </p:attrNameLst>
                                      </p:cBhvr>
                                      <p:rCtr x="10391" y="556"/>
                                    </p:animMotion>
                                  </p:childTnLst>
                                </p:cTn>
                              </p:par>
                            </p:childTnLst>
                          </p:cTn>
                        </p:par>
                      </p:childTnLst>
                    </p:cTn>
                  </p:par>
                  <p:par>
                    <p:cTn id="7" fill="hold">
                      <p:stCondLst>
                        <p:cond delay="indefinite"/>
                      </p:stCondLst>
                      <p:childTnLst>
                        <p:par>
                          <p:cTn id="8" fill="hold">
                            <p:stCondLst>
                              <p:cond delay="0"/>
                            </p:stCondLst>
                            <p:childTnLst>
                              <p:par>
                                <p:cTn id="9" presetID="35" presetClass="path" presetSubtype="0" accel="50000" decel="50000" fill="hold" nodeType="clickEffect">
                                  <p:stCondLst>
                                    <p:cond delay="0"/>
                                  </p:stCondLst>
                                  <p:childTnLst>
                                    <p:animMotion origin="layout" path="M -2.91667E-6 0 L 0.2112 0.01111 " pathEditMode="relative" rAng="0" ptsTypes="AA">
                                      <p:cBhvr>
                                        <p:cTn id="10" dur="2000" fill="hold"/>
                                        <p:tgtEl>
                                          <p:spTgt spid="17"/>
                                        </p:tgtEl>
                                        <p:attrNameLst>
                                          <p:attrName>ppt_x</p:attrName>
                                          <p:attrName>ppt_y</p:attrName>
                                        </p:attrNameLst>
                                      </p:cBhvr>
                                      <p:rCtr x="10560" y="5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365125"/>
            <a:ext cx="12192001" cy="1325563"/>
          </a:xfrm>
          <a:solidFill>
            <a:srgbClr val="4BD3E5"/>
          </a:solidFill>
        </p:spPr>
        <p:txBody>
          <a:bodyPr>
            <a:normAutofit/>
          </a:bodyPr>
          <a:lstStyle/>
          <a:p>
            <a:r>
              <a:rPr lang="en-US" sz="6000" dirty="0" smtClean="0">
                <a:latin typeface="Arial Black" panose="020B0A04020102020204" pitchFamily="34" charset="0"/>
              </a:rPr>
              <a:t>Literal Meaning of Islam</a:t>
            </a:r>
            <a:endParaRPr lang="en-US" sz="6000" dirty="0">
              <a:latin typeface="Arial Black" panose="020B0A04020102020204" pitchFamily="34" charset="0"/>
            </a:endParaRPr>
          </a:p>
        </p:txBody>
      </p:sp>
      <p:sp>
        <p:nvSpPr>
          <p:cNvPr id="3" name="Content Placeholder 2"/>
          <p:cNvSpPr>
            <a:spLocks noGrp="1"/>
          </p:cNvSpPr>
          <p:nvPr>
            <p:ph idx="1"/>
          </p:nvPr>
        </p:nvSpPr>
        <p:spPr>
          <a:xfrm>
            <a:off x="0" y="1825624"/>
            <a:ext cx="12192000" cy="5032375"/>
          </a:xfrm>
        </p:spPr>
        <p:txBody>
          <a:bodyPr>
            <a:normAutofit/>
          </a:bodyPr>
          <a:lstStyle/>
          <a:p>
            <a:endParaRPr lang="en-US" dirty="0" smtClean="0"/>
          </a:p>
          <a:p>
            <a:r>
              <a:rPr lang="en-US" dirty="0"/>
              <a:t>The word Islam is derived </a:t>
            </a:r>
            <a:r>
              <a:rPr lang="en-US" dirty="0" smtClean="0"/>
              <a:t>from (</a:t>
            </a:r>
            <a:r>
              <a:rPr lang="ar-SA" dirty="0" smtClean="0"/>
              <a:t>س</a:t>
            </a:r>
            <a:r>
              <a:rPr lang="ar-SA" dirty="0"/>
              <a:t>، ل، </a:t>
            </a:r>
            <a:r>
              <a:rPr lang="ar-SA" dirty="0" smtClean="0"/>
              <a:t>م</a:t>
            </a:r>
            <a:r>
              <a:rPr lang="en-US" dirty="0" smtClean="0"/>
              <a:t>) </a:t>
            </a:r>
            <a:r>
              <a:rPr lang="ar-SA" b="1" dirty="0"/>
              <a:t>سَلَمَ </a:t>
            </a:r>
            <a:r>
              <a:rPr lang="en-US" dirty="0"/>
              <a:t> or </a:t>
            </a:r>
            <a:r>
              <a:rPr lang="ar-SA" b="1" dirty="0"/>
              <a:t>سَلِمَ</a:t>
            </a:r>
            <a:r>
              <a:rPr lang="en-US" dirty="0" smtClean="0"/>
              <a:t>, </a:t>
            </a:r>
            <a:r>
              <a:rPr lang="en-US" dirty="0"/>
              <a:t> </a:t>
            </a:r>
            <a:r>
              <a:rPr lang="ar-SA" b="1" dirty="0" smtClean="0"/>
              <a:t>يَسْلَمُ </a:t>
            </a:r>
            <a:r>
              <a:rPr lang="ar-SA" b="1" dirty="0"/>
              <a:t>سَلَامًا </a:t>
            </a:r>
            <a:r>
              <a:rPr lang="ar-SA" b="1" dirty="0" smtClean="0"/>
              <a:t>وسَلَامَة</a:t>
            </a:r>
            <a:r>
              <a:rPr lang="en-US" b="1" dirty="0" smtClean="0"/>
              <a:t>, </a:t>
            </a:r>
            <a:r>
              <a:rPr lang="en-US" dirty="0" smtClean="0"/>
              <a:t>which </a:t>
            </a:r>
            <a:r>
              <a:rPr lang="en-US" dirty="0"/>
              <a:t>means to </a:t>
            </a:r>
            <a:r>
              <a:rPr lang="en-US" dirty="0" smtClean="0"/>
              <a:t>avoid,</a:t>
            </a:r>
            <a:r>
              <a:rPr lang="en-US" dirty="0"/>
              <a:t> to reconcile </a:t>
            </a:r>
            <a:r>
              <a:rPr lang="en-US" dirty="0" smtClean="0"/>
              <a:t>,</a:t>
            </a:r>
            <a:r>
              <a:rPr lang="en-US" dirty="0"/>
              <a:t> to be </a:t>
            </a:r>
            <a:r>
              <a:rPr lang="en-US" dirty="0" smtClean="0"/>
              <a:t>safe,</a:t>
            </a:r>
            <a:r>
              <a:rPr lang="en-US" dirty="0"/>
              <a:t> </a:t>
            </a:r>
            <a:r>
              <a:rPr lang="en-US" dirty="0" smtClean="0"/>
              <a:t> </a:t>
            </a:r>
            <a:r>
              <a:rPr lang="en-US" dirty="0"/>
              <a:t>to find and provide peace and </a:t>
            </a:r>
            <a:r>
              <a:rPr lang="en-US" dirty="0" smtClean="0"/>
              <a:t>security and </a:t>
            </a:r>
            <a:r>
              <a:rPr lang="en-US" dirty="0"/>
              <a:t>well-being. </a:t>
            </a:r>
            <a:endParaRPr lang="en-US" dirty="0" smtClean="0"/>
          </a:p>
          <a:p>
            <a:endParaRPr lang="en-US" dirty="0"/>
          </a:p>
          <a:p>
            <a:r>
              <a:rPr lang="en-US" dirty="0" smtClean="0"/>
              <a:t>According </a:t>
            </a:r>
            <a:r>
              <a:rPr lang="en-US" dirty="0"/>
              <a:t>to this literal meaning, it is said in the hadith of the Prophet:</a:t>
            </a:r>
            <a:endParaRPr lang="" dirty="0"/>
          </a:p>
          <a:p>
            <a:pPr marL="0" indent="0" algn="r" rtl="1">
              <a:buNone/>
            </a:pPr>
            <a:endParaRPr lang="en-US" sz="3600" dirty="0" smtClean="0">
              <a:latin typeface="Arabic Typesetting" panose="03020402040406030203" pitchFamily="66" charset="-78"/>
              <a:cs typeface="Arabic Typesetting" panose="03020402040406030203" pitchFamily="66" charset="-78"/>
            </a:endParaRPr>
          </a:p>
          <a:p>
            <a:pPr marL="0" indent="0" algn="r" rtl="1">
              <a:buNone/>
            </a:pPr>
            <a:r>
              <a:rPr lang="ar-SA" sz="3600" dirty="0" smtClean="0">
                <a:latin typeface="Arabic Typesetting" panose="03020402040406030203" pitchFamily="66" charset="-78"/>
                <a:cs typeface="Arabic Typesetting" panose="03020402040406030203" pitchFamily="66" charset="-78"/>
              </a:rPr>
              <a:t>الْمُسْلِمُ </a:t>
            </a:r>
            <a:r>
              <a:rPr lang="ar-SA" sz="3600" dirty="0">
                <a:latin typeface="Arabic Typesetting" panose="03020402040406030203" pitchFamily="66" charset="-78"/>
                <a:cs typeface="Arabic Typesetting" panose="03020402040406030203" pitchFamily="66" charset="-78"/>
              </a:rPr>
              <a:t>مَنْ سَلِمَ </a:t>
            </a:r>
            <a:r>
              <a:rPr lang="ar-SA" sz="3600" dirty="0" smtClean="0">
                <a:latin typeface="Arabic Typesetting" panose="03020402040406030203" pitchFamily="66" charset="-78"/>
                <a:cs typeface="Arabic Typesetting" panose="03020402040406030203" pitchFamily="66" charset="-78"/>
              </a:rPr>
              <a:t>الْمُسْلِمُوْنَ </a:t>
            </a:r>
            <a:r>
              <a:rPr lang="ar-SA" sz="3600" dirty="0">
                <a:latin typeface="Arabic Typesetting" panose="03020402040406030203" pitchFamily="66" charset="-78"/>
                <a:cs typeface="Arabic Typesetting" panose="03020402040406030203" pitchFamily="66" charset="-78"/>
              </a:rPr>
              <a:t>منْ لِّسَانِه </a:t>
            </a:r>
            <a:r>
              <a:rPr lang="ar-SA" sz="3600" dirty="0" smtClean="0">
                <a:latin typeface="Arabic Typesetting" panose="03020402040406030203" pitchFamily="66" charset="-78"/>
                <a:cs typeface="Arabic Typesetting" panose="03020402040406030203" pitchFamily="66" charset="-78"/>
              </a:rPr>
              <a:t>وَيَدِه</a:t>
            </a:r>
            <a:endParaRPr lang="en-US" sz="3600" dirty="0" smtClean="0">
              <a:latin typeface="Arabic Typesetting" panose="03020402040406030203" pitchFamily="66" charset="-78"/>
              <a:cs typeface="Arabic Typesetting" panose="03020402040406030203" pitchFamily="66" charset="-78"/>
            </a:endParaRPr>
          </a:p>
          <a:p>
            <a:pPr marL="0" indent="0">
              <a:buNone/>
            </a:pPr>
            <a:r>
              <a:rPr lang="en-US" dirty="0" smtClean="0"/>
              <a:t>“A Muslim is the one from whose tongue and hands the Muslims are safe”</a:t>
            </a:r>
          </a:p>
          <a:p>
            <a:pPr marL="0" indent="0">
              <a:buNone/>
            </a:pPr>
            <a:endParaRPr lang="en-US" dirty="0"/>
          </a:p>
        </p:txBody>
      </p:sp>
      <p:sp>
        <p:nvSpPr>
          <p:cNvPr id="4" name="Chevron 3">
            <a:hlinkClick r:id="rId2" action="ppaction://hlinksldjump"/>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63925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23627"/>
            <a:ext cx="12192000" cy="1325563"/>
          </a:xfrm>
        </p:spPr>
        <p:txBody>
          <a:bodyPr>
            <a:normAutofit fontScale="90000"/>
          </a:bodyPr>
          <a:lstStyle/>
          <a:p>
            <a:r>
              <a:rPr lang="en-US" dirty="0" smtClean="0"/>
              <a:t/>
            </a:r>
            <a:br>
              <a:rPr lang="en-US" dirty="0" smtClean="0"/>
            </a:br>
            <a:r>
              <a:rPr lang="en-US" dirty="0" smtClean="0"/>
              <a:t>According </a:t>
            </a:r>
            <a:r>
              <a:rPr lang="en-US" dirty="0"/>
              <a:t>to the dictionary, the word </a:t>
            </a:r>
            <a:r>
              <a:rPr lang="en-US" dirty="0" smtClean="0">
                <a:latin typeface="Arial Black" panose="020B0A04020102020204" pitchFamily="34" charset="0"/>
              </a:rPr>
              <a:t>“Islam”</a:t>
            </a:r>
            <a:r>
              <a:rPr lang="en-US" dirty="0" smtClean="0"/>
              <a:t> </a:t>
            </a:r>
            <a:r>
              <a:rPr lang="en-US" dirty="0"/>
              <a:t>implies four </a:t>
            </a:r>
            <a:r>
              <a:rPr lang="en-US" dirty="0" smtClean="0"/>
              <a:t>meanings:</a:t>
            </a:r>
            <a:r>
              <a:rPr lang="en-US" dirty="0"/>
              <a:t/>
            </a:r>
            <a:br>
              <a:rPr lang="en-US" dirty="0"/>
            </a:br>
            <a:endParaRPr lang="en-US" dirty="0"/>
          </a:p>
        </p:txBody>
      </p:sp>
      <p:sp>
        <p:nvSpPr>
          <p:cNvPr id="3" name="Content Placeholder 2"/>
          <p:cNvSpPr>
            <a:spLocks noGrp="1"/>
          </p:cNvSpPr>
          <p:nvPr>
            <p:ph idx="1"/>
          </p:nvPr>
        </p:nvSpPr>
        <p:spPr>
          <a:xfrm>
            <a:off x="0" y="1445990"/>
            <a:ext cx="12192000" cy="5412009"/>
          </a:xfrm>
        </p:spPr>
        <p:txBody>
          <a:bodyPr>
            <a:normAutofit lnSpcReduction="10000"/>
          </a:bodyPr>
          <a:lstStyle/>
          <a:p>
            <a:endParaRPr lang="en-US" dirty="0"/>
          </a:p>
          <a:p>
            <a:pPr marL="514350" indent="-514350">
              <a:buAutoNum type="arabicPeriod"/>
            </a:pPr>
            <a:r>
              <a:rPr lang="en-US" b="1" u="sng" dirty="0"/>
              <a:t>T</a:t>
            </a:r>
            <a:r>
              <a:rPr lang="en-US" b="1" u="sng" dirty="0" smtClean="0"/>
              <a:t>o </a:t>
            </a:r>
            <a:r>
              <a:rPr lang="en-US" b="1" u="sng" dirty="0"/>
              <a:t>find peace and security </a:t>
            </a:r>
            <a:endParaRPr lang="en-US" b="1" u="sng" dirty="0" smtClean="0"/>
          </a:p>
          <a:p>
            <a:pPr marL="0" indent="0">
              <a:buNone/>
            </a:pPr>
            <a:r>
              <a:rPr lang="en-US" dirty="0" smtClean="0"/>
              <a:t>Allah </a:t>
            </a:r>
            <a:r>
              <a:rPr lang="en-US" dirty="0"/>
              <a:t>said in the Holy Qur'an:</a:t>
            </a:r>
            <a:endParaRPr lang="" dirty="0"/>
          </a:p>
          <a:p>
            <a:pPr algn="r" rtl="1"/>
            <a:r>
              <a:rPr lang="ar-SA" dirty="0"/>
              <a:t>يَهْدِيْ بِهِ </a:t>
            </a:r>
            <a:r>
              <a:rPr lang="ar-SA" dirty="0" err="1"/>
              <a:t>اﷲُ</a:t>
            </a:r>
            <a:r>
              <a:rPr lang="ar-SA" dirty="0"/>
              <a:t> مَنِ اتَّبَعَ رِضْوَانَه سُبُلَ </a:t>
            </a:r>
            <a:r>
              <a:rPr lang="ar-SA" dirty="0" err="1"/>
              <a:t>السَّلٰمِ</a:t>
            </a:r>
            <a:r>
              <a:rPr lang="ar-SA" dirty="0" smtClean="0"/>
              <a:t>.</a:t>
            </a:r>
            <a:endParaRPr lang="en-US" dirty="0" smtClean="0"/>
          </a:p>
          <a:p>
            <a:pPr marL="0" indent="0" algn="l">
              <a:buNone/>
            </a:pPr>
            <a:r>
              <a:rPr lang="en-US" dirty="0" smtClean="0"/>
              <a:t>“Through </a:t>
            </a:r>
            <a:r>
              <a:rPr lang="en-US" dirty="0"/>
              <a:t>which Allah guides those who seek His pleasure to the ways of </a:t>
            </a:r>
            <a:r>
              <a:rPr lang="en-US" dirty="0" smtClean="0"/>
              <a:t>peace”</a:t>
            </a:r>
          </a:p>
          <a:p>
            <a:pPr marL="0" indent="0" algn="l">
              <a:buNone/>
            </a:pPr>
            <a:endParaRPr lang="" dirty="0"/>
          </a:p>
          <a:p>
            <a:pPr marL="0" indent="0">
              <a:buNone/>
            </a:pPr>
            <a:r>
              <a:rPr lang="en-US" dirty="0"/>
              <a:t>2. </a:t>
            </a:r>
            <a:r>
              <a:rPr lang="en-US" b="1" u="sng" dirty="0"/>
              <a:t>T</a:t>
            </a:r>
            <a:r>
              <a:rPr lang="en-US" b="1" u="sng" dirty="0" smtClean="0"/>
              <a:t>o </a:t>
            </a:r>
            <a:r>
              <a:rPr lang="en-US" b="1" u="sng" dirty="0"/>
              <a:t>accept, to submit, to bow down and to accept submission and obedience</a:t>
            </a:r>
            <a:r>
              <a:rPr lang="en-US" dirty="0"/>
              <a:t>. </a:t>
            </a:r>
            <a:endParaRPr lang="en-US" dirty="0" smtClean="0"/>
          </a:p>
          <a:p>
            <a:pPr marL="0" indent="0">
              <a:buNone/>
            </a:pPr>
            <a:r>
              <a:rPr lang="en-US" dirty="0" smtClean="0"/>
              <a:t>In </a:t>
            </a:r>
            <a:r>
              <a:rPr lang="en-US" dirty="0"/>
              <a:t>the Holy Qur'an, Allah </a:t>
            </a:r>
            <a:r>
              <a:rPr lang="en-US" dirty="0" err="1"/>
              <a:t>Ta'ala</a:t>
            </a:r>
            <a:r>
              <a:rPr lang="en-US" dirty="0"/>
              <a:t> said:</a:t>
            </a:r>
            <a:endParaRPr lang="" dirty="0"/>
          </a:p>
          <a:p>
            <a:pPr algn="r" rtl="1"/>
            <a:r>
              <a:rPr lang="ar-SA" dirty="0"/>
              <a:t>اِذْ قَالَ لَه رَبُّه اَسْلِمْ قَالَ اَسْلَمْتُ لِرَبِّ </a:t>
            </a:r>
            <a:r>
              <a:rPr lang="ar-SA" dirty="0" err="1"/>
              <a:t>الْعٰلَمِيْنَ</a:t>
            </a:r>
            <a:r>
              <a:rPr lang="en-US" dirty="0" smtClean="0"/>
              <a:t>o</a:t>
            </a:r>
          </a:p>
          <a:p>
            <a:pPr marL="0" indent="0">
              <a:buNone/>
            </a:pPr>
            <a:r>
              <a:rPr lang="en-US" dirty="0" smtClean="0"/>
              <a:t>“When </a:t>
            </a:r>
            <a:r>
              <a:rPr lang="en-US" dirty="0"/>
              <a:t>his Lord said to him, “Surrender,” he promptly responded, “I have surrendered to the Lord of the Universe (and become a Muslim).”</a:t>
            </a:r>
          </a:p>
          <a:p>
            <a:endParaRPr lang="en-US" dirty="0"/>
          </a:p>
        </p:txBody>
      </p:sp>
      <p:sp>
        <p:nvSpPr>
          <p:cNvPr id="4" name="Chevron 3">
            <a:hlinkClick r:id="rId2" action="ppaction://hlinksldjump"/>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50703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012825"/>
            <a:ext cx="12192000" cy="4351338"/>
          </a:xfrm>
        </p:spPr>
        <p:txBody>
          <a:bodyPr/>
          <a:lstStyle/>
          <a:p>
            <a:pPr marL="0" indent="0">
              <a:buNone/>
            </a:pPr>
            <a:r>
              <a:rPr lang="en-US" dirty="0" smtClean="0"/>
              <a:t>3. </a:t>
            </a:r>
            <a:r>
              <a:rPr lang="en-US" b="1" u="sng" dirty="0" smtClean="0"/>
              <a:t>Peace </a:t>
            </a:r>
            <a:r>
              <a:rPr lang="en-US" b="1" u="sng" dirty="0"/>
              <a:t>and </a:t>
            </a:r>
            <a:r>
              <a:rPr lang="en-US" b="1" u="sng" dirty="0" smtClean="0"/>
              <a:t>harmony</a:t>
            </a:r>
          </a:p>
          <a:p>
            <a:pPr marL="0" indent="0">
              <a:buNone/>
            </a:pPr>
            <a:endParaRPr lang="" b="1" u="sng" dirty="0"/>
          </a:p>
          <a:p>
            <a:pPr algn="r" rtl="1"/>
            <a:r>
              <a:rPr lang="ar-SA" dirty="0" err="1"/>
              <a:t>يٰاَيُّهَا</a:t>
            </a:r>
            <a:r>
              <a:rPr lang="ar-SA" dirty="0"/>
              <a:t> الَّذِيْنَ </a:t>
            </a:r>
            <a:r>
              <a:rPr lang="ar-SA" dirty="0" err="1"/>
              <a:t>اٰمَنُوا</a:t>
            </a:r>
            <a:r>
              <a:rPr lang="ar-SA" dirty="0"/>
              <a:t> ادْخُلُوْا </a:t>
            </a:r>
            <a:r>
              <a:rPr lang="ar-SA" dirty="0" err="1"/>
              <a:t>فِی</a:t>
            </a:r>
            <a:r>
              <a:rPr lang="ar-SA" dirty="0"/>
              <a:t> السِّلْمِ </a:t>
            </a:r>
            <a:r>
              <a:rPr lang="ar-SA" dirty="0" err="1"/>
              <a:t>کَآفَّةً</a:t>
            </a:r>
            <a:r>
              <a:rPr lang="ar-SA" dirty="0" smtClean="0"/>
              <a:t>.</a:t>
            </a:r>
            <a:endParaRPr lang="en-US" dirty="0" smtClean="0"/>
          </a:p>
          <a:p>
            <a:pPr marL="0" indent="0">
              <a:buNone/>
            </a:pPr>
            <a:r>
              <a:rPr lang="en-US" dirty="0" smtClean="0"/>
              <a:t>“</a:t>
            </a:r>
            <a:r>
              <a:rPr lang="en-US" dirty="0"/>
              <a:t>O believers! Enter into Islam wholeheartedly </a:t>
            </a:r>
            <a:r>
              <a:rPr lang="en-US" dirty="0" smtClean="0"/>
              <a:t>”</a:t>
            </a:r>
          </a:p>
          <a:p>
            <a:pPr marL="0" indent="0">
              <a:buNone/>
            </a:pPr>
            <a:endParaRPr lang="" dirty="0"/>
          </a:p>
          <a:p>
            <a:r>
              <a:rPr lang="en-US" dirty="0"/>
              <a:t>4. </a:t>
            </a:r>
            <a:r>
              <a:rPr lang="en-US" dirty="0"/>
              <a:t>A</a:t>
            </a:r>
            <a:r>
              <a:rPr lang="en-US" dirty="0" smtClean="0"/>
              <a:t> </a:t>
            </a:r>
            <a:r>
              <a:rPr lang="en-US" dirty="0"/>
              <a:t>tall tree is also called </a:t>
            </a:r>
            <a:r>
              <a:rPr lang="en-US" b="1" u="sng" dirty="0"/>
              <a:t>Al-Salam</a:t>
            </a:r>
            <a:r>
              <a:rPr lang="en-US" dirty="0"/>
              <a:t> in the Arabic dictionary.</a:t>
            </a:r>
            <a:r>
              <a:rPr lang="" dirty="0"/>
              <a:t> </a:t>
            </a:r>
            <a:endParaRPr lang="en-US" dirty="0"/>
          </a:p>
          <a:p>
            <a:pPr marL="0" indent="0">
              <a:buNone/>
            </a:pPr>
            <a:endParaRPr lang="en-US" dirty="0"/>
          </a:p>
        </p:txBody>
      </p:sp>
      <p:sp>
        <p:nvSpPr>
          <p:cNvPr id="4" name="Chevron 3">
            <a:hlinkClick r:id="rId2" action="ppaction://hlinksldjump"/>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076060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a:solidFill>
            <a:srgbClr val="4BD3E5"/>
          </a:solidFill>
        </p:spPr>
        <p:txBody>
          <a:bodyPr>
            <a:normAutofit/>
          </a:bodyPr>
          <a:lstStyle/>
          <a:p>
            <a:pPr algn="ctr"/>
            <a:r>
              <a:rPr lang="en-US" sz="6000" dirty="0" smtClean="0">
                <a:latin typeface="Arial Black" panose="020B0A04020102020204" pitchFamily="34" charset="0"/>
              </a:rPr>
              <a:t>Terminological meaning </a:t>
            </a:r>
            <a:endParaRPr lang="en-US" sz="6000" dirty="0">
              <a:latin typeface="Arial Black" panose="020B0A04020102020204" pitchFamily="34" charset="0"/>
            </a:endParaRPr>
          </a:p>
        </p:txBody>
      </p:sp>
      <p:sp>
        <p:nvSpPr>
          <p:cNvPr id="3" name="Content Placeholder 2"/>
          <p:cNvSpPr>
            <a:spLocks noGrp="1"/>
          </p:cNvSpPr>
          <p:nvPr>
            <p:ph idx="1"/>
          </p:nvPr>
        </p:nvSpPr>
        <p:spPr>
          <a:xfrm>
            <a:off x="0" y="1825625"/>
            <a:ext cx="12192000" cy="4351338"/>
          </a:xfrm>
        </p:spPr>
        <p:txBody>
          <a:bodyPr/>
          <a:lstStyle/>
          <a:p>
            <a:r>
              <a:rPr lang="en-US" dirty="0"/>
              <a:t>The meaning of Islam is to surrender, while in the term, the name of surrendering oneself to the </a:t>
            </a:r>
            <a:r>
              <a:rPr lang="en-US" dirty="0" err="1"/>
              <a:t>Shariat</a:t>
            </a:r>
            <a:r>
              <a:rPr lang="en-US" dirty="0"/>
              <a:t> of Muhammad (peace and blessings of Allah be upon him) is </a:t>
            </a:r>
            <a:r>
              <a:rPr lang="en-US" dirty="0" smtClean="0"/>
              <a:t>Islam.</a:t>
            </a:r>
          </a:p>
          <a:p>
            <a:endParaRPr lang="en-US" dirty="0"/>
          </a:p>
          <a:p>
            <a:endParaRPr lang="en-US" dirty="0" smtClean="0"/>
          </a:p>
          <a:p>
            <a:r>
              <a:rPr lang="en-US" dirty="0" smtClean="0"/>
              <a:t>Islam </a:t>
            </a:r>
            <a:r>
              <a:rPr lang="en-US" dirty="0"/>
              <a:t>is a religion which itself is complete security and teaches peace and security, love and tolerance, moderation and balance and patience to others.</a:t>
            </a:r>
          </a:p>
          <a:p>
            <a:endParaRPr lang="en-US" dirty="0" smtClean="0"/>
          </a:p>
          <a:p>
            <a:endParaRPr lang="en-US" dirty="0" smtClean="0"/>
          </a:p>
          <a:p>
            <a:endParaRPr lang="en-US" dirty="0"/>
          </a:p>
        </p:txBody>
      </p:sp>
      <p:sp>
        <p:nvSpPr>
          <p:cNvPr id="4" name="Chevron 3">
            <a:hlinkClick r:id="rId2" action="ppaction://hlinksldjump"/>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126083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descr="Islam &amp; Imaan according to Hadith Jibriel-QuranHost-Learn Quran Onl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546" y="128788"/>
            <a:ext cx="11900079" cy="6619741"/>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5417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man - Meaning of the Muslim baby name Em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820" y="180303"/>
            <a:ext cx="11706895" cy="6426559"/>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4" name="Rectangle 3"/>
          <p:cNvSpPr/>
          <p:nvPr/>
        </p:nvSpPr>
        <p:spPr>
          <a:xfrm>
            <a:off x="1" y="321972"/>
            <a:ext cx="12192000" cy="9401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14482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a:solidFill>
            <a:srgbClr val="4BD3E5"/>
          </a:solidFill>
        </p:spPr>
        <p:txBody>
          <a:bodyPr>
            <a:normAutofit/>
          </a:bodyPr>
          <a:lstStyle/>
          <a:p>
            <a:r>
              <a:rPr lang="en-US" sz="6000" dirty="0" smtClean="0">
                <a:latin typeface="Arial Black" panose="020B0A04020102020204" pitchFamily="34" charset="0"/>
              </a:rPr>
              <a:t>Literal meaning of </a:t>
            </a:r>
            <a:r>
              <a:rPr lang="en-US" sz="6000" dirty="0" err="1" smtClean="0">
                <a:latin typeface="Arial Black" panose="020B0A04020102020204" pitchFamily="34" charset="0"/>
              </a:rPr>
              <a:t>Eman</a:t>
            </a:r>
            <a:endParaRPr lang="en-US" sz="6000" dirty="0">
              <a:latin typeface="Arial Black" panose="020B0A04020102020204" pitchFamily="34" charset="0"/>
            </a:endParaRPr>
          </a:p>
        </p:txBody>
      </p:sp>
      <p:sp>
        <p:nvSpPr>
          <p:cNvPr id="3" name="Content Placeholder 2"/>
          <p:cNvSpPr>
            <a:spLocks noGrp="1"/>
          </p:cNvSpPr>
          <p:nvPr>
            <p:ph idx="1"/>
          </p:nvPr>
        </p:nvSpPr>
        <p:spPr>
          <a:xfrm>
            <a:off x="0" y="1825625"/>
            <a:ext cx="12192000" cy="4351338"/>
          </a:xfrm>
        </p:spPr>
        <p:txBody>
          <a:bodyPr>
            <a:normAutofit/>
          </a:bodyPr>
          <a:lstStyle/>
          <a:p>
            <a:r>
              <a:rPr lang="en-US" dirty="0" err="1"/>
              <a:t>Eman</a:t>
            </a:r>
            <a:r>
              <a:rPr lang="en-US" dirty="0"/>
              <a:t> is an Arabic word. It is derived from </a:t>
            </a:r>
            <a:r>
              <a:rPr lang="ar-SA" dirty="0"/>
              <a:t>’’ا۔ م۔ ن‘‘ </a:t>
            </a:r>
            <a:r>
              <a:rPr lang="en-US" dirty="0"/>
              <a:t> (</a:t>
            </a:r>
            <a:r>
              <a:rPr lang="ar-SA" dirty="0"/>
              <a:t>امن</a:t>
            </a:r>
            <a:r>
              <a:rPr lang="en-US" dirty="0"/>
              <a:t>,peace</a:t>
            </a:r>
            <a:r>
              <a:rPr lang="en-US" dirty="0" smtClean="0"/>
              <a:t>).</a:t>
            </a:r>
          </a:p>
          <a:p>
            <a:endParaRPr lang="en-US" dirty="0"/>
          </a:p>
          <a:p>
            <a:r>
              <a:rPr lang="en-US" dirty="0"/>
              <a:t>According to the dictionary, to be safe from any fear, to be satisfied with the heart and to cope with the well-being of a person is called peace.  </a:t>
            </a:r>
            <a:endParaRPr lang="en-US" dirty="0" smtClean="0"/>
          </a:p>
          <a:p>
            <a:endParaRPr lang="en-US" dirty="0"/>
          </a:p>
          <a:p>
            <a:r>
              <a:rPr lang="en-US" dirty="0"/>
              <a:t>When the word </a:t>
            </a:r>
            <a:r>
              <a:rPr lang="en-US" dirty="0" err="1"/>
              <a:t>Eman</a:t>
            </a:r>
            <a:r>
              <a:rPr lang="en-US" dirty="0"/>
              <a:t> is used as an imperative verb, it means "to have peace", and when it is used as a transitive verb, it means "to give peace</a:t>
            </a:r>
            <a:r>
              <a:rPr lang="en-US" dirty="0" smtClean="0"/>
              <a:t>".</a:t>
            </a:r>
          </a:p>
          <a:p>
            <a:endParaRPr lang="en-US" dirty="0"/>
          </a:p>
          <a:p>
            <a:r>
              <a:rPr lang="en-US" dirty="0" smtClean="0"/>
              <a:t>So ,the </a:t>
            </a:r>
            <a:r>
              <a:rPr lang="en-US" dirty="0"/>
              <a:t>word </a:t>
            </a:r>
            <a:r>
              <a:rPr lang="en-US" dirty="0" err="1"/>
              <a:t>Eman</a:t>
            </a:r>
            <a:r>
              <a:rPr lang="en-US" dirty="0"/>
              <a:t> in its original meaning indicates peace, trust and confidence.</a:t>
            </a:r>
          </a:p>
          <a:p>
            <a:endParaRPr lang="en-US" dirty="0"/>
          </a:p>
          <a:p>
            <a:endParaRPr lang="en-US" dirty="0"/>
          </a:p>
        </p:txBody>
      </p:sp>
      <p:sp>
        <p:nvSpPr>
          <p:cNvPr id="4" name="Chevron 3">
            <a:hlinkClick r:id="rId2" action="ppaction://hlinksldjump"/>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4148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a:solidFill>
            <a:srgbClr val="4BD3E5"/>
          </a:solidFill>
        </p:spPr>
        <p:txBody>
          <a:bodyPr>
            <a:normAutofit/>
          </a:bodyPr>
          <a:lstStyle/>
          <a:p>
            <a:pPr algn="ctr"/>
            <a:r>
              <a:rPr lang="en-US" sz="6000" dirty="0" smtClean="0">
                <a:latin typeface="Arial Black" panose="020B0A04020102020204" pitchFamily="34" charset="0"/>
              </a:rPr>
              <a:t>Terminological Meaning </a:t>
            </a:r>
            <a:endParaRPr lang="en-US" sz="6000" dirty="0">
              <a:latin typeface="Arial Black" panose="020B0A04020102020204" pitchFamily="34" charset="0"/>
            </a:endParaRPr>
          </a:p>
        </p:txBody>
      </p:sp>
      <p:sp>
        <p:nvSpPr>
          <p:cNvPr id="3" name="Content Placeholder 2"/>
          <p:cNvSpPr>
            <a:spLocks noGrp="1"/>
          </p:cNvSpPr>
          <p:nvPr>
            <p:ph idx="1"/>
          </p:nvPr>
        </p:nvSpPr>
        <p:spPr>
          <a:xfrm>
            <a:off x="0" y="1956254"/>
            <a:ext cx="12192000" cy="4351338"/>
          </a:xfrm>
        </p:spPr>
        <p:txBody>
          <a:bodyPr/>
          <a:lstStyle/>
          <a:p>
            <a:endParaRPr lang="en-US" dirty="0" smtClean="0"/>
          </a:p>
          <a:p>
            <a:r>
              <a:rPr lang="en-US" dirty="0" smtClean="0"/>
              <a:t>The </a:t>
            </a:r>
            <a:r>
              <a:rPr lang="en-US" dirty="0"/>
              <a:t>word </a:t>
            </a:r>
            <a:r>
              <a:rPr lang="en-US" dirty="0" smtClean="0"/>
              <a:t>“</a:t>
            </a:r>
            <a:r>
              <a:rPr lang="en-US" dirty="0" err="1" smtClean="0"/>
              <a:t>Eman</a:t>
            </a:r>
            <a:r>
              <a:rPr lang="en-US" dirty="0" smtClean="0"/>
              <a:t>" </a:t>
            </a:r>
            <a:r>
              <a:rPr lang="en-US" dirty="0"/>
              <a:t>has appeared more or less forty-five (45) times in the Holy Qur'an</a:t>
            </a:r>
            <a:r>
              <a:rPr lang="en-US" dirty="0" smtClean="0"/>
              <a:t>.</a:t>
            </a:r>
          </a:p>
          <a:p>
            <a:endParaRPr lang="en-US" dirty="0"/>
          </a:p>
          <a:p>
            <a:r>
              <a:rPr lang="en-US" dirty="0" err="1" smtClean="0"/>
              <a:t>Eman</a:t>
            </a:r>
            <a:r>
              <a:rPr lang="en-US" dirty="0" smtClean="0"/>
              <a:t> </a:t>
            </a:r>
            <a:r>
              <a:rPr lang="en-US" dirty="0"/>
              <a:t>is the name of the sure state of the heart and inner being, in which the heart and inner body are empty of the love of the world and filled with the love of Allah</a:t>
            </a:r>
            <a:r>
              <a:rPr lang="en-US" dirty="0" smtClean="0"/>
              <a:t>.</a:t>
            </a:r>
          </a:p>
          <a:p>
            <a:endParaRPr lang="en-US" dirty="0"/>
          </a:p>
          <a:p>
            <a:r>
              <a:rPr lang="en-US" dirty="0" err="1" smtClean="0"/>
              <a:t>Eman</a:t>
            </a:r>
            <a:r>
              <a:rPr lang="en-US" dirty="0" smtClean="0"/>
              <a:t> </a:t>
            </a:r>
            <a:r>
              <a:rPr lang="en-US" dirty="0"/>
              <a:t>are the subject of faiths or </a:t>
            </a:r>
            <a:r>
              <a:rPr lang="ar-SA" dirty="0"/>
              <a:t>عقائد</a:t>
            </a:r>
            <a:r>
              <a:rPr lang="en-US" dirty="0"/>
              <a:t> .</a:t>
            </a:r>
          </a:p>
          <a:p>
            <a:endParaRPr lang="en-US" dirty="0"/>
          </a:p>
        </p:txBody>
      </p:sp>
      <p:sp>
        <p:nvSpPr>
          <p:cNvPr id="4" name="Chevron 3">
            <a:hlinkClick r:id="rId2" action="ppaction://hlinksldjump"/>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450669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100" name="Picture 4" descr="The Six Pillars of Faith (Iman) in Islam | Madrasat El-Qur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668" y="128788"/>
            <a:ext cx="11912957" cy="6568225"/>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3767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a:solidFill>
            <a:srgbClr val="4BD3E5"/>
          </a:solidFill>
        </p:spPr>
        <p:txBody>
          <a:bodyPr/>
          <a:lstStyle/>
          <a:p>
            <a:r>
              <a:rPr lang="en-US" dirty="0" smtClean="0">
                <a:latin typeface="Arial Black" panose="020B0A04020102020204" pitchFamily="34" charset="0"/>
              </a:rPr>
              <a:t>Difference between </a:t>
            </a:r>
            <a:r>
              <a:rPr lang="en-US" b="1" i="1" dirty="0" smtClean="0">
                <a:latin typeface="+mn-lt"/>
              </a:rPr>
              <a:t>“Islam” </a:t>
            </a:r>
            <a:r>
              <a:rPr lang="en-US" dirty="0" smtClean="0">
                <a:latin typeface="Arial Black" panose="020B0A04020102020204" pitchFamily="34" charset="0"/>
              </a:rPr>
              <a:t>and </a:t>
            </a:r>
            <a:r>
              <a:rPr lang="en-US" b="1" i="1" dirty="0" smtClean="0">
                <a:latin typeface="+mn-lt"/>
              </a:rPr>
              <a:t>“</a:t>
            </a:r>
            <a:r>
              <a:rPr lang="en-US" b="1" i="1" dirty="0" err="1" smtClean="0">
                <a:latin typeface="+mn-lt"/>
              </a:rPr>
              <a:t>Eman</a:t>
            </a:r>
            <a:r>
              <a:rPr lang="en-US" b="1" i="1" dirty="0" smtClean="0">
                <a:latin typeface="+mn-lt"/>
              </a:rPr>
              <a:t>”</a:t>
            </a:r>
            <a:endParaRPr lang="en-US" b="1" i="1" dirty="0">
              <a:latin typeface="+mn-lt"/>
            </a:endParaRPr>
          </a:p>
        </p:txBody>
      </p:sp>
      <p:sp>
        <p:nvSpPr>
          <p:cNvPr id="3" name="Content Placeholder 2"/>
          <p:cNvSpPr>
            <a:spLocks noGrp="1"/>
          </p:cNvSpPr>
          <p:nvPr>
            <p:ph idx="1"/>
          </p:nvPr>
        </p:nvSpPr>
        <p:spPr>
          <a:xfrm>
            <a:off x="1468192" y="2714266"/>
            <a:ext cx="12192000" cy="5032375"/>
          </a:xfrm>
        </p:spPr>
        <p:txBody>
          <a:bodyPr>
            <a:normAutofit/>
          </a:bodyPr>
          <a:lstStyle/>
          <a:p>
            <a:endParaRPr lang="en-US" dirty="0" smtClean="0"/>
          </a:p>
          <a:p>
            <a:endParaRPr lang="en-US" dirty="0"/>
          </a:p>
          <a:p>
            <a:endParaRPr lang="en-US" dirty="0" smtClean="0"/>
          </a:p>
          <a:p>
            <a:pPr marL="0" indent="0">
              <a:buNone/>
            </a:pPr>
            <a:endParaRPr lang="en-US" dirty="0"/>
          </a:p>
        </p:txBody>
      </p:sp>
      <p:sp>
        <p:nvSpPr>
          <p:cNvPr id="5" name="Chevron 4">
            <a:hlinkClick r:id="" action="ppaction://noaction"/>
          </p:cNvPr>
          <p:cNvSpPr/>
          <p:nvPr/>
        </p:nvSpPr>
        <p:spPr>
          <a:xfrm flipH="1">
            <a:off x="11379200" y="6270171"/>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6146" name="Picture 2" descr="Question Mark Response - Free image on Pixaba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0435" y="2272786"/>
            <a:ext cx="3871130" cy="349695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659980" y="5982502"/>
            <a:ext cx="7866897" cy="400110"/>
          </a:xfrm>
          <a:prstGeom prst="rect">
            <a:avLst/>
          </a:prstGeom>
        </p:spPr>
        <p:txBody>
          <a:bodyPr wrap="none">
            <a:spAutoFit/>
          </a:bodyPr>
          <a:lstStyle/>
          <a:p>
            <a:pPr marL="285750" indent="-285750">
              <a:buFont typeface="Arial" panose="020B0604020202020204" pitchFamily="34" charset="0"/>
              <a:buChar char="•"/>
            </a:pPr>
            <a:r>
              <a:rPr lang="en-US" sz="2000" dirty="0" err="1" smtClean="0">
                <a:latin typeface="Arial Black" panose="020B0A04020102020204" pitchFamily="34" charset="0"/>
              </a:rPr>
              <a:t>Eman</a:t>
            </a:r>
            <a:r>
              <a:rPr lang="en-US" sz="2000" dirty="0" smtClean="0">
                <a:latin typeface="Arial Black" panose="020B0A04020102020204" pitchFamily="34" charset="0"/>
              </a:rPr>
              <a:t> and Islam are actually two sides of one reality</a:t>
            </a:r>
            <a:endParaRPr lang="en-US" sz="2000" dirty="0">
              <a:latin typeface="Arial Black" panose="020B0A04020102020204" pitchFamily="34" charset="0"/>
            </a:endParaRPr>
          </a:p>
        </p:txBody>
      </p:sp>
    </p:spTree>
    <p:extLst>
      <p:ext uri="{BB962C8B-B14F-4D97-AF65-F5344CB8AC3E}">
        <p14:creationId xmlns:p14="http://schemas.microsoft.com/office/powerpoint/2010/main" val="1715701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10515600" cy="1325563"/>
          </a:xfrm>
        </p:spPr>
        <p:txBody>
          <a:bodyPr/>
          <a:lstStyle/>
          <a:p>
            <a:r>
              <a:rPr lang="en-US" dirty="0" smtClean="0">
                <a:solidFill>
                  <a:srgbClr val="FF0000"/>
                </a:solidFill>
                <a:latin typeface="Arial Black" panose="020B0A04020102020204" pitchFamily="34" charset="0"/>
              </a:rPr>
              <a:t>Important Note</a:t>
            </a:r>
            <a:endParaRPr lang="en-US" dirty="0">
              <a:solidFill>
                <a:srgbClr val="FF0000"/>
              </a:solidFill>
              <a:latin typeface="Arial Black" panose="020B0A04020102020204" pitchFamily="34" charset="0"/>
            </a:endParaRPr>
          </a:p>
        </p:txBody>
      </p:sp>
      <p:sp>
        <p:nvSpPr>
          <p:cNvPr id="4" name="Rounded Rectangle 3"/>
          <p:cNvSpPr/>
          <p:nvPr/>
        </p:nvSpPr>
        <p:spPr>
          <a:xfrm>
            <a:off x="2979312" y="2120721"/>
            <a:ext cx="6233375" cy="27689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2400" dirty="0" smtClean="0"/>
          </a:p>
          <a:p>
            <a:pPr algn="just"/>
            <a:r>
              <a:rPr lang="en-US" sz="2400" dirty="0" smtClean="0"/>
              <a:t>There </a:t>
            </a:r>
            <a:r>
              <a:rPr lang="en-US" sz="2400" dirty="0"/>
              <a:t>is a rational and logical connection between the religion of Islam and </a:t>
            </a:r>
            <a:r>
              <a:rPr lang="en-US" sz="2400" dirty="0" err="1"/>
              <a:t>Eman</a:t>
            </a:r>
            <a:r>
              <a:rPr lang="en-US" sz="2400" dirty="0"/>
              <a:t> in such a way that anyone who is a believer and a person of </a:t>
            </a:r>
            <a:r>
              <a:rPr lang="en-US" sz="2400" dirty="0" err="1"/>
              <a:t>Eman</a:t>
            </a:r>
            <a:r>
              <a:rPr lang="en-US" sz="2400" dirty="0"/>
              <a:t> will certainly be a Muslim, but a person who is only a Muslim is not necessarily a believer and a person of </a:t>
            </a:r>
            <a:r>
              <a:rPr lang="en-US" sz="2400" dirty="0" err="1"/>
              <a:t>Eman</a:t>
            </a:r>
            <a:r>
              <a:rPr lang="en-US" sz="2400" dirty="0"/>
              <a:t>.</a:t>
            </a:r>
            <a:endParaRPr lang="" sz="2400" dirty="0"/>
          </a:p>
          <a:p>
            <a:pPr algn="ctr"/>
            <a:endParaRPr lang="en-US" dirty="0"/>
          </a:p>
        </p:txBody>
      </p:sp>
      <p:sp>
        <p:nvSpPr>
          <p:cNvPr id="5" name="Chevron 4">
            <a:hlinkClick r:id="rId2" action="ppaction://hlinksldjump"/>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0927556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2630906" y="0"/>
            <a:ext cx="3475371" cy="6858000"/>
            <a:chOff x="0" y="0"/>
            <a:chExt cx="3475371" cy="6858000"/>
          </a:xfrm>
        </p:grpSpPr>
        <p:sp>
          <p:nvSpPr>
            <p:cNvPr id="4" name="Rectangle 3"/>
            <p:cNvSpPr/>
            <p:nvPr/>
          </p:nvSpPr>
          <p:spPr>
            <a:xfrm>
              <a:off x="0" y="0"/>
              <a:ext cx="2575775"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hlinkClick r:id="" action="ppaction://noaction"/>
            </p:cNvPr>
            <p:cNvSpPr/>
            <p:nvPr/>
          </p:nvSpPr>
          <p:spPr>
            <a:xfrm>
              <a:off x="99811" y="566670"/>
              <a:ext cx="2343955" cy="61818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introduction</a:t>
              </a:r>
              <a:endParaRPr lang="en-US" dirty="0"/>
            </a:p>
          </p:txBody>
        </p:sp>
        <p:sp>
          <p:nvSpPr>
            <p:cNvPr id="6" name="Rectangle 5">
              <a:hlinkClick r:id="" action="ppaction://noaction"/>
            </p:cNvPr>
            <p:cNvSpPr/>
            <p:nvPr/>
          </p:nvSpPr>
          <p:spPr>
            <a:xfrm>
              <a:off x="99811" y="1447263"/>
              <a:ext cx="2343955" cy="61818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Explanation </a:t>
              </a:r>
              <a:endParaRPr lang="en-US" dirty="0"/>
            </a:p>
          </p:txBody>
        </p:sp>
        <p:grpSp>
          <p:nvGrpSpPr>
            <p:cNvPr id="16" name="Group 15"/>
            <p:cNvGrpSpPr/>
            <p:nvPr/>
          </p:nvGrpSpPr>
          <p:grpSpPr>
            <a:xfrm>
              <a:off x="2922711" y="161628"/>
              <a:ext cx="552660" cy="357312"/>
              <a:chOff x="3145133" y="1826695"/>
              <a:chExt cx="552660" cy="357312"/>
            </a:xfrm>
          </p:grpSpPr>
          <p:sp>
            <p:nvSpPr>
              <p:cNvPr id="13" name="Rounded Rectangle 12"/>
              <p:cNvSpPr/>
              <p:nvPr/>
            </p:nvSpPr>
            <p:spPr>
              <a:xfrm>
                <a:off x="3145134" y="1826695"/>
                <a:ext cx="552659" cy="72443"/>
              </a:xfrm>
              <a:prstGeom prst="roundRect">
                <a:avLst>
                  <a:gd name="adj" fmla="val 50000"/>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3145134" y="1962431"/>
                <a:ext cx="552659" cy="72443"/>
              </a:xfrm>
              <a:prstGeom prst="roundRect">
                <a:avLst>
                  <a:gd name="adj" fmla="val 50000"/>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3145133" y="2111564"/>
                <a:ext cx="552659" cy="72443"/>
              </a:xfrm>
              <a:prstGeom prst="roundRect">
                <a:avLst>
                  <a:gd name="adj" fmla="val 50000"/>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8" name="TextBox 17"/>
          <p:cNvSpPr txBox="1"/>
          <p:nvPr/>
        </p:nvSpPr>
        <p:spPr>
          <a:xfrm>
            <a:off x="4572000" y="1808018"/>
            <a:ext cx="6400800" cy="923330"/>
          </a:xfrm>
          <a:prstGeom prst="rect">
            <a:avLst/>
          </a:prstGeom>
          <a:noFill/>
        </p:spPr>
        <p:txBody>
          <a:bodyPr wrap="square" rtlCol="0">
            <a:spAutoFit/>
          </a:bodyPr>
          <a:lstStyle/>
          <a:p>
            <a:r>
              <a:rPr lang="en-US" sz="5400" dirty="0">
                <a:latin typeface="Arial Black" panose="020B0A04020102020204" pitchFamily="34" charset="0"/>
              </a:rPr>
              <a:t>Muslim </a:t>
            </a:r>
            <a:r>
              <a:rPr lang="en-US" sz="5400" dirty="0" err="1">
                <a:latin typeface="Arial Black" panose="020B0A04020102020204" pitchFamily="34" charset="0"/>
              </a:rPr>
              <a:t>Belifs</a:t>
            </a:r>
            <a:endParaRPr lang="en-US" sz="5400" dirty="0"/>
          </a:p>
        </p:txBody>
      </p:sp>
      <p:cxnSp>
        <p:nvCxnSpPr>
          <p:cNvPr id="21" name="Straight Connector 20"/>
          <p:cNvCxnSpPr/>
          <p:nvPr/>
        </p:nvCxnSpPr>
        <p:spPr>
          <a:xfrm>
            <a:off x="4572000" y="2988435"/>
            <a:ext cx="559030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Chevron 18">
            <a:hlinkClick r:id="rId2" action="ppaction://hlinksldjump"/>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541485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2.91667E-6 0 L 0.20782 0.01111 " pathEditMode="relative" rAng="0" ptsTypes="AA">
                                      <p:cBhvr>
                                        <p:cTn id="6" dur="2000" fill="hold"/>
                                        <p:tgtEl>
                                          <p:spTgt spid="17"/>
                                        </p:tgtEl>
                                        <p:attrNameLst>
                                          <p:attrName>ppt_x</p:attrName>
                                          <p:attrName>ppt_y</p:attrName>
                                        </p:attrNameLst>
                                      </p:cBhvr>
                                      <p:rCtr x="10391" y="556"/>
                                    </p:animMotion>
                                  </p:childTnLst>
                                </p:cTn>
                              </p:par>
                            </p:childTnLst>
                          </p:cTn>
                        </p:par>
                      </p:childTnLst>
                    </p:cTn>
                  </p:par>
                  <p:par>
                    <p:cTn id="7" fill="hold">
                      <p:stCondLst>
                        <p:cond delay="indefinite"/>
                      </p:stCondLst>
                      <p:childTnLst>
                        <p:par>
                          <p:cTn id="8" fill="hold">
                            <p:stCondLst>
                              <p:cond delay="0"/>
                            </p:stCondLst>
                            <p:childTnLst>
                              <p:par>
                                <p:cTn id="9" presetID="35" presetClass="path" presetSubtype="0" accel="50000" decel="50000" fill="hold" nodeType="clickEffect">
                                  <p:stCondLst>
                                    <p:cond delay="0"/>
                                  </p:stCondLst>
                                  <p:childTnLst>
                                    <p:animMotion origin="layout" path="M -2.91667E-6 0 L 0.2112 0.01111 " pathEditMode="relative" rAng="0" ptsTypes="AA">
                                      <p:cBhvr>
                                        <p:cTn id="10" dur="2000" fill="hold"/>
                                        <p:tgtEl>
                                          <p:spTgt spid="17"/>
                                        </p:tgtEl>
                                        <p:attrNameLst>
                                          <p:attrName>ppt_x</p:attrName>
                                          <p:attrName>ppt_y</p:attrName>
                                        </p:attrNameLst>
                                      </p:cBhvr>
                                      <p:rCtr x="10560" y="5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a:solidFill>
            <a:schemeClr val="accent2">
              <a:lumMod val="60000"/>
              <a:lumOff val="40000"/>
            </a:schemeClr>
          </a:solidFill>
        </p:spPr>
        <p:txBody>
          <a:bodyPr>
            <a:normAutofit/>
          </a:bodyPr>
          <a:lstStyle/>
          <a:p>
            <a:pPr algn="ctr"/>
            <a:r>
              <a:rPr lang="en-US" sz="6000" dirty="0" smtClean="0">
                <a:latin typeface="Arial Black" panose="020B0A04020102020204" pitchFamily="34" charset="0"/>
              </a:rPr>
              <a:t>Introduction</a:t>
            </a:r>
            <a:endParaRPr lang="en-US" sz="6000" dirty="0">
              <a:latin typeface="Arial Black" panose="020B0A04020102020204" pitchFamily="34" charset="0"/>
            </a:endParaRPr>
          </a:p>
        </p:txBody>
      </p:sp>
      <p:sp>
        <p:nvSpPr>
          <p:cNvPr id="3" name="Content Placeholder 2"/>
          <p:cNvSpPr>
            <a:spLocks noGrp="1"/>
          </p:cNvSpPr>
          <p:nvPr>
            <p:ph idx="1"/>
          </p:nvPr>
        </p:nvSpPr>
        <p:spPr>
          <a:xfrm>
            <a:off x="0" y="1825625"/>
            <a:ext cx="12192000" cy="4351338"/>
          </a:xfrm>
        </p:spPr>
        <p:txBody>
          <a:bodyPr>
            <a:normAutofit fontScale="85000" lnSpcReduction="20000"/>
          </a:bodyPr>
          <a:lstStyle/>
          <a:p>
            <a:r>
              <a:rPr lang="en-US" dirty="0"/>
              <a:t>The imams and </a:t>
            </a:r>
            <a:r>
              <a:rPr lang="en-US" dirty="0" err="1"/>
              <a:t>muhadditheen</a:t>
            </a:r>
            <a:r>
              <a:rPr lang="en-US" dirty="0"/>
              <a:t> have explained faith and faith from the Qur'an and Hadith in a very beautiful way to explain its teachings in a simple and easy way. Islamic scholars have described the attributes of faith in two ways:</a:t>
            </a:r>
          </a:p>
          <a:p>
            <a:endParaRPr lang="en-US" dirty="0"/>
          </a:p>
          <a:p>
            <a:pPr marL="0" indent="0">
              <a:buNone/>
            </a:pPr>
            <a:r>
              <a:rPr lang="en-US" dirty="0"/>
              <a:t>1. </a:t>
            </a:r>
            <a:r>
              <a:rPr lang="en-US" dirty="0" err="1" smtClean="0"/>
              <a:t>Eman</a:t>
            </a:r>
            <a:r>
              <a:rPr lang="en-US" dirty="0" smtClean="0"/>
              <a:t>-e-</a:t>
            </a:r>
            <a:r>
              <a:rPr lang="en-US" dirty="0" err="1" smtClean="0"/>
              <a:t>Mujamal</a:t>
            </a:r>
            <a:r>
              <a:rPr lang="en-US" dirty="0" smtClean="0"/>
              <a:t> </a:t>
            </a:r>
          </a:p>
          <a:p>
            <a:pPr marL="0" indent="0">
              <a:buNone/>
            </a:pPr>
            <a:r>
              <a:rPr lang="en-US" dirty="0" smtClean="0"/>
              <a:t>2</a:t>
            </a:r>
            <a:r>
              <a:rPr lang="en-US" dirty="0"/>
              <a:t>. </a:t>
            </a:r>
            <a:r>
              <a:rPr lang="en-US" dirty="0" err="1" smtClean="0"/>
              <a:t>Eman</a:t>
            </a:r>
            <a:r>
              <a:rPr lang="en-US" dirty="0" smtClean="0"/>
              <a:t>-e-</a:t>
            </a:r>
            <a:r>
              <a:rPr lang="en-US" dirty="0" err="1" smtClean="0"/>
              <a:t>Mufassal</a:t>
            </a:r>
            <a:endParaRPr lang="en-US" dirty="0"/>
          </a:p>
          <a:p>
            <a:endParaRPr lang="en-US" dirty="0"/>
          </a:p>
          <a:p>
            <a:r>
              <a:rPr lang="en-US" dirty="0"/>
              <a:t>In </a:t>
            </a:r>
            <a:r>
              <a:rPr lang="en-US" dirty="0" err="1" smtClean="0"/>
              <a:t>Eman</a:t>
            </a:r>
            <a:r>
              <a:rPr lang="en-US" dirty="0" smtClean="0"/>
              <a:t>-e-</a:t>
            </a:r>
            <a:r>
              <a:rPr lang="en-US" dirty="0" err="1" smtClean="0"/>
              <a:t>Mujamal</a:t>
            </a:r>
            <a:r>
              <a:rPr lang="en-US" dirty="0"/>
              <a:t>, faith is explained in a very short but comprehensive way because the meaning of </a:t>
            </a:r>
            <a:r>
              <a:rPr lang="en-US" dirty="0" err="1"/>
              <a:t>Mujamal</a:t>
            </a:r>
            <a:r>
              <a:rPr lang="en-US" dirty="0"/>
              <a:t> is "summary". In it, believing in Allah has been mentioned in such a way that all faiths come into it without declaring it</a:t>
            </a:r>
            <a:r>
              <a:rPr lang="en-US" dirty="0" smtClean="0"/>
              <a:t>.</a:t>
            </a:r>
          </a:p>
          <a:p>
            <a:endParaRPr lang="en-US" dirty="0"/>
          </a:p>
          <a:p>
            <a:r>
              <a:rPr lang="en-US" dirty="0"/>
              <a:t> While in </a:t>
            </a:r>
            <a:r>
              <a:rPr lang="en-US" dirty="0" err="1" smtClean="0"/>
              <a:t>Eman</a:t>
            </a:r>
            <a:r>
              <a:rPr lang="en-US" dirty="0" smtClean="0"/>
              <a:t>-e-</a:t>
            </a:r>
            <a:r>
              <a:rPr lang="en-US" dirty="0" err="1" smtClean="0"/>
              <a:t>Mufassal</a:t>
            </a:r>
            <a:r>
              <a:rPr lang="en-US" dirty="0"/>
              <a:t>, the proven beliefs in the light of Quran and Hadith have been explained in detail.</a:t>
            </a:r>
          </a:p>
        </p:txBody>
      </p:sp>
      <p:sp>
        <p:nvSpPr>
          <p:cNvPr id="4" name="Chevron 3">
            <a:hlinkClick r:id="" action="ppaction://noaction"/>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73263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0" y="1952824"/>
            <a:ext cx="12068424" cy="96560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3330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626262"/>
                </a:solidFill>
                <a:effectLst/>
                <a:latin typeface="Roboto"/>
              </a:rPr>
              <a:t>                                                                                                                                                                                              </a:t>
            </a:r>
            <a:endParaRPr kumimoji="0" 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626262"/>
                </a:solidFill>
                <a:effectLst/>
                <a:latin typeface="Roboto"/>
              </a:rPr>
              <a:t>“</a:t>
            </a:r>
            <a:r>
              <a:rPr kumimoji="0" lang="en-US" b="0" i="0" u="none" strike="noStrike" cap="none" normalizeH="0" baseline="0" dirty="0" smtClean="0">
                <a:ln>
                  <a:noFill/>
                </a:ln>
                <a:effectLst/>
                <a:latin typeface="Roboto"/>
              </a:rPr>
              <a:t>I solemnly believe in ALLAH with His all Names and personal Attributes and I also accept all His commandments by reciting them with tongue and believing them with hear.”</a:t>
            </a:r>
          </a:p>
        </p:txBody>
      </p:sp>
      <p:pic>
        <p:nvPicPr>
          <p:cNvPr id="1026" name="Picture 2" descr="http://quranclasses.net/wp-content/uploads/2018/03/Iman-e-Mujmal-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0019" y="894835"/>
            <a:ext cx="6991350" cy="69532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80305" y="162840"/>
            <a:ext cx="12191999" cy="369332"/>
          </a:xfrm>
          <a:prstGeom prst="rect">
            <a:avLst/>
          </a:prstGeom>
        </p:spPr>
        <p:txBody>
          <a:bodyPr wrap="square">
            <a:spAutoFit/>
          </a:bodyPr>
          <a:lstStyle/>
          <a:p>
            <a:pPr lvl="0" algn="ctr" eaLnBrk="0" fontAlgn="base" hangingPunct="0">
              <a:spcBef>
                <a:spcPct val="0"/>
              </a:spcBef>
              <a:spcAft>
                <a:spcPct val="0"/>
              </a:spcAft>
            </a:pPr>
            <a:r>
              <a:rPr lang="en-US" dirty="0">
                <a:solidFill>
                  <a:srgbClr val="444444"/>
                </a:solidFill>
                <a:latin typeface="Arial Black" panose="020B0A04020102020204" pitchFamily="34" charset="0"/>
              </a:rPr>
              <a:t>IMAN-E- MUJMAL (The Summary Declaration of Faith)</a:t>
            </a:r>
          </a:p>
        </p:txBody>
      </p:sp>
      <p:sp>
        <p:nvSpPr>
          <p:cNvPr id="6" name="Rectangle 3"/>
          <p:cNvSpPr>
            <a:spLocks noChangeArrowheads="1"/>
          </p:cNvSpPr>
          <p:nvPr/>
        </p:nvSpPr>
        <p:spPr bwMode="auto">
          <a:xfrm>
            <a:off x="2292439" y="5143888"/>
            <a:ext cx="7918834" cy="15349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3330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900" b="0" i="0" u="none" strike="noStrike" cap="none" normalizeH="0" baseline="0" dirty="0" smtClean="0">
                <a:ln>
                  <a:noFill/>
                </a:ln>
                <a:solidFill>
                  <a:srgbClr val="626262"/>
                </a:solidFill>
                <a:effectLst/>
                <a:latin typeface="Roboto"/>
              </a:rPr>
              <a:t>  </a:t>
            </a:r>
            <a:r>
              <a:rPr kumimoji="0" lang="en-US" sz="4500" b="0" i="0" u="none" strike="noStrike" cap="none" normalizeH="0" baseline="0" dirty="0" smtClean="0">
                <a:ln>
                  <a:noFill/>
                </a:ln>
                <a:solidFill>
                  <a:srgbClr val="626262"/>
                </a:solidFill>
                <a:effectLst/>
                <a:latin typeface="Roboto"/>
              </a:rPr>
              <a:t> </a:t>
            </a:r>
            <a:r>
              <a:rPr kumimoji="0" lang="en-US" sz="900" b="0" i="0" u="none" strike="noStrike" cap="none" normalizeH="0" baseline="0" dirty="0" smtClean="0">
                <a:ln>
                  <a:noFill/>
                </a:ln>
                <a:solidFill>
                  <a:srgbClr val="626262"/>
                </a:solidFill>
                <a:effectLst/>
                <a:latin typeface="Roboto"/>
              </a:rPr>
              <a:t>                                                                                                                                                                                                                                                </a:t>
            </a:r>
            <a:endParaRPr kumimoji="0" 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900" b="0" i="0" u="none" strike="noStrike" cap="none" normalizeH="0" baseline="0" dirty="0" smtClean="0">
                <a:ln>
                  <a:noFill/>
                </a:ln>
                <a:solidFill>
                  <a:srgbClr val="626262"/>
                </a:solidFill>
                <a:effectLst/>
                <a:latin typeface="Roboto"/>
              </a:rPr>
              <a:t>  </a:t>
            </a:r>
            <a:r>
              <a:rPr kumimoji="0" lang="en-US" sz="4600" b="0" i="0" u="none" strike="noStrike" cap="none" normalizeH="0" baseline="0" dirty="0" smtClean="0">
                <a:ln>
                  <a:noFill/>
                </a:ln>
                <a:solidFill>
                  <a:srgbClr val="626262"/>
                </a:solidFill>
                <a:effectLst/>
                <a:latin typeface="Roboto"/>
              </a:rPr>
              <a:t> </a:t>
            </a:r>
            <a:r>
              <a:rPr kumimoji="0" lang="en-US" sz="900" b="0" i="0" u="none" strike="noStrike" cap="none" normalizeH="0" baseline="0" dirty="0" smtClean="0">
                <a:ln>
                  <a:noFill/>
                </a:ln>
                <a:solidFill>
                  <a:srgbClr val="626262"/>
                </a:solidFill>
                <a:effectLst/>
                <a:latin typeface="Roboto"/>
              </a:rPr>
              <a:t>                                                                                                                                                         </a:t>
            </a:r>
            <a:endParaRPr kumimoji="0" lang="en-US" sz="1100" b="0" i="0" u="none" strike="noStrike" cap="none" normalizeH="0" baseline="0" dirty="0" smtClean="0">
              <a:ln>
                <a:noFill/>
              </a:ln>
              <a:solidFill>
                <a:schemeClr val="tx1"/>
              </a:solidFill>
              <a:effectLst/>
            </a:endParaRPr>
          </a:p>
        </p:txBody>
      </p:sp>
      <p:pic>
        <p:nvPicPr>
          <p:cNvPr id="1028" name="Picture 4" descr="http://quranclasses.net/wp-content/uploads/2018/03/Comprchensive-Faith.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0019" y="4090132"/>
            <a:ext cx="7677150" cy="723901"/>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http://quranclasses.net/wp-content/uploads/2018/03/Comprchensive-Faith-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53744" y="5001791"/>
            <a:ext cx="4895850" cy="73342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0" y="3489774"/>
            <a:ext cx="12192000" cy="369332"/>
          </a:xfrm>
          <a:prstGeom prst="rect">
            <a:avLst/>
          </a:prstGeom>
        </p:spPr>
        <p:txBody>
          <a:bodyPr wrap="square">
            <a:spAutoFit/>
          </a:bodyPr>
          <a:lstStyle/>
          <a:p>
            <a:pPr lvl="0" algn="ctr" eaLnBrk="0" fontAlgn="base" hangingPunct="0">
              <a:spcBef>
                <a:spcPct val="0"/>
              </a:spcBef>
              <a:spcAft>
                <a:spcPct val="0"/>
              </a:spcAft>
            </a:pPr>
            <a:r>
              <a:rPr lang="en-US" dirty="0">
                <a:solidFill>
                  <a:srgbClr val="444444"/>
                </a:solidFill>
                <a:latin typeface="Arial Black" panose="020B0A04020102020204" pitchFamily="34" charset="0"/>
              </a:rPr>
              <a:t>IMAN-E- MUFASSIL (The Detailed Declaration of Faith)</a:t>
            </a:r>
          </a:p>
        </p:txBody>
      </p:sp>
      <p:sp>
        <p:nvSpPr>
          <p:cNvPr id="8" name="Rectangle 7"/>
          <p:cNvSpPr/>
          <p:nvPr/>
        </p:nvSpPr>
        <p:spPr>
          <a:xfrm>
            <a:off x="55808" y="6032550"/>
            <a:ext cx="12192000" cy="646331"/>
          </a:xfrm>
          <a:prstGeom prst="rect">
            <a:avLst/>
          </a:prstGeom>
        </p:spPr>
        <p:txBody>
          <a:bodyPr wrap="square">
            <a:spAutoFit/>
          </a:bodyPr>
          <a:lstStyle/>
          <a:p>
            <a:pPr lvl="0" eaLnBrk="0" fontAlgn="base" hangingPunct="0">
              <a:spcBef>
                <a:spcPct val="0"/>
              </a:spcBef>
              <a:spcAft>
                <a:spcPct val="0"/>
              </a:spcAft>
            </a:pPr>
            <a:r>
              <a:rPr lang="en-US" dirty="0" smtClean="0">
                <a:latin typeface="Roboto"/>
              </a:rPr>
              <a:t>“I </a:t>
            </a:r>
            <a:r>
              <a:rPr lang="en-US" dirty="0">
                <a:latin typeface="Roboto"/>
              </a:rPr>
              <a:t>have faith in Allah and His Angels, His Books and His Messengers, and the Day of </a:t>
            </a:r>
            <a:r>
              <a:rPr lang="en-US" dirty="0" smtClean="0">
                <a:latin typeface="Roboto"/>
              </a:rPr>
              <a:t>Judgment </a:t>
            </a:r>
            <a:r>
              <a:rPr lang="en-US" dirty="0">
                <a:latin typeface="Roboto"/>
              </a:rPr>
              <a:t>and that all good and evil and fate is from Almighty Allah and it is sure that there will be resurrection after death</a:t>
            </a:r>
            <a:r>
              <a:rPr lang="en-US" dirty="0" smtClean="0">
                <a:latin typeface="Roboto"/>
              </a:rPr>
              <a:t>.”</a:t>
            </a:r>
            <a:endParaRPr lang="en-US" dirty="0">
              <a:latin typeface="Roboto"/>
            </a:endParaRPr>
          </a:p>
        </p:txBody>
      </p:sp>
      <p:sp>
        <p:nvSpPr>
          <p:cNvPr id="12" name="Chevron 11">
            <a:hlinkClick r:id="" action="ppaction://noaction"/>
          </p:cNvPr>
          <p:cNvSpPr/>
          <p:nvPr/>
        </p:nvSpPr>
        <p:spPr>
          <a:xfrm flipH="1">
            <a:off x="11431123" y="6355715"/>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381972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202" y="1690688"/>
            <a:ext cx="11951595" cy="3970318"/>
          </a:xfrm>
          <a:prstGeom prst="rect">
            <a:avLst/>
          </a:prstGeom>
        </p:spPr>
        <p:txBody>
          <a:bodyPr wrap="square">
            <a:spAutoFit/>
          </a:bodyPr>
          <a:lstStyle/>
          <a:p>
            <a:pPr fontAlgn="base"/>
            <a:endParaRPr lang="en-US" dirty="0" smtClean="0">
              <a:solidFill>
                <a:srgbClr val="626262"/>
              </a:solidFill>
              <a:latin typeface="Roboto"/>
            </a:endParaRPr>
          </a:p>
          <a:p>
            <a:pPr marL="285750" indent="-285750" algn="just" fontAlgn="base">
              <a:buFont typeface="Arial" panose="020B0604020202020204" pitchFamily="34" charset="0"/>
              <a:buChar char="•"/>
            </a:pPr>
            <a:r>
              <a:rPr lang="en-US" dirty="0" smtClean="0">
                <a:latin typeface="Roboto"/>
              </a:rPr>
              <a:t>Believing </a:t>
            </a:r>
            <a:r>
              <a:rPr lang="en-US" dirty="0">
                <a:latin typeface="Roboto"/>
              </a:rPr>
              <a:t>in the oneness and uniqueness of </a:t>
            </a:r>
            <a:r>
              <a:rPr lang="en-US" dirty="0" smtClean="0">
                <a:latin typeface="Roboto"/>
              </a:rPr>
              <a:t>Allah.</a:t>
            </a:r>
          </a:p>
          <a:p>
            <a:pPr marL="285750" indent="-285750" algn="just" fontAlgn="base">
              <a:buFont typeface="Arial" panose="020B0604020202020204" pitchFamily="34" charset="0"/>
              <a:buChar char="•"/>
            </a:pPr>
            <a:endParaRPr lang="en-US" dirty="0" smtClean="0">
              <a:latin typeface="Roboto"/>
            </a:endParaRPr>
          </a:p>
          <a:p>
            <a:pPr marL="285750" indent="-285750" algn="just" fontAlgn="base">
              <a:buFont typeface="Arial" panose="020B0604020202020204" pitchFamily="34" charset="0"/>
              <a:buChar char="•"/>
            </a:pPr>
            <a:r>
              <a:rPr lang="en-US" dirty="0">
                <a:latin typeface="Roboto"/>
              </a:rPr>
              <a:t>B</a:t>
            </a:r>
            <a:r>
              <a:rPr lang="en-US" dirty="0" smtClean="0">
                <a:latin typeface="Roboto"/>
              </a:rPr>
              <a:t>elieving </a:t>
            </a:r>
            <a:r>
              <a:rPr lang="en-US" dirty="0">
                <a:latin typeface="Roboto"/>
              </a:rPr>
              <a:t>in all prophets of ALLAH</a:t>
            </a:r>
            <a:r>
              <a:rPr lang="en-US" dirty="0" smtClean="0">
                <a:latin typeface="Roboto"/>
              </a:rPr>
              <a:t>..</a:t>
            </a:r>
          </a:p>
          <a:p>
            <a:pPr marL="285750" indent="-285750" algn="just" fontAlgn="base">
              <a:buFont typeface="Arial" panose="020B0604020202020204" pitchFamily="34" charset="0"/>
              <a:buChar char="•"/>
            </a:pPr>
            <a:endParaRPr lang="en-US" dirty="0">
              <a:latin typeface="Roboto"/>
            </a:endParaRPr>
          </a:p>
          <a:p>
            <a:pPr marL="285750" indent="-285750" algn="just" fontAlgn="base">
              <a:buFont typeface="Arial" panose="020B0604020202020204" pitchFamily="34" charset="0"/>
              <a:buChar char="•"/>
            </a:pPr>
            <a:r>
              <a:rPr lang="en-US" dirty="0">
                <a:latin typeface="Roboto"/>
              </a:rPr>
              <a:t>A true Muslim follows the Prophet Muhammad </a:t>
            </a:r>
            <a:r>
              <a:rPr lang="en-US" dirty="0" smtClean="0">
                <a:latin typeface="Roboto"/>
              </a:rPr>
              <a:t>(peace </a:t>
            </a:r>
            <a:r>
              <a:rPr lang="en-US" dirty="0">
                <a:latin typeface="Roboto"/>
              </a:rPr>
              <a:t>be upon him) in his </a:t>
            </a:r>
            <a:r>
              <a:rPr lang="en-US" dirty="0" smtClean="0">
                <a:latin typeface="Roboto"/>
              </a:rPr>
              <a:t>doings.</a:t>
            </a:r>
          </a:p>
          <a:p>
            <a:pPr marL="285750" indent="-285750" algn="just" fontAlgn="base">
              <a:buFont typeface="Arial" panose="020B0604020202020204" pitchFamily="34" charset="0"/>
              <a:buChar char="•"/>
            </a:pPr>
            <a:endParaRPr lang="en-US" dirty="0" smtClean="0">
              <a:latin typeface="Roboto"/>
            </a:endParaRPr>
          </a:p>
          <a:p>
            <a:pPr marL="285750" indent="-285750" algn="just" fontAlgn="base">
              <a:buFont typeface="Arial" panose="020B0604020202020204" pitchFamily="34" charset="0"/>
              <a:buChar char="•"/>
            </a:pPr>
            <a:r>
              <a:rPr lang="en-US" dirty="0" smtClean="0">
                <a:latin typeface="Roboto"/>
              </a:rPr>
              <a:t>Believing in all Holy books and all angles .</a:t>
            </a:r>
          </a:p>
          <a:p>
            <a:pPr marL="285750" indent="-285750" algn="just" fontAlgn="base">
              <a:buFont typeface="Arial" panose="020B0604020202020204" pitchFamily="34" charset="0"/>
              <a:buChar char="•"/>
            </a:pPr>
            <a:endParaRPr lang="en-US" dirty="0" smtClean="0">
              <a:latin typeface="Roboto"/>
            </a:endParaRPr>
          </a:p>
          <a:p>
            <a:pPr marL="285750" indent="-285750" algn="just" fontAlgn="base">
              <a:buFont typeface="Arial" panose="020B0604020202020204" pitchFamily="34" charset="0"/>
              <a:buChar char="•"/>
            </a:pPr>
            <a:r>
              <a:rPr lang="en-US" dirty="0">
                <a:latin typeface="Roboto"/>
              </a:rPr>
              <a:t>B</a:t>
            </a:r>
            <a:r>
              <a:rPr lang="en-US" dirty="0" smtClean="0">
                <a:latin typeface="Roboto"/>
              </a:rPr>
              <a:t>elieving </a:t>
            </a:r>
            <a:r>
              <a:rPr lang="en-US" dirty="0">
                <a:latin typeface="Roboto"/>
              </a:rPr>
              <a:t>in his life after death. He will be raised from the grave on the Day of Judgments. </a:t>
            </a:r>
            <a:endParaRPr lang="en-US" dirty="0" smtClean="0">
              <a:latin typeface="Roboto"/>
            </a:endParaRPr>
          </a:p>
          <a:p>
            <a:pPr marL="285750" indent="-285750" algn="just" fontAlgn="base">
              <a:buFont typeface="Arial" panose="020B0604020202020204" pitchFamily="34" charset="0"/>
              <a:buChar char="•"/>
            </a:pPr>
            <a:endParaRPr lang="en-US" dirty="0">
              <a:latin typeface="Roboto"/>
            </a:endParaRPr>
          </a:p>
          <a:p>
            <a:pPr marL="285750" indent="-285750" algn="just" fontAlgn="base">
              <a:buFont typeface="Arial" panose="020B0604020202020204" pitchFamily="34" charset="0"/>
              <a:buChar char="•"/>
            </a:pPr>
            <a:r>
              <a:rPr lang="en-US" dirty="0">
                <a:latin typeface="Roboto"/>
              </a:rPr>
              <a:t>The good Muslim will be reward and go the paradise </a:t>
            </a:r>
            <a:r>
              <a:rPr lang="en-US" dirty="0" smtClean="0">
                <a:latin typeface="Roboto"/>
              </a:rPr>
              <a:t>forever.</a:t>
            </a:r>
          </a:p>
          <a:p>
            <a:pPr marL="285750" indent="-285750" algn="just" fontAlgn="base">
              <a:buFont typeface="Arial" panose="020B0604020202020204" pitchFamily="34" charset="0"/>
              <a:buChar char="•"/>
            </a:pPr>
            <a:endParaRPr lang="en-US" dirty="0" smtClean="0">
              <a:latin typeface="Roboto"/>
            </a:endParaRPr>
          </a:p>
          <a:p>
            <a:pPr marL="285750" indent="-285750" algn="just" fontAlgn="base">
              <a:buFont typeface="Arial" panose="020B0604020202020204" pitchFamily="34" charset="0"/>
              <a:buChar char="•"/>
            </a:pPr>
            <a:r>
              <a:rPr lang="en-US" dirty="0" smtClean="0">
                <a:latin typeface="Roboto"/>
              </a:rPr>
              <a:t>The </a:t>
            </a:r>
            <a:r>
              <a:rPr lang="en-US" dirty="0">
                <a:latin typeface="Roboto"/>
              </a:rPr>
              <a:t>wicked person will be punished and go to hell forever.</a:t>
            </a:r>
            <a:endParaRPr lang="en-US" b="0" i="0" dirty="0">
              <a:effectLst/>
              <a:latin typeface="Roboto"/>
            </a:endParaRPr>
          </a:p>
        </p:txBody>
      </p:sp>
      <p:sp>
        <p:nvSpPr>
          <p:cNvPr id="3" name="Title 2"/>
          <p:cNvSpPr>
            <a:spLocks noGrp="1"/>
          </p:cNvSpPr>
          <p:nvPr>
            <p:ph type="title"/>
          </p:nvPr>
        </p:nvSpPr>
        <p:spPr>
          <a:xfrm>
            <a:off x="0" y="365125"/>
            <a:ext cx="12192000" cy="1325563"/>
          </a:xfrm>
          <a:solidFill>
            <a:schemeClr val="accent2">
              <a:lumMod val="60000"/>
              <a:lumOff val="40000"/>
            </a:schemeClr>
          </a:solidFill>
        </p:spPr>
        <p:txBody>
          <a:bodyPr>
            <a:normAutofit/>
          </a:bodyPr>
          <a:lstStyle/>
          <a:p>
            <a:pPr algn="ctr"/>
            <a:r>
              <a:rPr lang="en-US" sz="6000" dirty="0" smtClean="0">
                <a:latin typeface="Arial Black" panose="020B0A04020102020204" pitchFamily="34" charset="0"/>
              </a:rPr>
              <a:t>Explanation</a:t>
            </a:r>
            <a:endParaRPr lang="en-US" sz="6000" dirty="0">
              <a:latin typeface="Arial Black" panose="020B0A04020102020204" pitchFamily="34" charset="0"/>
            </a:endParaRPr>
          </a:p>
        </p:txBody>
      </p:sp>
      <p:sp>
        <p:nvSpPr>
          <p:cNvPr id="5" name="Chevron 4">
            <a:hlinkClick r:id="" action="ppaction://noaction"/>
          </p:cNvPr>
          <p:cNvSpPr/>
          <p:nvPr/>
        </p:nvSpPr>
        <p:spPr>
          <a:xfrm flipH="1">
            <a:off x="11329523" y="6181544"/>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012179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2630906" y="0"/>
            <a:ext cx="3475371" cy="6858000"/>
            <a:chOff x="0" y="0"/>
            <a:chExt cx="3475371" cy="6858000"/>
          </a:xfrm>
        </p:grpSpPr>
        <p:sp>
          <p:nvSpPr>
            <p:cNvPr id="4" name="Rectangle 3"/>
            <p:cNvSpPr/>
            <p:nvPr/>
          </p:nvSpPr>
          <p:spPr>
            <a:xfrm>
              <a:off x="0" y="0"/>
              <a:ext cx="2575775"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99811" y="566670"/>
              <a:ext cx="2343955" cy="618186"/>
            </a:xfrm>
            <a:prstGeom prst="rect">
              <a:avLst/>
            </a:prstGeom>
            <a:solidFill>
              <a:srgbClr val="FF6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Towheed</a:t>
              </a:r>
              <a:r>
                <a:rPr lang="en-US" dirty="0" smtClean="0"/>
                <a:t>, Literal </a:t>
              </a:r>
              <a:r>
                <a:rPr lang="en-US" dirty="0" smtClean="0">
                  <a:hlinkClick r:id="" action="ppaction://noaction"/>
                </a:rPr>
                <a:t>Meaning</a:t>
              </a:r>
              <a:endParaRPr lang="en-US" dirty="0"/>
            </a:p>
          </p:txBody>
        </p:sp>
        <p:sp>
          <p:nvSpPr>
            <p:cNvPr id="6" name="Rectangle 5"/>
            <p:cNvSpPr/>
            <p:nvPr/>
          </p:nvSpPr>
          <p:spPr>
            <a:xfrm>
              <a:off x="99811" y="1447263"/>
              <a:ext cx="2343955" cy="618186"/>
            </a:xfrm>
            <a:prstGeom prst="rect">
              <a:avLst/>
            </a:prstGeom>
            <a:solidFill>
              <a:srgbClr val="FF6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Terminological </a:t>
              </a:r>
              <a:r>
                <a:rPr lang="en-US" dirty="0" smtClean="0">
                  <a:hlinkClick r:id="" action="ppaction://noaction"/>
                </a:rPr>
                <a:t>Meaning</a:t>
              </a:r>
              <a:endParaRPr lang="en-US" dirty="0"/>
            </a:p>
          </p:txBody>
        </p:sp>
        <p:sp>
          <p:nvSpPr>
            <p:cNvPr id="7" name="Rectangle 6"/>
            <p:cNvSpPr/>
            <p:nvPr/>
          </p:nvSpPr>
          <p:spPr>
            <a:xfrm>
              <a:off x="99811" y="2370249"/>
              <a:ext cx="2343955" cy="618186"/>
            </a:xfrm>
            <a:prstGeom prst="rect">
              <a:avLst/>
            </a:prstGeom>
            <a:solidFill>
              <a:srgbClr val="FF6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hlinkClick r:id="" action="ppaction://noaction"/>
                </a:rPr>
                <a:t>Types</a:t>
              </a:r>
              <a:r>
                <a:rPr lang="en-US" dirty="0" smtClean="0"/>
                <a:t> of </a:t>
              </a:r>
              <a:r>
                <a:rPr lang="en-US" dirty="0" err="1" smtClean="0"/>
                <a:t>Towheed</a:t>
              </a:r>
              <a:endParaRPr lang="en-US" dirty="0"/>
            </a:p>
          </p:txBody>
        </p:sp>
        <p:sp>
          <p:nvSpPr>
            <p:cNvPr id="8" name="Rectangle 7"/>
            <p:cNvSpPr/>
            <p:nvPr/>
          </p:nvSpPr>
          <p:spPr>
            <a:xfrm>
              <a:off x="99811" y="3250842"/>
              <a:ext cx="2343955" cy="618186"/>
            </a:xfrm>
            <a:prstGeom prst="rect">
              <a:avLst/>
            </a:prstGeom>
            <a:solidFill>
              <a:srgbClr val="FF6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Effect of </a:t>
              </a:r>
              <a:r>
                <a:rPr lang="en-US" dirty="0" err="1" smtClean="0"/>
                <a:t>Towheed</a:t>
              </a:r>
              <a:r>
                <a:rPr lang="en-US" dirty="0" smtClean="0"/>
                <a:t> on </a:t>
              </a:r>
              <a:r>
                <a:rPr lang="en-US" dirty="0" smtClean="0">
                  <a:hlinkClick r:id="" action="ppaction://noaction"/>
                </a:rPr>
                <a:t>Human</a:t>
              </a:r>
              <a:r>
                <a:rPr lang="en-US" dirty="0" smtClean="0"/>
                <a:t> life</a:t>
              </a:r>
              <a:endParaRPr lang="en-US" dirty="0"/>
            </a:p>
          </p:txBody>
        </p:sp>
        <p:sp>
          <p:nvSpPr>
            <p:cNvPr id="10" name="Rectangle 9"/>
            <p:cNvSpPr/>
            <p:nvPr/>
          </p:nvSpPr>
          <p:spPr>
            <a:xfrm>
              <a:off x="99811" y="4131435"/>
              <a:ext cx="2343955" cy="618186"/>
            </a:xfrm>
            <a:prstGeom prst="rect">
              <a:avLst/>
            </a:prstGeom>
            <a:solidFill>
              <a:srgbClr val="FF6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smtClean="0"/>
                <a:t>Effect </a:t>
              </a:r>
              <a:r>
                <a:rPr lang="en-US" dirty="0"/>
                <a:t>of </a:t>
              </a:r>
              <a:r>
                <a:rPr lang="en-US" dirty="0" err="1">
                  <a:hlinkClick r:id="" action="ppaction://noaction"/>
                </a:rPr>
                <a:t>Towheed</a:t>
              </a:r>
              <a:r>
                <a:rPr lang="en-US" dirty="0"/>
                <a:t> on Collective life</a:t>
              </a:r>
            </a:p>
            <a:p>
              <a:pPr algn="ctr"/>
              <a:endParaRPr lang="en-US" dirty="0"/>
            </a:p>
          </p:txBody>
        </p:sp>
        <p:grpSp>
          <p:nvGrpSpPr>
            <p:cNvPr id="16" name="Group 15"/>
            <p:cNvGrpSpPr/>
            <p:nvPr/>
          </p:nvGrpSpPr>
          <p:grpSpPr>
            <a:xfrm>
              <a:off x="2922711" y="161628"/>
              <a:ext cx="552660" cy="357312"/>
              <a:chOff x="3145133" y="1826695"/>
              <a:chExt cx="552660" cy="357312"/>
            </a:xfrm>
          </p:grpSpPr>
          <p:sp>
            <p:nvSpPr>
              <p:cNvPr id="13" name="Rounded Rectangle 12"/>
              <p:cNvSpPr/>
              <p:nvPr/>
            </p:nvSpPr>
            <p:spPr>
              <a:xfrm>
                <a:off x="3145134" y="1826695"/>
                <a:ext cx="552659" cy="72443"/>
              </a:xfrm>
              <a:prstGeom prst="roundRect">
                <a:avLst>
                  <a:gd name="adj" fmla="val 50000"/>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3145134" y="1962431"/>
                <a:ext cx="552659" cy="72443"/>
              </a:xfrm>
              <a:prstGeom prst="roundRect">
                <a:avLst>
                  <a:gd name="adj" fmla="val 50000"/>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3145133" y="2111564"/>
                <a:ext cx="552659" cy="72443"/>
              </a:xfrm>
              <a:prstGeom prst="roundRect">
                <a:avLst>
                  <a:gd name="adj" fmla="val 50000"/>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8" name="TextBox 17"/>
          <p:cNvSpPr txBox="1"/>
          <p:nvPr/>
        </p:nvSpPr>
        <p:spPr>
          <a:xfrm>
            <a:off x="4688115" y="1566208"/>
            <a:ext cx="6807200" cy="1938992"/>
          </a:xfrm>
          <a:prstGeom prst="rect">
            <a:avLst/>
          </a:prstGeom>
          <a:noFill/>
        </p:spPr>
        <p:txBody>
          <a:bodyPr wrap="square" rtlCol="0">
            <a:spAutoFit/>
          </a:bodyPr>
          <a:lstStyle/>
          <a:p>
            <a:pPr algn="ctr"/>
            <a:r>
              <a:rPr lang="en-US" sz="6000" dirty="0" smtClean="0">
                <a:latin typeface="Arial Black" panose="020B0A04020102020204" pitchFamily="34" charset="0"/>
              </a:rPr>
              <a:t>The concept of </a:t>
            </a:r>
            <a:r>
              <a:rPr lang="en-US" sz="6000" dirty="0" err="1" smtClean="0">
                <a:latin typeface="Arial Black" panose="020B0A04020102020204" pitchFamily="34" charset="0"/>
              </a:rPr>
              <a:t>Towheed</a:t>
            </a:r>
            <a:r>
              <a:rPr lang="" sz="6000" dirty="0" smtClean="0">
                <a:latin typeface="Arial Black" panose="020B0A04020102020204" pitchFamily="34" charset="0"/>
              </a:rPr>
              <a:t> </a:t>
            </a:r>
            <a:r>
              <a:rPr lang="" sz="6000" dirty="0">
                <a:latin typeface="Arial Black" panose="020B0A04020102020204" pitchFamily="34" charset="0"/>
              </a:rPr>
              <a:t>(توحید)</a:t>
            </a:r>
            <a:endParaRPr lang="en-US" sz="6000" dirty="0">
              <a:latin typeface="Arial Black" panose="020B0A04020102020204" pitchFamily="34" charset="0"/>
            </a:endParaRPr>
          </a:p>
        </p:txBody>
      </p:sp>
      <p:cxnSp>
        <p:nvCxnSpPr>
          <p:cNvPr id="21" name="Straight Connector 20"/>
          <p:cNvCxnSpPr/>
          <p:nvPr/>
        </p:nvCxnSpPr>
        <p:spPr>
          <a:xfrm>
            <a:off x="4804229" y="3685121"/>
            <a:ext cx="6168571" cy="15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Chevron 18">
            <a:hlinkClick r:id="rId2" action="ppaction://hlinksldjump"/>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14680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2.91667E-6 0 L 0.20782 0.01111 " pathEditMode="relative" rAng="0" ptsTypes="AA">
                                      <p:cBhvr>
                                        <p:cTn id="6" dur="2000" fill="hold"/>
                                        <p:tgtEl>
                                          <p:spTgt spid="17"/>
                                        </p:tgtEl>
                                        <p:attrNameLst>
                                          <p:attrName>ppt_x</p:attrName>
                                          <p:attrName>ppt_y</p:attrName>
                                        </p:attrNameLst>
                                      </p:cBhvr>
                                      <p:rCtr x="10391" y="556"/>
                                    </p:animMotion>
                                  </p:childTnLst>
                                </p:cTn>
                              </p:par>
                            </p:childTnLst>
                          </p:cTn>
                        </p:par>
                      </p:childTnLst>
                    </p:cTn>
                  </p:par>
                  <p:par>
                    <p:cTn id="7" fill="hold">
                      <p:stCondLst>
                        <p:cond delay="indefinite"/>
                      </p:stCondLst>
                      <p:childTnLst>
                        <p:par>
                          <p:cTn id="8" fill="hold">
                            <p:stCondLst>
                              <p:cond delay="0"/>
                            </p:stCondLst>
                            <p:childTnLst>
                              <p:par>
                                <p:cTn id="9" presetID="35" presetClass="path" presetSubtype="0" accel="50000" decel="50000" fill="hold" nodeType="clickEffect">
                                  <p:stCondLst>
                                    <p:cond delay="0"/>
                                  </p:stCondLst>
                                  <p:childTnLst>
                                    <p:animMotion origin="layout" path="M -2.91667E-6 0 L 0.2112 0.01111 " pathEditMode="relative" rAng="0" ptsTypes="AA">
                                      <p:cBhvr>
                                        <p:cTn id="10" dur="2000" fill="hold"/>
                                        <p:tgtEl>
                                          <p:spTgt spid="17"/>
                                        </p:tgtEl>
                                        <p:attrNameLst>
                                          <p:attrName>ppt_x</p:attrName>
                                          <p:attrName>ppt_y</p:attrName>
                                        </p:attrNameLst>
                                      </p:cBhvr>
                                      <p:rCtr x="10560" y="5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5771"/>
            <a:ext cx="12192000" cy="1325563"/>
          </a:xfrm>
          <a:solidFill>
            <a:srgbClr val="FF66CC"/>
          </a:solidFill>
        </p:spPr>
        <p:txBody>
          <a:bodyPr>
            <a:noAutofit/>
          </a:bodyPr>
          <a:lstStyle/>
          <a:p>
            <a:pPr algn="ctr"/>
            <a:r>
              <a:rPr lang="en-US" sz="6000" dirty="0" smtClean="0">
                <a:latin typeface="Arial Black" panose="020B0A04020102020204" pitchFamily="34" charset="0"/>
              </a:rPr>
              <a:t>Literal Meaning of </a:t>
            </a:r>
            <a:r>
              <a:rPr lang="en-US" sz="6000" dirty="0" err="1" smtClean="0">
                <a:latin typeface="Arial Black" panose="020B0A04020102020204" pitchFamily="34" charset="0"/>
              </a:rPr>
              <a:t>Towheed</a:t>
            </a:r>
            <a:endParaRPr lang="en-US" sz="6000" dirty="0">
              <a:latin typeface="Arial Black" panose="020B0A04020102020204" pitchFamily="34" charset="0"/>
            </a:endParaRPr>
          </a:p>
        </p:txBody>
      </p:sp>
      <p:sp>
        <p:nvSpPr>
          <p:cNvPr id="3" name="Content Placeholder 2"/>
          <p:cNvSpPr>
            <a:spLocks noGrp="1"/>
          </p:cNvSpPr>
          <p:nvPr>
            <p:ph idx="1"/>
          </p:nvPr>
        </p:nvSpPr>
        <p:spPr>
          <a:xfrm>
            <a:off x="0" y="1825625"/>
            <a:ext cx="12192000" cy="4351338"/>
          </a:xfrm>
        </p:spPr>
        <p:txBody>
          <a:bodyPr/>
          <a:lstStyle/>
          <a:p>
            <a:pPr marL="0" indent="0">
              <a:buNone/>
            </a:pPr>
            <a:endParaRPr lang="en-US" dirty="0" smtClean="0"/>
          </a:p>
          <a:p>
            <a:pPr marL="0" indent="0">
              <a:buNone/>
            </a:pPr>
            <a:r>
              <a:rPr lang="en-US" dirty="0" smtClean="0"/>
              <a:t>The </a:t>
            </a:r>
            <a:r>
              <a:rPr lang="en-US" dirty="0"/>
              <a:t>word </a:t>
            </a:r>
            <a:r>
              <a:rPr lang="en-US" dirty="0" err="1" smtClean="0"/>
              <a:t>Towhid</a:t>
            </a:r>
            <a:r>
              <a:rPr lang="en-US" dirty="0" smtClean="0"/>
              <a:t> </a:t>
            </a:r>
            <a:r>
              <a:rPr lang="en-US" dirty="0"/>
              <a:t>is derived from </a:t>
            </a:r>
            <a:r>
              <a:rPr lang="ar-SA" dirty="0"/>
              <a:t>وحد</a:t>
            </a:r>
            <a:r>
              <a:rPr lang="en-US" dirty="0"/>
              <a:t>  Its substance is </a:t>
            </a:r>
            <a:r>
              <a:rPr lang="ar-SA" dirty="0"/>
              <a:t>و، </a:t>
            </a:r>
            <a:r>
              <a:rPr lang="ar-SA" dirty="0" err="1"/>
              <a:t>ح،د</a:t>
            </a:r>
            <a:r>
              <a:rPr lang="ar-SA" dirty="0"/>
              <a:t> </a:t>
            </a:r>
            <a:r>
              <a:rPr lang="en-US" dirty="0" smtClean="0"/>
              <a:t> ,its </a:t>
            </a:r>
            <a:r>
              <a:rPr lang="en-US" dirty="0"/>
              <a:t>literal </a:t>
            </a:r>
            <a:r>
              <a:rPr lang="en-US" dirty="0" smtClean="0"/>
              <a:t>meanings are</a:t>
            </a:r>
          </a:p>
          <a:p>
            <a:pPr marL="0" indent="0">
              <a:buNone/>
            </a:pPr>
            <a:endParaRPr lang="en-US" dirty="0" smtClean="0"/>
          </a:p>
          <a:p>
            <a:r>
              <a:rPr lang="en-US" dirty="0" smtClean="0"/>
              <a:t>To </a:t>
            </a:r>
            <a:r>
              <a:rPr lang="en-US" dirty="0"/>
              <a:t>believe alone, </a:t>
            </a:r>
            <a:endParaRPr lang="en-US" dirty="0" smtClean="0"/>
          </a:p>
          <a:p>
            <a:r>
              <a:rPr lang="en-US" dirty="0"/>
              <a:t>T</a:t>
            </a:r>
            <a:r>
              <a:rPr lang="en-US" dirty="0" smtClean="0"/>
              <a:t>o </a:t>
            </a:r>
            <a:r>
              <a:rPr lang="en-US" dirty="0"/>
              <a:t>declare oneness, </a:t>
            </a:r>
            <a:endParaRPr lang="en-US" dirty="0" smtClean="0"/>
          </a:p>
          <a:p>
            <a:r>
              <a:rPr lang="en-US" dirty="0"/>
              <a:t>T</a:t>
            </a:r>
            <a:r>
              <a:rPr lang="en-US" dirty="0" smtClean="0"/>
              <a:t>o </a:t>
            </a:r>
            <a:r>
              <a:rPr lang="en-US" dirty="0"/>
              <a:t>be alone and one</a:t>
            </a:r>
            <a:r>
              <a:rPr lang="en-US" dirty="0" smtClean="0"/>
              <a:t>.</a:t>
            </a:r>
            <a:endParaRPr lang="en-US" dirty="0"/>
          </a:p>
        </p:txBody>
      </p:sp>
      <p:sp>
        <p:nvSpPr>
          <p:cNvPr id="4" name="Chevron 3">
            <a:hlinkClick r:id="" action="ppaction://noaction"/>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55908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0731"/>
            <a:ext cx="12192000" cy="1325563"/>
          </a:xfrm>
          <a:solidFill>
            <a:srgbClr val="FF66CC"/>
          </a:solidFill>
        </p:spPr>
        <p:txBody>
          <a:bodyPr>
            <a:normAutofit/>
          </a:bodyPr>
          <a:lstStyle/>
          <a:p>
            <a:pPr algn="ctr"/>
            <a:r>
              <a:rPr lang="en-US" sz="6000" dirty="0" smtClean="0">
                <a:latin typeface="Arial Black" panose="020B0A04020102020204" pitchFamily="34" charset="0"/>
              </a:rPr>
              <a:t>Terminological Meaning</a:t>
            </a:r>
            <a:endParaRPr lang="en-US" sz="6000" dirty="0">
              <a:latin typeface="Arial Black" panose="020B0A04020102020204" pitchFamily="34" charset="0"/>
            </a:endParaRPr>
          </a:p>
        </p:txBody>
      </p:sp>
      <p:sp>
        <p:nvSpPr>
          <p:cNvPr id="3" name="Content Placeholder 2"/>
          <p:cNvSpPr>
            <a:spLocks noGrp="1"/>
          </p:cNvSpPr>
          <p:nvPr>
            <p:ph idx="1"/>
          </p:nvPr>
        </p:nvSpPr>
        <p:spPr>
          <a:xfrm>
            <a:off x="0" y="1825625"/>
            <a:ext cx="12192000" cy="4351338"/>
          </a:xfrm>
        </p:spPr>
        <p:txBody>
          <a:bodyPr>
            <a:normAutofit fontScale="92500" lnSpcReduction="10000"/>
          </a:bodyPr>
          <a:lstStyle/>
          <a:p>
            <a:pPr marL="0" indent="0">
              <a:buNone/>
            </a:pPr>
            <a:r>
              <a:rPr lang="en-US" dirty="0"/>
              <a:t>In the terminology of </a:t>
            </a:r>
            <a:r>
              <a:rPr lang="en-US" dirty="0" err="1"/>
              <a:t>Shari'ah</a:t>
            </a:r>
            <a:r>
              <a:rPr lang="en-US" dirty="0"/>
              <a:t>, it is </a:t>
            </a:r>
            <a:r>
              <a:rPr lang="en-US" dirty="0" err="1"/>
              <a:t>Towhid</a:t>
            </a:r>
            <a:r>
              <a:rPr lang="en-US" dirty="0" smtClean="0"/>
              <a:t> </a:t>
            </a:r>
            <a:r>
              <a:rPr lang="en-US" dirty="0"/>
              <a:t>to hold the belief</a:t>
            </a:r>
          </a:p>
          <a:p>
            <a:pPr marL="0" indent="0">
              <a:buNone/>
            </a:pPr>
            <a:endParaRPr lang="en-US" dirty="0" smtClean="0"/>
          </a:p>
          <a:p>
            <a:pPr marL="0" indent="0">
              <a:buNone/>
            </a:pPr>
            <a:r>
              <a:rPr lang="en-US" dirty="0" smtClean="0"/>
              <a:t> </a:t>
            </a:r>
            <a:r>
              <a:rPr lang="en-US" dirty="0"/>
              <a:t>"Allah </a:t>
            </a:r>
            <a:r>
              <a:rPr lang="en-US" dirty="0" err="1"/>
              <a:t>Ta'ala</a:t>
            </a:r>
            <a:r>
              <a:rPr lang="en-US" dirty="0"/>
              <a:t> is unique in His essence, attributes and all Traits and perfections, He has no partner or fellow, no one equal to Him</a:t>
            </a:r>
            <a:r>
              <a:rPr lang="en-US" dirty="0" smtClean="0"/>
              <a:t>.“</a:t>
            </a:r>
          </a:p>
          <a:p>
            <a:pPr marL="0" indent="0">
              <a:buNone/>
            </a:pPr>
            <a:endParaRPr lang="en-US" dirty="0" smtClean="0"/>
          </a:p>
          <a:p>
            <a:r>
              <a:rPr lang="en-US" dirty="0"/>
              <a:t>Muhammad Iqbal </a:t>
            </a:r>
            <a:r>
              <a:rPr lang="en-US" dirty="0" err="1"/>
              <a:t>Keilani</a:t>
            </a:r>
            <a:r>
              <a:rPr lang="en-US" dirty="0"/>
              <a:t> writes in his book "</a:t>
            </a:r>
            <a:r>
              <a:rPr lang="en-US" dirty="0" err="1"/>
              <a:t>Kitab</a:t>
            </a:r>
            <a:r>
              <a:rPr lang="en-US" dirty="0"/>
              <a:t> </a:t>
            </a:r>
            <a:r>
              <a:rPr lang="en-US" dirty="0" smtClean="0"/>
              <a:t>al-</a:t>
            </a:r>
            <a:r>
              <a:rPr lang="en-US" dirty="0" err="1" smtClean="0"/>
              <a:t>Towhid</a:t>
            </a:r>
            <a:r>
              <a:rPr lang="en-US" dirty="0"/>
              <a:t>":</a:t>
            </a:r>
          </a:p>
          <a:p>
            <a:pPr marL="0" indent="0">
              <a:buNone/>
            </a:pPr>
            <a:endParaRPr lang="en-US" dirty="0" smtClean="0"/>
          </a:p>
          <a:p>
            <a:pPr marL="0" indent="0" algn="ctr">
              <a:buNone/>
            </a:pPr>
            <a:r>
              <a:rPr lang="en-US" dirty="0" smtClean="0"/>
              <a:t>“On </a:t>
            </a:r>
            <a:r>
              <a:rPr lang="en-US" dirty="0"/>
              <a:t>the Day of Resurrection, in the presence of </a:t>
            </a:r>
            <a:r>
              <a:rPr lang="en-US" dirty="0" err="1"/>
              <a:t>Aqeedah</a:t>
            </a:r>
            <a:r>
              <a:rPr lang="en-US" dirty="0"/>
              <a:t> </a:t>
            </a:r>
            <a:r>
              <a:rPr lang="en-US" dirty="0" err="1"/>
              <a:t>Towhid</a:t>
            </a:r>
            <a:r>
              <a:rPr lang="en-US" dirty="0" smtClean="0"/>
              <a:t>, </a:t>
            </a:r>
            <a:r>
              <a:rPr lang="en-US" dirty="0"/>
              <a:t>the shortcomings of actions and slips can be forgiven. But in the case of distortion of belief, disbelief, polytheism righteous deeds equal to the expanses of the earth and sky will be useless and futile</a:t>
            </a:r>
            <a:r>
              <a:rPr lang="en-US" dirty="0" smtClean="0"/>
              <a:t>.”</a:t>
            </a:r>
            <a:endParaRPr lang="en-US" dirty="0"/>
          </a:p>
          <a:p>
            <a:pPr marL="0" indent="0">
              <a:buNone/>
            </a:pPr>
            <a:endParaRPr lang="en-US" dirty="0"/>
          </a:p>
          <a:p>
            <a:endParaRPr lang="en-US" dirty="0"/>
          </a:p>
        </p:txBody>
      </p:sp>
      <p:sp>
        <p:nvSpPr>
          <p:cNvPr id="5" name="Chevron 4">
            <a:hlinkClick r:id="" action="ppaction://noaction"/>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53193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a:solidFill>
            <a:srgbClr val="FF66CC"/>
          </a:solidFill>
        </p:spPr>
        <p:txBody>
          <a:bodyPr>
            <a:normAutofit/>
          </a:bodyPr>
          <a:lstStyle/>
          <a:p>
            <a:pPr algn="ctr"/>
            <a:r>
              <a:rPr lang="en-US" sz="6000" dirty="0" err="1" smtClean="0">
                <a:latin typeface="Arial Black" panose="020B0A04020102020204" pitchFamily="34" charset="0"/>
                <a:cs typeface="Arabic Typesetting" panose="03020402040406030203" pitchFamily="66" charset="-78"/>
              </a:rPr>
              <a:t>Quranic</a:t>
            </a:r>
            <a:r>
              <a:rPr lang="en-US" sz="6000" dirty="0" smtClean="0">
                <a:latin typeface="Arial Black" panose="020B0A04020102020204" pitchFamily="34" charset="0"/>
                <a:cs typeface="Arabic Typesetting" panose="03020402040406030203" pitchFamily="66" charset="-78"/>
              </a:rPr>
              <a:t> Verse </a:t>
            </a:r>
            <a:endParaRPr lang="en-US" sz="6000" dirty="0">
              <a:latin typeface="Arial Black" panose="020B0A04020102020204" pitchFamily="34" charset="0"/>
              <a:cs typeface="Arabic Typesetting" panose="03020402040406030203" pitchFamily="66" charset="-78"/>
            </a:endParaRPr>
          </a:p>
        </p:txBody>
      </p:sp>
      <p:sp>
        <p:nvSpPr>
          <p:cNvPr id="3" name="Content Placeholder 2"/>
          <p:cNvSpPr>
            <a:spLocks noGrp="1"/>
          </p:cNvSpPr>
          <p:nvPr>
            <p:ph idx="1"/>
          </p:nvPr>
        </p:nvSpPr>
        <p:spPr>
          <a:xfrm>
            <a:off x="838200" y="1825625"/>
            <a:ext cx="10515600" cy="4832752"/>
          </a:xfrm>
        </p:spPr>
        <p:txBody>
          <a:bodyPr>
            <a:normAutofit lnSpcReduction="10000"/>
          </a:bodyPr>
          <a:lstStyle/>
          <a:p>
            <a:pPr marL="0" indent="0" algn="r" rtl="1">
              <a:buNone/>
            </a:pPr>
            <a:r>
              <a:rPr lang="ar-SA" dirty="0" smtClean="0"/>
              <a:t> </a:t>
            </a:r>
            <a:r>
              <a:rPr lang="ar-SA" sz="3600" dirty="0">
                <a:latin typeface="Arabic Typesetting" panose="03020402040406030203" pitchFamily="66" charset="-78"/>
                <a:cs typeface="Arabic Typesetting" panose="03020402040406030203" pitchFamily="66" charset="-78"/>
              </a:rPr>
              <a:t>إِنَّ الَّذِينَ كَفَرُواْ وَمَاتُواْ وَهُمْ كُفَّارٌ فَلَن يُقْبَلَ مِنْ أَحَدِهِم مِّلْءُ الأرْضِ ذَهَبًا وَلَوِ افْتَدَى بِهِ أُوْلَئِكَ لَهُمْ عَذَابٌ أَلِيمٌ وَمَا لَهُم مِّن </a:t>
            </a:r>
            <a:r>
              <a:rPr lang="ar-SA" sz="3600" dirty="0" smtClean="0">
                <a:latin typeface="Arabic Typesetting" panose="03020402040406030203" pitchFamily="66" charset="-78"/>
                <a:cs typeface="Arabic Typesetting" panose="03020402040406030203" pitchFamily="66" charset="-78"/>
              </a:rPr>
              <a:t>نَّاصِرِينَ </a:t>
            </a:r>
            <a:endParaRPr lang="en-US" sz="3600" dirty="0" smtClean="0">
              <a:latin typeface="Arabic Typesetting" panose="03020402040406030203" pitchFamily="66" charset="-78"/>
              <a:cs typeface="Arabic Typesetting" panose="03020402040406030203" pitchFamily="66" charset="-78"/>
            </a:endParaRPr>
          </a:p>
          <a:p>
            <a:pPr marL="0" indent="0" algn="r" rtl="1">
              <a:buNone/>
            </a:pPr>
            <a:endParaRPr lang="en-US" dirty="0" smtClean="0"/>
          </a:p>
          <a:p>
            <a:pPr marL="0" indent="0" algn="r" rtl="1">
              <a:buNone/>
            </a:pPr>
            <a:r>
              <a:rPr lang="ar-SA" dirty="0" err="1" smtClean="0">
                <a:latin typeface="Urdu Typesetting" panose="03020402040406030203" pitchFamily="66" charset="-78"/>
                <a:cs typeface="Urdu Typesetting" panose="03020402040406030203" pitchFamily="66" charset="-78"/>
              </a:rPr>
              <a:t>بے</a:t>
            </a:r>
            <a:r>
              <a:rPr lang="ar-SA" dirty="0" smtClean="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شک</a:t>
            </a:r>
            <a:r>
              <a:rPr lang="ar-SA" dirty="0">
                <a:latin typeface="Urdu Typesetting" panose="03020402040406030203" pitchFamily="66" charset="-78"/>
                <a:cs typeface="Urdu Typesetting" panose="03020402040406030203" pitchFamily="66" charset="-78"/>
              </a:rPr>
              <a:t> جو </a:t>
            </a:r>
            <a:r>
              <a:rPr lang="ar-SA" dirty="0" err="1">
                <a:latin typeface="Urdu Typesetting" panose="03020402040406030203" pitchFamily="66" charset="-78"/>
                <a:cs typeface="Urdu Typesetting" panose="03020402040406030203" pitchFamily="66" charset="-78"/>
              </a:rPr>
              <a:t>لوگ</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کافر</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ہوئے</a:t>
            </a:r>
            <a:r>
              <a:rPr lang="ar-SA" dirty="0">
                <a:latin typeface="Urdu Typesetting" panose="03020402040406030203" pitchFamily="66" charset="-78"/>
                <a:cs typeface="Urdu Typesetting" panose="03020402040406030203" pitchFamily="66" charset="-78"/>
              </a:rPr>
              <a:t> اور </a:t>
            </a:r>
            <a:r>
              <a:rPr lang="ar-SA" dirty="0" err="1">
                <a:latin typeface="Urdu Typesetting" panose="03020402040406030203" pitchFamily="66" charset="-78"/>
                <a:cs typeface="Urdu Typesetting" panose="03020402040406030203" pitchFamily="66" charset="-78"/>
              </a:rPr>
              <a:t>کفر</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کی</a:t>
            </a:r>
            <a:r>
              <a:rPr lang="ar-SA" dirty="0">
                <a:latin typeface="Urdu Typesetting" panose="03020402040406030203" pitchFamily="66" charset="-78"/>
                <a:cs typeface="Urdu Typesetting" panose="03020402040406030203" pitchFamily="66" charset="-78"/>
              </a:rPr>
              <a:t> حالت </a:t>
            </a:r>
            <a:r>
              <a:rPr lang="ar-SA" dirty="0" err="1">
                <a:latin typeface="Urdu Typesetting" panose="03020402040406030203" pitchFamily="66" charset="-78"/>
                <a:cs typeface="Urdu Typesetting" panose="03020402040406030203" pitchFamily="66" charset="-78"/>
              </a:rPr>
              <a:t>میں</a:t>
            </a:r>
            <a:r>
              <a:rPr lang="ar-SA" dirty="0">
                <a:latin typeface="Urdu Typesetting" panose="03020402040406030203" pitchFamily="66" charset="-78"/>
                <a:cs typeface="Urdu Typesetting" panose="03020402040406030203" pitchFamily="66" charset="-78"/>
              </a:rPr>
              <a:t> مر </a:t>
            </a:r>
            <a:r>
              <a:rPr lang="ar-SA" dirty="0" err="1">
                <a:latin typeface="Urdu Typesetting" panose="03020402040406030203" pitchFamily="66" charset="-78"/>
                <a:cs typeface="Urdu Typesetting" panose="03020402040406030203" pitchFamily="66" charset="-78"/>
              </a:rPr>
              <a:t>گئے</a:t>
            </a:r>
            <a:r>
              <a:rPr lang="ar-SA" dirty="0">
                <a:latin typeface="Urdu Typesetting" panose="03020402040406030203" pitchFamily="66" charset="-78"/>
                <a:cs typeface="Urdu Typesetting" panose="03020402040406030203" pitchFamily="66" charset="-78"/>
              </a:rPr>
              <a:t> تو </a:t>
            </a:r>
            <a:r>
              <a:rPr lang="ar-SA" dirty="0" err="1">
                <a:latin typeface="Urdu Typesetting" panose="03020402040406030203" pitchFamily="66" charset="-78"/>
                <a:cs typeface="Urdu Typesetting" panose="03020402040406030203" pitchFamily="66" charset="-78"/>
              </a:rPr>
              <a:t>کسی</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ایسے</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سے</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زمین</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بھر</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کر</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سونا</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بھی</a:t>
            </a:r>
            <a:r>
              <a:rPr lang="ar-SA" dirty="0">
                <a:latin typeface="Urdu Typesetting" panose="03020402040406030203" pitchFamily="66" charset="-78"/>
                <a:cs typeface="Urdu Typesetting" panose="03020402040406030203" pitchFamily="66" charset="-78"/>
              </a:rPr>
              <a:t> قبول </a:t>
            </a:r>
            <a:r>
              <a:rPr lang="ar-SA" dirty="0" err="1">
                <a:latin typeface="Urdu Typesetting" panose="03020402040406030203" pitchFamily="66" charset="-78"/>
                <a:cs typeface="Urdu Typesetting" panose="03020402040406030203" pitchFamily="66" charset="-78"/>
              </a:rPr>
              <a:t>نہیں</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کیا</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جائے</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گا</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اگرچہ</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وہ</a:t>
            </a:r>
            <a:r>
              <a:rPr lang="ar-SA" dirty="0">
                <a:latin typeface="Urdu Typesetting" panose="03020402040406030203" pitchFamily="66" charset="-78"/>
                <a:cs typeface="Urdu Typesetting" panose="03020402040406030203" pitchFamily="66" charset="-78"/>
              </a:rPr>
              <a:t> اس قدر </a:t>
            </a:r>
            <a:r>
              <a:rPr lang="ar-SA" dirty="0" err="1">
                <a:latin typeface="Urdu Typesetting" panose="03020402040406030203" pitchFamily="66" charset="-78"/>
                <a:cs typeface="Urdu Typesetting" panose="03020402040406030203" pitchFamily="66" charset="-78"/>
              </a:rPr>
              <a:t>سونا</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بدلے</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میں</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دے</a:t>
            </a:r>
            <a:r>
              <a:rPr lang="ar-SA" dirty="0">
                <a:latin typeface="Urdu Typesetting" panose="03020402040406030203" pitchFamily="66" charset="-78"/>
                <a:cs typeface="Urdu Typesetting" panose="03020402040406030203" pitchFamily="66" charset="-78"/>
              </a:rPr>
              <a:t>، ان </a:t>
            </a:r>
            <a:r>
              <a:rPr lang="ar-SA" dirty="0" err="1">
                <a:latin typeface="Urdu Typesetting" panose="03020402040406030203" pitchFamily="66" charset="-78"/>
                <a:cs typeface="Urdu Typesetting" panose="03020402040406030203" pitchFamily="66" charset="-78"/>
              </a:rPr>
              <a:t>لوگوں</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کے</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لیے</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دردناک</a:t>
            </a:r>
            <a:r>
              <a:rPr lang="ar-SA" dirty="0">
                <a:latin typeface="Urdu Typesetting" panose="03020402040406030203" pitchFamily="66" charset="-78"/>
                <a:cs typeface="Urdu Typesetting" panose="03020402040406030203" pitchFamily="66" charset="-78"/>
              </a:rPr>
              <a:t> عذاب </a:t>
            </a:r>
            <a:r>
              <a:rPr lang="ar-SA" dirty="0" err="1">
                <a:latin typeface="Urdu Typesetting" panose="03020402040406030203" pitchFamily="66" charset="-78"/>
                <a:cs typeface="Urdu Typesetting" panose="03020402040406030203" pitchFamily="66" charset="-78"/>
              </a:rPr>
              <a:t>ہے</a:t>
            </a:r>
            <a:r>
              <a:rPr lang="ar-SA" dirty="0">
                <a:latin typeface="Urdu Typesetting" panose="03020402040406030203" pitchFamily="66" charset="-78"/>
                <a:cs typeface="Urdu Typesetting" panose="03020402040406030203" pitchFamily="66" charset="-78"/>
              </a:rPr>
              <a:t> اور ان </a:t>
            </a:r>
            <a:r>
              <a:rPr lang="ar-SA" dirty="0" err="1">
                <a:latin typeface="Urdu Typesetting" panose="03020402040406030203" pitchFamily="66" charset="-78"/>
                <a:cs typeface="Urdu Typesetting" panose="03020402040406030203" pitchFamily="66" charset="-78"/>
              </a:rPr>
              <a:t>کا</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کوئی</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مددگار</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نہیں</a:t>
            </a:r>
            <a:r>
              <a:rPr lang="ar-SA" dirty="0">
                <a:latin typeface="Urdu Typesetting" panose="03020402040406030203" pitchFamily="66" charset="-78"/>
                <a:cs typeface="Urdu Typesetting" panose="03020402040406030203" pitchFamily="66" charset="-78"/>
              </a:rPr>
              <a:t> </a:t>
            </a:r>
            <a:r>
              <a:rPr lang="ar-SA" dirty="0" err="1">
                <a:latin typeface="Urdu Typesetting" panose="03020402040406030203" pitchFamily="66" charset="-78"/>
                <a:cs typeface="Urdu Typesetting" panose="03020402040406030203" pitchFamily="66" charset="-78"/>
              </a:rPr>
              <a:t>ہوگا</a:t>
            </a:r>
            <a:r>
              <a:rPr lang="ar-SA" dirty="0" smtClean="0">
                <a:latin typeface="Urdu Typesetting" panose="03020402040406030203" pitchFamily="66" charset="-78"/>
                <a:cs typeface="Urdu Typesetting" panose="03020402040406030203" pitchFamily="66" charset="-78"/>
              </a:rPr>
              <a:t>۔</a:t>
            </a:r>
            <a:endParaRPr lang="en-US" dirty="0" smtClean="0">
              <a:latin typeface="Urdu Typesetting" panose="03020402040406030203" pitchFamily="66" charset="-78"/>
              <a:cs typeface="Urdu Typesetting" panose="03020402040406030203" pitchFamily="66" charset="-78"/>
            </a:endParaRPr>
          </a:p>
          <a:p>
            <a:pPr marL="0" indent="0" algn="r" rtl="1">
              <a:buNone/>
            </a:pPr>
            <a:endParaRPr lang="en-US" dirty="0" smtClean="0">
              <a:latin typeface="Urdu Typesetting" panose="03020402040406030203" pitchFamily="66" charset="-78"/>
              <a:cs typeface="Urdu Typesetting" panose="03020402040406030203" pitchFamily="66" charset="-78"/>
            </a:endParaRPr>
          </a:p>
          <a:p>
            <a:pPr marL="0" indent="0">
              <a:buNone/>
            </a:pPr>
            <a:r>
              <a:rPr lang="en-US" dirty="0" smtClean="0"/>
              <a:t>“Indeed </a:t>
            </a:r>
            <a:r>
              <a:rPr lang="en-US" dirty="0"/>
              <a:t>those who turn faithless and die while they are faithless, a world of gold will not be accepted from any of them should he offer it for ransom. For such there will be a painful punishment, and they will have no </a:t>
            </a:r>
            <a:r>
              <a:rPr lang="en-US" dirty="0" smtClean="0"/>
              <a:t>helpers.”</a:t>
            </a:r>
            <a:r>
              <a:rPr lang="en-US" dirty="0"/>
              <a:t/>
            </a:r>
            <a:br>
              <a:rPr lang="en-US" dirty="0"/>
            </a:br>
            <a:endParaRPr lang="en-US" dirty="0"/>
          </a:p>
        </p:txBody>
      </p:sp>
      <p:sp>
        <p:nvSpPr>
          <p:cNvPr id="5" name="Chevron 4">
            <a:hlinkClick r:id="" action="ppaction://noaction"/>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9345512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a:solidFill>
            <a:srgbClr val="FF66CC"/>
          </a:solidFill>
        </p:spPr>
        <p:txBody>
          <a:bodyPr>
            <a:normAutofit/>
          </a:bodyPr>
          <a:lstStyle/>
          <a:p>
            <a:pPr algn="ctr"/>
            <a:r>
              <a:rPr lang="en-US" sz="6000" dirty="0" smtClean="0">
                <a:latin typeface="Arial Black" panose="020B0A04020102020204" pitchFamily="34" charset="0"/>
              </a:rPr>
              <a:t>Hadith </a:t>
            </a:r>
            <a:endParaRPr lang="en-US" sz="6000" dirty="0">
              <a:latin typeface="Arial Black" panose="020B0A04020102020204" pitchFamily="34" charset="0"/>
            </a:endParaRPr>
          </a:p>
        </p:txBody>
      </p:sp>
      <p:sp>
        <p:nvSpPr>
          <p:cNvPr id="3" name="Content Placeholder 2"/>
          <p:cNvSpPr>
            <a:spLocks noGrp="1"/>
          </p:cNvSpPr>
          <p:nvPr>
            <p:ph idx="1"/>
          </p:nvPr>
        </p:nvSpPr>
        <p:spPr/>
        <p:txBody>
          <a:bodyPr/>
          <a:lstStyle/>
          <a:p>
            <a:r>
              <a:rPr lang="en-US" dirty="0"/>
              <a:t>Blessed is the saying of the Messenger of Allah </a:t>
            </a:r>
            <a:r>
              <a:rPr lang="en-US" dirty="0" smtClean="0"/>
              <a:t>(P.B.U.H)</a:t>
            </a:r>
          </a:p>
          <a:p>
            <a:pPr marL="0" indent="0" algn="r" rtl="1">
              <a:buNone/>
            </a:pPr>
            <a:endParaRPr lang="en-US" dirty="0"/>
          </a:p>
          <a:p>
            <a:pPr marL="0" indent="0" algn="r" rtl="1">
              <a:buNone/>
            </a:pPr>
            <a:r>
              <a:rPr lang="ar-SA" sz="3600" dirty="0">
                <a:latin typeface="Arabic Typesetting" panose="03020402040406030203" pitchFamily="66" charset="-78"/>
                <a:cs typeface="Arabic Typesetting" panose="03020402040406030203" pitchFamily="66" charset="-78"/>
              </a:rPr>
              <a:t>الإِيمَانُ بِضْعٌ وَسَبْعُونَ أَوْ بِضْعٌ وَسِتُّونَ شُعْبَةً فَأَفْضَلُهَا قَوْلُ لاَ إِلَهَ إِلاَّ </a:t>
            </a:r>
            <a:r>
              <a:rPr lang="ar-SA" sz="3600" dirty="0" smtClean="0">
                <a:latin typeface="Arabic Typesetting" panose="03020402040406030203" pitchFamily="66" charset="-78"/>
                <a:cs typeface="Arabic Typesetting" panose="03020402040406030203" pitchFamily="66" charset="-78"/>
              </a:rPr>
              <a:t>اللَّهُ</a:t>
            </a:r>
            <a:endParaRPr lang="en-US" sz="3600" dirty="0" smtClean="0">
              <a:latin typeface="Arabic Typesetting" panose="03020402040406030203" pitchFamily="66" charset="-78"/>
              <a:cs typeface="Arabic Typesetting" panose="03020402040406030203" pitchFamily="66" charset="-78"/>
            </a:endParaRPr>
          </a:p>
          <a:p>
            <a:pPr marL="0" indent="0" algn="l">
              <a:buNone/>
            </a:pPr>
            <a:r>
              <a:rPr lang="en-US" dirty="0" smtClean="0"/>
              <a:t>“There </a:t>
            </a:r>
            <a:r>
              <a:rPr lang="en-US" dirty="0"/>
              <a:t>are more than 70 branches of </a:t>
            </a:r>
            <a:r>
              <a:rPr lang="en-US" dirty="0" err="1"/>
              <a:t>Eman</a:t>
            </a:r>
            <a:r>
              <a:rPr lang="en-US" dirty="0"/>
              <a:t>, the best of them is to say     </a:t>
            </a:r>
            <a:r>
              <a:rPr lang="ar-SA" dirty="0"/>
              <a:t>لا إله إلا الله</a:t>
            </a:r>
            <a:r>
              <a:rPr lang="en-US" dirty="0"/>
              <a:t> </a:t>
            </a:r>
            <a:r>
              <a:rPr lang="en-US" dirty="0" smtClean="0"/>
              <a:t>“</a:t>
            </a:r>
            <a:endParaRPr lang="en-US" dirty="0"/>
          </a:p>
          <a:p>
            <a:pPr marL="0" indent="0">
              <a:buNone/>
            </a:pPr>
            <a:endParaRPr lang="en-US" dirty="0" smtClean="0"/>
          </a:p>
          <a:p>
            <a:pPr marL="0" indent="0">
              <a:buNone/>
            </a:pPr>
            <a:r>
              <a:rPr lang="en-US" b="1" u="sng" dirty="0" smtClean="0"/>
              <a:t>So</a:t>
            </a:r>
            <a:r>
              <a:rPr lang="en-US" b="1" u="sng" dirty="0"/>
              <a:t>, the basis of </a:t>
            </a:r>
            <a:r>
              <a:rPr lang="en-US" b="1" u="sng" dirty="0" err="1"/>
              <a:t>Eman</a:t>
            </a:r>
            <a:r>
              <a:rPr lang="en-US" b="1" u="sng" dirty="0"/>
              <a:t> is the word </a:t>
            </a:r>
            <a:r>
              <a:rPr lang="en-US" b="1" u="sng" dirty="0" err="1"/>
              <a:t>Tawheed</a:t>
            </a:r>
            <a:r>
              <a:rPr lang="en-US" b="1" u="sng" dirty="0"/>
              <a:t>.</a:t>
            </a:r>
          </a:p>
          <a:p>
            <a:endParaRPr lang="en-US" dirty="0"/>
          </a:p>
        </p:txBody>
      </p:sp>
      <p:sp>
        <p:nvSpPr>
          <p:cNvPr id="5" name="Chevron 4">
            <a:hlinkClick r:id="" action="ppaction://noaction"/>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4120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a:solidFill>
            <a:srgbClr val="FF66CC"/>
          </a:solidFill>
        </p:spPr>
        <p:txBody>
          <a:bodyPr/>
          <a:lstStyle/>
          <a:p>
            <a:pPr algn="ctr"/>
            <a:r>
              <a:rPr lang="en-US" sz="6000" dirty="0" smtClean="0">
                <a:latin typeface="Arial Black" panose="020B0A04020102020204" pitchFamily="34" charset="0"/>
              </a:rPr>
              <a:t>Hadith</a:t>
            </a:r>
            <a:r>
              <a:rPr lang="en-US" dirty="0" smtClean="0"/>
              <a:t> </a:t>
            </a:r>
            <a:endParaRPr lang="en-US" dirty="0"/>
          </a:p>
        </p:txBody>
      </p:sp>
      <p:sp>
        <p:nvSpPr>
          <p:cNvPr id="3" name="Content Placeholder 2"/>
          <p:cNvSpPr>
            <a:spLocks noGrp="1"/>
          </p:cNvSpPr>
          <p:nvPr>
            <p:ph idx="1"/>
          </p:nvPr>
        </p:nvSpPr>
        <p:spPr>
          <a:xfrm>
            <a:off x="0" y="1825625"/>
            <a:ext cx="12192000" cy="4351338"/>
          </a:xfrm>
        </p:spPr>
        <p:txBody>
          <a:bodyPr>
            <a:normAutofit lnSpcReduction="10000"/>
          </a:bodyPr>
          <a:lstStyle/>
          <a:p>
            <a:pPr marL="0" indent="0">
              <a:buNone/>
            </a:pPr>
            <a:r>
              <a:rPr lang="en-US" dirty="0"/>
              <a:t>There is a hadith narrated from the Messenger of Allah (peace and blessings of Allah be upon him) regarding the virtue of </a:t>
            </a:r>
            <a:r>
              <a:rPr lang="en-US" dirty="0" err="1"/>
              <a:t>monotheis</a:t>
            </a:r>
            <a:endParaRPr lang="en-US" dirty="0"/>
          </a:p>
          <a:p>
            <a:pPr marL="0" indent="0" algn="r" rtl="1">
              <a:buNone/>
            </a:pPr>
            <a:endParaRPr lang="en-US" dirty="0" smtClean="0"/>
          </a:p>
          <a:p>
            <a:pPr marL="0" indent="0" algn="r" rtl="1">
              <a:buNone/>
            </a:pPr>
            <a:r>
              <a:rPr lang="ar-SA" sz="3600" dirty="0" smtClean="0">
                <a:latin typeface="Arabic Typesetting" panose="03020402040406030203" pitchFamily="66" charset="-78"/>
                <a:cs typeface="Arabic Typesetting" panose="03020402040406030203" pitchFamily="66" charset="-78"/>
              </a:rPr>
              <a:t>مَنْ </a:t>
            </a:r>
            <a:r>
              <a:rPr lang="ar-SA" sz="3600" dirty="0">
                <a:latin typeface="Arabic Typesetting" panose="03020402040406030203" pitchFamily="66" charset="-78"/>
                <a:cs typeface="Arabic Typesetting" panose="03020402040406030203" pitchFamily="66" charset="-78"/>
              </a:rPr>
              <a:t>شَهِدَ أَنْ لاَ إِلَهَ إِلاَّ اللَّهُ وَحْدَهُ لاَ شَرِيكَ لَهُ ، وَأَنَّ مُحَمَّدًا عَبْدُهُ وَرَسُولُهُ ، وَأَنَّ عِيسَى عَبْدُ </a:t>
            </a:r>
            <a:r>
              <a:rPr lang="ar-SA" sz="3600" dirty="0" smtClean="0">
                <a:latin typeface="Arabic Typesetting" panose="03020402040406030203" pitchFamily="66" charset="-78"/>
                <a:cs typeface="Arabic Typesetting" panose="03020402040406030203" pitchFamily="66" charset="-78"/>
              </a:rPr>
              <a:t>اللَّهِ، </a:t>
            </a:r>
            <a:r>
              <a:rPr lang="ar-SA" sz="3600" dirty="0">
                <a:latin typeface="Arabic Typesetting" panose="03020402040406030203" pitchFamily="66" charset="-78"/>
                <a:cs typeface="Arabic Typesetting" panose="03020402040406030203" pitchFamily="66" charset="-78"/>
              </a:rPr>
              <a:t>وَالْجَنَّةُ حَقٌّ وَالنَّارُ حَقٌّ ، أَدْخَلَهُ اللَّهُ الْجَنَّةَ عَلَى مَا كَانَ مِنَ الْعَمَلِ</a:t>
            </a:r>
            <a:endParaRPr lang="en-US" sz="3600" dirty="0">
              <a:latin typeface="Arabic Typesetting" panose="03020402040406030203" pitchFamily="66" charset="-78"/>
              <a:cs typeface="Arabic Typesetting" panose="03020402040406030203" pitchFamily="66" charset="-78"/>
            </a:endParaRPr>
          </a:p>
          <a:p>
            <a:endParaRPr lang="en-US" dirty="0" smtClean="0"/>
          </a:p>
          <a:p>
            <a:pPr marL="0" indent="0">
              <a:buNone/>
            </a:pPr>
            <a:r>
              <a:rPr lang="en-US" dirty="0" smtClean="0"/>
              <a:t>“If </a:t>
            </a:r>
            <a:r>
              <a:rPr lang="en-US" dirty="0"/>
              <a:t>anyone testifies that there is no god but God alone, who has no partner, that Muhammad is His servant and messenger, that Jesus is God's servant and messenger, </a:t>
            </a:r>
            <a:r>
              <a:rPr lang="en-US" dirty="0" smtClean="0"/>
              <a:t>and </a:t>
            </a:r>
            <a:r>
              <a:rPr lang="en-US" dirty="0"/>
              <a:t>that paradise and hell are real, God will cause him to enter paradise no matter what he has done.”</a:t>
            </a:r>
          </a:p>
        </p:txBody>
      </p:sp>
      <p:sp>
        <p:nvSpPr>
          <p:cNvPr id="5" name="Chevron 4">
            <a:hlinkClick r:id="" action="ppaction://noaction"/>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196061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a:solidFill>
            <a:srgbClr val="FF66CC"/>
          </a:solidFill>
        </p:spPr>
        <p:txBody>
          <a:bodyPr>
            <a:normAutofit/>
          </a:bodyPr>
          <a:lstStyle/>
          <a:p>
            <a:pPr algn="ctr"/>
            <a:r>
              <a:rPr lang="en-US" sz="6000" dirty="0" smtClean="0">
                <a:latin typeface="Arial Black" panose="020B0A04020102020204" pitchFamily="34" charset="0"/>
              </a:rPr>
              <a:t>Types of </a:t>
            </a:r>
            <a:r>
              <a:rPr lang="en-US" sz="6000" dirty="0" err="1" smtClean="0">
                <a:latin typeface="Arial Black" panose="020B0A04020102020204" pitchFamily="34" charset="0"/>
              </a:rPr>
              <a:t>Towheed</a:t>
            </a:r>
            <a:endParaRPr lang="en-US" sz="6000" dirty="0">
              <a:latin typeface="Arial Black" panose="020B0A04020102020204" pitchFamily="34" charset="0"/>
            </a:endParaRPr>
          </a:p>
        </p:txBody>
      </p:sp>
      <p:sp>
        <p:nvSpPr>
          <p:cNvPr id="3" name="Content Placeholder 2"/>
          <p:cNvSpPr>
            <a:spLocks noGrp="1"/>
          </p:cNvSpPr>
          <p:nvPr>
            <p:ph idx="1"/>
          </p:nvPr>
        </p:nvSpPr>
        <p:spPr/>
        <p:txBody>
          <a:bodyPr/>
          <a:lstStyle/>
          <a:p>
            <a:pPr marL="514350" indent="-514350">
              <a:buAutoNum type="arabicPeriod"/>
            </a:pPr>
            <a:r>
              <a:rPr lang="en-US" dirty="0" err="1" smtClean="0"/>
              <a:t>Towhid-ul-Rububiyyat</a:t>
            </a:r>
            <a:r>
              <a:rPr lang="en-US" dirty="0"/>
              <a:t>( </a:t>
            </a:r>
            <a:r>
              <a:rPr lang="ar-SA" b="1" dirty="0"/>
              <a:t> </a:t>
            </a:r>
            <a:r>
              <a:rPr lang="ar-SA" b="1" dirty="0" err="1"/>
              <a:t>توحید</a:t>
            </a:r>
            <a:r>
              <a:rPr lang="ar-SA" b="1" dirty="0"/>
              <a:t> </a:t>
            </a:r>
            <a:r>
              <a:rPr lang="ar-SA" b="1" dirty="0" err="1"/>
              <a:t>ربوبیت</a:t>
            </a:r>
            <a:r>
              <a:rPr lang="ar-SA" b="1" dirty="0"/>
              <a:t> </a:t>
            </a:r>
            <a:r>
              <a:rPr lang="en-US" b="1" dirty="0"/>
              <a:t>)</a:t>
            </a:r>
            <a:r>
              <a:rPr lang="en-US" dirty="0"/>
              <a:t>(Oneness of Allah’s </a:t>
            </a:r>
            <a:r>
              <a:rPr lang="en-US" dirty="0" smtClean="0"/>
              <a:t>Lordship)</a:t>
            </a:r>
          </a:p>
          <a:p>
            <a:pPr marL="514350" indent="-514350">
              <a:buAutoNum type="arabicPeriod"/>
            </a:pPr>
            <a:endParaRPr lang="en-US" dirty="0" smtClean="0"/>
          </a:p>
          <a:p>
            <a:pPr marL="514350" indent="-514350">
              <a:buFont typeface="Arial" panose="020B0604020202020204" pitchFamily="34" charset="0"/>
              <a:buAutoNum type="arabicPeriod"/>
            </a:pPr>
            <a:r>
              <a:rPr lang="en-US" dirty="0" err="1" smtClean="0"/>
              <a:t>Towhid</a:t>
            </a:r>
            <a:r>
              <a:rPr lang="en-US" dirty="0" smtClean="0"/>
              <a:t> </a:t>
            </a:r>
            <a:r>
              <a:rPr lang="en-US" dirty="0"/>
              <a:t>al-</a:t>
            </a:r>
            <a:r>
              <a:rPr lang="en-US" dirty="0" err="1"/>
              <a:t>Ibadat</a:t>
            </a:r>
            <a:r>
              <a:rPr lang="en-US" dirty="0"/>
              <a:t> </a:t>
            </a:r>
            <a:r>
              <a:rPr lang="" dirty="0"/>
              <a:t>(</a:t>
            </a:r>
            <a:r>
              <a:rPr lang="ar-SA" b="1" dirty="0"/>
              <a:t>توحيد العبادة</a:t>
            </a:r>
            <a:r>
              <a:rPr lang="" dirty="0"/>
              <a:t>)</a:t>
            </a:r>
            <a:r>
              <a:rPr lang="en-US" dirty="0" smtClean="0"/>
              <a:t> (Oneness </a:t>
            </a:r>
            <a:r>
              <a:rPr lang="en-US" dirty="0"/>
              <a:t>of Worship) </a:t>
            </a:r>
            <a:endParaRPr lang="en-US" dirty="0" smtClean="0"/>
          </a:p>
          <a:p>
            <a:pPr marL="514350" indent="-514350">
              <a:buFont typeface="Arial" panose="020B0604020202020204" pitchFamily="34" charset="0"/>
              <a:buAutoNum type="arabicPeriod"/>
            </a:pPr>
            <a:endParaRPr lang="en-US" dirty="0"/>
          </a:p>
          <a:p>
            <a:pPr marL="514350" indent="-514350">
              <a:buFont typeface="Arial" panose="020B0604020202020204" pitchFamily="34" charset="0"/>
              <a:buAutoNum type="arabicPeriod"/>
            </a:pPr>
            <a:r>
              <a:rPr lang="en-US" dirty="0" err="1" smtClean="0"/>
              <a:t>Towhid-ul-Asma</a:t>
            </a:r>
            <a:r>
              <a:rPr lang="en-US" dirty="0"/>
              <a:t>’ </a:t>
            </a:r>
            <a:r>
              <a:rPr lang="en-US" dirty="0" err="1"/>
              <a:t>wal-Sifat</a:t>
            </a:r>
            <a:r>
              <a:rPr lang="en-US" dirty="0"/>
              <a:t> (</a:t>
            </a:r>
            <a:r>
              <a:rPr lang="ar-SA" b="1" dirty="0" err="1"/>
              <a:t>توحید</a:t>
            </a:r>
            <a:r>
              <a:rPr lang="ar-SA" b="1" dirty="0"/>
              <a:t> اسماء وصفات</a:t>
            </a:r>
            <a:r>
              <a:rPr lang="en-US" dirty="0"/>
              <a:t>)(Oneness of Allah’s Names and Attributes). </a:t>
            </a:r>
          </a:p>
          <a:p>
            <a:pPr marL="0" indent="0">
              <a:buNone/>
            </a:pPr>
            <a:endParaRPr lang="en-US" dirty="0"/>
          </a:p>
        </p:txBody>
      </p:sp>
      <p:sp>
        <p:nvSpPr>
          <p:cNvPr id="5" name="Chevron 4">
            <a:hlinkClick r:id="" action="ppaction://noaction"/>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49596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1015"/>
            <a:ext cx="12192000" cy="1325563"/>
          </a:xfrm>
          <a:solidFill>
            <a:srgbClr val="FF66CC"/>
          </a:solidFill>
        </p:spPr>
        <p:txBody>
          <a:bodyPr/>
          <a:lstStyle/>
          <a:p>
            <a:pPr algn="ctr"/>
            <a:r>
              <a:rPr lang="en-US" dirty="0">
                <a:latin typeface="Arial Black" panose="020B0A04020102020204" pitchFamily="34" charset="0"/>
              </a:rPr>
              <a:t>The E</a:t>
            </a:r>
            <a:r>
              <a:rPr lang="en-US" dirty="0" smtClean="0">
                <a:latin typeface="Arial Black" panose="020B0A04020102020204" pitchFamily="34" charset="0"/>
              </a:rPr>
              <a:t>ffects </a:t>
            </a:r>
            <a:r>
              <a:rPr lang="en-US" dirty="0">
                <a:latin typeface="Arial Black" panose="020B0A04020102020204" pitchFamily="34" charset="0"/>
              </a:rPr>
              <a:t>of M</a:t>
            </a:r>
            <a:r>
              <a:rPr lang="en-US" dirty="0" smtClean="0">
                <a:latin typeface="Arial Black" panose="020B0A04020102020204" pitchFamily="34" charset="0"/>
              </a:rPr>
              <a:t>onotheism</a:t>
            </a:r>
            <a:r>
              <a:rPr lang="" dirty="0" smtClean="0">
                <a:latin typeface="Arial Black" panose="020B0A04020102020204" pitchFamily="34" charset="0"/>
              </a:rPr>
              <a:t>(توحید)</a:t>
            </a:r>
            <a:r>
              <a:rPr lang="en-US" dirty="0" smtClean="0">
                <a:latin typeface="Arial Black" panose="020B0A04020102020204" pitchFamily="34" charset="0"/>
              </a:rPr>
              <a:t> </a:t>
            </a:r>
            <a:r>
              <a:rPr lang="en-US" dirty="0">
                <a:latin typeface="Arial Black" panose="020B0A04020102020204" pitchFamily="34" charset="0"/>
              </a:rPr>
              <a:t>on </a:t>
            </a:r>
            <a:r>
              <a:rPr lang="en-US" dirty="0" smtClean="0">
                <a:latin typeface="Arial Black" panose="020B0A04020102020204" pitchFamily="34" charset="0"/>
              </a:rPr>
              <a:t>Human </a:t>
            </a:r>
            <a:r>
              <a:rPr lang="en-US" dirty="0">
                <a:latin typeface="Arial Black" panose="020B0A04020102020204" pitchFamily="34" charset="0"/>
              </a:rPr>
              <a:t>L</a:t>
            </a:r>
            <a:r>
              <a:rPr lang="en-US" dirty="0" smtClean="0">
                <a:latin typeface="Arial Black" panose="020B0A04020102020204" pitchFamily="34" charset="0"/>
              </a:rPr>
              <a:t>ife</a:t>
            </a:r>
            <a:endParaRPr lang="en-US" dirty="0">
              <a:latin typeface="Arial Black" panose="020B0A04020102020204" pitchFamily="34" charset="0"/>
            </a:endParaRPr>
          </a:p>
        </p:txBody>
      </p:sp>
      <p:sp>
        <p:nvSpPr>
          <p:cNvPr id="3" name="Content Placeholder 2"/>
          <p:cNvSpPr>
            <a:spLocks noGrp="1"/>
          </p:cNvSpPr>
          <p:nvPr>
            <p:ph idx="1"/>
          </p:nvPr>
        </p:nvSpPr>
        <p:spPr>
          <a:xfrm>
            <a:off x="0" y="1536578"/>
            <a:ext cx="12192000" cy="5141742"/>
          </a:xfrm>
        </p:spPr>
        <p:txBody>
          <a:bodyPr>
            <a:normAutofit/>
          </a:bodyPr>
          <a:lstStyle/>
          <a:p>
            <a:pPr marL="0" indent="0">
              <a:buNone/>
            </a:pPr>
            <a:endParaRPr lang="en-US" dirty="0" smtClean="0"/>
          </a:p>
          <a:p>
            <a:pPr marL="0" indent="0">
              <a:buNone/>
            </a:pPr>
            <a:r>
              <a:rPr lang="en-US" dirty="0" smtClean="0"/>
              <a:t>Faith </a:t>
            </a:r>
            <a:r>
              <a:rPr lang="en-US" dirty="0"/>
              <a:t>has profound effects on human life. </a:t>
            </a:r>
          </a:p>
          <a:p>
            <a:pPr marL="514350" indent="-514350">
              <a:buAutoNum type="arabicPeriod"/>
            </a:pPr>
            <a:endParaRPr lang="" dirty="0" smtClean="0"/>
          </a:p>
          <a:p>
            <a:pPr marL="0" indent="0">
              <a:buNone/>
            </a:pPr>
            <a:endParaRPr lang="en-US" dirty="0"/>
          </a:p>
        </p:txBody>
      </p:sp>
      <p:sp>
        <p:nvSpPr>
          <p:cNvPr id="5" name="Chevron 4">
            <a:hlinkClick r:id="" action="ppaction://noaction"/>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7172" name="Picture 4" descr="Question Mark - 5 Rules to Follow - EnglishComposition.Or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0062" y="2734582"/>
            <a:ext cx="3571875"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436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239151"/>
            <a:ext cx="12192000" cy="1325563"/>
          </a:xfrm>
          <a:solidFill>
            <a:srgbClr val="FF66CC"/>
          </a:solidFill>
        </p:spPr>
        <p:txBody>
          <a:bodyPr/>
          <a:lstStyle/>
          <a:p>
            <a:pPr algn="ctr"/>
            <a:r>
              <a:rPr lang="en-US" dirty="0">
                <a:latin typeface="Arial Black" panose="020B0A04020102020204" pitchFamily="34" charset="0"/>
              </a:rPr>
              <a:t>Effects of M</a:t>
            </a:r>
            <a:r>
              <a:rPr lang="en-US" dirty="0" smtClean="0">
                <a:latin typeface="Arial Black" panose="020B0A04020102020204" pitchFamily="34" charset="0"/>
              </a:rPr>
              <a:t>onotheism</a:t>
            </a:r>
            <a:r>
              <a:rPr lang="" dirty="0" smtClean="0">
                <a:latin typeface="Arial Black" panose="020B0A04020102020204" pitchFamily="34" charset="0"/>
              </a:rPr>
              <a:t> </a:t>
            </a:r>
            <a:r>
              <a:rPr lang="" dirty="0">
                <a:latin typeface="Arial Black" panose="020B0A04020102020204" pitchFamily="34" charset="0"/>
              </a:rPr>
              <a:t>(توحید)</a:t>
            </a:r>
            <a:r>
              <a:rPr lang="en-US" dirty="0" smtClean="0">
                <a:latin typeface="Arial Black" panose="020B0A04020102020204" pitchFamily="34" charset="0"/>
              </a:rPr>
              <a:t> </a:t>
            </a:r>
            <a:r>
              <a:rPr lang="en-US" dirty="0">
                <a:latin typeface="Arial Black" panose="020B0A04020102020204" pitchFamily="34" charset="0"/>
              </a:rPr>
              <a:t>on </a:t>
            </a:r>
            <a:r>
              <a:rPr lang="en-US" dirty="0" smtClean="0">
                <a:latin typeface="Arial Black" panose="020B0A04020102020204" pitchFamily="34" charset="0"/>
              </a:rPr>
              <a:t>Communal </a:t>
            </a:r>
            <a:r>
              <a:rPr lang="en-US" dirty="0">
                <a:latin typeface="Arial Black" panose="020B0A04020102020204" pitchFamily="34" charset="0"/>
              </a:rPr>
              <a:t>L</a:t>
            </a:r>
            <a:r>
              <a:rPr lang="en-US" dirty="0" smtClean="0">
                <a:latin typeface="Arial Black" panose="020B0A04020102020204" pitchFamily="34" charset="0"/>
              </a:rPr>
              <a:t>ife</a:t>
            </a:r>
            <a:endParaRPr lang="en-US" dirty="0">
              <a:latin typeface="Arial Black" panose="020B0A04020102020204" pitchFamily="34" charset="0"/>
            </a:endParaRPr>
          </a:p>
        </p:txBody>
      </p:sp>
      <p:sp>
        <p:nvSpPr>
          <p:cNvPr id="3" name="Content Placeholder 2"/>
          <p:cNvSpPr>
            <a:spLocks noGrp="1"/>
          </p:cNvSpPr>
          <p:nvPr>
            <p:ph idx="1"/>
          </p:nvPr>
        </p:nvSpPr>
        <p:spPr>
          <a:xfrm>
            <a:off x="1" y="1817932"/>
            <a:ext cx="12191999" cy="4856529"/>
          </a:xfrm>
        </p:spPr>
        <p:txBody>
          <a:bodyPr>
            <a:normAutofit/>
          </a:bodyPr>
          <a:lstStyle/>
          <a:p>
            <a:pPr marL="0" indent="0">
              <a:buNone/>
            </a:pPr>
            <a:r>
              <a:rPr lang="en-US" dirty="0" smtClean="0"/>
              <a:t>Due </a:t>
            </a:r>
            <a:r>
              <a:rPr lang="en-US" dirty="0"/>
              <a:t>to </a:t>
            </a:r>
            <a:r>
              <a:rPr lang="en-US" dirty="0" err="1"/>
              <a:t>Aqeedah</a:t>
            </a:r>
            <a:r>
              <a:rPr lang="en-US" dirty="0"/>
              <a:t> </a:t>
            </a:r>
            <a:r>
              <a:rPr lang="en-US" dirty="0" err="1" smtClean="0"/>
              <a:t>Towhid</a:t>
            </a:r>
            <a:r>
              <a:rPr lang="en-US" dirty="0" smtClean="0"/>
              <a:t>, </a:t>
            </a:r>
            <a:r>
              <a:rPr lang="en-US" dirty="0"/>
              <a:t>there are positive effects at the social level as </a:t>
            </a:r>
            <a:r>
              <a:rPr lang="en-US" dirty="0" smtClean="0"/>
              <a:t>well</a:t>
            </a:r>
            <a:endParaRPr lang="en-US" dirty="0" smtClean="0"/>
          </a:p>
        </p:txBody>
      </p:sp>
      <p:sp>
        <p:nvSpPr>
          <p:cNvPr id="4" name="Chevron 3">
            <a:hlinkClick r:id="rId2" action="ppaction://hlinksldjump"/>
          </p:cNvPr>
          <p:cNvSpPr/>
          <p:nvPr/>
        </p:nvSpPr>
        <p:spPr>
          <a:xfrm flipH="1">
            <a:off x="11379200" y="6096000"/>
            <a:ext cx="580571" cy="420914"/>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194" name="Picture 2" descr="The history/origin of the question mark - Where did it come fro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70745" y="2531283"/>
            <a:ext cx="3450509" cy="3775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4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365125"/>
            <a:ext cx="12192000" cy="6138706"/>
          </a:xfrm>
          <a:blipFill>
            <a:blip r:embed="rId2"/>
            <a:tile tx="0" ty="0" sx="100000" sy="100000" flip="none" algn="tl"/>
          </a:blipFill>
          <a:scene3d>
            <a:camera prst="orthographicFront"/>
            <a:lightRig rig="threePt" dir="t"/>
          </a:scene3d>
          <a:sp3d>
            <a:bevelT prst="relaxedInset"/>
          </a:sp3d>
        </p:spPr>
        <p:txBody>
          <a:bodyPr>
            <a:normAutofit/>
          </a:bodyPr>
          <a:lstStyle/>
          <a:p>
            <a:pPr algn="ctr"/>
            <a:r>
              <a:rPr lang="" sz="80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حدیث جبرائیل</a:t>
            </a:r>
            <a:endParaRPr lang="en-US" sz="8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7" name="Rectangle 6"/>
          <p:cNvSpPr/>
          <p:nvPr/>
        </p:nvSpPr>
        <p:spPr>
          <a:xfrm>
            <a:off x="0" y="1300766"/>
            <a:ext cx="12192000" cy="144243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72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The Hadith of </a:t>
            </a:r>
            <a:r>
              <a:rPr lang="en-US" sz="7200" b="1" dirty="0" err="1"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Jibreel</a:t>
            </a:r>
            <a:r>
              <a:rPr lang="en-US" sz="72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 (Gabriel)</a:t>
            </a:r>
            <a:endParaRPr lang="en-US" sz="7200" dirty="0"/>
          </a:p>
        </p:txBody>
      </p:sp>
    </p:spTree>
    <p:extLst>
      <p:ext uri="{BB962C8B-B14F-4D97-AF65-F5344CB8AC3E}">
        <p14:creationId xmlns:p14="http://schemas.microsoft.com/office/powerpoint/2010/main" val="25443653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1320124836"/>
              </p:ext>
            </p:extLst>
          </p:nvPr>
        </p:nvGraphicFramePr>
        <p:xfrm>
          <a:off x="0" y="656823"/>
          <a:ext cx="12191999" cy="56409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348591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1311</Words>
  <Application>Microsoft Office PowerPoint</Application>
  <PresentationFormat>Widescreen</PresentationFormat>
  <Paragraphs>161</Paragraphs>
  <Slides>30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Arabic Typesetting</vt:lpstr>
      <vt:lpstr>Arial</vt:lpstr>
      <vt:lpstr>Arial Black</vt:lpstr>
      <vt:lpstr>Calibri</vt:lpstr>
      <vt:lpstr>Calibri Light</vt:lpstr>
      <vt:lpstr>Roboto</vt:lpstr>
      <vt:lpstr>Times New Roman</vt:lpstr>
      <vt:lpstr>Urdu Typesetting</vt:lpstr>
      <vt:lpstr>Office Theme</vt:lpstr>
      <vt:lpstr>PowerPoint Presentation</vt:lpstr>
      <vt:lpstr>PowerPoint Presentation</vt:lpstr>
      <vt:lpstr>PowerPoint Presentation</vt:lpstr>
      <vt:lpstr>PowerPoint Presentation</vt:lpstr>
      <vt:lpstr>Literal Meaning of Islam</vt:lpstr>
      <vt:lpstr> According to the dictionary, the word “Islam” implies four meanings: </vt:lpstr>
      <vt:lpstr>PowerPoint Presentation</vt:lpstr>
      <vt:lpstr>Terminological meaning </vt:lpstr>
      <vt:lpstr>PowerPoint Presentation</vt:lpstr>
      <vt:lpstr>PowerPoint Presentation</vt:lpstr>
      <vt:lpstr>Literal meaning of Eman</vt:lpstr>
      <vt:lpstr>Terminological Meaning </vt:lpstr>
      <vt:lpstr>PowerPoint Presentation</vt:lpstr>
      <vt:lpstr>Difference between “Islam” and “Eman”</vt:lpstr>
      <vt:lpstr>Important Note</vt:lpstr>
      <vt:lpstr>PowerPoint Presentation</vt:lpstr>
      <vt:lpstr>Introduction</vt:lpstr>
      <vt:lpstr>PowerPoint Presentation</vt:lpstr>
      <vt:lpstr>Explanation</vt:lpstr>
      <vt:lpstr>PowerPoint Presentation</vt:lpstr>
      <vt:lpstr>Literal Meaning of Towheed</vt:lpstr>
      <vt:lpstr>Terminological Meaning</vt:lpstr>
      <vt:lpstr>Quranic Verse </vt:lpstr>
      <vt:lpstr>Hadith </vt:lpstr>
      <vt:lpstr>Hadith </vt:lpstr>
      <vt:lpstr>Types of Towheed</vt:lpstr>
      <vt:lpstr>The Effects of Monotheism(توحید) on Human Life</vt:lpstr>
      <vt:lpstr>Effects of Monotheism (توحید) on Communal Life</vt:lpstr>
      <vt:lpstr>حدیث جبرائیل</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sobia ali</dc:creator>
  <cp:lastModifiedBy>sobia ali</cp:lastModifiedBy>
  <cp:revision>16</cp:revision>
  <dcterms:created xsi:type="dcterms:W3CDTF">2023-01-30T15:00:41Z</dcterms:created>
  <dcterms:modified xsi:type="dcterms:W3CDTF">2023-01-30T16:00:13Z</dcterms:modified>
</cp:coreProperties>
</file>