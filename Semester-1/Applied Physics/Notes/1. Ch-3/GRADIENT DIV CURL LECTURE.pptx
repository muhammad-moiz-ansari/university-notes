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4"/>
  </p:sldMasterIdLst>
  <p:sldIdLst>
    <p:sldId id="256" r:id="rId5"/>
    <p:sldId id="258" r:id="rId6"/>
    <p:sldId id="259" r:id="rId7"/>
    <p:sldId id="331" r:id="rId8"/>
    <p:sldId id="307" r:id="rId9"/>
    <p:sldId id="301" r:id="rId10"/>
    <p:sldId id="309" r:id="rId11"/>
    <p:sldId id="310" r:id="rId12"/>
    <p:sldId id="321" r:id="rId13"/>
    <p:sldId id="322" r:id="rId14"/>
    <p:sldId id="323" r:id="rId15"/>
    <p:sldId id="324" r:id="rId16"/>
    <p:sldId id="325" r:id="rId17"/>
    <p:sldId id="326" r:id="rId18"/>
    <p:sldId id="266" r:id="rId19"/>
    <p:sldId id="267" r:id="rId20"/>
    <p:sldId id="327" r:id="rId21"/>
    <p:sldId id="328" r:id="rId22"/>
    <p:sldId id="312" r:id="rId23"/>
    <p:sldId id="313" r:id="rId24"/>
    <p:sldId id="314" r:id="rId25"/>
    <p:sldId id="329" r:id="rId26"/>
    <p:sldId id="330" r:id="rId27"/>
    <p:sldId id="316" r:id="rId28"/>
    <p:sldId id="317" r:id="rId29"/>
    <p:sldId id="318" r:id="rId30"/>
    <p:sldId id="319" r:id="rId31"/>
    <p:sldId id="37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26" Type="http://schemas.openxmlformats.org/officeDocument/2006/relationships/slide" Target="slides/slide22.xml" /><Relationship Id="rId3" Type="http://schemas.openxmlformats.org/officeDocument/2006/relationships/customXml" Target="../customXml/item3.xml" /><Relationship Id="rId21" Type="http://schemas.openxmlformats.org/officeDocument/2006/relationships/slide" Target="slides/slide17.xml" /><Relationship Id="rId34" Type="http://schemas.openxmlformats.org/officeDocument/2006/relationships/viewProps" Target="view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5" Type="http://schemas.openxmlformats.org/officeDocument/2006/relationships/slide" Target="slides/slide21.xml" /><Relationship Id="rId33" Type="http://schemas.openxmlformats.org/officeDocument/2006/relationships/presProps" Target="presProps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slide" Target="slides/slide16.xml" /><Relationship Id="rId29" Type="http://schemas.openxmlformats.org/officeDocument/2006/relationships/slide" Target="slides/slide25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slide" Target="slides/slide20.xml" /><Relationship Id="rId32" Type="http://schemas.openxmlformats.org/officeDocument/2006/relationships/slide" Target="slides/slide28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slide" Target="slides/slide19.xml" /><Relationship Id="rId28" Type="http://schemas.openxmlformats.org/officeDocument/2006/relationships/slide" Target="slides/slide24.xml" /><Relationship Id="rId36" Type="http://schemas.openxmlformats.org/officeDocument/2006/relationships/tableStyles" Target="tableStyles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31" Type="http://schemas.openxmlformats.org/officeDocument/2006/relationships/slide" Target="slides/slide27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slide" Target="slides/slide18.xml" /><Relationship Id="rId27" Type="http://schemas.openxmlformats.org/officeDocument/2006/relationships/slide" Target="slides/slide23.xml" /><Relationship Id="rId30" Type="http://schemas.openxmlformats.org/officeDocument/2006/relationships/slide" Target="slides/slide26.xml" /><Relationship Id="rId35" Type="http://schemas.openxmlformats.org/officeDocument/2006/relationships/theme" Target="theme/theme1.xml" 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 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 /><Relationship Id="rId2" Type="http://schemas.openxmlformats.org/officeDocument/2006/relationships/image" Target="../media/image16.wmf" /><Relationship Id="rId1" Type="http://schemas.openxmlformats.org/officeDocument/2006/relationships/image" Target="../media/image15.wmf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8/27/2023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1.vml" /><Relationship Id="rId4" Type="http://schemas.openxmlformats.org/officeDocument/2006/relationships/image" Target="../media/image14.wmf" 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 /><Relationship Id="rId3" Type="http://schemas.openxmlformats.org/officeDocument/2006/relationships/oleObject" Target="../embeddings/oleObject2.bin" /><Relationship Id="rId7" Type="http://schemas.openxmlformats.org/officeDocument/2006/relationships/oleObject" Target="../embeddings/oleObject4.bin" /><Relationship Id="rId2" Type="http://schemas.openxmlformats.org/officeDocument/2006/relationships/slideLayout" Target="../slideLayouts/slideLayout2.xml" /><Relationship Id="rId1" Type="http://schemas.openxmlformats.org/officeDocument/2006/relationships/vmlDrawing" Target="../drawings/vmlDrawing2.vml" /><Relationship Id="rId6" Type="http://schemas.openxmlformats.org/officeDocument/2006/relationships/image" Target="../media/image16.wmf" /><Relationship Id="rId5" Type="http://schemas.openxmlformats.org/officeDocument/2006/relationships/oleObject" Target="../embeddings/oleObject3.bin" /><Relationship Id="rId4" Type="http://schemas.openxmlformats.org/officeDocument/2006/relationships/image" Target="../media/image15.wmf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0.png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 /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1.pn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 /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4.pn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 /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F0D8-29AF-D971-D0A3-570BD41E12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operators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690E4-5E7C-0736-3EAD-85C6DD2563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Gradient, divergence, curl problem solving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9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2859-4161-4896-946C-E143C158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19C7-FFB2-DF80-B192-C27D25D03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gradient of any line or curve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tells us the rate of change of one variable with respect to another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This is a vital concept in all mathematical sciences.</a:t>
            </a:r>
            <a:endParaRPr lang="en-US" b="1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Gradient is a measure of how steep a slope is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The greater the gradient the steeper a slope is.</a:t>
            </a:r>
          </a:p>
          <a:p>
            <a:pPr algn="l"/>
            <a:r>
              <a:rPr lang="en-US" dirty="0">
                <a:solidFill>
                  <a:srgbClr val="202124"/>
                </a:solidFill>
                <a:latin typeface="arial" panose="020B0604020202020204" pitchFamily="34" charset="0"/>
              </a:rPr>
              <a:t>G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radient, in mathematics, a differential operator applied to a three-dimensional vector-valued function to yield a vector whose three components are the partial derivatives of the function with respect to its three variables. The symbol for gradient is ∇.</a:t>
            </a:r>
          </a:p>
          <a:p>
            <a:b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92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3F04-366C-8A94-EF7A-61C775B0A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Scalar and vector field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6B9FF9-60FF-E2BF-EE67-CE71EC82F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hangingPunct="0">
              <a:lnSpc>
                <a:spcPts val="3000"/>
              </a:lnSpc>
              <a:spcBef>
                <a:spcPct val="20000"/>
              </a:spcBef>
              <a:buClr>
                <a:schemeClr val="bg2"/>
              </a:buClr>
              <a:buSzPct val="75000"/>
              <a:tabLst>
                <a:tab pos="566738" algn="l"/>
                <a:tab pos="1258888" algn="l"/>
                <a:tab pos="1941513" algn="l"/>
              </a:tabLst>
              <a:defRPr/>
            </a:pPr>
            <a:r>
              <a:rPr lang="en-US" altLang="en-US" sz="2400" u="sng" kern="0" dirty="0">
                <a:latin typeface="+mn-lt"/>
                <a:cs typeface="+mn-cs"/>
              </a:rPr>
              <a:t>FIELD</a:t>
            </a:r>
            <a:r>
              <a:rPr lang="en-US" altLang="en-US" sz="2400" kern="0" dirty="0">
                <a:latin typeface="+mn-lt"/>
                <a:cs typeface="+mn-cs"/>
              </a:rPr>
              <a:t> is a description of how a physical quantity varies from one point to another in the region of the field (and with time).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tabLst>
                <a:tab pos="566738" algn="l"/>
                <a:tab pos="1258888" algn="l"/>
                <a:tab pos="1941513" algn="l"/>
              </a:tabLst>
              <a:defRPr/>
            </a:pPr>
            <a:r>
              <a:rPr lang="en-US" altLang="en-US" sz="2400" b="1" kern="0" dirty="0">
                <a:latin typeface="+mn-lt"/>
                <a:cs typeface="+mn-cs"/>
              </a:rPr>
              <a:t>	(a)</a:t>
            </a:r>
            <a:r>
              <a:rPr lang="en-US" altLang="en-US" sz="2400" kern="0" dirty="0">
                <a:latin typeface="+mn-lt"/>
                <a:cs typeface="+mn-cs"/>
              </a:rPr>
              <a:t>	</a:t>
            </a:r>
            <a:r>
              <a:rPr lang="en-US" altLang="en-US" sz="2400" u="sng" kern="0" dirty="0">
                <a:latin typeface="+mn-lt"/>
                <a:cs typeface="+mn-cs"/>
              </a:rPr>
              <a:t>Scalar fields</a:t>
            </a:r>
            <a:endParaRPr lang="en-US" altLang="en-US" sz="2400" kern="0" dirty="0">
              <a:latin typeface="+mn-lt"/>
              <a:cs typeface="+mn-cs"/>
            </a:endParaRP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tabLst>
                <a:tab pos="566738" algn="l"/>
                <a:tab pos="1258888" algn="l"/>
                <a:tab pos="1941513" algn="l"/>
              </a:tabLst>
              <a:defRPr/>
            </a:pPr>
            <a:r>
              <a:rPr lang="en-US" altLang="en-US" sz="2400" kern="0" dirty="0">
                <a:latin typeface="+mn-lt"/>
                <a:cs typeface="+mn-cs"/>
              </a:rPr>
              <a:t>		Ex:	Depth of a lake, </a:t>
            </a:r>
            <a:r>
              <a:rPr lang="en-US" altLang="en-US" sz="2400" i="1" kern="0" dirty="0">
                <a:latin typeface="+mn-lt"/>
                <a:cs typeface="+mn-cs"/>
              </a:rPr>
              <a:t>d</a:t>
            </a:r>
            <a:r>
              <a:rPr lang="en-US" altLang="en-US" sz="2400" kern="0" dirty="0">
                <a:latin typeface="+mn-lt"/>
                <a:cs typeface="+mn-cs"/>
              </a:rPr>
              <a:t>(</a:t>
            </a:r>
            <a:r>
              <a:rPr lang="en-US" altLang="en-US" sz="2400" i="1" kern="0" dirty="0">
                <a:latin typeface="+mn-lt"/>
                <a:cs typeface="+mn-cs"/>
              </a:rPr>
              <a:t>x</a:t>
            </a:r>
            <a:r>
              <a:rPr lang="en-US" altLang="en-US" sz="2400" kern="0" dirty="0">
                <a:latin typeface="+mn-lt"/>
                <a:cs typeface="+mn-cs"/>
              </a:rPr>
              <a:t>, </a:t>
            </a:r>
            <a:r>
              <a:rPr lang="en-US" altLang="en-US" sz="2400" i="1" kern="0" dirty="0">
                <a:latin typeface="+mn-lt"/>
                <a:cs typeface="+mn-cs"/>
              </a:rPr>
              <a:t>y</a:t>
            </a:r>
            <a:r>
              <a:rPr lang="en-US" altLang="en-US" sz="2400" kern="0" dirty="0">
                <a:latin typeface="+mn-lt"/>
                <a:cs typeface="+mn-cs"/>
              </a:rPr>
              <a:t>)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tabLst>
                <a:tab pos="566738" algn="l"/>
                <a:tab pos="1258888" algn="l"/>
                <a:tab pos="1941513" algn="l"/>
              </a:tabLst>
              <a:defRPr/>
            </a:pPr>
            <a:r>
              <a:rPr lang="en-US" altLang="en-US" sz="2400" kern="0" dirty="0">
                <a:latin typeface="+mn-lt"/>
                <a:cs typeface="+mn-cs"/>
              </a:rPr>
              <a:t>		Temperature in a room, </a:t>
            </a:r>
            <a:r>
              <a:rPr lang="en-US" altLang="en-US" sz="2400" i="1" kern="0" dirty="0">
                <a:latin typeface="+mn-lt"/>
                <a:cs typeface="+mn-cs"/>
              </a:rPr>
              <a:t>T</a:t>
            </a:r>
            <a:r>
              <a:rPr lang="en-US" altLang="en-US" sz="2400" kern="0" dirty="0">
                <a:latin typeface="+mn-lt"/>
                <a:cs typeface="+mn-cs"/>
              </a:rPr>
              <a:t>(</a:t>
            </a:r>
            <a:r>
              <a:rPr lang="en-US" altLang="en-US" sz="2400" i="1" kern="0" dirty="0">
                <a:latin typeface="+mn-lt"/>
                <a:cs typeface="+mn-cs"/>
              </a:rPr>
              <a:t>x</a:t>
            </a:r>
            <a:r>
              <a:rPr lang="en-US" altLang="en-US" sz="2400" kern="0" dirty="0">
                <a:latin typeface="+mn-lt"/>
                <a:cs typeface="+mn-cs"/>
              </a:rPr>
              <a:t>, </a:t>
            </a:r>
            <a:r>
              <a:rPr lang="en-US" altLang="en-US" sz="2400" i="1" kern="0" dirty="0">
                <a:latin typeface="+mn-lt"/>
                <a:cs typeface="+mn-cs"/>
              </a:rPr>
              <a:t>y</a:t>
            </a:r>
            <a:r>
              <a:rPr lang="en-US" altLang="en-US" sz="2400" kern="0" dirty="0">
                <a:latin typeface="+mn-lt"/>
                <a:cs typeface="+mn-cs"/>
              </a:rPr>
              <a:t>, </a:t>
            </a:r>
            <a:r>
              <a:rPr lang="en-US" altLang="en-US" sz="2400" i="1" kern="0" dirty="0">
                <a:latin typeface="+mn-lt"/>
                <a:cs typeface="+mn-cs"/>
              </a:rPr>
              <a:t>z</a:t>
            </a:r>
            <a:r>
              <a:rPr lang="en-US" altLang="en-US" sz="2400" kern="0" dirty="0">
                <a:latin typeface="+mn-lt"/>
                <a:cs typeface="+mn-cs"/>
              </a:rPr>
              <a:t>)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  <a:buSzPct val="75000"/>
              <a:tabLst>
                <a:tab pos="566738" algn="l"/>
                <a:tab pos="1258888" algn="l"/>
                <a:tab pos="1941513" algn="l"/>
              </a:tabLst>
              <a:defRPr/>
            </a:pPr>
            <a:r>
              <a:rPr lang="en-US" sz="2000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A scalar field is an assignment of a scalar to each point in region in the space</a:t>
            </a:r>
            <a:r>
              <a:rPr lang="en-US" sz="20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E.g. the temperature at a point on the earth is a scalar field. A vector field is an assignment of a vector to each point in a region in the space.</a:t>
            </a:r>
            <a:endParaRPr lang="en-US" altLang="en-US" sz="2400" kern="0" dirty="0">
              <a:latin typeface="+mn-lt"/>
              <a:cs typeface="+mn-cs"/>
            </a:endParaRPr>
          </a:p>
          <a:p>
            <a:pPr eaLnBrk="0" hangingPunct="0">
              <a:lnSpc>
                <a:spcPts val="12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tabLst>
                <a:tab pos="566738" algn="l"/>
                <a:tab pos="1258888" algn="l"/>
                <a:tab pos="1941513" algn="l"/>
              </a:tabLst>
              <a:defRPr/>
            </a:pPr>
            <a:endParaRPr lang="en-US" altLang="en-US" sz="2400" kern="0" dirty="0">
              <a:latin typeface="+mn-lt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691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86532B-5A3E-44A5-A0C2-22A0DB316C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5664F-881F-E061-6AA6-C3AC70A57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64" y="609600"/>
            <a:ext cx="6993914" cy="1356360"/>
          </a:xfrm>
        </p:spPr>
        <p:txBody>
          <a:bodyPr>
            <a:normAutofit/>
          </a:bodyPr>
          <a:lstStyle/>
          <a:p>
            <a:r>
              <a:rPr lang="en-GB"/>
              <a:t>Vector field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034C0-D250-E60E-3E75-EDF3D0316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064" y="2057400"/>
            <a:ext cx="6993914" cy="4038600"/>
          </a:xfrm>
        </p:spPr>
        <p:txBody>
          <a:bodyPr>
            <a:normAutofit/>
          </a:bodyPr>
          <a:lstStyle/>
          <a:p>
            <a:r>
              <a:rPr lang="en-US" b="0" i="0">
                <a:effectLst/>
                <a:latin typeface="arial" panose="020B0604020202020204" pitchFamily="34" charset="0"/>
              </a:rPr>
              <a:t>In vector calculus and physics, a vector field is </a:t>
            </a:r>
            <a:r>
              <a:rPr lang="en-US" b="1" i="0">
                <a:effectLst/>
                <a:latin typeface="arial" panose="020B0604020202020204" pitchFamily="34" charset="0"/>
              </a:rPr>
              <a:t>an assignment of a vector to each point in a subset of space</a:t>
            </a:r>
            <a:r>
              <a:rPr lang="en-US" b="0" i="0">
                <a:effectLst/>
                <a:latin typeface="arial" panose="020B0604020202020204" pitchFamily="34" charset="0"/>
              </a:rPr>
              <a:t>. For instance, a vector field in the plane can be </a:t>
            </a:r>
            <a:r>
              <a:rPr lang="en-US" b="0" i="0" err="1">
                <a:effectLst/>
                <a:latin typeface="arial" panose="020B0604020202020204" pitchFamily="34" charset="0"/>
              </a:rPr>
              <a:t>visualised</a:t>
            </a:r>
            <a:r>
              <a:rPr lang="en-US" b="0" i="0">
                <a:effectLst/>
                <a:latin typeface="arial" panose="020B0604020202020204" pitchFamily="34" charset="0"/>
              </a:rPr>
              <a:t> as a collection of arrows with a given magnitude and direction, each attached to a point in the plane.</a:t>
            </a:r>
            <a:endParaRPr lang="en-PK" b="0" i="0">
              <a:effectLst/>
              <a:latin typeface="arial" panose="020B0604020202020204" pitchFamily="34" charset="0"/>
            </a:endParaRPr>
          </a:p>
          <a:p>
            <a:br>
              <a:rPr lang="en-US" b="0" i="0"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FAE2B835-3809-2F10-27F6-E548892EB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610" y="2527606"/>
            <a:ext cx="3135414" cy="180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855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1">
            <a:extLst>
              <a:ext uri="{FF2B5EF4-FFF2-40B4-BE49-F238E27FC236}">
                <a16:creationId xmlns:a16="http://schemas.microsoft.com/office/drawing/2014/main" id="{91A1D3FC-375B-AA84-D094-341877C664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0985C6-BBB1-4C91-B850-7B6F92F60D26}" type="slidenum">
              <a:rPr lang="en-US" altLang="en-US">
                <a:latin typeface="Arial Black" panose="020B0A04020102020204" pitchFamily="34" charset="0"/>
              </a:rPr>
              <a:pPr eaLnBrk="1" hangingPunct="1"/>
              <a:t>5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57345" name="Rectangle 1">
            <a:extLst>
              <a:ext uri="{FF2B5EF4-FFF2-40B4-BE49-F238E27FC236}">
                <a16:creationId xmlns:a16="http://schemas.microsoft.com/office/drawing/2014/main" id="{9177EE9E-5C2B-271B-C143-26E6C1AC7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228600"/>
            <a:ext cx="9144000" cy="637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buFont typeface="Arial" panose="020B0604020202020204" pitchFamily="34" charset="0"/>
              <a:buAutoNum type="arabicPeriod"/>
            </a:pPr>
            <a:endParaRPr lang="en-CA" altLang="en-US" sz="240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endParaRPr lang="en-CA" altLang="en-US" sz="240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endParaRPr lang="en-CA" altLang="en-US" sz="240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CA" altLang="en-US" sz="2400">
                <a:cs typeface="Times New Roman" panose="02020603050405020304" pitchFamily="18" charset="0"/>
              </a:rPr>
              <a:t>A field is a quantity which can be specified everywhere in space as a function of position. 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CA" altLang="en-US" sz="240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CA" altLang="en-US" sz="2400">
                <a:cs typeface="Times New Roman" panose="02020603050405020304" pitchFamily="18" charset="0"/>
              </a:rPr>
              <a:t>The quantity that is specified may be a scalar or a vector. 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CA" altLang="en-US" sz="240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CA" altLang="en-US" sz="2400">
                <a:cs typeface="Times New Roman" panose="02020603050405020304" pitchFamily="18" charset="0"/>
              </a:rPr>
              <a:t>For instance, we can specify the temperature at every point in a room. 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CA" altLang="en-US" sz="240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CA" altLang="en-US" sz="2400">
                <a:cs typeface="Times New Roman" panose="02020603050405020304" pitchFamily="18" charset="0"/>
              </a:rPr>
              <a:t>The room may, therefore, be said to be a region of “temperature field” which is a scalar field because the temperature </a:t>
            </a:r>
            <a:r>
              <a:rPr lang="en-CA" altLang="en-US" sz="2400" b="1">
                <a:cs typeface="Times New Roman" panose="02020603050405020304" pitchFamily="18" charset="0"/>
              </a:rPr>
              <a:t>T</a:t>
            </a:r>
            <a:r>
              <a:rPr lang="en-CA" altLang="en-US" sz="2400">
                <a:cs typeface="Times New Roman" panose="02020603050405020304" pitchFamily="18" charset="0"/>
              </a:rPr>
              <a:t> </a:t>
            </a:r>
            <a:r>
              <a:rPr lang="en-CA" altLang="en-US" sz="2400" b="1">
                <a:cs typeface="Times New Roman" panose="02020603050405020304" pitchFamily="18" charset="0"/>
              </a:rPr>
              <a:t>(x, y, z)</a:t>
            </a:r>
            <a:r>
              <a:rPr lang="en-CA" altLang="en-US" sz="2400">
                <a:cs typeface="Times New Roman" panose="02020603050405020304" pitchFamily="18" charset="0"/>
              </a:rPr>
              <a:t> is a scalar function of the position. 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CA" altLang="en-US" sz="240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AutoNum type="arabicPeriod"/>
            </a:pPr>
            <a:r>
              <a:rPr lang="en-CA" altLang="en-US" sz="2400">
                <a:cs typeface="Times New Roman" panose="02020603050405020304" pitchFamily="18" charset="0"/>
              </a:rPr>
              <a:t>An example of a scalar field in electromagnetism is the </a:t>
            </a:r>
            <a:r>
              <a:rPr lang="en-CA" altLang="en-US" sz="2400" i="1">
                <a:cs typeface="Times New Roman" panose="02020603050405020304" pitchFamily="18" charset="0"/>
              </a:rPr>
              <a:t>electric potential.</a:t>
            </a:r>
            <a:endParaRPr lang="en-CA" altLang="en-US" sz="2400"/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57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573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7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7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73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73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73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73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73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73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73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73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73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73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73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73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73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>
            <a:extLst>
              <a:ext uri="{FF2B5EF4-FFF2-40B4-BE49-F238E27FC236}">
                <a16:creationId xmlns:a16="http://schemas.microsoft.com/office/drawing/2014/main" id="{4C4FB47A-03E9-8F1D-B80B-DFAE740961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BAE6524-E749-4131-8179-35F58AC7D316}" type="slidenum">
              <a:rPr lang="en-US" altLang="en-US">
                <a:latin typeface="Arial Black" panose="020B0A04020102020204" pitchFamily="34" charset="0"/>
              </a:rPr>
              <a:pPr eaLnBrk="1" hangingPunct="1"/>
              <a:t>6</a:t>
            </a:fld>
            <a:endParaRPr lang="en-US" altLang="en-US">
              <a:latin typeface="Arial Black" panose="020B0A04020102020204" pitchFamily="34" charset="0"/>
            </a:endParaRPr>
          </a:p>
        </p:txBody>
      </p:sp>
      <p:pic>
        <p:nvPicPr>
          <p:cNvPr id="287749" name="Picture 5">
            <a:extLst>
              <a:ext uri="{FF2B5EF4-FFF2-40B4-BE49-F238E27FC236}">
                <a16:creationId xmlns:a16="http://schemas.microsoft.com/office/drawing/2014/main" id="{139F0456-3275-2C82-CAE0-8C1FFD0BE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89" y="3986214"/>
            <a:ext cx="24288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751" name="Picture 7">
            <a:extLst>
              <a:ext uri="{FF2B5EF4-FFF2-40B4-BE49-F238E27FC236}">
                <a16:creationId xmlns:a16="http://schemas.microsoft.com/office/drawing/2014/main" id="{136FFBAE-AA86-1FF7-F3EC-10B0316FD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14" y="4035426"/>
            <a:ext cx="3717925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754" name="Rectangle 10">
            <a:extLst>
              <a:ext uri="{FF2B5EF4-FFF2-40B4-BE49-F238E27FC236}">
                <a16:creationId xmlns:a16="http://schemas.microsoft.com/office/drawing/2014/main" id="{AE9014F6-52DE-94B3-FD34-B2DEF4E89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9213" y="6237288"/>
            <a:ext cx="3579812" cy="40005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The flow </a:t>
            </a:r>
            <a:r>
              <a:rPr lang="en-US" sz="2000" dirty="0">
                <a:latin typeface="Arial" charset="0"/>
                <a:cs typeface="Arial" charset="0"/>
              </a:rPr>
              <a:t>field</a:t>
            </a:r>
            <a:r>
              <a:rPr lang="en-US" dirty="0">
                <a:latin typeface="Arial" charset="0"/>
                <a:cs typeface="Arial" charset="0"/>
              </a:rPr>
              <a:t> around an airplane</a:t>
            </a:r>
          </a:p>
        </p:txBody>
      </p:sp>
      <p:sp>
        <p:nvSpPr>
          <p:cNvPr id="287755" name="Rectangle 11">
            <a:extLst>
              <a:ext uri="{FF2B5EF4-FFF2-40B4-BE49-F238E27FC236}">
                <a16:creationId xmlns:a16="http://schemas.microsoft.com/office/drawing/2014/main" id="{0BFF5DDD-7136-876F-8252-CE6AED3C2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6" y="3243264"/>
            <a:ext cx="3870325" cy="708025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charset="0"/>
                <a:cs typeface="Arial" charset="0"/>
              </a:rPr>
              <a:t>Electric field surrounding a positive and a negative charge.</a:t>
            </a:r>
          </a:p>
        </p:txBody>
      </p:sp>
      <p:sp>
        <p:nvSpPr>
          <p:cNvPr id="287756" name="Rectangle 12">
            <a:extLst>
              <a:ext uri="{FF2B5EF4-FFF2-40B4-BE49-F238E27FC236}">
                <a16:creationId xmlns:a16="http://schemas.microsoft.com/office/drawing/2014/main" id="{B0753F7D-B0A4-2079-F2CF-997ED6752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57950"/>
            <a:ext cx="1741488" cy="40005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000" dirty="0">
                <a:latin typeface="Arial" charset="0"/>
                <a:cs typeface="Arial" charset="0"/>
              </a:rPr>
              <a:t>Hurricane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1C921130-D9CE-7492-9DAA-ABCE6352AE20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1076325"/>
            <a:ext cx="3035300" cy="2141538"/>
            <a:chOff x="537" y="678"/>
            <a:chExt cx="1912" cy="1349"/>
          </a:xfrm>
        </p:grpSpPr>
        <p:pic>
          <p:nvPicPr>
            <p:cNvPr id="66572" name="Picture 14">
              <a:extLst>
                <a:ext uri="{FF2B5EF4-FFF2-40B4-BE49-F238E27FC236}">
                  <a16:creationId xmlns:a16="http://schemas.microsoft.com/office/drawing/2014/main" id="{C37EF63C-311F-4504-86C8-907B389DDB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" y="678"/>
              <a:ext cx="1912" cy="1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573" name="Oval 15">
              <a:extLst>
                <a:ext uri="{FF2B5EF4-FFF2-40B4-BE49-F238E27FC236}">
                  <a16:creationId xmlns:a16="http://schemas.microsoft.com/office/drawing/2014/main" id="{4D6CD089-1391-FE8B-E3C8-37A8FD660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1252"/>
              <a:ext cx="143" cy="144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+</a:t>
              </a:r>
            </a:p>
          </p:txBody>
        </p:sp>
        <p:sp>
          <p:nvSpPr>
            <p:cNvPr id="66574" name="Oval 17">
              <a:extLst>
                <a:ext uri="{FF2B5EF4-FFF2-40B4-BE49-F238E27FC236}">
                  <a16:creationId xmlns:a16="http://schemas.microsoft.com/office/drawing/2014/main" id="{ED96C1DA-EB74-39EB-AB13-6BBF65BFD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1252"/>
              <a:ext cx="143" cy="144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/>
                <a:t>−</a:t>
              </a:r>
            </a:p>
          </p:txBody>
        </p:sp>
      </p:grpSp>
      <p:pic>
        <p:nvPicPr>
          <p:cNvPr id="287762" name="Picture 18">
            <a:extLst>
              <a:ext uri="{FF2B5EF4-FFF2-40B4-BE49-F238E27FC236}">
                <a16:creationId xmlns:a16="http://schemas.microsoft.com/office/drawing/2014/main" id="{32437C41-CB29-B861-5603-93A8635CB3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7813" y="1152525"/>
            <a:ext cx="3187700" cy="214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7763" name="Rectangle 19">
            <a:extLst>
              <a:ext uri="{FF2B5EF4-FFF2-40B4-BE49-F238E27FC236}">
                <a16:creationId xmlns:a16="http://schemas.microsoft.com/office/drawing/2014/main" id="{8AA00FB5-87C7-63BD-F4BB-749D20E4F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3276601"/>
            <a:ext cx="4037013" cy="708025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Arial" charset="0"/>
                <a:cs typeface="Arial" charset="0"/>
              </a:rPr>
              <a:t>Magnetic field lines shown by iron filings</a:t>
            </a:r>
          </a:p>
        </p:txBody>
      </p:sp>
      <p:sp>
        <p:nvSpPr>
          <p:cNvPr id="287764" name="Rectangle 20">
            <a:extLst>
              <a:ext uri="{FF2B5EF4-FFF2-40B4-BE49-F238E27FC236}">
                <a16:creationId xmlns:a16="http://schemas.microsoft.com/office/drawing/2014/main" id="{C5D2F2CE-06CD-29A5-268C-0E3AF6C42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25675" y="469901"/>
            <a:ext cx="8229600" cy="606425"/>
          </a:xfrm>
          <a:solidFill>
            <a:schemeClr val="accent3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/>
              <a:t>Physical examples of vector fields:</a:t>
            </a: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776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77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2877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7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 decel="100000"/>
                                        <p:tgtEl>
                                          <p:spTgt spid="2877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7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800" decel="100000"/>
                                        <p:tgtEl>
                                          <p:spTgt spid="2877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7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800" decel="100000"/>
                                        <p:tgtEl>
                                          <p:spTgt spid="287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7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7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87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54" grpId="0" animBg="1"/>
      <p:bldP spid="287755" grpId="0" animBg="1"/>
      <p:bldP spid="287756" grpId="0" animBg="1"/>
      <p:bldP spid="287763" grpId="0" animBg="1"/>
      <p:bldP spid="287764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>
            <a:extLst>
              <a:ext uri="{FF2B5EF4-FFF2-40B4-BE49-F238E27FC236}">
                <a16:creationId xmlns:a16="http://schemas.microsoft.com/office/drawing/2014/main" id="{FDF4E7A5-456F-DA54-5652-211C7754EB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AC9FD27-1B75-4FFB-B279-4BCCC405931E}" type="slidenum">
              <a:rPr lang="en-US" altLang="en-US">
                <a:latin typeface="Arial Black" panose="020B0A04020102020204" pitchFamily="34" charset="0"/>
              </a:rPr>
              <a:pPr eaLnBrk="1" hangingPunct="1"/>
              <a:t>7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528DEE61-3F1F-144D-C479-06F25CAF6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457201"/>
            <a:ext cx="8229600" cy="758825"/>
          </a:xfrm>
          <a:solidFill>
            <a:srgbClr val="FFFF99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Physical examples of scalar fields:</a:t>
            </a:r>
          </a:p>
        </p:txBody>
      </p:sp>
      <p:sp>
        <p:nvSpPr>
          <p:cNvPr id="237574" name="Rectangle 6">
            <a:extLst>
              <a:ext uri="{FF2B5EF4-FFF2-40B4-BE49-F238E27FC236}">
                <a16:creationId xmlns:a16="http://schemas.microsoft.com/office/drawing/2014/main" id="{EE9A13EE-6949-CD6A-A7AB-1B5E31B92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643438"/>
            <a:ext cx="4419600" cy="8429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 sz="2400"/>
              <a:t>Electric potential around a charge</a:t>
            </a:r>
          </a:p>
        </p:txBody>
      </p:sp>
      <p:sp>
        <p:nvSpPr>
          <p:cNvPr id="237575" name="Rectangle 7">
            <a:extLst>
              <a:ext uri="{FF2B5EF4-FFF2-40B4-BE49-F238E27FC236}">
                <a16:creationId xmlns:a16="http://schemas.microsoft.com/office/drawing/2014/main" id="{871D028D-E149-C680-2224-3BD0DE6B4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1" y="4643438"/>
            <a:ext cx="4175125" cy="84296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  <a:r>
              <a:rPr lang="en-US" altLang="en-US" sz="2400"/>
              <a:t>Temperature near a heated wall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51ED2CEF-D486-F95D-A1A4-64E5D270DC96}"/>
              </a:ext>
            </a:extLst>
          </p:cNvPr>
          <p:cNvGrpSpPr>
            <a:grpSpLocks/>
          </p:cNvGrpSpPr>
          <p:nvPr/>
        </p:nvGrpSpPr>
        <p:grpSpPr bwMode="auto">
          <a:xfrm>
            <a:off x="2376488" y="1219200"/>
            <a:ext cx="3567112" cy="3238500"/>
            <a:chOff x="537" y="965"/>
            <a:chExt cx="1865" cy="1843"/>
          </a:xfrm>
        </p:grpSpPr>
        <p:pic>
          <p:nvPicPr>
            <p:cNvPr id="65545" name="Picture 4">
              <a:extLst>
                <a:ext uri="{FF2B5EF4-FFF2-40B4-BE49-F238E27FC236}">
                  <a16:creationId xmlns:a16="http://schemas.microsoft.com/office/drawing/2014/main" id="{428AED01-2B97-219E-21B3-68D48CE395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" y="965"/>
              <a:ext cx="1865" cy="1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546" name="Oval 8">
              <a:extLst>
                <a:ext uri="{FF2B5EF4-FFF2-40B4-BE49-F238E27FC236}">
                  <a16:creationId xmlns:a16="http://schemas.microsoft.com/office/drawing/2014/main" id="{8386A226-C7CD-C667-1D61-510AD6589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1825"/>
              <a:ext cx="143" cy="14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b="1">
                  <a:solidFill>
                    <a:schemeClr val="bg1"/>
                  </a:solidFill>
                </a:rPr>
                <a:t>+</a:t>
              </a:r>
            </a:p>
          </p:txBody>
        </p:sp>
      </p:grpSp>
      <p:pic>
        <p:nvPicPr>
          <p:cNvPr id="237580" name="Picture 12">
            <a:extLst>
              <a:ext uri="{FF2B5EF4-FFF2-40B4-BE49-F238E27FC236}">
                <a16:creationId xmlns:a16="http://schemas.microsoft.com/office/drawing/2014/main" id="{F81B3D3E-6077-401B-D7BD-3B2BBC371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1" y="1243013"/>
            <a:ext cx="3109913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7581" name="Rectangle 13">
            <a:extLst>
              <a:ext uri="{FF2B5EF4-FFF2-40B4-BE49-F238E27FC236}">
                <a16:creationId xmlns:a16="http://schemas.microsoft.com/office/drawing/2014/main" id="{9A9A27F0-1FDC-136D-2DE3-4161D4A49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715001"/>
            <a:ext cx="7708900" cy="523875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sz="2800" dirty="0">
                <a:latin typeface="Arial" charset="0"/>
                <a:cs typeface="Arial" charset="0"/>
              </a:rPr>
              <a:t>(The darker region representing higher values )</a:t>
            </a: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7571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7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800" decel="100000"/>
                                        <p:tgtEl>
                                          <p:spTgt spid="2375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7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800" decel="100000"/>
                                        <p:tgtEl>
                                          <p:spTgt spid="2375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800" decel="100000" fill="hold"/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7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3758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71" grpId="0" build="p" animBg="1"/>
      <p:bldP spid="237574" grpId="0" animBg="1"/>
      <p:bldP spid="237575" grpId="0" animBg="1"/>
      <p:bldP spid="23758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7A3F-30C1-3D1E-2636-622B53FC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of scalar field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5B6DB-CC7C-A5BB-E741-76241B125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The gradient of a certain scalar field is the vector representing the direction and the magnitude of the maximal rate change and increase (in space) of that scalar field .</a:t>
            </a:r>
          </a:p>
          <a:p>
            <a:endParaRPr lang="en-US" dirty="0">
              <a:solidFill>
                <a:srgbClr val="282829"/>
              </a:solidFill>
              <a:latin typeface="-apple-system"/>
            </a:endParaRPr>
          </a:p>
          <a:p>
            <a:endParaRPr lang="en-US" b="0" i="0" dirty="0">
              <a:solidFill>
                <a:srgbClr val="282829"/>
              </a:solidFill>
              <a:effectLst/>
              <a:latin typeface="-apple-system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662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41B62A-FA12-9CA4-A111-F696DB1C6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043" y="565573"/>
            <a:ext cx="8310832" cy="57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81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B3D7F0-5D16-ED72-A90C-63AF7B18C1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140" y="236221"/>
            <a:ext cx="11724640" cy="638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19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80AA7B-2F94-FC4E-F5AC-AD3E2CA66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383" y="557953"/>
            <a:ext cx="10114671" cy="60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47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C02211-6F5C-9464-794E-DD02C3843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1827" y="565573"/>
            <a:ext cx="8643265" cy="57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8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9BC365-5CB0-170A-F44A-B598719E8F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009" y="243840"/>
            <a:ext cx="9678573" cy="605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706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175941-E32D-355F-FC29-31ECFF3AB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2240" y="593709"/>
            <a:ext cx="7882438" cy="57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918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4D62C162-00D6-0437-B4FB-7135C92201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112F3FC-7726-4374-AB19-E5ACA77EF437}" type="slidenum">
              <a:rPr lang="en-US" altLang="en-US">
                <a:latin typeface="Arial Black" panose="020B0A04020102020204" pitchFamily="34" charset="0"/>
              </a:rPr>
              <a:pPr eaLnBrk="1" hangingPunct="1"/>
              <a:t>15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20863004-E37B-0E2A-4831-C409DFFF2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rgbClr val="FFFF99"/>
          </a:solidFill>
        </p:spPr>
        <p:txBody>
          <a:bodyPr/>
          <a:lstStyle/>
          <a:p>
            <a:pPr eaLnBrk="1" hangingPunct="1"/>
            <a:r>
              <a:rPr lang="en-US" altLang="en-US"/>
              <a:t>Example 1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90D84C3A-1F26-3DF7-FA66-C45DEE20F2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99"/>
          </a:solidFill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If </a:t>
            </a:r>
            <a:r>
              <a:rPr lang="en-US" altLang="en-US" i="1">
                <a:latin typeface="Symbol" panose="05050102010706020507" pitchFamily="18" charset="2"/>
                <a:cs typeface="Times New Roman" panose="02020603050405020304" pitchFamily="18" charset="0"/>
              </a:rPr>
              <a:t>f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 = 3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/>
              <a:t>, find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grad</a:t>
            </a:r>
            <a:r>
              <a:rPr lang="en-US" altLang="en-US"/>
              <a:t> </a:t>
            </a:r>
            <a:r>
              <a:rPr lang="en-US" altLang="en-US" i="1">
                <a:latin typeface="Symbol" panose="05050102010706020507" pitchFamily="18" charset="2"/>
                <a:cs typeface="Times New Roman" panose="02020603050405020304" pitchFamily="18" charset="0"/>
              </a:rPr>
              <a:t>f</a:t>
            </a:r>
            <a:r>
              <a:rPr lang="en-US" altLang="en-US"/>
              <a:t> and         at the point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(1,2,−1)</a:t>
            </a:r>
            <a:r>
              <a:rPr lang="en-US" altLang="en-US"/>
              <a:t>.</a:t>
            </a:r>
          </a:p>
        </p:txBody>
      </p:sp>
      <p:graphicFrame>
        <p:nvGraphicFramePr>
          <p:cNvPr id="10242" name="Object 4">
            <a:extLst>
              <a:ext uri="{FF2B5EF4-FFF2-40B4-BE49-F238E27FC236}">
                <a16:creationId xmlns:a16="http://schemas.microsoft.com/office/drawing/2014/main" id="{FEE563F1-142D-2660-BAA8-8EC0DD2C6E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55101" y="2044701"/>
          <a:ext cx="720725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3" imgW="291960" imgH="253800" progId="Equation.3">
                  <p:embed/>
                </p:oleObj>
              </mc:Choice>
              <mc:Fallback>
                <p:oleObj name="Equation" r:id="rId3" imgW="291960" imgH="253800" progId="Equation.3">
                  <p:embed/>
                  <p:pic>
                    <p:nvPicPr>
                      <p:cNvPr id="10242" name="Object 4">
                        <a:extLst>
                          <a:ext uri="{FF2B5EF4-FFF2-40B4-BE49-F238E27FC236}">
                            <a16:creationId xmlns:a16="http://schemas.microsoft.com/office/drawing/2014/main" id="{FEE563F1-142D-2660-BAA8-8EC0DD2C6E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5101" y="2044701"/>
                        <a:ext cx="720725" cy="625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285F076A-9EED-D1EA-50B6-0E6E03597E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BFC4FB4-418B-465A-83B2-BB8FE8D0D7EF}" type="slidenum">
              <a:rPr lang="en-US" altLang="en-US">
                <a:latin typeface="Arial Black" panose="020B0A04020102020204" pitchFamily="34" charset="0"/>
              </a:rPr>
              <a:pPr eaLnBrk="1" hangingPunct="1"/>
              <a:t>16</a:t>
            </a:fld>
            <a:endParaRPr lang="en-US" altLang="en-US">
              <a:latin typeface="Arial Black" panose="020B0A04020102020204" pitchFamily="34" charset="0"/>
            </a:endParaRPr>
          </a:p>
        </p:txBody>
      </p:sp>
      <p:sp>
        <p:nvSpPr>
          <p:cNvPr id="11270" name="Rectangle 2">
            <a:extLst>
              <a:ext uri="{FF2B5EF4-FFF2-40B4-BE49-F238E27FC236}">
                <a16:creationId xmlns:a16="http://schemas.microsoft.com/office/drawing/2014/main" id="{35F67E6B-57F1-4089-82D7-E049091EE7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solidFill>
            <a:srgbClr val="FFFF99"/>
          </a:solidFill>
        </p:spPr>
        <p:txBody>
          <a:bodyPr/>
          <a:lstStyle/>
          <a:p>
            <a:pPr eaLnBrk="1" hangingPunct="1"/>
            <a:r>
              <a:rPr lang="en-US" altLang="en-US"/>
              <a:t>Solution</a:t>
            </a:r>
          </a:p>
        </p:txBody>
      </p:sp>
      <p:graphicFrame>
        <p:nvGraphicFramePr>
          <p:cNvPr id="247814" name="Object 6">
            <a:extLst>
              <a:ext uri="{FF2B5EF4-FFF2-40B4-BE49-F238E27FC236}">
                <a16:creationId xmlns:a16="http://schemas.microsoft.com/office/drawing/2014/main" id="{C8AD7DDF-25A6-D231-22AC-8153D742D1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2851" y="1682750"/>
          <a:ext cx="6164263" cy="169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3" imgW="2501640" imgH="685800" progId="Equation.3">
                  <p:embed/>
                </p:oleObj>
              </mc:Choice>
              <mc:Fallback>
                <p:oleObj name="Equation" r:id="rId3" imgW="2501640" imgH="685800" progId="Equation.3">
                  <p:embed/>
                  <p:pic>
                    <p:nvPicPr>
                      <p:cNvPr id="247814" name="Object 6">
                        <a:extLst>
                          <a:ext uri="{FF2B5EF4-FFF2-40B4-BE49-F238E27FC236}">
                            <a16:creationId xmlns:a16="http://schemas.microsoft.com/office/drawing/2014/main" id="{C8AD7DDF-25A6-D231-22AC-8153D742D1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851" y="1682750"/>
                        <a:ext cx="6164263" cy="169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9">
            <a:extLst>
              <a:ext uri="{FF2B5EF4-FFF2-40B4-BE49-F238E27FC236}">
                <a16:creationId xmlns:a16="http://schemas.microsoft.com/office/drawing/2014/main" id="{22AA7103-2B20-6922-F692-C901CE050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3863" y="3656013"/>
            <a:ext cx="8229600" cy="3886200"/>
          </a:xfrm>
          <a:noFill/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At the point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(1,2,−1)</a:t>
            </a:r>
            <a:r>
              <a:rPr lang="en-US" altLang="en-US"/>
              <a:t>,</a:t>
            </a:r>
          </a:p>
        </p:txBody>
      </p:sp>
      <p:graphicFrame>
        <p:nvGraphicFramePr>
          <p:cNvPr id="247818" name="Object 10">
            <a:extLst>
              <a:ext uri="{FF2B5EF4-FFF2-40B4-BE49-F238E27FC236}">
                <a16:creationId xmlns:a16="http://schemas.microsoft.com/office/drawing/2014/main" id="{7724AC2B-B84A-05A3-66B0-63B899BFB0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1875" y="4502151"/>
          <a:ext cx="72580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5" imgW="2946240" imgH="457200" progId="Equation.3">
                  <p:embed/>
                </p:oleObj>
              </mc:Choice>
              <mc:Fallback>
                <p:oleObj name="Equation" r:id="rId5" imgW="2946240" imgH="457200" progId="Equation.3">
                  <p:embed/>
                  <p:pic>
                    <p:nvPicPr>
                      <p:cNvPr id="247818" name="Object 10">
                        <a:extLst>
                          <a:ext uri="{FF2B5EF4-FFF2-40B4-BE49-F238E27FC236}">
                            <a16:creationId xmlns:a16="http://schemas.microsoft.com/office/drawing/2014/main" id="{7724AC2B-B84A-05A3-66B0-63B899BFB0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1875" y="4502151"/>
                        <a:ext cx="72580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7819" name="Object 11">
            <a:extLst>
              <a:ext uri="{FF2B5EF4-FFF2-40B4-BE49-F238E27FC236}">
                <a16:creationId xmlns:a16="http://schemas.microsoft.com/office/drawing/2014/main" id="{60077D1C-61E7-C246-9364-170490BE16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0063" y="5705475"/>
          <a:ext cx="8070850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7" imgW="3276360" imgH="317160" progId="Equation.3">
                  <p:embed/>
                </p:oleObj>
              </mc:Choice>
              <mc:Fallback>
                <p:oleObj name="Equation" r:id="rId7" imgW="3276360" imgH="317160" progId="Equation.3">
                  <p:embed/>
                  <p:pic>
                    <p:nvPicPr>
                      <p:cNvPr id="247819" name="Object 11">
                        <a:extLst>
                          <a:ext uri="{FF2B5EF4-FFF2-40B4-BE49-F238E27FC236}">
                            <a16:creationId xmlns:a16="http://schemas.microsoft.com/office/drawing/2014/main" id="{60077D1C-61E7-C246-9364-170490BE16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0063" y="5705475"/>
                        <a:ext cx="8070850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0" decel="100000"/>
                                        <p:tgtEl>
                                          <p:spTgt spid="2478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600" decel="1000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00" decel="1000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600" decel="100000" fill="hold"/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accel="1000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accel="1000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47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0" decel="100000"/>
                                        <p:tgtEl>
                                          <p:spTgt spid="2478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600" decel="100000" fill="hold"/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00" decel="100000" fill="hold"/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00" decel="100000" fill="hold"/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accel="1000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accel="1000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47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600" decel="100000"/>
                                        <p:tgtEl>
                                          <p:spTgt spid="2478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600" decel="100000" fill="hold"/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00" decel="100000" fill="hold"/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600" decel="100000" fill="hold"/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accel="1000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accel="1000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47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A359-A721-143B-A066-A8292872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Divergence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8D1C3-D9CA-56DB-6EC8-175EE3AE8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Roughly speaking, divergence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measures the tendency of the fluid to collect or disperse at a point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divergence of a vector field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measures the density of change in the strength of the vector field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In other words, the divergence measures the instantaneous rate of change in the strength of the vector field along the direction of flow.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4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A827-94CA-6CF4-34C5-564B34833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Divergence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A781B-F3E6-D7B6-8F2D-8C0854CBC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Physically divergence means that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either the fluid is expanding or that fluid is being supplied by a source external to the field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The lines of flow diverge from a source and converge to a sink. If there is no gain or loss of fluid anywhere t</a:t>
            </a:r>
          </a:p>
          <a:p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hen div F = 0.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10676-CA26-3C50-526B-C1D1E158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71" y="3849818"/>
            <a:ext cx="3571875" cy="2657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54F070-67B4-0F4F-A6CB-F6B393DB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310" y="3912358"/>
            <a:ext cx="3524250" cy="2305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F604E6-108D-44C0-3B48-20A22E68F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9524" y="3864232"/>
            <a:ext cx="38100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09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3EC33-9068-3A97-571A-823ABBA57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Divergence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E69E2F2-72A0-C1CB-C534-138728EFBD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7523" y="1754660"/>
            <a:ext cx="9020433" cy="4856205"/>
          </a:xfrm>
        </p:spPr>
      </p:pic>
    </p:spTree>
    <p:extLst>
      <p:ext uri="{BB962C8B-B14F-4D97-AF65-F5344CB8AC3E}">
        <p14:creationId xmlns:p14="http://schemas.microsoft.com/office/powerpoint/2010/main" val="595229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53F675-0A70-2409-3012-D25D741EAA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0278" y="565573"/>
            <a:ext cx="9066363" cy="57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02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F0025-03AB-4126-9E23-1B4F2D4B1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98C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149C42-FAD2-4559-80A1-B6E921D04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663D41-A6C3-70A0-F314-99B2F9B08B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5914" y="801793"/>
            <a:ext cx="9947183" cy="524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02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D88A00-7627-D2A1-4812-32B9A0843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9267" y="565573"/>
            <a:ext cx="8048384" cy="57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410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B01D4-D2E8-C37F-749A-4097BEC36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6693061" cy="1356360"/>
          </a:xfrm>
        </p:spPr>
        <p:txBody>
          <a:bodyPr>
            <a:normAutofit/>
          </a:bodyPr>
          <a:lstStyle/>
          <a:p>
            <a:r>
              <a:rPr lang="en-GB"/>
              <a:t>Curl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01357-4015-7C48-F877-2EBAC5E12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400"/>
            <a:ext cx="6693061" cy="4038600"/>
          </a:xfrm>
        </p:spPr>
        <p:txBody>
          <a:bodyPr>
            <a:normAutofit/>
          </a:bodyPr>
          <a:lstStyle/>
          <a:p>
            <a:r>
              <a:rPr lang="en-US" b="1" i="0">
                <a:effectLst/>
                <a:latin typeface="arial" panose="020B0604020202020204" pitchFamily="34" charset="0"/>
              </a:rPr>
              <a:t>The curl of a vector field measures the tendency for the vector field to swirl around</a:t>
            </a:r>
            <a:r>
              <a:rPr lang="en-US" b="0" i="0">
                <a:effectLst/>
                <a:latin typeface="arial" panose="020B0604020202020204" pitchFamily="34" charset="0"/>
              </a:rPr>
              <a:t>. Imagine that the vector field represents the velocity vectors of water in a lake. If the vector field swirls around, then when we stick a paddle wheel into the water, it will tend to spin.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92DD0-94A6-39B6-4A7A-834FA7C59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622" y="1114806"/>
            <a:ext cx="3171893" cy="2154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B6E7BC-BAEB-655B-3D57-5B9224F7D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2303" y="3589020"/>
            <a:ext cx="2668531" cy="2543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5992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315785-5A2C-DB49-E441-FBEA76EFA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573" y="565573"/>
            <a:ext cx="9637773" cy="57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10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98B27-551F-4FBA-B174-EDC3857E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Curl of a vector field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EFF0F0-3856-60F7-E53C-5F4E530BE4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8537" y="2057400"/>
            <a:ext cx="5661588" cy="4038600"/>
          </a:xfrm>
        </p:spPr>
      </p:pic>
    </p:spTree>
    <p:extLst>
      <p:ext uri="{BB962C8B-B14F-4D97-AF65-F5344CB8AC3E}">
        <p14:creationId xmlns:p14="http://schemas.microsoft.com/office/powerpoint/2010/main" val="999507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98B27-551F-4FBA-B174-EDC3857E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problems, Compute divergence and curl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545FE-3122-05E8-BBDA-7A4C49212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1.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AABB70-3B0A-A6E2-4044-D79F12866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274" y="1948375"/>
            <a:ext cx="4371389" cy="5143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1A6CCB-ED73-B2A7-0FEA-AE34252B0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2961" y="2647510"/>
            <a:ext cx="5305425" cy="6572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9B71F6-10DE-4AF3-CC15-119F6318F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143" y="3762375"/>
            <a:ext cx="8029575" cy="248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41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98B27-551F-4FBA-B174-EDC3857E0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2. compute div and curl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8BB770-5C03-619A-975F-4BC1A36BF3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046" y="1965960"/>
            <a:ext cx="7506689" cy="3905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FFE5ED-3B9E-0C98-E202-7477B7801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570431"/>
            <a:ext cx="6115050" cy="790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520A17-1497-FD61-2AAA-DF4668ADB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032" y="3322320"/>
            <a:ext cx="62674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43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5377DE-EFA5-4EBF-B72E-883BF9ED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1" y="4714251"/>
            <a:ext cx="8192729" cy="112519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5700">
                <a:solidFill>
                  <a:srgbClr val="FFFFFF"/>
                </a:solidFill>
              </a:rPr>
              <a:t>Thank you </a:t>
            </a: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7B84E710-BB23-43FA-A985-7A7EBFDB7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8198" y="643468"/>
            <a:ext cx="3590205" cy="359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13094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531E6513E1BD4D81541BC8A889CB99" ma:contentTypeVersion="2" ma:contentTypeDescription="Create a new document." ma:contentTypeScope="" ma:versionID="726467ba155f5033bb8bb6925abe93e5">
  <xsd:schema xmlns:xsd="http://www.w3.org/2001/XMLSchema" xmlns:xs="http://www.w3.org/2001/XMLSchema" xmlns:p="http://schemas.microsoft.com/office/2006/metadata/properties" xmlns:ns3="28b082ad-cfdf-41d4-8503-37bb05a0286d" targetNamespace="http://schemas.microsoft.com/office/2006/metadata/properties" ma:root="true" ma:fieldsID="3d460a76874172b685bed4507af0d600" ns3:_="">
    <xsd:import namespace="28b082ad-cfdf-41d4-8503-37bb05a0286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b082ad-cfdf-41d4-8503-37bb05a028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6ADAE0-AB5B-4981-A20D-EF97CC4976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5A7A0C-ECC4-477D-9F4C-7D610BE6A59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8b082ad-cfdf-41d4-8503-37bb05a0286d"/>
  </ds:schemaRefs>
</ds:datastoreItem>
</file>

<file path=customXml/itemProps3.xml><?xml version="1.0" encoding="utf-8"?>
<ds:datastoreItem xmlns:ds="http://schemas.openxmlformats.org/officeDocument/2006/customXml" ds:itemID="{F3451427-23FB-44B0-ACEC-A8E853B1EF9B}">
  <ds:schemaRefs>
    <ds:schemaRef ds:uri="http://schemas.microsoft.com/office/2006/metadata/properties"/>
    <ds:schemaRef ds:uri="http://www.w3.org/2000/xmln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1106</TotalTime>
  <Words>725</Words>
  <Application>Microsoft Office PowerPoint</Application>
  <PresentationFormat>Widescreen</PresentationFormat>
  <Paragraphs>67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Basis</vt:lpstr>
      <vt:lpstr>operators</vt:lpstr>
      <vt:lpstr>Gradient</vt:lpstr>
      <vt:lpstr>Scalar and vector field </vt:lpstr>
      <vt:lpstr>Vector field</vt:lpstr>
      <vt:lpstr>PowerPoint Presentation</vt:lpstr>
      <vt:lpstr>PowerPoint Presentation</vt:lpstr>
      <vt:lpstr>PowerPoint Presentation</vt:lpstr>
      <vt:lpstr>Gradient of scalar field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</vt:lpstr>
      <vt:lpstr>Solution</vt:lpstr>
      <vt:lpstr>Divergence </vt:lpstr>
      <vt:lpstr>Divergence </vt:lpstr>
      <vt:lpstr>Divergence </vt:lpstr>
      <vt:lpstr>PowerPoint Presentation</vt:lpstr>
      <vt:lpstr>PowerPoint Presentation</vt:lpstr>
      <vt:lpstr>PowerPoint Presentation</vt:lpstr>
      <vt:lpstr>Curl </vt:lpstr>
      <vt:lpstr>PowerPoint Presentation</vt:lpstr>
      <vt:lpstr>Curl of a vector field</vt:lpstr>
      <vt:lpstr>Practice problems, Compute divergence and curl </vt:lpstr>
      <vt:lpstr>Problem 2. compute div and curl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</dc:title>
  <dc:creator>Aisha Ijaz</dc:creator>
  <cp:lastModifiedBy>923335238515</cp:lastModifiedBy>
  <cp:revision>22</cp:revision>
  <dcterms:created xsi:type="dcterms:W3CDTF">2022-08-25T10:40:04Z</dcterms:created>
  <dcterms:modified xsi:type="dcterms:W3CDTF">2023-08-27T07:56:03Z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0x01010063531E6513E1BD4D81541BC8A889CB99</vt:lpwstr>
  </property>
</Properties>
</file>