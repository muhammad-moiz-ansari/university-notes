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2" r:id="rId1"/>
  </p:sldMasterIdLst>
  <p:notesMasterIdLst>
    <p:notesMasterId r:id="rId50"/>
  </p:notesMasterIdLst>
  <p:handoutMasterIdLst>
    <p:handoutMasterId r:id="rId51"/>
  </p:handoutMasterIdLst>
  <p:sldIdLst>
    <p:sldId id="386" r:id="rId2"/>
    <p:sldId id="262" r:id="rId3"/>
    <p:sldId id="263" r:id="rId4"/>
    <p:sldId id="264" r:id="rId5"/>
    <p:sldId id="265" r:id="rId6"/>
    <p:sldId id="266" r:id="rId7"/>
    <p:sldId id="318" r:id="rId8"/>
    <p:sldId id="313" r:id="rId9"/>
    <p:sldId id="297" r:id="rId10"/>
    <p:sldId id="300" r:id="rId11"/>
    <p:sldId id="388" r:id="rId12"/>
    <p:sldId id="389" r:id="rId13"/>
    <p:sldId id="390" r:id="rId14"/>
    <p:sldId id="391" r:id="rId15"/>
    <p:sldId id="392" r:id="rId16"/>
    <p:sldId id="301" r:id="rId17"/>
    <p:sldId id="393" r:id="rId18"/>
    <p:sldId id="394" r:id="rId19"/>
    <p:sldId id="395" r:id="rId20"/>
    <p:sldId id="396" r:id="rId21"/>
    <p:sldId id="398" r:id="rId22"/>
    <p:sldId id="399" r:id="rId23"/>
    <p:sldId id="400" r:id="rId24"/>
    <p:sldId id="302" r:id="rId25"/>
    <p:sldId id="303" r:id="rId26"/>
    <p:sldId id="401" r:id="rId27"/>
    <p:sldId id="402" r:id="rId28"/>
    <p:sldId id="403" r:id="rId29"/>
    <p:sldId id="404" r:id="rId30"/>
    <p:sldId id="405" r:id="rId31"/>
    <p:sldId id="406" r:id="rId32"/>
    <p:sldId id="407" r:id="rId33"/>
    <p:sldId id="408" r:id="rId34"/>
    <p:sldId id="409" r:id="rId35"/>
    <p:sldId id="410" r:id="rId36"/>
    <p:sldId id="411" r:id="rId37"/>
    <p:sldId id="412" r:id="rId38"/>
    <p:sldId id="413" r:id="rId39"/>
    <p:sldId id="414" r:id="rId40"/>
    <p:sldId id="415" r:id="rId41"/>
    <p:sldId id="416" r:id="rId42"/>
    <p:sldId id="417" r:id="rId43"/>
    <p:sldId id="382" r:id="rId44"/>
    <p:sldId id="383" r:id="rId45"/>
    <p:sldId id="384" r:id="rId46"/>
    <p:sldId id="385" r:id="rId47"/>
    <p:sldId id="418" r:id="rId48"/>
    <p:sldId id="419"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99" autoAdjust="0"/>
    <p:restoredTop sz="94660"/>
  </p:normalViewPr>
  <p:slideViewPr>
    <p:cSldViewPr>
      <p:cViewPr>
        <p:scale>
          <a:sx n="73" d="100"/>
          <a:sy n="73" d="100"/>
        </p:scale>
        <p:origin x="1248" y="-252"/>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notesMaster" Target="notesMasters/notesMaster1.xml" /><Relationship Id="rId55"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8" Type="http://schemas.openxmlformats.org/officeDocument/2006/relationships/slide" Target="slides/slide7.xml" /><Relationship Id="rId51" Type="http://schemas.openxmlformats.org/officeDocument/2006/relationships/handoutMaster" Target="handoutMasters/handoutMaster1.xml" /><Relationship Id="rId3" Type="http://schemas.openxmlformats.org/officeDocument/2006/relationships/slide" Target="slides/slide2.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D6DF726-786B-4AE8-B1BC-F08AF053E2E8}" type="datetimeFigureOut">
              <a:rPr lang="en-US" smtClean="0"/>
              <a:pPr/>
              <a:t>11/22/2023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D8AD07C-DA07-4B56-878F-F0BDC4B5E083}" type="slidenum">
              <a:rPr lang="en-US" smtClean="0"/>
              <a:pPr/>
              <a:t>‹#›</a:t>
            </a:fld>
            <a:endParaRPr lang="en-US"/>
          </a:p>
        </p:txBody>
      </p:sp>
    </p:spTree>
    <p:extLst>
      <p:ext uri="{BB962C8B-B14F-4D97-AF65-F5344CB8AC3E}">
        <p14:creationId xmlns:p14="http://schemas.microsoft.com/office/powerpoint/2010/main" val="39318821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88DB94-6C00-45CE-831A-67CD0393B12C}" type="datetimeFigureOut">
              <a:rPr lang="en-US" smtClean="0"/>
              <a:pPr/>
              <a:t>11/22/2023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D8C9C7D-E340-4F67-8439-E77DB0E8F53B}" type="slidenum">
              <a:rPr lang="en-US" smtClean="0"/>
              <a:pPr/>
              <a:t>‹#›</a:t>
            </a:fld>
            <a:endParaRPr lang="en-US"/>
          </a:p>
        </p:txBody>
      </p:sp>
    </p:spTree>
    <p:extLst>
      <p:ext uri="{BB962C8B-B14F-4D97-AF65-F5344CB8AC3E}">
        <p14:creationId xmlns:p14="http://schemas.microsoft.com/office/powerpoint/2010/main" val="3574173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Shape 26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266" name="Shape 26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Shape 27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272" name="Shape 27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Shape 27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278" name="Shape 27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Shape 28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284" name="Shape 28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Shape 2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290" name="Shape 29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a:fld id="{62BBC9FA-8A17-4DFF-8E78-DE7C1EE4F5E4}" type="slidenum">
              <a:rPr lang="en-US" sz="1200"/>
              <a:pPr algn="r"/>
              <a:t>7</a:t>
            </a:fld>
            <a:endParaRPr lang="en-US" sz="1200"/>
          </a:p>
        </p:txBody>
      </p:sp>
      <p:sp>
        <p:nvSpPr>
          <p:cNvPr id="317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17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107950" indent="-107950" eaLnBrk="1" hangingPunct="1">
              <a:spcBef>
                <a:spcPct val="0"/>
              </a:spcBef>
              <a:buFontTx/>
              <a:buChar char="•"/>
            </a:pPr>
            <a:endParaRPr lang="en-C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15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215900" indent="-215900" eaLnBrk="1" hangingPunct="1">
              <a:spcBef>
                <a:spcPct val="0"/>
              </a:spcBef>
              <a:buFontTx/>
              <a:buChar char="•"/>
            </a:pPr>
            <a:endParaRPr lang="en-CA"/>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Shape 49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500" name="Shape 50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09/2/15</a:t>
            </a:r>
          </a:p>
        </p:txBody>
      </p:sp>
      <p:sp>
        <p:nvSpPr>
          <p:cNvPr id="5" name="Footer Placeholder 4"/>
          <p:cNvSpPr>
            <a:spLocks noGrp="1"/>
          </p:cNvSpPr>
          <p:nvPr>
            <p:ph type="ftr" sz="quarter" idx="11"/>
          </p:nvPr>
        </p:nvSpPr>
        <p:spPr/>
        <p:txBody>
          <a:bodyPr/>
          <a:lstStyle/>
          <a:p>
            <a:r>
              <a:rPr lang="en-US"/>
              <a:t>Basic Electronics                                        Instr.  Aisha Ijaz</a:t>
            </a:r>
            <a:endParaRPr lang="en-US" dirty="0"/>
          </a:p>
        </p:txBody>
      </p:sp>
      <p:sp>
        <p:nvSpPr>
          <p:cNvPr id="6" name="Slide Number Placeholder 5"/>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4108525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09/2/15</a:t>
            </a:r>
            <a:endParaRPr lang="en-US" dirty="0"/>
          </a:p>
        </p:txBody>
      </p:sp>
      <p:sp>
        <p:nvSpPr>
          <p:cNvPr id="5" name="Footer Placeholder 4"/>
          <p:cNvSpPr>
            <a:spLocks noGrp="1"/>
          </p:cNvSpPr>
          <p:nvPr>
            <p:ph type="ftr" sz="quarter" idx="11"/>
          </p:nvPr>
        </p:nvSpPr>
        <p:spPr/>
        <p:txBody>
          <a:bodyPr/>
          <a:lstStyle/>
          <a:p>
            <a:r>
              <a:rPr lang="en-US"/>
              <a:t>Basic Electronics                                        Instr.  Aisha Ijaz</a:t>
            </a:r>
            <a:endParaRPr lang="en-US" dirty="0"/>
          </a:p>
        </p:txBody>
      </p:sp>
      <p:sp>
        <p:nvSpPr>
          <p:cNvPr id="6" name="Slide Number Placeholder 5"/>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2027294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09/2/15</a:t>
            </a:r>
          </a:p>
        </p:txBody>
      </p:sp>
      <p:sp>
        <p:nvSpPr>
          <p:cNvPr id="5" name="Footer Placeholder 4"/>
          <p:cNvSpPr>
            <a:spLocks noGrp="1"/>
          </p:cNvSpPr>
          <p:nvPr>
            <p:ph type="ftr" sz="quarter" idx="11"/>
          </p:nvPr>
        </p:nvSpPr>
        <p:spPr/>
        <p:txBody>
          <a:bodyPr/>
          <a:lstStyle/>
          <a:p>
            <a:r>
              <a:rPr lang="en-US"/>
              <a:t>Basic Electronics                                        Instr.  Aisha Ijaz</a:t>
            </a:r>
            <a:endParaRPr lang="en-US" dirty="0"/>
          </a:p>
        </p:txBody>
      </p:sp>
      <p:sp>
        <p:nvSpPr>
          <p:cNvPr id="6" name="Slide Number Placeholder 5"/>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1303644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09/2/15</a:t>
            </a:r>
          </a:p>
        </p:txBody>
      </p:sp>
      <p:sp>
        <p:nvSpPr>
          <p:cNvPr id="6" name="Footer Placeholder 5"/>
          <p:cNvSpPr>
            <a:spLocks noGrp="1"/>
          </p:cNvSpPr>
          <p:nvPr>
            <p:ph type="ftr" sz="quarter" idx="11"/>
          </p:nvPr>
        </p:nvSpPr>
        <p:spPr/>
        <p:txBody>
          <a:bodyPr/>
          <a:lstStyle/>
          <a:p>
            <a:r>
              <a:rPr lang="en-US"/>
              <a:t>Basic Electronics                                        Instr.  Aisha Ijaz</a:t>
            </a:r>
            <a:endParaRPr lang="en-US" dirty="0"/>
          </a:p>
        </p:txBody>
      </p:sp>
      <p:sp>
        <p:nvSpPr>
          <p:cNvPr id="7" name="Slide Number Placeholder 6"/>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641064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09/2/15</a:t>
            </a:r>
          </a:p>
        </p:txBody>
      </p:sp>
      <p:sp>
        <p:nvSpPr>
          <p:cNvPr id="8" name="Footer Placeholder 7"/>
          <p:cNvSpPr>
            <a:spLocks noGrp="1"/>
          </p:cNvSpPr>
          <p:nvPr>
            <p:ph type="ftr" sz="quarter" idx="11"/>
          </p:nvPr>
        </p:nvSpPr>
        <p:spPr/>
        <p:txBody>
          <a:bodyPr/>
          <a:lstStyle/>
          <a:p>
            <a:r>
              <a:rPr lang="en-US"/>
              <a:t>Basic Electronics                                        Instr.  Aisha Ijaz</a:t>
            </a:r>
            <a:endParaRPr lang="en-US" dirty="0"/>
          </a:p>
        </p:txBody>
      </p:sp>
      <p:sp>
        <p:nvSpPr>
          <p:cNvPr id="9" name="Slide Number Placeholder 8"/>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1373206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09/2/15</a:t>
            </a:r>
          </a:p>
        </p:txBody>
      </p:sp>
      <p:sp>
        <p:nvSpPr>
          <p:cNvPr id="4" name="Footer Placeholder 3"/>
          <p:cNvSpPr>
            <a:spLocks noGrp="1"/>
          </p:cNvSpPr>
          <p:nvPr>
            <p:ph type="ftr" sz="quarter" idx="11"/>
          </p:nvPr>
        </p:nvSpPr>
        <p:spPr/>
        <p:txBody>
          <a:bodyPr/>
          <a:lstStyle/>
          <a:p>
            <a:r>
              <a:rPr lang="en-US"/>
              <a:t>Basic Electronics                                        Instr.  Aisha Ijaz</a:t>
            </a:r>
            <a:endParaRPr lang="en-US" dirty="0"/>
          </a:p>
        </p:txBody>
      </p:sp>
      <p:sp>
        <p:nvSpPr>
          <p:cNvPr id="5" name="Slide Number Placeholder 4"/>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1028484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09/2/15</a:t>
            </a:r>
          </a:p>
        </p:txBody>
      </p:sp>
      <p:sp>
        <p:nvSpPr>
          <p:cNvPr id="3" name="Footer Placeholder 2"/>
          <p:cNvSpPr>
            <a:spLocks noGrp="1"/>
          </p:cNvSpPr>
          <p:nvPr>
            <p:ph type="ftr" sz="quarter" idx="11"/>
          </p:nvPr>
        </p:nvSpPr>
        <p:spPr/>
        <p:txBody>
          <a:bodyPr/>
          <a:lstStyle/>
          <a:p>
            <a:r>
              <a:rPr lang="en-US"/>
              <a:t>Basic Electronics                                        Instr.  Aisha Ijaz</a:t>
            </a:r>
            <a:endParaRPr lang="en-US" dirty="0"/>
          </a:p>
        </p:txBody>
      </p:sp>
      <p:sp>
        <p:nvSpPr>
          <p:cNvPr id="4" name="Slide Number Placeholder 3"/>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2106285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09/2/15</a:t>
            </a:r>
          </a:p>
        </p:txBody>
      </p:sp>
      <p:sp>
        <p:nvSpPr>
          <p:cNvPr id="6" name="Footer Placeholder 5"/>
          <p:cNvSpPr>
            <a:spLocks noGrp="1"/>
          </p:cNvSpPr>
          <p:nvPr>
            <p:ph type="ftr" sz="quarter" idx="11"/>
          </p:nvPr>
        </p:nvSpPr>
        <p:spPr/>
        <p:txBody>
          <a:bodyPr/>
          <a:lstStyle/>
          <a:p>
            <a:r>
              <a:rPr lang="en-US"/>
              <a:t>Basic Electronics                                        Instr.  Aisha Ijaz</a:t>
            </a:r>
            <a:endParaRPr lang="en-US" dirty="0"/>
          </a:p>
        </p:txBody>
      </p:sp>
      <p:sp>
        <p:nvSpPr>
          <p:cNvPr id="7" name="Slide Number Placeholder 6"/>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2922410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09/2/15</a:t>
            </a:r>
          </a:p>
        </p:txBody>
      </p:sp>
      <p:sp>
        <p:nvSpPr>
          <p:cNvPr id="6" name="Footer Placeholder 5"/>
          <p:cNvSpPr>
            <a:spLocks noGrp="1"/>
          </p:cNvSpPr>
          <p:nvPr>
            <p:ph type="ftr" sz="quarter" idx="11"/>
          </p:nvPr>
        </p:nvSpPr>
        <p:spPr/>
        <p:txBody>
          <a:bodyPr/>
          <a:lstStyle/>
          <a:p>
            <a:r>
              <a:rPr lang="en-US"/>
              <a:t>Basic Electronics                                        Instr.  Aisha Ijaz</a:t>
            </a:r>
            <a:endParaRPr lang="en-US" dirty="0"/>
          </a:p>
        </p:txBody>
      </p:sp>
      <p:sp>
        <p:nvSpPr>
          <p:cNvPr id="7" name="Slide Number Placeholder 6"/>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350750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09/2/15</a:t>
            </a:r>
          </a:p>
        </p:txBody>
      </p:sp>
      <p:sp>
        <p:nvSpPr>
          <p:cNvPr id="5" name="Footer Placeholder 4"/>
          <p:cNvSpPr>
            <a:spLocks noGrp="1"/>
          </p:cNvSpPr>
          <p:nvPr>
            <p:ph type="ftr" sz="quarter" idx="11"/>
          </p:nvPr>
        </p:nvSpPr>
        <p:spPr/>
        <p:txBody>
          <a:bodyPr/>
          <a:lstStyle/>
          <a:p>
            <a:r>
              <a:rPr lang="en-US"/>
              <a:t>Basic Electronics                                        Instr.  Aisha Ijaz</a:t>
            </a:r>
            <a:endParaRPr lang="en-US" dirty="0"/>
          </a:p>
        </p:txBody>
      </p:sp>
      <p:sp>
        <p:nvSpPr>
          <p:cNvPr id="6" name="Slide Number Placeholder 5"/>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329673034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09/2/15</a:t>
            </a:r>
          </a:p>
        </p:txBody>
      </p:sp>
      <p:sp>
        <p:nvSpPr>
          <p:cNvPr id="5" name="Footer Placeholder 4"/>
          <p:cNvSpPr>
            <a:spLocks noGrp="1"/>
          </p:cNvSpPr>
          <p:nvPr>
            <p:ph type="ftr" sz="quarter" idx="11"/>
          </p:nvPr>
        </p:nvSpPr>
        <p:spPr/>
        <p:txBody>
          <a:bodyPr/>
          <a:lstStyle/>
          <a:p>
            <a:r>
              <a:rPr lang="en-US"/>
              <a:t>Basic Electronics                                        Instr.  Aisha Ijaz</a:t>
            </a:r>
            <a:endParaRPr lang="en-US" dirty="0"/>
          </a:p>
        </p:txBody>
      </p:sp>
      <p:sp>
        <p:nvSpPr>
          <p:cNvPr id="6" name="Slide Number Placeholder 5"/>
          <p:cNvSpPr>
            <a:spLocks noGrp="1"/>
          </p:cNvSpPr>
          <p:nvPr>
            <p:ph type="sldNum" sz="quarter" idx="12"/>
          </p:nvPr>
        </p:nvSpPr>
        <p:spPr/>
        <p:txBody>
          <a:bodyPr/>
          <a:lstStyle/>
          <a:p>
            <a:fld id="{0C1263DB-09A6-439F-AABB-4BCBBCB200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731373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09/2/15</a:t>
            </a:r>
          </a:p>
        </p:txBody>
      </p:sp>
      <p:sp>
        <p:nvSpPr>
          <p:cNvPr id="5" name="Footer Placeholder 4"/>
          <p:cNvSpPr>
            <a:spLocks noGrp="1"/>
          </p:cNvSpPr>
          <p:nvPr>
            <p:ph type="ftr" sz="quarter" idx="11"/>
          </p:nvPr>
        </p:nvSpPr>
        <p:spPr/>
        <p:txBody>
          <a:bodyPr/>
          <a:lstStyle/>
          <a:p>
            <a:r>
              <a:rPr lang="en-US"/>
              <a:t>Basic Electronics                                        Instr.  Aisha Ijaz</a:t>
            </a:r>
            <a:endParaRPr lang="en-US" dirty="0"/>
          </a:p>
        </p:txBody>
      </p:sp>
      <p:sp>
        <p:nvSpPr>
          <p:cNvPr id="6" name="Slide Number Placeholder 5"/>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357331688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09/2/15</a:t>
            </a:r>
          </a:p>
        </p:txBody>
      </p:sp>
      <p:sp>
        <p:nvSpPr>
          <p:cNvPr id="5" name="Footer Placeholder 4"/>
          <p:cNvSpPr>
            <a:spLocks noGrp="1"/>
          </p:cNvSpPr>
          <p:nvPr>
            <p:ph type="ftr" sz="quarter" idx="11"/>
          </p:nvPr>
        </p:nvSpPr>
        <p:spPr/>
        <p:txBody>
          <a:bodyPr/>
          <a:lstStyle/>
          <a:p>
            <a:r>
              <a:rPr lang="en-US"/>
              <a:t>Basic Electronics                                        Instr.  Aisha Ijaz</a:t>
            </a:r>
            <a:endParaRPr lang="en-US" dirty="0"/>
          </a:p>
        </p:txBody>
      </p:sp>
      <p:sp>
        <p:nvSpPr>
          <p:cNvPr id="6" name="Slide Number Placeholder 5"/>
          <p:cNvSpPr>
            <a:spLocks noGrp="1"/>
          </p:cNvSpPr>
          <p:nvPr>
            <p:ph type="sldNum" sz="quarter" idx="12"/>
          </p:nvPr>
        </p:nvSpPr>
        <p:spPr/>
        <p:txBody>
          <a:bodyPr/>
          <a:lstStyle/>
          <a:p>
            <a:fld id="{0C1263DB-09A6-439F-AABB-4BCBBCB200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2052801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09/2/15</a:t>
            </a:r>
          </a:p>
        </p:txBody>
      </p:sp>
      <p:sp>
        <p:nvSpPr>
          <p:cNvPr id="5" name="Footer Placeholder 4"/>
          <p:cNvSpPr>
            <a:spLocks noGrp="1"/>
          </p:cNvSpPr>
          <p:nvPr>
            <p:ph type="ftr" sz="quarter" idx="11"/>
          </p:nvPr>
        </p:nvSpPr>
        <p:spPr/>
        <p:txBody>
          <a:bodyPr/>
          <a:lstStyle/>
          <a:p>
            <a:r>
              <a:rPr lang="en-US"/>
              <a:t>Basic Electronics                                        Instr.  Aisha Ijaz</a:t>
            </a:r>
            <a:endParaRPr lang="en-US" dirty="0"/>
          </a:p>
        </p:txBody>
      </p:sp>
      <p:sp>
        <p:nvSpPr>
          <p:cNvPr id="6" name="Slide Number Placeholder 5"/>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193016941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09/2/15</a:t>
            </a:r>
          </a:p>
        </p:txBody>
      </p:sp>
      <p:sp>
        <p:nvSpPr>
          <p:cNvPr id="5" name="Footer Placeholder 4"/>
          <p:cNvSpPr>
            <a:spLocks noGrp="1"/>
          </p:cNvSpPr>
          <p:nvPr>
            <p:ph type="ftr" sz="quarter" idx="11"/>
          </p:nvPr>
        </p:nvSpPr>
        <p:spPr/>
        <p:txBody>
          <a:bodyPr/>
          <a:lstStyle/>
          <a:p>
            <a:r>
              <a:rPr lang="en-US"/>
              <a:t>Basic Electronics                                        Instr.  Aisha Ijaz</a:t>
            </a:r>
            <a:endParaRPr lang="en-US" dirty="0"/>
          </a:p>
        </p:txBody>
      </p:sp>
      <p:sp>
        <p:nvSpPr>
          <p:cNvPr id="6" name="Slide Number Placeholder 5"/>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38303678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09/2/15</a:t>
            </a:r>
          </a:p>
        </p:txBody>
      </p:sp>
      <p:sp>
        <p:nvSpPr>
          <p:cNvPr id="5" name="Footer Placeholder 4"/>
          <p:cNvSpPr>
            <a:spLocks noGrp="1"/>
          </p:cNvSpPr>
          <p:nvPr>
            <p:ph type="ftr" sz="quarter" idx="11"/>
          </p:nvPr>
        </p:nvSpPr>
        <p:spPr/>
        <p:txBody>
          <a:bodyPr/>
          <a:lstStyle/>
          <a:p>
            <a:r>
              <a:rPr lang="en-US"/>
              <a:t>Basic Electronics                                        Instr.  Aisha Ijaz</a:t>
            </a:r>
            <a:endParaRPr lang="en-US" dirty="0"/>
          </a:p>
        </p:txBody>
      </p:sp>
      <p:sp>
        <p:nvSpPr>
          <p:cNvPr id="6" name="Slide Number Placeholder 5"/>
          <p:cNvSpPr>
            <a:spLocks noGrp="1"/>
          </p:cNvSpPr>
          <p:nvPr>
            <p:ph type="sldNum" sz="quarter" idx="12"/>
          </p:nvPr>
        </p:nvSpPr>
        <p:spPr/>
        <p:txBody>
          <a:bodyPr/>
          <a:lstStyle/>
          <a:p>
            <a:fld id="{0C1263DB-09A6-439F-AABB-4BCBBCB2002B}" type="slidenum">
              <a:rPr lang="en-US" smtClean="0"/>
              <a:pPr/>
              <a:t>‹#›</a:t>
            </a:fld>
            <a:endParaRPr lang="en-US"/>
          </a:p>
        </p:txBody>
      </p:sp>
    </p:spTree>
    <p:extLst>
      <p:ext uri="{BB962C8B-B14F-4D97-AF65-F5344CB8AC3E}">
        <p14:creationId xmlns:p14="http://schemas.microsoft.com/office/powerpoint/2010/main" val="3177603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09/2/15</a:t>
            </a:r>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Basic Electronics                                        Instr.  Aisha Ijaz</a:t>
            </a:r>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0C1263DB-09A6-439F-AABB-4BCBBCB2002B}" type="slidenum">
              <a:rPr lang="en-US" smtClean="0"/>
              <a:pPr/>
              <a:t>‹#›</a:t>
            </a:fld>
            <a:endParaRPr lang="en-US"/>
          </a:p>
        </p:txBody>
      </p:sp>
    </p:spTree>
    <p:extLst>
      <p:ext uri="{BB962C8B-B14F-4D97-AF65-F5344CB8AC3E}">
        <p14:creationId xmlns:p14="http://schemas.microsoft.com/office/powerpoint/2010/main" val="3188073554"/>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4" r:id="rId12"/>
    <p:sldLayoutId id="2147483905" r:id="rId13"/>
    <p:sldLayoutId id="2147483906" r:id="rId14"/>
    <p:sldLayoutId id="2147483907" r:id="rId15"/>
    <p:sldLayoutId id="2147483908"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3.xml" /></Relationships>
</file>

<file path=ppt/slides/_rels/slide2.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6.xml" /><Relationship Id="rId1" Type="http://schemas.openxmlformats.org/officeDocument/2006/relationships/slideLayout" Target="../slideLayouts/slideLayout7.xml" /><Relationship Id="rId5" Type="http://schemas.openxmlformats.org/officeDocument/2006/relationships/image" Target="../media/image7.png" /><Relationship Id="rId4" Type="http://schemas.openxmlformats.org/officeDocument/2006/relationships/image" Target="../media/image6.png" /></Relationships>
</file>

<file path=ppt/slides/_rels/slide8.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0.jpeg"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2.png" /><Relationship Id="rId1" Type="http://schemas.openxmlformats.org/officeDocument/2006/relationships/slideLayout" Target="../slideLayouts/slideLayout2.xml" /><Relationship Id="rId4" Type="http://schemas.openxmlformats.org/officeDocument/2006/relationships/image" Target="../media/image14.png" /></Relationships>
</file>

<file path=ppt/slides/_rels/slide13.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image" Target="../media/image15.png" /><Relationship Id="rId1" Type="http://schemas.openxmlformats.org/officeDocument/2006/relationships/slideLayout" Target="../slideLayouts/slideLayout2.xml" /><Relationship Id="rId4" Type="http://schemas.openxmlformats.org/officeDocument/2006/relationships/image" Target="../media/image17.png" /></Relationships>
</file>

<file path=ppt/slides/_rels/slide14.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18.png" /><Relationship Id="rId1" Type="http://schemas.openxmlformats.org/officeDocument/2006/relationships/slideLayout" Target="../slideLayouts/slideLayout2.xml" /><Relationship Id="rId6" Type="http://schemas.openxmlformats.org/officeDocument/2006/relationships/image" Target="../media/image22.png" /><Relationship Id="rId5" Type="http://schemas.openxmlformats.org/officeDocument/2006/relationships/image" Target="../media/image21.png" /><Relationship Id="rId4" Type="http://schemas.openxmlformats.org/officeDocument/2006/relationships/image" Target="../media/image20.png" /></Relationships>
</file>

<file path=ppt/slides/_rels/slide15.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25.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26.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3" Type="http://schemas.openxmlformats.org/officeDocument/2006/relationships/image" Target="../media/image28.png" /><Relationship Id="rId2" Type="http://schemas.openxmlformats.org/officeDocument/2006/relationships/image" Target="../media/image27.png" /><Relationship Id="rId1" Type="http://schemas.openxmlformats.org/officeDocument/2006/relationships/slideLayout" Target="../slideLayouts/slideLayout2.xml" /><Relationship Id="rId4" Type="http://schemas.openxmlformats.org/officeDocument/2006/relationships/image" Target="../media/image29.png" /></Relationships>
</file>

<file path=ppt/slides/_rels/slide20.xml.rels><?xml version="1.0" encoding="UTF-8" standalone="yes"?>
<Relationships xmlns="http://schemas.openxmlformats.org/package/2006/relationships"><Relationship Id="rId3" Type="http://schemas.openxmlformats.org/officeDocument/2006/relationships/image" Target="../media/image31.png" /><Relationship Id="rId2" Type="http://schemas.openxmlformats.org/officeDocument/2006/relationships/image" Target="../media/image30.pn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32.pn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image" Target="../media/image33.png"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34.png"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35.png" /><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36.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37.pn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3" Type="http://schemas.openxmlformats.org/officeDocument/2006/relationships/image" Target="../media/image39.png" /><Relationship Id="rId2" Type="http://schemas.openxmlformats.org/officeDocument/2006/relationships/image" Target="../media/image38.png"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image" Target="../media/image40.png"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image" Target="../media/image41.pn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image" Target="../media/image42.png"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2" Type="http://schemas.openxmlformats.org/officeDocument/2006/relationships/image" Target="../media/image43.png"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image" Target="../media/image44.png"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image" Target="../media/image45.pn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2" Type="http://schemas.openxmlformats.org/officeDocument/2006/relationships/image" Target="../media/image46.png"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image" Target="../media/image47.png"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image" Target="../media/image48.png"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2" Type="http://schemas.openxmlformats.org/officeDocument/2006/relationships/image" Target="../media/image49.png"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image" Target="../media/image50.png"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image" Target="../media/image51.png"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image" Target="../media/image52.png"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image" Target="../media/image53.png"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standalone="yes"?>
<Relationships xmlns="http://schemas.openxmlformats.org/package/2006/relationships"><Relationship Id="rId2" Type="http://schemas.openxmlformats.org/officeDocument/2006/relationships/image" Target="../media/image54.gif" /><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image" Target="../media/image55.png"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2" Type="http://schemas.openxmlformats.org/officeDocument/2006/relationships/image" Target="../media/image56.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6" name="Picture 5">
            <a:extLst>
              <a:ext uri="{FF2B5EF4-FFF2-40B4-BE49-F238E27FC236}">
                <a16:creationId xmlns:a16="http://schemas.microsoft.com/office/drawing/2014/main" id="{5164EC4C-9611-EDF5-CBFD-D29AFCA44250}"/>
              </a:ext>
            </a:extLst>
          </p:cNvPr>
          <p:cNvPicPr>
            <a:picLocks noChangeAspect="1"/>
          </p:cNvPicPr>
          <p:nvPr/>
        </p:nvPicPr>
        <p:blipFill rotWithShape="1">
          <a:blip r:embed="rId2"/>
          <a:srcRect l="35022"/>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3" name="Title 2">
            <a:extLst>
              <a:ext uri="{FF2B5EF4-FFF2-40B4-BE49-F238E27FC236}">
                <a16:creationId xmlns:a16="http://schemas.microsoft.com/office/drawing/2014/main" id="{32312C1B-25FC-E670-718F-CCF54A2FEACD}"/>
              </a:ext>
            </a:extLst>
          </p:cNvPr>
          <p:cNvSpPr>
            <a:spLocks noGrp="1"/>
          </p:cNvSpPr>
          <p:nvPr>
            <p:ph type="title"/>
          </p:nvPr>
        </p:nvSpPr>
        <p:spPr>
          <a:xfrm>
            <a:off x="501650" y="1678666"/>
            <a:ext cx="3066142" cy="2369093"/>
          </a:xfrm>
        </p:spPr>
        <p:txBody>
          <a:bodyPr vert="horz" lIns="91440" tIns="45720" rIns="91440" bIns="45720" rtlCol="0" anchor="b">
            <a:normAutofit/>
          </a:bodyPr>
          <a:lstStyle/>
          <a:p>
            <a:pPr algn="r"/>
            <a:r>
              <a:rPr lang="en-US" sz="3600"/>
              <a:t>Fundamental of ciruits</a:t>
            </a:r>
          </a:p>
        </p:txBody>
      </p:sp>
      <p:sp>
        <p:nvSpPr>
          <p:cNvPr id="2" name="Text Placeholder 1">
            <a:extLst>
              <a:ext uri="{FF2B5EF4-FFF2-40B4-BE49-F238E27FC236}">
                <a16:creationId xmlns:a16="http://schemas.microsoft.com/office/drawing/2014/main" id="{140FCEF1-7A20-011D-92AB-B39068593352}"/>
              </a:ext>
            </a:extLst>
          </p:cNvPr>
          <p:cNvSpPr>
            <a:spLocks noGrp="1"/>
          </p:cNvSpPr>
          <p:nvPr>
            <p:ph type="body" idx="1"/>
          </p:nvPr>
        </p:nvSpPr>
        <p:spPr>
          <a:xfrm>
            <a:off x="508001" y="4050831"/>
            <a:ext cx="3059791" cy="1096901"/>
          </a:xfrm>
        </p:spPr>
        <p:txBody>
          <a:bodyPr vert="horz" lIns="91440" tIns="45720" rIns="91440" bIns="45720" rtlCol="0" anchor="t">
            <a:normAutofit/>
          </a:bodyPr>
          <a:lstStyle/>
          <a:p>
            <a:pPr algn="r"/>
            <a:r>
              <a:rPr lang="en-US" sz="1400" cap="all" dirty="0"/>
              <a:t>Current, </a:t>
            </a:r>
            <a:r>
              <a:rPr lang="en-US" sz="1400" cap="all" dirty="0" err="1"/>
              <a:t>ohms’law</a:t>
            </a:r>
            <a:r>
              <a:rPr lang="en-US" sz="1400" cap="all" dirty="0"/>
              <a:t>, resistor, capacitor, Series and parallel </a:t>
            </a:r>
            <a:r>
              <a:rPr lang="en-US" sz="1400" cap="all" dirty="0" err="1"/>
              <a:t>sircuits</a:t>
            </a:r>
            <a:r>
              <a:rPr lang="en-US" sz="1400" cap="all" dirty="0"/>
              <a:t>, KVL,KCL PROBLEMS</a:t>
            </a:r>
          </a:p>
        </p:txBody>
      </p:sp>
      <p:cxnSp>
        <p:nvCxnSpPr>
          <p:cNvPr id="21" name="Straight Connector 20">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31445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1"/>
        <p:cNvGrpSpPr/>
        <p:nvPr/>
      </p:nvGrpSpPr>
      <p:grpSpPr>
        <a:xfrm>
          <a:off x="0" y="0"/>
          <a:ext cx="0" cy="0"/>
          <a:chOff x="0" y="0"/>
          <a:chExt cx="0" cy="0"/>
        </a:xfrm>
      </p:grpSpPr>
      <p:sp>
        <p:nvSpPr>
          <p:cNvPr id="262" name="Shape 262"/>
          <p:cNvSpPr txBox="1">
            <a:spLocks noGrp="1"/>
          </p:cNvSpPr>
          <p:nvPr>
            <p:ph type="title"/>
          </p:nvPr>
        </p:nvSpPr>
        <p:spPr>
          <a:xfrm>
            <a:off x="4152550" y="609600"/>
            <a:ext cx="2802951" cy="1320800"/>
          </a:xfrm>
        </p:spPr>
        <p:txBody>
          <a:bodyPr>
            <a:normAutofit/>
          </a:bodyPr>
          <a:lstStyle/>
          <a:p>
            <a:pPr lvl="0">
              <a:lnSpc>
                <a:spcPct val="90000"/>
              </a:lnSpc>
            </a:pPr>
            <a:r>
              <a:rPr lang="en" sz="2800"/>
              <a:t>              INTRODUCTION </a:t>
            </a:r>
          </a:p>
        </p:txBody>
      </p:sp>
      <p:sp>
        <p:nvSpPr>
          <p:cNvPr id="263" name="Shape 263"/>
          <p:cNvSpPr txBox="1">
            <a:spLocks noGrp="1"/>
          </p:cNvSpPr>
          <p:nvPr>
            <p:ph idx="1"/>
          </p:nvPr>
        </p:nvSpPr>
        <p:spPr>
          <a:xfrm>
            <a:off x="3907172" y="2160589"/>
            <a:ext cx="3048329" cy="3880773"/>
          </a:xfrm>
        </p:spPr>
        <p:txBody>
          <a:bodyPr>
            <a:normAutofit/>
          </a:bodyPr>
          <a:lstStyle/>
          <a:p>
            <a:pPr lvl="0"/>
            <a:r>
              <a:rPr lang="en-US" i="1" u="sng"/>
              <a:t>Basic definitions:</a:t>
            </a:r>
          </a:p>
          <a:p>
            <a:pPr lvl="0"/>
            <a:r>
              <a:rPr lang="en-US">
                <a:sym typeface="Times New Roman"/>
              </a:rPr>
              <a:t>Circuit :An arrangement or connection of circuit devices and components to perform a specific objective. (</a:t>
            </a:r>
            <a:r>
              <a:rPr lang="en-US"/>
              <a:t>Combination of electronic parts, wires connected between power sources).</a:t>
            </a:r>
          </a:p>
          <a:p>
            <a:pPr lvl="0"/>
            <a:endParaRPr lang="en-US">
              <a:sym typeface="Times New Roman"/>
            </a:endParaRPr>
          </a:p>
        </p:txBody>
      </p:sp>
      <p:pic>
        <p:nvPicPr>
          <p:cNvPr id="265" name="Picture 264" descr="Electronics protoboard">
            <a:extLst>
              <a:ext uri="{FF2B5EF4-FFF2-40B4-BE49-F238E27FC236}">
                <a16:creationId xmlns:a16="http://schemas.microsoft.com/office/drawing/2014/main" id="{89AE5429-D7D1-E21E-8A7C-B09208DDE7F8}"/>
              </a:ext>
            </a:extLst>
          </p:cNvPr>
          <p:cNvPicPr>
            <a:picLocks noChangeAspect="1"/>
          </p:cNvPicPr>
          <p:nvPr/>
        </p:nvPicPr>
        <p:blipFill rotWithShape="1">
          <a:blip r:embed="rId3"/>
          <a:srcRect l="12919" r="47698" b="-2"/>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70" name="Isosceles Triangle 26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7"/>
        <p:cNvGrpSpPr/>
        <p:nvPr/>
      </p:nvGrpSpPr>
      <p:grpSpPr>
        <a:xfrm>
          <a:off x="0" y="0"/>
          <a:ext cx="0" cy="0"/>
          <a:chOff x="0" y="0"/>
          <a:chExt cx="0" cy="0"/>
        </a:xfrm>
      </p:grpSpPr>
      <p:sp>
        <p:nvSpPr>
          <p:cNvPr id="268" name="Shape 268"/>
          <p:cNvSpPr txBox="1">
            <a:spLocks noGrp="1"/>
          </p:cNvSpPr>
          <p:nvPr>
            <p:ph type="title"/>
          </p:nvPr>
        </p:nvSpPr>
        <p:spPr>
          <a:xfrm>
            <a:off x="4152550" y="609600"/>
            <a:ext cx="2802951" cy="1320800"/>
          </a:xfrm>
        </p:spPr>
        <p:txBody>
          <a:bodyPr>
            <a:normAutofit/>
          </a:bodyPr>
          <a:lstStyle/>
          <a:p>
            <a:pPr lvl="0"/>
            <a:r>
              <a:rPr lang="en-US"/>
              <a:t>Basic Definitions</a:t>
            </a:r>
          </a:p>
          <a:p>
            <a:pPr lvl="0"/>
            <a:endParaRPr lang="en-US"/>
          </a:p>
        </p:txBody>
      </p:sp>
      <p:sp>
        <p:nvSpPr>
          <p:cNvPr id="269" name="Shape 269"/>
          <p:cNvSpPr txBox="1">
            <a:spLocks noGrp="1"/>
          </p:cNvSpPr>
          <p:nvPr>
            <p:ph idx="1"/>
          </p:nvPr>
        </p:nvSpPr>
        <p:spPr>
          <a:xfrm>
            <a:off x="3907172" y="2160589"/>
            <a:ext cx="3048329" cy="3880773"/>
          </a:xfrm>
        </p:spPr>
        <p:txBody>
          <a:bodyPr>
            <a:normAutofit/>
          </a:bodyPr>
          <a:lstStyle/>
          <a:p>
            <a:pPr lvl="0">
              <a:lnSpc>
                <a:spcPct val="90000"/>
              </a:lnSpc>
            </a:pPr>
            <a:r>
              <a:rPr lang="en-US" sz="1700">
                <a:sym typeface="Times New Roman"/>
              </a:rPr>
              <a:t>Current (I):The rate of flow of electrons through a conductor or component; measured in amperes. The symbol (I) stands for intensity of the electron flow.</a:t>
            </a:r>
          </a:p>
          <a:p>
            <a:pPr lvl="0">
              <a:lnSpc>
                <a:spcPct val="90000"/>
              </a:lnSpc>
            </a:pPr>
            <a:r>
              <a:rPr lang="en-US" sz="1700">
                <a:sym typeface="Times New Roman"/>
              </a:rPr>
              <a:t>Voltage (V): Same as emf. The force or electrical pressure that has the potential to cause electron flow in a circuit. </a:t>
            </a:r>
          </a:p>
          <a:p>
            <a:pPr lvl="0">
              <a:lnSpc>
                <a:spcPct val="90000"/>
              </a:lnSpc>
            </a:pPr>
            <a:r>
              <a:rPr lang="en-US" sz="1700">
                <a:sym typeface="Times New Roman"/>
              </a:rPr>
              <a:t>Voltage divider: A series circuit that divides voltage.</a:t>
            </a:r>
          </a:p>
          <a:p>
            <a:pPr lvl="0">
              <a:lnSpc>
                <a:spcPct val="90000"/>
              </a:lnSpc>
            </a:pPr>
            <a:endParaRPr lang="en-US" sz="1700">
              <a:sym typeface="Times New Roman"/>
            </a:endParaRPr>
          </a:p>
          <a:p>
            <a:pPr lvl="0">
              <a:lnSpc>
                <a:spcPct val="90000"/>
              </a:lnSpc>
            </a:pPr>
            <a:endParaRPr lang="en-US" sz="1700"/>
          </a:p>
        </p:txBody>
      </p:sp>
      <p:pic>
        <p:nvPicPr>
          <p:cNvPr id="271" name="Picture 270" descr="Electronics protoboard">
            <a:extLst>
              <a:ext uri="{FF2B5EF4-FFF2-40B4-BE49-F238E27FC236}">
                <a16:creationId xmlns:a16="http://schemas.microsoft.com/office/drawing/2014/main" id="{89E0D22F-C8ED-4D62-80A6-E20212D54809}"/>
              </a:ext>
            </a:extLst>
          </p:cNvPr>
          <p:cNvPicPr>
            <a:picLocks noChangeAspect="1"/>
          </p:cNvPicPr>
          <p:nvPr/>
        </p:nvPicPr>
        <p:blipFill rotWithShape="1">
          <a:blip r:embed="rId3"/>
          <a:srcRect l="12919" r="47698" b="-2"/>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76" name="Isosceles Triangle 275">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73"/>
        <p:cNvGrpSpPr/>
        <p:nvPr/>
      </p:nvGrpSpPr>
      <p:grpSpPr>
        <a:xfrm>
          <a:off x="0" y="0"/>
          <a:ext cx="0" cy="0"/>
          <a:chOff x="0" y="0"/>
          <a:chExt cx="0" cy="0"/>
        </a:xfrm>
      </p:grpSpPr>
      <p:sp>
        <p:nvSpPr>
          <p:cNvPr id="5" name="Title 4"/>
          <p:cNvSpPr>
            <a:spLocks noGrp="1"/>
          </p:cNvSpPr>
          <p:nvPr>
            <p:ph type="title"/>
          </p:nvPr>
        </p:nvSpPr>
        <p:spPr>
          <a:xfrm>
            <a:off x="4152550" y="609600"/>
            <a:ext cx="2802951" cy="1320800"/>
          </a:xfrm>
        </p:spPr>
        <p:txBody>
          <a:bodyPr>
            <a:normAutofit/>
          </a:bodyPr>
          <a:lstStyle/>
          <a:p>
            <a:r>
              <a:rPr lang="en-US"/>
              <a:t>Basic Definitions</a:t>
            </a:r>
          </a:p>
        </p:txBody>
      </p:sp>
      <p:sp>
        <p:nvSpPr>
          <p:cNvPr id="275" name="Shape 275"/>
          <p:cNvSpPr txBox="1">
            <a:spLocks noGrp="1"/>
          </p:cNvSpPr>
          <p:nvPr>
            <p:ph idx="1"/>
          </p:nvPr>
        </p:nvSpPr>
        <p:spPr>
          <a:xfrm>
            <a:off x="3907172" y="2160589"/>
            <a:ext cx="3048329" cy="3880773"/>
          </a:xfrm>
        </p:spPr>
        <p:txBody>
          <a:bodyPr>
            <a:normAutofit/>
          </a:bodyPr>
          <a:lstStyle/>
          <a:p>
            <a:pPr lvl="0">
              <a:lnSpc>
                <a:spcPct val="90000"/>
              </a:lnSpc>
            </a:pPr>
            <a:r>
              <a:rPr lang="en-US" sz="1700">
                <a:sym typeface="Times New Roman"/>
              </a:rPr>
              <a:t>Voltage drop: The difference in potential between two points caused by current flow through a component.</a:t>
            </a:r>
          </a:p>
          <a:p>
            <a:pPr lvl="0">
              <a:lnSpc>
                <a:spcPct val="90000"/>
              </a:lnSpc>
            </a:pPr>
            <a:r>
              <a:rPr lang="en-US" sz="1700">
                <a:sym typeface="Times New Roman"/>
              </a:rPr>
              <a:t>Voltmeter: An instrument used to measure voltage.</a:t>
            </a:r>
          </a:p>
          <a:p>
            <a:pPr lvl="0">
              <a:lnSpc>
                <a:spcPct val="90000"/>
              </a:lnSpc>
            </a:pPr>
            <a:r>
              <a:rPr lang="en-US" sz="1700">
                <a:sym typeface="Times New Roman"/>
              </a:rPr>
              <a:t>Volt (V):The unit by which an electromotive force or voltage is measured. Named for Alessandro Volta, the</a:t>
            </a:r>
            <a:r>
              <a:rPr lang="en-US" sz="1700"/>
              <a:t> </a:t>
            </a:r>
            <a:r>
              <a:rPr lang="en-US" sz="1700">
                <a:sym typeface="Times New Roman"/>
              </a:rPr>
              <a:t>Italian physicist who invented the first electric battery (1800).</a:t>
            </a:r>
          </a:p>
          <a:p>
            <a:pPr lvl="0">
              <a:lnSpc>
                <a:spcPct val="90000"/>
              </a:lnSpc>
            </a:pPr>
            <a:endParaRPr lang="en-US" sz="1700">
              <a:sym typeface="Times New Roman"/>
            </a:endParaRPr>
          </a:p>
          <a:p>
            <a:pPr lvl="0">
              <a:lnSpc>
                <a:spcPct val="90000"/>
              </a:lnSpc>
            </a:pPr>
            <a:endParaRPr lang="en-US" sz="1700"/>
          </a:p>
        </p:txBody>
      </p:sp>
      <p:pic>
        <p:nvPicPr>
          <p:cNvPr id="277" name="Picture 276" descr="One glowing light bulb among other light bulbs">
            <a:extLst>
              <a:ext uri="{FF2B5EF4-FFF2-40B4-BE49-F238E27FC236}">
                <a16:creationId xmlns:a16="http://schemas.microsoft.com/office/drawing/2014/main" id="{FE5A0A98-BC29-D631-BFEC-D753F05F551D}"/>
              </a:ext>
            </a:extLst>
          </p:cNvPr>
          <p:cNvPicPr>
            <a:picLocks noChangeAspect="1"/>
          </p:cNvPicPr>
          <p:nvPr/>
        </p:nvPicPr>
        <p:blipFill rotWithShape="1">
          <a:blip r:embed="rId3"/>
          <a:srcRect l="11498" r="58854" b="-1"/>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82" name="Isosceles Triangle 281">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79"/>
        <p:cNvGrpSpPr/>
        <p:nvPr/>
      </p:nvGrpSpPr>
      <p:grpSpPr>
        <a:xfrm>
          <a:off x="0" y="0"/>
          <a:ext cx="0" cy="0"/>
          <a:chOff x="0" y="0"/>
          <a:chExt cx="0" cy="0"/>
        </a:xfrm>
      </p:grpSpPr>
      <p:sp>
        <p:nvSpPr>
          <p:cNvPr id="280" name="Shape 280"/>
          <p:cNvSpPr txBox="1">
            <a:spLocks noGrp="1"/>
          </p:cNvSpPr>
          <p:nvPr>
            <p:ph type="title"/>
          </p:nvPr>
        </p:nvSpPr>
        <p:spPr>
          <a:xfrm>
            <a:off x="4152550" y="609600"/>
            <a:ext cx="2802951" cy="1320800"/>
          </a:xfrm>
        </p:spPr>
        <p:txBody>
          <a:bodyPr>
            <a:normAutofit/>
          </a:bodyPr>
          <a:lstStyle/>
          <a:p>
            <a:pPr lvl="0"/>
            <a:r>
              <a:rPr lang="en-US">
                <a:sym typeface="Times New Roman"/>
              </a:rPr>
              <a:t>Active Components</a:t>
            </a:r>
          </a:p>
          <a:p>
            <a:pPr lvl="0"/>
            <a:endParaRPr lang="en-US" dirty="0"/>
          </a:p>
        </p:txBody>
      </p:sp>
      <p:sp>
        <p:nvSpPr>
          <p:cNvPr id="281" name="Shape 281"/>
          <p:cNvSpPr txBox="1">
            <a:spLocks noGrp="1"/>
          </p:cNvSpPr>
          <p:nvPr>
            <p:ph idx="1"/>
          </p:nvPr>
        </p:nvSpPr>
        <p:spPr>
          <a:xfrm>
            <a:off x="3907172" y="2160589"/>
            <a:ext cx="3048329" cy="3880773"/>
          </a:xfrm>
        </p:spPr>
        <p:txBody>
          <a:bodyPr>
            <a:normAutofit/>
          </a:bodyPr>
          <a:lstStyle/>
          <a:p>
            <a:pPr lvl="0"/>
            <a:r>
              <a:rPr lang="en-US" i="1" u="sng" dirty="0">
                <a:sym typeface="Times New Roman"/>
              </a:rPr>
              <a:t>Active Components</a:t>
            </a:r>
          </a:p>
          <a:p>
            <a:pPr lvl="0">
              <a:buNone/>
            </a:pPr>
            <a:r>
              <a:rPr lang="en-US">
                <a:sym typeface="Times New Roman"/>
              </a:rPr>
              <a:t>    The </a:t>
            </a:r>
            <a:r>
              <a:rPr lang="en-US" dirty="0">
                <a:sym typeface="Times New Roman"/>
              </a:rPr>
              <a:t>devices are used for the amplification, rectification or the change of energy from one to another. For example , Transistor, diode , LED that converts electrical energy into light energy.</a:t>
            </a:r>
          </a:p>
          <a:p>
            <a:pPr lvl="0"/>
            <a:endParaRPr lang="en-US" dirty="0"/>
          </a:p>
        </p:txBody>
      </p:sp>
      <p:pic>
        <p:nvPicPr>
          <p:cNvPr id="295" name="Picture 282" descr="One glowing light bulb among other light bulbs">
            <a:extLst>
              <a:ext uri="{FF2B5EF4-FFF2-40B4-BE49-F238E27FC236}">
                <a16:creationId xmlns:a16="http://schemas.microsoft.com/office/drawing/2014/main" id="{D85B01D5-0A99-C62D-CA62-5F422139153D}"/>
              </a:ext>
            </a:extLst>
          </p:cNvPr>
          <p:cNvPicPr>
            <a:picLocks noChangeAspect="1"/>
          </p:cNvPicPr>
          <p:nvPr/>
        </p:nvPicPr>
        <p:blipFill rotWithShape="1">
          <a:blip r:embed="rId3"/>
          <a:srcRect l="11498" r="58854" b="-1"/>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00" name="Isosceles Triangle 29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85"/>
        <p:cNvGrpSpPr/>
        <p:nvPr/>
      </p:nvGrpSpPr>
      <p:grpSpPr>
        <a:xfrm>
          <a:off x="0" y="0"/>
          <a:ext cx="0" cy="0"/>
          <a:chOff x="0" y="0"/>
          <a:chExt cx="0" cy="0"/>
        </a:xfrm>
      </p:grpSpPr>
      <p:pic>
        <p:nvPicPr>
          <p:cNvPr id="289" name="Picture 288" descr="CPU with binary numbers and blueprint">
            <a:extLst>
              <a:ext uri="{FF2B5EF4-FFF2-40B4-BE49-F238E27FC236}">
                <a16:creationId xmlns:a16="http://schemas.microsoft.com/office/drawing/2014/main" id="{2E372058-0C64-037C-F47A-95FC78031FE7}"/>
              </a:ext>
            </a:extLst>
          </p:cNvPr>
          <p:cNvPicPr>
            <a:picLocks noChangeAspect="1"/>
          </p:cNvPicPr>
          <p:nvPr/>
        </p:nvPicPr>
        <p:blipFill rotWithShape="1">
          <a:blip r:embed="rId3">
            <a:alphaModFix amt="35000"/>
          </a:blip>
          <a:srcRect l="14969" r="10031"/>
          <a:stretch/>
        </p:blipFill>
        <p:spPr>
          <a:xfrm>
            <a:off x="20" y="-1"/>
            <a:ext cx="9143980" cy="6858000"/>
          </a:xfrm>
          <a:prstGeom prst="rect">
            <a:avLst/>
          </a:prstGeom>
        </p:spPr>
      </p:pic>
      <p:sp>
        <p:nvSpPr>
          <p:cNvPr id="286" name="Shape 286"/>
          <p:cNvSpPr txBox="1">
            <a:spLocks noGrp="1"/>
          </p:cNvSpPr>
          <p:nvPr>
            <p:ph type="title"/>
          </p:nvPr>
        </p:nvSpPr>
        <p:spPr>
          <a:xfrm>
            <a:off x="484583" y="452718"/>
            <a:ext cx="7053542" cy="1400530"/>
          </a:xfrm>
        </p:spPr>
        <p:txBody>
          <a:bodyPr>
            <a:normAutofit/>
          </a:bodyPr>
          <a:lstStyle/>
          <a:p>
            <a:pPr lvl="0"/>
            <a:r>
              <a:rPr lang="en" dirty="0">
                <a:sym typeface="Times New Roman"/>
              </a:rPr>
              <a:t>Passive components</a:t>
            </a:r>
          </a:p>
        </p:txBody>
      </p:sp>
      <p:sp>
        <p:nvSpPr>
          <p:cNvPr id="287" name="Shape 287"/>
          <p:cNvSpPr txBox="1">
            <a:spLocks noGrp="1"/>
          </p:cNvSpPr>
          <p:nvPr>
            <p:ph idx="1"/>
          </p:nvPr>
        </p:nvSpPr>
        <p:spPr>
          <a:xfrm>
            <a:off x="827484" y="2052918"/>
            <a:ext cx="6709905" cy="4195481"/>
          </a:xfrm>
        </p:spPr>
        <p:txBody>
          <a:bodyPr>
            <a:normAutofit/>
          </a:bodyPr>
          <a:lstStyle/>
          <a:p>
            <a:pPr lvl="0"/>
            <a:r>
              <a:rPr lang="en" i="1" u="sng" dirty="0">
                <a:sym typeface="Times New Roman"/>
              </a:rPr>
              <a:t>Passive components</a:t>
            </a:r>
          </a:p>
          <a:p>
            <a:pPr lvl="0">
              <a:buNone/>
            </a:pPr>
            <a:r>
              <a:rPr lang="en" dirty="0">
                <a:sym typeface="Times New Roman"/>
              </a:rPr>
              <a:t>    The device can be used to complete a circuit with voltage and current sources and active components. For example resistors. Capacitor, inductor, and transformers.These components are called passive because they by themselves are not capable  of amplify signals or processing an electric signal</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0" y="628650"/>
            <a:ext cx="6938963" cy="1017588"/>
          </a:xfrm>
        </p:spPr>
        <p:txBody>
          <a:bodyPr vert="horz" lIns="91440" tIns="45720" rIns="91440" bIns="45720" rtlCol="0" anchor="t">
            <a:normAutofit/>
          </a:bodyPr>
          <a:lstStyle/>
          <a:p>
            <a:pPr defTabSz="457200">
              <a:defRPr/>
            </a:pPr>
            <a:r>
              <a:rPr lang="en-US" sz="3900">
                <a:solidFill>
                  <a:srgbClr val="EBEBEB"/>
                </a:solidFill>
              </a:rPr>
              <a:t>                    Resistor Symbol</a:t>
            </a:r>
          </a:p>
        </p:txBody>
      </p:sp>
      <p:pic>
        <p:nvPicPr>
          <p:cNvPr id="19459" name="Picture 7" descr="resistor%20schem"/>
          <p:cNvPicPr>
            <a:picLocks noChangeAspect="1" noChangeArrowheads="1"/>
          </p:cNvPicPr>
          <p:nvPr/>
        </p:nvPicPr>
        <p:blipFill>
          <a:blip r:embed="rId3"/>
          <a:srcRect/>
          <a:stretch>
            <a:fillRect/>
          </a:stretch>
        </p:blipFill>
        <p:spPr bwMode="auto">
          <a:xfrm>
            <a:off x="852870" y="2810256"/>
            <a:ext cx="4978058" cy="3404277"/>
          </a:xfrm>
          <a:prstGeom prst="rect">
            <a:avLst/>
          </a:prstGeom>
          <a:noFill/>
          <a:ln w="9525">
            <a:noFill/>
            <a:miter lim="800000"/>
            <a:headEnd/>
            <a:tailEnd/>
          </a:ln>
        </p:spPr>
      </p:pic>
      <p:pic>
        <p:nvPicPr>
          <p:cNvPr id="19460" name="Picture 9" descr="resv_symbol"/>
          <p:cNvPicPr>
            <a:picLocks noChangeAspect="1" noChangeArrowheads="1"/>
          </p:cNvPicPr>
          <p:nvPr/>
        </p:nvPicPr>
        <p:blipFill>
          <a:blip r:embed="rId4"/>
          <a:srcRect/>
          <a:stretch>
            <a:fillRect/>
          </a:stretch>
        </p:blipFill>
        <p:spPr bwMode="auto">
          <a:xfrm>
            <a:off x="6759197" y="4497512"/>
            <a:ext cx="1532855" cy="1532855"/>
          </a:xfrm>
          <a:prstGeom prst="rect">
            <a:avLst/>
          </a:prstGeom>
          <a:noFill/>
          <a:ln w="9525">
            <a:noFill/>
            <a:miter lim="800000"/>
            <a:headEnd/>
            <a:tailEnd/>
          </a:ln>
        </p:spPr>
      </p:pic>
      <p:pic>
        <p:nvPicPr>
          <p:cNvPr id="19461" name="Picture 11" descr="100px-Variable_resistor_symbol"/>
          <p:cNvPicPr>
            <a:picLocks noChangeAspect="1" noChangeArrowheads="1"/>
          </p:cNvPicPr>
          <p:nvPr/>
        </p:nvPicPr>
        <p:blipFill>
          <a:blip r:embed="rId5"/>
          <a:srcRect/>
          <a:stretch>
            <a:fillRect/>
          </a:stretch>
        </p:blipFill>
        <p:spPr bwMode="auto">
          <a:xfrm>
            <a:off x="6589914" y="3146963"/>
            <a:ext cx="1687256" cy="1350549"/>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755650" y="404813"/>
            <a:ext cx="7772400" cy="457200"/>
          </a:xfrm>
          <a:prstGeom prst="rect">
            <a:avLst/>
          </a:prstGeom>
          <a:noFill/>
          <a:ln w="9525">
            <a:noFill/>
            <a:miter lim="800000"/>
            <a:headEnd/>
            <a:tailEnd/>
          </a:ln>
        </p:spPr>
        <p:txBody>
          <a:bodyPr anchor="ctr"/>
          <a:lstStyle/>
          <a:p>
            <a:pPr algn="ctr" eaLnBrk="0" hangingPunct="0"/>
            <a:r>
              <a:rPr lang="en-US" b="1">
                <a:solidFill>
                  <a:schemeClr val="tx2"/>
                </a:solidFill>
              </a:rPr>
              <a:t>Resistors on PCB</a:t>
            </a:r>
          </a:p>
        </p:txBody>
      </p:sp>
      <p:sp>
        <p:nvSpPr>
          <p:cNvPr id="12291" name="Rectangle 3"/>
          <p:cNvSpPr>
            <a:spLocks noChangeArrowheads="1"/>
          </p:cNvSpPr>
          <p:nvPr/>
        </p:nvSpPr>
        <p:spPr bwMode="auto">
          <a:xfrm>
            <a:off x="1403350" y="881063"/>
            <a:ext cx="7345363" cy="360362"/>
          </a:xfrm>
          <a:prstGeom prst="rect">
            <a:avLst/>
          </a:prstGeom>
          <a:noFill/>
          <a:ln w="9525">
            <a:noFill/>
            <a:miter lim="800000"/>
            <a:headEnd/>
            <a:tailEnd/>
          </a:ln>
        </p:spPr>
        <p:txBody>
          <a:bodyPr/>
          <a:lstStyle/>
          <a:p>
            <a:pPr marL="342900" indent="-342900" eaLnBrk="0" hangingPunct="0">
              <a:spcBef>
                <a:spcPct val="20000"/>
              </a:spcBef>
            </a:pPr>
            <a:endParaRPr lang="en-CA" b="1"/>
          </a:p>
        </p:txBody>
      </p:sp>
      <p:pic>
        <p:nvPicPr>
          <p:cNvPr id="12292" name="Picture 4" descr="20060628t173151-img_0804-m"/>
          <p:cNvPicPr>
            <a:picLocks noChangeAspect="1" noChangeArrowheads="1"/>
          </p:cNvPicPr>
          <p:nvPr/>
        </p:nvPicPr>
        <p:blipFill>
          <a:blip r:embed="rId3"/>
          <a:srcRect/>
          <a:stretch>
            <a:fillRect/>
          </a:stretch>
        </p:blipFill>
        <p:spPr bwMode="auto">
          <a:xfrm>
            <a:off x="1331913" y="1125538"/>
            <a:ext cx="6813550" cy="5111750"/>
          </a:xfrm>
          <a:prstGeom prst="rect">
            <a:avLst/>
          </a:prstGeom>
          <a:noFill/>
          <a:ln w="9525">
            <a:noFill/>
            <a:miter lim="800000"/>
            <a:headEnd/>
            <a:tailEnd/>
          </a:ln>
        </p:spPr>
      </p:pic>
      <p:sp>
        <p:nvSpPr>
          <p:cNvPr id="12293" name="Rectangle 22"/>
          <p:cNvSpPr>
            <a:spLocks noChangeArrowheads="1"/>
          </p:cNvSpPr>
          <p:nvPr/>
        </p:nvSpPr>
        <p:spPr bwMode="auto">
          <a:xfrm>
            <a:off x="1331913" y="5013325"/>
            <a:ext cx="2160587" cy="855663"/>
          </a:xfrm>
          <a:prstGeom prst="rect">
            <a:avLst/>
          </a:prstGeom>
          <a:noFill/>
          <a:ln w="9525">
            <a:noFill/>
            <a:miter lim="800000"/>
            <a:headEnd/>
            <a:tailEnd/>
          </a:ln>
        </p:spPr>
        <p:txBody>
          <a:bodyPr>
            <a:spAutoFit/>
          </a:bodyPr>
          <a:lstStyle/>
          <a:p>
            <a:pPr algn="ctr"/>
            <a:r>
              <a:rPr lang="en-US" b="1">
                <a:solidFill>
                  <a:srgbClr val="FF0000"/>
                </a:solidFill>
              </a:rPr>
              <a:t>Resistors</a:t>
            </a:r>
          </a:p>
          <a:p>
            <a:pPr algn="ctr"/>
            <a:r>
              <a:rPr lang="en-US" sz="1600"/>
              <a:t>(axial components </a:t>
            </a:r>
          </a:p>
          <a:p>
            <a:pPr algn="ctr"/>
            <a:r>
              <a:rPr lang="en-US" sz="1600"/>
              <a:t>with color bands</a:t>
            </a:r>
          </a:p>
        </p:txBody>
      </p:sp>
      <p:sp>
        <p:nvSpPr>
          <p:cNvPr id="12294" name="Line 6"/>
          <p:cNvSpPr>
            <a:spLocks noChangeShapeType="1"/>
          </p:cNvSpPr>
          <p:nvPr/>
        </p:nvSpPr>
        <p:spPr bwMode="auto">
          <a:xfrm flipV="1">
            <a:off x="2268538" y="2781300"/>
            <a:ext cx="935037" cy="2160588"/>
          </a:xfrm>
          <a:prstGeom prst="line">
            <a:avLst/>
          </a:prstGeom>
          <a:noFill/>
          <a:ln w="38100">
            <a:solidFill>
              <a:schemeClr val="accent2"/>
            </a:solidFill>
            <a:round/>
            <a:headEnd/>
            <a:tailEnd type="triangle" w="med" len="med"/>
          </a:ln>
        </p:spPr>
        <p:txBody>
          <a:bodyPr/>
          <a:lstStyle/>
          <a:p>
            <a:endParaRPr lang="en-US"/>
          </a:p>
        </p:txBody>
      </p:sp>
      <p:sp>
        <p:nvSpPr>
          <p:cNvPr id="12295" name="Line 7"/>
          <p:cNvSpPr>
            <a:spLocks noChangeShapeType="1"/>
          </p:cNvSpPr>
          <p:nvPr/>
        </p:nvSpPr>
        <p:spPr bwMode="auto">
          <a:xfrm flipV="1">
            <a:off x="2484438" y="3644900"/>
            <a:ext cx="1223962" cy="1368425"/>
          </a:xfrm>
          <a:prstGeom prst="line">
            <a:avLst/>
          </a:prstGeom>
          <a:noFill/>
          <a:ln w="38100">
            <a:solidFill>
              <a:schemeClr val="accent2"/>
            </a:solidFill>
            <a:round/>
            <a:headEnd/>
            <a:tailEnd type="triangle" w="med" len="med"/>
          </a:ln>
        </p:spPr>
        <p:txBody>
          <a:bodyPr/>
          <a:lstStyle/>
          <a:p>
            <a:endParaRPr lang="en-US"/>
          </a:p>
        </p:txBody>
      </p:sp>
      <p:sp>
        <p:nvSpPr>
          <p:cNvPr id="12296" name="Line 8"/>
          <p:cNvSpPr>
            <a:spLocks noChangeShapeType="1"/>
          </p:cNvSpPr>
          <p:nvPr/>
        </p:nvSpPr>
        <p:spPr bwMode="auto">
          <a:xfrm flipV="1">
            <a:off x="2700338" y="4292600"/>
            <a:ext cx="1079500" cy="720725"/>
          </a:xfrm>
          <a:prstGeom prst="line">
            <a:avLst/>
          </a:prstGeom>
          <a:noFill/>
          <a:ln w="38100">
            <a:solidFill>
              <a:schemeClr val="accent2"/>
            </a:solidFill>
            <a:round/>
            <a:headEnd/>
            <a:tailEnd type="triangle" w="med" len="med"/>
          </a:ln>
        </p:spPr>
        <p:txBody>
          <a:bodyPr/>
          <a:lstStyle/>
          <a:p>
            <a:endParaRPr lang="en-US"/>
          </a:p>
        </p:txBody>
      </p:sp>
      <p:sp>
        <p:nvSpPr>
          <p:cNvPr id="12297" name="Line 9"/>
          <p:cNvSpPr>
            <a:spLocks noChangeShapeType="1"/>
          </p:cNvSpPr>
          <p:nvPr/>
        </p:nvSpPr>
        <p:spPr bwMode="auto">
          <a:xfrm flipV="1">
            <a:off x="2987675" y="4365625"/>
            <a:ext cx="2160588" cy="863600"/>
          </a:xfrm>
          <a:prstGeom prst="line">
            <a:avLst/>
          </a:prstGeom>
          <a:noFill/>
          <a:ln w="38100">
            <a:solidFill>
              <a:schemeClr val="accent2"/>
            </a:solidFill>
            <a:round/>
            <a:headEnd/>
            <a:tailEnd type="triangle" w="med" len="me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95"/>
        <p:cNvGrpSpPr/>
        <p:nvPr/>
      </p:nvGrpSpPr>
      <p:grpSpPr>
        <a:xfrm>
          <a:off x="0" y="0"/>
          <a:ext cx="0" cy="0"/>
          <a:chOff x="0" y="0"/>
          <a:chExt cx="0" cy="0"/>
        </a:xfrm>
      </p:grpSpPr>
      <p:sp>
        <p:nvSpPr>
          <p:cNvPr id="496" name="Shape 496"/>
          <p:cNvSpPr txBox="1">
            <a:spLocks noGrp="1"/>
          </p:cNvSpPr>
          <p:nvPr>
            <p:ph type="title"/>
          </p:nvPr>
        </p:nvSpPr>
        <p:spPr>
          <a:xfrm>
            <a:off x="4152550" y="609600"/>
            <a:ext cx="2802951" cy="1320800"/>
          </a:xfrm>
        </p:spPr>
        <p:txBody>
          <a:bodyPr>
            <a:normAutofit/>
          </a:bodyPr>
          <a:lstStyle/>
          <a:p>
            <a:pPr lvl="0"/>
            <a:r>
              <a:rPr lang="en"/>
              <a:t>Uses of  Resistors</a:t>
            </a:r>
          </a:p>
        </p:txBody>
      </p:sp>
      <p:sp>
        <p:nvSpPr>
          <p:cNvPr id="497" name="Shape 497"/>
          <p:cNvSpPr txBox="1">
            <a:spLocks noGrp="1"/>
          </p:cNvSpPr>
          <p:nvPr>
            <p:ph idx="1"/>
          </p:nvPr>
        </p:nvSpPr>
        <p:spPr>
          <a:xfrm>
            <a:off x="3907172" y="2160589"/>
            <a:ext cx="3048329" cy="3880773"/>
          </a:xfrm>
        </p:spPr>
        <p:txBody>
          <a:bodyPr>
            <a:normAutofit/>
          </a:bodyPr>
          <a:lstStyle/>
          <a:p>
            <a:pPr lvl="0"/>
            <a:r>
              <a:rPr lang="en"/>
              <a:t>The uses and applications of a resistor within an electrical or electronic circuit are vast and varied with virtually every electronic circuit ever designed using one or more types of resistor. </a:t>
            </a:r>
          </a:p>
        </p:txBody>
      </p:sp>
      <p:pic>
        <p:nvPicPr>
          <p:cNvPr id="499" name="Picture 498" descr="Electronic components on a white background">
            <a:extLst>
              <a:ext uri="{FF2B5EF4-FFF2-40B4-BE49-F238E27FC236}">
                <a16:creationId xmlns:a16="http://schemas.microsoft.com/office/drawing/2014/main" id="{DCCB8792-57E3-7574-08BE-5291CA8B59B9}"/>
              </a:ext>
            </a:extLst>
          </p:cNvPr>
          <p:cNvPicPr>
            <a:picLocks noChangeAspect="1"/>
          </p:cNvPicPr>
          <p:nvPr/>
        </p:nvPicPr>
        <p:blipFill rotWithShape="1">
          <a:blip r:embed="rId3"/>
          <a:srcRect l="60619" r="-2" b="-2"/>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504" name="Isosceles Triangle 503">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0243" name="Rectangle 4">
            <a:extLst>
              <a:ext uri="{FF2B5EF4-FFF2-40B4-BE49-F238E27FC236}">
                <a16:creationId xmlns:a16="http://schemas.microsoft.com/office/drawing/2014/main" id="{B51C26CD-A175-463F-83A2-677C11C0F639}"/>
              </a:ext>
            </a:extLst>
          </p:cNvPr>
          <p:cNvSpPr>
            <a:spLocks noGrp="1" noChangeArrowheads="1"/>
          </p:cNvSpPr>
          <p:nvPr>
            <p:ph type="title"/>
          </p:nvPr>
        </p:nvSpPr>
        <p:spPr>
          <a:xfrm>
            <a:off x="485775" y="1454964"/>
            <a:ext cx="3599257" cy="3308840"/>
          </a:xfrm>
        </p:spPr>
        <p:txBody>
          <a:bodyPr vert="horz" lIns="91440" tIns="45720" rIns="91440" bIns="45720" rtlCol="0" anchor="b">
            <a:normAutofit fontScale="90000"/>
          </a:bodyPr>
          <a:lstStyle/>
          <a:p>
            <a:pPr defTabSz="457200"/>
            <a:r>
              <a:rPr lang="en-US" altLang="en-US" sz="7200" dirty="0"/>
              <a:t>Series circuits</a:t>
            </a:r>
            <a:br>
              <a:rPr lang="en-US" altLang="en-US" sz="7200" dirty="0"/>
            </a:br>
            <a:r>
              <a:rPr lang="en-US" altLang="en-US" sz="7200" dirty="0"/>
              <a:t>CH 5 : </a:t>
            </a:r>
          </a:p>
        </p:txBody>
      </p:sp>
      <p:sp>
        <p:nvSpPr>
          <p:cNvPr id="10242" name="Content Placeholder 7">
            <a:extLst>
              <a:ext uri="{FF2B5EF4-FFF2-40B4-BE49-F238E27FC236}">
                <a16:creationId xmlns:a16="http://schemas.microsoft.com/office/drawing/2014/main" id="{11E8D98F-E8B6-49B4-82D9-9966D98EDDA2}"/>
              </a:ext>
            </a:extLst>
          </p:cNvPr>
          <p:cNvSpPr>
            <a:spLocks noGrp="1"/>
          </p:cNvSpPr>
          <p:nvPr>
            <p:ph type="body" idx="1"/>
          </p:nvPr>
        </p:nvSpPr>
        <p:spPr>
          <a:xfrm>
            <a:off x="485775" y="4763803"/>
            <a:ext cx="3599257" cy="1464378"/>
          </a:xfrm>
        </p:spPr>
        <p:txBody>
          <a:bodyPr vert="horz" lIns="91440" tIns="45720" rIns="91440" bIns="45720" rtlCol="0" anchor="t">
            <a:normAutofit/>
          </a:bodyPr>
          <a:lstStyle/>
          <a:p>
            <a:pPr defTabSz="457200"/>
            <a:r>
              <a:rPr lang="en-US" altLang="en-US"/>
              <a:t>Problem solving of resistors in series </a:t>
            </a:r>
          </a:p>
        </p:txBody>
      </p:sp>
      <p:sp>
        <p:nvSpPr>
          <p:cNvPr id="10244" name="Slide Number Placeholder 2">
            <a:extLst>
              <a:ext uri="{FF2B5EF4-FFF2-40B4-BE49-F238E27FC236}">
                <a16:creationId xmlns:a16="http://schemas.microsoft.com/office/drawing/2014/main" id="{58CC4478-E93D-4145-8255-27DA2BB750D6}"/>
              </a:ext>
            </a:extLst>
          </p:cNvPr>
          <p:cNvSpPr>
            <a:spLocks noGrp="1"/>
          </p:cNvSpPr>
          <p:nvPr>
            <p:ph type="sldNum" sz="quarter" idx="12"/>
          </p:nvPr>
        </p:nvSpPr>
        <p:spPr bwMode="auto">
          <a:xfrm>
            <a:off x="7764405" y="295729"/>
            <a:ext cx="628649" cy="7676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914400">
              <a:spcAft>
                <a:spcPts val="600"/>
              </a:spcAft>
            </a:pPr>
            <a:fld id="{338887FF-B4BE-479D-ABAB-581048B8DFC2}" type="slidenum">
              <a:rPr lang="en-US" altLang="en-US" sz="2800">
                <a:solidFill>
                  <a:schemeClr val="tx1">
                    <a:tint val="75000"/>
                  </a:schemeClr>
                </a:solidFill>
                <a:latin typeface="+mn-lt"/>
              </a:rPr>
              <a:pPr defTabSz="914400">
                <a:spcAft>
                  <a:spcPts val="600"/>
                </a:spcAft>
              </a:pPr>
              <a:t>10</a:t>
            </a:fld>
            <a:endParaRPr lang="en-US" altLang="en-US" sz="2800">
              <a:solidFill>
                <a:schemeClr val="tx1">
                  <a:tint val="75000"/>
                </a:schemeClr>
              </a:solidFill>
              <a:latin typeface="+mn-lt"/>
            </a:endParaRPr>
          </a:p>
        </p:txBody>
      </p:sp>
      <p:pic>
        <p:nvPicPr>
          <p:cNvPr id="10246" name="Picture 10245" descr="Electronics protoboard">
            <a:extLst>
              <a:ext uri="{FF2B5EF4-FFF2-40B4-BE49-F238E27FC236}">
                <a16:creationId xmlns:a16="http://schemas.microsoft.com/office/drawing/2014/main" id="{EE980C9D-C03D-C1AE-6DD5-492352A08498}"/>
              </a:ext>
            </a:extLst>
          </p:cNvPr>
          <p:cNvPicPr>
            <a:picLocks noChangeAspect="1"/>
          </p:cNvPicPr>
          <p:nvPr/>
        </p:nvPicPr>
        <p:blipFill rotWithShape="1">
          <a:blip r:embed="rId3"/>
          <a:srcRect l="10742" r="44746" b="-1"/>
          <a:stretch/>
        </p:blipFill>
        <p:spPr>
          <a:xfrm>
            <a:off x="4570808" y="10"/>
            <a:ext cx="4573192" cy="68579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AFBA6-E776-6656-1844-850E655328A0}"/>
              </a:ext>
            </a:extLst>
          </p:cNvPr>
          <p:cNvSpPr>
            <a:spLocks noGrp="1"/>
          </p:cNvSpPr>
          <p:nvPr>
            <p:ph type="title"/>
          </p:nvPr>
        </p:nvSpPr>
        <p:spPr>
          <a:xfrm>
            <a:off x="508000" y="609600"/>
            <a:ext cx="6447501" cy="1320800"/>
          </a:xfrm>
        </p:spPr>
        <p:txBody>
          <a:bodyPr anchor="t">
            <a:normAutofit/>
          </a:bodyPr>
          <a:lstStyle/>
          <a:p>
            <a:r>
              <a:rPr lang="en-GB"/>
              <a:t>5.2 Series ciruit</a:t>
            </a:r>
            <a:endParaRPr lang="en-US" dirty="0"/>
          </a:p>
        </p:txBody>
      </p:sp>
      <p:pic>
        <p:nvPicPr>
          <p:cNvPr id="5" name="Content Placeholder 4">
            <a:extLst>
              <a:ext uri="{FF2B5EF4-FFF2-40B4-BE49-F238E27FC236}">
                <a16:creationId xmlns:a16="http://schemas.microsoft.com/office/drawing/2014/main" id="{EBF17A27-E2A7-C28E-3754-EB27D46CF891}"/>
              </a:ext>
            </a:extLst>
          </p:cNvPr>
          <p:cNvPicPr>
            <a:picLocks noChangeAspect="1"/>
          </p:cNvPicPr>
          <p:nvPr/>
        </p:nvPicPr>
        <p:blipFill>
          <a:blip r:embed="rId2"/>
          <a:stretch>
            <a:fillRect/>
          </a:stretch>
        </p:blipFill>
        <p:spPr>
          <a:xfrm>
            <a:off x="356805" y="1171032"/>
            <a:ext cx="6447500" cy="2564177"/>
          </a:xfrm>
          <a:prstGeom prst="rect">
            <a:avLst/>
          </a:prstGeom>
        </p:spPr>
      </p:pic>
    </p:spTree>
    <p:extLst>
      <p:ext uri="{BB962C8B-B14F-4D97-AF65-F5344CB8AC3E}">
        <p14:creationId xmlns:p14="http://schemas.microsoft.com/office/powerpoint/2010/main" val="3552754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A038F-5C29-2D90-02CF-B8F2A7016A80}"/>
              </a:ext>
            </a:extLst>
          </p:cNvPr>
          <p:cNvSpPr>
            <a:spLocks noGrp="1"/>
          </p:cNvSpPr>
          <p:nvPr>
            <p:ph type="title"/>
          </p:nvPr>
        </p:nvSpPr>
        <p:spPr/>
        <p:txBody>
          <a:bodyPr/>
          <a:lstStyle/>
          <a:p>
            <a:r>
              <a:rPr lang="en-GB" dirty="0"/>
              <a:t>Series circuit</a:t>
            </a:r>
            <a:endParaRPr lang="en-US" dirty="0"/>
          </a:p>
        </p:txBody>
      </p:sp>
      <p:pic>
        <p:nvPicPr>
          <p:cNvPr id="5" name="Content Placeholder 4">
            <a:extLst>
              <a:ext uri="{FF2B5EF4-FFF2-40B4-BE49-F238E27FC236}">
                <a16:creationId xmlns:a16="http://schemas.microsoft.com/office/drawing/2014/main" id="{41D0D96F-8557-0433-4F76-0ED6C5AE70AA}"/>
              </a:ext>
            </a:extLst>
          </p:cNvPr>
          <p:cNvPicPr>
            <a:picLocks noGrp="1" noChangeAspect="1"/>
          </p:cNvPicPr>
          <p:nvPr>
            <p:ph idx="1"/>
          </p:nvPr>
        </p:nvPicPr>
        <p:blipFill>
          <a:blip r:embed="rId2"/>
          <a:stretch>
            <a:fillRect/>
          </a:stretch>
        </p:blipFill>
        <p:spPr>
          <a:xfrm>
            <a:off x="152400" y="1524000"/>
            <a:ext cx="2343150" cy="1390650"/>
          </a:xfrm>
        </p:spPr>
      </p:pic>
      <p:pic>
        <p:nvPicPr>
          <p:cNvPr id="7" name="Picture 6">
            <a:extLst>
              <a:ext uri="{FF2B5EF4-FFF2-40B4-BE49-F238E27FC236}">
                <a16:creationId xmlns:a16="http://schemas.microsoft.com/office/drawing/2014/main" id="{4A9C14C2-E6B6-F4DE-5E2F-55EEE28244D4}"/>
              </a:ext>
            </a:extLst>
          </p:cNvPr>
          <p:cNvPicPr>
            <a:picLocks noChangeAspect="1"/>
          </p:cNvPicPr>
          <p:nvPr/>
        </p:nvPicPr>
        <p:blipFill>
          <a:blip r:embed="rId3"/>
          <a:stretch>
            <a:fillRect/>
          </a:stretch>
        </p:blipFill>
        <p:spPr>
          <a:xfrm>
            <a:off x="2805651" y="1219200"/>
            <a:ext cx="5187820" cy="1125537"/>
          </a:xfrm>
          <a:prstGeom prst="rect">
            <a:avLst/>
          </a:prstGeom>
        </p:spPr>
      </p:pic>
      <p:pic>
        <p:nvPicPr>
          <p:cNvPr id="9" name="Picture 8">
            <a:extLst>
              <a:ext uri="{FF2B5EF4-FFF2-40B4-BE49-F238E27FC236}">
                <a16:creationId xmlns:a16="http://schemas.microsoft.com/office/drawing/2014/main" id="{704E9A02-4B42-C75F-5A53-FB8E3186CE49}"/>
              </a:ext>
            </a:extLst>
          </p:cNvPr>
          <p:cNvPicPr>
            <a:picLocks noChangeAspect="1"/>
          </p:cNvPicPr>
          <p:nvPr/>
        </p:nvPicPr>
        <p:blipFill>
          <a:blip r:embed="rId4"/>
          <a:stretch>
            <a:fillRect/>
          </a:stretch>
        </p:blipFill>
        <p:spPr>
          <a:xfrm>
            <a:off x="2805650" y="2367842"/>
            <a:ext cx="5187819" cy="362384"/>
          </a:xfrm>
          <a:prstGeom prst="rect">
            <a:avLst/>
          </a:prstGeom>
        </p:spPr>
      </p:pic>
    </p:spTree>
    <p:extLst>
      <p:ext uri="{BB962C8B-B14F-4D97-AF65-F5344CB8AC3E}">
        <p14:creationId xmlns:p14="http://schemas.microsoft.com/office/powerpoint/2010/main" val="1862140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93399-CF92-CF3A-D89C-CC2B9A0B7368}"/>
              </a:ext>
            </a:extLst>
          </p:cNvPr>
          <p:cNvSpPr>
            <a:spLocks noGrp="1"/>
          </p:cNvSpPr>
          <p:nvPr>
            <p:ph type="title"/>
          </p:nvPr>
        </p:nvSpPr>
        <p:spPr/>
        <p:txBody>
          <a:bodyPr/>
          <a:lstStyle/>
          <a:p>
            <a:r>
              <a:rPr lang="en-GB" dirty="0"/>
              <a:t>Series </a:t>
            </a:r>
            <a:r>
              <a:rPr lang="en-GB" dirty="0" err="1"/>
              <a:t>ciruit</a:t>
            </a:r>
            <a:endParaRPr lang="en-US" dirty="0"/>
          </a:p>
        </p:txBody>
      </p:sp>
      <p:pic>
        <p:nvPicPr>
          <p:cNvPr id="5" name="Content Placeholder 4">
            <a:extLst>
              <a:ext uri="{FF2B5EF4-FFF2-40B4-BE49-F238E27FC236}">
                <a16:creationId xmlns:a16="http://schemas.microsoft.com/office/drawing/2014/main" id="{34D720BA-AB84-61C3-6FE6-FF4A68FF0DBD}"/>
              </a:ext>
            </a:extLst>
          </p:cNvPr>
          <p:cNvPicPr>
            <a:picLocks noGrp="1" noChangeAspect="1"/>
          </p:cNvPicPr>
          <p:nvPr>
            <p:ph idx="1"/>
          </p:nvPr>
        </p:nvPicPr>
        <p:blipFill>
          <a:blip r:embed="rId2"/>
          <a:stretch>
            <a:fillRect/>
          </a:stretch>
        </p:blipFill>
        <p:spPr>
          <a:xfrm>
            <a:off x="556096" y="1281896"/>
            <a:ext cx="5235104" cy="571752"/>
          </a:xfrm>
        </p:spPr>
      </p:pic>
      <p:pic>
        <p:nvPicPr>
          <p:cNvPr id="7" name="Picture 6">
            <a:extLst>
              <a:ext uri="{FF2B5EF4-FFF2-40B4-BE49-F238E27FC236}">
                <a16:creationId xmlns:a16="http://schemas.microsoft.com/office/drawing/2014/main" id="{138ED211-9091-7089-4BDF-BC833218B227}"/>
              </a:ext>
            </a:extLst>
          </p:cNvPr>
          <p:cNvPicPr>
            <a:picLocks noChangeAspect="1"/>
          </p:cNvPicPr>
          <p:nvPr/>
        </p:nvPicPr>
        <p:blipFill>
          <a:blip r:embed="rId3"/>
          <a:stretch>
            <a:fillRect/>
          </a:stretch>
        </p:blipFill>
        <p:spPr>
          <a:xfrm>
            <a:off x="457200" y="2199479"/>
            <a:ext cx="5791200" cy="656433"/>
          </a:xfrm>
          <a:prstGeom prst="rect">
            <a:avLst/>
          </a:prstGeom>
        </p:spPr>
      </p:pic>
      <p:pic>
        <p:nvPicPr>
          <p:cNvPr id="9" name="Picture 8">
            <a:extLst>
              <a:ext uri="{FF2B5EF4-FFF2-40B4-BE49-F238E27FC236}">
                <a16:creationId xmlns:a16="http://schemas.microsoft.com/office/drawing/2014/main" id="{19C3D8E6-6D35-423E-0B6C-8BEE65B19701}"/>
              </a:ext>
            </a:extLst>
          </p:cNvPr>
          <p:cNvPicPr>
            <a:picLocks noChangeAspect="1"/>
          </p:cNvPicPr>
          <p:nvPr/>
        </p:nvPicPr>
        <p:blipFill>
          <a:blip r:embed="rId4"/>
          <a:stretch>
            <a:fillRect/>
          </a:stretch>
        </p:blipFill>
        <p:spPr>
          <a:xfrm>
            <a:off x="666750" y="3074987"/>
            <a:ext cx="6230620" cy="708025"/>
          </a:xfrm>
          <a:prstGeom prst="rect">
            <a:avLst/>
          </a:prstGeom>
        </p:spPr>
      </p:pic>
    </p:spTree>
    <p:extLst>
      <p:ext uri="{BB962C8B-B14F-4D97-AF65-F5344CB8AC3E}">
        <p14:creationId xmlns:p14="http://schemas.microsoft.com/office/powerpoint/2010/main" val="391601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0EFFB-F5E7-746F-7B35-BB01FBFC081A}"/>
              </a:ext>
            </a:extLst>
          </p:cNvPr>
          <p:cNvSpPr>
            <a:spLocks noGrp="1"/>
          </p:cNvSpPr>
          <p:nvPr>
            <p:ph type="title"/>
          </p:nvPr>
        </p:nvSpPr>
        <p:spPr/>
        <p:txBody>
          <a:bodyPr/>
          <a:lstStyle/>
          <a:p>
            <a:r>
              <a:rPr lang="en-GB" dirty="0"/>
              <a:t>Series </a:t>
            </a:r>
            <a:r>
              <a:rPr lang="en-GB" dirty="0" err="1"/>
              <a:t>ciruit</a:t>
            </a:r>
            <a:endParaRPr lang="en-US" dirty="0"/>
          </a:p>
        </p:txBody>
      </p:sp>
      <p:pic>
        <p:nvPicPr>
          <p:cNvPr id="5" name="Content Placeholder 4">
            <a:extLst>
              <a:ext uri="{FF2B5EF4-FFF2-40B4-BE49-F238E27FC236}">
                <a16:creationId xmlns:a16="http://schemas.microsoft.com/office/drawing/2014/main" id="{2FE5862A-2CF2-A2CC-48FE-647AD1B723E3}"/>
              </a:ext>
            </a:extLst>
          </p:cNvPr>
          <p:cNvPicPr>
            <a:picLocks noGrp="1" noChangeAspect="1"/>
          </p:cNvPicPr>
          <p:nvPr>
            <p:ph idx="1"/>
          </p:nvPr>
        </p:nvPicPr>
        <p:blipFill>
          <a:blip r:embed="rId2"/>
          <a:stretch>
            <a:fillRect/>
          </a:stretch>
        </p:blipFill>
        <p:spPr>
          <a:xfrm>
            <a:off x="3448050" y="1930400"/>
            <a:ext cx="2247900" cy="590550"/>
          </a:xfrm>
        </p:spPr>
      </p:pic>
      <p:pic>
        <p:nvPicPr>
          <p:cNvPr id="7" name="Picture 6">
            <a:extLst>
              <a:ext uri="{FF2B5EF4-FFF2-40B4-BE49-F238E27FC236}">
                <a16:creationId xmlns:a16="http://schemas.microsoft.com/office/drawing/2014/main" id="{10ECE416-64C2-7A2A-293A-3BAFB9B24978}"/>
              </a:ext>
            </a:extLst>
          </p:cNvPr>
          <p:cNvPicPr>
            <a:picLocks noChangeAspect="1"/>
          </p:cNvPicPr>
          <p:nvPr/>
        </p:nvPicPr>
        <p:blipFill>
          <a:blip r:embed="rId3"/>
          <a:stretch>
            <a:fillRect/>
          </a:stretch>
        </p:blipFill>
        <p:spPr>
          <a:xfrm>
            <a:off x="3159623" y="1407843"/>
            <a:ext cx="2352675" cy="628650"/>
          </a:xfrm>
          <a:prstGeom prst="rect">
            <a:avLst/>
          </a:prstGeom>
        </p:spPr>
      </p:pic>
      <p:pic>
        <p:nvPicPr>
          <p:cNvPr id="9" name="Picture 8">
            <a:extLst>
              <a:ext uri="{FF2B5EF4-FFF2-40B4-BE49-F238E27FC236}">
                <a16:creationId xmlns:a16="http://schemas.microsoft.com/office/drawing/2014/main" id="{B78658B3-0651-112C-25F1-B27806079C42}"/>
              </a:ext>
            </a:extLst>
          </p:cNvPr>
          <p:cNvPicPr>
            <a:picLocks noChangeAspect="1"/>
          </p:cNvPicPr>
          <p:nvPr/>
        </p:nvPicPr>
        <p:blipFill>
          <a:blip r:embed="rId4"/>
          <a:stretch>
            <a:fillRect/>
          </a:stretch>
        </p:blipFill>
        <p:spPr>
          <a:xfrm>
            <a:off x="3395662" y="1218135"/>
            <a:ext cx="3476625" cy="438150"/>
          </a:xfrm>
          <a:prstGeom prst="rect">
            <a:avLst/>
          </a:prstGeom>
        </p:spPr>
      </p:pic>
      <p:pic>
        <p:nvPicPr>
          <p:cNvPr id="11" name="Picture 10">
            <a:extLst>
              <a:ext uri="{FF2B5EF4-FFF2-40B4-BE49-F238E27FC236}">
                <a16:creationId xmlns:a16="http://schemas.microsoft.com/office/drawing/2014/main" id="{BD214503-FF2D-719C-11D5-393105D521D7}"/>
              </a:ext>
            </a:extLst>
          </p:cNvPr>
          <p:cNvPicPr>
            <a:picLocks noChangeAspect="1"/>
          </p:cNvPicPr>
          <p:nvPr/>
        </p:nvPicPr>
        <p:blipFill>
          <a:blip r:embed="rId5"/>
          <a:stretch>
            <a:fillRect/>
          </a:stretch>
        </p:blipFill>
        <p:spPr>
          <a:xfrm>
            <a:off x="3152775" y="2681778"/>
            <a:ext cx="2543175" cy="1152525"/>
          </a:xfrm>
          <a:prstGeom prst="rect">
            <a:avLst/>
          </a:prstGeom>
        </p:spPr>
      </p:pic>
      <p:pic>
        <p:nvPicPr>
          <p:cNvPr id="13" name="Picture 12">
            <a:extLst>
              <a:ext uri="{FF2B5EF4-FFF2-40B4-BE49-F238E27FC236}">
                <a16:creationId xmlns:a16="http://schemas.microsoft.com/office/drawing/2014/main" id="{9DBC3CE9-1140-8ED0-335F-903BADD1118F}"/>
              </a:ext>
            </a:extLst>
          </p:cNvPr>
          <p:cNvPicPr>
            <a:picLocks noChangeAspect="1"/>
          </p:cNvPicPr>
          <p:nvPr/>
        </p:nvPicPr>
        <p:blipFill>
          <a:blip r:embed="rId6"/>
          <a:stretch>
            <a:fillRect/>
          </a:stretch>
        </p:blipFill>
        <p:spPr>
          <a:xfrm>
            <a:off x="3271837" y="3955713"/>
            <a:ext cx="2600325" cy="523875"/>
          </a:xfrm>
          <a:prstGeom prst="rect">
            <a:avLst/>
          </a:prstGeom>
        </p:spPr>
      </p:pic>
    </p:spTree>
    <p:extLst>
      <p:ext uri="{BB962C8B-B14F-4D97-AF65-F5344CB8AC3E}">
        <p14:creationId xmlns:p14="http://schemas.microsoft.com/office/powerpoint/2010/main" val="3310446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ED7E4-D492-CA5B-9115-C5DFD60184F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827D75B-B2FE-4A4C-BA31-22C1B8FC5390}"/>
              </a:ext>
            </a:extLst>
          </p:cNvPr>
          <p:cNvPicPr>
            <a:picLocks noGrp="1" noChangeAspect="1"/>
          </p:cNvPicPr>
          <p:nvPr>
            <p:ph idx="1"/>
          </p:nvPr>
        </p:nvPicPr>
        <p:blipFill>
          <a:blip r:embed="rId2"/>
          <a:stretch>
            <a:fillRect/>
          </a:stretch>
        </p:blipFill>
        <p:spPr>
          <a:xfrm>
            <a:off x="668563" y="2160588"/>
            <a:ext cx="6230486" cy="3881437"/>
          </a:xfrm>
        </p:spPr>
      </p:pic>
    </p:spTree>
    <p:extLst>
      <p:ext uri="{BB962C8B-B14F-4D97-AF65-F5344CB8AC3E}">
        <p14:creationId xmlns:p14="http://schemas.microsoft.com/office/powerpoint/2010/main" val="3126426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3">
            <a:extLst>
              <a:ext uri="{FF2B5EF4-FFF2-40B4-BE49-F238E27FC236}">
                <a16:creationId xmlns:a16="http://schemas.microsoft.com/office/drawing/2014/main" id="{2C7BF0D7-E073-9C2C-991F-4BC1091D2291}"/>
              </a:ext>
            </a:extLst>
          </p:cNvPr>
          <p:cNvSpPr>
            <a:spLocks noGrp="1"/>
          </p:cNvSpPr>
          <p:nvPr>
            <p:ph type="title"/>
          </p:nvPr>
        </p:nvSpPr>
        <p:spPr/>
        <p:txBody>
          <a:bodyPr/>
          <a:lstStyle/>
          <a:p>
            <a:pPr eaLnBrk="1" hangingPunct="1"/>
            <a:r>
              <a:rPr lang="en-US" altLang="en-US"/>
              <a:t>Parallel circuits </a:t>
            </a:r>
          </a:p>
        </p:txBody>
      </p:sp>
      <p:pic>
        <p:nvPicPr>
          <p:cNvPr id="12291" name="Picture 2">
            <a:extLst>
              <a:ext uri="{FF2B5EF4-FFF2-40B4-BE49-F238E27FC236}">
                <a16:creationId xmlns:a16="http://schemas.microsoft.com/office/drawing/2014/main" id="{EC93E8CF-E257-E248-0026-5802752898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43000" y="1152983"/>
            <a:ext cx="4884738" cy="4754563"/>
          </a:xfr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8"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Isosceles Triangle 39">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Isosceles Triangle 43">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Isosceles Triangle 44">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6" name="Rectangle 45">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8"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Isosceles Triangle 49">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Isosceles Triangle 53">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5" name="Isosceles Triangle 54">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56" name="Rectangle 55">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951B8C2F-4CFC-FD39-FC6B-D13494A2C6FC}"/>
              </a:ext>
            </a:extLst>
          </p:cNvPr>
          <p:cNvPicPr>
            <a:picLocks noGrp="1" noChangeAspect="1"/>
          </p:cNvPicPr>
          <p:nvPr>
            <p:ph idx="1"/>
          </p:nvPr>
        </p:nvPicPr>
        <p:blipFill>
          <a:blip r:embed="rId2"/>
          <a:stretch>
            <a:fillRect/>
          </a:stretch>
        </p:blipFill>
        <p:spPr>
          <a:xfrm>
            <a:off x="931768" y="1131994"/>
            <a:ext cx="7281871" cy="4590386"/>
          </a:xfrm>
          <a:prstGeom prst="rect">
            <a:avLst/>
          </a:prstGeom>
        </p:spPr>
      </p:pic>
    </p:spTree>
    <p:extLst>
      <p:ext uri="{BB962C8B-B14F-4D97-AF65-F5344CB8AC3E}">
        <p14:creationId xmlns:p14="http://schemas.microsoft.com/office/powerpoint/2010/main" val="12695040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6225920"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6C77924-CB0B-AE50-4D9B-538815D0172B}"/>
              </a:ext>
            </a:extLst>
          </p:cNvPr>
          <p:cNvPicPr>
            <a:picLocks noGrp="1" noChangeAspect="1"/>
          </p:cNvPicPr>
          <p:nvPr>
            <p:ph idx="1"/>
          </p:nvPr>
        </p:nvPicPr>
        <p:blipFill>
          <a:blip r:embed="rId2"/>
          <a:stretch>
            <a:fillRect/>
          </a:stretch>
        </p:blipFill>
        <p:spPr>
          <a:xfrm>
            <a:off x="844732" y="1444035"/>
            <a:ext cx="5252672" cy="3966303"/>
          </a:xfrm>
          <a:prstGeom prst="rect">
            <a:avLst/>
          </a:prstGeom>
        </p:spPr>
      </p:pic>
    </p:spTree>
    <p:extLst>
      <p:ext uri="{BB962C8B-B14F-4D97-AF65-F5344CB8AC3E}">
        <p14:creationId xmlns:p14="http://schemas.microsoft.com/office/powerpoint/2010/main" val="3307192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A05A7-1712-5A4A-0D60-F20F9AB7E7EA}"/>
              </a:ext>
            </a:extLst>
          </p:cNvPr>
          <p:cNvSpPr>
            <a:spLocks noGrp="1"/>
          </p:cNvSpPr>
          <p:nvPr>
            <p:ph type="title"/>
          </p:nvPr>
        </p:nvSpPr>
        <p:spPr/>
        <p:txBody>
          <a:bodyPr/>
          <a:lstStyle/>
          <a:p>
            <a:r>
              <a:rPr lang="en-GB" dirty="0"/>
              <a:t>5.4 KVL</a:t>
            </a:r>
            <a:endParaRPr lang="en-US" dirty="0"/>
          </a:p>
        </p:txBody>
      </p:sp>
      <p:pic>
        <p:nvPicPr>
          <p:cNvPr id="5" name="Content Placeholder 4">
            <a:extLst>
              <a:ext uri="{FF2B5EF4-FFF2-40B4-BE49-F238E27FC236}">
                <a16:creationId xmlns:a16="http://schemas.microsoft.com/office/drawing/2014/main" id="{4BC92FF0-F4DB-DE4E-3835-88199B87FB59}"/>
              </a:ext>
            </a:extLst>
          </p:cNvPr>
          <p:cNvPicPr>
            <a:picLocks noGrp="1" noChangeAspect="1"/>
          </p:cNvPicPr>
          <p:nvPr>
            <p:ph idx="1"/>
          </p:nvPr>
        </p:nvPicPr>
        <p:blipFill>
          <a:blip r:embed="rId2"/>
          <a:stretch>
            <a:fillRect/>
          </a:stretch>
        </p:blipFill>
        <p:spPr>
          <a:xfrm>
            <a:off x="17417" y="1930400"/>
            <a:ext cx="8336467" cy="1877219"/>
          </a:xfrm>
        </p:spPr>
      </p:pic>
      <p:pic>
        <p:nvPicPr>
          <p:cNvPr id="7" name="Picture 6">
            <a:extLst>
              <a:ext uri="{FF2B5EF4-FFF2-40B4-BE49-F238E27FC236}">
                <a16:creationId xmlns:a16="http://schemas.microsoft.com/office/drawing/2014/main" id="{DFE397F9-F20F-5D32-12B7-197A3F282BA4}"/>
              </a:ext>
            </a:extLst>
          </p:cNvPr>
          <p:cNvPicPr>
            <a:picLocks noChangeAspect="1"/>
          </p:cNvPicPr>
          <p:nvPr/>
        </p:nvPicPr>
        <p:blipFill>
          <a:blip r:embed="rId3"/>
          <a:stretch>
            <a:fillRect/>
          </a:stretch>
        </p:blipFill>
        <p:spPr>
          <a:xfrm>
            <a:off x="1135505" y="3899694"/>
            <a:ext cx="2647950" cy="2457450"/>
          </a:xfrm>
          <a:prstGeom prst="rect">
            <a:avLst/>
          </a:prstGeom>
        </p:spPr>
      </p:pic>
      <p:pic>
        <p:nvPicPr>
          <p:cNvPr id="9" name="Picture 8">
            <a:extLst>
              <a:ext uri="{FF2B5EF4-FFF2-40B4-BE49-F238E27FC236}">
                <a16:creationId xmlns:a16="http://schemas.microsoft.com/office/drawing/2014/main" id="{8C1F690E-364C-E50F-E8E7-FB89925CEAE2}"/>
              </a:ext>
            </a:extLst>
          </p:cNvPr>
          <p:cNvPicPr>
            <a:picLocks noChangeAspect="1"/>
          </p:cNvPicPr>
          <p:nvPr/>
        </p:nvPicPr>
        <p:blipFill>
          <a:blip r:embed="rId4"/>
          <a:stretch>
            <a:fillRect/>
          </a:stretch>
        </p:blipFill>
        <p:spPr>
          <a:xfrm>
            <a:off x="4591594" y="4051465"/>
            <a:ext cx="2647950" cy="825335"/>
          </a:xfrm>
          <a:prstGeom prst="rect">
            <a:avLst/>
          </a:prstGeom>
        </p:spPr>
      </p:pic>
    </p:spTree>
    <p:extLst>
      <p:ext uri="{BB962C8B-B14F-4D97-AF65-F5344CB8AC3E}">
        <p14:creationId xmlns:p14="http://schemas.microsoft.com/office/powerpoint/2010/main" val="1462115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6225920"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9D0FD9F-0AB6-A480-CE38-4A8989B9361B}"/>
              </a:ext>
            </a:extLst>
          </p:cNvPr>
          <p:cNvPicPr>
            <a:picLocks noGrp="1" noChangeAspect="1"/>
          </p:cNvPicPr>
          <p:nvPr>
            <p:ph idx="1"/>
          </p:nvPr>
        </p:nvPicPr>
        <p:blipFill>
          <a:blip r:embed="rId2"/>
          <a:stretch>
            <a:fillRect/>
          </a:stretch>
        </p:blipFill>
        <p:spPr>
          <a:xfrm>
            <a:off x="800750" y="926374"/>
            <a:ext cx="4433115" cy="4059700"/>
          </a:xfrm>
          <a:prstGeom prst="rect">
            <a:avLst/>
          </a:prstGeom>
        </p:spPr>
      </p:pic>
      <p:pic>
        <p:nvPicPr>
          <p:cNvPr id="7" name="Picture 6">
            <a:extLst>
              <a:ext uri="{FF2B5EF4-FFF2-40B4-BE49-F238E27FC236}">
                <a16:creationId xmlns:a16="http://schemas.microsoft.com/office/drawing/2014/main" id="{B8A6541C-00AB-100F-7A62-3E44D9BFFD11}"/>
              </a:ext>
            </a:extLst>
          </p:cNvPr>
          <p:cNvPicPr>
            <a:picLocks noChangeAspect="1"/>
          </p:cNvPicPr>
          <p:nvPr/>
        </p:nvPicPr>
        <p:blipFill>
          <a:blip r:embed="rId3"/>
          <a:stretch>
            <a:fillRect/>
          </a:stretch>
        </p:blipFill>
        <p:spPr>
          <a:xfrm>
            <a:off x="800750" y="5142284"/>
            <a:ext cx="3219450" cy="647700"/>
          </a:xfrm>
          <a:prstGeom prst="rect">
            <a:avLst/>
          </a:prstGeom>
        </p:spPr>
      </p:pic>
    </p:spTree>
    <p:extLst>
      <p:ext uri="{BB962C8B-B14F-4D97-AF65-F5344CB8AC3E}">
        <p14:creationId xmlns:p14="http://schemas.microsoft.com/office/powerpoint/2010/main" val="2415033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276907DA-89E4-1A18-E5D4-5A05F4D9E1EA}"/>
              </a:ext>
            </a:extLst>
          </p:cNvPr>
          <p:cNvPicPr>
            <a:picLocks noGrp="1" noChangeAspect="1"/>
          </p:cNvPicPr>
          <p:nvPr>
            <p:ph idx="1"/>
          </p:nvPr>
        </p:nvPicPr>
        <p:blipFill>
          <a:blip r:embed="rId2"/>
          <a:stretch>
            <a:fillRect/>
          </a:stretch>
        </p:blipFill>
        <p:spPr>
          <a:xfrm>
            <a:off x="844731" y="1982598"/>
            <a:ext cx="7455945" cy="2889178"/>
          </a:xfrm>
          <a:prstGeom prst="rect">
            <a:avLst/>
          </a:prstGeom>
        </p:spPr>
      </p:pic>
    </p:spTree>
    <p:extLst>
      <p:ext uri="{BB962C8B-B14F-4D97-AF65-F5344CB8AC3E}">
        <p14:creationId xmlns:p14="http://schemas.microsoft.com/office/powerpoint/2010/main" val="2066938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D61CF563-3F34-5269-5514-BF238C05FD57}"/>
              </a:ext>
            </a:extLst>
          </p:cNvPr>
          <p:cNvPicPr>
            <a:picLocks noGrp="1" noChangeAspect="1"/>
          </p:cNvPicPr>
          <p:nvPr>
            <p:ph idx="1"/>
          </p:nvPr>
        </p:nvPicPr>
        <p:blipFill>
          <a:blip r:embed="rId2"/>
          <a:stretch>
            <a:fillRect/>
          </a:stretch>
        </p:blipFill>
        <p:spPr>
          <a:xfrm>
            <a:off x="1405693" y="1131994"/>
            <a:ext cx="6334020" cy="4590386"/>
          </a:xfrm>
          <a:prstGeom prst="rect">
            <a:avLst/>
          </a:prstGeom>
        </p:spPr>
      </p:pic>
    </p:spTree>
    <p:extLst>
      <p:ext uri="{BB962C8B-B14F-4D97-AF65-F5344CB8AC3E}">
        <p14:creationId xmlns:p14="http://schemas.microsoft.com/office/powerpoint/2010/main" val="2379107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B661E81-B974-092B-5392-71071A697A96}"/>
              </a:ext>
            </a:extLst>
          </p:cNvPr>
          <p:cNvPicPr>
            <a:picLocks noGrp="1" noChangeAspect="1"/>
          </p:cNvPicPr>
          <p:nvPr>
            <p:ph idx="1"/>
          </p:nvPr>
        </p:nvPicPr>
        <p:blipFill>
          <a:blip r:embed="rId2"/>
          <a:stretch>
            <a:fillRect/>
          </a:stretch>
        </p:blipFill>
        <p:spPr>
          <a:xfrm>
            <a:off x="1654040" y="1131994"/>
            <a:ext cx="5837326" cy="4590386"/>
          </a:xfrm>
          <a:prstGeom prst="rect">
            <a:avLst/>
          </a:prstGeom>
        </p:spPr>
      </p:pic>
    </p:spTree>
    <p:extLst>
      <p:ext uri="{BB962C8B-B14F-4D97-AF65-F5344CB8AC3E}">
        <p14:creationId xmlns:p14="http://schemas.microsoft.com/office/powerpoint/2010/main" val="2214301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C23100A3-58E8-9C88-2EA1-853C2151DF22}"/>
              </a:ext>
            </a:extLst>
          </p:cNvPr>
          <p:cNvSpPr>
            <a:spLocks noGrp="1"/>
          </p:cNvSpPr>
          <p:nvPr>
            <p:ph type="title"/>
          </p:nvPr>
        </p:nvSpPr>
        <p:spPr>
          <a:xfrm>
            <a:off x="477687" y="4542503"/>
            <a:ext cx="6888454" cy="1179870"/>
          </a:xfrm>
        </p:spPr>
        <p:txBody>
          <a:bodyPr vert="horz" lIns="91440" tIns="45720" rIns="91440" bIns="45720" rtlCol="0" anchor="b">
            <a:normAutofit/>
          </a:bodyPr>
          <a:lstStyle/>
          <a:p>
            <a:pPr defTabSz="457200"/>
            <a:r>
              <a:rPr lang="en-US" altLang="en-US" sz="5200"/>
              <a:t>Parallel circuits </a:t>
            </a:r>
          </a:p>
        </p:txBody>
      </p:sp>
      <p:pic>
        <p:nvPicPr>
          <p:cNvPr id="13315" name="Picture 2">
            <a:extLst>
              <a:ext uri="{FF2B5EF4-FFF2-40B4-BE49-F238E27FC236}">
                <a16:creationId xmlns:a16="http://schemas.microsoft.com/office/drawing/2014/main" id="{DA2D64DA-6F06-9691-C80E-6F857AB63C89}"/>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2527" r="14573" b="1"/>
          <a:stretch/>
        </p:blipFill>
        <p:spPr>
          <a:xfrm>
            <a:off x="476593" y="640080"/>
            <a:ext cx="6889547" cy="3602736"/>
          </a:xfrm>
          <a:prstGeom prst="rect">
            <a:avLst/>
          </a:prstGeom>
          <a:noFill/>
          <a:effectLst>
            <a:outerShdw blurRad="50800" dist="38100" dir="5400000" algn="t" rotWithShape="0">
              <a:prstClr val="black">
                <a:alpha val="43000"/>
              </a:prst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B0BA455B-6748-0FD6-C8FD-2DF0844EEFC6}"/>
              </a:ext>
            </a:extLst>
          </p:cNvPr>
          <p:cNvSpPr>
            <a:spLocks noGrp="1"/>
          </p:cNvSpPr>
          <p:nvPr>
            <p:ph type="title"/>
          </p:nvPr>
        </p:nvSpPr>
        <p:spPr/>
        <p:txBody>
          <a:bodyPr/>
          <a:lstStyle/>
          <a:p>
            <a:pPr eaLnBrk="1" hangingPunct="1"/>
            <a:r>
              <a:rPr lang="en-US" altLang="en-US"/>
              <a:t>Parallel circuits </a:t>
            </a:r>
          </a:p>
        </p:txBody>
      </p:sp>
      <p:pic>
        <p:nvPicPr>
          <p:cNvPr id="14339" name="Picture 2">
            <a:extLst>
              <a:ext uri="{FF2B5EF4-FFF2-40B4-BE49-F238E27FC236}">
                <a16:creationId xmlns:a16="http://schemas.microsoft.com/office/drawing/2014/main" id="{F35A5D50-D5CD-2780-02A7-CFC968AE23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152983"/>
            <a:ext cx="5029200" cy="4267200"/>
          </a:xfr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2743CB4-F644-F9A1-2952-570B4299EE70}"/>
              </a:ext>
            </a:extLst>
          </p:cNvPr>
          <p:cNvPicPr>
            <a:picLocks noGrp="1" noChangeAspect="1"/>
          </p:cNvPicPr>
          <p:nvPr>
            <p:ph idx="1"/>
          </p:nvPr>
        </p:nvPicPr>
        <p:blipFill>
          <a:blip r:embed="rId2"/>
          <a:stretch>
            <a:fillRect/>
          </a:stretch>
        </p:blipFill>
        <p:spPr>
          <a:xfrm>
            <a:off x="1373829" y="1131994"/>
            <a:ext cx="6397749" cy="4590386"/>
          </a:xfrm>
          <a:prstGeom prst="rect">
            <a:avLst/>
          </a:prstGeom>
        </p:spPr>
      </p:pic>
    </p:spTree>
    <p:extLst>
      <p:ext uri="{BB962C8B-B14F-4D97-AF65-F5344CB8AC3E}">
        <p14:creationId xmlns:p14="http://schemas.microsoft.com/office/powerpoint/2010/main" val="4242625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C393A-3EE3-8C0B-9EBA-9907C4EDF015}"/>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3334D368-5553-B336-6E62-E21E4223561C}"/>
              </a:ext>
            </a:extLst>
          </p:cNvPr>
          <p:cNvPicPr>
            <a:picLocks noGrp="1" noChangeAspect="1"/>
          </p:cNvPicPr>
          <p:nvPr>
            <p:ph idx="1"/>
          </p:nvPr>
        </p:nvPicPr>
        <p:blipFill>
          <a:blip r:embed="rId2"/>
          <a:stretch>
            <a:fillRect/>
          </a:stretch>
        </p:blipFill>
        <p:spPr>
          <a:xfrm>
            <a:off x="526448" y="749912"/>
            <a:ext cx="4371975" cy="733425"/>
          </a:xfrm>
        </p:spPr>
      </p:pic>
      <p:pic>
        <p:nvPicPr>
          <p:cNvPr id="7" name="Picture 6">
            <a:extLst>
              <a:ext uri="{FF2B5EF4-FFF2-40B4-BE49-F238E27FC236}">
                <a16:creationId xmlns:a16="http://schemas.microsoft.com/office/drawing/2014/main" id="{583DEDF7-67B0-FFB4-11B6-EEC8E63D4B3C}"/>
              </a:ext>
            </a:extLst>
          </p:cNvPr>
          <p:cNvPicPr>
            <a:picLocks noChangeAspect="1"/>
          </p:cNvPicPr>
          <p:nvPr/>
        </p:nvPicPr>
        <p:blipFill>
          <a:blip r:embed="rId3"/>
          <a:stretch>
            <a:fillRect/>
          </a:stretch>
        </p:blipFill>
        <p:spPr>
          <a:xfrm>
            <a:off x="228600" y="1278709"/>
            <a:ext cx="4781550" cy="4905375"/>
          </a:xfrm>
          <a:prstGeom prst="rect">
            <a:avLst/>
          </a:prstGeom>
        </p:spPr>
      </p:pic>
    </p:spTree>
    <p:extLst>
      <p:ext uri="{BB962C8B-B14F-4D97-AF65-F5344CB8AC3E}">
        <p14:creationId xmlns:p14="http://schemas.microsoft.com/office/powerpoint/2010/main" val="367688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FA991B4-E670-09B2-5F31-18E8C7D2FC33}"/>
              </a:ext>
            </a:extLst>
          </p:cNvPr>
          <p:cNvPicPr>
            <a:picLocks noGrp="1" noChangeAspect="1"/>
          </p:cNvPicPr>
          <p:nvPr>
            <p:ph idx="1"/>
          </p:nvPr>
        </p:nvPicPr>
        <p:blipFill>
          <a:blip r:embed="rId2"/>
          <a:stretch>
            <a:fillRect/>
          </a:stretch>
        </p:blipFill>
        <p:spPr>
          <a:xfrm>
            <a:off x="1384935" y="1131994"/>
            <a:ext cx="6375536" cy="4590386"/>
          </a:xfrm>
          <a:prstGeom prst="rect">
            <a:avLst/>
          </a:prstGeom>
        </p:spPr>
      </p:pic>
    </p:spTree>
    <p:extLst>
      <p:ext uri="{BB962C8B-B14F-4D97-AF65-F5344CB8AC3E}">
        <p14:creationId xmlns:p14="http://schemas.microsoft.com/office/powerpoint/2010/main" val="18225045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233B1E1D-A16B-AC9F-B06D-537D7E83E365}"/>
              </a:ext>
            </a:extLst>
          </p:cNvPr>
          <p:cNvPicPr>
            <a:picLocks noGrp="1" noChangeAspect="1"/>
          </p:cNvPicPr>
          <p:nvPr>
            <p:ph idx="1"/>
          </p:nvPr>
        </p:nvPicPr>
        <p:blipFill>
          <a:blip r:embed="rId2"/>
          <a:stretch>
            <a:fillRect/>
          </a:stretch>
        </p:blipFill>
        <p:spPr>
          <a:xfrm>
            <a:off x="2277510" y="1131994"/>
            <a:ext cx="4590386" cy="4590386"/>
          </a:xfrm>
          <a:prstGeom prst="rect">
            <a:avLst/>
          </a:prstGeom>
        </p:spPr>
      </p:pic>
    </p:spTree>
    <p:extLst>
      <p:ext uri="{BB962C8B-B14F-4D97-AF65-F5344CB8AC3E}">
        <p14:creationId xmlns:p14="http://schemas.microsoft.com/office/powerpoint/2010/main" val="1653426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16423DE-095D-192C-366F-0CDE7EA1687D}"/>
              </a:ext>
            </a:extLst>
          </p:cNvPr>
          <p:cNvPicPr>
            <a:picLocks noGrp="1" noChangeAspect="1"/>
          </p:cNvPicPr>
          <p:nvPr>
            <p:ph idx="1"/>
          </p:nvPr>
        </p:nvPicPr>
        <p:blipFill>
          <a:blip r:embed="rId2"/>
          <a:stretch>
            <a:fillRect/>
          </a:stretch>
        </p:blipFill>
        <p:spPr>
          <a:xfrm>
            <a:off x="953691" y="1131994"/>
            <a:ext cx="7238024" cy="4590386"/>
          </a:xfrm>
          <a:prstGeom prst="rect">
            <a:avLst/>
          </a:prstGeom>
        </p:spPr>
      </p:pic>
    </p:spTree>
    <p:extLst>
      <p:ext uri="{BB962C8B-B14F-4D97-AF65-F5344CB8AC3E}">
        <p14:creationId xmlns:p14="http://schemas.microsoft.com/office/powerpoint/2010/main" val="28177239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93033295-B99A-9B39-97D0-4AB6994C77D5}"/>
              </a:ext>
            </a:extLst>
          </p:cNvPr>
          <p:cNvPicPr>
            <a:picLocks noGrp="1" noChangeAspect="1"/>
          </p:cNvPicPr>
          <p:nvPr>
            <p:ph idx="1"/>
          </p:nvPr>
        </p:nvPicPr>
        <p:blipFill>
          <a:blip r:embed="rId2"/>
          <a:stretch>
            <a:fillRect/>
          </a:stretch>
        </p:blipFill>
        <p:spPr>
          <a:xfrm>
            <a:off x="871301" y="1131994"/>
            <a:ext cx="7402805" cy="4590386"/>
          </a:xfrm>
          <a:prstGeom prst="rect">
            <a:avLst/>
          </a:prstGeom>
        </p:spPr>
      </p:pic>
    </p:spTree>
    <p:extLst>
      <p:ext uri="{BB962C8B-B14F-4D97-AF65-F5344CB8AC3E}">
        <p14:creationId xmlns:p14="http://schemas.microsoft.com/office/powerpoint/2010/main" val="24059908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2F1C353-51A7-FB74-4580-70A50C0A675D}"/>
              </a:ext>
            </a:extLst>
          </p:cNvPr>
          <p:cNvPicPr>
            <a:picLocks noGrp="1" noChangeAspect="1"/>
          </p:cNvPicPr>
          <p:nvPr>
            <p:ph idx="1"/>
          </p:nvPr>
        </p:nvPicPr>
        <p:blipFill>
          <a:blip r:embed="rId2"/>
          <a:stretch>
            <a:fillRect/>
          </a:stretch>
        </p:blipFill>
        <p:spPr>
          <a:xfrm>
            <a:off x="1848439" y="1131994"/>
            <a:ext cx="5448529" cy="4590386"/>
          </a:xfrm>
          <a:prstGeom prst="rect">
            <a:avLst/>
          </a:prstGeom>
        </p:spPr>
      </p:pic>
    </p:spTree>
    <p:extLst>
      <p:ext uri="{BB962C8B-B14F-4D97-AF65-F5344CB8AC3E}">
        <p14:creationId xmlns:p14="http://schemas.microsoft.com/office/powerpoint/2010/main" val="24187656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5BCEB4E6-55F7-2290-6C4D-3F9F00D1727F}"/>
              </a:ext>
            </a:extLst>
          </p:cNvPr>
          <p:cNvPicPr>
            <a:picLocks noGrp="1" noChangeAspect="1"/>
          </p:cNvPicPr>
          <p:nvPr>
            <p:ph idx="1"/>
          </p:nvPr>
        </p:nvPicPr>
        <p:blipFill>
          <a:blip r:embed="rId2"/>
          <a:stretch>
            <a:fillRect/>
          </a:stretch>
        </p:blipFill>
        <p:spPr>
          <a:xfrm>
            <a:off x="1351380" y="1131994"/>
            <a:ext cx="6442647" cy="4590386"/>
          </a:xfrm>
          <a:prstGeom prst="rect">
            <a:avLst/>
          </a:prstGeom>
        </p:spPr>
      </p:pic>
    </p:spTree>
    <p:extLst>
      <p:ext uri="{BB962C8B-B14F-4D97-AF65-F5344CB8AC3E}">
        <p14:creationId xmlns:p14="http://schemas.microsoft.com/office/powerpoint/2010/main" val="263759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8ECB55ED-BB0C-7CC4-87F2-213BF500CBF1}"/>
              </a:ext>
            </a:extLst>
          </p:cNvPr>
          <p:cNvPicPr>
            <a:picLocks noGrp="1" noChangeAspect="1"/>
          </p:cNvPicPr>
          <p:nvPr>
            <p:ph idx="1"/>
          </p:nvPr>
        </p:nvPicPr>
        <p:blipFill>
          <a:blip r:embed="rId2"/>
          <a:stretch>
            <a:fillRect/>
          </a:stretch>
        </p:blipFill>
        <p:spPr>
          <a:xfrm>
            <a:off x="844731" y="1313304"/>
            <a:ext cx="7455945" cy="4227766"/>
          </a:xfrm>
          <a:prstGeom prst="rect">
            <a:avLst/>
          </a:prstGeom>
        </p:spPr>
      </p:pic>
    </p:spTree>
    <p:extLst>
      <p:ext uri="{BB962C8B-B14F-4D97-AF65-F5344CB8AC3E}">
        <p14:creationId xmlns:p14="http://schemas.microsoft.com/office/powerpoint/2010/main" val="1775907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92935B4-21C6-606A-FBF4-0654155B3688}"/>
              </a:ext>
            </a:extLst>
          </p:cNvPr>
          <p:cNvPicPr>
            <a:picLocks noGrp="1" noChangeAspect="1"/>
          </p:cNvPicPr>
          <p:nvPr>
            <p:ph idx="1"/>
          </p:nvPr>
        </p:nvPicPr>
        <p:blipFill>
          <a:blip r:embed="rId2"/>
          <a:stretch>
            <a:fillRect/>
          </a:stretch>
        </p:blipFill>
        <p:spPr>
          <a:xfrm>
            <a:off x="844731" y="1973278"/>
            <a:ext cx="7455945" cy="2907817"/>
          </a:xfrm>
          <a:prstGeom prst="rect">
            <a:avLst/>
          </a:prstGeom>
        </p:spPr>
      </p:pic>
    </p:spTree>
    <p:extLst>
      <p:ext uri="{BB962C8B-B14F-4D97-AF65-F5344CB8AC3E}">
        <p14:creationId xmlns:p14="http://schemas.microsoft.com/office/powerpoint/2010/main" val="177247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E8AED-F226-08C0-28A2-C260494A4BD8}"/>
              </a:ext>
            </a:extLst>
          </p:cNvPr>
          <p:cNvSpPr>
            <a:spLocks noGrp="1"/>
          </p:cNvSpPr>
          <p:nvPr>
            <p:ph type="title"/>
          </p:nvPr>
        </p:nvSpPr>
        <p:spPr/>
        <p:txBody>
          <a:bodyPr/>
          <a:lstStyle/>
          <a:p>
            <a:r>
              <a:rPr lang="en-GB" dirty="0"/>
              <a:t>7.1 Series and parallel </a:t>
            </a:r>
            <a:endParaRPr lang="en-US" dirty="0"/>
          </a:p>
        </p:txBody>
      </p:sp>
      <p:pic>
        <p:nvPicPr>
          <p:cNvPr id="5" name="Content Placeholder 4">
            <a:extLst>
              <a:ext uri="{FF2B5EF4-FFF2-40B4-BE49-F238E27FC236}">
                <a16:creationId xmlns:a16="http://schemas.microsoft.com/office/drawing/2014/main" id="{7ED96240-703A-7B28-4AD3-E99D5F896E3A}"/>
              </a:ext>
            </a:extLst>
          </p:cNvPr>
          <p:cNvPicPr>
            <a:picLocks noGrp="1" noChangeAspect="1"/>
          </p:cNvPicPr>
          <p:nvPr>
            <p:ph idx="1"/>
          </p:nvPr>
        </p:nvPicPr>
        <p:blipFill>
          <a:blip r:embed="rId2"/>
          <a:stretch>
            <a:fillRect/>
          </a:stretch>
        </p:blipFill>
        <p:spPr>
          <a:xfrm>
            <a:off x="152400" y="2286000"/>
            <a:ext cx="7490712" cy="874550"/>
          </a:xfrm>
        </p:spPr>
      </p:pic>
    </p:spTree>
    <p:extLst>
      <p:ext uri="{BB962C8B-B14F-4D97-AF65-F5344CB8AC3E}">
        <p14:creationId xmlns:p14="http://schemas.microsoft.com/office/powerpoint/2010/main" val="2480704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11ADA34-A4B7-7213-B881-2B961151F02A}"/>
              </a:ext>
            </a:extLst>
          </p:cNvPr>
          <p:cNvPicPr>
            <a:picLocks noGrp="1" noChangeAspect="1"/>
          </p:cNvPicPr>
          <p:nvPr>
            <p:ph idx="1"/>
          </p:nvPr>
        </p:nvPicPr>
        <p:blipFill>
          <a:blip r:embed="rId2"/>
          <a:stretch>
            <a:fillRect/>
          </a:stretch>
        </p:blipFill>
        <p:spPr>
          <a:xfrm>
            <a:off x="2221666" y="1131994"/>
            <a:ext cx="4702074" cy="4590386"/>
          </a:xfrm>
          <a:prstGeom prst="rect">
            <a:avLst/>
          </a:prstGeom>
        </p:spPr>
      </p:pic>
    </p:spTree>
    <p:extLst>
      <p:ext uri="{BB962C8B-B14F-4D97-AF65-F5344CB8AC3E}">
        <p14:creationId xmlns:p14="http://schemas.microsoft.com/office/powerpoint/2010/main" val="42112888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6225920"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9CBE4C8-67A3-6EFA-D47E-C313E0ECF33D}"/>
              </a:ext>
            </a:extLst>
          </p:cNvPr>
          <p:cNvPicPr>
            <a:picLocks noGrp="1" noChangeAspect="1"/>
          </p:cNvPicPr>
          <p:nvPr>
            <p:ph idx="1"/>
          </p:nvPr>
        </p:nvPicPr>
        <p:blipFill>
          <a:blip r:embed="rId2"/>
          <a:stretch>
            <a:fillRect/>
          </a:stretch>
        </p:blipFill>
        <p:spPr>
          <a:xfrm>
            <a:off x="2392327" y="1131994"/>
            <a:ext cx="2157481" cy="4590386"/>
          </a:xfrm>
          <a:prstGeom prst="rect">
            <a:avLst/>
          </a:prstGeom>
        </p:spPr>
      </p:pic>
    </p:spTree>
    <p:extLst>
      <p:ext uri="{BB962C8B-B14F-4D97-AF65-F5344CB8AC3E}">
        <p14:creationId xmlns:p14="http://schemas.microsoft.com/office/powerpoint/2010/main" val="2050219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6225920"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5948C5D-09F9-FD10-8BB2-D203D1567CE6}"/>
              </a:ext>
            </a:extLst>
          </p:cNvPr>
          <p:cNvPicPr>
            <a:picLocks noGrp="1" noChangeAspect="1"/>
          </p:cNvPicPr>
          <p:nvPr>
            <p:ph idx="1"/>
          </p:nvPr>
        </p:nvPicPr>
        <p:blipFill>
          <a:blip r:embed="rId2"/>
          <a:stretch>
            <a:fillRect/>
          </a:stretch>
        </p:blipFill>
        <p:spPr>
          <a:xfrm>
            <a:off x="844732" y="2573628"/>
            <a:ext cx="5252672" cy="1707118"/>
          </a:xfrm>
          <a:prstGeom prst="rect">
            <a:avLst/>
          </a:prstGeom>
        </p:spPr>
      </p:pic>
    </p:spTree>
    <p:extLst>
      <p:ext uri="{BB962C8B-B14F-4D97-AF65-F5344CB8AC3E}">
        <p14:creationId xmlns:p14="http://schemas.microsoft.com/office/powerpoint/2010/main" val="4197703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6225920"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B9AA569-02A9-1999-0ABB-0412C2D5C1EE}"/>
              </a:ext>
            </a:extLst>
          </p:cNvPr>
          <p:cNvPicPr>
            <a:picLocks noGrp="1" noChangeAspect="1"/>
          </p:cNvPicPr>
          <p:nvPr>
            <p:ph idx="1"/>
          </p:nvPr>
        </p:nvPicPr>
        <p:blipFill>
          <a:blip r:embed="rId2"/>
          <a:stretch>
            <a:fillRect/>
          </a:stretch>
        </p:blipFill>
        <p:spPr>
          <a:xfrm>
            <a:off x="844732" y="1820119"/>
            <a:ext cx="5252672" cy="3214135"/>
          </a:xfrm>
          <a:prstGeom prst="rect">
            <a:avLst/>
          </a:prstGeom>
        </p:spPr>
      </p:pic>
    </p:spTree>
    <p:extLst>
      <p:ext uri="{BB962C8B-B14F-4D97-AF65-F5344CB8AC3E}">
        <p14:creationId xmlns:p14="http://schemas.microsoft.com/office/powerpoint/2010/main" val="39930163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2" name="Rectangle 21">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6"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Isosceles Triangle 31">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5" name="Rectangle 34">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6225920"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5AE0AED6-1B8A-ED1A-BD54-6EBBF5D9E3DE}"/>
              </a:ext>
            </a:extLst>
          </p:cNvPr>
          <p:cNvPicPr>
            <a:picLocks noGrp="1" noChangeAspect="1"/>
          </p:cNvPicPr>
          <p:nvPr>
            <p:ph idx="1"/>
          </p:nvPr>
        </p:nvPicPr>
        <p:blipFill>
          <a:blip r:embed="rId2"/>
          <a:stretch>
            <a:fillRect/>
          </a:stretch>
        </p:blipFill>
        <p:spPr>
          <a:xfrm>
            <a:off x="2035070" y="1131994"/>
            <a:ext cx="2871995" cy="4590386"/>
          </a:xfrm>
          <a:prstGeom prst="rect">
            <a:avLst/>
          </a:prstGeom>
        </p:spPr>
      </p:pic>
    </p:spTree>
    <p:extLst>
      <p:ext uri="{BB962C8B-B14F-4D97-AF65-F5344CB8AC3E}">
        <p14:creationId xmlns:p14="http://schemas.microsoft.com/office/powerpoint/2010/main" val="26723414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5548F-281E-AC01-924A-2914075E6B14}"/>
              </a:ext>
            </a:extLst>
          </p:cNvPr>
          <p:cNvSpPr>
            <a:spLocks noGrp="1"/>
          </p:cNvSpPr>
          <p:nvPr>
            <p:ph type="ctrTitle"/>
          </p:nvPr>
        </p:nvSpPr>
        <p:spPr/>
        <p:txBody>
          <a:bodyPr/>
          <a:lstStyle/>
          <a:p>
            <a:r>
              <a:rPr lang="en-GB" dirty="0"/>
              <a:t>Problems solving </a:t>
            </a:r>
            <a:endParaRPr lang="en-US" dirty="0"/>
          </a:p>
        </p:txBody>
      </p:sp>
      <p:sp>
        <p:nvSpPr>
          <p:cNvPr id="3" name="Subtitle 2">
            <a:extLst>
              <a:ext uri="{FF2B5EF4-FFF2-40B4-BE49-F238E27FC236}">
                <a16:creationId xmlns:a16="http://schemas.microsoft.com/office/drawing/2014/main" id="{5F8DBABC-C050-C454-412B-C29FC9CD4E63}"/>
              </a:ext>
            </a:extLst>
          </p:cNvPr>
          <p:cNvSpPr>
            <a:spLocks noGrp="1"/>
          </p:cNvSpPr>
          <p:nvPr>
            <p:ph type="subTitle" idx="1"/>
          </p:nvPr>
        </p:nvSpPr>
        <p:spPr/>
        <p:txBody>
          <a:bodyPr/>
          <a:lstStyle/>
          <a:p>
            <a:r>
              <a:rPr lang="en-GB" dirty="0"/>
              <a:t>BY using KVL and KCL</a:t>
            </a:r>
            <a:endParaRPr lang="en-US" dirty="0"/>
          </a:p>
        </p:txBody>
      </p:sp>
    </p:spTree>
    <p:extLst>
      <p:ext uri="{BB962C8B-B14F-4D97-AF65-F5344CB8AC3E}">
        <p14:creationId xmlns:p14="http://schemas.microsoft.com/office/powerpoint/2010/main" val="39294043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6A78E-06A5-4379-AA17-E8B846687ACE}"/>
              </a:ext>
            </a:extLst>
          </p:cNvPr>
          <p:cNvSpPr>
            <a:spLocks noGrp="1"/>
          </p:cNvSpPr>
          <p:nvPr>
            <p:ph type="title"/>
          </p:nvPr>
        </p:nvSpPr>
        <p:spPr>
          <a:xfrm>
            <a:off x="477687" y="4854346"/>
            <a:ext cx="6862012" cy="868026"/>
          </a:xfrm>
        </p:spPr>
        <p:txBody>
          <a:bodyPr vert="horz" lIns="91440" tIns="45720" rIns="91440" bIns="45720" rtlCol="0" anchor="b">
            <a:normAutofit/>
          </a:bodyPr>
          <a:lstStyle/>
          <a:p>
            <a:pPr defTabSz="457200">
              <a:lnSpc>
                <a:spcPct val="90000"/>
              </a:lnSpc>
            </a:pPr>
            <a:r>
              <a:rPr lang="en-US" sz="2600" b="0" i="0" kern="1200">
                <a:solidFill>
                  <a:srgbClr val="EBEBEB"/>
                </a:solidFill>
                <a:latin typeface="+mj-lt"/>
                <a:ea typeface="+mj-ea"/>
                <a:cs typeface="+mj-cs"/>
              </a:rPr>
              <a:t>Find the current flowing in 40 ohm resistor R3</a:t>
            </a:r>
          </a:p>
        </p:txBody>
      </p:sp>
      <p:pic>
        <p:nvPicPr>
          <p:cNvPr id="2050" name="Picture 2" descr="kirchhoffs law example">
            <a:extLst>
              <a:ext uri="{FF2B5EF4-FFF2-40B4-BE49-F238E27FC236}">
                <a16:creationId xmlns:a16="http://schemas.microsoft.com/office/drawing/2014/main" id="{423A2DCA-F0CB-4948-9434-CE11C9FC59C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6593" y="640081"/>
            <a:ext cx="5509507" cy="3291844"/>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619506"/>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757B1-0F32-4BBD-9C5D-75DDC2C11576}"/>
              </a:ext>
            </a:extLst>
          </p:cNvPr>
          <p:cNvSpPr>
            <a:spLocks noGrp="1"/>
          </p:cNvSpPr>
          <p:nvPr>
            <p:ph type="title"/>
          </p:nvPr>
        </p:nvSpPr>
        <p:spPr>
          <a:xfrm>
            <a:off x="604646" y="804672"/>
            <a:ext cx="2641019" cy="5248656"/>
          </a:xfrm>
        </p:spPr>
        <p:txBody>
          <a:bodyPr anchor="ctr">
            <a:normAutofit/>
          </a:bodyPr>
          <a:lstStyle/>
          <a:p>
            <a:pPr algn="ctr"/>
            <a:r>
              <a:rPr lang="en-GB"/>
              <a:t>Solution </a:t>
            </a:r>
            <a:endParaRPr lang="en-US"/>
          </a:p>
        </p:txBody>
      </p:sp>
      <p:sp>
        <p:nvSpPr>
          <p:cNvPr id="3" name="Content Placeholder 2">
            <a:extLst>
              <a:ext uri="{FF2B5EF4-FFF2-40B4-BE49-F238E27FC236}">
                <a16:creationId xmlns:a16="http://schemas.microsoft.com/office/drawing/2014/main" id="{C19960AA-9256-4A47-A146-E30F28711576}"/>
              </a:ext>
            </a:extLst>
          </p:cNvPr>
          <p:cNvSpPr>
            <a:spLocks noGrp="1"/>
          </p:cNvSpPr>
          <p:nvPr>
            <p:ph idx="1"/>
          </p:nvPr>
        </p:nvSpPr>
        <p:spPr>
          <a:xfrm>
            <a:off x="3731895" y="804671"/>
            <a:ext cx="4799948" cy="5248657"/>
          </a:xfrm>
        </p:spPr>
        <p:txBody>
          <a:bodyPr anchor="ctr">
            <a:normAutofit/>
          </a:bodyPr>
          <a:lstStyle/>
          <a:p>
            <a:r>
              <a:rPr lang="en-US" b="0" i="0">
                <a:effectLst/>
                <a:latin typeface="Lato" panose="020F0502020204030203" pitchFamily="34" charset="0"/>
              </a:rPr>
              <a:t>The circuit has 3 branches, 2 nodes (</a:t>
            </a:r>
            <a:r>
              <a:rPr lang="en-US" b="0" i="0" u="none" strike="noStrike">
                <a:effectLst/>
                <a:latin typeface="Lato" panose="020F0502020204030203" pitchFamily="34" charset="0"/>
              </a:rPr>
              <a:t>A</a:t>
            </a:r>
            <a:r>
              <a:rPr lang="en-US" b="0" i="0">
                <a:effectLst/>
                <a:latin typeface="Lato" panose="020F0502020204030203" pitchFamily="34" charset="0"/>
              </a:rPr>
              <a:t> and </a:t>
            </a:r>
            <a:r>
              <a:rPr lang="en-US" b="0" i="0" u="none" strike="noStrike">
                <a:effectLst/>
                <a:latin typeface="Lato" panose="020F0502020204030203" pitchFamily="34" charset="0"/>
              </a:rPr>
              <a:t>B</a:t>
            </a:r>
            <a:r>
              <a:rPr lang="en-US" b="0" i="0">
                <a:effectLst/>
                <a:latin typeface="Lato" panose="020F0502020204030203" pitchFamily="34" charset="0"/>
              </a:rPr>
              <a:t>) and 2 independent loops.</a:t>
            </a:r>
          </a:p>
          <a:p>
            <a:r>
              <a:rPr lang="en-US" b="0" i="0">
                <a:effectLst/>
                <a:latin typeface="Lato" panose="020F0502020204030203" pitchFamily="34" charset="0"/>
              </a:rPr>
              <a:t>Using </a:t>
            </a:r>
            <a:r>
              <a:rPr lang="en-US" b="1" i="0" err="1">
                <a:effectLst/>
                <a:latin typeface="Lato" panose="020F0502020204030203" pitchFamily="34" charset="0"/>
              </a:rPr>
              <a:t>Kirchhoffs</a:t>
            </a:r>
            <a:r>
              <a:rPr lang="en-US" b="1" i="0">
                <a:effectLst/>
                <a:latin typeface="Lato" panose="020F0502020204030203" pitchFamily="34" charset="0"/>
              </a:rPr>
              <a:t> Current Law</a:t>
            </a:r>
            <a:r>
              <a:rPr lang="en-US" b="0" i="0">
                <a:effectLst/>
                <a:latin typeface="Lato" panose="020F0502020204030203" pitchFamily="34" charset="0"/>
              </a:rPr>
              <a:t>, </a:t>
            </a:r>
            <a:r>
              <a:rPr lang="en-US" b="1" i="0">
                <a:effectLst/>
                <a:latin typeface="Lato" panose="020F0502020204030203" pitchFamily="34" charset="0"/>
              </a:rPr>
              <a:t>KCL</a:t>
            </a:r>
            <a:r>
              <a:rPr lang="en-US" b="0" i="0">
                <a:effectLst/>
                <a:latin typeface="Lato" panose="020F0502020204030203" pitchFamily="34" charset="0"/>
              </a:rPr>
              <a:t> the equations are given as:</a:t>
            </a:r>
          </a:p>
          <a:p>
            <a:r>
              <a:rPr lang="en-US" b="0" i="0">
                <a:effectLst/>
                <a:latin typeface="Lato" panose="020F0502020204030203" pitchFamily="34" charset="0"/>
              </a:rPr>
              <a:t>At node </a:t>
            </a:r>
            <a:r>
              <a:rPr lang="en-US" b="0" i="0" u="none" strike="noStrike">
                <a:effectLst/>
                <a:latin typeface="Lato" panose="020F0502020204030203" pitchFamily="34" charset="0"/>
              </a:rPr>
              <a:t>A</a:t>
            </a:r>
            <a:r>
              <a:rPr lang="en-US" b="0" i="0">
                <a:effectLst/>
                <a:latin typeface="Lato" panose="020F0502020204030203" pitchFamily="34" charset="0"/>
              </a:rPr>
              <a:t> :    </a:t>
            </a:r>
            <a:r>
              <a:rPr lang="en-US" b="0" i="0" u="none" strike="noStrike">
                <a:effectLst/>
                <a:latin typeface="Lato" panose="020F0502020204030203" pitchFamily="34" charset="0"/>
              </a:rPr>
              <a:t>I</a:t>
            </a:r>
            <a:r>
              <a:rPr lang="en-US" b="0" i="0" u="none" strike="noStrike" baseline="-25000">
                <a:effectLst/>
                <a:latin typeface="Lato" panose="020F0502020204030203" pitchFamily="34" charset="0"/>
              </a:rPr>
              <a:t>1</a:t>
            </a:r>
            <a:r>
              <a:rPr lang="en-US" b="0" i="0" u="none" strike="noStrike">
                <a:effectLst/>
                <a:latin typeface="Lato" panose="020F0502020204030203" pitchFamily="34" charset="0"/>
              </a:rPr>
              <a:t> + I</a:t>
            </a:r>
            <a:r>
              <a:rPr lang="en-US" b="0" i="0" u="none" strike="noStrike" baseline="-25000">
                <a:effectLst/>
                <a:latin typeface="Lato" panose="020F0502020204030203" pitchFamily="34" charset="0"/>
              </a:rPr>
              <a:t>2</a:t>
            </a:r>
            <a:r>
              <a:rPr lang="en-US" b="0" i="0" u="none" strike="noStrike">
                <a:effectLst/>
                <a:latin typeface="Lato" panose="020F0502020204030203" pitchFamily="34" charset="0"/>
              </a:rPr>
              <a:t> = I</a:t>
            </a:r>
            <a:r>
              <a:rPr lang="en-US" b="0" i="0" u="none" strike="noStrike" baseline="-25000">
                <a:effectLst/>
                <a:latin typeface="Lato" panose="020F0502020204030203" pitchFamily="34" charset="0"/>
              </a:rPr>
              <a:t>3</a:t>
            </a:r>
            <a:endParaRPr lang="en-US" b="0" i="0">
              <a:effectLst/>
              <a:latin typeface="Lato" panose="020F0502020204030203" pitchFamily="34" charset="0"/>
            </a:endParaRPr>
          </a:p>
          <a:p>
            <a:r>
              <a:rPr lang="en-US" b="0" i="0">
                <a:effectLst/>
                <a:latin typeface="Lato" panose="020F0502020204030203" pitchFamily="34" charset="0"/>
              </a:rPr>
              <a:t>At node </a:t>
            </a:r>
            <a:r>
              <a:rPr lang="en-US" b="0" i="0" u="none" strike="noStrike">
                <a:effectLst/>
                <a:latin typeface="Lato" panose="020F0502020204030203" pitchFamily="34" charset="0"/>
              </a:rPr>
              <a:t>B</a:t>
            </a:r>
            <a:r>
              <a:rPr lang="en-US" b="0" i="0">
                <a:effectLst/>
                <a:latin typeface="Lato" panose="020F0502020204030203" pitchFamily="34" charset="0"/>
              </a:rPr>
              <a:t> :    </a:t>
            </a:r>
            <a:r>
              <a:rPr lang="en-US" b="0" i="0" u="none" strike="noStrike">
                <a:effectLst/>
                <a:latin typeface="Lato" panose="020F0502020204030203" pitchFamily="34" charset="0"/>
              </a:rPr>
              <a:t>I</a:t>
            </a:r>
            <a:r>
              <a:rPr lang="en-US" b="0" i="0" u="none" strike="noStrike" baseline="-25000">
                <a:effectLst/>
                <a:latin typeface="Lato" panose="020F0502020204030203" pitchFamily="34" charset="0"/>
              </a:rPr>
              <a:t>3</a:t>
            </a:r>
            <a:r>
              <a:rPr lang="en-US" b="0" i="0" u="none" strike="noStrike">
                <a:effectLst/>
                <a:latin typeface="Lato" panose="020F0502020204030203" pitchFamily="34" charset="0"/>
              </a:rPr>
              <a:t> = I</a:t>
            </a:r>
            <a:r>
              <a:rPr lang="en-US" b="0" i="0" u="none" strike="noStrike" baseline="-25000">
                <a:effectLst/>
                <a:latin typeface="Lato" panose="020F0502020204030203" pitchFamily="34" charset="0"/>
              </a:rPr>
              <a:t>1</a:t>
            </a:r>
            <a:r>
              <a:rPr lang="en-US" b="0" i="0" u="none" strike="noStrike">
                <a:effectLst/>
                <a:latin typeface="Lato" panose="020F0502020204030203" pitchFamily="34" charset="0"/>
              </a:rPr>
              <a:t> + I</a:t>
            </a:r>
            <a:r>
              <a:rPr lang="en-US" b="0" i="0" u="none" strike="noStrike" baseline="-25000">
                <a:effectLst/>
                <a:latin typeface="Lato" panose="020F0502020204030203" pitchFamily="34" charset="0"/>
              </a:rPr>
              <a:t>2</a:t>
            </a:r>
            <a:endParaRPr lang="en-US" b="0" i="0">
              <a:effectLst/>
              <a:latin typeface="Lato" panose="020F0502020204030203" pitchFamily="34" charset="0"/>
            </a:endParaRPr>
          </a:p>
          <a:p>
            <a:r>
              <a:rPr lang="en-US" b="0" i="0">
                <a:effectLst/>
                <a:latin typeface="Lato" panose="020F0502020204030203" pitchFamily="34" charset="0"/>
              </a:rPr>
              <a:t>Using </a:t>
            </a:r>
            <a:r>
              <a:rPr lang="en-US" b="1" i="0" err="1">
                <a:effectLst/>
                <a:latin typeface="Lato" panose="020F0502020204030203" pitchFamily="34" charset="0"/>
              </a:rPr>
              <a:t>Kirchhoffs</a:t>
            </a:r>
            <a:r>
              <a:rPr lang="en-US" b="1" i="0">
                <a:effectLst/>
                <a:latin typeface="Lato" panose="020F0502020204030203" pitchFamily="34" charset="0"/>
              </a:rPr>
              <a:t> Voltage Law</a:t>
            </a:r>
            <a:r>
              <a:rPr lang="en-US" b="0" i="0">
                <a:effectLst/>
                <a:latin typeface="Lato" panose="020F0502020204030203" pitchFamily="34" charset="0"/>
              </a:rPr>
              <a:t>, </a:t>
            </a:r>
            <a:r>
              <a:rPr lang="en-US" b="1" i="0">
                <a:effectLst/>
                <a:latin typeface="Lato" panose="020F0502020204030203" pitchFamily="34" charset="0"/>
              </a:rPr>
              <a:t>KVL</a:t>
            </a:r>
            <a:r>
              <a:rPr lang="en-US" b="0" i="0">
                <a:effectLst/>
                <a:latin typeface="Lato" panose="020F0502020204030203" pitchFamily="34" charset="0"/>
              </a:rPr>
              <a:t> the equations are given as:</a:t>
            </a:r>
          </a:p>
          <a:p>
            <a:r>
              <a:rPr lang="en-US" b="0" i="0">
                <a:effectLst/>
                <a:latin typeface="Lato" panose="020F0502020204030203" pitchFamily="34" charset="0"/>
              </a:rPr>
              <a:t>Loop 1 is given as :    </a:t>
            </a:r>
            <a:r>
              <a:rPr lang="en-US" b="0" i="0" u="none" strike="noStrike">
                <a:effectLst/>
                <a:latin typeface="Lato" panose="020F0502020204030203" pitchFamily="34" charset="0"/>
              </a:rPr>
              <a:t>10 = R</a:t>
            </a:r>
            <a:r>
              <a:rPr lang="en-US" b="0" i="0" u="none" strike="noStrike" baseline="-25000">
                <a:effectLst/>
                <a:latin typeface="Lato" panose="020F0502020204030203" pitchFamily="34" charset="0"/>
              </a:rPr>
              <a:t>1</a:t>
            </a:r>
            <a:r>
              <a:rPr lang="en-US" b="0" i="0" u="none" strike="noStrike">
                <a:effectLst/>
                <a:latin typeface="Lato" panose="020F0502020204030203" pitchFamily="34" charset="0"/>
              </a:rPr>
              <a:t> I</a:t>
            </a:r>
            <a:r>
              <a:rPr lang="en-US" b="0" i="0" u="none" strike="noStrike" baseline="-25000">
                <a:effectLst/>
                <a:latin typeface="Lato" panose="020F0502020204030203" pitchFamily="34" charset="0"/>
              </a:rPr>
              <a:t>1</a:t>
            </a:r>
            <a:r>
              <a:rPr lang="en-US" b="0" i="0" u="none" strike="noStrike">
                <a:effectLst/>
                <a:latin typeface="Lato" panose="020F0502020204030203" pitchFamily="34" charset="0"/>
              </a:rPr>
              <a:t> + R</a:t>
            </a:r>
            <a:r>
              <a:rPr lang="en-US" b="0" i="0" u="none" strike="noStrike" baseline="-25000">
                <a:effectLst/>
                <a:latin typeface="Lato" panose="020F0502020204030203" pitchFamily="34" charset="0"/>
              </a:rPr>
              <a:t>3</a:t>
            </a:r>
            <a:r>
              <a:rPr lang="en-US" b="0" i="0" u="none" strike="noStrike">
                <a:effectLst/>
                <a:latin typeface="Lato" panose="020F0502020204030203" pitchFamily="34" charset="0"/>
              </a:rPr>
              <a:t> I</a:t>
            </a:r>
            <a:r>
              <a:rPr lang="en-US" b="0" i="0" u="none" strike="noStrike" baseline="-25000">
                <a:effectLst/>
                <a:latin typeface="Lato" panose="020F0502020204030203" pitchFamily="34" charset="0"/>
              </a:rPr>
              <a:t>3</a:t>
            </a:r>
            <a:r>
              <a:rPr lang="en-US" b="0" i="0" u="none" strike="noStrike">
                <a:effectLst/>
                <a:latin typeface="Lato" panose="020F0502020204030203" pitchFamily="34" charset="0"/>
              </a:rPr>
              <a:t> = 10I</a:t>
            </a:r>
            <a:r>
              <a:rPr lang="en-US" b="0" i="0" u="none" strike="noStrike" baseline="-25000">
                <a:effectLst/>
                <a:latin typeface="Lato" panose="020F0502020204030203" pitchFamily="34" charset="0"/>
              </a:rPr>
              <a:t>1</a:t>
            </a:r>
            <a:r>
              <a:rPr lang="en-US" b="0" i="0" u="none" strike="noStrike">
                <a:effectLst/>
                <a:latin typeface="Lato" panose="020F0502020204030203" pitchFamily="34" charset="0"/>
              </a:rPr>
              <a:t> + 40I</a:t>
            </a:r>
            <a:r>
              <a:rPr lang="en-US" b="0" i="0" u="none" strike="noStrike" baseline="-25000">
                <a:effectLst/>
                <a:latin typeface="Lato" panose="020F0502020204030203" pitchFamily="34" charset="0"/>
              </a:rPr>
              <a:t>3</a:t>
            </a:r>
            <a:endParaRPr lang="en-US" b="0" i="0">
              <a:effectLst/>
              <a:latin typeface="Lato" panose="020F0502020204030203" pitchFamily="34" charset="0"/>
            </a:endParaRPr>
          </a:p>
          <a:p>
            <a:r>
              <a:rPr lang="en-US" b="0" i="0">
                <a:effectLst/>
                <a:latin typeface="Lato" panose="020F0502020204030203" pitchFamily="34" charset="0"/>
              </a:rPr>
              <a:t>Loop 2 is given as :    </a:t>
            </a:r>
            <a:r>
              <a:rPr lang="en-US" b="0" i="0" u="none" strike="noStrike">
                <a:effectLst/>
                <a:latin typeface="Lato" panose="020F0502020204030203" pitchFamily="34" charset="0"/>
              </a:rPr>
              <a:t>20 = R</a:t>
            </a:r>
            <a:r>
              <a:rPr lang="en-US" b="0" i="0" u="none" strike="noStrike" baseline="-25000">
                <a:effectLst/>
                <a:latin typeface="Lato" panose="020F0502020204030203" pitchFamily="34" charset="0"/>
              </a:rPr>
              <a:t>2</a:t>
            </a:r>
            <a:r>
              <a:rPr lang="en-US" b="0" i="0" u="none" strike="noStrike">
                <a:effectLst/>
                <a:latin typeface="Lato" panose="020F0502020204030203" pitchFamily="34" charset="0"/>
              </a:rPr>
              <a:t> I</a:t>
            </a:r>
            <a:r>
              <a:rPr lang="en-US" b="0" i="0" u="none" strike="noStrike" baseline="-25000">
                <a:effectLst/>
                <a:latin typeface="Lato" panose="020F0502020204030203" pitchFamily="34" charset="0"/>
              </a:rPr>
              <a:t>2</a:t>
            </a:r>
            <a:r>
              <a:rPr lang="en-US" b="0" i="0" u="none" strike="noStrike">
                <a:effectLst/>
                <a:latin typeface="Lato" panose="020F0502020204030203" pitchFamily="34" charset="0"/>
              </a:rPr>
              <a:t> + R</a:t>
            </a:r>
            <a:r>
              <a:rPr lang="en-US" b="0" i="0" u="none" strike="noStrike" baseline="-25000">
                <a:effectLst/>
                <a:latin typeface="Lato" panose="020F0502020204030203" pitchFamily="34" charset="0"/>
              </a:rPr>
              <a:t>3</a:t>
            </a:r>
            <a:r>
              <a:rPr lang="en-US" b="0" i="0" u="none" strike="noStrike">
                <a:effectLst/>
                <a:latin typeface="Lato" panose="020F0502020204030203" pitchFamily="34" charset="0"/>
              </a:rPr>
              <a:t> I</a:t>
            </a:r>
            <a:r>
              <a:rPr lang="en-US" b="0" i="0" u="none" strike="noStrike" baseline="-25000">
                <a:effectLst/>
                <a:latin typeface="Lato" panose="020F0502020204030203" pitchFamily="34" charset="0"/>
              </a:rPr>
              <a:t>3</a:t>
            </a:r>
            <a:r>
              <a:rPr lang="en-US" b="0" i="0" u="none" strike="noStrike">
                <a:effectLst/>
                <a:latin typeface="Lato" panose="020F0502020204030203" pitchFamily="34" charset="0"/>
              </a:rPr>
              <a:t> = 20I</a:t>
            </a:r>
            <a:r>
              <a:rPr lang="en-US" b="0" i="0" u="none" strike="noStrike" baseline="-25000">
                <a:effectLst/>
                <a:latin typeface="Lato" panose="020F0502020204030203" pitchFamily="34" charset="0"/>
              </a:rPr>
              <a:t>2</a:t>
            </a:r>
            <a:r>
              <a:rPr lang="en-US" b="0" i="0" u="none" strike="noStrike">
                <a:effectLst/>
                <a:latin typeface="Lato" panose="020F0502020204030203" pitchFamily="34" charset="0"/>
              </a:rPr>
              <a:t> + 40I</a:t>
            </a:r>
            <a:r>
              <a:rPr lang="en-US" b="0" i="0" u="none" strike="noStrike" baseline="-25000">
                <a:effectLst/>
                <a:latin typeface="Lato" panose="020F0502020204030203" pitchFamily="34" charset="0"/>
              </a:rPr>
              <a:t>3</a:t>
            </a:r>
            <a:endParaRPr lang="en-US" b="0" i="0">
              <a:effectLst/>
              <a:latin typeface="Lato" panose="020F0502020204030203" pitchFamily="34" charset="0"/>
            </a:endParaRPr>
          </a:p>
          <a:p>
            <a:endParaRPr lang="en-US" dirty="0"/>
          </a:p>
        </p:txBody>
      </p:sp>
    </p:spTree>
    <p:extLst>
      <p:ext uri="{BB962C8B-B14F-4D97-AF65-F5344CB8AC3E}">
        <p14:creationId xmlns:p14="http://schemas.microsoft.com/office/powerpoint/2010/main" val="3027007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61F31-F2D7-4614-9993-8AC95F7FE905}"/>
              </a:ext>
            </a:extLst>
          </p:cNvPr>
          <p:cNvSpPr>
            <a:spLocks noGrp="1"/>
          </p:cNvSpPr>
          <p:nvPr>
            <p:ph type="title"/>
          </p:nvPr>
        </p:nvSpPr>
        <p:spPr>
          <a:xfrm>
            <a:off x="604646" y="804672"/>
            <a:ext cx="2641019" cy="5248656"/>
          </a:xfrm>
        </p:spPr>
        <p:txBody>
          <a:bodyPr anchor="ctr">
            <a:normAutofit/>
          </a:bodyPr>
          <a:lstStyle/>
          <a:p>
            <a:pPr algn="ctr"/>
            <a:r>
              <a:rPr lang="en-GB"/>
              <a:t>Solu.cont</a:t>
            </a:r>
            <a:endParaRPr lang="en-US"/>
          </a:p>
        </p:txBody>
      </p:sp>
      <p:sp>
        <p:nvSpPr>
          <p:cNvPr id="3" name="Content Placeholder 2">
            <a:extLst>
              <a:ext uri="{FF2B5EF4-FFF2-40B4-BE49-F238E27FC236}">
                <a16:creationId xmlns:a16="http://schemas.microsoft.com/office/drawing/2014/main" id="{88C1D6C0-C090-432A-A470-71ECC509A68A}"/>
              </a:ext>
            </a:extLst>
          </p:cNvPr>
          <p:cNvSpPr>
            <a:spLocks noGrp="1"/>
          </p:cNvSpPr>
          <p:nvPr>
            <p:ph idx="1"/>
          </p:nvPr>
        </p:nvSpPr>
        <p:spPr>
          <a:xfrm>
            <a:off x="3731895" y="804671"/>
            <a:ext cx="4799948" cy="5248657"/>
          </a:xfrm>
        </p:spPr>
        <p:txBody>
          <a:bodyPr anchor="ctr">
            <a:normAutofit/>
          </a:bodyPr>
          <a:lstStyle/>
          <a:p>
            <a:pPr>
              <a:lnSpc>
                <a:spcPct val="90000"/>
              </a:lnSpc>
            </a:pPr>
            <a:r>
              <a:rPr lang="en-US" sz="1700" b="0" i="0">
                <a:effectLst/>
                <a:latin typeface="Lato" panose="020F0502020204030203" pitchFamily="34" charset="0"/>
              </a:rPr>
              <a:t>Loop 3 is given as :    </a:t>
            </a:r>
            <a:r>
              <a:rPr lang="en-US" sz="1700" b="0" i="0" u="none" strike="noStrike">
                <a:effectLst/>
                <a:latin typeface="Lato" panose="020F0502020204030203" pitchFamily="34" charset="0"/>
              </a:rPr>
              <a:t>10 – 20 = 10I</a:t>
            </a:r>
            <a:r>
              <a:rPr lang="en-US" sz="1700" b="0" i="0" u="none" strike="noStrike" baseline="-25000">
                <a:effectLst/>
                <a:latin typeface="Lato" panose="020F0502020204030203" pitchFamily="34" charset="0"/>
              </a:rPr>
              <a:t>1</a:t>
            </a:r>
            <a:r>
              <a:rPr lang="en-US" sz="1700" b="0" i="0" u="none" strike="noStrike">
                <a:effectLst/>
                <a:latin typeface="Lato" panose="020F0502020204030203" pitchFamily="34" charset="0"/>
              </a:rPr>
              <a:t> – 20I</a:t>
            </a:r>
            <a:r>
              <a:rPr lang="en-US" sz="1700" b="0" i="0" u="none" strike="noStrike" baseline="-25000">
                <a:effectLst/>
                <a:latin typeface="Lato" panose="020F0502020204030203" pitchFamily="34" charset="0"/>
              </a:rPr>
              <a:t>2</a:t>
            </a:r>
            <a:endParaRPr lang="en-US" sz="1700" b="0" i="0">
              <a:effectLst/>
              <a:latin typeface="Lato" panose="020F0502020204030203" pitchFamily="34" charset="0"/>
            </a:endParaRPr>
          </a:p>
          <a:p>
            <a:pPr>
              <a:lnSpc>
                <a:spcPct val="90000"/>
              </a:lnSpc>
            </a:pPr>
            <a:r>
              <a:rPr lang="en-US" sz="1700" b="0" i="0">
                <a:effectLst/>
                <a:latin typeface="Lato" panose="020F0502020204030203" pitchFamily="34" charset="0"/>
              </a:rPr>
              <a:t>As </a:t>
            </a:r>
            <a:r>
              <a:rPr lang="en-US" sz="1700" b="0" i="0" u="none" strike="noStrike">
                <a:effectLst/>
                <a:latin typeface="Lato" panose="020F0502020204030203" pitchFamily="34" charset="0"/>
              </a:rPr>
              <a:t>I</a:t>
            </a:r>
            <a:r>
              <a:rPr lang="en-US" sz="1700" b="0" i="0" u="none" strike="noStrike" baseline="-25000">
                <a:effectLst/>
                <a:latin typeface="Lato" panose="020F0502020204030203" pitchFamily="34" charset="0"/>
              </a:rPr>
              <a:t>3</a:t>
            </a:r>
            <a:r>
              <a:rPr lang="en-US" sz="1700" b="0" i="0">
                <a:effectLst/>
                <a:latin typeface="Lato" panose="020F0502020204030203" pitchFamily="34" charset="0"/>
              </a:rPr>
              <a:t> is the sum of </a:t>
            </a:r>
            <a:r>
              <a:rPr lang="en-US" sz="1700" b="0" i="0" u="none" strike="noStrike">
                <a:effectLst/>
                <a:latin typeface="Lato" panose="020F0502020204030203" pitchFamily="34" charset="0"/>
              </a:rPr>
              <a:t>I</a:t>
            </a:r>
            <a:r>
              <a:rPr lang="en-US" sz="1700" b="0" i="0" u="none" strike="noStrike" baseline="-25000">
                <a:effectLst/>
                <a:latin typeface="Lato" panose="020F0502020204030203" pitchFamily="34" charset="0"/>
              </a:rPr>
              <a:t>1</a:t>
            </a:r>
            <a:r>
              <a:rPr lang="en-US" sz="1700" b="0" i="0" u="none" strike="noStrike">
                <a:effectLst/>
                <a:latin typeface="Lato" panose="020F0502020204030203" pitchFamily="34" charset="0"/>
              </a:rPr>
              <a:t> + I</a:t>
            </a:r>
            <a:r>
              <a:rPr lang="en-US" sz="1700" b="0" i="0" u="none" strike="noStrike" baseline="-25000">
                <a:effectLst/>
                <a:latin typeface="Lato" panose="020F0502020204030203" pitchFamily="34" charset="0"/>
              </a:rPr>
              <a:t>2</a:t>
            </a:r>
            <a:r>
              <a:rPr lang="en-US" sz="1700" b="0" i="0">
                <a:effectLst/>
                <a:latin typeface="Lato" panose="020F0502020204030203" pitchFamily="34" charset="0"/>
              </a:rPr>
              <a:t> we can rewrite the equations as;</a:t>
            </a:r>
          </a:p>
          <a:p>
            <a:pPr>
              <a:lnSpc>
                <a:spcPct val="90000"/>
              </a:lnSpc>
            </a:pPr>
            <a:r>
              <a:rPr lang="en-US" sz="1700" b="0" i="0">
                <a:effectLst/>
                <a:latin typeface="Lato" panose="020F0502020204030203" pitchFamily="34" charset="0"/>
              </a:rPr>
              <a:t>Eq. No 1 :    </a:t>
            </a:r>
            <a:r>
              <a:rPr lang="en-US" sz="1700" b="0" i="0" u="none" strike="noStrike">
                <a:effectLst/>
                <a:latin typeface="Lato" panose="020F0502020204030203" pitchFamily="34" charset="0"/>
              </a:rPr>
              <a:t>10 = 10I</a:t>
            </a:r>
            <a:r>
              <a:rPr lang="en-US" sz="1700" b="0" i="0" u="none" strike="noStrike" baseline="-25000">
                <a:effectLst/>
                <a:latin typeface="Lato" panose="020F0502020204030203" pitchFamily="34" charset="0"/>
              </a:rPr>
              <a:t>1</a:t>
            </a:r>
            <a:r>
              <a:rPr lang="en-US" sz="1700" b="0" i="0" u="none" strike="noStrike">
                <a:effectLst/>
                <a:latin typeface="Lato" panose="020F0502020204030203" pitchFamily="34" charset="0"/>
              </a:rPr>
              <a:t> + 40(I</a:t>
            </a:r>
            <a:r>
              <a:rPr lang="en-US" sz="1700" b="0" i="0" u="none" strike="noStrike" baseline="-25000">
                <a:effectLst/>
                <a:latin typeface="Lato" panose="020F0502020204030203" pitchFamily="34" charset="0"/>
              </a:rPr>
              <a:t>1</a:t>
            </a:r>
            <a:r>
              <a:rPr lang="en-US" sz="1700" b="0" i="0" u="none" strike="noStrike">
                <a:effectLst/>
                <a:latin typeface="Lato" panose="020F0502020204030203" pitchFamily="34" charset="0"/>
              </a:rPr>
              <a:t> + I</a:t>
            </a:r>
            <a:r>
              <a:rPr lang="en-US" sz="1700" b="0" i="0" u="none" strike="noStrike" baseline="-25000">
                <a:effectLst/>
                <a:latin typeface="Lato" panose="020F0502020204030203" pitchFamily="34" charset="0"/>
              </a:rPr>
              <a:t>2</a:t>
            </a:r>
            <a:r>
              <a:rPr lang="en-US" sz="1700" b="0" i="0" u="none" strike="noStrike">
                <a:effectLst/>
                <a:latin typeface="Lato" panose="020F0502020204030203" pitchFamily="34" charset="0"/>
              </a:rPr>
              <a:t>)  =  50I</a:t>
            </a:r>
            <a:r>
              <a:rPr lang="en-US" sz="1700" b="0" i="0" u="none" strike="noStrike" baseline="-25000">
                <a:effectLst/>
                <a:latin typeface="Lato" panose="020F0502020204030203" pitchFamily="34" charset="0"/>
              </a:rPr>
              <a:t>1</a:t>
            </a:r>
            <a:r>
              <a:rPr lang="en-US" sz="1700" b="0" i="0" u="none" strike="noStrike">
                <a:effectLst/>
                <a:latin typeface="Lato" panose="020F0502020204030203" pitchFamily="34" charset="0"/>
              </a:rPr>
              <a:t> + 40I</a:t>
            </a:r>
            <a:r>
              <a:rPr lang="en-US" sz="1700" b="0" i="0" u="none" strike="noStrike" baseline="-25000">
                <a:effectLst/>
                <a:latin typeface="Lato" panose="020F0502020204030203" pitchFamily="34" charset="0"/>
              </a:rPr>
              <a:t>2</a:t>
            </a:r>
            <a:endParaRPr lang="en-US" sz="1700" b="0" i="0">
              <a:effectLst/>
              <a:latin typeface="Lato" panose="020F0502020204030203" pitchFamily="34" charset="0"/>
            </a:endParaRPr>
          </a:p>
          <a:p>
            <a:pPr>
              <a:lnSpc>
                <a:spcPct val="90000"/>
              </a:lnSpc>
            </a:pPr>
            <a:r>
              <a:rPr lang="en-US" sz="1700" b="0" i="0">
                <a:effectLst/>
                <a:latin typeface="Lato" panose="020F0502020204030203" pitchFamily="34" charset="0"/>
              </a:rPr>
              <a:t>Eq. No 2 :    </a:t>
            </a:r>
            <a:r>
              <a:rPr lang="en-US" sz="1700" b="0" i="0" u="none" strike="noStrike">
                <a:effectLst/>
                <a:latin typeface="Lato" panose="020F0502020204030203" pitchFamily="34" charset="0"/>
              </a:rPr>
              <a:t>20 = 20I</a:t>
            </a:r>
            <a:r>
              <a:rPr lang="en-US" sz="1700" b="0" i="0" u="none" strike="noStrike" baseline="-25000">
                <a:effectLst/>
                <a:latin typeface="Lato" panose="020F0502020204030203" pitchFamily="34" charset="0"/>
              </a:rPr>
              <a:t>2</a:t>
            </a:r>
            <a:r>
              <a:rPr lang="en-US" sz="1700" b="0" i="0" u="none" strike="noStrike">
                <a:effectLst/>
                <a:latin typeface="Lato" panose="020F0502020204030203" pitchFamily="34" charset="0"/>
              </a:rPr>
              <a:t> + 40(I</a:t>
            </a:r>
            <a:r>
              <a:rPr lang="en-US" sz="1700" b="0" i="0" u="none" strike="noStrike" baseline="-25000">
                <a:effectLst/>
                <a:latin typeface="Lato" panose="020F0502020204030203" pitchFamily="34" charset="0"/>
              </a:rPr>
              <a:t>1</a:t>
            </a:r>
            <a:r>
              <a:rPr lang="en-US" sz="1700" b="0" i="0" u="none" strike="noStrike">
                <a:effectLst/>
                <a:latin typeface="Lato" panose="020F0502020204030203" pitchFamily="34" charset="0"/>
              </a:rPr>
              <a:t> + I</a:t>
            </a:r>
            <a:r>
              <a:rPr lang="en-US" sz="1700" b="0" i="0" u="none" strike="noStrike" baseline="-25000">
                <a:effectLst/>
                <a:latin typeface="Lato" panose="020F0502020204030203" pitchFamily="34" charset="0"/>
              </a:rPr>
              <a:t>2</a:t>
            </a:r>
            <a:r>
              <a:rPr lang="en-US" sz="1700" b="0" i="0" u="none" strike="noStrike">
                <a:effectLst/>
                <a:latin typeface="Lato" panose="020F0502020204030203" pitchFamily="34" charset="0"/>
              </a:rPr>
              <a:t>)  =  40I</a:t>
            </a:r>
            <a:r>
              <a:rPr lang="en-US" sz="1700" b="0" i="0" u="none" strike="noStrike" baseline="-25000">
                <a:effectLst/>
                <a:latin typeface="Lato" panose="020F0502020204030203" pitchFamily="34" charset="0"/>
              </a:rPr>
              <a:t>1</a:t>
            </a:r>
            <a:r>
              <a:rPr lang="en-US" sz="1700" b="0" i="0" u="none" strike="noStrike">
                <a:effectLst/>
                <a:latin typeface="Lato" panose="020F0502020204030203" pitchFamily="34" charset="0"/>
              </a:rPr>
              <a:t> + 60I</a:t>
            </a:r>
            <a:r>
              <a:rPr lang="en-US" sz="1700" b="0" i="0" u="none" strike="noStrike" baseline="-25000">
                <a:effectLst/>
                <a:latin typeface="Lato" panose="020F0502020204030203" pitchFamily="34" charset="0"/>
              </a:rPr>
              <a:t>2</a:t>
            </a:r>
            <a:endParaRPr lang="en-US" sz="1700" b="0" i="0">
              <a:effectLst/>
              <a:latin typeface="Lato" panose="020F0502020204030203" pitchFamily="34" charset="0"/>
            </a:endParaRPr>
          </a:p>
          <a:p>
            <a:pPr>
              <a:lnSpc>
                <a:spcPct val="90000"/>
              </a:lnSpc>
            </a:pPr>
            <a:r>
              <a:rPr lang="en-US" sz="1700" b="0" i="0">
                <a:effectLst/>
                <a:latin typeface="Lato" panose="020F0502020204030203" pitchFamily="34" charset="0"/>
              </a:rPr>
              <a:t>We now have two “</a:t>
            </a:r>
            <a:r>
              <a:rPr lang="en-US" sz="1700" b="1" i="0">
                <a:effectLst/>
                <a:latin typeface="Lato" panose="020F0502020204030203" pitchFamily="34" charset="0"/>
              </a:rPr>
              <a:t>Simultaneous Equations</a:t>
            </a:r>
            <a:r>
              <a:rPr lang="en-US" sz="1700" b="0" i="0">
                <a:effectLst/>
                <a:latin typeface="Lato" panose="020F0502020204030203" pitchFamily="34" charset="0"/>
              </a:rPr>
              <a:t>” that can be reduced to give us the values of </a:t>
            </a:r>
            <a:r>
              <a:rPr lang="en-US" sz="1700" b="0" i="0" u="none" strike="noStrike">
                <a:effectLst/>
                <a:latin typeface="Lato" panose="020F0502020204030203" pitchFamily="34" charset="0"/>
              </a:rPr>
              <a:t>I</a:t>
            </a:r>
            <a:r>
              <a:rPr lang="en-US" sz="1700" b="0" i="0" u="none" strike="noStrike" baseline="-25000">
                <a:effectLst/>
                <a:latin typeface="Lato" panose="020F0502020204030203" pitchFamily="34" charset="0"/>
              </a:rPr>
              <a:t>1</a:t>
            </a:r>
            <a:r>
              <a:rPr lang="en-US" sz="1700" b="0" i="0">
                <a:effectLst/>
                <a:latin typeface="Lato" panose="020F0502020204030203" pitchFamily="34" charset="0"/>
              </a:rPr>
              <a:t> and </a:t>
            </a:r>
            <a:r>
              <a:rPr lang="en-US" sz="1700" b="0" i="0" u="none" strike="noStrike">
                <a:effectLst/>
                <a:latin typeface="Lato" panose="020F0502020204030203" pitchFamily="34" charset="0"/>
              </a:rPr>
              <a:t>I</a:t>
            </a:r>
            <a:r>
              <a:rPr lang="en-US" sz="1700" b="0" i="0" u="none" strike="noStrike" baseline="-25000">
                <a:effectLst/>
                <a:latin typeface="Lato" panose="020F0502020204030203" pitchFamily="34" charset="0"/>
              </a:rPr>
              <a:t>2</a:t>
            </a:r>
            <a:r>
              <a:rPr lang="en-US" sz="1700" b="0" i="0">
                <a:effectLst/>
                <a:latin typeface="Lato" panose="020F0502020204030203" pitchFamily="34" charset="0"/>
              </a:rPr>
              <a:t> </a:t>
            </a:r>
          </a:p>
          <a:p>
            <a:pPr>
              <a:lnSpc>
                <a:spcPct val="90000"/>
              </a:lnSpc>
            </a:pPr>
            <a:r>
              <a:rPr lang="en-US" sz="1700" b="0" i="0">
                <a:effectLst/>
                <a:latin typeface="Lato" panose="020F0502020204030203" pitchFamily="34" charset="0"/>
              </a:rPr>
              <a:t>Substitution of </a:t>
            </a:r>
            <a:r>
              <a:rPr lang="en-US" sz="1700" b="0" i="0" u="none" strike="noStrike">
                <a:effectLst/>
                <a:latin typeface="Lato" panose="020F0502020204030203" pitchFamily="34" charset="0"/>
              </a:rPr>
              <a:t>I</a:t>
            </a:r>
            <a:r>
              <a:rPr lang="en-US" sz="1700" b="0" i="0" u="none" strike="noStrike" baseline="-25000">
                <a:effectLst/>
                <a:latin typeface="Lato" panose="020F0502020204030203" pitchFamily="34" charset="0"/>
              </a:rPr>
              <a:t>1</a:t>
            </a:r>
            <a:r>
              <a:rPr lang="en-US" sz="1700" b="0" i="0">
                <a:effectLst/>
                <a:latin typeface="Lato" panose="020F0502020204030203" pitchFamily="34" charset="0"/>
              </a:rPr>
              <a:t> in terms of </a:t>
            </a:r>
            <a:r>
              <a:rPr lang="en-US" sz="1700" b="0" i="0" u="none" strike="noStrike">
                <a:effectLst/>
                <a:latin typeface="Lato" panose="020F0502020204030203" pitchFamily="34" charset="0"/>
              </a:rPr>
              <a:t>I</a:t>
            </a:r>
            <a:r>
              <a:rPr lang="en-US" sz="1700" b="0" i="0" u="none" strike="noStrike" baseline="-25000">
                <a:effectLst/>
                <a:latin typeface="Lato" panose="020F0502020204030203" pitchFamily="34" charset="0"/>
              </a:rPr>
              <a:t>2</a:t>
            </a:r>
            <a:r>
              <a:rPr lang="en-US" sz="1700" b="0" i="0">
                <a:effectLst/>
                <a:latin typeface="Lato" panose="020F0502020204030203" pitchFamily="34" charset="0"/>
              </a:rPr>
              <a:t> gives us the value of </a:t>
            </a:r>
            <a:r>
              <a:rPr lang="en-US" sz="1700" b="0" i="0" u="none" strike="noStrike">
                <a:effectLst/>
                <a:latin typeface="Lato" panose="020F0502020204030203" pitchFamily="34" charset="0"/>
              </a:rPr>
              <a:t>I</a:t>
            </a:r>
            <a:r>
              <a:rPr lang="en-US" sz="1700" b="0" i="0" u="none" strike="noStrike" baseline="-25000">
                <a:effectLst/>
                <a:latin typeface="Lato" panose="020F0502020204030203" pitchFamily="34" charset="0"/>
              </a:rPr>
              <a:t>1</a:t>
            </a:r>
            <a:r>
              <a:rPr lang="en-US" sz="1700" b="0" i="0">
                <a:effectLst/>
                <a:latin typeface="Lato" panose="020F0502020204030203" pitchFamily="34" charset="0"/>
              </a:rPr>
              <a:t> as </a:t>
            </a:r>
            <a:r>
              <a:rPr lang="en-US" sz="1700" b="0" i="0" u="none" strike="noStrike">
                <a:effectLst/>
                <a:latin typeface="Lato" panose="020F0502020204030203" pitchFamily="34" charset="0"/>
              </a:rPr>
              <a:t>-0.143 Amps</a:t>
            </a:r>
            <a:endParaRPr lang="en-US" sz="1700" b="0" i="0">
              <a:effectLst/>
              <a:latin typeface="Lato" panose="020F0502020204030203" pitchFamily="34" charset="0"/>
            </a:endParaRPr>
          </a:p>
          <a:p>
            <a:pPr>
              <a:lnSpc>
                <a:spcPct val="90000"/>
              </a:lnSpc>
            </a:pPr>
            <a:r>
              <a:rPr lang="en-US" sz="1700" b="0" i="0">
                <a:effectLst/>
                <a:latin typeface="Lato" panose="020F0502020204030203" pitchFamily="34" charset="0"/>
              </a:rPr>
              <a:t>Substitution of </a:t>
            </a:r>
            <a:r>
              <a:rPr lang="en-US" sz="1700" b="0" i="0" u="none" strike="noStrike">
                <a:effectLst/>
                <a:latin typeface="Lato" panose="020F0502020204030203" pitchFamily="34" charset="0"/>
              </a:rPr>
              <a:t>I</a:t>
            </a:r>
            <a:r>
              <a:rPr lang="en-US" sz="1700" b="0" i="0" u="none" strike="noStrike" baseline="-25000">
                <a:effectLst/>
                <a:latin typeface="Lato" panose="020F0502020204030203" pitchFamily="34" charset="0"/>
              </a:rPr>
              <a:t>2</a:t>
            </a:r>
            <a:r>
              <a:rPr lang="en-US" sz="1700" b="0" i="0">
                <a:effectLst/>
                <a:latin typeface="Lato" panose="020F0502020204030203" pitchFamily="34" charset="0"/>
              </a:rPr>
              <a:t> in terms of </a:t>
            </a:r>
            <a:r>
              <a:rPr lang="en-US" sz="1700" b="0" i="0" u="none" strike="noStrike">
                <a:effectLst/>
                <a:latin typeface="Lato" panose="020F0502020204030203" pitchFamily="34" charset="0"/>
              </a:rPr>
              <a:t>I</a:t>
            </a:r>
            <a:r>
              <a:rPr lang="en-US" sz="1700" b="0" i="0" u="none" strike="noStrike" baseline="-25000">
                <a:effectLst/>
                <a:latin typeface="Lato" panose="020F0502020204030203" pitchFamily="34" charset="0"/>
              </a:rPr>
              <a:t>1</a:t>
            </a:r>
            <a:r>
              <a:rPr lang="en-US" sz="1700" b="0" i="0">
                <a:effectLst/>
                <a:latin typeface="Lato" panose="020F0502020204030203" pitchFamily="34" charset="0"/>
              </a:rPr>
              <a:t> gives us the value of </a:t>
            </a:r>
            <a:r>
              <a:rPr lang="en-US" sz="1700" b="0" i="0" u="none" strike="noStrike">
                <a:effectLst/>
                <a:latin typeface="Lato" panose="020F0502020204030203" pitchFamily="34" charset="0"/>
              </a:rPr>
              <a:t>I</a:t>
            </a:r>
            <a:r>
              <a:rPr lang="en-US" sz="1700" b="0" i="0" u="none" strike="noStrike" baseline="-25000">
                <a:effectLst/>
                <a:latin typeface="Lato" panose="020F0502020204030203" pitchFamily="34" charset="0"/>
              </a:rPr>
              <a:t>2</a:t>
            </a:r>
            <a:r>
              <a:rPr lang="en-US" sz="1700" b="0" i="0">
                <a:effectLst/>
                <a:latin typeface="Lato" panose="020F0502020204030203" pitchFamily="34" charset="0"/>
              </a:rPr>
              <a:t> as </a:t>
            </a:r>
            <a:r>
              <a:rPr lang="en-US" sz="1700" b="0" i="0" u="none" strike="noStrike">
                <a:effectLst/>
                <a:latin typeface="Lato" panose="020F0502020204030203" pitchFamily="34" charset="0"/>
              </a:rPr>
              <a:t>+0.429 Amps</a:t>
            </a:r>
            <a:endParaRPr lang="en-US" sz="1700" b="0" i="0">
              <a:effectLst/>
              <a:latin typeface="Lato" panose="020F0502020204030203" pitchFamily="34" charset="0"/>
            </a:endParaRPr>
          </a:p>
          <a:p>
            <a:pPr>
              <a:lnSpc>
                <a:spcPct val="90000"/>
              </a:lnSpc>
            </a:pPr>
            <a:endParaRPr lang="en-US" sz="1700"/>
          </a:p>
        </p:txBody>
      </p:sp>
    </p:spTree>
    <p:extLst>
      <p:ext uri="{BB962C8B-B14F-4D97-AF65-F5344CB8AC3E}">
        <p14:creationId xmlns:p14="http://schemas.microsoft.com/office/powerpoint/2010/main" val="15989457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1BACE-1933-41FD-A060-F309614BD2F6}"/>
              </a:ext>
            </a:extLst>
          </p:cNvPr>
          <p:cNvSpPr>
            <a:spLocks noGrp="1"/>
          </p:cNvSpPr>
          <p:nvPr>
            <p:ph type="title"/>
          </p:nvPr>
        </p:nvSpPr>
        <p:spPr>
          <a:xfrm>
            <a:off x="604646" y="804672"/>
            <a:ext cx="2641019" cy="5248656"/>
          </a:xfrm>
        </p:spPr>
        <p:txBody>
          <a:bodyPr anchor="ctr">
            <a:normAutofit/>
          </a:bodyPr>
          <a:lstStyle/>
          <a:p>
            <a:pPr algn="ctr"/>
            <a:r>
              <a:rPr lang="en-GB" sz="3900"/>
              <a:t>Solu.conti.</a:t>
            </a:r>
            <a:endParaRPr lang="en-US" sz="3900"/>
          </a:p>
        </p:txBody>
      </p:sp>
      <p:sp>
        <p:nvSpPr>
          <p:cNvPr id="3" name="Content Placeholder 2">
            <a:extLst>
              <a:ext uri="{FF2B5EF4-FFF2-40B4-BE49-F238E27FC236}">
                <a16:creationId xmlns:a16="http://schemas.microsoft.com/office/drawing/2014/main" id="{7FC4F68C-41C8-4DEC-87CF-0D4CE75ACD87}"/>
              </a:ext>
            </a:extLst>
          </p:cNvPr>
          <p:cNvSpPr>
            <a:spLocks noGrp="1"/>
          </p:cNvSpPr>
          <p:nvPr>
            <p:ph idx="1"/>
          </p:nvPr>
        </p:nvSpPr>
        <p:spPr>
          <a:xfrm>
            <a:off x="3731895" y="804671"/>
            <a:ext cx="4799948" cy="5248657"/>
          </a:xfrm>
        </p:spPr>
        <p:txBody>
          <a:bodyPr anchor="ctr">
            <a:normAutofit/>
          </a:bodyPr>
          <a:lstStyle/>
          <a:p>
            <a:r>
              <a:rPr lang="en-US" b="0" i="0">
                <a:effectLst/>
                <a:latin typeface="Lato" panose="020F0502020204030203" pitchFamily="34" charset="0"/>
              </a:rPr>
              <a:t>As :    </a:t>
            </a:r>
            <a:r>
              <a:rPr lang="en-US" b="0" i="0" u="none" strike="noStrike">
                <a:effectLst/>
                <a:latin typeface="Lato" panose="020F0502020204030203" pitchFamily="34" charset="0"/>
              </a:rPr>
              <a:t>I</a:t>
            </a:r>
            <a:r>
              <a:rPr lang="en-US" b="0" i="0" u="none" strike="noStrike" baseline="-25000">
                <a:effectLst/>
                <a:latin typeface="Lato" panose="020F0502020204030203" pitchFamily="34" charset="0"/>
              </a:rPr>
              <a:t>3</a:t>
            </a:r>
            <a:r>
              <a:rPr lang="en-US" b="0" i="0" u="none" strike="noStrike">
                <a:effectLst/>
                <a:latin typeface="Lato" panose="020F0502020204030203" pitchFamily="34" charset="0"/>
              </a:rPr>
              <a:t> = I</a:t>
            </a:r>
            <a:r>
              <a:rPr lang="en-US" b="0" i="0" u="none" strike="noStrike" baseline="-25000">
                <a:effectLst/>
                <a:latin typeface="Lato" panose="020F0502020204030203" pitchFamily="34" charset="0"/>
              </a:rPr>
              <a:t>1</a:t>
            </a:r>
            <a:r>
              <a:rPr lang="en-US" b="0" i="0" u="none" strike="noStrike">
                <a:effectLst/>
                <a:latin typeface="Lato" panose="020F0502020204030203" pitchFamily="34" charset="0"/>
              </a:rPr>
              <a:t> + I</a:t>
            </a:r>
            <a:r>
              <a:rPr lang="en-US" b="0" i="0" u="none" strike="noStrike" baseline="-25000">
                <a:effectLst/>
                <a:latin typeface="Lato" panose="020F0502020204030203" pitchFamily="34" charset="0"/>
              </a:rPr>
              <a:t>2</a:t>
            </a:r>
            <a:endParaRPr lang="en-US" b="0" i="0">
              <a:effectLst/>
              <a:latin typeface="Lato" panose="020F0502020204030203" pitchFamily="34" charset="0"/>
            </a:endParaRPr>
          </a:p>
          <a:p>
            <a:r>
              <a:rPr lang="en-US" b="0" i="0">
                <a:effectLst/>
                <a:latin typeface="Lato" panose="020F0502020204030203" pitchFamily="34" charset="0"/>
              </a:rPr>
              <a:t>The current flowing in resistor </a:t>
            </a:r>
            <a:r>
              <a:rPr lang="en-US" b="0" i="0" u="none" strike="noStrike">
                <a:effectLst/>
                <a:latin typeface="Lato" panose="020F0502020204030203" pitchFamily="34" charset="0"/>
              </a:rPr>
              <a:t>R</a:t>
            </a:r>
            <a:r>
              <a:rPr lang="en-US" b="0" i="0" u="none" strike="noStrike" baseline="-25000">
                <a:effectLst/>
                <a:latin typeface="Lato" panose="020F0502020204030203" pitchFamily="34" charset="0"/>
              </a:rPr>
              <a:t>3</a:t>
            </a:r>
            <a:r>
              <a:rPr lang="en-US" b="0" i="0">
                <a:effectLst/>
                <a:latin typeface="Lato" panose="020F0502020204030203" pitchFamily="34" charset="0"/>
              </a:rPr>
              <a:t> is given as :    </a:t>
            </a:r>
            <a:r>
              <a:rPr lang="en-US" b="0" i="0" u="none" strike="noStrike">
                <a:effectLst/>
                <a:latin typeface="Lato" panose="020F0502020204030203" pitchFamily="34" charset="0"/>
              </a:rPr>
              <a:t>-0.143 + 0.429 = 0.286 Amps</a:t>
            </a:r>
            <a:endParaRPr lang="en-US" b="0" i="0">
              <a:effectLst/>
              <a:latin typeface="Lato" panose="020F0502020204030203" pitchFamily="34" charset="0"/>
            </a:endParaRPr>
          </a:p>
          <a:p>
            <a:r>
              <a:rPr lang="en-US" b="0" i="0">
                <a:effectLst/>
                <a:latin typeface="Lato" panose="020F0502020204030203" pitchFamily="34" charset="0"/>
              </a:rPr>
              <a:t>and the voltage across the resistor </a:t>
            </a:r>
            <a:r>
              <a:rPr lang="en-US" b="0" i="0" u="none" strike="noStrike">
                <a:effectLst/>
                <a:latin typeface="Lato" panose="020F0502020204030203" pitchFamily="34" charset="0"/>
              </a:rPr>
              <a:t>R</a:t>
            </a:r>
            <a:r>
              <a:rPr lang="en-US" b="0" i="0" u="none" strike="noStrike" baseline="-25000">
                <a:effectLst/>
                <a:latin typeface="Lato" panose="020F0502020204030203" pitchFamily="34" charset="0"/>
              </a:rPr>
              <a:t>3</a:t>
            </a:r>
            <a:r>
              <a:rPr lang="en-US" b="0" i="0">
                <a:effectLst/>
                <a:latin typeface="Lato" panose="020F0502020204030203" pitchFamily="34" charset="0"/>
              </a:rPr>
              <a:t> is given as :    </a:t>
            </a:r>
            <a:r>
              <a:rPr lang="en-US" b="0" i="0" u="none" strike="noStrike">
                <a:effectLst/>
                <a:latin typeface="Lato" panose="020F0502020204030203" pitchFamily="34" charset="0"/>
              </a:rPr>
              <a:t>0.286 x 40 = 11.44 volts</a:t>
            </a:r>
            <a:endParaRPr lang="en-US" b="0" i="0">
              <a:effectLst/>
              <a:latin typeface="Lato" panose="020F0502020204030203" pitchFamily="34" charset="0"/>
            </a:endParaRPr>
          </a:p>
          <a:p>
            <a:r>
              <a:rPr lang="en-US" b="0" i="0">
                <a:effectLst/>
                <a:latin typeface="Lato" panose="020F0502020204030203" pitchFamily="34" charset="0"/>
              </a:rPr>
              <a:t>The negative sign for </a:t>
            </a:r>
            <a:r>
              <a:rPr lang="en-US" b="0" i="0" u="none" strike="noStrike">
                <a:effectLst/>
                <a:latin typeface="Lato" panose="020F0502020204030203" pitchFamily="34" charset="0"/>
              </a:rPr>
              <a:t>I</a:t>
            </a:r>
            <a:r>
              <a:rPr lang="en-US" b="0" i="0" u="none" strike="noStrike" baseline="-25000">
                <a:effectLst/>
                <a:latin typeface="Lato" panose="020F0502020204030203" pitchFamily="34" charset="0"/>
              </a:rPr>
              <a:t>1</a:t>
            </a:r>
            <a:r>
              <a:rPr lang="en-US" b="0" i="0">
                <a:effectLst/>
                <a:latin typeface="Lato" panose="020F0502020204030203" pitchFamily="34" charset="0"/>
              </a:rPr>
              <a:t> means that the direction of current flow initially chosen was wrong, but never the less still valid. In fact, the 20v battery is charging the 10v battery.</a:t>
            </a:r>
          </a:p>
          <a:p>
            <a:endParaRPr lang="en-US" dirty="0"/>
          </a:p>
        </p:txBody>
      </p:sp>
    </p:spTree>
    <p:extLst>
      <p:ext uri="{BB962C8B-B14F-4D97-AF65-F5344CB8AC3E}">
        <p14:creationId xmlns:p14="http://schemas.microsoft.com/office/powerpoint/2010/main" val="1200151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0" name="Straight Connector 9">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3D9EE182-F2D8-7B4B-144B-F1EE0E968BB2}"/>
              </a:ext>
            </a:extLst>
          </p:cNvPr>
          <p:cNvSpPr>
            <a:spLocks noGrp="1"/>
          </p:cNvSpPr>
          <p:nvPr>
            <p:ph type="title"/>
          </p:nvPr>
        </p:nvSpPr>
        <p:spPr>
          <a:xfrm>
            <a:off x="1130300" y="1578133"/>
            <a:ext cx="3251601" cy="2875534"/>
          </a:xfrm>
        </p:spPr>
        <p:txBody>
          <a:bodyPr vert="horz" lIns="91440" tIns="45720" rIns="91440" bIns="45720" rtlCol="0" anchor="b">
            <a:normAutofit/>
          </a:bodyPr>
          <a:lstStyle/>
          <a:p>
            <a:pPr algn="r">
              <a:lnSpc>
                <a:spcPct val="90000"/>
              </a:lnSpc>
            </a:pPr>
            <a:r>
              <a:rPr lang="en-US" sz="3800" kern="1200" dirty="0">
                <a:solidFill>
                  <a:schemeClr val="accent1"/>
                </a:solidFill>
                <a:effectLst/>
                <a:latin typeface="+mj-lt"/>
                <a:ea typeface="+mj-ea"/>
                <a:cs typeface="+mj-cs"/>
              </a:rPr>
              <a:t>. What is the current through 20 ohm resistor?</a:t>
            </a:r>
            <a:br>
              <a:rPr lang="en-US" sz="3800" kern="1200" dirty="0">
                <a:solidFill>
                  <a:schemeClr val="accent1"/>
                </a:solidFill>
                <a:effectLst/>
                <a:latin typeface="+mj-lt"/>
                <a:ea typeface="+mj-ea"/>
                <a:cs typeface="+mj-cs"/>
              </a:rPr>
            </a:br>
            <a:endParaRPr lang="en-US" sz="3800" kern="1200" dirty="0">
              <a:solidFill>
                <a:schemeClr val="accent1"/>
              </a:solidFill>
              <a:latin typeface="+mj-lt"/>
              <a:ea typeface="+mj-ea"/>
              <a:cs typeface="+mj-cs"/>
            </a:endParaRPr>
          </a:p>
        </p:txBody>
      </p:sp>
      <p:pic>
        <p:nvPicPr>
          <p:cNvPr id="4" name="Content Placeholder 3" descr="Diagram, schematic&#10;&#10;Description automatically generated">
            <a:extLst>
              <a:ext uri="{FF2B5EF4-FFF2-40B4-BE49-F238E27FC236}">
                <a16:creationId xmlns:a16="http://schemas.microsoft.com/office/drawing/2014/main" id="{FAE32A3C-FB9C-30C8-99D6-D2F30E0BD88F}"/>
              </a:ext>
            </a:extLst>
          </p:cNvPr>
          <p:cNvPicPr>
            <a:picLocks noGrp="1" noChangeAspect="1"/>
          </p:cNvPicPr>
          <p:nvPr>
            <p:ph idx="1"/>
          </p:nvPr>
        </p:nvPicPr>
        <p:blipFill>
          <a:blip r:embed="rId2"/>
          <a:stretch>
            <a:fillRect/>
          </a:stretch>
        </p:blipFill>
        <p:spPr>
          <a:xfrm>
            <a:off x="4571998" y="2654122"/>
            <a:ext cx="2460460" cy="1820455"/>
          </a:xfrm>
          <a:prstGeom prst="rect">
            <a:avLst/>
          </a:prstGeom>
        </p:spPr>
      </p:pic>
    </p:spTree>
    <p:extLst>
      <p:ext uri="{BB962C8B-B14F-4D97-AF65-F5344CB8AC3E}">
        <p14:creationId xmlns:p14="http://schemas.microsoft.com/office/powerpoint/2010/main" val="6913415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AD970-8A56-5635-6CD3-CD492A0567B4}"/>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500FBFA1-8DE4-E0EE-2C76-3C1B144EB38D}"/>
              </a:ext>
            </a:extLst>
          </p:cNvPr>
          <p:cNvPicPr>
            <a:picLocks noGrp="1" noChangeAspect="1"/>
          </p:cNvPicPr>
          <p:nvPr>
            <p:ph idx="1"/>
          </p:nvPr>
        </p:nvPicPr>
        <p:blipFill>
          <a:blip r:embed="rId2"/>
          <a:stretch>
            <a:fillRect/>
          </a:stretch>
        </p:blipFill>
        <p:spPr>
          <a:xfrm>
            <a:off x="659606" y="2982119"/>
            <a:ext cx="6248400" cy="2238375"/>
          </a:xfrm>
          <a:prstGeom prst="rect">
            <a:avLst/>
          </a:prstGeom>
        </p:spPr>
      </p:pic>
    </p:spTree>
    <p:extLst>
      <p:ext uri="{BB962C8B-B14F-4D97-AF65-F5344CB8AC3E}">
        <p14:creationId xmlns:p14="http://schemas.microsoft.com/office/powerpoint/2010/main" val="62927629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6098</TotalTime>
  <Words>691</Words>
  <Application>Microsoft Office PowerPoint</Application>
  <PresentationFormat>On-screen Show (4:3)</PresentationFormat>
  <Paragraphs>64</Paragraphs>
  <Slides>48</Slides>
  <Notes>8</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Facet</vt:lpstr>
      <vt:lpstr>Fundamental of ciruits</vt:lpstr>
      <vt:lpstr>              INTRODUCTION </vt:lpstr>
      <vt:lpstr>Basic Definitions </vt:lpstr>
      <vt:lpstr>Basic Definitions</vt:lpstr>
      <vt:lpstr>Active Components </vt:lpstr>
      <vt:lpstr>Passive components</vt:lpstr>
      <vt:lpstr>                    Resistor Symbol</vt:lpstr>
      <vt:lpstr>PowerPoint Presentation</vt:lpstr>
      <vt:lpstr>Uses of  Resistors</vt:lpstr>
      <vt:lpstr>Series circuits CH 5 : </vt:lpstr>
      <vt:lpstr>5.2 Series ciruit</vt:lpstr>
      <vt:lpstr>Series circuit</vt:lpstr>
      <vt:lpstr>Series ciruit</vt:lpstr>
      <vt:lpstr>Series ciruit</vt:lpstr>
      <vt:lpstr>PowerPoint Presentation</vt:lpstr>
      <vt:lpstr>Parallel circuits </vt:lpstr>
      <vt:lpstr>PowerPoint Presentation</vt:lpstr>
      <vt:lpstr>PowerPoint Presentation</vt:lpstr>
      <vt:lpstr>5.4 KVL</vt:lpstr>
      <vt:lpstr>PowerPoint Presentation</vt:lpstr>
      <vt:lpstr>PowerPoint Presentation</vt:lpstr>
      <vt:lpstr>PowerPoint Presentation</vt:lpstr>
      <vt:lpstr>PowerPoint Presentation</vt:lpstr>
      <vt:lpstr>Parallel circuits </vt:lpstr>
      <vt:lpstr>Parallel circuits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7.1 Series and parallel </vt:lpstr>
      <vt:lpstr>PowerPoint Presentation</vt:lpstr>
      <vt:lpstr>PowerPoint Presentation</vt:lpstr>
      <vt:lpstr>PowerPoint Presentation</vt:lpstr>
      <vt:lpstr>PowerPoint Presentation</vt:lpstr>
      <vt:lpstr>PowerPoint Presentation</vt:lpstr>
      <vt:lpstr>Problems solving </vt:lpstr>
      <vt:lpstr>Find the current flowing in 40 ohm resistor R3</vt:lpstr>
      <vt:lpstr>Solution </vt:lpstr>
      <vt:lpstr>Solu.cont</vt:lpstr>
      <vt:lpstr>Solu.conti.</vt:lpstr>
      <vt:lpstr>. What is the current through 20 ohm resistor? </vt:lpstr>
      <vt:lpstr>PowerPoint Presentation</vt:lpstr>
    </vt:vector>
  </TitlesOfParts>
  <Company>Teradata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Electronics (CS) Fall 2014</dc:title>
  <dc:creator>Rehman, Ajaz</dc:creator>
  <cp:lastModifiedBy>Guest User</cp:lastModifiedBy>
  <cp:revision>184</cp:revision>
  <dcterms:created xsi:type="dcterms:W3CDTF">2014-08-15T18:32:54Z</dcterms:created>
  <dcterms:modified xsi:type="dcterms:W3CDTF">2023-11-22T08:13:07Z</dcterms:modified>
</cp:coreProperties>
</file>