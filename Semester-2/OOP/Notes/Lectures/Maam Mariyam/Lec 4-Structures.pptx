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6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784E9-77F5-49CB-9FF7-5BB6E12CAA3D}" type="datetimeFigureOut">
              <a:rPr lang="en-PK" smtClean="0"/>
              <a:t>22/01/2024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2855D-43AB-460C-94C4-D7A4A0A8462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49872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0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1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2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6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8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9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0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1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2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3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4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5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6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7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8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9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0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1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2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3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4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5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6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7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8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9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0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1:notes"/>
          <p:cNvSpPr txBox="1">
            <a:spLocks noGrp="1"/>
          </p:cNvSpPr>
          <p:nvPr>
            <p:ph type="body" idx="1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0FD-D60B-FB87-D475-DC825545A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760DD-28EE-4809-41D5-8DC6F009E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872D4-1E85-5C55-E10A-BC3693496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FEAED-6985-691D-D97D-2C57F621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FD53E-8B7B-9A30-3496-969C10C5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535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0B04-693E-E9FA-A379-FE5E06756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FA3EC-F20A-8DC3-65D3-8A270CDEA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374F1-4A4A-9F81-2674-56653F46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EC87C-86D5-2401-7482-4F0BF9015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C4FBD-4E4B-53B3-9A6D-180A2D9C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2801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DAF1-63C6-C4AA-49DD-5EF13CD48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8D33B-C4C6-3545-BBE3-469BDF048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57A8C-ADD1-9F64-D847-5FF2F993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78F73-1E4A-B1FE-E523-2D501C65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876BD-1971-A327-D4C2-6090EED4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3148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3385-21DB-0936-2540-553BBE32F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98294-3B72-A095-7DDB-5CE91F492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1163D-26AD-1CF0-B54E-69F0A87EC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A3004-6E9A-347C-9604-A238ECEA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31FDF-D36B-D774-8F70-984241392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3392E-CBBC-B901-85C8-C10AF1A4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2433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747FA-7460-CFD9-2744-333DD2A8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DA9F8-BF1A-A649-5FBF-9DFAA70D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C8CFE-726D-8865-4A66-2C5639816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10003-8B19-95A8-0C03-431A24498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140330-389C-E036-3FD4-9058CBF43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00F9C-DEBC-40CA-2A60-4C60210BF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DBFC0-BF14-C7E5-7294-FC64C611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52DE2E-93ED-14A7-163D-666B670B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0270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5124-1A43-5552-FA71-CEEC329B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75269-0D7C-3BC4-5399-2986AB0A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11759-5C93-B34C-5C1E-5835A9CE3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79548-9958-69CE-E2E9-D21B10C1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827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592EF9-424E-E6F8-5D69-666429D18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AD5C3C-5554-9AB7-4241-C29AF790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CC520-7DC6-A156-BB9D-7396E6D3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097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BF685-38D8-30B1-F982-3BD668527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4E35B-5D7C-F3AE-FB2B-4A583E3A8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A53C9-1E30-FAF7-257B-8989604CB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943D6-296C-9773-29ED-9B3CABA1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811C5-0679-E21A-DD7D-F58B3505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144EB-43BD-291A-79E6-A397F2B0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55799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43CB-80C2-DACC-ECB8-1AD699E56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EC40F-106E-F604-0C84-D85ABEC80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2B1C9-74AC-3B65-FC10-A48F889F5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0C6E1-B451-BBE9-9FCC-7E71116E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7291F-8B55-2A03-988B-C8339E8F4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7FB13-D4A6-E1FC-31DD-F41C55A4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0937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8C7A-CB36-BCDF-8E65-F77F00F8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89A4B-6A2C-6EAD-F08E-89404B019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C3798-2872-ECBC-191A-735A6D59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8D728-8134-5B88-88C9-143BA1107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E28DB-D408-8CCF-FA2F-6EFBA1E8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897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8811C6-361D-298D-87D8-A6065F897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013DE-747E-4955-5214-B0EC857E9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38A6C-756E-2A71-9D33-9921BC9E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D8247-B9EC-DCF1-89F4-1F83E4A6F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CEF53-1780-7B8B-4ADE-771EA9E9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76463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3" descr="Tag=AccentColor&#10;Flavor=Light&#10;Target=Fill"/>
          <p:cNvSpPr/>
          <p:nvPr/>
        </p:nvSpPr>
        <p:spPr>
          <a:xfrm flipH="1">
            <a:off x="2599855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 extrusionOk="0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17;p63"/>
          <p:cNvSpPr txBox="1"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bril Fatfac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3"/>
          <p:cNvSpPr txBox="1"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6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21" name="Google Shape;21;p6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979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4" descr="Tag=AccentColor&#10;Flavor=Light&#10;Target=Fill"/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 extrusionOk="0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6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4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28" name="Google Shape;28;p6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430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5" descr="Tag=AccentColor&#10;Flavor=Light&#10;Target=Fill"/>
          <p:cNvSpPr/>
          <p:nvPr/>
        </p:nvSpPr>
        <p:spPr>
          <a:xfrm>
            <a:off x="7209816" y="0"/>
            <a:ext cx="4143984" cy="5747660"/>
          </a:xfrm>
          <a:custGeom>
            <a:avLst/>
            <a:gdLst/>
            <a:ahLst/>
            <a:cxnLst/>
            <a:rect l="l" t="t" r="r" b="b"/>
            <a:pathLst>
              <a:path w="3843750" h="5956080" extrusionOk="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" name="Google Shape;31;p65"/>
          <p:cNvSpPr txBox="1">
            <a:spLocks noGrp="1"/>
          </p:cNvSpPr>
          <p:nvPr>
            <p:ph type="title"/>
          </p:nvPr>
        </p:nvSpPr>
        <p:spPr>
          <a:xfrm>
            <a:off x="831851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bril Fatfac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5"/>
          <p:cNvSpPr txBox="1">
            <a:spLocks noGrp="1"/>
          </p:cNvSpPr>
          <p:nvPr>
            <p:ph type="body" idx="1"/>
          </p:nvPr>
        </p:nvSpPr>
        <p:spPr>
          <a:xfrm>
            <a:off x="831851" y="4279394"/>
            <a:ext cx="5266944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35" name="Google Shape;35;p6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2413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6" descr="Tag=AccentColor&#10;Flavor=Light&#10;Target=Fill"/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 extrusionOk="0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" name="Google Shape;38;p6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6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6"/>
          <p:cNvSpPr txBox="1">
            <a:spLocks noGrp="1"/>
          </p:cNvSpPr>
          <p:nvPr>
            <p:ph type="body" idx="2"/>
          </p:nvPr>
        </p:nvSpPr>
        <p:spPr>
          <a:xfrm>
            <a:off x="6419088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43" name="Google Shape;43;p6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1018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7" descr="Tag=AccentColor&#10;Flavor=Light&#10;Target=Fill"/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 extrusionOk="0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" name="Google Shape;46;p6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7"/>
          <p:cNvSpPr txBox="1"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7"/>
          <p:cNvSpPr txBox="1">
            <a:spLocks noGrp="1"/>
          </p:cNvSpPr>
          <p:nvPr>
            <p:ph type="body" idx="2"/>
          </p:nvPr>
        </p:nvSpPr>
        <p:spPr>
          <a:xfrm>
            <a:off x="8397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7"/>
          <p:cNvSpPr txBox="1">
            <a:spLocks noGrp="1"/>
          </p:cNvSpPr>
          <p:nvPr>
            <p:ph type="body" idx="3"/>
          </p:nvPr>
        </p:nvSpPr>
        <p:spPr>
          <a:xfrm>
            <a:off x="64190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67"/>
          <p:cNvSpPr txBox="1">
            <a:spLocks noGrp="1"/>
          </p:cNvSpPr>
          <p:nvPr>
            <p:ph type="body" idx="4"/>
          </p:nvPr>
        </p:nvSpPr>
        <p:spPr>
          <a:xfrm>
            <a:off x="64190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6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53" name="Google Shape;53;p6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0767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8" descr="Tag=AccentColor&#10;Flavor=Light&#10;Target=Fill"/>
          <p:cNvSpPr/>
          <p:nvPr/>
        </p:nvSpPr>
        <p:spPr>
          <a:xfrm flipH="1">
            <a:off x="1969639" y="181596"/>
            <a:ext cx="8252723" cy="6022258"/>
          </a:xfrm>
          <a:custGeom>
            <a:avLst/>
            <a:gdLst/>
            <a:ahLst/>
            <a:cxnLst/>
            <a:rect l="l" t="t" r="r" b="b"/>
            <a:pathLst>
              <a:path w="6886274" h="5025119" extrusionOk="0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68"/>
          <p:cNvSpPr txBox="1"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59" name="Google Shape;59;p6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7535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 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63" name="Google Shape;63;p6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035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 2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0" descr="Mask ID=&#10;Mask position=bottom, center&#10;Mask family= brushstroke, landscape, wide"/>
          <p:cNvSpPr/>
          <p:nvPr/>
        </p:nvSpPr>
        <p:spPr>
          <a:xfrm>
            <a:off x="1768101" y="-1"/>
            <a:ext cx="10423900" cy="5920155"/>
          </a:xfrm>
          <a:custGeom>
            <a:avLst/>
            <a:gdLst/>
            <a:ahLst/>
            <a:cxnLst/>
            <a:rect l="l" t="t" r="r" b="b"/>
            <a:pathLst>
              <a:path w="10423900" h="5491534" extrusionOk="0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7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68" name="Google Shape;68;p7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0876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1" descr="Tag=AccentColor&#10;Flavor=Light&#10;Target=Fill"/>
          <p:cNvSpPr/>
          <p:nvPr/>
        </p:nvSpPr>
        <p:spPr>
          <a:xfrm>
            <a:off x="4726728" y="0"/>
            <a:ext cx="7472381" cy="6858000"/>
          </a:xfrm>
          <a:custGeom>
            <a:avLst/>
            <a:gdLst/>
            <a:ahLst/>
            <a:cxnLst/>
            <a:rect l="l" t="t" r="r" b="b"/>
            <a:pathLst>
              <a:path w="7472381" h="6886575" extrusionOk="0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71"/>
          <p:cNvSpPr txBox="1"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ril Fatfac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1"/>
          <p:cNvSpPr txBox="1">
            <a:spLocks noGrp="1"/>
          </p:cNvSpPr>
          <p:nvPr>
            <p:ph type="body" idx="1"/>
          </p:nvPr>
        </p:nvSpPr>
        <p:spPr>
          <a:xfrm>
            <a:off x="7059168" y="640080"/>
            <a:ext cx="4489704" cy="5596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71"/>
          <p:cNvSpPr txBox="1">
            <a:spLocks noGrp="1"/>
          </p:cNvSpPr>
          <p:nvPr>
            <p:ph type="body" idx="2"/>
          </p:nvPr>
        </p:nvSpPr>
        <p:spPr>
          <a:xfrm>
            <a:off x="839788" y="3776472"/>
            <a:ext cx="38862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7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76" name="Google Shape;76;p7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23798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2" descr="Tag=AccentColor&#10;Flavor=Light&#10;Target=Fill"/>
          <p:cNvSpPr/>
          <p:nvPr/>
        </p:nvSpPr>
        <p:spPr>
          <a:xfrm>
            <a:off x="684966" y="1332237"/>
            <a:ext cx="5263732" cy="3841102"/>
          </a:xfrm>
          <a:custGeom>
            <a:avLst/>
            <a:gdLst/>
            <a:ahLst/>
            <a:cxnLst/>
            <a:rect l="l" t="t" r="r" b="b"/>
            <a:pathLst>
              <a:path w="6886274" h="5025119" extrusionOk="0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72"/>
          <p:cNvSpPr txBox="1"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ril Fatfac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2"/>
          <p:cNvSpPr>
            <a:spLocks noGrp="1"/>
          </p:cNvSpPr>
          <p:nvPr>
            <p:ph type="pic" idx="2"/>
          </p:nvPr>
        </p:nvSpPr>
        <p:spPr>
          <a:xfrm>
            <a:off x="6711696" y="640079"/>
            <a:ext cx="4837176" cy="556869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72"/>
          <p:cNvSpPr txBox="1">
            <a:spLocks noGrp="1"/>
          </p:cNvSpPr>
          <p:nvPr>
            <p:ph type="body" idx="1"/>
          </p:nvPr>
        </p:nvSpPr>
        <p:spPr>
          <a:xfrm>
            <a:off x="1655064" y="4087368"/>
            <a:ext cx="3319272" cy="649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7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84" name="Google Shape;84;p7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84571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7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90" name="Google Shape;90;p7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610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4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74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7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96" name="Google Shape;96;p7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55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53B18-9F3F-DC39-A527-4EA2681D3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9A123-EECD-DECD-12C2-4A717D72C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37772-F7ED-A5AF-7B4B-6F39EF073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0582C-1624-A325-F2E3-B68D5B73E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Object Oriented Programming-Spring 24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3B438-9E05-917B-B21B-597FEA83E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3DE4D-B799-402A-AB65-7B6EC4A2015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6447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bril Fatface"/>
              <a:buNone/>
              <a:defRPr sz="44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6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6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r>
              <a:rPr lang="en-GB"/>
              <a:t>Object Oriented Programming-Spring 24</a:t>
            </a:r>
            <a:endParaRPr/>
          </a:p>
        </p:txBody>
      </p:sp>
      <p:sp>
        <p:nvSpPr>
          <p:cNvPr id="14" name="Google Shape;14;p6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30733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524000" y="3851975"/>
            <a:ext cx="9144000" cy="1152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bril Fatface"/>
              <a:buNone/>
            </a:pPr>
            <a:r>
              <a:rPr lang="en-US"/>
              <a:t>Object Oriented Programming</a:t>
            </a:r>
            <a:endParaRPr/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1524000" y="5071720"/>
            <a:ext cx="9144000" cy="64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LEC # 4 :  STRUCTURES</a:t>
            </a:r>
            <a:endParaRPr/>
          </a:p>
        </p:txBody>
      </p:sp>
      <p:pic>
        <p:nvPicPr>
          <p:cNvPr id="105" name="Google Shape;105;p1" descr="A colorful light bulb with business icons"/>
          <p:cNvPicPr preferRelativeResize="0"/>
          <p:nvPr/>
        </p:nvPicPr>
        <p:blipFill rotWithShape="1">
          <a:blip r:embed="rId3">
            <a:alphaModFix/>
          </a:blip>
          <a:srcRect t="25677" b="22389"/>
          <a:stretch/>
        </p:blipFill>
        <p:spPr>
          <a:xfrm>
            <a:off x="838202" y="9"/>
            <a:ext cx="10484412" cy="3811395"/>
          </a:xfrm>
          <a:custGeom>
            <a:avLst/>
            <a:gdLst/>
            <a:ahLst/>
            <a:cxnLst/>
            <a:rect l="l" t="t" r="r" b="b"/>
            <a:pathLst>
              <a:path w="10484412" h="3811404" extrusionOk="0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Abstract Data Type</a:t>
            </a:r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</a:pPr>
            <a:r>
              <a:rPr lang="en-US" sz="2400"/>
              <a:t>You have seen many primitive data types like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int, float, double, bool etc.</a:t>
            </a:r>
            <a:endParaRPr/>
          </a:p>
          <a:p>
            <a:pPr marL="228594" lvl="0" indent="-761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</a:pPr>
            <a:r>
              <a:rPr lang="en-US" sz="2400"/>
              <a:t>An abstract data type (ADT) is a data type </a:t>
            </a:r>
            <a:r>
              <a:rPr lang="en-US" sz="2400">
                <a:solidFill>
                  <a:srgbClr val="0070C0"/>
                </a:solidFill>
              </a:rPr>
              <a:t>created by the programmer</a:t>
            </a:r>
            <a:r>
              <a:rPr lang="en-US" sz="2400"/>
              <a:t> and is </a:t>
            </a:r>
            <a:r>
              <a:rPr lang="en-US" sz="2400">
                <a:solidFill>
                  <a:srgbClr val="0070C0"/>
                </a:solidFill>
              </a:rPr>
              <a:t>composed of one or more primitive data types</a:t>
            </a:r>
            <a:r>
              <a:rPr lang="en-US" sz="2400"/>
              <a:t>.</a:t>
            </a:r>
            <a:endParaRPr/>
          </a:p>
          <a:p>
            <a:pPr marL="228594" lvl="0" indent="-761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112" name="Google Shape;112;p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113" name="Google Shape;113;p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Abstract Data Type</a:t>
            </a:r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594" lvl="0" indent="-2285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US"/>
              <a:t>So far you’ve written programs that keep data in </a:t>
            </a:r>
            <a:r>
              <a:rPr lang="en-US">
                <a:solidFill>
                  <a:srgbClr val="0070C0"/>
                </a:solidFill>
              </a:rPr>
              <a:t>individual variables</a:t>
            </a:r>
            <a:r>
              <a:rPr lang="en-US"/>
              <a:t>. </a:t>
            </a:r>
            <a:endParaRPr/>
          </a:p>
          <a:p>
            <a:pPr marL="228594" lvl="0" indent="-7746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/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US"/>
              <a:t>If you need to group items together, C++ allows you to </a:t>
            </a:r>
            <a:r>
              <a:rPr lang="en-US">
                <a:solidFill>
                  <a:srgbClr val="0070C0"/>
                </a:solidFill>
              </a:rPr>
              <a:t>create arrays</a:t>
            </a:r>
            <a:r>
              <a:rPr lang="en-US"/>
              <a:t>. </a:t>
            </a:r>
            <a:endParaRPr/>
          </a:p>
          <a:p>
            <a:pPr marL="228594" lvl="0" indent="-7746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/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US"/>
              <a:t>The </a:t>
            </a:r>
            <a:r>
              <a:rPr lang="en-US">
                <a:solidFill>
                  <a:srgbClr val="0070C0"/>
                </a:solidFill>
              </a:rPr>
              <a:t>limitation of arrays</a:t>
            </a:r>
            <a:r>
              <a:rPr lang="en-US"/>
              <a:t>, however, is that all the elements must be of the </a:t>
            </a:r>
            <a:r>
              <a:rPr lang="en-US">
                <a:solidFill>
                  <a:srgbClr val="FF0000"/>
                </a:solidFill>
              </a:rPr>
              <a:t>same data type</a:t>
            </a:r>
            <a:r>
              <a:rPr lang="en-US"/>
              <a:t>. </a:t>
            </a:r>
            <a:endParaRPr/>
          </a:p>
          <a:p>
            <a:pPr marL="228594" lvl="0" indent="-7746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/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0000"/>
              <a:buFont typeface="Century Gothic"/>
              <a:buChar char="•"/>
            </a:pPr>
            <a:r>
              <a:rPr lang="en-US"/>
              <a:t>Sometimes a relationship exists between  items of different types of elements. </a:t>
            </a:r>
            <a:endParaRPr sz="4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" name="Google Shape;12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121" name="Google Shape;12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Abstract Data Type</a:t>
            </a:r>
            <a:endParaRPr/>
          </a:p>
        </p:txBody>
      </p:sp>
      <p:graphicFrame>
        <p:nvGraphicFramePr>
          <p:cNvPr id="127" name="Google Shape;127;p4"/>
          <p:cNvGraphicFramePr/>
          <p:nvPr/>
        </p:nvGraphicFramePr>
        <p:xfrm>
          <a:off x="2341418" y="2063318"/>
          <a:ext cx="5812000" cy="1864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90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 b="1" u="sng" strike="noStrike" cap="none"/>
                        <a:t>Variable Definition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 b="1" u="sng" strike="noStrike" cap="none"/>
                        <a:t>Data Held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int empNumber;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 u="none" strike="noStrike" cap="none"/>
                        <a:t>Employee number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string name;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Employee’s name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double hours;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Hours worked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double payRate;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Hourly pay rate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8" name="Google Shape;128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260772" y="1145958"/>
            <a:ext cx="3733800" cy="2057400"/>
          </a:xfrm>
          <a:prstGeom prst="cloudCallout">
            <a:avLst>
              <a:gd name="adj1" fmla="val -49219"/>
              <a:gd name="adj2" fmla="val 59975"/>
            </a:avLst>
          </a:prstGeom>
          <a:solidFill>
            <a:srgbClr val="F7D6EE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Their definition statements do not make it clear that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they belong together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1280679" y="4495726"/>
            <a:ext cx="97440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All these variables hold data about the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same employee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Combining Data into Structures</a:t>
            </a:r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594" lvl="0" indent="-2285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US" u="sng"/>
              <a:t>Structure</a:t>
            </a:r>
            <a:r>
              <a:rPr lang="en-US"/>
              <a:t>: is a </a:t>
            </a:r>
            <a:r>
              <a:rPr lang="en-US" b="1">
                <a:solidFill>
                  <a:srgbClr val="FF0000"/>
                </a:solidFill>
              </a:rPr>
              <a:t>user-defined data type</a:t>
            </a:r>
            <a:r>
              <a:rPr lang="en-US"/>
              <a:t>. It is like a container that allows </a:t>
            </a:r>
            <a:r>
              <a:rPr lang="en-US">
                <a:solidFill>
                  <a:srgbClr val="0070C0"/>
                </a:solidFill>
              </a:rPr>
              <a:t>multiple variables</a:t>
            </a:r>
            <a:r>
              <a:rPr lang="en-US"/>
              <a:t> to be </a:t>
            </a:r>
            <a:r>
              <a:rPr lang="en-US">
                <a:solidFill>
                  <a:srgbClr val="0070C0"/>
                </a:solidFill>
              </a:rPr>
              <a:t>grouped together. </a:t>
            </a:r>
            <a:r>
              <a:rPr lang="en-US"/>
              <a:t>Structures are used to organize </a:t>
            </a:r>
            <a:r>
              <a:rPr lang="en-US" b="1">
                <a:solidFill>
                  <a:srgbClr val="FF0000"/>
                </a:solidFill>
              </a:rPr>
              <a:t>related data </a:t>
            </a:r>
            <a:r>
              <a:rPr lang="en-US"/>
              <a:t>(variables) into a </a:t>
            </a:r>
            <a:r>
              <a:rPr lang="en-US">
                <a:solidFill>
                  <a:srgbClr val="0070C0"/>
                </a:solidFill>
              </a:rPr>
              <a:t>nice neat package</a:t>
            </a:r>
            <a:r>
              <a:rPr lang="en-US"/>
              <a:t>.</a:t>
            </a:r>
            <a:endParaRPr/>
          </a:p>
          <a:p>
            <a:pPr marL="228594" lvl="0" indent="-7746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>
              <a:solidFill>
                <a:srgbClr val="0070C0"/>
              </a:solidFill>
            </a:endParaRPr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US"/>
              <a:t>Variables can be of </a:t>
            </a:r>
            <a:r>
              <a:rPr lang="en-US">
                <a:solidFill>
                  <a:srgbClr val="0070C0"/>
                </a:solidFill>
              </a:rPr>
              <a:t>any type</a:t>
            </a:r>
            <a:endParaRPr/>
          </a:p>
          <a:p>
            <a:pPr marL="228594" lvl="0" indent="-7746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 sz="2800">
              <a:solidFill>
                <a:srgbClr val="0070C0"/>
              </a:solidFill>
            </a:endParaRPr>
          </a:p>
          <a:p>
            <a:pPr marL="685783" lvl="1" indent="-228594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ourier New"/>
              <a:buNone/>
            </a:pP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i="1">
                <a:latin typeface="Courier New"/>
                <a:ea typeface="Courier New"/>
                <a:cs typeface="Courier New"/>
                <a:sym typeface="Courier New"/>
              </a:rPr>
              <a:t>structName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685783" lvl="1" indent="-228594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685783" lvl="1" indent="-228594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data</a:t>
            </a:r>
            <a:r>
              <a:rPr lang="en-US" b="1" i="1">
                <a:latin typeface="Courier New"/>
                <a:ea typeface="Courier New"/>
                <a:cs typeface="Courier New"/>
                <a:sym typeface="Courier New"/>
              </a:rPr>
              <a:t>Type field1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85783" lvl="1" indent="-228594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data</a:t>
            </a:r>
            <a:r>
              <a:rPr lang="en-US" b="1" i="1">
                <a:latin typeface="Courier New"/>
                <a:ea typeface="Courier New"/>
                <a:cs typeface="Courier New"/>
                <a:sym typeface="Courier New"/>
              </a:rPr>
              <a:t>Type field2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85783" lvl="1" indent="-228594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. . .</a:t>
            </a:r>
            <a:endParaRPr/>
          </a:p>
          <a:p>
            <a:pPr marL="685783" lvl="1" indent="-228594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Introducing Structures</a:t>
            </a:r>
            <a:endParaRPr/>
          </a:p>
        </p:txBody>
      </p:sp>
      <p:sp>
        <p:nvSpPr>
          <p:cNvPr id="145" name="Google Shape;145;p6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21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lang="en-US" sz="2800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and is </a:t>
            </a:r>
            <a:r>
              <a:rPr lang="en-US" sz="2800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referenced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lang="en-US" sz="2800" b="1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single name</a:t>
            </a:r>
            <a:r>
              <a:rPr lang="en-US" sz="2800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800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data items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2800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are called </a:t>
            </a:r>
            <a:r>
              <a:rPr lang="en-US" sz="2800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structure </a:t>
            </a: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members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elements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fields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The difference between </a:t>
            </a: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is that </a:t>
            </a:r>
            <a:r>
              <a:rPr lang="en-US" sz="2800" b="1" i="1" u="sng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array must consists</a:t>
            </a:r>
            <a:r>
              <a:rPr lang="en-US" sz="2800" i="1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i="1">
                <a:latin typeface="Calibri"/>
                <a:ea typeface="Calibri"/>
                <a:cs typeface="Calibri"/>
                <a:sym typeface="Calibri"/>
              </a:rPr>
              <a:t>of a</a:t>
            </a:r>
            <a:r>
              <a:rPr lang="en-US" sz="2800" i="1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1" u="sng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set of values </a:t>
            </a:r>
            <a:r>
              <a:rPr lang="en-US" sz="2800" i="1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of same data</a:t>
            </a:r>
            <a:r>
              <a:rPr lang="en-US" sz="2800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i="1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but on the other hand, </a:t>
            </a:r>
            <a:r>
              <a:rPr lang="en-US" sz="2800" b="1" u="sng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structure may consist of different data types</a:t>
            </a:r>
            <a:endParaRPr/>
          </a:p>
        </p:txBody>
      </p:sp>
      <p:sp>
        <p:nvSpPr>
          <p:cNvPr id="146" name="Google Shape;146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147" name="Google Shape;147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Example struct Declaration</a:t>
            </a:r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685783" lvl="1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Student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	int studentID;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	string name;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short yearInSchool;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	double gpa;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685783" lvl="1" indent="-228594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Organize related data (variables) into a </a:t>
            </a:r>
            <a:r>
              <a:rPr lang="en-US">
                <a:solidFill>
                  <a:srgbClr val="0070C0"/>
                </a:solidFill>
              </a:rPr>
              <a:t>nice neat package (single unit)</a:t>
            </a:r>
            <a:endParaRPr/>
          </a:p>
        </p:txBody>
      </p:sp>
      <p:sp>
        <p:nvSpPr>
          <p:cNvPr id="154" name="Google Shape;154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155" name="Google Shape;155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6467618" y="2011680"/>
            <a:ext cx="203676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8218"/>
              </a:buClr>
              <a:buSzPts val="2000"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A82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structure name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 rot="10800000">
            <a:off x="4087091" y="2199726"/>
            <a:ext cx="2286000" cy="0"/>
          </a:xfrm>
          <a:prstGeom prst="straightConnector1">
            <a:avLst/>
          </a:prstGeom>
          <a:noFill/>
          <a:ln w="25400" cap="flat" cmpd="sng">
            <a:solidFill>
              <a:srgbClr val="FA821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" name="Google Shape;158;p7"/>
          <p:cNvSpPr txBox="1"/>
          <p:nvPr/>
        </p:nvSpPr>
        <p:spPr>
          <a:xfrm>
            <a:off x="6373091" y="3364550"/>
            <a:ext cx="27193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8218"/>
              </a:buClr>
              <a:buSzPts val="2000"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A82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structure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A82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A82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members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59" name="Google Shape;159;p7"/>
          <p:cNvCxnSpPr/>
          <p:nvPr/>
        </p:nvCxnSpPr>
        <p:spPr>
          <a:xfrm rot="10800000">
            <a:off x="4512541" y="2992900"/>
            <a:ext cx="1808163" cy="0"/>
          </a:xfrm>
          <a:prstGeom prst="straightConnector1">
            <a:avLst/>
          </a:prstGeom>
          <a:noFill/>
          <a:ln w="25400" cap="flat" cmpd="sng">
            <a:solidFill>
              <a:srgbClr val="FA821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" name="Google Shape;160;p7"/>
          <p:cNvCxnSpPr/>
          <p:nvPr/>
        </p:nvCxnSpPr>
        <p:spPr>
          <a:xfrm rot="10800000">
            <a:off x="4087091" y="3418927"/>
            <a:ext cx="2233613" cy="0"/>
          </a:xfrm>
          <a:prstGeom prst="straightConnector1">
            <a:avLst/>
          </a:prstGeom>
          <a:noFill/>
          <a:ln w="25400" cap="flat" cmpd="sng">
            <a:solidFill>
              <a:srgbClr val="FA821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" name="Google Shape;161;p7"/>
          <p:cNvCxnSpPr/>
          <p:nvPr/>
        </p:nvCxnSpPr>
        <p:spPr>
          <a:xfrm rot="10800000">
            <a:off x="5463454" y="3851880"/>
            <a:ext cx="857250" cy="0"/>
          </a:xfrm>
          <a:prstGeom prst="straightConnector1">
            <a:avLst/>
          </a:prstGeom>
          <a:noFill/>
          <a:ln w="25400" cap="flat" cmpd="sng">
            <a:solidFill>
              <a:srgbClr val="FA821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" name="Google Shape;162;p7"/>
          <p:cNvCxnSpPr/>
          <p:nvPr/>
        </p:nvCxnSpPr>
        <p:spPr>
          <a:xfrm rot="10800000">
            <a:off x="6320704" y="2992898"/>
            <a:ext cx="0" cy="1226127"/>
          </a:xfrm>
          <a:prstGeom prst="straightConnector1">
            <a:avLst/>
          </a:prstGeom>
          <a:noFill/>
          <a:ln w="25400" cap="flat" cmpd="sng">
            <a:solidFill>
              <a:srgbClr val="FA82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7"/>
          <p:cNvCxnSpPr/>
          <p:nvPr/>
        </p:nvCxnSpPr>
        <p:spPr>
          <a:xfrm rot="10800000">
            <a:off x="3863254" y="4219026"/>
            <a:ext cx="2457450" cy="0"/>
          </a:xfrm>
          <a:prstGeom prst="straightConnector1">
            <a:avLst/>
          </a:prstGeom>
          <a:noFill/>
          <a:ln w="25400" cap="flat" cmpd="sng">
            <a:solidFill>
              <a:srgbClr val="FA8218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Structure Definition Syntax</a:t>
            </a:r>
            <a:endParaRPr/>
          </a:p>
        </p:txBody>
      </p:sp>
      <p:sp>
        <p:nvSpPr>
          <p:cNvPr id="169" name="Google Shape;169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170" name="Google Shape;170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3629" y="1454635"/>
            <a:ext cx="7844742" cy="490171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 Declaration Notes</a:t>
            </a:r>
            <a:endParaRPr/>
          </a:p>
        </p:txBody>
      </p:sp>
      <p:sp>
        <p:nvSpPr>
          <p:cNvPr id="177" name="Google Shape;177;p9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594" lvl="0" indent="-2285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Made in </a:t>
            </a:r>
            <a:r>
              <a:rPr lang="en-US">
                <a:solidFill>
                  <a:srgbClr val="0070C0"/>
                </a:solidFill>
              </a:rPr>
              <a:t>global scope usually</a:t>
            </a:r>
            <a:r>
              <a:rPr lang="en-US"/>
              <a:t>, so can access the user-defined datatype in all functions</a:t>
            </a:r>
            <a:endParaRPr/>
          </a:p>
          <a:p>
            <a:pPr marL="228594" lvl="0" indent="-7746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Must have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/>
              <a:t> after closing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228594" lvl="0" indent="-7746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/>
              <a:t> names commonly begin with uppercase letter</a:t>
            </a:r>
            <a:endParaRPr/>
          </a:p>
          <a:p>
            <a:pPr marL="228594" lvl="0" indent="-7746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Multiple fields of same type can be in comma-separated list: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/>
          </a:p>
          <a:p>
            <a:pPr marL="685783" lvl="1" indent="-228594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string name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address; </a:t>
            </a:r>
            <a:endParaRPr/>
          </a:p>
        </p:txBody>
      </p:sp>
      <p:sp>
        <p:nvSpPr>
          <p:cNvPr id="178" name="Google Shape;17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179" name="Google Shape;17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Creating struct Variables</a:t>
            </a:r>
            <a:endParaRPr/>
          </a:p>
        </p:txBody>
      </p:sp>
      <p:sp>
        <p:nvSpPr>
          <p:cNvPr id="185" name="Google Shape;185;p10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2400"/>
              <a:t> declaration </a:t>
            </a:r>
            <a:r>
              <a:rPr lang="en-US" sz="2400" u="sng">
                <a:solidFill>
                  <a:srgbClr val="0070C0"/>
                </a:solidFill>
              </a:rPr>
              <a:t>does not allocate memory</a:t>
            </a:r>
            <a:r>
              <a:rPr lang="en-US" sz="2400" u="sng"/>
              <a:t> </a:t>
            </a:r>
            <a:r>
              <a:rPr lang="en-US" sz="2400"/>
              <a:t>or </a:t>
            </a:r>
            <a:r>
              <a:rPr lang="en-US" sz="2400" u="sng">
                <a:solidFill>
                  <a:srgbClr val="0070C0"/>
                </a:solidFill>
              </a:rPr>
              <a:t>create variables</a:t>
            </a:r>
            <a:endParaRPr/>
          </a:p>
          <a:p>
            <a:pPr marL="228594" lvl="0" indent="-7619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rgbClr val="0070C0"/>
              </a:solidFill>
            </a:endParaRPr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Must create a struct variable</a:t>
            </a:r>
            <a:endParaRPr/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create variables, </a:t>
            </a:r>
            <a:r>
              <a:rPr lang="en-US" sz="2400">
                <a:solidFill>
                  <a:srgbClr val="0070C0"/>
                </a:solidFill>
              </a:rPr>
              <a:t>use structure name </a:t>
            </a:r>
            <a:r>
              <a:rPr lang="en-US" sz="2400"/>
              <a:t>as </a:t>
            </a:r>
            <a:r>
              <a:rPr lang="en-US" sz="2400">
                <a:solidFill>
                  <a:srgbClr val="FF0000"/>
                </a:solidFill>
              </a:rPr>
              <a:t>type name</a:t>
            </a:r>
            <a:endParaRPr/>
          </a:p>
          <a:p>
            <a:pPr marL="228594" lvl="0" indent="-761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186" name="Google Shape;186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187" name="Google Shape;187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grpSp>
        <p:nvGrpSpPr>
          <p:cNvPr id="188" name="Google Shape;188;p10"/>
          <p:cNvGrpSpPr/>
          <p:nvPr/>
        </p:nvGrpSpPr>
        <p:grpSpPr>
          <a:xfrm>
            <a:off x="2486025" y="3891472"/>
            <a:ext cx="8867775" cy="2464880"/>
            <a:chOff x="139700" y="4357688"/>
            <a:chExt cx="8867775" cy="2403475"/>
          </a:xfrm>
        </p:grpSpPr>
        <p:sp>
          <p:nvSpPr>
            <p:cNvPr id="189" name="Google Shape;189;p10"/>
            <p:cNvSpPr/>
            <p:nvPr/>
          </p:nvSpPr>
          <p:spPr>
            <a:xfrm>
              <a:off x="5502275" y="4703763"/>
              <a:ext cx="3505200" cy="2057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0"/>
            <p:cNvSpPr txBox="1"/>
            <p:nvPr/>
          </p:nvSpPr>
          <p:spPr>
            <a:xfrm>
              <a:off x="5562600" y="4738688"/>
              <a:ext cx="15557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urier New"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/>
                  <a:ea typeface="Courier New"/>
                  <a:cs typeface="Courier New"/>
                  <a:sym typeface="Courier New"/>
                </a:rPr>
                <a:t>studentID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0"/>
            <p:cNvSpPr txBox="1"/>
            <p:nvPr/>
          </p:nvSpPr>
          <p:spPr>
            <a:xfrm>
              <a:off x="5562600" y="5195888"/>
              <a:ext cx="7937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urier New"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/>
                  <a:ea typeface="Courier New"/>
                  <a:cs typeface="Courier New"/>
                  <a:sym typeface="Courier New"/>
                </a:rPr>
                <a:t>name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0"/>
            <p:cNvSpPr txBox="1"/>
            <p:nvPr/>
          </p:nvSpPr>
          <p:spPr>
            <a:xfrm>
              <a:off x="5578475" y="5618163"/>
              <a:ext cx="20129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urier New"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/>
                  <a:ea typeface="Courier New"/>
                  <a:cs typeface="Courier New"/>
                  <a:sym typeface="Courier New"/>
                </a:rPr>
                <a:t>yearInSchool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0"/>
            <p:cNvSpPr txBox="1"/>
            <p:nvPr/>
          </p:nvSpPr>
          <p:spPr>
            <a:xfrm>
              <a:off x="5562600" y="6186488"/>
              <a:ext cx="6413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urier New"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/>
                  <a:ea typeface="Courier New"/>
                  <a:cs typeface="Courier New"/>
                  <a:sym typeface="Courier New"/>
                </a:rPr>
                <a:t>gpa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0"/>
            <p:cNvSpPr/>
            <p:nvPr/>
          </p:nvSpPr>
          <p:spPr>
            <a:xfrm>
              <a:off x="7178675" y="4779963"/>
              <a:ext cx="1143000" cy="304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0"/>
            <p:cNvSpPr/>
            <p:nvPr/>
          </p:nvSpPr>
          <p:spPr>
            <a:xfrm>
              <a:off x="6340475" y="5237163"/>
              <a:ext cx="2057400" cy="304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0"/>
            <p:cNvSpPr/>
            <p:nvPr/>
          </p:nvSpPr>
          <p:spPr>
            <a:xfrm>
              <a:off x="7559675" y="5618163"/>
              <a:ext cx="838200" cy="304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0"/>
            <p:cNvSpPr/>
            <p:nvPr/>
          </p:nvSpPr>
          <p:spPr>
            <a:xfrm>
              <a:off x="6188075" y="6227763"/>
              <a:ext cx="1600200" cy="304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0"/>
            <p:cNvSpPr txBox="1"/>
            <p:nvPr/>
          </p:nvSpPr>
          <p:spPr>
            <a:xfrm>
              <a:off x="5943600" y="4357688"/>
              <a:ext cx="646113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urier New"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/>
                  <a:ea typeface="Courier New"/>
                  <a:cs typeface="Courier New"/>
                  <a:sym typeface="Courier New"/>
                </a:rPr>
                <a:t>tom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0"/>
            <p:cNvSpPr txBox="1"/>
            <p:nvPr/>
          </p:nvSpPr>
          <p:spPr>
            <a:xfrm>
              <a:off x="139700" y="5537200"/>
              <a:ext cx="2719388" cy="401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structure</a:t>
              </a: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name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200" name="Google Shape;200;p10"/>
            <p:cNvCxnSpPr/>
            <p:nvPr/>
          </p:nvCxnSpPr>
          <p:spPr>
            <a:xfrm rot="10800000" flipH="1">
              <a:off x="917575" y="4748213"/>
              <a:ext cx="914400" cy="788987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1" name="Google Shape;201;p10"/>
            <p:cNvSpPr txBox="1"/>
            <p:nvPr/>
          </p:nvSpPr>
          <p:spPr>
            <a:xfrm>
              <a:off x="2722563" y="5553075"/>
              <a:ext cx="2719387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variable</a:t>
              </a: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name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10"/>
            <p:cNvCxnSpPr/>
            <p:nvPr/>
          </p:nvCxnSpPr>
          <p:spPr>
            <a:xfrm rot="10800000">
              <a:off x="3440113" y="4799013"/>
              <a:ext cx="704850" cy="788987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03" name="Google Shape;203;p10"/>
          <p:cNvSpPr txBox="1"/>
          <p:nvPr/>
        </p:nvSpPr>
        <p:spPr>
          <a:xfrm>
            <a:off x="4111836" y="4061723"/>
            <a:ext cx="21871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 tom;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Creating struct Variables</a:t>
            </a:r>
            <a:endParaRPr/>
          </a:p>
        </p:txBody>
      </p:sp>
      <p:sp>
        <p:nvSpPr>
          <p:cNvPr id="209" name="Google Shape;209;p11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Must </a:t>
            </a:r>
            <a:r>
              <a:rPr lang="en-US" sz="2400">
                <a:solidFill>
                  <a:srgbClr val="0070C0"/>
                </a:solidFill>
              </a:rPr>
              <a:t>declare a structure </a:t>
            </a:r>
            <a:r>
              <a:rPr lang="en-US" sz="2400"/>
              <a:t>before </a:t>
            </a:r>
            <a:r>
              <a:rPr lang="en-US" sz="2400">
                <a:solidFill>
                  <a:srgbClr val="0070C0"/>
                </a:solidFill>
              </a:rPr>
              <a:t>creating a structure variable</a:t>
            </a:r>
            <a:endParaRPr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marL="228594" lvl="0" indent="-761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210" name="Google Shape;210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11" name="Google Shape;211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212" name="Google Shape;21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0527" y="3255380"/>
            <a:ext cx="8888738" cy="243861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 txBox="1"/>
          <p:nvPr/>
        </p:nvSpPr>
        <p:spPr>
          <a:xfrm>
            <a:off x="3486874" y="3571318"/>
            <a:ext cx="18374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 tom;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Structure Members In Memory</a:t>
            </a:r>
            <a:endParaRPr/>
          </a:p>
        </p:txBody>
      </p:sp>
      <p:sp>
        <p:nvSpPr>
          <p:cNvPr id="219" name="Google Shape;219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20" name="Google Shape;220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221" name="Google Shape;22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8472" y="1690690"/>
            <a:ext cx="9035055" cy="441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Creating struct Variables – Another way</a:t>
            </a:r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also </a:t>
            </a:r>
            <a:r>
              <a:rPr lang="en-US">
                <a:solidFill>
                  <a:srgbClr val="0070C0"/>
                </a:solidFill>
              </a:rPr>
              <a:t>create a structure variable </a:t>
            </a:r>
            <a:r>
              <a:rPr lang="en-US"/>
              <a:t>with its </a:t>
            </a:r>
            <a:r>
              <a:rPr lang="en-US">
                <a:solidFill>
                  <a:srgbClr val="0070C0"/>
                </a:solidFill>
              </a:rPr>
              <a:t>declaration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Student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{		int studentID;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	string name;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short yearInSchool;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	double gpa;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student1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29" name="Google Shape;229;p1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Creating struct Variables Two Ways</a:t>
            </a:r>
            <a:endParaRPr/>
          </a:p>
        </p:txBody>
      </p:sp>
      <p:sp>
        <p:nvSpPr>
          <p:cNvPr id="235" name="Google Shape;235;p1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36" name="Google Shape;236;p1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237" name="Google Shape;23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6127" y="1690690"/>
            <a:ext cx="8699746" cy="4505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Initializing a Structure</a:t>
            </a:r>
            <a:endParaRPr/>
          </a:p>
        </p:txBody>
      </p:sp>
      <p:sp>
        <p:nvSpPr>
          <p:cNvPr id="243" name="Google Shape;243;p15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syntax of </a:t>
            </a:r>
            <a:r>
              <a:rPr lang="en-US" b="1" u="sng">
                <a:latin typeface="Calibri"/>
                <a:ea typeface="Calibri"/>
                <a:cs typeface="Calibri"/>
                <a:sym typeface="Calibri"/>
              </a:rPr>
              <a:t>initializing structure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is: </a:t>
            </a:r>
            <a:endParaRPr/>
          </a:p>
          <a:p>
            <a:pPr marL="228594" lvl="0" indent="-22859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None/>
            </a:pP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StructName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 b="1">
                <a:solidFill>
                  <a:srgbClr val="2F1BC7"/>
                </a:solidFill>
                <a:latin typeface="Calibri"/>
                <a:ea typeface="Calibri"/>
                <a:cs typeface="Calibri"/>
                <a:sym typeface="Calibri"/>
              </a:rPr>
              <a:t>struct_identifier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lang="en-US" sz="2800" b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Value1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 b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Value2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, …</a:t>
            </a: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};</a:t>
            </a:r>
            <a:endParaRPr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44" name="Google Shape;244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45" name="Google Shape;245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Initializing a Structure</a:t>
            </a:r>
            <a:endParaRPr/>
          </a:p>
        </p:txBody>
      </p:sp>
      <p:sp>
        <p:nvSpPr>
          <p:cNvPr id="251" name="Google Shape;251;p16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783" lvl="1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Student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{		int studentID;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	string name;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short yearInSchool;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	double gpa;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/>
              <a:t> variable can be </a:t>
            </a:r>
            <a:r>
              <a:rPr lang="en-US">
                <a:solidFill>
                  <a:srgbClr val="0070C0"/>
                </a:solidFill>
              </a:rPr>
              <a:t>initialized when created</a:t>
            </a:r>
            <a:endParaRPr/>
          </a:p>
          <a:p>
            <a:pPr marL="685783" lvl="1" indent="-228594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s1 = {11465, "Joan", 2, 3.75};</a:t>
            </a:r>
            <a:endParaRPr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52" name="Google Shape;252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53" name="Google Shape;25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296208" y="2347913"/>
            <a:ext cx="519112" cy="3222625"/>
          </a:xfrm>
          <a:custGeom>
            <a:avLst/>
            <a:gdLst/>
            <a:ahLst/>
            <a:cxnLst/>
            <a:rect l="l" t="t" r="r" b="b"/>
            <a:pathLst>
              <a:path w="1357746" h="3484418" extrusionOk="0">
                <a:moveTo>
                  <a:pt x="1163782" y="3484418"/>
                </a:moveTo>
                <a:cubicBezTo>
                  <a:pt x="1260764" y="2289463"/>
                  <a:pt x="1357746" y="1094508"/>
                  <a:pt x="1163782" y="547254"/>
                </a:cubicBezTo>
                <a:cubicBezTo>
                  <a:pt x="969818" y="0"/>
                  <a:pt x="484909" y="100445"/>
                  <a:pt x="0" y="200891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4038600" y="2760663"/>
            <a:ext cx="1630362" cy="2998787"/>
          </a:xfrm>
          <a:custGeom>
            <a:avLst/>
            <a:gdLst/>
            <a:ahLst/>
            <a:cxnLst/>
            <a:rect l="l" t="t" r="r" b="b"/>
            <a:pathLst>
              <a:path w="2200564" h="3276600" extrusionOk="0">
                <a:moveTo>
                  <a:pt x="2064328" y="3276600"/>
                </a:moveTo>
                <a:cubicBezTo>
                  <a:pt x="2132446" y="2116282"/>
                  <a:pt x="2200564" y="955964"/>
                  <a:pt x="1856509" y="477982"/>
                </a:cubicBezTo>
                <a:cubicBezTo>
                  <a:pt x="1512454" y="0"/>
                  <a:pt x="756227" y="204354"/>
                  <a:pt x="0" y="408709"/>
                </a:cubicBezTo>
              </a:path>
            </a:pathLst>
          </a:custGeom>
          <a:noFill/>
          <a:ln w="28575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5033169" y="2866232"/>
            <a:ext cx="1878012" cy="2787650"/>
          </a:xfrm>
          <a:custGeom>
            <a:avLst/>
            <a:gdLst/>
            <a:ahLst/>
            <a:cxnLst/>
            <a:rect l="l" t="t" r="r" b="b"/>
            <a:pathLst>
              <a:path w="2493819" h="3031836" extrusionOk="0">
                <a:moveTo>
                  <a:pt x="2244437" y="3031836"/>
                </a:moveTo>
                <a:cubicBezTo>
                  <a:pt x="2369128" y="1929245"/>
                  <a:pt x="2493819" y="826654"/>
                  <a:pt x="2119746" y="413327"/>
                </a:cubicBezTo>
                <a:cubicBezTo>
                  <a:pt x="1745673" y="0"/>
                  <a:pt x="872836" y="275936"/>
                  <a:pt x="0" y="551873"/>
                </a:cubicBezTo>
              </a:path>
            </a:pathLst>
          </a:custGeom>
          <a:noFill/>
          <a:ln w="28575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3932238" y="3388520"/>
            <a:ext cx="4114800" cy="2265362"/>
          </a:xfrm>
          <a:custGeom>
            <a:avLst/>
            <a:gdLst/>
            <a:ahLst/>
            <a:cxnLst/>
            <a:rect l="l" t="t" r="r" b="b"/>
            <a:pathLst>
              <a:path w="4200235" h="2690091" extrusionOk="0">
                <a:moveTo>
                  <a:pt x="3588327" y="2690091"/>
                </a:moveTo>
                <a:cubicBezTo>
                  <a:pt x="3894281" y="1693718"/>
                  <a:pt x="4200235" y="697346"/>
                  <a:pt x="3602181" y="348673"/>
                </a:cubicBezTo>
                <a:cubicBezTo>
                  <a:pt x="3004127" y="0"/>
                  <a:pt x="1502063" y="299027"/>
                  <a:pt x="0" y="598055"/>
                </a:cubicBezTo>
              </a:path>
            </a:pathLst>
          </a:custGeom>
          <a:noFill/>
          <a:ln w="31750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7268008" y="1595200"/>
            <a:ext cx="4343400" cy="2209800"/>
          </a:xfrm>
          <a:prstGeom prst="cloudCallout">
            <a:avLst>
              <a:gd name="adj1" fmla="val -29094"/>
              <a:gd name="adj2" fmla="val 103879"/>
            </a:avLst>
          </a:prstGeom>
          <a:solidFill>
            <a:srgbClr val="F7D6EE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Values should be in the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same sequence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as the structure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Accessing Structure Members</a:t>
            </a:r>
            <a:endParaRPr/>
          </a:p>
        </p:txBody>
      </p:sp>
      <p:sp>
        <p:nvSpPr>
          <p:cNvPr id="264" name="Google Shape;264;p17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</a:pPr>
            <a:r>
              <a:rPr lang="en-US"/>
              <a:t>Use the dot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/>
              <a:t> operator to refer to members of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/>
              <a:t> variables: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entury Gothic"/>
              <a:buNone/>
            </a:pPr>
            <a:r>
              <a:rPr lang="en-US"/>
              <a:t>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cin &gt;&gt; s1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studentID;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s1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name = “Alex Stone”;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s1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gpa = 3.75;</a:t>
            </a:r>
            <a:br>
              <a:rPr lang="en-US" b="1">
                <a:latin typeface="Courier New"/>
                <a:ea typeface="Courier New"/>
                <a:cs typeface="Courier New"/>
                <a:sym typeface="Courier New"/>
              </a:rPr>
            </a:b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</a:pPr>
            <a:r>
              <a:rPr lang="en-US"/>
              <a:t>Member variables can be used in any manner appropriate for their data type</a:t>
            </a:r>
            <a:endParaRPr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65" name="Google Shape;265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66" name="Google Shape;266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Assigning Values to Structure Variables</a:t>
            </a:r>
            <a:endParaRPr/>
          </a:p>
        </p:txBody>
      </p:sp>
      <p:sp>
        <p:nvSpPr>
          <p:cNvPr id="272" name="Google Shape;272;p18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After creating structure variable, values to structure members can be assigned using </a:t>
            </a:r>
            <a:r>
              <a:rPr lang="en-US" b="1" i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br>
              <a:rPr lang="en-US" b="1" i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1" u="sng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DE"/>
              </a:buClr>
              <a:buSzPct val="100000"/>
              <a:buChar char="•"/>
            </a:pPr>
            <a:r>
              <a:rPr lang="en-US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en-US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screen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US" b="1" i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endParaRPr b="1" i="1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 b="1"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0000"/>
              </a:buClr>
              <a:buSzPct val="100000"/>
              <a:buNone/>
            </a:pPr>
            <a:r>
              <a:rPr lang="en-US" sz="2800" b="1">
                <a:solidFill>
                  <a:srgbClr val="B80000"/>
                </a:solidFill>
                <a:latin typeface="Calibri"/>
                <a:ea typeface="Calibri"/>
                <a:cs typeface="Calibri"/>
                <a:sym typeface="Calibri"/>
              </a:rPr>
              <a:t>       student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        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&gt;&gt;</a:t>
            </a:r>
            <a:r>
              <a:rPr lang="en-US" sz="2800" b="1">
                <a:solidFill>
                  <a:srgbClr val="2C14DE"/>
                </a:solidFill>
                <a:latin typeface="Courier New"/>
                <a:ea typeface="Courier New"/>
                <a:cs typeface="Courier New"/>
                <a:sym typeface="Courier New"/>
              </a:rPr>
              <a:t>s1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8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firstName</a:t>
            </a:r>
            <a:r>
              <a:rPr lang="en-US" sz="2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800" b="1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 </a:t>
            </a:r>
            <a:r>
              <a:rPr lang="en-US" sz="2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&gt;&gt;</a:t>
            </a:r>
            <a:r>
              <a:rPr lang="en-US" sz="2800" b="1">
                <a:solidFill>
                  <a:srgbClr val="2C14DE"/>
                </a:solidFill>
                <a:latin typeface="Courier New"/>
                <a:ea typeface="Courier New"/>
                <a:cs typeface="Courier New"/>
                <a:sym typeface="Courier New"/>
              </a:rPr>
              <a:t>s1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8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lastName</a:t>
            </a:r>
            <a:r>
              <a:rPr lang="en-US" sz="2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 </a:t>
            </a:r>
            <a:r>
              <a:rPr lang="en-US" sz="2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&gt;&gt;</a:t>
            </a:r>
            <a:r>
              <a:rPr lang="en-US" sz="2800" b="1">
                <a:solidFill>
                  <a:srgbClr val="2C14DE"/>
                </a:solidFill>
                <a:latin typeface="Courier New"/>
                <a:ea typeface="Courier New"/>
                <a:cs typeface="Courier New"/>
                <a:sym typeface="Courier New"/>
              </a:rPr>
              <a:t>s1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8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courseGrade</a:t>
            </a:r>
            <a:r>
              <a:rPr lang="en-US" sz="2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 </a:t>
            </a:r>
            <a:r>
              <a:rPr lang="en-US" sz="2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&gt;&gt;</a:t>
            </a:r>
            <a:r>
              <a:rPr lang="en-US" sz="2800" b="1">
                <a:solidFill>
                  <a:srgbClr val="2C14DE"/>
                </a:solidFill>
                <a:latin typeface="Courier New"/>
                <a:ea typeface="Courier New"/>
                <a:cs typeface="Courier New"/>
                <a:sym typeface="Courier New"/>
              </a:rPr>
              <a:t>s1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8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marks </a:t>
            </a:r>
            <a:r>
              <a:rPr lang="en-US" sz="2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b="1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	 cout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2800" b="1">
                <a:solidFill>
                  <a:srgbClr val="2C14DE"/>
                </a:solidFill>
                <a:latin typeface="Courier New"/>
                <a:ea typeface="Courier New"/>
                <a:cs typeface="Courier New"/>
                <a:sym typeface="Courier New"/>
              </a:rPr>
              <a:t>s1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8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firstName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2800" b="1">
                <a:solidFill>
                  <a:srgbClr val="2C14DE"/>
                </a:solidFill>
                <a:latin typeface="Courier New"/>
                <a:ea typeface="Courier New"/>
                <a:cs typeface="Courier New"/>
                <a:sym typeface="Courier New"/>
              </a:rPr>
              <a:t>s1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8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lastName</a:t>
            </a:r>
            <a:r>
              <a:rPr lang="en-US" sz="2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3" name="Google Shape;273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74" name="Google Shape;274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More on Initializing a Structure</a:t>
            </a:r>
            <a:endParaRPr/>
          </a:p>
        </p:txBody>
      </p:sp>
      <p:sp>
        <p:nvSpPr>
          <p:cNvPr id="280" name="Google Shape;280;p19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May initialize </a:t>
            </a:r>
            <a:r>
              <a:rPr lang="en-US">
                <a:solidFill>
                  <a:srgbClr val="0070C0"/>
                </a:solidFill>
              </a:rPr>
              <a:t>only some members</a:t>
            </a:r>
            <a:r>
              <a:rPr lang="en-US"/>
              <a:t>: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entury Gothic"/>
              <a:buNone/>
            </a:pPr>
            <a:r>
              <a:rPr lang="en-US" b="1"/>
              <a:t>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Student s1 = {14579};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entury Gothic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Cannot </a:t>
            </a:r>
            <a:r>
              <a:rPr lang="en-US">
                <a:solidFill>
                  <a:srgbClr val="0070C0"/>
                </a:solidFill>
              </a:rPr>
              <a:t>skip over members</a:t>
            </a:r>
            <a:r>
              <a:rPr lang="en-US"/>
              <a:t>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// illegal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entury Gothic"/>
              <a:buNone/>
            </a:pPr>
            <a:r>
              <a:rPr lang="en-US"/>
              <a:t>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Student s1 = {1234, "John", , 2.83};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entury Gothic"/>
              <a:buNone/>
            </a:pPr>
            <a:endParaRPr b="1">
              <a:solidFill>
                <a:srgbClr val="FF0000"/>
              </a:solidFill>
            </a:endParaRPr>
          </a:p>
        </p:txBody>
      </p:sp>
      <p:sp>
        <p:nvSpPr>
          <p:cNvPr id="281" name="Google Shape;281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82" name="Google Shape;282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"/>
          <p:cNvSpPr txBox="1">
            <a:spLocks noGrp="1"/>
          </p:cNvSpPr>
          <p:nvPr>
            <p:ph type="title"/>
          </p:nvPr>
        </p:nvSpPr>
        <p:spPr>
          <a:xfrm>
            <a:off x="838200" y="4413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More on Initializing a Structure</a:t>
            </a:r>
            <a:endParaRPr/>
          </a:p>
        </p:txBody>
      </p:sp>
      <p:sp>
        <p:nvSpPr>
          <p:cNvPr id="288" name="Google Shape;288;p20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</a:pPr>
            <a:r>
              <a:rPr lang="en-US"/>
              <a:t>You can also give </a:t>
            </a:r>
            <a:r>
              <a:rPr lang="en-US">
                <a:solidFill>
                  <a:srgbClr val="0070C0"/>
                </a:solidFill>
              </a:rPr>
              <a:t>default values </a:t>
            </a:r>
            <a:r>
              <a:rPr lang="en-US"/>
              <a:t>inside a struct definition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b="1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Student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{		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	int studentID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= 0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	string name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= ““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short yearInSchool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= 1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	double gpa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= 1.0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  <p:sp>
        <p:nvSpPr>
          <p:cNvPr id="289" name="Google Shape;289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90" name="Google Shape;290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Accessing Structure Members</a:t>
            </a:r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73152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void main{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emp1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.empNumber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= 489;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emp1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.name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= “Jill Smith”;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emp1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.hours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= 23;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emp1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.payRate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= 20;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emp1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.grossPay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= emp1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.hours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* emp1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.payRate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7" name="Google Shape;297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298" name="Google Shape;298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299" name="Google Shape;29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9101" y="1412504"/>
            <a:ext cx="3651821" cy="3407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Assigning one Structure Variable to another</a:t>
            </a:r>
            <a:endParaRPr/>
          </a:p>
        </p:txBody>
      </p:sp>
      <p:sp>
        <p:nvSpPr>
          <p:cNvPr id="305" name="Google Shape;305;p22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DE"/>
              </a:buClr>
              <a:buSzPts val="2400"/>
              <a:buChar char="•"/>
            </a:pPr>
            <a:r>
              <a:rPr lang="en-US" sz="24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structure variable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can be </a:t>
            </a:r>
            <a:r>
              <a:rPr lang="en-US" sz="24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assigned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en-US" sz="24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another structure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only if both are of same type</a:t>
            </a:r>
            <a:r>
              <a:rPr lang="en-US" sz="24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structure variable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can be </a:t>
            </a:r>
            <a:r>
              <a:rPr lang="en-US" sz="24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initialized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by </a:t>
            </a:r>
            <a:r>
              <a:rPr lang="en-US" sz="24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assigning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another </a:t>
            </a:r>
            <a:r>
              <a:rPr lang="en-US" sz="24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structure variable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to it by </a:t>
            </a:r>
            <a:r>
              <a:rPr lang="en-US" sz="24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using</a:t>
            </a:r>
            <a:r>
              <a:rPr lang="en-US" sz="2400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2400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assignment operator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as follows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Noto Sans Symbols"/>
              <a:buNone/>
            </a:pPr>
            <a:r>
              <a:rPr lang="en-US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None/>
            </a:pPr>
            <a:r>
              <a:rPr lang="en-US" sz="2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-US" sz="20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studentType</a:t>
            </a: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Student1</a:t>
            </a: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 = {“Amir”, “Ali”, ‘A’, 98} ;</a:t>
            </a:r>
            <a:endParaRPr/>
          </a:p>
          <a:p>
            <a:pPr marL="228594" lvl="0" indent="-228594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studentType</a:t>
            </a: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2000" b="1">
                <a:solidFill>
                  <a:srgbClr val="2C14DE"/>
                </a:solidFill>
                <a:latin typeface="Courier New"/>
                <a:ea typeface="Courier New"/>
                <a:cs typeface="Courier New"/>
                <a:sym typeface="Courier New"/>
              </a:rPr>
              <a:t>student2</a:t>
            </a: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0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Student1</a:t>
            </a: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06" name="Google Shape;306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07" name="Google Shape;307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Comparing struct Variables</a:t>
            </a:r>
            <a:endParaRPr/>
          </a:p>
        </p:txBody>
      </p:sp>
      <p:sp>
        <p:nvSpPr>
          <p:cNvPr id="313" name="Google Shape;313;p23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</a:pPr>
            <a:r>
              <a:rPr lang="en-US"/>
              <a:t>Cannot compare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/>
              <a:t> variables directly: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entury Gothic"/>
              <a:buNone/>
            </a:pPr>
            <a:r>
              <a:rPr lang="en-US"/>
              <a:t>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if (s1 == s2)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 won</a:t>
            </a:r>
            <a:r>
              <a:rPr lang="en-US" b="1">
                <a:solidFill>
                  <a:srgbClr val="FF0000"/>
                </a:solidFill>
              </a:rPr>
              <a:t>’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 work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marL="228594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</a:pPr>
            <a:r>
              <a:rPr lang="en-US"/>
              <a:t>Instead, must compare on a </a:t>
            </a:r>
            <a:r>
              <a:rPr lang="en-US">
                <a:solidFill>
                  <a:srgbClr val="0070C0"/>
                </a:solidFill>
              </a:rPr>
              <a:t>field basis</a:t>
            </a:r>
            <a:r>
              <a:rPr lang="en-US"/>
              <a:t>: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if (s1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studentID == s2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studentID)</a:t>
            </a:r>
            <a:endParaRPr/>
          </a:p>
        </p:txBody>
      </p:sp>
      <p:sp>
        <p:nvSpPr>
          <p:cNvPr id="314" name="Google Shape;314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15" name="Google Shape;315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Practice Question </a:t>
            </a:r>
            <a:endParaRPr/>
          </a:p>
        </p:txBody>
      </p:sp>
      <p:sp>
        <p:nvSpPr>
          <p:cNvPr id="321" name="Google Shape;321;p24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594" lvl="0" indent="-22859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Define a structure called </a:t>
            </a:r>
            <a:r>
              <a:rPr lang="en-US" b="1"/>
              <a:t>“Car” </a:t>
            </a:r>
            <a:r>
              <a:rPr lang="en-US"/>
              <a:t>in global scope. The member elements of the car structure are:</a:t>
            </a:r>
            <a:endParaRPr/>
          </a:p>
          <a:p>
            <a:pPr marL="3886103" lvl="8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string Model;</a:t>
            </a:r>
            <a:endParaRPr/>
          </a:p>
          <a:p>
            <a:pPr marL="3886103" lvl="8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int Year;</a:t>
            </a:r>
            <a:endParaRPr/>
          </a:p>
          <a:p>
            <a:pPr marL="3886103" lvl="8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float Price</a:t>
            </a:r>
            <a:endParaRPr/>
          </a:p>
          <a:p>
            <a:pPr marL="228594" lvl="0" indent="-7746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594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Create a variable of type Car called c1</a:t>
            </a:r>
            <a:endParaRPr/>
          </a:p>
          <a:p>
            <a:pPr marL="228594" lvl="0" indent="-7746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594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Get input for all structure members from the user </a:t>
            </a:r>
            <a:endParaRPr/>
          </a:p>
          <a:p>
            <a:pPr marL="228594" lvl="0" indent="-7746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594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 the program should display complete information (</a:t>
            </a:r>
            <a:r>
              <a:rPr lang="en-US" b="1" i="1"/>
              <a:t>Model</a:t>
            </a:r>
            <a:r>
              <a:rPr lang="en-US"/>
              <a:t>, </a:t>
            </a:r>
            <a:r>
              <a:rPr lang="en-US" b="1" i="1"/>
              <a:t>Year</a:t>
            </a:r>
            <a:r>
              <a:rPr lang="en-US"/>
              <a:t>, </a:t>
            </a:r>
            <a:r>
              <a:rPr lang="en-US" b="1" i="1"/>
              <a:t>Price</a:t>
            </a:r>
            <a:r>
              <a:rPr lang="en-US"/>
              <a:t>) of c1</a:t>
            </a:r>
            <a:endParaRPr/>
          </a:p>
          <a:p>
            <a:pPr marL="228594" lvl="0" indent="-7746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322" name="Google Shape;322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23" name="Google Shape;323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Array of Structures</a:t>
            </a:r>
            <a:endParaRPr/>
          </a:p>
        </p:txBody>
      </p:sp>
      <p:sp>
        <p:nvSpPr>
          <p:cNvPr id="329" name="Google Shape;329;p25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</a:pPr>
            <a:r>
              <a:rPr lang="en-US" sz="2400"/>
              <a:t>An </a:t>
            </a:r>
            <a:r>
              <a:rPr lang="en-US" sz="2400">
                <a:solidFill>
                  <a:srgbClr val="0070C0"/>
                </a:solidFill>
              </a:rPr>
              <a:t>array of structures </a:t>
            </a:r>
            <a:r>
              <a:rPr lang="en-US" sz="2400"/>
              <a:t>is a type of array in which </a:t>
            </a:r>
            <a:r>
              <a:rPr lang="en-US" sz="2400">
                <a:solidFill>
                  <a:srgbClr val="0070C0"/>
                </a:solidFill>
              </a:rPr>
              <a:t>each array element</a:t>
            </a:r>
            <a:r>
              <a:rPr lang="en-US" sz="2400"/>
              <a:t> is a structure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Book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	{     int ID;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	      int Pages;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	      float Price;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	};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Book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Library[100]; </a:t>
            </a:r>
            <a:r>
              <a:rPr lang="en-US" sz="24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declare array of structures</a:t>
            </a:r>
            <a:endParaRPr/>
          </a:p>
          <a:p>
            <a:pPr marL="228594" lvl="0" indent="-761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330" name="Google Shape;330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31" name="Google Shape;331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332" name="Google Shape;33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6909" y="3135056"/>
            <a:ext cx="6844544" cy="1111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Initialization of Array of Structures</a:t>
            </a:r>
            <a:endParaRPr/>
          </a:p>
        </p:txBody>
      </p:sp>
      <p:sp>
        <p:nvSpPr>
          <p:cNvPr id="338" name="Google Shape;338;p26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Can be used in place of </a:t>
            </a:r>
            <a:r>
              <a:rPr lang="en-US" sz="2400">
                <a:solidFill>
                  <a:srgbClr val="0070C0"/>
                </a:solidFill>
              </a:rPr>
              <a:t>parallel arrays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struct  Book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	      int     ID;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	      int     Pages;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	      float  Price;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	};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	Book    b[3];	// declaration of array of structures</a:t>
            </a:r>
            <a:br>
              <a:rPr lang="en-US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40" name="Google Shape;340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Initialization of Array of Structures</a:t>
            </a:r>
            <a:endParaRPr/>
          </a:p>
        </p:txBody>
      </p:sp>
      <p:sp>
        <p:nvSpPr>
          <p:cNvPr id="346" name="Google Shape;346;p27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76193" algn="l" rtl="0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l" rtl="0">
              <a:lnSpc>
                <a:spcPct val="40000"/>
              </a:lnSpc>
              <a:spcBef>
                <a:spcPts val="240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</a:pPr>
            <a:r>
              <a:rPr lang="en-US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Initializing can be at the time of declaration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lvl="0" indent="0" algn="l" rtl="0">
              <a:lnSpc>
                <a:spcPct val="40000"/>
              </a:lnSpc>
              <a:spcBef>
                <a:spcPts val="2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Book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8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[3] = {</a:t>
            </a:r>
            <a:r>
              <a:rPr lang="en-US" sz="2800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{1,275,70}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800" b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{2,600,90}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800" b="1">
                <a:solidFill>
                  <a:srgbClr val="931D43"/>
                </a:solidFill>
                <a:latin typeface="Calibri"/>
                <a:ea typeface="Calibri"/>
                <a:cs typeface="Calibri"/>
                <a:sym typeface="Calibri"/>
              </a:rPr>
              <a:t>{3,786,100}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};</a:t>
            </a:r>
            <a:endParaRPr/>
          </a:p>
          <a:p>
            <a:pPr marL="228594" lvl="0" indent="-114293" algn="l" rtl="0">
              <a:lnSpc>
                <a:spcPct val="4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l" rtl="0">
              <a:lnSpc>
                <a:spcPct val="40000"/>
              </a:lnSpc>
              <a:spcBef>
                <a:spcPts val="2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lang="en-US" sz="2800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be </a:t>
            </a:r>
            <a:r>
              <a:rPr lang="en-US" sz="2800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assigned values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US" sz="2800" b="1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cin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0" lvl="0" indent="0" algn="l" rtl="0">
              <a:lnSpc>
                <a:spcPct val="4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      cin&gt;&gt;b[0].ID ;</a:t>
            </a:r>
            <a:endParaRPr/>
          </a:p>
          <a:p>
            <a:pPr marL="0" lvl="0" indent="0" algn="l" rtl="0">
              <a:lnSpc>
                <a:spcPct val="4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                  cin&gt;&gt;b[0].Pages;  </a:t>
            </a:r>
            <a:endParaRPr/>
          </a:p>
          <a:p>
            <a:pPr marL="0" lvl="0" indent="0" algn="l" rtl="0">
              <a:lnSpc>
                <a:spcPct val="4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                  cin&gt;&gt;b[0].Price;</a:t>
            </a:r>
            <a:endParaRPr sz="1800"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47" name="Google Shape;347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48" name="Google Shape;348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Partial Initialization of Array of Structures</a:t>
            </a:r>
            <a:endParaRPr/>
          </a:p>
        </p:txBody>
      </p:sp>
      <p:sp>
        <p:nvSpPr>
          <p:cNvPr id="354" name="Google Shape;354;p2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55" name="Google Shape;355;p2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356" name="Google Shape;35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0339" y="1616073"/>
            <a:ext cx="5867400" cy="472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84433" y="1490681"/>
            <a:ext cx="2169367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Practice Question </a:t>
            </a:r>
            <a:endParaRPr/>
          </a:p>
        </p:txBody>
      </p:sp>
      <p:sp>
        <p:nvSpPr>
          <p:cNvPr id="363" name="Google Shape;363;p29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594" lvl="0" indent="-22859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 sz="3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Define a structure called </a:t>
            </a:r>
            <a:r>
              <a:rPr lang="en-US" sz="3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“Car” </a:t>
            </a:r>
            <a:r>
              <a:rPr lang="en-US" sz="3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 global scope. The member elements of the car structure are:</a:t>
            </a:r>
            <a:endParaRPr/>
          </a:p>
          <a:p>
            <a:pPr marL="3886103" lvl="8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 sz="3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string Model;</a:t>
            </a:r>
            <a:endParaRPr/>
          </a:p>
          <a:p>
            <a:pPr marL="3886103" lvl="8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 sz="3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 Year;</a:t>
            </a:r>
            <a:endParaRPr/>
          </a:p>
          <a:p>
            <a:pPr marL="3886103" lvl="8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 sz="3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float Price</a:t>
            </a:r>
            <a:endParaRPr/>
          </a:p>
          <a:p>
            <a:pPr marL="228594" lvl="0" indent="-2888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Create an array of 30 cars called showroom. Get input for all 30 cars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from the user. Then the program should display complete information (</a:t>
            </a:r>
            <a:r>
              <a:rPr lang="en-US" sz="3000" b="1" i="1"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000" b="1" i="1">
                <a:latin typeface="Calibri"/>
                <a:ea typeface="Calibri"/>
                <a:cs typeface="Calibri"/>
                <a:sym typeface="Calibri"/>
              </a:rPr>
              <a:t>Year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000" b="1" i="1">
                <a:latin typeface="Calibri"/>
                <a:ea typeface="Calibri"/>
                <a:cs typeface="Calibri"/>
                <a:sym typeface="Calibri"/>
              </a:rPr>
              <a:t>Price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) of those cars only which are above 500,000 in price.</a:t>
            </a:r>
            <a:endParaRPr/>
          </a:p>
        </p:txBody>
      </p:sp>
      <p:sp>
        <p:nvSpPr>
          <p:cNvPr id="364" name="Google Shape;364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65" name="Google Shape;365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Practice Question </a:t>
            </a:r>
            <a:endParaRPr/>
          </a:p>
        </p:txBody>
      </p:sp>
      <p:pic>
        <p:nvPicPr>
          <p:cNvPr id="371" name="Google Shape;371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38759" y="1301079"/>
            <a:ext cx="7914482" cy="542039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73" name="Google Shape;373;p3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Array as Member of Structures</a:t>
            </a:r>
            <a:endParaRPr/>
          </a:p>
        </p:txBody>
      </p:sp>
      <p:sp>
        <p:nvSpPr>
          <p:cNvPr id="379" name="Google Shape;379;p31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may also </a:t>
            </a:r>
            <a:r>
              <a:rPr lang="en-US" b="1">
                <a:solidFill>
                  <a:srgbClr val="2C14DE"/>
                </a:solidFill>
                <a:latin typeface="Calibri"/>
                <a:ea typeface="Calibri"/>
                <a:cs typeface="Calibri"/>
                <a:sym typeface="Calibri"/>
              </a:rPr>
              <a:t>contain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as members.</a:t>
            </a:r>
            <a:endParaRPr sz="24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struct    Student</a:t>
            </a:r>
            <a:endParaRPr/>
          </a:p>
          <a:p>
            <a:pPr marL="228594" lvl="0" indent="-22859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None/>
            </a:pPr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/>
          </a:p>
          <a:p>
            <a:pPr marL="228594" lvl="0" indent="-22859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None/>
            </a:pPr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       		int         RollNo;</a:t>
            </a:r>
            <a:endParaRPr/>
          </a:p>
          <a:p>
            <a:pPr marL="228594" lvl="0" indent="-22859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None/>
            </a:pPr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       		float     Marks[3];</a:t>
            </a:r>
            <a:endParaRPr/>
          </a:p>
          <a:p>
            <a:pPr marL="228594" lvl="0" indent="-22859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None/>
            </a:pPr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 };</a:t>
            </a:r>
            <a:endParaRPr sz="24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2285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Initialization can be done at time of declaration: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 b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br>
              <a:rPr lang="en-US" b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		 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Student   S   = {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,   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{70.0, 90.0, 97.0}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 };</a:t>
            </a:r>
            <a:endParaRPr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80" name="Google Shape;380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81" name="Google Shape;381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3220157" y="3508459"/>
            <a:ext cx="1957615" cy="1916981"/>
          </a:xfrm>
          <a:custGeom>
            <a:avLst/>
            <a:gdLst/>
            <a:ahLst/>
            <a:cxnLst/>
            <a:rect l="l" t="t" r="r" b="b"/>
            <a:pathLst>
              <a:path w="1632528" h="3050309" extrusionOk="0">
                <a:moveTo>
                  <a:pt x="1632528" y="3050309"/>
                </a:moveTo>
                <a:cubicBezTo>
                  <a:pt x="1021773" y="2026227"/>
                  <a:pt x="411018" y="1002146"/>
                  <a:pt x="205509" y="501073"/>
                </a:cubicBezTo>
                <a:cubicBezTo>
                  <a:pt x="0" y="0"/>
                  <a:pt x="199736" y="21936"/>
                  <a:pt x="399473" y="43873"/>
                </a:cubicBezTo>
              </a:path>
            </a:pathLst>
          </a:custGeom>
          <a:noFill/>
          <a:ln w="28575" cap="flat" cmpd="sng">
            <a:solidFill>
              <a:srgbClr val="2F1B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83" name="Google Shape;383;p31"/>
          <p:cNvGrpSpPr/>
          <p:nvPr/>
        </p:nvGrpSpPr>
        <p:grpSpPr>
          <a:xfrm>
            <a:off x="5133333" y="2901957"/>
            <a:ext cx="2892746" cy="2780550"/>
            <a:chOff x="4346254" y="2813810"/>
            <a:chExt cx="2892746" cy="3112773"/>
          </a:xfrm>
        </p:grpSpPr>
        <p:sp>
          <p:nvSpPr>
            <p:cNvPr id="384" name="Google Shape;384;p31"/>
            <p:cNvSpPr/>
            <p:nvPr/>
          </p:nvSpPr>
          <p:spPr>
            <a:xfrm rot="5400000">
              <a:off x="5886450" y="4286250"/>
              <a:ext cx="342900" cy="2362200"/>
            </a:xfrm>
            <a:prstGeom prst="leftBrace">
              <a:avLst>
                <a:gd name="adj1" fmla="val 8333"/>
                <a:gd name="adj2" fmla="val 25990"/>
              </a:avLst>
            </a:prstGeom>
            <a:noFill/>
            <a:ln w="31750" cap="flat" cmpd="sng">
              <a:solidFill>
                <a:srgbClr val="2F1BC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5" name="Google Shape;385;p31"/>
            <p:cNvSpPr/>
            <p:nvPr/>
          </p:nvSpPr>
          <p:spPr>
            <a:xfrm rot="-1121852">
              <a:off x="4708952" y="3071333"/>
              <a:ext cx="2034309" cy="2597727"/>
            </a:xfrm>
            <a:custGeom>
              <a:avLst/>
              <a:gdLst/>
              <a:ahLst/>
              <a:cxnLst/>
              <a:rect l="l" t="t" r="r" b="b"/>
              <a:pathLst>
                <a:path w="2034309" h="2597727" extrusionOk="0">
                  <a:moveTo>
                    <a:pt x="1648690" y="2597727"/>
                  </a:moveTo>
                  <a:cubicBezTo>
                    <a:pt x="1841499" y="1679863"/>
                    <a:pt x="2034309" y="762000"/>
                    <a:pt x="1759527" y="381000"/>
                  </a:cubicBezTo>
                  <a:cubicBezTo>
                    <a:pt x="1484745" y="0"/>
                    <a:pt x="742372" y="155863"/>
                    <a:pt x="0" y="311727"/>
                  </a:cubicBezTo>
                </a:path>
              </a:pathLst>
            </a:custGeom>
            <a:noFill/>
            <a:ln w="28575" cap="flat" cmpd="sng">
              <a:solidFill>
                <a:srgbClr val="2F1BC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Array as Member of Structures</a:t>
            </a:r>
            <a:endParaRPr/>
          </a:p>
        </p:txBody>
      </p:sp>
      <p:sp>
        <p:nvSpPr>
          <p:cNvPr id="391" name="Google Shape;391;p32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US"/>
              <a:t>Can also assigned values later in the program: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s1;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s1.RollNo = 1;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s1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.Marks[0]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= 70.0;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s1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.Marks[1]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= 90.0;      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s1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.Marks[2]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= 97.0;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US"/>
              <a:t>Or user can use </a:t>
            </a:r>
            <a:r>
              <a:rPr lang="en-US">
                <a:solidFill>
                  <a:srgbClr val="0070C0"/>
                </a:solidFill>
              </a:rPr>
              <a:t>cin to get input directly</a:t>
            </a:r>
            <a:r>
              <a:rPr lang="en-US"/>
              <a:t>: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US"/>
              <a:t>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cin &gt;&gt; s1.RollNo; 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cin &gt;&gt; s1.Marks[0]; 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cin &gt;&gt; s1.Marks[1];  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cin &gt;&gt; s1.Marks[2];  </a:t>
            </a:r>
            <a:endParaRPr/>
          </a:p>
          <a:p>
            <a:pPr marL="228594" lvl="0" indent="-6412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392" name="Google Shape;392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393" name="Google Shape;393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Array as Member of Structures</a:t>
            </a:r>
            <a:endParaRPr/>
          </a:p>
        </p:txBody>
      </p:sp>
      <p:sp>
        <p:nvSpPr>
          <p:cNvPr id="399" name="Google Shape;399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00" name="Google Shape;400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401" name="Google Shape;40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2795" y="1468669"/>
            <a:ext cx="8291279" cy="5389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Array as Member of Structures</a:t>
            </a:r>
            <a:endParaRPr b="1"/>
          </a:p>
        </p:txBody>
      </p:sp>
      <p:sp>
        <p:nvSpPr>
          <p:cNvPr id="407" name="Google Shape;407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08" name="Google Shape;408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409" name="Google Shape;40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2795" y="1429690"/>
            <a:ext cx="8291279" cy="5291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Nested Structure</a:t>
            </a:r>
            <a:endParaRPr/>
          </a:p>
        </p:txBody>
      </p:sp>
      <p:sp>
        <p:nvSpPr>
          <p:cNvPr id="415" name="Google Shape;415;p35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A structure variable can be a </a:t>
            </a:r>
            <a:r>
              <a:rPr lang="en-US" sz="3200">
                <a:solidFill>
                  <a:srgbClr val="0070C0"/>
                </a:solidFill>
              </a:rPr>
              <a:t>member of another structure</a:t>
            </a:r>
            <a:r>
              <a:rPr lang="en-US" sz="3200"/>
              <a:t>: called </a:t>
            </a:r>
            <a:r>
              <a:rPr lang="en-US" sz="3200">
                <a:solidFill>
                  <a:srgbClr val="FF0000"/>
                </a:solidFill>
              </a:rPr>
              <a:t>nested structure</a:t>
            </a:r>
            <a:endParaRPr/>
          </a:p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A</a:t>
            </a:r>
            <a:endParaRPr/>
          </a:p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{ </a:t>
            </a:r>
            <a:endParaRPr/>
          </a:p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 int 	x;</a:t>
            </a:r>
            <a:endParaRPr/>
          </a:p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 double y;</a:t>
            </a:r>
            <a:endParaRPr/>
          </a:p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};</a:t>
            </a:r>
            <a:endParaRPr/>
          </a:p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B</a:t>
            </a:r>
            <a:endParaRPr/>
          </a:p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  char  ch;</a:t>
            </a:r>
            <a:endParaRPr/>
          </a:p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A     v2;</a:t>
            </a:r>
            <a:endParaRPr/>
          </a:p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}; </a:t>
            </a:r>
            <a:endParaRPr/>
          </a:p>
          <a:p>
            <a:pPr marL="228594" lvl="0" indent="-228594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record;</a:t>
            </a:r>
            <a:endParaRPr/>
          </a:p>
          <a:p>
            <a:pPr marL="228594" lvl="0" indent="-104133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416" name="Google Shape;41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17" name="Google Shape;41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418" name="Google Shape;41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6389" y="4333026"/>
            <a:ext cx="5054022" cy="1664352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5"/>
          <p:cNvSpPr/>
          <p:nvPr/>
        </p:nvSpPr>
        <p:spPr>
          <a:xfrm rot="-160343">
            <a:off x="2875372" y="3653414"/>
            <a:ext cx="5365847" cy="2141537"/>
          </a:xfrm>
          <a:custGeom>
            <a:avLst/>
            <a:gdLst/>
            <a:ahLst/>
            <a:cxnLst/>
            <a:rect l="l" t="t" r="r" b="b"/>
            <a:pathLst>
              <a:path w="5084618" h="2299855" extrusionOk="0">
                <a:moveTo>
                  <a:pt x="0" y="2299855"/>
                </a:moveTo>
                <a:cubicBezTo>
                  <a:pt x="860136" y="2138218"/>
                  <a:pt x="1720272" y="1976581"/>
                  <a:pt x="2119745" y="1634836"/>
                </a:cubicBezTo>
                <a:cubicBezTo>
                  <a:pt x="2519218" y="1293091"/>
                  <a:pt x="1978891" y="498764"/>
                  <a:pt x="2396836" y="249382"/>
                </a:cubicBezTo>
                <a:cubicBezTo>
                  <a:pt x="2814781" y="0"/>
                  <a:pt x="4179454" y="57727"/>
                  <a:pt x="4627418" y="138545"/>
                </a:cubicBezTo>
                <a:cubicBezTo>
                  <a:pt x="5075382" y="219363"/>
                  <a:pt x="5080000" y="476827"/>
                  <a:pt x="5084618" y="734291"/>
                </a:cubicBezTo>
              </a:path>
            </a:pathLst>
          </a:cu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20" name="Google Shape;420;p35"/>
          <p:cNvCxnSpPr/>
          <p:nvPr/>
        </p:nvCxnSpPr>
        <p:spPr>
          <a:xfrm rot="10800000" flipH="1">
            <a:off x="1851949" y="2291704"/>
            <a:ext cx="3402900" cy="3055800"/>
          </a:xfrm>
          <a:prstGeom prst="curvedConnector3">
            <a:avLst>
              <a:gd name="adj1" fmla="val 50001"/>
            </a:avLst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Initializing/Assigning to a Nested Structure</a:t>
            </a:r>
            <a:endParaRPr/>
          </a:p>
        </p:txBody>
      </p:sp>
      <p:sp>
        <p:nvSpPr>
          <p:cNvPr id="426" name="Google Shape;426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27" name="Google Shape;427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28" name="Google Shape;428;p36"/>
          <p:cNvSpPr txBox="1"/>
          <p:nvPr/>
        </p:nvSpPr>
        <p:spPr>
          <a:xfrm>
            <a:off x="660150" y="1132040"/>
            <a:ext cx="2351007" cy="3316709"/>
          </a:xfrm>
          <a:prstGeom prst="rect">
            <a:avLst/>
          </a:prstGeom>
          <a:solidFill>
            <a:srgbClr val="EDA1BA"/>
          </a:solidFill>
          <a:ln>
            <a:noFill/>
          </a:ln>
        </p:spPr>
        <p:txBody>
          <a:bodyPr spcFirstLastPara="1" wrap="square" lIns="92075" tIns="46025" rIns="92075" bIns="46025" anchor="t" anchorCtr="0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struct   A{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   int     x;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   float  y;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};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struct B{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	char ch;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	A    v2;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};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7535121" y="1141688"/>
            <a:ext cx="4006850" cy="2524125"/>
          </a:xfrm>
          <a:prstGeom prst="rect">
            <a:avLst/>
          </a:prstGeom>
          <a:solidFill>
            <a:srgbClr val="EFAEDE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void main() </a:t>
            </a: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// Input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{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B   record;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cin&gt;&gt;record.ch;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cin&gt;&gt;record.v2.x;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cin&gt;&gt;record.v2.y;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}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0" name="Google Shape;430;p36"/>
          <p:cNvSpPr txBox="1"/>
          <p:nvPr/>
        </p:nvSpPr>
        <p:spPr>
          <a:xfrm>
            <a:off x="2806399" y="4554539"/>
            <a:ext cx="4179887" cy="1684337"/>
          </a:xfrm>
          <a:prstGeom prst="rect">
            <a:avLst/>
          </a:prstGeom>
          <a:solidFill>
            <a:srgbClr val="EFAEDE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void main() </a:t>
            </a: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// Initialization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{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B  record = {‘S’, {100, 3.6} };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}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1" name="Google Shape;431;p36"/>
          <p:cNvSpPr txBox="1"/>
          <p:nvPr/>
        </p:nvSpPr>
        <p:spPr>
          <a:xfrm>
            <a:off x="7535121" y="3740152"/>
            <a:ext cx="4006850" cy="2616200"/>
          </a:xfrm>
          <a:prstGeom prst="rect">
            <a:avLst/>
          </a:prstGeom>
          <a:solidFill>
            <a:srgbClr val="EFAEDE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void main() </a:t>
            </a: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// Assignment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{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B     record;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record.ch = ‘S’;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record.v2.x = 100;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record.v2.y = 3.6;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E2E8E4"/>
              </a:buClr>
              <a:buSzPts val="1650"/>
              <a:buFont typeface="Noto Sans Symbol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}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Practice Question </a:t>
            </a:r>
            <a:endParaRPr/>
          </a:p>
        </p:txBody>
      </p:sp>
      <p:sp>
        <p:nvSpPr>
          <p:cNvPr id="437" name="Google Shape;437;p37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Write a program that implements the following using C++ struct. The program should finally displays contact_Info values for 10 people</a:t>
            </a:r>
            <a:endParaRPr/>
          </a:p>
        </p:txBody>
      </p:sp>
      <p:sp>
        <p:nvSpPr>
          <p:cNvPr id="438" name="Google Shape;438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39" name="Google Shape;439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grpSp>
        <p:nvGrpSpPr>
          <p:cNvPr id="440" name="Google Shape;440;p37"/>
          <p:cNvGrpSpPr/>
          <p:nvPr/>
        </p:nvGrpSpPr>
        <p:grpSpPr>
          <a:xfrm>
            <a:off x="2552700" y="3185449"/>
            <a:ext cx="7086600" cy="2667000"/>
            <a:chOff x="995363" y="3162300"/>
            <a:chExt cx="7086600" cy="2667000"/>
          </a:xfrm>
        </p:grpSpPr>
        <p:sp>
          <p:nvSpPr>
            <p:cNvPr id="441" name="Google Shape;441;p37"/>
            <p:cNvSpPr/>
            <p:nvPr/>
          </p:nvSpPr>
          <p:spPr>
            <a:xfrm>
              <a:off x="3052763" y="4229100"/>
              <a:ext cx="1828800" cy="533400"/>
            </a:xfrm>
            <a:prstGeom prst="rect">
              <a:avLst/>
            </a:prstGeom>
            <a:solidFill>
              <a:srgbClr val="F7D6EE"/>
            </a:solidFill>
            <a:ln w="12700" cap="flat" cmpd="sng">
              <a:solidFill>
                <a:srgbClr val="9C297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Phone_No</a:t>
              </a: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2" name="Google Shape;442;p37"/>
            <p:cNvCxnSpPr/>
            <p:nvPr/>
          </p:nvCxnSpPr>
          <p:spPr>
            <a:xfrm rot="-5400000">
              <a:off x="2481263" y="3200400"/>
              <a:ext cx="685800" cy="1371600"/>
            </a:xfrm>
            <a:prstGeom prst="bentConnector3">
              <a:avLst>
                <a:gd name="adj1" fmla="val 53375"/>
              </a:avLst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sp>
          <p:nvSpPr>
            <p:cNvPr id="443" name="Google Shape;443;p37"/>
            <p:cNvSpPr/>
            <p:nvPr/>
          </p:nvSpPr>
          <p:spPr>
            <a:xfrm>
              <a:off x="995363" y="4229100"/>
              <a:ext cx="1828800" cy="533400"/>
            </a:xfrm>
            <a:prstGeom prst="rect">
              <a:avLst/>
            </a:prstGeom>
            <a:solidFill>
              <a:srgbClr val="F7D6EE"/>
            </a:solidFill>
            <a:ln w="12700" cap="flat" cmpd="sng">
              <a:solidFill>
                <a:srgbClr val="9C297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Name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44" name="Google Shape;444;p37"/>
            <p:cNvCxnSpPr/>
            <p:nvPr/>
          </p:nvCxnSpPr>
          <p:spPr>
            <a:xfrm rot="-5400000">
              <a:off x="4843463" y="4267200"/>
              <a:ext cx="685800" cy="1371600"/>
            </a:xfrm>
            <a:prstGeom prst="bentConnector3">
              <a:avLst>
                <a:gd name="adj1" fmla="val 53375"/>
              </a:avLst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sp>
          <p:nvSpPr>
            <p:cNvPr id="445" name="Google Shape;445;p37"/>
            <p:cNvSpPr/>
            <p:nvPr/>
          </p:nvSpPr>
          <p:spPr>
            <a:xfrm>
              <a:off x="3814763" y="5295900"/>
              <a:ext cx="1828800" cy="533400"/>
            </a:xfrm>
            <a:prstGeom prst="rect">
              <a:avLst/>
            </a:prstGeom>
            <a:solidFill>
              <a:srgbClr val="F7D6EE"/>
            </a:solidFill>
            <a:ln w="12700" cap="flat" cmpd="sng">
              <a:solidFill>
                <a:srgbClr val="9C297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City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46" name="Google Shape;446;p37"/>
            <p:cNvCxnSpPr/>
            <p:nvPr/>
          </p:nvCxnSpPr>
          <p:spPr>
            <a:xfrm rot="5400000" flipH="1">
              <a:off x="6596063" y="4267200"/>
              <a:ext cx="685800" cy="1371600"/>
            </a:xfrm>
            <a:prstGeom prst="bentConnector3">
              <a:avLst>
                <a:gd name="adj1" fmla="val 53375"/>
              </a:avLst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sp>
          <p:nvSpPr>
            <p:cNvPr id="447" name="Google Shape;447;p37"/>
            <p:cNvSpPr/>
            <p:nvPr/>
          </p:nvSpPr>
          <p:spPr>
            <a:xfrm>
              <a:off x="6253163" y="5295900"/>
              <a:ext cx="1828800" cy="533400"/>
            </a:xfrm>
            <a:prstGeom prst="rect">
              <a:avLst/>
            </a:prstGeom>
            <a:solidFill>
              <a:srgbClr val="F7D6EE"/>
            </a:solidFill>
            <a:ln w="12700" cap="flat" cmpd="sng">
              <a:solidFill>
                <a:srgbClr val="9C297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Country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48" name="Google Shape;448;p37"/>
            <p:cNvCxnSpPr/>
            <p:nvPr/>
          </p:nvCxnSpPr>
          <p:spPr>
            <a:xfrm rot="5400000" flipH="1">
              <a:off x="5148263" y="3200400"/>
              <a:ext cx="685800" cy="1371600"/>
            </a:xfrm>
            <a:prstGeom prst="bentConnector3">
              <a:avLst>
                <a:gd name="adj1" fmla="val 53375"/>
              </a:avLst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sp>
          <p:nvSpPr>
            <p:cNvPr id="449" name="Google Shape;449;p37"/>
            <p:cNvSpPr/>
            <p:nvPr/>
          </p:nvSpPr>
          <p:spPr>
            <a:xfrm>
              <a:off x="5110163" y="4229100"/>
              <a:ext cx="1828800" cy="533400"/>
            </a:xfrm>
            <a:prstGeom prst="rect">
              <a:avLst/>
            </a:prstGeom>
            <a:solidFill>
              <a:srgbClr val="F6CFDC"/>
            </a:solidFill>
            <a:ln w="12700" cap="flat" cmpd="sng">
              <a:solidFill>
                <a:srgbClr val="E4749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50" name="Google Shape;450;p37"/>
            <p:cNvCxnSpPr/>
            <p:nvPr/>
          </p:nvCxnSpPr>
          <p:spPr>
            <a:xfrm rot="10800000">
              <a:off x="4119563" y="3543300"/>
              <a:ext cx="0" cy="6858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sp>
          <p:nvSpPr>
            <p:cNvPr id="451" name="Google Shape;451;p37"/>
            <p:cNvSpPr/>
            <p:nvPr/>
          </p:nvSpPr>
          <p:spPr>
            <a:xfrm>
              <a:off x="3281363" y="3162300"/>
              <a:ext cx="1828800" cy="533400"/>
            </a:xfrm>
            <a:prstGeom prst="rect">
              <a:avLst/>
            </a:prstGeom>
            <a:solidFill>
              <a:srgbClr val="F6CFDC"/>
            </a:solidFill>
            <a:ln w="12700" cap="flat" cmpd="sng">
              <a:solidFill>
                <a:srgbClr val="931D4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Contact_Info</a:t>
              </a: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Practice Question </a:t>
            </a:r>
            <a:endParaRPr/>
          </a:p>
        </p:txBody>
      </p:sp>
      <p:sp>
        <p:nvSpPr>
          <p:cNvPr id="457" name="Google Shape;45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58" name="Google Shape;45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459" name="Google Shape;459;p38"/>
          <p:cNvPicPr preferRelativeResize="0"/>
          <p:nvPr/>
        </p:nvPicPr>
        <p:blipFill rotWithShape="1">
          <a:blip r:embed="rId3">
            <a:alphaModFix/>
          </a:blip>
          <a:srcRect r="12866"/>
          <a:stretch/>
        </p:blipFill>
        <p:spPr>
          <a:xfrm>
            <a:off x="2535810" y="1249194"/>
            <a:ext cx="8413841" cy="5608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Pointers to Structures</a:t>
            </a:r>
            <a:endParaRPr/>
          </a:p>
        </p:txBody>
      </p:sp>
      <p:sp>
        <p:nvSpPr>
          <p:cNvPr id="465" name="Google Shape;465;p39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594" lvl="0" indent="-22859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</a:t>
            </a:r>
            <a:r>
              <a:rPr lang="en-US">
                <a:solidFill>
                  <a:srgbClr val="0070C0"/>
                </a:solidFill>
              </a:rPr>
              <a:t>structure variable </a:t>
            </a:r>
            <a:r>
              <a:rPr lang="en-US"/>
              <a:t>has an </a:t>
            </a:r>
            <a:r>
              <a:rPr lang="en-US">
                <a:solidFill>
                  <a:srgbClr val="0070C0"/>
                </a:solidFill>
              </a:rPr>
              <a:t>address</a:t>
            </a:r>
            <a:endParaRPr/>
          </a:p>
          <a:p>
            <a:pPr marL="228594" lvl="0" indent="-6412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0070C0"/>
              </a:solidFill>
            </a:endParaRPr>
          </a:p>
          <a:p>
            <a:pPr marL="228594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Pointers can be used to </a:t>
            </a:r>
            <a:r>
              <a:rPr lang="en-US">
                <a:solidFill>
                  <a:srgbClr val="0070C0"/>
                </a:solidFill>
              </a:rPr>
              <a:t>point to structure variables</a:t>
            </a:r>
            <a:r>
              <a:rPr lang="en-US"/>
              <a:t>.</a:t>
            </a:r>
            <a:endParaRPr/>
          </a:p>
          <a:p>
            <a:pPr marL="228594" lvl="0" indent="-6412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0070C0"/>
              </a:solidFill>
            </a:endParaRPr>
          </a:p>
          <a:p>
            <a:pPr marL="228594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Pointers to structures are variables that can hold the </a:t>
            </a:r>
            <a:r>
              <a:rPr lang="en-US">
                <a:solidFill>
                  <a:srgbClr val="0070C0"/>
                </a:solidFill>
              </a:rPr>
              <a:t>address of a structure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Student *stuPtr;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entury Gothic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Arial"/>
              <a:buNone/>
            </a:pPr>
            <a:r>
              <a:rPr lang="en-US"/>
              <a:t>The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stuPtr</a:t>
            </a:r>
            <a:r>
              <a:rPr lang="en-US"/>
              <a:t> pointer can point at variables of the type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endParaRPr/>
          </a:p>
          <a:p>
            <a:pPr marL="228594" lvl="0" indent="-6412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466" name="Google Shape;466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67" name="Google Shape;467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Accessing Structures with Pointers</a:t>
            </a:r>
            <a:endParaRPr/>
          </a:p>
        </p:txBody>
      </p:sp>
      <p:sp>
        <p:nvSpPr>
          <p:cNvPr id="473" name="Google Shape;473;p40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pointer variable should be of the type: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		Your 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36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-US" sz="2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   int width;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   int height;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void main( )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rect1 = {22,33};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 rect1Ptr 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rect1;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228594" lvl="0" indent="-9079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474" name="Google Shape;474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75" name="Google Shape;475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Accessing Structures with Pointers</a:t>
            </a:r>
            <a:endParaRPr/>
          </a:p>
        </p:txBody>
      </p:sp>
      <p:sp>
        <p:nvSpPr>
          <p:cNvPr id="481" name="Google Shape;481;p41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US" sz="2400"/>
              <a:t>How to </a:t>
            </a:r>
            <a:r>
              <a:rPr lang="en-US" sz="2400">
                <a:solidFill>
                  <a:srgbClr val="0070C0"/>
                </a:solidFill>
              </a:rPr>
              <a:t>access the structure members </a:t>
            </a:r>
            <a:r>
              <a:rPr lang="en-US" sz="2400"/>
              <a:t>(using pointer)? 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Use </a:t>
            </a:r>
            <a:r>
              <a:rPr lang="en-US" sz="2000" u="sng"/>
              <a:t>dereferencing operator </a:t>
            </a:r>
            <a:r>
              <a:rPr lang="en-US" sz="2000"/>
              <a:t>(</a:t>
            </a:r>
            <a:r>
              <a:rPr lang="en-US" sz="2000">
                <a:solidFill>
                  <a:srgbClr val="FF0000"/>
                </a:solidFill>
              </a:rPr>
              <a:t>*</a:t>
            </a:r>
            <a:r>
              <a:rPr lang="en-US" sz="2000"/>
              <a:t>) with </a:t>
            </a:r>
            <a:r>
              <a:rPr lang="en-US" sz="2000" u="sng"/>
              <a:t>dot operator </a:t>
            </a:r>
            <a:r>
              <a:rPr lang="en-US" sz="2000"/>
              <a:t>(</a:t>
            </a:r>
            <a:r>
              <a:rPr lang="en-US" sz="2000">
                <a:solidFill>
                  <a:srgbClr val="FF0000"/>
                </a:solidFill>
              </a:rPr>
              <a:t>.</a:t>
            </a:r>
            <a:r>
              <a:rPr lang="en-US" sz="2000"/>
              <a:t>)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400"/>
              <a:t>            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   int width;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   int height;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void main( )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rect1 = {22,33};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 rect1Ptr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rect1;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	cout&lt;&lt;(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rectPtr1)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width &lt;&lt; endl;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	cout&lt;&lt;(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rectPtr1)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height &lt;&lt; endl;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400"/>
          </a:p>
          <a:p>
            <a:pPr marL="228594" lvl="0" indent="-9905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/>
          </a:p>
        </p:txBody>
      </p:sp>
      <p:sp>
        <p:nvSpPr>
          <p:cNvPr id="482" name="Google Shape;482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83" name="Google Shape;483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Accessing Structures with Pointers</a:t>
            </a:r>
            <a:endParaRPr/>
          </a:p>
        </p:txBody>
      </p:sp>
      <p:sp>
        <p:nvSpPr>
          <p:cNvPr id="489" name="Google Shape;489;p42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US"/>
              <a:t>Is there some easier way to do this?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 arrow operator (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/>
              <a:t> ) instead of </a:t>
            </a:r>
            <a:r>
              <a:rPr lang="en-US" b="1">
                <a:solidFill>
                  <a:srgbClr val="FF0000"/>
                </a:solidFill>
              </a:rPr>
              <a:t>*</a:t>
            </a:r>
            <a:r>
              <a:rPr lang="en-US"/>
              <a:t> and </a:t>
            </a:r>
            <a:r>
              <a:rPr lang="en-US" b="1">
                <a:solidFill>
                  <a:srgbClr val="FF0000"/>
                </a:solidFill>
              </a:rPr>
              <a:t>.</a:t>
            </a:r>
            <a:endParaRPr/>
          </a:p>
          <a:p>
            <a:pPr marL="457189" lvl="1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>
              <a:solidFill>
                <a:srgbClr val="FF0000"/>
              </a:solidFill>
            </a:endParaRPr>
          </a:p>
          <a:p>
            <a:pPr marL="228594" lvl="0" indent="-228594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-US" sz="2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   int width;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   int height;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void main( )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rect1 = {22,33};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 rect1Ptr 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rect1;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cout&lt;&lt; rectPtr1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width &lt;&lt; endl;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cout&lt;&lt; rectPtr1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height &lt;&lt; endl;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490" name="Google Shape;490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91" name="Google Shape;491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Dynamic Memory Allocation</a:t>
            </a:r>
            <a:endParaRPr/>
          </a:p>
        </p:txBody>
      </p:sp>
      <p:sp>
        <p:nvSpPr>
          <p:cNvPr id="497" name="Google Shape;497;p43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The pointer variable can be used to dynamically allocate memory for a structure variable: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int width;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int height;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main( )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 rect1Ptr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-US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rect1Ptr</a:t>
            </a:r>
            <a:r>
              <a:rPr lang="en-US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&gt;width=22;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rect1Ptr</a:t>
            </a:r>
            <a:r>
              <a:rPr lang="en-US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&gt;height=33;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98" name="Google Shape;498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499" name="Google Shape;499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Pointer as Structure Member</a:t>
            </a:r>
            <a:endParaRPr/>
          </a:p>
        </p:txBody>
      </p:sp>
      <p:sp>
        <p:nvSpPr>
          <p:cNvPr id="505" name="Google Shape;505;p44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Pointers can also be a member of a structure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-US" sz="2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   int 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width;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   int height;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marL="228594" lvl="0" indent="-228594" algn="just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void main( )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{	int w = 3;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Rectangle rect1 = {&amp;w,5}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rect1.width = 2; </a:t>
            </a:r>
            <a:r>
              <a:rPr lang="en-US" sz="20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//dot has higher precedence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	rect1.height = 4;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506" name="Google Shape;506;p4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07" name="Google Shape;507;p4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08" name="Google Shape;508;p44"/>
          <p:cNvSpPr/>
          <p:nvPr/>
        </p:nvSpPr>
        <p:spPr>
          <a:xfrm>
            <a:off x="7020046" y="2590800"/>
            <a:ext cx="3505200" cy="16764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F7D6EE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Address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57827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of variable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w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 is assigned to the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pointer width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Pointer as Structure Member</a:t>
            </a:r>
            <a:endParaRPr/>
          </a:p>
        </p:txBody>
      </p:sp>
      <p:sp>
        <p:nvSpPr>
          <p:cNvPr id="514" name="Google Shape;514;p45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Pointers can also be a member of a structure</a:t>
            </a:r>
            <a:endParaRPr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515" name="Google Shape;515;p4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16" name="Google Shape;516;p4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517" name="Google Shape;51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7662" y="2392942"/>
            <a:ext cx="7669433" cy="4328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23" name="Google Shape;523;p4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524" name="Google Shape;52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7913" y="-3498"/>
            <a:ext cx="8870449" cy="6754953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46"/>
          <p:cNvSpPr/>
          <p:nvPr/>
        </p:nvSpPr>
        <p:spPr>
          <a:xfrm>
            <a:off x="7543800" y="1235738"/>
            <a:ext cx="3810000" cy="19812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F7D6EE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Output:   2 2 1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Post-increment, increments value after assignment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Anonymous Structure</a:t>
            </a:r>
            <a:endParaRPr/>
          </a:p>
        </p:txBody>
      </p:sp>
      <p:sp>
        <p:nvSpPr>
          <p:cNvPr id="531" name="Google Shape;531;p47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</a:pPr>
            <a:r>
              <a:rPr lang="en-US" sz="2400"/>
              <a:t>Structures can be </a:t>
            </a:r>
            <a:r>
              <a:rPr lang="en-US" sz="2400">
                <a:solidFill>
                  <a:srgbClr val="0070C0"/>
                </a:solidFill>
              </a:rPr>
              <a:t>anonymous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</a:pPr>
            <a:r>
              <a:rPr lang="en-US" sz="2400"/>
              <a:t>Must create variable after declaration</a:t>
            </a:r>
            <a:endParaRPr/>
          </a:p>
          <a:p>
            <a:pPr marL="228594" lvl="0" indent="-7619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400">
              <a:solidFill>
                <a:srgbClr val="2F1BC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594" lvl="0" indent="-761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532" name="Google Shape;532;p4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33" name="Google Shape;533;p4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pic>
        <p:nvPicPr>
          <p:cNvPr id="534" name="Google Shape;534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6741" y="3082030"/>
            <a:ext cx="7270327" cy="3182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Other Stuff You Can Do With a struct</a:t>
            </a:r>
            <a:endParaRPr/>
          </a:p>
        </p:txBody>
      </p:sp>
      <p:sp>
        <p:nvSpPr>
          <p:cNvPr id="540" name="Google Shape;540;p48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can also </a:t>
            </a:r>
            <a:r>
              <a:rPr lang="en-US">
                <a:solidFill>
                  <a:srgbClr val="0070C0"/>
                </a:solidFill>
              </a:rPr>
              <a:t>associate functions </a:t>
            </a:r>
            <a:r>
              <a:rPr lang="en-US"/>
              <a:t>with a </a:t>
            </a:r>
            <a:r>
              <a:rPr lang="en-US">
                <a:solidFill>
                  <a:srgbClr val="0070C0"/>
                </a:solidFill>
              </a:rPr>
              <a:t>structure</a:t>
            </a:r>
            <a:r>
              <a:rPr lang="en-US"/>
              <a:t> (called member functions)</a:t>
            </a:r>
            <a:endParaRPr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541" name="Google Shape;541;p4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42" name="Google Shape;542;p4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Quick Example</a:t>
            </a:r>
            <a:endParaRPr/>
          </a:p>
        </p:txBody>
      </p:sp>
      <p:sp>
        <p:nvSpPr>
          <p:cNvPr id="548" name="Google Shape;548;p49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StudentRecord</a:t>
            </a:r>
            <a:r>
              <a:rPr lang="en-US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string name;          // student name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int marks[5];         // test grades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double ave;           // final average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void print_ave( )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cout &lt;&lt; "Name: " &lt;&lt;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cout &lt;&lt; "Average: " &lt;&lt;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ave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&lt;&lt; endl;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  <p:sp>
        <p:nvSpPr>
          <p:cNvPr id="549" name="Google Shape;549;p4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50" name="Google Shape;550;p4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Using a Member Function</a:t>
            </a:r>
            <a:endParaRPr/>
          </a:p>
        </p:txBody>
      </p:sp>
      <p:sp>
        <p:nvSpPr>
          <p:cNvPr id="556" name="Google Shape;556;p50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</a:pPr>
            <a:r>
              <a:rPr lang="en-US" sz="2400"/>
              <a:t>Use the dot operator to call </a:t>
            </a:r>
            <a:r>
              <a:rPr lang="en-US" sz="2400" u="sng"/>
              <a:t>member functions of a struct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StudentRecord</a:t>
            </a:r>
            <a:r>
              <a:rPr lang="en-US" b="1">
                <a:solidFill>
                  <a:srgbClr val="B8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stu;</a:t>
            </a:r>
            <a:endParaRPr/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stu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.print_ave( )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/>
          </a:p>
          <a:p>
            <a:pPr marL="228594" lvl="0" indent="-761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557" name="Google Shape;557;p5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58" name="Google Shape;558;p5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Structures as Function Arguments</a:t>
            </a:r>
            <a:endParaRPr/>
          </a:p>
        </p:txBody>
      </p:sp>
      <p:sp>
        <p:nvSpPr>
          <p:cNvPr id="564" name="Google Shape;564;p51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</a:pPr>
            <a:r>
              <a:rPr lang="en-US"/>
              <a:t>May pass </a:t>
            </a:r>
            <a:r>
              <a:rPr lang="en-US" u="sng">
                <a:solidFill>
                  <a:srgbClr val="FF0000"/>
                </a:solidFill>
              </a:rPr>
              <a:t>members of</a:t>
            </a:r>
            <a:r>
              <a:rPr lang="en-US">
                <a:solidFill>
                  <a:srgbClr val="FF0000"/>
                </a:solidFill>
              </a:rPr>
              <a:t> 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/>
              <a:t> variables to functions:</a:t>
            </a:r>
            <a:endParaRPr/>
          </a:p>
          <a:p>
            <a:pPr marL="228594" lvl="0" indent="-50793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endParaRPr sz="2800"/>
          </a:p>
          <a:p>
            <a:pPr marL="685783" lvl="1" indent="-228594" algn="l" rtl="0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//function definition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685783" lvl="1" indent="-228594" algn="l" rtl="0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float computeGPA(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float gpa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){ </a:t>
            </a:r>
            <a:endParaRPr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685783" lvl="1" indent="-228594" algn="l" rtl="0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……………</a:t>
            </a:r>
            <a:endParaRPr/>
          </a:p>
          <a:p>
            <a:pPr marL="685783" lvl="1" indent="-228594" algn="l" rtl="0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685783" lvl="1" indent="-228594" algn="l" rtl="0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entury Gothic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685783" lvl="1" indent="-228594" algn="l" rtl="0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//function call</a:t>
            </a:r>
            <a:endParaRPr/>
          </a:p>
          <a:p>
            <a:pPr marL="685783" lvl="1" indent="-228594" algn="l" rtl="0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computeGPA(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s1.gpa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  <p:sp>
        <p:nvSpPr>
          <p:cNvPr id="565" name="Google Shape;565;p5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66" name="Google Shape;566;p5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Structures as Function Arguments</a:t>
            </a:r>
            <a:endParaRPr/>
          </a:p>
        </p:txBody>
      </p:sp>
      <p:sp>
        <p:nvSpPr>
          <p:cNvPr id="572" name="Google Shape;572;p52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</a:pPr>
            <a:r>
              <a:rPr lang="en-US"/>
              <a:t>May pass entire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/>
              <a:t> variables to functions</a:t>
            </a:r>
            <a:endParaRPr/>
          </a:p>
          <a:p>
            <a:pPr marL="228594" lvl="0" indent="-50793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endParaRPr/>
          </a:p>
          <a:p>
            <a:pPr marL="914400" lvl="1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/>
              <a:t>Pass-by-value</a:t>
            </a:r>
            <a:endParaRPr/>
          </a:p>
          <a:p>
            <a:pPr marL="914400" lvl="1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/>
              <a:t>Pass-by-reference</a:t>
            </a:r>
            <a:endParaRPr/>
          </a:p>
          <a:p>
            <a:pPr marL="914400" lvl="1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/>
              <a:t>Pass-using pointers</a:t>
            </a:r>
            <a:endParaRPr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573" name="Google Shape;573;p5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74" name="Google Shape;574;p5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Structures as Function Arguments – Pass by Value</a:t>
            </a:r>
            <a:endParaRPr/>
          </a:p>
        </p:txBody>
      </p:sp>
      <p:sp>
        <p:nvSpPr>
          <p:cNvPr id="580" name="Google Shape;580;p53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double length;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double width;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double area;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changeRect(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r) {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r.length = 5;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r.width = 6;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r.area = 30;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main(){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ourier New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= {1, 2, 2};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changeRect(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); }</a:t>
            </a:r>
            <a:r>
              <a:rPr lang="en-US"/>
              <a:t>	</a:t>
            </a:r>
            <a:endParaRPr/>
          </a:p>
        </p:txBody>
      </p:sp>
      <p:sp>
        <p:nvSpPr>
          <p:cNvPr id="581" name="Google Shape;581;p5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82" name="Google Shape;582;p5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cxnSp>
        <p:nvCxnSpPr>
          <p:cNvPr id="583" name="Google Shape;583;p53"/>
          <p:cNvCxnSpPr/>
          <p:nvPr/>
        </p:nvCxnSpPr>
        <p:spPr>
          <a:xfrm rot="-5400000">
            <a:off x="2731699" y="3808123"/>
            <a:ext cx="1817100" cy="1747800"/>
          </a:xfrm>
          <a:prstGeom prst="curvedConnector3">
            <a:avLst>
              <a:gd name="adj1" fmla="val 50003"/>
            </a:avLst>
          </a:prstGeom>
          <a:noFill/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584" name="Google Shape;584;p53"/>
          <p:cNvSpPr/>
          <p:nvPr/>
        </p:nvSpPr>
        <p:spPr>
          <a:xfrm>
            <a:off x="6231038" y="2204033"/>
            <a:ext cx="4038600" cy="2159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F7D6EE"/>
          </a:solidFill>
          <a:ln w="127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A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copy of the struct box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is created and saved in the function parameter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Structures as Function Arguments – Pass by Value</a:t>
            </a:r>
            <a:endParaRPr/>
          </a:p>
        </p:txBody>
      </p:sp>
      <p:sp>
        <p:nvSpPr>
          <p:cNvPr id="590" name="Google Shape;590;p54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void changeRect(</a:t>
            </a:r>
            <a:r>
              <a:rPr lang="en-US" sz="20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 r) {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   r.length = 5;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   r.width = 6;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   r.area = 30;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void main(){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ourier New"/>
              <a:buNone/>
            </a:pPr>
            <a:r>
              <a:rPr lang="en-US" sz="20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 </a:t>
            </a: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= {1, 2, 2};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changeRect(</a:t>
            </a:r>
            <a:r>
              <a:rPr lang="en-US" sz="20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</a:t>
            </a: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cout &lt;&lt; box.length &lt;&lt; endl; </a:t>
            </a:r>
            <a:r>
              <a:rPr lang="en-US" sz="20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prints 1</a:t>
            </a:r>
            <a:endParaRPr sz="2000"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cout &lt;&lt; box.width &lt;&lt; endl; </a:t>
            </a:r>
            <a:r>
              <a:rPr lang="en-US" sz="20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prints 2</a:t>
            </a:r>
            <a:endParaRPr sz="2000"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cout &lt;&lt; box.area &lt;&lt; endl; </a:t>
            </a:r>
            <a:r>
              <a:rPr lang="en-US" sz="20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prints 2</a:t>
            </a:r>
            <a:endParaRPr sz="2000"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US" sz="2000"/>
              <a:t>}</a:t>
            </a:r>
            <a:endParaRPr/>
          </a:p>
        </p:txBody>
      </p:sp>
      <p:sp>
        <p:nvSpPr>
          <p:cNvPr id="591" name="Google Shape;591;p5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592" name="Google Shape;592;p5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Structures as Function Arguments – Pass by Reference</a:t>
            </a:r>
            <a:endParaRPr/>
          </a:p>
        </p:txBody>
      </p:sp>
      <p:sp>
        <p:nvSpPr>
          <p:cNvPr id="598" name="Google Shape;598;p55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double length;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double width;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double area;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changeRect(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&amp;r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r.length = 5;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r.width = 6;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r.area = 30;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ourier New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= {1, 2, 2};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changeRect(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en-US"/>
              <a:t>	</a:t>
            </a:r>
            <a:endParaRPr/>
          </a:p>
        </p:txBody>
      </p:sp>
      <p:sp>
        <p:nvSpPr>
          <p:cNvPr id="599" name="Google Shape;599;p5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600" name="Google Shape;600;p5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cxnSp>
        <p:nvCxnSpPr>
          <p:cNvPr id="601" name="Google Shape;601;p55"/>
          <p:cNvCxnSpPr/>
          <p:nvPr/>
        </p:nvCxnSpPr>
        <p:spPr>
          <a:xfrm rot="-5400000">
            <a:off x="2748929" y="3779122"/>
            <a:ext cx="1863600" cy="1851900"/>
          </a:xfrm>
          <a:prstGeom prst="curvedConnector3">
            <a:avLst>
              <a:gd name="adj1" fmla="val 49998"/>
            </a:avLst>
          </a:prstGeom>
          <a:noFill/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602" name="Google Shape;602;p55"/>
          <p:cNvSpPr/>
          <p:nvPr/>
        </p:nvSpPr>
        <p:spPr>
          <a:xfrm>
            <a:off x="5565977" y="1932940"/>
            <a:ext cx="4038600" cy="2159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F7D6EE"/>
          </a:solidFill>
          <a:ln w="127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actual struct variable box is passed by reference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 (parameter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 is just another name for box)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Structures as Function Arguments – Pass by Reference</a:t>
            </a:r>
            <a:endParaRPr/>
          </a:p>
        </p:txBody>
      </p:sp>
      <p:sp>
        <p:nvSpPr>
          <p:cNvPr id="608" name="Google Shape;608;p56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changeRect(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&amp;r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r.length = 5;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r.width = 6;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r.area = 30;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main(){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ourier New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= {1, 2, 2};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changeRect(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cout &lt;&lt; box.length &lt;&lt; endl; </a:t>
            </a:r>
            <a:r>
              <a:rPr lang="en-US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prints 5</a:t>
            </a:r>
            <a:endParaRPr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cout &lt;&lt; box.width &lt;&lt; endl; </a:t>
            </a:r>
            <a:r>
              <a:rPr lang="en-US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prints 6</a:t>
            </a:r>
            <a:endParaRPr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cout &lt;&lt; box.area &lt;&lt; endl; </a:t>
            </a:r>
            <a:r>
              <a:rPr lang="en-US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prints 30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US"/>
              <a:t>}</a:t>
            </a:r>
            <a:endParaRPr/>
          </a:p>
        </p:txBody>
      </p:sp>
      <p:sp>
        <p:nvSpPr>
          <p:cNvPr id="609" name="Google Shape;609;p5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610" name="Google Shape;610;p5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Structures as Function Arguments - Notes</a:t>
            </a:r>
            <a:endParaRPr/>
          </a:p>
        </p:txBody>
      </p:sp>
      <p:sp>
        <p:nvSpPr>
          <p:cNvPr id="616" name="Google Shape;616;p57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</a:pPr>
            <a:r>
              <a:rPr lang="en-US" sz="2400"/>
              <a:t>Passing a structure to a function </a:t>
            </a:r>
            <a:r>
              <a:rPr lang="en-US" sz="2400">
                <a:solidFill>
                  <a:srgbClr val="0070C0"/>
                </a:solidFill>
              </a:rPr>
              <a:t>by value</a:t>
            </a:r>
            <a:r>
              <a:rPr lang="en-US" sz="2400"/>
              <a:t> can </a:t>
            </a:r>
            <a:r>
              <a:rPr lang="en-US" sz="2400">
                <a:solidFill>
                  <a:srgbClr val="0070C0"/>
                </a:solidFill>
              </a:rPr>
              <a:t>slow down a program</a:t>
            </a:r>
            <a:r>
              <a:rPr lang="en-US" sz="2400"/>
              <a:t>, </a:t>
            </a:r>
            <a:r>
              <a:rPr lang="en-US" sz="2400">
                <a:solidFill>
                  <a:srgbClr val="0070C0"/>
                </a:solidFill>
              </a:rPr>
              <a:t>waste space</a:t>
            </a:r>
            <a:endParaRPr/>
          </a:p>
          <a:p>
            <a:pPr marL="228594" lvl="0" indent="-76193" algn="just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just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</a:pPr>
            <a:r>
              <a:rPr lang="en-US" sz="2400"/>
              <a:t>Passing a structure to a function by reference will </a:t>
            </a:r>
            <a:r>
              <a:rPr lang="en-US" sz="2400">
                <a:solidFill>
                  <a:srgbClr val="0070C0"/>
                </a:solidFill>
              </a:rPr>
              <a:t>speed up program</a:t>
            </a:r>
            <a:r>
              <a:rPr lang="en-US" sz="2400"/>
              <a:t>, but the function </a:t>
            </a:r>
            <a:r>
              <a:rPr lang="en-US" sz="2400">
                <a:solidFill>
                  <a:srgbClr val="FF0000"/>
                </a:solidFill>
              </a:rPr>
              <a:t>may change data in structure</a:t>
            </a:r>
            <a:endParaRPr/>
          </a:p>
          <a:p>
            <a:pPr marL="228594" lvl="0" indent="-76193" algn="just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just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</a:pPr>
            <a:r>
              <a:rPr lang="en-US" sz="2400"/>
              <a:t>Using a 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/>
              <a:t> reference parameter allows </a:t>
            </a:r>
            <a:r>
              <a:rPr lang="en-US" sz="2400">
                <a:solidFill>
                  <a:srgbClr val="0488AE"/>
                </a:solidFill>
              </a:rPr>
              <a:t>read-only access </a:t>
            </a:r>
            <a:r>
              <a:rPr lang="en-US" sz="2400"/>
              <a:t>to reference parameter, it is fast and does not waste space</a:t>
            </a:r>
            <a:endParaRPr/>
          </a:p>
        </p:txBody>
      </p:sp>
      <p:sp>
        <p:nvSpPr>
          <p:cNvPr id="617" name="Google Shape;617;p5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618" name="Google Shape;618;p5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Structures as Function Arguments – Pass by const Reference</a:t>
            </a:r>
            <a:endParaRPr/>
          </a:p>
        </p:txBody>
      </p:sp>
      <p:sp>
        <p:nvSpPr>
          <p:cNvPr id="624" name="Google Shape;624;p58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changeRect(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Rectangle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r) {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r.length = 5;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//ERROR! Cannot modify const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r.width = 6;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//ERROR! Cannot modify const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r.area = 30;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//ERROR! Cannot modify const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main(){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= {1, 2, 2};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changeRect(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rPr lang="en-US"/>
              <a:t>}</a:t>
            </a:r>
            <a:endParaRPr/>
          </a:p>
        </p:txBody>
      </p:sp>
      <p:sp>
        <p:nvSpPr>
          <p:cNvPr id="625" name="Google Shape;625;p5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626" name="Google Shape;626;p5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Structures as Function Arguments – Pass by const Reference</a:t>
            </a:r>
            <a:endParaRPr/>
          </a:p>
        </p:txBody>
      </p:sp>
      <p:sp>
        <p:nvSpPr>
          <p:cNvPr id="632" name="Google Shape;632;p59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showRect(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Rectangle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r) {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cout &lt;&lt; r.length &lt;&lt; endl;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cout &lt;&lt; r.width &lt;&lt; endl;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cout &lt;&lt; r.area &lt;&lt; endl;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void main(){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ourier New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Rectangle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= {1, 2, 2};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showRect(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box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US"/>
              <a:t>}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US" u="sng"/>
              <a:t>Output: </a:t>
            </a:r>
            <a:r>
              <a:rPr lang="en-US"/>
              <a:t>	1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US"/>
              <a:t>		2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US"/>
              <a:t>		2</a:t>
            </a:r>
            <a:endParaRPr/>
          </a:p>
        </p:txBody>
      </p:sp>
      <p:sp>
        <p:nvSpPr>
          <p:cNvPr id="633" name="Google Shape;633;p5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634" name="Google Shape;634;p5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Returning a Structure from a Function</a:t>
            </a:r>
            <a:endParaRPr/>
          </a:p>
        </p:txBody>
      </p:sp>
      <p:sp>
        <p:nvSpPr>
          <p:cNvPr id="640" name="Google Shape;640;p60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5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</a:pPr>
            <a:r>
              <a:rPr lang="en-US"/>
              <a:t>A Function can return a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/>
              <a:t>: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getStudentData();  // prototype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stu1 = getStudentData();   // call</a:t>
            </a:r>
            <a:br>
              <a:rPr lang="en-US" b="1">
                <a:latin typeface="Courier New"/>
                <a:ea typeface="Courier New"/>
                <a:cs typeface="Courier New"/>
                <a:sym typeface="Courier New"/>
              </a:rPr>
            </a:b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594" lvl="0" indent="-22859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</a:pPr>
            <a:r>
              <a:rPr lang="en-US"/>
              <a:t>Function must define a local structure variable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internal use </a:t>
            </a:r>
            <a:endParaRPr/>
          </a:p>
          <a:p>
            <a:pPr marL="685783" lvl="1" indent="-22859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use with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/>
              <a:t> statement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641" name="Google Shape;641;p6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642" name="Google Shape;642;p6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</a:pPr>
            <a:r>
              <a:rPr lang="en-US"/>
              <a:t>Returning a Structure from a Function - Example</a:t>
            </a:r>
            <a:endParaRPr/>
          </a:p>
        </p:txBody>
      </p:sp>
      <p:sp>
        <p:nvSpPr>
          <p:cNvPr id="648" name="Google Shape;648;p61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783" lvl="1" indent="-22859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getStudentData()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{	  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	 Student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tempStu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 cin &gt;&gt; tempStu.studentID;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 cin &gt;&gt; tempStu.yearInSchool;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/>
              <a:t>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cin &gt;&gt; tempStu.gpa;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/>
              <a:t>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tempStu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228594" lvl="0" indent="-5079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649" name="Google Shape;649;p6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t>Object Oriented Programming-Spring 24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  <p:sp>
        <p:nvSpPr>
          <p:cNvPr id="650" name="Google Shape;650;p6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entury Gothic"/>
                <a:sym typeface="Century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ushVTI">
  <a:themeElements>
    <a:clrScheme name="AnalogousFromRegularSeedRightStep">
      <a:dk1>
        <a:srgbClr val="000000"/>
      </a:dk1>
      <a:lt1>
        <a:srgbClr val="FFFFFF"/>
      </a:lt1>
      <a:dk2>
        <a:srgbClr val="412724"/>
      </a:dk2>
      <a:lt2>
        <a:srgbClr val="E2E8E4"/>
      </a:lt2>
      <a:accent1>
        <a:srgbClr val="D739AE"/>
      </a:accent1>
      <a:accent2>
        <a:srgbClr val="C5275A"/>
      </a:accent2>
      <a:accent3>
        <a:srgbClr val="D74839"/>
      </a:accent3>
      <a:accent4>
        <a:srgbClr val="C57827"/>
      </a:accent4>
      <a:accent5>
        <a:srgbClr val="B0A72F"/>
      </a:accent5>
      <a:accent6>
        <a:srgbClr val="81B223"/>
      </a:accent6>
      <a:hlink>
        <a:srgbClr val="31944B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3159</Words>
  <Application>Microsoft Office PowerPoint</Application>
  <PresentationFormat>Widescreen</PresentationFormat>
  <Paragraphs>646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0" baseType="lpstr">
      <vt:lpstr>Abril Fatface</vt:lpstr>
      <vt:lpstr>Arial</vt:lpstr>
      <vt:lpstr>Calibri</vt:lpstr>
      <vt:lpstr>Calibri Light</vt:lpstr>
      <vt:lpstr>Century Gothic</vt:lpstr>
      <vt:lpstr>Courier New</vt:lpstr>
      <vt:lpstr>Noto Sans Symbols</vt:lpstr>
      <vt:lpstr>Office Theme</vt:lpstr>
      <vt:lpstr>BrushVTI</vt:lpstr>
      <vt:lpstr>Object Oriented Programming</vt:lpstr>
      <vt:lpstr>Abstract Data Type</vt:lpstr>
      <vt:lpstr>Abstract Data Type</vt:lpstr>
      <vt:lpstr>Abstract Data Type</vt:lpstr>
      <vt:lpstr>Combining Data into Structures</vt:lpstr>
      <vt:lpstr>Introducing Structures</vt:lpstr>
      <vt:lpstr>Example struct Declaration</vt:lpstr>
      <vt:lpstr>Structure Definition Syntax</vt:lpstr>
      <vt:lpstr>struct Declaration Notes</vt:lpstr>
      <vt:lpstr>Creating struct Variables</vt:lpstr>
      <vt:lpstr>Creating struct Variables</vt:lpstr>
      <vt:lpstr>Structure Members In Memory</vt:lpstr>
      <vt:lpstr>Creating struct Variables – Another way</vt:lpstr>
      <vt:lpstr>Creating struct Variables Two Ways</vt:lpstr>
      <vt:lpstr>Initializing a Structure</vt:lpstr>
      <vt:lpstr>Initializing a Structure</vt:lpstr>
      <vt:lpstr>Accessing Structure Members</vt:lpstr>
      <vt:lpstr>Assigning Values to Structure Variables</vt:lpstr>
      <vt:lpstr>More on Initializing a Structure</vt:lpstr>
      <vt:lpstr>More on Initializing a Structure</vt:lpstr>
      <vt:lpstr>Accessing Structure Members</vt:lpstr>
      <vt:lpstr>Assigning one Structure Variable to another</vt:lpstr>
      <vt:lpstr>Comparing struct Variables</vt:lpstr>
      <vt:lpstr>Practice Question </vt:lpstr>
      <vt:lpstr>Array of Structures</vt:lpstr>
      <vt:lpstr>Initialization of Array of Structures</vt:lpstr>
      <vt:lpstr>Initialization of Array of Structures</vt:lpstr>
      <vt:lpstr>Partial Initialization of Array of Structures</vt:lpstr>
      <vt:lpstr>Practice Question </vt:lpstr>
      <vt:lpstr>Practice Question </vt:lpstr>
      <vt:lpstr>Array as Member of Structures</vt:lpstr>
      <vt:lpstr>Array as Member of Structures</vt:lpstr>
      <vt:lpstr>Array as Member of Structures</vt:lpstr>
      <vt:lpstr>Array as Member of Structures</vt:lpstr>
      <vt:lpstr>Nested Structure</vt:lpstr>
      <vt:lpstr>Initializing/Assigning to a Nested Structure</vt:lpstr>
      <vt:lpstr>Practice Question </vt:lpstr>
      <vt:lpstr>Practice Question </vt:lpstr>
      <vt:lpstr>Pointers to Structures</vt:lpstr>
      <vt:lpstr>Accessing Structures with Pointers</vt:lpstr>
      <vt:lpstr>Accessing Structures with Pointers</vt:lpstr>
      <vt:lpstr>Accessing Structures with Pointers</vt:lpstr>
      <vt:lpstr>Dynamic Memory Allocation</vt:lpstr>
      <vt:lpstr>Pointer as Structure Member</vt:lpstr>
      <vt:lpstr>Pointer as Structure Member</vt:lpstr>
      <vt:lpstr>PowerPoint Presentation</vt:lpstr>
      <vt:lpstr>Anonymous Structure</vt:lpstr>
      <vt:lpstr>Other Stuff You Can Do With a struct</vt:lpstr>
      <vt:lpstr>Quick Example</vt:lpstr>
      <vt:lpstr>Using a Member Function</vt:lpstr>
      <vt:lpstr>Structures as Function Arguments</vt:lpstr>
      <vt:lpstr>Structures as Function Arguments</vt:lpstr>
      <vt:lpstr>Structures as Function Arguments – Pass by Value</vt:lpstr>
      <vt:lpstr>Structures as Function Arguments – Pass by Value</vt:lpstr>
      <vt:lpstr>Structures as Function Arguments – Pass by Reference</vt:lpstr>
      <vt:lpstr>Structures as Function Arguments – Pass by Reference</vt:lpstr>
      <vt:lpstr>Structures as Function Arguments - Notes</vt:lpstr>
      <vt:lpstr>Structures as Function Arguments – Pass by const Reference</vt:lpstr>
      <vt:lpstr>Structures as Function Arguments – Pass by const Reference</vt:lpstr>
      <vt:lpstr>Returning a Structure from a Function</vt:lpstr>
      <vt:lpstr>Returning a Structure from a Function -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Marium Hida</dc:creator>
  <cp:lastModifiedBy>Marium Hida</cp:lastModifiedBy>
  <cp:revision>2</cp:revision>
  <dcterms:created xsi:type="dcterms:W3CDTF">2024-01-22T16:32:23Z</dcterms:created>
  <dcterms:modified xsi:type="dcterms:W3CDTF">2024-01-22T16:36:02Z</dcterms:modified>
</cp:coreProperties>
</file>