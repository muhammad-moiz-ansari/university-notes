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51"/>
  </p:notesMasterIdLst>
  <p:sldIdLst>
    <p:sldId id="256" r:id="rId2"/>
    <p:sldId id="461" r:id="rId3"/>
    <p:sldId id="512" r:id="rId4"/>
    <p:sldId id="462" r:id="rId5"/>
    <p:sldId id="457" r:id="rId6"/>
    <p:sldId id="463" r:id="rId7"/>
    <p:sldId id="465" r:id="rId8"/>
    <p:sldId id="464" r:id="rId9"/>
    <p:sldId id="467" r:id="rId10"/>
    <p:sldId id="468" r:id="rId11"/>
    <p:sldId id="458" r:id="rId12"/>
    <p:sldId id="469" r:id="rId13"/>
    <p:sldId id="466" r:id="rId14"/>
    <p:sldId id="470" r:id="rId15"/>
    <p:sldId id="471" r:id="rId16"/>
    <p:sldId id="472" r:id="rId17"/>
    <p:sldId id="475" r:id="rId18"/>
    <p:sldId id="473" r:id="rId19"/>
    <p:sldId id="479" r:id="rId20"/>
    <p:sldId id="480" r:id="rId21"/>
    <p:sldId id="481" r:id="rId22"/>
    <p:sldId id="483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4" r:id="rId33"/>
    <p:sldId id="495" r:id="rId34"/>
    <p:sldId id="496" r:id="rId35"/>
    <p:sldId id="497" r:id="rId36"/>
    <p:sldId id="498" r:id="rId37"/>
    <p:sldId id="499" r:id="rId38"/>
    <p:sldId id="500" r:id="rId39"/>
    <p:sldId id="501" r:id="rId40"/>
    <p:sldId id="502" r:id="rId41"/>
    <p:sldId id="503" r:id="rId42"/>
    <p:sldId id="504" r:id="rId43"/>
    <p:sldId id="505" r:id="rId44"/>
    <p:sldId id="506" r:id="rId45"/>
    <p:sldId id="507" r:id="rId46"/>
    <p:sldId id="508" r:id="rId47"/>
    <p:sldId id="509" r:id="rId48"/>
    <p:sldId id="510" r:id="rId49"/>
    <p:sldId id="511" r:id="rId50"/>
  </p:sldIdLst>
  <p:sldSz cx="12192000" cy="6858000"/>
  <p:notesSz cx="9928225" cy="6797675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44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862F-386F-45B1-A520-D73D66BA78DA}" type="datetimeFigureOut">
              <a:rPr lang="en-PK" smtClean="0"/>
              <a:t>25/03/2024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2947-0130-47C3-9E08-854F4E8917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554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1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9874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6212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5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C455-ECFA-4EC6-8F2F-8C1B7C6F2C5F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77452-E1C2-4C3F-B331-6F293FDF770B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279394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98E90-C816-4DB6-B388-DAB5D5C8B3EF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8505-3B13-4575-8D6F-12B0B673F9BE}" type="datetime1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86AAE-57D8-4CBC-ACDC-790F7079ED7A}" type="datetime1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3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A69C-6E90-4288-B663-F95A499A9393}" type="datetime1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D404-7ED3-46D4-97E5-C817A5E7D059}" type="datetime1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1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82C2-A12A-4B13-B1FD-1D1EC45A0E89}" type="datetime1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2F986-F426-4C73-9119-E9D8ED1B46B3}" type="datetime1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6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E5255-B94D-4283-810B-CA92CFF57FB5}" type="datetime1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E6B-0B06-4645-BEB6-FAA483532F4D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572A-C0D4-4753-901A-2BB36EF68F40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0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8D6C6-1EE7-4C71-B0C9-91BFE7D34E0F}" type="datetime1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8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693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4" r:id="rId12"/>
  </p:sldLayoutIdLst>
  <p:hf hd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4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96C19-CDA4-1AC4-C793-877B0AFB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1975"/>
            <a:ext cx="9144000" cy="11526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 Oriented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E1E1B-2DD4-928E-2179-3D87C4264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1720"/>
            <a:ext cx="9144000" cy="6467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 # 7 :  Association, Aggregation &amp; composition</a:t>
            </a:r>
            <a:endParaRPr lang="en-PK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9F108EC2-65CE-5A9B-D15A-80B599688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77" b="22390"/>
          <a:stretch/>
        </p:blipFill>
        <p:spPr>
          <a:xfrm>
            <a:off x="838202" y="9"/>
            <a:ext cx="10484412" cy="3811395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561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Identifying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1890" y="1665447"/>
            <a:ext cx="9144000" cy="1384998"/>
          </a:xfrm>
        </p:spPr>
        <p:txBody>
          <a:bodyPr>
            <a:noAutofit/>
          </a:bodyPr>
          <a:lstStyle/>
          <a:p>
            <a:r>
              <a:rPr lang="en-US" sz="2000" dirty="0"/>
              <a:t>Entities in the </a:t>
            </a:r>
            <a:r>
              <a:rPr lang="en-US" sz="2000" dirty="0">
                <a:solidFill>
                  <a:srgbClr val="0070C0"/>
                </a:solidFill>
              </a:rPr>
              <a:t>real world </a:t>
            </a:r>
            <a:r>
              <a:rPr lang="en-US" sz="2000" dirty="0"/>
              <a:t>consist of </a:t>
            </a:r>
            <a:r>
              <a:rPr lang="en-US" sz="2000" dirty="0">
                <a:solidFill>
                  <a:srgbClr val="0070C0"/>
                </a:solidFill>
              </a:rPr>
              <a:t>attributes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behaviors</a:t>
            </a:r>
          </a:p>
          <a:p>
            <a:r>
              <a:rPr lang="en-US" sz="2000" dirty="0"/>
              <a:t>One motivation for using OOP was that it represents </a:t>
            </a:r>
            <a:r>
              <a:rPr lang="en-US" sz="2000" dirty="0">
                <a:solidFill>
                  <a:srgbClr val="0070C0"/>
                </a:solidFill>
              </a:rPr>
              <a:t>real world entities better than structural programming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83"/>
          <a:stretch/>
        </p:blipFill>
        <p:spPr bwMode="auto">
          <a:xfrm>
            <a:off x="1725691" y="3362453"/>
            <a:ext cx="2729204" cy="3130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 descr="Fun Taxi Images, Stock Photos &amp; Vector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8"/>
          <a:stretch/>
        </p:blipFill>
        <p:spPr bwMode="auto">
          <a:xfrm>
            <a:off x="5916692" y="3202846"/>
            <a:ext cx="2828925" cy="246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745616" y="3362453"/>
            <a:ext cx="22237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Objects</a:t>
            </a:r>
          </a:p>
          <a:p>
            <a:r>
              <a:rPr lang="en-US" dirty="0"/>
              <a:t>Car (Body, Steering wheel, tires, engine)</a:t>
            </a:r>
          </a:p>
          <a:p>
            <a:r>
              <a:rPr lang="en-US" dirty="0"/>
              <a:t>Driver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74091" y="3336017"/>
            <a:ext cx="2604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Objects</a:t>
            </a:r>
          </a:p>
          <a:p>
            <a:r>
              <a:rPr lang="en-US" dirty="0"/>
              <a:t>Plant (Flower, Leaves)</a:t>
            </a:r>
          </a:p>
          <a:p>
            <a:r>
              <a:rPr lang="en-US" dirty="0"/>
              <a:t>Sunlight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401C4-7ED5-88B9-B538-2D0B6813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F6A6-53E4-D511-8DDB-4236010A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2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en-US" b="1" i="1"/>
              <a:t>Identifying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1" y="2623381"/>
            <a:ext cx="3888528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u="sng" dirty="0"/>
              <a:t>Case Study </a:t>
            </a:r>
            <a:r>
              <a:rPr lang="en-US" sz="2000" dirty="0"/>
              <a:t>(Parking lot)</a:t>
            </a:r>
          </a:p>
          <a:p>
            <a:pPr indent="-2286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parking lot is an open area designated for parking cars. We will design a parking lot where a certain number of cars can be parked for a certain amount of time. Each parking slot can have a single vehicle/car parked in it. 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9D230C4-E739-4057-8B8E-7B2B5759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86" y="1253366"/>
            <a:ext cx="4747547" cy="437961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D7814-ED48-7C8C-4C10-9E35C3CA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0E917-F71E-63A2-901C-446735D7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Interaction between objects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328" y="1485587"/>
            <a:ext cx="4937760" cy="950976"/>
          </a:xfrm>
        </p:spPr>
        <p:txBody>
          <a:bodyPr>
            <a:normAutofit/>
          </a:bodyPr>
          <a:lstStyle/>
          <a:p>
            <a:r>
              <a:rPr lang="en-US" sz="3600" dirty="0"/>
              <a:t>Plant Example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38328" y="2601155"/>
            <a:ext cx="4937760" cy="30632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Plant </a:t>
            </a:r>
            <a:r>
              <a:rPr lang="en-US" sz="2000" b="1" dirty="0">
                <a:solidFill>
                  <a:srgbClr val="FF0000"/>
                </a:solidFill>
              </a:rPr>
              <a:t>is composed </a:t>
            </a:r>
            <a:r>
              <a:rPr lang="en-US" sz="2000" dirty="0"/>
              <a:t>of leaves and flowers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Leaves </a:t>
            </a:r>
            <a:r>
              <a:rPr lang="en-US" sz="2000" b="1" dirty="0">
                <a:solidFill>
                  <a:srgbClr val="FF0000"/>
                </a:solidFill>
              </a:rPr>
              <a:t>interact</a:t>
            </a:r>
            <a:r>
              <a:rPr lang="en-US" sz="2000" dirty="0"/>
              <a:t> with the sunlight (even if you don’t know how, exactly),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Flower’s </a:t>
            </a:r>
            <a:r>
              <a:rPr lang="en-US" sz="2000" b="1" dirty="0">
                <a:solidFill>
                  <a:srgbClr val="FF0000"/>
                </a:solidFill>
              </a:rPr>
              <a:t>existence depends on</a:t>
            </a:r>
            <a:r>
              <a:rPr lang="en-US" sz="2000" dirty="0"/>
              <a:t> the plant.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417628" y="1485587"/>
            <a:ext cx="4937760" cy="950976"/>
          </a:xfrm>
        </p:spPr>
        <p:txBody>
          <a:bodyPr>
            <a:normAutofit/>
          </a:bodyPr>
          <a:lstStyle/>
          <a:p>
            <a:r>
              <a:rPr lang="en-US" sz="3600" dirty="0"/>
              <a:t>Car 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417628" y="2601155"/>
            <a:ext cx="4937760" cy="30632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Car </a:t>
            </a:r>
            <a:r>
              <a:rPr lang="en-US" sz="2000" b="1" dirty="0">
                <a:solidFill>
                  <a:srgbClr val="FF0000"/>
                </a:solidFill>
              </a:rPr>
              <a:t>is composed </a:t>
            </a:r>
            <a:r>
              <a:rPr lang="en-US" sz="2000" dirty="0"/>
              <a:t>of body, steering wheel, tires, engine etc.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Driver </a:t>
            </a:r>
            <a:r>
              <a:rPr lang="en-US" sz="2000" b="1" dirty="0">
                <a:solidFill>
                  <a:srgbClr val="FF0000"/>
                </a:solidFill>
              </a:rPr>
              <a:t>interacts</a:t>
            </a:r>
            <a:r>
              <a:rPr lang="en-US" sz="2000" dirty="0"/>
              <a:t> with the car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15AFA-1DB1-B210-10CB-FB3994BC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56CB8-D3BB-26FB-5BB2-7B203E13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1249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/>
              <a:t>Relationship b/w objects</a:t>
            </a: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134" y="1515649"/>
            <a:ext cx="11661732" cy="498953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What</a:t>
            </a:r>
            <a:r>
              <a:rPr lang="en-US" dirty="0">
                <a:ea typeface="ＭＳ Ｐゴシック" panose="020B0600070205080204" pitchFamily="34" charset="-128"/>
              </a:rPr>
              <a:t> is a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between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objects</a:t>
            </a:r>
            <a:r>
              <a:rPr lang="en-US" dirty="0">
                <a:ea typeface="ＭＳ Ｐゴシック" panose="020B0600070205080204" pitchFamily="34" charset="-128"/>
              </a:rPr>
              <a:t>?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ea typeface="ＭＳ Ｐゴシック" panose="020B0600070205080204" pitchFamily="34" charset="-128"/>
              </a:rPr>
              <a:t>Whenever an object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interacts</a:t>
            </a:r>
            <a:r>
              <a:rPr lang="en-US" dirty="0">
                <a:ea typeface="ＭＳ Ｐゴシック" panose="020B0600070205080204" pitchFamily="34" charset="-128"/>
              </a:rPr>
              <a:t> with another…</a:t>
            </a:r>
          </a:p>
          <a:p>
            <a:pPr>
              <a:lnSpc>
                <a:spcPct val="170000"/>
              </a:lnSpc>
            </a:pPr>
            <a:r>
              <a:rPr lang="en-US" dirty="0">
                <a:ea typeface="ＭＳ Ｐゴシック" panose="020B0600070205080204" pitchFamily="34" charset="-128"/>
              </a:rPr>
              <a:t>In real life</a:t>
            </a:r>
          </a:p>
          <a:p>
            <a:pPr lvl="1"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Object</a:t>
            </a:r>
            <a:r>
              <a:rPr lang="en-US" dirty="0">
                <a:ea typeface="ＭＳ Ｐゴシック" panose="020B0600070205080204" pitchFamily="34" charset="-128"/>
              </a:rPr>
              <a:t> in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real life </a:t>
            </a:r>
            <a:r>
              <a:rPr lang="en-US" dirty="0">
                <a:ea typeface="ＭＳ Ｐゴシック" panose="020B0600070205080204" pitchFamily="34" charset="-128"/>
              </a:rPr>
              <a:t>have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relationships</a:t>
            </a:r>
            <a:r>
              <a:rPr lang="en-US" dirty="0">
                <a:ea typeface="ＭＳ Ｐゴシック" panose="020B0600070205080204" pitchFamily="34" charset="-128"/>
              </a:rPr>
              <a:t> with each other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ea typeface="ＭＳ Ｐゴシック" panose="020B0600070205080204" pitchFamily="34" charset="-128"/>
              </a:rPr>
              <a:t>Only by understanding  these we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understand</a:t>
            </a:r>
            <a:r>
              <a:rPr lang="en-US" dirty="0">
                <a:ea typeface="ＭＳ Ｐゴシック" panose="020B0600070205080204" pitchFamily="34" charset="-128"/>
              </a:rPr>
              <a:t> the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behavior</a:t>
            </a:r>
            <a:r>
              <a:rPr lang="en-US" dirty="0">
                <a:ea typeface="ＭＳ Ｐゴシック" panose="020B0600070205080204" pitchFamily="34" charset="-128"/>
              </a:rPr>
              <a:t> of these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objects</a:t>
            </a:r>
          </a:p>
          <a:p>
            <a:pPr>
              <a:lnSpc>
                <a:spcPct val="170000"/>
              </a:lnSpc>
            </a:pPr>
            <a:r>
              <a:rPr lang="en-US" dirty="0">
                <a:ea typeface="ＭＳ Ｐゴシック" panose="020B0600070205080204" pitchFamily="34" charset="-128"/>
              </a:rPr>
              <a:t>In programming</a:t>
            </a:r>
          </a:p>
          <a:p>
            <a:pPr lvl="1">
              <a:lnSpc>
                <a:spcPct val="170000"/>
              </a:lnSpc>
            </a:pPr>
            <a:r>
              <a:rPr lang="en-US" sz="29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Objects</a:t>
            </a:r>
            <a:r>
              <a:rPr lang="en-US" dirty="0">
                <a:ea typeface="ＭＳ Ｐゴシック" panose="020B0600070205080204" pitchFamily="34" charset="-128"/>
              </a:rPr>
              <a:t> also have </a:t>
            </a:r>
            <a:r>
              <a:rPr lang="en-US" sz="29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dirty="0">
                <a:ea typeface="ＭＳ Ｐゴシック" panose="020B0600070205080204" pitchFamily="34" charset="-128"/>
              </a:rPr>
              <a:t>, </a:t>
            </a:r>
            <a:r>
              <a:rPr lang="en-US" sz="29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hierarchies</a:t>
            </a:r>
            <a:r>
              <a:rPr lang="en-US" dirty="0">
                <a:ea typeface="ＭＳ Ｐゴシック" panose="020B0600070205080204" pitchFamily="34" charset="-128"/>
              </a:rPr>
              <a:t> among them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ea typeface="ＭＳ Ｐゴシック" panose="020B0600070205080204" pitchFamily="34" charset="-128"/>
              </a:rPr>
              <a:t>Understanding these relationships help in writing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reusable</a:t>
            </a:r>
            <a:r>
              <a:rPr lang="en-US" dirty="0">
                <a:ea typeface="ＭＳ Ｐゴシック" panose="020B0600070205080204" pitchFamily="34" charset="-128"/>
              </a:rPr>
              <a:t> and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extensible</a:t>
            </a:r>
            <a:r>
              <a:rPr lang="en-US" dirty="0">
                <a:ea typeface="ＭＳ Ｐゴシック" panose="020B0600070205080204" pitchFamily="34" charset="-128"/>
              </a:rPr>
              <a:t> code –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HOW</a:t>
            </a:r>
            <a:r>
              <a:rPr lang="en-US" dirty="0">
                <a:ea typeface="ＭＳ Ｐゴシック" panose="020B0600070205080204" pitchFamily="34" charset="-128"/>
              </a:rPr>
              <a:t>?</a:t>
            </a:r>
          </a:p>
          <a:p>
            <a:pPr>
              <a:lnSpc>
                <a:spcPct val="170000"/>
              </a:lnSpc>
            </a:pP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30C784-3670-720B-23BD-59E72FDA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B3F43-4C6A-3AE2-4328-0D0676D9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0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650427"/>
            <a:ext cx="11411211" cy="829733"/>
          </a:xfrm>
        </p:spPr>
        <p:txBody>
          <a:bodyPr>
            <a:normAutofit/>
          </a:bodyPr>
          <a:lstStyle/>
          <a:p>
            <a:r>
              <a:rPr lang="en-US" sz="4900" b="1" dirty="0"/>
              <a:t>Identifying</a:t>
            </a:r>
            <a:r>
              <a:rPr lang="en-US" dirty="0"/>
              <a:t> </a:t>
            </a:r>
            <a:r>
              <a:rPr lang="en-US" sz="4900" b="1" dirty="0"/>
              <a:t>relationships b/w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5" y="2154476"/>
            <a:ext cx="11561523" cy="43590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case of real life we identify these relationships with experience and years of training</a:t>
            </a:r>
          </a:p>
          <a:p>
            <a:pPr>
              <a:lnSpc>
                <a:spcPct val="150000"/>
              </a:lnSpc>
            </a:pPr>
            <a:r>
              <a:rPr lang="en-US" dirty="0"/>
              <a:t>How can we identify relationships between programming objects?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Same as in real life!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Class Responsibility Collaborator (CRC) Cards (CRC)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B2DBB-FF40-01BC-DB76-C43D644D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6EC27-5048-C35F-67BF-E31F50E6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9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CRC 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26" y="1556265"/>
            <a:ext cx="6655496" cy="493660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CRC card is divided into three sections: </a:t>
            </a:r>
            <a:r>
              <a:rPr lang="en-US" b="1" dirty="0">
                <a:solidFill>
                  <a:srgbClr val="FF0000"/>
                </a:solidFill>
              </a:rPr>
              <a:t>Class Name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Responsibilities</a:t>
            </a:r>
            <a:r>
              <a:rPr lang="en-US" dirty="0"/>
              <a:t>, 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Collaborators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</a:rPr>
              <a:t>Class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represents collection of similar objects</a:t>
            </a:r>
          </a:p>
          <a:p>
            <a:pPr lvl="1" algn="just">
              <a:lnSpc>
                <a:spcPct val="170000"/>
              </a:lnSpc>
            </a:pPr>
            <a:r>
              <a:rPr lang="en-US" b="1" dirty="0">
                <a:solidFill>
                  <a:srgbClr val="FF0000"/>
                </a:solidFill>
              </a:rPr>
              <a:t>Object</a:t>
            </a:r>
            <a:r>
              <a:rPr lang="en-US" dirty="0"/>
              <a:t> is a person, thing, place, event, concept, screen or report</a:t>
            </a:r>
          </a:p>
          <a:p>
            <a:pPr lvl="1" algn="just">
              <a:lnSpc>
                <a:spcPct val="170000"/>
              </a:lnSpc>
            </a:pPr>
            <a:r>
              <a:rPr lang="en-US" sz="2900" b="1" dirty="0">
                <a:solidFill>
                  <a:srgbClr val="FF0000"/>
                </a:solidFill>
              </a:rPr>
              <a:t>Responsibility</a:t>
            </a:r>
            <a:r>
              <a:rPr lang="en-US" dirty="0"/>
              <a:t> – is anything that </a:t>
            </a:r>
            <a:r>
              <a:rPr lang="en-US" sz="2900" b="1" dirty="0">
                <a:solidFill>
                  <a:srgbClr val="FF0000"/>
                </a:solidFill>
              </a:rPr>
              <a:t>a class knows </a:t>
            </a:r>
            <a:r>
              <a:rPr lang="en-US" dirty="0"/>
              <a:t>or </a:t>
            </a:r>
            <a:r>
              <a:rPr lang="en-US" sz="2900" b="1" dirty="0">
                <a:solidFill>
                  <a:srgbClr val="FF0000"/>
                </a:solidFill>
              </a:rPr>
              <a:t>does</a:t>
            </a:r>
          </a:p>
          <a:p>
            <a:pPr lvl="1" algn="just">
              <a:lnSpc>
                <a:spcPct val="170000"/>
              </a:lnSpc>
            </a:pPr>
            <a:r>
              <a:rPr lang="en-US" sz="2900" b="1" dirty="0">
                <a:solidFill>
                  <a:srgbClr val="FF0000"/>
                </a:solidFill>
              </a:rPr>
              <a:t>Collaborator</a:t>
            </a:r>
            <a:r>
              <a:rPr lang="en-US" dirty="0"/>
              <a:t> – when </a:t>
            </a:r>
            <a:r>
              <a:rPr lang="en-US" sz="2900" b="1" dirty="0">
                <a:solidFill>
                  <a:srgbClr val="FF0000"/>
                </a:solidFill>
              </a:rPr>
              <a:t>a class doesn’t have information </a:t>
            </a:r>
            <a:r>
              <a:rPr lang="en-US" dirty="0"/>
              <a:t>to fulfill a responsibility it needs to collaborate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375567"/>
              </p:ext>
            </p:extLst>
          </p:nvPr>
        </p:nvGraphicFramePr>
        <p:xfrm>
          <a:off x="7753611" y="2224091"/>
          <a:ext cx="3816263" cy="1761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6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05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Class Name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569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Responsibilities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Collaborators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02874" y="1690690"/>
            <a:ext cx="224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CRC Card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E169E-9306-2CCF-9D7B-F50233B0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16C02-6E81-BC9D-F72C-4DD98040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1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502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CRC Modelling -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E09E45-E20F-C7F3-52B8-420BF5A46E7F}"/>
              </a:ext>
            </a:extLst>
          </p:cNvPr>
          <p:cNvGrpSpPr/>
          <p:nvPr/>
        </p:nvGrpSpPr>
        <p:grpSpPr>
          <a:xfrm>
            <a:off x="1929009" y="1377541"/>
            <a:ext cx="8592854" cy="5315749"/>
            <a:chOff x="2362201" y="737666"/>
            <a:chExt cx="7799926" cy="6139228"/>
          </a:xfrm>
        </p:grpSpPr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201" y="737666"/>
              <a:ext cx="7799926" cy="6139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114801" y="2819400"/>
              <a:ext cx="10454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Garamond" panose="02020404030301010803" pitchFamily="18" charset="0"/>
                  <a:ea typeface="Gadugi" panose="020B0502040204020203" pitchFamily="34" charset="0"/>
                </a:rPr>
                <a:t>Order Item</a:t>
              </a:r>
            </a:p>
            <a:p>
              <a:r>
                <a:rPr lang="en-US" sz="1400" b="1" dirty="0">
                  <a:latin typeface="Garamond" panose="02020404030301010803" pitchFamily="18" charset="0"/>
                  <a:ea typeface="Gadugi" panose="020B0502040204020203" pitchFamily="34" charset="0"/>
                </a:rPr>
                <a:t>Customer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57661" y="2819401"/>
              <a:ext cx="13081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Garamond" panose="02020404030301010803" pitchFamily="18" charset="0"/>
                  <a:ea typeface="Gadugi" panose="020B0502040204020203" pitchFamily="34" charset="0"/>
                </a:rPr>
                <a:t>Inventory item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14801" y="4648200"/>
              <a:ext cx="13807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Garamond" panose="02020404030301010803" pitchFamily="18" charset="0"/>
                  <a:ea typeface="Gadugi" panose="020B0502040204020203" pitchFamily="34" charset="0"/>
                </a:rPr>
                <a:t>Order</a:t>
              </a:r>
            </a:p>
            <a:p>
              <a:r>
                <a:rPr lang="en-US" sz="1400" b="1" dirty="0">
                  <a:latin typeface="Garamond" panose="02020404030301010803" pitchFamily="18" charset="0"/>
                  <a:ea typeface="Gadugi" panose="020B0502040204020203" pitchFamily="34" charset="0"/>
                </a:rPr>
                <a:t>Surface address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2A4E5-C8C5-357E-F144-690087EE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A49C-A2EE-754C-EEEB-BD8968E5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41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CRC Cards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CRC cards helped in identifying relationships:</a:t>
            </a:r>
          </a:p>
          <a:p>
            <a:pPr lvl="1"/>
            <a:r>
              <a:rPr lang="en-US" dirty="0"/>
              <a:t>Order item – Inventory item</a:t>
            </a:r>
          </a:p>
          <a:p>
            <a:pPr lvl="1"/>
            <a:r>
              <a:rPr lang="en-US" dirty="0"/>
              <a:t>Order – Order item</a:t>
            </a:r>
          </a:p>
          <a:p>
            <a:pPr lvl="1"/>
            <a:r>
              <a:rPr lang="en-US" dirty="0"/>
              <a:t>Order – Customer</a:t>
            </a:r>
          </a:p>
          <a:p>
            <a:pPr lvl="1"/>
            <a:r>
              <a:rPr lang="en-US" dirty="0"/>
              <a:t>Customer – Street address</a:t>
            </a:r>
          </a:p>
          <a:p>
            <a:pPr lvl="1"/>
            <a:r>
              <a:rPr lang="en-US" dirty="0"/>
              <a:t>Customer – Order </a:t>
            </a:r>
          </a:p>
          <a:p>
            <a:r>
              <a:rPr lang="en-US" dirty="0"/>
              <a:t>How are these converted into interactions between programming objects?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CD615-BE94-9988-A10C-6BB4F777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A59B8-0002-09EB-041B-07A12160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61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Relationship</a:t>
            </a:r>
            <a:r>
              <a:rPr lang="en-US" dirty="0"/>
              <a:t> </a:t>
            </a:r>
            <a:r>
              <a:rPr lang="en-US" b="1" dirty="0"/>
              <a:t>type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special “</a:t>
            </a:r>
            <a:r>
              <a:rPr lang="en-US" b="1" dirty="0">
                <a:solidFill>
                  <a:srgbClr val="FF0000"/>
                </a:solidFill>
              </a:rPr>
              <a:t>relationship type</a:t>
            </a:r>
            <a:r>
              <a:rPr lang="en-US" dirty="0"/>
              <a:t>” words to describe these relationships. These are:</a:t>
            </a:r>
          </a:p>
          <a:p>
            <a:pPr lvl="1"/>
            <a:r>
              <a:rPr lang="en-US" dirty="0"/>
              <a:t>part-of</a:t>
            </a:r>
          </a:p>
          <a:p>
            <a:pPr lvl="1"/>
            <a:r>
              <a:rPr lang="en-US" dirty="0"/>
              <a:t>has-a</a:t>
            </a:r>
          </a:p>
          <a:p>
            <a:pPr lvl="1"/>
            <a:r>
              <a:rPr lang="en-US" dirty="0"/>
              <a:t>uses-a</a:t>
            </a:r>
          </a:p>
          <a:p>
            <a:pPr lvl="1"/>
            <a:r>
              <a:rPr lang="en-US" dirty="0"/>
              <a:t>depends-on</a:t>
            </a:r>
          </a:p>
          <a:p>
            <a:pPr lvl="1"/>
            <a:r>
              <a:rPr lang="en-US" dirty="0"/>
              <a:t>member-of</a:t>
            </a:r>
          </a:p>
          <a:p>
            <a:pPr lvl="1"/>
            <a:r>
              <a:rPr lang="en-US" dirty="0"/>
              <a:t>is-a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9578" y="2855579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Can we use these words to describe relationships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we identified?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535471" y="3026079"/>
            <a:ext cx="457200" cy="28194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89578" y="4240574"/>
            <a:ext cx="487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How are these words useful in context of C++ classes?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839502-9958-9B14-1416-B3394398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9C81C7-D768-1DD4-2B24-4D42D81F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80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Other Examples Of Relationship 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example: </a:t>
            </a:r>
          </a:p>
          <a:p>
            <a:pPr lvl="1"/>
            <a:r>
              <a:rPr lang="en-US" dirty="0"/>
              <a:t>a square “</a:t>
            </a:r>
            <a:r>
              <a:rPr lang="en-US" b="1" dirty="0">
                <a:solidFill>
                  <a:srgbClr val="FF0000"/>
                </a:solidFill>
              </a:rPr>
              <a:t>is-a</a:t>
            </a:r>
            <a:r>
              <a:rPr lang="en-US" dirty="0"/>
              <a:t>” shape</a:t>
            </a:r>
          </a:p>
          <a:p>
            <a:pPr lvl="1"/>
            <a:r>
              <a:rPr lang="en-US" dirty="0"/>
              <a:t>a car “</a:t>
            </a:r>
            <a:r>
              <a:rPr lang="en-US" b="1" dirty="0">
                <a:solidFill>
                  <a:srgbClr val="FF0000"/>
                </a:solidFill>
              </a:rPr>
              <a:t>has-a</a:t>
            </a:r>
            <a:r>
              <a:rPr lang="en-US" dirty="0"/>
              <a:t>” steering wheel</a:t>
            </a:r>
          </a:p>
          <a:p>
            <a:pPr lvl="1"/>
            <a:r>
              <a:rPr lang="en-US" dirty="0"/>
              <a:t>a computer programmer “</a:t>
            </a:r>
            <a:r>
              <a:rPr lang="en-US" b="1" dirty="0">
                <a:solidFill>
                  <a:srgbClr val="FF0000"/>
                </a:solidFill>
              </a:rPr>
              <a:t>uses-a</a:t>
            </a:r>
            <a:r>
              <a:rPr lang="en-US" dirty="0"/>
              <a:t>” keyboard</a:t>
            </a:r>
          </a:p>
          <a:p>
            <a:pPr lvl="1"/>
            <a:r>
              <a:rPr lang="en-US" dirty="0"/>
              <a:t>a flower “</a:t>
            </a:r>
            <a:r>
              <a:rPr lang="en-US" b="1" dirty="0">
                <a:solidFill>
                  <a:srgbClr val="FF0000"/>
                </a:solidFill>
              </a:rPr>
              <a:t>depends-on</a:t>
            </a:r>
            <a:r>
              <a:rPr lang="en-US" dirty="0"/>
              <a:t>” a bee for pollination</a:t>
            </a:r>
          </a:p>
          <a:p>
            <a:pPr lvl="1"/>
            <a:r>
              <a:rPr lang="en-US" dirty="0"/>
              <a:t>a student is a “</a:t>
            </a:r>
            <a:r>
              <a:rPr lang="en-US" b="1" dirty="0">
                <a:solidFill>
                  <a:srgbClr val="FF0000"/>
                </a:solidFill>
              </a:rPr>
              <a:t>member-of</a:t>
            </a:r>
            <a:r>
              <a:rPr lang="en-US" dirty="0"/>
              <a:t>” a class</a:t>
            </a:r>
          </a:p>
          <a:p>
            <a:pPr lvl="1"/>
            <a:r>
              <a:rPr lang="en-US" dirty="0"/>
              <a:t>Your brain exists as “</a:t>
            </a:r>
            <a:r>
              <a:rPr lang="en-US" b="1" dirty="0">
                <a:solidFill>
                  <a:srgbClr val="FF0000"/>
                </a:solidFill>
              </a:rPr>
              <a:t>part-of</a:t>
            </a:r>
            <a:r>
              <a:rPr lang="en-US" dirty="0"/>
              <a:t>” you</a:t>
            </a:r>
          </a:p>
          <a:p>
            <a:r>
              <a:rPr lang="en-US" dirty="0"/>
              <a:t>All of these </a:t>
            </a:r>
            <a:r>
              <a:rPr lang="en-US" b="1" dirty="0">
                <a:solidFill>
                  <a:srgbClr val="FF0000"/>
                </a:solidFill>
              </a:rPr>
              <a:t>relation types </a:t>
            </a:r>
            <a:r>
              <a:rPr lang="en-US" dirty="0"/>
              <a:t>have useful analogies in </a:t>
            </a:r>
            <a:r>
              <a:rPr lang="en-US" b="1" dirty="0">
                <a:solidFill>
                  <a:srgbClr val="FF0000"/>
                </a:solidFill>
              </a:rPr>
              <a:t>C++.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A85D3-C38C-1C11-A8C5-8A991140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42256-EAB3-1FE0-955E-DA537CF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3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Types of Relationships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Association</a:t>
            </a:r>
          </a:p>
          <a:p>
            <a:r>
              <a:rPr lang="en-US" dirty="0"/>
              <a:t>Generalization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3159691" y="2299823"/>
            <a:ext cx="2226501" cy="709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>
            <a:off x="5486400" y="2506261"/>
            <a:ext cx="381000" cy="10052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867400" y="2520102"/>
            <a:ext cx="21916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Aggregation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Association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9C9D3-C7E1-E77B-CB79-8DF42953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60F21-7764-D8E8-8054-F50BE38B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9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Relationships between Objects</a:t>
            </a:r>
          </a:p>
        </p:txBody>
      </p:sp>
      <p:pic>
        <p:nvPicPr>
          <p:cNvPr id="19458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1594982"/>
            <a:ext cx="5105400" cy="510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628900" y="1594981"/>
            <a:ext cx="0" cy="480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90701" y="159498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6102449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1032171" y="3810614"/>
            <a:ext cx="273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Strength of relationship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819900" y="4021785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15100" y="4147681"/>
            <a:ext cx="2590800" cy="1333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05900" y="3824516"/>
            <a:ext cx="156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Object </a:t>
            </a:r>
          </a:p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88493-AE89-015B-77EB-80D52883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92E7-2CBD-1124-376A-B7C4BA9F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2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Object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Process of building </a:t>
            </a:r>
            <a:r>
              <a:rPr lang="en-US" b="1" dirty="0">
                <a:solidFill>
                  <a:srgbClr val="FF0000"/>
                </a:solidFill>
              </a:rPr>
              <a:t>complex objects </a:t>
            </a:r>
            <a:r>
              <a:rPr lang="en-US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simpler ones</a:t>
            </a:r>
            <a:r>
              <a:rPr lang="en-US" dirty="0"/>
              <a:t> is called </a:t>
            </a:r>
            <a:r>
              <a:rPr lang="en-US" b="1" dirty="0">
                <a:solidFill>
                  <a:srgbClr val="FF0000"/>
                </a:solidFill>
              </a:rPr>
              <a:t>object composition</a:t>
            </a:r>
          </a:p>
          <a:p>
            <a:pPr>
              <a:lnSpc>
                <a:spcPct val="150000"/>
              </a:lnSpc>
            </a:pPr>
            <a:r>
              <a:rPr lang="en-US" dirty="0"/>
              <a:t>This relationship is described using “</a:t>
            </a:r>
            <a:r>
              <a:rPr lang="en-US" b="1" dirty="0">
                <a:solidFill>
                  <a:srgbClr val="FF0000"/>
                </a:solidFill>
              </a:rPr>
              <a:t>has-a</a:t>
            </a:r>
            <a:r>
              <a:rPr lang="en-US" dirty="0"/>
              <a:t>” word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Car – engine, steering wheel, frame etc.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Computer – CPU, motherboard, memory etc.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Complex part </a:t>
            </a:r>
            <a:r>
              <a:rPr lang="en-US" dirty="0"/>
              <a:t>is called the </a:t>
            </a:r>
            <a:r>
              <a:rPr lang="en-US" dirty="0">
                <a:solidFill>
                  <a:srgbClr val="FF0000"/>
                </a:solidFill>
              </a:rPr>
              <a:t>whole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Simpler object </a:t>
            </a:r>
            <a:r>
              <a:rPr lang="en-US" dirty="0"/>
              <a:t>is called the </a:t>
            </a:r>
            <a:r>
              <a:rPr lang="en-US" dirty="0">
                <a:solidFill>
                  <a:srgbClr val="FF0000"/>
                </a:solidFill>
              </a:rPr>
              <a:t>part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0CB41-ECC8-A546-BAC8-5B79E6A5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7D139-F440-BA13-E0F3-6153176D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Types of object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types</a:t>
            </a:r>
          </a:p>
          <a:p>
            <a:pPr lvl="1"/>
            <a:r>
              <a:rPr lang="en-US" dirty="0"/>
              <a:t>Composition</a:t>
            </a:r>
          </a:p>
          <a:p>
            <a:pPr lvl="1"/>
            <a:r>
              <a:rPr lang="en-US" dirty="0"/>
              <a:t>Aggregation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50483-45A2-D0BA-9183-11A9D43D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8D9E1-5F76-9ED1-8E17-B45D9B06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12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995" y="1527724"/>
            <a:ext cx="11674257" cy="41605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Composition models “</a:t>
            </a:r>
            <a:r>
              <a:rPr lang="en-US" sz="2400" b="1" dirty="0">
                <a:solidFill>
                  <a:srgbClr val="FF0000"/>
                </a:solidFill>
              </a:rPr>
              <a:t>part-of</a:t>
            </a:r>
            <a:r>
              <a:rPr lang="en-US" sz="2400" dirty="0"/>
              <a:t>” relationships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These relationships are </a:t>
            </a:r>
            <a:r>
              <a:rPr lang="en-US" sz="2400" b="1" dirty="0">
                <a:solidFill>
                  <a:srgbClr val="FF0000"/>
                </a:solidFill>
              </a:rPr>
              <a:t>part-whole</a:t>
            </a:r>
            <a:r>
              <a:rPr lang="en-US" sz="2400" dirty="0"/>
              <a:t> relationships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Composition is often used to model </a:t>
            </a:r>
            <a:r>
              <a:rPr lang="en-US" sz="2400" b="1" dirty="0">
                <a:solidFill>
                  <a:srgbClr val="FF0000"/>
                </a:solidFill>
              </a:rPr>
              <a:t>physical relationships</a:t>
            </a:r>
            <a:r>
              <a:rPr lang="en-US" sz="2400" dirty="0"/>
              <a:t>, where one object is physically contained inside another.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Heart is </a:t>
            </a:r>
            <a:r>
              <a:rPr lang="en-US" sz="2000" b="1" dirty="0">
                <a:solidFill>
                  <a:srgbClr val="FF0000"/>
                </a:solidFill>
              </a:rPr>
              <a:t>part-of</a:t>
            </a:r>
            <a:r>
              <a:rPr lang="en-US" sz="2000" dirty="0"/>
              <a:t> body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Fish are </a:t>
            </a:r>
            <a:r>
              <a:rPr lang="en-US" sz="2000" b="1" dirty="0">
                <a:solidFill>
                  <a:srgbClr val="FF0000"/>
                </a:solidFill>
              </a:rPr>
              <a:t>part-of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pond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2438400" y="5334000"/>
            <a:ext cx="4419600" cy="1219200"/>
            <a:chOff x="576" y="3168"/>
            <a:chExt cx="2784" cy="76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Circle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2" y="3216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Point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V="1">
              <a:off x="1632" y="33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1488" y="3288"/>
              <a:ext cx="144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Text Box 18"/>
            <p:cNvSpPr txBox="1">
              <a:spLocks noChangeArrowheads="1"/>
            </p:cNvSpPr>
            <p:nvPr/>
          </p:nvSpPr>
          <p:spPr bwMode="auto">
            <a:xfrm>
              <a:off x="2640" y="3600"/>
              <a:ext cx="3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/>
                <a:t>3..*</a:t>
              </a:r>
            </a:p>
          </p:txBody>
        </p: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2304" y="3168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</a:t>
              </a:r>
            </a:p>
          </p:txBody>
        </p:sp>
        <p:sp>
          <p:nvSpPr>
            <p:cNvPr id="11" name="Rectangle 22"/>
            <p:cNvSpPr>
              <a:spLocks noChangeArrowheads="1"/>
            </p:cNvSpPr>
            <p:nvPr/>
          </p:nvSpPr>
          <p:spPr bwMode="auto">
            <a:xfrm>
              <a:off x="576" y="3648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Polygon</a:t>
              </a:r>
            </a:p>
          </p:txBody>
        </p:sp>
        <p:sp>
          <p:nvSpPr>
            <p:cNvPr id="12" name="AutoShape 24"/>
            <p:cNvSpPr>
              <a:spLocks noChangeArrowheads="1"/>
            </p:cNvSpPr>
            <p:nvPr/>
          </p:nvSpPr>
          <p:spPr bwMode="auto">
            <a:xfrm>
              <a:off x="1488" y="3720"/>
              <a:ext cx="144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3" name="AutoShape 26"/>
            <p:cNvCxnSpPr>
              <a:cxnSpLocks noChangeShapeType="1"/>
              <a:stCxn id="12" idx="3"/>
              <a:endCxn id="6" idx="2"/>
            </p:cNvCxnSpPr>
            <p:nvPr/>
          </p:nvCxnSpPr>
          <p:spPr bwMode="auto">
            <a:xfrm flipV="1">
              <a:off x="1632" y="3504"/>
              <a:ext cx="1344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oup 36"/>
          <p:cNvGrpSpPr>
            <a:grpSpLocks/>
          </p:cNvGrpSpPr>
          <p:nvPr/>
        </p:nvGrpSpPr>
        <p:grpSpPr bwMode="auto">
          <a:xfrm>
            <a:off x="7848600" y="5486400"/>
            <a:ext cx="1524000" cy="1066800"/>
            <a:chOff x="3984" y="3216"/>
            <a:chExt cx="960" cy="672"/>
          </a:xfrm>
        </p:grpSpPr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3984" y="3216"/>
              <a:ext cx="96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4080" y="3504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Point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4128" y="3216"/>
              <a:ext cx="5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b="1" dirty="0"/>
                <a:t>Circle</a:t>
              </a:r>
            </a:p>
          </p:txBody>
        </p:sp>
      </p:grp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A132A69-A0AA-D67D-941D-D17F339D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4C3E9BC-3AD3-D726-F7B9-FE622A5D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42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 is a part-of Car (Example)</a:t>
            </a:r>
          </a:p>
        </p:txBody>
      </p: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10463477" y="1690690"/>
            <a:ext cx="1524000" cy="1066800"/>
            <a:chOff x="3984" y="3216"/>
            <a:chExt cx="960" cy="672"/>
          </a:xfrm>
        </p:grpSpPr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3984" y="3216"/>
              <a:ext cx="960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4080" y="3504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10" name="Rectangle 34"/>
            <p:cNvSpPr>
              <a:spLocks noChangeArrowheads="1"/>
            </p:cNvSpPr>
            <p:nvPr/>
          </p:nvSpPr>
          <p:spPr bwMode="auto">
            <a:xfrm>
              <a:off x="4128" y="3216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en-US" b="1" dirty="0"/>
                <a:t>Car</a:t>
              </a:r>
            </a:p>
          </p:txBody>
        </p:sp>
      </p:grp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3" y="1369053"/>
            <a:ext cx="8513179" cy="5123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E02E425C-CCAB-4798-DED3-95BF9A7DB5A1}"/>
              </a:ext>
            </a:extLst>
          </p:cNvPr>
          <p:cNvSpPr/>
          <p:nvPr/>
        </p:nvSpPr>
        <p:spPr>
          <a:xfrm>
            <a:off x="8393439" y="3016253"/>
            <a:ext cx="3798561" cy="2972143"/>
          </a:xfrm>
          <a:prstGeom prst="cloudCallou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Car is </a:t>
            </a:r>
            <a:r>
              <a:rPr lang="en-US" sz="1400" b="1" dirty="0">
                <a:solidFill>
                  <a:srgbClr val="FF0000"/>
                </a:solidFill>
              </a:rPr>
              <a:t>composed of </a:t>
            </a:r>
            <a:r>
              <a:rPr lang="en-US" sz="1400" dirty="0">
                <a:solidFill>
                  <a:schemeClr val="tx1"/>
                </a:solidFill>
              </a:rPr>
              <a:t>Engine, therefore, the creation and destruction of the Engine object is managed by the Car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The engine object </a:t>
            </a:r>
            <a:r>
              <a:rPr lang="en-US" sz="1400" b="1" dirty="0">
                <a:solidFill>
                  <a:srgbClr val="FF0000"/>
                </a:solidFill>
              </a:rPr>
              <a:t>CANNOT </a:t>
            </a:r>
            <a:r>
              <a:rPr lang="en-US" sz="1400" dirty="0">
                <a:solidFill>
                  <a:schemeClr val="tx1"/>
                </a:solidFill>
              </a:rPr>
              <a:t>exist without the Car object</a:t>
            </a:r>
            <a:endParaRPr lang="en-PK" sz="1400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39A32-C598-9121-C7DD-2E8FAC48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B1D19-6A86-F878-09C8-3F13B31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84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07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Composition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281" y="1671017"/>
            <a:ext cx="10515600" cy="499033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whole is </a:t>
            </a:r>
            <a:r>
              <a:rPr lang="en-US" dirty="0">
                <a:solidFill>
                  <a:srgbClr val="0070C0"/>
                </a:solidFill>
              </a:rPr>
              <a:t>composed of </a:t>
            </a:r>
            <a:r>
              <a:rPr lang="en-US" dirty="0"/>
              <a:t>the part</a:t>
            </a:r>
          </a:p>
          <a:p>
            <a:pPr lvl="1"/>
            <a:r>
              <a:rPr lang="en-US" dirty="0"/>
              <a:t>i.e. the </a:t>
            </a:r>
            <a:r>
              <a:rPr lang="en-US" dirty="0">
                <a:solidFill>
                  <a:srgbClr val="0070C0"/>
                </a:solidFill>
              </a:rPr>
              <a:t>part object </a:t>
            </a:r>
            <a:r>
              <a:rPr lang="en-US" dirty="0"/>
              <a:t>is a </a:t>
            </a:r>
            <a:r>
              <a:rPr lang="en-US" b="1" i="1" dirty="0">
                <a:solidFill>
                  <a:srgbClr val="FF0000"/>
                </a:solidFill>
              </a:rPr>
              <a:t>data member </a:t>
            </a:r>
            <a:r>
              <a:rPr lang="en-US" dirty="0"/>
              <a:t>of the </a:t>
            </a:r>
            <a:r>
              <a:rPr lang="en-US" dirty="0">
                <a:solidFill>
                  <a:srgbClr val="0070C0"/>
                </a:solidFill>
              </a:rPr>
              <a:t>whole class</a:t>
            </a:r>
          </a:p>
          <a:p>
            <a:pPr lvl="1"/>
            <a:r>
              <a:rPr lang="en-US" dirty="0"/>
              <a:t>e.g. the engine object is a data member of the Car class</a:t>
            </a:r>
          </a:p>
          <a:p>
            <a:endParaRPr lang="en-US" dirty="0"/>
          </a:p>
          <a:p>
            <a:r>
              <a:rPr lang="en-US" dirty="0"/>
              <a:t>The part </a:t>
            </a:r>
            <a:r>
              <a:rPr lang="en-US" dirty="0">
                <a:solidFill>
                  <a:srgbClr val="0070C0"/>
                </a:solidFill>
              </a:rPr>
              <a:t>can only belong to one whole </a:t>
            </a:r>
            <a:r>
              <a:rPr lang="en-US" dirty="0"/>
              <a:t>at a time</a:t>
            </a:r>
          </a:p>
          <a:p>
            <a:pPr lvl="1"/>
            <a:r>
              <a:rPr lang="en-US" dirty="0"/>
              <a:t>i.e. a part object can only be a </a:t>
            </a:r>
            <a:r>
              <a:rPr lang="en-US" b="1" i="1" dirty="0">
                <a:solidFill>
                  <a:srgbClr val="FF0000"/>
                </a:solidFill>
              </a:rPr>
              <a:t>data member of a single whole object at one time</a:t>
            </a:r>
          </a:p>
          <a:p>
            <a:pPr lvl="1"/>
            <a:r>
              <a:rPr lang="en-US" dirty="0"/>
              <a:t>e.g. a heart that is part of one Human cannot be a part of another Human at the same time</a:t>
            </a:r>
          </a:p>
          <a:p>
            <a:pPr lvl="1"/>
            <a:endParaRPr lang="en-US" dirty="0"/>
          </a:p>
          <a:p>
            <a:r>
              <a:rPr lang="en-US" dirty="0"/>
              <a:t>The part has </a:t>
            </a:r>
            <a:r>
              <a:rPr lang="en-US" dirty="0">
                <a:solidFill>
                  <a:srgbClr val="0070C0"/>
                </a:solidFill>
              </a:rPr>
              <a:t>its existence managed by the whole </a:t>
            </a:r>
            <a:endParaRPr lang="en-US" dirty="0"/>
          </a:p>
          <a:p>
            <a:pPr lvl="1"/>
            <a:r>
              <a:rPr lang="en-US" dirty="0"/>
              <a:t>i.e. the existence of the part object </a:t>
            </a:r>
            <a:r>
              <a:rPr lang="en-US" b="1" i="1" dirty="0">
                <a:solidFill>
                  <a:srgbClr val="FF0000"/>
                </a:solidFill>
              </a:rPr>
              <a:t>is controlled by the whole object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e.g. the creation and destruction of the engine object is managed by the Car object</a:t>
            </a:r>
          </a:p>
          <a:p>
            <a:endParaRPr lang="en-US" dirty="0"/>
          </a:p>
          <a:p>
            <a:r>
              <a:rPr lang="en-US" dirty="0"/>
              <a:t>The part </a:t>
            </a:r>
            <a:r>
              <a:rPr lang="en-US" dirty="0">
                <a:solidFill>
                  <a:srgbClr val="0070C0"/>
                </a:solidFill>
              </a:rPr>
              <a:t>does not know about the existence </a:t>
            </a:r>
            <a:r>
              <a:rPr lang="en-US" dirty="0"/>
              <a:t>of the whole – </a:t>
            </a:r>
            <a:r>
              <a:rPr lang="en-US" b="1" i="1" dirty="0">
                <a:solidFill>
                  <a:srgbClr val="FF0000"/>
                </a:solidFill>
              </a:rPr>
              <a:t>unidirectional</a:t>
            </a:r>
          </a:p>
          <a:p>
            <a:pPr lvl="1"/>
            <a:r>
              <a:rPr lang="en-US" dirty="0"/>
              <a:t>i.e. the part object is a data member of the whole class, the part object </a:t>
            </a:r>
            <a:r>
              <a:rPr lang="en-US" b="1" i="1" dirty="0">
                <a:solidFill>
                  <a:srgbClr val="FF0000"/>
                </a:solidFill>
              </a:rPr>
              <a:t>knows nothing about the whole class</a:t>
            </a:r>
            <a:r>
              <a:rPr lang="en-US" dirty="0"/>
              <a:t>, cannot access its functions</a:t>
            </a:r>
          </a:p>
          <a:p>
            <a:pPr lvl="1"/>
            <a:r>
              <a:rPr lang="en-US" dirty="0"/>
              <a:t>e.g. the engine object cannot call functions of Car class but Car can interact with the engine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EB1-1099-CC13-0FF6-15EC047D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9C8A3-2986-2215-4BC8-9EA74A10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130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Composition and subclasses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909" y="1497860"/>
            <a:ext cx="6509484" cy="5072062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/>
              <a:t>When/why create a subclass instead of direct implementation of a feature?</a:t>
            </a:r>
          </a:p>
          <a:p>
            <a:pPr lvl="1" algn="just">
              <a:lnSpc>
                <a:spcPct val="160000"/>
              </a:lnSpc>
            </a:pPr>
            <a:r>
              <a:rPr lang="en-US" sz="1800" dirty="0"/>
              <a:t>Car (whole) Engine (part) example</a:t>
            </a:r>
          </a:p>
          <a:p>
            <a:pPr algn="just">
              <a:lnSpc>
                <a:spcPct val="160000"/>
              </a:lnSpc>
            </a:pPr>
            <a:r>
              <a:rPr lang="en-US" sz="2400" dirty="0"/>
              <a:t>Composition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subclass</a:t>
            </a:r>
          </a:p>
          <a:p>
            <a:pPr lvl="1" algn="just">
              <a:lnSpc>
                <a:spcPct val="16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Each individual class </a:t>
            </a:r>
            <a:r>
              <a:rPr lang="en-US" sz="1800" dirty="0"/>
              <a:t>should be focused on performing </a:t>
            </a:r>
            <a:r>
              <a:rPr lang="en-US" sz="1800" b="1" dirty="0">
                <a:solidFill>
                  <a:srgbClr val="FF0000"/>
                </a:solidFill>
              </a:rPr>
              <a:t>one task </a:t>
            </a:r>
            <a:r>
              <a:rPr lang="en-US" sz="1800" dirty="0"/>
              <a:t>(simple and straight forward)</a:t>
            </a:r>
          </a:p>
          <a:p>
            <a:pPr lvl="1" algn="just">
              <a:lnSpc>
                <a:spcPct val="160000"/>
              </a:lnSpc>
            </a:pPr>
            <a:r>
              <a:rPr lang="en-US" sz="1800" dirty="0"/>
              <a:t>Each subclass can be </a:t>
            </a:r>
            <a:r>
              <a:rPr lang="en-US" sz="1800" b="1" dirty="0">
                <a:solidFill>
                  <a:srgbClr val="FF0000"/>
                </a:solidFill>
              </a:rPr>
              <a:t>self-contained</a:t>
            </a:r>
            <a:r>
              <a:rPr lang="en-US" sz="1800" dirty="0"/>
              <a:t>, which makes them </a:t>
            </a:r>
            <a:r>
              <a:rPr lang="en-US" sz="1800" b="1" dirty="0">
                <a:solidFill>
                  <a:srgbClr val="FF0000"/>
                </a:solidFill>
              </a:rPr>
              <a:t>reusable</a:t>
            </a:r>
            <a:r>
              <a:rPr lang="en-US" sz="1800" dirty="0"/>
              <a:t>. </a:t>
            </a:r>
          </a:p>
          <a:p>
            <a:pPr lvl="1" algn="just">
              <a:lnSpc>
                <a:spcPct val="160000"/>
              </a:lnSpc>
            </a:pPr>
            <a:r>
              <a:rPr lang="en-US" sz="1800" dirty="0"/>
              <a:t>The </a:t>
            </a:r>
            <a:r>
              <a:rPr lang="en-US" sz="1800" b="1" dirty="0">
                <a:solidFill>
                  <a:srgbClr val="FF0000"/>
                </a:solidFill>
              </a:rPr>
              <a:t>parent class </a:t>
            </a:r>
            <a:r>
              <a:rPr lang="en-US" sz="1800" dirty="0"/>
              <a:t>can focus only on </a:t>
            </a:r>
            <a:r>
              <a:rPr lang="en-US" sz="1800" b="1" dirty="0">
                <a:solidFill>
                  <a:srgbClr val="FF0000"/>
                </a:solidFill>
              </a:rPr>
              <a:t>coordinating the data flow</a:t>
            </a:r>
            <a:r>
              <a:rPr lang="en-US" sz="1800" dirty="0"/>
              <a:t> between the subclasses. 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012607" y="4191001"/>
            <a:ext cx="3657600" cy="1285875"/>
            <a:chOff x="576" y="3216"/>
            <a:chExt cx="2784" cy="720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Circle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92" y="3216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Point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V="1">
              <a:off x="1632" y="33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1488" y="3288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Rectangle 22"/>
            <p:cNvSpPr>
              <a:spLocks noChangeArrowheads="1"/>
            </p:cNvSpPr>
            <p:nvPr/>
          </p:nvSpPr>
          <p:spPr bwMode="auto">
            <a:xfrm>
              <a:off x="576" y="3648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/>
                <a:t>Polygon</a:t>
              </a:r>
            </a:p>
          </p:txBody>
        </p:sp>
        <p:sp>
          <p:nvSpPr>
            <p:cNvPr id="12" name="AutoShape 24"/>
            <p:cNvSpPr>
              <a:spLocks noChangeArrowheads="1"/>
            </p:cNvSpPr>
            <p:nvPr/>
          </p:nvSpPr>
          <p:spPr bwMode="auto">
            <a:xfrm>
              <a:off x="1488" y="3720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3" name="AutoShape 26"/>
            <p:cNvCxnSpPr>
              <a:cxnSpLocks noChangeShapeType="1"/>
              <a:stCxn id="12" idx="3"/>
              <a:endCxn id="6" idx="2"/>
            </p:cNvCxnSpPr>
            <p:nvPr/>
          </p:nvCxnSpPr>
          <p:spPr bwMode="auto">
            <a:xfrm flipV="1">
              <a:off x="1720" y="3504"/>
              <a:ext cx="1256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" name="Group 35"/>
          <p:cNvGrpSpPr>
            <a:grpSpLocks/>
          </p:cNvGrpSpPr>
          <p:nvPr/>
        </p:nvGrpSpPr>
        <p:grpSpPr bwMode="auto">
          <a:xfrm>
            <a:off x="7868013" y="1709738"/>
            <a:ext cx="3962820" cy="1285875"/>
            <a:chOff x="147" y="3216"/>
            <a:chExt cx="3371" cy="720"/>
          </a:xfrm>
        </p:grpSpPr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Address</a:t>
              </a:r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2520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Employee</a:t>
              </a: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V="1">
              <a:off x="1474" y="33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11"/>
            <p:cNvSpPr>
              <a:spLocks noChangeArrowheads="1"/>
            </p:cNvSpPr>
            <p:nvPr/>
          </p:nvSpPr>
          <p:spPr bwMode="auto">
            <a:xfrm>
              <a:off x="2295" y="3303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47" y="3648"/>
              <a:ext cx="201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 err="1"/>
                <a:t>PerformanceHistory</a:t>
              </a:r>
              <a:endParaRPr lang="en-US" altLang="en-US" sz="2000" dirty="0"/>
            </a:p>
          </p:txBody>
        </p:sp>
        <p:sp>
          <p:nvSpPr>
            <p:cNvPr id="23" name="AutoShape 24"/>
            <p:cNvSpPr>
              <a:spLocks noChangeArrowheads="1"/>
            </p:cNvSpPr>
            <p:nvPr/>
          </p:nvSpPr>
          <p:spPr bwMode="auto">
            <a:xfrm>
              <a:off x="2880" y="3504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24" name="AutoShape 26"/>
            <p:cNvCxnSpPr>
              <a:cxnSpLocks noChangeShapeType="1"/>
              <a:stCxn id="22" idx="3"/>
            </p:cNvCxnSpPr>
            <p:nvPr/>
          </p:nvCxnSpPr>
          <p:spPr bwMode="auto">
            <a:xfrm flipV="1">
              <a:off x="2157" y="3520"/>
              <a:ext cx="855" cy="272"/>
            </a:xfrm>
            <a:prstGeom prst="bentConnector3">
              <a:avLst>
                <a:gd name="adj1" fmla="val 97465"/>
              </a:avLst>
            </a:prstGeom>
            <a:noFill/>
            <a:ln w="9525">
              <a:solidFill>
                <a:schemeClr val="tx1"/>
              </a:solidFill>
              <a:miter lim="800000"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92B44A-4A4A-12C6-04AF-33860FEA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79782C-8DE7-F258-08F5-C802C590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12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Composition and subclasses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104" y="1844457"/>
            <a:ext cx="9144000" cy="2667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Subclass</a:t>
            </a:r>
            <a:r>
              <a:rPr lang="en-US" dirty="0"/>
              <a:t> or </a:t>
            </a:r>
            <a:r>
              <a:rPr lang="en-US" b="1" dirty="0">
                <a:solidFill>
                  <a:srgbClr val="FF0000"/>
                </a:solidFill>
              </a:rPr>
              <a:t>direct implementation</a:t>
            </a:r>
            <a:r>
              <a:rPr lang="en-US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One class one task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Task can be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storage and manipulation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coordination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3860104" y="4892458"/>
            <a:ext cx="4267200" cy="1285875"/>
            <a:chOff x="270" y="3216"/>
            <a:chExt cx="3248" cy="72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Address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20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Employee</a:t>
              </a: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V="1">
              <a:off x="1474" y="33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2295" y="3303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270" y="3648"/>
              <a:ext cx="174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 err="1"/>
                <a:t>PerformanceHistory</a:t>
              </a:r>
              <a:endParaRPr lang="en-US" altLang="en-US" sz="2000" dirty="0"/>
            </a:p>
          </p:txBody>
        </p:sp>
        <p:sp>
          <p:nvSpPr>
            <p:cNvPr id="11" name="AutoShape 24"/>
            <p:cNvSpPr>
              <a:spLocks noChangeArrowheads="1"/>
            </p:cNvSpPr>
            <p:nvPr/>
          </p:nvSpPr>
          <p:spPr bwMode="auto">
            <a:xfrm>
              <a:off x="2880" y="3504"/>
              <a:ext cx="232" cy="144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2" name="AutoShape 26"/>
            <p:cNvCxnSpPr>
              <a:cxnSpLocks noChangeShapeType="1"/>
            </p:cNvCxnSpPr>
            <p:nvPr/>
          </p:nvCxnSpPr>
          <p:spPr bwMode="auto">
            <a:xfrm flipV="1">
              <a:off x="2003" y="3520"/>
              <a:ext cx="1009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96F80-6E21-E800-2E79-580A0975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19DBC3-258A-D678-53AD-38CC85E2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9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Composition 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Relationship between objects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Association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Object composition (</a:t>
            </a:r>
            <a:r>
              <a:rPr lang="en-US" b="1" dirty="0">
                <a:solidFill>
                  <a:srgbClr val="FF0000"/>
                </a:solidFill>
              </a:rPr>
              <a:t>Composition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Aggregation</a:t>
            </a:r>
            <a:r>
              <a:rPr lang="en-US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Object composition </a:t>
            </a:r>
            <a:r>
              <a:rPr lang="en-US" dirty="0"/>
              <a:t>is the process of </a:t>
            </a:r>
            <a:r>
              <a:rPr lang="en-US" b="1" dirty="0">
                <a:solidFill>
                  <a:srgbClr val="FF0000"/>
                </a:solidFill>
              </a:rPr>
              <a:t>creating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complex objects</a:t>
            </a:r>
            <a:r>
              <a:rPr lang="en-US" dirty="0"/>
              <a:t> from </a:t>
            </a:r>
            <a:r>
              <a:rPr lang="en-US" b="1" dirty="0">
                <a:solidFill>
                  <a:srgbClr val="FF0000"/>
                </a:solidFill>
              </a:rPr>
              <a:t>simpler one</a:t>
            </a:r>
            <a:r>
              <a:rPr lang="en-US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Composition (models </a:t>
            </a:r>
            <a:r>
              <a:rPr lang="en-US" b="1" dirty="0">
                <a:solidFill>
                  <a:srgbClr val="FF0000"/>
                </a:solidFill>
              </a:rPr>
              <a:t>part-of </a:t>
            </a:r>
            <a:r>
              <a:rPr lang="en-US" dirty="0"/>
              <a:t>relationship)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Whole is responsible for </a:t>
            </a:r>
            <a:r>
              <a:rPr lang="en-US" b="1" dirty="0">
                <a:solidFill>
                  <a:srgbClr val="FF0000"/>
                </a:solidFill>
              </a:rPr>
              <a:t>existence</a:t>
            </a:r>
            <a:r>
              <a:rPr lang="en-US" dirty="0"/>
              <a:t> of part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47F10-E6DD-CA98-253A-FB6A3A16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3B500-92CE-5143-A115-EE419777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92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448119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An </a:t>
            </a:r>
            <a:r>
              <a:rPr lang="en-US" sz="2400" b="1" dirty="0">
                <a:solidFill>
                  <a:srgbClr val="FF0000"/>
                </a:solidFill>
              </a:rPr>
              <a:t>aggregation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also a </a:t>
            </a:r>
            <a:r>
              <a:rPr lang="en-US" sz="2400" b="1" dirty="0">
                <a:solidFill>
                  <a:srgbClr val="FF0000"/>
                </a:solidFill>
              </a:rPr>
              <a:t>part-whole</a:t>
            </a:r>
            <a:r>
              <a:rPr lang="en-US" sz="2400" dirty="0"/>
              <a:t> relationship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It models </a:t>
            </a:r>
            <a:r>
              <a:rPr lang="en-US" sz="2400" b="1" dirty="0">
                <a:solidFill>
                  <a:srgbClr val="FF0000"/>
                </a:solidFill>
              </a:rPr>
              <a:t>has-a</a:t>
            </a:r>
            <a:r>
              <a:rPr lang="en-US" sz="2400" dirty="0"/>
              <a:t> relationship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Similar to composition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parts</a:t>
            </a:r>
            <a:r>
              <a:rPr lang="en-US" sz="2000" dirty="0"/>
              <a:t> are </a:t>
            </a:r>
            <a:r>
              <a:rPr lang="en-US" sz="2000" b="1" dirty="0">
                <a:solidFill>
                  <a:srgbClr val="FF0000"/>
                </a:solidFill>
              </a:rPr>
              <a:t>contained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within the </a:t>
            </a:r>
            <a:r>
              <a:rPr lang="en-US" sz="2000" b="1" dirty="0">
                <a:solidFill>
                  <a:srgbClr val="FF0000"/>
                </a:solidFill>
              </a:rPr>
              <a:t>whole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It is also a </a:t>
            </a:r>
            <a:r>
              <a:rPr lang="en-US" sz="2000" b="1" dirty="0">
                <a:solidFill>
                  <a:srgbClr val="FF0000"/>
                </a:solidFill>
              </a:rPr>
              <a:t>unidirectional</a:t>
            </a:r>
            <a:r>
              <a:rPr lang="en-US" sz="2000" dirty="0"/>
              <a:t> relationship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Unlike composition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Parts </a:t>
            </a:r>
            <a:r>
              <a:rPr lang="en-US" sz="2000" b="1" dirty="0">
                <a:solidFill>
                  <a:srgbClr val="FF0000"/>
                </a:solidFill>
              </a:rPr>
              <a:t>can belong to more than one </a:t>
            </a:r>
            <a:r>
              <a:rPr lang="en-US" sz="2000" dirty="0"/>
              <a:t>object at a time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Whole</a:t>
            </a:r>
            <a:r>
              <a:rPr lang="en-US" sz="2000" b="1" dirty="0">
                <a:solidFill>
                  <a:srgbClr val="FF0000"/>
                </a:solidFill>
              </a:rPr>
              <a:t> is not responsible for the existence </a:t>
            </a:r>
            <a:r>
              <a:rPr lang="en-US" sz="2000" dirty="0"/>
              <a:t>and lifespan of the parts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C7D56-C57F-3DEB-259A-55188295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D6263-EE80-9A78-E16A-03E527E3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59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279" y="2795586"/>
            <a:ext cx="5092874" cy="3232759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Every person has an address.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One address can belong to more than one person at a time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Address existed before the person starting living at the address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Whole knows of existence (person knows)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Part doesn’t know about the whole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7010400" y="2608849"/>
            <a:ext cx="4343400" cy="4038600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A car door is part of the car.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Door belongs to the car,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It can belong to other things as well, like the body of the car.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The car is not responsible for the creation or destruction of the door.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Whole knows about existence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000" dirty="0"/>
              <a:t>Part doesn’t know about the whole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209229" y="1690690"/>
            <a:ext cx="3608990" cy="514350"/>
            <a:chOff x="576" y="3216"/>
            <a:chExt cx="2969" cy="28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Address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Person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" name="Group 35"/>
          <p:cNvGrpSpPr>
            <a:grpSpLocks/>
          </p:cNvGrpSpPr>
          <p:nvPr/>
        </p:nvGrpSpPr>
        <p:grpSpPr bwMode="auto">
          <a:xfrm>
            <a:off x="7744810" y="1704977"/>
            <a:ext cx="3608990" cy="514350"/>
            <a:chOff x="576" y="3216"/>
            <a:chExt cx="2969" cy="288"/>
          </a:xfrm>
        </p:grpSpPr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Door</a:t>
              </a:r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076037" y="2395536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Singular 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3480" y="2262189"/>
            <a:ext cx="2291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Multiplicative parts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076246A-4C8F-6B28-A5CE-2DC38F19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44BB3D5-36CF-B434-CD9C-9DB3E6D4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9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7856"/>
            <a:ext cx="10515600" cy="495501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part is </a:t>
            </a:r>
            <a:r>
              <a:rPr lang="en-US" dirty="0">
                <a:solidFill>
                  <a:srgbClr val="0070C0"/>
                </a:solidFill>
              </a:rPr>
              <a:t>part of</a:t>
            </a:r>
            <a:r>
              <a:rPr lang="en-US" dirty="0"/>
              <a:t> the whole </a:t>
            </a:r>
          </a:p>
          <a:p>
            <a:pPr lvl="1" algn="just"/>
            <a:r>
              <a:rPr lang="en-US" dirty="0"/>
              <a:t>i.e. the part object is a </a:t>
            </a:r>
            <a:r>
              <a:rPr lang="en-US" b="1" i="1" dirty="0">
                <a:solidFill>
                  <a:srgbClr val="FF0000"/>
                </a:solidFill>
              </a:rPr>
              <a:t>data member </a:t>
            </a:r>
            <a:r>
              <a:rPr lang="en-US" dirty="0"/>
              <a:t>of the whole class</a:t>
            </a:r>
          </a:p>
          <a:p>
            <a:pPr lvl="1" algn="just"/>
            <a:r>
              <a:rPr lang="en-US" dirty="0"/>
              <a:t>e.g. a Patient object is a data member of the Doctor class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part can belong to </a:t>
            </a:r>
            <a:r>
              <a:rPr lang="en-US" dirty="0">
                <a:solidFill>
                  <a:srgbClr val="0070C0"/>
                </a:solidFill>
              </a:rPr>
              <a:t>more than one </a:t>
            </a:r>
            <a:r>
              <a:rPr lang="en-US" dirty="0"/>
              <a:t>wholes at a time</a:t>
            </a:r>
          </a:p>
          <a:p>
            <a:pPr lvl="1" algn="just"/>
            <a:r>
              <a:rPr lang="en-US" dirty="0"/>
              <a:t>i.e. the part object can be </a:t>
            </a:r>
            <a:r>
              <a:rPr lang="en-US" b="1" i="1" dirty="0">
                <a:solidFill>
                  <a:srgbClr val="FF0000"/>
                </a:solidFill>
              </a:rPr>
              <a:t>a data member of multiple whole objects</a:t>
            </a:r>
          </a:p>
          <a:p>
            <a:pPr lvl="1" algn="just"/>
            <a:r>
              <a:rPr lang="en-US" dirty="0"/>
              <a:t>e.g. a single Patient object can be a part of multiple doctor objects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part </a:t>
            </a:r>
            <a:r>
              <a:rPr lang="en-US" dirty="0">
                <a:solidFill>
                  <a:srgbClr val="0070C0"/>
                </a:solidFill>
              </a:rPr>
              <a:t>does not have its existence managed </a:t>
            </a:r>
            <a:r>
              <a:rPr lang="en-US" dirty="0"/>
              <a:t>by the whole </a:t>
            </a:r>
          </a:p>
          <a:p>
            <a:pPr lvl="1" algn="just"/>
            <a:r>
              <a:rPr lang="en-US" dirty="0"/>
              <a:t>i.e. the creation and destruction of the part is </a:t>
            </a:r>
            <a:r>
              <a:rPr lang="en-US" b="1" i="1" dirty="0">
                <a:solidFill>
                  <a:srgbClr val="FF0000"/>
                </a:solidFill>
              </a:rPr>
              <a:t>not done by the whole</a:t>
            </a:r>
          </a:p>
          <a:p>
            <a:pPr lvl="1" algn="just"/>
            <a:r>
              <a:rPr lang="en-US" dirty="0"/>
              <a:t>e.g. the doctor will not create or destroy patient objects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part does </a:t>
            </a:r>
            <a:r>
              <a:rPr lang="en-US" dirty="0">
                <a:solidFill>
                  <a:srgbClr val="0070C0"/>
                </a:solidFill>
              </a:rPr>
              <a:t>not know about the existence </a:t>
            </a:r>
            <a:r>
              <a:rPr lang="en-US" dirty="0"/>
              <a:t>of the whole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D0535-C0ED-3965-EB43-A51EAD17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3B550-59B2-0461-6F54-E6874C21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31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Implementing aggregation VS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893" y="1740470"/>
            <a:ext cx="4495800" cy="45259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b="1" dirty="0"/>
              <a:t>Aggregation</a:t>
            </a:r>
          </a:p>
          <a:p>
            <a:pPr lvl="1" algn="just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Parts</a:t>
            </a:r>
            <a:r>
              <a:rPr lang="en-US" sz="1600" dirty="0"/>
              <a:t> are </a:t>
            </a:r>
            <a:r>
              <a:rPr lang="en-US" sz="1600" b="1" dirty="0">
                <a:solidFill>
                  <a:srgbClr val="FF0000"/>
                </a:solidFill>
              </a:rPr>
              <a:t>added</a:t>
            </a:r>
            <a:r>
              <a:rPr lang="en-US" sz="1600" dirty="0"/>
              <a:t> as </a:t>
            </a:r>
            <a:r>
              <a:rPr lang="en-US" sz="1600" b="1" dirty="0">
                <a:solidFill>
                  <a:srgbClr val="FF0000"/>
                </a:solidFill>
              </a:rPr>
              <a:t>references</a:t>
            </a:r>
            <a:r>
              <a:rPr lang="en-US" sz="1600" dirty="0"/>
              <a:t> or </a:t>
            </a:r>
            <a:r>
              <a:rPr lang="en-US" sz="1600" b="1" dirty="0">
                <a:solidFill>
                  <a:srgbClr val="FF0000"/>
                </a:solidFill>
              </a:rPr>
              <a:t>pointers</a:t>
            </a:r>
          </a:p>
          <a:p>
            <a:pPr lvl="1" algn="just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Whole</a:t>
            </a:r>
            <a:r>
              <a:rPr lang="en-US" sz="1600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not responsible </a:t>
            </a:r>
            <a:r>
              <a:rPr lang="en-US" sz="1600" dirty="0"/>
              <a:t>for creation and deletion</a:t>
            </a:r>
          </a:p>
          <a:p>
            <a:pPr lvl="1" algn="just">
              <a:lnSpc>
                <a:spcPct val="170000"/>
              </a:lnSpc>
            </a:pPr>
            <a:r>
              <a:rPr lang="en-US" sz="1600" dirty="0"/>
              <a:t>Whole takes the objects it is going to point to as: 1) </a:t>
            </a:r>
            <a:r>
              <a:rPr lang="en-US" sz="1600" b="1" dirty="0">
                <a:solidFill>
                  <a:srgbClr val="FF0000"/>
                </a:solidFill>
              </a:rPr>
              <a:t>constructor parameters</a:t>
            </a:r>
            <a:r>
              <a:rPr lang="en-US" sz="1600" dirty="0"/>
              <a:t>; 2) </a:t>
            </a:r>
            <a:r>
              <a:rPr lang="en-US" sz="1600" b="1" dirty="0">
                <a:solidFill>
                  <a:srgbClr val="FF0000"/>
                </a:solidFill>
              </a:rPr>
              <a:t>parts are added later via access functions </a:t>
            </a:r>
          </a:p>
          <a:p>
            <a:pPr lvl="1" algn="just">
              <a:lnSpc>
                <a:spcPct val="170000"/>
              </a:lnSpc>
            </a:pPr>
            <a:r>
              <a:rPr lang="en-US" sz="1600" dirty="0"/>
              <a:t>Parts exists </a:t>
            </a:r>
            <a:r>
              <a:rPr lang="en-US" sz="1600" b="1" dirty="0">
                <a:solidFill>
                  <a:srgbClr val="FF0000"/>
                </a:solidFill>
              </a:rPr>
              <a:t>outside the scope </a:t>
            </a:r>
            <a:r>
              <a:rPr lang="en-US" sz="1600" dirty="0"/>
              <a:t>of whole</a:t>
            </a:r>
          </a:p>
          <a:p>
            <a:pPr>
              <a:lnSpc>
                <a:spcPct val="170000"/>
              </a:lnSpc>
            </a:pP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6351" y="1690690"/>
            <a:ext cx="4495800" cy="45259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b="1" dirty="0"/>
              <a:t>Composition</a:t>
            </a:r>
          </a:p>
          <a:p>
            <a:pPr lvl="1" algn="just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Parts</a:t>
            </a:r>
            <a:r>
              <a:rPr lang="en-US" sz="1600" dirty="0"/>
              <a:t> are </a:t>
            </a:r>
            <a:r>
              <a:rPr lang="en-US" sz="1600" b="1" dirty="0">
                <a:solidFill>
                  <a:srgbClr val="FF0000"/>
                </a:solidFill>
              </a:rPr>
              <a:t>added</a:t>
            </a:r>
            <a:r>
              <a:rPr lang="en-US" sz="1600" dirty="0"/>
              <a:t> as </a:t>
            </a:r>
            <a:r>
              <a:rPr lang="en-US" sz="1600" b="1" dirty="0">
                <a:solidFill>
                  <a:srgbClr val="FF0000"/>
                </a:solidFill>
              </a:rPr>
              <a:t>normal variables </a:t>
            </a:r>
            <a:r>
              <a:rPr lang="en-US" sz="1600" dirty="0"/>
              <a:t>(or pointers)</a:t>
            </a:r>
          </a:p>
          <a:p>
            <a:pPr lvl="1" algn="just">
              <a:lnSpc>
                <a:spcPct val="17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Whole</a:t>
            </a:r>
            <a:r>
              <a:rPr lang="en-US" sz="1600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responsible</a:t>
            </a:r>
            <a:r>
              <a:rPr lang="en-US" sz="1600" dirty="0"/>
              <a:t> for </a:t>
            </a:r>
            <a:r>
              <a:rPr lang="en-US" sz="1600" b="1" dirty="0">
                <a:solidFill>
                  <a:srgbClr val="FF0000"/>
                </a:solidFill>
              </a:rPr>
              <a:t>creation</a:t>
            </a:r>
            <a:r>
              <a:rPr lang="en-US" sz="1600" dirty="0"/>
              <a:t> and </a:t>
            </a:r>
            <a:r>
              <a:rPr lang="en-US" sz="1600" b="1" dirty="0">
                <a:solidFill>
                  <a:srgbClr val="FF0000"/>
                </a:solidFill>
              </a:rPr>
              <a:t>deletion</a:t>
            </a:r>
          </a:p>
          <a:p>
            <a:pPr lvl="1">
              <a:lnSpc>
                <a:spcPct val="170000"/>
              </a:lnSpc>
            </a:pPr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AF267-7214-673D-4690-019AF1E0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1C6B2-C1B5-A983-EF86-060AA3F5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74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Examples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792" y="1297334"/>
            <a:ext cx="3505200" cy="5238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36931"/>
            <a:ext cx="4490834" cy="485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 rot="2966897">
            <a:off x="4085699" y="1243338"/>
            <a:ext cx="100208" cy="9248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27500" y="109080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  <p:sp>
        <p:nvSpPr>
          <p:cNvPr id="16" name="Down Arrow 15"/>
          <p:cNvSpPr/>
          <p:nvPr/>
        </p:nvSpPr>
        <p:spPr>
          <a:xfrm rot="4293525">
            <a:off x="10018747" y="991363"/>
            <a:ext cx="127529" cy="8496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384711" y="1090808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Aggregation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5800F-A913-7156-565C-3F5B715A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63F1-8847-EA6B-636A-076814F6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63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6" grpId="0" animBg="1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Person has an Address -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8282" y="2060532"/>
            <a:ext cx="9856940" cy="4252586"/>
            <a:chOff x="380999" y="1447800"/>
            <a:chExt cx="8466662" cy="3810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181"/>
            <a:stretch/>
          </p:blipFill>
          <p:spPr bwMode="auto">
            <a:xfrm>
              <a:off x="381000" y="1447800"/>
              <a:ext cx="8466661" cy="3320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9" y="4876800"/>
              <a:ext cx="563217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4674A-C09B-733D-7670-92CC3BEB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AC364-D169-2864-47B2-8C00E1BF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09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09" y="1803104"/>
            <a:ext cx="10151582" cy="481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Person has an Address -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39156F-746E-8B5C-0871-35E52FB2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ED838-A365-D46D-3C43-67596041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94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26" y="1705952"/>
            <a:ext cx="9188884" cy="4789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Person has an Address - Example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15B838-3BB3-FDC1-A69E-B0F2641C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BF6BF-1406-C8D4-6E9D-C2C02F38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49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Aggregation or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14476"/>
            <a:ext cx="9144000" cy="838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When to do what?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2147635" y="2729984"/>
            <a:ext cx="3608990" cy="514350"/>
            <a:chOff x="576" y="3216"/>
            <a:chExt cx="2969" cy="28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6595875" y="2729984"/>
            <a:ext cx="3608990" cy="514350"/>
            <a:chOff x="576" y="3216"/>
            <a:chExt cx="2969" cy="288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Engine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Car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2304" y="3296"/>
              <a:ext cx="232" cy="144"/>
            </a:xfrm>
            <a:prstGeom prst="diamond">
              <a:avLst/>
            </a:prstGeom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785875" y="3244334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Repair shop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861" y="3244334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 performance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6082" y="3896464"/>
            <a:ext cx="9111790" cy="5749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Implement the simplest relationship that meets your needs!!!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8495" y="4514452"/>
            <a:ext cx="731482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/>
              <a:t>Not the one that seems like it would fit best in a real-life context.</a:t>
            </a:r>
          </a:p>
          <a:p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7B0B245-A74D-13A3-BD18-ECD3A932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EA9E881-EAC1-9798-F70A-1DBC716D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72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Aggregation/Composition 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790700"/>
            <a:ext cx="9144000" cy="32766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Object composition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Composition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Aggregation</a:t>
            </a:r>
          </a:p>
          <a:p>
            <a:pPr>
              <a:lnSpc>
                <a:spcPct val="150000"/>
              </a:lnSpc>
            </a:pPr>
            <a:r>
              <a:rPr lang="en-US" dirty="0"/>
              <a:t>Used to model relationships where a whole is built from one or more parts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1FB9F-D38D-7674-F366-B314EF97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CFA70-0662-ACE4-605B-5F3FBF79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137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Relationships between Objects</a:t>
            </a:r>
          </a:p>
        </p:txBody>
      </p:sp>
      <p:pic>
        <p:nvPicPr>
          <p:cNvPr id="19458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1690690"/>
            <a:ext cx="5105400" cy="510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628900" y="1690689"/>
            <a:ext cx="0" cy="480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90701" y="169068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6198157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1007119" y="3906322"/>
            <a:ext cx="273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Strength of relationship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819900" y="4117493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515100" y="4243389"/>
            <a:ext cx="2590800" cy="1333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05900" y="3920224"/>
            <a:ext cx="156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Object </a:t>
            </a:r>
          </a:p>
          <a:p>
            <a:r>
              <a:rPr lang="en-US" b="1" dirty="0">
                <a:solidFill>
                  <a:srgbClr val="FF0000"/>
                </a:solidFill>
              </a:rPr>
              <a:t>composition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8511F-72B1-C83A-E575-93848D9B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3385D-6F35-F600-8E19-00FBBF1C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20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6732"/>
            <a:ext cx="10515600" cy="41605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weaker</a:t>
            </a:r>
            <a:r>
              <a:rPr lang="en-US" dirty="0"/>
              <a:t> type of relationship </a:t>
            </a:r>
          </a:p>
          <a:p>
            <a:pPr>
              <a:lnSpc>
                <a:spcPct val="150000"/>
              </a:lnSpc>
            </a:pPr>
            <a:r>
              <a:rPr lang="en-US" dirty="0"/>
              <a:t>Two otherwise </a:t>
            </a:r>
            <a:r>
              <a:rPr lang="en-US" b="1" dirty="0">
                <a:solidFill>
                  <a:srgbClr val="FF0000"/>
                </a:solidFill>
              </a:rPr>
              <a:t>unrelated objects</a:t>
            </a:r>
          </a:p>
          <a:p>
            <a:pPr>
              <a:lnSpc>
                <a:spcPct val="150000"/>
              </a:lnSpc>
            </a:pPr>
            <a:r>
              <a:rPr lang="en-US" dirty="0"/>
              <a:t>There is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implied </a:t>
            </a:r>
            <a:r>
              <a:rPr lang="en-US" b="1" dirty="0">
                <a:solidFill>
                  <a:srgbClr val="FF0000"/>
                </a:solidFill>
              </a:rPr>
              <a:t>whole/part relationship</a:t>
            </a:r>
          </a:p>
          <a:p>
            <a:pPr>
              <a:lnSpc>
                <a:spcPct val="150000"/>
              </a:lnSpc>
            </a:pPr>
            <a:r>
              <a:rPr lang="en-US" dirty="0"/>
              <a:t>Models a </a:t>
            </a:r>
            <a:r>
              <a:rPr lang="en-US" b="1" dirty="0">
                <a:solidFill>
                  <a:srgbClr val="FF0000"/>
                </a:solidFill>
              </a:rPr>
              <a:t>uses-a</a:t>
            </a:r>
            <a:r>
              <a:rPr lang="en-US" dirty="0"/>
              <a:t> relationship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23CFE-71AD-485F-597C-910CCDEF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46FAA-6D96-9439-9490-C21E06EB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03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Association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03737"/>
              </p:ext>
            </p:extLst>
          </p:nvPr>
        </p:nvGraphicFramePr>
        <p:xfrm>
          <a:off x="388308" y="1775564"/>
          <a:ext cx="11173216" cy="259164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4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8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7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Association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4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Whole/Part</a:t>
                      </a:r>
                      <a:r>
                        <a:rPr lang="en-US" baseline="0" dirty="0"/>
                        <a:t> relationship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Whole/Part</a:t>
                      </a:r>
                      <a:r>
                        <a:rPr lang="en-US" baseline="0" dirty="0"/>
                        <a:t> relationship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Associated object is unrelated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4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Associated object can belong to only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one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Associated object</a:t>
                      </a:r>
                      <a:r>
                        <a:rPr lang="en-US" baseline="0" dirty="0"/>
                        <a:t> can belong to multiple objects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Associated object</a:t>
                      </a:r>
                      <a:r>
                        <a:rPr lang="en-US" baseline="0" dirty="0"/>
                        <a:t> can belong to multiple objects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74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Unidirectional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/>
                        <a:t>Unidirectional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Bidirectional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4" name="Group 35"/>
          <p:cNvGrpSpPr>
            <a:grpSpLocks/>
          </p:cNvGrpSpPr>
          <p:nvPr/>
        </p:nvGrpSpPr>
        <p:grpSpPr bwMode="auto">
          <a:xfrm>
            <a:off x="1955104" y="4835523"/>
            <a:ext cx="3608990" cy="514350"/>
            <a:chOff x="576" y="3216"/>
            <a:chExt cx="2969" cy="288"/>
          </a:xfrm>
        </p:grpSpPr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Patient</a:t>
              </a: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Doctor</a:t>
              </a: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35"/>
          <p:cNvGrpSpPr>
            <a:grpSpLocks/>
          </p:cNvGrpSpPr>
          <p:nvPr/>
        </p:nvGrpSpPr>
        <p:grpSpPr bwMode="auto">
          <a:xfrm>
            <a:off x="6222304" y="4828010"/>
            <a:ext cx="3608990" cy="514350"/>
            <a:chOff x="576" y="3216"/>
            <a:chExt cx="2969" cy="288"/>
          </a:xfrm>
        </p:grpSpPr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5"/>
          <p:cNvGrpSpPr>
            <a:grpSpLocks/>
          </p:cNvGrpSpPr>
          <p:nvPr/>
        </p:nvGrpSpPr>
        <p:grpSpPr bwMode="auto">
          <a:xfrm>
            <a:off x="4164904" y="5978523"/>
            <a:ext cx="3608990" cy="514350"/>
            <a:chOff x="576" y="3216"/>
            <a:chExt cx="2969" cy="288"/>
          </a:xfrm>
        </p:grpSpPr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4DF50-3147-A2BD-96EA-399E2921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8D40C-5D62-A3B7-556F-D7972339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444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Association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9036" y="2427334"/>
            <a:ext cx="5341939" cy="4038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The teacher clearly has a relationship with his students and vice versa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It’s not a part/whole (object composition) relationship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A teacher can see many students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A student can see many teachers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Neither of the object’s lifespans are tied to the other.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Bidirectional </a:t>
            </a:r>
          </a:p>
        </p:txBody>
      </p:sp>
      <p:sp>
        <p:nvSpPr>
          <p:cNvPr id="5" name="Content Placeholder 13"/>
          <p:cNvSpPr txBox="1">
            <a:spLocks/>
          </p:cNvSpPr>
          <p:nvPr/>
        </p:nvSpPr>
        <p:spPr>
          <a:xfrm>
            <a:off x="6976630" y="2427334"/>
            <a:ext cx="4343400" cy="41148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A student has a relationship with the route bus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Its not a part/whole relationship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Multiple students can be on a certain route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Neither of the object’s lifespans are tied to the other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200" dirty="0"/>
              <a:t>Unidirectional</a:t>
            </a:r>
          </a:p>
        </p:txBody>
      </p: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1377781" y="1690690"/>
            <a:ext cx="3608990" cy="514350"/>
            <a:chOff x="576" y="3216"/>
            <a:chExt cx="2969" cy="288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7205230" y="1690690"/>
            <a:ext cx="3608990" cy="514350"/>
            <a:chOff x="576" y="3216"/>
            <a:chExt cx="2969" cy="288"/>
          </a:xfrm>
        </p:grpSpPr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F2E14-D06E-6834-C255-E8DA72A2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F037D-8D6D-025D-4D03-038976C0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45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Association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associated object (member) is otherwise </a:t>
            </a:r>
            <a:r>
              <a:rPr lang="en-US" sz="2400" b="1" dirty="0">
                <a:solidFill>
                  <a:srgbClr val="FF0000"/>
                </a:solidFill>
              </a:rPr>
              <a:t>unrelated</a:t>
            </a:r>
            <a:r>
              <a:rPr lang="en-US" sz="2400" dirty="0"/>
              <a:t> to the object (class)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associated object (member) can belong to </a:t>
            </a:r>
            <a:r>
              <a:rPr lang="en-US" sz="2400" b="1" dirty="0">
                <a:solidFill>
                  <a:srgbClr val="FF0000"/>
                </a:solidFill>
              </a:rPr>
              <a:t>more than one object </a:t>
            </a:r>
            <a:r>
              <a:rPr lang="en-US" sz="2400" dirty="0"/>
              <a:t>(class) at a time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associated object (member) </a:t>
            </a:r>
            <a:r>
              <a:rPr lang="en-US" sz="2400" b="1" dirty="0">
                <a:solidFill>
                  <a:srgbClr val="FF0000"/>
                </a:solidFill>
              </a:rPr>
              <a:t>does not</a:t>
            </a:r>
            <a:r>
              <a:rPr lang="en-US" sz="2400" dirty="0"/>
              <a:t> have its </a:t>
            </a:r>
            <a:r>
              <a:rPr lang="en-US" sz="2400" b="1" dirty="0">
                <a:solidFill>
                  <a:srgbClr val="FF0000"/>
                </a:solidFill>
              </a:rPr>
              <a:t>existence</a:t>
            </a:r>
            <a:r>
              <a:rPr lang="en-US" sz="2400" dirty="0"/>
              <a:t> managed by the object (class)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The associated object (member) </a:t>
            </a:r>
            <a:r>
              <a:rPr lang="en-US" sz="2400" b="1" dirty="0">
                <a:solidFill>
                  <a:srgbClr val="FF0000"/>
                </a:solidFill>
              </a:rPr>
              <a:t>may or may not know about the existence </a:t>
            </a:r>
            <a:r>
              <a:rPr lang="en-US" sz="2400" dirty="0"/>
              <a:t>of the object (class)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35044-9771-3B96-7D5E-07D94EE5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39DFE-CB82-AF5F-6869-AB0D467C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82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Implementing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269"/>
            <a:ext cx="10515600" cy="41605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Associations are a </a:t>
            </a:r>
            <a:r>
              <a:rPr lang="en-US" sz="2000" b="1" dirty="0">
                <a:solidFill>
                  <a:srgbClr val="FF0000"/>
                </a:solidFill>
              </a:rPr>
              <a:t>broad type </a:t>
            </a:r>
            <a:r>
              <a:rPr lang="en-US" sz="2000" dirty="0"/>
              <a:t>of relationship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They can be implemented in many different ways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Associations are implemented </a:t>
            </a:r>
            <a:r>
              <a:rPr lang="en-US" sz="1800" b="1" dirty="0">
                <a:solidFill>
                  <a:srgbClr val="FF0000"/>
                </a:solidFill>
              </a:rPr>
              <a:t>using pointers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114" y="3429000"/>
            <a:ext cx="4494072" cy="3188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728" y="3281324"/>
            <a:ext cx="4494072" cy="338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65BF1-1AE8-3C76-2C9D-7C343409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702B-5B87-4DC7-3B9B-46D940CC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080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341"/>
            <a:ext cx="10515600" cy="1325563"/>
          </a:xfrm>
        </p:spPr>
        <p:txBody>
          <a:bodyPr>
            <a:noAutofit/>
          </a:bodyPr>
          <a:lstStyle/>
          <a:p>
            <a:r>
              <a:rPr lang="en-US" b="1" dirty="0"/>
              <a:t>Student-Faculty association -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4A9A87-674E-A479-E597-CA9160181651}"/>
              </a:ext>
            </a:extLst>
          </p:cNvPr>
          <p:cNvGrpSpPr/>
          <p:nvPr/>
        </p:nvGrpSpPr>
        <p:grpSpPr>
          <a:xfrm>
            <a:off x="1559616" y="1443962"/>
            <a:ext cx="9072768" cy="5299431"/>
            <a:chOff x="1387273" y="1193442"/>
            <a:chExt cx="9072768" cy="5299431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7273" y="1209995"/>
              <a:ext cx="9072768" cy="5282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" name="Group 35"/>
            <p:cNvGrpSpPr>
              <a:grpSpLocks/>
            </p:cNvGrpSpPr>
            <p:nvPr/>
          </p:nvGrpSpPr>
          <p:grpSpPr bwMode="auto">
            <a:xfrm>
              <a:off x="6099021" y="1193442"/>
              <a:ext cx="3608990" cy="514350"/>
              <a:chOff x="576" y="3216"/>
              <a:chExt cx="2969" cy="288"/>
            </a:xfrm>
          </p:grpSpPr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91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000" dirty="0"/>
                  <a:t>Student</a:t>
                </a: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2547" y="3216"/>
                <a:ext cx="99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000" dirty="0"/>
                  <a:t>Faculty</a:t>
                </a: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 flipH="1">
                <a:off x="1488" y="3368"/>
                <a:ext cx="10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4F95D-81F3-2C29-583E-8F285A62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34E62-96D8-165D-D667-ED131A76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278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19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Student-Faculty association - 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36794"/>
            <a:ext cx="7848600" cy="564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6297010" y="1054422"/>
            <a:ext cx="3608990" cy="514350"/>
            <a:chOff x="576" y="3216"/>
            <a:chExt cx="2969" cy="288"/>
          </a:xfrm>
        </p:grpSpPr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D3D74-24F6-A6FE-B5B4-156E48A0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1B611-B570-46E4-95A1-C7C49DA1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01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Student-Faculty association - example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873378"/>
            <a:ext cx="6067947" cy="4827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285908" y="2895489"/>
            <a:ext cx="4753692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It was a bi-directional association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Remember to avoid bidirectional associations!!!</a:t>
            </a:r>
          </a:p>
        </p:txBody>
      </p:sp>
      <p:grpSp>
        <p:nvGrpSpPr>
          <p:cNvPr id="9" name="Group 35"/>
          <p:cNvGrpSpPr>
            <a:grpSpLocks/>
          </p:cNvGrpSpPr>
          <p:nvPr/>
        </p:nvGrpSpPr>
        <p:grpSpPr bwMode="auto">
          <a:xfrm>
            <a:off x="7173309" y="1690690"/>
            <a:ext cx="3608990" cy="514350"/>
            <a:chOff x="576" y="3216"/>
            <a:chExt cx="2969" cy="288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Faculty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46F67-56E4-81B8-64BD-9E03EF2F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33C24-6596-70EA-D0B9-53C4060B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046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Reflexive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When </a:t>
            </a:r>
            <a:r>
              <a:rPr lang="en-US" b="1" dirty="0">
                <a:solidFill>
                  <a:srgbClr val="FF0000"/>
                </a:solidFill>
              </a:rPr>
              <a:t>objects</a:t>
            </a:r>
            <a:r>
              <a:rPr lang="en-US" dirty="0"/>
              <a:t> have a </a:t>
            </a:r>
            <a:r>
              <a:rPr lang="en-US" b="1" dirty="0">
                <a:solidFill>
                  <a:srgbClr val="FF0000"/>
                </a:solidFill>
              </a:rPr>
              <a:t>relationship</a:t>
            </a:r>
            <a:r>
              <a:rPr lang="en-US" dirty="0"/>
              <a:t> with </a:t>
            </a:r>
            <a:r>
              <a:rPr lang="en-US" b="1" dirty="0">
                <a:solidFill>
                  <a:srgbClr val="FF0000"/>
                </a:solidFill>
              </a:rPr>
              <a:t>other objects </a:t>
            </a:r>
            <a:r>
              <a:rPr lang="en-US" dirty="0"/>
              <a:t>of the </a:t>
            </a:r>
            <a:r>
              <a:rPr lang="en-US" b="1" dirty="0">
                <a:solidFill>
                  <a:srgbClr val="FF0000"/>
                </a:solidFill>
              </a:rPr>
              <a:t>same type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Consider a course class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105400" y="4104466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Course</a:t>
            </a:r>
          </a:p>
        </p:txBody>
      </p:sp>
      <p:cxnSp>
        <p:nvCxnSpPr>
          <p:cNvPr id="9" name="Elbow Connector 8"/>
          <p:cNvCxnSpPr>
            <a:stCxn id="5" idx="3"/>
            <a:endCxn id="5" idx="0"/>
          </p:cNvCxnSpPr>
          <p:nvPr/>
        </p:nvCxnSpPr>
        <p:spPr>
          <a:xfrm flipH="1" flipV="1">
            <a:off x="6057900" y="4104466"/>
            <a:ext cx="952500" cy="381000"/>
          </a:xfrm>
          <a:prstGeom prst="bentConnector4">
            <a:avLst>
              <a:gd name="adj1" fmla="val -24000"/>
              <a:gd name="adj2" fmla="val 160000"/>
            </a:avLst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35B9-00A5-0632-A02F-7C76E247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F2DAF-8B86-5914-D550-D4611F89E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1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 - 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71" y="1897693"/>
            <a:ext cx="8216109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046924" y="2667000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Course</a:t>
            </a:r>
          </a:p>
        </p:txBody>
      </p:sp>
      <p:cxnSp>
        <p:nvCxnSpPr>
          <p:cNvPr id="6" name="Elbow Connector 5"/>
          <p:cNvCxnSpPr>
            <a:stCxn id="5" idx="3"/>
            <a:endCxn id="5" idx="0"/>
          </p:cNvCxnSpPr>
          <p:nvPr/>
        </p:nvCxnSpPr>
        <p:spPr>
          <a:xfrm flipH="1" flipV="1">
            <a:off x="9999424" y="2667000"/>
            <a:ext cx="952500" cy="381000"/>
          </a:xfrm>
          <a:prstGeom prst="bentConnector4">
            <a:avLst>
              <a:gd name="adj1" fmla="val -24000"/>
              <a:gd name="adj2" fmla="val 160000"/>
            </a:avLst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79B5D-1124-3A54-47C3-3F0A52F7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3EE39-15B8-C6AA-FB48-50714472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84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 - 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082" y="3126288"/>
            <a:ext cx="891419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44008" y="2133542"/>
            <a:ext cx="19050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en-US" sz="2000" dirty="0"/>
              <a:t>Course</a:t>
            </a:r>
          </a:p>
        </p:txBody>
      </p:sp>
      <p:cxnSp>
        <p:nvCxnSpPr>
          <p:cNvPr id="6" name="Elbow Connector 5"/>
          <p:cNvCxnSpPr>
            <a:stCxn id="5" idx="3"/>
            <a:endCxn id="5" idx="0"/>
          </p:cNvCxnSpPr>
          <p:nvPr/>
        </p:nvCxnSpPr>
        <p:spPr>
          <a:xfrm flipH="1" flipV="1">
            <a:off x="8596508" y="2133542"/>
            <a:ext cx="952500" cy="381000"/>
          </a:xfrm>
          <a:prstGeom prst="bentConnector4">
            <a:avLst>
              <a:gd name="adj1" fmla="val -24000"/>
              <a:gd name="adj2" fmla="val 160000"/>
            </a:avLst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281809" y="5336088"/>
            <a:ext cx="532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Beware</a:t>
            </a:r>
            <a:r>
              <a:rPr lang="en-US" b="1" dirty="0"/>
              <a:t>! It can lead to a chain of associations!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5A908-6F16-CCA8-E030-85960093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795AD-2EB8-7BD4-55CB-9E3528FE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81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Indirect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an </a:t>
            </a:r>
            <a:r>
              <a:rPr lang="en-US" b="1" dirty="0">
                <a:solidFill>
                  <a:srgbClr val="FF0000"/>
                </a:solidFill>
              </a:rPr>
              <a:t>association</a:t>
            </a:r>
            <a:r>
              <a:rPr lang="en-US" dirty="0"/>
              <a:t> using </a:t>
            </a:r>
            <a:r>
              <a:rPr lang="en-US" b="1" dirty="0">
                <a:solidFill>
                  <a:srgbClr val="FF0000"/>
                </a:solidFill>
              </a:rPr>
              <a:t>pointers/reference</a:t>
            </a:r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strictly required</a:t>
            </a:r>
            <a:r>
              <a:rPr lang="en-US" dirty="0"/>
              <a:t>. 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Any kind of data </a:t>
            </a:r>
            <a:r>
              <a:rPr lang="en-US" dirty="0"/>
              <a:t>that allows you to </a:t>
            </a:r>
            <a:r>
              <a:rPr lang="en-US" b="1" dirty="0">
                <a:solidFill>
                  <a:srgbClr val="FF0000"/>
                </a:solidFill>
              </a:rPr>
              <a:t>link two objects </a:t>
            </a:r>
            <a:r>
              <a:rPr lang="en-US" dirty="0"/>
              <a:t>together suffices. 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4291505" y="4564693"/>
            <a:ext cx="3608990" cy="514350"/>
            <a:chOff x="576" y="3216"/>
            <a:chExt cx="2969" cy="28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26F58-B18D-0683-17A7-EB2BBBB4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C6EDF-45BF-41CC-8364-12BEC699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111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Student-Bus - Example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52613"/>
            <a:ext cx="8645216" cy="44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8031307" y="1852613"/>
            <a:ext cx="3608990" cy="514350"/>
            <a:chOff x="576" y="3216"/>
            <a:chExt cx="2969" cy="28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FA916-67A9-52F6-385D-DBBB4018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ADBB7-5198-1E8F-B564-02B4E61B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450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Student-Bus - Example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92" y="1896388"/>
            <a:ext cx="8253663" cy="4752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616418" y="2049050"/>
            <a:ext cx="3608990" cy="514350"/>
            <a:chOff x="576" y="3216"/>
            <a:chExt cx="2969" cy="288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6937A-97BB-3F55-9518-14B47638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EEE61B-928A-77F5-29CF-5D39B3EC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4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Student-Bus - Example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4153"/>
            <a:ext cx="9758819" cy="4126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7818322" y="2078083"/>
            <a:ext cx="3608990" cy="514350"/>
            <a:chOff x="576" y="3216"/>
            <a:chExt cx="2969" cy="288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76" y="3216"/>
              <a:ext cx="91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Bus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47" y="3216"/>
              <a:ext cx="99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en-US" sz="2000" dirty="0"/>
                <a:t>Student</a:t>
              </a:r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H="1">
              <a:off x="1488" y="3368"/>
              <a:ext cx="10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A3D0E-F373-702C-FB84-89C95785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1209-1DA7-2118-AE75-28C827D1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481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053570"/>
              </p:ext>
            </p:extLst>
          </p:nvPr>
        </p:nvGraphicFramePr>
        <p:xfrm>
          <a:off x="891436" y="1870374"/>
          <a:ext cx="10409128" cy="4517774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602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2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1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>
                          <a:solidFill>
                            <a:srgbClr val="FF0000"/>
                          </a:solidFill>
                        </a:rPr>
                        <a:t>Composition</a:t>
                      </a:r>
                      <a:endParaRPr lang="en-US" sz="2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>
                          <a:solidFill>
                            <a:srgbClr val="FF0000"/>
                          </a:solidFill>
                        </a:rPr>
                        <a:t>Aggregation</a:t>
                      </a:r>
                      <a:endParaRPr lang="en-US" sz="2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</a:rPr>
                        <a:t>Association</a:t>
                      </a:r>
                      <a:endParaRPr lang="en-US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</a:rPr>
                        <a:t>Relationship type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Whole/part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/>
                        <a:t>Whole/part</a:t>
                      </a:r>
                      <a:endParaRPr lang="en-US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Otherwise unrelated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3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</a:rPr>
                        <a:t>Members can belong to multiple classes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No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/>
                        <a:t>Yes</a:t>
                      </a:r>
                      <a:endParaRPr lang="en-US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Yes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3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</a:rPr>
                        <a:t>Members existence managed by class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Yes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No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No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18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</a:rPr>
                        <a:t>Directionality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/>
                        <a:t>Unidirectional</a:t>
                      </a:r>
                      <a:endParaRPr lang="en-US"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Unidirectional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Unidirectional or bidirectional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600" b="1" kern="1200" dirty="0">
                          <a:solidFill>
                            <a:srgbClr val="FF0000"/>
                          </a:solidFill>
                        </a:rPr>
                        <a:t>Relationship verb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Part-of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Has-a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000" kern="1200" dirty="0"/>
                        <a:t>Uses-a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itle 1">
            <a:extLst>
              <a:ext uri="{FF2B5EF4-FFF2-40B4-BE49-F238E27FC236}">
                <a16:creationId xmlns:a16="http://schemas.microsoft.com/office/drawing/2014/main" id="{337A69F2-290B-D61C-79BE-EDC388C0F429}"/>
              </a:ext>
            </a:extLst>
          </p:cNvPr>
          <p:cNvSpPr txBox="1">
            <a:spLocks/>
          </p:cNvSpPr>
          <p:nvPr/>
        </p:nvSpPr>
        <p:spPr>
          <a:xfrm>
            <a:off x="1016697" y="562745"/>
            <a:ext cx="10672174" cy="1092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Composition vs Aggregation vs Association</a:t>
            </a: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A9EB50-88A2-7713-329D-38421E93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189B0-9497-BB93-F19E-0A0BCC56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533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59935-8208-D6F6-6BA4-66EC693F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60D66-84B8-8A8C-FDB0-AD2CDBBD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49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5CC56A9-5F3A-6697-BB34-14F03E38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3" y="2320712"/>
            <a:ext cx="11594293" cy="337863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F252A9D-388D-99C2-2B5A-339AB435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297" y="410345"/>
            <a:ext cx="10672174" cy="1092778"/>
          </a:xfrm>
        </p:spPr>
        <p:txBody>
          <a:bodyPr>
            <a:noAutofit/>
          </a:bodyPr>
          <a:lstStyle/>
          <a:p>
            <a:r>
              <a:rPr lang="en-US" b="1" dirty="0"/>
              <a:t>Composition vs Aggregation vs Association</a:t>
            </a:r>
          </a:p>
        </p:txBody>
      </p:sp>
    </p:spTree>
    <p:extLst>
      <p:ext uri="{BB962C8B-B14F-4D97-AF65-F5344CB8AC3E}">
        <p14:creationId xmlns:p14="http://schemas.microsoft.com/office/powerpoint/2010/main" val="4149215261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2984</TotalTime>
  <Words>2149</Words>
  <Application>Microsoft Office PowerPoint</Application>
  <PresentationFormat>Widescreen</PresentationFormat>
  <Paragraphs>455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ＭＳ Ｐゴシック</vt:lpstr>
      <vt:lpstr>Arial</vt:lpstr>
      <vt:lpstr>Calibri</vt:lpstr>
      <vt:lpstr>Century Gothic</vt:lpstr>
      <vt:lpstr>Elephant</vt:lpstr>
      <vt:lpstr>Garamond</vt:lpstr>
      <vt:lpstr>Wingdings</vt:lpstr>
      <vt:lpstr>BrushVTI</vt:lpstr>
      <vt:lpstr>Object Oriented Programming</vt:lpstr>
      <vt:lpstr>Identifying objects</vt:lpstr>
      <vt:lpstr>Identifying objects</vt:lpstr>
      <vt:lpstr>Interaction between objects</vt:lpstr>
      <vt:lpstr>Relationship b/w objects</vt:lpstr>
      <vt:lpstr>Identifying relationships b/w objects</vt:lpstr>
      <vt:lpstr>CRC Cards</vt:lpstr>
      <vt:lpstr>CRC Modelling - example</vt:lpstr>
      <vt:lpstr>CRC Cards - Example</vt:lpstr>
      <vt:lpstr>Relationship type words</vt:lpstr>
      <vt:lpstr>Other Examples Of Relationship Words</vt:lpstr>
      <vt:lpstr>Types of Relationships </vt:lpstr>
      <vt:lpstr>Relationships between Objects</vt:lpstr>
      <vt:lpstr>Object composition</vt:lpstr>
      <vt:lpstr>Types of object composition</vt:lpstr>
      <vt:lpstr>Composition</vt:lpstr>
      <vt:lpstr>Engine is a part-of Car (Example)</vt:lpstr>
      <vt:lpstr>Composition tests</vt:lpstr>
      <vt:lpstr>Composition and subclasses</vt:lpstr>
      <vt:lpstr>Composition and subclasses</vt:lpstr>
      <vt:lpstr>Composition - recap</vt:lpstr>
      <vt:lpstr>Aggregation</vt:lpstr>
      <vt:lpstr>Aggregation</vt:lpstr>
      <vt:lpstr>Aggregation tests</vt:lpstr>
      <vt:lpstr>Implementing aggregation VS composition</vt:lpstr>
      <vt:lpstr>Examples</vt:lpstr>
      <vt:lpstr>Person has an Address - Example</vt:lpstr>
      <vt:lpstr>Person has an Address - Example</vt:lpstr>
      <vt:lpstr>Person has an Address - Example</vt:lpstr>
      <vt:lpstr>Aggregation or Composition</vt:lpstr>
      <vt:lpstr>Aggregation/Composition - recap</vt:lpstr>
      <vt:lpstr>Relationships between Objects</vt:lpstr>
      <vt:lpstr>Association</vt:lpstr>
      <vt:lpstr>Association</vt:lpstr>
      <vt:lpstr>Association</vt:lpstr>
      <vt:lpstr>Association tests</vt:lpstr>
      <vt:lpstr>Implementing Association</vt:lpstr>
      <vt:lpstr>Student-Faculty association - example</vt:lpstr>
      <vt:lpstr>Student-Faculty association - example</vt:lpstr>
      <vt:lpstr>Student-Faculty association - example</vt:lpstr>
      <vt:lpstr>Reflexive association</vt:lpstr>
      <vt:lpstr>Course - Example</vt:lpstr>
      <vt:lpstr>Course - Example</vt:lpstr>
      <vt:lpstr>Indirect association</vt:lpstr>
      <vt:lpstr>Student-Bus - Example</vt:lpstr>
      <vt:lpstr>Student-Bus - Example</vt:lpstr>
      <vt:lpstr>Student-Bus - Example</vt:lpstr>
      <vt:lpstr>PowerPoint Presentation</vt:lpstr>
      <vt:lpstr>Composition vs Aggregation vs Association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MARIUM HIDA</dc:creator>
  <cp:lastModifiedBy>Marium Hida</cp:lastModifiedBy>
  <cp:revision>686</cp:revision>
  <cp:lastPrinted>2023-01-23T10:34:20Z</cp:lastPrinted>
  <dcterms:created xsi:type="dcterms:W3CDTF">2023-01-20T09:57:02Z</dcterms:created>
  <dcterms:modified xsi:type="dcterms:W3CDTF">2024-03-25T15:56:24Z</dcterms:modified>
</cp:coreProperties>
</file>