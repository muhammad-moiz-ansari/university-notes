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23" r:id="rId15"/>
    <p:sldId id="269" r:id="rId16"/>
    <p:sldId id="324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25" r:id="rId63"/>
    <p:sldId id="315" r:id="rId64"/>
    <p:sldId id="316" r:id="rId65"/>
  </p:sldIdLst>
  <p:sldSz cx="12192000" cy="6858000"/>
  <p:notesSz cx="9928225" cy="6797675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44" autoAdjust="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C862F-386F-45B1-A520-D73D66BA78DA}" type="datetimeFigureOut">
              <a:rPr lang="en-PK" smtClean="0"/>
              <a:t>22/01/2024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E2947-0130-47C3-9E08-854F4E89170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1554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2947-0130-47C3-9E08-854F4E891705}" type="slidenum">
              <a:rPr lang="en-PK" smtClean="0"/>
              <a:t>1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69874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2947-0130-47C3-9E08-854F4E891705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3752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2947-0130-47C3-9E08-854F4E891705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9958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5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4B94A-82E5-499C-A2A7-71A68A5F3C60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5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B1765-5BA6-45B0-8C69-8EABBBF506B0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73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279394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C0B87-8A6F-479F-BE4C-44FCDF9A9474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9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23B60-62E0-4F87-88BD-DAFC5667BEA3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20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2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8E489-72B6-42A4-8A80-D97DA1E347C9}" type="datetime1">
              <a:rPr lang="en-US" smtClean="0"/>
              <a:t>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3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1B3B6-2A74-4626-AAFC-A66B0680B596}" type="datetime1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2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706CC-479D-4516-A4D7-F9C2F1D17EF1}" type="datetime1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9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1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6A88-544B-4FC5-8F69-58E6030A6E46}" type="datetime1">
              <a:rPr lang="en-US" smtClean="0"/>
              <a:t>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5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BFD71-88DA-45A9-8C96-64CDE64299B0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09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6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B87F9-CF45-463B-AF4C-5294BF0F4AC1}" type="datetime1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7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DBBA-1181-4E47-AF2C-79A5B312FCB9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20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2272D-329D-4C88-A191-37DFA34EC360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0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A4D81-56B0-4273-BAFB-0FBBAE7096F0}" type="datetime1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Object Oriented Programming-Spring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8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693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4" r:id="rId12"/>
  </p:sldLayoutIdLst>
  <p:hf hd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44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93D702E-F4E0-47FC-A74C-ECD9647A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96C19-CDA4-1AC4-C793-877B0AFBB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51975"/>
            <a:ext cx="9144000" cy="11526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Object Oriented 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E1E1B-2DD4-928E-2179-3D87C4264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71720"/>
            <a:ext cx="9144000" cy="64678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 # 8 :  inheritance</a:t>
            </a:r>
            <a:endParaRPr lang="en-PK" dirty="0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9F108EC2-65CE-5A9B-D15A-80B599688C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677" b="22390"/>
          <a:stretch/>
        </p:blipFill>
        <p:spPr>
          <a:xfrm>
            <a:off x="838202" y="9"/>
            <a:ext cx="10484412" cy="3811395"/>
          </a:xfrm>
          <a:custGeom>
            <a:avLst/>
            <a:gdLst/>
            <a:ahLst/>
            <a:cxnLst/>
            <a:rect l="l" t="t" r="r" b="b"/>
            <a:pathLst>
              <a:path w="10484412" h="3811404">
                <a:moveTo>
                  <a:pt x="0" y="3811403"/>
                </a:moveTo>
                <a:lnTo>
                  <a:pt x="10484412" y="3811403"/>
                </a:lnTo>
                <a:lnTo>
                  <a:pt x="10484412" y="3811404"/>
                </a:lnTo>
                <a:lnTo>
                  <a:pt x="0" y="3811404"/>
                </a:lnTo>
                <a:close/>
                <a:moveTo>
                  <a:pt x="181717" y="0"/>
                </a:moveTo>
                <a:lnTo>
                  <a:pt x="10224015" y="0"/>
                </a:lnTo>
                <a:cubicBezTo>
                  <a:pt x="10261561" y="45054"/>
                  <a:pt x="10301611" y="85103"/>
                  <a:pt x="10369193" y="110134"/>
                </a:cubicBezTo>
                <a:cubicBezTo>
                  <a:pt x="10321635" y="167704"/>
                  <a:pt x="10236530" y="182722"/>
                  <a:pt x="10173954" y="222771"/>
                </a:cubicBezTo>
                <a:cubicBezTo>
                  <a:pt x="10168948" y="255310"/>
                  <a:pt x="10269071" y="245298"/>
                  <a:pt x="10241537" y="317887"/>
                </a:cubicBezTo>
                <a:cubicBezTo>
                  <a:pt x="10206494" y="418008"/>
                  <a:pt x="10241537" y="528142"/>
                  <a:pt x="10071328" y="573196"/>
                </a:cubicBezTo>
                <a:cubicBezTo>
                  <a:pt x="10023770" y="668312"/>
                  <a:pt x="10008751" y="820997"/>
                  <a:pt x="10113880" y="913610"/>
                </a:cubicBezTo>
                <a:cubicBezTo>
                  <a:pt x="10271573" y="1048774"/>
                  <a:pt x="10244040" y="1138885"/>
                  <a:pt x="10036285" y="1216478"/>
                </a:cubicBezTo>
                <a:cubicBezTo>
                  <a:pt x="10011255" y="1226491"/>
                  <a:pt x="9978715" y="1231497"/>
                  <a:pt x="9966200" y="1256528"/>
                </a:cubicBezTo>
                <a:cubicBezTo>
                  <a:pt x="9986224" y="1289067"/>
                  <a:pt x="10031280" y="1281557"/>
                  <a:pt x="10063819" y="1289067"/>
                </a:cubicBezTo>
                <a:cubicBezTo>
                  <a:pt x="10211500" y="1324110"/>
                  <a:pt x="10214003" y="1324110"/>
                  <a:pt x="10176457" y="1441752"/>
                </a:cubicBezTo>
                <a:cubicBezTo>
                  <a:pt x="10163942" y="1476795"/>
                  <a:pt x="10188972" y="1491813"/>
                  <a:pt x="10211500" y="1511838"/>
                </a:cubicBezTo>
                <a:cubicBezTo>
                  <a:pt x="10296604" y="1591936"/>
                  <a:pt x="10296604" y="1594439"/>
                  <a:pt x="10206494" y="1664523"/>
                </a:cubicBezTo>
                <a:cubicBezTo>
                  <a:pt x="10181463" y="1684547"/>
                  <a:pt x="10163942" y="1704572"/>
                  <a:pt x="10151426" y="1732106"/>
                </a:cubicBezTo>
                <a:cubicBezTo>
                  <a:pt x="10128899" y="1782166"/>
                  <a:pt x="10128899" y="1822216"/>
                  <a:pt x="10208996" y="1847246"/>
                </a:cubicBezTo>
                <a:cubicBezTo>
                  <a:pt x="10266568" y="1864767"/>
                  <a:pt x="10296604" y="1884791"/>
                  <a:pt x="10299107" y="1939858"/>
                </a:cubicBezTo>
                <a:cubicBezTo>
                  <a:pt x="10299107" y="1987416"/>
                  <a:pt x="10306617" y="2017452"/>
                  <a:pt x="10244040" y="2037477"/>
                </a:cubicBezTo>
                <a:cubicBezTo>
                  <a:pt x="10193979" y="2054998"/>
                  <a:pt x="10178960" y="2090041"/>
                  <a:pt x="10183966" y="2130089"/>
                </a:cubicBezTo>
                <a:cubicBezTo>
                  <a:pt x="10193979" y="2230211"/>
                  <a:pt x="10126396" y="2287781"/>
                  <a:pt x="10013758" y="2335339"/>
                </a:cubicBezTo>
                <a:cubicBezTo>
                  <a:pt x="9908629" y="2377890"/>
                  <a:pt x="9813513" y="2437963"/>
                  <a:pt x="9715893" y="2493030"/>
                </a:cubicBezTo>
                <a:cubicBezTo>
                  <a:pt x="9605758" y="2553103"/>
                  <a:pt x="9480605" y="2590649"/>
                  <a:pt x="9347942" y="2623189"/>
                </a:cubicBezTo>
                <a:cubicBezTo>
                  <a:pt x="9370469" y="2665740"/>
                  <a:pt x="9453071" y="2640710"/>
                  <a:pt x="9460580" y="2700783"/>
                </a:cubicBezTo>
                <a:cubicBezTo>
                  <a:pt x="9255329" y="2753346"/>
                  <a:pt x="9060089" y="2833444"/>
                  <a:pt x="8827305" y="2855971"/>
                </a:cubicBezTo>
                <a:cubicBezTo>
                  <a:pt x="9015035" y="2843456"/>
                  <a:pt x="9182740" y="2908535"/>
                  <a:pt x="9360458" y="2926056"/>
                </a:cubicBezTo>
                <a:cubicBezTo>
                  <a:pt x="9377980" y="2961099"/>
                  <a:pt x="9337930" y="2951087"/>
                  <a:pt x="9322912" y="2958595"/>
                </a:cubicBezTo>
                <a:cubicBezTo>
                  <a:pt x="9307893" y="2963602"/>
                  <a:pt x="9287869" y="2966105"/>
                  <a:pt x="9285366" y="2991135"/>
                </a:cubicBezTo>
                <a:cubicBezTo>
                  <a:pt x="9370469" y="3023675"/>
                  <a:pt x="9478102" y="2998644"/>
                  <a:pt x="9565709" y="3033687"/>
                </a:cubicBezTo>
                <a:cubicBezTo>
                  <a:pt x="9543182" y="3083748"/>
                  <a:pt x="9468090" y="3056214"/>
                  <a:pt x="9435550" y="3096263"/>
                </a:cubicBezTo>
                <a:cubicBezTo>
                  <a:pt x="9518151" y="3101269"/>
                  <a:pt x="9593243" y="3103772"/>
                  <a:pt x="9668335" y="3113784"/>
                </a:cubicBezTo>
                <a:cubicBezTo>
                  <a:pt x="9725905" y="3121294"/>
                  <a:pt x="9740924" y="3163845"/>
                  <a:pt x="9700875" y="3193882"/>
                </a:cubicBezTo>
                <a:cubicBezTo>
                  <a:pt x="9665832" y="3221415"/>
                  <a:pt x="9613268" y="3223918"/>
                  <a:pt x="9565709" y="3236434"/>
                </a:cubicBezTo>
                <a:cubicBezTo>
                  <a:pt x="9232801" y="3319034"/>
                  <a:pt x="8882372" y="3351573"/>
                  <a:pt x="8529440" y="3364088"/>
                </a:cubicBezTo>
                <a:cubicBezTo>
                  <a:pt x="7961245" y="3386616"/>
                  <a:pt x="7393049" y="3394125"/>
                  <a:pt x="6827357" y="3419155"/>
                </a:cubicBezTo>
                <a:cubicBezTo>
                  <a:pt x="6481933" y="3434173"/>
                  <a:pt x="6136510" y="3456701"/>
                  <a:pt x="5788584" y="3456701"/>
                </a:cubicBezTo>
                <a:cubicBezTo>
                  <a:pt x="5415628" y="3456701"/>
                  <a:pt x="5042671" y="3464210"/>
                  <a:pt x="4669714" y="3411646"/>
                </a:cubicBezTo>
                <a:cubicBezTo>
                  <a:pt x="4479481" y="3384113"/>
                  <a:pt x="4279236" y="3396628"/>
                  <a:pt x="4086500" y="3376603"/>
                </a:cubicBezTo>
                <a:cubicBezTo>
                  <a:pt x="3793641" y="3346568"/>
                  <a:pt x="3500782" y="3306518"/>
                  <a:pt x="3210426" y="3256458"/>
                </a:cubicBezTo>
                <a:cubicBezTo>
                  <a:pt x="3117813" y="3241439"/>
                  <a:pt x="3007678" y="3231428"/>
                  <a:pt x="2937592" y="3166348"/>
                </a:cubicBezTo>
                <a:cubicBezTo>
                  <a:pt x="2824954" y="3211403"/>
                  <a:pt x="2757372" y="3131305"/>
                  <a:pt x="2669765" y="3106275"/>
                </a:cubicBezTo>
                <a:cubicBezTo>
                  <a:pt x="2634722" y="3096263"/>
                  <a:pt x="2592169" y="3081245"/>
                  <a:pt x="2597176" y="3048705"/>
                </a:cubicBezTo>
                <a:cubicBezTo>
                  <a:pt x="2604685" y="3006154"/>
                  <a:pt x="2654746" y="2978620"/>
                  <a:pt x="2702304" y="2986130"/>
                </a:cubicBezTo>
                <a:cubicBezTo>
                  <a:pt x="2849986" y="3011160"/>
                  <a:pt x="2985150" y="2948584"/>
                  <a:pt x="3137838" y="2956093"/>
                </a:cubicBezTo>
                <a:cubicBezTo>
                  <a:pt x="3005175" y="2933565"/>
                  <a:pt x="2872513" y="2908535"/>
                  <a:pt x="2739850" y="2886007"/>
                </a:cubicBezTo>
                <a:cubicBezTo>
                  <a:pt x="2940095" y="2863480"/>
                  <a:pt x="3132831" y="2896020"/>
                  <a:pt x="3328071" y="2913541"/>
                </a:cubicBezTo>
                <a:cubicBezTo>
                  <a:pt x="3390647" y="2921050"/>
                  <a:pt x="3485763" y="2968608"/>
                  <a:pt x="3503285" y="2898523"/>
                </a:cubicBezTo>
                <a:cubicBezTo>
                  <a:pt x="3513297" y="2850965"/>
                  <a:pt x="3410671" y="2850965"/>
                  <a:pt x="3350598" y="2838450"/>
                </a:cubicBezTo>
                <a:cubicBezTo>
                  <a:pt x="3090279" y="2785886"/>
                  <a:pt x="2824954" y="2758353"/>
                  <a:pt x="2562133" y="2725813"/>
                </a:cubicBezTo>
                <a:cubicBezTo>
                  <a:pt x="2537102" y="2723310"/>
                  <a:pt x="2504562" y="2725813"/>
                  <a:pt x="2487041" y="2715801"/>
                </a:cubicBezTo>
                <a:cubicBezTo>
                  <a:pt x="2354378" y="2633200"/>
                  <a:pt x="2184170" y="2608170"/>
                  <a:pt x="1998943" y="2548097"/>
                </a:cubicBezTo>
                <a:cubicBezTo>
                  <a:pt x="2116587" y="2515558"/>
                  <a:pt x="2196685" y="2575630"/>
                  <a:pt x="2294304" y="2560612"/>
                </a:cubicBezTo>
                <a:cubicBezTo>
                  <a:pt x="2196685" y="2498036"/>
                  <a:pt x="2079041" y="2488024"/>
                  <a:pt x="1978918" y="2455485"/>
                </a:cubicBezTo>
                <a:cubicBezTo>
                  <a:pt x="1906330" y="2430454"/>
                  <a:pt x="1635999" y="2357866"/>
                  <a:pt x="1595950" y="2335339"/>
                </a:cubicBezTo>
                <a:cubicBezTo>
                  <a:pt x="1473299" y="2267756"/>
                  <a:pt x="1315606" y="2237720"/>
                  <a:pt x="1215483" y="2145108"/>
                </a:cubicBezTo>
                <a:cubicBezTo>
                  <a:pt x="1145398" y="2080028"/>
                  <a:pt x="1025251" y="2095047"/>
                  <a:pt x="942649" y="2049992"/>
                </a:cubicBezTo>
                <a:cubicBezTo>
                  <a:pt x="912613" y="2004937"/>
                  <a:pt x="972686" y="1994925"/>
                  <a:pt x="992711" y="1969894"/>
                </a:cubicBezTo>
                <a:cubicBezTo>
                  <a:pt x="1020244" y="1939858"/>
                  <a:pt x="972686" y="1922337"/>
                  <a:pt x="960170" y="1884791"/>
                </a:cubicBezTo>
                <a:cubicBezTo>
                  <a:pt x="1117863" y="1922337"/>
                  <a:pt x="1268048" y="1944864"/>
                  <a:pt x="1448268" y="1957380"/>
                </a:cubicBezTo>
                <a:cubicBezTo>
                  <a:pt x="1390698" y="1897306"/>
                  <a:pt x="1318109" y="1927343"/>
                  <a:pt x="1270551" y="1904815"/>
                </a:cubicBezTo>
                <a:cubicBezTo>
                  <a:pt x="1238011" y="1889797"/>
                  <a:pt x="1190453" y="1884791"/>
                  <a:pt x="1200466" y="1849749"/>
                </a:cubicBezTo>
                <a:cubicBezTo>
                  <a:pt x="1207974" y="1822216"/>
                  <a:pt x="1248023" y="1824718"/>
                  <a:pt x="1278060" y="1827221"/>
                </a:cubicBezTo>
                <a:cubicBezTo>
                  <a:pt x="1393201" y="1834730"/>
                  <a:pt x="1503336" y="1834730"/>
                  <a:pt x="1615974" y="1764645"/>
                </a:cubicBezTo>
                <a:cubicBezTo>
                  <a:pt x="1338134" y="1669530"/>
                  <a:pt x="1015238" y="1717087"/>
                  <a:pt x="767434" y="1576917"/>
                </a:cubicBezTo>
                <a:cubicBezTo>
                  <a:pt x="802477" y="1531862"/>
                  <a:pt x="852539" y="1554390"/>
                  <a:pt x="890085" y="1559396"/>
                </a:cubicBezTo>
                <a:cubicBezTo>
                  <a:pt x="1132882" y="1591936"/>
                  <a:pt x="2003949" y="1514341"/>
                  <a:pt x="2129102" y="1556893"/>
                </a:cubicBezTo>
                <a:cubicBezTo>
                  <a:pt x="2204195" y="1584426"/>
                  <a:pt x="2286796" y="1594439"/>
                  <a:pt x="2369396" y="1576917"/>
                </a:cubicBezTo>
                <a:cubicBezTo>
                  <a:pt x="2469519" y="1554390"/>
                  <a:pt x="1881298" y="1519347"/>
                  <a:pt x="1746133" y="1421728"/>
                </a:cubicBezTo>
                <a:cubicBezTo>
                  <a:pt x="1678551" y="1374170"/>
                  <a:pt x="1082821" y="1146394"/>
                  <a:pt x="819999" y="1083817"/>
                </a:cubicBezTo>
                <a:cubicBezTo>
                  <a:pt x="857545" y="1041266"/>
                  <a:pt x="952662" y="1066296"/>
                  <a:pt x="940146" y="993707"/>
                </a:cubicBezTo>
                <a:cubicBezTo>
                  <a:pt x="794969" y="956162"/>
                  <a:pt x="627263" y="961168"/>
                  <a:pt x="459558" y="903598"/>
                </a:cubicBezTo>
                <a:cubicBezTo>
                  <a:pt x="537153" y="858543"/>
                  <a:pt x="622257" y="883573"/>
                  <a:pt x="699852" y="868556"/>
                </a:cubicBezTo>
                <a:cubicBezTo>
                  <a:pt x="657300" y="813489"/>
                  <a:pt x="582208" y="823500"/>
                  <a:pt x="522134" y="813489"/>
                </a:cubicBezTo>
                <a:cubicBezTo>
                  <a:pt x="464564" y="803476"/>
                  <a:pt x="349423" y="708360"/>
                  <a:pt x="374453" y="713367"/>
                </a:cubicBezTo>
                <a:cubicBezTo>
                  <a:pt x="607238" y="750912"/>
                  <a:pt x="842526" y="735895"/>
                  <a:pt x="1075312" y="773440"/>
                </a:cubicBezTo>
                <a:cubicBezTo>
                  <a:pt x="1152907" y="785955"/>
                  <a:pt x="1238011" y="810986"/>
                  <a:pt x="1275557" y="728385"/>
                </a:cubicBezTo>
                <a:cubicBezTo>
                  <a:pt x="1285569" y="703355"/>
                  <a:pt x="1278060" y="695846"/>
                  <a:pt x="1385692" y="725882"/>
                </a:cubicBezTo>
                <a:cubicBezTo>
                  <a:pt x="1425741" y="738397"/>
                  <a:pt x="1483311" y="750912"/>
                  <a:pt x="1525863" y="718373"/>
                </a:cubicBezTo>
                <a:cubicBezTo>
                  <a:pt x="1498330" y="678325"/>
                  <a:pt x="1445765" y="690839"/>
                  <a:pt x="1408219" y="680828"/>
                </a:cubicBezTo>
                <a:cubicBezTo>
                  <a:pt x="1305594" y="653294"/>
                  <a:pt x="922624" y="548166"/>
                  <a:pt x="825005" y="518129"/>
                </a:cubicBezTo>
                <a:cubicBezTo>
                  <a:pt x="619754" y="453051"/>
                  <a:pt x="492098" y="475578"/>
                  <a:pt x="286846" y="405492"/>
                </a:cubicBezTo>
                <a:cubicBezTo>
                  <a:pt x="356932" y="407995"/>
                  <a:pt x="336907" y="380462"/>
                  <a:pt x="406993" y="380462"/>
                </a:cubicBezTo>
                <a:cubicBezTo>
                  <a:pt x="437030" y="380462"/>
                  <a:pt x="472073" y="372954"/>
                  <a:pt x="472073" y="342917"/>
                </a:cubicBezTo>
                <a:cubicBezTo>
                  <a:pt x="472073" y="315384"/>
                  <a:pt x="104123" y="170207"/>
                  <a:pt x="156686" y="155188"/>
                </a:cubicBezTo>
                <a:cubicBezTo>
                  <a:pt x="301865" y="115140"/>
                  <a:pt x="667312" y="227777"/>
                  <a:pt x="579705" y="175213"/>
                </a:cubicBezTo>
                <a:cubicBezTo>
                  <a:pt x="447042" y="92613"/>
                  <a:pt x="427018" y="77594"/>
                  <a:pt x="326895" y="67583"/>
                </a:cubicBezTo>
                <a:cubicBezTo>
                  <a:pt x="296858" y="62576"/>
                  <a:pt x="244294" y="35043"/>
                  <a:pt x="18171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561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5ECB-A13F-C653-B268-AAA4293C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What Is Inheritance?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C171E-BBDC-D8EC-3422-A7BAFF1E9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altLang="en-PK" dirty="0"/>
              <a:t>One of the most powerful features of OOP</a:t>
            </a:r>
          </a:p>
          <a:p>
            <a:pPr algn="just"/>
            <a:endParaRPr lang="en-US" altLang="en-PK" dirty="0"/>
          </a:p>
          <a:p>
            <a:pPr algn="just"/>
            <a:r>
              <a:rPr lang="en-US" altLang="en-PK" dirty="0"/>
              <a:t>Provides a way to create a </a:t>
            </a:r>
            <a:r>
              <a:rPr lang="en-US" altLang="en-PK" dirty="0">
                <a:solidFill>
                  <a:srgbClr val="0070C0"/>
                </a:solidFill>
              </a:rPr>
              <a:t>new class </a:t>
            </a:r>
            <a:r>
              <a:rPr lang="en-US" altLang="en-PK" dirty="0"/>
              <a:t>from an </a:t>
            </a:r>
            <a:r>
              <a:rPr lang="en-US" altLang="en-PK" dirty="0">
                <a:solidFill>
                  <a:srgbClr val="0070C0"/>
                </a:solidFill>
              </a:rPr>
              <a:t>existing class</a:t>
            </a:r>
          </a:p>
          <a:p>
            <a:pPr algn="just"/>
            <a:endParaRPr lang="en-US" altLang="en-PK" dirty="0">
              <a:solidFill>
                <a:srgbClr val="0070C0"/>
              </a:solidFill>
            </a:endParaRPr>
          </a:p>
          <a:p>
            <a:pPr algn="just"/>
            <a:r>
              <a:rPr lang="en-US" dirty="0"/>
              <a:t>The new class </a:t>
            </a:r>
            <a:r>
              <a:rPr lang="en-US" dirty="0">
                <a:solidFill>
                  <a:srgbClr val="0070C0"/>
                </a:solidFill>
              </a:rPr>
              <a:t>inherits all the capabilities </a:t>
            </a:r>
            <a:r>
              <a:rPr lang="en-US" dirty="0"/>
              <a:t>of the existing class and can also </a:t>
            </a:r>
            <a:r>
              <a:rPr lang="en-US" dirty="0">
                <a:solidFill>
                  <a:srgbClr val="0070C0"/>
                </a:solidFill>
              </a:rPr>
              <a:t>add capabilities of its own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base class is </a:t>
            </a:r>
            <a:r>
              <a:rPr lang="en-US" dirty="0">
                <a:solidFill>
                  <a:srgbClr val="0070C0"/>
                </a:solidFill>
              </a:rPr>
              <a:t>unchanged </a:t>
            </a:r>
            <a:r>
              <a:rPr lang="en-US" dirty="0"/>
              <a:t>by this process.</a:t>
            </a:r>
          </a:p>
          <a:p>
            <a:pPr marL="0" indent="0" algn="just">
              <a:buNone/>
            </a:pPr>
            <a:endParaRPr lang="en-US" altLang="en-PK" dirty="0">
              <a:solidFill>
                <a:srgbClr val="0070C0"/>
              </a:solidFill>
            </a:endParaRPr>
          </a:p>
          <a:p>
            <a:pPr algn="just"/>
            <a:r>
              <a:rPr lang="en-US" altLang="en-PK" dirty="0"/>
              <a:t>The new class is a </a:t>
            </a:r>
            <a:r>
              <a:rPr lang="en-US" altLang="en-PK" b="1" i="1" dirty="0">
                <a:solidFill>
                  <a:srgbClr val="FF0000"/>
                </a:solidFill>
              </a:rPr>
              <a:t>specialized version</a:t>
            </a:r>
            <a:r>
              <a:rPr lang="en-US" altLang="en-PK" dirty="0"/>
              <a:t> of the existing 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20831-6FA5-8D9B-DDF5-FC33BF36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94591-CC41-8DB5-4A5A-2046CD94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13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923E-4E04-8A95-C6EA-ABF2013E0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Insects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47AC-90C1-EB01-836E-ABA9C304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PK" sz="2800" dirty="0"/>
              <a:t>Insect is </a:t>
            </a:r>
            <a:r>
              <a:rPr lang="en-US" altLang="en-PK" sz="2800" b="1" i="1" dirty="0">
                <a:solidFill>
                  <a:srgbClr val="0070C0"/>
                </a:solidFill>
              </a:rPr>
              <a:t>generic</a:t>
            </a:r>
          </a:p>
          <a:p>
            <a:r>
              <a:rPr lang="en-US" altLang="en-PK" sz="2800" dirty="0"/>
              <a:t>Bee and grasshopper are </a:t>
            </a:r>
            <a:r>
              <a:rPr lang="en-US" altLang="en-PK" sz="2800" b="1" i="1" dirty="0">
                <a:solidFill>
                  <a:srgbClr val="0070C0"/>
                </a:solidFill>
              </a:rPr>
              <a:t>specific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CDC59-5F88-81BC-20D2-59D6EDC9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392C6-787E-9255-0B79-CCAF68AF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3" descr="1501sowc copy">
            <a:extLst>
              <a:ext uri="{FF2B5EF4-FFF2-40B4-BE49-F238E27FC236}">
                <a16:creationId xmlns:a16="http://schemas.microsoft.com/office/drawing/2014/main" id="{9CEF200F-ECC5-E310-222F-DCBA32BD9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768" y="3408486"/>
            <a:ext cx="4884999" cy="2855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739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1C0B9-745C-B691-535E-0365530C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altLang="en-PK" dirty="0"/>
              <a:t>The “IS - A" Relationship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CC84-5796-FCCE-AABA-3E1200EDA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pPr algn="just"/>
            <a:r>
              <a:rPr lang="en-US" altLang="en-PK" sz="2000" dirty="0"/>
              <a:t>Inheritance establishes an “</a:t>
            </a:r>
            <a:r>
              <a:rPr lang="en-US" altLang="en-PK" sz="2000" b="1" i="1" dirty="0"/>
              <a:t>IS - A</a:t>
            </a:r>
            <a:r>
              <a:rPr lang="en-US" altLang="en-PK" sz="2000" dirty="0"/>
              <a:t>" relationship between classes.</a:t>
            </a:r>
          </a:p>
          <a:p>
            <a:pPr lvl="1" algn="just"/>
            <a:r>
              <a:rPr lang="en-US" altLang="en-PK" sz="2000" dirty="0"/>
              <a:t>A poodle is a dog</a:t>
            </a:r>
          </a:p>
          <a:p>
            <a:pPr lvl="1" algn="just"/>
            <a:r>
              <a:rPr lang="en-US" altLang="en-PK" sz="2000" dirty="0"/>
              <a:t>A car is a vehicle</a:t>
            </a:r>
          </a:p>
          <a:p>
            <a:pPr lvl="1" algn="just"/>
            <a:r>
              <a:rPr lang="en-US" altLang="en-PK" sz="2000" dirty="0"/>
              <a:t>A flower is a plant</a:t>
            </a:r>
          </a:p>
          <a:p>
            <a:pPr lvl="1" algn="just"/>
            <a:r>
              <a:rPr lang="en-US" altLang="en-PK" sz="2000" dirty="0"/>
              <a:t>A football player is an athlete</a:t>
            </a:r>
          </a:p>
          <a:p>
            <a:endParaRPr lang="en-PK" sz="2000" dirty="0"/>
          </a:p>
        </p:txBody>
      </p:sp>
      <p:pic>
        <p:nvPicPr>
          <p:cNvPr id="6" name="Picture 5" descr="Diagram, engineering drawing&#10;&#10;Description automatically generated">
            <a:extLst>
              <a:ext uri="{FF2B5EF4-FFF2-40B4-BE49-F238E27FC236}">
                <a16:creationId xmlns:a16="http://schemas.microsoft.com/office/drawing/2014/main" id="{B910EBAD-0DCC-DE29-59D5-74F5FC9EDA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82" t="4405" r="6165" b="1641"/>
          <a:stretch/>
        </p:blipFill>
        <p:spPr>
          <a:xfrm>
            <a:off x="6374725" y="838417"/>
            <a:ext cx="5402287" cy="518116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C3026-122F-863E-6D37-BAABFEB4A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Object Oriented Programming-Spring 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1745-8D1A-8F8F-EBC3-4CF4C1EA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1845F5A-061D-4825-9AE9-D7794091C6CF}" type="slidenum"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06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A876-0BDD-77A4-D0FC-9B7EC884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DCCCC-E43C-B924-7B10-F0227318D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classes are called </a:t>
            </a:r>
            <a:r>
              <a:rPr lang="en-US" dirty="0">
                <a:solidFill>
                  <a:srgbClr val="0070C0"/>
                </a:solidFill>
              </a:rPr>
              <a:t>base classes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New classes are called </a:t>
            </a:r>
            <a:r>
              <a:rPr lang="en-US" dirty="0">
                <a:solidFill>
                  <a:srgbClr val="0070C0"/>
                </a:solidFill>
              </a:rPr>
              <a:t>derived classes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045F9-24A1-6688-26D9-14D8835B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AD36C-A7A5-E099-F4C2-0FE790D8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6A964-58E1-5F58-BD60-C850A17F6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990975"/>
            <a:ext cx="57912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8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AC83-6BCC-93D4-E4DA-99280CED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7EF3-1A69-7080-09A6-E6F551A6D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Objects of derived classes are more </a:t>
            </a:r>
            <a:r>
              <a:rPr lang="en-US" dirty="0">
                <a:solidFill>
                  <a:srgbClr val="0070C0"/>
                </a:solidFill>
              </a:rPr>
              <a:t>specialized </a:t>
            </a:r>
            <a:r>
              <a:rPr lang="en-US" dirty="0"/>
              <a:t>as compared to objects of their base classes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7EEBB-6B71-1203-F6CD-AEAD4ECF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94774-223C-19C6-54E4-EA3E25DE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2" descr="http://www.dotnet-tricks.com/Content/images/oops/generalization.png">
            <a:extLst>
              <a:ext uri="{FF2B5EF4-FFF2-40B4-BE49-F238E27FC236}">
                <a16:creationId xmlns:a16="http://schemas.microsoft.com/office/drawing/2014/main" id="{E2FC9581-9231-7222-421D-EB27E32F4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28" y="3429000"/>
            <a:ext cx="7362943" cy="267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198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9948-D545-ECE5-B10D-FC0B9A6F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Animals: Class’</a:t>
            </a:r>
            <a:r>
              <a:rPr lang="en-US" altLang="ja-JP" dirty="0"/>
              <a:t>s hierarchy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207BD-30C9-7027-6A06-268B1818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1472F-C86B-0502-165C-76E14819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65314-5A28-BF6E-5980-DA99F409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982" y="1690690"/>
            <a:ext cx="8718036" cy="46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38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1BD9-CDBF-083C-B801-31BB6BDC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Examples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D64CB-4CA4-005C-D16C-73F7C50A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40861-D6A4-56A3-813D-FCFBAA9A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6718870E-A5B8-3DAE-AC33-0D34997B31AF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620399"/>
              </p:ext>
            </p:extLst>
          </p:nvPr>
        </p:nvGraphicFramePr>
        <p:xfrm>
          <a:off x="1843413" y="1568343"/>
          <a:ext cx="8505173" cy="5153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858110" imgH="2942893" progId="Word.Document.8">
                  <p:embed/>
                </p:oleObj>
              </mc:Choice>
              <mc:Fallback>
                <p:oleObj name="Document" r:id="rId2" imgW="4858110" imgH="2942893" progId="Word.Document.8">
                  <p:embed/>
                  <p:pic>
                    <p:nvPicPr>
                      <p:cNvPr id="205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413" y="1568343"/>
                        <a:ext cx="8505173" cy="5153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081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ACC0-3BEF-F47E-88CA-D1CA0FFA1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Inheritance?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7E425-C7BC-6017-883E-B35250E9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C08FC-E8A7-941D-0363-36C951A74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967E4B-D49E-8FFC-C463-84D92459F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623" y="1363881"/>
            <a:ext cx="8294753" cy="499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06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5668-3792-6403-50EA-8ECC0D59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Inheritance?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CD31-669F-30CE-9B11-AC32C479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Inheritance provides us a mechanism of software </a:t>
            </a:r>
            <a:r>
              <a:rPr lang="en-US" dirty="0">
                <a:solidFill>
                  <a:srgbClr val="0070C0"/>
                </a:solidFill>
              </a:rPr>
              <a:t>reusability </a:t>
            </a:r>
            <a:r>
              <a:rPr lang="en-US" dirty="0"/>
              <a:t>which is one of the most important principles of software engineering</a:t>
            </a:r>
          </a:p>
          <a:p>
            <a:pPr algn="just"/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Show similarities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Easy modification by performing </a:t>
            </a:r>
            <a:r>
              <a:rPr lang="en-US" dirty="0">
                <a:solidFill>
                  <a:srgbClr val="0070C0"/>
                </a:solidFill>
              </a:rPr>
              <a:t>modification in one place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Avoid redundancy</a:t>
            </a:r>
            <a:r>
              <a:rPr lang="en-US" dirty="0"/>
              <a:t>, leading to smaller and more efficient model, easier to understand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9527A-52B8-CE81-1CBA-D34A03EA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4831E-CD15-A21A-E05B-01638532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7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0691-268A-528E-9697-D733B83F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Inheritance – Terminology and Notation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FE02F-301A-1CEE-E4AC-E701AFC45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PK" sz="2400" b="1" dirty="0">
                <a:solidFill>
                  <a:srgbClr val="0070C0"/>
                </a:solidFill>
              </a:rPr>
              <a:t>Base class </a:t>
            </a:r>
            <a:r>
              <a:rPr lang="en-US" altLang="en-PK" sz="2400" dirty="0"/>
              <a:t>(or parent or superclass) – inherited from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en-PK" sz="2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PK" sz="2400" b="1" dirty="0">
                <a:solidFill>
                  <a:srgbClr val="0070C0"/>
                </a:solidFill>
              </a:rPr>
              <a:t>Derived class </a:t>
            </a:r>
            <a:r>
              <a:rPr lang="en-US" altLang="en-PK" sz="2400" dirty="0"/>
              <a:t>(or child or subclass) – inherits from the base class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en-PK" sz="2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PK" sz="2400" b="1" u="sng" dirty="0"/>
              <a:t>Notation: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en-PK" sz="2400" b="1" u="sng" dirty="0"/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PK" sz="2000" dirty="0">
                <a:latin typeface="Courier New" panose="02070309020205020404" pitchFamily="49" charset="0"/>
              </a:rPr>
              <a:t>	</a:t>
            </a:r>
            <a:r>
              <a:rPr lang="en-US" altLang="en-PK" sz="2000" b="1" dirty="0">
                <a:latin typeface="Courier New" panose="02070309020205020404" pitchFamily="49" charset="0"/>
              </a:rPr>
              <a:t>class Student 	      // base class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{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	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};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class </a:t>
            </a:r>
            <a:r>
              <a:rPr lang="en-US" altLang="en-PK" sz="2000" b="1" dirty="0" err="1">
                <a:latin typeface="Courier New" panose="02070309020205020404" pitchFamily="49" charset="0"/>
              </a:rPr>
              <a:t>UnderGrad</a:t>
            </a:r>
            <a:r>
              <a:rPr lang="en-US" altLang="en-PK" sz="2000" b="1" dirty="0">
                <a:latin typeface="Courier New" panose="02070309020205020404" pitchFamily="49" charset="0"/>
              </a:rPr>
              <a:t> 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r>
              <a:rPr lang="en-US" altLang="en-PK" sz="2000" b="1" dirty="0">
                <a:latin typeface="Courier New" panose="02070309020205020404" pitchFamily="49" charset="0"/>
              </a:rPr>
              <a:t> 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PK" sz="2000" b="1" dirty="0">
                <a:latin typeface="Courier New" panose="02070309020205020404" pitchFamily="49" charset="0"/>
              </a:rPr>
              <a:t> </a:t>
            </a:r>
            <a:r>
              <a:rPr lang="en-US" altLang="en-PK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r>
              <a:rPr lang="en-US" altLang="en-PK" sz="2000" b="1" dirty="0">
                <a:latin typeface="Courier New" panose="02070309020205020404" pitchFamily="49" charset="0"/>
              </a:rPr>
              <a:t>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{							// derived class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en-PK" sz="2000" b="1" dirty="0">
                <a:latin typeface="Courier New" panose="02070309020205020404" pitchFamily="49" charset="0"/>
              </a:rPr>
              <a:t>	};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F230D-568A-FAB6-EDA1-07200ACB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4C236-825D-EE9C-C609-3D3436B2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021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E14A-278E-235B-9FEE-F64D7C8A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Inheriting Data and Functions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EA8C6-D5F9-5517-0F76-A7ABCF3BE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data members and member functions of base class are inherited to derived class, except</a:t>
            </a:r>
          </a:p>
          <a:p>
            <a:endParaRPr lang="en-US" dirty="0"/>
          </a:p>
          <a:p>
            <a:r>
              <a:rPr lang="en-US" dirty="0"/>
              <a:t>Constructors, destructors and = operator are </a:t>
            </a:r>
            <a:r>
              <a:rPr lang="en-US" b="1" i="1" dirty="0">
                <a:solidFill>
                  <a:srgbClr val="0070C0"/>
                </a:solidFill>
              </a:rPr>
              <a:t>not inherited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FE09D-4372-B9F7-101C-2B1159F76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10A49-BDE2-6126-91AC-27110DE2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4" descr="Comprehend Object-Oriented programming in 6 minutes - njkhanh">
            <a:extLst>
              <a:ext uri="{FF2B5EF4-FFF2-40B4-BE49-F238E27FC236}">
                <a16:creationId xmlns:a16="http://schemas.microsoft.com/office/drawing/2014/main" id="{5999A01A-61BC-A95E-2114-2864846EA5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9" b="6339"/>
          <a:stretch/>
        </p:blipFill>
        <p:spPr bwMode="auto">
          <a:xfrm>
            <a:off x="3810000" y="4285489"/>
            <a:ext cx="4571999" cy="165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28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60AE-FEE8-66A3-BC4F-9D2367D8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What Does a Child Class Have?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42B8C-F397-33C2-E401-815DF3852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en-PK" dirty="0"/>
              <a:t>In the Student and </a:t>
            </a:r>
            <a:r>
              <a:rPr lang="en-US" altLang="en-PK" dirty="0" err="1"/>
              <a:t>underGrad</a:t>
            </a:r>
            <a:r>
              <a:rPr lang="en-US" altLang="en-PK" dirty="0"/>
              <a:t> example shown earlier:</a:t>
            </a:r>
          </a:p>
          <a:p>
            <a:pPr>
              <a:lnSpc>
                <a:spcPct val="90000"/>
              </a:lnSpc>
              <a:buFont typeface="Times" panose="02020603050405020304" pitchFamily="18" charset="0"/>
              <a:buNone/>
            </a:pPr>
            <a:endParaRPr lang="en-US" altLang="en-PK" dirty="0"/>
          </a:p>
          <a:p>
            <a:pPr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en-PK" dirty="0"/>
              <a:t>An object of the </a:t>
            </a:r>
            <a:r>
              <a:rPr lang="en-US" altLang="en-PK" i="1" dirty="0">
                <a:solidFill>
                  <a:srgbClr val="FF0000"/>
                </a:solidFill>
              </a:rPr>
              <a:t>derived class </a:t>
            </a:r>
            <a:r>
              <a:rPr lang="en-US" altLang="en-PK" dirty="0"/>
              <a:t>has:</a:t>
            </a:r>
          </a:p>
          <a:p>
            <a:pPr>
              <a:lnSpc>
                <a:spcPct val="90000"/>
              </a:lnSpc>
            </a:pPr>
            <a:r>
              <a:rPr lang="en-US" altLang="en-PK" dirty="0"/>
              <a:t>all members defined in child class</a:t>
            </a:r>
          </a:p>
          <a:p>
            <a:pPr>
              <a:lnSpc>
                <a:spcPct val="90000"/>
              </a:lnSpc>
            </a:pPr>
            <a:r>
              <a:rPr lang="en-US" altLang="en-PK" dirty="0"/>
              <a:t>all members of the parent class </a:t>
            </a:r>
            <a:r>
              <a:rPr lang="en-US" altLang="en-PK" dirty="0">
                <a:solidFill>
                  <a:srgbClr val="0070C0"/>
                </a:solidFill>
              </a:rPr>
              <a:t>except </a:t>
            </a:r>
            <a:r>
              <a:rPr lang="en-US" altLang="en-PK" dirty="0"/>
              <a:t>constructors, destructors and operator=</a:t>
            </a:r>
            <a:br>
              <a:rPr lang="en-US" altLang="en-PK" dirty="0"/>
            </a:br>
            <a:endParaRPr lang="en-US" altLang="en-PK" dirty="0"/>
          </a:p>
          <a:p>
            <a:pPr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en-PK" dirty="0"/>
              <a:t>An object of the </a:t>
            </a:r>
            <a:r>
              <a:rPr lang="en-US" altLang="en-PK" i="1" dirty="0">
                <a:solidFill>
                  <a:srgbClr val="FF0000"/>
                </a:solidFill>
              </a:rPr>
              <a:t>derived class </a:t>
            </a:r>
            <a:r>
              <a:rPr lang="en-US" altLang="en-PK" dirty="0"/>
              <a:t>can use:</a:t>
            </a:r>
          </a:p>
          <a:p>
            <a:pPr>
              <a:lnSpc>
                <a:spcPct val="90000"/>
              </a:lnSpc>
            </a:pPr>
            <a:r>
              <a:rPr lang="en-US" altLang="en-PK" dirty="0"/>
              <a:t>all 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PK" dirty="0"/>
              <a:t> members defined in child class</a:t>
            </a:r>
          </a:p>
          <a:p>
            <a:pPr>
              <a:lnSpc>
                <a:spcPct val="90000"/>
              </a:lnSpc>
            </a:pPr>
            <a:r>
              <a:rPr lang="en-US" altLang="en-PK" dirty="0"/>
              <a:t>all 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PK" dirty="0"/>
              <a:t> members defined in parent class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8F4AB-6AD8-B6AD-0627-D1F15047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9DF1A-5536-D0F2-F44D-98DA2B4B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08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22EECD-804F-36E1-D6C0-9183E240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47B91B-4A66-CD11-7392-2C6F9017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AA301-874B-E64F-66E5-16C5235C7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64" y="0"/>
            <a:ext cx="8998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72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8B3C-AC7B-6985-1356-0A4E02123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Protected Members and Class Access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A4C3B-9BDA-A742-97A7-4E3F8A644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PK" dirty="0"/>
              <a:t> member access specification: like </a:t>
            </a:r>
            <a:r>
              <a:rPr lang="en-US" altLang="en-PK" b="1" dirty="0">
                <a:latin typeface="Courier New" panose="02070309020205020404" pitchFamily="49" charset="0"/>
              </a:rPr>
              <a:t>private</a:t>
            </a:r>
            <a:r>
              <a:rPr lang="en-US" altLang="en-PK" dirty="0"/>
              <a:t>, but accessible by objects of derived class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842D9-73A8-E3A1-110B-61D64B6B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67955-9B80-F3E9-6C2C-29B2B145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FD8E5-0DFA-5BE6-1736-73E0F0018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449" y="3429000"/>
            <a:ext cx="7901101" cy="21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35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D2CB2B-F0EF-5314-E41E-07388A9D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4E9B0-4D01-032E-A090-AB0F5AEE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ECF5B-FDA5-34F1-B367-E29E4421C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376" y="8847"/>
            <a:ext cx="9047248" cy="68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07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D97D-1BAA-E547-227D-3CDD7E38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Protected Members and Class Access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972D-F30B-8C98-B67A-0F7EBA954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PK" dirty="0"/>
              <a:t> member access specification: like </a:t>
            </a:r>
            <a:r>
              <a:rPr lang="en-US" altLang="en-PK" b="1" dirty="0">
                <a:latin typeface="Courier New" panose="02070309020205020404" pitchFamily="49" charset="0"/>
              </a:rPr>
              <a:t>private</a:t>
            </a:r>
            <a:r>
              <a:rPr lang="en-US" altLang="en-PK" dirty="0"/>
              <a:t>, but accessible by objects of derived 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C8987-C756-1EAD-8338-9C611FD4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29E82-989B-6C74-2FDE-38647842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035E2-6309-F6E2-96B4-663628A0A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328" y="3249177"/>
            <a:ext cx="9035344" cy="201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86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14A4-6C94-2C94-E8BA-101D53E9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Protected Members and Class Access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1266F-F98B-AA39-523D-8C77EB4AC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PK" dirty="0"/>
              <a:t> member access specification: like </a:t>
            </a:r>
            <a:r>
              <a:rPr lang="en-US" altLang="en-PK" b="1" dirty="0">
                <a:latin typeface="Courier New" panose="02070309020205020404" pitchFamily="49" charset="0"/>
              </a:rPr>
              <a:t>private</a:t>
            </a:r>
            <a:r>
              <a:rPr lang="en-US" altLang="en-PK" dirty="0"/>
              <a:t>, but accessible by objects of derived class</a:t>
            </a:r>
            <a:br>
              <a:rPr lang="en-US" altLang="en-PK" dirty="0"/>
            </a:br>
            <a:endParaRPr lang="en-US" altLang="en-PK" dirty="0"/>
          </a:p>
          <a:p>
            <a:pPr algn="just"/>
            <a:r>
              <a:rPr lang="en-US" altLang="en-PK" u="sng" dirty="0"/>
              <a:t>Class access specification</a:t>
            </a:r>
            <a:r>
              <a:rPr lang="en-US" altLang="en-PK" dirty="0"/>
              <a:t>: determines how 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PK" dirty="0"/>
              <a:t>, 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PK" dirty="0"/>
              <a:t>, and 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PK" dirty="0"/>
              <a:t> members of base class are inherited by the derived class</a:t>
            </a:r>
            <a:endParaRPr lang="en-US" altLang="en-PK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A00DF-0C7C-C70B-380E-64D1E46D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6B8EA-1859-1E85-DD5F-0A03A7BE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273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1AF89-89A8-0921-8592-5F6FC7BA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Example 1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6FF4B-1050-F935-8E06-D7CA0DEA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49431-5DF2-AD3E-5AB5-77745DFA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15C02-35AB-8471-3C4B-504992F5F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771" y="1250999"/>
            <a:ext cx="8078457" cy="524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58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08A3-0C5E-6984-3664-54C15ACF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Example 2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3C5CE-0E8D-1362-2BF2-C8B65A7C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0DBC3-81A2-14FC-BDD5-534D563E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BF2924-2682-0AEF-1D39-659F737B3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664" y="1690690"/>
            <a:ext cx="8126672" cy="45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1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2F34-4884-3916-D06E-3BADC908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Dangers of Protected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46FF9-3ADC-C942-8F75-8C29AF1B2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You should know that there’s a </a:t>
            </a:r>
            <a:r>
              <a:rPr lang="en-US" dirty="0">
                <a:solidFill>
                  <a:srgbClr val="0070C0"/>
                </a:solidFill>
              </a:rPr>
              <a:t>disadvantage</a:t>
            </a:r>
            <a:r>
              <a:rPr lang="en-US" dirty="0"/>
              <a:t> to making class members </a:t>
            </a:r>
            <a:r>
              <a:rPr lang="en-US" dirty="0">
                <a:solidFill>
                  <a:srgbClr val="0070C0"/>
                </a:solidFill>
              </a:rPr>
              <a:t>protected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Say you’ve written a class library, which you’re distributing to the public. Any programmer can </a:t>
            </a:r>
            <a:r>
              <a:rPr lang="en-US" dirty="0">
                <a:solidFill>
                  <a:srgbClr val="0070C0"/>
                </a:solidFill>
              </a:rPr>
              <a:t>access protected members </a:t>
            </a:r>
            <a:r>
              <a:rPr lang="en-US" dirty="0"/>
              <a:t>of your classes simply by </a:t>
            </a:r>
            <a:r>
              <a:rPr lang="en-US" dirty="0">
                <a:solidFill>
                  <a:srgbClr val="0070C0"/>
                </a:solidFill>
              </a:rPr>
              <a:t>deriving other classes from them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makes protected members considerably </a:t>
            </a:r>
            <a:r>
              <a:rPr lang="en-US" dirty="0">
                <a:solidFill>
                  <a:srgbClr val="FF0000"/>
                </a:solidFill>
              </a:rPr>
              <a:t>less secure </a:t>
            </a:r>
            <a:r>
              <a:rPr lang="en-US" dirty="0"/>
              <a:t>than private members.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To avoid corrupted data, it’s often </a:t>
            </a:r>
            <a:r>
              <a:rPr lang="en-US" dirty="0">
                <a:solidFill>
                  <a:srgbClr val="0070C0"/>
                </a:solidFill>
              </a:rPr>
              <a:t>safer to force derived classes</a:t>
            </a:r>
            <a:r>
              <a:rPr lang="en-US" dirty="0"/>
              <a:t> to access private data in the base class using only public setters and getters.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880D6-9FC1-2CD6-3A21-9557B699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CF6C9-B437-71CB-0667-B10184A30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79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B6BD-47B0-27CC-F62F-28AB61C2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Constructors and Destructors in Base and Derived Classes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5BC2D-F199-64CE-8866-EC0CD5499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altLang="en-PK" dirty="0"/>
              <a:t>Constructors and destructors of </a:t>
            </a:r>
            <a:r>
              <a:rPr lang="en-US" altLang="en-PK" dirty="0">
                <a:solidFill>
                  <a:srgbClr val="0070C0"/>
                </a:solidFill>
              </a:rPr>
              <a:t>Base class </a:t>
            </a:r>
            <a:r>
              <a:rPr lang="en-US" altLang="en-PK" dirty="0"/>
              <a:t>are </a:t>
            </a:r>
            <a:r>
              <a:rPr lang="en-US" altLang="en-PK" b="1" i="1" dirty="0">
                <a:solidFill>
                  <a:srgbClr val="FF0000"/>
                </a:solidFill>
              </a:rPr>
              <a:t>NOT inherited</a:t>
            </a:r>
          </a:p>
          <a:p>
            <a:pPr algn="just"/>
            <a:endParaRPr lang="en-US" altLang="en-PK" dirty="0"/>
          </a:p>
          <a:p>
            <a:pPr algn="just"/>
            <a:r>
              <a:rPr lang="en-US" altLang="en-PK" dirty="0"/>
              <a:t>Derived classes can have their own constructors and destructors</a:t>
            </a:r>
          </a:p>
          <a:p>
            <a:pPr algn="just"/>
            <a:endParaRPr lang="en-US" altLang="en-PK" dirty="0"/>
          </a:p>
          <a:p>
            <a:pPr algn="just"/>
            <a:r>
              <a:rPr lang="en-US" altLang="en-PK" dirty="0"/>
              <a:t>When an object of a derived class is created, the </a:t>
            </a:r>
            <a:r>
              <a:rPr lang="en-US" altLang="en-PK" dirty="0">
                <a:solidFill>
                  <a:srgbClr val="0070C0"/>
                </a:solidFill>
              </a:rPr>
              <a:t>base class’s constructor is executed first</a:t>
            </a:r>
            <a:r>
              <a:rPr lang="en-US" altLang="en-PK" dirty="0"/>
              <a:t>, followed by the derived class’s constructor</a:t>
            </a:r>
          </a:p>
          <a:p>
            <a:pPr algn="just"/>
            <a:endParaRPr lang="en-US" altLang="en-PK" dirty="0"/>
          </a:p>
          <a:p>
            <a:pPr algn="just"/>
            <a:r>
              <a:rPr lang="en-US" altLang="en-PK" dirty="0"/>
              <a:t>When an object of a derived class is destroyed</a:t>
            </a:r>
            <a:r>
              <a:rPr lang="en-US" altLang="en-PK" dirty="0">
                <a:solidFill>
                  <a:srgbClr val="0070C0"/>
                </a:solidFill>
              </a:rPr>
              <a:t>, its destructor is called first</a:t>
            </a:r>
            <a:r>
              <a:rPr lang="en-US" altLang="en-PK" dirty="0"/>
              <a:t>, then that of the base class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1FAC7-DB4A-8091-4225-7B3580FB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16538-C1AA-237F-9B8E-78AAE80A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36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0170-E93E-87D6-5441-CD43FCFD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Rules for Derived Classes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2ED9-3C51-2286-4169-74EEB54E4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default constructor </a:t>
            </a:r>
            <a:r>
              <a:rPr lang="en-US" dirty="0"/>
              <a:t>and the </a:t>
            </a:r>
            <a:r>
              <a:rPr lang="en-US" dirty="0">
                <a:solidFill>
                  <a:srgbClr val="0070C0"/>
                </a:solidFill>
              </a:rPr>
              <a:t>destructor of the base class </a:t>
            </a:r>
            <a:r>
              <a:rPr lang="en-US" dirty="0"/>
              <a:t>are </a:t>
            </a:r>
            <a:r>
              <a:rPr lang="en-US" b="1" i="1" dirty="0">
                <a:solidFill>
                  <a:srgbClr val="FF0000"/>
                </a:solidFill>
              </a:rPr>
              <a:t>always called </a:t>
            </a:r>
            <a:r>
              <a:rPr lang="en-US" dirty="0"/>
              <a:t>when a new object of a derived class is created or destroyed.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E1E9F-5527-08F6-79C0-4CC80A88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A2328-541F-3A75-B715-878CCD13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23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C55E5-A63C-4EA1-AABC-68FF9B489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746" y="3458508"/>
            <a:ext cx="7014507" cy="303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71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9EB3-7DD2-0748-2AC9-0B9C2E63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Rules for Derived Classes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50441-5036-975E-A648-566C17440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default constructor </a:t>
            </a:r>
            <a:r>
              <a:rPr lang="en-US" dirty="0"/>
              <a:t>and the </a:t>
            </a:r>
            <a:r>
              <a:rPr lang="en-US" dirty="0">
                <a:solidFill>
                  <a:srgbClr val="0070C0"/>
                </a:solidFill>
              </a:rPr>
              <a:t>destructor of the base class </a:t>
            </a:r>
            <a:r>
              <a:rPr lang="en-US" dirty="0"/>
              <a:t>are </a:t>
            </a:r>
            <a:r>
              <a:rPr lang="en-US" b="1" i="1" dirty="0">
                <a:solidFill>
                  <a:srgbClr val="FF0000"/>
                </a:solidFill>
              </a:rPr>
              <a:t>always called </a:t>
            </a:r>
            <a:r>
              <a:rPr lang="en-US" dirty="0"/>
              <a:t>when a new object of a derived class is created or destroyed.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BA3AD-3E27-E8D1-13C2-5EF60CC40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9DEF6-7F89-2049-8F00-0503F75F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3FEBAF-9D00-6ED0-20C1-2F04AEE29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936" y="3404471"/>
            <a:ext cx="6398128" cy="276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75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1CA68-CE5A-A00F-EC76-63A40250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Passing Arguments to Base Class Constructor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FEE75-7BBA-19B6-3126-5E67F7DC4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85000"/>
              </a:lnSpc>
            </a:pPr>
            <a:r>
              <a:rPr lang="en-US" altLang="en-PK" dirty="0"/>
              <a:t>Allows </a:t>
            </a:r>
            <a:r>
              <a:rPr lang="en-US" altLang="en-PK" dirty="0">
                <a:solidFill>
                  <a:srgbClr val="0070C0"/>
                </a:solidFill>
              </a:rPr>
              <a:t>selection </a:t>
            </a:r>
            <a:r>
              <a:rPr lang="en-US" altLang="en-PK" dirty="0"/>
              <a:t>between </a:t>
            </a:r>
            <a:r>
              <a:rPr lang="en-US" altLang="en-PK" dirty="0">
                <a:solidFill>
                  <a:srgbClr val="0070C0"/>
                </a:solidFill>
              </a:rPr>
              <a:t>multiple base class constructors</a:t>
            </a:r>
          </a:p>
          <a:p>
            <a:pPr algn="just">
              <a:lnSpc>
                <a:spcPct val="85000"/>
              </a:lnSpc>
            </a:pPr>
            <a:endParaRPr lang="en-US" altLang="en-PK" dirty="0"/>
          </a:p>
          <a:p>
            <a:pPr algn="just">
              <a:lnSpc>
                <a:spcPct val="85000"/>
              </a:lnSpc>
            </a:pPr>
            <a:r>
              <a:rPr lang="en-US" altLang="en-PK" dirty="0"/>
              <a:t>Specify </a:t>
            </a:r>
            <a:r>
              <a:rPr lang="en-US" altLang="en-PK" dirty="0">
                <a:solidFill>
                  <a:srgbClr val="0070C0"/>
                </a:solidFill>
              </a:rPr>
              <a:t>arguments to base constructor on derived constructor </a:t>
            </a:r>
            <a:r>
              <a:rPr lang="en-US" altLang="en-PK" dirty="0"/>
              <a:t>heading</a:t>
            </a:r>
          </a:p>
          <a:p>
            <a:pPr algn="just">
              <a:lnSpc>
                <a:spcPct val="85000"/>
              </a:lnSpc>
            </a:pPr>
            <a:endParaRPr lang="en-US" altLang="en-PK" dirty="0"/>
          </a:p>
          <a:p>
            <a:pPr algn="just">
              <a:lnSpc>
                <a:spcPct val="85000"/>
              </a:lnSpc>
            </a:pPr>
            <a:r>
              <a:rPr lang="en-US" altLang="en-PK" dirty="0"/>
              <a:t>Inline constructor syntax:</a:t>
            </a:r>
          </a:p>
          <a:p>
            <a:pPr lvl="1" algn="just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 altLang="en-PK" dirty="0"/>
              <a:t>	</a:t>
            </a:r>
            <a:r>
              <a:rPr lang="en-US" altLang="en-PK" b="1" dirty="0">
                <a:latin typeface="Courier New" panose="02070309020205020404" pitchFamily="49" charset="0"/>
              </a:rPr>
              <a:t>Square(int side)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 : </a:t>
            </a:r>
            <a:r>
              <a:rPr lang="en-US" altLang="en-PK" b="1" dirty="0">
                <a:latin typeface="Courier New" panose="02070309020205020404" pitchFamily="49" charset="0"/>
              </a:rPr>
              <a:t>Rectangle(side, side) </a:t>
            </a:r>
          </a:p>
          <a:p>
            <a:pPr lvl="1" algn="just">
              <a:lnSpc>
                <a:spcPct val="85000"/>
              </a:lnSpc>
              <a:buClr>
                <a:srgbClr val="3333CC"/>
              </a:buClr>
              <a:buFontTx/>
              <a:buNone/>
            </a:pPr>
            <a:endParaRPr lang="en-US" altLang="en-PK" dirty="0">
              <a:latin typeface="Courier New" panose="02070309020205020404" pitchFamily="49" charset="0"/>
            </a:endParaRPr>
          </a:p>
          <a:p>
            <a:pPr algn="just">
              <a:lnSpc>
                <a:spcPct val="85000"/>
              </a:lnSpc>
            </a:pPr>
            <a:r>
              <a:rPr lang="en-US" altLang="en-PK" dirty="0"/>
              <a:t>Can also be done with out-of-line constructors</a:t>
            </a:r>
          </a:p>
          <a:p>
            <a:pPr algn="just">
              <a:lnSpc>
                <a:spcPct val="85000"/>
              </a:lnSpc>
            </a:pPr>
            <a:endParaRPr lang="en-US" altLang="en-PK" dirty="0"/>
          </a:p>
          <a:p>
            <a:pPr marL="0" indent="0" algn="just">
              <a:lnSpc>
                <a:spcPct val="85000"/>
              </a:lnSpc>
              <a:buNone/>
            </a:pPr>
            <a:r>
              <a:rPr lang="en-US" altLang="en-PK" b="1" dirty="0">
                <a:latin typeface="Courier New" panose="02070309020205020404" pitchFamily="49" charset="0"/>
              </a:rPr>
              <a:t>Square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::</a:t>
            </a:r>
            <a:r>
              <a:rPr lang="en-US" altLang="en-PK" b="1" dirty="0">
                <a:latin typeface="Courier New" panose="02070309020205020404" pitchFamily="49" charset="0"/>
              </a:rPr>
              <a:t>Square(int side)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r>
              <a:rPr lang="en-US" altLang="en-PK" b="1" dirty="0">
                <a:latin typeface="Courier New" panose="02070309020205020404" pitchFamily="49" charset="0"/>
              </a:rPr>
              <a:t>Rectangle(side, side) </a:t>
            </a:r>
          </a:p>
          <a:p>
            <a:pPr marL="0" indent="0" algn="just">
              <a:lnSpc>
                <a:spcPct val="85000"/>
              </a:lnSpc>
              <a:buNone/>
            </a:pPr>
            <a:endParaRPr lang="en-US" altLang="en-PK" dirty="0"/>
          </a:p>
          <a:p>
            <a:pPr algn="just">
              <a:lnSpc>
                <a:spcPct val="85000"/>
              </a:lnSpc>
            </a:pPr>
            <a:r>
              <a:rPr lang="en-US" altLang="en-PK" dirty="0"/>
              <a:t>Must be done if </a:t>
            </a:r>
            <a:r>
              <a:rPr lang="en-US" altLang="en-PK" b="1" i="1" dirty="0">
                <a:solidFill>
                  <a:srgbClr val="FF0000"/>
                </a:solidFill>
              </a:rPr>
              <a:t>base class has no default constructor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CB037-8D3F-B5E4-0069-226C3997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6DBB2-58C8-BC93-966C-76EA83D9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083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5E73-89A8-6571-E535-1D829178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Passing Arguments to Base Class Constructor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16AB0-BE79-93F6-E582-96B53568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7F585-3958-B85C-E31F-31766C86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327C62-091E-B524-3AE4-278634D05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96" y="2129558"/>
            <a:ext cx="11253008" cy="358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74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0B9D-7810-2CB0-8890-8CF19BB5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Rules for Derived Classes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C0DAC-A65A-A0C0-33B2-47927096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You can </a:t>
            </a:r>
            <a:r>
              <a:rPr lang="en-US" dirty="0">
                <a:solidFill>
                  <a:srgbClr val="0070C0"/>
                </a:solidFill>
              </a:rPr>
              <a:t>specifically call a constructor of the base class </a:t>
            </a:r>
            <a:r>
              <a:rPr lang="en-US" dirty="0"/>
              <a:t>other than the default constructor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FA288-7BBD-336A-EEA1-60D1508A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FD57B-6BEE-8734-8643-31435185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B82CC-39B7-4F14-827D-E44148445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569" y="2917036"/>
            <a:ext cx="7142521" cy="369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15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B550B-9683-FAF8-B458-B473ED21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2E61C-8800-042D-35CA-58ECAF79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02E6B-03BF-E9C7-0C67-A5B5CB8DD0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0262"/>
          <a:stretch/>
        </p:blipFill>
        <p:spPr>
          <a:xfrm>
            <a:off x="3192164" y="234771"/>
            <a:ext cx="5807672" cy="64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47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67A71-568F-46DA-F078-8554ADD7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A477B-19A6-092A-0314-843BE83B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98493F-3F6F-D113-E999-ED933AF5C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903" y="39682"/>
            <a:ext cx="8565622" cy="668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63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86A96-5429-B3A8-E7F7-091EC584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Derivation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42B62-454D-0C41-BF08-BD1A1535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0984B-AA0A-A7FD-38B8-1B89A656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2A528-B932-1D3E-E60A-E79C04B23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654" y="1435144"/>
            <a:ext cx="8846063" cy="4371211"/>
          </a:xfrm>
          <a:prstGeom prst="rect">
            <a:avLst/>
          </a:prstGeom>
        </p:spPr>
      </p:pic>
      <p:sp>
        <p:nvSpPr>
          <p:cNvPr id="7" name="Text Box 19">
            <a:extLst>
              <a:ext uri="{FF2B5EF4-FFF2-40B4-BE49-F238E27FC236}">
                <a16:creationId xmlns:a16="http://schemas.microsoft.com/office/drawing/2014/main" id="{5DAECAF3-316D-7AA5-AB63-42ADFD811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956242"/>
            <a:ext cx="11125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C00000"/>
                </a:solidFill>
                <a:latin typeface="+mj-lt"/>
              </a:rPr>
              <a:t>Point </a:t>
            </a:r>
            <a:r>
              <a:rPr lang="en-US" sz="2000" dirty="0">
                <a:latin typeface="+mj-lt"/>
              </a:rPr>
              <a:t>is the 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base class </a:t>
            </a:r>
            <a:r>
              <a:rPr lang="en-US" sz="2000" dirty="0">
                <a:latin typeface="+mj-lt"/>
              </a:rPr>
              <a:t>of </a:t>
            </a:r>
            <a:r>
              <a:rPr lang="en-US" sz="2000" dirty="0">
                <a:solidFill>
                  <a:srgbClr val="D20000"/>
                </a:solidFill>
                <a:latin typeface="+mj-lt"/>
              </a:rPr>
              <a:t>3D-Point</a:t>
            </a:r>
            <a:r>
              <a:rPr lang="en-US" sz="2000" dirty="0">
                <a:latin typeface="+mj-lt"/>
              </a:rPr>
              <a:t>, while </a:t>
            </a:r>
            <a:r>
              <a:rPr lang="en-US" sz="2000" dirty="0">
                <a:solidFill>
                  <a:srgbClr val="D20000"/>
                </a:solidFill>
                <a:latin typeface="+mj-lt"/>
              </a:rPr>
              <a:t>3DPoint </a:t>
            </a:r>
            <a:r>
              <a:rPr lang="en-US" sz="2000" dirty="0">
                <a:latin typeface="+mj-lt"/>
              </a:rPr>
              <a:t>is the </a:t>
            </a:r>
            <a:r>
              <a:rPr lang="en-US" sz="2000" dirty="0">
                <a:solidFill>
                  <a:srgbClr val="0070C0"/>
                </a:solidFill>
                <a:latin typeface="+mj-lt"/>
              </a:rPr>
              <a:t>base class </a:t>
            </a:r>
            <a:r>
              <a:rPr lang="en-US" sz="2000" dirty="0">
                <a:latin typeface="+mj-lt"/>
              </a:rPr>
              <a:t>of </a:t>
            </a:r>
            <a:r>
              <a:rPr lang="en-US" sz="2000" dirty="0">
                <a:solidFill>
                  <a:srgbClr val="D20000"/>
                </a:solidFill>
                <a:latin typeface="+mj-lt"/>
              </a:rPr>
              <a:t>Sphere</a:t>
            </a:r>
          </a:p>
        </p:txBody>
      </p:sp>
    </p:spTree>
    <p:extLst>
      <p:ext uri="{BB962C8B-B14F-4D97-AF65-F5344CB8AC3E}">
        <p14:creationId xmlns:p14="http://schemas.microsoft.com/office/powerpoint/2010/main" val="226404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9EF4F-0DEB-EE85-3709-3CEAB692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execution of Constructors/Destructors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C01B-EBF2-AA59-150A-7C4ABAC54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Chain of constructor calls: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Point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Circle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Cylinder</a:t>
            </a: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Point constructor executes first</a:t>
            </a:r>
          </a:p>
          <a:p>
            <a:pPr lvl="1"/>
            <a:r>
              <a:rPr lang="en-US" dirty="0"/>
              <a:t>Then circle and last Cylinder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239F0-2CAA-5625-63A2-563C746F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68409-AD5F-3469-D88D-D1A19239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96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A1F3-A2AD-F41A-2822-92A8E9C0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execution of Constructors/Destructors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3D13-0063-70C4-86E9-D3F991472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Chain of destructor calls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</a:rPr>
              <a:t>Reverse order of constructor chain</a:t>
            </a:r>
          </a:p>
          <a:p>
            <a:pPr lvl="1" algn="just"/>
            <a:endParaRPr lang="en-US" dirty="0">
              <a:solidFill>
                <a:srgbClr val="0070C0"/>
              </a:solidFill>
            </a:endParaRPr>
          </a:p>
          <a:p>
            <a:pPr marL="1314450" lvl="3" indent="0" algn="just">
              <a:buNone/>
            </a:pPr>
            <a:r>
              <a:rPr lang="en-US" sz="2400" dirty="0">
                <a:solidFill>
                  <a:srgbClr val="7030A0"/>
                </a:solidFill>
                <a:latin typeface="Consolas" panose="020B0609020204030204" pitchFamily="49" charset="0"/>
              </a:rPr>
              <a:t>Cylinder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2060"/>
                </a:solidFill>
                <a:latin typeface="Consolas" panose="020B0609020204030204" pitchFamily="49" charset="0"/>
              </a:rPr>
              <a:t>Circle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Point</a:t>
            </a:r>
          </a:p>
          <a:p>
            <a:pPr marL="1314450" lvl="3" indent="0" algn="just">
              <a:buNone/>
            </a:pPr>
            <a:endParaRPr lang="en-US" sz="2400" dirty="0">
              <a:solidFill>
                <a:srgbClr val="0070C0"/>
              </a:solidFill>
            </a:endParaRPr>
          </a:p>
          <a:p>
            <a:pPr lvl="1" algn="just"/>
            <a:r>
              <a:rPr lang="en-US" dirty="0"/>
              <a:t>Destructor of derived-class called first</a:t>
            </a:r>
          </a:p>
          <a:p>
            <a:pPr lvl="1" algn="just"/>
            <a:r>
              <a:rPr lang="en-US" dirty="0"/>
              <a:t>Destructor of next base class up hierarchy next</a:t>
            </a:r>
          </a:p>
          <a:p>
            <a:pPr lvl="1" algn="just"/>
            <a:r>
              <a:rPr lang="en-US" dirty="0"/>
              <a:t>Continue up hierarchy until final base reached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After final base-class destructor, </a:t>
            </a:r>
            <a:r>
              <a:rPr lang="en-US" dirty="0">
                <a:solidFill>
                  <a:srgbClr val="0070C0"/>
                </a:solidFill>
              </a:rPr>
              <a:t>object removed from memory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5DCBB-A865-7C59-0C07-203EE235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C2A34-1ABA-4E71-F61E-E8409653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926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E04BD-40B9-2B55-231D-7E31CF6B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61325-BA94-595D-9FE8-BC3A4B15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D1A4E-F0F8-DB1D-F01A-F5380C6D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A302E-BCD5-C851-8CE4-3D88CE637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860" y="1200829"/>
            <a:ext cx="8340051" cy="564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41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318DE-9AD4-97CE-DD20-E19C5ED8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cont.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C991E-097A-F9C1-47ED-0C6A3919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A5414-0B3B-A213-41CA-35FC69CC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63EF0-C233-37CC-3F1C-36A11C7D7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974" y="1557717"/>
            <a:ext cx="8340051" cy="516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7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94C4FC-0255-8FBA-71F9-DD714835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84043-A14F-4ADB-2EB9-B43135B34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173AA-D2F1-0DC3-B4B3-C84458557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198" y="5891"/>
            <a:ext cx="77871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19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D883-6A1D-17EC-6960-A40BEF75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cont.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A887C-83F9-F64D-752E-AA4D85A7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43E3C-A984-A620-602B-8B2210FB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BFFFC7-C30A-728B-5C51-1A31B154A2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6880"/>
          <a:stretch/>
        </p:blipFill>
        <p:spPr>
          <a:xfrm>
            <a:off x="3450408" y="1510252"/>
            <a:ext cx="5291184" cy="52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32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FE32-6477-AD4C-8D9B-8B3B0BE0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 vs Class Access Specifier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17823-8DEA-DC47-25AE-BBABE4F6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C3060-A687-2BC6-E6DE-8914F743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D2BE4CB-A9FC-3AFD-C3CF-BD345466217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95943" y="1806576"/>
            <a:ext cx="3352800" cy="4144964"/>
          </a:xfrm>
        </p:spPr>
        <p:txBody>
          <a:bodyPr/>
          <a:lstStyle/>
          <a:p>
            <a:pPr algn="just"/>
            <a:r>
              <a:rPr lang="en-US" sz="2400" dirty="0"/>
              <a:t>Two levels of </a:t>
            </a:r>
            <a:r>
              <a:rPr lang="en-US" sz="2400" dirty="0">
                <a:solidFill>
                  <a:srgbClr val="0070C0"/>
                </a:solidFill>
              </a:rPr>
              <a:t>access control </a:t>
            </a:r>
            <a:r>
              <a:rPr lang="en-US" sz="2400" dirty="0"/>
              <a:t>over class members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class definition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inheritance type</a:t>
            </a: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FF8B6F42-0A03-09CD-F2AD-2CB7B9E347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894255"/>
              </p:ext>
            </p:extLst>
          </p:nvPr>
        </p:nvGraphicFramePr>
        <p:xfrm>
          <a:off x="3940628" y="1806576"/>
          <a:ext cx="28956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945307" imgH="1910002" progId="">
                  <p:embed/>
                </p:oleObj>
              </mc:Choice>
              <mc:Fallback>
                <p:oleObj name="VISIO" r:id="rId2" imgW="1945307" imgH="1910002" progId="">
                  <p:embed/>
                  <p:pic>
                    <p:nvPicPr>
                      <p:cNvPr id="30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628" y="1806576"/>
                        <a:ext cx="28956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6CAD26A8-C7EB-380B-45DB-25B0B327C37C}"/>
              </a:ext>
            </a:extLst>
          </p:cNvPr>
          <p:cNvGrpSpPr/>
          <p:nvPr/>
        </p:nvGrpSpPr>
        <p:grpSpPr>
          <a:xfrm>
            <a:off x="7228113" y="1817462"/>
            <a:ext cx="4572000" cy="2949576"/>
            <a:chOff x="7228114" y="1806576"/>
            <a:chExt cx="4572000" cy="2949576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B96EA512-C843-1537-7599-3F0482EB1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8114" y="1806576"/>
              <a:ext cx="4572000" cy="152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/>
            <a:lstStyle>
              <a:lvl1pPr marL="342900" indent="-3429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2000" dirty="0"/>
                <a:t>class Point{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000" dirty="0"/>
                <a:t>	</a:t>
              </a:r>
              <a:r>
                <a:rPr lang="en-US" sz="2000" b="1" dirty="0">
                  <a:solidFill>
                    <a:srgbClr val="FF0000"/>
                  </a:solidFill>
                </a:rPr>
                <a:t>protected:</a:t>
              </a:r>
              <a:r>
                <a:rPr lang="en-US" sz="2000" dirty="0"/>
                <a:t> </a:t>
              </a:r>
              <a:r>
                <a:rPr lang="en-US" sz="2000" dirty="0" err="1"/>
                <a:t>int</a:t>
              </a:r>
              <a:r>
                <a:rPr lang="en-US" sz="2000" dirty="0"/>
                <a:t> x, y;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000" dirty="0"/>
                <a:t>	</a:t>
              </a:r>
              <a:r>
                <a:rPr lang="en-US" sz="2000" b="1" dirty="0">
                  <a:solidFill>
                    <a:srgbClr val="FF0000"/>
                  </a:solidFill>
                </a:rPr>
                <a:t>public:</a:t>
              </a:r>
              <a:r>
                <a:rPr lang="en-US" sz="2000" b="1" dirty="0">
                  <a:solidFill>
                    <a:srgbClr val="D20000"/>
                  </a:solidFill>
                </a:rPr>
                <a:t> </a:t>
              </a:r>
              <a:r>
                <a:rPr lang="en-US" sz="2000" dirty="0"/>
                <a:t>void set(</a:t>
              </a:r>
              <a:r>
                <a:rPr lang="en-US" sz="2000" dirty="0" err="1"/>
                <a:t>int</a:t>
              </a:r>
              <a:r>
                <a:rPr lang="en-US" sz="2000" dirty="0"/>
                <a:t> a, </a:t>
              </a:r>
              <a:r>
                <a:rPr lang="en-US" sz="2000" dirty="0" err="1"/>
                <a:t>int</a:t>
              </a:r>
              <a:r>
                <a:rPr lang="en-US" sz="2000" dirty="0"/>
                <a:t> b);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000" dirty="0"/>
                <a:t>};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D6C15505-52CA-CCE2-73A9-382B0C305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8114" y="3613152"/>
              <a:ext cx="4572000" cy="1143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2000" dirty="0">
                  <a:solidFill>
                    <a:srgbClr val="000066"/>
                  </a:solidFill>
                </a:rPr>
                <a:t>class Circle : </a:t>
              </a:r>
              <a:r>
                <a:rPr lang="en-US" sz="2000" b="1" dirty="0">
                  <a:solidFill>
                    <a:srgbClr val="FF0000"/>
                  </a:solidFill>
                </a:rPr>
                <a:t>public</a:t>
              </a:r>
              <a:r>
                <a:rPr lang="en-US" sz="2000" dirty="0">
                  <a:solidFill>
                    <a:srgbClr val="008000"/>
                  </a:solidFill>
                </a:rPr>
                <a:t> </a:t>
              </a:r>
              <a:r>
                <a:rPr lang="en-US" sz="2000" dirty="0">
                  <a:solidFill>
                    <a:srgbClr val="000066"/>
                  </a:solidFill>
                </a:rPr>
                <a:t>Point{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000" dirty="0">
                  <a:solidFill>
                    <a:srgbClr val="000066"/>
                  </a:solidFill>
                </a:rPr>
                <a:t>	… …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000" dirty="0">
                  <a:solidFill>
                    <a:srgbClr val="000066"/>
                  </a:solidFill>
                </a:rPr>
                <a:t>};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728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91965-35EF-EA34-693D-E43E53B8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inheritance/ Class access specifier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80798-12AD-F800-E3BA-527EC1A1F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Public</a:t>
            </a:r>
          </a:p>
          <a:p>
            <a:endParaRPr lang="en-US" altLang="zh-CN" dirty="0"/>
          </a:p>
          <a:p>
            <a:r>
              <a:rPr lang="en-US" altLang="zh-CN" dirty="0"/>
              <a:t>Private</a:t>
            </a:r>
          </a:p>
          <a:p>
            <a:endParaRPr lang="en-US" altLang="zh-CN" dirty="0"/>
          </a:p>
          <a:p>
            <a:r>
              <a:rPr lang="en-US" altLang="zh-CN" dirty="0"/>
              <a:t>protected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84332-A1BD-7764-1C61-B663FFBF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81624-14EA-AD22-E071-944913D4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665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8B1D-49A9-779C-6882-F4248070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Public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559CE-8A17-FE76-AE1A-8D1AFAF40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With public inheritance, </a:t>
            </a:r>
          </a:p>
          <a:p>
            <a:pPr lvl="1"/>
            <a:r>
              <a:rPr lang="en-US" altLang="zh-CN" dirty="0"/>
              <a:t>public and protected members of the </a:t>
            </a:r>
            <a:r>
              <a:rPr lang="en-US" altLang="zh-CN" dirty="0">
                <a:solidFill>
                  <a:srgbClr val="0070C0"/>
                </a:solidFill>
              </a:rPr>
              <a:t>base class </a:t>
            </a:r>
            <a:r>
              <a:rPr lang="en-US" altLang="zh-CN" dirty="0"/>
              <a:t>become respectively public and protected members of the </a:t>
            </a:r>
            <a:r>
              <a:rPr lang="en-US" altLang="zh-CN" dirty="0">
                <a:solidFill>
                  <a:srgbClr val="0070C0"/>
                </a:solidFill>
              </a:rPr>
              <a:t>derived class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3C953-70C1-2AAD-22EE-85FD5272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ED2EB-E086-0F09-1E51-F4F84B41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6A08B-4AE5-9D78-7B5B-6ABBE59AB7C2}"/>
              </a:ext>
            </a:extLst>
          </p:cNvPr>
          <p:cNvSpPr txBox="1"/>
          <p:nvPr/>
        </p:nvSpPr>
        <p:spPr>
          <a:xfrm>
            <a:off x="3810000" y="3684525"/>
            <a:ext cx="4572000" cy="155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class derived : </a:t>
            </a:r>
            <a:r>
              <a:rPr lang="en-US" sz="2800" b="1" dirty="0">
                <a:solidFill>
                  <a:srgbClr val="FF0000"/>
                </a:solidFill>
              </a:rPr>
              <a:t>public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>
                <a:solidFill>
                  <a:srgbClr val="000066"/>
                </a:solidFill>
              </a:rPr>
              <a:t>base{</a:t>
            </a:r>
          </a:p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	… …</a:t>
            </a:r>
          </a:p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};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678309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1C53-A097-7AA3-CD02-C9DCE885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Protected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C01E7-3C77-2EFE-3C14-F8ABF24BB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Public and protected members of the base class become </a:t>
            </a:r>
            <a:r>
              <a:rPr lang="en-US" altLang="zh-CN" b="1" i="1" dirty="0">
                <a:solidFill>
                  <a:srgbClr val="0070C0"/>
                </a:solidFill>
              </a:rPr>
              <a:t>protected members </a:t>
            </a:r>
            <a:r>
              <a:rPr lang="en-US" altLang="zh-CN" dirty="0"/>
              <a:t>of the derived class.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63B06-7FCF-70ED-20BC-CAF8C9F9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E592D-8A4C-2B99-AD9B-9208A02C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14AB5-F4E8-84BF-2D2E-691514DF23AE}"/>
              </a:ext>
            </a:extLst>
          </p:cNvPr>
          <p:cNvSpPr txBox="1"/>
          <p:nvPr/>
        </p:nvSpPr>
        <p:spPr>
          <a:xfrm>
            <a:off x="3505200" y="3429000"/>
            <a:ext cx="5181600" cy="155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class derived : </a:t>
            </a:r>
            <a:r>
              <a:rPr lang="en-US" sz="2800" b="1" dirty="0">
                <a:solidFill>
                  <a:srgbClr val="FF0000"/>
                </a:solidFill>
              </a:rPr>
              <a:t>protected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>
                <a:solidFill>
                  <a:srgbClr val="000066"/>
                </a:solidFill>
              </a:rPr>
              <a:t>base{</a:t>
            </a:r>
          </a:p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	… …</a:t>
            </a:r>
          </a:p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};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6643552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74038-B3FE-1EEE-AD45-6084A20D0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Private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80A77-8FC9-EC21-DE75-2838BB026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With private inheritance, public and protected members of the base class become </a:t>
            </a:r>
            <a:r>
              <a:rPr lang="en-US" altLang="zh-CN" b="1" i="1" dirty="0">
                <a:solidFill>
                  <a:srgbClr val="0070C0"/>
                </a:solidFill>
              </a:rPr>
              <a:t>private members of the derived class</a:t>
            </a:r>
            <a:r>
              <a:rPr lang="en-US" altLang="zh-CN" dirty="0"/>
              <a:t>.</a:t>
            </a:r>
            <a:endParaRPr lang="en-US" dirty="0"/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5D52F-5D2C-BB89-6ADA-1BDE0747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E4985-6321-164E-118C-67E4B726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213A2-44D1-A774-22F3-BF679B8CEFC8}"/>
              </a:ext>
            </a:extLst>
          </p:cNvPr>
          <p:cNvSpPr txBox="1"/>
          <p:nvPr/>
        </p:nvSpPr>
        <p:spPr>
          <a:xfrm>
            <a:off x="3505200" y="3429000"/>
            <a:ext cx="5181600" cy="1557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class derived : </a:t>
            </a:r>
            <a:r>
              <a:rPr lang="en-US" sz="2800" b="1" dirty="0">
                <a:solidFill>
                  <a:srgbClr val="FF0000"/>
                </a:solidFill>
              </a:rPr>
              <a:t>private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>
                <a:solidFill>
                  <a:srgbClr val="000066"/>
                </a:solidFill>
              </a:rPr>
              <a:t>base{</a:t>
            </a:r>
          </a:p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	… …</a:t>
            </a:r>
          </a:p>
          <a:p>
            <a:pPr eaLnBrk="1" hangingPunct="1">
              <a:spcBef>
                <a:spcPct val="20000"/>
              </a:spcBef>
            </a:pPr>
            <a:r>
              <a:rPr lang="en-US" sz="2800" dirty="0">
                <a:solidFill>
                  <a:srgbClr val="000066"/>
                </a:solidFill>
              </a:rPr>
              <a:t>};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8127929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80A2-CB08-707A-5A2B-049F51F1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public, protected and private Inheritance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C8C71-5B7A-5BC3-10EB-C79CC866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B7711-786B-6646-0CEE-81AED8E3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42</a:t>
            </a:fld>
            <a:endParaRPr lang="en-US" dirty="0"/>
          </a:p>
        </p:txBody>
      </p:sp>
      <p:pic>
        <p:nvPicPr>
          <p:cNvPr id="6" name="Picture 32" descr="https://media.geeksforgeeks.org/wp-content/cdn-uploads/table-class.png">
            <a:extLst>
              <a:ext uri="{FF2B5EF4-FFF2-40B4-BE49-F238E27FC236}">
                <a16:creationId xmlns:a16="http://schemas.microsoft.com/office/drawing/2014/main" id="{CC1AD0C7-A4F4-A157-F3E9-4DA8BB38E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24" y="1902733"/>
            <a:ext cx="10715552" cy="424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988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CE39C-AEB6-C9E0-8A57-143E2ADD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Inheritance vs. Access 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ACAF3-A388-85C2-63DB-6543B436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411E4-9566-3443-F8D0-2DB9DEE4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9ADDD8-32A6-3BD1-C2C4-A23898967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677" y="1576007"/>
            <a:ext cx="7998645" cy="514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06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F0E81-52BE-802C-8615-A8A113C3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Class Access Specifiers – When to use?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B4BA8-6941-ECDA-DB79-4C910D9FD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 algn="just">
              <a:buClr>
                <a:schemeClr val="tx1"/>
              </a:buClr>
              <a:buFontTx/>
              <a:buAutoNum type="arabicParenR"/>
            </a:pPr>
            <a:r>
              <a:rPr lang="en-US" altLang="en-PK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PK" sz="2800" dirty="0"/>
              <a:t> – object of derived class can be treated as object of base class (not vice-versa)</a:t>
            </a:r>
          </a:p>
          <a:p>
            <a:pPr marL="609600" indent="-609600" algn="just">
              <a:buClr>
                <a:schemeClr val="tx1"/>
              </a:buClr>
              <a:buFontTx/>
              <a:buAutoNum type="arabicParenR"/>
            </a:pPr>
            <a:endParaRPr lang="en-US" altLang="en-PK" sz="2800" dirty="0"/>
          </a:p>
          <a:p>
            <a:pPr marL="609600" indent="-609600" algn="just">
              <a:buClr>
                <a:schemeClr val="tx1"/>
              </a:buClr>
              <a:buFontTx/>
              <a:buAutoNum type="arabicParenR"/>
            </a:pPr>
            <a:r>
              <a:rPr lang="en-US" altLang="en-PK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protected</a:t>
            </a:r>
            <a:r>
              <a:rPr lang="en-US" altLang="en-PK" sz="2800" dirty="0"/>
              <a:t> – more restrictive than </a:t>
            </a:r>
            <a:r>
              <a:rPr lang="en-US" altLang="en-PK" sz="2800" b="1" dirty="0">
                <a:latin typeface="Courier New" panose="02070309020205020404" pitchFamily="49" charset="0"/>
              </a:rPr>
              <a:t>public</a:t>
            </a:r>
            <a:r>
              <a:rPr lang="en-US" altLang="en-PK" sz="2800" dirty="0"/>
              <a:t>, but allows derived classes to know details of parents</a:t>
            </a:r>
          </a:p>
          <a:p>
            <a:pPr marL="609600" indent="-609600" algn="just">
              <a:buClr>
                <a:schemeClr val="tx1"/>
              </a:buClr>
              <a:buFontTx/>
              <a:buAutoNum type="arabicParenR"/>
            </a:pPr>
            <a:endParaRPr lang="en-US" altLang="en-PK" sz="2800" dirty="0"/>
          </a:p>
          <a:p>
            <a:pPr marL="609600" indent="-609600" algn="just">
              <a:buClr>
                <a:schemeClr val="tx1"/>
              </a:buClr>
              <a:buFontTx/>
              <a:buAutoNum type="arabicParenR"/>
            </a:pPr>
            <a:r>
              <a:rPr lang="en-US" altLang="en-PK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PK" sz="2800" dirty="0"/>
              <a:t> – prevents objects of derived class from being treated as objects of base class.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2AC9A-5365-5701-113F-9EF8642C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85BBF-F320-171C-7251-5E3B97D6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3296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9B8-BB52-934C-918F-F7B223C3D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Overriding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03BA6-A262-764A-A585-9A8555543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derived class can </a:t>
            </a:r>
            <a:r>
              <a:rPr lang="en-US" dirty="0">
                <a:solidFill>
                  <a:srgbClr val="0070C0"/>
                </a:solidFill>
              </a:rPr>
              <a:t>override methods </a:t>
            </a:r>
            <a:r>
              <a:rPr lang="en-US" dirty="0"/>
              <a:t>defined in its parent class. </a:t>
            </a:r>
          </a:p>
          <a:p>
            <a:pPr lvl="1"/>
            <a:r>
              <a:rPr lang="en-US" dirty="0"/>
              <a:t>the method in the subclass must have the </a:t>
            </a:r>
            <a:r>
              <a:rPr lang="en-US" dirty="0">
                <a:solidFill>
                  <a:srgbClr val="0070C0"/>
                </a:solidFill>
              </a:rPr>
              <a:t>identical signature</a:t>
            </a:r>
            <a:r>
              <a:rPr lang="en-US" dirty="0"/>
              <a:t> to the method in the base class. </a:t>
            </a:r>
          </a:p>
          <a:p>
            <a:pPr lvl="1"/>
            <a:r>
              <a:rPr lang="en-US" dirty="0"/>
              <a:t>a subclass implements its own version of a base class method. </a:t>
            </a:r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CD35E-76F2-D096-81AB-FE9B4DFC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30416-DD7E-9C13-5875-01C30C6D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FC327-31F9-59D5-7356-27AF16688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515" y="4316441"/>
            <a:ext cx="7794969" cy="203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058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1214-BA89-3074-B970-76201C98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Overriding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975D3-5DF2-163E-8BB7-0E32CD33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E024E-84F5-0608-BE58-3669CB76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97A2DB-D93B-48D3-1B64-409B4108E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695" y="1323257"/>
            <a:ext cx="7498905" cy="503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853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64D66-E34C-1043-7256-A7109468B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CA01-B56C-D77B-CB7D-5F02CE3EC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Single inheritance</a:t>
            </a:r>
          </a:p>
          <a:p>
            <a:pPr lvl="1"/>
            <a:r>
              <a:rPr lang="en-US" dirty="0"/>
              <a:t>Inherits from one base class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Multi-level inheritance</a:t>
            </a:r>
          </a:p>
          <a:p>
            <a:pPr lvl="1"/>
            <a:r>
              <a:rPr lang="en-US" dirty="0"/>
              <a:t>Chain of inheritance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Multiple inheritance</a:t>
            </a:r>
          </a:p>
          <a:p>
            <a:pPr lvl="1"/>
            <a:r>
              <a:rPr lang="en-US" dirty="0"/>
              <a:t>Inherits from multiple classes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CA75D-0B0E-752B-647A-EF0FC4FC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27B0E-DDB0-1915-D213-5EE08D0B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43A0F-8B94-10B2-188B-DAB6D6B9B9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8122"/>
          <a:stretch/>
        </p:blipFill>
        <p:spPr>
          <a:xfrm>
            <a:off x="7075229" y="1838414"/>
            <a:ext cx="3070741" cy="34952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408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433C-883B-13D8-5C41-DC24A80D1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Inheritance: University Example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49B2D-95DA-327C-9946-D671242B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2D14B-CA5F-A26A-AFBE-70325E7A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B33AC4-B9E8-FA1E-4C38-7B1C2A35E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04" y="1722990"/>
            <a:ext cx="7742591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864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10F1-A780-7867-4F7B-0CEB3671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Inheritance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9EEB-6FB3-EEF3-4B2D-E665A0EF0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F74F5-DEAF-6981-2910-B807DACE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43340-7F5A-FEAA-504D-739958520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769" y="1690690"/>
            <a:ext cx="5334462" cy="366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408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7027F4-416A-C810-18C3-F3059E5A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9" y="1369074"/>
            <a:ext cx="7587272" cy="53088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88D57C-CEF5-5E8D-7110-91624CC2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Multiple Inheritance?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E4804-A087-2431-EC5B-1BCBA8A5C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2034542"/>
            <a:ext cx="3200400" cy="4160520"/>
          </a:xfrm>
        </p:spPr>
        <p:txBody>
          <a:bodyPr/>
          <a:lstStyle/>
          <a:p>
            <a:pPr algn="just"/>
            <a:r>
              <a:rPr lang="en-US" sz="2400" dirty="0"/>
              <a:t>If class A </a:t>
            </a:r>
            <a:r>
              <a:rPr lang="en-US" sz="2400" b="1" i="1" dirty="0">
                <a:solidFill>
                  <a:srgbClr val="FF0000"/>
                </a:solidFill>
              </a:rPr>
              <a:t>inherits from more than one class</a:t>
            </a:r>
            <a:r>
              <a:rPr lang="en-US" sz="2400" dirty="0"/>
              <a:t>, </a:t>
            </a:r>
          </a:p>
          <a:p>
            <a:pPr lvl="1" algn="just"/>
            <a:r>
              <a:rPr lang="en-US" sz="2000" dirty="0"/>
              <a:t>i.e.,  A </a:t>
            </a:r>
            <a:r>
              <a:rPr lang="en-US" sz="2000" dirty="0">
                <a:sym typeface="Wingdings" panose="05000000000000000000" pitchFamily="2" charset="2"/>
              </a:rPr>
              <a:t> (</a:t>
            </a:r>
            <a:r>
              <a:rPr lang="en-US" sz="2000" dirty="0"/>
              <a:t>B1, B2, ..., Bn), we speak of </a:t>
            </a:r>
            <a:r>
              <a:rPr lang="en-US" sz="2000" dirty="0">
                <a:solidFill>
                  <a:srgbClr val="0070C0"/>
                </a:solidFill>
              </a:rPr>
              <a:t>multiple inheritance</a:t>
            </a:r>
            <a:r>
              <a:rPr lang="en-US" dirty="0"/>
              <a:t>. 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B92A0-D382-AABF-BB50-74A69438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6217D-722E-EB11-5CF0-5F8B6C08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413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B3AA-1866-C036-3620-BDBDAE12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AE37B-EB41-EE3B-556B-10D09CFF1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may introduce naming conflicts:</a:t>
            </a:r>
          </a:p>
          <a:p>
            <a:pPr lvl="1" algn="just"/>
            <a:r>
              <a:rPr lang="en-US" dirty="0"/>
              <a:t>if at least two of its base classes define properties (data members or member functions) with the </a:t>
            </a:r>
            <a:r>
              <a:rPr lang="en-US" dirty="0">
                <a:solidFill>
                  <a:srgbClr val="0070C0"/>
                </a:solidFill>
              </a:rPr>
              <a:t>same name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124A2-4BBB-FE95-4CFC-6F9D84F4D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A0976-5FD7-2BD2-7DD0-5014EF3B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715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3548-A0B1-09FE-0365-BD097DE6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 in Multiple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5002-8C0C-6E97-E942-7FB2DDCD1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class Student {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	int id;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	int age;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	int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GetAge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() const { return age; 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	int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GetId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() const { return id; 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	void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SetAge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( int n ) { age = n; 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	void </a:t>
            </a:r>
            <a:r>
              <a:rPr lang="en-US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SetId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( int n ) { id=n; 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ED182-2AA3-0C88-9991-4AE4D6809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14584-1A20-2328-53D5-4202C170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891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60F3-1E1C-F3F4-3E1F-2EF23539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 in Multiple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4994A-3DC8-BDE2-167A-BCA24785B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latin typeface="Consolas" panose="020B0609020204030204" pitchFamily="49" charset="0"/>
              </a:rPr>
              <a:t>class Employee {</a:t>
            </a:r>
          </a:p>
          <a:p>
            <a:pPr marL="0" indent="0">
              <a:buNone/>
            </a:pPr>
            <a:endParaRPr lang="en-US" sz="2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sz="2800" b="1" dirty="0">
                <a:latin typeface="Consolas" panose="020B0609020204030204" pitchFamily="49" charset="0"/>
              </a:rPr>
              <a:t>	int </a:t>
            </a:r>
            <a:r>
              <a:rPr lang="en-US" sz="2800" b="1" dirty="0" err="1">
                <a:latin typeface="Consolas" panose="020B0609020204030204" pitchFamily="49" charset="0"/>
              </a:rPr>
              <a:t>GetAge</a:t>
            </a:r>
            <a:r>
              <a:rPr lang="en-US" sz="2800" b="1" dirty="0">
                <a:latin typeface="Consolas" panose="020B0609020204030204" pitchFamily="49" charset="0"/>
              </a:rPr>
              <a:t>() const { return age; }</a:t>
            </a:r>
          </a:p>
          <a:p>
            <a:pPr marL="0" indent="0">
              <a:buNone/>
            </a:pPr>
            <a:r>
              <a:rPr lang="en-US" sz="2800" b="1" dirty="0">
                <a:latin typeface="Consolas" panose="020B0609020204030204" pitchFamily="49" charset="0"/>
              </a:rPr>
              <a:t>	int </a:t>
            </a:r>
            <a:r>
              <a:rPr lang="en-US" sz="2800" b="1" dirty="0" err="1">
                <a:latin typeface="Consolas" panose="020B0609020204030204" pitchFamily="49" charset="0"/>
              </a:rPr>
              <a:t>SetAge</a:t>
            </a:r>
            <a:r>
              <a:rPr lang="en-US" sz="2800" b="1" dirty="0">
                <a:latin typeface="Consolas" panose="020B0609020204030204" pitchFamily="49" charset="0"/>
              </a:rPr>
              <a:t>( int n ) { age = n; }</a:t>
            </a:r>
          </a:p>
          <a:p>
            <a:pPr marL="0" indent="0">
              <a:buNone/>
            </a:pPr>
            <a:r>
              <a:rPr lang="en-US" sz="2800" b="1" dirty="0">
                <a:latin typeface="Consolas" panose="020B0609020204030204" pitchFamily="49" charset="0"/>
              </a:rPr>
              <a:t>	void </a:t>
            </a:r>
            <a:r>
              <a:rPr lang="en-US" sz="2800" b="1" dirty="0" err="1">
                <a:latin typeface="Consolas" panose="020B0609020204030204" pitchFamily="49" charset="0"/>
              </a:rPr>
              <a:t>SetId</a:t>
            </a:r>
            <a:r>
              <a:rPr lang="en-US" sz="2800" b="1" dirty="0">
                <a:latin typeface="Consolas" panose="020B0609020204030204" pitchFamily="49" charset="0"/>
              </a:rPr>
              <a:t>( int n) { id=n; }</a:t>
            </a:r>
          </a:p>
          <a:p>
            <a:pPr marL="0" indent="0">
              <a:buNone/>
            </a:pPr>
            <a:r>
              <a:rPr lang="en-US" sz="2800" b="1" dirty="0">
                <a:latin typeface="Consolas" panose="020B0609020204030204" pitchFamily="49" charset="0"/>
              </a:rPr>
              <a:t>	int </a:t>
            </a:r>
            <a:r>
              <a:rPr lang="en-US" sz="2800" b="1" dirty="0" err="1">
                <a:latin typeface="Consolas" panose="020B0609020204030204" pitchFamily="49" charset="0"/>
              </a:rPr>
              <a:t>GetId</a:t>
            </a:r>
            <a:r>
              <a:rPr lang="en-US" sz="2800" b="1" dirty="0">
                <a:latin typeface="Consolas" panose="020B0609020204030204" pitchFamily="49" charset="0"/>
              </a:rPr>
              <a:t>(void) const { return id; 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private:</a:t>
            </a:r>
          </a:p>
          <a:p>
            <a:pPr marL="0" indent="0">
              <a:buNone/>
            </a:pPr>
            <a:r>
              <a:rPr lang="en-US" sz="2800" b="1" dirty="0">
                <a:latin typeface="Consolas" panose="020B0609020204030204" pitchFamily="49" charset="0"/>
              </a:rPr>
              <a:t>	int age;</a:t>
            </a:r>
          </a:p>
          <a:p>
            <a:pPr marL="0" indent="0">
              <a:buNone/>
            </a:pPr>
            <a:r>
              <a:rPr lang="en-US" sz="2800" b="1" dirty="0">
                <a:latin typeface="Consolas" panose="020B0609020204030204" pitchFamily="49" charset="0"/>
              </a:rPr>
              <a:t>	int id;</a:t>
            </a:r>
          </a:p>
          <a:p>
            <a:pPr marL="0" indent="0">
              <a:buNone/>
            </a:pPr>
            <a:r>
              <a:rPr lang="en-US" sz="28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4C0DA-F7DF-121B-EC61-F70BA27B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D0008-F168-1116-A9EF-B42C1E67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476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AF00-8821-5052-85D9-33B8CF7B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 in Multiple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85A7F-A8A1-2450-E669-0F037045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4842"/>
            <a:ext cx="10515600" cy="448151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class Salaried :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latin typeface="Consolas" panose="020B0609020204030204" pitchFamily="49" charset="0"/>
              </a:rPr>
              <a:t> Employee {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float salary;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float </a:t>
            </a:r>
            <a:r>
              <a:rPr lang="en-US" b="1" dirty="0" err="1">
                <a:latin typeface="Consolas" panose="020B0609020204030204" pitchFamily="49" charset="0"/>
              </a:rPr>
              <a:t>GetSalary</a:t>
            </a:r>
            <a:r>
              <a:rPr lang="en-US" b="1" dirty="0">
                <a:latin typeface="Consolas" panose="020B0609020204030204" pitchFamily="49" charset="0"/>
              </a:rPr>
              <a:t>() const { return salary; 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void </a:t>
            </a:r>
            <a:r>
              <a:rPr lang="en-US" b="1" dirty="0" err="1">
                <a:latin typeface="Consolas" panose="020B0609020204030204" pitchFamily="49" charset="0"/>
              </a:rPr>
              <a:t>SetSalary</a:t>
            </a:r>
            <a:r>
              <a:rPr lang="en-US" b="1" dirty="0">
                <a:latin typeface="Consolas" panose="020B0609020204030204" pitchFamily="49" charset="0"/>
              </a:rPr>
              <a:t>( float s ) { salary=s; 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};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class </a:t>
            </a:r>
            <a:r>
              <a:rPr lang="en-US" b="1" dirty="0" err="1">
                <a:latin typeface="Consolas" panose="020B0609020204030204" pitchFamily="49" charset="0"/>
              </a:rPr>
              <a:t>GradAssistant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:public Student, public Salaried</a:t>
            </a:r>
            <a:r>
              <a:rPr lang="en-US" b="1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void Display() const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{	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 err="1">
                <a:latin typeface="Consolas" panose="020B0609020204030204" pitchFamily="49" charset="0"/>
              </a:rPr>
              <a:t>GetId</a:t>
            </a:r>
            <a:r>
              <a:rPr lang="en-US" b="1" dirty="0">
                <a:latin typeface="Consolas" panose="020B0609020204030204" pitchFamily="49" charset="0"/>
              </a:rPr>
              <a:t>()&lt;&lt;","&lt;&lt;</a:t>
            </a:r>
            <a:r>
              <a:rPr lang="en-US" b="1" dirty="0" err="1">
                <a:latin typeface="Consolas" panose="020B0609020204030204" pitchFamily="49" charset="0"/>
              </a:rPr>
              <a:t>GetSalary</a:t>
            </a:r>
            <a:r>
              <a:rPr lang="en-US" b="1" dirty="0">
                <a:latin typeface="Consolas" panose="020B0609020204030204" pitchFamily="49" charset="0"/>
              </a:rPr>
              <a:t>()&lt;&lt;","&lt;&lt;</a:t>
            </a:r>
            <a:r>
              <a:rPr lang="en-US" b="1" dirty="0" err="1">
                <a:latin typeface="Consolas" panose="020B0609020204030204" pitchFamily="49" charset="0"/>
              </a:rPr>
              <a:t>GetAge</a:t>
            </a:r>
            <a:r>
              <a:rPr lang="en-US" b="1" dirty="0">
                <a:latin typeface="Consolas" panose="020B0609020204030204" pitchFamily="49" charset="0"/>
              </a:rPr>
              <a:t>();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//ambiguity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35A70-699F-91A9-7D1F-1E3449B0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B561-DD10-D297-7C05-22C6CE39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257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CAC6-DF30-C0FF-B1A1-36CBF208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 in Multiple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F6190-B251-A518-C091-AC1215502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latin typeface="Consolas" panose="020B0609020204030204" pitchFamily="49" charset="0"/>
              </a:rPr>
              <a:t>i</a:t>
            </a:r>
            <a:r>
              <a:rPr lang="en-US" b="1" dirty="0" err="1">
                <a:latin typeface="Consolas" panose="020B0609020204030204" pitchFamily="49" charset="0"/>
              </a:rPr>
              <a:t>nt</a:t>
            </a:r>
            <a:r>
              <a:rPr lang="en-US" b="1" dirty="0">
                <a:latin typeface="Consolas" panose="020B0609020204030204" pitchFamily="49" charset="0"/>
              </a:rPr>
              <a:t> main(void) {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GradAssistant</a:t>
            </a:r>
            <a:r>
              <a:rPr lang="en-US" b="1" dirty="0">
                <a:latin typeface="Consolas" panose="020B0609020204030204" pitchFamily="49" charset="0"/>
              </a:rPr>
              <a:t> ga;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ga.SetAge</a:t>
            </a:r>
            <a:r>
              <a:rPr lang="en-US" b="1" dirty="0">
                <a:latin typeface="Consolas" panose="020B0609020204030204" pitchFamily="49" charset="0"/>
              </a:rPr>
              <a:t>(20);	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//ambiguity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ga.SetId</a:t>
            </a:r>
            <a:r>
              <a:rPr lang="en-US" b="1" dirty="0">
                <a:latin typeface="Consolas" panose="020B0609020204030204" pitchFamily="49" charset="0"/>
              </a:rPr>
              <a:t>(15);	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//ambiguity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ga.Display</a:t>
            </a:r>
            <a:r>
              <a:rPr lang="en-US" b="1" dirty="0">
                <a:latin typeface="Consolas" panose="020B0609020204030204" pitchFamily="49" charset="0"/>
              </a:rPr>
              <a:t>();	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//ambiguity inside display()</a:t>
            </a: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//program will not compile and will generate errors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CD5288-34AC-AFA2-5612-98C9E65A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B2800-F97C-FB26-2974-88D05886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3165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1EF1-26E4-4142-EE6F-3193D7C2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solution?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96565-A842-7201-6889-437BBA7B2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</a:t>
            </a:r>
            <a:r>
              <a:rPr lang="en-US" dirty="0">
                <a:solidFill>
                  <a:srgbClr val="0070C0"/>
                </a:solidFill>
              </a:rPr>
              <a:t>functions explicitly </a:t>
            </a:r>
            <a:r>
              <a:rPr lang="en-US" dirty="0"/>
              <a:t>by specifying name of class and using </a:t>
            </a:r>
            <a:r>
              <a:rPr lang="en-US" dirty="0">
                <a:solidFill>
                  <a:srgbClr val="0070C0"/>
                </a:solidFill>
              </a:rPr>
              <a:t>scope resolution operator </a:t>
            </a:r>
            <a:r>
              <a:rPr lang="en-US" dirty="0"/>
              <a:t>to remove ambiguity: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Direct solution: </a:t>
            </a:r>
          </a:p>
          <a:p>
            <a:pPr marL="457200" lvl="1" indent="0">
              <a:buNone/>
            </a:pPr>
            <a:r>
              <a:rPr lang="en-US" altLang="zh-CN" dirty="0"/>
              <a:t>		</a:t>
            </a:r>
            <a:r>
              <a:rPr lang="en-US" altLang="zh-CN" dirty="0">
                <a:latin typeface="Consolas" panose="020B0609020204030204" pitchFamily="49" charset="0"/>
              </a:rPr>
              <a:t>Student::</a:t>
            </a:r>
            <a:r>
              <a:rPr lang="en-US" altLang="zh-CN" dirty="0" err="1">
                <a:latin typeface="Consolas" panose="020B0609020204030204" pitchFamily="49" charset="0"/>
              </a:rPr>
              <a:t>SetAge</a:t>
            </a:r>
            <a:r>
              <a:rPr lang="en-US" altLang="zh-CN" dirty="0">
                <a:latin typeface="Consolas" panose="020B0609020204030204" pitchFamily="49" charset="0"/>
              </a:rPr>
              <a:t>() </a:t>
            </a:r>
            <a:r>
              <a:rPr lang="en-US" altLang="zh-CN" dirty="0"/>
              <a:t>or  </a:t>
            </a:r>
            <a:r>
              <a:rPr lang="en-US" altLang="zh-CN" dirty="0">
                <a:latin typeface="Consolas" panose="020B0609020204030204" pitchFamily="49" charset="0"/>
              </a:rPr>
              <a:t>Salaried::</a:t>
            </a:r>
            <a:r>
              <a:rPr lang="en-US" altLang="zh-CN" dirty="0" err="1">
                <a:latin typeface="Consolas" panose="020B0609020204030204" pitchFamily="49" charset="0"/>
              </a:rPr>
              <a:t>SetAge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1B505-1698-43EA-1536-CD81870D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3BFA2-26E5-AC58-E434-4FB03F1B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816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D0F5-484B-C651-26B4-2AFB2EE5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Diamond Problem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392C8-0B62-A407-1065-F7FB8169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fi-FI" sz="2000" dirty="0">
                <a:latin typeface="Consolas" panose="020B0609020204030204" pitchFamily="49" charset="0"/>
              </a:rPr>
              <a:t>class A { </a:t>
            </a:r>
          </a:p>
          <a:p>
            <a:pPr marL="0" indent="0" eaLnBrk="1" hangingPunct="1">
              <a:buNone/>
            </a:pPr>
            <a:r>
              <a:rPr lang="fi-FI" sz="2000" dirty="0">
                <a:latin typeface="Consolas" panose="020B0609020204030204" pitchFamily="49" charset="0"/>
              </a:rPr>
              <a:t>	public: </a:t>
            </a:r>
          </a:p>
          <a:p>
            <a:pPr marL="0" indent="0" eaLnBrk="1" hangingPunct="1">
              <a:buNone/>
            </a:pPr>
            <a:r>
              <a:rPr lang="fi-FI" sz="2000" dirty="0">
                <a:latin typeface="Consolas" panose="020B0609020204030204" pitchFamily="49" charset="0"/>
              </a:rPr>
              <a:t>		void Foo() {} </a:t>
            </a:r>
          </a:p>
          <a:p>
            <a:pPr marL="0" indent="0" eaLnBrk="1" hangingPunct="1">
              <a:buNone/>
            </a:pPr>
            <a:r>
              <a:rPr lang="fi-FI" sz="2000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Consolas" panose="020B0609020204030204" pitchFamily="49" charset="0"/>
              </a:rPr>
              <a:t>class B : public A {}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Consolas" panose="020B0609020204030204" pitchFamily="49" charset="0"/>
              </a:rPr>
              <a:t>class C : public A {}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Consolas" panose="020B0609020204030204" pitchFamily="49" charset="0"/>
              </a:rPr>
              <a:t>class D : public B, public C {}</a:t>
            </a:r>
          </a:p>
          <a:p>
            <a:pPr marL="0" indent="0" eaLnBrk="1" hangingPunct="1">
              <a:buNone/>
            </a:pPr>
            <a:r>
              <a:rPr lang="fr-FR" sz="2000" dirty="0">
                <a:latin typeface="Consolas" panose="020B0609020204030204" pitchFamily="49" charset="0"/>
              </a:rPr>
              <a:t>D </a:t>
            </a:r>
            <a:r>
              <a:rPr lang="fr-FR" sz="2000" dirty="0" err="1">
                <a:latin typeface="Consolas" panose="020B0609020204030204" pitchFamily="49" charset="0"/>
              </a:rPr>
              <a:t>d</a:t>
            </a:r>
            <a:r>
              <a:rPr lang="fr-FR" sz="2000" dirty="0">
                <a:latin typeface="Consolas" panose="020B06090202040302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en-US" sz="2000" dirty="0" err="1">
                <a:latin typeface="Consolas" panose="020B0609020204030204" pitchFamily="49" charset="0"/>
              </a:rPr>
              <a:t>d.Foo</a:t>
            </a:r>
            <a:r>
              <a:rPr lang="en-US" sz="2000" dirty="0">
                <a:latin typeface="Consolas" panose="020B0609020204030204" pitchFamily="49" charset="0"/>
              </a:rPr>
              <a:t>(); </a:t>
            </a:r>
          </a:p>
          <a:p>
            <a:pPr marL="0" indent="0" eaLnBrk="1" hangingPunct="1">
              <a:buNone/>
            </a:pPr>
            <a:r>
              <a:rPr lang="en-US" sz="2000" dirty="0">
                <a:latin typeface="Consolas" panose="020B0609020204030204" pitchFamily="49" charset="0"/>
              </a:rPr>
              <a:t>is this B's Foo() or C's Foo() ?? </a:t>
            </a:r>
            <a:r>
              <a:rPr lang="en-US" sz="2000" b="1" i="1" dirty="0">
                <a:solidFill>
                  <a:srgbClr val="0070C0"/>
                </a:solidFill>
              </a:rPr>
              <a:t>ambiguous</a:t>
            </a:r>
            <a:endParaRPr lang="fr-FR" sz="2000" b="1" i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301E7-A5A3-BF80-F6D9-9C5B5A35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C8F27-C677-29C3-B7B3-EC19555C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57</a:t>
            </a:fld>
            <a:endParaRPr lang="en-US" dirty="0"/>
          </a:p>
        </p:txBody>
      </p:sp>
      <p:pic>
        <p:nvPicPr>
          <p:cNvPr id="6" name="Picture 2" descr="Usage of super() with Dreaded Diamond - CodeSpeedy">
            <a:extLst>
              <a:ext uri="{FF2B5EF4-FFF2-40B4-BE49-F238E27FC236}">
                <a16:creationId xmlns:a16="http://schemas.microsoft.com/office/drawing/2014/main" id="{4A2CFEB0-298B-1399-6050-A3316807C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579" y="2701492"/>
            <a:ext cx="230505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4701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3ADF-F0AC-1B6C-F017-D1E2AD71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solution?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B4A60-3ADC-1757-FA2C-A4F2317DF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</a:t>
            </a:r>
            <a:r>
              <a:rPr lang="en-US" dirty="0">
                <a:solidFill>
                  <a:srgbClr val="0070C0"/>
                </a:solidFill>
              </a:rPr>
              <a:t>functions explicitly </a:t>
            </a:r>
            <a:r>
              <a:rPr lang="en-US" dirty="0"/>
              <a:t>by specifying name of class and using scope resolution operator to remove ambiguity: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Direct solution: </a:t>
            </a:r>
          </a:p>
          <a:p>
            <a:pPr marL="457200" lvl="1" indent="0">
              <a:buNone/>
            </a:pPr>
            <a:r>
              <a:rPr lang="en-US" altLang="zh-CN" dirty="0"/>
              <a:t>		</a:t>
            </a:r>
            <a:r>
              <a:rPr lang="en-US" altLang="zh-CN" dirty="0">
                <a:latin typeface="Consolas" panose="020B0609020204030204" pitchFamily="49" charset="0"/>
              </a:rPr>
              <a:t>Student::</a:t>
            </a:r>
            <a:r>
              <a:rPr lang="en-US" altLang="zh-CN" dirty="0" err="1">
                <a:latin typeface="Consolas" panose="020B0609020204030204" pitchFamily="49" charset="0"/>
              </a:rPr>
              <a:t>SetAge</a:t>
            </a:r>
            <a:r>
              <a:rPr lang="en-US" altLang="zh-CN" dirty="0">
                <a:latin typeface="Consolas" panose="020B0609020204030204" pitchFamily="49" charset="0"/>
              </a:rPr>
              <a:t>() </a:t>
            </a:r>
            <a:r>
              <a:rPr lang="en-US" altLang="zh-CN" dirty="0"/>
              <a:t>or  </a:t>
            </a:r>
            <a:r>
              <a:rPr lang="en-US" altLang="zh-CN" dirty="0">
                <a:latin typeface="Consolas" panose="020B0609020204030204" pitchFamily="49" charset="0"/>
              </a:rPr>
              <a:t>Salaried::</a:t>
            </a:r>
            <a:r>
              <a:rPr lang="en-US" altLang="zh-CN" dirty="0" err="1">
                <a:latin typeface="Consolas" panose="020B0609020204030204" pitchFamily="49" charset="0"/>
              </a:rPr>
              <a:t>SetAge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zh-CN" dirty="0"/>
              <a:t>2.    Virtual inheritance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9A176-1CAF-C6C5-5C5C-68328365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17069-78A6-88A2-5F82-79598CF0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3497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D5B1F-C3C4-6519-5937-96E7B360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(virtual inheritance)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BCBE-5817-8CBF-CF3A-45F57D88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4659086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fi-FI" sz="1600" b="1" dirty="0">
                <a:latin typeface="Consolas" panose="020B0609020204030204" pitchFamily="49" charset="0"/>
              </a:rPr>
              <a:t>class A { 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fi-FI" sz="1600" b="1" dirty="0">
                <a:latin typeface="Consolas" panose="020B0609020204030204" pitchFamily="49" charset="0"/>
              </a:rPr>
              <a:t>	public: void Foo() {} 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fi-FI" sz="1600" b="1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nsolas" panose="020B0609020204030204" pitchFamily="49" charset="0"/>
              </a:rPr>
              <a:t>class B : public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virtual</a:t>
            </a:r>
            <a:r>
              <a:rPr lang="en-US" sz="1600" b="1" dirty="0">
                <a:latin typeface="Consolas" panose="020B0609020204030204" pitchFamily="49" charset="0"/>
              </a:rPr>
              <a:t> A {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nsolas" panose="020B0609020204030204" pitchFamily="49" charset="0"/>
              </a:rPr>
              <a:t>class C : public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virtual</a:t>
            </a:r>
            <a:r>
              <a:rPr lang="en-US" sz="1600" b="1" dirty="0">
                <a:latin typeface="Consolas" panose="020B0609020204030204" pitchFamily="49" charset="0"/>
              </a:rPr>
              <a:t> A {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nsolas" panose="020B0609020204030204" pitchFamily="49" charset="0"/>
              </a:rPr>
              <a:t>class D : public B, public C {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dirty="0">
              <a:latin typeface="Consolas" panose="020B0609020204030204" pitchFamily="49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1600" b="1" dirty="0">
                <a:latin typeface="Consolas" panose="020B0609020204030204" pitchFamily="49" charset="0"/>
              </a:rPr>
              <a:t>D </a:t>
            </a:r>
            <a:r>
              <a:rPr lang="fr-FR" sz="1600" b="1" dirty="0" err="1">
                <a:latin typeface="Consolas" panose="020B0609020204030204" pitchFamily="49" charset="0"/>
              </a:rPr>
              <a:t>d</a:t>
            </a:r>
            <a:r>
              <a:rPr lang="fr-FR" sz="1600" b="1" dirty="0">
                <a:latin typeface="Consolas" panose="020B0609020204030204" pitchFamily="49" charset="0"/>
              </a:rPr>
              <a:t>;</a:t>
            </a:r>
          </a:p>
          <a:p>
            <a:pPr marL="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s-ES_tradnl" sz="1600" b="1" dirty="0" err="1">
                <a:latin typeface="Consolas" panose="020B0609020204030204" pitchFamily="49" charset="0"/>
              </a:rPr>
              <a:t>d.Foo</a:t>
            </a:r>
            <a:r>
              <a:rPr lang="es-ES_tradnl" sz="1600" b="1" dirty="0">
                <a:latin typeface="Consolas" panose="020B0609020204030204" pitchFamily="49" charset="0"/>
              </a:rPr>
              <a:t>(); // </a:t>
            </a:r>
            <a:r>
              <a:rPr lang="es-ES_tradnl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no </a:t>
            </a:r>
            <a:r>
              <a:rPr lang="es-ES_tradnl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longer</a:t>
            </a:r>
            <a:r>
              <a:rPr lang="es-ES_tradnl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ES_tradnl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ambiguous</a:t>
            </a:r>
            <a:endParaRPr lang="fr-FR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7698C-A7C1-C3D4-4D64-39540E4C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018E3-241D-DCBF-67AB-D5D52E0F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2454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14C7-A813-30F3-D8D0-3B81EBD3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AED0C-1067-3E07-05E1-8B5CA8983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Virtual inheritance is </a:t>
            </a:r>
            <a:r>
              <a:rPr lang="en-US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C++ technique that ensures that </a:t>
            </a:r>
            <a:r>
              <a:rPr lang="en-US" b="1" i="1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only one copy of common base class's member variables are inherited by second-level derivatives</a:t>
            </a:r>
            <a:r>
              <a:rPr lang="en-US" b="0" i="1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(a.k.a. grandchild derived classes)</a:t>
            </a:r>
            <a:endParaRPr lang="en-PK" dirty="0"/>
          </a:p>
          <a:p>
            <a:pPr algn="just"/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C38E2-211A-11CF-57F6-00710E61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C7AE3-DDE6-21D6-2BAA-0283BE66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7089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15672-C8F6-295D-8C1F-A139CE68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984B1-0D89-DED3-5A3E-242916517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PoweredDevice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0" indent="0">
              <a:buNone/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PoweredDevice(int nPower)</a:t>
            </a: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	 {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PoweredDevice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" &lt;&lt;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nPower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	 }</a:t>
            </a: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61198-38B8-3EC1-347A-239EBC32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78E33-F648-D87A-8599-C85CD402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8616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7AE5C7-16F4-9CD0-6CCF-647931D4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24A6B-3383-24B9-8622-4FC86025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49883-16B1-45A9-10D4-5645E71C3EB9}"/>
              </a:ext>
            </a:extLst>
          </p:cNvPr>
          <p:cNvSpPr txBox="1"/>
          <p:nvPr/>
        </p:nvSpPr>
        <p:spPr>
          <a:xfrm>
            <a:off x="3048000" y="28069"/>
            <a:ext cx="609600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Scanner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public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PoweredDevice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l-P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pl-P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Scanner(int nScanner, int nPower) </a:t>
            </a:r>
            <a:r>
              <a:rPr kumimoji="0" lang="pl-PL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PoweredDevice(nPower)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     cout &lt;&lt; "Scanner: " &lt;&lt; nScanner &lt;&lt; endl;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 Printer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public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PoweredDevice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l-P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Printer(int nPrinter, int nPower) </a:t>
            </a:r>
            <a:r>
              <a:rPr kumimoji="0" lang="pl-PL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PoweredDevice(nPower)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 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cs-CZ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     cout &lt;&lt; "Printer: " &lt;&lt; nPrinter &lt;&lt; endl;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    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825242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5AF95-E38B-4EBA-7C88-28D9CA63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27B32-4DC4-2967-6C5D-945F30B64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4" y="1690690"/>
            <a:ext cx="10515600" cy="4160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Copier: public Scanner, public Printer</a:t>
            </a:r>
          </a:p>
          <a:p>
            <a:pPr marL="0" indent="0">
              <a:buNone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0" indent="0">
              <a:buNone/>
            </a:pP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Copier(int nScanner, int nPrinter, int nPower)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Scanner(nScanner, nPower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pl-PL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Printer(nPrinter, nPower)</a:t>
            </a:r>
          </a:p>
          <a:p>
            <a:pPr marL="0" indent="0">
              <a:buNone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{</a:t>
            </a:r>
          </a:p>
          <a:p>
            <a:pPr marL="0" indent="0">
              <a:buNone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}</a:t>
            </a:r>
          </a:p>
          <a:p>
            <a:pPr marL="0" indent="0">
              <a:buNone/>
            </a:pPr>
            <a:r>
              <a:rPr lang="fr-F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r>
              <a:rPr lang="fr-FR" dirty="0"/>
              <a:t>	</a:t>
            </a:r>
          </a:p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0BBC7-76D9-21D8-71A7-74E6571AC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CBD77-C5C5-905E-C9D0-26D77D83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7A19C-46E5-5391-E329-BCAD0DE5C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513" y="3913778"/>
            <a:ext cx="4256154" cy="270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7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0E07-62DC-34D6-F3EC-41AFBF5F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69106-7302-2FF4-5A66-777296D29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  Copier cCopier(1, 2, 3);</a:t>
            </a:r>
          </a:p>
          <a:p>
            <a:pPr marL="0" indent="0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 err="1"/>
              <a:t>What</a:t>
            </a:r>
            <a:r>
              <a:rPr lang="fr-FR" b="1" dirty="0"/>
              <a:t> </a:t>
            </a:r>
            <a:r>
              <a:rPr lang="fr-FR" b="1" dirty="0" err="1"/>
              <a:t>should</a:t>
            </a:r>
            <a:r>
              <a:rPr lang="fr-FR" b="1" dirty="0"/>
              <a:t> </a:t>
            </a:r>
            <a:r>
              <a:rPr lang="fr-FR" b="1" dirty="0" err="1"/>
              <a:t>be</a:t>
            </a:r>
            <a:r>
              <a:rPr lang="fr-FR" b="1" dirty="0"/>
              <a:t> the output?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PoweredDevice</a:t>
            </a:r>
            <a:r>
              <a:rPr lang="en-US" dirty="0"/>
              <a:t>: 3</a:t>
            </a:r>
          </a:p>
          <a:p>
            <a:pPr marL="0" indent="0">
              <a:buNone/>
            </a:pPr>
            <a:r>
              <a:rPr lang="fr-FR" dirty="0"/>
              <a:t>	Scanner: 1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PoweredDevice</a:t>
            </a:r>
            <a:r>
              <a:rPr lang="en-US" dirty="0"/>
              <a:t>: 3</a:t>
            </a:r>
          </a:p>
          <a:p>
            <a:pPr marL="0" indent="0">
              <a:buNone/>
            </a:pPr>
            <a:r>
              <a:rPr lang="fr-FR" dirty="0"/>
              <a:t>	Printer: 2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C6C8B-6A96-7037-9F85-B1FDE8F4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Object Oriented Programming-Spring 24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B8429-90E9-0113-99A1-ADF136C0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20885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RegularSeedRightStep">
      <a:dk1>
        <a:srgbClr val="000000"/>
      </a:dk1>
      <a:lt1>
        <a:srgbClr val="FFFFFF"/>
      </a:lt1>
      <a:dk2>
        <a:srgbClr val="412724"/>
      </a:dk2>
      <a:lt2>
        <a:srgbClr val="E2E8E4"/>
      </a:lt2>
      <a:accent1>
        <a:srgbClr val="D739AE"/>
      </a:accent1>
      <a:accent2>
        <a:srgbClr val="C5275A"/>
      </a:accent2>
      <a:accent3>
        <a:srgbClr val="D74839"/>
      </a:accent3>
      <a:accent4>
        <a:srgbClr val="C57827"/>
      </a:accent4>
      <a:accent5>
        <a:srgbClr val="B0A72F"/>
      </a:accent5>
      <a:accent6>
        <a:srgbClr val="81B223"/>
      </a:accent6>
      <a:hlink>
        <a:srgbClr val="31944B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</TotalTime>
  <Words>2241</Words>
  <Application>Microsoft Office PowerPoint</Application>
  <PresentationFormat>Widescreen</PresentationFormat>
  <Paragraphs>458</Paragraphs>
  <Slides>64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76" baseType="lpstr">
      <vt:lpstr>Arial</vt:lpstr>
      <vt:lpstr>Arial</vt:lpstr>
      <vt:lpstr>Calibri</vt:lpstr>
      <vt:lpstr>Century Gothic</vt:lpstr>
      <vt:lpstr>Consolas</vt:lpstr>
      <vt:lpstr>Courier New</vt:lpstr>
      <vt:lpstr>Elephant</vt:lpstr>
      <vt:lpstr>Times</vt:lpstr>
      <vt:lpstr>Wingdings</vt:lpstr>
      <vt:lpstr>BrushVTI</vt:lpstr>
      <vt:lpstr>Document</vt:lpstr>
      <vt:lpstr>VISIO</vt:lpstr>
      <vt:lpstr>Object Oriented Programming</vt:lpstr>
      <vt:lpstr>What Is Inheritance?</vt:lpstr>
      <vt:lpstr>Example: Insects</vt:lpstr>
      <vt:lpstr>The “IS - A" Relationship</vt:lpstr>
      <vt:lpstr>Introduction - Inheritance</vt:lpstr>
      <vt:lpstr>Introduction - Inheritance</vt:lpstr>
      <vt:lpstr>Animals: Class’s hierarchy</vt:lpstr>
      <vt:lpstr>Inheritance Examples</vt:lpstr>
      <vt:lpstr>Why Inheritance?</vt:lpstr>
      <vt:lpstr>Why Inheritance?</vt:lpstr>
      <vt:lpstr>Inheritance – Terminology and Notation</vt:lpstr>
      <vt:lpstr>Inheriting Data and Functions</vt:lpstr>
      <vt:lpstr>What Does a Child Class Have?</vt:lpstr>
      <vt:lpstr>PowerPoint Presentation</vt:lpstr>
      <vt:lpstr>Protected Members and Class Access</vt:lpstr>
      <vt:lpstr>PowerPoint Presentation</vt:lpstr>
      <vt:lpstr>Protected Members and Class Access</vt:lpstr>
      <vt:lpstr>Protected Members and Class Access</vt:lpstr>
      <vt:lpstr>Inheritance Example 1</vt:lpstr>
      <vt:lpstr>Inheritance Example 2</vt:lpstr>
      <vt:lpstr>Dangers of Protected</vt:lpstr>
      <vt:lpstr>Constructors and Destructors in Base and Derived Classes</vt:lpstr>
      <vt:lpstr>Constructor Rules for Derived Classes </vt:lpstr>
      <vt:lpstr>Constructor Rules for Derived Classes </vt:lpstr>
      <vt:lpstr>Passing Arguments to Base Class Constructor</vt:lpstr>
      <vt:lpstr>Passing Arguments to Base Class Constructor</vt:lpstr>
      <vt:lpstr>Constructor Rules for Derived Classes </vt:lpstr>
      <vt:lpstr>PowerPoint Presentation</vt:lpstr>
      <vt:lpstr>PowerPoint Presentation</vt:lpstr>
      <vt:lpstr>Class Derivation</vt:lpstr>
      <vt:lpstr>Order of execution of Constructors/Destructors</vt:lpstr>
      <vt:lpstr>Order of execution of Constructors/Destructors</vt:lpstr>
      <vt:lpstr>Example</vt:lpstr>
      <vt:lpstr>Example – cont.</vt:lpstr>
      <vt:lpstr>PowerPoint Presentation</vt:lpstr>
      <vt:lpstr>Example – cont.</vt:lpstr>
      <vt:lpstr>Data vs Class Access Specifier</vt:lpstr>
      <vt:lpstr>Types of inheritance/ Class access specifier</vt:lpstr>
      <vt:lpstr>Public Inheritance</vt:lpstr>
      <vt:lpstr>Protected Inheritance</vt:lpstr>
      <vt:lpstr>Private Inheritance</vt:lpstr>
      <vt:lpstr>public, protected and private Inheritance</vt:lpstr>
      <vt:lpstr>Inheritance vs. Access </vt:lpstr>
      <vt:lpstr>Class Access Specifiers – When to use?</vt:lpstr>
      <vt:lpstr>Method Overriding</vt:lpstr>
      <vt:lpstr>Method Overriding</vt:lpstr>
      <vt:lpstr>Types of Inheritance</vt:lpstr>
      <vt:lpstr>Types of Inheritance: University Example</vt:lpstr>
      <vt:lpstr>Multiple Inheritance</vt:lpstr>
      <vt:lpstr>What is Multiple Inheritance?</vt:lpstr>
      <vt:lpstr>Multiple Inheritance</vt:lpstr>
      <vt:lpstr>Ambiguity in Multiple Inheritance</vt:lpstr>
      <vt:lpstr>Ambiguity in Multiple Inheritance</vt:lpstr>
      <vt:lpstr>Ambiguity in Multiple Inheritance</vt:lpstr>
      <vt:lpstr>Ambiguity in Multiple Inheritance</vt:lpstr>
      <vt:lpstr>What is the solution?</vt:lpstr>
      <vt:lpstr>The Diamond Problem</vt:lpstr>
      <vt:lpstr>What is the solution?</vt:lpstr>
      <vt:lpstr>Solution (virtual inheritance)</vt:lpstr>
      <vt:lpstr>Virtual Inheritance</vt:lpstr>
      <vt:lpstr>Example</vt:lpstr>
      <vt:lpstr>PowerPoint Presentation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MARIUM HIDA</dc:creator>
  <cp:lastModifiedBy>Marium Hida</cp:lastModifiedBy>
  <cp:revision>717</cp:revision>
  <cp:lastPrinted>2023-01-23T10:34:20Z</cp:lastPrinted>
  <dcterms:created xsi:type="dcterms:W3CDTF">2023-01-20T09:57:02Z</dcterms:created>
  <dcterms:modified xsi:type="dcterms:W3CDTF">2024-01-22T16:38:34Z</dcterms:modified>
</cp:coreProperties>
</file>