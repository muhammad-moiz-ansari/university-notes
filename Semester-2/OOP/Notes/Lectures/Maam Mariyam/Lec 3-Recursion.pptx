
<file path=[Content_Types].xml><?xml version="1.0" encoding="utf-8"?>
<Types xmlns="http://schemas.openxmlformats.org/package/2006/content-types">
  <Default Extension="gif" ContentType="image/gi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700" r:id="rId1"/>
  </p:sldMasterIdLst>
  <p:notesMasterIdLst>
    <p:notesMasterId r:id="rId46"/>
  </p:notesMasterIdLst>
  <p:sldIdLst>
    <p:sldId id="256" r:id="rId2"/>
    <p:sldId id="257" r:id="rId3"/>
    <p:sldId id="260" r:id="rId4"/>
    <p:sldId id="259" r:id="rId5"/>
    <p:sldId id="261" r:id="rId6"/>
    <p:sldId id="262" r:id="rId7"/>
    <p:sldId id="264" r:id="rId8"/>
    <p:sldId id="265" r:id="rId9"/>
    <p:sldId id="266" r:id="rId10"/>
    <p:sldId id="267" r:id="rId11"/>
    <p:sldId id="268" r:id="rId12"/>
    <p:sldId id="269" r:id="rId13"/>
    <p:sldId id="270" r:id="rId14"/>
    <p:sldId id="272" r:id="rId15"/>
    <p:sldId id="273" r:id="rId16"/>
    <p:sldId id="274" r:id="rId17"/>
    <p:sldId id="275" r:id="rId18"/>
    <p:sldId id="276" r:id="rId19"/>
    <p:sldId id="277" r:id="rId20"/>
    <p:sldId id="278" r:id="rId21"/>
    <p:sldId id="279" r:id="rId22"/>
    <p:sldId id="280" r:id="rId23"/>
    <p:sldId id="281" r:id="rId24"/>
    <p:sldId id="282" r:id="rId25"/>
    <p:sldId id="283" r:id="rId26"/>
    <p:sldId id="284" r:id="rId27"/>
    <p:sldId id="285" r:id="rId28"/>
    <p:sldId id="286" r:id="rId29"/>
    <p:sldId id="300" r:id="rId30"/>
    <p:sldId id="301" r:id="rId31"/>
    <p:sldId id="287" r:id="rId32"/>
    <p:sldId id="288" r:id="rId33"/>
    <p:sldId id="289" r:id="rId34"/>
    <p:sldId id="302" r:id="rId35"/>
    <p:sldId id="303" r:id="rId36"/>
    <p:sldId id="290" r:id="rId37"/>
    <p:sldId id="292" r:id="rId38"/>
    <p:sldId id="293" r:id="rId39"/>
    <p:sldId id="294" r:id="rId40"/>
    <p:sldId id="295" r:id="rId41"/>
    <p:sldId id="299" r:id="rId42"/>
    <p:sldId id="296" r:id="rId43"/>
    <p:sldId id="297" r:id="rId44"/>
    <p:sldId id="298" r:id="rId45"/>
  </p:sldIdLst>
  <p:sldSz cx="12192000" cy="6858000"/>
  <p:notesSz cx="9928225" cy="6797675"/>
  <p:defaultTextStyle>
    <a:defPPr>
      <a:defRPr lang="en-PK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744" autoAdjust="0"/>
  </p:normalViewPr>
  <p:slideViewPr>
    <p:cSldViewPr snapToGrid="0">
      <p:cViewPr varScale="1">
        <p:scale>
          <a:sx n="79" d="100"/>
          <a:sy n="79" d="100"/>
        </p:scale>
        <p:origin x="773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presProps" Target="presProps.xml"/><Relationship Id="rId50" Type="http://schemas.openxmlformats.org/officeDocument/2006/relationships/tableStyles" Target="tableStyle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viewProps" Target="viewProps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notesMaster" Target="notesMasters/notesMaster1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1"/>
            <a:ext cx="4302231" cy="341064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PK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623697" y="1"/>
            <a:ext cx="4302231" cy="341064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7AC862F-386F-45B1-A520-D73D66BA78DA}" type="datetimeFigureOut">
              <a:rPr lang="en-PK" smtClean="0"/>
              <a:t>22/01/2024</a:t>
            </a:fld>
            <a:endParaRPr lang="en-PK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925763" y="849313"/>
            <a:ext cx="4076700" cy="229393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PK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92823" y="3271381"/>
            <a:ext cx="7942580" cy="2676585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K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456612"/>
            <a:ext cx="4302231" cy="34106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PK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623697" y="6456612"/>
            <a:ext cx="4302231" cy="34106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94E2947-0130-47C3-9E08-854F4E891705}" type="slidenum">
              <a:rPr lang="en-PK" smtClean="0"/>
              <a:t>‹#›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341554971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PK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94E2947-0130-47C3-9E08-854F4E891705}" type="slidenum">
              <a:rPr lang="en-PK" smtClean="0"/>
              <a:t>1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146987455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Graphic 1" descr="Tag=AccentColor&#10;Flavor=Light&#10;Target=Fill">
            <a:extLst>
              <a:ext uri="{FF2B5EF4-FFF2-40B4-BE49-F238E27FC236}">
                <a16:creationId xmlns:a16="http://schemas.microsoft.com/office/drawing/2014/main" id="{0D57E7FA-E8FC-45AC-868F-CDC8144939D6}"/>
              </a:ext>
            </a:extLst>
          </p:cNvPr>
          <p:cNvSpPr/>
          <p:nvPr/>
        </p:nvSpPr>
        <p:spPr>
          <a:xfrm rot="10800000" flipV="1">
            <a:off x="2599855" y="527562"/>
            <a:ext cx="6992292" cy="5102484"/>
          </a:xfrm>
          <a:custGeom>
            <a:avLst/>
            <a:gdLst>
              <a:gd name="connsiteX0" fmla="*/ 5458905 w 6886274"/>
              <a:gd name="connsiteY0" fmla="*/ 754119 h 5025119"/>
              <a:gd name="connsiteX1" fmla="*/ 3455557 w 6886274"/>
              <a:gd name="connsiteY1" fmla="*/ 1027709 h 5025119"/>
              <a:gd name="connsiteX2" fmla="*/ 3338677 w 6886274"/>
              <a:gd name="connsiteY2" fmla="*/ 1021381 h 5025119"/>
              <a:gd name="connsiteX3" fmla="*/ 2518280 w 6886274"/>
              <a:gd name="connsiteY3" fmla="*/ 980435 h 5025119"/>
              <a:gd name="connsiteX4" fmla="*/ 1673687 w 6886274"/>
              <a:gd name="connsiteY4" fmla="*/ 739229 h 5025119"/>
              <a:gd name="connsiteX5" fmla="*/ 1183459 w 6886274"/>
              <a:gd name="connsiteY5" fmla="*/ 397149 h 5025119"/>
              <a:gd name="connsiteX6" fmla="*/ 977987 w 6886274"/>
              <a:gd name="connsiteY6" fmla="*/ 241184 h 5025119"/>
              <a:gd name="connsiteX7" fmla="*/ 788150 w 6886274"/>
              <a:gd name="connsiteY7" fmla="*/ 66980 h 5025119"/>
              <a:gd name="connsiteX8" fmla="*/ 721148 w 6886274"/>
              <a:gd name="connsiteY8" fmla="*/ 31990 h 5025119"/>
              <a:gd name="connsiteX9" fmla="*/ 701792 w 6886274"/>
              <a:gd name="connsiteY9" fmla="*/ 32362 h 5025119"/>
              <a:gd name="connsiteX10" fmla="*/ 686530 w 6886274"/>
              <a:gd name="connsiteY10" fmla="*/ 43157 h 5025119"/>
              <a:gd name="connsiteX11" fmla="*/ 693603 w 6886274"/>
              <a:gd name="connsiteY11" fmla="*/ 58046 h 5025119"/>
              <a:gd name="connsiteX12" fmla="*/ 705886 w 6886274"/>
              <a:gd name="connsiteY12" fmla="*/ 65491 h 5025119"/>
              <a:gd name="connsiteX13" fmla="*/ 762838 w 6886274"/>
              <a:gd name="connsiteY13" fmla="*/ 112764 h 5025119"/>
              <a:gd name="connsiteX14" fmla="*/ 764327 w 6886274"/>
              <a:gd name="connsiteY14" fmla="*/ 140309 h 5025119"/>
              <a:gd name="connsiteX15" fmla="*/ 775121 w 6886274"/>
              <a:gd name="connsiteY15" fmla="*/ 159666 h 5025119"/>
              <a:gd name="connsiteX16" fmla="*/ 823139 w 6886274"/>
              <a:gd name="connsiteY16" fmla="*/ 176416 h 5025119"/>
              <a:gd name="connsiteX17" fmla="*/ 707748 w 6886274"/>
              <a:gd name="connsiteY17" fmla="*/ 109414 h 5025119"/>
              <a:gd name="connsiteX18" fmla="*/ 681319 w 6886274"/>
              <a:gd name="connsiteY18" fmla="*/ 69958 h 5025119"/>
              <a:gd name="connsiteX19" fmla="*/ 640746 w 6886274"/>
              <a:gd name="connsiteY19" fmla="*/ 67352 h 5025119"/>
              <a:gd name="connsiteX20" fmla="*/ 614318 w 6886274"/>
              <a:gd name="connsiteY20" fmla="*/ 61396 h 5025119"/>
              <a:gd name="connsiteX21" fmla="*/ 560716 w 6886274"/>
              <a:gd name="connsiteY21" fmla="*/ 3701 h 5025119"/>
              <a:gd name="connsiteX22" fmla="*/ 540616 w 6886274"/>
              <a:gd name="connsiteY22" fmla="*/ 3701 h 5025119"/>
              <a:gd name="connsiteX23" fmla="*/ 543594 w 6886274"/>
              <a:gd name="connsiteY23" fmla="*/ 21940 h 5025119"/>
              <a:gd name="connsiteX24" fmla="*/ 558855 w 6886274"/>
              <a:gd name="connsiteY24" fmla="*/ 51346 h 5025119"/>
              <a:gd name="connsiteX25" fmla="*/ 557366 w 6886274"/>
              <a:gd name="connsiteY25" fmla="*/ 72563 h 5025119"/>
              <a:gd name="connsiteX26" fmla="*/ 570022 w 6886274"/>
              <a:gd name="connsiteY26" fmla="*/ 120209 h 5025119"/>
              <a:gd name="connsiteX27" fmla="*/ 599801 w 6886274"/>
              <a:gd name="connsiteY27" fmla="*/ 192794 h 5025119"/>
              <a:gd name="connsiteX28" fmla="*/ 614318 w 6886274"/>
              <a:gd name="connsiteY28" fmla="*/ 212150 h 5025119"/>
              <a:gd name="connsiteX29" fmla="*/ 623996 w 6886274"/>
              <a:gd name="connsiteY29" fmla="*/ 220711 h 5025119"/>
              <a:gd name="connsiteX30" fmla="*/ 821278 w 6886274"/>
              <a:gd name="connsiteY30" fmla="*/ 503235 h 5025119"/>
              <a:gd name="connsiteX31" fmla="*/ 1033822 w 6886274"/>
              <a:gd name="connsiteY31" fmla="*/ 694562 h 5025119"/>
              <a:gd name="connsiteX32" fmla="*/ 1039406 w 6886274"/>
              <a:gd name="connsiteY32" fmla="*/ 702378 h 5025119"/>
              <a:gd name="connsiteX33" fmla="*/ 944114 w 6886274"/>
              <a:gd name="connsiteY33" fmla="*/ 662550 h 5025119"/>
              <a:gd name="connsiteX34" fmla="*/ 733432 w 6886274"/>
              <a:gd name="connsiteY34" fmla="*/ 500629 h 5025119"/>
              <a:gd name="connsiteX35" fmla="*/ 606501 w 6886274"/>
              <a:gd name="connsiteY35" fmla="*/ 399755 h 5025119"/>
              <a:gd name="connsiteX36" fmla="*/ 588634 w 6886274"/>
              <a:gd name="connsiteY36" fmla="*/ 381143 h 5025119"/>
              <a:gd name="connsiteX37" fmla="*/ 575978 w 6886274"/>
              <a:gd name="connsiteY37" fmla="*/ 375560 h 5025119"/>
              <a:gd name="connsiteX38" fmla="*/ 567044 w 6886274"/>
              <a:gd name="connsiteY38" fmla="*/ 388588 h 5025119"/>
              <a:gd name="connsiteX39" fmla="*/ 578956 w 6886274"/>
              <a:gd name="connsiteY39" fmla="*/ 437722 h 5025119"/>
              <a:gd name="connsiteX40" fmla="*/ 675736 w 6886274"/>
              <a:gd name="connsiteY40" fmla="*/ 535619 h 5025119"/>
              <a:gd name="connsiteX41" fmla="*/ 811600 w 6886274"/>
              <a:gd name="connsiteY41" fmla="*/ 652872 h 5025119"/>
              <a:gd name="connsiteX42" fmla="*/ 818300 w 6886274"/>
              <a:gd name="connsiteY42" fmla="*/ 666272 h 5025119"/>
              <a:gd name="connsiteX43" fmla="*/ 741621 w 6886274"/>
              <a:gd name="connsiteY43" fmla="*/ 608576 h 5025119"/>
              <a:gd name="connsiteX44" fmla="*/ 666430 w 6886274"/>
              <a:gd name="connsiteY44" fmla="*/ 553114 h 5025119"/>
              <a:gd name="connsiteX45" fmla="*/ 645585 w 6886274"/>
              <a:gd name="connsiteY45" fmla="*/ 547903 h 5025119"/>
              <a:gd name="connsiteX46" fmla="*/ 640002 w 6886274"/>
              <a:gd name="connsiteY46" fmla="*/ 570236 h 5025119"/>
              <a:gd name="connsiteX47" fmla="*/ 675736 w 6886274"/>
              <a:gd name="connsiteY47" fmla="*/ 628677 h 5025119"/>
              <a:gd name="connsiteX48" fmla="*/ 855896 w 6886274"/>
              <a:gd name="connsiteY48" fmla="*/ 786875 h 5025119"/>
              <a:gd name="connsiteX49" fmla="*/ 946348 w 6886274"/>
              <a:gd name="connsiteY49" fmla="*/ 877699 h 5025119"/>
              <a:gd name="connsiteX50" fmla="*/ 950442 w 6886274"/>
              <a:gd name="connsiteY50" fmla="*/ 899661 h 5025119"/>
              <a:gd name="connsiteX51" fmla="*/ 991760 w 6886274"/>
              <a:gd name="connsiteY51" fmla="*/ 937629 h 5025119"/>
              <a:gd name="connsiteX52" fmla="*/ 1018188 w 6886274"/>
              <a:gd name="connsiteY52" fmla="*/ 945445 h 5025119"/>
              <a:gd name="connsiteX53" fmla="*/ 1315601 w 6886274"/>
              <a:gd name="connsiteY53" fmla="*/ 1196329 h 5025119"/>
              <a:gd name="connsiteX54" fmla="*/ 1454443 w 6886274"/>
              <a:gd name="connsiteY54" fmla="*/ 1279709 h 5025119"/>
              <a:gd name="connsiteX55" fmla="*/ 1454443 w 6886274"/>
              <a:gd name="connsiteY55" fmla="*/ 1285665 h 5025119"/>
              <a:gd name="connsiteX56" fmla="*/ 1453327 w 6886274"/>
              <a:gd name="connsiteY56" fmla="*/ 1291993 h 5025119"/>
              <a:gd name="connsiteX57" fmla="*/ 1256416 w 6886274"/>
              <a:gd name="connsiteY57" fmla="*/ 1166923 h 5025119"/>
              <a:gd name="connsiteX58" fmla="*/ 745715 w 6886274"/>
              <a:gd name="connsiteY58" fmla="*/ 798786 h 5025119"/>
              <a:gd name="connsiteX59" fmla="*/ 592356 w 6886274"/>
              <a:gd name="connsiteY59" fmla="*/ 656966 h 5025119"/>
              <a:gd name="connsiteX60" fmla="*/ 485526 w 6886274"/>
              <a:gd name="connsiteY60" fmla="*/ 567259 h 5025119"/>
              <a:gd name="connsiteX61" fmla="*/ 430063 w 6886274"/>
              <a:gd name="connsiteY61" fmla="*/ 550136 h 5025119"/>
              <a:gd name="connsiteX62" fmla="*/ 408846 w 6886274"/>
              <a:gd name="connsiteY62" fmla="*/ 563164 h 5025119"/>
              <a:gd name="connsiteX63" fmla="*/ 421130 w 6886274"/>
              <a:gd name="connsiteY63" fmla="*/ 581403 h 5025119"/>
              <a:gd name="connsiteX64" fmla="*/ 426713 w 6886274"/>
              <a:gd name="connsiteY64" fmla="*/ 584009 h 5025119"/>
              <a:gd name="connsiteX65" fmla="*/ 487015 w 6886274"/>
              <a:gd name="connsiteY65" fmla="*/ 635005 h 5025119"/>
              <a:gd name="connsiteX66" fmla="*/ 487015 w 6886274"/>
              <a:gd name="connsiteY66" fmla="*/ 655105 h 5025119"/>
              <a:gd name="connsiteX67" fmla="*/ 497437 w 6886274"/>
              <a:gd name="connsiteY67" fmla="*/ 678183 h 5025119"/>
              <a:gd name="connsiteX68" fmla="*/ 539871 w 6886274"/>
              <a:gd name="connsiteY68" fmla="*/ 691584 h 5025119"/>
              <a:gd name="connsiteX69" fmla="*/ 485898 w 6886274"/>
              <a:gd name="connsiteY69" fmla="*/ 681906 h 5025119"/>
              <a:gd name="connsiteX70" fmla="*/ 410335 w 6886274"/>
              <a:gd name="connsiteY70" fmla="*/ 600387 h 5025119"/>
              <a:gd name="connsiteX71" fmla="*/ 397307 w 6886274"/>
              <a:gd name="connsiteY71" fmla="*/ 582892 h 5025119"/>
              <a:gd name="connsiteX72" fmla="*/ 363062 w 6886274"/>
              <a:gd name="connsiteY72" fmla="*/ 584009 h 5025119"/>
              <a:gd name="connsiteX73" fmla="*/ 334772 w 6886274"/>
              <a:gd name="connsiteY73" fmla="*/ 578426 h 5025119"/>
              <a:gd name="connsiteX74" fmla="*/ 281915 w 6886274"/>
              <a:gd name="connsiteY74" fmla="*/ 522219 h 5025119"/>
              <a:gd name="connsiteX75" fmla="*/ 263304 w 6886274"/>
              <a:gd name="connsiteY75" fmla="*/ 521846 h 5025119"/>
              <a:gd name="connsiteX76" fmla="*/ 263676 w 6886274"/>
              <a:gd name="connsiteY76" fmla="*/ 538225 h 5025119"/>
              <a:gd name="connsiteX77" fmla="*/ 275215 w 6886274"/>
              <a:gd name="connsiteY77" fmla="*/ 563164 h 5025119"/>
              <a:gd name="connsiteX78" fmla="*/ 271121 w 6886274"/>
              <a:gd name="connsiteY78" fmla="*/ 604854 h 5025119"/>
              <a:gd name="connsiteX79" fmla="*/ 274471 w 6886274"/>
              <a:gd name="connsiteY79" fmla="*/ 627560 h 5025119"/>
              <a:gd name="connsiteX80" fmla="*/ 319138 w 6886274"/>
              <a:gd name="connsiteY80" fmla="*/ 718012 h 5025119"/>
              <a:gd name="connsiteX81" fmla="*/ 326583 w 6886274"/>
              <a:gd name="connsiteY81" fmla="*/ 729551 h 5025119"/>
              <a:gd name="connsiteX82" fmla="*/ 349289 w 6886274"/>
              <a:gd name="connsiteY82" fmla="*/ 748163 h 5025119"/>
              <a:gd name="connsiteX83" fmla="*/ 528332 w 6886274"/>
              <a:gd name="connsiteY83" fmla="*/ 1007608 h 5025119"/>
              <a:gd name="connsiteX84" fmla="*/ 766932 w 6886274"/>
              <a:gd name="connsiteY84" fmla="*/ 1222758 h 5025119"/>
              <a:gd name="connsiteX85" fmla="*/ 681319 w 6886274"/>
              <a:gd name="connsiteY85" fmla="*/ 1190746 h 5025119"/>
              <a:gd name="connsiteX86" fmla="*/ 469520 w 6886274"/>
              <a:gd name="connsiteY86" fmla="*/ 1032920 h 5025119"/>
              <a:gd name="connsiteX87" fmla="*/ 325466 w 6886274"/>
              <a:gd name="connsiteY87" fmla="*/ 917900 h 5025119"/>
              <a:gd name="connsiteX88" fmla="*/ 312066 w 6886274"/>
              <a:gd name="connsiteY88" fmla="*/ 903383 h 5025119"/>
              <a:gd name="connsiteX89" fmla="*/ 296805 w 6886274"/>
              <a:gd name="connsiteY89" fmla="*/ 895566 h 5025119"/>
              <a:gd name="connsiteX90" fmla="*/ 288243 w 6886274"/>
              <a:gd name="connsiteY90" fmla="*/ 910828 h 5025119"/>
              <a:gd name="connsiteX91" fmla="*/ 309460 w 6886274"/>
              <a:gd name="connsiteY91" fmla="*/ 971129 h 5025119"/>
              <a:gd name="connsiteX92" fmla="*/ 407729 w 6886274"/>
              <a:gd name="connsiteY92" fmla="*/ 1062698 h 5025119"/>
              <a:gd name="connsiteX93" fmla="*/ 544338 w 6886274"/>
              <a:gd name="connsiteY93" fmla="*/ 1189257 h 5025119"/>
              <a:gd name="connsiteX94" fmla="*/ 454630 w 6886274"/>
              <a:gd name="connsiteY94" fmla="*/ 1120766 h 5025119"/>
              <a:gd name="connsiteX95" fmla="*/ 385396 w 6886274"/>
              <a:gd name="connsiteY95" fmla="*/ 1070515 h 5025119"/>
              <a:gd name="connsiteX96" fmla="*/ 366040 w 6886274"/>
              <a:gd name="connsiteY96" fmla="*/ 1067537 h 5025119"/>
              <a:gd name="connsiteX97" fmla="*/ 361573 w 6886274"/>
              <a:gd name="connsiteY97" fmla="*/ 1086149 h 5025119"/>
              <a:gd name="connsiteX98" fmla="*/ 402146 w 6886274"/>
              <a:gd name="connsiteY98" fmla="*/ 1152778 h 5025119"/>
              <a:gd name="connsiteX99" fmla="*/ 475475 w 6886274"/>
              <a:gd name="connsiteY99" fmla="*/ 1218663 h 5025119"/>
              <a:gd name="connsiteX100" fmla="*/ 393957 w 6886274"/>
              <a:gd name="connsiteY100" fmla="*/ 1201913 h 5025119"/>
              <a:gd name="connsiteX101" fmla="*/ 460586 w 6886274"/>
              <a:gd name="connsiteY101" fmla="*/ 1260353 h 5025119"/>
              <a:gd name="connsiteX102" fmla="*/ 561089 w 6886274"/>
              <a:gd name="connsiteY102" fmla="*/ 1291993 h 5025119"/>
              <a:gd name="connsiteX103" fmla="*/ 602034 w 6886274"/>
              <a:gd name="connsiteY103" fmla="*/ 1328843 h 5025119"/>
              <a:gd name="connsiteX104" fmla="*/ 641863 w 6886274"/>
              <a:gd name="connsiteY104" fmla="*/ 1368672 h 5025119"/>
              <a:gd name="connsiteX105" fmla="*/ 651541 w 6886274"/>
              <a:gd name="connsiteY105" fmla="*/ 1404406 h 5025119"/>
              <a:gd name="connsiteX106" fmla="*/ 688392 w 6886274"/>
              <a:gd name="connsiteY106" fmla="*/ 1457263 h 5025119"/>
              <a:gd name="connsiteX107" fmla="*/ 692486 w 6886274"/>
              <a:gd name="connsiteY107" fmla="*/ 1458008 h 5025119"/>
              <a:gd name="connsiteX108" fmla="*/ 719287 w 6886274"/>
              <a:gd name="connsiteY108" fmla="*/ 1485181 h 5025119"/>
              <a:gd name="connsiteX109" fmla="*/ 745343 w 6886274"/>
              <a:gd name="connsiteY109" fmla="*/ 1512353 h 5025119"/>
              <a:gd name="connsiteX110" fmla="*/ 750926 w 6886274"/>
              <a:gd name="connsiteY110" fmla="*/ 1516448 h 5025119"/>
              <a:gd name="connsiteX111" fmla="*/ 890141 w 6886274"/>
              <a:gd name="connsiteY111" fmla="*/ 1685813 h 5025119"/>
              <a:gd name="connsiteX112" fmla="*/ 899074 w 6886274"/>
              <a:gd name="connsiteY112" fmla="*/ 1693630 h 5025119"/>
              <a:gd name="connsiteX113" fmla="*/ 605012 w 6886274"/>
              <a:gd name="connsiteY113" fmla="*/ 1669435 h 5025119"/>
              <a:gd name="connsiteX114" fmla="*/ 229431 w 6886274"/>
              <a:gd name="connsiteY114" fmla="*/ 1545110 h 5025119"/>
              <a:gd name="connsiteX115" fmla="*/ 251765 w 6886274"/>
              <a:gd name="connsiteY115" fmla="*/ 1614717 h 5025119"/>
              <a:gd name="connsiteX116" fmla="*/ 237992 w 6886274"/>
              <a:gd name="connsiteY116" fmla="*/ 1675391 h 5025119"/>
              <a:gd name="connsiteX117" fmla="*/ 232781 w 6886274"/>
              <a:gd name="connsiteY117" fmla="*/ 1807160 h 5025119"/>
              <a:gd name="connsiteX118" fmla="*/ 236131 w 6886274"/>
              <a:gd name="connsiteY118" fmla="*/ 1828750 h 5025119"/>
              <a:gd name="connsiteX119" fmla="*/ 152007 w 6886274"/>
              <a:gd name="connsiteY119" fmla="*/ 1842150 h 5025119"/>
              <a:gd name="connsiteX120" fmla="*/ 653030 w 6886274"/>
              <a:gd name="connsiteY120" fmla="*/ 2213265 h 5025119"/>
              <a:gd name="connsiteX121" fmla="*/ 318394 w 6886274"/>
              <a:gd name="connsiteY121" fmla="*/ 2143285 h 5025119"/>
              <a:gd name="connsiteX122" fmla="*/ 272982 w 6886274"/>
              <a:gd name="connsiteY122" fmla="*/ 2258305 h 5025119"/>
              <a:gd name="connsiteX123" fmla="*/ 430435 w 6886274"/>
              <a:gd name="connsiteY123" fmla="*/ 2360668 h 5025119"/>
              <a:gd name="connsiteX124" fmla="*/ 488876 w 6886274"/>
              <a:gd name="connsiteY124" fmla="*/ 2563162 h 5025119"/>
              <a:gd name="connsiteX125" fmla="*/ 460586 w 6886274"/>
              <a:gd name="connsiteY125" fmla="*/ 2748533 h 5025119"/>
              <a:gd name="connsiteX126" fmla="*/ 393212 w 6886274"/>
              <a:gd name="connsiteY126" fmla="*/ 2807345 h 5025119"/>
              <a:gd name="connsiteX127" fmla="*/ 295688 w 6886274"/>
              <a:gd name="connsiteY127" fmla="*/ 2913059 h 5025119"/>
              <a:gd name="connsiteX128" fmla="*/ 235386 w 6886274"/>
              <a:gd name="connsiteY128" fmla="*/ 2978572 h 5025119"/>
              <a:gd name="connsiteX129" fmla="*/ 25448 w 6886274"/>
              <a:gd name="connsiteY129" fmla="*/ 2952888 h 5025119"/>
              <a:gd name="connsiteX130" fmla="*/ 305738 w 6886274"/>
              <a:gd name="connsiteY130" fmla="*/ 3119275 h 5025119"/>
              <a:gd name="connsiteX131" fmla="*/ 79049 w 6886274"/>
              <a:gd name="connsiteY131" fmla="*/ 3098430 h 5025119"/>
              <a:gd name="connsiteX132" fmla="*/ 4975 w 6886274"/>
              <a:gd name="connsiteY132" fmla="*/ 3109969 h 5025119"/>
              <a:gd name="connsiteX133" fmla="*/ 47037 w 6886274"/>
              <a:gd name="connsiteY133" fmla="*/ 3163943 h 5025119"/>
              <a:gd name="connsiteX134" fmla="*/ 213425 w 6886274"/>
              <a:gd name="connsiteY134" fmla="*/ 3255139 h 5025119"/>
              <a:gd name="connsiteX135" fmla="*/ 556622 w 6886274"/>
              <a:gd name="connsiteY135" fmla="*/ 3502301 h 5025119"/>
              <a:gd name="connsiteX136" fmla="*/ 224592 w 6886274"/>
              <a:gd name="connsiteY136" fmla="*/ 3388771 h 5025119"/>
              <a:gd name="connsiteX137" fmla="*/ 574861 w 6886274"/>
              <a:gd name="connsiteY137" fmla="*/ 3643004 h 5025119"/>
              <a:gd name="connsiteX138" fmla="*/ 652657 w 6886274"/>
              <a:gd name="connsiteY138" fmla="*/ 3727501 h 5025119"/>
              <a:gd name="connsiteX139" fmla="*/ 810111 w 6886274"/>
              <a:gd name="connsiteY139" fmla="*/ 3937067 h 5025119"/>
              <a:gd name="connsiteX140" fmla="*/ 802294 w 6886274"/>
              <a:gd name="connsiteY140" fmla="*/ 3960890 h 5025119"/>
              <a:gd name="connsiteX141" fmla="*/ 620646 w 6886274"/>
              <a:gd name="connsiteY141" fmla="*/ 3927017 h 5025119"/>
              <a:gd name="connsiteX142" fmla="*/ 856268 w 6886274"/>
              <a:gd name="connsiteY142" fmla="*/ 4103082 h 5025119"/>
              <a:gd name="connsiteX143" fmla="*/ 1099707 w 6886274"/>
              <a:gd name="connsiteY143" fmla="*/ 4238574 h 5025119"/>
              <a:gd name="connsiteX144" fmla="*/ 926992 w 6886274"/>
              <a:gd name="connsiteY144" fmla="*/ 4218102 h 5025119"/>
              <a:gd name="connsiteX145" fmla="*/ 689508 w 6886274"/>
              <a:gd name="connsiteY145" fmla="*/ 4140677 h 5025119"/>
              <a:gd name="connsiteX146" fmla="*/ 606873 w 6886274"/>
              <a:gd name="connsiteY146" fmla="*/ 4169711 h 5025119"/>
              <a:gd name="connsiteX147" fmla="*/ 831701 w 6886274"/>
              <a:gd name="connsiteY147" fmla="*/ 4297759 h 5025119"/>
              <a:gd name="connsiteX148" fmla="*/ 960493 w 6886274"/>
              <a:gd name="connsiteY148" fmla="*/ 4356944 h 5025119"/>
              <a:gd name="connsiteX149" fmla="*/ 1012233 w 6886274"/>
              <a:gd name="connsiteY149" fmla="*/ 4402356 h 5025119"/>
              <a:gd name="connsiteX150" fmla="*/ 1159636 w 6886274"/>
              <a:gd name="connsiteY150" fmla="*/ 4564276 h 5025119"/>
              <a:gd name="connsiteX151" fmla="*/ 1592169 w 6886274"/>
              <a:gd name="connsiteY151" fmla="*/ 4741458 h 5025119"/>
              <a:gd name="connsiteX152" fmla="*/ 3110499 w 6886274"/>
              <a:gd name="connsiteY152" fmla="*/ 5032171 h 5025119"/>
              <a:gd name="connsiteX153" fmla="*/ 6033630 w 6886274"/>
              <a:gd name="connsiteY153" fmla="*/ 4091915 h 5025119"/>
              <a:gd name="connsiteX154" fmla="*/ 6180661 w 6886274"/>
              <a:gd name="connsiteY154" fmla="*/ 3957912 h 5025119"/>
              <a:gd name="connsiteX155" fmla="*/ 6305359 w 6886274"/>
              <a:gd name="connsiteY155" fmla="*/ 3837309 h 5025119"/>
              <a:gd name="connsiteX156" fmla="*/ 6240218 w 6886274"/>
              <a:gd name="connsiteY156" fmla="*/ 3796364 h 5025119"/>
              <a:gd name="connsiteX157" fmla="*/ 6328437 w 6886274"/>
              <a:gd name="connsiteY157" fmla="*/ 3681344 h 5025119"/>
              <a:gd name="connsiteX158" fmla="*/ 6608355 w 6886274"/>
              <a:gd name="connsiteY158" fmla="*/ 3326236 h 5025119"/>
              <a:gd name="connsiteX159" fmla="*/ 6731191 w 6886274"/>
              <a:gd name="connsiteY159" fmla="*/ 3248067 h 5025119"/>
              <a:gd name="connsiteX160" fmla="*/ 6880456 w 6886274"/>
              <a:gd name="connsiteY160" fmla="*/ 3051529 h 5025119"/>
              <a:gd name="connsiteX161" fmla="*/ 6901673 w 6886274"/>
              <a:gd name="connsiteY161" fmla="*/ 2763795 h 5025119"/>
              <a:gd name="connsiteX162" fmla="*/ 6871150 w 6886274"/>
              <a:gd name="connsiteY162" fmla="*/ 2948421 h 5025119"/>
              <a:gd name="connsiteX163" fmla="*/ 6848444 w 6886274"/>
              <a:gd name="connsiteY163" fmla="*/ 2890353 h 5025119"/>
              <a:gd name="connsiteX164" fmla="*/ 6878223 w 6886274"/>
              <a:gd name="connsiteY164" fmla="*/ 2873230 h 5025119"/>
              <a:gd name="connsiteX165" fmla="*/ 6762459 w 6886274"/>
              <a:gd name="connsiteY165" fmla="*/ 2568745 h 5025119"/>
              <a:gd name="connsiteX166" fmla="*/ 6673123 w 6886274"/>
              <a:gd name="connsiteY166" fmla="*/ 2451493 h 5025119"/>
              <a:gd name="connsiteX167" fmla="*/ 6662700 w 6886274"/>
              <a:gd name="connsiteY167" fmla="*/ 2346896 h 5025119"/>
              <a:gd name="connsiteX168" fmla="*/ 6487752 w 6886274"/>
              <a:gd name="connsiteY168" fmla="*/ 2285105 h 5025119"/>
              <a:gd name="connsiteX169" fmla="*/ 6652278 w 6886274"/>
              <a:gd name="connsiteY169" fmla="*/ 2063628 h 5025119"/>
              <a:gd name="connsiteX170" fmla="*/ 6668656 w 6886274"/>
              <a:gd name="connsiteY170" fmla="*/ 2017843 h 5025119"/>
              <a:gd name="connsiteX171" fmla="*/ 6570015 w 6886274"/>
              <a:gd name="connsiteY171" fmla="*/ 1854062 h 5025119"/>
              <a:gd name="connsiteX172" fmla="*/ 6554009 w 6886274"/>
              <a:gd name="connsiteY172" fmla="*/ 1827633 h 5025119"/>
              <a:gd name="connsiteX173" fmla="*/ 6517531 w 6886274"/>
              <a:gd name="connsiteY173" fmla="*/ 1775149 h 5025119"/>
              <a:gd name="connsiteX174" fmla="*/ 6412934 w 6886274"/>
              <a:gd name="connsiteY174" fmla="*/ 1762493 h 5025119"/>
              <a:gd name="connsiteX175" fmla="*/ 6467279 w 6886274"/>
              <a:gd name="connsiteY175" fmla="*/ 1725642 h 5025119"/>
              <a:gd name="connsiteX176" fmla="*/ 6572621 w 6886274"/>
              <a:gd name="connsiteY176" fmla="*/ 1600200 h 5025119"/>
              <a:gd name="connsiteX177" fmla="*/ 6502641 w 6886274"/>
              <a:gd name="connsiteY177" fmla="*/ 1480341 h 5025119"/>
              <a:gd name="connsiteX178" fmla="*/ 6481796 w 6886274"/>
              <a:gd name="connsiteY178" fmla="*/ 1461358 h 5025119"/>
              <a:gd name="connsiteX179" fmla="*/ 6509713 w 6886274"/>
              <a:gd name="connsiteY179" fmla="*/ 1436418 h 5025119"/>
              <a:gd name="connsiteX180" fmla="*/ 6567037 w 6886274"/>
              <a:gd name="connsiteY180" fmla="*/ 1348199 h 5025119"/>
              <a:gd name="connsiteX181" fmla="*/ 6596816 w 6886274"/>
              <a:gd name="connsiteY181" fmla="*/ 1286781 h 5025119"/>
              <a:gd name="connsiteX182" fmla="*/ 6632178 w 6886274"/>
              <a:gd name="connsiteY182" fmla="*/ 1261842 h 5025119"/>
              <a:gd name="connsiteX183" fmla="*/ 6639994 w 6886274"/>
              <a:gd name="connsiteY183" fmla="*/ 1240625 h 5025119"/>
              <a:gd name="connsiteX184" fmla="*/ 6622127 w 6886274"/>
              <a:gd name="connsiteY184" fmla="*/ 1136400 h 5025119"/>
              <a:gd name="connsiteX185" fmla="*/ 6612077 w 6886274"/>
              <a:gd name="connsiteY185" fmla="*/ 1109599 h 5025119"/>
              <a:gd name="connsiteX186" fmla="*/ 6531675 w 6886274"/>
              <a:gd name="connsiteY186" fmla="*/ 1009469 h 5025119"/>
              <a:gd name="connsiteX187" fmla="*/ 6456113 w 6886274"/>
              <a:gd name="connsiteY187" fmla="*/ 845315 h 5025119"/>
              <a:gd name="connsiteX188" fmla="*/ 6440851 w 6886274"/>
              <a:gd name="connsiteY188" fmla="*/ 739229 h 5025119"/>
              <a:gd name="connsiteX189" fmla="*/ 6434523 w 6886274"/>
              <a:gd name="connsiteY189" fmla="*/ 715034 h 5025119"/>
              <a:gd name="connsiteX190" fmla="*/ 6432290 w 6886274"/>
              <a:gd name="connsiteY190" fmla="*/ 617510 h 5025119"/>
              <a:gd name="connsiteX191" fmla="*/ 6416284 w 6886274"/>
              <a:gd name="connsiteY191" fmla="*/ 595176 h 5025119"/>
              <a:gd name="connsiteX192" fmla="*/ 6267763 w 6886274"/>
              <a:gd name="connsiteY192" fmla="*/ 591826 h 5025119"/>
              <a:gd name="connsiteX193" fmla="*/ 6236496 w 6886274"/>
              <a:gd name="connsiteY193" fmla="*/ 521102 h 5025119"/>
              <a:gd name="connsiteX194" fmla="*/ 6257341 w 6886274"/>
              <a:gd name="connsiteY194" fmla="*/ 487229 h 5025119"/>
              <a:gd name="connsiteX195" fmla="*/ 6248780 w 6886274"/>
              <a:gd name="connsiteY195" fmla="*/ 465267 h 5025119"/>
              <a:gd name="connsiteX196" fmla="*/ 6226818 w 6886274"/>
              <a:gd name="connsiteY196" fmla="*/ 473456 h 5025119"/>
              <a:gd name="connsiteX197" fmla="*/ 6115149 w 6886274"/>
              <a:gd name="connsiteY197" fmla="*/ 551625 h 5025119"/>
              <a:gd name="connsiteX198" fmla="*/ 5951739 w 6886274"/>
              <a:gd name="connsiteY198" fmla="*/ 659944 h 5025119"/>
              <a:gd name="connsiteX199" fmla="*/ 5917122 w 6886274"/>
              <a:gd name="connsiteY199" fmla="*/ 644310 h 5025119"/>
              <a:gd name="connsiteX200" fmla="*/ 5890694 w 6886274"/>
              <a:gd name="connsiteY200" fmla="*/ 630538 h 5025119"/>
              <a:gd name="connsiteX201" fmla="*/ 5837464 w 6886274"/>
              <a:gd name="connsiteY201" fmla="*/ 646916 h 5025119"/>
              <a:gd name="connsiteX202" fmla="*/ 5809175 w 6886274"/>
              <a:gd name="connsiteY202" fmla="*/ 683395 h 5025119"/>
              <a:gd name="connsiteX203" fmla="*/ 5815503 w 6886274"/>
              <a:gd name="connsiteY203" fmla="*/ 698656 h 5025119"/>
              <a:gd name="connsiteX204" fmla="*/ 5746268 w 6886274"/>
              <a:gd name="connsiteY204" fmla="*/ 667389 h 5025119"/>
              <a:gd name="connsiteX205" fmla="*/ 5458905 w 6886274"/>
              <a:gd name="connsiteY205" fmla="*/ 754119 h 5025119"/>
              <a:gd name="connsiteX206" fmla="*/ 885302 w 6886274"/>
              <a:gd name="connsiteY206" fmla="*/ 1333310 h 5025119"/>
              <a:gd name="connsiteX207" fmla="*/ 862596 w 6886274"/>
              <a:gd name="connsiteY207" fmla="*/ 1314326 h 5025119"/>
              <a:gd name="connsiteX208" fmla="*/ 866318 w 6886274"/>
              <a:gd name="connsiteY208" fmla="*/ 1309860 h 5025119"/>
              <a:gd name="connsiteX209" fmla="*/ 912103 w 6886274"/>
              <a:gd name="connsiteY209" fmla="*/ 1341127 h 5025119"/>
              <a:gd name="connsiteX210" fmla="*/ 885302 w 6886274"/>
              <a:gd name="connsiteY210" fmla="*/ 1333310 h 5025119"/>
              <a:gd name="connsiteX211" fmla="*/ 1140280 w 6886274"/>
              <a:gd name="connsiteY211" fmla="*/ 787619 h 5025119"/>
              <a:gd name="connsiteX212" fmla="*/ 1414987 w 6886274"/>
              <a:gd name="connsiteY212" fmla="*/ 975596 h 5025119"/>
              <a:gd name="connsiteX213" fmla="*/ 1410892 w 6886274"/>
              <a:gd name="connsiteY213" fmla="*/ 980063 h 5025119"/>
              <a:gd name="connsiteX214" fmla="*/ 1140280 w 6886274"/>
              <a:gd name="connsiteY214" fmla="*/ 787619 h 502511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</a:cxnLst>
            <a:rect l="l" t="t" r="r" b="b"/>
            <a:pathLst>
              <a:path w="6886274" h="5025119">
                <a:moveTo>
                  <a:pt x="5458905" y="754119"/>
                </a:moveTo>
                <a:cubicBezTo>
                  <a:pt x="5417216" y="775336"/>
                  <a:pt x="4594585" y="1111088"/>
                  <a:pt x="3455557" y="1027709"/>
                </a:cubicBezTo>
                <a:cubicBezTo>
                  <a:pt x="3415356" y="1024731"/>
                  <a:pt x="3377389" y="1022869"/>
                  <a:pt x="3338677" y="1021381"/>
                </a:cubicBezTo>
                <a:cubicBezTo>
                  <a:pt x="2996224" y="1006119"/>
                  <a:pt x="2660100" y="998674"/>
                  <a:pt x="2518280" y="980435"/>
                </a:cubicBezTo>
                <a:cubicBezTo>
                  <a:pt x="2407355" y="965918"/>
                  <a:pt x="1840075" y="843082"/>
                  <a:pt x="1673687" y="739229"/>
                </a:cubicBezTo>
                <a:cubicBezTo>
                  <a:pt x="1503578" y="632771"/>
                  <a:pt x="1343146" y="515146"/>
                  <a:pt x="1183459" y="397149"/>
                </a:cubicBezTo>
                <a:cubicBezTo>
                  <a:pt x="1114224" y="346153"/>
                  <a:pt x="1040522" y="299624"/>
                  <a:pt x="977987" y="241184"/>
                </a:cubicBezTo>
                <a:cubicBezTo>
                  <a:pt x="915453" y="182372"/>
                  <a:pt x="855896" y="121326"/>
                  <a:pt x="788150" y="66980"/>
                </a:cubicBezTo>
                <a:cubicBezTo>
                  <a:pt x="768794" y="51346"/>
                  <a:pt x="749438" y="34596"/>
                  <a:pt x="721148" y="31990"/>
                </a:cubicBezTo>
                <a:cubicBezTo>
                  <a:pt x="714820" y="31246"/>
                  <a:pt x="708120" y="31618"/>
                  <a:pt x="701792" y="32362"/>
                </a:cubicBezTo>
                <a:cubicBezTo>
                  <a:pt x="694720" y="33107"/>
                  <a:pt x="689136" y="36829"/>
                  <a:pt x="686530" y="43157"/>
                </a:cubicBezTo>
                <a:cubicBezTo>
                  <a:pt x="683925" y="50230"/>
                  <a:pt x="688392" y="54324"/>
                  <a:pt x="693603" y="58046"/>
                </a:cubicBezTo>
                <a:cubicBezTo>
                  <a:pt x="697325" y="60652"/>
                  <a:pt x="701047" y="64747"/>
                  <a:pt x="705886" y="65491"/>
                </a:cubicBezTo>
                <a:cubicBezTo>
                  <a:pt x="736782" y="69958"/>
                  <a:pt x="748321" y="92664"/>
                  <a:pt x="762838" y="112764"/>
                </a:cubicBezTo>
                <a:cubicBezTo>
                  <a:pt x="769166" y="121326"/>
                  <a:pt x="775866" y="128026"/>
                  <a:pt x="764327" y="140309"/>
                </a:cubicBezTo>
                <a:cubicBezTo>
                  <a:pt x="754277" y="151104"/>
                  <a:pt x="764699" y="156688"/>
                  <a:pt x="775121" y="159666"/>
                </a:cubicBezTo>
                <a:cubicBezTo>
                  <a:pt x="789638" y="163760"/>
                  <a:pt x="806761" y="163016"/>
                  <a:pt x="823139" y="176416"/>
                </a:cubicBezTo>
                <a:cubicBezTo>
                  <a:pt x="761721" y="177533"/>
                  <a:pt x="735665" y="142171"/>
                  <a:pt x="707748" y="109414"/>
                </a:cubicBezTo>
                <a:cubicBezTo>
                  <a:pt x="697325" y="97503"/>
                  <a:pt x="690253" y="83358"/>
                  <a:pt x="681319" y="69958"/>
                </a:cubicBezTo>
                <a:cubicBezTo>
                  <a:pt x="670152" y="53580"/>
                  <a:pt x="657124" y="52835"/>
                  <a:pt x="640746" y="67352"/>
                </a:cubicBezTo>
                <a:cubicBezTo>
                  <a:pt x="626229" y="80380"/>
                  <a:pt x="619157" y="79264"/>
                  <a:pt x="614318" y="61396"/>
                </a:cubicBezTo>
                <a:cubicBezTo>
                  <a:pt x="606873" y="33479"/>
                  <a:pt x="589750" y="13751"/>
                  <a:pt x="560716" y="3701"/>
                </a:cubicBezTo>
                <a:cubicBezTo>
                  <a:pt x="554388" y="1467"/>
                  <a:pt x="546572" y="-3372"/>
                  <a:pt x="540616" y="3701"/>
                </a:cubicBezTo>
                <a:cubicBezTo>
                  <a:pt x="535405" y="9656"/>
                  <a:pt x="539871" y="16729"/>
                  <a:pt x="543594" y="21940"/>
                </a:cubicBezTo>
                <a:cubicBezTo>
                  <a:pt x="550294" y="31246"/>
                  <a:pt x="556250" y="40179"/>
                  <a:pt x="558855" y="51346"/>
                </a:cubicBezTo>
                <a:cubicBezTo>
                  <a:pt x="560716" y="58791"/>
                  <a:pt x="562578" y="66980"/>
                  <a:pt x="557366" y="72563"/>
                </a:cubicBezTo>
                <a:cubicBezTo>
                  <a:pt x="535777" y="96386"/>
                  <a:pt x="551411" y="107553"/>
                  <a:pt x="570022" y="120209"/>
                </a:cubicBezTo>
                <a:cubicBezTo>
                  <a:pt x="595706" y="137332"/>
                  <a:pt x="605756" y="162643"/>
                  <a:pt x="599801" y="192794"/>
                </a:cubicBezTo>
                <a:cubicBezTo>
                  <a:pt x="597567" y="205078"/>
                  <a:pt x="599056" y="212522"/>
                  <a:pt x="614318" y="212150"/>
                </a:cubicBezTo>
                <a:cubicBezTo>
                  <a:pt x="620273" y="212150"/>
                  <a:pt x="621762" y="216245"/>
                  <a:pt x="623996" y="220711"/>
                </a:cubicBezTo>
                <a:cubicBezTo>
                  <a:pt x="671641" y="326053"/>
                  <a:pt x="740504" y="418366"/>
                  <a:pt x="821278" y="503235"/>
                </a:cubicBezTo>
                <a:cubicBezTo>
                  <a:pt x="886791" y="572098"/>
                  <a:pt x="959004" y="634260"/>
                  <a:pt x="1033822" y="694562"/>
                </a:cubicBezTo>
                <a:cubicBezTo>
                  <a:pt x="1036055" y="696423"/>
                  <a:pt x="1038289" y="698656"/>
                  <a:pt x="1039406" y="702378"/>
                </a:cubicBezTo>
                <a:cubicBezTo>
                  <a:pt x="1004044" y="694934"/>
                  <a:pt x="973521" y="679672"/>
                  <a:pt x="944114" y="662550"/>
                </a:cubicBezTo>
                <a:cubicBezTo>
                  <a:pt x="865946" y="617138"/>
                  <a:pt x="800061" y="558325"/>
                  <a:pt x="733432" y="500629"/>
                </a:cubicBezTo>
                <a:cubicBezTo>
                  <a:pt x="692858" y="465267"/>
                  <a:pt x="651169" y="431022"/>
                  <a:pt x="606501" y="399755"/>
                </a:cubicBezTo>
                <a:cubicBezTo>
                  <a:pt x="599056" y="394543"/>
                  <a:pt x="593845" y="387843"/>
                  <a:pt x="588634" y="381143"/>
                </a:cubicBezTo>
                <a:cubicBezTo>
                  <a:pt x="585656" y="377421"/>
                  <a:pt x="581934" y="374071"/>
                  <a:pt x="575978" y="375560"/>
                </a:cubicBezTo>
                <a:cubicBezTo>
                  <a:pt x="568533" y="377421"/>
                  <a:pt x="567789" y="383004"/>
                  <a:pt x="567044" y="388588"/>
                </a:cubicBezTo>
                <a:cubicBezTo>
                  <a:pt x="564811" y="406455"/>
                  <a:pt x="569650" y="422461"/>
                  <a:pt x="578956" y="437722"/>
                </a:cubicBezTo>
                <a:cubicBezTo>
                  <a:pt x="603151" y="476806"/>
                  <a:pt x="638885" y="506957"/>
                  <a:pt x="675736" y="535619"/>
                </a:cubicBezTo>
                <a:cubicBezTo>
                  <a:pt x="723381" y="572470"/>
                  <a:pt x="769538" y="610810"/>
                  <a:pt x="811600" y="652872"/>
                </a:cubicBezTo>
                <a:cubicBezTo>
                  <a:pt x="814578" y="655850"/>
                  <a:pt x="820161" y="657711"/>
                  <a:pt x="818300" y="666272"/>
                </a:cubicBezTo>
                <a:cubicBezTo>
                  <a:pt x="791872" y="646544"/>
                  <a:pt x="766932" y="627188"/>
                  <a:pt x="741621" y="608576"/>
                </a:cubicBezTo>
                <a:cubicBezTo>
                  <a:pt x="716681" y="589965"/>
                  <a:pt x="691369" y="571353"/>
                  <a:pt x="666430" y="553114"/>
                </a:cubicBezTo>
                <a:cubicBezTo>
                  <a:pt x="660474" y="548647"/>
                  <a:pt x="654146" y="542319"/>
                  <a:pt x="645585" y="547903"/>
                </a:cubicBezTo>
                <a:cubicBezTo>
                  <a:pt x="636652" y="553486"/>
                  <a:pt x="637768" y="562792"/>
                  <a:pt x="640002" y="570236"/>
                </a:cubicBezTo>
                <a:cubicBezTo>
                  <a:pt x="647074" y="592198"/>
                  <a:pt x="659358" y="611554"/>
                  <a:pt x="675736" y="628677"/>
                </a:cubicBezTo>
                <a:cubicBezTo>
                  <a:pt x="731570" y="685256"/>
                  <a:pt x="795966" y="734018"/>
                  <a:pt x="855896" y="786875"/>
                </a:cubicBezTo>
                <a:cubicBezTo>
                  <a:pt x="888280" y="815537"/>
                  <a:pt x="918058" y="846060"/>
                  <a:pt x="946348" y="877699"/>
                </a:cubicBezTo>
                <a:cubicBezTo>
                  <a:pt x="952676" y="884772"/>
                  <a:pt x="952303" y="891472"/>
                  <a:pt x="950442" y="899661"/>
                </a:cubicBezTo>
                <a:cubicBezTo>
                  <a:pt x="942998" y="932790"/>
                  <a:pt x="954537" y="943957"/>
                  <a:pt x="991760" y="937629"/>
                </a:cubicBezTo>
                <a:cubicBezTo>
                  <a:pt x="1003299" y="935767"/>
                  <a:pt x="1011116" y="937629"/>
                  <a:pt x="1018188" y="945445"/>
                </a:cubicBezTo>
                <a:cubicBezTo>
                  <a:pt x="1103802" y="1042225"/>
                  <a:pt x="1205048" y="1123744"/>
                  <a:pt x="1315601" y="1196329"/>
                </a:cubicBezTo>
                <a:cubicBezTo>
                  <a:pt x="1360641" y="1225735"/>
                  <a:pt x="1407170" y="1253653"/>
                  <a:pt x="1454443" y="1279709"/>
                </a:cubicBezTo>
                <a:cubicBezTo>
                  <a:pt x="1454443" y="1281570"/>
                  <a:pt x="1454443" y="1283804"/>
                  <a:pt x="1454443" y="1285665"/>
                </a:cubicBezTo>
                <a:cubicBezTo>
                  <a:pt x="1454071" y="1288270"/>
                  <a:pt x="1453699" y="1289759"/>
                  <a:pt x="1453327" y="1291993"/>
                </a:cubicBezTo>
                <a:cubicBezTo>
                  <a:pt x="1386697" y="1251792"/>
                  <a:pt x="1320812" y="1210474"/>
                  <a:pt x="1256416" y="1166923"/>
                </a:cubicBezTo>
                <a:cubicBezTo>
                  <a:pt x="1081840" y="1048926"/>
                  <a:pt x="915080" y="922367"/>
                  <a:pt x="745715" y="798786"/>
                </a:cubicBezTo>
                <a:cubicBezTo>
                  <a:pt x="688764" y="757096"/>
                  <a:pt x="643724" y="703867"/>
                  <a:pt x="592356" y="656966"/>
                </a:cubicBezTo>
                <a:cubicBezTo>
                  <a:pt x="558111" y="625699"/>
                  <a:pt x="525354" y="592943"/>
                  <a:pt x="485526" y="567259"/>
                </a:cubicBezTo>
                <a:cubicBezTo>
                  <a:pt x="469148" y="556836"/>
                  <a:pt x="452025" y="547530"/>
                  <a:pt x="430063" y="550136"/>
                </a:cubicBezTo>
                <a:cubicBezTo>
                  <a:pt x="421502" y="551253"/>
                  <a:pt x="411824" y="553486"/>
                  <a:pt x="408846" y="563164"/>
                </a:cubicBezTo>
                <a:cubicBezTo>
                  <a:pt x="406240" y="572842"/>
                  <a:pt x="414057" y="577309"/>
                  <a:pt x="421130" y="581403"/>
                </a:cubicBezTo>
                <a:cubicBezTo>
                  <a:pt x="422991" y="582520"/>
                  <a:pt x="424852" y="584009"/>
                  <a:pt x="426713" y="584009"/>
                </a:cubicBezTo>
                <a:cubicBezTo>
                  <a:pt x="462075" y="586242"/>
                  <a:pt x="470264" y="614532"/>
                  <a:pt x="487015" y="635005"/>
                </a:cubicBezTo>
                <a:cubicBezTo>
                  <a:pt x="492226" y="641333"/>
                  <a:pt x="492598" y="647661"/>
                  <a:pt x="487015" y="655105"/>
                </a:cubicBezTo>
                <a:cubicBezTo>
                  <a:pt x="476964" y="668505"/>
                  <a:pt x="484037" y="674461"/>
                  <a:pt x="497437" y="678183"/>
                </a:cubicBezTo>
                <a:cubicBezTo>
                  <a:pt x="510837" y="681906"/>
                  <a:pt x="525354" y="683022"/>
                  <a:pt x="539871" y="691584"/>
                </a:cubicBezTo>
                <a:cubicBezTo>
                  <a:pt x="516793" y="698656"/>
                  <a:pt x="500787" y="691212"/>
                  <a:pt x="485898" y="681906"/>
                </a:cubicBezTo>
                <a:cubicBezTo>
                  <a:pt x="452397" y="661433"/>
                  <a:pt x="430808" y="631282"/>
                  <a:pt x="410335" y="600387"/>
                </a:cubicBezTo>
                <a:cubicBezTo>
                  <a:pt x="406240" y="594431"/>
                  <a:pt x="402890" y="587731"/>
                  <a:pt x="397307" y="582892"/>
                </a:cubicBezTo>
                <a:cubicBezTo>
                  <a:pt x="386884" y="573214"/>
                  <a:pt x="375717" y="572098"/>
                  <a:pt x="363062" y="584009"/>
                </a:cubicBezTo>
                <a:cubicBezTo>
                  <a:pt x="346311" y="599643"/>
                  <a:pt x="340356" y="598526"/>
                  <a:pt x="334772" y="578426"/>
                </a:cubicBezTo>
                <a:cubicBezTo>
                  <a:pt x="327327" y="551253"/>
                  <a:pt x="310577" y="532269"/>
                  <a:pt x="281915" y="522219"/>
                </a:cubicBezTo>
                <a:cubicBezTo>
                  <a:pt x="275960" y="519985"/>
                  <a:pt x="269632" y="517007"/>
                  <a:pt x="263304" y="521846"/>
                </a:cubicBezTo>
                <a:cubicBezTo>
                  <a:pt x="256604" y="527430"/>
                  <a:pt x="261070" y="533013"/>
                  <a:pt x="263676" y="538225"/>
                </a:cubicBezTo>
                <a:cubicBezTo>
                  <a:pt x="267398" y="546414"/>
                  <a:pt x="271865" y="554603"/>
                  <a:pt x="275215" y="563164"/>
                </a:cubicBezTo>
                <a:cubicBezTo>
                  <a:pt x="281171" y="576937"/>
                  <a:pt x="282288" y="591454"/>
                  <a:pt x="271121" y="604854"/>
                </a:cubicBezTo>
                <a:cubicBezTo>
                  <a:pt x="262931" y="614532"/>
                  <a:pt x="263676" y="620860"/>
                  <a:pt x="274471" y="627560"/>
                </a:cubicBezTo>
                <a:cubicBezTo>
                  <a:pt x="309088" y="648405"/>
                  <a:pt x="331050" y="675578"/>
                  <a:pt x="319138" y="718012"/>
                </a:cubicBezTo>
                <a:cubicBezTo>
                  <a:pt x="317277" y="723968"/>
                  <a:pt x="319511" y="729924"/>
                  <a:pt x="326583" y="729551"/>
                </a:cubicBezTo>
                <a:cubicBezTo>
                  <a:pt x="342217" y="728435"/>
                  <a:pt x="344822" y="738113"/>
                  <a:pt x="349289" y="748163"/>
                </a:cubicBezTo>
                <a:cubicBezTo>
                  <a:pt x="392840" y="844571"/>
                  <a:pt x="455747" y="928695"/>
                  <a:pt x="528332" y="1007608"/>
                </a:cubicBezTo>
                <a:cubicBezTo>
                  <a:pt x="600173" y="1085777"/>
                  <a:pt x="680947" y="1155756"/>
                  <a:pt x="766932" y="1222758"/>
                </a:cubicBezTo>
                <a:cubicBezTo>
                  <a:pt x="742737" y="1220524"/>
                  <a:pt x="711470" y="1206752"/>
                  <a:pt x="681319" y="1190746"/>
                </a:cubicBezTo>
                <a:cubicBezTo>
                  <a:pt x="601662" y="1147939"/>
                  <a:pt x="536149" y="1089871"/>
                  <a:pt x="469520" y="1032920"/>
                </a:cubicBezTo>
                <a:cubicBezTo>
                  <a:pt x="422991" y="993091"/>
                  <a:pt x="377579" y="952146"/>
                  <a:pt x="325466" y="917900"/>
                </a:cubicBezTo>
                <a:cubicBezTo>
                  <a:pt x="319511" y="914178"/>
                  <a:pt x="315416" y="909339"/>
                  <a:pt x="312066" y="903383"/>
                </a:cubicBezTo>
                <a:cubicBezTo>
                  <a:pt x="309088" y="898172"/>
                  <a:pt x="304621" y="893333"/>
                  <a:pt x="296805" y="895566"/>
                </a:cubicBezTo>
                <a:cubicBezTo>
                  <a:pt x="288988" y="898172"/>
                  <a:pt x="288243" y="904872"/>
                  <a:pt x="288243" y="910828"/>
                </a:cubicBezTo>
                <a:cubicBezTo>
                  <a:pt x="289360" y="933162"/>
                  <a:pt x="295688" y="953262"/>
                  <a:pt x="309460" y="971129"/>
                </a:cubicBezTo>
                <a:cubicBezTo>
                  <a:pt x="336261" y="1006864"/>
                  <a:pt x="371995" y="1034781"/>
                  <a:pt x="407729" y="1062698"/>
                </a:cubicBezTo>
                <a:cubicBezTo>
                  <a:pt x="457236" y="1101038"/>
                  <a:pt x="503021" y="1142728"/>
                  <a:pt x="544338" y="1189257"/>
                </a:cubicBezTo>
                <a:cubicBezTo>
                  <a:pt x="514560" y="1166551"/>
                  <a:pt x="484781" y="1143472"/>
                  <a:pt x="454630" y="1120766"/>
                </a:cubicBezTo>
                <a:cubicBezTo>
                  <a:pt x="431924" y="1103644"/>
                  <a:pt x="408474" y="1087265"/>
                  <a:pt x="385396" y="1070515"/>
                </a:cubicBezTo>
                <a:cubicBezTo>
                  <a:pt x="379812" y="1066421"/>
                  <a:pt x="373856" y="1061954"/>
                  <a:pt x="366040" y="1067537"/>
                </a:cubicBezTo>
                <a:cubicBezTo>
                  <a:pt x="358967" y="1072376"/>
                  <a:pt x="360084" y="1079449"/>
                  <a:pt x="361573" y="1086149"/>
                </a:cubicBezTo>
                <a:cubicBezTo>
                  <a:pt x="367156" y="1112577"/>
                  <a:pt x="382790" y="1133794"/>
                  <a:pt x="402146" y="1152778"/>
                </a:cubicBezTo>
                <a:cubicBezTo>
                  <a:pt x="425596" y="1175484"/>
                  <a:pt x="450164" y="1197074"/>
                  <a:pt x="475475" y="1218663"/>
                </a:cubicBezTo>
                <a:cubicBezTo>
                  <a:pt x="448303" y="1212707"/>
                  <a:pt x="421130" y="1206752"/>
                  <a:pt x="393957" y="1201913"/>
                </a:cubicBezTo>
                <a:cubicBezTo>
                  <a:pt x="406240" y="1245091"/>
                  <a:pt x="434902" y="1253653"/>
                  <a:pt x="460586" y="1260353"/>
                </a:cubicBezTo>
                <a:cubicBezTo>
                  <a:pt x="495204" y="1268914"/>
                  <a:pt x="528332" y="1279709"/>
                  <a:pt x="561089" y="1291993"/>
                </a:cubicBezTo>
                <a:cubicBezTo>
                  <a:pt x="574861" y="1304276"/>
                  <a:pt x="588634" y="1316188"/>
                  <a:pt x="602034" y="1328843"/>
                </a:cubicBezTo>
                <a:cubicBezTo>
                  <a:pt x="615807" y="1341872"/>
                  <a:pt x="628835" y="1354900"/>
                  <a:pt x="641863" y="1368672"/>
                </a:cubicBezTo>
                <a:cubicBezTo>
                  <a:pt x="651169" y="1378722"/>
                  <a:pt x="662335" y="1387284"/>
                  <a:pt x="651541" y="1404406"/>
                </a:cubicBezTo>
                <a:cubicBezTo>
                  <a:pt x="646702" y="1412223"/>
                  <a:pt x="678341" y="1454658"/>
                  <a:pt x="688392" y="1457263"/>
                </a:cubicBezTo>
                <a:cubicBezTo>
                  <a:pt x="689881" y="1457635"/>
                  <a:pt x="691369" y="1458008"/>
                  <a:pt x="692486" y="1458008"/>
                </a:cubicBezTo>
                <a:cubicBezTo>
                  <a:pt x="714076" y="1456519"/>
                  <a:pt x="718915" y="1469175"/>
                  <a:pt x="719287" y="1485181"/>
                </a:cubicBezTo>
                <a:cubicBezTo>
                  <a:pt x="719659" y="1500814"/>
                  <a:pt x="715937" y="1520170"/>
                  <a:pt x="745343" y="1512353"/>
                </a:cubicBezTo>
                <a:cubicBezTo>
                  <a:pt x="748693" y="1511609"/>
                  <a:pt x="749438" y="1513842"/>
                  <a:pt x="750926" y="1516448"/>
                </a:cubicBezTo>
                <a:cubicBezTo>
                  <a:pt x="782938" y="1583077"/>
                  <a:pt x="836912" y="1634445"/>
                  <a:pt x="890141" y="1685813"/>
                </a:cubicBezTo>
                <a:cubicBezTo>
                  <a:pt x="893119" y="1688419"/>
                  <a:pt x="896097" y="1691024"/>
                  <a:pt x="899074" y="1693630"/>
                </a:cubicBezTo>
                <a:cubicBezTo>
                  <a:pt x="843240" y="1680602"/>
                  <a:pt x="658985" y="1663851"/>
                  <a:pt x="605012" y="1669435"/>
                </a:cubicBezTo>
                <a:cubicBezTo>
                  <a:pt x="556994" y="1674274"/>
                  <a:pt x="285638" y="1593128"/>
                  <a:pt x="229431" y="1545110"/>
                </a:cubicBezTo>
                <a:cubicBezTo>
                  <a:pt x="221614" y="1582705"/>
                  <a:pt x="238364" y="1597594"/>
                  <a:pt x="251765" y="1614717"/>
                </a:cubicBezTo>
                <a:cubicBezTo>
                  <a:pt x="270748" y="1638912"/>
                  <a:pt x="273726" y="1656035"/>
                  <a:pt x="237992" y="1675391"/>
                </a:cubicBezTo>
                <a:cubicBezTo>
                  <a:pt x="135628" y="1730481"/>
                  <a:pt x="136745" y="1732342"/>
                  <a:pt x="232781" y="1807160"/>
                </a:cubicBezTo>
                <a:cubicBezTo>
                  <a:pt x="237248" y="1810511"/>
                  <a:pt x="235014" y="1821305"/>
                  <a:pt x="236131" y="1828750"/>
                </a:cubicBezTo>
                <a:cubicBezTo>
                  <a:pt x="211191" y="1839917"/>
                  <a:pt x="181785" y="1810883"/>
                  <a:pt x="152007" y="1842150"/>
                </a:cubicBezTo>
                <a:cubicBezTo>
                  <a:pt x="280426" y="1979503"/>
                  <a:pt x="475848" y="2110157"/>
                  <a:pt x="653030" y="2213265"/>
                </a:cubicBezTo>
                <a:cubicBezTo>
                  <a:pt x="509721" y="2247138"/>
                  <a:pt x="423735" y="2128024"/>
                  <a:pt x="318394" y="2143285"/>
                </a:cubicBezTo>
                <a:cubicBezTo>
                  <a:pt x="265909" y="2180508"/>
                  <a:pt x="422246" y="2240810"/>
                  <a:pt x="272982" y="2258305"/>
                </a:cubicBezTo>
                <a:cubicBezTo>
                  <a:pt x="337750" y="2291061"/>
                  <a:pt x="385768" y="2323073"/>
                  <a:pt x="430435" y="2360668"/>
                </a:cubicBezTo>
                <a:cubicBezTo>
                  <a:pt x="509721" y="2428042"/>
                  <a:pt x="525354" y="2472710"/>
                  <a:pt x="488876" y="2563162"/>
                </a:cubicBezTo>
                <a:cubicBezTo>
                  <a:pt x="464681" y="2622719"/>
                  <a:pt x="429691" y="2677437"/>
                  <a:pt x="460586" y="2748533"/>
                </a:cubicBezTo>
                <a:cubicBezTo>
                  <a:pt x="481803" y="2797295"/>
                  <a:pt x="473614" y="2829307"/>
                  <a:pt x="393212" y="2807345"/>
                </a:cubicBezTo>
                <a:cubicBezTo>
                  <a:pt x="306483" y="2783895"/>
                  <a:pt x="273726" y="2827818"/>
                  <a:pt x="295688" y="2913059"/>
                </a:cubicBezTo>
                <a:cubicBezTo>
                  <a:pt x="309833" y="2967777"/>
                  <a:pt x="294943" y="2984900"/>
                  <a:pt x="235386" y="2978572"/>
                </a:cubicBezTo>
                <a:cubicBezTo>
                  <a:pt x="169501" y="2971499"/>
                  <a:pt x="106967" y="2935765"/>
                  <a:pt x="25448" y="2952888"/>
                </a:cubicBezTo>
                <a:cubicBezTo>
                  <a:pt x="90588" y="3052646"/>
                  <a:pt x="229803" y="3024356"/>
                  <a:pt x="305738" y="3119275"/>
                </a:cubicBezTo>
                <a:cubicBezTo>
                  <a:pt x="215286" y="3119647"/>
                  <a:pt x="146051" y="3119275"/>
                  <a:pt x="79049" y="3098430"/>
                </a:cubicBezTo>
                <a:cubicBezTo>
                  <a:pt x="51132" y="3089869"/>
                  <a:pt x="20609" y="3081308"/>
                  <a:pt x="4975" y="3109969"/>
                </a:cubicBezTo>
                <a:cubicBezTo>
                  <a:pt x="-13636" y="3144587"/>
                  <a:pt x="24331" y="3157615"/>
                  <a:pt x="47037" y="3163943"/>
                </a:cubicBezTo>
                <a:cubicBezTo>
                  <a:pt x="111061" y="3181438"/>
                  <a:pt x="160196" y="3222755"/>
                  <a:pt x="213425" y="3255139"/>
                </a:cubicBezTo>
                <a:cubicBezTo>
                  <a:pt x="329933" y="3326236"/>
                  <a:pt x="457981" y="3385420"/>
                  <a:pt x="556622" y="3502301"/>
                </a:cubicBezTo>
                <a:cubicBezTo>
                  <a:pt x="432669" y="3472523"/>
                  <a:pt x="339983" y="3402915"/>
                  <a:pt x="224592" y="3388771"/>
                </a:cubicBezTo>
                <a:cubicBezTo>
                  <a:pt x="324722" y="3495601"/>
                  <a:pt x="453142" y="3565208"/>
                  <a:pt x="574861" y="3643004"/>
                </a:cubicBezTo>
                <a:cubicBezTo>
                  <a:pt x="609479" y="3664966"/>
                  <a:pt x="644841" y="3679855"/>
                  <a:pt x="652657" y="3727501"/>
                </a:cubicBezTo>
                <a:cubicBezTo>
                  <a:pt x="667919" y="3819814"/>
                  <a:pt x="712959" y="3896494"/>
                  <a:pt x="810111" y="3937067"/>
                </a:cubicBezTo>
                <a:cubicBezTo>
                  <a:pt x="810856" y="3937439"/>
                  <a:pt x="805644" y="3951212"/>
                  <a:pt x="802294" y="3960890"/>
                </a:cubicBezTo>
                <a:cubicBezTo>
                  <a:pt x="743110" y="3963868"/>
                  <a:pt x="696581" y="3909149"/>
                  <a:pt x="620646" y="3927017"/>
                </a:cubicBezTo>
                <a:cubicBezTo>
                  <a:pt x="692858" y="4001091"/>
                  <a:pt x="753532" y="4067720"/>
                  <a:pt x="856268" y="4103082"/>
                </a:cubicBezTo>
                <a:cubicBezTo>
                  <a:pt x="938531" y="4131372"/>
                  <a:pt x="1040150" y="4147377"/>
                  <a:pt x="1099707" y="4238574"/>
                </a:cubicBezTo>
                <a:cubicBezTo>
                  <a:pt x="1030472" y="4256441"/>
                  <a:pt x="978732" y="4234107"/>
                  <a:pt x="926992" y="4218102"/>
                </a:cubicBezTo>
                <a:cubicBezTo>
                  <a:pt x="847334" y="4193534"/>
                  <a:pt x="769166" y="4165617"/>
                  <a:pt x="689508" y="4140677"/>
                </a:cubicBezTo>
                <a:cubicBezTo>
                  <a:pt x="659358" y="4131372"/>
                  <a:pt x="626229" y="4124299"/>
                  <a:pt x="606873" y="4169711"/>
                </a:cubicBezTo>
                <a:cubicBezTo>
                  <a:pt x="707748" y="4179389"/>
                  <a:pt x="768421" y="4240435"/>
                  <a:pt x="831701" y="4297759"/>
                </a:cubicBezTo>
                <a:cubicBezTo>
                  <a:pt x="867435" y="4330143"/>
                  <a:pt x="896469" y="4373322"/>
                  <a:pt x="960493" y="4356944"/>
                </a:cubicBezTo>
                <a:cubicBezTo>
                  <a:pt x="994366" y="4348382"/>
                  <a:pt x="1015955" y="4372578"/>
                  <a:pt x="1012233" y="4402356"/>
                </a:cubicBezTo>
                <a:cubicBezTo>
                  <a:pt x="999577" y="4507325"/>
                  <a:pt x="1078118" y="4544176"/>
                  <a:pt x="1159636" y="4564276"/>
                </a:cubicBezTo>
                <a:cubicBezTo>
                  <a:pt x="1313740" y="4602616"/>
                  <a:pt x="1442160" y="4692324"/>
                  <a:pt x="1592169" y="4741458"/>
                </a:cubicBezTo>
                <a:cubicBezTo>
                  <a:pt x="1738083" y="4789104"/>
                  <a:pt x="2833187" y="5010209"/>
                  <a:pt x="3110499" y="5032171"/>
                </a:cubicBezTo>
                <a:cubicBezTo>
                  <a:pt x="4807501" y="5166546"/>
                  <a:pt x="6028047" y="4106432"/>
                  <a:pt x="6033630" y="4091915"/>
                </a:cubicBezTo>
                <a:cubicBezTo>
                  <a:pt x="6059314" y="4023797"/>
                  <a:pt x="6122965" y="3994390"/>
                  <a:pt x="6180661" y="3957912"/>
                </a:cubicBezTo>
                <a:cubicBezTo>
                  <a:pt x="6230913" y="3925900"/>
                  <a:pt x="6284514" y="3892027"/>
                  <a:pt x="6305359" y="3837309"/>
                </a:cubicBezTo>
                <a:cubicBezTo>
                  <a:pt x="6332904" y="3764724"/>
                  <a:pt x="6254735" y="3824281"/>
                  <a:pt x="6240218" y="3796364"/>
                </a:cubicBezTo>
                <a:cubicBezTo>
                  <a:pt x="6269997" y="3758768"/>
                  <a:pt x="6316153" y="3724151"/>
                  <a:pt x="6328437" y="3681344"/>
                </a:cubicBezTo>
                <a:cubicBezTo>
                  <a:pt x="6372361" y="3526496"/>
                  <a:pt x="6466907" y="3413710"/>
                  <a:pt x="6608355" y="3326236"/>
                </a:cubicBezTo>
                <a:cubicBezTo>
                  <a:pt x="6648928" y="3300924"/>
                  <a:pt x="6675729" y="3255512"/>
                  <a:pt x="6731191" y="3248067"/>
                </a:cubicBezTo>
                <a:cubicBezTo>
                  <a:pt x="6854400" y="3232061"/>
                  <a:pt x="6815315" y="3106992"/>
                  <a:pt x="6880456" y="3051529"/>
                </a:cubicBezTo>
                <a:cubicBezTo>
                  <a:pt x="6892739" y="3041107"/>
                  <a:pt x="6903907" y="2777939"/>
                  <a:pt x="6901673" y="2763795"/>
                </a:cubicBezTo>
                <a:cubicBezTo>
                  <a:pt x="6898323" y="2743322"/>
                  <a:pt x="6883806" y="2966288"/>
                  <a:pt x="6871150" y="2948421"/>
                </a:cubicBezTo>
                <a:cubicBezTo>
                  <a:pt x="6858494" y="2930182"/>
                  <a:pt x="6839138" y="2914176"/>
                  <a:pt x="6848444" y="2890353"/>
                </a:cubicBezTo>
                <a:cubicBezTo>
                  <a:pt x="6852166" y="2880303"/>
                  <a:pt x="6849561" y="2846058"/>
                  <a:pt x="6878223" y="2873230"/>
                </a:cubicBezTo>
                <a:cubicBezTo>
                  <a:pt x="6956763" y="2946932"/>
                  <a:pt x="6870778" y="2578051"/>
                  <a:pt x="6762459" y="2568745"/>
                </a:cubicBezTo>
                <a:cubicBezTo>
                  <a:pt x="6801915" y="2465637"/>
                  <a:pt x="6801915" y="2465637"/>
                  <a:pt x="6673123" y="2451493"/>
                </a:cubicBezTo>
                <a:cubicBezTo>
                  <a:pt x="6722630" y="2385980"/>
                  <a:pt x="6722630" y="2369229"/>
                  <a:pt x="6662700" y="2346896"/>
                </a:cubicBezTo>
                <a:cubicBezTo>
                  <a:pt x="6605005" y="2325306"/>
                  <a:pt x="6540981" y="2318234"/>
                  <a:pt x="6487752" y="2285105"/>
                </a:cubicBezTo>
                <a:cubicBezTo>
                  <a:pt x="6536887" y="2201353"/>
                  <a:pt x="6550659" y="2104573"/>
                  <a:pt x="6652278" y="2063628"/>
                </a:cubicBezTo>
                <a:cubicBezTo>
                  <a:pt x="6668284" y="2057300"/>
                  <a:pt x="6679079" y="2031988"/>
                  <a:pt x="6668656" y="2017843"/>
                </a:cubicBezTo>
                <a:cubicBezTo>
                  <a:pt x="6631805" y="1965359"/>
                  <a:pt x="6684662" y="1864856"/>
                  <a:pt x="6570015" y="1854062"/>
                </a:cubicBezTo>
                <a:cubicBezTo>
                  <a:pt x="6555870" y="1852573"/>
                  <a:pt x="6542842" y="1842150"/>
                  <a:pt x="6554009" y="1827633"/>
                </a:cubicBezTo>
                <a:cubicBezTo>
                  <a:pt x="6592349" y="1778126"/>
                  <a:pt x="6545820" y="1781476"/>
                  <a:pt x="6517531" y="1775149"/>
                </a:cubicBezTo>
                <a:cubicBezTo>
                  <a:pt x="6483285" y="1767704"/>
                  <a:pt x="6444573" y="1789293"/>
                  <a:pt x="6412934" y="1762493"/>
                </a:cubicBezTo>
                <a:cubicBezTo>
                  <a:pt x="6420378" y="1734203"/>
                  <a:pt x="6447923" y="1734575"/>
                  <a:pt x="6467279" y="1725642"/>
                </a:cubicBezTo>
                <a:cubicBezTo>
                  <a:pt x="6523858" y="1699213"/>
                  <a:pt x="6570015" y="1667946"/>
                  <a:pt x="6572621" y="1600200"/>
                </a:cubicBezTo>
                <a:cubicBezTo>
                  <a:pt x="6574854" y="1545482"/>
                  <a:pt x="6580810" y="1497092"/>
                  <a:pt x="6502641" y="1480341"/>
                </a:cubicBezTo>
                <a:cubicBezTo>
                  <a:pt x="6490358" y="1477736"/>
                  <a:pt x="6484030" y="1470664"/>
                  <a:pt x="6481796" y="1461358"/>
                </a:cubicBezTo>
                <a:cubicBezTo>
                  <a:pt x="6490730" y="1452424"/>
                  <a:pt x="6499291" y="1443118"/>
                  <a:pt x="6509713" y="1436418"/>
                </a:cubicBezTo>
                <a:cubicBezTo>
                  <a:pt x="6544703" y="1414457"/>
                  <a:pt x="6556615" y="1382072"/>
                  <a:pt x="6567037" y="1348199"/>
                </a:cubicBezTo>
                <a:cubicBezTo>
                  <a:pt x="6573737" y="1326610"/>
                  <a:pt x="6581554" y="1305393"/>
                  <a:pt x="6596816" y="1286781"/>
                </a:cubicBezTo>
                <a:cubicBezTo>
                  <a:pt x="6606122" y="1275242"/>
                  <a:pt x="6617661" y="1266681"/>
                  <a:pt x="6632178" y="1261842"/>
                </a:cubicBezTo>
                <a:cubicBezTo>
                  <a:pt x="6644833" y="1257375"/>
                  <a:pt x="6648556" y="1251419"/>
                  <a:pt x="6639994" y="1240625"/>
                </a:cubicBezTo>
                <a:cubicBezTo>
                  <a:pt x="6615799" y="1209729"/>
                  <a:pt x="6606122" y="1175856"/>
                  <a:pt x="6622127" y="1136400"/>
                </a:cubicBezTo>
                <a:cubicBezTo>
                  <a:pt x="6626967" y="1124489"/>
                  <a:pt x="6623617" y="1114066"/>
                  <a:pt x="6612077" y="1109599"/>
                </a:cubicBezTo>
                <a:cubicBezTo>
                  <a:pt x="6564059" y="1090616"/>
                  <a:pt x="6552148" y="1046692"/>
                  <a:pt x="6531675" y="1009469"/>
                </a:cubicBezTo>
                <a:cubicBezTo>
                  <a:pt x="6502641" y="956612"/>
                  <a:pt x="6476213" y="902639"/>
                  <a:pt x="6456113" y="845315"/>
                </a:cubicBezTo>
                <a:cubicBezTo>
                  <a:pt x="6444201" y="811070"/>
                  <a:pt x="6432662" y="777197"/>
                  <a:pt x="6440851" y="739229"/>
                </a:cubicBezTo>
                <a:cubicBezTo>
                  <a:pt x="6442712" y="729924"/>
                  <a:pt x="6439362" y="722107"/>
                  <a:pt x="6434523" y="715034"/>
                </a:cubicBezTo>
                <a:cubicBezTo>
                  <a:pt x="6414050" y="684139"/>
                  <a:pt x="6416656" y="651383"/>
                  <a:pt x="6432290" y="617510"/>
                </a:cubicBezTo>
                <a:cubicBezTo>
                  <a:pt x="6441968" y="597037"/>
                  <a:pt x="6440851" y="594431"/>
                  <a:pt x="6416284" y="595176"/>
                </a:cubicBezTo>
                <a:cubicBezTo>
                  <a:pt x="6366405" y="596293"/>
                  <a:pt x="6316898" y="598154"/>
                  <a:pt x="6267763" y="591826"/>
                </a:cubicBezTo>
                <a:cubicBezTo>
                  <a:pt x="6212673" y="584753"/>
                  <a:pt x="6194806" y="568375"/>
                  <a:pt x="6236496" y="521102"/>
                </a:cubicBezTo>
                <a:cubicBezTo>
                  <a:pt x="6245430" y="511052"/>
                  <a:pt x="6253246" y="499885"/>
                  <a:pt x="6257341" y="487229"/>
                </a:cubicBezTo>
                <a:cubicBezTo>
                  <a:pt x="6260319" y="477179"/>
                  <a:pt x="6257713" y="470106"/>
                  <a:pt x="6248780" y="465267"/>
                </a:cubicBezTo>
                <a:cubicBezTo>
                  <a:pt x="6238357" y="459312"/>
                  <a:pt x="6232774" y="467501"/>
                  <a:pt x="6226818" y="473456"/>
                </a:cubicBezTo>
                <a:cubicBezTo>
                  <a:pt x="6194434" y="505468"/>
                  <a:pt x="6153861" y="527430"/>
                  <a:pt x="6115149" y="551625"/>
                </a:cubicBezTo>
                <a:cubicBezTo>
                  <a:pt x="6059686" y="586615"/>
                  <a:pt x="6001246" y="617510"/>
                  <a:pt x="5951739" y="659944"/>
                </a:cubicBezTo>
                <a:cubicBezTo>
                  <a:pt x="5939084" y="670739"/>
                  <a:pt x="5918611" y="662550"/>
                  <a:pt x="5917122" y="644310"/>
                </a:cubicBezTo>
                <a:cubicBezTo>
                  <a:pt x="5915633" y="626071"/>
                  <a:pt x="5905583" y="626071"/>
                  <a:pt x="5890694" y="630538"/>
                </a:cubicBezTo>
                <a:cubicBezTo>
                  <a:pt x="5872826" y="635749"/>
                  <a:pt x="5854959" y="640960"/>
                  <a:pt x="5837464" y="646916"/>
                </a:cubicBezTo>
                <a:cubicBezTo>
                  <a:pt x="5819225" y="653244"/>
                  <a:pt x="5811036" y="666644"/>
                  <a:pt x="5809175" y="683395"/>
                </a:cubicBezTo>
                <a:cubicBezTo>
                  <a:pt x="5808430" y="689723"/>
                  <a:pt x="5808803" y="697539"/>
                  <a:pt x="5815503" y="698656"/>
                </a:cubicBezTo>
                <a:cubicBezTo>
                  <a:pt x="5843048" y="703495"/>
                  <a:pt x="5755201" y="682278"/>
                  <a:pt x="5746268" y="667389"/>
                </a:cubicBezTo>
                <a:cubicBezTo>
                  <a:pt x="5745896" y="666644"/>
                  <a:pt x="5525907" y="720246"/>
                  <a:pt x="5458905" y="754119"/>
                </a:cubicBezTo>
                <a:close/>
                <a:moveTo>
                  <a:pt x="885302" y="1333310"/>
                </a:moveTo>
                <a:cubicBezTo>
                  <a:pt x="877857" y="1326982"/>
                  <a:pt x="870040" y="1321027"/>
                  <a:pt x="862596" y="1314326"/>
                </a:cubicBezTo>
                <a:cubicBezTo>
                  <a:pt x="863712" y="1312837"/>
                  <a:pt x="865201" y="1311349"/>
                  <a:pt x="866318" y="1309860"/>
                </a:cubicBezTo>
                <a:cubicBezTo>
                  <a:pt x="881580" y="1320282"/>
                  <a:pt x="896841" y="1330705"/>
                  <a:pt x="912103" y="1341127"/>
                </a:cubicBezTo>
                <a:cubicBezTo>
                  <a:pt x="903541" y="1338522"/>
                  <a:pt x="894235" y="1335916"/>
                  <a:pt x="885302" y="1333310"/>
                </a:cubicBezTo>
                <a:close/>
                <a:moveTo>
                  <a:pt x="1140280" y="787619"/>
                </a:moveTo>
                <a:cubicBezTo>
                  <a:pt x="1231849" y="850154"/>
                  <a:pt x="1323418" y="913061"/>
                  <a:pt x="1414987" y="975596"/>
                </a:cubicBezTo>
                <a:cubicBezTo>
                  <a:pt x="1413498" y="977085"/>
                  <a:pt x="1412381" y="978574"/>
                  <a:pt x="1410892" y="980063"/>
                </a:cubicBezTo>
                <a:cubicBezTo>
                  <a:pt x="1310390" y="927206"/>
                  <a:pt x="1215471" y="868394"/>
                  <a:pt x="1140280" y="787619"/>
                </a:cubicBezTo>
                <a:close/>
              </a:path>
            </a:pathLst>
          </a:custGeom>
          <a:solidFill>
            <a:schemeClr val="accent1">
              <a:alpha val="20000"/>
            </a:schemeClr>
          </a:solidFill>
          <a:ln w="32707" cap="flat">
            <a:noFill/>
            <a:prstDash val="solid"/>
            <a:miter/>
          </a:ln>
        </p:spPr>
        <p:txBody>
          <a:bodyPr rtlCol="0" anchor="ctr"/>
          <a:lstStyle/>
          <a:p>
            <a:endParaRPr lang="en-US" sz="180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07094A5-EB6F-441D-88F8-CD7A30C8470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08760" y="1591056"/>
            <a:ext cx="5705856" cy="3264408"/>
          </a:xfrm>
        </p:spPr>
        <p:txBody>
          <a:bodyPr anchor="b">
            <a:normAutofit/>
          </a:bodyPr>
          <a:lstStyle>
            <a:lvl1pPr algn="l"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C7CE1E3-3929-42A6-81B7-056BD88EF35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4928616"/>
            <a:ext cx="5705856" cy="996696"/>
          </a:xfrm>
        </p:spPr>
        <p:txBody>
          <a:bodyPr/>
          <a:lstStyle>
            <a:lvl1pPr marL="0" indent="0" algn="l">
              <a:buNone/>
              <a:defRPr sz="2400" cap="all" baseline="0"/>
            </a:lvl1pPr>
            <a:lvl2pPr marL="457189" indent="0" algn="ctr">
              <a:buNone/>
              <a:defRPr sz="2000"/>
            </a:lvl2pPr>
            <a:lvl3pPr marL="914377" indent="0" algn="ctr">
              <a:buNone/>
              <a:defRPr sz="1800"/>
            </a:lvl3pPr>
            <a:lvl4pPr marL="1371566" indent="0" algn="ctr">
              <a:buNone/>
              <a:defRPr sz="1600"/>
            </a:lvl4pPr>
            <a:lvl5pPr marL="1828754" indent="0" algn="ctr">
              <a:buNone/>
              <a:defRPr sz="1600"/>
            </a:lvl5pPr>
            <a:lvl6pPr marL="2285943" indent="0" algn="ctr">
              <a:buNone/>
              <a:defRPr sz="1600"/>
            </a:lvl6pPr>
            <a:lvl7pPr marL="2743131" indent="0" algn="ctr">
              <a:buNone/>
              <a:defRPr sz="1600"/>
            </a:lvl7pPr>
            <a:lvl8pPr marL="3200320" indent="0" algn="ctr">
              <a:buNone/>
              <a:defRPr sz="1600"/>
            </a:lvl8pPr>
            <a:lvl9pPr marL="3657509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CE951E3-0794-422C-AF76-0AD4A7FB19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CDF9F7-8E92-457C-A93B-4F64F82080D6}" type="datetime1">
              <a:rPr lang="en-US" smtClean="0"/>
              <a:t>1/22/2024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14EBFA8-0291-4D77-A9D9-B17FC2382A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Object Oriented Programming-Spring 24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57AC4D4-C4EE-4624-A329-C608A1D5AF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845F5A-061D-4825-9AE9-D7794091C6C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6245765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reeform: Shape 6" descr="Tag=AccentColor&#10;Flavor=Light&#10;Target=Fill">
            <a:extLst>
              <a:ext uri="{FF2B5EF4-FFF2-40B4-BE49-F238E27FC236}">
                <a16:creationId xmlns:a16="http://schemas.microsoft.com/office/drawing/2014/main" id="{13B7BB51-92B8-4089-8DAB-1202A4D1C6A3}"/>
              </a:ext>
            </a:extLst>
          </p:cNvPr>
          <p:cNvSpPr/>
          <p:nvPr/>
        </p:nvSpPr>
        <p:spPr>
          <a:xfrm flipH="1">
            <a:off x="2" y="315111"/>
            <a:ext cx="3021543" cy="1435442"/>
          </a:xfrm>
          <a:custGeom>
            <a:avLst/>
            <a:gdLst>
              <a:gd name="connsiteX0" fmla="*/ 3021543 w 3021543"/>
              <a:gd name="connsiteY0" fmla="*/ 0 h 1435442"/>
              <a:gd name="connsiteX1" fmla="*/ 2963800 w 3021543"/>
              <a:gd name="connsiteY1" fmla="*/ 7242 h 1435442"/>
              <a:gd name="connsiteX2" fmla="*/ 2793803 w 3021543"/>
              <a:gd name="connsiteY2" fmla="*/ 24082 h 1435442"/>
              <a:gd name="connsiteX3" fmla="*/ 2414348 w 3021543"/>
              <a:gd name="connsiteY3" fmla="*/ 29696 h 1435442"/>
              <a:gd name="connsiteX4" fmla="*/ 2091558 w 3021543"/>
              <a:gd name="connsiteY4" fmla="*/ 27450 h 1435442"/>
              <a:gd name="connsiteX5" fmla="*/ 1645319 w 3021543"/>
              <a:gd name="connsiteY5" fmla="*/ 28573 h 1435442"/>
              <a:gd name="connsiteX6" fmla="*/ 1243602 w 3021543"/>
              <a:gd name="connsiteY6" fmla="*/ 60008 h 1435442"/>
              <a:gd name="connsiteX7" fmla="*/ 753851 w 3021543"/>
              <a:gd name="connsiteY7" fmla="*/ 57763 h 1435442"/>
              <a:gd name="connsiteX8" fmla="*/ 465465 w 3021543"/>
              <a:gd name="connsiteY8" fmla="*/ 116142 h 1435442"/>
              <a:gd name="connsiteX9" fmla="*/ 546416 w 3021543"/>
              <a:gd name="connsiteY9" fmla="*/ 136351 h 1435442"/>
              <a:gd name="connsiteX10" fmla="*/ 689091 w 3021543"/>
              <a:gd name="connsiteY10" fmla="*/ 180136 h 1435442"/>
              <a:gd name="connsiteX11" fmla="*/ 704269 w 3021543"/>
              <a:gd name="connsiteY11" fmla="*/ 208203 h 1435442"/>
              <a:gd name="connsiteX12" fmla="*/ 683020 w 3021543"/>
              <a:gd name="connsiteY12" fmla="*/ 221675 h 1435442"/>
              <a:gd name="connsiteX13" fmla="*/ 621295 w 3021543"/>
              <a:gd name="connsiteY13" fmla="*/ 247496 h 1435442"/>
              <a:gd name="connsiteX14" fmla="*/ 848968 w 3021543"/>
              <a:gd name="connsiteY14" fmla="*/ 285668 h 1435442"/>
              <a:gd name="connsiteX15" fmla="*/ 768018 w 3021543"/>
              <a:gd name="connsiteY15" fmla="*/ 309244 h 1435442"/>
              <a:gd name="connsiteX16" fmla="*/ 684032 w 3021543"/>
              <a:gd name="connsiteY16" fmla="*/ 326085 h 1435442"/>
              <a:gd name="connsiteX17" fmla="*/ 592962 w 3021543"/>
              <a:gd name="connsiteY17" fmla="*/ 338434 h 1435442"/>
              <a:gd name="connsiteX18" fmla="*/ 509988 w 3021543"/>
              <a:gd name="connsiteY18" fmla="*/ 363133 h 1435442"/>
              <a:gd name="connsiteX19" fmla="*/ 726531 w 3021543"/>
              <a:gd name="connsiteY19" fmla="*/ 373237 h 1435442"/>
              <a:gd name="connsiteX20" fmla="*/ 614212 w 3021543"/>
              <a:gd name="connsiteY20" fmla="*/ 395691 h 1435442"/>
              <a:gd name="connsiteX21" fmla="*/ 522131 w 3021543"/>
              <a:gd name="connsiteY21" fmla="*/ 424881 h 1435442"/>
              <a:gd name="connsiteX22" fmla="*/ 457370 w 3021543"/>
              <a:gd name="connsiteY22" fmla="*/ 438353 h 1435442"/>
              <a:gd name="connsiteX23" fmla="*/ 388562 w 3021543"/>
              <a:gd name="connsiteY23" fmla="*/ 441721 h 1435442"/>
              <a:gd name="connsiteX24" fmla="*/ 372372 w 3021543"/>
              <a:gd name="connsiteY24" fmla="*/ 463052 h 1435442"/>
              <a:gd name="connsiteX25" fmla="*/ 393622 w 3021543"/>
              <a:gd name="connsiteY25" fmla="*/ 485506 h 1435442"/>
              <a:gd name="connsiteX26" fmla="*/ 426002 w 3021543"/>
              <a:gd name="connsiteY26" fmla="*/ 487751 h 1435442"/>
              <a:gd name="connsiteX27" fmla="*/ 619271 w 3021543"/>
              <a:gd name="connsiteY27" fmla="*/ 493365 h 1435442"/>
              <a:gd name="connsiteX28" fmla="*/ 0 w 3021543"/>
              <a:gd name="connsiteY28" fmla="*/ 542762 h 1435442"/>
              <a:gd name="connsiteX29" fmla="*/ 83986 w 3021543"/>
              <a:gd name="connsiteY29" fmla="*/ 573075 h 1435442"/>
              <a:gd name="connsiteX30" fmla="*/ 112319 w 3021543"/>
              <a:gd name="connsiteY30" fmla="*/ 656154 h 1435442"/>
              <a:gd name="connsiteX31" fmla="*/ 215531 w 3021543"/>
              <a:gd name="connsiteY31" fmla="*/ 703306 h 1435442"/>
              <a:gd name="connsiteX32" fmla="*/ 282315 w 3021543"/>
              <a:gd name="connsiteY32" fmla="*/ 720147 h 1435442"/>
              <a:gd name="connsiteX33" fmla="*/ 435109 w 3021543"/>
              <a:gd name="connsiteY33" fmla="*/ 744846 h 1435442"/>
              <a:gd name="connsiteX34" fmla="*/ 457370 w 3021543"/>
              <a:gd name="connsiteY34" fmla="*/ 785263 h 1435442"/>
              <a:gd name="connsiteX35" fmla="*/ 476596 w 3021543"/>
              <a:gd name="connsiteY35" fmla="*/ 830170 h 1435442"/>
              <a:gd name="connsiteX36" fmla="*/ 517071 w 3021543"/>
              <a:gd name="connsiteY36" fmla="*/ 859360 h 1435442"/>
              <a:gd name="connsiteX37" fmla="*/ 202377 w 3021543"/>
              <a:gd name="connsiteY37" fmla="*/ 854869 h 1435442"/>
              <a:gd name="connsiteX38" fmla="*/ 557546 w 3021543"/>
              <a:gd name="connsiteY38" fmla="*/ 949175 h 1435442"/>
              <a:gd name="connsiteX39" fmla="*/ 526178 w 3021543"/>
              <a:gd name="connsiteY39" fmla="*/ 986223 h 1435442"/>
              <a:gd name="connsiteX40" fmla="*/ 720459 w 3021543"/>
              <a:gd name="connsiteY40" fmla="*/ 1036744 h 1435442"/>
              <a:gd name="connsiteX41" fmla="*/ 616236 w 3021543"/>
              <a:gd name="connsiteY41" fmla="*/ 1042357 h 1435442"/>
              <a:gd name="connsiteX42" fmla="*/ 1222353 w 3021543"/>
              <a:gd name="connsiteY42" fmla="*/ 1253422 h 1435442"/>
              <a:gd name="connsiteX43" fmla="*/ 2087511 w 3021543"/>
              <a:gd name="connsiteY43" fmla="*/ 1406107 h 1435442"/>
              <a:gd name="connsiteX44" fmla="*/ 2425479 w 3021543"/>
              <a:gd name="connsiteY44" fmla="*/ 1435297 h 1435442"/>
              <a:gd name="connsiteX45" fmla="*/ 2809994 w 3021543"/>
              <a:gd name="connsiteY45" fmla="*/ 1426315 h 1435442"/>
              <a:gd name="connsiteX46" fmla="*/ 2953618 w 3021543"/>
              <a:gd name="connsiteY46" fmla="*/ 1417071 h 1435442"/>
              <a:gd name="connsiteX47" fmla="*/ 3021543 w 3021543"/>
              <a:gd name="connsiteY47" fmla="*/ 1407897 h 143544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</a:cxnLst>
            <a:rect l="l" t="t" r="r" b="b"/>
            <a:pathLst>
              <a:path w="3021543" h="1435442">
                <a:moveTo>
                  <a:pt x="3021543" y="0"/>
                </a:moveTo>
                <a:lnTo>
                  <a:pt x="2963800" y="7242"/>
                </a:lnTo>
                <a:cubicBezTo>
                  <a:pt x="2907134" y="13978"/>
                  <a:pt x="2850469" y="22960"/>
                  <a:pt x="2793803" y="24082"/>
                </a:cubicBezTo>
                <a:cubicBezTo>
                  <a:pt x="2667318" y="27450"/>
                  <a:pt x="2539821" y="19592"/>
                  <a:pt x="2414348" y="29696"/>
                </a:cubicBezTo>
                <a:cubicBezTo>
                  <a:pt x="2307089" y="38677"/>
                  <a:pt x="2198818" y="28573"/>
                  <a:pt x="2091558" y="27450"/>
                </a:cubicBezTo>
                <a:cubicBezTo>
                  <a:pt x="1942812" y="26328"/>
                  <a:pt x="1793053" y="18469"/>
                  <a:pt x="1645319" y="28573"/>
                </a:cubicBezTo>
                <a:cubicBezTo>
                  <a:pt x="1510738" y="36432"/>
                  <a:pt x="1376158" y="38677"/>
                  <a:pt x="1243602" y="60008"/>
                </a:cubicBezTo>
                <a:cubicBezTo>
                  <a:pt x="1079677" y="71235"/>
                  <a:pt x="916765" y="64499"/>
                  <a:pt x="753851" y="57763"/>
                </a:cubicBezTo>
                <a:cubicBezTo>
                  <a:pt x="653675" y="53272"/>
                  <a:pt x="554511" y="38677"/>
                  <a:pt x="465465" y="116142"/>
                </a:cubicBezTo>
                <a:cubicBezTo>
                  <a:pt x="489751" y="134105"/>
                  <a:pt x="519095" y="130737"/>
                  <a:pt x="546416" y="136351"/>
                </a:cubicBezTo>
                <a:cubicBezTo>
                  <a:pt x="594986" y="147578"/>
                  <a:pt x="643557" y="158804"/>
                  <a:pt x="689091" y="180136"/>
                </a:cubicBezTo>
                <a:cubicBezTo>
                  <a:pt x="699210" y="184626"/>
                  <a:pt x="708317" y="193608"/>
                  <a:pt x="704269" y="208203"/>
                </a:cubicBezTo>
                <a:cubicBezTo>
                  <a:pt x="701234" y="219430"/>
                  <a:pt x="691115" y="219430"/>
                  <a:pt x="683020" y="221675"/>
                </a:cubicBezTo>
                <a:cubicBezTo>
                  <a:pt x="664806" y="228411"/>
                  <a:pt x="642545" y="223920"/>
                  <a:pt x="621295" y="247496"/>
                </a:cubicBezTo>
                <a:cubicBezTo>
                  <a:pt x="702245" y="259846"/>
                  <a:pt x="780160" y="236270"/>
                  <a:pt x="848968" y="285668"/>
                </a:cubicBezTo>
                <a:cubicBezTo>
                  <a:pt x="823671" y="310367"/>
                  <a:pt x="795339" y="304753"/>
                  <a:pt x="768018" y="309244"/>
                </a:cubicBezTo>
                <a:cubicBezTo>
                  <a:pt x="739685" y="313735"/>
                  <a:pt x="712365" y="321594"/>
                  <a:pt x="684032" y="326085"/>
                </a:cubicBezTo>
                <a:cubicBezTo>
                  <a:pt x="653675" y="331698"/>
                  <a:pt x="623319" y="332821"/>
                  <a:pt x="592962" y="338434"/>
                </a:cubicBezTo>
                <a:cubicBezTo>
                  <a:pt x="567666" y="342925"/>
                  <a:pt x="540345" y="335066"/>
                  <a:pt x="509988" y="363133"/>
                </a:cubicBezTo>
                <a:cubicBezTo>
                  <a:pt x="584867" y="383342"/>
                  <a:pt x="652663" y="353029"/>
                  <a:pt x="726531" y="373237"/>
                </a:cubicBezTo>
                <a:cubicBezTo>
                  <a:pt x="683020" y="391200"/>
                  <a:pt x="647604" y="385587"/>
                  <a:pt x="614212" y="395691"/>
                </a:cubicBezTo>
                <a:cubicBezTo>
                  <a:pt x="583855" y="405795"/>
                  <a:pt x="547428" y="394568"/>
                  <a:pt x="522131" y="424881"/>
                </a:cubicBezTo>
                <a:cubicBezTo>
                  <a:pt x="502905" y="448457"/>
                  <a:pt x="482668" y="451825"/>
                  <a:pt x="457370" y="438353"/>
                </a:cubicBezTo>
                <a:cubicBezTo>
                  <a:pt x="435109" y="426003"/>
                  <a:pt x="410824" y="429371"/>
                  <a:pt x="388562" y="441721"/>
                </a:cubicBezTo>
                <a:cubicBezTo>
                  <a:pt x="380468" y="446212"/>
                  <a:pt x="372372" y="451825"/>
                  <a:pt x="372372" y="463052"/>
                </a:cubicBezTo>
                <a:cubicBezTo>
                  <a:pt x="372372" y="478770"/>
                  <a:pt x="382491" y="483260"/>
                  <a:pt x="393622" y="485506"/>
                </a:cubicBezTo>
                <a:cubicBezTo>
                  <a:pt x="403741" y="487751"/>
                  <a:pt x="415883" y="489997"/>
                  <a:pt x="426002" y="487751"/>
                </a:cubicBezTo>
                <a:cubicBezTo>
                  <a:pt x="490762" y="475402"/>
                  <a:pt x="554511" y="495610"/>
                  <a:pt x="619271" y="493365"/>
                </a:cubicBezTo>
                <a:cubicBezTo>
                  <a:pt x="415883" y="541640"/>
                  <a:pt x="210471" y="525922"/>
                  <a:pt x="0" y="542762"/>
                </a:cubicBezTo>
                <a:cubicBezTo>
                  <a:pt x="27321" y="576443"/>
                  <a:pt x="62737" y="548376"/>
                  <a:pt x="83986" y="573075"/>
                </a:cubicBezTo>
                <a:cubicBezTo>
                  <a:pt x="63748" y="624719"/>
                  <a:pt x="71844" y="652785"/>
                  <a:pt x="112319" y="656154"/>
                </a:cubicBezTo>
                <a:cubicBezTo>
                  <a:pt x="151782" y="659522"/>
                  <a:pt x="194281" y="641559"/>
                  <a:pt x="215531" y="703306"/>
                </a:cubicBezTo>
                <a:cubicBezTo>
                  <a:pt x="221602" y="722392"/>
                  <a:pt x="259042" y="716779"/>
                  <a:pt x="282315" y="720147"/>
                </a:cubicBezTo>
                <a:cubicBezTo>
                  <a:pt x="332909" y="728005"/>
                  <a:pt x="386539" y="720147"/>
                  <a:pt x="435109" y="744846"/>
                </a:cubicBezTo>
                <a:cubicBezTo>
                  <a:pt x="454335" y="753827"/>
                  <a:pt x="467489" y="760563"/>
                  <a:pt x="457370" y="785263"/>
                </a:cubicBezTo>
                <a:cubicBezTo>
                  <a:pt x="447252" y="811084"/>
                  <a:pt x="460406" y="820066"/>
                  <a:pt x="476596" y="830170"/>
                </a:cubicBezTo>
                <a:cubicBezTo>
                  <a:pt x="488739" y="838028"/>
                  <a:pt x="506953" y="835783"/>
                  <a:pt x="517071" y="859360"/>
                </a:cubicBezTo>
                <a:cubicBezTo>
                  <a:pt x="410824" y="855992"/>
                  <a:pt x="307612" y="836906"/>
                  <a:pt x="202377" y="854869"/>
                </a:cubicBezTo>
                <a:cubicBezTo>
                  <a:pt x="317731" y="899776"/>
                  <a:pt x="444216" y="897531"/>
                  <a:pt x="557546" y="949175"/>
                </a:cubicBezTo>
                <a:cubicBezTo>
                  <a:pt x="553499" y="967137"/>
                  <a:pt x="527190" y="959278"/>
                  <a:pt x="526178" y="986223"/>
                </a:cubicBezTo>
                <a:cubicBezTo>
                  <a:pt x="585879" y="1014290"/>
                  <a:pt x="657723" y="995204"/>
                  <a:pt x="720459" y="1036744"/>
                </a:cubicBezTo>
                <a:cubicBezTo>
                  <a:pt x="684032" y="1055829"/>
                  <a:pt x="650640" y="1024394"/>
                  <a:pt x="616236" y="1042357"/>
                </a:cubicBezTo>
                <a:cubicBezTo>
                  <a:pt x="627367" y="1069302"/>
                  <a:pt x="1131283" y="1235459"/>
                  <a:pt x="1222353" y="1253422"/>
                </a:cubicBezTo>
                <a:cubicBezTo>
                  <a:pt x="1407527" y="1290470"/>
                  <a:pt x="1940788" y="1384776"/>
                  <a:pt x="2087511" y="1406107"/>
                </a:cubicBezTo>
                <a:cubicBezTo>
                  <a:pt x="2200841" y="1421824"/>
                  <a:pt x="2313160" y="1434174"/>
                  <a:pt x="2425479" y="1435297"/>
                </a:cubicBezTo>
                <a:cubicBezTo>
                  <a:pt x="2553988" y="1436419"/>
                  <a:pt x="2681485" y="1430806"/>
                  <a:pt x="2809994" y="1426315"/>
                </a:cubicBezTo>
                <a:cubicBezTo>
                  <a:pt x="2858058" y="1424631"/>
                  <a:pt x="2905933" y="1421684"/>
                  <a:pt x="2953618" y="1417071"/>
                </a:cubicBezTo>
                <a:lnTo>
                  <a:pt x="3021543" y="1407897"/>
                </a:lnTo>
                <a:close/>
              </a:path>
            </a:pathLst>
          </a:custGeom>
          <a:solidFill>
            <a:schemeClr val="accent1">
              <a:alpha val="20000"/>
            </a:schemeClr>
          </a:solidFill>
          <a:ln w="32707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endParaRPr lang="en-US" sz="180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6030E26-A86A-417A-AA64-699AA8DD3D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 algn="ctr">
              <a:defRPr sz="4000" i="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19CF97E-0E6E-41E9-B75B-0371E744D1E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011680"/>
            <a:ext cx="10515600" cy="41605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0BAE770-8363-44CD-8A22-AB26C5C5361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F14149-8BE4-424F-A930-3DBC8A576D83}" type="datetime1">
              <a:rPr lang="en-US" smtClean="0"/>
              <a:t>1/22/2024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6E618F2-3B8E-4449-91E7-F8AA496093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Object Oriented Programming-Spring 24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63428F0-E5C2-42A1-AB2F-1A19FFAD19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845F5A-061D-4825-9AE9-D7794091C6CF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6873228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Graphic 9" descr="Tag=AccentColor&#10;Flavor=Light&#10;Target=Fill">
            <a:extLst>
              <a:ext uri="{FF2B5EF4-FFF2-40B4-BE49-F238E27FC236}">
                <a16:creationId xmlns:a16="http://schemas.microsoft.com/office/drawing/2014/main" id="{DB2CE8D6-5B4E-4EBE-9ED5-A1DA7E2A5CDA}"/>
              </a:ext>
            </a:extLst>
          </p:cNvPr>
          <p:cNvSpPr/>
          <p:nvPr/>
        </p:nvSpPr>
        <p:spPr>
          <a:xfrm>
            <a:off x="7209816" y="0"/>
            <a:ext cx="4143984" cy="5747660"/>
          </a:xfrm>
          <a:custGeom>
            <a:avLst/>
            <a:gdLst>
              <a:gd name="connsiteX0" fmla="*/ 0 w 3843750"/>
              <a:gd name="connsiteY0" fmla="*/ 346 h 5956080"/>
              <a:gd name="connsiteX1" fmla="*/ 72373 w 3843750"/>
              <a:gd name="connsiteY1" fmla="*/ 2447534 h 5956080"/>
              <a:gd name="connsiteX2" fmla="*/ 145093 w 3843750"/>
              <a:gd name="connsiteY2" fmla="*/ 3878724 h 5956080"/>
              <a:gd name="connsiteX3" fmla="*/ 237897 w 3843750"/>
              <a:gd name="connsiteY3" fmla="*/ 4208041 h 5956080"/>
              <a:gd name="connsiteX4" fmla="*/ 281875 w 3843750"/>
              <a:gd name="connsiteY4" fmla="*/ 4677601 h 5956080"/>
              <a:gd name="connsiteX5" fmla="*/ 360135 w 3843750"/>
              <a:gd name="connsiteY5" fmla="*/ 5287407 h 5956080"/>
              <a:gd name="connsiteX6" fmla="*/ 414155 w 3843750"/>
              <a:gd name="connsiteY6" fmla="*/ 5817914 h 5956080"/>
              <a:gd name="connsiteX7" fmla="*/ 681487 w 3843750"/>
              <a:gd name="connsiteY7" fmla="*/ 5914873 h 5956080"/>
              <a:gd name="connsiteX8" fmla="*/ 892373 w 3843750"/>
              <a:gd name="connsiteY8" fmla="*/ 5605295 h 5956080"/>
              <a:gd name="connsiteX9" fmla="*/ 1027770 w 3843750"/>
              <a:gd name="connsiteY9" fmla="*/ 5804063 h 5956080"/>
              <a:gd name="connsiteX10" fmla="*/ 1200566 w 3843750"/>
              <a:gd name="connsiteY10" fmla="*/ 5527036 h 5956080"/>
              <a:gd name="connsiteX11" fmla="*/ 1348083 w 3843750"/>
              <a:gd name="connsiteY11" fmla="*/ 5363590 h 5956080"/>
              <a:gd name="connsiteX12" fmla="*/ 1425997 w 3843750"/>
              <a:gd name="connsiteY12" fmla="*/ 4800532 h 5956080"/>
              <a:gd name="connsiteX13" fmla="*/ 1517416 w 3843750"/>
              <a:gd name="connsiteY13" fmla="*/ 4640549 h 5956080"/>
              <a:gd name="connsiteX14" fmla="*/ 1569705 w 3843750"/>
              <a:gd name="connsiteY14" fmla="*/ 4803995 h 5956080"/>
              <a:gd name="connsiteX15" fmla="*/ 1530921 w 3843750"/>
              <a:gd name="connsiteY15" fmla="*/ 5433885 h 5956080"/>
              <a:gd name="connsiteX16" fmla="*/ 1614721 w 3843750"/>
              <a:gd name="connsiteY16" fmla="*/ 5319957 h 5956080"/>
              <a:gd name="connsiteX17" fmla="*/ 1800676 w 3843750"/>
              <a:gd name="connsiteY17" fmla="*/ 4608691 h 5956080"/>
              <a:gd name="connsiteX18" fmla="*/ 1918759 w 3843750"/>
              <a:gd name="connsiteY18" fmla="*/ 4486799 h 5956080"/>
              <a:gd name="connsiteX19" fmla="*/ 2009139 w 3843750"/>
              <a:gd name="connsiteY19" fmla="*/ 4715000 h 5956080"/>
              <a:gd name="connsiteX20" fmla="*/ 2135532 w 3843750"/>
              <a:gd name="connsiteY20" fmla="*/ 5321689 h 5956080"/>
              <a:gd name="connsiteX21" fmla="*/ 2209291 w 3843750"/>
              <a:gd name="connsiteY21" fmla="*/ 5028733 h 5956080"/>
              <a:gd name="connsiteX22" fmla="*/ 2501208 w 3843750"/>
              <a:gd name="connsiteY22" fmla="*/ 4457711 h 5956080"/>
              <a:gd name="connsiteX23" fmla="*/ 2695127 w 3843750"/>
              <a:gd name="connsiteY23" fmla="*/ 4973674 h 5956080"/>
              <a:gd name="connsiteX24" fmla="*/ 2825329 w 3843750"/>
              <a:gd name="connsiteY24" fmla="*/ 4563328 h 5956080"/>
              <a:gd name="connsiteX25" fmla="*/ 2904628 w 3843750"/>
              <a:gd name="connsiteY25" fmla="*/ 4466368 h 5956080"/>
              <a:gd name="connsiteX26" fmla="*/ 2922635 w 3843750"/>
              <a:gd name="connsiteY26" fmla="*/ 4519696 h 5956080"/>
              <a:gd name="connsiteX27" fmla="*/ 3089544 w 3843750"/>
              <a:gd name="connsiteY27" fmla="*/ 3606545 h 5956080"/>
              <a:gd name="connsiteX28" fmla="*/ 3150490 w 3843750"/>
              <a:gd name="connsiteY28" fmla="*/ 3989882 h 5956080"/>
              <a:gd name="connsiteX29" fmla="*/ 3755448 w 3843750"/>
              <a:gd name="connsiteY29" fmla="*/ 1538193 h 5956080"/>
              <a:gd name="connsiteX30" fmla="*/ 3850330 w 3843750"/>
              <a:gd name="connsiteY30" fmla="*/ 0 h 5956080"/>
              <a:gd name="connsiteX31" fmla="*/ 0 w 3843750"/>
              <a:gd name="connsiteY31" fmla="*/ 0 h 59560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</a:cxnLst>
            <a:rect l="l" t="t" r="r" b="b"/>
            <a:pathLst>
              <a:path w="3843750" h="5956080">
                <a:moveTo>
                  <a:pt x="0" y="346"/>
                </a:moveTo>
                <a:cubicBezTo>
                  <a:pt x="12120" y="1234155"/>
                  <a:pt x="72720" y="2447534"/>
                  <a:pt x="72373" y="2447534"/>
                </a:cubicBezTo>
                <a:cubicBezTo>
                  <a:pt x="72720" y="2449265"/>
                  <a:pt x="114274" y="3641520"/>
                  <a:pt x="145093" y="3878724"/>
                </a:cubicBezTo>
                <a:cubicBezTo>
                  <a:pt x="176258" y="4119392"/>
                  <a:pt x="210194" y="3969797"/>
                  <a:pt x="237897" y="4208041"/>
                </a:cubicBezTo>
                <a:cubicBezTo>
                  <a:pt x="250017" y="4367677"/>
                  <a:pt x="237204" y="4527661"/>
                  <a:pt x="281875" y="4677601"/>
                </a:cubicBezTo>
                <a:cubicBezTo>
                  <a:pt x="278758" y="4908226"/>
                  <a:pt x="338319" y="5059552"/>
                  <a:pt x="360135" y="5287407"/>
                </a:cubicBezTo>
                <a:cubicBezTo>
                  <a:pt x="370177" y="5468860"/>
                  <a:pt x="348015" y="5649274"/>
                  <a:pt x="414155" y="5817914"/>
                </a:cubicBezTo>
                <a:cubicBezTo>
                  <a:pt x="467137" y="5947770"/>
                  <a:pt x="534662" y="6049578"/>
                  <a:pt x="681487" y="5914873"/>
                </a:cubicBezTo>
                <a:cubicBezTo>
                  <a:pt x="680448" y="5747964"/>
                  <a:pt x="925963" y="5772897"/>
                  <a:pt x="892373" y="5605295"/>
                </a:cubicBezTo>
                <a:cubicBezTo>
                  <a:pt x="1003184" y="5641309"/>
                  <a:pt x="945009" y="5759046"/>
                  <a:pt x="1027770" y="5804063"/>
                </a:cubicBezTo>
                <a:cubicBezTo>
                  <a:pt x="1099105" y="5719915"/>
                  <a:pt x="1051664" y="5551968"/>
                  <a:pt x="1200566" y="5527036"/>
                </a:cubicBezTo>
                <a:cubicBezTo>
                  <a:pt x="1352931" y="5564088"/>
                  <a:pt x="1336655" y="5453970"/>
                  <a:pt x="1348083" y="5363590"/>
                </a:cubicBezTo>
                <a:cubicBezTo>
                  <a:pt x="1370938" y="5149586"/>
                  <a:pt x="1389291" y="5009687"/>
                  <a:pt x="1425997" y="4800532"/>
                </a:cubicBezTo>
                <a:cubicBezTo>
                  <a:pt x="1436385" y="4748243"/>
                  <a:pt x="1415608" y="4628775"/>
                  <a:pt x="1517416" y="4640549"/>
                </a:cubicBezTo>
                <a:cubicBezTo>
                  <a:pt x="1596022" y="4651976"/>
                  <a:pt x="1566242" y="4746512"/>
                  <a:pt x="1569705" y="4803995"/>
                </a:cubicBezTo>
                <a:cubicBezTo>
                  <a:pt x="1600177" y="5128809"/>
                  <a:pt x="1532998" y="5109763"/>
                  <a:pt x="1530921" y="5433885"/>
                </a:cubicBezTo>
                <a:cubicBezTo>
                  <a:pt x="1530574" y="5446697"/>
                  <a:pt x="1580786" y="5458125"/>
                  <a:pt x="1614721" y="5319957"/>
                </a:cubicBezTo>
                <a:cubicBezTo>
                  <a:pt x="1681208" y="5047432"/>
                  <a:pt x="1760507" y="4832736"/>
                  <a:pt x="1800676" y="4608691"/>
                </a:cubicBezTo>
                <a:cubicBezTo>
                  <a:pt x="1848463" y="4656824"/>
                  <a:pt x="1889671" y="4439704"/>
                  <a:pt x="1918759" y="4486799"/>
                </a:cubicBezTo>
                <a:cubicBezTo>
                  <a:pt x="1932264" y="4566098"/>
                  <a:pt x="1956503" y="4642626"/>
                  <a:pt x="2009139" y="4715000"/>
                </a:cubicBezTo>
                <a:cubicBezTo>
                  <a:pt x="2054502" y="4933851"/>
                  <a:pt x="2004983" y="5137812"/>
                  <a:pt x="2135532" y="5321689"/>
                </a:cubicBezTo>
                <a:cubicBezTo>
                  <a:pt x="2135532" y="5321689"/>
                  <a:pt x="2137610" y="5265245"/>
                  <a:pt x="2209291" y="5028733"/>
                </a:cubicBezTo>
                <a:cubicBezTo>
                  <a:pt x="2267120" y="4838277"/>
                  <a:pt x="2341225" y="4936622"/>
                  <a:pt x="2501208" y="4457711"/>
                </a:cubicBezTo>
                <a:cubicBezTo>
                  <a:pt x="2545186" y="4641934"/>
                  <a:pt x="2446495" y="4877753"/>
                  <a:pt x="2695127" y="4973674"/>
                </a:cubicBezTo>
                <a:cubicBezTo>
                  <a:pt x="2743260" y="4833775"/>
                  <a:pt x="2706208" y="4662365"/>
                  <a:pt x="2825329" y="4563328"/>
                </a:cubicBezTo>
                <a:cubicBezTo>
                  <a:pt x="2859958" y="4534586"/>
                  <a:pt x="2884890" y="4501689"/>
                  <a:pt x="2904628" y="4466368"/>
                </a:cubicBezTo>
                <a:cubicBezTo>
                  <a:pt x="2910515" y="4484375"/>
                  <a:pt x="2916749" y="4503074"/>
                  <a:pt x="2922635" y="4519696"/>
                </a:cubicBezTo>
                <a:cubicBezTo>
                  <a:pt x="2946529" y="4491647"/>
                  <a:pt x="3082618" y="3784882"/>
                  <a:pt x="3089544" y="3606545"/>
                </a:cubicBezTo>
                <a:cubicBezTo>
                  <a:pt x="3124172" y="3733285"/>
                  <a:pt x="3150490" y="3989882"/>
                  <a:pt x="3150490" y="3989882"/>
                </a:cubicBezTo>
                <a:cubicBezTo>
                  <a:pt x="3150490" y="3989882"/>
                  <a:pt x="3300085" y="3936900"/>
                  <a:pt x="3755448" y="1538193"/>
                </a:cubicBezTo>
                <a:cubicBezTo>
                  <a:pt x="3791461" y="1348775"/>
                  <a:pt x="3824704" y="697762"/>
                  <a:pt x="3850330" y="0"/>
                </a:cubicBezTo>
                <a:lnTo>
                  <a:pt x="0" y="0"/>
                </a:lnTo>
                <a:close/>
              </a:path>
            </a:pathLst>
          </a:custGeom>
          <a:solidFill>
            <a:schemeClr val="accent1">
              <a:alpha val="20000"/>
            </a:schemeClr>
          </a:solidFill>
          <a:ln w="32707" cap="flat">
            <a:noFill/>
            <a:prstDash val="solid"/>
            <a:miter/>
          </a:ln>
        </p:spPr>
        <p:txBody>
          <a:bodyPr rtlCol="0" anchor="ctr"/>
          <a:lstStyle/>
          <a:p>
            <a:endParaRPr lang="en-US" sz="180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4AD5705-B027-4C44-B38A-60296E29EB1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1" y="1078991"/>
            <a:ext cx="5266944" cy="3136392"/>
          </a:xfrm>
        </p:spPr>
        <p:txBody>
          <a:bodyPr anchor="b">
            <a:normAutofit/>
          </a:bodyPr>
          <a:lstStyle>
            <a:lvl1pPr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E8BBAC4-9088-44CF-BA2D-B8DD24FB527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1" y="4279394"/>
            <a:ext cx="5266944" cy="1500187"/>
          </a:xfrm>
        </p:spPr>
        <p:txBody>
          <a:bodyPr/>
          <a:lstStyle>
            <a:lvl1pPr marL="0" indent="0">
              <a:buNone/>
              <a:defRPr sz="2400" cap="all" baseline="0">
                <a:solidFill>
                  <a:schemeClr val="tx1"/>
                </a:solidFill>
              </a:defRPr>
            </a:lvl1pPr>
            <a:lvl2pPr marL="457189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377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566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754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5943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131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32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509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793FB3F-D2A6-4919-B57B-C08861D463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D7F5E2-1259-49E8-A594-7CDAEB38E0CA}" type="datetime1">
              <a:rPr lang="en-US" smtClean="0"/>
              <a:t>1/22/2024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89049E0-6BE5-43FA-A4D4-ACAFC871A7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Object Oriented Programming-Spring 24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DF8C28D-1479-4F15-B906-0AEBBCCA8C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845F5A-061D-4825-9AE9-D7794091C6C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6789026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Freeform: Shape 7" descr="Tag=AccentColor&#10;Flavor=Light&#10;Target=Fill">
            <a:extLst>
              <a:ext uri="{FF2B5EF4-FFF2-40B4-BE49-F238E27FC236}">
                <a16:creationId xmlns:a16="http://schemas.microsoft.com/office/drawing/2014/main" id="{FD51F360-8860-4FB5-A0A5-773473DD8B39}"/>
              </a:ext>
            </a:extLst>
          </p:cNvPr>
          <p:cNvSpPr/>
          <p:nvPr/>
        </p:nvSpPr>
        <p:spPr>
          <a:xfrm flipH="1">
            <a:off x="2" y="315111"/>
            <a:ext cx="3021543" cy="1435442"/>
          </a:xfrm>
          <a:custGeom>
            <a:avLst/>
            <a:gdLst>
              <a:gd name="connsiteX0" fmla="*/ 3021543 w 3021543"/>
              <a:gd name="connsiteY0" fmla="*/ 0 h 1435442"/>
              <a:gd name="connsiteX1" fmla="*/ 2963800 w 3021543"/>
              <a:gd name="connsiteY1" fmla="*/ 7242 h 1435442"/>
              <a:gd name="connsiteX2" fmla="*/ 2793803 w 3021543"/>
              <a:gd name="connsiteY2" fmla="*/ 24082 h 1435442"/>
              <a:gd name="connsiteX3" fmla="*/ 2414348 w 3021543"/>
              <a:gd name="connsiteY3" fmla="*/ 29696 h 1435442"/>
              <a:gd name="connsiteX4" fmla="*/ 2091558 w 3021543"/>
              <a:gd name="connsiteY4" fmla="*/ 27450 h 1435442"/>
              <a:gd name="connsiteX5" fmla="*/ 1645319 w 3021543"/>
              <a:gd name="connsiteY5" fmla="*/ 28573 h 1435442"/>
              <a:gd name="connsiteX6" fmla="*/ 1243602 w 3021543"/>
              <a:gd name="connsiteY6" fmla="*/ 60008 h 1435442"/>
              <a:gd name="connsiteX7" fmla="*/ 753851 w 3021543"/>
              <a:gd name="connsiteY7" fmla="*/ 57763 h 1435442"/>
              <a:gd name="connsiteX8" fmla="*/ 465465 w 3021543"/>
              <a:gd name="connsiteY8" fmla="*/ 116142 h 1435442"/>
              <a:gd name="connsiteX9" fmla="*/ 546416 w 3021543"/>
              <a:gd name="connsiteY9" fmla="*/ 136351 h 1435442"/>
              <a:gd name="connsiteX10" fmla="*/ 689091 w 3021543"/>
              <a:gd name="connsiteY10" fmla="*/ 180136 h 1435442"/>
              <a:gd name="connsiteX11" fmla="*/ 704269 w 3021543"/>
              <a:gd name="connsiteY11" fmla="*/ 208203 h 1435442"/>
              <a:gd name="connsiteX12" fmla="*/ 683020 w 3021543"/>
              <a:gd name="connsiteY12" fmla="*/ 221675 h 1435442"/>
              <a:gd name="connsiteX13" fmla="*/ 621295 w 3021543"/>
              <a:gd name="connsiteY13" fmla="*/ 247496 h 1435442"/>
              <a:gd name="connsiteX14" fmla="*/ 848968 w 3021543"/>
              <a:gd name="connsiteY14" fmla="*/ 285668 h 1435442"/>
              <a:gd name="connsiteX15" fmla="*/ 768018 w 3021543"/>
              <a:gd name="connsiteY15" fmla="*/ 309244 h 1435442"/>
              <a:gd name="connsiteX16" fmla="*/ 684032 w 3021543"/>
              <a:gd name="connsiteY16" fmla="*/ 326085 h 1435442"/>
              <a:gd name="connsiteX17" fmla="*/ 592962 w 3021543"/>
              <a:gd name="connsiteY17" fmla="*/ 338434 h 1435442"/>
              <a:gd name="connsiteX18" fmla="*/ 509988 w 3021543"/>
              <a:gd name="connsiteY18" fmla="*/ 363133 h 1435442"/>
              <a:gd name="connsiteX19" fmla="*/ 726531 w 3021543"/>
              <a:gd name="connsiteY19" fmla="*/ 373237 h 1435442"/>
              <a:gd name="connsiteX20" fmla="*/ 614212 w 3021543"/>
              <a:gd name="connsiteY20" fmla="*/ 395691 h 1435442"/>
              <a:gd name="connsiteX21" fmla="*/ 522131 w 3021543"/>
              <a:gd name="connsiteY21" fmla="*/ 424881 h 1435442"/>
              <a:gd name="connsiteX22" fmla="*/ 457370 w 3021543"/>
              <a:gd name="connsiteY22" fmla="*/ 438353 h 1435442"/>
              <a:gd name="connsiteX23" fmla="*/ 388562 w 3021543"/>
              <a:gd name="connsiteY23" fmla="*/ 441721 h 1435442"/>
              <a:gd name="connsiteX24" fmla="*/ 372372 w 3021543"/>
              <a:gd name="connsiteY24" fmla="*/ 463052 h 1435442"/>
              <a:gd name="connsiteX25" fmla="*/ 393622 w 3021543"/>
              <a:gd name="connsiteY25" fmla="*/ 485506 h 1435442"/>
              <a:gd name="connsiteX26" fmla="*/ 426002 w 3021543"/>
              <a:gd name="connsiteY26" fmla="*/ 487751 h 1435442"/>
              <a:gd name="connsiteX27" fmla="*/ 619271 w 3021543"/>
              <a:gd name="connsiteY27" fmla="*/ 493365 h 1435442"/>
              <a:gd name="connsiteX28" fmla="*/ 0 w 3021543"/>
              <a:gd name="connsiteY28" fmla="*/ 542762 h 1435442"/>
              <a:gd name="connsiteX29" fmla="*/ 83986 w 3021543"/>
              <a:gd name="connsiteY29" fmla="*/ 573075 h 1435442"/>
              <a:gd name="connsiteX30" fmla="*/ 112319 w 3021543"/>
              <a:gd name="connsiteY30" fmla="*/ 656154 h 1435442"/>
              <a:gd name="connsiteX31" fmla="*/ 215531 w 3021543"/>
              <a:gd name="connsiteY31" fmla="*/ 703306 h 1435442"/>
              <a:gd name="connsiteX32" fmla="*/ 282315 w 3021543"/>
              <a:gd name="connsiteY32" fmla="*/ 720147 h 1435442"/>
              <a:gd name="connsiteX33" fmla="*/ 435109 w 3021543"/>
              <a:gd name="connsiteY33" fmla="*/ 744846 h 1435442"/>
              <a:gd name="connsiteX34" fmla="*/ 457370 w 3021543"/>
              <a:gd name="connsiteY34" fmla="*/ 785263 h 1435442"/>
              <a:gd name="connsiteX35" fmla="*/ 476596 w 3021543"/>
              <a:gd name="connsiteY35" fmla="*/ 830170 h 1435442"/>
              <a:gd name="connsiteX36" fmla="*/ 517071 w 3021543"/>
              <a:gd name="connsiteY36" fmla="*/ 859360 h 1435442"/>
              <a:gd name="connsiteX37" fmla="*/ 202377 w 3021543"/>
              <a:gd name="connsiteY37" fmla="*/ 854869 h 1435442"/>
              <a:gd name="connsiteX38" fmla="*/ 557546 w 3021543"/>
              <a:gd name="connsiteY38" fmla="*/ 949175 h 1435442"/>
              <a:gd name="connsiteX39" fmla="*/ 526178 w 3021543"/>
              <a:gd name="connsiteY39" fmla="*/ 986223 h 1435442"/>
              <a:gd name="connsiteX40" fmla="*/ 720459 w 3021543"/>
              <a:gd name="connsiteY40" fmla="*/ 1036744 h 1435442"/>
              <a:gd name="connsiteX41" fmla="*/ 616236 w 3021543"/>
              <a:gd name="connsiteY41" fmla="*/ 1042357 h 1435442"/>
              <a:gd name="connsiteX42" fmla="*/ 1222353 w 3021543"/>
              <a:gd name="connsiteY42" fmla="*/ 1253422 h 1435442"/>
              <a:gd name="connsiteX43" fmla="*/ 2087511 w 3021543"/>
              <a:gd name="connsiteY43" fmla="*/ 1406107 h 1435442"/>
              <a:gd name="connsiteX44" fmla="*/ 2425479 w 3021543"/>
              <a:gd name="connsiteY44" fmla="*/ 1435297 h 1435442"/>
              <a:gd name="connsiteX45" fmla="*/ 2809994 w 3021543"/>
              <a:gd name="connsiteY45" fmla="*/ 1426315 h 1435442"/>
              <a:gd name="connsiteX46" fmla="*/ 2953618 w 3021543"/>
              <a:gd name="connsiteY46" fmla="*/ 1417071 h 1435442"/>
              <a:gd name="connsiteX47" fmla="*/ 3021543 w 3021543"/>
              <a:gd name="connsiteY47" fmla="*/ 1407897 h 143544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</a:cxnLst>
            <a:rect l="l" t="t" r="r" b="b"/>
            <a:pathLst>
              <a:path w="3021543" h="1435442">
                <a:moveTo>
                  <a:pt x="3021543" y="0"/>
                </a:moveTo>
                <a:lnTo>
                  <a:pt x="2963800" y="7242"/>
                </a:lnTo>
                <a:cubicBezTo>
                  <a:pt x="2907134" y="13978"/>
                  <a:pt x="2850469" y="22960"/>
                  <a:pt x="2793803" y="24082"/>
                </a:cubicBezTo>
                <a:cubicBezTo>
                  <a:pt x="2667318" y="27450"/>
                  <a:pt x="2539821" y="19592"/>
                  <a:pt x="2414348" y="29696"/>
                </a:cubicBezTo>
                <a:cubicBezTo>
                  <a:pt x="2307089" y="38677"/>
                  <a:pt x="2198818" y="28573"/>
                  <a:pt x="2091558" y="27450"/>
                </a:cubicBezTo>
                <a:cubicBezTo>
                  <a:pt x="1942812" y="26328"/>
                  <a:pt x="1793053" y="18469"/>
                  <a:pt x="1645319" y="28573"/>
                </a:cubicBezTo>
                <a:cubicBezTo>
                  <a:pt x="1510738" y="36432"/>
                  <a:pt x="1376158" y="38677"/>
                  <a:pt x="1243602" y="60008"/>
                </a:cubicBezTo>
                <a:cubicBezTo>
                  <a:pt x="1079677" y="71235"/>
                  <a:pt x="916765" y="64499"/>
                  <a:pt x="753851" y="57763"/>
                </a:cubicBezTo>
                <a:cubicBezTo>
                  <a:pt x="653675" y="53272"/>
                  <a:pt x="554511" y="38677"/>
                  <a:pt x="465465" y="116142"/>
                </a:cubicBezTo>
                <a:cubicBezTo>
                  <a:pt x="489751" y="134105"/>
                  <a:pt x="519095" y="130737"/>
                  <a:pt x="546416" y="136351"/>
                </a:cubicBezTo>
                <a:cubicBezTo>
                  <a:pt x="594986" y="147578"/>
                  <a:pt x="643557" y="158804"/>
                  <a:pt x="689091" y="180136"/>
                </a:cubicBezTo>
                <a:cubicBezTo>
                  <a:pt x="699210" y="184626"/>
                  <a:pt x="708317" y="193608"/>
                  <a:pt x="704269" y="208203"/>
                </a:cubicBezTo>
                <a:cubicBezTo>
                  <a:pt x="701234" y="219430"/>
                  <a:pt x="691115" y="219430"/>
                  <a:pt x="683020" y="221675"/>
                </a:cubicBezTo>
                <a:cubicBezTo>
                  <a:pt x="664806" y="228411"/>
                  <a:pt x="642545" y="223920"/>
                  <a:pt x="621295" y="247496"/>
                </a:cubicBezTo>
                <a:cubicBezTo>
                  <a:pt x="702245" y="259846"/>
                  <a:pt x="780160" y="236270"/>
                  <a:pt x="848968" y="285668"/>
                </a:cubicBezTo>
                <a:cubicBezTo>
                  <a:pt x="823671" y="310367"/>
                  <a:pt x="795339" y="304753"/>
                  <a:pt x="768018" y="309244"/>
                </a:cubicBezTo>
                <a:cubicBezTo>
                  <a:pt x="739685" y="313735"/>
                  <a:pt x="712365" y="321594"/>
                  <a:pt x="684032" y="326085"/>
                </a:cubicBezTo>
                <a:cubicBezTo>
                  <a:pt x="653675" y="331698"/>
                  <a:pt x="623319" y="332821"/>
                  <a:pt x="592962" y="338434"/>
                </a:cubicBezTo>
                <a:cubicBezTo>
                  <a:pt x="567666" y="342925"/>
                  <a:pt x="540345" y="335066"/>
                  <a:pt x="509988" y="363133"/>
                </a:cubicBezTo>
                <a:cubicBezTo>
                  <a:pt x="584867" y="383342"/>
                  <a:pt x="652663" y="353029"/>
                  <a:pt x="726531" y="373237"/>
                </a:cubicBezTo>
                <a:cubicBezTo>
                  <a:pt x="683020" y="391200"/>
                  <a:pt x="647604" y="385587"/>
                  <a:pt x="614212" y="395691"/>
                </a:cubicBezTo>
                <a:cubicBezTo>
                  <a:pt x="583855" y="405795"/>
                  <a:pt x="547428" y="394568"/>
                  <a:pt x="522131" y="424881"/>
                </a:cubicBezTo>
                <a:cubicBezTo>
                  <a:pt x="502905" y="448457"/>
                  <a:pt x="482668" y="451825"/>
                  <a:pt x="457370" y="438353"/>
                </a:cubicBezTo>
                <a:cubicBezTo>
                  <a:pt x="435109" y="426003"/>
                  <a:pt x="410824" y="429371"/>
                  <a:pt x="388562" y="441721"/>
                </a:cubicBezTo>
                <a:cubicBezTo>
                  <a:pt x="380468" y="446212"/>
                  <a:pt x="372372" y="451825"/>
                  <a:pt x="372372" y="463052"/>
                </a:cubicBezTo>
                <a:cubicBezTo>
                  <a:pt x="372372" y="478770"/>
                  <a:pt x="382491" y="483260"/>
                  <a:pt x="393622" y="485506"/>
                </a:cubicBezTo>
                <a:cubicBezTo>
                  <a:pt x="403741" y="487751"/>
                  <a:pt x="415883" y="489997"/>
                  <a:pt x="426002" y="487751"/>
                </a:cubicBezTo>
                <a:cubicBezTo>
                  <a:pt x="490762" y="475402"/>
                  <a:pt x="554511" y="495610"/>
                  <a:pt x="619271" y="493365"/>
                </a:cubicBezTo>
                <a:cubicBezTo>
                  <a:pt x="415883" y="541640"/>
                  <a:pt x="210471" y="525922"/>
                  <a:pt x="0" y="542762"/>
                </a:cubicBezTo>
                <a:cubicBezTo>
                  <a:pt x="27321" y="576443"/>
                  <a:pt x="62737" y="548376"/>
                  <a:pt x="83986" y="573075"/>
                </a:cubicBezTo>
                <a:cubicBezTo>
                  <a:pt x="63748" y="624719"/>
                  <a:pt x="71844" y="652785"/>
                  <a:pt x="112319" y="656154"/>
                </a:cubicBezTo>
                <a:cubicBezTo>
                  <a:pt x="151782" y="659522"/>
                  <a:pt x="194281" y="641559"/>
                  <a:pt x="215531" y="703306"/>
                </a:cubicBezTo>
                <a:cubicBezTo>
                  <a:pt x="221602" y="722392"/>
                  <a:pt x="259042" y="716779"/>
                  <a:pt x="282315" y="720147"/>
                </a:cubicBezTo>
                <a:cubicBezTo>
                  <a:pt x="332909" y="728005"/>
                  <a:pt x="386539" y="720147"/>
                  <a:pt x="435109" y="744846"/>
                </a:cubicBezTo>
                <a:cubicBezTo>
                  <a:pt x="454335" y="753827"/>
                  <a:pt x="467489" y="760563"/>
                  <a:pt x="457370" y="785263"/>
                </a:cubicBezTo>
                <a:cubicBezTo>
                  <a:pt x="447252" y="811084"/>
                  <a:pt x="460406" y="820066"/>
                  <a:pt x="476596" y="830170"/>
                </a:cubicBezTo>
                <a:cubicBezTo>
                  <a:pt x="488739" y="838028"/>
                  <a:pt x="506953" y="835783"/>
                  <a:pt x="517071" y="859360"/>
                </a:cubicBezTo>
                <a:cubicBezTo>
                  <a:pt x="410824" y="855992"/>
                  <a:pt x="307612" y="836906"/>
                  <a:pt x="202377" y="854869"/>
                </a:cubicBezTo>
                <a:cubicBezTo>
                  <a:pt x="317731" y="899776"/>
                  <a:pt x="444216" y="897531"/>
                  <a:pt x="557546" y="949175"/>
                </a:cubicBezTo>
                <a:cubicBezTo>
                  <a:pt x="553499" y="967137"/>
                  <a:pt x="527190" y="959278"/>
                  <a:pt x="526178" y="986223"/>
                </a:cubicBezTo>
                <a:cubicBezTo>
                  <a:pt x="585879" y="1014290"/>
                  <a:pt x="657723" y="995204"/>
                  <a:pt x="720459" y="1036744"/>
                </a:cubicBezTo>
                <a:cubicBezTo>
                  <a:pt x="684032" y="1055829"/>
                  <a:pt x="650640" y="1024394"/>
                  <a:pt x="616236" y="1042357"/>
                </a:cubicBezTo>
                <a:cubicBezTo>
                  <a:pt x="627367" y="1069302"/>
                  <a:pt x="1131283" y="1235459"/>
                  <a:pt x="1222353" y="1253422"/>
                </a:cubicBezTo>
                <a:cubicBezTo>
                  <a:pt x="1407527" y="1290470"/>
                  <a:pt x="1940788" y="1384776"/>
                  <a:pt x="2087511" y="1406107"/>
                </a:cubicBezTo>
                <a:cubicBezTo>
                  <a:pt x="2200841" y="1421824"/>
                  <a:pt x="2313160" y="1434174"/>
                  <a:pt x="2425479" y="1435297"/>
                </a:cubicBezTo>
                <a:cubicBezTo>
                  <a:pt x="2553988" y="1436419"/>
                  <a:pt x="2681485" y="1430806"/>
                  <a:pt x="2809994" y="1426315"/>
                </a:cubicBezTo>
                <a:cubicBezTo>
                  <a:pt x="2858058" y="1424631"/>
                  <a:pt x="2905933" y="1421684"/>
                  <a:pt x="2953618" y="1417071"/>
                </a:cubicBezTo>
                <a:lnTo>
                  <a:pt x="3021543" y="1407897"/>
                </a:lnTo>
                <a:close/>
              </a:path>
            </a:pathLst>
          </a:custGeom>
          <a:solidFill>
            <a:schemeClr val="accent1">
              <a:alpha val="20000"/>
            </a:schemeClr>
          </a:solidFill>
          <a:ln w="32707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endParaRPr lang="en-US" sz="180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2A77EC9-372A-4ECA-9088-780532AF05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4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7C882CE-1B27-414A-9B06-AA5D2DB683B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2011680"/>
            <a:ext cx="4937760" cy="41605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0397E60-5D92-4530-96D1-FC09AF3C274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419088" y="2011680"/>
            <a:ext cx="4937760" cy="41605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34240FE-0C6A-47E9-9B0A-7B3C6087737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A71623-2F29-4479-A45B-FE5C34911637}" type="datetime1">
              <a:rPr lang="en-US" smtClean="0"/>
              <a:t>1/22/2024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671AE1B-BB18-4C7E-AA77-3A4D401A5F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Object Oriented Programming-Spring 24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6FA7B1D-FEDD-4E29-A352-29E5F498B3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845F5A-061D-4825-9AE9-D7794091C6C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7082040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Freeform: Shape 9" descr="Tag=AccentColor&#10;Flavor=Light&#10;Target=Fill">
            <a:extLst>
              <a:ext uri="{FF2B5EF4-FFF2-40B4-BE49-F238E27FC236}">
                <a16:creationId xmlns:a16="http://schemas.microsoft.com/office/drawing/2014/main" id="{527D753D-3426-457C-9082-B92894509EC0}"/>
              </a:ext>
            </a:extLst>
          </p:cNvPr>
          <p:cNvSpPr/>
          <p:nvPr/>
        </p:nvSpPr>
        <p:spPr>
          <a:xfrm flipH="1">
            <a:off x="2" y="315111"/>
            <a:ext cx="3021543" cy="1435442"/>
          </a:xfrm>
          <a:custGeom>
            <a:avLst/>
            <a:gdLst>
              <a:gd name="connsiteX0" fmla="*/ 3021543 w 3021543"/>
              <a:gd name="connsiteY0" fmla="*/ 0 h 1435442"/>
              <a:gd name="connsiteX1" fmla="*/ 2963800 w 3021543"/>
              <a:gd name="connsiteY1" fmla="*/ 7242 h 1435442"/>
              <a:gd name="connsiteX2" fmla="*/ 2793803 w 3021543"/>
              <a:gd name="connsiteY2" fmla="*/ 24082 h 1435442"/>
              <a:gd name="connsiteX3" fmla="*/ 2414348 w 3021543"/>
              <a:gd name="connsiteY3" fmla="*/ 29696 h 1435442"/>
              <a:gd name="connsiteX4" fmla="*/ 2091558 w 3021543"/>
              <a:gd name="connsiteY4" fmla="*/ 27450 h 1435442"/>
              <a:gd name="connsiteX5" fmla="*/ 1645319 w 3021543"/>
              <a:gd name="connsiteY5" fmla="*/ 28573 h 1435442"/>
              <a:gd name="connsiteX6" fmla="*/ 1243602 w 3021543"/>
              <a:gd name="connsiteY6" fmla="*/ 60008 h 1435442"/>
              <a:gd name="connsiteX7" fmla="*/ 753851 w 3021543"/>
              <a:gd name="connsiteY7" fmla="*/ 57763 h 1435442"/>
              <a:gd name="connsiteX8" fmla="*/ 465465 w 3021543"/>
              <a:gd name="connsiteY8" fmla="*/ 116142 h 1435442"/>
              <a:gd name="connsiteX9" fmla="*/ 546416 w 3021543"/>
              <a:gd name="connsiteY9" fmla="*/ 136351 h 1435442"/>
              <a:gd name="connsiteX10" fmla="*/ 689091 w 3021543"/>
              <a:gd name="connsiteY10" fmla="*/ 180136 h 1435442"/>
              <a:gd name="connsiteX11" fmla="*/ 704269 w 3021543"/>
              <a:gd name="connsiteY11" fmla="*/ 208203 h 1435442"/>
              <a:gd name="connsiteX12" fmla="*/ 683020 w 3021543"/>
              <a:gd name="connsiteY12" fmla="*/ 221675 h 1435442"/>
              <a:gd name="connsiteX13" fmla="*/ 621295 w 3021543"/>
              <a:gd name="connsiteY13" fmla="*/ 247496 h 1435442"/>
              <a:gd name="connsiteX14" fmla="*/ 848968 w 3021543"/>
              <a:gd name="connsiteY14" fmla="*/ 285668 h 1435442"/>
              <a:gd name="connsiteX15" fmla="*/ 768018 w 3021543"/>
              <a:gd name="connsiteY15" fmla="*/ 309244 h 1435442"/>
              <a:gd name="connsiteX16" fmla="*/ 684032 w 3021543"/>
              <a:gd name="connsiteY16" fmla="*/ 326085 h 1435442"/>
              <a:gd name="connsiteX17" fmla="*/ 592962 w 3021543"/>
              <a:gd name="connsiteY17" fmla="*/ 338434 h 1435442"/>
              <a:gd name="connsiteX18" fmla="*/ 509988 w 3021543"/>
              <a:gd name="connsiteY18" fmla="*/ 363133 h 1435442"/>
              <a:gd name="connsiteX19" fmla="*/ 726531 w 3021543"/>
              <a:gd name="connsiteY19" fmla="*/ 373237 h 1435442"/>
              <a:gd name="connsiteX20" fmla="*/ 614212 w 3021543"/>
              <a:gd name="connsiteY20" fmla="*/ 395691 h 1435442"/>
              <a:gd name="connsiteX21" fmla="*/ 522131 w 3021543"/>
              <a:gd name="connsiteY21" fmla="*/ 424881 h 1435442"/>
              <a:gd name="connsiteX22" fmla="*/ 457370 w 3021543"/>
              <a:gd name="connsiteY22" fmla="*/ 438353 h 1435442"/>
              <a:gd name="connsiteX23" fmla="*/ 388562 w 3021543"/>
              <a:gd name="connsiteY23" fmla="*/ 441721 h 1435442"/>
              <a:gd name="connsiteX24" fmla="*/ 372372 w 3021543"/>
              <a:gd name="connsiteY24" fmla="*/ 463052 h 1435442"/>
              <a:gd name="connsiteX25" fmla="*/ 393622 w 3021543"/>
              <a:gd name="connsiteY25" fmla="*/ 485506 h 1435442"/>
              <a:gd name="connsiteX26" fmla="*/ 426002 w 3021543"/>
              <a:gd name="connsiteY26" fmla="*/ 487751 h 1435442"/>
              <a:gd name="connsiteX27" fmla="*/ 619271 w 3021543"/>
              <a:gd name="connsiteY27" fmla="*/ 493365 h 1435442"/>
              <a:gd name="connsiteX28" fmla="*/ 0 w 3021543"/>
              <a:gd name="connsiteY28" fmla="*/ 542762 h 1435442"/>
              <a:gd name="connsiteX29" fmla="*/ 83986 w 3021543"/>
              <a:gd name="connsiteY29" fmla="*/ 573075 h 1435442"/>
              <a:gd name="connsiteX30" fmla="*/ 112319 w 3021543"/>
              <a:gd name="connsiteY30" fmla="*/ 656154 h 1435442"/>
              <a:gd name="connsiteX31" fmla="*/ 215531 w 3021543"/>
              <a:gd name="connsiteY31" fmla="*/ 703306 h 1435442"/>
              <a:gd name="connsiteX32" fmla="*/ 282315 w 3021543"/>
              <a:gd name="connsiteY32" fmla="*/ 720147 h 1435442"/>
              <a:gd name="connsiteX33" fmla="*/ 435109 w 3021543"/>
              <a:gd name="connsiteY33" fmla="*/ 744846 h 1435442"/>
              <a:gd name="connsiteX34" fmla="*/ 457370 w 3021543"/>
              <a:gd name="connsiteY34" fmla="*/ 785263 h 1435442"/>
              <a:gd name="connsiteX35" fmla="*/ 476596 w 3021543"/>
              <a:gd name="connsiteY35" fmla="*/ 830170 h 1435442"/>
              <a:gd name="connsiteX36" fmla="*/ 517071 w 3021543"/>
              <a:gd name="connsiteY36" fmla="*/ 859360 h 1435442"/>
              <a:gd name="connsiteX37" fmla="*/ 202377 w 3021543"/>
              <a:gd name="connsiteY37" fmla="*/ 854869 h 1435442"/>
              <a:gd name="connsiteX38" fmla="*/ 557546 w 3021543"/>
              <a:gd name="connsiteY38" fmla="*/ 949175 h 1435442"/>
              <a:gd name="connsiteX39" fmla="*/ 526178 w 3021543"/>
              <a:gd name="connsiteY39" fmla="*/ 986223 h 1435442"/>
              <a:gd name="connsiteX40" fmla="*/ 720459 w 3021543"/>
              <a:gd name="connsiteY40" fmla="*/ 1036744 h 1435442"/>
              <a:gd name="connsiteX41" fmla="*/ 616236 w 3021543"/>
              <a:gd name="connsiteY41" fmla="*/ 1042357 h 1435442"/>
              <a:gd name="connsiteX42" fmla="*/ 1222353 w 3021543"/>
              <a:gd name="connsiteY42" fmla="*/ 1253422 h 1435442"/>
              <a:gd name="connsiteX43" fmla="*/ 2087511 w 3021543"/>
              <a:gd name="connsiteY43" fmla="*/ 1406107 h 1435442"/>
              <a:gd name="connsiteX44" fmla="*/ 2425479 w 3021543"/>
              <a:gd name="connsiteY44" fmla="*/ 1435297 h 1435442"/>
              <a:gd name="connsiteX45" fmla="*/ 2809994 w 3021543"/>
              <a:gd name="connsiteY45" fmla="*/ 1426315 h 1435442"/>
              <a:gd name="connsiteX46" fmla="*/ 2953618 w 3021543"/>
              <a:gd name="connsiteY46" fmla="*/ 1417071 h 1435442"/>
              <a:gd name="connsiteX47" fmla="*/ 3021543 w 3021543"/>
              <a:gd name="connsiteY47" fmla="*/ 1407897 h 143544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</a:cxnLst>
            <a:rect l="l" t="t" r="r" b="b"/>
            <a:pathLst>
              <a:path w="3021543" h="1435442">
                <a:moveTo>
                  <a:pt x="3021543" y="0"/>
                </a:moveTo>
                <a:lnTo>
                  <a:pt x="2963800" y="7242"/>
                </a:lnTo>
                <a:cubicBezTo>
                  <a:pt x="2907134" y="13978"/>
                  <a:pt x="2850469" y="22960"/>
                  <a:pt x="2793803" y="24082"/>
                </a:cubicBezTo>
                <a:cubicBezTo>
                  <a:pt x="2667318" y="27450"/>
                  <a:pt x="2539821" y="19592"/>
                  <a:pt x="2414348" y="29696"/>
                </a:cubicBezTo>
                <a:cubicBezTo>
                  <a:pt x="2307089" y="38677"/>
                  <a:pt x="2198818" y="28573"/>
                  <a:pt x="2091558" y="27450"/>
                </a:cubicBezTo>
                <a:cubicBezTo>
                  <a:pt x="1942812" y="26328"/>
                  <a:pt x="1793053" y="18469"/>
                  <a:pt x="1645319" y="28573"/>
                </a:cubicBezTo>
                <a:cubicBezTo>
                  <a:pt x="1510738" y="36432"/>
                  <a:pt x="1376158" y="38677"/>
                  <a:pt x="1243602" y="60008"/>
                </a:cubicBezTo>
                <a:cubicBezTo>
                  <a:pt x="1079677" y="71235"/>
                  <a:pt x="916765" y="64499"/>
                  <a:pt x="753851" y="57763"/>
                </a:cubicBezTo>
                <a:cubicBezTo>
                  <a:pt x="653675" y="53272"/>
                  <a:pt x="554511" y="38677"/>
                  <a:pt x="465465" y="116142"/>
                </a:cubicBezTo>
                <a:cubicBezTo>
                  <a:pt x="489751" y="134105"/>
                  <a:pt x="519095" y="130737"/>
                  <a:pt x="546416" y="136351"/>
                </a:cubicBezTo>
                <a:cubicBezTo>
                  <a:pt x="594986" y="147578"/>
                  <a:pt x="643557" y="158804"/>
                  <a:pt x="689091" y="180136"/>
                </a:cubicBezTo>
                <a:cubicBezTo>
                  <a:pt x="699210" y="184626"/>
                  <a:pt x="708317" y="193608"/>
                  <a:pt x="704269" y="208203"/>
                </a:cubicBezTo>
                <a:cubicBezTo>
                  <a:pt x="701234" y="219430"/>
                  <a:pt x="691115" y="219430"/>
                  <a:pt x="683020" y="221675"/>
                </a:cubicBezTo>
                <a:cubicBezTo>
                  <a:pt x="664806" y="228411"/>
                  <a:pt x="642545" y="223920"/>
                  <a:pt x="621295" y="247496"/>
                </a:cubicBezTo>
                <a:cubicBezTo>
                  <a:pt x="702245" y="259846"/>
                  <a:pt x="780160" y="236270"/>
                  <a:pt x="848968" y="285668"/>
                </a:cubicBezTo>
                <a:cubicBezTo>
                  <a:pt x="823671" y="310367"/>
                  <a:pt x="795339" y="304753"/>
                  <a:pt x="768018" y="309244"/>
                </a:cubicBezTo>
                <a:cubicBezTo>
                  <a:pt x="739685" y="313735"/>
                  <a:pt x="712365" y="321594"/>
                  <a:pt x="684032" y="326085"/>
                </a:cubicBezTo>
                <a:cubicBezTo>
                  <a:pt x="653675" y="331698"/>
                  <a:pt x="623319" y="332821"/>
                  <a:pt x="592962" y="338434"/>
                </a:cubicBezTo>
                <a:cubicBezTo>
                  <a:pt x="567666" y="342925"/>
                  <a:pt x="540345" y="335066"/>
                  <a:pt x="509988" y="363133"/>
                </a:cubicBezTo>
                <a:cubicBezTo>
                  <a:pt x="584867" y="383342"/>
                  <a:pt x="652663" y="353029"/>
                  <a:pt x="726531" y="373237"/>
                </a:cubicBezTo>
                <a:cubicBezTo>
                  <a:pt x="683020" y="391200"/>
                  <a:pt x="647604" y="385587"/>
                  <a:pt x="614212" y="395691"/>
                </a:cubicBezTo>
                <a:cubicBezTo>
                  <a:pt x="583855" y="405795"/>
                  <a:pt x="547428" y="394568"/>
                  <a:pt x="522131" y="424881"/>
                </a:cubicBezTo>
                <a:cubicBezTo>
                  <a:pt x="502905" y="448457"/>
                  <a:pt x="482668" y="451825"/>
                  <a:pt x="457370" y="438353"/>
                </a:cubicBezTo>
                <a:cubicBezTo>
                  <a:pt x="435109" y="426003"/>
                  <a:pt x="410824" y="429371"/>
                  <a:pt x="388562" y="441721"/>
                </a:cubicBezTo>
                <a:cubicBezTo>
                  <a:pt x="380468" y="446212"/>
                  <a:pt x="372372" y="451825"/>
                  <a:pt x="372372" y="463052"/>
                </a:cubicBezTo>
                <a:cubicBezTo>
                  <a:pt x="372372" y="478770"/>
                  <a:pt x="382491" y="483260"/>
                  <a:pt x="393622" y="485506"/>
                </a:cubicBezTo>
                <a:cubicBezTo>
                  <a:pt x="403741" y="487751"/>
                  <a:pt x="415883" y="489997"/>
                  <a:pt x="426002" y="487751"/>
                </a:cubicBezTo>
                <a:cubicBezTo>
                  <a:pt x="490762" y="475402"/>
                  <a:pt x="554511" y="495610"/>
                  <a:pt x="619271" y="493365"/>
                </a:cubicBezTo>
                <a:cubicBezTo>
                  <a:pt x="415883" y="541640"/>
                  <a:pt x="210471" y="525922"/>
                  <a:pt x="0" y="542762"/>
                </a:cubicBezTo>
                <a:cubicBezTo>
                  <a:pt x="27321" y="576443"/>
                  <a:pt x="62737" y="548376"/>
                  <a:pt x="83986" y="573075"/>
                </a:cubicBezTo>
                <a:cubicBezTo>
                  <a:pt x="63748" y="624719"/>
                  <a:pt x="71844" y="652785"/>
                  <a:pt x="112319" y="656154"/>
                </a:cubicBezTo>
                <a:cubicBezTo>
                  <a:pt x="151782" y="659522"/>
                  <a:pt x="194281" y="641559"/>
                  <a:pt x="215531" y="703306"/>
                </a:cubicBezTo>
                <a:cubicBezTo>
                  <a:pt x="221602" y="722392"/>
                  <a:pt x="259042" y="716779"/>
                  <a:pt x="282315" y="720147"/>
                </a:cubicBezTo>
                <a:cubicBezTo>
                  <a:pt x="332909" y="728005"/>
                  <a:pt x="386539" y="720147"/>
                  <a:pt x="435109" y="744846"/>
                </a:cubicBezTo>
                <a:cubicBezTo>
                  <a:pt x="454335" y="753827"/>
                  <a:pt x="467489" y="760563"/>
                  <a:pt x="457370" y="785263"/>
                </a:cubicBezTo>
                <a:cubicBezTo>
                  <a:pt x="447252" y="811084"/>
                  <a:pt x="460406" y="820066"/>
                  <a:pt x="476596" y="830170"/>
                </a:cubicBezTo>
                <a:cubicBezTo>
                  <a:pt x="488739" y="838028"/>
                  <a:pt x="506953" y="835783"/>
                  <a:pt x="517071" y="859360"/>
                </a:cubicBezTo>
                <a:cubicBezTo>
                  <a:pt x="410824" y="855992"/>
                  <a:pt x="307612" y="836906"/>
                  <a:pt x="202377" y="854869"/>
                </a:cubicBezTo>
                <a:cubicBezTo>
                  <a:pt x="317731" y="899776"/>
                  <a:pt x="444216" y="897531"/>
                  <a:pt x="557546" y="949175"/>
                </a:cubicBezTo>
                <a:cubicBezTo>
                  <a:pt x="553499" y="967137"/>
                  <a:pt x="527190" y="959278"/>
                  <a:pt x="526178" y="986223"/>
                </a:cubicBezTo>
                <a:cubicBezTo>
                  <a:pt x="585879" y="1014290"/>
                  <a:pt x="657723" y="995204"/>
                  <a:pt x="720459" y="1036744"/>
                </a:cubicBezTo>
                <a:cubicBezTo>
                  <a:pt x="684032" y="1055829"/>
                  <a:pt x="650640" y="1024394"/>
                  <a:pt x="616236" y="1042357"/>
                </a:cubicBezTo>
                <a:cubicBezTo>
                  <a:pt x="627367" y="1069302"/>
                  <a:pt x="1131283" y="1235459"/>
                  <a:pt x="1222353" y="1253422"/>
                </a:cubicBezTo>
                <a:cubicBezTo>
                  <a:pt x="1407527" y="1290470"/>
                  <a:pt x="1940788" y="1384776"/>
                  <a:pt x="2087511" y="1406107"/>
                </a:cubicBezTo>
                <a:cubicBezTo>
                  <a:pt x="2200841" y="1421824"/>
                  <a:pt x="2313160" y="1434174"/>
                  <a:pt x="2425479" y="1435297"/>
                </a:cubicBezTo>
                <a:cubicBezTo>
                  <a:pt x="2553988" y="1436419"/>
                  <a:pt x="2681485" y="1430806"/>
                  <a:pt x="2809994" y="1426315"/>
                </a:cubicBezTo>
                <a:cubicBezTo>
                  <a:pt x="2858058" y="1424631"/>
                  <a:pt x="2905933" y="1421684"/>
                  <a:pt x="2953618" y="1417071"/>
                </a:cubicBezTo>
                <a:lnTo>
                  <a:pt x="3021543" y="1407897"/>
                </a:lnTo>
                <a:close/>
              </a:path>
            </a:pathLst>
          </a:custGeom>
          <a:solidFill>
            <a:schemeClr val="accent1">
              <a:alpha val="20000"/>
            </a:schemeClr>
          </a:solidFill>
          <a:ln w="32707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endParaRPr lang="en-US" sz="180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64D2B94-0682-4185-BCE3-89AF214A4F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7"/>
            <a:ext cx="10515600" cy="1325563"/>
          </a:xfrm>
        </p:spPr>
        <p:txBody>
          <a:bodyPr>
            <a:normAutofit/>
          </a:bodyPr>
          <a:lstStyle>
            <a:lvl1pPr>
              <a:defRPr sz="4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D65C47E-B85E-4B3E-A669-DEEC7F5DF2F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2011680"/>
            <a:ext cx="4937760" cy="950976"/>
          </a:xfrm>
        </p:spPr>
        <p:txBody>
          <a:bodyPr anchor="b">
            <a:normAutofit/>
          </a:bodyPr>
          <a:lstStyle>
            <a:lvl1pPr marL="0" indent="0">
              <a:buNone/>
              <a:defRPr sz="2800" b="1"/>
            </a:lvl1pPr>
            <a:lvl2pPr marL="457189" indent="0">
              <a:buNone/>
              <a:defRPr sz="2000" b="1"/>
            </a:lvl2pPr>
            <a:lvl3pPr marL="914377" indent="0">
              <a:buNone/>
              <a:defRPr sz="1800" b="1"/>
            </a:lvl3pPr>
            <a:lvl4pPr marL="1371566" indent="0">
              <a:buNone/>
              <a:defRPr sz="1600" b="1"/>
            </a:lvl4pPr>
            <a:lvl5pPr marL="1828754" indent="0">
              <a:buNone/>
              <a:defRPr sz="1600" b="1"/>
            </a:lvl5pPr>
            <a:lvl6pPr marL="2285943" indent="0">
              <a:buNone/>
              <a:defRPr sz="1600" b="1"/>
            </a:lvl6pPr>
            <a:lvl7pPr marL="2743131" indent="0">
              <a:buNone/>
              <a:defRPr sz="1600" b="1"/>
            </a:lvl7pPr>
            <a:lvl8pPr marL="3200320" indent="0">
              <a:buNone/>
              <a:defRPr sz="1600" b="1"/>
            </a:lvl8pPr>
            <a:lvl9pPr marL="3657509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324517F-FE8C-49AD-9A52-0F430105269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3127248"/>
            <a:ext cx="4937760" cy="306324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80C73EC-7117-4DC2-9075-14102F2E282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419088" y="2011680"/>
            <a:ext cx="4937760" cy="950976"/>
          </a:xfrm>
        </p:spPr>
        <p:txBody>
          <a:bodyPr anchor="b">
            <a:normAutofit/>
          </a:bodyPr>
          <a:lstStyle>
            <a:lvl1pPr marL="0" indent="0">
              <a:buNone/>
              <a:defRPr sz="2800" b="1"/>
            </a:lvl1pPr>
            <a:lvl2pPr marL="457189" indent="0">
              <a:buNone/>
              <a:defRPr sz="2000" b="1"/>
            </a:lvl2pPr>
            <a:lvl3pPr marL="914377" indent="0">
              <a:buNone/>
              <a:defRPr sz="1800" b="1"/>
            </a:lvl3pPr>
            <a:lvl4pPr marL="1371566" indent="0">
              <a:buNone/>
              <a:defRPr sz="1600" b="1"/>
            </a:lvl4pPr>
            <a:lvl5pPr marL="1828754" indent="0">
              <a:buNone/>
              <a:defRPr sz="1600" b="1"/>
            </a:lvl5pPr>
            <a:lvl6pPr marL="2285943" indent="0">
              <a:buNone/>
              <a:defRPr sz="1600" b="1"/>
            </a:lvl6pPr>
            <a:lvl7pPr marL="2743131" indent="0">
              <a:buNone/>
              <a:defRPr sz="1600" b="1"/>
            </a:lvl7pPr>
            <a:lvl8pPr marL="3200320" indent="0">
              <a:buNone/>
              <a:defRPr sz="1600" b="1"/>
            </a:lvl8pPr>
            <a:lvl9pPr marL="3657509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7DD9A323-865B-4177-8F98-9BA304E022E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419088" y="3127248"/>
            <a:ext cx="4937760" cy="306324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AA4E5D6-7075-4584-BD43-D966F0B58E6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EC7734-1870-472B-BA49-796F78E865B9}" type="datetime1">
              <a:rPr lang="en-US" smtClean="0"/>
              <a:t>1/22/2024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8C38B83D-8A05-4F3C-A409-1602C96307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Object Oriented Programming-Spring 24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BAD250E7-8A73-449C-A140-A2A2582D7F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845F5A-061D-4825-9AE9-D7794091C6C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193734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raphic 1" descr="Tag=AccentColor&#10;Flavor=Light&#10;Target=Fill">
            <a:extLst>
              <a:ext uri="{FF2B5EF4-FFF2-40B4-BE49-F238E27FC236}">
                <a16:creationId xmlns:a16="http://schemas.microsoft.com/office/drawing/2014/main" id="{AAFBE1F6-FC6D-4C3D-9AC3-97028E6F18C7}"/>
              </a:ext>
            </a:extLst>
          </p:cNvPr>
          <p:cNvSpPr/>
          <p:nvPr/>
        </p:nvSpPr>
        <p:spPr>
          <a:xfrm rot="10800000" flipV="1">
            <a:off x="1969639" y="181596"/>
            <a:ext cx="8252723" cy="6022258"/>
          </a:xfrm>
          <a:custGeom>
            <a:avLst/>
            <a:gdLst>
              <a:gd name="connsiteX0" fmla="*/ 5458905 w 6886274"/>
              <a:gd name="connsiteY0" fmla="*/ 754119 h 5025119"/>
              <a:gd name="connsiteX1" fmla="*/ 3455557 w 6886274"/>
              <a:gd name="connsiteY1" fmla="*/ 1027709 h 5025119"/>
              <a:gd name="connsiteX2" fmla="*/ 3338677 w 6886274"/>
              <a:gd name="connsiteY2" fmla="*/ 1021381 h 5025119"/>
              <a:gd name="connsiteX3" fmla="*/ 2518280 w 6886274"/>
              <a:gd name="connsiteY3" fmla="*/ 980435 h 5025119"/>
              <a:gd name="connsiteX4" fmla="*/ 1673687 w 6886274"/>
              <a:gd name="connsiteY4" fmla="*/ 739229 h 5025119"/>
              <a:gd name="connsiteX5" fmla="*/ 1183459 w 6886274"/>
              <a:gd name="connsiteY5" fmla="*/ 397149 h 5025119"/>
              <a:gd name="connsiteX6" fmla="*/ 977987 w 6886274"/>
              <a:gd name="connsiteY6" fmla="*/ 241184 h 5025119"/>
              <a:gd name="connsiteX7" fmla="*/ 788150 w 6886274"/>
              <a:gd name="connsiteY7" fmla="*/ 66980 h 5025119"/>
              <a:gd name="connsiteX8" fmla="*/ 721148 w 6886274"/>
              <a:gd name="connsiteY8" fmla="*/ 31990 h 5025119"/>
              <a:gd name="connsiteX9" fmla="*/ 701792 w 6886274"/>
              <a:gd name="connsiteY9" fmla="*/ 32362 h 5025119"/>
              <a:gd name="connsiteX10" fmla="*/ 686530 w 6886274"/>
              <a:gd name="connsiteY10" fmla="*/ 43157 h 5025119"/>
              <a:gd name="connsiteX11" fmla="*/ 693603 w 6886274"/>
              <a:gd name="connsiteY11" fmla="*/ 58046 h 5025119"/>
              <a:gd name="connsiteX12" fmla="*/ 705886 w 6886274"/>
              <a:gd name="connsiteY12" fmla="*/ 65491 h 5025119"/>
              <a:gd name="connsiteX13" fmla="*/ 762838 w 6886274"/>
              <a:gd name="connsiteY13" fmla="*/ 112764 h 5025119"/>
              <a:gd name="connsiteX14" fmla="*/ 764327 w 6886274"/>
              <a:gd name="connsiteY14" fmla="*/ 140309 h 5025119"/>
              <a:gd name="connsiteX15" fmla="*/ 775121 w 6886274"/>
              <a:gd name="connsiteY15" fmla="*/ 159666 h 5025119"/>
              <a:gd name="connsiteX16" fmla="*/ 823139 w 6886274"/>
              <a:gd name="connsiteY16" fmla="*/ 176416 h 5025119"/>
              <a:gd name="connsiteX17" fmla="*/ 707748 w 6886274"/>
              <a:gd name="connsiteY17" fmla="*/ 109414 h 5025119"/>
              <a:gd name="connsiteX18" fmla="*/ 681319 w 6886274"/>
              <a:gd name="connsiteY18" fmla="*/ 69958 h 5025119"/>
              <a:gd name="connsiteX19" fmla="*/ 640746 w 6886274"/>
              <a:gd name="connsiteY19" fmla="*/ 67352 h 5025119"/>
              <a:gd name="connsiteX20" fmla="*/ 614318 w 6886274"/>
              <a:gd name="connsiteY20" fmla="*/ 61396 h 5025119"/>
              <a:gd name="connsiteX21" fmla="*/ 560716 w 6886274"/>
              <a:gd name="connsiteY21" fmla="*/ 3701 h 5025119"/>
              <a:gd name="connsiteX22" fmla="*/ 540616 w 6886274"/>
              <a:gd name="connsiteY22" fmla="*/ 3701 h 5025119"/>
              <a:gd name="connsiteX23" fmla="*/ 543594 w 6886274"/>
              <a:gd name="connsiteY23" fmla="*/ 21940 h 5025119"/>
              <a:gd name="connsiteX24" fmla="*/ 558855 w 6886274"/>
              <a:gd name="connsiteY24" fmla="*/ 51346 h 5025119"/>
              <a:gd name="connsiteX25" fmla="*/ 557366 w 6886274"/>
              <a:gd name="connsiteY25" fmla="*/ 72563 h 5025119"/>
              <a:gd name="connsiteX26" fmla="*/ 570022 w 6886274"/>
              <a:gd name="connsiteY26" fmla="*/ 120209 h 5025119"/>
              <a:gd name="connsiteX27" fmla="*/ 599801 w 6886274"/>
              <a:gd name="connsiteY27" fmla="*/ 192794 h 5025119"/>
              <a:gd name="connsiteX28" fmla="*/ 614318 w 6886274"/>
              <a:gd name="connsiteY28" fmla="*/ 212150 h 5025119"/>
              <a:gd name="connsiteX29" fmla="*/ 623996 w 6886274"/>
              <a:gd name="connsiteY29" fmla="*/ 220711 h 5025119"/>
              <a:gd name="connsiteX30" fmla="*/ 821278 w 6886274"/>
              <a:gd name="connsiteY30" fmla="*/ 503235 h 5025119"/>
              <a:gd name="connsiteX31" fmla="*/ 1033822 w 6886274"/>
              <a:gd name="connsiteY31" fmla="*/ 694562 h 5025119"/>
              <a:gd name="connsiteX32" fmla="*/ 1039406 w 6886274"/>
              <a:gd name="connsiteY32" fmla="*/ 702378 h 5025119"/>
              <a:gd name="connsiteX33" fmla="*/ 944114 w 6886274"/>
              <a:gd name="connsiteY33" fmla="*/ 662550 h 5025119"/>
              <a:gd name="connsiteX34" fmla="*/ 733432 w 6886274"/>
              <a:gd name="connsiteY34" fmla="*/ 500629 h 5025119"/>
              <a:gd name="connsiteX35" fmla="*/ 606501 w 6886274"/>
              <a:gd name="connsiteY35" fmla="*/ 399755 h 5025119"/>
              <a:gd name="connsiteX36" fmla="*/ 588634 w 6886274"/>
              <a:gd name="connsiteY36" fmla="*/ 381143 h 5025119"/>
              <a:gd name="connsiteX37" fmla="*/ 575978 w 6886274"/>
              <a:gd name="connsiteY37" fmla="*/ 375560 h 5025119"/>
              <a:gd name="connsiteX38" fmla="*/ 567044 w 6886274"/>
              <a:gd name="connsiteY38" fmla="*/ 388588 h 5025119"/>
              <a:gd name="connsiteX39" fmla="*/ 578956 w 6886274"/>
              <a:gd name="connsiteY39" fmla="*/ 437722 h 5025119"/>
              <a:gd name="connsiteX40" fmla="*/ 675736 w 6886274"/>
              <a:gd name="connsiteY40" fmla="*/ 535619 h 5025119"/>
              <a:gd name="connsiteX41" fmla="*/ 811600 w 6886274"/>
              <a:gd name="connsiteY41" fmla="*/ 652872 h 5025119"/>
              <a:gd name="connsiteX42" fmla="*/ 818300 w 6886274"/>
              <a:gd name="connsiteY42" fmla="*/ 666272 h 5025119"/>
              <a:gd name="connsiteX43" fmla="*/ 741621 w 6886274"/>
              <a:gd name="connsiteY43" fmla="*/ 608576 h 5025119"/>
              <a:gd name="connsiteX44" fmla="*/ 666430 w 6886274"/>
              <a:gd name="connsiteY44" fmla="*/ 553114 h 5025119"/>
              <a:gd name="connsiteX45" fmla="*/ 645585 w 6886274"/>
              <a:gd name="connsiteY45" fmla="*/ 547903 h 5025119"/>
              <a:gd name="connsiteX46" fmla="*/ 640002 w 6886274"/>
              <a:gd name="connsiteY46" fmla="*/ 570236 h 5025119"/>
              <a:gd name="connsiteX47" fmla="*/ 675736 w 6886274"/>
              <a:gd name="connsiteY47" fmla="*/ 628677 h 5025119"/>
              <a:gd name="connsiteX48" fmla="*/ 855896 w 6886274"/>
              <a:gd name="connsiteY48" fmla="*/ 786875 h 5025119"/>
              <a:gd name="connsiteX49" fmla="*/ 946348 w 6886274"/>
              <a:gd name="connsiteY49" fmla="*/ 877699 h 5025119"/>
              <a:gd name="connsiteX50" fmla="*/ 950442 w 6886274"/>
              <a:gd name="connsiteY50" fmla="*/ 899661 h 5025119"/>
              <a:gd name="connsiteX51" fmla="*/ 991760 w 6886274"/>
              <a:gd name="connsiteY51" fmla="*/ 937629 h 5025119"/>
              <a:gd name="connsiteX52" fmla="*/ 1018188 w 6886274"/>
              <a:gd name="connsiteY52" fmla="*/ 945445 h 5025119"/>
              <a:gd name="connsiteX53" fmla="*/ 1315601 w 6886274"/>
              <a:gd name="connsiteY53" fmla="*/ 1196329 h 5025119"/>
              <a:gd name="connsiteX54" fmla="*/ 1454443 w 6886274"/>
              <a:gd name="connsiteY54" fmla="*/ 1279709 h 5025119"/>
              <a:gd name="connsiteX55" fmla="*/ 1454443 w 6886274"/>
              <a:gd name="connsiteY55" fmla="*/ 1285665 h 5025119"/>
              <a:gd name="connsiteX56" fmla="*/ 1453327 w 6886274"/>
              <a:gd name="connsiteY56" fmla="*/ 1291993 h 5025119"/>
              <a:gd name="connsiteX57" fmla="*/ 1256416 w 6886274"/>
              <a:gd name="connsiteY57" fmla="*/ 1166923 h 5025119"/>
              <a:gd name="connsiteX58" fmla="*/ 745715 w 6886274"/>
              <a:gd name="connsiteY58" fmla="*/ 798786 h 5025119"/>
              <a:gd name="connsiteX59" fmla="*/ 592356 w 6886274"/>
              <a:gd name="connsiteY59" fmla="*/ 656966 h 5025119"/>
              <a:gd name="connsiteX60" fmla="*/ 485526 w 6886274"/>
              <a:gd name="connsiteY60" fmla="*/ 567259 h 5025119"/>
              <a:gd name="connsiteX61" fmla="*/ 430063 w 6886274"/>
              <a:gd name="connsiteY61" fmla="*/ 550136 h 5025119"/>
              <a:gd name="connsiteX62" fmla="*/ 408846 w 6886274"/>
              <a:gd name="connsiteY62" fmla="*/ 563164 h 5025119"/>
              <a:gd name="connsiteX63" fmla="*/ 421130 w 6886274"/>
              <a:gd name="connsiteY63" fmla="*/ 581403 h 5025119"/>
              <a:gd name="connsiteX64" fmla="*/ 426713 w 6886274"/>
              <a:gd name="connsiteY64" fmla="*/ 584009 h 5025119"/>
              <a:gd name="connsiteX65" fmla="*/ 487015 w 6886274"/>
              <a:gd name="connsiteY65" fmla="*/ 635005 h 5025119"/>
              <a:gd name="connsiteX66" fmla="*/ 487015 w 6886274"/>
              <a:gd name="connsiteY66" fmla="*/ 655105 h 5025119"/>
              <a:gd name="connsiteX67" fmla="*/ 497437 w 6886274"/>
              <a:gd name="connsiteY67" fmla="*/ 678183 h 5025119"/>
              <a:gd name="connsiteX68" fmla="*/ 539871 w 6886274"/>
              <a:gd name="connsiteY68" fmla="*/ 691584 h 5025119"/>
              <a:gd name="connsiteX69" fmla="*/ 485898 w 6886274"/>
              <a:gd name="connsiteY69" fmla="*/ 681906 h 5025119"/>
              <a:gd name="connsiteX70" fmla="*/ 410335 w 6886274"/>
              <a:gd name="connsiteY70" fmla="*/ 600387 h 5025119"/>
              <a:gd name="connsiteX71" fmla="*/ 397307 w 6886274"/>
              <a:gd name="connsiteY71" fmla="*/ 582892 h 5025119"/>
              <a:gd name="connsiteX72" fmla="*/ 363062 w 6886274"/>
              <a:gd name="connsiteY72" fmla="*/ 584009 h 5025119"/>
              <a:gd name="connsiteX73" fmla="*/ 334772 w 6886274"/>
              <a:gd name="connsiteY73" fmla="*/ 578426 h 5025119"/>
              <a:gd name="connsiteX74" fmla="*/ 281915 w 6886274"/>
              <a:gd name="connsiteY74" fmla="*/ 522219 h 5025119"/>
              <a:gd name="connsiteX75" fmla="*/ 263304 w 6886274"/>
              <a:gd name="connsiteY75" fmla="*/ 521846 h 5025119"/>
              <a:gd name="connsiteX76" fmla="*/ 263676 w 6886274"/>
              <a:gd name="connsiteY76" fmla="*/ 538225 h 5025119"/>
              <a:gd name="connsiteX77" fmla="*/ 275215 w 6886274"/>
              <a:gd name="connsiteY77" fmla="*/ 563164 h 5025119"/>
              <a:gd name="connsiteX78" fmla="*/ 271121 w 6886274"/>
              <a:gd name="connsiteY78" fmla="*/ 604854 h 5025119"/>
              <a:gd name="connsiteX79" fmla="*/ 274471 w 6886274"/>
              <a:gd name="connsiteY79" fmla="*/ 627560 h 5025119"/>
              <a:gd name="connsiteX80" fmla="*/ 319138 w 6886274"/>
              <a:gd name="connsiteY80" fmla="*/ 718012 h 5025119"/>
              <a:gd name="connsiteX81" fmla="*/ 326583 w 6886274"/>
              <a:gd name="connsiteY81" fmla="*/ 729551 h 5025119"/>
              <a:gd name="connsiteX82" fmla="*/ 349289 w 6886274"/>
              <a:gd name="connsiteY82" fmla="*/ 748163 h 5025119"/>
              <a:gd name="connsiteX83" fmla="*/ 528332 w 6886274"/>
              <a:gd name="connsiteY83" fmla="*/ 1007608 h 5025119"/>
              <a:gd name="connsiteX84" fmla="*/ 766932 w 6886274"/>
              <a:gd name="connsiteY84" fmla="*/ 1222758 h 5025119"/>
              <a:gd name="connsiteX85" fmla="*/ 681319 w 6886274"/>
              <a:gd name="connsiteY85" fmla="*/ 1190746 h 5025119"/>
              <a:gd name="connsiteX86" fmla="*/ 469520 w 6886274"/>
              <a:gd name="connsiteY86" fmla="*/ 1032920 h 5025119"/>
              <a:gd name="connsiteX87" fmla="*/ 325466 w 6886274"/>
              <a:gd name="connsiteY87" fmla="*/ 917900 h 5025119"/>
              <a:gd name="connsiteX88" fmla="*/ 312066 w 6886274"/>
              <a:gd name="connsiteY88" fmla="*/ 903383 h 5025119"/>
              <a:gd name="connsiteX89" fmla="*/ 296805 w 6886274"/>
              <a:gd name="connsiteY89" fmla="*/ 895566 h 5025119"/>
              <a:gd name="connsiteX90" fmla="*/ 288243 w 6886274"/>
              <a:gd name="connsiteY90" fmla="*/ 910828 h 5025119"/>
              <a:gd name="connsiteX91" fmla="*/ 309460 w 6886274"/>
              <a:gd name="connsiteY91" fmla="*/ 971129 h 5025119"/>
              <a:gd name="connsiteX92" fmla="*/ 407729 w 6886274"/>
              <a:gd name="connsiteY92" fmla="*/ 1062698 h 5025119"/>
              <a:gd name="connsiteX93" fmla="*/ 544338 w 6886274"/>
              <a:gd name="connsiteY93" fmla="*/ 1189257 h 5025119"/>
              <a:gd name="connsiteX94" fmla="*/ 454630 w 6886274"/>
              <a:gd name="connsiteY94" fmla="*/ 1120766 h 5025119"/>
              <a:gd name="connsiteX95" fmla="*/ 385396 w 6886274"/>
              <a:gd name="connsiteY95" fmla="*/ 1070515 h 5025119"/>
              <a:gd name="connsiteX96" fmla="*/ 366040 w 6886274"/>
              <a:gd name="connsiteY96" fmla="*/ 1067537 h 5025119"/>
              <a:gd name="connsiteX97" fmla="*/ 361573 w 6886274"/>
              <a:gd name="connsiteY97" fmla="*/ 1086149 h 5025119"/>
              <a:gd name="connsiteX98" fmla="*/ 402146 w 6886274"/>
              <a:gd name="connsiteY98" fmla="*/ 1152778 h 5025119"/>
              <a:gd name="connsiteX99" fmla="*/ 475475 w 6886274"/>
              <a:gd name="connsiteY99" fmla="*/ 1218663 h 5025119"/>
              <a:gd name="connsiteX100" fmla="*/ 393957 w 6886274"/>
              <a:gd name="connsiteY100" fmla="*/ 1201913 h 5025119"/>
              <a:gd name="connsiteX101" fmla="*/ 460586 w 6886274"/>
              <a:gd name="connsiteY101" fmla="*/ 1260353 h 5025119"/>
              <a:gd name="connsiteX102" fmla="*/ 561089 w 6886274"/>
              <a:gd name="connsiteY102" fmla="*/ 1291993 h 5025119"/>
              <a:gd name="connsiteX103" fmla="*/ 602034 w 6886274"/>
              <a:gd name="connsiteY103" fmla="*/ 1328843 h 5025119"/>
              <a:gd name="connsiteX104" fmla="*/ 641863 w 6886274"/>
              <a:gd name="connsiteY104" fmla="*/ 1368672 h 5025119"/>
              <a:gd name="connsiteX105" fmla="*/ 651541 w 6886274"/>
              <a:gd name="connsiteY105" fmla="*/ 1404406 h 5025119"/>
              <a:gd name="connsiteX106" fmla="*/ 688392 w 6886274"/>
              <a:gd name="connsiteY106" fmla="*/ 1457263 h 5025119"/>
              <a:gd name="connsiteX107" fmla="*/ 692486 w 6886274"/>
              <a:gd name="connsiteY107" fmla="*/ 1458008 h 5025119"/>
              <a:gd name="connsiteX108" fmla="*/ 719287 w 6886274"/>
              <a:gd name="connsiteY108" fmla="*/ 1485181 h 5025119"/>
              <a:gd name="connsiteX109" fmla="*/ 745343 w 6886274"/>
              <a:gd name="connsiteY109" fmla="*/ 1512353 h 5025119"/>
              <a:gd name="connsiteX110" fmla="*/ 750926 w 6886274"/>
              <a:gd name="connsiteY110" fmla="*/ 1516448 h 5025119"/>
              <a:gd name="connsiteX111" fmla="*/ 890141 w 6886274"/>
              <a:gd name="connsiteY111" fmla="*/ 1685813 h 5025119"/>
              <a:gd name="connsiteX112" fmla="*/ 899074 w 6886274"/>
              <a:gd name="connsiteY112" fmla="*/ 1693630 h 5025119"/>
              <a:gd name="connsiteX113" fmla="*/ 605012 w 6886274"/>
              <a:gd name="connsiteY113" fmla="*/ 1669435 h 5025119"/>
              <a:gd name="connsiteX114" fmla="*/ 229431 w 6886274"/>
              <a:gd name="connsiteY114" fmla="*/ 1545110 h 5025119"/>
              <a:gd name="connsiteX115" fmla="*/ 251765 w 6886274"/>
              <a:gd name="connsiteY115" fmla="*/ 1614717 h 5025119"/>
              <a:gd name="connsiteX116" fmla="*/ 237992 w 6886274"/>
              <a:gd name="connsiteY116" fmla="*/ 1675391 h 5025119"/>
              <a:gd name="connsiteX117" fmla="*/ 232781 w 6886274"/>
              <a:gd name="connsiteY117" fmla="*/ 1807160 h 5025119"/>
              <a:gd name="connsiteX118" fmla="*/ 236131 w 6886274"/>
              <a:gd name="connsiteY118" fmla="*/ 1828750 h 5025119"/>
              <a:gd name="connsiteX119" fmla="*/ 152007 w 6886274"/>
              <a:gd name="connsiteY119" fmla="*/ 1842150 h 5025119"/>
              <a:gd name="connsiteX120" fmla="*/ 653030 w 6886274"/>
              <a:gd name="connsiteY120" fmla="*/ 2213265 h 5025119"/>
              <a:gd name="connsiteX121" fmla="*/ 318394 w 6886274"/>
              <a:gd name="connsiteY121" fmla="*/ 2143285 h 5025119"/>
              <a:gd name="connsiteX122" fmla="*/ 272982 w 6886274"/>
              <a:gd name="connsiteY122" fmla="*/ 2258305 h 5025119"/>
              <a:gd name="connsiteX123" fmla="*/ 430435 w 6886274"/>
              <a:gd name="connsiteY123" fmla="*/ 2360668 h 5025119"/>
              <a:gd name="connsiteX124" fmla="*/ 488876 w 6886274"/>
              <a:gd name="connsiteY124" fmla="*/ 2563162 h 5025119"/>
              <a:gd name="connsiteX125" fmla="*/ 460586 w 6886274"/>
              <a:gd name="connsiteY125" fmla="*/ 2748533 h 5025119"/>
              <a:gd name="connsiteX126" fmla="*/ 393212 w 6886274"/>
              <a:gd name="connsiteY126" fmla="*/ 2807345 h 5025119"/>
              <a:gd name="connsiteX127" fmla="*/ 295688 w 6886274"/>
              <a:gd name="connsiteY127" fmla="*/ 2913059 h 5025119"/>
              <a:gd name="connsiteX128" fmla="*/ 235386 w 6886274"/>
              <a:gd name="connsiteY128" fmla="*/ 2978572 h 5025119"/>
              <a:gd name="connsiteX129" fmla="*/ 25448 w 6886274"/>
              <a:gd name="connsiteY129" fmla="*/ 2952888 h 5025119"/>
              <a:gd name="connsiteX130" fmla="*/ 305738 w 6886274"/>
              <a:gd name="connsiteY130" fmla="*/ 3119275 h 5025119"/>
              <a:gd name="connsiteX131" fmla="*/ 79049 w 6886274"/>
              <a:gd name="connsiteY131" fmla="*/ 3098430 h 5025119"/>
              <a:gd name="connsiteX132" fmla="*/ 4975 w 6886274"/>
              <a:gd name="connsiteY132" fmla="*/ 3109969 h 5025119"/>
              <a:gd name="connsiteX133" fmla="*/ 47037 w 6886274"/>
              <a:gd name="connsiteY133" fmla="*/ 3163943 h 5025119"/>
              <a:gd name="connsiteX134" fmla="*/ 213425 w 6886274"/>
              <a:gd name="connsiteY134" fmla="*/ 3255139 h 5025119"/>
              <a:gd name="connsiteX135" fmla="*/ 556622 w 6886274"/>
              <a:gd name="connsiteY135" fmla="*/ 3502301 h 5025119"/>
              <a:gd name="connsiteX136" fmla="*/ 224592 w 6886274"/>
              <a:gd name="connsiteY136" fmla="*/ 3388771 h 5025119"/>
              <a:gd name="connsiteX137" fmla="*/ 574861 w 6886274"/>
              <a:gd name="connsiteY137" fmla="*/ 3643004 h 5025119"/>
              <a:gd name="connsiteX138" fmla="*/ 652657 w 6886274"/>
              <a:gd name="connsiteY138" fmla="*/ 3727501 h 5025119"/>
              <a:gd name="connsiteX139" fmla="*/ 810111 w 6886274"/>
              <a:gd name="connsiteY139" fmla="*/ 3937067 h 5025119"/>
              <a:gd name="connsiteX140" fmla="*/ 802294 w 6886274"/>
              <a:gd name="connsiteY140" fmla="*/ 3960890 h 5025119"/>
              <a:gd name="connsiteX141" fmla="*/ 620646 w 6886274"/>
              <a:gd name="connsiteY141" fmla="*/ 3927017 h 5025119"/>
              <a:gd name="connsiteX142" fmla="*/ 856268 w 6886274"/>
              <a:gd name="connsiteY142" fmla="*/ 4103082 h 5025119"/>
              <a:gd name="connsiteX143" fmla="*/ 1099707 w 6886274"/>
              <a:gd name="connsiteY143" fmla="*/ 4238574 h 5025119"/>
              <a:gd name="connsiteX144" fmla="*/ 926992 w 6886274"/>
              <a:gd name="connsiteY144" fmla="*/ 4218102 h 5025119"/>
              <a:gd name="connsiteX145" fmla="*/ 689508 w 6886274"/>
              <a:gd name="connsiteY145" fmla="*/ 4140677 h 5025119"/>
              <a:gd name="connsiteX146" fmla="*/ 606873 w 6886274"/>
              <a:gd name="connsiteY146" fmla="*/ 4169711 h 5025119"/>
              <a:gd name="connsiteX147" fmla="*/ 831701 w 6886274"/>
              <a:gd name="connsiteY147" fmla="*/ 4297759 h 5025119"/>
              <a:gd name="connsiteX148" fmla="*/ 960493 w 6886274"/>
              <a:gd name="connsiteY148" fmla="*/ 4356944 h 5025119"/>
              <a:gd name="connsiteX149" fmla="*/ 1012233 w 6886274"/>
              <a:gd name="connsiteY149" fmla="*/ 4402356 h 5025119"/>
              <a:gd name="connsiteX150" fmla="*/ 1159636 w 6886274"/>
              <a:gd name="connsiteY150" fmla="*/ 4564276 h 5025119"/>
              <a:gd name="connsiteX151" fmla="*/ 1592169 w 6886274"/>
              <a:gd name="connsiteY151" fmla="*/ 4741458 h 5025119"/>
              <a:gd name="connsiteX152" fmla="*/ 3110499 w 6886274"/>
              <a:gd name="connsiteY152" fmla="*/ 5032171 h 5025119"/>
              <a:gd name="connsiteX153" fmla="*/ 6033630 w 6886274"/>
              <a:gd name="connsiteY153" fmla="*/ 4091915 h 5025119"/>
              <a:gd name="connsiteX154" fmla="*/ 6180661 w 6886274"/>
              <a:gd name="connsiteY154" fmla="*/ 3957912 h 5025119"/>
              <a:gd name="connsiteX155" fmla="*/ 6305359 w 6886274"/>
              <a:gd name="connsiteY155" fmla="*/ 3837309 h 5025119"/>
              <a:gd name="connsiteX156" fmla="*/ 6240218 w 6886274"/>
              <a:gd name="connsiteY156" fmla="*/ 3796364 h 5025119"/>
              <a:gd name="connsiteX157" fmla="*/ 6328437 w 6886274"/>
              <a:gd name="connsiteY157" fmla="*/ 3681344 h 5025119"/>
              <a:gd name="connsiteX158" fmla="*/ 6608355 w 6886274"/>
              <a:gd name="connsiteY158" fmla="*/ 3326236 h 5025119"/>
              <a:gd name="connsiteX159" fmla="*/ 6731191 w 6886274"/>
              <a:gd name="connsiteY159" fmla="*/ 3248067 h 5025119"/>
              <a:gd name="connsiteX160" fmla="*/ 6880456 w 6886274"/>
              <a:gd name="connsiteY160" fmla="*/ 3051529 h 5025119"/>
              <a:gd name="connsiteX161" fmla="*/ 6901673 w 6886274"/>
              <a:gd name="connsiteY161" fmla="*/ 2763795 h 5025119"/>
              <a:gd name="connsiteX162" fmla="*/ 6871150 w 6886274"/>
              <a:gd name="connsiteY162" fmla="*/ 2948421 h 5025119"/>
              <a:gd name="connsiteX163" fmla="*/ 6848444 w 6886274"/>
              <a:gd name="connsiteY163" fmla="*/ 2890353 h 5025119"/>
              <a:gd name="connsiteX164" fmla="*/ 6878223 w 6886274"/>
              <a:gd name="connsiteY164" fmla="*/ 2873230 h 5025119"/>
              <a:gd name="connsiteX165" fmla="*/ 6762459 w 6886274"/>
              <a:gd name="connsiteY165" fmla="*/ 2568745 h 5025119"/>
              <a:gd name="connsiteX166" fmla="*/ 6673123 w 6886274"/>
              <a:gd name="connsiteY166" fmla="*/ 2451493 h 5025119"/>
              <a:gd name="connsiteX167" fmla="*/ 6662700 w 6886274"/>
              <a:gd name="connsiteY167" fmla="*/ 2346896 h 5025119"/>
              <a:gd name="connsiteX168" fmla="*/ 6487752 w 6886274"/>
              <a:gd name="connsiteY168" fmla="*/ 2285105 h 5025119"/>
              <a:gd name="connsiteX169" fmla="*/ 6652278 w 6886274"/>
              <a:gd name="connsiteY169" fmla="*/ 2063628 h 5025119"/>
              <a:gd name="connsiteX170" fmla="*/ 6668656 w 6886274"/>
              <a:gd name="connsiteY170" fmla="*/ 2017843 h 5025119"/>
              <a:gd name="connsiteX171" fmla="*/ 6570015 w 6886274"/>
              <a:gd name="connsiteY171" fmla="*/ 1854062 h 5025119"/>
              <a:gd name="connsiteX172" fmla="*/ 6554009 w 6886274"/>
              <a:gd name="connsiteY172" fmla="*/ 1827633 h 5025119"/>
              <a:gd name="connsiteX173" fmla="*/ 6517531 w 6886274"/>
              <a:gd name="connsiteY173" fmla="*/ 1775149 h 5025119"/>
              <a:gd name="connsiteX174" fmla="*/ 6412934 w 6886274"/>
              <a:gd name="connsiteY174" fmla="*/ 1762493 h 5025119"/>
              <a:gd name="connsiteX175" fmla="*/ 6467279 w 6886274"/>
              <a:gd name="connsiteY175" fmla="*/ 1725642 h 5025119"/>
              <a:gd name="connsiteX176" fmla="*/ 6572621 w 6886274"/>
              <a:gd name="connsiteY176" fmla="*/ 1600200 h 5025119"/>
              <a:gd name="connsiteX177" fmla="*/ 6502641 w 6886274"/>
              <a:gd name="connsiteY177" fmla="*/ 1480341 h 5025119"/>
              <a:gd name="connsiteX178" fmla="*/ 6481796 w 6886274"/>
              <a:gd name="connsiteY178" fmla="*/ 1461358 h 5025119"/>
              <a:gd name="connsiteX179" fmla="*/ 6509713 w 6886274"/>
              <a:gd name="connsiteY179" fmla="*/ 1436418 h 5025119"/>
              <a:gd name="connsiteX180" fmla="*/ 6567037 w 6886274"/>
              <a:gd name="connsiteY180" fmla="*/ 1348199 h 5025119"/>
              <a:gd name="connsiteX181" fmla="*/ 6596816 w 6886274"/>
              <a:gd name="connsiteY181" fmla="*/ 1286781 h 5025119"/>
              <a:gd name="connsiteX182" fmla="*/ 6632178 w 6886274"/>
              <a:gd name="connsiteY182" fmla="*/ 1261842 h 5025119"/>
              <a:gd name="connsiteX183" fmla="*/ 6639994 w 6886274"/>
              <a:gd name="connsiteY183" fmla="*/ 1240625 h 5025119"/>
              <a:gd name="connsiteX184" fmla="*/ 6622127 w 6886274"/>
              <a:gd name="connsiteY184" fmla="*/ 1136400 h 5025119"/>
              <a:gd name="connsiteX185" fmla="*/ 6612077 w 6886274"/>
              <a:gd name="connsiteY185" fmla="*/ 1109599 h 5025119"/>
              <a:gd name="connsiteX186" fmla="*/ 6531675 w 6886274"/>
              <a:gd name="connsiteY186" fmla="*/ 1009469 h 5025119"/>
              <a:gd name="connsiteX187" fmla="*/ 6456113 w 6886274"/>
              <a:gd name="connsiteY187" fmla="*/ 845315 h 5025119"/>
              <a:gd name="connsiteX188" fmla="*/ 6440851 w 6886274"/>
              <a:gd name="connsiteY188" fmla="*/ 739229 h 5025119"/>
              <a:gd name="connsiteX189" fmla="*/ 6434523 w 6886274"/>
              <a:gd name="connsiteY189" fmla="*/ 715034 h 5025119"/>
              <a:gd name="connsiteX190" fmla="*/ 6432290 w 6886274"/>
              <a:gd name="connsiteY190" fmla="*/ 617510 h 5025119"/>
              <a:gd name="connsiteX191" fmla="*/ 6416284 w 6886274"/>
              <a:gd name="connsiteY191" fmla="*/ 595176 h 5025119"/>
              <a:gd name="connsiteX192" fmla="*/ 6267763 w 6886274"/>
              <a:gd name="connsiteY192" fmla="*/ 591826 h 5025119"/>
              <a:gd name="connsiteX193" fmla="*/ 6236496 w 6886274"/>
              <a:gd name="connsiteY193" fmla="*/ 521102 h 5025119"/>
              <a:gd name="connsiteX194" fmla="*/ 6257341 w 6886274"/>
              <a:gd name="connsiteY194" fmla="*/ 487229 h 5025119"/>
              <a:gd name="connsiteX195" fmla="*/ 6248780 w 6886274"/>
              <a:gd name="connsiteY195" fmla="*/ 465267 h 5025119"/>
              <a:gd name="connsiteX196" fmla="*/ 6226818 w 6886274"/>
              <a:gd name="connsiteY196" fmla="*/ 473456 h 5025119"/>
              <a:gd name="connsiteX197" fmla="*/ 6115149 w 6886274"/>
              <a:gd name="connsiteY197" fmla="*/ 551625 h 5025119"/>
              <a:gd name="connsiteX198" fmla="*/ 5951739 w 6886274"/>
              <a:gd name="connsiteY198" fmla="*/ 659944 h 5025119"/>
              <a:gd name="connsiteX199" fmla="*/ 5917122 w 6886274"/>
              <a:gd name="connsiteY199" fmla="*/ 644310 h 5025119"/>
              <a:gd name="connsiteX200" fmla="*/ 5890694 w 6886274"/>
              <a:gd name="connsiteY200" fmla="*/ 630538 h 5025119"/>
              <a:gd name="connsiteX201" fmla="*/ 5837464 w 6886274"/>
              <a:gd name="connsiteY201" fmla="*/ 646916 h 5025119"/>
              <a:gd name="connsiteX202" fmla="*/ 5809175 w 6886274"/>
              <a:gd name="connsiteY202" fmla="*/ 683395 h 5025119"/>
              <a:gd name="connsiteX203" fmla="*/ 5815503 w 6886274"/>
              <a:gd name="connsiteY203" fmla="*/ 698656 h 5025119"/>
              <a:gd name="connsiteX204" fmla="*/ 5746268 w 6886274"/>
              <a:gd name="connsiteY204" fmla="*/ 667389 h 5025119"/>
              <a:gd name="connsiteX205" fmla="*/ 5458905 w 6886274"/>
              <a:gd name="connsiteY205" fmla="*/ 754119 h 5025119"/>
              <a:gd name="connsiteX206" fmla="*/ 885302 w 6886274"/>
              <a:gd name="connsiteY206" fmla="*/ 1333310 h 5025119"/>
              <a:gd name="connsiteX207" fmla="*/ 862596 w 6886274"/>
              <a:gd name="connsiteY207" fmla="*/ 1314326 h 5025119"/>
              <a:gd name="connsiteX208" fmla="*/ 866318 w 6886274"/>
              <a:gd name="connsiteY208" fmla="*/ 1309860 h 5025119"/>
              <a:gd name="connsiteX209" fmla="*/ 912103 w 6886274"/>
              <a:gd name="connsiteY209" fmla="*/ 1341127 h 5025119"/>
              <a:gd name="connsiteX210" fmla="*/ 885302 w 6886274"/>
              <a:gd name="connsiteY210" fmla="*/ 1333310 h 5025119"/>
              <a:gd name="connsiteX211" fmla="*/ 1140280 w 6886274"/>
              <a:gd name="connsiteY211" fmla="*/ 787619 h 5025119"/>
              <a:gd name="connsiteX212" fmla="*/ 1414987 w 6886274"/>
              <a:gd name="connsiteY212" fmla="*/ 975596 h 5025119"/>
              <a:gd name="connsiteX213" fmla="*/ 1410892 w 6886274"/>
              <a:gd name="connsiteY213" fmla="*/ 980063 h 5025119"/>
              <a:gd name="connsiteX214" fmla="*/ 1140280 w 6886274"/>
              <a:gd name="connsiteY214" fmla="*/ 787619 h 502511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</a:cxnLst>
            <a:rect l="l" t="t" r="r" b="b"/>
            <a:pathLst>
              <a:path w="6886274" h="5025119">
                <a:moveTo>
                  <a:pt x="5458905" y="754119"/>
                </a:moveTo>
                <a:cubicBezTo>
                  <a:pt x="5417216" y="775336"/>
                  <a:pt x="4594585" y="1111088"/>
                  <a:pt x="3455557" y="1027709"/>
                </a:cubicBezTo>
                <a:cubicBezTo>
                  <a:pt x="3415356" y="1024731"/>
                  <a:pt x="3377389" y="1022869"/>
                  <a:pt x="3338677" y="1021381"/>
                </a:cubicBezTo>
                <a:cubicBezTo>
                  <a:pt x="2996224" y="1006119"/>
                  <a:pt x="2660100" y="998674"/>
                  <a:pt x="2518280" y="980435"/>
                </a:cubicBezTo>
                <a:cubicBezTo>
                  <a:pt x="2407355" y="965918"/>
                  <a:pt x="1840075" y="843082"/>
                  <a:pt x="1673687" y="739229"/>
                </a:cubicBezTo>
                <a:cubicBezTo>
                  <a:pt x="1503578" y="632771"/>
                  <a:pt x="1343146" y="515146"/>
                  <a:pt x="1183459" y="397149"/>
                </a:cubicBezTo>
                <a:cubicBezTo>
                  <a:pt x="1114224" y="346153"/>
                  <a:pt x="1040522" y="299624"/>
                  <a:pt x="977987" y="241184"/>
                </a:cubicBezTo>
                <a:cubicBezTo>
                  <a:pt x="915453" y="182372"/>
                  <a:pt x="855896" y="121326"/>
                  <a:pt x="788150" y="66980"/>
                </a:cubicBezTo>
                <a:cubicBezTo>
                  <a:pt x="768794" y="51346"/>
                  <a:pt x="749438" y="34596"/>
                  <a:pt x="721148" y="31990"/>
                </a:cubicBezTo>
                <a:cubicBezTo>
                  <a:pt x="714820" y="31246"/>
                  <a:pt x="708120" y="31618"/>
                  <a:pt x="701792" y="32362"/>
                </a:cubicBezTo>
                <a:cubicBezTo>
                  <a:pt x="694720" y="33107"/>
                  <a:pt x="689136" y="36829"/>
                  <a:pt x="686530" y="43157"/>
                </a:cubicBezTo>
                <a:cubicBezTo>
                  <a:pt x="683925" y="50230"/>
                  <a:pt x="688392" y="54324"/>
                  <a:pt x="693603" y="58046"/>
                </a:cubicBezTo>
                <a:cubicBezTo>
                  <a:pt x="697325" y="60652"/>
                  <a:pt x="701047" y="64747"/>
                  <a:pt x="705886" y="65491"/>
                </a:cubicBezTo>
                <a:cubicBezTo>
                  <a:pt x="736782" y="69958"/>
                  <a:pt x="748321" y="92664"/>
                  <a:pt x="762838" y="112764"/>
                </a:cubicBezTo>
                <a:cubicBezTo>
                  <a:pt x="769166" y="121326"/>
                  <a:pt x="775866" y="128026"/>
                  <a:pt x="764327" y="140309"/>
                </a:cubicBezTo>
                <a:cubicBezTo>
                  <a:pt x="754277" y="151104"/>
                  <a:pt x="764699" y="156688"/>
                  <a:pt x="775121" y="159666"/>
                </a:cubicBezTo>
                <a:cubicBezTo>
                  <a:pt x="789638" y="163760"/>
                  <a:pt x="806761" y="163016"/>
                  <a:pt x="823139" y="176416"/>
                </a:cubicBezTo>
                <a:cubicBezTo>
                  <a:pt x="761721" y="177533"/>
                  <a:pt x="735665" y="142171"/>
                  <a:pt x="707748" y="109414"/>
                </a:cubicBezTo>
                <a:cubicBezTo>
                  <a:pt x="697325" y="97503"/>
                  <a:pt x="690253" y="83358"/>
                  <a:pt x="681319" y="69958"/>
                </a:cubicBezTo>
                <a:cubicBezTo>
                  <a:pt x="670152" y="53580"/>
                  <a:pt x="657124" y="52835"/>
                  <a:pt x="640746" y="67352"/>
                </a:cubicBezTo>
                <a:cubicBezTo>
                  <a:pt x="626229" y="80380"/>
                  <a:pt x="619157" y="79264"/>
                  <a:pt x="614318" y="61396"/>
                </a:cubicBezTo>
                <a:cubicBezTo>
                  <a:pt x="606873" y="33479"/>
                  <a:pt x="589750" y="13751"/>
                  <a:pt x="560716" y="3701"/>
                </a:cubicBezTo>
                <a:cubicBezTo>
                  <a:pt x="554388" y="1467"/>
                  <a:pt x="546572" y="-3372"/>
                  <a:pt x="540616" y="3701"/>
                </a:cubicBezTo>
                <a:cubicBezTo>
                  <a:pt x="535405" y="9656"/>
                  <a:pt x="539871" y="16729"/>
                  <a:pt x="543594" y="21940"/>
                </a:cubicBezTo>
                <a:cubicBezTo>
                  <a:pt x="550294" y="31246"/>
                  <a:pt x="556250" y="40179"/>
                  <a:pt x="558855" y="51346"/>
                </a:cubicBezTo>
                <a:cubicBezTo>
                  <a:pt x="560716" y="58791"/>
                  <a:pt x="562578" y="66980"/>
                  <a:pt x="557366" y="72563"/>
                </a:cubicBezTo>
                <a:cubicBezTo>
                  <a:pt x="535777" y="96386"/>
                  <a:pt x="551411" y="107553"/>
                  <a:pt x="570022" y="120209"/>
                </a:cubicBezTo>
                <a:cubicBezTo>
                  <a:pt x="595706" y="137332"/>
                  <a:pt x="605756" y="162643"/>
                  <a:pt x="599801" y="192794"/>
                </a:cubicBezTo>
                <a:cubicBezTo>
                  <a:pt x="597567" y="205078"/>
                  <a:pt x="599056" y="212522"/>
                  <a:pt x="614318" y="212150"/>
                </a:cubicBezTo>
                <a:cubicBezTo>
                  <a:pt x="620273" y="212150"/>
                  <a:pt x="621762" y="216245"/>
                  <a:pt x="623996" y="220711"/>
                </a:cubicBezTo>
                <a:cubicBezTo>
                  <a:pt x="671641" y="326053"/>
                  <a:pt x="740504" y="418366"/>
                  <a:pt x="821278" y="503235"/>
                </a:cubicBezTo>
                <a:cubicBezTo>
                  <a:pt x="886791" y="572098"/>
                  <a:pt x="959004" y="634260"/>
                  <a:pt x="1033822" y="694562"/>
                </a:cubicBezTo>
                <a:cubicBezTo>
                  <a:pt x="1036055" y="696423"/>
                  <a:pt x="1038289" y="698656"/>
                  <a:pt x="1039406" y="702378"/>
                </a:cubicBezTo>
                <a:cubicBezTo>
                  <a:pt x="1004044" y="694934"/>
                  <a:pt x="973521" y="679672"/>
                  <a:pt x="944114" y="662550"/>
                </a:cubicBezTo>
                <a:cubicBezTo>
                  <a:pt x="865946" y="617138"/>
                  <a:pt x="800061" y="558325"/>
                  <a:pt x="733432" y="500629"/>
                </a:cubicBezTo>
                <a:cubicBezTo>
                  <a:pt x="692858" y="465267"/>
                  <a:pt x="651169" y="431022"/>
                  <a:pt x="606501" y="399755"/>
                </a:cubicBezTo>
                <a:cubicBezTo>
                  <a:pt x="599056" y="394543"/>
                  <a:pt x="593845" y="387843"/>
                  <a:pt x="588634" y="381143"/>
                </a:cubicBezTo>
                <a:cubicBezTo>
                  <a:pt x="585656" y="377421"/>
                  <a:pt x="581934" y="374071"/>
                  <a:pt x="575978" y="375560"/>
                </a:cubicBezTo>
                <a:cubicBezTo>
                  <a:pt x="568533" y="377421"/>
                  <a:pt x="567789" y="383004"/>
                  <a:pt x="567044" y="388588"/>
                </a:cubicBezTo>
                <a:cubicBezTo>
                  <a:pt x="564811" y="406455"/>
                  <a:pt x="569650" y="422461"/>
                  <a:pt x="578956" y="437722"/>
                </a:cubicBezTo>
                <a:cubicBezTo>
                  <a:pt x="603151" y="476806"/>
                  <a:pt x="638885" y="506957"/>
                  <a:pt x="675736" y="535619"/>
                </a:cubicBezTo>
                <a:cubicBezTo>
                  <a:pt x="723381" y="572470"/>
                  <a:pt x="769538" y="610810"/>
                  <a:pt x="811600" y="652872"/>
                </a:cubicBezTo>
                <a:cubicBezTo>
                  <a:pt x="814578" y="655850"/>
                  <a:pt x="820161" y="657711"/>
                  <a:pt x="818300" y="666272"/>
                </a:cubicBezTo>
                <a:cubicBezTo>
                  <a:pt x="791872" y="646544"/>
                  <a:pt x="766932" y="627188"/>
                  <a:pt x="741621" y="608576"/>
                </a:cubicBezTo>
                <a:cubicBezTo>
                  <a:pt x="716681" y="589965"/>
                  <a:pt x="691369" y="571353"/>
                  <a:pt x="666430" y="553114"/>
                </a:cubicBezTo>
                <a:cubicBezTo>
                  <a:pt x="660474" y="548647"/>
                  <a:pt x="654146" y="542319"/>
                  <a:pt x="645585" y="547903"/>
                </a:cubicBezTo>
                <a:cubicBezTo>
                  <a:pt x="636652" y="553486"/>
                  <a:pt x="637768" y="562792"/>
                  <a:pt x="640002" y="570236"/>
                </a:cubicBezTo>
                <a:cubicBezTo>
                  <a:pt x="647074" y="592198"/>
                  <a:pt x="659358" y="611554"/>
                  <a:pt x="675736" y="628677"/>
                </a:cubicBezTo>
                <a:cubicBezTo>
                  <a:pt x="731570" y="685256"/>
                  <a:pt x="795966" y="734018"/>
                  <a:pt x="855896" y="786875"/>
                </a:cubicBezTo>
                <a:cubicBezTo>
                  <a:pt x="888280" y="815537"/>
                  <a:pt x="918058" y="846060"/>
                  <a:pt x="946348" y="877699"/>
                </a:cubicBezTo>
                <a:cubicBezTo>
                  <a:pt x="952676" y="884772"/>
                  <a:pt x="952303" y="891472"/>
                  <a:pt x="950442" y="899661"/>
                </a:cubicBezTo>
                <a:cubicBezTo>
                  <a:pt x="942998" y="932790"/>
                  <a:pt x="954537" y="943957"/>
                  <a:pt x="991760" y="937629"/>
                </a:cubicBezTo>
                <a:cubicBezTo>
                  <a:pt x="1003299" y="935767"/>
                  <a:pt x="1011116" y="937629"/>
                  <a:pt x="1018188" y="945445"/>
                </a:cubicBezTo>
                <a:cubicBezTo>
                  <a:pt x="1103802" y="1042225"/>
                  <a:pt x="1205048" y="1123744"/>
                  <a:pt x="1315601" y="1196329"/>
                </a:cubicBezTo>
                <a:cubicBezTo>
                  <a:pt x="1360641" y="1225735"/>
                  <a:pt x="1407170" y="1253653"/>
                  <a:pt x="1454443" y="1279709"/>
                </a:cubicBezTo>
                <a:cubicBezTo>
                  <a:pt x="1454443" y="1281570"/>
                  <a:pt x="1454443" y="1283804"/>
                  <a:pt x="1454443" y="1285665"/>
                </a:cubicBezTo>
                <a:cubicBezTo>
                  <a:pt x="1454071" y="1288270"/>
                  <a:pt x="1453699" y="1289759"/>
                  <a:pt x="1453327" y="1291993"/>
                </a:cubicBezTo>
                <a:cubicBezTo>
                  <a:pt x="1386697" y="1251792"/>
                  <a:pt x="1320812" y="1210474"/>
                  <a:pt x="1256416" y="1166923"/>
                </a:cubicBezTo>
                <a:cubicBezTo>
                  <a:pt x="1081840" y="1048926"/>
                  <a:pt x="915080" y="922367"/>
                  <a:pt x="745715" y="798786"/>
                </a:cubicBezTo>
                <a:cubicBezTo>
                  <a:pt x="688764" y="757096"/>
                  <a:pt x="643724" y="703867"/>
                  <a:pt x="592356" y="656966"/>
                </a:cubicBezTo>
                <a:cubicBezTo>
                  <a:pt x="558111" y="625699"/>
                  <a:pt x="525354" y="592943"/>
                  <a:pt x="485526" y="567259"/>
                </a:cubicBezTo>
                <a:cubicBezTo>
                  <a:pt x="469148" y="556836"/>
                  <a:pt x="452025" y="547530"/>
                  <a:pt x="430063" y="550136"/>
                </a:cubicBezTo>
                <a:cubicBezTo>
                  <a:pt x="421502" y="551253"/>
                  <a:pt x="411824" y="553486"/>
                  <a:pt x="408846" y="563164"/>
                </a:cubicBezTo>
                <a:cubicBezTo>
                  <a:pt x="406240" y="572842"/>
                  <a:pt x="414057" y="577309"/>
                  <a:pt x="421130" y="581403"/>
                </a:cubicBezTo>
                <a:cubicBezTo>
                  <a:pt x="422991" y="582520"/>
                  <a:pt x="424852" y="584009"/>
                  <a:pt x="426713" y="584009"/>
                </a:cubicBezTo>
                <a:cubicBezTo>
                  <a:pt x="462075" y="586242"/>
                  <a:pt x="470264" y="614532"/>
                  <a:pt x="487015" y="635005"/>
                </a:cubicBezTo>
                <a:cubicBezTo>
                  <a:pt x="492226" y="641333"/>
                  <a:pt x="492598" y="647661"/>
                  <a:pt x="487015" y="655105"/>
                </a:cubicBezTo>
                <a:cubicBezTo>
                  <a:pt x="476964" y="668505"/>
                  <a:pt x="484037" y="674461"/>
                  <a:pt x="497437" y="678183"/>
                </a:cubicBezTo>
                <a:cubicBezTo>
                  <a:pt x="510837" y="681906"/>
                  <a:pt x="525354" y="683022"/>
                  <a:pt x="539871" y="691584"/>
                </a:cubicBezTo>
                <a:cubicBezTo>
                  <a:pt x="516793" y="698656"/>
                  <a:pt x="500787" y="691212"/>
                  <a:pt x="485898" y="681906"/>
                </a:cubicBezTo>
                <a:cubicBezTo>
                  <a:pt x="452397" y="661433"/>
                  <a:pt x="430808" y="631282"/>
                  <a:pt x="410335" y="600387"/>
                </a:cubicBezTo>
                <a:cubicBezTo>
                  <a:pt x="406240" y="594431"/>
                  <a:pt x="402890" y="587731"/>
                  <a:pt x="397307" y="582892"/>
                </a:cubicBezTo>
                <a:cubicBezTo>
                  <a:pt x="386884" y="573214"/>
                  <a:pt x="375717" y="572098"/>
                  <a:pt x="363062" y="584009"/>
                </a:cubicBezTo>
                <a:cubicBezTo>
                  <a:pt x="346311" y="599643"/>
                  <a:pt x="340356" y="598526"/>
                  <a:pt x="334772" y="578426"/>
                </a:cubicBezTo>
                <a:cubicBezTo>
                  <a:pt x="327327" y="551253"/>
                  <a:pt x="310577" y="532269"/>
                  <a:pt x="281915" y="522219"/>
                </a:cubicBezTo>
                <a:cubicBezTo>
                  <a:pt x="275960" y="519985"/>
                  <a:pt x="269632" y="517007"/>
                  <a:pt x="263304" y="521846"/>
                </a:cubicBezTo>
                <a:cubicBezTo>
                  <a:pt x="256604" y="527430"/>
                  <a:pt x="261070" y="533013"/>
                  <a:pt x="263676" y="538225"/>
                </a:cubicBezTo>
                <a:cubicBezTo>
                  <a:pt x="267398" y="546414"/>
                  <a:pt x="271865" y="554603"/>
                  <a:pt x="275215" y="563164"/>
                </a:cubicBezTo>
                <a:cubicBezTo>
                  <a:pt x="281171" y="576937"/>
                  <a:pt x="282288" y="591454"/>
                  <a:pt x="271121" y="604854"/>
                </a:cubicBezTo>
                <a:cubicBezTo>
                  <a:pt x="262931" y="614532"/>
                  <a:pt x="263676" y="620860"/>
                  <a:pt x="274471" y="627560"/>
                </a:cubicBezTo>
                <a:cubicBezTo>
                  <a:pt x="309088" y="648405"/>
                  <a:pt x="331050" y="675578"/>
                  <a:pt x="319138" y="718012"/>
                </a:cubicBezTo>
                <a:cubicBezTo>
                  <a:pt x="317277" y="723968"/>
                  <a:pt x="319511" y="729924"/>
                  <a:pt x="326583" y="729551"/>
                </a:cubicBezTo>
                <a:cubicBezTo>
                  <a:pt x="342217" y="728435"/>
                  <a:pt x="344822" y="738113"/>
                  <a:pt x="349289" y="748163"/>
                </a:cubicBezTo>
                <a:cubicBezTo>
                  <a:pt x="392840" y="844571"/>
                  <a:pt x="455747" y="928695"/>
                  <a:pt x="528332" y="1007608"/>
                </a:cubicBezTo>
                <a:cubicBezTo>
                  <a:pt x="600173" y="1085777"/>
                  <a:pt x="680947" y="1155756"/>
                  <a:pt x="766932" y="1222758"/>
                </a:cubicBezTo>
                <a:cubicBezTo>
                  <a:pt x="742737" y="1220524"/>
                  <a:pt x="711470" y="1206752"/>
                  <a:pt x="681319" y="1190746"/>
                </a:cubicBezTo>
                <a:cubicBezTo>
                  <a:pt x="601662" y="1147939"/>
                  <a:pt x="536149" y="1089871"/>
                  <a:pt x="469520" y="1032920"/>
                </a:cubicBezTo>
                <a:cubicBezTo>
                  <a:pt x="422991" y="993091"/>
                  <a:pt x="377579" y="952146"/>
                  <a:pt x="325466" y="917900"/>
                </a:cubicBezTo>
                <a:cubicBezTo>
                  <a:pt x="319511" y="914178"/>
                  <a:pt x="315416" y="909339"/>
                  <a:pt x="312066" y="903383"/>
                </a:cubicBezTo>
                <a:cubicBezTo>
                  <a:pt x="309088" y="898172"/>
                  <a:pt x="304621" y="893333"/>
                  <a:pt x="296805" y="895566"/>
                </a:cubicBezTo>
                <a:cubicBezTo>
                  <a:pt x="288988" y="898172"/>
                  <a:pt x="288243" y="904872"/>
                  <a:pt x="288243" y="910828"/>
                </a:cubicBezTo>
                <a:cubicBezTo>
                  <a:pt x="289360" y="933162"/>
                  <a:pt x="295688" y="953262"/>
                  <a:pt x="309460" y="971129"/>
                </a:cubicBezTo>
                <a:cubicBezTo>
                  <a:pt x="336261" y="1006864"/>
                  <a:pt x="371995" y="1034781"/>
                  <a:pt x="407729" y="1062698"/>
                </a:cubicBezTo>
                <a:cubicBezTo>
                  <a:pt x="457236" y="1101038"/>
                  <a:pt x="503021" y="1142728"/>
                  <a:pt x="544338" y="1189257"/>
                </a:cubicBezTo>
                <a:cubicBezTo>
                  <a:pt x="514560" y="1166551"/>
                  <a:pt x="484781" y="1143472"/>
                  <a:pt x="454630" y="1120766"/>
                </a:cubicBezTo>
                <a:cubicBezTo>
                  <a:pt x="431924" y="1103644"/>
                  <a:pt x="408474" y="1087265"/>
                  <a:pt x="385396" y="1070515"/>
                </a:cubicBezTo>
                <a:cubicBezTo>
                  <a:pt x="379812" y="1066421"/>
                  <a:pt x="373856" y="1061954"/>
                  <a:pt x="366040" y="1067537"/>
                </a:cubicBezTo>
                <a:cubicBezTo>
                  <a:pt x="358967" y="1072376"/>
                  <a:pt x="360084" y="1079449"/>
                  <a:pt x="361573" y="1086149"/>
                </a:cubicBezTo>
                <a:cubicBezTo>
                  <a:pt x="367156" y="1112577"/>
                  <a:pt x="382790" y="1133794"/>
                  <a:pt x="402146" y="1152778"/>
                </a:cubicBezTo>
                <a:cubicBezTo>
                  <a:pt x="425596" y="1175484"/>
                  <a:pt x="450164" y="1197074"/>
                  <a:pt x="475475" y="1218663"/>
                </a:cubicBezTo>
                <a:cubicBezTo>
                  <a:pt x="448303" y="1212707"/>
                  <a:pt x="421130" y="1206752"/>
                  <a:pt x="393957" y="1201913"/>
                </a:cubicBezTo>
                <a:cubicBezTo>
                  <a:pt x="406240" y="1245091"/>
                  <a:pt x="434902" y="1253653"/>
                  <a:pt x="460586" y="1260353"/>
                </a:cubicBezTo>
                <a:cubicBezTo>
                  <a:pt x="495204" y="1268914"/>
                  <a:pt x="528332" y="1279709"/>
                  <a:pt x="561089" y="1291993"/>
                </a:cubicBezTo>
                <a:cubicBezTo>
                  <a:pt x="574861" y="1304276"/>
                  <a:pt x="588634" y="1316188"/>
                  <a:pt x="602034" y="1328843"/>
                </a:cubicBezTo>
                <a:cubicBezTo>
                  <a:pt x="615807" y="1341872"/>
                  <a:pt x="628835" y="1354900"/>
                  <a:pt x="641863" y="1368672"/>
                </a:cubicBezTo>
                <a:cubicBezTo>
                  <a:pt x="651169" y="1378722"/>
                  <a:pt x="662335" y="1387284"/>
                  <a:pt x="651541" y="1404406"/>
                </a:cubicBezTo>
                <a:cubicBezTo>
                  <a:pt x="646702" y="1412223"/>
                  <a:pt x="678341" y="1454658"/>
                  <a:pt x="688392" y="1457263"/>
                </a:cubicBezTo>
                <a:cubicBezTo>
                  <a:pt x="689881" y="1457635"/>
                  <a:pt x="691369" y="1458008"/>
                  <a:pt x="692486" y="1458008"/>
                </a:cubicBezTo>
                <a:cubicBezTo>
                  <a:pt x="714076" y="1456519"/>
                  <a:pt x="718915" y="1469175"/>
                  <a:pt x="719287" y="1485181"/>
                </a:cubicBezTo>
                <a:cubicBezTo>
                  <a:pt x="719659" y="1500814"/>
                  <a:pt x="715937" y="1520170"/>
                  <a:pt x="745343" y="1512353"/>
                </a:cubicBezTo>
                <a:cubicBezTo>
                  <a:pt x="748693" y="1511609"/>
                  <a:pt x="749438" y="1513842"/>
                  <a:pt x="750926" y="1516448"/>
                </a:cubicBezTo>
                <a:cubicBezTo>
                  <a:pt x="782938" y="1583077"/>
                  <a:pt x="836912" y="1634445"/>
                  <a:pt x="890141" y="1685813"/>
                </a:cubicBezTo>
                <a:cubicBezTo>
                  <a:pt x="893119" y="1688419"/>
                  <a:pt x="896097" y="1691024"/>
                  <a:pt x="899074" y="1693630"/>
                </a:cubicBezTo>
                <a:cubicBezTo>
                  <a:pt x="843240" y="1680602"/>
                  <a:pt x="658985" y="1663851"/>
                  <a:pt x="605012" y="1669435"/>
                </a:cubicBezTo>
                <a:cubicBezTo>
                  <a:pt x="556994" y="1674274"/>
                  <a:pt x="285638" y="1593128"/>
                  <a:pt x="229431" y="1545110"/>
                </a:cubicBezTo>
                <a:cubicBezTo>
                  <a:pt x="221614" y="1582705"/>
                  <a:pt x="238364" y="1597594"/>
                  <a:pt x="251765" y="1614717"/>
                </a:cubicBezTo>
                <a:cubicBezTo>
                  <a:pt x="270748" y="1638912"/>
                  <a:pt x="273726" y="1656035"/>
                  <a:pt x="237992" y="1675391"/>
                </a:cubicBezTo>
                <a:cubicBezTo>
                  <a:pt x="135628" y="1730481"/>
                  <a:pt x="136745" y="1732342"/>
                  <a:pt x="232781" y="1807160"/>
                </a:cubicBezTo>
                <a:cubicBezTo>
                  <a:pt x="237248" y="1810511"/>
                  <a:pt x="235014" y="1821305"/>
                  <a:pt x="236131" y="1828750"/>
                </a:cubicBezTo>
                <a:cubicBezTo>
                  <a:pt x="211191" y="1839917"/>
                  <a:pt x="181785" y="1810883"/>
                  <a:pt x="152007" y="1842150"/>
                </a:cubicBezTo>
                <a:cubicBezTo>
                  <a:pt x="280426" y="1979503"/>
                  <a:pt x="475848" y="2110157"/>
                  <a:pt x="653030" y="2213265"/>
                </a:cubicBezTo>
                <a:cubicBezTo>
                  <a:pt x="509721" y="2247138"/>
                  <a:pt x="423735" y="2128024"/>
                  <a:pt x="318394" y="2143285"/>
                </a:cubicBezTo>
                <a:cubicBezTo>
                  <a:pt x="265909" y="2180508"/>
                  <a:pt x="422246" y="2240810"/>
                  <a:pt x="272982" y="2258305"/>
                </a:cubicBezTo>
                <a:cubicBezTo>
                  <a:pt x="337750" y="2291061"/>
                  <a:pt x="385768" y="2323073"/>
                  <a:pt x="430435" y="2360668"/>
                </a:cubicBezTo>
                <a:cubicBezTo>
                  <a:pt x="509721" y="2428042"/>
                  <a:pt x="525354" y="2472710"/>
                  <a:pt x="488876" y="2563162"/>
                </a:cubicBezTo>
                <a:cubicBezTo>
                  <a:pt x="464681" y="2622719"/>
                  <a:pt x="429691" y="2677437"/>
                  <a:pt x="460586" y="2748533"/>
                </a:cubicBezTo>
                <a:cubicBezTo>
                  <a:pt x="481803" y="2797295"/>
                  <a:pt x="473614" y="2829307"/>
                  <a:pt x="393212" y="2807345"/>
                </a:cubicBezTo>
                <a:cubicBezTo>
                  <a:pt x="306483" y="2783895"/>
                  <a:pt x="273726" y="2827818"/>
                  <a:pt x="295688" y="2913059"/>
                </a:cubicBezTo>
                <a:cubicBezTo>
                  <a:pt x="309833" y="2967777"/>
                  <a:pt x="294943" y="2984900"/>
                  <a:pt x="235386" y="2978572"/>
                </a:cubicBezTo>
                <a:cubicBezTo>
                  <a:pt x="169501" y="2971499"/>
                  <a:pt x="106967" y="2935765"/>
                  <a:pt x="25448" y="2952888"/>
                </a:cubicBezTo>
                <a:cubicBezTo>
                  <a:pt x="90588" y="3052646"/>
                  <a:pt x="229803" y="3024356"/>
                  <a:pt x="305738" y="3119275"/>
                </a:cubicBezTo>
                <a:cubicBezTo>
                  <a:pt x="215286" y="3119647"/>
                  <a:pt x="146051" y="3119275"/>
                  <a:pt x="79049" y="3098430"/>
                </a:cubicBezTo>
                <a:cubicBezTo>
                  <a:pt x="51132" y="3089869"/>
                  <a:pt x="20609" y="3081308"/>
                  <a:pt x="4975" y="3109969"/>
                </a:cubicBezTo>
                <a:cubicBezTo>
                  <a:pt x="-13636" y="3144587"/>
                  <a:pt x="24331" y="3157615"/>
                  <a:pt x="47037" y="3163943"/>
                </a:cubicBezTo>
                <a:cubicBezTo>
                  <a:pt x="111061" y="3181438"/>
                  <a:pt x="160196" y="3222755"/>
                  <a:pt x="213425" y="3255139"/>
                </a:cubicBezTo>
                <a:cubicBezTo>
                  <a:pt x="329933" y="3326236"/>
                  <a:pt x="457981" y="3385420"/>
                  <a:pt x="556622" y="3502301"/>
                </a:cubicBezTo>
                <a:cubicBezTo>
                  <a:pt x="432669" y="3472523"/>
                  <a:pt x="339983" y="3402915"/>
                  <a:pt x="224592" y="3388771"/>
                </a:cubicBezTo>
                <a:cubicBezTo>
                  <a:pt x="324722" y="3495601"/>
                  <a:pt x="453142" y="3565208"/>
                  <a:pt x="574861" y="3643004"/>
                </a:cubicBezTo>
                <a:cubicBezTo>
                  <a:pt x="609479" y="3664966"/>
                  <a:pt x="644841" y="3679855"/>
                  <a:pt x="652657" y="3727501"/>
                </a:cubicBezTo>
                <a:cubicBezTo>
                  <a:pt x="667919" y="3819814"/>
                  <a:pt x="712959" y="3896494"/>
                  <a:pt x="810111" y="3937067"/>
                </a:cubicBezTo>
                <a:cubicBezTo>
                  <a:pt x="810856" y="3937439"/>
                  <a:pt x="805644" y="3951212"/>
                  <a:pt x="802294" y="3960890"/>
                </a:cubicBezTo>
                <a:cubicBezTo>
                  <a:pt x="743110" y="3963868"/>
                  <a:pt x="696581" y="3909149"/>
                  <a:pt x="620646" y="3927017"/>
                </a:cubicBezTo>
                <a:cubicBezTo>
                  <a:pt x="692858" y="4001091"/>
                  <a:pt x="753532" y="4067720"/>
                  <a:pt x="856268" y="4103082"/>
                </a:cubicBezTo>
                <a:cubicBezTo>
                  <a:pt x="938531" y="4131372"/>
                  <a:pt x="1040150" y="4147377"/>
                  <a:pt x="1099707" y="4238574"/>
                </a:cubicBezTo>
                <a:cubicBezTo>
                  <a:pt x="1030472" y="4256441"/>
                  <a:pt x="978732" y="4234107"/>
                  <a:pt x="926992" y="4218102"/>
                </a:cubicBezTo>
                <a:cubicBezTo>
                  <a:pt x="847334" y="4193534"/>
                  <a:pt x="769166" y="4165617"/>
                  <a:pt x="689508" y="4140677"/>
                </a:cubicBezTo>
                <a:cubicBezTo>
                  <a:pt x="659358" y="4131372"/>
                  <a:pt x="626229" y="4124299"/>
                  <a:pt x="606873" y="4169711"/>
                </a:cubicBezTo>
                <a:cubicBezTo>
                  <a:pt x="707748" y="4179389"/>
                  <a:pt x="768421" y="4240435"/>
                  <a:pt x="831701" y="4297759"/>
                </a:cubicBezTo>
                <a:cubicBezTo>
                  <a:pt x="867435" y="4330143"/>
                  <a:pt x="896469" y="4373322"/>
                  <a:pt x="960493" y="4356944"/>
                </a:cubicBezTo>
                <a:cubicBezTo>
                  <a:pt x="994366" y="4348382"/>
                  <a:pt x="1015955" y="4372578"/>
                  <a:pt x="1012233" y="4402356"/>
                </a:cubicBezTo>
                <a:cubicBezTo>
                  <a:pt x="999577" y="4507325"/>
                  <a:pt x="1078118" y="4544176"/>
                  <a:pt x="1159636" y="4564276"/>
                </a:cubicBezTo>
                <a:cubicBezTo>
                  <a:pt x="1313740" y="4602616"/>
                  <a:pt x="1442160" y="4692324"/>
                  <a:pt x="1592169" y="4741458"/>
                </a:cubicBezTo>
                <a:cubicBezTo>
                  <a:pt x="1738083" y="4789104"/>
                  <a:pt x="2833187" y="5010209"/>
                  <a:pt x="3110499" y="5032171"/>
                </a:cubicBezTo>
                <a:cubicBezTo>
                  <a:pt x="4807501" y="5166546"/>
                  <a:pt x="6028047" y="4106432"/>
                  <a:pt x="6033630" y="4091915"/>
                </a:cubicBezTo>
                <a:cubicBezTo>
                  <a:pt x="6059314" y="4023797"/>
                  <a:pt x="6122965" y="3994390"/>
                  <a:pt x="6180661" y="3957912"/>
                </a:cubicBezTo>
                <a:cubicBezTo>
                  <a:pt x="6230913" y="3925900"/>
                  <a:pt x="6284514" y="3892027"/>
                  <a:pt x="6305359" y="3837309"/>
                </a:cubicBezTo>
                <a:cubicBezTo>
                  <a:pt x="6332904" y="3764724"/>
                  <a:pt x="6254735" y="3824281"/>
                  <a:pt x="6240218" y="3796364"/>
                </a:cubicBezTo>
                <a:cubicBezTo>
                  <a:pt x="6269997" y="3758768"/>
                  <a:pt x="6316153" y="3724151"/>
                  <a:pt x="6328437" y="3681344"/>
                </a:cubicBezTo>
                <a:cubicBezTo>
                  <a:pt x="6372361" y="3526496"/>
                  <a:pt x="6466907" y="3413710"/>
                  <a:pt x="6608355" y="3326236"/>
                </a:cubicBezTo>
                <a:cubicBezTo>
                  <a:pt x="6648928" y="3300924"/>
                  <a:pt x="6675729" y="3255512"/>
                  <a:pt x="6731191" y="3248067"/>
                </a:cubicBezTo>
                <a:cubicBezTo>
                  <a:pt x="6854400" y="3232061"/>
                  <a:pt x="6815315" y="3106992"/>
                  <a:pt x="6880456" y="3051529"/>
                </a:cubicBezTo>
                <a:cubicBezTo>
                  <a:pt x="6892739" y="3041107"/>
                  <a:pt x="6903907" y="2777939"/>
                  <a:pt x="6901673" y="2763795"/>
                </a:cubicBezTo>
                <a:cubicBezTo>
                  <a:pt x="6898323" y="2743322"/>
                  <a:pt x="6883806" y="2966288"/>
                  <a:pt x="6871150" y="2948421"/>
                </a:cubicBezTo>
                <a:cubicBezTo>
                  <a:pt x="6858494" y="2930182"/>
                  <a:pt x="6839138" y="2914176"/>
                  <a:pt x="6848444" y="2890353"/>
                </a:cubicBezTo>
                <a:cubicBezTo>
                  <a:pt x="6852166" y="2880303"/>
                  <a:pt x="6849561" y="2846058"/>
                  <a:pt x="6878223" y="2873230"/>
                </a:cubicBezTo>
                <a:cubicBezTo>
                  <a:pt x="6956763" y="2946932"/>
                  <a:pt x="6870778" y="2578051"/>
                  <a:pt x="6762459" y="2568745"/>
                </a:cubicBezTo>
                <a:cubicBezTo>
                  <a:pt x="6801915" y="2465637"/>
                  <a:pt x="6801915" y="2465637"/>
                  <a:pt x="6673123" y="2451493"/>
                </a:cubicBezTo>
                <a:cubicBezTo>
                  <a:pt x="6722630" y="2385980"/>
                  <a:pt x="6722630" y="2369229"/>
                  <a:pt x="6662700" y="2346896"/>
                </a:cubicBezTo>
                <a:cubicBezTo>
                  <a:pt x="6605005" y="2325306"/>
                  <a:pt x="6540981" y="2318234"/>
                  <a:pt x="6487752" y="2285105"/>
                </a:cubicBezTo>
                <a:cubicBezTo>
                  <a:pt x="6536887" y="2201353"/>
                  <a:pt x="6550659" y="2104573"/>
                  <a:pt x="6652278" y="2063628"/>
                </a:cubicBezTo>
                <a:cubicBezTo>
                  <a:pt x="6668284" y="2057300"/>
                  <a:pt x="6679079" y="2031988"/>
                  <a:pt x="6668656" y="2017843"/>
                </a:cubicBezTo>
                <a:cubicBezTo>
                  <a:pt x="6631805" y="1965359"/>
                  <a:pt x="6684662" y="1864856"/>
                  <a:pt x="6570015" y="1854062"/>
                </a:cubicBezTo>
                <a:cubicBezTo>
                  <a:pt x="6555870" y="1852573"/>
                  <a:pt x="6542842" y="1842150"/>
                  <a:pt x="6554009" y="1827633"/>
                </a:cubicBezTo>
                <a:cubicBezTo>
                  <a:pt x="6592349" y="1778126"/>
                  <a:pt x="6545820" y="1781476"/>
                  <a:pt x="6517531" y="1775149"/>
                </a:cubicBezTo>
                <a:cubicBezTo>
                  <a:pt x="6483285" y="1767704"/>
                  <a:pt x="6444573" y="1789293"/>
                  <a:pt x="6412934" y="1762493"/>
                </a:cubicBezTo>
                <a:cubicBezTo>
                  <a:pt x="6420378" y="1734203"/>
                  <a:pt x="6447923" y="1734575"/>
                  <a:pt x="6467279" y="1725642"/>
                </a:cubicBezTo>
                <a:cubicBezTo>
                  <a:pt x="6523858" y="1699213"/>
                  <a:pt x="6570015" y="1667946"/>
                  <a:pt x="6572621" y="1600200"/>
                </a:cubicBezTo>
                <a:cubicBezTo>
                  <a:pt x="6574854" y="1545482"/>
                  <a:pt x="6580810" y="1497092"/>
                  <a:pt x="6502641" y="1480341"/>
                </a:cubicBezTo>
                <a:cubicBezTo>
                  <a:pt x="6490358" y="1477736"/>
                  <a:pt x="6484030" y="1470664"/>
                  <a:pt x="6481796" y="1461358"/>
                </a:cubicBezTo>
                <a:cubicBezTo>
                  <a:pt x="6490730" y="1452424"/>
                  <a:pt x="6499291" y="1443118"/>
                  <a:pt x="6509713" y="1436418"/>
                </a:cubicBezTo>
                <a:cubicBezTo>
                  <a:pt x="6544703" y="1414457"/>
                  <a:pt x="6556615" y="1382072"/>
                  <a:pt x="6567037" y="1348199"/>
                </a:cubicBezTo>
                <a:cubicBezTo>
                  <a:pt x="6573737" y="1326610"/>
                  <a:pt x="6581554" y="1305393"/>
                  <a:pt x="6596816" y="1286781"/>
                </a:cubicBezTo>
                <a:cubicBezTo>
                  <a:pt x="6606122" y="1275242"/>
                  <a:pt x="6617661" y="1266681"/>
                  <a:pt x="6632178" y="1261842"/>
                </a:cubicBezTo>
                <a:cubicBezTo>
                  <a:pt x="6644833" y="1257375"/>
                  <a:pt x="6648556" y="1251419"/>
                  <a:pt x="6639994" y="1240625"/>
                </a:cubicBezTo>
                <a:cubicBezTo>
                  <a:pt x="6615799" y="1209729"/>
                  <a:pt x="6606122" y="1175856"/>
                  <a:pt x="6622127" y="1136400"/>
                </a:cubicBezTo>
                <a:cubicBezTo>
                  <a:pt x="6626967" y="1124489"/>
                  <a:pt x="6623617" y="1114066"/>
                  <a:pt x="6612077" y="1109599"/>
                </a:cubicBezTo>
                <a:cubicBezTo>
                  <a:pt x="6564059" y="1090616"/>
                  <a:pt x="6552148" y="1046692"/>
                  <a:pt x="6531675" y="1009469"/>
                </a:cubicBezTo>
                <a:cubicBezTo>
                  <a:pt x="6502641" y="956612"/>
                  <a:pt x="6476213" y="902639"/>
                  <a:pt x="6456113" y="845315"/>
                </a:cubicBezTo>
                <a:cubicBezTo>
                  <a:pt x="6444201" y="811070"/>
                  <a:pt x="6432662" y="777197"/>
                  <a:pt x="6440851" y="739229"/>
                </a:cubicBezTo>
                <a:cubicBezTo>
                  <a:pt x="6442712" y="729924"/>
                  <a:pt x="6439362" y="722107"/>
                  <a:pt x="6434523" y="715034"/>
                </a:cubicBezTo>
                <a:cubicBezTo>
                  <a:pt x="6414050" y="684139"/>
                  <a:pt x="6416656" y="651383"/>
                  <a:pt x="6432290" y="617510"/>
                </a:cubicBezTo>
                <a:cubicBezTo>
                  <a:pt x="6441968" y="597037"/>
                  <a:pt x="6440851" y="594431"/>
                  <a:pt x="6416284" y="595176"/>
                </a:cubicBezTo>
                <a:cubicBezTo>
                  <a:pt x="6366405" y="596293"/>
                  <a:pt x="6316898" y="598154"/>
                  <a:pt x="6267763" y="591826"/>
                </a:cubicBezTo>
                <a:cubicBezTo>
                  <a:pt x="6212673" y="584753"/>
                  <a:pt x="6194806" y="568375"/>
                  <a:pt x="6236496" y="521102"/>
                </a:cubicBezTo>
                <a:cubicBezTo>
                  <a:pt x="6245430" y="511052"/>
                  <a:pt x="6253246" y="499885"/>
                  <a:pt x="6257341" y="487229"/>
                </a:cubicBezTo>
                <a:cubicBezTo>
                  <a:pt x="6260319" y="477179"/>
                  <a:pt x="6257713" y="470106"/>
                  <a:pt x="6248780" y="465267"/>
                </a:cubicBezTo>
                <a:cubicBezTo>
                  <a:pt x="6238357" y="459312"/>
                  <a:pt x="6232774" y="467501"/>
                  <a:pt x="6226818" y="473456"/>
                </a:cubicBezTo>
                <a:cubicBezTo>
                  <a:pt x="6194434" y="505468"/>
                  <a:pt x="6153861" y="527430"/>
                  <a:pt x="6115149" y="551625"/>
                </a:cubicBezTo>
                <a:cubicBezTo>
                  <a:pt x="6059686" y="586615"/>
                  <a:pt x="6001246" y="617510"/>
                  <a:pt x="5951739" y="659944"/>
                </a:cubicBezTo>
                <a:cubicBezTo>
                  <a:pt x="5939084" y="670739"/>
                  <a:pt x="5918611" y="662550"/>
                  <a:pt x="5917122" y="644310"/>
                </a:cubicBezTo>
                <a:cubicBezTo>
                  <a:pt x="5915633" y="626071"/>
                  <a:pt x="5905583" y="626071"/>
                  <a:pt x="5890694" y="630538"/>
                </a:cubicBezTo>
                <a:cubicBezTo>
                  <a:pt x="5872826" y="635749"/>
                  <a:pt x="5854959" y="640960"/>
                  <a:pt x="5837464" y="646916"/>
                </a:cubicBezTo>
                <a:cubicBezTo>
                  <a:pt x="5819225" y="653244"/>
                  <a:pt x="5811036" y="666644"/>
                  <a:pt x="5809175" y="683395"/>
                </a:cubicBezTo>
                <a:cubicBezTo>
                  <a:pt x="5808430" y="689723"/>
                  <a:pt x="5808803" y="697539"/>
                  <a:pt x="5815503" y="698656"/>
                </a:cubicBezTo>
                <a:cubicBezTo>
                  <a:pt x="5843048" y="703495"/>
                  <a:pt x="5755201" y="682278"/>
                  <a:pt x="5746268" y="667389"/>
                </a:cubicBezTo>
                <a:cubicBezTo>
                  <a:pt x="5745896" y="666644"/>
                  <a:pt x="5525907" y="720246"/>
                  <a:pt x="5458905" y="754119"/>
                </a:cubicBezTo>
                <a:close/>
                <a:moveTo>
                  <a:pt x="885302" y="1333310"/>
                </a:moveTo>
                <a:cubicBezTo>
                  <a:pt x="877857" y="1326982"/>
                  <a:pt x="870040" y="1321027"/>
                  <a:pt x="862596" y="1314326"/>
                </a:cubicBezTo>
                <a:cubicBezTo>
                  <a:pt x="863712" y="1312837"/>
                  <a:pt x="865201" y="1311349"/>
                  <a:pt x="866318" y="1309860"/>
                </a:cubicBezTo>
                <a:cubicBezTo>
                  <a:pt x="881580" y="1320282"/>
                  <a:pt x="896841" y="1330705"/>
                  <a:pt x="912103" y="1341127"/>
                </a:cubicBezTo>
                <a:cubicBezTo>
                  <a:pt x="903541" y="1338522"/>
                  <a:pt x="894235" y="1335916"/>
                  <a:pt x="885302" y="1333310"/>
                </a:cubicBezTo>
                <a:close/>
                <a:moveTo>
                  <a:pt x="1140280" y="787619"/>
                </a:moveTo>
                <a:cubicBezTo>
                  <a:pt x="1231849" y="850154"/>
                  <a:pt x="1323418" y="913061"/>
                  <a:pt x="1414987" y="975596"/>
                </a:cubicBezTo>
                <a:cubicBezTo>
                  <a:pt x="1413498" y="977085"/>
                  <a:pt x="1412381" y="978574"/>
                  <a:pt x="1410892" y="980063"/>
                </a:cubicBezTo>
                <a:cubicBezTo>
                  <a:pt x="1310390" y="927206"/>
                  <a:pt x="1215471" y="868394"/>
                  <a:pt x="1140280" y="787619"/>
                </a:cubicBezTo>
                <a:close/>
              </a:path>
            </a:pathLst>
          </a:custGeom>
          <a:solidFill>
            <a:schemeClr val="accent1">
              <a:alpha val="20000"/>
            </a:schemeClr>
          </a:solidFill>
          <a:ln w="32707" cap="flat">
            <a:noFill/>
            <a:prstDash val="solid"/>
            <a:miter/>
          </a:ln>
        </p:spPr>
        <p:txBody>
          <a:bodyPr rtlCol="0" anchor="ctr"/>
          <a:lstStyle/>
          <a:p>
            <a:endParaRPr lang="en-US" sz="180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92825A4-268B-4301-8432-F9E9B2661AE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43784" y="1572768"/>
            <a:ext cx="6501384" cy="4096512"/>
          </a:xfrm>
        </p:spPr>
        <p:txBody>
          <a:bodyPr>
            <a:normAutofit/>
          </a:bodyPr>
          <a:lstStyle>
            <a:lvl1pPr algn="ctr">
              <a:defRPr sz="4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A33410F-8A90-47F6-BD39-4AC0E43583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305578-BA6C-4206-9B92-FEB61FDDD643}" type="datetime1">
              <a:rPr lang="en-US" smtClean="0"/>
              <a:t>1/22/2024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1D819A9-F8DE-4E5C-AFC3-E0105ACD829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Object Oriented Programming-Spring 24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4E25320-A12F-4F3E-8EC9-11292FF36B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845F5A-061D-4825-9AE9-D7794091C6C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9922702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1C9756B-145D-4BA8-AA43-904C1E7CB86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797DA8-0B45-4C7A-93DE-D7D511868808}" type="datetime1">
              <a:rPr lang="en-US" smtClean="0"/>
              <a:t>1/22/2024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21DB60F-139E-4C44-89AF-3F8F5EC241F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Object Oriented Programming-Spring 24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88226C9-C193-4B47-9717-4BC86C9092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845F5A-061D-4825-9AE9-D7794091C6C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7889273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Freeform: Shape 5" descr="Mask ID=&#10;Mask position=bottom, center&#10;Mask family= brushstroke, landscape, wide">
            <a:extLst>
              <a:ext uri="{FF2B5EF4-FFF2-40B4-BE49-F238E27FC236}">
                <a16:creationId xmlns:a16="http://schemas.microsoft.com/office/drawing/2014/main" id="{736BF44D-E8DD-45FA-931D-CBCC67D57944}"/>
              </a:ext>
            </a:extLst>
          </p:cNvPr>
          <p:cNvSpPr/>
          <p:nvPr/>
        </p:nvSpPr>
        <p:spPr>
          <a:xfrm>
            <a:off x="1768101" y="-1"/>
            <a:ext cx="10423900" cy="5920155"/>
          </a:xfrm>
          <a:custGeom>
            <a:avLst/>
            <a:gdLst>
              <a:gd name="connsiteX0" fmla="*/ 10423900 w 10423900"/>
              <a:gd name="connsiteY0" fmla="*/ 0 h 5491534"/>
              <a:gd name="connsiteX1" fmla="*/ 3493157 w 10423900"/>
              <a:gd name="connsiteY1" fmla="*/ 0 h 5491534"/>
              <a:gd name="connsiteX2" fmla="*/ 3493018 w 10423900"/>
              <a:gd name="connsiteY2" fmla="*/ 31 h 5491534"/>
              <a:gd name="connsiteX3" fmla="*/ 3245493 w 10423900"/>
              <a:gd name="connsiteY3" fmla="*/ 104839 h 5491534"/>
              <a:gd name="connsiteX4" fmla="*/ 4434802 w 10423900"/>
              <a:gd name="connsiteY4" fmla="*/ 284558 h 5491534"/>
              <a:gd name="connsiteX5" fmla="*/ 4011937 w 10423900"/>
              <a:gd name="connsiteY5" fmla="*/ 395559 h 5491534"/>
              <a:gd name="connsiteX6" fmla="*/ 3573213 w 10423900"/>
              <a:gd name="connsiteY6" fmla="*/ 474847 h 5491534"/>
              <a:gd name="connsiteX7" fmla="*/ 3097489 w 10423900"/>
              <a:gd name="connsiteY7" fmla="*/ 532990 h 5491534"/>
              <a:gd name="connsiteX8" fmla="*/ 2664052 w 10423900"/>
              <a:gd name="connsiteY8" fmla="*/ 649279 h 5491534"/>
              <a:gd name="connsiteX9" fmla="*/ 3795218 w 10423900"/>
              <a:gd name="connsiteY9" fmla="*/ 696852 h 5491534"/>
              <a:gd name="connsiteX10" fmla="*/ 3208492 w 10423900"/>
              <a:gd name="connsiteY10" fmla="*/ 802568 h 5491534"/>
              <a:gd name="connsiteX11" fmla="*/ 2727483 w 10423900"/>
              <a:gd name="connsiteY11" fmla="*/ 939999 h 5491534"/>
              <a:gd name="connsiteX12" fmla="*/ 2389190 w 10423900"/>
              <a:gd name="connsiteY12" fmla="*/ 1003429 h 5491534"/>
              <a:gd name="connsiteX13" fmla="*/ 2029754 w 10423900"/>
              <a:gd name="connsiteY13" fmla="*/ 1019287 h 5491534"/>
              <a:gd name="connsiteX14" fmla="*/ 1945181 w 10423900"/>
              <a:gd name="connsiteY14" fmla="*/ 1119716 h 5491534"/>
              <a:gd name="connsiteX15" fmla="*/ 2056184 w 10423900"/>
              <a:gd name="connsiteY15" fmla="*/ 1225434 h 5491534"/>
              <a:gd name="connsiteX16" fmla="*/ 2225329 w 10423900"/>
              <a:gd name="connsiteY16" fmla="*/ 1236004 h 5491534"/>
              <a:gd name="connsiteX17" fmla="*/ 3234920 w 10423900"/>
              <a:gd name="connsiteY17" fmla="*/ 1262435 h 5491534"/>
              <a:gd name="connsiteX18" fmla="*/ 0 w 10423900"/>
              <a:gd name="connsiteY18" fmla="*/ 1495009 h 5491534"/>
              <a:gd name="connsiteX19" fmla="*/ 438724 w 10423900"/>
              <a:gd name="connsiteY19" fmla="*/ 1637728 h 5491534"/>
              <a:gd name="connsiteX20" fmla="*/ 586726 w 10423900"/>
              <a:gd name="connsiteY20" fmla="*/ 2028877 h 5491534"/>
              <a:gd name="connsiteX21" fmla="*/ 1125878 w 10423900"/>
              <a:gd name="connsiteY21" fmla="*/ 2250882 h 5491534"/>
              <a:gd name="connsiteX22" fmla="*/ 1474744 w 10423900"/>
              <a:gd name="connsiteY22" fmla="*/ 2330169 h 5491534"/>
              <a:gd name="connsiteX23" fmla="*/ 2272901 w 10423900"/>
              <a:gd name="connsiteY23" fmla="*/ 2446458 h 5491534"/>
              <a:gd name="connsiteX24" fmla="*/ 2389190 w 10423900"/>
              <a:gd name="connsiteY24" fmla="*/ 2636747 h 5491534"/>
              <a:gd name="connsiteX25" fmla="*/ 2489621 w 10423900"/>
              <a:gd name="connsiteY25" fmla="*/ 2848179 h 5491534"/>
              <a:gd name="connsiteX26" fmla="*/ 2701053 w 10423900"/>
              <a:gd name="connsiteY26" fmla="*/ 2985611 h 5491534"/>
              <a:gd name="connsiteX27" fmla="*/ 1057165 w 10423900"/>
              <a:gd name="connsiteY27" fmla="*/ 2964468 h 5491534"/>
              <a:gd name="connsiteX28" fmla="*/ 2912485 w 10423900"/>
              <a:gd name="connsiteY28" fmla="*/ 3408477 h 5491534"/>
              <a:gd name="connsiteX29" fmla="*/ 2748626 w 10423900"/>
              <a:gd name="connsiteY29" fmla="*/ 3582909 h 5491534"/>
              <a:gd name="connsiteX30" fmla="*/ 3763503 w 10423900"/>
              <a:gd name="connsiteY30" fmla="*/ 3820771 h 5491534"/>
              <a:gd name="connsiteX31" fmla="*/ 3219063 w 10423900"/>
              <a:gd name="connsiteY31" fmla="*/ 3847199 h 5491534"/>
              <a:gd name="connsiteX32" fmla="*/ 6385269 w 10423900"/>
              <a:gd name="connsiteY32" fmla="*/ 4840933 h 5491534"/>
              <a:gd name="connsiteX33" fmla="*/ 10285854 w 10423900"/>
              <a:gd name="connsiteY33" fmla="*/ 5471118 h 5491534"/>
              <a:gd name="connsiteX34" fmla="*/ 10423900 w 10423900"/>
              <a:gd name="connsiteY34" fmla="*/ 5491534 h 549153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</a:cxnLst>
            <a:rect l="l" t="t" r="r" b="b"/>
            <a:pathLst>
              <a:path w="10423900" h="5491534">
                <a:moveTo>
                  <a:pt x="10423900" y="0"/>
                </a:moveTo>
                <a:lnTo>
                  <a:pt x="3493157" y="0"/>
                </a:lnTo>
                <a:lnTo>
                  <a:pt x="3493018" y="31"/>
                </a:lnTo>
                <a:cubicBezTo>
                  <a:pt x="3414969" y="12668"/>
                  <a:pt x="3328744" y="21588"/>
                  <a:pt x="3245493" y="104839"/>
                </a:cubicBezTo>
                <a:cubicBezTo>
                  <a:pt x="3668357" y="162984"/>
                  <a:pt x="4075366" y="51981"/>
                  <a:pt x="4434802" y="284558"/>
                </a:cubicBezTo>
                <a:cubicBezTo>
                  <a:pt x="4302656" y="400846"/>
                  <a:pt x="4154654" y="374416"/>
                  <a:pt x="4011937" y="395559"/>
                </a:cubicBezTo>
                <a:cubicBezTo>
                  <a:pt x="3863934" y="416704"/>
                  <a:pt x="3721217" y="453704"/>
                  <a:pt x="3573213" y="474847"/>
                </a:cubicBezTo>
                <a:cubicBezTo>
                  <a:pt x="3414639" y="501275"/>
                  <a:pt x="3256063" y="506562"/>
                  <a:pt x="3097489" y="532990"/>
                </a:cubicBezTo>
                <a:cubicBezTo>
                  <a:pt x="2965345" y="554135"/>
                  <a:pt x="2822627" y="517133"/>
                  <a:pt x="2664052" y="649279"/>
                </a:cubicBezTo>
                <a:cubicBezTo>
                  <a:pt x="3055203" y="744424"/>
                  <a:pt x="3409352" y="601706"/>
                  <a:pt x="3795218" y="696852"/>
                </a:cubicBezTo>
                <a:cubicBezTo>
                  <a:pt x="3567928" y="781425"/>
                  <a:pt x="3382924" y="754995"/>
                  <a:pt x="3208492" y="802568"/>
                </a:cubicBezTo>
                <a:cubicBezTo>
                  <a:pt x="3049916" y="850140"/>
                  <a:pt x="2859627" y="797282"/>
                  <a:pt x="2727483" y="939999"/>
                </a:cubicBezTo>
                <a:cubicBezTo>
                  <a:pt x="2627052" y="1051000"/>
                  <a:pt x="2521336" y="1066858"/>
                  <a:pt x="2389190" y="1003429"/>
                </a:cubicBezTo>
                <a:cubicBezTo>
                  <a:pt x="2272901" y="945284"/>
                  <a:pt x="2146043" y="961142"/>
                  <a:pt x="2029754" y="1019287"/>
                </a:cubicBezTo>
                <a:cubicBezTo>
                  <a:pt x="1987468" y="1040430"/>
                  <a:pt x="1945181" y="1066858"/>
                  <a:pt x="1945181" y="1119716"/>
                </a:cubicBezTo>
                <a:cubicBezTo>
                  <a:pt x="1945181" y="1193719"/>
                  <a:pt x="1998039" y="1214862"/>
                  <a:pt x="2056184" y="1225434"/>
                </a:cubicBezTo>
                <a:cubicBezTo>
                  <a:pt x="2109042" y="1236004"/>
                  <a:pt x="2172471" y="1246577"/>
                  <a:pt x="2225329" y="1236004"/>
                </a:cubicBezTo>
                <a:cubicBezTo>
                  <a:pt x="2563622" y="1177861"/>
                  <a:pt x="2896629" y="1273005"/>
                  <a:pt x="3234920" y="1262435"/>
                </a:cubicBezTo>
                <a:cubicBezTo>
                  <a:pt x="2172471" y="1489724"/>
                  <a:pt x="1099450" y="1415723"/>
                  <a:pt x="0" y="1495009"/>
                </a:cubicBezTo>
                <a:cubicBezTo>
                  <a:pt x="142717" y="1653583"/>
                  <a:pt x="327721" y="1521439"/>
                  <a:pt x="438724" y="1637728"/>
                </a:cubicBezTo>
                <a:cubicBezTo>
                  <a:pt x="333006" y="1880875"/>
                  <a:pt x="375293" y="2013020"/>
                  <a:pt x="586726" y="2028877"/>
                </a:cubicBezTo>
                <a:cubicBezTo>
                  <a:pt x="792873" y="2044734"/>
                  <a:pt x="1014877" y="1960161"/>
                  <a:pt x="1125878" y="2250882"/>
                </a:cubicBezTo>
                <a:cubicBezTo>
                  <a:pt x="1157593" y="2340740"/>
                  <a:pt x="1353170" y="2314312"/>
                  <a:pt x="1474744" y="2330169"/>
                </a:cubicBezTo>
                <a:cubicBezTo>
                  <a:pt x="1739034" y="2367170"/>
                  <a:pt x="2019183" y="2330169"/>
                  <a:pt x="2272901" y="2446458"/>
                </a:cubicBezTo>
                <a:cubicBezTo>
                  <a:pt x="2373332" y="2488744"/>
                  <a:pt x="2442048" y="2520459"/>
                  <a:pt x="2389190" y="2636747"/>
                </a:cubicBezTo>
                <a:cubicBezTo>
                  <a:pt x="2336332" y="2758321"/>
                  <a:pt x="2405048" y="2800607"/>
                  <a:pt x="2489621" y="2848179"/>
                </a:cubicBezTo>
                <a:cubicBezTo>
                  <a:pt x="2553051" y="2885180"/>
                  <a:pt x="2648195" y="2874609"/>
                  <a:pt x="2701053" y="2985611"/>
                </a:cubicBezTo>
                <a:cubicBezTo>
                  <a:pt x="2146043" y="2969753"/>
                  <a:pt x="1606888" y="2879895"/>
                  <a:pt x="1057165" y="2964468"/>
                </a:cubicBezTo>
                <a:cubicBezTo>
                  <a:pt x="1659748" y="3175900"/>
                  <a:pt x="2320474" y="3165328"/>
                  <a:pt x="2912485" y="3408477"/>
                </a:cubicBezTo>
                <a:cubicBezTo>
                  <a:pt x="2891342" y="3493050"/>
                  <a:pt x="2753911" y="3456048"/>
                  <a:pt x="2748626" y="3582909"/>
                </a:cubicBezTo>
                <a:cubicBezTo>
                  <a:pt x="3060489" y="3715055"/>
                  <a:pt x="3435782" y="3625195"/>
                  <a:pt x="3763503" y="3820771"/>
                </a:cubicBezTo>
                <a:cubicBezTo>
                  <a:pt x="3573213" y="3910629"/>
                  <a:pt x="3398782" y="3762626"/>
                  <a:pt x="3219063" y="3847199"/>
                </a:cubicBezTo>
                <a:cubicBezTo>
                  <a:pt x="3277208" y="3974060"/>
                  <a:pt x="5909545" y="4756360"/>
                  <a:pt x="6385269" y="4840933"/>
                </a:cubicBezTo>
                <a:cubicBezTo>
                  <a:pt x="7171204" y="4982659"/>
                  <a:pt x="9157515" y="5302348"/>
                  <a:pt x="10285854" y="5471118"/>
                </a:cubicBezTo>
                <a:lnTo>
                  <a:pt x="10423900" y="5491534"/>
                </a:lnTo>
                <a:close/>
              </a:path>
            </a:pathLst>
          </a:custGeom>
          <a:solidFill>
            <a:schemeClr val="accent1">
              <a:alpha val="20000"/>
            </a:schemeClr>
          </a:solidFill>
          <a:ln w="32707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endParaRPr lang="en-US" sz="1800"/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1C9756B-145D-4BA8-AA43-904C1E7CB86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E82BEF-F120-44FC-801C-31FD48B068CC}" type="datetime1">
              <a:rPr lang="en-US" smtClean="0"/>
              <a:t>1/22/2024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21DB60F-139E-4C44-89AF-3F8F5EC241F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Object Oriented Programming-Spring 24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88226C9-C193-4B47-9717-4BC86C9092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845F5A-061D-4825-9AE9-D7794091C6C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7585700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Freeform: Shape 7" descr="Tag=AccentColor&#10;Flavor=Light&#10;Target=Fill">
            <a:extLst>
              <a:ext uri="{FF2B5EF4-FFF2-40B4-BE49-F238E27FC236}">
                <a16:creationId xmlns:a16="http://schemas.microsoft.com/office/drawing/2014/main" id="{76C5A8FA-6B61-4934-AF55-C595090CA5DC}"/>
              </a:ext>
            </a:extLst>
          </p:cNvPr>
          <p:cNvSpPr/>
          <p:nvPr/>
        </p:nvSpPr>
        <p:spPr>
          <a:xfrm>
            <a:off x="4726728" y="0"/>
            <a:ext cx="7472381" cy="6858000"/>
          </a:xfrm>
          <a:custGeom>
            <a:avLst/>
            <a:gdLst>
              <a:gd name="connsiteX0" fmla="*/ 1232666 w 7472381"/>
              <a:gd name="connsiteY0" fmla="*/ 0 h 6886575"/>
              <a:gd name="connsiteX1" fmla="*/ 7472381 w 7472381"/>
              <a:gd name="connsiteY1" fmla="*/ 0 h 6886575"/>
              <a:gd name="connsiteX2" fmla="*/ 7472381 w 7472381"/>
              <a:gd name="connsiteY2" fmla="*/ 814388 h 6886575"/>
              <a:gd name="connsiteX3" fmla="*/ 7472381 w 7472381"/>
              <a:gd name="connsiteY3" fmla="*/ 6411516 h 6886575"/>
              <a:gd name="connsiteX4" fmla="*/ 7472381 w 7472381"/>
              <a:gd name="connsiteY4" fmla="*/ 6886575 h 6886575"/>
              <a:gd name="connsiteX5" fmla="*/ 6992676 w 7472381"/>
              <a:gd name="connsiteY5" fmla="*/ 6886575 h 6886575"/>
              <a:gd name="connsiteX6" fmla="*/ 1946893 w 7472381"/>
              <a:gd name="connsiteY6" fmla="*/ 6886575 h 6886575"/>
              <a:gd name="connsiteX7" fmla="*/ 1506276 w 7472381"/>
              <a:gd name="connsiteY7" fmla="*/ 6686550 h 6886575"/>
              <a:gd name="connsiteX8" fmla="*/ 1314394 w 7472381"/>
              <a:gd name="connsiteY8" fmla="*/ 6457949 h 6886575"/>
              <a:gd name="connsiteX9" fmla="*/ 1246880 w 7472381"/>
              <a:gd name="connsiteY9" fmla="*/ 6393656 h 6886575"/>
              <a:gd name="connsiteX10" fmla="*/ 1079872 w 7472381"/>
              <a:gd name="connsiteY10" fmla="*/ 6307931 h 6886575"/>
              <a:gd name="connsiteX11" fmla="*/ 788495 w 7472381"/>
              <a:gd name="connsiteY11" fmla="*/ 6125765 h 6886575"/>
              <a:gd name="connsiteX12" fmla="*/ 895097 w 7472381"/>
              <a:gd name="connsiteY12" fmla="*/ 6082903 h 6886575"/>
              <a:gd name="connsiteX13" fmla="*/ 1204239 w 7472381"/>
              <a:gd name="connsiteY13" fmla="*/ 6193631 h 6886575"/>
              <a:gd name="connsiteX14" fmla="*/ 1428102 w 7472381"/>
              <a:gd name="connsiteY14" fmla="*/ 6222206 h 6886575"/>
              <a:gd name="connsiteX15" fmla="*/ 1111852 w 7472381"/>
              <a:gd name="connsiteY15" fmla="*/ 6029325 h 6886575"/>
              <a:gd name="connsiteX16" fmla="*/ 806262 w 7472381"/>
              <a:gd name="connsiteY16" fmla="*/ 5779294 h 6886575"/>
              <a:gd name="connsiteX17" fmla="*/ 1040785 w 7472381"/>
              <a:gd name="connsiteY17" fmla="*/ 5825728 h 6886575"/>
              <a:gd name="connsiteX18" fmla="*/ 1051445 w 7472381"/>
              <a:gd name="connsiteY18" fmla="*/ 5793581 h 6886575"/>
              <a:gd name="connsiteX19" fmla="*/ 845349 w 7472381"/>
              <a:gd name="connsiteY19" fmla="*/ 5497115 h 6886575"/>
              <a:gd name="connsiteX20" fmla="*/ 745855 w 7472381"/>
              <a:gd name="connsiteY20" fmla="*/ 5375672 h 6886575"/>
              <a:gd name="connsiteX21" fmla="*/ 291024 w 7472381"/>
              <a:gd name="connsiteY21" fmla="*/ 5014913 h 6886575"/>
              <a:gd name="connsiteX22" fmla="*/ 724535 w 7472381"/>
              <a:gd name="connsiteY22" fmla="*/ 5175647 h 6886575"/>
              <a:gd name="connsiteX23" fmla="*/ 276811 w 7472381"/>
              <a:gd name="connsiteY23" fmla="*/ 4825603 h 6886575"/>
              <a:gd name="connsiteX24" fmla="*/ 60055 w 7472381"/>
              <a:gd name="connsiteY24" fmla="*/ 4697016 h 6886575"/>
              <a:gd name="connsiteX25" fmla="*/ 6755 w 7472381"/>
              <a:gd name="connsiteY25" fmla="*/ 4622006 h 6886575"/>
              <a:gd name="connsiteX26" fmla="*/ 102696 w 7472381"/>
              <a:gd name="connsiteY26" fmla="*/ 4604146 h 6886575"/>
              <a:gd name="connsiteX27" fmla="*/ 397625 w 7472381"/>
              <a:gd name="connsiteY27" fmla="*/ 4632722 h 6886575"/>
              <a:gd name="connsiteX28" fmla="*/ 31628 w 7472381"/>
              <a:gd name="connsiteY28" fmla="*/ 4396978 h 6886575"/>
              <a:gd name="connsiteX29" fmla="*/ 305237 w 7472381"/>
              <a:gd name="connsiteY29" fmla="*/ 4432697 h 6886575"/>
              <a:gd name="connsiteX30" fmla="*/ 383412 w 7472381"/>
              <a:gd name="connsiteY30" fmla="*/ 4339828 h 6886575"/>
              <a:gd name="connsiteX31" fmla="*/ 511333 w 7472381"/>
              <a:gd name="connsiteY31" fmla="*/ 4189810 h 6886575"/>
              <a:gd name="connsiteX32" fmla="*/ 600167 w 7472381"/>
              <a:gd name="connsiteY32" fmla="*/ 4107656 h 6886575"/>
              <a:gd name="connsiteX33" fmla="*/ 635701 w 7472381"/>
              <a:gd name="connsiteY33" fmla="*/ 3843337 h 6886575"/>
              <a:gd name="connsiteX34" fmla="*/ 561080 w 7472381"/>
              <a:gd name="connsiteY34" fmla="*/ 3554015 h 6886575"/>
              <a:gd name="connsiteX35" fmla="*/ 354985 w 7472381"/>
              <a:gd name="connsiteY35" fmla="*/ 3407569 h 6886575"/>
              <a:gd name="connsiteX36" fmla="*/ 415392 w 7472381"/>
              <a:gd name="connsiteY36" fmla="*/ 3243263 h 6886575"/>
              <a:gd name="connsiteX37" fmla="*/ 852456 w 7472381"/>
              <a:gd name="connsiteY37" fmla="*/ 3343275 h 6886575"/>
              <a:gd name="connsiteX38" fmla="*/ 202190 w 7472381"/>
              <a:gd name="connsiteY38" fmla="*/ 2953940 h 6886575"/>
              <a:gd name="connsiteX39" fmla="*/ 312344 w 7472381"/>
              <a:gd name="connsiteY39" fmla="*/ 2936081 h 6886575"/>
              <a:gd name="connsiteX40" fmla="*/ 706768 w 7472381"/>
              <a:gd name="connsiteY40" fmla="*/ 2714625 h 6886575"/>
              <a:gd name="connsiteX41" fmla="*/ 728088 w 7472381"/>
              <a:gd name="connsiteY41" fmla="*/ 2703909 h 6886575"/>
              <a:gd name="connsiteX42" fmla="*/ 795602 w 7472381"/>
              <a:gd name="connsiteY42" fmla="*/ 2564606 h 6886575"/>
              <a:gd name="connsiteX43" fmla="*/ 1008804 w 7472381"/>
              <a:gd name="connsiteY43" fmla="*/ 2543175 h 6886575"/>
              <a:gd name="connsiteX44" fmla="*/ 1186473 w 7472381"/>
              <a:gd name="connsiteY44" fmla="*/ 2575322 h 6886575"/>
              <a:gd name="connsiteX45" fmla="*/ 1378355 w 7472381"/>
              <a:gd name="connsiteY45" fmla="*/ 2536031 h 6886575"/>
              <a:gd name="connsiteX46" fmla="*/ 1548916 w 7472381"/>
              <a:gd name="connsiteY46" fmla="*/ 2553891 h 6886575"/>
              <a:gd name="connsiteX47" fmla="*/ 1694604 w 7472381"/>
              <a:gd name="connsiteY47" fmla="*/ 2528888 h 6886575"/>
              <a:gd name="connsiteX48" fmla="*/ 1552469 w 7472381"/>
              <a:gd name="connsiteY48" fmla="*/ 2411015 h 6886575"/>
              <a:gd name="connsiteX49" fmla="*/ 1353481 w 7472381"/>
              <a:gd name="connsiteY49" fmla="*/ 2411015 h 6886575"/>
              <a:gd name="connsiteX50" fmla="*/ 1211346 w 7472381"/>
              <a:gd name="connsiteY50" fmla="*/ 2336007 h 6886575"/>
              <a:gd name="connsiteX51" fmla="*/ 1076318 w 7472381"/>
              <a:gd name="connsiteY51" fmla="*/ 2200275 h 6886575"/>
              <a:gd name="connsiteX52" fmla="*/ 600167 w 7472381"/>
              <a:gd name="connsiteY52" fmla="*/ 1982390 h 6886575"/>
              <a:gd name="connsiteX53" fmla="*/ 514886 w 7472381"/>
              <a:gd name="connsiteY53" fmla="*/ 1900238 h 6886575"/>
              <a:gd name="connsiteX54" fmla="*/ 1872273 w 7472381"/>
              <a:gd name="connsiteY54" fmla="*/ 2218135 h 6886575"/>
              <a:gd name="connsiteX55" fmla="*/ 1452975 w 7472381"/>
              <a:gd name="connsiteY55" fmla="*/ 2085975 h 6886575"/>
              <a:gd name="connsiteX56" fmla="*/ 1737245 w 7472381"/>
              <a:gd name="connsiteY56" fmla="*/ 2110978 h 6886575"/>
              <a:gd name="connsiteX57" fmla="*/ 1893593 w 7472381"/>
              <a:gd name="connsiteY57" fmla="*/ 2021681 h 6886575"/>
              <a:gd name="connsiteX58" fmla="*/ 1893593 w 7472381"/>
              <a:gd name="connsiteY58" fmla="*/ 1993106 h 6886575"/>
              <a:gd name="connsiteX59" fmla="*/ 1776332 w 7472381"/>
              <a:gd name="connsiteY59" fmla="*/ 1910953 h 6886575"/>
              <a:gd name="connsiteX60" fmla="*/ 1708818 w 7472381"/>
              <a:gd name="connsiteY60" fmla="*/ 1857375 h 6886575"/>
              <a:gd name="connsiteX61" fmla="*/ 1524043 w 7472381"/>
              <a:gd name="connsiteY61" fmla="*/ 1664493 h 6886575"/>
              <a:gd name="connsiteX62" fmla="*/ 1655517 w 7472381"/>
              <a:gd name="connsiteY62" fmla="*/ 1643062 h 6886575"/>
              <a:gd name="connsiteX63" fmla="*/ 1705264 w 7472381"/>
              <a:gd name="connsiteY63" fmla="*/ 1603772 h 6886575"/>
              <a:gd name="connsiteX64" fmla="*/ 1669731 w 7472381"/>
              <a:gd name="connsiteY64" fmla="*/ 1546622 h 6886575"/>
              <a:gd name="connsiteX65" fmla="*/ 1261093 w 7472381"/>
              <a:gd name="connsiteY65" fmla="*/ 1371600 h 6886575"/>
              <a:gd name="connsiteX66" fmla="*/ 1229113 w 7472381"/>
              <a:gd name="connsiteY66" fmla="*/ 1235869 h 6886575"/>
              <a:gd name="connsiteX67" fmla="*/ 1307287 w 7472381"/>
              <a:gd name="connsiteY67" fmla="*/ 1214437 h 6886575"/>
              <a:gd name="connsiteX68" fmla="*/ 1396121 w 7472381"/>
              <a:gd name="connsiteY68" fmla="*/ 1225153 h 6886575"/>
              <a:gd name="connsiteX69" fmla="*/ 1325054 w 7472381"/>
              <a:gd name="connsiteY69" fmla="*/ 1117997 h 6886575"/>
              <a:gd name="connsiteX70" fmla="*/ 1037231 w 7472381"/>
              <a:gd name="connsiteY70" fmla="*/ 1010841 h 6886575"/>
              <a:gd name="connsiteX71" fmla="*/ 983931 w 7472381"/>
              <a:gd name="connsiteY71" fmla="*/ 953690 h 6886575"/>
              <a:gd name="connsiteX72" fmla="*/ 1054998 w 7472381"/>
              <a:gd name="connsiteY72" fmla="*/ 925115 h 6886575"/>
              <a:gd name="connsiteX73" fmla="*/ 1108299 w 7472381"/>
              <a:gd name="connsiteY73" fmla="*/ 914400 h 6886575"/>
              <a:gd name="connsiteX74" fmla="*/ 6755 w 7472381"/>
              <a:gd name="connsiteY74" fmla="*/ 467915 h 6886575"/>
              <a:gd name="connsiteX75" fmla="*/ 255490 w 7472381"/>
              <a:gd name="connsiteY75" fmla="*/ 464344 h 6886575"/>
              <a:gd name="connsiteX76" fmla="*/ 500673 w 7472381"/>
              <a:gd name="connsiteY76" fmla="*/ 535781 h 6886575"/>
              <a:gd name="connsiteX77" fmla="*/ 760069 w 7472381"/>
              <a:gd name="connsiteY77" fmla="*/ 525066 h 6886575"/>
              <a:gd name="connsiteX78" fmla="*/ 1005251 w 7472381"/>
              <a:gd name="connsiteY78" fmla="*/ 560785 h 6886575"/>
              <a:gd name="connsiteX79" fmla="*/ 1218453 w 7472381"/>
              <a:gd name="connsiteY79" fmla="*/ 560785 h 6886575"/>
              <a:gd name="connsiteX80" fmla="*/ 1019464 w 7472381"/>
              <a:gd name="connsiteY80" fmla="*/ 507206 h 6886575"/>
              <a:gd name="connsiteX81" fmla="*/ 944844 w 7472381"/>
              <a:gd name="connsiteY81" fmla="*/ 417909 h 6886575"/>
              <a:gd name="connsiteX82" fmla="*/ 969717 w 7472381"/>
              <a:gd name="connsiteY82" fmla="*/ 335757 h 6886575"/>
              <a:gd name="connsiteX83" fmla="*/ 1051445 w 7472381"/>
              <a:gd name="connsiteY83" fmla="*/ 360759 h 6886575"/>
              <a:gd name="connsiteX84" fmla="*/ 1147386 w 7472381"/>
              <a:gd name="connsiteY84" fmla="*/ 453629 h 6886575"/>
              <a:gd name="connsiteX85" fmla="*/ 1168706 w 7472381"/>
              <a:gd name="connsiteY85" fmla="*/ 396478 h 6886575"/>
              <a:gd name="connsiteX86" fmla="*/ 1225560 w 7472381"/>
              <a:gd name="connsiteY86" fmla="*/ 353615 h 6886575"/>
              <a:gd name="connsiteX87" fmla="*/ 1552469 w 7472381"/>
              <a:gd name="connsiteY87" fmla="*/ 375047 h 6886575"/>
              <a:gd name="connsiteX88" fmla="*/ 1335714 w 7472381"/>
              <a:gd name="connsiteY88" fmla="*/ 192881 h 6886575"/>
              <a:gd name="connsiteX89" fmla="*/ 1197133 w 7472381"/>
              <a:gd name="connsiteY89" fmla="*/ 164306 h 6886575"/>
              <a:gd name="connsiteX90" fmla="*/ 1165153 w 7472381"/>
              <a:gd name="connsiteY90" fmla="*/ 89297 h 6886575"/>
              <a:gd name="connsiteX91" fmla="*/ 1229113 w 7472381"/>
              <a:gd name="connsiteY91" fmla="*/ 71437 h 6886575"/>
              <a:gd name="connsiteX92" fmla="*/ 1548916 w 7472381"/>
              <a:gd name="connsiteY92" fmla="*/ 135731 h 6886575"/>
              <a:gd name="connsiteX93" fmla="*/ 1602217 w 7472381"/>
              <a:gd name="connsiteY93" fmla="*/ 110728 h 6886575"/>
              <a:gd name="connsiteX94" fmla="*/ 1232666 w 7472381"/>
              <a:gd name="connsiteY94" fmla="*/ 0 h 68865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</a:cxnLst>
            <a:rect l="l" t="t" r="r" b="b"/>
            <a:pathLst>
              <a:path w="7472381" h="6886575">
                <a:moveTo>
                  <a:pt x="1232666" y="0"/>
                </a:moveTo>
                <a:lnTo>
                  <a:pt x="7472381" y="0"/>
                </a:lnTo>
                <a:lnTo>
                  <a:pt x="7472381" y="814388"/>
                </a:lnTo>
                <a:lnTo>
                  <a:pt x="7472381" y="6411516"/>
                </a:lnTo>
                <a:lnTo>
                  <a:pt x="7472381" y="6886575"/>
                </a:lnTo>
                <a:lnTo>
                  <a:pt x="6992676" y="6886575"/>
                </a:lnTo>
                <a:lnTo>
                  <a:pt x="1946893" y="6886575"/>
                </a:lnTo>
                <a:cubicBezTo>
                  <a:pt x="1801205" y="6815137"/>
                  <a:pt x="1662624" y="6729412"/>
                  <a:pt x="1506276" y="6686550"/>
                </a:cubicBezTo>
                <a:cubicBezTo>
                  <a:pt x="1399675" y="6657975"/>
                  <a:pt x="1296627" y="6607969"/>
                  <a:pt x="1314394" y="6457949"/>
                </a:cubicBezTo>
                <a:cubicBezTo>
                  <a:pt x="1317947" y="6415087"/>
                  <a:pt x="1289520" y="6382941"/>
                  <a:pt x="1246880" y="6393656"/>
                </a:cubicBezTo>
                <a:cubicBezTo>
                  <a:pt x="1165153" y="6415087"/>
                  <a:pt x="1126065" y="6354365"/>
                  <a:pt x="1079872" y="6307931"/>
                </a:cubicBezTo>
                <a:cubicBezTo>
                  <a:pt x="998144" y="6225779"/>
                  <a:pt x="919970" y="6140052"/>
                  <a:pt x="788495" y="6125765"/>
                </a:cubicBezTo>
                <a:cubicBezTo>
                  <a:pt x="813369" y="6061471"/>
                  <a:pt x="856009" y="6068615"/>
                  <a:pt x="895097" y="6082903"/>
                </a:cubicBezTo>
                <a:cubicBezTo>
                  <a:pt x="998144" y="6118622"/>
                  <a:pt x="1101192" y="6157912"/>
                  <a:pt x="1204239" y="6193631"/>
                </a:cubicBezTo>
                <a:cubicBezTo>
                  <a:pt x="1271754" y="6215062"/>
                  <a:pt x="1339267" y="6247209"/>
                  <a:pt x="1428102" y="6222206"/>
                </a:cubicBezTo>
                <a:cubicBezTo>
                  <a:pt x="1349928" y="6093619"/>
                  <a:pt x="1218453" y="6068615"/>
                  <a:pt x="1111852" y="6029325"/>
                </a:cubicBezTo>
                <a:cubicBezTo>
                  <a:pt x="980377" y="5979319"/>
                  <a:pt x="902203" y="5886450"/>
                  <a:pt x="806262" y="5779294"/>
                </a:cubicBezTo>
                <a:cubicBezTo>
                  <a:pt x="902203" y="5750719"/>
                  <a:pt x="962610" y="5829300"/>
                  <a:pt x="1040785" y="5825728"/>
                </a:cubicBezTo>
                <a:cubicBezTo>
                  <a:pt x="1044338" y="5815012"/>
                  <a:pt x="1051445" y="5793581"/>
                  <a:pt x="1051445" y="5793581"/>
                </a:cubicBezTo>
                <a:cubicBezTo>
                  <a:pt x="923523" y="5736431"/>
                  <a:pt x="866670" y="5629275"/>
                  <a:pt x="845349" y="5497115"/>
                </a:cubicBezTo>
                <a:cubicBezTo>
                  <a:pt x="838243" y="5429250"/>
                  <a:pt x="792049" y="5407819"/>
                  <a:pt x="745855" y="5375672"/>
                </a:cubicBezTo>
                <a:cubicBezTo>
                  <a:pt x="589507" y="5264943"/>
                  <a:pt x="422499" y="5164931"/>
                  <a:pt x="291024" y="5014913"/>
                </a:cubicBezTo>
                <a:cubicBezTo>
                  <a:pt x="443819" y="5032771"/>
                  <a:pt x="564633" y="5132784"/>
                  <a:pt x="724535" y="5175647"/>
                </a:cubicBezTo>
                <a:cubicBezTo>
                  <a:pt x="596614" y="5011340"/>
                  <a:pt x="429605" y="4925615"/>
                  <a:pt x="276811" y="4825603"/>
                </a:cubicBezTo>
                <a:cubicBezTo>
                  <a:pt x="205743" y="4779169"/>
                  <a:pt x="141783" y="4722018"/>
                  <a:pt x="60055" y="4697016"/>
                </a:cubicBezTo>
                <a:cubicBezTo>
                  <a:pt x="31628" y="4689872"/>
                  <a:pt x="-18119" y="4672013"/>
                  <a:pt x="6755" y="4622006"/>
                </a:cubicBezTo>
                <a:cubicBezTo>
                  <a:pt x="28075" y="4579144"/>
                  <a:pt x="67162" y="4593432"/>
                  <a:pt x="102696" y="4604146"/>
                </a:cubicBezTo>
                <a:cubicBezTo>
                  <a:pt x="187976" y="4632722"/>
                  <a:pt x="280364" y="4632722"/>
                  <a:pt x="397625" y="4632722"/>
                </a:cubicBezTo>
                <a:cubicBezTo>
                  <a:pt x="298131" y="4496990"/>
                  <a:pt x="116909" y="4539853"/>
                  <a:pt x="31628" y="4396978"/>
                </a:cubicBezTo>
                <a:cubicBezTo>
                  <a:pt x="138229" y="4371976"/>
                  <a:pt x="219957" y="4421982"/>
                  <a:pt x="305237" y="4432697"/>
                </a:cubicBezTo>
                <a:cubicBezTo>
                  <a:pt x="383412" y="4443413"/>
                  <a:pt x="401178" y="4418409"/>
                  <a:pt x="383412" y="4339828"/>
                </a:cubicBezTo>
                <a:cubicBezTo>
                  <a:pt x="354985" y="4218385"/>
                  <a:pt x="397625" y="4157662"/>
                  <a:pt x="511333" y="4189810"/>
                </a:cubicBezTo>
                <a:cubicBezTo>
                  <a:pt x="617934" y="4221956"/>
                  <a:pt x="628594" y="4175522"/>
                  <a:pt x="600167" y="4107656"/>
                </a:cubicBezTo>
                <a:cubicBezTo>
                  <a:pt x="557527" y="4007644"/>
                  <a:pt x="603720" y="3929063"/>
                  <a:pt x="635701" y="3843337"/>
                </a:cubicBezTo>
                <a:cubicBezTo>
                  <a:pt x="685448" y="3714750"/>
                  <a:pt x="664128" y="3650456"/>
                  <a:pt x="561080" y="3554015"/>
                </a:cubicBezTo>
                <a:cubicBezTo>
                  <a:pt x="500673" y="3500438"/>
                  <a:pt x="440265" y="3454003"/>
                  <a:pt x="354985" y="3407569"/>
                </a:cubicBezTo>
                <a:cubicBezTo>
                  <a:pt x="550420" y="3382565"/>
                  <a:pt x="347878" y="3296841"/>
                  <a:pt x="415392" y="3243263"/>
                </a:cubicBezTo>
                <a:cubicBezTo>
                  <a:pt x="553973" y="3221831"/>
                  <a:pt x="664128" y="3393282"/>
                  <a:pt x="852456" y="3343275"/>
                </a:cubicBezTo>
                <a:cubicBezTo>
                  <a:pt x="625041" y="3196828"/>
                  <a:pt x="369198" y="3150393"/>
                  <a:pt x="202190" y="2953940"/>
                </a:cubicBezTo>
                <a:cubicBezTo>
                  <a:pt x="241277" y="2911078"/>
                  <a:pt x="280364" y="2953940"/>
                  <a:pt x="312344" y="2936081"/>
                </a:cubicBezTo>
                <a:cubicBezTo>
                  <a:pt x="312344" y="2925365"/>
                  <a:pt x="685448" y="2993232"/>
                  <a:pt x="706768" y="2714625"/>
                </a:cubicBezTo>
                <a:cubicBezTo>
                  <a:pt x="713875" y="2714625"/>
                  <a:pt x="720982" y="2714625"/>
                  <a:pt x="728088" y="2703909"/>
                </a:cubicBezTo>
                <a:cubicBezTo>
                  <a:pt x="767175" y="2664619"/>
                  <a:pt x="731642" y="2571750"/>
                  <a:pt x="795602" y="2564606"/>
                </a:cubicBezTo>
                <a:cubicBezTo>
                  <a:pt x="866670" y="2557462"/>
                  <a:pt x="934184" y="2525315"/>
                  <a:pt x="1008804" y="2543175"/>
                </a:cubicBezTo>
                <a:cubicBezTo>
                  <a:pt x="1065658" y="2557462"/>
                  <a:pt x="1126065" y="2575322"/>
                  <a:pt x="1186473" y="2575322"/>
                </a:cubicBezTo>
                <a:cubicBezTo>
                  <a:pt x="1250433" y="2575322"/>
                  <a:pt x="1339267" y="2696766"/>
                  <a:pt x="1378355" y="2536031"/>
                </a:cubicBezTo>
                <a:cubicBezTo>
                  <a:pt x="1378355" y="2528888"/>
                  <a:pt x="1488509" y="2546747"/>
                  <a:pt x="1548916" y="2553891"/>
                </a:cubicBezTo>
                <a:cubicBezTo>
                  <a:pt x="1598663" y="2561035"/>
                  <a:pt x="1659071" y="2593181"/>
                  <a:pt x="1694604" y="2528888"/>
                </a:cubicBezTo>
                <a:cubicBezTo>
                  <a:pt x="1712371" y="2489596"/>
                  <a:pt x="1627090" y="2418159"/>
                  <a:pt x="1552469" y="2411015"/>
                </a:cubicBezTo>
                <a:cubicBezTo>
                  <a:pt x="1484956" y="2403872"/>
                  <a:pt x="1417442" y="2396728"/>
                  <a:pt x="1353481" y="2411015"/>
                </a:cubicBezTo>
                <a:cubicBezTo>
                  <a:pt x="1275307" y="2428875"/>
                  <a:pt x="1232666" y="2400300"/>
                  <a:pt x="1211346" y="2336007"/>
                </a:cubicBezTo>
                <a:cubicBezTo>
                  <a:pt x="1186473" y="2268141"/>
                  <a:pt x="1140279" y="2232422"/>
                  <a:pt x="1076318" y="2200275"/>
                </a:cubicBezTo>
                <a:cubicBezTo>
                  <a:pt x="919970" y="2121694"/>
                  <a:pt x="770729" y="2028825"/>
                  <a:pt x="600167" y="1982390"/>
                </a:cubicBezTo>
                <a:cubicBezTo>
                  <a:pt x="568187" y="1975246"/>
                  <a:pt x="529100" y="1960959"/>
                  <a:pt x="514886" y="1900238"/>
                </a:cubicBezTo>
                <a:cubicBezTo>
                  <a:pt x="976824" y="1993106"/>
                  <a:pt x="1396121" y="2232422"/>
                  <a:pt x="1872273" y="2218135"/>
                </a:cubicBezTo>
                <a:cubicBezTo>
                  <a:pt x="1744351" y="2143125"/>
                  <a:pt x="1591557" y="2139554"/>
                  <a:pt x="1452975" y="2085975"/>
                </a:cubicBezTo>
                <a:cubicBezTo>
                  <a:pt x="1552469" y="2046685"/>
                  <a:pt x="1644857" y="2089547"/>
                  <a:pt x="1737245" y="2110978"/>
                </a:cubicBezTo>
                <a:cubicBezTo>
                  <a:pt x="1815419" y="2128837"/>
                  <a:pt x="1886486" y="2132410"/>
                  <a:pt x="1893593" y="2021681"/>
                </a:cubicBezTo>
                <a:cubicBezTo>
                  <a:pt x="1893593" y="2010965"/>
                  <a:pt x="1893593" y="2003821"/>
                  <a:pt x="1893593" y="1993106"/>
                </a:cubicBezTo>
                <a:cubicBezTo>
                  <a:pt x="1865166" y="1946672"/>
                  <a:pt x="1826079" y="1925240"/>
                  <a:pt x="1776332" y="1910953"/>
                </a:cubicBezTo>
                <a:cubicBezTo>
                  <a:pt x="1747905" y="1903809"/>
                  <a:pt x="1708818" y="1889522"/>
                  <a:pt x="1708818" y="1857375"/>
                </a:cubicBezTo>
                <a:cubicBezTo>
                  <a:pt x="1712371" y="1735931"/>
                  <a:pt x="1616430" y="1700212"/>
                  <a:pt x="1524043" y="1664493"/>
                </a:cubicBezTo>
                <a:cubicBezTo>
                  <a:pt x="1573790" y="1603772"/>
                  <a:pt x="1616430" y="1646635"/>
                  <a:pt x="1655517" y="1643062"/>
                </a:cubicBezTo>
                <a:cubicBezTo>
                  <a:pt x="1680391" y="1639491"/>
                  <a:pt x="1705264" y="1635919"/>
                  <a:pt x="1705264" y="1603772"/>
                </a:cubicBezTo>
                <a:cubicBezTo>
                  <a:pt x="1705264" y="1578769"/>
                  <a:pt x="1694604" y="1546622"/>
                  <a:pt x="1669731" y="1546622"/>
                </a:cubicBezTo>
                <a:cubicBezTo>
                  <a:pt x="1513383" y="1543050"/>
                  <a:pt x="1424548" y="1371600"/>
                  <a:pt x="1261093" y="1371600"/>
                </a:cubicBezTo>
                <a:cubicBezTo>
                  <a:pt x="1161599" y="1371600"/>
                  <a:pt x="1310841" y="1275159"/>
                  <a:pt x="1229113" y="1235869"/>
                </a:cubicBezTo>
                <a:cubicBezTo>
                  <a:pt x="1211346" y="1225153"/>
                  <a:pt x="1278860" y="1210866"/>
                  <a:pt x="1307287" y="1214437"/>
                </a:cubicBezTo>
                <a:cubicBezTo>
                  <a:pt x="1335714" y="1218009"/>
                  <a:pt x="1360588" y="1243013"/>
                  <a:pt x="1396121" y="1225153"/>
                </a:cubicBezTo>
                <a:cubicBezTo>
                  <a:pt x="1413888" y="1160860"/>
                  <a:pt x="1367694" y="1135856"/>
                  <a:pt x="1325054" y="1117997"/>
                </a:cubicBezTo>
                <a:cubicBezTo>
                  <a:pt x="1232666" y="1075135"/>
                  <a:pt x="1140279" y="1025129"/>
                  <a:pt x="1037231" y="1010841"/>
                </a:cubicBezTo>
                <a:cubicBezTo>
                  <a:pt x="1001698" y="1007269"/>
                  <a:pt x="980377" y="989409"/>
                  <a:pt x="983931" y="953690"/>
                </a:cubicBezTo>
                <a:cubicBezTo>
                  <a:pt x="991037" y="907256"/>
                  <a:pt x="1026571" y="921544"/>
                  <a:pt x="1054998" y="925115"/>
                </a:cubicBezTo>
                <a:cubicBezTo>
                  <a:pt x="1072765" y="928688"/>
                  <a:pt x="1090532" y="939403"/>
                  <a:pt x="1108299" y="914400"/>
                </a:cubicBezTo>
                <a:cubicBezTo>
                  <a:pt x="692555" y="660797"/>
                  <a:pt x="472246" y="675085"/>
                  <a:pt x="6755" y="467915"/>
                </a:cubicBezTo>
                <a:cubicBezTo>
                  <a:pt x="109802" y="428625"/>
                  <a:pt x="184423" y="457200"/>
                  <a:pt x="255490" y="464344"/>
                </a:cubicBezTo>
                <a:cubicBezTo>
                  <a:pt x="433159" y="482203"/>
                  <a:pt x="323004" y="514350"/>
                  <a:pt x="500673" y="535781"/>
                </a:cubicBezTo>
                <a:cubicBezTo>
                  <a:pt x="585954" y="546497"/>
                  <a:pt x="664128" y="582216"/>
                  <a:pt x="760069" y="525066"/>
                </a:cubicBezTo>
                <a:cubicBezTo>
                  <a:pt x="824029" y="485775"/>
                  <a:pt x="927077" y="528637"/>
                  <a:pt x="1005251" y="560785"/>
                </a:cubicBezTo>
                <a:cubicBezTo>
                  <a:pt x="1069212" y="589360"/>
                  <a:pt x="1133172" y="596503"/>
                  <a:pt x="1218453" y="560785"/>
                </a:cubicBezTo>
                <a:cubicBezTo>
                  <a:pt x="1140279" y="539354"/>
                  <a:pt x="1079872" y="521494"/>
                  <a:pt x="1019464" y="507206"/>
                </a:cubicBezTo>
                <a:cubicBezTo>
                  <a:pt x="969717" y="496491"/>
                  <a:pt x="941290" y="471488"/>
                  <a:pt x="944844" y="417909"/>
                </a:cubicBezTo>
                <a:cubicBezTo>
                  <a:pt x="944844" y="389334"/>
                  <a:pt x="934184" y="350044"/>
                  <a:pt x="969717" y="335757"/>
                </a:cubicBezTo>
                <a:cubicBezTo>
                  <a:pt x="998144" y="321469"/>
                  <a:pt x="1037231" y="335757"/>
                  <a:pt x="1051445" y="360759"/>
                </a:cubicBezTo>
                <a:cubicBezTo>
                  <a:pt x="1069212" y="407194"/>
                  <a:pt x="1086978" y="450056"/>
                  <a:pt x="1147386" y="453629"/>
                </a:cubicBezTo>
                <a:cubicBezTo>
                  <a:pt x="1229113" y="460771"/>
                  <a:pt x="1182919" y="432197"/>
                  <a:pt x="1168706" y="396478"/>
                </a:cubicBezTo>
                <a:cubicBezTo>
                  <a:pt x="1154492" y="357188"/>
                  <a:pt x="1197133" y="346472"/>
                  <a:pt x="1225560" y="353615"/>
                </a:cubicBezTo>
                <a:cubicBezTo>
                  <a:pt x="1332161" y="385763"/>
                  <a:pt x="1442315" y="328613"/>
                  <a:pt x="1552469" y="375047"/>
                </a:cubicBezTo>
                <a:cubicBezTo>
                  <a:pt x="1524043" y="260747"/>
                  <a:pt x="1463635" y="210741"/>
                  <a:pt x="1335714" y="192881"/>
                </a:cubicBezTo>
                <a:cubicBezTo>
                  <a:pt x="1289520" y="189310"/>
                  <a:pt x="1239773" y="196453"/>
                  <a:pt x="1197133" y="164306"/>
                </a:cubicBezTo>
                <a:cubicBezTo>
                  <a:pt x="1172259" y="146447"/>
                  <a:pt x="1147386" y="125016"/>
                  <a:pt x="1165153" y="89297"/>
                </a:cubicBezTo>
                <a:cubicBezTo>
                  <a:pt x="1175813" y="64294"/>
                  <a:pt x="1204239" y="64294"/>
                  <a:pt x="1229113" y="71437"/>
                </a:cubicBezTo>
                <a:cubicBezTo>
                  <a:pt x="1332161" y="110728"/>
                  <a:pt x="1442315" y="121444"/>
                  <a:pt x="1548916" y="135731"/>
                </a:cubicBezTo>
                <a:cubicBezTo>
                  <a:pt x="1566683" y="139303"/>
                  <a:pt x="1584450" y="146447"/>
                  <a:pt x="1602217" y="110728"/>
                </a:cubicBezTo>
                <a:cubicBezTo>
                  <a:pt x="1477849" y="78581"/>
                  <a:pt x="1357034" y="35719"/>
                  <a:pt x="1232666" y="0"/>
                </a:cubicBezTo>
                <a:close/>
              </a:path>
            </a:pathLst>
          </a:custGeom>
          <a:solidFill>
            <a:schemeClr val="accent1">
              <a:alpha val="20000"/>
            </a:schemeClr>
          </a:solidFill>
          <a:ln w="32707" cap="flat">
            <a:noFill/>
            <a:prstDash val="solid"/>
            <a:miter/>
          </a:ln>
        </p:spPr>
        <p:txBody>
          <a:bodyPr rtlCol="0" anchor="ctr"/>
          <a:lstStyle/>
          <a:p>
            <a:endParaRPr lang="en-US" sz="1800">
              <a:solidFill>
                <a:schemeClr val="tx1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46AD042-DE90-4088-8A07-B9A64C2CE03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640080"/>
            <a:ext cx="3886200" cy="2953512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F2FFC98-62A0-445A-BEDA-785BE925A1D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059168" y="640080"/>
            <a:ext cx="4489704" cy="5596128"/>
          </a:xfrm>
        </p:spPr>
        <p:txBody>
          <a:bodyPr anchor="ctr"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B4D7827-8489-4EE4-88EE-16685FE6DE8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3776472"/>
            <a:ext cx="3886200" cy="2468880"/>
          </a:xfrm>
        </p:spPr>
        <p:txBody>
          <a:bodyPr/>
          <a:lstStyle>
            <a:lvl1pPr marL="0" indent="0">
              <a:buNone/>
              <a:defRPr sz="1600"/>
            </a:lvl1pPr>
            <a:lvl2pPr marL="457189" indent="0">
              <a:buNone/>
              <a:defRPr sz="1400"/>
            </a:lvl2pPr>
            <a:lvl3pPr marL="914377" indent="0">
              <a:buNone/>
              <a:defRPr sz="1200"/>
            </a:lvl3pPr>
            <a:lvl4pPr marL="1371566" indent="0">
              <a:buNone/>
              <a:defRPr sz="1000"/>
            </a:lvl4pPr>
            <a:lvl5pPr marL="1828754" indent="0">
              <a:buNone/>
              <a:defRPr sz="1000"/>
            </a:lvl5pPr>
            <a:lvl6pPr marL="2285943" indent="0">
              <a:buNone/>
              <a:defRPr sz="1000"/>
            </a:lvl6pPr>
            <a:lvl7pPr marL="2743131" indent="0">
              <a:buNone/>
              <a:defRPr sz="1000"/>
            </a:lvl7pPr>
            <a:lvl8pPr marL="3200320" indent="0">
              <a:buNone/>
              <a:defRPr sz="1000"/>
            </a:lvl8pPr>
            <a:lvl9pPr marL="3657509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C33534F-EA91-4A50-B0F6-10D689E458E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6EE09B-1276-4901-9FFE-76F2F760DD00}" type="datetime1">
              <a:rPr lang="en-US" smtClean="0"/>
              <a:t>1/22/2024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C20F3F7-8B4B-4015-AA9C-109D05B2F1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 algn="l">
              <a:defRPr/>
            </a:lvl1pPr>
          </a:lstStyle>
          <a:p>
            <a:r>
              <a:rPr lang="en-US"/>
              <a:t>Object Oriented Programming-Spring 24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10B6EE2-78A1-4D01-87BE-A1487FBD27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845F5A-061D-4825-9AE9-D7794091C6C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3309710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Graphic 1" descr="Tag=AccentColor&#10;Flavor=Light&#10;Target=Fill">
            <a:extLst>
              <a:ext uri="{FF2B5EF4-FFF2-40B4-BE49-F238E27FC236}">
                <a16:creationId xmlns:a16="http://schemas.microsoft.com/office/drawing/2014/main" id="{0EE21C0F-70D8-4F3C-9392-07559C90EE6E}"/>
              </a:ext>
            </a:extLst>
          </p:cNvPr>
          <p:cNvSpPr/>
          <p:nvPr/>
        </p:nvSpPr>
        <p:spPr>
          <a:xfrm rot="10800000" flipH="1" flipV="1">
            <a:off x="684966" y="1332237"/>
            <a:ext cx="5263732" cy="3841102"/>
          </a:xfrm>
          <a:custGeom>
            <a:avLst/>
            <a:gdLst>
              <a:gd name="connsiteX0" fmla="*/ 5458905 w 6886274"/>
              <a:gd name="connsiteY0" fmla="*/ 754119 h 5025119"/>
              <a:gd name="connsiteX1" fmla="*/ 3455557 w 6886274"/>
              <a:gd name="connsiteY1" fmla="*/ 1027709 h 5025119"/>
              <a:gd name="connsiteX2" fmla="*/ 3338677 w 6886274"/>
              <a:gd name="connsiteY2" fmla="*/ 1021381 h 5025119"/>
              <a:gd name="connsiteX3" fmla="*/ 2518280 w 6886274"/>
              <a:gd name="connsiteY3" fmla="*/ 980435 h 5025119"/>
              <a:gd name="connsiteX4" fmla="*/ 1673687 w 6886274"/>
              <a:gd name="connsiteY4" fmla="*/ 739229 h 5025119"/>
              <a:gd name="connsiteX5" fmla="*/ 1183459 w 6886274"/>
              <a:gd name="connsiteY5" fmla="*/ 397149 h 5025119"/>
              <a:gd name="connsiteX6" fmla="*/ 977987 w 6886274"/>
              <a:gd name="connsiteY6" fmla="*/ 241184 h 5025119"/>
              <a:gd name="connsiteX7" fmla="*/ 788150 w 6886274"/>
              <a:gd name="connsiteY7" fmla="*/ 66980 h 5025119"/>
              <a:gd name="connsiteX8" fmla="*/ 721148 w 6886274"/>
              <a:gd name="connsiteY8" fmla="*/ 31990 h 5025119"/>
              <a:gd name="connsiteX9" fmla="*/ 701792 w 6886274"/>
              <a:gd name="connsiteY9" fmla="*/ 32362 h 5025119"/>
              <a:gd name="connsiteX10" fmla="*/ 686530 w 6886274"/>
              <a:gd name="connsiteY10" fmla="*/ 43157 h 5025119"/>
              <a:gd name="connsiteX11" fmla="*/ 693603 w 6886274"/>
              <a:gd name="connsiteY11" fmla="*/ 58046 h 5025119"/>
              <a:gd name="connsiteX12" fmla="*/ 705886 w 6886274"/>
              <a:gd name="connsiteY12" fmla="*/ 65491 h 5025119"/>
              <a:gd name="connsiteX13" fmla="*/ 762838 w 6886274"/>
              <a:gd name="connsiteY13" fmla="*/ 112764 h 5025119"/>
              <a:gd name="connsiteX14" fmla="*/ 764327 w 6886274"/>
              <a:gd name="connsiteY14" fmla="*/ 140309 h 5025119"/>
              <a:gd name="connsiteX15" fmla="*/ 775121 w 6886274"/>
              <a:gd name="connsiteY15" fmla="*/ 159666 h 5025119"/>
              <a:gd name="connsiteX16" fmla="*/ 823139 w 6886274"/>
              <a:gd name="connsiteY16" fmla="*/ 176416 h 5025119"/>
              <a:gd name="connsiteX17" fmla="*/ 707748 w 6886274"/>
              <a:gd name="connsiteY17" fmla="*/ 109414 h 5025119"/>
              <a:gd name="connsiteX18" fmla="*/ 681319 w 6886274"/>
              <a:gd name="connsiteY18" fmla="*/ 69958 h 5025119"/>
              <a:gd name="connsiteX19" fmla="*/ 640746 w 6886274"/>
              <a:gd name="connsiteY19" fmla="*/ 67352 h 5025119"/>
              <a:gd name="connsiteX20" fmla="*/ 614318 w 6886274"/>
              <a:gd name="connsiteY20" fmla="*/ 61396 h 5025119"/>
              <a:gd name="connsiteX21" fmla="*/ 560716 w 6886274"/>
              <a:gd name="connsiteY21" fmla="*/ 3701 h 5025119"/>
              <a:gd name="connsiteX22" fmla="*/ 540616 w 6886274"/>
              <a:gd name="connsiteY22" fmla="*/ 3701 h 5025119"/>
              <a:gd name="connsiteX23" fmla="*/ 543594 w 6886274"/>
              <a:gd name="connsiteY23" fmla="*/ 21940 h 5025119"/>
              <a:gd name="connsiteX24" fmla="*/ 558855 w 6886274"/>
              <a:gd name="connsiteY24" fmla="*/ 51346 h 5025119"/>
              <a:gd name="connsiteX25" fmla="*/ 557366 w 6886274"/>
              <a:gd name="connsiteY25" fmla="*/ 72563 h 5025119"/>
              <a:gd name="connsiteX26" fmla="*/ 570022 w 6886274"/>
              <a:gd name="connsiteY26" fmla="*/ 120209 h 5025119"/>
              <a:gd name="connsiteX27" fmla="*/ 599801 w 6886274"/>
              <a:gd name="connsiteY27" fmla="*/ 192794 h 5025119"/>
              <a:gd name="connsiteX28" fmla="*/ 614318 w 6886274"/>
              <a:gd name="connsiteY28" fmla="*/ 212150 h 5025119"/>
              <a:gd name="connsiteX29" fmla="*/ 623996 w 6886274"/>
              <a:gd name="connsiteY29" fmla="*/ 220711 h 5025119"/>
              <a:gd name="connsiteX30" fmla="*/ 821278 w 6886274"/>
              <a:gd name="connsiteY30" fmla="*/ 503235 h 5025119"/>
              <a:gd name="connsiteX31" fmla="*/ 1033822 w 6886274"/>
              <a:gd name="connsiteY31" fmla="*/ 694562 h 5025119"/>
              <a:gd name="connsiteX32" fmla="*/ 1039406 w 6886274"/>
              <a:gd name="connsiteY32" fmla="*/ 702378 h 5025119"/>
              <a:gd name="connsiteX33" fmla="*/ 944114 w 6886274"/>
              <a:gd name="connsiteY33" fmla="*/ 662550 h 5025119"/>
              <a:gd name="connsiteX34" fmla="*/ 733432 w 6886274"/>
              <a:gd name="connsiteY34" fmla="*/ 500629 h 5025119"/>
              <a:gd name="connsiteX35" fmla="*/ 606501 w 6886274"/>
              <a:gd name="connsiteY35" fmla="*/ 399755 h 5025119"/>
              <a:gd name="connsiteX36" fmla="*/ 588634 w 6886274"/>
              <a:gd name="connsiteY36" fmla="*/ 381143 h 5025119"/>
              <a:gd name="connsiteX37" fmla="*/ 575978 w 6886274"/>
              <a:gd name="connsiteY37" fmla="*/ 375560 h 5025119"/>
              <a:gd name="connsiteX38" fmla="*/ 567044 w 6886274"/>
              <a:gd name="connsiteY38" fmla="*/ 388588 h 5025119"/>
              <a:gd name="connsiteX39" fmla="*/ 578956 w 6886274"/>
              <a:gd name="connsiteY39" fmla="*/ 437722 h 5025119"/>
              <a:gd name="connsiteX40" fmla="*/ 675736 w 6886274"/>
              <a:gd name="connsiteY40" fmla="*/ 535619 h 5025119"/>
              <a:gd name="connsiteX41" fmla="*/ 811600 w 6886274"/>
              <a:gd name="connsiteY41" fmla="*/ 652872 h 5025119"/>
              <a:gd name="connsiteX42" fmla="*/ 818300 w 6886274"/>
              <a:gd name="connsiteY42" fmla="*/ 666272 h 5025119"/>
              <a:gd name="connsiteX43" fmla="*/ 741621 w 6886274"/>
              <a:gd name="connsiteY43" fmla="*/ 608576 h 5025119"/>
              <a:gd name="connsiteX44" fmla="*/ 666430 w 6886274"/>
              <a:gd name="connsiteY44" fmla="*/ 553114 h 5025119"/>
              <a:gd name="connsiteX45" fmla="*/ 645585 w 6886274"/>
              <a:gd name="connsiteY45" fmla="*/ 547903 h 5025119"/>
              <a:gd name="connsiteX46" fmla="*/ 640002 w 6886274"/>
              <a:gd name="connsiteY46" fmla="*/ 570236 h 5025119"/>
              <a:gd name="connsiteX47" fmla="*/ 675736 w 6886274"/>
              <a:gd name="connsiteY47" fmla="*/ 628677 h 5025119"/>
              <a:gd name="connsiteX48" fmla="*/ 855896 w 6886274"/>
              <a:gd name="connsiteY48" fmla="*/ 786875 h 5025119"/>
              <a:gd name="connsiteX49" fmla="*/ 946348 w 6886274"/>
              <a:gd name="connsiteY49" fmla="*/ 877699 h 5025119"/>
              <a:gd name="connsiteX50" fmla="*/ 950442 w 6886274"/>
              <a:gd name="connsiteY50" fmla="*/ 899661 h 5025119"/>
              <a:gd name="connsiteX51" fmla="*/ 991760 w 6886274"/>
              <a:gd name="connsiteY51" fmla="*/ 937629 h 5025119"/>
              <a:gd name="connsiteX52" fmla="*/ 1018188 w 6886274"/>
              <a:gd name="connsiteY52" fmla="*/ 945445 h 5025119"/>
              <a:gd name="connsiteX53" fmla="*/ 1315601 w 6886274"/>
              <a:gd name="connsiteY53" fmla="*/ 1196329 h 5025119"/>
              <a:gd name="connsiteX54" fmla="*/ 1454443 w 6886274"/>
              <a:gd name="connsiteY54" fmla="*/ 1279709 h 5025119"/>
              <a:gd name="connsiteX55" fmla="*/ 1454443 w 6886274"/>
              <a:gd name="connsiteY55" fmla="*/ 1285665 h 5025119"/>
              <a:gd name="connsiteX56" fmla="*/ 1453327 w 6886274"/>
              <a:gd name="connsiteY56" fmla="*/ 1291993 h 5025119"/>
              <a:gd name="connsiteX57" fmla="*/ 1256416 w 6886274"/>
              <a:gd name="connsiteY57" fmla="*/ 1166923 h 5025119"/>
              <a:gd name="connsiteX58" fmla="*/ 745715 w 6886274"/>
              <a:gd name="connsiteY58" fmla="*/ 798786 h 5025119"/>
              <a:gd name="connsiteX59" fmla="*/ 592356 w 6886274"/>
              <a:gd name="connsiteY59" fmla="*/ 656966 h 5025119"/>
              <a:gd name="connsiteX60" fmla="*/ 485526 w 6886274"/>
              <a:gd name="connsiteY60" fmla="*/ 567259 h 5025119"/>
              <a:gd name="connsiteX61" fmla="*/ 430063 w 6886274"/>
              <a:gd name="connsiteY61" fmla="*/ 550136 h 5025119"/>
              <a:gd name="connsiteX62" fmla="*/ 408846 w 6886274"/>
              <a:gd name="connsiteY62" fmla="*/ 563164 h 5025119"/>
              <a:gd name="connsiteX63" fmla="*/ 421130 w 6886274"/>
              <a:gd name="connsiteY63" fmla="*/ 581403 h 5025119"/>
              <a:gd name="connsiteX64" fmla="*/ 426713 w 6886274"/>
              <a:gd name="connsiteY64" fmla="*/ 584009 h 5025119"/>
              <a:gd name="connsiteX65" fmla="*/ 487015 w 6886274"/>
              <a:gd name="connsiteY65" fmla="*/ 635005 h 5025119"/>
              <a:gd name="connsiteX66" fmla="*/ 487015 w 6886274"/>
              <a:gd name="connsiteY66" fmla="*/ 655105 h 5025119"/>
              <a:gd name="connsiteX67" fmla="*/ 497437 w 6886274"/>
              <a:gd name="connsiteY67" fmla="*/ 678183 h 5025119"/>
              <a:gd name="connsiteX68" fmla="*/ 539871 w 6886274"/>
              <a:gd name="connsiteY68" fmla="*/ 691584 h 5025119"/>
              <a:gd name="connsiteX69" fmla="*/ 485898 w 6886274"/>
              <a:gd name="connsiteY69" fmla="*/ 681906 h 5025119"/>
              <a:gd name="connsiteX70" fmla="*/ 410335 w 6886274"/>
              <a:gd name="connsiteY70" fmla="*/ 600387 h 5025119"/>
              <a:gd name="connsiteX71" fmla="*/ 397307 w 6886274"/>
              <a:gd name="connsiteY71" fmla="*/ 582892 h 5025119"/>
              <a:gd name="connsiteX72" fmla="*/ 363062 w 6886274"/>
              <a:gd name="connsiteY72" fmla="*/ 584009 h 5025119"/>
              <a:gd name="connsiteX73" fmla="*/ 334772 w 6886274"/>
              <a:gd name="connsiteY73" fmla="*/ 578426 h 5025119"/>
              <a:gd name="connsiteX74" fmla="*/ 281915 w 6886274"/>
              <a:gd name="connsiteY74" fmla="*/ 522219 h 5025119"/>
              <a:gd name="connsiteX75" fmla="*/ 263304 w 6886274"/>
              <a:gd name="connsiteY75" fmla="*/ 521846 h 5025119"/>
              <a:gd name="connsiteX76" fmla="*/ 263676 w 6886274"/>
              <a:gd name="connsiteY76" fmla="*/ 538225 h 5025119"/>
              <a:gd name="connsiteX77" fmla="*/ 275215 w 6886274"/>
              <a:gd name="connsiteY77" fmla="*/ 563164 h 5025119"/>
              <a:gd name="connsiteX78" fmla="*/ 271121 w 6886274"/>
              <a:gd name="connsiteY78" fmla="*/ 604854 h 5025119"/>
              <a:gd name="connsiteX79" fmla="*/ 274471 w 6886274"/>
              <a:gd name="connsiteY79" fmla="*/ 627560 h 5025119"/>
              <a:gd name="connsiteX80" fmla="*/ 319138 w 6886274"/>
              <a:gd name="connsiteY80" fmla="*/ 718012 h 5025119"/>
              <a:gd name="connsiteX81" fmla="*/ 326583 w 6886274"/>
              <a:gd name="connsiteY81" fmla="*/ 729551 h 5025119"/>
              <a:gd name="connsiteX82" fmla="*/ 349289 w 6886274"/>
              <a:gd name="connsiteY82" fmla="*/ 748163 h 5025119"/>
              <a:gd name="connsiteX83" fmla="*/ 528332 w 6886274"/>
              <a:gd name="connsiteY83" fmla="*/ 1007608 h 5025119"/>
              <a:gd name="connsiteX84" fmla="*/ 766932 w 6886274"/>
              <a:gd name="connsiteY84" fmla="*/ 1222758 h 5025119"/>
              <a:gd name="connsiteX85" fmla="*/ 681319 w 6886274"/>
              <a:gd name="connsiteY85" fmla="*/ 1190746 h 5025119"/>
              <a:gd name="connsiteX86" fmla="*/ 469520 w 6886274"/>
              <a:gd name="connsiteY86" fmla="*/ 1032920 h 5025119"/>
              <a:gd name="connsiteX87" fmla="*/ 325466 w 6886274"/>
              <a:gd name="connsiteY87" fmla="*/ 917900 h 5025119"/>
              <a:gd name="connsiteX88" fmla="*/ 312066 w 6886274"/>
              <a:gd name="connsiteY88" fmla="*/ 903383 h 5025119"/>
              <a:gd name="connsiteX89" fmla="*/ 296805 w 6886274"/>
              <a:gd name="connsiteY89" fmla="*/ 895566 h 5025119"/>
              <a:gd name="connsiteX90" fmla="*/ 288243 w 6886274"/>
              <a:gd name="connsiteY90" fmla="*/ 910828 h 5025119"/>
              <a:gd name="connsiteX91" fmla="*/ 309460 w 6886274"/>
              <a:gd name="connsiteY91" fmla="*/ 971129 h 5025119"/>
              <a:gd name="connsiteX92" fmla="*/ 407729 w 6886274"/>
              <a:gd name="connsiteY92" fmla="*/ 1062698 h 5025119"/>
              <a:gd name="connsiteX93" fmla="*/ 544338 w 6886274"/>
              <a:gd name="connsiteY93" fmla="*/ 1189257 h 5025119"/>
              <a:gd name="connsiteX94" fmla="*/ 454630 w 6886274"/>
              <a:gd name="connsiteY94" fmla="*/ 1120766 h 5025119"/>
              <a:gd name="connsiteX95" fmla="*/ 385396 w 6886274"/>
              <a:gd name="connsiteY95" fmla="*/ 1070515 h 5025119"/>
              <a:gd name="connsiteX96" fmla="*/ 366040 w 6886274"/>
              <a:gd name="connsiteY96" fmla="*/ 1067537 h 5025119"/>
              <a:gd name="connsiteX97" fmla="*/ 361573 w 6886274"/>
              <a:gd name="connsiteY97" fmla="*/ 1086149 h 5025119"/>
              <a:gd name="connsiteX98" fmla="*/ 402146 w 6886274"/>
              <a:gd name="connsiteY98" fmla="*/ 1152778 h 5025119"/>
              <a:gd name="connsiteX99" fmla="*/ 475475 w 6886274"/>
              <a:gd name="connsiteY99" fmla="*/ 1218663 h 5025119"/>
              <a:gd name="connsiteX100" fmla="*/ 393957 w 6886274"/>
              <a:gd name="connsiteY100" fmla="*/ 1201913 h 5025119"/>
              <a:gd name="connsiteX101" fmla="*/ 460586 w 6886274"/>
              <a:gd name="connsiteY101" fmla="*/ 1260353 h 5025119"/>
              <a:gd name="connsiteX102" fmla="*/ 561089 w 6886274"/>
              <a:gd name="connsiteY102" fmla="*/ 1291993 h 5025119"/>
              <a:gd name="connsiteX103" fmla="*/ 602034 w 6886274"/>
              <a:gd name="connsiteY103" fmla="*/ 1328843 h 5025119"/>
              <a:gd name="connsiteX104" fmla="*/ 641863 w 6886274"/>
              <a:gd name="connsiteY104" fmla="*/ 1368672 h 5025119"/>
              <a:gd name="connsiteX105" fmla="*/ 651541 w 6886274"/>
              <a:gd name="connsiteY105" fmla="*/ 1404406 h 5025119"/>
              <a:gd name="connsiteX106" fmla="*/ 688392 w 6886274"/>
              <a:gd name="connsiteY106" fmla="*/ 1457263 h 5025119"/>
              <a:gd name="connsiteX107" fmla="*/ 692486 w 6886274"/>
              <a:gd name="connsiteY107" fmla="*/ 1458008 h 5025119"/>
              <a:gd name="connsiteX108" fmla="*/ 719287 w 6886274"/>
              <a:gd name="connsiteY108" fmla="*/ 1485181 h 5025119"/>
              <a:gd name="connsiteX109" fmla="*/ 745343 w 6886274"/>
              <a:gd name="connsiteY109" fmla="*/ 1512353 h 5025119"/>
              <a:gd name="connsiteX110" fmla="*/ 750926 w 6886274"/>
              <a:gd name="connsiteY110" fmla="*/ 1516448 h 5025119"/>
              <a:gd name="connsiteX111" fmla="*/ 890141 w 6886274"/>
              <a:gd name="connsiteY111" fmla="*/ 1685813 h 5025119"/>
              <a:gd name="connsiteX112" fmla="*/ 899074 w 6886274"/>
              <a:gd name="connsiteY112" fmla="*/ 1693630 h 5025119"/>
              <a:gd name="connsiteX113" fmla="*/ 605012 w 6886274"/>
              <a:gd name="connsiteY113" fmla="*/ 1669435 h 5025119"/>
              <a:gd name="connsiteX114" fmla="*/ 229431 w 6886274"/>
              <a:gd name="connsiteY114" fmla="*/ 1545110 h 5025119"/>
              <a:gd name="connsiteX115" fmla="*/ 251765 w 6886274"/>
              <a:gd name="connsiteY115" fmla="*/ 1614717 h 5025119"/>
              <a:gd name="connsiteX116" fmla="*/ 237992 w 6886274"/>
              <a:gd name="connsiteY116" fmla="*/ 1675391 h 5025119"/>
              <a:gd name="connsiteX117" fmla="*/ 232781 w 6886274"/>
              <a:gd name="connsiteY117" fmla="*/ 1807160 h 5025119"/>
              <a:gd name="connsiteX118" fmla="*/ 236131 w 6886274"/>
              <a:gd name="connsiteY118" fmla="*/ 1828750 h 5025119"/>
              <a:gd name="connsiteX119" fmla="*/ 152007 w 6886274"/>
              <a:gd name="connsiteY119" fmla="*/ 1842150 h 5025119"/>
              <a:gd name="connsiteX120" fmla="*/ 653030 w 6886274"/>
              <a:gd name="connsiteY120" fmla="*/ 2213265 h 5025119"/>
              <a:gd name="connsiteX121" fmla="*/ 318394 w 6886274"/>
              <a:gd name="connsiteY121" fmla="*/ 2143285 h 5025119"/>
              <a:gd name="connsiteX122" fmla="*/ 272982 w 6886274"/>
              <a:gd name="connsiteY122" fmla="*/ 2258305 h 5025119"/>
              <a:gd name="connsiteX123" fmla="*/ 430435 w 6886274"/>
              <a:gd name="connsiteY123" fmla="*/ 2360668 h 5025119"/>
              <a:gd name="connsiteX124" fmla="*/ 488876 w 6886274"/>
              <a:gd name="connsiteY124" fmla="*/ 2563162 h 5025119"/>
              <a:gd name="connsiteX125" fmla="*/ 460586 w 6886274"/>
              <a:gd name="connsiteY125" fmla="*/ 2748533 h 5025119"/>
              <a:gd name="connsiteX126" fmla="*/ 393212 w 6886274"/>
              <a:gd name="connsiteY126" fmla="*/ 2807345 h 5025119"/>
              <a:gd name="connsiteX127" fmla="*/ 295688 w 6886274"/>
              <a:gd name="connsiteY127" fmla="*/ 2913059 h 5025119"/>
              <a:gd name="connsiteX128" fmla="*/ 235386 w 6886274"/>
              <a:gd name="connsiteY128" fmla="*/ 2978572 h 5025119"/>
              <a:gd name="connsiteX129" fmla="*/ 25448 w 6886274"/>
              <a:gd name="connsiteY129" fmla="*/ 2952888 h 5025119"/>
              <a:gd name="connsiteX130" fmla="*/ 305738 w 6886274"/>
              <a:gd name="connsiteY130" fmla="*/ 3119275 h 5025119"/>
              <a:gd name="connsiteX131" fmla="*/ 79049 w 6886274"/>
              <a:gd name="connsiteY131" fmla="*/ 3098430 h 5025119"/>
              <a:gd name="connsiteX132" fmla="*/ 4975 w 6886274"/>
              <a:gd name="connsiteY132" fmla="*/ 3109969 h 5025119"/>
              <a:gd name="connsiteX133" fmla="*/ 47037 w 6886274"/>
              <a:gd name="connsiteY133" fmla="*/ 3163943 h 5025119"/>
              <a:gd name="connsiteX134" fmla="*/ 213425 w 6886274"/>
              <a:gd name="connsiteY134" fmla="*/ 3255139 h 5025119"/>
              <a:gd name="connsiteX135" fmla="*/ 556622 w 6886274"/>
              <a:gd name="connsiteY135" fmla="*/ 3502301 h 5025119"/>
              <a:gd name="connsiteX136" fmla="*/ 224592 w 6886274"/>
              <a:gd name="connsiteY136" fmla="*/ 3388771 h 5025119"/>
              <a:gd name="connsiteX137" fmla="*/ 574861 w 6886274"/>
              <a:gd name="connsiteY137" fmla="*/ 3643004 h 5025119"/>
              <a:gd name="connsiteX138" fmla="*/ 652657 w 6886274"/>
              <a:gd name="connsiteY138" fmla="*/ 3727501 h 5025119"/>
              <a:gd name="connsiteX139" fmla="*/ 810111 w 6886274"/>
              <a:gd name="connsiteY139" fmla="*/ 3937067 h 5025119"/>
              <a:gd name="connsiteX140" fmla="*/ 802294 w 6886274"/>
              <a:gd name="connsiteY140" fmla="*/ 3960890 h 5025119"/>
              <a:gd name="connsiteX141" fmla="*/ 620646 w 6886274"/>
              <a:gd name="connsiteY141" fmla="*/ 3927017 h 5025119"/>
              <a:gd name="connsiteX142" fmla="*/ 856268 w 6886274"/>
              <a:gd name="connsiteY142" fmla="*/ 4103082 h 5025119"/>
              <a:gd name="connsiteX143" fmla="*/ 1099707 w 6886274"/>
              <a:gd name="connsiteY143" fmla="*/ 4238574 h 5025119"/>
              <a:gd name="connsiteX144" fmla="*/ 926992 w 6886274"/>
              <a:gd name="connsiteY144" fmla="*/ 4218102 h 5025119"/>
              <a:gd name="connsiteX145" fmla="*/ 689508 w 6886274"/>
              <a:gd name="connsiteY145" fmla="*/ 4140677 h 5025119"/>
              <a:gd name="connsiteX146" fmla="*/ 606873 w 6886274"/>
              <a:gd name="connsiteY146" fmla="*/ 4169711 h 5025119"/>
              <a:gd name="connsiteX147" fmla="*/ 831701 w 6886274"/>
              <a:gd name="connsiteY147" fmla="*/ 4297759 h 5025119"/>
              <a:gd name="connsiteX148" fmla="*/ 960493 w 6886274"/>
              <a:gd name="connsiteY148" fmla="*/ 4356944 h 5025119"/>
              <a:gd name="connsiteX149" fmla="*/ 1012233 w 6886274"/>
              <a:gd name="connsiteY149" fmla="*/ 4402356 h 5025119"/>
              <a:gd name="connsiteX150" fmla="*/ 1159636 w 6886274"/>
              <a:gd name="connsiteY150" fmla="*/ 4564276 h 5025119"/>
              <a:gd name="connsiteX151" fmla="*/ 1592169 w 6886274"/>
              <a:gd name="connsiteY151" fmla="*/ 4741458 h 5025119"/>
              <a:gd name="connsiteX152" fmla="*/ 3110499 w 6886274"/>
              <a:gd name="connsiteY152" fmla="*/ 5032171 h 5025119"/>
              <a:gd name="connsiteX153" fmla="*/ 6033630 w 6886274"/>
              <a:gd name="connsiteY153" fmla="*/ 4091915 h 5025119"/>
              <a:gd name="connsiteX154" fmla="*/ 6180661 w 6886274"/>
              <a:gd name="connsiteY154" fmla="*/ 3957912 h 5025119"/>
              <a:gd name="connsiteX155" fmla="*/ 6305359 w 6886274"/>
              <a:gd name="connsiteY155" fmla="*/ 3837309 h 5025119"/>
              <a:gd name="connsiteX156" fmla="*/ 6240218 w 6886274"/>
              <a:gd name="connsiteY156" fmla="*/ 3796364 h 5025119"/>
              <a:gd name="connsiteX157" fmla="*/ 6328437 w 6886274"/>
              <a:gd name="connsiteY157" fmla="*/ 3681344 h 5025119"/>
              <a:gd name="connsiteX158" fmla="*/ 6608355 w 6886274"/>
              <a:gd name="connsiteY158" fmla="*/ 3326236 h 5025119"/>
              <a:gd name="connsiteX159" fmla="*/ 6731191 w 6886274"/>
              <a:gd name="connsiteY159" fmla="*/ 3248067 h 5025119"/>
              <a:gd name="connsiteX160" fmla="*/ 6880456 w 6886274"/>
              <a:gd name="connsiteY160" fmla="*/ 3051529 h 5025119"/>
              <a:gd name="connsiteX161" fmla="*/ 6901673 w 6886274"/>
              <a:gd name="connsiteY161" fmla="*/ 2763795 h 5025119"/>
              <a:gd name="connsiteX162" fmla="*/ 6871150 w 6886274"/>
              <a:gd name="connsiteY162" fmla="*/ 2948421 h 5025119"/>
              <a:gd name="connsiteX163" fmla="*/ 6848444 w 6886274"/>
              <a:gd name="connsiteY163" fmla="*/ 2890353 h 5025119"/>
              <a:gd name="connsiteX164" fmla="*/ 6878223 w 6886274"/>
              <a:gd name="connsiteY164" fmla="*/ 2873230 h 5025119"/>
              <a:gd name="connsiteX165" fmla="*/ 6762459 w 6886274"/>
              <a:gd name="connsiteY165" fmla="*/ 2568745 h 5025119"/>
              <a:gd name="connsiteX166" fmla="*/ 6673123 w 6886274"/>
              <a:gd name="connsiteY166" fmla="*/ 2451493 h 5025119"/>
              <a:gd name="connsiteX167" fmla="*/ 6662700 w 6886274"/>
              <a:gd name="connsiteY167" fmla="*/ 2346896 h 5025119"/>
              <a:gd name="connsiteX168" fmla="*/ 6487752 w 6886274"/>
              <a:gd name="connsiteY168" fmla="*/ 2285105 h 5025119"/>
              <a:gd name="connsiteX169" fmla="*/ 6652278 w 6886274"/>
              <a:gd name="connsiteY169" fmla="*/ 2063628 h 5025119"/>
              <a:gd name="connsiteX170" fmla="*/ 6668656 w 6886274"/>
              <a:gd name="connsiteY170" fmla="*/ 2017843 h 5025119"/>
              <a:gd name="connsiteX171" fmla="*/ 6570015 w 6886274"/>
              <a:gd name="connsiteY171" fmla="*/ 1854062 h 5025119"/>
              <a:gd name="connsiteX172" fmla="*/ 6554009 w 6886274"/>
              <a:gd name="connsiteY172" fmla="*/ 1827633 h 5025119"/>
              <a:gd name="connsiteX173" fmla="*/ 6517531 w 6886274"/>
              <a:gd name="connsiteY173" fmla="*/ 1775149 h 5025119"/>
              <a:gd name="connsiteX174" fmla="*/ 6412934 w 6886274"/>
              <a:gd name="connsiteY174" fmla="*/ 1762493 h 5025119"/>
              <a:gd name="connsiteX175" fmla="*/ 6467279 w 6886274"/>
              <a:gd name="connsiteY175" fmla="*/ 1725642 h 5025119"/>
              <a:gd name="connsiteX176" fmla="*/ 6572621 w 6886274"/>
              <a:gd name="connsiteY176" fmla="*/ 1600200 h 5025119"/>
              <a:gd name="connsiteX177" fmla="*/ 6502641 w 6886274"/>
              <a:gd name="connsiteY177" fmla="*/ 1480341 h 5025119"/>
              <a:gd name="connsiteX178" fmla="*/ 6481796 w 6886274"/>
              <a:gd name="connsiteY178" fmla="*/ 1461358 h 5025119"/>
              <a:gd name="connsiteX179" fmla="*/ 6509713 w 6886274"/>
              <a:gd name="connsiteY179" fmla="*/ 1436418 h 5025119"/>
              <a:gd name="connsiteX180" fmla="*/ 6567037 w 6886274"/>
              <a:gd name="connsiteY180" fmla="*/ 1348199 h 5025119"/>
              <a:gd name="connsiteX181" fmla="*/ 6596816 w 6886274"/>
              <a:gd name="connsiteY181" fmla="*/ 1286781 h 5025119"/>
              <a:gd name="connsiteX182" fmla="*/ 6632178 w 6886274"/>
              <a:gd name="connsiteY182" fmla="*/ 1261842 h 5025119"/>
              <a:gd name="connsiteX183" fmla="*/ 6639994 w 6886274"/>
              <a:gd name="connsiteY183" fmla="*/ 1240625 h 5025119"/>
              <a:gd name="connsiteX184" fmla="*/ 6622127 w 6886274"/>
              <a:gd name="connsiteY184" fmla="*/ 1136400 h 5025119"/>
              <a:gd name="connsiteX185" fmla="*/ 6612077 w 6886274"/>
              <a:gd name="connsiteY185" fmla="*/ 1109599 h 5025119"/>
              <a:gd name="connsiteX186" fmla="*/ 6531675 w 6886274"/>
              <a:gd name="connsiteY186" fmla="*/ 1009469 h 5025119"/>
              <a:gd name="connsiteX187" fmla="*/ 6456113 w 6886274"/>
              <a:gd name="connsiteY187" fmla="*/ 845315 h 5025119"/>
              <a:gd name="connsiteX188" fmla="*/ 6440851 w 6886274"/>
              <a:gd name="connsiteY188" fmla="*/ 739229 h 5025119"/>
              <a:gd name="connsiteX189" fmla="*/ 6434523 w 6886274"/>
              <a:gd name="connsiteY189" fmla="*/ 715034 h 5025119"/>
              <a:gd name="connsiteX190" fmla="*/ 6432290 w 6886274"/>
              <a:gd name="connsiteY190" fmla="*/ 617510 h 5025119"/>
              <a:gd name="connsiteX191" fmla="*/ 6416284 w 6886274"/>
              <a:gd name="connsiteY191" fmla="*/ 595176 h 5025119"/>
              <a:gd name="connsiteX192" fmla="*/ 6267763 w 6886274"/>
              <a:gd name="connsiteY192" fmla="*/ 591826 h 5025119"/>
              <a:gd name="connsiteX193" fmla="*/ 6236496 w 6886274"/>
              <a:gd name="connsiteY193" fmla="*/ 521102 h 5025119"/>
              <a:gd name="connsiteX194" fmla="*/ 6257341 w 6886274"/>
              <a:gd name="connsiteY194" fmla="*/ 487229 h 5025119"/>
              <a:gd name="connsiteX195" fmla="*/ 6248780 w 6886274"/>
              <a:gd name="connsiteY195" fmla="*/ 465267 h 5025119"/>
              <a:gd name="connsiteX196" fmla="*/ 6226818 w 6886274"/>
              <a:gd name="connsiteY196" fmla="*/ 473456 h 5025119"/>
              <a:gd name="connsiteX197" fmla="*/ 6115149 w 6886274"/>
              <a:gd name="connsiteY197" fmla="*/ 551625 h 5025119"/>
              <a:gd name="connsiteX198" fmla="*/ 5951739 w 6886274"/>
              <a:gd name="connsiteY198" fmla="*/ 659944 h 5025119"/>
              <a:gd name="connsiteX199" fmla="*/ 5917122 w 6886274"/>
              <a:gd name="connsiteY199" fmla="*/ 644310 h 5025119"/>
              <a:gd name="connsiteX200" fmla="*/ 5890694 w 6886274"/>
              <a:gd name="connsiteY200" fmla="*/ 630538 h 5025119"/>
              <a:gd name="connsiteX201" fmla="*/ 5837464 w 6886274"/>
              <a:gd name="connsiteY201" fmla="*/ 646916 h 5025119"/>
              <a:gd name="connsiteX202" fmla="*/ 5809175 w 6886274"/>
              <a:gd name="connsiteY202" fmla="*/ 683395 h 5025119"/>
              <a:gd name="connsiteX203" fmla="*/ 5815503 w 6886274"/>
              <a:gd name="connsiteY203" fmla="*/ 698656 h 5025119"/>
              <a:gd name="connsiteX204" fmla="*/ 5746268 w 6886274"/>
              <a:gd name="connsiteY204" fmla="*/ 667389 h 5025119"/>
              <a:gd name="connsiteX205" fmla="*/ 5458905 w 6886274"/>
              <a:gd name="connsiteY205" fmla="*/ 754119 h 5025119"/>
              <a:gd name="connsiteX206" fmla="*/ 885302 w 6886274"/>
              <a:gd name="connsiteY206" fmla="*/ 1333310 h 5025119"/>
              <a:gd name="connsiteX207" fmla="*/ 862596 w 6886274"/>
              <a:gd name="connsiteY207" fmla="*/ 1314326 h 5025119"/>
              <a:gd name="connsiteX208" fmla="*/ 866318 w 6886274"/>
              <a:gd name="connsiteY208" fmla="*/ 1309860 h 5025119"/>
              <a:gd name="connsiteX209" fmla="*/ 912103 w 6886274"/>
              <a:gd name="connsiteY209" fmla="*/ 1341127 h 5025119"/>
              <a:gd name="connsiteX210" fmla="*/ 885302 w 6886274"/>
              <a:gd name="connsiteY210" fmla="*/ 1333310 h 5025119"/>
              <a:gd name="connsiteX211" fmla="*/ 1140280 w 6886274"/>
              <a:gd name="connsiteY211" fmla="*/ 787619 h 5025119"/>
              <a:gd name="connsiteX212" fmla="*/ 1414987 w 6886274"/>
              <a:gd name="connsiteY212" fmla="*/ 975596 h 5025119"/>
              <a:gd name="connsiteX213" fmla="*/ 1410892 w 6886274"/>
              <a:gd name="connsiteY213" fmla="*/ 980063 h 5025119"/>
              <a:gd name="connsiteX214" fmla="*/ 1140280 w 6886274"/>
              <a:gd name="connsiteY214" fmla="*/ 787619 h 502511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</a:cxnLst>
            <a:rect l="l" t="t" r="r" b="b"/>
            <a:pathLst>
              <a:path w="6886274" h="5025119">
                <a:moveTo>
                  <a:pt x="5458905" y="754119"/>
                </a:moveTo>
                <a:cubicBezTo>
                  <a:pt x="5417216" y="775336"/>
                  <a:pt x="4594585" y="1111088"/>
                  <a:pt x="3455557" y="1027709"/>
                </a:cubicBezTo>
                <a:cubicBezTo>
                  <a:pt x="3415356" y="1024731"/>
                  <a:pt x="3377389" y="1022869"/>
                  <a:pt x="3338677" y="1021381"/>
                </a:cubicBezTo>
                <a:cubicBezTo>
                  <a:pt x="2996224" y="1006119"/>
                  <a:pt x="2660100" y="998674"/>
                  <a:pt x="2518280" y="980435"/>
                </a:cubicBezTo>
                <a:cubicBezTo>
                  <a:pt x="2407355" y="965918"/>
                  <a:pt x="1840075" y="843082"/>
                  <a:pt x="1673687" y="739229"/>
                </a:cubicBezTo>
                <a:cubicBezTo>
                  <a:pt x="1503578" y="632771"/>
                  <a:pt x="1343146" y="515146"/>
                  <a:pt x="1183459" y="397149"/>
                </a:cubicBezTo>
                <a:cubicBezTo>
                  <a:pt x="1114224" y="346153"/>
                  <a:pt x="1040522" y="299624"/>
                  <a:pt x="977987" y="241184"/>
                </a:cubicBezTo>
                <a:cubicBezTo>
                  <a:pt x="915453" y="182372"/>
                  <a:pt x="855896" y="121326"/>
                  <a:pt x="788150" y="66980"/>
                </a:cubicBezTo>
                <a:cubicBezTo>
                  <a:pt x="768794" y="51346"/>
                  <a:pt x="749438" y="34596"/>
                  <a:pt x="721148" y="31990"/>
                </a:cubicBezTo>
                <a:cubicBezTo>
                  <a:pt x="714820" y="31246"/>
                  <a:pt x="708120" y="31618"/>
                  <a:pt x="701792" y="32362"/>
                </a:cubicBezTo>
                <a:cubicBezTo>
                  <a:pt x="694720" y="33107"/>
                  <a:pt x="689136" y="36829"/>
                  <a:pt x="686530" y="43157"/>
                </a:cubicBezTo>
                <a:cubicBezTo>
                  <a:pt x="683925" y="50230"/>
                  <a:pt x="688392" y="54324"/>
                  <a:pt x="693603" y="58046"/>
                </a:cubicBezTo>
                <a:cubicBezTo>
                  <a:pt x="697325" y="60652"/>
                  <a:pt x="701047" y="64747"/>
                  <a:pt x="705886" y="65491"/>
                </a:cubicBezTo>
                <a:cubicBezTo>
                  <a:pt x="736782" y="69958"/>
                  <a:pt x="748321" y="92664"/>
                  <a:pt x="762838" y="112764"/>
                </a:cubicBezTo>
                <a:cubicBezTo>
                  <a:pt x="769166" y="121326"/>
                  <a:pt x="775866" y="128026"/>
                  <a:pt x="764327" y="140309"/>
                </a:cubicBezTo>
                <a:cubicBezTo>
                  <a:pt x="754277" y="151104"/>
                  <a:pt x="764699" y="156688"/>
                  <a:pt x="775121" y="159666"/>
                </a:cubicBezTo>
                <a:cubicBezTo>
                  <a:pt x="789638" y="163760"/>
                  <a:pt x="806761" y="163016"/>
                  <a:pt x="823139" y="176416"/>
                </a:cubicBezTo>
                <a:cubicBezTo>
                  <a:pt x="761721" y="177533"/>
                  <a:pt x="735665" y="142171"/>
                  <a:pt x="707748" y="109414"/>
                </a:cubicBezTo>
                <a:cubicBezTo>
                  <a:pt x="697325" y="97503"/>
                  <a:pt x="690253" y="83358"/>
                  <a:pt x="681319" y="69958"/>
                </a:cubicBezTo>
                <a:cubicBezTo>
                  <a:pt x="670152" y="53580"/>
                  <a:pt x="657124" y="52835"/>
                  <a:pt x="640746" y="67352"/>
                </a:cubicBezTo>
                <a:cubicBezTo>
                  <a:pt x="626229" y="80380"/>
                  <a:pt x="619157" y="79264"/>
                  <a:pt x="614318" y="61396"/>
                </a:cubicBezTo>
                <a:cubicBezTo>
                  <a:pt x="606873" y="33479"/>
                  <a:pt x="589750" y="13751"/>
                  <a:pt x="560716" y="3701"/>
                </a:cubicBezTo>
                <a:cubicBezTo>
                  <a:pt x="554388" y="1467"/>
                  <a:pt x="546572" y="-3372"/>
                  <a:pt x="540616" y="3701"/>
                </a:cubicBezTo>
                <a:cubicBezTo>
                  <a:pt x="535405" y="9656"/>
                  <a:pt x="539871" y="16729"/>
                  <a:pt x="543594" y="21940"/>
                </a:cubicBezTo>
                <a:cubicBezTo>
                  <a:pt x="550294" y="31246"/>
                  <a:pt x="556250" y="40179"/>
                  <a:pt x="558855" y="51346"/>
                </a:cubicBezTo>
                <a:cubicBezTo>
                  <a:pt x="560716" y="58791"/>
                  <a:pt x="562578" y="66980"/>
                  <a:pt x="557366" y="72563"/>
                </a:cubicBezTo>
                <a:cubicBezTo>
                  <a:pt x="535777" y="96386"/>
                  <a:pt x="551411" y="107553"/>
                  <a:pt x="570022" y="120209"/>
                </a:cubicBezTo>
                <a:cubicBezTo>
                  <a:pt x="595706" y="137332"/>
                  <a:pt x="605756" y="162643"/>
                  <a:pt x="599801" y="192794"/>
                </a:cubicBezTo>
                <a:cubicBezTo>
                  <a:pt x="597567" y="205078"/>
                  <a:pt x="599056" y="212522"/>
                  <a:pt x="614318" y="212150"/>
                </a:cubicBezTo>
                <a:cubicBezTo>
                  <a:pt x="620273" y="212150"/>
                  <a:pt x="621762" y="216245"/>
                  <a:pt x="623996" y="220711"/>
                </a:cubicBezTo>
                <a:cubicBezTo>
                  <a:pt x="671641" y="326053"/>
                  <a:pt x="740504" y="418366"/>
                  <a:pt x="821278" y="503235"/>
                </a:cubicBezTo>
                <a:cubicBezTo>
                  <a:pt x="886791" y="572098"/>
                  <a:pt x="959004" y="634260"/>
                  <a:pt x="1033822" y="694562"/>
                </a:cubicBezTo>
                <a:cubicBezTo>
                  <a:pt x="1036055" y="696423"/>
                  <a:pt x="1038289" y="698656"/>
                  <a:pt x="1039406" y="702378"/>
                </a:cubicBezTo>
                <a:cubicBezTo>
                  <a:pt x="1004044" y="694934"/>
                  <a:pt x="973521" y="679672"/>
                  <a:pt x="944114" y="662550"/>
                </a:cubicBezTo>
                <a:cubicBezTo>
                  <a:pt x="865946" y="617138"/>
                  <a:pt x="800061" y="558325"/>
                  <a:pt x="733432" y="500629"/>
                </a:cubicBezTo>
                <a:cubicBezTo>
                  <a:pt x="692858" y="465267"/>
                  <a:pt x="651169" y="431022"/>
                  <a:pt x="606501" y="399755"/>
                </a:cubicBezTo>
                <a:cubicBezTo>
                  <a:pt x="599056" y="394543"/>
                  <a:pt x="593845" y="387843"/>
                  <a:pt x="588634" y="381143"/>
                </a:cubicBezTo>
                <a:cubicBezTo>
                  <a:pt x="585656" y="377421"/>
                  <a:pt x="581934" y="374071"/>
                  <a:pt x="575978" y="375560"/>
                </a:cubicBezTo>
                <a:cubicBezTo>
                  <a:pt x="568533" y="377421"/>
                  <a:pt x="567789" y="383004"/>
                  <a:pt x="567044" y="388588"/>
                </a:cubicBezTo>
                <a:cubicBezTo>
                  <a:pt x="564811" y="406455"/>
                  <a:pt x="569650" y="422461"/>
                  <a:pt x="578956" y="437722"/>
                </a:cubicBezTo>
                <a:cubicBezTo>
                  <a:pt x="603151" y="476806"/>
                  <a:pt x="638885" y="506957"/>
                  <a:pt x="675736" y="535619"/>
                </a:cubicBezTo>
                <a:cubicBezTo>
                  <a:pt x="723381" y="572470"/>
                  <a:pt x="769538" y="610810"/>
                  <a:pt x="811600" y="652872"/>
                </a:cubicBezTo>
                <a:cubicBezTo>
                  <a:pt x="814578" y="655850"/>
                  <a:pt x="820161" y="657711"/>
                  <a:pt x="818300" y="666272"/>
                </a:cubicBezTo>
                <a:cubicBezTo>
                  <a:pt x="791872" y="646544"/>
                  <a:pt x="766932" y="627188"/>
                  <a:pt x="741621" y="608576"/>
                </a:cubicBezTo>
                <a:cubicBezTo>
                  <a:pt x="716681" y="589965"/>
                  <a:pt x="691369" y="571353"/>
                  <a:pt x="666430" y="553114"/>
                </a:cubicBezTo>
                <a:cubicBezTo>
                  <a:pt x="660474" y="548647"/>
                  <a:pt x="654146" y="542319"/>
                  <a:pt x="645585" y="547903"/>
                </a:cubicBezTo>
                <a:cubicBezTo>
                  <a:pt x="636652" y="553486"/>
                  <a:pt x="637768" y="562792"/>
                  <a:pt x="640002" y="570236"/>
                </a:cubicBezTo>
                <a:cubicBezTo>
                  <a:pt x="647074" y="592198"/>
                  <a:pt x="659358" y="611554"/>
                  <a:pt x="675736" y="628677"/>
                </a:cubicBezTo>
                <a:cubicBezTo>
                  <a:pt x="731570" y="685256"/>
                  <a:pt x="795966" y="734018"/>
                  <a:pt x="855896" y="786875"/>
                </a:cubicBezTo>
                <a:cubicBezTo>
                  <a:pt x="888280" y="815537"/>
                  <a:pt x="918058" y="846060"/>
                  <a:pt x="946348" y="877699"/>
                </a:cubicBezTo>
                <a:cubicBezTo>
                  <a:pt x="952676" y="884772"/>
                  <a:pt x="952303" y="891472"/>
                  <a:pt x="950442" y="899661"/>
                </a:cubicBezTo>
                <a:cubicBezTo>
                  <a:pt x="942998" y="932790"/>
                  <a:pt x="954537" y="943957"/>
                  <a:pt x="991760" y="937629"/>
                </a:cubicBezTo>
                <a:cubicBezTo>
                  <a:pt x="1003299" y="935767"/>
                  <a:pt x="1011116" y="937629"/>
                  <a:pt x="1018188" y="945445"/>
                </a:cubicBezTo>
                <a:cubicBezTo>
                  <a:pt x="1103802" y="1042225"/>
                  <a:pt x="1205048" y="1123744"/>
                  <a:pt x="1315601" y="1196329"/>
                </a:cubicBezTo>
                <a:cubicBezTo>
                  <a:pt x="1360641" y="1225735"/>
                  <a:pt x="1407170" y="1253653"/>
                  <a:pt x="1454443" y="1279709"/>
                </a:cubicBezTo>
                <a:cubicBezTo>
                  <a:pt x="1454443" y="1281570"/>
                  <a:pt x="1454443" y="1283804"/>
                  <a:pt x="1454443" y="1285665"/>
                </a:cubicBezTo>
                <a:cubicBezTo>
                  <a:pt x="1454071" y="1288270"/>
                  <a:pt x="1453699" y="1289759"/>
                  <a:pt x="1453327" y="1291993"/>
                </a:cubicBezTo>
                <a:cubicBezTo>
                  <a:pt x="1386697" y="1251792"/>
                  <a:pt x="1320812" y="1210474"/>
                  <a:pt x="1256416" y="1166923"/>
                </a:cubicBezTo>
                <a:cubicBezTo>
                  <a:pt x="1081840" y="1048926"/>
                  <a:pt x="915080" y="922367"/>
                  <a:pt x="745715" y="798786"/>
                </a:cubicBezTo>
                <a:cubicBezTo>
                  <a:pt x="688764" y="757096"/>
                  <a:pt x="643724" y="703867"/>
                  <a:pt x="592356" y="656966"/>
                </a:cubicBezTo>
                <a:cubicBezTo>
                  <a:pt x="558111" y="625699"/>
                  <a:pt x="525354" y="592943"/>
                  <a:pt x="485526" y="567259"/>
                </a:cubicBezTo>
                <a:cubicBezTo>
                  <a:pt x="469148" y="556836"/>
                  <a:pt x="452025" y="547530"/>
                  <a:pt x="430063" y="550136"/>
                </a:cubicBezTo>
                <a:cubicBezTo>
                  <a:pt x="421502" y="551253"/>
                  <a:pt x="411824" y="553486"/>
                  <a:pt x="408846" y="563164"/>
                </a:cubicBezTo>
                <a:cubicBezTo>
                  <a:pt x="406240" y="572842"/>
                  <a:pt x="414057" y="577309"/>
                  <a:pt x="421130" y="581403"/>
                </a:cubicBezTo>
                <a:cubicBezTo>
                  <a:pt x="422991" y="582520"/>
                  <a:pt x="424852" y="584009"/>
                  <a:pt x="426713" y="584009"/>
                </a:cubicBezTo>
                <a:cubicBezTo>
                  <a:pt x="462075" y="586242"/>
                  <a:pt x="470264" y="614532"/>
                  <a:pt x="487015" y="635005"/>
                </a:cubicBezTo>
                <a:cubicBezTo>
                  <a:pt x="492226" y="641333"/>
                  <a:pt x="492598" y="647661"/>
                  <a:pt x="487015" y="655105"/>
                </a:cubicBezTo>
                <a:cubicBezTo>
                  <a:pt x="476964" y="668505"/>
                  <a:pt x="484037" y="674461"/>
                  <a:pt x="497437" y="678183"/>
                </a:cubicBezTo>
                <a:cubicBezTo>
                  <a:pt x="510837" y="681906"/>
                  <a:pt x="525354" y="683022"/>
                  <a:pt x="539871" y="691584"/>
                </a:cubicBezTo>
                <a:cubicBezTo>
                  <a:pt x="516793" y="698656"/>
                  <a:pt x="500787" y="691212"/>
                  <a:pt x="485898" y="681906"/>
                </a:cubicBezTo>
                <a:cubicBezTo>
                  <a:pt x="452397" y="661433"/>
                  <a:pt x="430808" y="631282"/>
                  <a:pt x="410335" y="600387"/>
                </a:cubicBezTo>
                <a:cubicBezTo>
                  <a:pt x="406240" y="594431"/>
                  <a:pt x="402890" y="587731"/>
                  <a:pt x="397307" y="582892"/>
                </a:cubicBezTo>
                <a:cubicBezTo>
                  <a:pt x="386884" y="573214"/>
                  <a:pt x="375717" y="572098"/>
                  <a:pt x="363062" y="584009"/>
                </a:cubicBezTo>
                <a:cubicBezTo>
                  <a:pt x="346311" y="599643"/>
                  <a:pt x="340356" y="598526"/>
                  <a:pt x="334772" y="578426"/>
                </a:cubicBezTo>
                <a:cubicBezTo>
                  <a:pt x="327327" y="551253"/>
                  <a:pt x="310577" y="532269"/>
                  <a:pt x="281915" y="522219"/>
                </a:cubicBezTo>
                <a:cubicBezTo>
                  <a:pt x="275960" y="519985"/>
                  <a:pt x="269632" y="517007"/>
                  <a:pt x="263304" y="521846"/>
                </a:cubicBezTo>
                <a:cubicBezTo>
                  <a:pt x="256604" y="527430"/>
                  <a:pt x="261070" y="533013"/>
                  <a:pt x="263676" y="538225"/>
                </a:cubicBezTo>
                <a:cubicBezTo>
                  <a:pt x="267398" y="546414"/>
                  <a:pt x="271865" y="554603"/>
                  <a:pt x="275215" y="563164"/>
                </a:cubicBezTo>
                <a:cubicBezTo>
                  <a:pt x="281171" y="576937"/>
                  <a:pt x="282288" y="591454"/>
                  <a:pt x="271121" y="604854"/>
                </a:cubicBezTo>
                <a:cubicBezTo>
                  <a:pt x="262931" y="614532"/>
                  <a:pt x="263676" y="620860"/>
                  <a:pt x="274471" y="627560"/>
                </a:cubicBezTo>
                <a:cubicBezTo>
                  <a:pt x="309088" y="648405"/>
                  <a:pt x="331050" y="675578"/>
                  <a:pt x="319138" y="718012"/>
                </a:cubicBezTo>
                <a:cubicBezTo>
                  <a:pt x="317277" y="723968"/>
                  <a:pt x="319511" y="729924"/>
                  <a:pt x="326583" y="729551"/>
                </a:cubicBezTo>
                <a:cubicBezTo>
                  <a:pt x="342217" y="728435"/>
                  <a:pt x="344822" y="738113"/>
                  <a:pt x="349289" y="748163"/>
                </a:cubicBezTo>
                <a:cubicBezTo>
                  <a:pt x="392840" y="844571"/>
                  <a:pt x="455747" y="928695"/>
                  <a:pt x="528332" y="1007608"/>
                </a:cubicBezTo>
                <a:cubicBezTo>
                  <a:pt x="600173" y="1085777"/>
                  <a:pt x="680947" y="1155756"/>
                  <a:pt x="766932" y="1222758"/>
                </a:cubicBezTo>
                <a:cubicBezTo>
                  <a:pt x="742737" y="1220524"/>
                  <a:pt x="711470" y="1206752"/>
                  <a:pt x="681319" y="1190746"/>
                </a:cubicBezTo>
                <a:cubicBezTo>
                  <a:pt x="601662" y="1147939"/>
                  <a:pt x="536149" y="1089871"/>
                  <a:pt x="469520" y="1032920"/>
                </a:cubicBezTo>
                <a:cubicBezTo>
                  <a:pt x="422991" y="993091"/>
                  <a:pt x="377579" y="952146"/>
                  <a:pt x="325466" y="917900"/>
                </a:cubicBezTo>
                <a:cubicBezTo>
                  <a:pt x="319511" y="914178"/>
                  <a:pt x="315416" y="909339"/>
                  <a:pt x="312066" y="903383"/>
                </a:cubicBezTo>
                <a:cubicBezTo>
                  <a:pt x="309088" y="898172"/>
                  <a:pt x="304621" y="893333"/>
                  <a:pt x="296805" y="895566"/>
                </a:cubicBezTo>
                <a:cubicBezTo>
                  <a:pt x="288988" y="898172"/>
                  <a:pt x="288243" y="904872"/>
                  <a:pt x="288243" y="910828"/>
                </a:cubicBezTo>
                <a:cubicBezTo>
                  <a:pt x="289360" y="933162"/>
                  <a:pt x="295688" y="953262"/>
                  <a:pt x="309460" y="971129"/>
                </a:cubicBezTo>
                <a:cubicBezTo>
                  <a:pt x="336261" y="1006864"/>
                  <a:pt x="371995" y="1034781"/>
                  <a:pt x="407729" y="1062698"/>
                </a:cubicBezTo>
                <a:cubicBezTo>
                  <a:pt x="457236" y="1101038"/>
                  <a:pt x="503021" y="1142728"/>
                  <a:pt x="544338" y="1189257"/>
                </a:cubicBezTo>
                <a:cubicBezTo>
                  <a:pt x="514560" y="1166551"/>
                  <a:pt x="484781" y="1143472"/>
                  <a:pt x="454630" y="1120766"/>
                </a:cubicBezTo>
                <a:cubicBezTo>
                  <a:pt x="431924" y="1103644"/>
                  <a:pt x="408474" y="1087265"/>
                  <a:pt x="385396" y="1070515"/>
                </a:cubicBezTo>
                <a:cubicBezTo>
                  <a:pt x="379812" y="1066421"/>
                  <a:pt x="373856" y="1061954"/>
                  <a:pt x="366040" y="1067537"/>
                </a:cubicBezTo>
                <a:cubicBezTo>
                  <a:pt x="358967" y="1072376"/>
                  <a:pt x="360084" y="1079449"/>
                  <a:pt x="361573" y="1086149"/>
                </a:cubicBezTo>
                <a:cubicBezTo>
                  <a:pt x="367156" y="1112577"/>
                  <a:pt x="382790" y="1133794"/>
                  <a:pt x="402146" y="1152778"/>
                </a:cubicBezTo>
                <a:cubicBezTo>
                  <a:pt x="425596" y="1175484"/>
                  <a:pt x="450164" y="1197074"/>
                  <a:pt x="475475" y="1218663"/>
                </a:cubicBezTo>
                <a:cubicBezTo>
                  <a:pt x="448303" y="1212707"/>
                  <a:pt x="421130" y="1206752"/>
                  <a:pt x="393957" y="1201913"/>
                </a:cubicBezTo>
                <a:cubicBezTo>
                  <a:pt x="406240" y="1245091"/>
                  <a:pt x="434902" y="1253653"/>
                  <a:pt x="460586" y="1260353"/>
                </a:cubicBezTo>
                <a:cubicBezTo>
                  <a:pt x="495204" y="1268914"/>
                  <a:pt x="528332" y="1279709"/>
                  <a:pt x="561089" y="1291993"/>
                </a:cubicBezTo>
                <a:cubicBezTo>
                  <a:pt x="574861" y="1304276"/>
                  <a:pt x="588634" y="1316188"/>
                  <a:pt x="602034" y="1328843"/>
                </a:cubicBezTo>
                <a:cubicBezTo>
                  <a:pt x="615807" y="1341872"/>
                  <a:pt x="628835" y="1354900"/>
                  <a:pt x="641863" y="1368672"/>
                </a:cubicBezTo>
                <a:cubicBezTo>
                  <a:pt x="651169" y="1378722"/>
                  <a:pt x="662335" y="1387284"/>
                  <a:pt x="651541" y="1404406"/>
                </a:cubicBezTo>
                <a:cubicBezTo>
                  <a:pt x="646702" y="1412223"/>
                  <a:pt x="678341" y="1454658"/>
                  <a:pt x="688392" y="1457263"/>
                </a:cubicBezTo>
                <a:cubicBezTo>
                  <a:pt x="689881" y="1457635"/>
                  <a:pt x="691369" y="1458008"/>
                  <a:pt x="692486" y="1458008"/>
                </a:cubicBezTo>
                <a:cubicBezTo>
                  <a:pt x="714076" y="1456519"/>
                  <a:pt x="718915" y="1469175"/>
                  <a:pt x="719287" y="1485181"/>
                </a:cubicBezTo>
                <a:cubicBezTo>
                  <a:pt x="719659" y="1500814"/>
                  <a:pt x="715937" y="1520170"/>
                  <a:pt x="745343" y="1512353"/>
                </a:cubicBezTo>
                <a:cubicBezTo>
                  <a:pt x="748693" y="1511609"/>
                  <a:pt x="749438" y="1513842"/>
                  <a:pt x="750926" y="1516448"/>
                </a:cubicBezTo>
                <a:cubicBezTo>
                  <a:pt x="782938" y="1583077"/>
                  <a:pt x="836912" y="1634445"/>
                  <a:pt x="890141" y="1685813"/>
                </a:cubicBezTo>
                <a:cubicBezTo>
                  <a:pt x="893119" y="1688419"/>
                  <a:pt x="896097" y="1691024"/>
                  <a:pt x="899074" y="1693630"/>
                </a:cubicBezTo>
                <a:cubicBezTo>
                  <a:pt x="843240" y="1680602"/>
                  <a:pt x="658985" y="1663851"/>
                  <a:pt x="605012" y="1669435"/>
                </a:cubicBezTo>
                <a:cubicBezTo>
                  <a:pt x="556994" y="1674274"/>
                  <a:pt x="285638" y="1593128"/>
                  <a:pt x="229431" y="1545110"/>
                </a:cubicBezTo>
                <a:cubicBezTo>
                  <a:pt x="221614" y="1582705"/>
                  <a:pt x="238364" y="1597594"/>
                  <a:pt x="251765" y="1614717"/>
                </a:cubicBezTo>
                <a:cubicBezTo>
                  <a:pt x="270748" y="1638912"/>
                  <a:pt x="273726" y="1656035"/>
                  <a:pt x="237992" y="1675391"/>
                </a:cubicBezTo>
                <a:cubicBezTo>
                  <a:pt x="135628" y="1730481"/>
                  <a:pt x="136745" y="1732342"/>
                  <a:pt x="232781" y="1807160"/>
                </a:cubicBezTo>
                <a:cubicBezTo>
                  <a:pt x="237248" y="1810511"/>
                  <a:pt x="235014" y="1821305"/>
                  <a:pt x="236131" y="1828750"/>
                </a:cubicBezTo>
                <a:cubicBezTo>
                  <a:pt x="211191" y="1839917"/>
                  <a:pt x="181785" y="1810883"/>
                  <a:pt x="152007" y="1842150"/>
                </a:cubicBezTo>
                <a:cubicBezTo>
                  <a:pt x="280426" y="1979503"/>
                  <a:pt x="475848" y="2110157"/>
                  <a:pt x="653030" y="2213265"/>
                </a:cubicBezTo>
                <a:cubicBezTo>
                  <a:pt x="509721" y="2247138"/>
                  <a:pt x="423735" y="2128024"/>
                  <a:pt x="318394" y="2143285"/>
                </a:cubicBezTo>
                <a:cubicBezTo>
                  <a:pt x="265909" y="2180508"/>
                  <a:pt x="422246" y="2240810"/>
                  <a:pt x="272982" y="2258305"/>
                </a:cubicBezTo>
                <a:cubicBezTo>
                  <a:pt x="337750" y="2291061"/>
                  <a:pt x="385768" y="2323073"/>
                  <a:pt x="430435" y="2360668"/>
                </a:cubicBezTo>
                <a:cubicBezTo>
                  <a:pt x="509721" y="2428042"/>
                  <a:pt x="525354" y="2472710"/>
                  <a:pt x="488876" y="2563162"/>
                </a:cubicBezTo>
                <a:cubicBezTo>
                  <a:pt x="464681" y="2622719"/>
                  <a:pt x="429691" y="2677437"/>
                  <a:pt x="460586" y="2748533"/>
                </a:cubicBezTo>
                <a:cubicBezTo>
                  <a:pt x="481803" y="2797295"/>
                  <a:pt x="473614" y="2829307"/>
                  <a:pt x="393212" y="2807345"/>
                </a:cubicBezTo>
                <a:cubicBezTo>
                  <a:pt x="306483" y="2783895"/>
                  <a:pt x="273726" y="2827818"/>
                  <a:pt x="295688" y="2913059"/>
                </a:cubicBezTo>
                <a:cubicBezTo>
                  <a:pt x="309833" y="2967777"/>
                  <a:pt x="294943" y="2984900"/>
                  <a:pt x="235386" y="2978572"/>
                </a:cubicBezTo>
                <a:cubicBezTo>
                  <a:pt x="169501" y="2971499"/>
                  <a:pt x="106967" y="2935765"/>
                  <a:pt x="25448" y="2952888"/>
                </a:cubicBezTo>
                <a:cubicBezTo>
                  <a:pt x="90588" y="3052646"/>
                  <a:pt x="229803" y="3024356"/>
                  <a:pt x="305738" y="3119275"/>
                </a:cubicBezTo>
                <a:cubicBezTo>
                  <a:pt x="215286" y="3119647"/>
                  <a:pt x="146051" y="3119275"/>
                  <a:pt x="79049" y="3098430"/>
                </a:cubicBezTo>
                <a:cubicBezTo>
                  <a:pt x="51132" y="3089869"/>
                  <a:pt x="20609" y="3081308"/>
                  <a:pt x="4975" y="3109969"/>
                </a:cubicBezTo>
                <a:cubicBezTo>
                  <a:pt x="-13636" y="3144587"/>
                  <a:pt x="24331" y="3157615"/>
                  <a:pt x="47037" y="3163943"/>
                </a:cubicBezTo>
                <a:cubicBezTo>
                  <a:pt x="111061" y="3181438"/>
                  <a:pt x="160196" y="3222755"/>
                  <a:pt x="213425" y="3255139"/>
                </a:cubicBezTo>
                <a:cubicBezTo>
                  <a:pt x="329933" y="3326236"/>
                  <a:pt x="457981" y="3385420"/>
                  <a:pt x="556622" y="3502301"/>
                </a:cubicBezTo>
                <a:cubicBezTo>
                  <a:pt x="432669" y="3472523"/>
                  <a:pt x="339983" y="3402915"/>
                  <a:pt x="224592" y="3388771"/>
                </a:cubicBezTo>
                <a:cubicBezTo>
                  <a:pt x="324722" y="3495601"/>
                  <a:pt x="453142" y="3565208"/>
                  <a:pt x="574861" y="3643004"/>
                </a:cubicBezTo>
                <a:cubicBezTo>
                  <a:pt x="609479" y="3664966"/>
                  <a:pt x="644841" y="3679855"/>
                  <a:pt x="652657" y="3727501"/>
                </a:cubicBezTo>
                <a:cubicBezTo>
                  <a:pt x="667919" y="3819814"/>
                  <a:pt x="712959" y="3896494"/>
                  <a:pt x="810111" y="3937067"/>
                </a:cubicBezTo>
                <a:cubicBezTo>
                  <a:pt x="810856" y="3937439"/>
                  <a:pt x="805644" y="3951212"/>
                  <a:pt x="802294" y="3960890"/>
                </a:cubicBezTo>
                <a:cubicBezTo>
                  <a:pt x="743110" y="3963868"/>
                  <a:pt x="696581" y="3909149"/>
                  <a:pt x="620646" y="3927017"/>
                </a:cubicBezTo>
                <a:cubicBezTo>
                  <a:pt x="692858" y="4001091"/>
                  <a:pt x="753532" y="4067720"/>
                  <a:pt x="856268" y="4103082"/>
                </a:cubicBezTo>
                <a:cubicBezTo>
                  <a:pt x="938531" y="4131372"/>
                  <a:pt x="1040150" y="4147377"/>
                  <a:pt x="1099707" y="4238574"/>
                </a:cubicBezTo>
                <a:cubicBezTo>
                  <a:pt x="1030472" y="4256441"/>
                  <a:pt x="978732" y="4234107"/>
                  <a:pt x="926992" y="4218102"/>
                </a:cubicBezTo>
                <a:cubicBezTo>
                  <a:pt x="847334" y="4193534"/>
                  <a:pt x="769166" y="4165617"/>
                  <a:pt x="689508" y="4140677"/>
                </a:cubicBezTo>
                <a:cubicBezTo>
                  <a:pt x="659358" y="4131372"/>
                  <a:pt x="626229" y="4124299"/>
                  <a:pt x="606873" y="4169711"/>
                </a:cubicBezTo>
                <a:cubicBezTo>
                  <a:pt x="707748" y="4179389"/>
                  <a:pt x="768421" y="4240435"/>
                  <a:pt x="831701" y="4297759"/>
                </a:cubicBezTo>
                <a:cubicBezTo>
                  <a:pt x="867435" y="4330143"/>
                  <a:pt x="896469" y="4373322"/>
                  <a:pt x="960493" y="4356944"/>
                </a:cubicBezTo>
                <a:cubicBezTo>
                  <a:pt x="994366" y="4348382"/>
                  <a:pt x="1015955" y="4372578"/>
                  <a:pt x="1012233" y="4402356"/>
                </a:cubicBezTo>
                <a:cubicBezTo>
                  <a:pt x="999577" y="4507325"/>
                  <a:pt x="1078118" y="4544176"/>
                  <a:pt x="1159636" y="4564276"/>
                </a:cubicBezTo>
                <a:cubicBezTo>
                  <a:pt x="1313740" y="4602616"/>
                  <a:pt x="1442160" y="4692324"/>
                  <a:pt x="1592169" y="4741458"/>
                </a:cubicBezTo>
                <a:cubicBezTo>
                  <a:pt x="1738083" y="4789104"/>
                  <a:pt x="2833187" y="5010209"/>
                  <a:pt x="3110499" y="5032171"/>
                </a:cubicBezTo>
                <a:cubicBezTo>
                  <a:pt x="4807501" y="5166546"/>
                  <a:pt x="6028047" y="4106432"/>
                  <a:pt x="6033630" y="4091915"/>
                </a:cubicBezTo>
                <a:cubicBezTo>
                  <a:pt x="6059314" y="4023797"/>
                  <a:pt x="6122965" y="3994390"/>
                  <a:pt x="6180661" y="3957912"/>
                </a:cubicBezTo>
                <a:cubicBezTo>
                  <a:pt x="6230913" y="3925900"/>
                  <a:pt x="6284514" y="3892027"/>
                  <a:pt x="6305359" y="3837309"/>
                </a:cubicBezTo>
                <a:cubicBezTo>
                  <a:pt x="6332904" y="3764724"/>
                  <a:pt x="6254735" y="3824281"/>
                  <a:pt x="6240218" y="3796364"/>
                </a:cubicBezTo>
                <a:cubicBezTo>
                  <a:pt x="6269997" y="3758768"/>
                  <a:pt x="6316153" y="3724151"/>
                  <a:pt x="6328437" y="3681344"/>
                </a:cubicBezTo>
                <a:cubicBezTo>
                  <a:pt x="6372361" y="3526496"/>
                  <a:pt x="6466907" y="3413710"/>
                  <a:pt x="6608355" y="3326236"/>
                </a:cubicBezTo>
                <a:cubicBezTo>
                  <a:pt x="6648928" y="3300924"/>
                  <a:pt x="6675729" y="3255512"/>
                  <a:pt x="6731191" y="3248067"/>
                </a:cubicBezTo>
                <a:cubicBezTo>
                  <a:pt x="6854400" y="3232061"/>
                  <a:pt x="6815315" y="3106992"/>
                  <a:pt x="6880456" y="3051529"/>
                </a:cubicBezTo>
                <a:cubicBezTo>
                  <a:pt x="6892739" y="3041107"/>
                  <a:pt x="6903907" y="2777939"/>
                  <a:pt x="6901673" y="2763795"/>
                </a:cubicBezTo>
                <a:cubicBezTo>
                  <a:pt x="6898323" y="2743322"/>
                  <a:pt x="6883806" y="2966288"/>
                  <a:pt x="6871150" y="2948421"/>
                </a:cubicBezTo>
                <a:cubicBezTo>
                  <a:pt x="6858494" y="2930182"/>
                  <a:pt x="6839138" y="2914176"/>
                  <a:pt x="6848444" y="2890353"/>
                </a:cubicBezTo>
                <a:cubicBezTo>
                  <a:pt x="6852166" y="2880303"/>
                  <a:pt x="6849561" y="2846058"/>
                  <a:pt x="6878223" y="2873230"/>
                </a:cubicBezTo>
                <a:cubicBezTo>
                  <a:pt x="6956763" y="2946932"/>
                  <a:pt x="6870778" y="2578051"/>
                  <a:pt x="6762459" y="2568745"/>
                </a:cubicBezTo>
                <a:cubicBezTo>
                  <a:pt x="6801915" y="2465637"/>
                  <a:pt x="6801915" y="2465637"/>
                  <a:pt x="6673123" y="2451493"/>
                </a:cubicBezTo>
                <a:cubicBezTo>
                  <a:pt x="6722630" y="2385980"/>
                  <a:pt x="6722630" y="2369229"/>
                  <a:pt x="6662700" y="2346896"/>
                </a:cubicBezTo>
                <a:cubicBezTo>
                  <a:pt x="6605005" y="2325306"/>
                  <a:pt x="6540981" y="2318234"/>
                  <a:pt x="6487752" y="2285105"/>
                </a:cubicBezTo>
                <a:cubicBezTo>
                  <a:pt x="6536887" y="2201353"/>
                  <a:pt x="6550659" y="2104573"/>
                  <a:pt x="6652278" y="2063628"/>
                </a:cubicBezTo>
                <a:cubicBezTo>
                  <a:pt x="6668284" y="2057300"/>
                  <a:pt x="6679079" y="2031988"/>
                  <a:pt x="6668656" y="2017843"/>
                </a:cubicBezTo>
                <a:cubicBezTo>
                  <a:pt x="6631805" y="1965359"/>
                  <a:pt x="6684662" y="1864856"/>
                  <a:pt x="6570015" y="1854062"/>
                </a:cubicBezTo>
                <a:cubicBezTo>
                  <a:pt x="6555870" y="1852573"/>
                  <a:pt x="6542842" y="1842150"/>
                  <a:pt x="6554009" y="1827633"/>
                </a:cubicBezTo>
                <a:cubicBezTo>
                  <a:pt x="6592349" y="1778126"/>
                  <a:pt x="6545820" y="1781476"/>
                  <a:pt x="6517531" y="1775149"/>
                </a:cubicBezTo>
                <a:cubicBezTo>
                  <a:pt x="6483285" y="1767704"/>
                  <a:pt x="6444573" y="1789293"/>
                  <a:pt x="6412934" y="1762493"/>
                </a:cubicBezTo>
                <a:cubicBezTo>
                  <a:pt x="6420378" y="1734203"/>
                  <a:pt x="6447923" y="1734575"/>
                  <a:pt x="6467279" y="1725642"/>
                </a:cubicBezTo>
                <a:cubicBezTo>
                  <a:pt x="6523858" y="1699213"/>
                  <a:pt x="6570015" y="1667946"/>
                  <a:pt x="6572621" y="1600200"/>
                </a:cubicBezTo>
                <a:cubicBezTo>
                  <a:pt x="6574854" y="1545482"/>
                  <a:pt x="6580810" y="1497092"/>
                  <a:pt x="6502641" y="1480341"/>
                </a:cubicBezTo>
                <a:cubicBezTo>
                  <a:pt x="6490358" y="1477736"/>
                  <a:pt x="6484030" y="1470664"/>
                  <a:pt x="6481796" y="1461358"/>
                </a:cubicBezTo>
                <a:cubicBezTo>
                  <a:pt x="6490730" y="1452424"/>
                  <a:pt x="6499291" y="1443118"/>
                  <a:pt x="6509713" y="1436418"/>
                </a:cubicBezTo>
                <a:cubicBezTo>
                  <a:pt x="6544703" y="1414457"/>
                  <a:pt x="6556615" y="1382072"/>
                  <a:pt x="6567037" y="1348199"/>
                </a:cubicBezTo>
                <a:cubicBezTo>
                  <a:pt x="6573737" y="1326610"/>
                  <a:pt x="6581554" y="1305393"/>
                  <a:pt x="6596816" y="1286781"/>
                </a:cubicBezTo>
                <a:cubicBezTo>
                  <a:pt x="6606122" y="1275242"/>
                  <a:pt x="6617661" y="1266681"/>
                  <a:pt x="6632178" y="1261842"/>
                </a:cubicBezTo>
                <a:cubicBezTo>
                  <a:pt x="6644833" y="1257375"/>
                  <a:pt x="6648556" y="1251419"/>
                  <a:pt x="6639994" y="1240625"/>
                </a:cubicBezTo>
                <a:cubicBezTo>
                  <a:pt x="6615799" y="1209729"/>
                  <a:pt x="6606122" y="1175856"/>
                  <a:pt x="6622127" y="1136400"/>
                </a:cubicBezTo>
                <a:cubicBezTo>
                  <a:pt x="6626967" y="1124489"/>
                  <a:pt x="6623617" y="1114066"/>
                  <a:pt x="6612077" y="1109599"/>
                </a:cubicBezTo>
                <a:cubicBezTo>
                  <a:pt x="6564059" y="1090616"/>
                  <a:pt x="6552148" y="1046692"/>
                  <a:pt x="6531675" y="1009469"/>
                </a:cubicBezTo>
                <a:cubicBezTo>
                  <a:pt x="6502641" y="956612"/>
                  <a:pt x="6476213" y="902639"/>
                  <a:pt x="6456113" y="845315"/>
                </a:cubicBezTo>
                <a:cubicBezTo>
                  <a:pt x="6444201" y="811070"/>
                  <a:pt x="6432662" y="777197"/>
                  <a:pt x="6440851" y="739229"/>
                </a:cubicBezTo>
                <a:cubicBezTo>
                  <a:pt x="6442712" y="729924"/>
                  <a:pt x="6439362" y="722107"/>
                  <a:pt x="6434523" y="715034"/>
                </a:cubicBezTo>
                <a:cubicBezTo>
                  <a:pt x="6414050" y="684139"/>
                  <a:pt x="6416656" y="651383"/>
                  <a:pt x="6432290" y="617510"/>
                </a:cubicBezTo>
                <a:cubicBezTo>
                  <a:pt x="6441968" y="597037"/>
                  <a:pt x="6440851" y="594431"/>
                  <a:pt x="6416284" y="595176"/>
                </a:cubicBezTo>
                <a:cubicBezTo>
                  <a:pt x="6366405" y="596293"/>
                  <a:pt x="6316898" y="598154"/>
                  <a:pt x="6267763" y="591826"/>
                </a:cubicBezTo>
                <a:cubicBezTo>
                  <a:pt x="6212673" y="584753"/>
                  <a:pt x="6194806" y="568375"/>
                  <a:pt x="6236496" y="521102"/>
                </a:cubicBezTo>
                <a:cubicBezTo>
                  <a:pt x="6245430" y="511052"/>
                  <a:pt x="6253246" y="499885"/>
                  <a:pt x="6257341" y="487229"/>
                </a:cubicBezTo>
                <a:cubicBezTo>
                  <a:pt x="6260319" y="477179"/>
                  <a:pt x="6257713" y="470106"/>
                  <a:pt x="6248780" y="465267"/>
                </a:cubicBezTo>
                <a:cubicBezTo>
                  <a:pt x="6238357" y="459312"/>
                  <a:pt x="6232774" y="467501"/>
                  <a:pt x="6226818" y="473456"/>
                </a:cubicBezTo>
                <a:cubicBezTo>
                  <a:pt x="6194434" y="505468"/>
                  <a:pt x="6153861" y="527430"/>
                  <a:pt x="6115149" y="551625"/>
                </a:cubicBezTo>
                <a:cubicBezTo>
                  <a:pt x="6059686" y="586615"/>
                  <a:pt x="6001246" y="617510"/>
                  <a:pt x="5951739" y="659944"/>
                </a:cubicBezTo>
                <a:cubicBezTo>
                  <a:pt x="5939084" y="670739"/>
                  <a:pt x="5918611" y="662550"/>
                  <a:pt x="5917122" y="644310"/>
                </a:cubicBezTo>
                <a:cubicBezTo>
                  <a:pt x="5915633" y="626071"/>
                  <a:pt x="5905583" y="626071"/>
                  <a:pt x="5890694" y="630538"/>
                </a:cubicBezTo>
                <a:cubicBezTo>
                  <a:pt x="5872826" y="635749"/>
                  <a:pt x="5854959" y="640960"/>
                  <a:pt x="5837464" y="646916"/>
                </a:cubicBezTo>
                <a:cubicBezTo>
                  <a:pt x="5819225" y="653244"/>
                  <a:pt x="5811036" y="666644"/>
                  <a:pt x="5809175" y="683395"/>
                </a:cubicBezTo>
                <a:cubicBezTo>
                  <a:pt x="5808430" y="689723"/>
                  <a:pt x="5808803" y="697539"/>
                  <a:pt x="5815503" y="698656"/>
                </a:cubicBezTo>
                <a:cubicBezTo>
                  <a:pt x="5843048" y="703495"/>
                  <a:pt x="5755201" y="682278"/>
                  <a:pt x="5746268" y="667389"/>
                </a:cubicBezTo>
                <a:cubicBezTo>
                  <a:pt x="5745896" y="666644"/>
                  <a:pt x="5525907" y="720246"/>
                  <a:pt x="5458905" y="754119"/>
                </a:cubicBezTo>
                <a:close/>
                <a:moveTo>
                  <a:pt x="885302" y="1333310"/>
                </a:moveTo>
                <a:cubicBezTo>
                  <a:pt x="877857" y="1326982"/>
                  <a:pt x="870040" y="1321027"/>
                  <a:pt x="862596" y="1314326"/>
                </a:cubicBezTo>
                <a:cubicBezTo>
                  <a:pt x="863712" y="1312837"/>
                  <a:pt x="865201" y="1311349"/>
                  <a:pt x="866318" y="1309860"/>
                </a:cubicBezTo>
                <a:cubicBezTo>
                  <a:pt x="881580" y="1320282"/>
                  <a:pt x="896841" y="1330705"/>
                  <a:pt x="912103" y="1341127"/>
                </a:cubicBezTo>
                <a:cubicBezTo>
                  <a:pt x="903541" y="1338522"/>
                  <a:pt x="894235" y="1335916"/>
                  <a:pt x="885302" y="1333310"/>
                </a:cubicBezTo>
                <a:close/>
                <a:moveTo>
                  <a:pt x="1140280" y="787619"/>
                </a:moveTo>
                <a:cubicBezTo>
                  <a:pt x="1231849" y="850154"/>
                  <a:pt x="1323418" y="913061"/>
                  <a:pt x="1414987" y="975596"/>
                </a:cubicBezTo>
                <a:cubicBezTo>
                  <a:pt x="1413498" y="977085"/>
                  <a:pt x="1412381" y="978574"/>
                  <a:pt x="1410892" y="980063"/>
                </a:cubicBezTo>
                <a:cubicBezTo>
                  <a:pt x="1310390" y="927206"/>
                  <a:pt x="1215471" y="868394"/>
                  <a:pt x="1140280" y="787619"/>
                </a:cubicBezTo>
                <a:close/>
              </a:path>
            </a:pathLst>
          </a:custGeom>
          <a:solidFill>
            <a:schemeClr val="accent1">
              <a:alpha val="20000"/>
            </a:schemeClr>
          </a:solidFill>
          <a:ln w="32707" cap="flat">
            <a:noFill/>
            <a:prstDash val="solid"/>
            <a:miter/>
          </a:ln>
        </p:spPr>
        <p:txBody>
          <a:bodyPr rtlCol="0" anchor="ctr"/>
          <a:lstStyle/>
          <a:p>
            <a:endParaRPr lang="en-US" sz="180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8DB1DFE-8154-440D-93CF-FEF7860E897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99032" y="2523744"/>
            <a:ext cx="3831336" cy="1453896"/>
          </a:xfrm>
        </p:spPr>
        <p:txBody>
          <a:bodyPr anchor="b"/>
          <a:lstStyle>
            <a:lvl1pPr algn="ctr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CD9D1F5-05CC-48F3-A314-315EF170304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6711696" y="640079"/>
            <a:ext cx="4837176" cy="5568696"/>
          </a:xfrm>
        </p:spPr>
        <p:txBody>
          <a:bodyPr/>
          <a:lstStyle>
            <a:lvl1pPr marL="0" indent="0">
              <a:buNone/>
              <a:defRPr sz="3200"/>
            </a:lvl1pPr>
            <a:lvl2pPr marL="457189" indent="0">
              <a:buNone/>
              <a:defRPr sz="2800"/>
            </a:lvl2pPr>
            <a:lvl3pPr marL="914377" indent="0">
              <a:buNone/>
              <a:defRPr sz="2400"/>
            </a:lvl3pPr>
            <a:lvl4pPr marL="1371566" indent="0">
              <a:buNone/>
              <a:defRPr sz="2000"/>
            </a:lvl4pPr>
            <a:lvl5pPr marL="1828754" indent="0">
              <a:buNone/>
              <a:defRPr sz="2000"/>
            </a:lvl5pPr>
            <a:lvl6pPr marL="2285943" indent="0">
              <a:buNone/>
              <a:defRPr sz="2000"/>
            </a:lvl6pPr>
            <a:lvl7pPr marL="2743131" indent="0">
              <a:buNone/>
              <a:defRPr sz="2000"/>
            </a:lvl7pPr>
            <a:lvl8pPr marL="3200320" indent="0">
              <a:buNone/>
              <a:defRPr sz="2000"/>
            </a:lvl8pPr>
            <a:lvl9pPr marL="3657509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11807DE-1178-4BBB-89D8-9046239C2DE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1655064" y="4087368"/>
            <a:ext cx="3319272" cy="649224"/>
          </a:xfrm>
        </p:spPr>
        <p:txBody>
          <a:bodyPr>
            <a:noAutofit/>
          </a:bodyPr>
          <a:lstStyle>
            <a:lvl1pPr marL="0" indent="0" algn="ctr">
              <a:buNone/>
              <a:defRPr sz="2000" cap="all" baseline="0"/>
            </a:lvl1pPr>
            <a:lvl2pPr marL="457189" indent="0">
              <a:buNone/>
              <a:defRPr sz="1400"/>
            </a:lvl2pPr>
            <a:lvl3pPr marL="914377" indent="0">
              <a:buNone/>
              <a:defRPr sz="1200"/>
            </a:lvl3pPr>
            <a:lvl4pPr marL="1371566" indent="0">
              <a:buNone/>
              <a:defRPr sz="1000"/>
            </a:lvl4pPr>
            <a:lvl5pPr marL="1828754" indent="0">
              <a:buNone/>
              <a:defRPr sz="1000"/>
            </a:lvl5pPr>
            <a:lvl6pPr marL="2285943" indent="0">
              <a:buNone/>
              <a:defRPr sz="1000"/>
            </a:lvl6pPr>
            <a:lvl7pPr marL="2743131" indent="0">
              <a:buNone/>
              <a:defRPr sz="1000"/>
            </a:lvl7pPr>
            <a:lvl8pPr marL="3200320" indent="0">
              <a:buNone/>
              <a:defRPr sz="1000"/>
            </a:lvl8pPr>
            <a:lvl9pPr marL="3657509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D48EA59-A1BC-48B7-9495-6D5C6035B1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6133C2-B418-4B13-B6A2-0D48393831AE}" type="datetime1">
              <a:rPr lang="en-US" smtClean="0"/>
              <a:t>1/22/2024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9F85A72-B50F-440E-AAD3-53C099F6D9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Object Oriented Programming-Spring 24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2C2D00B-4207-4720-8C68-605CAFDD5C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845F5A-061D-4825-9AE9-D7794091C6C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17486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1C888B-58B8-4428-8B1D-4E26FC5DD59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314F67B-D516-42FA-A2CA-2DCD37CFE8D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82BA5FF-4919-4FF8-9C04-06CE156B762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B0C81A-E629-4A0E-B653-83ACC9AAE8F6}" type="datetime1">
              <a:rPr lang="en-US" smtClean="0"/>
              <a:t>1/22/2024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BEDA970-128E-4150-8E5A-A1B056E8350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Object Oriented Programming-Spring 24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AEC6CD1-EE5E-42EF-B76D-BB803BA6AB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845F5A-061D-4825-9AE9-D7794091C6C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2262023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550C2A1B-34CA-4877-9435-D77DF325757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1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F255E5E-4A81-44CC-8D99-F56E625D463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1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19CEECF-A221-4ECC-AD9C-E197D516D24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DFA8ED-AF36-4C6D-9177-168F699110A0}" type="datetime1">
              <a:rPr lang="en-US" smtClean="0"/>
              <a:t>1/22/2024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18F41AE-0DDE-49ED-9F0C-E0E16F599A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Object Oriented Programming-Spring 24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7B47FB7-77F0-4C43-B81E-D04B31C953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845F5A-061D-4825-9AE9-D7794091C6C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3640854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08615C6B-1C98-4B1C-AB4B-1E1898E593B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7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E8DFF97-B7FD-47F9-BC7F-DD4B4C5EA2F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1831D22-079E-43E3-86A4-BA12DB888C7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2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19BD3EC-2F40-4536-B573-83D602F4BCD9}" type="datetime1">
              <a:rPr lang="en-US" smtClean="0"/>
              <a:t>1/22/2024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14C30A2-140B-4A5D-BEEC-C1314AF1F3F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2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/>
              <a:t>Object Oriented Programming-Spring 24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B71BA8F-7826-496D-91F8-B3ECDF34DA7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2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1845F5A-061D-4825-9AE9-D7794091C6C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6238445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5" r:id="rId1"/>
    <p:sldLayoutId id="2147483696" r:id="rId2"/>
    <p:sldLayoutId id="2147483697" r:id="rId3"/>
    <p:sldLayoutId id="2147483698" r:id="rId4"/>
    <p:sldLayoutId id="2147483699" r:id="rId5"/>
    <p:sldLayoutId id="2147483693" r:id="rId6"/>
    <p:sldLayoutId id="2147483688" r:id="rId7"/>
    <p:sldLayoutId id="2147483689" r:id="rId8"/>
    <p:sldLayoutId id="2147483690" r:id="rId9"/>
    <p:sldLayoutId id="2147483691" r:id="rId10"/>
    <p:sldLayoutId id="2147483692" r:id="rId11"/>
    <p:sldLayoutId id="2147483694" r:id="rId12"/>
  </p:sldLayoutIdLst>
  <p:hf hdr="0" dt="0"/>
  <p:txStyles>
    <p:titleStyle>
      <a:lvl1pPr algn="ctr" defTabSz="914377" rtl="0" eaLnBrk="1" latinLnBrk="0" hangingPunct="1">
        <a:lnSpc>
          <a:spcPct val="90000"/>
        </a:lnSpc>
        <a:spcBef>
          <a:spcPct val="0"/>
        </a:spcBef>
        <a:buNone/>
        <a:defRPr sz="4400" i="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594" indent="-228594" algn="l" defTabSz="914377" rtl="0" eaLnBrk="1" latinLnBrk="0" hangingPunct="1">
        <a:lnSpc>
          <a:spcPct val="10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783" indent="-228594" algn="l" defTabSz="914377" rtl="0" eaLnBrk="1" latinLnBrk="0" hangingPunct="1">
        <a:lnSpc>
          <a:spcPct val="10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2971" indent="-228594" algn="l" defTabSz="914377" rtl="0" eaLnBrk="1" latinLnBrk="0" hangingPunct="1">
        <a:lnSpc>
          <a:spcPct val="10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160" indent="-228594" algn="l" defTabSz="914377" rtl="0" eaLnBrk="1" latinLnBrk="0" hangingPunct="1">
        <a:lnSpc>
          <a:spcPct val="10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349" indent="-228594" algn="l" defTabSz="914377" rtl="0" eaLnBrk="1" latinLnBrk="0" hangingPunct="1">
        <a:lnSpc>
          <a:spcPct val="10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537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726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8914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103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189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377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566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754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943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131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320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509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gif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6.png"/><Relationship Id="rId4" Type="http://schemas.openxmlformats.org/officeDocument/2006/relationships/image" Target="../media/image15.png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jpeg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2.jp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4.png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C93D702E-F4E0-47FC-A74C-ECD9647A81A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8696C19-CDA4-1AC4-C793-877B0AFBB4C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3851975"/>
            <a:ext cx="9144000" cy="1152663"/>
          </a:xfrm>
        </p:spPr>
        <p:txBody>
          <a:bodyPr>
            <a:normAutofit fontScale="90000"/>
          </a:bodyPr>
          <a:lstStyle/>
          <a:p>
            <a:pPr algn="ctr"/>
            <a:r>
              <a:rPr lang="en-US" dirty="0"/>
              <a:t>Object Oriented Programming</a:t>
            </a:r>
            <a:endParaRPr lang="en-PK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23E1E1B-2DD4-928E-2179-3D87C426409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5071720"/>
            <a:ext cx="9144000" cy="646785"/>
          </a:xfrm>
        </p:spPr>
        <p:txBody>
          <a:bodyPr>
            <a:normAutofit/>
          </a:bodyPr>
          <a:lstStyle/>
          <a:p>
            <a:pPr algn="ctr"/>
            <a:r>
              <a:rPr lang="en-US" dirty="0"/>
              <a:t>Lec # 3 : Recursion</a:t>
            </a:r>
            <a:endParaRPr lang="en-PK" dirty="0"/>
          </a:p>
        </p:txBody>
      </p:sp>
      <p:pic>
        <p:nvPicPr>
          <p:cNvPr id="4" name="Picture 3" descr="A colorful light bulb with business icons">
            <a:extLst>
              <a:ext uri="{FF2B5EF4-FFF2-40B4-BE49-F238E27FC236}">
                <a16:creationId xmlns:a16="http://schemas.microsoft.com/office/drawing/2014/main" id="{9F108EC2-65CE-5A9B-D15A-80B599688C18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t="25677" b="22390"/>
          <a:stretch/>
        </p:blipFill>
        <p:spPr>
          <a:xfrm>
            <a:off x="838202" y="9"/>
            <a:ext cx="10484412" cy="3811395"/>
          </a:xfrm>
          <a:custGeom>
            <a:avLst/>
            <a:gdLst/>
            <a:ahLst/>
            <a:cxnLst/>
            <a:rect l="l" t="t" r="r" b="b"/>
            <a:pathLst>
              <a:path w="10484412" h="3811404">
                <a:moveTo>
                  <a:pt x="0" y="3811403"/>
                </a:moveTo>
                <a:lnTo>
                  <a:pt x="10484412" y="3811403"/>
                </a:lnTo>
                <a:lnTo>
                  <a:pt x="10484412" y="3811404"/>
                </a:lnTo>
                <a:lnTo>
                  <a:pt x="0" y="3811404"/>
                </a:lnTo>
                <a:close/>
                <a:moveTo>
                  <a:pt x="181717" y="0"/>
                </a:moveTo>
                <a:lnTo>
                  <a:pt x="10224015" y="0"/>
                </a:lnTo>
                <a:cubicBezTo>
                  <a:pt x="10261561" y="45054"/>
                  <a:pt x="10301611" y="85103"/>
                  <a:pt x="10369193" y="110134"/>
                </a:cubicBezTo>
                <a:cubicBezTo>
                  <a:pt x="10321635" y="167704"/>
                  <a:pt x="10236530" y="182722"/>
                  <a:pt x="10173954" y="222771"/>
                </a:cubicBezTo>
                <a:cubicBezTo>
                  <a:pt x="10168948" y="255310"/>
                  <a:pt x="10269071" y="245298"/>
                  <a:pt x="10241537" y="317887"/>
                </a:cubicBezTo>
                <a:cubicBezTo>
                  <a:pt x="10206494" y="418008"/>
                  <a:pt x="10241537" y="528142"/>
                  <a:pt x="10071328" y="573196"/>
                </a:cubicBezTo>
                <a:cubicBezTo>
                  <a:pt x="10023770" y="668312"/>
                  <a:pt x="10008751" y="820997"/>
                  <a:pt x="10113880" y="913610"/>
                </a:cubicBezTo>
                <a:cubicBezTo>
                  <a:pt x="10271573" y="1048774"/>
                  <a:pt x="10244040" y="1138885"/>
                  <a:pt x="10036285" y="1216478"/>
                </a:cubicBezTo>
                <a:cubicBezTo>
                  <a:pt x="10011255" y="1226491"/>
                  <a:pt x="9978715" y="1231497"/>
                  <a:pt x="9966200" y="1256528"/>
                </a:cubicBezTo>
                <a:cubicBezTo>
                  <a:pt x="9986224" y="1289067"/>
                  <a:pt x="10031280" y="1281557"/>
                  <a:pt x="10063819" y="1289067"/>
                </a:cubicBezTo>
                <a:cubicBezTo>
                  <a:pt x="10211500" y="1324110"/>
                  <a:pt x="10214003" y="1324110"/>
                  <a:pt x="10176457" y="1441752"/>
                </a:cubicBezTo>
                <a:cubicBezTo>
                  <a:pt x="10163942" y="1476795"/>
                  <a:pt x="10188972" y="1491813"/>
                  <a:pt x="10211500" y="1511838"/>
                </a:cubicBezTo>
                <a:cubicBezTo>
                  <a:pt x="10296604" y="1591936"/>
                  <a:pt x="10296604" y="1594439"/>
                  <a:pt x="10206494" y="1664523"/>
                </a:cubicBezTo>
                <a:cubicBezTo>
                  <a:pt x="10181463" y="1684547"/>
                  <a:pt x="10163942" y="1704572"/>
                  <a:pt x="10151426" y="1732106"/>
                </a:cubicBezTo>
                <a:cubicBezTo>
                  <a:pt x="10128899" y="1782166"/>
                  <a:pt x="10128899" y="1822216"/>
                  <a:pt x="10208996" y="1847246"/>
                </a:cubicBezTo>
                <a:cubicBezTo>
                  <a:pt x="10266568" y="1864767"/>
                  <a:pt x="10296604" y="1884791"/>
                  <a:pt x="10299107" y="1939858"/>
                </a:cubicBezTo>
                <a:cubicBezTo>
                  <a:pt x="10299107" y="1987416"/>
                  <a:pt x="10306617" y="2017452"/>
                  <a:pt x="10244040" y="2037477"/>
                </a:cubicBezTo>
                <a:cubicBezTo>
                  <a:pt x="10193979" y="2054998"/>
                  <a:pt x="10178960" y="2090041"/>
                  <a:pt x="10183966" y="2130089"/>
                </a:cubicBezTo>
                <a:cubicBezTo>
                  <a:pt x="10193979" y="2230211"/>
                  <a:pt x="10126396" y="2287781"/>
                  <a:pt x="10013758" y="2335339"/>
                </a:cubicBezTo>
                <a:cubicBezTo>
                  <a:pt x="9908629" y="2377890"/>
                  <a:pt x="9813513" y="2437963"/>
                  <a:pt x="9715893" y="2493030"/>
                </a:cubicBezTo>
                <a:cubicBezTo>
                  <a:pt x="9605758" y="2553103"/>
                  <a:pt x="9480605" y="2590649"/>
                  <a:pt x="9347942" y="2623189"/>
                </a:cubicBezTo>
                <a:cubicBezTo>
                  <a:pt x="9370469" y="2665740"/>
                  <a:pt x="9453071" y="2640710"/>
                  <a:pt x="9460580" y="2700783"/>
                </a:cubicBezTo>
                <a:cubicBezTo>
                  <a:pt x="9255329" y="2753346"/>
                  <a:pt x="9060089" y="2833444"/>
                  <a:pt x="8827305" y="2855971"/>
                </a:cubicBezTo>
                <a:cubicBezTo>
                  <a:pt x="9015035" y="2843456"/>
                  <a:pt x="9182740" y="2908535"/>
                  <a:pt x="9360458" y="2926056"/>
                </a:cubicBezTo>
                <a:cubicBezTo>
                  <a:pt x="9377980" y="2961099"/>
                  <a:pt x="9337930" y="2951087"/>
                  <a:pt x="9322912" y="2958595"/>
                </a:cubicBezTo>
                <a:cubicBezTo>
                  <a:pt x="9307893" y="2963602"/>
                  <a:pt x="9287869" y="2966105"/>
                  <a:pt x="9285366" y="2991135"/>
                </a:cubicBezTo>
                <a:cubicBezTo>
                  <a:pt x="9370469" y="3023675"/>
                  <a:pt x="9478102" y="2998644"/>
                  <a:pt x="9565709" y="3033687"/>
                </a:cubicBezTo>
                <a:cubicBezTo>
                  <a:pt x="9543182" y="3083748"/>
                  <a:pt x="9468090" y="3056214"/>
                  <a:pt x="9435550" y="3096263"/>
                </a:cubicBezTo>
                <a:cubicBezTo>
                  <a:pt x="9518151" y="3101269"/>
                  <a:pt x="9593243" y="3103772"/>
                  <a:pt x="9668335" y="3113784"/>
                </a:cubicBezTo>
                <a:cubicBezTo>
                  <a:pt x="9725905" y="3121294"/>
                  <a:pt x="9740924" y="3163845"/>
                  <a:pt x="9700875" y="3193882"/>
                </a:cubicBezTo>
                <a:cubicBezTo>
                  <a:pt x="9665832" y="3221415"/>
                  <a:pt x="9613268" y="3223918"/>
                  <a:pt x="9565709" y="3236434"/>
                </a:cubicBezTo>
                <a:cubicBezTo>
                  <a:pt x="9232801" y="3319034"/>
                  <a:pt x="8882372" y="3351573"/>
                  <a:pt x="8529440" y="3364088"/>
                </a:cubicBezTo>
                <a:cubicBezTo>
                  <a:pt x="7961245" y="3386616"/>
                  <a:pt x="7393049" y="3394125"/>
                  <a:pt x="6827357" y="3419155"/>
                </a:cubicBezTo>
                <a:cubicBezTo>
                  <a:pt x="6481933" y="3434173"/>
                  <a:pt x="6136510" y="3456701"/>
                  <a:pt x="5788584" y="3456701"/>
                </a:cubicBezTo>
                <a:cubicBezTo>
                  <a:pt x="5415628" y="3456701"/>
                  <a:pt x="5042671" y="3464210"/>
                  <a:pt x="4669714" y="3411646"/>
                </a:cubicBezTo>
                <a:cubicBezTo>
                  <a:pt x="4479481" y="3384113"/>
                  <a:pt x="4279236" y="3396628"/>
                  <a:pt x="4086500" y="3376603"/>
                </a:cubicBezTo>
                <a:cubicBezTo>
                  <a:pt x="3793641" y="3346568"/>
                  <a:pt x="3500782" y="3306518"/>
                  <a:pt x="3210426" y="3256458"/>
                </a:cubicBezTo>
                <a:cubicBezTo>
                  <a:pt x="3117813" y="3241439"/>
                  <a:pt x="3007678" y="3231428"/>
                  <a:pt x="2937592" y="3166348"/>
                </a:cubicBezTo>
                <a:cubicBezTo>
                  <a:pt x="2824954" y="3211403"/>
                  <a:pt x="2757372" y="3131305"/>
                  <a:pt x="2669765" y="3106275"/>
                </a:cubicBezTo>
                <a:cubicBezTo>
                  <a:pt x="2634722" y="3096263"/>
                  <a:pt x="2592169" y="3081245"/>
                  <a:pt x="2597176" y="3048705"/>
                </a:cubicBezTo>
                <a:cubicBezTo>
                  <a:pt x="2604685" y="3006154"/>
                  <a:pt x="2654746" y="2978620"/>
                  <a:pt x="2702304" y="2986130"/>
                </a:cubicBezTo>
                <a:cubicBezTo>
                  <a:pt x="2849986" y="3011160"/>
                  <a:pt x="2985150" y="2948584"/>
                  <a:pt x="3137838" y="2956093"/>
                </a:cubicBezTo>
                <a:cubicBezTo>
                  <a:pt x="3005175" y="2933565"/>
                  <a:pt x="2872513" y="2908535"/>
                  <a:pt x="2739850" y="2886007"/>
                </a:cubicBezTo>
                <a:cubicBezTo>
                  <a:pt x="2940095" y="2863480"/>
                  <a:pt x="3132831" y="2896020"/>
                  <a:pt x="3328071" y="2913541"/>
                </a:cubicBezTo>
                <a:cubicBezTo>
                  <a:pt x="3390647" y="2921050"/>
                  <a:pt x="3485763" y="2968608"/>
                  <a:pt x="3503285" y="2898523"/>
                </a:cubicBezTo>
                <a:cubicBezTo>
                  <a:pt x="3513297" y="2850965"/>
                  <a:pt x="3410671" y="2850965"/>
                  <a:pt x="3350598" y="2838450"/>
                </a:cubicBezTo>
                <a:cubicBezTo>
                  <a:pt x="3090279" y="2785886"/>
                  <a:pt x="2824954" y="2758353"/>
                  <a:pt x="2562133" y="2725813"/>
                </a:cubicBezTo>
                <a:cubicBezTo>
                  <a:pt x="2537102" y="2723310"/>
                  <a:pt x="2504562" y="2725813"/>
                  <a:pt x="2487041" y="2715801"/>
                </a:cubicBezTo>
                <a:cubicBezTo>
                  <a:pt x="2354378" y="2633200"/>
                  <a:pt x="2184170" y="2608170"/>
                  <a:pt x="1998943" y="2548097"/>
                </a:cubicBezTo>
                <a:cubicBezTo>
                  <a:pt x="2116587" y="2515558"/>
                  <a:pt x="2196685" y="2575630"/>
                  <a:pt x="2294304" y="2560612"/>
                </a:cubicBezTo>
                <a:cubicBezTo>
                  <a:pt x="2196685" y="2498036"/>
                  <a:pt x="2079041" y="2488024"/>
                  <a:pt x="1978918" y="2455485"/>
                </a:cubicBezTo>
                <a:cubicBezTo>
                  <a:pt x="1906330" y="2430454"/>
                  <a:pt x="1635999" y="2357866"/>
                  <a:pt x="1595950" y="2335339"/>
                </a:cubicBezTo>
                <a:cubicBezTo>
                  <a:pt x="1473299" y="2267756"/>
                  <a:pt x="1315606" y="2237720"/>
                  <a:pt x="1215483" y="2145108"/>
                </a:cubicBezTo>
                <a:cubicBezTo>
                  <a:pt x="1145398" y="2080028"/>
                  <a:pt x="1025251" y="2095047"/>
                  <a:pt x="942649" y="2049992"/>
                </a:cubicBezTo>
                <a:cubicBezTo>
                  <a:pt x="912613" y="2004937"/>
                  <a:pt x="972686" y="1994925"/>
                  <a:pt x="992711" y="1969894"/>
                </a:cubicBezTo>
                <a:cubicBezTo>
                  <a:pt x="1020244" y="1939858"/>
                  <a:pt x="972686" y="1922337"/>
                  <a:pt x="960170" y="1884791"/>
                </a:cubicBezTo>
                <a:cubicBezTo>
                  <a:pt x="1117863" y="1922337"/>
                  <a:pt x="1268048" y="1944864"/>
                  <a:pt x="1448268" y="1957380"/>
                </a:cubicBezTo>
                <a:cubicBezTo>
                  <a:pt x="1390698" y="1897306"/>
                  <a:pt x="1318109" y="1927343"/>
                  <a:pt x="1270551" y="1904815"/>
                </a:cubicBezTo>
                <a:cubicBezTo>
                  <a:pt x="1238011" y="1889797"/>
                  <a:pt x="1190453" y="1884791"/>
                  <a:pt x="1200466" y="1849749"/>
                </a:cubicBezTo>
                <a:cubicBezTo>
                  <a:pt x="1207974" y="1822216"/>
                  <a:pt x="1248023" y="1824718"/>
                  <a:pt x="1278060" y="1827221"/>
                </a:cubicBezTo>
                <a:cubicBezTo>
                  <a:pt x="1393201" y="1834730"/>
                  <a:pt x="1503336" y="1834730"/>
                  <a:pt x="1615974" y="1764645"/>
                </a:cubicBezTo>
                <a:cubicBezTo>
                  <a:pt x="1338134" y="1669530"/>
                  <a:pt x="1015238" y="1717087"/>
                  <a:pt x="767434" y="1576917"/>
                </a:cubicBezTo>
                <a:cubicBezTo>
                  <a:pt x="802477" y="1531862"/>
                  <a:pt x="852539" y="1554390"/>
                  <a:pt x="890085" y="1559396"/>
                </a:cubicBezTo>
                <a:cubicBezTo>
                  <a:pt x="1132882" y="1591936"/>
                  <a:pt x="2003949" y="1514341"/>
                  <a:pt x="2129102" y="1556893"/>
                </a:cubicBezTo>
                <a:cubicBezTo>
                  <a:pt x="2204195" y="1584426"/>
                  <a:pt x="2286796" y="1594439"/>
                  <a:pt x="2369396" y="1576917"/>
                </a:cubicBezTo>
                <a:cubicBezTo>
                  <a:pt x="2469519" y="1554390"/>
                  <a:pt x="1881298" y="1519347"/>
                  <a:pt x="1746133" y="1421728"/>
                </a:cubicBezTo>
                <a:cubicBezTo>
                  <a:pt x="1678551" y="1374170"/>
                  <a:pt x="1082821" y="1146394"/>
                  <a:pt x="819999" y="1083817"/>
                </a:cubicBezTo>
                <a:cubicBezTo>
                  <a:pt x="857545" y="1041266"/>
                  <a:pt x="952662" y="1066296"/>
                  <a:pt x="940146" y="993707"/>
                </a:cubicBezTo>
                <a:cubicBezTo>
                  <a:pt x="794969" y="956162"/>
                  <a:pt x="627263" y="961168"/>
                  <a:pt x="459558" y="903598"/>
                </a:cubicBezTo>
                <a:cubicBezTo>
                  <a:pt x="537153" y="858543"/>
                  <a:pt x="622257" y="883573"/>
                  <a:pt x="699852" y="868556"/>
                </a:cubicBezTo>
                <a:cubicBezTo>
                  <a:pt x="657300" y="813489"/>
                  <a:pt x="582208" y="823500"/>
                  <a:pt x="522134" y="813489"/>
                </a:cubicBezTo>
                <a:cubicBezTo>
                  <a:pt x="464564" y="803476"/>
                  <a:pt x="349423" y="708360"/>
                  <a:pt x="374453" y="713367"/>
                </a:cubicBezTo>
                <a:cubicBezTo>
                  <a:pt x="607238" y="750912"/>
                  <a:pt x="842526" y="735895"/>
                  <a:pt x="1075312" y="773440"/>
                </a:cubicBezTo>
                <a:cubicBezTo>
                  <a:pt x="1152907" y="785955"/>
                  <a:pt x="1238011" y="810986"/>
                  <a:pt x="1275557" y="728385"/>
                </a:cubicBezTo>
                <a:cubicBezTo>
                  <a:pt x="1285569" y="703355"/>
                  <a:pt x="1278060" y="695846"/>
                  <a:pt x="1385692" y="725882"/>
                </a:cubicBezTo>
                <a:cubicBezTo>
                  <a:pt x="1425741" y="738397"/>
                  <a:pt x="1483311" y="750912"/>
                  <a:pt x="1525863" y="718373"/>
                </a:cubicBezTo>
                <a:cubicBezTo>
                  <a:pt x="1498330" y="678325"/>
                  <a:pt x="1445765" y="690839"/>
                  <a:pt x="1408219" y="680828"/>
                </a:cubicBezTo>
                <a:cubicBezTo>
                  <a:pt x="1305594" y="653294"/>
                  <a:pt x="922624" y="548166"/>
                  <a:pt x="825005" y="518129"/>
                </a:cubicBezTo>
                <a:cubicBezTo>
                  <a:pt x="619754" y="453051"/>
                  <a:pt x="492098" y="475578"/>
                  <a:pt x="286846" y="405492"/>
                </a:cubicBezTo>
                <a:cubicBezTo>
                  <a:pt x="356932" y="407995"/>
                  <a:pt x="336907" y="380462"/>
                  <a:pt x="406993" y="380462"/>
                </a:cubicBezTo>
                <a:cubicBezTo>
                  <a:pt x="437030" y="380462"/>
                  <a:pt x="472073" y="372954"/>
                  <a:pt x="472073" y="342917"/>
                </a:cubicBezTo>
                <a:cubicBezTo>
                  <a:pt x="472073" y="315384"/>
                  <a:pt x="104123" y="170207"/>
                  <a:pt x="156686" y="155188"/>
                </a:cubicBezTo>
                <a:cubicBezTo>
                  <a:pt x="301865" y="115140"/>
                  <a:pt x="667312" y="227777"/>
                  <a:pt x="579705" y="175213"/>
                </a:cubicBezTo>
                <a:cubicBezTo>
                  <a:pt x="447042" y="92613"/>
                  <a:pt x="427018" y="77594"/>
                  <a:pt x="326895" y="67583"/>
                </a:cubicBezTo>
                <a:cubicBezTo>
                  <a:pt x="296858" y="62576"/>
                  <a:pt x="244294" y="35043"/>
                  <a:pt x="181717" y="0"/>
                </a:cubicBezTo>
                <a:close/>
              </a:path>
            </a:pathLst>
          </a:custGeom>
        </p:spPr>
      </p:pic>
    </p:spTree>
    <p:extLst>
      <p:ext uri="{BB962C8B-B14F-4D97-AF65-F5344CB8AC3E}">
        <p14:creationId xmlns:p14="http://schemas.microsoft.com/office/powerpoint/2010/main" val="135561826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3" name="Rectangle 10">
            <a:extLst>
              <a:ext uri="{FF2B5EF4-FFF2-40B4-BE49-F238E27FC236}">
                <a16:creationId xmlns:a16="http://schemas.microsoft.com/office/drawing/2014/main" id="{062BE4CC-E9B2-4666-A643-DEE3BA08ABE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6" name="Image 3" descr="Screen Shot 2013-09-01 at 8.13.04 PM.png">
            <a:extLst>
              <a:ext uri="{FF2B5EF4-FFF2-40B4-BE49-F238E27FC236}">
                <a16:creationId xmlns:a16="http://schemas.microsoft.com/office/drawing/2014/main" id="{5194129C-43F4-06D2-6895-0591F0321552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9873" b="1"/>
          <a:stretch/>
        </p:blipFill>
        <p:spPr bwMode="auto">
          <a:xfrm>
            <a:off x="321733" y="321733"/>
            <a:ext cx="11548534" cy="621453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E3A5059-E864-2446-CF74-F79803A8A7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515390"/>
            <a:ext cx="4114800" cy="365125"/>
          </a:xfrm>
        </p:spPr>
        <p:txBody>
          <a:bodyPr vert="horz" lIns="91440" tIns="45720" rIns="91440" bIns="45720" rtlCol="0" anchor="ctr">
            <a:normAutofit/>
          </a:bodyPr>
          <a:lstStyle/>
          <a:p>
            <a:pPr>
              <a:spcAft>
                <a:spcPts val="600"/>
              </a:spcAft>
            </a:pPr>
            <a:r>
              <a:rPr lang="en-US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rPr>
              <a:t>Object Oriented Programming-Spring 24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ACE4C78-F114-1D01-BFD7-4658BC44C6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515390"/>
            <a:ext cx="2743200" cy="365125"/>
          </a:xfrm>
        </p:spPr>
        <p:txBody>
          <a:bodyPr vert="horz" lIns="91440" tIns="45720" rIns="91440" bIns="45720" rtlCol="0" anchor="ctr">
            <a:normAutofit/>
          </a:bodyPr>
          <a:lstStyle/>
          <a:p>
            <a:pPr>
              <a:spcAft>
                <a:spcPts val="600"/>
              </a:spcAft>
            </a:pPr>
            <a:fld id="{51845F5A-061D-4825-9AE9-D7794091C6CF}" type="slidenum">
              <a:rPr lang="en-US" smtClean="0"/>
              <a:pPr>
                <a:spcAft>
                  <a:spcPts val="600"/>
                </a:spcAft>
              </a:pPr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5966584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8DF215-B2E5-38D3-3B3E-F9146A7DB4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Recursive Function </a:t>
            </a:r>
            <a:endParaRPr lang="en-PK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D9211D0-A158-E60E-4A61-DEA46E14125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400" dirty="0"/>
              <a:t>A function that </a:t>
            </a:r>
            <a:r>
              <a:rPr lang="en-US" sz="2400" dirty="0">
                <a:solidFill>
                  <a:srgbClr val="0070C0"/>
                </a:solidFill>
              </a:rPr>
              <a:t>calls itself </a:t>
            </a:r>
            <a:r>
              <a:rPr lang="en-US" sz="2400" dirty="0"/>
              <a:t>is called </a:t>
            </a:r>
            <a:r>
              <a:rPr lang="en-US" sz="2400" dirty="0">
                <a:solidFill>
                  <a:srgbClr val="0070C0"/>
                </a:solidFill>
              </a:rPr>
              <a:t>recursive function </a:t>
            </a:r>
          </a:p>
          <a:p>
            <a:endParaRPr lang="en-US" sz="2400" dirty="0">
              <a:solidFill>
                <a:srgbClr val="0070C0"/>
              </a:solidFill>
            </a:endParaRPr>
          </a:p>
          <a:p>
            <a:endParaRPr lang="en-US" sz="2400" dirty="0">
              <a:solidFill>
                <a:srgbClr val="0070C0"/>
              </a:solidFill>
            </a:endParaRPr>
          </a:p>
          <a:p>
            <a:endParaRPr lang="en-US" sz="2400" dirty="0">
              <a:solidFill>
                <a:srgbClr val="0070C0"/>
              </a:solidFill>
            </a:endParaRPr>
          </a:p>
          <a:p>
            <a:endParaRPr lang="en-US" sz="2400" dirty="0">
              <a:solidFill>
                <a:srgbClr val="0070C0"/>
              </a:solidFill>
            </a:endParaRPr>
          </a:p>
          <a:p>
            <a:pPr marL="0" indent="0">
              <a:buNone/>
            </a:pPr>
            <a:endParaRPr lang="en-US" sz="2400" dirty="0">
              <a:solidFill>
                <a:srgbClr val="0070C0"/>
              </a:solidFill>
            </a:endParaRPr>
          </a:p>
          <a:p>
            <a:r>
              <a:rPr lang="en-US" sz="2400" dirty="0"/>
              <a:t>What is the problem with the above function?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D7FC077-15CC-99C6-870E-723ADFD970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Object Oriented Programming-Spring 24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3C7A8F5-1E42-C2AD-C70E-071DAD30A2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845F5A-061D-4825-9AE9-D7794091C6CF}" type="slidenum">
              <a:rPr lang="en-US" smtClean="0"/>
              <a:t>3</a:t>
            </a:fld>
            <a:endParaRPr 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1DE86E9-CD63-E4D4-D51D-38E74709B196}"/>
              </a:ext>
            </a:extLst>
          </p:cNvPr>
          <p:cNvSpPr txBox="1"/>
          <p:nvPr/>
        </p:nvSpPr>
        <p:spPr>
          <a:xfrm>
            <a:off x="1946000" y="2736257"/>
            <a:ext cx="8299999" cy="1938992"/>
          </a:xfrm>
          <a:prstGeom prst="rect">
            <a:avLst/>
          </a:prstGeom>
          <a:noFill/>
          <a:ln>
            <a:solidFill>
              <a:srgbClr val="002060"/>
            </a:solidFill>
          </a:ln>
        </p:spPr>
        <p:txBody>
          <a:bodyPr wrap="square" rtlCol="0">
            <a:spAutoFit/>
          </a:bodyPr>
          <a:lstStyle/>
          <a:p>
            <a:r>
              <a:rPr lang="en-US" sz="2400" b="1" dirty="0">
                <a:latin typeface="Consolas" panose="020B0609020204030204" pitchFamily="49" charset="0"/>
                <a:cs typeface="Courier New" panose="02070309020205020404" pitchFamily="49" charset="0"/>
              </a:rPr>
              <a:t>void</a:t>
            </a:r>
            <a:r>
              <a:rPr lang="en-US" sz="2400" dirty="0">
                <a:latin typeface="Consolas" panose="020B0609020204030204" pitchFamily="49" charset="0"/>
                <a:cs typeface="Courier New" panose="02070309020205020404" pitchFamily="49" charset="0"/>
              </a:rPr>
              <a:t> </a:t>
            </a:r>
            <a:r>
              <a:rPr lang="en-US" sz="2400" b="1" dirty="0">
                <a:solidFill>
                  <a:srgbClr val="0070C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Message</a:t>
            </a:r>
            <a:r>
              <a:rPr lang="en-US" sz="2400" dirty="0">
                <a:latin typeface="Consolas" panose="020B0609020204030204" pitchFamily="49" charset="0"/>
                <a:cs typeface="Courier New" panose="02070309020205020404" pitchFamily="49" charset="0"/>
              </a:rPr>
              <a:t>()</a:t>
            </a:r>
            <a:br>
              <a:rPr lang="en-US" sz="2400" dirty="0">
                <a:latin typeface="Consolas" panose="020B0609020204030204" pitchFamily="49" charset="0"/>
                <a:cs typeface="Courier New" panose="02070309020205020404" pitchFamily="49" charset="0"/>
              </a:rPr>
            </a:br>
            <a:r>
              <a:rPr lang="en-US" sz="2400" dirty="0">
                <a:latin typeface="Consolas" panose="020B0609020204030204" pitchFamily="49" charset="0"/>
                <a:cs typeface="Courier New" panose="02070309020205020404" pitchFamily="49" charset="0"/>
              </a:rPr>
              <a:t>{</a:t>
            </a:r>
            <a:br>
              <a:rPr lang="en-US" sz="2400" dirty="0">
                <a:latin typeface="Consolas" panose="020B0609020204030204" pitchFamily="49" charset="0"/>
                <a:cs typeface="Courier New" panose="02070309020205020404" pitchFamily="49" charset="0"/>
              </a:rPr>
            </a:br>
            <a:r>
              <a:rPr lang="en-US" sz="2400" dirty="0">
                <a:latin typeface="Consolas" panose="020B0609020204030204" pitchFamily="49" charset="0"/>
                <a:cs typeface="Courier New" panose="02070309020205020404" pitchFamily="49" charset="0"/>
              </a:rPr>
              <a:t>	</a:t>
            </a:r>
            <a:r>
              <a:rPr lang="en-US" sz="2400" dirty="0" err="1">
                <a:latin typeface="Consolas" panose="020B0609020204030204" pitchFamily="49" charset="0"/>
                <a:cs typeface="Courier New" panose="02070309020205020404" pitchFamily="49" charset="0"/>
              </a:rPr>
              <a:t>cout</a:t>
            </a:r>
            <a:r>
              <a:rPr lang="en-US" sz="2400" dirty="0">
                <a:latin typeface="Consolas" panose="020B0609020204030204" pitchFamily="49" charset="0"/>
                <a:cs typeface="Courier New" panose="02070309020205020404" pitchFamily="49" charset="0"/>
              </a:rPr>
              <a:t> &lt;&lt; "This is a recursive function.\n";</a:t>
            </a:r>
            <a:br>
              <a:rPr lang="en-US" sz="2400" dirty="0">
                <a:latin typeface="Consolas" panose="020B0609020204030204" pitchFamily="49" charset="0"/>
                <a:cs typeface="Courier New" panose="02070309020205020404" pitchFamily="49" charset="0"/>
              </a:rPr>
            </a:br>
            <a:r>
              <a:rPr lang="en-US" sz="2400" dirty="0">
                <a:latin typeface="Consolas" panose="020B0609020204030204" pitchFamily="49" charset="0"/>
                <a:cs typeface="Courier New" panose="02070309020205020404" pitchFamily="49" charset="0"/>
              </a:rPr>
              <a:t>	</a:t>
            </a:r>
            <a:r>
              <a:rPr lang="en-US" sz="2400" b="1" dirty="0">
                <a:solidFill>
                  <a:srgbClr val="0070C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Message</a:t>
            </a:r>
            <a:r>
              <a:rPr lang="en-US" sz="2400" dirty="0">
                <a:latin typeface="Consolas" panose="020B0609020204030204" pitchFamily="49" charset="0"/>
                <a:cs typeface="Courier New" panose="02070309020205020404" pitchFamily="49" charset="0"/>
              </a:rPr>
              <a:t>();</a:t>
            </a:r>
            <a:br>
              <a:rPr lang="en-US" sz="2400" dirty="0">
                <a:latin typeface="Consolas" panose="020B0609020204030204" pitchFamily="49" charset="0"/>
                <a:cs typeface="Courier New" panose="02070309020205020404" pitchFamily="49" charset="0"/>
              </a:rPr>
            </a:br>
            <a:r>
              <a:rPr lang="en-US" sz="2400" dirty="0">
                <a:latin typeface="Consolas" panose="020B0609020204030204" pitchFamily="49" charset="0"/>
                <a:cs typeface="Courier New" panose="02070309020205020404" pitchFamily="49" charset="0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21547765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63273A1-F795-7854-E1F2-FDCCB38D60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Recursion</a:t>
            </a:r>
            <a:endParaRPr lang="en-PK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0327885-C83B-0155-6586-2F72F67F751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just"/>
            <a:r>
              <a:rPr lang="en-US" altLang="en-US" sz="2400" dirty="0">
                <a:cs typeface="Times New Roman" panose="02020603050405020304" pitchFamily="18" charset="0"/>
              </a:rPr>
              <a:t>The </a:t>
            </a:r>
            <a:r>
              <a:rPr lang="en-US" altLang="en-US" sz="2400" b="1" dirty="0">
                <a:solidFill>
                  <a:srgbClr val="B80000"/>
                </a:solidFill>
                <a:cs typeface="Times New Roman" panose="02020603050405020304" pitchFamily="18" charset="0"/>
              </a:rPr>
              <a:t>function</a:t>
            </a:r>
            <a:r>
              <a:rPr lang="en-US" altLang="en-US" sz="2400" dirty="0">
                <a:solidFill>
                  <a:srgbClr val="B80000"/>
                </a:solidFill>
                <a:cs typeface="Times New Roman" panose="02020603050405020304" pitchFamily="18" charset="0"/>
              </a:rPr>
              <a:t> </a:t>
            </a:r>
            <a:r>
              <a:rPr lang="en-US" altLang="en-US" sz="2400" dirty="0">
                <a:cs typeface="Times New Roman" panose="02020603050405020304" pitchFamily="18" charset="0"/>
              </a:rPr>
              <a:t>is </a:t>
            </a:r>
            <a:r>
              <a:rPr lang="en-US" altLang="en-US" sz="2400" b="1" dirty="0">
                <a:cs typeface="Times New Roman" panose="02020603050405020304" pitchFamily="18" charset="0"/>
              </a:rPr>
              <a:t>like an </a:t>
            </a:r>
            <a:r>
              <a:rPr lang="en-US" altLang="en-US" sz="2400" b="1" dirty="0">
                <a:solidFill>
                  <a:srgbClr val="2C14DE"/>
                </a:solidFill>
                <a:cs typeface="Times New Roman" panose="02020603050405020304" pitchFamily="18" charset="0"/>
              </a:rPr>
              <a:t>infinite loop </a:t>
            </a:r>
            <a:r>
              <a:rPr lang="en-US" altLang="en-US" sz="2400" dirty="0">
                <a:cs typeface="Times New Roman" panose="02020603050405020304" pitchFamily="18" charset="0"/>
              </a:rPr>
              <a:t>because </a:t>
            </a:r>
            <a:r>
              <a:rPr lang="en-US" altLang="en-US" sz="2400" b="1" dirty="0">
                <a:solidFill>
                  <a:srgbClr val="2C14DE"/>
                </a:solidFill>
                <a:cs typeface="Times New Roman" panose="02020603050405020304" pitchFamily="18" charset="0"/>
              </a:rPr>
              <a:t>there is no code to stop it </a:t>
            </a:r>
            <a:r>
              <a:rPr lang="en-US" altLang="en-US" sz="2400" dirty="0">
                <a:cs typeface="Times New Roman" panose="02020603050405020304" pitchFamily="18" charset="0"/>
              </a:rPr>
              <a:t>from </a:t>
            </a:r>
            <a:r>
              <a:rPr lang="en-US" altLang="en-US" sz="2400" b="1" u="sng" dirty="0">
                <a:solidFill>
                  <a:srgbClr val="2C14DE"/>
                </a:solidFill>
                <a:cs typeface="Times New Roman" panose="02020603050405020304" pitchFamily="18" charset="0"/>
              </a:rPr>
              <a:t>repeating</a:t>
            </a:r>
            <a:r>
              <a:rPr lang="en-US" altLang="en-US" sz="2400" dirty="0">
                <a:cs typeface="Times New Roman" panose="02020603050405020304" pitchFamily="18" charset="0"/>
              </a:rPr>
              <a:t>.</a:t>
            </a:r>
          </a:p>
          <a:p>
            <a:pPr algn="just"/>
            <a:endParaRPr lang="en-US" altLang="en-US" sz="2400" dirty="0">
              <a:cs typeface="Times New Roman" panose="02020603050405020304" pitchFamily="18" charset="0"/>
            </a:endParaRPr>
          </a:p>
          <a:p>
            <a:pPr algn="just"/>
            <a:endParaRPr lang="en-US" altLang="en-US" sz="2400" dirty="0">
              <a:cs typeface="Times New Roman" panose="02020603050405020304" pitchFamily="18" charset="0"/>
            </a:endParaRPr>
          </a:p>
          <a:p>
            <a:pPr algn="just"/>
            <a:r>
              <a:rPr lang="en-US" altLang="en-US" sz="2400" b="1" dirty="0">
                <a:solidFill>
                  <a:srgbClr val="2C14DE"/>
                </a:solidFill>
                <a:cs typeface="Times New Roman" panose="02020603050405020304" pitchFamily="18" charset="0"/>
              </a:rPr>
              <a:t>Like a loop</a:t>
            </a:r>
            <a:r>
              <a:rPr lang="en-US" altLang="en-US" sz="2400" dirty="0">
                <a:cs typeface="Times New Roman" panose="02020603050405020304" pitchFamily="18" charset="0"/>
              </a:rPr>
              <a:t>, a </a:t>
            </a:r>
            <a:r>
              <a:rPr lang="en-US" altLang="en-US" sz="2400" b="1" u="sng" dirty="0">
                <a:cs typeface="Times New Roman" panose="02020603050405020304" pitchFamily="18" charset="0"/>
              </a:rPr>
              <a:t>recursive function</a:t>
            </a:r>
            <a:r>
              <a:rPr lang="en-US" altLang="en-US" sz="2400" u="sng" dirty="0">
                <a:cs typeface="Times New Roman" panose="02020603050405020304" pitchFamily="18" charset="0"/>
              </a:rPr>
              <a:t> </a:t>
            </a:r>
            <a:r>
              <a:rPr lang="en-US" altLang="en-US" sz="2400" b="1" u="sng" dirty="0">
                <a:cs typeface="Times New Roman" panose="02020603050405020304" pitchFamily="18" charset="0"/>
              </a:rPr>
              <a:t>must have </a:t>
            </a:r>
            <a:r>
              <a:rPr lang="en-US" altLang="en-US" sz="2400" b="1" dirty="0">
                <a:cs typeface="Times New Roman" panose="02020603050405020304" pitchFamily="18" charset="0"/>
              </a:rPr>
              <a:t>some algorithm to </a:t>
            </a:r>
            <a:r>
              <a:rPr lang="en-US" altLang="en-US" sz="2400" b="1" dirty="0">
                <a:solidFill>
                  <a:srgbClr val="2C14DE"/>
                </a:solidFill>
                <a:cs typeface="Times New Roman" panose="02020603050405020304" pitchFamily="18" charset="0"/>
              </a:rPr>
              <a:t>control</a:t>
            </a:r>
            <a:r>
              <a:rPr lang="en-US" altLang="en-US" sz="2400" dirty="0">
                <a:solidFill>
                  <a:srgbClr val="2C14DE"/>
                </a:solidFill>
                <a:cs typeface="Times New Roman" panose="02020603050405020304" pitchFamily="18" charset="0"/>
              </a:rPr>
              <a:t> </a:t>
            </a:r>
            <a:r>
              <a:rPr lang="en-US" altLang="en-US" sz="2400" dirty="0">
                <a:cs typeface="Times New Roman" panose="02020603050405020304" pitchFamily="18" charset="0"/>
              </a:rPr>
              <a:t>the </a:t>
            </a:r>
            <a:r>
              <a:rPr lang="en-US" altLang="en-US" sz="2400" b="1" dirty="0">
                <a:cs typeface="Times New Roman" panose="02020603050405020304" pitchFamily="18" charset="0"/>
              </a:rPr>
              <a:t>number of </a:t>
            </a:r>
            <a:r>
              <a:rPr lang="en-US" altLang="en-US" sz="2400" b="1" dirty="0">
                <a:solidFill>
                  <a:srgbClr val="2C14DE"/>
                </a:solidFill>
                <a:cs typeface="Times New Roman" panose="02020603050405020304" pitchFamily="18" charset="0"/>
              </a:rPr>
              <a:t>times</a:t>
            </a:r>
            <a:r>
              <a:rPr lang="en-US" altLang="en-US" sz="2400" b="1" dirty="0">
                <a:cs typeface="Times New Roman" panose="02020603050405020304" pitchFamily="18" charset="0"/>
              </a:rPr>
              <a:t> it </a:t>
            </a:r>
            <a:r>
              <a:rPr lang="en-US" altLang="en-US" sz="2400" b="1" dirty="0">
                <a:solidFill>
                  <a:srgbClr val="2C14DE"/>
                </a:solidFill>
                <a:cs typeface="Times New Roman" panose="02020603050405020304" pitchFamily="18" charset="0"/>
              </a:rPr>
              <a:t>repeats</a:t>
            </a:r>
            <a:endParaRPr lang="en-PK" sz="2400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401720D-F596-7352-B432-5EBC62FC0B4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Object Oriented Programming-Spring 24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025EEF2-2F72-10F6-526A-83C0863FB3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845F5A-061D-4825-9AE9-D7794091C6CF}" type="slidenum">
              <a:rPr lang="en-US" smtClean="0"/>
              <a:t>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5737055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862276D-0D51-0CB6-ABD3-2679AEFC7D4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Recursion</a:t>
            </a:r>
            <a:endParaRPr lang="en-PK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B5DDD36-07AE-E2C0-05EF-FEC2CE81C34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just"/>
            <a:r>
              <a:rPr lang="en-US" altLang="en-PK" sz="2400" dirty="0">
                <a:cs typeface="Times New Roman" panose="02020603050405020304" pitchFamily="18" charset="0"/>
              </a:rPr>
              <a:t>The function message() is like an </a:t>
            </a:r>
            <a:r>
              <a:rPr lang="en-US" altLang="en-PK" sz="2400" dirty="0">
                <a:solidFill>
                  <a:srgbClr val="0070C0"/>
                </a:solidFill>
                <a:cs typeface="Times New Roman" panose="02020603050405020304" pitchFamily="18" charset="0"/>
              </a:rPr>
              <a:t>infinite loop </a:t>
            </a:r>
            <a:r>
              <a:rPr lang="en-US" altLang="en-PK" sz="2400" dirty="0">
                <a:cs typeface="Times New Roman" panose="02020603050405020304" pitchFamily="18" charset="0"/>
              </a:rPr>
              <a:t>because there is </a:t>
            </a:r>
            <a:r>
              <a:rPr lang="en-US" altLang="en-PK" sz="2400" dirty="0">
                <a:solidFill>
                  <a:srgbClr val="0070C0"/>
                </a:solidFill>
                <a:cs typeface="Times New Roman" panose="02020603050405020304" pitchFamily="18" charset="0"/>
              </a:rPr>
              <a:t>no code to stop it from repeating</a:t>
            </a:r>
            <a:endParaRPr lang="en-US" altLang="en-PK" sz="2400" dirty="0">
              <a:cs typeface="Times New Roman" panose="02020603050405020304" pitchFamily="18" charset="0"/>
            </a:endParaRPr>
          </a:p>
          <a:p>
            <a:pPr algn="just"/>
            <a:endParaRPr lang="en-PK" sz="2400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C660CFD-B4FA-77E7-DB66-7C182C17CFA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Object Oriented Programming-Spring 24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CD61BEB-EB4A-21B5-9570-882E633234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845F5A-061D-4825-9AE9-D7794091C6CF}" type="slidenum">
              <a:rPr lang="en-US" smtClean="0"/>
              <a:t>5</a:t>
            </a:fld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0ECC31B0-BC60-78BC-D039-FBEAA9D9D30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52912" y="2971800"/>
            <a:ext cx="3686175" cy="29968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7596675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0ECB07-8060-4AF5-4D94-EA87EADD396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Recursion : Using Control Condition</a:t>
            </a:r>
            <a:endParaRPr lang="en-PK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35B28F8-EE7E-CCF3-5917-9222223B5CA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r>
              <a:rPr lang="en-US" sz="2000" dirty="0"/>
              <a:t>Recursive function must have some algorithm (i.e., logic) to control the number of times it repeats</a:t>
            </a:r>
          </a:p>
          <a:p>
            <a:endParaRPr lang="en-US" sz="2000" dirty="0"/>
          </a:p>
          <a:p>
            <a:endParaRPr lang="en-US" sz="2000" dirty="0"/>
          </a:p>
          <a:p>
            <a:endParaRPr lang="en-US" sz="2000" dirty="0"/>
          </a:p>
          <a:p>
            <a:endParaRPr lang="en-US" sz="2000" dirty="0"/>
          </a:p>
          <a:p>
            <a:endParaRPr lang="en-US" sz="2000" dirty="0"/>
          </a:p>
          <a:p>
            <a:r>
              <a:rPr lang="en-US" sz="2000" dirty="0"/>
              <a:t>Modification to </a:t>
            </a:r>
            <a:r>
              <a:rPr lang="en-US" sz="2000" dirty="0">
                <a:latin typeface="Consolas" panose="020B0609020204030204" pitchFamily="49" charset="0"/>
                <a:cs typeface="Courier New" panose="02070309020205020404" pitchFamily="49" charset="0"/>
              </a:rPr>
              <a:t>Message</a:t>
            </a:r>
            <a:r>
              <a:rPr lang="en-US" sz="2000" dirty="0"/>
              <a:t> function</a:t>
            </a:r>
          </a:p>
          <a:p>
            <a:pPr lvl="1"/>
            <a:r>
              <a:rPr lang="en-US" sz="2000" dirty="0"/>
              <a:t>Receive an </a:t>
            </a:r>
            <a:r>
              <a:rPr lang="en-US" sz="2000" dirty="0">
                <a:solidFill>
                  <a:schemeClr val="tx2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int</a:t>
            </a:r>
            <a:r>
              <a:rPr lang="en-US" sz="2000" dirty="0">
                <a:solidFill>
                  <a:schemeClr val="tx2"/>
                </a:solidFill>
              </a:rPr>
              <a:t> argument </a:t>
            </a:r>
            <a:r>
              <a:rPr lang="en-US" sz="2000" dirty="0"/>
              <a:t>to </a:t>
            </a:r>
            <a:r>
              <a:rPr lang="en-US" sz="2000" b="1" dirty="0">
                <a:solidFill>
                  <a:srgbClr val="0070C0"/>
                </a:solidFill>
              </a:rPr>
              <a:t>control the number to times to call itself</a:t>
            </a:r>
          </a:p>
          <a:p>
            <a:pPr lvl="1"/>
            <a:r>
              <a:rPr lang="en-US" sz="2000" dirty="0"/>
              <a:t>For each recursive call, the parameter controlling the recursion should </a:t>
            </a:r>
            <a:r>
              <a:rPr lang="en-US" sz="2000" b="1" dirty="0">
                <a:solidFill>
                  <a:srgbClr val="0070C0"/>
                </a:solidFill>
              </a:rPr>
              <a:t>move  closer to the base case (converge)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96B0228-4B3B-6DEF-943F-0EB29F1FA7F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Object Oriented Programming-Spring 24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456E345-C2A2-1DAF-9837-3FDDCB7A68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845F5A-061D-4825-9AE9-D7794091C6CF}" type="slidenum">
              <a:rPr lang="en-US" smtClean="0"/>
              <a:t>6</a:t>
            </a:fld>
            <a:endParaRPr lang="en-US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D9406EFD-C908-8428-6486-C52CD1F431BE}"/>
              </a:ext>
            </a:extLst>
          </p:cNvPr>
          <p:cNvSpPr/>
          <p:nvPr/>
        </p:nvSpPr>
        <p:spPr>
          <a:xfrm>
            <a:off x="3336692" y="2538102"/>
            <a:ext cx="5518615" cy="2308324"/>
          </a:xfrm>
          <a:prstGeom prst="rect">
            <a:avLst/>
          </a:prstGeom>
          <a:ln>
            <a:solidFill>
              <a:srgbClr val="002060"/>
            </a:solidFill>
          </a:ln>
        </p:spPr>
        <p:txBody>
          <a:bodyPr wrap="square">
            <a:spAutoFit/>
          </a:bodyPr>
          <a:lstStyle/>
          <a:p>
            <a:r>
              <a:rPr lang="en-US" sz="1600" b="1" dirty="0">
                <a:latin typeface="Consolas" panose="020B0609020204030204" pitchFamily="49" charset="0"/>
                <a:cs typeface="Courier New" panose="02070309020205020404" pitchFamily="49" charset="0"/>
              </a:rPr>
              <a:t>void</a:t>
            </a:r>
            <a:r>
              <a:rPr lang="en-US" sz="1600" dirty="0">
                <a:latin typeface="Consolas" panose="020B0609020204030204" pitchFamily="49" charset="0"/>
                <a:cs typeface="Courier New" panose="02070309020205020404" pitchFamily="49" charset="0"/>
              </a:rPr>
              <a:t> </a:t>
            </a:r>
            <a:r>
              <a:rPr lang="en-US" sz="1600" b="1" dirty="0">
                <a:solidFill>
                  <a:srgbClr val="0070C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Message</a:t>
            </a:r>
            <a:r>
              <a:rPr lang="en-US" sz="1600" dirty="0">
                <a:latin typeface="Consolas" panose="020B0609020204030204" pitchFamily="49" charset="0"/>
                <a:cs typeface="Courier New" panose="02070309020205020404" pitchFamily="49" charset="0"/>
              </a:rPr>
              <a:t>(</a:t>
            </a:r>
            <a:r>
              <a:rPr lang="en-US" sz="1600" b="1" dirty="0">
                <a:latin typeface="Consolas" panose="020B0609020204030204" pitchFamily="49" charset="0"/>
                <a:cs typeface="Courier New" panose="02070309020205020404" pitchFamily="49" charset="0"/>
              </a:rPr>
              <a:t>int</a:t>
            </a:r>
            <a:r>
              <a:rPr lang="en-US" sz="1600" dirty="0">
                <a:latin typeface="Consolas" panose="020B0609020204030204" pitchFamily="49" charset="0"/>
                <a:cs typeface="Courier New" panose="02070309020205020404" pitchFamily="49" charset="0"/>
              </a:rPr>
              <a:t> times)</a:t>
            </a:r>
            <a:br>
              <a:rPr lang="en-US" sz="1600" dirty="0">
                <a:latin typeface="Consolas" panose="020B0609020204030204" pitchFamily="49" charset="0"/>
                <a:cs typeface="Courier New" panose="02070309020205020404" pitchFamily="49" charset="0"/>
              </a:rPr>
            </a:br>
            <a:r>
              <a:rPr lang="en-US" sz="1600" dirty="0">
                <a:latin typeface="Consolas" panose="020B0609020204030204" pitchFamily="49" charset="0"/>
                <a:cs typeface="Courier New" panose="02070309020205020404" pitchFamily="49" charset="0"/>
              </a:rPr>
              <a:t>{</a:t>
            </a:r>
            <a:br>
              <a:rPr lang="en-US" sz="1600" dirty="0">
                <a:latin typeface="Consolas" panose="020B0609020204030204" pitchFamily="49" charset="0"/>
                <a:cs typeface="Courier New" panose="02070309020205020404" pitchFamily="49" charset="0"/>
              </a:rPr>
            </a:br>
            <a:r>
              <a:rPr lang="en-US" sz="1600" dirty="0">
                <a:latin typeface="Consolas" panose="020B0609020204030204" pitchFamily="49" charset="0"/>
                <a:cs typeface="Courier New" panose="02070309020205020404" pitchFamily="49" charset="0"/>
              </a:rPr>
              <a:t>   </a:t>
            </a:r>
            <a:r>
              <a:rPr lang="en-US" sz="1600" b="1" dirty="0">
                <a:latin typeface="Consolas" panose="020B0609020204030204" pitchFamily="49" charset="0"/>
                <a:cs typeface="Courier New" panose="02070309020205020404" pitchFamily="49" charset="0"/>
              </a:rPr>
              <a:t>if</a:t>
            </a:r>
            <a:r>
              <a:rPr lang="en-US" sz="1600" dirty="0">
                <a:latin typeface="Consolas" panose="020B0609020204030204" pitchFamily="49" charset="0"/>
                <a:cs typeface="Courier New" panose="02070309020205020404" pitchFamily="49" charset="0"/>
              </a:rPr>
              <a:t> (times &gt; 0) </a:t>
            </a:r>
            <a:r>
              <a:rPr lang="en-US" sz="1600" dirty="0">
                <a:solidFill>
                  <a:srgbClr val="FF000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//base case</a:t>
            </a:r>
            <a:br>
              <a:rPr lang="en-US" sz="1600" dirty="0">
                <a:solidFill>
                  <a:srgbClr val="FF000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</a:br>
            <a:r>
              <a:rPr lang="en-US" sz="1600" dirty="0">
                <a:latin typeface="Consolas" panose="020B0609020204030204" pitchFamily="49" charset="0"/>
                <a:cs typeface="Courier New" panose="02070309020205020404" pitchFamily="49" charset="0"/>
              </a:rPr>
              <a:t>   {			</a:t>
            </a:r>
            <a:br>
              <a:rPr lang="en-US" sz="1600" dirty="0">
                <a:latin typeface="Consolas" panose="020B0609020204030204" pitchFamily="49" charset="0"/>
                <a:cs typeface="Courier New" panose="02070309020205020404" pitchFamily="49" charset="0"/>
              </a:rPr>
            </a:br>
            <a:r>
              <a:rPr lang="en-US" sz="1600" dirty="0">
                <a:latin typeface="Consolas" panose="020B0609020204030204" pitchFamily="49" charset="0"/>
                <a:cs typeface="Courier New" panose="02070309020205020404" pitchFamily="49" charset="0"/>
              </a:rPr>
              <a:t>      </a:t>
            </a:r>
            <a:r>
              <a:rPr lang="en-US" sz="1600" dirty="0" err="1">
                <a:latin typeface="Consolas" panose="020B0609020204030204" pitchFamily="49" charset="0"/>
                <a:cs typeface="Courier New" panose="02070309020205020404" pitchFamily="49" charset="0"/>
              </a:rPr>
              <a:t>cout</a:t>
            </a:r>
            <a:r>
              <a:rPr lang="en-US" sz="1600" dirty="0">
                <a:latin typeface="Consolas" panose="020B0609020204030204" pitchFamily="49" charset="0"/>
                <a:cs typeface="Courier New" panose="02070309020205020404" pitchFamily="49" charset="0"/>
              </a:rPr>
              <a:t> &lt;&lt; "This is a recursive function.\n";</a:t>
            </a:r>
            <a:br>
              <a:rPr lang="en-US" sz="1600" dirty="0">
                <a:latin typeface="Consolas" panose="020B0609020204030204" pitchFamily="49" charset="0"/>
                <a:cs typeface="Courier New" panose="02070309020205020404" pitchFamily="49" charset="0"/>
              </a:rPr>
            </a:br>
            <a:r>
              <a:rPr lang="en-US" sz="1600" dirty="0">
                <a:latin typeface="Consolas" panose="020B0609020204030204" pitchFamily="49" charset="0"/>
                <a:cs typeface="Courier New" panose="02070309020205020404" pitchFamily="49" charset="0"/>
              </a:rPr>
              <a:t>      </a:t>
            </a:r>
            <a:r>
              <a:rPr lang="en-US" sz="1600" b="1" dirty="0">
                <a:solidFill>
                  <a:srgbClr val="0070C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Message</a:t>
            </a:r>
            <a:r>
              <a:rPr lang="en-US" sz="1600" dirty="0">
                <a:latin typeface="Consolas" panose="020B0609020204030204" pitchFamily="49" charset="0"/>
                <a:cs typeface="Courier New" panose="02070309020205020404" pitchFamily="49" charset="0"/>
              </a:rPr>
              <a:t>(times ‑ 1);</a:t>
            </a:r>
            <a:br>
              <a:rPr lang="en-US" sz="1600" dirty="0">
                <a:latin typeface="Consolas" panose="020B0609020204030204" pitchFamily="49" charset="0"/>
                <a:cs typeface="Courier New" panose="02070309020205020404" pitchFamily="49" charset="0"/>
              </a:rPr>
            </a:br>
            <a:r>
              <a:rPr lang="en-US" sz="1600" dirty="0">
                <a:latin typeface="Consolas" panose="020B0609020204030204" pitchFamily="49" charset="0"/>
                <a:cs typeface="Courier New" panose="02070309020205020404" pitchFamily="49" charset="0"/>
              </a:rPr>
              <a:t>   }</a:t>
            </a:r>
            <a:br>
              <a:rPr lang="en-US" sz="1600" dirty="0">
                <a:latin typeface="Consolas" panose="020B0609020204030204" pitchFamily="49" charset="0"/>
                <a:cs typeface="Courier New" panose="02070309020205020404" pitchFamily="49" charset="0"/>
              </a:rPr>
            </a:br>
            <a:r>
              <a:rPr lang="en-US" sz="1600" dirty="0">
                <a:latin typeface="Consolas" panose="020B0609020204030204" pitchFamily="49" charset="0"/>
                <a:cs typeface="Courier New" panose="02070309020205020404" pitchFamily="49" charset="0"/>
              </a:rPr>
              <a:t>   </a:t>
            </a:r>
            <a:r>
              <a:rPr lang="en-US" sz="1600" b="1" dirty="0">
                <a:latin typeface="Consolas" panose="020B0609020204030204" pitchFamily="49" charset="0"/>
                <a:cs typeface="Courier New" panose="02070309020205020404" pitchFamily="49" charset="0"/>
              </a:rPr>
              <a:t>return</a:t>
            </a:r>
            <a:r>
              <a:rPr lang="en-US" sz="1600" dirty="0">
                <a:latin typeface="Consolas" panose="020B0609020204030204" pitchFamily="49" charset="0"/>
                <a:cs typeface="Courier New" panose="02070309020205020404" pitchFamily="49" charset="0"/>
              </a:rPr>
              <a:t>;</a:t>
            </a:r>
            <a:br>
              <a:rPr lang="en-US" sz="1600" dirty="0">
                <a:latin typeface="Consolas" panose="020B0609020204030204" pitchFamily="49" charset="0"/>
                <a:cs typeface="Courier New" panose="02070309020205020404" pitchFamily="49" charset="0"/>
              </a:rPr>
            </a:br>
            <a:r>
              <a:rPr lang="en-US" sz="1600" dirty="0">
                <a:latin typeface="Consolas" panose="020B0609020204030204" pitchFamily="49" charset="0"/>
                <a:cs typeface="Courier New" panose="02070309020205020404" pitchFamily="49" charset="0"/>
              </a:rPr>
              <a:t>} </a:t>
            </a:r>
          </a:p>
        </p:txBody>
      </p:sp>
    </p:spTree>
    <p:extLst>
      <p:ext uri="{BB962C8B-B14F-4D97-AF65-F5344CB8AC3E}">
        <p14:creationId xmlns:p14="http://schemas.microsoft.com/office/powerpoint/2010/main" val="101325587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1397BF8-D5F4-A40C-B8BF-FE41B17CF94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Recursive Function – Execution</a:t>
            </a:r>
            <a:endParaRPr lang="en-PK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15BC39B-7E41-23F4-1FDE-330EF03F23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Object Oriented Programming-Spring 24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054D086-EBFC-F097-8144-6127E88014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845F5A-061D-4825-9AE9-D7794091C6CF}" type="slidenum">
              <a:rPr lang="en-US" smtClean="0"/>
              <a:t>7</a:t>
            </a:fld>
            <a:endParaRPr lang="en-US" dirty="0"/>
          </a:p>
        </p:txBody>
      </p:sp>
      <p:grpSp>
        <p:nvGrpSpPr>
          <p:cNvPr id="6" name="Group 43">
            <a:extLst>
              <a:ext uri="{FF2B5EF4-FFF2-40B4-BE49-F238E27FC236}">
                <a16:creationId xmlns:a16="http://schemas.microsoft.com/office/drawing/2014/main" id="{54DEBA66-8015-2421-FC07-8C9E144B3C90}"/>
              </a:ext>
            </a:extLst>
          </p:cNvPr>
          <p:cNvGrpSpPr>
            <a:grpSpLocks/>
          </p:cNvGrpSpPr>
          <p:nvPr/>
        </p:nvGrpSpPr>
        <p:grpSpPr bwMode="auto">
          <a:xfrm>
            <a:off x="2480754" y="1387477"/>
            <a:ext cx="7467600" cy="5334000"/>
            <a:chOff x="457200" y="1066800"/>
            <a:chExt cx="7467600" cy="5334000"/>
          </a:xfrm>
        </p:grpSpPr>
        <p:sp>
          <p:nvSpPr>
            <p:cNvPr id="7" name="Rectangle 3">
              <a:extLst>
                <a:ext uri="{FF2B5EF4-FFF2-40B4-BE49-F238E27FC236}">
                  <a16:creationId xmlns:a16="http://schemas.microsoft.com/office/drawing/2014/main" id="{7D7B95EB-2332-0E48-E955-49E8780C89E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57200" y="1066800"/>
              <a:ext cx="2133600" cy="762000"/>
            </a:xfrm>
            <a:prstGeom prst="rect">
              <a:avLst/>
            </a:prstGeom>
            <a:noFill/>
            <a:ln w="31750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fr-FR" altLang="en-US" sz="2400" b="1"/>
            </a:p>
          </p:txBody>
        </p:sp>
        <p:sp>
          <p:nvSpPr>
            <p:cNvPr id="8" name="Line 4">
              <a:extLst>
                <a:ext uri="{FF2B5EF4-FFF2-40B4-BE49-F238E27FC236}">
                  <a16:creationId xmlns:a16="http://schemas.microsoft.com/office/drawing/2014/main" id="{20C2E027-CB31-B1D9-42A0-1D8F77AE414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57200" y="1447800"/>
              <a:ext cx="213360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 b="1"/>
            </a:p>
          </p:txBody>
        </p:sp>
        <p:sp>
          <p:nvSpPr>
            <p:cNvPr id="9" name="Text Box 5">
              <a:extLst>
                <a:ext uri="{FF2B5EF4-FFF2-40B4-BE49-F238E27FC236}">
                  <a16:creationId xmlns:a16="http://schemas.microsoft.com/office/drawing/2014/main" id="{D6A8E903-80A8-CB81-E1B2-F92490F1BBB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97597" y="1066800"/>
              <a:ext cx="2086853" cy="30777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en-US" sz="1400" b="1" dirty="0"/>
                <a:t>1</a:t>
              </a:r>
              <a:r>
                <a:rPr lang="en-US" altLang="en-US" sz="1400" b="1" baseline="30000" dirty="0"/>
                <a:t>st</a:t>
              </a:r>
              <a:r>
                <a:rPr lang="en-US" altLang="en-US" sz="1400" b="1" dirty="0"/>
                <a:t> call of the function</a:t>
              </a:r>
            </a:p>
          </p:txBody>
        </p:sp>
        <p:sp>
          <p:nvSpPr>
            <p:cNvPr id="10" name="Text Box 6">
              <a:extLst>
                <a:ext uri="{FF2B5EF4-FFF2-40B4-BE49-F238E27FC236}">
                  <a16:creationId xmlns:a16="http://schemas.microsoft.com/office/drawing/2014/main" id="{0FE72F55-9A3F-2908-157D-5636370907A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85800" y="1447800"/>
              <a:ext cx="1762125" cy="30777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en-US" sz="1400" b="1" dirty="0"/>
                <a:t>Value of </a:t>
              </a:r>
              <a:r>
                <a:rPr lang="en-US" altLang="en-US" sz="1400" b="1" dirty="0">
                  <a:latin typeface="Courier New" panose="02070309020205020404" pitchFamily="49" charset="0"/>
                </a:rPr>
                <a:t>times</a:t>
              </a:r>
              <a:r>
                <a:rPr lang="en-US" altLang="en-US" sz="1400" b="1" dirty="0"/>
                <a:t>: 5</a:t>
              </a:r>
            </a:p>
          </p:txBody>
        </p:sp>
        <p:grpSp>
          <p:nvGrpSpPr>
            <p:cNvPr id="11" name="Group 13">
              <a:extLst>
                <a:ext uri="{FF2B5EF4-FFF2-40B4-BE49-F238E27FC236}">
                  <a16:creationId xmlns:a16="http://schemas.microsoft.com/office/drawing/2014/main" id="{E872ACD0-70F0-8AEA-EB7A-64D2BF1BE350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762000" y="1828800"/>
              <a:ext cx="762000" cy="304800"/>
              <a:chOff x="1200" y="2640"/>
              <a:chExt cx="480" cy="192"/>
            </a:xfrm>
          </p:grpSpPr>
          <p:sp>
            <p:nvSpPr>
              <p:cNvPr id="44" name="Line 11">
                <a:extLst>
                  <a:ext uri="{FF2B5EF4-FFF2-40B4-BE49-F238E27FC236}">
                    <a16:creationId xmlns:a16="http://schemas.microsoft.com/office/drawing/2014/main" id="{9F48FA1C-8346-268D-9C60-082423FD9479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200" y="2640"/>
                <a:ext cx="0" cy="192"/>
              </a:xfrm>
              <a:prstGeom prst="line">
                <a:avLst/>
              </a:prstGeom>
              <a:noFill/>
              <a:ln w="3175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 b="1"/>
              </a:p>
            </p:txBody>
          </p:sp>
          <p:sp>
            <p:nvSpPr>
              <p:cNvPr id="45" name="Line 12">
                <a:extLst>
                  <a:ext uri="{FF2B5EF4-FFF2-40B4-BE49-F238E27FC236}">
                    <a16:creationId xmlns:a16="http://schemas.microsoft.com/office/drawing/2014/main" id="{83C6BF6A-960D-0D1B-9C3E-66A3DDFE53B1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200" y="2832"/>
                <a:ext cx="480" cy="0"/>
              </a:xfrm>
              <a:prstGeom prst="line">
                <a:avLst/>
              </a:prstGeom>
              <a:noFill/>
              <a:ln w="31750">
                <a:solidFill>
                  <a:schemeClr val="tx1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 b="1"/>
              </a:p>
            </p:txBody>
          </p:sp>
        </p:grpSp>
        <p:sp>
          <p:nvSpPr>
            <p:cNvPr id="12" name="Rectangle 14">
              <a:extLst>
                <a:ext uri="{FF2B5EF4-FFF2-40B4-BE49-F238E27FC236}">
                  <a16:creationId xmlns:a16="http://schemas.microsoft.com/office/drawing/2014/main" id="{6464EBCC-9DA5-F829-D113-64F0785E55B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524000" y="1981200"/>
              <a:ext cx="2133600" cy="762000"/>
            </a:xfrm>
            <a:prstGeom prst="rect">
              <a:avLst/>
            </a:prstGeom>
            <a:noFill/>
            <a:ln w="31750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fr-FR" altLang="en-US" b="1"/>
            </a:p>
          </p:txBody>
        </p:sp>
        <p:sp>
          <p:nvSpPr>
            <p:cNvPr id="13" name="Line 15">
              <a:extLst>
                <a:ext uri="{FF2B5EF4-FFF2-40B4-BE49-F238E27FC236}">
                  <a16:creationId xmlns:a16="http://schemas.microsoft.com/office/drawing/2014/main" id="{9B092A0D-10ED-51CF-7D15-D0531E87E11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524000" y="2362200"/>
              <a:ext cx="213360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 b="1"/>
            </a:p>
          </p:txBody>
        </p:sp>
        <p:sp>
          <p:nvSpPr>
            <p:cNvPr id="14" name="Text Box 16">
              <a:extLst>
                <a:ext uri="{FF2B5EF4-FFF2-40B4-BE49-F238E27FC236}">
                  <a16:creationId xmlns:a16="http://schemas.microsoft.com/office/drawing/2014/main" id="{BB7FBD95-515B-F07D-1571-B69231CFED5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524000" y="1981200"/>
              <a:ext cx="2127250" cy="30777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en-US" sz="1400" b="1" dirty="0"/>
                <a:t>2</a:t>
              </a:r>
              <a:r>
                <a:rPr lang="en-US" altLang="en-US" sz="1400" b="1" baseline="30000" dirty="0"/>
                <a:t>nd</a:t>
              </a:r>
              <a:r>
                <a:rPr lang="en-US" altLang="en-US" sz="1400" b="1" dirty="0"/>
                <a:t>  call of the function</a:t>
              </a:r>
            </a:p>
          </p:txBody>
        </p:sp>
        <p:sp>
          <p:nvSpPr>
            <p:cNvPr id="15" name="Text Box 17">
              <a:extLst>
                <a:ext uri="{FF2B5EF4-FFF2-40B4-BE49-F238E27FC236}">
                  <a16:creationId xmlns:a16="http://schemas.microsoft.com/office/drawing/2014/main" id="{AA3EA2E3-7F70-574C-B93B-64BE5282331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752600" y="2362200"/>
              <a:ext cx="1762125" cy="30777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en-US" sz="1400" b="1"/>
                <a:t>Value of </a:t>
              </a:r>
              <a:r>
                <a:rPr lang="en-US" altLang="en-US" sz="1400" b="1">
                  <a:latin typeface="Courier New" panose="02070309020205020404" pitchFamily="49" charset="0"/>
                </a:rPr>
                <a:t>times</a:t>
              </a:r>
              <a:r>
                <a:rPr lang="en-US" altLang="en-US" sz="1400" b="1"/>
                <a:t>: 4</a:t>
              </a:r>
            </a:p>
          </p:txBody>
        </p:sp>
        <p:sp>
          <p:nvSpPr>
            <p:cNvPr id="16" name="Rectangle 18">
              <a:extLst>
                <a:ext uri="{FF2B5EF4-FFF2-40B4-BE49-F238E27FC236}">
                  <a16:creationId xmlns:a16="http://schemas.microsoft.com/office/drawing/2014/main" id="{6FA6B201-674C-23CC-921E-6E74EA6C4D0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590800" y="2895600"/>
              <a:ext cx="2133600" cy="762000"/>
            </a:xfrm>
            <a:prstGeom prst="rect">
              <a:avLst/>
            </a:prstGeom>
            <a:noFill/>
            <a:ln w="31750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fr-FR" altLang="en-US" b="1"/>
            </a:p>
          </p:txBody>
        </p:sp>
        <p:sp>
          <p:nvSpPr>
            <p:cNvPr id="17" name="Line 19">
              <a:extLst>
                <a:ext uri="{FF2B5EF4-FFF2-40B4-BE49-F238E27FC236}">
                  <a16:creationId xmlns:a16="http://schemas.microsoft.com/office/drawing/2014/main" id="{309FD0E1-AB95-F00E-48BA-32424A8F83D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590800" y="3276600"/>
              <a:ext cx="213360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 b="1"/>
            </a:p>
          </p:txBody>
        </p:sp>
        <p:sp>
          <p:nvSpPr>
            <p:cNvPr id="18" name="Text Box 20">
              <a:extLst>
                <a:ext uri="{FF2B5EF4-FFF2-40B4-BE49-F238E27FC236}">
                  <a16:creationId xmlns:a16="http://schemas.microsoft.com/office/drawing/2014/main" id="{48831873-AF83-0363-EC19-D44AC882EFB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590800" y="2895600"/>
              <a:ext cx="2127250" cy="30777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en-US" sz="1400" b="1" dirty="0"/>
                <a:t>3</a:t>
              </a:r>
              <a:r>
                <a:rPr lang="en-US" altLang="en-US" sz="1400" b="1" baseline="30000" dirty="0"/>
                <a:t>rd</a:t>
              </a:r>
              <a:r>
                <a:rPr lang="en-US" altLang="en-US" sz="1400" b="1" dirty="0"/>
                <a:t> call of the function</a:t>
              </a:r>
            </a:p>
          </p:txBody>
        </p:sp>
        <p:sp>
          <p:nvSpPr>
            <p:cNvPr id="19" name="Text Box 21">
              <a:extLst>
                <a:ext uri="{FF2B5EF4-FFF2-40B4-BE49-F238E27FC236}">
                  <a16:creationId xmlns:a16="http://schemas.microsoft.com/office/drawing/2014/main" id="{FFD478D3-CD5E-C434-35FE-AD1F28FAC93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819400" y="3276600"/>
              <a:ext cx="1762125" cy="30777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en-US" sz="1400" b="1"/>
                <a:t>Value of </a:t>
              </a:r>
              <a:r>
                <a:rPr lang="en-US" altLang="en-US" sz="1400" b="1">
                  <a:latin typeface="Courier New" panose="02070309020205020404" pitchFamily="49" charset="0"/>
                </a:rPr>
                <a:t>times</a:t>
              </a:r>
              <a:r>
                <a:rPr lang="en-US" altLang="en-US" sz="1400" b="1"/>
                <a:t>: 3</a:t>
              </a:r>
            </a:p>
          </p:txBody>
        </p:sp>
        <p:grpSp>
          <p:nvGrpSpPr>
            <p:cNvPr id="20" name="Group 22">
              <a:extLst>
                <a:ext uri="{FF2B5EF4-FFF2-40B4-BE49-F238E27FC236}">
                  <a16:creationId xmlns:a16="http://schemas.microsoft.com/office/drawing/2014/main" id="{C4F2C0C5-D1DB-2CD1-BF29-3CA12AF3E839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828800" y="2743200"/>
              <a:ext cx="762000" cy="304800"/>
              <a:chOff x="1200" y="2640"/>
              <a:chExt cx="480" cy="192"/>
            </a:xfrm>
          </p:grpSpPr>
          <p:sp>
            <p:nvSpPr>
              <p:cNvPr id="42" name="Line 23">
                <a:extLst>
                  <a:ext uri="{FF2B5EF4-FFF2-40B4-BE49-F238E27FC236}">
                    <a16:creationId xmlns:a16="http://schemas.microsoft.com/office/drawing/2014/main" id="{C2D399C5-49AC-381D-5301-E263D07E3481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200" y="2640"/>
                <a:ext cx="0" cy="192"/>
              </a:xfrm>
              <a:prstGeom prst="line">
                <a:avLst/>
              </a:prstGeom>
              <a:noFill/>
              <a:ln w="3175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 b="1"/>
              </a:p>
            </p:txBody>
          </p:sp>
          <p:sp>
            <p:nvSpPr>
              <p:cNvPr id="43" name="Line 24">
                <a:extLst>
                  <a:ext uri="{FF2B5EF4-FFF2-40B4-BE49-F238E27FC236}">
                    <a16:creationId xmlns:a16="http://schemas.microsoft.com/office/drawing/2014/main" id="{412A3F3D-631D-FCA6-FE45-1FBD9DD81774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200" y="2832"/>
                <a:ext cx="480" cy="0"/>
              </a:xfrm>
              <a:prstGeom prst="line">
                <a:avLst/>
              </a:prstGeom>
              <a:noFill/>
              <a:ln w="31750">
                <a:solidFill>
                  <a:schemeClr val="tx1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 b="1"/>
              </a:p>
            </p:txBody>
          </p:sp>
        </p:grpSp>
        <p:sp>
          <p:nvSpPr>
            <p:cNvPr id="21" name="Rectangle 25">
              <a:extLst>
                <a:ext uri="{FF2B5EF4-FFF2-40B4-BE49-F238E27FC236}">
                  <a16:creationId xmlns:a16="http://schemas.microsoft.com/office/drawing/2014/main" id="{045EE062-E9CF-6481-F6AA-AA56669FC6F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657600" y="3810000"/>
              <a:ext cx="2133600" cy="762000"/>
            </a:xfrm>
            <a:prstGeom prst="rect">
              <a:avLst/>
            </a:prstGeom>
            <a:noFill/>
            <a:ln w="31750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fr-FR" altLang="en-US" b="1"/>
            </a:p>
          </p:txBody>
        </p:sp>
        <p:sp>
          <p:nvSpPr>
            <p:cNvPr id="22" name="Line 26">
              <a:extLst>
                <a:ext uri="{FF2B5EF4-FFF2-40B4-BE49-F238E27FC236}">
                  <a16:creationId xmlns:a16="http://schemas.microsoft.com/office/drawing/2014/main" id="{B0ED3A76-02DC-51BE-0C98-5E08514344E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657600" y="4191000"/>
              <a:ext cx="213360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 b="1"/>
            </a:p>
          </p:txBody>
        </p:sp>
        <p:sp>
          <p:nvSpPr>
            <p:cNvPr id="23" name="Text Box 27">
              <a:extLst>
                <a:ext uri="{FF2B5EF4-FFF2-40B4-BE49-F238E27FC236}">
                  <a16:creationId xmlns:a16="http://schemas.microsoft.com/office/drawing/2014/main" id="{8C03CE0B-E42D-EF9F-1E3B-22CB6867301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657600" y="3810000"/>
              <a:ext cx="2127250" cy="30777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en-US" sz="1400" b="1" dirty="0"/>
                <a:t>4th call of the function</a:t>
              </a:r>
            </a:p>
          </p:txBody>
        </p:sp>
        <p:sp>
          <p:nvSpPr>
            <p:cNvPr id="24" name="Text Box 28">
              <a:extLst>
                <a:ext uri="{FF2B5EF4-FFF2-40B4-BE49-F238E27FC236}">
                  <a16:creationId xmlns:a16="http://schemas.microsoft.com/office/drawing/2014/main" id="{63F2F8BE-393C-358A-9745-C4E93A27573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886200" y="4191000"/>
              <a:ext cx="1762125" cy="30777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en-US" sz="1400" b="1"/>
                <a:t>Value of </a:t>
              </a:r>
              <a:r>
                <a:rPr lang="en-US" altLang="en-US" sz="1400" b="1">
                  <a:latin typeface="Courier New" panose="02070309020205020404" pitchFamily="49" charset="0"/>
                </a:rPr>
                <a:t>times</a:t>
              </a:r>
              <a:r>
                <a:rPr lang="en-US" altLang="en-US" sz="1400" b="1"/>
                <a:t>: 2</a:t>
              </a:r>
            </a:p>
          </p:txBody>
        </p:sp>
        <p:grpSp>
          <p:nvGrpSpPr>
            <p:cNvPr id="25" name="Group 29">
              <a:extLst>
                <a:ext uri="{FF2B5EF4-FFF2-40B4-BE49-F238E27FC236}">
                  <a16:creationId xmlns:a16="http://schemas.microsoft.com/office/drawing/2014/main" id="{771D7607-6FEC-1395-B282-39D98C78F0DF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895600" y="3657600"/>
              <a:ext cx="762000" cy="304800"/>
              <a:chOff x="1200" y="2640"/>
              <a:chExt cx="480" cy="192"/>
            </a:xfrm>
          </p:grpSpPr>
          <p:sp>
            <p:nvSpPr>
              <p:cNvPr id="40" name="Line 30">
                <a:extLst>
                  <a:ext uri="{FF2B5EF4-FFF2-40B4-BE49-F238E27FC236}">
                    <a16:creationId xmlns:a16="http://schemas.microsoft.com/office/drawing/2014/main" id="{17B34B29-6F61-6780-00B9-C13522EC6BFE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200" y="2640"/>
                <a:ext cx="0" cy="192"/>
              </a:xfrm>
              <a:prstGeom prst="line">
                <a:avLst/>
              </a:prstGeom>
              <a:noFill/>
              <a:ln w="3175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 b="1"/>
              </a:p>
            </p:txBody>
          </p:sp>
          <p:sp>
            <p:nvSpPr>
              <p:cNvPr id="41" name="Line 31">
                <a:extLst>
                  <a:ext uri="{FF2B5EF4-FFF2-40B4-BE49-F238E27FC236}">
                    <a16:creationId xmlns:a16="http://schemas.microsoft.com/office/drawing/2014/main" id="{09548A9E-B8F5-6F6F-FB99-B22B806CAE10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200" y="2832"/>
                <a:ext cx="480" cy="0"/>
              </a:xfrm>
              <a:prstGeom prst="line">
                <a:avLst/>
              </a:prstGeom>
              <a:noFill/>
              <a:ln w="31750">
                <a:solidFill>
                  <a:schemeClr val="tx1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 b="1"/>
              </a:p>
            </p:txBody>
          </p:sp>
        </p:grpSp>
        <p:sp>
          <p:nvSpPr>
            <p:cNvPr id="26" name="Rectangle 32">
              <a:extLst>
                <a:ext uri="{FF2B5EF4-FFF2-40B4-BE49-F238E27FC236}">
                  <a16:creationId xmlns:a16="http://schemas.microsoft.com/office/drawing/2014/main" id="{B160EA92-14FA-DB38-1AAE-5CCDD5D6BDC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724400" y="4724400"/>
              <a:ext cx="2133600" cy="762000"/>
            </a:xfrm>
            <a:prstGeom prst="rect">
              <a:avLst/>
            </a:prstGeom>
            <a:noFill/>
            <a:ln w="31750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fr-FR" altLang="en-US" b="1"/>
            </a:p>
          </p:txBody>
        </p:sp>
        <p:sp>
          <p:nvSpPr>
            <p:cNvPr id="27" name="Line 33">
              <a:extLst>
                <a:ext uri="{FF2B5EF4-FFF2-40B4-BE49-F238E27FC236}">
                  <a16:creationId xmlns:a16="http://schemas.microsoft.com/office/drawing/2014/main" id="{6179A893-95A0-7D5B-A758-F1229D54760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724400" y="5105400"/>
              <a:ext cx="213360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 b="1"/>
            </a:p>
          </p:txBody>
        </p:sp>
        <p:sp>
          <p:nvSpPr>
            <p:cNvPr id="28" name="Text Box 34">
              <a:extLst>
                <a:ext uri="{FF2B5EF4-FFF2-40B4-BE49-F238E27FC236}">
                  <a16:creationId xmlns:a16="http://schemas.microsoft.com/office/drawing/2014/main" id="{509AE9A2-C779-F9CF-7583-E64174D3511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724400" y="4724400"/>
              <a:ext cx="2127250" cy="30777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en-US" sz="1400" b="1" dirty="0"/>
                <a:t>5th call of the function</a:t>
              </a:r>
            </a:p>
          </p:txBody>
        </p:sp>
        <p:sp>
          <p:nvSpPr>
            <p:cNvPr id="29" name="Text Box 35">
              <a:extLst>
                <a:ext uri="{FF2B5EF4-FFF2-40B4-BE49-F238E27FC236}">
                  <a16:creationId xmlns:a16="http://schemas.microsoft.com/office/drawing/2014/main" id="{A8EB6A74-72A4-5044-6AF0-5613DFF69AE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953000" y="5105400"/>
              <a:ext cx="1762125" cy="30777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en-US" sz="1400" b="1"/>
                <a:t>Value of </a:t>
              </a:r>
              <a:r>
                <a:rPr lang="en-US" altLang="en-US" sz="1400" b="1">
                  <a:latin typeface="Courier New" panose="02070309020205020404" pitchFamily="49" charset="0"/>
                </a:rPr>
                <a:t>times</a:t>
              </a:r>
              <a:r>
                <a:rPr lang="en-US" altLang="en-US" sz="1400" b="1"/>
                <a:t>: 1</a:t>
              </a:r>
            </a:p>
          </p:txBody>
        </p:sp>
        <p:grpSp>
          <p:nvGrpSpPr>
            <p:cNvPr id="30" name="Group 36">
              <a:extLst>
                <a:ext uri="{FF2B5EF4-FFF2-40B4-BE49-F238E27FC236}">
                  <a16:creationId xmlns:a16="http://schemas.microsoft.com/office/drawing/2014/main" id="{51179DF0-785A-5498-96DB-7AA3F98463F3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962400" y="4572000"/>
              <a:ext cx="762000" cy="304800"/>
              <a:chOff x="1200" y="2640"/>
              <a:chExt cx="480" cy="192"/>
            </a:xfrm>
          </p:grpSpPr>
          <p:sp>
            <p:nvSpPr>
              <p:cNvPr id="38" name="Line 37">
                <a:extLst>
                  <a:ext uri="{FF2B5EF4-FFF2-40B4-BE49-F238E27FC236}">
                    <a16:creationId xmlns:a16="http://schemas.microsoft.com/office/drawing/2014/main" id="{D29FE948-5D3B-1053-3583-EBA379F7B786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200" y="2640"/>
                <a:ext cx="0" cy="192"/>
              </a:xfrm>
              <a:prstGeom prst="line">
                <a:avLst/>
              </a:prstGeom>
              <a:noFill/>
              <a:ln w="3175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 b="1"/>
              </a:p>
            </p:txBody>
          </p:sp>
          <p:sp>
            <p:nvSpPr>
              <p:cNvPr id="39" name="Line 38">
                <a:extLst>
                  <a:ext uri="{FF2B5EF4-FFF2-40B4-BE49-F238E27FC236}">
                    <a16:creationId xmlns:a16="http://schemas.microsoft.com/office/drawing/2014/main" id="{FB284546-803E-0633-1E7E-DA320D608A19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200" y="2832"/>
                <a:ext cx="480" cy="0"/>
              </a:xfrm>
              <a:prstGeom prst="line">
                <a:avLst/>
              </a:prstGeom>
              <a:noFill/>
              <a:ln w="31750">
                <a:solidFill>
                  <a:schemeClr val="tx1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 b="1"/>
              </a:p>
            </p:txBody>
          </p:sp>
        </p:grpSp>
        <p:sp>
          <p:nvSpPr>
            <p:cNvPr id="31" name="Rectangle 39">
              <a:extLst>
                <a:ext uri="{FF2B5EF4-FFF2-40B4-BE49-F238E27FC236}">
                  <a16:creationId xmlns:a16="http://schemas.microsoft.com/office/drawing/2014/main" id="{F7A95906-E5BD-5429-8DD4-E712A5D9DC3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791200" y="5638800"/>
              <a:ext cx="2133600" cy="762000"/>
            </a:xfrm>
            <a:prstGeom prst="rect">
              <a:avLst/>
            </a:prstGeom>
            <a:noFill/>
            <a:ln w="31750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fr-FR" altLang="en-US" b="1"/>
            </a:p>
          </p:txBody>
        </p:sp>
        <p:sp>
          <p:nvSpPr>
            <p:cNvPr id="32" name="Line 40">
              <a:extLst>
                <a:ext uri="{FF2B5EF4-FFF2-40B4-BE49-F238E27FC236}">
                  <a16:creationId xmlns:a16="http://schemas.microsoft.com/office/drawing/2014/main" id="{C2F4713A-5B7D-B6EF-F1DB-280786996D1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791200" y="6019800"/>
              <a:ext cx="213360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 b="1"/>
            </a:p>
          </p:txBody>
        </p:sp>
        <p:sp>
          <p:nvSpPr>
            <p:cNvPr id="33" name="Text Box 41">
              <a:extLst>
                <a:ext uri="{FF2B5EF4-FFF2-40B4-BE49-F238E27FC236}">
                  <a16:creationId xmlns:a16="http://schemas.microsoft.com/office/drawing/2014/main" id="{6C9B0D87-8841-589D-842C-229AD310412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791200" y="5638800"/>
              <a:ext cx="2127250" cy="30777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en-US" sz="1400" b="1" dirty="0"/>
                <a:t>6th call of the function</a:t>
              </a:r>
            </a:p>
          </p:txBody>
        </p:sp>
        <p:sp>
          <p:nvSpPr>
            <p:cNvPr id="34" name="Text Box 42">
              <a:extLst>
                <a:ext uri="{FF2B5EF4-FFF2-40B4-BE49-F238E27FC236}">
                  <a16:creationId xmlns:a16="http://schemas.microsoft.com/office/drawing/2014/main" id="{E986AA4F-484F-47FB-47B3-980CADBB510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019800" y="6019800"/>
              <a:ext cx="1762125" cy="30777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en-US" sz="1400" b="1" dirty="0"/>
                <a:t>Value of </a:t>
              </a:r>
              <a:r>
                <a:rPr lang="en-US" altLang="en-US" sz="1400" b="1" dirty="0">
                  <a:latin typeface="Courier New" panose="02070309020205020404" pitchFamily="49" charset="0"/>
                </a:rPr>
                <a:t>times</a:t>
              </a:r>
              <a:r>
                <a:rPr lang="en-US" altLang="en-US" sz="1400" b="1" dirty="0"/>
                <a:t>: 0</a:t>
              </a:r>
            </a:p>
          </p:txBody>
        </p:sp>
        <p:grpSp>
          <p:nvGrpSpPr>
            <p:cNvPr id="35" name="Group 43">
              <a:extLst>
                <a:ext uri="{FF2B5EF4-FFF2-40B4-BE49-F238E27FC236}">
                  <a16:creationId xmlns:a16="http://schemas.microsoft.com/office/drawing/2014/main" id="{D5105B5E-1DCB-2FF2-FC22-049FD6002B44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5029200" y="5486400"/>
              <a:ext cx="762000" cy="304800"/>
              <a:chOff x="1200" y="2640"/>
              <a:chExt cx="480" cy="192"/>
            </a:xfrm>
          </p:grpSpPr>
          <p:sp>
            <p:nvSpPr>
              <p:cNvPr id="36" name="Line 44">
                <a:extLst>
                  <a:ext uri="{FF2B5EF4-FFF2-40B4-BE49-F238E27FC236}">
                    <a16:creationId xmlns:a16="http://schemas.microsoft.com/office/drawing/2014/main" id="{CF3624F6-0FBB-B282-9ACE-28F69F20C37F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200" y="2640"/>
                <a:ext cx="0" cy="192"/>
              </a:xfrm>
              <a:prstGeom prst="line">
                <a:avLst/>
              </a:prstGeom>
              <a:noFill/>
              <a:ln w="3175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 b="1"/>
              </a:p>
            </p:txBody>
          </p:sp>
          <p:sp>
            <p:nvSpPr>
              <p:cNvPr id="37" name="Line 45">
                <a:extLst>
                  <a:ext uri="{FF2B5EF4-FFF2-40B4-BE49-F238E27FC236}">
                    <a16:creationId xmlns:a16="http://schemas.microsoft.com/office/drawing/2014/main" id="{7EDFD795-D46D-E202-75C5-3BFE455497BE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200" y="2832"/>
                <a:ext cx="480" cy="0"/>
              </a:xfrm>
              <a:prstGeom prst="line">
                <a:avLst/>
              </a:prstGeom>
              <a:noFill/>
              <a:ln w="31750">
                <a:solidFill>
                  <a:schemeClr val="tx1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 b="1"/>
              </a:p>
            </p:txBody>
          </p:sp>
        </p:grpSp>
      </p:grpSp>
      <p:sp>
        <p:nvSpPr>
          <p:cNvPr id="46" name="Text Box 46">
            <a:extLst>
              <a:ext uri="{FF2B5EF4-FFF2-40B4-BE49-F238E27FC236}">
                <a16:creationId xmlns:a16="http://schemas.microsoft.com/office/drawing/2014/main" id="{E9F615CD-ACE6-2C22-C01D-77B36A2A517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66445" y="3773437"/>
            <a:ext cx="2962671" cy="10156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2000" dirty="0"/>
              <a:t>This </a:t>
            </a:r>
            <a:r>
              <a:rPr lang="en-US" altLang="en-US" sz="2000" b="1" dirty="0">
                <a:solidFill>
                  <a:srgbClr val="2C14DE"/>
                </a:solidFill>
              </a:rPr>
              <a:t>cycle repeats </a:t>
            </a:r>
            <a:r>
              <a:rPr lang="en-US" altLang="en-US" sz="2000" dirty="0"/>
              <a:t>itself</a:t>
            </a:r>
            <a:br>
              <a:rPr lang="en-US" altLang="en-US" sz="2000" dirty="0"/>
            </a:br>
            <a:r>
              <a:rPr lang="en-US" altLang="en-US" sz="2000" b="1" dirty="0">
                <a:solidFill>
                  <a:srgbClr val="2C14DE"/>
                </a:solidFill>
              </a:rPr>
              <a:t>until 0 </a:t>
            </a:r>
            <a:r>
              <a:rPr lang="en-US" altLang="en-US" sz="2000" dirty="0"/>
              <a:t>is passed to the</a:t>
            </a:r>
            <a:br>
              <a:rPr lang="en-US" altLang="en-US" sz="2000" dirty="0"/>
            </a:br>
            <a:r>
              <a:rPr lang="en-US" altLang="en-US" sz="2000" dirty="0"/>
              <a:t>function.</a:t>
            </a:r>
          </a:p>
        </p:txBody>
      </p:sp>
      <p:sp>
        <p:nvSpPr>
          <p:cNvPr id="47" name="Text Box 47">
            <a:extLst>
              <a:ext uri="{FF2B5EF4-FFF2-40B4-BE49-F238E27FC236}">
                <a16:creationId xmlns:a16="http://schemas.microsoft.com/office/drawing/2014/main" id="{37D50FCA-9E59-0EA0-D31D-7702F92F0BA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38200" y="4840786"/>
            <a:ext cx="2762295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2000" b="1" dirty="0">
                <a:solidFill>
                  <a:srgbClr val="B80000"/>
                </a:solidFill>
              </a:rPr>
              <a:t>Depth of recursion: </a:t>
            </a:r>
            <a:r>
              <a:rPr lang="en-US" altLang="en-US" sz="2000" b="1" dirty="0">
                <a:solidFill>
                  <a:srgbClr val="2C14DE"/>
                </a:solidFill>
              </a:rPr>
              <a:t>6</a:t>
            </a:r>
          </a:p>
        </p:txBody>
      </p:sp>
      <p:sp>
        <p:nvSpPr>
          <p:cNvPr id="48" name="Text Box 8">
            <a:extLst>
              <a:ext uri="{FF2B5EF4-FFF2-40B4-BE49-F238E27FC236}">
                <a16:creationId xmlns:a16="http://schemas.microsoft.com/office/drawing/2014/main" id="{26006D7E-F6E4-84EE-6D82-16EA584B33E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188623" y="1313640"/>
            <a:ext cx="4875224" cy="1923604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altLang="en-US" sz="1400" b="1" dirty="0">
                <a:latin typeface="Courier New" panose="02070309020205020404" pitchFamily="49" charset="0"/>
                <a:cs typeface="Times New Roman" panose="02020603050405020304" pitchFamily="18" charset="0"/>
              </a:rPr>
              <a:t>void Message(</a:t>
            </a:r>
            <a:r>
              <a:rPr lang="en-US" altLang="en-US" sz="1400" b="1" dirty="0" err="1">
                <a:latin typeface="Courier New" panose="02070309020205020404" pitchFamily="49" charset="0"/>
                <a:cs typeface="Times New Roman" panose="02020603050405020304" pitchFamily="18" charset="0"/>
              </a:rPr>
              <a:t>int</a:t>
            </a:r>
            <a:r>
              <a:rPr lang="en-US" altLang="en-US" sz="1400" b="1" dirty="0">
                <a:latin typeface="Courier New" panose="02070309020205020404" pitchFamily="49" charset="0"/>
                <a:cs typeface="Times New Roman" panose="02020603050405020304" pitchFamily="18" charset="0"/>
              </a:rPr>
              <a:t> times)</a:t>
            </a:r>
            <a:br>
              <a:rPr lang="en-US" altLang="en-US" sz="1400" b="1" dirty="0">
                <a:latin typeface="Courier New" panose="02070309020205020404" pitchFamily="49" charset="0"/>
                <a:cs typeface="Times New Roman" panose="02020603050405020304" pitchFamily="18" charset="0"/>
              </a:rPr>
            </a:br>
            <a:r>
              <a:rPr lang="en-US" altLang="en-US" sz="1400" b="1" dirty="0">
                <a:latin typeface="Courier New" panose="02070309020205020404" pitchFamily="49" charset="0"/>
                <a:cs typeface="Times New Roman" panose="02020603050405020304" pitchFamily="18" charset="0"/>
              </a:rPr>
              <a:t>{</a:t>
            </a:r>
            <a:br>
              <a:rPr lang="en-US" altLang="en-US" sz="1400" b="1" dirty="0">
                <a:latin typeface="Courier New" panose="02070309020205020404" pitchFamily="49" charset="0"/>
                <a:cs typeface="Times New Roman" panose="02020603050405020304" pitchFamily="18" charset="0"/>
              </a:rPr>
            </a:br>
            <a:r>
              <a:rPr lang="en-US" altLang="en-US" sz="1400" b="1" dirty="0">
                <a:latin typeface="Courier New" panose="02070309020205020404" pitchFamily="49" charset="0"/>
                <a:cs typeface="Times New Roman" panose="02020603050405020304" pitchFamily="18" charset="0"/>
              </a:rPr>
              <a:t> if (times &gt; 0)</a:t>
            </a:r>
            <a:br>
              <a:rPr lang="en-US" altLang="en-US" sz="1400" b="1" dirty="0">
                <a:latin typeface="Courier New" panose="02070309020205020404" pitchFamily="49" charset="0"/>
                <a:cs typeface="Times New Roman" panose="02020603050405020304" pitchFamily="18" charset="0"/>
              </a:rPr>
            </a:br>
            <a:r>
              <a:rPr lang="en-US" altLang="en-US" sz="1400" b="1" dirty="0">
                <a:latin typeface="Courier New" panose="02070309020205020404" pitchFamily="49" charset="0"/>
                <a:cs typeface="Times New Roman" panose="02020603050405020304" pitchFamily="18" charset="0"/>
              </a:rPr>
              <a:t> {			</a:t>
            </a:r>
            <a:br>
              <a:rPr lang="en-US" altLang="en-US" sz="1400" b="1" dirty="0">
                <a:latin typeface="Courier New" panose="02070309020205020404" pitchFamily="49" charset="0"/>
                <a:cs typeface="Times New Roman" panose="02020603050405020304" pitchFamily="18" charset="0"/>
              </a:rPr>
            </a:br>
            <a:r>
              <a:rPr lang="en-US" altLang="en-US" sz="1400" b="1" dirty="0">
                <a:latin typeface="Courier New" panose="02070309020205020404" pitchFamily="49" charset="0"/>
                <a:cs typeface="Times New Roman" panose="02020603050405020304" pitchFamily="18" charset="0"/>
              </a:rPr>
              <a:t>  </a:t>
            </a:r>
            <a:r>
              <a:rPr lang="en-US" altLang="en-US" sz="1400" b="1" dirty="0" err="1">
                <a:latin typeface="Courier New" panose="02070309020205020404" pitchFamily="49" charset="0"/>
                <a:cs typeface="Times New Roman" panose="02020603050405020304" pitchFamily="18" charset="0"/>
              </a:rPr>
              <a:t>cout</a:t>
            </a:r>
            <a:r>
              <a:rPr lang="en-US" altLang="en-US" sz="1400" b="1" dirty="0">
                <a:latin typeface="Courier New" panose="02070309020205020404" pitchFamily="49" charset="0"/>
                <a:cs typeface="Times New Roman" panose="02020603050405020304" pitchFamily="18" charset="0"/>
              </a:rPr>
              <a:t> &lt;&lt; "This is a recursive function.\n";</a:t>
            </a:r>
            <a:br>
              <a:rPr lang="en-US" altLang="en-US" sz="1400" b="1" dirty="0">
                <a:latin typeface="Courier New" panose="02070309020205020404" pitchFamily="49" charset="0"/>
                <a:cs typeface="Times New Roman" panose="02020603050405020304" pitchFamily="18" charset="0"/>
              </a:rPr>
            </a:br>
            <a:r>
              <a:rPr lang="en-US" altLang="en-US" sz="1400" b="1" dirty="0">
                <a:latin typeface="Courier New" panose="02070309020205020404" pitchFamily="49" charset="0"/>
                <a:cs typeface="Times New Roman" panose="02020603050405020304" pitchFamily="18" charset="0"/>
              </a:rPr>
              <a:t>  Message(times ‑ 1);</a:t>
            </a:r>
          </a:p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altLang="en-US" sz="1400" b="1" dirty="0">
                <a:latin typeface="Courier New" panose="02070309020205020404" pitchFamily="49" charset="0"/>
                <a:cs typeface="Times New Roman" panose="02020603050405020304" pitchFamily="18" charset="0"/>
              </a:rPr>
              <a:t> }</a:t>
            </a:r>
            <a:br>
              <a:rPr lang="en-US" altLang="en-US" sz="1400" b="1" dirty="0">
                <a:latin typeface="Courier New" panose="02070309020205020404" pitchFamily="49" charset="0"/>
                <a:cs typeface="Times New Roman" panose="02020603050405020304" pitchFamily="18" charset="0"/>
              </a:rPr>
            </a:br>
            <a:r>
              <a:rPr lang="en-US" altLang="en-US" sz="1400" b="1" dirty="0">
                <a:latin typeface="Courier New" panose="02070309020205020404" pitchFamily="49" charset="0"/>
                <a:cs typeface="Times New Roman" panose="02020603050405020304" pitchFamily="18" charset="0"/>
              </a:rPr>
              <a:t> return;} </a:t>
            </a:r>
          </a:p>
        </p:txBody>
      </p:sp>
      <p:sp>
        <p:nvSpPr>
          <p:cNvPr id="49" name="Freeform 1">
            <a:extLst>
              <a:ext uri="{FF2B5EF4-FFF2-40B4-BE49-F238E27FC236}">
                <a16:creationId xmlns:a16="http://schemas.microsoft.com/office/drawing/2014/main" id="{983B29D6-C30A-3264-9E13-61DA1EFDBA35}"/>
              </a:ext>
            </a:extLst>
          </p:cNvPr>
          <p:cNvSpPr/>
          <p:nvPr/>
        </p:nvSpPr>
        <p:spPr>
          <a:xfrm>
            <a:off x="8891458" y="5470500"/>
            <a:ext cx="1950322" cy="1173428"/>
          </a:xfrm>
          <a:custGeom>
            <a:avLst/>
            <a:gdLst>
              <a:gd name="connsiteX0" fmla="*/ 1086416 w 1950322"/>
              <a:gd name="connsiteY0" fmla="*/ 1168002 h 1173428"/>
              <a:gd name="connsiteX1" fmla="*/ 1937442 w 1950322"/>
              <a:gd name="connsiteY1" fmla="*/ 1005040 h 1173428"/>
              <a:gd name="connsiteX2" fmla="*/ 1484769 w 1950322"/>
              <a:gd name="connsiteY2" fmla="*/ 54426 h 1173428"/>
              <a:gd name="connsiteX3" fmla="*/ 0 w 1950322"/>
              <a:gd name="connsiteY3" fmla="*/ 199282 h 117342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950322" h="1173428">
                <a:moveTo>
                  <a:pt x="1086416" y="1168002"/>
                </a:moveTo>
                <a:cubicBezTo>
                  <a:pt x="1478733" y="1179319"/>
                  <a:pt x="1871050" y="1190636"/>
                  <a:pt x="1937442" y="1005040"/>
                </a:cubicBezTo>
                <a:cubicBezTo>
                  <a:pt x="2003834" y="819444"/>
                  <a:pt x="1807676" y="188719"/>
                  <a:pt x="1484769" y="54426"/>
                </a:cubicBezTo>
                <a:cubicBezTo>
                  <a:pt x="1161862" y="-79867"/>
                  <a:pt x="580931" y="59707"/>
                  <a:pt x="0" y="199282"/>
                </a:cubicBezTo>
              </a:path>
            </a:pathLst>
          </a:custGeom>
          <a:noFill/>
          <a:ln w="31750">
            <a:solidFill>
              <a:srgbClr val="2F1BC7"/>
            </a:solidFill>
            <a:tailEnd type="stealth" w="lg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0" name="Freeform 3">
            <a:extLst>
              <a:ext uri="{FF2B5EF4-FFF2-40B4-BE49-F238E27FC236}">
                <a16:creationId xmlns:a16="http://schemas.microsoft.com/office/drawing/2014/main" id="{39FAB7B2-4661-56B6-AB71-F317D4FFC10C}"/>
              </a:ext>
            </a:extLst>
          </p:cNvPr>
          <p:cNvSpPr/>
          <p:nvPr/>
        </p:nvSpPr>
        <p:spPr>
          <a:xfrm>
            <a:off x="7795989" y="4710114"/>
            <a:ext cx="2160553" cy="1068309"/>
          </a:xfrm>
          <a:custGeom>
            <a:avLst/>
            <a:gdLst>
              <a:gd name="connsiteX0" fmla="*/ 1095469 w 2160553"/>
              <a:gd name="connsiteY0" fmla="*/ 1068309 h 1068309"/>
              <a:gd name="connsiteX1" fmla="*/ 2127564 w 2160553"/>
              <a:gd name="connsiteY1" fmla="*/ 172016 h 1068309"/>
              <a:gd name="connsiteX2" fmla="*/ 0 w 2160553"/>
              <a:gd name="connsiteY2" fmla="*/ 0 h 10683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2160553" h="1068309">
                <a:moveTo>
                  <a:pt x="1095469" y="1068309"/>
                </a:moveTo>
                <a:cubicBezTo>
                  <a:pt x="1702805" y="709188"/>
                  <a:pt x="2310142" y="350067"/>
                  <a:pt x="2127564" y="172016"/>
                </a:cubicBezTo>
                <a:cubicBezTo>
                  <a:pt x="1944986" y="-6035"/>
                  <a:pt x="312344" y="37723"/>
                  <a:pt x="0" y="0"/>
                </a:cubicBezTo>
              </a:path>
            </a:pathLst>
          </a:custGeom>
          <a:noFill/>
          <a:ln w="31750">
            <a:solidFill>
              <a:srgbClr val="2F1BC7"/>
            </a:solidFill>
            <a:tailEnd type="stealth" w="lg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1" name="Freeform 4">
            <a:extLst>
              <a:ext uri="{FF2B5EF4-FFF2-40B4-BE49-F238E27FC236}">
                <a16:creationId xmlns:a16="http://schemas.microsoft.com/office/drawing/2014/main" id="{E43022F9-BC55-6B62-84F0-1CDA08ED6D34}"/>
              </a:ext>
            </a:extLst>
          </p:cNvPr>
          <p:cNvSpPr/>
          <p:nvPr/>
        </p:nvSpPr>
        <p:spPr>
          <a:xfrm>
            <a:off x="6745787" y="3632110"/>
            <a:ext cx="2535112" cy="1222860"/>
          </a:xfrm>
          <a:custGeom>
            <a:avLst/>
            <a:gdLst>
              <a:gd name="connsiteX0" fmla="*/ 1086416 w 2535112"/>
              <a:gd name="connsiteY0" fmla="*/ 1222860 h 1222860"/>
              <a:gd name="connsiteX1" fmla="*/ 2534970 w 2535112"/>
              <a:gd name="connsiteY1" fmla="*/ 254139 h 1222860"/>
              <a:gd name="connsiteX2" fmla="*/ 1167897 w 2535112"/>
              <a:gd name="connsiteY2" fmla="*/ 642 h 1222860"/>
              <a:gd name="connsiteX3" fmla="*/ 0 w 2535112"/>
              <a:gd name="connsiteY3" fmla="*/ 299406 h 12228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535112" h="1222860">
                <a:moveTo>
                  <a:pt x="1086416" y="1222860"/>
                </a:moveTo>
                <a:cubicBezTo>
                  <a:pt x="1803903" y="840351"/>
                  <a:pt x="2521390" y="457842"/>
                  <a:pt x="2534970" y="254139"/>
                </a:cubicBezTo>
                <a:cubicBezTo>
                  <a:pt x="2548550" y="50436"/>
                  <a:pt x="1590392" y="-6903"/>
                  <a:pt x="1167897" y="642"/>
                </a:cubicBezTo>
                <a:cubicBezTo>
                  <a:pt x="745402" y="8186"/>
                  <a:pt x="98079" y="285826"/>
                  <a:pt x="0" y="299406"/>
                </a:cubicBezTo>
              </a:path>
            </a:pathLst>
          </a:custGeom>
          <a:noFill/>
          <a:ln w="31750">
            <a:solidFill>
              <a:srgbClr val="2F1BC7"/>
            </a:solidFill>
            <a:tailEnd type="stealth" w="lg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2" name="Freeform 5">
            <a:extLst>
              <a:ext uri="{FF2B5EF4-FFF2-40B4-BE49-F238E27FC236}">
                <a16:creationId xmlns:a16="http://schemas.microsoft.com/office/drawing/2014/main" id="{A4B95726-E68C-BE95-0954-202AABA43B77}"/>
              </a:ext>
            </a:extLst>
          </p:cNvPr>
          <p:cNvSpPr/>
          <p:nvPr/>
        </p:nvSpPr>
        <p:spPr>
          <a:xfrm>
            <a:off x="5695585" y="2698266"/>
            <a:ext cx="1756489" cy="1309218"/>
          </a:xfrm>
          <a:custGeom>
            <a:avLst/>
            <a:gdLst>
              <a:gd name="connsiteX0" fmla="*/ 1050202 w 1756489"/>
              <a:gd name="connsiteY0" fmla="*/ 1269464 h 1309218"/>
              <a:gd name="connsiteX1" fmla="*/ 1756372 w 1756489"/>
              <a:gd name="connsiteY1" fmla="*/ 1160823 h 1309218"/>
              <a:gd name="connsiteX2" fmla="*/ 1004935 w 1756489"/>
              <a:gd name="connsiteY2" fmla="*/ 65353 h 1309218"/>
              <a:gd name="connsiteX3" fmla="*/ 0 w 1756489"/>
              <a:gd name="connsiteY3" fmla="*/ 219262 h 130921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756489" h="1309218">
                <a:moveTo>
                  <a:pt x="1050202" y="1269464"/>
                </a:moveTo>
                <a:cubicBezTo>
                  <a:pt x="1407059" y="1315486"/>
                  <a:pt x="1763917" y="1361508"/>
                  <a:pt x="1756372" y="1160823"/>
                </a:cubicBezTo>
                <a:cubicBezTo>
                  <a:pt x="1748828" y="960138"/>
                  <a:pt x="1297664" y="222280"/>
                  <a:pt x="1004935" y="65353"/>
                </a:cubicBezTo>
                <a:cubicBezTo>
                  <a:pt x="712206" y="-91574"/>
                  <a:pt x="356103" y="63844"/>
                  <a:pt x="0" y="219262"/>
                </a:cubicBezTo>
              </a:path>
            </a:pathLst>
          </a:custGeom>
          <a:noFill/>
          <a:ln w="31750">
            <a:solidFill>
              <a:srgbClr val="2F1BC7"/>
            </a:solidFill>
            <a:tailEnd type="stealth" w="lg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3" name="Freeform 6">
            <a:extLst>
              <a:ext uri="{FF2B5EF4-FFF2-40B4-BE49-F238E27FC236}">
                <a16:creationId xmlns:a16="http://schemas.microsoft.com/office/drawing/2014/main" id="{39ADAAB5-E8E1-CE9D-A95E-8D98167186C4}"/>
              </a:ext>
            </a:extLst>
          </p:cNvPr>
          <p:cNvSpPr/>
          <p:nvPr/>
        </p:nvSpPr>
        <p:spPr>
          <a:xfrm>
            <a:off x="4627276" y="1988439"/>
            <a:ext cx="1579962" cy="992463"/>
          </a:xfrm>
          <a:custGeom>
            <a:avLst/>
            <a:gdLst>
              <a:gd name="connsiteX0" fmla="*/ 1059256 w 1579962"/>
              <a:gd name="connsiteY0" fmla="*/ 992463 h 992463"/>
              <a:gd name="connsiteX1" fmla="*/ 1530036 w 1579962"/>
              <a:gd name="connsiteY1" fmla="*/ 87117 h 992463"/>
              <a:gd name="connsiteX2" fmla="*/ 0 w 1579962"/>
              <a:gd name="connsiteY2" fmla="*/ 87117 h 99246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579962" h="992463">
                <a:moveTo>
                  <a:pt x="1059256" y="992463"/>
                </a:moveTo>
                <a:cubicBezTo>
                  <a:pt x="1382917" y="615235"/>
                  <a:pt x="1706579" y="238008"/>
                  <a:pt x="1530036" y="87117"/>
                </a:cubicBezTo>
                <a:cubicBezTo>
                  <a:pt x="1353493" y="-63774"/>
                  <a:pt x="676746" y="11671"/>
                  <a:pt x="0" y="87117"/>
                </a:cubicBezTo>
              </a:path>
            </a:pathLst>
          </a:custGeom>
          <a:noFill/>
          <a:ln w="31750">
            <a:solidFill>
              <a:srgbClr val="2F1BC7"/>
            </a:solidFill>
            <a:tailEnd type="stealth" w="lg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4663981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796114-4605-D34E-624A-B7BE1986C86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What Happens When Called?</a:t>
            </a:r>
            <a:endParaRPr lang="en-PK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F44E242-D63F-AF86-5256-C5D24723885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533400" indent="-533400" algn="just" eaLnBrk="1" hangingPunct="1">
              <a:spcBef>
                <a:spcPct val="50000"/>
              </a:spcBef>
            </a:pPr>
            <a:r>
              <a:rPr lang="en-US" sz="2400" dirty="0"/>
              <a:t>Each time a </a:t>
            </a:r>
            <a:r>
              <a:rPr lang="en-US" sz="2400" b="1" dirty="0">
                <a:solidFill>
                  <a:srgbClr val="B80000"/>
                </a:solidFill>
              </a:rPr>
              <a:t>recursive function </a:t>
            </a:r>
            <a:r>
              <a:rPr lang="en-US" sz="2400" dirty="0"/>
              <a:t>is </a:t>
            </a:r>
            <a:r>
              <a:rPr lang="en-US" sz="2400" b="1" dirty="0">
                <a:solidFill>
                  <a:srgbClr val="2C14DE"/>
                </a:solidFill>
              </a:rPr>
              <a:t>called</a:t>
            </a:r>
            <a:r>
              <a:rPr lang="en-US" sz="2400" dirty="0"/>
              <a:t>, a </a:t>
            </a:r>
            <a:r>
              <a:rPr lang="en-US" sz="2400" b="1" dirty="0">
                <a:solidFill>
                  <a:srgbClr val="008000"/>
                </a:solidFill>
              </a:rPr>
              <a:t>new copy</a:t>
            </a:r>
            <a:r>
              <a:rPr lang="en-US" sz="2400" dirty="0">
                <a:solidFill>
                  <a:srgbClr val="008000"/>
                </a:solidFill>
              </a:rPr>
              <a:t> </a:t>
            </a:r>
            <a:r>
              <a:rPr lang="en-US" sz="2400" dirty="0"/>
              <a:t>of the </a:t>
            </a:r>
            <a:r>
              <a:rPr lang="en-US" sz="2400" b="1" dirty="0">
                <a:solidFill>
                  <a:srgbClr val="008000"/>
                </a:solidFill>
              </a:rPr>
              <a:t>function runs</a:t>
            </a:r>
            <a:r>
              <a:rPr lang="en-US" sz="2400" dirty="0"/>
              <a:t>, with </a:t>
            </a:r>
            <a:r>
              <a:rPr lang="en-US" sz="2400" b="1" dirty="0">
                <a:solidFill>
                  <a:srgbClr val="2F1BC7"/>
                </a:solidFill>
              </a:rPr>
              <a:t>new instances </a:t>
            </a:r>
            <a:r>
              <a:rPr lang="en-US" sz="2400" b="1" dirty="0"/>
              <a:t>of</a:t>
            </a:r>
            <a:r>
              <a:rPr lang="en-US" sz="2400" b="1" dirty="0">
                <a:solidFill>
                  <a:srgbClr val="2F1BC7"/>
                </a:solidFill>
              </a:rPr>
              <a:t> parameters </a:t>
            </a:r>
            <a:r>
              <a:rPr lang="en-US" sz="2400" dirty="0"/>
              <a:t>and </a:t>
            </a:r>
            <a:r>
              <a:rPr lang="en-US" sz="2400" b="1" dirty="0">
                <a:solidFill>
                  <a:srgbClr val="2F1BC7"/>
                </a:solidFill>
              </a:rPr>
              <a:t>local variable</a:t>
            </a:r>
            <a:r>
              <a:rPr lang="en-US" sz="2400" dirty="0"/>
              <a:t>s being </a:t>
            </a:r>
            <a:r>
              <a:rPr lang="en-US" sz="2400" b="1" dirty="0">
                <a:solidFill>
                  <a:srgbClr val="2F1BC7"/>
                </a:solidFill>
              </a:rPr>
              <a:t>created</a:t>
            </a:r>
          </a:p>
          <a:p>
            <a:pPr marL="533400" indent="-533400" algn="just" eaLnBrk="1" hangingPunct="1">
              <a:spcBef>
                <a:spcPct val="50000"/>
              </a:spcBef>
            </a:pPr>
            <a:endParaRPr lang="en-US" sz="2400" dirty="0"/>
          </a:p>
          <a:p>
            <a:pPr marL="533400" indent="-533400" algn="just" eaLnBrk="1" hangingPunct="1">
              <a:spcBef>
                <a:spcPct val="50000"/>
              </a:spcBef>
            </a:pPr>
            <a:r>
              <a:rPr lang="en-US" sz="2400" dirty="0"/>
              <a:t>As </a:t>
            </a:r>
            <a:r>
              <a:rPr lang="en-US" sz="2400" b="1" dirty="0"/>
              <a:t>each </a:t>
            </a:r>
            <a:r>
              <a:rPr lang="en-US" sz="2400" b="1" dirty="0">
                <a:solidFill>
                  <a:srgbClr val="2F1BC7"/>
                </a:solidFill>
              </a:rPr>
              <a:t>copy finishes </a:t>
            </a:r>
            <a:r>
              <a:rPr lang="en-US" sz="2400" b="1" dirty="0"/>
              <a:t>executing</a:t>
            </a:r>
            <a:r>
              <a:rPr lang="en-US" sz="2400" dirty="0"/>
              <a:t>, it </a:t>
            </a:r>
            <a:r>
              <a:rPr lang="en-US" sz="2400" b="1" dirty="0">
                <a:solidFill>
                  <a:srgbClr val="2F1BC7"/>
                </a:solidFill>
              </a:rPr>
              <a:t>returns</a:t>
            </a:r>
            <a:r>
              <a:rPr lang="en-US" sz="2400" dirty="0">
                <a:solidFill>
                  <a:srgbClr val="2F1BC7"/>
                </a:solidFill>
              </a:rPr>
              <a:t> </a:t>
            </a:r>
            <a:r>
              <a:rPr lang="en-US" sz="2400" dirty="0"/>
              <a:t>to the copy of the </a:t>
            </a:r>
            <a:r>
              <a:rPr lang="en-US" sz="2400" b="1" dirty="0">
                <a:solidFill>
                  <a:srgbClr val="2F1BC7"/>
                </a:solidFill>
              </a:rPr>
              <a:t>function</a:t>
            </a:r>
            <a:r>
              <a:rPr lang="en-US" sz="2400" dirty="0">
                <a:solidFill>
                  <a:srgbClr val="2F1BC7"/>
                </a:solidFill>
              </a:rPr>
              <a:t> </a:t>
            </a:r>
            <a:r>
              <a:rPr lang="en-US" sz="2400" dirty="0"/>
              <a:t>that </a:t>
            </a:r>
            <a:r>
              <a:rPr lang="en-US" sz="2400" b="1" u="sng" dirty="0">
                <a:solidFill>
                  <a:srgbClr val="2F1BC7"/>
                </a:solidFill>
              </a:rPr>
              <a:t>called it</a:t>
            </a:r>
          </a:p>
          <a:p>
            <a:pPr marL="0" indent="0" algn="just" eaLnBrk="1" hangingPunct="1">
              <a:spcBef>
                <a:spcPct val="50000"/>
              </a:spcBef>
              <a:buNone/>
            </a:pPr>
            <a:endParaRPr lang="en-US" sz="2400" dirty="0"/>
          </a:p>
          <a:p>
            <a:pPr marL="533400" indent="-533400" algn="just" eaLnBrk="1" hangingPunct="1">
              <a:spcBef>
                <a:spcPct val="50000"/>
              </a:spcBef>
            </a:pPr>
            <a:r>
              <a:rPr lang="en-US" sz="2400" dirty="0"/>
              <a:t>When the </a:t>
            </a:r>
            <a:r>
              <a:rPr lang="en-US" sz="2400" b="1" dirty="0">
                <a:solidFill>
                  <a:srgbClr val="2F1BC7"/>
                </a:solidFill>
              </a:rPr>
              <a:t>initial copy finishes executing</a:t>
            </a:r>
            <a:r>
              <a:rPr lang="en-US" sz="2400" dirty="0"/>
              <a:t>, it returns to the </a:t>
            </a:r>
            <a:r>
              <a:rPr lang="en-US" sz="2400" b="1" dirty="0"/>
              <a:t>part of the program </a:t>
            </a:r>
            <a:r>
              <a:rPr lang="en-US" sz="2400" dirty="0"/>
              <a:t>that </a:t>
            </a:r>
            <a:r>
              <a:rPr lang="en-US" sz="2400" b="1" dirty="0">
                <a:solidFill>
                  <a:srgbClr val="2F1BC7"/>
                </a:solidFill>
              </a:rPr>
              <a:t>made the initial call </a:t>
            </a:r>
            <a:r>
              <a:rPr lang="en-US" sz="2400" dirty="0"/>
              <a:t>to the </a:t>
            </a:r>
            <a:r>
              <a:rPr lang="en-US" sz="2400" b="1" dirty="0">
                <a:solidFill>
                  <a:srgbClr val="2F1BC7"/>
                </a:solidFill>
              </a:rPr>
              <a:t>function</a:t>
            </a:r>
            <a:endParaRPr lang="en-US" sz="2400" b="1" dirty="0">
              <a:solidFill>
                <a:srgbClr val="2F1BC7"/>
              </a:solidFill>
              <a:latin typeface="Courier New" panose="02070309020205020404" pitchFamily="49" charset="0"/>
            </a:endParaRP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D5D1E86-A3E8-4E81-ADC1-DB6B24E94D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Object Oriented Programming-Spring 24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AA446EB-29B6-E672-456C-F59E0C7A4A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845F5A-061D-4825-9AE9-D7794091C6CF}" type="slidenum">
              <a:rPr lang="en-US" smtClean="0"/>
              <a:t>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4160811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EF0F20-F445-0B8B-E3E9-1F843C6DE08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Recursive Function – Modification </a:t>
            </a:r>
            <a:endParaRPr lang="en-PK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81DCA2E-FC66-4E38-63AE-933BBDFE94D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400" dirty="0"/>
              <a:t>Statements after the recursive invocation of the function</a:t>
            </a:r>
          </a:p>
          <a:p>
            <a:endParaRPr lang="en-PK" sz="2400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72D7EC5-3835-39A2-C014-7963DFD508B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Object Oriented Programming-Spring 24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ED8BF37-4A34-46CC-6869-815F659E02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845F5A-061D-4825-9AE9-D7794091C6CF}" type="slidenum">
              <a:rPr lang="en-US" smtClean="0"/>
              <a:t>9</a:t>
            </a:fld>
            <a:endParaRPr lang="en-US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880C316D-5392-2568-E756-AFABEB3AEE6F}"/>
              </a:ext>
            </a:extLst>
          </p:cNvPr>
          <p:cNvSpPr/>
          <p:nvPr/>
        </p:nvSpPr>
        <p:spPr>
          <a:xfrm>
            <a:off x="2097324" y="2660779"/>
            <a:ext cx="7884876" cy="2862322"/>
          </a:xfrm>
          <a:prstGeom prst="rect">
            <a:avLst/>
          </a:prstGeom>
          <a:ln>
            <a:solidFill>
              <a:srgbClr val="002060"/>
            </a:solidFill>
          </a:ln>
        </p:spPr>
        <p:txBody>
          <a:bodyPr wrap="square">
            <a:spAutoFit/>
          </a:bodyPr>
          <a:lstStyle/>
          <a:p>
            <a:r>
              <a:rPr lang="en-US" b="1" dirty="0">
                <a:latin typeface="Consolas" panose="020B0609020204030204" pitchFamily="49" charset="0"/>
                <a:cs typeface="Courier New" panose="02070309020205020404" pitchFamily="49" charset="0"/>
              </a:rPr>
              <a:t>void</a:t>
            </a:r>
            <a:r>
              <a:rPr lang="en-US" dirty="0">
                <a:latin typeface="Consolas" panose="020B0609020204030204" pitchFamily="49" charset="0"/>
                <a:cs typeface="Courier New" panose="02070309020205020404" pitchFamily="49" charset="0"/>
              </a:rPr>
              <a:t> </a:t>
            </a:r>
            <a:r>
              <a:rPr lang="en-US" b="1" dirty="0">
                <a:solidFill>
                  <a:srgbClr val="0070C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Message</a:t>
            </a:r>
            <a:r>
              <a:rPr lang="en-US" dirty="0">
                <a:latin typeface="Consolas" panose="020B0609020204030204" pitchFamily="49" charset="0"/>
                <a:cs typeface="Courier New" panose="02070309020205020404" pitchFamily="49" charset="0"/>
              </a:rPr>
              <a:t>(</a:t>
            </a:r>
            <a:r>
              <a:rPr lang="en-US" b="1" dirty="0" err="1">
                <a:latin typeface="Consolas" panose="020B0609020204030204" pitchFamily="49" charset="0"/>
                <a:cs typeface="Courier New" panose="02070309020205020404" pitchFamily="49" charset="0"/>
              </a:rPr>
              <a:t>int</a:t>
            </a:r>
            <a:r>
              <a:rPr lang="en-US" dirty="0">
                <a:latin typeface="Consolas" panose="020B0609020204030204" pitchFamily="49" charset="0"/>
                <a:cs typeface="Courier New" panose="02070309020205020404" pitchFamily="49" charset="0"/>
              </a:rPr>
              <a:t> times)</a:t>
            </a:r>
            <a:br>
              <a:rPr lang="en-US" dirty="0">
                <a:latin typeface="Consolas" panose="020B0609020204030204" pitchFamily="49" charset="0"/>
                <a:cs typeface="Courier New" panose="02070309020205020404" pitchFamily="49" charset="0"/>
              </a:rPr>
            </a:br>
            <a:r>
              <a:rPr lang="en-US" dirty="0">
                <a:latin typeface="Consolas" panose="020B0609020204030204" pitchFamily="49" charset="0"/>
                <a:cs typeface="Courier New" panose="02070309020205020404" pitchFamily="49" charset="0"/>
              </a:rPr>
              <a:t>{</a:t>
            </a:r>
            <a:br>
              <a:rPr lang="en-US" dirty="0">
                <a:latin typeface="Consolas" panose="020B0609020204030204" pitchFamily="49" charset="0"/>
                <a:cs typeface="Courier New" panose="02070309020205020404" pitchFamily="49" charset="0"/>
              </a:rPr>
            </a:br>
            <a:r>
              <a:rPr lang="en-US" dirty="0">
                <a:latin typeface="Consolas" panose="020B0609020204030204" pitchFamily="49" charset="0"/>
                <a:cs typeface="Courier New" panose="02070309020205020404" pitchFamily="49" charset="0"/>
              </a:rPr>
              <a:t>   </a:t>
            </a:r>
            <a:r>
              <a:rPr lang="en-US" dirty="0" err="1">
                <a:latin typeface="Consolas" panose="020B0609020204030204" pitchFamily="49" charset="0"/>
                <a:cs typeface="Courier New" panose="02070309020205020404" pitchFamily="49" charset="0"/>
              </a:rPr>
              <a:t>cout</a:t>
            </a:r>
            <a:r>
              <a:rPr lang="en-US" dirty="0">
                <a:latin typeface="Consolas" panose="020B0609020204030204" pitchFamily="49" charset="0"/>
                <a:cs typeface="Courier New" panose="02070309020205020404" pitchFamily="49" charset="0"/>
              </a:rPr>
              <a:t> &lt;&lt; "Message called with " &lt;&lt; times &lt;&lt;" in times.\n";</a:t>
            </a:r>
            <a:br>
              <a:rPr lang="en-US" dirty="0">
                <a:latin typeface="Consolas" panose="020B0609020204030204" pitchFamily="49" charset="0"/>
                <a:cs typeface="Courier New" panose="02070309020205020404" pitchFamily="49" charset="0"/>
              </a:rPr>
            </a:br>
            <a:r>
              <a:rPr lang="en-US" dirty="0">
                <a:latin typeface="Consolas" panose="020B0609020204030204" pitchFamily="49" charset="0"/>
                <a:cs typeface="Courier New" panose="02070309020205020404" pitchFamily="49" charset="0"/>
              </a:rPr>
              <a:t>   </a:t>
            </a:r>
            <a:r>
              <a:rPr lang="en-US" b="1" dirty="0">
                <a:latin typeface="Consolas" panose="020B0609020204030204" pitchFamily="49" charset="0"/>
                <a:cs typeface="Courier New" panose="02070309020205020404" pitchFamily="49" charset="0"/>
              </a:rPr>
              <a:t>if</a:t>
            </a:r>
            <a:r>
              <a:rPr lang="en-US" dirty="0">
                <a:latin typeface="Consolas" panose="020B0609020204030204" pitchFamily="49" charset="0"/>
                <a:cs typeface="Courier New" panose="02070309020205020404" pitchFamily="49" charset="0"/>
              </a:rPr>
              <a:t> (times &gt; 0) {</a:t>
            </a:r>
            <a:br>
              <a:rPr lang="en-US" dirty="0">
                <a:latin typeface="Consolas" panose="020B0609020204030204" pitchFamily="49" charset="0"/>
                <a:cs typeface="Courier New" panose="02070309020205020404" pitchFamily="49" charset="0"/>
              </a:rPr>
            </a:br>
            <a:r>
              <a:rPr lang="en-US" dirty="0">
                <a:latin typeface="Consolas" panose="020B0609020204030204" pitchFamily="49" charset="0"/>
                <a:cs typeface="Courier New" panose="02070309020205020404" pitchFamily="49" charset="0"/>
              </a:rPr>
              <a:t>      </a:t>
            </a:r>
            <a:r>
              <a:rPr lang="en-US" dirty="0" err="1">
                <a:latin typeface="Consolas" panose="020B0609020204030204" pitchFamily="49" charset="0"/>
                <a:cs typeface="Courier New" panose="02070309020205020404" pitchFamily="49" charset="0"/>
              </a:rPr>
              <a:t>cout</a:t>
            </a:r>
            <a:r>
              <a:rPr lang="en-US" dirty="0">
                <a:latin typeface="Consolas" panose="020B0609020204030204" pitchFamily="49" charset="0"/>
                <a:cs typeface="Courier New" panose="02070309020205020404" pitchFamily="49" charset="0"/>
              </a:rPr>
              <a:t> &lt;&lt; "This is a recursive function.\n";</a:t>
            </a:r>
            <a:br>
              <a:rPr lang="en-US" dirty="0">
                <a:latin typeface="Consolas" panose="020B0609020204030204" pitchFamily="49" charset="0"/>
                <a:cs typeface="Courier New" panose="02070309020205020404" pitchFamily="49" charset="0"/>
              </a:rPr>
            </a:br>
            <a:r>
              <a:rPr lang="en-US" dirty="0">
                <a:latin typeface="Consolas" panose="020B0609020204030204" pitchFamily="49" charset="0"/>
                <a:cs typeface="Courier New" panose="02070309020205020404" pitchFamily="49" charset="0"/>
              </a:rPr>
              <a:t>      </a:t>
            </a:r>
            <a:r>
              <a:rPr lang="en-US" b="1" dirty="0">
                <a:solidFill>
                  <a:srgbClr val="0070C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Message</a:t>
            </a:r>
            <a:r>
              <a:rPr lang="en-US" dirty="0">
                <a:latin typeface="Consolas" panose="020B0609020204030204" pitchFamily="49" charset="0"/>
                <a:cs typeface="Courier New" panose="02070309020205020404" pitchFamily="49" charset="0"/>
              </a:rPr>
              <a:t>(times - 1);</a:t>
            </a:r>
            <a:br>
              <a:rPr lang="en-US" dirty="0">
                <a:latin typeface="Consolas" panose="020B0609020204030204" pitchFamily="49" charset="0"/>
                <a:cs typeface="Courier New" panose="02070309020205020404" pitchFamily="49" charset="0"/>
              </a:rPr>
            </a:br>
            <a:r>
              <a:rPr lang="en-US" dirty="0">
                <a:latin typeface="Consolas" panose="020B0609020204030204" pitchFamily="49" charset="0"/>
                <a:cs typeface="Courier New" panose="02070309020205020404" pitchFamily="49" charset="0"/>
              </a:rPr>
              <a:t>   }</a:t>
            </a:r>
            <a:br>
              <a:rPr lang="en-US" dirty="0">
                <a:latin typeface="Consolas" panose="020B0609020204030204" pitchFamily="49" charset="0"/>
                <a:cs typeface="Courier New" panose="02070309020205020404" pitchFamily="49" charset="0"/>
              </a:rPr>
            </a:br>
            <a:r>
              <a:rPr lang="en-US" dirty="0">
                <a:solidFill>
                  <a:srgbClr val="0070C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   </a:t>
            </a:r>
            <a:r>
              <a:rPr lang="en-US" dirty="0" err="1">
                <a:solidFill>
                  <a:srgbClr val="0070C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cout</a:t>
            </a:r>
            <a:r>
              <a:rPr lang="en-US" dirty="0">
                <a:solidFill>
                  <a:srgbClr val="0070C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 &lt;&lt; "Message returning with " &lt;&lt; times;</a:t>
            </a:r>
            <a:br>
              <a:rPr lang="en-US" dirty="0">
                <a:solidFill>
                  <a:srgbClr val="0070C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</a:br>
            <a:r>
              <a:rPr lang="en-US" dirty="0">
                <a:solidFill>
                  <a:srgbClr val="0070C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   </a:t>
            </a:r>
            <a:r>
              <a:rPr lang="en-US" dirty="0" err="1">
                <a:solidFill>
                  <a:srgbClr val="0070C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cout</a:t>
            </a:r>
            <a:r>
              <a:rPr lang="en-US" dirty="0">
                <a:solidFill>
                  <a:srgbClr val="0070C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 &lt;&lt; " in times.\n";</a:t>
            </a:r>
            <a:br>
              <a:rPr lang="en-US" dirty="0">
                <a:solidFill>
                  <a:srgbClr val="0070C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</a:br>
            <a:r>
              <a:rPr lang="en-US" dirty="0">
                <a:latin typeface="Consolas" panose="020B0609020204030204" pitchFamily="49" charset="0"/>
                <a:cs typeface="Courier New" panose="02070309020205020404" pitchFamily="49" charset="0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277273160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528E83-DB94-D108-25EE-A907BB9B9AC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Recursive Function – Execution </a:t>
            </a:r>
            <a:endParaRPr lang="en-PK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A670B43-FC07-F355-178C-539D4B0C765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Object Oriented Programming-Spring 24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8B371BF-BB86-133D-E95C-C3E132C878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845F5A-061D-4825-9AE9-D7794091C6CF}" type="slidenum">
              <a:rPr lang="en-US" smtClean="0"/>
              <a:t>10</a:t>
            </a:fld>
            <a:endParaRPr lang="en-US" dirty="0"/>
          </a:p>
        </p:txBody>
      </p:sp>
      <p:pic>
        <p:nvPicPr>
          <p:cNvPr id="296" name="Picture 295">
            <a:extLst>
              <a:ext uri="{FF2B5EF4-FFF2-40B4-BE49-F238E27FC236}">
                <a16:creationId xmlns:a16="http://schemas.microsoft.com/office/drawing/2014/main" id="{9A69B7CD-D595-65D6-6016-199B7FF449D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80086" y="1575911"/>
            <a:ext cx="8104342" cy="47804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032526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8071FA-12A3-5C22-CE49-F0FD9A4B66E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Recursion </a:t>
            </a:r>
            <a:endParaRPr lang="en-PK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BA29E7B-C284-6A07-A36B-CA030A41E60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sz="2400" dirty="0"/>
              <a:t>Solving a problem by reducing it to a </a:t>
            </a:r>
            <a:r>
              <a:rPr lang="en-US" sz="2400" dirty="0">
                <a:solidFill>
                  <a:srgbClr val="0070C0"/>
                </a:solidFill>
              </a:rPr>
              <a:t>smaller version of itself</a:t>
            </a:r>
          </a:p>
          <a:p>
            <a:endParaRPr lang="en-US" sz="2400" dirty="0"/>
          </a:p>
          <a:p>
            <a:r>
              <a:rPr lang="en-US" sz="2400" dirty="0"/>
              <a:t>A properly written recursive function must</a:t>
            </a:r>
          </a:p>
          <a:p>
            <a:pPr lvl="1"/>
            <a:r>
              <a:rPr lang="en-US" sz="2000" dirty="0"/>
              <a:t>Handle the </a:t>
            </a:r>
            <a:r>
              <a:rPr lang="en-US" sz="2000" dirty="0">
                <a:solidFill>
                  <a:srgbClr val="0070C0"/>
                </a:solidFill>
              </a:rPr>
              <a:t>base cases</a:t>
            </a:r>
            <a:r>
              <a:rPr lang="en-US" sz="2000" dirty="0"/>
              <a:t>, and</a:t>
            </a:r>
          </a:p>
          <a:p>
            <a:pPr lvl="1"/>
            <a:r>
              <a:rPr lang="en-US" sz="2000" dirty="0">
                <a:solidFill>
                  <a:srgbClr val="0070C0"/>
                </a:solidFill>
              </a:rPr>
              <a:t>Recursive cases </a:t>
            </a:r>
            <a:r>
              <a:rPr lang="en-US" sz="2000" dirty="0">
                <a:solidFill>
                  <a:schemeClr val="tx2"/>
                </a:solidFill>
              </a:rPr>
              <a:t>(convergence </a:t>
            </a:r>
            <a:r>
              <a:rPr lang="en-US" sz="2000" dirty="0"/>
              <a:t>to the base case)</a:t>
            </a:r>
          </a:p>
          <a:p>
            <a:endParaRPr lang="en-US" sz="2400" dirty="0"/>
          </a:p>
          <a:p>
            <a:r>
              <a:rPr lang="en-US" sz="2400" dirty="0">
                <a:solidFill>
                  <a:srgbClr val="0070C0"/>
                </a:solidFill>
              </a:rPr>
              <a:t>Failure</a:t>
            </a:r>
            <a:r>
              <a:rPr lang="en-US" sz="2400" dirty="0"/>
              <a:t> to properly handle the base case or converge to the base case may result </a:t>
            </a:r>
            <a:r>
              <a:rPr lang="en-US" sz="2400" dirty="0">
                <a:solidFill>
                  <a:srgbClr val="0070C0"/>
                </a:solidFill>
              </a:rPr>
              <a:t>in infinite recursion</a:t>
            </a:r>
          </a:p>
          <a:p>
            <a:endParaRPr lang="en-US" sz="2400" dirty="0">
              <a:solidFill>
                <a:srgbClr val="0070C0"/>
              </a:solidFill>
            </a:endParaRPr>
          </a:p>
          <a:p>
            <a:r>
              <a:rPr lang="en-US" sz="2400" dirty="0"/>
              <a:t>Very Important: </a:t>
            </a:r>
            <a:r>
              <a:rPr lang="en-US" sz="2400" dirty="0">
                <a:solidFill>
                  <a:srgbClr val="FF0000"/>
                </a:solidFill>
              </a:rPr>
              <a:t>NO LOOPS!!! (for, while, do-while)</a:t>
            </a:r>
          </a:p>
          <a:p>
            <a:endParaRPr lang="en-PK" sz="2400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DED7524-54B1-248D-A124-3C21D4FCBE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Object Oriented Programming-Spring 24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32BC920-0386-8BD2-6209-0F7F72DB39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845F5A-061D-4825-9AE9-D7794091C6CF}" type="slidenum">
              <a:rPr lang="en-US" smtClean="0"/>
              <a:t>11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6408276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09B198-E017-B377-0EFF-FCCD702065E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Recursion </a:t>
            </a:r>
            <a:endParaRPr lang="en-PK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34643BC-77AB-9F9D-F1A8-39809573F7F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70000" lnSpcReduction="20000"/>
          </a:bodyPr>
          <a:lstStyle/>
          <a:p>
            <a:r>
              <a:rPr lang="en-US" dirty="0"/>
              <a:t>To solve problem recursively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pPr marL="0" indent="0">
              <a:buNone/>
            </a:pPr>
            <a:endParaRPr lang="en-US" dirty="0"/>
          </a:p>
          <a:p>
            <a:r>
              <a:rPr lang="en-US" dirty="0"/>
              <a:t>Sub-problem must be smaller than the original problem</a:t>
            </a:r>
          </a:p>
          <a:p>
            <a:pPr lvl="1"/>
            <a:r>
              <a:rPr lang="en-US" sz="2200" dirty="0"/>
              <a:t>Otherwise, recursion never terminates 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703AD44-7822-CB6F-C157-A9923A8E1E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Object Oriented Programming-Spring 24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32F2C84-7C17-2273-B01F-BCAE765C73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845F5A-061D-4825-9AE9-D7794091C6CF}" type="slidenum">
              <a:rPr lang="en-US" smtClean="0"/>
              <a:t>12</a:t>
            </a:fld>
            <a:endParaRPr lang="en-US" dirty="0"/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7064F3C5-3DD2-061D-E0EF-C415EA489C2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86010" y="2511298"/>
            <a:ext cx="8096190" cy="26458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7077063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159A79-0C01-4C53-3CED-ACCF706EA2E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Types of Recursion</a:t>
            </a:r>
            <a:endParaRPr lang="en-PK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89453AB-E601-33F6-4A9F-338909C0A24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eaLnBrk="1" hangingPunct="1">
              <a:buClr>
                <a:schemeClr val="tx1"/>
              </a:buClr>
            </a:pPr>
            <a:r>
              <a:rPr lang="en-US" sz="2400" b="1" dirty="0">
                <a:solidFill>
                  <a:srgbClr val="B80000"/>
                </a:solidFill>
              </a:rPr>
              <a:t>Direct recursion</a:t>
            </a:r>
          </a:p>
          <a:p>
            <a:pPr lvl="1" eaLnBrk="1" hangingPunct="1">
              <a:buClr>
                <a:schemeClr val="tx1"/>
              </a:buClr>
            </a:pPr>
            <a:r>
              <a:rPr lang="en-US" sz="2000" dirty="0"/>
              <a:t>a </a:t>
            </a:r>
            <a:r>
              <a:rPr lang="en-US" sz="2000" b="1" dirty="0">
                <a:solidFill>
                  <a:srgbClr val="2F1BC7"/>
                </a:solidFill>
              </a:rPr>
              <a:t>function calls itself</a:t>
            </a:r>
          </a:p>
          <a:p>
            <a:pPr lvl="1" eaLnBrk="1" hangingPunct="1">
              <a:buClr>
                <a:schemeClr val="tx1"/>
              </a:buClr>
            </a:pPr>
            <a:endParaRPr lang="en-US" sz="2000" dirty="0"/>
          </a:p>
          <a:p>
            <a:pPr eaLnBrk="1" hangingPunct="1">
              <a:buClr>
                <a:schemeClr val="tx1"/>
              </a:buClr>
            </a:pPr>
            <a:r>
              <a:rPr lang="en-US" sz="2400" b="1" dirty="0">
                <a:solidFill>
                  <a:srgbClr val="B80000"/>
                </a:solidFill>
              </a:rPr>
              <a:t>Indirect recursion</a:t>
            </a:r>
          </a:p>
          <a:p>
            <a:pPr lvl="1" eaLnBrk="1" hangingPunct="1">
              <a:buClr>
                <a:schemeClr val="tx1"/>
              </a:buClr>
            </a:pPr>
            <a:r>
              <a:rPr lang="en-US" sz="2000" b="1" dirty="0">
                <a:solidFill>
                  <a:srgbClr val="2F1BC7"/>
                </a:solidFill>
              </a:rPr>
              <a:t>function A </a:t>
            </a:r>
            <a:r>
              <a:rPr lang="en-US" sz="2000" b="1" dirty="0"/>
              <a:t>calls</a:t>
            </a:r>
            <a:r>
              <a:rPr lang="en-US" sz="2000" dirty="0"/>
              <a:t> </a:t>
            </a:r>
            <a:r>
              <a:rPr lang="en-US" sz="2000" b="1" dirty="0">
                <a:solidFill>
                  <a:srgbClr val="2F1BC7"/>
                </a:solidFill>
              </a:rPr>
              <a:t>function B</a:t>
            </a:r>
            <a:r>
              <a:rPr lang="en-US" sz="2000" dirty="0"/>
              <a:t>, and function B </a:t>
            </a:r>
            <a:r>
              <a:rPr lang="en-US" sz="2000" b="1" dirty="0"/>
              <a:t>calls</a:t>
            </a:r>
            <a:r>
              <a:rPr lang="en-US" sz="2000" dirty="0"/>
              <a:t> </a:t>
            </a:r>
            <a:r>
              <a:rPr lang="en-US" sz="2000" b="1" dirty="0">
                <a:solidFill>
                  <a:srgbClr val="2F1BC7"/>
                </a:solidFill>
              </a:rPr>
              <a:t>function A</a:t>
            </a:r>
            <a:r>
              <a:rPr lang="en-US" sz="2000" dirty="0"/>
              <a:t>.  Or,</a:t>
            </a:r>
            <a:br>
              <a:rPr lang="en-US" sz="2000" dirty="0"/>
            </a:br>
            <a:endParaRPr lang="en-US" sz="2000" dirty="0"/>
          </a:p>
          <a:p>
            <a:pPr lvl="1" eaLnBrk="1" hangingPunct="1">
              <a:buClr>
                <a:schemeClr val="tx1"/>
              </a:buClr>
            </a:pPr>
            <a:r>
              <a:rPr lang="en-US" sz="2000" b="1" dirty="0">
                <a:solidFill>
                  <a:srgbClr val="2F1BC7"/>
                </a:solidFill>
              </a:rPr>
              <a:t>function A </a:t>
            </a:r>
            <a:r>
              <a:rPr lang="en-US" sz="2000" b="1" dirty="0"/>
              <a:t>calls</a:t>
            </a:r>
            <a:r>
              <a:rPr lang="en-US" sz="2000" dirty="0"/>
              <a:t> </a:t>
            </a:r>
            <a:r>
              <a:rPr lang="en-US" sz="2000" b="1" dirty="0">
                <a:solidFill>
                  <a:srgbClr val="2F1BC7"/>
                </a:solidFill>
              </a:rPr>
              <a:t>function B</a:t>
            </a:r>
            <a:r>
              <a:rPr lang="en-US" sz="2000" dirty="0"/>
              <a:t>, which calls …, which calls </a:t>
            </a:r>
            <a:r>
              <a:rPr lang="en-US" sz="2000" b="1" dirty="0">
                <a:solidFill>
                  <a:srgbClr val="2F1BC7"/>
                </a:solidFill>
              </a:rPr>
              <a:t>function A</a:t>
            </a:r>
          </a:p>
          <a:p>
            <a:endParaRPr lang="en-PK" sz="2400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0BF5DA3-A400-FB26-119F-A063DBE0A1F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Object Oriented Programming-Spring 24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EA58378-085C-16AC-F0CE-685B1A4CB5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845F5A-061D-4825-9AE9-D7794091C6CF}" type="slidenum">
              <a:rPr lang="en-US" smtClean="0"/>
              <a:t>13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0506471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F5B908-BA2A-BDAF-6D4F-97CA56376CE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Creating a Sum Function</a:t>
            </a:r>
            <a:endParaRPr lang="en-PK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F9A7E32-31DD-E47B-E215-779F23B6612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FR" dirty="0" err="1"/>
              <a:t>sum</a:t>
            </a:r>
            <a:r>
              <a:rPr lang="fr-FR" dirty="0"/>
              <a:t>(10) = 10+9+…2+1 = 55</a:t>
            </a:r>
          </a:p>
          <a:p>
            <a:endParaRPr lang="en-PK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F9713DE-D510-B323-ED54-AD4E6D34C7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Object Oriented Programming-Spring 24</a:t>
            </a:r>
            <a:endParaRPr lang="en-US" dirty="0"/>
          </a:p>
        </p:txBody>
      </p:sp>
      <p:pic>
        <p:nvPicPr>
          <p:cNvPr id="6" name="Picture 4" descr="https://pencilprogrammer.com/wp-content/uploads/2018/11/Recursion-in-C-min.png">
            <a:extLst>
              <a:ext uri="{FF2B5EF4-FFF2-40B4-BE49-F238E27FC236}">
                <a16:creationId xmlns:a16="http://schemas.microsoft.com/office/drawing/2014/main" id="{CF5BA9E3-F43D-2B06-B2DD-F5A0141EE61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24200" y="2542774"/>
            <a:ext cx="5943600" cy="381357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DAC4C47-6169-E272-992E-293F0C7D13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845F5A-061D-4825-9AE9-D7794091C6CF}" type="slidenum">
              <a:rPr lang="en-US" smtClean="0"/>
              <a:t>14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0097857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E47790-ED55-0AD5-5B51-66A738877D6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Creating a Sum function (Iterative)</a:t>
            </a:r>
            <a:endParaRPr lang="en-PK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7870E36-751A-EA88-63F1-4E820AF802C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70000" lnSpcReduction="20000"/>
          </a:bodyPr>
          <a:lstStyle/>
          <a:p>
            <a:pPr marL="0" indent="0">
              <a:buFontTx/>
              <a:buNone/>
            </a:pPr>
            <a:r>
              <a:rPr lang="en-US" sz="2800" b="1" dirty="0">
                <a:solidFill>
                  <a:srgbClr val="2C14DE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//Our initial total is zero</a:t>
            </a:r>
          </a:p>
          <a:p>
            <a:pPr marL="0" indent="0">
              <a:buFontTx/>
              <a:buNone/>
            </a:pPr>
            <a:r>
              <a:rPr lang="fr-FR" sz="2800" b="1" dirty="0" err="1">
                <a:latin typeface="Consolas" panose="020B0609020204030204" pitchFamily="49" charset="0"/>
                <a:cs typeface="Courier New" panose="02070309020205020404" pitchFamily="49" charset="0"/>
              </a:rPr>
              <a:t>int</a:t>
            </a:r>
            <a:r>
              <a:rPr lang="fr-FR" sz="2800" b="1" dirty="0">
                <a:latin typeface="Consolas" panose="020B0609020204030204" pitchFamily="49" charset="0"/>
                <a:cs typeface="Courier New" panose="02070309020205020404" pitchFamily="49" charset="0"/>
              </a:rPr>
              <a:t> total = 0;</a:t>
            </a:r>
          </a:p>
          <a:p>
            <a:pPr marL="0" indent="0">
              <a:buFontTx/>
              <a:buNone/>
            </a:pPr>
            <a:endParaRPr lang="fr-FR" sz="2800" b="1" dirty="0">
              <a:latin typeface="Consolas" panose="020B0609020204030204" pitchFamily="49" charset="0"/>
              <a:cs typeface="Courier New" panose="02070309020205020404" pitchFamily="49" charset="0"/>
            </a:endParaRPr>
          </a:p>
          <a:p>
            <a:pPr marL="0" indent="0">
              <a:buFontTx/>
              <a:buNone/>
            </a:pPr>
            <a:r>
              <a:rPr lang="en-US" sz="2800" b="1" dirty="0">
                <a:solidFill>
                  <a:srgbClr val="2C14DE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//We want the sum from 1 + 2 + ... + 9 + 10</a:t>
            </a:r>
          </a:p>
          <a:p>
            <a:pPr marL="0" indent="0">
              <a:buFontTx/>
              <a:buNone/>
            </a:pPr>
            <a:r>
              <a:rPr lang="da-DK" sz="2800" b="1" dirty="0">
                <a:latin typeface="Consolas" panose="020B0609020204030204" pitchFamily="49" charset="0"/>
                <a:cs typeface="Courier New" panose="02070309020205020404" pitchFamily="49" charset="0"/>
              </a:rPr>
              <a:t>int n = 10;</a:t>
            </a:r>
            <a:endParaRPr lang="fr-FR" sz="2800" b="1" dirty="0">
              <a:latin typeface="Consolas" panose="020B0609020204030204" pitchFamily="49" charset="0"/>
              <a:cs typeface="Courier New" panose="02070309020205020404" pitchFamily="49" charset="0"/>
            </a:endParaRPr>
          </a:p>
          <a:p>
            <a:pPr marL="0" indent="0">
              <a:buFontTx/>
              <a:buNone/>
            </a:pPr>
            <a:endParaRPr lang="fr-FR" sz="2800" b="1" dirty="0">
              <a:latin typeface="Consolas" panose="020B0609020204030204" pitchFamily="49" charset="0"/>
              <a:cs typeface="Courier New" panose="02070309020205020404" pitchFamily="49" charset="0"/>
            </a:endParaRPr>
          </a:p>
          <a:p>
            <a:pPr marL="0" indent="0">
              <a:buFontTx/>
              <a:buNone/>
            </a:pPr>
            <a:r>
              <a:rPr lang="en-US" sz="2800" b="1" dirty="0">
                <a:solidFill>
                  <a:srgbClr val="2C14DE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/* The following for loop will calculate the summation from 1 – n */</a:t>
            </a:r>
          </a:p>
          <a:p>
            <a:pPr marL="0" indent="0">
              <a:buFontTx/>
              <a:buNone/>
            </a:pPr>
            <a:r>
              <a:rPr lang="da-DK" sz="2800" b="1" dirty="0">
                <a:latin typeface="Consolas" panose="020B0609020204030204" pitchFamily="49" charset="0"/>
                <a:cs typeface="Courier New" panose="02070309020205020404" pitchFamily="49" charset="0"/>
              </a:rPr>
              <a:t>for ( int i = 1; i &lt;= n; i++ ) {</a:t>
            </a:r>
          </a:p>
          <a:p>
            <a:pPr marL="0" indent="0">
              <a:buFontTx/>
              <a:buNone/>
            </a:pPr>
            <a:r>
              <a:rPr lang="cs-CZ" sz="2800" b="1" dirty="0">
                <a:latin typeface="Consolas" panose="020B0609020204030204" pitchFamily="49" charset="0"/>
                <a:cs typeface="Courier New" panose="02070309020205020404" pitchFamily="49" charset="0"/>
              </a:rPr>
              <a:t>     total = total + i;</a:t>
            </a:r>
          </a:p>
          <a:p>
            <a:pPr marL="0" indent="0">
              <a:buFontTx/>
              <a:buNone/>
            </a:pPr>
            <a:r>
              <a:rPr lang="fr-FR" sz="2800" b="1" dirty="0">
                <a:latin typeface="Consolas" panose="020B0609020204030204" pitchFamily="49" charset="0"/>
                <a:cs typeface="Courier New" panose="02070309020205020404" pitchFamily="49" charset="0"/>
              </a:rPr>
              <a:t>}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1F8A9C7-69D2-C9B2-6B0D-CA9B908F365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Object Oriented Programming-Spring 24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933279E-6F22-F095-160E-AB59B3DDC1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845F5A-061D-4825-9AE9-D7794091C6CF}" type="slidenum">
              <a:rPr lang="en-US" smtClean="0"/>
              <a:t>15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6340611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B55B27-2540-B418-8FA6-A7B53DB59CB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Creating a Sum function (Recursive)</a:t>
            </a:r>
            <a:endParaRPr lang="en-PK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38CCC0A-9EBF-82E0-A184-3F3C4BC521D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FontTx/>
              <a:buNone/>
            </a:pPr>
            <a:r>
              <a:rPr lang="fr-FR" sz="24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int</a:t>
            </a:r>
            <a:r>
              <a:rPr lang="fr-FR" sz="2400" b="1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fr-FR" sz="24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sum</a:t>
            </a:r>
            <a:r>
              <a:rPr lang="fr-FR" sz="2400" b="1" dirty="0"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fr-FR" sz="24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int</a:t>
            </a:r>
            <a:r>
              <a:rPr lang="fr-FR" sz="2400" b="1" dirty="0">
                <a:latin typeface="Courier New" panose="02070309020205020404" pitchFamily="49" charset="0"/>
                <a:cs typeface="Courier New" panose="02070309020205020404" pitchFamily="49" charset="0"/>
              </a:rPr>
              <a:t> n) { </a:t>
            </a:r>
            <a:br>
              <a:rPr lang="fr-FR" sz="2400" b="1" dirty="0">
                <a:latin typeface="Courier New" panose="02070309020205020404" pitchFamily="49" charset="0"/>
                <a:cs typeface="Courier New" panose="02070309020205020404" pitchFamily="49" charset="0"/>
              </a:rPr>
            </a:br>
            <a:endParaRPr lang="fr-FR" sz="2400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FontTx/>
              <a:buNone/>
            </a:pPr>
            <a:r>
              <a:rPr lang="en-US" sz="2400" b="1" dirty="0">
                <a:solidFill>
                  <a:srgbClr val="2C14DE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//Return 0 when n is 0</a:t>
            </a:r>
          </a:p>
          <a:p>
            <a:pPr marL="0" indent="0">
              <a:buFontTx/>
              <a:buNone/>
            </a:pPr>
            <a:r>
              <a:rPr lang="en-US" sz="2400" b="1" dirty="0">
                <a:latin typeface="Courier New" panose="02070309020205020404" pitchFamily="49" charset="0"/>
                <a:cs typeface="Courier New" panose="02070309020205020404" pitchFamily="49" charset="0"/>
              </a:rPr>
              <a:t>     if ( n &lt;= 0 ) </a:t>
            </a:r>
          </a:p>
          <a:p>
            <a:pPr marL="0" indent="0">
              <a:buFontTx/>
              <a:buNone/>
            </a:pPr>
            <a:r>
              <a:rPr lang="en-US" sz="2400" b="1" dirty="0">
                <a:latin typeface="Courier New" panose="02070309020205020404" pitchFamily="49" charset="0"/>
                <a:cs typeface="Courier New" panose="02070309020205020404" pitchFamily="49" charset="0"/>
              </a:rPr>
              <a:t>		return 0;</a:t>
            </a:r>
          </a:p>
          <a:p>
            <a:pPr marL="0" indent="0">
              <a:buFontTx/>
              <a:buNone/>
            </a:pPr>
            <a:r>
              <a:rPr lang="hu-HU" sz="2400" b="1" dirty="0">
                <a:latin typeface="Courier New" panose="02070309020205020404" pitchFamily="49" charset="0"/>
                <a:cs typeface="Courier New" panose="02070309020205020404" pitchFamily="49" charset="0"/>
              </a:rPr>
              <a:t>     else</a:t>
            </a:r>
            <a:r>
              <a:rPr lang="en-US" sz="2400" b="1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2400" b="1" dirty="0">
                <a:solidFill>
                  <a:srgbClr val="2C14DE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//recursive call</a:t>
            </a:r>
            <a:endParaRPr lang="hu-HU" sz="2400" b="1" dirty="0">
              <a:solidFill>
                <a:srgbClr val="2C14DE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FontTx/>
              <a:buNone/>
            </a:pPr>
            <a:r>
              <a:rPr lang="en-US" sz="2400" b="1" dirty="0">
                <a:latin typeface="Courier New" panose="02070309020205020404" pitchFamily="49" charset="0"/>
                <a:cs typeface="Courier New" panose="02070309020205020404" pitchFamily="49" charset="0"/>
              </a:rPr>
              <a:t>          	return n + sum(n-1);</a:t>
            </a:r>
            <a:endParaRPr lang="fr-FR" sz="2400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FontTx/>
              <a:buNone/>
            </a:pPr>
            <a:r>
              <a:rPr lang="fr-FR" sz="2400" b="1" dirty="0"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B20A3BF-3C85-1CB7-767C-3531E1B4F59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Object Oriented Programming-Spring 24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DF14BFD-CDDC-01AF-43AF-FA7757CABE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845F5A-061D-4825-9AE9-D7794091C6CF}" type="slidenum">
              <a:rPr lang="en-US" smtClean="0"/>
              <a:t>16</a:t>
            </a:fld>
            <a:endParaRPr lang="en-US" dirty="0"/>
          </a:p>
        </p:txBody>
      </p:sp>
      <p:pic>
        <p:nvPicPr>
          <p:cNvPr id="6" name="Picture 2" descr="https://martintrojer.github.io/assets/images/tailcalls/recur1.png">
            <a:extLst>
              <a:ext uri="{FF2B5EF4-FFF2-40B4-BE49-F238E27FC236}">
                <a16:creationId xmlns:a16="http://schemas.microsoft.com/office/drawing/2014/main" id="{38526A9F-D221-E740-DBE9-120EA289870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695209" y="2105025"/>
            <a:ext cx="4459701" cy="264794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04170235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F71957-0CBB-7007-9CA4-093ACAC54AF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The Recursive Factorial Function</a:t>
            </a:r>
            <a:endParaRPr lang="en-PK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8026A18-7E70-1041-7334-1A445223766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 algn="just">
              <a:spcBef>
                <a:spcPct val="0"/>
              </a:spcBef>
              <a:buClr>
                <a:schemeClr val="tx1"/>
              </a:buClr>
            </a:pPr>
            <a:r>
              <a:rPr lang="en-US" sz="2400" dirty="0"/>
              <a:t> The </a:t>
            </a:r>
            <a:r>
              <a:rPr lang="en-US" sz="2400" b="1" dirty="0">
                <a:solidFill>
                  <a:srgbClr val="B80000"/>
                </a:solidFill>
              </a:rPr>
              <a:t>factorial</a:t>
            </a:r>
            <a:r>
              <a:rPr lang="en-US" sz="2400" dirty="0">
                <a:solidFill>
                  <a:srgbClr val="B80000"/>
                </a:solidFill>
              </a:rPr>
              <a:t> </a:t>
            </a:r>
            <a:r>
              <a:rPr lang="en-US" sz="2400" dirty="0"/>
              <a:t>of a </a:t>
            </a:r>
            <a:r>
              <a:rPr lang="en-US" sz="2400" b="1" dirty="0">
                <a:solidFill>
                  <a:srgbClr val="2F1BC7"/>
                </a:solidFill>
              </a:rPr>
              <a:t>non-negative</a:t>
            </a:r>
            <a:r>
              <a:rPr lang="en-US" sz="2400" dirty="0"/>
              <a:t> integer </a:t>
            </a:r>
            <a:r>
              <a:rPr lang="en-US" sz="2400" b="1" i="1" dirty="0">
                <a:solidFill>
                  <a:srgbClr val="2F1BC7"/>
                </a:solidFill>
                <a:latin typeface="Times New Roman" panose="02020603050405020304" pitchFamily="18" charset="0"/>
              </a:rPr>
              <a:t>n</a:t>
            </a:r>
            <a:r>
              <a:rPr lang="en-US" sz="2400" dirty="0">
                <a:solidFill>
                  <a:srgbClr val="2F1BC7"/>
                </a:solidFill>
              </a:rPr>
              <a:t> </a:t>
            </a:r>
            <a:r>
              <a:rPr lang="en-US" sz="2400" dirty="0"/>
              <a:t>is the </a:t>
            </a:r>
            <a:r>
              <a:rPr lang="en-US" sz="2400" b="1" i="1" dirty="0">
                <a:solidFill>
                  <a:srgbClr val="008000"/>
                </a:solidFill>
              </a:rPr>
              <a:t>product of all positive integers</a:t>
            </a:r>
            <a:r>
              <a:rPr lang="en-US" sz="2400" b="1" dirty="0"/>
              <a:t> </a:t>
            </a:r>
            <a:r>
              <a:rPr lang="en-US" sz="2400" dirty="0"/>
              <a:t>less or equal to </a:t>
            </a:r>
            <a:r>
              <a:rPr lang="en-US" sz="2400" b="1" i="1" dirty="0">
                <a:solidFill>
                  <a:srgbClr val="2C14DE"/>
                </a:solidFill>
                <a:latin typeface="Times New Roman" panose="02020603050405020304" pitchFamily="18" charset="0"/>
              </a:rPr>
              <a:t>n</a:t>
            </a:r>
          </a:p>
          <a:p>
            <a:pPr marL="0" indent="0" algn="just">
              <a:spcBef>
                <a:spcPct val="0"/>
              </a:spcBef>
              <a:buClr>
                <a:schemeClr val="tx1"/>
              </a:buClr>
            </a:pPr>
            <a:endParaRPr lang="en-US" sz="2400" b="1" i="1" dirty="0">
              <a:latin typeface="Times New Roman" panose="02020603050405020304" pitchFamily="18" charset="0"/>
            </a:endParaRPr>
          </a:p>
          <a:p>
            <a:pPr marL="0" indent="0">
              <a:buClr>
                <a:schemeClr val="tx1"/>
              </a:buClr>
            </a:pPr>
            <a:r>
              <a:rPr lang="en-US" sz="2400" dirty="0"/>
              <a:t> Factorial of </a:t>
            </a:r>
            <a:r>
              <a:rPr lang="en-US" sz="2400" b="1" i="1" dirty="0">
                <a:solidFill>
                  <a:srgbClr val="2C14DE"/>
                </a:solidFill>
                <a:latin typeface="Times New Roman" panose="02020603050405020304" pitchFamily="18" charset="0"/>
              </a:rPr>
              <a:t>n</a:t>
            </a:r>
            <a:r>
              <a:rPr lang="en-US" sz="2400" dirty="0"/>
              <a:t> is denoted by </a:t>
            </a:r>
            <a:r>
              <a:rPr lang="en-US" sz="2400" b="1" i="1" dirty="0">
                <a:solidFill>
                  <a:srgbClr val="2C14DE"/>
                </a:solidFill>
                <a:latin typeface="Times New Roman" panose="02020603050405020304" pitchFamily="18" charset="0"/>
              </a:rPr>
              <a:t>n</a:t>
            </a:r>
            <a:r>
              <a:rPr lang="en-US" sz="2400" b="1" dirty="0">
                <a:solidFill>
                  <a:srgbClr val="2C14DE"/>
                </a:solidFill>
                <a:latin typeface="Times New Roman" panose="02020603050405020304" pitchFamily="18" charset="0"/>
              </a:rPr>
              <a:t>!</a:t>
            </a:r>
          </a:p>
          <a:p>
            <a:pPr marL="0" indent="0">
              <a:buClr>
                <a:schemeClr val="tx1"/>
              </a:buClr>
            </a:pPr>
            <a:endParaRPr lang="en-US" sz="2400" b="1" dirty="0">
              <a:latin typeface="Times New Roman" panose="02020603050405020304" pitchFamily="18" charset="0"/>
            </a:endParaRPr>
          </a:p>
          <a:p>
            <a:pPr marL="0" indent="0">
              <a:buClr>
                <a:schemeClr val="tx1"/>
              </a:buClr>
            </a:pPr>
            <a:r>
              <a:rPr lang="en-US" sz="2400" dirty="0"/>
              <a:t> The factorial of </a:t>
            </a:r>
            <a:r>
              <a:rPr lang="en-US" sz="2400" b="1" dirty="0">
                <a:solidFill>
                  <a:srgbClr val="2C14DE"/>
                </a:solidFill>
              </a:rPr>
              <a:t>0</a:t>
            </a:r>
            <a:r>
              <a:rPr lang="en-US" sz="2400" dirty="0"/>
              <a:t> is= </a:t>
            </a:r>
            <a:r>
              <a:rPr lang="en-US" sz="2400" b="1" dirty="0">
                <a:solidFill>
                  <a:srgbClr val="2C14DE"/>
                </a:solidFill>
              </a:rPr>
              <a:t>1</a:t>
            </a:r>
            <a:endParaRPr lang="en-US" sz="2400" b="1" dirty="0"/>
          </a:p>
          <a:p>
            <a:pPr marL="0" indent="0">
              <a:buFontTx/>
              <a:buNone/>
            </a:pPr>
            <a:r>
              <a:rPr lang="en-US" sz="2400" dirty="0">
                <a:solidFill>
                  <a:srgbClr val="2F1BC7"/>
                </a:solidFill>
              </a:rPr>
              <a:t>           </a:t>
            </a:r>
            <a:r>
              <a:rPr lang="en-US" sz="2400" b="1" dirty="0">
                <a:solidFill>
                  <a:srgbClr val="2F1BC7"/>
                </a:solidFill>
                <a:latin typeface="Times New Roman" panose="02020603050405020304" pitchFamily="18" charset="0"/>
              </a:rPr>
              <a:t>0</a:t>
            </a:r>
            <a:r>
              <a:rPr lang="en-US" sz="2400" b="1" i="1" dirty="0">
                <a:solidFill>
                  <a:srgbClr val="2F1BC7"/>
                </a:solidFill>
                <a:latin typeface="Times New Roman" panose="02020603050405020304" pitchFamily="18" charset="0"/>
              </a:rPr>
              <a:t> </a:t>
            </a:r>
            <a:r>
              <a:rPr lang="en-US" sz="2400" b="1" dirty="0">
                <a:solidFill>
                  <a:srgbClr val="2F1BC7"/>
                </a:solidFill>
                <a:latin typeface="Times New Roman" panose="02020603050405020304" pitchFamily="18" charset="0"/>
              </a:rPr>
              <a:t>!</a:t>
            </a:r>
            <a:r>
              <a:rPr lang="en-US" sz="2400" b="1" i="1" dirty="0">
                <a:solidFill>
                  <a:srgbClr val="2F1BC7"/>
                </a:solidFill>
                <a:latin typeface="Times New Roman" panose="02020603050405020304" pitchFamily="18" charset="0"/>
              </a:rPr>
              <a:t> </a:t>
            </a:r>
            <a:r>
              <a:rPr lang="en-US" sz="2400" b="1" i="1" dirty="0">
                <a:latin typeface="Times New Roman" panose="02020603050405020304" pitchFamily="18" charset="0"/>
              </a:rPr>
              <a:t>= </a:t>
            </a:r>
            <a:r>
              <a:rPr lang="en-US" sz="2400" b="1" dirty="0">
                <a:solidFill>
                  <a:srgbClr val="2F1BC7"/>
                </a:solidFill>
                <a:latin typeface="Times New Roman" panose="02020603050405020304" pitchFamily="18" charset="0"/>
              </a:rPr>
              <a:t>1</a:t>
            </a:r>
          </a:p>
          <a:p>
            <a:pPr marL="0" indent="0">
              <a:spcBef>
                <a:spcPct val="0"/>
              </a:spcBef>
              <a:buFontTx/>
              <a:buNone/>
            </a:pPr>
            <a:r>
              <a:rPr lang="en-US" sz="2400" b="1" dirty="0">
                <a:solidFill>
                  <a:srgbClr val="2F1BC7"/>
                </a:solidFill>
              </a:rPr>
              <a:t>           </a:t>
            </a:r>
            <a:r>
              <a:rPr lang="en-US" sz="2400" b="1" i="1" dirty="0">
                <a:solidFill>
                  <a:srgbClr val="2F1BC7"/>
                </a:solidFill>
                <a:latin typeface="Times New Roman" panose="02020603050405020304" pitchFamily="18" charset="0"/>
              </a:rPr>
              <a:t>n </a:t>
            </a:r>
            <a:r>
              <a:rPr lang="en-US" sz="2400" b="1" dirty="0">
                <a:solidFill>
                  <a:srgbClr val="2F1BC7"/>
                </a:solidFill>
                <a:latin typeface="Times New Roman" panose="02020603050405020304" pitchFamily="18" charset="0"/>
              </a:rPr>
              <a:t>!</a:t>
            </a:r>
            <a:r>
              <a:rPr lang="en-US" sz="2400" b="1" i="1" dirty="0">
                <a:solidFill>
                  <a:srgbClr val="2F1BC7"/>
                </a:solidFill>
                <a:latin typeface="Times New Roman" panose="02020603050405020304" pitchFamily="18" charset="0"/>
              </a:rPr>
              <a:t> </a:t>
            </a:r>
            <a:r>
              <a:rPr lang="en-US" sz="2400" b="1" i="1" dirty="0">
                <a:latin typeface="Times New Roman" panose="02020603050405020304" pitchFamily="18" charset="0"/>
              </a:rPr>
              <a:t>= </a:t>
            </a:r>
            <a:r>
              <a:rPr lang="en-US" sz="2400" b="1" i="1" dirty="0">
                <a:solidFill>
                  <a:srgbClr val="2F1BC7"/>
                </a:solidFill>
                <a:latin typeface="Times New Roman" panose="02020603050405020304" pitchFamily="18" charset="0"/>
              </a:rPr>
              <a:t>n </a:t>
            </a:r>
            <a:r>
              <a:rPr lang="en-US" sz="2400" dirty="0">
                <a:solidFill>
                  <a:srgbClr val="2F1BC7"/>
                </a:solidFill>
              </a:rPr>
              <a:t>x</a:t>
            </a:r>
            <a:r>
              <a:rPr lang="en-US" sz="2400" b="1" dirty="0">
                <a:solidFill>
                  <a:srgbClr val="2F1BC7"/>
                </a:solidFill>
                <a:latin typeface="Times New Roman" panose="02020603050405020304" pitchFamily="18" charset="0"/>
              </a:rPr>
              <a:t> (</a:t>
            </a:r>
            <a:r>
              <a:rPr lang="en-US" sz="2400" b="1" i="1" dirty="0">
                <a:solidFill>
                  <a:srgbClr val="2F1BC7"/>
                </a:solidFill>
                <a:latin typeface="Times New Roman" panose="02020603050405020304" pitchFamily="18" charset="0"/>
              </a:rPr>
              <a:t>n-</a:t>
            </a:r>
            <a:r>
              <a:rPr lang="en-US" sz="2400" b="1" dirty="0">
                <a:solidFill>
                  <a:srgbClr val="2F1BC7"/>
                </a:solidFill>
                <a:latin typeface="Times New Roman" panose="02020603050405020304" pitchFamily="18" charset="0"/>
              </a:rPr>
              <a:t>1) </a:t>
            </a:r>
            <a:r>
              <a:rPr lang="en-US" sz="2400" dirty="0"/>
              <a:t>x</a:t>
            </a:r>
            <a:r>
              <a:rPr lang="en-US" sz="2400" b="1" dirty="0">
                <a:latin typeface="Times New Roman" panose="02020603050405020304" pitchFamily="18" charset="0"/>
              </a:rPr>
              <a:t>  … </a:t>
            </a:r>
            <a:r>
              <a:rPr lang="en-US" sz="2400" dirty="0"/>
              <a:t>x</a:t>
            </a:r>
            <a:r>
              <a:rPr lang="en-US" sz="2400" b="1" dirty="0">
                <a:latin typeface="Times New Roman" panose="02020603050405020304" pitchFamily="18" charset="0"/>
              </a:rPr>
              <a:t> </a:t>
            </a:r>
            <a:r>
              <a:rPr lang="en-US" sz="2400" b="1" dirty="0">
                <a:solidFill>
                  <a:srgbClr val="2F1BC7"/>
                </a:solidFill>
                <a:latin typeface="Times New Roman" panose="02020603050405020304" pitchFamily="18" charset="0"/>
              </a:rPr>
              <a:t>2</a:t>
            </a:r>
            <a:r>
              <a:rPr lang="en-US" sz="2400" b="1" dirty="0">
                <a:latin typeface="Times New Roman" panose="02020603050405020304" pitchFamily="18" charset="0"/>
              </a:rPr>
              <a:t> </a:t>
            </a:r>
            <a:r>
              <a:rPr lang="en-US" sz="2400" dirty="0"/>
              <a:t>x</a:t>
            </a:r>
            <a:r>
              <a:rPr lang="en-US" sz="2400" b="1" dirty="0">
                <a:latin typeface="Times New Roman" panose="02020603050405020304" pitchFamily="18" charset="0"/>
              </a:rPr>
              <a:t> </a:t>
            </a:r>
            <a:r>
              <a:rPr lang="en-US" sz="2400" b="1" dirty="0">
                <a:solidFill>
                  <a:srgbClr val="2F1BC7"/>
                </a:solidFill>
                <a:latin typeface="Times New Roman" panose="02020603050405020304" pitchFamily="18" charset="0"/>
              </a:rPr>
              <a:t>1</a:t>
            </a:r>
            <a:r>
              <a:rPr lang="en-US" sz="2400" b="1" dirty="0">
                <a:latin typeface="Times New Roman" panose="02020603050405020304" pitchFamily="18" charset="0"/>
              </a:rPr>
              <a:t>  </a:t>
            </a:r>
            <a:r>
              <a:rPr lang="en-US" sz="2400" dirty="0"/>
              <a:t>if </a:t>
            </a:r>
            <a:r>
              <a:rPr lang="en-US" sz="2400" b="1" dirty="0">
                <a:latin typeface="Times New Roman" panose="02020603050405020304" pitchFamily="18" charset="0"/>
              </a:rPr>
              <a:t> </a:t>
            </a:r>
            <a:r>
              <a:rPr lang="en-US" sz="2400" b="1" i="1" dirty="0">
                <a:latin typeface="Times New Roman" panose="02020603050405020304" pitchFamily="18" charset="0"/>
              </a:rPr>
              <a:t>n</a:t>
            </a:r>
            <a:r>
              <a:rPr lang="en-US" sz="2400" b="1" dirty="0">
                <a:latin typeface="Times New Roman" panose="02020603050405020304" pitchFamily="18" charset="0"/>
              </a:rPr>
              <a:t> &gt; 0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746EA45-AA2F-8E05-E3CA-2D37ABE946A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Object Oriented Programming-Spring 24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52E3A03-BB54-93FC-4DD7-9974626DE4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845F5A-061D-4825-9AE9-D7794091C6CF}" type="slidenum">
              <a:rPr lang="en-US" smtClean="0"/>
              <a:t>17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182914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AB57A1-F46B-F2D5-3D23-3A977307DEC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The Recursive Factorial Function</a:t>
            </a:r>
            <a:endParaRPr lang="en-PK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8648D14-A92A-0DBF-DD0D-D4D66A8C602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pPr algn="just" eaLnBrk="1" hangingPunct="1">
              <a:lnSpc>
                <a:spcPct val="90000"/>
              </a:lnSpc>
            </a:pPr>
            <a:r>
              <a:rPr lang="en-US" b="1" dirty="0"/>
              <a:t>Factorial</a:t>
            </a:r>
            <a:r>
              <a:rPr lang="en-US" dirty="0"/>
              <a:t> of </a:t>
            </a:r>
            <a:r>
              <a:rPr lang="en-US" b="1" i="1" dirty="0">
                <a:solidFill>
                  <a:srgbClr val="2F1BC7"/>
                </a:solidFill>
                <a:latin typeface="Times New Roman" panose="02020603050405020304" pitchFamily="18" charset="0"/>
              </a:rPr>
              <a:t>n</a:t>
            </a:r>
            <a:r>
              <a:rPr lang="en-US" dirty="0"/>
              <a:t> </a:t>
            </a:r>
            <a:r>
              <a:rPr lang="en-US" b="1" dirty="0"/>
              <a:t>can be expressed </a:t>
            </a:r>
            <a:r>
              <a:rPr lang="en-US" dirty="0"/>
              <a:t>in terms of the </a:t>
            </a:r>
            <a:r>
              <a:rPr lang="en-US" b="1" dirty="0"/>
              <a:t>factorial of </a:t>
            </a:r>
            <a:r>
              <a:rPr lang="en-US" b="1" i="1" dirty="0">
                <a:latin typeface="Times New Roman" panose="02020603050405020304" pitchFamily="18" charset="0"/>
              </a:rPr>
              <a:t>n-</a:t>
            </a:r>
            <a:r>
              <a:rPr lang="en-US" b="1" dirty="0">
                <a:latin typeface="Times New Roman" panose="02020603050405020304" pitchFamily="18" charset="0"/>
              </a:rPr>
              <a:t>1</a:t>
            </a:r>
          </a:p>
          <a:p>
            <a:pPr eaLnBrk="1" hangingPunct="1">
              <a:lnSpc>
                <a:spcPct val="90000"/>
              </a:lnSpc>
              <a:buFontTx/>
              <a:buNone/>
            </a:pPr>
            <a:r>
              <a:rPr lang="en-US" b="1" dirty="0">
                <a:latin typeface="Times New Roman" panose="02020603050405020304" pitchFamily="18" charset="0"/>
              </a:rPr>
              <a:t>          </a:t>
            </a:r>
            <a:r>
              <a:rPr lang="en-US" b="1" dirty="0">
                <a:solidFill>
                  <a:srgbClr val="2F1BC7"/>
                </a:solidFill>
                <a:latin typeface="Times New Roman" panose="02020603050405020304" pitchFamily="18" charset="0"/>
              </a:rPr>
              <a:t>0</a:t>
            </a:r>
            <a:r>
              <a:rPr lang="en-US" b="1" dirty="0">
                <a:latin typeface="Times New Roman" panose="02020603050405020304" pitchFamily="18" charset="0"/>
              </a:rPr>
              <a:t> ! </a:t>
            </a:r>
            <a:r>
              <a:rPr lang="en-US" dirty="0">
                <a:latin typeface="Times New Roman" panose="02020603050405020304" pitchFamily="18" charset="0"/>
              </a:rPr>
              <a:t>=</a:t>
            </a:r>
            <a:r>
              <a:rPr lang="en-US" b="1" dirty="0">
                <a:latin typeface="Times New Roman" panose="02020603050405020304" pitchFamily="18" charset="0"/>
              </a:rPr>
              <a:t> </a:t>
            </a:r>
            <a:r>
              <a:rPr lang="en-US" b="1" dirty="0">
                <a:solidFill>
                  <a:srgbClr val="2F1BC7"/>
                </a:solidFill>
                <a:latin typeface="Times New Roman" panose="02020603050405020304" pitchFamily="18" charset="0"/>
              </a:rPr>
              <a:t>1</a:t>
            </a:r>
          </a:p>
          <a:p>
            <a:pPr eaLnBrk="1" hangingPunct="1">
              <a:lnSpc>
                <a:spcPct val="90000"/>
              </a:lnSpc>
              <a:spcBef>
                <a:spcPct val="0"/>
              </a:spcBef>
              <a:buFontTx/>
              <a:buNone/>
            </a:pPr>
            <a:r>
              <a:rPr lang="en-US" dirty="0"/>
              <a:t>         </a:t>
            </a:r>
            <a:r>
              <a:rPr lang="en-US" b="1" i="1" dirty="0">
                <a:solidFill>
                  <a:srgbClr val="2F1BC7"/>
                </a:solidFill>
                <a:latin typeface="Times New Roman" panose="02020603050405020304" pitchFamily="18" charset="0"/>
              </a:rPr>
              <a:t>n </a:t>
            </a:r>
            <a:r>
              <a:rPr lang="en-US" dirty="0">
                <a:solidFill>
                  <a:srgbClr val="2F1BC7"/>
                </a:solidFill>
              </a:rPr>
              <a:t>!</a:t>
            </a:r>
            <a:r>
              <a:rPr lang="en-US" dirty="0"/>
              <a:t> = </a:t>
            </a:r>
            <a:r>
              <a:rPr lang="en-US" b="1" i="1" dirty="0">
                <a:solidFill>
                  <a:srgbClr val="2F1BC7"/>
                </a:solidFill>
                <a:latin typeface="Times New Roman" panose="02020603050405020304" pitchFamily="18" charset="0"/>
              </a:rPr>
              <a:t>n</a:t>
            </a:r>
            <a:r>
              <a:rPr lang="en-US" dirty="0">
                <a:solidFill>
                  <a:srgbClr val="2F1BC7"/>
                </a:solidFill>
              </a:rPr>
              <a:t> x </a:t>
            </a:r>
            <a:r>
              <a:rPr lang="en-US" b="1" dirty="0">
                <a:solidFill>
                  <a:srgbClr val="2F1BC7"/>
                </a:solidFill>
                <a:latin typeface="Times New Roman" panose="02020603050405020304" pitchFamily="18" charset="0"/>
              </a:rPr>
              <a:t>(</a:t>
            </a:r>
            <a:r>
              <a:rPr lang="en-US" b="1" i="1" dirty="0">
                <a:solidFill>
                  <a:srgbClr val="2F1BC7"/>
                </a:solidFill>
                <a:latin typeface="Times New Roman" panose="02020603050405020304" pitchFamily="18" charset="0"/>
              </a:rPr>
              <a:t>n-</a:t>
            </a:r>
            <a:r>
              <a:rPr lang="en-US" b="1" dirty="0">
                <a:solidFill>
                  <a:srgbClr val="2F1BC7"/>
                </a:solidFill>
                <a:latin typeface="Times New Roman" panose="02020603050405020304" pitchFamily="18" charset="0"/>
              </a:rPr>
              <a:t>1)</a:t>
            </a:r>
            <a:r>
              <a:rPr lang="en-US" dirty="0">
                <a:solidFill>
                  <a:srgbClr val="2F1BC7"/>
                </a:solidFill>
              </a:rPr>
              <a:t> !</a:t>
            </a:r>
          </a:p>
          <a:p>
            <a:pPr eaLnBrk="1" hangingPunct="1">
              <a:lnSpc>
                <a:spcPct val="90000"/>
              </a:lnSpc>
              <a:spcBef>
                <a:spcPct val="0"/>
              </a:spcBef>
            </a:pPr>
            <a:r>
              <a:rPr lang="en-US" dirty="0"/>
              <a:t>The </a:t>
            </a:r>
            <a:r>
              <a:rPr lang="en-US" b="1" u="sng" dirty="0"/>
              <a:t>base case </a:t>
            </a:r>
            <a:r>
              <a:rPr lang="en-US" dirty="0"/>
              <a:t>is</a:t>
            </a:r>
            <a:r>
              <a:rPr lang="en-US" b="1" i="1" dirty="0">
                <a:latin typeface="Times New Roman" panose="02020603050405020304" pitchFamily="18" charset="0"/>
              </a:rPr>
              <a:t> </a:t>
            </a:r>
            <a:r>
              <a:rPr lang="en-US" b="1" i="1" dirty="0">
                <a:solidFill>
                  <a:srgbClr val="2F1BC7"/>
                </a:solidFill>
                <a:latin typeface="Times New Roman" panose="02020603050405020304" pitchFamily="18" charset="0"/>
              </a:rPr>
              <a:t>n </a:t>
            </a:r>
            <a:r>
              <a:rPr lang="en-US" b="1" i="1" dirty="0">
                <a:latin typeface="Times New Roman" panose="02020603050405020304" pitchFamily="18" charset="0"/>
              </a:rPr>
              <a:t>=</a:t>
            </a:r>
            <a:r>
              <a:rPr lang="en-US" b="1" i="1" dirty="0">
                <a:solidFill>
                  <a:srgbClr val="2F1BC7"/>
                </a:solidFill>
                <a:latin typeface="Times New Roman" panose="02020603050405020304" pitchFamily="18" charset="0"/>
              </a:rPr>
              <a:t> 0</a:t>
            </a:r>
          </a:p>
          <a:p>
            <a:pPr eaLnBrk="1" hangingPunct="1">
              <a:lnSpc>
                <a:spcPct val="90000"/>
              </a:lnSpc>
              <a:spcBef>
                <a:spcPct val="0"/>
              </a:spcBef>
            </a:pPr>
            <a:endParaRPr lang="en-US" b="1" i="1" dirty="0">
              <a:solidFill>
                <a:srgbClr val="2F1BC7"/>
              </a:solidFill>
              <a:latin typeface="Times New Roman" panose="02020603050405020304" pitchFamily="18" charset="0"/>
            </a:endParaRPr>
          </a:p>
          <a:p>
            <a:pPr eaLnBrk="1" hangingPunct="1">
              <a:lnSpc>
                <a:spcPct val="90000"/>
              </a:lnSpc>
              <a:spcBef>
                <a:spcPct val="0"/>
              </a:spcBef>
            </a:pPr>
            <a:endParaRPr lang="en-US" b="1" i="1" dirty="0">
              <a:solidFill>
                <a:srgbClr val="2F1BC7"/>
              </a:solidFill>
              <a:latin typeface="Times New Roman" panose="02020603050405020304" pitchFamily="18" charset="0"/>
            </a:endParaRPr>
          </a:p>
          <a:p>
            <a:pPr eaLnBrk="1" hangingPunct="1">
              <a:lnSpc>
                <a:spcPct val="90000"/>
              </a:lnSpc>
              <a:spcBef>
                <a:spcPct val="0"/>
              </a:spcBef>
            </a:pPr>
            <a:r>
              <a:rPr lang="en-US" b="1" u="sng" dirty="0">
                <a:solidFill>
                  <a:srgbClr val="B80000"/>
                </a:solidFill>
              </a:rPr>
              <a:t>Recursive function:</a:t>
            </a:r>
            <a:br>
              <a:rPr lang="en-US" dirty="0"/>
            </a:br>
            <a:endParaRPr lang="en-US" dirty="0">
              <a:solidFill>
                <a:srgbClr val="008000"/>
              </a:solidFill>
            </a:endParaRPr>
          </a:p>
          <a:p>
            <a:pPr eaLnBrk="1" hangingPunct="1">
              <a:lnSpc>
                <a:spcPct val="90000"/>
              </a:lnSpc>
              <a:spcBef>
                <a:spcPct val="0"/>
              </a:spcBef>
              <a:buFontTx/>
              <a:buNone/>
            </a:pPr>
            <a:r>
              <a:rPr lang="en-US" dirty="0">
                <a:solidFill>
                  <a:srgbClr val="008000"/>
                </a:solidFill>
              </a:rPr>
              <a:t>    </a:t>
            </a:r>
            <a:r>
              <a:rPr lang="en-US" b="1" dirty="0">
                <a:latin typeface="Courier New" panose="02070309020205020404" pitchFamily="49" charset="0"/>
              </a:rPr>
              <a:t>int factorial(int n)</a:t>
            </a:r>
          </a:p>
          <a:p>
            <a:pPr eaLnBrk="1" hangingPunct="1">
              <a:lnSpc>
                <a:spcPct val="90000"/>
              </a:lnSpc>
              <a:spcBef>
                <a:spcPct val="0"/>
              </a:spcBef>
              <a:buFontTx/>
              <a:buNone/>
            </a:pPr>
            <a:r>
              <a:rPr lang="en-US" b="1" dirty="0">
                <a:latin typeface="Courier New" panose="02070309020205020404" pitchFamily="49" charset="0"/>
              </a:rPr>
              <a:t>  { </a:t>
            </a:r>
          </a:p>
          <a:p>
            <a:pPr eaLnBrk="1" hangingPunct="1">
              <a:lnSpc>
                <a:spcPct val="90000"/>
              </a:lnSpc>
              <a:spcBef>
                <a:spcPct val="0"/>
              </a:spcBef>
              <a:buFontTx/>
              <a:buNone/>
            </a:pPr>
            <a:r>
              <a:rPr lang="en-US" b="1" dirty="0">
                <a:latin typeface="Courier New" panose="02070309020205020404" pitchFamily="49" charset="0"/>
              </a:rPr>
              <a:t>		if (n == 0) </a:t>
            </a:r>
          </a:p>
          <a:p>
            <a:pPr eaLnBrk="1" hangingPunct="1">
              <a:lnSpc>
                <a:spcPct val="90000"/>
              </a:lnSpc>
              <a:spcBef>
                <a:spcPct val="0"/>
              </a:spcBef>
              <a:buFontTx/>
              <a:buNone/>
            </a:pPr>
            <a:r>
              <a:rPr lang="en-US" b="1" dirty="0">
                <a:latin typeface="Courier New" panose="02070309020205020404" pitchFamily="49" charset="0"/>
              </a:rPr>
              <a:t>			return 1;</a:t>
            </a:r>
          </a:p>
          <a:p>
            <a:pPr eaLnBrk="1" hangingPunct="1">
              <a:lnSpc>
                <a:spcPct val="90000"/>
              </a:lnSpc>
              <a:spcBef>
                <a:spcPct val="0"/>
              </a:spcBef>
              <a:buFontTx/>
              <a:buNone/>
            </a:pPr>
            <a:r>
              <a:rPr lang="en-US" b="1" dirty="0">
                <a:latin typeface="Courier New" panose="02070309020205020404" pitchFamily="49" charset="0"/>
              </a:rPr>
              <a:t>    else </a:t>
            </a:r>
          </a:p>
          <a:p>
            <a:pPr eaLnBrk="1" hangingPunct="1">
              <a:lnSpc>
                <a:spcPct val="90000"/>
              </a:lnSpc>
              <a:spcBef>
                <a:spcPct val="0"/>
              </a:spcBef>
              <a:buFontTx/>
              <a:buNone/>
            </a:pPr>
            <a:r>
              <a:rPr lang="en-US" b="1" dirty="0">
                <a:latin typeface="Courier New" panose="02070309020205020404" pitchFamily="49" charset="0"/>
              </a:rPr>
              <a:t>        return n * factorial(n-1);</a:t>
            </a:r>
          </a:p>
          <a:p>
            <a:pPr eaLnBrk="1" hangingPunct="1">
              <a:lnSpc>
                <a:spcPct val="90000"/>
              </a:lnSpc>
              <a:spcBef>
                <a:spcPct val="0"/>
              </a:spcBef>
              <a:buFontTx/>
              <a:buNone/>
            </a:pPr>
            <a:r>
              <a:rPr lang="en-US" b="1" dirty="0">
                <a:latin typeface="Courier New" panose="02070309020205020404" pitchFamily="49" charset="0"/>
              </a:rPr>
              <a:t>  }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65CDEF4-E3AE-BE5B-E65C-636733E1EC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Object Oriented Programming-Spring 24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72F2A52-96E1-46A8-3B8F-DFF8F44494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845F5A-061D-4825-9AE9-D7794091C6CF}" type="slidenum">
              <a:rPr lang="en-US" smtClean="0"/>
              <a:t>18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79052086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C67DBB-5BFD-6A8C-582E-2039F2F08B5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Character count - Recursive</a:t>
            </a:r>
            <a:endParaRPr lang="en-PK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F8C1ABF-E9D9-2736-AC40-64C9FEB753F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Object Oriented Programming-Spring 24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5F4EB1A-2779-6B22-B9DB-DDDBF4DBD9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845F5A-061D-4825-9AE9-D7794091C6CF}" type="slidenum">
              <a:rPr lang="en-US" smtClean="0"/>
              <a:t>19</a:t>
            </a:fld>
            <a:endParaRPr lang="en-US" dirty="0"/>
          </a:p>
        </p:txBody>
      </p:sp>
      <p:sp>
        <p:nvSpPr>
          <p:cNvPr id="6" name="Rectangle 3">
            <a:extLst>
              <a:ext uri="{FF2B5EF4-FFF2-40B4-BE49-F238E27FC236}">
                <a16:creationId xmlns:a16="http://schemas.microsoft.com/office/drawing/2014/main" id="{8FB7BD82-F0C8-401A-BF67-8E04E717A4DE}"/>
              </a:ext>
            </a:extLst>
          </p:cNvPr>
          <p:cNvSpPr txBox="1">
            <a:spLocks noChangeArrowheads="1"/>
          </p:cNvSpPr>
          <p:nvPr/>
        </p:nvSpPr>
        <p:spPr>
          <a:xfrm>
            <a:off x="2819400" y="1386613"/>
            <a:ext cx="6553200" cy="4969739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txBody>
          <a:bodyPr vert="horz" lIns="91440" tIns="45720" rIns="91440" bIns="45720" rtlCol="0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en-US" sz="1800" b="1" dirty="0">
                <a:latin typeface="Courier New" panose="02070309020205020404" pitchFamily="49" charset="0"/>
              </a:rPr>
              <a:t>#include &lt;</a:t>
            </a:r>
            <a:r>
              <a:rPr lang="en-US" sz="1800" b="1" dirty="0" err="1">
                <a:latin typeface="Courier New" panose="02070309020205020404" pitchFamily="49" charset="0"/>
              </a:rPr>
              <a:t>iostream</a:t>
            </a:r>
            <a:r>
              <a:rPr lang="en-US" sz="1800" b="1" dirty="0">
                <a:latin typeface="Courier New" panose="02070309020205020404" pitchFamily="49" charset="0"/>
              </a:rPr>
              <a:t>&gt;</a:t>
            </a:r>
          </a:p>
          <a:p>
            <a:pPr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en-US" sz="1800" b="1" dirty="0">
                <a:latin typeface="Courier New" panose="02070309020205020404" pitchFamily="49" charset="0"/>
              </a:rPr>
              <a:t>using namespace </a:t>
            </a:r>
            <a:r>
              <a:rPr lang="en-US" sz="1800" b="1" dirty="0" err="1">
                <a:latin typeface="Courier New" panose="02070309020205020404" pitchFamily="49" charset="0"/>
              </a:rPr>
              <a:t>std</a:t>
            </a:r>
            <a:r>
              <a:rPr lang="en-US" sz="1800" b="1" dirty="0">
                <a:latin typeface="Courier New" panose="02070309020205020404" pitchFamily="49" charset="0"/>
              </a:rPr>
              <a:t>;</a:t>
            </a:r>
          </a:p>
          <a:p>
            <a:pPr>
              <a:lnSpc>
                <a:spcPct val="80000"/>
              </a:lnSpc>
              <a:buFont typeface="Wingdings" panose="05000000000000000000" pitchFamily="2" charset="2"/>
              <a:buNone/>
            </a:pPr>
            <a:endParaRPr lang="en-US" sz="1800" b="1" dirty="0">
              <a:latin typeface="Courier New" panose="02070309020205020404" pitchFamily="49" charset="0"/>
            </a:endParaRPr>
          </a:p>
          <a:p>
            <a:pPr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en-US" sz="1800" b="1" dirty="0">
                <a:latin typeface="Courier New" panose="02070309020205020404" pitchFamily="49" charset="0"/>
              </a:rPr>
              <a:t>// Function prototype</a:t>
            </a:r>
          </a:p>
          <a:p>
            <a:pPr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en-US" sz="1800" b="1" dirty="0" err="1">
                <a:latin typeface="Courier New" panose="02070309020205020404" pitchFamily="49" charset="0"/>
              </a:rPr>
              <a:t>int</a:t>
            </a:r>
            <a:r>
              <a:rPr lang="en-US" sz="1800" b="1" dirty="0">
                <a:latin typeface="Courier New" panose="02070309020205020404" pitchFamily="49" charset="0"/>
              </a:rPr>
              <a:t> </a:t>
            </a:r>
            <a:r>
              <a:rPr lang="en-US" sz="1800" b="1" dirty="0" err="1">
                <a:latin typeface="Courier New" panose="02070309020205020404" pitchFamily="49" charset="0"/>
              </a:rPr>
              <a:t>numChars</a:t>
            </a:r>
            <a:r>
              <a:rPr lang="en-US" sz="1800" b="1" dirty="0">
                <a:latin typeface="Courier New" panose="02070309020205020404" pitchFamily="49" charset="0"/>
              </a:rPr>
              <a:t>(char, char [], </a:t>
            </a:r>
            <a:r>
              <a:rPr lang="en-US" sz="1800" b="1" dirty="0" err="1">
                <a:latin typeface="Courier New" panose="02070309020205020404" pitchFamily="49" charset="0"/>
              </a:rPr>
              <a:t>int</a:t>
            </a:r>
            <a:r>
              <a:rPr lang="en-US" sz="1800" b="1" dirty="0">
                <a:latin typeface="Courier New" panose="02070309020205020404" pitchFamily="49" charset="0"/>
              </a:rPr>
              <a:t>);</a:t>
            </a:r>
          </a:p>
          <a:p>
            <a:pPr>
              <a:lnSpc>
                <a:spcPct val="80000"/>
              </a:lnSpc>
              <a:buFont typeface="Wingdings" panose="05000000000000000000" pitchFamily="2" charset="2"/>
              <a:buNone/>
            </a:pPr>
            <a:endParaRPr lang="en-US" sz="1800" b="1" dirty="0">
              <a:latin typeface="Courier New" panose="02070309020205020404" pitchFamily="49" charset="0"/>
            </a:endParaRPr>
          </a:p>
          <a:p>
            <a:pPr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en-US" sz="1800" b="1" dirty="0" err="1">
                <a:latin typeface="Courier New" panose="02070309020205020404" pitchFamily="49" charset="0"/>
              </a:rPr>
              <a:t>int</a:t>
            </a:r>
            <a:r>
              <a:rPr lang="en-US" sz="1800" b="1" dirty="0">
                <a:latin typeface="Courier New" panose="02070309020205020404" pitchFamily="49" charset="0"/>
              </a:rPr>
              <a:t> main()</a:t>
            </a:r>
          </a:p>
          <a:p>
            <a:pPr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en-US" sz="1800" b="1" dirty="0">
                <a:latin typeface="Courier New" panose="02070309020205020404" pitchFamily="49" charset="0"/>
              </a:rPr>
              <a:t>{</a:t>
            </a:r>
          </a:p>
          <a:p>
            <a:pPr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en-US" sz="1800" b="1" dirty="0">
                <a:latin typeface="Courier New" panose="02070309020205020404" pitchFamily="49" charset="0"/>
              </a:rPr>
              <a:t>   char array[] = "</a:t>
            </a:r>
            <a:r>
              <a:rPr lang="en-US" sz="1800" b="1" dirty="0" err="1">
                <a:latin typeface="Courier New" panose="02070309020205020404" pitchFamily="49" charset="0"/>
              </a:rPr>
              <a:t>abcddddef</a:t>
            </a:r>
            <a:r>
              <a:rPr lang="en-US" sz="1800" b="1" dirty="0">
                <a:latin typeface="Courier New" panose="02070309020205020404" pitchFamily="49" charset="0"/>
              </a:rPr>
              <a:t>";</a:t>
            </a:r>
          </a:p>
          <a:p>
            <a:pPr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en-US" sz="1800" b="1" dirty="0">
                <a:latin typeface="Courier New" panose="02070309020205020404" pitchFamily="49" charset="0"/>
              </a:rPr>
              <a:t>   </a:t>
            </a:r>
          </a:p>
          <a:p>
            <a:pPr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en-US" sz="1800" b="1" dirty="0">
                <a:latin typeface="Courier New" panose="02070309020205020404" pitchFamily="49" charset="0"/>
              </a:rPr>
              <a:t>   /* Display the number of times the letter 'd' appears in the string. */</a:t>
            </a:r>
          </a:p>
          <a:p>
            <a:pPr>
              <a:lnSpc>
                <a:spcPct val="80000"/>
              </a:lnSpc>
              <a:buFont typeface="Wingdings" panose="05000000000000000000" pitchFamily="2" charset="2"/>
              <a:buNone/>
            </a:pPr>
            <a:endParaRPr lang="en-US" sz="1800" b="1" dirty="0">
              <a:latin typeface="Courier New" panose="02070309020205020404" pitchFamily="49" charset="0"/>
            </a:endParaRPr>
          </a:p>
          <a:p>
            <a:pPr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en-US" sz="1800" b="1" dirty="0">
                <a:latin typeface="Courier New" panose="02070309020205020404" pitchFamily="49" charset="0"/>
              </a:rPr>
              <a:t>   </a:t>
            </a:r>
            <a:r>
              <a:rPr lang="en-US" sz="1800" b="1" dirty="0" err="1">
                <a:latin typeface="Courier New" panose="02070309020205020404" pitchFamily="49" charset="0"/>
              </a:rPr>
              <a:t>cout</a:t>
            </a:r>
            <a:r>
              <a:rPr lang="en-US" sz="1800" b="1" dirty="0">
                <a:latin typeface="Courier New" panose="02070309020205020404" pitchFamily="49" charset="0"/>
              </a:rPr>
              <a:t> &lt;&lt; "The letter d appears "</a:t>
            </a:r>
          </a:p>
          <a:p>
            <a:pPr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en-US" sz="1800" b="1" dirty="0">
                <a:latin typeface="Courier New" panose="02070309020205020404" pitchFamily="49" charset="0"/>
              </a:rPr>
              <a:t>   &lt;&lt; </a:t>
            </a:r>
            <a:r>
              <a:rPr lang="en-US" sz="1800" b="1" dirty="0" err="1">
                <a:solidFill>
                  <a:srgbClr val="FF0000"/>
                </a:solidFill>
                <a:latin typeface="Courier New" panose="02070309020205020404" pitchFamily="49" charset="0"/>
              </a:rPr>
              <a:t>numChars</a:t>
            </a:r>
            <a:r>
              <a:rPr lang="en-US" sz="1800" b="1" dirty="0">
                <a:solidFill>
                  <a:srgbClr val="FF0000"/>
                </a:solidFill>
                <a:latin typeface="Courier New" panose="02070309020205020404" pitchFamily="49" charset="0"/>
              </a:rPr>
              <a:t>('d', array, 0)</a:t>
            </a:r>
            <a:r>
              <a:rPr lang="en-US" sz="1800" b="1" dirty="0">
                <a:latin typeface="Courier New" panose="02070309020205020404" pitchFamily="49" charset="0"/>
              </a:rPr>
              <a:t> &lt;&lt; " times.\n";</a:t>
            </a:r>
          </a:p>
          <a:p>
            <a:pPr>
              <a:lnSpc>
                <a:spcPct val="80000"/>
              </a:lnSpc>
              <a:buFont typeface="Wingdings" panose="05000000000000000000" pitchFamily="2" charset="2"/>
              <a:buNone/>
            </a:pPr>
            <a:endParaRPr lang="en-US" sz="1800" b="1" dirty="0">
              <a:latin typeface="Courier New" panose="02070309020205020404" pitchFamily="49" charset="0"/>
            </a:endParaRPr>
          </a:p>
          <a:p>
            <a:pPr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en-US" sz="1800" b="1" dirty="0">
                <a:latin typeface="Courier New" panose="02070309020205020404" pitchFamily="49" charset="0"/>
              </a:rPr>
              <a:t>   return 0;</a:t>
            </a:r>
          </a:p>
          <a:p>
            <a:pPr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en-US" sz="1800" b="1" dirty="0">
                <a:latin typeface="Courier New" panose="02070309020205020404" pitchFamily="49" charset="0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3376936711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59BC28A-6C59-88D9-96AC-B5E09FA868C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Object Oriented Programming-Spring 24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6452A50-2DF8-8214-71FC-80DCD6E483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845F5A-061D-4825-9AE9-D7794091C6CF}" type="slidenum">
              <a:rPr lang="en-US" smtClean="0"/>
              <a:t>20</a:t>
            </a:fld>
            <a:endParaRPr lang="en-US" dirty="0"/>
          </a:p>
        </p:txBody>
      </p:sp>
      <p:sp>
        <p:nvSpPr>
          <p:cNvPr id="6" name="Rectangle 4">
            <a:extLst>
              <a:ext uri="{FF2B5EF4-FFF2-40B4-BE49-F238E27FC236}">
                <a16:creationId xmlns:a16="http://schemas.microsoft.com/office/drawing/2014/main" id="{59393BC2-1383-F6F8-07C8-B3A3099FE2B6}"/>
              </a:ext>
            </a:extLst>
          </p:cNvPr>
          <p:cNvSpPr>
            <a:spLocks noChangeArrowheads="1"/>
          </p:cNvSpPr>
          <p:nvPr/>
        </p:nvSpPr>
        <p:spPr bwMode="auto">
          <a:xfrm>
            <a:off x="1847022" y="0"/>
            <a:ext cx="8497956" cy="68580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txBody>
          <a:bodyPr/>
          <a:lstStyle>
            <a:lvl1pPr marL="342900" indent="-342900" eaLnBrk="0" hangingPunct="0">
              <a:defRPr sz="2400" baseline="-250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eaLnBrk="0" hangingPunct="0">
              <a:defRPr sz="2400" baseline="-250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eaLnBrk="0" hangingPunct="0">
              <a:defRPr sz="2400" baseline="-250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defRPr sz="2400" baseline="-25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defRPr sz="2400" baseline="-25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aseline="-25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aseline="-25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aseline="-25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aseline="-25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lnSpc>
                <a:spcPct val="80000"/>
              </a:lnSpc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None/>
            </a:pPr>
            <a:r>
              <a:rPr lang="en-US" sz="1600" b="1" dirty="0">
                <a:latin typeface="Courier New" panose="02070309020205020404" pitchFamily="49" charset="0"/>
              </a:rPr>
              <a:t>   </a:t>
            </a:r>
          </a:p>
          <a:p>
            <a:pPr eaLnBrk="1" hangingPunct="1">
              <a:lnSpc>
                <a:spcPct val="80000"/>
              </a:lnSpc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None/>
            </a:pPr>
            <a:r>
              <a:rPr lang="en-US" sz="2800" b="1" dirty="0" err="1">
                <a:latin typeface="Courier New" panose="02070309020205020404" pitchFamily="49" charset="0"/>
              </a:rPr>
              <a:t>int</a:t>
            </a:r>
            <a:r>
              <a:rPr lang="en-US" sz="2800" b="1" dirty="0">
                <a:latin typeface="Courier New" panose="02070309020205020404" pitchFamily="49" charset="0"/>
              </a:rPr>
              <a:t> </a:t>
            </a:r>
            <a:r>
              <a:rPr lang="en-US" sz="2800" b="1" dirty="0" err="1">
                <a:latin typeface="Courier New" panose="02070309020205020404" pitchFamily="49" charset="0"/>
              </a:rPr>
              <a:t>numChars</a:t>
            </a:r>
            <a:r>
              <a:rPr lang="en-US" sz="2800" b="1" dirty="0">
                <a:latin typeface="Courier New" panose="02070309020205020404" pitchFamily="49" charset="0"/>
              </a:rPr>
              <a:t>(char search, char </a:t>
            </a:r>
            <a:r>
              <a:rPr lang="en-US" sz="2800" b="1" dirty="0" err="1">
                <a:latin typeface="Courier New" panose="02070309020205020404" pitchFamily="49" charset="0"/>
              </a:rPr>
              <a:t>str</a:t>
            </a:r>
            <a:r>
              <a:rPr lang="en-US" sz="2800" b="1" dirty="0">
                <a:latin typeface="Courier New" panose="02070309020205020404" pitchFamily="49" charset="0"/>
              </a:rPr>
              <a:t>[], </a:t>
            </a:r>
            <a:r>
              <a:rPr lang="en-US" sz="2800" b="1" dirty="0" err="1">
                <a:latin typeface="Courier New" panose="02070309020205020404" pitchFamily="49" charset="0"/>
              </a:rPr>
              <a:t>int</a:t>
            </a:r>
            <a:r>
              <a:rPr lang="en-US" sz="2800" b="1" dirty="0">
                <a:latin typeface="Courier New" panose="02070309020205020404" pitchFamily="49" charset="0"/>
              </a:rPr>
              <a:t> subscript) </a:t>
            </a:r>
          </a:p>
          <a:p>
            <a:pPr eaLnBrk="1" hangingPunct="1">
              <a:lnSpc>
                <a:spcPct val="80000"/>
              </a:lnSpc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None/>
            </a:pPr>
            <a:r>
              <a:rPr lang="en-US" sz="2800" b="1" dirty="0">
                <a:latin typeface="Courier New" panose="02070309020205020404" pitchFamily="49" charset="0"/>
              </a:rPr>
              <a:t>{ </a:t>
            </a:r>
          </a:p>
          <a:p>
            <a:pPr eaLnBrk="1" hangingPunct="1">
              <a:lnSpc>
                <a:spcPct val="80000"/>
              </a:lnSpc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None/>
            </a:pPr>
            <a:r>
              <a:rPr lang="en-US" sz="2800" b="1" dirty="0">
                <a:latin typeface="Courier New" panose="02070309020205020404" pitchFamily="49" charset="0"/>
              </a:rPr>
              <a:t> if (</a:t>
            </a:r>
            <a:r>
              <a:rPr lang="en-US" sz="2800" b="1" dirty="0" err="1">
                <a:latin typeface="Courier New" panose="02070309020205020404" pitchFamily="49" charset="0"/>
              </a:rPr>
              <a:t>str</a:t>
            </a:r>
            <a:r>
              <a:rPr lang="en-US" sz="2800" b="1" dirty="0">
                <a:latin typeface="Courier New" panose="02070309020205020404" pitchFamily="49" charset="0"/>
              </a:rPr>
              <a:t>[subscript] == '\0')</a:t>
            </a:r>
          </a:p>
          <a:p>
            <a:pPr eaLnBrk="1" hangingPunct="1">
              <a:lnSpc>
                <a:spcPct val="80000"/>
              </a:lnSpc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None/>
            </a:pPr>
            <a:r>
              <a:rPr lang="en-US" sz="2800" b="1" dirty="0">
                <a:latin typeface="Courier New" panose="02070309020205020404" pitchFamily="49" charset="0"/>
              </a:rPr>
              <a:t> {</a:t>
            </a:r>
          </a:p>
          <a:p>
            <a:pPr eaLnBrk="1" hangingPunct="1">
              <a:lnSpc>
                <a:spcPct val="80000"/>
              </a:lnSpc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None/>
            </a:pPr>
            <a:r>
              <a:rPr lang="en-US" sz="2800" b="1" dirty="0">
                <a:latin typeface="Courier New" panose="02070309020205020404" pitchFamily="49" charset="0"/>
              </a:rPr>
              <a:t>     // Base case: The end of the string is reached. </a:t>
            </a:r>
          </a:p>
          <a:p>
            <a:pPr eaLnBrk="1" hangingPunct="1">
              <a:lnSpc>
                <a:spcPct val="80000"/>
              </a:lnSpc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None/>
            </a:pPr>
            <a:r>
              <a:rPr lang="en-US" sz="2800" b="1" dirty="0">
                <a:latin typeface="Courier New" panose="02070309020205020404" pitchFamily="49" charset="0"/>
              </a:rPr>
              <a:t>        </a:t>
            </a:r>
            <a:r>
              <a:rPr lang="en-US" sz="2800" b="1" dirty="0">
                <a:solidFill>
                  <a:srgbClr val="B80000"/>
                </a:solidFill>
                <a:latin typeface="Courier New" panose="02070309020205020404" pitchFamily="49" charset="0"/>
              </a:rPr>
              <a:t>return 0;</a:t>
            </a:r>
          </a:p>
          <a:p>
            <a:pPr eaLnBrk="1" hangingPunct="1">
              <a:lnSpc>
                <a:spcPct val="80000"/>
              </a:lnSpc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None/>
            </a:pPr>
            <a:r>
              <a:rPr lang="en-US" sz="2800" b="1" dirty="0">
                <a:latin typeface="Courier New" panose="02070309020205020404" pitchFamily="49" charset="0"/>
              </a:rPr>
              <a:t> }</a:t>
            </a:r>
          </a:p>
          <a:p>
            <a:pPr eaLnBrk="1" hangingPunct="1">
              <a:lnSpc>
                <a:spcPct val="80000"/>
              </a:lnSpc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None/>
            </a:pPr>
            <a:r>
              <a:rPr lang="en-US" sz="2800" b="1" dirty="0">
                <a:latin typeface="Courier New" panose="02070309020205020404" pitchFamily="49" charset="0"/>
              </a:rPr>
              <a:t> else if (</a:t>
            </a:r>
            <a:r>
              <a:rPr lang="en-US" sz="2800" b="1" dirty="0" err="1">
                <a:latin typeface="Courier New" panose="02070309020205020404" pitchFamily="49" charset="0"/>
              </a:rPr>
              <a:t>str</a:t>
            </a:r>
            <a:r>
              <a:rPr lang="en-US" sz="2800" b="1" dirty="0">
                <a:latin typeface="Courier New" panose="02070309020205020404" pitchFamily="49" charset="0"/>
              </a:rPr>
              <a:t>[subscript] == search) </a:t>
            </a:r>
          </a:p>
          <a:p>
            <a:pPr eaLnBrk="1" hangingPunct="1">
              <a:lnSpc>
                <a:spcPct val="80000"/>
              </a:lnSpc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None/>
            </a:pPr>
            <a:r>
              <a:rPr lang="en-US" sz="2800" b="1" dirty="0">
                <a:latin typeface="Courier New" panose="02070309020205020404" pitchFamily="49" charset="0"/>
              </a:rPr>
              <a:t> {</a:t>
            </a:r>
          </a:p>
          <a:p>
            <a:pPr eaLnBrk="1" hangingPunct="1">
              <a:lnSpc>
                <a:spcPct val="80000"/>
              </a:lnSpc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None/>
            </a:pPr>
            <a:r>
              <a:rPr lang="en-US" sz="2800" b="1" dirty="0">
                <a:latin typeface="Courier New" panose="02070309020205020404" pitchFamily="49" charset="0"/>
              </a:rPr>
              <a:t>    /* Recursive case: A matching character was found.       Return 1 plus the number of times the search character appears in the rest of the string.*/</a:t>
            </a:r>
          </a:p>
          <a:p>
            <a:pPr eaLnBrk="1" hangingPunct="1">
              <a:lnSpc>
                <a:spcPct val="80000"/>
              </a:lnSpc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None/>
            </a:pPr>
            <a:r>
              <a:rPr lang="en-US" sz="2800" b="1" dirty="0">
                <a:latin typeface="Courier New" panose="02070309020205020404" pitchFamily="49" charset="0"/>
              </a:rPr>
              <a:t>       </a:t>
            </a:r>
            <a:r>
              <a:rPr lang="en-US" sz="2800" b="1" dirty="0">
                <a:solidFill>
                  <a:srgbClr val="B80000"/>
                </a:solidFill>
                <a:latin typeface="Courier New" panose="02070309020205020404" pitchFamily="49" charset="0"/>
              </a:rPr>
              <a:t>return 1 + </a:t>
            </a:r>
            <a:r>
              <a:rPr lang="en-US" sz="2800" b="1" dirty="0" err="1">
                <a:solidFill>
                  <a:srgbClr val="B80000"/>
                </a:solidFill>
                <a:latin typeface="Courier New" panose="02070309020205020404" pitchFamily="49" charset="0"/>
              </a:rPr>
              <a:t>numChars</a:t>
            </a:r>
            <a:r>
              <a:rPr lang="en-US" sz="2800" b="1" dirty="0">
                <a:solidFill>
                  <a:srgbClr val="B80000"/>
                </a:solidFill>
                <a:latin typeface="Courier New" panose="02070309020205020404" pitchFamily="49" charset="0"/>
              </a:rPr>
              <a:t>(search, str,subscript+1); </a:t>
            </a:r>
          </a:p>
          <a:p>
            <a:pPr eaLnBrk="1" hangingPunct="1">
              <a:lnSpc>
                <a:spcPct val="80000"/>
              </a:lnSpc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None/>
            </a:pPr>
            <a:r>
              <a:rPr lang="en-US" sz="2800" b="1" dirty="0">
                <a:latin typeface="Courier New" panose="02070309020205020404" pitchFamily="49" charset="0"/>
              </a:rPr>
              <a:t> }</a:t>
            </a:r>
          </a:p>
          <a:p>
            <a:pPr eaLnBrk="1" hangingPunct="1">
              <a:lnSpc>
                <a:spcPct val="80000"/>
              </a:lnSpc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None/>
            </a:pPr>
            <a:r>
              <a:rPr lang="en-US" sz="2800" b="1" dirty="0">
                <a:latin typeface="Courier New" panose="02070309020205020404" pitchFamily="49" charset="0"/>
              </a:rPr>
              <a:t> else </a:t>
            </a:r>
          </a:p>
          <a:p>
            <a:pPr eaLnBrk="1" hangingPunct="1">
              <a:lnSpc>
                <a:spcPct val="80000"/>
              </a:lnSpc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None/>
            </a:pPr>
            <a:r>
              <a:rPr lang="en-US" sz="2800" b="1" dirty="0">
                <a:latin typeface="Courier New" panose="02070309020205020404" pitchFamily="49" charset="0"/>
              </a:rPr>
              <a:t> {</a:t>
            </a:r>
          </a:p>
          <a:p>
            <a:pPr eaLnBrk="1" hangingPunct="1">
              <a:lnSpc>
                <a:spcPct val="80000"/>
              </a:lnSpc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None/>
            </a:pPr>
            <a:r>
              <a:rPr lang="en-US" sz="2800" b="1" dirty="0">
                <a:latin typeface="Courier New" panose="02070309020205020404" pitchFamily="49" charset="0"/>
              </a:rPr>
              <a:t>    /* Recursive case: A character that does not match the    search character was found. Return the number of times the search character appears in the rest of the string.   */</a:t>
            </a:r>
          </a:p>
          <a:p>
            <a:pPr eaLnBrk="1" hangingPunct="1">
              <a:lnSpc>
                <a:spcPct val="80000"/>
              </a:lnSpc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None/>
            </a:pPr>
            <a:r>
              <a:rPr lang="en-US" sz="2800" b="1" dirty="0">
                <a:solidFill>
                  <a:srgbClr val="B80000"/>
                </a:solidFill>
                <a:latin typeface="Courier New" panose="02070309020205020404" pitchFamily="49" charset="0"/>
              </a:rPr>
              <a:t>       return 0+ </a:t>
            </a:r>
            <a:r>
              <a:rPr lang="en-US" sz="2800" b="1" dirty="0" err="1">
                <a:solidFill>
                  <a:srgbClr val="B80000"/>
                </a:solidFill>
                <a:latin typeface="Courier New" panose="02070309020205020404" pitchFamily="49" charset="0"/>
              </a:rPr>
              <a:t>numChars</a:t>
            </a:r>
            <a:r>
              <a:rPr lang="en-US" sz="2800" b="1" dirty="0">
                <a:solidFill>
                  <a:srgbClr val="B80000"/>
                </a:solidFill>
                <a:latin typeface="Courier New" panose="02070309020205020404" pitchFamily="49" charset="0"/>
              </a:rPr>
              <a:t>(search, </a:t>
            </a:r>
            <a:r>
              <a:rPr lang="en-US" sz="2800" b="1" dirty="0" err="1">
                <a:solidFill>
                  <a:srgbClr val="B80000"/>
                </a:solidFill>
                <a:latin typeface="Courier New" panose="02070309020205020404" pitchFamily="49" charset="0"/>
              </a:rPr>
              <a:t>str</a:t>
            </a:r>
            <a:r>
              <a:rPr lang="en-US" sz="2800" b="1" dirty="0">
                <a:solidFill>
                  <a:srgbClr val="B80000"/>
                </a:solidFill>
                <a:latin typeface="Courier New" panose="02070309020205020404" pitchFamily="49" charset="0"/>
              </a:rPr>
              <a:t>, subscript+1); </a:t>
            </a:r>
          </a:p>
          <a:p>
            <a:pPr eaLnBrk="1" hangingPunct="1">
              <a:lnSpc>
                <a:spcPct val="80000"/>
              </a:lnSpc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None/>
            </a:pPr>
            <a:r>
              <a:rPr lang="en-US" sz="2800" b="1" dirty="0">
                <a:latin typeface="Courier New" panose="02070309020205020404" pitchFamily="49" charset="0"/>
              </a:rPr>
              <a:t> }</a:t>
            </a:r>
          </a:p>
          <a:p>
            <a:pPr eaLnBrk="1" hangingPunct="1">
              <a:lnSpc>
                <a:spcPct val="80000"/>
              </a:lnSpc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None/>
            </a:pPr>
            <a:r>
              <a:rPr lang="en-US" sz="1050" dirty="0">
                <a:latin typeface="Courier New" panose="02070309020205020404" pitchFamily="49" charset="0"/>
              </a:rPr>
              <a:t>}</a:t>
            </a:r>
          </a:p>
          <a:p>
            <a:pPr eaLnBrk="1" hangingPunct="1">
              <a:lnSpc>
                <a:spcPct val="80000"/>
              </a:lnSpc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None/>
            </a:pPr>
            <a:endParaRPr lang="en-US" sz="1000" dirty="0">
              <a:latin typeface="Courier New" panose="02070309020205020404" pitchFamily="49" charset="0"/>
            </a:endParaRPr>
          </a:p>
          <a:p>
            <a:pPr eaLnBrk="1" hangingPunct="1">
              <a:lnSpc>
                <a:spcPct val="80000"/>
              </a:lnSpc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None/>
            </a:pPr>
            <a:endParaRPr lang="en-US" sz="1000" dirty="0">
              <a:latin typeface="Courier New" panose="02070309020205020404" pitchFamily="49" charset="0"/>
            </a:endParaRPr>
          </a:p>
          <a:p>
            <a:pPr eaLnBrk="1" hangingPunct="1">
              <a:lnSpc>
                <a:spcPct val="80000"/>
              </a:lnSpc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None/>
            </a:pPr>
            <a:endParaRPr lang="en-US" sz="1000" dirty="0">
              <a:latin typeface="Courier New" panose="020703090202050204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23566361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960EA25-7AA8-C0BA-7DCA-7450A59064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Printing a Sequence of Numbers in Reverse</a:t>
            </a:r>
            <a:endParaRPr lang="en-PK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F04B2B1-DC0F-21EE-8ED4-4FD82466B03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70000" lnSpcReduction="20000"/>
          </a:bodyPr>
          <a:lstStyle/>
          <a:p>
            <a:pPr marL="0" indent="0">
              <a:buFontTx/>
              <a:buNone/>
              <a:defRPr/>
            </a:pPr>
            <a:r>
              <a:rPr lang="fi-FI" sz="2800" b="1" dirty="0">
                <a:latin typeface="Courier New" panose="02070309020205020404" pitchFamily="49" charset="0"/>
                <a:cs typeface="Courier New" panose="02070309020205020404" pitchFamily="49" charset="0"/>
              </a:rPr>
              <a:t>void print(int n) {</a:t>
            </a:r>
          </a:p>
          <a:p>
            <a:pPr marL="0" indent="0">
              <a:buFontTx/>
              <a:buNone/>
              <a:defRPr/>
            </a:pPr>
            <a:endParaRPr lang="fi-FI" sz="2800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FontTx/>
              <a:buNone/>
              <a:defRPr/>
            </a:pPr>
            <a:r>
              <a:rPr lang="en-US" sz="2800" b="1" dirty="0">
                <a:latin typeface="Courier New" panose="02070309020205020404" pitchFamily="49" charset="0"/>
                <a:cs typeface="Courier New" panose="02070309020205020404" pitchFamily="49" charset="0"/>
              </a:rPr>
              <a:t>    if ( n &lt;= 0 ) </a:t>
            </a:r>
          </a:p>
          <a:p>
            <a:pPr marL="0" indent="0">
              <a:buFontTx/>
              <a:buNone/>
              <a:defRPr/>
            </a:pPr>
            <a:r>
              <a:rPr lang="en-US" sz="2800" b="1" dirty="0">
                <a:latin typeface="Courier New" panose="02070309020205020404" pitchFamily="49" charset="0"/>
                <a:cs typeface="Courier New" panose="02070309020205020404" pitchFamily="49" charset="0"/>
              </a:rPr>
              <a:t>	return; </a:t>
            </a:r>
            <a:r>
              <a:rPr lang="en-US" sz="2800" b="1" dirty="0">
                <a:solidFill>
                  <a:srgbClr val="2C14DE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//Base condition</a:t>
            </a:r>
          </a:p>
          <a:p>
            <a:pPr marL="0" indent="0">
              <a:buFontTx/>
              <a:buNone/>
              <a:defRPr/>
            </a:pPr>
            <a:endParaRPr lang="fr-FR" sz="2800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FontTx/>
              <a:buNone/>
              <a:defRPr/>
            </a:pPr>
            <a:r>
              <a:rPr lang="fr-FR" sz="2800" b="1" dirty="0">
                <a:latin typeface="Courier New" panose="02070309020205020404" pitchFamily="49" charset="0"/>
                <a:cs typeface="Courier New" panose="02070309020205020404" pitchFamily="49" charset="0"/>
              </a:rPr>
              <a:t>     </a:t>
            </a:r>
            <a:r>
              <a:rPr lang="en-US" sz="28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cout</a:t>
            </a:r>
            <a:r>
              <a:rPr lang="en-US" sz="2800" b="1" dirty="0">
                <a:latin typeface="Courier New" panose="02070309020205020404" pitchFamily="49" charset="0"/>
                <a:cs typeface="Courier New" panose="02070309020205020404" pitchFamily="49" charset="0"/>
              </a:rPr>
              <a:t> &lt;&lt; n &lt;&lt; " "; </a:t>
            </a:r>
            <a:r>
              <a:rPr lang="en-US" sz="2800" b="1" dirty="0">
                <a:solidFill>
                  <a:srgbClr val="2C14DE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//Prints number n</a:t>
            </a:r>
            <a:endParaRPr lang="fr-FR" sz="2800" b="1" dirty="0">
              <a:solidFill>
                <a:srgbClr val="2C14DE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FontTx/>
              <a:buNone/>
              <a:defRPr/>
            </a:pPr>
            <a:r>
              <a:rPr lang="en-US" sz="2800" b="1" dirty="0">
                <a:latin typeface="Courier New" panose="02070309020205020404" pitchFamily="49" charset="0"/>
                <a:cs typeface="Courier New" panose="02070309020205020404" pitchFamily="49" charset="0"/>
              </a:rPr>
              <a:t>     print(n-1); </a:t>
            </a:r>
            <a:r>
              <a:rPr lang="en-US" sz="2800" b="1" dirty="0">
                <a:solidFill>
                  <a:srgbClr val="2C14DE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//Calls itself with (n-1)</a:t>
            </a:r>
            <a:endParaRPr lang="fr-FR" sz="2800" b="1" dirty="0">
              <a:solidFill>
                <a:srgbClr val="2C14DE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FontTx/>
              <a:buNone/>
              <a:defRPr/>
            </a:pPr>
            <a:r>
              <a:rPr lang="en-US" sz="2800" b="1" dirty="0">
                <a:latin typeface="Courier New" panose="02070309020205020404" pitchFamily="49" charset="0"/>
                <a:cs typeface="Courier New" panose="02070309020205020404" pitchFamily="49" charset="0"/>
              </a:rPr>
              <a:t>     return; </a:t>
            </a:r>
            <a:r>
              <a:rPr lang="en-US" sz="2800" b="1" dirty="0">
                <a:solidFill>
                  <a:srgbClr val="2C14DE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//Returns from the function</a:t>
            </a:r>
          </a:p>
          <a:p>
            <a:pPr marL="0" indent="0">
              <a:buFontTx/>
              <a:buNone/>
              <a:defRPr/>
            </a:pPr>
            <a:r>
              <a:rPr lang="fr-FR" sz="2800" b="1" dirty="0"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</a:p>
          <a:p>
            <a:pPr marL="0" indent="0">
              <a:buFontTx/>
              <a:buNone/>
              <a:defRPr/>
            </a:pPr>
            <a:endParaRPr lang="fr-FR" sz="2400" i="1" dirty="0"/>
          </a:p>
          <a:p>
            <a:pPr marL="0" indent="0">
              <a:buFontTx/>
              <a:buNone/>
              <a:defRPr/>
            </a:pPr>
            <a:r>
              <a:rPr lang="en-US" sz="3200" b="1" dirty="0"/>
              <a:t>print(3) produces </a:t>
            </a:r>
            <a:r>
              <a:rPr lang="en-US" sz="3200" b="1" dirty="0">
                <a:sym typeface="Wingdings" panose="05000000000000000000" pitchFamily="2" charset="2"/>
              </a:rPr>
              <a:t> </a:t>
            </a:r>
            <a:r>
              <a:rPr lang="en-US" sz="3200" b="1" dirty="0"/>
              <a:t> 3  2  1</a:t>
            </a:r>
            <a:endParaRPr lang="en-US" sz="3200" b="1" i="1" dirty="0"/>
          </a:p>
          <a:p>
            <a:endParaRPr lang="en-PK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3662A07-778C-0F76-38C1-6FE0378C47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Object Oriented Programming-Spring 24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82F274D-38B8-A889-DD79-55C9DE8AF4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845F5A-061D-4825-9AE9-D7794091C6CF}" type="slidenum">
              <a:rPr lang="en-US" smtClean="0"/>
              <a:t>21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57952293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6EF7356-2922-EAB3-8DBC-3571825D28B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Printing a Sequence of Numbers in Ascending Order</a:t>
            </a:r>
            <a:endParaRPr lang="en-PK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8B79CD6-331A-C6F2-DB46-87C94134E5C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Object Oriented Programming-Spring 24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BDDE176-CEEC-3B73-A247-6A6407FCD3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845F5A-061D-4825-9AE9-D7794091C6CF}" type="slidenum">
              <a:rPr lang="en-US" smtClean="0"/>
              <a:t>22</a:t>
            </a:fld>
            <a:endParaRPr lang="en-US" dirty="0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113A076A-8164-9175-AD21-272A5786EA0E}"/>
              </a:ext>
            </a:extLst>
          </p:cNvPr>
          <p:cNvSpPr txBox="1">
            <a:spLocks noGrp="1"/>
          </p:cNvSpPr>
          <p:nvPr>
            <p:ph idx="1"/>
          </p:nvPr>
        </p:nvSpPr>
        <p:spPr>
          <a:xfrm>
            <a:off x="838200" y="2011363"/>
            <a:ext cx="10515600" cy="416083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u="sng" dirty="0">
                <a:solidFill>
                  <a:srgbClr val="2C14DE"/>
                </a:solidFill>
              </a:rPr>
              <a:t>Example: </a:t>
            </a:r>
          </a:p>
          <a:p>
            <a:r>
              <a:rPr lang="en-US" sz="2000" b="1" dirty="0"/>
              <a:t>Input Number: 5</a:t>
            </a:r>
          </a:p>
          <a:p>
            <a:r>
              <a:rPr lang="en-US" sz="2000" b="1" dirty="0"/>
              <a:t>Output: 1 2 3 4 5</a:t>
            </a:r>
          </a:p>
        </p:txBody>
      </p:sp>
    </p:spTree>
    <p:extLst>
      <p:ext uri="{BB962C8B-B14F-4D97-AF65-F5344CB8AC3E}">
        <p14:creationId xmlns:p14="http://schemas.microsoft.com/office/powerpoint/2010/main" val="4217949002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18781C-7E94-F966-C6B6-98600CBEFB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Finding GCD</a:t>
            </a:r>
            <a:endParaRPr lang="en-PK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718A993-388C-D460-E559-42FCDB0F17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Object Oriented Programming-Spring 24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DCBA0A8-06CE-5D69-0264-15C585FD51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845F5A-061D-4825-9AE9-D7794091C6CF}" type="slidenum">
              <a:rPr lang="en-US" smtClean="0"/>
              <a:t>23</a:t>
            </a:fld>
            <a:endParaRPr lang="en-US" dirty="0"/>
          </a:p>
        </p:txBody>
      </p:sp>
      <p:pic>
        <p:nvPicPr>
          <p:cNvPr id="6" name="Picture 2" descr="https://encrypted-tbn0.gstatic.com/images?q=tbn%3AANd9GcTc5hGarM8oBUPcWFpPKKfieTH6c-KdBThAHo_gOaipimkFGx8R">
            <a:extLst>
              <a:ext uri="{FF2B5EF4-FFF2-40B4-BE49-F238E27FC236}">
                <a16:creationId xmlns:a16="http://schemas.microsoft.com/office/drawing/2014/main" id="{7EB3EAE8-C315-D039-E2F6-57A8EB9A8558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42309" y="1589810"/>
            <a:ext cx="7107381" cy="466551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318942235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581AFC-90CE-3ABC-B587-78D6B245B4E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The Recursive GCD Function</a:t>
            </a:r>
            <a:endParaRPr lang="en-PK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4000F19-0EBA-A488-6049-01D1F394F35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1" eaLnBrk="1" hangingPunct="1">
              <a:buFontTx/>
              <a:buNone/>
            </a:pPr>
            <a:r>
              <a:rPr lang="en-US" sz="2800" b="1" dirty="0">
                <a:latin typeface="Courier New" panose="02070309020205020404" pitchFamily="49" charset="0"/>
              </a:rPr>
              <a:t>int </a:t>
            </a:r>
            <a:r>
              <a:rPr lang="en-US" sz="2800" b="1" dirty="0" err="1">
                <a:latin typeface="Courier New" panose="02070309020205020404" pitchFamily="49" charset="0"/>
              </a:rPr>
              <a:t>gcd</a:t>
            </a:r>
            <a:r>
              <a:rPr lang="en-US" sz="2800" b="1" dirty="0">
                <a:latin typeface="Courier New" panose="02070309020205020404" pitchFamily="49" charset="0"/>
              </a:rPr>
              <a:t>(int x, int y)</a:t>
            </a:r>
          </a:p>
          <a:p>
            <a:pPr lvl="1" eaLnBrk="1" hangingPunct="1">
              <a:buFontTx/>
              <a:buNone/>
            </a:pPr>
            <a:r>
              <a:rPr lang="en-US" sz="2800" b="1" dirty="0">
                <a:latin typeface="Courier New" panose="02070309020205020404" pitchFamily="49" charset="0"/>
              </a:rPr>
              <a:t>{</a:t>
            </a:r>
          </a:p>
          <a:p>
            <a:pPr lvl="1" eaLnBrk="1" hangingPunct="1">
              <a:buFontTx/>
              <a:buNone/>
            </a:pPr>
            <a:r>
              <a:rPr lang="en-US" sz="2800" b="1" dirty="0">
                <a:latin typeface="Courier New" panose="02070309020205020404" pitchFamily="49" charset="0"/>
              </a:rPr>
              <a:t>	  if (</a:t>
            </a:r>
            <a:r>
              <a:rPr lang="en-US" sz="2800" b="1" dirty="0">
                <a:solidFill>
                  <a:srgbClr val="C00000"/>
                </a:solidFill>
                <a:latin typeface="Courier New" panose="02070309020205020404" pitchFamily="49" charset="0"/>
              </a:rPr>
              <a:t>x</a:t>
            </a:r>
            <a:r>
              <a:rPr lang="en-US" sz="2800" b="1" dirty="0">
                <a:latin typeface="Courier New" panose="02070309020205020404" pitchFamily="49" charset="0"/>
              </a:rPr>
              <a:t> % </a:t>
            </a:r>
            <a:r>
              <a:rPr lang="en-US" sz="2800" b="1" dirty="0">
                <a:solidFill>
                  <a:srgbClr val="2F1BC7"/>
                </a:solidFill>
                <a:latin typeface="Courier New" panose="02070309020205020404" pitchFamily="49" charset="0"/>
              </a:rPr>
              <a:t>y</a:t>
            </a:r>
            <a:r>
              <a:rPr lang="en-US" sz="2800" b="1" dirty="0">
                <a:latin typeface="Courier New" panose="02070309020205020404" pitchFamily="49" charset="0"/>
              </a:rPr>
              <a:t> == 0) //base case</a:t>
            </a:r>
          </a:p>
          <a:p>
            <a:pPr lvl="1" eaLnBrk="1" hangingPunct="1">
              <a:buFontTx/>
              <a:buNone/>
            </a:pPr>
            <a:r>
              <a:rPr lang="en-US" sz="2800" b="1" dirty="0">
                <a:latin typeface="Courier New" panose="02070309020205020404" pitchFamily="49" charset="0"/>
              </a:rPr>
              <a:t>			return y;</a:t>
            </a:r>
          </a:p>
          <a:p>
            <a:pPr lvl="1" eaLnBrk="1" hangingPunct="1">
              <a:buFontTx/>
              <a:buNone/>
            </a:pPr>
            <a:r>
              <a:rPr lang="en-US" sz="2800" b="1" dirty="0">
                <a:latin typeface="Courier New" panose="02070309020205020404" pitchFamily="49" charset="0"/>
              </a:rPr>
              <a:t>	  else</a:t>
            </a:r>
          </a:p>
          <a:p>
            <a:pPr lvl="1" eaLnBrk="1" hangingPunct="1">
              <a:buFontTx/>
              <a:buNone/>
            </a:pPr>
            <a:r>
              <a:rPr lang="en-US" sz="2800" b="1" dirty="0">
                <a:latin typeface="Courier New" panose="02070309020205020404" pitchFamily="49" charset="0"/>
              </a:rPr>
              <a:t>			return </a:t>
            </a:r>
            <a:r>
              <a:rPr lang="en-US" sz="2800" b="1" dirty="0" err="1">
                <a:latin typeface="Courier New" panose="02070309020205020404" pitchFamily="49" charset="0"/>
              </a:rPr>
              <a:t>gcd</a:t>
            </a:r>
            <a:r>
              <a:rPr lang="en-US" sz="2800" b="1" dirty="0">
                <a:latin typeface="Courier New" panose="02070309020205020404" pitchFamily="49" charset="0"/>
              </a:rPr>
              <a:t>(</a:t>
            </a:r>
            <a:r>
              <a:rPr lang="en-US" sz="2800" b="1" dirty="0">
                <a:solidFill>
                  <a:srgbClr val="2F1BC7"/>
                </a:solidFill>
                <a:latin typeface="Courier New" panose="02070309020205020404" pitchFamily="49" charset="0"/>
              </a:rPr>
              <a:t>y</a:t>
            </a:r>
            <a:r>
              <a:rPr lang="en-US" sz="2800" b="1" dirty="0">
                <a:latin typeface="Courier New" panose="02070309020205020404" pitchFamily="49" charset="0"/>
              </a:rPr>
              <a:t>, </a:t>
            </a:r>
            <a:r>
              <a:rPr lang="en-US" sz="2800" b="1" dirty="0">
                <a:solidFill>
                  <a:srgbClr val="008000"/>
                </a:solidFill>
                <a:latin typeface="Courier New" panose="02070309020205020404" pitchFamily="49" charset="0"/>
              </a:rPr>
              <a:t>x % y</a:t>
            </a:r>
            <a:r>
              <a:rPr lang="en-US" sz="2800" b="1" dirty="0">
                <a:latin typeface="Courier New" panose="02070309020205020404" pitchFamily="49" charset="0"/>
              </a:rPr>
              <a:t>);</a:t>
            </a:r>
          </a:p>
          <a:p>
            <a:pPr lvl="1" eaLnBrk="1" hangingPunct="1">
              <a:buFontTx/>
              <a:buNone/>
            </a:pPr>
            <a:r>
              <a:rPr lang="en-US" sz="2800" b="1">
                <a:latin typeface="Courier New" panose="02070309020205020404" pitchFamily="49" charset="0"/>
              </a:rPr>
              <a:t>}</a:t>
            </a:r>
            <a:endParaRPr lang="en-US" sz="2800" b="1" dirty="0">
              <a:latin typeface="Courier New" panose="02070309020205020404" pitchFamily="49" charset="0"/>
            </a:endParaRP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82030F0-4E54-B2E2-CF47-85F3A80C4D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Object Oriented Programming-Spring 24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CD8A38D-9AEC-605C-DFF3-EAA7E7FCDB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845F5A-061D-4825-9AE9-D7794091C6CF}" type="slidenum">
              <a:rPr lang="en-US" smtClean="0"/>
              <a:t>24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39045170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F1269C-4791-D0B8-2BE8-CC33987D05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Solving Recursively Defined Problems</a:t>
            </a:r>
            <a:endParaRPr lang="en-PK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C616252-822F-AE60-0FED-EB3B1AF5F81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pPr algn="just" eaLnBrk="1" hangingPunct="1">
              <a:lnSpc>
                <a:spcPct val="80000"/>
              </a:lnSpc>
            </a:pPr>
            <a:r>
              <a:rPr lang="en-US" dirty="0"/>
              <a:t>The </a:t>
            </a:r>
            <a:r>
              <a:rPr lang="en-US" b="1" dirty="0">
                <a:solidFill>
                  <a:srgbClr val="C00000"/>
                </a:solidFill>
              </a:rPr>
              <a:t>natural definition </a:t>
            </a:r>
            <a:r>
              <a:rPr lang="en-US" dirty="0"/>
              <a:t>of some </a:t>
            </a:r>
            <a:r>
              <a:rPr lang="en-US" b="1" dirty="0"/>
              <a:t>problems</a:t>
            </a:r>
            <a:r>
              <a:rPr lang="en-US" dirty="0"/>
              <a:t> </a:t>
            </a:r>
            <a:r>
              <a:rPr lang="en-US" b="1" dirty="0">
                <a:solidFill>
                  <a:srgbClr val="2C14DE"/>
                </a:solidFill>
              </a:rPr>
              <a:t>leads to a recursive solution</a:t>
            </a:r>
          </a:p>
          <a:p>
            <a:pPr algn="just" eaLnBrk="1" hangingPunct="1">
              <a:lnSpc>
                <a:spcPct val="80000"/>
              </a:lnSpc>
            </a:pPr>
            <a:endParaRPr lang="en-US" dirty="0"/>
          </a:p>
          <a:p>
            <a:pPr algn="just" eaLnBrk="1" hangingPunct="1">
              <a:lnSpc>
                <a:spcPct val="80000"/>
              </a:lnSpc>
            </a:pPr>
            <a:r>
              <a:rPr lang="en-US" dirty="0"/>
              <a:t>Example: </a:t>
            </a:r>
            <a:r>
              <a:rPr lang="en-US" b="1" dirty="0">
                <a:solidFill>
                  <a:srgbClr val="B80000"/>
                </a:solidFill>
              </a:rPr>
              <a:t>Fibonacci numbers</a:t>
            </a:r>
            <a:r>
              <a:rPr lang="en-US" dirty="0"/>
              <a:t>:</a:t>
            </a:r>
          </a:p>
          <a:p>
            <a:pPr lvl="1" algn="just" eaLnBrk="1" hangingPunct="1">
              <a:lnSpc>
                <a:spcPct val="80000"/>
              </a:lnSpc>
              <a:buFontTx/>
              <a:buNone/>
            </a:pPr>
            <a:r>
              <a:rPr lang="en-US" b="1" dirty="0">
                <a:latin typeface="Courier New" panose="02070309020205020404" pitchFamily="49" charset="0"/>
              </a:rPr>
              <a:t>1, 1, 2, 3, 5, 8, 13, 21, ...</a:t>
            </a:r>
          </a:p>
          <a:p>
            <a:pPr lvl="1" algn="just" eaLnBrk="1" hangingPunct="1">
              <a:lnSpc>
                <a:spcPct val="80000"/>
              </a:lnSpc>
              <a:buFontTx/>
              <a:buNone/>
            </a:pPr>
            <a:endParaRPr lang="en-US" b="1" dirty="0">
              <a:latin typeface="Courier New" panose="02070309020205020404" pitchFamily="49" charset="0"/>
            </a:endParaRPr>
          </a:p>
          <a:p>
            <a:pPr algn="just" eaLnBrk="1" hangingPunct="1">
              <a:lnSpc>
                <a:spcPct val="80000"/>
              </a:lnSpc>
            </a:pPr>
            <a:r>
              <a:rPr lang="en-US" dirty="0"/>
              <a:t>After the </a:t>
            </a:r>
            <a:r>
              <a:rPr lang="en-US" b="1" dirty="0">
                <a:solidFill>
                  <a:srgbClr val="008000"/>
                </a:solidFill>
              </a:rPr>
              <a:t>starting two numbers</a:t>
            </a:r>
            <a:r>
              <a:rPr lang="en-US" b="1" dirty="0"/>
              <a:t>,</a:t>
            </a:r>
            <a:r>
              <a:rPr lang="en-US" dirty="0"/>
              <a:t> </a:t>
            </a:r>
            <a:r>
              <a:rPr lang="en-US" b="1" dirty="0">
                <a:solidFill>
                  <a:srgbClr val="2C14DE"/>
                </a:solidFill>
              </a:rPr>
              <a:t>each term</a:t>
            </a:r>
            <a:r>
              <a:rPr lang="en-US" dirty="0">
                <a:solidFill>
                  <a:srgbClr val="2C14DE"/>
                </a:solidFill>
              </a:rPr>
              <a:t> </a:t>
            </a:r>
            <a:r>
              <a:rPr lang="en-US" dirty="0"/>
              <a:t>is the </a:t>
            </a:r>
            <a:r>
              <a:rPr lang="en-US" b="1" dirty="0"/>
              <a:t>sum</a:t>
            </a:r>
            <a:r>
              <a:rPr lang="en-US" dirty="0"/>
              <a:t> of the </a:t>
            </a:r>
            <a:r>
              <a:rPr lang="en-US" b="1" dirty="0">
                <a:solidFill>
                  <a:srgbClr val="2C14DE"/>
                </a:solidFill>
              </a:rPr>
              <a:t>two preceding terms</a:t>
            </a:r>
          </a:p>
          <a:p>
            <a:pPr algn="just" eaLnBrk="1" hangingPunct="1">
              <a:lnSpc>
                <a:spcPct val="80000"/>
              </a:lnSpc>
            </a:pPr>
            <a:endParaRPr lang="en-US" dirty="0"/>
          </a:p>
          <a:p>
            <a:pPr algn="just" eaLnBrk="1" hangingPunct="1">
              <a:lnSpc>
                <a:spcPct val="80000"/>
              </a:lnSpc>
            </a:pPr>
            <a:r>
              <a:rPr lang="en-US" b="1" u="sng" dirty="0"/>
              <a:t>Recursive solution:</a:t>
            </a:r>
          </a:p>
          <a:p>
            <a:pPr lvl="1" algn="just" eaLnBrk="1" hangingPunct="1">
              <a:lnSpc>
                <a:spcPct val="80000"/>
              </a:lnSpc>
              <a:buFontTx/>
              <a:buNone/>
            </a:pPr>
            <a:r>
              <a:rPr lang="en-US" b="1" dirty="0">
                <a:latin typeface="Courier New" panose="02070309020205020404" pitchFamily="49" charset="0"/>
              </a:rPr>
              <a:t>fib(</a:t>
            </a:r>
            <a:r>
              <a:rPr lang="en-US" b="1" dirty="0">
                <a:solidFill>
                  <a:srgbClr val="2F1BC7"/>
                </a:solidFill>
                <a:latin typeface="Courier New" panose="02070309020205020404" pitchFamily="49" charset="0"/>
              </a:rPr>
              <a:t>n</a:t>
            </a:r>
            <a:r>
              <a:rPr lang="en-US" b="1" dirty="0">
                <a:latin typeface="Courier New" panose="02070309020205020404" pitchFamily="49" charset="0"/>
              </a:rPr>
              <a:t>) = fib(</a:t>
            </a:r>
            <a:r>
              <a:rPr lang="en-US" b="1" dirty="0">
                <a:solidFill>
                  <a:srgbClr val="2F1BC7"/>
                </a:solidFill>
                <a:latin typeface="Courier New" panose="02070309020205020404" pitchFamily="49" charset="0"/>
              </a:rPr>
              <a:t>n – 1</a:t>
            </a:r>
            <a:r>
              <a:rPr lang="en-US" b="1" dirty="0">
                <a:latin typeface="Courier New" panose="02070309020205020404" pitchFamily="49" charset="0"/>
              </a:rPr>
              <a:t>) + fib(</a:t>
            </a:r>
            <a:r>
              <a:rPr lang="en-US" b="1" dirty="0">
                <a:solidFill>
                  <a:srgbClr val="2F1BC7"/>
                </a:solidFill>
                <a:latin typeface="Courier New" panose="02070309020205020404" pitchFamily="49" charset="0"/>
              </a:rPr>
              <a:t>n – 2</a:t>
            </a:r>
            <a:r>
              <a:rPr lang="en-US" b="1" dirty="0">
                <a:latin typeface="Courier New" panose="02070309020205020404" pitchFamily="49" charset="0"/>
              </a:rPr>
              <a:t>);</a:t>
            </a:r>
          </a:p>
          <a:p>
            <a:pPr lvl="1" algn="just" eaLnBrk="1" hangingPunct="1">
              <a:lnSpc>
                <a:spcPct val="80000"/>
              </a:lnSpc>
              <a:buFontTx/>
              <a:buNone/>
            </a:pPr>
            <a:endParaRPr lang="en-US" b="1" dirty="0">
              <a:latin typeface="Courier New" panose="02070309020205020404" pitchFamily="49" charset="0"/>
            </a:endParaRPr>
          </a:p>
          <a:p>
            <a:pPr algn="just" eaLnBrk="1" hangingPunct="1">
              <a:lnSpc>
                <a:spcPct val="80000"/>
              </a:lnSpc>
            </a:pPr>
            <a:r>
              <a:rPr lang="en-US" b="1" dirty="0"/>
              <a:t>Base cases</a:t>
            </a:r>
            <a:r>
              <a:rPr lang="en-US" dirty="0"/>
              <a:t>: </a:t>
            </a:r>
            <a:r>
              <a:rPr lang="en-US" sz="2800" b="1" dirty="0">
                <a:solidFill>
                  <a:srgbClr val="008000"/>
                </a:solidFill>
                <a:latin typeface="Courier New" panose="02070309020205020404" pitchFamily="49" charset="0"/>
              </a:rPr>
              <a:t>n == 0, n == 1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1DF9B13-E3BA-453C-9737-AC5F78C1F9C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Object Oriented Programming-Spring 24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BF6D0ED-FCD8-F76C-2D68-DEE8693820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845F5A-061D-4825-9AE9-D7794091C6CF}" type="slidenum">
              <a:rPr lang="en-US" smtClean="0"/>
              <a:t>25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36646803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8EE82C-6284-85E2-FC52-86C9E2EE83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Recursion</a:t>
            </a:r>
            <a:endParaRPr lang="en-PK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4D8174B-E3EA-131B-F10C-864FB07467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Object Oriented Programming-Spring 24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698039E-820F-AC3E-9A4E-E5AA639850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845F5A-061D-4825-9AE9-D7794091C6CF}" type="slidenum">
              <a:rPr lang="en-US" smtClean="0"/>
              <a:t>26</a:t>
            </a:fld>
            <a:endParaRPr lang="en-US" dirty="0"/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F4999BE7-4F68-9218-E0B0-DF665AB0AFD1}"/>
              </a:ext>
            </a:extLst>
          </p:cNvPr>
          <p:cNvGrpSpPr/>
          <p:nvPr/>
        </p:nvGrpSpPr>
        <p:grpSpPr>
          <a:xfrm>
            <a:off x="2316162" y="1690690"/>
            <a:ext cx="7559675" cy="4665586"/>
            <a:chOff x="552450" y="1539875"/>
            <a:chExt cx="7559675" cy="4665586"/>
          </a:xfrm>
        </p:grpSpPr>
        <p:sp>
          <p:nvSpPr>
            <p:cNvPr id="7" name="Line 3">
              <a:extLst>
                <a:ext uri="{FF2B5EF4-FFF2-40B4-BE49-F238E27FC236}">
                  <a16:creationId xmlns:a16="http://schemas.microsoft.com/office/drawing/2014/main" id="{AFA9BDD7-502D-C5CD-94FF-0600EC40F2A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600575" y="2036762"/>
              <a:ext cx="0" cy="479425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8" name="Line 4">
              <a:extLst>
                <a:ext uri="{FF2B5EF4-FFF2-40B4-BE49-F238E27FC236}">
                  <a16:creationId xmlns:a16="http://schemas.microsoft.com/office/drawing/2014/main" id="{AE2FA016-C6C6-226E-72FF-4872F72D2830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3051175" y="3043237"/>
              <a:ext cx="1093788" cy="427038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9" name="Line 5">
              <a:extLst>
                <a:ext uri="{FF2B5EF4-FFF2-40B4-BE49-F238E27FC236}">
                  <a16:creationId xmlns:a16="http://schemas.microsoft.com/office/drawing/2014/main" id="{1A1E70C8-E46A-D130-8DFC-EEE8F7C699B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103813" y="3009900"/>
              <a:ext cx="884237" cy="427037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0" name="Line 6">
              <a:extLst>
                <a:ext uri="{FF2B5EF4-FFF2-40B4-BE49-F238E27FC236}">
                  <a16:creationId xmlns:a16="http://schemas.microsoft.com/office/drawing/2014/main" id="{BDF2D759-6F86-BA48-965B-3A168100D5AC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1868488" y="3783012"/>
              <a:ext cx="763587" cy="487363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" name="Line 7">
              <a:extLst>
                <a:ext uri="{FF2B5EF4-FFF2-40B4-BE49-F238E27FC236}">
                  <a16:creationId xmlns:a16="http://schemas.microsoft.com/office/drawing/2014/main" id="{A53FAF4D-6A4C-ED5F-FDF9-9DC4B2134C9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549650" y="3773487"/>
              <a:ext cx="663575" cy="487363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2" name="Line 8">
              <a:extLst>
                <a:ext uri="{FF2B5EF4-FFF2-40B4-BE49-F238E27FC236}">
                  <a16:creationId xmlns:a16="http://schemas.microsoft.com/office/drawing/2014/main" id="{3F60EB73-AD65-C14D-6CB0-7666A40A712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594350" y="3810000"/>
              <a:ext cx="1223963" cy="48895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" name="Line 9">
              <a:extLst>
                <a:ext uri="{FF2B5EF4-FFF2-40B4-BE49-F238E27FC236}">
                  <a16:creationId xmlns:a16="http://schemas.microsoft.com/office/drawing/2014/main" id="{12C3966F-DA5D-F6DD-26DC-B5FB9F781C7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504950" y="4619625"/>
              <a:ext cx="941388" cy="441325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4" name="Text Box 10">
              <a:extLst>
                <a:ext uri="{FF2B5EF4-FFF2-40B4-BE49-F238E27FC236}">
                  <a16:creationId xmlns:a16="http://schemas.microsoft.com/office/drawing/2014/main" id="{DE34A723-CCAF-960A-A882-32B5A12EFE6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52450" y="1539875"/>
              <a:ext cx="2860675" cy="42537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/>
              <a:ext uri="{91240B29-F687-4f45-9708-019B960494DF}"/>
              <a:ext uri="{AF507438-7753-43e0-B8FC-AC1667EBCBE1}"/>
            </a:extLst>
          </p:spPr>
          <p:txBody>
            <a:bodyPr wrap="square" lIns="92075" tIns="46038" rIns="92075" bIns="46038">
              <a:spAutoFit/>
            </a:bodyPr>
            <a:lstStyle/>
            <a:p>
              <a:pPr marL="685800" indent="-228600">
                <a:lnSpc>
                  <a:spcPct val="90000"/>
                </a:lnSpc>
                <a:spcBef>
                  <a:spcPct val="50000"/>
                </a:spcBef>
                <a:buClr>
                  <a:schemeClr val="tx2"/>
                </a:buClr>
                <a:buSzPct val="100000"/>
                <a:defRPr/>
              </a:pPr>
              <a:r>
                <a:rPr lang="en-US" sz="2400" b="1" dirty="0">
                  <a:solidFill>
                    <a:srgbClr val="FF0000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</a:rPr>
                <a:t>5</a:t>
              </a:r>
              <a:r>
                <a:rPr lang="en-US" sz="2400" b="1" baseline="30000" dirty="0">
                  <a:solidFill>
                    <a:srgbClr val="FF0000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</a:rPr>
                <a:t>th</a:t>
              </a:r>
              <a:r>
                <a:rPr lang="en-US" sz="2400" b="1" dirty="0">
                  <a:solidFill>
                    <a:srgbClr val="FF0000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</a:rPr>
                <a:t> Fib. Number</a:t>
              </a:r>
            </a:p>
          </p:txBody>
        </p:sp>
        <p:sp>
          <p:nvSpPr>
            <p:cNvPr id="15" name="Text Box 11">
              <a:extLst>
                <a:ext uri="{FF2B5EF4-FFF2-40B4-BE49-F238E27FC236}">
                  <a16:creationId xmlns:a16="http://schemas.microsoft.com/office/drawing/2014/main" id="{1C95AA92-A864-6C2D-B6BC-E1958F12383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783013" y="1576387"/>
              <a:ext cx="1646237" cy="4206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/>
              <a:ext uri="{91240B29-F687-4f45-9708-019B960494DF}"/>
              <a:ext uri="{AF507438-7753-43e0-B8FC-AC1667EBCBE1}"/>
            </a:extLst>
          </p:spPr>
          <p:txBody>
            <a:bodyPr lIns="92075" tIns="46038" rIns="92075" bIns="46038">
              <a:spAutoFit/>
            </a:bodyPr>
            <a:lstStyle/>
            <a:p>
              <a:pPr marL="685800" indent="-228600">
                <a:lnSpc>
                  <a:spcPct val="90000"/>
                </a:lnSpc>
                <a:spcBef>
                  <a:spcPct val="50000"/>
                </a:spcBef>
                <a:buClr>
                  <a:schemeClr val="tx2"/>
                </a:buClr>
                <a:buSzPct val="100000"/>
                <a:defRPr/>
              </a:pPr>
              <a:r>
                <a:rPr lang="en-US" sz="2400" dirty="0">
                  <a:solidFill>
                    <a:schemeClr val="tx2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latin typeface="Times" charset="0"/>
                </a:rPr>
                <a:t>fib 5</a:t>
              </a:r>
            </a:p>
          </p:txBody>
        </p:sp>
        <p:sp>
          <p:nvSpPr>
            <p:cNvPr id="16" name="Text Box 12">
              <a:extLst>
                <a:ext uri="{FF2B5EF4-FFF2-40B4-BE49-F238E27FC236}">
                  <a16:creationId xmlns:a16="http://schemas.microsoft.com/office/drawing/2014/main" id="{6BF47D5D-09F6-88E2-8742-22F61CDB8BA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317875" y="2635250"/>
              <a:ext cx="2549525" cy="42068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/>
              <a:ext uri="{91240B29-F687-4f45-9708-019B960494DF}"/>
              <a:ext uri="{AF507438-7753-43e0-B8FC-AC1667EBCBE1}"/>
            </a:extLst>
          </p:spPr>
          <p:txBody>
            <a:bodyPr lIns="92075" tIns="46038" rIns="92075" bIns="46038">
              <a:spAutoFit/>
            </a:bodyPr>
            <a:lstStyle/>
            <a:p>
              <a:pPr marL="685800" indent="-228600">
                <a:lnSpc>
                  <a:spcPct val="90000"/>
                </a:lnSpc>
                <a:spcBef>
                  <a:spcPct val="50000"/>
                </a:spcBef>
                <a:buClr>
                  <a:schemeClr val="tx2"/>
                </a:buClr>
                <a:buSzPct val="100000"/>
                <a:defRPr/>
              </a:pPr>
              <a:r>
                <a:rPr lang="en-US" sz="2400" dirty="0">
                  <a:solidFill>
                    <a:schemeClr val="tx2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latin typeface="Times" charset="0"/>
                </a:rPr>
                <a:t>fib 4 + fib 3</a:t>
              </a:r>
            </a:p>
          </p:txBody>
        </p:sp>
        <p:sp>
          <p:nvSpPr>
            <p:cNvPr id="17" name="Text Box 13">
              <a:extLst>
                <a:ext uri="{FF2B5EF4-FFF2-40B4-BE49-F238E27FC236}">
                  <a16:creationId xmlns:a16="http://schemas.microsoft.com/office/drawing/2014/main" id="{01E9C64B-629F-5264-CBB4-1FC1A39BA47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749425" y="3408362"/>
              <a:ext cx="2549525" cy="4206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/>
              <a:ext uri="{91240B29-F687-4f45-9708-019B960494DF}"/>
              <a:ext uri="{AF507438-7753-43e0-B8FC-AC1667EBCBE1}"/>
            </a:extLst>
          </p:spPr>
          <p:txBody>
            <a:bodyPr lIns="92075" tIns="46038" rIns="92075" bIns="46038">
              <a:spAutoFit/>
            </a:bodyPr>
            <a:lstStyle/>
            <a:p>
              <a:pPr marL="685800" indent="-228600">
                <a:lnSpc>
                  <a:spcPct val="90000"/>
                </a:lnSpc>
                <a:spcBef>
                  <a:spcPct val="50000"/>
                </a:spcBef>
                <a:buClr>
                  <a:schemeClr val="tx2"/>
                </a:buClr>
                <a:buSzPct val="100000"/>
                <a:defRPr/>
              </a:pPr>
              <a:r>
                <a:rPr lang="en-US" sz="2400" dirty="0">
                  <a:solidFill>
                    <a:schemeClr val="tx2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latin typeface="Times" charset="0"/>
                </a:rPr>
                <a:t>fib 3 + fib 2</a:t>
              </a:r>
            </a:p>
          </p:txBody>
        </p:sp>
        <p:sp>
          <p:nvSpPr>
            <p:cNvPr id="18" name="Text Box 14">
              <a:extLst>
                <a:ext uri="{FF2B5EF4-FFF2-40B4-BE49-F238E27FC236}">
                  <a16:creationId xmlns:a16="http://schemas.microsoft.com/office/drawing/2014/main" id="{70F2FB1E-2AB9-9BFA-429C-600BC0896EE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727575" y="3421062"/>
              <a:ext cx="2549525" cy="4206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/>
              <a:ext uri="{91240B29-F687-4f45-9708-019B960494DF}"/>
              <a:ext uri="{AF507438-7753-43e0-B8FC-AC1667EBCBE1}"/>
            </a:extLst>
          </p:spPr>
          <p:txBody>
            <a:bodyPr lIns="92075" tIns="46038" rIns="92075" bIns="46038">
              <a:spAutoFit/>
            </a:bodyPr>
            <a:lstStyle/>
            <a:p>
              <a:pPr marL="685800" indent="-228600">
                <a:lnSpc>
                  <a:spcPct val="90000"/>
                </a:lnSpc>
                <a:spcBef>
                  <a:spcPct val="50000"/>
                </a:spcBef>
                <a:buClr>
                  <a:schemeClr val="tx2"/>
                </a:buClr>
                <a:buSzPct val="100000"/>
                <a:defRPr/>
              </a:pPr>
              <a:r>
                <a:rPr lang="en-US" sz="2400" dirty="0">
                  <a:solidFill>
                    <a:schemeClr val="tx2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latin typeface="Times" charset="0"/>
                </a:rPr>
                <a:t>fib 2 + fib 1</a:t>
              </a:r>
            </a:p>
          </p:txBody>
        </p:sp>
        <p:sp>
          <p:nvSpPr>
            <p:cNvPr id="19" name="Text Box 15">
              <a:extLst>
                <a:ext uri="{FF2B5EF4-FFF2-40B4-BE49-F238E27FC236}">
                  <a16:creationId xmlns:a16="http://schemas.microsoft.com/office/drawing/2014/main" id="{1365FE5D-ACF8-D79E-46D9-E7D8437675B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98488" y="4232275"/>
              <a:ext cx="2549525" cy="42068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/>
              <a:ext uri="{91240B29-F687-4f45-9708-019B960494DF}"/>
              <a:ext uri="{AF507438-7753-43e0-B8FC-AC1667EBCBE1}"/>
            </a:extLst>
          </p:spPr>
          <p:txBody>
            <a:bodyPr lIns="92075" tIns="46038" rIns="92075" bIns="46038">
              <a:spAutoFit/>
            </a:bodyPr>
            <a:lstStyle/>
            <a:p>
              <a:pPr marL="685800" indent="-228600">
                <a:lnSpc>
                  <a:spcPct val="90000"/>
                </a:lnSpc>
                <a:spcBef>
                  <a:spcPct val="50000"/>
                </a:spcBef>
                <a:buClr>
                  <a:schemeClr val="tx2"/>
                </a:buClr>
                <a:buSzPct val="100000"/>
                <a:defRPr/>
              </a:pPr>
              <a:r>
                <a:rPr lang="en-US" sz="2400" dirty="0">
                  <a:solidFill>
                    <a:schemeClr val="tx2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latin typeface="Times" charset="0"/>
                </a:rPr>
                <a:t>fib 2 + fib 1</a:t>
              </a:r>
            </a:p>
          </p:txBody>
        </p:sp>
        <p:sp>
          <p:nvSpPr>
            <p:cNvPr id="20" name="Text Box 16">
              <a:extLst>
                <a:ext uri="{FF2B5EF4-FFF2-40B4-BE49-F238E27FC236}">
                  <a16:creationId xmlns:a16="http://schemas.microsoft.com/office/drawing/2014/main" id="{DC90D27F-8EDB-49ED-9D79-F6A38F71BE1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952750" y="4230687"/>
              <a:ext cx="2549525" cy="4206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/>
              <a:ext uri="{91240B29-F687-4f45-9708-019B960494DF}"/>
              <a:ext uri="{AF507438-7753-43e0-B8FC-AC1667EBCBE1}"/>
            </a:extLst>
          </p:spPr>
          <p:txBody>
            <a:bodyPr lIns="92075" tIns="46038" rIns="92075" bIns="46038">
              <a:spAutoFit/>
            </a:bodyPr>
            <a:lstStyle/>
            <a:p>
              <a:pPr marL="685800" indent="-228600">
                <a:lnSpc>
                  <a:spcPct val="90000"/>
                </a:lnSpc>
                <a:spcBef>
                  <a:spcPct val="50000"/>
                </a:spcBef>
                <a:buClr>
                  <a:schemeClr val="tx2"/>
                </a:buClr>
                <a:buSzPct val="100000"/>
                <a:defRPr/>
              </a:pPr>
              <a:r>
                <a:rPr lang="en-US" sz="2400" dirty="0">
                  <a:solidFill>
                    <a:schemeClr val="tx2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latin typeface="Times" charset="0"/>
                </a:rPr>
                <a:t>fib 1 + fib 0</a:t>
              </a:r>
            </a:p>
          </p:txBody>
        </p:sp>
        <p:sp>
          <p:nvSpPr>
            <p:cNvPr id="21" name="Text Box 17">
              <a:extLst>
                <a:ext uri="{FF2B5EF4-FFF2-40B4-BE49-F238E27FC236}">
                  <a16:creationId xmlns:a16="http://schemas.microsoft.com/office/drawing/2014/main" id="{9752D7AE-85EB-A024-79A6-464DEB6644E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562600" y="4219575"/>
              <a:ext cx="2549525" cy="42068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/>
              <a:ext uri="{91240B29-F687-4f45-9708-019B960494DF}"/>
              <a:ext uri="{AF507438-7753-43e0-B8FC-AC1667EBCBE1}"/>
            </a:extLst>
          </p:spPr>
          <p:txBody>
            <a:bodyPr lIns="92075" tIns="46038" rIns="92075" bIns="46038">
              <a:spAutoFit/>
            </a:bodyPr>
            <a:lstStyle/>
            <a:p>
              <a:pPr marL="685800" indent="-228600">
                <a:lnSpc>
                  <a:spcPct val="90000"/>
                </a:lnSpc>
                <a:spcBef>
                  <a:spcPct val="50000"/>
                </a:spcBef>
                <a:buClr>
                  <a:schemeClr val="tx2"/>
                </a:buClr>
                <a:buSzPct val="100000"/>
                <a:defRPr/>
              </a:pPr>
              <a:r>
                <a:rPr lang="en-US" sz="2400" dirty="0">
                  <a:solidFill>
                    <a:schemeClr val="tx2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latin typeface="Times" charset="0"/>
                </a:rPr>
                <a:t>fib 1 + fib 0</a:t>
              </a:r>
            </a:p>
          </p:txBody>
        </p:sp>
        <p:sp>
          <p:nvSpPr>
            <p:cNvPr id="22" name="Text Box 18">
              <a:extLst>
                <a:ext uri="{FF2B5EF4-FFF2-40B4-BE49-F238E27FC236}">
                  <a16:creationId xmlns:a16="http://schemas.microsoft.com/office/drawing/2014/main" id="{ADB76B4F-1673-B636-0B12-DB4297D1273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231900" y="5037137"/>
              <a:ext cx="2549525" cy="4206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/>
              <a:ext uri="{91240B29-F687-4f45-9708-019B960494DF}"/>
              <a:ext uri="{AF507438-7753-43e0-B8FC-AC1667EBCBE1}"/>
            </a:extLst>
          </p:spPr>
          <p:txBody>
            <a:bodyPr lIns="92075" tIns="46038" rIns="92075" bIns="46038">
              <a:spAutoFit/>
            </a:bodyPr>
            <a:lstStyle/>
            <a:p>
              <a:pPr marL="685800" indent="-228600">
                <a:lnSpc>
                  <a:spcPct val="90000"/>
                </a:lnSpc>
                <a:spcBef>
                  <a:spcPct val="50000"/>
                </a:spcBef>
                <a:buClr>
                  <a:schemeClr val="tx2"/>
                </a:buClr>
                <a:buSzPct val="100000"/>
                <a:defRPr/>
              </a:pPr>
              <a:r>
                <a:rPr lang="en-US" sz="2400" dirty="0">
                  <a:solidFill>
                    <a:schemeClr val="tx2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latin typeface="Times" charset="0"/>
                </a:rPr>
                <a:t>fib 1 + fib 0</a:t>
              </a:r>
            </a:p>
          </p:txBody>
        </p:sp>
        <p:sp>
          <p:nvSpPr>
            <p:cNvPr id="23" name="Oval 19">
              <a:extLst>
                <a:ext uri="{FF2B5EF4-FFF2-40B4-BE49-F238E27FC236}">
                  <a16:creationId xmlns:a16="http://schemas.microsoft.com/office/drawing/2014/main" id="{BD15FA06-7066-1CF9-0EC7-A80A259684E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162175" y="5051425"/>
              <a:ext cx="328613" cy="841375"/>
            </a:xfrm>
            <a:prstGeom prst="ellipse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lIns="92075" tIns="46038" rIns="92075" bIns="46038" anchor="ctr"/>
            <a:lstStyle>
              <a:lvl1pPr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eaLnBrk="1" hangingPunct="1"/>
              <a:endParaRPr lang="fr-FR"/>
            </a:p>
          </p:txBody>
        </p:sp>
        <p:sp>
          <p:nvSpPr>
            <p:cNvPr id="24" name="Oval 20">
              <a:extLst>
                <a:ext uri="{FF2B5EF4-FFF2-40B4-BE49-F238E27FC236}">
                  <a16:creationId xmlns:a16="http://schemas.microsoft.com/office/drawing/2014/main" id="{E3D03539-2DF1-2B0D-AB5F-7E48E7A008C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965325" y="4210050"/>
              <a:ext cx="708025" cy="487362"/>
            </a:xfrm>
            <a:prstGeom prst="ellipse">
              <a:avLst/>
            </a:prstGeom>
            <a:noFill/>
            <a:ln w="28575">
              <a:solidFill>
                <a:srgbClr val="FF66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lIns="92075" tIns="46038" rIns="92075" bIns="46038" anchor="ctr"/>
            <a:lstStyle>
              <a:lvl1pPr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eaLnBrk="1" hangingPunct="1"/>
              <a:endParaRPr lang="fr-FR"/>
            </a:p>
          </p:txBody>
        </p:sp>
        <p:sp>
          <p:nvSpPr>
            <p:cNvPr id="25" name="Oval 21">
              <a:extLst>
                <a:ext uri="{FF2B5EF4-FFF2-40B4-BE49-F238E27FC236}">
                  <a16:creationId xmlns:a16="http://schemas.microsoft.com/office/drawing/2014/main" id="{650AD86D-663B-C1F4-5E9E-2A5463F1456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094413" y="3398837"/>
              <a:ext cx="708025" cy="487363"/>
            </a:xfrm>
            <a:prstGeom prst="ellipse">
              <a:avLst/>
            </a:prstGeom>
            <a:noFill/>
            <a:ln w="28575">
              <a:solidFill>
                <a:srgbClr val="FF66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lIns="92075" tIns="46038" rIns="92075" bIns="46038" anchor="ctr"/>
            <a:lstStyle>
              <a:lvl1pPr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eaLnBrk="1" hangingPunct="1"/>
              <a:endParaRPr lang="fr-FR"/>
            </a:p>
          </p:txBody>
        </p:sp>
        <p:sp>
          <p:nvSpPr>
            <p:cNvPr id="26" name="Oval 22">
              <a:extLst>
                <a:ext uri="{FF2B5EF4-FFF2-40B4-BE49-F238E27FC236}">
                  <a16:creationId xmlns:a16="http://schemas.microsoft.com/office/drawing/2014/main" id="{828860AF-FEC9-F42E-590A-EE7DB2E7125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413125" y="4216400"/>
              <a:ext cx="708025" cy="487362"/>
            </a:xfrm>
            <a:prstGeom prst="ellipse">
              <a:avLst/>
            </a:prstGeom>
            <a:noFill/>
            <a:ln w="28575">
              <a:solidFill>
                <a:srgbClr val="FF66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lIns="92075" tIns="46038" rIns="92075" bIns="46038" anchor="ctr"/>
            <a:lstStyle>
              <a:lvl1pPr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eaLnBrk="1" hangingPunct="1"/>
              <a:endParaRPr lang="fr-FR"/>
            </a:p>
          </p:txBody>
        </p:sp>
        <p:sp>
          <p:nvSpPr>
            <p:cNvPr id="27" name="Oval 23">
              <a:extLst>
                <a:ext uri="{FF2B5EF4-FFF2-40B4-BE49-F238E27FC236}">
                  <a16:creationId xmlns:a16="http://schemas.microsoft.com/office/drawing/2014/main" id="{41676CEF-6841-7DB4-03DE-A91D3553FAC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927850" y="4186237"/>
              <a:ext cx="708025" cy="487363"/>
            </a:xfrm>
            <a:prstGeom prst="ellipse">
              <a:avLst/>
            </a:prstGeom>
            <a:noFill/>
            <a:ln w="28575">
              <a:solidFill>
                <a:srgbClr val="FF66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lIns="92075" tIns="46038" rIns="92075" bIns="46038" anchor="ctr"/>
            <a:lstStyle>
              <a:lvl1pPr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eaLnBrk="1" hangingPunct="1"/>
              <a:endParaRPr lang="fr-FR"/>
            </a:p>
          </p:txBody>
        </p:sp>
        <p:sp>
          <p:nvSpPr>
            <p:cNvPr id="28" name="Oval 24">
              <a:extLst>
                <a:ext uri="{FF2B5EF4-FFF2-40B4-BE49-F238E27FC236}">
                  <a16:creationId xmlns:a16="http://schemas.microsoft.com/office/drawing/2014/main" id="{496724DF-2291-8439-07DE-649F4F1C310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313238" y="4203700"/>
              <a:ext cx="708025" cy="487362"/>
            </a:xfrm>
            <a:prstGeom prst="ellipse">
              <a:avLst/>
            </a:prstGeom>
            <a:noFill/>
            <a:ln w="28575">
              <a:solidFill>
                <a:srgbClr val="FF66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lIns="92075" tIns="46038" rIns="92075" bIns="46038" anchor="ctr"/>
            <a:lstStyle>
              <a:lvl1pPr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eaLnBrk="1" hangingPunct="1"/>
              <a:endParaRPr lang="fr-FR"/>
            </a:p>
          </p:txBody>
        </p:sp>
        <p:sp>
          <p:nvSpPr>
            <p:cNvPr id="29" name="Oval 25">
              <a:extLst>
                <a:ext uri="{FF2B5EF4-FFF2-40B4-BE49-F238E27FC236}">
                  <a16:creationId xmlns:a16="http://schemas.microsoft.com/office/drawing/2014/main" id="{18F9B152-BF6E-F004-C15D-B011B19DB65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019800" y="4191000"/>
              <a:ext cx="708025" cy="487362"/>
            </a:xfrm>
            <a:prstGeom prst="ellipse">
              <a:avLst/>
            </a:prstGeom>
            <a:noFill/>
            <a:ln w="28575">
              <a:solidFill>
                <a:srgbClr val="FF66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lIns="92075" tIns="46038" rIns="92075" bIns="46038" anchor="ctr"/>
            <a:lstStyle>
              <a:lvl1pPr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eaLnBrk="1" hangingPunct="1"/>
              <a:endParaRPr lang="fr-FR"/>
            </a:p>
          </p:txBody>
        </p:sp>
        <p:sp>
          <p:nvSpPr>
            <p:cNvPr id="30" name="Oval 26">
              <a:extLst>
                <a:ext uri="{FF2B5EF4-FFF2-40B4-BE49-F238E27FC236}">
                  <a16:creationId xmlns:a16="http://schemas.microsoft.com/office/drawing/2014/main" id="{9D711FA7-045B-5F64-53CF-754297E220D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595563" y="5021262"/>
              <a:ext cx="708025" cy="487363"/>
            </a:xfrm>
            <a:prstGeom prst="ellipse">
              <a:avLst/>
            </a:prstGeom>
            <a:noFill/>
            <a:ln w="28575">
              <a:solidFill>
                <a:srgbClr val="FF66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lIns="92075" tIns="46038" rIns="92075" bIns="46038" anchor="ctr"/>
            <a:lstStyle>
              <a:lvl1pPr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eaLnBrk="1" hangingPunct="1"/>
              <a:endParaRPr lang="fr-FR"/>
            </a:p>
          </p:txBody>
        </p:sp>
        <p:sp>
          <p:nvSpPr>
            <p:cNvPr id="31" name="Oval 27">
              <a:extLst>
                <a:ext uri="{FF2B5EF4-FFF2-40B4-BE49-F238E27FC236}">
                  <a16:creationId xmlns:a16="http://schemas.microsoft.com/office/drawing/2014/main" id="{F0E0C323-DB1C-A03A-6141-7990286ABCA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698625" y="5014912"/>
              <a:ext cx="708025" cy="487363"/>
            </a:xfrm>
            <a:prstGeom prst="ellipse">
              <a:avLst/>
            </a:prstGeom>
            <a:noFill/>
            <a:ln w="28575">
              <a:solidFill>
                <a:srgbClr val="FF66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lIns="92075" tIns="46038" rIns="92075" bIns="46038" anchor="ctr"/>
            <a:lstStyle>
              <a:lvl1pPr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eaLnBrk="1" hangingPunct="1"/>
              <a:endParaRPr lang="fr-FR"/>
            </a:p>
          </p:txBody>
        </p:sp>
        <p:sp>
          <p:nvSpPr>
            <p:cNvPr id="32" name="Text Box 28">
              <a:extLst>
                <a:ext uri="{FF2B5EF4-FFF2-40B4-BE49-F238E27FC236}">
                  <a16:creationId xmlns:a16="http://schemas.microsoft.com/office/drawing/2014/main" id="{50F173DD-2372-8436-A738-887EAAE35A9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917950" y="5780087"/>
              <a:ext cx="1339850" cy="42537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/>
              <a:ext uri="{91240B29-F687-4f45-9708-019B960494DF}"/>
              <a:ext uri="{AF507438-7753-43e0-B8FC-AC1667EBCBE1}"/>
            </a:extLst>
          </p:spPr>
          <p:txBody>
            <a:bodyPr lIns="92075" tIns="46038" rIns="92075" bIns="46038">
              <a:spAutoFit/>
            </a:bodyPr>
            <a:lstStyle/>
            <a:p>
              <a:pPr marL="685800" indent="-228600">
                <a:lnSpc>
                  <a:spcPct val="90000"/>
                </a:lnSpc>
                <a:spcBef>
                  <a:spcPct val="50000"/>
                </a:spcBef>
                <a:buClr>
                  <a:schemeClr val="tx2"/>
                </a:buClr>
                <a:buSzPct val="100000"/>
                <a:defRPr/>
              </a:pPr>
              <a:r>
                <a:rPr lang="en-US" sz="2400" b="1" dirty="0">
                  <a:solidFill>
                    <a:srgbClr val="FF0000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latin typeface="Times" charset="0"/>
                </a:rPr>
                <a:t>= 5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645135457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867AC7-C820-6ADD-F1BF-43D281DE03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Recursive Fibonacci Function</a:t>
            </a:r>
            <a:endParaRPr lang="en-PK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14D501B-C351-4582-CC12-84635B0E79B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Object Oriented Programming-Spring 24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51E3888-B249-41D6-1CBD-0193C4BCC5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845F5A-061D-4825-9AE9-D7794091C6CF}" type="slidenum">
              <a:rPr lang="en-US" smtClean="0"/>
              <a:t>27</a:t>
            </a:fld>
            <a:endParaRPr lang="en-US" dirty="0"/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50E6D16E-0E24-03F7-AD9F-B5F978F772B6}"/>
              </a:ext>
            </a:extLst>
          </p:cNvPr>
          <p:cNvGrpSpPr/>
          <p:nvPr/>
        </p:nvGrpSpPr>
        <p:grpSpPr>
          <a:xfrm>
            <a:off x="2941558" y="1690690"/>
            <a:ext cx="6308884" cy="4488907"/>
            <a:chOff x="175043" y="1236552"/>
            <a:chExt cx="7263685" cy="5486400"/>
          </a:xfrm>
        </p:grpSpPr>
        <p:pic>
          <p:nvPicPr>
            <p:cNvPr id="10" name="Picture 9">
              <a:extLst>
                <a:ext uri="{FF2B5EF4-FFF2-40B4-BE49-F238E27FC236}">
                  <a16:creationId xmlns:a16="http://schemas.microsoft.com/office/drawing/2014/main" id="{099D98AC-A03E-397F-5000-766E7B1665C8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75043" y="1236552"/>
              <a:ext cx="7263685" cy="5486400"/>
            </a:xfrm>
            <a:prstGeom prst="rect">
              <a:avLst/>
            </a:prstGeom>
          </p:spPr>
        </p:pic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A880786E-A690-7002-668A-519262721835}"/>
                </a:ext>
              </a:extLst>
            </p:cNvPr>
            <p:cNvSpPr txBox="1"/>
            <p:nvPr/>
          </p:nvSpPr>
          <p:spPr>
            <a:xfrm>
              <a:off x="2209800" y="2667000"/>
              <a:ext cx="466794" cy="400110"/>
            </a:xfrm>
            <a:prstGeom prst="rect">
              <a:avLst/>
            </a:prstGeom>
            <a:solidFill>
              <a:schemeClr val="bg1"/>
            </a:solidFill>
          </p:spPr>
          <p:txBody>
            <a:bodyPr wrap="none" rtlCol="0">
              <a:spAutoFit/>
            </a:bodyPr>
            <a:lstStyle/>
            <a:p>
              <a:r>
                <a:rPr lang="en-US" sz="2000" dirty="0">
                  <a:solidFill>
                    <a:srgbClr val="2C14DE"/>
                  </a:solidFill>
                  <a:latin typeface="Consolas" panose="020B0609020204030204" pitchFamily="49" charset="0"/>
                </a:rPr>
                <a:t>0</a:t>
              </a:r>
              <a:r>
                <a:rPr lang="en-US" sz="2000" dirty="0">
                  <a:latin typeface="Consolas" panose="020B0609020204030204" pitchFamily="49" charset="0"/>
                </a:rPr>
                <a:t>;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423325795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275DA8-894D-CFFA-C1D5-7EF9D53CBE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Solving Recursively Defined Problems</a:t>
            </a:r>
            <a:endParaRPr lang="en-PK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F75BBB8-E713-8CE4-316B-AD2F87E4321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lvl="1" indent="0" algn="just">
              <a:lnSpc>
                <a:spcPct val="90000"/>
              </a:lnSpc>
              <a:buClr>
                <a:schemeClr val="tx1"/>
              </a:buClr>
              <a:buFontTx/>
              <a:buNone/>
            </a:pPr>
            <a:r>
              <a:rPr lang="en-US" dirty="0"/>
              <a:t>One of the most famous mathematical recursive algorithms is the Fibonacci sequence. </a:t>
            </a:r>
          </a:p>
          <a:p>
            <a:pPr marL="0" lvl="1" indent="0" algn="just">
              <a:lnSpc>
                <a:spcPct val="90000"/>
              </a:lnSpc>
              <a:buClr>
                <a:schemeClr val="tx1"/>
              </a:buClr>
              <a:buFontTx/>
              <a:buNone/>
            </a:pPr>
            <a:endParaRPr lang="en-US" dirty="0"/>
          </a:p>
          <a:p>
            <a:pPr marL="0" lvl="1" indent="0" algn="just">
              <a:lnSpc>
                <a:spcPct val="90000"/>
              </a:lnSpc>
              <a:buClr>
                <a:schemeClr val="tx1"/>
              </a:buClr>
              <a:buFontTx/>
              <a:buNone/>
            </a:pPr>
            <a:r>
              <a:rPr lang="en-US" dirty="0"/>
              <a:t>Fibonacci sequences appear in many places in nature, such as branching of trees, the spiral of shells, the fruitlets of a pineapple, an uncurling fern frond, and the arrangement of a pine cone. </a:t>
            </a:r>
          </a:p>
          <a:p>
            <a:pPr algn="just"/>
            <a:endParaRPr lang="en-PK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3DE80DF-D526-17B6-A92B-35578C343BE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Object Oriented Programming-Spring 24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C5F84A9-A27D-EB99-4C0D-AE3A1B8AF1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845F5A-061D-4825-9AE9-D7794091C6CF}" type="slidenum">
              <a:rPr lang="en-US" smtClean="0"/>
              <a:t>28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99020201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35A611-E88F-F65C-3C1B-6A8B41F9F7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What will be recursively?</a:t>
            </a:r>
            <a:endParaRPr lang="en-PK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0F35CD8-8AEF-77B8-CDF2-BB1EB38A47A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pPr marL="0" indent="0">
              <a:buNone/>
            </a:pPr>
            <a:r>
              <a:rPr lang="en-GB" sz="1800" b="1" i="0" dirty="0">
                <a:solidFill>
                  <a:srgbClr val="1990B8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GB" sz="1800" b="1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GB" sz="1800" b="1" i="0" dirty="0">
                <a:solidFill>
                  <a:srgbClr val="2F9C0A"/>
                </a:solidFill>
                <a:effectLst/>
                <a:latin typeface="Consolas" panose="020B0609020204030204" pitchFamily="49" charset="0"/>
              </a:rPr>
              <a:t>main</a:t>
            </a:r>
            <a:r>
              <a:rPr lang="en-GB" sz="1800" b="1" i="0" dirty="0">
                <a:solidFill>
                  <a:srgbClr val="5F6364"/>
                </a:solidFill>
                <a:effectLst/>
                <a:latin typeface="Consolas" panose="020B0609020204030204" pitchFamily="49" charset="0"/>
              </a:rPr>
              <a:t>()</a:t>
            </a:r>
            <a:r>
              <a:rPr lang="en-GB" sz="1800" b="1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</a:p>
          <a:p>
            <a:pPr marL="0" indent="0">
              <a:buNone/>
            </a:pPr>
            <a:r>
              <a:rPr lang="en-GB" sz="1800" b="1" i="0" dirty="0">
                <a:solidFill>
                  <a:srgbClr val="5F6364"/>
                </a:solidFill>
                <a:effectLst/>
                <a:latin typeface="Consolas" panose="020B0609020204030204" pitchFamily="49" charset="0"/>
              </a:rPr>
              <a:t>{</a:t>
            </a:r>
            <a:r>
              <a:rPr lang="en-GB" sz="1800" b="1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GB" sz="1800" b="1" i="0" dirty="0">
                <a:solidFill>
                  <a:srgbClr val="1990B8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GB" sz="1800" b="1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size</a:t>
            </a:r>
            <a:r>
              <a:rPr lang="en-GB" sz="1800" b="1" i="0" dirty="0">
                <a:solidFill>
                  <a:srgbClr val="5F6364"/>
                </a:solidFill>
                <a:effectLst/>
                <a:latin typeface="Consolas" panose="020B0609020204030204" pitchFamily="49" charset="0"/>
              </a:rPr>
              <a:t>;</a:t>
            </a:r>
            <a:r>
              <a:rPr lang="en-GB" sz="1800" b="1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</a:p>
          <a:p>
            <a:pPr marL="0" indent="0">
              <a:buNone/>
            </a:pPr>
            <a:r>
              <a:rPr lang="en-GB" sz="1800" b="1" i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cout</a:t>
            </a:r>
            <a:r>
              <a:rPr lang="en-GB" sz="1800" b="1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GB" sz="1800" b="1" i="0" dirty="0">
                <a:solidFill>
                  <a:srgbClr val="A67F59"/>
                </a:solidFill>
                <a:effectLst/>
                <a:latin typeface="Consolas" panose="020B0609020204030204" pitchFamily="49" charset="0"/>
              </a:rPr>
              <a:t>&lt;&lt;</a:t>
            </a:r>
            <a:r>
              <a:rPr lang="en-GB" sz="1800" b="1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GB" sz="1800" b="1" i="0" dirty="0">
                <a:solidFill>
                  <a:srgbClr val="2F9C0A"/>
                </a:solidFill>
                <a:effectLst/>
                <a:latin typeface="Consolas" panose="020B0609020204030204" pitchFamily="49" charset="0"/>
              </a:rPr>
              <a:t>"\n\n Print a pattern like square with # character:\n"</a:t>
            </a:r>
            <a:r>
              <a:rPr lang="en-GB" sz="1800" b="1" i="0" dirty="0">
                <a:solidFill>
                  <a:srgbClr val="5F6364"/>
                </a:solidFill>
                <a:effectLst/>
                <a:latin typeface="Consolas" panose="020B0609020204030204" pitchFamily="49" charset="0"/>
              </a:rPr>
              <a:t>;</a:t>
            </a:r>
            <a:r>
              <a:rPr lang="en-GB" sz="1800" b="1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</a:p>
          <a:p>
            <a:pPr marL="0" indent="0">
              <a:buNone/>
            </a:pPr>
            <a:r>
              <a:rPr lang="en-GB" sz="1800" b="1" i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cout</a:t>
            </a:r>
            <a:r>
              <a:rPr lang="en-GB" sz="1800" b="1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GB" sz="1800" b="1" i="0" dirty="0">
                <a:solidFill>
                  <a:srgbClr val="A67F59"/>
                </a:solidFill>
                <a:effectLst/>
                <a:latin typeface="Consolas" panose="020B0609020204030204" pitchFamily="49" charset="0"/>
              </a:rPr>
              <a:t>&lt;&lt;</a:t>
            </a:r>
            <a:r>
              <a:rPr lang="en-GB" sz="1800" b="1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GB" sz="1800" b="1" i="0" dirty="0">
                <a:solidFill>
                  <a:srgbClr val="2F9C0A"/>
                </a:solidFill>
                <a:effectLst/>
                <a:latin typeface="Consolas" panose="020B0609020204030204" pitchFamily="49" charset="0"/>
              </a:rPr>
              <a:t>"--------------------------------------------------\n"</a:t>
            </a:r>
            <a:r>
              <a:rPr lang="en-GB" sz="1800" b="1" i="0" dirty="0">
                <a:solidFill>
                  <a:srgbClr val="5F6364"/>
                </a:solidFill>
                <a:effectLst/>
                <a:latin typeface="Consolas" panose="020B0609020204030204" pitchFamily="49" charset="0"/>
              </a:rPr>
              <a:t>;</a:t>
            </a:r>
            <a:r>
              <a:rPr lang="en-GB" sz="1800" b="1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</a:p>
          <a:p>
            <a:pPr marL="0" indent="0">
              <a:buNone/>
            </a:pPr>
            <a:r>
              <a:rPr lang="en-GB" sz="1800" b="1" i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cout</a:t>
            </a:r>
            <a:r>
              <a:rPr lang="en-GB" sz="1800" b="1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GB" sz="1800" b="1" i="0" dirty="0">
                <a:solidFill>
                  <a:srgbClr val="A67F59"/>
                </a:solidFill>
                <a:effectLst/>
                <a:latin typeface="Consolas" panose="020B0609020204030204" pitchFamily="49" charset="0"/>
              </a:rPr>
              <a:t>&lt;&lt;</a:t>
            </a:r>
            <a:r>
              <a:rPr lang="en-GB" sz="1800" b="1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GB" sz="1800" b="1" i="0" dirty="0">
                <a:solidFill>
                  <a:srgbClr val="2F9C0A"/>
                </a:solidFill>
                <a:effectLst/>
                <a:latin typeface="Consolas" panose="020B0609020204030204" pitchFamily="49" charset="0"/>
              </a:rPr>
              <a:t>" Input the number of characters for a side: "</a:t>
            </a:r>
            <a:r>
              <a:rPr lang="en-GB" sz="1800" b="1" i="0" dirty="0">
                <a:solidFill>
                  <a:srgbClr val="5F6364"/>
                </a:solidFill>
                <a:effectLst/>
                <a:latin typeface="Consolas" panose="020B0609020204030204" pitchFamily="49" charset="0"/>
              </a:rPr>
              <a:t>;</a:t>
            </a:r>
            <a:r>
              <a:rPr lang="en-GB" sz="1800" b="1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</a:p>
          <a:p>
            <a:pPr marL="0" indent="0">
              <a:buNone/>
            </a:pPr>
            <a:r>
              <a:rPr lang="en-GB" sz="1800" b="1" i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cin</a:t>
            </a:r>
            <a:r>
              <a:rPr lang="en-GB" sz="1800" b="1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GB" sz="1800" b="1" i="0" dirty="0">
                <a:solidFill>
                  <a:srgbClr val="A67F59"/>
                </a:solidFill>
                <a:effectLst/>
                <a:latin typeface="Consolas" panose="020B0609020204030204" pitchFamily="49" charset="0"/>
              </a:rPr>
              <a:t>&gt;&gt;</a:t>
            </a:r>
            <a:r>
              <a:rPr lang="en-GB" sz="1800" b="1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size</a:t>
            </a:r>
            <a:r>
              <a:rPr lang="en-GB" sz="1800" b="1" i="0" dirty="0">
                <a:solidFill>
                  <a:srgbClr val="5F6364"/>
                </a:solidFill>
                <a:effectLst/>
                <a:latin typeface="Consolas" panose="020B0609020204030204" pitchFamily="49" charset="0"/>
              </a:rPr>
              <a:t>;</a:t>
            </a:r>
            <a:r>
              <a:rPr lang="en-GB" sz="1800" b="1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</a:p>
          <a:p>
            <a:pPr marL="0" indent="0">
              <a:buNone/>
            </a:pPr>
            <a:r>
              <a:rPr lang="en-GB" sz="1800" b="1" i="0" dirty="0">
                <a:solidFill>
                  <a:srgbClr val="1990B8"/>
                </a:solidFill>
                <a:effectLst/>
                <a:latin typeface="Consolas" panose="020B0609020204030204" pitchFamily="49" charset="0"/>
              </a:rPr>
              <a:t>for</a:t>
            </a:r>
            <a:r>
              <a:rPr lang="en-GB" sz="1800" b="1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GB" sz="1800" b="1" i="0" dirty="0">
                <a:solidFill>
                  <a:srgbClr val="5F6364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GB" sz="1800" b="1" i="0" dirty="0">
                <a:solidFill>
                  <a:srgbClr val="1990B8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GB" sz="1800" b="1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row </a:t>
            </a:r>
            <a:r>
              <a:rPr lang="en-GB" sz="1800" b="1" i="0" dirty="0">
                <a:solidFill>
                  <a:srgbClr val="A67F59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GB" sz="1800" b="1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GB" sz="1800" b="1" i="0" dirty="0">
                <a:solidFill>
                  <a:srgbClr val="C92C2C"/>
                </a:solidFill>
                <a:effectLst/>
                <a:latin typeface="Consolas" panose="020B0609020204030204" pitchFamily="49" charset="0"/>
              </a:rPr>
              <a:t>1</a:t>
            </a:r>
            <a:r>
              <a:rPr lang="en-GB" sz="1800" b="1" i="0" dirty="0">
                <a:solidFill>
                  <a:srgbClr val="5F6364"/>
                </a:solidFill>
                <a:effectLst/>
                <a:latin typeface="Consolas" panose="020B0609020204030204" pitchFamily="49" charset="0"/>
              </a:rPr>
              <a:t>;</a:t>
            </a:r>
            <a:r>
              <a:rPr lang="en-GB" sz="1800" b="1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row </a:t>
            </a:r>
            <a:r>
              <a:rPr lang="en-GB" sz="1800" b="1" i="0" dirty="0">
                <a:solidFill>
                  <a:srgbClr val="A67F59"/>
                </a:solidFill>
                <a:effectLst/>
                <a:latin typeface="Consolas" panose="020B0609020204030204" pitchFamily="49" charset="0"/>
              </a:rPr>
              <a:t>&lt;=</a:t>
            </a:r>
            <a:r>
              <a:rPr lang="en-GB" sz="1800" b="1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size</a:t>
            </a:r>
            <a:r>
              <a:rPr lang="en-GB" sz="1800" b="1" i="0" dirty="0">
                <a:solidFill>
                  <a:srgbClr val="5F6364"/>
                </a:solidFill>
                <a:effectLst/>
                <a:latin typeface="Consolas" panose="020B0609020204030204" pitchFamily="49" charset="0"/>
              </a:rPr>
              <a:t>;</a:t>
            </a:r>
            <a:r>
              <a:rPr lang="en-GB" sz="1800" b="1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GB" sz="1800" b="1" i="0" dirty="0">
                <a:solidFill>
                  <a:srgbClr val="A67F59"/>
                </a:solidFill>
                <a:effectLst/>
                <a:latin typeface="Consolas" panose="020B0609020204030204" pitchFamily="49" charset="0"/>
              </a:rPr>
              <a:t>++</a:t>
            </a:r>
            <a:r>
              <a:rPr lang="en-GB" sz="1800" b="1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row</a:t>
            </a:r>
            <a:r>
              <a:rPr lang="en-GB" sz="1800" b="1" i="0" dirty="0">
                <a:solidFill>
                  <a:srgbClr val="5F6364"/>
                </a:solidFill>
                <a:effectLst/>
                <a:latin typeface="Consolas" panose="020B0609020204030204" pitchFamily="49" charset="0"/>
              </a:rPr>
              <a:t>)</a:t>
            </a:r>
            <a:r>
              <a:rPr lang="en-GB" sz="1800" b="1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</a:p>
          <a:p>
            <a:pPr marL="0" indent="0">
              <a:buNone/>
            </a:pPr>
            <a:r>
              <a:rPr lang="en-GB" sz="1800" b="1" i="0" dirty="0">
                <a:solidFill>
                  <a:srgbClr val="5F6364"/>
                </a:solidFill>
                <a:effectLst/>
                <a:latin typeface="Consolas" panose="020B0609020204030204" pitchFamily="49" charset="0"/>
              </a:rPr>
              <a:t>{</a:t>
            </a:r>
            <a:r>
              <a:rPr lang="en-GB" sz="1800" b="1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</a:p>
          <a:p>
            <a:pPr marL="0" indent="0">
              <a:buNone/>
            </a:pPr>
            <a:r>
              <a:rPr lang="en-GB" sz="1800" b="1" i="0" dirty="0">
                <a:solidFill>
                  <a:srgbClr val="1990B8"/>
                </a:solidFill>
                <a:effectLst/>
                <a:latin typeface="Consolas" panose="020B0609020204030204" pitchFamily="49" charset="0"/>
              </a:rPr>
              <a:t>for</a:t>
            </a:r>
            <a:r>
              <a:rPr lang="en-GB" sz="1800" b="1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GB" sz="1800" b="1" i="0" dirty="0">
                <a:solidFill>
                  <a:srgbClr val="5F6364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GB" sz="1800" b="1" i="0" dirty="0">
                <a:solidFill>
                  <a:srgbClr val="1990B8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GB" sz="1800" b="1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col </a:t>
            </a:r>
            <a:r>
              <a:rPr lang="en-GB" sz="1800" b="1" i="0" dirty="0">
                <a:solidFill>
                  <a:srgbClr val="A67F59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GB" sz="1800" b="1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GB" sz="1800" b="1" i="0" dirty="0">
                <a:solidFill>
                  <a:srgbClr val="C92C2C"/>
                </a:solidFill>
                <a:effectLst/>
                <a:latin typeface="Consolas" panose="020B0609020204030204" pitchFamily="49" charset="0"/>
              </a:rPr>
              <a:t>1</a:t>
            </a:r>
            <a:r>
              <a:rPr lang="en-GB" sz="1800" b="1" i="0" dirty="0">
                <a:solidFill>
                  <a:srgbClr val="5F6364"/>
                </a:solidFill>
                <a:effectLst/>
                <a:latin typeface="Consolas" panose="020B0609020204030204" pitchFamily="49" charset="0"/>
              </a:rPr>
              <a:t>;</a:t>
            </a:r>
            <a:r>
              <a:rPr lang="en-GB" sz="1800" b="1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col </a:t>
            </a:r>
            <a:r>
              <a:rPr lang="en-GB" sz="1800" b="1" i="0" dirty="0">
                <a:solidFill>
                  <a:srgbClr val="A67F59"/>
                </a:solidFill>
                <a:effectLst/>
                <a:latin typeface="Consolas" panose="020B0609020204030204" pitchFamily="49" charset="0"/>
              </a:rPr>
              <a:t>&lt;=</a:t>
            </a:r>
            <a:r>
              <a:rPr lang="en-GB" sz="1800" b="1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size</a:t>
            </a:r>
            <a:r>
              <a:rPr lang="en-GB" sz="1800" b="1" i="0" dirty="0">
                <a:solidFill>
                  <a:srgbClr val="5F6364"/>
                </a:solidFill>
                <a:effectLst/>
                <a:latin typeface="Consolas" panose="020B0609020204030204" pitchFamily="49" charset="0"/>
              </a:rPr>
              <a:t>;</a:t>
            </a:r>
            <a:r>
              <a:rPr lang="en-GB" sz="1800" b="1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GB" sz="1800" b="1" i="0" dirty="0">
                <a:solidFill>
                  <a:srgbClr val="A67F59"/>
                </a:solidFill>
                <a:effectLst/>
                <a:latin typeface="Consolas" panose="020B0609020204030204" pitchFamily="49" charset="0"/>
              </a:rPr>
              <a:t>++</a:t>
            </a:r>
            <a:r>
              <a:rPr lang="en-GB" sz="1800" b="1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col</a:t>
            </a:r>
            <a:r>
              <a:rPr lang="en-GB" sz="1800" b="1" i="0" dirty="0">
                <a:solidFill>
                  <a:srgbClr val="5F6364"/>
                </a:solidFill>
                <a:effectLst/>
                <a:latin typeface="Consolas" panose="020B0609020204030204" pitchFamily="49" charset="0"/>
              </a:rPr>
              <a:t>)</a:t>
            </a:r>
            <a:r>
              <a:rPr lang="en-GB" sz="1800" b="1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</a:p>
          <a:p>
            <a:pPr marL="0" indent="0">
              <a:buNone/>
            </a:pPr>
            <a:r>
              <a:rPr lang="en-GB" sz="1800" b="1" i="0" dirty="0">
                <a:solidFill>
                  <a:srgbClr val="5F6364"/>
                </a:solidFill>
                <a:effectLst/>
                <a:latin typeface="Consolas" panose="020B0609020204030204" pitchFamily="49" charset="0"/>
              </a:rPr>
              <a:t>{</a:t>
            </a:r>
            <a:r>
              <a:rPr lang="en-GB" sz="1800" b="1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GB" sz="1800" b="1" i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cout</a:t>
            </a:r>
            <a:r>
              <a:rPr lang="en-GB" sz="1800" b="1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GB" sz="1800" b="1" i="0" dirty="0">
                <a:solidFill>
                  <a:srgbClr val="A67F59"/>
                </a:solidFill>
                <a:effectLst/>
                <a:latin typeface="Consolas" panose="020B0609020204030204" pitchFamily="49" charset="0"/>
              </a:rPr>
              <a:t>&lt;&lt;</a:t>
            </a:r>
            <a:r>
              <a:rPr lang="en-GB" sz="1800" b="1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GB" sz="1800" b="1" i="0" dirty="0">
                <a:solidFill>
                  <a:srgbClr val="2F9C0A"/>
                </a:solidFill>
                <a:effectLst/>
                <a:latin typeface="Consolas" panose="020B0609020204030204" pitchFamily="49" charset="0"/>
              </a:rPr>
              <a:t>“*"</a:t>
            </a:r>
            <a:r>
              <a:rPr lang="en-GB" sz="1800" b="1" i="0" dirty="0">
                <a:solidFill>
                  <a:srgbClr val="5F6364"/>
                </a:solidFill>
                <a:effectLst/>
                <a:latin typeface="Consolas" panose="020B0609020204030204" pitchFamily="49" charset="0"/>
              </a:rPr>
              <a:t>;</a:t>
            </a:r>
            <a:r>
              <a:rPr lang="en-GB" sz="1800" b="1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</a:p>
          <a:p>
            <a:pPr marL="0" indent="0">
              <a:buNone/>
            </a:pPr>
            <a:r>
              <a:rPr lang="en-GB" sz="1800" b="1" i="0" dirty="0">
                <a:solidFill>
                  <a:srgbClr val="5F6364"/>
                </a:solidFill>
                <a:effectLst/>
                <a:latin typeface="Consolas" panose="020B0609020204030204" pitchFamily="49" charset="0"/>
              </a:rPr>
              <a:t>}</a:t>
            </a:r>
            <a:r>
              <a:rPr lang="en-GB" sz="1800" b="1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</a:p>
          <a:p>
            <a:pPr marL="0" indent="0">
              <a:buNone/>
            </a:pPr>
            <a:r>
              <a:rPr lang="en-GB" sz="1800" b="1" i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cout</a:t>
            </a:r>
            <a:r>
              <a:rPr lang="en-GB" sz="1800" b="1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GB" sz="1800" b="1" i="0" dirty="0">
                <a:solidFill>
                  <a:srgbClr val="A67F59"/>
                </a:solidFill>
                <a:effectLst/>
                <a:latin typeface="Consolas" panose="020B0609020204030204" pitchFamily="49" charset="0"/>
              </a:rPr>
              <a:t>&lt;&lt;</a:t>
            </a:r>
            <a:r>
              <a:rPr lang="en-GB" sz="1800" b="1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GB" sz="1800" b="1" i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endl</a:t>
            </a:r>
            <a:r>
              <a:rPr lang="en-GB" sz="1800" b="1" i="0" dirty="0">
                <a:solidFill>
                  <a:srgbClr val="5F6364"/>
                </a:solidFill>
                <a:effectLst/>
                <a:latin typeface="Consolas" panose="020B0609020204030204" pitchFamily="49" charset="0"/>
              </a:rPr>
              <a:t>;</a:t>
            </a:r>
            <a:r>
              <a:rPr lang="en-GB" sz="1800" b="1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</a:p>
          <a:p>
            <a:pPr marL="0" indent="0">
              <a:buNone/>
            </a:pPr>
            <a:r>
              <a:rPr lang="en-GB" sz="1800" b="1" i="0" dirty="0">
                <a:solidFill>
                  <a:srgbClr val="5F6364"/>
                </a:solidFill>
                <a:effectLst/>
                <a:latin typeface="Consolas" panose="020B0609020204030204" pitchFamily="49" charset="0"/>
              </a:rPr>
              <a:t>}</a:t>
            </a:r>
            <a:r>
              <a:rPr lang="en-GB" sz="1800" b="1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GB" sz="1800" b="1" i="0" dirty="0">
                <a:solidFill>
                  <a:srgbClr val="1990B8"/>
                </a:solidFill>
                <a:effectLst/>
                <a:latin typeface="Consolas" panose="020B0609020204030204" pitchFamily="49" charset="0"/>
              </a:rPr>
              <a:t>return</a:t>
            </a:r>
            <a:r>
              <a:rPr lang="en-GB" sz="1800" b="1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GB" sz="1800" b="1" i="0" dirty="0">
                <a:solidFill>
                  <a:srgbClr val="C92C2C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en-GB" sz="1800" b="1" i="0" dirty="0">
                <a:solidFill>
                  <a:srgbClr val="5F6364"/>
                </a:solidFill>
                <a:effectLst/>
                <a:latin typeface="Consolas" panose="020B0609020204030204" pitchFamily="49" charset="0"/>
              </a:rPr>
              <a:t>;</a:t>
            </a:r>
            <a:r>
              <a:rPr lang="en-GB" sz="1800" b="1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GB" sz="1800" b="1" i="0" dirty="0">
                <a:solidFill>
                  <a:srgbClr val="5F6364"/>
                </a:solidFill>
                <a:effectLst/>
                <a:latin typeface="Consolas" panose="020B0609020204030204" pitchFamily="49" charset="0"/>
              </a:rPr>
              <a:t>}</a:t>
            </a:r>
            <a:endParaRPr lang="en-PK" sz="1800" b="1" dirty="0">
              <a:latin typeface="Consolas" panose="020B0609020204030204" pitchFamily="49" charset="0"/>
            </a:endParaRP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1463D1F-FF4D-B0DD-420B-C2A0F085CE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Object Oriented Programming-Spring 24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79EF78C-6379-8B55-0BF0-67E937DB3E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845F5A-061D-4825-9AE9-D7794091C6CF}" type="slidenum">
              <a:rPr lang="en-US" smtClean="0"/>
              <a:t>29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08134537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7958739-F8EF-9F88-4441-8728D014493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Recursive</a:t>
            </a:r>
            <a:endParaRPr lang="en-PK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C3B8530-EA7F-8430-8811-5AC58D99881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Object Oriented Programming-Spring 24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0C9995C-7E23-24E7-834E-8AD6D93E8F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845F5A-061D-4825-9AE9-D7794091C6CF}" type="slidenum">
              <a:rPr lang="en-US" smtClean="0"/>
              <a:t>30</a:t>
            </a:fld>
            <a:endParaRPr lang="en-US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DAC2A188-FBFD-31DE-799A-A5D4BD0400A4}"/>
              </a:ext>
            </a:extLst>
          </p:cNvPr>
          <p:cNvSpPr txBox="1"/>
          <p:nvPr/>
        </p:nvSpPr>
        <p:spPr>
          <a:xfrm>
            <a:off x="533832" y="1027908"/>
            <a:ext cx="3457575" cy="2033971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</p:spPr>
        <p:txBody>
          <a:bodyPr wrap="square">
            <a:spAutoFit/>
          </a:bodyPr>
          <a:lstStyle/>
          <a:p>
            <a:r>
              <a:rPr lang="en-GB" sz="1800" dirty="0">
                <a:solidFill>
                  <a:srgbClr val="0000FF"/>
                </a:solidFill>
                <a:latin typeface="Cascadia Mono" panose="020B0609020000020004" pitchFamily="49" charset="0"/>
              </a:rPr>
              <a:t>int</a:t>
            </a:r>
            <a:r>
              <a:rPr lang="en-GB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 main()</a:t>
            </a:r>
          </a:p>
          <a:p>
            <a:r>
              <a:rPr lang="en-PK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{</a:t>
            </a:r>
          </a:p>
          <a:p>
            <a:r>
              <a:rPr lang="en-GB" sz="1800" dirty="0">
                <a:solidFill>
                  <a:srgbClr val="0000FF"/>
                </a:solidFill>
                <a:latin typeface="Cascadia Mono" panose="020B0609020000020004" pitchFamily="49" charset="0"/>
              </a:rPr>
              <a:t>int</a:t>
            </a:r>
            <a:r>
              <a:rPr lang="en-GB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 size;</a:t>
            </a:r>
          </a:p>
          <a:p>
            <a:r>
              <a:rPr lang="en-GB" sz="18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cin</a:t>
            </a:r>
            <a:r>
              <a:rPr lang="en-GB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 </a:t>
            </a:r>
            <a:r>
              <a:rPr lang="en-GB" sz="1800" dirty="0">
                <a:solidFill>
                  <a:srgbClr val="008080"/>
                </a:solidFill>
                <a:latin typeface="Cascadia Mono" panose="020B0609020000020004" pitchFamily="49" charset="0"/>
              </a:rPr>
              <a:t>&gt;&gt;</a:t>
            </a:r>
            <a:r>
              <a:rPr lang="en-GB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 size;</a:t>
            </a:r>
          </a:p>
          <a:p>
            <a:r>
              <a:rPr lang="en-GB" sz="1800" dirty="0">
                <a:solidFill>
                  <a:srgbClr val="0000FF"/>
                </a:solidFill>
                <a:latin typeface="Cascadia Mono" panose="020B0609020000020004" pitchFamily="49" charset="0"/>
              </a:rPr>
              <a:t>int</a:t>
            </a:r>
            <a:r>
              <a:rPr lang="en-GB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 it = size;</a:t>
            </a:r>
          </a:p>
          <a:p>
            <a:r>
              <a:rPr lang="en-GB" sz="18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print_square</a:t>
            </a:r>
            <a:r>
              <a:rPr lang="en-GB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(</a:t>
            </a:r>
            <a:r>
              <a:rPr lang="en-GB" sz="18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size,size</a:t>
            </a:r>
            <a:r>
              <a:rPr lang="en-GB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);</a:t>
            </a:r>
          </a:p>
          <a:p>
            <a:r>
              <a:rPr lang="en-PK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}</a:t>
            </a:r>
            <a:endParaRPr lang="en-PK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38D507A5-3BDA-91BE-90B3-F4527070E048}"/>
              </a:ext>
            </a:extLst>
          </p:cNvPr>
          <p:cNvSpPr txBox="1"/>
          <p:nvPr/>
        </p:nvSpPr>
        <p:spPr>
          <a:xfrm>
            <a:off x="4038600" y="2492712"/>
            <a:ext cx="4849957" cy="3117905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txBody>
          <a:bodyPr wrap="square">
            <a:spAutoFit/>
          </a:bodyPr>
          <a:lstStyle/>
          <a:p>
            <a:r>
              <a:rPr lang="en-US" sz="1800" dirty="0">
                <a:solidFill>
                  <a:srgbClr val="0000FF"/>
                </a:solidFill>
                <a:latin typeface="Cascadia Mono" panose="020B0609020000020004" pitchFamily="49" charset="0"/>
              </a:rPr>
              <a:t>void</a:t>
            </a:r>
            <a:r>
              <a:rPr lang="en-US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 </a:t>
            </a:r>
            <a:r>
              <a:rPr lang="en-US" sz="18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print_square</a:t>
            </a:r>
            <a:r>
              <a:rPr lang="en-US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(</a:t>
            </a:r>
            <a:r>
              <a:rPr lang="en-US" sz="1800" dirty="0">
                <a:solidFill>
                  <a:srgbClr val="0000FF"/>
                </a:solidFill>
                <a:latin typeface="Cascadia Mono" panose="020B0609020000020004" pitchFamily="49" charset="0"/>
              </a:rPr>
              <a:t>int</a:t>
            </a:r>
            <a:r>
              <a:rPr lang="en-US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 </a:t>
            </a:r>
            <a:r>
              <a:rPr lang="en-US" sz="1800" dirty="0" err="1">
                <a:solidFill>
                  <a:srgbClr val="808080"/>
                </a:solidFill>
                <a:latin typeface="Cascadia Mono" panose="020B0609020000020004" pitchFamily="49" charset="0"/>
              </a:rPr>
              <a:t>s</a:t>
            </a:r>
            <a:r>
              <a:rPr lang="en-US" sz="18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,</a:t>
            </a:r>
            <a:r>
              <a:rPr lang="en-US" sz="1800" dirty="0" err="1">
                <a:solidFill>
                  <a:srgbClr val="0000FF"/>
                </a:solidFill>
                <a:latin typeface="Cascadia Mono" panose="020B0609020000020004" pitchFamily="49" charset="0"/>
              </a:rPr>
              <a:t>int</a:t>
            </a:r>
            <a:r>
              <a:rPr lang="en-US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 </a:t>
            </a:r>
            <a:r>
              <a:rPr lang="en-US" sz="1800" dirty="0">
                <a:solidFill>
                  <a:srgbClr val="808080"/>
                </a:solidFill>
                <a:latin typeface="Cascadia Mono" panose="020B0609020000020004" pitchFamily="49" charset="0"/>
              </a:rPr>
              <a:t>lines</a:t>
            </a:r>
            <a:r>
              <a:rPr lang="en-US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)</a:t>
            </a:r>
          </a:p>
          <a:p>
            <a:r>
              <a:rPr lang="en-PK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{</a:t>
            </a:r>
          </a:p>
          <a:p>
            <a:r>
              <a:rPr lang="en-GB" sz="1800" dirty="0">
                <a:solidFill>
                  <a:srgbClr val="0000FF"/>
                </a:solidFill>
                <a:latin typeface="Cascadia Mono" panose="020B0609020000020004" pitchFamily="49" charset="0"/>
              </a:rPr>
              <a:t>if</a:t>
            </a:r>
            <a:r>
              <a:rPr lang="en-GB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 (</a:t>
            </a:r>
            <a:r>
              <a:rPr lang="en-GB" sz="1800" dirty="0">
                <a:solidFill>
                  <a:srgbClr val="808080"/>
                </a:solidFill>
                <a:latin typeface="Cascadia Mono" panose="020B0609020000020004" pitchFamily="49" charset="0"/>
              </a:rPr>
              <a:t>lines</a:t>
            </a:r>
            <a:r>
              <a:rPr lang="en-GB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 &lt; 0)</a:t>
            </a:r>
          </a:p>
          <a:p>
            <a:r>
              <a:rPr lang="en-GB" sz="1800" dirty="0">
                <a:solidFill>
                  <a:srgbClr val="0000FF"/>
                </a:solidFill>
                <a:latin typeface="Cascadia Mono" panose="020B0609020000020004" pitchFamily="49" charset="0"/>
              </a:rPr>
              <a:t>return</a:t>
            </a:r>
            <a:r>
              <a:rPr lang="en-GB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;</a:t>
            </a:r>
          </a:p>
          <a:p>
            <a:r>
              <a:rPr lang="en-GB" sz="1800" dirty="0">
                <a:solidFill>
                  <a:srgbClr val="0000FF"/>
                </a:solidFill>
                <a:latin typeface="Cascadia Mono" panose="020B0609020000020004" pitchFamily="49" charset="0"/>
              </a:rPr>
              <a:t>else</a:t>
            </a:r>
            <a:endParaRPr lang="en-GB" sz="1800" dirty="0">
              <a:solidFill>
                <a:srgbClr val="000000"/>
              </a:solidFill>
              <a:latin typeface="Cascadia Mono" panose="020B0609020000020004" pitchFamily="49" charset="0"/>
            </a:endParaRPr>
          </a:p>
          <a:p>
            <a:r>
              <a:rPr lang="en-PK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{</a:t>
            </a:r>
          </a:p>
          <a:p>
            <a:r>
              <a:rPr lang="en-GB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print(</a:t>
            </a:r>
            <a:r>
              <a:rPr lang="en-GB" sz="1800" dirty="0">
                <a:solidFill>
                  <a:srgbClr val="808080"/>
                </a:solidFill>
                <a:latin typeface="Cascadia Mono" panose="020B0609020000020004" pitchFamily="49" charset="0"/>
              </a:rPr>
              <a:t>s</a:t>
            </a:r>
            <a:r>
              <a:rPr lang="en-GB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);</a:t>
            </a:r>
          </a:p>
          <a:p>
            <a:r>
              <a:rPr lang="en-GB" sz="18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cout</a:t>
            </a:r>
            <a:r>
              <a:rPr lang="en-GB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 </a:t>
            </a:r>
            <a:r>
              <a:rPr lang="en-GB" sz="1800" dirty="0">
                <a:solidFill>
                  <a:srgbClr val="008080"/>
                </a:solidFill>
                <a:latin typeface="Cascadia Mono" panose="020B0609020000020004" pitchFamily="49" charset="0"/>
              </a:rPr>
              <a:t>&lt;&lt;</a:t>
            </a:r>
            <a:r>
              <a:rPr lang="en-GB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 </a:t>
            </a:r>
            <a:r>
              <a:rPr lang="en-GB" sz="18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endl</a:t>
            </a:r>
            <a:r>
              <a:rPr lang="en-GB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;</a:t>
            </a:r>
          </a:p>
          <a:p>
            <a:r>
              <a:rPr lang="en-GB" sz="18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print_square</a:t>
            </a:r>
            <a:r>
              <a:rPr lang="en-GB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(</a:t>
            </a:r>
            <a:r>
              <a:rPr lang="en-GB" sz="1800" dirty="0">
                <a:solidFill>
                  <a:srgbClr val="808080"/>
                </a:solidFill>
                <a:latin typeface="Cascadia Mono" panose="020B0609020000020004" pitchFamily="49" charset="0"/>
              </a:rPr>
              <a:t>s</a:t>
            </a:r>
            <a:r>
              <a:rPr lang="en-GB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,</a:t>
            </a:r>
            <a:r>
              <a:rPr lang="en-GB" sz="1800" dirty="0">
                <a:solidFill>
                  <a:srgbClr val="808080"/>
                </a:solidFill>
                <a:latin typeface="Cascadia Mono" panose="020B0609020000020004" pitchFamily="49" charset="0"/>
              </a:rPr>
              <a:t>lines</a:t>
            </a:r>
            <a:r>
              <a:rPr lang="en-GB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-1);</a:t>
            </a:r>
          </a:p>
          <a:p>
            <a:r>
              <a:rPr lang="en-PK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}</a:t>
            </a:r>
          </a:p>
          <a:p>
            <a:r>
              <a:rPr lang="en-PK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}</a:t>
            </a:r>
            <a:endParaRPr lang="en-PK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2D6A7D3D-359A-69C7-E0E3-769EF3836895}"/>
              </a:ext>
            </a:extLst>
          </p:cNvPr>
          <p:cNvSpPr txBox="1"/>
          <p:nvPr/>
        </p:nvSpPr>
        <p:spPr>
          <a:xfrm>
            <a:off x="8996362" y="3736150"/>
            <a:ext cx="2605521" cy="2862322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</p:spPr>
        <p:txBody>
          <a:bodyPr wrap="square">
            <a:spAutoFit/>
          </a:bodyPr>
          <a:lstStyle/>
          <a:p>
            <a:r>
              <a:rPr lang="en-GB" sz="1800" dirty="0">
                <a:solidFill>
                  <a:srgbClr val="0000FF"/>
                </a:solidFill>
                <a:latin typeface="Cascadia Mono" panose="020B0609020000020004" pitchFamily="49" charset="0"/>
              </a:rPr>
              <a:t>void</a:t>
            </a:r>
            <a:r>
              <a:rPr lang="en-GB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 print(</a:t>
            </a:r>
            <a:r>
              <a:rPr lang="en-GB" sz="1800" dirty="0">
                <a:solidFill>
                  <a:srgbClr val="0000FF"/>
                </a:solidFill>
                <a:latin typeface="Cascadia Mono" panose="020B0609020000020004" pitchFamily="49" charset="0"/>
              </a:rPr>
              <a:t>int</a:t>
            </a:r>
            <a:r>
              <a:rPr lang="en-GB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 </a:t>
            </a:r>
            <a:r>
              <a:rPr lang="en-GB" sz="1800" dirty="0" err="1">
                <a:solidFill>
                  <a:srgbClr val="808080"/>
                </a:solidFill>
                <a:latin typeface="Cascadia Mono" panose="020B0609020000020004" pitchFamily="49" charset="0"/>
              </a:rPr>
              <a:t>i</a:t>
            </a:r>
            <a:r>
              <a:rPr lang="en-GB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)</a:t>
            </a:r>
          </a:p>
          <a:p>
            <a:r>
              <a:rPr lang="en-PK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{</a:t>
            </a:r>
          </a:p>
          <a:p>
            <a:r>
              <a:rPr lang="en-GB" sz="1800" dirty="0">
                <a:solidFill>
                  <a:srgbClr val="0000FF"/>
                </a:solidFill>
                <a:latin typeface="Cascadia Mono" panose="020B0609020000020004" pitchFamily="49" charset="0"/>
              </a:rPr>
              <a:t>if</a:t>
            </a:r>
            <a:r>
              <a:rPr lang="en-GB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 (</a:t>
            </a:r>
            <a:r>
              <a:rPr lang="en-GB" sz="1800" dirty="0" err="1">
                <a:solidFill>
                  <a:srgbClr val="808080"/>
                </a:solidFill>
                <a:latin typeface="Cascadia Mono" panose="020B0609020000020004" pitchFamily="49" charset="0"/>
              </a:rPr>
              <a:t>i</a:t>
            </a:r>
            <a:r>
              <a:rPr lang="en-GB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 &lt; 0)</a:t>
            </a:r>
          </a:p>
          <a:p>
            <a:r>
              <a:rPr lang="en-GB" sz="1800" dirty="0">
                <a:solidFill>
                  <a:srgbClr val="0000FF"/>
                </a:solidFill>
                <a:latin typeface="Cascadia Mono" panose="020B0609020000020004" pitchFamily="49" charset="0"/>
              </a:rPr>
              <a:t>return</a:t>
            </a:r>
            <a:r>
              <a:rPr lang="en-GB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;</a:t>
            </a:r>
          </a:p>
          <a:p>
            <a:r>
              <a:rPr lang="en-GB" sz="1800" dirty="0">
                <a:solidFill>
                  <a:srgbClr val="0000FF"/>
                </a:solidFill>
                <a:latin typeface="Cascadia Mono" panose="020B0609020000020004" pitchFamily="49" charset="0"/>
              </a:rPr>
              <a:t>else</a:t>
            </a:r>
            <a:endParaRPr lang="en-GB" sz="1800" dirty="0">
              <a:solidFill>
                <a:srgbClr val="000000"/>
              </a:solidFill>
              <a:latin typeface="Cascadia Mono" panose="020B0609020000020004" pitchFamily="49" charset="0"/>
            </a:endParaRPr>
          </a:p>
          <a:p>
            <a:r>
              <a:rPr lang="en-PK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{</a:t>
            </a:r>
          </a:p>
          <a:p>
            <a:r>
              <a:rPr lang="en-GB" sz="18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cout</a:t>
            </a:r>
            <a:r>
              <a:rPr lang="en-GB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 </a:t>
            </a:r>
            <a:r>
              <a:rPr lang="en-GB" sz="1800" dirty="0">
                <a:solidFill>
                  <a:srgbClr val="008080"/>
                </a:solidFill>
                <a:latin typeface="Cascadia Mono" panose="020B0609020000020004" pitchFamily="49" charset="0"/>
              </a:rPr>
              <a:t>&lt;&lt;</a:t>
            </a:r>
            <a:r>
              <a:rPr lang="en-GB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 </a:t>
            </a:r>
            <a:r>
              <a:rPr lang="en-GB" sz="1800" dirty="0">
                <a:solidFill>
                  <a:srgbClr val="A31515"/>
                </a:solidFill>
                <a:latin typeface="Cascadia Mono" panose="020B0609020000020004" pitchFamily="49" charset="0"/>
              </a:rPr>
              <a:t>"* "</a:t>
            </a:r>
            <a:r>
              <a:rPr lang="en-GB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;</a:t>
            </a:r>
          </a:p>
          <a:p>
            <a:r>
              <a:rPr lang="en-GB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print(</a:t>
            </a:r>
            <a:r>
              <a:rPr lang="en-GB" sz="1800" dirty="0" err="1">
                <a:solidFill>
                  <a:srgbClr val="808080"/>
                </a:solidFill>
                <a:latin typeface="Cascadia Mono" panose="020B0609020000020004" pitchFamily="49" charset="0"/>
              </a:rPr>
              <a:t>i</a:t>
            </a:r>
            <a:r>
              <a:rPr lang="en-GB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 - 1);</a:t>
            </a:r>
          </a:p>
          <a:p>
            <a:r>
              <a:rPr lang="en-PK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}</a:t>
            </a:r>
          </a:p>
          <a:p>
            <a:r>
              <a:rPr lang="en-PK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}</a:t>
            </a:r>
            <a:endParaRPr lang="en-PK" dirty="0"/>
          </a:p>
        </p:txBody>
      </p:sp>
    </p:spTree>
    <p:extLst>
      <p:ext uri="{BB962C8B-B14F-4D97-AF65-F5344CB8AC3E}">
        <p14:creationId xmlns:p14="http://schemas.microsoft.com/office/powerpoint/2010/main" val="3901012921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788DE2-9E4B-566D-40A8-2CD2A0781D0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Printing Patterns using Recursion</a:t>
            </a:r>
            <a:endParaRPr lang="en-PK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19FAD56-DA20-D8EC-16B2-DBE4AA7F1A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Object Oriented Programming-Spring 24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B5266B9-7540-3914-AFB5-E9FFE0E70A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845F5A-061D-4825-9AE9-D7794091C6CF}" type="slidenum">
              <a:rPr lang="en-US" smtClean="0"/>
              <a:t>31</a:t>
            </a:fld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3F5530D3-389D-8335-C604-9BEADFAA5037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22500" t="33333" r="66250" b="20741"/>
          <a:stretch/>
        </p:blipFill>
        <p:spPr>
          <a:xfrm>
            <a:off x="1303569" y="1690690"/>
            <a:ext cx="2049231" cy="4705641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B70AB9FE-6622-1B09-7480-D08FB88366E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65293" y="2666851"/>
            <a:ext cx="7961244" cy="27533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62201400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3E5D0D-2291-5263-374A-F2E365D6E62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Printing Patterns using Recursion</a:t>
            </a:r>
            <a:endParaRPr lang="en-PK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E0335ED-2843-725E-4E4A-DDEB2A37802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457200" lvl="1" indent="0">
              <a:buNone/>
            </a:pPr>
            <a:r>
              <a:rPr lang="en-US" b="1" dirty="0">
                <a:solidFill>
                  <a:srgbClr val="B80000"/>
                </a:solidFill>
                <a:latin typeface="+mj-lt"/>
              </a:rPr>
              <a:t>Input:</a:t>
            </a:r>
          </a:p>
          <a:p>
            <a:pPr marL="457200" lvl="1" indent="0">
              <a:buNone/>
            </a:pPr>
            <a:r>
              <a:rPr lang="en-US" b="1" dirty="0">
                <a:latin typeface="+mj-lt"/>
              </a:rPr>
              <a:t>Draw  a Pyramid of size: 5</a:t>
            </a:r>
          </a:p>
          <a:p>
            <a:pPr marL="457200" lvl="1" indent="0">
              <a:buNone/>
            </a:pPr>
            <a:endParaRPr lang="en-US" b="1" dirty="0">
              <a:solidFill>
                <a:srgbClr val="000066"/>
              </a:solidFill>
              <a:latin typeface="+mj-lt"/>
            </a:endParaRPr>
          </a:p>
          <a:p>
            <a:pPr marL="457200" lvl="1" indent="0">
              <a:buNone/>
            </a:pPr>
            <a:r>
              <a:rPr lang="en-US" b="1" dirty="0">
                <a:solidFill>
                  <a:srgbClr val="B80000"/>
                </a:solidFill>
                <a:latin typeface="+mj-lt"/>
              </a:rPr>
              <a:t>Output:</a:t>
            </a:r>
          </a:p>
          <a:p>
            <a:endParaRPr lang="en-PK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FA22B7A-5C72-503A-8823-CC9483D2AD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Object Oriented Programming-Spring 24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593352D-0289-D9A0-AFE1-2B0233ABA1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845F5A-061D-4825-9AE9-D7794091C6CF}" type="slidenum">
              <a:rPr lang="en-US" smtClean="0"/>
              <a:t>32</a:t>
            </a:fld>
            <a:endParaRPr lang="en-US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68D7C8C6-3FEE-4D10-4D8A-2893FD6A759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24535" y="3276353"/>
            <a:ext cx="5742930" cy="24873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77934578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4B787B94-1A16-A939-15F2-176BC49C0D57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r="9157"/>
          <a:stretch/>
        </p:blipFill>
        <p:spPr>
          <a:xfrm>
            <a:off x="5063930" y="1299212"/>
            <a:ext cx="4114800" cy="2813111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81C7F918-76F5-EE8F-17D8-C90640496A8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Printing Patterns using Recursion</a:t>
            </a:r>
            <a:endParaRPr lang="en-PK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B23CFB4-1428-FD8E-BA66-4E3A1BA9FC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Object Oriented Programming-Spring 24</a:t>
            </a:r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B9C03518-0084-AD16-1F94-DB9708BE1872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r="13762"/>
          <a:stretch/>
        </p:blipFill>
        <p:spPr>
          <a:xfrm>
            <a:off x="7500225" y="4247752"/>
            <a:ext cx="4097921" cy="2154758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B6986F8-EE20-7B80-A904-E2311C33EB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845F5A-061D-4825-9AE9-D7794091C6CF}" type="slidenum">
              <a:rPr lang="en-US" smtClean="0"/>
              <a:t>33</a:t>
            </a:fld>
            <a:endParaRPr lang="en-US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DEE6BBC8-5896-A42F-C96F-1B39EC1F00D0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r="9345" b="6787"/>
          <a:stretch/>
        </p:blipFill>
        <p:spPr>
          <a:xfrm>
            <a:off x="958032" y="4247752"/>
            <a:ext cx="4209062" cy="2176357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1A95EF60-F7DC-9C14-4EB6-03B814E693D0}"/>
              </a:ext>
            </a:extLst>
          </p:cNvPr>
          <p:cNvPicPr>
            <a:picLocks noChangeAspect="1"/>
          </p:cNvPicPr>
          <p:nvPr/>
        </p:nvPicPr>
        <p:blipFill rotWithShape="1">
          <a:blip r:embed="rId5"/>
          <a:srcRect r="32203"/>
          <a:stretch/>
        </p:blipFill>
        <p:spPr>
          <a:xfrm>
            <a:off x="838200" y="1755651"/>
            <a:ext cx="2596899" cy="1900235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10" name="Arrow: Right 9">
            <a:extLst>
              <a:ext uri="{FF2B5EF4-FFF2-40B4-BE49-F238E27FC236}">
                <a16:creationId xmlns:a16="http://schemas.microsoft.com/office/drawing/2014/main" id="{CBDD7059-A028-305C-2F2A-DD65A62B31AC}"/>
              </a:ext>
            </a:extLst>
          </p:cNvPr>
          <p:cNvSpPr/>
          <p:nvPr/>
        </p:nvSpPr>
        <p:spPr>
          <a:xfrm>
            <a:off x="3664882" y="2407920"/>
            <a:ext cx="1252558" cy="172720"/>
          </a:xfrm>
          <a:prstGeom prst="rightArrow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K"/>
          </a:p>
        </p:txBody>
      </p:sp>
      <p:cxnSp>
        <p:nvCxnSpPr>
          <p:cNvPr id="12" name="Connector: Elbow 11">
            <a:extLst>
              <a:ext uri="{FF2B5EF4-FFF2-40B4-BE49-F238E27FC236}">
                <a16:creationId xmlns:a16="http://schemas.microsoft.com/office/drawing/2014/main" id="{D05C736A-37BA-6AB6-C3FC-8D58A3186669}"/>
              </a:ext>
            </a:extLst>
          </p:cNvPr>
          <p:cNvCxnSpPr>
            <a:cxnSpLocks/>
          </p:cNvCxnSpPr>
          <p:nvPr/>
        </p:nvCxnSpPr>
        <p:spPr>
          <a:xfrm rot="16200000" flipH="1">
            <a:off x="8952200" y="2650523"/>
            <a:ext cx="2060003" cy="863600"/>
          </a:xfrm>
          <a:prstGeom prst="bentConnector3">
            <a:avLst>
              <a:gd name="adj1" fmla="val -800"/>
            </a:avLst>
          </a:prstGeom>
          <a:ln w="762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Arrow: Right 14">
            <a:extLst>
              <a:ext uri="{FF2B5EF4-FFF2-40B4-BE49-F238E27FC236}">
                <a16:creationId xmlns:a16="http://schemas.microsoft.com/office/drawing/2014/main" id="{193781F8-181B-423F-53ED-B3313F072978}"/>
              </a:ext>
            </a:extLst>
          </p:cNvPr>
          <p:cNvSpPr/>
          <p:nvPr/>
        </p:nvSpPr>
        <p:spPr>
          <a:xfrm rot="8570984">
            <a:off x="5156048" y="4513000"/>
            <a:ext cx="1252558" cy="172720"/>
          </a:xfrm>
          <a:prstGeom prst="rightArrow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2946514882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78DE82-8C85-4A5E-7D20-9F86179B904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How About these?</a:t>
            </a:r>
            <a:endParaRPr lang="en-PK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8AF229F-18BE-8EA2-EB3F-AD0BFFD1E2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Object Oriented Programming-Spring 24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7985D84-6957-15F8-ADCC-30A01AC8F5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845F5A-061D-4825-9AE9-D7794091C6CF}" type="slidenum">
              <a:rPr lang="en-US" smtClean="0"/>
              <a:t>34</a:t>
            </a:fld>
            <a:endParaRPr lang="en-US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DED13D81-688E-09A8-3000-8CFEA39A9289}"/>
              </a:ext>
            </a:extLst>
          </p:cNvPr>
          <p:cNvSpPr/>
          <p:nvPr/>
        </p:nvSpPr>
        <p:spPr>
          <a:xfrm>
            <a:off x="1049483" y="1942954"/>
            <a:ext cx="2244436" cy="2836863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600" b="1" dirty="0">
                <a:solidFill>
                  <a:schemeClr val="accent2"/>
                </a:solidFill>
              </a:rPr>
              <a:t>*****</a:t>
            </a:r>
          </a:p>
          <a:p>
            <a:pPr algn="ctr"/>
            <a:r>
              <a:rPr lang="en-US" sz="3600" b="1" dirty="0">
                <a:solidFill>
                  <a:schemeClr val="accent2"/>
                </a:solidFill>
              </a:rPr>
              <a:t>*     *</a:t>
            </a:r>
            <a:endParaRPr lang="en-PK" sz="3600" b="1" dirty="0">
              <a:solidFill>
                <a:schemeClr val="accent2"/>
              </a:solidFill>
            </a:endParaRPr>
          </a:p>
          <a:p>
            <a:pPr algn="ctr"/>
            <a:r>
              <a:rPr lang="en-US" sz="3600" b="1" dirty="0">
                <a:solidFill>
                  <a:schemeClr val="accent2"/>
                </a:solidFill>
              </a:rPr>
              <a:t>*     *</a:t>
            </a:r>
          </a:p>
          <a:p>
            <a:pPr algn="ctr"/>
            <a:r>
              <a:rPr lang="en-US" sz="3600" b="1" dirty="0">
                <a:solidFill>
                  <a:schemeClr val="accent2"/>
                </a:solidFill>
              </a:rPr>
              <a:t>*     *</a:t>
            </a:r>
          </a:p>
          <a:p>
            <a:pPr algn="ctr"/>
            <a:r>
              <a:rPr lang="en-US" sz="3600" b="1" dirty="0">
                <a:solidFill>
                  <a:schemeClr val="accent2"/>
                </a:solidFill>
              </a:rPr>
              <a:t>*****</a:t>
            </a:r>
            <a:endParaRPr lang="en-PK" sz="3600" b="1" dirty="0">
              <a:solidFill>
                <a:schemeClr val="accent2"/>
              </a:solidFill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8733FC8D-E4B0-07DA-B9A9-246CC8608650}"/>
              </a:ext>
            </a:extLst>
          </p:cNvPr>
          <p:cNvSpPr/>
          <p:nvPr/>
        </p:nvSpPr>
        <p:spPr>
          <a:xfrm>
            <a:off x="4038600" y="2416505"/>
            <a:ext cx="2011680" cy="188976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PK" sz="3600" b="1" dirty="0">
                <a:solidFill>
                  <a:schemeClr val="accent2"/>
                </a:solidFill>
              </a:rPr>
              <a:t>*</a:t>
            </a:r>
          </a:p>
          <a:p>
            <a:pPr algn="ctr"/>
            <a:r>
              <a:rPr lang="en-PK" sz="3600" b="1" dirty="0">
                <a:solidFill>
                  <a:schemeClr val="accent2"/>
                </a:solidFill>
              </a:rPr>
              <a:t>* *</a:t>
            </a:r>
          </a:p>
          <a:p>
            <a:pPr algn="ctr"/>
            <a:r>
              <a:rPr lang="en-PK" sz="3600" b="1" dirty="0">
                <a:solidFill>
                  <a:schemeClr val="accent2"/>
                </a:solidFill>
              </a:rPr>
              <a:t>* * *</a:t>
            </a:r>
          </a:p>
          <a:p>
            <a:pPr algn="ctr"/>
            <a:r>
              <a:rPr lang="en-PK" sz="3600" b="1" dirty="0">
                <a:solidFill>
                  <a:schemeClr val="accent2"/>
                </a:solidFill>
              </a:rPr>
              <a:t>* * * *</a:t>
            </a:r>
          </a:p>
          <a:p>
            <a:pPr algn="ctr"/>
            <a:r>
              <a:rPr lang="en-PK" sz="3600" b="1" dirty="0">
                <a:solidFill>
                  <a:schemeClr val="accent2"/>
                </a:solidFill>
              </a:rPr>
              <a:t>* * * * *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564D5568-17C0-C5FD-8609-7C2913712636}"/>
              </a:ext>
            </a:extLst>
          </p:cNvPr>
          <p:cNvSpPr/>
          <p:nvPr/>
        </p:nvSpPr>
        <p:spPr>
          <a:xfrm rot="10800000">
            <a:off x="7604760" y="2133761"/>
            <a:ext cx="2011680" cy="188976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PK" sz="3600" b="1" dirty="0">
                <a:solidFill>
                  <a:schemeClr val="accent2"/>
                </a:solidFill>
              </a:rPr>
              <a:t>*</a:t>
            </a:r>
          </a:p>
          <a:p>
            <a:pPr algn="ctr"/>
            <a:r>
              <a:rPr lang="en-PK" sz="3600" b="1" dirty="0">
                <a:solidFill>
                  <a:schemeClr val="accent2"/>
                </a:solidFill>
              </a:rPr>
              <a:t>* *</a:t>
            </a:r>
          </a:p>
          <a:p>
            <a:pPr algn="ctr"/>
            <a:r>
              <a:rPr lang="en-PK" sz="3600" b="1" dirty="0">
                <a:solidFill>
                  <a:schemeClr val="accent2"/>
                </a:solidFill>
              </a:rPr>
              <a:t>* * *</a:t>
            </a:r>
          </a:p>
          <a:p>
            <a:pPr algn="ctr"/>
            <a:r>
              <a:rPr lang="en-PK" sz="3600" b="1" dirty="0">
                <a:solidFill>
                  <a:schemeClr val="accent2"/>
                </a:solidFill>
              </a:rPr>
              <a:t>* * * *</a:t>
            </a:r>
          </a:p>
          <a:p>
            <a:pPr algn="ctr"/>
            <a:r>
              <a:rPr lang="en-PK" sz="3600" b="1" dirty="0">
                <a:solidFill>
                  <a:schemeClr val="accent2"/>
                </a:solidFill>
              </a:rPr>
              <a:t>* * * * *</a:t>
            </a:r>
          </a:p>
        </p:txBody>
      </p:sp>
    </p:spTree>
    <p:extLst>
      <p:ext uri="{BB962C8B-B14F-4D97-AF65-F5344CB8AC3E}">
        <p14:creationId xmlns:p14="http://schemas.microsoft.com/office/powerpoint/2010/main" val="872026636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FC3D630-9FEB-B633-B094-5A8C6C9E015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Object Oriented Programming-Spring 24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3E0D6F6-5D58-9FB7-30B3-4D289841E4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845F5A-061D-4825-9AE9-D7794091C6CF}" type="slidenum">
              <a:rPr lang="en-US" smtClean="0"/>
              <a:t>35</a:t>
            </a:fld>
            <a:endParaRPr lang="en-US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87283DBB-B5D3-96A7-5681-5D1F63C82BC1}"/>
              </a:ext>
            </a:extLst>
          </p:cNvPr>
          <p:cNvSpPr txBox="1"/>
          <p:nvPr/>
        </p:nvSpPr>
        <p:spPr>
          <a:xfrm>
            <a:off x="3140652" y="246298"/>
            <a:ext cx="6094268" cy="58169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1200" b="1" dirty="0"/>
              <a:t>int main() {</a:t>
            </a:r>
          </a:p>
          <a:p>
            <a:endParaRPr lang="en-GB" sz="1200" b="1" dirty="0"/>
          </a:p>
          <a:p>
            <a:r>
              <a:rPr lang="en-GB" sz="1200" b="1" dirty="0"/>
              <a:t>    int rows, count = 0, count1 = 0, k = 0;</a:t>
            </a:r>
          </a:p>
          <a:p>
            <a:endParaRPr lang="en-GB" sz="1200" b="1" dirty="0"/>
          </a:p>
          <a:p>
            <a:r>
              <a:rPr lang="en-GB" sz="1200" b="1" dirty="0"/>
              <a:t>    </a:t>
            </a:r>
            <a:r>
              <a:rPr lang="en-GB" sz="1200" b="1" dirty="0" err="1"/>
              <a:t>cout</a:t>
            </a:r>
            <a:r>
              <a:rPr lang="en-GB" sz="1200" b="1" dirty="0"/>
              <a:t> &lt;&lt; "Enter number of rows: ";</a:t>
            </a:r>
          </a:p>
          <a:p>
            <a:r>
              <a:rPr lang="en-GB" sz="1200" b="1" dirty="0"/>
              <a:t>    </a:t>
            </a:r>
            <a:r>
              <a:rPr lang="en-GB" sz="1200" b="1" dirty="0" err="1"/>
              <a:t>cin</a:t>
            </a:r>
            <a:r>
              <a:rPr lang="en-GB" sz="1200" b="1" dirty="0"/>
              <a:t> &gt;&gt; rows;</a:t>
            </a:r>
          </a:p>
          <a:p>
            <a:endParaRPr lang="en-GB" sz="1200" b="1" dirty="0"/>
          </a:p>
          <a:p>
            <a:r>
              <a:rPr lang="en-GB" sz="1200" b="1" dirty="0"/>
              <a:t>    for(int </a:t>
            </a:r>
            <a:r>
              <a:rPr lang="en-GB" sz="1200" b="1" dirty="0" err="1"/>
              <a:t>i</a:t>
            </a:r>
            <a:r>
              <a:rPr lang="en-GB" sz="1200" b="1" dirty="0"/>
              <a:t> = 1; </a:t>
            </a:r>
            <a:r>
              <a:rPr lang="en-GB" sz="1200" b="1" dirty="0" err="1"/>
              <a:t>i</a:t>
            </a:r>
            <a:r>
              <a:rPr lang="en-GB" sz="1200" b="1" dirty="0"/>
              <a:t> &lt;= rows; ++</a:t>
            </a:r>
            <a:r>
              <a:rPr lang="en-GB" sz="1200" b="1" dirty="0" err="1"/>
              <a:t>i</a:t>
            </a:r>
            <a:r>
              <a:rPr lang="en-GB" sz="1200" b="1" dirty="0"/>
              <a:t>) {</a:t>
            </a:r>
          </a:p>
          <a:p>
            <a:r>
              <a:rPr lang="en-GB" sz="1200" b="1" dirty="0"/>
              <a:t>        for(int space = 1; space &lt;= rows-</a:t>
            </a:r>
            <a:r>
              <a:rPr lang="en-GB" sz="1200" b="1" dirty="0" err="1"/>
              <a:t>i</a:t>
            </a:r>
            <a:r>
              <a:rPr lang="en-GB" sz="1200" b="1" dirty="0"/>
              <a:t>; ++space) {</a:t>
            </a:r>
          </a:p>
          <a:p>
            <a:r>
              <a:rPr lang="en-GB" sz="1200" b="1" dirty="0"/>
              <a:t>            </a:t>
            </a:r>
            <a:r>
              <a:rPr lang="en-GB" sz="1200" b="1" dirty="0" err="1"/>
              <a:t>cout</a:t>
            </a:r>
            <a:r>
              <a:rPr lang="en-GB" sz="1200" b="1" dirty="0"/>
              <a:t> &lt;&lt; "  ";</a:t>
            </a:r>
          </a:p>
          <a:p>
            <a:r>
              <a:rPr lang="en-GB" sz="1200" b="1" dirty="0"/>
              <a:t>            ++count;</a:t>
            </a:r>
          </a:p>
          <a:p>
            <a:r>
              <a:rPr lang="en-GB" sz="1200" b="1" dirty="0"/>
              <a:t>        }</a:t>
            </a:r>
          </a:p>
          <a:p>
            <a:endParaRPr lang="en-GB" sz="1200" b="1" dirty="0"/>
          </a:p>
          <a:p>
            <a:r>
              <a:rPr lang="en-GB" sz="1200" b="1" dirty="0"/>
              <a:t>        while(k != 2*i-1) {</a:t>
            </a:r>
          </a:p>
          <a:p>
            <a:r>
              <a:rPr lang="en-GB" sz="1200" b="1" dirty="0"/>
              <a:t>            if (count &lt;= rows-1) {</a:t>
            </a:r>
          </a:p>
          <a:p>
            <a:r>
              <a:rPr lang="en-GB" sz="1200" b="1" dirty="0"/>
              <a:t>                </a:t>
            </a:r>
            <a:r>
              <a:rPr lang="en-GB" sz="1200" b="1" dirty="0" err="1"/>
              <a:t>cout</a:t>
            </a:r>
            <a:r>
              <a:rPr lang="en-GB" sz="1200" b="1" dirty="0"/>
              <a:t> &lt;&lt; </a:t>
            </a:r>
            <a:r>
              <a:rPr lang="en-GB" sz="1200" b="1" dirty="0" err="1"/>
              <a:t>i+k</a:t>
            </a:r>
            <a:r>
              <a:rPr lang="en-GB" sz="1200" b="1" dirty="0"/>
              <a:t> &lt;&lt; " ";</a:t>
            </a:r>
          </a:p>
          <a:p>
            <a:r>
              <a:rPr lang="en-GB" sz="1200" b="1" dirty="0"/>
              <a:t>                ++count;</a:t>
            </a:r>
          </a:p>
          <a:p>
            <a:r>
              <a:rPr lang="en-GB" sz="1200" b="1" dirty="0"/>
              <a:t>            }</a:t>
            </a:r>
          </a:p>
          <a:p>
            <a:r>
              <a:rPr lang="en-GB" sz="1200" b="1" dirty="0"/>
              <a:t>            else {</a:t>
            </a:r>
          </a:p>
          <a:p>
            <a:r>
              <a:rPr lang="en-GB" sz="1200" b="1" dirty="0"/>
              <a:t>                ++count1;</a:t>
            </a:r>
          </a:p>
          <a:p>
            <a:r>
              <a:rPr lang="en-GB" sz="1200" b="1" dirty="0"/>
              <a:t>                </a:t>
            </a:r>
            <a:r>
              <a:rPr lang="en-GB" sz="1200" b="1" dirty="0" err="1"/>
              <a:t>cout</a:t>
            </a:r>
            <a:r>
              <a:rPr lang="en-GB" sz="1200" b="1" dirty="0"/>
              <a:t> &lt;&lt; i+k-2*count1 &lt;&lt; " ";</a:t>
            </a:r>
          </a:p>
          <a:p>
            <a:r>
              <a:rPr lang="en-GB" sz="1200" b="1" dirty="0"/>
              <a:t>            }</a:t>
            </a:r>
          </a:p>
          <a:p>
            <a:r>
              <a:rPr lang="en-GB" sz="1200" b="1" dirty="0"/>
              <a:t>            ++k;</a:t>
            </a:r>
          </a:p>
          <a:p>
            <a:r>
              <a:rPr lang="en-GB" sz="1200" b="1" dirty="0"/>
              <a:t>        }</a:t>
            </a:r>
          </a:p>
          <a:p>
            <a:r>
              <a:rPr lang="en-GB" sz="1200" b="1" dirty="0"/>
              <a:t>        count1 = count = k = 0;</a:t>
            </a:r>
          </a:p>
          <a:p>
            <a:endParaRPr lang="en-GB" sz="1200" b="1" dirty="0"/>
          </a:p>
          <a:p>
            <a:r>
              <a:rPr lang="en-GB" sz="1200" b="1" dirty="0"/>
              <a:t>        </a:t>
            </a:r>
            <a:r>
              <a:rPr lang="en-GB" sz="1200" b="1" dirty="0" err="1"/>
              <a:t>cout</a:t>
            </a:r>
            <a:r>
              <a:rPr lang="en-GB" sz="1200" b="1" dirty="0"/>
              <a:t> &lt;&lt; </a:t>
            </a:r>
            <a:r>
              <a:rPr lang="en-GB" sz="1200" b="1" dirty="0" err="1"/>
              <a:t>endl</a:t>
            </a:r>
            <a:r>
              <a:rPr lang="en-GB" sz="1200" b="1" dirty="0"/>
              <a:t>;</a:t>
            </a:r>
          </a:p>
          <a:p>
            <a:r>
              <a:rPr lang="en-GB" sz="1200" b="1" dirty="0"/>
              <a:t>    }</a:t>
            </a:r>
          </a:p>
          <a:p>
            <a:r>
              <a:rPr lang="en-GB" sz="1200" b="1" dirty="0"/>
              <a:t>    return 0;</a:t>
            </a:r>
          </a:p>
          <a:p>
            <a:r>
              <a:rPr lang="en-GB" sz="1200" b="1" dirty="0"/>
              <a:t>}</a:t>
            </a:r>
            <a:endParaRPr lang="en-PK" sz="1200" b="1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B325C9AE-4011-D485-F13E-D9C2B608D7A6}"/>
              </a:ext>
            </a:extLst>
          </p:cNvPr>
          <p:cNvSpPr txBox="1"/>
          <p:nvPr/>
        </p:nvSpPr>
        <p:spPr>
          <a:xfrm>
            <a:off x="8153400" y="2129227"/>
            <a:ext cx="2424545" cy="16312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PK" sz="2000" b="1" dirty="0">
                <a:solidFill>
                  <a:schemeClr val="accent2"/>
                </a:solidFill>
              </a:rPr>
              <a:t> </a:t>
            </a:r>
            <a:r>
              <a:rPr lang="en-US" sz="2000" b="1" dirty="0">
                <a:solidFill>
                  <a:schemeClr val="accent2"/>
                </a:solidFill>
              </a:rPr>
              <a:t>           </a:t>
            </a:r>
            <a:r>
              <a:rPr lang="en-PK" sz="2000" b="1" dirty="0">
                <a:solidFill>
                  <a:schemeClr val="accent2"/>
                </a:solidFill>
              </a:rPr>
              <a:t>1</a:t>
            </a:r>
          </a:p>
          <a:p>
            <a:r>
              <a:rPr lang="en-PK" sz="2000" b="1" dirty="0">
                <a:solidFill>
                  <a:schemeClr val="accent2"/>
                </a:solidFill>
              </a:rPr>
              <a:t>      </a:t>
            </a:r>
            <a:r>
              <a:rPr lang="en-US" sz="2000" b="1" dirty="0">
                <a:solidFill>
                  <a:schemeClr val="accent2"/>
                </a:solidFill>
              </a:rPr>
              <a:t>   </a:t>
            </a:r>
            <a:r>
              <a:rPr lang="en-PK" sz="2000" b="1" dirty="0">
                <a:solidFill>
                  <a:schemeClr val="accent2"/>
                </a:solidFill>
              </a:rPr>
              <a:t>2 3 2</a:t>
            </a:r>
          </a:p>
          <a:p>
            <a:r>
              <a:rPr lang="en-PK" sz="2000" b="1" dirty="0">
                <a:solidFill>
                  <a:schemeClr val="accent2"/>
                </a:solidFill>
              </a:rPr>
              <a:t>    </a:t>
            </a:r>
            <a:r>
              <a:rPr lang="en-US" sz="2000" b="1" dirty="0">
                <a:solidFill>
                  <a:schemeClr val="accent2"/>
                </a:solidFill>
              </a:rPr>
              <a:t>  </a:t>
            </a:r>
            <a:r>
              <a:rPr lang="en-PK" sz="2000" b="1" dirty="0">
                <a:solidFill>
                  <a:schemeClr val="accent2"/>
                </a:solidFill>
              </a:rPr>
              <a:t>3 4 5 4 3</a:t>
            </a:r>
          </a:p>
          <a:p>
            <a:r>
              <a:rPr lang="en-PK" sz="2000" b="1" dirty="0">
                <a:solidFill>
                  <a:schemeClr val="accent2"/>
                </a:solidFill>
              </a:rPr>
              <a:t>  </a:t>
            </a:r>
            <a:r>
              <a:rPr lang="en-US" sz="2000" b="1" dirty="0">
                <a:solidFill>
                  <a:schemeClr val="accent2"/>
                </a:solidFill>
              </a:rPr>
              <a:t> </a:t>
            </a:r>
            <a:r>
              <a:rPr lang="en-PK" sz="2000" b="1" dirty="0">
                <a:solidFill>
                  <a:schemeClr val="accent2"/>
                </a:solidFill>
              </a:rPr>
              <a:t>4 5 6 7 6 5 4</a:t>
            </a:r>
          </a:p>
          <a:p>
            <a:r>
              <a:rPr lang="en-PK" sz="2000" b="1" dirty="0">
                <a:solidFill>
                  <a:schemeClr val="accent2"/>
                </a:solidFill>
              </a:rPr>
              <a:t>5 6 7 8 9 8 7 6 5</a:t>
            </a:r>
          </a:p>
        </p:txBody>
      </p:sp>
    </p:spTree>
    <p:extLst>
      <p:ext uri="{BB962C8B-B14F-4D97-AF65-F5344CB8AC3E}">
        <p14:creationId xmlns:p14="http://schemas.microsoft.com/office/powerpoint/2010/main" val="2299784619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47DFD0-E724-E8D3-AFA4-D2400F8041F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The Towers of Hanoi</a:t>
            </a:r>
            <a:endParaRPr lang="en-PK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3C7DA26-80AF-31D3-12C2-F77AFCD059A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just" eaLnBrk="1" hangingPunct="1"/>
            <a:r>
              <a:rPr lang="en-US" sz="2400" b="1" dirty="0">
                <a:solidFill>
                  <a:srgbClr val="C00000"/>
                </a:solidFill>
              </a:rPr>
              <a:t>Setup:  </a:t>
            </a:r>
            <a:r>
              <a:rPr lang="en-US" sz="2400" b="1" dirty="0">
                <a:solidFill>
                  <a:srgbClr val="2F1BC7"/>
                </a:solidFill>
              </a:rPr>
              <a:t>3 pegs</a:t>
            </a:r>
            <a:r>
              <a:rPr lang="en-US" sz="2400" dirty="0"/>
              <a:t>, one has </a:t>
            </a:r>
            <a:r>
              <a:rPr lang="en-US" sz="2400" b="1" dirty="0">
                <a:solidFill>
                  <a:srgbClr val="2F1BC7"/>
                </a:solidFill>
              </a:rPr>
              <a:t>n disks </a:t>
            </a:r>
            <a:r>
              <a:rPr lang="en-US" sz="2400" dirty="0"/>
              <a:t>on it, the </a:t>
            </a:r>
            <a:r>
              <a:rPr lang="en-US" sz="2400" b="1" dirty="0">
                <a:solidFill>
                  <a:srgbClr val="2F1BC7"/>
                </a:solidFill>
              </a:rPr>
              <a:t>other two pegs empty</a:t>
            </a:r>
            <a:r>
              <a:rPr lang="en-US" sz="2400" b="1" dirty="0"/>
              <a:t>.</a:t>
            </a:r>
            <a:r>
              <a:rPr lang="en-US" sz="2400" dirty="0"/>
              <a:t>  The </a:t>
            </a:r>
            <a:r>
              <a:rPr lang="en-US" sz="2400" b="1" dirty="0">
                <a:solidFill>
                  <a:srgbClr val="2F1BC7"/>
                </a:solidFill>
              </a:rPr>
              <a:t>disks</a:t>
            </a:r>
            <a:r>
              <a:rPr lang="en-US" sz="2400" dirty="0">
                <a:solidFill>
                  <a:srgbClr val="2F1BC7"/>
                </a:solidFill>
              </a:rPr>
              <a:t> </a:t>
            </a:r>
            <a:r>
              <a:rPr lang="en-US" sz="2400" dirty="0"/>
              <a:t>are </a:t>
            </a:r>
            <a:r>
              <a:rPr lang="en-US" sz="2400" b="1" dirty="0">
                <a:solidFill>
                  <a:srgbClr val="2F1BC7"/>
                </a:solidFill>
              </a:rPr>
              <a:t>arranged</a:t>
            </a:r>
            <a:r>
              <a:rPr lang="en-US" sz="2400" dirty="0">
                <a:solidFill>
                  <a:srgbClr val="2F1BC7"/>
                </a:solidFill>
              </a:rPr>
              <a:t> </a:t>
            </a:r>
            <a:r>
              <a:rPr lang="en-US" sz="2400" dirty="0"/>
              <a:t>in </a:t>
            </a:r>
            <a:r>
              <a:rPr lang="en-US" sz="2400" b="1" u="sng" dirty="0">
                <a:solidFill>
                  <a:srgbClr val="2F1BC7"/>
                </a:solidFill>
              </a:rPr>
              <a:t>increasing diameter</a:t>
            </a:r>
            <a:r>
              <a:rPr lang="en-US" sz="2400" dirty="0"/>
              <a:t>:</a:t>
            </a:r>
          </a:p>
          <a:p>
            <a:pPr marL="0" indent="0" algn="just" eaLnBrk="1" hangingPunct="1">
              <a:buNone/>
            </a:pPr>
            <a:r>
              <a:rPr lang="en-US" sz="2400" b="1" i="1" dirty="0">
                <a:solidFill>
                  <a:srgbClr val="2F1BC7"/>
                </a:solidFill>
              </a:rPr>
              <a:t>    top</a:t>
            </a:r>
            <a:r>
              <a:rPr lang="en-US" sz="2400" b="1" i="1" dirty="0">
                <a:solidFill>
                  <a:srgbClr val="2F1BC7"/>
                </a:solidFill>
                <a:sym typeface="Wingdings" panose="05000000000000000000" pitchFamily="2" charset="2"/>
              </a:rPr>
              <a:t></a:t>
            </a:r>
            <a:r>
              <a:rPr lang="en-US" sz="2400" b="1" i="1" dirty="0">
                <a:sym typeface="Wingdings" panose="05000000000000000000" pitchFamily="2" charset="2"/>
              </a:rPr>
              <a:t> </a:t>
            </a:r>
            <a:r>
              <a:rPr lang="en-US" sz="2400" b="1" i="1" dirty="0">
                <a:solidFill>
                  <a:srgbClr val="2F1BC7"/>
                </a:solidFill>
                <a:sym typeface="Wingdings" panose="05000000000000000000" pitchFamily="2" charset="2"/>
              </a:rPr>
              <a:t>bottom</a:t>
            </a:r>
          </a:p>
          <a:p>
            <a:pPr algn="just" eaLnBrk="1" hangingPunct="1"/>
            <a:endParaRPr lang="en-US" sz="2400" b="1" i="1" dirty="0">
              <a:solidFill>
                <a:srgbClr val="2F1BC7"/>
              </a:solidFill>
              <a:sym typeface="Wingdings" panose="05000000000000000000" pitchFamily="2" charset="2"/>
            </a:endParaRPr>
          </a:p>
          <a:p>
            <a:pPr eaLnBrk="1" hangingPunct="1"/>
            <a:r>
              <a:rPr lang="en-US" sz="2400" b="1" u="sng" dirty="0">
                <a:solidFill>
                  <a:srgbClr val="C00000"/>
                </a:solidFill>
                <a:sym typeface="Wingdings" panose="05000000000000000000" pitchFamily="2" charset="2"/>
              </a:rPr>
              <a:t>Objective: </a:t>
            </a:r>
            <a:r>
              <a:rPr lang="en-US" sz="2400" dirty="0">
                <a:sym typeface="Wingdings" panose="05000000000000000000" pitchFamily="2" charset="2"/>
              </a:rPr>
              <a:t>move the disks from </a:t>
            </a:r>
            <a:r>
              <a:rPr lang="en-US" sz="2400" b="1" dirty="0">
                <a:solidFill>
                  <a:srgbClr val="2F1BC7"/>
                </a:solidFill>
                <a:sym typeface="Wingdings" panose="05000000000000000000" pitchFamily="2" charset="2"/>
              </a:rPr>
              <a:t>peg 1</a:t>
            </a:r>
            <a:r>
              <a:rPr lang="en-US" sz="2400" dirty="0">
                <a:sym typeface="Wingdings" panose="05000000000000000000" pitchFamily="2" charset="2"/>
              </a:rPr>
              <a:t> to </a:t>
            </a:r>
            <a:r>
              <a:rPr lang="en-US" sz="2400" b="1" dirty="0">
                <a:solidFill>
                  <a:srgbClr val="2F1BC7"/>
                </a:solidFill>
                <a:sym typeface="Wingdings" panose="05000000000000000000" pitchFamily="2" charset="2"/>
              </a:rPr>
              <a:t>peg 3</a:t>
            </a:r>
            <a:r>
              <a:rPr lang="en-US" sz="2400" dirty="0">
                <a:sym typeface="Wingdings" panose="05000000000000000000" pitchFamily="2" charset="2"/>
              </a:rPr>
              <a:t>:</a:t>
            </a:r>
          </a:p>
          <a:p>
            <a:pPr lvl="1"/>
            <a:r>
              <a:rPr lang="en-US" sz="2000" b="1" dirty="0">
                <a:solidFill>
                  <a:srgbClr val="008000"/>
                </a:solidFill>
              </a:rPr>
              <a:t>only one disk moves at a time</a:t>
            </a:r>
          </a:p>
          <a:p>
            <a:pPr lvl="1" eaLnBrk="1" hangingPunct="1"/>
            <a:r>
              <a:rPr lang="en-US" sz="2000" b="1" dirty="0">
                <a:solidFill>
                  <a:srgbClr val="008000"/>
                </a:solidFill>
              </a:rPr>
              <a:t>all remain</a:t>
            </a:r>
            <a:r>
              <a:rPr lang="en-US" sz="2000" dirty="0">
                <a:solidFill>
                  <a:srgbClr val="008000"/>
                </a:solidFill>
              </a:rPr>
              <a:t> on </a:t>
            </a:r>
            <a:r>
              <a:rPr lang="en-US" sz="2000" b="1" dirty="0">
                <a:solidFill>
                  <a:srgbClr val="008000"/>
                </a:solidFill>
              </a:rPr>
              <a:t>pegs</a:t>
            </a:r>
            <a:r>
              <a:rPr lang="en-US" sz="2000" dirty="0">
                <a:solidFill>
                  <a:srgbClr val="008000"/>
                </a:solidFill>
              </a:rPr>
              <a:t> </a:t>
            </a:r>
            <a:r>
              <a:rPr lang="en-US" sz="2000" dirty="0"/>
              <a:t>except the </a:t>
            </a:r>
            <a:r>
              <a:rPr lang="en-US" sz="2000" b="1" dirty="0">
                <a:solidFill>
                  <a:srgbClr val="008000"/>
                </a:solidFill>
              </a:rPr>
              <a:t>one being moved</a:t>
            </a:r>
          </a:p>
          <a:p>
            <a:pPr lvl="1" eaLnBrk="1" hangingPunct="1"/>
            <a:r>
              <a:rPr lang="en-US" sz="2000" dirty="0"/>
              <a:t>a </a:t>
            </a:r>
            <a:r>
              <a:rPr lang="en-US" sz="2000" b="1" dirty="0">
                <a:solidFill>
                  <a:srgbClr val="008000"/>
                </a:solidFill>
              </a:rPr>
              <a:t>larger disk cannot be placed </a:t>
            </a:r>
            <a:r>
              <a:rPr lang="en-US" sz="2000" dirty="0"/>
              <a:t>on top of a </a:t>
            </a:r>
            <a:r>
              <a:rPr lang="en-US" sz="2000" b="1" dirty="0">
                <a:solidFill>
                  <a:srgbClr val="008000"/>
                </a:solidFill>
              </a:rPr>
              <a:t>smaller disk at any time</a:t>
            </a:r>
          </a:p>
          <a:p>
            <a:endParaRPr lang="en-PK" sz="2400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F844F8C-5017-10D0-73BD-95B7DDF260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Object Oriented Programming-Spring 24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1A93864-B7E5-3511-BB33-753C2015F2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845F5A-061D-4825-9AE9-D7794091C6CF}" type="slidenum">
              <a:rPr lang="en-US" smtClean="0"/>
              <a:t>36</a:t>
            </a:fld>
            <a:endParaRPr lang="en-US" dirty="0"/>
          </a:p>
        </p:txBody>
      </p:sp>
      <p:pic>
        <p:nvPicPr>
          <p:cNvPr id="6" name="Picture 4" descr="C:\Documents and Settings\Christopher Kardaras\Desktop\TowerHanoi.bmp">
            <a:extLst>
              <a:ext uri="{FF2B5EF4-FFF2-40B4-BE49-F238E27FC236}">
                <a16:creationId xmlns:a16="http://schemas.microsoft.com/office/drawing/2014/main" id="{4A1800ED-2CCF-D8E1-427B-B6F234E1780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484071" y="2898463"/>
            <a:ext cx="3297443" cy="157408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739409716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C6921F6-B10D-5560-F4BF-CD4EC3C286A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Outline of Recursive Algorithm</a:t>
            </a:r>
            <a:endParaRPr lang="en-PK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BBC6711-97D7-AFE8-7D91-336D5661C2F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609600" indent="-609600" eaLnBrk="1" hangingPunct="1">
              <a:buFontTx/>
              <a:buNone/>
            </a:pPr>
            <a:r>
              <a:rPr lang="en-US" sz="2400" dirty="0"/>
              <a:t>If </a:t>
            </a:r>
            <a:r>
              <a:rPr lang="en-US" sz="2400" b="1" dirty="0">
                <a:solidFill>
                  <a:srgbClr val="B80000"/>
                </a:solidFill>
              </a:rPr>
              <a:t>n==0</a:t>
            </a:r>
            <a:r>
              <a:rPr lang="en-US" sz="2400" dirty="0"/>
              <a:t>, </a:t>
            </a:r>
            <a:r>
              <a:rPr lang="en-US" sz="2400" b="1" dirty="0">
                <a:solidFill>
                  <a:srgbClr val="2C14DE"/>
                </a:solidFill>
              </a:rPr>
              <a:t>do nothing </a:t>
            </a:r>
            <a:r>
              <a:rPr lang="en-US" sz="2400" dirty="0"/>
              <a:t>(</a:t>
            </a:r>
            <a:r>
              <a:rPr lang="en-US" sz="2400" b="1" u="sng" dirty="0"/>
              <a:t>base case</a:t>
            </a:r>
            <a:r>
              <a:rPr lang="en-US" sz="2400" dirty="0"/>
              <a:t>)</a:t>
            </a:r>
          </a:p>
          <a:p>
            <a:pPr marL="609600" indent="-609600" eaLnBrk="1" hangingPunct="1">
              <a:buFontTx/>
              <a:buNone/>
            </a:pPr>
            <a:r>
              <a:rPr lang="en-US" sz="2400" dirty="0"/>
              <a:t>If </a:t>
            </a:r>
            <a:r>
              <a:rPr lang="en-US" sz="2400" b="1" dirty="0"/>
              <a:t>n&gt;0</a:t>
            </a:r>
            <a:r>
              <a:rPr lang="en-US" sz="2400" dirty="0"/>
              <a:t>, then</a:t>
            </a:r>
          </a:p>
          <a:p>
            <a:pPr marL="990600" lvl="1" indent="-533400" eaLnBrk="1" hangingPunct="1">
              <a:buFontTx/>
              <a:buAutoNum type="alphaLcPeriod"/>
            </a:pPr>
            <a:r>
              <a:rPr lang="en-US" sz="2000" b="1" dirty="0"/>
              <a:t>Move</a:t>
            </a:r>
            <a:r>
              <a:rPr lang="en-US" sz="2000" dirty="0"/>
              <a:t> the </a:t>
            </a:r>
            <a:r>
              <a:rPr lang="en-US" sz="2000" b="1" dirty="0"/>
              <a:t>topmost</a:t>
            </a:r>
            <a:r>
              <a:rPr lang="en-US" sz="2000" dirty="0"/>
              <a:t> </a:t>
            </a:r>
            <a:r>
              <a:rPr lang="en-US" sz="2000" b="1" dirty="0">
                <a:solidFill>
                  <a:srgbClr val="B80000"/>
                </a:solidFill>
              </a:rPr>
              <a:t>n-1 disks </a:t>
            </a:r>
            <a:r>
              <a:rPr lang="en-US" sz="2000" dirty="0"/>
              <a:t>from </a:t>
            </a:r>
            <a:r>
              <a:rPr lang="en-US" sz="2000" b="1" dirty="0">
                <a:solidFill>
                  <a:srgbClr val="2C14DE"/>
                </a:solidFill>
              </a:rPr>
              <a:t>peg1</a:t>
            </a:r>
            <a:r>
              <a:rPr lang="en-US" sz="2000" dirty="0">
                <a:solidFill>
                  <a:srgbClr val="2C14DE"/>
                </a:solidFill>
              </a:rPr>
              <a:t> </a:t>
            </a:r>
            <a:r>
              <a:rPr lang="en-US" sz="2000" dirty="0"/>
              <a:t>to </a:t>
            </a:r>
            <a:r>
              <a:rPr lang="en-US" sz="2000" b="1" dirty="0">
                <a:solidFill>
                  <a:srgbClr val="2C14DE"/>
                </a:solidFill>
              </a:rPr>
              <a:t>peg2</a:t>
            </a:r>
          </a:p>
          <a:p>
            <a:pPr marL="990600" lvl="1" indent="-533400" eaLnBrk="1" hangingPunct="1">
              <a:buFontTx/>
              <a:buAutoNum type="alphaLcPeriod"/>
            </a:pPr>
            <a:r>
              <a:rPr lang="en-US" sz="2000" b="1" dirty="0"/>
              <a:t>Move</a:t>
            </a:r>
            <a:r>
              <a:rPr lang="en-US" sz="2000" dirty="0"/>
              <a:t> the </a:t>
            </a:r>
            <a:r>
              <a:rPr lang="en-US" sz="2000" b="1" dirty="0">
                <a:solidFill>
                  <a:srgbClr val="B80000"/>
                </a:solidFill>
              </a:rPr>
              <a:t>n</a:t>
            </a:r>
            <a:r>
              <a:rPr lang="en-US" sz="2000" b="1" baseline="30000" dirty="0">
                <a:solidFill>
                  <a:srgbClr val="B80000"/>
                </a:solidFill>
              </a:rPr>
              <a:t>th</a:t>
            </a:r>
            <a:r>
              <a:rPr lang="en-US" sz="2000" b="1" dirty="0">
                <a:solidFill>
                  <a:srgbClr val="B80000"/>
                </a:solidFill>
              </a:rPr>
              <a:t> disk </a:t>
            </a:r>
            <a:r>
              <a:rPr lang="en-US" sz="2000" dirty="0"/>
              <a:t>from </a:t>
            </a:r>
            <a:r>
              <a:rPr lang="en-US" sz="2000" b="1" dirty="0">
                <a:solidFill>
                  <a:srgbClr val="2C14DE"/>
                </a:solidFill>
              </a:rPr>
              <a:t>peg1</a:t>
            </a:r>
            <a:r>
              <a:rPr lang="en-US" sz="2000" dirty="0">
                <a:solidFill>
                  <a:srgbClr val="2C14DE"/>
                </a:solidFill>
              </a:rPr>
              <a:t> </a:t>
            </a:r>
            <a:r>
              <a:rPr lang="en-US" sz="2000" dirty="0"/>
              <a:t>to </a:t>
            </a:r>
            <a:r>
              <a:rPr lang="en-US" sz="2000" b="1" dirty="0">
                <a:solidFill>
                  <a:srgbClr val="2C14DE"/>
                </a:solidFill>
              </a:rPr>
              <a:t>peg3</a:t>
            </a:r>
          </a:p>
          <a:p>
            <a:pPr marL="990600" lvl="1" indent="-533400" eaLnBrk="1" hangingPunct="1">
              <a:buFontTx/>
              <a:buAutoNum type="alphaLcPeriod"/>
            </a:pPr>
            <a:r>
              <a:rPr lang="en-US" sz="2000" b="1" dirty="0"/>
              <a:t>Move</a:t>
            </a:r>
            <a:r>
              <a:rPr lang="en-US" sz="2000" dirty="0"/>
              <a:t> the </a:t>
            </a:r>
            <a:r>
              <a:rPr lang="en-US" sz="2000" b="1" dirty="0">
                <a:solidFill>
                  <a:srgbClr val="B80000"/>
                </a:solidFill>
              </a:rPr>
              <a:t>n-1 disks </a:t>
            </a:r>
            <a:r>
              <a:rPr lang="en-US" sz="2000" dirty="0"/>
              <a:t>from </a:t>
            </a:r>
            <a:r>
              <a:rPr lang="en-US" sz="2000" b="1" dirty="0">
                <a:solidFill>
                  <a:srgbClr val="2C14DE"/>
                </a:solidFill>
              </a:rPr>
              <a:t>peg2</a:t>
            </a:r>
            <a:r>
              <a:rPr lang="en-US" sz="2000" dirty="0">
                <a:solidFill>
                  <a:srgbClr val="2C14DE"/>
                </a:solidFill>
              </a:rPr>
              <a:t> </a:t>
            </a:r>
            <a:r>
              <a:rPr lang="en-US" sz="2000" dirty="0"/>
              <a:t>to </a:t>
            </a:r>
            <a:r>
              <a:rPr lang="en-US" sz="2000" b="1" dirty="0">
                <a:solidFill>
                  <a:srgbClr val="2C14DE"/>
                </a:solidFill>
              </a:rPr>
              <a:t>peg3</a:t>
            </a:r>
          </a:p>
          <a:p>
            <a:pPr marL="609600" indent="-609600" eaLnBrk="1" hangingPunct="1">
              <a:buFontTx/>
              <a:buNone/>
            </a:pPr>
            <a:r>
              <a:rPr lang="en-US" sz="2400" dirty="0"/>
              <a:t>end if</a:t>
            </a:r>
          </a:p>
          <a:p>
            <a:endParaRPr lang="en-PK" sz="2400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2B2FA6C-054E-AA0B-DCB3-38FB8E771E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Object Oriented Programming-Spring 24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A41CAE6-EC92-BADB-8DA5-7B245FF4D0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845F5A-061D-4825-9AE9-D7794091C6CF}" type="slidenum">
              <a:rPr lang="en-US" smtClean="0"/>
              <a:t>37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78046650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727955-3C82-3A5E-066F-BC8324A4A7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Code</a:t>
            </a:r>
            <a:endParaRPr lang="en-PK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E13F8FC-5D19-846B-C251-9A1F89C867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Object Oriented Programming-Spring 24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14DC463-4AF7-F2B7-9785-A5F75AE161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845F5A-061D-4825-9AE9-D7794091C6CF}" type="slidenum">
              <a:rPr lang="en-US" smtClean="0"/>
              <a:t>38</a:t>
            </a:fld>
            <a:endParaRPr lang="en-US" dirty="0"/>
          </a:p>
        </p:txBody>
      </p:sp>
      <p:pic>
        <p:nvPicPr>
          <p:cNvPr id="6" name="Picture 2">
            <a:extLst>
              <a:ext uri="{FF2B5EF4-FFF2-40B4-BE49-F238E27FC236}">
                <a16:creationId xmlns:a16="http://schemas.microsoft.com/office/drawing/2014/main" id="{307A3B47-42E0-AFFD-2423-33E2935A9131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84871" y="1614893"/>
            <a:ext cx="8622257" cy="474145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296220517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E281F5-01D3-885F-C188-286CF0A3B13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Code</a:t>
            </a:r>
            <a:endParaRPr lang="en-PK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E1591E6-46D9-3152-8B8F-AECA22A059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Object Oriented Programming-Spring 24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FFB9BB8-A60D-0CE9-6AB7-2E43F2D8DC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845F5A-061D-4825-9AE9-D7794091C6CF}" type="slidenum">
              <a:rPr lang="en-US" smtClean="0"/>
              <a:t>39</a:t>
            </a:fld>
            <a:endParaRPr lang="en-US" dirty="0"/>
          </a:p>
        </p:txBody>
      </p:sp>
      <p:pic>
        <p:nvPicPr>
          <p:cNvPr id="6" name="Picture 2">
            <a:extLst>
              <a:ext uri="{FF2B5EF4-FFF2-40B4-BE49-F238E27FC236}">
                <a16:creationId xmlns:a16="http://schemas.microsoft.com/office/drawing/2014/main" id="{47636E70-7EB9-EE0E-23CD-E2307F09D398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45504" y="365127"/>
            <a:ext cx="6900991" cy="580707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922941443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60296D0-457A-9161-10AB-0AFF44ACF9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Output</a:t>
            </a:r>
            <a:endParaRPr lang="en-PK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0AC5A41-F67B-BA14-F670-CD874BB07AB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Object Oriented Programming-Spring 24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C2B7E11-45E8-BB4D-3E7A-78955923AC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845F5A-061D-4825-9AE9-D7794091C6CF}" type="slidenum">
              <a:rPr lang="en-US" smtClean="0"/>
              <a:t>40</a:t>
            </a:fld>
            <a:endParaRPr lang="en-US" dirty="0"/>
          </a:p>
        </p:txBody>
      </p:sp>
      <p:pic>
        <p:nvPicPr>
          <p:cNvPr id="6" name="Picture 2">
            <a:extLst>
              <a:ext uri="{FF2B5EF4-FFF2-40B4-BE49-F238E27FC236}">
                <a16:creationId xmlns:a16="http://schemas.microsoft.com/office/drawing/2014/main" id="{629E764F-65D6-7DA0-AFEC-42047E548A4E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 bwMode="auto">
          <a:xfrm>
            <a:off x="3164189" y="1692204"/>
            <a:ext cx="5863622" cy="347359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929378809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Freeform: Shape 11">
            <a:extLst>
              <a:ext uri="{FF2B5EF4-FFF2-40B4-BE49-F238E27FC236}">
                <a16:creationId xmlns:a16="http://schemas.microsoft.com/office/drawing/2014/main" id="{736F0DFD-0954-464F-BF12-DD2E6F6E038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983504" cy="6858000"/>
          </a:xfrm>
          <a:custGeom>
            <a:avLst/>
            <a:gdLst>
              <a:gd name="connsiteX0" fmla="*/ 0 w 1983504"/>
              <a:gd name="connsiteY0" fmla="*/ 0 h 6858000"/>
              <a:gd name="connsiteX1" fmla="*/ 1376658 w 1983504"/>
              <a:gd name="connsiteY1" fmla="*/ 0 h 6858000"/>
              <a:gd name="connsiteX2" fmla="*/ 1690650 w 1983504"/>
              <a:gd name="connsiteY2" fmla="*/ 110269 h 6858000"/>
              <a:gd name="connsiteX3" fmla="*/ 1645361 w 1983504"/>
              <a:gd name="connsiteY3" fmla="*/ 135168 h 6858000"/>
              <a:gd name="connsiteX4" fmla="*/ 1373640 w 1983504"/>
              <a:gd name="connsiteY4" fmla="*/ 71141 h 6858000"/>
              <a:gd name="connsiteX5" fmla="*/ 1319295 w 1983504"/>
              <a:gd name="connsiteY5" fmla="*/ 88927 h 6858000"/>
              <a:gd name="connsiteX6" fmla="*/ 1346468 w 1983504"/>
              <a:gd name="connsiteY6" fmla="*/ 163625 h 6858000"/>
              <a:gd name="connsiteX7" fmla="*/ 1464213 w 1983504"/>
              <a:gd name="connsiteY7" fmla="*/ 192082 h 6858000"/>
              <a:gd name="connsiteX8" fmla="*/ 1648381 w 1983504"/>
              <a:gd name="connsiteY8" fmla="*/ 373491 h 6858000"/>
              <a:gd name="connsiteX9" fmla="*/ 1370620 w 1983504"/>
              <a:gd name="connsiteY9" fmla="*/ 352148 h 6858000"/>
              <a:gd name="connsiteX10" fmla="*/ 1322314 w 1983504"/>
              <a:gd name="connsiteY10" fmla="*/ 394834 h 6858000"/>
              <a:gd name="connsiteX11" fmla="*/ 1304199 w 1983504"/>
              <a:gd name="connsiteY11" fmla="*/ 451747 h 6858000"/>
              <a:gd name="connsiteX12" fmla="*/ 1222682 w 1983504"/>
              <a:gd name="connsiteY12" fmla="*/ 359262 h 6858000"/>
              <a:gd name="connsiteX13" fmla="*/ 1153242 w 1983504"/>
              <a:gd name="connsiteY13" fmla="*/ 334364 h 6858000"/>
              <a:gd name="connsiteX14" fmla="*/ 1132108 w 1983504"/>
              <a:gd name="connsiteY14" fmla="*/ 416176 h 6858000"/>
              <a:gd name="connsiteX15" fmla="*/ 1195509 w 1983504"/>
              <a:gd name="connsiteY15" fmla="*/ 505101 h 6858000"/>
              <a:gd name="connsiteX16" fmla="*/ 1364582 w 1983504"/>
              <a:gd name="connsiteY16" fmla="*/ 558458 h 6858000"/>
              <a:gd name="connsiteX17" fmla="*/ 1183434 w 1983504"/>
              <a:gd name="connsiteY17" fmla="*/ 558458 h 6858000"/>
              <a:gd name="connsiteX18" fmla="*/ 975114 w 1983504"/>
              <a:gd name="connsiteY18" fmla="*/ 522887 h 6858000"/>
              <a:gd name="connsiteX19" fmla="*/ 754716 w 1983504"/>
              <a:gd name="connsiteY19" fmla="*/ 533558 h 6858000"/>
              <a:gd name="connsiteX20" fmla="*/ 546395 w 1983504"/>
              <a:gd name="connsiteY20" fmla="*/ 462417 h 6858000"/>
              <a:gd name="connsiteX21" fmla="*/ 335056 w 1983504"/>
              <a:gd name="connsiteY21" fmla="*/ 465975 h 6858000"/>
              <a:gd name="connsiteX22" fmla="*/ 1270988 w 1983504"/>
              <a:gd name="connsiteY22" fmla="*/ 910606 h 6858000"/>
              <a:gd name="connsiteX23" fmla="*/ 1225701 w 1983504"/>
              <a:gd name="connsiteY23" fmla="*/ 921277 h 6858000"/>
              <a:gd name="connsiteX24" fmla="*/ 1165318 w 1983504"/>
              <a:gd name="connsiteY24" fmla="*/ 949734 h 6858000"/>
              <a:gd name="connsiteX25" fmla="*/ 1210606 w 1983504"/>
              <a:gd name="connsiteY25" fmla="*/ 1006647 h 6858000"/>
              <a:gd name="connsiteX26" fmla="*/ 1455156 w 1983504"/>
              <a:gd name="connsiteY26" fmla="*/ 1113358 h 6858000"/>
              <a:gd name="connsiteX27" fmla="*/ 1515538 w 1983504"/>
              <a:gd name="connsiteY27" fmla="*/ 1220069 h 6858000"/>
              <a:gd name="connsiteX28" fmla="*/ 1440060 w 1983504"/>
              <a:gd name="connsiteY28" fmla="*/ 1209399 h 6858000"/>
              <a:gd name="connsiteX29" fmla="*/ 1373640 w 1983504"/>
              <a:gd name="connsiteY29" fmla="*/ 1230741 h 6858000"/>
              <a:gd name="connsiteX30" fmla="*/ 1400810 w 1983504"/>
              <a:gd name="connsiteY30" fmla="*/ 1365909 h 6858000"/>
              <a:gd name="connsiteX31" fmla="*/ 1748012 w 1983504"/>
              <a:gd name="connsiteY31" fmla="*/ 1540204 h 6858000"/>
              <a:gd name="connsiteX32" fmla="*/ 1778203 w 1983504"/>
              <a:gd name="connsiteY32" fmla="*/ 1597117 h 6858000"/>
              <a:gd name="connsiteX33" fmla="*/ 1735936 w 1983504"/>
              <a:gd name="connsiteY33" fmla="*/ 1636245 h 6858000"/>
              <a:gd name="connsiteX34" fmla="*/ 1624228 w 1983504"/>
              <a:gd name="connsiteY34" fmla="*/ 1657587 h 6858000"/>
              <a:gd name="connsiteX35" fmla="*/ 1781223 w 1983504"/>
              <a:gd name="connsiteY35" fmla="*/ 1849668 h 6858000"/>
              <a:gd name="connsiteX36" fmla="*/ 1838587 w 1983504"/>
              <a:gd name="connsiteY36" fmla="*/ 1903025 h 6858000"/>
              <a:gd name="connsiteX37" fmla="*/ 1938218 w 1983504"/>
              <a:gd name="connsiteY37" fmla="*/ 1984836 h 6858000"/>
              <a:gd name="connsiteX38" fmla="*/ 1938218 w 1983504"/>
              <a:gd name="connsiteY38" fmla="*/ 2013292 h 6858000"/>
              <a:gd name="connsiteX39" fmla="*/ 1805376 w 1983504"/>
              <a:gd name="connsiteY39" fmla="*/ 2102219 h 6858000"/>
              <a:gd name="connsiteX40" fmla="*/ 1563844 w 1983504"/>
              <a:gd name="connsiteY40" fmla="*/ 2077320 h 6858000"/>
              <a:gd name="connsiteX41" fmla="*/ 1920104 w 1983504"/>
              <a:gd name="connsiteY41" fmla="*/ 2208931 h 6858000"/>
              <a:gd name="connsiteX42" fmla="*/ 766792 w 1983504"/>
              <a:gd name="connsiteY42" fmla="*/ 1892353 h 6858000"/>
              <a:gd name="connsiteX43" fmla="*/ 839252 w 1983504"/>
              <a:gd name="connsiteY43" fmla="*/ 1974165 h 6858000"/>
              <a:gd name="connsiteX44" fmla="*/ 1243816 w 1983504"/>
              <a:gd name="connsiteY44" fmla="*/ 2191146 h 6858000"/>
              <a:gd name="connsiteX45" fmla="*/ 1358543 w 1983504"/>
              <a:gd name="connsiteY45" fmla="*/ 2326314 h 6858000"/>
              <a:gd name="connsiteX46" fmla="*/ 1479310 w 1983504"/>
              <a:gd name="connsiteY46" fmla="*/ 2401012 h 6858000"/>
              <a:gd name="connsiteX47" fmla="*/ 1648381 w 1983504"/>
              <a:gd name="connsiteY47" fmla="*/ 2401012 h 6858000"/>
              <a:gd name="connsiteX48" fmla="*/ 1769146 w 1983504"/>
              <a:gd name="connsiteY48" fmla="*/ 2518395 h 6858000"/>
              <a:gd name="connsiteX49" fmla="*/ 1645361 w 1983504"/>
              <a:gd name="connsiteY49" fmla="*/ 2543294 h 6858000"/>
              <a:gd name="connsiteX50" fmla="*/ 1500444 w 1983504"/>
              <a:gd name="connsiteY50" fmla="*/ 2525509 h 6858000"/>
              <a:gd name="connsiteX51" fmla="*/ 1337410 w 1983504"/>
              <a:gd name="connsiteY51" fmla="*/ 2564636 h 6858000"/>
              <a:gd name="connsiteX52" fmla="*/ 1186452 w 1983504"/>
              <a:gd name="connsiteY52" fmla="*/ 2532623 h 6858000"/>
              <a:gd name="connsiteX53" fmla="*/ 1005304 w 1983504"/>
              <a:gd name="connsiteY53" fmla="*/ 2553965 h 6858000"/>
              <a:gd name="connsiteX54" fmla="*/ 947940 w 1983504"/>
              <a:gd name="connsiteY54" fmla="*/ 2692689 h 6858000"/>
              <a:gd name="connsiteX55" fmla="*/ 929826 w 1983504"/>
              <a:gd name="connsiteY55" fmla="*/ 2703362 h 6858000"/>
              <a:gd name="connsiteX56" fmla="*/ 594701 w 1983504"/>
              <a:gd name="connsiteY56" fmla="*/ 2923898 h 6858000"/>
              <a:gd name="connsiteX57" fmla="*/ 501108 w 1983504"/>
              <a:gd name="connsiteY57" fmla="*/ 2941684 h 6858000"/>
              <a:gd name="connsiteX58" fmla="*/ 1053610 w 1983504"/>
              <a:gd name="connsiteY58" fmla="*/ 3329402 h 6858000"/>
              <a:gd name="connsiteX59" fmla="*/ 682256 w 1983504"/>
              <a:gd name="connsiteY59" fmla="*/ 3229805 h 6858000"/>
              <a:gd name="connsiteX60" fmla="*/ 630932 w 1983504"/>
              <a:gd name="connsiteY60" fmla="*/ 3393429 h 6858000"/>
              <a:gd name="connsiteX61" fmla="*/ 806041 w 1983504"/>
              <a:gd name="connsiteY61" fmla="*/ 3539269 h 6858000"/>
              <a:gd name="connsiteX62" fmla="*/ 869444 w 1983504"/>
              <a:gd name="connsiteY62" fmla="*/ 3827390 h 6858000"/>
              <a:gd name="connsiteX63" fmla="*/ 839252 w 1983504"/>
              <a:gd name="connsiteY63" fmla="*/ 4090612 h 6858000"/>
              <a:gd name="connsiteX64" fmla="*/ 763774 w 1983504"/>
              <a:gd name="connsiteY64" fmla="*/ 4172424 h 6858000"/>
              <a:gd name="connsiteX65" fmla="*/ 655085 w 1983504"/>
              <a:gd name="connsiteY65" fmla="*/ 4321821 h 6858000"/>
              <a:gd name="connsiteX66" fmla="*/ 588662 w 1983504"/>
              <a:gd name="connsiteY66" fmla="*/ 4414305 h 6858000"/>
              <a:gd name="connsiteX67" fmla="*/ 356189 w 1983504"/>
              <a:gd name="connsiteY67" fmla="*/ 4378734 h 6858000"/>
              <a:gd name="connsiteX68" fmla="*/ 667160 w 1983504"/>
              <a:gd name="connsiteY68" fmla="*/ 4613499 h 6858000"/>
              <a:gd name="connsiteX69" fmla="*/ 416573 w 1983504"/>
              <a:gd name="connsiteY69" fmla="*/ 4585042 h 6858000"/>
              <a:gd name="connsiteX70" fmla="*/ 335056 w 1983504"/>
              <a:gd name="connsiteY70" fmla="*/ 4602828 h 6858000"/>
              <a:gd name="connsiteX71" fmla="*/ 380342 w 1983504"/>
              <a:gd name="connsiteY71" fmla="*/ 4677526 h 6858000"/>
              <a:gd name="connsiteX72" fmla="*/ 564510 w 1983504"/>
              <a:gd name="connsiteY72" fmla="*/ 4805580 h 6858000"/>
              <a:gd name="connsiteX73" fmla="*/ 944922 w 1983504"/>
              <a:gd name="connsiteY73" fmla="*/ 5154171 h 6858000"/>
              <a:gd name="connsiteX74" fmla="*/ 576586 w 1983504"/>
              <a:gd name="connsiteY74" fmla="*/ 4994104 h 6858000"/>
              <a:gd name="connsiteX75" fmla="*/ 963036 w 1983504"/>
              <a:gd name="connsiteY75" fmla="*/ 5353367 h 6858000"/>
              <a:gd name="connsiteX76" fmla="*/ 1047572 w 1983504"/>
              <a:gd name="connsiteY76" fmla="*/ 5474306 h 6858000"/>
              <a:gd name="connsiteX77" fmla="*/ 1222682 w 1983504"/>
              <a:gd name="connsiteY77" fmla="*/ 5769542 h 6858000"/>
              <a:gd name="connsiteX78" fmla="*/ 1213626 w 1983504"/>
              <a:gd name="connsiteY78" fmla="*/ 5801555 h 6858000"/>
              <a:gd name="connsiteX79" fmla="*/ 1014361 w 1983504"/>
              <a:gd name="connsiteY79" fmla="*/ 5755314 h 6858000"/>
              <a:gd name="connsiteX80" fmla="*/ 1274008 w 1983504"/>
              <a:gd name="connsiteY80" fmla="*/ 6004307 h 6858000"/>
              <a:gd name="connsiteX81" fmla="*/ 1542711 w 1983504"/>
              <a:gd name="connsiteY81" fmla="*/ 6196388 h 6858000"/>
              <a:gd name="connsiteX82" fmla="*/ 1352504 w 1983504"/>
              <a:gd name="connsiteY82" fmla="*/ 6167932 h 6858000"/>
              <a:gd name="connsiteX83" fmla="*/ 1089840 w 1983504"/>
              <a:gd name="connsiteY83" fmla="*/ 6057663 h 6858000"/>
              <a:gd name="connsiteX84" fmla="*/ 999266 w 1983504"/>
              <a:gd name="connsiteY84" fmla="*/ 6100347 h 6858000"/>
              <a:gd name="connsiteX85" fmla="*/ 1246836 w 1983504"/>
              <a:gd name="connsiteY85" fmla="*/ 6281757 h 6858000"/>
              <a:gd name="connsiteX86" fmla="*/ 1388735 w 1983504"/>
              <a:gd name="connsiteY86" fmla="*/ 6367127 h 6858000"/>
              <a:gd name="connsiteX87" fmla="*/ 1446099 w 1983504"/>
              <a:gd name="connsiteY87" fmla="*/ 6431153 h 6858000"/>
              <a:gd name="connsiteX88" fmla="*/ 1609132 w 1983504"/>
              <a:gd name="connsiteY88" fmla="*/ 6658805 h 6858000"/>
              <a:gd name="connsiteX89" fmla="*/ 1983504 w 1983504"/>
              <a:gd name="connsiteY89" fmla="*/ 6858000 h 6858000"/>
              <a:gd name="connsiteX90" fmla="*/ 0 w 1983504"/>
              <a:gd name="connsiteY90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</a:cxnLst>
            <a:rect l="l" t="t" r="r" b="b"/>
            <a:pathLst>
              <a:path w="1983504" h="6858000">
                <a:moveTo>
                  <a:pt x="0" y="0"/>
                </a:moveTo>
                <a:lnTo>
                  <a:pt x="1376658" y="0"/>
                </a:lnTo>
                <a:cubicBezTo>
                  <a:pt x="1482328" y="35571"/>
                  <a:pt x="1584980" y="78255"/>
                  <a:pt x="1690650" y="110269"/>
                </a:cubicBezTo>
                <a:cubicBezTo>
                  <a:pt x="1675553" y="145839"/>
                  <a:pt x="1660458" y="138725"/>
                  <a:pt x="1645361" y="135168"/>
                </a:cubicBezTo>
                <a:cubicBezTo>
                  <a:pt x="1554788" y="120941"/>
                  <a:pt x="1461194" y="110269"/>
                  <a:pt x="1373640" y="71141"/>
                </a:cubicBezTo>
                <a:cubicBezTo>
                  <a:pt x="1352504" y="64027"/>
                  <a:pt x="1328352" y="64027"/>
                  <a:pt x="1319295" y="88927"/>
                </a:cubicBezTo>
                <a:cubicBezTo>
                  <a:pt x="1304199" y="124497"/>
                  <a:pt x="1325332" y="145839"/>
                  <a:pt x="1346468" y="163625"/>
                </a:cubicBezTo>
                <a:cubicBezTo>
                  <a:pt x="1382696" y="195638"/>
                  <a:pt x="1424964" y="188525"/>
                  <a:pt x="1464213" y="192082"/>
                </a:cubicBezTo>
                <a:cubicBezTo>
                  <a:pt x="1572902" y="209867"/>
                  <a:pt x="1624228" y="259665"/>
                  <a:pt x="1648381" y="373491"/>
                </a:cubicBezTo>
                <a:cubicBezTo>
                  <a:pt x="1554788" y="327250"/>
                  <a:pt x="1461194" y="384162"/>
                  <a:pt x="1370620" y="352148"/>
                </a:cubicBezTo>
                <a:cubicBezTo>
                  <a:pt x="1346468" y="345034"/>
                  <a:pt x="1310237" y="355706"/>
                  <a:pt x="1322314" y="394834"/>
                </a:cubicBezTo>
                <a:cubicBezTo>
                  <a:pt x="1334390" y="430405"/>
                  <a:pt x="1373640" y="458860"/>
                  <a:pt x="1304199" y="451747"/>
                </a:cubicBezTo>
                <a:cubicBezTo>
                  <a:pt x="1252873" y="448189"/>
                  <a:pt x="1237778" y="405504"/>
                  <a:pt x="1222682" y="359262"/>
                </a:cubicBezTo>
                <a:cubicBezTo>
                  <a:pt x="1210606" y="334364"/>
                  <a:pt x="1177395" y="320135"/>
                  <a:pt x="1153242" y="334364"/>
                </a:cubicBezTo>
                <a:cubicBezTo>
                  <a:pt x="1123051" y="348592"/>
                  <a:pt x="1132108" y="387720"/>
                  <a:pt x="1132108" y="416176"/>
                </a:cubicBezTo>
                <a:cubicBezTo>
                  <a:pt x="1129088" y="469532"/>
                  <a:pt x="1153242" y="494431"/>
                  <a:pt x="1195509" y="505101"/>
                </a:cubicBezTo>
                <a:cubicBezTo>
                  <a:pt x="1246836" y="519330"/>
                  <a:pt x="1298160" y="537116"/>
                  <a:pt x="1364582" y="558458"/>
                </a:cubicBezTo>
                <a:cubicBezTo>
                  <a:pt x="1292122" y="594028"/>
                  <a:pt x="1237778" y="586915"/>
                  <a:pt x="1183434" y="558458"/>
                </a:cubicBezTo>
                <a:cubicBezTo>
                  <a:pt x="1117012" y="526444"/>
                  <a:pt x="1029458" y="483759"/>
                  <a:pt x="975114" y="522887"/>
                </a:cubicBezTo>
                <a:cubicBezTo>
                  <a:pt x="893597" y="579800"/>
                  <a:pt x="827176" y="544229"/>
                  <a:pt x="754716" y="533558"/>
                </a:cubicBezTo>
                <a:cubicBezTo>
                  <a:pt x="603758" y="512216"/>
                  <a:pt x="697352" y="480203"/>
                  <a:pt x="546395" y="462417"/>
                </a:cubicBezTo>
                <a:cubicBezTo>
                  <a:pt x="486012" y="455303"/>
                  <a:pt x="422610" y="426847"/>
                  <a:pt x="335056" y="465975"/>
                </a:cubicBezTo>
                <a:cubicBezTo>
                  <a:pt x="730563" y="672284"/>
                  <a:pt x="917750" y="658055"/>
                  <a:pt x="1270988" y="910606"/>
                </a:cubicBezTo>
                <a:cubicBezTo>
                  <a:pt x="1255893" y="935506"/>
                  <a:pt x="1240798" y="924835"/>
                  <a:pt x="1225701" y="921277"/>
                </a:cubicBezTo>
                <a:cubicBezTo>
                  <a:pt x="1201548" y="917720"/>
                  <a:pt x="1171356" y="903491"/>
                  <a:pt x="1165318" y="949734"/>
                </a:cubicBezTo>
                <a:cubicBezTo>
                  <a:pt x="1162298" y="985305"/>
                  <a:pt x="1180415" y="1003089"/>
                  <a:pt x="1210606" y="1006647"/>
                </a:cubicBezTo>
                <a:cubicBezTo>
                  <a:pt x="1298160" y="1020875"/>
                  <a:pt x="1376658" y="1070674"/>
                  <a:pt x="1455156" y="1113358"/>
                </a:cubicBezTo>
                <a:cubicBezTo>
                  <a:pt x="1491385" y="1131144"/>
                  <a:pt x="1530634" y="1156043"/>
                  <a:pt x="1515538" y="1220069"/>
                </a:cubicBezTo>
                <a:cubicBezTo>
                  <a:pt x="1485348" y="1237855"/>
                  <a:pt x="1464213" y="1212955"/>
                  <a:pt x="1440060" y="1209399"/>
                </a:cubicBezTo>
                <a:cubicBezTo>
                  <a:pt x="1415907" y="1205842"/>
                  <a:pt x="1358543" y="1220069"/>
                  <a:pt x="1373640" y="1230741"/>
                </a:cubicBezTo>
                <a:cubicBezTo>
                  <a:pt x="1443080" y="1269868"/>
                  <a:pt x="1316276" y="1365909"/>
                  <a:pt x="1400810" y="1365909"/>
                </a:cubicBezTo>
                <a:cubicBezTo>
                  <a:pt x="1539691" y="1365909"/>
                  <a:pt x="1615170" y="1536647"/>
                  <a:pt x="1748012" y="1540204"/>
                </a:cubicBezTo>
                <a:cubicBezTo>
                  <a:pt x="1769146" y="1540204"/>
                  <a:pt x="1778203" y="1572219"/>
                  <a:pt x="1778203" y="1597117"/>
                </a:cubicBezTo>
                <a:cubicBezTo>
                  <a:pt x="1778203" y="1629132"/>
                  <a:pt x="1757070" y="1632688"/>
                  <a:pt x="1735936" y="1636245"/>
                </a:cubicBezTo>
                <a:cubicBezTo>
                  <a:pt x="1702725" y="1639802"/>
                  <a:pt x="1666496" y="1597117"/>
                  <a:pt x="1624228" y="1657587"/>
                </a:cubicBezTo>
                <a:cubicBezTo>
                  <a:pt x="1702725" y="1693158"/>
                  <a:pt x="1784242" y="1728729"/>
                  <a:pt x="1781223" y="1849668"/>
                </a:cubicBezTo>
                <a:cubicBezTo>
                  <a:pt x="1781223" y="1881683"/>
                  <a:pt x="1814434" y="1895910"/>
                  <a:pt x="1838587" y="1903025"/>
                </a:cubicBezTo>
                <a:cubicBezTo>
                  <a:pt x="1880854" y="1917252"/>
                  <a:pt x="1914065" y="1938595"/>
                  <a:pt x="1938218" y="1984836"/>
                </a:cubicBezTo>
                <a:cubicBezTo>
                  <a:pt x="1938218" y="1995507"/>
                  <a:pt x="1938218" y="2002622"/>
                  <a:pt x="1938218" y="2013292"/>
                </a:cubicBezTo>
                <a:cubicBezTo>
                  <a:pt x="1932180" y="2123562"/>
                  <a:pt x="1871798" y="2120004"/>
                  <a:pt x="1805376" y="2102219"/>
                </a:cubicBezTo>
                <a:cubicBezTo>
                  <a:pt x="1726878" y="2080877"/>
                  <a:pt x="1648381" y="2038192"/>
                  <a:pt x="1563844" y="2077320"/>
                </a:cubicBezTo>
                <a:cubicBezTo>
                  <a:pt x="1681592" y="2130676"/>
                  <a:pt x="1811414" y="2134233"/>
                  <a:pt x="1920104" y="2208931"/>
                </a:cubicBezTo>
                <a:cubicBezTo>
                  <a:pt x="1515538" y="2223159"/>
                  <a:pt x="1159280" y="1984836"/>
                  <a:pt x="766792" y="1892353"/>
                </a:cubicBezTo>
                <a:cubicBezTo>
                  <a:pt x="778869" y="1952823"/>
                  <a:pt x="812080" y="1967051"/>
                  <a:pt x="839252" y="1974165"/>
                </a:cubicBezTo>
                <a:cubicBezTo>
                  <a:pt x="984170" y="2020407"/>
                  <a:pt x="1110974" y="2112891"/>
                  <a:pt x="1243816" y="2191146"/>
                </a:cubicBezTo>
                <a:cubicBezTo>
                  <a:pt x="1298160" y="2223159"/>
                  <a:pt x="1337410" y="2258731"/>
                  <a:pt x="1358543" y="2326314"/>
                </a:cubicBezTo>
                <a:cubicBezTo>
                  <a:pt x="1376658" y="2390340"/>
                  <a:pt x="1412888" y="2418796"/>
                  <a:pt x="1479310" y="2401012"/>
                </a:cubicBezTo>
                <a:cubicBezTo>
                  <a:pt x="1533654" y="2386784"/>
                  <a:pt x="1591018" y="2393898"/>
                  <a:pt x="1648381" y="2401012"/>
                </a:cubicBezTo>
                <a:cubicBezTo>
                  <a:pt x="1711782" y="2408126"/>
                  <a:pt x="1784242" y="2479267"/>
                  <a:pt x="1769146" y="2518395"/>
                </a:cubicBezTo>
                <a:cubicBezTo>
                  <a:pt x="1738956" y="2582422"/>
                  <a:pt x="1687630" y="2550408"/>
                  <a:pt x="1645361" y="2543294"/>
                </a:cubicBezTo>
                <a:cubicBezTo>
                  <a:pt x="1594036" y="2536181"/>
                  <a:pt x="1500444" y="2518395"/>
                  <a:pt x="1500444" y="2525509"/>
                </a:cubicBezTo>
                <a:cubicBezTo>
                  <a:pt x="1467232" y="2685576"/>
                  <a:pt x="1391754" y="2564636"/>
                  <a:pt x="1337410" y="2564636"/>
                </a:cubicBezTo>
                <a:cubicBezTo>
                  <a:pt x="1286084" y="2564636"/>
                  <a:pt x="1234759" y="2546851"/>
                  <a:pt x="1186452" y="2532623"/>
                </a:cubicBezTo>
                <a:cubicBezTo>
                  <a:pt x="1123051" y="2514837"/>
                  <a:pt x="1065688" y="2546851"/>
                  <a:pt x="1005304" y="2553965"/>
                </a:cubicBezTo>
                <a:cubicBezTo>
                  <a:pt x="950960" y="2561080"/>
                  <a:pt x="981150" y="2653563"/>
                  <a:pt x="947940" y="2692689"/>
                </a:cubicBezTo>
                <a:cubicBezTo>
                  <a:pt x="941903" y="2703362"/>
                  <a:pt x="935864" y="2703362"/>
                  <a:pt x="929826" y="2703362"/>
                </a:cubicBezTo>
                <a:cubicBezTo>
                  <a:pt x="911711" y="2980812"/>
                  <a:pt x="594701" y="2913227"/>
                  <a:pt x="594701" y="2923898"/>
                </a:cubicBezTo>
                <a:cubicBezTo>
                  <a:pt x="567529" y="2941684"/>
                  <a:pt x="534318" y="2899000"/>
                  <a:pt x="501108" y="2941684"/>
                </a:cubicBezTo>
                <a:cubicBezTo>
                  <a:pt x="643007" y="3137322"/>
                  <a:pt x="860386" y="3183563"/>
                  <a:pt x="1053610" y="3329402"/>
                </a:cubicBezTo>
                <a:cubicBezTo>
                  <a:pt x="893597" y="3379202"/>
                  <a:pt x="800002" y="3208463"/>
                  <a:pt x="682256" y="3229805"/>
                </a:cubicBezTo>
                <a:cubicBezTo>
                  <a:pt x="624893" y="3283162"/>
                  <a:pt x="796984" y="3368530"/>
                  <a:pt x="630932" y="3393429"/>
                </a:cubicBezTo>
                <a:cubicBezTo>
                  <a:pt x="703390" y="3439672"/>
                  <a:pt x="754716" y="3485914"/>
                  <a:pt x="806041" y="3539269"/>
                </a:cubicBezTo>
                <a:cubicBezTo>
                  <a:pt x="893597" y="3635309"/>
                  <a:pt x="911711" y="3699337"/>
                  <a:pt x="869444" y="3827390"/>
                </a:cubicBezTo>
                <a:cubicBezTo>
                  <a:pt x="842270" y="3912759"/>
                  <a:pt x="803022" y="3991015"/>
                  <a:pt x="839252" y="4090612"/>
                </a:cubicBezTo>
                <a:cubicBezTo>
                  <a:pt x="863405" y="4158196"/>
                  <a:pt x="854347" y="4204438"/>
                  <a:pt x="763774" y="4172424"/>
                </a:cubicBezTo>
                <a:cubicBezTo>
                  <a:pt x="667160" y="4140411"/>
                  <a:pt x="630932" y="4200882"/>
                  <a:pt x="655085" y="4321821"/>
                </a:cubicBezTo>
                <a:cubicBezTo>
                  <a:pt x="670179" y="4400076"/>
                  <a:pt x="655085" y="4424975"/>
                  <a:pt x="588662" y="4414305"/>
                </a:cubicBezTo>
                <a:cubicBezTo>
                  <a:pt x="516204" y="4403633"/>
                  <a:pt x="446764" y="4353835"/>
                  <a:pt x="356189" y="4378734"/>
                </a:cubicBezTo>
                <a:cubicBezTo>
                  <a:pt x="428648" y="4521016"/>
                  <a:pt x="582626" y="4478331"/>
                  <a:pt x="667160" y="4613499"/>
                </a:cubicBezTo>
                <a:cubicBezTo>
                  <a:pt x="567529" y="4613499"/>
                  <a:pt x="489031" y="4613499"/>
                  <a:pt x="416573" y="4585042"/>
                </a:cubicBezTo>
                <a:cubicBezTo>
                  <a:pt x="386381" y="4574373"/>
                  <a:pt x="353170" y="4560144"/>
                  <a:pt x="335056" y="4602828"/>
                </a:cubicBezTo>
                <a:cubicBezTo>
                  <a:pt x="313920" y="4652628"/>
                  <a:pt x="356189" y="4670412"/>
                  <a:pt x="380342" y="4677526"/>
                </a:cubicBezTo>
                <a:cubicBezTo>
                  <a:pt x="449784" y="4702425"/>
                  <a:pt x="504126" y="4759339"/>
                  <a:pt x="564510" y="4805580"/>
                </a:cubicBezTo>
                <a:cubicBezTo>
                  <a:pt x="694332" y="4905177"/>
                  <a:pt x="836233" y="4990547"/>
                  <a:pt x="944922" y="5154171"/>
                </a:cubicBezTo>
                <a:cubicBezTo>
                  <a:pt x="809060" y="5111487"/>
                  <a:pt x="706410" y="5011889"/>
                  <a:pt x="576586" y="4994104"/>
                </a:cubicBezTo>
                <a:cubicBezTo>
                  <a:pt x="688296" y="5143500"/>
                  <a:pt x="830194" y="5243097"/>
                  <a:pt x="963036" y="5353367"/>
                </a:cubicBezTo>
                <a:cubicBezTo>
                  <a:pt x="1002286" y="5385379"/>
                  <a:pt x="1041534" y="5406721"/>
                  <a:pt x="1047572" y="5474306"/>
                </a:cubicBezTo>
                <a:cubicBezTo>
                  <a:pt x="1065688" y="5605917"/>
                  <a:pt x="1113992" y="5712629"/>
                  <a:pt x="1222682" y="5769542"/>
                </a:cubicBezTo>
                <a:cubicBezTo>
                  <a:pt x="1222682" y="5769542"/>
                  <a:pt x="1216644" y="5790884"/>
                  <a:pt x="1213626" y="5801555"/>
                </a:cubicBezTo>
                <a:cubicBezTo>
                  <a:pt x="1147203" y="5805112"/>
                  <a:pt x="1095878" y="5726858"/>
                  <a:pt x="1014361" y="5755314"/>
                </a:cubicBezTo>
                <a:cubicBezTo>
                  <a:pt x="1095878" y="5862025"/>
                  <a:pt x="1162298" y="5954508"/>
                  <a:pt x="1274008" y="6004307"/>
                </a:cubicBezTo>
                <a:cubicBezTo>
                  <a:pt x="1364582" y="6043434"/>
                  <a:pt x="1476290" y="6068335"/>
                  <a:pt x="1542711" y="6196388"/>
                </a:cubicBezTo>
                <a:cubicBezTo>
                  <a:pt x="1467232" y="6221287"/>
                  <a:pt x="1409868" y="6189274"/>
                  <a:pt x="1352504" y="6167932"/>
                </a:cubicBezTo>
                <a:cubicBezTo>
                  <a:pt x="1264950" y="6132361"/>
                  <a:pt x="1177395" y="6093234"/>
                  <a:pt x="1089840" y="6057663"/>
                </a:cubicBezTo>
                <a:cubicBezTo>
                  <a:pt x="1056628" y="6043434"/>
                  <a:pt x="1020400" y="6036320"/>
                  <a:pt x="999266" y="6100347"/>
                </a:cubicBezTo>
                <a:cubicBezTo>
                  <a:pt x="1110974" y="6114575"/>
                  <a:pt x="1177395" y="6199945"/>
                  <a:pt x="1246836" y="6281757"/>
                </a:cubicBezTo>
                <a:cubicBezTo>
                  <a:pt x="1286084" y="6327999"/>
                  <a:pt x="1319295" y="6388469"/>
                  <a:pt x="1388735" y="6367127"/>
                </a:cubicBezTo>
                <a:cubicBezTo>
                  <a:pt x="1424964" y="6356456"/>
                  <a:pt x="1449118" y="6388469"/>
                  <a:pt x="1446099" y="6431153"/>
                </a:cubicBezTo>
                <a:cubicBezTo>
                  <a:pt x="1431002" y="6580550"/>
                  <a:pt x="1518558" y="6630349"/>
                  <a:pt x="1609132" y="6658805"/>
                </a:cubicBezTo>
                <a:cubicBezTo>
                  <a:pt x="1741974" y="6701489"/>
                  <a:pt x="1859720" y="6786859"/>
                  <a:pt x="1983504" y="6858000"/>
                </a:cubicBezTo>
                <a:lnTo>
                  <a:pt x="0" y="6858000"/>
                </a:lnTo>
                <a:close/>
              </a:path>
            </a:pathLst>
          </a:custGeom>
          <a:solidFill>
            <a:schemeClr val="bg1">
              <a:lumMod val="85000"/>
              <a:alpha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pic>
        <p:nvPicPr>
          <p:cNvPr id="7" name="Picture 6" descr="Diagram&#10;&#10;Description automatically generated">
            <a:extLst>
              <a:ext uri="{FF2B5EF4-FFF2-40B4-BE49-F238E27FC236}">
                <a16:creationId xmlns:a16="http://schemas.microsoft.com/office/drawing/2014/main" id="{022F7000-94A4-AB66-F175-284025EFBB3C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0" y="1"/>
            <a:ext cx="12192000" cy="6356349"/>
          </a:xfrm>
          <a:prstGeom prst="rect">
            <a:avLst/>
          </a:prstGeom>
        </p:spPr>
      </p:pic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0FE5ACD-4F0A-219E-EBF5-6053623BA8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 vert="horz" lIns="91440" tIns="45720" rIns="91440" bIns="45720" rtlCol="0" anchor="ctr">
            <a:normAutofit/>
          </a:bodyPr>
          <a:lstStyle/>
          <a:p>
            <a:pPr>
              <a:spcAft>
                <a:spcPts val="600"/>
              </a:spcAft>
            </a:pPr>
            <a:r>
              <a:rPr lang="en-US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rPr>
              <a:t>Object Oriented Programming-Spring 24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BB42FA5-49CC-B46B-FC6D-4A3851E00F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 vert="horz" lIns="91440" tIns="45720" rIns="91440" bIns="45720" rtlCol="0" anchor="ctr">
            <a:normAutofit/>
          </a:bodyPr>
          <a:lstStyle/>
          <a:p>
            <a:pPr>
              <a:spcAft>
                <a:spcPts val="600"/>
              </a:spcAft>
            </a:pPr>
            <a:fld id="{51845F5A-061D-4825-9AE9-D7794091C6CF}" type="slidenum">
              <a:rPr lang="en-US" smtClean="0"/>
              <a:pPr>
                <a:spcAft>
                  <a:spcPts val="600"/>
                </a:spcAft>
              </a:pPr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76906163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8EBE67-F8C8-32DF-1310-1DCF28ADD54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Recursion VS. Iteration</a:t>
            </a:r>
            <a:endParaRPr lang="en-PK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46A0D5C-5676-B98D-EDA5-FDE44A38E36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eaLnBrk="1" hangingPunct="1">
              <a:lnSpc>
                <a:spcPct val="90000"/>
              </a:lnSpc>
            </a:pPr>
            <a:r>
              <a:rPr lang="en-US" sz="2400" b="1" dirty="0">
                <a:solidFill>
                  <a:srgbClr val="C00000"/>
                </a:solidFill>
              </a:rPr>
              <a:t>Benefits (+), disadvantages(-) of Recursive Implementation</a:t>
            </a:r>
          </a:p>
          <a:p>
            <a:pPr lvl="1" eaLnBrk="1" hangingPunct="1">
              <a:lnSpc>
                <a:spcPct val="90000"/>
              </a:lnSpc>
              <a:buFont typeface="Arial" panose="020B0604020202020204" pitchFamily="34" charset="0"/>
              <a:buChar char="+"/>
            </a:pPr>
            <a:r>
              <a:rPr lang="en-US" sz="2000" b="1" dirty="0">
                <a:solidFill>
                  <a:srgbClr val="2F1BC7"/>
                </a:solidFill>
              </a:rPr>
              <a:t>Natural formulation </a:t>
            </a:r>
            <a:r>
              <a:rPr lang="en-US" sz="2000" dirty="0"/>
              <a:t>of </a:t>
            </a:r>
            <a:r>
              <a:rPr lang="en-US" sz="2000" b="1" dirty="0">
                <a:solidFill>
                  <a:srgbClr val="2F1BC7"/>
                </a:solidFill>
              </a:rPr>
              <a:t>solution</a:t>
            </a:r>
            <a:r>
              <a:rPr lang="en-US" sz="2000" dirty="0">
                <a:solidFill>
                  <a:srgbClr val="2F1BC7"/>
                </a:solidFill>
              </a:rPr>
              <a:t> </a:t>
            </a:r>
            <a:r>
              <a:rPr lang="en-US" sz="2000" dirty="0"/>
              <a:t>to </a:t>
            </a:r>
            <a:r>
              <a:rPr lang="en-US" sz="2000" b="1" dirty="0">
                <a:solidFill>
                  <a:srgbClr val="2F1BC7"/>
                </a:solidFill>
              </a:rPr>
              <a:t>certain problems</a:t>
            </a:r>
          </a:p>
          <a:p>
            <a:pPr lvl="1" eaLnBrk="1" hangingPunct="1">
              <a:lnSpc>
                <a:spcPct val="90000"/>
              </a:lnSpc>
              <a:buFont typeface="Arial" panose="020B0604020202020204" pitchFamily="34" charset="0"/>
              <a:buChar char="+"/>
            </a:pPr>
            <a:r>
              <a:rPr lang="en-US" sz="2000" b="1" dirty="0">
                <a:solidFill>
                  <a:srgbClr val="2F1BC7"/>
                </a:solidFill>
              </a:rPr>
              <a:t>Results</a:t>
            </a:r>
            <a:r>
              <a:rPr lang="en-US" sz="2000" dirty="0">
                <a:solidFill>
                  <a:srgbClr val="2F1BC7"/>
                </a:solidFill>
              </a:rPr>
              <a:t> </a:t>
            </a:r>
            <a:r>
              <a:rPr lang="en-US" sz="2000" dirty="0"/>
              <a:t>in </a:t>
            </a:r>
            <a:r>
              <a:rPr lang="en-US" sz="2000" b="1" dirty="0">
                <a:solidFill>
                  <a:srgbClr val="2F1BC7"/>
                </a:solidFill>
              </a:rPr>
              <a:t>shorter</a:t>
            </a:r>
            <a:r>
              <a:rPr lang="en-US" sz="2000" dirty="0"/>
              <a:t>, </a:t>
            </a:r>
            <a:r>
              <a:rPr lang="en-US" sz="2000" b="1" dirty="0">
                <a:solidFill>
                  <a:srgbClr val="2F1BC7"/>
                </a:solidFill>
              </a:rPr>
              <a:t>simpler functions</a:t>
            </a:r>
          </a:p>
          <a:p>
            <a:pPr lvl="1" eaLnBrk="1" hangingPunct="1">
              <a:lnSpc>
                <a:spcPct val="90000"/>
              </a:lnSpc>
            </a:pPr>
            <a:r>
              <a:rPr lang="en-US" sz="2000" b="1" u="sng" dirty="0"/>
              <a:t>May not execute very efficiently</a:t>
            </a:r>
          </a:p>
          <a:p>
            <a:pPr lvl="1" eaLnBrk="1" hangingPunct="1">
              <a:lnSpc>
                <a:spcPct val="90000"/>
              </a:lnSpc>
            </a:pPr>
            <a:endParaRPr lang="en-US" sz="2000" b="1" u="sng" dirty="0"/>
          </a:p>
          <a:p>
            <a:pPr lvl="1" eaLnBrk="1" hangingPunct="1">
              <a:lnSpc>
                <a:spcPct val="90000"/>
              </a:lnSpc>
            </a:pPr>
            <a:endParaRPr lang="en-US" sz="2000" dirty="0"/>
          </a:p>
          <a:p>
            <a:pPr>
              <a:lnSpc>
                <a:spcPct val="90000"/>
              </a:lnSpc>
            </a:pPr>
            <a:r>
              <a:rPr lang="en-US" sz="2400" b="1" dirty="0">
                <a:solidFill>
                  <a:srgbClr val="C00000"/>
                </a:solidFill>
              </a:rPr>
              <a:t>Benefits (+), disadvantages(-) for iterative Implementation</a:t>
            </a:r>
          </a:p>
          <a:p>
            <a:pPr lvl="1" eaLnBrk="1" hangingPunct="1">
              <a:lnSpc>
                <a:spcPct val="90000"/>
              </a:lnSpc>
              <a:buFont typeface="Arial" panose="020B0604020202020204" pitchFamily="34" charset="0"/>
              <a:buChar char="+"/>
            </a:pPr>
            <a:r>
              <a:rPr lang="en-US" sz="2000" b="1" dirty="0">
                <a:solidFill>
                  <a:srgbClr val="2F1BC7"/>
                </a:solidFill>
              </a:rPr>
              <a:t>Executes</a:t>
            </a:r>
            <a:r>
              <a:rPr lang="en-US" sz="2000" dirty="0"/>
              <a:t> more </a:t>
            </a:r>
            <a:r>
              <a:rPr lang="en-US" sz="2000" b="1" dirty="0">
                <a:solidFill>
                  <a:srgbClr val="2F1BC7"/>
                </a:solidFill>
              </a:rPr>
              <a:t>efficiently</a:t>
            </a:r>
            <a:r>
              <a:rPr lang="en-US" sz="2000" dirty="0">
                <a:solidFill>
                  <a:srgbClr val="2F1BC7"/>
                </a:solidFill>
              </a:rPr>
              <a:t> </a:t>
            </a:r>
            <a:r>
              <a:rPr lang="en-US" sz="2000" b="1" dirty="0"/>
              <a:t>than recursion</a:t>
            </a:r>
          </a:p>
          <a:p>
            <a:pPr lvl="1" eaLnBrk="1" hangingPunct="1">
              <a:lnSpc>
                <a:spcPct val="90000"/>
              </a:lnSpc>
            </a:pPr>
            <a:r>
              <a:rPr lang="en-US" sz="2000" b="1" u="sng" dirty="0"/>
              <a:t>May not be as natural as recursion for some problems</a:t>
            </a:r>
          </a:p>
          <a:p>
            <a:endParaRPr lang="en-PK" sz="2400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49A62C8-B070-C11D-4BA5-7818DCA4B7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Object Oriented Programming-Spring 24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25F360D-632C-2948-4539-9C7248EA0A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845F5A-061D-4825-9AE9-D7794091C6CF}" type="slidenum">
              <a:rPr lang="en-US" smtClean="0"/>
              <a:t>42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70651038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5BD0500-66AE-A1BC-23C9-AD8E5E6BA02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Recursion </a:t>
            </a:r>
            <a:endParaRPr lang="en-PK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C4945F8-DEB6-EDAA-B5B6-CCDEDAC0FE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Object Oriented Programming-Spring 24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58900C1-F011-2E54-6836-4572765BB7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845F5A-061D-4825-9AE9-D7794091C6CF}" type="slidenum">
              <a:rPr lang="en-US" smtClean="0"/>
              <a:t>43</a:t>
            </a:fld>
            <a:endParaRPr lang="en-US" dirty="0"/>
          </a:p>
        </p:txBody>
      </p:sp>
      <p:pic>
        <p:nvPicPr>
          <p:cNvPr id="6" name="Content Placeholder 6">
            <a:extLst>
              <a:ext uri="{FF2B5EF4-FFF2-40B4-BE49-F238E27FC236}">
                <a16:creationId xmlns:a16="http://schemas.microsoft.com/office/drawing/2014/main" id="{732A2D19-7823-F000-2312-485654053EA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65606" y="1690690"/>
            <a:ext cx="3079300" cy="4560443"/>
          </a:xfrm>
        </p:spPr>
      </p:pic>
      <p:pic>
        <p:nvPicPr>
          <p:cNvPr id="77" name="Picture 76">
            <a:extLst>
              <a:ext uri="{FF2B5EF4-FFF2-40B4-BE49-F238E27FC236}">
                <a16:creationId xmlns:a16="http://schemas.microsoft.com/office/drawing/2014/main" id="{5EA64122-571E-DAFC-4F5A-54BE2C74F18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23697" y="1795909"/>
            <a:ext cx="6651312" cy="4115157"/>
          </a:xfrm>
          <a:prstGeom prst="rect">
            <a:avLst/>
          </a:prstGeom>
        </p:spPr>
      </p:pic>
      <p:pic>
        <p:nvPicPr>
          <p:cNvPr id="80" name="Picture 79">
            <a:extLst>
              <a:ext uri="{FF2B5EF4-FFF2-40B4-BE49-F238E27FC236}">
                <a16:creationId xmlns:a16="http://schemas.microsoft.com/office/drawing/2014/main" id="{056DA529-FBAB-D31B-AD88-EF05BCE5EFDA}"/>
              </a:ext>
            </a:extLst>
          </p:cNvPr>
          <p:cNvPicPr>
            <a:picLocks noChangeAspect="1"/>
          </p:cNvPicPr>
          <p:nvPr/>
        </p:nvPicPr>
        <p:blipFill rotWithShape="1"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t="-1" r="48868" b="6521"/>
          <a:stretch/>
        </p:blipFill>
        <p:spPr>
          <a:xfrm>
            <a:off x="9878291" y="5243345"/>
            <a:ext cx="1371600" cy="5585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95854663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Content Placeholder 8">
            <a:extLst>
              <a:ext uri="{FF2B5EF4-FFF2-40B4-BE49-F238E27FC236}">
                <a16:creationId xmlns:a16="http://schemas.microsoft.com/office/drawing/2014/main" id="{9837BB81-4945-0282-06A3-B4945D38CFC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286000" y="136523"/>
            <a:ext cx="7886700" cy="6305768"/>
          </a:xfrm>
          <a:prstGeom prst="rect">
            <a:avLst/>
          </a:prstGeom>
        </p:spPr>
      </p:pic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B500766-7BB6-8837-0740-B87F4D728C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Object Oriented Programming-Spring 24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E0A3A63-7639-D907-25BF-72F25FF612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845F5A-061D-4825-9AE9-D7794091C6CF}" type="slidenum">
              <a:rPr lang="en-US" smtClean="0"/>
              <a:t>44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73619895"/>
      </p:ext>
    </p:extLst>
  </p:cSld>
  <p:clrMapOvr>
    <a:masterClrMapping/>
  </p:clrMapOvr>
</p:sld>
</file>

<file path=ppt/theme/theme1.xml><?xml version="1.0" encoding="utf-8"?>
<a:theme xmlns:a="http://schemas.openxmlformats.org/drawingml/2006/main" name="BrushVTI">
  <a:themeElements>
    <a:clrScheme name="AnalogousFromRegularSeedRightStep">
      <a:dk1>
        <a:srgbClr val="000000"/>
      </a:dk1>
      <a:lt1>
        <a:srgbClr val="FFFFFF"/>
      </a:lt1>
      <a:dk2>
        <a:srgbClr val="412724"/>
      </a:dk2>
      <a:lt2>
        <a:srgbClr val="E2E8E4"/>
      </a:lt2>
      <a:accent1>
        <a:srgbClr val="D739AE"/>
      </a:accent1>
      <a:accent2>
        <a:srgbClr val="C5275A"/>
      </a:accent2>
      <a:accent3>
        <a:srgbClr val="D74839"/>
      </a:accent3>
      <a:accent4>
        <a:srgbClr val="C57827"/>
      </a:accent4>
      <a:accent5>
        <a:srgbClr val="B0A72F"/>
      </a:accent5>
      <a:accent6>
        <a:srgbClr val="81B223"/>
      </a:accent6>
      <a:hlink>
        <a:srgbClr val="31944B"/>
      </a:hlink>
      <a:folHlink>
        <a:srgbClr val="7F7F7F"/>
      </a:folHlink>
    </a:clrScheme>
    <a:fontScheme name="Custom 3">
      <a:majorFont>
        <a:latin typeface="Elephant"/>
        <a:ea typeface=""/>
        <a:cs typeface=""/>
      </a:majorFont>
      <a:minorFont>
        <a:latin typeface="Century Gothic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BrushVTI" id="{7102FA3A-9D7B-4497-8C4B-FB535AAFDE06}" vid="{C6D41F62-6FAB-440A-BEC7-CB7BF190811F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 2013 - 2022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1806</TotalTime>
  <Words>2344</Words>
  <Application>Microsoft Office PowerPoint</Application>
  <PresentationFormat>Widescreen</PresentationFormat>
  <Paragraphs>438</Paragraphs>
  <Slides>44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10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44</vt:i4>
      </vt:variant>
    </vt:vector>
  </HeadingPairs>
  <TitlesOfParts>
    <vt:vector size="55" baseType="lpstr">
      <vt:lpstr>Arial</vt:lpstr>
      <vt:lpstr>Calibri</vt:lpstr>
      <vt:lpstr>Cascadia Mono</vt:lpstr>
      <vt:lpstr>Century Gothic</vt:lpstr>
      <vt:lpstr>Consolas</vt:lpstr>
      <vt:lpstr>Courier New</vt:lpstr>
      <vt:lpstr>Elephant</vt:lpstr>
      <vt:lpstr>Times</vt:lpstr>
      <vt:lpstr>Times New Roman</vt:lpstr>
      <vt:lpstr>Wingdings</vt:lpstr>
      <vt:lpstr>BrushVTI</vt:lpstr>
      <vt:lpstr>Object Oriented Programming</vt:lpstr>
      <vt:lpstr>PowerPoint Presentation</vt:lpstr>
      <vt:lpstr>Recursive Function </vt:lpstr>
      <vt:lpstr>Recursion</vt:lpstr>
      <vt:lpstr>Recursion</vt:lpstr>
      <vt:lpstr>Recursion : Using Control Condition</vt:lpstr>
      <vt:lpstr>Recursive Function – Execution</vt:lpstr>
      <vt:lpstr>What Happens When Called?</vt:lpstr>
      <vt:lpstr>Recursive Function – Modification </vt:lpstr>
      <vt:lpstr>Recursive Function – Execution </vt:lpstr>
      <vt:lpstr>Recursion </vt:lpstr>
      <vt:lpstr>Recursion </vt:lpstr>
      <vt:lpstr>Types of Recursion</vt:lpstr>
      <vt:lpstr>Creating a Sum Function</vt:lpstr>
      <vt:lpstr>Creating a Sum function (Iterative)</vt:lpstr>
      <vt:lpstr>Creating a Sum function (Recursive)</vt:lpstr>
      <vt:lpstr>The Recursive Factorial Function</vt:lpstr>
      <vt:lpstr>The Recursive Factorial Function</vt:lpstr>
      <vt:lpstr>Character count - Recursive</vt:lpstr>
      <vt:lpstr>PowerPoint Presentation</vt:lpstr>
      <vt:lpstr>Printing a Sequence of Numbers in Reverse</vt:lpstr>
      <vt:lpstr>Printing a Sequence of Numbers in Ascending Order</vt:lpstr>
      <vt:lpstr>Finding GCD</vt:lpstr>
      <vt:lpstr>The Recursive GCD Function</vt:lpstr>
      <vt:lpstr>Solving Recursively Defined Problems</vt:lpstr>
      <vt:lpstr>Recursion</vt:lpstr>
      <vt:lpstr>Recursive Fibonacci Function</vt:lpstr>
      <vt:lpstr>Solving Recursively Defined Problems</vt:lpstr>
      <vt:lpstr>What will be recursively?</vt:lpstr>
      <vt:lpstr>Recursive</vt:lpstr>
      <vt:lpstr>Printing Patterns using Recursion</vt:lpstr>
      <vt:lpstr>Printing Patterns using Recursion</vt:lpstr>
      <vt:lpstr>Printing Patterns using Recursion</vt:lpstr>
      <vt:lpstr>How About these?</vt:lpstr>
      <vt:lpstr>PowerPoint Presentation</vt:lpstr>
      <vt:lpstr>The Towers of Hanoi</vt:lpstr>
      <vt:lpstr>Outline of Recursive Algorithm</vt:lpstr>
      <vt:lpstr>Code</vt:lpstr>
      <vt:lpstr>Code</vt:lpstr>
      <vt:lpstr>Output</vt:lpstr>
      <vt:lpstr>PowerPoint Presentation</vt:lpstr>
      <vt:lpstr>Recursion VS. Iteration</vt:lpstr>
      <vt:lpstr>Recursion 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MARIUM HIDA</dc:creator>
  <cp:lastModifiedBy>Marium Hida</cp:lastModifiedBy>
  <cp:revision>310</cp:revision>
  <cp:lastPrinted>2023-01-23T10:34:20Z</cp:lastPrinted>
  <dcterms:created xsi:type="dcterms:W3CDTF">2023-01-20T09:57:02Z</dcterms:created>
  <dcterms:modified xsi:type="dcterms:W3CDTF">2024-01-22T16:35:18Z</dcterms:modified>
</cp:coreProperties>
</file>