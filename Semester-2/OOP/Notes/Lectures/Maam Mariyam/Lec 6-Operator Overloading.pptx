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1"/>
  </p:sldMasterIdLst>
  <p:notesMasterIdLst>
    <p:notesMasterId r:id="rId103"/>
  </p:notesMasterIdLst>
  <p:sldIdLst>
    <p:sldId id="256" r:id="rId2"/>
    <p:sldId id="265" r:id="rId3"/>
    <p:sldId id="257" r:id="rId4"/>
    <p:sldId id="259" r:id="rId5"/>
    <p:sldId id="260" r:id="rId6"/>
    <p:sldId id="258" r:id="rId7"/>
    <p:sldId id="261"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309" r:id="rId36"/>
    <p:sldId id="291" r:id="rId37"/>
    <p:sldId id="292" r:id="rId38"/>
    <p:sldId id="293" r:id="rId39"/>
    <p:sldId id="294" r:id="rId40"/>
    <p:sldId id="295" r:id="rId41"/>
    <p:sldId id="296" r:id="rId42"/>
    <p:sldId id="310" r:id="rId43"/>
    <p:sldId id="311" r:id="rId44"/>
    <p:sldId id="297" r:id="rId45"/>
    <p:sldId id="298" r:id="rId46"/>
    <p:sldId id="299" r:id="rId47"/>
    <p:sldId id="300" r:id="rId48"/>
    <p:sldId id="301" r:id="rId49"/>
    <p:sldId id="302" r:id="rId50"/>
    <p:sldId id="303" r:id="rId51"/>
    <p:sldId id="304" r:id="rId52"/>
    <p:sldId id="305" r:id="rId53"/>
    <p:sldId id="312" r:id="rId54"/>
    <p:sldId id="306" r:id="rId55"/>
    <p:sldId id="307" r:id="rId56"/>
    <p:sldId id="313" r:id="rId57"/>
    <p:sldId id="308" r:id="rId58"/>
    <p:sldId id="315" r:id="rId59"/>
    <p:sldId id="316" r:id="rId60"/>
    <p:sldId id="317" r:id="rId61"/>
    <p:sldId id="318" r:id="rId62"/>
    <p:sldId id="319" r:id="rId63"/>
    <p:sldId id="320" r:id="rId64"/>
    <p:sldId id="359" r:id="rId65"/>
    <p:sldId id="360" r:id="rId66"/>
    <p:sldId id="321" r:id="rId67"/>
    <p:sldId id="322" r:id="rId68"/>
    <p:sldId id="323" r:id="rId69"/>
    <p:sldId id="324" r:id="rId70"/>
    <p:sldId id="325" r:id="rId71"/>
    <p:sldId id="326" r:id="rId72"/>
    <p:sldId id="327" r:id="rId73"/>
    <p:sldId id="330" r:id="rId74"/>
    <p:sldId id="328" r:id="rId75"/>
    <p:sldId id="329"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416" r:id="rId96"/>
    <p:sldId id="417" r:id="rId97"/>
    <p:sldId id="419" r:id="rId98"/>
    <p:sldId id="420" r:id="rId99"/>
    <p:sldId id="422" r:id="rId100"/>
    <p:sldId id="421" r:id="rId101"/>
    <p:sldId id="423" r:id="rId102"/>
  </p:sldIdLst>
  <p:sldSz cx="12192000" cy="6858000"/>
  <p:notesSz cx="9928225" cy="6797675"/>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711" autoAdjust="0"/>
  </p:normalViewPr>
  <p:slideViewPr>
    <p:cSldViewPr snapToGrid="0">
      <p:cViewPr varScale="1">
        <p:scale>
          <a:sx n="65" d="100"/>
          <a:sy n="65" d="100"/>
        </p:scale>
        <p:origin x="128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lvl1pPr>
          </a:lstStyle>
          <a:p>
            <a:fld id="{97AC862F-386F-45B1-A520-D73D66BA78DA}" type="datetimeFigureOut">
              <a:rPr lang="en-PK" smtClean="0"/>
              <a:t>18/03/2024</a:t>
            </a:fld>
            <a:endParaRPr lang="en-PK"/>
          </a:p>
        </p:txBody>
      </p:sp>
      <p:sp>
        <p:nvSpPr>
          <p:cNvPr id="4" name="Slide Image Placeholder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lvl1pPr>
          </a:lstStyle>
          <a:p>
            <a:fld id="{E94E2947-0130-47C3-9E08-854F4E891705}" type="slidenum">
              <a:rPr lang="en-PK" smtClean="0"/>
              <a:t>‹#›</a:t>
            </a:fld>
            <a:endParaRPr lang="en-PK"/>
          </a:p>
        </p:txBody>
      </p:sp>
    </p:spTree>
    <p:extLst>
      <p:ext uri="{BB962C8B-B14F-4D97-AF65-F5344CB8AC3E}">
        <p14:creationId xmlns:p14="http://schemas.microsoft.com/office/powerpoint/2010/main" val="3415549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en.wikipedia.org/wiki/Sequence_point"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E94E2947-0130-47C3-9E08-854F4E891705}" type="slidenum">
              <a:rPr lang="en-PK" smtClean="0"/>
              <a:t>1</a:t>
            </a:fld>
            <a:endParaRPr lang="en-PK" dirty="0"/>
          </a:p>
        </p:txBody>
      </p:sp>
    </p:spTree>
    <p:extLst>
      <p:ext uri="{BB962C8B-B14F-4D97-AF65-F5344CB8AC3E}">
        <p14:creationId xmlns:p14="http://schemas.microsoft.com/office/powerpoint/2010/main" val="1469874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rPr>
              <a:t>Can be a </a:t>
            </a:r>
            <a:r>
              <a:rPr lang="en-US" b="1" dirty="0">
                <a:solidFill>
                  <a:srgbClr val="2C14DE"/>
                </a:solidFill>
                <a:latin typeface="Calibri" panose="020F0502020204030204" pitchFamily="34" charset="0"/>
              </a:rPr>
              <a:t>member function </a:t>
            </a:r>
            <a:r>
              <a:rPr lang="en-US" dirty="0">
                <a:latin typeface="Calibri" panose="020F0502020204030204" pitchFamily="34" charset="0"/>
              </a:rPr>
              <a:t>(</a:t>
            </a:r>
            <a:r>
              <a:rPr lang="en-US" b="1" dirty="0">
                <a:solidFill>
                  <a:srgbClr val="D20000"/>
                </a:solidFill>
                <a:latin typeface="Calibri" panose="020F0502020204030204" pitchFamily="34" charset="0"/>
              </a:rPr>
              <a:t>must be non-static</a:t>
            </a:r>
            <a:r>
              <a:rPr lang="en-US" dirty="0">
                <a:latin typeface="Calibri" panose="020F0502020204030204" pitchFamily="34" charset="0"/>
              </a:rPr>
              <a:t>): to be able to work on objects of the class</a:t>
            </a:r>
          </a:p>
          <a:p>
            <a:pPr fontAlgn="base"/>
            <a:r>
              <a:rPr lang="en-US" sz="1200" b="0" i="0" kern="1200" dirty="0">
                <a:solidFill>
                  <a:schemeClr val="tx1"/>
                </a:solidFill>
                <a:effectLst/>
                <a:latin typeface="+mn-lt"/>
                <a:ea typeface="+mn-ea"/>
                <a:cs typeface="+mn-cs"/>
              </a:rPr>
              <a:t>If you plan on implementing -&gt;, () or [] they are </a:t>
            </a:r>
            <a:r>
              <a:rPr lang="en-US" sz="1200" b="1" i="0" kern="1200" dirty="0">
                <a:solidFill>
                  <a:schemeClr val="tx1"/>
                </a:solidFill>
                <a:effectLst/>
                <a:latin typeface="+mn-lt"/>
                <a:ea typeface="+mn-ea"/>
                <a:cs typeface="+mn-cs"/>
              </a:rPr>
              <a:t>naturally member methods</a:t>
            </a: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The binary operators </a:t>
            </a:r>
            <a:r>
              <a:rPr lang="en-US" dirty="0"/>
              <a:t>=</a:t>
            </a:r>
            <a:r>
              <a:rPr lang="en-US" sz="1200" b="0" i="0" kern="1200" dirty="0">
                <a:solidFill>
                  <a:schemeClr val="tx1"/>
                </a:solidFill>
                <a:effectLst/>
                <a:latin typeface="+mn-lt"/>
                <a:ea typeface="+mn-ea"/>
                <a:cs typeface="+mn-cs"/>
              </a:rPr>
              <a:t> (assignment), </a:t>
            </a:r>
            <a:r>
              <a:rPr lang="en-US" dirty="0"/>
              <a:t>[]</a:t>
            </a:r>
            <a:r>
              <a:rPr lang="en-US" sz="1200" b="0" i="0" kern="1200" dirty="0">
                <a:solidFill>
                  <a:schemeClr val="tx1"/>
                </a:solidFill>
                <a:effectLst/>
                <a:latin typeface="+mn-lt"/>
                <a:ea typeface="+mn-ea"/>
                <a:cs typeface="+mn-cs"/>
              </a:rPr>
              <a:t> (array subscription), </a:t>
            </a:r>
            <a:r>
              <a:rPr lang="en-US" dirty="0"/>
              <a:t>-&gt;</a:t>
            </a:r>
            <a:r>
              <a:rPr lang="en-US" sz="1200" b="0" i="0" kern="1200" dirty="0">
                <a:solidFill>
                  <a:schemeClr val="tx1"/>
                </a:solidFill>
                <a:effectLst/>
                <a:latin typeface="+mn-lt"/>
                <a:ea typeface="+mn-ea"/>
                <a:cs typeface="+mn-cs"/>
              </a:rPr>
              <a:t> (member access), as well as the n-</a:t>
            </a:r>
            <a:r>
              <a:rPr lang="en-US" sz="1200" b="0" i="0" kern="1200" dirty="0" err="1">
                <a:solidFill>
                  <a:schemeClr val="tx1"/>
                </a:solidFill>
                <a:effectLst/>
                <a:latin typeface="+mn-lt"/>
                <a:ea typeface="+mn-ea"/>
                <a:cs typeface="+mn-cs"/>
              </a:rPr>
              <a:t>ary</a:t>
            </a:r>
            <a:r>
              <a:rPr lang="en-US" sz="1200" b="0" i="0" kern="1200" dirty="0">
                <a:solidFill>
                  <a:schemeClr val="tx1"/>
                </a:solidFill>
                <a:effectLst/>
                <a:latin typeface="+mn-lt"/>
                <a:ea typeface="+mn-ea"/>
                <a:cs typeface="+mn-cs"/>
              </a:rPr>
              <a:t> </a:t>
            </a:r>
            <a:r>
              <a:rPr lang="en-US" dirty="0"/>
              <a:t>()</a:t>
            </a:r>
            <a:r>
              <a:rPr lang="en-US" sz="1200" b="0" i="0" kern="1200" dirty="0">
                <a:solidFill>
                  <a:schemeClr val="tx1"/>
                </a:solidFill>
                <a:effectLst/>
                <a:latin typeface="+mn-lt"/>
                <a:ea typeface="+mn-ea"/>
                <a:cs typeface="+mn-cs"/>
              </a:rPr>
              <a:t> (function call) operator, must always be implemented as </a:t>
            </a:r>
            <a:r>
              <a:rPr lang="en-US" sz="1200" b="1" i="1" kern="1200" dirty="0">
                <a:solidFill>
                  <a:schemeClr val="tx1"/>
                </a:solidFill>
                <a:effectLst/>
                <a:latin typeface="+mn-lt"/>
                <a:ea typeface="+mn-ea"/>
                <a:cs typeface="+mn-cs"/>
              </a:rPr>
              <a:t>member functions</a:t>
            </a:r>
            <a:r>
              <a:rPr lang="en-US" sz="1200" b="0" i="0" kern="1200" dirty="0">
                <a:solidFill>
                  <a:schemeClr val="tx1"/>
                </a:solidFill>
                <a:effectLst/>
                <a:latin typeface="+mn-lt"/>
                <a:ea typeface="+mn-ea"/>
                <a:cs typeface="+mn-cs"/>
              </a:rPr>
              <a:t>, because the syntax of the language requires them to.</a:t>
            </a:r>
            <a:endParaRPr lang="en-US"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E94E2947-0130-47C3-9E08-854F4E891705}" type="slidenum">
              <a:rPr lang="en-PK" smtClean="0"/>
              <a:t>7</a:t>
            </a:fld>
            <a:endParaRPr lang="en-PK"/>
          </a:p>
        </p:txBody>
      </p:sp>
    </p:spTree>
    <p:extLst>
      <p:ext uri="{BB962C8B-B14F-4D97-AF65-F5344CB8AC3E}">
        <p14:creationId xmlns:p14="http://schemas.microsoft.com/office/powerpoint/2010/main" val="2311624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unary operator </a:t>
            </a:r>
            <a:r>
              <a:rPr lang="en-US" dirty="0"/>
              <a:t>@</a:t>
            </a:r>
            <a:r>
              <a:rPr lang="en-US" sz="1200" b="0" i="0" kern="1200" dirty="0">
                <a:solidFill>
                  <a:schemeClr val="tx1"/>
                </a:solidFill>
                <a:effectLst/>
                <a:latin typeface="+mn-lt"/>
                <a:ea typeface="+mn-ea"/>
                <a:cs typeface="+mn-cs"/>
              </a:rPr>
              <a:t>, applied to an object x, is invoked either as </a:t>
            </a:r>
            <a:r>
              <a:rPr lang="en-US" dirty="0"/>
              <a:t>operator@(x)</a:t>
            </a:r>
            <a:r>
              <a:rPr lang="en-US" sz="1200" b="0" i="0" kern="1200" dirty="0">
                <a:solidFill>
                  <a:schemeClr val="tx1"/>
                </a:solidFill>
                <a:effectLst/>
                <a:latin typeface="+mn-lt"/>
                <a:ea typeface="+mn-ea"/>
                <a:cs typeface="+mn-cs"/>
              </a:rPr>
              <a:t> [non</a:t>
            </a:r>
            <a:r>
              <a:rPr lang="en-US" sz="1200" b="0" i="0" kern="1200" baseline="0" dirty="0">
                <a:solidFill>
                  <a:schemeClr val="tx1"/>
                </a:solidFill>
                <a:effectLst/>
                <a:latin typeface="+mn-lt"/>
                <a:ea typeface="+mn-ea"/>
                <a:cs typeface="+mn-cs"/>
              </a:rPr>
              <a:t> member implementation] </a:t>
            </a:r>
            <a:r>
              <a:rPr lang="en-US" sz="1200" b="0" i="0" kern="1200" dirty="0">
                <a:solidFill>
                  <a:schemeClr val="tx1"/>
                </a:solidFill>
                <a:effectLst/>
                <a:latin typeface="+mn-lt"/>
                <a:ea typeface="+mn-ea"/>
                <a:cs typeface="+mn-cs"/>
              </a:rPr>
              <a:t>or as </a:t>
            </a:r>
            <a:r>
              <a:rPr lang="en-US" dirty="0" err="1"/>
              <a:t>x.operator</a:t>
            </a:r>
            <a:r>
              <a:rPr lang="en-US" dirty="0"/>
              <a:t>@() [member implementation]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A binary infix operator </a:t>
            </a:r>
            <a:r>
              <a:rPr lang="en-US" dirty="0"/>
              <a:t>@</a:t>
            </a:r>
            <a:r>
              <a:rPr lang="en-US" sz="1200" b="0" i="0" kern="1200" dirty="0">
                <a:solidFill>
                  <a:schemeClr val="tx1"/>
                </a:solidFill>
                <a:effectLst/>
                <a:latin typeface="+mn-lt"/>
                <a:ea typeface="+mn-ea"/>
                <a:cs typeface="+mn-cs"/>
              </a:rPr>
              <a:t>, applied to the objects </a:t>
            </a:r>
            <a:r>
              <a:rPr lang="en-US" dirty="0"/>
              <a:t>x</a:t>
            </a:r>
            <a:r>
              <a:rPr lang="en-US" sz="1200" b="0" i="0" kern="1200" dirty="0">
                <a:solidFill>
                  <a:schemeClr val="tx1"/>
                </a:solidFill>
                <a:effectLst/>
                <a:latin typeface="+mn-lt"/>
                <a:ea typeface="+mn-ea"/>
                <a:cs typeface="+mn-cs"/>
              </a:rPr>
              <a:t> and </a:t>
            </a:r>
            <a:r>
              <a:rPr lang="en-US" dirty="0"/>
              <a:t>y</a:t>
            </a:r>
            <a:r>
              <a:rPr lang="en-US" sz="1200" b="0" i="0" kern="1200" dirty="0">
                <a:solidFill>
                  <a:schemeClr val="tx1"/>
                </a:solidFill>
                <a:effectLst/>
                <a:latin typeface="+mn-lt"/>
                <a:ea typeface="+mn-ea"/>
                <a:cs typeface="+mn-cs"/>
              </a:rPr>
              <a:t>, is called either as </a:t>
            </a:r>
            <a:r>
              <a:rPr lang="en-US" dirty="0"/>
              <a:t>operator@(</a:t>
            </a:r>
            <a:r>
              <a:rPr lang="en-US" dirty="0" err="1"/>
              <a:t>x,y</a:t>
            </a:r>
            <a:r>
              <a:rPr lang="en-US" dirty="0"/>
              <a:t>)</a:t>
            </a:r>
            <a:r>
              <a:rPr lang="en-US" sz="1200" b="0" i="0" kern="1200" dirty="0">
                <a:solidFill>
                  <a:schemeClr val="tx1"/>
                </a:solidFill>
                <a:effectLst/>
                <a:latin typeface="+mn-lt"/>
                <a:ea typeface="+mn-ea"/>
                <a:cs typeface="+mn-cs"/>
              </a:rPr>
              <a:t> [non-member implementation]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or as </a:t>
            </a:r>
            <a:r>
              <a:rPr lang="en-US" dirty="0" err="1"/>
              <a:t>x.operator</a:t>
            </a:r>
            <a:r>
              <a:rPr lang="en-US" dirty="0"/>
              <a:t>@(y)</a:t>
            </a:r>
            <a:r>
              <a:rPr lang="en-US" sz="1200" b="0" i="0" kern="1200" baseline="0" dirty="0">
                <a:solidFill>
                  <a:schemeClr val="tx1"/>
                </a:solidFill>
                <a:effectLst/>
                <a:latin typeface="+mn-lt"/>
                <a:ea typeface="+mn-ea"/>
                <a:cs typeface="+mn-cs"/>
              </a:rPr>
              <a:t> [member implementation]</a:t>
            </a:r>
            <a:endParaRPr lang="en-PK" dirty="0"/>
          </a:p>
        </p:txBody>
      </p:sp>
      <p:sp>
        <p:nvSpPr>
          <p:cNvPr id="4" name="Slide Number Placeholder 3"/>
          <p:cNvSpPr>
            <a:spLocks noGrp="1"/>
          </p:cNvSpPr>
          <p:nvPr>
            <p:ph type="sldNum" sz="quarter" idx="5"/>
          </p:nvPr>
        </p:nvSpPr>
        <p:spPr/>
        <p:txBody>
          <a:bodyPr/>
          <a:lstStyle/>
          <a:p>
            <a:fld id="{E94E2947-0130-47C3-9E08-854F4E891705}" type="slidenum">
              <a:rPr lang="en-PK" smtClean="0"/>
              <a:t>8</a:t>
            </a:fld>
            <a:endParaRPr lang="en-PK"/>
          </a:p>
        </p:txBody>
      </p:sp>
    </p:spTree>
    <p:extLst>
      <p:ext uri="{BB962C8B-B14F-4D97-AF65-F5344CB8AC3E}">
        <p14:creationId xmlns:p14="http://schemas.microsoft.com/office/powerpoint/2010/main" val="1363599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least one of the operands has to be of a user-defined type.</a:t>
            </a:r>
            <a:endParaRPr lang="en-US" sz="1200" dirty="0"/>
          </a:p>
        </p:txBody>
      </p:sp>
      <p:sp>
        <p:nvSpPr>
          <p:cNvPr id="4" name="Slide Number Placeholder 3"/>
          <p:cNvSpPr>
            <a:spLocks noGrp="1"/>
          </p:cNvSpPr>
          <p:nvPr>
            <p:ph type="sldNum" sz="quarter" idx="5"/>
          </p:nvPr>
        </p:nvSpPr>
        <p:spPr/>
        <p:txBody>
          <a:bodyPr/>
          <a:lstStyle/>
          <a:p>
            <a:fld id="{E94E2947-0130-47C3-9E08-854F4E891705}" type="slidenum">
              <a:rPr lang="en-PK" smtClean="0"/>
              <a:t>12</a:t>
            </a:fld>
            <a:endParaRPr lang="en-PK"/>
          </a:p>
        </p:txBody>
      </p:sp>
    </p:spTree>
    <p:extLst>
      <p:ext uri="{BB962C8B-B14F-4D97-AF65-F5344CB8AC3E}">
        <p14:creationId xmlns:p14="http://schemas.microsoft.com/office/powerpoint/2010/main" val="1286438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comma operator (represented by the token, ) is a binary operator that evaluates its first operand and discards the result, it then evaluates the second operand and returns this value (and type). The comma operator has the lowest precedence of any C operator, and acts as a </a:t>
            </a:r>
            <a:r>
              <a:rPr lang="en-US" sz="1200" b="0" i="0" u="none" strike="noStrike" kern="1200" dirty="0">
                <a:solidFill>
                  <a:schemeClr val="tx1"/>
                </a:solidFill>
                <a:effectLst/>
                <a:latin typeface="+mn-lt"/>
                <a:ea typeface="+mn-ea"/>
                <a:cs typeface="+mn-cs"/>
                <a:hlinkClick r:id="rId3"/>
              </a:rPr>
              <a:t>sequence point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-&gt;* is an</a:t>
            </a:r>
            <a:r>
              <a:rPr lang="en-US" sz="1200" b="0" i="0" kern="1200" baseline="0" dirty="0">
                <a:solidFill>
                  <a:schemeClr val="tx1"/>
                </a:solidFill>
                <a:effectLst/>
                <a:latin typeface="+mn-lt"/>
                <a:ea typeface="+mn-ea"/>
                <a:cs typeface="+mn-cs"/>
              </a:rPr>
              <a:t> operator to operate on </a:t>
            </a:r>
            <a:r>
              <a:rPr lang="en-US" sz="1200" b="0" i="0" kern="1200" dirty="0">
                <a:solidFill>
                  <a:schemeClr val="tx1"/>
                </a:solidFill>
                <a:effectLst/>
                <a:latin typeface="+mn-lt"/>
                <a:ea typeface="+mn-ea"/>
                <a:cs typeface="+mn-cs"/>
              </a:rPr>
              <a:t>function pointers</a:t>
            </a:r>
          </a:p>
        </p:txBody>
      </p:sp>
      <p:sp>
        <p:nvSpPr>
          <p:cNvPr id="4" name="Slide Number Placeholder 3"/>
          <p:cNvSpPr>
            <a:spLocks noGrp="1"/>
          </p:cNvSpPr>
          <p:nvPr>
            <p:ph type="sldNum" sz="quarter" idx="5"/>
          </p:nvPr>
        </p:nvSpPr>
        <p:spPr/>
        <p:txBody>
          <a:bodyPr/>
          <a:lstStyle/>
          <a:p>
            <a:fld id="{E94E2947-0130-47C3-9E08-854F4E891705}" type="slidenum">
              <a:rPr lang="en-PK" smtClean="0"/>
              <a:t>13</a:t>
            </a:fld>
            <a:endParaRPr lang="en-PK"/>
          </a:p>
        </p:txBody>
      </p:sp>
    </p:spTree>
    <p:extLst>
      <p:ext uri="{BB962C8B-B14F-4D97-AF65-F5344CB8AC3E}">
        <p14:creationId xmlns:p14="http://schemas.microsoft.com/office/powerpoint/2010/main" val="2536429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is a request to compiler to store in register-memory instead of memory. Compiler may or may not do that.</a:t>
            </a:r>
          </a:p>
          <a:p>
            <a:r>
              <a:rPr lang="en-US" dirty="0"/>
              <a:t>https://www.tutorialspoint.com/cplusplus/subscripting_operator_overloading.htm</a:t>
            </a:r>
            <a:endParaRPr lang="en-PK" dirty="0"/>
          </a:p>
          <a:p>
            <a:endParaRPr lang="en-PK" dirty="0"/>
          </a:p>
        </p:txBody>
      </p:sp>
      <p:sp>
        <p:nvSpPr>
          <p:cNvPr id="4" name="Slide Number Placeholder 3"/>
          <p:cNvSpPr>
            <a:spLocks noGrp="1"/>
          </p:cNvSpPr>
          <p:nvPr>
            <p:ph type="sldNum" sz="quarter" idx="5"/>
          </p:nvPr>
        </p:nvSpPr>
        <p:spPr/>
        <p:txBody>
          <a:bodyPr/>
          <a:lstStyle/>
          <a:p>
            <a:fld id="{E94E2947-0130-47C3-9E08-854F4E891705}" type="slidenum">
              <a:rPr lang="en-PK" smtClean="0"/>
              <a:t>62</a:t>
            </a:fld>
            <a:endParaRPr lang="en-PK"/>
          </a:p>
        </p:txBody>
      </p:sp>
    </p:spTree>
    <p:extLst>
      <p:ext uri="{BB962C8B-B14F-4D97-AF65-F5344CB8AC3E}">
        <p14:creationId xmlns:p14="http://schemas.microsoft.com/office/powerpoint/2010/main" val="905339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E94E2947-0130-47C3-9E08-854F4E891705}" type="slidenum">
              <a:rPr lang="en-PK" smtClean="0"/>
              <a:t>69</a:t>
            </a:fld>
            <a:endParaRPr lang="en-PK"/>
          </a:p>
        </p:txBody>
      </p:sp>
    </p:spTree>
    <p:extLst>
      <p:ext uri="{BB962C8B-B14F-4D97-AF65-F5344CB8AC3E}">
        <p14:creationId xmlns:p14="http://schemas.microsoft.com/office/powerpoint/2010/main" val="2850897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5"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sz="1800"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4A34C709-359A-490A-9CB6-D37F76D0EF0F}" type="datetime1">
              <a:rPr lang="en-US" smtClean="0"/>
              <a:t>3/18/2024</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r>
              <a:rPr lang="en-US"/>
              <a:t>Object Oriented Programming-Spring 24</a:t>
            </a:r>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62457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2"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sz="180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lgn="ctr">
              <a:defRPr sz="4000" i="0"/>
            </a:lvl1pPr>
          </a:lstStyle>
          <a:p>
            <a:r>
              <a:rPr lang="en-US" dirty="0"/>
              <a:t>Click to edit Master title style</a:t>
            </a:r>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9E5F823E-9E53-4F0C-BC6A-4198B716C91A}" type="datetime1">
              <a:rPr lang="en-US" smtClean="0"/>
              <a:t>3/18/2024</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a:t>Object Oriented Programming-Spring 24</a:t>
            </a:r>
            <a:endParaRPr lang="en-US" dirty="0"/>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468732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1"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1" y="4279394"/>
            <a:ext cx="5266944" cy="1500187"/>
          </a:xfrm>
        </p:spPr>
        <p:txBody>
          <a:bodyPr/>
          <a:lstStyle>
            <a:lvl1pPr marL="0" indent="0">
              <a:buNone/>
              <a:defRPr sz="2400" cap="all" baseline="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4F858256-51B0-4D66-A60E-7EA5D8ABEFFD}" type="datetime1">
              <a:rPr lang="en-US" smtClean="0"/>
              <a:t>3/18/2024</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a:t>Object Oriented Programming-Spring 24</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967890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2"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sz="180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DCF3E9EC-20B0-43A5-84C1-684147BB4C95}" type="datetime1">
              <a:rPr lang="en-US" smtClean="0"/>
              <a:t>3/18/2024</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a:t>Object Oriented Programming-Spring 24</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70820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2"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sz="180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7"/>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A67B50BA-8156-4304-A2A0-8EFB9B6308B7}" type="datetime1">
              <a:rPr lang="en-US" smtClean="0"/>
              <a:t>3/18/2024</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a:t>Object Oriented Programming-Spring 24</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1937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3"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sz="1800"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00D18DC6-396A-495F-BC1C-F4364F8661B3}" type="datetime1">
              <a:rPr lang="en-US" smtClean="0"/>
              <a:t>3/18/2024</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a:t>Object Oriented Programming-Spring 24</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099227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569B850-BE6F-4D94-B200-00C1ACC10599}" type="datetime1">
              <a:rPr lang="en-US" smtClean="0"/>
              <a:t>3/18/2024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a:t>Object Oriented Programming-Spring 24</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778892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1"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sz="1800"/>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18D29B8E-3CD7-4CB5-9FD2-EFCF83FE7DCE}" type="datetime1">
              <a:rPr lang="en-US" smtClean="0"/>
              <a:t>3/18/2024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a:t>Object Oriented Programming-Spring 24</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75857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sz="180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0D8FB46-0209-463A-B4EE-FAF7D3C3C57F}" type="datetime1">
              <a:rPr lang="en-US" smtClean="0"/>
              <a:t>3/18/2024</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a:t>Object Oriented Programming-Spring 24</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33097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6"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sz="1800"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AD40AD32-7A12-4498-9BDE-FEBB708DB2D6}" type="datetime1">
              <a:rPr lang="en-US" smtClean="0"/>
              <a:t>3/18/2024</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a:t>Object Oriented Programming-Spring 24</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24174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85FC7C6C-2721-48D0-8669-4A7AB0DC6BAC}" type="datetime1">
              <a:rPr lang="en-US" smtClean="0"/>
              <a:t>3/18/2024</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r>
              <a:rPr lang="en-US"/>
              <a:t>Object Oriented Programming-Spring 24</a:t>
            </a:r>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422620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248E5DB-EA6A-4ECA-9028-0BB4AF33928F}" type="datetime1">
              <a:rPr lang="en-US" smtClean="0"/>
              <a:t>3/18/2024</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r>
              <a:rPr lang="en-US"/>
              <a:t>Object Oriented Programming-Spring 24</a:t>
            </a:r>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36408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022C11-6C60-4D94-B282-48EE9FCF35C2}" type="datetime1">
              <a:rPr lang="en-US" smtClean="0"/>
              <a:t>3/18/2024</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Object Oriented Programming-Spring 24</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106238445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693" r:id="rId6"/>
    <p:sldLayoutId id="2147483688" r:id="rId7"/>
    <p:sldLayoutId id="2147483689" r:id="rId8"/>
    <p:sldLayoutId id="2147483690" r:id="rId9"/>
    <p:sldLayoutId id="2147483691" r:id="rId10"/>
    <p:sldLayoutId id="2147483692" r:id="rId11"/>
    <p:sldLayoutId id="2147483694" r:id="rId12"/>
  </p:sldLayoutIdLst>
  <p:hf hdr="0" dt="0"/>
  <p:txStyles>
    <p:titleStyle>
      <a:lvl1pPr algn="ctr" defTabSz="914377" rtl="0" eaLnBrk="1" latinLnBrk="0" hangingPunct="1">
        <a:lnSpc>
          <a:spcPct val="90000"/>
        </a:lnSpc>
        <a:spcBef>
          <a:spcPct val="0"/>
        </a:spcBef>
        <a:buNone/>
        <a:defRPr sz="4400" i="0"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93D702E-F4E0-47FC-A74C-ECD9647A8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696C19-CDA4-1AC4-C793-877B0AFBB4CB}"/>
              </a:ext>
            </a:extLst>
          </p:cNvPr>
          <p:cNvSpPr>
            <a:spLocks noGrp="1"/>
          </p:cNvSpPr>
          <p:nvPr>
            <p:ph type="ctrTitle"/>
          </p:nvPr>
        </p:nvSpPr>
        <p:spPr>
          <a:xfrm>
            <a:off x="1524000" y="3851975"/>
            <a:ext cx="9144000" cy="1152663"/>
          </a:xfrm>
        </p:spPr>
        <p:txBody>
          <a:bodyPr>
            <a:normAutofit fontScale="90000"/>
          </a:bodyPr>
          <a:lstStyle/>
          <a:p>
            <a:pPr algn="ctr"/>
            <a:r>
              <a:rPr lang="en-US" dirty="0"/>
              <a:t>Object Oriented Programming</a:t>
            </a:r>
            <a:endParaRPr lang="en-PK" dirty="0"/>
          </a:p>
        </p:txBody>
      </p:sp>
      <p:sp>
        <p:nvSpPr>
          <p:cNvPr id="3" name="Subtitle 2">
            <a:extLst>
              <a:ext uri="{FF2B5EF4-FFF2-40B4-BE49-F238E27FC236}">
                <a16:creationId xmlns:a16="http://schemas.microsoft.com/office/drawing/2014/main" id="{E23E1E1B-2DD4-928E-2179-3D87C4264096}"/>
              </a:ext>
            </a:extLst>
          </p:cNvPr>
          <p:cNvSpPr>
            <a:spLocks noGrp="1"/>
          </p:cNvSpPr>
          <p:nvPr>
            <p:ph type="subTitle" idx="1"/>
          </p:nvPr>
        </p:nvSpPr>
        <p:spPr>
          <a:xfrm>
            <a:off x="1524000" y="5071720"/>
            <a:ext cx="9144000" cy="646785"/>
          </a:xfrm>
        </p:spPr>
        <p:txBody>
          <a:bodyPr>
            <a:normAutofit/>
          </a:bodyPr>
          <a:lstStyle/>
          <a:p>
            <a:pPr algn="ctr"/>
            <a:r>
              <a:rPr lang="en-US" dirty="0"/>
              <a:t>Lec # 6 :  Operator overloading</a:t>
            </a:r>
            <a:endParaRPr lang="en-PK" dirty="0"/>
          </a:p>
        </p:txBody>
      </p:sp>
      <p:pic>
        <p:nvPicPr>
          <p:cNvPr id="4" name="Picture 3" descr="A colorful light bulb with business icons">
            <a:extLst>
              <a:ext uri="{FF2B5EF4-FFF2-40B4-BE49-F238E27FC236}">
                <a16:creationId xmlns:a16="http://schemas.microsoft.com/office/drawing/2014/main" id="{9F108EC2-65CE-5A9B-D15A-80B599688C18}"/>
              </a:ext>
            </a:extLst>
          </p:cNvPr>
          <p:cNvPicPr>
            <a:picLocks noChangeAspect="1"/>
          </p:cNvPicPr>
          <p:nvPr/>
        </p:nvPicPr>
        <p:blipFill rotWithShape="1">
          <a:blip r:embed="rId3"/>
          <a:srcRect t="25677" b="22390"/>
          <a:stretch/>
        </p:blipFill>
        <p:spPr>
          <a:xfrm>
            <a:off x="838202" y="9"/>
            <a:ext cx="10484412" cy="3811395"/>
          </a:xfrm>
          <a:custGeom>
            <a:avLst/>
            <a:gdLst/>
            <a:ahLst/>
            <a:cxnLst/>
            <a:rect l="l" t="t" r="r" b="b"/>
            <a:pathLst>
              <a:path w="10484412" h="3811404">
                <a:moveTo>
                  <a:pt x="0" y="3811403"/>
                </a:moveTo>
                <a:lnTo>
                  <a:pt x="10484412" y="3811403"/>
                </a:lnTo>
                <a:lnTo>
                  <a:pt x="10484412" y="3811404"/>
                </a:lnTo>
                <a:lnTo>
                  <a:pt x="0" y="3811404"/>
                </a:lnTo>
                <a:close/>
                <a:moveTo>
                  <a:pt x="181717" y="0"/>
                </a:moveTo>
                <a:lnTo>
                  <a:pt x="10224015" y="0"/>
                </a:lnTo>
                <a:cubicBezTo>
                  <a:pt x="10261561" y="45054"/>
                  <a:pt x="10301611" y="85103"/>
                  <a:pt x="10369193" y="110134"/>
                </a:cubicBezTo>
                <a:cubicBezTo>
                  <a:pt x="10321635" y="167704"/>
                  <a:pt x="10236530" y="182722"/>
                  <a:pt x="10173954" y="222771"/>
                </a:cubicBezTo>
                <a:cubicBezTo>
                  <a:pt x="10168948" y="255310"/>
                  <a:pt x="10269071" y="245298"/>
                  <a:pt x="10241537" y="317887"/>
                </a:cubicBezTo>
                <a:cubicBezTo>
                  <a:pt x="10206494" y="418008"/>
                  <a:pt x="10241537" y="528142"/>
                  <a:pt x="10071328" y="573196"/>
                </a:cubicBezTo>
                <a:cubicBezTo>
                  <a:pt x="10023770" y="668312"/>
                  <a:pt x="10008751" y="820997"/>
                  <a:pt x="10113880" y="913610"/>
                </a:cubicBezTo>
                <a:cubicBezTo>
                  <a:pt x="10271573" y="1048774"/>
                  <a:pt x="10244040" y="1138885"/>
                  <a:pt x="10036285" y="1216478"/>
                </a:cubicBezTo>
                <a:cubicBezTo>
                  <a:pt x="10011255" y="1226491"/>
                  <a:pt x="9978715" y="1231497"/>
                  <a:pt x="9966200" y="1256528"/>
                </a:cubicBezTo>
                <a:cubicBezTo>
                  <a:pt x="9986224" y="1289067"/>
                  <a:pt x="10031280" y="1281557"/>
                  <a:pt x="10063819" y="1289067"/>
                </a:cubicBezTo>
                <a:cubicBezTo>
                  <a:pt x="10211500" y="1324110"/>
                  <a:pt x="10214003" y="1324110"/>
                  <a:pt x="10176457" y="1441752"/>
                </a:cubicBezTo>
                <a:cubicBezTo>
                  <a:pt x="10163942" y="1476795"/>
                  <a:pt x="10188972" y="1491813"/>
                  <a:pt x="10211500" y="1511838"/>
                </a:cubicBezTo>
                <a:cubicBezTo>
                  <a:pt x="10296604" y="1591936"/>
                  <a:pt x="10296604" y="1594439"/>
                  <a:pt x="10206494" y="1664523"/>
                </a:cubicBezTo>
                <a:cubicBezTo>
                  <a:pt x="10181463" y="1684547"/>
                  <a:pt x="10163942" y="1704572"/>
                  <a:pt x="10151426" y="1732106"/>
                </a:cubicBezTo>
                <a:cubicBezTo>
                  <a:pt x="10128899" y="1782166"/>
                  <a:pt x="10128899" y="1822216"/>
                  <a:pt x="10208996" y="1847246"/>
                </a:cubicBezTo>
                <a:cubicBezTo>
                  <a:pt x="10266568" y="1864767"/>
                  <a:pt x="10296604" y="1884791"/>
                  <a:pt x="10299107" y="1939858"/>
                </a:cubicBezTo>
                <a:cubicBezTo>
                  <a:pt x="10299107" y="1987416"/>
                  <a:pt x="10306617" y="2017452"/>
                  <a:pt x="10244040" y="2037477"/>
                </a:cubicBezTo>
                <a:cubicBezTo>
                  <a:pt x="10193979" y="2054998"/>
                  <a:pt x="10178960" y="2090041"/>
                  <a:pt x="10183966" y="2130089"/>
                </a:cubicBezTo>
                <a:cubicBezTo>
                  <a:pt x="10193979" y="2230211"/>
                  <a:pt x="10126396" y="2287781"/>
                  <a:pt x="10013758" y="2335339"/>
                </a:cubicBezTo>
                <a:cubicBezTo>
                  <a:pt x="9908629" y="2377890"/>
                  <a:pt x="9813513" y="2437963"/>
                  <a:pt x="9715893" y="2493030"/>
                </a:cubicBezTo>
                <a:cubicBezTo>
                  <a:pt x="9605758" y="2553103"/>
                  <a:pt x="9480605" y="2590649"/>
                  <a:pt x="9347942" y="2623189"/>
                </a:cubicBezTo>
                <a:cubicBezTo>
                  <a:pt x="9370469" y="2665740"/>
                  <a:pt x="9453071" y="2640710"/>
                  <a:pt x="9460580" y="2700783"/>
                </a:cubicBezTo>
                <a:cubicBezTo>
                  <a:pt x="9255329" y="2753346"/>
                  <a:pt x="9060089" y="2833444"/>
                  <a:pt x="8827305" y="2855971"/>
                </a:cubicBezTo>
                <a:cubicBezTo>
                  <a:pt x="9015035" y="2843456"/>
                  <a:pt x="9182740" y="2908535"/>
                  <a:pt x="9360458" y="2926056"/>
                </a:cubicBezTo>
                <a:cubicBezTo>
                  <a:pt x="9377980" y="2961099"/>
                  <a:pt x="9337930" y="2951087"/>
                  <a:pt x="9322912" y="2958595"/>
                </a:cubicBezTo>
                <a:cubicBezTo>
                  <a:pt x="9307893" y="2963602"/>
                  <a:pt x="9287869" y="2966105"/>
                  <a:pt x="9285366" y="2991135"/>
                </a:cubicBezTo>
                <a:cubicBezTo>
                  <a:pt x="9370469" y="3023675"/>
                  <a:pt x="9478102" y="2998644"/>
                  <a:pt x="9565709" y="3033687"/>
                </a:cubicBezTo>
                <a:cubicBezTo>
                  <a:pt x="9543182" y="3083748"/>
                  <a:pt x="9468090" y="3056214"/>
                  <a:pt x="9435550" y="3096263"/>
                </a:cubicBezTo>
                <a:cubicBezTo>
                  <a:pt x="9518151" y="3101269"/>
                  <a:pt x="9593243" y="3103772"/>
                  <a:pt x="9668335" y="3113784"/>
                </a:cubicBezTo>
                <a:cubicBezTo>
                  <a:pt x="9725905" y="3121294"/>
                  <a:pt x="9740924" y="3163845"/>
                  <a:pt x="9700875" y="3193882"/>
                </a:cubicBezTo>
                <a:cubicBezTo>
                  <a:pt x="9665832" y="3221415"/>
                  <a:pt x="9613268" y="3223918"/>
                  <a:pt x="9565709" y="3236434"/>
                </a:cubicBezTo>
                <a:cubicBezTo>
                  <a:pt x="9232801" y="3319034"/>
                  <a:pt x="8882372" y="3351573"/>
                  <a:pt x="8529440" y="3364088"/>
                </a:cubicBezTo>
                <a:cubicBezTo>
                  <a:pt x="7961245" y="3386616"/>
                  <a:pt x="7393049" y="3394125"/>
                  <a:pt x="6827357" y="3419155"/>
                </a:cubicBezTo>
                <a:cubicBezTo>
                  <a:pt x="6481933" y="3434173"/>
                  <a:pt x="6136510" y="3456701"/>
                  <a:pt x="5788584" y="3456701"/>
                </a:cubicBezTo>
                <a:cubicBezTo>
                  <a:pt x="5415628" y="3456701"/>
                  <a:pt x="5042671" y="3464210"/>
                  <a:pt x="4669714" y="3411646"/>
                </a:cubicBezTo>
                <a:cubicBezTo>
                  <a:pt x="4479481" y="3384113"/>
                  <a:pt x="4279236" y="3396628"/>
                  <a:pt x="4086500" y="3376603"/>
                </a:cubicBezTo>
                <a:cubicBezTo>
                  <a:pt x="3793641" y="3346568"/>
                  <a:pt x="3500782" y="3306518"/>
                  <a:pt x="3210426" y="3256458"/>
                </a:cubicBezTo>
                <a:cubicBezTo>
                  <a:pt x="3117813" y="3241439"/>
                  <a:pt x="3007678" y="3231428"/>
                  <a:pt x="2937592" y="3166348"/>
                </a:cubicBezTo>
                <a:cubicBezTo>
                  <a:pt x="2824954" y="3211403"/>
                  <a:pt x="2757372" y="3131305"/>
                  <a:pt x="2669765" y="3106275"/>
                </a:cubicBezTo>
                <a:cubicBezTo>
                  <a:pt x="2634722" y="3096263"/>
                  <a:pt x="2592169" y="3081245"/>
                  <a:pt x="2597176" y="3048705"/>
                </a:cubicBezTo>
                <a:cubicBezTo>
                  <a:pt x="2604685" y="3006154"/>
                  <a:pt x="2654746" y="2978620"/>
                  <a:pt x="2702304" y="2986130"/>
                </a:cubicBezTo>
                <a:cubicBezTo>
                  <a:pt x="2849986" y="3011160"/>
                  <a:pt x="2985150" y="2948584"/>
                  <a:pt x="3137838" y="2956093"/>
                </a:cubicBezTo>
                <a:cubicBezTo>
                  <a:pt x="3005175" y="2933565"/>
                  <a:pt x="2872513" y="2908535"/>
                  <a:pt x="2739850" y="2886007"/>
                </a:cubicBezTo>
                <a:cubicBezTo>
                  <a:pt x="2940095" y="2863480"/>
                  <a:pt x="3132831" y="2896020"/>
                  <a:pt x="3328071" y="2913541"/>
                </a:cubicBezTo>
                <a:cubicBezTo>
                  <a:pt x="3390647" y="2921050"/>
                  <a:pt x="3485763" y="2968608"/>
                  <a:pt x="3503285" y="2898523"/>
                </a:cubicBezTo>
                <a:cubicBezTo>
                  <a:pt x="3513297" y="2850965"/>
                  <a:pt x="3410671" y="2850965"/>
                  <a:pt x="3350598" y="2838450"/>
                </a:cubicBezTo>
                <a:cubicBezTo>
                  <a:pt x="3090279" y="2785886"/>
                  <a:pt x="2824954" y="2758353"/>
                  <a:pt x="2562133" y="2725813"/>
                </a:cubicBezTo>
                <a:cubicBezTo>
                  <a:pt x="2537102" y="2723310"/>
                  <a:pt x="2504562" y="2725813"/>
                  <a:pt x="2487041" y="2715801"/>
                </a:cubicBezTo>
                <a:cubicBezTo>
                  <a:pt x="2354378" y="2633200"/>
                  <a:pt x="2184170" y="2608170"/>
                  <a:pt x="1998943" y="2548097"/>
                </a:cubicBezTo>
                <a:cubicBezTo>
                  <a:pt x="2116587" y="2515558"/>
                  <a:pt x="2196685" y="2575630"/>
                  <a:pt x="2294304" y="2560612"/>
                </a:cubicBezTo>
                <a:cubicBezTo>
                  <a:pt x="2196685" y="2498036"/>
                  <a:pt x="2079041" y="2488024"/>
                  <a:pt x="1978918" y="2455485"/>
                </a:cubicBezTo>
                <a:cubicBezTo>
                  <a:pt x="1906330" y="2430454"/>
                  <a:pt x="1635999" y="2357866"/>
                  <a:pt x="1595950" y="2335339"/>
                </a:cubicBezTo>
                <a:cubicBezTo>
                  <a:pt x="1473299" y="2267756"/>
                  <a:pt x="1315606" y="2237720"/>
                  <a:pt x="1215483" y="2145108"/>
                </a:cubicBezTo>
                <a:cubicBezTo>
                  <a:pt x="1145398" y="2080028"/>
                  <a:pt x="1025251" y="2095047"/>
                  <a:pt x="942649" y="2049992"/>
                </a:cubicBezTo>
                <a:cubicBezTo>
                  <a:pt x="912613" y="2004937"/>
                  <a:pt x="972686" y="1994925"/>
                  <a:pt x="992711" y="1969894"/>
                </a:cubicBezTo>
                <a:cubicBezTo>
                  <a:pt x="1020244" y="1939858"/>
                  <a:pt x="972686" y="1922337"/>
                  <a:pt x="960170" y="1884791"/>
                </a:cubicBezTo>
                <a:cubicBezTo>
                  <a:pt x="1117863" y="1922337"/>
                  <a:pt x="1268048" y="1944864"/>
                  <a:pt x="1448268" y="1957380"/>
                </a:cubicBezTo>
                <a:cubicBezTo>
                  <a:pt x="1390698" y="1897306"/>
                  <a:pt x="1318109" y="1927343"/>
                  <a:pt x="1270551" y="1904815"/>
                </a:cubicBezTo>
                <a:cubicBezTo>
                  <a:pt x="1238011" y="1889797"/>
                  <a:pt x="1190453" y="1884791"/>
                  <a:pt x="1200466" y="1849749"/>
                </a:cubicBezTo>
                <a:cubicBezTo>
                  <a:pt x="1207974" y="1822216"/>
                  <a:pt x="1248023" y="1824718"/>
                  <a:pt x="1278060" y="1827221"/>
                </a:cubicBezTo>
                <a:cubicBezTo>
                  <a:pt x="1393201" y="1834730"/>
                  <a:pt x="1503336" y="1834730"/>
                  <a:pt x="1615974" y="1764645"/>
                </a:cubicBezTo>
                <a:cubicBezTo>
                  <a:pt x="1338134" y="1669530"/>
                  <a:pt x="1015238" y="1717087"/>
                  <a:pt x="767434" y="1576917"/>
                </a:cubicBezTo>
                <a:cubicBezTo>
                  <a:pt x="802477" y="1531862"/>
                  <a:pt x="852539" y="1554390"/>
                  <a:pt x="890085" y="1559396"/>
                </a:cubicBezTo>
                <a:cubicBezTo>
                  <a:pt x="1132882" y="1591936"/>
                  <a:pt x="2003949" y="1514341"/>
                  <a:pt x="2129102" y="1556893"/>
                </a:cubicBezTo>
                <a:cubicBezTo>
                  <a:pt x="2204195" y="1584426"/>
                  <a:pt x="2286796" y="1594439"/>
                  <a:pt x="2369396" y="1576917"/>
                </a:cubicBezTo>
                <a:cubicBezTo>
                  <a:pt x="2469519" y="1554390"/>
                  <a:pt x="1881298" y="1519347"/>
                  <a:pt x="1746133" y="1421728"/>
                </a:cubicBezTo>
                <a:cubicBezTo>
                  <a:pt x="1678551" y="1374170"/>
                  <a:pt x="1082821" y="1146394"/>
                  <a:pt x="819999" y="1083817"/>
                </a:cubicBezTo>
                <a:cubicBezTo>
                  <a:pt x="857545" y="1041266"/>
                  <a:pt x="952662" y="1066296"/>
                  <a:pt x="940146" y="993707"/>
                </a:cubicBezTo>
                <a:cubicBezTo>
                  <a:pt x="794969" y="956162"/>
                  <a:pt x="627263" y="961168"/>
                  <a:pt x="459558" y="903598"/>
                </a:cubicBezTo>
                <a:cubicBezTo>
                  <a:pt x="537153" y="858543"/>
                  <a:pt x="622257" y="883573"/>
                  <a:pt x="699852" y="868556"/>
                </a:cubicBezTo>
                <a:cubicBezTo>
                  <a:pt x="657300" y="813489"/>
                  <a:pt x="582208" y="823500"/>
                  <a:pt x="522134" y="813489"/>
                </a:cubicBezTo>
                <a:cubicBezTo>
                  <a:pt x="464564" y="803476"/>
                  <a:pt x="349423" y="708360"/>
                  <a:pt x="374453" y="713367"/>
                </a:cubicBezTo>
                <a:cubicBezTo>
                  <a:pt x="607238" y="750912"/>
                  <a:pt x="842526" y="735895"/>
                  <a:pt x="1075312" y="773440"/>
                </a:cubicBezTo>
                <a:cubicBezTo>
                  <a:pt x="1152907" y="785955"/>
                  <a:pt x="1238011" y="810986"/>
                  <a:pt x="1275557" y="728385"/>
                </a:cubicBezTo>
                <a:cubicBezTo>
                  <a:pt x="1285569" y="703355"/>
                  <a:pt x="1278060" y="695846"/>
                  <a:pt x="1385692" y="725882"/>
                </a:cubicBezTo>
                <a:cubicBezTo>
                  <a:pt x="1425741" y="738397"/>
                  <a:pt x="1483311" y="750912"/>
                  <a:pt x="1525863" y="718373"/>
                </a:cubicBezTo>
                <a:cubicBezTo>
                  <a:pt x="1498330" y="678325"/>
                  <a:pt x="1445765" y="690839"/>
                  <a:pt x="1408219" y="680828"/>
                </a:cubicBezTo>
                <a:cubicBezTo>
                  <a:pt x="1305594" y="653294"/>
                  <a:pt x="922624" y="548166"/>
                  <a:pt x="825005" y="518129"/>
                </a:cubicBezTo>
                <a:cubicBezTo>
                  <a:pt x="619754" y="453051"/>
                  <a:pt x="492098" y="475578"/>
                  <a:pt x="286846" y="405492"/>
                </a:cubicBezTo>
                <a:cubicBezTo>
                  <a:pt x="356932" y="407995"/>
                  <a:pt x="336907" y="380462"/>
                  <a:pt x="406993" y="380462"/>
                </a:cubicBezTo>
                <a:cubicBezTo>
                  <a:pt x="437030" y="380462"/>
                  <a:pt x="472073" y="372954"/>
                  <a:pt x="472073" y="342917"/>
                </a:cubicBezTo>
                <a:cubicBezTo>
                  <a:pt x="472073" y="315384"/>
                  <a:pt x="104123" y="170207"/>
                  <a:pt x="156686" y="155188"/>
                </a:cubicBezTo>
                <a:cubicBezTo>
                  <a:pt x="301865" y="115140"/>
                  <a:pt x="667312" y="227777"/>
                  <a:pt x="579705" y="175213"/>
                </a:cubicBezTo>
                <a:cubicBezTo>
                  <a:pt x="447042" y="92613"/>
                  <a:pt x="427018" y="77594"/>
                  <a:pt x="326895" y="67583"/>
                </a:cubicBezTo>
                <a:cubicBezTo>
                  <a:pt x="296858" y="62576"/>
                  <a:pt x="244294" y="35043"/>
                  <a:pt x="181717" y="0"/>
                </a:cubicBezTo>
                <a:close/>
              </a:path>
            </a:pathLst>
          </a:custGeom>
        </p:spPr>
      </p:pic>
    </p:spTree>
    <p:extLst>
      <p:ext uri="{BB962C8B-B14F-4D97-AF65-F5344CB8AC3E}">
        <p14:creationId xmlns:p14="http://schemas.microsoft.com/office/powerpoint/2010/main" val="1355618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8BC50-C171-A0C1-7BDF-A394E77BAE5A}"/>
              </a:ext>
            </a:extLst>
          </p:cNvPr>
          <p:cNvSpPr>
            <a:spLocks noGrp="1"/>
          </p:cNvSpPr>
          <p:nvPr>
            <p:ph type="title"/>
          </p:nvPr>
        </p:nvSpPr>
        <p:spPr/>
        <p:txBody>
          <a:bodyPr/>
          <a:lstStyle/>
          <a:p>
            <a:r>
              <a:rPr lang="en-US" dirty="0"/>
              <a:t>Function Overloading</a:t>
            </a:r>
            <a:endParaRPr lang="en-PK" dirty="0"/>
          </a:p>
        </p:txBody>
      </p:sp>
      <p:sp>
        <p:nvSpPr>
          <p:cNvPr id="3" name="Content Placeholder 2">
            <a:extLst>
              <a:ext uri="{FF2B5EF4-FFF2-40B4-BE49-F238E27FC236}">
                <a16:creationId xmlns:a16="http://schemas.microsoft.com/office/drawing/2014/main" id="{2E18A1FA-4F5A-802C-205C-7DA7CA126E6D}"/>
              </a:ext>
            </a:extLst>
          </p:cNvPr>
          <p:cNvSpPr>
            <a:spLocks noGrp="1"/>
          </p:cNvSpPr>
          <p:nvPr>
            <p:ph idx="1"/>
          </p:nvPr>
        </p:nvSpPr>
        <p:spPr/>
        <p:txBody>
          <a:bodyPr>
            <a:normAutofit/>
          </a:bodyPr>
          <a:lstStyle/>
          <a:p>
            <a:r>
              <a:rPr lang="en-US" sz="2400" dirty="0"/>
              <a:t>An </a:t>
            </a:r>
            <a:r>
              <a:rPr lang="en-US" sz="2400" dirty="0">
                <a:solidFill>
                  <a:srgbClr val="0070C0"/>
                </a:solidFill>
              </a:rPr>
              <a:t>overloaded function </a:t>
            </a:r>
            <a:r>
              <a:rPr lang="en-US" sz="2400" dirty="0"/>
              <a:t>is one which has the </a:t>
            </a:r>
            <a:r>
              <a:rPr lang="en-US" sz="2400" dirty="0">
                <a:solidFill>
                  <a:srgbClr val="0070C0"/>
                </a:solidFill>
              </a:rPr>
              <a:t>same name but several different forms</a:t>
            </a:r>
            <a:endParaRPr lang="en-US" sz="2400" dirty="0"/>
          </a:p>
          <a:p>
            <a:endParaRPr lang="en-US" sz="2400" dirty="0"/>
          </a:p>
          <a:p>
            <a:r>
              <a:rPr lang="en-US" sz="2400" dirty="0"/>
              <a:t>For example: </a:t>
            </a:r>
          </a:p>
          <a:p>
            <a:r>
              <a:rPr lang="en-US" sz="2400" dirty="0"/>
              <a:t>We can overload the </a:t>
            </a:r>
            <a:r>
              <a:rPr lang="en-US" sz="2400" dirty="0">
                <a:solidFill>
                  <a:srgbClr val="0070C0"/>
                </a:solidFill>
              </a:rPr>
              <a:t>constructor</a:t>
            </a:r>
            <a:r>
              <a:rPr lang="en-US" sz="2400" dirty="0"/>
              <a:t> for the </a:t>
            </a:r>
            <a:r>
              <a:rPr lang="en-US" sz="2400" dirty="0">
                <a:solidFill>
                  <a:srgbClr val="0070C0"/>
                </a:solidFill>
              </a:rPr>
              <a:t>Date class</a:t>
            </a:r>
            <a:r>
              <a:rPr lang="en-US" sz="2400" dirty="0"/>
              <a:t>:</a:t>
            </a:r>
          </a:p>
          <a:p>
            <a:pPr lvl="1"/>
            <a:r>
              <a:rPr lang="en-US" sz="2000" dirty="0"/>
              <a:t>default           			                 Date d;</a:t>
            </a:r>
          </a:p>
          <a:p>
            <a:pPr lvl="1"/>
            <a:r>
              <a:rPr lang="en-US" sz="2000" dirty="0"/>
              <a:t>Parametrized (3 </a:t>
            </a:r>
            <a:r>
              <a:rPr lang="en-US" sz="2000" dirty="0" err="1"/>
              <a:t>ints</a:t>
            </a:r>
            <a:r>
              <a:rPr lang="en-US" sz="2000" dirty="0"/>
              <a:t>)                      Date d(9,22,20);</a:t>
            </a:r>
          </a:p>
          <a:p>
            <a:pPr lvl="1"/>
            <a:r>
              <a:rPr lang="en-US" sz="2000" dirty="0"/>
              <a:t>copy                			                 Date d1(d);</a:t>
            </a:r>
          </a:p>
          <a:p>
            <a:pPr lvl="1"/>
            <a:r>
              <a:rPr lang="en-US" sz="2000" dirty="0"/>
              <a:t>Parametrized (1 string, 2 </a:t>
            </a:r>
            <a:r>
              <a:rPr lang="en-US" sz="2000" dirty="0" err="1"/>
              <a:t>ints</a:t>
            </a:r>
            <a:r>
              <a:rPr lang="en-US" sz="2000" dirty="0"/>
              <a:t>)       Date d(</a:t>
            </a:r>
            <a:r>
              <a:rPr lang="ja-JP" altLang="en-US" sz="2000" dirty="0"/>
              <a:t>“</a:t>
            </a:r>
            <a:r>
              <a:rPr lang="en-US" altLang="ja-JP" sz="2000" dirty="0"/>
              <a:t>Sept</a:t>
            </a:r>
            <a:r>
              <a:rPr lang="ja-JP" altLang="en-US" sz="2000" dirty="0"/>
              <a:t>”</a:t>
            </a:r>
            <a:r>
              <a:rPr lang="en-US" altLang="ja-JP" sz="2000" dirty="0"/>
              <a:t>,22,2020);</a:t>
            </a:r>
            <a:endParaRPr lang="en-US" sz="2000" dirty="0"/>
          </a:p>
          <a:p>
            <a:endParaRPr lang="en-PK" sz="2400" dirty="0"/>
          </a:p>
        </p:txBody>
      </p:sp>
      <p:sp>
        <p:nvSpPr>
          <p:cNvPr id="4" name="Footer Placeholder 3">
            <a:extLst>
              <a:ext uri="{FF2B5EF4-FFF2-40B4-BE49-F238E27FC236}">
                <a16:creationId xmlns:a16="http://schemas.microsoft.com/office/drawing/2014/main" id="{9599EEA9-14A1-F915-A961-37FC7EEB8738}"/>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214A9779-6A03-16CD-67C2-00F949819D52}"/>
              </a:ext>
            </a:extLst>
          </p:cNvPr>
          <p:cNvSpPr>
            <a:spLocks noGrp="1"/>
          </p:cNvSpPr>
          <p:nvPr>
            <p:ph type="sldNum" sz="quarter" idx="12"/>
          </p:nvPr>
        </p:nvSpPr>
        <p:spPr/>
        <p:txBody>
          <a:bodyPr/>
          <a:lstStyle/>
          <a:p>
            <a:fld id="{51845F5A-061D-4825-9AE9-D7794091C6CF}" type="slidenum">
              <a:rPr lang="en-US" smtClean="0"/>
              <a:t>2</a:t>
            </a:fld>
            <a:endParaRPr lang="en-US" dirty="0"/>
          </a:p>
        </p:txBody>
      </p:sp>
    </p:spTree>
    <p:extLst>
      <p:ext uri="{BB962C8B-B14F-4D97-AF65-F5344CB8AC3E}">
        <p14:creationId xmlns:p14="http://schemas.microsoft.com/office/powerpoint/2010/main" val="3448138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EE5EC-D8B3-4079-3AA6-0E081B311ED7}"/>
              </a:ext>
            </a:extLst>
          </p:cNvPr>
          <p:cNvSpPr>
            <a:spLocks noGrp="1"/>
          </p:cNvSpPr>
          <p:nvPr>
            <p:ph type="title"/>
          </p:nvPr>
        </p:nvSpPr>
        <p:spPr/>
        <p:txBody>
          <a:bodyPr/>
          <a:lstStyle/>
          <a:p>
            <a:r>
              <a:rPr lang="en-GB" dirty="0"/>
              <a:t>Operator Overloading</a:t>
            </a:r>
            <a:endParaRPr lang="en-PK" dirty="0"/>
          </a:p>
        </p:txBody>
      </p:sp>
      <p:sp>
        <p:nvSpPr>
          <p:cNvPr id="3" name="Content Placeholder 2">
            <a:extLst>
              <a:ext uri="{FF2B5EF4-FFF2-40B4-BE49-F238E27FC236}">
                <a16:creationId xmlns:a16="http://schemas.microsoft.com/office/drawing/2014/main" id="{08100472-EE4A-58C1-FAD4-ED77B6AC49DD}"/>
              </a:ext>
            </a:extLst>
          </p:cNvPr>
          <p:cNvSpPr>
            <a:spLocks noGrp="1"/>
          </p:cNvSpPr>
          <p:nvPr>
            <p:ph idx="1"/>
          </p:nvPr>
        </p:nvSpPr>
        <p:spPr/>
        <p:txBody>
          <a:bodyPr>
            <a:normAutofit fontScale="92500" lnSpcReduction="10000"/>
          </a:bodyPr>
          <a:lstStyle/>
          <a:p>
            <a:pPr algn="just">
              <a:lnSpc>
                <a:spcPct val="90000"/>
              </a:lnSpc>
            </a:pPr>
            <a:r>
              <a:rPr lang="en-US" sz="2800" b="1" dirty="0">
                <a:latin typeface="Calibri" panose="020F0502020204030204" pitchFamily="34" charset="0"/>
              </a:rPr>
              <a:t>The </a:t>
            </a:r>
            <a:r>
              <a:rPr lang="en-US" sz="2800" b="1" dirty="0">
                <a:solidFill>
                  <a:srgbClr val="2C14DE"/>
                </a:solidFill>
                <a:latin typeface="Calibri" panose="020F0502020204030204" pitchFamily="34" charset="0"/>
              </a:rPr>
              <a:t>method </a:t>
            </a:r>
            <a:r>
              <a:rPr lang="en-US" sz="2800" b="1" dirty="0">
                <a:latin typeface="Calibri" panose="020F0502020204030204" pitchFamily="34" charset="0"/>
              </a:rPr>
              <a:t>of </a:t>
            </a:r>
            <a:r>
              <a:rPr lang="en-US" sz="2800" b="1" dirty="0">
                <a:solidFill>
                  <a:srgbClr val="2C14DE"/>
                </a:solidFill>
                <a:latin typeface="Calibri" panose="020F0502020204030204" pitchFamily="34" charset="0"/>
              </a:rPr>
              <a:t>defining </a:t>
            </a:r>
            <a:r>
              <a:rPr lang="en-US" sz="2800" b="1" u="sng" dirty="0">
                <a:solidFill>
                  <a:srgbClr val="2C14DE"/>
                </a:solidFill>
                <a:latin typeface="Calibri" panose="020F0502020204030204" pitchFamily="34" charset="0"/>
              </a:rPr>
              <a:t>additional meanings</a:t>
            </a:r>
            <a:r>
              <a:rPr lang="en-US" sz="2800" b="1" dirty="0">
                <a:solidFill>
                  <a:srgbClr val="2C14DE"/>
                </a:solidFill>
                <a:latin typeface="Calibri" panose="020F0502020204030204" pitchFamily="34" charset="0"/>
              </a:rPr>
              <a:t> </a:t>
            </a:r>
            <a:r>
              <a:rPr lang="en-US" sz="2800" b="1" dirty="0">
                <a:latin typeface="Calibri" panose="020F0502020204030204" pitchFamily="34" charset="0"/>
              </a:rPr>
              <a:t>for </a:t>
            </a:r>
            <a:r>
              <a:rPr lang="en-US" sz="2800" b="1" dirty="0">
                <a:solidFill>
                  <a:srgbClr val="2C14DE"/>
                </a:solidFill>
                <a:latin typeface="Calibri" panose="020F0502020204030204" pitchFamily="34" charset="0"/>
              </a:rPr>
              <a:t>operators</a:t>
            </a:r>
            <a:r>
              <a:rPr lang="en-US" sz="2800" b="1" dirty="0">
                <a:latin typeface="Calibri" panose="020F0502020204030204" pitchFamily="34" charset="0"/>
              </a:rPr>
              <a:t> is known as </a:t>
            </a:r>
            <a:r>
              <a:rPr lang="en-US" sz="2800" b="1" u="sng" dirty="0">
                <a:solidFill>
                  <a:srgbClr val="008000"/>
                </a:solidFill>
                <a:latin typeface="Calibri" panose="020F0502020204030204" pitchFamily="34" charset="0"/>
              </a:rPr>
              <a:t>operator overloading</a:t>
            </a:r>
          </a:p>
          <a:p>
            <a:pPr algn="just">
              <a:lnSpc>
                <a:spcPct val="90000"/>
              </a:lnSpc>
            </a:pPr>
            <a:endParaRPr lang="en-US" sz="2800" dirty="0">
              <a:latin typeface="Calibri" panose="020F0502020204030204" pitchFamily="34" charset="0"/>
            </a:endParaRPr>
          </a:p>
          <a:p>
            <a:pPr algn="just">
              <a:lnSpc>
                <a:spcPct val="90000"/>
              </a:lnSpc>
            </a:pPr>
            <a:r>
              <a:rPr lang="en-US" sz="2800" b="1" dirty="0">
                <a:latin typeface="Calibri" panose="020F0502020204030204" pitchFamily="34" charset="0"/>
              </a:rPr>
              <a:t>Enables</a:t>
            </a:r>
            <a:r>
              <a:rPr lang="en-US" sz="2800" dirty="0">
                <a:latin typeface="Calibri" panose="020F0502020204030204" pitchFamily="34" charset="0"/>
              </a:rPr>
              <a:t> an </a:t>
            </a:r>
            <a:r>
              <a:rPr lang="en-US" sz="2800" b="1" dirty="0">
                <a:latin typeface="Calibri" panose="020F0502020204030204" pitchFamily="34" charset="0"/>
              </a:rPr>
              <a:t>operator</a:t>
            </a:r>
            <a:r>
              <a:rPr lang="en-US" sz="2800" dirty="0">
                <a:latin typeface="Calibri" panose="020F0502020204030204" pitchFamily="34" charset="0"/>
              </a:rPr>
              <a:t> to </a:t>
            </a:r>
            <a:r>
              <a:rPr lang="en-US" sz="2800" b="1" dirty="0">
                <a:solidFill>
                  <a:srgbClr val="2C14DE"/>
                </a:solidFill>
                <a:latin typeface="Calibri" panose="020F0502020204030204" pitchFamily="34" charset="0"/>
              </a:rPr>
              <a:t>perform different operations depending</a:t>
            </a:r>
            <a:r>
              <a:rPr lang="en-US" sz="2800" dirty="0">
                <a:solidFill>
                  <a:srgbClr val="2C14DE"/>
                </a:solidFill>
                <a:latin typeface="Calibri" panose="020F0502020204030204" pitchFamily="34" charset="0"/>
              </a:rPr>
              <a:t> </a:t>
            </a:r>
            <a:r>
              <a:rPr lang="en-US" sz="2800" dirty="0">
                <a:latin typeface="Calibri" panose="020F0502020204030204" pitchFamily="34" charset="0"/>
              </a:rPr>
              <a:t>upon the </a:t>
            </a:r>
            <a:r>
              <a:rPr lang="en-US" sz="2800" b="1" dirty="0">
                <a:solidFill>
                  <a:srgbClr val="2C14DE"/>
                </a:solidFill>
                <a:latin typeface="Calibri" panose="020F0502020204030204" pitchFamily="34" charset="0"/>
              </a:rPr>
              <a:t>type of operands</a:t>
            </a:r>
          </a:p>
          <a:p>
            <a:pPr algn="just">
              <a:lnSpc>
                <a:spcPct val="90000"/>
              </a:lnSpc>
            </a:pPr>
            <a:endParaRPr lang="en-US" sz="2800" dirty="0">
              <a:latin typeface="Calibri" panose="020F0502020204030204" pitchFamily="34" charset="0"/>
            </a:endParaRPr>
          </a:p>
          <a:p>
            <a:pPr algn="just">
              <a:lnSpc>
                <a:spcPct val="90000"/>
              </a:lnSpc>
            </a:pPr>
            <a:r>
              <a:rPr lang="en-US" sz="2800" dirty="0">
                <a:latin typeface="Calibri" panose="020F0502020204030204" pitchFamily="34" charset="0"/>
              </a:rPr>
              <a:t>The </a:t>
            </a:r>
            <a:r>
              <a:rPr lang="en-US" sz="2800" b="1" dirty="0">
                <a:solidFill>
                  <a:srgbClr val="2C14DE"/>
                </a:solidFill>
                <a:latin typeface="Calibri" panose="020F0502020204030204" pitchFamily="34" charset="0"/>
              </a:rPr>
              <a:t>basic operators </a:t>
            </a:r>
            <a:r>
              <a:rPr lang="en-US" sz="2800" dirty="0">
                <a:latin typeface="Calibri" panose="020F0502020204030204" pitchFamily="34" charset="0"/>
              </a:rPr>
              <a:t>i.e. </a:t>
            </a:r>
            <a:r>
              <a:rPr lang="en-US" sz="2800" b="1" dirty="0">
                <a:latin typeface="Calibri" panose="020F0502020204030204" pitchFamily="34" charset="0"/>
              </a:rPr>
              <a:t>+, -, *, / </a:t>
            </a:r>
            <a:r>
              <a:rPr lang="en-US" sz="2800" b="1" dirty="0">
                <a:solidFill>
                  <a:srgbClr val="2C14DE"/>
                </a:solidFill>
                <a:latin typeface="Calibri" panose="020F0502020204030204" pitchFamily="34" charset="0"/>
              </a:rPr>
              <a:t>normally works </a:t>
            </a:r>
            <a:r>
              <a:rPr lang="en-US" sz="2800" dirty="0">
                <a:latin typeface="Calibri" panose="020F0502020204030204" pitchFamily="34" charset="0"/>
              </a:rPr>
              <a:t>with </a:t>
            </a:r>
            <a:r>
              <a:rPr lang="en-US" sz="2800" b="1" u="sng" dirty="0">
                <a:latin typeface="Calibri" panose="020F0502020204030204" pitchFamily="34" charset="0"/>
              </a:rPr>
              <a:t>basic typ</a:t>
            </a:r>
            <a:r>
              <a:rPr lang="en-US" sz="2800" b="1" dirty="0">
                <a:latin typeface="Calibri" panose="020F0502020204030204" pitchFamily="34" charset="0"/>
              </a:rPr>
              <a:t>es </a:t>
            </a:r>
            <a:r>
              <a:rPr lang="en-US" sz="2800" dirty="0">
                <a:latin typeface="Calibri" panose="020F0502020204030204" pitchFamily="34" charset="0"/>
              </a:rPr>
              <a:t>i.e. </a:t>
            </a:r>
            <a:r>
              <a:rPr lang="en-US" sz="2800" b="1" dirty="0">
                <a:latin typeface="Calibri" panose="020F0502020204030204" pitchFamily="34" charset="0"/>
              </a:rPr>
              <a:t>double</a:t>
            </a:r>
            <a:r>
              <a:rPr lang="en-US" sz="2800" dirty="0">
                <a:latin typeface="Calibri" panose="020F0502020204030204" pitchFamily="34" charset="0"/>
              </a:rPr>
              <a:t>, </a:t>
            </a:r>
            <a:r>
              <a:rPr lang="en-US" sz="2800" b="1" dirty="0">
                <a:latin typeface="Calibri" panose="020F0502020204030204" pitchFamily="34" charset="0"/>
              </a:rPr>
              <a:t>float</a:t>
            </a:r>
            <a:r>
              <a:rPr lang="en-US" sz="2800" dirty="0">
                <a:latin typeface="Calibri" panose="020F0502020204030204" pitchFamily="34" charset="0"/>
              </a:rPr>
              <a:t>, </a:t>
            </a:r>
            <a:r>
              <a:rPr lang="en-US" sz="2800" b="1" dirty="0">
                <a:latin typeface="Calibri" panose="020F0502020204030204" pitchFamily="34" charset="0"/>
              </a:rPr>
              <a:t>int</a:t>
            </a:r>
            <a:r>
              <a:rPr lang="en-US" sz="2800" dirty="0">
                <a:latin typeface="Calibri" panose="020F0502020204030204" pitchFamily="34" charset="0"/>
              </a:rPr>
              <a:t>, </a:t>
            </a:r>
            <a:r>
              <a:rPr lang="en-US" sz="2800" b="1" dirty="0">
                <a:latin typeface="Calibri" panose="020F0502020204030204" pitchFamily="34" charset="0"/>
              </a:rPr>
              <a:t>long</a:t>
            </a:r>
            <a:r>
              <a:rPr lang="en-US" sz="2800" dirty="0">
                <a:latin typeface="Calibri" panose="020F0502020204030204" pitchFamily="34" charset="0"/>
              </a:rPr>
              <a:t>.  (defined in C++)</a:t>
            </a:r>
          </a:p>
          <a:p>
            <a:pPr marL="0" indent="0" algn="just">
              <a:lnSpc>
                <a:spcPct val="90000"/>
              </a:lnSpc>
              <a:buNone/>
            </a:pPr>
            <a:endParaRPr lang="en-US" sz="2800" dirty="0">
              <a:latin typeface="Calibri" panose="020F0502020204030204" pitchFamily="34" charset="0"/>
            </a:endParaRPr>
          </a:p>
          <a:p>
            <a:pPr algn="just">
              <a:lnSpc>
                <a:spcPct val="90000"/>
              </a:lnSpc>
            </a:pPr>
            <a:r>
              <a:rPr lang="en-US" sz="2800" dirty="0">
                <a:latin typeface="Calibri" panose="020F0502020204030204" pitchFamily="34" charset="0"/>
              </a:rPr>
              <a:t>So, </a:t>
            </a:r>
            <a:r>
              <a:rPr lang="en-US" sz="2800" b="1" dirty="0">
                <a:solidFill>
                  <a:srgbClr val="B80000"/>
                </a:solidFill>
                <a:latin typeface="Calibri" panose="020F0502020204030204" pitchFamily="34" charset="0"/>
              </a:rPr>
              <a:t>how can these operators be applied to user-defined data types?</a:t>
            </a:r>
          </a:p>
        </p:txBody>
      </p:sp>
      <p:sp>
        <p:nvSpPr>
          <p:cNvPr id="4" name="Footer Placeholder 3">
            <a:extLst>
              <a:ext uri="{FF2B5EF4-FFF2-40B4-BE49-F238E27FC236}">
                <a16:creationId xmlns:a16="http://schemas.microsoft.com/office/drawing/2014/main" id="{773D3B24-AA0B-A891-4A29-7D4E3F8C1AD2}"/>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4D898D50-099B-C734-7598-CC80B39FC52B}"/>
              </a:ext>
            </a:extLst>
          </p:cNvPr>
          <p:cNvSpPr>
            <a:spLocks noGrp="1"/>
          </p:cNvSpPr>
          <p:nvPr>
            <p:ph type="sldNum" sz="quarter" idx="12"/>
          </p:nvPr>
        </p:nvSpPr>
        <p:spPr/>
        <p:txBody>
          <a:bodyPr/>
          <a:lstStyle/>
          <a:p>
            <a:fld id="{51845F5A-061D-4825-9AE9-D7794091C6CF}" type="slidenum">
              <a:rPr lang="en-US" smtClean="0"/>
              <a:t>3</a:t>
            </a:fld>
            <a:endParaRPr lang="en-US" dirty="0"/>
          </a:p>
        </p:txBody>
      </p:sp>
    </p:spTree>
    <p:extLst>
      <p:ext uri="{BB962C8B-B14F-4D97-AF65-F5344CB8AC3E}">
        <p14:creationId xmlns:p14="http://schemas.microsoft.com/office/powerpoint/2010/main" val="2585610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0C1DC-7260-FFA8-BAD9-19EA0EAF831C}"/>
              </a:ext>
            </a:extLst>
          </p:cNvPr>
          <p:cNvSpPr>
            <a:spLocks noGrp="1"/>
          </p:cNvSpPr>
          <p:nvPr>
            <p:ph type="title"/>
          </p:nvPr>
        </p:nvSpPr>
        <p:spPr/>
        <p:txBody>
          <a:bodyPr/>
          <a:lstStyle/>
          <a:p>
            <a:r>
              <a:rPr lang="en-US" dirty="0"/>
              <a:t>Operator Overloading</a:t>
            </a:r>
            <a:endParaRPr lang="en-PK" dirty="0"/>
          </a:p>
        </p:txBody>
      </p:sp>
      <p:sp>
        <p:nvSpPr>
          <p:cNvPr id="3" name="Content Placeholder 2">
            <a:extLst>
              <a:ext uri="{FF2B5EF4-FFF2-40B4-BE49-F238E27FC236}">
                <a16:creationId xmlns:a16="http://schemas.microsoft.com/office/drawing/2014/main" id="{AAEF8D3C-720D-7160-07C7-B088B8123562}"/>
              </a:ext>
            </a:extLst>
          </p:cNvPr>
          <p:cNvSpPr>
            <a:spLocks noGrp="1"/>
          </p:cNvSpPr>
          <p:nvPr>
            <p:ph idx="1"/>
          </p:nvPr>
        </p:nvSpPr>
        <p:spPr/>
        <p:txBody>
          <a:bodyPr>
            <a:normAutofit fontScale="70000" lnSpcReduction="20000"/>
          </a:bodyPr>
          <a:lstStyle/>
          <a:p>
            <a:r>
              <a:rPr lang="en-US" dirty="0"/>
              <a:t>The operator </a:t>
            </a:r>
            <a:r>
              <a:rPr lang="ja-JP" altLang="en-US" dirty="0"/>
              <a:t>“</a:t>
            </a:r>
            <a:r>
              <a:rPr lang="en-US" altLang="ja-JP" b="1" dirty="0">
                <a:solidFill>
                  <a:srgbClr val="FF0000"/>
                </a:solidFill>
              </a:rPr>
              <a:t>+</a:t>
            </a:r>
            <a:r>
              <a:rPr lang="ja-JP" altLang="en-US" dirty="0"/>
              <a:t>”</a:t>
            </a:r>
            <a:r>
              <a:rPr lang="en-US" altLang="ja-JP" dirty="0"/>
              <a:t>  also has different semantics depending on the type of its </a:t>
            </a:r>
            <a:r>
              <a:rPr lang="ja-JP" altLang="en-US" dirty="0"/>
              <a:t>“</a:t>
            </a:r>
            <a:r>
              <a:rPr lang="en-US" altLang="ja-JP" dirty="0"/>
              <a:t>arguments</a:t>
            </a:r>
            <a:r>
              <a:rPr lang="ja-JP" altLang="en-US" dirty="0"/>
              <a:t>”</a:t>
            </a:r>
            <a:endParaRPr lang="en-US" altLang="ja-JP" dirty="0"/>
          </a:p>
          <a:p>
            <a:endParaRPr lang="en-US" dirty="0"/>
          </a:p>
          <a:p>
            <a:pPr marL="0" indent="0">
              <a:buNone/>
            </a:pPr>
            <a:r>
              <a:rPr lang="en-US" dirty="0"/>
              <a:t>Example</a:t>
            </a:r>
          </a:p>
          <a:p>
            <a:pPr marL="0" indent="0">
              <a:buNone/>
            </a:pPr>
            <a:r>
              <a:rPr lang="en-US" dirty="0"/>
              <a:t>	</a:t>
            </a:r>
            <a:r>
              <a:rPr lang="en-US" dirty="0">
                <a:solidFill>
                  <a:srgbClr val="0070C0"/>
                </a:solidFill>
                <a:latin typeface="Consolas" panose="020B0609020204030204" pitchFamily="49" charset="0"/>
              </a:rPr>
              <a:t>int</a:t>
            </a:r>
            <a:r>
              <a:rPr lang="en-US" dirty="0">
                <a:latin typeface="Consolas" panose="020B0609020204030204" pitchFamily="49" charset="0"/>
              </a:rPr>
              <a:t> </a:t>
            </a:r>
            <a:r>
              <a:rPr lang="en-US" dirty="0" err="1">
                <a:latin typeface="Consolas" panose="020B0609020204030204" pitchFamily="49" charset="0"/>
              </a:rPr>
              <a:t>i</a:t>
            </a:r>
            <a:r>
              <a:rPr lang="en-US" dirty="0">
                <a:latin typeface="Consolas" panose="020B0609020204030204" pitchFamily="49" charset="0"/>
              </a:rPr>
              <a:t>=5, j=7;</a:t>
            </a:r>
          </a:p>
          <a:p>
            <a:pPr marL="0" indent="0">
              <a:buNone/>
            </a:pPr>
            <a:r>
              <a:rPr lang="en-US" dirty="0">
                <a:latin typeface="Consolas" panose="020B0609020204030204" pitchFamily="49" charset="0"/>
              </a:rPr>
              <a:t>	</a:t>
            </a:r>
            <a:r>
              <a:rPr lang="en-US" dirty="0" err="1">
                <a:latin typeface="Consolas" panose="020B0609020204030204" pitchFamily="49" charset="0"/>
              </a:rPr>
              <a:t>i</a:t>
            </a:r>
            <a:r>
              <a:rPr lang="en-US" dirty="0">
                <a:latin typeface="Consolas" panose="020B0609020204030204" pitchFamily="49" charset="0"/>
              </a:rPr>
              <a:t> </a:t>
            </a:r>
            <a:r>
              <a:rPr lang="en-US" b="1" dirty="0">
                <a:solidFill>
                  <a:srgbClr val="FF0000"/>
                </a:solidFill>
                <a:latin typeface="Consolas" panose="020B0609020204030204" pitchFamily="49" charset="0"/>
              </a:rPr>
              <a:t>+</a:t>
            </a:r>
            <a:r>
              <a:rPr lang="en-US" dirty="0">
                <a:latin typeface="Consolas" panose="020B0609020204030204" pitchFamily="49" charset="0"/>
              </a:rPr>
              <a:t> j;   </a:t>
            </a:r>
            <a:r>
              <a:rPr lang="en-US" dirty="0">
                <a:solidFill>
                  <a:srgbClr val="00B050"/>
                </a:solidFill>
                <a:latin typeface="Consolas" panose="020B0609020204030204" pitchFamily="49" charset="0"/>
              </a:rPr>
              <a:t>//add two int </a:t>
            </a:r>
          </a:p>
          <a:p>
            <a:pPr marL="0" indent="0">
              <a:buNone/>
            </a:pPr>
            <a:r>
              <a:rPr lang="en-US" dirty="0">
                <a:solidFill>
                  <a:srgbClr val="0070C0"/>
                </a:solidFill>
                <a:latin typeface="Consolas" panose="020B0609020204030204" pitchFamily="49" charset="0"/>
              </a:rPr>
              <a:t>	</a:t>
            </a:r>
          </a:p>
          <a:p>
            <a:pPr marL="0" indent="0">
              <a:buNone/>
            </a:pPr>
            <a:r>
              <a:rPr lang="en-US" dirty="0">
                <a:solidFill>
                  <a:srgbClr val="0070C0"/>
                </a:solidFill>
                <a:latin typeface="Consolas" panose="020B0609020204030204" pitchFamily="49" charset="0"/>
              </a:rPr>
              <a:t>   double</a:t>
            </a:r>
            <a:r>
              <a:rPr lang="en-US" dirty="0">
                <a:latin typeface="Consolas" panose="020B0609020204030204" pitchFamily="49" charset="0"/>
              </a:rPr>
              <a:t> d=5.4, e=3.0; </a:t>
            </a:r>
          </a:p>
          <a:p>
            <a:pPr marL="0" indent="0">
              <a:buNone/>
            </a:pPr>
            <a:r>
              <a:rPr lang="en-US" dirty="0">
                <a:latin typeface="Consolas" panose="020B0609020204030204" pitchFamily="49" charset="0"/>
              </a:rPr>
              <a:t>	</a:t>
            </a:r>
            <a:r>
              <a:rPr lang="en-US" dirty="0" err="1">
                <a:latin typeface="Consolas" panose="020B0609020204030204" pitchFamily="49" charset="0"/>
              </a:rPr>
              <a:t>i</a:t>
            </a:r>
            <a:r>
              <a:rPr lang="en-US" dirty="0">
                <a:latin typeface="Consolas" panose="020B0609020204030204" pitchFamily="49" charset="0"/>
              </a:rPr>
              <a:t> </a:t>
            </a:r>
            <a:r>
              <a:rPr lang="en-US" b="1" dirty="0">
                <a:solidFill>
                  <a:srgbClr val="FF0000"/>
                </a:solidFill>
                <a:latin typeface="Consolas" panose="020B0609020204030204" pitchFamily="49" charset="0"/>
              </a:rPr>
              <a:t>+</a:t>
            </a:r>
            <a:r>
              <a:rPr lang="en-US" dirty="0">
                <a:latin typeface="Consolas" panose="020B0609020204030204" pitchFamily="49" charset="0"/>
              </a:rPr>
              <a:t> d;   </a:t>
            </a:r>
            <a:r>
              <a:rPr lang="en-US" dirty="0">
                <a:solidFill>
                  <a:srgbClr val="00B050"/>
                </a:solidFill>
                <a:latin typeface="Consolas" panose="020B0609020204030204" pitchFamily="49" charset="0"/>
              </a:rPr>
              <a:t>//add an int and a double</a:t>
            </a:r>
          </a:p>
          <a:p>
            <a:pPr marL="0" indent="0">
              <a:buNone/>
            </a:pPr>
            <a:endParaRPr lang="en-US" dirty="0">
              <a:solidFill>
                <a:srgbClr val="00B050"/>
              </a:solidFill>
              <a:latin typeface="Consolas" panose="020B0609020204030204" pitchFamily="49" charset="0"/>
            </a:endParaRPr>
          </a:p>
          <a:p>
            <a:pPr marL="0" indent="0">
              <a:buNone/>
            </a:pPr>
            <a:r>
              <a:rPr lang="en-US" dirty="0">
                <a:solidFill>
                  <a:srgbClr val="00B050"/>
                </a:solidFill>
                <a:latin typeface="Consolas" panose="020B0609020204030204" pitchFamily="49" charset="0"/>
              </a:rPr>
              <a:t>	</a:t>
            </a:r>
            <a:r>
              <a:rPr lang="en-US" dirty="0">
                <a:latin typeface="Consolas" panose="020B0609020204030204" pitchFamily="49" charset="0"/>
              </a:rPr>
              <a:t>d</a:t>
            </a:r>
            <a:r>
              <a:rPr lang="en-US" b="1" dirty="0">
                <a:solidFill>
                  <a:srgbClr val="FF0000"/>
                </a:solidFill>
                <a:latin typeface="Consolas" panose="020B0609020204030204" pitchFamily="49" charset="0"/>
              </a:rPr>
              <a:t> + </a:t>
            </a:r>
            <a:r>
              <a:rPr lang="en-US" dirty="0">
                <a:latin typeface="Consolas" panose="020B0609020204030204" pitchFamily="49" charset="0"/>
              </a:rPr>
              <a:t>e; </a:t>
            </a:r>
            <a:r>
              <a:rPr lang="en-US" dirty="0">
                <a:solidFill>
                  <a:srgbClr val="00B050"/>
                </a:solidFill>
                <a:latin typeface="Consolas" panose="020B0609020204030204" pitchFamily="49" charset="0"/>
              </a:rPr>
              <a:t>//add two doubles </a:t>
            </a:r>
          </a:p>
        </p:txBody>
      </p:sp>
      <p:sp>
        <p:nvSpPr>
          <p:cNvPr id="4" name="Footer Placeholder 3">
            <a:extLst>
              <a:ext uri="{FF2B5EF4-FFF2-40B4-BE49-F238E27FC236}">
                <a16:creationId xmlns:a16="http://schemas.microsoft.com/office/drawing/2014/main" id="{C5CE2003-7F0F-3E8A-D3F5-3E48FB9433CC}"/>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05C7813F-A762-D605-11AA-821B4616CABA}"/>
              </a:ext>
            </a:extLst>
          </p:cNvPr>
          <p:cNvSpPr>
            <a:spLocks noGrp="1"/>
          </p:cNvSpPr>
          <p:nvPr>
            <p:ph type="sldNum" sz="quarter" idx="12"/>
          </p:nvPr>
        </p:nvSpPr>
        <p:spPr/>
        <p:txBody>
          <a:bodyPr/>
          <a:lstStyle/>
          <a:p>
            <a:fld id="{51845F5A-061D-4825-9AE9-D7794091C6CF}" type="slidenum">
              <a:rPr lang="en-US" smtClean="0"/>
              <a:t>4</a:t>
            </a:fld>
            <a:endParaRPr lang="en-US" dirty="0"/>
          </a:p>
        </p:txBody>
      </p:sp>
      <p:pic>
        <p:nvPicPr>
          <p:cNvPr id="6" name="Picture 2">
            <a:extLst>
              <a:ext uri="{FF2B5EF4-FFF2-40B4-BE49-F238E27FC236}">
                <a16:creationId xmlns:a16="http://schemas.microsoft.com/office/drawing/2014/main" id="{EAA5BA13-D33B-642F-ECF5-2742332CF4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246" t="4469" b="9246"/>
          <a:stretch/>
        </p:blipFill>
        <p:spPr bwMode="auto">
          <a:xfrm>
            <a:off x="9982200" y="3134470"/>
            <a:ext cx="1908313" cy="1914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305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42B87-5704-EC38-367D-71B82EAC2C35}"/>
              </a:ext>
            </a:extLst>
          </p:cNvPr>
          <p:cNvSpPr>
            <a:spLocks noGrp="1"/>
          </p:cNvSpPr>
          <p:nvPr>
            <p:ph type="title"/>
          </p:nvPr>
        </p:nvSpPr>
        <p:spPr/>
        <p:txBody>
          <a:bodyPr/>
          <a:lstStyle/>
          <a:p>
            <a:r>
              <a:rPr lang="en-US" dirty="0"/>
              <a:t>Operator Overloading</a:t>
            </a:r>
            <a:endParaRPr lang="en-PK" dirty="0"/>
          </a:p>
        </p:txBody>
      </p:sp>
      <p:sp>
        <p:nvSpPr>
          <p:cNvPr id="3" name="Content Placeholder 2">
            <a:extLst>
              <a:ext uri="{FF2B5EF4-FFF2-40B4-BE49-F238E27FC236}">
                <a16:creationId xmlns:a16="http://schemas.microsoft.com/office/drawing/2014/main" id="{AAB5DBEB-FB6A-823F-5AA7-4318BBA8935D}"/>
              </a:ext>
            </a:extLst>
          </p:cNvPr>
          <p:cNvSpPr>
            <a:spLocks noGrp="1"/>
          </p:cNvSpPr>
          <p:nvPr>
            <p:ph idx="1"/>
          </p:nvPr>
        </p:nvSpPr>
        <p:spPr/>
        <p:txBody>
          <a:bodyPr>
            <a:normAutofit/>
          </a:bodyPr>
          <a:lstStyle/>
          <a:p>
            <a:r>
              <a:rPr lang="en-US" sz="2400" dirty="0"/>
              <a:t>Example (already overloaded operator </a:t>
            </a:r>
            <a:r>
              <a:rPr lang="en-US" sz="2400" b="1" dirty="0">
                <a:solidFill>
                  <a:srgbClr val="FF0000"/>
                </a:solidFill>
              </a:rPr>
              <a:t>/ </a:t>
            </a:r>
            <a:r>
              <a:rPr lang="en-US" sz="2400" dirty="0"/>
              <a:t>):</a:t>
            </a:r>
          </a:p>
          <a:p>
            <a:r>
              <a:rPr lang="en-US" sz="2400" dirty="0">
                <a:solidFill>
                  <a:srgbClr val="0070C0"/>
                </a:solidFill>
              </a:rPr>
              <a:t>Same operator </a:t>
            </a:r>
            <a:r>
              <a:rPr lang="en-US" sz="2400" dirty="0"/>
              <a:t>has </a:t>
            </a:r>
            <a:r>
              <a:rPr lang="en-US" sz="2400" dirty="0">
                <a:solidFill>
                  <a:srgbClr val="FF0000"/>
                </a:solidFill>
              </a:rPr>
              <a:t>different meaning</a:t>
            </a:r>
            <a:r>
              <a:rPr lang="en-US" sz="2400" dirty="0"/>
              <a:t> for </a:t>
            </a:r>
            <a:r>
              <a:rPr lang="en-US" sz="2400" dirty="0">
                <a:solidFill>
                  <a:srgbClr val="0070C0"/>
                </a:solidFill>
              </a:rPr>
              <a:t>different operands</a:t>
            </a:r>
          </a:p>
          <a:p>
            <a:endParaRPr lang="en-PK" sz="2400" dirty="0"/>
          </a:p>
        </p:txBody>
      </p:sp>
      <p:sp>
        <p:nvSpPr>
          <p:cNvPr id="4" name="Footer Placeholder 3">
            <a:extLst>
              <a:ext uri="{FF2B5EF4-FFF2-40B4-BE49-F238E27FC236}">
                <a16:creationId xmlns:a16="http://schemas.microsoft.com/office/drawing/2014/main" id="{F02E6A73-2173-08EF-3D24-3FDD7E231FC9}"/>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4EE3A1D6-54E8-4260-03E2-02CFC4C0DF25}"/>
              </a:ext>
            </a:extLst>
          </p:cNvPr>
          <p:cNvSpPr>
            <a:spLocks noGrp="1"/>
          </p:cNvSpPr>
          <p:nvPr>
            <p:ph type="sldNum" sz="quarter" idx="12"/>
          </p:nvPr>
        </p:nvSpPr>
        <p:spPr/>
        <p:txBody>
          <a:bodyPr/>
          <a:lstStyle/>
          <a:p>
            <a:fld id="{51845F5A-061D-4825-9AE9-D7794091C6CF}" type="slidenum">
              <a:rPr lang="en-US" smtClean="0"/>
              <a:t>5</a:t>
            </a:fld>
            <a:endParaRPr lang="en-US" dirty="0"/>
          </a:p>
        </p:txBody>
      </p:sp>
      <p:pic>
        <p:nvPicPr>
          <p:cNvPr id="6" name="Picture 2" descr="https://ptgmedia.pearsoncmg.com/images/chap3_0672326973/elementLinks/03fig04.jpg">
            <a:extLst>
              <a:ext uri="{FF2B5EF4-FFF2-40B4-BE49-F238E27FC236}">
                <a16:creationId xmlns:a16="http://schemas.microsoft.com/office/drawing/2014/main" id="{3F340F52-EB1A-982A-5384-2F1E9DD72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4123" y="3066003"/>
            <a:ext cx="4923754" cy="3106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617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13095-00F4-77CF-1618-B36C98A1E5F4}"/>
              </a:ext>
            </a:extLst>
          </p:cNvPr>
          <p:cNvSpPr>
            <a:spLocks noGrp="1"/>
          </p:cNvSpPr>
          <p:nvPr>
            <p:ph type="title"/>
          </p:nvPr>
        </p:nvSpPr>
        <p:spPr/>
        <p:txBody>
          <a:bodyPr/>
          <a:lstStyle/>
          <a:p>
            <a:r>
              <a:rPr lang="en-GB" dirty="0"/>
              <a:t>Operator Overloading Motivation</a:t>
            </a:r>
            <a:endParaRPr lang="en-PK" dirty="0"/>
          </a:p>
        </p:txBody>
      </p:sp>
      <p:sp>
        <p:nvSpPr>
          <p:cNvPr id="3" name="Content Placeholder 2">
            <a:extLst>
              <a:ext uri="{FF2B5EF4-FFF2-40B4-BE49-F238E27FC236}">
                <a16:creationId xmlns:a16="http://schemas.microsoft.com/office/drawing/2014/main" id="{0CB08D5A-2F1B-CE80-2AA8-E9F23B885330}"/>
              </a:ext>
            </a:extLst>
          </p:cNvPr>
          <p:cNvSpPr>
            <a:spLocks noGrp="1"/>
          </p:cNvSpPr>
          <p:nvPr>
            <p:ph idx="1"/>
          </p:nvPr>
        </p:nvSpPr>
        <p:spPr/>
        <p:txBody>
          <a:bodyPr>
            <a:normAutofit lnSpcReduction="10000"/>
          </a:bodyPr>
          <a:lstStyle/>
          <a:p>
            <a:r>
              <a:rPr lang="en-US" sz="2800" b="1" u="sng" dirty="0">
                <a:solidFill>
                  <a:srgbClr val="FF0000"/>
                </a:solidFill>
                <a:latin typeface="Calibri" panose="020F0502020204030204" pitchFamily="34" charset="0"/>
              </a:rPr>
              <a:t>Don’t</a:t>
            </a:r>
            <a:r>
              <a:rPr lang="en-US" sz="2800" u="sng" dirty="0">
                <a:solidFill>
                  <a:srgbClr val="FF0000"/>
                </a:solidFill>
                <a:latin typeface="Calibri" panose="020F0502020204030204" pitchFamily="34" charset="0"/>
              </a:rPr>
              <a:t> </a:t>
            </a:r>
            <a:r>
              <a:rPr lang="en-US" sz="2800" b="1" u="sng" dirty="0">
                <a:solidFill>
                  <a:srgbClr val="FF0000"/>
                </a:solidFill>
                <a:latin typeface="Calibri" panose="020F0502020204030204" pitchFamily="34" charset="0"/>
              </a:rPr>
              <a:t>want to create new operators</a:t>
            </a:r>
            <a:r>
              <a:rPr lang="en-US" sz="2800" u="sng" dirty="0">
                <a:solidFill>
                  <a:srgbClr val="FF0000"/>
                </a:solidFill>
                <a:latin typeface="Calibri" panose="020F0502020204030204" pitchFamily="34" charset="0"/>
              </a:rPr>
              <a:t> </a:t>
            </a:r>
            <a:r>
              <a:rPr lang="en-US" sz="2800" dirty="0">
                <a:latin typeface="Calibri" panose="020F0502020204030204" pitchFamily="34" charset="0"/>
              </a:rPr>
              <a:t>for </a:t>
            </a:r>
            <a:r>
              <a:rPr lang="en-US" sz="2800" b="1" dirty="0">
                <a:solidFill>
                  <a:srgbClr val="2C14DE"/>
                </a:solidFill>
                <a:latin typeface="Calibri" panose="020F0502020204030204" pitchFamily="34" charset="0"/>
              </a:rPr>
              <a:t>user-defined data types</a:t>
            </a:r>
          </a:p>
          <a:p>
            <a:r>
              <a:rPr lang="en-US" sz="2800" b="1" dirty="0">
                <a:latin typeface="Calibri" panose="020F0502020204030204" pitchFamily="34" charset="0"/>
              </a:rPr>
              <a:t>Conclusively, O</a:t>
            </a:r>
            <a:r>
              <a:rPr lang="en-US" sz="2800" b="1" noProof="1">
                <a:latin typeface="Calibri" panose="020F0502020204030204" pitchFamily="34" charset="0"/>
              </a:rPr>
              <a:t>perator overloading:</a:t>
            </a:r>
            <a:endParaRPr lang="en-US" sz="2800" b="1" dirty="0">
              <a:latin typeface="Calibri" panose="020F0502020204030204" pitchFamily="34" charset="0"/>
            </a:endParaRPr>
          </a:p>
          <a:p>
            <a:pPr lvl="1" algn="just"/>
            <a:r>
              <a:rPr lang="en-US" dirty="0">
                <a:latin typeface="Calibri" panose="020F0502020204030204" pitchFamily="34" charset="0"/>
              </a:rPr>
              <a:t> </a:t>
            </a:r>
            <a:r>
              <a:rPr lang="en-US" b="1" dirty="0">
                <a:solidFill>
                  <a:srgbClr val="2C14DE"/>
                </a:solidFill>
                <a:latin typeface="Calibri" panose="020F0502020204030204" pitchFamily="34" charset="0"/>
              </a:rPr>
              <a:t>Enabling</a:t>
            </a:r>
            <a:r>
              <a:rPr lang="en-US" dirty="0">
                <a:solidFill>
                  <a:srgbClr val="2C14DE"/>
                </a:solidFill>
                <a:latin typeface="Calibri" panose="020F0502020204030204" pitchFamily="34" charset="0"/>
              </a:rPr>
              <a:t> </a:t>
            </a:r>
            <a:r>
              <a:rPr lang="en-US" dirty="0">
                <a:latin typeface="Calibri" panose="020F0502020204030204" pitchFamily="34" charset="0"/>
              </a:rPr>
              <a:t>C++’s </a:t>
            </a:r>
            <a:r>
              <a:rPr lang="en-US" b="1" dirty="0">
                <a:solidFill>
                  <a:srgbClr val="2C14DE"/>
                </a:solidFill>
                <a:latin typeface="Calibri" panose="020F0502020204030204" pitchFamily="34" charset="0"/>
              </a:rPr>
              <a:t>operators</a:t>
            </a:r>
            <a:r>
              <a:rPr lang="en-US" dirty="0">
                <a:solidFill>
                  <a:srgbClr val="2C14DE"/>
                </a:solidFill>
                <a:latin typeface="Calibri" panose="020F0502020204030204" pitchFamily="34" charset="0"/>
              </a:rPr>
              <a:t> </a:t>
            </a:r>
            <a:r>
              <a:rPr lang="en-US" dirty="0">
                <a:latin typeface="Calibri" panose="020F0502020204030204" pitchFamily="34" charset="0"/>
              </a:rPr>
              <a:t>to </a:t>
            </a:r>
            <a:r>
              <a:rPr lang="en-US" b="1" dirty="0">
                <a:solidFill>
                  <a:srgbClr val="2C14DE"/>
                </a:solidFill>
                <a:latin typeface="Calibri" panose="020F0502020204030204" pitchFamily="34" charset="0"/>
              </a:rPr>
              <a:t>work</a:t>
            </a:r>
            <a:r>
              <a:rPr lang="en-US" dirty="0">
                <a:solidFill>
                  <a:srgbClr val="2C14DE"/>
                </a:solidFill>
                <a:latin typeface="Calibri" panose="020F0502020204030204" pitchFamily="34" charset="0"/>
              </a:rPr>
              <a:t> </a:t>
            </a:r>
            <a:r>
              <a:rPr lang="en-US" dirty="0">
                <a:latin typeface="Calibri" panose="020F0502020204030204" pitchFamily="34" charset="0"/>
              </a:rPr>
              <a:t>with </a:t>
            </a:r>
            <a:r>
              <a:rPr lang="en-US" b="1" dirty="0">
                <a:solidFill>
                  <a:srgbClr val="2C14DE"/>
                </a:solidFill>
                <a:latin typeface="Calibri" panose="020F0502020204030204" pitchFamily="34" charset="0"/>
              </a:rPr>
              <a:t>class objects</a:t>
            </a:r>
          </a:p>
          <a:p>
            <a:pPr lvl="1" algn="just"/>
            <a:r>
              <a:rPr lang="en-US" dirty="0">
                <a:latin typeface="Calibri" panose="020F0502020204030204" pitchFamily="34" charset="0"/>
              </a:rPr>
              <a:t> </a:t>
            </a:r>
            <a:r>
              <a:rPr lang="en-US" b="1" dirty="0">
                <a:latin typeface="Calibri" panose="020F0502020204030204" pitchFamily="34" charset="0"/>
              </a:rPr>
              <a:t>Using</a:t>
            </a:r>
            <a:r>
              <a:rPr lang="en-US" dirty="0">
                <a:latin typeface="Calibri" panose="020F0502020204030204" pitchFamily="34" charset="0"/>
              </a:rPr>
              <a:t> </a:t>
            </a:r>
            <a:r>
              <a:rPr lang="en-US" b="1" dirty="0">
                <a:solidFill>
                  <a:srgbClr val="2C14DE"/>
                </a:solidFill>
                <a:latin typeface="Calibri" panose="020F0502020204030204" pitchFamily="34" charset="0"/>
              </a:rPr>
              <a:t>traditional operators</a:t>
            </a:r>
            <a:r>
              <a:rPr lang="en-US" dirty="0">
                <a:solidFill>
                  <a:srgbClr val="2C14DE"/>
                </a:solidFill>
                <a:latin typeface="Calibri" panose="020F0502020204030204" pitchFamily="34" charset="0"/>
              </a:rPr>
              <a:t> </a:t>
            </a:r>
            <a:r>
              <a:rPr lang="en-US" dirty="0">
                <a:latin typeface="Calibri" panose="020F0502020204030204" pitchFamily="34" charset="0"/>
              </a:rPr>
              <a:t>with </a:t>
            </a:r>
            <a:r>
              <a:rPr lang="en-US" b="1" dirty="0">
                <a:solidFill>
                  <a:srgbClr val="2C14DE"/>
                </a:solidFill>
                <a:latin typeface="Calibri" panose="020F0502020204030204" pitchFamily="34" charset="0"/>
              </a:rPr>
              <a:t>user-defined objects</a:t>
            </a:r>
          </a:p>
          <a:p>
            <a:pPr lvl="1" algn="just"/>
            <a:r>
              <a:rPr lang="en-US" dirty="0">
                <a:latin typeface="Calibri" panose="020F0502020204030204" pitchFamily="34" charset="0"/>
              </a:rPr>
              <a:t> </a:t>
            </a:r>
            <a:r>
              <a:rPr lang="en-US" b="1" dirty="0">
                <a:solidFill>
                  <a:srgbClr val="FF0000"/>
                </a:solidFill>
                <a:latin typeface="Calibri" panose="020F0502020204030204" pitchFamily="34" charset="0"/>
              </a:rPr>
              <a:t>R</a:t>
            </a:r>
            <a:r>
              <a:rPr lang="en-US" b="1" noProof="1">
                <a:solidFill>
                  <a:srgbClr val="FF0000"/>
                </a:solidFill>
                <a:latin typeface="Calibri" panose="020F0502020204030204" pitchFamily="34" charset="0"/>
              </a:rPr>
              <a:t>equires great care</a:t>
            </a:r>
            <a:r>
              <a:rPr lang="en-US" dirty="0">
                <a:latin typeface="Calibri" panose="020F0502020204030204" pitchFamily="34" charset="0"/>
              </a:rPr>
              <a:t>; </a:t>
            </a:r>
            <a:r>
              <a:rPr lang="en-US" b="1" noProof="1">
                <a:latin typeface="Calibri" panose="020F0502020204030204" pitchFamily="34" charset="0"/>
              </a:rPr>
              <a:t>when</a:t>
            </a:r>
            <a:r>
              <a:rPr lang="en-US" noProof="1">
                <a:latin typeface="Calibri" panose="020F0502020204030204" pitchFamily="34" charset="0"/>
              </a:rPr>
              <a:t> </a:t>
            </a:r>
            <a:r>
              <a:rPr lang="en-US" b="1" u="sng" noProof="1">
                <a:solidFill>
                  <a:srgbClr val="FF0000"/>
                </a:solidFill>
                <a:latin typeface="Calibri" panose="020F0502020204030204" pitchFamily="34" charset="0"/>
              </a:rPr>
              <a:t>overloading </a:t>
            </a:r>
            <a:r>
              <a:rPr lang="en-US" b="1" u="sng" dirty="0">
                <a:solidFill>
                  <a:srgbClr val="FF0000"/>
                </a:solidFill>
                <a:latin typeface="Calibri" panose="020F0502020204030204" pitchFamily="34" charset="0"/>
              </a:rPr>
              <a:t>is </a:t>
            </a:r>
            <a:r>
              <a:rPr lang="en-US" b="1" u="sng" noProof="1">
                <a:solidFill>
                  <a:srgbClr val="FF0000"/>
                </a:solidFill>
                <a:latin typeface="Calibri" panose="020F0502020204030204" pitchFamily="34" charset="0"/>
              </a:rPr>
              <a:t>misused,  program difficult to understand</a:t>
            </a:r>
            <a:endParaRPr lang="en-US" b="1" u="sng" dirty="0">
              <a:solidFill>
                <a:srgbClr val="FF0000"/>
              </a:solidFill>
              <a:latin typeface="Calibri" panose="020F0502020204030204" pitchFamily="34" charset="0"/>
            </a:endParaRPr>
          </a:p>
          <a:p>
            <a:pPr lvl="1"/>
            <a:endParaRPr lang="en-US" dirty="0">
              <a:latin typeface="Calibri" panose="020F0502020204030204" pitchFamily="34" charset="0"/>
            </a:endParaRPr>
          </a:p>
          <a:p>
            <a:pPr lvl="1"/>
            <a:r>
              <a:rPr lang="en-US" dirty="0">
                <a:latin typeface="Calibri" panose="020F0502020204030204" pitchFamily="34" charset="0"/>
              </a:rPr>
              <a:t> Examples of </a:t>
            </a:r>
            <a:r>
              <a:rPr lang="en-US" b="1" dirty="0">
                <a:solidFill>
                  <a:srgbClr val="B80000"/>
                </a:solidFill>
                <a:latin typeface="Calibri" panose="020F0502020204030204" pitchFamily="34" charset="0"/>
              </a:rPr>
              <a:t>already overloaded operators</a:t>
            </a:r>
            <a:r>
              <a:rPr lang="en-US" dirty="0">
                <a:latin typeface="Calibri" panose="020F0502020204030204" pitchFamily="34" charset="0"/>
              </a:rPr>
              <a:t>:</a:t>
            </a:r>
          </a:p>
          <a:p>
            <a:pPr lvl="2" algn="just"/>
            <a:r>
              <a:rPr lang="en-US" sz="2800" dirty="0">
                <a:latin typeface="Calibri" panose="020F0502020204030204" pitchFamily="34" charset="0"/>
              </a:rPr>
              <a:t> Operator </a:t>
            </a:r>
            <a:r>
              <a:rPr lang="en-US" sz="2800" b="1" dirty="0">
                <a:solidFill>
                  <a:srgbClr val="B80000"/>
                </a:solidFill>
                <a:latin typeface="Calibri" panose="020F0502020204030204" pitchFamily="34" charset="0"/>
              </a:rPr>
              <a:t>&lt;&lt;</a:t>
            </a:r>
            <a:r>
              <a:rPr lang="en-US" sz="2800" dirty="0">
                <a:solidFill>
                  <a:srgbClr val="B80000"/>
                </a:solidFill>
                <a:latin typeface="Calibri" panose="020F0502020204030204" pitchFamily="34" charset="0"/>
              </a:rPr>
              <a:t> </a:t>
            </a:r>
            <a:r>
              <a:rPr lang="en-US" sz="2800" dirty="0">
                <a:latin typeface="Calibri" panose="020F0502020204030204" pitchFamily="34" charset="0"/>
              </a:rPr>
              <a:t>is both the </a:t>
            </a:r>
            <a:r>
              <a:rPr lang="en-US" sz="2800" b="1" dirty="0">
                <a:solidFill>
                  <a:srgbClr val="2C14DE"/>
                </a:solidFill>
                <a:latin typeface="Calibri" panose="020F0502020204030204" pitchFamily="34" charset="0"/>
              </a:rPr>
              <a:t>stream-insertion</a:t>
            </a:r>
            <a:r>
              <a:rPr lang="en-US" sz="2800" dirty="0">
                <a:latin typeface="Calibri" panose="020F0502020204030204" pitchFamily="34" charset="0"/>
              </a:rPr>
              <a:t> operator and the </a:t>
            </a:r>
            <a:r>
              <a:rPr lang="en-US" sz="2800" b="1" dirty="0">
                <a:solidFill>
                  <a:srgbClr val="2C14DE"/>
                </a:solidFill>
                <a:latin typeface="Calibri" panose="020F0502020204030204" pitchFamily="34" charset="0"/>
              </a:rPr>
              <a:t>bitwise left-shift operator</a:t>
            </a:r>
          </a:p>
        </p:txBody>
      </p:sp>
      <p:sp>
        <p:nvSpPr>
          <p:cNvPr id="4" name="Footer Placeholder 3">
            <a:extLst>
              <a:ext uri="{FF2B5EF4-FFF2-40B4-BE49-F238E27FC236}">
                <a16:creationId xmlns:a16="http://schemas.microsoft.com/office/drawing/2014/main" id="{9AF7152F-5091-E473-B006-F6E433B7177C}"/>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0D6C0356-292D-F5C5-A126-C92C3B2B5080}"/>
              </a:ext>
            </a:extLst>
          </p:cNvPr>
          <p:cNvSpPr>
            <a:spLocks noGrp="1"/>
          </p:cNvSpPr>
          <p:nvPr>
            <p:ph type="sldNum" sz="quarter" idx="12"/>
          </p:nvPr>
        </p:nvSpPr>
        <p:spPr/>
        <p:txBody>
          <a:bodyPr/>
          <a:lstStyle/>
          <a:p>
            <a:fld id="{51845F5A-061D-4825-9AE9-D7794091C6CF}" type="slidenum">
              <a:rPr lang="en-US" smtClean="0"/>
              <a:t>6</a:t>
            </a:fld>
            <a:endParaRPr lang="en-US" dirty="0"/>
          </a:p>
        </p:txBody>
      </p:sp>
    </p:spTree>
    <p:extLst>
      <p:ext uri="{BB962C8B-B14F-4D97-AF65-F5344CB8AC3E}">
        <p14:creationId xmlns:p14="http://schemas.microsoft.com/office/powerpoint/2010/main" val="1281976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93FA3-7DD4-2491-3197-93F53BEB0B55}"/>
              </a:ext>
            </a:extLst>
          </p:cNvPr>
          <p:cNvSpPr>
            <a:spLocks noGrp="1"/>
          </p:cNvSpPr>
          <p:nvPr>
            <p:ph type="title"/>
          </p:nvPr>
        </p:nvSpPr>
        <p:spPr/>
        <p:txBody>
          <a:bodyPr/>
          <a:lstStyle/>
          <a:p>
            <a:r>
              <a:rPr lang="en-US" dirty="0"/>
              <a:t>How to Overload an Operator?</a:t>
            </a:r>
            <a:endParaRPr lang="en-PK" dirty="0"/>
          </a:p>
        </p:txBody>
      </p:sp>
      <p:sp>
        <p:nvSpPr>
          <p:cNvPr id="3" name="Content Placeholder 2">
            <a:extLst>
              <a:ext uri="{FF2B5EF4-FFF2-40B4-BE49-F238E27FC236}">
                <a16:creationId xmlns:a16="http://schemas.microsoft.com/office/drawing/2014/main" id="{6EC50C60-4A6D-91A0-C3DE-42E52F116C55}"/>
              </a:ext>
            </a:extLst>
          </p:cNvPr>
          <p:cNvSpPr>
            <a:spLocks noGrp="1"/>
          </p:cNvSpPr>
          <p:nvPr>
            <p:ph idx="1"/>
          </p:nvPr>
        </p:nvSpPr>
        <p:spPr/>
        <p:txBody>
          <a:bodyPr>
            <a:normAutofit fontScale="92500" lnSpcReduction="10000"/>
          </a:bodyPr>
          <a:lstStyle/>
          <a:p>
            <a:pPr algn="just"/>
            <a:r>
              <a:rPr lang="en-US" sz="2400" dirty="0">
                <a:solidFill>
                  <a:srgbClr val="B80000"/>
                </a:solidFill>
                <a:latin typeface="+mj-lt"/>
              </a:rPr>
              <a:t>An operator can be overloaded by declaring a special member function in the class</a:t>
            </a:r>
          </a:p>
          <a:p>
            <a:endParaRPr lang="en-US" sz="2400" dirty="0">
              <a:latin typeface="+mj-lt"/>
            </a:endParaRPr>
          </a:p>
          <a:p>
            <a:pPr algn="just"/>
            <a:r>
              <a:rPr lang="en-US" sz="2400" dirty="0">
                <a:solidFill>
                  <a:srgbClr val="C00000"/>
                </a:solidFill>
                <a:latin typeface="+mj-lt"/>
              </a:rPr>
              <a:t>Name</a:t>
            </a:r>
            <a:r>
              <a:rPr lang="en-US" sz="2400" dirty="0">
                <a:solidFill>
                  <a:srgbClr val="B80000"/>
                </a:solidFill>
                <a:latin typeface="+mj-lt"/>
              </a:rPr>
              <a:t> </a:t>
            </a:r>
            <a:r>
              <a:rPr lang="en-US" sz="2400" dirty="0">
                <a:latin typeface="+mj-lt"/>
              </a:rPr>
              <a:t>of the member</a:t>
            </a:r>
            <a:r>
              <a:rPr lang="en-US" sz="2400" dirty="0">
                <a:solidFill>
                  <a:srgbClr val="B80000"/>
                </a:solidFill>
                <a:latin typeface="+mj-lt"/>
              </a:rPr>
              <a:t> function </a:t>
            </a:r>
            <a:r>
              <a:rPr lang="en-US" sz="2400" dirty="0">
                <a:latin typeface="+mj-lt"/>
              </a:rPr>
              <a:t>is </a:t>
            </a:r>
            <a:r>
              <a:rPr lang="en-US" sz="2400" dirty="0">
                <a:solidFill>
                  <a:srgbClr val="008000"/>
                </a:solidFill>
                <a:latin typeface="+mj-lt"/>
              </a:rPr>
              <a:t>operator </a:t>
            </a:r>
            <a:r>
              <a:rPr lang="en-US" sz="2400" dirty="0">
                <a:latin typeface="+mj-lt"/>
              </a:rPr>
              <a:t>that is </a:t>
            </a:r>
            <a:r>
              <a:rPr lang="en-US" sz="2400" dirty="0">
                <a:solidFill>
                  <a:srgbClr val="2C14DE"/>
                </a:solidFill>
                <a:latin typeface="+mj-lt"/>
              </a:rPr>
              <a:t>followed by operator symbol </a:t>
            </a:r>
            <a:r>
              <a:rPr lang="en-US" sz="2400" dirty="0">
                <a:latin typeface="+mj-lt"/>
              </a:rPr>
              <a:t>e.g., operator+, operator/, etc.</a:t>
            </a:r>
          </a:p>
          <a:p>
            <a:pPr algn="just"/>
            <a:endParaRPr lang="en-US" sz="2400" dirty="0">
              <a:latin typeface="+mj-lt"/>
            </a:endParaRPr>
          </a:p>
          <a:p>
            <a:r>
              <a:rPr lang="en-US" sz="2400" dirty="0">
                <a:latin typeface="+mj-lt"/>
              </a:rPr>
              <a:t>Can be </a:t>
            </a:r>
            <a:r>
              <a:rPr lang="en-US" sz="2400" dirty="0">
                <a:solidFill>
                  <a:srgbClr val="2C14DE"/>
                </a:solidFill>
                <a:latin typeface="+mj-lt"/>
              </a:rPr>
              <a:t>independent function </a:t>
            </a:r>
            <a:r>
              <a:rPr lang="en-US" sz="2400" dirty="0">
                <a:latin typeface="+mj-lt"/>
              </a:rPr>
              <a:t>(except for the following operators: ( ), [ ], -&gt; or any of the assignment operators)</a:t>
            </a:r>
          </a:p>
          <a:p>
            <a:endParaRPr lang="en-US" sz="2400" dirty="0">
              <a:latin typeface="+mj-lt"/>
            </a:endParaRPr>
          </a:p>
          <a:p>
            <a:pPr algn="just"/>
            <a:r>
              <a:rPr lang="en-US" sz="2400" dirty="0">
                <a:latin typeface="+mj-lt"/>
              </a:rPr>
              <a:t>Can be a class’s </a:t>
            </a:r>
            <a:r>
              <a:rPr lang="en-US" sz="2400" dirty="0">
                <a:solidFill>
                  <a:srgbClr val="2C14DE"/>
                </a:solidFill>
                <a:latin typeface="+mj-lt"/>
              </a:rPr>
              <a:t>member function </a:t>
            </a:r>
            <a:r>
              <a:rPr lang="en-US" sz="2400" dirty="0">
                <a:latin typeface="+mj-lt"/>
              </a:rPr>
              <a:t>(</a:t>
            </a:r>
            <a:r>
              <a:rPr lang="en-US" sz="2400" dirty="0">
                <a:solidFill>
                  <a:srgbClr val="D20000"/>
                </a:solidFill>
                <a:latin typeface="+mj-lt"/>
              </a:rPr>
              <a:t>must be non-static</a:t>
            </a:r>
            <a:r>
              <a:rPr lang="en-US" sz="2400" dirty="0">
                <a:latin typeface="+mj-lt"/>
              </a:rPr>
              <a:t>)</a:t>
            </a:r>
          </a:p>
          <a:p>
            <a:endParaRPr lang="en-PK" sz="2400" dirty="0"/>
          </a:p>
        </p:txBody>
      </p:sp>
      <p:sp>
        <p:nvSpPr>
          <p:cNvPr id="4" name="Footer Placeholder 3">
            <a:extLst>
              <a:ext uri="{FF2B5EF4-FFF2-40B4-BE49-F238E27FC236}">
                <a16:creationId xmlns:a16="http://schemas.microsoft.com/office/drawing/2014/main" id="{5ABE1852-BFC9-9858-CCF2-143DA286D59E}"/>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F9E45F7D-EDCE-FF12-8612-5CFEFD16A6D1}"/>
              </a:ext>
            </a:extLst>
          </p:cNvPr>
          <p:cNvSpPr>
            <a:spLocks noGrp="1"/>
          </p:cNvSpPr>
          <p:nvPr>
            <p:ph type="sldNum" sz="quarter" idx="12"/>
          </p:nvPr>
        </p:nvSpPr>
        <p:spPr/>
        <p:txBody>
          <a:bodyPr/>
          <a:lstStyle/>
          <a:p>
            <a:fld id="{51845F5A-061D-4825-9AE9-D7794091C6CF}" type="slidenum">
              <a:rPr lang="en-US" smtClean="0"/>
              <a:t>7</a:t>
            </a:fld>
            <a:endParaRPr lang="en-US" dirty="0"/>
          </a:p>
        </p:txBody>
      </p:sp>
    </p:spTree>
    <p:extLst>
      <p:ext uri="{BB962C8B-B14F-4D97-AF65-F5344CB8AC3E}">
        <p14:creationId xmlns:p14="http://schemas.microsoft.com/office/powerpoint/2010/main" val="834935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5D998-BE02-709F-F73D-2CCD9B9B10AC}"/>
              </a:ext>
            </a:extLst>
          </p:cNvPr>
          <p:cNvSpPr>
            <a:spLocks noGrp="1"/>
          </p:cNvSpPr>
          <p:nvPr>
            <p:ph type="title"/>
          </p:nvPr>
        </p:nvSpPr>
        <p:spPr/>
        <p:txBody>
          <a:bodyPr/>
          <a:lstStyle/>
          <a:p>
            <a:r>
              <a:rPr lang="en-US" dirty="0"/>
              <a:t>How to Overload an Operator?</a:t>
            </a:r>
            <a:endParaRPr lang="en-PK" dirty="0"/>
          </a:p>
        </p:txBody>
      </p:sp>
      <p:sp>
        <p:nvSpPr>
          <p:cNvPr id="3" name="Content Placeholder 2">
            <a:extLst>
              <a:ext uri="{FF2B5EF4-FFF2-40B4-BE49-F238E27FC236}">
                <a16:creationId xmlns:a16="http://schemas.microsoft.com/office/drawing/2014/main" id="{A8575478-0DA7-6364-753C-E2CD66C6988A}"/>
              </a:ext>
            </a:extLst>
          </p:cNvPr>
          <p:cNvSpPr>
            <a:spLocks noGrp="1"/>
          </p:cNvSpPr>
          <p:nvPr>
            <p:ph idx="1"/>
          </p:nvPr>
        </p:nvSpPr>
        <p:spPr/>
        <p:txBody>
          <a:bodyPr>
            <a:normAutofit/>
          </a:bodyPr>
          <a:lstStyle/>
          <a:p>
            <a:pPr algn="just" fontAlgn="base"/>
            <a:r>
              <a:rPr lang="en-US" sz="2400" b="1" dirty="0">
                <a:solidFill>
                  <a:srgbClr val="D20000"/>
                </a:solidFill>
              </a:rPr>
              <a:t>Member function</a:t>
            </a:r>
            <a:r>
              <a:rPr lang="en-US" sz="2400" b="1" dirty="0"/>
              <a:t>:</a:t>
            </a:r>
            <a:r>
              <a:rPr lang="en-US" sz="2400" dirty="0"/>
              <a:t> If the </a:t>
            </a:r>
            <a:r>
              <a:rPr lang="en-US" sz="2400" b="1" dirty="0">
                <a:solidFill>
                  <a:srgbClr val="2C14DE"/>
                </a:solidFill>
              </a:rPr>
              <a:t>left operand </a:t>
            </a:r>
            <a:r>
              <a:rPr lang="en-US" sz="2400" dirty="0"/>
              <a:t>of that </a:t>
            </a:r>
            <a:r>
              <a:rPr lang="en-US" sz="2400" b="1" dirty="0"/>
              <a:t>particular class</a:t>
            </a:r>
            <a:r>
              <a:rPr lang="en-US" sz="2400" dirty="0"/>
              <a:t> is an </a:t>
            </a:r>
            <a:r>
              <a:rPr lang="en-US" sz="2400" b="1" dirty="0">
                <a:solidFill>
                  <a:srgbClr val="2C14DE"/>
                </a:solidFill>
              </a:rPr>
              <a:t>object of the same class</a:t>
            </a:r>
            <a:r>
              <a:rPr lang="en-US" sz="2400" dirty="0"/>
              <a:t>, then the </a:t>
            </a:r>
            <a:r>
              <a:rPr lang="en-US" sz="2400" b="1" dirty="0"/>
              <a:t>overloaded operator </a:t>
            </a:r>
            <a:r>
              <a:rPr lang="en-US" sz="2400" dirty="0"/>
              <a:t>is said to be </a:t>
            </a:r>
            <a:r>
              <a:rPr lang="en-US" sz="2400" b="1" u="sng" dirty="0"/>
              <a:t>i</a:t>
            </a:r>
            <a:r>
              <a:rPr lang="en-US" sz="2400" b="1" u="sng" dirty="0">
                <a:solidFill>
                  <a:srgbClr val="2C14DE"/>
                </a:solidFill>
              </a:rPr>
              <a:t>mplemented by a member function</a:t>
            </a:r>
            <a:r>
              <a:rPr lang="en-US" sz="2400" dirty="0"/>
              <a:t>.</a:t>
            </a:r>
          </a:p>
          <a:p>
            <a:pPr fontAlgn="base"/>
            <a:endParaRPr lang="en-US" sz="2400" dirty="0"/>
          </a:p>
          <a:p>
            <a:pPr algn="just" fontAlgn="base"/>
            <a:r>
              <a:rPr lang="en-US" sz="2400" b="1" dirty="0">
                <a:solidFill>
                  <a:srgbClr val="D20000"/>
                </a:solidFill>
              </a:rPr>
              <a:t>Non-member function</a:t>
            </a:r>
            <a:r>
              <a:rPr lang="en-US" sz="2400" b="1" dirty="0"/>
              <a:t>:</a:t>
            </a:r>
            <a:r>
              <a:rPr lang="en-US" sz="2400" dirty="0"/>
              <a:t> If the </a:t>
            </a:r>
            <a:r>
              <a:rPr lang="en-US" sz="2400" b="1" dirty="0">
                <a:solidFill>
                  <a:srgbClr val="2C14DE"/>
                </a:solidFill>
              </a:rPr>
              <a:t>left operand of that particular class</a:t>
            </a:r>
            <a:r>
              <a:rPr lang="en-US" sz="2400" dirty="0"/>
              <a:t> is </a:t>
            </a:r>
            <a:r>
              <a:rPr lang="en-US" sz="2400" b="1" dirty="0"/>
              <a:t>an </a:t>
            </a:r>
            <a:r>
              <a:rPr lang="en-US" sz="2400" b="1" dirty="0">
                <a:solidFill>
                  <a:srgbClr val="2C14DE"/>
                </a:solidFill>
              </a:rPr>
              <a:t>object of a different class</a:t>
            </a:r>
            <a:r>
              <a:rPr lang="en-US" sz="2400" dirty="0"/>
              <a:t>, then the </a:t>
            </a:r>
            <a:r>
              <a:rPr lang="en-US" sz="2400" b="1" dirty="0"/>
              <a:t>overloaded operator </a:t>
            </a:r>
            <a:r>
              <a:rPr lang="en-US" sz="2400" dirty="0"/>
              <a:t>is said to be </a:t>
            </a:r>
            <a:r>
              <a:rPr lang="en-US" sz="2400" b="1" u="sng" dirty="0"/>
              <a:t>implemented by a non-member function</a:t>
            </a:r>
          </a:p>
        </p:txBody>
      </p:sp>
      <p:sp>
        <p:nvSpPr>
          <p:cNvPr id="4" name="Footer Placeholder 3">
            <a:extLst>
              <a:ext uri="{FF2B5EF4-FFF2-40B4-BE49-F238E27FC236}">
                <a16:creationId xmlns:a16="http://schemas.microsoft.com/office/drawing/2014/main" id="{53A9A382-29CF-DCB9-5954-EB3C8D32F994}"/>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58B9B87B-F5BB-6EFF-7EAB-4CE851601458}"/>
              </a:ext>
            </a:extLst>
          </p:cNvPr>
          <p:cNvSpPr>
            <a:spLocks noGrp="1"/>
          </p:cNvSpPr>
          <p:nvPr>
            <p:ph type="sldNum" sz="quarter" idx="12"/>
          </p:nvPr>
        </p:nvSpPr>
        <p:spPr/>
        <p:txBody>
          <a:bodyPr/>
          <a:lstStyle/>
          <a:p>
            <a:fld id="{51845F5A-061D-4825-9AE9-D7794091C6CF}" type="slidenum">
              <a:rPr lang="en-US" smtClean="0"/>
              <a:t>8</a:t>
            </a:fld>
            <a:endParaRPr lang="en-US" dirty="0"/>
          </a:p>
        </p:txBody>
      </p:sp>
    </p:spTree>
    <p:extLst>
      <p:ext uri="{BB962C8B-B14F-4D97-AF65-F5344CB8AC3E}">
        <p14:creationId xmlns:p14="http://schemas.microsoft.com/office/powerpoint/2010/main" val="806382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C1600-45AE-7946-E3D6-675E2806F7E9}"/>
              </a:ext>
            </a:extLst>
          </p:cNvPr>
          <p:cNvSpPr>
            <a:spLocks noGrp="1"/>
          </p:cNvSpPr>
          <p:nvPr>
            <p:ph type="title"/>
          </p:nvPr>
        </p:nvSpPr>
        <p:spPr/>
        <p:txBody>
          <a:bodyPr/>
          <a:lstStyle/>
          <a:p>
            <a:r>
              <a:rPr lang="en-US" dirty="0"/>
              <a:t>Overload as Member or Non-Member Function</a:t>
            </a:r>
            <a:endParaRPr lang="en-PK" dirty="0"/>
          </a:p>
        </p:txBody>
      </p:sp>
      <p:sp>
        <p:nvSpPr>
          <p:cNvPr id="3" name="Content Placeholder 2">
            <a:extLst>
              <a:ext uri="{FF2B5EF4-FFF2-40B4-BE49-F238E27FC236}">
                <a16:creationId xmlns:a16="http://schemas.microsoft.com/office/drawing/2014/main" id="{5184B1EE-4C97-6649-A2C7-B676FA235D1C}"/>
              </a:ext>
            </a:extLst>
          </p:cNvPr>
          <p:cNvSpPr>
            <a:spLocks noGrp="1"/>
          </p:cNvSpPr>
          <p:nvPr>
            <p:ph idx="1"/>
          </p:nvPr>
        </p:nvSpPr>
        <p:spPr/>
        <p:txBody>
          <a:bodyPr>
            <a:normAutofit/>
          </a:bodyPr>
          <a:lstStyle/>
          <a:p>
            <a:pPr algn="just" fontAlgn="base"/>
            <a:r>
              <a:rPr lang="en-US" sz="2400" dirty="0"/>
              <a:t>If it is a </a:t>
            </a:r>
            <a:r>
              <a:rPr lang="en-US" sz="2400" b="1" i="1" dirty="0">
                <a:solidFill>
                  <a:srgbClr val="D20000"/>
                </a:solidFill>
              </a:rPr>
              <a:t>unary operator</a:t>
            </a:r>
            <a:r>
              <a:rPr lang="en-US" sz="2400" dirty="0"/>
              <a:t>, implement it as a </a:t>
            </a:r>
            <a:r>
              <a:rPr lang="en-US" sz="2400" b="1" i="1" dirty="0">
                <a:solidFill>
                  <a:srgbClr val="2C14DE"/>
                </a:solidFill>
              </a:rPr>
              <a:t>member</a:t>
            </a:r>
            <a:r>
              <a:rPr lang="en-US" sz="2400" b="1" dirty="0">
                <a:solidFill>
                  <a:srgbClr val="2C14DE"/>
                </a:solidFill>
              </a:rPr>
              <a:t> function</a:t>
            </a:r>
            <a:r>
              <a:rPr lang="en-US" sz="2400" dirty="0"/>
              <a:t>.</a:t>
            </a:r>
          </a:p>
          <a:p>
            <a:pPr algn="just" fontAlgn="base"/>
            <a:endParaRPr lang="en-US" sz="2400" dirty="0"/>
          </a:p>
          <a:p>
            <a:pPr algn="just" fontAlgn="base"/>
            <a:r>
              <a:rPr lang="en-US" sz="2400" dirty="0"/>
              <a:t>If a </a:t>
            </a:r>
            <a:r>
              <a:rPr lang="en-US" sz="2400" b="1" dirty="0">
                <a:solidFill>
                  <a:srgbClr val="C00000"/>
                </a:solidFill>
              </a:rPr>
              <a:t>binary operator </a:t>
            </a:r>
            <a:r>
              <a:rPr lang="en-US" sz="2400" b="1" dirty="0"/>
              <a:t>treats</a:t>
            </a:r>
            <a:r>
              <a:rPr lang="en-US" sz="2400" dirty="0"/>
              <a:t> </a:t>
            </a:r>
            <a:r>
              <a:rPr lang="en-US" sz="2400" b="1" i="1" dirty="0">
                <a:solidFill>
                  <a:srgbClr val="2C14DE"/>
                </a:solidFill>
              </a:rPr>
              <a:t>both operands equally</a:t>
            </a:r>
            <a:r>
              <a:rPr lang="en-US" sz="2400" dirty="0"/>
              <a:t> (it leaves them unchanged), implement this operator as a </a:t>
            </a:r>
            <a:r>
              <a:rPr lang="en-US" sz="2400" b="1" i="1" dirty="0">
                <a:solidFill>
                  <a:srgbClr val="2C14DE"/>
                </a:solidFill>
              </a:rPr>
              <a:t>non-member</a:t>
            </a:r>
            <a:r>
              <a:rPr lang="en-US" sz="2400" b="1" dirty="0">
                <a:solidFill>
                  <a:srgbClr val="2C14DE"/>
                </a:solidFill>
              </a:rPr>
              <a:t> function</a:t>
            </a:r>
            <a:r>
              <a:rPr lang="en-US" sz="2400" dirty="0"/>
              <a:t>.</a:t>
            </a:r>
          </a:p>
          <a:p>
            <a:pPr algn="just" fontAlgn="base"/>
            <a:endParaRPr lang="en-US" sz="2400" dirty="0"/>
          </a:p>
          <a:p>
            <a:pPr algn="just" fontAlgn="base"/>
            <a:r>
              <a:rPr lang="en-US" sz="2400" dirty="0"/>
              <a:t>If </a:t>
            </a:r>
            <a:r>
              <a:rPr lang="en-US" sz="2400" b="1" dirty="0">
                <a:solidFill>
                  <a:srgbClr val="C00000"/>
                </a:solidFill>
              </a:rPr>
              <a:t>a binary operator </a:t>
            </a:r>
            <a:r>
              <a:rPr lang="en-US" sz="2400" b="1" dirty="0">
                <a:solidFill>
                  <a:srgbClr val="2C14DE"/>
                </a:solidFill>
              </a:rPr>
              <a:t>does </a:t>
            </a:r>
            <a:r>
              <a:rPr lang="en-US" sz="2400" b="1" i="1" dirty="0">
                <a:solidFill>
                  <a:srgbClr val="2C14DE"/>
                </a:solidFill>
              </a:rPr>
              <a:t>not</a:t>
            </a:r>
            <a:r>
              <a:rPr lang="en-US" sz="2400" b="1" dirty="0">
                <a:solidFill>
                  <a:srgbClr val="2C14DE"/>
                </a:solidFill>
              </a:rPr>
              <a:t> treat both </a:t>
            </a:r>
            <a:r>
              <a:rPr lang="en-US" sz="2400" dirty="0"/>
              <a:t>of its operands </a:t>
            </a:r>
            <a:r>
              <a:rPr lang="en-US" sz="2400" b="1" i="1" dirty="0">
                <a:solidFill>
                  <a:srgbClr val="2C14DE"/>
                </a:solidFill>
              </a:rPr>
              <a:t>equally</a:t>
            </a:r>
            <a:r>
              <a:rPr lang="en-US" sz="2400" dirty="0"/>
              <a:t> (usually it will change its left operand), it might be useful to make it a </a:t>
            </a:r>
            <a:r>
              <a:rPr lang="en-US" sz="2400" b="1" i="1" dirty="0">
                <a:solidFill>
                  <a:srgbClr val="2C14DE"/>
                </a:solidFill>
              </a:rPr>
              <a:t>member</a:t>
            </a:r>
            <a:r>
              <a:rPr lang="en-US" sz="2400" b="1" dirty="0">
                <a:solidFill>
                  <a:srgbClr val="2C14DE"/>
                </a:solidFill>
              </a:rPr>
              <a:t> function of its left operand’s type</a:t>
            </a:r>
            <a:endParaRPr lang="en-US" sz="2400" dirty="0">
              <a:latin typeface="+mj-lt"/>
            </a:endParaRPr>
          </a:p>
        </p:txBody>
      </p:sp>
      <p:sp>
        <p:nvSpPr>
          <p:cNvPr id="4" name="Footer Placeholder 3">
            <a:extLst>
              <a:ext uri="{FF2B5EF4-FFF2-40B4-BE49-F238E27FC236}">
                <a16:creationId xmlns:a16="http://schemas.microsoft.com/office/drawing/2014/main" id="{B146BC86-47EA-F5B6-9E09-3DE08D83131A}"/>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ADE8CDED-01E8-AB8F-9A5B-3ED40B2BADB7}"/>
              </a:ext>
            </a:extLst>
          </p:cNvPr>
          <p:cNvSpPr>
            <a:spLocks noGrp="1"/>
          </p:cNvSpPr>
          <p:nvPr>
            <p:ph type="sldNum" sz="quarter" idx="12"/>
          </p:nvPr>
        </p:nvSpPr>
        <p:spPr/>
        <p:txBody>
          <a:bodyPr/>
          <a:lstStyle/>
          <a:p>
            <a:fld id="{51845F5A-061D-4825-9AE9-D7794091C6CF}" type="slidenum">
              <a:rPr lang="en-US" smtClean="0"/>
              <a:t>9</a:t>
            </a:fld>
            <a:endParaRPr lang="en-US" dirty="0"/>
          </a:p>
        </p:txBody>
      </p:sp>
    </p:spTree>
    <p:extLst>
      <p:ext uri="{BB962C8B-B14F-4D97-AF65-F5344CB8AC3E}">
        <p14:creationId xmlns:p14="http://schemas.microsoft.com/office/powerpoint/2010/main" val="232084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DE858-FEC5-2DB2-BAA8-47FB8457F222}"/>
              </a:ext>
            </a:extLst>
          </p:cNvPr>
          <p:cNvSpPr>
            <a:spLocks noGrp="1"/>
          </p:cNvSpPr>
          <p:nvPr>
            <p:ph type="title"/>
          </p:nvPr>
        </p:nvSpPr>
        <p:spPr/>
        <p:txBody>
          <a:bodyPr/>
          <a:lstStyle/>
          <a:p>
            <a:r>
              <a:rPr lang="en-US" dirty="0"/>
              <a:t>Syntax to Overload an Operator </a:t>
            </a:r>
            <a:endParaRPr lang="en-PK" dirty="0"/>
          </a:p>
        </p:txBody>
      </p:sp>
      <p:sp>
        <p:nvSpPr>
          <p:cNvPr id="3" name="Content Placeholder 2">
            <a:extLst>
              <a:ext uri="{FF2B5EF4-FFF2-40B4-BE49-F238E27FC236}">
                <a16:creationId xmlns:a16="http://schemas.microsoft.com/office/drawing/2014/main" id="{2304326B-2B0F-C69E-1F77-973F93D4CB96}"/>
              </a:ext>
            </a:extLst>
          </p:cNvPr>
          <p:cNvSpPr>
            <a:spLocks noGrp="1"/>
          </p:cNvSpPr>
          <p:nvPr>
            <p:ph idx="1"/>
          </p:nvPr>
        </p:nvSpPr>
        <p:spPr/>
        <p:txBody>
          <a:bodyPr>
            <a:normAutofit fontScale="70000" lnSpcReduction="20000"/>
          </a:bodyPr>
          <a:lstStyle/>
          <a:p>
            <a:pPr marL="0" indent="0">
              <a:buNone/>
            </a:pPr>
            <a:r>
              <a:rPr lang="en-US" dirty="0" err="1">
                <a:latin typeface="Consolas" panose="020B0609020204030204" pitchFamily="49" charset="0"/>
              </a:rPr>
              <a:t>returnType</a:t>
            </a:r>
            <a:r>
              <a:rPr lang="en-US" dirty="0">
                <a:latin typeface="Consolas" panose="020B0609020204030204" pitchFamily="49" charset="0"/>
              </a:rPr>
              <a:t>     </a:t>
            </a:r>
            <a:r>
              <a:rPr lang="en-US" dirty="0" err="1">
                <a:solidFill>
                  <a:srgbClr val="0070C0"/>
                </a:solidFill>
                <a:latin typeface="Consolas" panose="020B0609020204030204" pitchFamily="49" charset="0"/>
              </a:rPr>
              <a:t>operator</a:t>
            </a:r>
            <a:r>
              <a:rPr lang="en-US" dirty="0" err="1">
                <a:solidFill>
                  <a:srgbClr val="FF0000"/>
                </a:solidFill>
                <a:latin typeface="Consolas" panose="020B0609020204030204" pitchFamily="49" charset="0"/>
              </a:rPr>
              <a:t>opsymbol</a:t>
            </a:r>
            <a:r>
              <a:rPr lang="en-US" dirty="0">
                <a:latin typeface="Consolas" panose="020B0609020204030204" pitchFamily="49" charset="0"/>
              </a:rPr>
              <a:t>(parameters)         {  }</a:t>
            </a:r>
          </a:p>
          <a:p>
            <a:pPr marL="0" indent="0">
              <a:buNone/>
            </a:pPr>
            <a:r>
              <a:rPr lang="en-US" dirty="0"/>
              <a:t>    </a:t>
            </a:r>
            <a:r>
              <a:rPr lang="en-US" dirty="0">
                <a:sym typeface="Symbol" panose="05050102010706020507" pitchFamily="18" charset="2"/>
              </a:rPr>
              <a:t>                                                  		                              </a:t>
            </a:r>
            <a:br>
              <a:rPr lang="en-US" dirty="0">
                <a:sym typeface="Symbol" panose="05050102010706020507" pitchFamily="18" charset="2"/>
              </a:rPr>
            </a:br>
            <a:r>
              <a:rPr lang="en-US" dirty="0">
                <a:sym typeface="Symbol" panose="05050102010706020507" pitchFamily="18" charset="2"/>
              </a:rPr>
              <a:t>any type             keyword      operator symbol           function body</a:t>
            </a:r>
          </a:p>
          <a:p>
            <a:pPr marL="0" indent="0">
              <a:buNone/>
            </a:pPr>
            <a:endParaRPr lang="en-US" dirty="0">
              <a:sym typeface="Symbol" panose="05050102010706020507" pitchFamily="18" charset="2"/>
            </a:endParaRPr>
          </a:p>
          <a:p>
            <a:pPr marL="0" indent="0">
              <a:buNone/>
            </a:pPr>
            <a:r>
              <a:rPr lang="en-US" b="1" u="sng" dirty="0">
                <a:sym typeface="Symbol" panose="05050102010706020507" pitchFamily="18" charset="2"/>
              </a:rPr>
              <a:t>Example:</a:t>
            </a:r>
          </a:p>
          <a:p>
            <a:pPr marL="0" indent="0">
              <a:buNone/>
            </a:pPr>
            <a:r>
              <a:rPr lang="en-US" dirty="0">
                <a:latin typeface="Consolas" panose="020B0609020204030204" pitchFamily="49" charset="0"/>
              </a:rPr>
              <a:t>void      </a:t>
            </a:r>
            <a:r>
              <a:rPr lang="en-US" dirty="0">
                <a:solidFill>
                  <a:srgbClr val="0070C0"/>
                </a:solidFill>
                <a:latin typeface="Consolas" panose="020B0609020204030204" pitchFamily="49" charset="0"/>
              </a:rPr>
              <a:t>operator</a:t>
            </a:r>
            <a:r>
              <a:rPr lang="en-US" b="1" dirty="0">
                <a:solidFill>
                  <a:srgbClr val="FF0000"/>
                </a:solidFill>
                <a:latin typeface="Consolas" panose="020B0609020204030204" pitchFamily="49" charset="0"/>
              </a:rPr>
              <a:t>+</a:t>
            </a:r>
            <a:r>
              <a:rPr lang="en-US" dirty="0">
                <a:latin typeface="Consolas" panose="020B0609020204030204" pitchFamily="49" charset="0"/>
              </a:rPr>
              <a:t> (parameters)       { }</a:t>
            </a:r>
          </a:p>
          <a:p>
            <a:pPr marL="0" indent="0">
              <a:buNone/>
            </a:pPr>
            <a:r>
              <a:rPr lang="en-US" dirty="0"/>
              <a:t>    </a:t>
            </a:r>
            <a:r>
              <a:rPr lang="en-US" dirty="0">
                <a:sym typeface="Symbol" panose="05050102010706020507" pitchFamily="18" charset="2"/>
              </a:rPr>
              <a:t>                            		                            </a:t>
            </a:r>
            <a:br>
              <a:rPr lang="en-US" dirty="0">
                <a:sym typeface="Symbol" panose="05050102010706020507" pitchFamily="18" charset="2"/>
              </a:rPr>
            </a:br>
            <a:r>
              <a:rPr lang="en-US" dirty="0">
                <a:sym typeface="Symbol" panose="05050102010706020507" pitchFamily="18" charset="2"/>
              </a:rPr>
              <a:t>any type    keyword  operator symbol    function body</a:t>
            </a:r>
          </a:p>
          <a:p>
            <a:pPr marL="0" indent="0">
              <a:buNone/>
            </a:pPr>
            <a:endParaRPr lang="en-US" dirty="0">
              <a:sym typeface="Symbol" panose="05050102010706020507" pitchFamily="18" charset="2"/>
            </a:endParaRPr>
          </a:p>
          <a:p>
            <a:pPr marL="0" indent="0">
              <a:buNone/>
            </a:pPr>
            <a:endParaRPr lang="en-US" dirty="0">
              <a:sym typeface="Symbol" panose="05050102010706020507" pitchFamily="18" charset="2"/>
            </a:endParaRPr>
          </a:p>
          <a:p>
            <a:r>
              <a:rPr lang="en-US" dirty="0">
                <a:sym typeface="Symbol" panose="05050102010706020507" pitchFamily="18" charset="2"/>
              </a:rPr>
              <a:t>return-type may be </a:t>
            </a:r>
            <a:r>
              <a:rPr lang="en-US" dirty="0">
                <a:solidFill>
                  <a:srgbClr val="0070C0"/>
                </a:solidFill>
                <a:sym typeface="Symbol" panose="05050102010706020507" pitchFamily="18" charset="2"/>
              </a:rPr>
              <a:t>whatever the operator returns</a:t>
            </a:r>
            <a:endParaRPr lang="en-US" dirty="0">
              <a:sym typeface="Symbol" panose="05050102010706020507" pitchFamily="18" charset="2"/>
            </a:endParaRPr>
          </a:p>
          <a:p>
            <a:r>
              <a:rPr lang="en-US" dirty="0">
                <a:sym typeface="Symbol" panose="05050102010706020507" pitchFamily="18" charset="2"/>
              </a:rPr>
              <a:t>Operator symbol may be </a:t>
            </a:r>
            <a:r>
              <a:rPr lang="en-US" dirty="0">
                <a:solidFill>
                  <a:srgbClr val="0070C0"/>
                </a:solidFill>
                <a:sym typeface="Symbol" panose="05050102010706020507" pitchFamily="18" charset="2"/>
              </a:rPr>
              <a:t>any over-loadable operator</a:t>
            </a:r>
          </a:p>
        </p:txBody>
      </p:sp>
      <p:sp>
        <p:nvSpPr>
          <p:cNvPr id="4" name="Footer Placeholder 3">
            <a:extLst>
              <a:ext uri="{FF2B5EF4-FFF2-40B4-BE49-F238E27FC236}">
                <a16:creationId xmlns:a16="http://schemas.microsoft.com/office/drawing/2014/main" id="{5FCA566A-8C7D-00CE-C1C7-8181A4D51EE4}"/>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6933E5F2-556D-4AA8-E15F-4DFFF1E338FF}"/>
              </a:ext>
            </a:extLst>
          </p:cNvPr>
          <p:cNvSpPr>
            <a:spLocks noGrp="1"/>
          </p:cNvSpPr>
          <p:nvPr>
            <p:ph type="sldNum" sz="quarter" idx="12"/>
          </p:nvPr>
        </p:nvSpPr>
        <p:spPr/>
        <p:txBody>
          <a:bodyPr/>
          <a:lstStyle/>
          <a:p>
            <a:fld id="{51845F5A-061D-4825-9AE9-D7794091C6CF}" type="slidenum">
              <a:rPr lang="en-US" smtClean="0"/>
              <a:t>10</a:t>
            </a:fld>
            <a:endParaRPr lang="en-US" dirty="0"/>
          </a:p>
        </p:txBody>
      </p:sp>
    </p:spTree>
    <p:extLst>
      <p:ext uri="{BB962C8B-B14F-4D97-AF65-F5344CB8AC3E}">
        <p14:creationId xmlns:p14="http://schemas.microsoft.com/office/powerpoint/2010/main" val="2453972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B63F7-6B76-EEC7-3D2D-572E0DD14D7B}"/>
              </a:ext>
            </a:extLst>
          </p:cNvPr>
          <p:cNvSpPr>
            <a:spLocks noGrp="1"/>
          </p:cNvSpPr>
          <p:nvPr>
            <p:ph type="title"/>
          </p:nvPr>
        </p:nvSpPr>
        <p:spPr/>
        <p:txBody>
          <a:bodyPr/>
          <a:lstStyle/>
          <a:p>
            <a:r>
              <a:rPr lang="en-US" dirty="0"/>
              <a:t>Operator Overloading</a:t>
            </a:r>
            <a:endParaRPr lang="en-PK" dirty="0"/>
          </a:p>
        </p:txBody>
      </p:sp>
      <p:sp>
        <p:nvSpPr>
          <p:cNvPr id="3" name="Content Placeholder 2">
            <a:extLst>
              <a:ext uri="{FF2B5EF4-FFF2-40B4-BE49-F238E27FC236}">
                <a16:creationId xmlns:a16="http://schemas.microsoft.com/office/drawing/2014/main" id="{5DFA9739-A422-28D4-DED9-A0C66E397AAE}"/>
              </a:ext>
            </a:extLst>
          </p:cNvPr>
          <p:cNvSpPr>
            <a:spLocks noGrp="1"/>
          </p:cNvSpPr>
          <p:nvPr>
            <p:ph idx="1"/>
          </p:nvPr>
        </p:nvSpPr>
        <p:spPr/>
        <p:txBody>
          <a:bodyPr>
            <a:normAutofit lnSpcReduction="10000"/>
          </a:bodyPr>
          <a:lstStyle/>
          <a:p>
            <a:r>
              <a:rPr lang="en-US" sz="2400" dirty="0">
                <a:solidFill>
                  <a:srgbClr val="B80000"/>
                </a:solidFill>
                <a:latin typeface="+mj-lt"/>
                <a:cs typeface="Tahoma" panose="020B0604030504040204" pitchFamily="34" charset="0"/>
              </a:rPr>
              <a:t>Operators </a:t>
            </a:r>
            <a:r>
              <a:rPr lang="en-US" sz="2400" dirty="0">
                <a:latin typeface="+mj-lt"/>
                <a:cs typeface="Tahoma" panose="020B0604030504040204" pitchFamily="34" charset="0"/>
              </a:rPr>
              <a:t>are </a:t>
            </a:r>
            <a:r>
              <a:rPr lang="en-US" sz="2400" dirty="0">
                <a:solidFill>
                  <a:srgbClr val="B80000"/>
                </a:solidFill>
                <a:latin typeface="+mj-lt"/>
                <a:cs typeface="Tahoma" panose="020B0604030504040204" pitchFamily="34" charset="0"/>
              </a:rPr>
              <a:t>really functions</a:t>
            </a:r>
          </a:p>
          <a:p>
            <a:pPr lvl="1"/>
            <a:r>
              <a:rPr lang="en-US" sz="2000" dirty="0">
                <a:latin typeface="+mj-lt"/>
                <a:cs typeface="Tahoma" panose="020B0604030504040204" pitchFamily="34" charset="0"/>
              </a:rPr>
              <a:t>They have </a:t>
            </a:r>
            <a:r>
              <a:rPr lang="en-US" sz="2000" u="sng" dirty="0">
                <a:solidFill>
                  <a:srgbClr val="2C14DE"/>
                </a:solidFill>
                <a:latin typeface="+mj-lt"/>
                <a:cs typeface="Tahoma" panose="020B0604030504040204" pitchFamily="34" charset="0"/>
              </a:rPr>
              <a:t>arguments</a:t>
            </a:r>
            <a:r>
              <a:rPr lang="en-US" sz="2000" dirty="0">
                <a:latin typeface="+mj-lt"/>
                <a:cs typeface="Tahoma" panose="020B0604030504040204" pitchFamily="34" charset="0"/>
              </a:rPr>
              <a:t>, they </a:t>
            </a:r>
            <a:r>
              <a:rPr lang="en-US" sz="2000" u="sng" dirty="0">
                <a:solidFill>
                  <a:srgbClr val="2C14DE"/>
                </a:solidFill>
                <a:latin typeface="+mj-lt"/>
                <a:cs typeface="Tahoma" panose="020B0604030504040204" pitchFamily="34" charset="0"/>
              </a:rPr>
              <a:t>return values</a:t>
            </a:r>
          </a:p>
          <a:p>
            <a:pPr lvl="1"/>
            <a:r>
              <a:rPr lang="en-US" sz="2000" dirty="0">
                <a:latin typeface="+mj-lt"/>
                <a:cs typeface="Tahoma" panose="020B0604030504040204" pitchFamily="34" charset="0"/>
              </a:rPr>
              <a:t>The </a:t>
            </a:r>
            <a:r>
              <a:rPr lang="en-US" sz="2000" dirty="0">
                <a:solidFill>
                  <a:srgbClr val="2C14DE"/>
                </a:solidFill>
                <a:latin typeface="+mj-lt"/>
                <a:cs typeface="Tahoma" panose="020B0604030504040204" pitchFamily="34" charset="0"/>
              </a:rPr>
              <a:t>only difference </a:t>
            </a:r>
            <a:r>
              <a:rPr lang="en-US" sz="2000" dirty="0">
                <a:latin typeface="+mj-lt"/>
                <a:cs typeface="Tahoma" panose="020B0604030504040204" pitchFamily="34" charset="0"/>
              </a:rPr>
              <a:t>is that their </a:t>
            </a:r>
            <a:r>
              <a:rPr lang="en-US" sz="2000" dirty="0">
                <a:solidFill>
                  <a:srgbClr val="2C14DE"/>
                </a:solidFill>
                <a:latin typeface="+mj-lt"/>
                <a:cs typeface="Tahoma" panose="020B0604030504040204" pitchFamily="34" charset="0"/>
              </a:rPr>
              <a:t>names </a:t>
            </a:r>
            <a:r>
              <a:rPr lang="en-US" sz="2000" dirty="0">
                <a:latin typeface="+mj-lt"/>
                <a:cs typeface="Tahoma" panose="020B0604030504040204" pitchFamily="34" charset="0"/>
              </a:rPr>
              <a:t>take on a </a:t>
            </a:r>
            <a:r>
              <a:rPr lang="en-US" sz="2000" dirty="0">
                <a:solidFill>
                  <a:srgbClr val="2C14DE"/>
                </a:solidFill>
                <a:latin typeface="+mj-lt"/>
                <a:cs typeface="Tahoma" panose="020B0604030504040204" pitchFamily="34" charset="0"/>
              </a:rPr>
              <a:t>specific form</a:t>
            </a:r>
            <a:r>
              <a:rPr lang="en-US" sz="2000" dirty="0">
                <a:latin typeface="+mj-lt"/>
                <a:cs typeface="Tahoma" panose="020B0604030504040204" pitchFamily="34" charset="0"/>
              </a:rPr>
              <a:t>:</a:t>
            </a:r>
          </a:p>
          <a:p>
            <a:pPr marL="457200" lvl="1" indent="0">
              <a:buNone/>
            </a:pPr>
            <a:r>
              <a:rPr lang="en-US" sz="2000" dirty="0">
                <a:latin typeface="Consolas" panose="020B0609020204030204" pitchFamily="49" charset="0"/>
                <a:cs typeface="Tahoma" panose="020B0604030504040204" pitchFamily="34" charset="0"/>
              </a:rPr>
              <a:t>   </a:t>
            </a:r>
            <a:r>
              <a:rPr lang="fr-FR" sz="2000" dirty="0">
                <a:latin typeface="Consolas" panose="020B0609020204030204" pitchFamily="49" charset="0"/>
                <a:cs typeface="Tahoma" panose="020B0604030504040204" pitchFamily="34" charset="0"/>
              </a:rPr>
              <a:t>O</a:t>
            </a:r>
            <a:r>
              <a:rPr lang="en-US" sz="2000" dirty="0" err="1">
                <a:latin typeface="Consolas" panose="020B0609020204030204" pitchFamily="49" charset="0"/>
                <a:cs typeface="Tahoma" panose="020B0604030504040204" pitchFamily="34" charset="0"/>
              </a:rPr>
              <a:t>perator</a:t>
            </a:r>
            <a:r>
              <a:rPr lang="en-US" sz="2000" dirty="0">
                <a:latin typeface="Consolas" panose="020B0609020204030204" pitchFamily="49" charset="0"/>
                <a:cs typeface="Tahoma" panose="020B0604030504040204" pitchFamily="34" charset="0"/>
              </a:rPr>
              <a:t>+, operator[ </a:t>
            </a:r>
            <a:r>
              <a:rPr lang="en-US" sz="2000" b="1" dirty="0">
                <a:latin typeface="Consolas" panose="020B0609020204030204" pitchFamily="49" charset="0"/>
                <a:cs typeface="Tahoma" panose="020B0604030504040204" pitchFamily="34" charset="0"/>
              </a:rPr>
              <a:t>]</a:t>
            </a:r>
          </a:p>
          <a:p>
            <a:pPr lvl="2"/>
            <a:endParaRPr lang="en-US" sz="1800" dirty="0">
              <a:latin typeface="Tahoma" panose="020B0604030504040204" pitchFamily="34" charset="0"/>
              <a:cs typeface="Tahoma" panose="020B0604030504040204" pitchFamily="34" charset="0"/>
            </a:endParaRPr>
          </a:p>
          <a:p>
            <a:r>
              <a:rPr lang="en-US" sz="2400" b="1" u="sng" dirty="0">
                <a:solidFill>
                  <a:srgbClr val="D20000"/>
                </a:solidFill>
                <a:cs typeface="Tahoma" panose="020B0604030504040204" pitchFamily="34" charset="0"/>
              </a:rPr>
              <a:t>Overloading provides concise notation:</a:t>
            </a:r>
          </a:p>
          <a:p>
            <a:pPr marL="0" indent="0">
              <a:buNone/>
            </a:pPr>
            <a:r>
              <a:rPr lang="en-US" sz="1600" b="1" dirty="0">
                <a:latin typeface="Tahoma" panose="020B0604030504040204" pitchFamily="34" charset="0"/>
                <a:cs typeface="Tahoma" panose="020B0604030504040204" pitchFamily="34" charset="0"/>
              </a:rPr>
              <a:t>    // without operator overloading</a:t>
            </a:r>
            <a:br>
              <a:rPr lang="en-US" sz="2000" b="1" dirty="0">
                <a:latin typeface="Tahoma" panose="020B0604030504040204" pitchFamily="34" charset="0"/>
                <a:cs typeface="Tahoma" panose="020B0604030504040204" pitchFamily="34" charset="0"/>
              </a:rPr>
            </a:br>
            <a:r>
              <a:rPr lang="en-US" sz="2000" b="1" dirty="0">
                <a:solidFill>
                  <a:srgbClr val="FF0000"/>
                </a:solidFill>
                <a:latin typeface="Consolas" panose="020B0609020204030204" pitchFamily="49" charset="0"/>
                <a:cs typeface="Tahoma" panose="020B0604030504040204" pitchFamily="34" charset="0"/>
              </a:rPr>
              <a:t>  object2 = object1.add(object2); </a:t>
            </a:r>
            <a:endParaRPr lang="en-US" sz="2000" b="1" dirty="0">
              <a:latin typeface="Tahoma" panose="020B0604030504040204" pitchFamily="34" charset="0"/>
              <a:cs typeface="Tahoma" panose="020B0604030504040204" pitchFamily="34" charset="0"/>
            </a:endParaRPr>
          </a:p>
          <a:p>
            <a:pPr marL="0" indent="0">
              <a:buNone/>
            </a:pPr>
            <a:endParaRPr lang="en-US" sz="2000" b="1" dirty="0">
              <a:solidFill>
                <a:srgbClr val="2C14DE"/>
              </a:solidFill>
              <a:latin typeface="Consolas" panose="020B0609020204030204" pitchFamily="49" charset="0"/>
              <a:cs typeface="Tahoma" panose="020B0604030504040204" pitchFamily="34" charset="0"/>
            </a:endParaRPr>
          </a:p>
          <a:p>
            <a:pPr marL="0" indent="0">
              <a:buNone/>
            </a:pPr>
            <a:r>
              <a:rPr lang="en-US" sz="1600" b="1" dirty="0">
                <a:solidFill>
                  <a:srgbClr val="008000"/>
                </a:solidFill>
                <a:latin typeface="Tahoma" panose="020B0604030504040204" pitchFamily="34" charset="0"/>
                <a:cs typeface="Tahoma" panose="020B0604030504040204" pitchFamily="34" charset="0"/>
              </a:rPr>
              <a:t>    // with operator overloading</a:t>
            </a:r>
            <a:endParaRPr lang="en-US" sz="1600" b="1" dirty="0">
              <a:solidFill>
                <a:srgbClr val="2C14DE"/>
              </a:solidFill>
              <a:latin typeface="Consolas" panose="020B0609020204030204" pitchFamily="49" charset="0"/>
              <a:cs typeface="Tahoma" panose="020B0604030504040204" pitchFamily="34" charset="0"/>
            </a:endParaRPr>
          </a:p>
          <a:p>
            <a:pPr marL="0" indent="0">
              <a:buNone/>
            </a:pPr>
            <a:r>
              <a:rPr lang="en-US" sz="2000" b="1" dirty="0">
                <a:solidFill>
                  <a:srgbClr val="2C14DE"/>
                </a:solidFill>
                <a:latin typeface="Consolas" panose="020B0609020204030204" pitchFamily="49" charset="0"/>
                <a:cs typeface="Tahoma" panose="020B0604030504040204" pitchFamily="34" charset="0"/>
              </a:rPr>
              <a:t>  object2 = object2 + object1; </a:t>
            </a:r>
            <a:endParaRPr lang="en-US" sz="2400" dirty="0">
              <a:latin typeface="Trebuchet MS" panose="020B0603020202020204" pitchFamily="34" charset="0"/>
            </a:endParaRPr>
          </a:p>
        </p:txBody>
      </p:sp>
      <p:sp>
        <p:nvSpPr>
          <p:cNvPr id="4" name="Footer Placeholder 3">
            <a:extLst>
              <a:ext uri="{FF2B5EF4-FFF2-40B4-BE49-F238E27FC236}">
                <a16:creationId xmlns:a16="http://schemas.microsoft.com/office/drawing/2014/main" id="{4C68ABD2-F894-F176-0207-1C4F44C34AAF}"/>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CDB4FDF4-AAF8-BC52-C27F-935D2D61EB6B}"/>
              </a:ext>
            </a:extLst>
          </p:cNvPr>
          <p:cNvSpPr>
            <a:spLocks noGrp="1"/>
          </p:cNvSpPr>
          <p:nvPr>
            <p:ph type="sldNum" sz="quarter" idx="12"/>
          </p:nvPr>
        </p:nvSpPr>
        <p:spPr/>
        <p:txBody>
          <a:bodyPr/>
          <a:lstStyle/>
          <a:p>
            <a:fld id="{51845F5A-061D-4825-9AE9-D7794091C6CF}" type="slidenum">
              <a:rPr lang="en-US" smtClean="0"/>
              <a:t>11</a:t>
            </a:fld>
            <a:endParaRPr lang="en-US" dirty="0"/>
          </a:p>
        </p:txBody>
      </p:sp>
    </p:spTree>
    <p:extLst>
      <p:ext uri="{BB962C8B-B14F-4D97-AF65-F5344CB8AC3E}">
        <p14:creationId xmlns:p14="http://schemas.microsoft.com/office/powerpoint/2010/main" val="3251402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E278E-71ED-A9E1-2E4E-E400F65D59E1}"/>
              </a:ext>
            </a:extLst>
          </p:cNvPr>
          <p:cNvSpPr>
            <a:spLocks noGrp="1"/>
          </p:cNvSpPr>
          <p:nvPr>
            <p:ph type="title"/>
          </p:nvPr>
        </p:nvSpPr>
        <p:spPr/>
        <p:txBody>
          <a:bodyPr/>
          <a:lstStyle/>
          <a:p>
            <a:r>
              <a:rPr lang="en-GB" dirty="0"/>
              <a:t>Restriction on Operator Overloading</a:t>
            </a:r>
            <a:endParaRPr lang="en-PK" dirty="0"/>
          </a:p>
        </p:txBody>
      </p:sp>
      <p:sp>
        <p:nvSpPr>
          <p:cNvPr id="3" name="Content Placeholder 2">
            <a:extLst>
              <a:ext uri="{FF2B5EF4-FFF2-40B4-BE49-F238E27FC236}">
                <a16:creationId xmlns:a16="http://schemas.microsoft.com/office/drawing/2014/main" id="{91AD0947-4971-8445-D043-F0002CD3B109}"/>
              </a:ext>
            </a:extLst>
          </p:cNvPr>
          <p:cNvSpPr>
            <a:spLocks noGrp="1"/>
          </p:cNvSpPr>
          <p:nvPr>
            <p:ph idx="1"/>
          </p:nvPr>
        </p:nvSpPr>
        <p:spPr/>
        <p:txBody>
          <a:bodyPr>
            <a:normAutofit fontScale="77500" lnSpcReduction="20000"/>
          </a:bodyPr>
          <a:lstStyle/>
          <a:p>
            <a:pPr>
              <a:spcAft>
                <a:spcPts val="600"/>
              </a:spcAft>
              <a:defRPr/>
            </a:pPr>
            <a:r>
              <a:rPr lang="en-US" dirty="0">
                <a:latin typeface="+mj-lt"/>
                <a:ea typeface="Tahoma" pitchFamily="34" charset="0"/>
                <a:cs typeface="Tahoma" pitchFamily="34" charset="0"/>
              </a:rPr>
              <a:t>With operator overloading </a:t>
            </a:r>
            <a:r>
              <a:rPr lang="en-US" u="sng" dirty="0">
                <a:solidFill>
                  <a:srgbClr val="FF0000"/>
                </a:solidFill>
                <a:latin typeface="+mj-lt"/>
                <a:ea typeface="Tahoma" pitchFamily="34" charset="0"/>
                <a:cs typeface="Tahoma" pitchFamily="34" charset="0"/>
              </a:rPr>
              <a:t>we cannot change</a:t>
            </a:r>
            <a:r>
              <a:rPr lang="en-US" dirty="0">
                <a:solidFill>
                  <a:srgbClr val="FF0000"/>
                </a:solidFill>
                <a:latin typeface="+mj-lt"/>
                <a:ea typeface="Tahoma" pitchFamily="34" charset="0"/>
                <a:cs typeface="Tahoma" pitchFamily="34" charset="0"/>
              </a:rPr>
              <a:t>:</a:t>
            </a:r>
          </a:p>
          <a:p>
            <a:pPr marL="914400" lvl="1" indent="-457200">
              <a:spcAft>
                <a:spcPts val="600"/>
              </a:spcAft>
              <a:buFont typeface="+mj-lt"/>
              <a:buAutoNum type="arabicPeriod"/>
              <a:defRPr/>
            </a:pPr>
            <a:r>
              <a:rPr lang="en-US" sz="2600" dirty="0">
                <a:latin typeface="+mj-lt"/>
                <a:ea typeface="Tahoma" pitchFamily="34" charset="0"/>
                <a:cs typeface="Tahoma" pitchFamily="34" charset="0"/>
              </a:rPr>
              <a:t>How </a:t>
            </a:r>
            <a:r>
              <a:rPr lang="en-US" sz="2600" dirty="0">
                <a:solidFill>
                  <a:srgbClr val="2C14DE"/>
                </a:solidFill>
                <a:latin typeface="+mj-lt"/>
                <a:ea typeface="Tahoma" pitchFamily="34" charset="0"/>
                <a:cs typeface="Tahoma" pitchFamily="34" charset="0"/>
              </a:rPr>
              <a:t>operators act on built-in data types</a:t>
            </a:r>
            <a:r>
              <a:rPr lang="en-US" sz="2600" dirty="0">
                <a:latin typeface="+mj-lt"/>
                <a:ea typeface="Tahoma" pitchFamily="34" charset="0"/>
                <a:cs typeface="Tahoma" pitchFamily="34" charset="0"/>
              </a:rPr>
              <a:t>:</a:t>
            </a:r>
          </a:p>
          <a:p>
            <a:pPr lvl="2">
              <a:spcAft>
                <a:spcPts val="600"/>
              </a:spcAft>
              <a:defRPr/>
            </a:pPr>
            <a:r>
              <a:rPr lang="en-US" sz="2600" dirty="0">
                <a:latin typeface="+mj-lt"/>
                <a:ea typeface="Tahoma" pitchFamily="34" charset="0"/>
                <a:cs typeface="Tahoma" pitchFamily="34" charset="0"/>
              </a:rPr>
              <a:t>i.e., cannot change integer addition</a:t>
            </a:r>
          </a:p>
          <a:p>
            <a:pPr marL="914400" lvl="1" indent="-457200">
              <a:spcAft>
                <a:spcPts val="600"/>
              </a:spcAft>
              <a:buFont typeface="+mj-lt"/>
              <a:buAutoNum type="arabicPeriod"/>
              <a:defRPr/>
            </a:pPr>
            <a:r>
              <a:rPr lang="en-US" dirty="0">
                <a:solidFill>
                  <a:srgbClr val="2C14DE"/>
                </a:solidFill>
                <a:latin typeface="+mj-lt"/>
                <a:ea typeface="Tahoma" pitchFamily="34" charset="0"/>
                <a:cs typeface="Tahoma" pitchFamily="34" charset="0"/>
              </a:rPr>
              <a:t>Precedence of operator </a:t>
            </a:r>
            <a:r>
              <a:rPr lang="en-US" dirty="0">
                <a:latin typeface="+mj-lt"/>
                <a:ea typeface="Tahoma" pitchFamily="34" charset="0"/>
                <a:cs typeface="Tahoma" pitchFamily="34" charset="0"/>
              </a:rPr>
              <a:t>(order of evaluation)</a:t>
            </a:r>
          </a:p>
          <a:p>
            <a:pPr lvl="2">
              <a:spcAft>
                <a:spcPts val="600"/>
              </a:spcAft>
              <a:defRPr/>
            </a:pPr>
            <a:r>
              <a:rPr lang="en-US" sz="2600" dirty="0">
                <a:latin typeface="+mj-lt"/>
                <a:ea typeface="Tahoma" pitchFamily="34" charset="0"/>
                <a:cs typeface="Tahoma" pitchFamily="34" charset="0"/>
              </a:rPr>
              <a:t>Use parentheses to force order-of-operations</a:t>
            </a:r>
          </a:p>
          <a:p>
            <a:pPr marL="914400" lvl="1" indent="-457200">
              <a:spcAft>
                <a:spcPts val="600"/>
              </a:spcAft>
              <a:buFont typeface="+mj-lt"/>
              <a:buAutoNum type="arabicPeriod"/>
              <a:defRPr/>
            </a:pPr>
            <a:r>
              <a:rPr lang="en-US" dirty="0">
                <a:solidFill>
                  <a:srgbClr val="2C14DE"/>
                </a:solidFill>
                <a:latin typeface="+mj-lt"/>
                <a:ea typeface="Tahoma" pitchFamily="34" charset="0"/>
                <a:cs typeface="Tahoma" pitchFamily="34" charset="0"/>
              </a:rPr>
              <a:t>Association rules </a:t>
            </a:r>
            <a:r>
              <a:rPr lang="en-US" dirty="0">
                <a:latin typeface="+mj-lt"/>
                <a:ea typeface="Tahoma" pitchFamily="34" charset="0"/>
                <a:cs typeface="Tahoma" pitchFamily="34" charset="0"/>
              </a:rPr>
              <a:t>(left-to-right or right-to-left evaluation)</a:t>
            </a:r>
          </a:p>
          <a:p>
            <a:pPr marL="914400" lvl="1" indent="-457200">
              <a:spcAft>
                <a:spcPts val="600"/>
              </a:spcAft>
              <a:buFont typeface="+mj-lt"/>
              <a:buAutoNum type="arabicPeriod"/>
              <a:defRPr/>
            </a:pPr>
            <a:r>
              <a:rPr lang="en-US" dirty="0">
                <a:solidFill>
                  <a:srgbClr val="2C14DE"/>
                </a:solidFill>
                <a:latin typeface="+mj-lt"/>
                <a:ea typeface="Tahoma" pitchFamily="34" charset="0"/>
                <a:cs typeface="Tahoma" pitchFamily="34" charset="0"/>
              </a:rPr>
              <a:t>Number of operands</a:t>
            </a:r>
          </a:p>
          <a:p>
            <a:pPr lvl="2">
              <a:spcAft>
                <a:spcPts val="600"/>
              </a:spcAft>
              <a:defRPr/>
            </a:pPr>
            <a:r>
              <a:rPr lang="en-US" sz="2600" dirty="0">
                <a:latin typeface="+mj-lt"/>
                <a:ea typeface="Tahoma" pitchFamily="34" charset="0"/>
                <a:cs typeface="Tahoma" pitchFamily="34" charset="0"/>
              </a:rPr>
              <a:t>i.e., &amp; is unary, only acts on one operand</a:t>
            </a:r>
          </a:p>
          <a:p>
            <a:pPr marL="971550" lvl="1" indent="-514350">
              <a:spcAft>
                <a:spcPts val="600"/>
              </a:spcAft>
              <a:buFont typeface="+mj-lt"/>
              <a:buAutoNum type="arabicPeriod"/>
              <a:defRPr/>
            </a:pPr>
            <a:r>
              <a:rPr lang="en-US" dirty="0">
                <a:solidFill>
                  <a:srgbClr val="2C14DE"/>
                </a:solidFill>
                <a:latin typeface="+mj-lt"/>
                <a:ea typeface="Tahoma" pitchFamily="34" charset="0"/>
                <a:cs typeface="Tahoma" pitchFamily="34" charset="0"/>
              </a:rPr>
              <a:t>Cannot create new operators</a:t>
            </a:r>
          </a:p>
          <a:p>
            <a:pPr marL="971550" lvl="1" indent="-514350">
              <a:spcAft>
                <a:spcPts val="600"/>
              </a:spcAft>
              <a:buFont typeface="+mj-lt"/>
              <a:buAutoNum type="arabicPeriod"/>
              <a:defRPr/>
            </a:pPr>
            <a:r>
              <a:rPr lang="en-US" dirty="0">
                <a:solidFill>
                  <a:srgbClr val="2C14DE"/>
                </a:solidFill>
                <a:latin typeface="+mj-lt"/>
                <a:ea typeface="Tahoma" pitchFamily="34" charset="0"/>
                <a:cs typeface="Tahoma" pitchFamily="34" charset="0"/>
              </a:rPr>
              <a:t>Operators must be</a:t>
            </a:r>
            <a:r>
              <a:rPr lang="en-US" dirty="0">
                <a:latin typeface="+mj-lt"/>
                <a:ea typeface="Tahoma" pitchFamily="34" charset="0"/>
                <a:cs typeface="Tahoma" pitchFamily="34" charset="0"/>
              </a:rPr>
              <a:t> </a:t>
            </a:r>
            <a:r>
              <a:rPr lang="en-US" dirty="0">
                <a:solidFill>
                  <a:srgbClr val="2C14DE"/>
                </a:solidFill>
                <a:latin typeface="+mj-lt"/>
                <a:ea typeface="Tahoma" pitchFamily="34" charset="0"/>
                <a:cs typeface="Tahoma" pitchFamily="34" charset="0"/>
              </a:rPr>
              <a:t>overloaded explicitly:</a:t>
            </a:r>
          </a:p>
          <a:p>
            <a:pPr marL="457200" lvl="1" indent="0">
              <a:spcAft>
                <a:spcPts val="600"/>
              </a:spcAft>
              <a:buNone/>
              <a:defRPr/>
            </a:pPr>
            <a:r>
              <a:rPr lang="en-US" sz="2600" dirty="0">
                <a:solidFill>
                  <a:srgbClr val="2C14DE"/>
                </a:solidFill>
                <a:latin typeface="+mj-lt"/>
                <a:ea typeface="Tahoma" pitchFamily="34" charset="0"/>
                <a:cs typeface="Tahoma" pitchFamily="34" charset="0"/>
              </a:rPr>
              <a:t>	</a:t>
            </a:r>
            <a:r>
              <a:rPr lang="en-US" sz="2600" dirty="0">
                <a:latin typeface="+mj-lt"/>
                <a:ea typeface="Tahoma" pitchFamily="34" charset="0"/>
                <a:cs typeface="Tahoma" pitchFamily="34" charset="0"/>
              </a:rPr>
              <a:t> i.e., Overloading + ,  does not overload +=</a:t>
            </a:r>
          </a:p>
        </p:txBody>
      </p:sp>
      <p:sp>
        <p:nvSpPr>
          <p:cNvPr id="4" name="Footer Placeholder 3">
            <a:extLst>
              <a:ext uri="{FF2B5EF4-FFF2-40B4-BE49-F238E27FC236}">
                <a16:creationId xmlns:a16="http://schemas.microsoft.com/office/drawing/2014/main" id="{5B96D892-4B63-9D5A-9631-640AB3FA8246}"/>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0D762BF8-CD56-0172-1321-E3B71883789D}"/>
              </a:ext>
            </a:extLst>
          </p:cNvPr>
          <p:cNvSpPr>
            <a:spLocks noGrp="1"/>
          </p:cNvSpPr>
          <p:nvPr>
            <p:ph type="sldNum" sz="quarter" idx="12"/>
          </p:nvPr>
        </p:nvSpPr>
        <p:spPr/>
        <p:txBody>
          <a:bodyPr/>
          <a:lstStyle/>
          <a:p>
            <a:fld id="{51845F5A-061D-4825-9AE9-D7794091C6CF}" type="slidenum">
              <a:rPr lang="en-US" smtClean="0"/>
              <a:t>12</a:t>
            </a:fld>
            <a:endParaRPr lang="en-US" dirty="0"/>
          </a:p>
        </p:txBody>
      </p:sp>
    </p:spTree>
    <p:extLst>
      <p:ext uri="{BB962C8B-B14F-4D97-AF65-F5344CB8AC3E}">
        <p14:creationId xmlns:p14="http://schemas.microsoft.com/office/powerpoint/2010/main" val="2519455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61210-9A32-496E-CFDB-87B7FAACEA47}"/>
              </a:ext>
            </a:extLst>
          </p:cNvPr>
          <p:cNvSpPr>
            <a:spLocks noGrp="1"/>
          </p:cNvSpPr>
          <p:nvPr>
            <p:ph type="title"/>
          </p:nvPr>
        </p:nvSpPr>
        <p:spPr/>
        <p:txBody>
          <a:bodyPr/>
          <a:lstStyle/>
          <a:p>
            <a:r>
              <a:rPr lang="en-GB" dirty="0"/>
              <a:t>Restriction on Operator Overloading</a:t>
            </a:r>
            <a:endParaRPr lang="en-PK" dirty="0"/>
          </a:p>
        </p:txBody>
      </p:sp>
      <p:sp>
        <p:nvSpPr>
          <p:cNvPr id="4" name="Footer Placeholder 3">
            <a:extLst>
              <a:ext uri="{FF2B5EF4-FFF2-40B4-BE49-F238E27FC236}">
                <a16:creationId xmlns:a16="http://schemas.microsoft.com/office/drawing/2014/main" id="{5B7BA3C6-EED2-84AE-4065-4EFE587AF053}"/>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ADD1E171-7538-17AF-9393-71C4FAA7A36F}"/>
              </a:ext>
            </a:extLst>
          </p:cNvPr>
          <p:cNvSpPr>
            <a:spLocks noGrp="1"/>
          </p:cNvSpPr>
          <p:nvPr>
            <p:ph type="sldNum" sz="quarter" idx="12"/>
          </p:nvPr>
        </p:nvSpPr>
        <p:spPr/>
        <p:txBody>
          <a:bodyPr/>
          <a:lstStyle/>
          <a:p>
            <a:fld id="{51845F5A-061D-4825-9AE9-D7794091C6CF}" type="slidenum">
              <a:rPr lang="en-US" smtClean="0"/>
              <a:t>13</a:t>
            </a:fld>
            <a:endParaRPr lang="en-US" dirty="0"/>
          </a:p>
        </p:txBody>
      </p:sp>
      <p:graphicFrame>
        <p:nvGraphicFramePr>
          <p:cNvPr id="6" name="Object 3">
            <a:extLst>
              <a:ext uri="{FF2B5EF4-FFF2-40B4-BE49-F238E27FC236}">
                <a16:creationId xmlns:a16="http://schemas.microsoft.com/office/drawing/2014/main" id="{5B7AB87C-3858-D8F3-1040-E564CD6BECF0}"/>
              </a:ext>
            </a:extLst>
          </p:cNvPr>
          <p:cNvGraphicFramePr>
            <a:graphicFrameLocks noChangeAspect="1"/>
          </p:cNvGraphicFramePr>
          <p:nvPr>
            <p:extLst>
              <p:ext uri="{D42A27DB-BD31-4B8C-83A1-F6EECF244321}">
                <p14:modId xmlns:p14="http://schemas.microsoft.com/office/powerpoint/2010/main" val="1671660134"/>
              </p:ext>
            </p:extLst>
          </p:nvPr>
        </p:nvGraphicFramePr>
        <p:xfrm>
          <a:off x="1227847" y="1722011"/>
          <a:ext cx="9736306" cy="2301509"/>
        </p:xfrm>
        <a:graphic>
          <a:graphicData uri="http://schemas.openxmlformats.org/presentationml/2006/ole">
            <mc:AlternateContent xmlns:mc="http://schemas.openxmlformats.org/markup-compatibility/2006">
              <mc:Choice xmlns:v="urn:schemas-microsoft-com:vml" Requires="v">
                <p:oleObj name="Document" r:id="rId3" imgW="6654800" imgH="1663700" progId="Word.Document.8">
                  <p:embed/>
                </p:oleObj>
              </mc:Choice>
              <mc:Fallback>
                <p:oleObj name="Document" r:id="rId3" imgW="6654800" imgH="1663700" progId="Word.Document.8">
                  <p:embed/>
                  <p:pic>
                    <p:nvPicPr>
                      <p:cNvPr id="205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7847" y="1722011"/>
                        <a:ext cx="9736306" cy="2301509"/>
                      </a:xfrm>
                      <a:prstGeom prst="rect">
                        <a:avLst/>
                      </a:prstGeom>
                      <a:noFill/>
                      <a:ln>
                        <a:noFill/>
                      </a:ln>
                      <a:effectLst/>
                    </p:spPr>
                  </p:pic>
                </p:oleObj>
              </mc:Fallback>
            </mc:AlternateContent>
          </a:graphicData>
        </a:graphic>
      </p:graphicFrame>
      <p:graphicFrame>
        <p:nvGraphicFramePr>
          <p:cNvPr id="7" name="Object 2">
            <a:extLst>
              <a:ext uri="{FF2B5EF4-FFF2-40B4-BE49-F238E27FC236}">
                <a16:creationId xmlns:a16="http://schemas.microsoft.com/office/drawing/2014/main" id="{8501161A-4B37-6D13-CF54-E8A6807CBF71}"/>
              </a:ext>
            </a:extLst>
          </p:cNvPr>
          <p:cNvGraphicFramePr>
            <a:graphicFrameLocks noChangeAspect="1"/>
          </p:cNvGraphicFramePr>
          <p:nvPr>
            <p:extLst>
              <p:ext uri="{D42A27DB-BD31-4B8C-83A1-F6EECF244321}">
                <p14:modId xmlns:p14="http://schemas.microsoft.com/office/powerpoint/2010/main" val="1586618614"/>
              </p:ext>
            </p:extLst>
          </p:nvPr>
        </p:nvGraphicFramePr>
        <p:xfrm>
          <a:off x="2099776" y="4693048"/>
          <a:ext cx="7992447" cy="993775"/>
        </p:xfrm>
        <a:graphic>
          <a:graphicData uri="http://schemas.openxmlformats.org/presentationml/2006/ole">
            <mc:AlternateContent xmlns:mc="http://schemas.openxmlformats.org/markup-compatibility/2006">
              <mc:Choice xmlns:v="urn:schemas-microsoft-com:vml" Requires="v">
                <p:oleObj name="Document" r:id="rId5" imgW="5420868" imgH="672084" progId="Word.Document.8">
                  <p:embed/>
                </p:oleObj>
              </mc:Choice>
              <mc:Fallback>
                <p:oleObj name="Document" r:id="rId5" imgW="5420868" imgH="672084" progId="Word.Document.8">
                  <p:embed/>
                  <p:pic>
                    <p:nvPicPr>
                      <p:cNvPr id="205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9776" y="4693048"/>
                        <a:ext cx="7992447" cy="9937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50051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C14C5-F990-D55E-B7C5-78CCA48CFA84}"/>
              </a:ext>
            </a:extLst>
          </p:cNvPr>
          <p:cNvSpPr>
            <a:spLocks noGrp="1"/>
          </p:cNvSpPr>
          <p:nvPr>
            <p:ph type="title"/>
          </p:nvPr>
        </p:nvSpPr>
        <p:spPr/>
        <p:txBody>
          <a:bodyPr/>
          <a:lstStyle/>
          <a:p>
            <a:r>
              <a:rPr lang="en-GB" dirty="0"/>
              <a:t>Operator =, operator &amp;</a:t>
            </a:r>
            <a:endParaRPr lang="en-PK" dirty="0"/>
          </a:p>
        </p:txBody>
      </p:sp>
      <p:sp>
        <p:nvSpPr>
          <p:cNvPr id="3" name="Content Placeholder 2">
            <a:extLst>
              <a:ext uri="{FF2B5EF4-FFF2-40B4-BE49-F238E27FC236}">
                <a16:creationId xmlns:a16="http://schemas.microsoft.com/office/drawing/2014/main" id="{CD5F60D8-1960-FCBE-F056-A2C5861CD49F}"/>
              </a:ext>
            </a:extLst>
          </p:cNvPr>
          <p:cNvSpPr>
            <a:spLocks noGrp="1"/>
          </p:cNvSpPr>
          <p:nvPr>
            <p:ph idx="1"/>
          </p:nvPr>
        </p:nvSpPr>
        <p:spPr/>
        <p:txBody>
          <a:bodyPr>
            <a:normAutofit/>
          </a:bodyPr>
          <a:lstStyle/>
          <a:p>
            <a:pPr marL="269875" indent="-269875" algn="just">
              <a:buFont typeface="Arial" panose="020B0604020202020204" pitchFamily="34" charset="0"/>
              <a:buChar char="•"/>
            </a:pPr>
            <a:r>
              <a:rPr lang="en-US" sz="2400" b="1" dirty="0"/>
              <a:t>Operator</a:t>
            </a:r>
            <a:r>
              <a:rPr lang="en-US" sz="2400" dirty="0"/>
              <a:t> </a:t>
            </a:r>
            <a:r>
              <a:rPr lang="en-US" sz="2400" b="1" dirty="0">
                <a:solidFill>
                  <a:srgbClr val="D20000"/>
                </a:solidFill>
              </a:rPr>
              <a:t>=</a:t>
            </a:r>
            <a:r>
              <a:rPr lang="en-US" sz="2400" dirty="0">
                <a:solidFill>
                  <a:srgbClr val="D20000"/>
                </a:solidFill>
              </a:rPr>
              <a:t> </a:t>
            </a:r>
            <a:r>
              <a:rPr lang="en-US" sz="2400" dirty="0"/>
              <a:t>and </a:t>
            </a:r>
            <a:r>
              <a:rPr lang="en-US" sz="2400" b="1" dirty="0"/>
              <a:t>operator</a:t>
            </a:r>
            <a:r>
              <a:rPr lang="en-US" sz="2400" dirty="0"/>
              <a:t> </a:t>
            </a:r>
            <a:r>
              <a:rPr lang="en-US" sz="2400" b="1" dirty="0">
                <a:solidFill>
                  <a:srgbClr val="D20000"/>
                </a:solidFill>
              </a:rPr>
              <a:t>&amp;</a:t>
            </a:r>
            <a:r>
              <a:rPr lang="en-US" sz="2400" dirty="0"/>
              <a:t> are </a:t>
            </a:r>
            <a:r>
              <a:rPr lang="en-US" sz="2400" b="1" u="sng" dirty="0">
                <a:solidFill>
                  <a:srgbClr val="D20000"/>
                </a:solidFill>
              </a:rPr>
              <a:t>overloaded implicitly </a:t>
            </a:r>
            <a:r>
              <a:rPr lang="en-US" sz="2400" b="1" dirty="0">
                <a:solidFill>
                  <a:srgbClr val="2C14DE"/>
                </a:solidFill>
              </a:rPr>
              <a:t>for </a:t>
            </a:r>
            <a:r>
              <a:rPr lang="en-US" sz="2400" b="1" u="sng" dirty="0">
                <a:solidFill>
                  <a:srgbClr val="2C14DE"/>
                </a:solidFill>
              </a:rPr>
              <a:t>every class</a:t>
            </a:r>
            <a:r>
              <a:rPr lang="en-US" sz="2400" dirty="0"/>
              <a:t>, so they can be used for each class objects. </a:t>
            </a:r>
          </a:p>
          <a:p>
            <a:pPr marL="0" indent="0">
              <a:buNone/>
            </a:pPr>
            <a:endParaRPr lang="en-US" sz="2000" dirty="0"/>
          </a:p>
          <a:p>
            <a:pPr marL="269875" indent="-269875" algn="just">
              <a:buFont typeface="Arial" panose="020B0604020202020204" pitchFamily="34" charset="0"/>
              <a:buChar char="•"/>
            </a:pPr>
            <a:r>
              <a:rPr lang="en-US" sz="2400" b="1" dirty="0">
                <a:solidFill>
                  <a:srgbClr val="D20000"/>
                </a:solidFill>
              </a:rPr>
              <a:t>operator = </a:t>
            </a:r>
            <a:r>
              <a:rPr lang="en-US" sz="2400" b="1" dirty="0">
                <a:solidFill>
                  <a:srgbClr val="2C14DE"/>
                </a:solidFill>
              </a:rPr>
              <a:t>performs member-wise copy </a:t>
            </a:r>
            <a:r>
              <a:rPr lang="en-US" sz="2400" dirty="0"/>
              <a:t>of the </a:t>
            </a:r>
            <a:r>
              <a:rPr lang="en-US" sz="2400" b="1" dirty="0"/>
              <a:t>data members</a:t>
            </a:r>
            <a:r>
              <a:rPr lang="en-US" sz="2400" dirty="0"/>
              <a:t>. </a:t>
            </a:r>
          </a:p>
          <a:p>
            <a:pPr marL="0" indent="0">
              <a:buNone/>
            </a:pPr>
            <a:endParaRPr lang="en-US" sz="2000" dirty="0"/>
          </a:p>
          <a:p>
            <a:pPr marL="269875" indent="-269875" algn="just">
              <a:buFont typeface="Arial" panose="020B0604020202020204" pitchFamily="34" charset="0"/>
              <a:buChar char="•"/>
            </a:pPr>
            <a:r>
              <a:rPr lang="en-US" sz="2400" b="1" dirty="0">
                <a:solidFill>
                  <a:srgbClr val="D20000"/>
                </a:solidFill>
              </a:rPr>
              <a:t>operator &amp; </a:t>
            </a:r>
            <a:r>
              <a:rPr lang="en-US" sz="2400" b="1" dirty="0">
                <a:solidFill>
                  <a:srgbClr val="2C14DE"/>
                </a:solidFill>
              </a:rPr>
              <a:t>returns the address of the object </a:t>
            </a:r>
            <a:r>
              <a:rPr lang="en-US" sz="2400" dirty="0"/>
              <a:t>in </a:t>
            </a:r>
            <a:r>
              <a:rPr lang="en-US" sz="2400" b="1" dirty="0"/>
              <a:t>memory</a:t>
            </a:r>
            <a:r>
              <a:rPr lang="en-US" sz="2400" dirty="0"/>
              <a:t>.</a:t>
            </a:r>
          </a:p>
        </p:txBody>
      </p:sp>
      <p:sp>
        <p:nvSpPr>
          <p:cNvPr id="4" name="Footer Placeholder 3">
            <a:extLst>
              <a:ext uri="{FF2B5EF4-FFF2-40B4-BE49-F238E27FC236}">
                <a16:creationId xmlns:a16="http://schemas.microsoft.com/office/drawing/2014/main" id="{FF04B363-F3D0-CBEE-C029-6AD4687D7581}"/>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13FD1E1A-43B6-DB89-1EF7-C4807974D36F}"/>
              </a:ext>
            </a:extLst>
          </p:cNvPr>
          <p:cNvSpPr>
            <a:spLocks noGrp="1"/>
          </p:cNvSpPr>
          <p:nvPr>
            <p:ph type="sldNum" sz="quarter" idx="12"/>
          </p:nvPr>
        </p:nvSpPr>
        <p:spPr/>
        <p:txBody>
          <a:bodyPr/>
          <a:lstStyle/>
          <a:p>
            <a:fld id="{51845F5A-061D-4825-9AE9-D7794091C6CF}" type="slidenum">
              <a:rPr lang="en-US" smtClean="0"/>
              <a:t>14</a:t>
            </a:fld>
            <a:endParaRPr lang="en-US" dirty="0"/>
          </a:p>
        </p:txBody>
      </p:sp>
    </p:spTree>
    <p:extLst>
      <p:ext uri="{BB962C8B-B14F-4D97-AF65-F5344CB8AC3E}">
        <p14:creationId xmlns:p14="http://schemas.microsoft.com/office/powerpoint/2010/main" val="3718544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B611-7E64-2FD8-FBD3-DBA9B1A922F8}"/>
              </a:ext>
            </a:extLst>
          </p:cNvPr>
          <p:cNvSpPr>
            <a:spLocks noGrp="1"/>
          </p:cNvSpPr>
          <p:nvPr>
            <p:ph type="title"/>
          </p:nvPr>
        </p:nvSpPr>
        <p:spPr/>
        <p:txBody>
          <a:bodyPr/>
          <a:lstStyle/>
          <a:p>
            <a:r>
              <a:rPr lang="en-US" dirty="0"/>
              <a:t>Invoking Objects</a:t>
            </a:r>
            <a:endParaRPr lang="en-PK" dirty="0"/>
          </a:p>
        </p:txBody>
      </p:sp>
      <p:sp>
        <p:nvSpPr>
          <p:cNvPr id="3" name="Content Placeholder 2">
            <a:extLst>
              <a:ext uri="{FF2B5EF4-FFF2-40B4-BE49-F238E27FC236}">
                <a16:creationId xmlns:a16="http://schemas.microsoft.com/office/drawing/2014/main" id="{BA2AFB01-4B43-2443-C270-EA7FCE0BE3A6}"/>
              </a:ext>
            </a:extLst>
          </p:cNvPr>
          <p:cNvSpPr>
            <a:spLocks noGrp="1"/>
          </p:cNvSpPr>
          <p:nvPr>
            <p:ph idx="1"/>
          </p:nvPr>
        </p:nvSpPr>
        <p:spPr/>
        <p:txBody>
          <a:bodyPr/>
          <a:lstStyle/>
          <a:p>
            <a:pPr algn="just"/>
            <a:r>
              <a:rPr lang="en-US" sz="2400" dirty="0"/>
              <a:t>If the </a:t>
            </a:r>
            <a:r>
              <a:rPr lang="en-US" sz="2400" dirty="0">
                <a:solidFill>
                  <a:srgbClr val="0069BF"/>
                </a:solidFill>
              </a:rPr>
              <a:t>operator is binary </a:t>
            </a:r>
            <a:r>
              <a:rPr lang="en-US" sz="2400" dirty="0"/>
              <a:t>but there is only </a:t>
            </a:r>
            <a:r>
              <a:rPr lang="en-US" sz="2400" dirty="0">
                <a:solidFill>
                  <a:srgbClr val="0069BF"/>
                </a:solidFill>
              </a:rPr>
              <a:t>one explicit argument</a:t>
            </a:r>
            <a:r>
              <a:rPr lang="en-US" sz="2400" dirty="0"/>
              <a:t>, the</a:t>
            </a:r>
            <a:r>
              <a:rPr lang="ja-JP" altLang="en-US" sz="2400" dirty="0"/>
              <a:t> </a:t>
            </a:r>
            <a:r>
              <a:rPr lang="en-US" altLang="ja-JP" sz="2400" dirty="0">
                <a:solidFill>
                  <a:srgbClr val="FF0000"/>
                </a:solidFill>
              </a:rPr>
              <a:t>calling</a:t>
            </a:r>
            <a:r>
              <a:rPr lang="ja-JP" altLang="en-US" sz="2400" dirty="0">
                <a:solidFill>
                  <a:srgbClr val="FF0000"/>
                </a:solidFill>
              </a:rPr>
              <a:t> </a:t>
            </a:r>
            <a:r>
              <a:rPr lang="en-US" altLang="ja-JP" sz="2400" dirty="0">
                <a:solidFill>
                  <a:srgbClr val="FF0000"/>
                </a:solidFill>
              </a:rPr>
              <a:t>object </a:t>
            </a:r>
            <a:r>
              <a:rPr lang="en-US" altLang="ja-JP" sz="2400" dirty="0"/>
              <a:t>is assumed to be the </a:t>
            </a:r>
            <a:r>
              <a:rPr lang="en-US" altLang="ja-JP" sz="2400" dirty="0">
                <a:solidFill>
                  <a:srgbClr val="FF0000"/>
                </a:solidFill>
              </a:rPr>
              <a:t>left operand</a:t>
            </a:r>
          </a:p>
          <a:p>
            <a:endParaRPr lang="en-PK" dirty="0"/>
          </a:p>
        </p:txBody>
      </p:sp>
      <p:sp>
        <p:nvSpPr>
          <p:cNvPr id="4" name="Footer Placeholder 3">
            <a:extLst>
              <a:ext uri="{FF2B5EF4-FFF2-40B4-BE49-F238E27FC236}">
                <a16:creationId xmlns:a16="http://schemas.microsoft.com/office/drawing/2014/main" id="{CB6A03F5-DD8E-DDC2-F994-196F28382CF7}"/>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EC2EEBCE-0E6B-4701-1653-182973FA9F26}"/>
              </a:ext>
            </a:extLst>
          </p:cNvPr>
          <p:cNvSpPr>
            <a:spLocks noGrp="1"/>
          </p:cNvSpPr>
          <p:nvPr>
            <p:ph type="sldNum" sz="quarter" idx="12"/>
          </p:nvPr>
        </p:nvSpPr>
        <p:spPr/>
        <p:txBody>
          <a:bodyPr/>
          <a:lstStyle/>
          <a:p>
            <a:fld id="{51845F5A-061D-4825-9AE9-D7794091C6CF}" type="slidenum">
              <a:rPr lang="en-US" smtClean="0"/>
              <a:t>15</a:t>
            </a:fld>
            <a:endParaRPr lang="en-US" dirty="0"/>
          </a:p>
        </p:txBody>
      </p:sp>
      <p:pic>
        <p:nvPicPr>
          <p:cNvPr id="6" name="Picture 5">
            <a:extLst>
              <a:ext uri="{FF2B5EF4-FFF2-40B4-BE49-F238E27FC236}">
                <a16:creationId xmlns:a16="http://schemas.microsoft.com/office/drawing/2014/main" id="{BEF90F82-DC35-4401-2FD5-E0D411CA8B90}"/>
              </a:ext>
            </a:extLst>
          </p:cNvPr>
          <p:cNvPicPr>
            <a:picLocks noChangeAspect="1"/>
          </p:cNvPicPr>
          <p:nvPr/>
        </p:nvPicPr>
        <p:blipFill>
          <a:blip r:embed="rId2"/>
          <a:stretch>
            <a:fillRect/>
          </a:stretch>
        </p:blipFill>
        <p:spPr>
          <a:xfrm>
            <a:off x="2422849" y="2902018"/>
            <a:ext cx="7163421" cy="3590855"/>
          </a:xfrm>
          <a:prstGeom prst="rect">
            <a:avLst/>
          </a:prstGeom>
        </p:spPr>
      </p:pic>
    </p:spTree>
    <p:extLst>
      <p:ext uri="{BB962C8B-B14F-4D97-AF65-F5344CB8AC3E}">
        <p14:creationId xmlns:p14="http://schemas.microsoft.com/office/powerpoint/2010/main" val="3672273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6790-0B4A-35AD-0A36-42FAB2D216B8}"/>
              </a:ext>
            </a:extLst>
          </p:cNvPr>
          <p:cNvSpPr>
            <a:spLocks noGrp="1"/>
          </p:cNvSpPr>
          <p:nvPr>
            <p:ph type="title"/>
          </p:nvPr>
        </p:nvSpPr>
        <p:spPr/>
        <p:txBody>
          <a:bodyPr/>
          <a:lstStyle/>
          <a:p>
            <a:r>
              <a:rPr lang="en-US" dirty="0"/>
              <a:t>Operator Overloading Syntax</a:t>
            </a:r>
            <a:endParaRPr lang="en-PK" dirty="0"/>
          </a:p>
        </p:txBody>
      </p:sp>
      <p:sp>
        <p:nvSpPr>
          <p:cNvPr id="4" name="Footer Placeholder 3">
            <a:extLst>
              <a:ext uri="{FF2B5EF4-FFF2-40B4-BE49-F238E27FC236}">
                <a16:creationId xmlns:a16="http://schemas.microsoft.com/office/drawing/2014/main" id="{CEC158E3-E03F-DD67-980D-9B9B04635F72}"/>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FAD67666-B7CA-9203-8E14-A709BA4A45DD}"/>
              </a:ext>
            </a:extLst>
          </p:cNvPr>
          <p:cNvSpPr>
            <a:spLocks noGrp="1"/>
          </p:cNvSpPr>
          <p:nvPr>
            <p:ph type="sldNum" sz="quarter" idx="12"/>
          </p:nvPr>
        </p:nvSpPr>
        <p:spPr/>
        <p:txBody>
          <a:bodyPr/>
          <a:lstStyle/>
          <a:p>
            <a:fld id="{51845F5A-061D-4825-9AE9-D7794091C6CF}" type="slidenum">
              <a:rPr lang="en-US" smtClean="0"/>
              <a:t>16</a:t>
            </a:fld>
            <a:endParaRPr lang="en-US" dirty="0"/>
          </a:p>
        </p:txBody>
      </p:sp>
      <p:pic>
        <p:nvPicPr>
          <p:cNvPr id="6" name="Picture 5">
            <a:extLst>
              <a:ext uri="{FF2B5EF4-FFF2-40B4-BE49-F238E27FC236}">
                <a16:creationId xmlns:a16="http://schemas.microsoft.com/office/drawing/2014/main" id="{FB887426-BA5E-CECD-E72C-A2538E4FC4C7}"/>
              </a:ext>
            </a:extLst>
          </p:cNvPr>
          <p:cNvPicPr>
            <a:picLocks noChangeAspect="1"/>
          </p:cNvPicPr>
          <p:nvPr/>
        </p:nvPicPr>
        <p:blipFill>
          <a:blip r:embed="rId2"/>
          <a:stretch>
            <a:fillRect/>
          </a:stretch>
        </p:blipFill>
        <p:spPr>
          <a:xfrm>
            <a:off x="1883299" y="1392869"/>
            <a:ext cx="8425402" cy="5261304"/>
          </a:xfrm>
          <a:prstGeom prst="rect">
            <a:avLst/>
          </a:prstGeom>
        </p:spPr>
      </p:pic>
    </p:spTree>
    <p:extLst>
      <p:ext uri="{BB962C8B-B14F-4D97-AF65-F5344CB8AC3E}">
        <p14:creationId xmlns:p14="http://schemas.microsoft.com/office/powerpoint/2010/main" val="1098432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64DF5-AED3-66D2-AC9D-9992A9476782}"/>
              </a:ext>
            </a:extLst>
          </p:cNvPr>
          <p:cNvSpPr>
            <a:spLocks noGrp="1"/>
          </p:cNvSpPr>
          <p:nvPr>
            <p:ph type="title"/>
          </p:nvPr>
        </p:nvSpPr>
        <p:spPr/>
        <p:txBody>
          <a:bodyPr/>
          <a:lstStyle/>
          <a:p>
            <a:r>
              <a:rPr lang="en-US" dirty="0"/>
              <a:t>Operator Overloading Syntax</a:t>
            </a:r>
            <a:endParaRPr lang="en-PK" dirty="0"/>
          </a:p>
        </p:txBody>
      </p:sp>
      <p:sp>
        <p:nvSpPr>
          <p:cNvPr id="3" name="Content Placeholder 2">
            <a:extLst>
              <a:ext uri="{FF2B5EF4-FFF2-40B4-BE49-F238E27FC236}">
                <a16:creationId xmlns:a16="http://schemas.microsoft.com/office/drawing/2014/main" id="{8378D50B-4E5C-61ED-B4FF-5E30C28416EA}"/>
              </a:ext>
            </a:extLst>
          </p:cNvPr>
          <p:cNvSpPr>
            <a:spLocks noGrp="1"/>
          </p:cNvSpPr>
          <p:nvPr>
            <p:ph idx="1"/>
          </p:nvPr>
        </p:nvSpPr>
        <p:spPr>
          <a:xfrm>
            <a:off x="838200" y="1738314"/>
            <a:ext cx="10515600" cy="4800600"/>
          </a:xfrm>
        </p:spPr>
        <p:txBody>
          <a:bodyPr>
            <a:normAutofit fontScale="70000" lnSpcReduction="20000"/>
          </a:bodyPr>
          <a:lstStyle/>
          <a:p>
            <a:pPr marL="0" indent="0">
              <a:buNone/>
            </a:pPr>
            <a:r>
              <a:rPr lang="en-US" dirty="0"/>
              <a:t>datatype operator+ (datatype)</a:t>
            </a:r>
          </a:p>
          <a:p>
            <a:pPr marL="0" indent="0">
              <a:buNone/>
            </a:pPr>
            <a:r>
              <a:rPr lang="en-US" dirty="0"/>
              <a:t>Example (1): </a:t>
            </a:r>
            <a:r>
              <a:rPr lang="en-US" dirty="0">
                <a:solidFill>
                  <a:srgbClr val="0070C0"/>
                </a:solidFill>
              </a:rPr>
              <a:t>parameter of primitive data type</a:t>
            </a:r>
          </a:p>
          <a:p>
            <a:pPr marL="0" indent="0">
              <a:buNone/>
            </a:pPr>
            <a:r>
              <a:rPr lang="en-US" dirty="0">
                <a:solidFill>
                  <a:srgbClr val="0070C0"/>
                </a:solidFill>
              </a:rPr>
              <a:t>	      return value of primitive data type </a:t>
            </a:r>
          </a:p>
          <a:p>
            <a:pPr marL="0" indent="0">
              <a:buNone/>
            </a:pPr>
            <a:endParaRPr lang="en-US" dirty="0">
              <a:solidFill>
                <a:srgbClr val="0070C0"/>
              </a:solidFill>
            </a:endParaRPr>
          </a:p>
          <a:p>
            <a:pPr marL="457200" lvl="1" indent="0">
              <a:buNone/>
            </a:pPr>
            <a:r>
              <a:rPr lang="en-US" sz="2600" dirty="0">
                <a:latin typeface="Consolas" panose="020B0609020204030204" pitchFamily="49" charset="0"/>
              </a:rPr>
              <a:t>class </a:t>
            </a:r>
            <a:r>
              <a:rPr lang="en-US" sz="2600" dirty="0" err="1">
                <a:latin typeface="Consolas" panose="020B0609020204030204" pitchFamily="49" charset="0"/>
              </a:rPr>
              <a:t>myClass</a:t>
            </a:r>
            <a:endParaRPr lang="en-US" sz="2600" dirty="0">
              <a:latin typeface="Consolas" panose="020B0609020204030204" pitchFamily="49" charset="0"/>
            </a:endParaRPr>
          </a:p>
          <a:p>
            <a:pPr marL="457200" lvl="1" indent="0">
              <a:buNone/>
            </a:pPr>
            <a:r>
              <a:rPr lang="en-US" sz="2600" dirty="0">
                <a:latin typeface="Consolas" panose="020B0609020204030204" pitchFamily="49" charset="0"/>
              </a:rPr>
              <a:t>{			</a:t>
            </a:r>
          </a:p>
          <a:p>
            <a:pPr marL="457200" lvl="1" indent="0">
              <a:buNone/>
            </a:pPr>
            <a:r>
              <a:rPr lang="en-US" sz="2600" dirty="0">
                <a:latin typeface="Consolas" panose="020B0609020204030204" pitchFamily="49" charset="0"/>
              </a:rPr>
              <a:t>		</a:t>
            </a:r>
            <a:r>
              <a:rPr lang="en-US" sz="2600" dirty="0">
                <a:solidFill>
                  <a:srgbClr val="0070C0"/>
                </a:solidFill>
                <a:latin typeface="Consolas" panose="020B0609020204030204" pitchFamily="49" charset="0"/>
              </a:rPr>
              <a:t>int</a:t>
            </a:r>
            <a:r>
              <a:rPr lang="en-US" sz="2600" dirty="0">
                <a:latin typeface="Consolas" panose="020B0609020204030204" pitchFamily="49" charset="0"/>
              </a:rPr>
              <a:t> </a:t>
            </a:r>
            <a:r>
              <a:rPr lang="en-US" sz="2600" dirty="0">
                <a:solidFill>
                  <a:srgbClr val="FF0000"/>
                </a:solidFill>
                <a:latin typeface="Consolas" panose="020B0609020204030204" pitchFamily="49" charset="0"/>
              </a:rPr>
              <a:t>operator+ </a:t>
            </a:r>
            <a:r>
              <a:rPr lang="en-US" sz="2600" dirty="0">
                <a:latin typeface="Consolas" panose="020B0609020204030204" pitchFamily="49" charset="0"/>
              </a:rPr>
              <a:t>( </a:t>
            </a:r>
            <a:r>
              <a:rPr lang="en-US" sz="2600" dirty="0">
                <a:solidFill>
                  <a:srgbClr val="0070C0"/>
                </a:solidFill>
                <a:latin typeface="Consolas" panose="020B0609020204030204" pitchFamily="49" charset="0"/>
              </a:rPr>
              <a:t>int</a:t>
            </a:r>
            <a:r>
              <a:rPr lang="en-US" sz="2600" dirty="0">
                <a:latin typeface="Consolas" panose="020B0609020204030204" pitchFamily="49" charset="0"/>
              </a:rPr>
              <a:t> );    </a:t>
            </a:r>
          </a:p>
          <a:p>
            <a:pPr marL="457200" lvl="1" indent="0">
              <a:buNone/>
            </a:pPr>
            <a:r>
              <a:rPr lang="en-US" sz="2600" dirty="0">
                <a:latin typeface="Consolas" panose="020B0609020204030204" pitchFamily="49" charset="0"/>
              </a:rPr>
              <a:t>}</a:t>
            </a:r>
          </a:p>
          <a:p>
            <a:pPr marL="457200" lvl="1" indent="0">
              <a:buNone/>
            </a:pPr>
            <a:endParaRPr lang="en-US" sz="2600" dirty="0">
              <a:latin typeface="Consolas" panose="020B0609020204030204" pitchFamily="49" charset="0"/>
            </a:endParaRPr>
          </a:p>
          <a:p>
            <a:pPr marL="457200" lvl="1" indent="0">
              <a:buNone/>
            </a:pPr>
            <a:r>
              <a:rPr lang="en-US" sz="2600" dirty="0">
                <a:latin typeface="Consolas" panose="020B0609020204030204" pitchFamily="49" charset="0"/>
              </a:rPr>
              <a:t>int main ( )</a:t>
            </a:r>
          </a:p>
          <a:p>
            <a:pPr marL="457200" lvl="1" indent="0">
              <a:buNone/>
            </a:pPr>
            <a:r>
              <a:rPr lang="en-US" sz="2600" dirty="0">
                <a:latin typeface="Consolas" panose="020B0609020204030204" pitchFamily="49" charset="0"/>
              </a:rPr>
              <a:t>{</a:t>
            </a:r>
          </a:p>
          <a:p>
            <a:pPr marL="457200" lvl="1" indent="0">
              <a:buNone/>
            </a:pPr>
            <a:r>
              <a:rPr lang="en-US" sz="2600" dirty="0">
                <a:latin typeface="Consolas" panose="020B0609020204030204" pitchFamily="49" charset="0"/>
              </a:rPr>
              <a:t>		int </a:t>
            </a:r>
            <a:r>
              <a:rPr lang="en-US" sz="2600" dirty="0" err="1">
                <a:latin typeface="Consolas" panose="020B0609020204030204" pitchFamily="49" charset="0"/>
              </a:rPr>
              <a:t>a,b</a:t>
            </a:r>
            <a:r>
              <a:rPr lang="en-US" sz="2600" dirty="0">
                <a:latin typeface="Consolas" panose="020B0609020204030204" pitchFamily="49" charset="0"/>
              </a:rPr>
              <a:t>=5;	</a:t>
            </a:r>
          </a:p>
          <a:p>
            <a:pPr marL="457200" lvl="1" indent="0">
              <a:buNone/>
            </a:pPr>
            <a:r>
              <a:rPr lang="en-US" sz="2600" dirty="0">
                <a:latin typeface="Consolas" panose="020B0609020204030204" pitchFamily="49" charset="0"/>
              </a:rPr>
              <a:t>		</a:t>
            </a:r>
            <a:r>
              <a:rPr lang="en-US" sz="2600" dirty="0" err="1">
                <a:latin typeface="Consolas" panose="020B0609020204030204" pitchFamily="49" charset="0"/>
              </a:rPr>
              <a:t>myClass</a:t>
            </a:r>
            <a:r>
              <a:rPr lang="en-US" sz="2600" dirty="0">
                <a:latin typeface="Consolas" panose="020B0609020204030204" pitchFamily="49" charset="0"/>
              </a:rPr>
              <a:t> object1;</a:t>
            </a:r>
          </a:p>
          <a:p>
            <a:pPr marL="457200" lvl="1" indent="0">
              <a:buNone/>
            </a:pPr>
            <a:r>
              <a:rPr lang="en-US" sz="2600" dirty="0">
                <a:latin typeface="Consolas" panose="020B0609020204030204" pitchFamily="49" charset="0"/>
              </a:rPr>
              <a:t>		a = object1 + b;</a:t>
            </a:r>
          </a:p>
          <a:p>
            <a:pPr marL="457200" lvl="1" indent="0">
              <a:buNone/>
            </a:pPr>
            <a:r>
              <a:rPr lang="en-US" sz="2600" dirty="0">
                <a:latin typeface="Consolas" panose="020B0609020204030204" pitchFamily="49" charset="0"/>
              </a:rPr>
              <a:t>}</a:t>
            </a:r>
          </a:p>
        </p:txBody>
      </p:sp>
      <p:sp>
        <p:nvSpPr>
          <p:cNvPr id="4" name="Footer Placeholder 3">
            <a:extLst>
              <a:ext uri="{FF2B5EF4-FFF2-40B4-BE49-F238E27FC236}">
                <a16:creationId xmlns:a16="http://schemas.microsoft.com/office/drawing/2014/main" id="{EFE31276-DB1B-9CDD-5E58-580610D82A7B}"/>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0F9F4551-3964-723A-F125-5B750D0961C3}"/>
              </a:ext>
            </a:extLst>
          </p:cNvPr>
          <p:cNvSpPr>
            <a:spLocks noGrp="1"/>
          </p:cNvSpPr>
          <p:nvPr>
            <p:ph type="sldNum" sz="quarter" idx="12"/>
          </p:nvPr>
        </p:nvSpPr>
        <p:spPr/>
        <p:txBody>
          <a:bodyPr/>
          <a:lstStyle/>
          <a:p>
            <a:fld id="{51845F5A-061D-4825-9AE9-D7794091C6CF}" type="slidenum">
              <a:rPr lang="en-US" smtClean="0"/>
              <a:t>17</a:t>
            </a:fld>
            <a:endParaRPr lang="en-US" dirty="0"/>
          </a:p>
        </p:txBody>
      </p:sp>
    </p:spTree>
    <p:extLst>
      <p:ext uri="{BB962C8B-B14F-4D97-AF65-F5344CB8AC3E}">
        <p14:creationId xmlns:p14="http://schemas.microsoft.com/office/powerpoint/2010/main" val="498907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31E9D-4B5F-80F3-3379-680575010841}"/>
              </a:ext>
            </a:extLst>
          </p:cNvPr>
          <p:cNvSpPr>
            <a:spLocks noGrp="1"/>
          </p:cNvSpPr>
          <p:nvPr>
            <p:ph type="title"/>
          </p:nvPr>
        </p:nvSpPr>
        <p:spPr/>
        <p:txBody>
          <a:bodyPr/>
          <a:lstStyle/>
          <a:p>
            <a:r>
              <a:rPr lang="en-US" dirty="0"/>
              <a:t>Operator Overloading Syntax</a:t>
            </a:r>
            <a:endParaRPr lang="en-PK" dirty="0"/>
          </a:p>
        </p:txBody>
      </p:sp>
      <p:sp>
        <p:nvSpPr>
          <p:cNvPr id="3" name="Content Placeholder 2">
            <a:extLst>
              <a:ext uri="{FF2B5EF4-FFF2-40B4-BE49-F238E27FC236}">
                <a16:creationId xmlns:a16="http://schemas.microsoft.com/office/drawing/2014/main" id="{8105B40D-713E-F2A8-367F-07536D07C690}"/>
              </a:ext>
            </a:extLst>
          </p:cNvPr>
          <p:cNvSpPr>
            <a:spLocks noGrp="1"/>
          </p:cNvSpPr>
          <p:nvPr>
            <p:ph idx="1"/>
          </p:nvPr>
        </p:nvSpPr>
        <p:spPr>
          <a:xfrm>
            <a:off x="838200" y="1690690"/>
            <a:ext cx="10515600" cy="5030472"/>
          </a:xfrm>
        </p:spPr>
        <p:txBody>
          <a:bodyPr>
            <a:normAutofit/>
          </a:bodyPr>
          <a:lstStyle/>
          <a:p>
            <a:pPr marL="0" indent="0">
              <a:buNone/>
            </a:pPr>
            <a:r>
              <a:rPr lang="en-US" sz="1600" dirty="0"/>
              <a:t>datatype operator+ (datatype)</a:t>
            </a:r>
          </a:p>
          <a:p>
            <a:pPr marL="0" indent="0">
              <a:buNone/>
            </a:pPr>
            <a:r>
              <a:rPr lang="en-US" sz="1600" dirty="0"/>
              <a:t>Example (2): </a:t>
            </a:r>
            <a:r>
              <a:rPr lang="en-US" sz="1600" dirty="0">
                <a:solidFill>
                  <a:srgbClr val="0070C0"/>
                </a:solidFill>
              </a:rPr>
              <a:t>parameter of user defined data type</a:t>
            </a:r>
          </a:p>
          <a:p>
            <a:pPr marL="0" indent="0">
              <a:buNone/>
            </a:pPr>
            <a:r>
              <a:rPr lang="en-US" sz="1600" dirty="0"/>
              <a:t>	       </a:t>
            </a:r>
            <a:r>
              <a:rPr lang="en-US" sz="1600" dirty="0">
                <a:solidFill>
                  <a:srgbClr val="0070C0"/>
                </a:solidFill>
              </a:rPr>
              <a:t>return value of primitive data type </a:t>
            </a:r>
          </a:p>
          <a:p>
            <a:pPr marL="0" indent="0">
              <a:buNone/>
            </a:pPr>
            <a:endParaRPr lang="en-US" sz="1600" dirty="0">
              <a:solidFill>
                <a:srgbClr val="0070C0"/>
              </a:solidFill>
            </a:endParaRPr>
          </a:p>
          <a:p>
            <a:pPr marL="457200" lvl="1" indent="0">
              <a:buNone/>
            </a:pPr>
            <a:r>
              <a:rPr lang="en-US" sz="1600" dirty="0">
                <a:latin typeface="Consolas" panose="020B0609020204030204" pitchFamily="49" charset="0"/>
              </a:rPr>
              <a:t>class </a:t>
            </a:r>
            <a:r>
              <a:rPr lang="en-US" sz="1600" dirty="0" err="1">
                <a:latin typeface="Consolas" panose="020B0609020204030204" pitchFamily="49" charset="0"/>
              </a:rPr>
              <a:t>myClass</a:t>
            </a:r>
            <a:endParaRPr lang="en-US" sz="1600" dirty="0">
              <a:latin typeface="Consolas" panose="020B0609020204030204" pitchFamily="49" charset="0"/>
            </a:endParaRPr>
          </a:p>
          <a:p>
            <a:pPr marL="457200" lvl="1" indent="0">
              <a:buNone/>
            </a:pPr>
            <a:r>
              <a:rPr lang="en-US" sz="1600" dirty="0">
                <a:latin typeface="Consolas" panose="020B0609020204030204" pitchFamily="49" charset="0"/>
              </a:rPr>
              <a:t>{			</a:t>
            </a:r>
          </a:p>
          <a:p>
            <a:pPr marL="457200" lvl="1" indent="0">
              <a:buNone/>
            </a:pPr>
            <a:r>
              <a:rPr lang="en-US" sz="1600" dirty="0">
                <a:latin typeface="Consolas" panose="020B0609020204030204" pitchFamily="49" charset="0"/>
              </a:rPr>
              <a:t>		</a:t>
            </a:r>
            <a:r>
              <a:rPr lang="en-US" sz="1600" dirty="0">
                <a:solidFill>
                  <a:srgbClr val="0070C0"/>
                </a:solidFill>
                <a:latin typeface="Consolas" panose="020B0609020204030204" pitchFamily="49" charset="0"/>
              </a:rPr>
              <a:t>int</a:t>
            </a:r>
            <a:r>
              <a:rPr lang="en-US" sz="1600" dirty="0">
                <a:latin typeface="Consolas" panose="020B0609020204030204" pitchFamily="49" charset="0"/>
              </a:rPr>
              <a:t> </a:t>
            </a:r>
            <a:r>
              <a:rPr lang="en-US" sz="1600" dirty="0">
                <a:solidFill>
                  <a:srgbClr val="FF0000"/>
                </a:solidFill>
                <a:latin typeface="Consolas" panose="020B0609020204030204" pitchFamily="49" charset="0"/>
              </a:rPr>
              <a:t>operator+ </a:t>
            </a:r>
            <a:r>
              <a:rPr lang="en-US" sz="1600" dirty="0">
                <a:latin typeface="Consolas" panose="020B0609020204030204" pitchFamily="49" charset="0"/>
              </a:rPr>
              <a:t>( </a:t>
            </a:r>
            <a:r>
              <a:rPr lang="en-US" sz="1600" dirty="0" err="1">
                <a:solidFill>
                  <a:srgbClr val="0070C0"/>
                </a:solidFill>
                <a:latin typeface="Consolas" panose="020B0609020204030204" pitchFamily="49" charset="0"/>
              </a:rPr>
              <a:t>myClass</a:t>
            </a:r>
            <a:r>
              <a:rPr lang="en-US" sz="1600" dirty="0">
                <a:solidFill>
                  <a:srgbClr val="0070C0"/>
                </a:solidFill>
                <a:latin typeface="Consolas" panose="020B0609020204030204" pitchFamily="49" charset="0"/>
              </a:rPr>
              <a:t> &amp;a</a:t>
            </a:r>
            <a:r>
              <a:rPr lang="en-US" sz="1600" dirty="0">
                <a:latin typeface="Consolas" panose="020B0609020204030204" pitchFamily="49" charset="0"/>
              </a:rPr>
              <a:t> );    </a:t>
            </a:r>
          </a:p>
          <a:p>
            <a:pPr marL="457200" lvl="1" indent="0">
              <a:buNone/>
            </a:pPr>
            <a:r>
              <a:rPr lang="en-US" sz="1600" dirty="0">
                <a:latin typeface="Consolas" panose="020B0609020204030204" pitchFamily="49" charset="0"/>
              </a:rPr>
              <a:t>}</a:t>
            </a:r>
          </a:p>
          <a:p>
            <a:pPr marL="457200" lvl="1" indent="0">
              <a:buNone/>
            </a:pPr>
            <a:endParaRPr lang="en-US" sz="1600" dirty="0">
              <a:latin typeface="Consolas" panose="020B0609020204030204" pitchFamily="49" charset="0"/>
            </a:endParaRPr>
          </a:p>
          <a:p>
            <a:pPr marL="457200" lvl="1" indent="0">
              <a:buNone/>
            </a:pPr>
            <a:r>
              <a:rPr lang="en-US" sz="1600" dirty="0">
                <a:latin typeface="Consolas" panose="020B0609020204030204" pitchFamily="49" charset="0"/>
              </a:rPr>
              <a:t>int main ( )</a:t>
            </a:r>
          </a:p>
          <a:p>
            <a:pPr marL="457200" lvl="1" indent="0">
              <a:buNone/>
            </a:pPr>
            <a:r>
              <a:rPr lang="en-US" sz="1600" dirty="0">
                <a:latin typeface="Consolas" panose="020B0609020204030204" pitchFamily="49" charset="0"/>
              </a:rPr>
              <a:t>{</a:t>
            </a:r>
          </a:p>
          <a:p>
            <a:pPr marL="457200" lvl="1" indent="0">
              <a:buNone/>
            </a:pPr>
            <a:r>
              <a:rPr lang="en-US" sz="1600" dirty="0">
                <a:latin typeface="Consolas" panose="020B0609020204030204" pitchFamily="49" charset="0"/>
              </a:rPr>
              <a:t>		int a;	</a:t>
            </a:r>
          </a:p>
          <a:p>
            <a:pPr marL="457200" lvl="1" indent="0">
              <a:buNone/>
            </a:pPr>
            <a:r>
              <a:rPr lang="en-US" sz="1600" dirty="0">
                <a:latin typeface="Consolas" panose="020B0609020204030204" pitchFamily="49" charset="0"/>
              </a:rPr>
              <a:t>		</a:t>
            </a:r>
            <a:r>
              <a:rPr lang="en-US" sz="1600" dirty="0" err="1">
                <a:latin typeface="Consolas" panose="020B0609020204030204" pitchFamily="49" charset="0"/>
              </a:rPr>
              <a:t>myClass</a:t>
            </a:r>
            <a:r>
              <a:rPr lang="en-US" sz="1600" dirty="0">
                <a:latin typeface="Consolas" panose="020B0609020204030204" pitchFamily="49" charset="0"/>
              </a:rPr>
              <a:t> object1, object2;</a:t>
            </a:r>
          </a:p>
          <a:p>
            <a:pPr marL="457200" lvl="1" indent="0">
              <a:buNone/>
            </a:pPr>
            <a:r>
              <a:rPr lang="en-US" sz="1600" dirty="0">
                <a:latin typeface="Consolas" panose="020B0609020204030204" pitchFamily="49" charset="0"/>
              </a:rPr>
              <a:t>		a = object1 + object2;</a:t>
            </a:r>
          </a:p>
          <a:p>
            <a:pPr marL="457200" lvl="1" indent="0">
              <a:buNone/>
            </a:pPr>
            <a:r>
              <a:rPr lang="en-US" sz="1600" dirty="0">
                <a:latin typeface="Consolas" panose="020B0609020204030204" pitchFamily="49" charset="0"/>
              </a:rPr>
              <a:t>}</a:t>
            </a:r>
          </a:p>
        </p:txBody>
      </p:sp>
      <p:sp>
        <p:nvSpPr>
          <p:cNvPr id="4" name="Footer Placeholder 3">
            <a:extLst>
              <a:ext uri="{FF2B5EF4-FFF2-40B4-BE49-F238E27FC236}">
                <a16:creationId xmlns:a16="http://schemas.microsoft.com/office/drawing/2014/main" id="{AA78C74D-9F2E-A2E0-C031-A90768457C36}"/>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53900062-4EFB-4FB5-C48D-082A8CB67AF4}"/>
              </a:ext>
            </a:extLst>
          </p:cNvPr>
          <p:cNvSpPr>
            <a:spLocks noGrp="1"/>
          </p:cNvSpPr>
          <p:nvPr>
            <p:ph type="sldNum" sz="quarter" idx="12"/>
          </p:nvPr>
        </p:nvSpPr>
        <p:spPr/>
        <p:txBody>
          <a:bodyPr/>
          <a:lstStyle/>
          <a:p>
            <a:fld id="{51845F5A-061D-4825-9AE9-D7794091C6CF}" type="slidenum">
              <a:rPr lang="en-US" smtClean="0"/>
              <a:t>18</a:t>
            </a:fld>
            <a:endParaRPr lang="en-US" dirty="0"/>
          </a:p>
        </p:txBody>
      </p:sp>
    </p:spTree>
    <p:extLst>
      <p:ext uri="{BB962C8B-B14F-4D97-AF65-F5344CB8AC3E}">
        <p14:creationId xmlns:p14="http://schemas.microsoft.com/office/powerpoint/2010/main" val="2689597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E2C09-651F-A18E-EEAD-385AE421572C}"/>
              </a:ext>
            </a:extLst>
          </p:cNvPr>
          <p:cNvSpPr>
            <a:spLocks noGrp="1"/>
          </p:cNvSpPr>
          <p:nvPr>
            <p:ph type="title"/>
          </p:nvPr>
        </p:nvSpPr>
        <p:spPr/>
        <p:txBody>
          <a:bodyPr/>
          <a:lstStyle/>
          <a:p>
            <a:r>
              <a:rPr lang="en-US" dirty="0"/>
              <a:t>Operator Overloading Syntax</a:t>
            </a:r>
            <a:endParaRPr lang="en-PK" dirty="0"/>
          </a:p>
        </p:txBody>
      </p:sp>
      <p:sp>
        <p:nvSpPr>
          <p:cNvPr id="3" name="Content Placeholder 2">
            <a:extLst>
              <a:ext uri="{FF2B5EF4-FFF2-40B4-BE49-F238E27FC236}">
                <a16:creationId xmlns:a16="http://schemas.microsoft.com/office/drawing/2014/main" id="{A18D0172-16E9-D0A0-BBD4-7FCDA8724035}"/>
              </a:ext>
            </a:extLst>
          </p:cNvPr>
          <p:cNvSpPr>
            <a:spLocks noGrp="1"/>
          </p:cNvSpPr>
          <p:nvPr>
            <p:ph idx="1"/>
          </p:nvPr>
        </p:nvSpPr>
        <p:spPr>
          <a:xfrm>
            <a:off x="838200" y="1863727"/>
            <a:ext cx="10515600" cy="4857750"/>
          </a:xfrm>
        </p:spPr>
        <p:txBody>
          <a:bodyPr>
            <a:normAutofit fontScale="77500" lnSpcReduction="20000"/>
          </a:bodyPr>
          <a:lstStyle/>
          <a:p>
            <a:pPr marL="0" indent="0">
              <a:buNone/>
            </a:pPr>
            <a:r>
              <a:rPr lang="en-US" dirty="0"/>
              <a:t>datatype operator+ (datatype)</a:t>
            </a:r>
          </a:p>
          <a:p>
            <a:pPr marL="0" indent="0">
              <a:buNone/>
            </a:pPr>
            <a:r>
              <a:rPr lang="en-US" dirty="0"/>
              <a:t>Example (3): </a:t>
            </a:r>
            <a:r>
              <a:rPr lang="en-US" dirty="0">
                <a:solidFill>
                  <a:srgbClr val="0070C0"/>
                </a:solidFill>
              </a:rPr>
              <a:t>parameter of primitive data type</a:t>
            </a:r>
          </a:p>
          <a:p>
            <a:pPr marL="0" indent="0">
              <a:buNone/>
            </a:pPr>
            <a:r>
              <a:rPr lang="en-US" dirty="0"/>
              <a:t>	          </a:t>
            </a:r>
            <a:r>
              <a:rPr lang="en-US" dirty="0">
                <a:solidFill>
                  <a:srgbClr val="0070C0"/>
                </a:solidFill>
              </a:rPr>
              <a:t> return value of user defined data type </a:t>
            </a:r>
          </a:p>
          <a:p>
            <a:pPr marL="0" indent="0">
              <a:buNone/>
            </a:pPr>
            <a:endParaRPr lang="en-US" dirty="0"/>
          </a:p>
          <a:p>
            <a:pPr marL="457200" lvl="1" indent="0">
              <a:buNone/>
            </a:pPr>
            <a:r>
              <a:rPr lang="en-US" sz="2600" dirty="0">
                <a:latin typeface="Consolas" panose="020B0609020204030204" pitchFamily="49" charset="0"/>
              </a:rPr>
              <a:t>class </a:t>
            </a:r>
            <a:r>
              <a:rPr lang="en-US" sz="2600" dirty="0" err="1">
                <a:latin typeface="Consolas" panose="020B0609020204030204" pitchFamily="49" charset="0"/>
              </a:rPr>
              <a:t>myClass</a:t>
            </a:r>
            <a:endParaRPr lang="en-US" sz="2600" dirty="0">
              <a:latin typeface="Consolas" panose="020B0609020204030204" pitchFamily="49" charset="0"/>
            </a:endParaRPr>
          </a:p>
          <a:p>
            <a:pPr marL="457200" lvl="1" indent="0">
              <a:buNone/>
            </a:pPr>
            <a:r>
              <a:rPr lang="en-US" sz="2600" dirty="0">
                <a:latin typeface="Consolas" panose="020B0609020204030204" pitchFamily="49" charset="0"/>
              </a:rPr>
              <a:t>{			</a:t>
            </a:r>
            <a:r>
              <a:rPr lang="en-US" sz="2600" dirty="0" err="1">
                <a:solidFill>
                  <a:srgbClr val="0070C0"/>
                </a:solidFill>
                <a:latin typeface="Consolas" panose="020B0609020204030204" pitchFamily="49" charset="0"/>
              </a:rPr>
              <a:t>myClass</a:t>
            </a:r>
            <a:r>
              <a:rPr lang="en-US" sz="2600" dirty="0">
                <a:latin typeface="Consolas" panose="020B0609020204030204" pitchFamily="49" charset="0"/>
              </a:rPr>
              <a:t> </a:t>
            </a:r>
            <a:r>
              <a:rPr lang="en-US" sz="2600" dirty="0">
                <a:solidFill>
                  <a:srgbClr val="FF0000"/>
                </a:solidFill>
                <a:latin typeface="Consolas" panose="020B0609020204030204" pitchFamily="49" charset="0"/>
              </a:rPr>
              <a:t>operator+ </a:t>
            </a:r>
            <a:r>
              <a:rPr lang="en-US" sz="2600" dirty="0">
                <a:latin typeface="Consolas" panose="020B0609020204030204" pitchFamily="49" charset="0"/>
              </a:rPr>
              <a:t>( </a:t>
            </a:r>
            <a:r>
              <a:rPr lang="en-US" sz="2600" dirty="0">
                <a:solidFill>
                  <a:srgbClr val="0070C0"/>
                </a:solidFill>
                <a:latin typeface="Consolas" panose="020B0609020204030204" pitchFamily="49" charset="0"/>
              </a:rPr>
              <a:t>int</a:t>
            </a:r>
            <a:r>
              <a:rPr lang="en-US" sz="2600" dirty="0">
                <a:latin typeface="Consolas" panose="020B0609020204030204" pitchFamily="49" charset="0"/>
              </a:rPr>
              <a:t> );    }</a:t>
            </a:r>
          </a:p>
          <a:p>
            <a:pPr marL="457200" lvl="1" indent="0">
              <a:buNone/>
            </a:pPr>
            <a:endParaRPr lang="en-US" sz="2600" dirty="0">
              <a:latin typeface="Consolas" panose="020B0609020204030204" pitchFamily="49" charset="0"/>
            </a:endParaRPr>
          </a:p>
          <a:p>
            <a:pPr marL="457200" lvl="1" indent="0">
              <a:buNone/>
            </a:pPr>
            <a:endParaRPr lang="en-US" sz="2600" dirty="0">
              <a:latin typeface="Consolas" panose="020B0609020204030204" pitchFamily="49" charset="0"/>
            </a:endParaRPr>
          </a:p>
          <a:p>
            <a:pPr marL="457200" lvl="1" indent="0">
              <a:buNone/>
            </a:pPr>
            <a:r>
              <a:rPr lang="en-US" sz="2600" dirty="0">
                <a:latin typeface="Consolas" panose="020B0609020204030204" pitchFamily="49" charset="0"/>
              </a:rPr>
              <a:t>int main ( )</a:t>
            </a:r>
          </a:p>
          <a:p>
            <a:pPr marL="457200" lvl="1" indent="0">
              <a:buNone/>
            </a:pPr>
            <a:r>
              <a:rPr lang="en-US" sz="2600" dirty="0">
                <a:latin typeface="Consolas" panose="020B0609020204030204" pitchFamily="49" charset="0"/>
              </a:rPr>
              <a:t>{</a:t>
            </a:r>
          </a:p>
          <a:p>
            <a:pPr marL="457200" lvl="1" indent="0">
              <a:buNone/>
            </a:pPr>
            <a:r>
              <a:rPr lang="en-US" sz="2600" dirty="0">
                <a:latin typeface="Consolas" panose="020B0609020204030204" pitchFamily="49" charset="0"/>
              </a:rPr>
              <a:t>			int a = 5;	</a:t>
            </a:r>
          </a:p>
          <a:p>
            <a:pPr marL="457200" lvl="1" indent="0">
              <a:buNone/>
            </a:pPr>
            <a:r>
              <a:rPr lang="en-US" sz="2600" dirty="0">
                <a:latin typeface="Consolas" panose="020B0609020204030204" pitchFamily="49" charset="0"/>
              </a:rPr>
              <a:t>			</a:t>
            </a:r>
            <a:r>
              <a:rPr lang="en-US" sz="2600" dirty="0" err="1">
                <a:latin typeface="Consolas" panose="020B0609020204030204" pitchFamily="49" charset="0"/>
              </a:rPr>
              <a:t>myClass</a:t>
            </a:r>
            <a:r>
              <a:rPr lang="en-US" sz="2600" dirty="0">
                <a:latin typeface="Consolas" panose="020B0609020204030204" pitchFamily="49" charset="0"/>
              </a:rPr>
              <a:t> object1, object2;</a:t>
            </a:r>
          </a:p>
          <a:p>
            <a:pPr marL="457200" lvl="1" indent="0">
              <a:buNone/>
            </a:pPr>
            <a:r>
              <a:rPr lang="en-US" sz="2600" dirty="0">
                <a:latin typeface="Consolas" panose="020B0609020204030204" pitchFamily="49" charset="0"/>
              </a:rPr>
              <a:t>			object2 = object1 + a;</a:t>
            </a:r>
          </a:p>
          <a:p>
            <a:pPr marL="457200" lvl="1" indent="0">
              <a:buNone/>
            </a:pPr>
            <a:r>
              <a:rPr lang="en-US" sz="2600" dirty="0">
                <a:latin typeface="Consolas" panose="020B0609020204030204" pitchFamily="49" charset="0"/>
              </a:rPr>
              <a:t>}</a:t>
            </a:r>
          </a:p>
        </p:txBody>
      </p:sp>
      <p:sp>
        <p:nvSpPr>
          <p:cNvPr id="4" name="Footer Placeholder 3">
            <a:extLst>
              <a:ext uri="{FF2B5EF4-FFF2-40B4-BE49-F238E27FC236}">
                <a16:creationId xmlns:a16="http://schemas.microsoft.com/office/drawing/2014/main" id="{E2F469BB-27CF-0B01-2E4B-DCFF17053482}"/>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4CBE8B0E-A532-9E96-E253-AC1571D46348}"/>
              </a:ext>
            </a:extLst>
          </p:cNvPr>
          <p:cNvSpPr>
            <a:spLocks noGrp="1"/>
          </p:cNvSpPr>
          <p:nvPr>
            <p:ph type="sldNum" sz="quarter" idx="12"/>
          </p:nvPr>
        </p:nvSpPr>
        <p:spPr/>
        <p:txBody>
          <a:bodyPr/>
          <a:lstStyle/>
          <a:p>
            <a:fld id="{51845F5A-061D-4825-9AE9-D7794091C6CF}" type="slidenum">
              <a:rPr lang="en-US" smtClean="0"/>
              <a:t>19</a:t>
            </a:fld>
            <a:endParaRPr lang="en-US" dirty="0"/>
          </a:p>
        </p:txBody>
      </p:sp>
    </p:spTree>
    <p:extLst>
      <p:ext uri="{BB962C8B-B14F-4D97-AF65-F5344CB8AC3E}">
        <p14:creationId xmlns:p14="http://schemas.microsoft.com/office/powerpoint/2010/main" val="1201276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25842-07C7-AAD6-5728-2FD0FDEE4CBA}"/>
              </a:ext>
            </a:extLst>
          </p:cNvPr>
          <p:cNvSpPr>
            <a:spLocks noGrp="1"/>
          </p:cNvSpPr>
          <p:nvPr>
            <p:ph type="title"/>
          </p:nvPr>
        </p:nvSpPr>
        <p:spPr/>
        <p:txBody>
          <a:bodyPr/>
          <a:lstStyle/>
          <a:p>
            <a:r>
              <a:rPr lang="en-US" dirty="0"/>
              <a:t>Operator Overloading Syntax</a:t>
            </a:r>
            <a:endParaRPr lang="en-PK" dirty="0"/>
          </a:p>
        </p:txBody>
      </p:sp>
      <p:sp>
        <p:nvSpPr>
          <p:cNvPr id="3" name="Content Placeholder 2">
            <a:extLst>
              <a:ext uri="{FF2B5EF4-FFF2-40B4-BE49-F238E27FC236}">
                <a16:creationId xmlns:a16="http://schemas.microsoft.com/office/drawing/2014/main" id="{13539EDB-E4BD-ED1C-2C1F-0BF23DC19397}"/>
              </a:ext>
            </a:extLst>
          </p:cNvPr>
          <p:cNvSpPr>
            <a:spLocks noGrp="1"/>
          </p:cNvSpPr>
          <p:nvPr>
            <p:ph idx="1"/>
          </p:nvPr>
        </p:nvSpPr>
        <p:spPr>
          <a:xfrm>
            <a:off x="838200" y="1690690"/>
            <a:ext cx="10515600" cy="5007612"/>
          </a:xfrm>
        </p:spPr>
        <p:txBody>
          <a:bodyPr>
            <a:normAutofit fontScale="92500" lnSpcReduction="10000"/>
          </a:bodyPr>
          <a:lstStyle/>
          <a:p>
            <a:pPr marL="0" indent="0">
              <a:buNone/>
            </a:pPr>
            <a:r>
              <a:rPr lang="en-US" sz="2200" dirty="0"/>
              <a:t>datatype operator+ (datatype)</a:t>
            </a:r>
          </a:p>
          <a:p>
            <a:pPr marL="0" indent="0">
              <a:buNone/>
            </a:pPr>
            <a:r>
              <a:rPr lang="en-US" sz="2200" dirty="0"/>
              <a:t>Example (4):  </a:t>
            </a:r>
            <a:r>
              <a:rPr lang="en-US" sz="2000" dirty="0">
                <a:solidFill>
                  <a:srgbClr val="0070C0"/>
                </a:solidFill>
              </a:rPr>
              <a:t>parameter of user defined data type</a:t>
            </a:r>
          </a:p>
          <a:p>
            <a:pPr marL="0" indent="0">
              <a:buNone/>
            </a:pPr>
            <a:r>
              <a:rPr lang="en-US" sz="2000" dirty="0"/>
              <a:t>	           </a:t>
            </a:r>
            <a:r>
              <a:rPr lang="en-US" sz="2000" dirty="0">
                <a:solidFill>
                  <a:srgbClr val="0070C0"/>
                </a:solidFill>
              </a:rPr>
              <a:t>return value of user defined data type </a:t>
            </a:r>
          </a:p>
          <a:p>
            <a:pPr marL="0" indent="0">
              <a:buNone/>
            </a:pPr>
            <a:endParaRPr lang="en-US" dirty="0"/>
          </a:p>
          <a:p>
            <a:pPr lvl="1">
              <a:spcBef>
                <a:spcPct val="0"/>
              </a:spcBef>
              <a:buFontTx/>
              <a:buNone/>
            </a:pPr>
            <a:r>
              <a:rPr lang="en-US" dirty="0">
                <a:latin typeface="Consolas" panose="020B0609020204030204" pitchFamily="49" charset="0"/>
              </a:rPr>
              <a:t>class </a:t>
            </a:r>
            <a:r>
              <a:rPr lang="en-US" dirty="0" err="1">
                <a:latin typeface="Consolas" panose="020B0609020204030204" pitchFamily="49" charset="0"/>
              </a:rPr>
              <a:t>myClass</a:t>
            </a:r>
            <a:endParaRPr lang="en-US" dirty="0">
              <a:latin typeface="Consolas" panose="020B0609020204030204" pitchFamily="49" charset="0"/>
            </a:endParaRPr>
          </a:p>
          <a:p>
            <a:pPr lvl="1">
              <a:spcBef>
                <a:spcPct val="0"/>
              </a:spcBef>
              <a:buFontTx/>
              <a:buNone/>
            </a:pPr>
            <a:r>
              <a:rPr lang="en-US" dirty="0">
                <a:latin typeface="Consolas" panose="020B0609020204030204" pitchFamily="49" charset="0"/>
              </a:rPr>
              <a:t>{		   </a:t>
            </a:r>
          </a:p>
          <a:p>
            <a:pPr lvl="1">
              <a:spcBef>
                <a:spcPct val="0"/>
              </a:spcBef>
              <a:buFontTx/>
              <a:buNone/>
            </a:pPr>
            <a:r>
              <a:rPr lang="en-US" dirty="0">
                <a:latin typeface="Consolas" panose="020B0609020204030204" pitchFamily="49" charset="0"/>
              </a:rPr>
              <a:t>		</a:t>
            </a:r>
            <a:r>
              <a:rPr lang="en-US" dirty="0" err="1">
                <a:solidFill>
                  <a:srgbClr val="0070C0"/>
                </a:solidFill>
                <a:latin typeface="Consolas" panose="020B0609020204030204" pitchFamily="49" charset="0"/>
              </a:rPr>
              <a:t>myClass</a:t>
            </a:r>
            <a:r>
              <a:rPr lang="en-US" dirty="0">
                <a:latin typeface="Consolas" panose="020B0609020204030204" pitchFamily="49" charset="0"/>
              </a:rPr>
              <a:t> </a:t>
            </a:r>
            <a:r>
              <a:rPr lang="en-US" dirty="0">
                <a:solidFill>
                  <a:srgbClr val="FF0000"/>
                </a:solidFill>
                <a:latin typeface="Consolas" panose="020B0609020204030204" pitchFamily="49" charset="0"/>
              </a:rPr>
              <a:t>operator+ </a:t>
            </a:r>
            <a:r>
              <a:rPr lang="en-US" dirty="0">
                <a:latin typeface="Consolas" panose="020B0609020204030204" pitchFamily="49" charset="0"/>
              </a:rPr>
              <a:t>( </a:t>
            </a:r>
            <a:r>
              <a:rPr lang="en-US" dirty="0" err="1">
                <a:solidFill>
                  <a:srgbClr val="0070C0"/>
                </a:solidFill>
                <a:latin typeface="Consolas" panose="020B0609020204030204" pitchFamily="49" charset="0"/>
              </a:rPr>
              <a:t>myClass</a:t>
            </a:r>
            <a:r>
              <a:rPr lang="en-US" dirty="0">
                <a:solidFill>
                  <a:srgbClr val="0070C0"/>
                </a:solidFill>
                <a:latin typeface="Consolas" panose="020B0609020204030204" pitchFamily="49" charset="0"/>
              </a:rPr>
              <a:t> &amp;a</a:t>
            </a:r>
            <a:r>
              <a:rPr lang="en-US" dirty="0">
                <a:latin typeface="Consolas" panose="020B0609020204030204" pitchFamily="49" charset="0"/>
              </a:rPr>
              <a:t> );    </a:t>
            </a:r>
          </a:p>
          <a:p>
            <a:pPr lvl="1">
              <a:spcBef>
                <a:spcPct val="0"/>
              </a:spcBef>
              <a:buFontTx/>
              <a:buNone/>
            </a:pPr>
            <a:r>
              <a:rPr lang="en-US" dirty="0">
                <a:latin typeface="Consolas" panose="020B0609020204030204" pitchFamily="49" charset="0"/>
              </a:rPr>
              <a:t>}</a:t>
            </a:r>
          </a:p>
          <a:p>
            <a:pPr lvl="1">
              <a:spcBef>
                <a:spcPct val="0"/>
              </a:spcBef>
              <a:buFontTx/>
              <a:buNone/>
            </a:pPr>
            <a:endParaRPr lang="en-US" dirty="0">
              <a:latin typeface="Consolas" panose="020B0609020204030204" pitchFamily="49" charset="0"/>
            </a:endParaRPr>
          </a:p>
          <a:p>
            <a:pPr lvl="1">
              <a:spcBef>
                <a:spcPct val="0"/>
              </a:spcBef>
              <a:buFontTx/>
              <a:buNone/>
            </a:pPr>
            <a:endParaRPr lang="en-US" dirty="0">
              <a:latin typeface="Consolas" panose="020B0609020204030204" pitchFamily="49" charset="0"/>
            </a:endParaRPr>
          </a:p>
          <a:p>
            <a:pPr lvl="1">
              <a:spcBef>
                <a:spcPct val="0"/>
              </a:spcBef>
              <a:buFontTx/>
              <a:buNone/>
            </a:pPr>
            <a:r>
              <a:rPr lang="en-US" dirty="0">
                <a:latin typeface="Consolas" panose="020B0609020204030204" pitchFamily="49" charset="0"/>
              </a:rPr>
              <a:t>int main ( )</a:t>
            </a:r>
          </a:p>
          <a:p>
            <a:pPr lvl="1">
              <a:spcBef>
                <a:spcPct val="0"/>
              </a:spcBef>
              <a:buFontTx/>
              <a:buNone/>
            </a:pPr>
            <a:r>
              <a:rPr lang="en-US" dirty="0">
                <a:latin typeface="Consolas" panose="020B0609020204030204" pitchFamily="49" charset="0"/>
              </a:rPr>
              <a:t>{</a:t>
            </a:r>
          </a:p>
          <a:p>
            <a:pPr lvl="1">
              <a:spcBef>
                <a:spcPct val="0"/>
              </a:spcBef>
              <a:buFontTx/>
              <a:buNone/>
            </a:pPr>
            <a:r>
              <a:rPr lang="en-US" dirty="0">
                <a:latin typeface="Consolas" panose="020B0609020204030204" pitchFamily="49" charset="0"/>
              </a:rPr>
              <a:t>		   </a:t>
            </a:r>
            <a:r>
              <a:rPr lang="en-US" dirty="0" err="1">
                <a:latin typeface="Consolas" panose="020B0609020204030204" pitchFamily="49" charset="0"/>
              </a:rPr>
              <a:t>myClass</a:t>
            </a:r>
            <a:r>
              <a:rPr lang="en-US" dirty="0">
                <a:latin typeface="Consolas" panose="020B0609020204030204" pitchFamily="49" charset="0"/>
              </a:rPr>
              <a:t> object1, object2, object3;</a:t>
            </a:r>
          </a:p>
          <a:p>
            <a:pPr lvl="1">
              <a:spcBef>
                <a:spcPct val="0"/>
              </a:spcBef>
              <a:buFontTx/>
              <a:buNone/>
            </a:pPr>
            <a:r>
              <a:rPr lang="en-US" dirty="0">
                <a:latin typeface="Consolas" panose="020B0609020204030204" pitchFamily="49" charset="0"/>
              </a:rPr>
              <a:t>		   object3 = object1 + object2;</a:t>
            </a:r>
          </a:p>
          <a:p>
            <a:pPr lvl="1">
              <a:spcBef>
                <a:spcPct val="0"/>
              </a:spcBef>
              <a:buFontTx/>
              <a:buNone/>
            </a:pPr>
            <a:r>
              <a:rPr lang="en-US" dirty="0">
                <a:latin typeface="Consolas" panose="020B0609020204030204" pitchFamily="49" charset="0"/>
              </a:rPr>
              <a:t>}</a:t>
            </a:r>
          </a:p>
        </p:txBody>
      </p:sp>
      <p:sp>
        <p:nvSpPr>
          <p:cNvPr id="4" name="Footer Placeholder 3">
            <a:extLst>
              <a:ext uri="{FF2B5EF4-FFF2-40B4-BE49-F238E27FC236}">
                <a16:creationId xmlns:a16="http://schemas.microsoft.com/office/drawing/2014/main" id="{39632475-D82A-BA6E-1513-2420F78D4C70}"/>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64B68367-488A-5EA9-D047-73A9B7266F08}"/>
              </a:ext>
            </a:extLst>
          </p:cNvPr>
          <p:cNvSpPr>
            <a:spLocks noGrp="1"/>
          </p:cNvSpPr>
          <p:nvPr>
            <p:ph type="sldNum" sz="quarter" idx="12"/>
          </p:nvPr>
        </p:nvSpPr>
        <p:spPr/>
        <p:txBody>
          <a:bodyPr/>
          <a:lstStyle/>
          <a:p>
            <a:fld id="{51845F5A-061D-4825-9AE9-D7794091C6CF}" type="slidenum">
              <a:rPr lang="en-US" smtClean="0"/>
              <a:t>20</a:t>
            </a:fld>
            <a:endParaRPr lang="en-US" dirty="0"/>
          </a:p>
        </p:txBody>
      </p:sp>
    </p:spTree>
    <p:extLst>
      <p:ext uri="{BB962C8B-B14F-4D97-AF65-F5344CB8AC3E}">
        <p14:creationId xmlns:p14="http://schemas.microsoft.com/office/powerpoint/2010/main" val="3103175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35872-900A-2679-940C-E53E5F2D3019}"/>
              </a:ext>
            </a:extLst>
          </p:cNvPr>
          <p:cNvSpPr>
            <a:spLocks noGrp="1"/>
          </p:cNvSpPr>
          <p:nvPr>
            <p:ph type="title"/>
          </p:nvPr>
        </p:nvSpPr>
        <p:spPr/>
        <p:txBody>
          <a:bodyPr/>
          <a:lstStyle/>
          <a:p>
            <a:r>
              <a:rPr lang="en-US" dirty="0"/>
              <a:t>Operator Overloading</a:t>
            </a:r>
            <a:endParaRPr lang="en-PK" dirty="0"/>
          </a:p>
        </p:txBody>
      </p:sp>
      <p:sp>
        <p:nvSpPr>
          <p:cNvPr id="3" name="Content Placeholder 2">
            <a:extLst>
              <a:ext uri="{FF2B5EF4-FFF2-40B4-BE49-F238E27FC236}">
                <a16:creationId xmlns:a16="http://schemas.microsoft.com/office/drawing/2014/main" id="{8A80D6B0-AA6A-13B6-DBF7-415B733D16E0}"/>
              </a:ext>
            </a:extLst>
          </p:cNvPr>
          <p:cNvSpPr>
            <a:spLocks noGrp="1"/>
          </p:cNvSpPr>
          <p:nvPr>
            <p:ph idx="1"/>
          </p:nvPr>
        </p:nvSpPr>
        <p:spPr/>
        <p:txBody>
          <a:bodyPr>
            <a:normAutofit fontScale="92500" lnSpcReduction="20000"/>
          </a:bodyPr>
          <a:lstStyle/>
          <a:p>
            <a:r>
              <a:rPr lang="en-US" dirty="0"/>
              <a:t>Relational operators are also binary and can be overloaded in the same way</a:t>
            </a:r>
          </a:p>
          <a:p>
            <a:pPr marL="0" indent="0" algn="ctr">
              <a:buNone/>
            </a:pPr>
            <a:r>
              <a:rPr lang="en-US" b="1" dirty="0">
                <a:solidFill>
                  <a:srgbClr val="0070C0"/>
                </a:solidFill>
                <a:latin typeface="Consolas" panose="020B0609020204030204" pitchFamily="49" charset="0"/>
              </a:rPr>
              <a:t>&lt;</a:t>
            </a:r>
            <a:r>
              <a:rPr lang="en-US" dirty="0">
                <a:latin typeface="Consolas" panose="020B0609020204030204" pitchFamily="49" charset="0"/>
              </a:rPr>
              <a:t> , </a:t>
            </a:r>
            <a:r>
              <a:rPr lang="en-US" b="1" dirty="0">
                <a:solidFill>
                  <a:srgbClr val="0070C0"/>
                </a:solidFill>
                <a:latin typeface="Consolas" panose="020B0609020204030204" pitchFamily="49" charset="0"/>
              </a:rPr>
              <a:t>&gt;</a:t>
            </a:r>
            <a:r>
              <a:rPr lang="en-US" dirty="0">
                <a:latin typeface="Consolas" panose="020B0609020204030204" pitchFamily="49" charset="0"/>
              </a:rPr>
              <a:t> , </a:t>
            </a:r>
            <a:r>
              <a:rPr lang="en-US" b="1" dirty="0">
                <a:solidFill>
                  <a:srgbClr val="0070C0"/>
                </a:solidFill>
                <a:latin typeface="Consolas" panose="020B0609020204030204" pitchFamily="49" charset="0"/>
              </a:rPr>
              <a:t>&lt;=</a:t>
            </a:r>
            <a:r>
              <a:rPr lang="en-US" dirty="0">
                <a:latin typeface="Consolas" panose="020B0609020204030204" pitchFamily="49" charset="0"/>
              </a:rPr>
              <a:t> ,</a:t>
            </a:r>
            <a:r>
              <a:rPr lang="en-US" b="1" dirty="0">
                <a:solidFill>
                  <a:srgbClr val="0070C0"/>
                </a:solidFill>
                <a:latin typeface="Consolas" panose="020B0609020204030204" pitchFamily="49" charset="0"/>
              </a:rPr>
              <a:t>&gt;=</a:t>
            </a:r>
            <a:r>
              <a:rPr lang="en-US" dirty="0">
                <a:latin typeface="Consolas" panose="020B0609020204030204" pitchFamily="49" charset="0"/>
              </a:rPr>
              <a:t> , </a:t>
            </a:r>
            <a:r>
              <a:rPr lang="en-US" b="1" dirty="0">
                <a:solidFill>
                  <a:srgbClr val="0070C0"/>
                </a:solidFill>
                <a:latin typeface="Consolas" panose="020B0609020204030204" pitchFamily="49" charset="0"/>
              </a:rPr>
              <a:t>==</a:t>
            </a:r>
          </a:p>
          <a:p>
            <a:pPr marL="0" indent="0" algn="ctr">
              <a:buNone/>
            </a:pPr>
            <a:endParaRPr lang="en-US" b="1" dirty="0">
              <a:solidFill>
                <a:srgbClr val="0070C0"/>
              </a:solidFill>
              <a:latin typeface="Consolas" panose="020B0609020204030204" pitchFamily="49" charset="0"/>
            </a:endParaRPr>
          </a:p>
          <a:p>
            <a:r>
              <a:rPr lang="en-US" dirty="0"/>
              <a:t>To add operator functionality in the class</a:t>
            </a:r>
          </a:p>
          <a:p>
            <a:r>
              <a:rPr lang="en-US" dirty="0"/>
              <a:t>First create a function for the class</a:t>
            </a:r>
          </a:p>
          <a:p>
            <a:endParaRPr lang="en-US" dirty="0"/>
          </a:p>
          <a:p>
            <a:r>
              <a:rPr lang="en-US" dirty="0"/>
              <a:t>Set the name of the function with the operator name</a:t>
            </a:r>
          </a:p>
          <a:p>
            <a:pPr marL="457200" lvl="1" indent="0">
              <a:buNone/>
            </a:pPr>
            <a:r>
              <a:rPr lang="en-US" b="1" i="1" dirty="0">
                <a:solidFill>
                  <a:srgbClr val="FF0000"/>
                </a:solidFill>
              </a:rPr>
              <a:t>operator+ </a:t>
            </a:r>
            <a:r>
              <a:rPr lang="en-US" dirty="0"/>
              <a:t>for the addition operator </a:t>
            </a:r>
            <a:r>
              <a:rPr lang="ja-JP" altLang="en-US" dirty="0"/>
              <a:t>‘</a:t>
            </a:r>
            <a:r>
              <a:rPr lang="en-US" altLang="ja-JP" dirty="0"/>
              <a:t>+</a:t>
            </a:r>
            <a:r>
              <a:rPr lang="ja-JP" altLang="en-US" dirty="0"/>
              <a:t>’</a:t>
            </a:r>
            <a:endParaRPr lang="en-US" altLang="ja-JP" dirty="0"/>
          </a:p>
          <a:p>
            <a:pPr marL="457200" lvl="1" indent="0">
              <a:buNone/>
            </a:pPr>
            <a:r>
              <a:rPr lang="en-US" b="1" i="1" dirty="0">
                <a:solidFill>
                  <a:srgbClr val="FF0000"/>
                </a:solidFill>
              </a:rPr>
              <a:t>operator&gt; </a:t>
            </a:r>
            <a:r>
              <a:rPr lang="en-US" dirty="0"/>
              <a:t>for the comparison operator </a:t>
            </a:r>
            <a:r>
              <a:rPr lang="ja-JP" altLang="en-US" dirty="0"/>
              <a:t>‘</a:t>
            </a:r>
            <a:r>
              <a:rPr lang="en-US" altLang="ja-JP" dirty="0"/>
              <a:t>&gt;</a:t>
            </a:r>
            <a:r>
              <a:rPr lang="ja-JP" altLang="en-US" dirty="0"/>
              <a:t>’</a:t>
            </a:r>
            <a:endParaRPr lang="en-US" dirty="0"/>
          </a:p>
        </p:txBody>
      </p:sp>
      <p:sp>
        <p:nvSpPr>
          <p:cNvPr id="4" name="Footer Placeholder 3">
            <a:extLst>
              <a:ext uri="{FF2B5EF4-FFF2-40B4-BE49-F238E27FC236}">
                <a16:creationId xmlns:a16="http://schemas.microsoft.com/office/drawing/2014/main" id="{B3ED8A71-CD47-6F3B-AB0D-89CF185FD0C1}"/>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11247C91-EFC8-327D-525A-C0D61D1D86C8}"/>
              </a:ext>
            </a:extLst>
          </p:cNvPr>
          <p:cNvSpPr>
            <a:spLocks noGrp="1"/>
          </p:cNvSpPr>
          <p:nvPr>
            <p:ph type="sldNum" sz="quarter" idx="12"/>
          </p:nvPr>
        </p:nvSpPr>
        <p:spPr/>
        <p:txBody>
          <a:bodyPr/>
          <a:lstStyle/>
          <a:p>
            <a:fld id="{51845F5A-061D-4825-9AE9-D7794091C6CF}" type="slidenum">
              <a:rPr lang="en-US" smtClean="0"/>
              <a:t>21</a:t>
            </a:fld>
            <a:endParaRPr lang="en-US" dirty="0"/>
          </a:p>
        </p:txBody>
      </p:sp>
    </p:spTree>
    <p:extLst>
      <p:ext uri="{BB962C8B-B14F-4D97-AF65-F5344CB8AC3E}">
        <p14:creationId xmlns:p14="http://schemas.microsoft.com/office/powerpoint/2010/main" val="1920268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D745F-890E-DCF8-8C4A-6386DF382D1F}"/>
              </a:ext>
            </a:extLst>
          </p:cNvPr>
          <p:cNvSpPr>
            <a:spLocks noGrp="1"/>
          </p:cNvSpPr>
          <p:nvPr>
            <p:ph type="title"/>
          </p:nvPr>
        </p:nvSpPr>
        <p:spPr/>
        <p:txBody>
          <a:bodyPr/>
          <a:lstStyle/>
          <a:p>
            <a:r>
              <a:rPr lang="en-US" dirty="0"/>
              <a:t>Overloading </a:t>
            </a:r>
            <a:r>
              <a:rPr lang="en-US" b="1" dirty="0">
                <a:solidFill>
                  <a:srgbClr val="FF0000"/>
                </a:solidFill>
              </a:rPr>
              <a:t>&gt;</a:t>
            </a:r>
            <a:r>
              <a:rPr lang="en-US" dirty="0"/>
              <a:t> operator</a:t>
            </a:r>
            <a:endParaRPr lang="en-PK" dirty="0"/>
          </a:p>
        </p:txBody>
      </p:sp>
      <p:sp>
        <p:nvSpPr>
          <p:cNvPr id="3" name="Content Placeholder 2">
            <a:extLst>
              <a:ext uri="{FF2B5EF4-FFF2-40B4-BE49-F238E27FC236}">
                <a16:creationId xmlns:a16="http://schemas.microsoft.com/office/drawing/2014/main" id="{7802351F-F2D7-7941-8C76-553B28D8F7C8}"/>
              </a:ext>
            </a:extLst>
          </p:cNvPr>
          <p:cNvSpPr>
            <a:spLocks noGrp="1"/>
          </p:cNvSpPr>
          <p:nvPr>
            <p:ph idx="1"/>
          </p:nvPr>
        </p:nvSpPr>
        <p:spPr/>
        <p:txBody>
          <a:bodyPr>
            <a:normAutofit/>
          </a:bodyPr>
          <a:lstStyle/>
          <a:p>
            <a:pPr marL="0" indent="0">
              <a:buNone/>
            </a:pPr>
            <a:r>
              <a:rPr lang="en-US" sz="2400" dirty="0">
                <a:latin typeface="Consolas" panose="020B0609020204030204" pitchFamily="49" charset="0"/>
              </a:rPr>
              <a:t>bool Employee::</a:t>
            </a:r>
            <a:r>
              <a:rPr lang="en-US" sz="2400" dirty="0">
                <a:solidFill>
                  <a:srgbClr val="FF0000"/>
                </a:solidFill>
                <a:latin typeface="Consolas" panose="020B0609020204030204" pitchFamily="49" charset="0"/>
              </a:rPr>
              <a:t>operator&gt;</a:t>
            </a:r>
            <a:r>
              <a:rPr lang="en-US" sz="2400" dirty="0">
                <a:latin typeface="Consolas" panose="020B0609020204030204" pitchFamily="49" charset="0"/>
              </a:rPr>
              <a:t>(Employee&amp; e)</a:t>
            </a:r>
          </a:p>
          <a:p>
            <a:pPr marL="0" indent="0">
              <a:buNone/>
            </a:pPr>
            <a:r>
              <a:rPr lang="en-US" sz="2400" dirty="0">
                <a:latin typeface="Consolas" panose="020B0609020204030204" pitchFamily="49" charset="0"/>
              </a:rPr>
              <a:t>{</a:t>
            </a:r>
          </a:p>
          <a:p>
            <a:pPr marL="0" indent="0">
              <a:buNone/>
            </a:pPr>
            <a:r>
              <a:rPr lang="en-US" sz="2400" dirty="0">
                <a:latin typeface="Consolas" panose="020B0609020204030204" pitchFamily="49" charset="0"/>
              </a:rPr>
              <a:t>		return(seniority &gt; </a:t>
            </a:r>
            <a:r>
              <a:rPr lang="en-US" sz="2400" dirty="0" err="1">
                <a:latin typeface="Consolas" panose="020B0609020204030204" pitchFamily="49" charset="0"/>
              </a:rPr>
              <a:t>e.getSeniority</a:t>
            </a:r>
            <a:r>
              <a:rPr lang="en-US" sz="2400" dirty="0">
                <a:latin typeface="Consolas" panose="020B0609020204030204" pitchFamily="49" charset="0"/>
              </a:rPr>
              <a:t>());</a:t>
            </a:r>
          </a:p>
          <a:p>
            <a:pPr marL="0" indent="0">
              <a:buNone/>
            </a:pPr>
            <a:r>
              <a:rPr lang="en-US" sz="2400" dirty="0">
                <a:latin typeface="Consolas" panose="020B0609020204030204" pitchFamily="49" charset="0"/>
              </a:rPr>
              <a:t>}</a:t>
            </a:r>
          </a:p>
          <a:p>
            <a:pPr marL="0" indent="0">
              <a:buNone/>
            </a:pPr>
            <a:endParaRPr lang="en-US" sz="2400" dirty="0"/>
          </a:p>
          <a:p>
            <a:pPr marL="0" indent="0">
              <a:buNone/>
            </a:pPr>
            <a:r>
              <a:rPr lang="en-US" sz="2400" dirty="0"/>
              <a:t>called from the program like this:</a:t>
            </a:r>
          </a:p>
          <a:p>
            <a:pPr marL="0" indent="0">
              <a:buNone/>
            </a:pPr>
            <a:r>
              <a:rPr lang="en-US" sz="2400" dirty="0"/>
              <a:t>    if (emp1 &gt; emp2) </a:t>
            </a:r>
          </a:p>
        </p:txBody>
      </p:sp>
      <p:sp>
        <p:nvSpPr>
          <p:cNvPr id="4" name="Footer Placeholder 3">
            <a:extLst>
              <a:ext uri="{FF2B5EF4-FFF2-40B4-BE49-F238E27FC236}">
                <a16:creationId xmlns:a16="http://schemas.microsoft.com/office/drawing/2014/main" id="{A019195C-AC44-6EED-C500-598890776C4E}"/>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9C45F5EB-5813-EE3E-0900-DDDA1C6D30B4}"/>
              </a:ext>
            </a:extLst>
          </p:cNvPr>
          <p:cNvSpPr>
            <a:spLocks noGrp="1"/>
          </p:cNvSpPr>
          <p:nvPr>
            <p:ph type="sldNum" sz="quarter" idx="12"/>
          </p:nvPr>
        </p:nvSpPr>
        <p:spPr/>
        <p:txBody>
          <a:bodyPr/>
          <a:lstStyle/>
          <a:p>
            <a:fld id="{51845F5A-061D-4825-9AE9-D7794091C6CF}" type="slidenum">
              <a:rPr lang="en-US" smtClean="0"/>
              <a:t>22</a:t>
            </a:fld>
            <a:endParaRPr lang="en-US" dirty="0"/>
          </a:p>
        </p:txBody>
      </p:sp>
      <p:sp>
        <p:nvSpPr>
          <p:cNvPr id="9" name="Freeform 1">
            <a:extLst>
              <a:ext uri="{FF2B5EF4-FFF2-40B4-BE49-F238E27FC236}">
                <a16:creationId xmlns:a16="http://schemas.microsoft.com/office/drawing/2014/main" id="{A8A901B5-D1E9-E762-A1E3-6082892B5274}"/>
              </a:ext>
            </a:extLst>
          </p:cNvPr>
          <p:cNvSpPr/>
          <p:nvPr/>
        </p:nvSpPr>
        <p:spPr>
          <a:xfrm rot="1601782" flipH="1">
            <a:off x="3072152" y="2268833"/>
            <a:ext cx="442723" cy="2995735"/>
          </a:xfrm>
          <a:custGeom>
            <a:avLst/>
            <a:gdLst>
              <a:gd name="connsiteX0" fmla="*/ 1917849 w 1917849"/>
              <a:gd name="connsiteY0" fmla="*/ 2986392 h 2986392"/>
              <a:gd name="connsiteX1" fmla="*/ 1500 w 1917849"/>
              <a:gd name="connsiteY1" fmla="*/ 1322962 h 2986392"/>
              <a:gd name="connsiteX2" fmla="*/ 1664930 w 1917849"/>
              <a:gd name="connsiteY2" fmla="*/ 0 h 2986392"/>
            </a:gdLst>
            <a:ahLst/>
            <a:cxnLst>
              <a:cxn ang="0">
                <a:pos x="connsiteX0" y="connsiteY0"/>
              </a:cxn>
              <a:cxn ang="0">
                <a:pos x="connsiteX1" y="connsiteY1"/>
              </a:cxn>
              <a:cxn ang="0">
                <a:pos x="connsiteX2" y="connsiteY2"/>
              </a:cxn>
            </a:cxnLst>
            <a:rect l="l" t="t" r="r" b="b"/>
            <a:pathLst>
              <a:path w="1917849" h="2986392">
                <a:moveTo>
                  <a:pt x="1917849" y="2986392"/>
                </a:moveTo>
                <a:cubicBezTo>
                  <a:pt x="980751" y="2403543"/>
                  <a:pt x="43653" y="1820694"/>
                  <a:pt x="1500" y="1322962"/>
                </a:cubicBezTo>
                <a:cubicBezTo>
                  <a:pt x="-40653" y="825230"/>
                  <a:pt x="812138" y="412615"/>
                  <a:pt x="1664930" y="0"/>
                </a:cubicBezTo>
              </a:path>
            </a:pathLst>
          </a:custGeom>
          <a:noFill/>
          <a:ln w="38100">
            <a:solidFill>
              <a:srgbClr val="FF0000"/>
            </a:solidFill>
            <a:tailEnd type="stealth"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2">
            <a:extLst>
              <a:ext uri="{FF2B5EF4-FFF2-40B4-BE49-F238E27FC236}">
                <a16:creationId xmlns:a16="http://schemas.microsoft.com/office/drawing/2014/main" id="{AD422795-64AC-1DA1-A05C-9C0DC3F38B87}"/>
              </a:ext>
            </a:extLst>
          </p:cNvPr>
          <p:cNvSpPr/>
          <p:nvPr/>
        </p:nvSpPr>
        <p:spPr>
          <a:xfrm>
            <a:off x="3714749" y="2411545"/>
            <a:ext cx="4300053" cy="2875289"/>
          </a:xfrm>
          <a:custGeom>
            <a:avLst/>
            <a:gdLst>
              <a:gd name="connsiteX0" fmla="*/ 0 w 5217139"/>
              <a:gd name="connsiteY0" fmla="*/ 2966936 h 2976952"/>
              <a:gd name="connsiteX1" fmla="*/ 4951378 w 5217139"/>
              <a:gd name="connsiteY1" fmla="*/ 2519464 h 2976952"/>
              <a:gd name="connsiteX2" fmla="*/ 4105072 w 5217139"/>
              <a:gd name="connsiteY2" fmla="*/ 0 h 2976952"/>
            </a:gdLst>
            <a:ahLst/>
            <a:cxnLst>
              <a:cxn ang="0">
                <a:pos x="connsiteX0" y="connsiteY0"/>
              </a:cxn>
              <a:cxn ang="0">
                <a:pos x="connsiteX1" y="connsiteY1"/>
              </a:cxn>
              <a:cxn ang="0">
                <a:pos x="connsiteX2" y="connsiteY2"/>
              </a:cxn>
            </a:cxnLst>
            <a:rect l="l" t="t" r="r" b="b"/>
            <a:pathLst>
              <a:path w="5217139" h="2976952">
                <a:moveTo>
                  <a:pt x="0" y="2966936"/>
                </a:moveTo>
                <a:cubicBezTo>
                  <a:pt x="2133599" y="2990444"/>
                  <a:pt x="4267199" y="3013953"/>
                  <a:pt x="4951378" y="2519464"/>
                </a:cubicBezTo>
                <a:cubicBezTo>
                  <a:pt x="5635557" y="2024975"/>
                  <a:pt x="4870314" y="1012487"/>
                  <a:pt x="4105072" y="0"/>
                </a:cubicBezTo>
              </a:path>
            </a:pathLst>
          </a:custGeom>
          <a:noFill/>
          <a:ln w="38100">
            <a:solidFill>
              <a:srgbClr val="0070C0"/>
            </a:solidFill>
            <a:tailEnd type="stealth"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620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327C8-97F8-DBFF-5497-662DF11786AD}"/>
              </a:ext>
            </a:extLst>
          </p:cNvPr>
          <p:cNvSpPr>
            <a:spLocks noGrp="1"/>
          </p:cNvSpPr>
          <p:nvPr>
            <p:ph type="title"/>
          </p:nvPr>
        </p:nvSpPr>
        <p:spPr/>
        <p:txBody>
          <a:bodyPr/>
          <a:lstStyle/>
          <a:p>
            <a:r>
              <a:rPr lang="en-US" dirty="0"/>
              <a:t>Implementing Overloaded Operators</a:t>
            </a:r>
            <a:endParaRPr lang="en-PK" dirty="0"/>
          </a:p>
        </p:txBody>
      </p:sp>
      <p:sp>
        <p:nvSpPr>
          <p:cNvPr id="3" name="Content Placeholder 2">
            <a:extLst>
              <a:ext uri="{FF2B5EF4-FFF2-40B4-BE49-F238E27FC236}">
                <a16:creationId xmlns:a16="http://schemas.microsoft.com/office/drawing/2014/main" id="{DE8B3315-A92F-5606-5A70-5A33609E5A87}"/>
              </a:ext>
            </a:extLst>
          </p:cNvPr>
          <p:cNvSpPr>
            <a:spLocks noGrp="1"/>
          </p:cNvSpPr>
          <p:nvPr>
            <p:ph idx="1"/>
          </p:nvPr>
        </p:nvSpPr>
        <p:spPr/>
        <p:txBody>
          <a:bodyPr>
            <a:normAutofit/>
          </a:bodyPr>
          <a:lstStyle/>
          <a:p>
            <a:pPr algn="just"/>
            <a:r>
              <a:rPr lang="en-US" sz="2400" dirty="0"/>
              <a:t>The compiler uses the types of arguments to choose the appropriate overloading.</a:t>
            </a:r>
          </a:p>
          <a:p>
            <a:endParaRPr lang="en-US" sz="2400" dirty="0"/>
          </a:p>
          <a:p>
            <a:pPr marL="0" indent="0">
              <a:buNone/>
            </a:pPr>
            <a:r>
              <a:rPr lang="fr-FR" sz="2400" dirty="0"/>
              <a:t>  i</a:t>
            </a:r>
            <a:r>
              <a:rPr lang="en-US" sz="2400" dirty="0" err="1"/>
              <a:t>nt</a:t>
            </a:r>
            <a:r>
              <a:rPr lang="en-US" sz="2400" dirty="0"/>
              <a:t> v1, v2; </a:t>
            </a:r>
          </a:p>
          <a:p>
            <a:pPr marL="0" indent="0">
              <a:buNone/>
            </a:pPr>
            <a:r>
              <a:rPr lang="en-US" sz="2400" dirty="0"/>
              <a:t>  v1 + v2;</a:t>
            </a:r>
            <a:r>
              <a:rPr lang="en-US" sz="2400" dirty="0">
                <a:solidFill>
                  <a:srgbClr val="00B050"/>
                </a:solidFill>
              </a:rPr>
              <a:t>    // int +</a:t>
            </a:r>
          </a:p>
          <a:p>
            <a:pPr marL="0" indent="0">
              <a:buNone/>
            </a:pPr>
            <a:endParaRPr lang="en-US" sz="2400" dirty="0"/>
          </a:p>
          <a:p>
            <a:pPr marL="0" indent="0">
              <a:buNone/>
            </a:pPr>
            <a:r>
              <a:rPr lang="en-US" sz="2400" dirty="0"/>
              <a:t>  float s1, s2; </a:t>
            </a:r>
          </a:p>
          <a:p>
            <a:pPr marL="0" indent="0">
              <a:buNone/>
            </a:pPr>
            <a:r>
              <a:rPr lang="en-US" sz="2400" dirty="0"/>
              <a:t>  s1 + s2;   </a:t>
            </a:r>
            <a:r>
              <a:rPr lang="en-US" sz="2400" dirty="0">
                <a:solidFill>
                  <a:srgbClr val="00B050"/>
                </a:solidFill>
              </a:rPr>
              <a:t>// float+</a:t>
            </a:r>
          </a:p>
          <a:p>
            <a:endParaRPr lang="en-PK" sz="2400" dirty="0"/>
          </a:p>
        </p:txBody>
      </p:sp>
      <p:sp>
        <p:nvSpPr>
          <p:cNvPr id="4" name="Footer Placeholder 3">
            <a:extLst>
              <a:ext uri="{FF2B5EF4-FFF2-40B4-BE49-F238E27FC236}">
                <a16:creationId xmlns:a16="http://schemas.microsoft.com/office/drawing/2014/main" id="{DA2F17E9-FBB7-7B22-A0F5-18348A5D4387}"/>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6355878B-904D-0D22-98DA-2A0B78D2074E}"/>
              </a:ext>
            </a:extLst>
          </p:cNvPr>
          <p:cNvSpPr>
            <a:spLocks noGrp="1"/>
          </p:cNvSpPr>
          <p:nvPr>
            <p:ph type="sldNum" sz="quarter" idx="12"/>
          </p:nvPr>
        </p:nvSpPr>
        <p:spPr/>
        <p:txBody>
          <a:bodyPr/>
          <a:lstStyle/>
          <a:p>
            <a:fld id="{51845F5A-061D-4825-9AE9-D7794091C6CF}" type="slidenum">
              <a:rPr lang="en-US" smtClean="0"/>
              <a:t>23</a:t>
            </a:fld>
            <a:endParaRPr lang="en-US" dirty="0"/>
          </a:p>
        </p:txBody>
      </p:sp>
    </p:spTree>
    <p:extLst>
      <p:ext uri="{BB962C8B-B14F-4D97-AF65-F5344CB8AC3E}">
        <p14:creationId xmlns:p14="http://schemas.microsoft.com/office/powerpoint/2010/main" val="1918756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20353-4ABD-2707-8A84-1CA6C02DC934}"/>
              </a:ext>
            </a:extLst>
          </p:cNvPr>
          <p:cNvSpPr>
            <a:spLocks noGrp="1"/>
          </p:cNvSpPr>
          <p:nvPr>
            <p:ph type="title"/>
          </p:nvPr>
        </p:nvSpPr>
        <p:spPr/>
        <p:txBody>
          <a:bodyPr/>
          <a:lstStyle/>
          <a:p>
            <a:r>
              <a:rPr lang="en-US" dirty="0"/>
              <a:t>Extended Example</a:t>
            </a:r>
            <a:endParaRPr lang="en-PK" dirty="0"/>
          </a:p>
        </p:txBody>
      </p:sp>
      <p:sp>
        <p:nvSpPr>
          <p:cNvPr id="3" name="Content Placeholder 2">
            <a:extLst>
              <a:ext uri="{FF2B5EF4-FFF2-40B4-BE49-F238E27FC236}">
                <a16:creationId xmlns:a16="http://schemas.microsoft.com/office/drawing/2014/main" id="{8967DC67-E0A6-F875-8E8D-86E848B3AA2E}"/>
              </a:ext>
            </a:extLst>
          </p:cNvPr>
          <p:cNvSpPr>
            <a:spLocks noGrp="1"/>
          </p:cNvSpPr>
          <p:nvPr>
            <p:ph idx="1"/>
          </p:nvPr>
        </p:nvSpPr>
        <p:spPr/>
        <p:txBody>
          <a:bodyPr>
            <a:normAutofit fontScale="92500" lnSpcReduction="20000"/>
          </a:bodyPr>
          <a:lstStyle/>
          <a:p>
            <a:pPr marL="0" indent="0">
              <a:buNone/>
            </a:pPr>
            <a:r>
              <a:rPr lang="en-US" dirty="0">
                <a:latin typeface="Consolas" panose="020B0609020204030204" pitchFamily="49" charset="0"/>
              </a:rPr>
              <a:t>class Employee</a:t>
            </a:r>
          </a:p>
          <a:p>
            <a:pPr marL="0" indent="0">
              <a:buNone/>
            </a:pPr>
            <a:r>
              <a:rPr lang="en-US" dirty="0">
                <a:latin typeface="Consolas" panose="020B0609020204030204" pitchFamily="49" charset="0"/>
              </a:rPr>
              <a:t>{</a:t>
            </a:r>
          </a:p>
          <a:p>
            <a:pPr marL="457200" lvl="1" indent="0">
              <a:buNone/>
            </a:pPr>
            <a:r>
              <a:rPr lang="en-US" dirty="0">
                <a:latin typeface="Consolas" panose="020B0609020204030204" pitchFamily="49" charset="0"/>
              </a:rPr>
              <a:t>private:</a:t>
            </a:r>
          </a:p>
          <a:p>
            <a:pPr marL="457200" lvl="1" indent="0">
              <a:buNone/>
            </a:pPr>
            <a:r>
              <a:rPr lang="en-US" dirty="0">
                <a:latin typeface="Consolas" panose="020B0609020204030204" pitchFamily="49" charset="0"/>
              </a:rPr>
              <a:t>	int </a:t>
            </a:r>
            <a:r>
              <a:rPr lang="en-US" dirty="0" err="1">
                <a:latin typeface="Consolas" panose="020B0609020204030204" pitchFamily="49" charset="0"/>
              </a:rPr>
              <a:t>idNum</a:t>
            </a:r>
            <a:r>
              <a:rPr lang="en-US" dirty="0">
                <a:latin typeface="Consolas" panose="020B0609020204030204" pitchFamily="49" charset="0"/>
              </a:rPr>
              <a:t>;</a:t>
            </a:r>
          </a:p>
          <a:p>
            <a:pPr marL="457200" lvl="1" indent="0">
              <a:buNone/>
            </a:pPr>
            <a:r>
              <a:rPr lang="en-US" dirty="0">
                <a:latin typeface="Consolas" panose="020B0609020204030204" pitchFamily="49" charset="0"/>
              </a:rPr>
              <a:t>	double salary;</a:t>
            </a:r>
          </a:p>
          <a:p>
            <a:pPr marL="457200" lvl="1" indent="0">
              <a:buNone/>
            </a:pPr>
            <a:r>
              <a:rPr lang="en-US" dirty="0">
                <a:latin typeface="Consolas" panose="020B0609020204030204" pitchFamily="49" charset="0"/>
              </a:rPr>
              <a:t>public:</a:t>
            </a:r>
          </a:p>
          <a:p>
            <a:pPr marL="457200" lvl="1" indent="0">
              <a:buNone/>
            </a:pPr>
            <a:r>
              <a:rPr lang="en-US" dirty="0">
                <a:latin typeface="Consolas" panose="020B0609020204030204" pitchFamily="49" charset="0"/>
              </a:rPr>
              <a:t>	Employee(int  id, double salary);</a:t>
            </a:r>
          </a:p>
          <a:p>
            <a:pPr marL="457200" lvl="1" indent="0">
              <a:buNone/>
            </a:pPr>
            <a:r>
              <a:rPr lang="en-US" dirty="0">
                <a:latin typeface="Consolas" panose="020B0609020204030204" pitchFamily="49" charset="0"/>
              </a:rPr>
              <a:t>	double </a:t>
            </a:r>
            <a:r>
              <a:rPr lang="en-US" dirty="0" err="1">
                <a:latin typeface="Consolas" panose="020B0609020204030204" pitchFamily="49" charset="0"/>
              </a:rPr>
              <a:t>addTwo</a:t>
            </a:r>
            <a:r>
              <a:rPr lang="en-US" dirty="0">
                <a:latin typeface="Consolas" panose="020B0609020204030204" pitchFamily="49" charset="0"/>
              </a:rPr>
              <a:t> (Employee&amp; emp);</a:t>
            </a:r>
          </a:p>
          <a:p>
            <a:pPr marL="457200" lvl="1" indent="0">
              <a:buNone/>
            </a:pPr>
            <a:r>
              <a:rPr lang="en-US" dirty="0">
                <a:latin typeface="Consolas" panose="020B0609020204030204" pitchFamily="49" charset="0"/>
              </a:rPr>
              <a:t>	double operator+ (Employee&amp; emp);</a:t>
            </a:r>
          </a:p>
          <a:p>
            <a:pPr marL="457200" lvl="1" indent="0">
              <a:buNone/>
            </a:pPr>
            <a:r>
              <a:rPr lang="en-US" dirty="0">
                <a:latin typeface="Consolas" panose="020B0609020204030204" pitchFamily="49" charset="0"/>
              </a:rPr>
              <a:t>	double </a:t>
            </a:r>
            <a:r>
              <a:rPr lang="en-US" dirty="0" err="1">
                <a:latin typeface="Consolas" panose="020B0609020204030204" pitchFamily="49" charset="0"/>
              </a:rPr>
              <a:t>getSalary</a:t>
            </a:r>
            <a:r>
              <a:rPr lang="en-US" dirty="0">
                <a:latin typeface="Consolas" panose="020B0609020204030204" pitchFamily="49" charset="0"/>
              </a:rPr>
              <a:t>() { return salary; }</a:t>
            </a:r>
          </a:p>
          <a:p>
            <a:pPr marL="0" indent="0">
              <a:buNone/>
            </a:pPr>
            <a:r>
              <a:rPr lang="en-US" dirty="0">
                <a:latin typeface="Consolas" panose="020B0609020204030204" pitchFamily="49" charset="0"/>
              </a:rPr>
              <a:t>};</a:t>
            </a:r>
          </a:p>
        </p:txBody>
      </p:sp>
      <p:sp>
        <p:nvSpPr>
          <p:cNvPr id="4" name="Footer Placeholder 3">
            <a:extLst>
              <a:ext uri="{FF2B5EF4-FFF2-40B4-BE49-F238E27FC236}">
                <a16:creationId xmlns:a16="http://schemas.microsoft.com/office/drawing/2014/main" id="{D5E29DFB-C026-EECB-E99C-7D074E3321A1}"/>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896494D2-E3A2-3F70-D8DD-48D681E16B89}"/>
              </a:ext>
            </a:extLst>
          </p:cNvPr>
          <p:cNvSpPr>
            <a:spLocks noGrp="1"/>
          </p:cNvSpPr>
          <p:nvPr>
            <p:ph type="sldNum" sz="quarter" idx="12"/>
          </p:nvPr>
        </p:nvSpPr>
        <p:spPr/>
        <p:txBody>
          <a:bodyPr/>
          <a:lstStyle/>
          <a:p>
            <a:fld id="{51845F5A-061D-4825-9AE9-D7794091C6CF}" type="slidenum">
              <a:rPr lang="en-US" smtClean="0"/>
              <a:t>24</a:t>
            </a:fld>
            <a:endParaRPr lang="en-US" dirty="0"/>
          </a:p>
        </p:txBody>
      </p:sp>
    </p:spTree>
    <p:extLst>
      <p:ext uri="{BB962C8B-B14F-4D97-AF65-F5344CB8AC3E}">
        <p14:creationId xmlns:p14="http://schemas.microsoft.com/office/powerpoint/2010/main" val="2766517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C4935-73C5-B77A-9CA7-122E4E09D51F}"/>
              </a:ext>
            </a:extLst>
          </p:cNvPr>
          <p:cNvSpPr>
            <a:spLocks noGrp="1"/>
          </p:cNvSpPr>
          <p:nvPr>
            <p:ph type="title"/>
          </p:nvPr>
        </p:nvSpPr>
        <p:spPr/>
        <p:txBody>
          <a:bodyPr/>
          <a:lstStyle/>
          <a:p>
            <a:r>
              <a:rPr lang="en-US" dirty="0"/>
              <a:t>The member functions </a:t>
            </a:r>
            <a:r>
              <a:rPr lang="ja-JP" altLang="en-US" dirty="0"/>
              <a:t>‘</a:t>
            </a:r>
            <a:r>
              <a:rPr lang="en-US" altLang="ja-JP" dirty="0" err="1"/>
              <a:t>addTwo</a:t>
            </a:r>
            <a:r>
              <a:rPr lang="ja-JP" altLang="en-US" dirty="0"/>
              <a:t>’</a:t>
            </a:r>
            <a:r>
              <a:rPr lang="en-US" altLang="ja-JP" dirty="0"/>
              <a:t> and operator+</a:t>
            </a:r>
            <a:endParaRPr lang="en-PK" dirty="0"/>
          </a:p>
        </p:txBody>
      </p:sp>
      <p:sp>
        <p:nvSpPr>
          <p:cNvPr id="3" name="Content Placeholder 2">
            <a:extLst>
              <a:ext uri="{FF2B5EF4-FFF2-40B4-BE49-F238E27FC236}">
                <a16:creationId xmlns:a16="http://schemas.microsoft.com/office/drawing/2014/main" id="{AFC73595-33E8-AEA9-1DE7-1CC543C11777}"/>
              </a:ext>
            </a:extLst>
          </p:cNvPr>
          <p:cNvSpPr>
            <a:spLocks noGrp="1"/>
          </p:cNvSpPr>
          <p:nvPr>
            <p:ph idx="1"/>
          </p:nvPr>
        </p:nvSpPr>
        <p:spPr>
          <a:xfrm>
            <a:off x="838200" y="1577339"/>
            <a:ext cx="10515600" cy="5144137"/>
          </a:xfrm>
        </p:spPr>
        <p:txBody>
          <a:bodyPr>
            <a:normAutofit/>
          </a:bodyPr>
          <a:lstStyle/>
          <a:p>
            <a:pPr marL="0" indent="0" eaLnBrk="1" hangingPunct="1">
              <a:lnSpc>
                <a:spcPct val="110000"/>
              </a:lnSpc>
              <a:spcBef>
                <a:spcPts val="0"/>
              </a:spcBef>
              <a:buNone/>
            </a:pPr>
            <a:r>
              <a:rPr lang="en-US" sz="2000" b="1" dirty="0">
                <a:solidFill>
                  <a:srgbClr val="00B050"/>
                </a:solidFill>
                <a:latin typeface="Consolas" panose="020B0609020204030204" pitchFamily="49" charset="0"/>
              </a:rPr>
              <a:t>//function notation</a:t>
            </a:r>
          </a:p>
          <a:p>
            <a:pPr marL="0" indent="0" eaLnBrk="1" hangingPunct="1">
              <a:lnSpc>
                <a:spcPct val="110000"/>
              </a:lnSpc>
              <a:spcBef>
                <a:spcPts val="0"/>
              </a:spcBef>
              <a:buNone/>
            </a:pPr>
            <a:r>
              <a:rPr lang="en-US" sz="2000" b="1" dirty="0">
                <a:latin typeface="Consolas" panose="020B0609020204030204" pitchFamily="49" charset="0"/>
              </a:rPr>
              <a:t>double Employee::</a:t>
            </a:r>
            <a:r>
              <a:rPr lang="en-US" sz="2000" b="1" dirty="0" err="1">
                <a:latin typeface="Consolas" panose="020B0609020204030204" pitchFamily="49" charset="0"/>
              </a:rPr>
              <a:t>addTwo</a:t>
            </a:r>
            <a:r>
              <a:rPr lang="en-US" sz="2000" b="1" dirty="0">
                <a:latin typeface="Consolas" panose="020B0609020204030204" pitchFamily="49" charset="0"/>
              </a:rPr>
              <a:t>(Employee&amp; emp)</a:t>
            </a:r>
          </a:p>
          <a:p>
            <a:pPr marL="0" indent="0" eaLnBrk="1" hangingPunct="1">
              <a:lnSpc>
                <a:spcPct val="110000"/>
              </a:lnSpc>
              <a:spcBef>
                <a:spcPts val="0"/>
              </a:spcBef>
              <a:buNone/>
            </a:pPr>
            <a:r>
              <a:rPr lang="en-US" sz="2000" b="1" dirty="0">
                <a:latin typeface="Consolas" panose="020B0609020204030204" pitchFamily="49" charset="0"/>
              </a:rPr>
              <a:t>{</a:t>
            </a:r>
          </a:p>
          <a:p>
            <a:pPr marL="0" indent="0" eaLnBrk="1" hangingPunct="1">
              <a:lnSpc>
                <a:spcPct val="110000"/>
              </a:lnSpc>
              <a:spcBef>
                <a:spcPts val="0"/>
              </a:spcBef>
              <a:buNone/>
            </a:pPr>
            <a:r>
              <a:rPr lang="en-US" sz="2000" b="1" dirty="0">
                <a:latin typeface="Consolas" panose="020B0609020204030204" pitchFamily="49" charset="0"/>
              </a:rPr>
              <a:t>   double total;</a:t>
            </a:r>
          </a:p>
          <a:p>
            <a:pPr marL="0" indent="0" eaLnBrk="1" hangingPunct="1">
              <a:lnSpc>
                <a:spcPct val="110000"/>
              </a:lnSpc>
              <a:spcBef>
                <a:spcPts val="0"/>
              </a:spcBef>
              <a:buNone/>
            </a:pPr>
            <a:r>
              <a:rPr lang="en-US" sz="2000" b="1" dirty="0">
                <a:latin typeface="Consolas" panose="020B0609020204030204" pitchFamily="49" charset="0"/>
              </a:rPr>
              <a:t>   total = this-&gt;salary + </a:t>
            </a:r>
            <a:r>
              <a:rPr lang="en-US" sz="2000" b="1" dirty="0" err="1">
                <a:latin typeface="Consolas" panose="020B0609020204030204" pitchFamily="49" charset="0"/>
              </a:rPr>
              <a:t>emp.getSalary</a:t>
            </a:r>
            <a:r>
              <a:rPr lang="en-US" sz="2000" b="1" dirty="0">
                <a:latin typeface="Consolas" panose="020B0609020204030204" pitchFamily="49" charset="0"/>
              </a:rPr>
              <a:t>();</a:t>
            </a:r>
          </a:p>
          <a:p>
            <a:pPr marL="0" indent="0" eaLnBrk="1" hangingPunct="1">
              <a:lnSpc>
                <a:spcPct val="110000"/>
              </a:lnSpc>
              <a:spcBef>
                <a:spcPts val="0"/>
              </a:spcBef>
              <a:buNone/>
            </a:pPr>
            <a:r>
              <a:rPr lang="en-US" sz="2000" b="1" dirty="0">
                <a:latin typeface="Consolas" panose="020B0609020204030204" pitchFamily="49" charset="0"/>
              </a:rPr>
              <a:t>   return total;</a:t>
            </a:r>
          </a:p>
          <a:p>
            <a:pPr marL="0" indent="0" eaLnBrk="1" hangingPunct="1">
              <a:lnSpc>
                <a:spcPct val="110000"/>
              </a:lnSpc>
              <a:spcBef>
                <a:spcPts val="0"/>
              </a:spcBef>
              <a:buNone/>
            </a:pPr>
            <a:r>
              <a:rPr lang="en-US" sz="2000" b="1" dirty="0">
                <a:latin typeface="Consolas" panose="020B0609020204030204" pitchFamily="49" charset="0"/>
              </a:rPr>
              <a:t>}</a:t>
            </a:r>
          </a:p>
          <a:p>
            <a:pPr marL="0" indent="0" eaLnBrk="1" hangingPunct="1">
              <a:lnSpc>
                <a:spcPct val="110000"/>
              </a:lnSpc>
              <a:spcBef>
                <a:spcPts val="0"/>
              </a:spcBef>
              <a:buNone/>
            </a:pPr>
            <a:endParaRPr lang="en-US" sz="2000" b="1" dirty="0">
              <a:latin typeface="Consolas" panose="020B0609020204030204" pitchFamily="49" charset="0"/>
            </a:endParaRPr>
          </a:p>
          <a:p>
            <a:pPr marL="0" indent="0" eaLnBrk="1" hangingPunct="1">
              <a:lnSpc>
                <a:spcPct val="110000"/>
              </a:lnSpc>
              <a:spcBef>
                <a:spcPts val="0"/>
              </a:spcBef>
              <a:buNone/>
            </a:pPr>
            <a:r>
              <a:rPr lang="en-US" sz="2000" b="1" dirty="0">
                <a:solidFill>
                  <a:srgbClr val="00B050"/>
                </a:solidFill>
                <a:latin typeface="Consolas" panose="020B0609020204030204" pitchFamily="49" charset="0"/>
              </a:rPr>
              <a:t>//operator overloading notation</a:t>
            </a:r>
          </a:p>
          <a:p>
            <a:pPr marL="0" indent="0" eaLnBrk="1" hangingPunct="1">
              <a:lnSpc>
                <a:spcPct val="110000"/>
              </a:lnSpc>
              <a:spcBef>
                <a:spcPts val="0"/>
              </a:spcBef>
              <a:buNone/>
            </a:pPr>
            <a:r>
              <a:rPr lang="en-US" sz="2000" b="1" dirty="0">
                <a:latin typeface="Consolas" panose="020B0609020204030204" pitchFamily="49" charset="0"/>
              </a:rPr>
              <a:t>double Employee::</a:t>
            </a:r>
            <a:r>
              <a:rPr lang="en-US" sz="2000" b="1" dirty="0">
                <a:solidFill>
                  <a:srgbClr val="FF0000"/>
                </a:solidFill>
                <a:latin typeface="Consolas" panose="020B0609020204030204" pitchFamily="49" charset="0"/>
              </a:rPr>
              <a:t>operator+</a:t>
            </a:r>
            <a:r>
              <a:rPr lang="en-US" sz="2000" b="1" dirty="0">
                <a:latin typeface="Consolas" panose="020B0609020204030204" pitchFamily="49" charset="0"/>
              </a:rPr>
              <a:t>(Employee&amp; emp)</a:t>
            </a:r>
          </a:p>
          <a:p>
            <a:pPr marL="0" indent="0" eaLnBrk="1" hangingPunct="1">
              <a:lnSpc>
                <a:spcPct val="110000"/>
              </a:lnSpc>
              <a:spcBef>
                <a:spcPts val="0"/>
              </a:spcBef>
              <a:buNone/>
            </a:pPr>
            <a:r>
              <a:rPr lang="en-US" sz="2000" b="1" dirty="0">
                <a:latin typeface="Consolas" panose="020B0609020204030204" pitchFamily="49" charset="0"/>
              </a:rPr>
              <a:t>{</a:t>
            </a:r>
          </a:p>
          <a:p>
            <a:pPr marL="0" indent="0" eaLnBrk="1" hangingPunct="1">
              <a:lnSpc>
                <a:spcPct val="110000"/>
              </a:lnSpc>
              <a:spcBef>
                <a:spcPts val="0"/>
              </a:spcBef>
              <a:buNone/>
            </a:pPr>
            <a:r>
              <a:rPr lang="en-US" sz="2000" b="1" dirty="0">
                <a:latin typeface="Consolas" panose="020B0609020204030204" pitchFamily="49" charset="0"/>
              </a:rPr>
              <a:t>   double total;</a:t>
            </a:r>
          </a:p>
          <a:p>
            <a:pPr marL="0" indent="0" eaLnBrk="1" hangingPunct="1">
              <a:lnSpc>
                <a:spcPct val="110000"/>
              </a:lnSpc>
              <a:spcBef>
                <a:spcPts val="0"/>
              </a:spcBef>
              <a:buNone/>
            </a:pPr>
            <a:r>
              <a:rPr lang="en-US" sz="2000" b="1" dirty="0">
                <a:latin typeface="Consolas" panose="020B0609020204030204" pitchFamily="49" charset="0"/>
              </a:rPr>
              <a:t>   total = this-&gt;salary + </a:t>
            </a:r>
            <a:r>
              <a:rPr lang="en-US" sz="2000" b="1" dirty="0" err="1">
                <a:latin typeface="Consolas" panose="020B0609020204030204" pitchFamily="49" charset="0"/>
              </a:rPr>
              <a:t>emp.getSalary</a:t>
            </a:r>
            <a:r>
              <a:rPr lang="en-US" sz="2000" b="1" dirty="0">
                <a:latin typeface="Consolas" panose="020B0609020204030204" pitchFamily="49" charset="0"/>
              </a:rPr>
              <a:t>();</a:t>
            </a:r>
          </a:p>
          <a:p>
            <a:pPr marL="0" indent="0" eaLnBrk="1" hangingPunct="1">
              <a:lnSpc>
                <a:spcPct val="110000"/>
              </a:lnSpc>
              <a:spcBef>
                <a:spcPts val="0"/>
              </a:spcBef>
              <a:buNone/>
            </a:pPr>
            <a:r>
              <a:rPr lang="en-US" sz="2000" b="1" dirty="0">
                <a:latin typeface="Consolas" panose="020B0609020204030204" pitchFamily="49" charset="0"/>
              </a:rPr>
              <a:t>   return total;</a:t>
            </a:r>
          </a:p>
          <a:p>
            <a:pPr marL="0" indent="0" eaLnBrk="1" hangingPunct="1">
              <a:lnSpc>
                <a:spcPct val="110000"/>
              </a:lnSpc>
              <a:spcBef>
                <a:spcPts val="0"/>
              </a:spcBef>
              <a:buNone/>
            </a:pPr>
            <a:r>
              <a:rPr lang="en-US" sz="2000" b="1" dirty="0">
                <a:latin typeface="Consolas" panose="020B0609020204030204" pitchFamily="49" charset="0"/>
              </a:rPr>
              <a:t>}</a:t>
            </a:r>
          </a:p>
        </p:txBody>
      </p:sp>
      <p:sp>
        <p:nvSpPr>
          <p:cNvPr id="4" name="Footer Placeholder 3">
            <a:extLst>
              <a:ext uri="{FF2B5EF4-FFF2-40B4-BE49-F238E27FC236}">
                <a16:creationId xmlns:a16="http://schemas.microsoft.com/office/drawing/2014/main" id="{6949F0CF-F0D7-E23A-B176-27498D9501C3}"/>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E36D2621-030E-C2DA-A5B2-8D4D6BCDE6E7}"/>
              </a:ext>
            </a:extLst>
          </p:cNvPr>
          <p:cNvSpPr>
            <a:spLocks noGrp="1"/>
          </p:cNvSpPr>
          <p:nvPr>
            <p:ph type="sldNum" sz="quarter" idx="12"/>
          </p:nvPr>
        </p:nvSpPr>
        <p:spPr/>
        <p:txBody>
          <a:bodyPr/>
          <a:lstStyle/>
          <a:p>
            <a:fld id="{51845F5A-061D-4825-9AE9-D7794091C6CF}" type="slidenum">
              <a:rPr lang="en-US" smtClean="0"/>
              <a:t>25</a:t>
            </a:fld>
            <a:endParaRPr lang="en-US" dirty="0"/>
          </a:p>
        </p:txBody>
      </p:sp>
    </p:spTree>
    <p:extLst>
      <p:ext uri="{BB962C8B-B14F-4D97-AF65-F5344CB8AC3E}">
        <p14:creationId xmlns:p14="http://schemas.microsoft.com/office/powerpoint/2010/main" val="3575137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0D042-BB0C-4D60-A587-751EA90C88BA}"/>
              </a:ext>
            </a:extLst>
          </p:cNvPr>
          <p:cNvSpPr>
            <a:spLocks noGrp="1"/>
          </p:cNvSpPr>
          <p:nvPr>
            <p:ph type="title"/>
          </p:nvPr>
        </p:nvSpPr>
        <p:spPr/>
        <p:txBody>
          <a:bodyPr/>
          <a:lstStyle/>
          <a:p>
            <a:r>
              <a:rPr lang="en-US" dirty="0"/>
              <a:t>Using the Member Functions</a:t>
            </a:r>
            <a:endParaRPr lang="en-PK" dirty="0"/>
          </a:p>
        </p:txBody>
      </p:sp>
      <p:sp>
        <p:nvSpPr>
          <p:cNvPr id="3" name="Content Placeholder 2">
            <a:extLst>
              <a:ext uri="{FF2B5EF4-FFF2-40B4-BE49-F238E27FC236}">
                <a16:creationId xmlns:a16="http://schemas.microsoft.com/office/drawing/2014/main" id="{E99B36B5-9C18-C57F-59B3-752FB6B6354B}"/>
              </a:ext>
            </a:extLst>
          </p:cNvPr>
          <p:cNvSpPr>
            <a:spLocks noGrp="1"/>
          </p:cNvSpPr>
          <p:nvPr>
            <p:ph idx="1"/>
          </p:nvPr>
        </p:nvSpPr>
        <p:spPr/>
        <p:txBody>
          <a:bodyPr>
            <a:normAutofit fontScale="77500" lnSpcReduction="20000"/>
          </a:bodyPr>
          <a:lstStyle/>
          <a:p>
            <a:pPr marL="0" indent="0" eaLnBrk="1" hangingPunct="1">
              <a:lnSpc>
                <a:spcPct val="120000"/>
              </a:lnSpc>
              <a:spcBef>
                <a:spcPts val="0"/>
              </a:spcBef>
              <a:buNone/>
            </a:pPr>
            <a:r>
              <a:rPr lang="en-US" sz="2800" dirty="0">
                <a:latin typeface="Consolas" panose="020B0609020204030204" pitchFamily="49" charset="0"/>
              </a:rPr>
              <a:t>double sum;</a:t>
            </a:r>
          </a:p>
          <a:p>
            <a:pPr marL="0" indent="0" eaLnBrk="1" hangingPunct="1">
              <a:lnSpc>
                <a:spcPct val="120000"/>
              </a:lnSpc>
              <a:spcBef>
                <a:spcPts val="0"/>
              </a:spcBef>
              <a:buNone/>
            </a:pPr>
            <a:r>
              <a:rPr lang="en-US" sz="2800" dirty="0">
                <a:latin typeface="Consolas" panose="020B0609020204030204" pitchFamily="49" charset="0"/>
              </a:rPr>
              <a:t>Employee </a:t>
            </a:r>
            <a:r>
              <a:rPr lang="en-US" sz="2800" dirty="0">
                <a:solidFill>
                  <a:srgbClr val="0070C0"/>
                </a:solidFill>
                <a:latin typeface="Consolas" panose="020B0609020204030204" pitchFamily="49" charset="0"/>
              </a:rPr>
              <a:t>Clerk</a:t>
            </a:r>
            <a:r>
              <a:rPr lang="en-US" sz="2800" dirty="0">
                <a:latin typeface="Consolas" panose="020B0609020204030204" pitchFamily="49" charset="0"/>
              </a:rPr>
              <a:t> (111, 10000), </a:t>
            </a:r>
            <a:r>
              <a:rPr lang="en-US" sz="2800" dirty="0">
                <a:solidFill>
                  <a:srgbClr val="0070C0"/>
                </a:solidFill>
                <a:latin typeface="Consolas" panose="020B0609020204030204" pitchFamily="49" charset="0"/>
              </a:rPr>
              <a:t>Driver</a:t>
            </a:r>
            <a:r>
              <a:rPr lang="en-US" sz="2800" dirty="0">
                <a:latin typeface="Consolas" panose="020B0609020204030204" pitchFamily="49" charset="0"/>
              </a:rPr>
              <a:t> (222, 6000);</a:t>
            </a:r>
          </a:p>
          <a:p>
            <a:pPr marL="0" indent="0" eaLnBrk="1" hangingPunct="1">
              <a:lnSpc>
                <a:spcPct val="120000"/>
              </a:lnSpc>
              <a:spcBef>
                <a:spcPts val="0"/>
              </a:spcBef>
              <a:buNone/>
            </a:pPr>
            <a:endParaRPr lang="en-US" sz="2400" dirty="0">
              <a:latin typeface="Consolas" panose="020B0609020204030204" pitchFamily="49" charset="0"/>
            </a:endParaRPr>
          </a:p>
          <a:p>
            <a:pPr marL="0" indent="0" eaLnBrk="1" hangingPunct="1">
              <a:lnSpc>
                <a:spcPct val="120000"/>
              </a:lnSpc>
              <a:spcBef>
                <a:spcPts val="0"/>
              </a:spcBef>
              <a:buNone/>
            </a:pPr>
            <a:endParaRPr lang="en-US" sz="2400" dirty="0">
              <a:latin typeface="Consolas" panose="020B0609020204030204" pitchFamily="49" charset="0"/>
            </a:endParaRPr>
          </a:p>
          <a:p>
            <a:pPr marL="0" indent="0" eaLnBrk="1" hangingPunct="1">
              <a:lnSpc>
                <a:spcPct val="120000"/>
              </a:lnSpc>
              <a:spcBef>
                <a:spcPts val="0"/>
              </a:spcBef>
              <a:buNone/>
            </a:pPr>
            <a:r>
              <a:rPr lang="en-US" sz="2800" dirty="0">
                <a:solidFill>
                  <a:srgbClr val="00B050"/>
                </a:solidFill>
                <a:latin typeface="Consolas" panose="020B0609020204030204" pitchFamily="49" charset="0"/>
              </a:rPr>
              <a:t>// these three statements do the same thing</a:t>
            </a:r>
          </a:p>
          <a:p>
            <a:pPr marL="0" indent="0" eaLnBrk="1" hangingPunct="1">
              <a:lnSpc>
                <a:spcPct val="120000"/>
              </a:lnSpc>
              <a:spcBef>
                <a:spcPts val="0"/>
              </a:spcBef>
              <a:buNone/>
            </a:pPr>
            <a:r>
              <a:rPr lang="en-US" sz="2800" dirty="0">
                <a:latin typeface="Consolas" panose="020B0609020204030204" pitchFamily="49" charset="0"/>
              </a:rPr>
              <a:t>sum = </a:t>
            </a:r>
            <a:r>
              <a:rPr lang="en-US" sz="2800" dirty="0" err="1">
                <a:latin typeface="Consolas" panose="020B0609020204030204" pitchFamily="49" charset="0"/>
              </a:rPr>
              <a:t>Clerk.addTwo</a:t>
            </a:r>
            <a:r>
              <a:rPr lang="en-US" sz="2800" dirty="0">
                <a:latin typeface="Consolas" panose="020B0609020204030204" pitchFamily="49" charset="0"/>
              </a:rPr>
              <a:t>(Driver);</a:t>
            </a:r>
          </a:p>
          <a:p>
            <a:pPr marL="0" indent="0" eaLnBrk="1" hangingPunct="1">
              <a:lnSpc>
                <a:spcPct val="120000"/>
              </a:lnSpc>
              <a:spcBef>
                <a:spcPts val="0"/>
              </a:spcBef>
              <a:buNone/>
            </a:pPr>
            <a:r>
              <a:rPr lang="en-US" sz="2800" dirty="0">
                <a:latin typeface="Consolas" panose="020B0609020204030204" pitchFamily="49" charset="0"/>
              </a:rPr>
              <a:t>sum = </a:t>
            </a:r>
            <a:r>
              <a:rPr lang="en-US" sz="2800" dirty="0" err="1">
                <a:latin typeface="Consolas" panose="020B0609020204030204" pitchFamily="49" charset="0"/>
              </a:rPr>
              <a:t>Clerk.operator</a:t>
            </a:r>
            <a:r>
              <a:rPr lang="en-US" sz="2800" dirty="0">
                <a:latin typeface="Consolas" panose="020B0609020204030204" pitchFamily="49" charset="0"/>
              </a:rPr>
              <a:t>+(Driver);</a:t>
            </a:r>
            <a:endParaRPr lang="en-US" sz="2800" dirty="0">
              <a:latin typeface="Courier New" panose="02070309020205020404" pitchFamily="49" charset="0"/>
            </a:endParaRPr>
          </a:p>
          <a:p>
            <a:pPr marL="0" indent="0" eaLnBrk="1" hangingPunct="1">
              <a:lnSpc>
                <a:spcPct val="120000"/>
              </a:lnSpc>
              <a:spcBef>
                <a:spcPts val="0"/>
              </a:spcBef>
              <a:buNone/>
            </a:pPr>
            <a:r>
              <a:rPr lang="en-US" sz="2800" dirty="0">
                <a:latin typeface="Consolas" panose="020B0609020204030204" pitchFamily="49" charset="0"/>
              </a:rPr>
              <a:t>sum = Clerk + Driver;</a:t>
            </a:r>
          </a:p>
          <a:p>
            <a:pPr marL="0" indent="0" eaLnBrk="1" hangingPunct="1">
              <a:lnSpc>
                <a:spcPct val="120000"/>
              </a:lnSpc>
              <a:spcBef>
                <a:spcPts val="0"/>
              </a:spcBef>
              <a:buNone/>
            </a:pPr>
            <a:endParaRPr lang="en-US" sz="2400" dirty="0">
              <a:latin typeface="Courier New" panose="02070309020205020404" pitchFamily="49" charset="0"/>
            </a:endParaRPr>
          </a:p>
          <a:p>
            <a:pPr marL="0" indent="0" eaLnBrk="1" hangingPunct="1">
              <a:lnSpc>
                <a:spcPct val="120000"/>
              </a:lnSpc>
              <a:spcBef>
                <a:spcPts val="0"/>
              </a:spcBef>
              <a:buNone/>
            </a:pPr>
            <a:endParaRPr lang="en-US" sz="2400" dirty="0">
              <a:latin typeface="Courier New" panose="02070309020205020404" pitchFamily="49" charset="0"/>
            </a:endParaRPr>
          </a:p>
          <a:p>
            <a:pPr marL="0" indent="0" eaLnBrk="1" hangingPunct="1">
              <a:lnSpc>
                <a:spcPct val="120000"/>
              </a:lnSpc>
              <a:spcBef>
                <a:spcPts val="0"/>
              </a:spcBef>
              <a:buNone/>
            </a:pPr>
            <a:r>
              <a:rPr lang="en-US" sz="2400" b="1" dirty="0">
                <a:solidFill>
                  <a:srgbClr val="FF0000"/>
                </a:solidFill>
                <a:latin typeface="Courier New" panose="02070309020205020404" pitchFamily="49" charset="0"/>
              </a:rPr>
              <a:t>// the syntax for the last one is the most natural</a:t>
            </a:r>
          </a:p>
          <a:p>
            <a:pPr marL="0" indent="0" eaLnBrk="1" hangingPunct="1">
              <a:lnSpc>
                <a:spcPct val="120000"/>
              </a:lnSpc>
              <a:spcBef>
                <a:spcPts val="0"/>
              </a:spcBef>
              <a:buNone/>
            </a:pPr>
            <a:r>
              <a:rPr lang="en-US" sz="2400" b="1" dirty="0">
                <a:solidFill>
                  <a:srgbClr val="FF0000"/>
                </a:solidFill>
                <a:latin typeface="Courier New" panose="02070309020205020404" pitchFamily="49" charset="0"/>
              </a:rPr>
              <a:t>// and is easy to remember because it is consistent</a:t>
            </a:r>
          </a:p>
          <a:p>
            <a:pPr marL="0" indent="0" eaLnBrk="1" hangingPunct="1">
              <a:lnSpc>
                <a:spcPct val="120000"/>
              </a:lnSpc>
              <a:spcBef>
                <a:spcPts val="0"/>
              </a:spcBef>
              <a:buNone/>
            </a:pPr>
            <a:r>
              <a:rPr lang="en-US" sz="2400" b="1" dirty="0">
                <a:solidFill>
                  <a:srgbClr val="FF0000"/>
                </a:solidFill>
                <a:latin typeface="Courier New" panose="02070309020205020404" pitchFamily="49" charset="0"/>
              </a:rPr>
              <a:t>// with how the + operator works for everything else</a:t>
            </a:r>
          </a:p>
        </p:txBody>
      </p:sp>
      <p:sp>
        <p:nvSpPr>
          <p:cNvPr id="4" name="Footer Placeholder 3">
            <a:extLst>
              <a:ext uri="{FF2B5EF4-FFF2-40B4-BE49-F238E27FC236}">
                <a16:creationId xmlns:a16="http://schemas.microsoft.com/office/drawing/2014/main" id="{5D6379D6-1942-247A-2E6E-9A6A97B83C45}"/>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3B82C90D-0303-1377-8F23-78256470C96D}"/>
              </a:ext>
            </a:extLst>
          </p:cNvPr>
          <p:cNvSpPr>
            <a:spLocks noGrp="1"/>
          </p:cNvSpPr>
          <p:nvPr>
            <p:ph type="sldNum" sz="quarter" idx="12"/>
          </p:nvPr>
        </p:nvSpPr>
        <p:spPr/>
        <p:txBody>
          <a:bodyPr/>
          <a:lstStyle/>
          <a:p>
            <a:fld id="{51845F5A-061D-4825-9AE9-D7794091C6CF}" type="slidenum">
              <a:rPr lang="en-US" smtClean="0"/>
              <a:t>26</a:t>
            </a:fld>
            <a:endParaRPr lang="en-US" dirty="0"/>
          </a:p>
        </p:txBody>
      </p:sp>
    </p:spTree>
    <p:extLst>
      <p:ext uri="{BB962C8B-B14F-4D97-AF65-F5344CB8AC3E}">
        <p14:creationId xmlns:p14="http://schemas.microsoft.com/office/powerpoint/2010/main" val="34234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4622D-D155-B3B7-7DD3-1D1B370A6D3F}"/>
              </a:ext>
            </a:extLst>
          </p:cNvPr>
          <p:cNvSpPr>
            <a:spLocks noGrp="1"/>
          </p:cNvSpPr>
          <p:nvPr>
            <p:ph type="title"/>
          </p:nvPr>
        </p:nvSpPr>
        <p:spPr/>
        <p:txBody>
          <a:bodyPr/>
          <a:lstStyle/>
          <a:p>
            <a:r>
              <a:rPr lang="en-US" dirty="0"/>
              <a:t>Multiple Operators</a:t>
            </a:r>
            <a:endParaRPr lang="en-PK" dirty="0"/>
          </a:p>
        </p:txBody>
      </p:sp>
      <p:sp>
        <p:nvSpPr>
          <p:cNvPr id="3" name="Content Placeholder 2">
            <a:extLst>
              <a:ext uri="{FF2B5EF4-FFF2-40B4-BE49-F238E27FC236}">
                <a16:creationId xmlns:a16="http://schemas.microsoft.com/office/drawing/2014/main" id="{E12721A3-BFF8-FBB2-9B85-1F4B5F9BFCBD}"/>
              </a:ext>
            </a:extLst>
          </p:cNvPr>
          <p:cNvSpPr>
            <a:spLocks noGrp="1"/>
          </p:cNvSpPr>
          <p:nvPr>
            <p:ph idx="1"/>
          </p:nvPr>
        </p:nvSpPr>
        <p:spPr/>
        <p:txBody>
          <a:bodyPr>
            <a:normAutofit fontScale="92500" lnSpcReduction="20000"/>
          </a:bodyPr>
          <a:lstStyle/>
          <a:p>
            <a:r>
              <a:rPr lang="en-US" dirty="0"/>
              <a:t>Often, you may need to reference an operator </a:t>
            </a:r>
            <a:r>
              <a:rPr lang="en-US" dirty="0">
                <a:solidFill>
                  <a:srgbClr val="0070C0"/>
                </a:solidFill>
              </a:rPr>
              <a:t>more than once</a:t>
            </a:r>
            <a:r>
              <a:rPr lang="en-US" dirty="0"/>
              <a:t> in an expression:</a:t>
            </a:r>
          </a:p>
          <a:p>
            <a:endParaRPr lang="en-US" dirty="0"/>
          </a:p>
          <a:p>
            <a:r>
              <a:rPr lang="en-US" dirty="0"/>
              <a:t>    Example:</a:t>
            </a:r>
          </a:p>
          <a:p>
            <a:pPr marL="457200" lvl="1" indent="0">
              <a:buNone/>
            </a:pPr>
            <a:r>
              <a:rPr lang="en-US" dirty="0"/>
              <a:t>		total = a + b + c;</a:t>
            </a:r>
          </a:p>
          <a:p>
            <a:pPr lvl="1"/>
            <a:endParaRPr lang="en-US" dirty="0"/>
          </a:p>
          <a:p>
            <a:r>
              <a:rPr lang="en-US" dirty="0"/>
              <a:t>But this can </a:t>
            </a:r>
            <a:r>
              <a:rPr lang="en-US" dirty="0">
                <a:solidFill>
                  <a:srgbClr val="0070C0"/>
                </a:solidFill>
              </a:rPr>
              <a:t>cause problems </a:t>
            </a:r>
            <a:r>
              <a:rPr lang="en-US" dirty="0"/>
              <a:t>when </a:t>
            </a:r>
            <a:r>
              <a:rPr lang="en-US" dirty="0">
                <a:solidFill>
                  <a:srgbClr val="0070C0"/>
                </a:solidFill>
              </a:rPr>
              <a:t>operator overloading </a:t>
            </a:r>
            <a:r>
              <a:rPr lang="en-US" dirty="0"/>
              <a:t>is involved</a:t>
            </a:r>
          </a:p>
          <a:p>
            <a:endParaRPr lang="en-US" dirty="0"/>
          </a:p>
          <a:p>
            <a:r>
              <a:rPr lang="en-US" dirty="0"/>
              <a:t>See next example…</a:t>
            </a:r>
          </a:p>
        </p:txBody>
      </p:sp>
      <p:sp>
        <p:nvSpPr>
          <p:cNvPr id="4" name="Footer Placeholder 3">
            <a:extLst>
              <a:ext uri="{FF2B5EF4-FFF2-40B4-BE49-F238E27FC236}">
                <a16:creationId xmlns:a16="http://schemas.microsoft.com/office/drawing/2014/main" id="{E2639D58-E7E7-7850-9CB7-5B667A96A407}"/>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269829D5-8426-311E-E68E-871A730D7588}"/>
              </a:ext>
            </a:extLst>
          </p:cNvPr>
          <p:cNvSpPr>
            <a:spLocks noGrp="1"/>
          </p:cNvSpPr>
          <p:nvPr>
            <p:ph type="sldNum" sz="quarter" idx="12"/>
          </p:nvPr>
        </p:nvSpPr>
        <p:spPr/>
        <p:txBody>
          <a:bodyPr/>
          <a:lstStyle/>
          <a:p>
            <a:fld id="{51845F5A-061D-4825-9AE9-D7794091C6CF}" type="slidenum">
              <a:rPr lang="en-US" smtClean="0"/>
              <a:t>27</a:t>
            </a:fld>
            <a:endParaRPr lang="en-US" dirty="0"/>
          </a:p>
        </p:txBody>
      </p:sp>
    </p:spTree>
    <p:extLst>
      <p:ext uri="{BB962C8B-B14F-4D97-AF65-F5344CB8AC3E}">
        <p14:creationId xmlns:p14="http://schemas.microsoft.com/office/powerpoint/2010/main" val="36815081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227B8-48F7-484C-A7C8-8E811371AB70}"/>
              </a:ext>
            </a:extLst>
          </p:cNvPr>
          <p:cNvSpPr>
            <a:spLocks noGrp="1"/>
          </p:cNvSpPr>
          <p:nvPr>
            <p:ph type="title"/>
          </p:nvPr>
        </p:nvSpPr>
        <p:spPr/>
        <p:txBody>
          <a:bodyPr/>
          <a:lstStyle/>
          <a:p>
            <a:r>
              <a:rPr lang="en-US" dirty="0"/>
              <a:t>Client Code for Class Employee</a:t>
            </a:r>
            <a:endParaRPr lang="en-PK" dirty="0"/>
          </a:p>
        </p:txBody>
      </p:sp>
      <p:sp>
        <p:nvSpPr>
          <p:cNvPr id="3" name="Content Placeholder 2">
            <a:extLst>
              <a:ext uri="{FF2B5EF4-FFF2-40B4-BE49-F238E27FC236}">
                <a16:creationId xmlns:a16="http://schemas.microsoft.com/office/drawing/2014/main" id="{0E86FCFF-C570-6197-5C93-1F81455A2C0F}"/>
              </a:ext>
            </a:extLst>
          </p:cNvPr>
          <p:cNvSpPr>
            <a:spLocks noGrp="1"/>
          </p:cNvSpPr>
          <p:nvPr>
            <p:ph idx="1"/>
          </p:nvPr>
        </p:nvSpPr>
        <p:spPr/>
        <p:txBody>
          <a:bodyPr>
            <a:normAutofit fontScale="85000" lnSpcReduction="20000"/>
          </a:bodyPr>
          <a:lstStyle/>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void main()</a:t>
            </a:r>
          </a:p>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a:t>
            </a:r>
          </a:p>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   Employee Clerk(115, 20000.00);</a:t>
            </a:r>
          </a:p>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   Employee Driver(256, 15500.55);</a:t>
            </a:r>
          </a:p>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   Employee Secretary(567, 34200.00);</a:t>
            </a:r>
          </a:p>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   double sum;</a:t>
            </a:r>
          </a:p>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  </a:t>
            </a:r>
          </a:p>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   </a:t>
            </a:r>
            <a:r>
              <a:rPr lang="en-US" sz="2800" dirty="0">
                <a:solidFill>
                  <a:srgbClr val="0070C0"/>
                </a:solidFill>
                <a:latin typeface="Consolas" panose="020B0609020204030204" pitchFamily="49" charset="0"/>
                <a:cs typeface="Courier New" panose="02070309020205020404" pitchFamily="49" charset="0"/>
              </a:rPr>
              <a:t>sum = Clerk + Driver + Secretary;</a:t>
            </a:r>
          </a:p>
          <a:p>
            <a:pPr marL="0" indent="0" eaLnBrk="1" hangingPunct="1">
              <a:lnSpc>
                <a:spcPct val="120000"/>
              </a:lnSpc>
              <a:spcBef>
                <a:spcPts val="0"/>
              </a:spcBef>
              <a:buNone/>
            </a:pPr>
            <a:endParaRPr lang="en-US" sz="2800" dirty="0">
              <a:latin typeface="Consolas" panose="020B0609020204030204" pitchFamily="49" charset="0"/>
              <a:cs typeface="Courier New" panose="02070309020205020404" pitchFamily="49" charset="0"/>
            </a:endParaRPr>
          </a:p>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   </a:t>
            </a:r>
            <a:r>
              <a:rPr lang="en-US" sz="2800" dirty="0" err="1">
                <a:latin typeface="Consolas" panose="020B0609020204030204" pitchFamily="49" charset="0"/>
                <a:cs typeface="Courier New" panose="02070309020205020404" pitchFamily="49" charset="0"/>
              </a:rPr>
              <a:t>cout</a:t>
            </a:r>
            <a:r>
              <a:rPr lang="en-US" sz="2800" dirty="0">
                <a:latin typeface="Consolas" panose="020B0609020204030204" pitchFamily="49" charset="0"/>
                <a:cs typeface="Courier New" panose="02070309020205020404" pitchFamily="49" charset="0"/>
              </a:rPr>
              <a:t> &lt;&lt; </a:t>
            </a:r>
            <a:r>
              <a:rPr lang="ja-JP" altLang="en-US" sz="2800" dirty="0">
                <a:latin typeface="Consolas" panose="020B0609020204030204" pitchFamily="49" charset="0"/>
                <a:cs typeface="Courier New" panose="02070309020205020404" pitchFamily="49" charset="0"/>
              </a:rPr>
              <a:t>“</a:t>
            </a:r>
            <a:r>
              <a:rPr lang="en-US" altLang="ja-JP" sz="2800" dirty="0">
                <a:latin typeface="Consolas" panose="020B0609020204030204" pitchFamily="49" charset="0"/>
                <a:cs typeface="Courier New" panose="02070309020205020404" pitchFamily="49" charset="0"/>
              </a:rPr>
              <a:t>Sum is </a:t>
            </a:r>
            <a:r>
              <a:rPr lang="ja-JP" altLang="en-US" sz="2800" dirty="0">
                <a:latin typeface="Consolas" panose="020B0609020204030204" pitchFamily="49" charset="0"/>
                <a:cs typeface="Courier New" panose="02070309020205020404" pitchFamily="49" charset="0"/>
              </a:rPr>
              <a:t>“</a:t>
            </a:r>
            <a:r>
              <a:rPr lang="en-US" altLang="ja-JP" sz="2800" dirty="0">
                <a:latin typeface="Consolas" panose="020B0609020204030204" pitchFamily="49" charset="0"/>
                <a:cs typeface="Courier New" panose="02070309020205020404" pitchFamily="49" charset="0"/>
              </a:rPr>
              <a:t> &lt;&lt; sum;</a:t>
            </a:r>
          </a:p>
          <a:p>
            <a:pPr marL="0" indent="0" eaLnBrk="1" hangingPunct="1">
              <a:lnSpc>
                <a:spcPct val="120000"/>
              </a:lnSpc>
              <a:spcBef>
                <a:spcPts val="0"/>
              </a:spcBef>
              <a:buNone/>
            </a:pPr>
            <a:r>
              <a:rPr lang="en-US" sz="2800" dirty="0">
                <a:latin typeface="Consolas" panose="020B0609020204030204" pitchFamily="49" charset="0"/>
                <a:cs typeface="Courier New" panose="02070309020205020404" pitchFamily="49" charset="0"/>
              </a:rPr>
              <a:t>}</a:t>
            </a:r>
          </a:p>
        </p:txBody>
      </p:sp>
      <p:sp>
        <p:nvSpPr>
          <p:cNvPr id="4" name="Footer Placeholder 3">
            <a:extLst>
              <a:ext uri="{FF2B5EF4-FFF2-40B4-BE49-F238E27FC236}">
                <a16:creationId xmlns:a16="http://schemas.microsoft.com/office/drawing/2014/main" id="{C2AD9217-FC15-A30C-0544-F6952D8A9853}"/>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60C1BE1C-9B1F-443D-3D8C-AC09DB53A52F}"/>
              </a:ext>
            </a:extLst>
          </p:cNvPr>
          <p:cNvSpPr>
            <a:spLocks noGrp="1"/>
          </p:cNvSpPr>
          <p:nvPr>
            <p:ph type="sldNum" sz="quarter" idx="12"/>
          </p:nvPr>
        </p:nvSpPr>
        <p:spPr/>
        <p:txBody>
          <a:bodyPr/>
          <a:lstStyle/>
          <a:p>
            <a:fld id="{51845F5A-061D-4825-9AE9-D7794091C6CF}" type="slidenum">
              <a:rPr lang="en-US" smtClean="0"/>
              <a:t>28</a:t>
            </a:fld>
            <a:endParaRPr lang="en-US" dirty="0"/>
          </a:p>
        </p:txBody>
      </p:sp>
    </p:spTree>
    <p:extLst>
      <p:ext uri="{BB962C8B-B14F-4D97-AF65-F5344CB8AC3E}">
        <p14:creationId xmlns:p14="http://schemas.microsoft.com/office/powerpoint/2010/main" val="529030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4A927-CF08-8125-79E4-F03F9C56B508}"/>
              </a:ext>
            </a:extLst>
          </p:cNvPr>
          <p:cNvSpPr>
            <a:spLocks noGrp="1"/>
          </p:cNvSpPr>
          <p:nvPr>
            <p:ph type="title"/>
          </p:nvPr>
        </p:nvSpPr>
        <p:spPr/>
        <p:txBody>
          <a:bodyPr/>
          <a:lstStyle/>
          <a:p>
            <a:r>
              <a:rPr lang="en-US" dirty="0"/>
              <a:t>The Problem</a:t>
            </a:r>
            <a:endParaRPr lang="en-PK" dirty="0"/>
          </a:p>
        </p:txBody>
      </p:sp>
      <p:sp>
        <p:nvSpPr>
          <p:cNvPr id="3" name="Content Placeholder 2">
            <a:extLst>
              <a:ext uri="{FF2B5EF4-FFF2-40B4-BE49-F238E27FC236}">
                <a16:creationId xmlns:a16="http://schemas.microsoft.com/office/drawing/2014/main" id="{7E53D89A-1326-E6F1-1E99-9B05653D8C3C}"/>
              </a:ext>
            </a:extLst>
          </p:cNvPr>
          <p:cNvSpPr>
            <a:spLocks noGrp="1"/>
          </p:cNvSpPr>
          <p:nvPr>
            <p:ph idx="1"/>
          </p:nvPr>
        </p:nvSpPr>
        <p:spPr/>
        <p:txBody>
          <a:bodyPr>
            <a:normAutofit fontScale="92500" lnSpcReduction="10000"/>
          </a:bodyPr>
          <a:lstStyle/>
          <a:p>
            <a:r>
              <a:rPr lang="en-US" dirty="0"/>
              <a:t>Operator </a:t>
            </a:r>
            <a:r>
              <a:rPr lang="en-US" b="1" dirty="0">
                <a:solidFill>
                  <a:srgbClr val="FF0000"/>
                </a:solidFill>
              </a:rPr>
              <a:t>+</a:t>
            </a:r>
            <a:r>
              <a:rPr lang="en-US" dirty="0"/>
              <a:t> is </a:t>
            </a:r>
            <a:r>
              <a:rPr lang="en-US" dirty="0">
                <a:solidFill>
                  <a:srgbClr val="0070C0"/>
                </a:solidFill>
              </a:rPr>
              <a:t>left to right associative</a:t>
            </a:r>
            <a:r>
              <a:rPr lang="en-US" dirty="0"/>
              <a:t>, so Clerk and Driver are added.  </a:t>
            </a:r>
            <a:r>
              <a:rPr lang="en-US" b="1" i="1" dirty="0">
                <a:solidFill>
                  <a:srgbClr val="0070C0"/>
                </a:solidFill>
              </a:rPr>
              <a:t>The result is a double.</a:t>
            </a:r>
          </a:p>
          <a:p>
            <a:pPr marL="0" indent="0">
              <a:buNone/>
            </a:pPr>
            <a:endParaRPr lang="en-US" dirty="0"/>
          </a:p>
          <a:p>
            <a:pPr marL="0" indent="0">
              <a:buNone/>
            </a:pPr>
            <a:r>
              <a:rPr lang="en-US" dirty="0">
                <a:latin typeface="Consolas" panose="020B0609020204030204" pitchFamily="49" charset="0"/>
              </a:rPr>
              <a:t>      double + Secretary; </a:t>
            </a:r>
            <a:r>
              <a:rPr lang="en-US" dirty="0">
                <a:solidFill>
                  <a:srgbClr val="FF0000"/>
                </a:solidFill>
              </a:rPr>
              <a:t>//ERROR</a:t>
            </a:r>
          </a:p>
          <a:p>
            <a:endParaRPr lang="en-US" dirty="0"/>
          </a:p>
          <a:p>
            <a:r>
              <a:rPr lang="en-US" dirty="0"/>
              <a:t>The </a:t>
            </a:r>
            <a:r>
              <a:rPr lang="en-US" dirty="0">
                <a:solidFill>
                  <a:srgbClr val="FF0000"/>
                </a:solidFill>
              </a:rPr>
              <a:t>overloaded operator+ </a:t>
            </a:r>
            <a:r>
              <a:rPr lang="en-US" dirty="0"/>
              <a:t>function is a </a:t>
            </a:r>
            <a:r>
              <a:rPr lang="en-US" dirty="0">
                <a:solidFill>
                  <a:srgbClr val="0070C0"/>
                </a:solidFill>
              </a:rPr>
              <a:t>member of the employee class</a:t>
            </a:r>
            <a:r>
              <a:rPr lang="en-US" dirty="0"/>
              <a:t>. </a:t>
            </a:r>
          </a:p>
          <a:p>
            <a:endParaRPr lang="en-US" u="sng" dirty="0"/>
          </a:p>
          <a:p>
            <a:r>
              <a:rPr lang="en-US" u="sng" dirty="0"/>
              <a:t>Left operand </a:t>
            </a:r>
            <a:r>
              <a:rPr lang="en-US" b="1" u="sng" dirty="0"/>
              <a:t>MUST </a:t>
            </a:r>
            <a:r>
              <a:rPr lang="en-US" u="sng" dirty="0"/>
              <a:t>be an object of Employee class.</a:t>
            </a:r>
          </a:p>
        </p:txBody>
      </p:sp>
      <p:sp>
        <p:nvSpPr>
          <p:cNvPr id="4" name="Footer Placeholder 3">
            <a:extLst>
              <a:ext uri="{FF2B5EF4-FFF2-40B4-BE49-F238E27FC236}">
                <a16:creationId xmlns:a16="http://schemas.microsoft.com/office/drawing/2014/main" id="{FF9E1CFE-F2A2-19BF-D0B9-E45E42485214}"/>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77395E6A-F83F-F736-5F49-7E0E252A78EA}"/>
              </a:ext>
            </a:extLst>
          </p:cNvPr>
          <p:cNvSpPr>
            <a:spLocks noGrp="1"/>
          </p:cNvSpPr>
          <p:nvPr>
            <p:ph type="sldNum" sz="quarter" idx="12"/>
          </p:nvPr>
        </p:nvSpPr>
        <p:spPr/>
        <p:txBody>
          <a:bodyPr/>
          <a:lstStyle/>
          <a:p>
            <a:fld id="{51845F5A-061D-4825-9AE9-D7794091C6CF}" type="slidenum">
              <a:rPr lang="en-US" smtClean="0"/>
              <a:t>29</a:t>
            </a:fld>
            <a:endParaRPr lang="en-US" dirty="0"/>
          </a:p>
        </p:txBody>
      </p:sp>
    </p:spTree>
    <p:extLst>
      <p:ext uri="{BB962C8B-B14F-4D97-AF65-F5344CB8AC3E}">
        <p14:creationId xmlns:p14="http://schemas.microsoft.com/office/powerpoint/2010/main" val="3165633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5351F-4E89-4CD0-B246-931539F222F3}"/>
              </a:ext>
            </a:extLst>
          </p:cNvPr>
          <p:cNvSpPr>
            <a:spLocks noGrp="1"/>
          </p:cNvSpPr>
          <p:nvPr>
            <p:ph type="title"/>
          </p:nvPr>
        </p:nvSpPr>
        <p:spPr/>
        <p:txBody>
          <a:bodyPr/>
          <a:lstStyle/>
          <a:p>
            <a:r>
              <a:rPr lang="en-US" dirty="0"/>
              <a:t>The Problem Gets Worse</a:t>
            </a:r>
            <a:endParaRPr lang="en-PK" dirty="0"/>
          </a:p>
        </p:txBody>
      </p:sp>
      <p:sp>
        <p:nvSpPr>
          <p:cNvPr id="3" name="Content Placeholder 2">
            <a:extLst>
              <a:ext uri="{FF2B5EF4-FFF2-40B4-BE49-F238E27FC236}">
                <a16:creationId xmlns:a16="http://schemas.microsoft.com/office/drawing/2014/main" id="{B330BD18-8B81-8BEE-61B5-731D99C096E5}"/>
              </a:ext>
            </a:extLst>
          </p:cNvPr>
          <p:cNvSpPr>
            <a:spLocks noGrp="1"/>
          </p:cNvSpPr>
          <p:nvPr>
            <p:ph idx="1"/>
          </p:nvPr>
        </p:nvSpPr>
        <p:spPr>
          <a:xfrm>
            <a:off x="838200" y="1588770"/>
            <a:ext cx="10515600" cy="4767582"/>
          </a:xfrm>
        </p:spPr>
        <p:txBody>
          <a:bodyPr>
            <a:normAutofit fontScale="77500" lnSpcReduction="20000"/>
          </a:bodyPr>
          <a:lstStyle/>
          <a:p>
            <a:pPr>
              <a:lnSpc>
                <a:spcPct val="120000"/>
              </a:lnSpc>
              <a:spcBef>
                <a:spcPts val="0"/>
              </a:spcBef>
            </a:pPr>
            <a:r>
              <a:rPr lang="en-US" dirty="0"/>
              <a:t>A </a:t>
            </a:r>
            <a:r>
              <a:rPr lang="en-US" dirty="0">
                <a:solidFill>
                  <a:srgbClr val="0070C0"/>
                </a:solidFill>
              </a:rPr>
              <a:t>member function </a:t>
            </a:r>
            <a:r>
              <a:rPr lang="en-US" dirty="0">
                <a:solidFill>
                  <a:srgbClr val="FF0000"/>
                </a:solidFill>
              </a:rPr>
              <a:t>CANNOT</a:t>
            </a:r>
            <a:r>
              <a:rPr lang="en-US" dirty="0"/>
              <a:t> overload an operator like this: </a:t>
            </a:r>
          </a:p>
          <a:p>
            <a:pPr marL="457200" lvl="1" indent="0">
              <a:lnSpc>
                <a:spcPct val="120000"/>
              </a:lnSpc>
              <a:spcBef>
                <a:spcPts val="0"/>
              </a:spcBef>
              <a:buNone/>
            </a:pPr>
            <a:r>
              <a:rPr lang="en-US" dirty="0"/>
              <a:t>Primitive data type   +   User-defined data type </a:t>
            </a:r>
            <a:r>
              <a:rPr lang="en-US" dirty="0">
                <a:solidFill>
                  <a:srgbClr val="FF0000"/>
                </a:solidFill>
              </a:rPr>
              <a:t>//ERROR</a:t>
            </a:r>
          </a:p>
          <a:p>
            <a:pPr marL="457200" lvl="1" indent="0">
              <a:lnSpc>
                <a:spcPct val="120000"/>
              </a:lnSpc>
              <a:spcBef>
                <a:spcPts val="0"/>
              </a:spcBef>
              <a:buNone/>
            </a:pPr>
            <a:r>
              <a:rPr lang="en-US" dirty="0"/>
              <a:t>                       double  +   Employee				</a:t>
            </a:r>
          </a:p>
          <a:p>
            <a:pPr marL="457200" lvl="1" indent="0">
              <a:lnSpc>
                <a:spcPct val="120000"/>
              </a:lnSpc>
              <a:spcBef>
                <a:spcPts val="0"/>
              </a:spcBef>
              <a:buNone/>
            </a:pPr>
            <a:r>
              <a:rPr lang="en-US" dirty="0"/>
              <a:t>      </a:t>
            </a:r>
            <a:r>
              <a:rPr lang="en-US" dirty="0">
                <a:latin typeface="Consolas" panose="020B0609020204030204" pitchFamily="49" charset="0"/>
              </a:rPr>
              <a:t>sum  =  num  + Secretary;    </a:t>
            </a:r>
            <a:r>
              <a:rPr lang="en-US" dirty="0">
                <a:solidFill>
                  <a:srgbClr val="00B050"/>
                </a:solidFill>
              </a:rPr>
              <a:t>// why not?</a:t>
            </a:r>
          </a:p>
          <a:p>
            <a:pPr marL="457200" lvl="1" indent="0">
              <a:lnSpc>
                <a:spcPct val="120000"/>
              </a:lnSpc>
              <a:spcBef>
                <a:spcPts val="0"/>
              </a:spcBef>
              <a:buNone/>
            </a:pPr>
            <a:endParaRPr lang="en-US" dirty="0">
              <a:solidFill>
                <a:srgbClr val="00B050"/>
              </a:solidFill>
            </a:endParaRPr>
          </a:p>
          <a:p>
            <a:pPr>
              <a:lnSpc>
                <a:spcPct val="120000"/>
              </a:lnSpc>
              <a:spcBef>
                <a:spcPts val="0"/>
              </a:spcBef>
            </a:pPr>
            <a:r>
              <a:rPr lang="en-US" dirty="0"/>
              <a:t>Whenever an </a:t>
            </a:r>
            <a:r>
              <a:rPr lang="en-US" dirty="0">
                <a:solidFill>
                  <a:srgbClr val="0070C0"/>
                </a:solidFill>
              </a:rPr>
              <a:t>operator is overloaded as a member function</a:t>
            </a:r>
            <a:r>
              <a:rPr lang="en-US" dirty="0"/>
              <a:t>. The </a:t>
            </a:r>
            <a:r>
              <a:rPr lang="en-US" dirty="0">
                <a:solidFill>
                  <a:srgbClr val="0070C0"/>
                </a:solidFill>
              </a:rPr>
              <a:t>left operand </a:t>
            </a:r>
            <a:r>
              <a:rPr lang="en-US" dirty="0"/>
              <a:t>must be of that </a:t>
            </a:r>
            <a:r>
              <a:rPr lang="en-US" dirty="0">
                <a:solidFill>
                  <a:srgbClr val="FF0000"/>
                </a:solidFill>
              </a:rPr>
              <a:t>SAME class</a:t>
            </a:r>
            <a:r>
              <a:rPr lang="en-US" dirty="0"/>
              <a:t>.</a:t>
            </a:r>
          </a:p>
          <a:p>
            <a:pPr>
              <a:lnSpc>
                <a:spcPct val="120000"/>
              </a:lnSpc>
              <a:spcBef>
                <a:spcPts val="0"/>
              </a:spcBef>
            </a:pPr>
            <a:endParaRPr lang="en-US" dirty="0"/>
          </a:p>
          <a:p>
            <a:pPr>
              <a:lnSpc>
                <a:spcPct val="120000"/>
              </a:lnSpc>
              <a:spcBef>
                <a:spcPts val="0"/>
              </a:spcBef>
            </a:pPr>
            <a:r>
              <a:rPr lang="en-US" dirty="0"/>
              <a:t>Here the left operand is a </a:t>
            </a:r>
            <a:r>
              <a:rPr lang="en-US" b="1" dirty="0"/>
              <a:t>double</a:t>
            </a:r>
            <a:r>
              <a:rPr lang="en-US" dirty="0"/>
              <a:t>, we </a:t>
            </a:r>
            <a:r>
              <a:rPr lang="en-US" dirty="0">
                <a:solidFill>
                  <a:srgbClr val="0070C0"/>
                </a:solidFill>
              </a:rPr>
              <a:t>cannot create an overloaded function in the double class</a:t>
            </a:r>
          </a:p>
          <a:p>
            <a:pPr marL="0" indent="0">
              <a:lnSpc>
                <a:spcPct val="120000"/>
              </a:lnSpc>
              <a:spcBef>
                <a:spcPts val="0"/>
              </a:spcBef>
              <a:buNone/>
            </a:pPr>
            <a:endParaRPr lang="en-US" dirty="0">
              <a:solidFill>
                <a:srgbClr val="0070C0"/>
              </a:solidFill>
            </a:endParaRPr>
          </a:p>
          <a:p>
            <a:pPr>
              <a:lnSpc>
                <a:spcPct val="120000"/>
              </a:lnSpc>
              <a:spcBef>
                <a:spcPts val="0"/>
              </a:spcBef>
            </a:pPr>
            <a:r>
              <a:rPr lang="en-US" dirty="0">
                <a:solidFill>
                  <a:schemeClr val="tx1"/>
                </a:solidFill>
              </a:rPr>
              <a:t>There are </a:t>
            </a:r>
            <a:r>
              <a:rPr lang="en-US" b="1" dirty="0">
                <a:solidFill>
                  <a:srgbClr val="FF0000"/>
                </a:solidFill>
              </a:rPr>
              <a:t>two ways </a:t>
            </a:r>
            <a:r>
              <a:rPr lang="en-US" dirty="0">
                <a:solidFill>
                  <a:schemeClr val="tx1"/>
                </a:solidFill>
              </a:rPr>
              <a:t>to make this work for </a:t>
            </a:r>
            <a:endParaRPr lang="en-US" b="1" dirty="0">
              <a:solidFill>
                <a:srgbClr val="FF0000"/>
              </a:solidFill>
            </a:endParaRPr>
          </a:p>
          <a:p>
            <a:pPr marL="457200" indent="-457200" algn="ctr">
              <a:buFont typeface="+mj-lt"/>
              <a:buAutoNum type="arabicPeriod"/>
            </a:pPr>
            <a:r>
              <a:rPr lang="en-US" b="1" dirty="0">
                <a:solidFill>
                  <a:srgbClr val="FF0000"/>
                </a:solidFill>
              </a:rPr>
              <a:t>non-member function</a:t>
            </a:r>
            <a:endParaRPr lang="en-US" b="1" dirty="0">
              <a:solidFill>
                <a:schemeClr val="tx1"/>
              </a:solidFill>
            </a:endParaRPr>
          </a:p>
          <a:p>
            <a:pPr marL="457200" indent="-457200" algn="ctr">
              <a:buFont typeface="+mj-lt"/>
              <a:buAutoNum type="arabicPeriod"/>
            </a:pPr>
            <a:r>
              <a:rPr lang="en-US" b="1" dirty="0">
                <a:solidFill>
                  <a:srgbClr val="FF0000"/>
                </a:solidFill>
              </a:rPr>
              <a:t>Friend function (we will </a:t>
            </a:r>
            <a:r>
              <a:rPr lang="en-US" b="1">
                <a:solidFill>
                  <a:srgbClr val="FF0000"/>
                </a:solidFill>
              </a:rPr>
              <a:t>visit that later)</a:t>
            </a:r>
            <a:endParaRPr lang="en-US" dirty="0">
              <a:solidFill>
                <a:srgbClr val="FF0000"/>
              </a:solidFill>
            </a:endParaRPr>
          </a:p>
        </p:txBody>
      </p:sp>
      <p:sp>
        <p:nvSpPr>
          <p:cNvPr id="4" name="Footer Placeholder 3">
            <a:extLst>
              <a:ext uri="{FF2B5EF4-FFF2-40B4-BE49-F238E27FC236}">
                <a16:creationId xmlns:a16="http://schemas.microsoft.com/office/drawing/2014/main" id="{DC67620C-E6DF-A87C-B3B7-609617BF9F1E}"/>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D37BEEFF-5F54-1CF8-EB03-B7A76367328F}"/>
              </a:ext>
            </a:extLst>
          </p:cNvPr>
          <p:cNvSpPr>
            <a:spLocks noGrp="1"/>
          </p:cNvSpPr>
          <p:nvPr>
            <p:ph type="sldNum" sz="quarter" idx="12"/>
          </p:nvPr>
        </p:nvSpPr>
        <p:spPr/>
        <p:txBody>
          <a:bodyPr/>
          <a:lstStyle/>
          <a:p>
            <a:fld id="{51845F5A-061D-4825-9AE9-D7794091C6CF}" type="slidenum">
              <a:rPr lang="en-US" smtClean="0"/>
              <a:t>30</a:t>
            </a:fld>
            <a:endParaRPr lang="en-US" dirty="0"/>
          </a:p>
        </p:txBody>
      </p:sp>
    </p:spTree>
    <p:extLst>
      <p:ext uri="{BB962C8B-B14F-4D97-AF65-F5344CB8AC3E}">
        <p14:creationId xmlns:p14="http://schemas.microsoft.com/office/powerpoint/2010/main" val="1300802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51EF-F23E-1262-98CF-ABEF51E5AB50}"/>
              </a:ext>
            </a:extLst>
          </p:cNvPr>
          <p:cNvSpPr>
            <a:spLocks noGrp="1"/>
          </p:cNvSpPr>
          <p:nvPr>
            <p:ph type="title"/>
          </p:nvPr>
        </p:nvSpPr>
        <p:spPr/>
        <p:txBody>
          <a:bodyPr/>
          <a:lstStyle/>
          <a:p>
            <a:r>
              <a:rPr lang="en-US" dirty="0"/>
              <a:t>Solution 1 </a:t>
            </a:r>
            <a:endParaRPr lang="en-PK" dirty="0"/>
          </a:p>
        </p:txBody>
      </p:sp>
      <p:sp>
        <p:nvSpPr>
          <p:cNvPr id="3" name="Content Placeholder 2">
            <a:extLst>
              <a:ext uri="{FF2B5EF4-FFF2-40B4-BE49-F238E27FC236}">
                <a16:creationId xmlns:a16="http://schemas.microsoft.com/office/drawing/2014/main" id="{0386DA82-7A8C-B7A2-7163-D348DB7F33E3}"/>
              </a:ext>
            </a:extLst>
          </p:cNvPr>
          <p:cNvSpPr>
            <a:spLocks noGrp="1"/>
          </p:cNvSpPr>
          <p:nvPr>
            <p:ph idx="1"/>
          </p:nvPr>
        </p:nvSpPr>
        <p:spPr/>
        <p:txBody>
          <a:bodyPr>
            <a:normAutofit/>
          </a:bodyPr>
          <a:lstStyle/>
          <a:p>
            <a:pPr marL="0" indent="0" algn="ctr">
              <a:buNone/>
            </a:pPr>
            <a:r>
              <a:rPr lang="en-US" b="1" dirty="0">
                <a:solidFill>
                  <a:srgbClr val="0070C0"/>
                </a:solidFill>
                <a:latin typeface="Consolas" panose="020B0609020204030204" pitchFamily="49" charset="0"/>
                <a:cs typeface="Courier New" panose="02070309020205020404" pitchFamily="49" charset="0"/>
              </a:rPr>
              <a:t>sum = Clerk + Driver + Secretary;</a:t>
            </a:r>
            <a:endParaRPr lang="en-US" dirty="0"/>
          </a:p>
          <a:p>
            <a:pPr algn="just"/>
            <a:r>
              <a:rPr lang="en-US" dirty="0"/>
              <a:t>Make sure that your </a:t>
            </a:r>
            <a:r>
              <a:rPr lang="en-US" b="1" dirty="0">
                <a:solidFill>
                  <a:srgbClr val="FF0000"/>
                </a:solidFill>
              </a:rPr>
              <a:t>operator+</a:t>
            </a:r>
            <a:r>
              <a:rPr lang="en-US" dirty="0"/>
              <a:t> function never </a:t>
            </a:r>
            <a:r>
              <a:rPr lang="en-US" dirty="0">
                <a:solidFill>
                  <a:srgbClr val="0070C0"/>
                </a:solidFill>
              </a:rPr>
              <a:t>returns a double</a:t>
            </a:r>
            <a:r>
              <a:rPr lang="en-US" dirty="0"/>
              <a:t> (or any other primitive type).</a:t>
            </a:r>
          </a:p>
          <a:p>
            <a:pPr marL="0" indent="0" algn="just">
              <a:buNone/>
            </a:pPr>
            <a:endParaRPr lang="en-US" dirty="0"/>
          </a:p>
          <a:p>
            <a:pPr algn="just"/>
            <a:r>
              <a:rPr lang="en-US" dirty="0"/>
              <a:t>An operator to add Employees should return an </a:t>
            </a:r>
            <a:r>
              <a:rPr lang="en-US" dirty="0">
                <a:solidFill>
                  <a:srgbClr val="0070C0"/>
                </a:solidFill>
              </a:rPr>
              <a:t>Employee object.</a:t>
            </a:r>
          </a:p>
          <a:p>
            <a:pPr algn="just"/>
            <a:r>
              <a:rPr lang="en-US" sz="2800" dirty="0">
                <a:solidFill>
                  <a:schemeClr val="tx1"/>
                </a:solidFill>
              </a:rPr>
              <a:t>Good practice that all your arithmetic binary operators </a:t>
            </a:r>
          </a:p>
          <a:p>
            <a:pPr marL="0" indent="0" algn="just">
              <a:buNone/>
            </a:pPr>
            <a:r>
              <a:rPr lang="en-US" sz="2800" b="1" dirty="0">
                <a:solidFill>
                  <a:schemeClr val="tx1"/>
                </a:solidFill>
              </a:rPr>
              <a:t>(</a:t>
            </a:r>
            <a:r>
              <a:rPr lang="en-US" sz="2800" b="1" dirty="0">
                <a:solidFill>
                  <a:srgbClr val="FF0000"/>
                </a:solidFill>
              </a:rPr>
              <a:t>+ - * / %</a:t>
            </a:r>
            <a:r>
              <a:rPr lang="en-US" sz="2800" b="1" dirty="0">
                <a:solidFill>
                  <a:schemeClr val="tx1"/>
                </a:solidFill>
              </a:rPr>
              <a:t>)</a:t>
            </a:r>
            <a:r>
              <a:rPr lang="en-US" sz="2800" b="1" dirty="0">
                <a:solidFill>
                  <a:srgbClr val="FF0000"/>
                </a:solidFill>
              </a:rPr>
              <a:t> </a:t>
            </a:r>
            <a:r>
              <a:rPr lang="en-US" sz="2800" dirty="0">
                <a:solidFill>
                  <a:schemeClr val="tx1"/>
                </a:solidFill>
              </a:rPr>
              <a:t>when overloaded </a:t>
            </a:r>
            <a:r>
              <a:rPr lang="en-US" sz="2800" b="1" dirty="0">
                <a:solidFill>
                  <a:srgbClr val="FF0000"/>
                </a:solidFill>
              </a:rPr>
              <a:t>should return an object</a:t>
            </a:r>
            <a:endParaRPr lang="en-PK" b="1" dirty="0">
              <a:solidFill>
                <a:srgbClr val="FF0000"/>
              </a:solidFill>
            </a:endParaRPr>
          </a:p>
        </p:txBody>
      </p:sp>
      <p:sp>
        <p:nvSpPr>
          <p:cNvPr id="4" name="Footer Placeholder 3">
            <a:extLst>
              <a:ext uri="{FF2B5EF4-FFF2-40B4-BE49-F238E27FC236}">
                <a16:creationId xmlns:a16="http://schemas.microsoft.com/office/drawing/2014/main" id="{965747DE-527A-6A92-8906-D6238C2B02FA}"/>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875C3CC6-F4B8-7290-A426-7CA599064909}"/>
              </a:ext>
            </a:extLst>
          </p:cNvPr>
          <p:cNvSpPr>
            <a:spLocks noGrp="1"/>
          </p:cNvSpPr>
          <p:nvPr>
            <p:ph type="sldNum" sz="quarter" idx="12"/>
          </p:nvPr>
        </p:nvSpPr>
        <p:spPr/>
        <p:txBody>
          <a:bodyPr/>
          <a:lstStyle/>
          <a:p>
            <a:fld id="{51845F5A-061D-4825-9AE9-D7794091C6CF}" type="slidenum">
              <a:rPr lang="en-US" smtClean="0"/>
              <a:t>31</a:t>
            </a:fld>
            <a:endParaRPr lang="en-US" dirty="0"/>
          </a:p>
        </p:txBody>
      </p:sp>
    </p:spTree>
    <p:extLst>
      <p:ext uri="{BB962C8B-B14F-4D97-AF65-F5344CB8AC3E}">
        <p14:creationId xmlns:p14="http://schemas.microsoft.com/office/powerpoint/2010/main" val="2887574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AC0B-5413-EBBA-A866-5233641B4D2D}"/>
              </a:ext>
            </a:extLst>
          </p:cNvPr>
          <p:cNvSpPr>
            <a:spLocks noGrp="1"/>
          </p:cNvSpPr>
          <p:nvPr>
            <p:ph type="title"/>
          </p:nvPr>
        </p:nvSpPr>
        <p:spPr/>
        <p:txBody>
          <a:bodyPr/>
          <a:lstStyle/>
          <a:p>
            <a:r>
              <a:rPr lang="en-US" dirty="0"/>
              <a:t>Solution 1 </a:t>
            </a:r>
            <a:endParaRPr lang="en-PK" dirty="0"/>
          </a:p>
        </p:txBody>
      </p:sp>
      <p:sp>
        <p:nvSpPr>
          <p:cNvPr id="3" name="Content Placeholder 2">
            <a:extLst>
              <a:ext uri="{FF2B5EF4-FFF2-40B4-BE49-F238E27FC236}">
                <a16:creationId xmlns:a16="http://schemas.microsoft.com/office/drawing/2014/main" id="{A585C11C-0DFA-B452-F8B4-740D811140C8}"/>
              </a:ext>
            </a:extLst>
          </p:cNvPr>
          <p:cNvSpPr>
            <a:spLocks noGrp="1"/>
          </p:cNvSpPr>
          <p:nvPr>
            <p:ph idx="1"/>
          </p:nvPr>
        </p:nvSpPr>
        <p:spPr>
          <a:xfrm>
            <a:off x="838200" y="1692912"/>
            <a:ext cx="10515600" cy="4663440"/>
          </a:xfrm>
        </p:spPr>
        <p:txBody>
          <a:bodyPr>
            <a:normAutofit fontScale="92500" lnSpcReduction="10000"/>
          </a:bodyPr>
          <a:lstStyle/>
          <a:p>
            <a:pPr marL="0" indent="0">
              <a:buNone/>
            </a:pPr>
            <a:r>
              <a:rPr lang="en-US" sz="2400" dirty="0">
                <a:latin typeface="Consolas" panose="020B0609020204030204" pitchFamily="49" charset="0"/>
              </a:rPr>
              <a:t>Employee class and objects</a:t>
            </a:r>
          </a:p>
          <a:p>
            <a:pPr marL="0" indent="0">
              <a:buNone/>
            </a:pPr>
            <a:endParaRPr lang="en-US" sz="2400" dirty="0">
              <a:latin typeface="Consolas" panose="020B0609020204030204" pitchFamily="49" charset="0"/>
            </a:endParaRPr>
          </a:p>
          <a:p>
            <a:pPr marL="0" indent="0">
              <a:buNone/>
            </a:pPr>
            <a:r>
              <a:rPr lang="en-US" sz="2400" dirty="0">
                <a:latin typeface="Consolas" panose="020B0609020204030204" pitchFamily="49" charset="0"/>
              </a:rPr>
              <a:t>class Employee</a:t>
            </a:r>
          </a:p>
          <a:p>
            <a:pPr marL="0" indent="0">
              <a:buNone/>
            </a:pPr>
            <a:r>
              <a:rPr lang="en-US" sz="2400" dirty="0">
                <a:latin typeface="Consolas" panose="020B0609020204030204" pitchFamily="49" charset="0"/>
              </a:rPr>
              <a:t>{</a:t>
            </a:r>
          </a:p>
          <a:p>
            <a:pPr marL="457200" lvl="1" indent="0">
              <a:buNone/>
            </a:pPr>
            <a:r>
              <a:rPr lang="en-US" sz="2000" dirty="0">
                <a:latin typeface="Consolas" panose="020B0609020204030204" pitchFamily="49" charset="0"/>
              </a:rPr>
              <a:t>private:</a:t>
            </a:r>
          </a:p>
          <a:p>
            <a:pPr marL="457200" lvl="1" indent="0">
              <a:buNone/>
            </a:pPr>
            <a:r>
              <a:rPr lang="en-US" sz="2000" dirty="0">
                <a:latin typeface="Consolas" panose="020B0609020204030204" pitchFamily="49" charset="0"/>
              </a:rPr>
              <a:t>	int </a:t>
            </a:r>
            <a:r>
              <a:rPr lang="en-US" sz="2000" dirty="0" err="1">
                <a:latin typeface="Consolas" panose="020B0609020204030204" pitchFamily="49" charset="0"/>
              </a:rPr>
              <a:t>idNum</a:t>
            </a:r>
            <a:r>
              <a:rPr lang="en-US" sz="2000" dirty="0">
                <a:latin typeface="Consolas" panose="020B0609020204030204" pitchFamily="49" charset="0"/>
              </a:rPr>
              <a:t>;</a:t>
            </a:r>
          </a:p>
          <a:p>
            <a:pPr marL="457200" lvl="1" indent="0">
              <a:buNone/>
            </a:pPr>
            <a:r>
              <a:rPr lang="en-US" sz="2000" dirty="0">
                <a:latin typeface="Consolas" panose="020B0609020204030204" pitchFamily="49" charset="0"/>
              </a:rPr>
              <a:t>	double salary;</a:t>
            </a:r>
          </a:p>
          <a:p>
            <a:pPr marL="457200" lvl="1" indent="0">
              <a:buNone/>
            </a:pPr>
            <a:r>
              <a:rPr lang="en-US" sz="2000" dirty="0">
                <a:latin typeface="Consolas" panose="020B0609020204030204" pitchFamily="49" charset="0"/>
              </a:rPr>
              <a:t>public:</a:t>
            </a:r>
          </a:p>
          <a:p>
            <a:pPr marL="457200" lvl="1" indent="0">
              <a:buNone/>
            </a:pPr>
            <a:r>
              <a:rPr lang="en-US" sz="2000" dirty="0">
                <a:latin typeface="Consolas" panose="020B0609020204030204" pitchFamily="49" charset="0"/>
              </a:rPr>
              <a:t>	Employee(int  id, double salary);</a:t>
            </a:r>
          </a:p>
          <a:p>
            <a:pPr marL="457200" lvl="1" indent="0">
              <a:buNone/>
            </a:pPr>
            <a:r>
              <a:rPr lang="en-US" sz="2000" dirty="0">
                <a:solidFill>
                  <a:srgbClr val="0070C0"/>
                </a:solidFill>
                <a:latin typeface="Consolas" panose="020B0609020204030204" pitchFamily="49" charset="0"/>
              </a:rPr>
              <a:t>	Employee </a:t>
            </a:r>
            <a:r>
              <a:rPr lang="en-US" sz="2000" dirty="0">
                <a:solidFill>
                  <a:srgbClr val="FF0000"/>
                </a:solidFill>
                <a:latin typeface="Consolas" panose="020B0609020204030204" pitchFamily="49" charset="0"/>
              </a:rPr>
              <a:t>operator+ </a:t>
            </a:r>
            <a:r>
              <a:rPr lang="en-US" sz="2000" dirty="0">
                <a:latin typeface="Consolas" panose="020B0609020204030204" pitchFamily="49" charset="0"/>
              </a:rPr>
              <a:t>(</a:t>
            </a:r>
            <a:r>
              <a:rPr lang="en-US" sz="2000" dirty="0">
                <a:solidFill>
                  <a:srgbClr val="0070C0"/>
                </a:solidFill>
                <a:latin typeface="Consolas" panose="020B0609020204030204" pitchFamily="49" charset="0"/>
              </a:rPr>
              <a:t>Employee&amp; emp</a:t>
            </a:r>
            <a:r>
              <a:rPr lang="en-US" sz="2000" dirty="0">
                <a:latin typeface="Consolas" panose="020B0609020204030204" pitchFamily="49" charset="0"/>
              </a:rPr>
              <a:t>);</a:t>
            </a:r>
          </a:p>
          <a:p>
            <a:pPr marL="457200" lvl="1" indent="0">
              <a:buNone/>
            </a:pPr>
            <a:r>
              <a:rPr lang="en-US" sz="2000" dirty="0">
                <a:latin typeface="Consolas" panose="020B0609020204030204" pitchFamily="49" charset="0"/>
              </a:rPr>
              <a:t>	double </a:t>
            </a:r>
            <a:r>
              <a:rPr lang="en-US" sz="2000" dirty="0" err="1">
                <a:latin typeface="Consolas" panose="020B0609020204030204" pitchFamily="49" charset="0"/>
              </a:rPr>
              <a:t>getSalary</a:t>
            </a:r>
            <a:r>
              <a:rPr lang="en-US" sz="2000" dirty="0">
                <a:latin typeface="Consolas" panose="020B0609020204030204" pitchFamily="49" charset="0"/>
              </a:rPr>
              <a:t>() { return salary; }</a:t>
            </a:r>
          </a:p>
          <a:p>
            <a:pPr marL="0" indent="0">
              <a:buNone/>
            </a:pPr>
            <a:r>
              <a:rPr lang="en-US" sz="2400" dirty="0">
                <a:latin typeface="Consolas" panose="020B0609020204030204" pitchFamily="49" charset="0"/>
              </a:rPr>
              <a:t>}</a:t>
            </a:r>
          </a:p>
        </p:txBody>
      </p:sp>
      <p:sp>
        <p:nvSpPr>
          <p:cNvPr id="4" name="Footer Placeholder 3">
            <a:extLst>
              <a:ext uri="{FF2B5EF4-FFF2-40B4-BE49-F238E27FC236}">
                <a16:creationId xmlns:a16="http://schemas.microsoft.com/office/drawing/2014/main" id="{AD73DDCA-8BF8-ABB6-46CE-F8A9882AF247}"/>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FB50DE07-ADFE-F44A-E773-A7B0143066DB}"/>
              </a:ext>
            </a:extLst>
          </p:cNvPr>
          <p:cNvSpPr>
            <a:spLocks noGrp="1"/>
          </p:cNvSpPr>
          <p:nvPr>
            <p:ph type="sldNum" sz="quarter" idx="12"/>
          </p:nvPr>
        </p:nvSpPr>
        <p:spPr/>
        <p:txBody>
          <a:bodyPr/>
          <a:lstStyle/>
          <a:p>
            <a:fld id="{51845F5A-061D-4825-9AE9-D7794091C6CF}" type="slidenum">
              <a:rPr lang="en-US" smtClean="0"/>
              <a:t>32</a:t>
            </a:fld>
            <a:endParaRPr lang="en-US" dirty="0"/>
          </a:p>
        </p:txBody>
      </p:sp>
    </p:spTree>
    <p:extLst>
      <p:ext uri="{BB962C8B-B14F-4D97-AF65-F5344CB8AC3E}">
        <p14:creationId xmlns:p14="http://schemas.microsoft.com/office/powerpoint/2010/main" val="2735938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E1B18-F7B1-F0A0-0CFB-038A8FA88847}"/>
              </a:ext>
            </a:extLst>
          </p:cNvPr>
          <p:cNvSpPr>
            <a:spLocks noGrp="1"/>
          </p:cNvSpPr>
          <p:nvPr>
            <p:ph type="title"/>
          </p:nvPr>
        </p:nvSpPr>
        <p:spPr/>
        <p:txBody>
          <a:bodyPr/>
          <a:lstStyle/>
          <a:p>
            <a:r>
              <a:rPr lang="en-US" dirty="0"/>
              <a:t>Solution 1</a:t>
            </a:r>
            <a:endParaRPr lang="en-PK" dirty="0"/>
          </a:p>
        </p:txBody>
      </p:sp>
      <p:sp>
        <p:nvSpPr>
          <p:cNvPr id="4" name="Footer Placeholder 3">
            <a:extLst>
              <a:ext uri="{FF2B5EF4-FFF2-40B4-BE49-F238E27FC236}">
                <a16:creationId xmlns:a16="http://schemas.microsoft.com/office/drawing/2014/main" id="{927F9205-5A4B-84A6-E606-8E9E3F025D86}"/>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BA2ECC51-BED2-6B3D-C44C-A914C06772E5}"/>
              </a:ext>
            </a:extLst>
          </p:cNvPr>
          <p:cNvSpPr>
            <a:spLocks noGrp="1"/>
          </p:cNvSpPr>
          <p:nvPr>
            <p:ph type="sldNum" sz="quarter" idx="12"/>
          </p:nvPr>
        </p:nvSpPr>
        <p:spPr/>
        <p:txBody>
          <a:bodyPr/>
          <a:lstStyle/>
          <a:p>
            <a:fld id="{51845F5A-061D-4825-9AE9-D7794091C6CF}" type="slidenum">
              <a:rPr lang="en-US" smtClean="0"/>
              <a:t>33</a:t>
            </a:fld>
            <a:endParaRPr lang="en-US" dirty="0"/>
          </a:p>
        </p:txBody>
      </p:sp>
      <p:grpSp>
        <p:nvGrpSpPr>
          <p:cNvPr id="8" name="Group 7">
            <a:extLst>
              <a:ext uri="{FF2B5EF4-FFF2-40B4-BE49-F238E27FC236}">
                <a16:creationId xmlns:a16="http://schemas.microsoft.com/office/drawing/2014/main" id="{D6D2D630-3872-850F-B39E-17EFBB8710FC}"/>
              </a:ext>
            </a:extLst>
          </p:cNvPr>
          <p:cNvGrpSpPr/>
          <p:nvPr/>
        </p:nvGrpSpPr>
        <p:grpSpPr>
          <a:xfrm>
            <a:off x="2205990" y="1366165"/>
            <a:ext cx="8330623" cy="5355312"/>
            <a:chOff x="2205990" y="1366165"/>
            <a:chExt cx="8330623" cy="5355312"/>
          </a:xfrm>
        </p:grpSpPr>
        <p:sp>
          <p:nvSpPr>
            <p:cNvPr id="6" name="Text Box 3">
              <a:extLst>
                <a:ext uri="{FF2B5EF4-FFF2-40B4-BE49-F238E27FC236}">
                  <a16:creationId xmlns:a16="http://schemas.microsoft.com/office/drawing/2014/main" id="{7BB20A36-EBB3-2FA8-73AA-212FF9163669}"/>
                </a:ext>
              </a:extLst>
            </p:cNvPr>
            <p:cNvSpPr txBox="1">
              <a:spLocks noChangeArrowheads="1"/>
            </p:cNvSpPr>
            <p:nvPr/>
          </p:nvSpPr>
          <p:spPr bwMode="auto">
            <a:xfrm>
              <a:off x="2205990" y="1366165"/>
              <a:ext cx="8229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8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8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pPr eaLnBrk="1" hangingPunct="1"/>
              <a:r>
                <a:rPr lang="en-US" sz="2400" dirty="0">
                  <a:solidFill>
                    <a:srgbClr val="0070C0"/>
                  </a:solidFill>
                  <a:latin typeface="Consolas" panose="020B0609020204030204" pitchFamily="49" charset="0"/>
                </a:rPr>
                <a:t>Employee</a:t>
              </a:r>
              <a:r>
                <a:rPr lang="en-US" sz="2400" dirty="0">
                  <a:latin typeface="Consolas" panose="020B0609020204030204" pitchFamily="49" charset="0"/>
                </a:rPr>
                <a:t> Employee::</a:t>
              </a:r>
              <a:r>
                <a:rPr lang="en-US" sz="2400" dirty="0">
                  <a:solidFill>
                    <a:srgbClr val="FF0000"/>
                  </a:solidFill>
                  <a:latin typeface="Consolas" panose="020B0609020204030204" pitchFamily="49" charset="0"/>
                </a:rPr>
                <a:t>operator+</a:t>
              </a:r>
              <a:r>
                <a:rPr lang="en-US" sz="2400" dirty="0">
                  <a:latin typeface="Consolas" panose="020B0609020204030204" pitchFamily="49" charset="0"/>
                </a:rPr>
                <a:t>(Employee&amp; </a:t>
              </a:r>
              <a:r>
                <a:rPr lang="en-US" sz="2400" dirty="0" err="1">
                  <a:latin typeface="Consolas" panose="020B0609020204030204" pitchFamily="49" charset="0"/>
                </a:rPr>
                <a:t>emp</a:t>
              </a:r>
              <a:r>
                <a:rPr lang="en-US" sz="2400" dirty="0">
                  <a:latin typeface="Consolas" panose="020B0609020204030204" pitchFamily="49" charset="0"/>
                </a:rPr>
                <a:t>)</a:t>
              </a:r>
            </a:p>
            <a:p>
              <a:pPr eaLnBrk="1" hangingPunct="1"/>
              <a:r>
                <a:rPr lang="en-US" sz="2400" dirty="0">
                  <a:latin typeface="Consolas" panose="020B0609020204030204" pitchFamily="49" charset="0"/>
                </a:rPr>
                <a:t>{</a:t>
              </a:r>
            </a:p>
            <a:p>
              <a:pPr eaLnBrk="1" hangingPunct="1"/>
              <a:r>
                <a:rPr lang="en-US" sz="2400" dirty="0">
                  <a:latin typeface="Consolas" panose="020B0609020204030204" pitchFamily="49" charset="0"/>
                </a:rPr>
                <a:t>   double </a:t>
              </a:r>
              <a:r>
                <a:rPr lang="en-US" sz="2400" dirty="0" err="1">
                  <a:latin typeface="Consolas" panose="020B0609020204030204" pitchFamily="49" charset="0"/>
                </a:rPr>
                <a:t>sal</a:t>
              </a:r>
              <a:r>
                <a:rPr lang="en-US" sz="2400" dirty="0">
                  <a:latin typeface="Consolas" panose="020B0609020204030204" pitchFamily="49" charset="0"/>
                </a:rPr>
                <a:t> = salary + </a:t>
              </a:r>
              <a:r>
                <a:rPr lang="en-US" sz="2400" dirty="0" err="1">
                  <a:latin typeface="Consolas" panose="020B0609020204030204" pitchFamily="49" charset="0"/>
                </a:rPr>
                <a:t>emp.salary</a:t>
              </a:r>
              <a:r>
                <a:rPr lang="en-US" sz="2400" dirty="0">
                  <a:latin typeface="Consolas" panose="020B0609020204030204" pitchFamily="49" charset="0"/>
                </a:rPr>
                <a:t>;</a:t>
              </a:r>
            </a:p>
            <a:p>
              <a:pPr eaLnBrk="1" hangingPunct="1"/>
              <a:r>
                <a:rPr lang="en-US" sz="2400" dirty="0">
                  <a:latin typeface="Consolas" panose="020B0609020204030204" pitchFamily="49" charset="0"/>
                </a:rPr>
                <a:t>   Employee total(0, </a:t>
              </a:r>
              <a:r>
                <a:rPr lang="en-US" sz="2400" dirty="0" err="1">
                  <a:latin typeface="Consolas" panose="020B0609020204030204" pitchFamily="49" charset="0"/>
                </a:rPr>
                <a:t>sal</a:t>
              </a:r>
              <a:r>
                <a:rPr lang="en-US" sz="2400" dirty="0">
                  <a:latin typeface="Consolas" panose="020B0609020204030204" pitchFamily="49" charset="0"/>
                </a:rPr>
                <a:t>);  </a:t>
              </a:r>
            </a:p>
            <a:p>
              <a:pPr eaLnBrk="1" hangingPunct="1"/>
              <a:r>
                <a:rPr lang="en-US" sz="2400" dirty="0">
                  <a:latin typeface="Consolas" panose="020B0609020204030204" pitchFamily="49" charset="0"/>
                </a:rPr>
                <a:t>   return total; </a:t>
              </a:r>
              <a:r>
                <a:rPr lang="en-US" sz="2400" dirty="0">
                  <a:solidFill>
                    <a:srgbClr val="00B050"/>
                  </a:solidFill>
                  <a:latin typeface="Consolas" panose="020B0609020204030204" pitchFamily="49" charset="0"/>
                </a:rPr>
                <a:t>//returns an object</a:t>
              </a:r>
            </a:p>
            <a:p>
              <a:pPr eaLnBrk="1" hangingPunct="1"/>
              <a:r>
                <a:rPr lang="en-US" sz="2400" dirty="0">
                  <a:latin typeface="Consolas" panose="020B0609020204030204" pitchFamily="49" charset="0"/>
                </a:rPr>
                <a:t>}</a:t>
              </a:r>
            </a:p>
          </p:txBody>
        </p:sp>
        <p:sp>
          <p:nvSpPr>
            <p:cNvPr id="7" name="Text Box 3">
              <a:extLst>
                <a:ext uri="{FF2B5EF4-FFF2-40B4-BE49-F238E27FC236}">
                  <a16:creationId xmlns:a16="http://schemas.microsoft.com/office/drawing/2014/main" id="{71F5DD8F-442C-9F14-A667-03E91C12E8E1}"/>
                </a:ext>
              </a:extLst>
            </p:cNvPr>
            <p:cNvSpPr txBox="1">
              <a:spLocks noChangeArrowheads="1"/>
            </p:cNvSpPr>
            <p:nvPr/>
          </p:nvSpPr>
          <p:spPr bwMode="auto">
            <a:xfrm>
              <a:off x="2232367" y="3674489"/>
              <a:ext cx="8304246"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8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8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pPr eaLnBrk="1" hangingPunct="1"/>
              <a:r>
                <a:rPr lang="en-US" sz="2400" dirty="0">
                  <a:latin typeface="Consolas" panose="020B0609020204030204" pitchFamily="49" charset="0"/>
                </a:rPr>
                <a:t>void main()</a:t>
              </a:r>
            </a:p>
            <a:p>
              <a:pPr eaLnBrk="1" hangingPunct="1"/>
              <a:r>
                <a:rPr lang="en-US" sz="2400" dirty="0">
                  <a:latin typeface="Consolas" panose="020B0609020204030204" pitchFamily="49" charset="0"/>
                </a:rPr>
                <a:t>{</a:t>
              </a:r>
            </a:p>
            <a:p>
              <a:pPr eaLnBrk="1" hangingPunct="1"/>
              <a:r>
                <a:rPr lang="en-US" sz="2400" dirty="0">
                  <a:latin typeface="Consolas" panose="020B0609020204030204" pitchFamily="49" charset="0"/>
                </a:rPr>
                <a:t>   Employee Clerk(115, 20000.00);</a:t>
              </a:r>
            </a:p>
            <a:p>
              <a:pPr eaLnBrk="1" hangingPunct="1"/>
              <a:r>
                <a:rPr lang="en-US" sz="2400" dirty="0">
                  <a:latin typeface="Consolas" panose="020B0609020204030204" pitchFamily="49" charset="0"/>
                </a:rPr>
                <a:t>   Employee Driver(256, 15500.55);</a:t>
              </a:r>
            </a:p>
            <a:p>
              <a:pPr eaLnBrk="1" hangingPunct="1"/>
              <a:r>
                <a:rPr lang="en-US" sz="2400" dirty="0">
                  <a:latin typeface="Consolas" panose="020B0609020204030204" pitchFamily="49" charset="0"/>
                </a:rPr>
                <a:t>   Employee Secretary(567, 34200.00);</a:t>
              </a:r>
            </a:p>
            <a:p>
              <a:pPr eaLnBrk="1" hangingPunct="1"/>
              <a:r>
                <a:rPr lang="en-US" sz="2400" dirty="0">
                  <a:latin typeface="Consolas" panose="020B0609020204030204" pitchFamily="49" charset="0"/>
                </a:rPr>
                <a:t>   </a:t>
              </a:r>
              <a:r>
                <a:rPr lang="en-US" sz="2400" b="1" dirty="0">
                  <a:latin typeface="Consolas" panose="020B0609020204030204" pitchFamily="49" charset="0"/>
                </a:rPr>
                <a:t>Employee sum(0, 0.0);</a:t>
              </a:r>
            </a:p>
            <a:p>
              <a:pPr eaLnBrk="1" hangingPunct="1"/>
              <a:r>
                <a:rPr lang="en-US" sz="2400" dirty="0">
                  <a:latin typeface="Consolas" panose="020B0609020204030204" pitchFamily="49" charset="0"/>
                </a:rPr>
                <a:t>  </a:t>
              </a:r>
              <a:r>
                <a:rPr lang="en-US" sz="2400" dirty="0">
                  <a:solidFill>
                    <a:srgbClr val="002060"/>
                  </a:solidFill>
                  <a:latin typeface="Consolas" panose="020B0609020204030204" pitchFamily="49" charset="0"/>
                </a:rPr>
                <a:t> </a:t>
              </a:r>
              <a:r>
                <a:rPr lang="en-US" sz="2400" b="1" dirty="0">
                  <a:solidFill>
                    <a:srgbClr val="0070C0"/>
                  </a:solidFill>
                  <a:latin typeface="Consolas" panose="020B0609020204030204" pitchFamily="49" charset="0"/>
                </a:rPr>
                <a:t>sum = Clerk + Driver + Secretary;</a:t>
              </a:r>
            </a:p>
            <a:p>
              <a:pPr eaLnBrk="1" hangingPunct="1"/>
              <a:r>
                <a:rPr lang="en-US" sz="2400" dirty="0">
                  <a:latin typeface="Consolas" panose="020B0609020204030204" pitchFamily="49" charset="0"/>
                </a:rPr>
                <a:t>}</a:t>
              </a:r>
            </a:p>
          </p:txBody>
        </p:sp>
      </p:grpSp>
    </p:spTree>
    <p:extLst>
      <p:ext uri="{BB962C8B-B14F-4D97-AF65-F5344CB8AC3E}">
        <p14:creationId xmlns:p14="http://schemas.microsoft.com/office/powerpoint/2010/main" val="3405206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D822-A7C2-5667-AD56-78B7C0CBE2C3}"/>
              </a:ext>
            </a:extLst>
          </p:cNvPr>
          <p:cNvSpPr>
            <a:spLocks noGrp="1"/>
          </p:cNvSpPr>
          <p:nvPr>
            <p:ph type="title"/>
          </p:nvPr>
        </p:nvSpPr>
        <p:spPr/>
        <p:txBody>
          <a:bodyPr/>
          <a:lstStyle/>
          <a:p>
            <a:r>
              <a:rPr lang="en-US" dirty="0"/>
              <a:t>Solution 2 </a:t>
            </a:r>
            <a:endParaRPr lang="en-PK" dirty="0"/>
          </a:p>
        </p:txBody>
      </p:sp>
      <p:sp>
        <p:nvSpPr>
          <p:cNvPr id="3" name="Content Placeholder 2">
            <a:extLst>
              <a:ext uri="{FF2B5EF4-FFF2-40B4-BE49-F238E27FC236}">
                <a16:creationId xmlns:a16="http://schemas.microsoft.com/office/drawing/2014/main" id="{1B434242-8C24-8E85-5898-A4143601CB7C}"/>
              </a:ext>
            </a:extLst>
          </p:cNvPr>
          <p:cNvSpPr>
            <a:spLocks noGrp="1"/>
          </p:cNvSpPr>
          <p:nvPr>
            <p:ph idx="1"/>
          </p:nvPr>
        </p:nvSpPr>
        <p:spPr/>
        <p:txBody>
          <a:bodyPr/>
          <a:lstStyle/>
          <a:p>
            <a:pPr marL="0" indent="0" algn="ctr">
              <a:buNone/>
            </a:pPr>
            <a:r>
              <a:rPr lang="en-US" dirty="0">
                <a:solidFill>
                  <a:srgbClr val="0070C0"/>
                </a:solidFill>
                <a:latin typeface="Consolas" panose="020B0609020204030204" pitchFamily="49" charset="0"/>
                <a:cs typeface="Courier New" panose="02070309020205020404" pitchFamily="49" charset="0"/>
              </a:rPr>
              <a:t>sum = Clerk + Driver + Secretary;</a:t>
            </a:r>
          </a:p>
          <a:p>
            <a:pPr marL="0" indent="0">
              <a:buNone/>
            </a:pPr>
            <a:endParaRPr lang="en-US" dirty="0"/>
          </a:p>
          <a:p>
            <a:r>
              <a:rPr lang="en-US" dirty="0"/>
              <a:t>Make a </a:t>
            </a:r>
            <a:r>
              <a:rPr lang="en-US" b="1" u="sng" dirty="0">
                <a:solidFill>
                  <a:srgbClr val="FF0000"/>
                </a:solidFill>
              </a:rPr>
              <a:t>non-member</a:t>
            </a:r>
            <a:r>
              <a:rPr lang="en-US" u="sng" dirty="0"/>
              <a:t> </a:t>
            </a:r>
            <a:r>
              <a:rPr lang="en-US" b="1" dirty="0">
                <a:solidFill>
                  <a:srgbClr val="FF0000"/>
                </a:solidFill>
              </a:rPr>
              <a:t>operator+</a:t>
            </a:r>
            <a:r>
              <a:rPr lang="en-US" dirty="0"/>
              <a:t> function that returns an </a:t>
            </a:r>
            <a:r>
              <a:rPr lang="en-US" dirty="0">
                <a:solidFill>
                  <a:srgbClr val="0070C0"/>
                </a:solidFill>
              </a:rPr>
              <a:t>Employee object.</a:t>
            </a:r>
            <a:endParaRPr lang="en-US" dirty="0"/>
          </a:p>
          <a:p>
            <a:pPr marL="0" indent="0">
              <a:buNone/>
            </a:pPr>
            <a:endParaRPr lang="en-PK" dirty="0"/>
          </a:p>
        </p:txBody>
      </p:sp>
      <p:sp>
        <p:nvSpPr>
          <p:cNvPr id="4" name="Footer Placeholder 3">
            <a:extLst>
              <a:ext uri="{FF2B5EF4-FFF2-40B4-BE49-F238E27FC236}">
                <a16:creationId xmlns:a16="http://schemas.microsoft.com/office/drawing/2014/main" id="{55633660-0286-0657-1B09-15DAE794B50D}"/>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5111AD72-3149-123C-6650-C9F67E82FEE4}"/>
              </a:ext>
            </a:extLst>
          </p:cNvPr>
          <p:cNvSpPr>
            <a:spLocks noGrp="1"/>
          </p:cNvSpPr>
          <p:nvPr>
            <p:ph type="sldNum" sz="quarter" idx="12"/>
          </p:nvPr>
        </p:nvSpPr>
        <p:spPr/>
        <p:txBody>
          <a:bodyPr/>
          <a:lstStyle/>
          <a:p>
            <a:fld id="{51845F5A-061D-4825-9AE9-D7794091C6CF}" type="slidenum">
              <a:rPr lang="en-US" smtClean="0"/>
              <a:t>34</a:t>
            </a:fld>
            <a:endParaRPr lang="en-US" dirty="0"/>
          </a:p>
        </p:txBody>
      </p:sp>
    </p:spTree>
    <p:extLst>
      <p:ext uri="{BB962C8B-B14F-4D97-AF65-F5344CB8AC3E}">
        <p14:creationId xmlns:p14="http://schemas.microsoft.com/office/powerpoint/2010/main" val="576134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893D9C-060D-BC08-18E9-3AAE5E10D956}"/>
              </a:ext>
            </a:extLst>
          </p:cNvPr>
          <p:cNvSpPr>
            <a:spLocks noGrp="1"/>
          </p:cNvSpPr>
          <p:nvPr>
            <p:ph type="ftr" sz="quarter" idx="11"/>
          </p:nvPr>
        </p:nvSpPr>
        <p:spPr/>
        <p:txBody>
          <a:bodyPr/>
          <a:lstStyle/>
          <a:p>
            <a:r>
              <a:rPr lang="en-US"/>
              <a:t>Object Oriented Programming-Spring 24</a:t>
            </a:r>
          </a:p>
        </p:txBody>
      </p:sp>
      <p:sp>
        <p:nvSpPr>
          <p:cNvPr id="3" name="Slide Number Placeholder 2">
            <a:extLst>
              <a:ext uri="{FF2B5EF4-FFF2-40B4-BE49-F238E27FC236}">
                <a16:creationId xmlns:a16="http://schemas.microsoft.com/office/drawing/2014/main" id="{CF9EF250-4EB0-ECAA-156C-949722076855}"/>
              </a:ext>
            </a:extLst>
          </p:cNvPr>
          <p:cNvSpPr>
            <a:spLocks noGrp="1"/>
          </p:cNvSpPr>
          <p:nvPr>
            <p:ph type="sldNum" sz="quarter" idx="12"/>
          </p:nvPr>
        </p:nvSpPr>
        <p:spPr/>
        <p:txBody>
          <a:bodyPr/>
          <a:lstStyle/>
          <a:p>
            <a:fld id="{51845F5A-061D-4825-9AE9-D7794091C6CF}" type="slidenum">
              <a:rPr lang="en-US" smtClean="0"/>
              <a:t>35</a:t>
            </a:fld>
            <a:endParaRPr lang="en-US"/>
          </a:p>
        </p:txBody>
      </p:sp>
      <p:pic>
        <p:nvPicPr>
          <p:cNvPr id="4" name="Picture 3">
            <a:extLst>
              <a:ext uri="{FF2B5EF4-FFF2-40B4-BE49-F238E27FC236}">
                <a16:creationId xmlns:a16="http://schemas.microsoft.com/office/drawing/2014/main" id="{860D5BCB-D862-6ABB-4C1F-866001FF3DCA}"/>
              </a:ext>
            </a:extLst>
          </p:cNvPr>
          <p:cNvPicPr>
            <a:picLocks noChangeAspect="1"/>
          </p:cNvPicPr>
          <p:nvPr/>
        </p:nvPicPr>
        <p:blipFill>
          <a:blip r:embed="rId2"/>
          <a:stretch>
            <a:fillRect/>
          </a:stretch>
        </p:blipFill>
        <p:spPr>
          <a:xfrm>
            <a:off x="3657600" y="0"/>
            <a:ext cx="4876800" cy="6866938"/>
          </a:xfrm>
          <a:prstGeom prst="rect">
            <a:avLst/>
          </a:prstGeom>
        </p:spPr>
      </p:pic>
    </p:spTree>
    <p:extLst>
      <p:ext uri="{BB962C8B-B14F-4D97-AF65-F5344CB8AC3E}">
        <p14:creationId xmlns:p14="http://schemas.microsoft.com/office/powerpoint/2010/main" val="4221086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E1853-AB85-21F4-0D8D-853BF2A3678D}"/>
              </a:ext>
            </a:extLst>
          </p:cNvPr>
          <p:cNvSpPr>
            <a:spLocks noGrp="1"/>
          </p:cNvSpPr>
          <p:nvPr>
            <p:ph type="title"/>
          </p:nvPr>
        </p:nvSpPr>
        <p:spPr/>
        <p:txBody>
          <a:bodyPr/>
          <a:lstStyle/>
          <a:p>
            <a:r>
              <a:rPr lang="en-US" dirty="0"/>
              <a:t>Assignment Operator =</a:t>
            </a:r>
            <a:endParaRPr lang="en-PK" dirty="0"/>
          </a:p>
        </p:txBody>
      </p:sp>
      <p:sp>
        <p:nvSpPr>
          <p:cNvPr id="3" name="Content Placeholder 2">
            <a:extLst>
              <a:ext uri="{FF2B5EF4-FFF2-40B4-BE49-F238E27FC236}">
                <a16:creationId xmlns:a16="http://schemas.microsoft.com/office/drawing/2014/main" id="{24FCD85B-9D86-E674-D6D9-14AF8B1302EC}"/>
              </a:ext>
            </a:extLst>
          </p:cNvPr>
          <p:cNvSpPr>
            <a:spLocks noGrp="1"/>
          </p:cNvSpPr>
          <p:nvPr>
            <p:ph idx="1"/>
          </p:nvPr>
        </p:nvSpPr>
        <p:spPr/>
        <p:txBody>
          <a:bodyPr>
            <a:normAutofit fontScale="85000" lnSpcReduction="20000"/>
          </a:bodyPr>
          <a:lstStyle/>
          <a:p>
            <a:pPr marL="269875" indent="-269875" algn="just">
              <a:buFont typeface="Arial" panose="020B0604020202020204" pitchFamily="34" charset="0"/>
              <a:buChar char="•"/>
            </a:pPr>
            <a:r>
              <a:rPr lang="en-US" dirty="0"/>
              <a:t>Operator </a:t>
            </a:r>
            <a:r>
              <a:rPr lang="en-US" b="1" dirty="0">
                <a:solidFill>
                  <a:srgbClr val="FF0000"/>
                </a:solidFill>
              </a:rPr>
              <a:t>=</a:t>
            </a:r>
            <a:r>
              <a:rPr lang="en-US" dirty="0"/>
              <a:t> is overloaded implicitly for every class, so they can be used for each class objects. </a:t>
            </a:r>
          </a:p>
          <a:p>
            <a:pPr marL="269875" indent="-269875" algn="just">
              <a:buFont typeface="Arial" panose="020B0604020202020204" pitchFamily="34" charset="0"/>
              <a:buChar char="•"/>
            </a:pPr>
            <a:endParaRPr lang="en-US" dirty="0"/>
          </a:p>
          <a:p>
            <a:pPr marL="269875" indent="-269875" algn="just">
              <a:buFont typeface="Arial" panose="020B0604020202020204" pitchFamily="34" charset="0"/>
              <a:buChar char="•"/>
            </a:pPr>
            <a:r>
              <a:rPr lang="en-US" dirty="0"/>
              <a:t>Recall </a:t>
            </a:r>
            <a:r>
              <a:rPr lang="en-US" dirty="0">
                <a:solidFill>
                  <a:srgbClr val="0070C0"/>
                </a:solidFill>
              </a:rPr>
              <a:t>default copy constructor </a:t>
            </a:r>
          </a:p>
          <a:p>
            <a:pPr algn="just"/>
            <a:endParaRPr lang="en-US" dirty="0"/>
          </a:p>
          <a:p>
            <a:pPr marL="269875" indent="-269875" algn="just">
              <a:buFont typeface="Arial" panose="020B0604020202020204" pitchFamily="34" charset="0"/>
              <a:buChar char="•"/>
            </a:pPr>
            <a:r>
              <a:rPr lang="en-US" dirty="0"/>
              <a:t>operator = performs </a:t>
            </a:r>
            <a:r>
              <a:rPr lang="en-US" dirty="0">
                <a:solidFill>
                  <a:srgbClr val="0070C0"/>
                </a:solidFill>
              </a:rPr>
              <a:t>member-wise copy of the data members</a:t>
            </a:r>
            <a:r>
              <a:rPr lang="en-US" dirty="0"/>
              <a:t>. </a:t>
            </a:r>
          </a:p>
          <a:p>
            <a:pPr marL="269875" indent="-269875" algn="just">
              <a:buFont typeface="Arial" panose="020B0604020202020204" pitchFamily="34" charset="0"/>
              <a:buChar char="•"/>
            </a:pPr>
            <a:endParaRPr lang="en-US" dirty="0"/>
          </a:p>
          <a:p>
            <a:pPr marL="269875" indent="-269875" algn="just">
              <a:buFont typeface="Arial" panose="020B0604020202020204" pitchFamily="34" charset="0"/>
              <a:buChar char="•"/>
            </a:pPr>
            <a:r>
              <a:rPr lang="en-US" dirty="0"/>
              <a:t>However, there is a problem with implicitly overloaded operator=</a:t>
            </a:r>
          </a:p>
          <a:p>
            <a:pPr marL="269875" indent="-269875" algn="just">
              <a:buFont typeface="Arial" panose="020B0604020202020204" pitchFamily="34" charset="0"/>
              <a:buChar char="•"/>
            </a:pPr>
            <a:endParaRPr lang="en-US" dirty="0"/>
          </a:p>
          <a:p>
            <a:pPr marL="269875" indent="-269875" algn="just">
              <a:buFont typeface="Arial" panose="020B0604020202020204" pitchFamily="34" charset="0"/>
              <a:buChar char="•"/>
            </a:pPr>
            <a:r>
              <a:rPr lang="en-US" dirty="0"/>
              <a:t>Recall </a:t>
            </a:r>
            <a:r>
              <a:rPr lang="en-US" b="1" dirty="0">
                <a:solidFill>
                  <a:srgbClr val="FF0000"/>
                </a:solidFill>
              </a:rPr>
              <a:t>shallow copy</a:t>
            </a:r>
            <a:endParaRPr lang="en-PK" b="1" dirty="0">
              <a:solidFill>
                <a:srgbClr val="FF0000"/>
              </a:solidFill>
            </a:endParaRPr>
          </a:p>
        </p:txBody>
      </p:sp>
      <p:sp>
        <p:nvSpPr>
          <p:cNvPr id="4" name="Footer Placeholder 3">
            <a:extLst>
              <a:ext uri="{FF2B5EF4-FFF2-40B4-BE49-F238E27FC236}">
                <a16:creationId xmlns:a16="http://schemas.microsoft.com/office/drawing/2014/main" id="{2447F6F0-8399-924E-B34A-39821D8722FD}"/>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E023444C-6A58-C9FC-FE3A-5EA459218D00}"/>
              </a:ext>
            </a:extLst>
          </p:cNvPr>
          <p:cNvSpPr>
            <a:spLocks noGrp="1"/>
          </p:cNvSpPr>
          <p:nvPr>
            <p:ph type="sldNum" sz="quarter" idx="12"/>
          </p:nvPr>
        </p:nvSpPr>
        <p:spPr/>
        <p:txBody>
          <a:bodyPr/>
          <a:lstStyle/>
          <a:p>
            <a:fld id="{51845F5A-061D-4825-9AE9-D7794091C6CF}" type="slidenum">
              <a:rPr lang="en-US" smtClean="0"/>
              <a:t>36</a:t>
            </a:fld>
            <a:endParaRPr lang="en-US" dirty="0"/>
          </a:p>
        </p:txBody>
      </p:sp>
    </p:spTree>
    <p:extLst>
      <p:ext uri="{BB962C8B-B14F-4D97-AF65-F5344CB8AC3E}">
        <p14:creationId xmlns:p14="http://schemas.microsoft.com/office/powerpoint/2010/main" val="1485534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174A0-103F-1057-B3E8-467DC89B7EAA}"/>
              </a:ext>
            </a:extLst>
          </p:cNvPr>
          <p:cNvSpPr>
            <a:spLocks noGrp="1"/>
          </p:cNvSpPr>
          <p:nvPr>
            <p:ph type="title"/>
          </p:nvPr>
        </p:nvSpPr>
        <p:spPr/>
        <p:txBody>
          <a:bodyPr/>
          <a:lstStyle/>
          <a:p>
            <a:r>
              <a:rPr lang="en-US" sz="4000" dirty="0"/>
              <a:t>Using implicit Overloaded Assignment Operator</a:t>
            </a:r>
            <a:endParaRPr lang="en-PK" dirty="0"/>
          </a:p>
        </p:txBody>
      </p:sp>
      <p:sp>
        <p:nvSpPr>
          <p:cNvPr id="4" name="Footer Placeholder 3">
            <a:extLst>
              <a:ext uri="{FF2B5EF4-FFF2-40B4-BE49-F238E27FC236}">
                <a16:creationId xmlns:a16="http://schemas.microsoft.com/office/drawing/2014/main" id="{18B74802-B1DC-E093-B60A-7C718C383BA2}"/>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5D81808C-F67C-CD93-1380-2469C452193F}"/>
              </a:ext>
            </a:extLst>
          </p:cNvPr>
          <p:cNvSpPr>
            <a:spLocks noGrp="1"/>
          </p:cNvSpPr>
          <p:nvPr>
            <p:ph type="sldNum" sz="quarter" idx="12"/>
          </p:nvPr>
        </p:nvSpPr>
        <p:spPr/>
        <p:txBody>
          <a:bodyPr/>
          <a:lstStyle/>
          <a:p>
            <a:fld id="{51845F5A-061D-4825-9AE9-D7794091C6CF}" type="slidenum">
              <a:rPr lang="en-US" smtClean="0"/>
              <a:t>37</a:t>
            </a:fld>
            <a:endParaRPr lang="en-US" dirty="0"/>
          </a:p>
        </p:txBody>
      </p:sp>
      <p:pic>
        <p:nvPicPr>
          <p:cNvPr id="6" name="Picture 5">
            <a:extLst>
              <a:ext uri="{FF2B5EF4-FFF2-40B4-BE49-F238E27FC236}">
                <a16:creationId xmlns:a16="http://schemas.microsoft.com/office/drawing/2014/main" id="{8D7D980D-1FB7-1D7C-C1EB-B0987EF1C38D}"/>
              </a:ext>
            </a:extLst>
          </p:cNvPr>
          <p:cNvPicPr>
            <a:picLocks noChangeAspect="1"/>
          </p:cNvPicPr>
          <p:nvPr/>
        </p:nvPicPr>
        <p:blipFill>
          <a:blip r:embed="rId2"/>
          <a:stretch>
            <a:fillRect/>
          </a:stretch>
        </p:blipFill>
        <p:spPr>
          <a:xfrm>
            <a:off x="1475705" y="1871276"/>
            <a:ext cx="6125245" cy="4850201"/>
          </a:xfrm>
          <a:prstGeom prst="rect">
            <a:avLst/>
          </a:prstGeom>
        </p:spPr>
      </p:pic>
      <p:sp>
        <p:nvSpPr>
          <p:cNvPr id="8" name="TextBox 7">
            <a:extLst>
              <a:ext uri="{FF2B5EF4-FFF2-40B4-BE49-F238E27FC236}">
                <a16:creationId xmlns:a16="http://schemas.microsoft.com/office/drawing/2014/main" id="{1B679708-E354-A126-A01A-4ABE36119FCA}"/>
              </a:ext>
            </a:extLst>
          </p:cNvPr>
          <p:cNvSpPr txBox="1"/>
          <p:nvPr/>
        </p:nvSpPr>
        <p:spPr>
          <a:xfrm>
            <a:off x="8610600" y="3059668"/>
            <a:ext cx="2202180" cy="461665"/>
          </a:xfrm>
          <a:prstGeom prst="rect">
            <a:avLst/>
          </a:prstGeom>
          <a:noFill/>
        </p:spPr>
        <p:txBody>
          <a:bodyPr wrap="square">
            <a:spAutoFit/>
          </a:bodyPr>
          <a:lstStyle/>
          <a:p>
            <a:r>
              <a:rPr lang="en-US" sz="2400" b="1" dirty="0">
                <a:solidFill>
                  <a:srgbClr val="FF0000"/>
                </a:solidFill>
              </a:rPr>
              <a:t>Output =  10</a:t>
            </a:r>
          </a:p>
        </p:txBody>
      </p:sp>
    </p:spTree>
    <p:extLst>
      <p:ext uri="{BB962C8B-B14F-4D97-AF65-F5344CB8AC3E}">
        <p14:creationId xmlns:p14="http://schemas.microsoft.com/office/powerpoint/2010/main" val="40399197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378B5-188A-3C5D-7244-611C0278A2AA}"/>
              </a:ext>
            </a:extLst>
          </p:cNvPr>
          <p:cNvSpPr>
            <a:spLocks noGrp="1"/>
          </p:cNvSpPr>
          <p:nvPr>
            <p:ph type="title"/>
          </p:nvPr>
        </p:nvSpPr>
        <p:spPr/>
        <p:txBody>
          <a:bodyPr/>
          <a:lstStyle/>
          <a:p>
            <a:r>
              <a:rPr lang="en-US" dirty="0"/>
              <a:t>Assignment Operator =</a:t>
            </a:r>
            <a:endParaRPr lang="en-PK" dirty="0"/>
          </a:p>
        </p:txBody>
      </p:sp>
      <p:sp>
        <p:nvSpPr>
          <p:cNvPr id="3" name="Content Placeholder 2">
            <a:extLst>
              <a:ext uri="{FF2B5EF4-FFF2-40B4-BE49-F238E27FC236}">
                <a16:creationId xmlns:a16="http://schemas.microsoft.com/office/drawing/2014/main" id="{D6F3F30C-A5E8-5D6A-5DB6-7B5B0031F404}"/>
              </a:ext>
            </a:extLst>
          </p:cNvPr>
          <p:cNvSpPr>
            <a:spLocks noGrp="1"/>
          </p:cNvSpPr>
          <p:nvPr>
            <p:ph idx="1"/>
          </p:nvPr>
        </p:nvSpPr>
        <p:spPr/>
        <p:txBody>
          <a:bodyPr>
            <a:normAutofit fontScale="92500" lnSpcReduction="20000"/>
          </a:bodyPr>
          <a:lstStyle/>
          <a:p>
            <a:pPr marL="0"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class Employee</a:t>
            </a:r>
          </a:p>
          <a:p>
            <a:pPr marL="0"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    private:</a:t>
            </a:r>
          </a:p>
          <a:p>
            <a:pPr marL="457200" lvl="1"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		int </a:t>
            </a:r>
            <a:r>
              <a:rPr lang="en-US" sz="2000" b="1" kern="0" dirty="0" err="1">
                <a:latin typeface="Consolas" panose="020B0609020204030204" pitchFamily="49" charset="0"/>
                <a:ea typeface="Tahoma" panose="020B0604030504040204" pitchFamily="34" charset="0"/>
                <a:cs typeface="Tahoma" panose="020B0604030504040204" pitchFamily="34" charset="0"/>
              </a:rPr>
              <a:t>idNum</a:t>
            </a:r>
            <a:r>
              <a:rPr lang="en-US" sz="2000" b="1" kern="0" dirty="0">
                <a:latin typeface="Consolas" panose="020B0609020204030204" pitchFamily="49" charset="0"/>
                <a:ea typeface="Tahoma" panose="020B0604030504040204" pitchFamily="34" charset="0"/>
                <a:cs typeface="Tahoma" panose="020B0604030504040204" pitchFamily="34" charset="0"/>
              </a:rPr>
              <a:t>;</a:t>
            </a:r>
          </a:p>
          <a:p>
            <a:pPr marL="457200" lvl="1"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		double salary;</a:t>
            </a:r>
          </a:p>
          <a:p>
            <a:pPr marL="457200" lvl="1"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public:</a:t>
            </a:r>
          </a:p>
          <a:p>
            <a:pPr marL="457200" lvl="1"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	  Employee ( ) { </a:t>
            </a:r>
            <a:r>
              <a:rPr lang="en-US" sz="2000" b="1" kern="0" dirty="0" err="1">
                <a:latin typeface="Consolas" panose="020B0609020204030204" pitchFamily="49" charset="0"/>
                <a:ea typeface="Tahoma" panose="020B0604030504040204" pitchFamily="34" charset="0"/>
                <a:cs typeface="Tahoma" panose="020B0604030504040204" pitchFamily="34" charset="0"/>
              </a:rPr>
              <a:t>idNum</a:t>
            </a:r>
            <a:r>
              <a:rPr lang="en-US" sz="2000" b="1" kern="0" dirty="0">
                <a:latin typeface="Consolas" panose="020B0609020204030204" pitchFamily="49" charset="0"/>
                <a:ea typeface="Tahoma" panose="020B0604030504040204" pitchFamily="34" charset="0"/>
                <a:cs typeface="Tahoma" panose="020B0604030504040204" pitchFamily="34" charset="0"/>
              </a:rPr>
              <a:t> = 0, salary  = 0.0; }</a:t>
            </a:r>
          </a:p>
          <a:p>
            <a:pPr marL="457200" lvl="1"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	  void </a:t>
            </a:r>
            <a:r>
              <a:rPr lang="en-US" sz="2000" b="1" kern="0" dirty="0" err="1">
                <a:latin typeface="Consolas" panose="020B0609020204030204" pitchFamily="49" charset="0"/>
                <a:ea typeface="Tahoma" panose="020B0604030504040204" pitchFamily="34" charset="0"/>
                <a:cs typeface="Tahoma" panose="020B0604030504040204" pitchFamily="34" charset="0"/>
              </a:rPr>
              <a:t>setValues</a:t>
            </a:r>
            <a:r>
              <a:rPr lang="en-US" sz="2000" b="1" kern="0" dirty="0">
                <a:latin typeface="Consolas" panose="020B0609020204030204" pitchFamily="49" charset="0"/>
                <a:ea typeface="Tahoma" panose="020B0604030504040204" pitchFamily="34" charset="0"/>
                <a:cs typeface="Tahoma" panose="020B0604030504040204" pitchFamily="34" charset="0"/>
              </a:rPr>
              <a:t> (int a, int b);</a:t>
            </a:r>
          </a:p>
          <a:p>
            <a:pPr marL="457200" lvl="1" indent="0" eaLnBrk="0" hangingPunct="0">
              <a:lnSpc>
                <a:spcPct val="80000"/>
              </a:lnSpc>
              <a:spcBef>
                <a:spcPct val="20000"/>
              </a:spcBef>
              <a:buNone/>
              <a:defRPr/>
            </a:pPr>
            <a:r>
              <a:rPr lang="en-US" sz="2000" b="1" kern="0" dirty="0">
                <a:solidFill>
                  <a:srgbClr val="FF3300"/>
                </a:solidFill>
                <a:latin typeface="Consolas" panose="020B0609020204030204" pitchFamily="49" charset="0"/>
                <a:ea typeface="Tahoma" panose="020B0604030504040204" pitchFamily="34" charset="0"/>
                <a:cs typeface="Tahoma" panose="020B0604030504040204" pitchFamily="34" charset="0"/>
              </a:rPr>
              <a:t>	  </a:t>
            </a:r>
            <a:r>
              <a:rPr lang="en-US" sz="2000" b="1" kern="0" dirty="0">
                <a:solidFill>
                  <a:srgbClr val="FF0000"/>
                </a:solidFill>
                <a:latin typeface="Consolas" panose="020B0609020204030204" pitchFamily="49" charset="0"/>
                <a:ea typeface="Tahoma" panose="020B0604030504040204" pitchFamily="34" charset="0"/>
                <a:cs typeface="Tahoma" panose="020B0604030504040204" pitchFamily="34" charset="0"/>
              </a:rPr>
              <a:t>void operator= (double); </a:t>
            </a:r>
            <a:r>
              <a:rPr lang="en-US" sz="2000" b="1" kern="0" dirty="0">
                <a:solidFill>
                  <a:srgbClr val="00B050"/>
                </a:solidFill>
                <a:latin typeface="Consolas" panose="020B0609020204030204" pitchFamily="49" charset="0"/>
                <a:ea typeface="Tahoma" panose="020B0604030504040204" pitchFamily="34" charset="0"/>
                <a:cs typeface="Tahoma" panose="020B0604030504040204" pitchFamily="34" charset="0"/>
              </a:rPr>
              <a:t>//prototype</a:t>
            </a:r>
          </a:p>
          <a:p>
            <a:pPr marL="0"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a:t>
            </a:r>
          </a:p>
          <a:p>
            <a:pPr marL="0" indent="0" eaLnBrk="0" hangingPunct="0">
              <a:lnSpc>
                <a:spcPct val="80000"/>
              </a:lnSpc>
              <a:spcBef>
                <a:spcPct val="20000"/>
              </a:spcBef>
              <a:buNone/>
              <a:defRPr/>
            </a:pPr>
            <a:endParaRPr lang="en-US" sz="2000" b="1" kern="0" dirty="0">
              <a:latin typeface="Consolas" panose="020B0609020204030204" pitchFamily="49" charset="0"/>
              <a:ea typeface="Tahoma" panose="020B0604030504040204" pitchFamily="34" charset="0"/>
              <a:cs typeface="Tahoma" panose="020B0604030504040204" pitchFamily="34" charset="0"/>
            </a:endParaRPr>
          </a:p>
          <a:p>
            <a:pPr marL="0"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void Employee::</a:t>
            </a:r>
            <a:r>
              <a:rPr lang="en-US" sz="2000" b="1" kern="0" dirty="0" err="1">
                <a:latin typeface="Consolas" panose="020B0609020204030204" pitchFamily="49" charset="0"/>
                <a:ea typeface="Tahoma" panose="020B0604030504040204" pitchFamily="34" charset="0"/>
                <a:cs typeface="Tahoma" panose="020B0604030504040204" pitchFamily="34" charset="0"/>
              </a:rPr>
              <a:t>setValues</a:t>
            </a:r>
            <a:r>
              <a:rPr lang="en-US" sz="2000" b="1" kern="0" dirty="0">
                <a:latin typeface="Consolas" panose="020B0609020204030204" pitchFamily="49" charset="0"/>
                <a:ea typeface="Tahoma" panose="020B0604030504040204" pitchFamily="34" charset="0"/>
                <a:cs typeface="Tahoma" panose="020B0604030504040204" pitchFamily="34" charset="0"/>
              </a:rPr>
              <a:t> ( int </a:t>
            </a:r>
            <a:r>
              <a:rPr lang="en-US" sz="2000" b="1" kern="0" dirty="0" err="1">
                <a:latin typeface="Consolas" panose="020B0609020204030204" pitchFamily="49" charset="0"/>
                <a:ea typeface="Tahoma" panose="020B0604030504040204" pitchFamily="34" charset="0"/>
                <a:cs typeface="Tahoma" panose="020B0604030504040204" pitchFamily="34" charset="0"/>
              </a:rPr>
              <a:t>idN</a:t>
            </a:r>
            <a:r>
              <a:rPr lang="en-US" sz="2000" b="1" kern="0" dirty="0">
                <a:latin typeface="Consolas" panose="020B0609020204030204" pitchFamily="49" charset="0"/>
                <a:ea typeface="Tahoma" panose="020B0604030504040204" pitchFamily="34" charset="0"/>
                <a:cs typeface="Tahoma" panose="020B0604030504040204" pitchFamily="34" charset="0"/>
              </a:rPr>
              <a:t> , double </a:t>
            </a:r>
            <a:r>
              <a:rPr lang="en-US" sz="2000" b="1" kern="0" dirty="0" err="1">
                <a:latin typeface="Consolas" panose="020B0609020204030204" pitchFamily="49" charset="0"/>
                <a:ea typeface="Tahoma" panose="020B0604030504040204" pitchFamily="34" charset="0"/>
                <a:cs typeface="Tahoma" panose="020B0604030504040204" pitchFamily="34" charset="0"/>
              </a:rPr>
              <a:t>sal</a:t>
            </a:r>
            <a:r>
              <a:rPr lang="en-US" sz="2000" b="1" kern="0" dirty="0">
                <a:latin typeface="Consolas" panose="020B0609020204030204" pitchFamily="49" charset="0"/>
                <a:ea typeface="Tahoma" panose="020B0604030504040204" pitchFamily="34" charset="0"/>
                <a:cs typeface="Tahoma" panose="020B0604030504040204" pitchFamily="34" charset="0"/>
              </a:rPr>
              <a:t> )</a:t>
            </a:r>
          </a:p>
          <a:p>
            <a:pPr marL="0"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		</a:t>
            </a:r>
          </a:p>
          <a:p>
            <a:pPr marL="0"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		salary = </a:t>
            </a:r>
            <a:r>
              <a:rPr lang="en-US" sz="2000" b="1" kern="0" dirty="0" err="1">
                <a:latin typeface="Consolas" panose="020B0609020204030204" pitchFamily="49" charset="0"/>
                <a:ea typeface="Tahoma" panose="020B0604030504040204" pitchFamily="34" charset="0"/>
                <a:cs typeface="Tahoma" panose="020B0604030504040204" pitchFamily="34" charset="0"/>
              </a:rPr>
              <a:t>sal</a:t>
            </a:r>
            <a:r>
              <a:rPr lang="en-US" sz="2000" b="1" kern="0" dirty="0">
                <a:latin typeface="Consolas" panose="020B0609020204030204" pitchFamily="49" charset="0"/>
                <a:ea typeface="Tahoma" panose="020B0604030504040204" pitchFamily="34" charset="0"/>
                <a:cs typeface="Tahoma" panose="020B0604030504040204" pitchFamily="34" charset="0"/>
              </a:rPr>
              <a:t>; 	</a:t>
            </a:r>
            <a:r>
              <a:rPr lang="en-US" sz="2000" b="1" kern="0" dirty="0" err="1">
                <a:latin typeface="Consolas" panose="020B0609020204030204" pitchFamily="49" charset="0"/>
                <a:ea typeface="Tahoma" panose="020B0604030504040204" pitchFamily="34" charset="0"/>
                <a:cs typeface="Tahoma" panose="020B0604030504040204" pitchFamily="34" charset="0"/>
              </a:rPr>
              <a:t>idNum</a:t>
            </a:r>
            <a:r>
              <a:rPr lang="en-US" sz="2000" b="1" kern="0" dirty="0">
                <a:latin typeface="Consolas" panose="020B0609020204030204" pitchFamily="49" charset="0"/>
                <a:ea typeface="Tahoma" panose="020B0604030504040204" pitchFamily="34" charset="0"/>
                <a:cs typeface="Tahoma" panose="020B0604030504040204" pitchFamily="34" charset="0"/>
              </a:rPr>
              <a:t>  = </a:t>
            </a:r>
            <a:r>
              <a:rPr lang="en-US" sz="2000" b="1" kern="0" dirty="0" err="1">
                <a:latin typeface="Consolas" panose="020B0609020204030204" pitchFamily="49" charset="0"/>
                <a:ea typeface="Tahoma" panose="020B0604030504040204" pitchFamily="34" charset="0"/>
                <a:cs typeface="Tahoma" panose="020B0604030504040204" pitchFamily="34" charset="0"/>
              </a:rPr>
              <a:t>idN</a:t>
            </a:r>
            <a:r>
              <a:rPr lang="en-US" sz="2000" b="1" kern="0" dirty="0">
                <a:latin typeface="Consolas" panose="020B0609020204030204" pitchFamily="49" charset="0"/>
                <a:ea typeface="Tahoma" panose="020B0604030504040204" pitchFamily="34" charset="0"/>
                <a:cs typeface="Tahoma" panose="020B0604030504040204" pitchFamily="34" charset="0"/>
              </a:rPr>
              <a:t>; 	</a:t>
            </a:r>
          </a:p>
          <a:p>
            <a:pPr marL="0"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a:t>
            </a:r>
          </a:p>
          <a:p>
            <a:pPr marL="0" indent="0" eaLnBrk="0" hangingPunct="0">
              <a:lnSpc>
                <a:spcPct val="80000"/>
              </a:lnSpc>
              <a:spcBef>
                <a:spcPct val="20000"/>
              </a:spcBef>
              <a:buNone/>
              <a:defRPr/>
            </a:pPr>
            <a:endParaRPr lang="en-US" sz="2000" b="1" kern="0" dirty="0">
              <a:latin typeface="Consolas" panose="020B0609020204030204" pitchFamily="49" charset="0"/>
              <a:ea typeface="Tahoma" panose="020B0604030504040204" pitchFamily="34" charset="0"/>
              <a:cs typeface="Tahoma" panose="020B0604030504040204" pitchFamily="34" charset="0"/>
            </a:endParaRPr>
          </a:p>
          <a:p>
            <a:pPr marL="0" indent="0" eaLnBrk="0" hangingPunct="0">
              <a:lnSpc>
                <a:spcPct val="80000"/>
              </a:lnSpc>
              <a:spcBef>
                <a:spcPct val="20000"/>
              </a:spcBef>
              <a:buNone/>
              <a:defRPr/>
            </a:pPr>
            <a:r>
              <a:rPr lang="en-US" sz="2000" b="1" kern="0" dirty="0">
                <a:solidFill>
                  <a:srgbClr val="0070C0"/>
                </a:solidFill>
                <a:latin typeface="Consolas" panose="020B0609020204030204" pitchFamily="49" charset="0"/>
                <a:ea typeface="Tahoma" panose="020B0604030504040204" pitchFamily="34" charset="0"/>
                <a:cs typeface="Tahoma" panose="020B0604030504040204" pitchFamily="34" charset="0"/>
              </a:rPr>
              <a:t>void Employee::</a:t>
            </a:r>
            <a:r>
              <a:rPr lang="en-US" sz="2000" b="1" kern="0" dirty="0">
                <a:solidFill>
                  <a:srgbClr val="FF0000"/>
                </a:solidFill>
                <a:latin typeface="Consolas" panose="020B0609020204030204" pitchFamily="49" charset="0"/>
                <a:ea typeface="Tahoma" panose="020B0604030504040204" pitchFamily="34" charset="0"/>
                <a:cs typeface="Tahoma" panose="020B0604030504040204" pitchFamily="34" charset="0"/>
              </a:rPr>
              <a:t>operator=</a:t>
            </a:r>
            <a:r>
              <a:rPr lang="en-US" sz="2000" b="1" kern="0" dirty="0">
                <a:solidFill>
                  <a:srgbClr val="0070C0"/>
                </a:solidFill>
                <a:latin typeface="Consolas" panose="020B0609020204030204" pitchFamily="49" charset="0"/>
                <a:ea typeface="Tahoma" panose="020B0604030504040204" pitchFamily="34" charset="0"/>
                <a:cs typeface="Tahoma" panose="020B0604030504040204" pitchFamily="34" charset="0"/>
              </a:rPr>
              <a:t> (double </a:t>
            </a:r>
            <a:r>
              <a:rPr lang="en-US" sz="2000" b="1" kern="0" dirty="0" err="1">
                <a:solidFill>
                  <a:srgbClr val="0070C0"/>
                </a:solidFill>
                <a:latin typeface="Consolas" panose="020B0609020204030204" pitchFamily="49" charset="0"/>
                <a:ea typeface="Tahoma" panose="020B0604030504040204" pitchFamily="34" charset="0"/>
                <a:cs typeface="Tahoma" panose="020B0604030504040204" pitchFamily="34" charset="0"/>
              </a:rPr>
              <a:t>sal</a:t>
            </a:r>
            <a:r>
              <a:rPr lang="en-US" sz="2000" b="1" kern="0" dirty="0">
                <a:solidFill>
                  <a:srgbClr val="0070C0"/>
                </a:solidFill>
                <a:latin typeface="Consolas" panose="020B0609020204030204" pitchFamily="49" charset="0"/>
                <a:ea typeface="Tahoma" panose="020B0604030504040204" pitchFamily="34" charset="0"/>
                <a:cs typeface="Tahoma" panose="020B0604030504040204" pitchFamily="34" charset="0"/>
              </a:rPr>
              <a:t>)</a:t>
            </a:r>
          </a:p>
          <a:p>
            <a:pPr marL="0" indent="0" eaLnBrk="0" hangingPunct="0">
              <a:lnSpc>
                <a:spcPct val="80000"/>
              </a:lnSpc>
              <a:spcBef>
                <a:spcPct val="20000"/>
              </a:spcBef>
              <a:buNone/>
              <a:defRPr/>
            </a:pPr>
            <a:r>
              <a:rPr lang="en-US" sz="2000" b="1" kern="0" dirty="0">
                <a:latin typeface="Consolas" panose="020B0609020204030204" pitchFamily="49" charset="0"/>
                <a:ea typeface="Tahoma" panose="020B0604030504040204" pitchFamily="34" charset="0"/>
                <a:cs typeface="Tahoma" panose="020B0604030504040204" pitchFamily="34" charset="0"/>
              </a:rPr>
              <a:t>{ 		salary = </a:t>
            </a:r>
            <a:r>
              <a:rPr lang="en-US" sz="2000" b="1" kern="0" dirty="0" err="1">
                <a:latin typeface="Consolas" panose="020B0609020204030204" pitchFamily="49" charset="0"/>
                <a:ea typeface="Tahoma" panose="020B0604030504040204" pitchFamily="34" charset="0"/>
                <a:cs typeface="Tahoma" panose="020B0604030504040204" pitchFamily="34" charset="0"/>
              </a:rPr>
              <a:t>sal</a:t>
            </a:r>
            <a:r>
              <a:rPr lang="en-US" sz="2000" b="1" kern="0" dirty="0">
                <a:latin typeface="Consolas" panose="020B0609020204030204" pitchFamily="49" charset="0"/>
                <a:ea typeface="Tahoma" panose="020B0604030504040204" pitchFamily="34" charset="0"/>
                <a:cs typeface="Tahoma" panose="020B0604030504040204" pitchFamily="34" charset="0"/>
              </a:rPr>
              <a:t>;        }</a:t>
            </a:r>
          </a:p>
          <a:p>
            <a:pPr marL="0" indent="0">
              <a:buNone/>
            </a:pPr>
            <a:endParaRPr lang="en-PK" dirty="0"/>
          </a:p>
        </p:txBody>
      </p:sp>
      <p:sp>
        <p:nvSpPr>
          <p:cNvPr id="4" name="Footer Placeholder 3">
            <a:extLst>
              <a:ext uri="{FF2B5EF4-FFF2-40B4-BE49-F238E27FC236}">
                <a16:creationId xmlns:a16="http://schemas.microsoft.com/office/drawing/2014/main" id="{4F7BA4B0-32B9-B378-3558-79AB485A9E89}"/>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E8844B8F-42A4-D4C9-A9A1-6F8CAE2097EF}"/>
              </a:ext>
            </a:extLst>
          </p:cNvPr>
          <p:cNvSpPr>
            <a:spLocks noGrp="1"/>
          </p:cNvSpPr>
          <p:nvPr>
            <p:ph type="sldNum" sz="quarter" idx="12"/>
          </p:nvPr>
        </p:nvSpPr>
        <p:spPr/>
        <p:txBody>
          <a:bodyPr/>
          <a:lstStyle/>
          <a:p>
            <a:fld id="{51845F5A-061D-4825-9AE9-D7794091C6CF}" type="slidenum">
              <a:rPr lang="en-US" smtClean="0"/>
              <a:t>38</a:t>
            </a:fld>
            <a:endParaRPr lang="en-US" dirty="0"/>
          </a:p>
        </p:txBody>
      </p:sp>
      <p:sp>
        <p:nvSpPr>
          <p:cNvPr id="6" name="Thought Bubble: Cloud 5">
            <a:extLst>
              <a:ext uri="{FF2B5EF4-FFF2-40B4-BE49-F238E27FC236}">
                <a16:creationId xmlns:a16="http://schemas.microsoft.com/office/drawing/2014/main" id="{AEEB8AE5-880F-FDFA-8AA0-CD9ABD031CC5}"/>
              </a:ext>
            </a:extLst>
          </p:cNvPr>
          <p:cNvSpPr/>
          <p:nvPr/>
        </p:nvSpPr>
        <p:spPr>
          <a:xfrm>
            <a:off x="7824861" y="1874842"/>
            <a:ext cx="4005189" cy="2471342"/>
          </a:xfrm>
          <a:prstGeom prst="cloudCallout">
            <a:avLst/>
          </a:prstGeom>
          <a:solidFill>
            <a:schemeClr val="accent1">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Assignment operator can </a:t>
            </a:r>
            <a:r>
              <a:rPr lang="en-US" sz="2000" b="1" dirty="0">
                <a:solidFill>
                  <a:srgbClr val="FF0000"/>
                </a:solidFill>
              </a:rPr>
              <a:t>ONLY</a:t>
            </a:r>
            <a:r>
              <a:rPr lang="en-US" sz="2000" dirty="0">
                <a:solidFill>
                  <a:schemeClr val="tx1"/>
                </a:solidFill>
              </a:rPr>
              <a:t> be </a:t>
            </a:r>
            <a:r>
              <a:rPr lang="en-US" sz="2000" b="1" dirty="0">
                <a:solidFill>
                  <a:srgbClr val="FF0000"/>
                </a:solidFill>
              </a:rPr>
              <a:t>overloaded as a member function</a:t>
            </a:r>
            <a:endParaRPr lang="en-PK" sz="1600" b="1" dirty="0">
              <a:solidFill>
                <a:srgbClr val="FF0000"/>
              </a:solidFill>
            </a:endParaRPr>
          </a:p>
        </p:txBody>
      </p:sp>
    </p:spTree>
    <p:extLst>
      <p:ext uri="{BB962C8B-B14F-4D97-AF65-F5344CB8AC3E}">
        <p14:creationId xmlns:p14="http://schemas.microsoft.com/office/powerpoint/2010/main" val="405329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02900-FF2E-F70A-979A-D2F1C0112219}"/>
              </a:ext>
            </a:extLst>
          </p:cNvPr>
          <p:cNvSpPr>
            <a:spLocks noGrp="1"/>
          </p:cNvSpPr>
          <p:nvPr>
            <p:ph type="title"/>
          </p:nvPr>
        </p:nvSpPr>
        <p:spPr/>
        <p:txBody>
          <a:bodyPr/>
          <a:lstStyle/>
          <a:p>
            <a:r>
              <a:rPr lang="en-US" sz="4000" b="1" dirty="0">
                <a:latin typeface="Arial" panose="020B0604020202020204" pitchFamily="34" charset="0"/>
                <a:cs typeface="Arial" panose="020B0604020202020204" pitchFamily="34" charset="0"/>
              </a:rPr>
              <a:t>Assignment Operator =</a:t>
            </a:r>
            <a:endParaRPr lang="en-PK" dirty="0"/>
          </a:p>
        </p:txBody>
      </p:sp>
      <p:sp>
        <p:nvSpPr>
          <p:cNvPr id="3" name="Content Placeholder 2">
            <a:extLst>
              <a:ext uri="{FF2B5EF4-FFF2-40B4-BE49-F238E27FC236}">
                <a16:creationId xmlns:a16="http://schemas.microsoft.com/office/drawing/2014/main" id="{D8C771CB-FFA0-A5DC-7A13-AB0A0F115016}"/>
              </a:ext>
            </a:extLst>
          </p:cNvPr>
          <p:cNvSpPr>
            <a:spLocks noGrp="1"/>
          </p:cNvSpPr>
          <p:nvPr>
            <p:ph idx="1"/>
          </p:nvPr>
        </p:nvSpPr>
        <p:spPr/>
        <p:txBody>
          <a:bodyPr>
            <a:normAutofit fontScale="92500" lnSpcReduction="20000"/>
          </a:bodyPr>
          <a:lstStyle/>
          <a:p>
            <a:pPr marL="0" indent="0" eaLnBrk="1" hangingPunct="1">
              <a:lnSpc>
                <a:spcPct val="120000"/>
              </a:lnSpc>
              <a:spcBef>
                <a:spcPts val="0"/>
              </a:spcBef>
              <a:buNone/>
            </a:pPr>
            <a:r>
              <a:rPr lang="en-US" sz="2000" b="1" dirty="0">
                <a:latin typeface="Consolas" panose="020B0609020204030204" pitchFamily="49" charset="0"/>
              </a:rPr>
              <a:t>int main ( )</a:t>
            </a:r>
          </a:p>
          <a:p>
            <a:pPr marL="0" indent="0" eaLnBrk="1" hangingPunct="1">
              <a:lnSpc>
                <a:spcPct val="120000"/>
              </a:lnSpc>
              <a:spcBef>
                <a:spcPts val="0"/>
              </a:spcBef>
              <a:buNone/>
            </a:pP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latin typeface="Consolas" panose="020B0609020204030204" pitchFamily="49" charset="0"/>
              </a:rPr>
              <a:t>	Employee emp1;</a:t>
            </a:r>
          </a:p>
          <a:p>
            <a:pPr marL="0" indent="0" eaLnBrk="1" hangingPunct="1">
              <a:lnSpc>
                <a:spcPct val="120000"/>
              </a:lnSpc>
              <a:spcBef>
                <a:spcPts val="0"/>
              </a:spcBef>
              <a:buNone/>
            </a:pPr>
            <a:r>
              <a:rPr lang="en-US" sz="2000" b="1" dirty="0">
                <a:latin typeface="Consolas" panose="020B0609020204030204" pitchFamily="49" charset="0"/>
              </a:rPr>
              <a:t>	emp1.setValues(10,33.5);</a:t>
            </a:r>
          </a:p>
          <a:p>
            <a:pPr marL="0" indent="0" eaLnBrk="1" hangingPunct="1">
              <a:lnSpc>
                <a:spcPct val="120000"/>
              </a:lnSpc>
              <a:spcBef>
                <a:spcPts val="0"/>
              </a:spcBef>
              <a:buNone/>
            </a:pPr>
            <a:endParaRPr lang="en-US" sz="2000" b="1" dirty="0">
              <a:latin typeface="Consolas" panose="020B0609020204030204" pitchFamily="49" charset="0"/>
            </a:endParaRPr>
          </a:p>
          <a:p>
            <a:pPr marL="0" indent="0" eaLnBrk="1" hangingPunct="1">
              <a:lnSpc>
                <a:spcPct val="120000"/>
              </a:lnSpc>
              <a:spcBef>
                <a:spcPts val="0"/>
              </a:spcBef>
              <a:buNone/>
            </a:pPr>
            <a:r>
              <a:rPr lang="en-US" sz="2000" b="1" dirty="0">
                <a:latin typeface="Consolas" panose="020B0609020204030204" pitchFamily="49" charset="0"/>
              </a:rPr>
              <a:t>	Employee emp2;</a:t>
            </a:r>
          </a:p>
          <a:p>
            <a:pPr marL="0" indent="0" eaLnBrk="1" hangingPunct="1">
              <a:lnSpc>
                <a:spcPct val="120000"/>
              </a:lnSpc>
              <a:spcBef>
                <a:spcPts val="0"/>
              </a:spcBef>
              <a:buNone/>
            </a:pPr>
            <a:r>
              <a:rPr lang="en-US" sz="2000" b="1" dirty="0">
                <a:solidFill>
                  <a:srgbClr val="2C14DE"/>
                </a:solidFill>
                <a:latin typeface="Consolas" panose="020B0609020204030204" pitchFamily="49" charset="0"/>
              </a:rPr>
              <a:t>	</a:t>
            </a:r>
            <a:r>
              <a:rPr lang="en-US" sz="2000" b="1" dirty="0">
                <a:solidFill>
                  <a:srgbClr val="0070C0"/>
                </a:solidFill>
                <a:latin typeface="Consolas" panose="020B0609020204030204" pitchFamily="49" charset="0"/>
              </a:rPr>
              <a:t>emp2 </a:t>
            </a:r>
            <a:r>
              <a:rPr lang="en-US" sz="2000" b="1" dirty="0">
                <a:solidFill>
                  <a:srgbClr val="FF0000"/>
                </a:solidFill>
                <a:latin typeface="Consolas" panose="020B0609020204030204" pitchFamily="49" charset="0"/>
              </a:rPr>
              <a:t>=</a:t>
            </a:r>
            <a:r>
              <a:rPr lang="en-US" sz="2000" b="1" dirty="0">
                <a:solidFill>
                  <a:srgbClr val="0070C0"/>
                </a:solidFill>
                <a:latin typeface="Consolas" panose="020B0609020204030204" pitchFamily="49" charset="0"/>
              </a:rPr>
              <a:t> 44.6; </a:t>
            </a:r>
            <a:r>
              <a:rPr lang="en-US" sz="2000" b="1" i="1" dirty="0">
                <a:solidFill>
                  <a:srgbClr val="00B050"/>
                </a:solidFill>
                <a:latin typeface="Consolas" panose="020B0609020204030204" pitchFamily="49" charset="0"/>
              </a:rPr>
              <a:t>// emp2 is calling object</a:t>
            </a:r>
          </a:p>
          <a:p>
            <a:pPr marL="0" indent="0" eaLnBrk="1" hangingPunct="1">
              <a:lnSpc>
                <a:spcPct val="120000"/>
              </a:lnSpc>
              <a:spcBef>
                <a:spcPts val="0"/>
              </a:spcBef>
              <a:buNone/>
            </a:pPr>
            <a:endParaRPr lang="en-US" sz="2000" b="1" i="1" dirty="0">
              <a:solidFill>
                <a:srgbClr val="FF0000"/>
              </a:solidFill>
              <a:latin typeface="Consolas" panose="020B0609020204030204" pitchFamily="49" charset="0"/>
            </a:endParaRPr>
          </a:p>
          <a:p>
            <a:pPr marL="0" indent="0" eaLnBrk="1" hangingPunct="1">
              <a:lnSpc>
                <a:spcPct val="120000"/>
              </a:lnSpc>
              <a:spcBef>
                <a:spcPts val="0"/>
              </a:spcBef>
              <a:buNone/>
            </a:pPr>
            <a:r>
              <a:rPr lang="en-US" sz="2000" b="1" dirty="0">
                <a:latin typeface="Consolas" panose="020B0609020204030204" pitchFamily="49" charset="0"/>
              </a:rPr>
              <a:t>	</a:t>
            </a:r>
          </a:p>
          <a:p>
            <a:pPr marL="0" indent="0" eaLnBrk="1" hangingPunct="1">
              <a:lnSpc>
                <a:spcPct val="120000"/>
              </a:lnSpc>
              <a:spcBef>
                <a:spcPts val="0"/>
              </a:spcBef>
              <a:buNone/>
            </a:pPr>
            <a:r>
              <a:rPr lang="en-US" sz="2000" b="1" dirty="0">
                <a:latin typeface="Consolas" panose="020B0609020204030204" pitchFamily="49" charset="0"/>
              </a:rPr>
              <a:t>}</a:t>
            </a:r>
          </a:p>
          <a:p>
            <a:pPr marL="0" indent="0" eaLnBrk="1" hangingPunct="1">
              <a:lnSpc>
                <a:spcPct val="120000"/>
              </a:lnSpc>
              <a:spcBef>
                <a:spcPts val="0"/>
              </a:spcBef>
              <a:buNone/>
            </a:pPr>
            <a:endParaRPr lang="en-US" sz="2000" b="1" dirty="0">
              <a:latin typeface="Consolas" panose="020B0609020204030204" pitchFamily="49" charset="0"/>
            </a:endParaRPr>
          </a:p>
          <a:p>
            <a:pPr marL="0" indent="0" eaLnBrk="1" hangingPunct="1">
              <a:lnSpc>
                <a:spcPct val="120000"/>
              </a:lnSpc>
              <a:spcBef>
                <a:spcPts val="0"/>
              </a:spcBef>
              <a:buNone/>
            </a:pPr>
            <a:r>
              <a:rPr lang="en-US" sz="2000" dirty="0">
                <a:latin typeface="+mn-lt"/>
              </a:rPr>
              <a:t>Overloaded as a </a:t>
            </a:r>
            <a:r>
              <a:rPr lang="en-US" sz="2000" dirty="0">
                <a:solidFill>
                  <a:srgbClr val="0070C0"/>
                </a:solidFill>
                <a:latin typeface="+mn-lt"/>
              </a:rPr>
              <a:t>member function </a:t>
            </a:r>
            <a:r>
              <a:rPr lang="en-US" sz="2000" dirty="0">
                <a:latin typeface="+mn-lt"/>
              </a:rPr>
              <a:t>so </a:t>
            </a:r>
            <a:r>
              <a:rPr lang="en-US" sz="2000" dirty="0">
                <a:solidFill>
                  <a:srgbClr val="0070C0"/>
                </a:solidFill>
                <a:latin typeface="+mn-lt"/>
              </a:rPr>
              <a:t>left operand</a:t>
            </a:r>
            <a:r>
              <a:rPr lang="en-US" sz="2000" dirty="0">
                <a:latin typeface="+mn-lt"/>
              </a:rPr>
              <a:t> </a:t>
            </a:r>
            <a:r>
              <a:rPr lang="en-US" sz="2000" b="1" dirty="0">
                <a:solidFill>
                  <a:srgbClr val="FF0000"/>
                </a:solidFill>
                <a:latin typeface="+mn-lt"/>
              </a:rPr>
              <a:t>must</a:t>
            </a:r>
            <a:r>
              <a:rPr lang="en-US" sz="2000" dirty="0">
                <a:latin typeface="+mn-lt"/>
              </a:rPr>
              <a:t> be an </a:t>
            </a:r>
            <a:r>
              <a:rPr lang="en-US" sz="2000" dirty="0">
                <a:solidFill>
                  <a:srgbClr val="0070C0"/>
                </a:solidFill>
                <a:latin typeface="+mn-lt"/>
              </a:rPr>
              <a:t>object of the same class </a:t>
            </a:r>
          </a:p>
          <a:p>
            <a:pPr marL="0" indent="0" eaLnBrk="1" hangingPunct="1">
              <a:lnSpc>
                <a:spcPct val="120000"/>
              </a:lnSpc>
              <a:spcBef>
                <a:spcPts val="0"/>
              </a:spcBef>
              <a:buNone/>
            </a:pPr>
            <a:r>
              <a:rPr lang="en-US" sz="2000" dirty="0">
                <a:solidFill>
                  <a:srgbClr val="0070C0"/>
                </a:solidFill>
                <a:latin typeface="+mn-lt"/>
              </a:rPr>
              <a:t>Right operand </a:t>
            </a:r>
            <a:r>
              <a:rPr lang="en-US" sz="2000" dirty="0">
                <a:latin typeface="+mn-lt"/>
              </a:rPr>
              <a:t>a</a:t>
            </a:r>
            <a:r>
              <a:rPr lang="en-US" sz="2000" dirty="0">
                <a:solidFill>
                  <a:srgbClr val="0070C0"/>
                </a:solidFill>
                <a:latin typeface="+mn-lt"/>
              </a:rPr>
              <a:t> double </a:t>
            </a:r>
            <a:r>
              <a:rPr lang="en-US" sz="2000" dirty="0">
                <a:latin typeface="+mn-lt"/>
              </a:rPr>
              <a:t>(parameter of the overloaded = function)</a:t>
            </a:r>
          </a:p>
        </p:txBody>
      </p:sp>
      <p:sp>
        <p:nvSpPr>
          <p:cNvPr id="4" name="Footer Placeholder 3">
            <a:extLst>
              <a:ext uri="{FF2B5EF4-FFF2-40B4-BE49-F238E27FC236}">
                <a16:creationId xmlns:a16="http://schemas.microsoft.com/office/drawing/2014/main" id="{BB4BA2B4-F8B5-040D-D5C2-FCADB96D782A}"/>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F0E88BB1-B679-74A7-5452-706C51E39EFA}"/>
              </a:ext>
            </a:extLst>
          </p:cNvPr>
          <p:cNvSpPr>
            <a:spLocks noGrp="1"/>
          </p:cNvSpPr>
          <p:nvPr>
            <p:ph type="sldNum" sz="quarter" idx="12"/>
          </p:nvPr>
        </p:nvSpPr>
        <p:spPr/>
        <p:txBody>
          <a:bodyPr/>
          <a:lstStyle/>
          <a:p>
            <a:fld id="{51845F5A-061D-4825-9AE9-D7794091C6CF}" type="slidenum">
              <a:rPr lang="en-US" smtClean="0"/>
              <a:t>39</a:t>
            </a:fld>
            <a:endParaRPr lang="en-US" dirty="0"/>
          </a:p>
        </p:txBody>
      </p:sp>
      <p:cxnSp>
        <p:nvCxnSpPr>
          <p:cNvPr id="6" name="Straight Arrow Connector 5">
            <a:extLst>
              <a:ext uri="{FF2B5EF4-FFF2-40B4-BE49-F238E27FC236}">
                <a16:creationId xmlns:a16="http://schemas.microsoft.com/office/drawing/2014/main" id="{B65021F3-9BAD-4A83-75D9-868FF069CFC0}"/>
              </a:ext>
            </a:extLst>
          </p:cNvPr>
          <p:cNvCxnSpPr>
            <a:cxnSpLocks/>
          </p:cNvCxnSpPr>
          <p:nvPr/>
        </p:nvCxnSpPr>
        <p:spPr>
          <a:xfrm flipH="1" flipV="1">
            <a:off x="2280458" y="4091940"/>
            <a:ext cx="7023562" cy="1143000"/>
          </a:xfrm>
          <a:prstGeom prst="straightConnector1">
            <a:avLst/>
          </a:prstGeom>
          <a:ln w="28575">
            <a:solidFill>
              <a:srgbClr val="FF0000"/>
            </a:solidFill>
            <a:tailEnd type="triangle"/>
          </a:ln>
          <a:effectLst/>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0BC2C665-D905-F32E-5175-25871A041235}"/>
              </a:ext>
            </a:extLst>
          </p:cNvPr>
          <p:cNvCxnSpPr>
            <a:cxnSpLocks/>
          </p:cNvCxnSpPr>
          <p:nvPr/>
        </p:nvCxnSpPr>
        <p:spPr>
          <a:xfrm flipV="1">
            <a:off x="2011680" y="4091940"/>
            <a:ext cx="1074420" cy="1474470"/>
          </a:xfrm>
          <a:prstGeom prst="straightConnector1">
            <a:avLst/>
          </a:prstGeom>
          <a:ln w="28575">
            <a:solidFill>
              <a:srgbClr val="0070C0"/>
            </a:solidFill>
            <a:tailEnd type="triangle"/>
          </a:ln>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312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8124-E313-7AD5-FB49-2222574538F6}"/>
              </a:ext>
            </a:extLst>
          </p:cNvPr>
          <p:cNvSpPr>
            <a:spLocks noGrp="1"/>
          </p:cNvSpPr>
          <p:nvPr>
            <p:ph type="title"/>
          </p:nvPr>
        </p:nvSpPr>
        <p:spPr/>
        <p:txBody>
          <a:bodyPr/>
          <a:lstStyle/>
          <a:p>
            <a:r>
              <a:rPr lang="en-US" dirty="0"/>
              <a:t>Assignment Operator =</a:t>
            </a:r>
            <a:endParaRPr lang="en-PK" dirty="0"/>
          </a:p>
        </p:txBody>
      </p:sp>
      <p:sp>
        <p:nvSpPr>
          <p:cNvPr id="3" name="Content Placeholder 2">
            <a:extLst>
              <a:ext uri="{FF2B5EF4-FFF2-40B4-BE49-F238E27FC236}">
                <a16:creationId xmlns:a16="http://schemas.microsoft.com/office/drawing/2014/main" id="{A039FEBA-5336-AF7A-915B-F117DDAB969A}"/>
              </a:ext>
            </a:extLst>
          </p:cNvPr>
          <p:cNvSpPr>
            <a:spLocks noGrp="1"/>
          </p:cNvSpPr>
          <p:nvPr>
            <p:ph idx="1"/>
          </p:nvPr>
        </p:nvSpPr>
        <p:spPr>
          <a:xfrm>
            <a:off x="838200" y="1690689"/>
            <a:ext cx="10515600" cy="5030787"/>
          </a:xfrm>
        </p:spPr>
        <p:txBody>
          <a:bodyPr>
            <a:normAutofit lnSpcReduction="10000"/>
          </a:bodyPr>
          <a:lstStyle/>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class Employee</a:t>
            </a: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private:</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int </a:t>
            </a:r>
            <a:r>
              <a:rPr lang="en-US" sz="2000" b="1" kern="0" dirty="0" err="1">
                <a:latin typeface="Consolas" panose="020B0609020204030204" pitchFamily="49" charset="0"/>
                <a:cs typeface="Tahoma" pitchFamily="34" charset="0"/>
              </a:rPr>
              <a:t>idNum</a:t>
            </a:r>
            <a:r>
              <a:rPr lang="en-US" sz="2000" b="1" kern="0" dirty="0">
                <a:latin typeface="Consolas" panose="020B0609020204030204" pitchFamily="49" charset="0"/>
                <a:cs typeface="Tahoma" pitchFamily="34" charset="0"/>
              </a:rPr>
              <a:t>;</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double salary;</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public:</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Employee ( ) { </a:t>
            </a:r>
            <a:r>
              <a:rPr lang="en-US" sz="2000" b="1" kern="0" dirty="0" err="1">
                <a:latin typeface="Consolas" panose="020B0609020204030204" pitchFamily="49" charset="0"/>
                <a:cs typeface="Tahoma" pitchFamily="34" charset="0"/>
              </a:rPr>
              <a:t>idNum</a:t>
            </a:r>
            <a:r>
              <a:rPr lang="en-US" sz="2000" b="1" kern="0" dirty="0">
                <a:latin typeface="Consolas" panose="020B0609020204030204" pitchFamily="49" charset="0"/>
                <a:cs typeface="Tahoma" pitchFamily="34" charset="0"/>
              </a:rPr>
              <a:t> = 0, salary  = 0.0; }</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void </a:t>
            </a:r>
            <a:r>
              <a:rPr lang="en-US" sz="2000" b="1" kern="0" dirty="0" err="1">
                <a:latin typeface="Consolas" panose="020B0609020204030204" pitchFamily="49" charset="0"/>
                <a:cs typeface="Tahoma" pitchFamily="34" charset="0"/>
              </a:rPr>
              <a:t>setValues</a:t>
            </a:r>
            <a:r>
              <a:rPr lang="en-US" sz="2000" b="1" kern="0" dirty="0">
                <a:latin typeface="Consolas" panose="020B0609020204030204" pitchFamily="49" charset="0"/>
                <a:cs typeface="Tahoma" pitchFamily="34" charset="0"/>
              </a:rPr>
              <a:t> (int a, int b);</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double </a:t>
            </a:r>
            <a:r>
              <a:rPr lang="en-US" sz="2000" b="1" kern="0" dirty="0" err="1">
                <a:latin typeface="Consolas" panose="020B0609020204030204" pitchFamily="49" charset="0"/>
                <a:cs typeface="Tahoma" pitchFamily="34" charset="0"/>
              </a:rPr>
              <a:t>getSalary</a:t>
            </a:r>
            <a:r>
              <a:rPr lang="en-US" sz="2000" b="1" kern="0" dirty="0">
                <a:latin typeface="Consolas" panose="020B0609020204030204" pitchFamily="49" charset="0"/>
                <a:cs typeface="Tahoma" pitchFamily="34" charset="0"/>
              </a:rPr>
              <a:t>() { return salary }</a:t>
            </a:r>
          </a:p>
          <a:p>
            <a:pPr marL="457200" lvl="1" indent="0" eaLnBrk="0" hangingPunct="0">
              <a:lnSpc>
                <a:spcPct val="80000"/>
              </a:lnSpc>
              <a:spcBef>
                <a:spcPct val="20000"/>
              </a:spcBef>
              <a:buNone/>
              <a:defRPr/>
            </a:pPr>
            <a:r>
              <a:rPr lang="en-US" sz="2000" b="1" kern="0" dirty="0">
                <a:solidFill>
                  <a:srgbClr val="FF3300"/>
                </a:solidFill>
                <a:latin typeface="Consolas" panose="020B0609020204030204" pitchFamily="49" charset="0"/>
                <a:cs typeface="Tahoma" pitchFamily="34" charset="0"/>
              </a:rPr>
              <a:t>	  </a:t>
            </a:r>
            <a:r>
              <a:rPr lang="en-US" sz="2000" b="1" kern="0" dirty="0">
                <a:solidFill>
                  <a:srgbClr val="0070C0"/>
                </a:solidFill>
                <a:latin typeface="Consolas" panose="020B0609020204030204" pitchFamily="49" charset="0"/>
                <a:cs typeface="Tahoma" pitchFamily="34" charset="0"/>
              </a:rPr>
              <a:t>void operator= (Employee &amp;emp );</a:t>
            </a: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a:t>
            </a:r>
          </a:p>
          <a:p>
            <a:pPr marL="0" indent="0" eaLnBrk="0" hangingPunct="0">
              <a:lnSpc>
                <a:spcPct val="80000"/>
              </a:lnSpc>
              <a:spcBef>
                <a:spcPct val="20000"/>
              </a:spcBef>
              <a:buNone/>
              <a:defRPr/>
            </a:pPr>
            <a:endParaRPr lang="en-US" sz="2000" b="1" kern="0" dirty="0">
              <a:latin typeface="Consolas" panose="020B0609020204030204" pitchFamily="49" charset="0"/>
              <a:cs typeface="Tahoma" pitchFamily="34" charset="0"/>
            </a:endParaRP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void Employee::</a:t>
            </a:r>
            <a:r>
              <a:rPr lang="en-US" sz="2000" b="1" kern="0" dirty="0" err="1">
                <a:latin typeface="Consolas" panose="020B0609020204030204" pitchFamily="49" charset="0"/>
                <a:cs typeface="Tahoma" pitchFamily="34" charset="0"/>
              </a:rPr>
              <a:t>setValues</a:t>
            </a:r>
            <a:r>
              <a:rPr lang="en-US" sz="2000" b="1" kern="0" dirty="0">
                <a:latin typeface="Consolas" panose="020B0609020204030204" pitchFamily="49" charset="0"/>
                <a:cs typeface="Tahoma" pitchFamily="34" charset="0"/>
              </a:rPr>
              <a:t> ( int </a:t>
            </a:r>
            <a:r>
              <a:rPr lang="en-US" sz="2000" b="1" kern="0" dirty="0" err="1">
                <a:latin typeface="Consolas" panose="020B0609020204030204" pitchFamily="49" charset="0"/>
                <a:cs typeface="Tahoma" pitchFamily="34" charset="0"/>
              </a:rPr>
              <a:t>idN</a:t>
            </a:r>
            <a:r>
              <a:rPr lang="en-US" sz="2000" b="1" kern="0" dirty="0">
                <a:latin typeface="Consolas" panose="020B0609020204030204" pitchFamily="49" charset="0"/>
                <a:cs typeface="Tahoma" pitchFamily="34" charset="0"/>
              </a:rPr>
              <a:t> , double </a:t>
            </a:r>
            <a:r>
              <a:rPr lang="en-US" sz="2000" b="1" kern="0" dirty="0" err="1">
                <a:latin typeface="Consolas" panose="020B0609020204030204" pitchFamily="49" charset="0"/>
                <a:cs typeface="Tahoma" pitchFamily="34" charset="0"/>
              </a:rPr>
              <a:t>sal</a:t>
            </a:r>
            <a:r>
              <a:rPr lang="en-US" sz="2000" b="1" kern="0" dirty="0">
                <a:latin typeface="Consolas" panose="020B0609020204030204" pitchFamily="49" charset="0"/>
                <a:cs typeface="Tahoma" pitchFamily="34" charset="0"/>
              </a:rPr>
              <a:t> )</a:t>
            </a: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salary = </a:t>
            </a:r>
            <a:r>
              <a:rPr lang="en-US" sz="2000" b="1" kern="0" dirty="0" err="1">
                <a:latin typeface="Consolas" panose="020B0609020204030204" pitchFamily="49" charset="0"/>
                <a:cs typeface="Tahoma" pitchFamily="34" charset="0"/>
              </a:rPr>
              <a:t>sal</a:t>
            </a:r>
            <a:r>
              <a:rPr lang="en-US" sz="2000" b="1" kern="0" dirty="0">
                <a:latin typeface="Consolas" panose="020B0609020204030204" pitchFamily="49" charset="0"/>
                <a:cs typeface="Tahoma" pitchFamily="34" charset="0"/>
              </a:rPr>
              <a:t>; 	</a:t>
            </a:r>
            <a:r>
              <a:rPr lang="en-US" sz="2000" b="1" kern="0" dirty="0" err="1">
                <a:latin typeface="Consolas" panose="020B0609020204030204" pitchFamily="49" charset="0"/>
                <a:cs typeface="Tahoma" pitchFamily="34" charset="0"/>
              </a:rPr>
              <a:t>idNum</a:t>
            </a:r>
            <a:r>
              <a:rPr lang="en-US" sz="2000" b="1" kern="0" dirty="0">
                <a:latin typeface="Consolas" panose="020B0609020204030204" pitchFamily="49" charset="0"/>
                <a:cs typeface="Tahoma" pitchFamily="34" charset="0"/>
              </a:rPr>
              <a:t>  = </a:t>
            </a:r>
            <a:r>
              <a:rPr lang="en-US" sz="2000" b="1" kern="0" dirty="0" err="1">
                <a:latin typeface="Consolas" panose="020B0609020204030204" pitchFamily="49" charset="0"/>
                <a:cs typeface="Tahoma" pitchFamily="34" charset="0"/>
              </a:rPr>
              <a:t>idN</a:t>
            </a:r>
            <a:r>
              <a:rPr lang="en-US" sz="2000" b="1" kern="0" dirty="0">
                <a:latin typeface="Consolas" panose="020B0609020204030204" pitchFamily="49" charset="0"/>
                <a:cs typeface="Tahoma" pitchFamily="34" charset="0"/>
              </a:rPr>
              <a:t>; 	}</a:t>
            </a:r>
          </a:p>
          <a:p>
            <a:pPr marL="0" indent="0" eaLnBrk="0" hangingPunct="0">
              <a:lnSpc>
                <a:spcPct val="80000"/>
              </a:lnSpc>
              <a:spcBef>
                <a:spcPct val="20000"/>
              </a:spcBef>
              <a:buNone/>
              <a:defRPr/>
            </a:pPr>
            <a:endParaRPr lang="en-US" sz="2000" b="1" kern="0" dirty="0">
              <a:latin typeface="Consolas" panose="020B0609020204030204" pitchFamily="49" charset="0"/>
              <a:cs typeface="Tahoma" pitchFamily="34" charset="0"/>
            </a:endParaRPr>
          </a:p>
          <a:p>
            <a:pPr marL="0" indent="0" eaLnBrk="0" hangingPunct="0">
              <a:lnSpc>
                <a:spcPct val="80000"/>
              </a:lnSpc>
              <a:spcBef>
                <a:spcPct val="20000"/>
              </a:spcBef>
              <a:buNone/>
              <a:defRPr/>
            </a:pPr>
            <a:endParaRPr lang="en-US" sz="2000" b="1" kern="0" dirty="0">
              <a:latin typeface="Consolas" panose="020B0609020204030204" pitchFamily="49" charset="0"/>
              <a:cs typeface="Tahoma" pitchFamily="34" charset="0"/>
            </a:endParaRPr>
          </a:p>
          <a:p>
            <a:pPr marL="0" indent="0" eaLnBrk="0" hangingPunct="0">
              <a:lnSpc>
                <a:spcPct val="80000"/>
              </a:lnSpc>
              <a:spcBef>
                <a:spcPct val="20000"/>
              </a:spcBef>
              <a:buNone/>
              <a:defRPr/>
            </a:pPr>
            <a:r>
              <a:rPr lang="en-US" sz="2000" b="1" kern="0" dirty="0">
                <a:solidFill>
                  <a:srgbClr val="0070C0"/>
                </a:solidFill>
                <a:latin typeface="Consolas" panose="020B0609020204030204" pitchFamily="49" charset="0"/>
                <a:cs typeface="ＭＳ Ｐゴシック" charset="0"/>
              </a:rPr>
              <a:t>void Employee::operator = (Employee &amp;emp)</a:t>
            </a:r>
          </a:p>
          <a:p>
            <a:pPr marL="0" indent="0" eaLnBrk="0" hangingPunct="0">
              <a:lnSpc>
                <a:spcPct val="80000"/>
              </a:lnSpc>
              <a:spcBef>
                <a:spcPct val="20000"/>
              </a:spcBef>
              <a:buNone/>
              <a:defRPr/>
            </a:pPr>
            <a:r>
              <a:rPr lang="en-US" sz="2000" b="1" kern="0" dirty="0">
                <a:latin typeface="Consolas" panose="020B0609020204030204" pitchFamily="49" charset="0"/>
                <a:cs typeface="ＭＳ Ｐゴシック" charset="0"/>
              </a:rPr>
              <a:t>{ 		salary = </a:t>
            </a:r>
            <a:r>
              <a:rPr lang="en-US" sz="2000" b="1" kern="0" dirty="0" err="1">
                <a:latin typeface="Consolas" panose="020B0609020204030204" pitchFamily="49" charset="0"/>
                <a:cs typeface="ＭＳ Ｐゴシック" charset="0"/>
              </a:rPr>
              <a:t>emp.getSalary</a:t>
            </a:r>
            <a:r>
              <a:rPr lang="en-US" sz="2000" b="1" kern="0" dirty="0">
                <a:latin typeface="Consolas" panose="020B0609020204030204" pitchFamily="49" charset="0"/>
                <a:cs typeface="ＭＳ Ｐゴシック" charset="0"/>
              </a:rPr>
              <a:t>();        }</a:t>
            </a:r>
          </a:p>
        </p:txBody>
      </p:sp>
      <p:sp>
        <p:nvSpPr>
          <p:cNvPr id="4" name="Footer Placeholder 3">
            <a:extLst>
              <a:ext uri="{FF2B5EF4-FFF2-40B4-BE49-F238E27FC236}">
                <a16:creationId xmlns:a16="http://schemas.microsoft.com/office/drawing/2014/main" id="{99FE9AF7-A624-102D-88CE-98668E09F30F}"/>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F87B1F52-6C9D-6C70-D611-637E233368F3}"/>
              </a:ext>
            </a:extLst>
          </p:cNvPr>
          <p:cNvSpPr>
            <a:spLocks noGrp="1"/>
          </p:cNvSpPr>
          <p:nvPr>
            <p:ph type="sldNum" sz="quarter" idx="12"/>
          </p:nvPr>
        </p:nvSpPr>
        <p:spPr/>
        <p:txBody>
          <a:bodyPr/>
          <a:lstStyle/>
          <a:p>
            <a:fld id="{51845F5A-061D-4825-9AE9-D7794091C6CF}" type="slidenum">
              <a:rPr lang="en-US" smtClean="0"/>
              <a:t>40</a:t>
            </a:fld>
            <a:endParaRPr lang="en-US" dirty="0"/>
          </a:p>
        </p:txBody>
      </p:sp>
    </p:spTree>
    <p:extLst>
      <p:ext uri="{BB962C8B-B14F-4D97-AF65-F5344CB8AC3E}">
        <p14:creationId xmlns:p14="http://schemas.microsoft.com/office/powerpoint/2010/main" val="800798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0B5FD-BDE1-FC0A-EEF4-E2FA2B1CE345}"/>
              </a:ext>
            </a:extLst>
          </p:cNvPr>
          <p:cNvSpPr>
            <a:spLocks noGrp="1"/>
          </p:cNvSpPr>
          <p:nvPr>
            <p:ph type="title"/>
          </p:nvPr>
        </p:nvSpPr>
        <p:spPr/>
        <p:txBody>
          <a:bodyPr/>
          <a:lstStyle/>
          <a:p>
            <a:r>
              <a:rPr lang="en-US" dirty="0"/>
              <a:t>Assignment Operator =</a:t>
            </a:r>
            <a:endParaRPr lang="en-PK" dirty="0"/>
          </a:p>
        </p:txBody>
      </p:sp>
      <p:sp>
        <p:nvSpPr>
          <p:cNvPr id="3" name="Content Placeholder 2">
            <a:extLst>
              <a:ext uri="{FF2B5EF4-FFF2-40B4-BE49-F238E27FC236}">
                <a16:creationId xmlns:a16="http://schemas.microsoft.com/office/drawing/2014/main" id="{FF257D76-F41C-DB85-6EB2-6A14C537B897}"/>
              </a:ext>
            </a:extLst>
          </p:cNvPr>
          <p:cNvSpPr>
            <a:spLocks noGrp="1"/>
          </p:cNvSpPr>
          <p:nvPr>
            <p:ph idx="1"/>
          </p:nvPr>
        </p:nvSpPr>
        <p:spPr/>
        <p:txBody>
          <a:bodyPr>
            <a:normAutofit fontScale="92500" lnSpcReduction="20000"/>
          </a:bodyPr>
          <a:lstStyle/>
          <a:p>
            <a:pPr marL="0" indent="0" eaLnBrk="1" hangingPunct="1">
              <a:buNone/>
            </a:pPr>
            <a:r>
              <a:rPr lang="en-US" sz="2800" b="1" dirty="0">
                <a:latin typeface="Consolas" panose="020B0609020204030204" pitchFamily="49" charset="0"/>
              </a:rPr>
              <a:t>int main ( )</a:t>
            </a:r>
          </a:p>
          <a:p>
            <a:pPr marL="0" indent="0" eaLnBrk="1" hangingPunct="1">
              <a:buNone/>
            </a:pPr>
            <a:r>
              <a:rPr lang="en-US" sz="2800" b="1" dirty="0">
                <a:latin typeface="Consolas" panose="020B0609020204030204" pitchFamily="49" charset="0"/>
              </a:rPr>
              <a:t>{</a:t>
            </a:r>
          </a:p>
          <a:p>
            <a:pPr marL="0" indent="0" eaLnBrk="1" hangingPunct="1">
              <a:buNone/>
            </a:pPr>
            <a:r>
              <a:rPr lang="en-US" sz="2800" b="1" dirty="0">
                <a:latin typeface="Consolas" panose="020B0609020204030204" pitchFamily="49" charset="0"/>
              </a:rPr>
              <a:t>	Employee emp1;</a:t>
            </a:r>
          </a:p>
          <a:p>
            <a:pPr marL="0" indent="0" eaLnBrk="1" hangingPunct="1">
              <a:buNone/>
            </a:pPr>
            <a:r>
              <a:rPr lang="en-US" sz="2800" b="1" dirty="0">
                <a:latin typeface="Consolas" panose="020B0609020204030204" pitchFamily="49" charset="0"/>
              </a:rPr>
              <a:t>	emp1.setValues(10,33.5);</a:t>
            </a:r>
          </a:p>
          <a:p>
            <a:pPr marL="0" indent="0" eaLnBrk="1" hangingPunct="1">
              <a:buNone/>
            </a:pPr>
            <a:endParaRPr lang="en-US" sz="2800" b="1" dirty="0">
              <a:latin typeface="Consolas" panose="020B0609020204030204" pitchFamily="49" charset="0"/>
            </a:endParaRPr>
          </a:p>
          <a:p>
            <a:pPr marL="0" indent="0" eaLnBrk="1" hangingPunct="1">
              <a:buNone/>
            </a:pPr>
            <a:r>
              <a:rPr lang="en-US" sz="2800" b="1" dirty="0">
                <a:latin typeface="Consolas" panose="020B0609020204030204" pitchFamily="49" charset="0"/>
              </a:rPr>
              <a:t>	Employee emp2;</a:t>
            </a:r>
          </a:p>
          <a:p>
            <a:pPr marL="0" indent="0" eaLnBrk="1" hangingPunct="1">
              <a:buNone/>
            </a:pPr>
            <a:r>
              <a:rPr lang="en-US" sz="2800" b="1" dirty="0">
                <a:latin typeface="Consolas" panose="020B0609020204030204" pitchFamily="49" charset="0"/>
              </a:rPr>
              <a:t>	emp2 = emp1; </a:t>
            </a:r>
            <a:r>
              <a:rPr lang="en-US" sz="2800" b="1" i="1" dirty="0">
                <a:solidFill>
                  <a:srgbClr val="FF0000"/>
                </a:solidFill>
                <a:latin typeface="Consolas" panose="020B0609020204030204" pitchFamily="49" charset="0"/>
              </a:rPr>
              <a:t>// emp2 is calling object</a:t>
            </a:r>
          </a:p>
          <a:p>
            <a:pPr marL="0" indent="0" eaLnBrk="1" hangingPunct="1">
              <a:buNone/>
            </a:pPr>
            <a:r>
              <a:rPr lang="en-US" sz="2800" b="1" dirty="0">
                <a:latin typeface="Consolas" panose="020B0609020204030204" pitchFamily="49" charset="0"/>
              </a:rPr>
              <a:t>	</a:t>
            </a:r>
          </a:p>
          <a:p>
            <a:pPr marL="0" indent="0" eaLnBrk="1" hangingPunct="1">
              <a:buNone/>
            </a:pPr>
            <a:r>
              <a:rPr lang="en-US" sz="2800" b="1" dirty="0">
                <a:latin typeface="Consolas" panose="020B0609020204030204" pitchFamily="49" charset="0"/>
              </a:rPr>
              <a:t>}</a:t>
            </a:r>
          </a:p>
          <a:p>
            <a:pPr marL="0" indent="0">
              <a:buNone/>
            </a:pPr>
            <a:endParaRPr lang="en-US" sz="2800" b="1" dirty="0">
              <a:latin typeface="Consolas" panose="020B0609020204030204" pitchFamily="49" charset="0"/>
            </a:endParaRPr>
          </a:p>
        </p:txBody>
      </p:sp>
      <p:sp>
        <p:nvSpPr>
          <p:cNvPr id="4" name="Footer Placeholder 3">
            <a:extLst>
              <a:ext uri="{FF2B5EF4-FFF2-40B4-BE49-F238E27FC236}">
                <a16:creationId xmlns:a16="http://schemas.microsoft.com/office/drawing/2014/main" id="{27CC7130-4DAC-F085-F90D-AB3D19A22F45}"/>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C58B400F-8F52-F307-4784-551E9391B0E6}"/>
              </a:ext>
            </a:extLst>
          </p:cNvPr>
          <p:cNvSpPr>
            <a:spLocks noGrp="1"/>
          </p:cNvSpPr>
          <p:nvPr>
            <p:ph type="sldNum" sz="quarter" idx="12"/>
          </p:nvPr>
        </p:nvSpPr>
        <p:spPr/>
        <p:txBody>
          <a:bodyPr/>
          <a:lstStyle/>
          <a:p>
            <a:fld id="{51845F5A-061D-4825-9AE9-D7794091C6CF}" type="slidenum">
              <a:rPr lang="en-US" smtClean="0"/>
              <a:t>41</a:t>
            </a:fld>
            <a:endParaRPr lang="en-US" dirty="0"/>
          </a:p>
        </p:txBody>
      </p:sp>
    </p:spTree>
    <p:extLst>
      <p:ext uri="{BB962C8B-B14F-4D97-AF65-F5344CB8AC3E}">
        <p14:creationId xmlns:p14="http://schemas.microsoft.com/office/powerpoint/2010/main" val="24858957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2B24AB1-04FF-A0FD-440C-F73ACF19EA4D}"/>
              </a:ext>
            </a:extLst>
          </p:cNvPr>
          <p:cNvSpPr>
            <a:spLocks noGrp="1"/>
          </p:cNvSpPr>
          <p:nvPr>
            <p:ph type="ftr" sz="quarter" idx="11"/>
          </p:nvPr>
        </p:nvSpPr>
        <p:spPr/>
        <p:txBody>
          <a:bodyPr/>
          <a:lstStyle/>
          <a:p>
            <a:r>
              <a:rPr lang="en-US"/>
              <a:t>Object Oriented Programming-Spring 24</a:t>
            </a:r>
          </a:p>
        </p:txBody>
      </p:sp>
      <p:sp>
        <p:nvSpPr>
          <p:cNvPr id="3" name="Slide Number Placeholder 2">
            <a:extLst>
              <a:ext uri="{FF2B5EF4-FFF2-40B4-BE49-F238E27FC236}">
                <a16:creationId xmlns:a16="http://schemas.microsoft.com/office/drawing/2014/main" id="{14C240CB-CC31-2DD6-AA1E-442E38FEDF0E}"/>
              </a:ext>
            </a:extLst>
          </p:cNvPr>
          <p:cNvSpPr>
            <a:spLocks noGrp="1"/>
          </p:cNvSpPr>
          <p:nvPr>
            <p:ph type="sldNum" sz="quarter" idx="12"/>
          </p:nvPr>
        </p:nvSpPr>
        <p:spPr/>
        <p:txBody>
          <a:bodyPr/>
          <a:lstStyle/>
          <a:p>
            <a:fld id="{51845F5A-061D-4825-9AE9-D7794091C6CF}" type="slidenum">
              <a:rPr lang="en-US" smtClean="0"/>
              <a:t>42</a:t>
            </a:fld>
            <a:endParaRPr lang="en-US"/>
          </a:p>
        </p:txBody>
      </p:sp>
      <p:pic>
        <p:nvPicPr>
          <p:cNvPr id="4" name="Picture 3">
            <a:extLst>
              <a:ext uri="{FF2B5EF4-FFF2-40B4-BE49-F238E27FC236}">
                <a16:creationId xmlns:a16="http://schemas.microsoft.com/office/drawing/2014/main" id="{3B115B61-FBF0-0145-A84D-0E74A9CF52AA}"/>
              </a:ext>
            </a:extLst>
          </p:cNvPr>
          <p:cNvPicPr>
            <a:picLocks noChangeAspect="1"/>
          </p:cNvPicPr>
          <p:nvPr/>
        </p:nvPicPr>
        <p:blipFill>
          <a:blip r:embed="rId2"/>
          <a:stretch>
            <a:fillRect/>
          </a:stretch>
        </p:blipFill>
        <p:spPr>
          <a:xfrm>
            <a:off x="1590665" y="72861"/>
            <a:ext cx="9010669" cy="6712278"/>
          </a:xfrm>
          <a:prstGeom prst="rect">
            <a:avLst/>
          </a:prstGeom>
        </p:spPr>
      </p:pic>
    </p:spTree>
    <p:extLst>
      <p:ext uri="{BB962C8B-B14F-4D97-AF65-F5344CB8AC3E}">
        <p14:creationId xmlns:p14="http://schemas.microsoft.com/office/powerpoint/2010/main" val="24492039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C6744D-8604-209C-D533-756213D0B3AF}"/>
              </a:ext>
            </a:extLst>
          </p:cNvPr>
          <p:cNvSpPr>
            <a:spLocks noGrp="1"/>
          </p:cNvSpPr>
          <p:nvPr>
            <p:ph type="ftr" sz="quarter" idx="11"/>
          </p:nvPr>
        </p:nvSpPr>
        <p:spPr/>
        <p:txBody>
          <a:bodyPr/>
          <a:lstStyle/>
          <a:p>
            <a:r>
              <a:rPr lang="en-US"/>
              <a:t>Object Oriented Programming-Spring 24</a:t>
            </a:r>
          </a:p>
        </p:txBody>
      </p:sp>
      <p:sp>
        <p:nvSpPr>
          <p:cNvPr id="3" name="Slide Number Placeholder 2">
            <a:extLst>
              <a:ext uri="{FF2B5EF4-FFF2-40B4-BE49-F238E27FC236}">
                <a16:creationId xmlns:a16="http://schemas.microsoft.com/office/drawing/2014/main" id="{F51D3E57-2E0C-F6A7-ED01-40E6A517CB5A}"/>
              </a:ext>
            </a:extLst>
          </p:cNvPr>
          <p:cNvSpPr>
            <a:spLocks noGrp="1"/>
          </p:cNvSpPr>
          <p:nvPr>
            <p:ph type="sldNum" sz="quarter" idx="12"/>
          </p:nvPr>
        </p:nvSpPr>
        <p:spPr/>
        <p:txBody>
          <a:bodyPr/>
          <a:lstStyle/>
          <a:p>
            <a:fld id="{51845F5A-061D-4825-9AE9-D7794091C6CF}" type="slidenum">
              <a:rPr lang="en-US" smtClean="0"/>
              <a:t>43</a:t>
            </a:fld>
            <a:endParaRPr lang="en-US"/>
          </a:p>
        </p:txBody>
      </p:sp>
      <p:pic>
        <p:nvPicPr>
          <p:cNvPr id="5" name="Picture 4">
            <a:extLst>
              <a:ext uri="{FF2B5EF4-FFF2-40B4-BE49-F238E27FC236}">
                <a16:creationId xmlns:a16="http://schemas.microsoft.com/office/drawing/2014/main" id="{2BB384DE-EB3C-5F3D-5F62-118825A263E5}"/>
              </a:ext>
            </a:extLst>
          </p:cNvPr>
          <p:cNvPicPr>
            <a:picLocks noChangeAspect="1"/>
          </p:cNvPicPr>
          <p:nvPr/>
        </p:nvPicPr>
        <p:blipFill>
          <a:blip r:embed="rId2"/>
          <a:stretch>
            <a:fillRect/>
          </a:stretch>
        </p:blipFill>
        <p:spPr>
          <a:xfrm>
            <a:off x="1590665" y="72861"/>
            <a:ext cx="9010669" cy="6712278"/>
          </a:xfrm>
          <a:prstGeom prst="rect">
            <a:avLst/>
          </a:prstGeom>
        </p:spPr>
      </p:pic>
    </p:spTree>
    <p:extLst>
      <p:ext uri="{BB962C8B-B14F-4D97-AF65-F5344CB8AC3E}">
        <p14:creationId xmlns:p14="http://schemas.microsoft.com/office/powerpoint/2010/main" val="446833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F40B2-FAD4-C882-6349-546301F1E77A}"/>
              </a:ext>
            </a:extLst>
          </p:cNvPr>
          <p:cNvSpPr>
            <a:spLocks noGrp="1"/>
          </p:cNvSpPr>
          <p:nvPr>
            <p:ph type="title"/>
          </p:nvPr>
        </p:nvSpPr>
        <p:spPr/>
        <p:txBody>
          <a:bodyPr/>
          <a:lstStyle/>
          <a:p>
            <a:r>
              <a:rPr lang="en-US" dirty="0"/>
              <a:t>Comparison Operator ==</a:t>
            </a:r>
            <a:endParaRPr lang="en-PK" dirty="0"/>
          </a:p>
        </p:txBody>
      </p:sp>
      <p:sp>
        <p:nvSpPr>
          <p:cNvPr id="3" name="Content Placeholder 2">
            <a:extLst>
              <a:ext uri="{FF2B5EF4-FFF2-40B4-BE49-F238E27FC236}">
                <a16:creationId xmlns:a16="http://schemas.microsoft.com/office/drawing/2014/main" id="{4FF87141-145B-1FC9-BECD-7CD5F24F5837}"/>
              </a:ext>
            </a:extLst>
          </p:cNvPr>
          <p:cNvSpPr>
            <a:spLocks noGrp="1"/>
          </p:cNvSpPr>
          <p:nvPr>
            <p:ph idx="1"/>
          </p:nvPr>
        </p:nvSpPr>
        <p:spPr>
          <a:xfrm>
            <a:off x="838200" y="1690689"/>
            <a:ext cx="10515600" cy="5030787"/>
          </a:xfrm>
        </p:spPr>
        <p:txBody>
          <a:bodyPr>
            <a:normAutofit lnSpcReduction="10000"/>
          </a:bodyPr>
          <a:lstStyle/>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class Employee</a:t>
            </a: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private:</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int </a:t>
            </a:r>
            <a:r>
              <a:rPr lang="en-US" sz="2000" b="1" kern="0" dirty="0" err="1">
                <a:latin typeface="Consolas" panose="020B0609020204030204" pitchFamily="49" charset="0"/>
                <a:cs typeface="Tahoma" pitchFamily="34" charset="0"/>
              </a:rPr>
              <a:t>idNum</a:t>
            </a:r>
            <a:r>
              <a:rPr lang="en-US" sz="2000" b="1" kern="0" dirty="0">
                <a:latin typeface="Consolas" panose="020B0609020204030204" pitchFamily="49" charset="0"/>
                <a:cs typeface="Tahoma" pitchFamily="34" charset="0"/>
              </a:rPr>
              <a:t>;</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double salary;</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public:</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Employee ( ) { </a:t>
            </a:r>
            <a:r>
              <a:rPr lang="en-US" sz="2000" b="1" kern="0" dirty="0" err="1">
                <a:latin typeface="Consolas" panose="020B0609020204030204" pitchFamily="49" charset="0"/>
                <a:cs typeface="Tahoma" pitchFamily="34" charset="0"/>
              </a:rPr>
              <a:t>idNum</a:t>
            </a:r>
            <a:r>
              <a:rPr lang="en-US" sz="2000" b="1" kern="0" dirty="0">
                <a:latin typeface="Consolas" panose="020B0609020204030204" pitchFamily="49" charset="0"/>
                <a:cs typeface="Tahoma" pitchFamily="34" charset="0"/>
              </a:rPr>
              <a:t> = 0, salary  = 0.0; }</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void </a:t>
            </a:r>
            <a:r>
              <a:rPr lang="en-US" sz="2000" b="1" kern="0" dirty="0" err="1">
                <a:latin typeface="Consolas" panose="020B0609020204030204" pitchFamily="49" charset="0"/>
                <a:cs typeface="Tahoma" pitchFamily="34" charset="0"/>
              </a:rPr>
              <a:t>setValues</a:t>
            </a:r>
            <a:r>
              <a:rPr lang="en-US" sz="2000" b="1" kern="0" dirty="0">
                <a:latin typeface="Consolas" panose="020B0609020204030204" pitchFamily="49" charset="0"/>
                <a:cs typeface="Tahoma" pitchFamily="34" charset="0"/>
              </a:rPr>
              <a:t> (int a, int b);</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double </a:t>
            </a:r>
            <a:r>
              <a:rPr lang="en-US" sz="2000" b="1" kern="0" dirty="0" err="1">
                <a:latin typeface="Consolas" panose="020B0609020204030204" pitchFamily="49" charset="0"/>
                <a:cs typeface="Tahoma" pitchFamily="34" charset="0"/>
              </a:rPr>
              <a:t>getSalary</a:t>
            </a:r>
            <a:r>
              <a:rPr lang="en-US" sz="2000" b="1" kern="0" dirty="0">
                <a:latin typeface="Consolas" panose="020B0609020204030204" pitchFamily="49" charset="0"/>
                <a:cs typeface="Tahoma" pitchFamily="34" charset="0"/>
              </a:rPr>
              <a:t>() { return salary }</a:t>
            </a:r>
          </a:p>
          <a:p>
            <a:pPr marL="457200" lvl="1" indent="0" eaLnBrk="0" hangingPunct="0">
              <a:lnSpc>
                <a:spcPct val="80000"/>
              </a:lnSpc>
              <a:spcBef>
                <a:spcPct val="20000"/>
              </a:spcBef>
              <a:buNone/>
              <a:defRPr/>
            </a:pPr>
            <a:r>
              <a:rPr lang="en-US" sz="2000" b="1" kern="0" dirty="0">
                <a:solidFill>
                  <a:srgbClr val="FF3300"/>
                </a:solidFill>
                <a:latin typeface="Consolas" panose="020B0609020204030204" pitchFamily="49" charset="0"/>
                <a:cs typeface="Tahoma" pitchFamily="34" charset="0"/>
              </a:rPr>
              <a:t>	</a:t>
            </a:r>
            <a:r>
              <a:rPr lang="en-US" sz="2000" b="1" kern="0" dirty="0">
                <a:solidFill>
                  <a:srgbClr val="2C14DE"/>
                </a:solidFill>
                <a:latin typeface="Consolas" panose="020B0609020204030204" pitchFamily="49" charset="0"/>
                <a:cs typeface="Tahoma" pitchFamily="34" charset="0"/>
              </a:rPr>
              <a:t>  </a:t>
            </a:r>
            <a:r>
              <a:rPr lang="en-US" sz="2000" b="1" kern="0" dirty="0">
                <a:solidFill>
                  <a:srgbClr val="0070C0"/>
                </a:solidFill>
                <a:latin typeface="Consolas" panose="020B0609020204030204" pitchFamily="49" charset="0"/>
                <a:cs typeface="Tahoma" pitchFamily="34" charset="0"/>
              </a:rPr>
              <a:t>bool operator== ( Employee &amp;emp );</a:t>
            </a: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a:t>
            </a:r>
          </a:p>
          <a:p>
            <a:pPr marL="0" indent="0" eaLnBrk="0" hangingPunct="0">
              <a:lnSpc>
                <a:spcPct val="80000"/>
              </a:lnSpc>
              <a:spcBef>
                <a:spcPct val="20000"/>
              </a:spcBef>
              <a:buNone/>
              <a:defRPr/>
            </a:pPr>
            <a:endParaRPr lang="en-US" sz="2000" b="1" kern="0" dirty="0">
              <a:latin typeface="Consolas" panose="020B0609020204030204" pitchFamily="49" charset="0"/>
              <a:cs typeface="Tahoma" pitchFamily="34" charset="0"/>
            </a:endParaRP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void Employee::</a:t>
            </a:r>
            <a:r>
              <a:rPr lang="en-US" sz="2000" b="1" kern="0" dirty="0" err="1">
                <a:latin typeface="Consolas" panose="020B0609020204030204" pitchFamily="49" charset="0"/>
                <a:cs typeface="Tahoma" pitchFamily="34" charset="0"/>
              </a:rPr>
              <a:t>setValues</a:t>
            </a:r>
            <a:r>
              <a:rPr lang="en-US" sz="2000" b="1" kern="0" dirty="0">
                <a:latin typeface="Consolas" panose="020B0609020204030204" pitchFamily="49" charset="0"/>
                <a:cs typeface="Tahoma" pitchFamily="34" charset="0"/>
              </a:rPr>
              <a:t> ( int </a:t>
            </a:r>
            <a:r>
              <a:rPr lang="en-US" sz="2000" b="1" kern="0" dirty="0" err="1">
                <a:latin typeface="Consolas" panose="020B0609020204030204" pitchFamily="49" charset="0"/>
                <a:cs typeface="Tahoma" pitchFamily="34" charset="0"/>
              </a:rPr>
              <a:t>idN</a:t>
            </a:r>
            <a:r>
              <a:rPr lang="en-US" sz="2000" b="1" kern="0" dirty="0">
                <a:latin typeface="Consolas" panose="020B0609020204030204" pitchFamily="49" charset="0"/>
                <a:cs typeface="Tahoma" pitchFamily="34" charset="0"/>
              </a:rPr>
              <a:t> , double </a:t>
            </a:r>
            <a:r>
              <a:rPr lang="en-US" sz="2000" b="1" kern="0" dirty="0" err="1">
                <a:latin typeface="Consolas" panose="020B0609020204030204" pitchFamily="49" charset="0"/>
                <a:cs typeface="Tahoma" pitchFamily="34" charset="0"/>
              </a:rPr>
              <a:t>sal</a:t>
            </a:r>
            <a:r>
              <a:rPr lang="en-US" sz="2000" b="1" kern="0" dirty="0">
                <a:latin typeface="Consolas" panose="020B0609020204030204" pitchFamily="49" charset="0"/>
                <a:cs typeface="Tahoma" pitchFamily="34" charset="0"/>
              </a:rPr>
              <a:t> )</a:t>
            </a: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salary = </a:t>
            </a:r>
            <a:r>
              <a:rPr lang="en-US" sz="2000" b="1" kern="0" dirty="0" err="1">
                <a:latin typeface="Consolas" panose="020B0609020204030204" pitchFamily="49" charset="0"/>
                <a:cs typeface="Tahoma" pitchFamily="34" charset="0"/>
              </a:rPr>
              <a:t>sal</a:t>
            </a:r>
            <a:r>
              <a:rPr lang="en-US" sz="2000" b="1" kern="0" dirty="0">
                <a:latin typeface="Consolas" panose="020B0609020204030204" pitchFamily="49" charset="0"/>
                <a:cs typeface="Tahoma" pitchFamily="34" charset="0"/>
              </a:rPr>
              <a:t>; 	</a:t>
            </a:r>
            <a:r>
              <a:rPr lang="en-US" sz="2000" b="1" kern="0" dirty="0" err="1">
                <a:latin typeface="Consolas" panose="020B0609020204030204" pitchFamily="49" charset="0"/>
                <a:cs typeface="Tahoma" pitchFamily="34" charset="0"/>
              </a:rPr>
              <a:t>idNum</a:t>
            </a:r>
            <a:r>
              <a:rPr lang="en-US" sz="2000" b="1" kern="0" dirty="0">
                <a:latin typeface="Consolas" panose="020B0609020204030204" pitchFamily="49" charset="0"/>
                <a:cs typeface="Tahoma" pitchFamily="34" charset="0"/>
              </a:rPr>
              <a:t>  = </a:t>
            </a:r>
            <a:r>
              <a:rPr lang="en-US" sz="2000" b="1" kern="0" dirty="0" err="1">
                <a:latin typeface="Consolas" panose="020B0609020204030204" pitchFamily="49" charset="0"/>
                <a:cs typeface="Tahoma" pitchFamily="34" charset="0"/>
              </a:rPr>
              <a:t>idN</a:t>
            </a:r>
            <a:r>
              <a:rPr lang="en-US" sz="2000" b="1" kern="0" dirty="0">
                <a:latin typeface="Consolas" panose="020B0609020204030204" pitchFamily="49" charset="0"/>
                <a:cs typeface="Tahoma" pitchFamily="34" charset="0"/>
              </a:rPr>
              <a:t>; 	}</a:t>
            </a:r>
          </a:p>
          <a:p>
            <a:pPr marL="0" indent="0" eaLnBrk="0" hangingPunct="0">
              <a:lnSpc>
                <a:spcPct val="80000"/>
              </a:lnSpc>
              <a:spcBef>
                <a:spcPct val="20000"/>
              </a:spcBef>
              <a:buNone/>
              <a:defRPr/>
            </a:pPr>
            <a:endParaRPr lang="en-US" sz="2000" b="1" kern="0" dirty="0">
              <a:latin typeface="Consolas" panose="020B0609020204030204" pitchFamily="49" charset="0"/>
              <a:cs typeface="Tahoma" pitchFamily="34" charset="0"/>
            </a:endParaRPr>
          </a:p>
          <a:p>
            <a:pPr marL="0" indent="0" eaLnBrk="0" hangingPunct="0">
              <a:lnSpc>
                <a:spcPct val="80000"/>
              </a:lnSpc>
              <a:spcBef>
                <a:spcPct val="20000"/>
              </a:spcBef>
              <a:buNone/>
              <a:defRPr/>
            </a:pPr>
            <a:endParaRPr lang="en-US" sz="2000" b="1" kern="0" dirty="0">
              <a:solidFill>
                <a:srgbClr val="0070C0"/>
              </a:solidFill>
              <a:latin typeface="Consolas" panose="020B0609020204030204" pitchFamily="49" charset="0"/>
              <a:cs typeface="Tahoma" pitchFamily="34" charset="0"/>
            </a:endParaRPr>
          </a:p>
          <a:p>
            <a:pPr marL="0" indent="0" eaLnBrk="0" hangingPunct="0">
              <a:lnSpc>
                <a:spcPct val="80000"/>
              </a:lnSpc>
              <a:spcBef>
                <a:spcPct val="20000"/>
              </a:spcBef>
              <a:buNone/>
              <a:defRPr/>
            </a:pPr>
            <a:r>
              <a:rPr lang="en-US" sz="2000" b="1" kern="0" dirty="0">
                <a:solidFill>
                  <a:srgbClr val="0070C0"/>
                </a:solidFill>
                <a:latin typeface="Consolas" panose="020B0609020204030204" pitchFamily="49" charset="0"/>
                <a:cs typeface="ＭＳ Ｐゴシック" charset="0"/>
              </a:rPr>
              <a:t>bool Employee::operator == (Employee &amp;emp)</a:t>
            </a:r>
          </a:p>
          <a:p>
            <a:pPr marL="0" indent="0" eaLnBrk="0" hangingPunct="0">
              <a:lnSpc>
                <a:spcPct val="80000"/>
              </a:lnSpc>
              <a:spcBef>
                <a:spcPct val="20000"/>
              </a:spcBef>
              <a:buNone/>
              <a:defRPr/>
            </a:pPr>
            <a:r>
              <a:rPr lang="en-US" sz="2000" b="1" kern="0" dirty="0">
                <a:latin typeface="Consolas" panose="020B0609020204030204" pitchFamily="49" charset="0"/>
                <a:cs typeface="ＭＳ Ｐゴシック" charset="0"/>
              </a:rPr>
              <a:t>{ 		return (salary == </a:t>
            </a:r>
            <a:r>
              <a:rPr lang="en-US" sz="2000" b="1" kern="0" dirty="0" err="1">
                <a:latin typeface="Consolas" panose="020B0609020204030204" pitchFamily="49" charset="0"/>
                <a:cs typeface="ＭＳ Ｐゴシック" charset="0"/>
              </a:rPr>
              <a:t>emp.getSalary</a:t>
            </a:r>
            <a:r>
              <a:rPr lang="en-US" sz="2000" b="1" kern="0" dirty="0">
                <a:latin typeface="Consolas" panose="020B0609020204030204" pitchFamily="49" charset="0"/>
                <a:cs typeface="ＭＳ Ｐゴシック" charset="0"/>
              </a:rPr>
              <a:t>());        }</a:t>
            </a:r>
          </a:p>
        </p:txBody>
      </p:sp>
      <p:sp>
        <p:nvSpPr>
          <p:cNvPr id="4" name="Footer Placeholder 3">
            <a:extLst>
              <a:ext uri="{FF2B5EF4-FFF2-40B4-BE49-F238E27FC236}">
                <a16:creationId xmlns:a16="http://schemas.microsoft.com/office/drawing/2014/main" id="{5B97BA57-79E4-8F8E-6336-C65EFCE78C73}"/>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F9B433FF-1D74-C973-3869-8B41C15C841A}"/>
              </a:ext>
            </a:extLst>
          </p:cNvPr>
          <p:cNvSpPr>
            <a:spLocks noGrp="1"/>
          </p:cNvSpPr>
          <p:nvPr>
            <p:ph type="sldNum" sz="quarter" idx="12"/>
          </p:nvPr>
        </p:nvSpPr>
        <p:spPr/>
        <p:txBody>
          <a:bodyPr/>
          <a:lstStyle/>
          <a:p>
            <a:fld id="{51845F5A-061D-4825-9AE9-D7794091C6CF}" type="slidenum">
              <a:rPr lang="en-US" smtClean="0"/>
              <a:t>44</a:t>
            </a:fld>
            <a:endParaRPr lang="en-US" dirty="0"/>
          </a:p>
        </p:txBody>
      </p:sp>
    </p:spTree>
    <p:extLst>
      <p:ext uri="{BB962C8B-B14F-4D97-AF65-F5344CB8AC3E}">
        <p14:creationId xmlns:p14="http://schemas.microsoft.com/office/powerpoint/2010/main" val="3795394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596F-72FF-297E-2E4A-10045267CD74}"/>
              </a:ext>
            </a:extLst>
          </p:cNvPr>
          <p:cNvSpPr>
            <a:spLocks noGrp="1"/>
          </p:cNvSpPr>
          <p:nvPr>
            <p:ph type="title"/>
          </p:nvPr>
        </p:nvSpPr>
        <p:spPr/>
        <p:txBody>
          <a:bodyPr/>
          <a:lstStyle/>
          <a:p>
            <a:r>
              <a:rPr lang="en-US" dirty="0"/>
              <a:t>Comparison Operator ==</a:t>
            </a:r>
            <a:endParaRPr lang="en-PK" dirty="0"/>
          </a:p>
        </p:txBody>
      </p:sp>
      <p:sp>
        <p:nvSpPr>
          <p:cNvPr id="3" name="Content Placeholder 2">
            <a:extLst>
              <a:ext uri="{FF2B5EF4-FFF2-40B4-BE49-F238E27FC236}">
                <a16:creationId xmlns:a16="http://schemas.microsoft.com/office/drawing/2014/main" id="{8A147860-BDE1-7382-F2B4-C902CA0A6EFF}"/>
              </a:ext>
            </a:extLst>
          </p:cNvPr>
          <p:cNvSpPr>
            <a:spLocks noGrp="1"/>
          </p:cNvSpPr>
          <p:nvPr>
            <p:ph idx="1"/>
          </p:nvPr>
        </p:nvSpPr>
        <p:spPr/>
        <p:txBody>
          <a:bodyPr/>
          <a:lstStyle/>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class Employee</a:t>
            </a: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private:</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int </a:t>
            </a:r>
            <a:r>
              <a:rPr lang="en-US" sz="2000" b="1" kern="0" dirty="0" err="1">
                <a:latin typeface="Consolas" panose="020B0609020204030204" pitchFamily="49" charset="0"/>
                <a:cs typeface="Tahoma" pitchFamily="34" charset="0"/>
              </a:rPr>
              <a:t>idNum</a:t>
            </a:r>
            <a:r>
              <a:rPr lang="en-US" sz="2000" b="1" kern="0" dirty="0">
                <a:latin typeface="Consolas" panose="020B0609020204030204" pitchFamily="49" charset="0"/>
                <a:cs typeface="Tahoma" pitchFamily="34" charset="0"/>
              </a:rPr>
              <a:t>;</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double salary;</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public:</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Employee ( ) { </a:t>
            </a:r>
            <a:r>
              <a:rPr lang="en-US" sz="2000" b="1" kern="0" dirty="0" err="1">
                <a:latin typeface="Consolas" panose="020B0609020204030204" pitchFamily="49" charset="0"/>
                <a:cs typeface="Tahoma" pitchFamily="34" charset="0"/>
              </a:rPr>
              <a:t>idNum</a:t>
            </a:r>
            <a:r>
              <a:rPr lang="en-US" sz="2000" b="1" kern="0" dirty="0">
                <a:latin typeface="Consolas" panose="020B0609020204030204" pitchFamily="49" charset="0"/>
                <a:cs typeface="Tahoma" pitchFamily="34" charset="0"/>
              </a:rPr>
              <a:t> = 0, salary  = 0.0; }</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void </a:t>
            </a:r>
            <a:r>
              <a:rPr lang="en-US" sz="2000" b="1" kern="0" dirty="0" err="1">
                <a:latin typeface="Consolas" panose="020B0609020204030204" pitchFamily="49" charset="0"/>
                <a:cs typeface="Tahoma" pitchFamily="34" charset="0"/>
              </a:rPr>
              <a:t>setValues</a:t>
            </a:r>
            <a:r>
              <a:rPr lang="en-US" sz="2000" b="1" kern="0" dirty="0">
                <a:latin typeface="Consolas" panose="020B0609020204030204" pitchFamily="49" charset="0"/>
                <a:cs typeface="Tahoma" pitchFamily="34" charset="0"/>
              </a:rPr>
              <a:t> (int a, int b);</a:t>
            </a:r>
          </a:p>
          <a:p>
            <a:pPr marL="457200" lvl="1"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double </a:t>
            </a:r>
            <a:r>
              <a:rPr lang="en-US" sz="2000" b="1" kern="0" dirty="0" err="1">
                <a:latin typeface="Consolas" panose="020B0609020204030204" pitchFamily="49" charset="0"/>
                <a:cs typeface="Tahoma" pitchFamily="34" charset="0"/>
              </a:rPr>
              <a:t>getSalary</a:t>
            </a:r>
            <a:r>
              <a:rPr lang="en-US" sz="2000" b="1" kern="0" dirty="0">
                <a:latin typeface="Consolas" panose="020B0609020204030204" pitchFamily="49" charset="0"/>
                <a:cs typeface="Tahoma" pitchFamily="34" charset="0"/>
              </a:rPr>
              <a:t>() { return salary }</a:t>
            </a:r>
          </a:p>
          <a:p>
            <a:pPr marL="457200" lvl="1" indent="0" eaLnBrk="0" hangingPunct="0">
              <a:lnSpc>
                <a:spcPct val="80000"/>
              </a:lnSpc>
              <a:spcBef>
                <a:spcPct val="20000"/>
              </a:spcBef>
              <a:buNone/>
              <a:defRPr/>
            </a:pPr>
            <a:r>
              <a:rPr lang="en-US" sz="2000" b="1" kern="0" dirty="0">
                <a:solidFill>
                  <a:srgbClr val="FF3300"/>
                </a:solidFill>
                <a:latin typeface="Consolas" panose="020B0609020204030204" pitchFamily="49" charset="0"/>
                <a:cs typeface="Tahoma" pitchFamily="34" charset="0"/>
              </a:rPr>
              <a:t>	</a:t>
            </a:r>
            <a:r>
              <a:rPr lang="en-US" sz="2000" b="1" kern="0" dirty="0">
                <a:latin typeface="Consolas" panose="020B0609020204030204" pitchFamily="49" charset="0"/>
                <a:cs typeface="Tahoma" pitchFamily="34" charset="0"/>
              </a:rPr>
              <a:t>}</a:t>
            </a:r>
          </a:p>
          <a:p>
            <a:pPr marL="0" indent="0">
              <a:buNone/>
            </a:pPr>
            <a:endParaRPr lang="en-PK" dirty="0"/>
          </a:p>
        </p:txBody>
      </p:sp>
      <p:sp>
        <p:nvSpPr>
          <p:cNvPr id="4" name="Footer Placeholder 3">
            <a:extLst>
              <a:ext uri="{FF2B5EF4-FFF2-40B4-BE49-F238E27FC236}">
                <a16:creationId xmlns:a16="http://schemas.microsoft.com/office/drawing/2014/main" id="{495498E4-428E-C455-8CA3-CAAF60855B5C}"/>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4095A7CB-58F7-F1E0-7D4A-857C32CA967B}"/>
              </a:ext>
            </a:extLst>
          </p:cNvPr>
          <p:cNvSpPr>
            <a:spLocks noGrp="1"/>
          </p:cNvSpPr>
          <p:nvPr>
            <p:ph type="sldNum" sz="quarter" idx="12"/>
          </p:nvPr>
        </p:nvSpPr>
        <p:spPr/>
        <p:txBody>
          <a:bodyPr/>
          <a:lstStyle/>
          <a:p>
            <a:fld id="{51845F5A-061D-4825-9AE9-D7794091C6CF}" type="slidenum">
              <a:rPr lang="en-US" smtClean="0"/>
              <a:t>45</a:t>
            </a:fld>
            <a:endParaRPr lang="en-US" dirty="0"/>
          </a:p>
        </p:txBody>
      </p:sp>
    </p:spTree>
    <p:extLst>
      <p:ext uri="{BB962C8B-B14F-4D97-AF65-F5344CB8AC3E}">
        <p14:creationId xmlns:p14="http://schemas.microsoft.com/office/powerpoint/2010/main" val="37068780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EF3E7-3528-4935-FDFB-D7EAEB54B2D9}"/>
              </a:ext>
            </a:extLst>
          </p:cNvPr>
          <p:cNvSpPr>
            <a:spLocks noGrp="1"/>
          </p:cNvSpPr>
          <p:nvPr>
            <p:ph type="title"/>
          </p:nvPr>
        </p:nvSpPr>
        <p:spPr/>
        <p:txBody>
          <a:bodyPr/>
          <a:lstStyle/>
          <a:p>
            <a:r>
              <a:rPr lang="en-US" dirty="0"/>
              <a:t>Comparison Operator ==</a:t>
            </a:r>
            <a:endParaRPr lang="en-PK" dirty="0"/>
          </a:p>
        </p:txBody>
      </p:sp>
      <p:sp>
        <p:nvSpPr>
          <p:cNvPr id="3" name="Content Placeholder 2">
            <a:extLst>
              <a:ext uri="{FF2B5EF4-FFF2-40B4-BE49-F238E27FC236}">
                <a16:creationId xmlns:a16="http://schemas.microsoft.com/office/drawing/2014/main" id="{3D591BD5-23D1-24C2-B0FC-CD301F1412A5}"/>
              </a:ext>
            </a:extLst>
          </p:cNvPr>
          <p:cNvSpPr>
            <a:spLocks noGrp="1"/>
          </p:cNvSpPr>
          <p:nvPr>
            <p:ph idx="1"/>
          </p:nvPr>
        </p:nvSpPr>
        <p:spPr/>
        <p:txBody>
          <a:bodyPr>
            <a:normAutofit fontScale="62500" lnSpcReduction="20000"/>
          </a:bodyPr>
          <a:lstStyle/>
          <a:p>
            <a:pPr marL="0" indent="0">
              <a:lnSpc>
                <a:spcPct val="120000"/>
              </a:lnSpc>
              <a:spcBef>
                <a:spcPts val="0"/>
              </a:spcBef>
              <a:buNone/>
            </a:pPr>
            <a:r>
              <a:rPr lang="en-US" sz="2800" b="1" dirty="0">
                <a:latin typeface="Consolas" panose="020B0609020204030204" pitchFamily="49" charset="0"/>
              </a:rPr>
              <a:t>int main ( )</a:t>
            </a:r>
          </a:p>
          <a:p>
            <a:pPr marL="0" indent="0">
              <a:lnSpc>
                <a:spcPct val="120000"/>
              </a:lnSpc>
              <a:spcBef>
                <a:spcPts val="0"/>
              </a:spcBef>
              <a:buNone/>
            </a:pPr>
            <a:r>
              <a:rPr lang="en-US" sz="2800" b="1" dirty="0">
                <a:latin typeface="Consolas" panose="020B0609020204030204" pitchFamily="49" charset="0"/>
              </a:rPr>
              <a:t>{</a:t>
            </a:r>
          </a:p>
          <a:p>
            <a:pPr marL="0" indent="0">
              <a:lnSpc>
                <a:spcPct val="120000"/>
              </a:lnSpc>
              <a:spcBef>
                <a:spcPts val="0"/>
              </a:spcBef>
              <a:buNone/>
            </a:pPr>
            <a:r>
              <a:rPr lang="en-US" sz="2800" b="1" dirty="0">
                <a:latin typeface="Consolas" panose="020B0609020204030204" pitchFamily="49" charset="0"/>
              </a:rPr>
              <a:t>	Employee emp1;</a:t>
            </a:r>
          </a:p>
          <a:p>
            <a:pPr marL="0" indent="0">
              <a:lnSpc>
                <a:spcPct val="120000"/>
              </a:lnSpc>
              <a:spcBef>
                <a:spcPts val="0"/>
              </a:spcBef>
              <a:buNone/>
            </a:pPr>
            <a:r>
              <a:rPr lang="en-US" sz="2800" b="1" dirty="0">
                <a:latin typeface="Consolas" panose="020B0609020204030204" pitchFamily="49" charset="0"/>
              </a:rPr>
              <a:t>	emp1.setValues(10,33.5);</a:t>
            </a:r>
          </a:p>
          <a:p>
            <a:pPr marL="0" indent="0">
              <a:lnSpc>
                <a:spcPct val="120000"/>
              </a:lnSpc>
              <a:spcBef>
                <a:spcPts val="0"/>
              </a:spcBef>
              <a:buNone/>
            </a:pPr>
            <a:endParaRPr lang="en-US" sz="2800" b="1" dirty="0">
              <a:latin typeface="Consolas" panose="020B0609020204030204" pitchFamily="49" charset="0"/>
            </a:endParaRPr>
          </a:p>
          <a:p>
            <a:pPr marL="0" indent="0">
              <a:lnSpc>
                <a:spcPct val="120000"/>
              </a:lnSpc>
              <a:spcBef>
                <a:spcPts val="0"/>
              </a:spcBef>
              <a:buNone/>
            </a:pPr>
            <a:r>
              <a:rPr lang="en-US" sz="2800" b="1" dirty="0">
                <a:latin typeface="Consolas" panose="020B0609020204030204" pitchFamily="49" charset="0"/>
              </a:rPr>
              <a:t>	Employee emp2;</a:t>
            </a:r>
          </a:p>
          <a:p>
            <a:pPr marL="0" indent="0">
              <a:lnSpc>
                <a:spcPct val="120000"/>
              </a:lnSpc>
              <a:spcBef>
                <a:spcPts val="0"/>
              </a:spcBef>
              <a:buNone/>
            </a:pPr>
            <a:r>
              <a:rPr lang="en-US" sz="2800" b="1" dirty="0">
                <a:latin typeface="Consolas" panose="020B0609020204030204" pitchFamily="49" charset="0"/>
              </a:rPr>
              <a:t>	emp2.setValues(10,33.1);</a:t>
            </a:r>
          </a:p>
          <a:p>
            <a:pPr marL="0" indent="0">
              <a:lnSpc>
                <a:spcPct val="120000"/>
              </a:lnSpc>
              <a:spcBef>
                <a:spcPts val="0"/>
              </a:spcBef>
              <a:buNone/>
            </a:pPr>
            <a:r>
              <a:rPr lang="en-US" sz="2800" b="1" dirty="0">
                <a:latin typeface="Consolas" panose="020B0609020204030204" pitchFamily="49" charset="0"/>
              </a:rPr>
              <a:t>	</a:t>
            </a:r>
          </a:p>
          <a:p>
            <a:pPr marL="0" indent="0">
              <a:lnSpc>
                <a:spcPct val="120000"/>
              </a:lnSpc>
              <a:spcBef>
                <a:spcPts val="0"/>
              </a:spcBef>
              <a:buNone/>
            </a:pPr>
            <a:r>
              <a:rPr lang="en-US" sz="2800" b="1" dirty="0">
                <a:solidFill>
                  <a:srgbClr val="002060"/>
                </a:solidFill>
                <a:latin typeface="Consolas" panose="020B0609020204030204" pitchFamily="49" charset="0"/>
              </a:rPr>
              <a:t>	</a:t>
            </a:r>
            <a:r>
              <a:rPr lang="en-US" sz="2800" b="1" dirty="0">
                <a:solidFill>
                  <a:srgbClr val="0070C0"/>
                </a:solidFill>
                <a:latin typeface="Consolas" panose="020B0609020204030204" pitchFamily="49" charset="0"/>
              </a:rPr>
              <a:t>if ( emp2 == emp1 )</a:t>
            </a:r>
          </a:p>
          <a:p>
            <a:pPr marL="0" indent="0">
              <a:lnSpc>
                <a:spcPct val="120000"/>
              </a:lnSpc>
              <a:spcBef>
                <a:spcPts val="0"/>
              </a:spcBef>
              <a:buNone/>
            </a:pPr>
            <a:r>
              <a:rPr lang="en-US" sz="2800" b="1" dirty="0">
                <a:solidFill>
                  <a:srgbClr val="0070C0"/>
                </a:solidFill>
                <a:latin typeface="Consolas" panose="020B0609020204030204" pitchFamily="49" charset="0"/>
              </a:rPr>
              <a:t>          </a:t>
            </a:r>
            <a:r>
              <a:rPr lang="en-US" sz="2800" b="1" dirty="0" err="1">
                <a:solidFill>
                  <a:srgbClr val="0070C0"/>
                </a:solidFill>
                <a:latin typeface="Consolas" panose="020B0609020204030204" pitchFamily="49" charset="0"/>
              </a:rPr>
              <a:t>cout</a:t>
            </a:r>
            <a:r>
              <a:rPr lang="en-US" sz="2800" b="1" dirty="0">
                <a:solidFill>
                  <a:srgbClr val="0070C0"/>
                </a:solidFill>
                <a:latin typeface="Consolas" panose="020B0609020204030204" pitchFamily="49" charset="0"/>
              </a:rPr>
              <a:t> &lt;&lt;</a:t>
            </a:r>
            <a:r>
              <a:rPr lang="ja-JP" altLang="en-US" sz="2800" b="1" dirty="0">
                <a:solidFill>
                  <a:srgbClr val="0070C0"/>
                </a:solidFill>
                <a:latin typeface="Consolas" panose="020B0609020204030204" pitchFamily="49" charset="0"/>
              </a:rPr>
              <a:t>“</a:t>
            </a:r>
            <a:r>
              <a:rPr lang="en-US" altLang="ja-JP" sz="2800" b="1" dirty="0">
                <a:solidFill>
                  <a:srgbClr val="0070C0"/>
                </a:solidFill>
                <a:latin typeface="Consolas" panose="020B0609020204030204" pitchFamily="49" charset="0"/>
              </a:rPr>
              <a:t>Both objects have equal value</a:t>
            </a:r>
            <a:r>
              <a:rPr lang="ja-JP" altLang="en-US" sz="2800" b="1" dirty="0">
                <a:solidFill>
                  <a:srgbClr val="0070C0"/>
                </a:solidFill>
                <a:latin typeface="Consolas" panose="020B0609020204030204" pitchFamily="49" charset="0"/>
              </a:rPr>
              <a:t>”</a:t>
            </a:r>
            <a:r>
              <a:rPr lang="en-US" altLang="ja-JP" sz="2800" b="1" dirty="0">
                <a:solidFill>
                  <a:srgbClr val="0070C0"/>
                </a:solidFill>
                <a:latin typeface="Consolas" panose="020B0609020204030204" pitchFamily="49" charset="0"/>
              </a:rPr>
              <a:t>;</a:t>
            </a:r>
          </a:p>
          <a:p>
            <a:pPr marL="0" indent="0">
              <a:lnSpc>
                <a:spcPct val="120000"/>
              </a:lnSpc>
              <a:spcBef>
                <a:spcPts val="0"/>
              </a:spcBef>
              <a:buNone/>
            </a:pPr>
            <a:r>
              <a:rPr lang="en-US" sz="2800" b="1" dirty="0">
                <a:solidFill>
                  <a:srgbClr val="2C14DE"/>
                </a:solidFill>
                <a:latin typeface="Consolas" panose="020B0609020204030204" pitchFamily="49" charset="0"/>
              </a:rPr>
              <a:t>	</a:t>
            </a:r>
            <a:r>
              <a:rPr lang="en-US" sz="2800" b="1" dirty="0">
                <a:solidFill>
                  <a:srgbClr val="0070C0"/>
                </a:solidFill>
                <a:latin typeface="Consolas" panose="020B0609020204030204" pitchFamily="49" charset="0"/>
              </a:rPr>
              <a:t>else</a:t>
            </a:r>
          </a:p>
          <a:p>
            <a:pPr marL="0" indent="0">
              <a:lnSpc>
                <a:spcPct val="120000"/>
              </a:lnSpc>
              <a:spcBef>
                <a:spcPts val="0"/>
              </a:spcBef>
              <a:buNone/>
            </a:pPr>
            <a:r>
              <a:rPr lang="en-US" sz="2800" b="1" dirty="0">
                <a:solidFill>
                  <a:srgbClr val="0070C0"/>
                </a:solidFill>
                <a:latin typeface="Consolas" panose="020B0609020204030204" pitchFamily="49" charset="0"/>
              </a:rPr>
              <a:t>	    </a:t>
            </a:r>
            <a:r>
              <a:rPr lang="en-US" sz="2800" b="1" dirty="0" err="1">
                <a:solidFill>
                  <a:srgbClr val="0070C0"/>
                </a:solidFill>
                <a:latin typeface="Consolas" panose="020B0609020204030204" pitchFamily="49" charset="0"/>
              </a:rPr>
              <a:t>cout</a:t>
            </a:r>
            <a:r>
              <a:rPr lang="en-US" sz="2800" b="1" dirty="0">
                <a:solidFill>
                  <a:srgbClr val="0070C0"/>
                </a:solidFill>
                <a:latin typeface="Consolas" panose="020B0609020204030204" pitchFamily="49" charset="0"/>
              </a:rPr>
              <a:t> &lt;&lt;</a:t>
            </a:r>
            <a:r>
              <a:rPr lang="ja-JP" altLang="en-US" sz="2800" b="1" dirty="0">
                <a:solidFill>
                  <a:srgbClr val="0070C0"/>
                </a:solidFill>
                <a:latin typeface="Consolas" panose="020B0609020204030204" pitchFamily="49" charset="0"/>
              </a:rPr>
              <a:t>“</a:t>
            </a:r>
            <a:r>
              <a:rPr lang="en-US" altLang="ja-JP" sz="2800" b="1" dirty="0">
                <a:solidFill>
                  <a:srgbClr val="0070C0"/>
                </a:solidFill>
                <a:latin typeface="Consolas" panose="020B0609020204030204" pitchFamily="49" charset="0"/>
              </a:rPr>
              <a:t>objects do not have equal value</a:t>
            </a:r>
            <a:r>
              <a:rPr lang="ja-JP" altLang="en-US" sz="2800" b="1" dirty="0">
                <a:solidFill>
                  <a:srgbClr val="0070C0"/>
                </a:solidFill>
                <a:latin typeface="Consolas" panose="020B0609020204030204" pitchFamily="49" charset="0"/>
              </a:rPr>
              <a:t>”</a:t>
            </a:r>
            <a:r>
              <a:rPr lang="en-US" altLang="ja-JP" sz="2800" b="1" dirty="0">
                <a:solidFill>
                  <a:srgbClr val="0070C0"/>
                </a:solidFill>
                <a:latin typeface="Consolas" panose="020B0609020204030204" pitchFamily="49" charset="0"/>
              </a:rPr>
              <a:t>;</a:t>
            </a:r>
          </a:p>
          <a:p>
            <a:pPr marL="0" indent="0">
              <a:lnSpc>
                <a:spcPct val="120000"/>
              </a:lnSpc>
              <a:spcBef>
                <a:spcPts val="0"/>
              </a:spcBef>
              <a:buNone/>
            </a:pPr>
            <a:r>
              <a:rPr lang="en-US" sz="2800" b="1" dirty="0">
                <a:latin typeface="Consolas" panose="020B0609020204030204" pitchFamily="49" charset="0"/>
              </a:rPr>
              <a:t>	</a:t>
            </a:r>
          </a:p>
          <a:p>
            <a:pPr marL="0" indent="0">
              <a:lnSpc>
                <a:spcPct val="120000"/>
              </a:lnSpc>
              <a:spcBef>
                <a:spcPts val="0"/>
              </a:spcBef>
              <a:buNone/>
            </a:pPr>
            <a:r>
              <a:rPr lang="en-US" sz="2800" b="1" dirty="0">
                <a:latin typeface="Consolas" panose="020B0609020204030204" pitchFamily="49" charset="0"/>
              </a:rPr>
              <a:t>}</a:t>
            </a:r>
          </a:p>
        </p:txBody>
      </p:sp>
      <p:sp>
        <p:nvSpPr>
          <p:cNvPr id="4" name="Footer Placeholder 3">
            <a:extLst>
              <a:ext uri="{FF2B5EF4-FFF2-40B4-BE49-F238E27FC236}">
                <a16:creationId xmlns:a16="http://schemas.microsoft.com/office/drawing/2014/main" id="{E8D5E441-5342-1601-8BEA-289ADED64B2F}"/>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930D4126-DBD2-2D8B-642A-4FE4F6626D41}"/>
              </a:ext>
            </a:extLst>
          </p:cNvPr>
          <p:cNvSpPr>
            <a:spLocks noGrp="1"/>
          </p:cNvSpPr>
          <p:nvPr>
            <p:ph type="sldNum" sz="quarter" idx="12"/>
          </p:nvPr>
        </p:nvSpPr>
        <p:spPr/>
        <p:txBody>
          <a:bodyPr/>
          <a:lstStyle/>
          <a:p>
            <a:fld id="{51845F5A-061D-4825-9AE9-D7794091C6CF}" type="slidenum">
              <a:rPr lang="en-US" smtClean="0"/>
              <a:t>46</a:t>
            </a:fld>
            <a:endParaRPr lang="en-US" dirty="0"/>
          </a:p>
        </p:txBody>
      </p:sp>
    </p:spTree>
    <p:extLst>
      <p:ext uri="{BB962C8B-B14F-4D97-AF65-F5344CB8AC3E}">
        <p14:creationId xmlns:p14="http://schemas.microsoft.com/office/powerpoint/2010/main" val="5583352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9A5BA-CA84-53BB-1174-BF4CE2CBCF94}"/>
              </a:ext>
            </a:extLst>
          </p:cNvPr>
          <p:cNvSpPr>
            <a:spLocks noGrp="1"/>
          </p:cNvSpPr>
          <p:nvPr>
            <p:ph type="title"/>
          </p:nvPr>
        </p:nvSpPr>
        <p:spPr/>
        <p:txBody>
          <a:bodyPr/>
          <a:lstStyle/>
          <a:p>
            <a:r>
              <a:rPr lang="en-US" dirty="0"/>
              <a:t>Operator Overloading Syntax</a:t>
            </a:r>
            <a:endParaRPr lang="en-PK" dirty="0"/>
          </a:p>
        </p:txBody>
      </p:sp>
      <p:sp>
        <p:nvSpPr>
          <p:cNvPr id="3" name="Content Placeholder 2">
            <a:extLst>
              <a:ext uri="{FF2B5EF4-FFF2-40B4-BE49-F238E27FC236}">
                <a16:creationId xmlns:a16="http://schemas.microsoft.com/office/drawing/2014/main" id="{6564C08F-73C6-7C6E-2E62-605E28DC86E4}"/>
              </a:ext>
            </a:extLst>
          </p:cNvPr>
          <p:cNvSpPr>
            <a:spLocks noGrp="1"/>
          </p:cNvSpPr>
          <p:nvPr>
            <p:ph idx="1"/>
          </p:nvPr>
        </p:nvSpPr>
        <p:spPr/>
        <p:txBody>
          <a:bodyPr/>
          <a:lstStyle/>
          <a:p>
            <a:r>
              <a:rPr lang="en-US" dirty="0"/>
              <a:t>Syntax of an overloaded operator function:</a:t>
            </a:r>
          </a:p>
          <a:p>
            <a:pPr marL="457200" lvl="1" indent="0">
              <a:buNone/>
            </a:pPr>
            <a:r>
              <a:rPr lang="en-US" dirty="0"/>
              <a:t>   datatype operator+ (datatype)</a:t>
            </a:r>
          </a:p>
          <a:p>
            <a:pPr lvl="1"/>
            <a:endParaRPr lang="en-US" dirty="0"/>
          </a:p>
          <a:p>
            <a:r>
              <a:rPr lang="en-US" dirty="0"/>
              <a:t>However, for some operators, this syntax will be slightly different:</a:t>
            </a:r>
          </a:p>
          <a:p>
            <a:pPr lvl="1"/>
            <a:r>
              <a:rPr lang="en-US" dirty="0"/>
              <a:t>	</a:t>
            </a:r>
            <a:r>
              <a:rPr lang="en-US" b="1" dirty="0">
                <a:solidFill>
                  <a:srgbClr val="FF0000"/>
                </a:solidFill>
              </a:rPr>
              <a:t>++</a:t>
            </a:r>
            <a:r>
              <a:rPr lang="en-US" dirty="0"/>
              <a:t>, </a:t>
            </a:r>
            <a:r>
              <a:rPr lang="en-US" b="1" dirty="0">
                <a:solidFill>
                  <a:srgbClr val="FF0000"/>
                </a:solidFill>
              </a:rPr>
              <a:t>--</a:t>
            </a:r>
            <a:r>
              <a:rPr lang="en-US" dirty="0"/>
              <a:t> operators</a:t>
            </a:r>
          </a:p>
          <a:p>
            <a:pPr lvl="1"/>
            <a:r>
              <a:rPr lang="en-US" dirty="0"/>
              <a:t>	</a:t>
            </a:r>
            <a:r>
              <a:rPr lang="en-US" b="1" dirty="0">
                <a:solidFill>
                  <a:srgbClr val="FF0000"/>
                </a:solidFill>
              </a:rPr>
              <a:t>&gt;&gt;</a:t>
            </a:r>
            <a:r>
              <a:rPr lang="en-US" dirty="0"/>
              <a:t>, </a:t>
            </a:r>
            <a:r>
              <a:rPr lang="en-US" b="1" dirty="0">
                <a:solidFill>
                  <a:srgbClr val="FF0000"/>
                </a:solidFill>
              </a:rPr>
              <a:t>&lt;&lt;</a:t>
            </a:r>
            <a:r>
              <a:rPr lang="en-US" dirty="0"/>
              <a:t> operators</a:t>
            </a:r>
          </a:p>
          <a:p>
            <a:pPr lvl="1"/>
            <a:r>
              <a:rPr lang="en-US" dirty="0"/>
              <a:t>	</a:t>
            </a:r>
            <a:r>
              <a:rPr lang="en-US" b="1" dirty="0">
                <a:solidFill>
                  <a:srgbClr val="FF0000"/>
                </a:solidFill>
              </a:rPr>
              <a:t>&amp;</a:t>
            </a:r>
            <a:r>
              <a:rPr lang="en-US" dirty="0"/>
              <a:t> and </a:t>
            </a:r>
            <a:r>
              <a:rPr lang="en-US" b="1" dirty="0">
                <a:solidFill>
                  <a:srgbClr val="FF0000"/>
                </a:solidFill>
              </a:rPr>
              <a:t>[ ] </a:t>
            </a:r>
            <a:r>
              <a:rPr lang="en-US" dirty="0"/>
              <a:t>operators</a:t>
            </a:r>
          </a:p>
        </p:txBody>
      </p:sp>
      <p:sp>
        <p:nvSpPr>
          <p:cNvPr id="4" name="Footer Placeholder 3">
            <a:extLst>
              <a:ext uri="{FF2B5EF4-FFF2-40B4-BE49-F238E27FC236}">
                <a16:creationId xmlns:a16="http://schemas.microsoft.com/office/drawing/2014/main" id="{2FEFFB68-7CC0-D082-4FC7-18703DE30FB7}"/>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95451F90-C825-B924-CDDA-B41BF1BFD487}"/>
              </a:ext>
            </a:extLst>
          </p:cNvPr>
          <p:cNvSpPr>
            <a:spLocks noGrp="1"/>
          </p:cNvSpPr>
          <p:nvPr>
            <p:ph type="sldNum" sz="quarter" idx="12"/>
          </p:nvPr>
        </p:nvSpPr>
        <p:spPr/>
        <p:txBody>
          <a:bodyPr/>
          <a:lstStyle/>
          <a:p>
            <a:fld id="{51845F5A-061D-4825-9AE9-D7794091C6CF}" type="slidenum">
              <a:rPr lang="en-US" smtClean="0"/>
              <a:t>47</a:t>
            </a:fld>
            <a:endParaRPr lang="en-US" dirty="0"/>
          </a:p>
        </p:txBody>
      </p:sp>
    </p:spTree>
    <p:extLst>
      <p:ext uri="{BB962C8B-B14F-4D97-AF65-F5344CB8AC3E}">
        <p14:creationId xmlns:p14="http://schemas.microsoft.com/office/powerpoint/2010/main" val="15624400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242D8-C9E4-9BB0-0DE6-6AC192BCE9F0}"/>
              </a:ext>
            </a:extLst>
          </p:cNvPr>
          <p:cNvSpPr>
            <a:spLocks noGrp="1"/>
          </p:cNvSpPr>
          <p:nvPr>
            <p:ph type="title"/>
          </p:nvPr>
        </p:nvSpPr>
        <p:spPr/>
        <p:txBody>
          <a:bodyPr/>
          <a:lstStyle/>
          <a:p>
            <a:r>
              <a:rPr lang="en-US" dirty="0"/>
              <a:t>Overloading ++ and - -</a:t>
            </a:r>
            <a:endParaRPr lang="en-PK" dirty="0"/>
          </a:p>
        </p:txBody>
      </p:sp>
      <p:sp>
        <p:nvSpPr>
          <p:cNvPr id="3" name="Content Placeholder 2">
            <a:extLst>
              <a:ext uri="{FF2B5EF4-FFF2-40B4-BE49-F238E27FC236}">
                <a16:creationId xmlns:a16="http://schemas.microsoft.com/office/drawing/2014/main" id="{6F1E69EC-3D7F-EAA5-2F35-C625ABC6642D}"/>
              </a:ext>
            </a:extLst>
          </p:cNvPr>
          <p:cNvSpPr>
            <a:spLocks noGrp="1"/>
          </p:cNvSpPr>
          <p:nvPr>
            <p:ph idx="1"/>
          </p:nvPr>
        </p:nvSpPr>
        <p:spPr/>
        <p:txBody>
          <a:bodyPr/>
          <a:lstStyle/>
          <a:p>
            <a:r>
              <a:rPr lang="en-US" dirty="0"/>
              <a:t>Operator </a:t>
            </a:r>
            <a:r>
              <a:rPr lang="en-US" b="1" dirty="0">
                <a:solidFill>
                  <a:srgbClr val="FF0000"/>
                </a:solidFill>
              </a:rPr>
              <a:t>++</a:t>
            </a:r>
            <a:r>
              <a:rPr lang="en-US" dirty="0"/>
              <a:t> and</a:t>
            </a:r>
            <a:r>
              <a:rPr lang="en-US" b="1" dirty="0">
                <a:solidFill>
                  <a:srgbClr val="FF0000"/>
                </a:solidFill>
              </a:rPr>
              <a:t> -- </a:t>
            </a:r>
            <a:r>
              <a:rPr lang="en-US" dirty="0"/>
              <a:t>are different to other operators of C++</a:t>
            </a:r>
          </a:p>
          <a:p>
            <a:endParaRPr lang="en-US" dirty="0"/>
          </a:p>
          <a:p>
            <a:r>
              <a:rPr lang="en-US" dirty="0"/>
              <a:t>We can call them: </a:t>
            </a:r>
          </a:p>
          <a:p>
            <a:pPr lvl="1"/>
            <a:r>
              <a:rPr lang="en-US" dirty="0"/>
              <a:t>either in the form of </a:t>
            </a:r>
            <a:r>
              <a:rPr lang="en-US" dirty="0">
                <a:solidFill>
                  <a:srgbClr val="0070C0"/>
                </a:solidFill>
              </a:rPr>
              <a:t>prefix</a:t>
            </a:r>
            <a:r>
              <a:rPr lang="en-US" dirty="0"/>
              <a:t> (++</a:t>
            </a:r>
            <a:r>
              <a:rPr lang="en-US" dirty="0" err="1"/>
              <a:t>i</a:t>
            </a:r>
            <a:r>
              <a:rPr lang="en-US" dirty="0"/>
              <a:t>) before an object</a:t>
            </a:r>
          </a:p>
          <a:p>
            <a:pPr lvl="1"/>
            <a:r>
              <a:rPr lang="en-US" dirty="0"/>
              <a:t>or in the form of </a:t>
            </a:r>
            <a:r>
              <a:rPr lang="en-US" dirty="0">
                <a:solidFill>
                  <a:srgbClr val="0070C0"/>
                </a:solidFill>
              </a:rPr>
              <a:t>postfix</a:t>
            </a:r>
            <a:r>
              <a:rPr lang="en-US" dirty="0"/>
              <a:t> (</a:t>
            </a:r>
            <a:r>
              <a:rPr lang="en-US" dirty="0" err="1"/>
              <a:t>i</a:t>
            </a:r>
            <a:r>
              <a:rPr lang="en-US" dirty="0"/>
              <a:t>++) after an object</a:t>
            </a:r>
          </a:p>
          <a:p>
            <a:pPr lvl="1"/>
            <a:r>
              <a:rPr lang="en-US" dirty="0"/>
              <a:t>But in both cases, the calling object will be </a:t>
            </a:r>
            <a:r>
              <a:rPr lang="en-US" dirty="0" err="1"/>
              <a:t>i</a:t>
            </a:r>
            <a:r>
              <a:rPr lang="en-US" dirty="0"/>
              <a:t>.</a:t>
            </a:r>
            <a:endParaRPr lang="en-PK" dirty="0"/>
          </a:p>
        </p:txBody>
      </p:sp>
      <p:sp>
        <p:nvSpPr>
          <p:cNvPr id="4" name="Footer Placeholder 3">
            <a:extLst>
              <a:ext uri="{FF2B5EF4-FFF2-40B4-BE49-F238E27FC236}">
                <a16:creationId xmlns:a16="http://schemas.microsoft.com/office/drawing/2014/main" id="{A30E8EB4-66A7-EBF4-3BE7-36DA66F4B759}"/>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777A7BF7-EDFC-B38C-3ADE-4C5902056BD6}"/>
              </a:ext>
            </a:extLst>
          </p:cNvPr>
          <p:cNvSpPr>
            <a:spLocks noGrp="1"/>
          </p:cNvSpPr>
          <p:nvPr>
            <p:ph type="sldNum" sz="quarter" idx="12"/>
          </p:nvPr>
        </p:nvSpPr>
        <p:spPr/>
        <p:txBody>
          <a:bodyPr/>
          <a:lstStyle/>
          <a:p>
            <a:fld id="{51845F5A-061D-4825-9AE9-D7794091C6CF}" type="slidenum">
              <a:rPr lang="en-US" smtClean="0"/>
              <a:t>48</a:t>
            </a:fld>
            <a:endParaRPr lang="en-US" dirty="0"/>
          </a:p>
        </p:txBody>
      </p:sp>
    </p:spTree>
    <p:extLst>
      <p:ext uri="{BB962C8B-B14F-4D97-AF65-F5344CB8AC3E}">
        <p14:creationId xmlns:p14="http://schemas.microsoft.com/office/powerpoint/2010/main" val="30472367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AD711-EAD7-C019-FD9E-7B460A7B6A0A}"/>
              </a:ext>
            </a:extLst>
          </p:cNvPr>
          <p:cNvSpPr>
            <a:spLocks noGrp="1"/>
          </p:cNvSpPr>
          <p:nvPr>
            <p:ph type="title"/>
          </p:nvPr>
        </p:nvSpPr>
        <p:spPr/>
        <p:txBody>
          <a:bodyPr/>
          <a:lstStyle/>
          <a:p>
            <a:r>
              <a:rPr lang="fr-FR" dirty="0"/>
              <a:t>i++ and ++i ?</a:t>
            </a:r>
            <a:endParaRPr lang="en-PK" dirty="0"/>
          </a:p>
        </p:txBody>
      </p:sp>
      <p:sp>
        <p:nvSpPr>
          <p:cNvPr id="3" name="Content Placeholder 2">
            <a:extLst>
              <a:ext uri="{FF2B5EF4-FFF2-40B4-BE49-F238E27FC236}">
                <a16:creationId xmlns:a16="http://schemas.microsoft.com/office/drawing/2014/main" id="{2D9AF318-3639-FEF4-8134-ED4A94ED0465}"/>
              </a:ext>
            </a:extLst>
          </p:cNvPr>
          <p:cNvSpPr>
            <a:spLocks noGrp="1"/>
          </p:cNvSpPr>
          <p:nvPr>
            <p:ph idx="1"/>
          </p:nvPr>
        </p:nvSpPr>
        <p:spPr/>
        <p:txBody>
          <a:bodyPr/>
          <a:lstStyle/>
          <a:p>
            <a:r>
              <a:rPr lang="en-US" b="1" u="sng" dirty="0"/>
              <a:t>Prefix</a:t>
            </a:r>
            <a:r>
              <a:rPr lang="en-US" dirty="0">
                <a:solidFill>
                  <a:srgbClr val="0070C0"/>
                </a:solidFill>
              </a:rPr>
              <a:t> makes the change</a:t>
            </a:r>
            <a:r>
              <a:rPr lang="en-US" dirty="0"/>
              <a:t>, and </a:t>
            </a:r>
            <a:r>
              <a:rPr lang="en-US" dirty="0">
                <a:solidFill>
                  <a:srgbClr val="FF0000"/>
                </a:solidFill>
              </a:rPr>
              <a:t>then processes the variable </a:t>
            </a:r>
          </a:p>
          <a:p>
            <a:endParaRPr lang="en-US" dirty="0">
              <a:solidFill>
                <a:srgbClr val="FF0000"/>
              </a:solidFill>
            </a:endParaRPr>
          </a:p>
          <a:p>
            <a:r>
              <a:rPr lang="en-US" b="1" u="sng" dirty="0"/>
              <a:t>Postfix</a:t>
            </a:r>
            <a:r>
              <a:rPr lang="en-US" dirty="0">
                <a:solidFill>
                  <a:srgbClr val="FF0000"/>
                </a:solidFill>
              </a:rPr>
              <a:t> processes the variable</a:t>
            </a:r>
            <a:r>
              <a:rPr lang="en-US" dirty="0"/>
              <a:t>, </a:t>
            </a:r>
            <a:r>
              <a:rPr lang="en-US" dirty="0">
                <a:solidFill>
                  <a:srgbClr val="0070C0"/>
                </a:solidFill>
              </a:rPr>
              <a:t>then makes the change</a:t>
            </a:r>
            <a:r>
              <a:rPr lang="en-US" dirty="0"/>
              <a:t>.</a:t>
            </a:r>
          </a:p>
          <a:p>
            <a:endParaRPr lang="en-PK" dirty="0"/>
          </a:p>
        </p:txBody>
      </p:sp>
      <p:sp>
        <p:nvSpPr>
          <p:cNvPr id="4" name="Footer Placeholder 3">
            <a:extLst>
              <a:ext uri="{FF2B5EF4-FFF2-40B4-BE49-F238E27FC236}">
                <a16:creationId xmlns:a16="http://schemas.microsoft.com/office/drawing/2014/main" id="{AFF71A96-A81A-B63B-BA90-14A02E8070E9}"/>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93678123-365A-8711-0728-AAB754A4038E}"/>
              </a:ext>
            </a:extLst>
          </p:cNvPr>
          <p:cNvSpPr>
            <a:spLocks noGrp="1"/>
          </p:cNvSpPr>
          <p:nvPr>
            <p:ph type="sldNum" sz="quarter" idx="12"/>
          </p:nvPr>
        </p:nvSpPr>
        <p:spPr/>
        <p:txBody>
          <a:bodyPr/>
          <a:lstStyle/>
          <a:p>
            <a:fld id="{51845F5A-061D-4825-9AE9-D7794091C6CF}" type="slidenum">
              <a:rPr lang="en-US" smtClean="0"/>
              <a:t>49</a:t>
            </a:fld>
            <a:endParaRPr lang="en-US" dirty="0"/>
          </a:p>
        </p:txBody>
      </p:sp>
      <p:pic>
        <p:nvPicPr>
          <p:cNvPr id="6" name="Picture 5">
            <a:extLst>
              <a:ext uri="{FF2B5EF4-FFF2-40B4-BE49-F238E27FC236}">
                <a16:creationId xmlns:a16="http://schemas.microsoft.com/office/drawing/2014/main" id="{A75883CC-7BE2-CCD7-684C-9D925E24427D}"/>
              </a:ext>
            </a:extLst>
          </p:cNvPr>
          <p:cNvPicPr>
            <a:picLocks noChangeAspect="1"/>
          </p:cNvPicPr>
          <p:nvPr/>
        </p:nvPicPr>
        <p:blipFill>
          <a:blip r:embed="rId2"/>
          <a:stretch>
            <a:fillRect/>
          </a:stretch>
        </p:blipFill>
        <p:spPr>
          <a:xfrm>
            <a:off x="2531942" y="3686675"/>
            <a:ext cx="7128116" cy="2577601"/>
          </a:xfrm>
          <a:prstGeom prst="rect">
            <a:avLst/>
          </a:prstGeom>
        </p:spPr>
      </p:pic>
    </p:spTree>
    <p:extLst>
      <p:ext uri="{BB962C8B-B14F-4D97-AF65-F5344CB8AC3E}">
        <p14:creationId xmlns:p14="http://schemas.microsoft.com/office/powerpoint/2010/main" val="3605504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95985-8BF2-BF6E-36F7-EA0766875E63}"/>
              </a:ext>
            </a:extLst>
          </p:cNvPr>
          <p:cNvSpPr>
            <a:spLocks noGrp="1"/>
          </p:cNvSpPr>
          <p:nvPr>
            <p:ph type="title"/>
          </p:nvPr>
        </p:nvSpPr>
        <p:spPr/>
        <p:txBody>
          <a:bodyPr/>
          <a:lstStyle/>
          <a:p>
            <a:r>
              <a:rPr lang="en-US" sz="4000" b="1" dirty="0">
                <a:latin typeface="Arial" panose="020B0604020202020204" pitchFamily="34" charset="0"/>
                <a:cs typeface="Arial" panose="020B0604020202020204" pitchFamily="34" charset="0"/>
              </a:rPr>
              <a:t>Overloaded ++</a:t>
            </a:r>
            <a:endParaRPr lang="en-PK" dirty="0"/>
          </a:p>
        </p:txBody>
      </p:sp>
      <p:sp>
        <p:nvSpPr>
          <p:cNvPr id="3" name="Content Placeholder 2">
            <a:extLst>
              <a:ext uri="{FF2B5EF4-FFF2-40B4-BE49-F238E27FC236}">
                <a16:creationId xmlns:a16="http://schemas.microsoft.com/office/drawing/2014/main" id="{54B129C7-CC96-98C9-FFA7-D0602376FCE0}"/>
              </a:ext>
            </a:extLst>
          </p:cNvPr>
          <p:cNvSpPr>
            <a:spLocks noGrp="1"/>
          </p:cNvSpPr>
          <p:nvPr>
            <p:ph idx="1"/>
          </p:nvPr>
        </p:nvSpPr>
        <p:spPr>
          <a:xfrm>
            <a:off x="838200" y="1690690"/>
            <a:ext cx="10515600" cy="4938710"/>
          </a:xfrm>
        </p:spPr>
        <p:txBody>
          <a:bodyPr>
            <a:normAutofit/>
          </a:bodyPr>
          <a:lstStyle/>
          <a:p>
            <a:pPr marL="0" indent="0" eaLnBrk="1" hangingPunct="1">
              <a:lnSpc>
                <a:spcPct val="120000"/>
              </a:lnSpc>
              <a:spcBef>
                <a:spcPts val="0"/>
              </a:spcBef>
              <a:buNone/>
            </a:pPr>
            <a:r>
              <a:rPr lang="en-US" sz="2000" b="1" dirty="0">
                <a:latin typeface="Consolas" panose="020B0609020204030204" pitchFamily="49" charset="0"/>
              </a:rPr>
              <a:t>class Inventory</a:t>
            </a:r>
          </a:p>
          <a:p>
            <a:pPr marL="0" indent="0" eaLnBrk="1" hangingPunct="1">
              <a:lnSpc>
                <a:spcPct val="120000"/>
              </a:lnSpc>
              <a:spcBef>
                <a:spcPts val="0"/>
              </a:spcBef>
              <a:buNone/>
            </a:pP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latin typeface="Consolas" panose="020B0609020204030204" pitchFamily="49" charset="0"/>
              </a:rPr>
              <a:t>   private:</a:t>
            </a:r>
          </a:p>
          <a:p>
            <a:pPr marL="0" indent="0" eaLnBrk="1" hangingPunct="1">
              <a:lnSpc>
                <a:spcPct val="120000"/>
              </a:lnSpc>
              <a:spcBef>
                <a:spcPts val="0"/>
              </a:spcBef>
              <a:buNone/>
            </a:pPr>
            <a:r>
              <a:rPr lang="en-US" sz="2000" b="1" dirty="0">
                <a:latin typeface="Consolas" panose="020B0609020204030204" pitchFamily="49" charset="0"/>
              </a:rPr>
              <a:t>      int </a:t>
            </a:r>
            <a:r>
              <a:rPr lang="en-US" sz="2000" b="1" dirty="0" err="1">
                <a:latin typeface="Consolas" panose="020B0609020204030204" pitchFamily="49" charset="0"/>
              </a:rPr>
              <a:t>stockNum</a:t>
            </a: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latin typeface="Consolas" panose="020B0609020204030204" pitchFamily="49" charset="0"/>
              </a:rPr>
              <a:t>      int </a:t>
            </a:r>
            <a:r>
              <a:rPr lang="en-US" sz="2000" b="1" dirty="0" err="1">
                <a:latin typeface="Consolas" panose="020B0609020204030204" pitchFamily="49" charset="0"/>
              </a:rPr>
              <a:t>numSold</a:t>
            </a: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latin typeface="Consolas" panose="020B0609020204030204" pitchFamily="49" charset="0"/>
              </a:rPr>
              <a:t>   public:</a:t>
            </a:r>
          </a:p>
          <a:p>
            <a:pPr marL="0" indent="0" eaLnBrk="1" hangingPunct="1">
              <a:lnSpc>
                <a:spcPct val="120000"/>
              </a:lnSpc>
              <a:spcBef>
                <a:spcPts val="0"/>
              </a:spcBef>
              <a:buNone/>
            </a:pPr>
            <a:r>
              <a:rPr lang="en-US" sz="2000" b="1" dirty="0">
                <a:latin typeface="Consolas" panose="020B0609020204030204" pitchFamily="49" charset="0"/>
              </a:rPr>
              <a:t>      Inventory(int </a:t>
            </a:r>
            <a:r>
              <a:rPr lang="en-US" sz="2000" b="1" dirty="0" err="1">
                <a:latin typeface="Consolas" panose="020B0609020204030204" pitchFamily="49" charset="0"/>
              </a:rPr>
              <a:t>stknum</a:t>
            </a:r>
            <a:r>
              <a:rPr lang="en-US" sz="2000" b="1" dirty="0">
                <a:latin typeface="Consolas" panose="020B0609020204030204" pitchFamily="49" charset="0"/>
              </a:rPr>
              <a:t>, int sold);</a:t>
            </a:r>
          </a:p>
          <a:p>
            <a:pPr marL="0" indent="0" eaLnBrk="1" hangingPunct="1">
              <a:lnSpc>
                <a:spcPct val="120000"/>
              </a:lnSpc>
              <a:spcBef>
                <a:spcPts val="0"/>
              </a:spcBef>
              <a:buNone/>
            </a:pPr>
            <a:r>
              <a:rPr lang="en-US" sz="2000" b="1" dirty="0">
                <a:solidFill>
                  <a:srgbClr val="2C14DE"/>
                </a:solidFill>
                <a:latin typeface="Consolas" panose="020B0609020204030204" pitchFamily="49" charset="0"/>
              </a:rPr>
              <a:t>	</a:t>
            </a:r>
            <a:r>
              <a:rPr lang="en-US" sz="2000" b="1" dirty="0">
                <a:solidFill>
                  <a:srgbClr val="0070C0"/>
                </a:solidFill>
                <a:latin typeface="Consolas" panose="020B0609020204030204" pitchFamily="49" charset="0"/>
              </a:rPr>
              <a:t>void operator++();</a:t>
            </a:r>
          </a:p>
          <a:p>
            <a:pPr marL="0" indent="0" eaLnBrk="1" hangingPunct="1">
              <a:lnSpc>
                <a:spcPct val="120000"/>
              </a:lnSpc>
              <a:spcBef>
                <a:spcPts val="0"/>
              </a:spcBef>
              <a:buNone/>
            </a:pP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solidFill>
                  <a:srgbClr val="0070C0"/>
                </a:solidFill>
                <a:latin typeface="Consolas" panose="020B0609020204030204" pitchFamily="49" charset="0"/>
              </a:rPr>
              <a:t>void Inventory::operator++()</a:t>
            </a:r>
          </a:p>
          <a:p>
            <a:pPr marL="0" indent="0" eaLnBrk="1" hangingPunct="1">
              <a:lnSpc>
                <a:spcPct val="120000"/>
              </a:lnSpc>
              <a:spcBef>
                <a:spcPts val="0"/>
              </a:spcBef>
              <a:buNone/>
            </a:pP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latin typeface="Consolas" panose="020B0609020204030204" pitchFamily="49" charset="0"/>
              </a:rPr>
              <a:t>	</a:t>
            </a:r>
            <a:r>
              <a:rPr lang="en-US" sz="2000" b="1" dirty="0" err="1">
                <a:latin typeface="Consolas" panose="020B0609020204030204" pitchFamily="49" charset="0"/>
              </a:rPr>
              <a:t>numSold</a:t>
            </a:r>
            <a:r>
              <a:rPr lang="en-US" sz="2000" b="1" dirty="0">
                <a:latin typeface="Consolas" panose="020B0609020204030204" pitchFamily="49" charset="0"/>
              </a:rPr>
              <a:t>++;   </a:t>
            </a:r>
          </a:p>
          <a:p>
            <a:pPr marL="0" indent="0" eaLnBrk="1" hangingPunct="1">
              <a:lnSpc>
                <a:spcPct val="120000"/>
              </a:lnSpc>
              <a:spcBef>
                <a:spcPts val="0"/>
              </a:spcBef>
              <a:buNone/>
            </a:pPr>
            <a:r>
              <a:rPr lang="en-US" sz="2000" b="1" dirty="0">
                <a:latin typeface="Consolas" panose="020B0609020204030204" pitchFamily="49" charset="0"/>
              </a:rPr>
              <a:t>}</a:t>
            </a:r>
          </a:p>
        </p:txBody>
      </p:sp>
      <p:sp>
        <p:nvSpPr>
          <p:cNvPr id="4" name="Footer Placeholder 3">
            <a:extLst>
              <a:ext uri="{FF2B5EF4-FFF2-40B4-BE49-F238E27FC236}">
                <a16:creationId xmlns:a16="http://schemas.microsoft.com/office/drawing/2014/main" id="{FDE9FA60-B980-2564-C17E-9822EFA824D4}"/>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C83EF574-5983-7AE9-E96B-FD430E704610}"/>
              </a:ext>
            </a:extLst>
          </p:cNvPr>
          <p:cNvSpPr>
            <a:spLocks noGrp="1"/>
          </p:cNvSpPr>
          <p:nvPr>
            <p:ph type="sldNum" sz="quarter" idx="12"/>
          </p:nvPr>
        </p:nvSpPr>
        <p:spPr/>
        <p:txBody>
          <a:bodyPr/>
          <a:lstStyle/>
          <a:p>
            <a:fld id="{51845F5A-061D-4825-9AE9-D7794091C6CF}" type="slidenum">
              <a:rPr lang="en-US" smtClean="0"/>
              <a:t>50</a:t>
            </a:fld>
            <a:endParaRPr lang="en-US" dirty="0"/>
          </a:p>
        </p:txBody>
      </p:sp>
    </p:spTree>
    <p:extLst>
      <p:ext uri="{BB962C8B-B14F-4D97-AF65-F5344CB8AC3E}">
        <p14:creationId xmlns:p14="http://schemas.microsoft.com/office/powerpoint/2010/main" val="22404937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1D7A3-3A04-A182-0A6F-35060A6686B4}"/>
              </a:ext>
            </a:extLst>
          </p:cNvPr>
          <p:cNvSpPr>
            <a:spLocks noGrp="1"/>
          </p:cNvSpPr>
          <p:nvPr>
            <p:ph type="title"/>
          </p:nvPr>
        </p:nvSpPr>
        <p:spPr/>
        <p:txBody>
          <a:bodyPr/>
          <a:lstStyle/>
          <a:p>
            <a:r>
              <a:rPr lang="en-US" dirty="0"/>
              <a:t>Use of the operator ++</a:t>
            </a:r>
            <a:endParaRPr lang="en-PK" dirty="0"/>
          </a:p>
        </p:txBody>
      </p:sp>
      <p:sp>
        <p:nvSpPr>
          <p:cNvPr id="3" name="Content Placeholder 2">
            <a:extLst>
              <a:ext uri="{FF2B5EF4-FFF2-40B4-BE49-F238E27FC236}">
                <a16:creationId xmlns:a16="http://schemas.microsoft.com/office/drawing/2014/main" id="{2D680F54-6D83-D564-20AC-2B506B08B36B}"/>
              </a:ext>
            </a:extLst>
          </p:cNvPr>
          <p:cNvSpPr>
            <a:spLocks noGrp="1"/>
          </p:cNvSpPr>
          <p:nvPr>
            <p:ph idx="1"/>
          </p:nvPr>
        </p:nvSpPr>
        <p:spPr/>
        <p:txBody>
          <a:bodyPr>
            <a:normAutofit fontScale="62500" lnSpcReduction="20000"/>
          </a:bodyPr>
          <a:lstStyle/>
          <a:p>
            <a:pPr marL="0" indent="0" eaLnBrk="1" hangingPunct="1">
              <a:lnSpc>
                <a:spcPct val="120000"/>
              </a:lnSpc>
              <a:spcBef>
                <a:spcPts val="0"/>
              </a:spcBef>
              <a:buNone/>
            </a:pPr>
            <a:r>
              <a:rPr lang="en-US" sz="2800" b="1" dirty="0">
                <a:latin typeface="Consolas" panose="020B0609020204030204" pitchFamily="49" charset="0"/>
              </a:rPr>
              <a:t>int main ( )</a:t>
            </a:r>
          </a:p>
          <a:p>
            <a:pPr marL="0" indent="0" eaLnBrk="1" hangingPunct="1">
              <a:lnSpc>
                <a:spcPct val="120000"/>
              </a:lnSpc>
              <a:spcBef>
                <a:spcPts val="0"/>
              </a:spcBef>
              <a:buNone/>
            </a:pPr>
            <a:r>
              <a:rPr lang="en-US" sz="2800" b="1" dirty="0">
                <a:latin typeface="Consolas" panose="020B0609020204030204" pitchFamily="49" charset="0"/>
              </a:rPr>
              <a:t>{</a:t>
            </a:r>
          </a:p>
          <a:p>
            <a:pPr marL="0" indent="0" eaLnBrk="1" hangingPunct="1">
              <a:lnSpc>
                <a:spcPct val="120000"/>
              </a:lnSpc>
              <a:spcBef>
                <a:spcPts val="0"/>
              </a:spcBef>
              <a:buNone/>
            </a:pPr>
            <a:r>
              <a:rPr lang="en-US" sz="2800" b="1" dirty="0">
                <a:latin typeface="Consolas" panose="020B0609020204030204" pitchFamily="49" charset="0"/>
              </a:rPr>
              <a:t>	Inventory </a:t>
            </a:r>
            <a:r>
              <a:rPr lang="en-US" sz="2800" b="1" dirty="0" err="1">
                <a:latin typeface="Consolas" panose="020B0609020204030204" pitchFamily="49" charset="0"/>
              </a:rPr>
              <a:t>someItem</a:t>
            </a:r>
            <a:r>
              <a:rPr lang="en-US" sz="2800" b="1" dirty="0">
                <a:latin typeface="Consolas" panose="020B0609020204030204" pitchFamily="49" charset="0"/>
              </a:rPr>
              <a:t>(789, 84);</a:t>
            </a:r>
          </a:p>
          <a:p>
            <a:pPr marL="0" indent="0" eaLnBrk="1" hangingPunct="1">
              <a:lnSpc>
                <a:spcPct val="120000"/>
              </a:lnSpc>
              <a:spcBef>
                <a:spcPts val="0"/>
              </a:spcBef>
              <a:buNone/>
            </a:pPr>
            <a:r>
              <a:rPr lang="en-US" sz="2800" b="1" dirty="0">
                <a:latin typeface="Consolas" panose="020B0609020204030204" pitchFamily="49" charset="0"/>
              </a:rPr>
              <a:t>	// the </a:t>
            </a:r>
            <a:r>
              <a:rPr lang="en-US" sz="2800" b="1" dirty="0" err="1">
                <a:latin typeface="Consolas" panose="020B0609020204030204" pitchFamily="49" charset="0"/>
              </a:rPr>
              <a:t>stockNum</a:t>
            </a:r>
            <a:r>
              <a:rPr lang="en-US" sz="2800" b="1" dirty="0">
                <a:latin typeface="Consolas" panose="020B0609020204030204" pitchFamily="49" charset="0"/>
              </a:rPr>
              <a:t> is 789</a:t>
            </a:r>
          </a:p>
          <a:p>
            <a:pPr marL="0" indent="0" eaLnBrk="1" hangingPunct="1">
              <a:lnSpc>
                <a:spcPct val="120000"/>
              </a:lnSpc>
              <a:spcBef>
                <a:spcPts val="0"/>
              </a:spcBef>
              <a:buNone/>
            </a:pPr>
            <a:r>
              <a:rPr lang="en-US" sz="2800" b="1" dirty="0">
                <a:latin typeface="Consolas" panose="020B0609020204030204" pitchFamily="49" charset="0"/>
              </a:rPr>
              <a:t>	// the </a:t>
            </a:r>
            <a:r>
              <a:rPr lang="en-US" sz="2800" b="1" dirty="0" err="1">
                <a:latin typeface="Consolas" panose="020B0609020204030204" pitchFamily="49" charset="0"/>
              </a:rPr>
              <a:t>numSold</a:t>
            </a:r>
            <a:r>
              <a:rPr lang="en-US" sz="2800" b="1" dirty="0">
                <a:latin typeface="Consolas" panose="020B0609020204030204" pitchFamily="49" charset="0"/>
              </a:rPr>
              <a:t> is 84</a:t>
            </a:r>
          </a:p>
          <a:p>
            <a:pPr marL="0" indent="0" eaLnBrk="1" hangingPunct="1">
              <a:lnSpc>
                <a:spcPct val="120000"/>
              </a:lnSpc>
              <a:spcBef>
                <a:spcPts val="0"/>
              </a:spcBef>
              <a:buNone/>
            </a:pPr>
            <a:endParaRPr lang="en-US" sz="2800" b="1" dirty="0">
              <a:latin typeface="Consolas" panose="020B0609020204030204" pitchFamily="49" charset="0"/>
            </a:endParaRPr>
          </a:p>
          <a:p>
            <a:pPr marL="0" indent="0" eaLnBrk="1" hangingPunct="1">
              <a:lnSpc>
                <a:spcPct val="120000"/>
              </a:lnSpc>
              <a:spcBef>
                <a:spcPts val="0"/>
              </a:spcBef>
              <a:buNone/>
            </a:pPr>
            <a:r>
              <a:rPr lang="en-US" sz="2800" b="1" dirty="0">
                <a:latin typeface="Consolas" panose="020B0609020204030204" pitchFamily="49" charset="0"/>
              </a:rPr>
              <a:t>	++</a:t>
            </a:r>
            <a:r>
              <a:rPr lang="en-US" sz="2800" b="1" dirty="0" err="1">
                <a:latin typeface="Consolas" panose="020B0609020204030204" pitchFamily="49" charset="0"/>
              </a:rPr>
              <a:t>someItem</a:t>
            </a:r>
            <a:r>
              <a:rPr lang="en-US" sz="2800" b="1" dirty="0">
                <a:latin typeface="Consolas" panose="020B0609020204030204" pitchFamily="49" charset="0"/>
              </a:rPr>
              <a:t>;</a:t>
            </a:r>
          </a:p>
          <a:p>
            <a:pPr marL="0" indent="0" eaLnBrk="1" hangingPunct="1">
              <a:lnSpc>
                <a:spcPct val="120000"/>
              </a:lnSpc>
              <a:spcBef>
                <a:spcPts val="0"/>
              </a:spcBef>
              <a:buNone/>
            </a:pPr>
            <a:endParaRPr lang="en-US" sz="2800" b="1" dirty="0">
              <a:latin typeface="Consolas" panose="020B0609020204030204" pitchFamily="49" charset="0"/>
            </a:endParaRPr>
          </a:p>
          <a:p>
            <a:pPr marL="0" indent="0" eaLnBrk="1" hangingPunct="1">
              <a:lnSpc>
                <a:spcPct val="120000"/>
              </a:lnSpc>
              <a:spcBef>
                <a:spcPts val="0"/>
              </a:spcBef>
              <a:buNone/>
            </a:pPr>
            <a:r>
              <a:rPr lang="en-US" sz="2800" b="1" dirty="0">
                <a:latin typeface="Consolas" panose="020B0609020204030204" pitchFamily="49" charset="0"/>
              </a:rPr>
              <a:t>	</a:t>
            </a:r>
          </a:p>
          <a:p>
            <a:pPr marL="0" indent="0" eaLnBrk="1" hangingPunct="1">
              <a:lnSpc>
                <a:spcPct val="120000"/>
              </a:lnSpc>
              <a:spcBef>
                <a:spcPts val="0"/>
              </a:spcBef>
              <a:buNone/>
            </a:pPr>
            <a:r>
              <a:rPr lang="en-US" sz="2800" b="1" dirty="0">
                <a:latin typeface="Consolas" panose="020B0609020204030204" pitchFamily="49" charset="0"/>
              </a:rPr>
              <a:t>	Inventory Item2 = ++</a:t>
            </a:r>
            <a:r>
              <a:rPr lang="en-US" sz="2800" b="1" dirty="0" err="1">
                <a:latin typeface="Consolas" panose="020B0609020204030204" pitchFamily="49" charset="0"/>
              </a:rPr>
              <a:t>someItem</a:t>
            </a:r>
            <a:r>
              <a:rPr lang="en-US" sz="2800" b="1" dirty="0">
                <a:latin typeface="Consolas" panose="020B0609020204030204" pitchFamily="49" charset="0"/>
              </a:rPr>
              <a:t>;</a:t>
            </a:r>
          </a:p>
          <a:p>
            <a:pPr marL="0" indent="0" eaLnBrk="1" hangingPunct="1">
              <a:lnSpc>
                <a:spcPct val="120000"/>
              </a:lnSpc>
              <a:spcBef>
                <a:spcPts val="0"/>
              </a:spcBef>
              <a:buNone/>
            </a:pPr>
            <a:r>
              <a:rPr lang="en-US" sz="2800" b="1" dirty="0">
                <a:latin typeface="Consolas" panose="020B0609020204030204" pitchFamily="49" charset="0"/>
              </a:rPr>
              <a:t>	</a:t>
            </a:r>
            <a:r>
              <a:rPr lang="en-US" sz="2800" b="1" i="1" dirty="0">
                <a:solidFill>
                  <a:srgbClr val="FF0000"/>
                </a:solidFill>
                <a:latin typeface="Consolas" panose="020B0609020204030204" pitchFamily="49" charset="0"/>
              </a:rPr>
              <a:t>//will this instruction work</a:t>
            </a:r>
            <a:endParaRPr lang="en-US" sz="2800" b="1" dirty="0">
              <a:latin typeface="Consolas" panose="020B0609020204030204" pitchFamily="49" charset="0"/>
            </a:endParaRPr>
          </a:p>
          <a:p>
            <a:pPr marL="0" indent="0" eaLnBrk="1" hangingPunct="1">
              <a:lnSpc>
                <a:spcPct val="120000"/>
              </a:lnSpc>
              <a:spcBef>
                <a:spcPts val="0"/>
              </a:spcBef>
              <a:buNone/>
            </a:pPr>
            <a:endParaRPr lang="en-US" sz="2800" b="1" dirty="0">
              <a:latin typeface="Consolas" panose="020B0609020204030204" pitchFamily="49" charset="0"/>
            </a:endParaRPr>
          </a:p>
          <a:p>
            <a:pPr marL="0" indent="0" eaLnBrk="1" hangingPunct="1">
              <a:lnSpc>
                <a:spcPct val="120000"/>
              </a:lnSpc>
              <a:spcBef>
                <a:spcPts val="0"/>
              </a:spcBef>
              <a:buNone/>
            </a:pPr>
            <a:r>
              <a:rPr lang="en-US" sz="2800" dirty="0"/>
              <a:t>// Will </a:t>
            </a:r>
            <a:r>
              <a:rPr lang="en-US" sz="2800" b="1" dirty="0"/>
              <a:t>not work </a:t>
            </a:r>
            <a:r>
              <a:rPr lang="en-US" sz="2800" dirty="0"/>
              <a:t>as the overloaded function does not return anything</a:t>
            </a:r>
            <a:endParaRPr lang="en-US" sz="2800" b="1" dirty="0">
              <a:latin typeface="Consolas" panose="020B0609020204030204" pitchFamily="49" charset="0"/>
            </a:endParaRPr>
          </a:p>
          <a:p>
            <a:pPr marL="0" indent="0" eaLnBrk="1" hangingPunct="1">
              <a:lnSpc>
                <a:spcPct val="120000"/>
              </a:lnSpc>
              <a:spcBef>
                <a:spcPts val="0"/>
              </a:spcBef>
              <a:buNone/>
            </a:pPr>
            <a:r>
              <a:rPr lang="en-US" sz="2800" b="1" dirty="0">
                <a:latin typeface="Consolas" panose="020B0609020204030204" pitchFamily="49" charset="0"/>
              </a:rPr>
              <a:t>}</a:t>
            </a:r>
          </a:p>
          <a:p>
            <a:pPr marL="0" indent="0">
              <a:lnSpc>
                <a:spcPct val="120000"/>
              </a:lnSpc>
              <a:spcBef>
                <a:spcPts val="0"/>
              </a:spcBef>
              <a:buNone/>
            </a:pPr>
            <a:endParaRPr lang="en-PK" dirty="0"/>
          </a:p>
        </p:txBody>
      </p:sp>
      <p:sp>
        <p:nvSpPr>
          <p:cNvPr id="4" name="Footer Placeholder 3">
            <a:extLst>
              <a:ext uri="{FF2B5EF4-FFF2-40B4-BE49-F238E27FC236}">
                <a16:creationId xmlns:a16="http://schemas.microsoft.com/office/drawing/2014/main" id="{AAD14723-9F49-FC6D-6922-51C1512B678F}"/>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7BF5CF96-CE17-7205-C743-CB1171B3BFC6}"/>
              </a:ext>
            </a:extLst>
          </p:cNvPr>
          <p:cNvSpPr>
            <a:spLocks noGrp="1"/>
          </p:cNvSpPr>
          <p:nvPr>
            <p:ph type="sldNum" sz="quarter" idx="12"/>
          </p:nvPr>
        </p:nvSpPr>
        <p:spPr/>
        <p:txBody>
          <a:bodyPr/>
          <a:lstStyle/>
          <a:p>
            <a:fld id="{51845F5A-061D-4825-9AE9-D7794091C6CF}" type="slidenum">
              <a:rPr lang="en-US" smtClean="0"/>
              <a:t>51</a:t>
            </a:fld>
            <a:endParaRPr lang="en-US" dirty="0"/>
          </a:p>
        </p:txBody>
      </p:sp>
      <p:sp>
        <p:nvSpPr>
          <p:cNvPr id="6" name="Rectangle 5">
            <a:extLst>
              <a:ext uri="{FF2B5EF4-FFF2-40B4-BE49-F238E27FC236}">
                <a16:creationId xmlns:a16="http://schemas.microsoft.com/office/drawing/2014/main" id="{6BA61427-3408-501E-ECAC-256E3FF7964E}"/>
              </a:ext>
            </a:extLst>
          </p:cNvPr>
          <p:cNvSpPr/>
          <p:nvPr/>
        </p:nvSpPr>
        <p:spPr>
          <a:xfrm>
            <a:off x="1026851" y="4233147"/>
            <a:ext cx="4953000" cy="1066800"/>
          </a:xfrm>
          <a:prstGeom prst="rect">
            <a:avLst/>
          </a:prstGeom>
          <a:solidFill>
            <a:schemeClr val="lt1">
              <a:alpha val="0"/>
            </a:schemeClr>
          </a:solidFill>
          <a:ln w="47625">
            <a:solidFill>
              <a:srgbClr val="00B05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dirty="0"/>
          </a:p>
        </p:txBody>
      </p:sp>
    </p:spTree>
    <p:extLst>
      <p:ext uri="{BB962C8B-B14F-4D97-AF65-F5344CB8AC3E}">
        <p14:creationId xmlns:p14="http://schemas.microsoft.com/office/powerpoint/2010/main" val="2898411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2" end="1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D52C3-412E-A36C-7F0C-E7739CBD0CBA}"/>
              </a:ext>
            </a:extLst>
          </p:cNvPr>
          <p:cNvSpPr>
            <a:spLocks noGrp="1"/>
          </p:cNvSpPr>
          <p:nvPr>
            <p:ph type="title"/>
          </p:nvPr>
        </p:nvSpPr>
        <p:spPr/>
        <p:txBody>
          <a:bodyPr/>
          <a:lstStyle/>
          <a:p>
            <a:r>
              <a:rPr lang="en-US" sz="4000" b="1" dirty="0">
                <a:latin typeface="Arial" panose="020B0604020202020204" pitchFamily="34" charset="0"/>
                <a:cs typeface="Arial" panose="020B0604020202020204" pitchFamily="34" charset="0"/>
              </a:rPr>
              <a:t>Overloaded ++</a:t>
            </a:r>
            <a:endParaRPr lang="en-PK" dirty="0"/>
          </a:p>
        </p:txBody>
      </p:sp>
      <p:sp>
        <p:nvSpPr>
          <p:cNvPr id="3" name="Content Placeholder 2">
            <a:extLst>
              <a:ext uri="{FF2B5EF4-FFF2-40B4-BE49-F238E27FC236}">
                <a16:creationId xmlns:a16="http://schemas.microsoft.com/office/drawing/2014/main" id="{D6C00AE4-22A1-7E2B-224B-D55ECF04B628}"/>
              </a:ext>
            </a:extLst>
          </p:cNvPr>
          <p:cNvSpPr>
            <a:spLocks noGrp="1"/>
          </p:cNvSpPr>
          <p:nvPr>
            <p:ph idx="1"/>
          </p:nvPr>
        </p:nvSpPr>
        <p:spPr>
          <a:xfrm>
            <a:off x="758190" y="1690690"/>
            <a:ext cx="10515600" cy="4869181"/>
          </a:xfrm>
        </p:spPr>
        <p:txBody>
          <a:bodyPr>
            <a:normAutofit/>
          </a:bodyPr>
          <a:lstStyle/>
          <a:p>
            <a:pPr marL="0" indent="0" eaLnBrk="1" hangingPunct="1">
              <a:lnSpc>
                <a:spcPct val="120000"/>
              </a:lnSpc>
              <a:spcBef>
                <a:spcPts val="0"/>
              </a:spcBef>
              <a:buNone/>
            </a:pPr>
            <a:r>
              <a:rPr lang="en-US" sz="1400" b="1" dirty="0">
                <a:latin typeface="Consolas" panose="020B0609020204030204" pitchFamily="49" charset="0"/>
              </a:rPr>
              <a:t>class Inventory</a:t>
            </a:r>
          </a:p>
          <a:p>
            <a:pPr marL="0" indent="0" eaLnBrk="1" hangingPunct="1">
              <a:lnSpc>
                <a:spcPct val="120000"/>
              </a:lnSpc>
              <a:spcBef>
                <a:spcPts val="0"/>
              </a:spcBef>
              <a:buNone/>
            </a:pPr>
            <a:r>
              <a:rPr lang="en-US" sz="1400" b="1" dirty="0">
                <a:latin typeface="Consolas" panose="020B0609020204030204" pitchFamily="49" charset="0"/>
              </a:rPr>
              <a:t>{</a:t>
            </a:r>
          </a:p>
          <a:p>
            <a:pPr marL="0" indent="0" eaLnBrk="1" hangingPunct="1">
              <a:lnSpc>
                <a:spcPct val="120000"/>
              </a:lnSpc>
              <a:spcBef>
                <a:spcPts val="0"/>
              </a:spcBef>
              <a:buNone/>
            </a:pPr>
            <a:r>
              <a:rPr lang="en-US" sz="1400" b="1" dirty="0">
                <a:latin typeface="Consolas" panose="020B0609020204030204" pitchFamily="49" charset="0"/>
              </a:rPr>
              <a:t>   private:</a:t>
            </a:r>
          </a:p>
          <a:p>
            <a:pPr marL="0" indent="0" eaLnBrk="1" hangingPunct="1">
              <a:lnSpc>
                <a:spcPct val="120000"/>
              </a:lnSpc>
              <a:spcBef>
                <a:spcPts val="0"/>
              </a:spcBef>
              <a:buNone/>
            </a:pPr>
            <a:r>
              <a:rPr lang="en-US" sz="1400" b="1" dirty="0">
                <a:latin typeface="Consolas" panose="020B0609020204030204" pitchFamily="49" charset="0"/>
              </a:rPr>
              <a:t>      int </a:t>
            </a:r>
            <a:r>
              <a:rPr lang="en-US" sz="1400" b="1" dirty="0" err="1">
                <a:latin typeface="Consolas" panose="020B0609020204030204" pitchFamily="49" charset="0"/>
              </a:rPr>
              <a:t>stockNum</a:t>
            </a:r>
            <a:r>
              <a:rPr lang="en-US" sz="1400" b="1" dirty="0">
                <a:latin typeface="Consolas" panose="020B0609020204030204" pitchFamily="49" charset="0"/>
              </a:rPr>
              <a:t>;</a:t>
            </a:r>
          </a:p>
          <a:p>
            <a:pPr marL="0" indent="0" eaLnBrk="1" hangingPunct="1">
              <a:lnSpc>
                <a:spcPct val="120000"/>
              </a:lnSpc>
              <a:spcBef>
                <a:spcPts val="0"/>
              </a:spcBef>
              <a:buNone/>
            </a:pPr>
            <a:r>
              <a:rPr lang="en-US" sz="1400" b="1" dirty="0">
                <a:latin typeface="Consolas" panose="020B0609020204030204" pitchFamily="49" charset="0"/>
              </a:rPr>
              <a:t>      int </a:t>
            </a:r>
            <a:r>
              <a:rPr lang="en-US" sz="1400" b="1" dirty="0" err="1">
                <a:latin typeface="Consolas" panose="020B0609020204030204" pitchFamily="49" charset="0"/>
              </a:rPr>
              <a:t>numSold</a:t>
            </a:r>
            <a:r>
              <a:rPr lang="en-US" sz="1400" b="1" dirty="0">
                <a:latin typeface="Consolas" panose="020B0609020204030204" pitchFamily="49" charset="0"/>
              </a:rPr>
              <a:t>;</a:t>
            </a:r>
          </a:p>
          <a:p>
            <a:pPr marL="0" indent="0" eaLnBrk="1" hangingPunct="1">
              <a:lnSpc>
                <a:spcPct val="120000"/>
              </a:lnSpc>
              <a:spcBef>
                <a:spcPts val="0"/>
              </a:spcBef>
              <a:buNone/>
            </a:pPr>
            <a:r>
              <a:rPr lang="en-US" sz="1400" b="1" dirty="0">
                <a:latin typeface="Consolas" panose="020B0609020204030204" pitchFamily="49" charset="0"/>
              </a:rPr>
              <a:t>   public:</a:t>
            </a:r>
          </a:p>
          <a:p>
            <a:pPr marL="0" indent="0" eaLnBrk="1" hangingPunct="1">
              <a:lnSpc>
                <a:spcPct val="120000"/>
              </a:lnSpc>
              <a:spcBef>
                <a:spcPts val="0"/>
              </a:spcBef>
              <a:buNone/>
            </a:pPr>
            <a:r>
              <a:rPr lang="en-US" sz="1400" b="1" dirty="0">
                <a:latin typeface="Consolas" panose="020B0609020204030204" pitchFamily="49" charset="0"/>
              </a:rPr>
              <a:t>      Inventory(int </a:t>
            </a:r>
            <a:r>
              <a:rPr lang="en-US" sz="1400" b="1" dirty="0" err="1">
                <a:latin typeface="Consolas" panose="020B0609020204030204" pitchFamily="49" charset="0"/>
              </a:rPr>
              <a:t>stknum</a:t>
            </a:r>
            <a:r>
              <a:rPr lang="en-US" sz="1400" b="1" dirty="0">
                <a:latin typeface="Consolas" panose="020B0609020204030204" pitchFamily="49" charset="0"/>
              </a:rPr>
              <a:t>, int sold);</a:t>
            </a:r>
          </a:p>
          <a:p>
            <a:pPr marL="0" indent="0" eaLnBrk="1" hangingPunct="1">
              <a:lnSpc>
                <a:spcPct val="120000"/>
              </a:lnSpc>
              <a:spcBef>
                <a:spcPts val="0"/>
              </a:spcBef>
              <a:buNone/>
            </a:pPr>
            <a:r>
              <a:rPr lang="en-US" sz="1400" b="1" dirty="0">
                <a:latin typeface="Consolas" panose="020B0609020204030204" pitchFamily="49" charset="0"/>
              </a:rPr>
              <a:t>	</a:t>
            </a:r>
            <a:r>
              <a:rPr lang="en-US" sz="1400" b="1" dirty="0">
                <a:solidFill>
                  <a:srgbClr val="0070C0"/>
                </a:solidFill>
                <a:latin typeface="Consolas" panose="020B0609020204030204" pitchFamily="49" charset="0"/>
              </a:rPr>
              <a:t>Inventory&amp; operator++();</a:t>
            </a:r>
          </a:p>
          <a:p>
            <a:pPr marL="0" indent="0" eaLnBrk="1" hangingPunct="1">
              <a:lnSpc>
                <a:spcPct val="120000"/>
              </a:lnSpc>
              <a:spcBef>
                <a:spcPts val="0"/>
              </a:spcBef>
              <a:buNone/>
            </a:pPr>
            <a:r>
              <a:rPr lang="en-US" sz="1400" b="1" dirty="0">
                <a:latin typeface="Consolas" panose="020B0609020204030204" pitchFamily="49" charset="0"/>
              </a:rPr>
              <a:t>};</a:t>
            </a:r>
          </a:p>
          <a:p>
            <a:pPr marL="0" indent="0" eaLnBrk="1" hangingPunct="1">
              <a:lnSpc>
                <a:spcPct val="120000"/>
              </a:lnSpc>
              <a:spcBef>
                <a:spcPts val="0"/>
              </a:spcBef>
              <a:buNone/>
            </a:pPr>
            <a:endParaRPr lang="en-US" sz="1400" b="1" dirty="0">
              <a:latin typeface="Consolas" panose="020B0609020204030204" pitchFamily="49" charset="0"/>
            </a:endParaRPr>
          </a:p>
          <a:p>
            <a:pPr marL="0" indent="0" eaLnBrk="1" hangingPunct="1">
              <a:lnSpc>
                <a:spcPct val="120000"/>
              </a:lnSpc>
              <a:spcBef>
                <a:spcPts val="0"/>
              </a:spcBef>
              <a:buNone/>
            </a:pPr>
            <a:endParaRPr lang="en-US" sz="1400" b="1" dirty="0">
              <a:latin typeface="Consolas" panose="020B0609020204030204" pitchFamily="49" charset="0"/>
            </a:endParaRPr>
          </a:p>
          <a:p>
            <a:pPr marL="0" indent="0" eaLnBrk="1" hangingPunct="1">
              <a:lnSpc>
                <a:spcPct val="120000"/>
              </a:lnSpc>
              <a:spcBef>
                <a:spcPts val="0"/>
              </a:spcBef>
              <a:buNone/>
            </a:pPr>
            <a:r>
              <a:rPr lang="en-US" sz="1400" b="1" dirty="0">
                <a:solidFill>
                  <a:srgbClr val="0070C0"/>
                </a:solidFill>
                <a:latin typeface="Consolas" panose="020B0609020204030204" pitchFamily="49" charset="0"/>
              </a:rPr>
              <a:t>Inventory&amp; Inventory::operator++()</a:t>
            </a:r>
          </a:p>
          <a:p>
            <a:pPr marL="0" indent="0" eaLnBrk="1" hangingPunct="1">
              <a:lnSpc>
                <a:spcPct val="120000"/>
              </a:lnSpc>
              <a:spcBef>
                <a:spcPts val="0"/>
              </a:spcBef>
              <a:buNone/>
            </a:pPr>
            <a:r>
              <a:rPr lang="en-US" sz="1400" b="1" dirty="0">
                <a:latin typeface="Consolas" panose="020B0609020204030204" pitchFamily="49" charset="0"/>
              </a:rPr>
              <a:t>{</a:t>
            </a:r>
          </a:p>
          <a:p>
            <a:pPr marL="0" indent="0" eaLnBrk="1" hangingPunct="1">
              <a:lnSpc>
                <a:spcPct val="120000"/>
              </a:lnSpc>
              <a:spcBef>
                <a:spcPts val="0"/>
              </a:spcBef>
              <a:buNone/>
            </a:pPr>
            <a:r>
              <a:rPr lang="en-US" sz="1400" b="1" dirty="0">
                <a:latin typeface="Consolas" panose="020B0609020204030204" pitchFamily="49" charset="0"/>
              </a:rPr>
              <a:t>   Inventory *object = new Inventory(0,0);</a:t>
            </a:r>
          </a:p>
          <a:p>
            <a:pPr marL="0" indent="0" eaLnBrk="1" hangingPunct="1">
              <a:lnSpc>
                <a:spcPct val="120000"/>
              </a:lnSpc>
              <a:spcBef>
                <a:spcPts val="0"/>
              </a:spcBef>
              <a:buNone/>
            </a:pPr>
            <a:r>
              <a:rPr lang="en-US" sz="1400" b="1" dirty="0">
                <a:latin typeface="Consolas" panose="020B0609020204030204" pitchFamily="49" charset="0"/>
              </a:rPr>
              <a:t>   </a:t>
            </a:r>
            <a:r>
              <a:rPr lang="en-US" sz="1400" b="1" dirty="0" err="1">
                <a:latin typeface="Consolas" panose="020B0609020204030204" pitchFamily="49" charset="0"/>
              </a:rPr>
              <a:t>numSold</a:t>
            </a:r>
            <a:r>
              <a:rPr lang="en-US" sz="1400" b="1" dirty="0">
                <a:latin typeface="Consolas" panose="020B0609020204030204" pitchFamily="49" charset="0"/>
              </a:rPr>
              <a:t>++; </a:t>
            </a:r>
          </a:p>
          <a:p>
            <a:pPr marL="0" indent="0" eaLnBrk="1" hangingPunct="1">
              <a:lnSpc>
                <a:spcPct val="120000"/>
              </a:lnSpc>
              <a:spcBef>
                <a:spcPts val="0"/>
              </a:spcBef>
              <a:buNone/>
            </a:pPr>
            <a:r>
              <a:rPr lang="en-US" sz="1400" b="1" dirty="0">
                <a:latin typeface="Consolas" panose="020B0609020204030204" pitchFamily="49" charset="0"/>
              </a:rPr>
              <a:t>   object-&gt;</a:t>
            </a:r>
            <a:r>
              <a:rPr lang="en-US" sz="1400" b="1" dirty="0" err="1">
                <a:latin typeface="Consolas" panose="020B0609020204030204" pitchFamily="49" charset="0"/>
              </a:rPr>
              <a:t>numSold</a:t>
            </a:r>
            <a:r>
              <a:rPr lang="en-US" sz="1400" b="1" dirty="0">
                <a:latin typeface="Consolas" panose="020B0609020204030204" pitchFamily="49" charset="0"/>
              </a:rPr>
              <a:t> = </a:t>
            </a:r>
            <a:r>
              <a:rPr lang="en-US" sz="1400" b="1" dirty="0" err="1">
                <a:latin typeface="Consolas" panose="020B0609020204030204" pitchFamily="49" charset="0"/>
              </a:rPr>
              <a:t>numSold</a:t>
            </a:r>
            <a:r>
              <a:rPr lang="en-US" sz="1400" b="1" dirty="0">
                <a:latin typeface="Consolas" panose="020B0609020204030204" pitchFamily="49" charset="0"/>
              </a:rPr>
              <a:t>;</a:t>
            </a:r>
          </a:p>
          <a:p>
            <a:pPr marL="0" indent="0" eaLnBrk="1" hangingPunct="1">
              <a:lnSpc>
                <a:spcPct val="120000"/>
              </a:lnSpc>
              <a:spcBef>
                <a:spcPts val="0"/>
              </a:spcBef>
              <a:buNone/>
            </a:pPr>
            <a:r>
              <a:rPr lang="en-US" sz="1400" b="1" dirty="0">
                <a:latin typeface="Consolas" panose="020B0609020204030204" pitchFamily="49" charset="0"/>
              </a:rPr>
              <a:t>   return(*object);</a:t>
            </a:r>
          </a:p>
          <a:p>
            <a:pPr marL="0" indent="0" eaLnBrk="1" hangingPunct="1">
              <a:lnSpc>
                <a:spcPct val="120000"/>
              </a:lnSpc>
              <a:spcBef>
                <a:spcPts val="0"/>
              </a:spcBef>
              <a:buNone/>
            </a:pPr>
            <a:r>
              <a:rPr lang="en-US" sz="1400" b="1" dirty="0">
                <a:latin typeface="Consolas" panose="020B0609020204030204" pitchFamily="49" charset="0"/>
              </a:rPr>
              <a:t>}</a:t>
            </a:r>
          </a:p>
          <a:p>
            <a:pPr marL="0" indent="0">
              <a:lnSpc>
                <a:spcPct val="120000"/>
              </a:lnSpc>
              <a:spcBef>
                <a:spcPts val="0"/>
              </a:spcBef>
              <a:buNone/>
            </a:pPr>
            <a:endParaRPr lang="en-PK" sz="1400" dirty="0"/>
          </a:p>
        </p:txBody>
      </p:sp>
      <p:sp>
        <p:nvSpPr>
          <p:cNvPr id="4" name="Footer Placeholder 3">
            <a:extLst>
              <a:ext uri="{FF2B5EF4-FFF2-40B4-BE49-F238E27FC236}">
                <a16:creationId xmlns:a16="http://schemas.microsoft.com/office/drawing/2014/main" id="{D2D0C6B9-C2AB-039D-0E3F-F24C99AED4EB}"/>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DCBF7240-823A-20C8-488F-CE408482221B}"/>
              </a:ext>
            </a:extLst>
          </p:cNvPr>
          <p:cNvSpPr>
            <a:spLocks noGrp="1"/>
          </p:cNvSpPr>
          <p:nvPr>
            <p:ph type="sldNum" sz="quarter" idx="12"/>
          </p:nvPr>
        </p:nvSpPr>
        <p:spPr/>
        <p:txBody>
          <a:bodyPr/>
          <a:lstStyle/>
          <a:p>
            <a:fld id="{51845F5A-061D-4825-9AE9-D7794091C6CF}" type="slidenum">
              <a:rPr lang="en-US" smtClean="0"/>
              <a:t>52</a:t>
            </a:fld>
            <a:endParaRPr lang="en-US" dirty="0"/>
          </a:p>
        </p:txBody>
      </p:sp>
    </p:spTree>
    <p:extLst>
      <p:ext uri="{BB962C8B-B14F-4D97-AF65-F5344CB8AC3E}">
        <p14:creationId xmlns:p14="http://schemas.microsoft.com/office/powerpoint/2010/main" val="2101507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D1C8351-144B-A3A1-008C-249A52465A42}"/>
              </a:ext>
            </a:extLst>
          </p:cNvPr>
          <p:cNvSpPr>
            <a:spLocks noGrp="1"/>
          </p:cNvSpPr>
          <p:nvPr>
            <p:ph type="ftr" sz="quarter" idx="11"/>
          </p:nvPr>
        </p:nvSpPr>
        <p:spPr/>
        <p:txBody>
          <a:bodyPr/>
          <a:lstStyle/>
          <a:p>
            <a:r>
              <a:rPr lang="en-US"/>
              <a:t>Object Oriented Programming-Spring 24</a:t>
            </a:r>
          </a:p>
        </p:txBody>
      </p:sp>
      <p:sp>
        <p:nvSpPr>
          <p:cNvPr id="3" name="Slide Number Placeholder 2">
            <a:extLst>
              <a:ext uri="{FF2B5EF4-FFF2-40B4-BE49-F238E27FC236}">
                <a16:creationId xmlns:a16="http://schemas.microsoft.com/office/drawing/2014/main" id="{8CAECBEA-6ECC-A50F-4866-D4089980199E}"/>
              </a:ext>
            </a:extLst>
          </p:cNvPr>
          <p:cNvSpPr>
            <a:spLocks noGrp="1"/>
          </p:cNvSpPr>
          <p:nvPr>
            <p:ph type="sldNum" sz="quarter" idx="12"/>
          </p:nvPr>
        </p:nvSpPr>
        <p:spPr/>
        <p:txBody>
          <a:bodyPr/>
          <a:lstStyle/>
          <a:p>
            <a:fld id="{51845F5A-061D-4825-9AE9-D7794091C6CF}" type="slidenum">
              <a:rPr lang="en-US" smtClean="0"/>
              <a:t>53</a:t>
            </a:fld>
            <a:endParaRPr lang="en-US"/>
          </a:p>
        </p:txBody>
      </p:sp>
      <p:pic>
        <p:nvPicPr>
          <p:cNvPr id="4" name="Picture 3">
            <a:extLst>
              <a:ext uri="{FF2B5EF4-FFF2-40B4-BE49-F238E27FC236}">
                <a16:creationId xmlns:a16="http://schemas.microsoft.com/office/drawing/2014/main" id="{5AD82F3A-A4D0-4214-EB5B-EB2DEAC942D1}"/>
              </a:ext>
            </a:extLst>
          </p:cNvPr>
          <p:cNvPicPr>
            <a:picLocks noChangeAspect="1"/>
          </p:cNvPicPr>
          <p:nvPr/>
        </p:nvPicPr>
        <p:blipFill>
          <a:blip r:embed="rId2"/>
          <a:stretch>
            <a:fillRect/>
          </a:stretch>
        </p:blipFill>
        <p:spPr>
          <a:xfrm>
            <a:off x="1660775" y="42378"/>
            <a:ext cx="8870449" cy="6773243"/>
          </a:xfrm>
          <a:prstGeom prst="rect">
            <a:avLst/>
          </a:prstGeom>
        </p:spPr>
      </p:pic>
    </p:spTree>
    <p:extLst>
      <p:ext uri="{BB962C8B-B14F-4D97-AF65-F5344CB8AC3E}">
        <p14:creationId xmlns:p14="http://schemas.microsoft.com/office/powerpoint/2010/main" val="23622291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B5B5C-AA99-31C8-29A8-31431747BE0E}"/>
              </a:ext>
            </a:extLst>
          </p:cNvPr>
          <p:cNvSpPr>
            <a:spLocks noGrp="1"/>
          </p:cNvSpPr>
          <p:nvPr>
            <p:ph type="title"/>
          </p:nvPr>
        </p:nvSpPr>
        <p:spPr/>
        <p:txBody>
          <a:bodyPr/>
          <a:lstStyle/>
          <a:p>
            <a:r>
              <a:rPr lang="en-US" dirty="0"/>
              <a:t>Problem</a:t>
            </a:r>
            <a:endParaRPr lang="en-PK" dirty="0"/>
          </a:p>
        </p:txBody>
      </p:sp>
      <p:sp>
        <p:nvSpPr>
          <p:cNvPr id="3" name="Content Placeholder 2">
            <a:extLst>
              <a:ext uri="{FF2B5EF4-FFF2-40B4-BE49-F238E27FC236}">
                <a16:creationId xmlns:a16="http://schemas.microsoft.com/office/drawing/2014/main" id="{6153DCFB-FD8B-1C59-346D-610181A57B6B}"/>
              </a:ext>
            </a:extLst>
          </p:cNvPr>
          <p:cNvSpPr>
            <a:spLocks noGrp="1"/>
          </p:cNvSpPr>
          <p:nvPr>
            <p:ph idx="1"/>
          </p:nvPr>
        </p:nvSpPr>
        <p:spPr/>
        <p:txBody>
          <a:bodyPr>
            <a:normAutofit lnSpcReduction="10000"/>
          </a:bodyPr>
          <a:lstStyle/>
          <a:p>
            <a:pPr algn="just"/>
            <a:r>
              <a:rPr lang="en-US" dirty="0"/>
              <a:t>The definition of the prefix operator is simple.  It increments the value </a:t>
            </a:r>
            <a:r>
              <a:rPr lang="en-US" dirty="0">
                <a:solidFill>
                  <a:srgbClr val="0070C0"/>
                </a:solidFill>
              </a:rPr>
              <a:t>before any other operation</a:t>
            </a:r>
            <a:r>
              <a:rPr lang="en-US" dirty="0"/>
              <a:t>.</a:t>
            </a:r>
          </a:p>
          <a:p>
            <a:pPr algn="just"/>
            <a:endParaRPr lang="en-US" dirty="0"/>
          </a:p>
          <a:p>
            <a:pPr algn="just"/>
            <a:r>
              <a:rPr lang="en-US" dirty="0"/>
              <a:t>But, how will C++ be able to tell the difference between a </a:t>
            </a:r>
            <a:r>
              <a:rPr lang="en-US" dirty="0">
                <a:solidFill>
                  <a:srgbClr val="0070C0"/>
                </a:solidFill>
              </a:rPr>
              <a:t>prefix ++ </a:t>
            </a:r>
            <a:r>
              <a:rPr lang="en-US" dirty="0"/>
              <a:t>operator and a </a:t>
            </a:r>
            <a:r>
              <a:rPr lang="en-US" dirty="0">
                <a:solidFill>
                  <a:srgbClr val="0070C0"/>
                </a:solidFill>
              </a:rPr>
              <a:t>postfix ++ </a:t>
            </a:r>
            <a:r>
              <a:rPr lang="en-US" dirty="0"/>
              <a:t>operator?</a:t>
            </a:r>
          </a:p>
          <a:p>
            <a:pPr algn="just"/>
            <a:endParaRPr lang="en-US" dirty="0"/>
          </a:p>
          <a:p>
            <a:pPr algn="just"/>
            <a:r>
              <a:rPr lang="en-US" b="1" u="sng" dirty="0"/>
              <a:t>Answer: </a:t>
            </a:r>
            <a:r>
              <a:rPr lang="en-US" dirty="0"/>
              <a:t>overloaded </a:t>
            </a:r>
            <a:r>
              <a:rPr lang="en-US" dirty="0">
                <a:solidFill>
                  <a:srgbClr val="0070C0"/>
                </a:solidFill>
              </a:rPr>
              <a:t>postfix operator </a:t>
            </a:r>
            <a:r>
              <a:rPr lang="en-US" dirty="0"/>
              <a:t>will take a </a:t>
            </a:r>
            <a:r>
              <a:rPr lang="en-US" dirty="0">
                <a:solidFill>
                  <a:srgbClr val="FF0000"/>
                </a:solidFill>
              </a:rPr>
              <a:t>dummy argument</a:t>
            </a:r>
            <a:r>
              <a:rPr lang="en-US" dirty="0"/>
              <a:t> (just for differentiation between postfix and prefix).</a:t>
            </a:r>
          </a:p>
        </p:txBody>
      </p:sp>
      <p:sp>
        <p:nvSpPr>
          <p:cNvPr id="4" name="Footer Placeholder 3">
            <a:extLst>
              <a:ext uri="{FF2B5EF4-FFF2-40B4-BE49-F238E27FC236}">
                <a16:creationId xmlns:a16="http://schemas.microsoft.com/office/drawing/2014/main" id="{B903FBC3-E9EA-54FE-BF52-1A88FDAA62A4}"/>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C4C2EC70-9119-514C-9632-EBFDDF41A6B6}"/>
              </a:ext>
            </a:extLst>
          </p:cNvPr>
          <p:cNvSpPr>
            <a:spLocks noGrp="1"/>
          </p:cNvSpPr>
          <p:nvPr>
            <p:ph type="sldNum" sz="quarter" idx="12"/>
          </p:nvPr>
        </p:nvSpPr>
        <p:spPr/>
        <p:txBody>
          <a:bodyPr/>
          <a:lstStyle/>
          <a:p>
            <a:fld id="{51845F5A-061D-4825-9AE9-D7794091C6CF}" type="slidenum">
              <a:rPr lang="en-US" smtClean="0"/>
              <a:t>54</a:t>
            </a:fld>
            <a:endParaRPr lang="en-US" dirty="0"/>
          </a:p>
        </p:txBody>
      </p:sp>
    </p:spTree>
    <p:extLst>
      <p:ext uri="{BB962C8B-B14F-4D97-AF65-F5344CB8AC3E}">
        <p14:creationId xmlns:p14="http://schemas.microsoft.com/office/powerpoint/2010/main" val="2872165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1D7E-4801-2478-358A-B22339B97FE2}"/>
              </a:ext>
            </a:extLst>
          </p:cNvPr>
          <p:cNvSpPr>
            <a:spLocks noGrp="1"/>
          </p:cNvSpPr>
          <p:nvPr>
            <p:ph type="title"/>
          </p:nvPr>
        </p:nvSpPr>
        <p:spPr/>
        <p:txBody>
          <a:bodyPr/>
          <a:lstStyle/>
          <a:p>
            <a:r>
              <a:rPr lang="en-US" sz="4000" b="1" dirty="0">
                <a:latin typeface="Arial" panose="020B0604020202020204" pitchFamily="34" charset="0"/>
                <a:cs typeface="Arial" panose="020B0604020202020204" pitchFamily="34" charset="0"/>
              </a:rPr>
              <a:t>Postfix operator</a:t>
            </a:r>
            <a:endParaRPr lang="en-PK" dirty="0"/>
          </a:p>
        </p:txBody>
      </p:sp>
      <p:sp>
        <p:nvSpPr>
          <p:cNvPr id="3" name="Content Placeholder 2">
            <a:extLst>
              <a:ext uri="{FF2B5EF4-FFF2-40B4-BE49-F238E27FC236}">
                <a16:creationId xmlns:a16="http://schemas.microsoft.com/office/drawing/2014/main" id="{3523F7E5-927A-2B7E-D52A-F93751421EC7}"/>
              </a:ext>
            </a:extLst>
          </p:cNvPr>
          <p:cNvSpPr>
            <a:spLocks noGrp="1"/>
          </p:cNvSpPr>
          <p:nvPr>
            <p:ph idx="1"/>
          </p:nvPr>
        </p:nvSpPr>
        <p:spPr>
          <a:xfrm>
            <a:off x="838200" y="1690690"/>
            <a:ext cx="10515600" cy="5030787"/>
          </a:xfrm>
        </p:spPr>
        <p:txBody>
          <a:bodyPr>
            <a:normAutofit lnSpcReduction="10000"/>
          </a:bodyPr>
          <a:lstStyle/>
          <a:p>
            <a:pPr marL="0" indent="0" eaLnBrk="1" hangingPunct="1">
              <a:lnSpc>
                <a:spcPct val="120000"/>
              </a:lnSpc>
              <a:spcBef>
                <a:spcPts val="0"/>
              </a:spcBef>
              <a:buNone/>
            </a:pPr>
            <a:r>
              <a:rPr lang="en-US" sz="1600" b="1" dirty="0">
                <a:solidFill>
                  <a:srgbClr val="0070C0"/>
                </a:solidFill>
                <a:latin typeface="Consolas" panose="020B0609020204030204" pitchFamily="49" charset="0"/>
              </a:rPr>
              <a:t>Inventory&amp; Inventory::operator++()</a:t>
            </a:r>
            <a:r>
              <a:rPr lang="en-US" sz="1600" b="1" dirty="0">
                <a:solidFill>
                  <a:srgbClr val="2C14DE"/>
                </a:solidFill>
                <a:latin typeface="Consolas" panose="020B0609020204030204" pitchFamily="49" charset="0"/>
              </a:rPr>
              <a:t>  </a:t>
            </a:r>
            <a:r>
              <a:rPr lang="en-US" sz="1600" b="1" u="sng" dirty="0">
                <a:solidFill>
                  <a:srgbClr val="00B050"/>
                </a:solidFill>
                <a:latin typeface="Consolas" panose="020B0609020204030204" pitchFamily="49" charset="0"/>
              </a:rPr>
              <a:t>// prefix version</a:t>
            </a:r>
          </a:p>
          <a:p>
            <a:pPr marL="0" indent="0" eaLnBrk="1" hangingPunct="1">
              <a:lnSpc>
                <a:spcPct val="120000"/>
              </a:lnSpc>
              <a:spcBef>
                <a:spcPts val="0"/>
              </a:spcBef>
              <a:buNone/>
            </a:pPr>
            <a:r>
              <a:rPr lang="en-US" sz="1600" b="1" dirty="0">
                <a:latin typeface="Consolas" panose="020B0609020204030204" pitchFamily="49" charset="0"/>
              </a:rPr>
              <a:t>{</a:t>
            </a:r>
          </a:p>
          <a:p>
            <a:pPr marL="0" indent="0" eaLnBrk="1" hangingPunct="1">
              <a:lnSpc>
                <a:spcPct val="120000"/>
              </a:lnSpc>
              <a:spcBef>
                <a:spcPts val="0"/>
              </a:spcBef>
              <a:buNone/>
            </a:pPr>
            <a:r>
              <a:rPr lang="en-US" sz="1600" b="1" dirty="0">
                <a:latin typeface="Consolas" panose="020B0609020204030204" pitchFamily="49" charset="0"/>
              </a:rPr>
              <a:t>   Inventory *object = new Inventory(0,0);</a:t>
            </a:r>
          </a:p>
          <a:p>
            <a:pPr marL="0" indent="0" eaLnBrk="1" hangingPunct="1">
              <a:lnSpc>
                <a:spcPct val="120000"/>
              </a:lnSpc>
              <a:spcBef>
                <a:spcPts val="0"/>
              </a:spcBef>
              <a:buNone/>
            </a:pPr>
            <a:r>
              <a:rPr lang="en-US" sz="1600" b="1" dirty="0">
                <a:latin typeface="Consolas" panose="020B0609020204030204" pitchFamily="49" charset="0"/>
              </a:rPr>
              <a:t>   </a:t>
            </a:r>
            <a:r>
              <a:rPr lang="en-US" sz="1600" b="1" dirty="0" err="1">
                <a:latin typeface="Consolas" panose="020B0609020204030204" pitchFamily="49" charset="0"/>
              </a:rPr>
              <a:t>numSold</a:t>
            </a:r>
            <a:r>
              <a:rPr lang="en-US" sz="1600" b="1" dirty="0">
                <a:latin typeface="Consolas" panose="020B0609020204030204" pitchFamily="49" charset="0"/>
              </a:rPr>
              <a:t>++; </a:t>
            </a:r>
          </a:p>
          <a:p>
            <a:pPr marL="0" indent="0" eaLnBrk="1" hangingPunct="1">
              <a:lnSpc>
                <a:spcPct val="120000"/>
              </a:lnSpc>
              <a:spcBef>
                <a:spcPts val="0"/>
              </a:spcBef>
              <a:buNone/>
            </a:pPr>
            <a:r>
              <a:rPr lang="en-US" sz="1600" b="1" dirty="0">
                <a:latin typeface="Consolas" panose="020B0609020204030204" pitchFamily="49" charset="0"/>
              </a:rPr>
              <a:t>   object-&gt;</a:t>
            </a:r>
            <a:r>
              <a:rPr lang="en-US" sz="1600" b="1" dirty="0" err="1">
                <a:latin typeface="Consolas" panose="020B0609020204030204" pitchFamily="49" charset="0"/>
              </a:rPr>
              <a:t>numSold</a:t>
            </a:r>
            <a:r>
              <a:rPr lang="en-US" sz="1600" b="1" dirty="0">
                <a:latin typeface="Consolas" panose="020B0609020204030204" pitchFamily="49" charset="0"/>
              </a:rPr>
              <a:t> = </a:t>
            </a:r>
            <a:r>
              <a:rPr lang="en-US" sz="1600" b="1" dirty="0" err="1">
                <a:latin typeface="Consolas" panose="020B0609020204030204" pitchFamily="49" charset="0"/>
              </a:rPr>
              <a:t>numSold</a:t>
            </a:r>
            <a:r>
              <a:rPr lang="en-US" sz="1600" b="1" dirty="0">
                <a:latin typeface="Consolas" panose="020B0609020204030204" pitchFamily="49" charset="0"/>
              </a:rPr>
              <a:t>;</a:t>
            </a:r>
          </a:p>
          <a:p>
            <a:pPr marL="0" indent="0" eaLnBrk="1" hangingPunct="1">
              <a:lnSpc>
                <a:spcPct val="120000"/>
              </a:lnSpc>
              <a:spcBef>
                <a:spcPts val="0"/>
              </a:spcBef>
              <a:buNone/>
            </a:pPr>
            <a:r>
              <a:rPr lang="en-US" sz="1600" b="1" dirty="0">
                <a:latin typeface="Consolas" panose="020B0609020204030204" pitchFamily="49" charset="0"/>
              </a:rPr>
              <a:t>   return(*object);</a:t>
            </a:r>
          </a:p>
          <a:p>
            <a:pPr marL="0" indent="0" eaLnBrk="1" hangingPunct="1">
              <a:lnSpc>
                <a:spcPct val="120000"/>
              </a:lnSpc>
              <a:spcBef>
                <a:spcPts val="0"/>
              </a:spcBef>
              <a:buNone/>
            </a:pPr>
            <a:r>
              <a:rPr lang="en-US" sz="1600" b="1" dirty="0">
                <a:latin typeface="Consolas" panose="020B0609020204030204" pitchFamily="49" charset="0"/>
              </a:rPr>
              <a:t>}</a:t>
            </a:r>
          </a:p>
          <a:p>
            <a:pPr marL="0" indent="0" eaLnBrk="1" hangingPunct="1">
              <a:lnSpc>
                <a:spcPct val="120000"/>
              </a:lnSpc>
              <a:spcBef>
                <a:spcPts val="0"/>
              </a:spcBef>
              <a:buNone/>
            </a:pPr>
            <a:endParaRPr lang="en-US" sz="1600" b="1" dirty="0">
              <a:latin typeface="Consolas" panose="020B0609020204030204" pitchFamily="49" charset="0"/>
            </a:endParaRPr>
          </a:p>
          <a:p>
            <a:pPr marL="0" indent="0" eaLnBrk="1" hangingPunct="1">
              <a:lnSpc>
                <a:spcPct val="120000"/>
              </a:lnSpc>
              <a:spcBef>
                <a:spcPts val="0"/>
              </a:spcBef>
              <a:buNone/>
            </a:pPr>
            <a:endParaRPr lang="en-US" sz="1600" b="1" dirty="0">
              <a:latin typeface="Consolas" panose="020B0609020204030204" pitchFamily="49" charset="0"/>
            </a:endParaRPr>
          </a:p>
          <a:p>
            <a:pPr marL="0" indent="0" eaLnBrk="1" hangingPunct="1">
              <a:lnSpc>
                <a:spcPct val="120000"/>
              </a:lnSpc>
              <a:spcBef>
                <a:spcPts val="0"/>
              </a:spcBef>
              <a:buNone/>
            </a:pPr>
            <a:endParaRPr lang="en-US" sz="1600" b="1" dirty="0">
              <a:solidFill>
                <a:srgbClr val="0070C0"/>
              </a:solidFill>
              <a:latin typeface="Consolas" panose="020B0609020204030204" pitchFamily="49" charset="0"/>
            </a:endParaRPr>
          </a:p>
          <a:p>
            <a:pPr marL="0" indent="0" eaLnBrk="1" hangingPunct="1">
              <a:lnSpc>
                <a:spcPct val="120000"/>
              </a:lnSpc>
              <a:spcBef>
                <a:spcPts val="0"/>
              </a:spcBef>
              <a:buNone/>
            </a:pPr>
            <a:r>
              <a:rPr lang="en-US" sz="1600" b="1" dirty="0">
                <a:solidFill>
                  <a:srgbClr val="0070C0"/>
                </a:solidFill>
                <a:latin typeface="Consolas" panose="020B0609020204030204" pitchFamily="49" charset="0"/>
              </a:rPr>
              <a:t>Inventory&amp; Inventory::operator++(int)  </a:t>
            </a:r>
            <a:r>
              <a:rPr lang="en-US" sz="1600" b="1" u="sng" dirty="0">
                <a:solidFill>
                  <a:srgbClr val="00B050"/>
                </a:solidFill>
                <a:latin typeface="Consolas" panose="020B0609020204030204" pitchFamily="49" charset="0"/>
              </a:rPr>
              <a:t>// postfix version</a:t>
            </a:r>
          </a:p>
          <a:p>
            <a:pPr marL="0" indent="0" eaLnBrk="1" hangingPunct="1">
              <a:lnSpc>
                <a:spcPct val="120000"/>
              </a:lnSpc>
              <a:spcBef>
                <a:spcPts val="0"/>
              </a:spcBef>
              <a:buNone/>
            </a:pPr>
            <a:r>
              <a:rPr lang="en-US" sz="1600" b="1" dirty="0">
                <a:latin typeface="Consolas" panose="020B0609020204030204" pitchFamily="49" charset="0"/>
              </a:rPr>
              <a:t>{</a:t>
            </a:r>
          </a:p>
          <a:p>
            <a:pPr marL="0" indent="0" eaLnBrk="1" hangingPunct="1">
              <a:lnSpc>
                <a:spcPct val="120000"/>
              </a:lnSpc>
              <a:spcBef>
                <a:spcPts val="0"/>
              </a:spcBef>
              <a:buNone/>
            </a:pPr>
            <a:r>
              <a:rPr lang="en-US" sz="1600" b="1" dirty="0">
                <a:latin typeface="Consolas" panose="020B0609020204030204" pitchFamily="49" charset="0"/>
              </a:rPr>
              <a:t>   Inventory *object = new Inventory(0,0);</a:t>
            </a:r>
          </a:p>
          <a:p>
            <a:pPr marL="0" indent="0" eaLnBrk="1" hangingPunct="1">
              <a:lnSpc>
                <a:spcPct val="120000"/>
              </a:lnSpc>
              <a:spcBef>
                <a:spcPts val="0"/>
              </a:spcBef>
              <a:buNone/>
            </a:pPr>
            <a:r>
              <a:rPr lang="en-US" sz="1600" b="1" dirty="0">
                <a:latin typeface="Consolas" panose="020B0609020204030204" pitchFamily="49" charset="0"/>
              </a:rPr>
              <a:t>   object-&gt;</a:t>
            </a:r>
            <a:r>
              <a:rPr lang="en-US" sz="1600" b="1" dirty="0" err="1">
                <a:latin typeface="Consolas" panose="020B0609020204030204" pitchFamily="49" charset="0"/>
              </a:rPr>
              <a:t>numSold</a:t>
            </a:r>
            <a:r>
              <a:rPr lang="en-US" sz="1600" b="1" dirty="0">
                <a:latin typeface="Consolas" panose="020B0609020204030204" pitchFamily="49" charset="0"/>
              </a:rPr>
              <a:t> = </a:t>
            </a:r>
            <a:r>
              <a:rPr lang="en-US" sz="1600" b="1" dirty="0" err="1">
                <a:latin typeface="Consolas" panose="020B0609020204030204" pitchFamily="49" charset="0"/>
              </a:rPr>
              <a:t>numSold</a:t>
            </a:r>
            <a:r>
              <a:rPr lang="en-US" sz="1600" b="1" dirty="0">
                <a:latin typeface="Consolas" panose="020B0609020204030204" pitchFamily="49" charset="0"/>
              </a:rPr>
              <a:t>;   </a:t>
            </a:r>
          </a:p>
          <a:p>
            <a:pPr marL="0" indent="0" eaLnBrk="1" hangingPunct="1">
              <a:lnSpc>
                <a:spcPct val="120000"/>
              </a:lnSpc>
              <a:spcBef>
                <a:spcPts val="0"/>
              </a:spcBef>
              <a:buNone/>
            </a:pPr>
            <a:r>
              <a:rPr lang="en-US" sz="1600" b="1" dirty="0">
                <a:latin typeface="Consolas" panose="020B0609020204030204" pitchFamily="49" charset="0"/>
              </a:rPr>
              <a:t>   </a:t>
            </a:r>
            <a:r>
              <a:rPr lang="en-US" sz="1600" b="1" dirty="0" err="1">
                <a:latin typeface="Consolas" panose="020B0609020204030204" pitchFamily="49" charset="0"/>
              </a:rPr>
              <a:t>numSold</a:t>
            </a:r>
            <a:r>
              <a:rPr lang="en-US" sz="1600" b="1" dirty="0">
                <a:latin typeface="Consolas" panose="020B0609020204030204" pitchFamily="49" charset="0"/>
              </a:rPr>
              <a:t>++;    </a:t>
            </a:r>
          </a:p>
          <a:p>
            <a:pPr marL="0" indent="0" eaLnBrk="1" hangingPunct="1">
              <a:lnSpc>
                <a:spcPct val="120000"/>
              </a:lnSpc>
              <a:spcBef>
                <a:spcPts val="0"/>
              </a:spcBef>
              <a:buNone/>
            </a:pPr>
            <a:r>
              <a:rPr lang="en-US" sz="1600" b="1" dirty="0">
                <a:latin typeface="Consolas" panose="020B0609020204030204" pitchFamily="49" charset="0"/>
              </a:rPr>
              <a:t>   return(*object);</a:t>
            </a:r>
          </a:p>
          <a:p>
            <a:pPr marL="0" indent="0" eaLnBrk="1" hangingPunct="1">
              <a:lnSpc>
                <a:spcPct val="120000"/>
              </a:lnSpc>
              <a:spcBef>
                <a:spcPts val="0"/>
              </a:spcBef>
              <a:buNone/>
            </a:pPr>
            <a:r>
              <a:rPr lang="en-US" sz="1600" b="1" dirty="0">
                <a:latin typeface="Consolas" panose="020B0609020204030204" pitchFamily="49" charset="0"/>
              </a:rPr>
              <a:t>}</a:t>
            </a:r>
            <a:endParaRPr lang="en-PK" sz="1600" dirty="0"/>
          </a:p>
        </p:txBody>
      </p:sp>
      <p:sp>
        <p:nvSpPr>
          <p:cNvPr id="4" name="Footer Placeholder 3">
            <a:extLst>
              <a:ext uri="{FF2B5EF4-FFF2-40B4-BE49-F238E27FC236}">
                <a16:creationId xmlns:a16="http://schemas.microsoft.com/office/drawing/2014/main" id="{FF026994-D581-8925-DB7E-429837614AC0}"/>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29A08C90-BCD1-0AAF-188E-358FC61CA801}"/>
              </a:ext>
            </a:extLst>
          </p:cNvPr>
          <p:cNvSpPr>
            <a:spLocks noGrp="1"/>
          </p:cNvSpPr>
          <p:nvPr>
            <p:ph type="sldNum" sz="quarter" idx="12"/>
          </p:nvPr>
        </p:nvSpPr>
        <p:spPr/>
        <p:txBody>
          <a:bodyPr/>
          <a:lstStyle/>
          <a:p>
            <a:fld id="{51845F5A-061D-4825-9AE9-D7794091C6CF}" type="slidenum">
              <a:rPr lang="en-US" smtClean="0"/>
              <a:t>55</a:t>
            </a:fld>
            <a:endParaRPr lang="en-US" dirty="0"/>
          </a:p>
        </p:txBody>
      </p:sp>
    </p:spTree>
    <p:extLst>
      <p:ext uri="{BB962C8B-B14F-4D97-AF65-F5344CB8AC3E}">
        <p14:creationId xmlns:p14="http://schemas.microsoft.com/office/powerpoint/2010/main" val="16061749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7A01B29-3953-89BF-7F2C-052B65FCBE94}"/>
              </a:ext>
            </a:extLst>
          </p:cNvPr>
          <p:cNvSpPr>
            <a:spLocks noGrp="1"/>
          </p:cNvSpPr>
          <p:nvPr>
            <p:ph type="ftr" sz="quarter" idx="11"/>
          </p:nvPr>
        </p:nvSpPr>
        <p:spPr/>
        <p:txBody>
          <a:bodyPr/>
          <a:lstStyle/>
          <a:p>
            <a:r>
              <a:rPr lang="en-US"/>
              <a:t>Object Oriented Programming-Spring 24</a:t>
            </a:r>
          </a:p>
        </p:txBody>
      </p:sp>
      <p:sp>
        <p:nvSpPr>
          <p:cNvPr id="3" name="Slide Number Placeholder 2">
            <a:extLst>
              <a:ext uri="{FF2B5EF4-FFF2-40B4-BE49-F238E27FC236}">
                <a16:creationId xmlns:a16="http://schemas.microsoft.com/office/drawing/2014/main" id="{6F6087DC-C4EE-6287-3BD3-68F3178CD6E2}"/>
              </a:ext>
            </a:extLst>
          </p:cNvPr>
          <p:cNvSpPr>
            <a:spLocks noGrp="1"/>
          </p:cNvSpPr>
          <p:nvPr>
            <p:ph type="sldNum" sz="quarter" idx="12"/>
          </p:nvPr>
        </p:nvSpPr>
        <p:spPr/>
        <p:txBody>
          <a:bodyPr/>
          <a:lstStyle/>
          <a:p>
            <a:fld id="{51845F5A-061D-4825-9AE9-D7794091C6CF}" type="slidenum">
              <a:rPr lang="en-US" smtClean="0"/>
              <a:t>56</a:t>
            </a:fld>
            <a:endParaRPr lang="en-US"/>
          </a:p>
        </p:txBody>
      </p:sp>
      <p:pic>
        <p:nvPicPr>
          <p:cNvPr id="4" name="Picture 3">
            <a:extLst>
              <a:ext uri="{FF2B5EF4-FFF2-40B4-BE49-F238E27FC236}">
                <a16:creationId xmlns:a16="http://schemas.microsoft.com/office/drawing/2014/main" id="{D1E83012-5F91-B64C-D7CF-A056E5EFE671}"/>
              </a:ext>
            </a:extLst>
          </p:cNvPr>
          <p:cNvPicPr>
            <a:picLocks noChangeAspect="1"/>
          </p:cNvPicPr>
          <p:nvPr/>
        </p:nvPicPr>
        <p:blipFill>
          <a:blip r:embed="rId2"/>
          <a:stretch>
            <a:fillRect/>
          </a:stretch>
        </p:blipFill>
        <p:spPr>
          <a:xfrm>
            <a:off x="1588008" y="0"/>
            <a:ext cx="9015984" cy="6858000"/>
          </a:xfrm>
          <a:prstGeom prst="rect">
            <a:avLst/>
          </a:prstGeom>
        </p:spPr>
      </p:pic>
    </p:spTree>
    <p:extLst>
      <p:ext uri="{BB962C8B-B14F-4D97-AF65-F5344CB8AC3E}">
        <p14:creationId xmlns:p14="http://schemas.microsoft.com/office/powerpoint/2010/main" val="35905600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D6848-01D1-C7BB-7389-D37B1741342B}"/>
              </a:ext>
            </a:extLst>
          </p:cNvPr>
          <p:cNvSpPr>
            <a:spLocks noGrp="1"/>
          </p:cNvSpPr>
          <p:nvPr>
            <p:ph type="title"/>
          </p:nvPr>
        </p:nvSpPr>
        <p:spPr/>
        <p:txBody>
          <a:bodyPr/>
          <a:lstStyle/>
          <a:p>
            <a:r>
              <a:rPr lang="en-US" dirty="0"/>
              <a:t>Subscript operator </a:t>
            </a:r>
            <a:r>
              <a:rPr lang="en-US" sz="4800" b="1" dirty="0">
                <a:latin typeface="Times New Roman" panose="02020603050405020304" pitchFamily="18" charset="0"/>
                <a:cs typeface="Times New Roman" panose="02020603050405020304" pitchFamily="18" charset="0"/>
              </a:rPr>
              <a:t>[ ]</a:t>
            </a:r>
            <a:endParaRPr lang="en-PK"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F0D71F-2823-0A19-C041-3CEB390BCDC6}"/>
              </a:ext>
            </a:extLst>
          </p:cNvPr>
          <p:cNvSpPr>
            <a:spLocks noGrp="1"/>
          </p:cNvSpPr>
          <p:nvPr>
            <p:ph idx="1"/>
          </p:nvPr>
        </p:nvSpPr>
        <p:spPr/>
        <p:txBody>
          <a:bodyPr/>
          <a:lstStyle/>
          <a:p>
            <a:pPr algn="just"/>
            <a:r>
              <a:rPr lang="en-US" dirty="0"/>
              <a:t>With the help of </a:t>
            </a:r>
            <a:r>
              <a:rPr lang="en-US" b="1" dirty="0">
                <a:solidFill>
                  <a:srgbClr val="FF0000"/>
                </a:solidFill>
              </a:rPr>
              <a:t>[ ] </a:t>
            </a:r>
            <a:r>
              <a:rPr lang="en-US" dirty="0"/>
              <a:t>operator, we can define array style syntax for accessing or assigning individual elements of classes</a:t>
            </a:r>
          </a:p>
          <a:p>
            <a:pPr marL="0" lvl="2" indent="0" algn="ctr">
              <a:buNone/>
            </a:pPr>
            <a:r>
              <a:rPr lang="en-US" sz="2400" b="1" dirty="0">
                <a:solidFill>
                  <a:srgbClr val="0070C0"/>
                </a:solidFill>
              </a:rPr>
              <a:t>Student</a:t>
            </a:r>
            <a:r>
              <a:rPr lang="en-US" sz="2400" dirty="0"/>
              <a:t> </a:t>
            </a:r>
            <a:r>
              <a:rPr lang="en-US" sz="2400" dirty="0" err="1"/>
              <a:t>semesterGPA</a:t>
            </a:r>
            <a:r>
              <a:rPr lang="en-US" sz="2400" dirty="0"/>
              <a:t>;</a:t>
            </a:r>
          </a:p>
          <a:p>
            <a:pPr marL="0" lvl="2" indent="0" algn="ctr">
              <a:buNone/>
            </a:pPr>
            <a:r>
              <a:rPr lang="en-US" sz="2400" dirty="0" err="1"/>
              <a:t>semesterGPA</a:t>
            </a:r>
            <a:r>
              <a:rPr lang="en-US" sz="2400" b="1" dirty="0">
                <a:solidFill>
                  <a:srgbClr val="FF0000"/>
                </a:solidFill>
              </a:rPr>
              <a:t>[</a:t>
            </a:r>
            <a:r>
              <a:rPr lang="en-US" sz="2400" dirty="0"/>
              <a:t>0</a:t>
            </a:r>
            <a:r>
              <a:rPr lang="en-US" sz="2400" b="1" dirty="0">
                <a:solidFill>
                  <a:srgbClr val="FF0000"/>
                </a:solidFill>
              </a:rPr>
              <a:t>]</a:t>
            </a:r>
            <a:r>
              <a:rPr lang="en-US" sz="2400" dirty="0"/>
              <a:t> = 3.5;</a:t>
            </a:r>
          </a:p>
          <a:p>
            <a:pPr marL="0" lvl="2" indent="0" algn="ctr">
              <a:buNone/>
            </a:pPr>
            <a:r>
              <a:rPr lang="en-US" sz="2400" dirty="0" err="1"/>
              <a:t>semesterGPA</a:t>
            </a:r>
            <a:r>
              <a:rPr lang="en-US" sz="2400" b="1" dirty="0">
                <a:solidFill>
                  <a:srgbClr val="FF0000"/>
                </a:solidFill>
              </a:rPr>
              <a:t>[</a:t>
            </a:r>
            <a:r>
              <a:rPr lang="en-US" sz="2400" dirty="0"/>
              <a:t>1</a:t>
            </a:r>
            <a:r>
              <a:rPr lang="en-US" sz="2400" b="1" dirty="0">
                <a:solidFill>
                  <a:srgbClr val="FF0000"/>
                </a:solidFill>
              </a:rPr>
              <a:t>]</a:t>
            </a:r>
            <a:r>
              <a:rPr lang="en-US" sz="2400" dirty="0"/>
              <a:t> = 3.3;</a:t>
            </a:r>
          </a:p>
        </p:txBody>
      </p:sp>
      <p:sp>
        <p:nvSpPr>
          <p:cNvPr id="4" name="Footer Placeholder 3">
            <a:extLst>
              <a:ext uri="{FF2B5EF4-FFF2-40B4-BE49-F238E27FC236}">
                <a16:creationId xmlns:a16="http://schemas.microsoft.com/office/drawing/2014/main" id="{FF4D6858-ED12-39D6-A832-9E1E284E9610}"/>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16AD270F-23CE-889C-74B5-C3C2D45CA4C6}"/>
              </a:ext>
            </a:extLst>
          </p:cNvPr>
          <p:cNvSpPr>
            <a:spLocks noGrp="1"/>
          </p:cNvSpPr>
          <p:nvPr>
            <p:ph type="sldNum" sz="quarter" idx="12"/>
          </p:nvPr>
        </p:nvSpPr>
        <p:spPr/>
        <p:txBody>
          <a:bodyPr/>
          <a:lstStyle/>
          <a:p>
            <a:fld id="{51845F5A-061D-4825-9AE9-D7794091C6CF}" type="slidenum">
              <a:rPr lang="en-US" smtClean="0"/>
              <a:t>57</a:t>
            </a:fld>
            <a:endParaRPr lang="en-US" dirty="0"/>
          </a:p>
        </p:txBody>
      </p:sp>
    </p:spTree>
    <p:extLst>
      <p:ext uri="{BB962C8B-B14F-4D97-AF65-F5344CB8AC3E}">
        <p14:creationId xmlns:p14="http://schemas.microsoft.com/office/powerpoint/2010/main" val="41937993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A5F42-C606-98AD-4794-C5D5D505B860}"/>
              </a:ext>
            </a:extLst>
          </p:cNvPr>
          <p:cNvSpPr>
            <a:spLocks noGrp="1"/>
          </p:cNvSpPr>
          <p:nvPr>
            <p:ph type="title"/>
          </p:nvPr>
        </p:nvSpPr>
        <p:spPr/>
        <p:txBody>
          <a:bodyPr/>
          <a:lstStyle/>
          <a:p>
            <a:r>
              <a:rPr lang="en-US" dirty="0"/>
              <a:t>Subscript operator </a:t>
            </a:r>
            <a:r>
              <a:rPr lang="en-US" sz="4800" b="1" dirty="0">
                <a:latin typeface="Times New Roman" panose="02020603050405020304" pitchFamily="18" charset="0"/>
                <a:cs typeface="Times New Roman" panose="02020603050405020304" pitchFamily="18" charset="0"/>
              </a:rPr>
              <a:t>[ ]</a:t>
            </a:r>
            <a:endParaRPr lang="en-PK" dirty="0"/>
          </a:p>
        </p:txBody>
      </p:sp>
      <p:sp>
        <p:nvSpPr>
          <p:cNvPr id="3" name="Content Placeholder 2">
            <a:extLst>
              <a:ext uri="{FF2B5EF4-FFF2-40B4-BE49-F238E27FC236}">
                <a16:creationId xmlns:a16="http://schemas.microsoft.com/office/drawing/2014/main" id="{B9DE7E41-5556-1D21-B12E-02ECECE1C1C7}"/>
              </a:ext>
            </a:extLst>
          </p:cNvPr>
          <p:cNvSpPr>
            <a:spLocks noGrp="1"/>
          </p:cNvSpPr>
          <p:nvPr>
            <p:ph idx="1"/>
          </p:nvPr>
        </p:nvSpPr>
        <p:spPr/>
        <p:txBody>
          <a:bodyPr>
            <a:normAutofit fontScale="92500" lnSpcReduction="20000"/>
          </a:bodyPr>
          <a:lstStyle/>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class Student</a:t>
            </a: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  </a:t>
            </a:r>
            <a:r>
              <a:rPr lang="en-US" sz="2000" kern="0" dirty="0">
                <a:latin typeface="Consolas" panose="020B0609020204030204" pitchFamily="49" charset="0"/>
                <a:cs typeface="Tahoma" pitchFamily="34" charset="0"/>
              </a:rPr>
              <a:t> private:</a:t>
            </a:r>
          </a:p>
          <a:p>
            <a:pPr marL="457200" lvl="1" indent="0" eaLnBrk="0" hangingPunct="0">
              <a:lnSpc>
                <a:spcPct val="80000"/>
              </a:lnSpc>
              <a:spcBef>
                <a:spcPct val="20000"/>
              </a:spcBef>
              <a:buNone/>
              <a:defRPr/>
            </a:pPr>
            <a:r>
              <a:rPr lang="en-US" sz="2000" kern="0" dirty="0">
                <a:latin typeface="Consolas" panose="020B0609020204030204" pitchFamily="49" charset="0"/>
                <a:cs typeface="Tahoma" pitchFamily="34" charset="0"/>
              </a:rPr>
              <a:t>		double </a:t>
            </a:r>
            <a:r>
              <a:rPr lang="en-US" sz="2000" kern="0" dirty="0" err="1">
                <a:latin typeface="Consolas" panose="020B0609020204030204" pitchFamily="49" charset="0"/>
                <a:cs typeface="Tahoma" pitchFamily="34" charset="0"/>
              </a:rPr>
              <a:t>gpa</a:t>
            </a:r>
            <a:r>
              <a:rPr lang="en-US" sz="2000" kern="0" dirty="0">
                <a:latin typeface="Consolas" panose="020B0609020204030204" pitchFamily="49" charset="0"/>
                <a:cs typeface="Tahoma" pitchFamily="34" charset="0"/>
              </a:rPr>
              <a:t>[8];</a:t>
            </a:r>
          </a:p>
          <a:p>
            <a:pPr marL="0" lvl="1" indent="0" eaLnBrk="0" hangingPunct="0">
              <a:lnSpc>
                <a:spcPct val="80000"/>
              </a:lnSpc>
              <a:spcBef>
                <a:spcPct val="20000"/>
              </a:spcBef>
              <a:buNone/>
              <a:defRPr/>
            </a:pPr>
            <a:r>
              <a:rPr lang="en-US" sz="2000" kern="0" dirty="0">
                <a:latin typeface="Consolas" panose="020B0609020204030204" pitchFamily="49" charset="0"/>
                <a:cs typeface="Tahoma" pitchFamily="34" charset="0"/>
              </a:rPr>
              <a:t> 	  public:</a:t>
            </a:r>
          </a:p>
          <a:p>
            <a:pPr marL="457200" lvl="1" indent="0" eaLnBrk="0" hangingPunct="0">
              <a:lnSpc>
                <a:spcPct val="80000"/>
              </a:lnSpc>
              <a:spcBef>
                <a:spcPct val="20000"/>
              </a:spcBef>
              <a:buNone/>
              <a:defRPr/>
            </a:pPr>
            <a:r>
              <a:rPr lang="en-US" sz="2000" kern="0" dirty="0">
                <a:latin typeface="Consolas" panose="020B0609020204030204" pitchFamily="49" charset="0"/>
                <a:cs typeface="Tahoma" pitchFamily="34" charset="0"/>
              </a:rPr>
              <a:t>		Student () </a:t>
            </a:r>
          </a:p>
          <a:p>
            <a:pPr marL="457200" lvl="1" indent="0" eaLnBrk="0" hangingPunct="0">
              <a:lnSpc>
                <a:spcPct val="80000"/>
              </a:lnSpc>
              <a:spcBef>
                <a:spcPct val="20000"/>
              </a:spcBef>
              <a:buNone/>
              <a:defRPr/>
            </a:pPr>
            <a:r>
              <a:rPr lang="en-US" sz="2000" kern="0" dirty="0">
                <a:latin typeface="Consolas" panose="020B0609020204030204" pitchFamily="49" charset="0"/>
                <a:cs typeface="Tahoma" pitchFamily="34" charset="0"/>
              </a:rPr>
              <a:t>   {    </a:t>
            </a:r>
            <a:r>
              <a:rPr lang="en-US" kern="0" dirty="0" err="1">
                <a:latin typeface="Consolas" panose="020B0609020204030204" pitchFamily="49" charset="0"/>
                <a:cs typeface="Tahoma" pitchFamily="34" charset="0"/>
              </a:rPr>
              <a:t>gpa</a:t>
            </a:r>
            <a:r>
              <a:rPr lang="en-US" kern="0" dirty="0">
                <a:latin typeface="Consolas" panose="020B0609020204030204" pitchFamily="49" charset="0"/>
                <a:cs typeface="Tahoma" pitchFamily="34" charset="0"/>
              </a:rPr>
              <a:t>[0]=3.5;  </a:t>
            </a:r>
            <a:r>
              <a:rPr lang="en-US" kern="0" dirty="0" err="1">
                <a:latin typeface="Consolas" panose="020B0609020204030204" pitchFamily="49" charset="0"/>
                <a:cs typeface="Tahoma" pitchFamily="34" charset="0"/>
              </a:rPr>
              <a:t>gpa</a:t>
            </a:r>
            <a:r>
              <a:rPr lang="en-US" kern="0" dirty="0">
                <a:latin typeface="Consolas" panose="020B0609020204030204" pitchFamily="49" charset="0"/>
                <a:cs typeface="Tahoma" pitchFamily="34" charset="0"/>
              </a:rPr>
              <a:t>[1]=3.2;   </a:t>
            </a:r>
            <a:r>
              <a:rPr lang="en-US" kern="0" dirty="0" err="1">
                <a:latin typeface="Consolas" panose="020B0609020204030204" pitchFamily="49" charset="0"/>
                <a:cs typeface="Tahoma" pitchFamily="34" charset="0"/>
              </a:rPr>
              <a:t>gpa</a:t>
            </a:r>
            <a:r>
              <a:rPr lang="en-US" kern="0" dirty="0">
                <a:latin typeface="Consolas" panose="020B0609020204030204" pitchFamily="49" charset="0"/>
                <a:cs typeface="Tahoma" pitchFamily="34" charset="0"/>
              </a:rPr>
              <a:t>[2]=4;    </a:t>
            </a:r>
            <a:r>
              <a:rPr lang="en-US" kern="0" dirty="0" err="1">
                <a:latin typeface="Consolas" panose="020B0609020204030204" pitchFamily="49" charset="0"/>
                <a:cs typeface="Tahoma" pitchFamily="34" charset="0"/>
              </a:rPr>
              <a:t>gpa</a:t>
            </a:r>
            <a:r>
              <a:rPr lang="en-US" kern="0" dirty="0">
                <a:latin typeface="Consolas" panose="020B0609020204030204" pitchFamily="49" charset="0"/>
                <a:cs typeface="Tahoma" pitchFamily="34" charset="0"/>
              </a:rPr>
              <a:t>[3]=3.3; </a:t>
            </a:r>
          </a:p>
          <a:p>
            <a:pPr marL="457200" lvl="1" indent="0" eaLnBrk="0" hangingPunct="0">
              <a:lnSpc>
                <a:spcPct val="80000"/>
              </a:lnSpc>
              <a:spcBef>
                <a:spcPct val="20000"/>
              </a:spcBef>
              <a:buNone/>
              <a:defRPr/>
            </a:pPr>
            <a:r>
              <a:rPr lang="en-US" kern="0" dirty="0">
                <a:latin typeface="Consolas" panose="020B0609020204030204" pitchFamily="49" charset="0"/>
                <a:cs typeface="Tahoma" pitchFamily="34" charset="0"/>
              </a:rPr>
              <a:t>         </a:t>
            </a:r>
            <a:r>
              <a:rPr lang="en-US" kern="0" dirty="0" err="1">
                <a:latin typeface="Consolas" panose="020B0609020204030204" pitchFamily="49" charset="0"/>
                <a:cs typeface="Tahoma" pitchFamily="34" charset="0"/>
              </a:rPr>
              <a:t>gpa</a:t>
            </a:r>
            <a:r>
              <a:rPr lang="en-US" kern="0" dirty="0">
                <a:latin typeface="Consolas" panose="020B0609020204030204" pitchFamily="49" charset="0"/>
                <a:cs typeface="Tahoma" pitchFamily="34" charset="0"/>
              </a:rPr>
              <a:t>[4]=3.8;  </a:t>
            </a:r>
            <a:r>
              <a:rPr lang="en-US" kern="0" dirty="0" err="1">
                <a:latin typeface="Consolas" panose="020B0609020204030204" pitchFamily="49" charset="0"/>
                <a:cs typeface="Tahoma" pitchFamily="34" charset="0"/>
              </a:rPr>
              <a:t>gpa</a:t>
            </a:r>
            <a:r>
              <a:rPr lang="en-US" kern="0" dirty="0">
                <a:latin typeface="Consolas" panose="020B0609020204030204" pitchFamily="49" charset="0"/>
                <a:cs typeface="Tahoma" pitchFamily="34" charset="0"/>
              </a:rPr>
              <a:t>[5]=3.6;   </a:t>
            </a:r>
            <a:r>
              <a:rPr lang="en-US" kern="0" dirty="0" err="1">
                <a:latin typeface="Consolas" panose="020B0609020204030204" pitchFamily="49" charset="0"/>
                <a:cs typeface="Tahoma" pitchFamily="34" charset="0"/>
              </a:rPr>
              <a:t>gpa</a:t>
            </a:r>
            <a:r>
              <a:rPr lang="en-US" kern="0" dirty="0">
                <a:latin typeface="Consolas" panose="020B0609020204030204" pitchFamily="49" charset="0"/>
                <a:cs typeface="Tahoma" pitchFamily="34" charset="0"/>
              </a:rPr>
              <a:t>[6]=3.5;  </a:t>
            </a:r>
            <a:r>
              <a:rPr lang="en-US" kern="0" dirty="0" err="1">
                <a:latin typeface="Consolas" panose="020B0609020204030204" pitchFamily="49" charset="0"/>
                <a:cs typeface="Tahoma" pitchFamily="34" charset="0"/>
              </a:rPr>
              <a:t>gpa</a:t>
            </a:r>
            <a:r>
              <a:rPr lang="en-US" kern="0" dirty="0">
                <a:latin typeface="Consolas" panose="020B0609020204030204" pitchFamily="49" charset="0"/>
                <a:cs typeface="Tahoma" pitchFamily="34" charset="0"/>
              </a:rPr>
              <a:t>[7]=3.8;</a:t>
            </a:r>
            <a:endParaRPr lang="en-US" sz="2800" kern="0" dirty="0">
              <a:latin typeface="Consolas" panose="020B0609020204030204" pitchFamily="49" charset="0"/>
              <a:cs typeface="Tahoma" pitchFamily="34" charset="0"/>
            </a:endParaRPr>
          </a:p>
          <a:p>
            <a:pPr marL="457200" lvl="1" indent="0" eaLnBrk="0" hangingPunct="0">
              <a:lnSpc>
                <a:spcPct val="80000"/>
              </a:lnSpc>
              <a:spcBef>
                <a:spcPct val="20000"/>
              </a:spcBef>
              <a:buNone/>
              <a:defRPr/>
            </a:pPr>
            <a:r>
              <a:rPr lang="en-US" sz="2000" kern="0" dirty="0">
                <a:latin typeface="Consolas" panose="020B0609020204030204" pitchFamily="49" charset="0"/>
                <a:cs typeface="Tahoma" pitchFamily="34" charset="0"/>
              </a:rPr>
              <a:t>   }</a:t>
            </a:r>
          </a:p>
          <a:p>
            <a:pPr marL="457200" lvl="1" indent="0" eaLnBrk="0" hangingPunct="0">
              <a:lnSpc>
                <a:spcPct val="80000"/>
              </a:lnSpc>
              <a:spcBef>
                <a:spcPct val="20000"/>
              </a:spcBef>
              <a:buNone/>
              <a:defRPr/>
            </a:pPr>
            <a:r>
              <a:rPr lang="en-US" sz="2000" kern="0" dirty="0">
                <a:solidFill>
                  <a:srgbClr val="B80000"/>
                </a:solidFill>
                <a:latin typeface="Consolas" panose="020B0609020204030204" pitchFamily="49" charset="0"/>
                <a:cs typeface="Tahoma" pitchFamily="34" charset="0"/>
              </a:rPr>
              <a:t>	 </a:t>
            </a:r>
            <a:r>
              <a:rPr lang="en-US" sz="2000" b="1" kern="0" dirty="0">
                <a:solidFill>
                  <a:srgbClr val="FF0000"/>
                </a:solidFill>
                <a:latin typeface="Consolas" panose="020B0609020204030204" pitchFamily="49" charset="0"/>
                <a:cs typeface="Tahoma" pitchFamily="34" charset="0"/>
              </a:rPr>
              <a:t>double&amp; </a:t>
            </a:r>
            <a:r>
              <a:rPr lang="en-US" sz="2000" b="1" kern="0" dirty="0" err="1">
                <a:solidFill>
                  <a:srgbClr val="FF0000"/>
                </a:solidFill>
                <a:latin typeface="Consolas" panose="020B0609020204030204" pitchFamily="49" charset="0"/>
                <a:cs typeface="Tahoma" pitchFamily="34" charset="0"/>
              </a:rPr>
              <a:t>opeator</a:t>
            </a:r>
            <a:r>
              <a:rPr lang="en-US" sz="2000" b="1" kern="0" dirty="0">
                <a:solidFill>
                  <a:srgbClr val="FF0000"/>
                </a:solidFill>
                <a:latin typeface="Consolas" panose="020B0609020204030204" pitchFamily="49" charset="0"/>
                <a:cs typeface="Tahoma" pitchFamily="34" charset="0"/>
              </a:rPr>
              <a:t>[] (int Index);</a:t>
            </a:r>
          </a:p>
          <a:p>
            <a:pPr marL="0" indent="0" eaLnBrk="0" hangingPunct="0">
              <a:lnSpc>
                <a:spcPct val="80000"/>
              </a:lnSpc>
              <a:spcBef>
                <a:spcPct val="20000"/>
              </a:spcBef>
              <a:buNone/>
              <a:defRPr/>
            </a:pPr>
            <a:r>
              <a:rPr lang="en-US" sz="2000" b="1" kern="0" dirty="0">
                <a:latin typeface="Consolas" panose="020B0609020204030204" pitchFamily="49" charset="0"/>
                <a:cs typeface="Tahoma" pitchFamily="34" charset="0"/>
              </a:rPr>
              <a:t>}</a:t>
            </a:r>
          </a:p>
          <a:p>
            <a:pPr marL="0" indent="0" eaLnBrk="0" hangingPunct="0">
              <a:lnSpc>
                <a:spcPct val="80000"/>
              </a:lnSpc>
              <a:spcBef>
                <a:spcPct val="20000"/>
              </a:spcBef>
              <a:buNone/>
              <a:defRPr/>
            </a:pPr>
            <a:endParaRPr lang="en-US" sz="2000" kern="0" dirty="0">
              <a:latin typeface="Consolas" panose="020B0609020204030204" pitchFamily="49" charset="0"/>
              <a:cs typeface="Tahoma" pitchFamily="34" charset="0"/>
            </a:endParaRPr>
          </a:p>
          <a:p>
            <a:pPr marL="0" indent="0" eaLnBrk="0" hangingPunct="0">
              <a:lnSpc>
                <a:spcPct val="80000"/>
              </a:lnSpc>
              <a:spcBef>
                <a:spcPct val="20000"/>
              </a:spcBef>
              <a:buNone/>
              <a:defRPr/>
            </a:pPr>
            <a:endParaRPr lang="en-US" sz="2000" kern="0" dirty="0">
              <a:latin typeface="Consolas" panose="020B0609020204030204" pitchFamily="49" charset="0"/>
              <a:cs typeface="Tahoma" pitchFamily="34" charset="0"/>
            </a:endParaRPr>
          </a:p>
          <a:p>
            <a:pPr marL="0" indent="0" eaLnBrk="0" hangingPunct="0">
              <a:lnSpc>
                <a:spcPct val="80000"/>
              </a:lnSpc>
              <a:spcBef>
                <a:spcPct val="20000"/>
              </a:spcBef>
              <a:buNone/>
              <a:defRPr/>
            </a:pPr>
            <a:r>
              <a:rPr lang="en-US" sz="2000" b="1" kern="0" dirty="0">
                <a:solidFill>
                  <a:srgbClr val="0070C0"/>
                </a:solidFill>
                <a:latin typeface="Consolas" panose="020B0609020204030204" pitchFamily="49" charset="0"/>
                <a:cs typeface="ＭＳ Ｐゴシック" charset="0"/>
              </a:rPr>
              <a:t>double&amp; Student::operator [ ] (int Index)</a:t>
            </a:r>
          </a:p>
          <a:p>
            <a:pPr marL="0" indent="0" eaLnBrk="0" hangingPunct="0">
              <a:lnSpc>
                <a:spcPct val="80000"/>
              </a:lnSpc>
              <a:spcBef>
                <a:spcPct val="20000"/>
              </a:spcBef>
              <a:buNone/>
              <a:defRPr/>
            </a:pPr>
            <a:r>
              <a:rPr lang="en-US" sz="2000" b="1" kern="0" dirty="0">
                <a:latin typeface="Consolas" panose="020B0609020204030204" pitchFamily="49" charset="0"/>
                <a:cs typeface="ＭＳ Ｐゴシック" charset="0"/>
              </a:rPr>
              <a:t>{ 		</a:t>
            </a:r>
          </a:p>
          <a:p>
            <a:pPr marL="0" indent="0" eaLnBrk="0" hangingPunct="0">
              <a:lnSpc>
                <a:spcPct val="80000"/>
              </a:lnSpc>
              <a:spcBef>
                <a:spcPct val="20000"/>
              </a:spcBef>
              <a:buNone/>
              <a:defRPr/>
            </a:pPr>
            <a:r>
              <a:rPr lang="en-US" sz="2000" b="1" kern="0" dirty="0">
                <a:latin typeface="Consolas" panose="020B0609020204030204" pitchFamily="49" charset="0"/>
                <a:cs typeface="ＭＳ Ｐゴシック" charset="0"/>
              </a:rPr>
              <a:t>		return </a:t>
            </a:r>
            <a:r>
              <a:rPr lang="en-US" sz="2000" b="1" kern="0" dirty="0" err="1">
                <a:latin typeface="Consolas" panose="020B0609020204030204" pitchFamily="49" charset="0"/>
                <a:cs typeface="ＭＳ Ｐゴシック" charset="0"/>
              </a:rPr>
              <a:t>gpa</a:t>
            </a:r>
            <a:r>
              <a:rPr lang="en-US" sz="2000" b="1" kern="0" dirty="0">
                <a:latin typeface="Consolas" panose="020B0609020204030204" pitchFamily="49" charset="0"/>
                <a:cs typeface="ＭＳ Ｐゴシック" charset="0"/>
              </a:rPr>
              <a:t>[Index];        </a:t>
            </a:r>
          </a:p>
          <a:p>
            <a:pPr marL="0" indent="0" eaLnBrk="0" hangingPunct="0">
              <a:lnSpc>
                <a:spcPct val="80000"/>
              </a:lnSpc>
              <a:spcBef>
                <a:spcPct val="20000"/>
              </a:spcBef>
              <a:buNone/>
              <a:defRPr/>
            </a:pPr>
            <a:r>
              <a:rPr lang="en-US" sz="2000" b="1" kern="0" dirty="0">
                <a:latin typeface="Consolas" panose="020B0609020204030204" pitchFamily="49" charset="0"/>
                <a:cs typeface="ＭＳ Ｐゴシック" charset="0"/>
              </a:rPr>
              <a:t>}</a:t>
            </a:r>
          </a:p>
          <a:p>
            <a:pPr marL="0" indent="0">
              <a:buNone/>
            </a:pPr>
            <a:endParaRPr lang="en-PK" dirty="0"/>
          </a:p>
        </p:txBody>
      </p:sp>
      <p:sp>
        <p:nvSpPr>
          <p:cNvPr id="4" name="Footer Placeholder 3">
            <a:extLst>
              <a:ext uri="{FF2B5EF4-FFF2-40B4-BE49-F238E27FC236}">
                <a16:creationId xmlns:a16="http://schemas.microsoft.com/office/drawing/2014/main" id="{E9772AEA-9243-8442-1603-D0D0F6E504CF}"/>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89079B36-5D04-E6C6-EA1A-6BFD067DD8A6}"/>
              </a:ext>
            </a:extLst>
          </p:cNvPr>
          <p:cNvSpPr>
            <a:spLocks noGrp="1"/>
          </p:cNvSpPr>
          <p:nvPr>
            <p:ph type="sldNum" sz="quarter" idx="12"/>
          </p:nvPr>
        </p:nvSpPr>
        <p:spPr/>
        <p:txBody>
          <a:bodyPr/>
          <a:lstStyle/>
          <a:p>
            <a:fld id="{51845F5A-061D-4825-9AE9-D7794091C6CF}" type="slidenum">
              <a:rPr lang="en-US" smtClean="0"/>
              <a:t>58</a:t>
            </a:fld>
            <a:endParaRPr lang="en-US" dirty="0"/>
          </a:p>
        </p:txBody>
      </p:sp>
    </p:spTree>
    <p:extLst>
      <p:ext uri="{BB962C8B-B14F-4D97-AF65-F5344CB8AC3E}">
        <p14:creationId xmlns:p14="http://schemas.microsoft.com/office/powerpoint/2010/main" val="3936765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2A0C9-EEF3-63F4-B655-FBEA8ED741E4}"/>
              </a:ext>
            </a:extLst>
          </p:cNvPr>
          <p:cNvSpPr>
            <a:spLocks noGrp="1"/>
          </p:cNvSpPr>
          <p:nvPr>
            <p:ph type="title"/>
          </p:nvPr>
        </p:nvSpPr>
        <p:spPr/>
        <p:txBody>
          <a:bodyPr/>
          <a:lstStyle/>
          <a:p>
            <a:r>
              <a:rPr lang="en-US" dirty="0"/>
              <a:t>Subscript operator </a:t>
            </a:r>
            <a:r>
              <a:rPr lang="en-US" sz="4800" b="1" dirty="0">
                <a:latin typeface="Times New Roman" panose="02020603050405020304" pitchFamily="18" charset="0"/>
                <a:cs typeface="Times New Roman" panose="02020603050405020304" pitchFamily="18" charset="0"/>
              </a:rPr>
              <a:t>[ ]</a:t>
            </a:r>
            <a:endParaRPr lang="en-PK" dirty="0"/>
          </a:p>
        </p:txBody>
      </p:sp>
      <p:sp>
        <p:nvSpPr>
          <p:cNvPr id="3" name="Content Placeholder 2">
            <a:extLst>
              <a:ext uri="{FF2B5EF4-FFF2-40B4-BE49-F238E27FC236}">
                <a16:creationId xmlns:a16="http://schemas.microsoft.com/office/drawing/2014/main" id="{CE019A66-F443-4FD0-9286-E92A7FAD0CFB}"/>
              </a:ext>
            </a:extLst>
          </p:cNvPr>
          <p:cNvSpPr>
            <a:spLocks noGrp="1"/>
          </p:cNvSpPr>
          <p:nvPr>
            <p:ph idx="1"/>
          </p:nvPr>
        </p:nvSpPr>
        <p:spPr/>
        <p:txBody>
          <a:bodyPr>
            <a:normAutofit lnSpcReduction="10000"/>
          </a:bodyPr>
          <a:lstStyle/>
          <a:p>
            <a:pPr marL="0" indent="0">
              <a:buNone/>
            </a:pPr>
            <a:r>
              <a:rPr lang="en-US" b="1" dirty="0">
                <a:latin typeface="Consolas" panose="020B0609020204030204" pitchFamily="49" charset="0"/>
              </a:rPr>
              <a:t>int main ( )</a:t>
            </a:r>
          </a:p>
          <a:p>
            <a:pPr marL="0" indent="0">
              <a:buNone/>
            </a:pPr>
            <a:r>
              <a:rPr lang="en-US" b="1" dirty="0">
                <a:latin typeface="Consolas" panose="020B0609020204030204" pitchFamily="49" charset="0"/>
              </a:rPr>
              <a:t>{</a:t>
            </a:r>
          </a:p>
          <a:p>
            <a:pPr marL="0" indent="0">
              <a:buNone/>
            </a:pPr>
            <a:r>
              <a:rPr lang="en-US" b="1" dirty="0">
                <a:latin typeface="Consolas" panose="020B0609020204030204" pitchFamily="49" charset="0"/>
              </a:rPr>
              <a:t>	Student </a:t>
            </a:r>
            <a:r>
              <a:rPr lang="en-US" b="1" dirty="0" err="1">
                <a:latin typeface="Consolas" panose="020B0609020204030204" pitchFamily="49" charset="0"/>
              </a:rPr>
              <a:t>semesterGPA</a:t>
            </a:r>
            <a:r>
              <a:rPr lang="en-US" b="1" dirty="0">
                <a:latin typeface="Consolas" panose="020B0609020204030204" pitchFamily="49" charset="0"/>
              </a:rPr>
              <a:t>;</a:t>
            </a:r>
          </a:p>
          <a:p>
            <a:pPr marL="0" indent="0">
              <a:buNone/>
            </a:pPr>
            <a:r>
              <a:rPr lang="en-US" b="1" dirty="0">
                <a:latin typeface="Consolas" panose="020B0609020204030204" pitchFamily="49" charset="0"/>
              </a:rPr>
              <a:t>	</a:t>
            </a:r>
            <a:r>
              <a:rPr lang="en-US" b="1" dirty="0" err="1">
                <a:latin typeface="Consolas" panose="020B0609020204030204" pitchFamily="49" charset="0"/>
              </a:rPr>
              <a:t>semesterGPA</a:t>
            </a:r>
            <a:r>
              <a:rPr lang="en-US" b="1" dirty="0">
                <a:solidFill>
                  <a:srgbClr val="FF0000"/>
                </a:solidFill>
                <a:latin typeface="Consolas" panose="020B0609020204030204" pitchFamily="49" charset="0"/>
              </a:rPr>
              <a:t>[</a:t>
            </a:r>
            <a:r>
              <a:rPr lang="en-US" b="1" dirty="0">
                <a:latin typeface="Consolas" panose="020B0609020204030204" pitchFamily="49" charset="0"/>
              </a:rPr>
              <a:t>0</a:t>
            </a:r>
            <a:r>
              <a:rPr lang="en-US" b="1" dirty="0">
                <a:solidFill>
                  <a:srgbClr val="FF0000"/>
                </a:solidFill>
                <a:latin typeface="Consolas" panose="020B0609020204030204" pitchFamily="49" charset="0"/>
              </a:rPr>
              <a:t>]</a:t>
            </a:r>
            <a:r>
              <a:rPr lang="en-US" b="1" dirty="0">
                <a:latin typeface="Consolas" panose="020B0609020204030204" pitchFamily="49" charset="0"/>
              </a:rPr>
              <a:t> = 3.7;</a:t>
            </a:r>
          </a:p>
          <a:p>
            <a:pPr marL="0" indent="0">
              <a:buNone/>
            </a:pPr>
            <a:endParaRPr lang="en-US" b="1" dirty="0">
              <a:latin typeface="Consolas" panose="020B0609020204030204" pitchFamily="49" charset="0"/>
            </a:endParaRPr>
          </a:p>
          <a:p>
            <a:pPr marL="0" indent="0">
              <a:buNone/>
            </a:pPr>
            <a:r>
              <a:rPr lang="en-US" b="1" dirty="0">
                <a:latin typeface="Consolas" panose="020B0609020204030204" pitchFamily="49" charset="0"/>
              </a:rPr>
              <a:t>   double </a:t>
            </a:r>
            <a:r>
              <a:rPr lang="en-US" b="1" dirty="0" err="1">
                <a:latin typeface="Consolas" panose="020B0609020204030204" pitchFamily="49" charset="0"/>
              </a:rPr>
              <a:t>gpa</a:t>
            </a:r>
            <a:r>
              <a:rPr lang="en-US" b="1" dirty="0">
                <a:latin typeface="Consolas" panose="020B0609020204030204" pitchFamily="49" charset="0"/>
              </a:rPr>
              <a:t> = </a:t>
            </a:r>
            <a:r>
              <a:rPr lang="en-US" b="1" dirty="0" err="1">
                <a:latin typeface="Consolas" panose="020B0609020204030204" pitchFamily="49" charset="0"/>
              </a:rPr>
              <a:t>semesterGPA</a:t>
            </a:r>
            <a:r>
              <a:rPr lang="en-US" b="1" dirty="0">
                <a:solidFill>
                  <a:srgbClr val="FF0000"/>
                </a:solidFill>
                <a:latin typeface="Consolas" panose="020B0609020204030204" pitchFamily="49" charset="0"/>
              </a:rPr>
              <a:t>[</a:t>
            </a:r>
            <a:r>
              <a:rPr lang="en-US" b="1" dirty="0">
                <a:latin typeface="Consolas" panose="020B0609020204030204" pitchFamily="49" charset="0"/>
              </a:rPr>
              <a:t>4</a:t>
            </a:r>
            <a:r>
              <a:rPr lang="en-US" b="1" dirty="0">
                <a:solidFill>
                  <a:srgbClr val="FF0000"/>
                </a:solidFill>
                <a:latin typeface="Consolas" panose="020B0609020204030204" pitchFamily="49" charset="0"/>
              </a:rPr>
              <a:t>]</a:t>
            </a:r>
            <a:r>
              <a:rPr lang="en-US" b="1" dirty="0">
                <a:latin typeface="Consolas" panose="020B0609020204030204" pitchFamily="49" charset="0"/>
              </a:rPr>
              <a:t>;</a:t>
            </a:r>
          </a:p>
          <a:p>
            <a:pPr marL="0" indent="0">
              <a:buNone/>
            </a:pPr>
            <a:r>
              <a:rPr lang="en-US" b="1" dirty="0">
                <a:latin typeface="Consolas" panose="020B0609020204030204" pitchFamily="49" charset="0"/>
              </a:rPr>
              <a:t>		</a:t>
            </a:r>
          </a:p>
          <a:p>
            <a:pPr marL="0" indent="0">
              <a:buNone/>
            </a:pPr>
            <a:r>
              <a:rPr lang="en-US" b="1" dirty="0">
                <a:latin typeface="Consolas" panose="020B0609020204030204" pitchFamily="49" charset="0"/>
              </a:rPr>
              <a:t>}</a:t>
            </a:r>
          </a:p>
        </p:txBody>
      </p:sp>
      <p:sp>
        <p:nvSpPr>
          <p:cNvPr id="4" name="Footer Placeholder 3">
            <a:extLst>
              <a:ext uri="{FF2B5EF4-FFF2-40B4-BE49-F238E27FC236}">
                <a16:creationId xmlns:a16="http://schemas.microsoft.com/office/drawing/2014/main" id="{65F7B95C-4105-EC28-3442-EC4776675D14}"/>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C564BEEF-8A97-1054-8E27-87E2FC250F3A}"/>
              </a:ext>
            </a:extLst>
          </p:cNvPr>
          <p:cNvSpPr>
            <a:spLocks noGrp="1"/>
          </p:cNvSpPr>
          <p:nvPr>
            <p:ph type="sldNum" sz="quarter" idx="12"/>
          </p:nvPr>
        </p:nvSpPr>
        <p:spPr/>
        <p:txBody>
          <a:bodyPr/>
          <a:lstStyle/>
          <a:p>
            <a:fld id="{51845F5A-061D-4825-9AE9-D7794091C6CF}" type="slidenum">
              <a:rPr lang="en-US" smtClean="0"/>
              <a:t>59</a:t>
            </a:fld>
            <a:endParaRPr lang="en-US" dirty="0"/>
          </a:p>
        </p:txBody>
      </p:sp>
    </p:spTree>
    <p:extLst>
      <p:ext uri="{BB962C8B-B14F-4D97-AF65-F5344CB8AC3E}">
        <p14:creationId xmlns:p14="http://schemas.microsoft.com/office/powerpoint/2010/main" val="35727613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2C88-2E72-760F-0B2B-789A43E14750}"/>
              </a:ext>
            </a:extLst>
          </p:cNvPr>
          <p:cNvSpPr>
            <a:spLocks noGrp="1"/>
          </p:cNvSpPr>
          <p:nvPr>
            <p:ph type="title"/>
          </p:nvPr>
        </p:nvSpPr>
        <p:spPr/>
        <p:txBody>
          <a:bodyPr/>
          <a:lstStyle/>
          <a:p>
            <a:r>
              <a:rPr lang="en-US" dirty="0"/>
              <a:t>Subscript operator </a:t>
            </a:r>
            <a:r>
              <a:rPr lang="en-US" sz="4800" b="1" dirty="0">
                <a:latin typeface="Times New Roman" panose="02020603050405020304" pitchFamily="18" charset="0"/>
                <a:cs typeface="Times New Roman" panose="02020603050405020304" pitchFamily="18" charset="0"/>
              </a:rPr>
              <a:t>[ ]</a:t>
            </a:r>
            <a:endParaRPr lang="en-PK" dirty="0"/>
          </a:p>
        </p:txBody>
      </p:sp>
      <p:sp>
        <p:nvSpPr>
          <p:cNvPr id="3" name="Content Placeholder 2">
            <a:extLst>
              <a:ext uri="{FF2B5EF4-FFF2-40B4-BE49-F238E27FC236}">
                <a16:creationId xmlns:a16="http://schemas.microsoft.com/office/drawing/2014/main" id="{F9F54D83-6CDC-9FB4-D06A-250773060123}"/>
              </a:ext>
            </a:extLst>
          </p:cNvPr>
          <p:cNvSpPr>
            <a:spLocks noGrp="1"/>
          </p:cNvSpPr>
          <p:nvPr>
            <p:ph idx="1"/>
          </p:nvPr>
        </p:nvSpPr>
        <p:spPr/>
        <p:txBody>
          <a:bodyPr/>
          <a:lstStyle/>
          <a:p>
            <a:pPr algn="just"/>
            <a:r>
              <a:rPr lang="en-US" dirty="0"/>
              <a:t>How does this statement execute?</a:t>
            </a:r>
          </a:p>
          <a:p>
            <a:pPr marL="457200" lvl="1" indent="0" algn="just">
              <a:buNone/>
            </a:pPr>
            <a:r>
              <a:rPr lang="en-US" dirty="0" err="1"/>
              <a:t>semesterGPA</a:t>
            </a:r>
            <a:r>
              <a:rPr lang="en-US" dirty="0"/>
              <a:t>[0] = 3.7;</a:t>
            </a:r>
          </a:p>
          <a:p>
            <a:pPr lvl="1" algn="just"/>
            <a:endParaRPr lang="en-US" dirty="0"/>
          </a:p>
          <a:p>
            <a:pPr algn="just"/>
            <a:r>
              <a:rPr lang="en-US" dirty="0"/>
              <a:t>The </a:t>
            </a:r>
            <a:r>
              <a:rPr lang="en-US" b="1" dirty="0">
                <a:solidFill>
                  <a:srgbClr val="0070C0"/>
                </a:solidFill>
              </a:rPr>
              <a:t>[ ] </a:t>
            </a:r>
            <a:r>
              <a:rPr lang="en-US" dirty="0"/>
              <a:t>has higher priority than the assignment operator, therefore </a:t>
            </a:r>
            <a:r>
              <a:rPr lang="en-US" b="1" dirty="0" err="1">
                <a:solidFill>
                  <a:srgbClr val="0070C0"/>
                </a:solidFill>
              </a:rPr>
              <a:t>semesterGPA</a:t>
            </a:r>
            <a:r>
              <a:rPr lang="en-US" b="1" dirty="0">
                <a:solidFill>
                  <a:srgbClr val="0070C0"/>
                </a:solidFill>
              </a:rPr>
              <a:t>[0] </a:t>
            </a:r>
            <a:r>
              <a:rPr lang="en-US" dirty="0"/>
              <a:t>is processed first. </a:t>
            </a:r>
          </a:p>
          <a:p>
            <a:pPr algn="just"/>
            <a:endParaRPr lang="en-US" dirty="0"/>
          </a:p>
          <a:p>
            <a:pPr algn="just"/>
            <a:r>
              <a:rPr lang="en-US" dirty="0" err="1"/>
              <a:t>semesterGPA</a:t>
            </a:r>
            <a:r>
              <a:rPr lang="en-US" dirty="0"/>
              <a:t>[0] calls operator </a:t>
            </a:r>
            <a:r>
              <a:rPr lang="en-US" b="1" dirty="0">
                <a:solidFill>
                  <a:srgbClr val="FF0000"/>
                </a:solidFill>
              </a:rPr>
              <a:t>[ ]</a:t>
            </a:r>
            <a:r>
              <a:rPr lang="en-US" dirty="0"/>
              <a:t>, which then return a reference of </a:t>
            </a:r>
            <a:r>
              <a:rPr lang="en-US" dirty="0" err="1"/>
              <a:t>semesterGPA.gpa</a:t>
            </a:r>
            <a:r>
              <a:rPr lang="en-US" dirty="0"/>
              <a:t>[0].</a:t>
            </a:r>
          </a:p>
        </p:txBody>
      </p:sp>
      <p:sp>
        <p:nvSpPr>
          <p:cNvPr id="4" name="Footer Placeholder 3">
            <a:extLst>
              <a:ext uri="{FF2B5EF4-FFF2-40B4-BE49-F238E27FC236}">
                <a16:creationId xmlns:a16="http://schemas.microsoft.com/office/drawing/2014/main" id="{0C02C953-06FD-FC35-47B6-69C09CF7166F}"/>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BB8DCD33-868F-FCC3-903B-E0FCEB7AFA38}"/>
              </a:ext>
            </a:extLst>
          </p:cNvPr>
          <p:cNvSpPr>
            <a:spLocks noGrp="1"/>
          </p:cNvSpPr>
          <p:nvPr>
            <p:ph type="sldNum" sz="quarter" idx="12"/>
          </p:nvPr>
        </p:nvSpPr>
        <p:spPr/>
        <p:txBody>
          <a:bodyPr/>
          <a:lstStyle/>
          <a:p>
            <a:fld id="{51845F5A-061D-4825-9AE9-D7794091C6CF}" type="slidenum">
              <a:rPr lang="en-US" smtClean="0"/>
              <a:t>60</a:t>
            </a:fld>
            <a:endParaRPr lang="en-US" dirty="0"/>
          </a:p>
        </p:txBody>
      </p:sp>
    </p:spTree>
    <p:extLst>
      <p:ext uri="{BB962C8B-B14F-4D97-AF65-F5344CB8AC3E}">
        <p14:creationId xmlns:p14="http://schemas.microsoft.com/office/powerpoint/2010/main" val="3489803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F3AB6-6D90-8EBA-147A-8E5CDBC7F077}"/>
              </a:ext>
            </a:extLst>
          </p:cNvPr>
          <p:cNvSpPr>
            <a:spLocks noGrp="1"/>
          </p:cNvSpPr>
          <p:nvPr>
            <p:ph type="title"/>
          </p:nvPr>
        </p:nvSpPr>
        <p:spPr/>
        <p:txBody>
          <a:bodyPr/>
          <a:lstStyle/>
          <a:p>
            <a:r>
              <a:rPr lang="en-US" dirty="0"/>
              <a:t>Subscript operator </a:t>
            </a:r>
            <a:r>
              <a:rPr lang="en-US" sz="4800" b="1" dirty="0">
                <a:latin typeface="Times New Roman" panose="02020603050405020304" pitchFamily="18" charset="0"/>
                <a:cs typeface="Times New Roman" panose="02020603050405020304" pitchFamily="18" charset="0"/>
              </a:rPr>
              <a:t>[ ]</a:t>
            </a:r>
            <a:endParaRPr lang="en-PK" dirty="0"/>
          </a:p>
        </p:txBody>
      </p:sp>
      <p:sp>
        <p:nvSpPr>
          <p:cNvPr id="3" name="Content Placeholder 2">
            <a:extLst>
              <a:ext uri="{FF2B5EF4-FFF2-40B4-BE49-F238E27FC236}">
                <a16:creationId xmlns:a16="http://schemas.microsoft.com/office/drawing/2014/main" id="{4895DF05-B8CD-47DE-395D-7A19375A464F}"/>
              </a:ext>
            </a:extLst>
          </p:cNvPr>
          <p:cNvSpPr>
            <a:spLocks noGrp="1"/>
          </p:cNvSpPr>
          <p:nvPr>
            <p:ph idx="1"/>
          </p:nvPr>
        </p:nvSpPr>
        <p:spPr/>
        <p:txBody>
          <a:bodyPr>
            <a:normAutofit fontScale="77500" lnSpcReduction="20000"/>
          </a:bodyPr>
          <a:lstStyle/>
          <a:p>
            <a:pPr marL="0" algn="just">
              <a:lnSpc>
                <a:spcPct val="120000"/>
              </a:lnSpc>
              <a:spcBef>
                <a:spcPts val="0"/>
              </a:spcBef>
              <a:defRPr/>
            </a:pPr>
            <a:r>
              <a:rPr lang="en-US" dirty="0"/>
              <a:t>The return value is </a:t>
            </a:r>
            <a:r>
              <a:rPr lang="en-US" b="1" i="1" dirty="0">
                <a:solidFill>
                  <a:srgbClr val="0070C0"/>
                </a:solidFill>
              </a:rPr>
              <a:t>reference </a:t>
            </a:r>
            <a:r>
              <a:rPr lang="en-US" dirty="0"/>
              <a:t>to </a:t>
            </a:r>
            <a:r>
              <a:rPr lang="en-US" dirty="0" err="1"/>
              <a:t>semesterGPA.gpa</a:t>
            </a:r>
            <a:r>
              <a:rPr lang="en-US" dirty="0"/>
              <a:t>[0],  and the statement </a:t>
            </a:r>
            <a:r>
              <a:rPr lang="en-US" dirty="0" err="1"/>
              <a:t>semesterGPA</a:t>
            </a:r>
            <a:r>
              <a:rPr lang="en-US" dirty="0"/>
              <a:t>[0] = 3.7 is actually integer assignment</a:t>
            </a:r>
          </a:p>
          <a:p>
            <a:pPr marL="0" indent="0" algn="just" eaLnBrk="1" hangingPunct="1">
              <a:lnSpc>
                <a:spcPct val="120000"/>
              </a:lnSpc>
              <a:spcBef>
                <a:spcPts val="0"/>
              </a:spcBef>
              <a:buNone/>
            </a:pPr>
            <a:endParaRPr lang="en-US" sz="2800" b="1" dirty="0">
              <a:latin typeface="Consolas" panose="020B0609020204030204" pitchFamily="49" charset="0"/>
            </a:endParaRPr>
          </a:p>
          <a:p>
            <a:pPr marL="0" indent="0" algn="just" eaLnBrk="1" hangingPunct="1">
              <a:lnSpc>
                <a:spcPct val="120000"/>
              </a:lnSpc>
              <a:spcBef>
                <a:spcPts val="0"/>
              </a:spcBef>
              <a:buNone/>
            </a:pPr>
            <a:r>
              <a:rPr lang="en-US" sz="2800" b="1" dirty="0">
                <a:latin typeface="Consolas" panose="020B0609020204030204" pitchFamily="49" charset="0"/>
              </a:rPr>
              <a:t>int main ( )</a:t>
            </a:r>
          </a:p>
          <a:p>
            <a:pPr marL="0" indent="0" algn="just" eaLnBrk="1" hangingPunct="1">
              <a:lnSpc>
                <a:spcPct val="120000"/>
              </a:lnSpc>
              <a:spcBef>
                <a:spcPts val="0"/>
              </a:spcBef>
              <a:buNone/>
            </a:pPr>
            <a:r>
              <a:rPr lang="en-US" sz="2800" b="1" dirty="0">
                <a:latin typeface="Consolas" panose="020B0609020204030204" pitchFamily="49" charset="0"/>
              </a:rPr>
              <a:t>{</a:t>
            </a:r>
          </a:p>
          <a:p>
            <a:pPr marL="0" indent="0" algn="just" eaLnBrk="1" hangingPunct="1">
              <a:lnSpc>
                <a:spcPct val="120000"/>
              </a:lnSpc>
              <a:spcBef>
                <a:spcPts val="0"/>
              </a:spcBef>
              <a:buNone/>
            </a:pPr>
            <a:r>
              <a:rPr lang="en-US" sz="2800" b="1" dirty="0">
                <a:latin typeface="Consolas" panose="020B0609020204030204" pitchFamily="49" charset="0"/>
              </a:rPr>
              <a:t>	Student </a:t>
            </a:r>
            <a:r>
              <a:rPr lang="en-US" sz="2800" b="1" dirty="0" err="1">
                <a:latin typeface="Consolas" panose="020B0609020204030204" pitchFamily="49" charset="0"/>
              </a:rPr>
              <a:t>semesterGPA</a:t>
            </a:r>
            <a:r>
              <a:rPr lang="en-US" sz="2800" b="1" dirty="0">
                <a:latin typeface="Consolas" panose="020B0609020204030204" pitchFamily="49" charset="0"/>
              </a:rPr>
              <a:t>;</a:t>
            </a:r>
          </a:p>
          <a:p>
            <a:pPr marL="0" indent="0" algn="just" eaLnBrk="1" hangingPunct="1">
              <a:lnSpc>
                <a:spcPct val="120000"/>
              </a:lnSpc>
              <a:spcBef>
                <a:spcPts val="0"/>
              </a:spcBef>
              <a:buNone/>
            </a:pPr>
            <a:r>
              <a:rPr lang="en-US" sz="2800" b="1" dirty="0">
                <a:latin typeface="Consolas" panose="020B0609020204030204" pitchFamily="49" charset="0"/>
              </a:rPr>
              <a:t>	</a:t>
            </a:r>
            <a:r>
              <a:rPr lang="en-US" sz="2800" b="1" dirty="0" err="1">
                <a:latin typeface="Consolas" panose="020B0609020204030204" pitchFamily="49" charset="0"/>
              </a:rPr>
              <a:t>semesterGPA</a:t>
            </a:r>
            <a:r>
              <a:rPr lang="en-US" sz="2800" b="1" dirty="0">
                <a:latin typeface="Consolas" panose="020B0609020204030204" pitchFamily="49" charset="0"/>
              </a:rPr>
              <a:t>[0] = 3.7;</a:t>
            </a:r>
          </a:p>
          <a:p>
            <a:pPr marL="0" indent="0" algn="just" eaLnBrk="1" hangingPunct="1">
              <a:lnSpc>
                <a:spcPct val="120000"/>
              </a:lnSpc>
              <a:spcBef>
                <a:spcPts val="0"/>
              </a:spcBef>
              <a:buNone/>
            </a:pPr>
            <a:endParaRPr lang="en-US" sz="2800" b="1" dirty="0">
              <a:latin typeface="Consolas" panose="020B0609020204030204" pitchFamily="49" charset="0"/>
            </a:endParaRPr>
          </a:p>
          <a:p>
            <a:pPr marL="0" indent="0" algn="just" eaLnBrk="1" hangingPunct="1">
              <a:lnSpc>
                <a:spcPct val="120000"/>
              </a:lnSpc>
              <a:spcBef>
                <a:spcPts val="0"/>
              </a:spcBef>
              <a:buNone/>
            </a:pPr>
            <a:r>
              <a:rPr lang="en-US" sz="2800" b="1" dirty="0">
                <a:solidFill>
                  <a:srgbClr val="FF0000"/>
                </a:solidFill>
                <a:latin typeface="Consolas" panose="020B0609020204030204" pitchFamily="49" charset="0"/>
              </a:rPr>
              <a:t>	</a:t>
            </a:r>
            <a:r>
              <a:rPr lang="en-US" sz="2800" b="1" dirty="0">
                <a:solidFill>
                  <a:srgbClr val="00B050"/>
                </a:solidFill>
                <a:latin typeface="Consolas" panose="020B0609020204030204" pitchFamily="49" charset="0"/>
              </a:rPr>
              <a:t>// the above statement is processed like as</a:t>
            </a:r>
          </a:p>
          <a:p>
            <a:pPr marL="0" indent="0" algn="just" eaLnBrk="1" hangingPunct="1">
              <a:lnSpc>
                <a:spcPct val="120000"/>
              </a:lnSpc>
              <a:spcBef>
                <a:spcPts val="0"/>
              </a:spcBef>
              <a:buNone/>
            </a:pPr>
            <a:r>
              <a:rPr lang="en-US" sz="2800" b="1" dirty="0">
                <a:solidFill>
                  <a:srgbClr val="FF0000"/>
                </a:solidFill>
                <a:latin typeface="Consolas" panose="020B0609020204030204" pitchFamily="49" charset="0"/>
              </a:rPr>
              <a:t>	</a:t>
            </a:r>
            <a:r>
              <a:rPr lang="en-US" sz="2800" b="1" dirty="0" err="1">
                <a:solidFill>
                  <a:srgbClr val="0070C0"/>
                </a:solidFill>
                <a:latin typeface="Consolas" panose="020B0609020204030204" pitchFamily="49" charset="0"/>
              </a:rPr>
              <a:t>semesterGPA</a:t>
            </a:r>
            <a:r>
              <a:rPr lang="en-US" sz="2800" b="1" dirty="0" err="1">
                <a:solidFill>
                  <a:srgbClr val="FF0000"/>
                </a:solidFill>
                <a:latin typeface="Consolas" panose="020B0609020204030204" pitchFamily="49" charset="0"/>
              </a:rPr>
              <a:t>.gpa</a:t>
            </a:r>
            <a:r>
              <a:rPr lang="en-US" sz="2800" b="1" dirty="0">
                <a:solidFill>
                  <a:srgbClr val="FF0000"/>
                </a:solidFill>
                <a:latin typeface="Consolas" panose="020B0609020204030204" pitchFamily="49" charset="0"/>
              </a:rPr>
              <a:t>[0] </a:t>
            </a:r>
            <a:r>
              <a:rPr lang="en-US" sz="2800" b="1" dirty="0">
                <a:latin typeface="Consolas" panose="020B0609020204030204" pitchFamily="49" charset="0"/>
              </a:rPr>
              <a:t>= 3.7</a:t>
            </a:r>
          </a:p>
          <a:p>
            <a:pPr marL="0" indent="0" algn="just" eaLnBrk="1" hangingPunct="1">
              <a:lnSpc>
                <a:spcPct val="120000"/>
              </a:lnSpc>
              <a:spcBef>
                <a:spcPts val="0"/>
              </a:spcBef>
              <a:buNone/>
            </a:pPr>
            <a:endParaRPr lang="en-US" sz="2800" b="1" dirty="0">
              <a:solidFill>
                <a:srgbClr val="FF0000"/>
              </a:solidFill>
              <a:latin typeface="Consolas" panose="020B0609020204030204" pitchFamily="49" charset="0"/>
            </a:endParaRPr>
          </a:p>
          <a:p>
            <a:pPr marL="0" indent="0" algn="just" eaLnBrk="1" hangingPunct="1">
              <a:lnSpc>
                <a:spcPct val="120000"/>
              </a:lnSpc>
              <a:spcBef>
                <a:spcPts val="0"/>
              </a:spcBef>
              <a:buNone/>
            </a:pPr>
            <a:r>
              <a:rPr lang="en-US" sz="2800" b="1" dirty="0">
                <a:latin typeface="Consolas" panose="020B0609020204030204" pitchFamily="49" charset="0"/>
              </a:rPr>
              <a:t>}</a:t>
            </a:r>
          </a:p>
        </p:txBody>
      </p:sp>
      <p:sp>
        <p:nvSpPr>
          <p:cNvPr id="4" name="Footer Placeholder 3">
            <a:extLst>
              <a:ext uri="{FF2B5EF4-FFF2-40B4-BE49-F238E27FC236}">
                <a16:creationId xmlns:a16="http://schemas.microsoft.com/office/drawing/2014/main" id="{85B7C4BE-051F-A1CE-A55D-FA611629A866}"/>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856F91C2-1A38-0D62-4950-DE083101147A}"/>
              </a:ext>
            </a:extLst>
          </p:cNvPr>
          <p:cNvSpPr>
            <a:spLocks noGrp="1"/>
          </p:cNvSpPr>
          <p:nvPr>
            <p:ph type="sldNum" sz="quarter" idx="12"/>
          </p:nvPr>
        </p:nvSpPr>
        <p:spPr/>
        <p:txBody>
          <a:bodyPr/>
          <a:lstStyle/>
          <a:p>
            <a:fld id="{51845F5A-061D-4825-9AE9-D7794091C6CF}" type="slidenum">
              <a:rPr lang="en-US" smtClean="0"/>
              <a:t>61</a:t>
            </a:fld>
            <a:endParaRPr lang="en-US" dirty="0"/>
          </a:p>
        </p:txBody>
      </p:sp>
    </p:spTree>
    <p:extLst>
      <p:ext uri="{BB962C8B-B14F-4D97-AF65-F5344CB8AC3E}">
        <p14:creationId xmlns:p14="http://schemas.microsoft.com/office/powerpoint/2010/main" val="23557904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F0DE252-3015-B026-F5F8-88F368EDC91F}"/>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2363CF25-F5AC-13EF-7141-8CF6BB2DC00E}"/>
              </a:ext>
            </a:extLst>
          </p:cNvPr>
          <p:cNvSpPr>
            <a:spLocks noGrp="1"/>
          </p:cNvSpPr>
          <p:nvPr>
            <p:ph type="sldNum" sz="quarter" idx="12"/>
          </p:nvPr>
        </p:nvSpPr>
        <p:spPr/>
        <p:txBody>
          <a:bodyPr/>
          <a:lstStyle/>
          <a:p>
            <a:fld id="{51845F5A-061D-4825-9AE9-D7794091C6CF}" type="slidenum">
              <a:rPr lang="en-US" smtClean="0"/>
              <a:t>62</a:t>
            </a:fld>
            <a:endParaRPr lang="en-US" dirty="0"/>
          </a:p>
        </p:txBody>
      </p:sp>
      <p:pic>
        <p:nvPicPr>
          <p:cNvPr id="6" name="Picture 5">
            <a:extLst>
              <a:ext uri="{FF2B5EF4-FFF2-40B4-BE49-F238E27FC236}">
                <a16:creationId xmlns:a16="http://schemas.microsoft.com/office/drawing/2014/main" id="{DED0B8BA-CF28-0899-14C4-87D77758C544}"/>
              </a:ext>
            </a:extLst>
          </p:cNvPr>
          <p:cNvPicPr>
            <a:picLocks noChangeAspect="1"/>
          </p:cNvPicPr>
          <p:nvPr/>
        </p:nvPicPr>
        <p:blipFill>
          <a:blip r:embed="rId3"/>
          <a:stretch>
            <a:fillRect/>
          </a:stretch>
        </p:blipFill>
        <p:spPr>
          <a:xfrm>
            <a:off x="3867978" y="40116"/>
            <a:ext cx="4456043" cy="6777768"/>
          </a:xfrm>
          <a:prstGeom prst="rect">
            <a:avLst/>
          </a:prstGeom>
        </p:spPr>
      </p:pic>
    </p:spTree>
    <p:extLst>
      <p:ext uri="{BB962C8B-B14F-4D97-AF65-F5344CB8AC3E}">
        <p14:creationId xmlns:p14="http://schemas.microsoft.com/office/powerpoint/2010/main" val="8614498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D0D3-32C3-71D4-0899-40FC836AE8A0}"/>
              </a:ext>
            </a:extLst>
          </p:cNvPr>
          <p:cNvSpPr>
            <a:spLocks noGrp="1"/>
          </p:cNvSpPr>
          <p:nvPr>
            <p:ph type="title"/>
          </p:nvPr>
        </p:nvSpPr>
        <p:spPr/>
        <p:txBody>
          <a:bodyPr/>
          <a:lstStyle/>
          <a:p>
            <a:r>
              <a:rPr lang="en-US" dirty="0"/>
              <a:t>Parenthesis operator ()</a:t>
            </a:r>
            <a:endParaRPr lang="en-PK" dirty="0"/>
          </a:p>
        </p:txBody>
      </p:sp>
      <p:sp>
        <p:nvSpPr>
          <p:cNvPr id="3" name="Content Placeholder 2">
            <a:extLst>
              <a:ext uri="{FF2B5EF4-FFF2-40B4-BE49-F238E27FC236}">
                <a16:creationId xmlns:a16="http://schemas.microsoft.com/office/drawing/2014/main" id="{035398F2-C13B-0D4F-0B3F-9413418249F6}"/>
              </a:ext>
            </a:extLst>
          </p:cNvPr>
          <p:cNvSpPr>
            <a:spLocks noGrp="1"/>
          </p:cNvSpPr>
          <p:nvPr>
            <p:ph idx="1"/>
          </p:nvPr>
        </p:nvSpPr>
        <p:spPr/>
        <p:txBody>
          <a:bodyPr/>
          <a:lstStyle/>
          <a:p>
            <a:pPr algn="just">
              <a:defRPr/>
            </a:pPr>
            <a:r>
              <a:rPr lang="en-US" dirty="0"/>
              <a:t>Can only be overloaded as a </a:t>
            </a:r>
            <a:r>
              <a:rPr lang="en-US" dirty="0">
                <a:solidFill>
                  <a:srgbClr val="0070C0"/>
                </a:solidFill>
              </a:rPr>
              <a:t>member function</a:t>
            </a:r>
          </a:p>
          <a:p>
            <a:pPr>
              <a:defRPr/>
            </a:pPr>
            <a:endParaRPr lang="en-US" dirty="0">
              <a:solidFill>
                <a:srgbClr val="FF3300"/>
              </a:solidFill>
              <a:cs typeface="Tahoma" pitchFamily="34" charset="0"/>
            </a:endParaRPr>
          </a:p>
          <a:p>
            <a:pPr>
              <a:defRPr/>
            </a:pPr>
            <a:r>
              <a:rPr lang="en-US" dirty="0">
                <a:cs typeface="Tahoma" pitchFamily="34" charset="0"/>
              </a:rPr>
              <a:t>Can have </a:t>
            </a:r>
            <a:r>
              <a:rPr lang="en-US" dirty="0">
                <a:solidFill>
                  <a:srgbClr val="0070C0"/>
                </a:solidFill>
                <a:cs typeface="Tahoma" pitchFamily="34" charset="0"/>
              </a:rPr>
              <a:t>any return type</a:t>
            </a:r>
          </a:p>
          <a:p>
            <a:pPr>
              <a:defRPr/>
            </a:pPr>
            <a:endParaRPr lang="en-US" dirty="0">
              <a:solidFill>
                <a:srgbClr val="0070C0"/>
              </a:solidFill>
              <a:cs typeface="Tahoma" pitchFamily="34" charset="0"/>
            </a:endParaRPr>
          </a:p>
          <a:p>
            <a:pPr>
              <a:defRPr/>
            </a:pPr>
            <a:r>
              <a:rPr lang="en-US" dirty="0">
                <a:cs typeface="Tahoma" pitchFamily="34" charset="0"/>
              </a:rPr>
              <a:t>Can have </a:t>
            </a:r>
            <a:r>
              <a:rPr lang="en-US" dirty="0">
                <a:solidFill>
                  <a:srgbClr val="0070C0"/>
                </a:solidFill>
                <a:cs typeface="Tahoma" pitchFamily="34" charset="0"/>
              </a:rPr>
              <a:t>zero</a:t>
            </a:r>
            <a:r>
              <a:rPr lang="en-US" dirty="0">
                <a:cs typeface="Tahoma" pitchFamily="34" charset="0"/>
              </a:rPr>
              <a:t> or </a:t>
            </a:r>
            <a:r>
              <a:rPr lang="en-US" dirty="0">
                <a:solidFill>
                  <a:srgbClr val="0070C0"/>
                </a:solidFill>
                <a:cs typeface="Tahoma" pitchFamily="34" charset="0"/>
              </a:rPr>
              <a:t>more parameters</a:t>
            </a:r>
          </a:p>
          <a:p>
            <a:pPr>
              <a:defRPr/>
            </a:pPr>
            <a:endParaRPr lang="en-US" dirty="0">
              <a:solidFill>
                <a:srgbClr val="0070C0"/>
              </a:solidFill>
              <a:cs typeface="Tahoma" pitchFamily="34" charset="0"/>
            </a:endParaRPr>
          </a:p>
          <a:p>
            <a:pPr>
              <a:defRPr/>
            </a:pPr>
            <a:r>
              <a:rPr lang="en-US" dirty="0">
                <a:cs typeface="Tahoma" pitchFamily="34" charset="0"/>
              </a:rPr>
              <a:t>Implement any logic in the function</a:t>
            </a:r>
          </a:p>
        </p:txBody>
      </p:sp>
      <p:sp>
        <p:nvSpPr>
          <p:cNvPr id="4" name="Footer Placeholder 3">
            <a:extLst>
              <a:ext uri="{FF2B5EF4-FFF2-40B4-BE49-F238E27FC236}">
                <a16:creationId xmlns:a16="http://schemas.microsoft.com/office/drawing/2014/main" id="{A6B7A9FF-3EC4-BCE5-A2DA-A772F256A88B}"/>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88C7416B-6FA0-7DB5-A86F-AB0AB15F39E7}"/>
              </a:ext>
            </a:extLst>
          </p:cNvPr>
          <p:cNvSpPr>
            <a:spLocks noGrp="1"/>
          </p:cNvSpPr>
          <p:nvPr>
            <p:ph type="sldNum" sz="quarter" idx="12"/>
          </p:nvPr>
        </p:nvSpPr>
        <p:spPr/>
        <p:txBody>
          <a:bodyPr/>
          <a:lstStyle/>
          <a:p>
            <a:fld id="{51845F5A-061D-4825-9AE9-D7794091C6CF}" type="slidenum">
              <a:rPr lang="en-US" smtClean="0"/>
              <a:t>63</a:t>
            </a:fld>
            <a:endParaRPr lang="en-US" dirty="0"/>
          </a:p>
        </p:txBody>
      </p:sp>
    </p:spTree>
    <p:extLst>
      <p:ext uri="{BB962C8B-B14F-4D97-AF65-F5344CB8AC3E}">
        <p14:creationId xmlns:p14="http://schemas.microsoft.com/office/powerpoint/2010/main" val="25402701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51FB84-C30C-4E76-2E80-43328BF65C0C}"/>
              </a:ext>
            </a:extLst>
          </p:cNvPr>
          <p:cNvSpPr>
            <a:spLocks noGrp="1"/>
          </p:cNvSpPr>
          <p:nvPr>
            <p:ph type="ftr" sz="quarter" idx="11"/>
          </p:nvPr>
        </p:nvSpPr>
        <p:spPr/>
        <p:txBody>
          <a:bodyPr/>
          <a:lstStyle/>
          <a:p>
            <a:r>
              <a:rPr lang="en-US"/>
              <a:t>Object Oriented Programming-Spring 24</a:t>
            </a:r>
          </a:p>
        </p:txBody>
      </p:sp>
      <p:sp>
        <p:nvSpPr>
          <p:cNvPr id="3" name="Slide Number Placeholder 2">
            <a:extLst>
              <a:ext uri="{FF2B5EF4-FFF2-40B4-BE49-F238E27FC236}">
                <a16:creationId xmlns:a16="http://schemas.microsoft.com/office/drawing/2014/main" id="{25DC6ADC-5AD0-0266-B289-20DF830BA37B}"/>
              </a:ext>
            </a:extLst>
          </p:cNvPr>
          <p:cNvSpPr>
            <a:spLocks noGrp="1"/>
          </p:cNvSpPr>
          <p:nvPr>
            <p:ph type="sldNum" sz="quarter" idx="12"/>
          </p:nvPr>
        </p:nvSpPr>
        <p:spPr/>
        <p:txBody>
          <a:bodyPr/>
          <a:lstStyle/>
          <a:p>
            <a:fld id="{51845F5A-061D-4825-9AE9-D7794091C6CF}" type="slidenum">
              <a:rPr lang="en-US" smtClean="0"/>
              <a:t>64</a:t>
            </a:fld>
            <a:endParaRPr lang="en-US"/>
          </a:p>
        </p:txBody>
      </p:sp>
      <p:pic>
        <p:nvPicPr>
          <p:cNvPr id="5" name="Picture 4">
            <a:extLst>
              <a:ext uri="{FF2B5EF4-FFF2-40B4-BE49-F238E27FC236}">
                <a16:creationId xmlns:a16="http://schemas.microsoft.com/office/drawing/2014/main" id="{B627DA19-E2DC-70CE-02A8-74A688AF223A}"/>
              </a:ext>
            </a:extLst>
          </p:cNvPr>
          <p:cNvPicPr>
            <a:picLocks noChangeAspect="1"/>
          </p:cNvPicPr>
          <p:nvPr/>
        </p:nvPicPr>
        <p:blipFill>
          <a:blip r:embed="rId2"/>
          <a:stretch>
            <a:fillRect/>
          </a:stretch>
        </p:blipFill>
        <p:spPr>
          <a:xfrm>
            <a:off x="148619" y="42378"/>
            <a:ext cx="8461981" cy="6773243"/>
          </a:xfrm>
          <a:prstGeom prst="rect">
            <a:avLst/>
          </a:prstGeom>
        </p:spPr>
      </p:pic>
      <p:pic>
        <p:nvPicPr>
          <p:cNvPr id="6" name="Picture 5">
            <a:extLst>
              <a:ext uri="{FF2B5EF4-FFF2-40B4-BE49-F238E27FC236}">
                <a16:creationId xmlns:a16="http://schemas.microsoft.com/office/drawing/2014/main" id="{C9CB1ACF-DDB1-4BC9-6F7D-78BFAC434739}"/>
              </a:ext>
            </a:extLst>
          </p:cNvPr>
          <p:cNvPicPr>
            <a:picLocks noChangeAspect="1"/>
          </p:cNvPicPr>
          <p:nvPr/>
        </p:nvPicPr>
        <p:blipFill>
          <a:blip r:embed="rId3"/>
          <a:stretch>
            <a:fillRect/>
          </a:stretch>
        </p:blipFill>
        <p:spPr>
          <a:xfrm>
            <a:off x="6466891" y="136523"/>
            <a:ext cx="4676037" cy="5358848"/>
          </a:xfrm>
          <a:prstGeom prst="rect">
            <a:avLst/>
          </a:prstGeom>
        </p:spPr>
      </p:pic>
    </p:spTree>
    <p:extLst>
      <p:ext uri="{BB962C8B-B14F-4D97-AF65-F5344CB8AC3E}">
        <p14:creationId xmlns:p14="http://schemas.microsoft.com/office/powerpoint/2010/main" val="22698284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FA354AB-B065-64F9-E432-5C34967B2705}"/>
              </a:ext>
            </a:extLst>
          </p:cNvPr>
          <p:cNvSpPr>
            <a:spLocks noGrp="1"/>
          </p:cNvSpPr>
          <p:nvPr>
            <p:ph type="ftr" sz="quarter" idx="11"/>
          </p:nvPr>
        </p:nvSpPr>
        <p:spPr/>
        <p:txBody>
          <a:bodyPr/>
          <a:lstStyle/>
          <a:p>
            <a:r>
              <a:rPr lang="en-US"/>
              <a:t>Object Oriented Programming-Spring 24</a:t>
            </a:r>
          </a:p>
        </p:txBody>
      </p:sp>
      <p:sp>
        <p:nvSpPr>
          <p:cNvPr id="3" name="Slide Number Placeholder 2">
            <a:extLst>
              <a:ext uri="{FF2B5EF4-FFF2-40B4-BE49-F238E27FC236}">
                <a16:creationId xmlns:a16="http://schemas.microsoft.com/office/drawing/2014/main" id="{F28E0BF7-6A33-0D98-5FD9-04E5140E3D5C}"/>
              </a:ext>
            </a:extLst>
          </p:cNvPr>
          <p:cNvSpPr>
            <a:spLocks noGrp="1"/>
          </p:cNvSpPr>
          <p:nvPr>
            <p:ph type="sldNum" sz="quarter" idx="12"/>
          </p:nvPr>
        </p:nvSpPr>
        <p:spPr/>
        <p:txBody>
          <a:bodyPr/>
          <a:lstStyle/>
          <a:p>
            <a:fld id="{51845F5A-061D-4825-9AE9-D7794091C6CF}" type="slidenum">
              <a:rPr lang="en-US" smtClean="0"/>
              <a:t>65</a:t>
            </a:fld>
            <a:endParaRPr lang="en-US"/>
          </a:p>
        </p:txBody>
      </p:sp>
      <p:pic>
        <p:nvPicPr>
          <p:cNvPr id="4" name="Picture 3">
            <a:extLst>
              <a:ext uri="{FF2B5EF4-FFF2-40B4-BE49-F238E27FC236}">
                <a16:creationId xmlns:a16="http://schemas.microsoft.com/office/drawing/2014/main" id="{E607C255-439D-1B9B-7CB6-21DE44C331FE}"/>
              </a:ext>
            </a:extLst>
          </p:cNvPr>
          <p:cNvPicPr>
            <a:picLocks noChangeAspect="1"/>
          </p:cNvPicPr>
          <p:nvPr/>
        </p:nvPicPr>
        <p:blipFill>
          <a:blip r:embed="rId2"/>
          <a:stretch>
            <a:fillRect/>
          </a:stretch>
        </p:blipFill>
        <p:spPr>
          <a:xfrm>
            <a:off x="164367" y="0"/>
            <a:ext cx="8446233" cy="6858000"/>
          </a:xfrm>
          <a:prstGeom prst="rect">
            <a:avLst/>
          </a:prstGeom>
        </p:spPr>
      </p:pic>
      <p:pic>
        <p:nvPicPr>
          <p:cNvPr id="5" name="Picture 4">
            <a:extLst>
              <a:ext uri="{FF2B5EF4-FFF2-40B4-BE49-F238E27FC236}">
                <a16:creationId xmlns:a16="http://schemas.microsoft.com/office/drawing/2014/main" id="{BE73A4D0-1891-0B07-CDF4-22699C8831AA}"/>
              </a:ext>
            </a:extLst>
          </p:cNvPr>
          <p:cNvPicPr>
            <a:picLocks noChangeAspect="1"/>
          </p:cNvPicPr>
          <p:nvPr/>
        </p:nvPicPr>
        <p:blipFill>
          <a:blip r:embed="rId3"/>
          <a:stretch>
            <a:fillRect/>
          </a:stretch>
        </p:blipFill>
        <p:spPr>
          <a:xfrm>
            <a:off x="7427636" y="101123"/>
            <a:ext cx="3926164" cy="6242845"/>
          </a:xfrm>
          <a:prstGeom prst="rect">
            <a:avLst/>
          </a:prstGeom>
        </p:spPr>
      </p:pic>
    </p:spTree>
    <p:extLst>
      <p:ext uri="{BB962C8B-B14F-4D97-AF65-F5344CB8AC3E}">
        <p14:creationId xmlns:p14="http://schemas.microsoft.com/office/powerpoint/2010/main" val="38229498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271FD-BFB3-789F-4515-5DE6D4246E41}"/>
              </a:ext>
            </a:extLst>
          </p:cNvPr>
          <p:cNvSpPr>
            <a:spLocks noGrp="1"/>
          </p:cNvSpPr>
          <p:nvPr>
            <p:ph type="title"/>
          </p:nvPr>
        </p:nvSpPr>
        <p:spPr/>
        <p:txBody>
          <a:bodyPr/>
          <a:lstStyle/>
          <a:p>
            <a:r>
              <a:rPr lang="en-US" dirty="0"/>
              <a:t>Calling an overloaded operator from native data types</a:t>
            </a:r>
            <a:endParaRPr lang="en-PK" dirty="0"/>
          </a:p>
        </p:txBody>
      </p:sp>
      <p:sp>
        <p:nvSpPr>
          <p:cNvPr id="3" name="Content Placeholder 2">
            <a:extLst>
              <a:ext uri="{FF2B5EF4-FFF2-40B4-BE49-F238E27FC236}">
                <a16:creationId xmlns:a16="http://schemas.microsoft.com/office/drawing/2014/main" id="{87052188-9F57-1B32-9545-076828655CAE}"/>
              </a:ext>
            </a:extLst>
          </p:cNvPr>
          <p:cNvSpPr>
            <a:spLocks noGrp="1"/>
          </p:cNvSpPr>
          <p:nvPr>
            <p:ph idx="1"/>
          </p:nvPr>
        </p:nvSpPr>
        <p:spPr/>
        <p:txBody>
          <a:bodyPr>
            <a:normAutofit lnSpcReduction="10000"/>
          </a:bodyPr>
          <a:lstStyle/>
          <a:p>
            <a:pPr lvl="1">
              <a:buFontTx/>
              <a:buNone/>
            </a:pPr>
            <a:r>
              <a:rPr lang="en-US" b="1" dirty="0">
                <a:solidFill>
                  <a:srgbClr val="0070C0"/>
                </a:solidFill>
                <a:latin typeface="Consolas" panose="020B0609020204030204" pitchFamily="49" charset="0"/>
                <a:cs typeface="Courier New" panose="02070309020205020404" pitchFamily="49" charset="0"/>
              </a:rPr>
              <a:t>int </a:t>
            </a:r>
            <a:r>
              <a:rPr lang="en-US" dirty="0">
                <a:latin typeface="Consolas" panose="020B0609020204030204" pitchFamily="49" charset="0"/>
                <a:cs typeface="Courier New" panose="02070309020205020404" pitchFamily="49" charset="0"/>
              </a:rPr>
              <a:t>var;</a:t>
            </a:r>
          </a:p>
          <a:p>
            <a:pPr lvl="1">
              <a:buFontTx/>
              <a:buNone/>
            </a:pPr>
            <a:r>
              <a:rPr lang="en-US" b="1" dirty="0">
                <a:solidFill>
                  <a:srgbClr val="00B050"/>
                </a:solidFill>
                <a:latin typeface="Consolas" panose="020B0609020204030204" pitchFamily="49" charset="0"/>
                <a:cs typeface="Courier New" panose="02070309020205020404" pitchFamily="49" charset="0"/>
              </a:rPr>
              <a:t>	Point </a:t>
            </a:r>
            <a:r>
              <a:rPr lang="en-US" dirty="0">
                <a:latin typeface="Consolas" panose="020B0609020204030204" pitchFamily="49" charset="0"/>
                <a:cs typeface="Courier New" panose="02070309020205020404" pitchFamily="49" charset="0"/>
              </a:rPr>
              <a:t>object;</a:t>
            </a:r>
          </a:p>
          <a:p>
            <a:pPr lvl="1">
              <a:buFontTx/>
              <a:buNone/>
            </a:pPr>
            <a:r>
              <a:rPr lang="en-US" dirty="0">
                <a:latin typeface="Consolas" panose="020B0609020204030204" pitchFamily="49" charset="0"/>
                <a:cs typeface="Courier New" panose="02070309020205020404" pitchFamily="49" charset="0"/>
              </a:rPr>
              <a:t>	var = var + object; </a:t>
            </a:r>
          </a:p>
          <a:p>
            <a:pPr lvl="1">
              <a:buFontTx/>
              <a:buNone/>
            </a:pPr>
            <a:endParaRPr lang="en-US" dirty="0">
              <a:cs typeface="Tahoma" panose="020B0604030504040204" pitchFamily="34" charset="0"/>
            </a:endParaRPr>
          </a:p>
          <a:p>
            <a:pPr algn="just"/>
            <a:r>
              <a:rPr lang="en-US" dirty="0"/>
              <a:t>In above example, it seems that we need to overload + operator for integer (native-data type). </a:t>
            </a:r>
          </a:p>
          <a:p>
            <a:pPr algn="just"/>
            <a:endParaRPr lang="en-US" dirty="0"/>
          </a:p>
          <a:p>
            <a:pPr algn="just"/>
            <a:r>
              <a:rPr lang="en-US" dirty="0"/>
              <a:t>But in operator overloading we </a:t>
            </a:r>
            <a:r>
              <a:rPr lang="en-US" b="1" i="1" dirty="0">
                <a:solidFill>
                  <a:srgbClr val="FF0000"/>
                </a:solidFill>
              </a:rPr>
              <a:t>can't change the functionality of integer (or any primitive) data type</a:t>
            </a:r>
          </a:p>
          <a:p>
            <a:endParaRPr lang="en-PK" dirty="0"/>
          </a:p>
        </p:txBody>
      </p:sp>
      <p:sp>
        <p:nvSpPr>
          <p:cNvPr id="4" name="Footer Placeholder 3">
            <a:extLst>
              <a:ext uri="{FF2B5EF4-FFF2-40B4-BE49-F238E27FC236}">
                <a16:creationId xmlns:a16="http://schemas.microsoft.com/office/drawing/2014/main" id="{485F86C8-5A42-3427-B073-B1EB005923FF}"/>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AA34C4E6-7A30-E2EB-2BD9-CA3F6D1DF8F4}"/>
              </a:ext>
            </a:extLst>
          </p:cNvPr>
          <p:cNvSpPr>
            <a:spLocks noGrp="1"/>
          </p:cNvSpPr>
          <p:nvPr>
            <p:ph type="sldNum" sz="quarter" idx="12"/>
          </p:nvPr>
        </p:nvSpPr>
        <p:spPr/>
        <p:txBody>
          <a:bodyPr/>
          <a:lstStyle/>
          <a:p>
            <a:fld id="{51845F5A-061D-4825-9AE9-D7794091C6CF}" type="slidenum">
              <a:rPr lang="en-US" smtClean="0"/>
              <a:t>66</a:t>
            </a:fld>
            <a:endParaRPr lang="en-US" dirty="0"/>
          </a:p>
        </p:txBody>
      </p:sp>
    </p:spTree>
    <p:extLst>
      <p:ext uri="{BB962C8B-B14F-4D97-AF65-F5344CB8AC3E}">
        <p14:creationId xmlns:p14="http://schemas.microsoft.com/office/powerpoint/2010/main" val="35955268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47672-9088-FEFE-4987-2CAB16BA826C}"/>
              </a:ext>
            </a:extLst>
          </p:cNvPr>
          <p:cNvSpPr>
            <a:spLocks noGrp="1"/>
          </p:cNvSpPr>
          <p:nvPr>
            <p:ph type="title"/>
          </p:nvPr>
        </p:nvSpPr>
        <p:spPr/>
        <p:txBody>
          <a:bodyPr/>
          <a:lstStyle/>
          <a:p>
            <a:r>
              <a:rPr lang="en-US" dirty="0"/>
              <a:t>Calling an overloaded operator from native data types</a:t>
            </a:r>
            <a:endParaRPr lang="en-PK" dirty="0"/>
          </a:p>
        </p:txBody>
      </p:sp>
      <p:sp>
        <p:nvSpPr>
          <p:cNvPr id="3" name="Content Placeholder 2">
            <a:extLst>
              <a:ext uri="{FF2B5EF4-FFF2-40B4-BE49-F238E27FC236}">
                <a16:creationId xmlns:a16="http://schemas.microsoft.com/office/drawing/2014/main" id="{1B586366-CD3A-9E02-87AA-B1A926FD6AC1}"/>
              </a:ext>
            </a:extLst>
          </p:cNvPr>
          <p:cNvSpPr>
            <a:spLocks noGrp="1"/>
          </p:cNvSpPr>
          <p:nvPr>
            <p:ph idx="1"/>
          </p:nvPr>
        </p:nvSpPr>
        <p:spPr/>
        <p:txBody>
          <a:bodyPr/>
          <a:lstStyle/>
          <a:p>
            <a:pPr algn="just"/>
            <a:r>
              <a:rPr lang="en-US" b="1" i="1" dirty="0">
                <a:solidFill>
                  <a:srgbClr val="FF0000"/>
                </a:solidFill>
              </a:rPr>
              <a:t>Friend functions </a:t>
            </a:r>
            <a:r>
              <a:rPr lang="en-US" dirty="0"/>
              <a:t>can help solve this problem.</a:t>
            </a:r>
          </a:p>
          <a:p>
            <a:endParaRPr lang="en-US" dirty="0"/>
          </a:p>
          <a:p>
            <a:r>
              <a:rPr lang="en-US" dirty="0"/>
              <a:t>A Friend function </a:t>
            </a:r>
            <a:r>
              <a:rPr lang="en-US" dirty="0">
                <a:solidFill>
                  <a:srgbClr val="0070C0"/>
                </a:solidFill>
              </a:rPr>
              <a:t>does not need</a:t>
            </a:r>
            <a:r>
              <a:rPr lang="en-US" dirty="0"/>
              <a:t> an object of a class for its calling.</a:t>
            </a:r>
          </a:p>
          <a:p>
            <a:endParaRPr lang="en-US" dirty="0"/>
          </a:p>
          <a:p>
            <a:pPr algn="just"/>
            <a:r>
              <a:rPr lang="en-US" dirty="0"/>
              <a:t>Thus, with a simple trick we can set parameter1 of an overloaded operator to a native data type and parameter2 to class object.</a:t>
            </a:r>
          </a:p>
        </p:txBody>
      </p:sp>
      <p:sp>
        <p:nvSpPr>
          <p:cNvPr id="4" name="Footer Placeholder 3">
            <a:extLst>
              <a:ext uri="{FF2B5EF4-FFF2-40B4-BE49-F238E27FC236}">
                <a16:creationId xmlns:a16="http://schemas.microsoft.com/office/drawing/2014/main" id="{D89817B1-147A-FEA2-0BA1-3C7D72A68022}"/>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823F8162-70C2-84FC-3F8B-520B938CBACA}"/>
              </a:ext>
            </a:extLst>
          </p:cNvPr>
          <p:cNvSpPr>
            <a:spLocks noGrp="1"/>
          </p:cNvSpPr>
          <p:nvPr>
            <p:ph type="sldNum" sz="quarter" idx="12"/>
          </p:nvPr>
        </p:nvSpPr>
        <p:spPr/>
        <p:txBody>
          <a:bodyPr/>
          <a:lstStyle/>
          <a:p>
            <a:fld id="{51845F5A-061D-4825-9AE9-D7794091C6CF}" type="slidenum">
              <a:rPr lang="en-US" smtClean="0"/>
              <a:t>67</a:t>
            </a:fld>
            <a:endParaRPr lang="en-US" dirty="0"/>
          </a:p>
        </p:txBody>
      </p:sp>
    </p:spTree>
    <p:extLst>
      <p:ext uri="{BB962C8B-B14F-4D97-AF65-F5344CB8AC3E}">
        <p14:creationId xmlns:p14="http://schemas.microsoft.com/office/powerpoint/2010/main" val="42543098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D5F22-38F4-614E-4347-A3137AB263E2}"/>
              </a:ext>
            </a:extLst>
          </p:cNvPr>
          <p:cNvSpPr>
            <a:spLocks noGrp="1"/>
          </p:cNvSpPr>
          <p:nvPr>
            <p:ph type="title"/>
          </p:nvPr>
        </p:nvSpPr>
        <p:spPr/>
        <p:txBody>
          <a:bodyPr/>
          <a:lstStyle/>
          <a:p>
            <a:r>
              <a:rPr lang="en-US" dirty="0"/>
              <a:t>Friend Functions</a:t>
            </a:r>
            <a:endParaRPr lang="en-PK" dirty="0"/>
          </a:p>
        </p:txBody>
      </p:sp>
      <p:sp>
        <p:nvSpPr>
          <p:cNvPr id="3" name="Content Placeholder 2">
            <a:extLst>
              <a:ext uri="{FF2B5EF4-FFF2-40B4-BE49-F238E27FC236}">
                <a16:creationId xmlns:a16="http://schemas.microsoft.com/office/drawing/2014/main" id="{89D7997B-6455-B6C2-9CDD-54C09AFC9FCD}"/>
              </a:ext>
            </a:extLst>
          </p:cNvPr>
          <p:cNvSpPr>
            <a:spLocks noGrp="1"/>
          </p:cNvSpPr>
          <p:nvPr>
            <p:ph idx="1"/>
          </p:nvPr>
        </p:nvSpPr>
        <p:spPr/>
        <p:txBody>
          <a:bodyPr>
            <a:normAutofit fontScale="92500" lnSpcReduction="10000"/>
          </a:bodyPr>
          <a:lstStyle/>
          <a:p>
            <a:pPr algn="just"/>
            <a:r>
              <a:rPr lang="en-US" dirty="0"/>
              <a:t>Friend functions: can be given special grant to access private and protected members. A friend function can be:</a:t>
            </a:r>
          </a:p>
          <a:p>
            <a:pPr marL="0" indent="0" algn="just">
              <a:buNone/>
            </a:pPr>
            <a:br>
              <a:rPr lang="en-US" dirty="0"/>
            </a:br>
            <a:r>
              <a:rPr lang="en-US" dirty="0"/>
              <a:t>	</a:t>
            </a:r>
            <a:r>
              <a:rPr lang="en-US" dirty="0">
                <a:solidFill>
                  <a:srgbClr val="FF0000"/>
                </a:solidFill>
              </a:rPr>
              <a:t>a) method of another class</a:t>
            </a:r>
          </a:p>
          <a:p>
            <a:pPr marL="0" indent="0" algn="just">
              <a:buNone/>
            </a:pPr>
            <a:r>
              <a:rPr lang="en-US" dirty="0">
                <a:solidFill>
                  <a:srgbClr val="FF0000"/>
                </a:solidFill>
              </a:rPr>
              <a:t>  	b) global function</a:t>
            </a:r>
          </a:p>
          <a:p>
            <a:pPr algn="just"/>
            <a:endParaRPr lang="en-US" dirty="0"/>
          </a:p>
          <a:p>
            <a:pPr algn="just"/>
            <a:r>
              <a:rPr lang="en-US" dirty="0"/>
              <a:t>Friends should be used only for limited purpose, too many functions declared as friends with protected or private data access, lessens the value of encapsulation</a:t>
            </a:r>
          </a:p>
        </p:txBody>
      </p:sp>
      <p:sp>
        <p:nvSpPr>
          <p:cNvPr id="4" name="Footer Placeholder 3">
            <a:extLst>
              <a:ext uri="{FF2B5EF4-FFF2-40B4-BE49-F238E27FC236}">
                <a16:creationId xmlns:a16="http://schemas.microsoft.com/office/drawing/2014/main" id="{FE84D00E-31EB-718D-06B5-63C10DC65C40}"/>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1A5E4FAD-2BCB-C3C4-0042-FAFEC458A880}"/>
              </a:ext>
            </a:extLst>
          </p:cNvPr>
          <p:cNvSpPr>
            <a:spLocks noGrp="1"/>
          </p:cNvSpPr>
          <p:nvPr>
            <p:ph type="sldNum" sz="quarter" idx="12"/>
          </p:nvPr>
        </p:nvSpPr>
        <p:spPr/>
        <p:txBody>
          <a:bodyPr/>
          <a:lstStyle/>
          <a:p>
            <a:fld id="{51845F5A-061D-4825-9AE9-D7794091C6CF}" type="slidenum">
              <a:rPr lang="en-US" smtClean="0"/>
              <a:t>68</a:t>
            </a:fld>
            <a:endParaRPr lang="en-US" dirty="0"/>
          </a:p>
        </p:txBody>
      </p:sp>
    </p:spTree>
    <p:extLst>
      <p:ext uri="{BB962C8B-B14F-4D97-AF65-F5344CB8AC3E}">
        <p14:creationId xmlns:p14="http://schemas.microsoft.com/office/powerpoint/2010/main" val="12370763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EFB02-0C1C-B685-6027-8665D7C025B6}"/>
              </a:ext>
            </a:extLst>
          </p:cNvPr>
          <p:cNvSpPr>
            <a:spLocks noGrp="1"/>
          </p:cNvSpPr>
          <p:nvPr>
            <p:ph type="title"/>
          </p:nvPr>
        </p:nvSpPr>
        <p:spPr/>
        <p:txBody>
          <a:bodyPr/>
          <a:lstStyle/>
          <a:p>
            <a:r>
              <a:rPr lang="en-US" dirty="0"/>
              <a:t>Calling an overloaded operator from native data types</a:t>
            </a:r>
            <a:endParaRPr lang="en-PK" dirty="0"/>
          </a:p>
        </p:txBody>
      </p:sp>
      <p:sp>
        <p:nvSpPr>
          <p:cNvPr id="3" name="Content Placeholder 2">
            <a:extLst>
              <a:ext uri="{FF2B5EF4-FFF2-40B4-BE49-F238E27FC236}">
                <a16:creationId xmlns:a16="http://schemas.microsoft.com/office/drawing/2014/main" id="{73EA6111-FA53-4801-D96E-33AB9E0CE00B}"/>
              </a:ext>
            </a:extLst>
          </p:cNvPr>
          <p:cNvSpPr>
            <a:spLocks noGrp="1"/>
          </p:cNvSpPr>
          <p:nvPr>
            <p:ph idx="1"/>
          </p:nvPr>
        </p:nvSpPr>
        <p:spPr/>
        <p:txBody>
          <a:bodyPr/>
          <a:lstStyle/>
          <a:p>
            <a:r>
              <a:rPr lang="en-US" dirty="0"/>
              <a:t>For friend function the syntax is changed, the first operator is moved from calling object to first parameter of function.</a:t>
            </a:r>
          </a:p>
          <a:p>
            <a:pPr marL="0" indent="0">
              <a:buNone/>
            </a:pPr>
            <a:r>
              <a:rPr lang="en-US" dirty="0"/>
              <a:t>  </a:t>
            </a:r>
            <a:r>
              <a:rPr lang="en-US" sz="3200" b="1" i="1" dirty="0">
                <a:solidFill>
                  <a:srgbClr val="FF0000"/>
                </a:solidFill>
              </a:rPr>
              <a:t>friend</a:t>
            </a:r>
            <a:r>
              <a:rPr lang="en-US" sz="3200" b="1" dirty="0"/>
              <a:t> datatype operator+ (datatype, datatype)</a:t>
            </a:r>
            <a:endParaRPr lang="en-US" b="1" dirty="0"/>
          </a:p>
          <a:p>
            <a:endParaRPr lang="en-PK" dirty="0"/>
          </a:p>
        </p:txBody>
      </p:sp>
      <p:sp>
        <p:nvSpPr>
          <p:cNvPr id="4" name="Footer Placeholder 3">
            <a:extLst>
              <a:ext uri="{FF2B5EF4-FFF2-40B4-BE49-F238E27FC236}">
                <a16:creationId xmlns:a16="http://schemas.microsoft.com/office/drawing/2014/main" id="{CF662361-2C5B-F255-B1EB-CD1C58DFD2FB}"/>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629D7CC5-8741-45B4-975A-794DBC55D28C}"/>
              </a:ext>
            </a:extLst>
          </p:cNvPr>
          <p:cNvSpPr>
            <a:spLocks noGrp="1"/>
          </p:cNvSpPr>
          <p:nvPr>
            <p:ph type="sldNum" sz="quarter" idx="12"/>
          </p:nvPr>
        </p:nvSpPr>
        <p:spPr/>
        <p:txBody>
          <a:bodyPr/>
          <a:lstStyle/>
          <a:p>
            <a:fld id="{51845F5A-061D-4825-9AE9-D7794091C6CF}" type="slidenum">
              <a:rPr lang="en-US" smtClean="0"/>
              <a:t>69</a:t>
            </a:fld>
            <a:endParaRPr lang="en-US" dirty="0"/>
          </a:p>
        </p:txBody>
      </p:sp>
      <p:sp>
        <p:nvSpPr>
          <p:cNvPr id="6" name="Text Box 6">
            <a:extLst>
              <a:ext uri="{FF2B5EF4-FFF2-40B4-BE49-F238E27FC236}">
                <a16:creationId xmlns:a16="http://schemas.microsoft.com/office/drawing/2014/main" id="{AF8F9886-6C67-3D39-FDA0-A61A9B624A97}"/>
              </a:ext>
            </a:extLst>
          </p:cNvPr>
          <p:cNvSpPr txBox="1">
            <a:spLocks noChangeArrowheads="1"/>
          </p:cNvSpPr>
          <p:nvPr/>
        </p:nvSpPr>
        <p:spPr bwMode="auto">
          <a:xfrm>
            <a:off x="335280" y="5377275"/>
            <a:ext cx="4945380" cy="708025"/>
          </a:xfrm>
          <a:prstGeom prst="rect">
            <a:avLst/>
          </a:prstGeom>
          <a:ln>
            <a:solidFill>
              <a:srgbClr val="FF0000"/>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spcBef>
                <a:spcPct val="50000"/>
              </a:spcBef>
              <a:defRPr/>
            </a:pPr>
            <a:r>
              <a:rPr lang="en-US" sz="2000" b="1" dirty="0"/>
              <a:t>return parameter (can be </a:t>
            </a:r>
            <a:r>
              <a:rPr lang="en-US" sz="2000" b="1" dirty="0">
                <a:solidFill>
                  <a:srgbClr val="0070C0"/>
                </a:solidFill>
              </a:rPr>
              <a:t>native data type</a:t>
            </a:r>
            <a:r>
              <a:rPr lang="en-US" sz="2000" b="1" dirty="0"/>
              <a:t> or </a:t>
            </a:r>
            <a:r>
              <a:rPr lang="en-US" sz="2000" b="1" dirty="0">
                <a:solidFill>
                  <a:srgbClr val="0070C0"/>
                </a:solidFill>
              </a:rPr>
              <a:t>user defined data type</a:t>
            </a:r>
            <a:r>
              <a:rPr lang="en-US" sz="2000" b="1" dirty="0"/>
              <a:t>)</a:t>
            </a:r>
          </a:p>
        </p:txBody>
      </p:sp>
      <p:sp>
        <p:nvSpPr>
          <p:cNvPr id="7" name="Line 8">
            <a:extLst>
              <a:ext uri="{FF2B5EF4-FFF2-40B4-BE49-F238E27FC236}">
                <a16:creationId xmlns:a16="http://schemas.microsoft.com/office/drawing/2014/main" id="{C1A131B7-2895-FBE8-9159-87161D4CF543}"/>
              </a:ext>
            </a:extLst>
          </p:cNvPr>
          <p:cNvSpPr>
            <a:spLocks noChangeShapeType="1"/>
          </p:cNvSpPr>
          <p:nvPr/>
        </p:nvSpPr>
        <p:spPr bwMode="auto">
          <a:xfrm flipH="1">
            <a:off x="1173478" y="3520440"/>
            <a:ext cx="1832611" cy="185683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Text Box 6">
            <a:extLst>
              <a:ext uri="{FF2B5EF4-FFF2-40B4-BE49-F238E27FC236}">
                <a16:creationId xmlns:a16="http://schemas.microsoft.com/office/drawing/2014/main" id="{5AC83734-434B-77DF-7BCB-04E9F82F4603}"/>
              </a:ext>
            </a:extLst>
          </p:cNvPr>
          <p:cNvSpPr txBox="1">
            <a:spLocks noChangeArrowheads="1"/>
          </p:cNvSpPr>
          <p:nvPr/>
        </p:nvSpPr>
        <p:spPr bwMode="auto">
          <a:xfrm>
            <a:off x="3200400" y="4260064"/>
            <a:ext cx="5791200" cy="708025"/>
          </a:xfrm>
          <a:prstGeom prst="rect">
            <a:avLst/>
          </a:prstGeom>
          <a:ln>
            <a:solidFill>
              <a:srgbClr val="FF0000"/>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spcBef>
                <a:spcPct val="50000"/>
              </a:spcBef>
              <a:defRPr/>
            </a:pPr>
            <a:r>
              <a:rPr lang="en-US" sz="2000" b="1" dirty="0"/>
              <a:t>First parameter (can be </a:t>
            </a:r>
            <a:r>
              <a:rPr lang="en-US" sz="2000" b="1" u="sng" dirty="0">
                <a:solidFill>
                  <a:srgbClr val="0070C0"/>
                </a:solidFill>
              </a:rPr>
              <a:t>native data </a:t>
            </a:r>
            <a:r>
              <a:rPr lang="en-US" sz="2000" b="1" dirty="0"/>
              <a:t>type or user </a:t>
            </a:r>
            <a:r>
              <a:rPr lang="en-US" sz="2000" b="1" dirty="0">
                <a:solidFill>
                  <a:srgbClr val="0070C0"/>
                </a:solidFill>
              </a:rPr>
              <a:t>defined data type</a:t>
            </a:r>
            <a:r>
              <a:rPr lang="en-US" sz="2000" b="1" dirty="0"/>
              <a:t>)</a:t>
            </a:r>
          </a:p>
        </p:txBody>
      </p:sp>
      <p:sp>
        <p:nvSpPr>
          <p:cNvPr id="9" name="Line 8">
            <a:extLst>
              <a:ext uri="{FF2B5EF4-FFF2-40B4-BE49-F238E27FC236}">
                <a16:creationId xmlns:a16="http://schemas.microsoft.com/office/drawing/2014/main" id="{5451BE1B-6731-2318-79B7-D74E7B46FD1A}"/>
              </a:ext>
            </a:extLst>
          </p:cNvPr>
          <p:cNvSpPr>
            <a:spLocks noChangeShapeType="1"/>
          </p:cNvSpPr>
          <p:nvPr/>
        </p:nvSpPr>
        <p:spPr bwMode="auto">
          <a:xfrm flipH="1">
            <a:off x="5181600" y="3520440"/>
            <a:ext cx="1832610" cy="73962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Text Box 6">
            <a:extLst>
              <a:ext uri="{FF2B5EF4-FFF2-40B4-BE49-F238E27FC236}">
                <a16:creationId xmlns:a16="http://schemas.microsoft.com/office/drawing/2014/main" id="{9EA4E94B-2332-10BF-DE1B-F5016FC0ACA1}"/>
              </a:ext>
            </a:extLst>
          </p:cNvPr>
          <p:cNvSpPr txBox="1">
            <a:spLocks noChangeArrowheads="1"/>
          </p:cNvSpPr>
          <p:nvPr/>
        </p:nvSpPr>
        <p:spPr bwMode="auto">
          <a:xfrm>
            <a:off x="6477000" y="5377275"/>
            <a:ext cx="5379720" cy="708025"/>
          </a:xfrm>
          <a:prstGeom prst="rect">
            <a:avLst/>
          </a:prstGeom>
          <a:ln>
            <a:solidFill>
              <a:srgbClr val="FF0000"/>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spcBef>
                <a:spcPct val="50000"/>
              </a:spcBef>
              <a:defRPr/>
            </a:pPr>
            <a:r>
              <a:rPr lang="en-US" sz="2000" b="1" dirty="0"/>
              <a:t>Second parameter (can be </a:t>
            </a:r>
            <a:r>
              <a:rPr lang="en-US" sz="2000" b="1" dirty="0">
                <a:solidFill>
                  <a:srgbClr val="0070C0"/>
                </a:solidFill>
              </a:rPr>
              <a:t>native data type</a:t>
            </a:r>
            <a:r>
              <a:rPr lang="en-US" sz="2000" b="1" dirty="0"/>
              <a:t> or </a:t>
            </a:r>
            <a:r>
              <a:rPr lang="en-US" sz="2000" b="1" dirty="0">
                <a:solidFill>
                  <a:srgbClr val="0070C0"/>
                </a:solidFill>
              </a:rPr>
              <a:t>user defined data type</a:t>
            </a:r>
            <a:r>
              <a:rPr lang="en-US" sz="2000" b="1" dirty="0"/>
              <a:t>)</a:t>
            </a:r>
          </a:p>
        </p:txBody>
      </p:sp>
      <p:sp>
        <p:nvSpPr>
          <p:cNvPr id="11" name="Line 8">
            <a:extLst>
              <a:ext uri="{FF2B5EF4-FFF2-40B4-BE49-F238E27FC236}">
                <a16:creationId xmlns:a16="http://schemas.microsoft.com/office/drawing/2014/main" id="{88B540D1-A623-26D4-CA95-3545961BA0AD}"/>
              </a:ext>
            </a:extLst>
          </p:cNvPr>
          <p:cNvSpPr>
            <a:spLocks noChangeShapeType="1"/>
          </p:cNvSpPr>
          <p:nvPr/>
        </p:nvSpPr>
        <p:spPr bwMode="auto">
          <a:xfrm>
            <a:off x="9589770" y="3520440"/>
            <a:ext cx="68580" cy="176993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984270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0B06C-D074-1A49-8965-F585DDA1681F}"/>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B3E3C62A-DDA0-AB26-533C-3F48B12EBF9C}"/>
              </a:ext>
            </a:extLst>
          </p:cNvPr>
          <p:cNvSpPr>
            <a:spLocks noGrp="1"/>
          </p:cNvSpPr>
          <p:nvPr>
            <p:ph idx="1"/>
          </p:nvPr>
        </p:nvSpPr>
        <p:spPr/>
        <p:txBody>
          <a:bodyPr>
            <a:normAutofit fontScale="70000" lnSpcReduction="20000"/>
          </a:bodyPr>
          <a:lstStyle/>
          <a:p>
            <a:pPr>
              <a:lnSpc>
                <a:spcPct val="80000"/>
              </a:lnSpc>
              <a:buFont typeface="Monotype Sorts" charset="2"/>
              <a:buNone/>
            </a:pPr>
            <a:r>
              <a:rPr lang="en-US" b="1" dirty="0">
                <a:latin typeface="Consolas" panose="020B0609020204030204" pitchFamily="49" charset="0"/>
                <a:cs typeface="Tahoma" panose="020B0604030504040204" pitchFamily="34" charset="0"/>
              </a:rPr>
              <a:t>class Point</a:t>
            </a:r>
          </a:p>
          <a:p>
            <a:pPr>
              <a:lnSpc>
                <a:spcPct val="80000"/>
              </a:lnSpc>
              <a:buFont typeface="Monotype Sorts" charset="2"/>
              <a:buNone/>
            </a:pPr>
            <a:r>
              <a:rPr lang="en-US" b="1" dirty="0">
                <a:latin typeface="Consolas" panose="020B0609020204030204" pitchFamily="49" charset="0"/>
                <a:cs typeface="Tahoma" panose="020B0604030504040204" pitchFamily="34" charset="0"/>
              </a:rPr>
              <a:t>{</a:t>
            </a:r>
          </a:p>
          <a:p>
            <a:pPr>
              <a:lnSpc>
                <a:spcPct val="80000"/>
              </a:lnSpc>
              <a:buFont typeface="Monotype Sorts" charset="2"/>
              <a:buNone/>
            </a:pPr>
            <a:r>
              <a:rPr lang="en-US" b="1" dirty="0">
                <a:latin typeface="Consolas" panose="020B0609020204030204" pitchFamily="49" charset="0"/>
                <a:cs typeface="Tahoma" panose="020B0604030504040204" pitchFamily="34" charset="0"/>
              </a:rPr>
              <a:t>	 private:</a:t>
            </a:r>
          </a:p>
          <a:p>
            <a:pPr>
              <a:lnSpc>
                <a:spcPct val="80000"/>
              </a:lnSpc>
              <a:buFont typeface="Monotype Sorts" charset="2"/>
              <a:buNone/>
            </a:pPr>
            <a:r>
              <a:rPr lang="en-US" b="1" dirty="0">
                <a:latin typeface="Consolas" panose="020B0609020204030204" pitchFamily="49" charset="0"/>
                <a:cs typeface="Tahoma" panose="020B0604030504040204" pitchFamily="34" charset="0"/>
              </a:rPr>
              <a:t>   	float </a:t>
            </a:r>
            <a:r>
              <a:rPr lang="en-US" b="1" dirty="0" err="1">
                <a:latin typeface="Consolas" panose="020B0609020204030204" pitchFamily="49" charset="0"/>
                <a:cs typeface="Tahoma" panose="020B0604030504040204" pitchFamily="34" charset="0"/>
              </a:rPr>
              <a:t>m_dX</a:t>
            </a:r>
            <a:r>
              <a:rPr lang="en-US" b="1" dirty="0">
                <a:latin typeface="Consolas" panose="020B0609020204030204" pitchFamily="49" charset="0"/>
                <a:cs typeface="Tahoma" panose="020B0604030504040204" pitchFamily="34" charset="0"/>
              </a:rPr>
              <a:t>, </a:t>
            </a:r>
            <a:r>
              <a:rPr lang="en-US" b="1" dirty="0" err="1">
                <a:latin typeface="Consolas" panose="020B0609020204030204" pitchFamily="49" charset="0"/>
                <a:cs typeface="Tahoma" panose="020B0604030504040204" pitchFamily="34" charset="0"/>
              </a:rPr>
              <a:t>m_dY</a:t>
            </a:r>
            <a:r>
              <a:rPr lang="en-US" b="1" dirty="0">
                <a:latin typeface="Consolas" panose="020B0609020204030204" pitchFamily="49" charset="0"/>
                <a:cs typeface="Tahoma" panose="020B0604030504040204" pitchFamily="34" charset="0"/>
              </a:rPr>
              <a:t>, </a:t>
            </a:r>
            <a:r>
              <a:rPr lang="en-US" b="1" dirty="0" err="1">
                <a:latin typeface="Consolas" panose="020B0609020204030204" pitchFamily="49" charset="0"/>
                <a:cs typeface="Tahoma" panose="020B0604030504040204" pitchFamily="34" charset="0"/>
              </a:rPr>
              <a:t>m_dZ</a:t>
            </a:r>
            <a:r>
              <a:rPr lang="en-US" b="1" dirty="0">
                <a:latin typeface="Consolas" panose="020B0609020204030204" pitchFamily="49" charset="0"/>
                <a:cs typeface="Tahoma" panose="020B0604030504040204" pitchFamily="34" charset="0"/>
              </a:rPr>
              <a:t>; </a:t>
            </a:r>
          </a:p>
          <a:p>
            <a:pPr>
              <a:lnSpc>
                <a:spcPct val="80000"/>
              </a:lnSpc>
              <a:buFont typeface="Monotype Sorts" charset="2"/>
              <a:buNone/>
            </a:pPr>
            <a:r>
              <a:rPr lang="en-US" b="1" dirty="0">
                <a:latin typeface="Consolas" panose="020B0609020204030204" pitchFamily="49" charset="0"/>
                <a:cs typeface="Tahoma" panose="020B0604030504040204" pitchFamily="34" charset="0"/>
              </a:rPr>
              <a:t>	 public:</a:t>
            </a:r>
          </a:p>
          <a:p>
            <a:pPr>
              <a:lnSpc>
                <a:spcPct val="80000"/>
              </a:lnSpc>
              <a:buFont typeface="Monotype Sorts" charset="2"/>
              <a:buNone/>
            </a:pPr>
            <a:r>
              <a:rPr lang="en-US" b="1" dirty="0">
                <a:latin typeface="Consolas" panose="020B0609020204030204" pitchFamily="49" charset="0"/>
                <a:cs typeface="Tahoma" panose="020B0604030504040204" pitchFamily="34" charset="0"/>
              </a:rPr>
              <a:t>   	Point(float </a:t>
            </a:r>
            <a:r>
              <a:rPr lang="en-US" b="1" dirty="0" err="1">
                <a:latin typeface="Consolas" panose="020B0609020204030204" pitchFamily="49" charset="0"/>
                <a:cs typeface="Tahoma" panose="020B0604030504040204" pitchFamily="34" charset="0"/>
              </a:rPr>
              <a:t>dX</a:t>
            </a:r>
            <a:r>
              <a:rPr lang="en-US" b="1" dirty="0">
                <a:latin typeface="Consolas" panose="020B0609020204030204" pitchFamily="49" charset="0"/>
                <a:cs typeface="Tahoma" panose="020B0604030504040204" pitchFamily="34" charset="0"/>
              </a:rPr>
              <a:t>, float </a:t>
            </a:r>
            <a:r>
              <a:rPr lang="en-US" b="1" dirty="0" err="1">
                <a:latin typeface="Consolas" panose="020B0609020204030204" pitchFamily="49" charset="0"/>
                <a:cs typeface="Tahoma" panose="020B0604030504040204" pitchFamily="34" charset="0"/>
              </a:rPr>
              <a:t>dY</a:t>
            </a:r>
            <a:r>
              <a:rPr lang="en-US" b="1" dirty="0">
                <a:latin typeface="Consolas" panose="020B0609020204030204" pitchFamily="49" charset="0"/>
                <a:cs typeface="Tahoma" panose="020B0604030504040204" pitchFamily="34" charset="0"/>
              </a:rPr>
              <a:t>, float </a:t>
            </a:r>
            <a:r>
              <a:rPr lang="en-US" b="1" dirty="0" err="1">
                <a:latin typeface="Consolas" panose="020B0609020204030204" pitchFamily="49" charset="0"/>
                <a:cs typeface="Tahoma" panose="020B0604030504040204" pitchFamily="34" charset="0"/>
              </a:rPr>
              <a:t>dZ</a:t>
            </a:r>
            <a:r>
              <a:rPr lang="en-US" b="1" dirty="0">
                <a:latin typeface="Consolas" panose="020B0609020204030204" pitchFamily="49" charset="0"/>
                <a:cs typeface="Tahoma" panose="020B0604030504040204" pitchFamily="34" charset="0"/>
              </a:rPr>
              <a:t>)</a:t>
            </a:r>
          </a:p>
          <a:p>
            <a:pPr>
              <a:lnSpc>
                <a:spcPct val="80000"/>
              </a:lnSpc>
              <a:buFont typeface="Monotype Sorts" charset="2"/>
              <a:buNone/>
            </a:pPr>
            <a:r>
              <a:rPr lang="en-US" b="1" dirty="0">
                <a:latin typeface="Consolas" panose="020B0609020204030204" pitchFamily="49" charset="0"/>
                <a:cs typeface="Tahoma" panose="020B0604030504040204" pitchFamily="34" charset="0"/>
              </a:rPr>
              <a:t>	 	{  </a:t>
            </a:r>
          </a:p>
          <a:p>
            <a:pPr>
              <a:lnSpc>
                <a:spcPct val="80000"/>
              </a:lnSpc>
              <a:buFont typeface="Monotype Sorts" charset="2"/>
              <a:buNone/>
            </a:pPr>
            <a:r>
              <a:rPr lang="en-US" b="1" dirty="0">
                <a:latin typeface="Consolas" panose="020B0609020204030204" pitchFamily="49" charset="0"/>
                <a:cs typeface="Tahoma" panose="020B0604030504040204" pitchFamily="34" charset="0"/>
              </a:rPr>
              <a:t>            </a:t>
            </a:r>
            <a:r>
              <a:rPr lang="en-US" b="1" dirty="0" err="1">
                <a:latin typeface="Consolas" panose="020B0609020204030204" pitchFamily="49" charset="0"/>
                <a:cs typeface="Tahoma" panose="020B0604030504040204" pitchFamily="34" charset="0"/>
              </a:rPr>
              <a:t>m_dX</a:t>
            </a:r>
            <a:r>
              <a:rPr lang="en-US" b="1" dirty="0">
                <a:latin typeface="Consolas" panose="020B0609020204030204" pitchFamily="49" charset="0"/>
                <a:cs typeface="Tahoma" panose="020B0604030504040204" pitchFamily="34" charset="0"/>
              </a:rPr>
              <a:t> = </a:t>
            </a:r>
            <a:r>
              <a:rPr lang="en-US" b="1" dirty="0" err="1">
                <a:latin typeface="Consolas" panose="020B0609020204030204" pitchFamily="49" charset="0"/>
                <a:cs typeface="Tahoma" panose="020B0604030504040204" pitchFamily="34" charset="0"/>
              </a:rPr>
              <a:t>dX</a:t>
            </a:r>
            <a:r>
              <a:rPr lang="en-US" b="1" dirty="0">
                <a:latin typeface="Consolas" panose="020B0609020204030204" pitchFamily="49" charset="0"/>
                <a:cs typeface="Tahoma" panose="020B0604030504040204" pitchFamily="34" charset="0"/>
              </a:rPr>
              <a:t>;</a:t>
            </a:r>
          </a:p>
          <a:p>
            <a:pPr>
              <a:lnSpc>
                <a:spcPct val="80000"/>
              </a:lnSpc>
              <a:buFont typeface="Monotype Sorts" charset="2"/>
              <a:buNone/>
            </a:pPr>
            <a:r>
              <a:rPr lang="en-US" b="1" dirty="0">
                <a:latin typeface="Consolas" panose="020B0609020204030204" pitchFamily="49" charset="0"/>
                <a:cs typeface="Tahoma" panose="020B0604030504040204" pitchFamily="34" charset="0"/>
              </a:rPr>
              <a:t>            </a:t>
            </a:r>
            <a:r>
              <a:rPr lang="en-US" b="1" dirty="0" err="1">
                <a:latin typeface="Consolas" panose="020B0609020204030204" pitchFamily="49" charset="0"/>
                <a:cs typeface="Tahoma" panose="020B0604030504040204" pitchFamily="34" charset="0"/>
              </a:rPr>
              <a:t>m_dY</a:t>
            </a:r>
            <a:r>
              <a:rPr lang="en-US" b="1" dirty="0">
                <a:latin typeface="Consolas" panose="020B0609020204030204" pitchFamily="49" charset="0"/>
                <a:cs typeface="Tahoma" panose="020B0604030504040204" pitchFamily="34" charset="0"/>
              </a:rPr>
              <a:t> = </a:t>
            </a:r>
            <a:r>
              <a:rPr lang="en-US" b="1" dirty="0" err="1">
                <a:latin typeface="Consolas" panose="020B0609020204030204" pitchFamily="49" charset="0"/>
                <a:cs typeface="Tahoma" panose="020B0604030504040204" pitchFamily="34" charset="0"/>
              </a:rPr>
              <a:t>dY</a:t>
            </a:r>
            <a:r>
              <a:rPr lang="en-US" b="1" dirty="0">
                <a:latin typeface="Consolas" panose="020B0609020204030204" pitchFamily="49" charset="0"/>
                <a:cs typeface="Tahoma" panose="020B0604030504040204" pitchFamily="34" charset="0"/>
              </a:rPr>
              <a:t>; </a:t>
            </a:r>
          </a:p>
          <a:p>
            <a:pPr>
              <a:lnSpc>
                <a:spcPct val="80000"/>
              </a:lnSpc>
              <a:buFont typeface="Monotype Sorts" charset="2"/>
              <a:buNone/>
            </a:pPr>
            <a:r>
              <a:rPr lang="en-US" b="1" dirty="0">
                <a:latin typeface="Consolas" panose="020B0609020204030204" pitchFamily="49" charset="0"/>
                <a:cs typeface="Tahoma" panose="020B0604030504040204" pitchFamily="34" charset="0"/>
              </a:rPr>
              <a:t>            </a:t>
            </a:r>
            <a:r>
              <a:rPr lang="en-US" b="1" dirty="0" err="1">
                <a:latin typeface="Consolas" panose="020B0609020204030204" pitchFamily="49" charset="0"/>
                <a:cs typeface="Tahoma" panose="020B0604030504040204" pitchFamily="34" charset="0"/>
              </a:rPr>
              <a:t>m_dZ</a:t>
            </a:r>
            <a:r>
              <a:rPr lang="en-US" b="1" dirty="0">
                <a:latin typeface="Consolas" panose="020B0609020204030204" pitchFamily="49" charset="0"/>
                <a:cs typeface="Tahoma" panose="020B0604030504040204" pitchFamily="34" charset="0"/>
              </a:rPr>
              <a:t> = </a:t>
            </a:r>
            <a:r>
              <a:rPr lang="en-US" b="1" dirty="0" err="1">
                <a:latin typeface="Consolas" panose="020B0609020204030204" pitchFamily="49" charset="0"/>
                <a:cs typeface="Tahoma" panose="020B0604030504040204" pitchFamily="34" charset="0"/>
              </a:rPr>
              <a:t>dZ</a:t>
            </a:r>
            <a:r>
              <a:rPr lang="en-US" b="1" dirty="0">
                <a:latin typeface="Consolas" panose="020B0609020204030204" pitchFamily="49" charset="0"/>
                <a:cs typeface="Tahoma" panose="020B0604030504040204" pitchFamily="34" charset="0"/>
              </a:rPr>
              <a:t>;    </a:t>
            </a:r>
          </a:p>
          <a:p>
            <a:pPr>
              <a:lnSpc>
                <a:spcPct val="80000"/>
              </a:lnSpc>
              <a:buFont typeface="Monotype Sorts" charset="2"/>
              <a:buNone/>
            </a:pPr>
            <a:r>
              <a:rPr lang="en-US" b="1" dirty="0">
                <a:latin typeface="Consolas" panose="020B0609020204030204" pitchFamily="49" charset="0"/>
                <a:cs typeface="Tahoma" panose="020B0604030504040204" pitchFamily="34" charset="0"/>
              </a:rPr>
              <a:t>      } </a:t>
            </a:r>
          </a:p>
          <a:p>
            <a:pPr>
              <a:lnSpc>
                <a:spcPct val="80000"/>
              </a:lnSpc>
              <a:buFont typeface="Monotype Sorts" charset="2"/>
              <a:buNone/>
            </a:pPr>
            <a:r>
              <a:rPr lang="en-US" b="1" dirty="0">
                <a:latin typeface="Consolas" panose="020B0609020204030204" pitchFamily="49" charset="0"/>
                <a:cs typeface="Tahoma" panose="020B0604030504040204" pitchFamily="34" charset="0"/>
              </a:rPr>
              <a:t>  </a:t>
            </a:r>
            <a:r>
              <a:rPr lang="en-US" b="1" i="1" dirty="0">
                <a:solidFill>
                  <a:srgbClr val="FF0000"/>
                </a:solidFill>
                <a:latin typeface="Consolas" panose="020B0609020204030204" pitchFamily="49" charset="0"/>
                <a:cs typeface="Tahoma" panose="020B0604030504040204" pitchFamily="34" charset="0"/>
              </a:rPr>
              <a:t>friend</a:t>
            </a:r>
            <a:r>
              <a:rPr lang="en-US" b="1" dirty="0">
                <a:solidFill>
                  <a:srgbClr val="FF0000"/>
                </a:solidFill>
                <a:latin typeface="Consolas" panose="020B0609020204030204" pitchFamily="49" charset="0"/>
                <a:cs typeface="Tahoma" panose="020B0604030504040204" pitchFamily="34" charset="0"/>
              </a:rPr>
              <a:t> float operator+ (float, Point &amp;);</a:t>
            </a:r>
            <a:r>
              <a:rPr lang="en-US" b="1" dirty="0">
                <a:solidFill>
                  <a:srgbClr val="2C14DE"/>
                </a:solidFill>
                <a:latin typeface="Consolas" panose="020B0609020204030204" pitchFamily="49" charset="0"/>
                <a:cs typeface="Tahoma" panose="020B0604030504040204" pitchFamily="34" charset="0"/>
              </a:rPr>
              <a:t> </a:t>
            </a:r>
          </a:p>
          <a:p>
            <a:pPr>
              <a:lnSpc>
                <a:spcPct val="80000"/>
              </a:lnSpc>
              <a:buFont typeface="Monotype Sorts" charset="2"/>
              <a:buNone/>
            </a:pPr>
            <a:r>
              <a:rPr lang="en-US" b="1" dirty="0">
                <a:latin typeface="Consolas" panose="020B0609020204030204" pitchFamily="49" charset="0"/>
                <a:cs typeface="Tahoma" panose="020B0604030504040204" pitchFamily="34" charset="0"/>
              </a:rPr>
              <a:t>};</a:t>
            </a:r>
          </a:p>
        </p:txBody>
      </p:sp>
      <p:sp>
        <p:nvSpPr>
          <p:cNvPr id="4" name="Footer Placeholder 3">
            <a:extLst>
              <a:ext uri="{FF2B5EF4-FFF2-40B4-BE49-F238E27FC236}">
                <a16:creationId xmlns:a16="http://schemas.microsoft.com/office/drawing/2014/main" id="{CDC54384-96C2-B170-9B96-CD55C7A053D6}"/>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0C1D3B9B-AA17-F455-5BA6-F984694B28F8}"/>
              </a:ext>
            </a:extLst>
          </p:cNvPr>
          <p:cNvSpPr>
            <a:spLocks noGrp="1"/>
          </p:cNvSpPr>
          <p:nvPr>
            <p:ph type="sldNum" sz="quarter" idx="12"/>
          </p:nvPr>
        </p:nvSpPr>
        <p:spPr/>
        <p:txBody>
          <a:bodyPr/>
          <a:lstStyle/>
          <a:p>
            <a:fld id="{51845F5A-061D-4825-9AE9-D7794091C6CF}" type="slidenum">
              <a:rPr lang="en-US" smtClean="0"/>
              <a:t>70</a:t>
            </a:fld>
            <a:endParaRPr lang="en-US" dirty="0"/>
          </a:p>
        </p:txBody>
      </p:sp>
    </p:spTree>
    <p:extLst>
      <p:ext uri="{BB962C8B-B14F-4D97-AF65-F5344CB8AC3E}">
        <p14:creationId xmlns:p14="http://schemas.microsoft.com/office/powerpoint/2010/main" val="11440833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25EB-8E10-0607-46F7-7A6107880BA2}"/>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6D3B0569-5902-E01B-6A91-EB3F4745160D}"/>
              </a:ext>
            </a:extLst>
          </p:cNvPr>
          <p:cNvSpPr>
            <a:spLocks noGrp="1"/>
          </p:cNvSpPr>
          <p:nvPr>
            <p:ph idx="1"/>
          </p:nvPr>
        </p:nvSpPr>
        <p:spPr/>
        <p:txBody>
          <a:bodyPr>
            <a:normAutofit fontScale="92500" lnSpcReduction="20000"/>
          </a:bodyPr>
          <a:lstStyle/>
          <a:p>
            <a:pPr marL="0" indent="0" eaLnBrk="1" hangingPunct="1">
              <a:lnSpc>
                <a:spcPct val="120000"/>
              </a:lnSpc>
              <a:spcBef>
                <a:spcPts val="0"/>
              </a:spcBef>
              <a:buNone/>
            </a:pPr>
            <a:r>
              <a:rPr lang="en-US" sz="2000" b="1" dirty="0">
                <a:solidFill>
                  <a:srgbClr val="0070C0"/>
                </a:solidFill>
                <a:latin typeface="Consolas" panose="020B0609020204030204" pitchFamily="49" charset="0"/>
              </a:rPr>
              <a:t>float operator+(float var1, Point &amp;p)</a:t>
            </a:r>
          </a:p>
          <a:p>
            <a:pPr marL="0" indent="0" eaLnBrk="1" hangingPunct="1">
              <a:lnSpc>
                <a:spcPct val="120000"/>
              </a:lnSpc>
              <a:spcBef>
                <a:spcPts val="0"/>
              </a:spcBef>
              <a:buNone/>
            </a:pP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latin typeface="Consolas" panose="020B0609020204030204" pitchFamily="49" charset="0"/>
              </a:rPr>
              <a:t>	return ( var1 + </a:t>
            </a:r>
            <a:r>
              <a:rPr lang="en-US" sz="2000" b="1" dirty="0" err="1">
                <a:latin typeface="Consolas" panose="020B0609020204030204" pitchFamily="49" charset="0"/>
              </a:rPr>
              <a:t>p.m_dX</a:t>
            </a: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latin typeface="Consolas" panose="020B0609020204030204" pitchFamily="49" charset="0"/>
              </a:rPr>
              <a:t>}</a:t>
            </a:r>
          </a:p>
          <a:p>
            <a:pPr marL="0" indent="0" eaLnBrk="1" hangingPunct="1">
              <a:lnSpc>
                <a:spcPct val="120000"/>
              </a:lnSpc>
              <a:spcBef>
                <a:spcPts val="0"/>
              </a:spcBef>
              <a:buNone/>
            </a:pPr>
            <a:endParaRPr lang="en-US" sz="2000" b="1" dirty="0">
              <a:latin typeface="Consolas" panose="020B0609020204030204" pitchFamily="49" charset="0"/>
            </a:endParaRPr>
          </a:p>
          <a:p>
            <a:pPr marL="0" indent="0" eaLnBrk="1" hangingPunct="1">
              <a:lnSpc>
                <a:spcPct val="120000"/>
              </a:lnSpc>
              <a:spcBef>
                <a:spcPts val="0"/>
              </a:spcBef>
              <a:buNone/>
            </a:pPr>
            <a:r>
              <a:rPr lang="en-US" sz="2000" b="1" dirty="0">
                <a:latin typeface="Consolas" panose="020B0609020204030204" pitchFamily="49" charset="0"/>
              </a:rPr>
              <a:t>int main (void)</a:t>
            </a:r>
          </a:p>
          <a:p>
            <a:pPr marL="0" indent="0" eaLnBrk="1" hangingPunct="1">
              <a:lnSpc>
                <a:spcPct val="120000"/>
              </a:lnSpc>
              <a:spcBef>
                <a:spcPts val="0"/>
              </a:spcBef>
              <a:buNone/>
            </a:pP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latin typeface="Consolas" panose="020B0609020204030204" pitchFamily="49" charset="0"/>
              </a:rPr>
              <a:t>	float variable = 5.6;</a:t>
            </a:r>
          </a:p>
          <a:p>
            <a:pPr marL="0" indent="0" eaLnBrk="1" hangingPunct="1">
              <a:lnSpc>
                <a:spcPct val="120000"/>
              </a:lnSpc>
              <a:spcBef>
                <a:spcPts val="0"/>
              </a:spcBef>
              <a:buNone/>
            </a:pPr>
            <a:r>
              <a:rPr lang="en-US" sz="2000" b="1" dirty="0">
                <a:latin typeface="Consolas" panose="020B0609020204030204" pitchFamily="49" charset="0"/>
              </a:rPr>
              <a:t>	Point </a:t>
            </a:r>
            <a:r>
              <a:rPr lang="en-US" sz="2000" b="1" dirty="0" err="1">
                <a:latin typeface="Consolas" panose="020B0609020204030204" pitchFamily="49" charset="0"/>
              </a:rPr>
              <a:t>cPoint</a:t>
            </a:r>
            <a:r>
              <a:rPr lang="en-US" sz="2000" b="1" dirty="0">
                <a:latin typeface="Consolas" panose="020B0609020204030204" pitchFamily="49" charset="0"/>
              </a:rPr>
              <a:t> ( 2, 9.8, 3.3 );</a:t>
            </a:r>
          </a:p>
          <a:p>
            <a:pPr marL="0" indent="0" eaLnBrk="1" hangingPunct="1">
              <a:lnSpc>
                <a:spcPct val="120000"/>
              </a:lnSpc>
              <a:spcBef>
                <a:spcPts val="0"/>
              </a:spcBef>
              <a:buNone/>
            </a:pPr>
            <a:r>
              <a:rPr lang="en-US" sz="2000" b="1" dirty="0">
                <a:latin typeface="Consolas" panose="020B0609020204030204" pitchFamily="49" charset="0"/>
              </a:rPr>
              <a:t>	float </a:t>
            </a:r>
            <a:r>
              <a:rPr lang="en-US" sz="2000" b="1" dirty="0" err="1">
                <a:latin typeface="Consolas" panose="020B0609020204030204" pitchFamily="49" charset="0"/>
              </a:rPr>
              <a:t>returnVar</a:t>
            </a:r>
            <a:r>
              <a:rPr lang="en-US" sz="2000" b="1" dirty="0">
                <a:latin typeface="Consolas" panose="020B0609020204030204" pitchFamily="49" charset="0"/>
              </a:rPr>
              <a:t>;</a:t>
            </a:r>
          </a:p>
          <a:p>
            <a:pPr marL="0" indent="0" eaLnBrk="1" hangingPunct="1">
              <a:lnSpc>
                <a:spcPct val="120000"/>
              </a:lnSpc>
              <a:spcBef>
                <a:spcPts val="0"/>
              </a:spcBef>
              <a:buNone/>
            </a:pPr>
            <a:r>
              <a:rPr lang="en-US" sz="2000" b="1" dirty="0">
                <a:latin typeface="Consolas" panose="020B0609020204030204" pitchFamily="49" charset="0"/>
              </a:rPr>
              <a:t>	</a:t>
            </a:r>
            <a:r>
              <a:rPr lang="en-US" sz="2000" b="1" dirty="0" err="1">
                <a:solidFill>
                  <a:srgbClr val="0070C0"/>
                </a:solidFill>
                <a:latin typeface="Consolas" panose="020B0609020204030204" pitchFamily="49" charset="0"/>
              </a:rPr>
              <a:t>returnVar</a:t>
            </a:r>
            <a:r>
              <a:rPr lang="en-US" sz="2000" b="1" dirty="0">
                <a:solidFill>
                  <a:srgbClr val="0070C0"/>
                </a:solidFill>
                <a:latin typeface="Consolas" panose="020B0609020204030204" pitchFamily="49" charset="0"/>
              </a:rPr>
              <a:t> = variable + </a:t>
            </a:r>
            <a:r>
              <a:rPr lang="en-US" sz="2000" b="1" dirty="0" err="1">
                <a:solidFill>
                  <a:srgbClr val="0070C0"/>
                </a:solidFill>
                <a:latin typeface="Consolas" panose="020B0609020204030204" pitchFamily="49" charset="0"/>
              </a:rPr>
              <a:t>cPoint</a:t>
            </a:r>
            <a:r>
              <a:rPr lang="en-US" sz="2000" b="1" dirty="0">
                <a:solidFill>
                  <a:srgbClr val="0070C0"/>
                </a:solidFill>
                <a:latin typeface="Consolas" panose="020B0609020204030204" pitchFamily="49" charset="0"/>
              </a:rPr>
              <a:t>; </a:t>
            </a:r>
          </a:p>
          <a:p>
            <a:pPr marL="0" indent="0" eaLnBrk="1" hangingPunct="1">
              <a:lnSpc>
                <a:spcPct val="120000"/>
              </a:lnSpc>
              <a:spcBef>
                <a:spcPts val="0"/>
              </a:spcBef>
              <a:buNone/>
            </a:pPr>
            <a:r>
              <a:rPr lang="en-US" sz="2000" b="1" dirty="0">
                <a:latin typeface="Consolas" panose="020B0609020204030204" pitchFamily="49" charset="0"/>
              </a:rPr>
              <a:t>	</a:t>
            </a:r>
            <a:r>
              <a:rPr lang="en-US" sz="2000" b="1" dirty="0" err="1">
                <a:latin typeface="Consolas" panose="020B0609020204030204" pitchFamily="49" charset="0"/>
              </a:rPr>
              <a:t>cout</a:t>
            </a:r>
            <a:r>
              <a:rPr lang="en-US" sz="2000" b="1" dirty="0">
                <a:latin typeface="Consolas" panose="020B0609020204030204" pitchFamily="49" charset="0"/>
              </a:rPr>
              <a:t> &lt;&lt; </a:t>
            </a:r>
            <a:r>
              <a:rPr lang="en-US" sz="2000" b="1" dirty="0" err="1">
                <a:latin typeface="Consolas" panose="020B0609020204030204" pitchFamily="49" charset="0"/>
              </a:rPr>
              <a:t>returnVar</a:t>
            </a:r>
            <a:r>
              <a:rPr lang="en-US" sz="2000" b="1" dirty="0">
                <a:latin typeface="Consolas" panose="020B0609020204030204" pitchFamily="49" charset="0"/>
              </a:rPr>
              <a:t>; // 7.6 </a:t>
            </a:r>
          </a:p>
          <a:p>
            <a:pPr marL="0" indent="0" eaLnBrk="1" hangingPunct="1">
              <a:lnSpc>
                <a:spcPct val="120000"/>
              </a:lnSpc>
              <a:spcBef>
                <a:spcPts val="0"/>
              </a:spcBef>
              <a:buNone/>
            </a:pPr>
            <a:r>
              <a:rPr lang="en-US" sz="2000" b="1" dirty="0">
                <a:latin typeface="Consolas" panose="020B0609020204030204" pitchFamily="49" charset="0"/>
              </a:rPr>
              <a:t>	return 0;</a:t>
            </a:r>
          </a:p>
          <a:p>
            <a:pPr marL="0" indent="0" eaLnBrk="1" hangingPunct="1">
              <a:lnSpc>
                <a:spcPct val="120000"/>
              </a:lnSpc>
              <a:spcBef>
                <a:spcPts val="0"/>
              </a:spcBef>
              <a:buNone/>
            </a:pPr>
            <a:r>
              <a:rPr lang="en-US" sz="2000" b="1" dirty="0">
                <a:latin typeface="Consolas" panose="020B0609020204030204" pitchFamily="49" charset="0"/>
              </a:rPr>
              <a:t>}</a:t>
            </a:r>
          </a:p>
        </p:txBody>
      </p:sp>
      <p:sp>
        <p:nvSpPr>
          <p:cNvPr id="4" name="Footer Placeholder 3">
            <a:extLst>
              <a:ext uri="{FF2B5EF4-FFF2-40B4-BE49-F238E27FC236}">
                <a16:creationId xmlns:a16="http://schemas.microsoft.com/office/drawing/2014/main" id="{503A8553-6C72-0733-0B96-E9B912EFC30D}"/>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9E4C5E3C-0EB9-1117-5114-E190DA1BD4D1}"/>
              </a:ext>
            </a:extLst>
          </p:cNvPr>
          <p:cNvSpPr>
            <a:spLocks noGrp="1"/>
          </p:cNvSpPr>
          <p:nvPr>
            <p:ph type="sldNum" sz="quarter" idx="12"/>
          </p:nvPr>
        </p:nvSpPr>
        <p:spPr/>
        <p:txBody>
          <a:bodyPr/>
          <a:lstStyle/>
          <a:p>
            <a:fld id="{51845F5A-061D-4825-9AE9-D7794091C6CF}" type="slidenum">
              <a:rPr lang="en-US" smtClean="0"/>
              <a:t>71</a:t>
            </a:fld>
            <a:endParaRPr lang="en-US" dirty="0"/>
          </a:p>
        </p:txBody>
      </p:sp>
    </p:spTree>
    <p:extLst>
      <p:ext uri="{BB962C8B-B14F-4D97-AF65-F5344CB8AC3E}">
        <p14:creationId xmlns:p14="http://schemas.microsoft.com/office/powerpoint/2010/main" val="31361994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1073F-510D-171C-3F67-02E502A277F1}"/>
              </a:ext>
            </a:extLst>
          </p:cNvPr>
          <p:cNvSpPr>
            <a:spLocks noGrp="1"/>
          </p:cNvSpPr>
          <p:nvPr>
            <p:ph type="title"/>
          </p:nvPr>
        </p:nvSpPr>
        <p:spPr/>
        <p:txBody>
          <a:bodyPr/>
          <a:lstStyle/>
          <a:p>
            <a:r>
              <a:rPr lang="en-US" dirty="0"/>
              <a:t>Overloading iostream operators</a:t>
            </a:r>
            <a:br>
              <a:rPr lang="en-US" dirty="0"/>
            </a:br>
            <a:r>
              <a:rPr lang="en-US" dirty="0"/>
              <a:t> </a:t>
            </a:r>
            <a:r>
              <a:rPr lang="en-US" dirty="0">
                <a:solidFill>
                  <a:srgbClr val="FF0000"/>
                </a:solidFill>
              </a:rPr>
              <a:t>&gt;&gt;</a:t>
            </a:r>
            <a:r>
              <a:rPr lang="en-US" dirty="0"/>
              <a:t> and </a:t>
            </a:r>
            <a:r>
              <a:rPr lang="en-US" dirty="0">
                <a:solidFill>
                  <a:srgbClr val="FF0000"/>
                </a:solidFill>
              </a:rPr>
              <a:t>&lt;&lt;</a:t>
            </a:r>
            <a:endParaRPr lang="en-PK" dirty="0"/>
          </a:p>
        </p:txBody>
      </p:sp>
      <p:sp>
        <p:nvSpPr>
          <p:cNvPr id="3" name="Content Placeholder 2">
            <a:extLst>
              <a:ext uri="{FF2B5EF4-FFF2-40B4-BE49-F238E27FC236}">
                <a16:creationId xmlns:a16="http://schemas.microsoft.com/office/drawing/2014/main" id="{C483C792-1B9B-F7B6-EC46-28D9EAE165A0}"/>
              </a:ext>
            </a:extLst>
          </p:cNvPr>
          <p:cNvSpPr>
            <a:spLocks noGrp="1"/>
          </p:cNvSpPr>
          <p:nvPr>
            <p:ph idx="1"/>
          </p:nvPr>
        </p:nvSpPr>
        <p:spPr/>
        <p:txBody>
          <a:bodyPr>
            <a:normAutofit fontScale="92500" lnSpcReduction="10000"/>
          </a:bodyPr>
          <a:lstStyle/>
          <a:p>
            <a:pPr algn="just"/>
            <a:r>
              <a:rPr lang="en-US" b="0" i="0" dirty="0">
                <a:solidFill>
                  <a:srgbClr val="0070C0"/>
                </a:solidFill>
                <a:effectLst/>
                <a:latin typeface="urw-din"/>
              </a:rPr>
              <a:t>stream insertion operator </a:t>
            </a:r>
            <a:r>
              <a:rPr lang="en-US" dirty="0">
                <a:solidFill>
                  <a:srgbClr val="273239"/>
                </a:solidFill>
                <a:latin typeface="urw-din"/>
              </a:rPr>
              <a:t> </a:t>
            </a:r>
            <a:r>
              <a:rPr lang="en-US" b="1" i="0" dirty="0">
                <a:solidFill>
                  <a:srgbClr val="FF0000"/>
                </a:solidFill>
                <a:effectLst/>
                <a:latin typeface="urw-din"/>
              </a:rPr>
              <a:t>&lt;&lt;</a:t>
            </a:r>
            <a:r>
              <a:rPr lang="en-US" b="0" i="0" dirty="0">
                <a:solidFill>
                  <a:srgbClr val="273239"/>
                </a:solidFill>
                <a:effectLst/>
                <a:latin typeface="urw-din"/>
              </a:rPr>
              <a:t> is used for output </a:t>
            </a:r>
          </a:p>
          <a:p>
            <a:pPr algn="just"/>
            <a:endParaRPr lang="en-US" dirty="0">
              <a:solidFill>
                <a:srgbClr val="273239"/>
              </a:solidFill>
              <a:latin typeface="urw-din"/>
            </a:endParaRPr>
          </a:p>
          <a:p>
            <a:pPr algn="just"/>
            <a:r>
              <a:rPr lang="en-US" dirty="0">
                <a:solidFill>
                  <a:srgbClr val="0070C0"/>
                </a:solidFill>
                <a:latin typeface="urw-din"/>
              </a:rPr>
              <a:t>s</a:t>
            </a:r>
            <a:r>
              <a:rPr lang="en-US" b="0" i="0" dirty="0">
                <a:solidFill>
                  <a:srgbClr val="0070C0"/>
                </a:solidFill>
                <a:effectLst/>
                <a:latin typeface="urw-din"/>
              </a:rPr>
              <a:t>tream extraction operator</a:t>
            </a:r>
            <a:r>
              <a:rPr lang="en-US" b="0" i="0" dirty="0">
                <a:solidFill>
                  <a:srgbClr val="273239"/>
                </a:solidFill>
                <a:effectLst/>
                <a:latin typeface="urw-din"/>
              </a:rPr>
              <a:t> </a:t>
            </a:r>
            <a:r>
              <a:rPr lang="en-US" b="1" i="0" dirty="0">
                <a:solidFill>
                  <a:srgbClr val="FF0000"/>
                </a:solidFill>
                <a:effectLst/>
                <a:latin typeface="urw-din"/>
              </a:rPr>
              <a:t>&gt;&gt;</a:t>
            </a:r>
            <a:r>
              <a:rPr lang="en-US" b="0" i="0" dirty="0">
                <a:solidFill>
                  <a:srgbClr val="273239"/>
                </a:solidFill>
                <a:effectLst/>
                <a:latin typeface="urw-din"/>
              </a:rPr>
              <a:t> is used for input</a:t>
            </a:r>
          </a:p>
          <a:p>
            <a:pPr marL="457200" lvl="1" indent="0" algn="just">
              <a:buNone/>
            </a:pPr>
            <a:endParaRPr lang="en-US" b="0" i="0" dirty="0">
              <a:solidFill>
                <a:srgbClr val="FF0000"/>
              </a:solidFill>
              <a:effectLst/>
              <a:latin typeface="urw-din"/>
            </a:endParaRPr>
          </a:p>
          <a:p>
            <a:pPr marL="457200" lvl="1" indent="0" algn="just">
              <a:buNone/>
            </a:pPr>
            <a:r>
              <a:rPr lang="en-US" b="0" i="0" dirty="0" err="1">
                <a:solidFill>
                  <a:srgbClr val="FF0000"/>
                </a:solidFill>
                <a:effectLst/>
                <a:latin typeface="urw-din"/>
              </a:rPr>
              <a:t>cout</a:t>
            </a:r>
            <a:r>
              <a:rPr lang="en-US" b="0" i="0" dirty="0">
                <a:solidFill>
                  <a:srgbClr val="273239"/>
                </a:solidFill>
                <a:effectLst/>
                <a:latin typeface="urw-din"/>
              </a:rPr>
              <a:t> is an object of </a:t>
            </a:r>
            <a:r>
              <a:rPr lang="en-US" b="0" i="0" dirty="0" err="1">
                <a:solidFill>
                  <a:srgbClr val="FF0000"/>
                </a:solidFill>
                <a:effectLst/>
                <a:latin typeface="urw-din"/>
              </a:rPr>
              <a:t>ostream</a:t>
            </a:r>
            <a:r>
              <a:rPr lang="en-US" b="0" i="0" dirty="0">
                <a:solidFill>
                  <a:srgbClr val="FF0000"/>
                </a:solidFill>
                <a:effectLst/>
                <a:latin typeface="urw-din"/>
              </a:rPr>
              <a:t> </a:t>
            </a:r>
            <a:r>
              <a:rPr lang="en-US" b="0" i="0" dirty="0">
                <a:solidFill>
                  <a:srgbClr val="273239"/>
                </a:solidFill>
                <a:effectLst/>
                <a:latin typeface="urw-din"/>
              </a:rPr>
              <a:t>class </a:t>
            </a:r>
          </a:p>
          <a:p>
            <a:pPr marL="457200" lvl="1" indent="0" algn="just">
              <a:buNone/>
            </a:pPr>
            <a:r>
              <a:rPr lang="en-US" b="0" i="0" dirty="0" err="1">
                <a:solidFill>
                  <a:srgbClr val="FF0000"/>
                </a:solidFill>
                <a:effectLst/>
                <a:latin typeface="urw-din"/>
              </a:rPr>
              <a:t>cin</a:t>
            </a:r>
            <a:r>
              <a:rPr lang="en-US" b="0" i="0" dirty="0">
                <a:solidFill>
                  <a:srgbClr val="273239"/>
                </a:solidFill>
                <a:effectLst/>
                <a:latin typeface="urw-din"/>
              </a:rPr>
              <a:t> is an object of </a:t>
            </a:r>
            <a:r>
              <a:rPr lang="en-US" b="0" i="0" dirty="0" err="1">
                <a:solidFill>
                  <a:srgbClr val="FF0000"/>
                </a:solidFill>
                <a:effectLst/>
                <a:latin typeface="urw-din"/>
              </a:rPr>
              <a:t>istream</a:t>
            </a:r>
            <a:r>
              <a:rPr lang="en-US" b="0" i="0" dirty="0">
                <a:solidFill>
                  <a:srgbClr val="273239"/>
                </a:solidFill>
                <a:effectLst/>
                <a:latin typeface="urw-din"/>
              </a:rPr>
              <a:t> class </a:t>
            </a:r>
            <a:endParaRPr lang="en-US" dirty="0">
              <a:solidFill>
                <a:srgbClr val="273239"/>
              </a:solidFill>
              <a:latin typeface="urw-din"/>
            </a:endParaRPr>
          </a:p>
          <a:p>
            <a:pPr marL="0" indent="0" algn="just">
              <a:buNone/>
            </a:pPr>
            <a:br>
              <a:rPr lang="en-US" dirty="0"/>
            </a:br>
            <a:r>
              <a:rPr lang="en-US" b="0" i="0" dirty="0">
                <a:solidFill>
                  <a:srgbClr val="273239"/>
                </a:solidFill>
                <a:effectLst/>
                <a:latin typeface="urw-din"/>
              </a:rPr>
              <a:t>These operators </a:t>
            </a:r>
            <a:r>
              <a:rPr lang="en-US" b="0" i="0" dirty="0">
                <a:solidFill>
                  <a:srgbClr val="0070C0"/>
                </a:solidFill>
                <a:effectLst/>
                <a:latin typeface="urw-din"/>
              </a:rPr>
              <a:t>must be overloaded as a global function</a:t>
            </a:r>
            <a:r>
              <a:rPr lang="en-US" b="0" i="0" dirty="0">
                <a:solidFill>
                  <a:srgbClr val="273239"/>
                </a:solidFill>
                <a:effectLst/>
                <a:latin typeface="urw-din"/>
              </a:rPr>
              <a:t>. And if we want to allow them to access private data members of the class, we </a:t>
            </a:r>
            <a:r>
              <a:rPr lang="en-US" b="0" i="0" dirty="0">
                <a:solidFill>
                  <a:srgbClr val="0070C0"/>
                </a:solidFill>
                <a:effectLst/>
                <a:latin typeface="urw-din"/>
              </a:rPr>
              <a:t>must make them friend</a:t>
            </a:r>
            <a:r>
              <a:rPr lang="en-US" b="0" i="0" dirty="0">
                <a:solidFill>
                  <a:srgbClr val="273239"/>
                </a:solidFill>
                <a:effectLst/>
                <a:latin typeface="urw-din"/>
              </a:rPr>
              <a:t>. </a:t>
            </a:r>
            <a:endParaRPr lang="en-PK" dirty="0"/>
          </a:p>
        </p:txBody>
      </p:sp>
      <p:sp>
        <p:nvSpPr>
          <p:cNvPr id="4" name="Footer Placeholder 3">
            <a:extLst>
              <a:ext uri="{FF2B5EF4-FFF2-40B4-BE49-F238E27FC236}">
                <a16:creationId xmlns:a16="http://schemas.microsoft.com/office/drawing/2014/main" id="{010A3370-FAA2-4DAD-CBCB-A07DA2B008E5}"/>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08ABF69E-54E4-11B8-8595-642689D43FD5}"/>
              </a:ext>
            </a:extLst>
          </p:cNvPr>
          <p:cNvSpPr>
            <a:spLocks noGrp="1"/>
          </p:cNvSpPr>
          <p:nvPr>
            <p:ph type="sldNum" sz="quarter" idx="12"/>
          </p:nvPr>
        </p:nvSpPr>
        <p:spPr/>
        <p:txBody>
          <a:bodyPr/>
          <a:lstStyle/>
          <a:p>
            <a:fld id="{51845F5A-061D-4825-9AE9-D7794091C6CF}" type="slidenum">
              <a:rPr lang="en-US" smtClean="0"/>
              <a:t>72</a:t>
            </a:fld>
            <a:endParaRPr lang="en-US" dirty="0"/>
          </a:p>
        </p:txBody>
      </p:sp>
    </p:spTree>
    <p:extLst>
      <p:ext uri="{BB962C8B-B14F-4D97-AF65-F5344CB8AC3E}">
        <p14:creationId xmlns:p14="http://schemas.microsoft.com/office/powerpoint/2010/main" val="19461619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45383-CD1A-BA4C-02E2-427E25183877}"/>
              </a:ext>
            </a:extLst>
          </p:cNvPr>
          <p:cNvSpPr>
            <a:spLocks noGrp="1"/>
          </p:cNvSpPr>
          <p:nvPr>
            <p:ph type="title"/>
          </p:nvPr>
        </p:nvSpPr>
        <p:spPr/>
        <p:txBody>
          <a:bodyPr/>
          <a:lstStyle/>
          <a:p>
            <a:r>
              <a:rPr lang="en-US" dirty="0"/>
              <a:t>Overloading iostream operators</a:t>
            </a:r>
            <a:br>
              <a:rPr lang="en-US" dirty="0"/>
            </a:br>
            <a:r>
              <a:rPr lang="en-US" dirty="0"/>
              <a:t> </a:t>
            </a:r>
            <a:r>
              <a:rPr lang="en-US" dirty="0">
                <a:solidFill>
                  <a:srgbClr val="FF0000"/>
                </a:solidFill>
              </a:rPr>
              <a:t>&gt;&gt;</a:t>
            </a:r>
            <a:r>
              <a:rPr lang="en-US" dirty="0"/>
              <a:t> and </a:t>
            </a:r>
            <a:r>
              <a:rPr lang="en-US" dirty="0">
                <a:solidFill>
                  <a:srgbClr val="FF0000"/>
                </a:solidFill>
              </a:rPr>
              <a:t>&lt;&lt;</a:t>
            </a:r>
            <a:endParaRPr lang="en-PK" dirty="0"/>
          </a:p>
        </p:txBody>
      </p:sp>
      <p:sp>
        <p:nvSpPr>
          <p:cNvPr id="3" name="Content Placeholder 2">
            <a:extLst>
              <a:ext uri="{FF2B5EF4-FFF2-40B4-BE49-F238E27FC236}">
                <a16:creationId xmlns:a16="http://schemas.microsoft.com/office/drawing/2014/main" id="{18C7A33C-1B4A-FA24-A27E-1FB6C39C032E}"/>
              </a:ext>
            </a:extLst>
          </p:cNvPr>
          <p:cNvSpPr>
            <a:spLocks noGrp="1"/>
          </p:cNvSpPr>
          <p:nvPr>
            <p:ph idx="1"/>
          </p:nvPr>
        </p:nvSpPr>
        <p:spPr/>
        <p:txBody>
          <a:bodyPr>
            <a:normAutofit fontScale="92500" lnSpcReduction="20000"/>
          </a:bodyPr>
          <a:lstStyle/>
          <a:p>
            <a:pPr algn="just"/>
            <a:r>
              <a:rPr lang="en-US" b="1" i="0" dirty="0">
                <a:solidFill>
                  <a:srgbClr val="273239"/>
                </a:solidFill>
                <a:effectLst/>
                <a:latin typeface="urw-din"/>
              </a:rPr>
              <a:t>Why these operators must be overloaded as </a:t>
            </a:r>
            <a:r>
              <a:rPr lang="en-US" b="1" i="1" dirty="0">
                <a:solidFill>
                  <a:srgbClr val="0070C0"/>
                </a:solidFill>
                <a:effectLst/>
                <a:latin typeface="urw-din"/>
              </a:rPr>
              <a:t>global</a:t>
            </a:r>
            <a:r>
              <a:rPr lang="en-US" b="1" i="0" dirty="0">
                <a:solidFill>
                  <a:srgbClr val="273239"/>
                </a:solidFill>
                <a:effectLst/>
                <a:latin typeface="urw-din"/>
              </a:rPr>
              <a:t>?</a:t>
            </a:r>
            <a:r>
              <a:rPr lang="en-US" b="0" i="0" dirty="0">
                <a:solidFill>
                  <a:srgbClr val="273239"/>
                </a:solidFill>
                <a:effectLst/>
                <a:latin typeface="urw-din"/>
              </a:rPr>
              <a:t> </a:t>
            </a:r>
            <a:br>
              <a:rPr lang="en-US" dirty="0"/>
            </a:br>
            <a:endParaRPr lang="en-US" dirty="0"/>
          </a:p>
          <a:p>
            <a:pPr algn="just"/>
            <a:r>
              <a:rPr lang="en-US" dirty="0"/>
              <a:t>Left operand with &lt;&lt; and &gt;&gt; is always going to be </a:t>
            </a:r>
            <a:r>
              <a:rPr lang="en-US" dirty="0" err="1"/>
              <a:t>cin</a:t>
            </a:r>
            <a:r>
              <a:rPr lang="en-US" dirty="0"/>
              <a:t> and </a:t>
            </a:r>
            <a:r>
              <a:rPr lang="en-US" dirty="0" err="1"/>
              <a:t>cout</a:t>
            </a:r>
            <a:endParaRPr lang="en-US" dirty="0"/>
          </a:p>
          <a:p>
            <a:pPr algn="just"/>
            <a:endParaRPr lang="en-US" dirty="0"/>
          </a:p>
          <a:p>
            <a:pPr algn="just"/>
            <a:r>
              <a:rPr lang="en-US" b="0" i="0" dirty="0">
                <a:solidFill>
                  <a:srgbClr val="273239"/>
                </a:solidFill>
                <a:effectLst/>
                <a:latin typeface="urw-din"/>
              </a:rPr>
              <a:t>if we want to make them a member function, then they must be made members of </a:t>
            </a:r>
            <a:r>
              <a:rPr lang="en-US" b="0" i="0" dirty="0" err="1">
                <a:solidFill>
                  <a:srgbClr val="0070C0"/>
                </a:solidFill>
                <a:effectLst/>
                <a:latin typeface="urw-din"/>
              </a:rPr>
              <a:t>ostream</a:t>
            </a:r>
            <a:r>
              <a:rPr lang="en-US" b="0" i="0" dirty="0">
                <a:solidFill>
                  <a:srgbClr val="273239"/>
                </a:solidFill>
                <a:effectLst/>
                <a:latin typeface="urw-din"/>
              </a:rPr>
              <a:t> and </a:t>
            </a:r>
            <a:r>
              <a:rPr lang="en-US" b="0" i="0" dirty="0" err="1">
                <a:solidFill>
                  <a:srgbClr val="0070C0"/>
                </a:solidFill>
                <a:effectLst/>
                <a:latin typeface="urw-din"/>
              </a:rPr>
              <a:t>istream</a:t>
            </a:r>
            <a:r>
              <a:rPr lang="en-US" b="0" i="0" dirty="0">
                <a:solidFill>
                  <a:srgbClr val="273239"/>
                </a:solidFill>
                <a:effectLst/>
                <a:latin typeface="urw-din"/>
              </a:rPr>
              <a:t> classes, not a good option.</a:t>
            </a:r>
          </a:p>
          <a:p>
            <a:pPr algn="just"/>
            <a:endParaRPr lang="en-US" dirty="0"/>
          </a:p>
          <a:p>
            <a:pPr algn="just"/>
            <a:r>
              <a:rPr lang="en-US" b="0" i="0" dirty="0">
                <a:solidFill>
                  <a:srgbClr val="273239"/>
                </a:solidFill>
                <a:effectLst/>
                <a:latin typeface="urw-din"/>
              </a:rPr>
              <a:t>Therefore, these operators are overloaded as </a:t>
            </a:r>
            <a:r>
              <a:rPr lang="en-US" b="0" i="0" dirty="0">
                <a:solidFill>
                  <a:srgbClr val="0070C0"/>
                </a:solidFill>
                <a:effectLst/>
                <a:latin typeface="urw-din"/>
              </a:rPr>
              <a:t>global functions </a:t>
            </a:r>
            <a:r>
              <a:rPr lang="en-US" b="0" i="0" dirty="0">
                <a:solidFill>
                  <a:srgbClr val="273239"/>
                </a:solidFill>
                <a:effectLst/>
                <a:latin typeface="urw-din"/>
              </a:rPr>
              <a:t>with two parameters, </a:t>
            </a:r>
            <a:r>
              <a:rPr lang="en-US" dirty="0" err="1">
                <a:solidFill>
                  <a:srgbClr val="0070C0"/>
                </a:solidFill>
                <a:latin typeface="urw-din"/>
              </a:rPr>
              <a:t>istream</a:t>
            </a:r>
            <a:r>
              <a:rPr lang="en-US" dirty="0">
                <a:solidFill>
                  <a:srgbClr val="0070C0"/>
                </a:solidFill>
                <a:latin typeface="urw-din"/>
              </a:rPr>
              <a:t>/</a:t>
            </a:r>
            <a:r>
              <a:rPr lang="en-US" dirty="0" err="1">
                <a:solidFill>
                  <a:srgbClr val="0070C0"/>
                </a:solidFill>
                <a:latin typeface="urw-din"/>
              </a:rPr>
              <a:t>ostream</a:t>
            </a:r>
            <a:r>
              <a:rPr lang="en-US" b="0" i="0" dirty="0">
                <a:solidFill>
                  <a:srgbClr val="0070C0"/>
                </a:solidFill>
                <a:effectLst/>
                <a:latin typeface="urw-din"/>
              </a:rPr>
              <a:t> </a:t>
            </a:r>
            <a:r>
              <a:rPr lang="en-US" b="0" i="0" dirty="0">
                <a:solidFill>
                  <a:srgbClr val="273239"/>
                </a:solidFill>
                <a:effectLst/>
                <a:latin typeface="urw-din"/>
              </a:rPr>
              <a:t>and </a:t>
            </a:r>
            <a:r>
              <a:rPr lang="en-US" b="0" i="0" dirty="0">
                <a:solidFill>
                  <a:srgbClr val="0070C0"/>
                </a:solidFill>
                <a:effectLst/>
                <a:latin typeface="urw-din"/>
              </a:rPr>
              <a:t>object of user-defined class</a:t>
            </a:r>
            <a:r>
              <a:rPr lang="en-US" b="0" i="0" dirty="0">
                <a:solidFill>
                  <a:srgbClr val="273239"/>
                </a:solidFill>
                <a:effectLst/>
                <a:latin typeface="urw-din"/>
              </a:rPr>
              <a:t>.</a:t>
            </a:r>
            <a:endParaRPr lang="en-US" dirty="0">
              <a:cs typeface="Tahoma" panose="020B0604030504040204" pitchFamily="34" charset="0"/>
            </a:endParaRPr>
          </a:p>
        </p:txBody>
      </p:sp>
      <p:sp>
        <p:nvSpPr>
          <p:cNvPr id="4" name="Footer Placeholder 3">
            <a:extLst>
              <a:ext uri="{FF2B5EF4-FFF2-40B4-BE49-F238E27FC236}">
                <a16:creationId xmlns:a16="http://schemas.microsoft.com/office/drawing/2014/main" id="{1B1F66DD-471A-D771-A3BC-27BB05585677}"/>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9A5C49AB-6553-C7D9-0B32-87BDBF4F9AF1}"/>
              </a:ext>
            </a:extLst>
          </p:cNvPr>
          <p:cNvSpPr>
            <a:spLocks noGrp="1"/>
          </p:cNvSpPr>
          <p:nvPr>
            <p:ph type="sldNum" sz="quarter" idx="12"/>
          </p:nvPr>
        </p:nvSpPr>
        <p:spPr/>
        <p:txBody>
          <a:bodyPr/>
          <a:lstStyle/>
          <a:p>
            <a:fld id="{51845F5A-061D-4825-9AE9-D7794091C6CF}" type="slidenum">
              <a:rPr lang="en-US" smtClean="0"/>
              <a:t>73</a:t>
            </a:fld>
            <a:endParaRPr lang="en-US" dirty="0"/>
          </a:p>
        </p:txBody>
      </p:sp>
    </p:spTree>
    <p:extLst>
      <p:ext uri="{BB962C8B-B14F-4D97-AF65-F5344CB8AC3E}">
        <p14:creationId xmlns:p14="http://schemas.microsoft.com/office/powerpoint/2010/main" val="24568748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2891-2162-6D95-B917-CE4F3BBB0796}"/>
              </a:ext>
            </a:extLst>
          </p:cNvPr>
          <p:cNvSpPr>
            <a:spLocks noGrp="1"/>
          </p:cNvSpPr>
          <p:nvPr>
            <p:ph type="title"/>
          </p:nvPr>
        </p:nvSpPr>
        <p:spPr/>
        <p:txBody>
          <a:bodyPr/>
          <a:lstStyle/>
          <a:p>
            <a:r>
              <a:rPr lang="en-US" dirty="0"/>
              <a:t>Overloading iostream operators</a:t>
            </a:r>
            <a:br>
              <a:rPr lang="en-US" dirty="0"/>
            </a:br>
            <a:r>
              <a:rPr lang="en-US" dirty="0"/>
              <a:t> </a:t>
            </a:r>
            <a:r>
              <a:rPr lang="en-US" dirty="0">
                <a:solidFill>
                  <a:srgbClr val="FF0000"/>
                </a:solidFill>
              </a:rPr>
              <a:t>&gt;&gt;</a:t>
            </a:r>
            <a:r>
              <a:rPr lang="en-US" dirty="0"/>
              <a:t> and </a:t>
            </a:r>
            <a:r>
              <a:rPr lang="en-US" dirty="0">
                <a:solidFill>
                  <a:srgbClr val="FF0000"/>
                </a:solidFill>
              </a:rPr>
              <a:t>&lt;&lt;</a:t>
            </a:r>
            <a:endParaRPr lang="en-PK" dirty="0"/>
          </a:p>
        </p:txBody>
      </p:sp>
      <p:sp>
        <p:nvSpPr>
          <p:cNvPr id="3" name="Content Placeholder 2">
            <a:extLst>
              <a:ext uri="{FF2B5EF4-FFF2-40B4-BE49-F238E27FC236}">
                <a16:creationId xmlns:a16="http://schemas.microsoft.com/office/drawing/2014/main" id="{3BD740B8-1D78-714D-C02D-5F43A816F1C0}"/>
              </a:ext>
            </a:extLst>
          </p:cNvPr>
          <p:cNvSpPr>
            <a:spLocks noGrp="1"/>
          </p:cNvSpPr>
          <p:nvPr>
            <p:ph idx="1"/>
          </p:nvPr>
        </p:nvSpPr>
        <p:spPr/>
        <p:txBody>
          <a:bodyPr>
            <a:normAutofit/>
          </a:bodyPr>
          <a:lstStyle/>
          <a:p>
            <a:pPr algn="just"/>
            <a:r>
              <a:rPr lang="en-US" dirty="0"/>
              <a:t>We can use friend function for overloading iostream operators ( &gt;&gt; or &lt;&lt;).</a:t>
            </a:r>
          </a:p>
          <a:p>
            <a:endParaRPr lang="en-US" dirty="0"/>
          </a:p>
          <a:p>
            <a:pPr algn="just"/>
            <a:r>
              <a:rPr lang="en-US" dirty="0"/>
              <a:t>Usually iostream operators ( &gt;&gt; or &lt;&lt; ) are not called from an object of the class</a:t>
            </a:r>
          </a:p>
          <a:p>
            <a:pPr lvl="2" algn="ctr">
              <a:buFontTx/>
              <a:buNone/>
            </a:pPr>
            <a:r>
              <a:rPr lang="en-US" b="1" dirty="0">
                <a:solidFill>
                  <a:srgbClr val="FF0000"/>
                </a:solidFill>
              </a:rPr>
              <a:t>Point p; </a:t>
            </a:r>
          </a:p>
          <a:p>
            <a:pPr lvl="2" algn="ctr">
              <a:buFontTx/>
              <a:buNone/>
            </a:pPr>
            <a:r>
              <a:rPr lang="en-US" b="1" dirty="0" err="1">
                <a:solidFill>
                  <a:srgbClr val="FF0000"/>
                </a:solidFill>
              </a:rPr>
              <a:t>cin</a:t>
            </a:r>
            <a:r>
              <a:rPr lang="en-US" b="1" dirty="0">
                <a:solidFill>
                  <a:srgbClr val="FF0000"/>
                </a:solidFill>
              </a:rPr>
              <a:t>  &gt;&gt; p;</a:t>
            </a:r>
          </a:p>
          <a:p>
            <a:pPr lvl="2" algn="ctr">
              <a:buFontTx/>
              <a:buNone/>
            </a:pPr>
            <a:r>
              <a:rPr lang="en-US" b="1" dirty="0" err="1">
                <a:solidFill>
                  <a:srgbClr val="FF0000"/>
                </a:solidFill>
              </a:rPr>
              <a:t>cout</a:t>
            </a:r>
            <a:r>
              <a:rPr lang="en-US" b="1" dirty="0">
                <a:solidFill>
                  <a:srgbClr val="FF0000"/>
                </a:solidFill>
              </a:rPr>
              <a:t> &lt;&lt; p;</a:t>
            </a:r>
          </a:p>
          <a:p>
            <a:pPr marL="0" indent="0">
              <a:buNone/>
            </a:pPr>
            <a:r>
              <a:rPr lang="en-US" dirty="0"/>
              <a:t>	where </a:t>
            </a:r>
            <a:r>
              <a:rPr lang="en-US" dirty="0" err="1"/>
              <a:t>cin</a:t>
            </a:r>
            <a:r>
              <a:rPr lang="en-US" dirty="0"/>
              <a:t> and </a:t>
            </a:r>
            <a:r>
              <a:rPr lang="en-US" dirty="0" err="1"/>
              <a:t>cout</a:t>
            </a:r>
            <a:r>
              <a:rPr lang="en-US" dirty="0"/>
              <a:t> are object of iostream class</a:t>
            </a:r>
          </a:p>
        </p:txBody>
      </p:sp>
      <p:sp>
        <p:nvSpPr>
          <p:cNvPr id="4" name="Footer Placeholder 3">
            <a:extLst>
              <a:ext uri="{FF2B5EF4-FFF2-40B4-BE49-F238E27FC236}">
                <a16:creationId xmlns:a16="http://schemas.microsoft.com/office/drawing/2014/main" id="{60AFF075-4473-9C89-D6CE-7A30C9FD4C11}"/>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E1409881-14B5-8A12-0F93-7E3A56DAF12D}"/>
              </a:ext>
            </a:extLst>
          </p:cNvPr>
          <p:cNvSpPr>
            <a:spLocks noGrp="1"/>
          </p:cNvSpPr>
          <p:nvPr>
            <p:ph type="sldNum" sz="quarter" idx="12"/>
          </p:nvPr>
        </p:nvSpPr>
        <p:spPr/>
        <p:txBody>
          <a:bodyPr/>
          <a:lstStyle/>
          <a:p>
            <a:fld id="{51845F5A-061D-4825-9AE9-D7794091C6CF}" type="slidenum">
              <a:rPr lang="en-US" smtClean="0"/>
              <a:t>74</a:t>
            </a:fld>
            <a:endParaRPr lang="en-US" dirty="0"/>
          </a:p>
        </p:txBody>
      </p:sp>
    </p:spTree>
    <p:extLst>
      <p:ext uri="{BB962C8B-B14F-4D97-AF65-F5344CB8AC3E}">
        <p14:creationId xmlns:p14="http://schemas.microsoft.com/office/powerpoint/2010/main" val="30759361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2CD4-E275-3BA5-651B-B89102F23584}"/>
              </a:ext>
            </a:extLst>
          </p:cNvPr>
          <p:cNvSpPr>
            <a:spLocks noGrp="1"/>
          </p:cNvSpPr>
          <p:nvPr>
            <p:ph type="title"/>
          </p:nvPr>
        </p:nvSpPr>
        <p:spPr/>
        <p:txBody>
          <a:bodyPr/>
          <a:lstStyle/>
          <a:p>
            <a:r>
              <a:rPr lang="en-US" dirty="0"/>
              <a:t>Overloading iostream operators</a:t>
            </a:r>
            <a:br>
              <a:rPr lang="en-US" dirty="0"/>
            </a:br>
            <a:r>
              <a:rPr lang="en-US" dirty="0"/>
              <a:t> </a:t>
            </a:r>
            <a:r>
              <a:rPr lang="en-US" dirty="0">
                <a:solidFill>
                  <a:srgbClr val="FF0000"/>
                </a:solidFill>
              </a:rPr>
              <a:t>&gt;&gt;</a:t>
            </a:r>
            <a:r>
              <a:rPr lang="en-US" dirty="0"/>
              <a:t> and </a:t>
            </a:r>
            <a:r>
              <a:rPr lang="en-US" dirty="0">
                <a:solidFill>
                  <a:srgbClr val="FF0000"/>
                </a:solidFill>
              </a:rPr>
              <a:t>&lt;&lt;</a:t>
            </a:r>
            <a:endParaRPr lang="en-PK" dirty="0"/>
          </a:p>
        </p:txBody>
      </p:sp>
      <p:sp>
        <p:nvSpPr>
          <p:cNvPr id="3" name="Content Placeholder 2">
            <a:extLst>
              <a:ext uri="{FF2B5EF4-FFF2-40B4-BE49-F238E27FC236}">
                <a16:creationId xmlns:a16="http://schemas.microsoft.com/office/drawing/2014/main" id="{540D85A8-A2EE-9A31-056F-C3496FA290FA}"/>
              </a:ext>
            </a:extLst>
          </p:cNvPr>
          <p:cNvSpPr>
            <a:spLocks noGrp="1"/>
          </p:cNvSpPr>
          <p:nvPr>
            <p:ph idx="1"/>
          </p:nvPr>
        </p:nvSpPr>
        <p:spPr/>
        <p:txBody>
          <a:bodyPr/>
          <a:lstStyle/>
          <a:p>
            <a:pPr algn="just"/>
            <a:r>
              <a:rPr lang="en-US" dirty="0">
                <a:cs typeface="Tahoma" panose="020B0604030504040204" pitchFamily="34" charset="0"/>
              </a:rPr>
              <a:t>We can define the </a:t>
            </a:r>
            <a:r>
              <a:rPr lang="en-US" b="1" dirty="0">
                <a:cs typeface="Tahoma" panose="020B0604030504040204" pitchFamily="34" charset="0"/>
              </a:rPr>
              <a:t>prototype </a:t>
            </a:r>
            <a:r>
              <a:rPr lang="en-US" dirty="0">
                <a:cs typeface="Tahoma" panose="020B0604030504040204" pitchFamily="34" charset="0"/>
              </a:rPr>
              <a:t>of </a:t>
            </a:r>
            <a:r>
              <a:rPr lang="en-US" b="1" dirty="0">
                <a:solidFill>
                  <a:srgbClr val="0070C0"/>
                </a:solidFill>
                <a:cs typeface="Tahoma" panose="020B0604030504040204" pitchFamily="34" charset="0"/>
              </a:rPr>
              <a:t>iostream operators </a:t>
            </a:r>
            <a:r>
              <a:rPr lang="en-US" dirty="0">
                <a:cs typeface="Tahoma" panose="020B0604030504040204" pitchFamily="34" charset="0"/>
              </a:rPr>
              <a:t>( </a:t>
            </a:r>
            <a:r>
              <a:rPr lang="en-US" b="1" dirty="0">
                <a:solidFill>
                  <a:srgbClr val="0070C0"/>
                </a:solidFill>
                <a:cs typeface="Tahoma" panose="020B0604030504040204" pitchFamily="34" charset="0"/>
              </a:rPr>
              <a:t>&gt;&gt;</a:t>
            </a:r>
            <a:r>
              <a:rPr lang="en-US" dirty="0">
                <a:solidFill>
                  <a:srgbClr val="2C14DE"/>
                </a:solidFill>
                <a:cs typeface="Tahoma" panose="020B0604030504040204" pitchFamily="34" charset="0"/>
              </a:rPr>
              <a:t> </a:t>
            </a:r>
            <a:r>
              <a:rPr lang="en-US" dirty="0">
                <a:cs typeface="Tahoma" panose="020B0604030504040204" pitchFamily="34" charset="0"/>
              </a:rPr>
              <a:t>and </a:t>
            </a:r>
            <a:r>
              <a:rPr lang="en-US" b="1" dirty="0">
                <a:solidFill>
                  <a:srgbClr val="0070C0"/>
                </a:solidFill>
                <a:cs typeface="Tahoma" panose="020B0604030504040204" pitchFamily="34" charset="0"/>
              </a:rPr>
              <a:t>&lt;&lt;</a:t>
            </a:r>
            <a:r>
              <a:rPr lang="en-US" dirty="0">
                <a:solidFill>
                  <a:srgbClr val="2C14DE"/>
                </a:solidFill>
                <a:cs typeface="Tahoma" panose="020B0604030504040204" pitchFamily="34" charset="0"/>
              </a:rPr>
              <a:t> </a:t>
            </a:r>
            <a:r>
              <a:rPr lang="en-US" dirty="0">
                <a:cs typeface="Tahoma" panose="020B0604030504040204" pitchFamily="34" charset="0"/>
              </a:rPr>
              <a:t>) inside a class with the help of </a:t>
            </a:r>
            <a:r>
              <a:rPr lang="en-US" b="1" i="1" dirty="0">
                <a:solidFill>
                  <a:srgbClr val="FF0000"/>
                </a:solidFill>
                <a:cs typeface="Tahoma" panose="020B0604030504040204" pitchFamily="34" charset="0"/>
              </a:rPr>
              <a:t>friend function</a:t>
            </a:r>
            <a:r>
              <a:rPr lang="en-US" dirty="0">
                <a:cs typeface="Tahoma" panose="020B0604030504040204" pitchFamily="34" charset="0"/>
              </a:rPr>
              <a:t>, and </a:t>
            </a:r>
            <a:r>
              <a:rPr lang="en-US" b="1" dirty="0">
                <a:cs typeface="Tahoma" panose="020B0604030504040204" pitchFamily="34" charset="0"/>
              </a:rPr>
              <a:t>then</a:t>
            </a:r>
            <a:r>
              <a:rPr lang="en-US" dirty="0">
                <a:cs typeface="Tahoma" panose="020B0604030504040204" pitchFamily="34" charset="0"/>
              </a:rPr>
              <a:t> </a:t>
            </a:r>
            <a:r>
              <a:rPr lang="en-US" b="1" i="1" dirty="0">
                <a:solidFill>
                  <a:srgbClr val="0070C0"/>
                </a:solidFill>
                <a:cs typeface="Tahoma" panose="020B0604030504040204" pitchFamily="34" charset="0"/>
              </a:rPr>
              <a:t>we can access private data members.</a:t>
            </a:r>
            <a:endParaRPr lang="en-US" sz="3200" dirty="0"/>
          </a:p>
          <a:p>
            <a:pPr algn="just"/>
            <a:endParaRPr lang="en-US" sz="3200" dirty="0"/>
          </a:p>
          <a:p>
            <a:pPr algn="just"/>
            <a:r>
              <a:rPr lang="en-US" dirty="0">
                <a:cs typeface="Tahoma" panose="020B0604030504040204" pitchFamily="34" charset="0"/>
              </a:rPr>
              <a:t>We can also overload these operators </a:t>
            </a:r>
            <a:r>
              <a:rPr lang="en-US" dirty="0">
                <a:solidFill>
                  <a:srgbClr val="0070C0"/>
                </a:solidFill>
                <a:cs typeface="Tahoma" panose="020B0604030504040204" pitchFamily="34" charset="0"/>
              </a:rPr>
              <a:t>without making friend functions</a:t>
            </a:r>
          </a:p>
          <a:p>
            <a:pPr algn="just"/>
            <a:endParaRPr lang="en-PK" dirty="0"/>
          </a:p>
        </p:txBody>
      </p:sp>
      <p:sp>
        <p:nvSpPr>
          <p:cNvPr id="4" name="Footer Placeholder 3">
            <a:extLst>
              <a:ext uri="{FF2B5EF4-FFF2-40B4-BE49-F238E27FC236}">
                <a16:creationId xmlns:a16="http://schemas.microsoft.com/office/drawing/2014/main" id="{28EA1644-DD65-6EF4-913E-1B2FA18AD903}"/>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9CF144B7-E4DE-D355-93CE-E1C6589728D7}"/>
              </a:ext>
            </a:extLst>
          </p:cNvPr>
          <p:cNvSpPr>
            <a:spLocks noGrp="1"/>
          </p:cNvSpPr>
          <p:nvPr>
            <p:ph type="sldNum" sz="quarter" idx="12"/>
          </p:nvPr>
        </p:nvSpPr>
        <p:spPr/>
        <p:txBody>
          <a:bodyPr/>
          <a:lstStyle/>
          <a:p>
            <a:fld id="{51845F5A-061D-4825-9AE9-D7794091C6CF}" type="slidenum">
              <a:rPr lang="en-US" smtClean="0"/>
              <a:t>75</a:t>
            </a:fld>
            <a:endParaRPr lang="en-US" dirty="0"/>
          </a:p>
        </p:txBody>
      </p:sp>
    </p:spTree>
    <p:extLst>
      <p:ext uri="{BB962C8B-B14F-4D97-AF65-F5344CB8AC3E}">
        <p14:creationId xmlns:p14="http://schemas.microsoft.com/office/powerpoint/2010/main" val="20944851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1BC97-2D63-D8F2-C5CF-373A697134B9}"/>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F08134E5-638D-DD29-54E5-F92A7CF2BA75}"/>
              </a:ext>
            </a:extLst>
          </p:cNvPr>
          <p:cNvSpPr>
            <a:spLocks noGrp="1"/>
          </p:cNvSpPr>
          <p:nvPr>
            <p:ph idx="1"/>
          </p:nvPr>
        </p:nvSpPr>
        <p:spPr>
          <a:xfrm>
            <a:off x="2621280" y="1291590"/>
            <a:ext cx="7772400" cy="4869180"/>
          </a:xfrm>
        </p:spPr>
        <p:txBody>
          <a:bodyPr>
            <a:normAutofit/>
          </a:bodyPr>
          <a:lstStyle/>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class Point</a:t>
            </a:r>
          </a:p>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a:t>
            </a:r>
          </a:p>
          <a:p>
            <a:pPr>
              <a:lnSpc>
                <a:spcPct val="120000"/>
              </a:lnSpc>
              <a:spcBef>
                <a:spcPts val="0"/>
              </a:spcBef>
              <a:buFont typeface="Monotype Sorts" charset="2"/>
              <a:buNone/>
            </a:pPr>
            <a:r>
              <a:rPr lang="en-US" sz="1800" dirty="0">
                <a:latin typeface="Consolas" panose="020B0609020204030204" pitchFamily="49" charset="0"/>
                <a:cs typeface="Tahoma" panose="020B0604030504040204" pitchFamily="34" charset="0"/>
              </a:rPr>
              <a:t>	</a:t>
            </a:r>
            <a:r>
              <a:rPr lang="en-US" sz="1800" b="1" dirty="0">
                <a:latin typeface="Consolas" panose="020B0609020204030204" pitchFamily="49" charset="0"/>
                <a:cs typeface="Tahoma" panose="020B0604030504040204" pitchFamily="34" charset="0"/>
              </a:rPr>
              <a:t>private:</a:t>
            </a:r>
          </a:p>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   	float </a:t>
            </a:r>
            <a:r>
              <a:rPr lang="en-US" sz="1800" b="1" dirty="0" err="1">
                <a:latin typeface="Consolas" panose="020B0609020204030204" pitchFamily="49" charset="0"/>
                <a:cs typeface="Tahoma" panose="020B0604030504040204" pitchFamily="34" charset="0"/>
              </a:rPr>
              <a:t>m_dX</a:t>
            </a:r>
            <a:r>
              <a:rPr lang="en-US" sz="1800" b="1" dirty="0">
                <a:latin typeface="Consolas" panose="020B0609020204030204" pitchFamily="49" charset="0"/>
                <a:cs typeface="Tahoma" panose="020B0604030504040204" pitchFamily="34" charset="0"/>
              </a:rPr>
              <a:t>, </a:t>
            </a:r>
            <a:r>
              <a:rPr lang="en-US" sz="1800" b="1" dirty="0" err="1">
                <a:latin typeface="Consolas" panose="020B0609020204030204" pitchFamily="49" charset="0"/>
                <a:cs typeface="Tahoma" panose="020B0604030504040204" pitchFamily="34" charset="0"/>
              </a:rPr>
              <a:t>m_dY</a:t>
            </a:r>
            <a:r>
              <a:rPr lang="en-US" sz="1800" b="1" dirty="0">
                <a:latin typeface="Consolas" panose="020B0609020204030204" pitchFamily="49" charset="0"/>
                <a:cs typeface="Tahoma" panose="020B0604030504040204" pitchFamily="34" charset="0"/>
              </a:rPr>
              <a:t>, </a:t>
            </a:r>
            <a:r>
              <a:rPr lang="en-US" sz="1800" b="1" dirty="0" err="1">
                <a:latin typeface="Consolas" panose="020B0609020204030204" pitchFamily="49" charset="0"/>
                <a:cs typeface="Tahoma" panose="020B0604030504040204" pitchFamily="34" charset="0"/>
              </a:rPr>
              <a:t>m_dZ</a:t>
            </a:r>
            <a:r>
              <a:rPr lang="en-US" sz="1800" b="1" dirty="0">
                <a:latin typeface="Consolas" panose="020B0609020204030204" pitchFamily="49" charset="0"/>
                <a:cs typeface="Tahoma" panose="020B0604030504040204" pitchFamily="34" charset="0"/>
              </a:rPr>
              <a:t>; </a:t>
            </a:r>
          </a:p>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	public:</a:t>
            </a:r>
          </a:p>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   	Point(float </a:t>
            </a:r>
            <a:r>
              <a:rPr lang="en-US" sz="1800" b="1" dirty="0" err="1">
                <a:latin typeface="Consolas" panose="020B0609020204030204" pitchFamily="49" charset="0"/>
                <a:cs typeface="Tahoma" panose="020B0604030504040204" pitchFamily="34" charset="0"/>
              </a:rPr>
              <a:t>dX</a:t>
            </a:r>
            <a:r>
              <a:rPr lang="en-US" sz="1800" b="1" dirty="0">
                <a:latin typeface="Consolas" panose="020B0609020204030204" pitchFamily="49" charset="0"/>
                <a:cs typeface="Tahoma" panose="020B0604030504040204" pitchFamily="34" charset="0"/>
              </a:rPr>
              <a:t>, float </a:t>
            </a:r>
            <a:r>
              <a:rPr lang="en-US" sz="1800" b="1" dirty="0" err="1">
                <a:latin typeface="Consolas" panose="020B0609020204030204" pitchFamily="49" charset="0"/>
                <a:cs typeface="Tahoma" panose="020B0604030504040204" pitchFamily="34" charset="0"/>
              </a:rPr>
              <a:t>dY</a:t>
            </a:r>
            <a:r>
              <a:rPr lang="en-US" sz="1800" b="1" dirty="0">
                <a:latin typeface="Consolas" panose="020B0609020204030204" pitchFamily="49" charset="0"/>
                <a:cs typeface="Tahoma" panose="020B0604030504040204" pitchFamily="34" charset="0"/>
              </a:rPr>
              <a:t>, float </a:t>
            </a:r>
            <a:r>
              <a:rPr lang="en-US" sz="1800" b="1" dirty="0" err="1">
                <a:latin typeface="Consolas" panose="020B0609020204030204" pitchFamily="49" charset="0"/>
                <a:cs typeface="Tahoma" panose="020B0604030504040204" pitchFamily="34" charset="0"/>
              </a:rPr>
              <a:t>dZ</a:t>
            </a:r>
            <a:r>
              <a:rPr lang="en-US" sz="1800" b="1" dirty="0">
                <a:latin typeface="Consolas" panose="020B0609020204030204" pitchFamily="49" charset="0"/>
                <a:cs typeface="Tahoma" panose="020B0604030504040204" pitchFamily="34" charset="0"/>
              </a:rPr>
              <a:t>)</a:t>
            </a:r>
          </a:p>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		{  </a:t>
            </a:r>
          </a:p>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			</a:t>
            </a:r>
            <a:r>
              <a:rPr lang="en-US" sz="1800" b="1" dirty="0" err="1">
                <a:latin typeface="Consolas" panose="020B0609020204030204" pitchFamily="49" charset="0"/>
                <a:cs typeface="Tahoma" panose="020B0604030504040204" pitchFamily="34" charset="0"/>
              </a:rPr>
              <a:t>m_dX</a:t>
            </a:r>
            <a:r>
              <a:rPr lang="en-US" sz="1800" b="1" dirty="0">
                <a:latin typeface="Consolas" panose="020B0609020204030204" pitchFamily="49" charset="0"/>
                <a:cs typeface="Tahoma" panose="020B0604030504040204" pitchFamily="34" charset="0"/>
              </a:rPr>
              <a:t> = </a:t>
            </a:r>
            <a:r>
              <a:rPr lang="en-US" sz="1800" b="1" dirty="0" err="1">
                <a:latin typeface="Consolas" panose="020B0609020204030204" pitchFamily="49" charset="0"/>
                <a:cs typeface="Tahoma" panose="020B0604030504040204" pitchFamily="34" charset="0"/>
              </a:rPr>
              <a:t>dX</a:t>
            </a:r>
            <a:r>
              <a:rPr lang="en-US" sz="1800" b="1" dirty="0">
                <a:latin typeface="Consolas" panose="020B0609020204030204" pitchFamily="49" charset="0"/>
                <a:cs typeface="Tahoma" panose="020B0604030504040204" pitchFamily="34" charset="0"/>
              </a:rPr>
              <a:t>;</a:t>
            </a:r>
          </a:p>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     	       </a:t>
            </a:r>
            <a:r>
              <a:rPr lang="en-US" sz="1800" b="1" dirty="0" err="1">
                <a:latin typeface="Consolas" panose="020B0609020204030204" pitchFamily="49" charset="0"/>
                <a:cs typeface="Tahoma" panose="020B0604030504040204" pitchFamily="34" charset="0"/>
              </a:rPr>
              <a:t>m_dY</a:t>
            </a:r>
            <a:r>
              <a:rPr lang="en-US" sz="1800" b="1" dirty="0">
                <a:latin typeface="Consolas" panose="020B0609020204030204" pitchFamily="49" charset="0"/>
                <a:cs typeface="Tahoma" panose="020B0604030504040204" pitchFamily="34" charset="0"/>
              </a:rPr>
              <a:t> = </a:t>
            </a:r>
            <a:r>
              <a:rPr lang="en-US" sz="1800" b="1" dirty="0" err="1">
                <a:latin typeface="Consolas" panose="020B0609020204030204" pitchFamily="49" charset="0"/>
                <a:cs typeface="Tahoma" panose="020B0604030504040204" pitchFamily="34" charset="0"/>
              </a:rPr>
              <a:t>dY</a:t>
            </a:r>
            <a:r>
              <a:rPr lang="en-US" sz="1800" b="1" dirty="0">
                <a:latin typeface="Consolas" panose="020B0609020204030204" pitchFamily="49" charset="0"/>
                <a:cs typeface="Tahoma" panose="020B0604030504040204" pitchFamily="34" charset="0"/>
              </a:rPr>
              <a:t>; </a:t>
            </a:r>
          </a:p>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			</a:t>
            </a:r>
            <a:r>
              <a:rPr lang="en-US" sz="1800" b="1" dirty="0" err="1">
                <a:latin typeface="Consolas" panose="020B0609020204030204" pitchFamily="49" charset="0"/>
                <a:cs typeface="Tahoma" panose="020B0604030504040204" pitchFamily="34" charset="0"/>
              </a:rPr>
              <a:t>m_dZ</a:t>
            </a:r>
            <a:r>
              <a:rPr lang="en-US" sz="1800" b="1" dirty="0">
                <a:latin typeface="Consolas" panose="020B0609020204030204" pitchFamily="49" charset="0"/>
                <a:cs typeface="Tahoma" panose="020B0604030504040204" pitchFamily="34" charset="0"/>
              </a:rPr>
              <a:t> = </a:t>
            </a:r>
            <a:r>
              <a:rPr lang="en-US" sz="1800" b="1" dirty="0" err="1">
                <a:latin typeface="Consolas" panose="020B0609020204030204" pitchFamily="49" charset="0"/>
                <a:cs typeface="Tahoma" panose="020B0604030504040204" pitchFamily="34" charset="0"/>
              </a:rPr>
              <a:t>dZ</a:t>
            </a:r>
            <a:r>
              <a:rPr lang="en-US" sz="1800" b="1" dirty="0">
                <a:latin typeface="Consolas" panose="020B0609020204030204" pitchFamily="49" charset="0"/>
                <a:cs typeface="Tahoma" panose="020B0604030504040204" pitchFamily="34" charset="0"/>
              </a:rPr>
              <a:t>;    </a:t>
            </a:r>
          </a:p>
          <a:p>
            <a:pPr>
              <a:lnSpc>
                <a:spcPct val="120000"/>
              </a:lnSpc>
              <a:spcBef>
                <a:spcPts val="0"/>
              </a:spcBef>
              <a:buFont typeface="Monotype Sorts" charset="2"/>
              <a:buNone/>
            </a:pPr>
            <a:r>
              <a:rPr lang="en-US" sz="1800" dirty="0">
                <a:latin typeface="Consolas" panose="020B0609020204030204" pitchFamily="49" charset="0"/>
                <a:cs typeface="Tahoma" panose="020B0604030504040204" pitchFamily="34" charset="0"/>
              </a:rPr>
              <a:t>   </a:t>
            </a:r>
            <a:r>
              <a:rPr lang="en-US" sz="1800" b="1" dirty="0">
                <a:latin typeface="Consolas" panose="020B0609020204030204" pitchFamily="49" charset="0"/>
                <a:cs typeface="Tahoma" panose="020B0604030504040204" pitchFamily="34" charset="0"/>
              </a:rPr>
              <a:t>}</a:t>
            </a:r>
            <a:r>
              <a:rPr lang="en-US" sz="1800" dirty="0">
                <a:latin typeface="Consolas" panose="020B0609020204030204" pitchFamily="49" charset="0"/>
                <a:cs typeface="Tahoma" panose="020B0604030504040204" pitchFamily="34" charset="0"/>
              </a:rPr>
              <a:t> </a:t>
            </a:r>
            <a:endParaRPr lang="en-US" sz="1800" b="1" dirty="0">
              <a:solidFill>
                <a:srgbClr val="2C14DE"/>
              </a:solidFill>
              <a:latin typeface="Consolas" panose="020B0609020204030204" pitchFamily="49" charset="0"/>
              <a:cs typeface="Tahoma" panose="020B0604030504040204" pitchFamily="34" charset="0"/>
            </a:endParaRPr>
          </a:p>
          <a:p>
            <a:pPr>
              <a:lnSpc>
                <a:spcPct val="120000"/>
              </a:lnSpc>
              <a:spcBef>
                <a:spcPts val="0"/>
              </a:spcBef>
              <a:buFont typeface="Monotype Sorts" charset="2"/>
              <a:buNone/>
            </a:pPr>
            <a:r>
              <a:rPr lang="en-US" sz="1800" b="1" dirty="0">
                <a:solidFill>
                  <a:srgbClr val="2C14DE"/>
                </a:solidFill>
                <a:latin typeface="Consolas" panose="020B0609020204030204" pitchFamily="49" charset="0"/>
                <a:cs typeface="Tahoma" panose="020B0604030504040204" pitchFamily="34" charset="0"/>
              </a:rPr>
              <a:t> </a:t>
            </a:r>
            <a:r>
              <a:rPr lang="en-US" sz="1800" b="1" dirty="0">
                <a:solidFill>
                  <a:srgbClr val="0070C0"/>
                </a:solidFill>
                <a:latin typeface="Consolas" panose="020B0609020204030204" pitchFamily="49" charset="0"/>
                <a:cs typeface="Tahoma" panose="020B0604030504040204" pitchFamily="34" charset="0"/>
              </a:rPr>
              <a:t>friend </a:t>
            </a:r>
            <a:r>
              <a:rPr lang="en-US" sz="1800" b="1" dirty="0" err="1">
                <a:solidFill>
                  <a:srgbClr val="0070C0"/>
                </a:solidFill>
                <a:latin typeface="Consolas" panose="020B0609020204030204" pitchFamily="49" charset="0"/>
                <a:cs typeface="Tahoma" panose="020B0604030504040204" pitchFamily="34" charset="0"/>
              </a:rPr>
              <a:t>ostream</a:t>
            </a:r>
            <a:r>
              <a:rPr lang="en-US" sz="1800" b="1" dirty="0">
                <a:solidFill>
                  <a:srgbClr val="0070C0"/>
                </a:solidFill>
                <a:latin typeface="Consolas" panose="020B0609020204030204" pitchFamily="49" charset="0"/>
                <a:cs typeface="Tahoma" panose="020B0604030504040204" pitchFamily="34" charset="0"/>
              </a:rPr>
              <a:t>&amp; operator&lt;&lt; (</a:t>
            </a:r>
            <a:r>
              <a:rPr lang="en-US" sz="1800" b="1" dirty="0" err="1">
                <a:solidFill>
                  <a:srgbClr val="0070C0"/>
                </a:solidFill>
                <a:latin typeface="Consolas" panose="020B0609020204030204" pitchFamily="49" charset="0"/>
                <a:cs typeface="Tahoma" panose="020B0604030504040204" pitchFamily="34" charset="0"/>
              </a:rPr>
              <a:t>ostream</a:t>
            </a:r>
            <a:r>
              <a:rPr lang="en-US" sz="1800" b="1" dirty="0">
                <a:solidFill>
                  <a:srgbClr val="0070C0"/>
                </a:solidFill>
                <a:latin typeface="Consolas" panose="020B0609020204030204" pitchFamily="49" charset="0"/>
                <a:cs typeface="Tahoma" panose="020B0604030504040204" pitchFamily="34" charset="0"/>
              </a:rPr>
              <a:t> &amp;out, Point &amp;</a:t>
            </a:r>
            <a:r>
              <a:rPr lang="en-US" sz="1800" b="1" dirty="0" err="1">
                <a:solidFill>
                  <a:srgbClr val="0070C0"/>
                </a:solidFill>
                <a:latin typeface="Consolas" panose="020B0609020204030204" pitchFamily="49" charset="0"/>
                <a:cs typeface="Tahoma" panose="020B0604030504040204" pitchFamily="34" charset="0"/>
              </a:rPr>
              <a:t>cPoint</a:t>
            </a:r>
            <a:r>
              <a:rPr lang="en-US" sz="1800" b="1" dirty="0">
                <a:solidFill>
                  <a:srgbClr val="0070C0"/>
                </a:solidFill>
                <a:latin typeface="Consolas" panose="020B0609020204030204" pitchFamily="49" charset="0"/>
                <a:cs typeface="Tahoma" panose="020B0604030504040204" pitchFamily="34" charset="0"/>
              </a:rPr>
              <a:t>);</a:t>
            </a:r>
          </a:p>
          <a:p>
            <a:pPr>
              <a:lnSpc>
                <a:spcPct val="120000"/>
              </a:lnSpc>
              <a:spcBef>
                <a:spcPts val="0"/>
              </a:spcBef>
              <a:buFont typeface="Monotype Sorts" charset="2"/>
              <a:buNone/>
            </a:pPr>
            <a:r>
              <a:rPr lang="en-US" sz="1800" b="1" dirty="0">
                <a:solidFill>
                  <a:srgbClr val="0070C0"/>
                </a:solidFill>
                <a:latin typeface="Consolas" panose="020B0609020204030204" pitchFamily="49" charset="0"/>
                <a:cs typeface="Tahoma" panose="020B0604030504040204" pitchFamily="34" charset="0"/>
              </a:rPr>
              <a:t> friend </a:t>
            </a:r>
            <a:r>
              <a:rPr lang="en-US" sz="1800" b="1" dirty="0" err="1">
                <a:solidFill>
                  <a:srgbClr val="0070C0"/>
                </a:solidFill>
                <a:latin typeface="Consolas" panose="020B0609020204030204" pitchFamily="49" charset="0"/>
                <a:cs typeface="Tahoma" panose="020B0604030504040204" pitchFamily="34" charset="0"/>
              </a:rPr>
              <a:t>istream</a:t>
            </a:r>
            <a:r>
              <a:rPr lang="en-US" sz="1800" b="1" dirty="0">
                <a:solidFill>
                  <a:srgbClr val="0070C0"/>
                </a:solidFill>
                <a:latin typeface="Consolas" panose="020B0609020204030204" pitchFamily="49" charset="0"/>
                <a:cs typeface="Tahoma" panose="020B0604030504040204" pitchFamily="34" charset="0"/>
              </a:rPr>
              <a:t>&amp; operator&gt;&gt; (</a:t>
            </a:r>
            <a:r>
              <a:rPr lang="en-US" sz="1800" b="1" dirty="0" err="1">
                <a:solidFill>
                  <a:srgbClr val="0070C0"/>
                </a:solidFill>
                <a:latin typeface="Consolas" panose="020B0609020204030204" pitchFamily="49" charset="0"/>
                <a:cs typeface="Tahoma" panose="020B0604030504040204" pitchFamily="34" charset="0"/>
              </a:rPr>
              <a:t>istream</a:t>
            </a:r>
            <a:r>
              <a:rPr lang="en-US" sz="1800" b="1" dirty="0">
                <a:solidFill>
                  <a:srgbClr val="0070C0"/>
                </a:solidFill>
                <a:latin typeface="Consolas" panose="020B0609020204030204" pitchFamily="49" charset="0"/>
                <a:cs typeface="Tahoma" panose="020B0604030504040204" pitchFamily="34" charset="0"/>
              </a:rPr>
              <a:t> &amp;in, Point &amp;</a:t>
            </a:r>
            <a:r>
              <a:rPr lang="en-US" sz="1800" b="1" dirty="0" err="1">
                <a:solidFill>
                  <a:srgbClr val="0070C0"/>
                </a:solidFill>
                <a:latin typeface="Consolas" panose="020B0609020204030204" pitchFamily="49" charset="0"/>
                <a:cs typeface="Tahoma" panose="020B0604030504040204" pitchFamily="34" charset="0"/>
              </a:rPr>
              <a:t>cPoint</a:t>
            </a:r>
            <a:r>
              <a:rPr lang="en-US" sz="1800" b="1" dirty="0">
                <a:solidFill>
                  <a:srgbClr val="0070C0"/>
                </a:solidFill>
                <a:latin typeface="Consolas" panose="020B0609020204030204" pitchFamily="49" charset="0"/>
                <a:cs typeface="Tahoma" panose="020B0604030504040204" pitchFamily="34" charset="0"/>
              </a:rPr>
              <a:t>);</a:t>
            </a:r>
          </a:p>
          <a:p>
            <a:pPr>
              <a:lnSpc>
                <a:spcPct val="120000"/>
              </a:lnSpc>
              <a:spcBef>
                <a:spcPts val="0"/>
              </a:spcBef>
              <a:buFont typeface="Monotype Sorts" charset="2"/>
              <a:buNone/>
            </a:pPr>
            <a:r>
              <a:rPr lang="en-US" sz="1800" b="1" dirty="0">
                <a:latin typeface="Consolas" panose="020B0609020204030204" pitchFamily="49" charset="0"/>
                <a:cs typeface="Tahoma" panose="020B0604030504040204" pitchFamily="34" charset="0"/>
              </a:rPr>
              <a:t>};</a:t>
            </a:r>
          </a:p>
        </p:txBody>
      </p:sp>
      <p:sp>
        <p:nvSpPr>
          <p:cNvPr id="4" name="Footer Placeholder 3">
            <a:extLst>
              <a:ext uri="{FF2B5EF4-FFF2-40B4-BE49-F238E27FC236}">
                <a16:creationId xmlns:a16="http://schemas.microsoft.com/office/drawing/2014/main" id="{E5E92D73-F41F-B2DB-9657-062F205E7EAE}"/>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73A15DA3-D885-603F-054E-42E2D82D9765}"/>
              </a:ext>
            </a:extLst>
          </p:cNvPr>
          <p:cNvSpPr>
            <a:spLocks noGrp="1"/>
          </p:cNvSpPr>
          <p:nvPr>
            <p:ph type="sldNum" sz="quarter" idx="12"/>
          </p:nvPr>
        </p:nvSpPr>
        <p:spPr/>
        <p:txBody>
          <a:bodyPr/>
          <a:lstStyle/>
          <a:p>
            <a:fld id="{51845F5A-061D-4825-9AE9-D7794091C6CF}" type="slidenum">
              <a:rPr lang="en-US" smtClean="0"/>
              <a:t>76</a:t>
            </a:fld>
            <a:endParaRPr lang="en-US" dirty="0"/>
          </a:p>
        </p:txBody>
      </p:sp>
    </p:spTree>
    <p:extLst>
      <p:ext uri="{BB962C8B-B14F-4D97-AF65-F5344CB8AC3E}">
        <p14:creationId xmlns:p14="http://schemas.microsoft.com/office/powerpoint/2010/main" val="2284977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29F79-86F8-2903-386D-CF42791C1D5E}"/>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87E93F59-25E8-2519-9684-77A23E4E414F}"/>
              </a:ext>
            </a:extLst>
          </p:cNvPr>
          <p:cNvSpPr>
            <a:spLocks noGrp="1"/>
          </p:cNvSpPr>
          <p:nvPr>
            <p:ph idx="1"/>
          </p:nvPr>
        </p:nvSpPr>
        <p:spPr>
          <a:xfrm>
            <a:off x="838200" y="2011680"/>
            <a:ext cx="10515600" cy="4344672"/>
          </a:xfrm>
        </p:spPr>
        <p:txBody>
          <a:bodyPr>
            <a:normAutofit fontScale="92500" lnSpcReduction="10000"/>
          </a:bodyPr>
          <a:lstStyle/>
          <a:p>
            <a:pPr marL="0" indent="0" eaLnBrk="1" hangingPunct="1">
              <a:lnSpc>
                <a:spcPct val="120000"/>
              </a:lnSpc>
              <a:spcBef>
                <a:spcPts val="0"/>
              </a:spcBef>
              <a:buNone/>
            </a:pPr>
            <a:r>
              <a:rPr lang="en-US" sz="1800" b="1" dirty="0" err="1">
                <a:solidFill>
                  <a:srgbClr val="0070C0"/>
                </a:solidFill>
                <a:latin typeface="Consolas" panose="020B0609020204030204" pitchFamily="49" charset="0"/>
              </a:rPr>
              <a:t>ostream</a:t>
            </a:r>
            <a:r>
              <a:rPr lang="en-US" sz="1800" b="1" dirty="0">
                <a:solidFill>
                  <a:srgbClr val="0070C0"/>
                </a:solidFill>
                <a:latin typeface="Consolas" panose="020B0609020204030204" pitchFamily="49" charset="0"/>
              </a:rPr>
              <a:t>&amp; operator&lt;&lt; (</a:t>
            </a:r>
            <a:r>
              <a:rPr lang="en-US" sz="1800" b="1" dirty="0" err="1">
                <a:solidFill>
                  <a:srgbClr val="0070C0"/>
                </a:solidFill>
                <a:latin typeface="Consolas" panose="020B0609020204030204" pitchFamily="49" charset="0"/>
              </a:rPr>
              <a:t>ostream</a:t>
            </a:r>
            <a:r>
              <a:rPr lang="en-US" sz="1800" b="1" dirty="0">
                <a:solidFill>
                  <a:srgbClr val="0070C0"/>
                </a:solidFill>
                <a:latin typeface="Consolas" panose="020B0609020204030204" pitchFamily="49" charset="0"/>
              </a:rPr>
              <a:t> &amp;out, Point &amp;</a:t>
            </a:r>
            <a:r>
              <a:rPr lang="en-US" sz="1800" b="1" dirty="0" err="1">
                <a:solidFill>
                  <a:srgbClr val="0070C0"/>
                </a:solidFill>
                <a:latin typeface="Consolas" panose="020B0609020204030204" pitchFamily="49" charset="0"/>
              </a:rPr>
              <a:t>cPoint</a:t>
            </a:r>
            <a:r>
              <a:rPr lang="en-US" sz="1800" b="1" dirty="0">
                <a:solidFill>
                  <a:srgbClr val="0070C0"/>
                </a:solidFill>
                <a:latin typeface="Consolas" panose="020B0609020204030204" pitchFamily="49" charset="0"/>
              </a:rPr>
              <a:t>)</a:t>
            </a:r>
          </a:p>
          <a:p>
            <a:pPr marL="0" indent="0" eaLnBrk="1" hangingPunct="1">
              <a:lnSpc>
                <a:spcPct val="120000"/>
              </a:lnSpc>
              <a:spcBef>
                <a:spcPts val="0"/>
              </a:spcBef>
              <a:buNone/>
            </a:pPr>
            <a:r>
              <a:rPr lang="en-US" sz="1800" b="1" dirty="0">
                <a:latin typeface="Consolas" panose="020B0609020204030204" pitchFamily="49" charset="0"/>
              </a:rPr>
              <a:t>{</a:t>
            </a:r>
          </a:p>
          <a:p>
            <a:pPr marL="0" indent="0" eaLnBrk="1" hangingPunct="1">
              <a:lnSpc>
                <a:spcPct val="120000"/>
              </a:lnSpc>
              <a:spcBef>
                <a:spcPts val="0"/>
              </a:spcBef>
              <a:buNone/>
            </a:pPr>
            <a:r>
              <a:rPr lang="en-US" sz="1800" b="1" dirty="0">
                <a:latin typeface="Consolas" panose="020B0609020204030204" pitchFamily="49" charset="0"/>
              </a:rPr>
              <a:t>    out &lt;&lt; "(" &lt;&lt; </a:t>
            </a:r>
            <a:r>
              <a:rPr lang="en-US" sz="1800" b="1" dirty="0" err="1">
                <a:latin typeface="Consolas" panose="020B0609020204030204" pitchFamily="49" charset="0"/>
              </a:rPr>
              <a:t>cPoint.m_dX</a:t>
            </a:r>
            <a:r>
              <a:rPr lang="en-US" sz="1800" b="1" dirty="0">
                <a:latin typeface="Consolas" panose="020B0609020204030204" pitchFamily="49" charset="0"/>
              </a:rPr>
              <a:t> &lt;&lt; ", " &lt;&lt;</a:t>
            </a:r>
          </a:p>
          <a:p>
            <a:pPr marL="0" indent="0" eaLnBrk="1" hangingPunct="1">
              <a:lnSpc>
                <a:spcPct val="120000"/>
              </a:lnSpc>
              <a:spcBef>
                <a:spcPts val="0"/>
              </a:spcBef>
              <a:buNone/>
            </a:pPr>
            <a:r>
              <a:rPr lang="en-US" sz="1800" b="1" dirty="0">
                <a:latin typeface="Consolas" panose="020B0609020204030204" pitchFamily="49" charset="0"/>
              </a:rPr>
              <a:t>    </a:t>
            </a:r>
            <a:r>
              <a:rPr lang="en-US" sz="1800" b="1" dirty="0" err="1">
                <a:latin typeface="Consolas" panose="020B0609020204030204" pitchFamily="49" charset="0"/>
              </a:rPr>
              <a:t>cPoint.m_dY</a:t>
            </a:r>
            <a:r>
              <a:rPr lang="en-US" sz="1800" b="1" dirty="0">
                <a:latin typeface="Consolas" panose="020B0609020204030204" pitchFamily="49" charset="0"/>
              </a:rPr>
              <a:t> &lt;&lt; ", " &lt;&lt; </a:t>
            </a:r>
            <a:r>
              <a:rPr lang="en-US" sz="1800" b="1" dirty="0" err="1">
                <a:latin typeface="Consolas" panose="020B0609020204030204" pitchFamily="49" charset="0"/>
              </a:rPr>
              <a:t>cPoint.m_dZ</a:t>
            </a:r>
            <a:r>
              <a:rPr lang="en-US" sz="1800" b="1" dirty="0">
                <a:latin typeface="Consolas" panose="020B0609020204030204" pitchFamily="49" charset="0"/>
              </a:rPr>
              <a:t> &lt;&lt;")";</a:t>
            </a:r>
          </a:p>
          <a:p>
            <a:pPr marL="0" indent="0" eaLnBrk="1" hangingPunct="1">
              <a:lnSpc>
                <a:spcPct val="120000"/>
              </a:lnSpc>
              <a:spcBef>
                <a:spcPts val="0"/>
              </a:spcBef>
              <a:buNone/>
            </a:pPr>
            <a:r>
              <a:rPr lang="en-US" sz="1800" b="1" dirty="0">
                <a:latin typeface="Consolas" panose="020B0609020204030204" pitchFamily="49" charset="0"/>
              </a:rPr>
              <a:t>    return out;</a:t>
            </a:r>
          </a:p>
          <a:p>
            <a:pPr marL="0" indent="0" eaLnBrk="1" hangingPunct="1">
              <a:lnSpc>
                <a:spcPct val="120000"/>
              </a:lnSpc>
              <a:spcBef>
                <a:spcPts val="0"/>
              </a:spcBef>
              <a:buNone/>
            </a:pPr>
            <a:r>
              <a:rPr lang="en-US" sz="1800" b="1" dirty="0">
                <a:latin typeface="Consolas" panose="020B0609020204030204" pitchFamily="49" charset="0"/>
              </a:rPr>
              <a:t>} </a:t>
            </a:r>
          </a:p>
          <a:p>
            <a:pPr marL="0" indent="0" eaLnBrk="1" hangingPunct="1">
              <a:lnSpc>
                <a:spcPct val="120000"/>
              </a:lnSpc>
              <a:spcBef>
                <a:spcPts val="0"/>
              </a:spcBef>
              <a:buNone/>
            </a:pPr>
            <a:endParaRPr lang="en-US" sz="1800" b="1" dirty="0">
              <a:latin typeface="Consolas" panose="020B0609020204030204" pitchFamily="49" charset="0"/>
            </a:endParaRPr>
          </a:p>
          <a:p>
            <a:pPr marL="0" indent="0" eaLnBrk="1" hangingPunct="1">
              <a:lnSpc>
                <a:spcPct val="120000"/>
              </a:lnSpc>
              <a:spcBef>
                <a:spcPts val="0"/>
              </a:spcBef>
              <a:buNone/>
            </a:pPr>
            <a:r>
              <a:rPr lang="en-US" sz="1800" b="1" dirty="0" err="1">
                <a:solidFill>
                  <a:srgbClr val="0070C0"/>
                </a:solidFill>
                <a:latin typeface="Consolas" panose="020B0609020204030204" pitchFamily="49" charset="0"/>
              </a:rPr>
              <a:t>istream</a:t>
            </a:r>
            <a:r>
              <a:rPr lang="en-US" sz="1800" b="1" dirty="0">
                <a:solidFill>
                  <a:srgbClr val="0070C0"/>
                </a:solidFill>
                <a:latin typeface="Consolas" panose="020B0609020204030204" pitchFamily="49" charset="0"/>
              </a:rPr>
              <a:t>&amp; operator&gt;&gt; (</a:t>
            </a:r>
            <a:r>
              <a:rPr lang="en-US" sz="1800" b="1" dirty="0" err="1">
                <a:solidFill>
                  <a:srgbClr val="0070C0"/>
                </a:solidFill>
                <a:latin typeface="Consolas" panose="020B0609020204030204" pitchFamily="49" charset="0"/>
              </a:rPr>
              <a:t>istream</a:t>
            </a:r>
            <a:r>
              <a:rPr lang="en-US" sz="1800" b="1" dirty="0">
                <a:solidFill>
                  <a:srgbClr val="0070C0"/>
                </a:solidFill>
                <a:latin typeface="Consolas" panose="020B0609020204030204" pitchFamily="49" charset="0"/>
              </a:rPr>
              <a:t> &amp;in, Point &amp;</a:t>
            </a:r>
            <a:r>
              <a:rPr lang="en-US" sz="1800" b="1" dirty="0" err="1">
                <a:solidFill>
                  <a:srgbClr val="0070C0"/>
                </a:solidFill>
                <a:latin typeface="Consolas" panose="020B0609020204030204" pitchFamily="49" charset="0"/>
              </a:rPr>
              <a:t>cPoint</a:t>
            </a:r>
            <a:r>
              <a:rPr lang="en-US" sz="1800" b="1" dirty="0">
                <a:solidFill>
                  <a:srgbClr val="0070C0"/>
                </a:solidFill>
                <a:latin typeface="Consolas" panose="020B0609020204030204" pitchFamily="49" charset="0"/>
              </a:rPr>
              <a:t>)</a:t>
            </a:r>
          </a:p>
          <a:p>
            <a:pPr marL="0" indent="0" eaLnBrk="1" hangingPunct="1">
              <a:lnSpc>
                <a:spcPct val="120000"/>
              </a:lnSpc>
              <a:spcBef>
                <a:spcPts val="0"/>
              </a:spcBef>
              <a:buNone/>
            </a:pPr>
            <a:r>
              <a:rPr lang="en-US" sz="1800" b="1" dirty="0">
                <a:latin typeface="Consolas" panose="020B0609020204030204" pitchFamily="49" charset="0"/>
              </a:rPr>
              <a:t>{</a:t>
            </a:r>
          </a:p>
          <a:p>
            <a:pPr marL="0" indent="0" eaLnBrk="1" hangingPunct="1">
              <a:lnSpc>
                <a:spcPct val="120000"/>
              </a:lnSpc>
              <a:spcBef>
                <a:spcPts val="0"/>
              </a:spcBef>
              <a:buNone/>
            </a:pPr>
            <a:r>
              <a:rPr lang="en-US" sz="1800" b="1" dirty="0">
                <a:latin typeface="Consolas" panose="020B0609020204030204" pitchFamily="49" charset="0"/>
              </a:rPr>
              <a:t>    in &gt;&gt; </a:t>
            </a:r>
            <a:r>
              <a:rPr lang="en-US" sz="1800" b="1" dirty="0" err="1">
                <a:latin typeface="Consolas" panose="020B0609020204030204" pitchFamily="49" charset="0"/>
              </a:rPr>
              <a:t>cPoint.m_dX</a:t>
            </a:r>
            <a:r>
              <a:rPr lang="en-US" sz="1800" b="1" dirty="0">
                <a:latin typeface="Consolas" panose="020B0609020204030204" pitchFamily="49" charset="0"/>
              </a:rPr>
              <a:t>;</a:t>
            </a:r>
          </a:p>
          <a:p>
            <a:pPr marL="0" indent="0" eaLnBrk="1" hangingPunct="1">
              <a:lnSpc>
                <a:spcPct val="120000"/>
              </a:lnSpc>
              <a:spcBef>
                <a:spcPts val="0"/>
              </a:spcBef>
              <a:buNone/>
            </a:pPr>
            <a:r>
              <a:rPr lang="en-US" sz="1800" b="1" dirty="0">
                <a:latin typeface="Consolas" panose="020B0609020204030204" pitchFamily="49" charset="0"/>
              </a:rPr>
              <a:t>    in &gt;&gt; </a:t>
            </a:r>
            <a:r>
              <a:rPr lang="en-US" sz="1800" b="1" dirty="0" err="1">
                <a:latin typeface="Consolas" panose="020B0609020204030204" pitchFamily="49" charset="0"/>
              </a:rPr>
              <a:t>cPoint.m_dY</a:t>
            </a:r>
            <a:r>
              <a:rPr lang="en-US" sz="1800" b="1" dirty="0">
                <a:latin typeface="Consolas" panose="020B0609020204030204" pitchFamily="49" charset="0"/>
              </a:rPr>
              <a:t>;</a:t>
            </a:r>
          </a:p>
          <a:p>
            <a:pPr marL="0" indent="0" eaLnBrk="1" hangingPunct="1">
              <a:lnSpc>
                <a:spcPct val="120000"/>
              </a:lnSpc>
              <a:spcBef>
                <a:spcPts val="0"/>
              </a:spcBef>
              <a:buNone/>
            </a:pPr>
            <a:r>
              <a:rPr lang="en-US" sz="1800" b="1" dirty="0">
                <a:latin typeface="Consolas" panose="020B0609020204030204" pitchFamily="49" charset="0"/>
              </a:rPr>
              <a:t>    in &gt;&gt; </a:t>
            </a:r>
            <a:r>
              <a:rPr lang="en-US" sz="1800" b="1" dirty="0" err="1">
                <a:latin typeface="Consolas" panose="020B0609020204030204" pitchFamily="49" charset="0"/>
              </a:rPr>
              <a:t>cPoint.m_dZ</a:t>
            </a:r>
            <a:r>
              <a:rPr lang="en-US" sz="1800" b="1" dirty="0">
                <a:latin typeface="Consolas" panose="020B0609020204030204" pitchFamily="49" charset="0"/>
              </a:rPr>
              <a:t>;</a:t>
            </a:r>
          </a:p>
          <a:p>
            <a:pPr marL="0" indent="0" eaLnBrk="1" hangingPunct="1">
              <a:lnSpc>
                <a:spcPct val="120000"/>
              </a:lnSpc>
              <a:spcBef>
                <a:spcPts val="0"/>
              </a:spcBef>
              <a:buNone/>
            </a:pPr>
            <a:r>
              <a:rPr lang="en-US" sz="1800" b="1" dirty="0">
                <a:latin typeface="Consolas" panose="020B0609020204030204" pitchFamily="49" charset="0"/>
              </a:rPr>
              <a:t>    return in;</a:t>
            </a:r>
          </a:p>
          <a:p>
            <a:pPr marL="0" indent="0" eaLnBrk="1" hangingPunct="1">
              <a:lnSpc>
                <a:spcPct val="120000"/>
              </a:lnSpc>
              <a:spcBef>
                <a:spcPts val="0"/>
              </a:spcBef>
              <a:buNone/>
            </a:pPr>
            <a:r>
              <a:rPr lang="en-US" sz="1800" b="1" dirty="0">
                <a:latin typeface="Consolas" panose="020B0609020204030204" pitchFamily="49" charset="0"/>
              </a:rPr>
              <a:t>}</a:t>
            </a:r>
            <a:endParaRPr lang="en-US" sz="1600" b="1" dirty="0">
              <a:latin typeface="Consolas" panose="020B0609020204030204" pitchFamily="49" charset="0"/>
            </a:endParaRPr>
          </a:p>
        </p:txBody>
      </p:sp>
      <p:sp>
        <p:nvSpPr>
          <p:cNvPr id="4" name="Footer Placeholder 3">
            <a:extLst>
              <a:ext uri="{FF2B5EF4-FFF2-40B4-BE49-F238E27FC236}">
                <a16:creationId xmlns:a16="http://schemas.microsoft.com/office/drawing/2014/main" id="{C6E5C1CB-D742-C2FF-80FD-6F212CF9783B}"/>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9DA2D88C-CA5C-C346-48B9-3D004DE7AF71}"/>
              </a:ext>
            </a:extLst>
          </p:cNvPr>
          <p:cNvSpPr>
            <a:spLocks noGrp="1"/>
          </p:cNvSpPr>
          <p:nvPr>
            <p:ph type="sldNum" sz="quarter" idx="12"/>
          </p:nvPr>
        </p:nvSpPr>
        <p:spPr/>
        <p:txBody>
          <a:bodyPr/>
          <a:lstStyle/>
          <a:p>
            <a:fld id="{51845F5A-061D-4825-9AE9-D7794091C6CF}" type="slidenum">
              <a:rPr lang="en-US" smtClean="0"/>
              <a:t>77</a:t>
            </a:fld>
            <a:endParaRPr lang="en-US" dirty="0"/>
          </a:p>
        </p:txBody>
      </p:sp>
    </p:spTree>
    <p:extLst>
      <p:ext uri="{BB962C8B-B14F-4D97-AF65-F5344CB8AC3E}">
        <p14:creationId xmlns:p14="http://schemas.microsoft.com/office/powerpoint/2010/main" val="29309550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376FA-57D8-0B95-EED6-74ECD05D4348}"/>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45EAF31C-08F0-FDD6-40FE-2E2340BD0637}"/>
              </a:ext>
            </a:extLst>
          </p:cNvPr>
          <p:cNvSpPr>
            <a:spLocks noGrp="1"/>
          </p:cNvSpPr>
          <p:nvPr>
            <p:ph idx="1"/>
          </p:nvPr>
        </p:nvSpPr>
        <p:spPr/>
        <p:txBody>
          <a:bodyPr>
            <a:normAutofit fontScale="92500" lnSpcReduction="20000"/>
          </a:bodyPr>
          <a:lstStyle/>
          <a:p>
            <a:pPr marL="0" indent="0" eaLnBrk="1" hangingPunct="1">
              <a:buNone/>
            </a:pPr>
            <a:r>
              <a:rPr lang="en-US" sz="2800" b="1" dirty="0">
                <a:latin typeface="Consolas" panose="020B0609020204030204" pitchFamily="49" charset="0"/>
              </a:rPr>
              <a:t>int main (void)</a:t>
            </a:r>
          </a:p>
          <a:p>
            <a:pPr marL="0" indent="0" eaLnBrk="1" hangingPunct="1">
              <a:buNone/>
            </a:pPr>
            <a:r>
              <a:rPr lang="en-US" sz="2800" b="1" dirty="0">
                <a:latin typeface="Consolas" panose="020B0609020204030204" pitchFamily="49" charset="0"/>
              </a:rPr>
              <a:t>{</a:t>
            </a:r>
          </a:p>
          <a:p>
            <a:pPr marL="0" indent="0" eaLnBrk="1" hangingPunct="1">
              <a:buNone/>
            </a:pPr>
            <a:r>
              <a:rPr lang="en-US" sz="2800" b="1" dirty="0">
                <a:latin typeface="Consolas" panose="020B0609020204030204" pitchFamily="49" charset="0"/>
              </a:rPr>
              <a:t>    </a:t>
            </a:r>
            <a:r>
              <a:rPr lang="en-US" sz="2800" b="1" dirty="0" err="1">
                <a:latin typeface="Consolas" panose="020B0609020204030204" pitchFamily="49" charset="0"/>
              </a:rPr>
              <a:t>cout</a:t>
            </a:r>
            <a:r>
              <a:rPr lang="en-US" sz="2800" b="1" dirty="0">
                <a:latin typeface="Consolas" panose="020B0609020204030204" pitchFamily="49" charset="0"/>
              </a:rPr>
              <a:t> &lt;&lt; "Enter a point: " &lt;&lt; </a:t>
            </a:r>
            <a:r>
              <a:rPr lang="en-US" sz="2800" b="1" dirty="0" err="1">
                <a:latin typeface="Consolas" panose="020B0609020204030204" pitchFamily="49" charset="0"/>
              </a:rPr>
              <a:t>endl</a:t>
            </a:r>
            <a:r>
              <a:rPr lang="en-US" sz="2800" b="1" dirty="0">
                <a:latin typeface="Consolas" panose="020B0609020204030204" pitchFamily="49" charset="0"/>
              </a:rPr>
              <a:t>; </a:t>
            </a:r>
          </a:p>
          <a:p>
            <a:pPr marL="0" indent="0" eaLnBrk="1" hangingPunct="1">
              <a:buNone/>
            </a:pPr>
            <a:r>
              <a:rPr lang="en-US" sz="2800" b="1" dirty="0">
                <a:latin typeface="Consolas" panose="020B0609020204030204" pitchFamily="49" charset="0"/>
              </a:rPr>
              <a:t>    Point </a:t>
            </a:r>
            <a:r>
              <a:rPr lang="en-US" sz="2800" b="1" dirty="0" err="1">
                <a:latin typeface="Consolas" panose="020B0609020204030204" pitchFamily="49" charset="0"/>
              </a:rPr>
              <a:t>cPoint</a:t>
            </a:r>
            <a:r>
              <a:rPr lang="en-US" sz="2800" b="1" dirty="0">
                <a:latin typeface="Consolas" panose="020B0609020204030204" pitchFamily="49" charset="0"/>
              </a:rPr>
              <a:t>;</a:t>
            </a:r>
          </a:p>
          <a:p>
            <a:pPr marL="0" indent="0" eaLnBrk="1" hangingPunct="1">
              <a:buNone/>
            </a:pPr>
            <a:r>
              <a:rPr lang="en-US" sz="2800" b="1" dirty="0">
                <a:latin typeface="Consolas" panose="020B0609020204030204" pitchFamily="49" charset="0"/>
              </a:rPr>
              <a:t>    </a:t>
            </a:r>
            <a:r>
              <a:rPr lang="en-US" sz="2800" b="1" dirty="0" err="1">
                <a:solidFill>
                  <a:srgbClr val="0070C0"/>
                </a:solidFill>
                <a:latin typeface="Consolas" panose="020B0609020204030204" pitchFamily="49" charset="0"/>
              </a:rPr>
              <a:t>cin</a:t>
            </a:r>
            <a:r>
              <a:rPr lang="en-US" sz="2800" b="1" dirty="0">
                <a:solidFill>
                  <a:srgbClr val="0070C0"/>
                </a:solidFill>
                <a:latin typeface="Consolas" panose="020B0609020204030204" pitchFamily="49" charset="0"/>
              </a:rPr>
              <a:t> </a:t>
            </a:r>
            <a:r>
              <a:rPr lang="en-US" sz="2800" b="1" dirty="0">
                <a:solidFill>
                  <a:srgbClr val="FF0000"/>
                </a:solidFill>
                <a:latin typeface="Consolas" panose="020B0609020204030204" pitchFamily="49" charset="0"/>
              </a:rPr>
              <a:t>&gt;&gt;</a:t>
            </a:r>
            <a:r>
              <a:rPr lang="en-US" sz="2800" b="1" dirty="0">
                <a:solidFill>
                  <a:srgbClr val="0070C0"/>
                </a:solidFill>
                <a:latin typeface="Consolas" panose="020B0609020204030204" pitchFamily="49" charset="0"/>
              </a:rPr>
              <a:t> </a:t>
            </a:r>
            <a:r>
              <a:rPr lang="en-US" sz="2800" b="1" dirty="0" err="1">
                <a:solidFill>
                  <a:srgbClr val="0070C0"/>
                </a:solidFill>
                <a:latin typeface="Consolas" panose="020B0609020204030204" pitchFamily="49" charset="0"/>
              </a:rPr>
              <a:t>cPoint</a:t>
            </a:r>
            <a:r>
              <a:rPr lang="en-US" sz="2800" b="1" dirty="0">
                <a:solidFill>
                  <a:srgbClr val="0070C0"/>
                </a:solidFill>
                <a:latin typeface="Consolas" panose="020B0609020204030204" pitchFamily="49" charset="0"/>
              </a:rPr>
              <a:t>;</a:t>
            </a:r>
          </a:p>
          <a:p>
            <a:pPr marL="0" indent="0" eaLnBrk="1" hangingPunct="1">
              <a:buNone/>
            </a:pPr>
            <a:r>
              <a:rPr lang="en-US" sz="2800" b="1" dirty="0">
                <a:latin typeface="Consolas" panose="020B0609020204030204" pitchFamily="49" charset="0"/>
              </a:rPr>
              <a:t> </a:t>
            </a:r>
          </a:p>
          <a:p>
            <a:pPr marL="0" indent="0" eaLnBrk="1" hangingPunct="1">
              <a:buNone/>
            </a:pPr>
            <a:r>
              <a:rPr lang="en-US" sz="2800" b="1" dirty="0">
                <a:latin typeface="Consolas" panose="020B0609020204030204" pitchFamily="49" charset="0"/>
              </a:rPr>
              <a:t>    </a:t>
            </a:r>
            <a:r>
              <a:rPr lang="en-US" sz="2800" b="1" dirty="0" err="1">
                <a:solidFill>
                  <a:srgbClr val="0070C0"/>
                </a:solidFill>
                <a:latin typeface="Consolas" panose="020B0609020204030204" pitchFamily="49" charset="0"/>
              </a:rPr>
              <a:t>cout</a:t>
            </a:r>
            <a:r>
              <a:rPr lang="en-US" sz="2800" b="1" dirty="0">
                <a:solidFill>
                  <a:srgbClr val="0070C0"/>
                </a:solidFill>
                <a:latin typeface="Consolas" panose="020B0609020204030204" pitchFamily="49" charset="0"/>
              </a:rPr>
              <a:t> </a:t>
            </a:r>
            <a:r>
              <a:rPr lang="en-US" sz="2800" b="1" dirty="0">
                <a:solidFill>
                  <a:srgbClr val="FF0000"/>
                </a:solidFill>
                <a:latin typeface="Consolas" panose="020B0609020204030204" pitchFamily="49" charset="0"/>
              </a:rPr>
              <a:t>&lt;&lt;</a:t>
            </a:r>
            <a:r>
              <a:rPr lang="en-US" sz="2800" b="1" dirty="0">
                <a:solidFill>
                  <a:srgbClr val="0070C0"/>
                </a:solidFill>
                <a:latin typeface="Consolas" panose="020B0609020204030204" pitchFamily="49" charset="0"/>
              </a:rPr>
              <a:t> "You entered: " </a:t>
            </a:r>
            <a:r>
              <a:rPr lang="en-US" sz="2800" b="1" dirty="0">
                <a:solidFill>
                  <a:srgbClr val="FF0000"/>
                </a:solidFill>
                <a:latin typeface="Consolas" panose="020B0609020204030204" pitchFamily="49" charset="0"/>
              </a:rPr>
              <a:t>&lt;&lt;</a:t>
            </a:r>
            <a:r>
              <a:rPr lang="en-US" sz="2800" b="1" dirty="0">
                <a:solidFill>
                  <a:srgbClr val="0070C0"/>
                </a:solidFill>
                <a:latin typeface="Consolas" panose="020B0609020204030204" pitchFamily="49" charset="0"/>
              </a:rPr>
              <a:t> </a:t>
            </a:r>
            <a:r>
              <a:rPr lang="en-US" sz="2800" b="1" dirty="0" err="1">
                <a:solidFill>
                  <a:srgbClr val="0070C0"/>
                </a:solidFill>
                <a:latin typeface="Consolas" panose="020B0609020204030204" pitchFamily="49" charset="0"/>
              </a:rPr>
              <a:t>cPoint</a:t>
            </a:r>
            <a:r>
              <a:rPr lang="en-US" sz="2800" b="1" dirty="0">
                <a:solidFill>
                  <a:srgbClr val="0070C0"/>
                </a:solidFill>
                <a:latin typeface="Consolas" panose="020B0609020204030204" pitchFamily="49" charset="0"/>
              </a:rPr>
              <a:t> </a:t>
            </a:r>
            <a:r>
              <a:rPr lang="en-US" sz="2800" b="1" dirty="0">
                <a:solidFill>
                  <a:srgbClr val="FF0000"/>
                </a:solidFill>
                <a:latin typeface="Consolas" panose="020B0609020204030204" pitchFamily="49" charset="0"/>
              </a:rPr>
              <a:t>&lt;&lt;</a:t>
            </a:r>
            <a:r>
              <a:rPr lang="en-US" sz="2800" b="1" dirty="0">
                <a:solidFill>
                  <a:srgbClr val="0070C0"/>
                </a:solidFill>
                <a:latin typeface="Consolas" panose="020B0609020204030204" pitchFamily="49" charset="0"/>
              </a:rPr>
              <a:t> </a:t>
            </a:r>
            <a:r>
              <a:rPr lang="en-US" sz="2800" b="1" dirty="0" err="1">
                <a:solidFill>
                  <a:srgbClr val="0070C0"/>
                </a:solidFill>
                <a:latin typeface="Consolas" panose="020B0609020204030204" pitchFamily="49" charset="0"/>
              </a:rPr>
              <a:t>endl</a:t>
            </a:r>
            <a:r>
              <a:rPr lang="en-US" sz="2800" b="1" dirty="0">
                <a:solidFill>
                  <a:srgbClr val="0070C0"/>
                </a:solidFill>
                <a:latin typeface="Consolas" panose="020B0609020204030204" pitchFamily="49" charset="0"/>
              </a:rPr>
              <a:t>;</a:t>
            </a:r>
          </a:p>
          <a:p>
            <a:pPr marL="0" indent="0" eaLnBrk="1" hangingPunct="1">
              <a:buNone/>
            </a:pPr>
            <a:endParaRPr lang="en-US" sz="2800" b="1" dirty="0">
              <a:latin typeface="Consolas" panose="020B0609020204030204" pitchFamily="49" charset="0"/>
            </a:endParaRPr>
          </a:p>
          <a:p>
            <a:pPr marL="0" indent="0" eaLnBrk="1" hangingPunct="1">
              <a:buNone/>
            </a:pPr>
            <a:r>
              <a:rPr lang="en-US" sz="2800" b="1" dirty="0">
                <a:latin typeface="Consolas" panose="020B0609020204030204" pitchFamily="49" charset="0"/>
              </a:rPr>
              <a:t>}</a:t>
            </a:r>
            <a:endParaRPr lang="en-US" sz="2400" b="1" dirty="0">
              <a:latin typeface="Consolas" panose="020B0609020204030204" pitchFamily="49" charset="0"/>
            </a:endParaRPr>
          </a:p>
        </p:txBody>
      </p:sp>
      <p:sp>
        <p:nvSpPr>
          <p:cNvPr id="4" name="Footer Placeholder 3">
            <a:extLst>
              <a:ext uri="{FF2B5EF4-FFF2-40B4-BE49-F238E27FC236}">
                <a16:creationId xmlns:a16="http://schemas.microsoft.com/office/drawing/2014/main" id="{28291C1D-400D-62EA-F706-506C8E9658FE}"/>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3F84D41A-9C54-27C2-21F6-D2907B57373F}"/>
              </a:ext>
            </a:extLst>
          </p:cNvPr>
          <p:cNvSpPr>
            <a:spLocks noGrp="1"/>
          </p:cNvSpPr>
          <p:nvPr>
            <p:ph type="sldNum" sz="quarter" idx="12"/>
          </p:nvPr>
        </p:nvSpPr>
        <p:spPr/>
        <p:txBody>
          <a:bodyPr/>
          <a:lstStyle/>
          <a:p>
            <a:fld id="{51845F5A-061D-4825-9AE9-D7794091C6CF}" type="slidenum">
              <a:rPr lang="en-US" smtClean="0"/>
              <a:t>78</a:t>
            </a:fld>
            <a:endParaRPr lang="en-US" dirty="0"/>
          </a:p>
        </p:txBody>
      </p:sp>
    </p:spTree>
    <p:extLst>
      <p:ext uri="{BB962C8B-B14F-4D97-AF65-F5344CB8AC3E}">
        <p14:creationId xmlns:p14="http://schemas.microsoft.com/office/powerpoint/2010/main" val="32450926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81E64-3B24-0903-DFE6-936C032C679A}"/>
              </a:ext>
            </a:extLst>
          </p:cNvPr>
          <p:cNvSpPr>
            <a:spLocks noGrp="1"/>
          </p:cNvSpPr>
          <p:nvPr>
            <p:ph type="title"/>
          </p:nvPr>
        </p:nvSpPr>
        <p:spPr/>
        <p:txBody>
          <a:bodyPr/>
          <a:lstStyle/>
          <a:p>
            <a:r>
              <a:rPr lang="en-US" dirty="0"/>
              <a:t>Overloading iostream operators</a:t>
            </a:r>
            <a:br>
              <a:rPr lang="en-US" dirty="0"/>
            </a:br>
            <a:r>
              <a:rPr lang="en-US" dirty="0"/>
              <a:t> </a:t>
            </a:r>
            <a:r>
              <a:rPr lang="en-US" dirty="0">
                <a:solidFill>
                  <a:srgbClr val="FF0000"/>
                </a:solidFill>
              </a:rPr>
              <a:t>&gt;&gt;</a:t>
            </a:r>
            <a:r>
              <a:rPr lang="en-US" dirty="0"/>
              <a:t> and </a:t>
            </a:r>
            <a:r>
              <a:rPr lang="en-US" dirty="0">
                <a:solidFill>
                  <a:srgbClr val="FF0000"/>
                </a:solidFill>
              </a:rPr>
              <a:t>&lt;&lt;</a:t>
            </a:r>
            <a:endParaRPr lang="en-PK" dirty="0"/>
          </a:p>
        </p:txBody>
      </p:sp>
      <p:sp>
        <p:nvSpPr>
          <p:cNvPr id="3" name="Content Placeholder 2">
            <a:extLst>
              <a:ext uri="{FF2B5EF4-FFF2-40B4-BE49-F238E27FC236}">
                <a16:creationId xmlns:a16="http://schemas.microsoft.com/office/drawing/2014/main" id="{5D82C3CE-0A28-96EF-82CF-7DDA5DC789EB}"/>
              </a:ext>
            </a:extLst>
          </p:cNvPr>
          <p:cNvSpPr>
            <a:spLocks noGrp="1"/>
          </p:cNvSpPr>
          <p:nvPr>
            <p:ph idx="1"/>
          </p:nvPr>
        </p:nvSpPr>
        <p:spPr/>
        <p:txBody>
          <a:bodyPr>
            <a:normAutofit fontScale="85000" lnSpcReduction="20000"/>
          </a:bodyPr>
          <a:lstStyle/>
          <a:p>
            <a:r>
              <a:rPr lang="en-US" dirty="0"/>
              <a:t>But, what is the advantage of </a:t>
            </a:r>
            <a:r>
              <a:rPr lang="en-US" dirty="0">
                <a:solidFill>
                  <a:srgbClr val="0070C0"/>
                </a:solidFill>
              </a:rPr>
              <a:t>returning references of iostream objects</a:t>
            </a:r>
          </a:p>
          <a:p>
            <a:pPr marL="0" indent="0">
              <a:buNone/>
            </a:pPr>
            <a:r>
              <a:rPr lang="en-US" dirty="0"/>
              <a:t>		</a:t>
            </a:r>
            <a:r>
              <a:rPr lang="en-US" sz="2000" dirty="0"/>
              <a:t>friend </a:t>
            </a:r>
            <a:r>
              <a:rPr lang="en-US" sz="2000" b="1" dirty="0" err="1">
                <a:solidFill>
                  <a:srgbClr val="FF0000"/>
                </a:solidFill>
              </a:rPr>
              <a:t>ostream</a:t>
            </a:r>
            <a:r>
              <a:rPr lang="en-US" sz="2000" b="1" dirty="0">
                <a:solidFill>
                  <a:srgbClr val="FF0000"/>
                </a:solidFill>
              </a:rPr>
              <a:t>&amp;</a:t>
            </a:r>
            <a:r>
              <a:rPr lang="en-US" sz="2000" dirty="0"/>
              <a:t> operator&lt;&lt; (</a:t>
            </a:r>
            <a:r>
              <a:rPr lang="en-US" sz="2000" dirty="0" err="1"/>
              <a:t>ostream</a:t>
            </a:r>
            <a:r>
              <a:rPr lang="en-US" sz="2000" dirty="0"/>
              <a:t> &amp;out, Point &amp;</a:t>
            </a:r>
            <a:r>
              <a:rPr lang="en-US" sz="2000" dirty="0" err="1"/>
              <a:t>cPoint</a:t>
            </a:r>
            <a:r>
              <a:rPr lang="en-US" sz="2000" dirty="0"/>
              <a:t>);</a:t>
            </a:r>
          </a:p>
          <a:p>
            <a:pPr marL="0" indent="0">
              <a:buNone/>
            </a:pPr>
            <a:r>
              <a:rPr lang="en-US" sz="2000" dirty="0"/>
              <a:t>     		friend </a:t>
            </a:r>
            <a:r>
              <a:rPr lang="en-US" sz="2000" b="1" dirty="0" err="1">
                <a:solidFill>
                  <a:srgbClr val="FF0000"/>
                </a:solidFill>
              </a:rPr>
              <a:t>istream</a:t>
            </a:r>
            <a:r>
              <a:rPr lang="en-US" sz="2000" b="1" dirty="0">
                <a:solidFill>
                  <a:srgbClr val="FF0000"/>
                </a:solidFill>
              </a:rPr>
              <a:t>&amp; </a:t>
            </a:r>
            <a:r>
              <a:rPr lang="en-US" sz="2000" dirty="0"/>
              <a:t>operator&gt;&gt; (</a:t>
            </a:r>
            <a:r>
              <a:rPr lang="en-US" sz="2000" dirty="0" err="1"/>
              <a:t>istream</a:t>
            </a:r>
            <a:r>
              <a:rPr lang="en-US" sz="2000" dirty="0"/>
              <a:t> &amp;in, Point &amp;</a:t>
            </a:r>
            <a:r>
              <a:rPr lang="en-US" sz="2000" dirty="0" err="1"/>
              <a:t>cPoint</a:t>
            </a:r>
            <a:r>
              <a:rPr lang="en-US" sz="2000" dirty="0"/>
              <a:t>);</a:t>
            </a:r>
          </a:p>
          <a:p>
            <a:pPr marL="457200" lvl="1" indent="0">
              <a:buNone/>
            </a:pPr>
            <a:endParaRPr lang="en-US" sz="2000" dirty="0"/>
          </a:p>
          <a:p>
            <a:r>
              <a:rPr lang="en-US" dirty="0"/>
              <a:t>Supports chaining</a:t>
            </a:r>
          </a:p>
          <a:p>
            <a:pPr marL="457200" lvl="1" indent="0">
              <a:buNone/>
            </a:pPr>
            <a:endParaRPr lang="en-US" sz="2000" dirty="0"/>
          </a:p>
          <a:p>
            <a:pPr marL="457200" lvl="1" indent="0">
              <a:buNone/>
            </a:pPr>
            <a:r>
              <a:rPr lang="en-US" dirty="0">
                <a:latin typeface="Consolas" panose="020B0609020204030204" pitchFamily="49" charset="0"/>
              </a:rPr>
              <a:t>Point cPoint1, cPoint2;</a:t>
            </a:r>
          </a:p>
          <a:p>
            <a:pPr marL="457200" lvl="1" indent="0">
              <a:buNone/>
            </a:pPr>
            <a:r>
              <a:rPr lang="en-US" dirty="0" err="1">
                <a:latin typeface="Consolas" panose="020B0609020204030204" pitchFamily="49" charset="0"/>
              </a:rPr>
              <a:t>cin</a:t>
            </a:r>
            <a:r>
              <a:rPr lang="en-US" dirty="0">
                <a:latin typeface="Consolas" panose="020B0609020204030204" pitchFamily="49" charset="0"/>
              </a:rPr>
              <a:t> </a:t>
            </a:r>
            <a:r>
              <a:rPr lang="en-US" dirty="0">
                <a:solidFill>
                  <a:srgbClr val="FF0000"/>
                </a:solidFill>
                <a:latin typeface="Consolas" panose="020B0609020204030204" pitchFamily="49" charset="0"/>
              </a:rPr>
              <a:t>&gt;&gt;</a:t>
            </a:r>
            <a:r>
              <a:rPr lang="en-US" dirty="0">
                <a:latin typeface="Consolas" panose="020B0609020204030204" pitchFamily="49" charset="0"/>
              </a:rPr>
              <a:t> cPoint1 </a:t>
            </a:r>
            <a:r>
              <a:rPr lang="en-US" dirty="0">
                <a:solidFill>
                  <a:srgbClr val="FF0000"/>
                </a:solidFill>
                <a:latin typeface="Consolas" panose="020B0609020204030204" pitchFamily="49" charset="0"/>
              </a:rPr>
              <a:t>&gt;&gt; </a:t>
            </a:r>
            <a:r>
              <a:rPr lang="en-US" dirty="0">
                <a:latin typeface="Consolas" panose="020B0609020204030204" pitchFamily="49" charset="0"/>
              </a:rPr>
              <a:t>cPoint2;</a:t>
            </a:r>
          </a:p>
          <a:p>
            <a:pPr lvl="1"/>
            <a:endParaRPr lang="en-US" dirty="0"/>
          </a:p>
          <a:p>
            <a:r>
              <a:rPr lang="en-US" dirty="0"/>
              <a:t>In above statement (</a:t>
            </a:r>
            <a:r>
              <a:rPr lang="en-US" dirty="0" err="1"/>
              <a:t>cin</a:t>
            </a:r>
            <a:r>
              <a:rPr lang="en-US" dirty="0"/>
              <a:t> &gt;&gt; cPoint1) returns a reference of </a:t>
            </a:r>
            <a:r>
              <a:rPr lang="en-US" dirty="0" err="1"/>
              <a:t>cin</a:t>
            </a:r>
            <a:r>
              <a:rPr lang="en-US" dirty="0"/>
              <a:t> which is further used for ( </a:t>
            </a:r>
            <a:r>
              <a:rPr lang="en-US" dirty="0" err="1"/>
              <a:t>cin</a:t>
            </a:r>
            <a:r>
              <a:rPr lang="en-US" dirty="0"/>
              <a:t> &gt;&gt; cPoint2) </a:t>
            </a:r>
          </a:p>
        </p:txBody>
      </p:sp>
      <p:sp>
        <p:nvSpPr>
          <p:cNvPr id="4" name="Footer Placeholder 3">
            <a:extLst>
              <a:ext uri="{FF2B5EF4-FFF2-40B4-BE49-F238E27FC236}">
                <a16:creationId xmlns:a16="http://schemas.microsoft.com/office/drawing/2014/main" id="{DE8C9A87-5882-717B-4187-F88D265117C9}"/>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5A14B756-A914-BF55-388B-B090368E3B90}"/>
              </a:ext>
            </a:extLst>
          </p:cNvPr>
          <p:cNvSpPr>
            <a:spLocks noGrp="1"/>
          </p:cNvSpPr>
          <p:nvPr>
            <p:ph type="sldNum" sz="quarter" idx="12"/>
          </p:nvPr>
        </p:nvSpPr>
        <p:spPr/>
        <p:txBody>
          <a:bodyPr/>
          <a:lstStyle/>
          <a:p>
            <a:fld id="{51845F5A-061D-4825-9AE9-D7794091C6CF}" type="slidenum">
              <a:rPr lang="en-US" smtClean="0"/>
              <a:t>79</a:t>
            </a:fld>
            <a:endParaRPr lang="en-US" dirty="0"/>
          </a:p>
        </p:txBody>
      </p:sp>
    </p:spTree>
    <p:extLst>
      <p:ext uri="{BB962C8B-B14F-4D97-AF65-F5344CB8AC3E}">
        <p14:creationId xmlns:p14="http://schemas.microsoft.com/office/powerpoint/2010/main" val="3566881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A14849B-5801-37FA-60E3-92A196C42A6F}"/>
              </a:ext>
            </a:extLst>
          </p:cNvPr>
          <p:cNvSpPr>
            <a:spLocks noGrp="1"/>
          </p:cNvSpPr>
          <p:nvPr>
            <p:ph type="title"/>
          </p:nvPr>
        </p:nvSpPr>
        <p:spPr>
          <a:xfrm>
            <a:off x="838201" y="643467"/>
            <a:ext cx="3888526" cy="1800526"/>
          </a:xfrm>
        </p:spPr>
        <p:txBody>
          <a:bodyPr>
            <a:normAutofit/>
          </a:bodyPr>
          <a:lstStyle/>
          <a:p>
            <a:r>
              <a:rPr lang="en-US" dirty="0"/>
              <a:t>Data Conversion</a:t>
            </a:r>
            <a:endParaRPr lang="en-PK" dirty="0"/>
          </a:p>
        </p:txBody>
      </p:sp>
      <p:sp>
        <p:nvSpPr>
          <p:cNvPr id="3" name="Content Placeholder 2">
            <a:extLst>
              <a:ext uri="{FF2B5EF4-FFF2-40B4-BE49-F238E27FC236}">
                <a16:creationId xmlns:a16="http://schemas.microsoft.com/office/drawing/2014/main" id="{7755743E-3906-87E3-BB7C-E5ED5FDD2A17}"/>
              </a:ext>
            </a:extLst>
          </p:cNvPr>
          <p:cNvSpPr>
            <a:spLocks noGrp="1"/>
          </p:cNvSpPr>
          <p:nvPr>
            <p:ph idx="1"/>
          </p:nvPr>
        </p:nvSpPr>
        <p:spPr>
          <a:xfrm>
            <a:off x="295698" y="2623381"/>
            <a:ext cx="4870662" cy="2051489"/>
          </a:xfrm>
        </p:spPr>
        <p:txBody>
          <a:bodyPr>
            <a:normAutofit/>
          </a:bodyPr>
          <a:lstStyle/>
          <a:p>
            <a:pPr algn="just"/>
            <a:r>
              <a:rPr lang="en-US" sz="2000" dirty="0"/>
              <a:t>Conversion between basic types</a:t>
            </a:r>
          </a:p>
          <a:p>
            <a:pPr algn="just"/>
            <a:r>
              <a:rPr lang="en-US" sz="2000" dirty="0"/>
              <a:t>Conversion between Objects and basic types</a:t>
            </a:r>
          </a:p>
          <a:p>
            <a:pPr algn="just"/>
            <a:r>
              <a:rPr lang="en-US" sz="2000" dirty="0"/>
              <a:t>Conversion between Objects of different classes</a:t>
            </a:r>
          </a:p>
          <a:p>
            <a:endParaRPr lang="en-PK" sz="2000" dirty="0"/>
          </a:p>
        </p:txBody>
      </p:sp>
      <p:pic>
        <p:nvPicPr>
          <p:cNvPr id="7" name="Picture 6" descr="Two people in superhero clothing&#10;&#10;Description automatically generated with low confidence">
            <a:extLst>
              <a:ext uri="{FF2B5EF4-FFF2-40B4-BE49-F238E27FC236}">
                <a16:creationId xmlns:a16="http://schemas.microsoft.com/office/drawing/2014/main" id="{BC72A0BE-7614-2624-07EF-0D254E4CBA25}"/>
              </a:ext>
            </a:extLst>
          </p:cNvPr>
          <p:cNvPicPr>
            <a:picLocks noChangeAspect="1"/>
          </p:cNvPicPr>
          <p:nvPr/>
        </p:nvPicPr>
        <p:blipFill>
          <a:blip r:embed="rId2"/>
          <a:stretch>
            <a:fillRect/>
          </a:stretch>
        </p:blipFill>
        <p:spPr>
          <a:xfrm>
            <a:off x="6800986" y="1366120"/>
            <a:ext cx="4747547" cy="4154104"/>
          </a:xfrm>
          <a:prstGeom prst="rect">
            <a:avLst/>
          </a:prstGeom>
        </p:spPr>
      </p:pic>
      <p:sp>
        <p:nvSpPr>
          <p:cNvPr id="4" name="Footer Placeholder 3">
            <a:extLst>
              <a:ext uri="{FF2B5EF4-FFF2-40B4-BE49-F238E27FC236}">
                <a16:creationId xmlns:a16="http://schemas.microsoft.com/office/drawing/2014/main" id="{C7427F97-315C-F884-CD8F-01F009788BA3}"/>
              </a:ext>
            </a:extLst>
          </p:cNvPr>
          <p:cNvSpPr>
            <a:spLocks noGrp="1"/>
          </p:cNvSpPr>
          <p:nvPr>
            <p:ph type="ftr" sz="quarter" idx="11"/>
          </p:nvPr>
        </p:nvSpPr>
        <p:spPr>
          <a:xfrm>
            <a:off x="838200" y="6356350"/>
            <a:ext cx="4114800" cy="365125"/>
          </a:xfrm>
        </p:spPr>
        <p:txBody>
          <a:bodyPr>
            <a:normAutofit/>
          </a:bodyPr>
          <a:lstStyle/>
          <a:p>
            <a:pPr algn="l">
              <a:spcAft>
                <a:spcPts val="600"/>
              </a:spcAft>
            </a:pPr>
            <a:r>
              <a:rPr lang="en-US"/>
              <a:t>Object Oriented Programming-Spring 24</a:t>
            </a:r>
          </a:p>
        </p:txBody>
      </p:sp>
      <p:sp>
        <p:nvSpPr>
          <p:cNvPr id="5" name="Slide Number Placeholder 4">
            <a:extLst>
              <a:ext uri="{FF2B5EF4-FFF2-40B4-BE49-F238E27FC236}">
                <a16:creationId xmlns:a16="http://schemas.microsoft.com/office/drawing/2014/main" id="{B364632F-6F3E-1CC7-1554-0EC18C869F91}"/>
              </a:ext>
            </a:extLst>
          </p:cNvPr>
          <p:cNvSpPr>
            <a:spLocks noGrp="1"/>
          </p:cNvSpPr>
          <p:nvPr>
            <p:ph type="sldNum" sz="quarter" idx="12"/>
          </p:nvPr>
        </p:nvSpPr>
        <p:spPr>
          <a:xfrm>
            <a:off x="10506456" y="6356350"/>
            <a:ext cx="850392" cy="365125"/>
          </a:xfrm>
        </p:spPr>
        <p:txBody>
          <a:bodyPr>
            <a:normAutofit/>
          </a:bodyPr>
          <a:lstStyle/>
          <a:p>
            <a:pPr>
              <a:spcAft>
                <a:spcPts val="600"/>
              </a:spcAft>
            </a:pPr>
            <a:fld id="{51845F5A-061D-4825-9AE9-D7794091C6CF}" type="slidenum">
              <a:rPr lang="en-US">
                <a:solidFill>
                  <a:schemeClr val="tx1">
                    <a:lumMod val="65000"/>
                    <a:lumOff val="35000"/>
                  </a:schemeClr>
                </a:solidFill>
              </a:rPr>
              <a:pPr>
                <a:spcAft>
                  <a:spcPts val="600"/>
                </a:spcAft>
              </a:pPr>
              <a:t>80</a:t>
            </a:fld>
            <a:endParaRPr lang="en-US">
              <a:solidFill>
                <a:schemeClr val="tx1">
                  <a:lumMod val="65000"/>
                  <a:lumOff val="35000"/>
                </a:schemeClr>
              </a:solidFill>
            </a:endParaRPr>
          </a:p>
        </p:txBody>
      </p:sp>
    </p:spTree>
    <p:extLst>
      <p:ext uri="{BB962C8B-B14F-4D97-AF65-F5344CB8AC3E}">
        <p14:creationId xmlns:p14="http://schemas.microsoft.com/office/powerpoint/2010/main" val="7459805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70368-78F2-4506-B6EE-F2341736B5CB}"/>
              </a:ext>
            </a:extLst>
          </p:cNvPr>
          <p:cNvSpPr>
            <a:spLocks noGrp="1"/>
          </p:cNvSpPr>
          <p:nvPr>
            <p:ph type="title"/>
          </p:nvPr>
        </p:nvSpPr>
        <p:spPr/>
        <p:txBody>
          <a:bodyPr/>
          <a:lstStyle/>
          <a:p>
            <a:r>
              <a:rPr lang="en-US" dirty="0"/>
              <a:t>Implicit Conversion b/w Basic Types</a:t>
            </a:r>
            <a:endParaRPr lang="en-PK" dirty="0"/>
          </a:p>
        </p:txBody>
      </p:sp>
      <p:sp>
        <p:nvSpPr>
          <p:cNvPr id="3" name="Content Placeholder 2">
            <a:extLst>
              <a:ext uri="{FF2B5EF4-FFF2-40B4-BE49-F238E27FC236}">
                <a16:creationId xmlns:a16="http://schemas.microsoft.com/office/drawing/2014/main" id="{6807105C-0261-FA9B-C67A-5C40D264170B}"/>
              </a:ext>
            </a:extLst>
          </p:cNvPr>
          <p:cNvSpPr>
            <a:spLocks noGrp="1"/>
          </p:cNvSpPr>
          <p:nvPr>
            <p:ph idx="1"/>
          </p:nvPr>
        </p:nvSpPr>
        <p:spPr/>
        <p:txBody>
          <a:bodyPr>
            <a:normAutofit fontScale="92500" lnSpcReduction="10000"/>
          </a:bodyPr>
          <a:lstStyle/>
          <a:p>
            <a:pPr algn="just"/>
            <a:r>
              <a:rPr lang="en-US" dirty="0"/>
              <a:t>When we use two different Types:</a:t>
            </a:r>
          </a:p>
          <a:p>
            <a:pPr algn="just"/>
            <a:endParaRPr lang="en-US" dirty="0"/>
          </a:p>
          <a:p>
            <a:pPr marL="0" indent="0" algn="just">
              <a:buNone/>
            </a:pPr>
            <a:r>
              <a:rPr lang="en-US" altLang="ja-JP" dirty="0"/>
              <a:t>     </a:t>
            </a:r>
            <a:r>
              <a:rPr lang="en-US" altLang="ja-JP" dirty="0" err="1">
                <a:latin typeface="Consolas" panose="020B0609020204030204" pitchFamily="49" charset="0"/>
              </a:rPr>
              <a:t>intvar</a:t>
            </a:r>
            <a:r>
              <a:rPr lang="en-US" altLang="ja-JP" dirty="0">
                <a:latin typeface="Consolas" panose="020B0609020204030204" pitchFamily="49" charset="0"/>
              </a:rPr>
              <a:t> = </a:t>
            </a:r>
            <a:r>
              <a:rPr lang="en-US" altLang="ja-JP" dirty="0" err="1">
                <a:latin typeface="Consolas" panose="020B0609020204030204" pitchFamily="49" charset="0"/>
              </a:rPr>
              <a:t>floatvar</a:t>
            </a:r>
            <a:r>
              <a:rPr lang="en-US" altLang="ja-JP" dirty="0">
                <a:latin typeface="Consolas" panose="020B0609020204030204" pitchFamily="49" charset="0"/>
              </a:rPr>
              <a:t>; //assign float to integer</a:t>
            </a:r>
          </a:p>
          <a:p>
            <a:pPr marL="0" indent="0" algn="just">
              <a:buNone/>
            </a:pPr>
            <a:endParaRPr lang="en-US" altLang="ja-JP" dirty="0"/>
          </a:p>
          <a:p>
            <a:pPr marL="0" indent="0" algn="just">
              <a:buNone/>
            </a:pPr>
            <a:r>
              <a:rPr lang="en-US" altLang="ja-JP" dirty="0"/>
              <a:t> the compiler calls a special function that </a:t>
            </a:r>
            <a:r>
              <a:rPr lang="en-US" altLang="ja-JP" dirty="0">
                <a:solidFill>
                  <a:srgbClr val="FF0000"/>
                </a:solidFill>
              </a:rPr>
              <a:t>converts this value from floating point format to integer 	</a:t>
            </a:r>
          </a:p>
          <a:p>
            <a:pPr algn="just"/>
            <a:endParaRPr lang="en-US" dirty="0"/>
          </a:p>
          <a:p>
            <a:pPr algn="just"/>
            <a:r>
              <a:rPr lang="en-US" dirty="0"/>
              <a:t>There are many such conversion routines build in C++ compiler and called upon when any such conversion is required.</a:t>
            </a:r>
          </a:p>
        </p:txBody>
      </p:sp>
      <p:sp>
        <p:nvSpPr>
          <p:cNvPr id="4" name="Footer Placeholder 3">
            <a:extLst>
              <a:ext uri="{FF2B5EF4-FFF2-40B4-BE49-F238E27FC236}">
                <a16:creationId xmlns:a16="http://schemas.microsoft.com/office/drawing/2014/main" id="{E295DA7C-E571-3E99-3686-46A5E96784B7}"/>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25047C8C-3498-553B-3DC9-B6F7B7392798}"/>
              </a:ext>
            </a:extLst>
          </p:cNvPr>
          <p:cNvSpPr>
            <a:spLocks noGrp="1"/>
          </p:cNvSpPr>
          <p:nvPr>
            <p:ph type="sldNum" sz="quarter" idx="12"/>
          </p:nvPr>
        </p:nvSpPr>
        <p:spPr/>
        <p:txBody>
          <a:bodyPr/>
          <a:lstStyle/>
          <a:p>
            <a:fld id="{51845F5A-061D-4825-9AE9-D7794091C6CF}" type="slidenum">
              <a:rPr lang="en-US" smtClean="0"/>
              <a:t>81</a:t>
            </a:fld>
            <a:endParaRPr lang="en-US" dirty="0"/>
          </a:p>
        </p:txBody>
      </p:sp>
    </p:spTree>
    <p:extLst>
      <p:ext uri="{BB962C8B-B14F-4D97-AF65-F5344CB8AC3E}">
        <p14:creationId xmlns:p14="http://schemas.microsoft.com/office/powerpoint/2010/main" val="31384639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17C0-6A55-8057-FF5C-8707A7095908}"/>
              </a:ext>
            </a:extLst>
          </p:cNvPr>
          <p:cNvSpPr>
            <a:spLocks noGrp="1"/>
          </p:cNvSpPr>
          <p:nvPr>
            <p:ph type="title"/>
          </p:nvPr>
        </p:nvSpPr>
        <p:spPr/>
        <p:txBody>
          <a:bodyPr/>
          <a:lstStyle/>
          <a:p>
            <a:r>
              <a:rPr lang="en-US" dirty="0"/>
              <a:t>Explicit Conversion b/w Basic Types</a:t>
            </a:r>
            <a:endParaRPr lang="en-PK" dirty="0"/>
          </a:p>
        </p:txBody>
      </p:sp>
      <p:sp>
        <p:nvSpPr>
          <p:cNvPr id="3" name="Content Placeholder 2">
            <a:extLst>
              <a:ext uri="{FF2B5EF4-FFF2-40B4-BE49-F238E27FC236}">
                <a16:creationId xmlns:a16="http://schemas.microsoft.com/office/drawing/2014/main" id="{6F576049-F24B-46BA-C47B-70A727369C02}"/>
              </a:ext>
            </a:extLst>
          </p:cNvPr>
          <p:cNvSpPr>
            <a:spLocks noGrp="1"/>
          </p:cNvSpPr>
          <p:nvPr>
            <p:ph idx="1"/>
          </p:nvPr>
        </p:nvSpPr>
        <p:spPr/>
        <p:txBody>
          <a:bodyPr>
            <a:normAutofit fontScale="92500" lnSpcReduction="10000"/>
          </a:bodyPr>
          <a:lstStyle/>
          <a:p>
            <a:pPr algn="just"/>
            <a:r>
              <a:rPr lang="en-US" dirty="0"/>
              <a:t>if we want to force compiler to convert data from one native type to other, we can use </a:t>
            </a:r>
            <a:r>
              <a:rPr lang="en-US" dirty="0">
                <a:solidFill>
                  <a:srgbClr val="0070C0"/>
                </a:solidFill>
              </a:rPr>
              <a:t>explicit type casting</a:t>
            </a:r>
            <a:r>
              <a:rPr lang="en-US" dirty="0"/>
              <a:t>, </a:t>
            </a:r>
          </a:p>
          <a:p>
            <a:pPr marL="0" indent="0" algn="just">
              <a:buNone/>
            </a:pPr>
            <a:endParaRPr lang="en-US" dirty="0"/>
          </a:p>
          <a:p>
            <a:pPr marL="0" indent="0" algn="just">
              <a:buNone/>
            </a:pPr>
            <a:r>
              <a:rPr lang="en-US" dirty="0">
                <a:latin typeface="Consolas" panose="020B0609020204030204" pitchFamily="49" charset="0"/>
              </a:rPr>
              <a:t>	</a:t>
            </a:r>
            <a:r>
              <a:rPr lang="en-US" dirty="0" err="1">
                <a:latin typeface="Consolas" panose="020B0609020204030204" pitchFamily="49" charset="0"/>
              </a:rPr>
              <a:t>intvar</a:t>
            </a:r>
            <a:r>
              <a:rPr lang="en-US" dirty="0">
                <a:latin typeface="Consolas" panose="020B0609020204030204" pitchFamily="49" charset="0"/>
              </a:rPr>
              <a:t> = int(</a:t>
            </a:r>
            <a:r>
              <a:rPr lang="en-US" dirty="0" err="1">
                <a:latin typeface="Consolas" panose="020B0609020204030204" pitchFamily="49" charset="0"/>
              </a:rPr>
              <a:t>floatvar</a:t>
            </a:r>
            <a:r>
              <a:rPr lang="en-US" dirty="0">
                <a:latin typeface="Consolas" panose="020B0609020204030204" pitchFamily="49" charset="0"/>
              </a:rPr>
              <a:t>);</a:t>
            </a:r>
          </a:p>
          <a:p>
            <a:pPr algn="just"/>
            <a:endParaRPr lang="en-US" dirty="0"/>
          </a:p>
          <a:p>
            <a:pPr algn="just"/>
            <a:r>
              <a:rPr lang="en-US" dirty="0"/>
              <a:t>it is obvious in listing that </a:t>
            </a:r>
            <a:r>
              <a:rPr lang="en-US" dirty="0">
                <a:solidFill>
                  <a:srgbClr val="0070C0"/>
                </a:solidFill>
              </a:rPr>
              <a:t>int( ) </a:t>
            </a:r>
            <a:r>
              <a:rPr lang="en-US" dirty="0"/>
              <a:t>conversion function will convert from float to int.</a:t>
            </a:r>
          </a:p>
          <a:p>
            <a:pPr algn="just"/>
            <a:endParaRPr lang="en-US" dirty="0"/>
          </a:p>
          <a:p>
            <a:pPr algn="just"/>
            <a:r>
              <a:rPr lang="en-US" dirty="0"/>
              <a:t>This explicit conversion uses same build in routines.</a:t>
            </a:r>
          </a:p>
        </p:txBody>
      </p:sp>
      <p:sp>
        <p:nvSpPr>
          <p:cNvPr id="4" name="Footer Placeholder 3">
            <a:extLst>
              <a:ext uri="{FF2B5EF4-FFF2-40B4-BE49-F238E27FC236}">
                <a16:creationId xmlns:a16="http://schemas.microsoft.com/office/drawing/2014/main" id="{1D7F96DA-EE86-BF13-7A9C-D9566805EF39}"/>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578FA470-D85D-E079-57E4-D05FF36F23F3}"/>
              </a:ext>
            </a:extLst>
          </p:cNvPr>
          <p:cNvSpPr>
            <a:spLocks noGrp="1"/>
          </p:cNvSpPr>
          <p:nvPr>
            <p:ph type="sldNum" sz="quarter" idx="12"/>
          </p:nvPr>
        </p:nvSpPr>
        <p:spPr/>
        <p:txBody>
          <a:bodyPr/>
          <a:lstStyle/>
          <a:p>
            <a:fld id="{51845F5A-061D-4825-9AE9-D7794091C6CF}" type="slidenum">
              <a:rPr lang="en-US" smtClean="0"/>
              <a:t>82</a:t>
            </a:fld>
            <a:endParaRPr lang="en-US" dirty="0"/>
          </a:p>
        </p:txBody>
      </p:sp>
    </p:spTree>
    <p:extLst>
      <p:ext uri="{BB962C8B-B14F-4D97-AF65-F5344CB8AC3E}">
        <p14:creationId xmlns:p14="http://schemas.microsoft.com/office/powerpoint/2010/main" val="3542471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88BE9-F733-3988-E1D0-2345846A8711}"/>
              </a:ext>
            </a:extLst>
          </p:cNvPr>
          <p:cNvSpPr>
            <a:spLocks noGrp="1"/>
          </p:cNvSpPr>
          <p:nvPr>
            <p:ph type="title"/>
          </p:nvPr>
        </p:nvSpPr>
        <p:spPr/>
        <p:txBody>
          <a:bodyPr/>
          <a:lstStyle/>
          <a:p>
            <a:r>
              <a:rPr lang="en-US" dirty="0"/>
              <a:t>Conversion Between Objects and Basic Types</a:t>
            </a:r>
            <a:endParaRPr lang="en-PK" dirty="0"/>
          </a:p>
        </p:txBody>
      </p:sp>
      <p:sp>
        <p:nvSpPr>
          <p:cNvPr id="3" name="Content Placeholder 2">
            <a:extLst>
              <a:ext uri="{FF2B5EF4-FFF2-40B4-BE49-F238E27FC236}">
                <a16:creationId xmlns:a16="http://schemas.microsoft.com/office/drawing/2014/main" id="{E97A2E34-C562-441C-DB54-6E19456352B9}"/>
              </a:ext>
            </a:extLst>
          </p:cNvPr>
          <p:cNvSpPr>
            <a:spLocks noGrp="1"/>
          </p:cNvSpPr>
          <p:nvPr>
            <p:ph idx="1"/>
          </p:nvPr>
        </p:nvSpPr>
        <p:spPr/>
        <p:txBody>
          <a:bodyPr>
            <a:normAutofit fontScale="77500" lnSpcReduction="20000"/>
          </a:bodyPr>
          <a:lstStyle/>
          <a:p>
            <a:pPr algn="just"/>
            <a:r>
              <a:rPr lang="en-US" dirty="0"/>
              <a:t>To convert from a basic type ( i.e., float) to object types (i.e., Distance), </a:t>
            </a:r>
            <a:r>
              <a:rPr lang="en-US" dirty="0">
                <a:solidFill>
                  <a:srgbClr val="0070C0"/>
                </a:solidFill>
              </a:rPr>
              <a:t>we use a constructor with one argument</a:t>
            </a:r>
            <a:r>
              <a:rPr lang="en-US" dirty="0"/>
              <a:t>.</a:t>
            </a:r>
          </a:p>
          <a:p>
            <a:pPr marL="0" indent="0" algn="just">
              <a:buNone/>
            </a:pPr>
            <a:r>
              <a:rPr lang="en-US" dirty="0"/>
              <a:t>		Distance(float meters){ } </a:t>
            </a:r>
          </a:p>
          <a:p>
            <a:pPr algn="just"/>
            <a:endParaRPr lang="en-US" dirty="0"/>
          </a:p>
          <a:p>
            <a:pPr algn="just"/>
            <a:r>
              <a:rPr lang="en-US" dirty="0"/>
              <a:t>This function is called when an object of type Distance is created with a single argument. </a:t>
            </a:r>
          </a:p>
          <a:p>
            <a:pPr algn="just"/>
            <a:endParaRPr lang="en-US" dirty="0"/>
          </a:p>
          <a:p>
            <a:pPr algn="just"/>
            <a:r>
              <a:rPr lang="en-US" dirty="0"/>
              <a:t>This conversion allows a </a:t>
            </a:r>
            <a:r>
              <a:rPr lang="en-US" dirty="0">
                <a:solidFill>
                  <a:srgbClr val="FF0000"/>
                </a:solidFill>
              </a:rPr>
              <a:t>float value to be assigned to a Distance type object</a:t>
            </a:r>
            <a:r>
              <a:rPr lang="en-US" dirty="0"/>
              <a:t>. </a:t>
            </a:r>
          </a:p>
          <a:p>
            <a:pPr algn="just"/>
            <a:endParaRPr lang="en-US" dirty="0"/>
          </a:p>
          <a:p>
            <a:pPr algn="just"/>
            <a:r>
              <a:rPr lang="en-US" dirty="0"/>
              <a:t>Conversion occurs implicitly</a:t>
            </a:r>
          </a:p>
        </p:txBody>
      </p:sp>
      <p:sp>
        <p:nvSpPr>
          <p:cNvPr id="4" name="Footer Placeholder 3">
            <a:extLst>
              <a:ext uri="{FF2B5EF4-FFF2-40B4-BE49-F238E27FC236}">
                <a16:creationId xmlns:a16="http://schemas.microsoft.com/office/drawing/2014/main" id="{BAC1F051-3B22-67DD-B8C1-BBFF9CAE55F4}"/>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BDCB47DB-931C-07D4-DCBE-F9F3A2B36C66}"/>
              </a:ext>
            </a:extLst>
          </p:cNvPr>
          <p:cNvSpPr>
            <a:spLocks noGrp="1"/>
          </p:cNvSpPr>
          <p:nvPr>
            <p:ph type="sldNum" sz="quarter" idx="12"/>
          </p:nvPr>
        </p:nvSpPr>
        <p:spPr/>
        <p:txBody>
          <a:bodyPr/>
          <a:lstStyle/>
          <a:p>
            <a:fld id="{51845F5A-061D-4825-9AE9-D7794091C6CF}" type="slidenum">
              <a:rPr lang="en-US" smtClean="0"/>
              <a:t>83</a:t>
            </a:fld>
            <a:endParaRPr lang="en-US" dirty="0"/>
          </a:p>
        </p:txBody>
      </p:sp>
    </p:spTree>
    <p:extLst>
      <p:ext uri="{BB962C8B-B14F-4D97-AF65-F5344CB8AC3E}">
        <p14:creationId xmlns:p14="http://schemas.microsoft.com/office/powerpoint/2010/main" val="27493703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4BE6A-1755-0A80-3AFC-369CCBF59950}"/>
              </a:ext>
            </a:extLst>
          </p:cNvPr>
          <p:cNvSpPr>
            <a:spLocks noGrp="1"/>
          </p:cNvSpPr>
          <p:nvPr>
            <p:ph type="title"/>
          </p:nvPr>
        </p:nvSpPr>
        <p:spPr/>
        <p:txBody>
          <a:bodyPr/>
          <a:lstStyle/>
          <a:p>
            <a:r>
              <a:rPr lang="en-US" dirty="0"/>
              <a:t>Conversion Between Objects and Basic Types</a:t>
            </a:r>
            <a:endParaRPr lang="en-PK" dirty="0"/>
          </a:p>
        </p:txBody>
      </p:sp>
      <p:sp>
        <p:nvSpPr>
          <p:cNvPr id="3" name="Content Placeholder 2">
            <a:extLst>
              <a:ext uri="{FF2B5EF4-FFF2-40B4-BE49-F238E27FC236}">
                <a16:creationId xmlns:a16="http://schemas.microsoft.com/office/drawing/2014/main" id="{1F39CD2C-D367-2134-09A0-68B9747DC532}"/>
              </a:ext>
            </a:extLst>
          </p:cNvPr>
          <p:cNvSpPr>
            <a:spLocks noGrp="1"/>
          </p:cNvSpPr>
          <p:nvPr>
            <p:ph idx="1"/>
          </p:nvPr>
        </p:nvSpPr>
        <p:spPr/>
        <p:txBody>
          <a:bodyPr/>
          <a:lstStyle/>
          <a:p>
            <a:r>
              <a:rPr lang="en-US" dirty="0"/>
              <a:t>Distance dist1 = 2.35; // constructor</a:t>
            </a:r>
          </a:p>
          <a:p>
            <a:pPr marL="0" indent="0">
              <a:buNone/>
            </a:pPr>
            <a:endParaRPr lang="en-US" dirty="0"/>
          </a:p>
          <a:p>
            <a:r>
              <a:rPr lang="en-US" dirty="0"/>
              <a:t>Above, </a:t>
            </a:r>
            <a:r>
              <a:rPr lang="en-US" dirty="0">
                <a:solidFill>
                  <a:srgbClr val="FF0000"/>
                </a:solidFill>
              </a:rPr>
              <a:t>one argument constructor </a:t>
            </a:r>
            <a:r>
              <a:rPr lang="en-US" dirty="0"/>
              <a:t>will be called.</a:t>
            </a:r>
          </a:p>
          <a:p>
            <a:pPr marL="0" indent="0">
              <a:buNone/>
            </a:pPr>
            <a:endParaRPr lang="en-US" dirty="0"/>
          </a:p>
          <a:p>
            <a:r>
              <a:rPr lang="en-US" dirty="0"/>
              <a:t>Same conversion can be achieved by providing overloaded </a:t>
            </a:r>
            <a:r>
              <a:rPr lang="ja-JP" altLang="en-US" dirty="0"/>
              <a:t>‘</a:t>
            </a:r>
            <a:r>
              <a:rPr lang="en-US" altLang="ja-JP" dirty="0"/>
              <a:t>=</a:t>
            </a:r>
            <a:r>
              <a:rPr lang="ja-JP" altLang="en-US" dirty="0"/>
              <a:t>‘</a:t>
            </a:r>
            <a:r>
              <a:rPr lang="en-US" altLang="ja-JP" dirty="0"/>
              <a:t> operator which takes a float value as argument.</a:t>
            </a:r>
            <a:endParaRPr lang="en-US" dirty="0"/>
          </a:p>
        </p:txBody>
      </p:sp>
      <p:sp>
        <p:nvSpPr>
          <p:cNvPr id="4" name="Footer Placeholder 3">
            <a:extLst>
              <a:ext uri="{FF2B5EF4-FFF2-40B4-BE49-F238E27FC236}">
                <a16:creationId xmlns:a16="http://schemas.microsoft.com/office/drawing/2014/main" id="{CBEECB31-4BA3-343B-9354-710E4A8D0E86}"/>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3AB5E70C-4243-6170-32F5-2BBB1E01934F}"/>
              </a:ext>
            </a:extLst>
          </p:cNvPr>
          <p:cNvSpPr>
            <a:spLocks noGrp="1"/>
          </p:cNvSpPr>
          <p:nvPr>
            <p:ph type="sldNum" sz="quarter" idx="12"/>
          </p:nvPr>
        </p:nvSpPr>
        <p:spPr/>
        <p:txBody>
          <a:bodyPr/>
          <a:lstStyle/>
          <a:p>
            <a:fld id="{51845F5A-061D-4825-9AE9-D7794091C6CF}" type="slidenum">
              <a:rPr lang="en-US" smtClean="0"/>
              <a:t>84</a:t>
            </a:fld>
            <a:endParaRPr lang="en-US" dirty="0"/>
          </a:p>
        </p:txBody>
      </p:sp>
    </p:spTree>
    <p:extLst>
      <p:ext uri="{BB962C8B-B14F-4D97-AF65-F5344CB8AC3E}">
        <p14:creationId xmlns:p14="http://schemas.microsoft.com/office/powerpoint/2010/main" val="21439465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FED7F-D4C2-B213-C119-38AF87D1DB5A}"/>
              </a:ext>
            </a:extLst>
          </p:cNvPr>
          <p:cNvSpPr>
            <a:spLocks noGrp="1"/>
          </p:cNvSpPr>
          <p:nvPr>
            <p:ph type="title"/>
          </p:nvPr>
        </p:nvSpPr>
        <p:spPr/>
        <p:txBody>
          <a:bodyPr/>
          <a:lstStyle/>
          <a:p>
            <a:r>
              <a:rPr lang="en-US" dirty="0"/>
              <a:t>Conversion From User Defined to Basic</a:t>
            </a:r>
            <a:endParaRPr lang="en-PK" dirty="0"/>
          </a:p>
        </p:txBody>
      </p:sp>
      <p:sp>
        <p:nvSpPr>
          <p:cNvPr id="3" name="Content Placeholder 2">
            <a:extLst>
              <a:ext uri="{FF2B5EF4-FFF2-40B4-BE49-F238E27FC236}">
                <a16:creationId xmlns:a16="http://schemas.microsoft.com/office/drawing/2014/main" id="{0BCF38C9-31FA-F5A2-651E-B29EB945C6C2}"/>
              </a:ext>
            </a:extLst>
          </p:cNvPr>
          <p:cNvSpPr>
            <a:spLocks noGrp="1"/>
          </p:cNvSpPr>
          <p:nvPr>
            <p:ph idx="1"/>
          </p:nvPr>
        </p:nvSpPr>
        <p:spPr/>
        <p:txBody>
          <a:bodyPr>
            <a:normAutofit fontScale="77500" lnSpcReduction="20000"/>
          </a:bodyPr>
          <a:lstStyle/>
          <a:p>
            <a:pPr algn="just"/>
            <a:r>
              <a:rPr lang="en-US" dirty="0"/>
              <a:t>What if want to go from </a:t>
            </a:r>
            <a:r>
              <a:rPr lang="en-US" b="1" i="1" dirty="0">
                <a:solidFill>
                  <a:srgbClr val="0070C0"/>
                </a:solidFill>
              </a:rPr>
              <a:t>user-defined types</a:t>
            </a:r>
            <a:r>
              <a:rPr lang="en-US" dirty="0"/>
              <a:t>(e.g. class Distance) to </a:t>
            </a:r>
            <a:r>
              <a:rPr lang="en-US" b="1" i="1" dirty="0">
                <a:solidFill>
                  <a:srgbClr val="0070C0"/>
                </a:solidFill>
              </a:rPr>
              <a:t>native type</a:t>
            </a:r>
            <a:r>
              <a:rPr lang="en-US" dirty="0"/>
              <a:t>(e.g. float)?</a:t>
            </a:r>
          </a:p>
          <a:p>
            <a:pPr algn="just"/>
            <a:endParaRPr lang="en-US" dirty="0"/>
          </a:p>
          <a:p>
            <a:pPr algn="just"/>
            <a:r>
              <a:rPr lang="en-US" dirty="0"/>
              <a:t>The trick here is to </a:t>
            </a:r>
            <a:r>
              <a:rPr lang="en-US" dirty="0">
                <a:solidFill>
                  <a:srgbClr val="0070C0"/>
                </a:solidFill>
              </a:rPr>
              <a:t>overload the cast operator</a:t>
            </a:r>
            <a:r>
              <a:rPr lang="en-US" dirty="0"/>
              <a:t>, creating something called a </a:t>
            </a:r>
            <a:r>
              <a:rPr lang="ja-JP" altLang="en-US" b="1" i="1" dirty="0">
                <a:solidFill>
                  <a:srgbClr val="FF0000"/>
                </a:solidFill>
              </a:rPr>
              <a:t>“</a:t>
            </a:r>
            <a:r>
              <a:rPr lang="en-US" altLang="ja-JP" b="1" i="1" dirty="0">
                <a:solidFill>
                  <a:srgbClr val="FF0000"/>
                </a:solidFill>
              </a:rPr>
              <a:t>Conversion function/operator</a:t>
            </a:r>
            <a:r>
              <a:rPr lang="ja-JP" altLang="en-US" b="1" i="1" dirty="0">
                <a:solidFill>
                  <a:srgbClr val="FF0000"/>
                </a:solidFill>
              </a:rPr>
              <a:t>”</a:t>
            </a:r>
            <a:r>
              <a:rPr lang="en-US" altLang="ja-JP" dirty="0"/>
              <a:t>.</a:t>
            </a:r>
          </a:p>
          <a:p>
            <a:pPr lvl="2" algn="just"/>
            <a:endParaRPr lang="en-US" dirty="0"/>
          </a:p>
          <a:p>
            <a:pPr marL="457200" lvl="1" indent="0" algn="just">
              <a:buNone/>
            </a:pPr>
            <a:r>
              <a:rPr lang="en-US" dirty="0">
                <a:latin typeface="Consolas" panose="020B0609020204030204" pitchFamily="49" charset="0"/>
              </a:rPr>
              <a:t>operator </a:t>
            </a:r>
            <a:r>
              <a:rPr lang="en-US" dirty="0">
                <a:solidFill>
                  <a:srgbClr val="0070C0"/>
                </a:solidFill>
                <a:latin typeface="Consolas" panose="020B0609020204030204" pitchFamily="49" charset="0"/>
              </a:rPr>
              <a:t>float() </a:t>
            </a:r>
            <a:r>
              <a:rPr lang="en-US" dirty="0">
                <a:latin typeface="Consolas" panose="020B0609020204030204" pitchFamily="49" charset="0"/>
              </a:rPr>
              <a:t>{</a:t>
            </a:r>
          </a:p>
          <a:p>
            <a:pPr marL="457200" lvl="1" indent="0" algn="just">
              <a:buNone/>
            </a:pPr>
            <a:r>
              <a:rPr lang="en-US" dirty="0">
                <a:latin typeface="Consolas" panose="020B0609020204030204" pitchFamily="49" charset="0"/>
              </a:rPr>
              <a:t>  return </a:t>
            </a:r>
            <a:r>
              <a:rPr lang="en-US" dirty="0" err="1">
                <a:latin typeface="Consolas" panose="020B0609020204030204" pitchFamily="49" charset="0"/>
              </a:rPr>
              <a:t>floating_rep</a:t>
            </a:r>
            <a:r>
              <a:rPr lang="en-US" dirty="0">
                <a:latin typeface="Consolas" panose="020B0609020204030204" pitchFamily="49" charset="0"/>
              </a:rPr>
              <a:t>;</a:t>
            </a:r>
          </a:p>
          <a:p>
            <a:pPr marL="457200" lvl="1" indent="0" algn="just">
              <a:buNone/>
            </a:pPr>
            <a:r>
              <a:rPr lang="en-US" dirty="0">
                <a:latin typeface="Consolas" panose="020B0609020204030204" pitchFamily="49" charset="0"/>
              </a:rPr>
              <a:t>}</a:t>
            </a:r>
          </a:p>
          <a:p>
            <a:pPr lvl="1" algn="just"/>
            <a:endParaRPr lang="en-US" dirty="0"/>
          </a:p>
          <a:p>
            <a:pPr lvl="1" algn="just"/>
            <a:r>
              <a:rPr lang="en-US" b="1" dirty="0"/>
              <a:t>NOTE: the conversion function does </a:t>
            </a:r>
            <a:r>
              <a:rPr lang="en-US" b="1" dirty="0">
                <a:solidFill>
                  <a:srgbClr val="0070C0"/>
                </a:solidFill>
              </a:rPr>
              <a:t>not need return type</a:t>
            </a:r>
          </a:p>
          <a:p>
            <a:pPr lvl="1" algn="just"/>
            <a:r>
              <a:rPr lang="en-US" b="1" dirty="0"/>
              <a:t>Conversion functions have </a:t>
            </a:r>
            <a:r>
              <a:rPr lang="en-US" b="1" dirty="0">
                <a:solidFill>
                  <a:srgbClr val="0070C0"/>
                </a:solidFill>
              </a:rPr>
              <a:t>no arguments</a:t>
            </a:r>
            <a:r>
              <a:rPr lang="en-US" b="1" dirty="0"/>
              <a:t>, and the return type is </a:t>
            </a:r>
            <a:r>
              <a:rPr lang="en-US" b="1" dirty="0">
                <a:solidFill>
                  <a:srgbClr val="FF0000"/>
                </a:solidFill>
                <a:latin typeface="Consolas" panose="020B0609020204030204" pitchFamily="49" charset="0"/>
              </a:rPr>
              <a:t>implicitly</a:t>
            </a:r>
            <a:r>
              <a:rPr lang="en-US" b="1" dirty="0"/>
              <a:t> the conversion type</a:t>
            </a:r>
          </a:p>
        </p:txBody>
      </p:sp>
      <p:sp>
        <p:nvSpPr>
          <p:cNvPr id="4" name="Footer Placeholder 3">
            <a:extLst>
              <a:ext uri="{FF2B5EF4-FFF2-40B4-BE49-F238E27FC236}">
                <a16:creationId xmlns:a16="http://schemas.microsoft.com/office/drawing/2014/main" id="{A9DF2ABD-5A31-F2B9-8299-83F5AA859732}"/>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A5FEF3D7-F1DD-9657-8D34-DEB1A17541E5}"/>
              </a:ext>
            </a:extLst>
          </p:cNvPr>
          <p:cNvSpPr>
            <a:spLocks noGrp="1"/>
          </p:cNvSpPr>
          <p:nvPr>
            <p:ph type="sldNum" sz="quarter" idx="12"/>
          </p:nvPr>
        </p:nvSpPr>
        <p:spPr/>
        <p:txBody>
          <a:bodyPr/>
          <a:lstStyle/>
          <a:p>
            <a:fld id="{51845F5A-061D-4825-9AE9-D7794091C6CF}" type="slidenum">
              <a:rPr lang="en-US" smtClean="0"/>
              <a:t>85</a:t>
            </a:fld>
            <a:endParaRPr lang="en-US" dirty="0"/>
          </a:p>
        </p:txBody>
      </p:sp>
    </p:spTree>
    <p:extLst>
      <p:ext uri="{BB962C8B-B14F-4D97-AF65-F5344CB8AC3E}">
        <p14:creationId xmlns:p14="http://schemas.microsoft.com/office/powerpoint/2010/main" val="18864885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1BB2-7176-809C-2E7B-F81F72A342E6}"/>
              </a:ext>
            </a:extLst>
          </p:cNvPr>
          <p:cNvSpPr>
            <a:spLocks noGrp="1"/>
          </p:cNvSpPr>
          <p:nvPr>
            <p:ph type="title"/>
          </p:nvPr>
        </p:nvSpPr>
        <p:spPr/>
        <p:txBody>
          <a:bodyPr/>
          <a:lstStyle/>
          <a:p>
            <a:r>
              <a:rPr lang="en-US" dirty="0"/>
              <a:t>Conversion From User Defined to Basic</a:t>
            </a:r>
            <a:endParaRPr lang="en-PK" dirty="0"/>
          </a:p>
        </p:txBody>
      </p:sp>
      <p:sp>
        <p:nvSpPr>
          <p:cNvPr id="3" name="Content Placeholder 2">
            <a:extLst>
              <a:ext uri="{FF2B5EF4-FFF2-40B4-BE49-F238E27FC236}">
                <a16:creationId xmlns:a16="http://schemas.microsoft.com/office/drawing/2014/main" id="{7BD3E0C3-1F20-84E3-9462-6A74C76EE36C}"/>
              </a:ext>
            </a:extLst>
          </p:cNvPr>
          <p:cNvSpPr>
            <a:spLocks noGrp="1"/>
          </p:cNvSpPr>
          <p:nvPr>
            <p:ph idx="1"/>
          </p:nvPr>
        </p:nvSpPr>
        <p:spPr/>
        <p:txBody>
          <a:bodyPr>
            <a:normAutofit fontScale="92500" lnSpcReduction="20000"/>
          </a:bodyPr>
          <a:lstStyle/>
          <a:p>
            <a:pPr algn="just"/>
            <a:r>
              <a:rPr lang="en-US" dirty="0"/>
              <a:t>This operator takes the value of the distance object of which it is a member, converts this value to a float value and returns this value.</a:t>
            </a:r>
          </a:p>
          <a:p>
            <a:pPr algn="just"/>
            <a:endParaRPr lang="en-US" dirty="0"/>
          </a:p>
          <a:p>
            <a:pPr algn="just"/>
            <a:r>
              <a:rPr lang="en-US" dirty="0"/>
              <a:t>This operator can be called like this:</a:t>
            </a:r>
          </a:p>
          <a:p>
            <a:pPr marL="0" indent="0" algn="just">
              <a:buNone/>
            </a:pPr>
            <a:r>
              <a:rPr lang="en-US" sz="2000" dirty="0">
                <a:latin typeface="Consolas" panose="020B0609020204030204" pitchFamily="49" charset="0"/>
              </a:rPr>
              <a:t> </a:t>
            </a:r>
          </a:p>
          <a:p>
            <a:pPr marL="0" indent="0" algn="just">
              <a:buNone/>
            </a:pPr>
            <a:r>
              <a:rPr lang="en-US" sz="2000" dirty="0">
                <a:latin typeface="Consolas" panose="020B0609020204030204" pitchFamily="49" charset="0"/>
              </a:rPr>
              <a:t> Distance dist2;</a:t>
            </a:r>
          </a:p>
          <a:p>
            <a:pPr marL="114300" indent="0" algn="just">
              <a:buNone/>
            </a:pPr>
            <a:r>
              <a:rPr lang="en-US" sz="2000" dirty="0">
                <a:latin typeface="Consolas" panose="020B0609020204030204" pitchFamily="49" charset="0"/>
              </a:rPr>
              <a:t>float </a:t>
            </a:r>
            <a:r>
              <a:rPr lang="en-US" sz="2000" dirty="0" err="1">
                <a:latin typeface="Consolas" panose="020B0609020204030204" pitchFamily="49" charset="0"/>
              </a:rPr>
              <a:t>floatmtrs</a:t>
            </a:r>
            <a:r>
              <a:rPr lang="en-US" sz="2000" dirty="0">
                <a:latin typeface="Consolas" panose="020B0609020204030204" pitchFamily="49" charset="0"/>
              </a:rPr>
              <a:t> = float(dist2); </a:t>
            </a:r>
            <a:r>
              <a:rPr lang="en-US" sz="2000" b="1" dirty="0">
                <a:solidFill>
                  <a:srgbClr val="00B050"/>
                </a:solidFill>
                <a:latin typeface="Consolas" panose="020B0609020204030204" pitchFamily="49" charset="0"/>
              </a:rPr>
              <a:t>//explicit conversion</a:t>
            </a:r>
          </a:p>
          <a:p>
            <a:pPr marL="114300" indent="0" algn="just">
              <a:buNone/>
            </a:pPr>
            <a:r>
              <a:rPr lang="en-US" sz="2000" dirty="0">
                <a:latin typeface="Consolas" panose="020B0609020204030204" pitchFamily="49" charset="0"/>
              </a:rPr>
              <a:t>float </a:t>
            </a:r>
            <a:r>
              <a:rPr lang="en-US" sz="2000" dirty="0" err="1">
                <a:latin typeface="Consolas" panose="020B0609020204030204" pitchFamily="49" charset="0"/>
              </a:rPr>
              <a:t>floatmtrs</a:t>
            </a:r>
            <a:r>
              <a:rPr lang="en-US" sz="2000" dirty="0">
                <a:latin typeface="Consolas" panose="020B0609020204030204" pitchFamily="49" charset="0"/>
              </a:rPr>
              <a:t> = dist2;  		</a:t>
            </a:r>
            <a:r>
              <a:rPr lang="en-US" sz="2000" b="1" dirty="0">
                <a:solidFill>
                  <a:srgbClr val="00B050"/>
                </a:solidFill>
                <a:latin typeface="Consolas" panose="020B0609020204030204" pitchFamily="49" charset="0"/>
              </a:rPr>
              <a:t>//implicit conversion</a:t>
            </a:r>
          </a:p>
          <a:p>
            <a:pPr lvl="4" algn="just"/>
            <a:endParaRPr lang="en-US" dirty="0"/>
          </a:p>
          <a:p>
            <a:pPr algn="just"/>
            <a:r>
              <a:rPr lang="en-US" dirty="0"/>
              <a:t>   both statements have </a:t>
            </a:r>
            <a:r>
              <a:rPr lang="en-US" dirty="0">
                <a:solidFill>
                  <a:srgbClr val="0070C0"/>
                </a:solidFill>
              </a:rPr>
              <a:t>exactly the same effect</a:t>
            </a:r>
            <a:r>
              <a:rPr lang="en-US" dirty="0"/>
              <a:t>.</a:t>
            </a:r>
          </a:p>
        </p:txBody>
      </p:sp>
      <p:sp>
        <p:nvSpPr>
          <p:cNvPr id="4" name="Footer Placeholder 3">
            <a:extLst>
              <a:ext uri="{FF2B5EF4-FFF2-40B4-BE49-F238E27FC236}">
                <a16:creationId xmlns:a16="http://schemas.microsoft.com/office/drawing/2014/main" id="{97B17D95-22B2-B403-F248-AD61C0E2342C}"/>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9BB1D6B7-4469-C5DB-4774-6D288319036B}"/>
              </a:ext>
            </a:extLst>
          </p:cNvPr>
          <p:cNvSpPr>
            <a:spLocks noGrp="1"/>
          </p:cNvSpPr>
          <p:nvPr>
            <p:ph type="sldNum" sz="quarter" idx="12"/>
          </p:nvPr>
        </p:nvSpPr>
        <p:spPr/>
        <p:txBody>
          <a:bodyPr/>
          <a:lstStyle/>
          <a:p>
            <a:fld id="{51845F5A-061D-4825-9AE9-D7794091C6CF}" type="slidenum">
              <a:rPr lang="en-US" smtClean="0"/>
              <a:t>86</a:t>
            </a:fld>
            <a:endParaRPr lang="en-US" dirty="0"/>
          </a:p>
        </p:txBody>
      </p:sp>
    </p:spTree>
    <p:extLst>
      <p:ext uri="{BB962C8B-B14F-4D97-AF65-F5344CB8AC3E}">
        <p14:creationId xmlns:p14="http://schemas.microsoft.com/office/powerpoint/2010/main" val="2070679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5CE27-4F91-164B-2EEB-A090C74E6863}"/>
              </a:ext>
            </a:extLst>
          </p:cNvPr>
          <p:cNvSpPr>
            <a:spLocks noGrp="1"/>
          </p:cNvSpPr>
          <p:nvPr>
            <p:ph type="title"/>
          </p:nvPr>
        </p:nvSpPr>
        <p:spPr/>
        <p:txBody>
          <a:bodyPr/>
          <a:lstStyle/>
          <a:p>
            <a:r>
              <a:rPr lang="en-US" dirty="0"/>
              <a:t>Conversion From User Defined to Basic</a:t>
            </a:r>
            <a:endParaRPr lang="en-PK" dirty="0"/>
          </a:p>
        </p:txBody>
      </p:sp>
      <p:sp>
        <p:nvSpPr>
          <p:cNvPr id="3" name="Content Placeholder 2">
            <a:extLst>
              <a:ext uri="{FF2B5EF4-FFF2-40B4-BE49-F238E27FC236}">
                <a16:creationId xmlns:a16="http://schemas.microsoft.com/office/drawing/2014/main" id="{8D415BD7-2B91-5ADC-DFE2-44B2581A2B07}"/>
              </a:ext>
            </a:extLst>
          </p:cNvPr>
          <p:cNvSpPr>
            <a:spLocks noGrp="1"/>
          </p:cNvSpPr>
          <p:nvPr>
            <p:ph idx="1"/>
          </p:nvPr>
        </p:nvSpPr>
        <p:spPr/>
        <p:txBody>
          <a:bodyPr>
            <a:normAutofit lnSpcReduction="10000"/>
          </a:bodyPr>
          <a:lstStyle/>
          <a:p>
            <a:pPr marL="0"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class Employee</a:t>
            </a:r>
          </a:p>
          <a:p>
            <a:pPr marL="0"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  </a:t>
            </a:r>
            <a:r>
              <a:rPr lang="en-US" sz="2400" b="1" kern="0" dirty="0">
                <a:solidFill>
                  <a:schemeClr val="tx1">
                    <a:lumMod val="50000"/>
                    <a:lumOff val="50000"/>
                  </a:schemeClr>
                </a:solidFill>
                <a:latin typeface="Consolas" panose="020B0609020204030204" pitchFamily="49" charset="0"/>
                <a:cs typeface="Courier New" panose="02070309020205020404" pitchFamily="49" charset="0"/>
              </a:rPr>
              <a:t>private:</a:t>
            </a:r>
          </a:p>
          <a:p>
            <a:pPr marL="457200" lvl="1"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		float salary;</a:t>
            </a:r>
          </a:p>
          <a:p>
            <a:pPr marL="457200" lvl="1" indent="0" eaLnBrk="0" hangingPunct="0">
              <a:lnSpc>
                <a:spcPct val="80000"/>
              </a:lnSpc>
              <a:spcBef>
                <a:spcPct val="20000"/>
              </a:spcBef>
              <a:buNone/>
              <a:defRPr/>
            </a:pPr>
            <a:r>
              <a:rPr lang="en-US" sz="2400" b="1" kern="0" dirty="0">
                <a:solidFill>
                  <a:schemeClr val="tx1">
                    <a:lumMod val="50000"/>
                    <a:lumOff val="50000"/>
                  </a:schemeClr>
                </a:solidFill>
                <a:latin typeface="Consolas" panose="020B0609020204030204" pitchFamily="49" charset="0"/>
                <a:cs typeface="Courier New" panose="02070309020205020404" pitchFamily="49" charset="0"/>
              </a:rPr>
              <a:t> public:</a:t>
            </a:r>
          </a:p>
          <a:p>
            <a:pPr marL="457200" lvl="1"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	  Employee ( float </a:t>
            </a:r>
            <a:r>
              <a:rPr lang="en-US" sz="2400" b="1" kern="0" dirty="0" err="1">
                <a:latin typeface="Consolas" panose="020B0609020204030204" pitchFamily="49" charset="0"/>
                <a:cs typeface="Courier New" panose="02070309020205020404" pitchFamily="49" charset="0"/>
              </a:rPr>
              <a:t>sal</a:t>
            </a:r>
            <a:r>
              <a:rPr lang="en-US" sz="2400" b="1" kern="0" dirty="0">
                <a:latin typeface="Consolas" panose="020B0609020204030204" pitchFamily="49" charset="0"/>
                <a:cs typeface="Courier New" panose="02070309020205020404" pitchFamily="49" charset="0"/>
              </a:rPr>
              <a:t> ) { salary = </a:t>
            </a:r>
            <a:r>
              <a:rPr lang="en-US" sz="2400" b="1" kern="0" dirty="0" err="1">
                <a:latin typeface="Consolas" panose="020B0609020204030204" pitchFamily="49" charset="0"/>
                <a:cs typeface="Courier New" panose="02070309020205020404" pitchFamily="49" charset="0"/>
              </a:rPr>
              <a:t>sal</a:t>
            </a:r>
            <a:r>
              <a:rPr lang="en-US" sz="2400" b="1" kern="0" dirty="0">
                <a:latin typeface="Consolas" panose="020B0609020204030204" pitchFamily="49" charset="0"/>
                <a:cs typeface="Courier New" panose="02070309020205020404" pitchFamily="49" charset="0"/>
              </a:rPr>
              <a:t>; }</a:t>
            </a:r>
          </a:p>
          <a:p>
            <a:pPr marL="457200" lvl="1"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	  operator float();</a:t>
            </a:r>
          </a:p>
          <a:p>
            <a:pPr marL="0"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a:t>
            </a:r>
          </a:p>
          <a:p>
            <a:pPr marL="0" indent="0" eaLnBrk="0" hangingPunct="0">
              <a:lnSpc>
                <a:spcPct val="80000"/>
              </a:lnSpc>
              <a:spcBef>
                <a:spcPct val="20000"/>
              </a:spcBef>
              <a:buNone/>
              <a:defRPr/>
            </a:pPr>
            <a:endParaRPr lang="en-US" sz="2400" b="1" kern="0" dirty="0">
              <a:latin typeface="Consolas" panose="020B0609020204030204" pitchFamily="49" charset="0"/>
              <a:cs typeface="Courier New" panose="02070309020205020404" pitchFamily="49" charset="0"/>
            </a:endParaRPr>
          </a:p>
          <a:p>
            <a:pPr marL="0"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Employee::operator float(  )</a:t>
            </a:r>
          </a:p>
          <a:p>
            <a:pPr marL="0"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	</a:t>
            </a:r>
          </a:p>
          <a:p>
            <a:pPr marL="0"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		return salary;</a:t>
            </a:r>
          </a:p>
          <a:p>
            <a:pPr marL="0" indent="0" eaLnBrk="0" hangingPunct="0">
              <a:lnSpc>
                <a:spcPct val="80000"/>
              </a:lnSpc>
              <a:spcBef>
                <a:spcPct val="20000"/>
              </a:spcBef>
              <a:buNone/>
              <a:defRPr/>
            </a:pPr>
            <a:r>
              <a:rPr lang="en-US" sz="2400" b="1" kern="0" dirty="0">
                <a:latin typeface="Consolas" panose="020B0609020204030204" pitchFamily="49" charset="0"/>
                <a:cs typeface="Courier New" panose="02070309020205020404" pitchFamily="49" charset="0"/>
              </a:rPr>
              <a:t>}</a:t>
            </a:r>
          </a:p>
          <a:p>
            <a:pPr marL="0" indent="0">
              <a:buNone/>
            </a:pPr>
            <a:endParaRPr lang="en-PK" dirty="0"/>
          </a:p>
        </p:txBody>
      </p:sp>
      <p:sp>
        <p:nvSpPr>
          <p:cNvPr id="4" name="Footer Placeholder 3">
            <a:extLst>
              <a:ext uri="{FF2B5EF4-FFF2-40B4-BE49-F238E27FC236}">
                <a16:creationId xmlns:a16="http://schemas.microsoft.com/office/drawing/2014/main" id="{997C0C46-E4F6-BDFE-3486-194521EA5248}"/>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C13A4C8A-BC98-EB10-7D8B-38718DF952B4}"/>
              </a:ext>
            </a:extLst>
          </p:cNvPr>
          <p:cNvSpPr>
            <a:spLocks noGrp="1"/>
          </p:cNvSpPr>
          <p:nvPr>
            <p:ph type="sldNum" sz="quarter" idx="12"/>
          </p:nvPr>
        </p:nvSpPr>
        <p:spPr/>
        <p:txBody>
          <a:bodyPr/>
          <a:lstStyle/>
          <a:p>
            <a:fld id="{51845F5A-061D-4825-9AE9-D7794091C6CF}" type="slidenum">
              <a:rPr lang="en-US" smtClean="0"/>
              <a:t>87</a:t>
            </a:fld>
            <a:endParaRPr lang="en-US" dirty="0"/>
          </a:p>
        </p:txBody>
      </p:sp>
    </p:spTree>
    <p:extLst>
      <p:ext uri="{BB962C8B-B14F-4D97-AF65-F5344CB8AC3E}">
        <p14:creationId xmlns:p14="http://schemas.microsoft.com/office/powerpoint/2010/main" val="13339563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01BB-9766-212B-18F0-BBD2CB8FE2A2}"/>
              </a:ext>
            </a:extLst>
          </p:cNvPr>
          <p:cNvSpPr>
            <a:spLocks noGrp="1"/>
          </p:cNvSpPr>
          <p:nvPr>
            <p:ph type="title"/>
          </p:nvPr>
        </p:nvSpPr>
        <p:spPr/>
        <p:txBody>
          <a:bodyPr/>
          <a:lstStyle/>
          <a:p>
            <a:r>
              <a:rPr lang="en-US" dirty="0"/>
              <a:t>Conversion From User Defined to Basic</a:t>
            </a:r>
            <a:endParaRPr lang="en-PK" dirty="0"/>
          </a:p>
        </p:txBody>
      </p:sp>
      <p:sp>
        <p:nvSpPr>
          <p:cNvPr id="3" name="Content Placeholder 2">
            <a:extLst>
              <a:ext uri="{FF2B5EF4-FFF2-40B4-BE49-F238E27FC236}">
                <a16:creationId xmlns:a16="http://schemas.microsoft.com/office/drawing/2014/main" id="{E2E9D310-25A3-34EC-CAE5-112DF1645996}"/>
              </a:ext>
            </a:extLst>
          </p:cNvPr>
          <p:cNvSpPr>
            <a:spLocks noGrp="1"/>
          </p:cNvSpPr>
          <p:nvPr>
            <p:ph idx="1"/>
          </p:nvPr>
        </p:nvSpPr>
        <p:spPr/>
        <p:txBody>
          <a:bodyPr/>
          <a:lstStyle/>
          <a:p>
            <a:pPr marL="0" indent="0" eaLnBrk="1" hangingPunct="1">
              <a:buNone/>
            </a:pPr>
            <a:r>
              <a:rPr lang="en-US" sz="2800" b="1" dirty="0">
                <a:latin typeface="Consolas" panose="020B0609020204030204" pitchFamily="49" charset="0"/>
              </a:rPr>
              <a:t>int main ( )</a:t>
            </a:r>
          </a:p>
          <a:p>
            <a:pPr marL="0" indent="0" eaLnBrk="1" hangingPunct="1">
              <a:buNone/>
            </a:pPr>
            <a:r>
              <a:rPr lang="en-US" sz="2800" b="1" dirty="0">
                <a:latin typeface="Consolas" panose="020B0609020204030204" pitchFamily="49" charset="0"/>
              </a:rPr>
              <a:t>{</a:t>
            </a:r>
          </a:p>
          <a:p>
            <a:pPr marL="0" indent="0" eaLnBrk="1" hangingPunct="1">
              <a:buNone/>
            </a:pPr>
            <a:r>
              <a:rPr lang="en-US" sz="2800" b="1" dirty="0">
                <a:latin typeface="Consolas" panose="020B0609020204030204" pitchFamily="49" charset="0"/>
              </a:rPr>
              <a:t>	Employee emp1(33.5);</a:t>
            </a:r>
          </a:p>
          <a:p>
            <a:pPr marL="0" indent="0" eaLnBrk="1" hangingPunct="1">
              <a:buNone/>
            </a:pPr>
            <a:endParaRPr lang="en-US" sz="2800" b="1" dirty="0">
              <a:latin typeface="Consolas" panose="020B0609020204030204" pitchFamily="49" charset="0"/>
            </a:endParaRPr>
          </a:p>
          <a:p>
            <a:pPr marL="0" indent="0" eaLnBrk="1" hangingPunct="1">
              <a:buNone/>
            </a:pPr>
            <a:r>
              <a:rPr lang="en-US" sz="2800" b="1" dirty="0">
                <a:latin typeface="Consolas" panose="020B0609020204030204" pitchFamily="49" charset="0"/>
              </a:rPr>
              <a:t>	float value = float(emp1);</a:t>
            </a:r>
          </a:p>
          <a:p>
            <a:pPr marL="0" indent="0" eaLnBrk="1" hangingPunct="1">
              <a:buNone/>
            </a:pPr>
            <a:r>
              <a:rPr lang="en-US" sz="2800" b="1" dirty="0">
                <a:latin typeface="Consolas" panose="020B0609020204030204" pitchFamily="49" charset="0"/>
              </a:rPr>
              <a:t>	</a:t>
            </a:r>
            <a:r>
              <a:rPr lang="en-US" sz="2800" b="1" dirty="0" err="1">
                <a:latin typeface="Consolas" panose="020B0609020204030204" pitchFamily="49" charset="0"/>
              </a:rPr>
              <a:t>cout</a:t>
            </a:r>
            <a:r>
              <a:rPr lang="en-US" sz="2800" b="1" dirty="0">
                <a:latin typeface="Consolas" panose="020B0609020204030204" pitchFamily="49" charset="0"/>
              </a:rPr>
              <a:t> &lt;&lt; value; </a:t>
            </a:r>
            <a:r>
              <a:rPr lang="en-US" sz="2800" b="1" dirty="0">
                <a:solidFill>
                  <a:srgbClr val="00B050"/>
                </a:solidFill>
                <a:latin typeface="Consolas" panose="020B0609020204030204" pitchFamily="49" charset="0"/>
              </a:rPr>
              <a:t>// 33.5	</a:t>
            </a:r>
          </a:p>
          <a:p>
            <a:pPr marL="0" indent="0" eaLnBrk="1" hangingPunct="1">
              <a:buNone/>
            </a:pPr>
            <a:r>
              <a:rPr lang="en-US" sz="2800" b="1" dirty="0">
                <a:latin typeface="Consolas" panose="020B0609020204030204" pitchFamily="49" charset="0"/>
              </a:rPr>
              <a:t>}</a:t>
            </a:r>
          </a:p>
          <a:p>
            <a:pPr marL="0" indent="0">
              <a:buNone/>
            </a:pPr>
            <a:endParaRPr lang="en-PK" dirty="0"/>
          </a:p>
        </p:txBody>
      </p:sp>
      <p:sp>
        <p:nvSpPr>
          <p:cNvPr id="4" name="Footer Placeholder 3">
            <a:extLst>
              <a:ext uri="{FF2B5EF4-FFF2-40B4-BE49-F238E27FC236}">
                <a16:creationId xmlns:a16="http://schemas.microsoft.com/office/drawing/2014/main" id="{FB80FD94-9271-C640-C72E-FAE161D99640}"/>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3FFE951C-5496-DCEB-6AD6-598821AAE224}"/>
              </a:ext>
            </a:extLst>
          </p:cNvPr>
          <p:cNvSpPr>
            <a:spLocks noGrp="1"/>
          </p:cNvSpPr>
          <p:nvPr>
            <p:ph type="sldNum" sz="quarter" idx="12"/>
          </p:nvPr>
        </p:nvSpPr>
        <p:spPr/>
        <p:txBody>
          <a:bodyPr/>
          <a:lstStyle/>
          <a:p>
            <a:fld id="{51845F5A-061D-4825-9AE9-D7794091C6CF}" type="slidenum">
              <a:rPr lang="en-US" smtClean="0"/>
              <a:t>88</a:t>
            </a:fld>
            <a:endParaRPr lang="en-US" dirty="0"/>
          </a:p>
        </p:txBody>
      </p:sp>
    </p:spTree>
    <p:extLst>
      <p:ext uri="{BB962C8B-B14F-4D97-AF65-F5344CB8AC3E}">
        <p14:creationId xmlns:p14="http://schemas.microsoft.com/office/powerpoint/2010/main" val="22794961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A7691-3638-0CC4-E859-D4C39C897877}"/>
              </a:ext>
            </a:extLst>
          </p:cNvPr>
          <p:cNvSpPr>
            <a:spLocks noGrp="1"/>
          </p:cNvSpPr>
          <p:nvPr>
            <p:ph type="title"/>
          </p:nvPr>
        </p:nvSpPr>
        <p:spPr/>
        <p:txBody>
          <a:bodyPr/>
          <a:lstStyle/>
          <a:p>
            <a:r>
              <a:rPr lang="en-US" dirty="0"/>
              <a:t>Conversion between Objects of Different Classes</a:t>
            </a:r>
            <a:endParaRPr lang="en-PK" dirty="0"/>
          </a:p>
        </p:txBody>
      </p:sp>
      <p:sp>
        <p:nvSpPr>
          <p:cNvPr id="3" name="Content Placeholder 2">
            <a:extLst>
              <a:ext uri="{FF2B5EF4-FFF2-40B4-BE49-F238E27FC236}">
                <a16:creationId xmlns:a16="http://schemas.microsoft.com/office/drawing/2014/main" id="{F5FB3A42-DB10-853F-661B-B648A90163C5}"/>
              </a:ext>
            </a:extLst>
          </p:cNvPr>
          <p:cNvSpPr>
            <a:spLocks noGrp="1"/>
          </p:cNvSpPr>
          <p:nvPr>
            <p:ph idx="1"/>
          </p:nvPr>
        </p:nvSpPr>
        <p:spPr/>
        <p:txBody>
          <a:bodyPr/>
          <a:lstStyle/>
          <a:p>
            <a:r>
              <a:rPr lang="en-US" dirty="0"/>
              <a:t>Both methods shown before can be applied to conversion between objects </a:t>
            </a:r>
          </a:p>
          <a:p>
            <a:pPr marL="914400" lvl="1" indent="-457200">
              <a:buFont typeface="+mj-lt"/>
              <a:buAutoNum type="arabicPeriod"/>
            </a:pPr>
            <a:r>
              <a:rPr lang="en-US" dirty="0"/>
              <a:t>one argument constructor</a:t>
            </a:r>
          </a:p>
          <a:p>
            <a:pPr marL="914400" lvl="1" indent="-457200">
              <a:buFont typeface="+mj-lt"/>
              <a:buAutoNum type="arabicPeriod"/>
            </a:pPr>
            <a:r>
              <a:rPr lang="en-US" dirty="0"/>
              <a:t>conversion function</a:t>
            </a:r>
          </a:p>
          <a:p>
            <a:endParaRPr lang="en-PK" dirty="0"/>
          </a:p>
        </p:txBody>
      </p:sp>
      <p:sp>
        <p:nvSpPr>
          <p:cNvPr id="4" name="Footer Placeholder 3">
            <a:extLst>
              <a:ext uri="{FF2B5EF4-FFF2-40B4-BE49-F238E27FC236}">
                <a16:creationId xmlns:a16="http://schemas.microsoft.com/office/drawing/2014/main" id="{B2733675-50E6-A365-A160-F178646710E7}"/>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6522051C-1EF4-7AB6-20AE-A50029AF66B1}"/>
              </a:ext>
            </a:extLst>
          </p:cNvPr>
          <p:cNvSpPr>
            <a:spLocks noGrp="1"/>
          </p:cNvSpPr>
          <p:nvPr>
            <p:ph type="sldNum" sz="quarter" idx="12"/>
          </p:nvPr>
        </p:nvSpPr>
        <p:spPr/>
        <p:txBody>
          <a:bodyPr/>
          <a:lstStyle/>
          <a:p>
            <a:fld id="{51845F5A-061D-4825-9AE9-D7794091C6CF}" type="slidenum">
              <a:rPr lang="en-US" smtClean="0"/>
              <a:t>89</a:t>
            </a:fld>
            <a:endParaRPr lang="en-US" dirty="0"/>
          </a:p>
        </p:txBody>
      </p:sp>
    </p:spTree>
    <p:extLst>
      <p:ext uri="{BB962C8B-B14F-4D97-AF65-F5344CB8AC3E}">
        <p14:creationId xmlns:p14="http://schemas.microsoft.com/office/powerpoint/2010/main" val="19587782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E3139-7C08-E1F2-6791-E1F21D0FE6B8}"/>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5578E04E-73CF-5996-FC10-D6B57941E2C6}"/>
              </a:ext>
            </a:extLst>
          </p:cNvPr>
          <p:cNvSpPr>
            <a:spLocks noGrp="1"/>
          </p:cNvSpPr>
          <p:nvPr>
            <p:ph idx="1"/>
          </p:nvPr>
        </p:nvSpPr>
        <p:spPr/>
        <p:txBody>
          <a:bodyPr>
            <a:normAutofit fontScale="85000" lnSpcReduction="20000"/>
          </a:bodyPr>
          <a:lstStyle/>
          <a:p>
            <a:r>
              <a:rPr lang="en-US" dirty="0"/>
              <a:t>There are two classes, Polar and Rec.</a:t>
            </a:r>
          </a:p>
          <a:p>
            <a:pPr marL="0" indent="0">
              <a:buNone/>
            </a:pPr>
            <a:endParaRPr lang="en-US" dirty="0"/>
          </a:p>
          <a:p>
            <a:r>
              <a:rPr lang="en-US" dirty="0"/>
              <a:t>We want to be able to convert an object of type Polar to an object of type Rec.</a:t>
            </a:r>
          </a:p>
          <a:p>
            <a:pPr marL="0" indent="0">
              <a:buNone/>
            </a:pPr>
            <a:endParaRPr lang="en-US" dirty="0"/>
          </a:p>
          <a:p>
            <a:pPr marL="0" indent="0">
              <a:buNone/>
            </a:pPr>
            <a:r>
              <a:rPr lang="en-US" dirty="0">
                <a:latin typeface="Consolas" panose="020B0609020204030204" pitchFamily="49" charset="0"/>
              </a:rPr>
              <a:t>	Rec </a:t>
            </a:r>
            <a:r>
              <a:rPr lang="en-US" dirty="0" err="1">
                <a:latin typeface="Consolas" panose="020B0609020204030204" pitchFamily="49" charset="0"/>
              </a:rPr>
              <a:t>rec</a:t>
            </a:r>
            <a:r>
              <a:rPr lang="en-US" dirty="0">
                <a:latin typeface="Consolas" panose="020B0609020204030204" pitchFamily="49" charset="0"/>
              </a:rPr>
              <a:t>;</a:t>
            </a:r>
          </a:p>
          <a:p>
            <a:pPr marL="0" indent="0">
              <a:buNone/>
            </a:pPr>
            <a:r>
              <a:rPr lang="en-US" dirty="0">
                <a:latin typeface="Consolas" panose="020B0609020204030204" pitchFamily="49" charset="0"/>
              </a:rPr>
              <a:t>	Polar pol;</a:t>
            </a:r>
          </a:p>
          <a:p>
            <a:pPr marL="0" indent="0">
              <a:buNone/>
            </a:pPr>
            <a:r>
              <a:rPr lang="en-US" b="1" i="1" dirty="0">
                <a:solidFill>
                  <a:srgbClr val="FF0000"/>
                </a:solidFill>
                <a:latin typeface="Consolas" panose="020B0609020204030204" pitchFamily="49" charset="0"/>
              </a:rPr>
              <a:t>	rec = pol;</a:t>
            </a:r>
          </a:p>
          <a:p>
            <a:pPr marL="0" indent="0">
              <a:buNone/>
            </a:pPr>
            <a:r>
              <a:rPr lang="en-US" dirty="0"/>
              <a:t> 	</a:t>
            </a:r>
          </a:p>
          <a:p>
            <a:pPr marL="0" indent="0">
              <a:buNone/>
            </a:pPr>
            <a:r>
              <a:rPr lang="en-US" dirty="0"/>
              <a:t>	</a:t>
            </a:r>
            <a:r>
              <a:rPr lang="en-US" i="1" dirty="0">
                <a:solidFill>
                  <a:srgbClr val="0070C0"/>
                </a:solidFill>
              </a:rPr>
              <a:t>provide one argument constructor in class Rec.</a:t>
            </a:r>
          </a:p>
        </p:txBody>
      </p:sp>
      <p:sp>
        <p:nvSpPr>
          <p:cNvPr id="4" name="Footer Placeholder 3">
            <a:extLst>
              <a:ext uri="{FF2B5EF4-FFF2-40B4-BE49-F238E27FC236}">
                <a16:creationId xmlns:a16="http://schemas.microsoft.com/office/drawing/2014/main" id="{2F9735C2-18AA-6EEF-F058-CDCC56DB4859}"/>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201E5B38-EA03-E2AC-D176-9E70614E71F9}"/>
              </a:ext>
            </a:extLst>
          </p:cNvPr>
          <p:cNvSpPr>
            <a:spLocks noGrp="1"/>
          </p:cNvSpPr>
          <p:nvPr>
            <p:ph type="sldNum" sz="quarter" idx="12"/>
          </p:nvPr>
        </p:nvSpPr>
        <p:spPr/>
        <p:txBody>
          <a:bodyPr/>
          <a:lstStyle/>
          <a:p>
            <a:fld id="{51845F5A-061D-4825-9AE9-D7794091C6CF}" type="slidenum">
              <a:rPr lang="en-US" smtClean="0"/>
              <a:t>90</a:t>
            </a:fld>
            <a:endParaRPr lang="en-US" dirty="0"/>
          </a:p>
        </p:txBody>
      </p:sp>
    </p:spTree>
    <p:extLst>
      <p:ext uri="{BB962C8B-B14F-4D97-AF65-F5344CB8AC3E}">
        <p14:creationId xmlns:p14="http://schemas.microsoft.com/office/powerpoint/2010/main" val="35351945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DA90E-98F2-F06D-F498-F34B80B681B4}"/>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EC95D007-99ED-4929-FCD1-AA0B41825529}"/>
              </a:ext>
            </a:extLst>
          </p:cNvPr>
          <p:cNvSpPr>
            <a:spLocks noGrp="1"/>
          </p:cNvSpPr>
          <p:nvPr>
            <p:ph idx="1"/>
          </p:nvPr>
        </p:nvSpPr>
        <p:spPr/>
        <p:txBody>
          <a:bodyPr>
            <a:normAutofit fontScale="92500" lnSpcReduction="20000"/>
          </a:bodyPr>
          <a:lstStyle/>
          <a:p>
            <a:pPr marL="0" indent="0">
              <a:buNone/>
            </a:pPr>
            <a:r>
              <a:rPr lang="en-US" b="1" dirty="0">
                <a:latin typeface="Consolas" panose="020B0609020204030204" pitchFamily="49" charset="0"/>
              </a:rPr>
              <a:t>Rec(</a:t>
            </a:r>
            <a:r>
              <a:rPr lang="en-US" b="1" dirty="0">
                <a:solidFill>
                  <a:srgbClr val="0070C0"/>
                </a:solidFill>
                <a:latin typeface="Consolas" panose="020B0609020204030204" pitchFamily="49" charset="0"/>
              </a:rPr>
              <a:t>Polar p</a:t>
            </a:r>
            <a:r>
              <a:rPr lang="en-US" b="1" dirty="0">
                <a:latin typeface="Consolas" panose="020B0609020204030204" pitchFamily="49" charset="0"/>
              </a:rPr>
              <a:t>){</a:t>
            </a:r>
          </a:p>
          <a:p>
            <a:pPr marL="0" indent="0">
              <a:buNone/>
            </a:pPr>
            <a:r>
              <a:rPr lang="en-US" dirty="0"/>
              <a:t>   //process p</a:t>
            </a:r>
            <a:r>
              <a:rPr lang="ja-JP" altLang="en-US" dirty="0"/>
              <a:t>’</a:t>
            </a:r>
            <a:r>
              <a:rPr lang="en-US" altLang="ja-JP" dirty="0"/>
              <a:t>s data and convert(assign)   	</a:t>
            </a:r>
          </a:p>
          <a:p>
            <a:pPr marL="0" indent="0">
              <a:buNone/>
            </a:pPr>
            <a:r>
              <a:rPr lang="en-US" altLang="ja-JP" dirty="0"/>
              <a:t>   //it into object Rec.</a:t>
            </a:r>
          </a:p>
          <a:p>
            <a:pPr marL="0" indent="0">
              <a:buNone/>
            </a:pPr>
            <a:r>
              <a:rPr lang="en-US" dirty="0">
                <a:latin typeface="Consolas" panose="020B0609020204030204" pitchFamily="49" charset="0"/>
              </a:rPr>
              <a:t>}</a:t>
            </a:r>
          </a:p>
          <a:p>
            <a:pPr marL="0" indent="0">
              <a:buNone/>
            </a:pPr>
            <a:endParaRPr lang="en-US" dirty="0"/>
          </a:p>
          <a:p>
            <a:pPr marL="0" indent="0">
              <a:buNone/>
            </a:pPr>
            <a:r>
              <a:rPr lang="en-US" dirty="0"/>
              <a:t>  </a:t>
            </a:r>
            <a:r>
              <a:rPr lang="en-US" dirty="0">
                <a:latin typeface="Consolas" panose="020B0609020204030204" pitchFamily="49" charset="0"/>
              </a:rPr>
              <a:t>rec = pol;</a:t>
            </a:r>
          </a:p>
          <a:p>
            <a:pPr marL="0" indent="0">
              <a:buNone/>
            </a:pPr>
            <a:endParaRPr lang="en-US" dirty="0">
              <a:latin typeface="Consolas" panose="020B0609020204030204" pitchFamily="49" charset="0"/>
            </a:endParaRPr>
          </a:p>
          <a:p>
            <a:pPr marL="0" indent="0">
              <a:buNone/>
            </a:pPr>
            <a:r>
              <a:rPr lang="en-US" dirty="0"/>
              <a:t> </a:t>
            </a:r>
            <a:r>
              <a:rPr lang="en-US" dirty="0">
                <a:solidFill>
                  <a:srgbClr val="00B050"/>
                </a:solidFill>
              </a:rPr>
              <a:t>/*one argument constructor will be called to perform the conversion*/</a:t>
            </a:r>
          </a:p>
          <a:p>
            <a:pPr marL="0" indent="0">
              <a:buNone/>
            </a:pPr>
            <a:endParaRPr lang="en-PK" dirty="0"/>
          </a:p>
        </p:txBody>
      </p:sp>
      <p:sp>
        <p:nvSpPr>
          <p:cNvPr id="4" name="Footer Placeholder 3">
            <a:extLst>
              <a:ext uri="{FF2B5EF4-FFF2-40B4-BE49-F238E27FC236}">
                <a16:creationId xmlns:a16="http://schemas.microsoft.com/office/drawing/2014/main" id="{381D77D5-EABE-8801-4B40-B7A14326E541}"/>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6A37A731-9B86-D0F8-5718-F7A1EA5F0ACF}"/>
              </a:ext>
            </a:extLst>
          </p:cNvPr>
          <p:cNvSpPr>
            <a:spLocks noGrp="1"/>
          </p:cNvSpPr>
          <p:nvPr>
            <p:ph type="sldNum" sz="quarter" idx="12"/>
          </p:nvPr>
        </p:nvSpPr>
        <p:spPr/>
        <p:txBody>
          <a:bodyPr/>
          <a:lstStyle/>
          <a:p>
            <a:fld id="{51845F5A-061D-4825-9AE9-D7794091C6CF}" type="slidenum">
              <a:rPr lang="en-US" smtClean="0"/>
              <a:t>91</a:t>
            </a:fld>
            <a:endParaRPr lang="en-US" dirty="0"/>
          </a:p>
        </p:txBody>
      </p:sp>
    </p:spTree>
    <p:extLst>
      <p:ext uri="{BB962C8B-B14F-4D97-AF65-F5344CB8AC3E}">
        <p14:creationId xmlns:p14="http://schemas.microsoft.com/office/powerpoint/2010/main" val="36845675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91BB-313F-6A70-E086-42EBC3A1BA6C}"/>
              </a:ext>
            </a:extLst>
          </p:cNvPr>
          <p:cNvSpPr>
            <a:spLocks noGrp="1"/>
          </p:cNvSpPr>
          <p:nvPr>
            <p:ph type="title"/>
          </p:nvPr>
        </p:nvSpPr>
        <p:spPr/>
        <p:txBody>
          <a:bodyPr/>
          <a:lstStyle/>
          <a:p>
            <a:r>
              <a:rPr lang="en-US" dirty="0"/>
              <a:t>Consequences of Operator Overloading and Conversion</a:t>
            </a:r>
            <a:endParaRPr lang="en-PK" dirty="0"/>
          </a:p>
        </p:txBody>
      </p:sp>
      <p:sp>
        <p:nvSpPr>
          <p:cNvPr id="3" name="Content Placeholder 2">
            <a:extLst>
              <a:ext uri="{FF2B5EF4-FFF2-40B4-BE49-F238E27FC236}">
                <a16:creationId xmlns:a16="http://schemas.microsoft.com/office/drawing/2014/main" id="{FB5FBB8A-9CD2-E38A-09BC-941146689C2D}"/>
              </a:ext>
            </a:extLst>
          </p:cNvPr>
          <p:cNvSpPr>
            <a:spLocks noGrp="1"/>
          </p:cNvSpPr>
          <p:nvPr>
            <p:ph idx="1"/>
          </p:nvPr>
        </p:nvSpPr>
        <p:spPr/>
        <p:txBody>
          <a:bodyPr>
            <a:normAutofit lnSpcReduction="10000"/>
          </a:bodyPr>
          <a:lstStyle/>
          <a:p>
            <a:pPr algn="just"/>
            <a:r>
              <a:rPr lang="en-US" dirty="0"/>
              <a:t>With the help of Operator overloading we can create entirely new language.</a:t>
            </a:r>
          </a:p>
          <a:p>
            <a:pPr algn="just"/>
            <a:endParaRPr lang="en-US" dirty="0"/>
          </a:p>
          <a:p>
            <a:pPr algn="just"/>
            <a:r>
              <a:rPr lang="en-US" dirty="0"/>
              <a:t>For example for a = b + c we can implement a new methodology on user-defined types.</a:t>
            </a:r>
          </a:p>
          <a:p>
            <a:pPr algn="just"/>
            <a:endParaRPr lang="en-US" dirty="0"/>
          </a:p>
          <a:p>
            <a:pPr algn="just"/>
            <a:r>
              <a:rPr lang="en-US" dirty="0"/>
              <a:t>But </a:t>
            </a:r>
            <a:r>
              <a:rPr lang="en-US" dirty="0">
                <a:solidFill>
                  <a:srgbClr val="0070C0"/>
                </a:solidFill>
              </a:rPr>
              <a:t>care should be taken </a:t>
            </a:r>
            <a:r>
              <a:rPr lang="en-US" dirty="0"/>
              <a:t>as doing something different than native data types could make your code hard to read and understand</a:t>
            </a:r>
          </a:p>
        </p:txBody>
      </p:sp>
      <p:sp>
        <p:nvSpPr>
          <p:cNvPr id="4" name="Footer Placeholder 3">
            <a:extLst>
              <a:ext uri="{FF2B5EF4-FFF2-40B4-BE49-F238E27FC236}">
                <a16:creationId xmlns:a16="http://schemas.microsoft.com/office/drawing/2014/main" id="{33E1959C-CB20-3ECD-41ED-8139A661F917}"/>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CA4D88C0-5773-1BA8-1990-365804292528}"/>
              </a:ext>
            </a:extLst>
          </p:cNvPr>
          <p:cNvSpPr>
            <a:spLocks noGrp="1"/>
          </p:cNvSpPr>
          <p:nvPr>
            <p:ph type="sldNum" sz="quarter" idx="12"/>
          </p:nvPr>
        </p:nvSpPr>
        <p:spPr/>
        <p:txBody>
          <a:bodyPr/>
          <a:lstStyle/>
          <a:p>
            <a:fld id="{51845F5A-061D-4825-9AE9-D7794091C6CF}" type="slidenum">
              <a:rPr lang="en-US" smtClean="0"/>
              <a:t>92</a:t>
            </a:fld>
            <a:endParaRPr lang="en-US" dirty="0"/>
          </a:p>
        </p:txBody>
      </p:sp>
    </p:spTree>
    <p:extLst>
      <p:ext uri="{BB962C8B-B14F-4D97-AF65-F5344CB8AC3E}">
        <p14:creationId xmlns:p14="http://schemas.microsoft.com/office/powerpoint/2010/main" val="29609490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430F-AD33-C155-999B-D6ABF2D38A56}"/>
              </a:ext>
            </a:extLst>
          </p:cNvPr>
          <p:cNvSpPr>
            <a:spLocks noGrp="1"/>
          </p:cNvSpPr>
          <p:nvPr>
            <p:ph type="title"/>
          </p:nvPr>
        </p:nvSpPr>
        <p:spPr/>
        <p:txBody>
          <a:bodyPr/>
          <a:lstStyle/>
          <a:p>
            <a:r>
              <a:rPr lang="en-US" dirty="0"/>
              <a:t>Show Restraint </a:t>
            </a:r>
            <a:endParaRPr lang="en-PK" dirty="0"/>
          </a:p>
        </p:txBody>
      </p:sp>
      <p:sp>
        <p:nvSpPr>
          <p:cNvPr id="3" name="Content Placeholder 2">
            <a:extLst>
              <a:ext uri="{FF2B5EF4-FFF2-40B4-BE49-F238E27FC236}">
                <a16:creationId xmlns:a16="http://schemas.microsoft.com/office/drawing/2014/main" id="{24EF1E5E-365B-C0AA-3E54-8B00BF7B3AD7}"/>
              </a:ext>
            </a:extLst>
          </p:cNvPr>
          <p:cNvSpPr>
            <a:spLocks noGrp="1"/>
          </p:cNvSpPr>
          <p:nvPr>
            <p:ph idx="1"/>
          </p:nvPr>
        </p:nvSpPr>
        <p:spPr/>
        <p:txBody>
          <a:bodyPr/>
          <a:lstStyle/>
          <a:p>
            <a:pPr algn="just"/>
            <a:r>
              <a:rPr lang="en-US" dirty="0"/>
              <a:t>Make sure that user of your class will easily know the purpose of overloading an operator.</a:t>
            </a:r>
          </a:p>
          <a:p>
            <a:pPr algn="just"/>
            <a:endParaRPr lang="en-US" dirty="0"/>
          </a:p>
          <a:p>
            <a:pPr algn="just"/>
            <a:r>
              <a:rPr lang="en-US" dirty="0"/>
              <a:t>Sometimes it make more sense to use functions, as their names may suggest what they are to perform.</a:t>
            </a:r>
          </a:p>
          <a:p>
            <a:pPr algn="just"/>
            <a:endParaRPr lang="en-US" dirty="0"/>
          </a:p>
          <a:p>
            <a:pPr algn="just"/>
            <a:r>
              <a:rPr lang="en-US" dirty="0"/>
              <a:t>Use overloaded operator </a:t>
            </a:r>
            <a:r>
              <a:rPr lang="en-US" b="1" i="1" dirty="0">
                <a:solidFill>
                  <a:srgbClr val="0070C0"/>
                </a:solidFill>
              </a:rPr>
              <a:t>cautiously </a:t>
            </a:r>
            <a:r>
              <a:rPr lang="en-US" dirty="0"/>
              <a:t>and only when the </a:t>
            </a:r>
            <a:r>
              <a:rPr lang="en-US" b="1" i="1" dirty="0">
                <a:solidFill>
                  <a:srgbClr val="0070C0"/>
                </a:solidFill>
              </a:rPr>
              <a:t>usage is obvious.</a:t>
            </a:r>
          </a:p>
        </p:txBody>
      </p:sp>
      <p:sp>
        <p:nvSpPr>
          <p:cNvPr id="4" name="Footer Placeholder 3">
            <a:extLst>
              <a:ext uri="{FF2B5EF4-FFF2-40B4-BE49-F238E27FC236}">
                <a16:creationId xmlns:a16="http://schemas.microsoft.com/office/drawing/2014/main" id="{E9178917-4DB1-DE75-E7E1-A0DF72CEE0FF}"/>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F1C5E9B9-CBCA-411D-BCA3-1710D1F9B81F}"/>
              </a:ext>
            </a:extLst>
          </p:cNvPr>
          <p:cNvSpPr>
            <a:spLocks noGrp="1"/>
          </p:cNvSpPr>
          <p:nvPr>
            <p:ph type="sldNum" sz="quarter" idx="12"/>
          </p:nvPr>
        </p:nvSpPr>
        <p:spPr/>
        <p:txBody>
          <a:bodyPr/>
          <a:lstStyle/>
          <a:p>
            <a:fld id="{51845F5A-061D-4825-9AE9-D7794091C6CF}" type="slidenum">
              <a:rPr lang="en-US" smtClean="0"/>
              <a:t>93</a:t>
            </a:fld>
            <a:endParaRPr lang="en-US" dirty="0"/>
          </a:p>
        </p:txBody>
      </p:sp>
    </p:spTree>
    <p:extLst>
      <p:ext uri="{BB962C8B-B14F-4D97-AF65-F5344CB8AC3E}">
        <p14:creationId xmlns:p14="http://schemas.microsoft.com/office/powerpoint/2010/main" val="15269092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E272C-CDB3-43AB-57EF-0807B424B28D}"/>
              </a:ext>
            </a:extLst>
          </p:cNvPr>
          <p:cNvSpPr>
            <a:spLocks noGrp="1"/>
          </p:cNvSpPr>
          <p:nvPr>
            <p:ph type="title"/>
          </p:nvPr>
        </p:nvSpPr>
        <p:spPr/>
        <p:txBody>
          <a:bodyPr/>
          <a:lstStyle/>
          <a:p>
            <a:r>
              <a:rPr lang="en-US" dirty="0"/>
              <a:t>String Library</a:t>
            </a:r>
            <a:endParaRPr lang="en-PK" dirty="0"/>
          </a:p>
        </p:txBody>
      </p:sp>
      <p:sp>
        <p:nvSpPr>
          <p:cNvPr id="3" name="Content Placeholder 2">
            <a:extLst>
              <a:ext uri="{FF2B5EF4-FFF2-40B4-BE49-F238E27FC236}">
                <a16:creationId xmlns:a16="http://schemas.microsoft.com/office/drawing/2014/main" id="{A5942937-A3C7-88CB-4144-45B5C7DD0484}"/>
              </a:ext>
            </a:extLst>
          </p:cNvPr>
          <p:cNvSpPr>
            <a:spLocks noGrp="1"/>
          </p:cNvSpPr>
          <p:nvPr>
            <p:ph idx="1"/>
          </p:nvPr>
        </p:nvSpPr>
        <p:spPr/>
        <p:txBody>
          <a:bodyPr/>
          <a:lstStyle/>
          <a:p>
            <a:r>
              <a:rPr lang="en-US" dirty="0"/>
              <a:t>We will use operator overloading to build String library</a:t>
            </a:r>
          </a:p>
          <a:p>
            <a:endParaRPr lang="en-US" dirty="0"/>
          </a:p>
          <a:p>
            <a:r>
              <a:rPr lang="en-US" dirty="0"/>
              <a:t>Overloaded Operators</a:t>
            </a:r>
          </a:p>
          <a:p>
            <a:pPr lvl="1"/>
            <a:r>
              <a:rPr lang="en-US" dirty="0"/>
              <a:t>= (for text assignment)</a:t>
            </a:r>
          </a:p>
          <a:p>
            <a:pPr lvl="1"/>
            <a:r>
              <a:rPr lang="en-US" dirty="0"/>
              <a:t>== (for comparison between two strings)</a:t>
            </a:r>
          </a:p>
          <a:p>
            <a:pPr lvl="1"/>
            <a:r>
              <a:rPr lang="en-US" dirty="0" err="1"/>
              <a:t>ostream</a:t>
            </a:r>
            <a:r>
              <a:rPr lang="en-US" dirty="0"/>
              <a:t> and </a:t>
            </a:r>
            <a:r>
              <a:rPr lang="en-US" dirty="0" err="1"/>
              <a:t>istream</a:t>
            </a:r>
            <a:r>
              <a:rPr lang="en-US" dirty="0"/>
              <a:t> (for </a:t>
            </a:r>
            <a:r>
              <a:rPr lang="en-US" dirty="0" err="1"/>
              <a:t>cin</a:t>
            </a:r>
            <a:r>
              <a:rPr lang="en-US" dirty="0"/>
              <a:t> and </a:t>
            </a:r>
            <a:r>
              <a:rPr lang="en-US" dirty="0" err="1"/>
              <a:t>cout</a:t>
            </a:r>
            <a:r>
              <a:rPr lang="en-US" dirty="0"/>
              <a:t>)</a:t>
            </a:r>
          </a:p>
          <a:p>
            <a:pPr lvl="1"/>
            <a:r>
              <a:rPr lang="en-US" dirty="0"/>
              <a:t>+ (for adding two strings)</a:t>
            </a:r>
          </a:p>
          <a:p>
            <a:pPr lvl="1"/>
            <a:r>
              <a:rPr lang="en-US" dirty="0"/>
              <a:t>[ ] (for retrieving or changing single character in string) </a:t>
            </a:r>
          </a:p>
        </p:txBody>
      </p:sp>
      <p:sp>
        <p:nvSpPr>
          <p:cNvPr id="4" name="Footer Placeholder 3">
            <a:extLst>
              <a:ext uri="{FF2B5EF4-FFF2-40B4-BE49-F238E27FC236}">
                <a16:creationId xmlns:a16="http://schemas.microsoft.com/office/drawing/2014/main" id="{4A96F41F-6524-59F5-5EB8-715E05AE3209}"/>
              </a:ext>
            </a:extLst>
          </p:cNvPr>
          <p:cNvSpPr>
            <a:spLocks noGrp="1"/>
          </p:cNvSpPr>
          <p:nvPr>
            <p:ph type="ftr" sz="quarter" idx="11"/>
          </p:nvPr>
        </p:nvSpPr>
        <p:spPr/>
        <p:txBody>
          <a:bodyPr/>
          <a:lstStyle/>
          <a:p>
            <a:r>
              <a:rPr lang="en-US"/>
              <a:t>Object Oriented Programming-Spring 24</a:t>
            </a:r>
            <a:endParaRPr lang="en-US" dirty="0"/>
          </a:p>
        </p:txBody>
      </p:sp>
      <p:sp>
        <p:nvSpPr>
          <p:cNvPr id="5" name="Slide Number Placeholder 4">
            <a:extLst>
              <a:ext uri="{FF2B5EF4-FFF2-40B4-BE49-F238E27FC236}">
                <a16:creationId xmlns:a16="http://schemas.microsoft.com/office/drawing/2014/main" id="{336FDBE1-185A-6A7C-84E1-65F76E4D1714}"/>
              </a:ext>
            </a:extLst>
          </p:cNvPr>
          <p:cNvSpPr>
            <a:spLocks noGrp="1"/>
          </p:cNvSpPr>
          <p:nvPr>
            <p:ph type="sldNum" sz="quarter" idx="12"/>
          </p:nvPr>
        </p:nvSpPr>
        <p:spPr/>
        <p:txBody>
          <a:bodyPr/>
          <a:lstStyle/>
          <a:p>
            <a:fld id="{51845F5A-061D-4825-9AE9-D7794091C6CF}" type="slidenum">
              <a:rPr lang="en-US" smtClean="0"/>
              <a:t>94</a:t>
            </a:fld>
            <a:endParaRPr lang="en-US" dirty="0"/>
          </a:p>
        </p:txBody>
      </p:sp>
    </p:spTree>
    <p:extLst>
      <p:ext uri="{BB962C8B-B14F-4D97-AF65-F5344CB8AC3E}">
        <p14:creationId xmlns:p14="http://schemas.microsoft.com/office/powerpoint/2010/main" val="42081154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dirty="0"/>
              <a:t>String Library</a:t>
            </a:r>
          </a:p>
        </p:txBody>
      </p:sp>
      <p:sp>
        <p:nvSpPr>
          <p:cNvPr id="39939" name="Rectangle 3"/>
          <p:cNvSpPr>
            <a:spLocks noGrp="1" noChangeArrowheads="1"/>
          </p:cNvSpPr>
          <p:nvPr>
            <p:ph idx="1"/>
          </p:nvPr>
        </p:nvSpPr>
        <p:spPr>
          <a:xfrm>
            <a:off x="838200" y="1737043"/>
            <a:ext cx="10515600" cy="4812030"/>
          </a:xfrm>
        </p:spPr>
        <p:txBody>
          <a:bodyPr>
            <a:normAutofit fontScale="92500" lnSpcReduction="10000"/>
          </a:bodyPr>
          <a:lstStyle/>
          <a:p>
            <a:pPr marL="0" indent="0">
              <a:lnSpc>
                <a:spcPct val="120000"/>
              </a:lnSpc>
              <a:spcBef>
                <a:spcPts val="0"/>
              </a:spcBef>
              <a:buNone/>
            </a:pPr>
            <a:r>
              <a:rPr lang="en-US" sz="1400" b="1" dirty="0"/>
              <a:t>class String</a:t>
            </a:r>
          </a:p>
          <a:p>
            <a:pPr marL="0" indent="0">
              <a:lnSpc>
                <a:spcPct val="120000"/>
              </a:lnSpc>
              <a:spcBef>
                <a:spcPts val="0"/>
              </a:spcBef>
              <a:buNone/>
            </a:pPr>
            <a:r>
              <a:rPr lang="en-US" sz="1400" b="1" dirty="0"/>
              <a:t>{</a:t>
            </a:r>
          </a:p>
          <a:p>
            <a:pPr marL="0" indent="0">
              <a:lnSpc>
                <a:spcPct val="120000"/>
              </a:lnSpc>
              <a:spcBef>
                <a:spcPts val="0"/>
              </a:spcBef>
              <a:buNone/>
            </a:pPr>
            <a:r>
              <a:rPr lang="en-US" sz="1400" b="1" dirty="0"/>
              <a:t>	private:</a:t>
            </a:r>
          </a:p>
          <a:p>
            <a:pPr marL="0" indent="0">
              <a:lnSpc>
                <a:spcPct val="120000"/>
              </a:lnSpc>
              <a:spcBef>
                <a:spcPts val="0"/>
              </a:spcBef>
              <a:buNone/>
            </a:pPr>
            <a:r>
              <a:rPr lang="en-US" sz="1400" b="1" dirty="0"/>
              <a:t>		char *text;</a:t>
            </a:r>
          </a:p>
          <a:p>
            <a:pPr marL="0" indent="0">
              <a:lnSpc>
                <a:spcPct val="120000"/>
              </a:lnSpc>
              <a:spcBef>
                <a:spcPts val="0"/>
              </a:spcBef>
              <a:buNone/>
            </a:pPr>
            <a:r>
              <a:rPr lang="en-US" sz="1400" b="1" dirty="0"/>
              <a:t>	public:</a:t>
            </a:r>
          </a:p>
          <a:p>
            <a:pPr marL="0" indent="0">
              <a:lnSpc>
                <a:spcPct val="120000"/>
              </a:lnSpc>
              <a:spcBef>
                <a:spcPts val="0"/>
              </a:spcBef>
              <a:buNone/>
            </a:pPr>
            <a:r>
              <a:rPr lang="en-US" sz="1400" b="1" dirty="0"/>
              <a:t>	String(char *str)</a:t>
            </a:r>
          </a:p>
          <a:p>
            <a:pPr marL="0" indent="0">
              <a:lnSpc>
                <a:spcPct val="120000"/>
              </a:lnSpc>
              <a:spcBef>
                <a:spcPts val="0"/>
              </a:spcBef>
              <a:buNone/>
            </a:pPr>
            <a:r>
              <a:rPr lang="en-US" sz="1400" b="1" dirty="0"/>
              <a:t>	{		</a:t>
            </a:r>
          </a:p>
          <a:p>
            <a:pPr marL="0" indent="0">
              <a:lnSpc>
                <a:spcPct val="120000"/>
              </a:lnSpc>
              <a:spcBef>
                <a:spcPts val="0"/>
              </a:spcBef>
              <a:buNone/>
            </a:pPr>
            <a:r>
              <a:rPr lang="en-US" sz="1400" b="1" dirty="0"/>
              <a:t>		text = new char[</a:t>
            </a:r>
            <a:r>
              <a:rPr lang="en-US" sz="1400" b="1" dirty="0" err="1"/>
              <a:t>strlen</a:t>
            </a:r>
            <a:r>
              <a:rPr lang="en-US" sz="1400" b="1" dirty="0"/>
              <a:t>(str)];</a:t>
            </a:r>
          </a:p>
          <a:p>
            <a:pPr marL="0" indent="0">
              <a:lnSpc>
                <a:spcPct val="120000"/>
              </a:lnSpc>
              <a:spcBef>
                <a:spcPts val="0"/>
              </a:spcBef>
              <a:buNone/>
            </a:pPr>
            <a:r>
              <a:rPr lang="en-US" sz="1400" b="1" dirty="0"/>
              <a:t>		</a:t>
            </a:r>
            <a:r>
              <a:rPr lang="en-US" sz="1400" b="1" dirty="0" err="1"/>
              <a:t>strcpy</a:t>
            </a:r>
            <a:r>
              <a:rPr lang="en-US" sz="1400" b="1" dirty="0"/>
              <a:t>(</a:t>
            </a:r>
            <a:r>
              <a:rPr lang="en-US" sz="1400" b="1" dirty="0" err="1"/>
              <a:t>text,str</a:t>
            </a:r>
            <a:r>
              <a:rPr lang="en-US" sz="1400" b="1" dirty="0"/>
              <a:t>);</a:t>
            </a:r>
          </a:p>
          <a:p>
            <a:pPr marL="0" indent="0">
              <a:lnSpc>
                <a:spcPct val="120000"/>
              </a:lnSpc>
              <a:spcBef>
                <a:spcPts val="0"/>
              </a:spcBef>
              <a:buNone/>
            </a:pPr>
            <a:r>
              <a:rPr lang="en-US" sz="1400" b="1" dirty="0"/>
              <a:t>	}</a:t>
            </a:r>
          </a:p>
          <a:p>
            <a:pPr marL="0" indent="0">
              <a:lnSpc>
                <a:spcPct val="120000"/>
              </a:lnSpc>
              <a:spcBef>
                <a:spcPts val="0"/>
              </a:spcBef>
              <a:buNone/>
            </a:pPr>
            <a:endParaRPr lang="en-US" sz="1400" b="1" dirty="0"/>
          </a:p>
          <a:p>
            <a:pPr marL="0" indent="0">
              <a:lnSpc>
                <a:spcPct val="120000"/>
              </a:lnSpc>
              <a:spcBef>
                <a:spcPts val="0"/>
              </a:spcBef>
              <a:buNone/>
            </a:pPr>
            <a:r>
              <a:rPr lang="en-US" sz="1400" b="1" dirty="0"/>
              <a:t>	bool operator==(String &amp;str);</a:t>
            </a:r>
          </a:p>
          <a:p>
            <a:pPr marL="0" indent="0">
              <a:lnSpc>
                <a:spcPct val="120000"/>
              </a:lnSpc>
              <a:spcBef>
                <a:spcPts val="0"/>
              </a:spcBef>
              <a:buNone/>
            </a:pPr>
            <a:r>
              <a:rPr lang="en-US" sz="1400" b="1" dirty="0"/>
              <a:t>	bool operator==(char *str);</a:t>
            </a:r>
          </a:p>
          <a:p>
            <a:pPr marL="0" indent="0">
              <a:lnSpc>
                <a:spcPct val="120000"/>
              </a:lnSpc>
              <a:spcBef>
                <a:spcPts val="0"/>
              </a:spcBef>
              <a:buNone/>
            </a:pPr>
            <a:r>
              <a:rPr lang="en-US" sz="1400" b="1" dirty="0"/>
              <a:t>	String&amp; operator+(String &amp;str); </a:t>
            </a:r>
          </a:p>
          <a:p>
            <a:pPr marL="0" indent="0">
              <a:lnSpc>
                <a:spcPct val="120000"/>
              </a:lnSpc>
              <a:spcBef>
                <a:spcPts val="0"/>
              </a:spcBef>
              <a:buNone/>
            </a:pPr>
            <a:r>
              <a:rPr lang="en-US" sz="1400" b="1" dirty="0"/>
              <a:t>	String&amp; operator+(char *str);</a:t>
            </a:r>
          </a:p>
          <a:p>
            <a:pPr marL="0" indent="0">
              <a:lnSpc>
                <a:spcPct val="120000"/>
              </a:lnSpc>
              <a:spcBef>
                <a:spcPts val="0"/>
              </a:spcBef>
              <a:buNone/>
            </a:pPr>
            <a:r>
              <a:rPr lang="en-US" sz="1400" b="1" dirty="0"/>
              <a:t>	void operator= (char *str);</a:t>
            </a:r>
          </a:p>
          <a:p>
            <a:pPr marL="0" indent="0">
              <a:lnSpc>
                <a:spcPct val="120000"/>
              </a:lnSpc>
              <a:spcBef>
                <a:spcPts val="0"/>
              </a:spcBef>
              <a:buNone/>
            </a:pPr>
            <a:r>
              <a:rPr lang="en-US" sz="1400" b="1" dirty="0"/>
              <a:t>	char&amp; operator[] (int Index);</a:t>
            </a:r>
          </a:p>
          <a:p>
            <a:pPr marL="0" indent="0">
              <a:lnSpc>
                <a:spcPct val="120000"/>
              </a:lnSpc>
              <a:spcBef>
                <a:spcPts val="0"/>
              </a:spcBef>
              <a:buNone/>
            </a:pPr>
            <a:r>
              <a:rPr lang="en-US" sz="1400" b="1" dirty="0"/>
              <a:t>	friend </a:t>
            </a:r>
            <a:r>
              <a:rPr lang="en-US" sz="1400" b="1" dirty="0" err="1"/>
              <a:t>ostream</a:t>
            </a:r>
            <a:r>
              <a:rPr lang="en-US" sz="1400" b="1" dirty="0"/>
              <a:t>&amp; operator&lt;&lt;(</a:t>
            </a:r>
            <a:r>
              <a:rPr lang="en-US" sz="1400" b="1" dirty="0" err="1"/>
              <a:t>ostream</a:t>
            </a:r>
            <a:r>
              <a:rPr lang="en-US" sz="1400" b="1" dirty="0"/>
              <a:t> &amp;,String &amp;str);</a:t>
            </a:r>
          </a:p>
          <a:p>
            <a:pPr marL="0" indent="0">
              <a:lnSpc>
                <a:spcPct val="120000"/>
              </a:lnSpc>
              <a:spcBef>
                <a:spcPts val="0"/>
              </a:spcBef>
              <a:buNone/>
            </a:pPr>
            <a:r>
              <a:rPr lang="en-US" sz="1400" b="1" dirty="0"/>
              <a:t>	friend </a:t>
            </a:r>
            <a:r>
              <a:rPr lang="en-US" sz="1400" b="1" dirty="0" err="1"/>
              <a:t>istream</a:t>
            </a:r>
            <a:r>
              <a:rPr lang="en-US" sz="1400" b="1" dirty="0"/>
              <a:t>&amp; operator&gt;&gt;(</a:t>
            </a:r>
            <a:r>
              <a:rPr lang="en-US" sz="1400" b="1" dirty="0" err="1"/>
              <a:t>istream</a:t>
            </a:r>
            <a:r>
              <a:rPr lang="en-US" sz="1400" b="1" dirty="0"/>
              <a:t> &amp;,String &amp;</a:t>
            </a:r>
            <a:r>
              <a:rPr lang="en-US" sz="1400" b="1" dirty="0" err="1"/>
              <a:t>str</a:t>
            </a:r>
            <a:r>
              <a:rPr lang="en-US" sz="1400" b="1" dirty="0"/>
              <a:t>);</a:t>
            </a:r>
          </a:p>
          <a:p>
            <a:pPr marL="0" indent="0">
              <a:lnSpc>
                <a:spcPct val="120000"/>
              </a:lnSpc>
              <a:spcBef>
                <a:spcPts val="0"/>
              </a:spcBef>
              <a:buNone/>
            </a:pPr>
            <a:r>
              <a:rPr lang="en-US" sz="1400" b="1" dirty="0"/>
              <a:t>};</a:t>
            </a:r>
          </a:p>
        </p:txBody>
      </p:sp>
      <p:sp>
        <p:nvSpPr>
          <p:cNvPr id="2" name="Slide Number Placeholder 1">
            <a:extLst>
              <a:ext uri="{FF2B5EF4-FFF2-40B4-BE49-F238E27FC236}">
                <a16:creationId xmlns:a16="http://schemas.microsoft.com/office/drawing/2014/main" id="{98E89C78-C0E1-4D3C-B5B4-BA7DA1C59E24}"/>
              </a:ext>
            </a:extLst>
          </p:cNvPr>
          <p:cNvSpPr>
            <a:spLocks noGrp="1"/>
          </p:cNvSpPr>
          <p:nvPr>
            <p:ph type="sldNum" sz="quarter" idx="12"/>
          </p:nvPr>
        </p:nvSpPr>
        <p:spPr/>
        <p:txBody>
          <a:bodyPr/>
          <a:lstStyle/>
          <a:p>
            <a:fld id="{25C2CBD0-4E8A-462D-9424-859647FC3ED0}" type="slidenum">
              <a:rPr lang="en-US" smtClean="0"/>
              <a:pPr/>
              <a:t>95</a:t>
            </a:fld>
            <a:endParaRPr lang="en-US"/>
          </a:p>
        </p:txBody>
      </p:sp>
      <p:sp>
        <p:nvSpPr>
          <p:cNvPr id="3" name="Footer Placeholder 2">
            <a:extLst>
              <a:ext uri="{FF2B5EF4-FFF2-40B4-BE49-F238E27FC236}">
                <a16:creationId xmlns:a16="http://schemas.microsoft.com/office/drawing/2014/main" id="{976BFEC6-05DD-A4F1-C7CC-232910C21B00}"/>
              </a:ext>
            </a:extLst>
          </p:cNvPr>
          <p:cNvSpPr>
            <a:spLocks noGrp="1"/>
          </p:cNvSpPr>
          <p:nvPr>
            <p:ph type="ftr" sz="quarter" idx="11"/>
          </p:nvPr>
        </p:nvSpPr>
        <p:spPr/>
        <p:txBody>
          <a:bodyPr/>
          <a:lstStyle/>
          <a:p>
            <a:r>
              <a:rPr lang="en-US"/>
              <a:t>Object Oriented Programming-Spring 24</a:t>
            </a:r>
            <a:endParaRPr lang="en-US" dirty="0"/>
          </a:p>
        </p:txBody>
      </p:sp>
    </p:spTree>
    <p:extLst>
      <p:ext uri="{BB962C8B-B14F-4D97-AF65-F5344CB8AC3E}">
        <p14:creationId xmlns:p14="http://schemas.microsoft.com/office/powerpoint/2010/main" val="41505386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dirty="0"/>
              <a:t>String Library</a:t>
            </a:r>
          </a:p>
        </p:txBody>
      </p:sp>
      <p:sp>
        <p:nvSpPr>
          <p:cNvPr id="40963" name="Rectangle 3"/>
          <p:cNvSpPr>
            <a:spLocks noGrp="1" noChangeArrowheads="1"/>
          </p:cNvSpPr>
          <p:nvPr>
            <p:ph idx="1"/>
          </p:nvPr>
        </p:nvSpPr>
        <p:spPr/>
        <p:txBody>
          <a:bodyPr>
            <a:normAutofit fontScale="25000" lnSpcReduction="20000"/>
          </a:bodyPr>
          <a:lstStyle/>
          <a:p>
            <a:pPr marL="0" indent="0">
              <a:buNone/>
            </a:pPr>
            <a:endParaRPr lang="en-US" dirty="0"/>
          </a:p>
          <a:p>
            <a:pPr marL="0" indent="0">
              <a:lnSpc>
                <a:spcPct val="130000"/>
              </a:lnSpc>
              <a:spcBef>
                <a:spcPts val="0"/>
              </a:spcBef>
              <a:buNone/>
            </a:pPr>
            <a:r>
              <a:rPr lang="en-US" sz="5200" b="1" dirty="0"/>
              <a:t>bool String::operator == ( char *str )</a:t>
            </a:r>
          </a:p>
          <a:p>
            <a:pPr marL="0" indent="0">
              <a:lnSpc>
                <a:spcPct val="130000"/>
              </a:lnSpc>
              <a:spcBef>
                <a:spcPts val="0"/>
              </a:spcBef>
              <a:buNone/>
            </a:pPr>
            <a:r>
              <a:rPr lang="en-US" sz="5200" b="1" dirty="0"/>
              <a:t>{</a:t>
            </a:r>
          </a:p>
          <a:p>
            <a:pPr marL="0" indent="0">
              <a:lnSpc>
                <a:spcPct val="130000"/>
              </a:lnSpc>
              <a:spcBef>
                <a:spcPts val="0"/>
              </a:spcBef>
              <a:buNone/>
            </a:pPr>
            <a:r>
              <a:rPr lang="en-US" sz="5200" b="1" dirty="0"/>
              <a:t>	bool </a:t>
            </a:r>
            <a:r>
              <a:rPr lang="en-US" sz="5200" b="1" dirty="0" err="1"/>
              <a:t>val</a:t>
            </a:r>
            <a:r>
              <a:rPr lang="en-US" sz="5200" b="1" dirty="0"/>
              <a:t>;</a:t>
            </a:r>
          </a:p>
          <a:p>
            <a:pPr marL="0" indent="0">
              <a:lnSpc>
                <a:spcPct val="130000"/>
              </a:lnSpc>
              <a:spcBef>
                <a:spcPts val="0"/>
              </a:spcBef>
              <a:buNone/>
            </a:pPr>
            <a:r>
              <a:rPr lang="en-US" sz="5200" b="1" dirty="0"/>
              <a:t>	</a:t>
            </a:r>
            <a:r>
              <a:rPr lang="en-US" sz="5200" b="1" dirty="0" err="1"/>
              <a:t>val</a:t>
            </a:r>
            <a:r>
              <a:rPr lang="en-US" sz="5200" b="1" dirty="0"/>
              <a:t> = </a:t>
            </a:r>
            <a:r>
              <a:rPr lang="en-US" sz="5200" b="1" dirty="0" err="1"/>
              <a:t>strcmp</a:t>
            </a:r>
            <a:r>
              <a:rPr lang="en-US" sz="5200" b="1" dirty="0"/>
              <a:t>(</a:t>
            </a:r>
            <a:r>
              <a:rPr lang="en-US" sz="5200" b="1" dirty="0" err="1"/>
              <a:t>text,str</a:t>
            </a:r>
            <a:r>
              <a:rPr lang="en-US" sz="5200" b="1" dirty="0"/>
              <a:t>);</a:t>
            </a:r>
          </a:p>
          <a:p>
            <a:pPr marL="0" indent="0">
              <a:lnSpc>
                <a:spcPct val="130000"/>
              </a:lnSpc>
              <a:spcBef>
                <a:spcPts val="0"/>
              </a:spcBef>
              <a:buNone/>
            </a:pPr>
            <a:r>
              <a:rPr lang="en-US" sz="5200" b="1" dirty="0"/>
              <a:t>	if ( </a:t>
            </a:r>
            <a:r>
              <a:rPr lang="en-US" sz="5200" b="1" dirty="0" err="1"/>
              <a:t>val</a:t>
            </a:r>
            <a:r>
              <a:rPr lang="en-US" sz="5200" b="1" dirty="0"/>
              <a:t> == 0 )</a:t>
            </a:r>
          </a:p>
          <a:p>
            <a:pPr marL="0" indent="0">
              <a:lnSpc>
                <a:spcPct val="130000"/>
              </a:lnSpc>
              <a:spcBef>
                <a:spcPts val="0"/>
              </a:spcBef>
              <a:buNone/>
            </a:pPr>
            <a:r>
              <a:rPr lang="en-US" sz="5200" b="1" dirty="0"/>
              <a:t>		return true;</a:t>
            </a:r>
          </a:p>
          <a:p>
            <a:pPr marL="0" indent="0">
              <a:lnSpc>
                <a:spcPct val="130000"/>
              </a:lnSpc>
              <a:spcBef>
                <a:spcPts val="0"/>
              </a:spcBef>
              <a:buNone/>
            </a:pPr>
            <a:r>
              <a:rPr lang="en-US" sz="5200" b="1" dirty="0"/>
              <a:t>	else</a:t>
            </a:r>
          </a:p>
          <a:p>
            <a:pPr marL="0" indent="0">
              <a:lnSpc>
                <a:spcPct val="130000"/>
              </a:lnSpc>
              <a:spcBef>
                <a:spcPts val="0"/>
              </a:spcBef>
              <a:buNone/>
            </a:pPr>
            <a:r>
              <a:rPr lang="en-US" sz="5200" b="1" dirty="0"/>
              <a:t>		return false;</a:t>
            </a:r>
          </a:p>
          <a:p>
            <a:pPr marL="0" indent="0">
              <a:lnSpc>
                <a:spcPct val="130000"/>
              </a:lnSpc>
              <a:spcBef>
                <a:spcPts val="0"/>
              </a:spcBef>
              <a:buNone/>
            </a:pPr>
            <a:r>
              <a:rPr lang="en-US" sz="5200" b="1" dirty="0"/>
              <a:t>}</a:t>
            </a:r>
          </a:p>
          <a:p>
            <a:pPr marL="0" indent="0">
              <a:lnSpc>
                <a:spcPct val="130000"/>
              </a:lnSpc>
              <a:spcBef>
                <a:spcPts val="0"/>
              </a:spcBef>
              <a:buNone/>
            </a:pPr>
            <a:endParaRPr lang="en-US" sz="5200" b="1" dirty="0"/>
          </a:p>
          <a:p>
            <a:pPr marL="0" indent="0">
              <a:lnSpc>
                <a:spcPct val="130000"/>
              </a:lnSpc>
              <a:spcBef>
                <a:spcPts val="0"/>
              </a:spcBef>
              <a:buNone/>
            </a:pPr>
            <a:r>
              <a:rPr lang="en-US" sz="5200" b="1" dirty="0"/>
              <a:t>bool String::operator == ( String &amp;par)</a:t>
            </a:r>
          </a:p>
          <a:p>
            <a:pPr marL="0" indent="0">
              <a:lnSpc>
                <a:spcPct val="130000"/>
              </a:lnSpc>
              <a:spcBef>
                <a:spcPts val="0"/>
              </a:spcBef>
              <a:buNone/>
            </a:pPr>
            <a:r>
              <a:rPr lang="en-US" sz="5200" b="1" dirty="0"/>
              <a:t>{</a:t>
            </a:r>
          </a:p>
          <a:p>
            <a:pPr marL="0" indent="0">
              <a:lnSpc>
                <a:spcPct val="130000"/>
              </a:lnSpc>
              <a:spcBef>
                <a:spcPts val="0"/>
              </a:spcBef>
              <a:buNone/>
            </a:pPr>
            <a:r>
              <a:rPr lang="en-US" sz="5200" b="1" dirty="0"/>
              <a:t>	bool </a:t>
            </a:r>
            <a:r>
              <a:rPr lang="en-US" sz="5200" b="1" dirty="0" err="1"/>
              <a:t>val</a:t>
            </a:r>
            <a:r>
              <a:rPr lang="en-US" sz="5200" b="1" dirty="0"/>
              <a:t>;</a:t>
            </a:r>
          </a:p>
          <a:p>
            <a:pPr marL="0" indent="0">
              <a:lnSpc>
                <a:spcPct val="130000"/>
              </a:lnSpc>
              <a:spcBef>
                <a:spcPts val="0"/>
              </a:spcBef>
              <a:buNone/>
            </a:pPr>
            <a:r>
              <a:rPr lang="en-US" sz="5200" b="1" dirty="0"/>
              <a:t>	</a:t>
            </a:r>
            <a:r>
              <a:rPr lang="en-US" sz="5200" b="1" dirty="0" err="1"/>
              <a:t>val</a:t>
            </a:r>
            <a:r>
              <a:rPr lang="en-US" sz="5200" b="1" dirty="0"/>
              <a:t> = </a:t>
            </a:r>
            <a:r>
              <a:rPr lang="en-US" sz="5200" b="1" dirty="0" err="1"/>
              <a:t>strcmp</a:t>
            </a:r>
            <a:r>
              <a:rPr lang="en-US" sz="5200" b="1" dirty="0"/>
              <a:t>(</a:t>
            </a:r>
            <a:r>
              <a:rPr lang="en-US" sz="5200" b="1" dirty="0" err="1"/>
              <a:t>text,par.text</a:t>
            </a:r>
            <a:r>
              <a:rPr lang="en-US" sz="5200" b="1" dirty="0"/>
              <a:t>);</a:t>
            </a:r>
          </a:p>
          <a:p>
            <a:pPr marL="0" indent="0">
              <a:lnSpc>
                <a:spcPct val="130000"/>
              </a:lnSpc>
              <a:spcBef>
                <a:spcPts val="0"/>
              </a:spcBef>
              <a:buNone/>
            </a:pPr>
            <a:r>
              <a:rPr lang="en-US" sz="5200" b="1" dirty="0"/>
              <a:t>	if ( </a:t>
            </a:r>
            <a:r>
              <a:rPr lang="en-US" sz="5200" b="1" dirty="0" err="1"/>
              <a:t>val</a:t>
            </a:r>
            <a:r>
              <a:rPr lang="en-US" sz="5200" b="1" dirty="0"/>
              <a:t> == 0 )</a:t>
            </a:r>
          </a:p>
          <a:p>
            <a:pPr marL="0" indent="0">
              <a:lnSpc>
                <a:spcPct val="130000"/>
              </a:lnSpc>
              <a:spcBef>
                <a:spcPts val="0"/>
              </a:spcBef>
              <a:buNone/>
            </a:pPr>
            <a:r>
              <a:rPr lang="en-US" sz="5200" b="1" dirty="0"/>
              <a:t>		return true;</a:t>
            </a:r>
          </a:p>
          <a:p>
            <a:pPr marL="0" indent="0">
              <a:lnSpc>
                <a:spcPct val="130000"/>
              </a:lnSpc>
              <a:spcBef>
                <a:spcPts val="0"/>
              </a:spcBef>
              <a:buNone/>
            </a:pPr>
            <a:r>
              <a:rPr lang="en-US" sz="5200" b="1" dirty="0"/>
              <a:t>	else</a:t>
            </a:r>
          </a:p>
          <a:p>
            <a:pPr marL="0" indent="0">
              <a:lnSpc>
                <a:spcPct val="130000"/>
              </a:lnSpc>
              <a:spcBef>
                <a:spcPts val="0"/>
              </a:spcBef>
              <a:buNone/>
            </a:pPr>
            <a:r>
              <a:rPr lang="en-US" sz="5200" b="1" dirty="0"/>
              <a:t>		return false;</a:t>
            </a:r>
          </a:p>
          <a:p>
            <a:pPr marL="0" indent="0">
              <a:lnSpc>
                <a:spcPct val="130000"/>
              </a:lnSpc>
              <a:spcBef>
                <a:spcPts val="0"/>
              </a:spcBef>
              <a:buNone/>
            </a:pPr>
            <a:endParaRPr lang="en-US" sz="5200" b="1" dirty="0"/>
          </a:p>
          <a:p>
            <a:pPr marL="0" indent="0">
              <a:lnSpc>
                <a:spcPct val="130000"/>
              </a:lnSpc>
              <a:spcBef>
                <a:spcPts val="0"/>
              </a:spcBef>
              <a:buNone/>
            </a:pPr>
            <a:r>
              <a:rPr lang="en-US" sz="5200" b="1" dirty="0"/>
              <a:t>}</a:t>
            </a:r>
          </a:p>
          <a:p>
            <a:endParaRPr lang="en-US" dirty="0"/>
          </a:p>
        </p:txBody>
      </p:sp>
      <p:sp>
        <p:nvSpPr>
          <p:cNvPr id="2" name="Slide Number Placeholder 1">
            <a:extLst>
              <a:ext uri="{FF2B5EF4-FFF2-40B4-BE49-F238E27FC236}">
                <a16:creationId xmlns:a16="http://schemas.microsoft.com/office/drawing/2014/main" id="{CD45D8CD-148A-4032-94BD-F4751AE8FD60}"/>
              </a:ext>
            </a:extLst>
          </p:cNvPr>
          <p:cNvSpPr>
            <a:spLocks noGrp="1"/>
          </p:cNvSpPr>
          <p:nvPr>
            <p:ph type="sldNum" sz="quarter" idx="12"/>
          </p:nvPr>
        </p:nvSpPr>
        <p:spPr/>
        <p:txBody>
          <a:bodyPr/>
          <a:lstStyle/>
          <a:p>
            <a:fld id="{25C2CBD0-4E8A-462D-9424-859647FC3ED0}" type="slidenum">
              <a:rPr lang="en-US" smtClean="0"/>
              <a:pPr/>
              <a:t>96</a:t>
            </a:fld>
            <a:endParaRPr lang="en-US"/>
          </a:p>
        </p:txBody>
      </p:sp>
      <p:sp>
        <p:nvSpPr>
          <p:cNvPr id="3" name="Footer Placeholder 2">
            <a:extLst>
              <a:ext uri="{FF2B5EF4-FFF2-40B4-BE49-F238E27FC236}">
                <a16:creationId xmlns:a16="http://schemas.microsoft.com/office/drawing/2014/main" id="{63B4763E-1DF9-17BB-CC91-7E856198168F}"/>
              </a:ext>
            </a:extLst>
          </p:cNvPr>
          <p:cNvSpPr>
            <a:spLocks noGrp="1"/>
          </p:cNvSpPr>
          <p:nvPr>
            <p:ph type="ftr" sz="quarter" idx="11"/>
          </p:nvPr>
        </p:nvSpPr>
        <p:spPr/>
        <p:txBody>
          <a:bodyPr/>
          <a:lstStyle/>
          <a:p>
            <a:r>
              <a:rPr lang="en-US"/>
              <a:t>Object Oriented Programming-Spring 24</a:t>
            </a:r>
            <a:endParaRPr lang="en-US" dirty="0"/>
          </a:p>
        </p:txBody>
      </p:sp>
    </p:spTree>
    <p:extLst>
      <p:ext uri="{BB962C8B-B14F-4D97-AF65-F5344CB8AC3E}">
        <p14:creationId xmlns:p14="http://schemas.microsoft.com/office/powerpoint/2010/main" val="25553784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dirty="0"/>
              <a:t>String Library</a:t>
            </a:r>
          </a:p>
        </p:txBody>
      </p:sp>
      <p:sp>
        <p:nvSpPr>
          <p:cNvPr id="43011" name="Rectangle 3"/>
          <p:cNvSpPr>
            <a:spLocks noGrp="1" noChangeArrowheads="1"/>
          </p:cNvSpPr>
          <p:nvPr>
            <p:ph idx="1"/>
          </p:nvPr>
        </p:nvSpPr>
        <p:spPr/>
        <p:txBody>
          <a:bodyPr>
            <a:normAutofit fontScale="55000" lnSpcReduction="20000"/>
          </a:bodyPr>
          <a:lstStyle/>
          <a:p>
            <a:pPr marL="0" indent="0">
              <a:buNone/>
            </a:pPr>
            <a:r>
              <a:rPr lang="en-US" dirty="0"/>
              <a:t>String&amp; String::operator + (String &amp;par)</a:t>
            </a:r>
          </a:p>
          <a:p>
            <a:pPr marL="0" indent="0">
              <a:buNone/>
            </a:pPr>
            <a:r>
              <a:rPr lang="en-US" dirty="0"/>
              <a:t>{</a:t>
            </a:r>
          </a:p>
          <a:p>
            <a:pPr marL="0" indent="0">
              <a:buNone/>
            </a:pPr>
            <a:r>
              <a:rPr lang="en-US" dirty="0"/>
              <a:t>	String </a:t>
            </a:r>
            <a:r>
              <a:rPr lang="en-US" dirty="0" err="1"/>
              <a:t>iSt</a:t>
            </a:r>
            <a:r>
              <a:rPr lang="en-US" dirty="0"/>
              <a:t> = "";</a:t>
            </a:r>
          </a:p>
          <a:p>
            <a:pPr marL="0" indent="0">
              <a:buNone/>
            </a:pPr>
            <a:r>
              <a:rPr lang="en-US" dirty="0"/>
              <a:t>	</a:t>
            </a:r>
            <a:r>
              <a:rPr lang="en-US" dirty="0" err="1"/>
              <a:t>int</a:t>
            </a:r>
            <a:r>
              <a:rPr lang="en-US" dirty="0"/>
              <a:t> length = 0;</a:t>
            </a:r>
          </a:p>
          <a:p>
            <a:pPr marL="0" indent="0">
              <a:buNone/>
            </a:pPr>
            <a:r>
              <a:rPr lang="en-US" dirty="0"/>
              <a:t>	length = </a:t>
            </a:r>
            <a:r>
              <a:rPr lang="en-US" dirty="0" err="1"/>
              <a:t>strlen</a:t>
            </a:r>
            <a:r>
              <a:rPr lang="en-US" dirty="0"/>
              <a:t>(text);</a:t>
            </a:r>
          </a:p>
          <a:p>
            <a:pPr marL="0" indent="0">
              <a:buNone/>
            </a:pPr>
            <a:r>
              <a:rPr lang="en-US" dirty="0"/>
              <a:t>	length += </a:t>
            </a:r>
            <a:r>
              <a:rPr lang="en-US" dirty="0" err="1"/>
              <a:t>strlen</a:t>
            </a:r>
            <a:r>
              <a:rPr lang="en-US" dirty="0"/>
              <a:t>(</a:t>
            </a:r>
            <a:r>
              <a:rPr lang="en-US" dirty="0" err="1"/>
              <a:t>par.text</a:t>
            </a:r>
            <a:r>
              <a:rPr lang="en-US" dirty="0"/>
              <a:t>);</a:t>
            </a:r>
          </a:p>
          <a:p>
            <a:pPr marL="0" indent="0">
              <a:buNone/>
            </a:pPr>
            <a:r>
              <a:rPr lang="en-US" dirty="0"/>
              <a:t>	</a:t>
            </a:r>
            <a:r>
              <a:rPr lang="en-US" dirty="0" err="1"/>
              <a:t>iSt.text</a:t>
            </a:r>
            <a:r>
              <a:rPr lang="en-US" dirty="0"/>
              <a:t> = new char[length];</a:t>
            </a:r>
          </a:p>
          <a:p>
            <a:pPr marL="0" indent="0">
              <a:buNone/>
            </a:pPr>
            <a:endParaRPr lang="en-US" dirty="0"/>
          </a:p>
          <a:p>
            <a:pPr marL="0" indent="0">
              <a:buNone/>
            </a:pPr>
            <a:r>
              <a:rPr lang="en-US" dirty="0"/>
              <a:t>	</a:t>
            </a:r>
            <a:r>
              <a:rPr lang="en-US" dirty="0" err="1"/>
              <a:t>strcpy</a:t>
            </a:r>
            <a:r>
              <a:rPr lang="en-US" dirty="0"/>
              <a:t>(</a:t>
            </a:r>
            <a:r>
              <a:rPr lang="en-US" dirty="0" err="1"/>
              <a:t>iSt.text,text</a:t>
            </a:r>
            <a:r>
              <a:rPr lang="en-US" dirty="0"/>
              <a:t>);</a:t>
            </a:r>
          </a:p>
          <a:p>
            <a:pPr marL="0" indent="0">
              <a:buNone/>
            </a:pPr>
            <a:r>
              <a:rPr lang="en-US" dirty="0"/>
              <a:t>	</a:t>
            </a:r>
            <a:r>
              <a:rPr lang="en-US" dirty="0" err="1"/>
              <a:t>strcat</a:t>
            </a:r>
            <a:r>
              <a:rPr lang="en-US" dirty="0"/>
              <a:t>(</a:t>
            </a:r>
            <a:r>
              <a:rPr lang="en-US" dirty="0" err="1"/>
              <a:t>iSt.text,par.text</a:t>
            </a:r>
            <a:r>
              <a:rPr lang="en-US" dirty="0"/>
              <a:t>);</a:t>
            </a:r>
          </a:p>
          <a:p>
            <a:pPr marL="0" indent="0">
              <a:buNone/>
            </a:pPr>
            <a:endParaRPr lang="en-US" dirty="0"/>
          </a:p>
          <a:p>
            <a:pPr marL="0" indent="0">
              <a:buNone/>
            </a:pPr>
            <a:r>
              <a:rPr lang="en-US" dirty="0"/>
              <a:t>	return </a:t>
            </a:r>
            <a:r>
              <a:rPr lang="en-US" dirty="0" err="1"/>
              <a:t>iSt</a:t>
            </a:r>
            <a:r>
              <a:rPr lang="en-US" dirty="0"/>
              <a:t>;	</a:t>
            </a:r>
          </a:p>
          <a:p>
            <a:pPr marL="0" indent="0">
              <a:buNone/>
            </a:pPr>
            <a:r>
              <a:rPr lang="en-US" dirty="0"/>
              <a:t>}</a:t>
            </a:r>
          </a:p>
        </p:txBody>
      </p:sp>
      <p:sp>
        <p:nvSpPr>
          <p:cNvPr id="2" name="Slide Number Placeholder 1">
            <a:extLst>
              <a:ext uri="{FF2B5EF4-FFF2-40B4-BE49-F238E27FC236}">
                <a16:creationId xmlns:a16="http://schemas.microsoft.com/office/drawing/2014/main" id="{B74CB584-78FC-457A-8E46-80A346339730}"/>
              </a:ext>
            </a:extLst>
          </p:cNvPr>
          <p:cNvSpPr>
            <a:spLocks noGrp="1"/>
          </p:cNvSpPr>
          <p:nvPr>
            <p:ph type="sldNum" sz="quarter" idx="12"/>
          </p:nvPr>
        </p:nvSpPr>
        <p:spPr/>
        <p:txBody>
          <a:bodyPr/>
          <a:lstStyle/>
          <a:p>
            <a:fld id="{25C2CBD0-4E8A-462D-9424-859647FC3ED0}" type="slidenum">
              <a:rPr lang="en-US" smtClean="0"/>
              <a:pPr/>
              <a:t>97</a:t>
            </a:fld>
            <a:endParaRPr lang="en-US"/>
          </a:p>
        </p:txBody>
      </p:sp>
      <p:sp>
        <p:nvSpPr>
          <p:cNvPr id="3" name="Footer Placeholder 2">
            <a:extLst>
              <a:ext uri="{FF2B5EF4-FFF2-40B4-BE49-F238E27FC236}">
                <a16:creationId xmlns:a16="http://schemas.microsoft.com/office/drawing/2014/main" id="{9C469EB9-3871-FBFB-95A4-1EACE6608C4D}"/>
              </a:ext>
            </a:extLst>
          </p:cNvPr>
          <p:cNvSpPr>
            <a:spLocks noGrp="1"/>
          </p:cNvSpPr>
          <p:nvPr>
            <p:ph type="ftr" sz="quarter" idx="11"/>
          </p:nvPr>
        </p:nvSpPr>
        <p:spPr/>
        <p:txBody>
          <a:bodyPr/>
          <a:lstStyle/>
          <a:p>
            <a:r>
              <a:rPr lang="en-US"/>
              <a:t>Object Oriented Programming-Spring 24</a:t>
            </a:r>
            <a:endParaRPr lang="en-US" dirty="0"/>
          </a:p>
        </p:txBody>
      </p:sp>
    </p:spTree>
    <p:extLst>
      <p:ext uri="{BB962C8B-B14F-4D97-AF65-F5344CB8AC3E}">
        <p14:creationId xmlns:p14="http://schemas.microsoft.com/office/powerpoint/2010/main" val="7522479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dirty="0"/>
              <a:t>String Library</a:t>
            </a:r>
          </a:p>
        </p:txBody>
      </p:sp>
      <p:sp>
        <p:nvSpPr>
          <p:cNvPr id="44035" name="Rectangle 3"/>
          <p:cNvSpPr>
            <a:spLocks noGrp="1" noChangeArrowheads="1"/>
          </p:cNvSpPr>
          <p:nvPr>
            <p:ph idx="1"/>
          </p:nvPr>
        </p:nvSpPr>
        <p:spPr/>
        <p:txBody>
          <a:bodyPr>
            <a:normAutofit fontScale="47500" lnSpcReduction="20000"/>
          </a:bodyPr>
          <a:lstStyle/>
          <a:p>
            <a:pPr marL="0" indent="0">
              <a:buNone/>
            </a:pPr>
            <a:r>
              <a:rPr lang="en-US" dirty="0"/>
              <a:t>String&amp; String::operator + (char *str)</a:t>
            </a:r>
          </a:p>
          <a:p>
            <a:pPr marL="0" indent="0">
              <a:buNone/>
            </a:pPr>
            <a:r>
              <a:rPr lang="en-US" dirty="0"/>
              <a:t>{</a:t>
            </a:r>
          </a:p>
          <a:p>
            <a:pPr marL="0" indent="0">
              <a:buNone/>
            </a:pPr>
            <a:r>
              <a:rPr lang="en-US" dirty="0"/>
              <a:t>	String </a:t>
            </a:r>
            <a:r>
              <a:rPr lang="en-US" dirty="0" err="1"/>
              <a:t>iSt</a:t>
            </a:r>
            <a:r>
              <a:rPr lang="en-US" dirty="0"/>
              <a:t> = "";</a:t>
            </a:r>
          </a:p>
          <a:p>
            <a:pPr marL="0" indent="0">
              <a:buNone/>
            </a:pPr>
            <a:r>
              <a:rPr lang="en-US" dirty="0"/>
              <a:t>	int length = 0;</a:t>
            </a:r>
          </a:p>
          <a:p>
            <a:pPr marL="0" indent="0">
              <a:buNone/>
            </a:pPr>
            <a:r>
              <a:rPr lang="en-US" dirty="0"/>
              <a:t>	length = </a:t>
            </a:r>
            <a:r>
              <a:rPr lang="en-US" dirty="0" err="1"/>
              <a:t>strlen</a:t>
            </a:r>
            <a:r>
              <a:rPr lang="en-US" dirty="0"/>
              <a:t>(text);</a:t>
            </a:r>
          </a:p>
          <a:p>
            <a:pPr marL="0" indent="0">
              <a:buNone/>
            </a:pPr>
            <a:r>
              <a:rPr lang="en-US" dirty="0"/>
              <a:t>	length += </a:t>
            </a:r>
            <a:r>
              <a:rPr lang="en-US" dirty="0" err="1"/>
              <a:t>strlen</a:t>
            </a:r>
            <a:r>
              <a:rPr lang="en-US" dirty="0"/>
              <a:t>(str);</a:t>
            </a:r>
          </a:p>
          <a:p>
            <a:pPr marL="0" indent="0">
              <a:buNone/>
            </a:pPr>
            <a:endParaRPr lang="en-US" dirty="0"/>
          </a:p>
          <a:p>
            <a:pPr marL="0" indent="0">
              <a:buNone/>
            </a:pPr>
            <a:r>
              <a:rPr lang="en-US" dirty="0"/>
              <a:t>	</a:t>
            </a:r>
            <a:r>
              <a:rPr lang="en-US" dirty="0" err="1"/>
              <a:t>iSt.text</a:t>
            </a:r>
            <a:r>
              <a:rPr lang="en-US" dirty="0"/>
              <a:t> = new char[length];</a:t>
            </a:r>
          </a:p>
          <a:p>
            <a:pPr marL="0" indent="0">
              <a:buNone/>
            </a:pPr>
            <a:endParaRPr lang="en-US" dirty="0"/>
          </a:p>
          <a:p>
            <a:pPr marL="0" indent="0">
              <a:buNone/>
            </a:pPr>
            <a:r>
              <a:rPr lang="en-US" dirty="0"/>
              <a:t>	</a:t>
            </a:r>
            <a:r>
              <a:rPr lang="en-US" dirty="0" err="1"/>
              <a:t>strcpy</a:t>
            </a:r>
            <a:r>
              <a:rPr lang="en-US" dirty="0"/>
              <a:t>(</a:t>
            </a:r>
            <a:r>
              <a:rPr lang="en-US" dirty="0" err="1"/>
              <a:t>iSt.text,text</a:t>
            </a:r>
            <a:r>
              <a:rPr lang="en-US" dirty="0"/>
              <a:t>);</a:t>
            </a:r>
          </a:p>
          <a:p>
            <a:pPr marL="0" indent="0">
              <a:buNone/>
            </a:pPr>
            <a:r>
              <a:rPr lang="en-US" dirty="0"/>
              <a:t>	</a:t>
            </a:r>
            <a:r>
              <a:rPr lang="en-US" dirty="0" err="1"/>
              <a:t>strcat</a:t>
            </a:r>
            <a:r>
              <a:rPr lang="en-US" dirty="0"/>
              <a:t>(</a:t>
            </a:r>
            <a:r>
              <a:rPr lang="en-US" dirty="0" err="1"/>
              <a:t>iSt.text,str</a:t>
            </a:r>
            <a:r>
              <a:rPr lang="en-US" dirty="0"/>
              <a:t>);</a:t>
            </a:r>
          </a:p>
          <a:p>
            <a:pPr marL="0" indent="0">
              <a:buNone/>
            </a:pPr>
            <a:endParaRPr lang="en-US" dirty="0"/>
          </a:p>
          <a:p>
            <a:pPr marL="0" indent="0">
              <a:buNone/>
            </a:pPr>
            <a:r>
              <a:rPr lang="en-US" dirty="0"/>
              <a:t>	return </a:t>
            </a:r>
            <a:r>
              <a:rPr lang="en-US" dirty="0" err="1"/>
              <a:t>iSt</a:t>
            </a:r>
            <a:r>
              <a:rPr lang="en-US" dirty="0"/>
              <a:t>;	</a:t>
            </a:r>
          </a:p>
          <a:p>
            <a:pPr marL="0" indent="0">
              <a:buNone/>
            </a:pPr>
            <a:r>
              <a:rPr lang="en-US" dirty="0"/>
              <a:t>}</a:t>
            </a:r>
          </a:p>
          <a:p>
            <a:endParaRPr lang="en-US" dirty="0"/>
          </a:p>
        </p:txBody>
      </p:sp>
      <p:sp>
        <p:nvSpPr>
          <p:cNvPr id="2" name="Slide Number Placeholder 1">
            <a:extLst>
              <a:ext uri="{FF2B5EF4-FFF2-40B4-BE49-F238E27FC236}">
                <a16:creationId xmlns:a16="http://schemas.microsoft.com/office/drawing/2014/main" id="{9F1E0722-82CC-4881-BF8A-CE2E20DF9DC4}"/>
              </a:ext>
            </a:extLst>
          </p:cNvPr>
          <p:cNvSpPr>
            <a:spLocks noGrp="1"/>
          </p:cNvSpPr>
          <p:nvPr>
            <p:ph type="sldNum" sz="quarter" idx="12"/>
          </p:nvPr>
        </p:nvSpPr>
        <p:spPr/>
        <p:txBody>
          <a:bodyPr/>
          <a:lstStyle/>
          <a:p>
            <a:fld id="{25C2CBD0-4E8A-462D-9424-859647FC3ED0}" type="slidenum">
              <a:rPr lang="en-US" smtClean="0"/>
              <a:pPr/>
              <a:t>98</a:t>
            </a:fld>
            <a:endParaRPr lang="en-US"/>
          </a:p>
        </p:txBody>
      </p:sp>
      <p:sp>
        <p:nvSpPr>
          <p:cNvPr id="3" name="Footer Placeholder 2">
            <a:extLst>
              <a:ext uri="{FF2B5EF4-FFF2-40B4-BE49-F238E27FC236}">
                <a16:creationId xmlns:a16="http://schemas.microsoft.com/office/drawing/2014/main" id="{A64BDFAD-8D99-C14D-DD31-57E11BDE68CC}"/>
              </a:ext>
            </a:extLst>
          </p:cNvPr>
          <p:cNvSpPr>
            <a:spLocks noGrp="1"/>
          </p:cNvSpPr>
          <p:nvPr>
            <p:ph type="ftr" sz="quarter" idx="11"/>
          </p:nvPr>
        </p:nvSpPr>
        <p:spPr/>
        <p:txBody>
          <a:bodyPr/>
          <a:lstStyle/>
          <a:p>
            <a:r>
              <a:rPr lang="en-US"/>
              <a:t>Object Oriented Programming-Spring 24</a:t>
            </a:r>
            <a:endParaRPr lang="en-US" dirty="0"/>
          </a:p>
        </p:txBody>
      </p:sp>
    </p:spTree>
    <p:extLst>
      <p:ext uri="{BB962C8B-B14F-4D97-AF65-F5344CB8AC3E}">
        <p14:creationId xmlns:p14="http://schemas.microsoft.com/office/powerpoint/2010/main" val="5921822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a:t>String Library</a:t>
            </a:r>
          </a:p>
        </p:txBody>
      </p:sp>
      <p:sp>
        <p:nvSpPr>
          <p:cNvPr id="46083" name="Rectangle 3"/>
          <p:cNvSpPr>
            <a:spLocks noGrp="1" noChangeArrowheads="1"/>
          </p:cNvSpPr>
          <p:nvPr>
            <p:ph idx="1"/>
          </p:nvPr>
        </p:nvSpPr>
        <p:spPr/>
        <p:txBody>
          <a:bodyPr>
            <a:normAutofit fontScale="25000" lnSpcReduction="20000"/>
          </a:bodyPr>
          <a:lstStyle/>
          <a:p>
            <a:pPr marL="0" indent="0">
              <a:lnSpc>
                <a:spcPct val="130000"/>
              </a:lnSpc>
              <a:spcBef>
                <a:spcPts val="0"/>
              </a:spcBef>
              <a:buNone/>
            </a:pPr>
            <a:r>
              <a:rPr lang="en-US" sz="5200" b="1" dirty="0"/>
              <a:t>void String::operator = (char *str)</a:t>
            </a:r>
          </a:p>
          <a:p>
            <a:pPr marL="0" indent="0">
              <a:lnSpc>
                <a:spcPct val="130000"/>
              </a:lnSpc>
              <a:spcBef>
                <a:spcPts val="0"/>
              </a:spcBef>
              <a:buNone/>
            </a:pPr>
            <a:r>
              <a:rPr lang="en-US" sz="5200" b="1" dirty="0"/>
              <a:t>{	</a:t>
            </a:r>
          </a:p>
          <a:p>
            <a:pPr marL="0" indent="0">
              <a:lnSpc>
                <a:spcPct val="130000"/>
              </a:lnSpc>
              <a:spcBef>
                <a:spcPts val="0"/>
              </a:spcBef>
              <a:buNone/>
            </a:pPr>
            <a:r>
              <a:rPr lang="en-US" sz="5200" b="1" dirty="0"/>
              <a:t>	text = new char[ </a:t>
            </a:r>
            <a:r>
              <a:rPr lang="en-US" sz="5200" b="1" dirty="0" err="1"/>
              <a:t>strlen</a:t>
            </a:r>
            <a:r>
              <a:rPr lang="en-US" sz="5200" b="1" dirty="0"/>
              <a:t>(str) ];</a:t>
            </a:r>
          </a:p>
          <a:p>
            <a:pPr marL="0" indent="0">
              <a:lnSpc>
                <a:spcPct val="130000"/>
              </a:lnSpc>
              <a:spcBef>
                <a:spcPts val="0"/>
              </a:spcBef>
              <a:buNone/>
            </a:pPr>
            <a:r>
              <a:rPr lang="en-US" sz="5200" b="1" dirty="0"/>
              <a:t>	</a:t>
            </a:r>
            <a:r>
              <a:rPr lang="en-US" sz="5200" b="1" dirty="0" err="1"/>
              <a:t>strcpy</a:t>
            </a:r>
            <a:r>
              <a:rPr lang="en-US" sz="5200" b="1" dirty="0"/>
              <a:t>(</a:t>
            </a:r>
            <a:r>
              <a:rPr lang="en-US" sz="5200" b="1" dirty="0" err="1"/>
              <a:t>text,str</a:t>
            </a:r>
            <a:r>
              <a:rPr lang="en-US" sz="5200" b="1" dirty="0"/>
              <a:t>);</a:t>
            </a:r>
          </a:p>
          <a:p>
            <a:pPr marL="0" indent="0">
              <a:lnSpc>
                <a:spcPct val="130000"/>
              </a:lnSpc>
              <a:spcBef>
                <a:spcPts val="0"/>
              </a:spcBef>
              <a:buNone/>
            </a:pPr>
            <a:r>
              <a:rPr lang="en-US" sz="5200" b="1" dirty="0"/>
              <a:t>}</a:t>
            </a:r>
          </a:p>
          <a:p>
            <a:pPr marL="0" indent="0">
              <a:lnSpc>
                <a:spcPct val="130000"/>
              </a:lnSpc>
              <a:spcBef>
                <a:spcPts val="0"/>
              </a:spcBef>
              <a:buNone/>
            </a:pPr>
            <a:endParaRPr lang="en-US" sz="5200" b="1" dirty="0"/>
          </a:p>
          <a:p>
            <a:pPr marL="0" indent="0">
              <a:lnSpc>
                <a:spcPct val="130000"/>
              </a:lnSpc>
              <a:spcBef>
                <a:spcPts val="0"/>
              </a:spcBef>
              <a:buNone/>
            </a:pPr>
            <a:endParaRPr lang="en-US" sz="5200" b="1" dirty="0"/>
          </a:p>
          <a:p>
            <a:pPr marL="0" indent="0">
              <a:lnSpc>
                <a:spcPct val="130000"/>
              </a:lnSpc>
              <a:spcBef>
                <a:spcPts val="0"/>
              </a:spcBef>
              <a:buNone/>
            </a:pPr>
            <a:r>
              <a:rPr lang="en-US" sz="5200" b="1" dirty="0"/>
              <a:t>char&amp; String::[] (int Index)</a:t>
            </a:r>
          </a:p>
          <a:p>
            <a:pPr marL="0" indent="0">
              <a:lnSpc>
                <a:spcPct val="130000"/>
              </a:lnSpc>
              <a:spcBef>
                <a:spcPts val="0"/>
              </a:spcBef>
              <a:buNone/>
            </a:pPr>
            <a:r>
              <a:rPr lang="en-US" sz="5200" b="1" dirty="0"/>
              <a:t>{</a:t>
            </a:r>
          </a:p>
          <a:p>
            <a:pPr marL="0" indent="0">
              <a:lnSpc>
                <a:spcPct val="130000"/>
              </a:lnSpc>
              <a:spcBef>
                <a:spcPts val="0"/>
              </a:spcBef>
              <a:buNone/>
            </a:pPr>
            <a:r>
              <a:rPr lang="en-US" sz="5200" b="1" dirty="0"/>
              <a:t>		return text[Index];</a:t>
            </a:r>
          </a:p>
          <a:p>
            <a:pPr marL="0" indent="0">
              <a:lnSpc>
                <a:spcPct val="130000"/>
              </a:lnSpc>
              <a:spcBef>
                <a:spcPts val="0"/>
              </a:spcBef>
              <a:buNone/>
            </a:pPr>
            <a:r>
              <a:rPr lang="en-US" sz="5200" b="1" dirty="0"/>
              <a:t>	</a:t>
            </a:r>
          </a:p>
          <a:p>
            <a:pPr marL="0" indent="0">
              <a:lnSpc>
                <a:spcPct val="130000"/>
              </a:lnSpc>
              <a:spcBef>
                <a:spcPts val="0"/>
              </a:spcBef>
              <a:buNone/>
            </a:pPr>
            <a:r>
              <a:rPr lang="en-US" sz="5200" b="1" dirty="0"/>
              <a:t>}</a:t>
            </a:r>
          </a:p>
          <a:p>
            <a:pPr marL="0" indent="0">
              <a:lnSpc>
                <a:spcPct val="130000"/>
              </a:lnSpc>
              <a:spcBef>
                <a:spcPts val="0"/>
              </a:spcBef>
              <a:buNone/>
            </a:pPr>
            <a:endParaRPr lang="en-US" sz="5200" b="1" dirty="0"/>
          </a:p>
          <a:p>
            <a:pPr marL="0" indent="0">
              <a:lnSpc>
                <a:spcPct val="130000"/>
              </a:lnSpc>
              <a:spcBef>
                <a:spcPts val="0"/>
              </a:spcBef>
              <a:buNone/>
            </a:pPr>
            <a:r>
              <a:rPr lang="en-US" sz="5200" b="1" dirty="0"/>
              <a:t>// String string1 = </a:t>
            </a:r>
            <a:r>
              <a:rPr lang="ja-JP" altLang="en-US" sz="5200" b="1" dirty="0"/>
              <a:t>“</a:t>
            </a:r>
            <a:r>
              <a:rPr lang="en-US" altLang="ja-JP" sz="5200" b="1" dirty="0"/>
              <a:t>hello</a:t>
            </a:r>
            <a:r>
              <a:rPr lang="ja-JP" altLang="en-US" sz="5200" b="1" dirty="0"/>
              <a:t>”</a:t>
            </a:r>
            <a:r>
              <a:rPr lang="en-US" altLang="ja-JP" sz="5200" b="1" dirty="0"/>
              <a:t>;</a:t>
            </a:r>
          </a:p>
          <a:p>
            <a:pPr marL="0" indent="0">
              <a:lnSpc>
                <a:spcPct val="130000"/>
              </a:lnSpc>
              <a:spcBef>
                <a:spcPts val="0"/>
              </a:spcBef>
              <a:buNone/>
            </a:pPr>
            <a:r>
              <a:rPr lang="en-US" sz="5200" b="1" dirty="0"/>
              <a:t>// string1[0] = </a:t>
            </a:r>
            <a:r>
              <a:rPr lang="ja-JP" altLang="en-US" sz="5200" b="1" dirty="0"/>
              <a:t>‘</a:t>
            </a:r>
            <a:r>
              <a:rPr lang="en-US" altLang="ja-JP" sz="5200" b="1" dirty="0"/>
              <a:t>a</a:t>
            </a:r>
            <a:r>
              <a:rPr lang="ja-JP" altLang="en-US" sz="5200" b="1" dirty="0"/>
              <a:t>’</a:t>
            </a:r>
            <a:r>
              <a:rPr lang="en-US" altLang="ja-JP" sz="5200" b="1" dirty="0"/>
              <a:t>;</a:t>
            </a:r>
          </a:p>
          <a:p>
            <a:pPr marL="0" indent="0">
              <a:lnSpc>
                <a:spcPct val="130000"/>
              </a:lnSpc>
              <a:spcBef>
                <a:spcPts val="0"/>
              </a:spcBef>
              <a:buNone/>
            </a:pPr>
            <a:r>
              <a:rPr lang="en-US" sz="5200" b="1" dirty="0"/>
              <a:t>// string1.text[0] = </a:t>
            </a:r>
            <a:r>
              <a:rPr lang="ja-JP" altLang="en-US" sz="5200" b="1" dirty="0"/>
              <a:t>‘</a:t>
            </a:r>
            <a:r>
              <a:rPr lang="en-US" altLang="ja-JP" sz="5200" b="1" dirty="0"/>
              <a:t>a</a:t>
            </a:r>
            <a:r>
              <a:rPr lang="ja-JP" altLang="en-US" sz="5200" b="1" dirty="0"/>
              <a:t>’</a:t>
            </a:r>
            <a:r>
              <a:rPr lang="en-US" altLang="ja-JP" sz="5200" b="1" dirty="0"/>
              <a:t>;</a:t>
            </a:r>
          </a:p>
          <a:p>
            <a:pPr marL="0" indent="0">
              <a:lnSpc>
                <a:spcPct val="130000"/>
              </a:lnSpc>
              <a:spcBef>
                <a:spcPts val="0"/>
              </a:spcBef>
              <a:buNone/>
            </a:pPr>
            <a:endParaRPr lang="en-US" sz="5200" b="1" dirty="0"/>
          </a:p>
          <a:p>
            <a:pPr marL="0" indent="0">
              <a:lnSpc>
                <a:spcPct val="130000"/>
              </a:lnSpc>
              <a:spcBef>
                <a:spcPts val="0"/>
              </a:spcBef>
              <a:buNone/>
            </a:pPr>
            <a:r>
              <a:rPr lang="en-US" sz="5200" b="1" dirty="0"/>
              <a:t>// char c = string1[0];</a:t>
            </a:r>
          </a:p>
          <a:p>
            <a:endParaRPr lang="en-US" dirty="0"/>
          </a:p>
          <a:p>
            <a:endParaRPr lang="en-US" dirty="0"/>
          </a:p>
          <a:p>
            <a:endParaRPr lang="en-US" dirty="0"/>
          </a:p>
        </p:txBody>
      </p:sp>
      <p:sp>
        <p:nvSpPr>
          <p:cNvPr id="2" name="Slide Number Placeholder 1">
            <a:extLst>
              <a:ext uri="{FF2B5EF4-FFF2-40B4-BE49-F238E27FC236}">
                <a16:creationId xmlns:a16="http://schemas.microsoft.com/office/drawing/2014/main" id="{43E39513-EE22-4095-836F-3C95A925FF3D}"/>
              </a:ext>
            </a:extLst>
          </p:cNvPr>
          <p:cNvSpPr>
            <a:spLocks noGrp="1"/>
          </p:cNvSpPr>
          <p:nvPr>
            <p:ph type="sldNum" sz="quarter" idx="12"/>
          </p:nvPr>
        </p:nvSpPr>
        <p:spPr/>
        <p:txBody>
          <a:bodyPr/>
          <a:lstStyle/>
          <a:p>
            <a:fld id="{25C2CBD0-4E8A-462D-9424-859647FC3ED0}" type="slidenum">
              <a:rPr lang="en-US" smtClean="0"/>
              <a:pPr/>
              <a:t>99</a:t>
            </a:fld>
            <a:endParaRPr lang="en-US"/>
          </a:p>
        </p:txBody>
      </p:sp>
      <p:sp>
        <p:nvSpPr>
          <p:cNvPr id="3" name="Footer Placeholder 2">
            <a:extLst>
              <a:ext uri="{FF2B5EF4-FFF2-40B4-BE49-F238E27FC236}">
                <a16:creationId xmlns:a16="http://schemas.microsoft.com/office/drawing/2014/main" id="{29EA5987-1B8D-8524-81AF-7A9E22DACFBA}"/>
              </a:ext>
            </a:extLst>
          </p:cNvPr>
          <p:cNvSpPr>
            <a:spLocks noGrp="1"/>
          </p:cNvSpPr>
          <p:nvPr>
            <p:ph type="ftr" sz="quarter" idx="11"/>
          </p:nvPr>
        </p:nvSpPr>
        <p:spPr/>
        <p:txBody>
          <a:bodyPr/>
          <a:lstStyle/>
          <a:p>
            <a:r>
              <a:rPr lang="en-US"/>
              <a:t>Object Oriented Programming-Spring 24</a:t>
            </a:r>
            <a:endParaRPr lang="en-US" dirty="0"/>
          </a:p>
        </p:txBody>
      </p:sp>
    </p:spTree>
    <p:extLst>
      <p:ext uri="{BB962C8B-B14F-4D97-AF65-F5344CB8AC3E}">
        <p14:creationId xmlns:p14="http://schemas.microsoft.com/office/powerpoint/2010/main" val="13246830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String Library</a:t>
            </a:r>
          </a:p>
        </p:txBody>
      </p:sp>
      <p:sp>
        <p:nvSpPr>
          <p:cNvPr id="45059" name="Rectangle 3"/>
          <p:cNvSpPr>
            <a:spLocks noGrp="1" noChangeArrowheads="1"/>
          </p:cNvSpPr>
          <p:nvPr>
            <p:ph idx="1"/>
          </p:nvPr>
        </p:nvSpPr>
        <p:spPr/>
        <p:txBody>
          <a:bodyPr>
            <a:normAutofit fontScale="40000" lnSpcReduction="20000"/>
          </a:bodyPr>
          <a:lstStyle/>
          <a:p>
            <a:pPr marL="0" indent="0">
              <a:lnSpc>
                <a:spcPct val="130000"/>
              </a:lnSpc>
              <a:spcBef>
                <a:spcPts val="0"/>
              </a:spcBef>
              <a:buNone/>
            </a:pPr>
            <a:r>
              <a:rPr lang="en-US" sz="3300" b="1" dirty="0" err="1"/>
              <a:t>ostream</a:t>
            </a:r>
            <a:r>
              <a:rPr lang="en-US" sz="3300" b="1" dirty="0"/>
              <a:t>&amp; operator&lt;&lt; (</a:t>
            </a:r>
            <a:r>
              <a:rPr lang="en-US" sz="3300" b="1" dirty="0" err="1"/>
              <a:t>ostream</a:t>
            </a:r>
            <a:r>
              <a:rPr lang="en-US" sz="3300" b="1" dirty="0"/>
              <a:t> &amp;out, String &amp;str)</a:t>
            </a:r>
          </a:p>
          <a:p>
            <a:pPr marL="0" indent="0">
              <a:lnSpc>
                <a:spcPct val="130000"/>
              </a:lnSpc>
              <a:spcBef>
                <a:spcPts val="0"/>
              </a:spcBef>
              <a:buNone/>
            </a:pPr>
            <a:r>
              <a:rPr lang="en-US" sz="3300" b="1" dirty="0"/>
              <a:t>{</a:t>
            </a:r>
          </a:p>
          <a:p>
            <a:pPr marL="0" indent="0">
              <a:lnSpc>
                <a:spcPct val="130000"/>
              </a:lnSpc>
              <a:spcBef>
                <a:spcPts val="0"/>
              </a:spcBef>
              <a:buNone/>
            </a:pPr>
            <a:r>
              <a:rPr lang="en-US" sz="3300" b="1" dirty="0"/>
              <a:t>	out &lt;&lt; </a:t>
            </a:r>
            <a:r>
              <a:rPr lang="en-US" sz="3300" b="1" dirty="0" err="1"/>
              <a:t>str.text</a:t>
            </a:r>
            <a:r>
              <a:rPr lang="en-US" sz="3300" b="1" dirty="0"/>
              <a:t>;</a:t>
            </a:r>
          </a:p>
          <a:p>
            <a:pPr marL="0" indent="0">
              <a:lnSpc>
                <a:spcPct val="130000"/>
              </a:lnSpc>
              <a:spcBef>
                <a:spcPts val="0"/>
              </a:spcBef>
              <a:buNone/>
            </a:pPr>
            <a:r>
              <a:rPr lang="en-US" sz="3300" b="1" dirty="0"/>
              <a:t>	return out;</a:t>
            </a:r>
          </a:p>
          <a:p>
            <a:pPr marL="0" indent="0">
              <a:lnSpc>
                <a:spcPct val="130000"/>
              </a:lnSpc>
              <a:spcBef>
                <a:spcPts val="0"/>
              </a:spcBef>
              <a:buNone/>
            </a:pPr>
            <a:r>
              <a:rPr lang="en-US" sz="3300" b="1" dirty="0"/>
              <a:t>}</a:t>
            </a:r>
          </a:p>
          <a:p>
            <a:pPr marL="0" indent="0">
              <a:lnSpc>
                <a:spcPct val="130000"/>
              </a:lnSpc>
              <a:spcBef>
                <a:spcPts val="0"/>
              </a:spcBef>
              <a:buNone/>
            </a:pPr>
            <a:endParaRPr lang="en-US" sz="3300" b="1" dirty="0"/>
          </a:p>
          <a:p>
            <a:pPr marL="0" indent="0">
              <a:lnSpc>
                <a:spcPct val="130000"/>
              </a:lnSpc>
              <a:spcBef>
                <a:spcPts val="0"/>
              </a:spcBef>
              <a:buNone/>
            </a:pPr>
            <a:endParaRPr lang="en-US" sz="3300" b="1" dirty="0"/>
          </a:p>
          <a:p>
            <a:pPr marL="0" indent="0">
              <a:lnSpc>
                <a:spcPct val="130000"/>
              </a:lnSpc>
              <a:spcBef>
                <a:spcPts val="0"/>
              </a:spcBef>
              <a:buNone/>
            </a:pPr>
            <a:r>
              <a:rPr lang="en-US" sz="3300" b="1" dirty="0" err="1"/>
              <a:t>istream</a:t>
            </a:r>
            <a:r>
              <a:rPr lang="en-US" sz="3300" b="1" dirty="0"/>
              <a:t>&amp; operator&gt;&gt; (</a:t>
            </a:r>
            <a:r>
              <a:rPr lang="en-US" sz="3300" b="1" dirty="0" err="1"/>
              <a:t>istream</a:t>
            </a:r>
            <a:r>
              <a:rPr lang="en-US" sz="3300" b="1" dirty="0"/>
              <a:t> &amp;in, String &amp;str)</a:t>
            </a:r>
          </a:p>
          <a:p>
            <a:pPr marL="0" indent="0">
              <a:lnSpc>
                <a:spcPct val="130000"/>
              </a:lnSpc>
              <a:spcBef>
                <a:spcPts val="0"/>
              </a:spcBef>
              <a:buNone/>
            </a:pPr>
            <a:r>
              <a:rPr lang="en-US" sz="3300" b="1" dirty="0"/>
              <a:t>{</a:t>
            </a:r>
          </a:p>
          <a:p>
            <a:pPr marL="0" indent="0">
              <a:lnSpc>
                <a:spcPct val="130000"/>
              </a:lnSpc>
              <a:spcBef>
                <a:spcPts val="0"/>
              </a:spcBef>
              <a:buNone/>
            </a:pPr>
            <a:r>
              <a:rPr lang="en-US" sz="3300" b="1" dirty="0"/>
              <a:t>	char temp[200];</a:t>
            </a:r>
          </a:p>
          <a:p>
            <a:pPr marL="0" indent="0">
              <a:lnSpc>
                <a:spcPct val="130000"/>
              </a:lnSpc>
              <a:spcBef>
                <a:spcPts val="0"/>
              </a:spcBef>
              <a:buNone/>
            </a:pPr>
            <a:r>
              <a:rPr lang="en-US" sz="3300" b="1" dirty="0"/>
              <a:t>	in &gt;&gt; temp;</a:t>
            </a:r>
          </a:p>
          <a:p>
            <a:pPr marL="0" indent="0">
              <a:lnSpc>
                <a:spcPct val="130000"/>
              </a:lnSpc>
              <a:spcBef>
                <a:spcPts val="0"/>
              </a:spcBef>
              <a:buNone/>
            </a:pPr>
            <a:r>
              <a:rPr lang="en-US" sz="3300" b="1" dirty="0"/>
              <a:t>	text = new char[</a:t>
            </a:r>
            <a:r>
              <a:rPr lang="en-US" sz="3300" b="1" dirty="0" err="1"/>
              <a:t>strlen</a:t>
            </a:r>
            <a:r>
              <a:rPr lang="en-US" sz="3300" b="1" dirty="0"/>
              <a:t>(temp)];</a:t>
            </a:r>
          </a:p>
          <a:p>
            <a:pPr marL="0" indent="0">
              <a:lnSpc>
                <a:spcPct val="130000"/>
              </a:lnSpc>
              <a:spcBef>
                <a:spcPts val="0"/>
              </a:spcBef>
              <a:buNone/>
            </a:pPr>
            <a:r>
              <a:rPr lang="en-US" sz="3300" b="1" dirty="0"/>
              <a:t>	</a:t>
            </a:r>
            <a:r>
              <a:rPr lang="en-US" sz="3300" b="1" dirty="0" err="1"/>
              <a:t>strcpy</a:t>
            </a:r>
            <a:r>
              <a:rPr lang="en-US" sz="3300" b="1" dirty="0"/>
              <a:t>(</a:t>
            </a:r>
            <a:r>
              <a:rPr lang="en-US" sz="3300" b="1" dirty="0" err="1"/>
              <a:t>text,temp</a:t>
            </a:r>
            <a:r>
              <a:rPr lang="en-US" sz="3300" b="1" dirty="0"/>
              <a:t>);</a:t>
            </a:r>
          </a:p>
          <a:p>
            <a:pPr marL="0" indent="0">
              <a:lnSpc>
                <a:spcPct val="130000"/>
              </a:lnSpc>
              <a:spcBef>
                <a:spcPts val="0"/>
              </a:spcBef>
              <a:buNone/>
            </a:pPr>
            <a:endParaRPr lang="en-US" sz="3300" b="1" dirty="0"/>
          </a:p>
          <a:p>
            <a:pPr marL="0" indent="0">
              <a:lnSpc>
                <a:spcPct val="130000"/>
              </a:lnSpc>
              <a:spcBef>
                <a:spcPts val="0"/>
              </a:spcBef>
              <a:buNone/>
            </a:pPr>
            <a:r>
              <a:rPr lang="en-US" sz="3300" b="1" dirty="0"/>
              <a:t>	return in;</a:t>
            </a:r>
          </a:p>
          <a:p>
            <a:pPr marL="0" indent="0">
              <a:lnSpc>
                <a:spcPct val="130000"/>
              </a:lnSpc>
              <a:spcBef>
                <a:spcPts val="0"/>
              </a:spcBef>
              <a:buNone/>
            </a:pPr>
            <a:r>
              <a:rPr lang="en-US" sz="3300" b="1" dirty="0"/>
              <a:t>}</a:t>
            </a:r>
          </a:p>
          <a:p>
            <a:endParaRPr lang="en-US" dirty="0"/>
          </a:p>
          <a:p>
            <a:endParaRPr lang="en-US" dirty="0"/>
          </a:p>
          <a:p>
            <a:endParaRPr lang="en-US" dirty="0"/>
          </a:p>
        </p:txBody>
      </p:sp>
      <p:sp>
        <p:nvSpPr>
          <p:cNvPr id="2" name="Slide Number Placeholder 1">
            <a:extLst>
              <a:ext uri="{FF2B5EF4-FFF2-40B4-BE49-F238E27FC236}">
                <a16:creationId xmlns:a16="http://schemas.microsoft.com/office/drawing/2014/main" id="{A2D8028D-B4BC-46B9-B2C8-0300A3BF367B}"/>
              </a:ext>
            </a:extLst>
          </p:cNvPr>
          <p:cNvSpPr>
            <a:spLocks noGrp="1"/>
          </p:cNvSpPr>
          <p:nvPr>
            <p:ph type="sldNum" sz="quarter" idx="12"/>
          </p:nvPr>
        </p:nvSpPr>
        <p:spPr/>
        <p:txBody>
          <a:bodyPr/>
          <a:lstStyle/>
          <a:p>
            <a:fld id="{25C2CBD0-4E8A-462D-9424-859647FC3ED0}" type="slidenum">
              <a:rPr lang="en-US" smtClean="0"/>
              <a:pPr/>
              <a:t>100</a:t>
            </a:fld>
            <a:endParaRPr lang="en-US"/>
          </a:p>
        </p:txBody>
      </p:sp>
      <p:sp>
        <p:nvSpPr>
          <p:cNvPr id="3" name="Footer Placeholder 2">
            <a:extLst>
              <a:ext uri="{FF2B5EF4-FFF2-40B4-BE49-F238E27FC236}">
                <a16:creationId xmlns:a16="http://schemas.microsoft.com/office/drawing/2014/main" id="{9FD3E1E9-91A5-37DC-987D-8987840CDD74}"/>
              </a:ext>
            </a:extLst>
          </p:cNvPr>
          <p:cNvSpPr>
            <a:spLocks noGrp="1"/>
          </p:cNvSpPr>
          <p:nvPr>
            <p:ph type="ftr" sz="quarter" idx="11"/>
          </p:nvPr>
        </p:nvSpPr>
        <p:spPr/>
        <p:txBody>
          <a:bodyPr/>
          <a:lstStyle/>
          <a:p>
            <a:r>
              <a:rPr lang="en-US"/>
              <a:t>Object Oriented Programming-Spring 24</a:t>
            </a:r>
            <a:endParaRPr lang="en-US" dirty="0"/>
          </a:p>
        </p:txBody>
      </p:sp>
    </p:spTree>
    <p:extLst>
      <p:ext uri="{BB962C8B-B14F-4D97-AF65-F5344CB8AC3E}">
        <p14:creationId xmlns:p14="http://schemas.microsoft.com/office/powerpoint/2010/main" val="393038384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dirty="0"/>
              <a:t>String Library</a:t>
            </a:r>
          </a:p>
        </p:txBody>
      </p:sp>
      <p:sp>
        <p:nvSpPr>
          <p:cNvPr id="47107" name="Rectangle 3"/>
          <p:cNvSpPr>
            <a:spLocks noGrp="1" noChangeArrowheads="1"/>
          </p:cNvSpPr>
          <p:nvPr>
            <p:ph idx="1"/>
          </p:nvPr>
        </p:nvSpPr>
        <p:spPr/>
        <p:txBody>
          <a:bodyPr>
            <a:normAutofit fontScale="92500" lnSpcReduction="10000"/>
          </a:bodyPr>
          <a:lstStyle/>
          <a:p>
            <a:pPr marL="0" indent="0">
              <a:lnSpc>
                <a:spcPct val="130000"/>
              </a:lnSpc>
              <a:spcBef>
                <a:spcPts val="0"/>
              </a:spcBef>
              <a:buNone/>
            </a:pPr>
            <a:r>
              <a:rPr lang="en-US" sz="1300" b="1" dirty="0"/>
              <a:t>int main ( )</a:t>
            </a:r>
          </a:p>
          <a:p>
            <a:pPr marL="0" indent="0">
              <a:lnSpc>
                <a:spcPct val="130000"/>
              </a:lnSpc>
              <a:spcBef>
                <a:spcPts val="0"/>
              </a:spcBef>
              <a:buNone/>
            </a:pPr>
            <a:r>
              <a:rPr lang="en-US" sz="1300" b="1" dirty="0"/>
              <a:t>{</a:t>
            </a:r>
          </a:p>
          <a:p>
            <a:pPr marL="0" indent="0">
              <a:lnSpc>
                <a:spcPct val="130000"/>
              </a:lnSpc>
              <a:spcBef>
                <a:spcPts val="0"/>
              </a:spcBef>
              <a:buNone/>
            </a:pPr>
            <a:r>
              <a:rPr lang="en-US" sz="1300" b="1" dirty="0"/>
              <a:t>		String string1 = </a:t>
            </a:r>
            <a:r>
              <a:rPr lang="ja-JP" altLang="en-US" sz="1300" b="1" dirty="0"/>
              <a:t>“</a:t>
            </a:r>
            <a:r>
              <a:rPr lang="en-US" altLang="ja-JP" sz="1300" b="1" dirty="0"/>
              <a:t>hello</a:t>
            </a:r>
            <a:r>
              <a:rPr lang="ja-JP" altLang="en-US" sz="1300" b="1" dirty="0"/>
              <a:t>”</a:t>
            </a:r>
            <a:r>
              <a:rPr lang="en-US" altLang="ja-JP" sz="1300" b="1" dirty="0"/>
              <a:t>;</a:t>
            </a:r>
          </a:p>
          <a:p>
            <a:pPr marL="0" indent="0">
              <a:lnSpc>
                <a:spcPct val="130000"/>
              </a:lnSpc>
              <a:spcBef>
                <a:spcPts val="0"/>
              </a:spcBef>
              <a:buNone/>
            </a:pPr>
            <a:r>
              <a:rPr lang="en-US" sz="1300" b="1" dirty="0"/>
              <a:t>		String string2 = </a:t>
            </a:r>
            <a:r>
              <a:rPr lang="ja-JP" altLang="en-US" sz="1300" b="1" dirty="0"/>
              <a:t>“”</a:t>
            </a:r>
            <a:r>
              <a:rPr lang="en-US" altLang="ja-JP" sz="1300" b="1" dirty="0"/>
              <a:t>;</a:t>
            </a:r>
          </a:p>
          <a:p>
            <a:pPr marL="0" indent="0">
              <a:lnSpc>
                <a:spcPct val="130000"/>
              </a:lnSpc>
              <a:spcBef>
                <a:spcPts val="0"/>
              </a:spcBef>
              <a:buNone/>
            </a:pPr>
            <a:endParaRPr lang="en-US" sz="1300" b="1" dirty="0"/>
          </a:p>
          <a:p>
            <a:pPr marL="0" indent="0">
              <a:lnSpc>
                <a:spcPct val="130000"/>
              </a:lnSpc>
              <a:spcBef>
                <a:spcPts val="0"/>
              </a:spcBef>
              <a:buNone/>
            </a:pPr>
            <a:r>
              <a:rPr lang="en-US" sz="1300" b="1" dirty="0"/>
              <a:t>		string1 = </a:t>
            </a:r>
            <a:r>
              <a:rPr lang="ja-JP" altLang="en-US" sz="1300" b="1" dirty="0"/>
              <a:t>“</a:t>
            </a:r>
            <a:r>
              <a:rPr lang="en-US" altLang="ja-JP" sz="1300" b="1" dirty="0"/>
              <a:t>hello world</a:t>
            </a:r>
            <a:r>
              <a:rPr lang="ja-JP" altLang="en-US" sz="1300" b="1" dirty="0"/>
              <a:t>”</a:t>
            </a:r>
            <a:r>
              <a:rPr lang="en-US" altLang="ja-JP" sz="1300" b="1" dirty="0"/>
              <a:t>;</a:t>
            </a:r>
          </a:p>
          <a:p>
            <a:pPr marL="0" indent="0">
              <a:lnSpc>
                <a:spcPct val="130000"/>
              </a:lnSpc>
              <a:spcBef>
                <a:spcPts val="0"/>
              </a:spcBef>
              <a:buNone/>
            </a:pPr>
            <a:r>
              <a:rPr lang="en-US" sz="1300" b="1" dirty="0"/>
              <a:t>		</a:t>
            </a:r>
            <a:r>
              <a:rPr lang="en-US" sz="1300" b="1" dirty="0" err="1"/>
              <a:t>cout</a:t>
            </a:r>
            <a:r>
              <a:rPr lang="en-US" sz="1300" b="1" dirty="0"/>
              <a:t> &lt;&lt; </a:t>
            </a:r>
            <a:r>
              <a:rPr lang="ja-JP" altLang="en-US" sz="1300" b="1" dirty="0"/>
              <a:t>“</a:t>
            </a:r>
            <a:r>
              <a:rPr lang="en-US" altLang="ja-JP" sz="1300" b="1" dirty="0"/>
              <a:t>Enter string 2 text</a:t>
            </a:r>
            <a:r>
              <a:rPr lang="ja-JP" altLang="en-US" sz="1300" b="1" dirty="0"/>
              <a:t>”</a:t>
            </a:r>
            <a:r>
              <a:rPr lang="en-US" altLang="ja-JP" sz="1300" b="1" dirty="0"/>
              <a:t> &lt;&lt; </a:t>
            </a:r>
            <a:r>
              <a:rPr lang="en-US" altLang="ja-JP" sz="1300" b="1" dirty="0" err="1"/>
              <a:t>endl</a:t>
            </a:r>
            <a:r>
              <a:rPr lang="en-US" altLang="ja-JP" sz="1300" b="1" dirty="0"/>
              <a:t>;</a:t>
            </a:r>
          </a:p>
          <a:p>
            <a:pPr marL="0" indent="0">
              <a:lnSpc>
                <a:spcPct val="130000"/>
              </a:lnSpc>
              <a:spcBef>
                <a:spcPts val="0"/>
              </a:spcBef>
              <a:buNone/>
            </a:pPr>
            <a:r>
              <a:rPr lang="en-US" sz="1300" b="1" dirty="0"/>
              <a:t>		</a:t>
            </a:r>
            <a:r>
              <a:rPr lang="en-US" sz="1300" b="1" dirty="0" err="1"/>
              <a:t>cin</a:t>
            </a:r>
            <a:r>
              <a:rPr lang="en-US" sz="1300" b="1" dirty="0"/>
              <a:t> &gt;&gt; string2;</a:t>
            </a:r>
          </a:p>
          <a:p>
            <a:pPr marL="0" indent="0">
              <a:lnSpc>
                <a:spcPct val="130000"/>
              </a:lnSpc>
              <a:spcBef>
                <a:spcPts val="0"/>
              </a:spcBef>
              <a:buNone/>
            </a:pPr>
            <a:r>
              <a:rPr lang="en-US" sz="1300" b="1" dirty="0"/>
              <a:t>	</a:t>
            </a:r>
          </a:p>
          <a:p>
            <a:pPr marL="0" indent="0">
              <a:lnSpc>
                <a:spcPct val="130000"/>
              </a:lnSpc>
              <a:spcBef>
                <a:spcPts val="0"/>
              </a:spcBef>
              <a:buNone/>
            </a:pPr>
            <a:r>
              <a:rPr lang="en-US" sz="1300" b="1" dirty="0"/>
              <a:t>		if ( string1 == string2 )</a:t>
            </a:r>
          </a:p>
          <a:p>
            <a:pPr marL="0" indent="0">
              <a:lnSpc>
                <a:spcPct val="130000"/>
              </a:lnSpc>
              <a:spcBef>
                <a:spcPts val="0"/>
              </a:spcBef>
              <a:buNone/>
            </a:pPr>
            <a:r>
              <a:rPr lang="en-US" sz="1300" b="1" dirty="0"/>
              <a:t>			</a:t>
            </a:r>
            <a:r>
              <a:rPr lang="en-US" sz="1300" b="1" dirty="0" err="1"/>
              <a:t>cout</a:t>
            </a:r>
            <a:r>
              <a:rPr lang="en-US" sz="1300" b="1" dirty="0"/>
              <a:t> &lt;&lt; </a:t>
            </a:r>
            <a:r>
              <a:rPr lang="ja-JP" altLang="en-US" sz="1300" b="1" dirty="0"/>
              <a:t>“</a:t>
            </a:r>
            <a:r>
              <a:rPr lang="en-US" altLang="ja-JP" sz="1300" b="1" dirty="0"/>
              <a:t>Both strings are equal</a:t>
            </a:r>
            <a:r>
              <a:rPr lang="ja-JP" altLang="en-US" sz="1300" b="1" dirty="0"/>
              <a:t>”</a:t>
            </a:r>
            <a:r>
              <a:rPr lang="en-US" altLang="ja-JP" sz="1300" b="1" dirty="0"/>
              <a:t> &lt;&lt; </a:t>
            </a:r>
            <a:r>
              <a:rPr lang="en-US" altLang="ja-JP" sz="1300" b="1" dirty="0" err="1"/>
              <a:t>endl</a:t>
            </a:r>
            <a:r>
              <a:rPr lang="en-US" altLang="ja-JP" sz="1300" b="1" dirty="0"/>
              <a:t>;</a:t>
            </a:r>
          </a:p>
          <a:p>
            <a:pPr marL="0" indent="0">
              <a:lnSpc>
                <a:spcPct val="130000"/>
              </a:lnSpc>
              <a:spcBef>
                <a:spcPts val="0"/>
              </a:spcBef>
              <a:buNone/>
            </a:pPr>
            <a:endParaRPr lang="en-US" sz="1300" b="1" dirty="0"/>
          </a:p>
          <a:p>
            <a:pPr marL="0" indent="0">
              <a:lnSpc>
                <a:spcPct val="130000"/>
              </a:lnSpc>
              <a:spcBef>
                <a:spcPts val="0"/>
              </a:spcBef>
              <a:buNone/>
            </a:pPr>
            <a:r>
              <a:rPr lang="en-US" sz="1300" b="1" dirty="0"/>
              <a:t>		string2[0] = </a:t>
            </a:r>
            <a:r>
              <a:rPr lang="ja-JP" altLang="en-US" sz="1300" b="1" dirty="0"/>
              <a:t>‘</a:t>
            </a:r>
            <a:r>
              <a:rPr lang="en-US" altLang="ja-JP" sz="1300" b="1" dirty="0"/>
              <a:t>a</a:t>
            </a:r>
            <a:r>
              <a:rPr lang="ja-JP" altLang="en-US" sz="1300" b="1" dirty="0"/>
              <a:t>’</a:t>
            </a:r>
            <a:r>
              <a:rPr lang="en-US" altLang="ja-JP" sz="1300" b="1" dirty="0"/>
              <a:t>;</a:t>
            </a:r>
          </a:p>
          <a:p>
            <a:pPr marL="0" indent="0">
              <a:lnSpc>
                <a:spcPct val="130000"/>
              </a:lnSpc>
              <a:spcBef>
                <a:spcPts val="0"/>
              </a:spcBef>
              <a:buNone/>
            </a:pPr>
            <a:r>
              <a:rPr lang="en-US" sz="1300" b="1" dirty="0"/>
              <a:t>		string2[1] = </a:t>
            </a:r>
            <a:r>
              <a:rPr lang="ja-JP" altLang="en-US" sz="1300" b="1" dirty="0"/>
              <a:t>‘</a:t>
            </a:r>
            <a:r>
              <a:rPr lang="en-US" altLang="ja-JP" sz="1300" b="1" dirty="0"/>
              <a:t>b</a:t>
            </a:r>
            <a:r>
              <a:rPr lang="ja-JP" altLang="en-US" sz="1300" b="1" dirty="0"/>
              <a:t>’</a:t>
            </a:r>
            <a:r>
              <a:rPr lang="en-US" altLang="ja-JP" sz="1300" b="1" dirty="0"/>
              <a:t>;</a:t>
            </a:r>
          </a:p>
          <a:p>
            <a:pPr marL="0" indent="0">
              <a:lnSpc>
                <a:spcPct val="130000"/>
              </a:lnSpc>
              <a:spcBef>
                <a:spcPts val="0"/>
              </a:spcBef>
              <a:buNone/>
            </a:pPr>
            <a:r>
              <a:rPr lang="en-US" sz="1300" b="1" dirty="0"/>
              <a:t>		</a:t>
            </a:r>
            <a:r>
              <a:rPr lang="en-US" sz="1300" b="1" dirty="0" err="1"/>
              <a:t>cout</a:t>
            </a:r>
            <a:r>
              <a:rPr lang="en-US" sz="1300" b="1" dirty="0"/>
              <a:t> &lt;&lt; </a:t>
            </a:r>
            <a:r>
              <a:rPr lang="ja-JP" altLang="en-US" sz="1300" b="1" dirty="0"/>
              <a:t>“</a:t>
            </a:r>
            <a:r>
              <a:rPr lang="en-US" altLang="ja-JP" sz="1300" b="1" dirty="0"/>
              <a:t>The second string is </a:t>
            </a:r>
            <a:r>
              <a:rPr lang="ja-JP" altLang="en-US" sz="1300" b="1" dirty="0"/>
              <a:t>“</a:t>
            </a:r>
            <a:r>
              <a:rPr lang="en-US" altLang="ja-JP" sz="1300" b="1" dirty="0"/>
              <a:t> &lt;&lt; string2 &lt;&lt; </a:t>
            </a:r>
            <a:r>
              <a:rPr lang="en-US" altLang="ja-JP" sz="1300" b="1" dirty="0" err="1"/>
              <a:t>endl</a:t>
            </a:r>
            <a:r>
              <a:rPr lang="en-US" altLang="ja-JP" sz="1300" b="1" dirty="0"/>
              <a:t>;</a:t>
            </a:r>
          </a:p>
          <a:p>
            <a:pPr marL="0" indent="0">
              <a:lnSpc>
                <a:spcPct val="130000"/>
              </a:lnSpc>
              <a:spcBef>
                <a:spcPts val="0"/>
              </a:spcBef>
              <a:buNone/>
            </a:pPr>
            <a:r>
              <a:rPr lang="en-US" sz="1300" b="1" dirty="0"/>
              <a:t>		</a:t>
            </a:r>
          </a:p>
          <a:p>
            <a:pPr marL="0" indent="0">
              <a:lnSpc>
                <a:spcPct val="130000"/>
              </a:lnSpc>
              <a:spcBef>
                <a:spcPts val="0"/>
              </a:spcBef>
              <a:buNone/>
            </a:pPr>
            <a:r>
              <a:rPr lang="en-US" sz="1300" b="1" dirty="0"/>
              <a:t>		</a:t>
            </a:r>
            <a:r>
              <a:rPr lang="en-US" sz="1300" b="1" dirty="0" err="1"/>
              <a:t>cout</a:t>
            </a:r>
            <a:r>
              <a:rPr lang="en-US" sz="1300" b="1" dirty="0"/>
              <a:t>  &lt;&lt; the first character is </a:t>
            </a:r>
            <a:r>
              <a:rPr lang="ja-JP" altLang="en-US" sz="1300" b="1" dirty="0"/>
              <a:t>“</a:t>
            </a:r>
            <a:r>
              <a:rPr lang="en-US" altLang="ja-JP" sz="1300" b="1" dirty="0"/>
              <a:t>&lt;&lt; string1[0] &lt;&lt; </a:t>
            </a:r>
            <a:r>
              <a:rPr lang="en-US" altLang="ja-JP" sz="1300" b="1" dirty="0" err="1"/>
              <a:t>endl</a:t>
            </a:r>
            <a:r>
              <a:rPr lang="en-US" altLang="ja-JP" sz="1300" b="1" dirty="0"/>
              <a:t>;</a:t>
            </a:r>
          </a:p>
          <a:p>
            <a:pPr marL="0" indent="0">
              <a:lnSpc>
                <a:spcPct val="130000"/>
              </a:lnSpc>
              <a:spcBef>
                <a:spcPts val="0"/>
              </a:spcBef>
              <a:buNone/>
            </a:pPr>
            <a:r>
              <a:rPr lang="en-US" sz="1300" b="1" dirty="0"/>
              <a:t>}</a:t>
            </a:r>
          </a:p>
        </p:txBody>
      </p:sp>
      <p:sp>
        <p:nvSpPr>
          <p:cNvPr id="2" name="Slide Number Placeholder 1">
            <a:extLst>
              <a:ext uri="{FF2B5EF4-FFF2-40B4-BE49-F238E27FC236}">
                <a16:creationId xmlns:a16="http://schemas.microsoft.com/office/drawing/2014/main" id="{7D90A462-2A15-4E72-B996-2C204E3FFB77}"/>
              </a:ext>
            </a:extLst>
          </p:cNvPr>
          <p:cNvSpPr>
            <a:spLocks noGrp="1"/>
          </p:cNvSpPr>
          <p:nvPr>
            <p:ph type="sldNum" sz="quarter" idx="12"/>
          </p:nvPr>
        </p:nvSpPr>
        <p:spPr/>
        <p:txBody>
          <a:bodyPr/>
          <a:lstStyle/>
          <a:p>
            <a:fld id="{25C2CBD0-4E8A-462D-9424-859647FC3ED0}" type="slidenum">
              <a:rPr lang="en-US" smtClean="0"/>
              <a:pPr/>
              <a:t>101</a:t>
            </a:fld>
            <a:endParaRPr lang="en-US"/>
          </a:p>
        </p:txBody>
      </p:sp>
      <p:sp>
        <p:nvSpPr>
          <p:cNvPr id="3" name="Footer Placeholder 2">
            <a:extLst>
              <a:ext uri="{FF2B5EF4-FFF2-40B4-BE49-F238E27FC236}">
                <a16:creationId xmlns:a16="http://schemas.microsoft.com/office/drawing/2014/main" id="{B3D6444C-9BDF-1D70-CE4E-BC85F539EAB1}"/>
              </a:ext>
            </a:extLst>
          </p:cNvPr>
          <p:cNvSpPr>
            <a:spLocks noGrp="1"/>
          </p:cNvSpPr>
          <p:nvPr>
            <p:ph type="ftr" sz="quarter" idx="11"/>
          </p:nvPr>
        </p:nvSpPr>
        <p:spPr/>
        <p:txBody>
          <a:bodyPr/>
          <a:lstStyle/>
          <a:p>
            <a:r>
              <a:rPr lang="en-US"/>
              <a:t>Object Oriented Programming-Spring 24</a:t>
            </a:r>
            <a:endParaRPr lang="en-US" dirty="0"/>
          </a:p>
        </p:txBody>
      </p:sp>
    </p:spTree>
    <p:extLst>
      <p:ext uri="{BB962C8B-B14F-4D97-AF65-F5344CB8AC3E}">
        <p14:creationId xmlns:p14="http://schemas.microsoft.com/office/powerpoint/2010/main" val="3177109064"/>
      </p:ext>
    </p:extLst>
  </p:cSld>
  <p:clrMapOvr>
    <a:masterClrMapping/>
  </p:clrMapOvr>
</p:sld>
</file>

<file path=ppt/theme/theme1.xml><?xml version="1.0" encoding="utf-8"?>
<a:theme xmlns:a="http://schemas.openxmlformats.org/drawingml/2006/main" name="BrushVTI">
  <a:themeElements>
    <a:clrScheme name="AnalogousFromRegularSeedRightStep">
      <a:dk1>
        <a:srgbClr val="000000"/>
      </a:dk1>
      <a:lt1>
        <a:srgbClr val="FFFFFF"/>
      </a:lt1>
      <a:dk2>
        <a:srgbClr val="412724"/>
      </a:dk2>
      <a:lt2>
        <a:srgbClr val="E2E8E4"/>
      </a:lt2>
      <a:accent1>
        <a:srgbClr val="D739AE"/>
      </a:accent1>
      <a:accent2>
        <a:srgbClr val="C5275A"/>
      </a:accent2>
      <a:accent3>
        <a:srgbClr val="D74839"/>
      </a:accent3>
      <a:accent4>
        <a:srgbClr val="C57827"/>
      </a:accent4>
      <a:accent5>
        <a:srgbClr val="B0A72F"/>
      </a:accent5>
      <a:accent6>
        <a:srgbClr val="81B223"/>
      </a:accent6>
      <a:hlink>
        <a:srgbClr val="31944B"/>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2790</TotalTime>
  <Words>6571</Words>
  <Application>Microsoft Office PowerPoint</Application>
  <PresentationFormat>Widescreen</PresentationFormat>
  <Paragraphs>1180</Paragraphs>
  <Slides>101</Slides>
  <Notes>7</Notes>
  <HiddenSlides>1</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101</vt:i4>
      </vt:variant>
    </vt:vector>
  </HeadingPairs>
  <TitlesOfParts>
    <vt:vector size="115" baseType="lpstr">
      <vt:lpstr>Arial</vt:lpstr>
      <vt:lpstr>Calibri</vt:lpstr>
      <vt:lpstr>Century Gothic</vt:lpstr>
      <vt:lpstr>Consolas</vt:lpstr>
      <vt:lpstr>Courier New</vt:lpstr>
      <vt:lpstr>Elephant</vt:lpstr>
      <vt:lpstr>Monotype Sorts</vt:lpstr>
      <vt:lpstr>Symbol</vt:lpstr>
      <vt:lpstr>Tahoma</vt:lpstr>
      <vt:lpstr>Times New Roman</vt:lpstr>
      <vt:lpstr>Trebuchet MS</vt:lpstr>
      <vt:lpstr>urw-din</vt:lpstr>
      <vt:lpstr>BrushVTI</vt:lpstr>
      <vt:lpstr>Document</vt:lpstr>
      <vt:lpstr>Object Oriented Programming</vt:lpstr>
      <vt:lpstr>Function Overloading</vt:lpstr>
      <vt:lpstr>Operator Overloading</vt:lpstr>
      <vt:lpstr>Operator Overloading</vt:lpstr>
      <vt:lpstr>Operator Overloading</vt:lpstr>
      <vt:lpstr>Operator Overloading Motivation</vt:lpstr>
      <vt:lpstr>How to Overload an Operator?</vt:lpstr>
      <vt:lpstr>How to Overload an Operator?</vt:lpstr>
      <vt:lpstr>Overload as Member or Non-Member Function</vt:lpstr>
      <vt:lpstr>Syntax to Overload an Operator </vt:lpstr>
      <vt:lpstr>Operator Overloading</vt:lpstr>
      <vt:lpstr>Restriction on Operator Overloading</vt:lpstr>
      <vt:lpstr>Restriction on Operator Overloading</vt:lpstr>
      <vt:lpstr>Operator =, operator &amp;</vt:lpstr>
      <vt:lpstr>Invoking Objects</vt:lpstr>
      <vt:lpstr>Operator Overloading Syntax</vt:lpstr>
      <vt:lpstr>Operator Overloading Syntax</vt:lpstr>
      <vt:lpstr>Operator Overloading Syntax</vt:lpstr>
      <vt:lpstr>Operator Overloading Syntax</vt:lpstr>
      <vt:lpstr>Operator Overloading Syntax</vt:lpstr>
      <vt:lpstr>Operator Overloading</vt:lpstr>
      <vt:lpstr>Overloading &gt; operator</vt:lpstr>
      <vt:lpstr>Implementing Overloaded Operators</vt:lpstr>
      <vt:lpstr>Extended Example</vt:lpstr>
      <vt:lpstr>The member functions ‘addTwo’ and operator+</vt:lpstr>
      <vt:lpstr>Using the Member Functions</vt:lpstr>
      <vt:lpstr>Multiple Operators</vt:lpstr>
      <vt:lpstr>Client Code for Class Employee</vt:lpstr>
      <vt:lpstr>The Problem</vt:lpstr>
      <vt:lpstr>The Problem Gets Worse</vt:lpstr>
      <vt:lpstr>Solution 1 </vt:lpstr>
      <vt:lpstr>Solution 1 </vt:lpstr>
      <vt:lpstr>Solution 1</vt:lpstr>
      <vt:lpstr>Solution 2 </vt:lpstr>
      <vt:lpstr>PowerPoint Presentation</vt:lpstr>
      <vt:lpstr>Assignment Operator =</vt:lpstr>
      <vt:lpstr>Using implicit Overloaded Assignment Operator</vt:lpstr>
      <vt:lpstr>Assignment Operator =</vt:lpstr>
      <vt:lpstr>Assignment Operator =</vt:lpstr>
      <vt:lpstr>Assignment Operator =</vt:lpstr>
      <vt:lpstr>Assignment Operator =</vt:lpstr>
      <vt:lpstr>PowerPoint Presentation</vt:lpstr>
      <vt:lpstr>PowerPoint Presentation</vt:lpstr>
      <vt:lpstr>Comparison Operator ==</vt:lpstr>
      <vt:lpstr>Comparison Operator ==</vt:lpstr>
      <vt:lpstr>Comparison Operator ==</vt:lpstr>
      <vt:lpstr>Operator Overloading Syntax</vt:lpstr>
      <vt:lpstr>Overloading ++ and - -</vt:lpstr>
      <vt:lpstr>i++ and ++i ?</vt:lpstr>
      <vt:lpstr>Overloaded ++</vt:lpstr>
      <vt:lpstr>Use of the operator ++</vt:lpstr>
      <vt:lpstr>Overloaded ++</vt:lpstr>
      <vt:lpstr>PowerPoint Presentation</vt:lpstr>
      <vt:lpstr>Problem</vt:lpstr>
      <vt:lpstr>Postfix operator</vt:lpstr>
      <vt:lpstr>PowerPoint Presentation</vt:lpstr>
      <vt:lpstr>Subscript operator [ ]</vt:lpstr>
      <vt:lpstr>Subscript operator [ ]</vt:lpstr>
      <vt:lpstr>Subscript operator [ ]</vt:lpstr>
      <vt:lpstr>Subscript operator [ ]</vt:lpstr>
      <vt:lpstr>Subscript operator [ ]</vt:lpstr>
      <vt:lpstr>PowerPoint Presentation</vt:lpstr>
      <vt:lpstr>Parenthesis operator ()</vt:lpstr>
      <vt:lpstr>PowerPoint Presentation</vt:lpstr>
      <vt:lpstr>PowerPoint Presentation</vt:lpstr>
      <vt:lpstr>Calling an overloaded operator from native data types</vt:lpstr>
      <vt:lpstr>Calling an overloaded operator from native data types</vt:lpstr>
      <vt:lpstr>Friend Functions</vt:lpstr>
      <vt:lpstr>Calling an overloaded operator from native data types</vt:lpstr>
      <vt:lpstr>Example</vt:lpstr>
      <vt:lpstr>Example</vt:lpstr>
      <vt:lpstr>Overloading iostream operators  &gt;&gt; and &lt;&lt;</vt:lpstr>
      <vt:lpstr>Overloading iostream operators  &gt;&gt; and &lt;&lt;</vt:lpstr>
      <vt:lpstr>Overloading iostream operators  &gt;&gt; and &lt;&lt;</vt:lpstr>
      <vt:lpstr>Overloading iostream operators  &gt;&gt; and &lt;&lt;</vt:lpstr>
      <vt:lpstr>Example</vt:lpstr>
      <vt:lpstr>Example</vt:lpstr>
      <vt:lpstr>Example</vt:lpstr>
      <vt:lpstr>Overloading iostream operators  &gt;&gt; and &lt;&lt;</vt:lpstr>
      <vt:lpstr>Data Conversion</vt:lpstr>
      <vt:lpstr>Implicit Conversion b/w Basic Types</vt:lpstr>
      <vt:lpstr>Explicit Conversion b/w Basic Types</vt:lpstr>
      <vt:lpstr>Conversion Between Objects and Basic Types</vt:lpstr>
      <vt:lpstr>Conversion Between Objects and Basic Types</vt:lpstr>
      <vt:lpstr>Conversion From User Defined to Basic</vt:lpstr>
      <vt:lpstr>Conversion From User Defined to Basic</vt:lpstr>
      <vt:lpstr>Conversion From User Defined to Basic</vt:lpstr>
      <vt:lpstr>Conversion From User Defined to Basic</vt:lpstr>
      <vt:lpstr>Conversion between Objects of Different Classes</vt:lpstr>
      <vt:lpstr>Example</vt:lpstr>
      <vt:lpstr>Example</vt:lpstr>
      <vt:lpstr>Consequences of Operator Overloading and Conversion</vt:lpstr>
      <vt:lpstr>Show Restraint </vt:lpstr>
      <vt:lpstr>String Library</vt:lpstr>
      <vt:lpstr>String Library</vt:lpstr>
      <vt:lpstr>String Library</vt:lpstr>
      <vt:lpstr>String Library</vt:lpstr>
      <vt:lpstr>String Library</vt:lpstr>
      <vt:lpstr>String Library</vt:lpstr>
      <vt:lpstr>String Library</vt:lpstr>
      <vt:lpstr>String Library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MARIUM HIDA</dc:creator>
  <cp:lastModifiedBy>Marium Hida</cp:lastModifiedBy>
  <cp:revision>668</cp:revision>
  <cp:lastPrinted>2023-01-23T10:34:20Z</cp:lastPrinted>
  <dcterms:created xsi:type="dcterms:W3CDTF">2023-01-20T09:57:02Z</dcterms:created>
  <dcterms:modified xsi:type="dcterms:W3CDTF">2024-03-18T09:13:55Z</dcterms:modified>
</cp:coreProperties>
</file>