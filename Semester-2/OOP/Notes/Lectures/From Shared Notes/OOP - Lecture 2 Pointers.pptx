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48"/>
  </p:notesMasterIdLst>
  <p:sldIdLst>
    <p:sldId id="257" r:id="rId2"/>
    <p:sldId id="942" r:id="rId3"/>
    <p:sldId id="327" r:id="rId4"/>
    <p:sldId id="326" r:id="rId5"/>
    <p:sldId id="335" r:id="rId6"/>
    <p:sldId id="337" r:id="rId7"/>
    <p:sldId id="338" r:id="rId8"/>
    <p:sldId id="339" r:id="rId9"/>
    <p:sldId id="340" r:id="rId10"/>
    <p:sldId id="344" r:id="rId11"/>
    <p:sldId id="345" r:id="rId12"/>
    <p:sldId id="346" r:id="rId13"/>
    <p:sldId id="275" r:id="rId14"/>
    <p:sldId id="351" r:id="rId15"/>
    <p:sldId id="941" r:id="rId16"/>
    <p:sldId id="410" r:id="rId17"/>
    <p:sldId id="411" r:id="rId18"/>
    <p:sldId id="450" r:id="rId19"/>
    <p:sldId id="451" r:id="rId20"/>
    <p:sldId id="376" r:id="rId21"/>
    <p:sldId id="989" r:id="rId22"/>
    <p:sldId id="377" r:id="rId23"/>
    <p:sldId id="990" r:id="rId24"/>
    <p:sldId id="991" r:id="rId25"/>
    <p:sldId id="992" r:id="rId26"/>
    <p:sldId id="993" r:id="rId27"/>
    <p:sldId id="994" r:id="rId28"/>
    <p:sldId id="995" r:id="rId29"/>
    <p:sldId id="997" r:id="rId30"/>
    <p:sldId id="452" r:id="rId31"/>
    <p:sldId id="996" r:id="rId32"/>
    <p:sldId id="455" r:id="rId33"/>
    <p:sldId id="418" r:id="rId34"/>
    <p:sldId id="454" r:id="rId35"/>
    <p:sldId id="384" r:id="rId36"/>
    <p:sldId id="385" r:id="rId37"/>
    <p:sldId id="456" r:id="rId38"/>
    <p:sldId id="386" r:id="rId39"/>
    <p:sldId id="998" r:id="rId40"/>
    <p:sldId id="330" r:id="rId41"/>
    <p:sldId id="321" r:id="rId42"/>
    <p:sldId id="322" r:id="rId43"/>
    <p:sldId id="442" r:id="rId44"/>
    <p:sldId id="999" r:id="rId45"/>
    <p:sldId id="427" r:id="rId46"/>
    <p:sldId id="428" r:id="rId4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89A8"/>
    <a:srgbClr val="FFC754"/>
    <a:srgbClr val="FF904F"/>
    <a:srgbClr val="F15050"/>
    <a:srgbClr val="E52C65"/>
    <a:srgbClr val="592D60"/>
    <a:srgbClr val="33BBD3"/>
    <a:srgbClr val="74A8BC"/>
    <a:srgbClr val="36BAD4"/>
    <a:srgbClr val="4B4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>
      <p:cViewPr varScale="1">
        <p:scale>
          <a:sx n="127" d="100"/>
          <a:sy n="127" d="100"/>
        </p:scale>
        <p:origin x="12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EA5885B-D4F8-453A-BFD9-85C31A73FA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BF9FCE-87CE-4D97-B491-7C6A8E763E8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95A5A5C-483C-43C9-B5BE-718E8A226F54}" type="datetimeFigureOut">
              <a:rPr lang="en-US"/>
              <a:pPr>
                <a:defRPr/>
              </a:pPr>
              <a:t>2/26/23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0CE1A09-39A2-4F85-A48F-DCC14EF85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E178F24-51EF-47B0-B0DD-A6F9713EF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4D550-4733-4119-A124-BFBA3C38EF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51E89-03BF-4F5F-A810-05E812431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8C58583-1215-476D-85B1-C0FC9106EA7A}" type="slidenum">
              <a:rPr lang="en-US" altLang="en-PK"/>
              <a:pPr>
                <a:defRPr/>
              </a:pPr>
              <a:t>‹#›</a:t>
            </a:fld>
            <a:endParaRPr lang="en-US" altLang="en-P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BAD77651-D211-4621-9F58-C8A90DC11A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fld id="{B8D15CCA-7971-43BC-9103-1B0F496658D5}" type="slidenum">
              <a:rPr lang="en-US" altLang="en-PK" smtClean="0">
                <a:solidFill>
                  <a:srgbClr val="000000"/>
                </a:solidFill>
                <a:cs typeface="+mn-cs"/>
              </a:rPr>
              <a:pPr>
                <a:defRPr/>
              </a:pPr>
              <a:t>1</a:t>
            </a:fld>
            <a:endParaRPr lang="en-US" altLang="en-PK">
              <a:solidFill>
                <a:srgbClr val="000000"/>
              </a:solidFill>
              <a:cs typeface="+mn-cs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2A01AA68-A22E-48D6-A597-11FDE6DA2A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889878E-795B-4502-AFA2-603FE2BC5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altLang="en-PK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0D5B25B7-77A3-4915-A8BC-7D8DBDF977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09E905-FD5F-4932-8FBE-4A05C76B9206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0F662DA6-A640-4930-884F-AA159330FB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1E81D1F0-49B1-498E-8CDF-A21AC11100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AE3BD8A2-FCB9-4348-996D-1173EA9E6D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39986B-0319-4D44-8C3E-587A142C3BDF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767CEFFB-75EC-40F1-A370-59041EABC2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A4A314D2-D67A-41B7-B3CC-219BA404B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D2AAC256-4A84-4834-A1D6-B3D891F25A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058BF07-7B59-4666-8C33-278C1F236888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7531AC07-80A1-4F4E-9788-2D6829E513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22C3258B-728B-47B8-A587-5901852C95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6272F4F0-673A-4EF8-8BE0-B2BB4E307E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175FFB6-78D0-4BE1-BEEE-8C7EC82C64F2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33E9FB82-6859-4329-BF52-236DD5DBE3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B6818D2D-1989-4108-B9BD-F514C81466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C67AE21-6DEE-42D7-8A0D-2FD474E1E1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EE0F14-A5B8-4F70-9EE5-6F245414F448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49374448-6921-48D7-98C4-CDE6B901DA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86817FFB-3894-4765-89BC-72421CCED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99B406DA-931B-45B8-B285-7E7D1A0E9D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CF9EE23-7914-4DDB-A9E5-24285E744E12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CA8B8DFD-70CE-4154-96C5-6A37ED7A94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3EB947C6-2A95-4765-A213-2AAB04F679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B34634A-E642-4BCA-9966-F6B7174C7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02F2862-B8CE-43DD-B786-B596444CA128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92B3CBB-7220-4799-B937-A114079102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01154B4-280D-4E99-AE55-B5E4A8AF5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BAEF0CF2-5BF2-4FAA-BBCC-FB98A8754A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CDE7B0-53A5-4BFD-93B3-D9890728B273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AF90D620-429E-4B5A-B318-33F05340FD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6B59A6F4-7DC2-4923-9483-E5D4BE4C55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237A4B95-DD48-4539-B3E3-C7D6236119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962A00-0F44-46A6-8928-F8CF0D57374F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E565F8F9-B1C1-41B4-841F-C674C29B63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7352BDD4-1F76-4C3C-90C9-E700CC328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41837F3D-03CC-47E9-A44E-DA93939EDF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D4B11B7-015A-4F48-A132-103FF1C9FBF3}" type="slidenum">
              <a:rPr lang="en-CA" altLang="en-PK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CA" altLang="en-PK">
              <a:latin typeface="Arial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442D12F8-1B2D-40DE-B272-4036C8813F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8E984522-9C51-4849-890A-E86218CF3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BCD2F08-87B5-4A3A-A5C1-DCACF6496E17}" type="slidenum">
              <a:rPr lang="en-US" sz="1200"/>
              <a:pPr eaLnBrk="1" hangingPunct="1"/>
              <a:t>18</a:t>
            </a:fld>
            <a:endParaRPr lang="en-US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790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C2BD6-0380-4169-8AD0-D28CD4984629}" type="slidenum">
              <a:rPr lang="en-US"/>
              <a:pPr/>
              <a:t>43</a:t>
            </a:fld>
            <a:endParaRPr lang="en-US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17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C2BD6-0380-4169-8AD0-D28CD4984629}" type="slidenum">
              <a:rPr lang="en-US"/>
              <a:pPr/>
              <a:t>44</a:t>
            </a:fld>
            <a:endParaRPr lang="en-US"/>
          </a:p>
        </p:txBody>
      </p:sp>
      <p:sp>
        <p:nvSpPr>
          <p:cNvPr id="38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07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E978BFC-9640-4DFA-9664-589FB221C040}" type="slidenum">
              <a:rPr lang="en-US" sz="1200"/>
              <a:pPr eaLnBrk="1" hangingPunct="1"/>
              <a:t>45</a:t>
            </a:fld>
            <a:endParaRPr 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fr-FR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3280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106EC48-6AC8-497A-A51B-330370061640}" type="slidenum">
              <a:rPr lang="en-US" sz="1200"/>
              <a:pPr eaLnBrk="1" hangingPunct="1"/>
              <a:t>46</a:t>
            </a:fld>
            <a:endParaRPr 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FR" dirty="0">
                <a:cs typeface="+mn-cs"/>
              </a:rPr>
              <a:t> </a:t>
            </a:r>
            <a:r>
              <a:rPr lang="fr-FR" dirty="0" err="1">
                <a:cs typeface="+mn-cs"/>
              </a:rPr>
              <a:t>int</a:t>
            </a:r>
            <a:r>
              <a:rPr lang="fr-FR" dirty="0">
                <a:cs typeface="+mn-cs"/>
              </a:rPr>
              <a:t> *</a:t>
            </a:r>
            <a:r>
              <a:rPr lang="fr-FR" dirty="0" err="1">
                <a:cs typeface="+mn-cs"/>
              </a:rPr>
              <a:t>ip</a:t>
            </a:r>
            <a:r>
              <a:rPr lang="fr-FR" dirty="0">
                <a:cs typeface="+mn-cs"/>
              </a:rPr>
              <a:t>;    char* </a:t>
            </a:r>
            <a:r>
              <a:rPr lang="fr-FR" dirty="0" err="1">
                <a:cs typeface="+mn-cs"/>
              </a:rPr>
              <a:t>cp</a:t>
            </a:r>
            <a:r>
              <a:rPr lang="fr-FR" dirty="0">
                <a:cs typeface="+mn-cs"/>
              </a:rPr>
              <a:t>;    double *</a:t>
            </a:r>
            <a:r>
              <a:rPr lang="fr-FR" dirty="0" err="1">
                <a:cs typeface="+mn-cs"/>
              </a:rPr>
              <a:t>dp</a:t>
            </a:r>
            <a:r>
              <a:rPr lang="fr-FR" dirty="0">
                <a:cs typeface="+mn-c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56990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E4D5D3-559E-4F8A-8CB0-6A64E6C2B9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BDB6891-4D78-4E76-9841-EC5B82CB79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E2A69-20CE-4052-81AC-D6BF741AE7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5249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A3858-27A7-40FD-AE08-B4148815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27DBA12F-B77C-4E09-BAF0-EF8A259AB80D}" type="datetimeFigureOut">
              <a:rPr lang="en-PK"/>
              <a:pPr>
                <a:defRPr/>
              </a:pPr>
              <a:t>26/02/2023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A023C-4146-48BC-9686-2CDCB1DA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F0320-370D-467E-9C52-798AD052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B999A-5094-460F-9559-0C18CC090D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6849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47E1CEA-FBBD-49C7-B78E-C28BD66A27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20A7940-FE38-46D5-B365-0DA3181773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1AF61-F377-4A5F-AF6D-D42D56A80E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390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8F783-5FD1-418C-A9EA-8BBC8721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1049F56-A7F4-4C24-B668-BA0BFABE3876}" type="datetimeFigureOut">
              <a:rPr lang="en-PK"/>
              <a:pPr>
                <a:defRPr/>
              </a:pPr>
              <a:t>26/02/2023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A392C-3254-4A0E-A3B4-91BE464D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925ED-FF41-46CA-90D7-988E3D4B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D65AA-59BF-4509-B233-0CCD89173C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967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30A8C-6265-471B-A753-D428A793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09E583F5-1083-4837-B6B7-5F1D6E5F83BE}" type="datetimeFigureOut">
              <a:rPr lang="en-PK"/>
              <a:pPr>
                <a:defRPr/>
              </a:pPr>
              <a:t>26/02/2023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F2238-CB91-4550-9F8B-54CE4BDA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0C012-B3A4-4963-80EC-0E76C40F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262BE-0086-4E01-8E6E-E979C05D9F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743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9C884-7E18-42B4-9FE7-4E9D944C9D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9FE589FB-1A39-4084-92EA-9ACBFA19AD23}" type="datetimeFigureOut">
              <a:rPr lang="en-PK"/>
              <a:pPr>
                <a:defRPr/>
              </a:pPr>
              <a:t>26/02/2023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0FF1A-2448-48C4-9E23-773CA5ED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91B948-FAC6-4053-9E73-D02F2E0F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5BD7AC-B505-4A4D-A29C-1DEBC8AF67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0601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DDA66-94A3-4B8A-AC11-B47F24DE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E0ABE4B8-4D8B-4B28-8D75-03A3FC4FC77B}" type="datetimeFigureOut">
              <a:rPr lang="en-PK"/>
              <a:pPr>
                <a:defRPr/>
              </a:pPr>
              <a:t>26/02/2023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7B822-BD66-462D-BD2A-7620827B6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BB76E-EF52-41AB-8CAE-69534FB9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B7701-6FA7-493F-8052-939CACDA09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4277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67CE42-E83F-4BB1-863F-DCFE45F47A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A791E904-CB49-41BD-B672-22FB23236DD4}" type="datetimeFigureOut">
              <a:rPr lang="en-PK"/>
              <a:pPr>
                <a:defRPr/>
              </a:pPr>
              <a:t>26/02/2023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B6AA82-7C94-4BD6-A3C9-C1090AB4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2AE1E-1A4E-4AD7-B2D7-407C0DF4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6D209C-18E0-4D0A-A9EA-3A1A43F565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6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8C9E8-4C33-47CB-A67B-D80D9887E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1BE2E27B-939B-4C87-841E-6D6495F56605}" type="datetimeFigureOut">
              <a:rPr lang="en-PK"/>
              <a:pPr>
                <a:defRPr/>
              </a:pPr>
              <a:t>26/02/2023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0C312-16D8-4349-A0E1-0C260606C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7C6F0-C82B-49E0-8738-02E79651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8FB2E-C795-4D9B-BD30-3E9A76031A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6530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P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E708D-AB20-4E32-80B4-8C734A6076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DC69BB62-6B81-4149-97C1-C4F68BC4D629}" type="datetimeFigureOut">
              <a:rPr lang="en-PK"/>
              <a:pPr>
                <a:defRPr/>
              </a:pPr>
              <a:t>26/02/2023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74809-BD07-4AFC-A0C9-E04BF6FAB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BA19D-A246-49D8-86E4-C75338D9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AF398-CEF1-457F-A3CE-60FD71AB1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8545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CEE33-D184-4B03-9C72-D8E2FEB0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37949427-3E2F-47C6-B54A-4DD9A2C6B7B4}" type="datetimeFigureOut">
              <a:rPr lang="en-PK"/>
              <a:pPr>
                <a:defRPr/>
              </a:pPr>
              <a:t>26/02/2023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430E8-4136-4E66-9038-6B2AF4C2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2939A-1E67-439F-958D-C007DF16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25C9D-97BA-4A08-AB6E-C86C4573AE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1949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19B95-AE26-47F0-873C-1F7A0E67D1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EE06AE1-9231-45C1-8291-3162FA55CB96}" type="datetimeFigureOut">
              <a:rPr lang="en-PK"/>
              <a:pPr>
                <a:defRPr/>
              </a:pPr>
              <a:t>26/02/2023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DD58A-C5C8-4440-93F2-F598FB917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0DC2D-B96D-4EEC-B228-3C06251F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329928-D9C7-487A-9599-68EE3CA66C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26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83967FF-C600-43F6-8999-7DDB97936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Click to edit Master title style</a:t>
            </a:r>
            <a:endParaRPr lang="en-PK" altLang="en-PK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991FC46-CB5E-4106-A624-21FE694EF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PK"/>
              <a:t>Click to edit Master text styles</a:t>
            </a:r>
          </a:p>
          <a:p>
            <a:pPr lvl="1"/>
            <a:r>
              <a:rPr lang="en-US" altLang="en-PK"/>
              <a:t>Second level</a:t>
            </a:r>
          </a:p>
          <a:p>
            <a:pPr lvl="2"/>
            <a:r>
              <a:rPr lang="en-US" altLang="en-PK"/>
              <a:t>Third level</a:t>
            </a:r>
          </a:p>
          <a:p>
            <a:pPr lvl="3"/>
            <a:r>
              <a:rPr lang="en-US" altLang="en-PK"/>
              <a:t>Fourth level</a:t>
            </a:r>
          </a:p>
          <a:p>
            <a:pPr lvl="4"/>
            <a:r>
              <a:rPr lang="en-US" altLang="en-PK"/>
              <a:t>Fifth level</a:t>
            </a:r>
            <a:endParaRPr lang="en-PK" alt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29257-B16B-4F64-AC24-D7D910AA1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1C645-5B2C-4153-B660-88CABDDDB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9ACCF88-E99B-4A3C-A392-C1DDAD6680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9" r:id="rId2"/>
    <p:sldLayoutId id="2147483968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>
            <a:extLst>
              <a:ext uri="{FF2B5EF4-FFF2-40B4-BE49-F238E27FC236}">
                <a16:creationId xmlns:a16="http://schemas.microsoft.com/office/drawing/2014/main" id="{C85D5051-7B07-43DC-A669-B1627501DAD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1000" y="5816600"/>
            <a:ext cx="8599488" cy="1065213"/>
          </a:xfrm>
        </p:spPr>
        <p:txBody>
          <a:bodyPr rtlCol="0">
            <a:normAutofit fontScale="25000" lnSpcReduction="20000"/>
          </a:bodyPr>
          <a:lstStyle/>
          <a:p>
            <a:pPr algn="r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/>
              <a:t>	</a:t>
            </a:r>
          </a:p>
          <a:p>
            <a:pPr algn="r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11200" b="1" dirty="0"/>
          </a:p>
          <a:p>
            <a:pPr algn="r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7200" dirty="0"/>
              <a:t>Lecture # 2 Pointers</a:t>
            </a:r>
          </a:p>
          <a:p>
            <a:pPr algn="r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6400" dirty="0"/>
          </a:p>
          <a:p>
            <a:pPr algn="r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/>
              <a:t>		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2EE4DEB-59E7-4523-AF78-A70D95C8D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48640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defRPr/>
            </a:pPr>
            <a:endParaRPr lang="en-PK" altLang="en-PK" sz="2400">
              <a:solidFill>
                <a:srgbClr val="333399"/>
              </a:solidFill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60E8B1DE-CE76-475B-B2AB-5289116D1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363" y="158750"/>
            <a:ext cx="8302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Rectangle 3">
            <a:extLst>
              <a:ext uri="{FF2B5EF4-FFF2-40B4-BE49-F238E27FC236}">
                <a16:creationId xmlns:a16="http://schemas.microsoft.com/office/drawing/2014/main" id="{BAF04FFF-0899-491E-B3EC-D96F83323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688" y="244475"/>
            <a:ext cx="5600700" cy="12065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3429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6858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0287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37160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18288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2860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7432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20040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altLang="en-PK" sz="2800" b="1" dirty="0">
                <a:solidFill>
                  <a:srgbClr val="000000"/>
                </a:solidFill>
                <a:cs typeface="+mn-cs"/>
              </a:rPr>
              <a:t>National University of Computer 	and Emerging Sciences				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F724EF-1E15-4828-8EE1-DF969A842BB4}"/>
              </a:ext>
            </a:extLst>
          </p:cNvPr>
          <p:cNvSpPr/>
          <p:nvPr/>
        </p:nvSpPr>
        <p:spPr>
          <a:xfrm>
            <a:off x="163513" y="5961063"/>
            <a:ext cx="2133600" cy="882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PK" dirty="0">
              <a:solidFill>
                <a:prstClr val="white"/>
              </a:solidFill>
            </a:endParaRPr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1B7E616B-9FB6-40C3-BA01-9275E6DD7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81" b="10001"/>
          <a:stretch>
            <a:fillRect/>
          </a:stretch>
        </p:blipFill>
        <p:spPr bwMode="auto">
          <a:xfrm>
            <a:off x="0" y="1543050"/>
            <a:ext cx="9144000" cy="416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6">
            <a:extLst>
              <a:ext uri="{FF2B5EF4-FFF2-40B4-BE49-F238E27FC236}">
                <a16:creationId xmlns:a16="http://schemas.microsoft.com/office/drawing/2014/main" id="{0589B7F6-A785-4B39-BCC2-0CDBA2960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627438"/>
            <a:ext cx="1992313" cy="5222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PK" sz="2800" b="1" dirty="0">
                <a:solidFill>
                  <a:srgbClr val="FF0000"/>
                </a:solidFill>
                <a:cs typeface="+mn-cs"/>
              </a:rPr>
              <a:t>Spring 2022</a:t>
            </a:r>
            <a:endParaRPr lang="en-PK" altLang="en-PK" sz="2800" b="1" dirty="0">
              <a:solidFill>
                <a:srgbClr val="FF0000"/>
              </a:solidFill>
              <a:cs typeface="+mn-cs"/>
            </a:endParaRPr>
          </a:p>
        </p:txBody>
      </p:sp>
      <p:pic>
        <p:nvPicPr>
          <p:cNvPr id="13321" name="Picture 15">
            <a:extLst>
              <a:ext uri="{FF2B5EF4-FFF2-40B4-BE49-F238E27FC236}">
                <a16:creationId xmlns:a16="http://schemas.microsoft.com/office/drawing/2014/main" id="{DDB576BE-94DC-479D-AF65-F174F8BC9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8" t="10181" r="30362" b="12383"/>
          <a:stretch>
            <a:fillRect/>
          </a:stretch>
        </p:blipFill>
        <p:spPr bwMode="auto">
          <a:xfrm>
            <a:off x="1600200" y="2343150"/>
            <a:ext cx="1900238" cy="286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549BEDF-F5C7-449B-81B5-9F6AD4837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601226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en-PK" sz="4000" b="1" dirty="0">
                <a:latin typeface="Arial" panose="020B0604020202020204" pitchFamily="34" charset="0"/>
                <a:ea typeface="+mj-ea"/>
              </a:rPr>
              <a:t>Pointers</a:t>
            </a:r>
            <a:endParaRPr lang="en-US" altLang="en-PK" sz="3300" b="1" dirty="0">
              <a:latin typeface="Arial" panose="020B0604020202020204" pitchFamily="34" charset="0"/>
              <a:ea typeface="+mj-ea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5F399C9B-1E0F-46DC-8869-E05737CBC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1439426"/>
            <a:ext cx="8756650" cy="397031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rebuchet MS" panose="020B0603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PK" sz="2400" dirty="0">
                <a:latin typeface="Arial" panose="020B0604020202020204" pitchFamily="34" charset="0"/>
              </a:rPr>
              <a:t>Introduction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PK" sz="2400" dirty="0">
                <a:latin typeface="Arial" panose="020B0604020202020204" pitchFamily="34" charset="0"/>
              </a:rPr>
              <a:t>Address of and Dereference operator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PK" sz="2400" dirty="0">
                <a:latin typeface="Arial" panose="020B0604020202020204" pitchFamily="34" charset="0"/>
              </a:rPr>
              <a:t>Memory Leaks and dangling pointers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PK" sz="2400" dirty="0">
                <a:latin typeface="Arial" panose="020B0604020202020204" pitchFamily="34" charset="0"/>
              </a:rPr>
              <a:t>Void pointer 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PK" sz="2400" dirty="0">
                <a:latin typeface="Arial" panose="020B0604020202020204" pitchFamily="34" charset="0"/>
              </a:rPr>
              <a:t>Casting pointers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endParaRPr lang="en-US" altLang="en-PK" dirty="0">
              <a:latin typeface="Arial" panose="020B0604020202020204" pitchFamily="34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endParaRPr lang="en-US" altLang="en-PK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D4871-DC37-4018-B0A0-6D4D6326D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182" y="3520979"/>
            <a:ext cx="4017818" cy="33370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8AF6FF72-115B-4017-9AE7-96EA6C354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Program Memory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BF018C3-1F8C-496A-A150-3F78DB1C9C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72200" y="1006475"/>
          <a:ext cx="2343150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 Byte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204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205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206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207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208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209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210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211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DB6B1C2-38A9-44A4-90AD-0EFE9DBC4724}"/>
              </a:ext>
            </a:extLst>
          </p:cNvPr>
          <p:cNvSpPr txBox="1"/>
          <p:nvPr/>
        </p:nvSpPr>
        <p:spPr>
          <a:xfrm>
            <a:off x="6172200" y="198438"/>
            <a:ext cx="24463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dirty="0">
                <a:solidFill>
                  <a:srgbClr val="0070C0"/>
                </a:solidFill>
                <a:latin typeface="+mn-lt"/>
              </a:rPr>
              <a:t>Memory (RAM)</a:t>
            </a:r>
            <a:endParaRPr lang="en-PK" sz="28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F5DAB-FBF2-4D66-86DE-23EA928EBE05}"/>
              </a:ext>
            </a:extLst>
          </p:cNvPr>
          <p:cNvSpPr txBox="1"/>
          <p:nvPr/>
        </p:nvSpPr>
        <p:spPr>
          <a:xfrm>
            <a:off x="628650" y="1701800"/>
            <a:ext cx="5543550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+mn-lt"/>
              </a:rPr>
              <a:t>Each block in memory represents 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1 byte</a:t>
            </a:r>
            <a:endParaRPr lang="en-PK" sz="2800" dirty="0">
              <a:solidFill>
                <a:srgbClr val="0070C0"/>
              </a:solidFill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25D2A9F2-07C2-4A3D-B16D-9CA37D513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Program Memory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624A33E-8976-49FF-87FA-9810ACC7A0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72200" y="1006475"/>
          <a:ext cx="2343150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 Byte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204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205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206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207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208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209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210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211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6E8925-745B-49E4-B4A7-BFC5EC93E743}"/>
              </a:ext>
            </a:extLst>
          </p:cNvPr>
          <p:cNvSpPr txBox="1"/>
          <p:nvPr/>
        </p:nvSpPr>
        <p:spPr>
          <a:xfrm>
            <a:off x="6172200" y="198438"/>
            <a:ext cx="24463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dirty="0">
                <a:solidFill>
                  <a:srgbClr val="0070C0"/>
                </a:solidFill>
                <a:latin typeface="+mn-lt"/>
              </a:rPr>
              <a:t>Memory (RAM)</a:t>
            </a:r>
            <a:endParaRPr lang="en-PK" sz="28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084F7-CB1E-4A15-8678-12ABBB4DAC0F}"/>
              </a:ext>
            </a:extLst>
          </p:cNvPr>
          <p:cNvSpPr txBox="1"/>
          <p:nvPr/>
        </p:nvSpPr>
        <p:spPr>
          <a:xfrm>
            <a:off x="628650" y="1701800"/>
            <a:ext cx="5543550" cy="3970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+mn-lt"/>
              </a:rPr>
              <a:t>Each block in memory represents 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1 byte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srgbClr val="0070C0"/>
              </a:solidFill>
              <a:latin typeface="+mn-lt"/>
            </a:endParaRPr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0C0"/>
                </a:solidFill>
                <a:latin typeface="+mn-lt"/>
              </a:rPr>
              <a:t>Each byte </a:t>
            </a:r>
            <a:r>
              <a:rPr lang="en-US" sz="2800" dirty="0">
                <a:latin typeface="+mn-lt"/>
              </a:rPr>
              <a:t>in memory has an 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address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srgbClr val="0070C0"/>
              </a:solidFill>
              <a:latin typeface="+mn-lt"/>
            </a:endParaRPr>
          </a:p>
          <a:p>
            <a:pPr marL="457200" indent="-457200" eaLnBrk="1" hangingPunct="1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+mn-lt"/>
              </a:rPr>
              <a:t>Whenever a variable is declared, the computer 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reserves some memory for it.</a:t>
            </a:r>
            <a:endParaRPr lang="en-PK" sz="2800" dirty="0">
              <a:solidFill>
                <a:srgbClr val="0070C0"/>
              </a:solidFill>
              <a:latin typeface="+mn-lt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DE3DA896-2515-4012-A79A-5C099B02A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Program Memory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77E1933-3ABA-46B2-B506-985C10163FB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72200" y="1006475"/>
          <a:ext cx="2343150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 Byte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204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205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206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207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208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209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210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211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44A3783-26C2-4271-B536-0E7653F00E52}"/>
              </a:ext>
            </a:extLst>
          </p:cNvPr>
          <p:cNvSpPr txBox="1"/>
          <p:nvPr/>
        </p:nvSpPr>
        <p:spPr>
          <a:xfrm>
            <a:off x="6172200" y="198438"/>
            <a:ext cx="24463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dirty="0">
                <a:solidFill>
                  <a:srgbClr val="0070C0"/>
                </a:solidFill>
                <a:latin typeface="+mn-lt"/>
              </a:rPr>
              <a:t>Memory (RAM)</a:t>
            </a:r>
            <a:endParaRPr lang="en-PK" sz="28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56C61-4FFA-4062-829F-914F9D191CBB}"/>
              </a:ext>
            </a:extLst>
          </p:cNvPr>
          <p:cNvSpPr txBox="1"/>
          <p:nvPr/>
        </p:nvSpPr>
        <p:spPr>
          <a:xfrm>
            <a:off x="628650" y="1701800"/>
            <a:ext cx="5543550" cy="310854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800" dirty="0">
                <a:latin typeface="+mn-lt"/>
              </a:rPr>
              <a:t>Integers are stored in </a:t>
            </a:r>
            <a:r>
              <a:rPr lang="en-US" sz="2800" dirty="0">
                <a:solidFill>
                  <a:srgbClr val="FF0000"/>
                </a:solidFill>
                <a:latin typeface="+mn-lt"/>
              </a:rPr>
              <a:t>4 bytes</a:t>
            </a:r>
          </a:p>
          <a:p>
            <a:pPr eaLnBrk="1" hangingPunct="1">
              <a:defRPr/>
            </a:pPr>
            <a:r>
              <a:rPr lang="en-US" sz="2800" dirty="0">
                <a:latin typeface="+mn-lt"/>
              </a:rPr>
              <a:t>Characters stored in </a:t>
            </a:r>
            <a:r>
              <a:rPr lang="en-US" sz="2800" dirty="0">
                <a:solidFill>
                  <a:srgbClr val="FF0000"/>
                </a:solidFill>
                <a:latin typeface="+mn-lt"/>
              </a:rPr>
              <a:t>1 byte</a:t>
            </a:r>
          </a:p>
          <a:p>
            <a:pPr eaLnBrk="1" hangingPunct="1">
              <a:defRPr/>
            </a:pPr>
            <a:endParaRPr lang="en-US" sz="2800" dirty="0">
              <a:latin typeface="+mn-lt"/>
            </a:endParaRPr>
          </a:p>
          <a:p>
            <a:pPr eaLnBrk="1" hangingPunct="1">
              <a:defRPr/>
            </a:pPr>
            <a:r>
              <a:rPr lang="en-US" sz="2800" dirty="0">
                <a:latin typeface="Consolas" panose="020B0609020204030204" pitchFamily="49" charset="0"/>
              </a:rPr>
              <a:t>int num = 100;</a:t>
            </a:r>
          </a:p>
          <a:p>
            <a:pPr eaLnBrk="1" hangingPunct="1">
              <a:defRPr/>
            </a:pPr>
            <a:r>
              <a:rPr lang="en-US" sz="2800" dirty="0">
                <a:latin typeface="Consolas" panose="020B0609020204030204" pitchFamily="49" charset="0"/>
              </a:rPr>
              <a:t>char letter = ‘$’;</a:t>
            </a:r>
          </a:p>
          <a:p>
            <a:pPr eaLnBrk="1" hangingPunct="1">
              <a:defRPr/>
            </a:pPr>
            <a:endParaRPr lang="en-US" sz="2800" b="1" u="sng" dirty="0">
              <a:latin typeface="+mn-lt"/>
            </a:endParaRPr>
          </a:p>
          <a:p>
            <a:pPr eaLnBrk="1" hangingPunct="1">
              <a:defRPr/>
            </a:pP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81965" name="TextBox 3">
            <a:extLst>
              <a:ext uri="{FF2B5EF4-FFF2-40B4-BE49-F238E27FC236}">
                <a16:creationId xmlns:a16="http://schemas.microsoft.com/office/drawing/2014/main" id="{FC8595DE-859D-49F0-B157-9DE90748E297}"/>
              </a:ext>
            </a:extLst>
          </p:cNvPr>
          <p:cNvSpPr txBox="1">
            <a:spLocks noChangeArrowheads="1"/>
          </p:cNvSpPr>
          <p:nvPr/>
        </p:nvSpPr>
        <p:spPr bwMode="auto">
          <a:xfrm rot="2644544">
            <a:off x="6942138" y="4057650"/>
            <a:ext cx="1598612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K" sz="6600">
                <a:solidFill>
                  <a:srgbClr val="FF0000"/>
                </a:solidFill>
              </a:rPr>
              <a:t>100</a:t>
            </a:r>
            <a:endParaRPr lang="en-PK" altLang="en-PK" sz="66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F34CFC65-F7AC-4919-92F2-F371AB2C08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Program Memory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A80D9E3-5957-4B2B-B859-DD95086452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72200" y="1006475"/>
          <a:ext cx="2343150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 Byte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204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205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206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207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208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209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210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211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8FADAD-96D5-4B06-9C1A-D7CCDC4DB24C}"/>
              </a:ext>
            </a:extLst>
          </p:cNvPr>
          <p:cNvSpPr txBox="1"/>
          <p:nvPr/>
        </p:nvSpPr>
        <p:spPr>
          <a:xfrm>
            <a:off x="6172200" y="198438"/>
            <a:ext cx="24463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dirty="0">
                <a:solidFill>
                  <a:srgbClr val="0070C0"/>
                </a:solidFill>
                <a:latin typeface="+mn-lt"/>
              </a:rPr>
              <a:t>Memory (RAM)</a:t>
            </a:r>
            <a:endParaRPr lang="en-PK" sz="28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F5D9E-A68C-434C-ADB5-28ACB61BE114}"/>
              </a:ext>
            </a:extLst>
          </p:cNvPr>
          <p:cNvSpPr txBox="1"/>
          <p:nvPr/>
        </p:nvSpPr>
        <p:spPr>
          <a:xfrm>
            <a:off x="628650" y="1701800"/>
            <a:ext cx="5543550" cy="44012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800" dirty="0">
                <a:latin typeface="+mn-lt"/>
              </a:rPr>
              <a:t>Integers are stored in </a:t>
            </a:r>
            <a:r>
              <a:rPr lang="en-US" sz="2800" dirty="0">
                <a:solidFill>
                  <a:srgbClr val="FF0000"/>
                </a:solidFill>
                <a:latin typeface="+mn-lt"/>
              </a:rPr>
              <a:t>4 bytes</a:t>
            </a:r>
          </a:p>
          <a:p>
            <a:pPr eaLnBrk="1" hangingPunct="1">
              <a:defRPr/>
            </a:pPr>
            <a:r>
              <a:rPr lang="en-US" sz="2800" dirty="0">
                <a:latin typeface="+mn-lt"/>
              </a:rPr>
              <a:t>Characters stored in </a:t>
            </a:r>
            <a:r>
              <a:rPr lang="en-US" sz="2800" dirty="0">
                <a:solidFill>
                  <a:srgbClr val="FF0000"/>
                </a:solidFill>
                <a:latin typeface="+mn-lt"/>
              </a:rPr>
              <a:t>1 byte</a:t>
            </a:r>
          </a:p>
          <a:p>
            <a:pPr eaLnBrk="1" hangingPunct="1">
              <a:defRPr/>
            </a:pPr>
            <a:endParaRPr lang="en-US" sz="2800" dirty="0">
              <a:latin typeface="+mn-lt"/>
            </a:endParaRPr>
          </a:p>
          <a:p>
            <a:pPr eaLnBrk="1" hangingPunct="1">
              <a:defRPr/>
            </a:pPr>
            <a:r>
              <a:rPr lang="en-US" sz="2800" dirty="0">
                <a:latin typeface="Consolas" panose="020B0609020204030204" pitchFamily="49" charset="0"/>
              </a:rPr>
              <a:t>int num = 100;</a:t>
            </a:r>
          </a:p>
          <a:p>
            <a:pPr eaLnBrk="1" hangingPunct="1">
              <a:defRPr/>
            </a:pPr>
            <a:r>
              <a:rPr lang="en-US" sz="2800" dirty="0">
                <a:latin typeface="Consolas" panose="020B0609020204030204" pitchFamily="49" charset="0"/>
              </a:rPr>
              <a:t>char letter = ‘$’;</a:t>
            </a:r>
          </a:p>
          <a:p>
            <a:pPr eaLnBrk="1" hangingPunct="1">
              <a:defRPr/>
            </a:pPr>
            <a:endParaRPr lang="en-US" sz="2800" dirty="0">
              <a:latin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en-US" sz="2800" dirty="0">
                <a:latin typeface="+mn-lt"/>
              </a:rPr>
              <a:t>Can we find the 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memory address </a:t>
            </a:r>
            <a:r>
              <a:rPr lang="en-US" sz="2800" dirty="0">
                <a:latin typeface="+mn-lt"/>
              </a:rPr>
              <a:t>of these variables??</a:t>
            </a:r>
          </a:p>
          <a:p>
            <a:pPr eaLnBrk="1" hangingPunct="1">
              <a:defRPr/>
            </a:pPr>
            <a:endParaRPr lang="en-US" sz="2800" b="1" u="sng" dirty="0">
              <a:latin typeface="+mn-lt"/>
            </a:endParaRPr>
          </a:p>
          <a:p>
            <a:pPr eaLnBrk="1" hangingPunct="1">
              <a:defRPr/>
            </a:pP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84013" name="TextBox 3">
            <a:extLst>
              <a:ext uri="{FF2B5EF4-FFF2-40B4-BE49-F238E27FC236}">
                <a16:creationId xmlns:a16="http://schemas.microsoft.com/office/drawing/2014/main" id="{4481C109-D422-4161-9CEE-F1CEC23B038F}"/>
              </a:ext>
            </a:extLst>
          </p:cNvPr>
          <p:cNvSpPr txBox="1">
            <a:spLocks noChangeArrowheads="1"/>
          </p:cNvSpPr>
          <p:nvPr/>
        </p:nvSpPr>
        <p:spPr bwMode="auto">
          <a:xfrm rot="2644544">
            <a:off x="6942138" y="4057650"/>
            <a:ext cx="1598612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K" sz="6600">
                <a:solidFill>
                  <a:srgbClr val="FF0000"/>
                </a:solidFill>
              </a:rPr>
              <a:t>100</a:t>
            </a:r>
            <a:endParaRPr lang="en-PK" altLang="en-PK" sz="66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30823262-8C20-4432-BB6A-E6694F3DEC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Program Memory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62100C17-E39F-4B88-A1A1-60B26DC474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72200" y="1006475"/>
          <a:ext cx="2343150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 Byte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204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205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206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207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208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209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210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211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3767AD-9A9A-4C58-A9D4-74E0C612575A}"/>
              </a:ext>
            </a:extLst>
          </p:cNvPr>
          <p:cNvSpPr txBox="1"/>
          <p:nvPr/>
        </p:nvSpPr>
        <p:spPr>
          <a:xfrm>
            <a:off x="6172200" y="198438"/>
            <a:ext cx="24463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dirty="0">
                <a:solidFill>
                  <a:srgbClr val="0070C0"/>
                </a:solidFill>
                <a:latin typeface="+mn-lt"/>
              </a:rPr>
              <a:t>Memory (RAM)</a:t>
            </a:r>
            <a:endParaRPr lang="en-PK" sz="28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63FFB-5A87-48E3-AEAB-1989FB1983ED}"/>
              </a:ext>
            </a:extLst>
          </p:cNvPr>
          <p:cNvSpPr txBox="1"/>
          <p:nvPr/>
        </p:nvSpPr>
        <p:spPr>
          <a:xfrm>
            <a:off x="628650" y="1701800"/>
            <a:ext cx="5543550" cy="4400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800" dirty="0">
                <a:latin typeface="+mn-lt"/>
              </a:rPr>
              <a:t>Integers are stored in </a:t>
            </a:r>
            <a:r>
              <a:rPr lang="en-US" sz="2800" dirty="0">
                <a:solidFill>
                  <a:srgbClr val="FF0000"/>
                </a:solidFill>
                <a:latin typeface="+mn-lt"/>
              </a:rPr>
              <a:t>4 bytes</a:t>
            </a:r>
          </a:p>
          <a:p>
            <a:pPr eaLnBrk="1" hangingPunct="1">
              <a:defRPr/>
            </a:pPr>
            <a:endParaRPr lang="en-US" sz="2800" dirty="0">
              <a:latin typeface="+mn-lt"/>
            </a:endParaRPr>
          </a:p>
          <a:p>
            <a:pPr eaLnBrk="1" hangingPunct="1">
              <a:defRPr/>
            </a:pPr>
            <a:r>
              <a:rPr lang="en-US" sz="2800" dirty="0">
                <a:latin typeface="Consolas" panose="020B0609020204030204" pitchFamily="49" charset="0"/>
              </a:rPr>
              <a:t>int num = 100;</a:t>
            </a:r>
          </a:p>
          <a:p>
            <a:pPr eaLnBrk="1" hangingPunct="1">
              <a:defRPr/>
            </a:pPr>
            <a:r>
              <a:rPr lang="en-US" sz="2800" dirty="0">
                <a:latin typeface="Consolas" panose="020B0609020204030204" pitchFamily="49" charset="0"/>
              </a:rPr>
              <a:t>char letter = ‘$’;</a:t>
            </a:r>
          </a:p>
          <a:p>
            <a:pPr eaLnBrk="1" hangingPunct="1">
              <a:defRPr/>
            </a:pPr>
            <a:endParaRPr lang="en-US" sz="2800" dirty="0">
              <a:latin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en-US" sz="2800" dirty="0">
                <a:latin typeface="+mn-lt"/>
              </a:rPr>
              <a:t>Can we find the </a:t>
            </a:r>
            <a:r>
              <a:rPr lang="en-US" sz="2800" dirty="0">
                <a:solidFill>
                  <a:srgbClr val="0070C0"/>
                </a:solidFill>
                <a:latin typeface="+mn-lt"/>
              </a:rPr>
              <a:t>memory address </a:t>
            </a:r>
            <a:r>
              <a:rPr lang="en-US" sz="2800" dirty="0">
                <a:latin typeface="+mn-lt"/>
              </a:rPr>
              <a:t>of these variables??</a:t>
            </a:r>
          </a:p>
          <a:p>
            <a:pPr eaLnBrk="1" hangingPunct="1">
              <a:defRPr/>
            </a:pPr>
            <a:endParaRPr lang="en-US" sz="2800" dirty="0">
              <a:latin typeface="+mn-lt"/>
            </a:endParaRPr>
          </a:p>
          <a:p>
            <a:pPr eaLnBrk="1" hangingPunct="1">
              <a:defRPr/>
            </a:pPr>
            <a:r>
              <a:rPr lang="en-US" sz="2800" dirty="0" err="1">
                <a:latin typeface="Consolas" panose="020B0609020204030204" pitchFamily="49" charset="0"/>
              </a:rPr>
              <a:t>cout</a:t>
            </a:r>
            <a:r>
              <a:rPr lang="en-US" sz="2800" dirty="0">
                <a:latin typeface="Consolas" panose="020B0609020204030204" pitchFamily="49" charset="0"/>
              </a:rPr>
              <a:t>&lt;&lt;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sz="2800" dirty="0">
                <a:latin typeface="Consolas" panose="020B0609020204030204" pitchFamily="49" charset="0"/>
              </a:rPr>
              <a:t>num;</a:t>
            </a:r>
          </a:p>
          <a:p>
            <a:pPr eaLnBrk="1" hangingPunct="1">
              <a:defRPr/>
            </a:pPr>
            <a:r>
              <a:rPr lang="en-US" sz="2800" dirty="0" err="1">
                <a:latin typeface="Consolas" panose="020B0609020204030204" pitchFamily="49" charset="0"/>
              </a:rPr>
              <a:t>cout</a:t>
            </a:r>
            <a:r>
              <a:rPr lang="en-US" sz="2800" dirty="0">
                <a:latin typeface="Consolas" panose="020B0609020204030204" pitchFamily="49" charset="0"/>
              </a:rPr>
              <a:t>&lt;&lt;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sz="2800" dirty="0">
                <a:latin typeface="Consolas" panose="020B0609020204030204" pitchFamily="49" charset="0"/>
              </a:rPr>
              <a:t>letter;</a:t>
            </a:r>
          </a:p>
        </p:txBody>
      </p:sp>
      <p:sp>
        <p:nvSpPr>
          <p:cNvPr id="88109" name="TextBox 3">
            <a:extLst>
              <a:ext uri="{FF2B5EF4-FFF2-40B4-BE49-F238E27FC236}">
                <a16:creationId xmlns:a16="http://schemas.microsoft.com/office/drawing/2014/main" id="{897EA86B-689B-427B-A6FC-2C1706FB531E}"/>
              </a:ext>
            </a:extLst>
          </p:cNvPr>
          <p:cNvSpPr txBox="1">
            <a:spLocks noChangeArrowheads="1"/>
          </p:cNvSpPr>
          <p:nvPr/>
        </p:nvSpPr>
        <p:spPr bwMode="auto">
          <a:xfrm rot="2644544">
            <a:off x="6942138" y="4057650"/>
            <a:ext cx="1598612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K" sz="6600">
                <a:solidFill>
                  <a:srgbClr val="FF0000"/>
                </a:solidFill>
              </a:rPr>
              <a:t>100</a:t>
            </a:r>
            <a:endParaRPr lang="en-PK" altLang="en-PK" sz="66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B4ED4483-62DE-481F-9299-173051980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Program Memory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5865940-7A08-4FB6-A27A-9EEF4248D1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72200" y="1006475"/>
          <a:ext cx="2343150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 Byte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204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205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206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207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208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209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210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211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1FCE4DB-BDED-47CF-9BB0-4258B09ED4A6}"/>
              </a:ext>
            </a:extLst>
          </p:cNvPr>
          <p:cNvSpPr txBox="1"/>
          <p:nvPr/>
        </p:nvSpPr>
        <p:spPr>
          <a:xfrm>
            <a:off x="6172200" y="198438"/>
            <a:ext cx="24463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dirty="0">
                <a:solidFill>
                  <a:srgbClr val="0070C0"/>
                </a:solidFill>
                <a:latin typeface="+mn-lt"/>
              </a:rPr>
              <a:t>Memory (RAM)</a:t>
            </a:r>
            <a:endParaRPr lang="en-PK" sz="28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8C2C23-1040-428A-926A-298304BEF161}"/>
              </a:ext>
            </a:extLst>
          </p:cNvPr>
          <p:cNvSpPr txBox="1"/>
          <p:nvPr/>
        </p:nvSpPr>
        <p:spPr>
          <a:xfrm>
            <a:off x="628650" y="1701800"/>
            <a:ext cx="5543550" cy="2246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800" dirty="0">
                <a:latin typeface="Consolas" panose="020B0609020204030204" pitchFamily="49" charset="0"/>
              </a:rPr>
              <a:t>int num = 100;</a:t>
            </a:r>
          </a:p>
          <a:p>
            <a:pPr eaLnBrk="1" hangingPunct="1">
              <a:defRPr/>
            </a:pPr>
            <a:r>
              <a:rPr lang="en-US" sz="2800" dirty="0">
                <a:latin typeface="Consolas" panose="020B0609020204030204" pitchFamily="49" charset="0"/>
              </a:rPr>
              <a:t>char letter = ‘$’;</a:t>
            </a:r>
          </a:p>
          <a:p>
            <a:pPr eaLnBrk="1" hangingPunct="1">
              <a:defRPr/>
            </a:pPr>
            <a:endParaRPr lang="en-US" sz="2800" dirty="0">
              <a:latin typeface="+mn-lt"/>
            </a:endParaRPr>
          </a:p>
          <a:p>
            <a:pPr eaLnBrk="1" hangingPunct="1">
              <a:defRPr/>
            </a:pPr>
            <a:r>
              <a:rPr lang="en-US" sz="2800" dirty="0" err="1">
                <a:latin typeface="Consolas" panose="020B0609020204030204" pitchFamily="49" charset="0"/>
              </a:rPr>
              <a:t>cout</a:t>
            </a:r>
            <a:r>
              <a:rPr lang="en-US" sz="2800" dirty="0">
                <a:latin typeface="Consolas" panose="020B0609020204030204" pitchFamily="49" charset="0"/>
              </a:rPr>
              <a:t>&lt;&lt;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sz="2800" dirty="0">
                <a:latin typeface="Consolas" panose="020B0609020204030204" pitchFamily="49" charset="0"/>
              </a:rPr>
              <a:t>num;</a:t>
            </a:r>
          </a:p>
          <a:p>
            <a:pPr eaLnBrk="1" hangingPunct="1">
              <a:defRPr/>
            </a:pPr>
            <a:r>
              <a:rPr lang="en-US" sz="2800" dirty="0" err="1">
                <a:latin typeface="Consolas" panose="020B0609020204030204" pitchFamily="49" charset="0"/>
              </a:rPr>
              <a:t>cout</a:t>
            </a:r>
            <a:r>
              <a:rPr lang="en-US" sz="2800" dirty="0">
                <a:latin typeface="Consolas" panose="020B0609020204030204" pitchFamily="49" charset="0"/>
              </a:rPr>
              <a:t>&lt;&lt;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sz="2800" dirty="0">
                <a:latin typeface="Consolas" panose="020B0609020204030204" pitchFamily="49" charset="0"/>
              </a:rPr>
              <a:t>letter;</a:t>
            </a:r>
          </a:p>
        </p:txBody>
      </p:sp>
      <p:sp>
        <p:nvSpPr>
          <p:cNvPr id="90157" name="TextBox 3">
            <a:extLst>
              <a:ext uri="{FF2B5EF4-FFF2-40B4-BE49-F238E27FC236}">
                <a16:creationId xmlns:a16="http://schemas.microsoft.com/office/drawing/2014/main" id="{893AD69E-3044-4FD3-8913-02100FF2C07F}"/>
              </a:ext>
            </a:extLst>
          </p:cNvPr>
          <p:cNvSpPr txBox="1">
            <a:spLocks noChangeArrowheads="1"/>
          </p:cNvSpPr>
          <p:nvPr/>
        </p:nvSpPr>
        <p:spPr bwMode="auto">
          <a:xfrm rot="2644544">
            <a:off x="6942138" y="4057650"/>
            <a:ext cx="1598612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K" sz="6600">
                <a:solidFill>
                  <a:srgbClr val="FF0000"/>
                </a:solidFill>
              </a:rPr>
              <a:t>100</a:t>
            </a:r>
            <a:endParaRPr lang="en-PK" altLang="en-PK" sz="6600">
              <a:solidFill>
                <a:srgbClr val="FF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F790B-3D17-4560-BC4D-792F100D405D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4433888"/>
          <a:ext cx="5943601" cy="159543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11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959">
                <a:tc>
                  <a:txBody>
                    <a:bodyPr/>
                    <a:lstStyle/>
                    <a:p>
                      <a:r>
                        <a:rPr lang="en-US" sz="2400" dirty="0"/>
                        <a:t>Variable Name</a:t>
                      </a:r>
                      <a:endParaRPr lang="en-PK" sz="2400" dirty="0"/>
                    </a:p>
                  </a:txBody>
                  <a:tcPr marT="45747" marB="4574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Data Type</a:t>
                      </a:r>
                      <a:endParaRPr lang="en-PK" sz="2400" dirty="0"/>
                    </a:p>
                  </a:txBody>
                  <a:tcPr marT="45747" marB="4574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Starting Address</a:t>
                      </a:r>
                      <a:endParaRPr lang="en-PK" sz="2400" dirty="0"/>
                    </a:p>
                  </a:txBody>
                  <a:tcPr marT="45747" marB="4574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73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num</a:t>
                      </a:r>
                      <a:endParaRPr lang="en-PK" sz="2400" dirty="0"/>
                    </a:p>
                  </a:txBody>
                  <a:tcPr marT="45747" marB="4574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int </a:t>
                      </a:r>
                      <a:endParaRPr lang="en-PK" sz="2400" dirty="0"/>
                    </a:p>
                  </a:txBody>
                  <a:tcPr marT="45747" marB="4574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208</a:t>
                      </a:r>
                      <a:endParaRPr lang="en-PK" sz="2400" dirty="0"/>
                    </a:p>
                  </a:txBody>
                  <a:tcPr marT="45747" marB="4574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73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letter</a:t>
                      </a:r>
                      <a:endParaRPr lang="en-PK" sz="24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char</a:t>
                      </a:r>
                      <a:endParaRPr lang="en-PK" sz="24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205</a:t>
                      </a:r>
                      <a:endParaRPr lang="en-PK" sz="2400" dirty="0"/>
                    </a:p>
                  </a:txBody>
                  <a:tcPr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0137E34C-C5A1-472D-87AE-2B02B7A946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Program Memory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A752F54-0F06-4ABD-AD86-24D01F7974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72200" y="1006475"/>
          <a:ext cx="2343150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 Byte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204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205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206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207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208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209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210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211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3A83C66-1D7D-406B-BF17-D5D0DBC342BB}"/>
              </a:ext>
            </a:extLst>
          </p:cNvPr>
          <p:cNvSpPr txBox="1"/>
          <p:nvPr/>
        </p:nvSpPr>
        <p:spPr>
          <a:xfrm>
            <a:off x="6172200" y="198438"/>
            <a:ext cx="24463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dirty="0">
                <a:solidFill>
                  <a:srgbClr val="0070C0"/>
                </a:solidFill>
                <a:latin typeface="+mn-lt"/>
              </a:rPr>
              <a:t>Memory (RAM)</a:t>
            </a:r>
            <a:endParaRPr lang="en-PK" sz="28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E8B81-0812-4167-816D-120FFFFCEAF9}"/>
              </a:ext>
            </a:extLst>
          </p:cNvPr>
          <p:cNvSpPr txBox="1"/>
          <p:nvPr/>
        </p:nvSpPr>
        <p:spPr>
          <a:xfrm>
            <a:off x="628650" y="1701800"/>
            <a:ext cx="5695950" cy="2246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800" dirty="0">
                <a:latin typeface="Consolas" panose="020B0609020204030204" pitchFamily="49" charset="0"/>
              </a:rPr>
              <a:t>int num = 100;</a:t>
            </a:r>
          </a:p>
          <a:p>
            <a:pPr eaLnBrk="1" hangingPunct="1">
              <a:defRPr/>
            </a:pPr>
            <a:r>
              <a:rPr lang="en-US" sz="2800" dirty="0">
                <a:latin typeface="Consolas" panose="020B0609020204030204" pitchFamily="49" charset="0"/>
              </a:rPr>
              <a:t>char letter = ‘$’;</a:t>
            </a:r>
          </a:p>
          <a:p>
            <a:pPr eaLnBrk="1" hangingPunct="1">
              <a:defRPr/>
            </a:pPr>
            <a:endParaRPr lang="en-US" sz="2800" dirty="0">
              <a:latin typeface="+mn-lt"/>
            </a:endParaRPr>
          </a:p>
          <a:p>
            <a:pPr eaLnBrk="1" hangingPunct="1">
              <a:defRPr/>
            </a:pPr>
            <a:r>
              <a:rPr lang="en-US" sz="2800" dirty="0" err="1">
                <a:latin typeface="Consolas" panose="020B0609020204030204" pitchFamily="49" charset="0"/>
              </a:rPr>
              <a:t>cout</a:t>
            </a:r>
            <a:r>
              <a:rPr lang="en-US" sz="2800" dirty="0">
                <a:latin typeface="Consolas" panose="020B0609020204030204" pitchFamily="49" charset="0"/>
              </a:rPr>
              <a:t>&lt;&lt;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sz="2800" dirty="0">
                <a:latin typeface="Consolas" panose="020B0609020204030204" pitchFamily="49" charset="0"/>
              </a:rPr>
              <a:t>num;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//prints 208</a:t>
            </a:r>
            <a:endParaRPr lang="en-US" sz="28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eaLnBrk="1" hangingPunct="1">
              <a:defRPr/>
            </a:pPr>
            <a:r>
              <a:rPr lang="en-US" sz="2800" dirty="0" err="1">
                <a:latin typeface="Consolas" panose="020B0609020204030204" pitchFamily="49" charset="0"/>
              </a:rPr>
              <a:t>cout</a:t>
            </a:r>
            <a:r>
              <a:rPr lang="en-US" sz="2800" dirty="0">
                <a:latin typeface="Consolas" panose="020B0609020204030204" pitchFamily="49" charset="0"/>
              </a:rPr>
              <a:t>&lt;&lt;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sz="2800" dirty="0">
                <a:latin typeface="Consolas" panose="020B0609020204030204" pitchFamily="49" charset="0"/>
              </a:rPr>
              <a:t>letter;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//prints 205</a:t>
            </a:r>
            <a:endParaRPr lang="en-US" sz="28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92205" name="TextBox 3">
            <a:extLst>
              <a:ext uri="{FF2B5EF4-FFF2-40B4-BE49-F238E27FC236}">
                <a16:creationId xmlns:a16="http://schemas.microsoft.com/office/drawing/2014/main" id="{70F6C63F-CE22-44CB-B825-E819128DB815}"/>
              </a:ext>
            </a:extLst>
          </p:cNvPr>
          <p:cNvSpPr txBox="1">
            <a:spLocks noChangeArrowheads="1"/>
          </p:cNvSpPr>
          <p:nvPr/>
        </p:nvSpPr>
        <p:spPr bwMode="auto">
          <a:xfrm rot="2644544">
            <a:off x="6942138" y="4057650"/>
            <a:ext cx="1598612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K" sz="6600">
                <a:solidFill>
                  <a:srgbClr val="FF0000"/>
                </a:solidFill>
              </a:rPr>
              <a:t>100</a:t>
            </a:r>
            <a:endParaRPr lang="en-PK" altLang="en-PK" sz="6600">
              <a:solidFill>
                <a:srgbClr val="FF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0C5AEA-7BDA-4081-A73F-57C0476B23FE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4433888"/>
          <a:ext cx="5943601" cy="159543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11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959">
                <a:tc>
                  <a:txBody>
                    <a:bodyPr/>
                    <a:lstStyle/>
                    <a:p>
                      <a:r>
                        <a:rPr lang="en-US" sz="2400" dirty="0"/>
                        <a:t>Variable Name</a:t>
                      </a:r>
                      <a:endParaRPr lang="en-PK" sz="2400" dirty="0"/>
                    </a:p>
                  </a:txBody>
                  <a:tcPr marT="45747" marB="4574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Data Type</a:t>
                      </a:r>
                      <a:endParaRPr lang="en-PK" sz="2400" dirty="0"/>
                    </a:p>
                  </a:txBody>
                  <a:tcPr marT="45747" marB="4574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Starting Address</a:t>
                      </a:r>
                      <a:endParaRPr lang="en-PK" sz="2400" dirty="0"/>
                    </a:p>
                  </a:txBody>
                  <a:tcPr marT="45747" marB="4574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73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num</a:t>
                      </a:r>
                      <a:endParaRPr lang="en-PK" sz="2400" dirty="0"/>
                    </a:p>
                  </a:txBody>
                  <a:tcPr marT="45747" marB="4574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int </a:t>
                      </a:r>
                      <a:endParaRPr lang="en-PK" sz="2400" dirty="0"/>
                    </a:p>
                  </a:txBody>
                  <a:tcPr marT="45747" marB="4574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208</a:t>
                      </a:r>
                      <a:endParaRPr lang="en-PK" sz="2400" dirty="0"/>
                    </a:p>
                  </a:txBody>
                  <a:tcPr marT="45747" marB="4574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73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letter</a:t>
                      </a:r>
                      <a:endParaRPr lang="en-PK" sz="24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char</a:t>
                      </a:r>
                      <a:endParaRPr lang="en-PK" sz="2400" dirty="0"/>
                    </a:p>
                  </a:txBody>
                  <a:tcPr marT="45747" marB="4574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205</a:t>
                      </a:r>
                      <a:endParaRPr lang="en-PK" sz="2400" dirty="0"/>
                    </a:p>
                  </a:txBody>
                  <a:tcPr marT="45747" marB="4574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4">
            <a:extLst>
              <a:ext uri="{FF2B5EF4-FFF2-40B4-BE49-F238E27FC236}">
                <a16:creationId xmlns:a16="http://schemas.microsoft.com/office/drawing/2014/main" id="{29E18536-344A-4CE6-90D9-B66FD9A15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7" name="Rectangle 2">
            <a:extLst>
              <a:ext uri="{FF2B5EF4-FFF2-40B4-BE49-F238E27FC236}">
                <a16:creationId xmlns:a16="http://schemas.microsoft.com/office/drawing/2014/main" id="{A81605DD-4F61-4586-872B-36934AF91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 Variables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F849AC9-0348-4F85-A6F9-2B7F818F44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8294688" cy="4572000"/>
          </a:xfrm>
        </p:spPr>
        <p:txBody>
          <a:bodyPr/>
          <a:lstStyle/>
          <a:p>
            <a:pPr>
              <a:defRPr/>
            </a:pPr>
            <a:r>
              <a:rPr lang="en-US" altLang="en-PK" u="sng" dirty="0"/>
              <a:t>Pointer variable</a:t>
            </a:r>
            <a:r>
              <a:rPr lang="en-US" altLang="en-PK" dirty="0"/>
              <a:t> (pointer): a variable that </a:t>
            </a:r>
            <a:r>
              <a:rPr lang="en-US" altLang="en-PK" dirty="0">
                <a:solidFill>
                  <a:srgbClr val="0070C0"/>
                </a:solidFill>
              </a:rPr>
              <a:t>holds an address</a:t>
            </a:r>
          </a:p>
          <a:p>
            <a:pPr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>
                <a:latin typeface="Consolas" panose="020B0609020204030204" pitchFamily="49" charset="0"/>
              </a:rPr>
              <a:t>char 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= ‘$’;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&lt;&lt;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 algn="ctr">
              <a:buNone/>
              <a:defRPr/>
            </a:pPr>
            <a:r>
              <a:rPr lang="en-US" b="1" dirty="0" err="1">
                <a:solidFill>
                  <a:srgbClr val="0070C0"/>
                </a:solidFill>
              </a:rPr>
              <a:t>dataType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*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variable Name</a:t>
            </a:r>
            <a:r>
              <a:rPr lang="en-US" b="1" dirty="0"/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>
                <a:latin typeface="Consolas" panose="020B0609020204030204" pitchFamily="49" charset="0"/>
              </a:rPr>
              <a:t>char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n-US" dirty="0" err="1">
                <a:latin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 err="1">
                <a:latin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PK" dirty="0">
              <a:solidFill>
                <a:srgbClr val="0070C0"/>
              </a:solidFill>
            </a:endParaRP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9F0D6E0D-72EE-4429-BC70-E6A9C00239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5139060"/>
              </p:ext>
            </p:extLst>
          </p:nvPr>
        </p:nvGraphicFramePr>
        <p:xfrm>
          <a:off x="6151563" y="2743200"/>
          <a:ext cx="234315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205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</a:t>
                      </a: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$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206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207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8608874-60DE-4B6F-AFB7-03E65D502471}"/>
              </a:ext>
            </a:extLst>
          </p:cNvPr>
          <p:cNvSpPr/>
          <p:nvPr/>
        </p:nvSpPr>
        <p:spPr>
          <a:xfrm>
            <a:off x="119063" y="5105400"/>
            <a:ext cx="2552700" cy="609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PK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4">
            <a:extLst>
              <a:ext uri="{FF2B5EF4-FFF2-40B4-BE49-F238E27FC236}">
                <a16:creationId xmlns:a16="http://schemas.microsoft.com/office/drawing/2014/main" id="{EB77DD7C-5C26-4D7E-97D0-2D00F920D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5" name="Rectangle 2">
            <a:extLst>
              <a:ext uri="{FF2B5EF4-FFF2-40B4-BE49-F238E27FC236}">
                <a16:creationId xmlns:a16="http://schemas.microsoft.com/office/drawing/2014/main" id="{3CE8B1BC-A7E7-48B5-9243-072CAF656C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 Variables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003E28D-D6AA-420F-9E36-BB9D42D392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8294688" cy="4572000"/>
          </a:xfrm>
        </p:spPr>
        <p:txBody>
          <a:bodyPr/>
          <a:lstStyle/>
          <a:p>
            <a:pPr>
              <a:defRPr/>
            </a:pPr>
            <a:r>
              <a:rPr lang="en-US" altLang="en-PK" u="sng" dirty="0"/>
              <a:t>Pointer variable</a:t>
            </a:r>
            <a:r>
              <a:rPr lang="en-US" altLang="en-PK" dirty="0"/>
              <a:t> (pointer): a variable that </a:t>
            </a:r>
            <a:r>
              <a:rPr lang="en-US" altLang="en-PK" dirty="0">
                <a:solidFill>
                  <a:srgbClr val="0070C0"/>
                </a:solidFill>
              </a:rPr>
              <a:t>holds an address</a:t>
            </a:r>
          </a:p>
          <a:p>
            <a:pPr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>
                <a:latin typeface="Consolas" panose="020B0609020204030204" pitchFamily="49" charset="0"/>
              </a:rPr>
              <a:t>char 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= ‘$’;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&lt;&lt;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>
                <a:latin typeface="Consolas" panose="020B0609020204030204" pitchFamily="49" charset="0"/>
              </a:rPr>
              <a:t>char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n-US" dirty="0" err="1">
                <a:latin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 err="1">
                <a:latin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PK" dirty="0">
              <a:solidFill>
                <a:srgbClr val="0070C0"/>
              </a:solidFill>
            </a:endParaRP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BB12CCAD-DC8D-4D93-9A7C-763F3B56E99A}"/>
              </a:ext>
            </a:extLst>
          </p:cNvPr>
          <p:cNvGraphicFramePr>
            <a:graphicFrameLocks/>
          </p:cNvGraphicFramePr>
          <p:nvPr/>
        </p:nvGraphicFramePr>
        <p:xfrm>
          <a:off x="6151563" y="2743200"/>
          <a:ext cx="234315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205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</a:t>
                      </a: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$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206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207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cap="none" spc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ptr</a:t>
                      </a:r>
                      <a:r>
                        <a:rPr lang="en-US" sz="2400" b="1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 = 205</a:t>
                      </a:r>
                      <a:endParaRPr lang="en-PK" sz="2400" b="1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A059DBA-50FD-4127-9073-009F80EDB7BE}"/>
              </a:ext>
            </a:extLst>
          </p:cNvPr>
          <p:cNvSpPr/>
          <p:nvPr/>
        </p:nvSpPr>
        <p:spPr>
          <a:xfrm>
            <a:off x="119063" y="5105400"/>
            <a:ext cx="2552700" cy="609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PK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4">
            <a:extLst>
              <a:ext uri="{FF2B5EF4-FFF2-40B4-BE49-F238E27FC236}">
                <a16:creationId xmlns:a16="http://schemas.microsoft.com/office/drawing/2014/main" id="{7720C25F-1248-4553-8B30-92CAEC91F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3" name="Rectangle 2">
            <a:extLst>
              <a:ext uri="{FF2B5EF4-FFF2-40B4-BE49-F238E27FC236}">
                <a16:creationId xmlns:a16="http://schemas.microsoft.com/office/drawing/2014/main" id="{E18AB24E-5A30-448E-837E-04F72D81F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Pointer Variables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232F9D6-140A-473E-9DD5-4D28B7BAF6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690688"/>
            <a:ext cx="8294688" cy="4710112"/>
          </a:xfrm>
        </p:spPr>
        <p:txBody>
          <a:bodyPr/>
          <a:lstStyle/>
          <a:p>
            <a:pPr>
              <a:defRPr/>
            </a:pPr>
            <a:r>
              <a:rPr lang="en-US" altLang="en-PK" dirty="0"/>
              <a:t>Because a pointer variable holds the address of another piece of data, it "</a:t>
            </a:r>
            <a:r>
              <a:rPr lang="en-US" altLang="en-PK" dirty="0">
                <a:solidFill>
                  <a:srgbClr val="FF0000"/>
                </a:solidFill>
              </a:rPr>
              <a:t>points</a:t>
            </a:r>
            <a:r>
              <a:rPr lang="en-US" altLang="en-PK" dirty="0"/>
              <a:t>" to the data</a:t>
            </a:r>
          </a:p>
          <a:p>
            <a:pPr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>
                <a:latin typeface="Consolas" panose="020B0609020204030204" pitchFamily="49" charset="0"/>
              </a:rPr>
              <a:t>char 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= ‘$’;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&lt;&lt;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>
                <a:latin typeface="Consolas" panose="020B0609020204030204" pitchFamily="49" charset="0"/>
              </a:rPr>
              <a:t>char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n-US" dirty="0" err="1">
                <a:latin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 err="1">
                <a:latin typeface="Consolas" panose="020B0609020204030204" pitchFamily="49" charset="0"/>
              </a:rPr>
              <a:t>ptr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en-PK" dirty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PK" dirty="0">
              <a:solidFill>
                <a:srgbClr val="0070C0"/>
              </a:solidFill>
            </a:endParaRP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A533007B-C00E-4A66-AF48-1CA9EC3CA238}"/>
              </a:ext>
            </a:extLst>
          </p:cNvPr>
          <p:cNvGraphicFramePr>
            <a:graphicFrameLocks/>
          </p:cNvGraphicFramePr>
          <p:nvPr/>
        </p:nvGraphicFramePr>
        <p:xfrm>
          <a:off x="6151563" y="2743200"/>
          <a:ext cx="234315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205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</a:t>
                      </a: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$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206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b="0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207</a:t>
                      </a:r>
                      <a:endParaRPr lang="en-PK" sz="24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cap="none" spc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ptr</a:t>
                      </a:r>
                      <a:r>
                        <a:rPr lang="en-US" sz="2400" b="1" cap="none" spc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 = 205</a:t>
                      </a:r>
                      <a:endParaRPr lang="en-PK" sz="2400" b="1" cap="none" spc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9D662989-4640-4848-9F01-8FE7D2CB834C}"/>
              </a:ext>
            </a:extLst>
          </p:cNvPr>
          <p:cNvCxnSpPr>
            <a:cxnSpLocks/>
          </p:cNvCxnSpPr>
          <p:nvPr/>
        </p:nvCxnSpPr>
        <p:spPr>
          <a:xfrm flipV="1">
            <a:off x="8599488" y="3128963"/>
            <a:ext cx="12700" cy="600075"/>
          </a:xfrm>
          <a:prstGeom prst="curvedConnector3">
            <a:avLst>
              <a:gd name="adj1" fmla="val 1800000"/>
            </a:avLst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E565E38F-6A40-48FA-80DD-6F59123BD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The dereference Operator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1FA1F717-EBDA-455C-B3DA-D29D2D9EB1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PK" dirty="0"/>
              <a:t>The </a:t>
            </a:r>
            <a:r>
              <a:rPr lang="en-US" altLang="en-PK" dirty="0">
                <a:solidFill>
                  <a:srgbClr val="0070C0"/>
                </a:solidFill>
              </a:rPr>
              <a:t>dereference operator </a:t>
            </a:r>
            <a:r>
              <a:rPr lang="en-US" altLang="en-PK" dirty="0"/>
              <a:t>(</a:t>
            </a:r>
            <a:r>
              <a:rPr lang="en-US" altLang="en-PK" b="1" dirty="0">
                <a:solidFill>
                  <a:srgbClr val="0070C0"/>
                </a:solidFill>
                <a:latin typeface="Courier New" panose="02070309020205020404" pitchFamily="49" charset="0"/>
              </a:rPr>
              <a:t>*</a:t>
            </a:r>
            <a:r>
              <a:rPr lang="en-US" altLang="en-PK" dirty="0"/>
              <a:t>) dereferences a pointer.</a:t>
            </a:r>
          </a:p>
          <a:p>
            <a:endParaRPr lang="en-US" altLang="en-PK" dirty="0"/>
          </a:p>
          <a:p>
            <a:r>
              <a:rPr lang="en-US" altLang="en-PK" dirty="0"/>
              <a:t>It allows you to </a:t>
            </a:r>
            <a:r>
              <a:rPr lang="en-US" altLang="en-PK" dirty="0">
                <a:solidFill>
                  <a:srgbClr val="0070C0"/>
                </a:solidFill>
              </a:rPr>
              <a:t>access the value </a:t>
            </a:r>
            <a:r>
              <a:rPr lang="en-US" altLang="en-PK" dirty="0"/>
              <a:t>that the pointer points to.</a:t>
            </a:r>
            <a:br>
              <a:rPr lang="en-US" altLang="en-PK" dirty="0"/>
            </a:br>
            <a:br>
              <a:rPr lang="en-US" altLang="en-PK" dirty="0"/>
            </a:br>
            <a:r>
              <a:rPr lang="en-US" altLang="en-PK" b="1" dirty="0">
                <a:latin typeface="Courier New" panose="02070309020205020404" pitchFamily="49" charset="0"/>
              </a:rPr>
              <a:t>int x = 25;</a:t>
            </a:r>
            <a:br>
              <a:rPr lang="en-US" altLang="en-PK" b="1" dirty="0">
                <a:latin typeface="Courier New" panose="02070309020205020404" pitchFamily="49" charset="0"/>
              </a:rPr>
            </a:br>
            <a:r>
              <a:rPr lang="en-US" altLang="en-PK" b="1" dirty="0">
                <a:latin typeface="Courier New" panose="02070309020205020404" pitchFamily="49" charset="0"/>
              </a:rPr>
              <a:t>int *</a:t>
            </a:r>
            <a:r>
              <a:rPr lang="en-US" altLang="en-PK" b="1" dirty="0" err="1">
                <a:latin typeface="Courier New" panose="02070309020205020404" pitchFamily="49" charset="0"/>
              </a:rPr>
              <a:t>intptr</a:t>
            </a:r>
            <a:r>
              <a:rPr lang="en-US" altLang="en-PK" b="1" dirty="0">
                <a:latin typeface="Courier New" panose="02070309020205020404" pitchFamily="49" charset="0"/>
              </a:rPr>
              <a:t> = &amp;x;</a:t>
            </a:r>
            <a:br>
              <a:rPr lang="en-US" altLang="en-PK" b="1" dirty="0">
                <a:latin typeface="Courier New" panose="02070309020205020404" pitchFamily="49" charset="0"/>
              </a:rPr>
            </a:br>
            <a:r>
              <a:rPr lang="en-US" altLang="en-PK" b="1" dirty="0" err="1">
                <a:latin typeface="Courier New" panose="02070309020205020404" pitchFamily="49" charset="0"/>
              </a:rPr>
              <a:t>cout</a:t>
            </a:r>
            <a:r>
              <a:rPr lang="en-US" altLang="en-PK" b="1" dirty="0">
                <a:latin typeface="Courier New" panose="02070309020205020404" pitchFamily="49" charset="0"/>
              </a:rPr>
              <a:t> &lt;&lt; </a:t>
            </a:r>
            <a:r>
              <a:rPr lang="en-US" altLang="en-PK" b="1" dirty="0">
                <a:solidFill>
                  <a:srgbClr val="FF0000"/>
                </a:solidFill>
                <a:latin typeface="Courier New" panose="02070309020205020404" pitchFamily="49" charset="0"/>
              </a:rPr>
              <a:t>*</a:t>
            </a:r>
            <a:r>
              <a:rPr lang="en-US" altLang="en-PK" b="1" dirty="0" err="1">
                <a:latin typeface="Courier New" panose="02070309020205020404" pitchFamily="49" charset="0"/>
              </a:rPr>
              <a:t>intptr</a:t>
            </a:r>
            <a:r>
              <a:rPr lang="en-US" altLang="en-PK" b="1" dirty="0">
                <a:latin typeface="Courier New" panose="02070309020205020404" pitchFamily="49" charset="0"/>
              </a:rPr>
              <a:t> &lt;&lt; </a:t>
            </a:r>
            <a:r>
              <a:rPr lang="en-US" altLang="en-PK" b="1" dirty="0" err="1">
                <a:latin typeface="Courier New" panose="02070309020205020404" pitchFamily="49" charset="0"/>
              </a:rPr>
              <a:t>endl</a:t>
            </a:r>
            <a:r>
              <a:rPr lang="en-US" altLang="en-PK" b="1" dirty="0"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77828" name="Text Box 4">
            <a:extLst>
              <a:ext uri="{FF2B5EF4-FFF2-40B4-BE49-F238E27FC236}">
                <a16:creationId xmlns:a16="http://schemas.microsoft.com/office/drawing/2014/main" id="{5E0A5646-2E48-4C33-822C-677602601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096000"/>
            <a:ext cx="2514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PK">
                <a:solidFill>
                  <a:srgbClr val="FF0000"/>
                </a:solidFill>
                <a:latin typeface="Arial" panose="020B0604020202020204" pitchFamily="34" charset="0"/>
              </a:rPr>
              <a:t>This prints 25.</a:t>
            </a:r>
          </a:p>
        </p:txBody>
      </p:sp>
      <p:sp>
        <p:nvSpPr>
          <p:cNvPr id="77829" name="Line 5">
            <a:extLst>
              <a:ext uri="{FF2B5EF4-FFF2-40B4-BE49-F238E27FC236}">
                <a16:creationId xmlns:a16="http://schemas.microsoft.com/office/drawing/2014/main" id="{B4B207C3-12FE-4214-AD24-315FFDB2E5B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14800" y="5638800"/>
            <a:ext cx="4572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PK"/>
          </a:p>
        </p:txBody>
      </p:sp>
      <p:pic>
        <p:nvPicPr>
          <p:cNvPr id="110598" name="Picture 4">
            <a:extLst>
              <a:ext uri="{FF2B5EF4-FFF2-40B4-BE49-F238E27FC236}">
                <a16:creationId xmlns:a16="http://schemas.microsoft.com/office/drawing/2014/main" id="{E199C1F3-50E7-4F76-BBC7-732E6A4DB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/>
      <p:bldP spid="778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51EAC54B-FD2A-4FEB-A97C-058B1159AC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The dereference Operator</a:t>
            </a:r>
          </a:p>
        </p:txBody>
      </p:sp>
      <p:pic>
        <p:nvPicPr>
          <p:cNvPr id="111619" name="Picture 4">
            <a:extLst>
              <a:ext uri="{FF2B5EF4-FFF2-40B4-BE49-F238E27FC236}">
                <a16:creationId xmlns:a16="http://schemas.microsoft.com/office/drawing/2014/main" id="{EE1ABEF8-0757-4732-AAD7-9C5E5D307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20CA69-5898-4886-8E66-B1DA9E3DE9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463675"/>
            <a:ext cx="7677150" cy="360521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en-PK" dirty="0"/>
              <a:t>Note that the </a:t>
            </a:r>
            <a:r>
              <a:rPr lang="en-US" altLang="en-PK" dirty="0">
                <a:solidFill>
                  <a:srgbClr val="0070C0"/>
                </a:solidFill>
              </a:rPr>
              <a:t>* </a:t>
            </a:r>
            <a:r>
              <a:rPr lang="en-US" altLang="en-PK" dirty="0"/>
              <a:t>sign can be confusing here, as it does two different things:</a:t>
            </a:r>
          </a:p>
          <a:p>
            <a:endParaRPr lang="en-US" altLang="en-PK" dirty="0"/>
          </a:p>
          <a:p>
            <a:r>
              <a:rPr lang="en-US" altLang="en-PK" dirty="0"/>
              <a:t>When used in declaration e.g. </a:t>
            </a:r>
            <a:r>
              <a:rPr lang="en-US" altLang="en-PK" dirty="0">
                <a:solidFill>
                  <a:srgbClr val="0070C0"/>
                </a:solidFill>
                <a:latin typeface="Consolas" panose="020B0609020204030204" pitchFamily="49" charset="0"/>
              </a:rPr>
              <a:t>string* </a:t>
            </a:r>
            <a:r>
              <a:rPr lang="en-US" altLang="en-PK" dirty="0" err="1">
                <a:solidFill>
                  <a:srgbClr val="0070C0"/>
                </a:solidFill>
                <a:latin typeface="Consolas" panose="020B0609020204030204" pitchFamily="49" charset="0"/>
              </a:rPr>
              <a:t>ptr</a:t>
            </a:r>
            <a:r>
              <a:rPr lang="en-US" altLang="en-PK" dirty="0"/>
              <a:t>, it </a:t>
            </a:r>
            <a:r>
              <a:rPr lang="en-US" altLang="en-PK" dirty="0">
                <a:solidFill>
                  <a:srgbClr val="0070C0"/>
                </a:solidFill>
              </a:rPr>
              <a:t>creates a pointer variable</a:t>
            </a:r>
            <a:r>
              <a:rPr lang="en-US" altLang="en-PK" dirty="0"/>
              <a:t>.</a:t>
            </a:r>
          </a:p>
          <a:p>
            <a:endParaRPr lang="en-US" altLang="en-PK" dirty="0"/>
          </a:p>
          <a:p>
            <a:r>
              <a:rPr lang="en-US" altLang="en-PK" dirty="0"/>
              <a:t>When </a:t>
            </a:r>
            <a:r>
              <a:rPr lang="en-US" altLang="en-PK" dirty="0">
                <a:solidFill>
                  <a:srgbClr val="0070C0"/>
                </a:solidFill>
              </a:rPr>
              <a:t>not used in declaration</a:t>
            </a:r>
            <a:r>
              <a:rPr lang="en-US" altLang="en-PK" dirty="0"/>
              <a:t>, it act as a </a:t>
            </a:r>
            <a:r>
              <a:rPr lang="en-US" altLang="en-PK" dirty="0">
                <a:solidFill>
                  <a:srgbClr val="0070C0"/>
                </a:solidFill>
              </a:rPr>
              <a:t>dereference operator </a:t>
            </a:r>
            <a:r>
              <a:rPr lang="en-US" altLang="en-PK" dirty="0" err="1"/>
              <a:t>e.g</a:t>
            </a:r>
            <a:r>
              <a:rPr lang="en-US" altLang="en-PK" dirty="0"/>
              <a:t> </a:t>
            </a:r>
            <a:r>
              <a:rPr lang="en-US" altLang="en-PK" dirty="0" err="1">
                <a:latin typeface="Consolas" panose="020B0609020204030204" pitchFamily="49" charset="0"/>
                <a:cs typeface="Arial" panose="020B0604020202020204" pitchFamily="34" charset="0"/>
              </a:rPr>
              <a:t>cout</a:t>
            </a:r>
            <a:r>
              <a:rPr lang="en-US" altLang="en-PK" dirty="0">
                <a:latin typeface="Consolas" panose="020B0609020204030204" pitchFamily="49" charset="0"/>
                <a:cs typeface="Arial" panose="020B0604020202020204" pitchFamily="34" charset="0"/>
              </a:rPr>
              <a:t> &lt;&lt; *</a:t>
            </a:r>
            <a:r>
              <a:rPr lang="en-US" altLang="en-PK" dirty="0" err="1">
                <a:latin typeface="Consolas" panose="020B0609020204030204" pitchFamily="49" charset="0"/>
                <a:cs typeface="Arial" panose="020B0604020202020204" pitchFamily="34" charset="0"/>
              </a:rPr>
              <a:t>ptr</a:t>
            </a:r>
            <a:r>
              <a:rPr lang="en-US" altLang="en-PK" dirty="0"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  <a:endParaRPr lang="en-US" altLang="en-PK" sz="18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62782779-6707-44F0-A8CA-FD67E89F33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The dereference Operator</a:t>
            </a:r>
          </a:p>
        </p:txBody>
      </p:sp>
      <p:pic>
        <p:nvPicPr>
          <p:cNvPr id="112643" name="Picture 4">
            <a:extLst>
              <a:ext uri="{FF2B5EF4-FFF2-40B4-BE49-F238E27FC236}">
                <a16:creationId xmlns:a16="http://schemas.microsoft.com/office/drawing/2014/main" id="{2038CBFD-7D5B-4D29-BEE0-6FF06AB6B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B5A8B7-91BE-448B-B7A2-1ECD71A1B4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55750"/>
            <a:ext cx="8356600" cy="3421063"/>
          </a:xfrm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en-PK" dirty="0"/>
              <a:t>Another Example:</a:t>
            </a:r>
          </a:p>
          <a:p>
            <a:pPr>
              <a:defRPr/>
            </a:pPr>
            <a:endParaRPr lang="en-US" altLang="en-PK" dirty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int v1 = 99;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int* p = &amp;v1;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&lt;&lt;“ P points to the value: “&lt;&lt;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*p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PK" dirty="0"/>
          </a:p>
          <a:p>
            <a:pPr>
              <a:defRPr/>
            </a:pPr>
            <a:endParaRPr lang="en-US" altLang="en-PK" dirty="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C5505E94-C3FE-4358-9B99-2A073DAB4B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/>
              <a:t>Dereferencing Pointer Example</a:t>
            </a:r>
          </a:p>
        </p:txBody>
      </p:sp>
      <p:sp>
        <p:nvSpPr>
          <p:cNvPr id="881667" name="Rectangle 3">
            <a:extLst>
              <a:ext uri="{FF2B5EF4-FFF2-40B4-BE49-F238E27FC236}">
                <a16:creationId xmlns:a16="http://schemas.microsoft.com/office/drawing/2014/main" id="{CD464C26-CCD4-4486-8F39-2B76E7C062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2643188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338138" indent="0">
              <a:buFont typeface="Arial" panose="020B0604020202020204" pitchFamily="34" charset="0"/>
              <a:buNone/>
              <a:defRPr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v1 = 0;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* p1 = &amp;v1;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latin typeface="Courier New" pitchFamily="49" charset="0"/>
                <a:cs typeface="Courier New" pitchFamily="49" charset="0"/>
              </a:rPr>
              <a:t>*p1 = 42;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&lt;&lt; v1 &lt;&lt;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&lt;&lt; *p1 &lt;&lt;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1FD2F7-3C1D-434D-A390-711F230F3025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1878013"/>
            <a:ext cx="4267200" cy="646112"/>
            <a:chOff x="4572000" y="1524000"/>
            <a:chExt cx="4267200" cy="646331"/>
          </a:xfrm>
        </p:grpSpPr>
        <p:sp>
          <p:nvSpPr>
            <p:cNvPr id="881668" name="Text Box 4">
              <a:extLst>
                <a:ext uri="{FF2B5EF4-FFF2-40B4-BE49-F238E27FC236}">
                  <a16:creationId xmlns:a16="http://schemas.microsoft.com/office/drawing/2014/main" id="{90807B06-692C-4109-B20B-D7C746093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338" y="1524000"/>
              <a:ext cx="2455862" cy="64633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dirty="0"/>
                <a:t>v1 and *p1 now refer to </a:t>
              </a:r>
              <a:br>
                <a:rPr lang="en-US" b="1" dirty="0"/>
              </a:br>
              <a:r>
                <a:rPr lang="en-US" b="1" dirty="0"/>
                <a:t>the same variable</a:t>
              </a:r>
            </a:p>
          </p:txBody>
        </p:sp>
        <p:sp>
          <p:nvSpPr>
            <p:cNvPr id="113671" name="Line 6">
              <a:extLst>
                <a:ext uri="{FF2B5EF4-FFF2-40B4-BE49-F238E27FC236}">
                  <a16:creationId xmlns:a16="http://schemas.microsoft.com/office/drawing/2014/main" id="{85E704A1-0C0D-48F3-978E-27EA2A993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72000" y="1828800"/>
              <a:ext cx="1797050" cy="0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PK"/>
            </a:p>
          </p:txBody>
        </p:sp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D82167C8-14ED-48FA-A765-7D5A5B8AFB1F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4468813"/>
            <a:ext cx="7886700" cy="1905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338138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b="1" u="sng" dirty="0">
                <a:latin typeface="Courier New" pitchFamily="49" charset="0"/>
                <a:cs typeface="Courier New" pitchFamily="49" charset="0"/>
              </a:rPr>
              <a:t>Output:</a:t>
            </a:r>
          </a:p>
          <a:p>
            <a:pPr marL="338138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	42</a:t>
            </a:r>
          </a:p>
          <a:p>
            <a:pPr marL="338138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	42</a:t>
            </a:r>
            <a:endParaRPr lang="en-US" sz="3200" dirty="0"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>
            <a:extLst>
              <a:ext uri="{FF2B5EF4-FFF2-40B4-BE49-F238E27FC236}">
                <a16:creationId xmlns:a16="http://schemas.microsoft.com/office/drawing/2014/main" id="{B85F681A-7D46-4653-AC38-BB1E1F434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2613" y="171450"/>
            <a:ext cx="8026400" cy="10334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/>
              <a:t>Pointer Assignment and Dereferencing 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98690018-0EAA-4449-85CE-D5612FADD4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2613" y="1204913"/>
            <a:ext cx="7831137" cy="2489200"/>
          </a:xfrm>
        </p:spPr>
        <p:txBody>
          <a:bodyPr/>
          <a:lstStyle/>
          <a:p>
            <a:r>
              <a:rPr lang="en-US" altLang="en-PK" dirty="0">
                <a:solidFill>
                  <a:srgbClr val="0070C0"/>
                </a:solidFill>
              </a:rPr>
              <a:t>Assignment operator </a:t>
            </a:r>
            <a:r>
              <a:rPr lang="en-US" altLang="en-PK" dirty="0"/>
              <a:t>(</a:t>
            </a:r>
            <a:r>
              <a:rPr lang="en-US" altLang="en-PK" b="1" dirty="0"/>
              <a:t> </a:t>
            </a:r>
            <a:r>
              <a:rPr lang="en-US" altLang="en-PK" b="1" dirty="0">
                <a:solidFill>
                  <a:srgbClr val="FF0000"/>
                </a:solidFill>
              </a:rPr>
              <a:t>=</a:t>
            </a:r>
            <a:r>
              <a:rPr lang="en-US" altLang="en-PK" b="1" dirty="0"/>
              <a:t> </a:t>
            </a:r>
            <a:r>
              <a:rPr lang="en-US" altLang="en-PK" dirty="0"/>
              <a:t>) can be used to assign value of one </a:t>
            </a:r>
            <a:r>
              <a:rPr lang="en-US" altLang="en-PK" dirty="0">
                <a:solidFill>
                  <a:srgbClr val="0070C0"/>
                </a:solidFill>
              </a:rPr>
              <a:t>pointer</a:t>
            </a:r>
            <a:r>
              <a:rPr lang="en-US" altLang="en-PK" dirty="0"/>
              <a:t> to another</a:t>
            </a:r>
          </a:p>
          <a:p>
            <a:endParaRPr lang="en-US" altLang="en-PK" dirty="0"/>
          </a:p>
          <a:p>
            <a:r>
              <a:rPr lang="en-US" altLang="en-PK" dirty="0">
                <a:solidFill>
                  <a:srgbClr val="0070C0"/>
                </a:solidFill>
              </a:rPr>
              <a:t>Pointer stores addresses </a:t>
            </a:r>
            <a:r>
              <a:rPr lang="en-US" altLang="en-PK" dirty="0"/>
              <a:t>so </a:t>
            </a:r>
            <a:r>
              <a:rPr lang="en-US" altLang="en-PK" b="1" dirty="0">
                <a:solidFill>
                  <a:srgbClr val="FF0000"/>
                </a:solidFill>
              </a:rPr>
              <a:t>p1 = p2 </a:t>
            </a:r>
            <a:r>
              <a:rPr lang="en-US" altLang="en-PK" dirty="0"/>
              <a:t>copies </a:t>
            </a:r>
            <a:r>
              <a:rPr lang="en-US" altLang="en-PK" dirty="0">
                <a:solidFill>
                  <a:srgbClr val="0070C0"/>
                </a:solidFill>
              </a:rPr>
              <a:t>an address value</a:t>
            </a:r>
            <a:r>
              <a:rPr lang="en-US" altLang="en-PK" dirty="0"/>
              <a:t> into another pointer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48F08C7-92D0-48A3-9ECC-3EECC3FD6E72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3443288"/>
            <a:ext cx="4953000" cy="289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338138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v1 = 55;</a:t>
            </a:r>
            <a:br>
              <a:rPr lang="en-US" sz="2800" b="1" dirty="0">
                <a:latin typeface="Courier New" pitchFamily="49" charset="0"/>
                <a:cs typeface="Courier New" pitchFamily="49" charset="0"/>
              </a:rPr>
            </a:b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* p1 = &amp;v1;</a:t>
            </a:r>
            <a:br>
              <a:rPr lang="en-US" sz="2800" b="1" dirty="0">
                <a:latin typeface="Courier New" pitchFamily="49" charset="0"/>
                <a:cs typeface="Courier New" pitchFamily="49" charset="0"/>
              </a:rPr>
            </a:b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* p2;</a:t>
            </a:r>
          </a:p>
          <a:p>
            <a:pPr marL="338138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p2=p1;</a:t>
            </a:r>
            <a:br>
              <a:rPr lang="en-US" sz="2800" b="1" dirty="0">
                <a:latin typeface="Courier New" pitchFamily="49" charset="0"/>
                <a:cs typeface="Courier New" pitchFamily="49" charset="0"/>
              </a:rPr>
            </a:b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&lt;&lt; *p1 &lt;&lt;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sz="2800" b="1" dirty="0">
                <a:latin typeface="Courier New" pitchFamily="49" charset="0"/>
                <a:cs typeface="Courier New" pitchFamily="49" charset="0"/>
              </a:rPr>
            </a:b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 &lt;&lt; *p2 &lt;&lt; </a:t>
            </a:r>
            <a:r>
              <a:rPr lang="en-US" sz="28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sz="3200" dirty="0">
              <a:latin typeface="+mn-lt"/>
              <a:cs typeface="+mn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CF5D472-6CA2-4635-AEA9-66B3D059775E}"/>
              </a:ext>
            </a:extLst>
          </p:cNvPr>
          <p:cNvSpPr txBox="1">
            <a:spLocks noChangeArrowheads="1"/>
          </p:cNvSpPr>
          <p:nvPr/>
        </p:nvSpPr>
        <p:spPr>
          <a:xfrm>
            <a:off x="5410200" y="3443288"/>
            <a:ext cx="3505200" cy="2895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338138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b="1" u="sng" dirty="0">
                <a:latin typeface="Courier New" pitchFamily="49" charset="0"/>
                <a:cs typeface="Courier New" pitchFamily="49" charset="0"/>
              </a:rPr>
              <a:t>Output:</a:t>
            </a:r>
          </a:p>
          <a:p>
            <a:pPr marL="338138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b="1" u="sng" dirty="0">
              <a:latin typeface="Courier New" pitchFamily="49" charset="0"/>
              <a:cs typeface="Courier New" pitchFamily="49" charset="0"/>
            </a:endParaRPr>
          </a:p>
          <a:p>
            <a:pPr marL="338138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55</a:t>
            </a:r>
          </a:p>
          <a:p>
            <a:pPr marL="338138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		55</a:t>
            </a:r>
            <a:endParaRPr lang="en-US" sz="3200" dirty="0"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Dynamic Memory Allocation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/>
          </a:extLst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dirty="0"/>
              <a:t>Used when </a:t>
            </a:r>
            <a:r>
              <a:rPr lang="en-US" dirty="0">
                <a:solidFill>
                  <a:srgbClr val="0070C0"/>
                </a:solidFill>
              </a:rPr>
              <a:t>space requirements </a:t>
            </a:r>
            <a:r>
              <a:rPr lang="en-US" dirty="0"/>
              <a:t>are </a:t>
            </a:r>
            <a:r>
              <a:rPr lang="en-US" dirty="0">
                <a:solidFill>
                  <a:srgbClr val="0070C0"/>
                </a:solidFill>
              </a:rPr>
              <a:t>unknown at compile time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/>
              <a:t>Most of the time the amount of space required is unknown at compile time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dirty="0"/>
          </a:p>
          <a:p>
            <a:pPr lvl="1" eaLnBrk="1" hangingPunct="1">
              <a:lnSpc>
                <a:spcPct val="80000"/>
              </a:lnSpc>
              <a:defRPr/>
            </a:pPr>
            <a:endParaRPr lang="en-US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rgbClr val="0070C0"/>
                </a:solidFill>
              </a:rPr>
              <a:t>Dynamic Memory Allocation </a:t>
            </a:r>
            <a:r>
              <a:rPr lang="en-US" dirty="0"/>
              <a:t>(DMA):-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dirty="0"/>
              <a:t>We can allocate/deallocate memory at runtime or execution time.</a:t>
            </a:r>
          </a:p>
        </p:txBody>
      </p:sp>
    </p:spTree>
    <p:extLst>
      <p:ext uri="{BB962C8B-B14F-4D97-AF65-F5344CB8AC3E}">
        <p14:creationId xmlns:p14="http://schemas.microsoft.com/office/powerpoint/2010/main" val="429011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Differences between Static and Dynamic Memory Allocation</a:t>
            </a:r>
            <a:endParaRPr lang="fr-FR" dirty="0"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solidFill>
                  <a:srgbClr val="0070C0"/>
                </a:solidFill>
                <a:cs typeface="+mn-cs"/>
              </a:rPr>
              <a:t>Dynamically allocated memory </a:t>
            </a:r>
            <a:r>
              <a:rPr lang="en-US" sz="2800" dirty="0">
                <a:cs typeface="+mn-cs"/>
              </a:rPr>
              <a:t>is kept on the 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memory heap </a:t>
            </a:r>
            <a:r>
              <a:rPr lang="en-US" sz="2800" dirty="0">
                <a:cs typeface="+mn-cs"/>
              </a:rPr>
              <a:t>(also known as the 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free store</a:t>
            </a:r>
            <a:r>
              <a:rPr lang="en-US" sz="2800" dirty="0">
                <a:cs typeface="+mn-cs"/>
              </a:rPr>
              <a:t>)</a:t>
            </a:r>
          </a:p>
          <a:p>
            <a:pPr>
              <a:defRPr/>
            </a:pPr>
            <a:endParaRPr lang="en-US" sz="2800" dirty="0">
              <a:cs typeface="+mn-cs"/>
            </a:endParaRPr>
          </a:p>
          <a:p>
            <a:pPr eaLnBrk="1" hangingPunct="1">
              <a:defRPr/>
            </a:pPr>
            <a:r>
              <a:rPr lang="en-US" sz="2800" dirty="0">
                <a:cs typeface="+mn-cs"/>
              </a:rPr>
              <a:t>Dynamically allocated memory 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cannot have a name, </a:t>
            </a:r>
            <a:r>
              <a:rPr lang="en-US" sz="2800" dirty="0">
                <a:cs typeface="+mn-cs"/>
              </a:rPr>
              <a:t>it must be referred to</a:t>
            </a:r>
          </a:p>
          <a:p>
            <a:pPr eaLnBrk="1" hangingPunct="1">
              <a:defRPr/>
            </a:pPr>
            <a:endParaRPr lang="en-US" sz="2800" b="1" dirty="0">
              <a:cs typeface="+mn-cs"/>
            </a:endParaRPr>
          </a:p>
          <a:p>
            <a:pPr eaLnBrk="1" hangingPunct="1">
              <a:defRPr/>
            </a:pPr>
            <a:r>
              <a:rPr lang="en-US" sz="2800" i="1" dirty="0">
                <a:solidFill>
                  <a:srgbClr val="0070C0"/>
                </a:solidFill>
                <a:cs typeface="+mn-cs"/>
              </a:rPr>
              <a:t>Declarations</a:t>
            </a:r>
            <a:r>
              <a:rPr lang="en-US" sz="2800" dirty="0">
                <a:cs typeface="+mn-cs"/>
              </a:rPr>
              <a:t> are used to statically allocate memory, </a:t>
            </a:r>
          </a:p>
          <a:p>
            <a:pPr lvl="1">
              <a:defRPr/>
            </a:pPr>
            <a:r>
              <a:rPr lang="en-US" dirty="0">
                <a:cs typeface="+mn-cs"/>
              </a:rPr>
              <a:t>the </a:t>
            </a:r>
            <a:r>
              <a:rPr lang="en-US" b="1" i="1" dirty="0">
                <a:solidFill>
                  <a:srgbClr val="0070C0"/>
                </a:solidFill>
                <a:cs typeface="+mn-cs"/>
              </a:rPr>
              <a:t>new</a:t>
            </a:r>
            <a:r>
              <a:rPr lang="en-US" dirty="0">
                <a:cs typeface="+mn-cs"/>
              </a:rPr>
              <a:t> operator is used to dynamically allocate memory</a:t>
            </a:r>
            <a:endParaRPr lang="fr-FR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636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16BE663B-1481-462A-992C-BC8CBE1A4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Memory Allocation</a:t>
            </a:r>
            <a:endParaRPr lang="en-US" altLang="zh-CN" dirty="0"/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Heap management in C++ is </a:t>
            </a:r>
            <a:r>
              <a:rPr lang="en-US" altLang="zh-CN" sz="2800" dirty="0">
                <a:solidFill>
                  <a:srgbClr val="0070C0"/>
                </a:solidFill>
              </a:rPr>
              <a:t>explicit</a:t>
            </a:r>
            <a:r>
              <a:rPr lang="en-US" altLang="zh-CN" sz="2800" dirty="0"/>
              <a:t>:</a:t>
            </a:r>
          </a:p>
          <a:p>
            <a:endParaRPr lang="en-US" altLang="zh-CN" sz="2800" dirty="0"/>
          </a:p>
          <a:p>
            <a:pPr marL="0" indent="0">
              <a:buNone/>
            </a:pP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datatype; 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//allocate memory for one element</a:t>
            </a:r>
          </a:p>
          <a:p>
            <a:pPr marL="0" indent="0">
              <a:buNone/>
            </a:pPr>
            <a:endParaRPr lang="en-US" altLang="zh-CN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datatype[size]; 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//allocate memory for fixed number of elements</a:t>
            </a:r>
          </a:p>
          <a:p>
            <a:pPr marL="0" indent="0">
              <a:buNone/>
            </a:pP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76792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Memory Allocation</a:t>
            </a:r>
            <a:endParaRPr lang="en-US" altLang="zh-CN" dirty="0"/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Heap management in C++ is </a:t>
            </a:r>
            <a:r>
              <a:rPr lang="en-US" altLang="zh-CN" sz="2800" dirty="0">
                <a:solidFill>
                  <a:srgbClr val="0070C0"/>
                </a:solidFill>
              </a:rPr>
              <a:t>explicit</a:t>
            </a:r>
            <a:r>
              <a:rPr lang="en-US" altLang="zh-CN" sz="2800" dirty="0"/>
              <a:t>:</a:t>
            </a:r>
          </a:p>
          <a:p>
            <a:endParaRPr lang="en-US" altLang="zh-CN" sz="2800" dirty="0"/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//deallocate memory for one element</a:t>
            </a:r>
          </a:p>
          <a:p>
            <a:pPr marL="0" indent="0">
              <a:buNone/>
            </a:pPr>
            <a:endParaRPr lang="en-US" altLang="zh-CN" sz="28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 []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//deallocate memory for array</a:t>
            </a:r>
          </a:p>
          <a:p>
            <a:pPr marL="0" indent="0">
              <a:buNone/>
            </a:pP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83F7224-6ED2-4099-9F56-6A25CA9FE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767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Example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 =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int; </a:t>
            </a:r>
          </a:p>
          <a:p>
            <a:pPr marL="0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*p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99;</a:t>
            </a:r>
          </a:p>
          <a:p>
            <a:pPr marL="0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408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7408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6302375"/>
            <a:ext cx="1563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74086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74087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74090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1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74093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4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74096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219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74097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8" name="Line 18"/>
          <p:cNvSpPr>
            <a:spLocks noChangeShapeType="1"/>
          </p:cNvSpPr>
          <p:nvPr/>
        </p:nvSpPr>
        <p:spPr bwMode="auto">
          <a:xfrm flipV="1">
            <a:off x="7772400" y="525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1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3" name="Text Box 23"/>
          <p:cNvSpPr txBox="1">
            <a:spLocks noChangeArrowheads="1"/>
          </p:cNvSpPr>
          <p:nvPr/>
        </p:nvSpPr>
        <p:spPr bwMode="auto">
          <a:xfrm>
            <a:off x="7696200" y="5562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BF2F1F59-E678-4F72-90FE-452E59243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DADF7883-637E-4908-91D5-18B61D613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724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64A09108-EC71-4C59-8ACB-2D45D08A6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521" y="4419599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#@%*&amp;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9B05C03-2B76-4147-B0E1-0E81C7122AD0}"/>
              </a:ext>
            </a:extLst>
          </p:cNvPr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6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3" grpId="0"/>
      <p:bldP spid="24" grpId="0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Example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 =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int; </a:t>
            </a:r>
          </a:p>
          <a:p>
            <a:pPr marL="0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*p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99;</a:t>
            </a:r>
          </a:p>
          <a:p>
            <a:pPr marL="0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408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7408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6302375"/>
            <a:ext cx="1563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74086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74087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74090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1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74093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4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74096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219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74097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8" name="Line 18"/>
          <p:cNvSpPr>
            <a:spLocks noChangeShapeType="1"/>
          </p:cNvSpPr>
          <p:nvPr/>
        </p:nvSpPr>
        <p:spPr bwMode="auto">
          <a:xfrm flipV="1">
            <a:off x="7772400" y="525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1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3" name="Text Box 23"/>
          <p:cNvSpPr txBox="1">
            <a:spLocks noChangeArrowheads="1"/>
          </p:cNvSpPr>
          <p:nvPr/>
        </p:nvSpPr>
        <p:spPr bwMode="auto">
          <a:xfrm>
            <a:off x="7696200" y="55626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BF2F1F59-E678-4F72-90FE-452E59243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DADF7883-637E-4908-91D5-18B61D613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724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64A09108-EC71-4C59-8ACB-2D45D08A6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599" y="4419599"/>
            <a:ext cx="13759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 99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9B05C03-2B76-4147-B0E1-0E81C7122AD0}"/>
              </a:ext>
            </a:extLst>
          </p:cNvPr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5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Aliasing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90688"/>
            <a:ext cx="7886700" cy="44862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If two pointers have the </a:t>
            </a:r>
            <a:r>
              <a:rPr lang="en-US" altLang="zh-CN" dirty="0">
                <a:solidFill>
                  <a:srgbClr val="0070C0"/>
                </a:solidFill>
              </a:rPr>
              <a:t>same value</a:t>
            </a:r>
            <a:r>
              <a:rPr lang="en-US" altLang="zh-CN" dirty="0"/>
              <a:t>, they are </a:t>
            </a:r>
            <a:r>
              <a:rPr lang="en-US" altLang="zh-CN" dirty="0">
                <a:solidFill>
                  <a:srgbClr val="FF0000"/>
                </a:solidFill>
              </a:rPr>
              <a:t>aliases </a:t>
            </a:r>
            <a:r>
              <a:rPr lang="en-US" altLang="zh-CN" dirty="0"/>
              <a:t>of each other.</a:t>
            </a:r>
          </a:p>
          <a:p>
            <a:pPr marL="0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int *p,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*q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 = new int; 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*p = 99;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q = p;</a:t>
            </a:r>
          </a:p>
          <a:p>
            <a:pPr marL="0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408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7408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6302375"/>
            <a:ext cx="1563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74086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74087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74090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1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74093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4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74096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219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74097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1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3" name="Text Box 23"/>
          <p:cNvSpPr txBox="1">
            <a:spLocks noChangeArrowheads="1"/>
          </p:cNvSpPr>
          <p:nvPr/>
        </p:nvSpPr>
        <p:spPr bwMode="auto">
          <a:xfrm>
            <a:off x="7696200" y="55626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BF2F1F59-E678-4F72-90FE-452E59243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DADF7883-637E-4908-91D5-18B61D613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724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64A09108-EC71-4C59-8ACB-2D45D08A6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599" y="4419599"/>
            <a:ext cx="13759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</a:rPr>
              <a:t>99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9B05C03-2B76-4147-B0E1-0E81C7122AD0}"/>
              </a:ext>
            </a:extLst>
          </p:cNvPr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7">
            <a:extLst>
              <a:ext uri="{FF2B5EF4-FFF2-40B4-BE49-F238E27FC236}">
                <a16:creationId xmlns:a16="http://schemas.microsoft.com/office/drawing/2014/main" id="{6EC51D53-A44B-4C18-BB1C-52BB12298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3340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8">
            <a:extLst>
              <a:ext uri="{FF2B5EF4-FFF2-40B4-BE49-F238E27FC236}">
                <a16:creationId xmlns:a16="http://schemas.microsoft.com/office/drawing/2014/main" id="{AD46767C-2029-4311-8E15-7B67B0D36B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2400" y="5105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F2106A8C-40DB-46E9-9360-73EC2994A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5257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q</a:t>
            </a:r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B47A8BF1-9507-4D6B-B6A6-09D276E7A25F}"/>
              </a:ext>
            </a:extLst>
          </p:cNvPr>
          <p:cNvSpPr>
            <a:spLocks/>
          </p:cNvSpPr>
          <p:nvPr/>
        </p:nvSpPr>
        <p:spPr bwMode="auto">
          <a:xfrm>
            <a:off x="8686800" y="4572000"/>
            <a:ext cx="304800" cy="914400"/>
          </a:xfrm>
          <a:custGeom>
            <a:avLst/>
            <a:gdLst>
              <a:gd name="T0" fmla="*/ 0 w 192"/>
              <a:gd name="T1" fmla="*/ 576 h 576"/>
              <a:gd name="T2" fmla="*/ 192 w 192"/>
              <a:gd name="T3" fmla="*/ 384 h 576"/>
              <a:gd name="T4" fmla="*/ 0 w 192"/>
              <a:gd name="T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576">
                <a:moveTo>
                  <a:pt x="0" y="576"/>
                </a:moveTo>
                <a:cubicBezTo>
                  <a:pt x="96" y="528"/>
                  <a:pt x="192" y="480"/>
                  <a:pt x="192" y="384"/>
                </a:cubicBezTo>
                <a:cubicBezTo>
                  <a:pt x="192" y="288"/>
                  <a:pt x="32" y="64"/>
                  <a:pt x="0" y="0"/>
                </a:cubicBezTo>
              </a:path>
            </a:pathLst>
          </a:custGeom>
          <a:noFill/>
          <a:ln w="25400">
            <a:solidFill>
              <a:srgbClr val="2C14DE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6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Aliasing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90688"/>
            <a:ext cx="7886700" cy="44862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If two pointers have the </a:t>
            </a:r>
            <a:r>
              <a:rPr lang="en-US" altLang="zh-CN" dirty="0">
                <a:solidFill>
                  <a:srgbClr val="0070C0"/>
                </a:solidFill>
              </a:rPr>
              <a:t>same value</a:t>
            </a:r>
            <a:r>
              <a:rPr lang="en-US" altLang="zh-CN" dirty="0"/>
              <a:t>, they are </a:t>
            </a:r>
            <a:r>
              <a:rPr lang="en-US" altLang="zh-CN" dirty="0">
                <a:solidFill>
                  <a:srgbClr val="FF0000"/>
                </a:solidFill>
              </a:rPr>
              <a:t>aliases </a:t>
            </a:r>
            <a:r>
              <a:rPr lang="en-US" altLang="zh-CN" dirty="0"/>
              <a:t>of each other.</a:t>
            </a:r>
          </a:p>
          <a:p>
            <a:pPr marL="0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int *p,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*q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 = new int; 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*p = 99;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= q;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*q = 88;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408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7408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6302375"/>
            <a:ext cx="1563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74086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74087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74090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1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74093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4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74096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219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74097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1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3" name="Text Box 23"/>
          <p:cNvSpPr txBox="1">
            <a:spLocks noChangeArrowheads="1"/>
          </p:cNvSpPr>
          <p:nvPr/>
        </p:nvSpPr>
        <p:spPr bwMode="auto">
          <a:xfrm>
            <a:off x="7696200" y="55626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BF2F1F59-E678-4F72-90FE-452E59243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DADF7883-637E-4908-91D5-18B61D613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724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64A09108-EC71-4C59-8ACB-2D45D08A6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599" y="4419599"/>
            <a:ext cx="13759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</a:rPr>
              <a:t>99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9B05C03-2B76-4147-B0E1-0E81C7122AD0}"/>
              </a:ext>
            </a:extLst>
          </p:cNvPr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7">
            <a:extLst>
              <a:ext uri="{FF2B5EF4-FFF2-40B4-BE49-F238E27FC236}">
                <a16:creationId xmlns:a16="http://schemas.microsoft.com/office/drawing/2014/main" id="{6EC51D53-A44B-4C18-BB1C-52BB12298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3340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8">
            <a:extLst>
              <a:ext uri="{FF2B5EF4-FFF2-40B4-BE49-F238E27FC236}">
                <a16:creationId xmlns:a16="http://schemas.microsoft.com/office/drawing/2014/main" id="{AD46767C-2029-4311-8E15-7B67B0D36B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2400" y="5105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F2106A8C-40DB-46E9-9360-73EC2994A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5257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q</a:t>
            </a:r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B47A8BF1-9507-4D6B-B6A6-09D276E7A25F}"/>
              </a:ext>
            </a:extLst>
          </p:cNvPr>
          <p:cNvSpPr>
            <a:spLocks/>
          </p:cNvSpPr>
          <p:nvPr/>
        </p:nvSpPr>
        <p:spPr bwMode="auto">
          <a:xfrm>
            <a:off x="8686800" y="4572000"/>
            <a:ext cx="304800" cy="914400"/>
          </a:xfrm>
          <a:custGeom>
            <a:avLst/>
            <a:gdLst>
              <a:gd name="T0" fmla="*/ 0 w 192"/>
              <a:gd name="T1" fmla="*/ 576 h 576"/>
              <a:gd name="T2" fmla="*/ 192 w 192"/>
              <a:gd name="T3" fmla="*/ 384 h 576"/>
              <a:gd name="T4" fmla="*/ 0 w 192"/>
              <a:gd name="T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576">
                <a:moveTo>
                  <a:pt x="0" y="576"/>
                </a:moveTo>
                <a:cubicBezTo>
                  <a:pt x="96" y="528"/>
                  <a:pt x="192" y="480"/>
                  <a:pt x="192" y="384"/>
                </a:cubicBezTo>
                <a:cubicBezTo>
                  <a:pt x="192" y="288"/>
                  <a:pt x="32" y="64"/>
                  <a:pt x="0" y="0"/>
                </a:cubicBezTo>
              </a:path>
            </a:pathLst>
          </a:custGeom>
          <a:noFill/>
          <a:ln w="25400">
            <a:solidFill>
              <a:srgbClr val="2C14DE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14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Aliasing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90688"/>
            <a:ext cx="7886700" cy="44862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If two pointers have the </a:t>
            </a:r>
            <a:r>
              <a:rPr lang="en-US" altLang="zh-CN" dirty="0">
                <a:solidFill>
                  <a:srgbClr val="0070C0"/>
                </a:solidFill>
              </a:rPr>
              <a:t>same value</a:t>
            </a:r>
            <a:r>
              <a:rPr lang="en-US" altLang="zh-CN" dirty="0"/>
              <a:t>, they are </a:t>
            </a:r>
            <a:r>
              <a:rPr lang="en-US" altLang="zh-CN" dirty="0">
                <a:solidFill>
                  <a:srgbClr val="FF0000"/>
                </a:solidFill>
              </a:rPr>
              <a:t>aliases </a:t>
            </a:r>
            <a:r>
              <a:rPr lang="en-US" altLang="zh-CN" dirty="0"/>
              <a:t>of each other.</a:t>
            </a:r>
          </a:p>
          <a:p>
            <a:pPr marL="0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int *p,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*q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 = new int; 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*p = 99;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q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p;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*q = 88;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408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7408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6302375"/>
            <a:ext cx="1563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74086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74087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74090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1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74093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4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74096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219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74097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1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3" name="Text Box 23"/>
          <p:cNvSpPr txBox="1">
            <a:spLocks noChangeArrowheads="1"/>
          </p:cNvSpPr>
          <p:nvPr/>
        </p:nvSpPr>
        <p:spPr bwMode="auto">
          <a:xfrm>
            <a:off x="7696200" y="55626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BF2F1F59-E678-4F72-90FE-452E59243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DADF7883-637E-4908-91D5-18B61D613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724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64A09108-EC71-4C59-8ACB-2D45D08A6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599" y="4419599"/>
            <a:ext cx="13759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 88</a:t>
            </a:r>
            <a:endParaRPr lang="en-US" altLang="zh-CN" b="1" dirty="0">
              <a:latin typeface="Courier New" panose="02070309020205020404" pitchFamily="49" charset="0"/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9B05C03-2B76-4147-B0E1-0E81C7122AD0}"/>
              </a:ext>
            </a:extLst>
          </p:cNvPr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7">
            <a:extLst>
              <a:ext uri="{FF2B5EF4-FFF2-40B4-BE49-F238E27FC236}">
                <a16:creationId xmlns:a16="http://schemas.microsoft.com/office/drawing/2014/main" id="{6EC51D53-A44B-4C18-BB1C-52BB12298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3340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8">
            <a:extLst>
              <a:ext uri="{FF2B5EF4-FFF2-40B4-BE49-F238E27FC236}">
                <a16:creationId xmlns:a16="http://schemas.microsoft.com/office/drawing/2014/main" id="{AD46767C-2029-4311-8E15-7B67B0D36B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2400" y="5105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F2106A8C-40DB-46E9-9360-73EC2994A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5257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q</a:t>
            </a:r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B47A8BF1-9507-4D6B-B6A6-09D276E7A25F}"/>
              </a:ext>
            </a:extLst>
          </p:cNvPr>
          <p:cNvSpPr>
            <a:spLocks/>
          </p:cNvSpPr>
          <p:nvPr/>
        </p:nvSpPr>
        <p:spPr bwMode="auto">
          <a:xfrm>
            <a:off x="8686800" y="4572000"/>
            <a:ext cx="304800" cy="914400"/>
          </a:xfrm>
          <a:custGeom>
            <a:avLst/>
            <a:gdLst>
              <a:gd name="T0" fmla="*/ 0 w 192"/>
              <a:gd name="T1" fmla="*/ 576 h 576"/>
              <a:gd name="T2" fmla="*/ 192 w 192"/>
              <a:gd name="T3" fmla="*/ 384 h 576"/>
              <a:gd name="T4" fmla="*/ 0 w 192"/>
              <a:gd name="T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576">
                <a:moveTo>
                  <a:pt x="0" y="576"/>
                </a:moveTo>
                <a:cubicBezTo>
                  <a:pt x="96" y="528"/>
                  <a:pt x="192" y="480"/>
                  <a:pt x="192" y="384"/>
                </a:cubicBezTo>
                <a:cubicBezTo>
                  <a:pt x="192" y="288"/>
                  <a:pt x="32" y="64"/>
                  <a:pt x="0" y="0"/>
                </a:cubicBezTo>
              </a:path>
            </a:pathLst>
          </a:custGeom>
          <a:noFill/>
          <a:ln w="25400">
            <a:solidFill>
              <a:srgbClr val="2C14DE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00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Dangling Pointers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90688"/>
            <a:ext cx="7886700" cy="4486275"/>
          </a:xfrm>
        </p:spPr>
        <p:txBody>
          <a:bodyPr/>
          <a:lstStyle/>
          <a:p>
            <a:pPr marL="0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int *p,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*q;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 = new int; 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*p = 99;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= q;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*q = 88;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q;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408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7408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6302375"/>
            <a:ext cx="1563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74086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74087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74090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1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74093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4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74096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219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74097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1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3" name="Text Box 23"/>
          <p:cNvSpPr txBox="1">
            <a:spLocks noChangeArrowheads="1"/>
          </p:cNvSpPr>
          <p:nvPr/>
        </p:nvSpPr>
        <p:spPr bwMode="auto">
          <a:xfrm>
            <a:off x="7696200" y="55626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BF2F1F59-E678-4F72-90FE-452E59243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DADF7883-637E-4908-91D5-18B61D613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724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64A09108-EC71-4C59-8ACB-2D45D08A6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599" y="4419599"/>
            <a:ext cx="13759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 88</a:t>
            </a:r>
            <a:endParaRPr lang="en-US" altLang="zh-CN" b="1" dirty="0">
              <a:latin typeface="Courier New" panose="02070309020205020404" pitchFamily="49" charset="0"/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9B05C03-2B76-4147-B0E1-0E81C7122AD0}"/>
              </a:ext>
            </a:extLst>
          </p:cNvPr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7">
            <a:extLst>
              <a:ext uri="{FF2B5EF4-FFF2-40B4-BE49-F238E27FC236}">
                <a16:creationId xmlns:a16="http://schemas.microsoft.com/office/drawing/2014/main" id="{6EC51D53-A44B-4C18-BB1C-52BB12298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3340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8">
            <a:extLst>
              <a:ext uri="{FF2B5EF4-FFF2-40B4-BE49-F238E27FC236}">
                <a16:creationId xmlns:a16="http://schemas.microsoft.com/office/drawing/2014/main" id="{AD46767C-2029-4311-8E15-7B67B0D36B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2400" y="5105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F2106A8C-40DB-46E9-9360-73EC2994A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5257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q</a:t>
            </a:r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B47A8BF1-9507-4D6B-B6A6-09D276E7A25F}"/>
              </a:ext>
            </a:extLst>
          </p:cNvPr>
          <p:cNvSpPr>
            <a:spLocks/>
          </p:cNvSpPr>
          <p:nvPr/>
        </p:nvSpPr>
        <p:spPr bwMode="auto">
          <a:xfrm>
            <a:off x="8686800" y="4572000"/>
            <a:ext cx="304800" cy="914400"/>
          </a:xfrm>
          <a:custGeom>
            <a:avLst/>
            <a:gdLst>
              <a:gd name="T0" fmla="*/ 0 w 192"/>
              <a:gd name="T1" fmla="*/ 576 h 576"/>
              <a:gd name="T2" fmla="*/ 192 w 192"/>
              <a:gd name="T3" fmla="*/ 384 h 576"/>
              <a:gd name="T4" fmla="*/ 0 w 192"/>
              <a:gd name="T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576">
                <a:moveTo>
                  <a:pt x="0" y="576"/>
                </a:moveTo>
                <a:cubicBezTo>
                  <a:pt x="96" y="528"/>
                  <a:pt x="192" y="480"/>
                  <a:pt x="192" y="384"/>
                </a:cubicBezTo>
                <a:cubicBezTo>
                  <a:pt x="192" y="288"/>
                  <a:pt x="32" y="64"/>
                  <a:pt x="0" y="0"/>
                </a:cubicBezTo>
              </a:path>
            </a:pathLst>
          </a:custGeom>
          <a:noFill/>
          <a:ln w="25400">
            <a:solidFill>
              <a:srgbClr val="2C14DE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44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Dangling Pointers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90688"/>
            <a:ext cx="7886700" cy="4486275"/>
          </a:xfrm>
        </p:spPr>
        <p:txBody>
          <a:bodyPr/>
          <a:lstStyle/>
          <a:p>
            <a:pPr marL="0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int *p,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*q;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 = new int; 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*p = 99;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= q;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*q = 88;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q;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408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7408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6302375"/>
            <a:ext cx="1563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74086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74087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74090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1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74093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4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74096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219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74097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1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3" name="Text Box 23"/>
          <p:cNvSpPr txBox="1">
            <a:spLocks noChangeArrowheads="1"/>
          </p:cNvSpPr>
          <p:nvPr/>
        </p:nvSpPr>
        <p:spPr bwMode="auto">
          <a:xfrm>
            <a:off x="7696200" y="55626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BF2F1F59-E678-4F72-90FE-452E59243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DADF7883-637E-4908-91D5-18B61D613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724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9B05C03-2B76-4147-B0E1-0E81C7122AD0}"/>
              </a:ext>
            </a:extLst>
          </p:cNvPr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7">
            <a:extLst>
              <a:ext uri="{FF2B5EF4-FFF2-40B4-BE49-F238E27FC236}">
                <a16:creationId xmlns:a16="http://schemas.microsoft.com/office/drawing/2014/main" id="{6EC51D53-A44B-4C18-BB1C-52BB12298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3340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8">
            <a:extLst>
              <a:ext uri="{FF2B5EF4-FFF2-40B4-BE49-F238E27FC236}">
                <a16:creationId xmlns:a16="http://schemas.microsoft.com/office/drawing/2014/main" id="{AD46767C-2029-4311-8E15-7B67B0D36B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2400" y="5105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F2106A8C-40DB-46E9-9360-73EC2994A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5257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q</a:t>
            </a:r>
          </a:p>
        </p:txBody>
      </p:sp>
      <p:sp>
        <p:nvSpPr>
          <p:cNvPr id="30" name="Text Box 20">
            <a:extLst>
              <a:ext uri="{FF2B5EF4-FFF2-40B4-BE49-F238E27FC236}">
                <a16:creationId xmlns:a16="http://schemas.microsoft.com/office/drawing/2014/main" id="{A7BBCCA4-0F60-4924-9D02-FC9403E6E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0" y="440271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$%#^&amp;</a:t>
            </a:r>
          </a:p>
        </p:txBody>
      </p:sp>
      <p:sp>
        <p:nvSpPr>
          <p:cNvPr id="31" name="Freeform 26">
            <a:extLst>
              <a:ext uri="{FF2B5EF4-FFF2-40B4-BE49-F238E27FC236}">
                <a16:creationId xmlns:a16="http://schemas.microsoft.com/office/drawing/2014/main" id="{08B6D2D5-7823-4472-A11A-FBED43917216}"/>
              </a:ext>
            </a:extLst>
          </p:cNvPr>
          <p:cNvSpPr>
            <a:spLocks/>
          </p:cNvSpPr>
          <p:nvPr/>
        </p:nvSpPr>
        <p:spPr bwMode="auto">
          <a:xfrm>
            <a:off x="8686800" y="4572000"/>
            <a:ext cx="304800" cy="914400"/>
          </a:xfrm>
          <a:custGeom>
            <a:avLst/>
            <a:gdLst>
              <a:gd name="T0" fmla="*/ 0 w 192"/>
              <a:gd name="T1" fmla="*/ 576 h 576"/>
              <a:gd name="T2" fmla="*/ 192 w 192"/>
              <a:gd name="T3" fmla="*/ 384 h 576"/>
              <a:gd name="T4" fmla="*/ 0 w 192"/>
              <a:gd name="T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576">
                <a:moveTo>
                  <a:pt x="0" y="576"/>
                </a:moveTo>
                <a:cubicBezTo>
                  <a:pt x="96" y="528"/>
                  <a:pt x="192" y="480"/>
                  <a:pt x="192" y="384"/>
                </a:cubicBezTo>
                <a:cubicBezTo>
                  <a:pt x="192" y="288"/>
                  <a:pt x="32" y="64"/>
                  <a:pt x="0" y="0"/>
                </a:cubicBezTo>
              </a:path>
            </a:pathLst>
          </a:custGeom>
          <a:noFill/>
          <a:ln w="28575">
            <a:solidFill>
              <a:srgbClr val="2C14DE"/>
            </a:solidFill>
            <a:prstDash val="dashDot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356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Dangling Pointers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90688"/>
            <a:ext cx="7886700" cy="4486275"/>
          </a:xfrm>
        </p:spPr>
        <p:txBody>
          <a:bodyPr/>
          <a:lstStyle/>
          <a:p>
            <a:pPr marL="0" indent="0">
              <a:buNone/>
            </a:pPr>
            <a:endParaRPr lang="en-US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int *p,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*q;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 = new int; 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*p = 99;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= q;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*q = 88;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delete q;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*p = 71;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0" indent="0"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7408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34200" y="2286000"/>
            <a:ext cx="1752600" cy="4343400"/>
          </a:xfrm>
          <a:prstGeom prst="rect">
            <a:avLst/>
          </a:prstGeom>
          <a:solidFill>
            <a:srgbClr val="F8F8F8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chemeClr val="accent2"/>
              </a:solidFill>
              <a:latin typeface="Courier New" panose="02070309020205020404" pitchFamily="49" charset="0"/>
            </a:endParaRPr>
          </a:p>
        </p:txBody>
      </p:sp>
      <p:sp>
        <p:nvSpPr>
          <p:cNvPr id="174085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57800" y="6302375"/>
            <a:ext cx="15632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174086" name="Text Box 6"/>
          <p:cNvSpPr txBox="1">
            <a:spLocks noChangeArrowheads="1"/>
          </p:cNvSpPr>
          <p:nvPr/>
        </p:nvSpPr>
        <p:spPr bwMode="auto">
          <a:xfrm>
            <a:off x="6629400" y="2209800"/>
            <a:ext cx="381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74087" name="Line 7"/>
          <p:cNvSpPr>
            <a:spLocks noChangeShapeType="1"/>
          </p:cNvSpPr>
          <p:nvPr/>
        </p:nvSpPr>
        <p:spPr bwMode="auto">
          <a:xfrm>
            <a:off x="6934200" y="2895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7391400" y="2438400"/>
            <a:ext cx="106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text</a:t>
            </a:r>
          </a:p>
        </p:txBody>
      </p:sp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7391400" y="2895600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data</a:t>
            </a:r>
          </a:p>
        </p:txBody>
      </p:sp>
      <p:sp>
        <p:nvSpPr>
          <p:cNvPr id="174090" name="Line 10"/>
          <p:cNvSpPr>
            <a:spLocks noChangeShapeType="1"/>
          </p:cNvSpPr>
          <p:nvPr/>
        </p:nvSpPr>
        <p:spPr bwMode="auto">
          <a:xfrm>
            <a:off x="6934200" y="3352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1" name="Line 11"/>
          <p:cNvSpPr>
            <a:spLocks noChangeShapeType="1"/>
          </p:cNvSpPr>
          <p:nvPr/>
        </p:nvSpPr>
        <p:spPr bwMode="auto">
          <a:xfrm>
            <a:off x="6934200" y="38100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7467600" y="33528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bss</a:t>
            </a:r>
          </a:p>
        </p:txBody>
      </p:sp>
      <p:sp>
        <p:nvSpPr>
          <p:cNvPr id="174093" name="Line 13"/>
          <p:cNvSpPr>
            <a:spLocks noChangeShapeType="1"/>
          </p:cNvSpPr>
          <p:nvPr/>
        </p:nvSpPr>
        <p:spPr bwMode="auto">
          <a:xfrm>
            <a:off x="6934200" y="4419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94" name="Text Box 14"/>
          <p:cNvSpPr txBox="1">
            <a:spLocks noChangeArrowheads="1"/>
          </p:cNvSpPr>
          <p:nvPr/>
        </p:nvSpPr>
        <p:spPr bwMode="auto">
          <a:xfrm>
            <a:off x="7391400" y="381000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Courier New" panose="02070309020205020404" pitchFamily="49" charset="0"/>
              </a:rPr>
              <a:t>heap</a:t>
            </a:r>
          </a:p>
        </p:txBody>
      </p:sp>
      <p:sp>
        <p:nvSpPr>
          <p:cNvPr id="174096" name="Text Box 16"/>
          <p:cNvSpPr txBox="1">
            <a:spLocks noChangeArrowheads="1"/>
          </p:cNvSpPr>
          <p:nvPr/>
        </p:nvSpPr>
        <p:spPr bwMode="auto">
          <a:xfrm>
            <a:off x="7391400" y="6248400"/>
            <a:ext cx="1219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stack</a:t>
            </a:r>
          </a:p>
        </p:txBody>
      </p:sp>
      <p:sp>
        <p:nvSpPr>
          <p:cNvPr id="174097" name="Line 17"/>
          <p:cNvSpPr>
            <a:spLocks noChangeShapeType="1"/>
          </p:cNvSpPr>
          <p:nvPr/>
        </p:nvSpPr>
        <p:spPr bwMode="auto">
          <a:xfrm>
            <a:off x="6934200" y="5562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1" name="Line 21"/>
          <p:cNvSpPr>
            <a:spLocks noChangeShapeType="1"/>
          </p:cNvSpPr>
          <p:nvPr/>
        </p:nvSpPr>
        <p:spPr bwMode="auto">
          <a:xfrm>
            <a:off x="6934200" y="5867400"/>
            <a:ext cx="1752600" cy="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03" name="Text Box 23"/>
          <p:cNvSpPr txBox="1">
            <a:spLocks noChangeArrowheads="1"/>
          </p:cNvSpPr>
          <p:nvPr/>
        </p:nvSpPr>
        <p:spPr bwMode="auto">
          <a:xfrm>
            <a:off x="7696200" y="5562600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Courier New" panose="02070309020205020404" pitchFamily="49" charset="0"/>
              </a:rPr>
              <a:t>p</a:t>
            </a:r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BF2F1F59-E678-4F72-90FE-452E59243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DADF7883-637E-4908-91D5-18B61D613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4724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9B05C03-2B76-4147-B0E1-0E81C7122AD0}"/>
              </a:ext>
            </a:extLst>
          </p:cNvPr>
          <p:cNvSpPr>
            <a:spLocks/>
          </p:cNvSpPr>
          <p:nvPr/>
        </p:nvSpPr>
        <p:spPr bwMode="auto">
          <a:xfrm>
            <a:off x="6502400" y="4572000"/>
            <a:ext cx="431800" cy="1143000"/>
          </a:xfrm>
          <a:custGeom>
            <a:avLst/>
            <a:gdLst>
              <a:gd name="T0" fmla="*/ 272 w 272"/>
              <a:gd name="T1" fmla="*/ 720 h 720"/>
              <a:gd name="T2" fmla="*/ 32 w 272"/>
              <a:gd name="T3" fmla="*/ 624 h 720"/>
              <a:gd name="T4" fmla="*/ 80 w 272"/>
              <a:gd name="T5" fmla="*/ 288 h 720"/>
              <a:gd name="T6" fmla="*/ 272 w 272"/>
              <a:gd name="T7" fmla="*/ 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2" h="720">
                <a:moveTo>
                  <a:pt x="272" y="720"/>
                </a:moveTo>
                <a:cubicBezTo>
                  <a:pt x="168" y="708"/>
                  <a:pt x="64" y="696"/>
                  <a:pt x="32" y="624"/>
                </a:cubicBezTo>
                <a:cubicBezTo>
                  <a:pt x="0" y="552"/>
                  <a:pt x="40" y="392"/>
                  <a:pt x="80" y="288"/>
                </a:cubicBezTo>
                <a:cubicBezTo>
                  <a:pt x="120" y="184"/>
                  <a:pt x="240" y="48"/>
                  <a:pt x="272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7">
            <a:extLst>
              <a:ext uri="{FF2B5EF4-FFF2-40B4-BE49-F238E27FC236}">
                <a16:creationId xmlns:a16="http://schemas.microsoft.com/office/drawing/2014/main" id="{6EC51D53-A44B-4C18-BB1C-52BB12298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53340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8">
            <a:extLst>
              <a:ext uri="{FF2B5EF4-FFF2-40B4-BE49-F238E27FC236}">
                <a16:creationId xmlns:a16="http://schemas.microsoft.com/office/drawing/2014/main" id="{AD46767C-2029-4311-8E15-7B67B0D36B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2400" y="5105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F2106A8C-40DB-46E9-9360-73EC2994A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5257800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ourier New" panose="02070309020205020404" pitchFamily="49" charset="0"/>
              </a:rPr>
              <a:t>q</a:t>
            </a:r>
          </a:p>
        </p:txBody>
      </p:sp>
      <p:sp>
        <p:nvSpPr>
          <p:cNvPr id="30" name="Text Box 20">
            <a:extLst>
              <a:ext uri="{FF2B5EF4-FFF2-40B4-BE49-F238E27FC236}">
                <a16:creationId xmlns:a16="http://schemas.microsoft.com/office/drawing/2014/main" id="{A7BBCCA4-0F60-4924-9D02-FC9403E6E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0" y="440271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ourier New" panose="02070309020205020404" pitchFamily="49" charset="0"/>
              </a:rPr>
              <a:t>$%#^&amp;</a:t>
            </a:r>
          </a:p>
        </p:txBody>
      </p:sp>
      <p:sp>
        <p:nvSpPr>
          <p:cNvPr id="31" name="Freeform 26">
            <a:extLst>
              <a:ext uri="{FF2B5EF4-FFF2-40B4-BE49-F238E27FC236}">
                <a16:creationId xmlns:a16="http://schemas.microsoft.com/office/drawing/2014/main" id="{08B6D2D5-7823-4472-A11A-FBED43917216}"/>
              </a:ext>
            </a:extLst>
          </p:cNvPr>
          <p:cNvSpPr>
            <a:spLocks/>
          </p:cNvSpPr>
          <p:nvPr/>
        </p:nvSpPr>
        <p:spPr bwMode="auto">
          <a:xfrm>
            <a:off x="8686800" y="4572000"/>
            <a:ext cx="304800" cy="914400"/>
          </a:xfrm>
          <a:custGeom>
            <a:avLst/>
            <a:gdLst>
              <a:gd name="T0" fmla="*/ 0 w 192"/>
              <a:gd name="T1" fmla="*/ 576 h 576"/>
              <a:gd name="T2" fmla="*/ 192 w 192"/>
              <a:gd name="T3" fmla="*/ 384 h 576"/>
              <a:gd name="T4" fmla="*/ 0 w 192"/>
              <a:gd name="T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576">
                <a:moveTo>
                  <a:pt x="0" y="576"/>
                </a:moveTo>
                <a:cubicBezTo>
                  <a:pt x="96" y="528"/>
                  <a:pt x="192" y="480"/>
                  <a:pt x="192" y="384"/>
                </a:cubicBezTo>
                <a:cubicBezTo>
                  <a:pt x="192" y="288"/>
                  <a:pt x="32" y="64"/>
                  <a:pt x="0" y="0"/>
                </a:cubicBezTo>
              </a:path>
            </a:pathLst>
          </a:custGeom>
          <a:noFill/>
          <a:ln w="28575">
            <a:solidFill>
              <a:srgbClr val="2C14DE"/>
            </a:solidFill>
            <a:prstDash val="dashDot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4EA46408-99F6-4FE6-8B30-681B7DF3DBEA}"/>
              </a:ext>
            </a:extLst>
          </p:cNvPr>
          <p:cNvSpPr/>
          <p:nvPr/>
        </p:nvSpPr>
        <p:spPr>
          <a:xfrm>
            <a:off x="3352800" y="954023"/>
            <a:ext cx="3657600" cy="2208785"/>
          </a:xfrm>
          <a:prstGeom prst="cloudCallou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 and q are now </a:t>
            </a:r>
            <a:r>
              <a:rPr lang="en-US" sz="2400" b="1" dirty="0">
                <a:solidFill>
                  <a:srgbClr val="FF0000"/>
                </a:solidFill>
              </a:rPr>
              <a:t>dangling pointers </a:t>
            </a:r>
            <a:r>
              <a:rPr lang="en-US" sz="2400" dirty="0">
                <a:solidFill>
                  <a:schemeClr val="tx1"/>
                </a:solidFill>
              </a:rPr>
              <a:t>but why..?</a:t>
            </a:r>
            <a:endParaRPr lang="en-PK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87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dirty="0">
                <a:cs typeface="+mj-cs"/>
              </a:rPr>
              <a:t>Dangling Pointers</a:t>
            </a:r>
            <a:endParaRPr lang="fr-FR" dirty="0"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sz="2800" dirty="0">
                <a:cs typeface="+mn-cs"/>
              </a:rPr>
              <a:t>The 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delete operator </a:t>
            </a:r>
            <a:r>
              <a:rPr lang="en-US" sz="2800" dirty="0">
                <a:cs typeface="+mn-cs"/>
              </a:rPr>
              <a:t>does 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not delete the pointer</a:t>
            </a:r>
            <a:r>
              <a:rPr lang="en-US" sz="2800" dirty="0">
                <a:cs typeface="+mn-cs"/>
              </a:rPr>
              <a:t>, it takes the 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memory being pointed to and returns it to the heap</a:t>
            </a:r>
          </a:p>
          <a:p>
            <a:pPr algn="just" eaLnBrk="1" hangingPunct="1">
              <a:defRPr/>
            </a:pPr>
            <a:endParaRPr lang="en-US" sz="2800" dirty="0">
              <a:cs typeface="+mn-cs"/>
            </a:endParaRPr>
          </a:p>
          <a:p>
            <a:pPr algn="just" eaLnBrk="1" hangingPunct="1">
              <a:defRPr/>
            </a:pPr>
            <a:r>
              <a:rPr lang="en-US" sz="2800" dirty="0">
                <a:cs typeface="+mn-cs"/>
              </a:rPr>
              <a:t>It does not even change the contents of the pointer</a:t>
            </a:r>
          </a:p>
          <a:p>
            <a:pPr algn="just" eaLnBrk="1" hangingPunct="1">
              <a:defRPr/>
            </a:pPr>
            <a:endParaRPr lang="en-US" sz="2800" dirty="0">
              <a:cs typeface="+mn-cs"/>
            </a:endParaRPr>
          </a:p>
          <a:p>
            <a:pPr algn="just" eaLnBrk="1" hangingPunct="1">
              <a:defRPr/>
            </a:pPr>
            <a:r>
              <a:rPr lang="en-US" sz="2800" dirty="0">
                <a:cs typeface="+mn-cs"/>
              </a:rPr>
              <a:t>Since the 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memory being pointed </a:t>
            </a:r>
            <a:r>
              <a:rPr lang="en-US" sz="2800" dirty="0">
                <a:cs typeface="+mn-cs"/>
              </a:rPr>
              <a:t>to is </a:t>
            </a:r>
            <a:r>
              <a:rPr lang="en-US" sz="2800" dirty="0">
                <a:solidFill>
                  <a:srgbClr val="FF0000"/>
                </a:solidFill>
                <a:cs typeface="+mn-cs"/>
              </a:rPr>
              <a:t>no longer available</a:t>
            </a:r>
            <a:r>
              <a:rPr lang="en-US" sz="2800" dirty="0">
                <a:cs typeface="+mn-cs"/>
              </a:rPr>
              <a:t> (and may even be given to another application), such a pointer is said to be 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dangling</a:t>
            </a:r>
            <a:endParaRPr lang="fr-FR" sz="2800" dirty="0">
              <a:solidFill>
                <a:srgbClr val="0070C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115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dirty="0">
                <a:cs typeface="+mj-cs"/>
              </a:rPr>
              <a:t>Errors due to Dangling Pointers</a:t>
            </a:r>
            <a:endParaRPr lang="fr-FR" dirty="0"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 eaLnBrk="1" hangingPunct="1">
              <a:buNone/>
              <a:defRPr/>
            </a:pPr>
            <a:r>
              <a:rPr lang="en-US" dirty="0"/>
              <a:t>If the program writes to memory referenced by a dangling pointer, a </a:t>
            </a:r>
            <a:r>
              <a:rPr lang="en-US" dirty="0">
                <a:solidFill>
                  <a:srgbClr val="0070C0"/>
                </a:solidFill>
              </a:rPr>
              <a:t>silent corruption of unrelated data</a:t>
            </a:r>
            <a:r>
              <a:rPr lang="en-US" dirty="0"/>
              <a:t> may result, leading to subtle bugs that can be </a:t>
            </a:r>
            <a:r>
              <a:rPr lang="en-US" dirty="0">
                <a:solidFill>
                  <a:srgbClr val="0070C0"/>
                </a:solidFill>
              </a:rPr>
              <a:t>extremely difficult to find</a:t>
            </a:r>
            <a:endParaRPr lang="fr-FR" dirty="0">
              <a:solidFill>
                <a:srgbClr val="0070C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CC53A-F02A-4A0D-B869-B063989D20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4000" y="4438650"/>
            <a:ext cx="381000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74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Avoiding a Dangling Pointer</a:t>
            </a:r>
            <a:endParaRPr lang="fr-FR" dirty="0"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z="2800" u="sng" dirty="0"/>
              <a:t>For Variables:</a:t>
            </a:r>
          </a:p>
          <a:p>
            <a:pPr marL="457200" lvl="1" indent="0">
              <a:buNone/>
              <a:defRPr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hu-H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elete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v1</a:t>
            </a:r>
            <a:r>
              <a:rPr lang="hu-H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  <a:defRPr/>
            </a:pPr>
            <a:r>
              <a:rPr lang="fr-F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 = </a:t>
            </a:r>
            <a:r>
              <a:rPr lang="fr-FR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fr-F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defRPr/>
            </a:pPr>
            <a:endParaRPr lang="fr-FR" sz="2800" b="1" dirty="0">
              <a:solidFill>
                <a:srgbClr val="C00000"/>
              </a:solidFill>
              <a:cs typeface="+mn-cs"/>
            </a:endParaRPr>
          </a:p>
          <a:p>
            <a:pPr eaLnBrk="1" hangingPunct="1">
              <a:defRPr/>
            </a:pPr>
            <a:endParaRPr lang="fr-FR" sz="2800" b="1" dirty="0">
              <a:solidFill>
                <a:srgbClr val="C00000"/>
              </a:solidFill>
            </a:endParaRPr>
          </a:p>
          <a:p>
            <a:pPr eaLnBrk="1" hangingPunct="1">
              <a:defRPr/>
            </a:pPr>
            <a:r>
              <a:rPr lang="fr-FR" sz="2800" u="sng" dirty="0">
                <a:cs typeface="+mn-cs"/>
              </a:rPr>
              <a:t>For </a:t>
            </a:r>
            <a:r>
              <a:rPr lang="fr-FR" sz="2800" u="sng" dirty="0" err="1">
                <a:cs typeface="+mn-cs"/>
              </a:rPr>
              <a:t>Arrays</a:t>
            </a:r>
            <a:r>
              <a:rPr lang="fr-FR" sz="2800" u="sng" dirty="0">
                <a:cs typeface="+mn-cs"/>
              </a:rPr>
              <a:t>:</a:t>
            </a:r>
          </a:p>
          <a:p>
            <a:pPr marL="457200" lvl="1" indent="0" eaLnBrk="1" hangingPunct="1">
              <a:buNone/>
              <a:defRPr/>
            </a:pPr>
            <a:r>
              <a:rPr lang="hu-H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delete[ ] a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rr</a:t>
            </a:r>
            <a:r>
              <a:rPr lang="hu-HU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 eaLnBrk="1" hangingPunct="1">
              <a:buNone/>
              <a:defRPr/>
            </a:pPr>
            <a:r>
              <a:rPr lang="fr-FR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fr-F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fr-F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52401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Returning Memory to the Heap</a:t>
            </a:r>
            <a:endParaRPr lang="fr-FR" dirty="0"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Most applications request memory from the heap when they are running;</a:t>
            </a:r>
            <a:br>
              <a:rPr lang="en-US" dirty="0"/>
            </a:br>
            <a:endParaRPr lang="en-US" dirty="0"/>
          </a:p>
          <a:p>
            <a:pPr eaLnBrk="1" hangingPunct="1">
              <a:defRPr/>
            </a:pPr>
            <a:r>
              <a:rPr lang="en-US" dirty="0"/>
              <a:t>It is </a:t>
            </a:r>
            <a:r>
              <a:rPr lang="en-US" dirty="0">
                <a:solidFill>
                  <a:srgbClr val="0070C0"/>
                </a:solidFill>
              </a:rPr>
              <a:t>possible to run out of memory </a:t>
            </a:r>
            <a:r>
              <a:rPr lang="en-US" dirty="0"/>
              <a:t>(you may even have gotten a message like "</a:t>
            </a:r>
            <a:r>
              <a:rPr lang="en-US" i="1" dirty="0"/>
              <a:t>Running Low On Virtual Memory</a:t>
            </a:r>
            <a:r>
              <a:rPr lang="en-US" dirty="0"/>
              <a:t>")</a:t>
            </a:r>
            <a:br>
              <a:rPr lang="en-US" dirty="0"/>
            </a:br>
            <a:endParaRPr lang="en-US" dirty="0"/>
          </a:p>
          <a:p>
            <a:pPr eaLnBrk="1" hangingPunct="1">
              <a:defRPr/>
            </a:pPr>
            <a:r>
              <a:rPr lang="en-US" dirty="0"/>
              <a:t>So, it is important to </a:t>
            </a:r>
            <a:r>
              <a:rPr lang="en-US" dirty="0">
                <a:solidFill>
                  <a:srgbClr val="0070C0"/>
                </a:solidFill>
              </a:rPr>
              <a:t>return memory to the heap when you no longer need it</a:t>
            </a:r>
            <a:endParaRPr lang="fr-FR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98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Returning Memory to the Heap</a:t>
            </a:r>
            <a:endParaRPr lang="fr-FR" dirty="0"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8650" y="1825625"/>
            <a:ext cx="8286750" cy="43513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Always r</a:t>
            </a:r>
            <a:r>
              <a:rPr lang="en-US" sz="2800" dirty="0"/>
              <a:t>eturn memory to the heap </a:t>
            </a:r>
            <a:r>
              <a:rPr lang="en-US" sz="2800" u="sng" dirty="0">
                <a:solidFill>
                  <a:srgbClr val="FF0000"/>
                </a:solidFill>
              </a:rPr>
              <a:t>before </a:t>
            </a:r>
            <a:r>
              <a:rPr lang="en-US" sz="2800" i="1" u="sng" dirty="0" err="1">
                <a:solidFill>
                  <a:srgbClr val="FF0000"/>
                </a:solidFill>
              </a:rPr>
              <a:t>undangling</a:t>
            </a:r>
            <a:r>
              <a:rPr lang="en-US" sz="2800" u="sng" dirty="0">
                <a:solidFill>
                  <a:srgbClr val="FF0000"/>
                </a:solidFill>
              </a:rPr>
              <a:t> the pointer</a:t>
            </a:r>
          </a:p>
          <a:p>
            <a:pPr lvl="1" eaLnBrk="1" hangingPunct="1">
              <a:defRPr/>
            </a:pPr>
            <a:endParaRPr lang="en-US" sz="2800" dirty="0"/>
          </a:p>
          <a:p>
            <a:pPr eaLnBrk="1" hangingPunct="1">
              <a:defRPr/>
            </a:pPr>
            <a:r>
              <a:rPr lang="en-US" sz="2800" dirty="0">
                <a:cs typeface="+mn-cs"/>
              </a:rPr>
              <a:t>What happens if you don’t?</a:t>
            </a:r>
          </a:p>
          <a:p>
            <a:pPr marL="457200" lvl="1" indent="0" eaLnBrk="1" hangingPunct="1">
              <a:buNone/>
              <a:defRPr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457200" lvl="1" indent="0" eaLnBrk="1" hangingPunct="1">
              <a:buNone/>
              <a:defRPr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delete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defRPr/>
            </a:pPr>
            <a:endParaRPr lang="fr-FR" sz="2800" dirty="0">
              <a:cs typeface="+mn-cs"/>
            </a:endParaRP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C3240C5F-C7A6-45BD-AA6C-9C0AF1D4DBB2}"/>
              </a:ext>
            </a:extLst>
          </p:cNvPr>
          <p:cNvSpPr/>
          <p:nvPr/>
        </p:nvSpPr>
        <p:spPr>
          <a:xfrm>
            <a:off x="3505200" y="1905000"/>
            <a:ext cx="3505200" cy="1712977"/>
          </a:xfrm>
          <a:prstGeom prst="cloudCallou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Memory Leak!!!</a:t>
            </a:r>
            <a:endParaRPr lang="en-PK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09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Memory Leaking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int *p;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p = new int; 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memory allocated above is unreachable now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 = new int; </a:t>
            </a: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784DF7-3642-4C6E-8280-8C715E47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652E-AACC-B249-B75B-9215B21BC29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6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Leaking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4227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f()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*p;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3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3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 = new int; 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3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3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3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3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f();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3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3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8039D52B-0C7E-467D-8844-A6A2DD065821}"/>
              </a:ext>
            </a:extLst>
          </p:cNvPr>
          <p:cNvSpPr/>
          <p:nvPr/>
        </p:nvSpPr>
        <p:spPr>
          <a:xfrm>
            <a:off x="4267200" y="751898"/>
            <a:ext cx="3886200" cy="2590800"/>
          </a:xfrm>
          <a:prstGeom prst="cloudCallou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 is a </a:t>
            </a:r>
            <a:r>
              <a:rPr lang="en-US" sz="2800" dirty="0">
                <a:solidFill>
                  <a:srgbClr val="FF0000"/>
                </a:solidFill>
              </a:rPr>
              <a:t>local variable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>
                <a:solidFill>
                  <a:srgbClr val="FF0000"/>
                </a:solidFill>
              </a:rPr>
              <a:t>destroyed</a:t>
            </a:r>
            <a:r>
              <a:rPr lang="en-US" sz="2800" dirty="0">
                <a:solidFill>
                  <a:schemeClr val="tx1"/>
                </a:solidFill>
              </a:rPr>
              <a:t> after function returns</a:t>
            </a:r>
            <a:endParaRPr lang="en-PK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60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a-DK" dirty="0">
                <a:cs typeface="+mj-cs"/>
              </a:rPr>
              <a:t>Memory Leaks</a:t>
            </a:r>
            <a:endParaRPr lang="fr-FR" dirty="0"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  <a:cs typeface="+mn-cs"/>
              </a:rPr>
              <a:t>Memory leaks </a:t>
            </a:r>
            <a:r>
              <a:rPr lang="en-US" sz="2800" dirty="0">
                <a:cs typeface="+mn-cs"/>
              </a:rPr>
              <a:t>when it is 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allocated from the heap </a:t>
            </a:r>
            <a:r>
              <a:rPr lang="en-US" sz="2800" dirty="0">
                <a:cs typeface="+mn-cs"/>
              </a:rPr>
              <a:t>using the 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new</a:t>
            </a:r>
            <a:r>
              <a:rPr lang="en-US" sz="2800" dirty="0">
                <a:solidFill>
                  <a:srgbClr val="2C14DE"/>
                </a:solidFill>
                <a:cs typeface="+mn-cs"/>
              </a:rPr>
              <a:t> </a:t>
            </a:r>
            <a:r>
              <a:rPr lang="en-US" sz="2800" dirty="0">
                <a:cs typeface="+mn-cs"/>
              </a:rPr>
              <a:t>operator but 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not returned to the heap</a:t>
            </a:r>
            <a:r>
              <a:rPr lang="en-US" sz="2800" dirty="0">
                <a:cs typeface="+mn-cs"/>
              </a:rPr>
              <a:t> using the </a:t>
            </a:r>
            <a:r>
              <a:rPr lang="en-US" sz="2800" dirty="0">
                <a:solidFill>
                  <a:srgbClr val="0070C0"/>
                </a:solidFill>
                <a:cs typeface="+mn-cs"/>
              </a:rPr>
              <a:t>delete</a:t>
            </a:r>
            <a:r>
              <a:rPr lang="en-US" sz="2800" dirty="0">
                <a:solidFill>
                  <a:srgbClr val="2C14DE"/>
                </a:solidFill>
                <a:cs typeface="+mn-cs"/>
              </a:rPr>
              <a:t> </a:t>
            </a:r>
            <a:r>
              <a:rPr lang="en-US" sz="2800" dirty="0">
                <a:cs typeface="+mn-cs"/>
              </a:rPr>
              <a:t>operator</a:t>
            </a:r>
            <a:endParaRPr lang="fr-FR" sz="28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71024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Memory Leaking and Dangling Pointers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/>
              <a:t>Dangling pointers and memory leaking are </a:t>
            </a:r>
            <a:r>
              <a:rPr lang="en-US" altLang="zh-CN" sz="2800" u="sng" dirty="0">
                <a:solidFill>
                  <a:srgbClr val="FF0000"/>
                </a:solidFill>
              </a:rPr>
              <a:t>evil sources of bugs</a:t>
            </a:r>
            <a:r>
              <a:rPr lang="en-US" altLang="zh-CN" sz="2800" dirty="0"/>
              <a:t>:</a:t>
            </a:r>
          </a:p>
          <a:p>
            <a:pPr>
              <a:lnSpc>
                <a:spcPct val="90000"/>
              </a:lnSpc>
            </a:pPr>
            <a:endParaRPr lang="en-US" altLang="zh-CN" sz="2800" dirty="0"/>
          </a:p>
          <a:p>
            <a:r>
              <a:rPr lang="en-US" altLang="zh-CN" b="1" u="sng" dirty="0"/>
              <a:t>Hard to debug</a:t>
            </a:r>
          </a:p>
          <a:p>
            <a:pPr lvl="1"/>
            <a:r>
              <a:rPr lang="en-US" altLang="zh-CN" dirty="0"/>
              <a:t>may appear after a long time of run</a:t>
            </a:r>
          </a:p>
          <a:p>
            <a:pPr lvl="1"/>
            <a:r>
              <a:rPr lang="en-US" altLang="zh-CN" dirty="0"/>
              <a:t>may far from the bug point</a:t>
            </a:r>
          </a:p>
          <a:p>
            <a:pPr lvl="1"/>
            <a:endParaRPr lang="en-US" altLang="zh-CN" dirty="0"/>
          </a:p>
          <a:p>
            <a:r>
              <a:rPr lang="en-US" altLang="zh-CN" b="1" u="sng" dirty="0"/>
              <a:t>Difficult to prevent</a:t>
            </a:r>
          </a:p>
          <a:p>
            <a:pPr lvl="1">
              <a:lnSpc>
                <a:spcPct val="90000"/>
              </a:lnSpc>
            </a:pPr>
            <a:endParaRPr lang="en-US" altLang="zh-CN" sz="2400" b="1" dirty="0">
              <a:solidFill>
                <a:srgbClr val="2C14DE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4C93E9-C0BC-44BC-BBCD-80D3F4385C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75"/>
          <a:stretch/>
        </p:blipFill>
        <p:spPr>
          <a:xfrm>
            <a:off x="5486400" y="3994874"/>
            <a:ext cx="3657599" cy="284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0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>
            <a:normAutofit/>
          </a:bodyPr>
          <a:lstStyle/>
          <a:p>
            <a:r>
              <a:rPr lang="en-US" dirty="0"/>
              <a:t>Null Address</a:t>
            </a:r>
          </a:p>
        </p:txBody>
      </p:sp>
      <p:sp>
        <p:nvSpPr>
          <p:cNvPr id="133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2075" tIns="46038" rIns="92075" bIns="46038">
            <a:normAutofit/>
          </a:bodyPr>
          <a:lstStyle/>
          <a:p>
            <a:pPr algn="just"/>
            <a:r>
              <a:rPr lang="en-US" sz="2800" dirty="0"/>
              <a:t>Like a local variable, a pointer is assigned a </a:t>
            </a:r>
            <a:r>
              <a:rPr lang="en-US" sz="2800" dirty="0">
                <a:solidFill>
                  <a:srgbClr val="0070C0"/>
                </a:solidFill>
              </a:rPr>
              <a:t>random value</a:t>
            </a:r>
            <a:r>
              <a:rPr lang="en-US" sz="2800" dirty="0"/>
              <a:t> (i.e., </a:t>
            </a:r>
            <a:r>
              <a:rPr lang="en-US" sz="2800" u="sng" dirty="0"/>
              <a:t>address</a:t>
            </a:r>
            <a:r>
              <a:rPr lang="en-US" sz="2800" dirty="0"/>
              <a:t>) </a:t>
            </a:r>
            <a:r>
              <a:rPr lang="en-US" sz="2800" dirty="0">
                <a:solidFill>
                  <a:srgbClr val="0070C0"/>
                </a:solidFill>
              </a:rPr>
              <a:t>if not initialized</a:t>
            </a:r>
          </a:p>
          <a:p>
            <a:pPr algn="just"/>
            <a:endParaRPr lang="en-US" sz="2800" dirty="0">
              <a:solidFill>
                <a:srgbClr val="0070C0"/>
              </a:solidFill>
            </a:endParaRPr>
          </a:p>
          <a:p>
            <a:pPr algn="just"/>
            <a:r>
              <a:rPr lang="en-US" sz="2800" dirty="0">
                <a:solidFill>
                  <a:srgbClr val="FF0000"/>
                </a:solidFill>
              </a:rPr>
              <a:t>0</a:t>
            </a:r>
            <a:r>
              <a:rPr lang="en-US" sz="2800" dirty="0"/>
              <a:t> is a </a:t>
            </a:r>
            <a:r>
              <a:rPr lang="en-US" sz="2800" dirty="0">
                <a:solidFill>
                  <a:srgbClr val="FF0000"/>
                </a:solidFill>
              </a:rPr>
              <a:t>pointer constant </a:t>
            </a:r>
            <a:r>
              <a:rPr lang="en-US" sz="2800" dirty="0"/>
              <a:t>that represents the empty or NULL address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Should be used to avoid dangling pointers</a:t>
            </a:r>
          </a:p>
          <a:p>
            <a:pPr marL="457200" lvl="1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OR int *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endParaRPr lang="en-US" b="1" dirty="0">
              <a:solidFill>
                <a:srgbClr val="B80000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67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2075" tIns="46038" rIns="92075" bIns="46038">
            <a:normAutofit/>
          </a:bodyPr>
          <a:lstStyle/>
          <a:p>
            <a:r>
              <a:rPr lang="en-US" dirty="0"/>
              <a:t>Null Address</a:t>
            </a:r>
          </a:p>
        </p:txBody>
      </p:sp>
      <p:sp>
        <p:nvSpPr>
          <p:cNvPr id="133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351338"/>
          </a:xfrm>
          <a:noFill/>
          <a:ln/>
        </p:spPr>
        <p:txBody>
          <a:bodyPr lIns="92075" tIns="46038" rIns="92075" bIns="46038"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Cannot Dereference </a:t>
            </a:r>
            <a:r>
              <a:rPr lang="en-US" dirty="0"/>
              <a:t>a </a:t>
            </a:r>
            <a:r>
              <a:rPr lang="en-US" u="sng" dirty="0">
                <a:solidFill>
                  <a:srgbClr val="FF0000"/>
                </a:solidFill>
              </a:rPr>
              <a:t>NULL Pointer</a:t>
            </a:r>
            <a:br>
              <a:rPr lang="en-US" dirty="0"/>
            </a:br>
            <a:endParaRPr lang="en-US" dirty="0"/>
          </a:p>
          <a:p>
            <a:pPr lvl="1"/>
            <a:endParaRPr lang="en-US" sz="800" dirty="0"/>
          </a:p>
          <a:p>
            <a:pPr lvl="1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lvl="1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*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lvl="1"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ERROR: </a:t>
            </a:r>
            <a:r>
              <a:rPr lang="en-US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does not point to a valid //address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2F863D-2540-43B0-BE85-592DF05D3C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3086100" cy="365125"/>
          </a:xfrm>
        </p:spPr>
        <p:txBody>
          <a:bodyPr/>
          <a:lstStyle/>
          <a:p>
            <a:fld id="{BA28652E-AACC-B249-B75B-9215B21BC29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014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Pointers Data-Type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800" dirty="0"/>
              <a:t>	Why does a pointer need a data type?</a:t>
            </a:r>
            <a:br>
              <a:rPr lang="en-US" sz="2800" b="1" dirty="0"/>
            </a:br>
            <a:endParaRPr lang="en-US" sz="2800" b="1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	Aren’t </a:t>
            </a:r>
            <a:r>
              <a:rPr lang="en-US" sz="2800" b="1" u="sng" dirty="0">
                <a:solidFill>
                  <a:srgbClr val="FF0000"/>
                </a:solidFill>
              </a:rPr>
              <a:t>all memory addresses of the same length</a:t>
            </a:r>
            <a:r>
              <a:rPr lang="en-US" sz="2800" dirty="0"/>
              <a:t>?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F99C55F-C370-43C2-9E78-F94682F09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800600"/>
            <a:ext cx="2513012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2929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Pointers Type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667250"/>
          </a:xfrm>
        </p:spPr>
        <p:txBody>
          <a:bodyPr>
            <a:noAutofit/>
          </a:bodyPr>
          <a:lstStyle/>
          <a:p>
            <a:r>
              <a:rPr lang="en-US" sz="2400" dirty="0"/>
              <a:t>In a given OS, </a:t>
            </a:r>
            <a:r>
              <a:rPr lang="en-US" sz="2400" dirty="0">
                <a:solidFill>
                  <a:srgbClr val="0070C0"/>
                </a:solidFill>
              </a:rPr>
              <a:t>all memory addresses are of the same length</a:t>
            </a:r>
          </a:p>
          <a:p>
            <a:endParaRPr lang="en-US" sz="2400" dirty="0"/>
          </a:p>
          <a:p>
            <a:r>
              <a:rPr lang="en-US" sz="2400" dirty="0"/>
              <a:t>However, with operations like dereference or increment/decrement the </a:t>
            </a:r>
            <a:r>
              <a:rPr lang="en-US" sz="2400" dirty="0">
                <a:solidFill>
                  <a:srgbClr val="0070C0"/>
                </a:solidFill>
              </a:rPr>
              <a:t>compiler needs to know </a:t>
            </a:r>
            <a:r>
              <a:rPr lang="en-US" sz="2400" dirty="0"/>
              <a:t>the </a:t>
            </a:r>
            <a:r>
              <a:rPr lang="en-US" sz="2400" dirty="0">
                <a:solidFill>
                  <a:srgbClr val="0070C0"/>
                </a:solidFill>
              </a:rPr>
              <a:t>data type</a:t>
            </a:r>
            <a:r>
              <a:rPr lang="en-US" sz="2400" b="1" dirty="0"/>
              <a:t> </a:t>
            </a:r>
            <a:r>
              <a:rPr lang="en-US" sz="2400" dirty="0"/>
              <a:t>of the </a:t>
            </a:r>
            <a:r>
              <a:rPr lang="en-US" sz="2400" dirty="0">
                <a:solidFill>
                  <a:srgbClr val="0070C0"/>
                </a:solidFill>
              </a:rPr>
              <a:t>pointer variable </a:t>
            </a:r>
            <a:r>
              <a:rPr lang="en-US" sz="2400" dirty="0"/>
              <a:t>(</a:t>
            </a:r>
            <a:r>
              <a:rPr lang="en-US" sz="2400" b="1" dirty="0"/>
              <a:t>to get data or jump to the next memory location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Examples: </a:t>
            </a:r>
          </a:p>
          <a:p>
            <a:pPr lvl="2"/>
            <a:r>
              <a:rPr lang="en-US" sz="2400" dirty="0"/>
              <a:t>If “p” is a </a:t>
            </a:r>
            <a:r>
              <a:rPr lang="en-US" sz="2400" b="1" dirty="0">
                <a:solidFill>
                  <a:srgbClr val="FF0000"/>
                </a:solidFill>
              </a:rPr>
              <a:t>character-pointer </a:t>
            </a:r>
            <a:r>
              <a:rPr lang="en-US" sz="2400" dirty="0"/>
              <a:t>then “p++” will increment “p” by </a:t>
            </a:r>
            <a:r>
              <a:rPr lang="en-US" sz="2400" b="1" dirty="0">
                <a:solidFill>
                  <a:srgbClr val="FF0000"/>
                </a:solidFill>
              </a:rPr>
              <a:t>one byte </a:t>
            </a:r>
            <a:r>
              <a:rPr lang="en-US" sz="2400" b="1" dirty="0"/>
              <a:t>(next location)</a:t>
            </a:r>
          </a:p>
          <a:p>
            <a:pPr lvl="2"/>
            <a:r>
              <a:rPr lang="en-US" sz="2400" dirty="0"/>
              <a:t>if “p” is an </a:t>
            </a:r>
            <a:r>
              <a:rPr lang="en-US" sz="2400" b="1" dirty="0">
                <a:solidFill>
                  <a:srgbClr val="FF0000"/>
                </a:solidFill>
              </a:rPr>
              <a:t>integer-pointer </a:t>
            </a:r>
            <a:r>
              <a:rPr lang="en-US" sz="2400" dirty="0"/>
              <a:t>its value on “p++” would be incremented by </a:t>
            </a:r>
            <a:r>
              <a:rPr lang="en-US" sz="2400" b="1" dirty="0">
                <a:solidFill>
                  <a:srgbClr val="FF0000"/>
                </a:solidFill>
              </a:rPr>
              <a:t>4 bytes </a:t>
            </a:r>
            <a:r>
              <a:rPr lang="en-US" sz="2400" b="1" dirty="0"/>
              <a:t>(next loc.)</a:t>
            </a:r>
          </a:p>
        </p:txBody>
      </p:sp>
    </p:spTree>
    <p:extLst>
      <p:ext uri="{BB962C8B-B14F-4D97-AF65-F5344CB8AC3E}">
        <p14:creationId xmlns:p14="http://schemas.microsoft.com/office/powerpoint/2010/main" val="308569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Pointer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524000"/>
            <a:ext cx="7886700" cy="4968875"/>
          </a:xfrm>
        </p:spPr>
        <p:txBody>
          <a:bodyPr>
            <a:normAutofit fontScale="92500" lnSpcReduction="20000"/>
          </a:bodyPr>
          <a:lstStyle/>
          <a:p>
            <a:r>
              <a:rPr lang="en-US" sz="3000" b="1" dirty="0">
                <a:solidFill>
                  <a:srgbClr val="0070C0"/>
                </a:solidFill>
                <a:latin typeface="Courier New" pitchFamily="49" charset="0"/>
              </a:rPr>
              <a:t>void*</a:t>
            </a:r>
            <a:r>
              <a:rPr lang="en-US" sz="3000" dirty="0">
                <a:solidFill>
                  <a:srgbClr val="0070C0"/>
                </a:solidFill>
              </a:rPr>
              <a:t> </a:t>
            </a:r>
            <a:r>
              <a:rPr lang="en-US" sz="3000" dirty="0"/>
              <a:t>is a </a:t>
            </a:r>
            <a:r>
              <a:rPr lang="en-US" sz="3000" b="1" dirty="0">
                <a:solidFill>
                  <a:srgbClr val="0070C0"/>
                </a:solidFill>
              </a:rPr>
              <a:t>pointer</a:t>
            </a:r>
            <a:r>
              <a:rPr lang="en-US" sz="3000" dirty="0"/>
              <a:t> with </a:t>
            </a:r>
            <a:r>
              <a:rPr lang="en-US" sz="3000" b="1" dirty="0">
                <a:solidFill>
                  <a:srgbClr val="0070C0"/>
                </a:solidFill>
              </a:rPr>
              <a:t>no type</a:t>
            </a:r>
            <a:r>
              <a:rPr lang="en-US" sz="3000" dirty="0"/>
              <a:t>:</a:t>
            </a:r>
          </a:p>
          <a:p>
            <a:pPr lvl="2"/>
            <a:r>
              <a:rPr lang="en-US" sz="3000" b="1" i="1" dirty="0">
                <a:latin typeface="+mj-lt"/>
              </a:rPr>
              <a:t>void * can point at </a:t>
            </a:r>
            <a:r>
              <a:rPr lang="en-US" sz="3000" b="1" i="1" dirty="0">
                <a:solidFill>
                  <a:srgbClr val="FF0000"/>
                </a:solidFill>
                <a:latin typeface="+mj-lt"/>
              </a:rPr>
              <a:t>any type of data</a:t>
            </a:r>
            <a:endParaRPr lang="en-US" sz="2800" b="1" i="1" dirty="0">
              <a:solidFill>
                <a:srgbClr val="FF0000"/>
              </a:solidFill>
              <a:latin typeface="+mj-lt"/>
            </a:endParaRPr>
          </a:p>
          <a:p>
            <a:pPr lvl="2">
              <a:buNone/>
            </a:pPr>
            <a:endParaRPr lang="en-US" sz="3200" dirty="0">
              <a:latin typeface="+mj-lt"/>
            </a:endParaRPr>
          </a:p>
          <a:p>
            <a:pPr lvl="2">
              <a:buNone/>
            </a:pPr>
            <a:r>
              <a:rPr lang="en-US" sz="26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iVar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=5;</a:t>
            </a:r>
          </a:p>
          <a:p>
            <a:pPr lvl="2">
              <a:buNone/>
            </a:pPr>
            <a:r>
              <a:rPr lang="en-US" sz="2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fVar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=4.3;</a:t>
            </a:r>
          </a:p>
          <a:p>
            <a:pPr lvl="2">
              <a:buNone/>
            </a:pPr>
            <a:r>
              <a:rPr lang="en-US" sz="2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cVar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=‘Z’;</a:t>
            </a:r>
          </a:p>
          <a:p>
            <a:pPr lvl="2">
              <a:buNone/>
            </a:pPr>
            <a:r>
              <a:rPr lang="en-US" sz="2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*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p1;</a:t>
            </a:r>
          </a:p>
          <a:p>
            <a:pPr lvl="2">
              <a:buNone/>
            </a:pPr>
            <a:r>
              <a:rPr lang="en-US" sz="2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void*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vp2;</a:t>
            </a:r>
          </a:p>
          <a:p>
            <a:pPr lvl="2"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p1 = &amp;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iVar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Allowed</a:t>
            </a:r>
          </a:p>
          <a:p>
            <a:pPr lvl="2"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p1 = &amp;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fvar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Not Allowed</a:t>
            </a:r>
          </a:p>
          <a:p>
            <a:pPr lvl="2"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P1 = &amp;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cVar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 Not Allowed</a:t>
            </a:r>
          </a:p>
          <a:p>
            <a:pPr lvl="2"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vp2 = &amp;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fvar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Allowed</a:t>
            </a:r>
          </a:p>
          <a:p>
            <a:pPr lvl="2"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vp2 = &amp;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cVar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Allowed</a:t>
            </a:r>
          </a:p>
          <a:p>
            <a:pPr lvl="2"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vp2 = &amp;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iVar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Allowed</a:t>
            </a:r>
            <a:endParaRPr lang="en-US" sz="2600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en-US" sz="2800" dirty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en-US" sz="3200" dirty="0">
              <a:latin typeface="+mj-lt"/>
            </a:endParaRPr>
          </a:p>
          <a:p>
            <a:pPr lvl="2"/>
            <a:endParaRPr lang="en-US" sz="3200" b="1" dirty="0">
              <a:solidFill>
                <a:srgbClr val="2F1BC7"/>
              </a:solidFill>
              <a:latin typeface="+mj-lt"/>
            </a:endParaRP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C5FD3D7B-BF2D-4468-AD8B-661D4097A67E}"/>
              </a:ext>
            </a:extLst>
          </p:cNvPr>
          <p:cNvSpPr/>
          <p:nvPr/>
        </p:nvSpPr>
        <p:spPr>
          <a:xfrm>
            <a:off x="4267200" y="751898"/>
            <a:ext cx="3886200" cy="2448502"/>
          </a:xfrm>
          <a:prstGeom prst="cloudCallou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This is a great advantage…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So, What are the limitations?</a:t>
            </a:r>
          </a:p>
        </p:txBody>
      </p:sp>
    </p:spTree>
    <p:extLst>
      <p:ext uri="{BB962C8B-B14F-4D97-AF65-F5344CB8AC3E}">
        <p14:creationId xmlns:p14="http://schemas.microsoft.com/office/powerpoint/2010/main" val="93380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5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5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5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50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50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50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Pointer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524000"/>
            <a:ext cx="7886700" cy="4968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void*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is a </a:t>
            </a:r>
            <a:r>
              <a:rPr lang="en-US" b="1" dirty="0">
                <a:solidFill>
                  <a:srgbClr val="0070C0"/>
                </a:solidFill>
              </a:rPr>
              <a:t>pointer</a:t>
            </a:r>
            <a:r>
              <a:rPr lang="en-US" dirty="0"/>
              <a:t> with </a:t>
            </a:r>
            <a:r>
              <a:rPr lang="en-US" b="1" dirty="0">
                <a:solidFill>
                  <a:srgbClr val="0070C0"/>
                </a:solidFill>
              </a:rPr>
              <a:t>no type</a:t>
            </a:r>
            <a:r>
              <a:rPr lang="en-US" dirty="0"/>
              <a:t>:</a:t>
            </a:r>
          </a:p>
          <a:p>
            <a:pPr lvl="2"/>
            <a:r>
              <a:rPr lang="en-US" b="1" i="1" dirty="0">
                <a:latin typeface="+mj-lt"/>
              </a:rPr>
              <a:t>void * can point at </a:t>
            </a:r>
            <a:r>
              <a:rPr lang="en-US" b="1" i="1" dirty="0">
                <a:solidFill>
                  <a:srgbClr val="FF0000"/>
                </a:solidFill>
                <a:latin typeface="+mj-lt"/>
              </a:rPr>
              <a:t>any type of data</a:t>
            </a:r>
          </a:p>
          <a:p>
            <a:pPr lvl="2">
              <a:buNone/>
            </a:pPr>
            <a:endParaRPr lang="en-US" dirty="0">
              <a:latin typeface="+mj-lt"/>
            </a:endParaRPr>
          </a:p>
          <a:p>
            <a:pPr lvl="2">
              <a:buNone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u="sng" dirty="0"/>
              <a:t>Cannot be dereferenced</a:t>
            </a:r>
          </a:p>
          <a:p>
            <a:endParaRPr lang="en-US" u="sng" dirty="0"/>
          </a:p>
          <a:p>
            <a:r>
              <a:rPr lang="en-US" u="sng" dirty="0"/>
              <a:t>Cannot perform any arithmetic operations</a:t>
            </a:r>
            <a:r>
              <a:rPr lang="en-US" dirty="0"/>
              <a:t>, not even increment/decrement</a:t>
            </a:r>
          </a:p>
          <a:p>
            <a:pPr lvl="2">
              <a:buNone/>
            </a:pPr>
            <a:endParaRPr lang="en-US" sz="3200" dirty="0">
              <a:latin typeface="+mj-lt"/>
            </a:endParaRPr>
          </a:p>
          <a:p>
            <a:pPr lvl="2"/>
            <a:endParaRPr lang="en-US" sz="3200" b="1" dirty="0">
              <a:solidFill>
                <a:srgbClr val="2F1BC7"/>
              </a:solidFill>
              <a:latin typeface="+mj-lt"/>
            </a:endParaRP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C5FD3D7B-BF2D-4468-AD8B-661D4097A67E}"/>
              </a:ext>
            </a:extLst>
          </p:cNvPr>
          <p:cNvSpPr/>
          <p:nvPr/>
        </p:nvSpPr>
        <p:spPr>
          <a:xfrm>
            <a:off x="4953000" y="2362200"/>
            <a:ext cx="3886200" cy="2448502"/>
          </a:xfrm>
          <a:prstGeom prst="cloudCallou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This is a great advantage…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So, What are the limitations?</a:t>
            </a:r>
          </a:p>
        </p:txBody>
      </p:sp>
    </p:spTree>
    <p:extLst>
      <p:ext uri="{BB962C8B-B14F-4D97-AF65-F5344CB8AC3E}">
        <p14:creationId xmlns:p14="http://schemas.microsoft.com/office/powerpoint/2010/main" val="6933641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Casting pointers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0070C0"/>
                </a:solidFill>
              </a:rPr>
              <a:t>Pointers have types</a:t>
            </a:r>
            <a:r>
              <a:rPr lang="en-US" dirty="0"/>
              <a:t>, so you cannot </a:t>
            </a:r>
            <a:r>
              <a:rPr lang="en-US" altLang="ja-JP" dirty="0"/>
              <a:t>just do this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sz="2800" dirty="0">
              <a:latin typeface="+mj-lt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sz="2800" dirty="0">
                <a:latin typeface="+mj-lt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*pi; 	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rgbClr val="B8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*pd;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pd = pi;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sz="2800" dirty="0">
              <a:latin typeface="+mj-lt"/>
            </a:endParaRPr>
          </a:p>
          <a:p>
            <a:pPr eaLnBrk="1" hangingPunct="1">
              <a:buClr>
                <a:schemeClr val="tx1"/>
              </a:buClr>
              <a:defRPr/>
            </a:pPr>
            <a:r>
              <a:rPr lang="en-US" dirty="0"/>
              <a:t>Even if they are both the </a:t>
            </a:r>
            <a:r>
              <a:rPr lang="en-US" dirty="0">
                <a:solidFill>
                  <a:srgbClr val="0070C0"/>
                </a:solidFill>
              </a:rPr>
              <a:t>same size</a:t>
            </a:r>
            <a:r>
              <a:rPr lang="en-US" dirty="0"/>
              <a:t>, C++ will still give an </a:t>
            </a:r>
            <a:r>
              <a:rPr lang="en-US" dirty="0">
                <a:solidFill>
                  <a:srgbClr val="0070C0"/>
                </a:solidFill>
              </a:rPr>
              <a:t>e</a:t>
            </a:r>
            <a:r>
              <a:rPr lang="en-US" altLang="ja-JP" dirty="0">
                <a:solidFill>
                  <a:srgbClr val="0070C0"/>
                </a:solidFill>
              </a:rPr>
              <a:t>rror on implicit typecasting</a:t>
            </a:r>
          </a:p>
          <a:p>
            <a:pPr eaLnBrk="1" hangingPunct="1">
              <a:buClr>
                <a:schemeClr val="tx1"/>
              </a:buClr>
              <a:defRPr/>
            </a:pPr>
            <a:endParaRPr lang="en-US" altLang="ja-JP" dirty="0">
              <a:solidFill>
                <a:srgbClr val="0070C0"/>
              </a:solidFill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sz="28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157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Casting pointers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Clr>
                <a:schemeClr val="tx1"/>
              </a:buClr>
            </a:pPr>
            <a:r>
              <a:rPr lang="en-US" dirty="0"/>
              <a:t>C++ will let you </a:t>
            </a:r>
            <a:r>
              <a:rPr lang="en-US" dirty="0">
                <a:solidFill>
                  <a:srgbClr val="0070C0"/>
                </a:solidFill>
              </a:rPr>
              <a:t>change the type of a pointer </a:t>
            </a:r>
            <a:r>
              <a:rPr lang="en-US" dirty="0"/>
              <a:t>with an </a:t>
            </a:r>
            <a:r>
              <a:rPr lang="en-US" dirty="0">
                <a:solidFill>
                  <a:srgbClr val="0070C0"/>
                </a:solidFill>
              </a:rPr>
              <a:t>explicit cast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Trebuchet MS" panose="020B0603020202020204" pitchFamily="34" charset="0"/>
              <a:cs typeface="Courier New" panose="02070309020205020404" pitchFamily="49" charset="0"/>
            </a:endParaRP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*pi; char *pd;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pd =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(char*)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sz="2400" dirty="0">
              <a:latin typeface="Trebuchet MS" panose="020B0603020202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3123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5188</TotalTime>
  <Words>2232</Words>
  <Application>Microsoft Macintosh PowerPoint</Application>
  <PresentationFormat>On-screen Show (4:3)</PresentationFormat>
  <Paragraphs>627</Paragraphs>
  <Slides>46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Calibri</vt:lpstr>
      <vt:lpstr>Calibri Light</vt:lpstr>
      <vt:lpstr>Consolas</vt:lpstr>
      <vt:lpstr>Courier New</vt:lpstr>
      <vt:lpstr>Trebuchet MS</vt:lpstr>
      <vt:lpstr>Wingdings</vt:lpstr>
      <vt:lpstr>Office Theme</vt:lpstr>
      <vt:lpstr>PowerPoint Presentation</vt:lpstr>
      <vt:lpstr>PowerPoint Presentation</vt:lpstr>
      <vt:lpstr>Program Memory</vt:lpstr>
      <vt:lpstr>Program Memory</vt:lpstr>
      <vt:lpstr>Program Memory</vt:lpstr>
      <vt:lpstr>Program Memory</vt:lpstr>
      <vt:lpstr>Program Memory</vt:lpstr>
      <vt:lpstr>Program Memory</vt:lpstr>
      <vt:lpstr>Program Memory</vt:lpstr>
      <vt:lpstr>Pointer Variables</vt:lpstr>
      <vt:lpstr>Pointer Variables</vt:lpstr>
      <vt:lpstr>Pointer Variables</vt:lpstr>
      <vt:lpstr>The dereference Operator</vt:lpstr>
      <vt:lpstr>The dereference Operator</vt:lpstr>
      <vt:lpstr>The dereference Operator</vt:lpstr>
      <vt:lpstr>Dereferencing Pointer Example</vt:lpstr>
      <vt:lpstr>Pointer Assignment and Dereferencing </vt:lpstr>
      <vt:lpstr>Dynamic Memory Allocation</vt:lpstr>
      <vt:lpstr>Differences between Static and Dynamic Memory Allocation</vt:lpstr>
      <vt:lpstr>Dynamic Memory Allocation</vt:lpstr>
      <vt:lpstr>Dynamic Memory Allocation</vt:lpstr>
      <vt:lpstr>Example</vt:lpstr>
      <vt:lpstr>Example</vt:lpstr>
      <vt:lpstr>Aliasing</vt:lpstr>
      <vt:lpstr>Aliasing</vt:lpstr>
      <vt:lpstr>Aliasing</vt:lpstr>
      <vt:lpstr>Dangling Pointers</vt:lpstr>
      <vt:lpstr>Dangling Pointers</vt:lpstr>
      <vt:lpstr>Dangling Pointers</vt:lpstr>
      <vt:lpstr>Dangling Pointers</vt:lpstr>
      <vt:lpstr>Errors due to Dangling Pointers</vt:lpstr>
      <vt:lpstr>Avoiding a Dangling Pointer</vt:lpstr>
      <vt:lpstr>Returning Memory to the Heap</vt:lpstr>
      <vt:lpstr>Returning Memory to the Heap</vt:lpstr>
      <vt:lpstr>Memory Leaking</vt:lpstr>
      <vt:lpstr>Memory Leaking</vt:lpstr>
      <vt:lpstr>Memory Leaks</vt:lpstr>
      <vt:lpstr>Memory Leaking and Dangling Pointers</vt:lpstr>
      <vt:lpstr>Null Address</vt:lpstr>
      <vt:lpstr>Null Address</vt:lpstr>
      <vt:lpstr>Pointers Data-Type</vt:lpstr>
      <vt:lpstr>Pointers Type</vt:lpstr>
      <vt:lpstr>Void Pointer</vt:lpstr>
      <vt:lpstr>Void Pointer</vt:lpstr>
      <vt:lpstr>Casting pointers</vt:lpstr>
      <vt:lpstr>Casting pointers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</dc:title>
  <dc:subject>Pointers</dc:subject>
  <dc:creator>Tony Gaddis</dc:creator>
  <cp:lastModifiedBy>Microsoft Office User</cp:lastModifiedBy>
  <cp:revision>198</cp:revision>
  <dcterms:created xsi:type="dcterms:W3CDTF">2011-02-16T20:47:20Z</dcterms:created>
  <dcterms:modified xsi:type="dcterms:W3CDTF">2023-02-26T18:26:40Z</dcterms:modified>
</cp:coreProperties>
</file>