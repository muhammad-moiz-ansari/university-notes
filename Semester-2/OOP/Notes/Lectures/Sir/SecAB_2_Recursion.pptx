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308" r:id="rId3"/>
    <p:sldId id="309" r:id="rId4"/>
    <p:sldId id="310" r:id="rId5"/>
    <p:sldId id="311" r:id="rId6"/>
    <p:sldId id="312" r:id="rId7"/>
    <p:sldId id="313" r:id="rId8"/>
    <p:sldId id="315" r:id="rId9"/>
    <p:sldId id="316" r:id="rId10"/>
    <p:sldId id="317" r:id="rId11"/>
    <p:sldId id="337" r:id="rId12"/>
    <p:sldId id="338" r:id="rId13"/>
    <p:sldId id="339" r:id="rId14"/>
    <p:sldId id="341" r:id="rId15"/>
    <p:sldId id="318" r:id="rId16"/>
    <p:sldId id="319" r:id="rId17"/>
    <p:sldId id="320" r:id="rId18"/>
    <p:sldId id="349" r:id="rId19"/>
    <p:sldId id="347" r:id="rId20"/>
    <p:sldId id="348" r:id="rId21"/>
    <p:sldId id="321" r:id="rId22"/>
    <p:sldId id="322" r:id="rId23"/>
    <p:sldId id="323" r:id="rId24"/>
    <p:sldId id="346" r:id="rId25"/>
    <p:sldId id="325" r:id="rId26"/>
    <p:sldId id="324" r:id="rId27"/>
    <p:sldId id="342" r:id="rId28"/>
    <p:sldId id="343" r:id="rId29"/>
    <p:sldId id="345" r:id="rId30"/>
    <p:sldId id="344" r:id="rId31"/>
    <p:sldId id="327" r:id="rId32"/>
    <p:sldId id="328" r:id="rId33"/>
    <p:sldId id="330" r:id="rId34"/>
    <p:sldId id="329" r:id="rId35"/>
    <p:sldId id="333" r:id="rId36"/>
    <p:sldId id="334" r:id="rId37"/>
    <p:sldId id="335" r:id="rId38"/>
    <p:sldId id="336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2F1BC7"/>
    <a:srgbClr val="D5EAFF"/>
    <a:srgbClr val="BDDEFF"/>
    <a:srgbClr val="2C14DE"/>
    <a:srgbClr val="B80000"/>
    <a:srgbClr val="27558D"/>
    <a:srgbClr val="D20000"/>
    <a:srgbClr val="39DFE7"/>
    <a:srgbClr val="160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7755" autoAdjust="0"/>
  </p:normalViewPr>
  <p:slideViewPr>
    <p:cSldViewPr>
      <p:cViewPr varScale="1">
        <p:scale>
          <a:sx n="112" d="100"/>
          <a:sy n="112" d="100"/>
        </p:scale>
        <p:origin x="240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2/7/24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6F33ED6-0565-474F-898D-1C48F0D7C0B6}" type="slidenum">
              <a:rPr lang="en-US" sz="1200" baseline="0"/>
              <a:pPr eaLnBrk="1" hangingPunct="1"/>
              <a:t>8</a:t>
            </a:fld>
            <a:endParaRPr lang="en-US" sz="1200" baseline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826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D6DEF1-B44F-4737-B020-04F6FFC4493A}" type="slidenum">
              <a:rPr lang="en-US" sz="1200" baseline="0"/>
              <a:pPr eaLnBrk="1" hangingPunct="1"/>
              <a:t>9</a:t>
            </a:fld>
            <a:endParaRPr lang="en-US" sz="1200" baseline="0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5189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C1DD52A-33A2-4741-950B-702EC9F35C15}" type="slidenum">
              <a:rPr lang="en-US" sz="1200"/>
              <a:pPr eaLnBrk="1" hangingPunct="1"/>
              <a:t>11</a:t>
            </a:fld>
            <a:endParaRPr 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731838"/>
            <a:ext cx="4567238" cy="3425825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681538"/>
            <a:ext cx="5357812" cy="3448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* Give me some examples</a:t>
            </a:r>
          </a:p>
          <a:p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* How many? (more than…)</a:t>
            </a:r>
          </a:p>
        </p:txBody>
      </p:sp>
    </p:spTree>
    <p:extLst>
      <p:ext uri="{BB962C8B-B14F-4D97-AF65-F5344CB8AC3E}">
        <p14:creationId xmlns:p14="http://schemas.microsoft.com/office/powerpoint/2010/main" val="2031209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D6DEF1-B44F-4737-B020-04F6FFC4493A}" type="slidenum">
              <a:rPr lang="en-US" sz="1200" baseline="0"/>
              <a:pPr eaLnBrk="1" hangingPunct="1"/>
              <a:t>15</a:t>
            </a:fld>
            <a:endParaRPr lang="en-US" sz="1200" baseline="0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9866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D6DEF1-B44F-4737-B020-04F6FFC4493A}" type="slidenum">
              <a:rPr lang="en-US" sz="1200" baseline="0"/>
              <a:pPr eaLnBrk="1" hangingPunct="1"/>
              <a:t>16</a:t>
            </a:fld>
            <a:endParaRPr lang="en-US" sz="1200" baseline="0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0541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D6DEF1-B44F-4737-B020-04F6FFC4493A}" type="slidenum">
              <a:rPr lang="en-US" sz="1200" baseline="0"/>
              <a:pPr eaLnBrk="1" hangingPunct="1"/>
              <a:t>17</a:t>
            </a:fld>
            <a:endParaRPr lang="en-US" sz="1200" baseline="0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7743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fi-FI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print(int n) {</a:t>
            </a:r>
          </a:p>
          <a:p>
            <a:pPr marL="0" indent="0">
              <a:buFontTx/>
              <a:buNone/>
              <a:defRPr/>
            </a:pPr>
            <a:endParaRPr lang="fi-FI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 n == 0 ) </a:t>
            </a:r>
          </a:p>
          <a:p>
            <a:pPr marL="0" indent="0">
              <a:buFontTx/>
              <a:buNone/>
              <a:defRPr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return; </a:t>
            </a:r>
            <a:r>
              <a:rPr lang="en-US" sz="12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//Base condition</a:t>
            </a:r>
          </a:p>
          <a:p>
            <a:pPr marL="0" indent="0">
              <a:buFontTx/>
              <a:buNone/>
              <a:defRPr/>
            </a:pPr>
            <a:endParaRPr 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print(n-1); </a:t>
            </a:r>
            <a:r>
              <a:rPr lang="en-US" sz="12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//Calls itself with (n-1)</a:t>
            </a:r>
            <a:endParaRPr lang="fr-FR" sz="12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 &lt;&lt; " "; </a:t>
            </a:r>
            <a:r>
              <a:rPr lang="en-US" sz="12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//Prints number n</a:t>
            </a:r>
            <a:endParaRPr lang="fr-FR" sz="12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fr-F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OR</a:t>
            </a:r>
          </a:p>
          <a:p>
            <a:r>
              <a:rPr lang="en-GB" dirty="0"/>
              <a:t>void recursion(int times)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	if(times&gt;0)</a:t>
            </a:r>
          </a:p>
          <a:p>
            <a:r>
              <a:rPr lang="en-GB" dirty="0"/>
              <a:t>	{</a:t>
            </a:r>
          </a:p>
          <a:p>
            <a:r>
              <a:rPr lang="en-GB" dirty="0"/>
              <a:t>		recursion(times-1);</a:t>
            </a:r>
          </a:p>
          <a:p>
            <a:r>
              <a:rPr lang="en-GB" dirty="0"/>
              <a:t>	</a:t>
            </a:r>
            <a:r>
              <a:rPr lang="en-GB" dirty="0" err="1"/>
              <a:t>cout</a:t>
            </a:r>
            <a:r>
              <a:rPr lang="en-GB" dirty="0"/>
              <a:t>&lt;&lt;times&lt;&lt;" ";</a:t>
            </a:r>
          </a:p>
          <a:p>
            <a:r>
              <a:rPr lang="en-GB" dirty="0"/>
              <a:t>	//return;</a:t>
            </a:r>
          </a:p>
          <a:p>
            <a:r>
              <a:rPr lang="en-GB" dirty="0"/>
              <a:t>	}</a:t>
            </a:r>
          </a:p>
          <a:p>
            <a:r>
              <a:rPr lang="en-GB" dirty="0"/>
              <a:t>		</a:t>
            </a:r>
          </a:p>
          <a:p>
            <a:r>
              <a:rPr lang="en-GB" dirty="0"/>
              <a:t>}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92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B7B2384-CAF2-42F4-A903-44E000ACF7A4}" type="slidenum">
              <a:rPr lang="en-US" sz="1200" baseline="0"/>
              <a:pPr eaLnBrk="1" hangingPunct="1"/>
              <a:t>21</a:t>
            </a:fld>
            <a:endParaRPr lang="en-US" sz="1200" baseline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mathematics,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greatest common divisor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of two or more integers, which are not all zero, is the largest positive integer that divides each of the integers. For example, 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8 and 12 is 4.</a:t>
            </a:r>
          </a:p>
        </p:txBody>
      </p:sp>
    </p:spTree>
    <p:extLst>
      <p:ext uri="{BB962C8B-B14F-4D97-AF65-F5344CB8AC3E}">
        <p14:creationId xmlns:p14="http://schemas.microsoft.com/office/powerpoint/2010/main" val="3378657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B7B2384-CAF2-42F4-A903-44E000ACF7A4}" type="slidenum">
              <a:rPr lang="en-US" sz="1200" baseline="0"/>
              <a:pPr eaLnBrk="1" hangingPunct="1"/>
              <a:t>22</a:t>
            </a:fld>
            <a:endParaRPr lang="en-US" sz="1200" baseline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mathematics,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greatest common divisor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of two or more integers, which are not all zero, is the largest positive integer that divides each of the integers. For example, 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8 and 12 is 4.</a:t>
            </a:r>
          </a:p>
        </p:txBody>
      </p:sp>
    </p:spTree>
    <p:extLst>
      <p:ext uri="{BB962C8B-B14F-4D97-AF65-F5344CB8AC3E}">
        <p14:creationId xmlns:p14="http://schemas.microsoft.com/office/powerpoint/2010/main" val="23511889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D71984B-81A1-423D-959A-69C755461DE6}" type="slidenum">
              <a:rPr lang="en-US" sz="1200" baseline="0"/>
              <a:pPr eaLnBrk="1" hangingPunct="1"/>
              <a:t>23</a:t>
            </a:fld>
            <a:endParaRPr lang="en-US" sz="1200" baseline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1129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5FAA340-B44C-4D7B-87B5-25A72C4A6636}" type="slidenum">
              <a:rPr lang="en-US" sz="1200"/>
              <a:pPr eaLnBrk="1" hangingPunct="1"/>
              <a:t>24</a:t>
            </a:fld>
            <a:endParaRPr 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731838"/>
            <a:ext cx="4567238" cy="3425825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681538"/>
            <a:ext cx="5357812" cy="3448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" panose="020B0604020202020204" pitchFamily="34" charset="0"/>
                <a:ea typeface="ＭＳ Ｐゴシック" panose="020B0600070205080204" pitchFamily="34" charset="-128"/>
              </a:rPr>
              <a:t>* Give me some examples</a:t>
            </a:r>
          </a:p>
          <a:p>
            <a:r>
              <a:rPr lang="en-US">
                <a:latin typeface="Arial" panose="020B0604020202020204" pitchFamily="34" charset="0"/>
                <a:ea typeface="ＭＳ Ｐゴシック" panose="020B0600070205080204" pitchFamily="34" charset="-128"/>
              </a:rPr>
              <a:t>* How many? (more than…)</a:t>
            </a:r>
          </a:p>
        </p:txBody>
      </p:sp>
    </p:spTree>
    <p:extLst>
      <p:ext uri="{BB962C8B-B14F-4D97-AF65-F5344CB8AC3E}">
        <p14:creationId xmlns:p14="http://schemas.microsoft.com/office/powerpoint/2010/main" val="1437731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25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pr14-06.cpp</a:t>
            </a:r>
          </a:p>
        </p:txBody>
      </p:sp>
    </p:spTree>
    <p:extLst>
      <p:ext uri="{BB962C8B-B14F-4D97-AF65-F5344CB8AC3E}">
        <p14:creationId xmlns:p14="http://schemas.microsoft.com/office/powerpoint/2010/main" val="1241107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8924C01-A986-4F1F-809E-1489A069D8BE}" type="slidenum">
              <a:rPr lang="en-CA" sz="1200" baseline="0"/>
              <a:pPr eaLnBrk="1" hangingPunct="1"/>
              <a:t>26</a:t>
            </a:fld>
            <a:endParaRPr lang="en-CA" sz="1200" baseline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184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27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pr14-06.cpp</a:t>
            </a:r>
          </a:p>
        </p:txBody>
      </p:sp>
    </p:spTree>
    <p:extLst>
      <p:ext uri="{BB962C8B-B14F-4D97-AF65-F5344CB8AC3E}">
        <p14:creationId xmlns:p14="http://schemas.microsoft.com/office/powerpoint/2010/main" val="731135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28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pr14-06.cpp</a:t>
            </a:r>
          </a:p>
        </p:txBody>
      </p:sp>
    </p:spTree>
    <p:extLst>
      <p:ext uri="{BB962C8B-B14F-4D97-AF65-F5344CB8AC3E}">
        <p14:creationId xmlns:p14="http://schemas.microsoft.com/office/powerpoint/2010/main" val="3373529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29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pr14-06.cpp</a:t>
            </a:r>
          </a:p>
        </p:txBody>
      </p:sp>
    </p:spTree>
    <p:extLst>
      <p:ext uri="{BB962C8B-B14F-4D97-AF65-F5344CB8AC3E}">
        <p14:creationId xmlns:p14="http://schemas.microsoft.com/office/powerpoint/2010/main" val="35972092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BB9CF-FD00-44F7-ADC6-1AEF566F1CFB}" type="slidenum">
              <a:rPr lang="en-US" sz="1200" baseline="0"/>
              <a:pPr eaLnBrk="1" hangingPunct="1"/>
              <a:t>30</a:t>
            </a:fld>
            <a:endParaRPr lang="en-US" sz="1200" baseline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6-i</a:t>
            </a:r>
            <a:br>
              <a:rPr lang="en-US" dirty="0"/>
            </a:br>
            <a:r>
              <a:rPr lang="en-US" dirty="0"/>
              <a:t>or</a:t>
            </a:r>
            <a:br>
              <a:rPr lang="en-US" dirty="0"/>
            </a:br>
            <a:r>
              <a:rPr lang="en-US" dirty="0"/>
              <a:t>5-i+1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154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9FC60D7-9478-4F2F-9A99-08BF6849C7F6}" type="slidenum">
              <a:rPr lang="en-US" sz="1200" baseline="0"/>
              <a:pPr eaLnBrk="1" hangingPunct="1"/>
              <a:t>31</a:t>
            </a:fld>
            <a:endParaRPr lang="en-US" sz="1200" baseline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Play game at this </a:t>
            </a:r>
            <a:r>
              <a:rPr lang="en-US"/>
              <a:t>link:</a:t>
            </a:r>
            <a:br>
              <a:rPr lang="en-US"/>
            </a:br>
            <a:r>
              <a:rPr lang="en-US"/>
              <a:t>https</a:t>
            </a:r>
            <a:r>
              <a:rPr lang="en-US" dirty="0"/>
              <a:t>://www.mathsisfun.com/games/towerofhanoi.html</a:t>
            </a:r>
          </a:p>
        </p:txBody>
      </p:sp>
    </p:spTree>
    <p:extLst>
      <p:ext uri="{BB962C8B-B14F-4D97-AF65-F5344CB8AC3E}">
        <p14:creationId xmlns:p14="http://schemas.microsoft.com/office/powerpoint/2010/main" val="527915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876BDE6-ED04-49EE-859B-1F74E409CAB2}" type="slidenum">
              <a:rPr lang="en-US" sz="1200" baseline="0"/>
              <a:pPr eaLnBrk="1" hangingPunct="1"/>
              <a:t>32</a:t>
            </a:fld>
            <a:endParaRPr lang="en-US" sz="1200" baseline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For N</a:t>
            </a:r>
            <a:r>
              <a:rPr lang="en-US" baseline="0" dirty="0"/>
              <a:t> = 1 disk</a:t>
            </a:r>
          </a:p>
          <a:p>
            <a:r>
              <a:rPr lang="en-US" baseline="0" dirty="0"/>
              <a:t>Total Steps = 1</a:t>
            </a:r>
          </a:p>
          <a:p>
            <a:endParaRPr lang="en-US" baseline="0" dirty="0"/>
          </a:p>
          <a:p>
            <a:r>
              <a:rPr lang="en-US" baseline="0" dirty="0"/>
              <a:t>For N=2 disks</a:t>
            </a:r>
          </a:p>
          <a:p>
            <a:r>
              <a:rPr lang="en-US" baseline="0" dirty="0"/>
              <a:t>Total steps=  3</a:t>
            </a:r>
          </a:p>
          <a:p>
            <a:endParaRPr lang="en-US" baseline="0" dirty="0"/>
          </a:p>
          <a:p>
            <a:r>
              <a:rPr lang="en-US" baseline="0" dirty="0"/>
              <a:t>For N=3 disks </a:t>
            </a:r>
          </a:p>
          <a:p>
            <a:r>
              <a:rPr lang="en-US" baseline="0" dirty="0"/>
              <a:t>Total steps= 3 steps (move top 2 disks P1</a:t>
            </a:r>
            <a:r>
              <a:rPr lang="en-US" baseline="0" dirty="0">
                <a:sym typeface="Wingdings" panose="05000000000000000000" pitchFamily="2" charset="2"/>
              </a:rPr>
              <a:t>P2) + 1 step (largest disk P1P3) + 3 steps (two disks P2P3)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                  = 7 Steps</a:t>
            </a:r>
            <a:endParaRPr lang="en-US" dirty="0"/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395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</a:t>
            </a:r>
            <a:r>
              <a:rPr lang="en-US" baseline="0" dirty="0"/>
              <a:t> = 1 disk</a:t>
            </a:r>
          </a:p>
          <a:p>
            <a:r>
              <a:rPr lang="en-US" baseline="0" dirty="0"/>
              <a:t>Total Steps = 1</a:t>
            </a:r>
          </a:p>
          <a:p>
            <a:endParaRPr lang="en-US" baseline="0" dirty="0"/>
          </a:p>
          <a:p>
            <a:r>
              <a:rPr lang="en-US" baseline="0" dirty="0"/>
              <a:t>For N=2 disks</a:t>
            </a:r>
          </a:p>
          <a:p>
            <a:r>
              <a:rPr lang="en-US" baseline="0" dirty="0"/>
              <a:t>Total steps=  3</a:t>
            </a:r>
          </a:p>
          <a:p>
            <a:endParaRPr lang="en-US" baseline="0" dirty="0"/>
          </a:p>
          <a:p>
            <a:r>
              <a:rPr lang="en-US" baseline="0" dirty="0"/>
              <a:t>For N=3 disks </a:t>
            </a:r>
          </a:p>
          <a:p>
            <a:r>
              <a:rPr lang="en-US" baseline="0" dirty="0"/>
              <a:t>Total steps= 3 steps (move top 2 disks P1</a:t>
            </a:r>
            <a:r>
              <a:rPr lang="en-US" baseline="0" dirty="0">
                <a:sym typeface="Wingdings" panose="05000000000000000000" pitchFamily="2" charset="2"/>
              </a:rPr>
              <a:t>P2) + 1 step (largest disk P1P3) + 3 steps (two disks P2P3)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                  = 7 Steps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13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9926101-37FC-4B42-B7EF-F1EED98916DB}" type="slidenum">
              <a:rPr lang="en-US" sz="1200" baseline="0"/>
              <a:pPr eaLnBrk="1" hangingPunct="1"/>
              <a:t>34</a:t>
            </a:fld>
            <a:endParaRPr lang="en-US" sz="1200" baseline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See pr14-09.cpp</a:t>
            </a:r>
          </a:p>
        </p:txBody>
      </p:sp>
    </p:spTree>
    <p:extLst>
      <p:ext uri="{BB962C8B-B14F-4D97-AF65-F5344CB8AC3E}">
        <p14:creationId xmlns:p14="http://schemas.microsoft.com/office/powerpoint/2010/main" val="3299854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9D04D6F-6C4B-4253-8DF5-ABA29B2AB10E}" type="slidenum">
              <a:rPr lang="en-US" sz="1200" baseline="0"/>
              <a:pPr eaLnBrk="1" hangingPunct="1"/>
              <a:t>38</a:t>
            </a:fld>
            <a:endParaRPr lang="en-US" sz="1200" baseline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2481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2/7/24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" y="44449"/>
            <a:ext cx="895349" cy="8953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828800"/>
            <a:ext cx="8991600" cy="1622425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160C5C"/>
                </a:solidFill>
              </a:rPr>
              <a:t>Recursion</a:t>
            </a:r>
            <a:br>
              <a:rPr lang="en-US" dirty="0"/>
            </a:b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62400"/>
            <a:ext cx="8686800" cy="2743200"/>
          </a:xfrm>
        </p:spPr>
        <p:txBody>
          <a:bodyPr>
            <a:normAutofit lnSpcReduction="10000"/>
          </a:bodyPr>
          <a:lstStyle/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Department of Computer Science, </a:t>
            </a:r>
          </a:p>
          <a:p>
            <a:r>
              <a:rPr lang="en-US" sz="2800" dirty="0"/>
              <a:t>National University of Computer &amp; Emerging Sciences</a:t>
            </a:r>
            <a:r>
              <a:rPr lang="en-US" sz="2600" dirty="0"/>
              <a:t>, Islamabad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44881"/>
          </a:xfrm>
        </p:spPr>
        <p:txBody>
          <a:bodyPr>
            <a:normAutofit/>
          </a:bodyPr>
          <a:lstStyle/>
          <a:p>
            <a:r>
              <a:rPr lang="en-US" altLang="en-US" sz="4800" b="1" dirty="0">
                <a:solidFill>
                  <a:srgbClr val="B80000"/>
                </a:solidFill>
              </a:rPr>
              <a:t>Introduction to Recursion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" y="1150084"/>
            <a:ext cx="8763000" cy="685800"/>
          </a:xfrm>
        </p:spPr>
        <p:txBody>
          <a:bodyPr>
            <a:normAutofit/>
          </a:bodyPr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B80000"/>
                </a:solidFill>
              </a:rPr>
              <a:t>recursive function </a:t>
            </a:r>
            <a:r>
              <a:rPr lang="en-US" altLang="en-US" dirty="0"/>
              <a:t>is one that </a:t>
            </a:r>
            <a:r>
              <a:rPr lang="en-US" altLang="en-US" b="1" dirty="0">
                <a:solidFill>
                  <a:srgbClr val="2C14DE"/>
                </a:solidFill>
              </a:rPr>
              <a:t>calls itself</a:t>
            </a:r>
            <a:r>
              <a:rPr lang="en-US" altLang="en-US" dirty="0"/>
              <a:t>.</a:t>
            </a:r>
          </a:p>
          <a:p>
            <a:endParaRPr lang="en-US" altLang="en-US" dirty="0"/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457200" y="1898815"/>
            <a:ext cx="7747262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void Message(void)</a:t>
            </a:r>
            <a:b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b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cout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&lt;&lt; "This is a recursive function.\n";</a:t>
            </a:r>
            <a:b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Message();</a:t>
            </a:r>
            <a:b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04800" y="4267200"/>
            <a:ext cx="84582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The above </a:t>
            </a:r>
            <a:r>
              <a:rPr lang="en-US" altLang="en-US" sz="2400" b="1" dirty="0">
                <a:cs typeface="Times New Roman" panose="02020603050405020304" pitchFamily="18" charset="0"/>
              </a:rPr>
              <a:t>function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Times New Roman" panose="02020603050405020304" pitchFamily="18" charset="0"/>
              </a:rPr>
              <a:t>displays</a:t>
            </a:r>
            <a:r>
              <a:rPr lang="en-US" altLang="en-US" sz="2400" dirty="0"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cs typeface="Times New Roman" panose="02020603050405020304" pitchFamily="18" charset="0"/>
              </a:rPr>
              <a:t>string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br>
              <a:rPr lang="en-US" altLang="en-US" sz="2400" dirty="0">
                <a:cs typeface="Times New Roman" panose="02020603050405020304" pitchFamily="18" charset="0"/>
              </a:rPr>
            </a:br>
            <a:r>
              <a:rPr lang="en-US" altLang="en-US" sz="2400" dirty="0">
                <a:cs typeface="Times New Roman" panose="02020603050405020304" pitchFamily="18" charset="0"/>
              </a:rPr>
              <a:t>"</a:t>
            </a:r>
            <a:r>
              <a:rPr lang="en-US" altLang="en-US" sz="2400" dirty="0">
                <a:solidFill>
                  <a:srgbClr val="008000"/>
                </a:solidFill>
                <a:cs typeface="Times New Roman" panose="02020603050405020304" pitchFamily="18" charset="0"/>
              </a:rPr>
              <a:t>This is a recursive function.\n</a:t>
            </a:r>
            <a:r>
              <a:rPr lang="en-US" altLang="en-US" sz="2400" dirty="0">
                <a:cs typeface="Times New Roman" panose="02020603050405020304" pitchFamily="18" charset="0"/>
              </a:rPr>
              <a:t>", and then </a:t>
            </a:r>
            <a:r>
              <a:rPr lang="en-US" altLang="en-US" sz="2400" b="1" u="sng" dirty="0">
                <a:solidFill>
                  <a:srgbClr val="008000"/>
                </a:solidFill>
                <a:cs typeface="Times New Roman" panose="02020603050405020304" pitchFamily="18" charset="0"/>
              </a:rPr>
              <a:t>calls itself</a:t>
            </a:r>
            <a:r>
              <a:rPr lang="en-US" altLang="en-US" sz="2400" dirty="0">
                <a:solidFill>
                  <a:srgbClr val="008000"/>
                </a:solidFill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rgbClr val="B80000"/>
                </a:solidFill>
                <a:cs typeface="Times New Roman" panose="02020603050405020304" pitchFamily="18" charset="0"/>
              </a:rPr>
              <a:t>Can you see a problem with this function? 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45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54156" y="0"/>
            <a:ext cx="8153400" cy="944881"/>
          </a:xfrm>
        </p:spPr>
        <p:txBody>
          <a:bodyPr/>
          <a:lstStyle/>
          <a:p>
            <a:r>
              <a:rPr lang="en-US" altLang="en-US" b="1" dirty="0">
                <a:solidFill>
                  <a:srgbClr val="B80000"/>
                </a:solidFill>
              </a:rPr>
              <a:t>Recursion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143000"/>
            <a:ext cx="8955156" cy="5638800"/>
          </a:xfrm>
        </p:spPr>
        <p:txBody>
          <a:bodyPr>
            <a:normAutofit/>
          </a:bodyPr>
          <a:lstStyle/>
          <a:p>
            <a:pPr algn="just"/>
            <a:r>
              <a:rPr lang="en-US" altLang="en-US" sz="3000" dirty="0"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solidFill>
                  <a:srgbClr val="B80000"/>
                </a:solidFill>
                <a:cs typeface="Times New Roman" panose="02020603050405020304" pitchFamily="18" charset="0"/>
              </a:rPr>
              <a:t>function</a:t>
            </a:r>
            <a:r>
              <a:rPr lang="en-US" altLang="en-US" sz="3000" dirty="0">
                <a:solidFill>
                  <a:srgbClr val="B8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000" dirty="0">
                <a:cs typeface="Times New Roman" panose="02020603050405020304" pitchFamily="18" charset="0"/>
              </a:rPr>
              <a:t>is </a:t>
            </a:r>
            <a:r>
              <a:rPr lang="en-US" altLang="en-US" sz="3000" b="1" dirty="0">
                <a:cs typeface="Times New Roman" panose="02020603050405020304" pitchFamily="18" charset="0"/>
              </a:rPr>
              <a:t>like an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infinite loop </a:t>
            </a:r>
            <a:r>
              <a:rPr lang="en-US" altLang="en-US" sz="3000" dirty="0">
                <a:cs typeface="Times New Roman" panose="02020603050405020304" pitchFamily="18" charset="0"/>
              </a:rPr>
              <a:t>because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there is no code to stop it </a:t>
            </a:r>
            <a:r>
              <a:rPr lang="en-US" altLang="en-US" sz="3000" dirty="0">
                <a:cs typeface="Times New Roman" panose="02020603050405020304" pitchFamily="18" charset="0"/>
              </a:rPr>
              <a:t>from </a:t>
            </a:r>
            <a:r>
              <a:rPr lang="en-US" altLang="en-US" sz="3000" b="1" u="sng" dirty="0">
                <a:solidFill>
                  <a:srgbClr val="2C14DE"/>
                </a:solidFill>
                <a:cs typeface="Times New Roman" panose="02020603050405020304" pitchFamily="18" charset="0"/>
              </a:rPr>
              <a:t>repeating</a:t>
            </a:r>
            <a:r>
              <a:rPr lang="en-US" altLang="en-US" sz="3000" dirty="0"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en-US" sz="3000" dirty="0">
              <a:cs typeface="Times New Roman" panose="02020603050405020304" pitchFamily="18" charset="0"/>
            </a:endParaRPr>
          </a:p>
          <a:p>
            <a:pPr algn="just"/>
            <a:endParaRPr lang="en-US" altLang="en-US" sz="3000" dirty="0">
              <a:cs typeface="Times New Roman" panose="02020603050405020304" pitchFamily="18" charset="0"/>
            </a:endParaRPr>
          </a:p>
          <a:p>
            <a:pPr algn="just"/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Like a loop</a:t>
            </a:r>
            <a:r>
              <a:rPr lang="en-US" altLang="en-US" sz="3000" dirty="0">
                <a:cs typeface="Times New Roman" panose="02020603050405020304" pitchFamily="18" charset="0"/>
              </a:rPr>
              <a:t>, a </a:t>
            </a:r>
            <a:r>
              <a:rPr lang="en-US" altLang="en-US" sz="3000" b="1" u="sng" dirty="0">
                <a:cs typeface="Times New Roman" panose="02020603050405020304" pitchFamily="18" charset="0"/>
              </a:rPr>
              <a:t>recursive function</a:t>
            </a:r>
            <a:r>
              <a:rPr lang="en-US" altLang="en-US" sz="3000" u="sng" dirty="0">
                <a:cs typeface="Times New Roman" panose="02020603050405020304" pitchFamily="18" charset="0"/>
              </a:rPr>
              <a:t> </a:t>
            </a:r>
            <a:r>
              <a:rPr lang="en-US" altLang="en-US" sz="3000" b="1" u="sng" dirty="0">
                <a:cs typeface="Times New Roman" panose="02020603050405020304" pitchFamily="18" charset="0"/>
              </a:rPr>
              <a:t>must have </a:t>
            </a:r>
            <a:r>
              <a:rPr lang="en-US" altLang="en-US" sz="3000" b="1" dirty="0">
                <a:cs typeface="Times New Roman" panose="02020603050405020304" pitchFamily="18" charset="0"/>
              </a:rPr>
              <a:t>some algorithm to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control</a:t>
            </a:r>
            <a:r>
              <a:rPr lang="en-US" altLang="en-US" sz="3000" dirty="0">
                <a:solidFill>
                  <a:srgbClr val="2C14DE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000" dirty="0"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cs typeface="Times New Roman" panose="02020603050405020304" pitchFamily="18" charset="0"/>
              </a:rPr>
              <a:t>number of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times</a:t>
            </a:r>
            <a:r>
              <a:rPr lang="en-US" altLang="en-US" sz="3000" b="1" dirty="0">
                <a:cs typeface="Times New Roman" panose="02020603050405020304" pitchFamily="18" charset="0"/>
              </a:rPr>
              <a:t> it </a:t>
            </a:r>
            <a:r>
              <a:rPr lang="en-US" altLang="en-US" sz="3000" b="1" dirty="0">
                <a:solidFill>
                  <a:srgbClr val="2C14DE"/>
                </a:solidFill>
                <a:cs typeface="Times New Roman" panose="02020603050405020304" pitchFamily="18" charset="0"/>
              </a:rPr>
              <a:t>repeats</a:t>
            </a:r>
            <a:r>
              <a:rPr lang="en-US" altLang="en-US" sz="3000" dirty="0"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4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193156" cy="91440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B80000"/>
                </a:solidFill>
              </a:rPr>
              <a:t>Recursion : Using Control Condition</a:t>
            </a:r>
          </a:p>
        </p:txBody>
      </p:sp>
      <p:sp>
        <p:nvSpPr>
          <p:cNvPr id="9220" name="Text Box 8"/>
          <p:cNvSpPr txBox="1">
            <a:spLocks noChangeArrowheads="1"/>
          </p:cNvSpPr>
          <p:nvPr/>
        </p:nvSpPr>
        <p:spPr bwMode="auto">
          <a:xfrm>
            <a:off x="228600" y="1183838"/>
            <a:ext cx="77724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void Message(</a:t>
            </a:r>
            <a:r>
              <a:rPr lang="en-US" altLang="en-US" sz="18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times)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if (times &gt; 0)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{			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</a:t>
            </a:r>
            <a:r>
              <a:rPr lang="en-US" altLang="en-US" sz="18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&lt;&lt; "This is a recursive function.\n";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Message(times ‑ 1);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}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return;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92156" y="4114800"/>
            <a:ext cx="87630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The function contains an </a:t>
            </a:r>
            <a:r>
              <a:rPr lang="en-US" altLang="en-US" sz="2800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if/else</a:t>
            </a:r>
            <a:r>
              <a:rPr lang="en-US" altLang="en-US" sz="2800" b="1" dirty="0">
                <a:solidFill>
                  <a:srgbClr val="2C14DE"/>
                </a:solidFill>
                <a:cs typeface="Times New Roman" panose="02020603050405020304" pitchFamily="18" charset="0"/>
              </a:rPr>
              <a:t> statement </a:t>
            </a:r>
            <a:r>
              <a:rPr lang="en-US" altLang="en-US" sz="2800" dirty="0">
                <a:cs typeface="Times New Roman" panose="02020603050405020304" pitchFamily="18" charset="0"/>
              </a:rPr>
              <a:t>that </a:t>
            </a:r>
            <a:r>
              <a:rPr lang="en-US" altLang="en-US" sz="2800" b="1" dirty="0">
                <a:solidFill>
                  <a:srgbClr val="2C14DE"/>
                </a:solidFill>
                <a:cs typeface="Times New Roman" panose="02020603050405020304" pitchFamily="18" charset="0"/>
              </a:rPr>
              <a:t>controls</a:t>
            </a:r>
            <a:r>
              <a:rPr lang="en-US" altLang="en-US" sz="2800" dirty="0">
                <a:solidFill>
                  <a:srgbClr val="2C14DE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cs typeface="Times New Roman" panose="02020603050405020304" pitchFamily="18" charset="0"/>
              </a:rPr>
              <a:t>the </a:t>
            </a:r>
            <a:r>
              <a:rPr lang="en-US" altLang="en-US" sz="2800" b="1" dirty="0">
                <a:solidFill>
                  <a:srgbClr val="2C14DE"/>
                </a:solidFill>
                <a:cs typeface="Times New Roman" panose="02020603050405020304" pitchFamily="18" charset="0"/>
              </a:rPr>
              <a:t>repetition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  <a:r>
              <a:rPr lang="en-US" altLang="en-US" sz="2800" dirty="0"/>
              <a:t>For example, if we call the function: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/>
              <a:t> 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Message(5);</a:t>
            </a:r>
            <a:endParaRPr lang="en-US" altLang="en-US" sz="2800" b="1" dirty="0"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>
                <a:cs typeface="Courier New" panose="02070309020205020404" pitchFamily="49" charset="0"/>
              </a:rPr>
              <a:t> 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>
                <a:cs typeface="Courier New" panose="02070309020205020404" pitchFamily="49" charset="0"/>
              </a:rPr>
              <a:t>   The </a:t>
            </a:r>
            <a:r>
              <a:rPr lang="en-US" altLang="en-US" sz="2800" b="1" dirty="0">
                <a:cs typeface="Courier New" panose="02070309020205020404" pitchFamily="49" charset="0"/>
              </a:rPr>
              <a:t>argument, 5</a:t>
            </a:r>
            <a:r>
              <a:rPr lang="en-US" altLang="en-US" sz="2800" dirty="0">
                <a:cs typeface="Courier New" panose="02070309020205020404" pitchFamily="49" charset="0"/>
              </a:rPr>
              <a:t>, will cause the function </a:t>
            </a:r>
            <a:r>
              <a:rPr lang="en-US" altLang="en-US" sz="2800" b="1" dirty="0">
                <a:cs typeface="Courier New" panose="02070309020205020404" pitchFamily="49" charset="0"/>
              </a:rPr>
              <a:t>to </a:t>
            </a:r>
            <a:r>
              <a:rPr lang="en-US" altLang="en-US" sz="2800" b="1" dirty="0">
                <a:solidFill>
                  <a:srgbClr val="008000"/>
                </a:solidFill>
                <a:cs typeface="Courier New" panose="02070309020205020404" pitchFamily="49" charset="0"/>
              </a:rPr>
              <a:t>call</a:t>
            </a:r>
            <a:r>
              <a:rPr lang="en-US" altLang="en-US" sz="2800" b="1" dirty="0">
                <a:cs typeface="Courier New" panose="02070309020205020404" pitchFamily="49" charset="0"/>
              </a:rPr>
              <a:t> itself </a:t>
            </a:r>
            <a:r>
              <a:rPr lang="en-US" altLang="en-US" sz="2800" b="1" dirty="0">
                <a:solidFill>
                  <a:srgbClr val="008000"/>
                </a:solidFill>
                <a:cs typeface="Courier New" panose="02070309020205020404" pitchFamily="49" charset="0"/>
              </a:rPr>
              <a:t>5 times</a:t>
            </a:r>
            <a:r>
              <a:rPr lang="en-US" altLang="en-US" sz="2800" dirty="0">
                <a:cs typeface="Courier New" panose="02070309020205020404" pitchFamily="49" charset="0"/>
              </a:rPr>
              <a:t>.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3230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193156" cy="91440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B80000"/>
                </a:solidFill>
              </a:rPr>
              <a:t>Recursion : Using Control Condition</a:t>
            </a:r>
          </a:p>
        </p:txBody>
      </p:sp>
      <p:sp>
        <p:nvSpPr>
          <p:cNvPr id="9220" name="Text Box 8"/>
          <p:cNvSpPr txBox="1">
            <a:spLocks noChangeArrowheads="1"/>
          </p:cNvSpPr>
          <p:nvPr/>
        </p:nvSpPr>
        <p:spPr bwMode="auto">
          <a:xfrm>
            <a:off x="228600" y="1143000"/>
            <a:ext cx="80010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void Message(</a:t>
            </a:r>
            <a:r>
              <a:rPr lang="en-US" altLang="en-US" sz="18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times)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if (times &gt; 0) </a:t>
            </a:r>
            <a:r>
              <a:rPr lang="en-US" altLang="en-US" sz="1800" b="1" dirty="0">
                <a:solidFill>
                  <a:srgbClr val="B8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// Base case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{			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</a:t>
            </a:r>
            <a:r>
              <a:rPr lang="en-US" altLang="en-US" sz="18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&lt;&lt; "This is a recursive function.\n";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Message(times ‑ 1);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}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return;</a:t>
            </a:r>
            <a:b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027"/>
          <p:cNvSpPr>
            <a:spLocks noGrp="1" noChangeArrowheads="1"/>
          </p:cNvSpPr>
          <p:nvPr>
            <p:ph idx="1"/>
          </p:nvPr>
        </p:nvSpPr>
        <p:spPr>
          <a:xfrm>
            <a:off x="228600" y="4114800"/>
            <a:ext cx="8763000" cy="2438399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With </a:t>
            </a:r>
            <a:r>
              <a:rPr lang="en-US" sz="2800" b="1" dirty="0"/>
              <a:t>each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2C14DE"/>
                </a:solidFill>
              </a:rPr>
              <a:t>recursive call</a:t>
            </a:r>
            <a:r>
              <a:rPr lang="en-US" sz="2800" dirty="0"/>
              <a:t>, the </a:t>
            </a:r>
            <a:r>
              <a:rPr lang="en-US" sz="2800" b="1" dirty="0">
                <a:solidFill>
                  <a:srgbClr val="2C14DE"/>
                </a:solidFill>
              </a:rPr>
              <a:t>parameter controlling the recursion</a:t>
            </a:r>
            <a:r>
              <a:rPr lang="en-US" sz="2800" dirty="0"/>
              <a:t> should </a:t>
            </a:r>
            <a:r>
              <a:rPr lang="en-US" sz="2800" b="1" dirty="0">
                <a:solidFill>
                  <a:srgbClr val="2C14DE"/>
                </a:solidFill>
              </a:rPr>
              <a:t>move  closer </a:t>
            </a:r>
            <a:r>
              <a:rPr lang="en-US" sz="2800" dirty="0"/>
              <a:t>to the </a:t>
            </a:r>
            <a:r>
              <a:rPr lang="en-US" sz="2800" b="1" u="sng" dirty="0">
                <a:solidFill>
                  <a:srgbClr val="B80000"/>
                </a:solidFill>
              </a:rPr>
              <a:t>base case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Eventually, the </a:t>
            </a:r>
            <a:r>
              <a:rPr lang="en-US" sz="2800" b="1" dirty="0">
                <a:solidFill>
                  <a:srgbClr val="2C14DE"/>
                </a:solidFill>
              </a:rPr>
              <a:t>parameter reaches </a:t>
            </a:r>
            <a:r>
              <a:rPr lang="en-US" sz="2800" dirty="0"/>
              <a:t>the</a:t>
            </a:r>
            <a:r>
              <a:rPr lang="en-US" sz="2800" b="1" dirty="0"/>
              <a:t> </a:t>
            </a:r>
            <a:r>
              <a:rPr lang="en-US" sz="2800" b="1" u="sng" dirty="0">
                <a:solidFill>
                  <a:srgbClr val="B80000"/>
                </a:solidFill>
              </a:rPr>
              <a:t>base case </a:t>
            </a:r>
            <a:r>
              <a:rPr lang="en-US" sz="2800" dirty="0"/>
              <a:t>and the chain of </a:t>
            </a:r>
            <a:r>
              <a:rPr lang="en-US" sz="2800" b="1" dirty="0">
                <a:solidFill>
                  <a:srgbClr val="2C14DE"/>
                </a:solidFill>
              </a:rPr>
              <a:t>recursive calls terminates</a:t>
            </a:r>
            <a:endParaRPr lang="en-US" sz="2800" b="1" dirty="0">
              <a:solidFill>
                <a:srgbClr val="2C14DE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529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43"/>
          <p:cNvGrpSpPr>
            <a:grpSpLocks/>
          </p:cNvGrpSpPr>
          <p:nvPr/>
        </p:nvGrpSpPr>
        <p:grpSpPr bwMode="auto">
          <a:xfrm>
            <a:off x="270753" y="1023026"/>
            <a:ext cx="7467600" cy="5334000"/>
            <a:chOff x="457200" y="1066800"/>
            <a:chExt cx="7467600" cy="5334000"/>
          </a:xfrm>
        </p:grpSpPr>
        <p:sp>
          <p:nvSpPr>
            <p:cNvPr id="13318" name="Rectangle 3"/>
            <p:cNvSpPr>
              <a:spLocks noChangeArrowheads="1"/>
            </p:cNvSpPr>
            <p:nvPr/>
          </p:nvSpPr>
          <p:spPr bwMode="auto">
            <a:xfrm>
              <a:off x="457200" y="10668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en-US" sz="2400" b="1"/>
            </a:p>
          </p:txBody>
        </p:sp>
        <p:sp>
          <p:nvSpPr>
            <p:cNvPr id="13319" name="Line 4"/>
            <p:cNvSpPr>
              <a:spLocks noChangeShapeType="1"/>
            </p:cNvSpPr>
            <p:nvPr/>
          </p:nvSpPr>
          <p:spPr bwMode="auto">
            <a:xfrm>
              <a:off x="457200" y="14478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20" name="Text Box 5"/>
            <p:cNvSpPr txBox="1">
              <a:spLocks noChangeArrowheads="1"/>
            </p:cNvSpPr>
            <p:nvPr/>
          </p:nvSpPr>
          <p:spPr bwMode="auto">
            <a:xfrm>
              <a:off x="497597" y="1066800"/>
              <a:ext cx="20868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1</a:t>
              </a:r>
              <a:r>
                <a:rPr lang="en-US" altLang="en-US" sz="1400" b="1" baseline="30000" dirty="0"/>
                <a:t>st</a:t>
              </a:r>
              <a:r>
                <a:rPr lang="en-US" altLang="en-US" sz="1400" b="1" dirty="0"/>
                <a:t> call of the function</a:t>
              </a:r>
            </a:p>
          </p:txBody>
        </p:sp>
        <p:sp>
          <p:nvSpPr>
            <p:cNvPr id="13321" name="Text Box 6"/>
            <p:cNvSpPr txBox="1">
              <a:spLocks noChangeArrowheads="1"/>
            </p:cNvSpPr>
            <p:nvPr/>
          </p:nvSpPr>
          <p:spPr bwMode="auto">
            <a:xfrm>
              <a:off x="685800" y="14478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Value of 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 dirty="0"/>
                <a:t>: 5</a:t>
              </a:r>
            </a:p>
          </p:txBody>
        </p:sp>
        <p:grpSp>
          <p:nvGrpSpPr>
            <p:cNvPr id="13322" name="Group 13"/>
            <p:cNvGrpSpPr>
              <a:grpSpLocks/>
            </p:cNvGrpSpPr>
            <p:nvPr/>
          </p:nvGrpSpPr>
          <p:grpSpPr bwMode="auto">
            <a:xfrm>
              <a:off x="762000" y="1828800"/>
              <a:ext cx="762000" cy="304800"/>
              <a:chOff x="1200" y="2640"/>
              <a:chExt cx="480" cy="192"/>
            </a:xfrm>
          </p:grpSpPr>
          <p:sp>
            <p:nvSpPr>
              <p:cNvPr id="13355" name="Line 11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56" name="Line 12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13323" name="Rectangle 14"/>
            <p:cNvSpPr>
              <a:spLocks noChangeArrowheads="1"/>
            </p:cNvSpPr>
            <p:nvPr/>
          </p:nvSpPr>
          <p:spPr bwMode="auto">
            <a:xfrm>
              <a:off x="1524000" y="19812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24" name="Line 15"/>
            <p:cNvSpPr>
              <a:spLocks noChangeShapeType="1"/>
            </p:cNvSpPr>
            <p:nvPr/>
          </p:nvSpPr>
          <p:spPr bwMode="auto">
            <a:xfrm>
              <a:off x="1524000" y="23622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25" name="Text Box 16"/>
            <p:cNvSpPr txBox="1">
              <a:spLocks noChangeArrowheads="1"/>
            </p:cNvSpPr>
            <p:nvPr/>
          </p:nvSpPr>
          <p:spPr bwMode="auto">
            <a:xfrm>
              <a:off x="1524000" y="19812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2</a:t>
              </a:r>
              <a:r>
                <a:rPr lang="en-US" altLang="en-US" sz="1400" b="1" baseline="30000" dirty="0"/>
                <a:t>nd</a:t>
              </a:r>
              <a:r>
                <a:rPr lang="en-US" altLang="en-US" sz="1400" b="1" dirty="0"/>
                <a:t>  call of the function</a:t>
              </a:r>
            </a:p>
          </p:txBody>
        </p:sp>
        <p:sp>
          <p:nvSpPr>
            <p:cNvPr id="13326" name="Text Box 17"/>
            <p:cNvSpPr txBox="1">
              <a:spLocks noChangeArrowheads="1"/>
            </p:cNvSpPr>
            <p:nvPr/>
          </p:nvSpPr>
          <p:spPr bwMode="auto">
            <a:xfrm>
              <a:off x="1752600" y="23622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4</a:t>
              </a:r>
            </a:p>
          </p:txBody>
        </p:sp>
        <p:sp>
          <p:nvSpPr>
            <p:cNvPr id="13327" name="Rectangle 18"/>
            <p:cNvSpPr>
              <a:spLocks noChangeArrowheads="1"/>
            </p:cNvSpPr>
            <p:nvPr/>
          </p:nvSpPr>
          <p:spPr bwMode="auto">
            <a:xfrm>
              <a:off x="2590800" y="28956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28" name="Line 19"/>
            <p:cNvSpPr>
              <a:spLocks noChangeShapeType="1"/>
            </p:cNvSpPr>
            <p:nvPr/>
          </p:nvSpPr>
          <p:spPr bwMode="auto">
            <a:xfrm>
              <a:off x="2590800" y="32766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29" name="Text Box 20"/>
            <p:cNvSpPr txBox="1">
              <a:spLocks noChangeArrowheads="1"/>
            </p:cNvSpPr>
            <p:nvPr/>
          </p:nvSpPr>
          <p:spPr bwMode="auto">
            <a:xfrm>
              <a:off x="2590800" y="28956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3</a:t>
              </a:r>
              <a:r>
                <a:rPr lang="en-US" altLang="en-US" sz="1400" b="1" baseline="30000" dirty="0"/>
                <a:t>rd</a:t>
              </a:r>
              <a:r>
                <a:rPr lang="en-US" altLang="en-US" sz="1400" b="1" dirty="0"/>
                <a:t> call of the function</a:t>
              </a:r>
            </a:p>
          </p:txBody>
        </p:sp>
        <p:sp>
          <p:nvSpPr>
            <p:cNvPr id="13330" name="Text Box 21"/>
            <p:cNvSpPr txBox="1">
              <a:spLocks noChangeArrowheads="1"/>
            </p:cNvSpPr>
            <p:nvPr/>
          </p:nvSpPr>
          <p:spPr bwMode="auto">
            <a:xfrm>
              <a:off x="2819400" y="32766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3</a:t>
              </a:r>
            </a:p>
          </p:txBody>
        </p:sp>
        <p:grpSp>
          <p:nvGrpSpPr>
            <p:cNvPr id="13331" name="Group 22"/>
            <p:cNvGrpSpPr>
              <a:grpSpLocks/>
            </p:cNvGrpSpPr>
            <p:nvPr/>
          </p:nvGrpSpPr>
          <p:grpSpPr bwMode="auto">
            <a:xfrm>
              <a:off x="1828800" y="2743200"/>
              <a:ext cx="762000" cy="304800"/>
              <a:chOff x="1200" y="2640"/>
              <a:chExt cx="480" cy="192"/>
            </a:xfrm>
          </p:grpSpPr>
          <p:sp>
            <p:nvSpPr>
              <p:cNvPr id="13353" name="Line 23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54" name="Line 24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13332" name="Rectangle 25"/>
            <p:cNvSpPr>
              <a:spLocks noChangeArrowheads="1"/>
            </p:cNvSpPr>
            <p:nvPr/>
          </p:nvSpPr>
          <p:spPr bwMode="auto">
            <a:xfrm>
              <a:off x="3657600" y="38100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33" name="Line 26"/>
            <p:cNvSpPr>
              <a:spLocks noChangeShapeType="1"/>
            </p:cNvSpPr>
            <p:nvPr/>
          </p:nvSpPr>
          <p:spPr bwMode="auto">
            <a:xfrm>
              <a:off x="3657600" y="41910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34" name="Text Box 27"/>
            <p:cNvSpPr txBox="1">
              <a:spLocks noChangeArrowheads="1"/>
            </p:cNvSpPr>
            <p:nvPr/>
          </p:nvSpPr>
          <p:spPr bwMode="auto">
            <a:xfrm>
              <a:off x="3657600" y="38100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4th call of the function</a:t>
              </a:r>
            </a:p>
          </p:txBody>
        </p:sp>
        <p:sp>
          <p:nvSpPr>
            <p:cNvPr id="13335" name="Text Box 28"/>
            <p:cNvSpPr txBox="1">
              <a:spLocks noChangeArrowheads="1"/>
            </p:cNvSpPr>
            <p:nvPr/>
          </p:nvSpPr>
          <p:spPr bwMode="auto">
            <a:xfrm>
              <a:off x="3886200" y="41910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2</a:t>
              </a:r>
            </a:p>
          </p:txBody>
        </p:sp>
        <p:grpSp>
          <p:nvGrpSpPr>
            <p:cNvPr id="13336" name="Group 29"/>
            <p:cNvGrpSpPr>
              <a:grpSpLocks/>
            </p:cNvGrpSpPr>
            <p:nvPr/>
          </p:nvGrpSpPr>
          <p:grpSpPr bwMode="auto">
            <a:xfrm>
              <a:off x="2895600" y="3657600"/>
              <a:ext cx="762000" cy="304800"/>
              <a:chOff x="1200" y="2640"/>
              <a:chExt cx="480" cy="192"/>
            </a:xfrm>
          </p:grpSpPr>
          <p:sp>
            <p:nvSpPr>
              <p:cNvPr id="13351" name="Line 30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52" name="Line 31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13337" name="Rectangle 32"/>
            <p:cNvSpPr>
              <a:spLocks noChangeArrowheads="1"/>
            </p:cNvSpPr>
            <p:nvPr/>
          </p:nvSpPr>
          <p:spPr bwMode="auto">
            <a:xfrm>
              <a:off x="4724400" y="47244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38" name="Line 33"/>
            <p:cNvSpPr>
              <a:spLocks noChangeShapeType="1"/>
            </p:cNvSpPr>
            <p:nvPr/>
          </p:nvSpPr>
          <p:spPr bwMode="auto">
            <a:xfrm>
              <a:off x="4724400" y="51054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39" name="Text Box 34"/>
            <p:cNvSpPr txBox="1">
              <a:spLocks noChangeArrowheads="1"/>
            </p:cNvSpPr>
            <p:nvPr/>
          </p:nvSpPr>
          <p:spPr bwMode="auto">
            <a:xfrm>
              <a:off x="4724400" y="47244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5th call of the function</a:t>
              </a:r>
            </a:p>
          </p:txBody>
        </p:sp>
        <p:sp>
          <p:nvSpPr>
            <p:cNvPr id="13340" name="Text Box 35"/>
            <p:cNvSpPr txBox="1">
              <a:spLocks noChangeArrowheads="1"/>
            </p:cNvSpPr>
            <p:nvPr/>
          </p:nvSpPr>
          <p:spPr bwMode="auto">
            <a:xfrm>
              <a:off x="4953000" y="51054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Value of </a:t>
              </a:r>
              <a:r>
                <a:rPr lang="en-US" altLang="en-US" sz="1400" b="1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/>
                <a:t>: 1</a:t>
              </a:r>
            </a:p>
          </p:txBody>
        </p:sp>
        <p:grpSp>
          <p:nvGrpSpPr>
            <p:cNvPr id="13341" name="Group 36"/>
            <p:cNvGrpSpPr>
              <a:grpSpLocks/>
            </p:cNvGrpSpPr>
            <p:nvPr/>
          </p:nvGrpSpPr>
          <p:grpSpPr bwMode="auto">
            <a:xfrm>
              <a:off x="3962400" y="4572000"/>
              <a:ext cx="762000" cy="304800"/>
              <a:chOff x="1200" y="2640"/>
              <a:chExt cx="480" cy="192"/>
            </a:xfrm>
          </p:grpSpPr>
          <p:sp>
            <p:nvSpPr>
              <p:cNvPr id="13349" name="Line 37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50" name="Line 38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  <p:sp>
          <p:nvSpPr>
            <p:cNvPr id="13342" name="Rectangle 39"/>
            <p:cNvSpPr>
              <a:spLocks noChangeArrowheads="1"/>
            </p:cNvSpPr>
            <p:nvPr/>
          </p:nvSpPr>
          <p:spPr bwMode="auto">
            <a:xfrm>
              <a:off x="5791200" y="5638800"/>
              <a:ext cx="2133600" cy="76200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altLang="en-US" b="1"/>
            </a:p>
          </p:txBody>
        </p:sp>
        <p:sp>
          <p:nvSpPr>
            <p:cNvPr id="13343" name="Line 40"/>
            <p:cNvSpPr>
              <a:spLocks noChangeShapeType="1"/>
            </p:cNvSpPr>
            <p:nvPr/>
          </p:nvSpPr>
          <p:spPr bwMode="auto">
            <a:xfrm>
              <a:off x="5791200" y="6019800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344" name="Text Box 41"/>
            <p:cNvSpPr txBox="1">
              <a:spLocks noChangeArrowheads="1"/>
            </p:cNvSpPr>
            <p:nvPr/>
          </p:nvSpPr>
          <p:spPr bwMode="auto">
            <a:xfrm>
              <a:off x="5791200" y="5638800"/>
              <a:ext cx="21272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6th call of the function</a:t>
              </a:r>
            </a:p>
          </p:txBody>
        </p:sp>
        <p:sp>
          <p:nvSpPr>
            <p:cNvPr id="13345" name="Text Box 42"/>
            <p:cNvSpPr txBox="1">
              <a:spLocks noChangeArrowheads="1"/>
            </p:cNvSpPr>
            <p:nvPr/>
          </p:nvSpPr>
          <p:spPr bwMode="auto">
            <a:xfrm>
              <a:off x="6019800" y="6019800"/>
              <a:ext cx="176212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Value of 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times</a:t>
              </a:r>
              <a:r>
                <a:rPr lang="en-US" altLang="en-US" sz="1400" b="1" dirty="0"/>
                <a:t>: 0</a:t>
              </a:r>
            </a:p>
          </p:txBody>
        </p:sp>
        <p:grpSp>
          <p:nvGrpSpPr>
            <p:cNvPr id="13346" name="Group 43"/>
            <p:cNvGrpSpPr>
              <a:grpSpLocks/>
            </p:cNvGrpSpPr>
            <p:nvPr/>
          </p:nvGrpSpPr>
          <p:grpSpPr bwMode="auto">
            <a:xfrm>
              <a:off x="5029200" y="5486400"/>
              <a:ext cx="762000" cy="304800"/>
              <a:chOff x="1200" y="2640"/>
              <a:chExt cx="480" cy="192"/>
            </a:xfrm>
          </p:grpSpPr>
          <p:sp>
            <p:nvSpPr>
              <p:cNvPr id="13347" name="Line 44"/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0" cy="19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3348" name="Line 45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480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1"/>
              </a:p>
            </p:txBody>
          </p:sp>
        </p:grpSp>
      </p:grpSp>
      <p:sp>
        <p:nvSpPr>
          <p:cNvPr id="10286" name="Text Box 46"/>
          <p:cNvSpPr txBox="1">
            <a:spLocks noChangeArrowheads="1"/>
          </p:cNvSpPr>
          <p:nvPr/>
        </p:nvSpPr>
        <p:spPr bwMode="auto">
          <a:xfrm>
            <a:off x="304800" y="4705350"/>
            <a:ext cx="296267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This </a:t>
            </a:r>
            <a:r>
              <a:rPr lang="en-US" altLang="en-US" sz="2000" b="1" dirty="0">
                <a:solidFill>
                  <a:srgbClr val="2C14DE"/>
                </a:solidFill>
              </a:rPr>
              <a:t>cycle repeats </a:t>
            </a:r>
            <a:r>
              <a:rPr lang="en-US" altLang="en-US" sz="2000" dirty="0"/>
              <a:t>itself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2C14DE"/>
                </a:solidFill>
              </a:rPr>
              <a:t>until 0 </a:t>
            </a:r>
            <a:r>
              <a:rPr lang="en-US" altLang="en-US" sz="2000" dirty="0"/>
              <a:t>is passed to the</a:t>
            </a:r>
            <a:br>
              <a:rPr lang="en-US" altLang="en-US" sz="2000" dirty="0"/>
            </a:br>
            <a:r>
              <a:rPr lang="en-US" altLang="en-US" sz="2000" dirty="0"/>
              <a:t>function.</a:t>
            </a:r>
          </a:p>
        </p:txBody>
      </p:sp>
      <p:sp>
        <p:nvSpPr>
          <p:cNvPr id="10287" name="Text Box 47"/>
          <p:cNvSpPr txBox="1">
            <a:spLocks noChangeArrowheads="1"/>
          </p:cNvSpPr>
          <p:nvPr/>
        </p:nvSpPr>
        <p:spPr bwMode="auto">
          <a:xfrm>
            <a:off x="311150" y="5924550"/>
            <a:ext cx="27622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B80000"/>
                </a:solidFill>
              </a:rPr>
              <a:t>Depth of recursion: </a:t>
            </a:r>
            <a:r>
              <a:rPr lang="en-US" altLang="en-US" sz="2000" b="1" dirty="0">
                <a:solidFill>
                  <a:srgbClr val="2C14DE"/>
                </a:solidFill>
              </a:rPr>
              <a:t>6</a:t>
            </a:r>
          </a:p>
        </p:txBody>
      </p:sp>
      <p:sp>
        <p:nvSpPr>
          <p:cNvPr id="13317" name="Text Box 8"/>
          <p:cNvSpPr txBox="1">
            <a:spLocks noChangeArrowheads="1"/>
          </p:cNvSpPr>
          <p:nvPr/>
        </p:nvSpPr>
        <p:spPr bwMode="auto">
          <a:xfrm>
            <a:off x="3556879" y="191111"/>
            <a:ext cx="5586920" cy="24314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void Message(</a:t>
            </a:r>
            <a:r>
              <a:rPr lang="en-US" altLang="en-US" sz="16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times)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if (times &gt; 0)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{			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 </a:t>
            </a:r>
            <a:r>
              <a:rPr lang="en-US" altLang="en-US" sz="1600" b="1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cout</a:t>
            </a: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&lt;&lt; "This is a recursive function.\n";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 Message(times ‑ 1);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}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return;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2" name="Freeform 1"/>
          <p:cNvSpPr/>
          <p:nvPr/>
        </p:nvSpPr>
        <p:spPr>
          <a:xfrm>
            <a:off x="6681457" y="5106049"/>
            <a:ext cx="1950322" cy="1173428"/>
          </a:xfrm>
          <a:custGeom>
            <a:avLst/>
            <a:gdLst>
              <a:gd name="connsiteX0" fmla="*/ 1086416 w 1950322"/>
              <a:gd name="connsiteY0" fmla="*/ 1168002 h 1173428"/>
              <a:gd name="connsiteX1" fmla="*/ 1937442 w 1950322"/>
              <a:gd name="connsiteY1" fmla="*/ 1005040 h 1173428"/>
              <a:gd name="connsiteX2" fmla="*/ 1484769 w 1950322"/>
              <a:gd name="connsiteY2" fmla="*/ 54426 h 1173428"/>
              <a:gd name="connsiteX3" fmla="*/ 0 w 1950322"/>
              <a:gd name="connsiteY3" fmla="*/ 199282 h 117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0322" h="1173428">
                <a:moveTo>
                  <a:pt x="1086416" y="1168002"/>
                </a:moveTo>
                <a:cubicBezTo>
                  <a:pt x="1478733" y="1179319"/>
                  <a:pt x="1871050" y="1190636"/>
                  <a:pt x="1937442" y="1005040"/>
                </a:cubicBezTo>
                <a:cubicBezTo>
                  <a:pt x="2003834" y="819444"/>
                  <a:pt x="1807676" y="188719"/>
                  <a:pt x="1484769" y="54426"/>
                </a:cubicBezTo>
                <a:cubicBezTo>
                  <a:pt x="1161862" y="-79867"/>
                  <a:pt x="580931" y="59707"/>
                  <a:pt x="0" y="199282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5585988" y="4345663"/>
            <a:ext cx="2160553" cy="1068309"/>
          </a:xfrm>
          <a:custGeom>
            <a:avLst/>
            <a:gdLst>
              <a:gd name="connsiteX0" fmla="*/ 1095469 w 2160553"/>
              <a:gd name="connsiteY0" fmla="*/ 1068309 h 1068309"/>
              <a:gd name="connsiteX1" fmla="*/ 2127564 w 2160553"/>
              <a:gd name="connsiteY1" fmla="*/ 172016 h 1068309"/>
              <a:gd name="connsiteX2" fmla="*/ 0 w 2160553"/>
              <a:gd name="connsiteY2" fmla="*/ 0 h 106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553" h="1068309">
                <a:moveTo>
                  <a:pt x="1095469" y="1068309"/>
                </a:moveTo>
                <a:cubicBezTo>
                  <a:pt x="1702805" y="709188"/>
                  <a:pt x="2310142" y="350067"/>
                  <a:pt x="2127564" y="172016"/>
                </a:cubicBezTo>
                <a:cubicBezTo>
                  <a:pt x="1944986" y="-6035"/>
                  <a:pt x="312344" y="37723"/>
                  <a:pt x="0" y="0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4535786" y="3267659"/>
            <a:ext cx="2535112" cy="1222860"/>
          </a:xfrm>
          <a:custGeom>
            <a:avLst/>
            <a:gdLst>
              <a:gd name="connsiteX0" fmla="*/ 1086416 w 2535112"/>
              <a:gd name="connsiteY0" fmla="*/ 1222860 h 1222860"/>
              <a:gd name="connsiteX1" fmla="*/ 2534970 w 2535112"/>
              <a:gd name="connsiteY1" fmla="*/ 254139 h 1222860"/>
              <a:gd name="connsiteX2" fmla="*/ 1167897 w 2535112"/>
              <a:gd name="connsiteY2" fmla="*/ 642 h 1222860"/>
              <a:gd name="connsiteX3" fmla="*/ 0 w 2535112"/>
              <a:gd name="connsiteY3" fmla="*/ 299406 h 1222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5112" h="1222860">
                <a:moveTo>
                  <a:pt x="1086416" y="1222860"/>
                </a:moveTo>
                <a:cubicBezTo>
                  <a:pt x="1803903" y="840351"/>
                  <a:pt x="2521390" y="457842"/>
                  <a:pt x="2534970" y="254139"/>
                </a:cubicBezTo>
                <a:cubicBezTo>
                  <a:pt x="2548550" y="50436"/>
                  <a:pt x="1590392" y="-6903"/>
                  <a:pt x="1167897" y="642"/>
                </a:cubicBezTo>
                <a:cubicBezTo>
                  <a:pt x="745402" y="8186"/>
                  <a:pt x="98079" y="285826"/>
                  <a:pt x="0" y="299406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485584" y="2333815"/>
            <a:ext cx="1756489" cy="1309218"/>
          </a:xfrm>
          <a:custGeom>
            <a:avLst/>
            <a:gdLst>
              <a:gd name="connsiteX0" fmla="*/ 1050202 w 1756489"/>
              <a:gd name="connsiteY0" fmla="*/ 1269464 h 1309218"/>
              <a:gd name="connsiteX1" fmla="*/ 1756372 w 1756489"/>
              <a:gd name="connsiteY1" fmla="*/ 1160823 h 1309218"/>
              <a:gd name="connsiteX2" fmla="*/ 1004935 w 1756489"/>
              <a:gd name="connsiteY2" fmla="*/ 65353 h 1309218"/>
              <a:gd name="connsiteX3" fmla="*/ 0 w 1756489"/>
              <a:gd name="connsiteY3" fmla="*/ 219262 h 1309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489" h="1309218">
                <a:moveTo>
                  <a:pt x="1050202" y="1269464"/>
                </a:moveTo>
                <a:cubicBezTo>
                  <a:pt x="1407059" y="1315486"/>
                  <a:pt x="1763917" y="1361508"/>
                  <a:pt x="1756372" y="1160823"/>
                </a:cubicBezTo>
                <a:cubicBezTo>
                  <a:pt x="1748828" y="960138"/>
                  <a:pt x="1297664" y="222280"/>
                  <a:pt x="1004935" y="65353"/>
                </a:cubicBezTo>
                <a:cubicBezTo>
                  <a:pt x="712206" y="-91574"/>
                  <a:pt x="356103" y="63844"/>
                  <a:pt x="0" y="219262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2417275" y="1623988"/>
            <a:ext cx="1579962" cy="992463"/>
          </a:xfrm>
          <a:custGeom>
            <a:avLst/>
            <a:gdLst>
              <a:gd name="connsiteX0" fmla="*/ 1059256 w 1579962"/>
              <a:gd name="connsiteY0" fmla="*/ 992463 h 992463"/>
              <a:gd name="connsiteX1" fmla="*/ 1530036 w 1579962"/>
              <a:gd name="connsiteY1" fmla="*/ 87117 h 992463"/>
              <a:gd name="connsiteX2" fmla="*/ 0 w 1579962"/>
              <a:gd name="connsiteY2" fmla="*/ 87117 h 992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9962" h="992463">
                <a:moveTo>
                  <a:pt x="1059256" y="992463"/>
                </a:moveTo>
                <a:cubicBezTo>
                  <a:pt x="1382917" y="615235"/>
                  <a:pt x="1706579" y="238008"/>
                  <a:pt x="1530036" y="87117"/>
                </a:cubicBezTo>
                <a:cubicBezTo>
                  <a:pt x="1353493" y="-63774"/>
                  <a:pt x="676746" y="11671"/>
                  <a:pt x="0" y="87117"/>
                </a:cubicBezTo>
              </a:path>
            </a:pathLst>
          </a:custGeom>
          <a:noFill/>
          <a:ln w="31750">
            <a:solidFill>
              <a:srgbClr val="2F1BC7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5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6" grpId="0"/>
      <p:bldP spid="10287" grpId="0"/>
      <p:bldP spid="2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8763000" cy="26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/>
              <a:t>Program Output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/>
              <a:t> </a:t>
            </a: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	This is a recursive function.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8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What Happens When Called?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6078" y="1066800"/>
            <a:ext cx="8955156" cy="5715000"/>
          </a:xfrm>
        </p:spPr>
        <p:txBody>
          <a:bodyPr/>
          <a:lstStyle/>
          <a:p>
            <a:pPr marL="533400" indent="-533400" algn="just" eaLnBrk="1" hangingPunct="1">
              <a:spcBef>
                <a:spcPct val="50000"/>
              </a:spcBef>
            </a:pPr>
            <a:r>
              <a:rPr lang="en-US" sz="2800" dirty="0"/>
              <a:t>Each time a </a:t>
            </a:r>
            <a:r>
              <a:rPr lang="en-US" sz="2800" b="1" dirty="0">
                <a:solidFill>
                  <a:srgbClr val="B80000"/>
                </a:solidFill>
              </a:rPr>
              <a:t>recursive function </a:t>
            </a:r>
            <a:r>
              <a:rPr lang="en-US" sz="2800" dirty="0"/>
              <a:t>is </a:t>
            </a:r>
            <a:r>
              <a:rPr lang="en-US" sz="2800" b="1" dirty="0">
                <a:solidFill>
                  <a:srgbClr val="2C14DE"/>
                </a:solidFill>
              </a:rPr>
              <a:t>called</a:t>
            </a:r>
            <a:r>
              <a:rPr lang="en-US" sz="2800" dirty="0"/>
              <a:t>, a </a:t>
            </a:r>
            <a:r>
              <a:rPr lang="en-US" sz="2800" b="1" dirty="0">
                <a:solidFill>
                  <a:srgbClr val="008000"/>
                </a:solidFill>
              </a:rPr>
              <a:t>new copy</a:t>
            </a:r>
            <a:r>
              <a:rPr lang="en-US" sz="2800" dirty="0">
                <a:solidFill>
                  <a:srgbClr val="008000"/>
                </a:solidFill>
              </a:rPr>
              <a:t> </a:t>
            </a:r>
            <a:r>
              <a:rPr lang="en-US" sz="2800" dirty="0"/>
              <a:t>of the </a:t>
            </a:r>
            <a:r>
              <a:rPr lang="en-US" sz="2800" b="1" dirty="0">
                <a:solidFill>
                  <a:srgbClr val="008000"/>
                </a:solidFill>
              </a:rPr>
              <a:t>function runs</a:t>
            </a:r>
            <a:r>
              <a:rPr lang="en-US" sz="2800" dirty="0"/>
              <a:t>, with </a:t>
            </a:r>
            <a:r>
              <a:rPr lang="en-US" sz="2800" b="1" dirty="0">
                <a:solidFill>
                  <a:srgbClr val="2F1BC7"/>
                </a:solidFill>
              </a:rPr>
              <a:t>new instances </a:t>
            </a:r>
            <a:r>
              <a:rPr lang="en-US" sz="2800" b="1" dirty="0"/>
              <a:t>of</a:t>
            </a:r>
            <a:r>
              <a:rPr lang="en-US" sz="2800" b="1" dirty="0">
                <a:solidFill>
                  <a:srgbClr val="2F1BC7"/>
                </a:solidFill>
              </a:rPr>
              <a:t> parameters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2F1BC7"/>
                </a:solidFill>
              </a:rPr>
              <a:t>local variable</a:t>
            </a:r>
            <a:r>
              <a:rPr lang="en-US" sz="2800" dirty="0"/>
              <a:t>s being </a:t>
            </a:r>
            <a:r>
              <a:rPr lang="en-US" sz="2800" b="1" dirty="0">
                <a:solidFill>
                  <a:srgbClr val="2F1BC7"/>
                </a:solidFill>
              </a:rPr>
              <a:t>created</a:t>
            </a:r>
          </a:p>
          <a:p>
            <a:pPr marL="533400" indent="-533400" algn="just" eaLnBrk="1" hangingPunct="1">
              <a:spcBef>
                <a:spcPct val="50000"/>
              </a:spcBef>
            </a:pPr>
            <a:endParaRPr lang="en-US" sz="2800" dirty="0"/>
          </a:p>
          <a:p>
            <a:pPr marL="533400" indent="-533400" algn="just" eaLnBrk="1" hangingPunct="1">
              <a:spcBef>
                <a:spcPct val="50000"/>
              </a:spcBef>
            </a:pPr>
            <a:r>
              <a:rPr lang="en-US" sz="2800" dirty="0"/>
              <a:t>As </a:t>
            </a:r>
            <a:r>
              <a:rPr lang="en-US" sz="2800" b="1" dirty="0"/>
              <a:t>each </a:t>
            </a:r>
            <a:r>
              <a:rPr lang="en-US" sz="2800" b="1" dirty="0">
                <a:solidFill>
                  <a:srgbClr val="2F1BC7"/>
                </a:solidFill>
              </a:rPr>
              <a:t>copy finishes </a:t>
            </a:r>
            <a:r>
              <a:rPr lang="en-US" sz="2800" b="1" dirty="0"/>
              <a:t>executing</a:t>
            </a:r>
            <a:r>
              <a:rPr lang="en-US" sz="2800" dirty="0"/>
              <a:t>, it </a:t>
            </a:r>
            <a:r>
              <a:rPr lang="en-US" sz="2800" b="1" dirty="0">
                <a:solidFill>
                  <a:srgbClr val="2F1BC7"/>
                </a:solidFill>
              </a:rPr>
              <a:t>returns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to the copy of the </a:t>
            </a:r>
            <a:r>
              <a:rPr lang="en-US" sz="2800" b="1" dirty="0">
                <a:solidFill>
                  <a:srgbClr val="2F1BC7"/>
                </a:solidFill>
              </a:rPr>
              <a:t>function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that </a:t>
            </a:r>
            <a:r>
              <a:rPr lang="en-US" sz="2800" b="1" u="sng" dirty="0">
                <a:solidFill>
                  <a:srgbClr val="2F1BC7"/>
                </a:solidFill>
              </a:rPr>
              <a:t>called it</a:t>
            </a:r>
          </a:p>
          <a:p>
            <a:pPr marL="533400" indent="-533400" algn="just" eaLnBrk="1" hangingPunct="1">
              <a:spcBef>
                <a:spcPct val="50000"/>
              </a:spcBef>
            </a:pPr>
            <a:endParaRPr lang="en-US" sz="2800" dirty="0"/>
          </a:p>
          <a:p>
            <a:pPr marL="533400" indent="-533400" algn="just" eaLnBrk="1" hangingPunct="1">
              <a:spcBef>
                <a:spcPct val="50000"/>
              </a:spcBef>
            </a:pPr>
            <a:r>
              <a:rPr lang="en-US" sz="2800" dirty="0"/>
              <a:t>When the </a:t>
            </a:r>
            <a:r>
              <a:rPr lang="en-US" sz="2800" b="1" dirty="0">
                <a:solidFill>
                  <a:srgbClr val="2F1BC7"/>
                </a:solidFill>
              </a:rPr>
              <a:t>initial copy finishes executing</a:t>
            </a:r>
            <a:r>
              <a:rPr lang="en-US" sz="2800" dirty="0"/>
              <a:t>, it returns to the </a:t>
            </a:r>
            <a:r>
              <a:rPr lang="en-US" sz="2800" b="1" dirty="0"/>
              <a:t>part of the program </a:t>
            </a:r>
            <a:r>
              <a:rPr lang="en-US" sz="2800" dirty="0"/>
              <a:t>that </a:t>
            </a:r>
            <a:r>
              <a:rPr lang="en-US" sz="2800" b="1" dirty="0">
                <a:solidFill>
                  <a:srgbClr val="2F1BC7"/>
                </a:solidFill>
              </a:rPr>
              <a:t>made the initial call </a:t>
            </a:r>
            <a:r>
              <a:rPr lang="en-US" sz="2800" dirty="0"/>
              <a:t>to the </a:t>
            </a:r>
            <a:r>
              <a:rPr lang="en-US" sz="2800" b="1" dirty="0">
                <a:solidFill>
                  <a:srgbClr val="2F1BC7"/>
                </a:solidFill>
              </a:rPr>
              <a:t>function</a:t>
            </a:r>
            <a:endParaRPr lang="en-US" sz="2800" b="1" dirty="0">
              <a:solidFill>
                <a:srgbClr val="2F1BC7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5BB9153-EE77-412A-8304-CAD4567C8A17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8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9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Types of Recursion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8991600" cy="5638800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b="1" dirty="0">
                <a:solidFill>
                  <a:srgbClr val="B80000"/>
                </a:solidFill>
              </a:rPr>
              <a:t>Direct recursion</a:t>
            </a:r>
          </a:p>
          <a:p>
            <a:pPr lvl="1" eaLnBrk="1" hangingPunct="1">
              <a:buClr>
                <a:schemeClr val="tx1"/>
              </a:buClr>
            </a:pPr>
            <a:r>
              <a:rPr lang="en-US" dirty="0"/>
              <a:t>a </a:t>
            </a:r>
            <a:r>
              <a:rPr lang="en-US" b="1" dirty="0">
                <a:solidFill>
                  <a:srgbClr val="2F1BC7"/>
                </a:solidFill>
              </a:rPr>
              <a:t>function calls itself</a:t>
            </a:r>
          </a:p>
          <a:p>
            <a:pPr lvl="1" eaLnBrk="1" hangingPunct="1">
              <a:buClr>
                <a:schemeClr val="tx1"/>
              </a:buClr>
            </a:pPr>
            <a:endParaRPr lang="en-US" dirty="0"/>
          </a:p>
          <a:p>
            <a:pPr eaLnBrk="1" hangingPunct="1">
              <a:buClr>
                <a:schemeClr val="tx1"/>
              </a:buClr>
            </a:pPr>
            <a:r>
              <a:rPr lang="en-US" b="1" dirty="0">
                <a:solidFill>
                  <a:srgbClr val="B80000"/>
                </a:solidFill>
              </a:rPr>
              <a:t>Indirect recursion</a:t>
            </a:r>
          </a:p>
          <a:p>
            <a:pPr lvl="1" eaLnBrk="1" hangingPunct="1">
              <a:buClr>
                <a:schemeClr val="tx1"/>
              </a:buClr>
            </a:pPr>
            <a:r>
              <a:rPr lang="en-US" b="1" dirty="0">
                <a:solidFill>
                  <a:srgbClr val="2F1BC7"/>
                </a:solidFill>
              </a:rPr>
              <a:t>function A </a:t>
            </a:r>
            <a:r>
              <a:rPr lang="en-US" b="1" dirty="0"/>
              <a:t>calls</a:t>
            </a:r>
            <a:r>
              <a:rPr lang="en-US" dirty="0"/>
              <a:t> </a:t>
            </a:r>
            <a:r>
              <a:rPr lang="en-US" b="1" dirty="0">
                <a:solidFill>
                  <a:srgbClr val="2F1BC7"/>
                </a:solidFill>
              </a:rPr>
              <a:t>function B</a:t>
            </a:r>
            <a:r>
              <a:rPr lang="en-US" dirty="0"/>
              <a:t>, and function B </a:t>
            </a:r>
            <a:r>
              <a:rPr lang="en-US" b="1" dirty="0"/>
              <a:t>calls</a:t>
            </a:r>
            <a:r>
              <a:rPr lang="en-US" dirty="0"/>
              <a:t> </a:t>
            </a:r>
            <a:r>
              <a:rPr lang="en-US" b="1" dirty="0">
                <a:solidFill>
                  <a:srgbClr val="2F1BC7"/>
                </a:solidFill>
              </a:rPr>
              <a:t>function A</a:t>
            </a:r>
            <a:r>
              <a:rPr lang="en-US" dirty="0"/>
              <a:t>.  Or,</a:t>
            </a:r>
            <a:br>
              <a:rPr lang="en-US" dirty="0"/>
            </a:br>
            <a:endParaRPr lang="en-US" dirty="0"/>
          </a:p>
          <a:p>
            <a:pPr lvl="1" eaLnBrk="1" hangingPunct="1">
              <a:buClr>
                <a:schemeClr val="tx1"/>
              </a:buClr>
            </a:pPr>
            <a:r>
              <a:rPr lang="en-US" b="1" dirty="0">
                <a:solidFill>
                  <a:srgbClr val="2F1BC7"/>
                </a:solidFill>
              </a:rPr>
              <a:t>function A </a:t>
            </a:r>
            <a:r>
              <a:rPr lang="en-US" b="1" dirty="0"/>
              <a:t>calls</a:t>
            </a:r>
            <a:r>
              <a:rPr lang="en-US" dirty="0"/>
              <a:t> </a:t>
            </a:r>
            <a:r>
              <a:rPr lang="en-US" b="1" dirty="0">
                <a:solidFill>
                  <a:srgbClr val="2F1BC7"/>
                </a:solidFill>
              </a:rPr>
              <a:t>function B</a:t>
            </a:r>
            <a:r>
              <a:rPr lang="en-US" dirty="0"/>
              <a:t>, which calls …, which calls </a:t>
            </a:r>
            <a:r>
              <a:rPr lang="en-US" b="1" dirty="0">
                <a:solidFill>
                  <a:srgbClr val="2F1BC7"/>
                </a:solidFill>
              </a:rPr>
              <a:t>function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641AA12-9375-4858-AD99-95EE3246666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9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47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algn="r" eaLnBrk="0" hangingPunct="0">
              <a:defRPr/>
            </a:pPr>
            <a:r>
              <a:rPr lang="en-US" sz="1200" baseline="0" dirty="0">
                <a:solidFill>
                  <a:schemeClr val="bg1"/>
                </a:solidFill>
                <a:latin typeface="+mn-lt"/>
              </a:rPr>
              <a:t>Recursion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875488" y="0"/>
            <a:ext cx="8232067" cy="901066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Recursive Function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608" y="981171"/>
            <a:ext cx="6304483" cy="582969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#include &lt;</a:t>
            </a:r>
            <a:r>
              <a:rPr lang="en-US" sz="1400" b="1" dirty="0" err="1">
                <a:latin typeface="Courier New" panose="02070309020205020404" pitchFamily="49" charset="0"/>
              </a:rPr>
              <a:t>iostream</a:t>
            </a:r>
            <a:r>
              <a:rPr lang="en-US" sz="1400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using namespace </a:t>
            </a:r>
            <a:r>
              <a:rPr lang="en-US" sz="1400" b="1" dirty="0" err="1">
                <a:latin typeface="Courier New" panose="02070309020205020404" pitchFamily="49" charset="0"/>
              </a:rPr>
              <a:t>std</a:t>
            </a:r>
            <a:r>
              <a:rPr lang="en-US" sz="1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void message(</a:t>
            </a:r>
            <a:r>
              <a:rPr lang="en-US" sz="1400" b="1" dirty="0" err="1">
                <a:latin typeface="Courier New" panose="02070309020205020404" pitchFamily="49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 err="1">
                <a:latin typeface="Courier New" panose="02070309020205020404" pitchFamily="49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</a:rPr>
              <a:t> main() {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message(5);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return 0;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//************************************************************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 Definition of function message. If the value in times is  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 greater than 0, the message is displayed and the function 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 is recursively called with the argument times - 1.        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200" b="1" dirty="0">
                <a:latin typeface="Courier New" panose="02070309020205020404" pitchFamily="49" charset="0"/>
              </a:rPr>
              <a:t>//************************************************************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void message(</a:t>
            </a:r>
            <a:r>
              <a:rPr lang="en-US" sz="1400" b="1" dirty="0" err="1">
                <a:latin typeface="Courier New" panose="02070309020205020404" pitchFamily="49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</a:rPr>
              <a:t> times)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{  </a:t>
            </a:r>
            <a:r>
              <a:rPr lang="en-US" sz="1400" b="1" dirty="0" err="1">
                <a:latin typeface="Courier New" panose="02070309020205020404" pitchFamily="49" charset="0"/>
              </a:rPr>
              <a:t>cout</a:t>
            </a:r>
            <a:r>
              <a:rPr lang="en-US" sz="1400" b="1" dirty="0">
                <a:latin typeface="Courier New" panose="02070309020205020404" pitchFamily="49" charset="0"/>
              </a:rPr>
              <a:t> &lt;&lt; "message called with " &lt;&lt; times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      &lt;&lt; " in times.\n";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if (times &gt; 0)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   </a:t>
            </a:r>
            <a:r>
              <a:rPr lang="en-US" sz="1400" b="1" dirty="0" err="1">
                <a:latin typeface="Courier New" panose="02070309020205020404" pitchFamily="49" charset="0"/>
              </a:rPr>
              <a:t>cout</a:t>
            </a:r>
            <a:r>
              <a:rPr lang="en-US" sz="1400" b="1" dirty="0">
                <a:latin typeface="Courier New" panose="02070309020205020404" pitchFamily="49" charset="0"/>
              </a:rPr>
              <a:t> &lt;&lt; "This is a recursive function.\n";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   message(times - 1);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</a:t>
            </a:r>
            <a:r>
              <a:rPr lang="en-US" sz="1400" b="1" dirty="0" err="1">
                <a:latin typeface="Courier New" panose="02070309020205020404" pitchFamily="49" charset="0"/>
              </a:rPr>
              <a:t>cout</a:t>
            </a:r>
            <a:r>
              <a:rPr lang="en-US" sz="1400" b="1" dirty="0">
                <a:latin typeface="Courier New" panose="02070309020205020404" pitchFamily="49" charset="0"/>
              </a:rPr>
              <a:t> &lt;&lt; "message returning with " &lt;&lt; times;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</a:t>
            </a:r>
            <a:r>
              <a:rPr lang="en-US" sz="1400" b="1" dirty="0" err="1">
                <a:latin typeface="Courier New" panose="02070309020205020404" pitchFamily="49" charset="0"/>
              </a:rPr>
              <a:t>cout</a:t>
            </a:r>
            <a:r>
              <a:rPr lang="en-US" sz="1400" b="1" dirty="0">
                <a:latin typeface="Courier New" panose="02070309020205020404" pitchFamily="49" charset="0"/>
              </a:rPr>
              <a:t> &lt;&lt; " in times.\n";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   return;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7414" name="AutoShape 4"/>
          <p:cNvSpPr>
            <a:spLocks noChangeArrowheads="1"/>
          </p:cNvSpPr>
          <p:nvPr/>
        </p:nvSpPr>
        <p:spPr bwMode="auto">
          <a:xfrm>
            <a:off x="5638800" y="3153264"/>
            <a:ext cx="3429000" cy="3657600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5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4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3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2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1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This is a recursive function.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called with 0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0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1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2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3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4 in times.</a:t>
            </a:r>
          </a:p>
          <a:p>
            <a:pPr eaLnBrk="1" hangingPunct="1"/>
            <a:r>
              <a:rPr lang="en-US" sz="1800" b="1" dirty="0">
                <a:latin typeface="Courier New" panose="02070309020205020404" pitchFamily="49" charset="0"/>
              </a:rPr>
              <a:t>message returning with 5 </a:t>
            </a:r>
            <a:r>
              <a:rPr lang="en-US" sz="2000" b="1" dirty="0">
                <a:latin typeface="Courier New" panose="02070309020205020404" pitchFamily="49" charset="0"/>
              </a:rPr>
              <a:t>in</a:t>
            </a:r>
            <a:r>
              <a:rPr lang="en-US" sz="1800" b="1" dirty="0">
                <a:latin typeface="Courier New" panose="02070309020205020404" pitchFamily="49" charset="0"/>
              </a:rPr>
              <a:t> times.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6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193155" cy="97313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B80000"/>
                </a:solidFill>
              </a:rPr>
              <a:t>Recursion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16646"/>
            <a:ext cx="7772400" cy="4114800"/>
          </a:xfrm>
        </p:spPr>
        <p:txBody>
          <a:bodyPr/>
          <a:lstStyle/>
          <a:p>
            <a:pPr marL="914400" lvl="1" indent="-457200">
              <a:buFontTx/>
              <a:buNone/>
            </a:pPr>
            <a:r>
              <a:rPr lang="en-US" sz="3200" b="1" dirty="0">
                <a:solidFill>
                  <a:srgbClr val="C00000"/>
                </a:solidFill>
              </a:rPr>
              <a:t>To build </a:t>
            </a:r>
            <a:r>
              <a:rPr lang="en-US" sz="3200" b="1" i="1" dirty="0">
                <a:solidFill>
                  <a:srgbClr val="C00000"/>
                </a:solidFill>
              </a:rPr>
              <a:t>all</a:t>
            </a:r>
            <a:r>
              <a:rPr lang="en-US" sz="3200" b="1" dirty="0">
                <a:solidFill>
                  <a:srgbClr val="C00000"/>
                </a:solidFill>
              </a:rPr>
              <a:t> recursive functions:</a:t>
            </a:r>
          </a:p>
          <a:p>
            <a:pPr marL="914400" lvl="1" indent="-457200">
              <a:buFontTx/>
              <a:buNone/>
            </a:pPr>
            <a:endParaRPr lang="en-US" sz="2400" b="1" dirty="0"/>
          </a:p>
          <a:p>
            <a:pPr marL="914400" lvl="1" indent="-457200">
              <a:buFontTx/>
              <a:buAutoNum type="arabicPeriod"/>
            </a:pPr>
            <a:r>
              <a:rPr lang="en-US" b="1" dirty="0">
                <a:solidFill>
                  <a:srgbClr val="2C14DE"/>
                </a:solidFill>
              </a:rPr>
              <a:t>Define </a:t>
            </a:r>
            <a:r>
              <a:rPr lang="en-US" b="1" dirty="0"/>
              <a:t>the </a:t>
            </a:r>
            <a:r>
              <a:rPr lang="en-US" b="1" dirty="0">
                <a:solidFill>
                  <a:srgbClr val="2C14DE"/>
                </a:solidFill>
              </a:rPr>
              <a:t>base case(s)</a:t>
            </a:r>
          </a:p>
          <a:p>
            <a:pPr marL="914400" lvl="1" indent="-457200">
              <a:buFontTx/>
              <a:buAutoNum type="arabicPeriod"/>
            </a:pPr>
            <a:r>
              <a:rPr lang="en-US" b="1" dirty="0">
                <a:solidFill>
                  <a:srgbClr val="2C14DE"/>
                </a:solidFill>
              </a:rPr>
              <a:t>Define</a:t>
            </a:r>
            <a:r>
              <a:rPr lang="en-US" b="1" dirty="0"/>
              <a:t> the </a:t>
            </a:r>
            <a:r>
              <a:rPr lang="en-US" b="1" dirty="0">
                <a:solidFill>
                  <a:srgbClr val="2C14DE"/>
                </a:solidFill>
              </a:rPr>
              <a:t>recursive case(s)</a:t>
            </a:r>
          </a:p>
          <a:p>
            <a:pPr marL="1295400" lvl="2" indent="-381000">
              <a:buFontTx/>
              <a:buAutoNum type="alphaLcParenR"/>
            </a:pPr>
            <a:r>
              <a:rPr lang="en-US" sz="2800" b="1" dirty="0">
                <a:solidFill>
                  <a:srgbClr val="2C14DE"/>
                </a:solidFill>
              </a:rPr>
              <a:t>Divide</a:t>
            </a:r>
            <a:r>
              <a:rPr lang="en-US" sz="2800" b="1" dirty="0"/>
              <a:t> the </a:t>
            </a:r>
            <a:r>
              <a:rPr lang="en-US" sz="2800" b="1" dirty="0">
                <a:solidFill>
                  <a:srgbClr val="2C14DE"/>
                </a:solidFill>
              </a:rPr>
              <a:t>problem</a:t>
            </a:r>
            <a:r>
              <a:rPr lang="en-US" sz="2800" b="1" dirty="0"/>
              <a:t> into </a:t>
            </a:r>
            <a:r>
              <a:rPr lang="en-US" sz="2800" b="1" dirty="0">
                <a:solidFill>
                  <a:srgbClr val="2C14DE"/>
                </a:solidFill>
              </a:rPr>
              <a:t>smaller sub-problems</a:t>
            </a:r>
          </a:p>
          <a:p>
            <a:pPr marL="1295400" lvl="2" indent="-381000">
              <a:buFontTx/>
              <a:buAutoNum type="alphaLcParenR"/>
            </a:pPr>
            <a:r>
              <a:rPr lang="en-US" sz="2800" b="1" dirty="0">
                <a:solidFill>
                  <a:srgbClr val="2C14DE"/>
                </a:solidFill>
              </a:rPr>
              <a:t>Solve</a:t>
            </a:r>
            <a:r>
              <a:rPr lang="en-US" sz="2800" b="1" dirty="0"/>
              <a:t> the </a:t>
            </a:r>
            <a:r>
              <a:rPr lang="en-US" sz="2800" b="1" dirty="0">
                <a:solidFill>
                  <a:srgbClr val="2C14DE"/>
                </a:solidFill>
              </a:rPr>
              <a:t>sub-problems</a:t>
            </a:r>
          </a:p>
          <a:p>
            <a:pPr marL="1295400" lvl="2" indent="-381000">
              <a:buFontTx/>
              <a:buAutoNum type="alphaLcParenR"/>
            </a:pPr>
            <a:r>
              <a:rPr lang="en-US" sz="2800" b="1" dirty="0">
                <a:solidFill>
                  <a:srgbClr val="2C14DE"/>
                </a:solidFill>
              </a:rPr>
              <a:t>Combine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2C14DE"/>
                </a:solidFill>
              </a:rPr>
              <a:t>results</a:t>
            </a:r>
            <a:r>
              <a:rPr lang="en-US" sz="2800" b="1" dirty="0"/>
              <a:t> to get answer</a:t>
            </a:r>
            <a:endParaRPr lang="ru-RU" sz="2800" b="1" dirty="0"/>
          </a:p>
        </p:txBody>
      </p:sp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5791200" y="5636647"/>
            <a:ext cx="3159125" cy="92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square" lIns="92075" tIns="46038" rIns="92075" bIns="46038">
            <a:spAutoFit/>
          </a:bodyPr>
          <a:lstStyle/>
          <a:p>
            <a:pPr marL="685800" indent="-22860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100000"/>
              <a:defRPr/>
            </a:pPr>
            <a:r>
              <a:rPr lang="en-US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Sub-problems solved as a recursive call to the same function</a:t>
            </a:r>
          </a:p>
        </p:txBody>
      </p:sp>
      <p:sp>
        <p:nvSpPr>
          <p:cNvPr id="119813" name="Line 5"/>
          <p:cNvSpPr>
            <a:spLocks noChangeShapeType="1"/>
          </p:cNvSpPr>
          <p:nvPr/>
        </p:nvSpPr>
        <p:spPr bwMode="auto">
          <a:xfrm flipH="1" flipV="1">
            <a:off x="6019800" y="4995299"/>
            <a:ext cx="1447800" cy="71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2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2" grpId="0"/>
      <p:bldP spid="1198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46785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Creating a Sum Function</a:t>
            </a:r>
            <a:endParaRPr lang="fr-FR" b="1" dirty="0">
              <a:solidFill>
                <a:srgbClr val="B80000"/>
              </a:solidFill>
            </a:endParaRPr>
          </a:p>
        </p:txBody>
      </p:sp>
      <p:sp>
        <p:nvSpPr>
          <p:cNvPr id="29699" name="Espace réservé du contenu 2"/>
          <p:cNvSpPr>
            <a:spLocks noGrp="1"/>
          </p:cNvSpPr>
          <p:nvPr>
            <p:ph idx="1"/>
          </p:nvPr>
        </p:nvSpPr>
        <p:spPr>
          <a:xfrm>
            <a:off x="76200" y="1066800"/>
            <a:ext cx="8915400" cy="5638800"/>
          </a:xfrm>
        </p:spPr>
        <p:txBody>
          <a:bodyPr/>
          <a:lstStyle/>
          <a:p>
            <a:r>
              <a:rPr lang="fr-FR" dirty="0" err="1"/>
              <a:t>sum</a:t>
            </a:r>
            <a:r>
              <a:rPr lang="fr-FR" dirty="0"/>
              <a:t>(10) = 10+9+…2+1 = 55</a:t>
            </a:r>
          </a:p>
        </p:txBody>
      </p:sp>
      <p:pic>
        <p:nvPicPr>
          <p:cNvPr id="11268" name="Picture 4" descr="https://pencilprogrammer.com/wp-content/uploads/2018/11/Recursion-in-C-mi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855" y="2209800"/>
            <a:ext cx="5943600" cy="381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1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901066"/>
          </a:xfrm>
        </p:spPr>
        <p:txBody>
          <a:bodyPr>
            <a:normAutofit fontScale="90000"/>
          </a:bodyPr>
          <a:lstStyle/>
          <a:p>
            <a:r>
              <a:rPr lang="fr-FR" b="1" dirty="0" err="1">
                <a:solidFill>
                  <a:srgbClr val="B80000"/>
                </a:solidFill>
              </a:rPr>
              <a:t>Creating</a:t>
            </a:r>
            <a:r>
              <a:rPr lang="fr-FR" b="1" dirty="0">
                <a:solidFill>
                  <a:srgbClr val="B80000"/>
                </a:solidFill>
              </a:rPr>
              <a:t> a </a:t>
            </a:r>
            <a:r>
              <a:rPr lang="fr-FR" b="1" dirty="0" err="1">
                <a:solidFill>
                  <a:srgbClr val="B80000"/>
                </a:solidFill>
              </a:rPr>
              <a:t>Sum</a:t>
            </a:r>
            <a:r>
              <a:rPr lang="fr-FR" b="1" dirty="0">
                <a:solidFill>
                  <a:srgbClr val="B80000"/>
                </a:solidFill>
              </a:rPr>
              <a:t> </a:t>
            </a:r>
            <a:r>
              <a:rPr lang="fr-FR" b="1" dirty="0" err="1">
                <a:solidFill>
                  <a:srgbClr val="B80000"/>
                </a:solidFill>
              </a:rPr>
              <a:t>function</a:t>
            </a:r>
            <a:r>
              <a:rPr lang="fr-FR" b="1" dirty="0">
                <a:solidFill>
                  <a:srgbClr val="B80000"/>
                </a:solidFill>
              </a:rPr>
              <a:t> (</a:t>
            </a:r>
            <a:r>
              <a:rPr lang="fr-FR" b="1" dirty="0" err="1">
                <a:solidFill>
                  <a:srgbClr val="B80000"/>
                </a:solidFill>
              </a:rPr>
              <a:t>Iterative</a:t>
            </a:r>
            <a:r>
              <a:rPr lang="fr-FR" b="1" dirty="0">
                <a:solidFill>
                  <a:srgbClr val="B80000"/>
                </a:solidFill>
              </a:rPr>
              <a:t>)</a:t>
            </a:r>
          </a:p>
        </p:txBody>
      </p:sp>
      <p:sp>
        <p:nvSpPr>
          <p:cNvPr id="30723" name="Espace réservé du contenu 2"/>
          <p:cNvSpPr>
            <a:spLocks noGrp="1"/>
          </p:cNvSpPr>
          <p:nvPr>
            <p:ph idx="1"/>
          </p:nvPr>
        </p:nvSpPr>
        <p:spPr>
          <a:xfrm>
            <a:off x="228600" y="1143000"/>
            <a:ext cx="8915400" cy="5638800"/>
          </a:xfrm>
        </p:spPr>
        <p:txBody>
          <a:bodyPr>
            <a:noAutofit/>
          </a:bodyPr>
          <a:lstStyle/>
          <a:p>
            <a:pPr marL="0" indent="0">
              <a:buFontTx/>
              <a:buNone/>
            </a:pPr>
            <a:r>
              <a:rPr lang="en-US" sz="21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//Our initial total is zero</a:t>
            </a:r>
          </a:p>
          <a:p>
            <a:pPr marL="0" indent="0">
              <a:buFontTx/>
              <a:buNone/>
            </a:pPr>
            <a:r>
              <a:rPr lang="fr-FR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total = 0;</a:t>
            </a:r>
          </a:p>
          <a:p>
            <a:pPr marL="0" indent="0">
              <a:buFontTx/>
              <a:buNone/>
            </a:pPr>
            <a:endParaRPr lang="fr-FR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endParaRPr lang="fr-FR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1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//We want the sum from 1 + 2 + ... + 9 + 10</a:t>
            </a:r>
          </a:p>
          <a:p>
            <a:pPr marL="0" indent="0">
              <a:buFontTx/>
              <a:buNone/>
            </a:pPr>
            <a:r>
              <a:rPr lang="da-DK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n = 10;</a:t>
            </a:r>
          </a:p>
          <a:p>
            <a:pPr marL="0" indent="0">
              <a:buFontTx/>
              <a:buNone/>
            </a:pPr>
            <a:endParaRPr lang="fr-FR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endParaRPr lang="fr-FR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1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The following for loop will calculate the summation from 1 – n */</a:t>
            </a:r>
          </a:p>
          <a:p>
            <a:pPr marL="0" indent="0">
              <a:buFontTx/>
              <a:buNone/>
            </a:pPr>
            <a:r>
              <a:rPr lang="da-DK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 int i = 1; i &lt;= n; i++ ) {</a:t>
            </a:r>
          </a:p>
          <a:p>
            <a:pPr marL="0" indent="0">
              <a:buFontTx/>
              <a:buNone/>
            </a:pPr>
            <a:r>
              <a:rPr lang="cs-CZ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total = total + i;</a:t>
            </a:r>
          </a:p>
          <a:p>
            <a:pPr marL="0" indent="0">
              <a:buFontTx/>
              <a:buNone/>
            </a:pPr>
            <a:r>
              <a:rPr lang="fr-FR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901066"/>
          </a:xfrm>
        </p:spPr>
        <p:txBody>
          <a:bodyPr>
            <a:normAutofit fontScale="90000"/>
          </a:bodyPr>
          <a:lstStyle/>
          <a:p>
            <a:r>
              <a:rPr lang="fr-FR" b="1" dirty="0" err="1">
                <a:solidFill>
                  <a:srgbClr val="B80000"/>
                </a:solidFill>
              </a:rPr>
              <a:t>Creating</a:t>
            </a:r>
            <a:r>
              <a:rPr lang="fr-FR" b="1" dirty="0">
                <a:solidFill>
                  <a:srgbClr val="B80000"/>
                </a:solidFill>
              </a:rPr>
              <a:t> a </a:t>
            </a:r>
            <a:r>
              <a:rPr lang="fr-FR" b="1" dirty="0" err="1">
                <a:solidFill>
                  <a:srgbClr val="B80000"/>
                </a:solidFill>
              </a:rPr>
              <a:t>Sum</a:t>
            </a:r>
            <a:r>
              <a:rPr lang="fr-FR" b="1" dirty="0">
                <a:solidFill>
                  <a:srgbClr val="B80000"/>
                </a:solidFill>
              </a:rPr>
              <a:t> </a:t>
            </a:r>
            <a:r>
              <a:rPr lang="fr-FR" b="1" dirty="0" err="1">
                <a:solidFill>
                  <a:srgbClr val="B80000"/>
                </a:solidFill>
              </a:rPr>
              <a:t>function</a:t>
            </a:r>
            <a:r>
              <a:rPr lang="fr-FR" b="1" dirty="0">
                <a:solidFill>
                  <a:srgbClr val="B80000"/>
                </a:solidFill>
              </a:rPr>
              <a:t> (</a:t>
            </a:r>
            <a:r>
              <a:rPr lang="fr-FR" b="1" dirty="0" err="1">
                <a:solidFill>
                  <a:srgbClr val="B80000"/>
                </a:solidFill>
              </a:rPr>
              <a:t>Recursive</a:t>
            </a:r>
            <a:r>
              <a:rPr lang="fr-FR" b="1" dirty="0">
                <a:solidFill>
                  <a:srgbClr val="B80000"/>
                </a:solidFill>
              </a:rPr>
              <a:t>)</a:t>
            </a:r>
          </a:p>
        </p:txBody>
      </p:sp>
      <p:sp>
        <p:nvSpPr>
          <p:cNvPr id="32771" name="Espace réservé du contenu 2"/>
          <p:cNvSpPr>
            <a:spLocks noGrp="1"/>
          </p:cNvSpPr>
          <p:nvPr>
            <p:ph idx="1"/>
          </p:nvPr>
        </p:nvSpPr>
        <p:spPr>
          <a:xfrm>
            <a:off x="152400" y="1143000"/>
            <a:ext cx="7696200" cy="2971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  <a:b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fr-F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//Return 0 when n is 0</a:t>
            </a:r>
          </a:p>
          <a:p>
            <a:pPr marL="0" indent="0">
              <a:buFontTx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if ( n &lt;= 0 ) </a:t>
            </a:r>
          </a:p>
          <a:p>
            <a:pPr marL="0" indent="0">
              <a:buFontTx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0;</a:t>
            </a:r>
          </a:p>
          <a:p>
            <a:pPr marL="0" indent="0">
              <a:buFontTx/>
              <a:buNone/>
            </a:pPr>
            <a:r>
              <a:rPr lang="hu-H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else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//recursive call</a:t>
            </a:r>
            <a:endParaRPr lang="hu-HU" sz="20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	return n + sum(n-1);</a:t>
            </a:r>
            <a:endParaRPr lang="fr-F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5" y="9010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62" name="Picture 2" descr="https://martintrojer.github.io/assets/images/tailcalls/recur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038600"/>
            <a:ext cx="4459701" cy="264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16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44881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The Recursive Factorial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641AA12-9375-4858-AD99-95EE3246666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15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2400" y="1113148"/>
            <a:ext cx="88392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ct val="0"/>
              </a:spcBef>
              <a:buClr>
                <a:schemeClr val="tx1"/>
              </a:buClr>
            </a:pPr>
            <a:r>
              <a:rPr lang="en-US" sz="2800" dirty="0"/>
              <a:t> The </a:t>
            </a:r>
            <a:r>
              <a:rPr lang="en-US" sz="2800" b="1" dirty="0">
                <a:solidFill>
                  <a:srgbClr val="B80000"/>
                </a:solidFill>
              </a:rPr>
              <a:t>factorial</a:t>
            </a:r>
            <a:r>
              <a:rPr lang="en-US" sz="2800" dirty="0">
                <a:solidFill>
                  <a:srgbClr val="B80000"/>
                </a:solidFill>
              </a:rPr>
              <a:t> </a:t>
            </a:r>
            <a:r>
              <a:rPr lang="en-US" sz="2800" dirty="0"/>
              <a:t>of a </a:t>
            </a:r>
            <a:r>
              <a:rPr lang="en-US" sz="2800" b="1" dirty="0">
                <a:solidFill>
                  <a:srgbClr val="2F1BC7"/>
                </a:solidFill>
              </a:rPr>
              <a:t>non-negative</a:t>
            </a:r>
            <a:r>
              <a:rPr lang="en-US" sz="2800" dirty="0"/>
              <a:t> integer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is the </a:t>
            </a:r>
            <a:r>
              <a:rPr lang="en-US" sz="2800" b="1" i="1" dirty="0">
                <a:solidFill>
                  <a:srgbClr val="008000"/>
                </a:solidFill>
              </a:rPr>
              <a:t>product of all positive integers</a:t>
            </a:r>
            <a:r>
              <a:rPr lang="en-US" sz="2800" b="1" dirty="0"/>
              <a:t> </a:t>
            </a:r>
            <a:r>
              <a:rPr lang="en-US" sz="2800" dirty="0"/>
              <a:t>less or equal to </a:t>
            </a:r>
            <a:r>
              <a:rPr lang="en-US" b="1" i="1" dirty="0">
                <a:solidFill>
                  <a:srgbClr val="2C14DE"/>
                </a:solidFill>
                <a:latin typeface="Times New Roman" panose="02020603050405020304" pitchFamily="18" charset="0"/>
              </a:rPr>
              <a:t>n</a:t>
            </a:r>
          </a:p>
          <a:p>
            <a:pPr marL="0" indent="0" algn="just">
              <a:spcBef>
                <a:spcPct val="0"/>
              </a:spcBef>
              <a:buClr>
                <a:schemeClr val="tx1"/>
              </a:buClr>
            </a:pPr>
            <a:endParaRPr lang="en-US" b="1" i="1" dirty="0">
              <a:latin typeface="Times New Roman" panose="02020603050405020304" pitchFamily="18" charset="0"/>
            </a:endParaRPr>
          </a:p>
          <a:p>
            <a:pPr marL="0" indent="0">
              <a:buClr>
                <a:schemeClr val="tx1"/>
              </a:buClr>
            </a:pPr>
            <a:r>
              <a:rPr lang="en-US" sz="2800" dirty="0"/>
              <a:t> Factorial of </a:t>
            </a:r>
            <a:r>
              <a:rPr lang="en-US" b="1" i="1" dirty="0">
                <a:solidFill>
                  <a:srgbClr val="2C14DE"/>
                </a:solidFill>
                <a:latin typeface="Times New Roman" panose="02020603050405020304" pitchFamily="18" charset="0"/>
              </a:rPr>
              <a:t>n</a:t>
            </a:r>
            <a:r>
              <a:rPr lang="en-US" sz="2800" dirty="0"/>
              <a:t> is denoted by </a:t>
            </a:r>
            <a:r>
              <a:rPr lang="en-US" b="1" i="1" dirty="0">
                <a:solidFill>
                  <a:srgbClr val="2C14DE"/>
                </a:solidFill>
                <a:latin typeface="Times New Roman" panose="02020603050405020304" pitchFamily="18" charset="0"/>
              </a:rPr>
              <a:t>n</a:t>
            </a:r>
            <a:r>
              <a:rPr lang="en-US" b="1" dirty="0">
                <a:solidFill>
                  <a:srgbClr val="2C14DE"/>
                </a:solidFill>
                <a:latin typeface="Times New Roman" panose="02020603050405020304" pitchFamily="18" charset="0"/>
              </a:rPr>
              <a:t>!</a:t>
            </a:r>
          </a:p>
          <a:p>
            <a:pPr marL="0" indent="0">
              <a:buClr>
                <a:schemeClr val="tx1"/>
              </a:buClr>
            </a:pPr>
            <a:endParaRPr lang="en-US" b="1" dirty="0">
              <a:latin typeface="Times New Roman" panose="02020603050405020304" pitchFamily="18" charset="0"/>
            </a:endParaRPr>
          </a:p>
          <a:p>
            <a:pPr marL="0" indent="0">
              <a:buClr>
                <a:schemeClr val="tx1"/>
              </a:buClr>
            </a:pPr>
            <a:r>
              <a:rPr lang="en-US" sz="2800" dirty="0"/>
              <a:t> The factorial of </a:t>
            </a:r>
            <a:r>
              <a:rPr lang="en-US" sz="2800" b="1" dirty="0">
                <a:solidFill>
                  <a:srgbClr val="2C14DE"/>
                </a:solidFill>
              </a:rPr>
              <a:t>0</a:t>
            </a:r>
            <a:r>
              <a:rPr lang="en-US" sz="2800" dirty="0"/>
              <a:t> is= </a:t>
            </a:r>
            <a:r>
              <a:rPr lang="en-US" sz="2800" b="1" dirty="0">
                <a:solidFill>
                  <a:srgbClr val="2C14DE"/>
                </a:solidFill>
              </a:rPr>
              <a:t>1</a:t>
            </a:r>
            <a:endParaRPr lang="en-US" sz="2800" b="1" dirty="0"/>
          </a:p>
          <a:p>
            <a:pPr marL="0" indent="0">
              <a:buFontTx/>
              <a:buNone/>
            </a:pPr>
            <a:r>
              <a:rPr lang="en-US" sz="2800" dirty="0">
                <a:solidFill>
                  <a:srgbClr val="2F1BC7"/>
                </a:solidFill>
              </a:rPr>
              <a:t>          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0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!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</a:rPr>
              <a:t>=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sz="2800" b="1" dirty="0">
                <a:solidFill>
                  <a:srgbClr val="2F1BC7"/>
                </a:solidFill>
              </a:rPr>
              <a:t>          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!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</a:rPr>
              <a:t>=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sz="2800" dirty="0">
                <a:solidFill>
                  <a:srgbClr val="2F1BC7"/>
                </a:solidFill>
              </a:rPr>
              <a:t>x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 (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n-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1) </a:t>
            </a:r>
            <a:r>
              <a:rPr lang="en-US" sz="2800" dirty="0"/>
              <a:t>x</a:t>
            </a:r>
            <a:r>
              <a:rPr lang="en-US" b="1" dirty="0">
                <a:latin typeface="Times New Roman" panose="02020603050405020304" pitchFamily="18" charset="0"/>
              </a:rPr>
              <a:t>  … </a:t>
            </a:r>
            <a:r>
              <a:rPr lang="en-US" sz="2800" dirty="0"/>
              <a:t>x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2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sz="2800" dirty="0"/>
              <a:t>x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</a:t>
            </a:r>
            <a:r>
              <a:rPr lang="en-US" b="1" dirty="0">
                <a:latin typeface="Times New Roman" panose="02020603050405020304" pitchFamily="18" charset="0"/>
              </a:rPr>
              <a:t>  </a:t>
            </a:r>
            <a:r>
              <a:rPr lang="en-US" sz="2800" dirty="0"/>
              <a:t>if 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</a:rPr>
              <a:t> &gt; 0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90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-1"/>
            <a:ext cx="8153400" cy="944881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The Recursive Factorial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641AA12-9375-4858-AD99-95EE3246666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16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105744" y="1123988"/>
            <a:ext cx="8991600" cy="5734011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b="1" dirty="0"/>
              <a:t>Factorial</a:t>
            </a:r>
            <a:r>
              <a:rPr lang="en-US" dirty="0"/>
              <a:t> of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</a:t>
            </a:r>
            <a:r>
              <a:rPr lang="en-US" dirty="0"/>
              <a:t> </a:t>
            </a:r>
            <a:r>
              <a:rPr lang="en-US" b="1" dirty="0"/>
              <a:t>can be expressed </a:t>
            </a:r>
            <a:r>
              <a:rPr lang="en-US" dirty="0"/>
              <a:t>in terms of the </a:t>
            </a:r>
            <a:r>
              <a:rPr lang="en-US" b="1" dirty="0"/>
              <a:t>factorial of </a:t>
            </a:r>
            <a:r>
              <a:rPr lang="en-US" b="1" i="1" dirty="0">
                <a:latin typeface="Times New Roman" panose="02020603050405020304" pitchFamily="18" charset="0"/>
              </a:rPr>
              <a:t>n-</a:t>
            </a:r>
            <a:r>
              <a:rPr lang="en-US" b="1" dirty="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Times New Roman" panose="02020603050405020304" pitchFamily="18" charset="0"/>
              </a:rPr>
              <a:t>         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0</a:t>
            </a:r>
            <a:r>
              <a:rPr lang="en-US" b="1" dirty="0">
                <a:latin typeface="Times New Roman" panose="02020603050405020304" pitchFamily="18" charset="0"/>
              </a:rPr>
              <a:t> ! </a:t>
            </a:r>
            <a:r>
              <a:rPr lang="en-US" dirty="0">
                <a:latin typeface="Times New Roman" panose="02020603050405020304" pitchFamily="18" charset="0"/>
              </a:rPr>
              <a:t>=</a:t>
            </a: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/>
              <a:t>        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dirty="0">
                <a:solidFill>
                  <a:srgbClr val="2F1BC7"/>
                </a:solidFill>
              </a:rPr>
              <a:t>!</a:t>
            </a:r>
            <a:r>
              <a:rPr lang="en-US" dirty="0"/>
              <a:t> =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2F1BC7"/>
                </a:solidFill>
              </a:rPr>
              <a:t> x 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(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n-</a:t>
            </a:r>
            <a:r>
              <a:rPr lang="en-US" b="1" dirty="0">
                <a:solidFill>
                  <a:srgbClr val="2F1BC7"/>
                </a:solidFill>
                <a:latin typeface="Times New Roman" panose="02020603050405020304" pitchFamily="18" charset="0"/>
              </a:rPr>
              <a:t>1)</a:t>
            </a:r>
            <a:r>
              <a:rPr lang="en-US" dirty="0">
                <a:solidFill>
                  <a:srgbClr val="2F1BC7"/>
                </a:solidFill>
              </a:rPr>
              <a:t> !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The </a:t>
            </a:r>
            <a:r>
              <a:rPr lang="en-US" b="1" u="sng" dirty="0"/>
              <a:t>base case </a:t>
            </a:r>
            <a:r>
              <a:rPr lang="en-US" dirty="0"/>
              <a:t>is</a:t>
            </a:r>
            <a:r>
              <a:rPr lang="en-US" b="1" i="1" dirty="0">
                <a:latin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n </a:t>
            </a:r>
            <a:r>
              <a:rPr lang="en-US" b="1" i="1" dirty="0">
                <a:latin typeface="Times New Roman" panose="02020603050405020304" pitchFamily="18" charset="0"/>
              </a:rPr>
              <a:t>=</a:t>
            </a:r>
            <a:r>
              <a:rPr lang="en-US" b="1" i="1" dirty="0">
                <a:solidFill>
                  <a:srgbClr val="2F1BC7"/>
                </a:solidFill>
                <a:latin typeface="Times New Roman" panose="02020603050405020304" pitchFamily="18" charset="0"/>
              </a:rPr>
              <a:t> 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b="1" i="1" dirty="0">
              <a:solidFill>
                <a:srgbClr val="2F1BC7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b="1" i="1" dirty="0">
              <a:solidFill>
                <a:srgbClr val="2F1BC7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b="1" u="sng" dirty="0">
                <a:solidFill>
                  <a:srgbClr val="B80000"/>
                </a:solidFill>
              </a:rPr>
              <a:t>Recursive function:</a:t>
            </a:r>
            <a:br>
              <a:rPr lang="en-US" dirty="0"/>
            </a:br>
            <a:endParaRPr lang="en-US" dirty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olidFill>
                  <a:srgbClr val="008000"/>
                </a:solidFill>
              </a:rPr>
              <a:t>    </a:t>
            </a:r>
            <a:r>
              <a:rPr lang="en-US" b="1" dirty="0" err="1">
                <a:latin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</a:rPr>
              <a:t> factorial(</a:t>
            </a:r>
            <a:r>
              <a:rPr lang="en-US" b="1" dirty="0" err="1">
                <a:latin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</a:rPr>
              <a:t> n)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{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		if (n == 0)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			return 1;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  else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      return n * factorial(n-1);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9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Character count - Recursive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7641AA12-9375-4858-AD99-95EE3246666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17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6200" y="1066800"/>
            <a:ext cx="6553200" cy="5257800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#include &lt;</a:t>
            </a:r>
            <a:r>
              <a:rPr lang="en-US" sz="1800" b="1" dirty="0" err="1">
                <a:latin typeface="Courier New" panose="02070309020205020404" pitchFamily="49" charset="0"/>
              </a:rPr>
              <a:t>iostream</a:t>
            </a:r>
            <a:r>
              <a:rPr lang="en-US" sz="1800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using namespace </a:t>
            </a:r>
            <a:r>
              <a:rPr lang="en-US" sz="1800" b="1" dirty="0" err="1">
                <a:latin typeface="Courier New" panose="02070309020205020404" pitchFamily="49" charset="0"/>
              </a:rPr>
              <a:t>std</a:t>
            </a:r>
            <a:r>
              <a:rPr lang="en-US" sz="18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// Function prototype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</a:rPr>
              <a:t>numChars</a:t>
            </a:r>
            <a:r>
              <a:rPr lang="en-US" sz="1800" b="1" dirty="0">
                <a:latin typeface="Courier New" panose="02070309020205020404" pitchFamily="49" charset="0"/>
              </a:rPr>
              <a:t>(char, char [], </a:t>
            </a:r>
            <a:r>
              <a:rPr 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</a:rPr>
              <a:t> main()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char array[] = "</a:t>
            </a:r>
            <a:r>
              <a:rPr lang="en-US" sz="1800" b="1" dirty="0" err="1">
                <a:latin typeface="Courier New" panose="02070309020205020404" pitchFamily="49" charset="0"/>
              </a:rPr>
              <a:t>abcddddef</a:t>
            </a:r>
            <a:r>
              <a:rPr lang="en-US" sz="1800" b="1" dirty="0">
                <a:latin typeface="Courier New" panose="02070309020205020404" pitchFamily="49" charset="0"/>
              </a:rPr>
              <a:t>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/* Display the number of times the letter 'd' appears in the string. */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</a:t>
            </a:r>
            <a:r>
              <a:rPr lang="en-US" sz="1800" b="1" dirty="0" err="1">
                <a:latin typeface="Courier New" panose="02070309020205020404" pitchFamily="49" charset="0"/>
              </a:rPr>
              <a:t>cout</a:t>
            </a:r>
            <a:r>
              <a:rPr lang="en-US" sz="1800" b="1" dirty="0">
                <a:latin typeface="Courier New" panose="02070309020205020404" pitchFamily="49" charset="0"/>
              </a:rPr>
              <a:t> &lt;&lt; "The letter d appears "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&lt;&lt;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numChars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('d', array, 0)</a:t>
            </a:r>
            <a:r>
              <a:rPr lang="en-US" sz="1800" b="1" dirty="0">
                <a:latin typeface="Courier New" panose="02070309020205020404" pitchFamily="49" charset="0"/>
              </a:rPr>
              <a:t> &lt;&lt; " times.\n";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   return 0;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urier New" panose="02070309020205020404" pitchFamily="49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56133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06B13-9764-4B6D-96FF-A658BC679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A7F0C-1C1F-485E-873E-1C91A6DED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680796-7EAF-4C7C-9368-EC927E34C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22" y="520479"/>
            <a:ext cx="8497956" cy="6271260"/>
          </a:xfrm>
          <a:prstGeom prst="rect">
            <a:avLst/>
          </a:prstGeom>
          <a:solidFill>
            <a:srgbClr val="D5EAFF"/>
          </a:solidFill>
          <a:ln>
            <a:noFill/>
          </a:ln>
        </p:spPr>
        <p:txBody>
          <a:bodyPr/>
          <a:lstStyle>
            <a:lvl1pPr marL="342900" indent="-3429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1600" b="1" dirty="0">
                <a:latin typeface="Courier New" panose="02070309020205020404" pitchFamily="49" charset="0"/>
              </a:rPr>
              <a:t>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sz="2800" b="1" dirty="0">
                <a:latin typeface="Courier New" panose="02070309020205020404" pitchFamily="49" charset="0"/>
              </a:rPr>
              <a:t> </a:t>
            </a:r>
            <a:r>
              <a:rPr lang="en-US" sz="2800" b="1" dirty="0" err="1">
                <a:latin typeface="Courier New" panose="02070309020205020404" pitchFamily="49" charset="0"/>
              </a:rPr>
              <a:t>numChars</a:t>
            </a:r>
            <a:r>
              <a:rPr lang="en-US" sz="2800" b="1" dirty="0">
                <a:latin typeface="Courier New" panose="02070309020205020404" pitchFamily="49" charset="0"/>
              </a:rPr>
              <a:t>(char search, char </a:t>
            </a:r>
            <a:r>
              <a:rPr lang="en-US" sz="2800" b="1" dirty="0" err="1"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</a:rPr>
              <a:t>[], </a:t>
            </a:r>
            <a:r>
              <a:rPr lang="en-US" sz="2800" b="1" dirty="0" err="1">
                <a:latin typeface="Courier New" panose="02070309020205020404" pitchFamily="49" charset="0"/>
              </a:rPr>
              <a:t>int</a:t>
            </a:r>
            <a:r>
              <a:rPr lang="en-US" sz="2800" b="1" dirty="0">
                <a:latin typeface="Courier New" panose="02070309020205020404" pitchFamily="49" charset="0"/>
              </a:rPr>
              <a:t> subscript)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{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if (</a:t>
            </a:r>
            <a:r>
              <a:rPr lang="en-US" sz="2800" b="1" dirty="0" err="1"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</a:rPr>
              <a:t>[subscript] == '\0')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 // Base case: The end of the string is reached.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    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return 0;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else if (</a:t>
            </a:r>
            <a:r>
              <a:rPr lang="en-US" sz="2800" b="1" dirty="0" err="1"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latin typeface="Courier New" panose="02070309020205020404" pitchFamily="49" charset="0"/>
              </a:rPr>
              <a:t>[subscript] == search)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/* Recursive case: A matching character was found.       Return 1 plus the number of times the search character appears in the rest of the string.*/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   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return 1 + </a:t>
            </a:r>
            <a:r>
              <a:rPr lang="en-US" sz="28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numChars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(search, str,subscript+1);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else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  /* Recursive case: A character that does not match the    search character was found. Return the number of times the search character appears in the rest of the string.   */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       return 0+ </a:t>
            </a:r>
            <a:r>
              <a:rPr lang="en-US" sz="28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numChars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(search, </a:t>
            </a:r>
            <a:r>
              <a:rPr lang="en-US" sz="28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str</a:t>
            </a:r>
            <a:r>
              <a:rPr lang="en-US" sz="2800" b="1" dirty="0">
                <a:solidFill>
                  <a:srgbClr val="B80000"/>
                </a:solidFill>
                <a:latin typeface="Courier New" panose="02070309020205020404" pitchFamily="49" charset="0"/>
              </a:rPr>
              <a:t>, subscript+1);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sz="105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sz="10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sz="10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sz="10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69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re 1"/>
          <p:cNvSpPr>
            <a:spLocks noGrp="1"/>
          </p:cNvSpPr>
          <p:nvPr>
            <p:ph type="title"/>
          </p:nvPr>
        </p:nvSpPr>
        <p:spPr>
          <a:xfrm>
            <a:off x="762000" y="0"/>
            <a:ext cx="8345556" cy="94488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B80000"/>
                </a:solidFill>
              </a:rPr>
              <a:t>Printing a Sequence of Numbers in Reverse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5562600"/>
          </a:xfrm>
        </p:spPr>
        <p:txBody>
          <a:bodyPr/>
          <a:lstStyle/>
          <a:p>
            <a:pPr>
              <a:defRPr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fi-FI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print(int n) {</a:t>
            </a:r>
          </a:p>
          <a:p>
            <a:pPr marL="0" indent="0">
              <a:buFontTx/>
              <a:buNone/>
              <a:defRPr/>
            </a:pPr>
            <a:endParaRPr lang="fi-FI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 n &lt;= 0 ) </a:t>
            </a: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return;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//Base condition</a:t>
            </a:r>
          </a:p>
          <a:p>
            <a:pPr marL="0" indent="0">
              <a:buFontTx/>
              <a:buNone/>
              <a:defRPr/>
            </a:pPr>
            <a:endParaRPr lang="fr-F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 &lt;&lt; " ";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//Prints number n</a:t>
            </a:r>
            <a:endParaRPr lang="fr-FR" sz="20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print(n-1);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//Calls itself with (n-1)</a:t>
            </a:r>
            <a:endParaRPr lang="fr-FR" sz="2000" b="1" dirty="0">
              <a:solidFill>
                <a:srgbClr val="2C14D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return;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//Returns from the function</a:t>
            </a:r>
          </a:p>
          <a:p>
            <a:pPr marL="0" indent="0">
              <a:buFontTx/>
              <a:buNone/>
              <a:defRPr/>
            </a:pP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  <a:defRPr/>
            </a:pPr>
            <a:endParaRPr lang="fr-FR" sz="1800" i="1" dirty="0"/>
          </a:p>
          <a:p>
            <a:pPr marL="0" indent="0">
              <a:buFontTx/>
              <a:buNone/>
              <a:defRPr/>
            </a:pPr>
            <a:r>
              <a:rPr lang="en-US" sz="2400" b="1" dirty="0"/>
              <a:t>print(3) produces </a:t>
            </a: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b="1" dirty="0"/>
              <a:t> 3  2  1</a:t>
            </a:r>
            <a:endParaRPr lang="en-US" sz="2400" b="1" i="1" dirty="0"/>
          </a:p>
          <a:p>
            <a:pPr marL="0" indent="0">
              <a:buFontTx/>
              <a:buNone/>
              <a:defRPr/>
            </a:pPr>
            <a:endParaRPr lang="fr-FR" sz="1800" i="1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2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re 1"/>
          <p:cNvSpPr>
            <a:spLocks noGrp="1"/>
          </p:cNvSpPr>
          <p:nvPr>
            <p:ph type="title"/>
          </p:nvPr>
        </p:nvSpPr>
        <p:spPr>
          <a:xfrm>
            <a:off x="1295400" y="1524000"/>
            <a:ext cx="6761922" cy="94488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B80000"/>
                </a:solidFill>
              </a:rPr>
              <a:t>Printing a Sequence of Numbers in Ascending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95400" y="3962400"/>
            <a:ext cx="5943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2C14DE"/>
                </a:solidFill>
              </a:rPr>
              <a:t>Example: </a:t>
            </a:r>
          </a:p>
          <a:p>
            <a:r>
              <a:rPr lang="en-US" sz="2000" b="1" dirty="0"/>
              <a:t>Input Number: 5</a:t>
            </a:r>
          </a:p>
          <a:p>
            <a:r>
              <a:rPr lang="en-US" sz="2000" b="1" dirty="0"/>
              <a:t>Output: 1 2 3 4 5</a:t>
            </a:r>
          </a:p>
        </p:txBody>
      </p:sp>
    </p:spTree>
    <p:extLst>
      <p:ext uri="{BB962C8B-B14F-4D97-AF65-F5344CB8AC3E}">
        <p14:creationId xmlns:p14="http://schemas.microsoft.com/office/powerpoint/2010/main" val="1378528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3058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800" b="1" dirty="0">
                <a:solidFill>
                  <a:srgbClr val="B80000"/>
                </a:solidFill>
              </a:rPr>
              <a:t>Finding </a:t>
            </a:r>
            <a:r>
              <a:rPr lang="en-US" sz="4800" b="1" dirty="0" err="1">
                <a:solidFill>
                  <a:srgbClr val="B80000"/>
                </a:solidFill>
              </a:rPr>
              <a:t>gcd</a:t>
            </a:r>
            <a:endParaRPr lang="en-US" sz="4800" b="1" dirty="0">
              <a:solidFill>
                <a:srgbClr val="B8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2F7F7009-B740-4247-A275-B1D8DFDBB987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21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ttps://encrypted-tbn0.gstatic.com/images?q=tbn%3AANd9GcTc5hGarM8oBUPcWFpPKKfieTH6c-KdBThAHo_gOaipimkFGx8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656" y="1536005"/>
            <a:ext cx="6096000" cy="400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120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305800" cy="944881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The Recursive </a:t>
            </a:r>
            <a:r>
              <a:rPr lang="en-US" b="1" dirty="0" err="1">
                <a:solidFill>
                  <a:srgbClr val="B80000"/>
                </a:solidFill>
              </a:rPr>
              <a:t>gcd</a:t>
            </a:r>
            <a:r>
              <a:rPr lang="en-US" b="1" dirty="0">
                <a:solidFill>
                  <a:srgbClr val="B80000"/>
                </a:solidFill>
              </a:rPr>
              <a:t> Function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eaLnBrk="1" hangingPunct="1">
              <a:buFontTx/>
              <a:buNone/>
            </a:pPr>
            <a:r>
              <a:rPr lang="en-US" sz="3000" b="1" dirty="0" err="1">
                <a:latin typeface="Courier New" panose="02070309020205020404" pitchFamily="49" charset="0"/>
              </a:rPr>
              <a:t>int</a:t>
            </a:r>
            <a:r>
              <a:rPr lang="en-US" sz="3000" b="1" dirty="0">
                <a:latin typeface="Courier New" panose="02070309020205020404" pitchFamily="49" charset="0"/>
              </a:rPr>
              <a:t> </a:t>
            </a:r>
            <a:r>
              <a:rPr lang="en-US" sz="3000" b="1" dirty="0" err="1">
                <a:latin typeface="Courier New" panose="02070309020205020404" pitchFamily="49" charset="0"/>
              </a:rPr>
              <a:t>gcd</a:t>
            </a:r>
            <a:r>
              <a:rPr lang="en-US" sz="3000" b="1" dirty="0">
                <a:latin typeface="Courier New" panose="02070309020205020404" pitchFamily="49" charset="0"/>
              </a:rPr>
              <a:t>(</a:t>
            </a:r>
            <a:r>
              <a:rPr lang="en-US" sz="3000" b="1" dirty="0" err="1">
                <a:latin typeface="Courier New" panose="02070309020205020404" pitchFamily="49" charset="0"/>
              </a:rPr>
              <a:t>int</a:t>
            </a:r>
            <a:r>
              <a:rPr lang="en-US" sz="3000" b="1" dirty="0">
                <a:latin typeface="Courier New" panose="02070309020205020404" pitchFamily="49" charset="0"/>
              </a:rPr>
              <a:t> x, </a:t>
            </a:r>
            <a:r>
              <a:rPr lang="en-US" sz="3000" b="1" dirty="0" err="1">
                <a:latin typeface="Courier New" panose="02070309020205020404" pitchFamily="49" charset="0"/>
              </a:rPr>
              <a:t>int</a:t>
            </a:r>
            <a:r>
              <a:rPr lang="en-US" sz="3000" b="1" dirty="0">
                <a:latin typeface="Courier New" panose="02070309020205020404" pitchFamily="49" charset="0"/>
              </a:rPr>
              <a:t> y)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	  if (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</a:rPr>
              <a:t>x</a:t>
            </a:r>
            <a:r>
              <a:rPr lang="en-US" sz="3000" b="1" dirty="0">
                <a:latin typeface="Courier New" panose="02070309020205020404" pitchFamily="49" charset="0"/>
              </a:rPr>
              <a:t> % </a:t>
            </a:r>
            <a:r>
              <a:rPr lang="en-US" sz="3000" b="1" dirty="0">
                <a:solidFill>
                  <a:srgbClr val="2F1BC7"/>
                </a:solidFill>
                <a:latin typeface="Courier New" panose="02070309020205020404" pitchFamily="49" charset="0"/>
              </a:rPr>
              <a:t>y</a:t>
            </a:r>
            <a:r>
              <a:rPr lang="en-US" sz="3000" b="1" dirty="0">
                <a:latin typeface="Courier New" panose="02070309020205020404" pitchFamily="49" charset="0"/>
              </a:rPr>
              <a:t> == 0) //base case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			return y;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	  else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			return </a:t>
            </a:r>
            <a:r>
              <a:rPr lang="en-US" sz="3000" b="1" dirty="0" err="1">
                <a:latin typeface="Courier New" panose="02070309020205020404" pitchFamily="49" charset="0"/>
              </a:rPr>
              <a:t>gcd</a:t>
            </a:r>
            <a:r>
              <a:rPr lang="en-US" sz="3000" b="1" dirty="0">
                <a:latin typeface="Courier New" panose="02070309020205020404" pitchFamily="49" charset="0"/>
              </a:rPr>
              <a:t>(</a:t>
            </a:r>
            <a:r>
              <a:rPr lang="en-US" sz="3000" b="1" dirty="0">
                <a:solidFill>
                  <a:srgbClr val="2F1BC7"/>
                </a:solidFill>
                <a:latin typeface="Courier New" panose="02070309020205020404" pitchFamily="49" charset="0"/>
              </a:rPr>
              <a:t>y</a:t>
            </a:r>
            <a:r>
              <a:rPr lang="en-US" sz="3000" b="1" dirty="0">
                <a:latin typeface="Courier New" panose="02070309020205020404" pitchFamily="49" charset="0"/>
              </a:rPr>
              <a:t>, 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</a:rPr>
              <a:t>x % y</a:t>
            </a:r>
            <a:r>
              <a:rPr lang="en-US" sz="3000" b="1" dirty="0">
                <a:latin typeface="Courier New" panose="02070309020205020404" pitchFamily="49" charset="0"/>
              </a:rPr>
              <a:t>);</a:t>
            </a:r>
          </a:p>
          <a:p>
            <a:pPr lvl="1" eaLnBrk="1" hangingPunct="1">
              <a:buFontTx/>
              <a:buNone/>
            </a:pPr>
            <a:r>
              <a:rPr lang="en-US" sz="3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2F7F7009-B740-4247-A275-B1D8DFDBB987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22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0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Solving Recursively Defined Problems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839200" cy="5638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natural definition </a:t>
            </a:r>
            <a:r>
              <a:rPr lang="en-US" dirty="0"/>
              <a:t>of some </a:t>
            </a:r>
            <a:r>
              <a:rPr lang="en-US" b="1" dirty="0"/>
              <a:t>problems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leads to a recursive solution</a:t>
            </a:r>
          </a:p>
          <a:p>
            <a:pPr eaLnBrk="1" hangingPunct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en-US" dirty="0"/>
              <a:t>Example: </a:t>
            </a:r>
            <a:r>
              <a:rPr lang="en-US" b="1" dirty="0">
                <a:solidFill>
                  <a:srgbClr val="B80000"/>
                </a:solidFill>
              </a:rPr>
              <a:t>Fibonacci numbers</a:t>
            </a:r>
            <a:r>
              <a:rPr lang="en-US" dirty="0"/>
              <a:t>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1, 1, 2, 3, 5, 8, 13, 21, ...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dirty="0"/>
              <a:t>After the </a:t>
            </a:r>
            <a:r>
              <a:rPr lang="en-US" b="1" dirty="0">
                <a:solidFill>
                  <a:srgbClr val="008000"/>
                </a:solidFill>
              </a:rPr>
              <a:t>starting two numbers</a:t>
            </a:r>
            <a:r>
              <a:rPr lang="en-US" b="1" dirty="0"/>
              <a:t>,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each term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is the </a:t>
            </a:r>
            <a:r>
              <a:rPr lang="en-US" b="1" dirty="0"/>
              <a:t>sum</a:t>
            </a:r>
            <a:r>
              <a:rPr lang="en-US" dirty="0"/>
              <a:t> of the </a:t>
            </a:r>
            <a:r>
              <a:rPr lang="en-US" b="1" dirty="0">
                <a:solidFill>
                  <a:srgbClr val="2C14DE"/>
                </a:solidFill>
              </a:rPr>
              <a:t>two preceding terms</a:t>
            </a:r>
          </a:p>
          <a:p>
            <a:pPr eaLnBrk="1" hangingPunct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en-US" b="1" u="sng" dirty="0"/>
              <a:t>Recursive solution: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fib(</a:t>
            </a:r>
            <a:r>
              <a:rPr lang="en-US" b="1" dirty="0">
                <a:solidFill>
                  <a:srgbClr val="2F1BC7"/>
                </a:solidFill>
                <a:latin typeface="Courier New" panose="02070309020205020404" pitchFamily="49" charset="0"/>
              </a:rPr>
              <a:t>n</a:t>
            </a:r>
            <a:r>
              <a:rPr lang="en-US" b="1" dirty="0">
                <a:latin typeface="Courier New" panose="02070309020205020404" pitchFamily="49" charset="0"/>
              </a:rPr>
              <a:t>) = fib(</a:t>
            </a:r>
            <a:r>
              <a:rPr lang="en-US" b="1" dirty="0">
                <a:solidFill>
                  <a:srgbClr val="2F1BC7"/>
                </a:solidFill>
                <a:latin typeface="Courier New" panose="02070309020205020404" pitchFamily="49" charset="0"/>
              </a:rPr>
              <a:t>n – 1</a:t>
            </a:r>
            <a:r>
              <a:rPr lang="en-US" b="1" dirty="0">
                <a:latin typeface="Courier New" panose="02070309020205020404" pitchFamily="49" charset="0"/>
              </a:rPr>
              <a:t>) + fib(</a:t>
            </a:r>
            <a:r>
              <a:rPr lang="en-US" b="1" dirty="0">
                <a:solidFill>
                  <a:srgbClr val="2F1BC7"/>
                </a:solidFill>
                <a:latin typeface="Courier New" panose="02070309020205020404" pitchFamily="49" charset="0"/>
              </a:rPr>
              <a:t>n – 2</a:t>
            </a:r>
            <a:r>
              <a:rPr lang="en-US" b="1" dirty="0">
                <a:latin typeface="Courier New" panose="02070309020205020404" pitchFamily="49" charset="0"/>
              </a:rPr>
              <a:t>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b="1" dirty="0"/>
              <a:t>Base cases</a:t>
            </a:r>
            <a:r>
              <a:rPr lang="en-US" dirty="0"/>
              <a:t>: </a:t>
            </a:r>
            <a:r>
              <a:rPr lang="en-US" sz="2800" b="1" dirty="0">
                <a:solidFill>
                  <a:srgbClr val="008000"/>
                </a:solidFill>
                <a:latin typeface="Courier New" panose="02070309020205020404" pitchFamily="49" charset="0"/>
              </a:rPr>
              <a:t>n == 0, n ==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AE4A13B2-6FCB-4B46-9CAD-C20C9BC4971D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23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18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8100"/>
            <a:ext cx="8116956" cy="930275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B80000"/>
                </a:solidFill>
              </a:rPr>
              <a:t>Recursion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09600" y="1447800"/>
            <a:ext cx="7559675" cy="4665586"/>
            <a:chOff x="552450" y="1539875"/>
            <a:chExt cx="7559675" cy="4665586"/>
          </a:xfrm>
        </p:grpSpPr>
        <p:sp>
          <p:nvSpPr>
            <p:cNvPr id="27651" name="Line 3"/>
            <p:cNvSpPr>
              <a:spLocks noChangeShapeType="1"/>
            </p:cNvSpPr>
            <p:nvPr/>
          </p:nvSpPr>
          <p:spPr bwMode="auto">
            <a:xfrm>
              <a:off x="4600575" y="2036762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2" name="Line 4"/>
            <p:cNvSpPr>
              <a:spLocks noChangeShapeType="1"/>
            </p:cNvSpPr>
            <p:nvPr/>
          </p:nvSpPr>
          <p:spPr bwMode="auto">
            <a:xfrm flipH="1">
              <a:off x="3051175" y="3043237"/>
              <a:ext cx="1093788" cy="4270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3" name="Line 5"/>
            <p:cNvSpPr>
              <a:spLocks noChangeShapeType="1"/>
            </p:cNvSpPr>
            <p:nvPr/>
          </p:nvSpPr>
          <p:spPr bwMode="auto">
            <a:xfrm>
              <a:off x="5103813" y="3009900"/>
              <a:ext cx="884237" cy="4270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4" name="Line 6"/>
            <p:cNvSpPr>
              <a:spLocks noChangeShapeType="1"/>
            </p:cNvSpPr>
            <p:nvPr/>
          </p:nvSpPr>
          <p:spPr bwMode="auto">
            <a:xfrm flipH="1">
              <a:off x="1868488" y="3783012"/>
              <a:ext cx="763587" cy="487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5" name="Line 7"/>
            <p:cNvSpPr>
              <a:spLocks noChangeShapeType="1"/>
            </p:cNvSpPr>
            <p:nvPr/>
          </p:nvSpPr>
          <p:spPr bwMode="auto">
            <a:xfrm>
              <a:off x="3549650" y="3773487"/>
              <a:ext cx="663575" cy="487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6" name="Line 8"/>
            <p:cNvSpPr>
              <a:spLocks noChangeShapeType="1"/>
            </p:cNvSpPr>
            <p:nvPr/>
          </p:nvSpPr>
          <p:spPr bwMode="auto">
            <a:xfrm>
              <a:off x="5594350" y="3810000"/>
              <a:ext cx="1223963" cy="4889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7" name="Line 9"/>
            <p:cNvSpPr>
              <a:spLocks noChangeShapeType="1"/>
            </p:cNvSpPr>
            <p:nvPr/>
          </p:nvSpPr>
          <p:spPr bwMode="auto">
            <a:xfrm>
              <a:off x="1504950" y="4619625"/>
              <a:ext cx="941388" cy="4413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50" name="Text Box 10"/>
            <p:cNvSpPr txBox="1">
              <a:spLocks noChangeArrowheads="1"/>
            </p:cNvSpPr>
            <p:nvPr/>
          </p:nvSpPr>
          <p:spPr bwMode="auto">
            <a:xfrm>
              <a:off x="552450" y="1539875"/>
              <a:ext cx="2860675" cy="425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square"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r>
                <a:rPr lang="en-US" sz="2400" b="1" baseline="30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th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Fib. Number</a:t>
              </a:r>
            </a:p>
          </p:txBody>
        </p:sp>
        <p:sp>
          <p:nvSpPr>
            <p:cNvPr id="138251" name="Text Box 11"/>
            <p:cNvSpPr txBox="1">
              <a:spLocks noChangeArrowheads="1"/>
            </p:cNvSpPr>
            <p:nvPr/>
          </p:nvSpPr>
          <p:spPr bwMode="auto">
            <a:xfrm>
              <a:off x="3783013" y="1576387"/>
              <a:ext cx="1646237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5</a:t>
              </a:r>
            </a:p>
          </p:txBody>
        </p:sp>
        <p:sp>
          <p:nvSpPr>
            <p:cNvPr id="138252" name="Text Box 12"/>
            <p:cNvSpPr txBox="1">
              <a:spLocks noChangeArrowheads="1"/>
            </p:cNvSpPr>
            <p:nvPr/>
          </p:nvSpPr>
          <p:spPr bwMode="auto">
            <a:xfrm>
              <a:off x="3317875" y="2635250"/>
              <a:ext cx="2549525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4 + fib 3</a:t>
              </a:r>
            </a:p>
          </p:txBody>
        </p:sp>
        <p:sp>
          <p:nvSpPr>
            <p:cNvPr id="138253" name="Text Box 13"/>
            <p:cNvSpPr txBox="1">
              <a:spLocks noChangeArrowheads="1"/>
            </p:cNvSpPr>
            <p:nvPr/>
          </p:nvSpPr>
          <p:spPr bwMode="auto">
            <a:xfrm>
              <a:off x="1749425" y="3408362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3 + fib 2</a:t>
              </a:r>
            </a:p>
          </p:txBody>
        </p:sp>
        <p:sp>
          <p:nvSpPr>
            <p:cNvPr id="138254" name="Text Box 14"/>
            <p:cNvSpPr txBox="1">
              <a:spLocks noChangeArrowheads="1"/>
            </p:cNvSpPr>
            <p:nvPr/>
          </p:nvSpPr>
          <p:spPr bwMode="auto">
            <a:xfrm>
              <a:off x="4727575" y="3421062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2 + fib 1</a:t>
              </a:r>
            </a:p>
          </p:txBody>
        </p:sp>
        <p:sp>
          <p:nvSpPr>
            <p:cNvPr id="138255" name="Text Box 15"/>
            <p:cNvSpPr txBox="1">
              <a:spLocks noChangeArrowheads="1"/>
            </p:cNvSpPr>
            <p:nvPr/>
          </p:nvSpPr>
          <p:spPr bwMode="auto">
            <a:xfrm>
              <a:off x="598488" y="4232275"/>
              <a:ext cx="2549525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2 + fib 1</a:t>
              </a:r>
            </a:p>
          </p:txBody>
        </p:sp>
        <p:sp>
          <p:nvSpPr>
            <p:cNvPr id="138256" name="Text Box 16"/>
            <p:cNvSpPr txBox="1">
              <a:spLocks noChangeArrowheads="1"/>
            </p:cNvSpPr>
            <p:nvPr/>
          </p:nvSpPr>
          <p:spPr bwMode="auto">
            <a:xfrm>
              <a:off x="2952750" y="4230687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1 + fib 0</a:t>
              </a:r>
            </a:p>
          </p:txBody>
        </p:sp>
        <p:sp>
          <p:nvSpPr>
            <p:cNvPr id="138257" name="Text Box 17"/>
            <p:cNvSpPr txBox="1">
              <a:spLocks noChangeArrowheads="1"/>
            </p:cNvSpPr>
            <p:nvPr/>
          </p:nvSpPr>
          <p:spPr bwMode="auto">
            <a:xfrm>
              <a:off x="5562600" y="4219575"/>
              <a:ext cx="2549525" cy="420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1 + fib 0</a:t>
              </a:r>
            </a:p>
          </p:txBody>
        </p:sp>
        <p:sp>
          <p:nvSpPr>
            <p:cNvPr id="138258" name="Text Box 18"/>
            <p:cNvSpPr txBox="1">
              <a:spLocks noChangeArrowheads="1"/>
            </p:cNvSpPr>
            <p:nvPr/>
          </p:nvSpPr>
          <p:spPr bwMode="auto">
            <a:xfrm>
              <a:off x="1231900" y="5037137"/>
              <a:ext cx="2549525" cy="420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fib 1 + fib 0</a:t>
              </a:r>
            </a:p>
          </p:txBody>
        </p:sp>
        <p:sp>
          <p:nvSpPr>
            <p:cNvPr id="27667" name="Oval 19"/>
            <p:cNvSpPr>
              <a:spLocks noChangeArrowheads="1"/>
            </p:cNvSpPr>
            <p:nvPr/>
          </p:nvSpPr>
          <p:spPr bwMode="auto">
            <a:xfrm>
              <a:off x="2162175" y="5051425"/>
              <a:ext cx="328613" cy="841375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68" name="Oval 20"/>
            <p:cNvSpPr>
              <a:spLocks noChangeArrowheads="1"/>
            </p:cNvSpPr>
            <p:nvPr/>
          </p:nvSpPr>
          <p:spPr bwMode="auto">
            <a:xfrm>
              <a:off x="1965325" y="421005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69" name="Oval 21"/>
            <p:cNvSpPr>
              <a:spLocks noChangeArrowheads="1"/>
            </p:cNvSpPr>
            <p:nvPr/>
          </p:nvSpPr>
          <p:spPr bwMode="auto">
            <a:xfrm>
              <a:off x="6094413" y="3398837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0" name="Oval 22"/>
            <p:cNvSpPr>
              <a:spLocks noChangeArrowheads="1"/>
            </p:cNvSpPr>
            <p:nvPr/>
          </p:nvSpPr>
          <p:spPr bwMode="auto">
            <a:xfrm>
              <a:off x="3413125" y="421640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1" name="Oval 23"/>
            <p:cNvSpPr>
              <a:spLocks noChangeArrowheads="1"/>
            </p:cNvSpPr>
            <p:nvPr/>
          </p:nvSpPr>
          <p:spPr bwMode="auto">
            <a:xfrm>
              <a:off x="6927850" y="4186237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2" name="Oval 24"/>
            <p:cNvSpPr>
              <a:spLocks noChangeArrowheads="1"/>
            </p:cNvSpPr>
            <p:nvPr/>
          </p:nvSpPr>
          <p:spPr bwMode="auto">
            <a:xfrm>
              <a:off x="4313238" y="420370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3" name="Oval 25"/>
            <p:cNvSpPr>
              <a:spLocks noChangeArrowheads="1"/>
            </p:cNvSpPr>
            <p:nvPr/>
          </p:nvSpPr>
          <p:spPr bwMode="auto">
            <a:xfrm>
              <a:off x="6019800" y="4191000"/>
              <a:ext cx="708025" cy="48736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4" name="Oval 26"/>
            <p:cNvSpPr>
              <a:spLocks noChangeArrowheads="1"/>
            </p:cNvSpPr>
            <p:nvPr/>
          </p:nvSpPr>
          <p:spPr bwMode="auto">
            <a:xfrm>
              <a:off x="2595563" y="5021262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7675" name="Oval 27"/>
            <p:cNvSpPr>
              <a:spLocks noChangeArrowheads="1"/>
            </p:cNvSpPr>
            <p:nvPr/>
          </p:nvSpPr>
          <p:spPr bwMode="auto">
            <a:xfrm>
              <a:off x="1698625" y="5014912"/>
              <a:ext cx="708025" cy="487363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138268" name="Text Box 28"/>
            <p:cNvSpPr txBox="1">
              <a:spLocks noChangeArrowheads="1"/>
            </p:cNvSpPr>
            <p:nvPr/>
          </p:nvSpPr>
          <p:spPr bwMode="auto">
            <a:xfrm>
              <a:off x="3917950" y="5780087"/>
              <a:ext cx="1339850" cy="425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lIns="92075" tIns="46038" rIns="92075" bIns="46038">
              <a:spAutoFit/>
            </a:bodyPr>
            <a:lstStyle/>
            <a:p>
              <a:pPr marL="685800" indent="-228600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defRPr/>
              </a:pP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" charset="0"/>
                </a:rPr>
                <a:t>= 5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02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44881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Recursive Fibonacci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25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75043" y="1236552"/>
            <a:ext cx="7263685" cy="5486400"/>
            <a:chOff x="175043" y="1236552"/>
            <a:chExt cx="7263685" cy="548640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5043" y="1236552"/>
              <a:ext cx="7263685" cy="5486400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2209800" y="2667000"/>
              <a:ext cx="46679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2C14DE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2000" dirty="0">
                  <a:latin typeface="Consolas" panose="020B0609020204030204" pitchFamily="49" charset="0"/>
                </a:rPr>
                <a:t>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4665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algn="r" eaLnBrk="0" hangingPunct="0">
              <a:defRPr/>
            </a:pPr>
            <a:r>
              <a:rPr lang="en-US" sz="1200" baseline="0" dirty="0">
                <a:solidFill>
                  <a:schemeClr val="bg1"/>
                </a:solidFill>
                <a:latin typeface="+mn-lt"/>
              </a:rPr>
              <a:t>Recursion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553200"/>
            <a:ext cx="2133600" cy="28575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D7C0F65-D028-4482-89E3-9305351F21E7}" type="slidenum">
              <a:rPr lang="en-US" sz="1200" baseline="0">
                <a:latin typeface="Arial" panose="020B0604020202020204" pitchFamily="34" charset="0"/>
              </a:rPr>
              <a:pPr/>
              <a:t>26</a:t>
            </a:fld>
            <a:endParaRPr lang="en-US" sz="1200" baseline="0">
              <a:latin typeface="Arial" panose="020B0604020202020204" pitchFamily="34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562"/>
            <a:ext cx="8229600" cy="873443"/>
          </a:xfrm>
        </p:spPr>
        <p:txBody>
          <a:bodyPr/>
          <a:lstStyle/>
          <a:p>
            <a:r>
              <a:rPr lang="en-US" sz="4000" b="1" dirty="0">
                <a:solidFill>
                  <a:srgbClr val="B80000"/>
                </a:solidFill>
              </a:rPr>
              <a:t>Solving Recursively Defined Problems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05800" cy="4724400"/>
          </a:xfrm>
        </p:spPr>
        <p:txBody>
          <a:bodyPr/>
          <a:lstStyle/>
          <a:p>
            <a:pPr marL="971550" lvl="1" indent="-57150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3600" dirty="0"/>
              <a:t>One of the most famous mathematical recursive algorithms is the Fibonacci sequence. </a:t>
            </a:r>
          </a:p>
          <a:p>
            <a:pPr marL="971550" lvl="1" indent="-57150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3600" dirty="0"/>
              <a:t>Fibonacci sequences appear in many places in nature, such as branching of trees, the spiral of shells, the fruitlets of a pineapple, an uncurling fern frond, and the arrangement of a pine cone. 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306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Printing Patterns using Recursion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27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2500" t="33333" r="66250" b="20741"/>
          <a:stretch/>
        </p:blipFill>
        <p:spPr>
          <a:xfrm>
            <a:off x="381000" y="1143000"/>
            <a:ext cx="2362200" cy="542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29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28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15749"/>
            <a:ext cx="3428034" cy="16394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32" y="1094529"/>
            <a:ext cx="6937367" cy="45442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6" y="1128415"/>
            <a:ext cx="7961244" cy="275331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95400" y="563882"/>
            <a:ext cx="2209800" cy="380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Code credits: https://www.geeksforgeeks.org/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-15434"/>
            <a:ext cx="8040756" cy="70123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Printing Patterns using Recursion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45" y="3897891"/>
            <a:ext cx="8686800" cy="18786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38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Printing Patterns using Recursion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29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17242"/>
          <a:stretch/>
        </p:blipFill>
        <p:spPr>
          <a:xfrm>
            <a:off x="685800" y="3296533"/>
            <a:ext cx="1828800" cy="1656468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50700"/>
            <a:ext cx="8763000" cy="27355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Input:</a:t>
            </a:r>
          </a:p>
          <a:p>
            <a:pPr marL="457200" lvl="1" indent="0">
              <a:buNone/>
            </a:pPr>
            <a:r>
              <a:rPr lang="en-US" b="1" dirty="0">
                <a:latin typeface="+mj-lt"/>
              </a:rPr>
              <a:t>Draw  a Pyramid of size: 5</a:t>
            </a:r>
          </a:p>
          <a:p>
            <a:pPr marL="457200" lvl="1" indent="0">
              <a:buNone/>
            </a:pPr>
            <a:endParaRPr lang="en-US" b="1" dirty="0">
              <a:solidFill>
                <a:srgbClr val="000066"/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Output:</a:t>
            </a:r>
          </a:p>
          <a:p>
            <a:pPr marL="457200" lvl="1" indent="0">
              <a:buNone/>
            </a:pPr>
            <a:endParaRPr lang="en-US" b="1" dirty="0">
              <a:solidFill>
                <a:srgbClr val="000066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093E44C1-C29F-455A-955D-415CA5A0B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632571"/>
              </p:ext>
            </p:extLst>
          </p:nvPr>
        </p:nvGraphicFramePr>
        <p:xfrm>
          <a:off x="2590800" y="2885714"/>
          <a:ext cx="3810006" cy="23680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3334">
                  <a:extLst>
                    <a:ext uri="{9D8B030D-6E8A-4147-A177-3AD203B41FA5}">
                      <a16:colId xmlns:a16="http://schemas.microsoft.com/office/drawing/2014/main" val="3301505313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val="110068310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val="1118599646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val="1196257107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val="4124950692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val="2149866948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val="1623528820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val="3886033314"/>
                    </a:ext>
                  </a:extLst>
                </a:gridCol>
                <a:gridCol w="423334">
                  <a:extLst>
                    <a:ext uri="{9D8B030D-6E8A-4147-A177-3AD203B41FA5}">
                      <a16:colId xmlns:a16="http://schemas.microsoft.com/office/drawing/2014/main" val="2039727163"/>
                    </a:ext>
                  </a:extLst>
                </a:gridCol>
              </a:tblGrid>
              <a:tr h="386862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73680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546507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584796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76303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83099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#</a:t>
                      </a:r>
                      <a:endParaRPr lang="en-PK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644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296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0B7CDB4-B2ED-42CE-A379-878211FF3330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30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00200" y="481492"/>
            <a:ext cx="2209800" cy="380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Code credits: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https://www.tutorialspoint.com/</a:t>
            </a:r>
            <a:endParaRPr lang="en-US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-95277"/>
            <a:ext cx="8040756" cy="70123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Printing Patterns using Recursion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r="13762"/>
          <a:stretch/>
        </p:blipFill>
        <p:spPr>
          <a:xfrm>
            <a:off x="71138" y="3927545"/>
            <a:ext cx="4097921" cy="215475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r="9345" b="6787"/>
          <a:stretch/>
        </p:blipFill>
        <p:spPr>
          <a:xfrm>
            <a:off x="4333276" y="4381930"/>
            <a:ext cx="4788706" cy="24760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r="9157"/>
          <a:stretch/>
        </p:blipFill>
        <p:spPr>
          <a:xfrm>
            <a:off x="4284340" y="967740"/>
            <a:ext cx="4771092" cy="32617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6"/>
          <a:srcRect r="32203"/>
          <a:stretch/>
        </p:blipFill>
        <p:spPr>
          <a:xfrm>
            <a:off x="301750" y="1299214"/>
            <a:ext cx="2596899" cy="1900235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4169059" y="997090"/>
            <a:ext cx="30453" cy="5860910"/>
          </a:xfrm>
          <a:prstGeom prst="line">
            <a:avLst/>
          </a:prstGeom>
          <a:ln w="730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1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9218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800" b="1" dirty="0">
                <a:solidFill>
                  <a:srgbClr val="B80000"/>
                </a:solidFill>
              </a:rPr>
              <a:t>The Towers of Hanoi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9756" y="1076881"/>
            <a:ext cx="8991600" cy="5628719"/>
          </a:xfrm>
        </p:spPr>
        <p:txBody>
          <a:bodyPr/>
          <a:lstStyle/>
          <a:p>
            <a:pPr algn="just" eaLnBrk="1" hangingPunct="1"/>
            <a:r>
              <a:rPr lang="en-US" sz="2800" b="1" dirty="0">
                <a:solidFill>
                  <a:srgbClr val="C00000"/>
                </a:solidFill>
              </a:rPr>
              <a:t>Setup:  </a:t>
            </a:r>
            <a:r>
              <a:rPr lang="en-US" sz="2800" b="1" dirty="0">
                <a:solidFill>
                  <a:srgbClr val="2F1BC7"/>
                </a:solidFill>
              </a:rPr>
              <a:t>3 pegs</a:t>
            </a:r>
            <a:r>
              <a:rPr lang="en-US" sz="2800" dirty="0"/>
              <a:t>, one has </a:t>
            </a:r>
            <a:r>
              <a:rPr lang="en-US" sz="2800" b="1" dirty="0">
                <a:solidFill>
                  <a:srgbClr val="2F1BC7"/>
                </a:solidFill>
              </a:rPr>
              <a:t>n disks </a:t>
            </a:r>
            <a:r>
              <a:rPr lang="en-US" sz="2800" dirty="0"/>
              <a:t>on it, the </a:t>
            </a:r>
            <a:r>
              <a:rPr lang="en-US" sz="2800" b="1" dirty="0">
                <a:solidFill>
                  <a:srgbClr val="2F1BC7"/>
                </a:solidFill>
              </a:rPr>
              <a:t>other two pegs empty</a:t>
            </a:r>
            <a:r>
              <a:rPr lang="en-US" sz="2800" b="1" dirty="0"/>
              <a:t>.</a:t>
            </a:r>
            <a:r>
              <a:rPr lang="en-US" sz="2800" dirty="0"/>
              <a:t>  The </a:t>
            </a:r>
            <a:r>
              <a:rPr lang="en-US" sz="2800" b="1" dirty="0">
                <a:solidFill>
                  <a:srgbClr val="2F1BC7"/>
                </a:solidFill>
              </a:rPr>
              <a:t>disks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are </a:t>
            </a:r>
            <a:r>
              <a:rPr lang="en-US" sz="2800" b="1" dirty="0">
                <a:solidFill>
                  <a:srgbClr val="2F1BC7"/>
                </a:solidFill>
              </a:rPr>
              <a:t>arranged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in </a:t>
            </a:r>
            <a:r>
              <a:rPr lang="en-US" sz="2800" b="1" u="sng" dirty="0">
                <a:solidFill>
                  <a:srgbClr val="2F1BC7"/>
                </a:solidFill>
              </a:rPr>
              <a:t>increasing diameter</a:t>
            </a:r>
            <a:r>
              <a:rPr lang="en-US" sz="2800" dirty="0"/>
              <a:t>:</a:t>
            </a:r>
          </a:p>
          <a:p>
            <a:pPr marL="0" indent="0" algn="just" eaLnBrk="1" hangingPunct="1">
              <a:buNone/>
            </a:pPr>
            <a:r>
              <a:rPr lang="en-US" sz="2800" b="1" i="1" dirty="0">
                <a:solidFill>
                  <a:srgbClr val="2F1BC7"/>
                </a:solidFill>
              </a:rPr>
              <a:t>    top</a:t>
            </a:r>
            <a:r>
              <a:rPr lang="en-US" sz="2800" b="1" i="1" dirty="0">
                <a:solidFill>
                  <a:srgbClr val="2F1BC7"/>
                </a:solidFill>
                <a:sym typeface="Wingdings" panose="05000000000000000000" pitchFamily="2" charset="2"/>
              </a:rPr>
              <a:t></a:t>
            </a:r>
            <a:r>
              <a:rPr lang="en-US" sz="2800" b="1" i="1" dirty="0">
                <a:sym typeface="Wingdings" panose="05000000000000000000" pitchFamily="2" charset="2"/>
              </a:rPr>
              <a:t> </a:t>
            </a:r>
            <a:r>
              <a:rPr lang="en-US" sz="2800" b="1" i="1" dirty="0">
                <a:solidFill>
                  <a:srgbClr val="2F1BC7"/>
                </a:solidFill>
                <a:sym typeface="Wingdings" panose="05000000000000000000" pitchFamily="2" charset="2"/>
              </a:rPr>
              <a:t>bottom</a:t>
            </a:r>
          </a:p>
          <a:p>
            <a:pPr algn="just" eaLnBrk="1" hangingPunct="1"/>
            <a:endParaRPr lang="en-US" sz="2800" b="1" i="1" dirty="0">
              <a:solidFill>
                <a:srgbClr val="2F1BC7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en-US" b="1" u="sng" dirty="0">
                <a:solidFill>
                  <a:srgbClr val="C00000"/>
                </a:solidFill>
                <a:sym typeface="Wingdings" panose="05000000000000000000" pitchFamily="2" charset="2"/>
              </a:rPr>
              <a:t>Objective: </a:t>
            </a:r>
            <a:r>
              <a:rPr lang="en-US" dirty="0">
                <a:sym typeface="Wingdings" panose="05000000000000000000" pitchFamily="2" charset="2"/>
              </a:rPr>
              <a:t>move the disks from </a:t>
            </a: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peg 1</a:t>
            </a:r>
            <a:r>
              <a:rPr lang="en-US" dirty="0">
                <a:sym typeface="Wingdings" panose="05000000000000000000" pitchFamily="2" charset="2"/>
              </a:rPr>
              <a:t> to </a:t>
            </a: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peg 3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en-US" b="1" dirty="0">
                <a:solidFill>
                  <a:srgbClr val="008000"/>
                </a:solidFill>
              </a:rPr>
              <a:t>only one disk moves at a time</a:t>
            </a:r>
          </a:p>
          <a:p>
            <a:pPr lvl="1" eaLnBrk="1" hangingPunct="1"/>
            <a:r>
              <a:rPr lang="en-US" b="1" dirty="0">
                <a:solidFill>
                  <a:srgbClr val="008000"/>
                </a:solidFill>
              </a:rPr>
              <a:t>all remain</a:t>
            </a:r>
            <a:r>
              <a:rPr lang="en-US" dirty="0">
                <a:solidFill>
                  <a:srgbClr val="008000"/>
                </a:solidFill>
              </a:rPr>
              <a:t> on </a:t>
            </a:r>
            <a:r>
              <a:rPr lang="en-US" b="1" dirty="0">
                <a:solidFill>
                  <a:srgbClr val="008000"/>
                </a:solidFill>
              </a:rPr>
              <a:t>pegs</a:t>
            </a:r>
            <a:r>
              <a:rPr lang="en-US" dirty="0">
                <a:solidFill>
                  <a:srgbClr val="008000"/>
                </a:solidFill>
              </a:rPr>
              <a:t> </a:t>
            </a:r>
            <a:r>
              <a:rPr lang="en-US" dirty="0"/>
              <a:t>except the </a:t>
            </a:r>
            <a:r>
              <a:rPr lang="en-US" b="1" dirty="0">
                <a:solidFill>
                  <a:srgbClr val="008000"/>
                </a:solidFill>
              </a:rPr>
              <a:t>one being moved</a:t>
            </a:r>
          </a:p>
          <a:p>
            <a:pPr lvl="1" eaLnBrk="1" hangingPunct="1"/>
            <a:r>
              <a:rPr lang="en-US" dirty="0"/>
              <a:t>a </a:t>
            </a:r>
            <a:r>
              <a:rPr lang="en-US" b="1" dirty="0">
                <a:solidFill>
                  <a:srgbClr val="008000"/>
                </a:solidFill>
              </a:rPr>
              <a:t>larger disk cannot be placed </a:t>
            </a:r>
            <a:r>
              <a:rPr lang="en-US" dirty="0"/>
              <a:t>on top of a </a:t>
            </a:r>
            <a:r>
              <a:rPr lang="en-US" b="1" dirty="0">
                <a:solidFill>
                  <a:srgbClr val="008000"/>
                </a:solidFill>
              </a:rPr>
              <a:t>smaller disk at any time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819CEA22-9AA7-4D50-A68B-766C2328A4F8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31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35845" name="Picture 4" descr="C:\Documents and Settings\Christopher Kardaras\Desktop\TowerHanoi.bm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934" y="5101336"/>
            <a:ext cx="3297443" cy="1574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318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The Towers of Hanoi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44556" y="1333500"/>
            <a:ext cx="84582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dirty="0">
                <a:solidFill>
                  <a:srgbClr val="B80000"/>
                </a:solidFill>
              </a:rPr>
              <a:t>How it works:</a:t>
            </a:r>
          </a:p>
          <a:p>
            <a:pPr lvl="1" eaLnBrk="1" hangingPunct="1">
              <a:buFontTx/>
              <a:buNone/>
            </a:pPr>
            <a:endParaRPr lang="en-US" dirty="0"/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A96C95BC-ABF4-44CD-A7DE-A45E47E63F68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32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56692" name="Group 20"/>
          <p:cNvGraphicFramePr>
            <a:graphicFrameLocks noGrp="1"/>
          </p:cNvGraphicFramePr>
          <p:nvPr/>
        </p:nvGraphicFramePr>
        <p:xfrm>
          <a:off x="535056" y="2057400"/>
          <a:ext cx="8077200" cy="327354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n=1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disk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from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1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3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Done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2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n=2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top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disk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from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1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2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remaining disk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from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1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3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disk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from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2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F1BC7"/>
                          </a:solidFill>
                          <a:effectLst/>
                          <a:latin typeface="Arial" charset="0"/>
                        </a:rPr>
                        <a:t>peg 3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Done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217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9144000" cy="5334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B80000"/>
                </a:solidFill>
              </a:rPr>
              <a:t>Moving Three Discs</a:t>
            </a:r>
          </a:p>
        </p:txBody>
      </p:sp>
      <p:pic>
        <p:nvPicPr>
          <p:cNvPr id="38917" name="Picture 3" descr="1905sowc cop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838200"/>
            <a:ext cx="6858000" cy="5881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0" y="842727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23523" y="2263367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97651" y="2274683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49174" y="3722483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708557" y="3778904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57816" y="5288734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25979" y="5311366"/>
            <a:ext cx="3657600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309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Outline of Recursive Algorithm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458200" cy="46482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If </a:t>
            </a:r>
            <a:r>
              <a:rPr lang="en-US" b="1" dirty="0">
                <a:solidFill>
                  <a:srgbClr val="B80000"/>
                </a:solidFill>
              </a:rPr>
              <a:t>n==0</a:t>
            </a:r>
            <a:r>
              <a:rPr lang="en-US" dirty="0"/>
              <a:t>, </a:t>
            </a:r>
            <a:r>
              <a:rPr lang="en-US" b="1" dirty="0">
                <a:solidFill>
                  <a:srgbClr val="2C14DE"/>
                </a:solidFill>
              </a:rPr>
              <a:t>do nothing </a:t>
            </a:r>
            <a:r>
              <a:rPr lang="en-US" dirty="0"/>
              <a:t>(</a:t>
            </a:r>
            <a:r>
              <a:rPr lang="en-US" b="1" u="sng" dirty="0"/>
              <a:t>base case</a:t>
            </a:r>
            <a:r>
              <a:rPr lang="en-US" dirty="0"/>
              <a:t>)</a:t>
            </a:r>
          </a:p>
          <a:p>
            <a:pPr marL="609600" indent="-609600" eaLnBrk="1" hangingPunct="1">
              <a:buFontTx/>
              <a:buNone/>
            </a:pPr>
            <a:r>
              <a:rPr lang="en-US" dirty="0"/>
              <a:t>If </a:t>
            </a:r>
            <a:r>
              <a:rPr lang="en-US" b="1" dirty="0"/>
              <a:t>n&gt;0</a:t>
            </a:r>
            <a:r>
              <a:rPr lang="en-US" dirty="0"/>
              <a:t>, then</a:t>
            </a:r>
          </a:p>
          <a:p>
            <a:pPr marL="990600" lvl="1" indent="-533400" eaLnBrk="1" hangingPunct="1">
              <a:buFontTx/>
              <a:buAutoNum type="alphaLcPeriod"/>
            </a:pPr>
            <a:r>
              <a:rPr lang="en-US" b="1" dirty="0"/>
              <a:t>Move</a:t>
            </a:r>
            <a:r>
              <a:rPr lang="en-US" dirty="0"/>
              <a:t> the </a:t>
            </a:r>
            <a:r>
              <a:rPr lang="en-US" b="1" dirty="0"/>
              <a:t>topmost</a:t>
            </a:r>
            <a:r>
              <a:rPr lang="en-US" dirty="0"/>
              <a:t> </a:t>
            </a:r>
            <a:r>
              <a:rPr lang="en-US" b="1" dirty="0">
                <a:solidFill>
                  <a:srgbClr val="B80000"/>
                </a:solidFill>
              </a:rPr>
              <a:t>n-1 disks </a:t>
            </a:r>
            <a:r>
              <a:rPr lang="en-US" dirty="0"/>
              <a:t>from </a:t>
            </a:r>
            <a:r>
              <a:rPr lang="en-US" b="1" dirty="0">
                <a:solidFill>
                  <a:srgbClr val="2C14DE"/>
                </a:solidFill>
              </a:rPr>
              <a:t>peg1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2C14DE"/>
                </a:solidFill>
              </a:rPr>
              <a:t>peg2</a:t>
            </a:r>
          </a:p>
          <a:p>
            <a:pPr marL="990600" lvl="1" indent="-533400" eaLnBrk="1" hangingPunct="1">
              <a:buFontTx/>
              <a:buAutoNum type="alphaLcPeriod"/>
            </a:pPr>
            <a:r>
              <a:rPr lang="en-US" b="1" dirty="0"/>
              <a:t>Move</a:t>
            </a:r>
            <a:r>
              <a:rPr lang="en-US" dirty="0"/>
              <a:t> the </a:t>
            </a:r>
            <a:r>
              <a:rPr lang="en-US" b="1" dirty="0">
                <a:solidFill>
                  <a:srgbClr val="B80000"/>
                </a:solidFill>
              </a:rPr>
              <a:t>n</a:t>
            </a:r>
            <a:r>
              <a:rPr lang="en-US" b="1" baseline="30000" dirty="0">
                <a:solidFill>
                  <a:srgbClr val="B80000"/>
                </a:solidFill>
              </a:rPr>
              <a:t>th</a:t>
            </a:r>
            <a:r>
              <a:rPr lang="en-US" b="1" dirty="0">
                <a:solidFill>
                  <a:srgbClr val="B80000"/>
                </a:solidFill>
              </a:rPr>
              <a:t> disk </a:t>
            </a:r>
            <a:r>
              <a:rPr lang="en-US" dirty="0"/>
              <a:t>from </a:t>
            </a:r>
            <a:r>
              <a:rPr lang="en-US" b="1" dirty="0">
                <a:solidFill>
                  <a:srgbClr val="2C14DE"/>
                </a:solidFill>
              </a:rPr>
              <a:t>peg1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2C14DE"/>
                </a:solidFill>
              </a:rPr>
              <a:t>peg3</a:t>
            </a:r>
          </a:p>
          <a:p>
            <a:pPr marL="990600" lvl="1" indent="-533400" eaLnBrk="1" hangingPunct="1">
              <a:buFontTx/>
              <a:buAutoNum type="alphaLcPeriod"/>
            </a:pPr>
            <a:r>
              <a:rPr lang="en-US" b="1" dirty="0"/>
              <a:t>Move</a:t>
            </a:r>
            <a:r>
              <a:rPr lang="en-US" dirty="0"/>
              <a:t> the </a:t>
            </a:r>
            <a:r>
              <a:rPr lang="en-US" b="1" dirty="0">
                <a:solidFill>
                  <a:srgbClr val="B80000"/>
                </a:solidFill>
              </a:rPr>
              <a:t>n-1 disks </a:t>
            </a:r>
            <a:r>
              <a:rPr lang="en-US" dirty="0"/>
              <a:t>from </a:t>
            </a:r>
            <a:r>
              <a:rPr lang="en-US" b="1" dirty="0">
                <a:solidFill>
                  <a:srgbClr val="2C14DE"/>
                </a:solidFill>
              </a:rPr>
              <a:t>peg2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2C14DE"/>
                </a:solidFill>
              </a:rPr>
              <a:t>peg3</a:t>
            </a:r>
          </a:p>
          <a:p>
            <a:pPr marL="609600" indent="-609600" eaLnBrk="1" hangingPunct="1">
              <a:buFontTx/>
              <a:buNone/>
            </a:pPr>
            <a:r>
              <a:rPr lang="en-US" dirty="0"/>
              <a:t>end if</a:t>
            </a:r>
          </a:p>
          <a:p>
            <a:pPr marL="990600" lvl="1" indent="-533400" eaLnBrk="1" hangingPunct="1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19AEB4B0-792A-41B7-86CC-7EBFC4C6ED95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34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963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8454217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90285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76962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416139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5781492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8288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Recursion VS. Iteration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9031356" cy="5562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dirty="0">
                <a:solidFill>
                  <a:srgbClr val="C00000"/>
                </a:solidFill>
              </a:rPr>
              <a:t>Benefits (+), disadvantages(-) of Recursive Implementation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+"/>
            </a:pPr>
            <a:r>
              <a:rPr lang="en-US" b="1" dirty="0">
                <a:solidFill>
                  <a:srgbClr val="2F1BC7"/>
                </a:solidFill>
              </a:rPr>
              <a:t>Natural formulation </a:t>
            </a:r>
            <a:r>
              <a:rPr lang="en-US" dirty="0"/>
              <a:t>of </a:t>
            </a:r>
            <a:r>
              <a:rPr lang="en-US" b="1" dirty="0">
                <a:solidFill>
                  <a:srgbClr val="2F1BC7"/>
                </a:solidFill>
              </a:rPr>
              <a:t>solution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2F1BC7"/>
                </a:solidFill>
              </a:rPr>
              <a:t>certain problems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+"/>
            </a:pPr>
            <a:r>
              <a:rPr lang="en-US" b="1" dirty="0">
                <a:solidFill>
                  <a:srgbClr val="2F1BC7"/>
                </a:solidFill>
              </a:rPr>
              <a:t>Results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dirty="0"/>
              <a:t>in </a:t>
            </a:r>
            <a:r>
              <a:rPr lang="en-US" b="1" dirty="0">
                <a:solidFill>
                  <a:srgbClr val="2F1BC7"/>
                </a:solidFill>
              </a:rPr>
              <a:t>shorter</a:t>
            </a:r>
            <a:r>
              <a:rPr lang="en-US" dirty="0"/>
              <a:t>, </a:t>
            </a:r>
            <a:r>
              <a:rPr lang="en-US" b="1" dirty="0">
                <a:solidFill>
                  <a:srgbClr val="2F1BC7"/>
                </a:solidFill>
              </a:rPr>
              <a:t>simpler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u="sng" dirty="0"/>
              <a:t>May not execute very efficiently</a:t>
            </a:r>
          </a:p>
          <a:p>
            <a:pPr lvl="1" eaLnBrk="1" hangingPunct="1">
              <a:lnSpc>
                <a:spcPct val="90000"/>
              </a:lnSpc>
            </a:pPr>
            <a:endParaRPr lang="en-US" b="1" u="sng" dirty="0"/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C00000"/>
                </a:solidFill>
              </a:rPr>
              <a:t>Benefits (+), disadvantages(-) for iterative Implementation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+"/>
            </a:pPr>
            <a:r>
              <a:rPr lang="en-US" b="1" dirty="0">
                <a:solidFill>
                  <a:srgbClr val="2F1BC7"/>
                </a:solidFill>
              </a:rPr>
              <a:t>Executes</a:t>
            </a:r>
            <a:r>
              <a:rPr lang="en-US" dirty="0"/>
              <a:t> more </a:t>
            </a:r>
            <a:r>
              <a:rPr lang="en-US" b="1" dirty="0">
                <a:solidFill>
                  <a:srgbClr val="2F1BC7"/>
                </a:solidFill>
              </a:rPr>
              <a:t>efficiently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b="1" dirty="0"/>
              <a:t>than recursion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u="sng" dirty="0"/>
              <a:t>May not be as natural as recursion for some problems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t>14-</a:t>
            </a:r>
            <a:fld id="{C3D22C79-1E85-4D6E-BD8F-7A375692549C}" type="slidenum">
              <a:rPr lang="en-US" sz="1200" baseline="0">
                <a:solidFill>
                  <a:schemeClr val="bg1"/>
                </a:solidFill>
                <a:latin typeface="Arial" panose="020B0604020202020204" pitchFamily="34" charset="0"/>
              </a:rPr>
              <a:pPr/>
              <a:t>38</a:t>
            </a:fld>
            <a:endParaRPr lang="en-US" sz="1200" baseline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67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2346</TotalTime>
  <Words>2483</Words>
  <Application>Microsoft Macintosh PowerPoint</Application>
  <PresentationFormat>On-screen Show (4:3)</PresentationFormat>
  <Paragraphs>413</Paragraphs>
  <Slides>38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Consolas</vt:lpstr>
      <vt:lpstr>Courier New</vt:lpstr>
      <vt:lpstr>Times</vt:lpstr>
      <vt:lpstr>Times New Roman</vt:lpstr>
      <vt:lpstr>Wingdings</vt:lpstr>
      <vt:lpstr>Office Theme</vt:lpstr>
      <vt:lpstr>Recursion </vt:lpstr>
      <vt:lpstr>Introduction to Recursion</vt:lpstr>
      <vt:lpstr>Recursion</vt:lpstr>
      <vt:lpstr>Recursion : Using Control Condition</vt:lpstr>
      <vt:lpstr>Recursion : Using Control Condition</vt:lpstr>
      <vt:lpstr>PowerPoint Presentation</vt:lpstr>
      <vt:lpstr>PowerPoint Presentation</vt:lpstr>
      <vt:lpstr>What Happens When Called?</vt:lpstr>
      <vt:lpstr>Types of Recursion</vt:lpstr>
      <vt:lpstr>Recursive Function</vt:lpstr>
      <vt:lpstr>Recursion</vt:lpstr>
      <vt:lpstr>Creating a Sum Function</vt:lpstr>
      <vt:lpstr>Creating a Sum function (Iterative)</vt:lpstr>
      <vt:lpstr>Creating a Sum function (Recursive)</vt:lpstr>
      <vt:lpstr>The Recursive Factorial Function</vt:lpstr>
      <vt:lpstr>The Recursive Factorial Function</vt:lpstr>
      <vt:lpstr>Character count - Recursive</vt:lpstr>
      <vt:lpstr>PowerPoint Presentation</vt:lpstr>
      <vt:lpstr>Printing a Sequence of Numbers in Reverse</vt:lpstr>
      <vt:lpstr>Printing a Sequence of Numbers in Ascending Order</vt:lpstr>
      <vt:lpstr>Finding gcd</vt:lpstr>
      <vt:lpstr>The Recursive gcd Function</vt:lpstr>
      <vt:lpstr>Solving Recursively Defined Problems</vt:lpstr>
      <vt:lpstr>Recursion</vt:lpstr>
      <vt:lpstr>Recursive Fibonacci Function</vt:lpstr>
      <vt:lpstr>Solving Recursively Defined Problems</vt:lpstr>
      <vt:lpstr>Printing Patterns using Recursion</vt:lpstr>
      <vt:lpstr>Printing Patterns using Recursion</vt:lpstr>
      <vt:lpstr>Printing Patterns using Recursion</vt:lpstr>
      <vt:lpstr>Printing Patterns using Recursion</vt:lpstr>
      <vt:lpstr>The Towers of Hanoi</vt:lpstr>
      <vt:lpstr>The Towers of Hanoi</vt:lpstr>
      <vt:lpstr>Moving Three Discs</vt:lpstr>
      <vt:lpstr>Outline of Recursive Algorithm</vt:lpstr>
      <vt:lpstr>PowerPoint Presentation</vt:lpstr>
      <vt:lpstr>PowerPoint Presentation</vt:lpstr>
      <vt:lpstr>PowerPoint Presentation</vt:lpstr>
      <vt:lpstr>Recursion VS. Iteration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Dr. Ali Zeeshan Ijaz Assistant Professor FCS</cp:lastModifiedBy>
  <cp:revision>311</cp:revision>
  <dcterms:created xsi:type="dcterms:W3CDTF">2012-08-28T12:59:58Z</dcterms:created>
  <dcterms:modified xsi:type="dcterms:W3CDTF">2024-02-07T03:06:07Z</dcterms:modified>
</cp:coreProperties>
</file>