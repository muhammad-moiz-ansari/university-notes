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2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3.xml" ContentType="application/vnd.openxmlformats-officedocument.presentationml.notesSlid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4.xml" ContentType="application/vnd.openxmlformats-officedocument.presentationml.notesSlide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notesSlides/notesSlide5.xml" ContentType="application/vnd.openxmlformats-officedocument.presentationml.notesSlide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4"/>
  </p:notesMasterIdLst>
  <p:sldIdLst>
    <p:sldId id="256" r:id="rId2"/>
    <p:sldId id="352" r:id="rId3"/>
    <p:sldId id="464" r:id="rId4"/>
    <p:sldId id="318" r:id="rId5"/>
    <p:sldId id="348" r:id="rId6"/>
    <p:sldId id="388" r:id="rId7"/>
    <p:sldId id="353" r:id="rId8"/>
    <p:sldId id="354" r:id="rId9"/>
    <p:sldId id="356" r:id="rId10"/>
    <p:sldId id="357" r:id="rId11"/>
    <p:sldId id="358" r:id="rId12"/>
    <p:sldId id="359" r:id="rId13"/>
    <p:sldId id="396" r:id="rId14"/>
    <p:sldId id="397" r:id="rId15"/>
    <p:sldId id="398" r:id="rId16"/>
    <p:sldId id="399" r:id="rId17"/>
    <p:sldId id="400" r:id="rId18"/>
    <p:sldId id="401" r:id="rId19"/>
    <p:sldId id="402" r:id="rId20"/>
    <p:sldId id="371" r:id="rId21"/>
    <p:sldId id="389" r:id="rId22"/>
    <p:sldId id="373" r:id="rId23"/>
    <p:sldId id="390" r:id="rId24"/>
    <p:sldId id="375" r:id="rId25"/>
    <p:sldId id="450" r:id="rId26"/>
    <p:sldId id="451" r:id="rId27"/>
    <p:sldId id="376" r:id="rId28"/>
    <p:sldId id="377" r:id="rId29"/>
    <p:sldId id="378" r:id="rId30"/>
    <p:sldId id="391" r:id="rId31"/>
    <p:sldId id="380" r:id="rId32"/>
    <p:sldId id="381" r:id="rId33"/>
    <p:sldId id="382" r:id="rId34"/>
    <p:sldId id="383" r:id="rId35"/>
    <p:sldId id="452" r:id="rId36"/>
    <p:sldId id="455" r:id="rId37"/>
    <p:sldId id="454" r:id="rId38"/>
    <p:sldId id="384" r:id="rId39"/>
    <p:sldId id="385" r:id="rId40"/>
    <p:sldId id="456" r:id="rId41"/>
    <p:sldId id="386" r:id="rId42"/>
    <p:sldId id="321" r:id="rId43"/>
    <p:sldId id="322" r:id="rId44"/>
    <p:sldId id="323" r:id="rId45"/>
    <p:sldId id="328" r:id="rId46"/>
    <p:sldId id="329" r:id="rId47"/>
    <p:sldId id="330" r:id="rId48"/>
    <p:sldId id="407" r:id="rId49"/>
    <p:sldId id="408" r:id="rId50"/>
    <p:sldId id="331" r:id="rId51"/>
    <p:sldId id="332" r:id="rId52"/>
    <p:sldId id="403" r:id="rId53"/>
    <p:sldId id="404" r:id="rId54"/>
    <p:sldId id="457" r:id="rId55"/>
    <p:sldId id="442" r:id="rId56"/>
    <p:sldId id="409" r:id="rId57"/>
    <p:sldId id="410" r:id="rId58"/>
    <p:sldId id="411" r:id="rId59"/>
    <p:sldId id="412" r:id="rId60"/>
    <p:sldId id="413" r:id="rId61"/>
    <p:sldId id="414" r:id="rId62"/>
    <p:sldId id="458" r:id="rId63"/>
    <p:sldId id="415" r:id="rId64"/>
    <p:sldId id="416" r:id="rId65"/>
    <p:sldId id="417" r:id="rId66"/>
    <p:sldId id="418" r:id="rId67"/>
    <p:sldId id="419" r:id="rId68"/>
    <p:sldId id="420" r:id="rId69"/>
    <p:sldId id="421" r:id="rId70"/>
    <p:sldId id="422" r:id="rId71"/>
    <p:sldId id="423" r:id="rId72"/>
    <p:sldId id="424" r:id="rId73"/>
    <p:sldId id="425" r:id="rId74"/>
    <p:sldId id="426" r:id="rId75"/>
    <p:sldId id="427" r:id="rId76"/>
    <p:sldId id="428" r:id="rId77"/>
    <p:sldId id="429" r:id="rId78"/>
    <p:sldId id="437" r:id="rId79"/>
    <p:sldId id="438" r:id="rId80"/>
    <p:sldId id="439" r:id="rId81"/>
    <p:sldId id="436" r:id="rId82"/>
    <p:sldId id="441" r:id="rId83"/>
    <p:sldId id="459" r:id="rId84"/>
    <p:sldId id="443" r:id="rId85"/>
    <p:sldId id="444" r:id="rId86"/>
    <p:sldId id="446" r:id="rId87"/>
    <p:sldId id="336" r:id="rId88"/>
    <p:sldId id="337" r:id="rId89"/>
    <p:sldId id="460" r:id="rId90"/>
    <p:sldId id="463" r:id="rId91"/>
    <p:sldId id="406" r:id="rId92"/>
    <p:sldId id="461" r:id="rId93"/>
    <p:sldId id="338" r:id="rId94"/>
    <p:sldId id="339" r:id="rId95"/>
    <p:sldId id="341" r:id="rId96"/>
    <p:sldId id="342" r:id="rId97"/>
    <p:sldId id="343" r:id="rId98"/>
    <p:sldId id="440" r:id="rId99"/>
    <p:sldId id="462" r:id="rId100"/>
    <p:sldId id="447" r:id="rId101"/>
    <p:sldId id="448" r:id="rId102"/>
    <p:sldId id="449" r:id="rId10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1BC7"/>
    <a:srgbClr val="B80000"/>
    <a:srgbClr val="008000"/>
    <a:srgbClr val="2C14DE"/>
    <a:srgbClr val="27558D"/>
    <a:srgbClr val="D20000"/>
    <a:srgbClr val="39DFE7"/>
    <a:srgbClr val="160C5C"/>
    <a:srgbClr val="4F55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95374" autoAdjust="0"/>
  </p:normalViewPr>
  <p:slideViewPr>
    <p:cSldViewPr>
      <p:cViewPr varScale="1">
        <p:scale>
          <a:sx n="122" d="100"/>
          <a:sy n="122" d="100"/>
        </p:scale>
        <p:origin x="2016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7" d="100"/>
          <a:sy n="67" d="100"/>
        </p:scale>
        <p:origin x="3120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theme" Target="theme/theme1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1C0C88-7267-4399-A55D-D2971BA77B10}" type="datetimeFigureOut">
              <a:rPr lang="en-US" smtClean="0"/>
              <a:t>1/24/24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85FC15-40B4-45E5-86AE-2E64D22F0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366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1250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BSS: Better Save Space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1598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>
              <a:buNone/>
            </a:pPr>
            <a:r>
              <a:rPr lang="en-US" b="1" dirty="0" err="1"/>
              <a:t>int</a:t>
            </a:r>
            <a:r>
              <a:rPr lang="en-US" b="1" dirty="0"/>
              <a:t>* p1;</a:t>
            </a:r>
          </a:p>
          <a:p>
            <a:pPr lvl="1">
              <a:buNone/>
            </a:pPr>
            <a:r>
              <a:rPr lang="en-US" b="1" dirty="0" err="1"/>
              <a:t>int</a:t>
            </a:r>
            <a:r>
              <a:rPr lang="en-US" b="1" dirty="0"/>
              <a:t> v1=99;</a:t>
            </a:r>
          </a:p>
          <a:p>
            <a:pPr lvl="1">
              <a:buNone/>
            </a:pPr>
            <a:r>
              <a:rPr lang="en-US" b="1" dirty="0"/>
              <a:t>p1 = </a:t>
            </a:r>
            <a:r>
              <a:rPr lang="en-US" b="1" dirty="0">
                <a:solidFill>
                  <a:schemeClr val="hlink"/>
                </a:solidFill>
              </a:rPr>
              <a:t>&amp;</a:t>
            </a:r>
            <a:r>
              <a:rPr lang="en-US" b="1" dirty="0"/>
              <a:t>v1;</a:t>
            </a:r>
            <a:endParaRPr lang="en-US" b="0" dirty="0"/>
          </a:p>
          <a:p>
            <a:pPr lvl="1">
              <a:buNone/>
            </a:pPr>
            <a:r>
              <a:rPr lang="en-US" sz="3000" dirty="0"/>
              <a:t>Now </a:t>
            </a:r>
            <a:r>
              <a:rPr lang="en-US" sz="3000" b="1" dirty="0">
                <a:solidFill>
                  <a:srgbClr val="2F1BC7"/>
                </a:solidFill>
              </a:rPr>
              <a:t>p1</a:t>
            </a:r>
            <a:r>
              <a:rPr lang="en-US" sz="3000" dirty="0"/>
              <a:t> points to the </a:t>
            </a:r>
            <a:r>
              <a:rPr lang="en-US" sz="3000" dirty="0">
                <a:solidFill>
                  <a:srgbClr val="2F1BC7"/>
                </a:solidFill>
              </a:rPr>
              <a:t>memory location, </a:t>
            </a:r>
          </a:p>
          <a:p>
            <a:pPr lvl="1">
              <a:buNone/>
            </a:pPr>
            <a:r>
              <a:rPr lang="en-US" sz="3000" dirty="0"/>
              <a:t>where </a:t>
            </a:r>
            <a:r>
              <a:rPr lang="en-US" sz="3000" dirty="0">
                <a:solidFill>
                  <a:srgbClr val="2F1BC7"/>
                </a:solidFill>
              </a:rPr>
              <a:t>v1</a:t>
            </a:r>
            <a:r>
              <a:rPr lang="en-US" sz="3000" dirty="0"/>
              <a:t> is stored.</a:t>
            </a:r>
          </a:p>
          <a:p>
            <a:pPr lvl="1">
              <a:buNone/>
            </a:pPr>
            <a:r>
              <a:rPr lang="en-US" sz="3000" dirty="0"/>
              <a:t>- </a:t>
            </a:r>
            <a:r>
              <a:rPr lang="en-US" sz="3000" dirty="0">
                <a:solidFill>
                  <a:srgbClr val="2F1BC7"/>
                </a:solidFill>
              </a:rPr>
              <a:t>v1</a:t>
            </a:r>
            <a:r>
              <a:rPr lang="en-US" sz="3000" dirty="0"/>
              <a:t> is an integer variable</a:t>
            </a:r>
          </a:p>
          <a:p>
            <a:pPr lvl="1">
              <a:buNone/>
            </a:pPr>
            <a:r>
              <a:rPr lang="en-US" sz="3000" dirty="0"/>
              <a:t>- </a:t>
            </a:r>
            <a:r>
              <a:rPr lang="en-US" sz="3000" dirty="0">
                <a:solidFill>
                  <a:srgbClr val="2F1BC7"/>
                </a:solidFill>
              </a:rPr>
              <a:t>P1</a:t>
            </a:r>
            <a:r>
              <a:rPr lang="en-US" sz="3000" dirty="0"/>
              <a:t> is a integer pointer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7097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FBCD2F08-87B5-4A3A-A5C1-DCACF6496E17}" type="slidenum">
              <a:rPr lang="en-US" sz="1200"/>
              <a:pPr eaLnBrk="1" hangingPunct="1"/>
              <a:t>25</a:t>
            </a:fld>
            <a:endParaRPr lang="en-US" sz="1200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fr-FR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67900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and q still points to the same memory location (that may have</a:t>
            </a:r>
            <a:r>
              <a:rPr lang="en-US" baseline="0" dirty="0"/>
              <a:t> same or different value)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6624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and q</a:t>
            </a:r>
            <a:r>
              <a:rPr lang="en-US" dirty="0">
                <a:sym typeface="Wingdings" panose="05000000000000000000" pitchFamily="2" charset="2"/>
              </a:rPr>
              <a:t>  </a:t>
            </a:r>
            <a:r>
              <a:rPr lang="en-US" dirty="0"/>
              <a:t>don't point to a valid</a:t>
            </a:r>
            <a:r>
              <a:rPr lang="en-US" baseline="0" dirty="0"/>
              <a:t> allocated memory.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699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D18D569D-9B14-4F89-A0C7-54568870F71A}" type="slidenum">
              <a:rPr lang="en-US" sz="1200"/>
              <a:pPr eaLnBrk="1" hangingPunct="1"/>
              <a:t>48</a:t>
            </a:fld>
            <a:endParaRPr lang="en-US" sz="120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4213"/>
            <a:ext cx="4573588" cy="3430587"/>
          </a:xfrm>
          <a:ln/>
        </p:spPr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4988"/>
            <a:ext cx="5486400" cy="4114800"/>
          </a:xfrm>
        </p:spPr>
        <p:txBody>
          <a:bodyPr/>
          <a:lstStyle/>
          <a:p>
            <a:pPr eaLnBrk="1" hangingPunct="1">
              <a:defRPr/>
            </a:pPr>
            <a:endParaRPr lang="fr-FR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06416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2F4E8B32-F658-43AA-8BF7-AD1D98610A76}" type="slidenum">
              <a:rPr lang="en-US" sz="1200"/>
              <a:pPr eaLnBrk="1" hangingPunct="1"/>
              <a:t>49</a:t>
            </a:fld>
            <a:endParaRPr lang="en-US" sz="1200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4213"/>
            <a:ext cx="4573588" cy="3430587"/>
          </a:xfrm>
          <a:ln/>
        </p:spPr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4988"/>
            <a:ext cx="5486400" cy="4114800"/>
          </a:xfrm>
        </p:spPr>
        <p:txBody>
          <a:bodyPr/>
          <a:lstStyle/>
          <a:p>
            <a:pPr eaLnBrk="1" hangingPunct="1">
              <a:defRPr/>
            </a:pPr>
            <a:endParaRPr lang="fr-FR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25138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5826F64-7F95-4002-AB38-BD4DE5C1681E}" type="slidenum">
              <a:rPr lang="en-US"/>
              <a:pPr/>
              <a:t>50</a:t>
            </a:fld>
            <a:endParaRPr lang="en-US"/>
          </a:p>
        </p:txBody>
      </p:sp>
      <p:sp>
        <p:nvSpPr>
          <p:cNvPr id="377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7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6636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5826F64-7F95-4002-AB38-BD4DE5C1681E}" type="slidenum">
              <a:rPr lang="en-US"/>
              <a:pPr/>
              <a:t>51</a:t>
            </a:fld>
            <a:endParaRPr lang="en-US"/>
          </a:p>
        </p:txBody>
      </p:sp>
      <p:sp>
        <p:nvSpPr>
          <p:cNvPr id="377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7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3755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5826F64-7F95-4002-AB38-BD4DE5C1681E}" type="slidenum">
              <a:rPr lang="en-US"/>
              <a:pPr/>
              <a:t>52</a:t>
            </a:fld>
            <a:endParaRPr lang="en-US"/>
          </a:p>
        </p:txBody>
      </p:sp>
      <p:sp>
        <p:nvSpPr>
          <p:cNvPr id="377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7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4765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5826F64-7F95-4002-AB38-BD4DE5C1681E}" type="slidenum">
              <a:rPr lang="en-US"/>
              <a:pPr/>
              <a:t>53</a:t>
            </a:fld>
            <a:endParaRPr lang="en-US"/>
          </a:p>
        </p:txBody>
      </p:sp>
      <p:sp>
        <p:nvSpPr>
          <p:cNvPr id="377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7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2717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25C2BD6-0380-4169-8AD0-D28CD4984629}" type="slidenum">
              <a:rPr lang="en-US"/>
              <a:pPr/>
              <a:t>54</a:t>
            </a:fld>
            <a:endParaRPr lang="en-US"/>
          </a:p>
        </p:txBody>
      </p:sp>
      <p:sp>
        <p:nvSpPr>
          <p:cNvPr id="386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6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3161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25C2BD6-0380-4169-8AD0-D28CD4984629}" type="slidenum">
              <a:rPr lang="en-US"/>
              <a:pPr/>
              <a:t>55</a:t>
            </a:fld>
            <a:endParaRPr lang="en-US"/>
          </a:p>
        </p:txBody>
      </p:sp>
      <p:sp>
        <p:nvSpPr>
          <p:cNvPr id="386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6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1173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6B8BB413-D080-4401-A832-3CFD2D85F5FA}" type="slidenum">
              <a:rPr lang="en-US" sz="1200"/>
              <a:pPr eaLnBrk="1" hangingPunct="1"/>
              <a:t>56</a:t>
            </a:fld>
            <a:endParaRPr lang="en-US" sz="120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fr-FR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87545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F014BB21-7EC8-4DDD-8558-C637032C5A89}" type="slidenum">
              <a:rPr lang="en-US" sz="1200"/>
              <a:pPr eaLnBrk="1" hangingPunct="1"/>
              <a:t>57</a:t>
            </a:fld>
            <a:endParaRPr lang="en-US" sz="120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fr-FR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59760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E5A72EF9-3869-45E5-9026-8016FB80D600}" type="slidenum">
              <a:rPr lang="en-US" sz="1200"/>
              <a:pPr eaLnBrk="1" hangingPunct="1"/>
              <a:t>58</a:t>
            </a:fld>
            <a:endParaRPr lang="en-US" sz="1200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fr-FR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81984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7BDC9785-474A-434C-9187-00CC83EBA150}" type="slidenum">
              <a:rPr lang="en-US" sz="1200"/>
              <a:pPr eaLnBrk="1" hangingPunct="1"/>
              <a:t>59</a:t>
            </a:fld>
            <a:endParaRPr lang="en-US" sz="120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fr-FR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21033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FFEBB5E1-C090-40FF-A9C3-9A16682797A0}" type="slidenum">
              <a:rPr lang="en-US" sz="1200"/>
              <a:pPr eaLnBrk="1" hangingPunct="1"/>
              <a:t>60</a:t>
            </a:fld>
            <a:endParaRPr lang="en-US" sz="120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fr-FR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6287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FDA5AA58-2358-4A41-97E9-4C61DB14180C}" type="slidenum">
              <a:rPr lang="en-US" sz="1200"/>
              <a:pPr eaLnBrk="1" hangingPunct="1"/>
              <a:t>61</a:t>
            </a:fld>
            <a:endParaRPr lang="en-US" sz="1200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fr-FR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32323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FBCD2F08-87B5-4A3A-A5C1-DCACF6496E17}" type="slidenum">
              <a:rPr lang="en-US" sz="1200"/>
              <a:pPr eaLnBrk="1" hangingPunct="1"/>
              <a:t>63</a:t>
            </a:fld>
            <a:endParaRPr lang="en-US" sz="1200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fr-FR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830333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9E978BFC-9640-4DFA-9664-589FB221C040}" type="slidenum">
              <a:rPr lang="en-US" sz="1200"/>
              <a:pPr eaLnBrk="1" hangingPunct="1"/>
              <a:t>75</a:t>
            </a:fld>
            <a:endParaRPr lang="en-US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fr-FR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328051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8106EC48-6AC8-497A-A51B-330370061640}" type="slidenum">
              <a:rPr lang="en-US" sz="1200"/>
              <a:pPr eaLnBrk="1" hangingPunct="1"/>
              <a:t>76</a:t>
            </a:fld>
            <a:endParaRPr lang="en-US" sz="1200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fr-FR" dirty="0">
                <a:cs typeface="+mn-cs"/>
              </a:rPr>
              <a:t> </a:t>
            </a:r>
            <a:r>
              <a:rPr lang="fr-FR" dirty="0" err="1">
                <a:cs typeface="+mn-cs"/>
              </a:rPr>
              <a:t>int</a:t>
            </a:r>
            <a:r>
              <a:rPr lang="fr-FR" dirty="0">
                <a:cs typeface="+mn-cs"/>
              </a:rPr>
              <a:t> *</a:t>
            </a:r>
            <a:r>
              <a:rPr lang="fr-FR" dirty="0" err="1">
                <a:cs typeface="+mn-cs"/>
              </a:rPr>
              <a:t>ip</a:t>
            </a:r>
            <a:r>
              <a:rPr lang="fr-FR" dirty="0">
                <a:cs typeface="+mn-cs"/>
              </a:rPr>
              <a:t>;    char* </a:t>
            </a:r>
            <a:r>
              <a:rPr lang="fr-FR" dirty="0" err="1">
                <a:cs typeface="+mn-cs"/>
              </a:rPr>
              <a:t>cp</a:t>
            </a:r>
            <a:r>
              <a:rPr lang="fr-FR" dirty="0">
                <a:cs typeface="+mn-cs"/>
              </a:rPr>
              <a:t>;    double *</a:t>
            </a:r>
            <a:r>
              <a:rPr lang="fr-FR" dirty="0" err="1">
                <a:cs typeface="+mn-cs"/>
              </a:rPr>
              <a:t>dp</a:t>
            </a:r>
            <a:r>
              <a:rPr lang="fr-FR" dirty="0">
                <a:cs typeface="+mn-cs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15699008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5223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n-NO" dirty="0"/>
              <a:t>int main(){   </a:t>
            </a:r>
          </a:p>
          <a:p>
            <a:r>
              <a:rPr lang="nn-NO" dirty="0"/>
              <a:t> int *p= new int[5];        </a:t>
            </a:r>
          </a:p>
          <a:p>
            <a:r>
              <a:rPr lang="nn-NO" dirty="0"/>
              <a:t>for(int i =0; i&lt;5;i++)       </a:t>
            </a:r>
          </a:p>
          <a:p>
            <a:r>
              <a:rPr lang="nn-NO" dirty="0"/>
              <a:t> cin&gt;&gt;*(p+i);           </a:t>
            </a:r>
          </a:p>
          <a:p>
            <a:r>
              <a:rPr lang="nn-NO" dirty="0"/>
              <a:t>  for(int i =0; i&lt;5;i++)       </a:t>
            </a:r>
          </a:p>
          <a:p>
            <a:r>
              <a:rPr lang="nn-NO" dirty="0"/>
              <a:t> cout&lt;&lt;"  "&lt;&lt;p[i];    </a:t>
            </a:r>
          </a:p>
          <a:p>
            <a:r>
              <a:rPr lang="nn-NO" dirty="0"/>
              <a:t>return 0;}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87966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30761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bracket operator is implemented by computing the address of the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object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 = A = address of A[0] address of element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base + offset = base +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sizeof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(T) A[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= reference to element at this address Pointer must know its type to compute addresses using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sizeof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(T)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Note carefully the distinction between A and A[0]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26151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Access</a:t>
            </a:r>
            <a:r>
              <a:rPr lang="en-US" baseline="0" dirty="0"/>
              <a:t> using a single pointer:</a:t>
            </a:r>
          </a:p>
          <a:p>
            <a:r>
              <a:rPr lang="en-US" baseline="0" dirty="0"/>
              <a:t>*</a:t>
            </a:r>
            <a:r>
              <a:rPr lang="en-US" baseline="0" dirty="0" err="1"/>
              <a:t>pp</a:t>
            </a:r>
            <a:r>
              <a:rPr lang="en-US" baseline="0" dirty="0"/>
              <a:t> </a:t>
            </a:r>
            <a:r>
              <a:rPr lang="en-US" baseline="0" dirty="0">
                <a:sym typeface="Wingdings" panose="05000000000000000000" pitchFamily="2" charset="2"/>
              </a:rPr>
              <a:t> start of array of pointers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8848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80588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64409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83332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25C2BD6-0380-4169-8AD0-D28CD4984629}" type="slidenum">
              <a:rPr lang="en-US"/>
              <a:pPr/>
              <a:t>87</a:t>
            </a:fld>
            <a:endParaRPr lang="en-US"/>
          </a:p>
        </p:txBody>
      </p:sp>
      <p:sp>
        <p:nvSpPr>
          <p:cNvPr id="386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6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991161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25C2BD6-0380-4169-8AD0-D28CD4984629}" type="slidenum">
              <a:rPr lang="en-US"/>
              <a:pPr/>
              <a:t>88</a:t>
            </a:fld>
            <a:endParaRPr lang="en-US"/>
          </a:p>
        </p:txBody>
      </p:sp>
      <p:sp>
        <p:nvSpPr>
          <p:cNvPr id="386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6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3901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25C2BD6-0380-4169-8AD0-D28CD4984629}" type="slidenum">
              <a:rPr lang="en-US"/>
              <a:pPr/>
              <a:t>89</a:t>
            </a:fld>
            <a:endParaRPr lang="en-US"/>
          </a:p>
        </p:txBody>
      </p:sp>
      <p:sp>
        <p:nvSpPr>
          <p:cNvPr id="386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6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22232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25C2BD6-0380-4169-8AD0-D28CD4984629}" type="slidenum">
              <a:rPr lang="en-US"/>
              <a:pPr/>
              <a:t>90</a:t>
            </a:fld>
            <a:endParaRPr lang="en-US"/>
          </a:p>
        </p:txBody>
      </p:sp>
      <p:sp>
        <p:nvSpPr>
          <p:cNvPr id="386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6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35585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25C2BD6-0380-4169-8AD0-D28CD4984629}" type="slidenum">
              <a:rPr lang="en-US"/>
              <a:pPr/>
              <a:t>91</a:t>
            </a:fld>
            <a:endParaRPr lang="en-US"/>
          </a:p>
        </p:txBody>
      </p:sp>
      <p:sp>
        <p:nvSpPr>
          <p:cNvPr id="386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6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US" sz="2400" b="1" dirty="0"/>
              <a:t>Output: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FAST                                                                                                                                         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8           //64-bit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machine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                                                                                                                                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AST                                                                                                                                          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8   //64-bit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machine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7953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25C2BD6-0380-4169-8AD0-D28CD4984629}" type="slidenum">
              <a:rPr lang="en-US"/>
              <a:pPr/>
              <a:t>92</a:t>
            </a:fld>
            <a:endParaRPr lang="en-US"/>
          </a:p>
        </p:txBody>
      </p:sp>
      <p:sp>
        <p:nvSpPr>
          <p:cNvPr id="386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6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US" sz="2400" b="1" dirty="0"/>
              <a:t>Output: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FAST                                                                                                                                         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8           //64-bit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machine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                                                                                                                                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AST                                                                                                                                          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8   //64-bit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machine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594939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25C2BD6-0380-4169-8AD0-D28CD4984629}" type="slidenum">
              <a:rPr lang="en-US"/>
              <a:pPr/>
              <a:t>93</a:t>
            </a:fld>
            <a:endParaRPr lang="en-US"/>
          </a:p>
        </p:txBody>
      </p:sp>
      <p:sp>
        <p:nvSpPr>
          <p:cNvPr id="386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6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74125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25C2BD6-0380-4169-8AD0-D28CD4984629}" type="slidenum">
              <a:rPr lang="en-US"/>
              <a:pPr/>
              <a:t>94</a:t>
            </a:fld>
            <a:endParaRPr lang="en-US"/>
          </a:p>
        </p:txBody>
      </p:sp>
      <p:sp>
        <p:nvSpPr>
          <p:cNvPr id="386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6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ASCII of NULL character or  ‘\0’ is </a:t>
            </a:r>
            <a:r>
              <a:rPr lang="en-US" dirty="0">
                <a:sym typeface="Wingdings" panose="05000000000000000000" pitchFamily="2" charset="2"/>
              </a:rPr>
              <a:t> 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96666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/>
          <a:lstStyle/>
          <a:p>
            <a:endParaRPr 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0487148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/>
          <a:lstStyle/>
          <a:p>
            <a:endParaRPr 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499044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/>
          <a:lstStyle/>
          <a:p>
            <a:endParaRPr 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4760040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/>
          <a:lstStyle/>
          <a:p>
            <a:r>
              <a:rPr lang="en-US" dirty="0" err="1">
                <a:ea typeface="宋体" pitchFamily="2" charset="-122"/>
              </a:rPr>
              <a:t>int</a:t>
            </a:r>
            <a:r>
              <a:rPr lang="en-US" dirty="0">
                <a:ea typeface="宋体" pitchFamily="2" charset="-122"/>
              </a:rPr>
              <a:t> main (){     char c = 'd';     </a:t>
            </a:r>
            <a:r>
              <a:rPr lang="en-US" dirty="0" err="1">
                <a:ea typeface="宋体" pitchFamily="2" charset="-122"/>
              </a:rPr>
              <a:t>cout</a:t>
            </a:r>
            <a:r>
              <a:rPr lang="en-US" dirty="0">
                <a:ea typeface="宋体" pitchFamily="2" charset="-122"/>
              </a:rPr>
              <a:t>&lt;&lt;"\n Value: "&lt;&lt;c;  // value ‘d’     </a:t>
            </a:r>
            <a:r>
              <a:rPr lang="en-US" dirty="0" err="1">
                <a:ea typeface="宋体" pitchFamily="2" charset="-122"/>
              </a:rPr>
              <a:t>cout</a:t>
            </a:r>
            <a:r>
              <a:rPr lang="en-US" dirty="0">
                <a:ea typeface="宋体" pitchFamily="2" charset="-122"/>
              </a:rPr>
              <a:t>&lt;&lt;"\n Address: "&lt;&lt;&amp;c;  //treated as char * start address onwards characters     </a:t>
            </a:r>
            <a:r>
              <a:rPr lang="en-US" dirty="0" err="1">
                <a:ea typeface="宋体" pitchFamily="2" charset="-122"/>
              </a:rPr>
              <a:t>cout</a:t>
            </a:r>
            <a:r>
              <a:rPr lang="en-US" dirty="0">
                <a:ea typeface="宋体" pitchFamily="2" charset="-122"/>
              </a:rPr>
              <a:t>&lt;&lt;"\n Address (casted) : "&lt;&lt;(</a:t>
            </a:r>
            <a:r>
              <a:rPr lang="en-US" dirty="0" err="1">
                <a:ea typeface="宋体" pitchFamily="2" charset="-122"/>
              </a:rPr>
              <a:t>int</a:t>
            </a:r>
            <a:r>
              <a:rPr lang="en-US" dirty="0">
                <a:ea typeface="宋体" pitchFamily="2" charset="-122"/>
              </a:rPr>
              <a:t>*)&amp;c;   //prints as address value     *(</a:t>
            </a:r>
            <a:r>
              <a:rPr lang="en-US" dirty="0" err="1">
                <a:ea typeface="宋体" pitchFamily="2" charset="-122"/>
              </a:rPr>
              <a:t>int</a:t>
            </a:r>
            <a:r>
              <a:rPr lang="en-US" dirty="0">
                <a:ea typeface="宋体" pitchFamily="2" charset="-122"/>
              </a:rPr>
              <a:t>*)&amp;c = 'e'; //assign new value at the casted address     </a:t>
            </a:r>
            <a:r>
              <a:rPr lang="en-US" dirty="0" err="1">
                <a:ea typeface="宋体" pitchFamily="2" charset="-122"/>
              </a:rPr>
              <a:t>cout</a:t>
            </a:r>
            <a:r>
              <a:rPr lang="en-US" dirty="0">
                <a:ea typeface="宋体" pitchFamily="2" charset="-122"/>
              </a:rPr>
              <a:t>&lt;&lt;"\n New Value: "&lt;&lt;c;  // value ‘e’     </a:t>
            </a:r>
            <a:r>
              <a:rPr lang="en-US" dirty="0" err="1">
                <a:ea typeface="宋体" pitchFamily="2" charset="-122"/>
              </a:rPr>
              <a:t>cout</a:t>
            </a:r>
            <a:r>
              <a:rPr lang="en-US" dirty="0">
                <a:ea typeface="宋体" pitchFamily="2" charset="-122"/>
              </a:rPr>
              <a:t>&lt;&lt;"\n Address (casted) : "&lt;&lt;(</a:t>
            </a:r>
            <a:r>
              <a:rPr lang="en-US" dirty="0" err="1">
                <a:ea typeface="宋体" pitchFamily="2" charset="-122"/>
              </a:rPr>
              <a:t>int</a:t>
            </a:r>
            <a:r>
              <a:rPr lang="en-US" dirty="0">
                <a:ea typeface="宋体" pitchFamily="2" charset="-122"/>
              </a:rPr>
              <a:t>*)&amp;c;    //prints as address value     </a:t>
            </a:r>
            <a:r>
              <a:rPr lang="en-US" dirty="0" err="1">
                <a:ea typeface="宋体" pitchFamily="2" charset="-122"/>
              </a:rPr>
              <a:t>cout</a:t>
            </a:r>
            <a:r>
              <a:rPr lang="en-US" dirty="0">
                <a:ea typeface="宋体" pitchFamily="2" charset="-122"/>
              </a:rPr>
              <a:t>&lt;&lt;"\n Value (casted) : "&lt;&lt;*(</a:t>
            </a:r>
            <a:r>
              <a:rPr lang="en-US" dirty="0" err="1">
                <a:ea typeface="宋体" pitchFamily="2" charset="-122"/>
              </a:rPr>
              <a:t>int</a:t>
            </a:r>
            <a:r>
              <a:rPr lang="en-US" dirty="0">
                <a:ea typeface="宋体" pitchFamily="2" charset="-122"/>
              </a:rPr>
              <a:t>*)&amp;c;    //prints as address value  return 0;}</a:t>
            </a:r>
          </a:p>
        </p:txBody>
      </p:sp>
    </p:spTree>
    <p:extLst>
      <p:ext uri="{BB962C8B-B14F-4D97-AF65-F5344CB8AC3E}">
        <p14:creationId xmlns:p14="http://schemas.microsoft.com/office/powerpoint/2010/main" val="381425117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/>
          <a:lstStyle/>
          <a:p>
            <a:endParaRPr 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3805796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/>
          <a:lstStyle/>
          <a:p>
            <a:endParaRPr 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7569816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/>
          <a:lstStyle/>
          <a:p>
            <a:endParaRPr 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80078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1/24/24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8153400" cy="82973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9144000" cy="563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1/24/24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1/24/24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1/24/24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1/24/24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1/24/24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1/24/24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1/24/24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1/24/24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1/24/24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B0192B-E1F2-4D51-9245-C9CE8F612D86}" type="datetimeFigureOut">
              <a:rPr lang="en-US" smtClean="0"/>
              <a:pPr/>
              <a:t>1/24/24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99" y="44449"/>
            <a:ext cx="895349" cy="89534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24.xml"/><Relationship Id="rId3" Type="http://schemas.openxmlformats.org/officeDocument/2006/relationships/tags" Target="../tags/tag19.xml"/><Relationship Id="rId7" Type="http://schemas.openxmlformats.org/officeDocument/2006/relationships/tags" Target="../tags/tag23.xml"/><Relationship Id="rId12" Type="http://schemas.openxmlformats.org/officeDocument/2006/relationships/slideLayout" Target="../slideLayouts/slideLayout2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tags" Target="../tags/tag22.xml"/><Relationship Id="rId11" Type="http://schemas.openxmlformats.org/officeDocument/2006/relationships/tags" Target="../tags/tag27.xml"/><Relationship Id="rId5" Type="http://schemas.openxmlformats.org/officeDocument/2006/relationships/tags" Target="../tags/tag21.xml"/><Relationship Id="rId10" Type="http://schemas.openxmlformats.org/officeDocument/2006/relationships/tags" Target="../tags/tag26.xml"/><Relationship Id="rId4" Type="http://schemas.openxmlformats.org/officeDocument/2006/relationships/tags" Target="../tags/tag20.xml"/><Relationship Id="rId9" Type="http://schemas.openxmlformats.org/officeDocument/2006/relationships/tags" Target="../tags/tag2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9.xml"/><Relationship Id="rId1" Type="http://schemas.openxmlformats.org/officeDocument/2006/relationships/tags" Target="../tags/tag2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1.xml"/><Relationship Id="rId1" Type="http://schemas.openxmlformats.org/officeDocument/2006/relationships/tags" Target="../tags/tag3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4" Type="http://schemas.openxmlformats.org/officeDocument/2006/relationships/notesSlide" Target="../notesSlides/notesSlid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5.xml"/><Relationship Id="rId1" Type="http://schemas.openxmlformats.org/officeDocument/2006/relationships/tags" Target="../tags/tag3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7.xml"/><Relationship Id="rId1" Type="http://schemas.openxmlformats.org/officeDocument/2006/relationships/tags" Target="../tags/tag3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9.xml"/><Relationship Id="rId1" Type="http://schemas.openxmlformats.org/officeDocument/2006/relationships/tags" Target="../tags/tag3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1.xml"/><Relationship Id="rId1" Type="http://schemas.openxmlformats.org/officeDocument/2006/relationships/tags" Target="../tags/tag4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3.xml"/><Relationship Id="rId1" Type="http://schemas.openxmlformats.org/officeDocument/2006/relationships/tags" Target="../tags/tag4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5.xml"/><Relationship Id="rId1" Type="http://schemas.openxmlformats.org/officeDocument/2006/relationships/tags" Target="../tags/tag4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7.xml"/><Relationship Id="rId1" Type="http://schemas.openxmlformats.org/officeDocument/2006/relationships/tags" Target="../tags/tag4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9.xml"/><Relationship Id="rId1" Type="http://schemas.openxmlformats.org/officeDocument/2006/relationships/tags" Target="../tags/tag4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1.xml"/><Relationship Id="rId1" Type="http://schemas.openxmlformats.org/officeDocument/2006/relationships/tags" Target="../tags/tag5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3.xml"/><Relationship Id="rId1" Type="http://schemas.openxmlformats.org/officeDocument/2006/relationships/tags" Target="../tags/tag5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5.xml"/><Relationship Id="rId1" Type="http://schemas.openxmlformats.org/officeDocument/2006/relationships/tags" Target="../tags/tag5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7.xml"/><Relationship Id="rId1" Type="http://schemas.openxmlformats.org/officeDocument/2006/relationships/tags" Target="../tags/tag5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9.xml"/><Relationship Id="rId1" Type="http://schemas.openxmlformats.org/officeDocument/2006/relationships/tags" Target="../tags/tag5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4" Type="http://schemas.openxmlformats.org/officeDocument/2006/relationships/notesSlide" Target="../notesSlides/notesSlide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4" Type="http://schemas.openxmlformats.org/officeDocument/2006/relationships/notesSlide" Target="../notesSlides/notesSlide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636" y="1882775"/>
            <a:ext cx="8991600" cy="162242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160C5C"/>
                </a:solidFill>
              </a:rPr>
              <a:t>Pointers</a:t>
            </a:r>
            <a:br>
              <a:rPr lang="en-US" dirty="0"/>
            </a:br>
            <a:endParaRPr lang="en-US" sz="2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3962400"/>
            <a:ext cx="8686800" cy="2743200"/>
          </a:xfrm>
        </p:spPr>
        <p:txBody>
          <a:bodyPr>
            <a:normAutofit lnSpcReduction="10000"/>
          </a:bodyPr>
          <a:lstStyle/>
          <a:p>
            <a:endParaRPr lang="en-US" sz="2600" dirty="0"/>
          </a:p>
          <a:p>
            <a:endParaRPr lang="en-US" sz="2600" dirty="0"/>
          </a:p>
          <a:p>
            <a:endParaRPr lang="en-US" sz="2600" dirty="0"/>
          </a:p>
          <a:p>
            <a:r>
              <a:rPr lang="en-US" sz="2600" dirty="0"/>
              <a:t>Department of Computer Science, </a:t>
            </a:r>
          </a:p>
          <a:p>
            <a:r>
              <a:rPr lang="en-US" sz="2800" dirty="0"/>
              <a:t>National University of Computer &amp; Emerging Sciences</a:t>
            </a:r>
            <a:r>
              <a:rPr lang="en-US" sz="2600" dirty="0"/>
              <a:t>, Islamabad Campus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ChangeArrowheads="1"/>
          </p:cNvSpPr>
          <p:nvPr>
            <p:ph type="title"/>
          </p:nvPr>
        </p:nvSpPr>
        <p:spPr>
          <a:xfrm>
            <a:off x="941330" y="0"/>
            <a:ext cx="8153400" cy="1112519"/>
          </a:xfrm>
        </p:spPr>
        <p:txBody>
          <a:bodyPr/>
          <a:lstStyle/>
          <a:p>
            <a:r>
              <a:rPr lang="en-US" altLang="zh-CN" b="1" dirty="0">
                <a:solidFill>
                  <a:srgbClr val="B80000"/>
                </a:solidFill>
              </a:rPr>
              <a:t>From C++ Code to Process</a:t>
            </a:r>
          </a:p>
        </p:txBody>
      </p:sp>
      <p:sp>
        <p:nvSpPr>
          <p:cNvPr id="144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b="1" dirty="0"/>
              <a:t>C++ source files</a:t>
            </a:r>
          </a:p>
          <a:p>
            <a:pPr lvl="1">
              <a:lnSpc>
                <a:spcPct val="90000"/>
              </a:lnSpc>
            </a:pPr>
            <a:r>
              <a:rPr lang="en-US" altLang="zh-CN" dirty="0"/>
              <a:t>.</a:t>
            </a:r>
            <a:r>
              <a:rPr lang="en-US" altLang="zh-CN" dirty="0" err="1"/>
              <a:t>cpp</a:t>
            </a:r>
            <a:r>
              <a:rPr lang="en-US" altLang="zh-CN" dirty="0"/>
              <a:t>; .h</a:t>
            </a:r>
          </a:p>
          <a:p>
            <a:pPr lvl="1">
              <a:lnSpc>
                <a:spcPct val="90000"/>
              </a:lnSpc>
            </a:pPr>
            <a:endParaRPr lang="en-US" altLang="zh-CN" dirty="0"/>
          </a:p>
          <a:p>
            <a:pPr>
              <a:lnSpc>
                <a:spcPct val="90000"/>
              </a:lnSpc>
            </a:pPr>
            <a:r>
              <a:rPr lang="en-US" altLang="zh-CN" b="1" dirty="0"/>
              <a:t>Binary files</a:t>
            </a:r>
          </a:p>
          <a:p>
            <a:pPr lvl="1">
              <a:lnSpc>
                <a:spcPct val="90000"/>
              </a:lnSpc>
            </a:pPr>
            <a:r>
              <a:rPr lang="en-US" altLang="zh-CN" dirty="0"/>
              <a:t>.o</a:t>
            </a:r>
          </a:p>
          <a:p>
            <a:pPr lvl="1">
              <a:lnSpc>
                <a:spcPct val="90000"/>
              </a:lnSpc>
            </a:pPr>
            <a:endParaRPr lang="en-US" altLang="zh-CN" dirty="0"/>
          </a:p>
          <a:p>
            <a:pPr>
              <a:lnSpc>
                <a:spcPct val="90000"/>
              </a:lnSpc>
            </a:pPr>
            <a:r>
              <a:rPr lang="en-US" altLang="zh-CN" b="1" dirty="0"/>
              <a:t>Executable</a:t>
            </a:r>
            <a:r>
              <a:rPr lang="en-US" altLang="zh-CN" dirty="0"/>
              <a:t> (</a:t>
            </a:r>
            <a:r>
              <a:rPr lang="en-US" altLang="zh-CN" dirty="0" err="1"/>
              <a:t>linux</a:t>
            </a:r>
            <a:r>
              <a:rPr lang="en-US" altLang="zh-CN" dirty="0"/>
              <a:t>, Ubuntu, …)</a:t>
            </a:r>
          </a:p>
          <a:p>
            <a:pPr lvl="1">
              <a:lnSpc>
                <a:spcPct val="90000"/>
              </a:lnSpc>
            </a:pPr>
            <a:r>
              <a:rPr lang="en-US" altLang="zh-CN" dirty="0" err="1"/>
              <a:t>a.out</a:t>
            </a:r>
            <a:endParaRPr lang="en-US" altLang="zh-CN" dirty="0"/>
          </a:p>
          <a:p>
            <a:pPr lvl="1">
              <a:lnSpc>
                <a:spcPct val="90000"/>
              </a:lnSpc>
            </a:pPr>
            <a:endParaRPr lang="en-US" altLang="zh-CN" dirty="0"/>
          </a:p>
          <a:p>
            <a:pPr>
              <a:lnSpc>
                <a:spcPct val="90000"/>
              </a:lnSpc>
            </a:pPr>
            <a:r>
              <a:rPr lang="en-US" altLang="zh-CN" b="1" dirty="0"/>
              <a:t>Process</a:t>
            </a:r>
          </a:p>
          <a:p>
            <a:pPr lvl="1">
              <a:lnSpc>
                <a:spcPct val="90000"/>
              </a:lnSpc>
            </a:pPr>
            <a:r>
              <a:rPr lang="en-US" altLang="zh-CN" dirty="0"/>
              <a:t>Managed by OS</a:t>
            </a:r>
          </a:p>
        </p:txBody>
      </p:sp>
      <p:sp>
        <p:nvSpPr>
          <p:cNvPr id="144389" name="AutoShape 5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324600" y="2057400"/>
            <a:ext cx="1981200" cy="609600"/>
          </a:xfrm>
          <a:prstGeom prst="flowChartDocument">
            <a:avLst/>
          </a:prstGeom>
          <a:solidFill>
            <a:srgbClr val="FF00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4390" name="AutoShape 6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248400" y="2209800"/>
            <a:ext cx="1981200" cy="609600"/>
          </a:xfrm>
          <a:prstGeom prst="flowChartDocument">
            <a:avLst/>
          </a:prstGeom>
          <a:solidFill>
            <a:srgbClr val="FF00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4391" name="AutoShape 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172200" y="2362200"/>
            <a:ext cx="1981200" cy="609600"/>
          </a:xfrm>
          <a:prstGeom prst="flowChartDocument">
            <a:avLst/>
          </a:prstGeom>
          <a:solidFill>
            <a:srgbClr val="FF00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4392" name="Line 8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7086600" y="2971800"/>
            <a:ext cx="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393" name="Rectangle 9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6096000" y="3352800"/>
            <a:ext cx="2209800" cy="609600"/>
          </a:xfrm>
          <a:prstGeom prst="rect">
            <a:avLst/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buFontTx/>
              <a:buChar char="•"/>
            </a:pPr>
            <a:endParaRPr lang="en-US" sz="2400">
              <a:latin typeface="Times New Roman" panose="02020603050405020304" pitchFamily="18" charset="0"/>
            </a:endParaRPr>
          </a:p>
        </p:txBody>
      </p:sp>
      <p:sp>
        <p:nvSpPr>
          <p:cNvPr id="144394" name="Text Box 10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6400800" y="3429000"/>
            <a:ext cx="1647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</a:rPr>
              <a:t>binary files</a:t>
            </a:r>
          </a:p>
        </p:txBody>
      </p:sp>
      <p:sp>
        <p:nvSpPr>
          <p:cNvPr id="144395" name="Text Box 11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6157913" y="2362200"/>
            <a:ext cx="235756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</a:rPr>
              <a:t>C++ source code</a:t>
            </a:r>
          </a:p>
        </p:txBody>
      </p:sp>
      <p:sp>
        <p:nvSpPr>
          <p:cNvPr id="144396" name="Line 12"/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7086600" y="3962400"/>
            <a:ext cx="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397" name="Rectangle 13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6096000" y="5638800"/>
            <a:ext cx="2209800" cy="609600"/>
          </a:xfrm>
          <a:prstGeom prst="rect">
            <a:avLst/>
          </a:prstGeom>
          <a:solidFill>
            <a:srgbClr val="99CC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buFontTx/>
              <a:buChar char="•"/>
            </a:pPr>
            <a:endParaRPr lang="en-US" sz="2400">
              <a:latin typeface="Times New Roman" panose="02020603050405020304" pitchFamily="18" charset="0"/>
            </a:endParaRPr>
          </a:p>
        </p:txBody>
      </p:sp>
      <p:sp>
        <p:nvSpPr>
          <p:cNvPr id="144398" name="Text Box 14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6553200" y="5715000"/>
            <a:ext cx="1149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latin typeface="Times New Roman" panose="02020603050405020304" pitchFamily="18" charset="0"/>
              </a:rPr>
              <a:t>process</a:t>
            </a:r>
          </a:p>
        </p:txBody>
      </p:sp>
      <p:sp>
        <p:nvSpPr>
          <p:cNvPr id="144399" name="Text Box 15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7315200" y="2819400"/>
            <a:ext cx="14176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>
                <a:latin typeface="Times New Roman" panose="02020603050405020304" pitchFamily="18" charset="0"/>
              </a:rPr>
              <a:t>compiling</a:t>
            </a:r>
          </a:p>
        </p:txBody>
      </p:sp>
      <p:sp>
        <p:nvSpPr>
          <p:cNvPr id="144400" name="Text Box 16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7391400" y="5181600"/>
            <a:ext cx="1131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</a:rPr>
              <a:t>running</a:t>
            </a:r>
          </a:p>
        </p:txBody>
      </p:sp>
      <p:sp>
        <p:nvSpPr>
          <p:cNvPr id="144401" name="Rectangle 17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6096000" y="4495800"/>
            <a:ext cx="2209800" cy="609600"/>
          </a:xfrm>
          <a:prstGeom prst="rect">
            <a:avLst/>
          </a:prstGeom>
          <a:solidFill>
            <a:srgbClr val="FF9966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buFontTx/>
              <a:buChar char="•"/>
            </a:pPr>
            <a:endParaRPr lang="en-US" sz="2400">
              <a:latin typeface="Times New Roman" panose="02020603050405020304" pitchFamily="18" charset="0"/>
            </a:endParaRPr>
          </a:p>
        </p:txBody>
      </p:sp>
      <p:sp>
        <p:nvSpPr>
          <p:cNvPr id="144402" name="Text Box 18"/>
          <p:cNvSpPr txBox="1"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6400800" y="4572000"/>
            <a:ext cx="1554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</a:rPr>
              <a:t>executable</a:t>
            </a:r>
          </a:p>
        </p:txBody>
      </p:sp>
      <p:sp>
        <p:nvSpPr>
          <p:cNvPr id="144403" name="Line 19"/>
          <p:cNvSpPr>
            <a:spLocks noChangeShapeType="1"/>
          </p:cNvSpPr>
          <p:nvPr>
            <p:custDataLst>
              <p:tags r:id="rId15"/>
            </p:custDataLst>
          </p:nvPr>
        </p:nvSpPr>
        <p:spPr bwMode="auto">
          <a:xfrm>
            <a:off x="7086600" y="5105400"/>
            <a:ext cx="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404" name="Text Box 20"/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7391400" y="3962400"/>
            <a:ext cx="1046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</a:rPr>
              <a:t>linking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756" y="10668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895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for post">
            <a:extLst>
              <a:ext uri="{FF2B5EF4-FFF2-40B4-BE49-F238E27FC236}">
                <a16:creationId xmlns:a16="http://schemas.microsoft.com/office/drawing/2014/main" id="{74ADAB7C-8A83-4D63-A310-5EDD8A16A2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90600" y="0"/>
            <a:ext cx="7924800" cy="6858000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40067298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80034"/>
            <a:ext cx="8153400" cy="715962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C++ Memory Models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060" y="948396"/>
            <a:ext cx="8985740" cy="5867400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rgbClr val="2C14DE"/>
                </a:solidFill>
              </a:rPr>
              <a:t>C++ </a:t>
            </a:r>
            <a:r>
              <a:rPr lang="en-US" sz="3000" b="1" dirty="0"/>
              <a:t>leaves</a:t>
            </a:r>
            <a:r>
              <a:rPr lang="en-US" sz="3000" dirty="0"/>
              <a:t> </a:t>
            </a:r>
            <a:r>
              <a:rPr lang="en-US" sz="3000" b="1" dirty="0">
                <a:solidFill>
                  <a:srgbClr val="2C14DE"/>
                </a:solidFill>
              </a:rPr>
              <a:t>memory management </a:t>
            </a:r>
            <a:r>
              <a:rPr lang="en-US" sz="3000" dirty="0"/>
              <a:t>mostly </a:t>
            </a:r>
            <a:r>
              <a:rPr lang="en-US" sz="3000" b="1" dirty="0"/>
              <a:t>up to the programmer:</a:t>
            </a:r>
          </a:p>
          <a:p>
            <a:pPr marL="457200" lvl="1" indent="0" algn="just">
              <a:buNone/>
            </a:pPr>
            <a:r>
              <a:rPr lang="en-US" sz="3000" b="1" dirty="0" err="1">
                <a:solidFill>
                  <a:srgbClr val="008000"/>
                </a:solidFill>
              </a:rPr>
              <a:t>ve</a:t>
            </a:r>
            <a:r>
              <a:rPr lang="en-US" sz="3000" b="1" dirty="0">
                <a:solidFill>
                  <a:srgbClr val="008000"/>
                </a:solidFill>
              </a:rPr>
              <a:t>++: </a:t>
            </a:r>
            <a:r>
              <a:rPr lang="en-US" sz="3000" dirty="0"/>
              <a:t>write </a:t>
            </a:r>
            <a:r>
              <a:rPr lang="en-US" sz="3000" b="1" dirty="0"/>
              <a:t>programs</a:t>
            </a:r>
            <a:r>
              <a:rPr lang="en-US" sz="3000" b="1" dirty="0">
                <a:solidFill>
                  <a:srgbClr val="008000"/>
                </a:solidFill>
              </a:rPr>
              <a:t> </a:t>
            </a:r>
            <a:r>
              <a:rPr lang="en-US" sz="3000" dirty="0"/>
              <a:t>that </a:t>
            </a:r>
            <a:r>
              <a:rPr lang="en-US" sz="3000" b="1" dirty="0">
                <a:solidFill>
                  <a:srgbClr val="2C14DE"/>
                </a:solidFill>
              </a:rPr>
              <a:t>use memory </a:t>
            </a:r>
            <a:r>
              <a:rPr lang="en-US" sz="3000" b="1" dirty="0">
                <a:solidFill>
                  <a:srgbClr val="008000"/>
                </a:solidFill>
              </a:rPr>
              <a:t>very efficiently</a:t>
            </a:r>
          </a:p>
          <a:p>
            <a:pPr marL="457200" lvl="1" indent="0" algn="just">
              <a:buNone/>
            </a:pPr>
            <a:r>
              <a:rPr lang="en-US" sz="3000" b="1" dirty="0" err="1">
                <a:solidFill>
                  <a:srgbClr val="B80000"/>
                </a:solidFill>
              </a:rPr>
              <a:t>Ve</a:t>
            </a:r>
            <a:r>
              <a:rPr lang="en-US" sz="3000" b="1" dirty="0">
                <a:solidFill>
                  <a:srgbClr val="B80000"/>
                </a:solidFill>
              </a:rPr>
              <a:t>--: </a:t>
            </a:r>
            <a:r>
              <a:rPr lang="en-US" sz="3000" dirty="0"/>
              <a:t>write </a:t>
            </a:r>
            <a:r>
              <a:rPr lang="en-US" sz="3000" b="1" dirty="0"/>
              <a:t>programs</a:t>
            </a:r>
            <a:r>
              <a:rPr lang="en-US" sz="3000" dirty="0"/>
              <a:t> that </a:t>
            </a:r>
            <a:r>
              <a:rPr lang="en-US" sz="3000" b="1" dirty="0">
                <a:solidFill>
                  <a:srgbClr val="B80000"/>
                </a:solidFill>
              </a:rPr>
              <a:t>waste memory </a:t>
            </a:r>
            <a:r>
              <a:rPr lang="en-US" sz="3000" dirty="0"/>
              <a:t>or </a:t>
            </a:r>
            <a:r>
              <a:rPr lang="en-US" sz="3000" b="1" dirty="0">
                <a:solidFill>
                  <a:srgbClr val="B80000"/>
                </a:solidFill>
              </a:rPr>
              <a:t>do not work at all</a:t>
            </a:r>
          </a:p>
          <a:p>
            <a:pPr lvl="1" algn="just"/>
            <a:endParaRPr lang="en-US" dirty="0"/>
          </a:p>
          <a:p>
            <a:pPr algn="just"/>
            <a:r>
              <a:rPr lang="en-US" b="1" u="sng" dirty="0">
                <a:solidFill>
                  <a:srgbClr val="008000"/>
                </a:solidFill>
              </a:rPr>
              <a:t>For efficient program working</a:t>
            </a:r>
            <a:r>
              <a:rPr lang="en-US" dirty="0"/>
              <a:t>, we need </a:t>
            </a:r>
            <a:r>
              <a:rPr lang="en-US" b="1" dirty="0">
                <a:solidFill>
                  <a:srgbClr val="2C14DE"/>
                </a:solidFill>
              </a:rPr>
              <a:t>good understanding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dirty="0"/>
              <a:t>of the </a:t>
            </a:r>
            <a:r>
              <a:rPr lang="en-US" b="1" dirty="0">
                <a:solidFill>
                  <a:srgbClr val="2C14DE"/>
                </a:solidFill>
              </a:rPr>
              <a:t>memory models</a:t>
            </a:r>
          </a:p>
          <a:p>
            <a:pPr algn="just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0" y="8686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338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80033"/>
            <a:ext cx="8839200" cy="788647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C++ Memory Models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060" y="948396"/>
            <a:ext cx="9019736" cy="5867400"/>
          </a:xfrm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rgbClr val="C00000"/>
                </a:solidFill>
              </a:rPr>
              <a:t>Common errors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caused by </a:t>
            </a:r>
            <a:r>
              <a:rPr lang="en-US" b="1" dirty="0">
                <a:solidFill>
                  <a:srgbClr val="C00000"/>
                </a:solidFill>
              </a:rPr>
              <a:t>poor memory management</a:t>
            </a:r>
            <a:r>
              <a:rPr lang="en-US" dirty="0"/>
              <a:t>: </a:t>
            </a:r>
          </a:p>
          <a:p>
            <a:pPr lvl="1"/>
            <a:r>
              <a:rPr lang="en-US" b="1" dirty="0">
                <a:solidFill>
                  <a:srgbClr val="2C14DE"/>
                </a:solidFill>
              </a:rPr>
              <a:t>Using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dirty="0"/>
              <a:t>a </a:t>
            </a:r>
            <a:r>
              <a:rPr lang="en-US" b="1" dirty="0">
                <a:solidFill>
                  <a:srgbClr val="2C14DE"/>
                </a:solidFill>
              </a:rPr>
              <a:t>variable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b="1" dirty="0">
                <a:solidFill>
                  <a:srgbClr val="2C14DE"/>
                </a:solidFill>
              </a:rPr>
              <a:t>before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dirty="0"/>
              <a:t>it has been </a:t>
            </a:r>
            <a:r>
              <a:rPr lang="en-US" b="1" dirty="0">
                <a:solidFill>
                  <a:srgbClr val="2C14DE"/>
                </a:solidFill>
              </a:rPr>
              <a:t>initialized</a:t>
            </a:r>
          </a:p>
          <a:p>
            <a:pPr lvl="1"/>
            <a:r>
              <a:rPr lang="en-US" b="1" dirty="0">
                <a:solidFill>
                  <a:srgbClr val="2C14DE"/>
                </a:solidFill>
              </a:rPr>
              <a:t>Allocating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b="1" dirty="0">
                <a:solidFill>
                  <a:srgbClr val="2C14DE"/>
                </a:solidFill>
              </a:rPr>
              <a:t>memory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dirty="0"/>
              <a:t>for storage and </a:t>
            </a:r>
            <a:r>
              <a:rPr lang="en-US" b="1" dirty="0">
                <a:solidFill>
                  <a:srgbClr val="2C14DE"/>
                </a:solidFill>
              </a:rPr>
              <a:t>not deleting it </a:t>
            </a:r>
          </a:p>
          <a:p>
            <a:pPr lvl="1"/>
            <a:r>
              <a:rPr lang="en-US" b="1" dirty="0">
                <a:solidFill>
                  <a:srgbClr val="2C14DE"/>
                </a:solidFill>
              </a:rPr>
              <a:t>Using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dirty="0"/>
              <a:t>a </a:t>
            </a:r>
            <a:r>
              <a:rPr lang="en-US" b="1" dirty="0">
                <a:solidFill>
                  <a:srgbClr val="2C14DE"/>
                </a:solidFill>
              </a:rPr>
              <a:t>value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dirty="0"/>
              <a:t>after it </a:t>
            </a:r>
            <a:r>
              <a:rPr lang="en-US" b="1" dirty="0">
                <a:solidFill>
                  <a:srgbClr val="2C14DE"/>
                </a:solidFill>
              </a:rPr>
              <a:t>has been deleted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b="1" dirty="0"/>
              <a:t>What are the solutions?</a:t>
            </a:r>
          </a:p>
          <a:p>
            <a:pPr lvl="1"/>
            <a:r>
              <a:rPr lang="en-US" dirty="0"/>
              <a:t>….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8925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7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B80000"/>
                </a:solidFill>
              </a:rPr>
              <a:t>Main Memory</a:t>
            </a:r>
          </a:p>
        </p:txBody>
      </p:sp>
      <p:sp>
        <p:nvSpPr>
          <p:cNvPr id="145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dirty="0"/>
              <a:t> 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981200" y="1843087"/>
            <a:ext cx="5410200" cy="3603819"/>
            <a:chOff x="1981200" y="1843087"/>
            <a:chExt cx="5410200" cy="3603819"/>
          </a:xfrm>
        </p:grpSpPr>
        <p:sp>
          <p:nvSpPr>
            <p:cNvPr id="145412" name="Rectangle 4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981200" y="2681287"/>
              <a:ext cx="1371600" cy="7620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/>
                <a:t>CPU</a:t>
              </a:r>
            </a:p>
          </p:txBody>
        </p:sp>
        <p:sp>
          <p:nvSpPr>
            <p:cNvPr id="145413" name="Rectangle 5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981200" y="3824287"/>
              <a:ext cx="1371600" cy="762000"/>
            </a:xfrm>
            <a:prstGeom prst="rect">
              <a:avLst/>
            </a:prstGeom>
            <a:solidFill>
              <a:srgbClr val="FF9966"/>
            </a:solidFill>
            <a:ln w="2857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/>
                <a:t>Memory</a:t>
              </a:r>
            </a:p>
          </p:txBody>
        </p:sp>
        <p:sp>
          <p:nvSpPr>
            <p:cNvPr id="145414" name="Rectangle 6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3886200" y="3519487"/>
              <a:ext cx="1371600" cy="76200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/>
                <a:t>Disk</a:t>
              </a:r>
            </a:p>
          </p:txBody>
        </p:sp>
        <p:sp>
          <p:nvSpPr>
            <p:cNvPr id="145415" name="Line 7"/>
            <p:cNvSpPr>
              <a:spLocks noChangeShapeType="1"/>
            </p:cNvSpPr>
            <p:nvPr>
              <p:custDataLst>
                <p:tags r:id="rId4"/>
              </p:custDataLst>
            </p:nvPr>
          </p:nvSpPr>
          <p:spPr bwMode="auto">
            <a:xfrm flipV="1">
              <a:off x="2667000" y="3443287"/>
              <a:ext cx="0" cy="381000"/>
            </a:xfrm>
            <a:prstGeom prst="line">
              <a:avLst/>
            </a:prstGeom>
            <a:noFill/>
            <a:ln w="349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5416" name="Line 8"/>
            <p:cNvSpPr>
              <a:spLocks noChangeShapeType="1"/>
            </p:cNvSpPr>
            <p:nvPr>
              <p:custDataLst>
                <p:tags r:id="rId5"/>
              </p:custDataLst>
            </p:nvPr>
          </p:nvSpPr>
          <p:spPr bwMode="auto">
            <a:xfrm>
              <a:off x="3352800" y="3048000"/>
              <a:ext cx="3733800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5417" name="Rectangle 9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3886200" y="1843087"/>
              <a:ext cx="1371600" cy="76200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/>
                <a:t>Network</a:t>
              </a:r>
            </a:p>
          </p:txBody>
        </p:sp>
        <p:sp>
          <p:nvSpPr>
            <p:cNvPr id="145418" name="Rectangle 10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5562600" y="3519487"/>
              <a:ext cx="1371600" cy="76200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/>
                <a:t>Video</a:t>
              </a:r>
            </a:p>
          </p:txBody>
        </p:sp>
        <p:sp>
          <p:nvSpPr>
            <p:cNvPr id="145419" name="Rectangle 11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5562600" y="1843087"/>
              <a:ext cx="1371600" cy="762000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dirty="0"/>
                <a:t>Audio</a:t>
              </a:r>
            </a:p>
          </p:txBody>
        </p:sp>
        <p:sp>
          <p:nvSpPr>
            <p:cNvPr id="145420" name="Line 12"/>
            <p:cNvSpPr>
              <a:spLocks noChangeShapeType="1"/>
            </p:cNvSpPr>
            <p:nvPr>
              <p:custDataLst>
                <p:tags r:id="rId9"/>
              </p:custDataLst>
            </p:nvPr>
          </p:nvSpPr>
          <p:spPr bwMode="auto">
            <a:xfrm>
              <a:off x="4586288" y="2605087"/>
              <a:ext cx="0" cy="91440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5421" name="Line 13"/>
            <p:cNvSpPr>
              <a:spLocks noChangeShapeType="1"/>
            </p:cNvSpPr>
            <p:nvPr>
              <p:custDataLst>
                <p:tags r:id="rId10"/>
              </p:custDataLst>
            </p:nvPr>
          </p:nvSpPr>
          <p:spPr bwMode="auto">
            <a:xfrm>
              <a:off x="6248400" y="2605087"/>
              <a:ext cx="0" cy="91440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5422" name="Text Box 14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3394075" y="2651125"/>
              <a:ext cx="1192213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>
                  <a:solidFill>
                    <a:schemeClr val="hlink"/>
                  </a:solidFill>
                </a:rPr>
                <a:t>Data Bus</a:t>
              </a:r>
            </a:p>
          </p:txBody>
        </p:sp>
        <p:sp>
          <p:nvSpPr>
            <p:cNvPr id="145424" name="Text Box 16"/>
            <p:cNvSpPr txBox="1">
              <a:spLocks noChangeArrowheads="1"/>
            </p:cNvSpPr>
            <p:nvPr/>
          </p:nvSpPr>
          <p:spPr bwMode="auto">
            <a:xfrm>
              <a:off x="3733800" y="5077574"/>
              <a:ext cx="3657600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 dirty="0"/>
                <a:t>shared by all processes</a:t>
              </a:r>
            </a:p>
          </p:txBody>
        </p:sp>
        <p:sp>
          <p:nvSpPr>
            <p:cNvPr id="145425" name="Line 17"/>
            <p:cNvSpPr>
              <a:spLocks noChangeShapeType="1"/>
            </p:cNvSpPr>
            <p:nvPr/>
          </p:nvSpPr>
          <p:spPr bwMode="auto">
            <a:xfrm flipH="1" flipV="1">
              <a:off x="3429000" y="4510087"/>
              <a:ext cx="6096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Rectangle 17"/>
          <p:cNvSpPr/>
          <p:nvPr/>
        </p:nvSpPr>
        <p:spPr>
          <a:xfrm>
            <a:off x="0" y="8686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2898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ChangeArrowheads="1"/>
          </p:cNvSpPr>
          <p:nvPr>
            <p:ph type="title"/>
          </p:nvPr>
        </p:nvSpPr>
        <p:spPr>
          <a:xfrm>
            <a:off x="999653" y="68958"/>
            <a:ext cx="8153400" cy="914400"/>
          </a:xfrm>
        </p:spPr>
        <p:txBody>
          <a:bodyPr>
            <a:normAutofit fontScale="90000"/>
          </a:bodyPr>
          <a:lstStyle/>
          <a:p>
            <a:r>
              <a:rPr lang="en-US" altLang="zh-CN" b="1" dirty="0">
                <a:solidFill>
                  <a:srgbClr val="B80000"/>
                </a:solidFill>
              </a:rPr>
              <a:t>Virtual Memory </a:t>
            </a:r>
            <a:br>
              <a:rPr lang="en-US" altLang="zh-CN" b="1" dirty="0">
                <a:solidFill>
                  <a:srgbClr val="B80000"/>
                </a:solidFill>
              </a:rPr>
            </a:br>
            <a:r>
              <a:rPr lang="en-US" altLang="zh-CN" b="1" dirty="0">
                <a:solidFill>
                  <a:srgbClr val="B80000"/>
                </a:solidFill>
              </a:rPr>
              <a:t>(How a CPU see’s a Process?)</a:t>
            </a:r>
          </a:p>
        </p:txBody>
      </p:sp>
      <p:sp>
        <p:nvSpPr>
          <p:cNvPr id="146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517969"/>
            <a:ext cx="5446712" cy="4114800"/>
          </a:xfrm>
        </p:spPr>
        <p:txBody>
          <a:bodyPr/>
          <a:lstStyle/>
          <a:p>
            <a:r>
              <a:rPr lang="en-US" altLang="zh-CN" b="1" dirty="0">
                <a:solidFill>
                  <a:srgbClr val="2C14DE"/>
                </a:solidFill>
              </a:rPr>
              <a:t>Continuous </a:t>
            </a:r>
            <a:r>
              <a:rPr lang="en-US" altLang="zh-CN" b="1" dirty="0"/>
              <a:t>memory space for all process:</a:t>
            </a:r>
          </a:p>
          <a:p>
            <a:pPr lvl="1"/>
            <a:r>
              <a:rPr lang="en-US" altLang="zh-CN" b="1" dirty="0">
                <a:solidFill>
                  <a:srgbClr val="2C14DE"/>
                </a:solidFill>
              </a:rPr>
              <a:t>Set of locations </a:t>
            </a:r>
            <a:r>
              <a:rPr lang="en-US" altLang="zh-CN" dirty="0"/>
              <a:t>as </a:t>
            </a:r>
            <a:r>
              <a:rPr lang="en-US" altLang="zh-CN" b="1" dirty="0">
                <a:solidFill>
                  <a:srgbClr val="2C14DE"/>
                </a:solidFill>
              </a:rPr>
              <a:t>needed</a:t>
            </a:r>
            <a:r>
              <a:rPr lang="en-US" altLang="zh-CN" dirty="0">
                <a:solidFill>
                  <a:srgbClr val="2C14DE"/>
                </a:solidFill>
              </a:rPr>
              <a:t> </a:t>
            </a:r>
            <a:r>
              <a:rPr lang="en-US" altLang="zh-CN" dirty="0"/>
              <a:t>by a </a:t>
            </a:r>
            <a:r>
              <a:rPr lang="en-US" altLang="zh-CN" b="1" dirty="0">
                <a:solidFill>
                  <a:srgbClr val="2C14DE"/>
                </a:solidFill>
              </a:rPr>
              <a:t>process</a:t>
            </a:r>
          </a:p>
        </p:txBody>
      </p:sp>
      <p:sp>
        <p:nvSpPr>
          <p:cNvPr id="146436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934200" y="2286000"/>
            <a:ext cx="1752600" cy="3657600"/>
          </a:xfrm>
          <a:prstGeom prst="rect">
            <a:avLst/>
          </a:prstGeom>
          <a:solidFill>
            <a:srgbClr val="F8F8F8"/>
          </a:solidFill>
          <a:ln w="28575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6438" name="Text Box 6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181600" y="5678488"/>
            <a:ext cx="170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</a:rPr>
              <a:t>0xffffffff</a:t>
            </a:r>
          </a:p>
        </p:txBody>
      </p:sp>
      <p:sp>
        <p:nvSpPr>
          <p:cNvPr id="146441" name="Text Box 9"/>
          <p:cNvSpPr txBox="1">
            <a:spLocks noChangeArrowheads="1"/>
          </p:cNvSpPr>
          <p:nvPr/>
        </p:nvSpPr>
        <p:spPr bwMode="auto">
          <a:xfrm>
            <a:off x="6629400" y="2209800"/>
            <a:ext cx="381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</a:rPr>
              <a:t>0</a:t>
            </a:r>
          </a:p>
        </p:txBody>
      </p:sp>
      <p:sp>
        <p:nvSpPr>
          <p:cNvPr id="7" name="Rectangle 6"/>
          <p:cNvSpPr/>
          <p:nvPr/>
        </p:nvSpPr>
        <p:spPr>
          <a:xfrm>
            <a:off x="39756" y="10668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7877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0"/>
            <a:ext cx="8153400" cy="1066800"/>
          </a:xfrm>
        </p:spPr>
        <p:txBody>
          <a:bodyPr>
            <a:normAutofit fontScale="90000"/>
          </a:bodyPr>
          <a:lstStyle/>
          <a:p>
            <a:r>
              <a:rPr lang="en-US" altLang="zh-CN" b="1" dirty="0">
                <a:solidFill>
                  <a:srgbClr val="B80000"/>
                </a:solidFill>
              </a:rPr>
              <a:t>Organization of Virtual Memory: .text</a:t>
            </a:r>
          </a:p>
        </p:txBody>
      </p:sp>
      <p:sp>
        <p:nvSpPr>
          <p:cNvPr id="147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9142" y="1392045"/>
            <a:ext cx="5446712" cy="4114800"/>
          </a:xfrm>
        </p:spPr>
        <p:txBody>
          <a:bodyPr/>
          <a:lstStyle/>
          <a:p>
            <a:r>
              <a:rPr lang="en-US" altLang="zh-CN" b="1" dirty="0">
                <a:solidFill>
                  <a:srgbClr val="B80000"/>
                </a:solidFill>
              </a:rPr>
              <a:t>Program code </a:t>
            </a:r>
            <a:r>
              <a:rPr lang="en-US" altLang="zh-CN" dirty="0"/>
              <a:t>and </a:t>
            </a:r>
            <a:r>
              <a:rPr lang="en-US" altLang="zh-CN" b="1" dirty="0">
                <a:solidFill>
                  <a:srgbClr val="B80000"/>
                </a:solidFill>
              </a:rPr>
              <a:t>constant</a:t>
            </a:r>
          </a:p>
          <a:p>
            <a:pPr lvl="1"/>
            <a:r>
              <a:rPr lang="en-US" altLang="zh-CN" dirty="0"/>
              <a:t>binary form</a:t>
            </a:r>
          </a:p>
          <a:p>
            <a:pPr lvl="1"/>
            <a:r>
              <a:rPr lang="en-US" altLang="zh-CN" dirty="0"/>
              <a:t>loaded libraries</a:t>
            </a:r>
          </a:p>
          <a:p>
            <a:pPr lvl="1"/>
            <a:r>
              <a:rPr lang="en-US" altLang="zh-CN" dirty="0"/>
              <a:t>code instructions</a:t>
            </a:r>
          </a:p>
          <a:p>
            <a:pPr lvl="1"/>
            <a:r>
              <a:rPr lang="en-US" altLang="zh-CN" dirty="0"/>
              <a:t>space calculated at compile-time</a:t>
            </a:r>
          </a:p>
          <a:p>
            <a:pPr lvl="1"/>
            <a:endParaRPr lang="en-US" altLang="zh-CN" dirty="0"/>
          </a:p>
        </p:txBody>
      </p:sp>
      <p:sp>
        <p:nvSpPr>
          <p:cNvPr id="147460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934200" y="2286000"/>
            <a:ext cx="1752600" cy="3657600"/>
          </a:xfrm>
          <a:prstGeom prst="rect">
            <a:avLst/>
          </a:prstGeom>
          <a:solidFill>
            <a:srgbClr val="F8F8F8"/>
          </a:solidFill>
          <a:ln w="28575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7461" name="Text Box 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257800" y="5678488"/>
            <a:ext cx="170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0xffffffff</a:t>
            </a:r>
          </a:p>
        </p:txBody>
      </p:sp>
      <p:sp>
        <p:nvSpPr>
          <p:cNvPr id="147462" name="Text Box 6"/>
          <p:cNvSpPr txBox="1">
            <a:spLocks noChangeArrowheads="1"/>
          </p:cNvSpPr>
          <p:nvPr/>
        </p:nvSpPr>
        <p:spPr bwMode="auto">
          <a:xfrm>
            <a:off x="6629400" y="2209800"/>
            <a:ext cx="381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0</a:t>
            </a:r>
          </a:p>
        </p:txBody>
      </p:sp>
      <p:sp>
        <p:nvSpPr>
          <p:cNvPr id="147463" name="Line 7"/>
          <p:cNvSpPr>
            <a:spLocks noChangeShapeType="1"/>
          </p:cNvSpPr>
          <p:nvPr/>
        </p:nvSpPr>
        <p:spPr bwMode="auto">
          <a:xfrm>
            <a:off x="6934200" y="28956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7464" name="Text Box 8"/>
          <p:cNvSpPr txBox="1">
            <a:spLocks noChangeArrowheads="1"/>
          </p:cNvSpPr>
          <p:nvPr/>
        </p:nvSpPr>
        <p:spPr bwMode="auto">
          <a:xfrm>
            <a:off x="7391400" y="2438400"/>
            <a:ext cx="1066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text</a:t>
            </a:r>
          </a:p>
        </p:txBody>
      </p:sp>
      <p:sp>
        <p:nvSpPr>
          <p:cNvPr id="9" name="Rectangle 8"/>
          <p:cNvSpPr/>
          <p:nvPr/>
        </p:nvSpPr>
        <p:spPr>
          <a:xfrm>
            <a:off x="39756" y="10668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 1"/>
          <p:cNvSpPr/>
          <p:nvPr/>
        </p:nvSpPr>
        <p:spPr>
          <a:xfrm>
            <a:off x="5257801" y="1447137"/>
            <a:ext cx="2826652" cy="1006352"/>
          </a:xfrm>
          <a:custGeom>
            <a:avLst/>
            <a:gdLst>
              <a:gd name="connsiteX0" fmla="*/ 0 w 2407929"/>
              <a:gd name="connsiteY0" fmla="*/ 300182 h 1006352"/>
              <a:gd name="connsiteX1" fmla="*/ 1004934 w 2407929"/>
              <a:gd name="connsiteY1" fmla="*/ 1417 h 1006352"/>
              <a:gd name="connsiteX2" fmla="*/ 2272420 w 2407929"/>
              <a:gd name="connsiteY2" fmla="*/ 408823 h 1006352"/>
              <a:gd name="connsiteX3" fmla="*/ 2381061 w 2407929"/>
              <a:gd name="connsiteY3" fmla="*/ 1006352 h 1006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7929" h="1006352">
                <a:moveTo>
                  <a:pt x="0" y="300182"/>
                </a:moveTo>
                <a:cubicBezTo>
                  <a:pt x="313098" y="141746"/>
                  <a:pt x="626197" y="-16690"/>
                  <a:pt x="1004934" y="1417"/>
                </a:cubicBezTo>
                <a:cubicBezTo>
                  <a:pt x="1383671" y="19524"/>
                  <a:pt x="2043066" y="241334"/>
                  <a:pt x="2272420" y="408823"/>
                </a:cubicBezTo>
                <a:cubicBezTo>
                  <a:pt x="2501774" y="576312"/>
                  <a:pt x="2367481" y="903746"/>
                  <a:pt x="2381061" y="1006352"/>
                </a:cubicBezTo>
              </a:path>
            </a:pathLst>
          </a:custGeom>
          <a:noFill/>
          <a:ln w="22225">
            <a:solidFill>
              <a:schemeClr val="tx1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7013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0"/>
            <a:ext cx="8382000" cy="1066799"/>
          </a:xfrm>
        </p:spPr>
        <p:txBody>
          <a:bodyPr>
            <a:normAutofit/>
          </a:bodyPr>
          <a:lstStyle/>
          <a:p>
            <a:r>
              <a:rPr lang="en-US" altLang="zh-CN" sz="3600" b="1" dirty="0">
                <a:solidFill>
                  <a:srgbClr val="B80000"/>
                </a:solidFill>
              </a:rPr>
              <a:t>Organization of Virtual Memory: .data</a:t>
            </a:r>
          </a:p>
        </p:txBody>
      </p:sp>
      <p:sp>
        <p:nvSpPr>
          <p:cNvPr id="149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64332" y="1563688"/>
            <a:ext cx="6112668" cy="4114800"/>
          </a:xfrm>
        </p:spPr>
        <p:txBody>
          <a:bodyPr/>
          <a:lstStyle/>
          <a:p>
            <a:r>
              <a:rPr lang="en-US" altLang="zh-CN" b="1" dirty="0">
                <a:solidFill>
                  <a:srgbClr val="B80000"/>
                </a:solidFill>
              </a:rPr>
              <a:t>Data</a:t>
            </a:r>
            <a:r>
              <a:rPr lang="en-US" altLang="zh-CN" dirty="0"/>
              <a:t>: </a:t>
            </a:r>
            <a:r>
              <a:rPr lang="en-US" altLang="zh-CN" dirty="0">
                <a:solidFill>
                  <a:srgbClr val="2C14DE"/>
                </a:solidFill>
              </a:rPr>
              <a:t>initialized global data </a:t>
            </a:r>
            <a:r>
              <a:rPr lang="en-US" altLang="zh-CN" dirty="0"/>
              <a:t>in the program</a:t>
            </a:r>
          </a:p>
          <a:p>
            <a:pPr lvl="1"/>
            <a:r>
              <a:rPr lang="en-US" altLang="zh-CN" dirty="0"/>
              <a:t>Ex: </a:t>
            </a:r>
            <a:r>
              <a:rPr lang="en-US" altLang="zh-CN" dirty="0" err="1">
                <a:solidFill>
                  <a:srgbClr val="2C14DE"/>
                </a:solidFill>
              </a:rPr>
              <a:t>int</a:t>
            </a:r>
            <a:r>
              <a:rPr lang="en-US" altLang="zh-CN" dirty="0">
                <a:solidFill>
                  <a:srgbClr val="2C14DE"/>
                </a:solidFill>
              </a:rPr>
              <a:t> size = 100;</a:t>
            </a:r>
          </a:p>
          <a:p>
            <a:pPr lvl="1"/>
            <a:endParaRPr lang="en-US" altLang="zh-CN" dirty="0">
              <a:solidFill>
                <a:schemeClr val="folHlink"/>
              </a:solidFill>
            </a:endParaRPr>
          </a:p>
          <a:p>
            <a:r>
              <a:rPr lang="en-US" altLang="zh-CN" b="1" dirty="0">
                <a:solidFill>
                  <a:srgbClr val="B80000"/>
                </a:solidFill>
              </a:rPr>
              <a:t>BSS</a:t>
            </a:r>
            <a:r>
              <a:rPr lang="en-US" altLang="zh-CN" dirty="0"/>
              <a:t>: </a:t>
            </a:r>
            <a:r>
              <a:rPr lang="en-US" altLang="zh-CN" dirty="0">
                <a:solidFill>
                  <a:srgbClr val="2C14DE"/>
                </a:solidFill>
              </a:rPr>
              <a:t>un-initialized global data </a:t>
            </a:r>
            <a:r>
              <a:rPr lang="en-US" altLang="zh-CN" dirty="0"/>
              <a:t>in the program</a:t>
            </a:r>
          </a:p>
          <a:p>
            <a:pPr lvl="1"/>
            <a:r>
              <a:rPr lang="en-US" altLang="zh-CN" dirty="0"/>
              <a:t>Ex: </a:t>
            </a:r>
            <a:r>
              <a:rPr lang="en-US" altLang="zh-CN" dirty="0" err="1">
                <a:solidFill>
                  <a:srgbClr val="2C14DE"/>
                </a:solidFill>
              </a:rPr>
              <a:t>int</a:t>
            </a:r>
            <a:r>
              <a:rPr lang="en-US" altLang="zh-CN" dirty="0">
                <a:solidFill>
                  <a:srgbClr val="2C14DE"/>
                </a:solidFill>
              </a:rPr>
              <a:t> length</a:t>
            </a:r>
            <a:r>
              <a:rPr lang="en-US" altLang="zh-CN" dirty="0">
                <a:solidFill>
                  <a:schemeClr val="folHlink"/>
                </a:solidFill>
              </a:rPr>
              <a:t>;</a:t>
            </a:r>
          </a:p>
        </p:txBody>
      </p:sp>
      <p:sp>
        <p:nvSpPr>
          <p:cNvPr id="149508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934200" y="2286000"/>
            <a:ext cx="1752600" cy="3657600"/>
          </a:xfrm>
          <a:prstGeom prst="rect">
            <a:avLst/>
          </a:prstGeom>
          <a:solidFill>
            <a:srgbClr val="F8F8F8"/>
          </a:solidFill>
          <a:ln w="28575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b="1">
              <a:solidFill>
                <a:schemeClr val="accent2"/>
              </a:solidFill>
              <a:latin typeface="Courier New" panose="02070309020205020404" pitchFamily="49" charset="0"/>
            </a:endParaRPr>
          </a:p>
        </p:txBody>
      </p:sp>
      <p:sp>
        <p:nvSpPr>
          <p:cNvPr id="149509" name="Text Box 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257800" y="5678488"/>
            <a:ext cx="170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0xffffffff</a:t>
            </a:r>
          </a:p>
        </p:txBody>
      </p:sp>
      <p:sp>
        <p:nvSpPr>
          <p:cNvPr id="149510" name="Text Box 6"/>
          <p:cNvSpPr txBox="1">
            <a:spLocks noChangeArrowheads="1"/>
          </p:cNvSpPr>
          <p:nvPr/>
        </p:nvSpPr>
        <p:spPr bwMode="auto">
          <a:xfrm>
            <a:off x="6629400" y="2209800"/>
            <a:ext cx="381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0</a:t>
            </a:r>
          </a:p>
        </p:txBody>
      </p:sp>
      <p:sp>
        <p:nvSpPr>
          <p:cNvPr id="149511" name="Line 7"/>
          <p:cNvSpPr>
            <a:spLocks noChangeShapeType="1"/>
          </p:cNvSpPr>
          <p:nvPr/>
        </p:nvSpPr>
        <p:spPr bwMode="auto">
          <a:xfrm>
            <a:off x="6934200" y="28956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9512" name="Text Box 8"/>
          <p:cNvSpPr txBox="1">
            <a:spLocks noChangeArrowheads="1"/>
          </p:cNvSpPr>
          <p:nvPr/>
        </p:nvSpPr>
        <p:spPr bwMode="auto">
          <a:xfrm>
            <a:off x="7391400" y="2438400"/>
            <a:ext cx="1066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text</a:t>
            </a:r>
          </a:p>
        </p:txBody>
      </p:sp>
      <p:sp>
        <p:nvSpPr>
          <p:cNvPr id="149513" name="Text Box 9"/>
          <p:cNvSpPr txBox="1">
            <a:spLocks noChangeArrowheads="1"/>
          </p:cNvSpPr>
          <p:nvPr/>
        </p:nvSpPr>
        <p:spPr bwMode="auto">
          <a:xfrm>
            <a:off x="7391400" y="2895600"/>
            <a:ext cx="990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data</a:t>
            </a:r>
          </a:p>
        </p:txBody>
      </p:sp>
      <p:sp>
        <p:nvSpPr>
          <p:cNvPr id="149514" name="Line 10"/>
          <p:cNvSpPr>
            <a:spLocks noChangeShapeType="1"/>
          </p:cNvSpPr>
          <p:nvPr/>
        </p:nvSpPr>
        <p:spPr bwMode="auto">
          <a:xfrm>
            <a:off x="6934200" y="33528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9515" name="Line 11"/>
          <p:cNvSpPr>
            <a:spLocks noChangeShapeType="1"/>
          </p:cNvSpPr>
          <p:nvPr/>
        </p:nvSpPr>
        <p:spPr bwMode="auto">
          <a:xfrm>
            <a:off x="6934200" y="38100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9516" name="Text Box 12"/>
          <p:cNvSpPr txBox="1">
            <a:spLocks noChangeArrowheads="1"/>
          </p:cNvSpPr>
          <p:nvPr/>
        </p:nvSpPr>
        <p:spPr bwMode="auto">
          <a:xfrm>
            <a:off x="7467600" y="3352800"/>
            <a:ext cx="76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bss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756" y="10668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7177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8458200" cy="1066799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solidFill>
                  <a:srgbClr val="B80000"/>
                </a:solidFill>
              </a:rPr>
              <a:t>Organization of Virtual Memory: heap</a:t>
            </a:r>
          </a:p>
        </p:txBody>
      </p:sp>
      <p:sp>
        <p:nvSpPr>
          <p:cNvPr id="151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8288" y="1493837"/>
            <a:ext cx="6589712" cy="4114800"/>
          </a:xfrm>
        </p:spPr>
        <p:txBody>
          <a:bodyPr/>
          <a:lstStyle/>
          <a:p>
            <a:r>
              <a:rPr lang="en-US" altLang="zh-CN" b="1" dirty="0">
                <a:solidFill>
                  <a:srgbClr val="B80000"/>
                </a:solidFill>
              </a:rPr>
              <a:t>Heap</a:t>
            </a:r>
            <a:r>
              <a:rPr lang="en-US" altLang="zh-CN" dirty="0"/>
              <a:t>: </a:t>
            </a:r>
            <a:r>
              <a:rPr lang="en-US" altLang="zh-CN" b="1" dirty="0">
                <a:solidFill>
                  <a:srgbClr val="2C14DE"/>
                </a:solidFill>
              </a:rPr>
              <a:t>dynamically-allocated spaces</a:t>
            </a:r>
          </a:p>
          <a:p>
            <a:pPr lvl="1"/>
            <a:r>
              <a:rPr lang="en-US" altLang="zh-CN" dirty="0"/>
              <a:t>Ex: </a:t>
            </a:r>
            <a:r>
              <a:rPr lang="en-US" altLang="zh-CN" b="1" dirty="0">
                <a:solidFill>
                  <a:srgbClr val="2C14DE"/>
                </a:solidFill>
              </a:rPr>
              <a:t>new</a:t>
            </a:r>
            <a:r>
              <a:rPr lang="en-US" altLang="zh-CN" dirty="0"/>
              <a:t>, </a:t>
            </a:r>
            <a:r>
              <a:rPr lang="en-US" altLang="zh-CN" b="1" dirty="0">
                <a:solidFill>
                  <a:srgbClr val="2C14DE"/>
                </a:solidFill>
              </a:rPr>
              <a:t>delete</a:t>
            </a:r>
          </a:p>
          <a:p>
            <a:pPr lvl="1"/>
            <a:r>
              <a:rPr lang="en-US" altLang="zh-CN" b="1" dirty="0">
                <a:solidFill>
                  <a:srgbClr val="2C14DE"/>
                </a:solidFill>
              </a:rPr>
              <a:t>dynamically grows </a:t>
            </a:r>
            <a:r>
              <a:rPr lang="en-US" altLang="zh-CN" dirty="0"/>
              <a:t>as program runs</a:t>
            </a:r>
          </a:p>
        </p:txBody>
      </p:sp>
      <p:sp>
        <p:nvSpPr>
          <p:cNvPr id="151556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58000" y="2438400"/>
            <a:ext cx="1752600" cy="3657600"/>
          </a:xfrm>
          <a:prstGeom prst="rect">
            <a:avLst/>
          </a:prstGeom>
          <a:solidFill>
            <a:srgbClr val="F8F8F8"/>
          </a:solidFill>
          <a:ln w="28575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b="1">
              <a:solidFill>
                <a:schemeClr val="accent2"/>
              </a:solidFill>
              <a:latin typeface="Courier New" panose="02070309020205020404" pitchFamily="49" charset="0"/>
            </a:endParaRPr>
          </a:p>
        </p:txBody>
      </p:sp>
      <p:sp>
        <p:nvSpPr>
          <p:cNvPr id="151557" name="Text Box 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172269" y="5851217"/>
            <a:ext cx="170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0xffffffff</a:t>
            </a:r>
          </a:p>
        </p:txBody>
      </p:sp>
      <p:sp>
        <p:nvSpPr>
          <p:cNvPr id="151558" name="Text Box 6"/>
          <p:cNvSpPr txBox="1">
            <a:spLocks noChangeArrowheads="1"/>
          </p:cNvSpPr>
          <p:nvPr/>
        </p:nvSpPr>
        <p:spPr bwMode="auto">
          <a:xfrm>
            <a:off x="6543869" y="2382529"/>
            <a:ext cx="381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0</a:t>
            </a:r>
          </a:p>
        </p:txBody>
      </p:sp>
      <p:sp>
        <p:nvSpPr>
          <p:cNvPr id="151559" name="Line 7"/>
          <p:cNvSpPr>
            <a:spLocks noChangeShapeType="1"/>
          </p:cNvSpPr>
          <p:nvPr/>
        </p:nvSpPr>
        <p:spPr bwMode="auto">
          <a:xfrm>
            <a:off x="6848669" y="3068329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1560" name="Text Box 8"/>
          <p:cNvSpPr txBox="1">
            <a:spLocks noChangeArrowheads="1"/>
          </p:cNvSpPr>
          <p:nvPr/>
        </p:nvSpPr>
        <p:spPr bwMode="auto">
          <a:xfrm>
            <a:off x="7305869" y="2611129"/>
            <a:ext cx="1219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text</a:t>
            </a:r>
          </a:p>
        </p:txBody>
      </p:sp>
      <p:sp>
        <p:nvSpPr>
          <p:cNvPr id="151561" name="Text Box 9"/>
          <p:cNvSpPr txBox="1">
            <a:spLocks noChangeArrowheads="1"/>
          </p:cNvSpPr>
          <p:nvPr/>
        </p:nvSpPr>
        <p:spPr bwMode="auto">
          <a:xfrm>
            <a:off x="7305869" y="3068329"/>
            <a:ext cx="1143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data</a:t>
            </a:r>
          </a:p>
        </p:txBody>
      </p:sp>
      <p:sp>
        <p:nvSpPr>
          <p:cNvPr id="151562" name="Line 10"/>
          <p:cNvSpPr>
            <a:spLocks noChangeShapeType="1"/>
          </p:cNvSpPr>
          <p:nvPr/>
        </p:nvSpPr>
        <p:spPr bwMode="auto">
          <a:xfrm>
            <a:off x="6848669" y="3525529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1563" name="Line 11"/>
          <p:cNvSpPr>
            <a:spLocks noChangeShapeType="1"/>
          </p:cNvSpPr>
          <p:nvPr/>
        </p:nvSpPr>
        <p:spPr bwMode="auto">
          <a:xfrm>
            <a:off x="6848669" y="3982729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1564" name="Text Box 12"/>
          <p:cNvSpPr txBox="1">
            <a:spLocks noChangeArrowheads="1"/>
          </p:cNvSpPr>
          <p:nvPr/>
        </p:nvSpPr>
        <p:spPr bwMode="auto">
          <a:xfrm>
            <a:off x="7382069" y="3525529"/>
            <a:ext cx="76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bss</a:t>
            </a:r>
          </a:p>
        </p:txBody>
      </p:sp>
      <p:sp>
        <p:nvSpPr>
          <p:cNvPr id="151566" name="Line 14"/>
          <p:cNvSpPr>
            <a:spLocks noChangeShapeType="1"/>
          </p:cNvSpPr>
          <p:nvPr/>
        </p:nvSpPr>
        <p:spPr bwMode="auto">
          <a:xfrm>
            <a:off x="6848669" y="4592329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1567" name="Text Box 15"/>
          <p:cNvSpPr txBox="1">
            <a:spLocks noChangeArrowheads="1"/>
          </p:cNvSpPr>
          <p:nvPr/>
        </p:nvSpPr>
        <p:spPr bwMode="auto">
          <a:xfrm>
            <a:off x="7305869" y="4135129"/>
            <a:ext cx="1143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</a:rPr>
              <a:t>heap</a:t>
            </a:r>
          </a:p>
        </p:txBody>
      </p:sp>
      <p:sp>
        <p:nvSpPr>
          <p:cNvPr id="151568" name="Line 16"/>
          <p:cNvSpPr>
            <a:spLocks noChangeShapeType="1"/>
          </p:cNvSpPr>
          <p:nvPr/>
        </p:nvSpPr>
        <p:spPr bwMode="auto">
          <a:xfrm>
            <a:off x="7686869" y="4592329"/>
            <a:ext cx="0" cy="381000"/>
          </a:xfrm>
          <a:prstGeom prst="line">
            <a:avLst/>
          </a:prstGeom>
          <a:noFill/>
          <a:ln w="15875">
            <a:solidFill>
              <a:srgbClr val="2C14DE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39756" y="10668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404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160867"/>
            <a:ext cx="8347987" cy="829733"/>
          </a:xfrm>
        </p:spPr>
        <p:txBody>
          <a:bodyPr>
            <a:normAutofit/>
          </a:bodyPr>
          <a:lstStyle/>
          <a:p>
            <a:r>
              <a:rPr lang="en-US" altLang="zh-CN" sz="4000" b="1">
                <a:solidFill>
                  <a:srgbClr val="B80000"/>
                </a:solidFill>
              </a:rPr>
              <a:t>Organization of Virtual Memory: stack</a:t>
            </a:r>
          </a:p>
        </p:txBody>
      </p:sp>
      <p:sp>
        <p:nvSpPr>
          <p:cNvPr id="152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1506" y="1844675"/>
            <a:ext cx="6049294" cy="4114800"/>
          </a:xfrm>
        </p:spPr>
        <p:txBody>
          <a:bodyPr/>
          <a:lstStyle/>
          <a:p>
            <a:r>
              <a:rPr lang="en-US" altLang="zh-CN" b="1" dirty="0">
                <a:solidFill>
                  <a:srgbClr val="B80000"/>
                </a:solidFill>
              </a:rPr>
              <a:t>Stack</a:t>
            </a:r>
            <a:r>
              <a:rPr lang="en-US" altLang="zh-CN" dirty="0"/>
              <a:t>: </a:t>
            </a:r>
            <a:r>
              <a:rPr lang="en-US" altLang="zh-CN" dirty="0">
                <a:solidFill>
                  <a:srgbClr val="2C14DE"/>
                </a:solidFill>
              </a:rPr>
              <a:t>local variables </a:t>
            </a:r>
            <a:r>
              <a:rPr lang="en-US" altLang="zh-CN" dirty="0"/>
              <a:t>in </a:t>
            </a:r>
            <a:r>
              <a:rPr lang="en-US" altLang="zh-CN" b="1" dirty="0">
                <a:solidFill>
                  <a:srgbClr val="2C14DE"/>
                </a:solidFill>
              </a:rPr>
              <a:t>functions</a:t>
            </a:r>
          </a:p>
          <a:p>
            <a:pPr lvl="1"/>
            <a:r>
              <a:rPr lang="en-US" altLang="zh-CN" b="1" dirty="0"/>
              <a:t>support</a:t>
            </a:r>
            <a:r>
              <a:rPr lang="en-US" altLang="zh-CN" dirty="0"/>
              <a:t> </a:t>
            </a:r>
            <a:r>
              <a:rPr lang="en-US" altLang="zh-CN" b="1" dirty="0">
                <a:solidFill>
                  <a:srgbClr val="2C14DE"/>
                </a:solidFill>
              </a:rPr>
              <a:t>function call/return </a:t>
            </a:r>
            <a:r>
              <a:rPr lang="en-US" altLang="zh-CN" dirty="0"/>
              <a:t>and </a:t>
            </a:r>
            <a:r>
              <a:rPr lang="en-US" altLang="zh-CN" b="1" dirty="0">
                <a:solidFill>
                  <a:srgbClr val="2C14DE"/>
                </a:solidFill>
              </a:rPr>
              <a:t>recursive functions</a:t>
            </a:r>
          </a:p>
          <a:p>
            <a:pPr lvl="1"/>
            <a:r>
              <a:rPr lang="en-US" altLang="zh-CN" b="1" dirty="0"/>
              <a:t>grow</a:t>
            </a:r>
            <a:r>
              <a:rPr lang="en-US" altLang="zh-CN" dirty="0"/>
              <a:t> to </a:t>
            </a:r>
            <a:r>
              <a:rPr lang="en-US" altLang="zh-CN" b="1" dirty="0"/>
              <a:t>low address</a:t>
            </a:r>
          </a:p>
        </p:txBody>
      </p:sp>
      <p:sp>
        <p:nvSpPr>
          <p:cNvPr id="152580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934200" y="2286000"/>
            <a:ext cx="1752600" cy="3657600"/>
          </a:xfrm>
          <a:prstGeom prst="rect">
            <a:avLst/>
          </a:prstGeom>
          <a:solidFill>
            <a:srgbClr val="F8F8F8"/>
          </a:solidFill>
          <a:ln w="28575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>
              <a:solidFill>
                <a:schemeClr val="accent2"/>
              </a:solidFill>
              <a:latin typeface="Courier New" panose="02070309020205020404" pitchFamily="49" charset="0"/>
            </a:endParaRPr>
          </a:p>
        </p:txBody>
      </p:sp>
      <p:sp>
        <p:nvSpPr>
          <p:cNvPr id="152581" name="Text Box 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226050" y="5678488"/>
            <a:ext cx="170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0xffffffff</a:t>
            </a:r>
          </a:p>
        </p:txBody>
      </p:sp>
      <p:sp>
        <p:nvSpPr>
          <p:cNvPr id="152582" name="Text Box 6"/>
          <p:cNvSpPr txBox="1">
            <a:spLocks noChangeArrowheads="1"/>
          </p:cNvSpPr>
          <p:nvPr/>
        </p:nvSpPr>
        <p:spPr bwMode="auto">
          <a:xfrm>
            <a:off x="6629400" y="2209800"/>
            <a:ext cx="381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0</a:t>
            </a:r>
          </a:p>
        </p:txBody>
      </p:sp>
      <p:sp>
        <p:nvSpPr>
          <p:cNvPr id="152583" name="Line 7"/>
          <p:cNvSpPr>
            <a:spLocks noChangeShapeType="1"/>
          </p:cNvSpPr>
          <p:nvPr/>
        </p:nvSpPr>
        <p:spPr bwMode="auto">
          <a:xfrm>
            <a:off x="6934200" y="28956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2584" name="Text Box 8"/>
          <p:cNvSpPr txBox="1">
            <a:spLocks noChangeArrowheads="1"/>
          </p:cNvSpPr>
          <p:nvPr/>
        </p:nvSpPr>
        <p:spPr bwMode="auto">
          <a:xfrm>
            <a:off x="7391400" y="2438400"/>
            <a:ext cx="1066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text</a:t>
            </a:r>
          </a:p>
        </p:txBody>
      </p:sp>
      <p:sp>
        <p:nvSpPr>
          <p:cNvPr id="152585" name="Text Box 9"/>
          <p:cNvSpPr txBox="1">
            <a:spLocks noChangeArrowheads="1"/>
          </p:cNvSpPr>
          <p:nvPr/>
        </p:nvSpPr>
        <p:spPr bwMode="auto">
          <a:xfrm>
            <a:off x="7391400" y="2895600"/>
            <a:ext cx="1066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data</a:t>
            </a:r>
          </a:p>
        </p:txBody>
      </p:sp>
      <p:sp>
        <p:nvSpPr>
          <p:cNvPr id="152586" name="Line 10"/>
          <p:cNvSpPr>
            <a:spLocks noChangeShapeType="1"/>
          </p:cNvSpPr>
          <p:nvPr/>
        </p:nvSpPr>
        <p:spPr bwMode="auto">
          <a:xfrm>
            <a:off x="6934200" y="33528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2587" name="Line 11"/>
          <p:cNvSpPr>
            <a:spLocks noChangeShapeType="1"/>
          </p:cNvSpPr>
          <p:nvPr/>
        </p:nvSpPr>
        <p:spPr bwMode="auto">
          <a:xfrm>
            <a:off x="6934200" y="38100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2588" name="Text Box 12"/>
          <p:cNvSpPr txBox="1">
            <a:spLocks noChangeArrowheads="1"/>
          </p:cNvSpPr>
          <p:nvPr/>
        </p:nvSpPr>
        <p:spPr bwMode="auto">
          <a:xfrm>
            <a:off x="7467600" y="3352800"/>
            <a:ext cx="76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bss</a:t>
            </a:r>
          </a:p>
        </p:txBody>
      </p:sp>
      <p:sp>
        <p:nvSpPr>
          <p:cNvPr id="152589" name="Line 13"/>
          <p:cNvSpPr>
            <a:spLocks noChangeShapeType="1"/>
          </p:cNvSpPr>
          <p:nvPr/>
        </p:nvSpPr>
        <p:spPr bwMode="auto">
          <a:xfrm>
            <a:off x="6934200" y="44196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2590" name="Text Box 14"/>
          <p:cNvSpPr txBox="1">
            <a:spLocks noChangeArrowheads="1"/>
          </p:cNvSpPr>
          <p:nvPr/>
        </p:nvSpPr>
        <p:spPr bwMode="auto">
          <a:xfrm>
            <a:off x="7391400" y="3962400"/>
            <a:ext cx="1143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heap</a:t>
            </a:r>
          </a:p>
        </p:txBody>
      </p:sp>
      <p:sp>
        <p:nvSpPr>
          <p:cNvPr id="152591" name="Line 15"/>
          <p:cNvSpPr>
            <a:spLocks noChangeShapeType="1"/>
          </p:cNvSpPr>
          <p:nvPr/>
        </p:nvSpPr>
        <p:spPr bwMode="auto">
          <a:xfrm>
            <a:off x="7772400" y="4419600"/>
            <a:ext cx="0" cy="3810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2592" name="Text Box 16"/>
          <p:cNvSpPr txBox="1">
            <a:spLocks noChangeArrowheads="1"/>
          </p:cNvSpPr>
          <p:nvPr/>
        </p:nvSpPr>
        <p:spPr bwMode="auto">
          <a:xfrm>
            <a:off x="7391400" y="5562600"/>
            <a:ext cx="1143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stack</a:t>
            </a:r>
          </a:p>
        </p:txBody>
      </p:sp>
      <p:sp>
        <p:nvSpPr>
          <p:cNvPr id="152593" name="Line 17"/>
          <p:cNvSpPr>
            <a:spLocks noChangeShapeType="1"/>
          </p:cNvSpPr>
          <p:nvPr/>
        </p:nvSpPr>
        <p:spPr bwMode="auto">
          <a:xfrm>
            <a:off x="6934200" y="55626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2594" name="Line 18"/>
          <p:cNvSpPr>
            <a:spLocks noChangeShapeType="1"/>
          </p:cNvSpPr>
          <p:nvPr/>
        </p:nvSpPr>
        <p:spPr bwMode="auto">
          <a:xfrm flipV="1">
            <a:off x="7772400" y="5257800"/>
            <a:ext cx="0" cy="304800"/>
          </a:xfrm>
          <a:prstGeom prst="line">
            <a:avLst/>
          </a:prstGeom>
          <a:noFill/>
          <a:ln w="19050">
            <a:solidFill>
              <a:srgbClr val="2C14DE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39756" y="10668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1888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0"/>
            <a:ext cx="8153400" cy="1066799"/>
          </a:xfrm>
        </p:spPr>
        <p:txBody>
          <a:bodyPr/>
          <a:lstStyle/>
          <a:p>
            <a:r>
              <a:rPr lang="en-US" altLang="zh-CN" b="1" dirty="0">
                <a:solidFill>
                  <a:srgbClr val="B80000"/>
                </a:solidFill>
              </a:rPr>
              <a:t>Summary: Process Address Space</a:t>
            </a:r>
          </a:p>
        </p:txBody>
      </p:sp>
      <p:sp>
        <p:nvSpPr>
          <p:cNvPr id="154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9382" y="1311622"/>
            <a:ext cx="6379368" cy="4996755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solidFill>
                  <a:srgbClr val="B80000"/>
                </a:solidFill>
              </a:rPr>
              <a:t>text</a:t>
            </a:r>
            <a:r>
              <a:rPr lang="en-US" altLang="zh-CN" sz="2800" b="1" dirty="0"/>
              <a:t>: </a:t>
            </a:r>
            <a:r>
              <a:rPr lang="en-US" altLang="zh-CN" sz="2800" b="1" dirty="0">
                <a:solidFill>
                  <a:srgbClr val="2C14DE"/>
                </a:solidFill>
              </a:rPr>
              <a:t>program text/code</a:t>
            </a:r>
          </a:p>
          <a:p>
            <a:endParaRPr lang="en-US" altLang="zh-CN" sz="2800" b="1" dirty="0"/>
          </a:p>
          <a:p>
            <a:r>
              <a:rPr lang="en-US" altLang="zh-CN" sz="2800" b="1" dirty="0">
                <a:solidFill>
                  <a:srgbClr val="B80000"/>
                </a:solidFill>
              </a:rPr>
              <a:t>data</a:t>
            </a:r>
            <a:r>
              <a:rPr lang="en-US" altLang="zh-CN" sz="2800" b="1" dirty="0"/>
              <a:t>: </a:t>
            </a:r>
            <a:r>
              <a:rPr lang="en-US" altLang="zh-CN" sz="2800" b="1" dirty="0">
                <a:solidFill>
                  <a:srgbClr val="2C14DE"/>
                </a:solidFill>
              </a:rPr>
              <a:t>initialized </a:t>
            </a:r>
            <a:r>
              <a:rPr lang="en-US" altLang="zh-CN" sz="2800" b="1" dirty="0" err="1">
                <a:solidFill>
                  <a:srgbClr val="2C14DE"/>
                </a:solidFill>
              </a:rPr>
              <a:t>globals</a:t>
            </a:r>
            <a:r>
              <a:rPr lang="en-US" altLang="zh-CN" sz="2800" b="1" dirty="0"/>
              <a:t> &amp; </a:t>
            </a:r>
            <a:r>
              <a:rPr lang="en-US" altLang="zh-CN" sz="2800" b="1" dirty="0">
                <a:solidFill>
                  <a:srgbClr val="2C14DE"/>
                </a:solidFill>
              </a:rPr>
              <a:t>static</a:t>
            </a:r>
            <a:r>
              <a:rPr lang="en-US" altLang="zh-CN" sz="2800" b="1" dirty="0"/>
              <a:t> data</a:t>
            </a:r>
          </a:p>
          <a:p>
            <a:endParaRPr lang="en-US" altLang="zh-CN" sz="2800" b="1" dirty="0"/>
          </a:p>
          <a:p>
            <a:r>
              <a:rPr lang="en-US" altLang="zh-CN" sz="2800" b="1" dirty="0" err="1">
                <a:solidFill>
                  <a:srgbClr val="B80000"/>
                </a:solidFill>
              </a:rPr>
              <a:t>bss</a:t>
            </a:r>
            <a:r>
              <a:rPr lang="en-US" altLang="zh-CN" sz="2800" b="1" dirty="0"/>
              <a:t>: </a:t>
            </a:r>
            <a:r>
              <a:rPr lang="en-US" altLang="zh-CN" sz="2800" b="1" dirty="0">
                <a:solidFill>
                  <a:srgbClr val="2C14DE"/>
                </a:solidFill>
              </a:rPr>
              <a:t>un-initialized </a:t>
            </a:r>
            <a:r>
              <a:rPr lang="en-US" altLang="zh-CN" sz="2800" b="1" dirty="0" err="1">
                <a:solidFill>
                  <a:srgbClr val="2C14DE"/>
                </a:solidFill>
              </a:rPr>
              <a:t>globals</a:t>
            </a:r>
            <a:r>
              <a:rPr lang="en-US" altLang="zh-CN" sz="2800" b="1" dirty="0">
                <a:solidFill>
                  <a:srgbClr val="2C14DE"/>
                </a:solidFill>
              </a:rPr>
              <a:t> </a:t>
            </a:r>
            <a:r>
              <a:rPr lang="en-US" altLang="zh-CN" sz="2800" b="1" dirty="0"/>
              <a:t>&amp; </a:t>
            </a:r>
            <a:r>
              <a:rPr lang="en-US" altLang="zh-CN" sz="2800" b="1" dirty="0">
                <a:solidFill>
                  <a:srgbClr val="2C14DE"/>
                </a:solidFill>
              </a:rPr>
              <a:t>static</a:t>
            </a:r>
            <a:r>
              <a:rPr lang="en-US" altLang="zh-CN" sz="2800" b="1" dirty="0"/>
              <a:t> data</a:t>
            </a:r>
          </a:p>
          <a:p>
            <a:endParaRPr lang="en-US" altLang="zh-CN" sz="2800" b="1" dirty="0"/>
          </a:p>
          <a:p>
            <a:r>
              <a:rPr lang="en-US" altLang="zh-CN" sz="2800" b="1" dirty="0">
                <a:solidFill>
                  <a:srgbClr val="B80000"/>
                </a:solidFill>
              </a:rPr>
              <a:t>heap</a:t>
            </a:r>
            <a:r>
              <a:rPr lang="en-US" altLang="zh-CN" sz="2800" b="1" dirty="0"/>
              <a:t>: </a:t>
            </a:r>
            <a:r>
              <a:rPr lang="en-US" altLang="zh-CN" sz="2800" b="1" dirty="0">
                <a:solidFill>
                  <a:srgbClr val="2C14DE"/>
                </a:solidFill>
              </a:rPr>
              <a:t>dynamically managed memory</a:t>
            </a:r>
          </a:p>
          <a:p>
            <a:endParaRPr lang="en-US" altLang="zh-CN" sz="2800" b="1" dirty="0"/>
          </a:p>
          <a:p>
            <a:r>
              <a:rPr lang="en-US" altLang="zh-CN" sz="2800" b="1" dirty="0">
                <a:solidFill>
                  <a:srgbClr val="B80000"/>
                </a:solidFill>
              </a:rPr>
              <a:t>stack</a:t>
            </a:r>
            <a:r>
              <a:rPr lang="en-US" altLang="zh-CN" sz="2800" b="1" dirty="0"/>
              <a:t>: </a:t>
            </a:r>
            <a:r>
              <a:rPr lang="en-US" altLang="zh-CN" sz="2800" b="1" dirty="0">
                <a:solidFill>
                  <a:srgbClr val="2C14DE"/>
                </a:solidFill>
              </a:rPr>
              <a:t>function’s local variables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5562600" y="1905000"/>
            <a:ext cx="3429000" cy="3865563"/>
            <a:chOff x="5562600" y="1941512"/>
            <a:chExt cx="3429000" cy="3865563"/>
          </a:xfrm>
        </p:grpSpPr>
        <p:sp>
          <p:nvSpPr>
            <p:cNvPr id="154628" name="Rectangle 4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7239000" y="2017712"/>
              <a:ext cx="1752600" cy="3657600"/>
            </a:xfrm>
            <a:prstGeom prst="rect">
              <a:avLst/>
            </a:prstGeom>
            <a:solidFill>
              <a:srgbClr val="F8F8F8"/>
            </a:solidFill>
            <a:ln w="285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54629" name="Text Box 5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5562600" y="5410200"/>
              <a:ext cx="170815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b="1">
                  <a:solidFill>
                    <a:schemeClr val="tx2"/>
                  </a:solidFill>
                  <a:latin typeface="Courier New" panose="02070309020205020404" pitchFamily="49" charset="0"/>
                </a:rPr>
                <a:t>0xffffffff</a:t>
              </a:r>
            </a:p>
          </p:txBody>
        </p:sp>
        <p:sp>
          <p:nvSpPr>
            <p:cNvPr id="154630" name="Text Box 6"/>
            <p:cNvSpPr txBox="1">
              <a:spLocks noChangeArrowheads="1"/>
            </p:cNvSpPr>
            <p:nvPr/>
          </p:nvSpPr>
          <p:spPr bwMode="auto">
            <a:xfrm>
              <a:off x="6934200" y="1941512"/>
              <a:ext cx="3810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chemeClr val="tx2"/>
                  </a:solidFill>
                  <a:latin typeface="Courier New" panose="02070309020205020404" pitchFamily="49" charset="0"/>
                </a:rPr>
                <a:t>0</a:t>
              </a:r>
            </a:p>
          </p:txBody>
        </p:sp>
        <p:sp>
          <p:nvSpPr>
            <p:cNvPr id="154631" name="Line 7"/>
            <p:cNvSpPr>
              <a:spLocks noChangeShapeType="1"/>
            </p:cNvSpPr>
            <p:nvPr/>
          </p:nvSpPr>
          <p:spPr bwMode="auto">
            <a:xfrm>
              <a:off x="7239000" y="2627312"/>
              <a:ext cx="1752600" cy="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632" name="Text Box 8"/>
            <p:cNvSpPr txBox="1">
              <a:spLocks noChangeArrowheads="1"/>
            </p:cNvSpPr>
            <p:nvPr/>
          </p:nvSpPr>
          <p:spPr bwMode="auto">
            <a:xfrm>
              <a:off x="7696200" y="2170112"/>
              <a:ext cx="10668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chemeClr val="tx2"/>
                  </a:solidFill>
                  <a:latin typeface="Courier New" panose="02070309020205020404" pitchFamily="49" charset="0"/>
                </a:rPr>
                <a:t>text</a:t>
              </a:r>
            </a:p>
          </p:txBody>
        </p:sp>
        <p:sp>
          <p:nvSpPr>
            <p:cNvPr id="154633" name="Text Box 9"/>
            <p:cNvSpPr txBox="1">
              <a:spLocks noChangeArrowheads="1"/>
            </p:cNvSpPr>
            <p:nvPr/>
          </p:nvSpPr>
          <p:spPr bwMode="auto">
            <a:xfrm>
              <a:off x="7696200" y="2627312"/>
              <a:ext cx="10668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chemeClr val="tx2"/>
                  </a:solidFill>
                  <a:latin typeface="Courier New" panose="02070309020205020404" pitchFamily="49" charset="0"/>
                </a:rPr>
                <a:t>data</a:t>
              </a:r>
            </a:p>
          </p:txBody>
        </p:sp>
        <p:sp>
          <p:nvSpPr>
            <p:cNvPr id="154634" name="Line 10"/>
            <p:cNvSpPr>
              <a:spLocks noChangeShapeType="1"/>
            </p:cNvSpPr>
            <p:nvPr/>
          </p:nvSpPr>
          <p:spPr bwMode="auto">
            <a:xfrm>
              <a:off x="7239000" y="3084512"/>
              <a:ext cx="1752600" cy="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635" name="Line 11"/>
            <p:cNvSpPr>
              <a:spLocks noChangeShapeType="1"/>
            </p:cNvSpPr>
            <p:nvPr/>
          </p:nvSpPr>
          <p:spPr bwMode="auto">
            <a:xfrm>
              <a:off x="7239000" y="3541712"/>
              <a:ext cx="1752600" cy="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636" name="Text Box 12"/>
            <p:cNvSpPr txBox="1">
              <a:spLocks noChangeArrowheads="1"/>
            </p:cNvSpPr>
            <p:nvPr/>
          </p:nvSpPr>
          <p:spPr bwMode="auto">
            <a:xfrm>
              <a:off x="7772400" y="3084512"/>
              <a:ext cx="7620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chemeClr val="tx2"/>
                  </a:solidFill>
                  <a:latin typeface="Courier New" panose="02070309020205020404" pitchFamily="49" charset="0"/>
                </a:rPr>
                <a:t>bss</a:t>
              </a:r>
            </a:p>
          </p:txBody>
        </p:sp>
        <p:sp>
          <p:nvSpPr>
            <p:cNvPr id="154637" name="Line 13"/>
            <p:cNvSpPr>
              <a:spLocks noChangeShapeType="1"/>
            </p:cNvSpPr>
            <p:nvPr/>
          </p:nvSpPr>
          <p:spPr bwMode="auto">
            <a:xfrm>
              <a:off x="7239000" y="4151312"/>
              <a:ext cx="1752600" cy="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638" name="Text Box 14"/>
            <p:cNvSpPr txBox="1">
              <a:spLocks noChangeArrowheads="1"/>
            </p:cNvSpPr>
            <p:nvPr/>
          </p:nvSpPr>
          <p:spPr bwMode="auto">
            <a:xfrm>
              <a:off x="7696200" y="3694112"/>
              <a:ext cx="11430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chemeClr val="tx2"/>
                  </a:solidFill>
                  <a:latin typeface="Courier New" panose="02070309020205020404" pitchFamily="49" charset="0"/>
                </a:rPr>
                <a:t>heap</a:t>
              </a:r>
            </a:p>
          </p:txBody>
        </p:sp>
        <p:sp>
          <p:nvSpPr>
            <p:cNvPr id="154639" name="Line 15"/>
            <p:cNvSpPr>
              <a:spLocks noChangeShapeType="1"/>
            </p:cNvSpPr>
            <p:nvPr/>
          </p:nvSpPr>
          <p:spPr bwMode="auto">
            <a:xfrm>
              <a:off x="8077200" y="4151312"/>
              <a:ext cx="0" cy="38100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640" name="Text Box 16"/>
            <p:cNvSpPr txBox="1">
              <a:spLocks noChangeArrowheads="1"/>
            </p:cNvSpPr>
            <p:nvPr/>
          </p:nvSpPr>
          <p:spPr bwMode="auto">
            <a:xfrm>
              <a:off x="7696200" y="5294312"/>
              <a:ext cx="12192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chemeClr val="tx2"/>
                  </a:solidFill>
                  <a:latin typeface="Courier New" panose="02070309020205020404" pitchFamily="49" charset="0"/>
                </a:rPr>
                <a:t>stack</a:t>
              </a:r>
            </a:p>
          </p:txBody>
        </p:sp>
        <p:sp>
          <p:nvSpPr>
            <p:cNvPr id="154641" name="Line 17"/>
            <p:cNvSpPr>
              <a:spLocks noChangeShapeType="1"/>
            </p:cNvSpPr>
            <p:nvPr/>
          </p:nvSpPr>
          <p:spPr bwMode="auto">
            <a:xfrm>
              <a:off x="7239000" y="5294312"/>
              <a:ext cx="1752600" cy="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642" name="Line 18"/>
            <p:cNvSpPr>
              <a:spLocks noChangeShapeType="1"/>
            </p:cNvSpPr>
            <p:nvPr/>
          </p:nvSpPr>
          <p:spPr bwMode="auto">
            <a:xfrm flipV="1">
              <a:off x="8077200" y="4989512"/>
              <a:ext cx="0" cy="30480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Rectangle 18"/>
          <p:cNvSpPr/>
          <p:nvPr/>
        </p:nvSpPr>
        <p:spPr>
          <a:xfrm>
            <a:off x="39756" y="10668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3223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1"/>
            <a:ext cx="8229600" cy="868680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Introduction to Pointers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060" y="948396"/>
            <a:ext cx="9019736" cy="5867400"/>
          </a:xfrm>
        </p:spPr>
        <p:txBody>
          <a:bodyPr>
            <a:noAutofit/>
          </a:bodyPr>
          <a:lstStyle/>
          <a:p>
            <a:pPr algn="just"/>
            <a:r>
              <a:rPr lang="en-US" dirty="0"/>
              <a:t>When we </a:t>
            </a:r>
            <a:r>
              <a:rPr lang="en-US" b="1" dirty="0">
                <a:solidFill>
                  <a:srgbClr val="2F1BC7"/>
                </a:solidFill>
              </a:rPr>
              <a:t>declare</a:t>
            </a:r>
            <a:r>
              <a:rPr lang="en-US" dirty="0"/>
              <a:t> a </a:t>
            </a:r>
            <a:r>
              <a:rPr lang="en-US" b="1" dirty="0">
                <a:solidFill>
                  <a:srgbClr val="2F1BC7"/>
                </a:solidFill>
              </a:rPr>
              <a:t>variable</a:t>
            </a:r>
            <a:r>
              <a:rPr lang="en-US" dirty="0">
                <a:solidFill>
                  <a:srgbClr val="2F1BC7"/>
                </a:solidFill>
              </a:rPr>
              <a:t>,</a:t>
            </a:r>
            <a:r>
              <a:rPr lang="en-US" dirty="0"/>
              <a:t> some </a:t>
            </a:r>
            <a:r>
              <a:rPr lang="en-US" b="1" dirty="0">
                <a:solidFill>
                  <a:srgbClr val="2F1BC7"/>
                </a:solidFill>
              </a:rPr>
              <a:t>memory</a:t>
            </a:r>
            <a:r>
              <a:rPr lang="en-US" dirty="0"/>
              <a:t> is </a:t>
            </a:r>
            <a:r>
              <a:rPr lang="en-US" b="1" dirty="0">
                <a:solidFill>
                  <a:srgbClr val="2F1BC7"/>
                </a:solidFill>
              </a:rPr>
              <a:t>allocated</a:t>
            </a:r>
            <a:r>
              <a:rPr lang="en-US" dirty="0"/>
              <a:t> for it. </a:t>
            </a:r>
          </a:p>
          <a:p>
            <a:endParaRPr lang="en-US" dirty="0"/>
          </a:p>
          <a:p>
            <a:r>
              <a:rPr lang="en-US" dirty="0"/>
              <a:t>Thus, we have </a:t>
            </a:r>
            <a:r>
              <a:rPr lang="en-US" b="1" dirty="0">
                <a:solidFill>
                  <a:srgbClr val="2F1BC7"/>
                </a:solidFill>
              </a:rPr>
              <a:t>two properties</a:t>
            </a:r>
            <a:r>
              <a:rPr lang="en-US" b="1" dirty="0"/>
              <a:t> </a:t>
            </a:r>
            <a:r>
              <a:rPr lang="en-US" dirty="0"/>
              <a:t>for any </a:t>
            </a:r>
            <a:r>
              <a:rPr lang="en-US" b="1" dirty="0">
                <a:solidFill>
                  <a:srgbClr val="2F1BC7"/>
                </a:solidFill>
              </a:rPr>
              <a:t>variable</a:t>
            </a:r>
            <a:r>
              <a:rPr lang="en-US" dirty="0"/>
              <a:t>: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3200" dirty="0"/>
              <a:t>Its </a:t>
            </a:r>
            <a:r>
              <a:rPr lang="en-US" sz="3200" b="1" dirty="0">
                <a:solidFill>
                  <a:srgbClr val="FF0000"/>
                </a:solidFill>
              </a:rPr>
              <a:t>Address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3200" dirty="0"/>
              <a:t>and its </a:t>
            </a:r>
            <a:r>
              <a:rPr lang="en-US" sz="3200" b="1" dirty="0">
                <a:solidFill>
                  <a:srgbClr val="FF0000"/>
                </a:solidFill>
              </a:rPr>
              <a:t>Data value</a:t>
            </a:r>
          </a:p>
          <a:p>
            <a:pPr marL="971550" lvl="1" indent="-514350">
              <a:buNone/>
            </a:pPr>
            <a:endParaRPr lang="en-US" sz="3200" dirty="0"/>
          </a:p>
          <a:p>
            <a:pPr marL="971550" lvl="1" indent="-514350">
              <a:buNone/>
            </a:pPr>
            <a:r>
              <a:rPr lang="en-US" sz="3200" dirty="0"/>
              <a:t>E.g.,     char ch = ‘A’;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0" y="8686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5791200" y="5410200"/>
            <a:ext cx="2438400" cy="914400"/>
            <a:chOff x="5257800" y="5105400"/>
            <a:chExt cx="2438400" cy="914400"/>
          </a:xfrm>
        </p:grpSpPr>
        <p:sp>
          <p:nvSpPr>
            <p:cNvPr id="7" name="Rectangle 6"/>
            <p:cNvSpPr/>
            <p:nvPr/>
          </p:nvSpPr>
          <p:spPr>
            <a:xfrm>
              <a:off x="5943600" y="5562600"/>
              <a:ext cx="1752600" cy="4572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 b="1" dirty="0">
                  <a:solidFill>
                    <a:schemeClr val="tx1"/>
                  </a:solidFill>
                </a:rPr>
                <a:t>65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257800" y="5562600"/>
              <a:ext cx="7620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b="1" dirty="0"/>
                <a:t>311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477000" y="5105400"/>
              <a:ext cx="47801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ch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7543800" y="4495800"/>
            <a:ext cx="1326528" cy="1524000"/>
            <a:chOff x="7467600" y="4419600"/>
            <a:chExt cx="1326528" cy="1524000"/>
          </a:xfrm>
        </p:grpSpPr>
        <p:cxnSp>
          <p:nvCxnSpPr>
            <p:cNvPr id="12" name="Straight Arrow Connector 11"/>
            <p:cNvCxnSpPr/>
            <p:nvPr/>
          </p:nvCxnSpPr>
          <p:spPr>
            <a:xfrm rot="5400000">
              <a:off x="7353300" y="4914900"/>
              <a:ext cx="1143000" cy="9144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8077200" y="4419600"/>
              <a:ext cx="7169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C00000"/>
                  </a:solidFill>
                </a:rPr>
                <a:t>Value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5029200" y="4572000"/>
            <a:ext cx="1821396" cy="1371600"/>
            <a:chOff x="5029200" y="4572000"/>
            <a:chExt cx="1821396" cy="1371600"/>
          </a:xfrm>
        </p:grpSpPr>
        <p:cxnSp>
          <p:nvCxnSpPr>
            <p:cNvPr id="14" name="Straight Arrow Connector 13"/>
            <p:cNvCxnSpPr/>
            <p:nvPr/>
          </p:nvCxnSpPr>
          <p:spPr>
            <a:xfrm rot="16200000" flipH="1">
              <a:off x="5448300" y="5372100"/>
              <a:ext cx="990600" cy="1524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5029200" y="4572000"/>
              <a:ext cx="18213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C00000"/>
                  </a:solidFill>
                </a:rPr>
                <a:t>Memory Address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41311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904875" y="-1"/>
            <a:ext cx="8229600" cy="868681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Introduction to Pointers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14400"/>
            <a:ext cx="9144000" cy="594360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</a:pPr>
            <a:r>
              <a:rPr lang="en-US" b="1" dirty="0">
                <a:solidFill>
                  <a:srgbClr val="C00000"/>
                </a:solidFill>
              </a:rPr>
              <a:t>How to get</a:t>
            </a:r>
            <a:r>
              <a:rPr lang="en-US" b="1" dirty="0"/>
              <a:t> </a:t>
            </a:r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memory-address</a:t>
            </a:r>
            <a:r>
              <a:rPr lang="en-US" dirty="0"/>
              <a:t> of a </a:t>
            </a:r>
            <a:r>
              <a:rPr lang="en-US" b="1" dirty="0">
                <a:solidFill>
                  <a:srgbClr val="C00000"/>
                </a:solidFill>
              </a:rPr>
              <a:t>variable</a:t>
            </a:r>
            <a:r>
              <a:rPr lang="en-US" dirty="0"/>
              <a:t>?</a:t>
            </a:r>
          </a:p>
          <a:p>
            <a:pPr>
              <a:spcBef>
                <a:spcPts val="1200"/>
              </a:spcBef>
            </a:pPr>
            <a:endParaRPr lang="en-US" dirty="0"/>
          </a:p>
          <a:p>
            <a:pPr>
              <a:spcBef>
                <a:spcPts val="1200"/>
              </a:spcBef>
            </a:pPr>
            <a:r>
              <a:rPr lang="en-US" dirty="0">
                <a:solidFill>
                  <a:srgbClr val="2F1BC7"/>
                </a:solidFill>
              </a:rPr>
              <a:t>Address</a:t>
            </a:r>
            <a:r>
              <a:rPr lang="en-US" dirty="0"/>
              <a:t> of a </a:t>
            </a:r>
            <a:r>
              <a:rPr lang="en-US" dirty="0">
                <a:solidFill>
                  <a:srgbClr val="2F1BC7"/>
                </a:solidFill>
              </a:rPr>
              <a:t>variable</a:t>
            </a:r>
            <a:r>
              <a:rPr lang="en-US" dirty="0"/>
              <a:t> can be </a:t>
            </a:r>
            <a:r>
              <a:rPr lang="en-US" dirty="0">
                <a:solidFill>
                  <a:srgbClr val="2F1BC7"/>
                </a:solidFill>
              </a:rPr>
              <a:t>accessed</a:t>
            </a:r>
            <a:r>
              <a:rPr lang="en-US" dirty="0"/>
              <a:t> through the </a:t>
            </a:r>
            <a:r>
              <a:rPr lang="en-US" dirty="0">
                <a:solidFill>
                  <a:srgbClr val="2F1BC7"/>
                </a:solidFill>
              </a:rPr>
              <a:t>referencing operator </a:t>
            </a:r>
            <a:r>
              <a:rPr lang="en-US" dirty="0"/>
              <a:t>“</a:t>
            </a:r>
            <a:r>
              <a:rPr lang="en-US" b="1" dirty="0">
                <a:solidFill>
                  <a:srgbClr val="C00000"/>
                </a:solidFill>
              </a:rPr>
              <a:t>&amp;</a:t>
            </a:r>
            <a:r>
              <a:rPr lang="en-US" dirty="0"/>
              <a:t>” </a:t>
            </a:r>
          </a:p>
          <a:p>
            <a:pPr lvl="1">
              <a:spcBef>
                <a:spcPts val="1200"/>
              </a:spcBef>
            </a:pPr>
            <a:r>
              <a:rPr lang="en-US" sz="3200" dirty="0"/>
              <a:t>Example: </a:t>
            </a:r>
            <a:r>
              <a:rPr lang="en-US" sz="3200" b="1" dirty="0">
                <a:solidFill>
                  <a:srgbClr val="C00000"/>
                </a:solidFill>
              </a:rPr>
              <a:t>&amp;</a:t>
            </a:r>
            <a:r>
              <a:rPr lang="en-US" sz="3200" b="1" dirty="0" err="1">
                <a:solidFill>
                  <a:srgbClr val="2F1BC7"/>
                </a:solidFill>
              </a:rPr>
              <a:t>i</a:t>
            </a:r>
            <a:r>
              <a:rPr lang="en-US" sz="3200" b="1" dirty="0">
                <a:solidFill>
                  <a:srgbClr val="C00000"/>
                </a:solidFill>
              </a:rPr>
              <a:t> </a:t>
            </a:r>
            <a:r>
              <a:rPr lang="en-US" sz="3200" dirty="0">
                <a:sym typeface="Wingdings" pitchFamily="2" charset="2"/>
              </a:rPr>
              <a:t> will </a:t>
            </a:r>
            <a:r>
              <a:rPr lang="en-US" sz="3200" dirty="0"/>
              <a:t>return </a:t>
            </a:r>
            <a:r>
              <a:rPr lang="en-US" sz="3200" b="1" dirty="0">
                <a:solidFill>
                  <a:srgbClr val="B80000"/>
                </a:solidFill>
              </a:rPr>
              <a:t>memory location </a:t>
            </a:r>
            <a:r>
              <a:rPr lang="en-US" sz="3200" dirty="0"/>
              <a:t>where the </a:t>
            </a:r>
            <a:r>
              <a:rPr lang="en-US" sz="3200" dirty="0">
                <a:solidFill>
                  <a:srgbClr val="2F1BC7"/>
                </a:solidFill>
              </a:rPr>
              <a:t>data value</a:t>
            </a:r>
            <a:r>
              <a:rPr lang="en-US" sz="3200" dirty="0"/>
              <a:t> for “</a:t>
            </a:r>
            <a:r>
              <a:rPr lang="en-US" sz="3200" b="1" dirty="0" err="1">
                <a:solidFill>
                  <a:srgbClr val="2F1BC7"/>
                </a:solidFill>
              </a:rPr>
              <a:t>i</a:t>
            </a:r>
            <a:r>
              <a:rPr lang="en-US" sz="3200" dirty="0"/>
              <a:t>” is stored.</a:t>
            </a:r>
          </a:p>
          <a:p>
            <a:pPr>
              <a:spcBef>
                <a:spcPts val="1200"/>
              </a:spcBef>
            </a:pPr>
            <a:endParaRPr lang="en-US" dirty="0"/>
          </a:p>
          <a:p>
            <a:pPr>
              <a:spcBef>
                <a:spcPts val="1200"/>
              </a:spcBef>
            </a:pPr>
            <a:r>
              <a:rPr lang="en-US" u="sng" dirty="0"/>
              <a:t>A </a:t>
            </a:r>
            <a:r>
              <a:rPr lang="en-US" b="1" u="sng" dirty="0">
                <a:solidFill>
                  <a:srgbClr val="B80000"/>
                </a:solidFill>
              </a:rPr>
              <a:t>pointer is a variable, </a:t>
            </a:r>
            <a:r>
              <a:rPr lang="en-US" u="sng" dirty="0"/>
              <a:t>that </a:t>
            </a:r>
            <a:r>
              <a:rPr lang="en-US" b="1" u="sng" dirty="0">
                <a:solidFill>
                  <a:srgbClr val="2F1BC7"/>
                </a:solidFill>
              </a:rPr>
              <a:t>stores</a:t>
            </a:r>
            <a:r>
              <a:rPr lang="en-US" u="sng" dirty="0"/>
              <a:t> an </a:t>
            </a:r>
            <a:r>
              <a:rPr lang="en-US" b="1" u="sng" dirty="0">
                <a:solidFill>
                  <a:srgbClr val="2F1BC7"/>
                </a:solidFill>
              </a:rPr>
              <a:t>address</a:t>
            </a:r>
            <a:r>
              <a:rPr lang="en-US" u="sng" dirty="0"/>
              <a:t>. 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9159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-1"/>
            <a:ext cx="8229600" cy="868681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Introduction to Pointers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14400"/>
            <a:ext cx="9144000" cy="5943600"/>
          </a:xfrm>
        </p:spPr>
        <p:txBody>
          <a:bodyPr>
            <a:noAutofit/>
          </a:bodyPr>
          <a:lstStyle/>
          <a:p>
            <a:r>
              <a:rPr lang="en-US" dirty="0"/>
              <a:t>We can declare pointers as follows: </a:t>
            </a:r>
          </a:p>
          <a:p>
            <a:pPr lvl="1">
              <a:buNone/>
            </a:pPr>
            <a:r>
              <a:rPr lang="en-US" sz="3200" b="1" dirty="0"/>
              <a:t>				</a:t>
            </a:r>
            <a:r>
              <a:rPr lang="en-US" sz="3200" b="1" dirty="0">
                <a:solidFill>
                  <a:srgbClr val="008000"/>
                </a:solidFill>
              </a:rPr>
              <a:t>Type</a:t>
            </a:r>
            <a:r>
              <a:rPr lang="en-US" sz="3200" b="1" dirty="0">
                <a:solidFill>
                  <a:srgbClr val="B80000"/>
                </a:solidFill>
              </a:rPr>
              <a:t>*</a:t>
            </a:r>
            <a:r>
              <a:rPr lang="en-US" sz="3200" b="1" dirty="0"/>
              <a:t> &lt;</a:t>
            </a:r>
            <a:r>
              <a:rPr lang="en-US" sz="3200" b="1" dirty="0">
                <a:solidFill>
                  <a:srgbClr val="2F1BC7"/>
                </a:solidFill>
              </a:rPr>
              <a:t>variable Name</a:t>
            </a:r>
            <a:r>
              <a:rPr lang="en-US" sz="3200" b="1" dirty="0"/>
              <a:t>&gt;;</a:t>
            </a:r>
          </a:p>
          <a:p>
            <a:pPr lvl="1">
              <a:buNone/>
            </a:pPr>
            <a:endParaRPr lang="en-US" sz="3200" dirty="0"/>
          </a:p>
          <a:p>
            <a:pPr lvl="1"/>
            <a:r>
              <a:rPr lang="en-US" sz="3200" u="sng" dirty="0"/>
              <a:t>Example:</a:t>
            </a:r>
          </a:p>
          <a:p>
            <a:pPr lvl="2">
              <a:buNone/>
            </a:pPr>
            <a:r>
              <a:rPr lang="en-US" dirty="0"/>
              <a:t>			</a:t>
            </a:r>
            <a:r>
              <a:rPr lang="en-US" sz="3200" dirty="0" err="1"/>
              <a:t>int</a:t>
            </a:r>
            <a:r>
              <a:rPr lang="en-US" sz="3200" dirty="0"/>
              <a:t>* P;</a:t>
            </a:r>
          </a:p>
          <a:p>
            <a:pPr lvl="2">
              <a:buNone/>
            </a:pPr>
            <a:r>
              <a:rPr lang="en-US" sz="3200" dirty="0"/>
              <a:t>	</a:t>
            </a:r>
            <a:r>
              <a:rPr lang="en-US" sz="3200" dirty="0">
                <a:sym typeface="Wingdings" pitchFamily="2" charset="2"/>
              </a:rPr>
              <a:t>	</a:t>
            </a:r>
          </a:p>
          <a:p>
            <a:pPr lvl="2">
              <a:buNone/>
            </a:pPr>
            <a:r>
              <a:rPr lang="en-US" sz="3200" dirty="0">
                <a:sym typeface="Wingdings" pitchFamily="2" charset="2"/>
              </a:rPr>
              <a:t>- </a:t>
            </a:r>
            <a:r>
              <a:rPr lang="en-US" sz="3200" dirty="0"/>
              <a:t>creates a </a:t>
            </a:r>
            <a:r>
              <a:rPr lang="en-US" sz="3200" b="1" i="1" dirty="0">
                <a:solidFill>
                  <a:srgbClr val="2F1BC7"/>
                </a:solidFill>
              </a:rPr>
              <a:t>pointer variable </a:t>
            </a:r>
            <a:r>
              <a:rPr lang="en-US" sz="3200" dirty="0"/>
              <a:t>named </a:t>
            </a:r>
            <a:r>
              <a:rPr lang="en-US" sz="3200" dirty="0">
                <a:solidFill>
                  <a:srgbClr val="2F1BC7"/>
                </a:solidFill>
              </a:rPr>
              <a:t>“</a:t>
            </a:r>
            <a:r>
              <a:rPr lang="en-US" sz="3200" b="1" dirty="0">
                <a:solidFill>
                  <a:srgbClr val="2F1BC7"/>
                </a:solidFill>
              </a:rPr>
              <a:t>P</a:t>
            </a:r>
            <a:r>
              <a:rPr lang="en-US" sz="3200" dirty="0">
                <a:solidFill>
                  <a:srgbClr val="2F1BC7"/>
                </a:solidFill>
              </a:rPr>
              <a:t>”</a:t>
            </a:r>
            <a:r>
              <a:rPr lang="en-US" sz="3200" dirty="0"/>
              <a:t>, that will </a:t>
            </a:r>
            <a:r>
              <a:rPr lang="en-US" sz="3200" b="1" i="1" dirty="0">
                <a:solidFill>
                  <a:srgbClr val="2F1BC7"/>
                </a:solidFill>
              </a:rPr>
              <a:t>store address </a:t>
            </a:r>
            <a:r>
              <a:rPr lang="en-US" sz="3200" dirty="0"/>
              <a:t>(memory location) of some </a:t>
            </a:r>
            <a:r>
              <a:rPr lang="en-US" sz="3200" b="1" dirty="0" err="1">
                <a:solidFill>
                  <a:srgbClr val="2F1BC7"/>
                </a:solidFill>
              </a:rPr>
              <a:t>int</a:t>
            </a:r>
            <a:r>
              <a:rPr lang="en-US" sz="3200" b="1" dirty="0">
                <a:solidFill>
                  <a:srgbClr val="2F1BC7"/>
                </a:solidFill>
              </a:rPr>
              <a:t> type </a:t>
            </a:r>
            <a:r>
              <a:rPr lang="en-US" sz="3200" dirty="0"/>
              <a:t>variable.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91312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618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0"/>
            <a:ext cx="8198667" cy="914400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The address of Operator &amp; </a:t>
            </a:r>
          </a:p>
        </p:txBody>
      </p:sp>
      <p:sp>
        <p:nvSpPr>
          <p:cNvPr id="879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136" y="956604"/>
            <a:ext cx="8991600" cy="586740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The </a:t>
            </a:r>
            <a:r>
              <a:rPr lang="en-US" b="1" dirty="0">
                <a:solidFill>
                  <a:srgbClr val="2F1BC7"/>
                </a:solidFill>
              </a:rPr>
              <a:t>&amp;</a:t>
            </a:r>
            <a:r>
              <a:rPr lang="en-US" dirty="0"/>
              <a:t> operator can be used to </a:t>
            </a:r>
            <a:r>
              <a:rPr lang="en-US" b="1" dirty="0"/>
              <a:t>determine</a:t>
            </a:r>
            <a:r>
              <a:rPr lang="en-US" dirty="0"/>
              <a:t> the </a:t>
            </a:r>
            <a:br>
              <a:rPr lang="en-US" dirty="0"/>
            </a:br>
            <a:r>
              <a:rPr lang="en-US" b="1" dirty="0">
                <a:solidFill>
                  <a:srgbClr val="2F1BC7"/>
                </a:solidFill>
              </a:rPr>
              <a:t>address of</a:t>
            </a:r>
            <a:r>
              <a:rPr lang="en-US" dirty="0">
                <a:solidFill>
                  <a:srgbClr val="2F1BC7"/>
                </a:solidFill>
              </a:rPr>
              <a:t> </a:t>
            </a:r>
            <a:r>
              <a:rPr lang="en-US" dirty="0"/>
              <a:t>a </a:t>
            </a:r>
            <a:r>
              <a:rPr lang="en-US" b="1" dirty="0"/>
              <a:t>variable</a:t>
            </a:r>
            <a:r>
              <a:rPr lang="en-US" dirty="0"/>
              <a:t>, which can be assigned to a </a:t>
            </a:r>
            <a:br>
              <a:rPr lang="en-US" dirty="0"/>
            </a:br>
            <a:r>
              <a:rPr lang="en-US" b="1" dirty="0">
                <a:solidFill>
                  <a:srgbClr val="2F1BC7"/>
                </a:solidFill>
              </a:rPr>
              <a:t>pointer variable</a:t>
            </a:r>
          </a:p>
          <a:p>
            <a:pPr lvl="1"/>
            <a:r>
              <a:rPr lang="en-US" dirty="0"/>
              <a:t>Examples:            </a:t>
            </a:r>
          </a:p>
          <a:p>
            <a:pPr lvl="1">
              <a:buNone/>
            </a:pPr>
            <a:r>
              <a:rPr lang="en-US" dirty="0"/>
              <a:t>				</a:t>
            </a:r>
            <a:endParaRPr lang="en-US" sz="3000" dirty="0"/>
          </a:p>
        </p:txBody>
      </p:sp>
      <p:sp>
        <p:nvSpPr>
          <p:cNvPr id="4" name="Rectangle 3"/>
          <p:cNvSpPr/>
          <p:nvPr/>
        </p:nvSpPr>
        <p:spPr>
          <a:xfrm>
            <a:off x="0" y="8686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89031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42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0"/>
            <a:ext cx="8229600" cy="868681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rgbClr val="C00000"/>
                </a:solidFill>
              </a:rPr>
              <a:t>Dereferencing Operator *</a:t>
            </a:r>
          </a:p>
        </p:txBody>
      </p:sp>
      <p:sp>
        <p:nvSpPr>
          <p:cNvPr id="880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404" y="1066800"/>
            <a:ext cx="8915400" cy="5638800"/>
          </a:xfrm>
        </p:spPr>
        <p:txBody>
          <a:bodyPr/>
          <a:lstStyle/>
          <a:p>
            <a:r>
              <a:rPr lang="en-US" dirty="0"/>
              <a:t>C++ uses the </a:t>
            </a:r>
            <a:r>
              <a:rPr lang="en-US" dirty="0">
                <a:solidFill>
                  <a:srgbClr val="C00000"/>
                </a:solidFill>
              </a:rPr>
              <a:t>* </a:t>
            </a:r>
            <a:r>
              <a:rPr lang="en-US" b="1" dirty="0">
                <a:solidFill>
                  <a:srgbClr val="C00000"/>
                </a:solidFill>
              </a:rPr>
              <a:t>operator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in yet another way with</a:t>
            </a:r>
            <a:br>
              <a:rPr lang="en-US" dirty="0"/>
            </a:br>
            <a:r>
              <a:rPr lang="en-US" dirty="0"/>
              <a:t>pointers</a:t>
            </a:r>
          </a:p>
          <a:p>
            <a:pPr lvl="1"/>
            <a:r>
              <a:rPr lang="en-US" sz="3200" dirty="0"/>
              <a:t>"The variable values pointed to by p" </a:t>
            </a:r>
            <a:r>
              <a:rPr lang="en-US" sz="3200" dirty="0">
                <a:sym typeface="Wingdings" pitchFamily="2" charset="2"/>
              </a:rPr>
              <a:t> </a:t>
            </a:r>
            <a:r>
              <a:rPr lang="en-US" sz="3200" b="1" dirty="0">
                <a:solidFill>
                  <a:schemeClr val="hlink"/>
                </a:solidFill>
              </a:rPr>
              <a:t>*p</a:t>
            </a:r>
          </a:p>
          <a:p>
            <a:pPr lvl="1"/>
            <a:r>
              <a:rPr lang="en-US" sz="3200" dirty="0"/>
              <a:t>Here the </a:t>
            </a:r>
            <a:r>
              <a:rPr lang="en-US" sz="3200" b="1" dirty="0">
                <a:solidFill>
                  <a:srgbClr val="2F1BC7"/>
                </a:solidFill>
              </a:rPr>
              <a:t>*</a:t>
            </a:r>
            <a:r>
              <a:rPr lang="en-US" sz="3200" dirty="0"/>
              <a:t> is the </a:t>
            </a:r>
            <a:r>
              <a:rPr lang="en-US" sz="3200" b="1" dirty="0">
                <a:solidFill>
                  <a:srgbClr val="2F1BC7"/>
                </a:solidFill>
              </a:rPr>
              <a:t>dereferencing operator</a:t>
            </a:r>
          </a:p>
          <a:p>
            <a:pPr marL="914400" lvl="2" indent="0">
              <a:buNone/>
            </a:pPr>
            <a:r>
              <a:rPr lang="en-US" sz="3200" dirty="0">
                <a:solidFill>
                  <a:srgbClr val="2F1BC7"/>
                </a:solidFill>
              </a:rPr>
              <a:t>p</a:t>
            </a:r>
            <a:r>
              <a:rPr lang="en-US" sz="3200" dirty="0"/>
              <a:t> is said to be dereferenced</a:t>
            </a:r>
          </a:p>
          <a:p>
            <a:pPr lvl="2"/>
            <a:endParaRPr lang="en-US" dirty="0"/>
          </a:p>
          <a:p>
            <a:pPr lvl="2">
              <a:buNone/>
            </a:pPr>
            <a:r>
              <a:rPr lang="en-US" sz="26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600" b="1" dirty="0">
                <a:latin typeface="Courier New" pitchFamily="49" charset="0"/>
                <a:cs typeface="Courier New" pitchFamily="49" charset="0"/>
              </a:rPr>
              <a:t> v1=99;</a:t>
            </a:r>
          </a:p>
          <a:p>
            <a:pPr lvl="2">
              <a:buNone/>
            </a:pPr>
            <a:r>
              <a:rPr lang="en-US" sz="26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600" b="1" dirty="0">
                <a:latin typeface="Courier New" pitchFamily="49" charset="0"/>
                <a:cs typeface="Courier New" pitchFamily="49" charset="0"/>
              </a:rPr>
              <a:t>* p= &amp;v1;</a:t>
            </a:r>
          </a:p>
          <a:p>
            <a:pPr lvl="2">
              <a:buNone/>
            </a:pPr>
            <a:r>
              <a:rPr lang="en-US" sz="26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2600" b="1" dirty="0">
                <a:latin typeface="Courier New" pitchFamily="49" charset="0"/>
                <a:cs typeface="Courier New" pitchFamily="49" charset="0"/>
              </a:rPr>
              <a:t>&lt;&lt;“ P points to the value: “&lt;&lt;</a:t>
            </a:r>
            <a:r>
              <a:rPr lang="en-US" sz="2600" b="1" dirty="0">
                <a:solidFill>
                  <a:srgbClr val="2F1BC7"/>
                </a:solidFill>
                <a:latin typeface="Courier New" pitchFamily="49" charset="0"/>
                <a:cs typeface="Courier New" pitchFamily="49" charset="0"/>
              </a:rPr>
              <a:t>*p</a:t>
            </a:r>
            <a:r>
              <a:rPr lang="en-US" sz="2600" b="1" dirty="0">
                <a:latin typeface="Courier New" pitchFamily="49" charset="0"/>
                <a:cs typeface="Courier New" pitchFamily="49" charset="0"/>
              </a:rPr>
              <a:t>;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29253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666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3535"/>
            <a:ext cx="8229600" cy="865146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Dereferencing Pointer Example</a:t>
            </a:r>
          </a:p>
        </p:txBody>
      </p:sp>
      <p:sp>
        <p:nvSpPr>
          <p:cNvPr id="881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143000"/>
            <a:ext cx="8001000" cy="2514600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338138" indent="0">
              <a:buNone/>
            </a:pPr>
            <a:r>
              <a:rPr lang="en-US" sz="28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800" b="1" dirty="0">
                <a:latin typeface="Courier New" pitchFamily="49" charset="0"/>
                <a:cs typeface="Courier New" pitchFamily="49" charset="0"/>
              </a:rPr>
              <a:t> v1 = 0;</a:t>
            </a:r>
            <a:br>
              <a:rPr lang="en-US" sz="2800" b="1" dirty="0">
                <a:latin typeface="Courier New" pitchFamily="49" charset="0"/>
                <a:cs typeface="Courier New" pitchFamily="49" charset="0"/>
              </a:rPr>
            </a:br>
            <a:r>
              <a:rPr lang="en-US" sz="28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800" b="1" dirty="0">
                <a:latin typeface="Courier New" pitchFamily="49" charset="0"/>
                <a:cs typeface="Courier New" pitchFamily="49" charset="0"/>
              </a:rPr>
              <a:t>* p1 = &amp;v1;</a:t>
            </a:r>
            <a:br>
              <a:rPr lang="en-US" sz="2800" b="1" dirty="0">
                <a:latin typeface="Courier New" pitchFamily="49" charset="0"/>
                <a:cs typeface="Courier New" pitchFamily="49" charset="0"/>
              </a:rPr>
            </a:br>
            <a:r>
              <a:rPr lang="en-US" sz="2800" b="1" dirty="0">
                <a:latin typeface="Courier New" pitchFamily="49" charset="0"/>
                <a:cs typeface="Courier New" pitchFamily="49" charset="0"/>
              </a:rPr>
              <a:t>*p1 = 42;</a:t>
            </a:r>
            <a:br>
              <a:rPr lang="en-US" sz="2800" b="1" dirty="0">
                <a:latin typeface="Courier New" pitchFamily="49" charset="0"/>
                <a:cs typeface="Courier New" pitchFamily="49" charset="0"/>
              </a:rPr>
            </a:br>
            <a:r>
              <a:rPr lang="en-US" sz="28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2800" b="1" dirty="0">
                <a:latin typeface="Courier New" pitchFamily="49" charset="0"/>
                <a:cs typeface="Courier New" pitchFamily="49" charset="0"/>
              </a:rPr>
              <a:t> &lt;&lt; v1 &lt;&lt; </a:t>
            </a:r>
            <a:r>
              <a:rPr lang="en-US" sz="2800" b="1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sz="2800" b="1" dirty="0">
                <a:latin typeface="Courier New" pitchFamily="49" charset="0"/>
                <a:cs typeface="Courier New" pitchFamily="49" charset="0"/>
              </a:rPr>
              <a:t>;</a:t>
            </a:r>
            <a:br>
              <a:rPr lang="en-US" sz="2800" b="1" dirty="0">
                <a:latin typeface="Courier New" pitchFamily="49" charset="0"/>
                <a:cs typeface="Courier New" pitchFamily="49" charset="0"/>
              </a:rPr>
            </a:br>
            <a:r>
              <a:rPr lang="en-US" sz="28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2800" b="1" dirty="0">
                <a:latin typeface="Courier New" pitchFamily="49" charset="0"/>
                <a:cs typeface="Courier New" pitchFamily="49" charset="0"/>
              </a:rPr>
              <a:t> &lt;&lt; *p1 &lt;&lt; </a:t>
            </a:r>
            <a:r>
              <a:rPr lang="en-US" sz="2800" b="1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sz="2800" b="1" dirty="0">
                <a:latin typeface="Courier New" pitchFamily="49" charset="0"/>
                <a:cs typeface="Courier New" pitchFamily="49" charset="0"/>
              </a:rPr>
              <a:t>;</a:t>
            </a:r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4038600" y="1524000"/>
            <a:ext cx="4267200" cy="646331"/>
            <a:chOff x="4572000" y="1524000"/>
            <a:chExt cx="4267200" cy="646331"/>
          </a:xfrm>
        </p:grpSpPr>
        <p:sp>
          <p:nvSpPr>
            <p:cNvPr id="881668" name="Text Box 4"/>
            <p:cNvSpPr txBox="1">
              <a:spLocks noChangeArrowheads="1"/>
            </p:cNvSpPr>
            <p:nvPr/>
          </p:nvSpPr>
          <p:spPr bwMode="auto">
            <a:xfrm>
              <a:off x="6382656" y="1524000"/>
              <a:ext cx="2456544" cy="64633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algn="ctr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/>
                <a:t>v1 and *p1 now refer to </a:t>
              </a:r>
              <a:br>
                <a:rPr lang="en-US" b="1" dirty="0"/>
              </a:br>
              <a:r>
                <a:rPr lang="en-US" b="1" dirty="0"/>
                <a:t>the same variable</a:t>
              </a:r>
            </a:p>
          </p:txBody>
        </p:sp>
        <p:sp>
          <p:nvSpPr>
            <p:cNvPr id="881670" name="Line 6"/>
            <p:cNvSpPr>
              <a:spLocks noChangeShapeType="1"/>
            </p:cNvSpPr>
            <p:nvPr/>
          </p:nvSpPr>
          <p:spPr bwMode="auto">
            <a:xfrm flipH="1">
              <a:off x="4572000" y="1828800"/>
              <a:ext cx="1797050" cy="0"/>
            </a:xfrm>
            <a:prstGeom prst="line">
              <a:avLst/>
            </a:prstGeom>
            <a:noFill/>
            <a:ln w="57150">
              <a:solidFill>
                <a:schemeClr val="tx2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" name="Rectangle 5"/>
          <p:cNvSpPr/>
          <p:nvPr/>
        </p:nvSpPr>
        <p:spPr>
          <a:xfrm>
            <a:off x="0" y="8686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533400" y="4114800"/>
            <a:ext cx="8077200" cy="1905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/>
          <a:p>
            <a:pPr marL="338138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800" b="1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Output:</a:t>
            </a:r>
          </a:p>
          <a:p>
            <a:pPr marL="338138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800" b="1" dirty="0">
                <a:latin typeface="Courier New" pitchFamily="49" charset="0"/>
                <a:cs typeface="Courier New" pitchFamily="49" charset="0"/>
              </a:rPr>
              <a:t>			42</a:t>
            </a:r>
          </a:p>
          <a:p>
            <a:pPr marL="338138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		42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5937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690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0"/>
            <a:ext cx="8229600" cy="91440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C00000"/>
                </a:solidFill>
              </a:rPr>
              <a:t>Pointer Assignment and Dereferencing </a:t>
            </a:r>
          </a:p>
        </p:txBody>
      </p:sp>
      <p:sp>
        <p:nvSpPr>
          <p:cNvPr id="882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990600"/>
            <a:ext cx="8839200" cy="57150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2F1BC7"/>
                </a:solidFill>
              </a:rPr>
              <a:t>Assignment operator</a:t>
            </a:r>
            <a:r>
              <a:rPr lang="en-US" b="1" dirty="0"/>
              <a:t> </a:t>
            </a:r>
            <a:r>
              <a:rPr lang="en-US" dirty="0"/>
              <a:t>( </a:t>
            </a:r>
            <a:r>
              <a:rPr lang="en-US" b="1" dirty="0">
                <a:solidFill>
                  <a:srgbClr val="2F1BC7"/>
                </a:solidFill>
              </a:rPr>
              <a:t>=</a:t>
            </a:r>
            <a:r>
              <a:rPr lang="en-US" dirty="0"/>
              <a:t> ) is used to assign value of one </a:t>
            </a:r>
            <a:r>
              <a:rPr lang="en-US" b="1" dirty="0">
                <a:solidFill>
                  <a:srgbClr val="2F1BC7"/>
                </a:solidFill>
              </a:rPr>
              <a:t>pointer</a:t>
            </a:r>
            <a:r>
              <a:rPr lang="en-US" dirty="0"/>
              <a:t> to another</a:t>
            </a:r>
          </a:p>
          <a:p>
            <a:endParaRPr lang="en-US" dirty="0"/>
          </a:p>
          <a:p>
            <a:r>
              <a:rPr lang="en-US" b="1" dirty="0">
                <a:solidFill>
                  <a:srgbClr val="2F1BC7"/>
                </a:solidFill>
              </a:rPr>
              <a:t>Pointer stores addresses</a:t>
            </a:r>
            <a:r>
              <a:rPr lang="en-US" b="1" dirty="0"/>
              <a:t> </a:t>
            </a:r>
            <a:r>
              <a:rPr lang="en-US" dirty="0"/>
              <a:t>so </a:t>
            </a:r>
            <a:r>
              <a:rPr lang="en-US" b="1" dirty="0">
                <a:solidFill>
                  <a:srgbClr val="C00000"/>
                </a:solidFill>
              </a:rPr>
              <a:t>p1=p2</a:t>
            </a:r>
            <a:r>
              <a:rPr lang="en-US" dirty="0"/>
              <a:t> copies </a:t>
            </a:r>
            <a:r>
              <a:rPr lang="en-US" b="1" dirty="0">
                <a:solidFill>
                  <a:srgbClr val="2F1BC7"/>
                </a:solidFill>
              </a:rPr>
              <a:t>an address value</a:t>
            </a:r>
            <a:r>
              <a:rPr lang="en-US" dirty="0"/>
              <a:t> into another pointer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152400" y="3810000"/>
            <a:ext cx="4953000" cy="2895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/>
          <a:p>
            <a:pPr marL="338138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v1 = 55;</a:t>
            </a:r>
            <a:b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</a:b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* p1 = &amp;v1;</a:t>
            </a:r>
            <a:b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</a:b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* p2;</a:t>
            </a:r>
          </a:p>
          <a:p>
            <a:pPr marL="338138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800" b="1" dirty="0">
                <a:latin typeface="Courier New" pitchFamily="49" charset="0"/>
                <a:cs typeface="Courier New" pitchFamily="49" charset="0"/>
              </a:rPr>
              <a:t>p2=p1;</a:t>
            </a:r>
            <a:b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</a:b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cout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&lt;&lt; *p1 &lt;&lt;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endl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;</a:t>
            </a:r>
            <a:b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</a:b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cout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&lt;&lt; *p2 &lt;&lt;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endl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;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5410200" y="3810000"/>
            <a:ext cx="3505200" cy="2895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/>
          <a:p>
            <a:pPr marL="338138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800" b="1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Output:</a:t>
            </a:r>
          </a:p>
          <a:p>
            <a:pPr marL="338138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2800" b="1" i="0" u="sng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338138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800" b="1" dirty="0">
                <a:latin typeface="Courier New" pitchFamily="49" charset="0"/>
                <a:cs typeface="Courier New" pitchFamily="49" charset="0"/>
              </a:rPr>
              <a:t>		55</a:t>
            </a:r>
          </a:p>
          <a:p>
            <a:pPr marL="338138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800" b="1" i="0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	55</a:t>
            </a:r>
            <a:endParaRPr kumimoji="0" lang="en-US" sz="3200" b="0" i="0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459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1"/>
            <a:ext cx="8153400" cy="874714"/>
          </a:xfrm>
        </p:spPr>
        <p:txBody>
          <a:bodyPr>
            <a:normAutofit/>
          </a:bodyPr>
          <a:lstStyle/>
          <a:p>
            <a:r>
              <a:rPr lang="en-US" altLang="zh-CN" sz="4800" b="1" dirty="0">
                <a:solidFill>
                  <a:srgbClr val="C00000"/>
                </a:solidFill>
              </a:rPr>
              <a:t>Example</a:t>
            </a:r>
          </a:p>
        </p:txBody>
      </p:sp>
      <p:sp>
        <p:nvSpPr>
          <p:cNvPr id="156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5446712" cy="41148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Courier New" panose="02070309020205020404" pitchFamily="49" charset="0"/>
              </a:rPr>
              <a:t>char *string = “hello”;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000" b="1" dirty="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 err="1">
                <a:latin typeface="Courier New" panose="02070309020205020404" pitchFamily="49" charset="0"/>
              </a:rPr>
              <a:t>const</a:t>
            </a:r>
            <a:r>
              <a:rPr lang="en-US" altLang="zh-CN" sz="2000" b="1" dirty="0">
                <a:latin typeface="Courier New" panose="02070309020205020404" pitchFamily="49" charset="0"/>
              </a:rPr>
              <a:t> </a:t>
            </a:r>
            <a:r>
              <a:rPr lang="en-US" altLang="zh-CN" sz="2000" b="1" dirty="0" err="1">
                <a:latin typeface="Courier New" panose="02070309020205020404" pitchFamily="49" charset="0"/>
              </a:rPr>
              <a:t>int</a:t>
            </a:r>
            <a:r>
              <a:rPr lang="en-US" altLang="zh-CN" sz="2000" b="1" dirty="0">
                <a:latin typeface="Courier New" panose="02070309020205020404" pitchFamily="49" charset="0"/>
              </a:rPr>
              <a:t> </a:t>
            </a:r>
            <a:r>
              <a:rPr lang="en-US" altLang="zh-CN" sz="2000" b="1" dirty="0" err="1">
                <a:latin typeface="Courier New" panose="02070309020205020404" pitchFamily="49" charset="0"/>
              </a:rPr>
              <a:t>iSize</a:t>
            </a:r>
            <a:r>
              <a:rPr lang="en-US" altLang="zh-CN" sz="2000" b="1" dirty="0">
                <a:latin typeface="Courier New" panose="02070309020205020404" pitchFamily="49" charset="0"/>
              </a:rPr>
              <a:t>=8;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000" b="1" dirty="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Courier New" panose="02070309020205020404" pitchFamily="49" charset="0"/>
              </a:rPr>
              <a:t>char* f(</a:t>
            </a:r>
            <a:r>
              <a:rPr lang="en-US" altLang="zh-CN" sz="2000" b="1" dirty="0" err="1">
                <a:latin typeface="Courier New" panose="02070309020205020404" pitchFamily="49" charset="0"/>
              </a:rPr>
              <a:t>int</a:t>
            </a:r>
            <a:r>
              <a:rPr lang="en-US" altLang="zh-CN" sz="2000" b="1" dirty="0">
                <a:latin typeface="Courier New" panose="02070309020205020404" pitchFamily="49" charset="0"/>
              </a:rPr>
              <a:t> x)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Courier New" panose="02070309020205020404" pitchFamily="49" charset="0"/>
              </a:rPr>
              <a:t>{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Courier New" panose="02070309020205020404" pitchFamily="49" charset="0"/>
              </a:rPr>
              <a:t>  char *p;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000" b="1" dirty="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Courier New" panose="02070309020205020404" pitchFamily="49" charset="0"/>
              </a:rPr>
              <a:t>  p = new char[</a:t>
            </a:r>
            <a:r>
              <a:rPr lang="en-US" altLang="zh-CN" sz="2000" b="1" dirty="0" err="1">
                <a:latin typeface="Courier New" panose="02070309020205020404" pitchFamily="49" charset="0"/>
              </a:rPr>
              <a:t>iSize</a:t>
            </a:r>
            <a:r>
              <a:rPr lang="en-US" altLang="zh-CN" sz="2000" b="1" dirty="0">
                <a:latin typeface="Courier New" panose="02070309020205020404" pitchFamily="49" charset="0"/>
              </a:rPr>
              <a:t>];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000" b="1" dirty="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Courier New" panose="02070309020205020404" pitchFamily="49" charset="0"/>
              </a:rPr>
              <a:t>  return p;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56676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934200" y="2286000"/>
            <a:ext cx="1752600" cy="3657600"/>
          </a:xfrm>
          <a:prstGeom prst="rect">
            <a:avLst/>
          </a:prstGeom>
          <a:solidFill>
            <a:srgbClr val="F8F8F8"/>
          </a:solidFill>
          <a:ln w="28575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>
              <a:solidFill>
                <a:schemeClr val="accent2"/>
              </a:solidFill>
              <a:latin typeface="Courier New" panose="02070309020205020404" pitchFamily="49" charset="0"/>
            </a:endParaRPr>
          </a:p>
        </p:txBody>
      </p:sp>
      <p:sp>
        <p:nvSpPr>
          <p:cNvPr id="156677" name="Text Box 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257800" y="5678488"/>
            <a:ext cx="170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0xffffffff</a:t>
            </a:r>
          </a:p>
        </p:txBody>
      </p:sp>
      <p:sp>
        <p:nvSpPr>
          <p:cNvPr id="156678" name="Text Box 6"/>
          <p:cNvSpPr txBox="1">
            <a:spLocks noChangeArrowheads="1"/>
          </p:cNvSpPr>
          <p:nvPr/>
        </p:nvSpPr>
        <p:spPr bwMode="auto">
          <a:xfrm>
            <a:off x="6629400" y="2209800"/>
            <a:ext cx="381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0</a:t>
            </a:r>
          </a:p>
        </p:txBody>
      </p:sp>
      <p:sp>
        <p:nvSpPr>
          <p:cNvPr id="156679" name="Line 7"/>
          <p:cNvSpPr>
            <a:spLocks noChangeShapeType="1"/>
          </p:cNvSpPr>
          <p:nvPr/>
        </p:nvSpPr>
        <p:spPr bwMode="auto">
          <a:xfrm>
            <a:off x="6934200" y="28956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6680" name="Text Box 8"/>
          <p:cNvSpPr txBox="1">
            <a:spLocks noChangeArrowheads="1"/>
          </p:cNvSpPr>
          <p:nvPr/>
        </p:nvSpPr>
        <p:spPr bwMode="auto">
          <a:xfrm>
            <a:off x="7391400" y="2438400"/>
            <a:ext cx="1066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text</a:t>
            </a:r>
          </a:p>
        </p:txBody>
      </p:sp>
      <p:sp>
        <p:nvSpPr>
          <p:cNvPr id="156681" name="Text Box 9"/>
          <p:cNvSpPr txBox="1">
            <a:spLocks noChangeArrowheads="1"/>
          </p:cNvSpPr>
          <p:nvPr/>
        </p:nvSpPr>
        <p:spPr bwMode="auto">
          <a:xfrm>
            <a:off x="7391400" y="2895600"/>
            <a:ext cx="1143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data</a:t>
            </a:r>
          </a:p>
        </p:txBody>
      </p:sp>
      <p:sp>
        <p:nvSpPr>
          <p:cNvPr id="156682" name="Line 10"/>
          <p:cNvSpPr>
            <a:spLocks noChangeShapeType="1"/>
          </p:cNvSpPr>
          <p:nvPr/>
        </p:nvSpPr>
        <p:spPr bwMode="auto">
          <a:xfrm>
            <a:off x="6934200" y="33528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6683" name="Line 11"/>
          <p:cNvSpPr>
            <a:spLocks noChangeShapeType="1"/>
          </p:cNvSpPr>
          <p:nvPr/>
        </p:nvSpPr>
        <p:spPr bwMode="auto">
          <a:xfrm>
            <a:off x="6934200" y="38100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6684" name="Text Box 12"/>
          <p:cNvSpPr txBox="1">
            <a:spLocks noChangeArrowheads="1"/>
          </p:cNvSpPr>
          <p:nvPr/>
        </p:nvSpPr>
        <p:spPr bwMode="auto">
          <a:xfrm>
            <a:off x="7467600" y="3352800"/>
            <a:ext cx="76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bss</a:t>
            </a:r>
          </a:p>
        </p:txBody>
      </p:sp>
      <p:sp>
        <p:nvSpPr>
          <p:cNvPr id="156685" name="Line 13"/>
          <p:cNvSpPr>
            <a:spLocks noChangeShapeType="1"/>
          </p:cNvSpPr>
          <p:nvPr/>
        </p:nvSpPr>
        <p:spPr bwMode="auto">
          <a:xfrm>
            <a:off x="6934200" y="44196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6686" name="Text Box 14"/>
          <p:cNvSpPr txBox="1">
            <a:spLocks noChangeArrowheads="1"/>
          </p:cNvSpPr>
          <p:nvPr/>
        </p:nvSpPr>
        <p:spPr bwMode="auto">
          <a:xfrm>
            <a:off x="7391400" y="3962400"/>
            <a:ext cx="1066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heap</a:t>
            </a:r>
          </a:p>
        </p:txBody>
      </p:sp>
      <p:sp>
        <p:nvSpPr>
          <p:cNvPr id="156687" name="Line 15"/>
          <p:cNvSpPr>
            <a:spLocks noChangeShapeType="1"/>
          </p:cNvSpPr>
          <p:nvPr/>
        </p:nvSpPr>
        <p:spPr bwMode="auto">
          <a:xfrm>
            <a:off x="7772400" y="4419600"/>
            <a:ext cx="0" cy="3810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6688" name="Text Box 16"/>
          <p:cNvSpPr txBox="1">
            <a:spLocks noChangeArrowheads="1"/>
          </p:cNvSpPr>
          <p:nvPr/>
        </p:nvSpPr>
        <p:spPr bwMode="auto">
          <a:xfrm>
            <a:off x="7391400" y="5562600"/>
            <a:ext cx="1143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stack</a:t>
            </a:r>
          </a:p>
        </p:txBody>
      </p:sp>
      <p:sp>
        <p:nvSpPr>
          <p:cNvPr id="156689" name="Line 17"/>
          <p:cNvSpPr>
            <a:spLocks noChangeShapeType="1"/>
          </p:cNvSpPr>
          <p:nvPr/>
        </p:nvSpPr>
        <p:spPr bwMode="auto">
          <a:xfrm>
            <a:off x="6934200" y="55626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6690" name="Line 18"/>
          <p:cNvSpPr>
            <a:spLocks noChangeShapeType="1"/>
          </p:cNvSpPr>
          <p:nvPr/>
        </p:nvSpPr>
        <p:spPr bwMode="auto">
          <a:xfrm flipV="1">
            <a:off x="7772400" y="5257800"/>
            <a:ext cx="0" cy="3048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56696" name="Group 24"/>
          <p:cNvGrpSpPr>
            <a:grpSpLocks/>
          </p:cNvGrpSpPr>
          <p:nvPr/>
        </p:nvGrpSpPr>
        <p:grpSpPr bwMode="auto">
          <a:xfrm>
            <a:off x="2819400" y="2209800"/>
            <a:ext cx="4114800" cy="3429000"/>
            <a:chOff x="1776" y="1392"/>
            <a:chExt cx="2592" cy="2160"/>
          </a:xfrm>
        </p:grpSpPr>
        <p:sp>
          <p:nvSpPr>
            <p:cNvPr id="156691" name="Line 19"/>
            <p:cNvSpPr>
              <a:spLocks noChangeShapeType="1"/>
            </p:cNvSpPr>
            <p:nvPr/>
          </p:nvSpPr>
          <p:spPr bwMode="auto">
            <a:xfrm>
              <a:off x="3024" y="1392"/>
              <a:ext cx="1344" cy="5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6692" name="Line 20"/>
            <p:cNvSpPr>
              <a:spLocks noChangeShapeType="1"/>
            </p:cNvSpPr>
            <p:nvPr/>
          </p:nvSpPr>
          <p:spPr bwMode="auto">
            <a:xfrm flipV="1">
              <a:off x="2544" y="1642"/>
              <a:ext cx="1824" cy="8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6693" name="Line 21"/>
            <p:cNvSpPr>
              <a:spLocks noChangeShapeType="1"/>
            </p:cNvSpPr>
            <p:nvPr/>
          </p:nvSpPr>
          <p:spPr bwMode="auto">
            <a:xfrm>
              <a:off x="1776" y="2438"/>
              <a:ext cx="2592" cy="111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6694" name="Line 22"/>
            <p:cNvSpPr>
              <a:spLocks noChangeShapeType="1"/>
            </p:cNvSpPr>
            <p:nvPr/>
          </p:nvSpPr>
          <p:spPr bwMode="auto">
            <a:xfrm flipV="1">
              <a:off x="2832" y="2544"/>
              <a:ext cx="1536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6695" name="Line 23"/>
            <p:cNvSpPr>
              <a:spLocks noChangeShapeType="1"/>
            </p:cNvSpPr>
            <p:nvPr/>
          </p:nvSpPr>
          <p:spPr bwMode="auto">
            <a:xfrm>
              <a:off x="2064" y="2112"/>
              <a:ext cx="2304" cy="13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" name="Rectangle 25"/>
          <p:cNvSpPr/>
          <p:nvPr/>
        </p:nvSpPr>
        <p:spPr>
          <a:xfrm>
            <a:off x="30933" y="918745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533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6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>
          <a:xfrm>
            <a:off x="904362" y="-47075"/>
            <a:ext cx="8153400" cy="885275"/>
          </a:xfrm>
        </p:spPr>
        <p:txBody>
          <a:bodyPr>
            <a:normAutofit/>
          </a:bodyPr>
          <a:lstStyle/>
          <a:p>
            <a:r>
              <a:rPr lang="en-US" altLang="zh-CN" sz="4800" b="1" dirty="0">
                <a:solidFill>
                  <a:srgbClr val="C00000"/>
                </a:solidFill>
              </a:rPr>
              <a:t>Example</a:t>
            </a:r>
          </a:p>
        </p:txBody>
      </p:sp>
      <p:sp>
        <p:nvSpPr>
          <p:cNvPr id="156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5446712" cy="41148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Courier New" panose="02070309020205020404" pitchFamily="49" charset="0"/>
              </a:rPr>
              <a:t>char *string = “hello”;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000" b="1" dirty="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const</a:t>
            </a:r>
            <a:r>
              <a:rPr lang="en-US" altLang="zh-CN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int</a:t>
            </a:r>
            <a:r>
              <a:rPr lang="en-US" altLang="zh-CN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iSize</a:t>
            </a:r>
            <a:r>
              <a:rPr lang="en-US" altLang="zh-CN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=8;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000" b="1" dirty="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char* f(</a:t>
            </a:r>
            <a:r>
              <a:rPr lang="en-US" altLang="zh-CN" sz="2000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int</a:t>
            </a:r>
            <a:r>
              <a:rPr lang="en-US" altLang="zh-CN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 x)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{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  char *p;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000" b="1" dirty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	p = new char[</a:t>
            </a:r>
            <a:r>
              <a:rPr lang="en-US" altLang="zh-CN" sz="2000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iSize</a:t>
            </a:r>
            <a:r>
              <a:rPr lang="en-US" altLang="zh-CN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];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000" b="1" dirty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  return p;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56676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934200" y="2286000"/>
            <a:ext cx="1752600" cy="3657600"/>
          </a:xfrm>
          <a:prstGeom prst="rect">
            <a:avLst/>
          </a:prstGeom>
          <a:solidFill>
            <a:srgbClr val="F8F8F8"/>
          </a:solidFill>
          <a:ln w="28575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>
              <a:solidFill>
                <a:schemeClr val="accent2"/>
              </a:solidFill>
              <a:latin typeface="Courier New" panose="02070309020205020404" pitchFamily="49" charset="0"/>
            </a:endParaRPr>
          </a:p>
        </p:txBody>
      </p:sp>
      <p:sp>
        <p:nvSpPr>
          <p:cNvPr id="156677" name="Text Box 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257800" y="5678488"/>
            <a:ext cx="170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0xffffffff</a:t>
            </a:r>
          </a:p>
        </p:txBody>
      </p:sp>
      <p:sp>
        <p:nvSpPr>
          <p:cNvPr id="156678" name="Text Box 6"/>
          <p:cNvSpPr txBox="1">
            <a:spLocks noChangeArrowheads="1"/>
          </p:cNvSpPr>
          <p:nvPr/>
        </p:nvSpPr>
        <p:spPr bwMode="auto">
          <a:xfrm>
            <a:off x="6629400" y="2209800"/>
            <a:ext cx="381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0</a:t>
            </a:r>
          </a:p>
        </p:txBody>
      </p:sp>
      <p:sp>
        <p:nvSpPr>
          <p:cNvPr id="156679" name="Line 7"/>
          <p:cNvSpPr>
            <a:spLocks noChangeShapeType="1"/>
          </p:cNvSpPr>
          <p:nvPr/>
        </p:nvSpPr>
        <p:spPr bwMode="auto">
          <a:xfrm>
            <a:off x="6934200" y="28956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6680" name="Text Box 8"/>
          <p:cNvSpPr txBox="1">
            <a:spLocks noChangeArrowheads="1"/>
          </p:cNvSpPr>
          <p:nvPr/>
        </p:nvSpPr>
        <p:spPr bwMode="auto">
          <a:xfrm>
            <a:off x="7391400" y="2438400"/>
            <a:ext cx="10668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text</a:t>
            </a:r>
          </a:p>
        </p:txBody>
      </p:sp>
      <p:sp>
        <p:nvSpPr>
          <p:cNvPr id="156681" name="Text Box 9"/>
          <p:cNvSpPr txBox="1">
            <a:spLocks noChangeArrowheads="1"/>
          </p:cNvSpPr>
          <p:nvPr/>
        </p:nvSpPr>
        <p:spPr bwMode="auto">
          <a:xfrm>
            <a:off x="7391400" y="2895600"/>
            <a:ext cx="1143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data</a:t>
            </a:r>
          </a:p>
        </p:txBody>
      </p:sp>
      <p:sp>
        <p:nvSpPr>
          <p:cNvPr id="156682" name="Line 10"/>
          <p:cNvSpPr>
            <a:spLocks noChangeShapeType="1"/>
          </p:cNvSpPr>
          <p:nvPr/>
        </p:nvSpPr>
        <p:spPr bwMode="auto">
          <a:xfrm>
            <a:off x="6934200" y="33528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6683" name="Line 11"/>
          <p:cNvSpPr>
            <a:spLocks noChangeShapeType="1"/>
          </p:cNvSpPr>
          <p:nvPr/>
        </p:nvSpPr>
        <p:spPr bwMode="auto">
          <a:xfrm>
            <a:off x="6934200" y="38100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6684" name="Text Box 12"/>
          <p:cNvSpPr txBox="1">
            <a:spLocks noChangeArrowheads="1"/>
          </p:cNvSpPr>
          <p:nvPr/>
        </p:nvSpPr>
        <p:spPr bwMode="auto">
          <a:xfrm>
            <a:off x="7467600" y="3352800"/>
            <a:ext cx="76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bss</a:t>
            </a:r>
          </a:p>
        </p:txBody>
      </p:sp>
      <p:sp>
        <p:nvSpPr>
          <p:cNvPr id="156685" name="Line 13"/>
          <p:cNvSpPr>
            <a:spLocks noChangeShapeType="1"/>
          </p:cNvSpPr>
          <p:nvPr/>
        </p:nvSpPr>
        <p:spPr bwMode="auto">
          <a:xfrm>
            <a:off x="6934200" y="44196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6686" name="Text Box 14"/>
          <p:cNvSpPr txBox="1">
            <a:spLocks noChangeArrowheads="1"/>
          </p:cNvSpPr>
          <p:nvPr/>
        </p:nvSpPr>
        <p:spPr bwMode="auto">
          <a:xfrm>
            <a:off x="7391400" y="3962400"/>
            <a:ext cx="1066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heap</a:t>
            </a:r>
          </a:p>
        </p:txBody>
      </p:sp>
      <p:sp>
        <p:nvSpPr>
          <p:cNvPr id="156687" name="Line 15"/>
          <p:cNvSpPr>
            <a:spLocks noChangeShapeType="1"/>
          </p:cNvSpPr>
          <p:nvPr/>
        </p:nvSpPr>
        <p:spPr bwMode="auto">
          <a:xfrm>
            <a:off x="7772400" y="4419600"/>
            <a:ext cx="0" cy="3810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6688" name="Text Box 16"/>
          <p:cNvSpPr txBox="1">
            <a:spLocks noChangeArrowheads="1"/>
          </p:cNvSpPr>
          <p:nvPr/>
        </p:nvSpPr>
        <p:spPr bwMode="auto">
          <a:xfrm>
            <a:off x="7391400" y="5562600"/>
            <a:ext cx="1143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stack</a:t>
            </a:r>
          </a:p>
        </p:txBody>
      </p:sp>
      <p:sp>
        <p:nvSpPr>
          <p:cNvPr id="156689" name="Line 17"/>
          <p:cNvSpPr>
            <a:spLocks noChangeShapeType="1"/>
          </p:cNvSpPr>
          <p:nvPr/>
        </p:nvSpPr>
        <p:spPr bwMode="auto">
          <a:xfrm>
            <a:off x="6934200" y="55626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6690" name="Line 18"/>
          <p:cNvSpPr>
            <a:spLocks noChangeShapeType="1"/>
          </p:cNvSpPr>
          <p:nvPr/>
        </p:nvSpPr>
        <p:spPr bwMode="auto">
          <a:xfrm flipV="1">
            <a:off x="7772400" y="5257800"/>
            <a:ext cx="0" cy="3048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56696" name="Group 24"/>
          <p:cNvGrpSpPr>
            <a:grpSpLocks/>
          </p:cNvGrpSpPr>
          <p:nvPr/>
        </p:nvGrpSpPr>
        <p:grpSpPr bwMode="auto">
          <a:xfrm>
            <a:off x="2819400" y="2209800"/>
            <a:ext cx="4114800" cy="3429000"/>
            <a:chOff x="1776" y="1392"/>
            <a:chExt cx="2592" cy="2160"/>
          </a:xfrm>
        </p:grpSpPr>
        <p:sp>
          <p:nvSpPr>
            <p:cNvPr id="156691" name="Line 19"/>
            <p:cNvSpPr>
              <a:spLocks noChangeShapeType="1"/>
            </p:cNvSpPr>
            <p:nvPr/>
          </p:nvSpPr>
          <p:spPr bwMode="auto">
            <a:xfrm>
              <a:off x="3024" y="1392"/>
              <a:ext cx="1344" cy="5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6692" name="Line 20"/>
            <p:cNvSpPr>
              <a:spLocks noChangeShapeType="1"/>
            </p:cNvSpPr>
            <p:nvPr/>
          </p:nvSpPr>
          <p:spPr bwMode="auto">
            <a:xfrm flipV="1">
              <a:off x="2496" y="1642"/>
              <a:ext cx="1872" cy="8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6693" name="Line 21"/>
            <p:cNvSpPr>
              <a:spLocks noChangeShapeType="1"/>
            </p:cNvSpPr>
            <p:nvPr/>
          </p:nvSpPr>
          <p:spPr bwMode="auto">
            <a:xfrm>
              <a:off x="1776" y="2438"/>
              <a:ext cx="2592" cy="111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6694" name="Line 22"/>
            <p:cNvSpPr>
              <a:spLocks noChangeShapeType="1"/>
            </p:cNvSpPr>
            <p:nvPr/>
          </p:nvSpPr>
          <p:spPr bwMode="auto">
            <a:xfrm flipV="1">
              <a:off x="2832" y="2544"/>
              <a:ext cx="1536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6695" name="Line 23"/>
            <p:cNvSpPr>
              <a:spLocks noChangeShapeType="1"/>
            </p:cNvSpPr>
            <p:nvPr/>
          </p:nvSpPr>
          <p:spPr bwMode="auto">
            <a:xfrm>
              <a:off x="2064" y="2112"/>
              <a:ext cx="2304" cy="13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" name="Rectangle 25"/>
          <p:cNvSpPr/>
          <p:nvPr/>
        </p:nvSpPr>
        <p:spPr>
          <a:xfrm>
            <a:off x="73182" y="874714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18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6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1"/>
            <a:ext cx="8153400" cy="897616"/>
          </a:xfrm>
        </p:spPr>
        <p:txBody>
          <a:bodyPr>
            <a:normAutofit/>
          </a:bodyPr>
          <a:lstStyle/>
          <a:p>
            <a:r>
              <a:rPr lang="en-US" altLang="zh-CN" sz="4800" b="1" dirty="0">
                <a:solidFill>
                  <a:srgbClr val="B80000"/>
                </a:solidFill>
              </a:rPr>
              <a:t>Variable Lifetime</a:t>
            </a:r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134925"/>
            <a:ext cx="6705601" cy="5570675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altLang="zh-CN" sz="2400" b="1" dirty="0">
                <a:solidFill>
                  <a:srgbClr val="B80000"/>
                </a:solidFill>
              </a:rPr>
              <a:t>text:</a:t>
            </a:r>
          </a:p>
          <a:p>
            <a:pPr lvl="1">
              <a:lnSpc>
                <a:spcPct val="80000"/>
              </a:lnSpc>
            </a:pPr>
            <a:r>
              <a:rPr lang="en-US" altLang="zh-CN" sz="2000" b="1" dirty="0">
                <a:solidFill>
                  <a:srgbClr val="2C14DE"/>
                </a:solidFill>
              </a:rPr>
              <a:t>program</a:t>
            </a:r>
            <a:r>
              <a:rPr lang="en-US" altLang="zh-CN" sz="2000" b="1" dirty="0"/>
              <a:t> startup</a:t>
            </a:r>
          </a:p>
          <a:p>
            <a:pPr lvl="1">
              <a:lnSpc>
                <a:spcPct val="80000"/>
              </a:lnSpc>
            </a:pPr>
            <a:r>
              <a:rPr lang="en-US" altLang="zh-CN" sz="2000" b="1" dirty="0">
                <a:solidFill>
                  <a:srgbClr val="2C14DE"/>
                </a:solidFill>
              </a:rPr>
              <a:t>program</a:t>
            </a:r>
            <a:r>
              <a:rPr lang="en-US" altLang="zh-CN" sz="2000" b="1" dirty="0"/>
              <a:t> finish</a:t>
            </a:r>
          </a:p>
          <a:p>
            <a:pPr lvl="1">
              <a:lnSpc>
                <a:spcPct val="80000"/>
              </a:lnSpc>
            </a:pPr>
            <a:endParaRPr lang="en-US" altLang="zh-CN" sz="2000" dirty="0"/>
          </a:p>
          <a:p>
            <a:pPr>
              <a:lnSpc>
                <a:spcPct val="80000"/>
              </a:lnSpc>
            </a:pPr>
            <a:r>
              <a:rPr lang="en-US" altLang="zh-CN" sz="2400" b="1" dirty="0">
                <a:solidFill>
                  <a:srgbClr val="B80000"/>
                </a:solidFill>
              </a:rPr>
              <a:t>data</a:t>
            </a:r>
            <a:r>
              <a:rPr lang="en-US" altLang="zh-CN" sz="2400" dirty="0"/>
              <a:t>, </a:t>
            </a:r>
            <a:r>
              <a:rPr lang="en-US" altLang="zh-CN" sz="2400" b="1" dirty="0" err="1">
                <a:solidFill>
                  <a:srgbClr val="B80000"/>
                </a:solidFill>
              </a:rPr>
              <a:t>bss</a:t>
            </a:r>
            <a:r>
              <a:rPr lang="en-US" altLang="zh-CN" sz="2400" dirty="0"/>
              <a:t>:</a:t>
            </a:r>
          </a:p>
          <a:p>
            <a:pPr lvl="1">
              <a:lnSpc>
                <a:spcPct val="80000"/>
              </a:lnSpc>
            </a:pPr>
            <a:r>
              <a:rPr lang="en-US" altLang="zh-CN" sz="2000" b="1" dirty="0">
                <a:solidFill>
                  <a:srgbClr val="2C14DE"/>
                </a:solidFill>
              </a:rPr>
              <a:t>program</a:t>
            </a:r>
            <a:r>
              <a:rPr lang="en-US" altLang="zh-CN" sz="2000" b="1" dirty="0"/>
              <a:t> startup</a:t>
            </a:r>
          </a:p>
          <a:p>
            <a:pPr lvl="1">
              <a:lnSpc>
                <a:spcPct val="80000"/>
              </a:lnSpc>
            </a:pPr>
            <a:r>
              <a:rPr lang="en-US" altLang="zh-CN" sz="2000" b="1" dirty="0">
                <a:solidFill>
                  <a:srgbClr val="2C14DE"/>
                </a:solidFill>
              </a:rPr>
              <a:t>program</a:t>
            </a:r>
            <a:r>
              <a:rPr lang="en-US" altLang="zh-CN" sz="2000" b="1" dirty="0"/>
              <a:t> finish </a:t>
            </a:r>
          </a:p>
          <a:p>
            <a:pPr lvl="1">
              <a:lnSpc>
                <a:spcPct val="80000"/>
              </a:lnSpc>
            </a:pPr>
            <a:endParaRPr lang="en-US" altLang="zh-CN" sz="2000" dirty="0"/>
          </a:p>
          <a:p>
            <a:pPr>
              <a:lnSpc>
                <a:spcPct val="80000"/>
              </a:lnSpc>
            </a:pPr>
            <a:r>
              <a:rPr lang="en-US" altLang="zh-CN" sz="2400" b="1" dirty="0">
                <a:solidFill>
                  <a:srgbClr val="B80000"/>
                </a:solidFill>
              </a:rPr>
              <a:t>heap:</a:t>
            </a:r>
          </a:p>
          <a:p>
            <a:pPr lvl="1">
              <a:lnSpc>
                <a:spcPct val="80000"/>
              </a:lnSpc>
            </a:pPr>
            <a:r>
              <a:rPr lang="en-US" altLang="zh-CN" sz="2000" b="1" dirty="0">
                <a:solidFill>
                  <a:srgbClr val="2C14DE"/>
                </a:solidFill>
              </a:rPr>
              <a:t>dynamically</a:t>
            </a:r>
            <a:r>
              <a:rPr lang="en-US" altLang="zh-CN" sz="2000" b="1" dirty="0"/>
              <a:t> allocated</a:t>
            </a:r>
          </a:p>
          <a:p>
            <a:pPr lvl="1">
              <a:lnSpc>
                <a:spcPct val="80000"/>
              </a:lnSpc>
            </a:pPr>
            <a:r>
              <a:rPr lang="en-US" altLang="zh-CN" sz="2000" b="1" dirty="0">
                <a:solidFill>
                  <a:srgbClr val="2C14DE"/>
                </a:solidFill>
              </a:rPr>
              <a:t>de-allocated</a:t>
            </a:r>
            <a:r>
              <a:rPr lang="en-US" altLang="zh-CN" sz="2000" b="1" dirty="0"/>
              <a:t> (free)</a:t>
            </a:r>
          </a:p>
          <a:p>
            <a:pPr lvl="1">
              <a:lnSpc>
                <a:spcPct val="80000"/>
              </a:lnSpc>
            </a:pPr>
            <a:endParaRPr lang="en-US" altLang="zh-CN" sz="2000" dirty="0"/>
          </a:p>
          <a:p>
            <a:pPr>
              <a:lnSpc>
                <a:spcPct val="80000"/>
              </a:lnSpc>
            </a:pPr>
            <a:r>
              <a:rPr lang="en-US" altLang="zh-CN" sz="2400" b="1" dirty="0">
                <a:solidFill>
                  <a:srgbClr val="B80000"/>
                </a:solidFill>
              </a:rPr>
              <a:t>stack:</a:t>
            </a:r>
          </a:p>
          <a:p>
            <a:pPr lvl="1">
              <a:lnSpc>
                <a:spcPct val="80000"/>
              </a:lnSpc>
            </a:pPr>
            <a:r>
              <a:rPr lang="en-US" altLang="zh-CN" sz="2000" b="1" dirty="0">
                <a:solidFill>
                  <a:srgbClr val="2C14DE"/>
                </a:solidFill>
              </a:rPr>
              <a:t>function call</a:t>
            </a:r>
          </a:p>
          <a:p>
            <a:pPr lvl="1">
              <a:lnSpc>
                <a:spcPct val="80000"/>
              </a:lnSpc>
            </a:pPr>
            <a:r>
              <a:rPr lang="en-US" altLang="zh-CN" sz="2000" b="1" dirty="0">
                <a:solidFill>
                  <a:srgbClr val="2C14DE"/>
                </a:solidFill>
              </a:rPr>
              <a:t>function return</a:t>
            </a:r>
          </a:p>
        </p:txBody>
      </p:sp>
      <p:sp>
        <p:nvSpPr>
          <p:cNvPr id="159748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934200" y="2286000"/>
            <a:ext cx="1752600" cy="3657600"/>
          </a:xfrm>
          <a:prstGeom prst="rect">
            <a:avLst/>
          </a:prstGeom>
          <a:solidFill>
            <a:srgbClr val="F8F8F8"/>
          </a:solidFill>
          <a:ln w="28575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>
              <a:solidFill>
                <a:schemeClr val="accent2"/>
              </a:solidFill>
              <a:latin typeface="Courier New" panose="02070309020205020404" pitchFamily="49" charset="0"/>
            </a:endParaRPr>
          </a:p>
        </p:txBody>
      </p:sp>
      <p:sp>
        <p:nvSpPr>
          <p:cNvPr id="159749" name="Text Box 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257800" y="5678488"/>
            <a:ext cx="170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0xffffffff</a:t>
            </a:r>
          </a:p>
        </p:txBody>
      </p:sp>
      <p:sp>
        <p:nvSpPr>
          <p:cNvPr id="159750" name="Text Box 6"/>
          <p:cNvSpPr txBox="1">
            <a:spLocks noChangeArrowheads="1"/>
          </p:cNvSpPr>
          <p:nvPr/>
        </p:nvSpPr>
        <p:spPr bwMode="auto">
          <a:xfrm>
            <a:off x="6629400" y="2209800"/>
            <a:ext cx="381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0</a:t>
            </a:r>
          </a:p>
        </p:txBody>
      </p:sp>
      <p:sp>
        <p:nvSpPr>
          <p:cNvPr id="159751" name="Line 7"/>
          <p:cNvSpPr>
            <a:spLocks noChangeShapeType="1"/>
          </p:cNvSpPr>
          <p:nvPr/>
        </p:nvSpPr>
        <p:spPr bwMode="auto">
          <a:xfrm>
            <a:off x="6934200" y="28956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9752" name="Text Box 8"/>
          <p:cNvSpPr txBox="1">
            <a:spLocks noChangeArrowheads="1"/>
          </p:cNvSpPr>
          <p:nvPr/>
        </p:nvSpPr>
        <p:spPr bwMode="auto">
          <a:xfrm>
            <a:off x="7391400" y="2438400"/>
            <a:ext cx="1143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text</a:t>
            </a:r>
          </a:p>
        </p:txBody>
      </p:sp>
      <p:sp>
        <p:nvSpPr>
          <p:cNvPr id="159753" name="Text Box 9"/>
          <p:cNvSpPr txBox="1">
            <a:spLocks noChangeArrowheads="1"/>
          </p:cNvSpPr>
          <p:nvPr/>
        </p:nvSpPr>
        <p:spPr bwMode="auto">
          <a:xfrm>
            <a:off x="7391400" y="2895600"/>
            <a:ext cx="1143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data</a:t>
            </a:r>
          </a:p>
        </p:txBody>
      </p:sp>
      <p:sp>
        <p:nvSpPr>
          <p:cNvPr id="159754" name="Line 10"/>
          <p:cNvSpPr>
            <a:spLocks noChangeShapeType="1"/>
          </p:cNvSpPr>
          <p:nvPr/>
        </p:nvSpPr>
        <p:spPr bwMode="auto">
          <a:xfrm>
            <a:off x="6934200" y="33528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9755" name="Line 11"/>
          <p:cNvSpPr>
            <a:spLocks noChangeShapeType="1"/>
          </p:cNvSpPr>
          <p:nvPr/>
        </p:nvSpPr>
        <p:spPr bwMode="auto">
          <a:xfrm>
            <a:off x="6934200" y="38100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9756" name="Text Box 12"/>
          <p:cNvSpPr txBox="1">
            <a:spLocks noChangeArrowheads="1"/>
          </p:cNvSpPr>
          <p:nvPr/>
        </p:nvSpPr>
        <p:spPr bwMode="auto">
          <a:xfrm>
            <a:off x="7467600" y="3352800"/>
            <a:ext cx="76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bss</a:t>
            </a:r>
          </a:p>
        </p:txBody>
      </p:sp>
      <p:sp>
        <p:nvSpPr>
          <p:cNvPr id="159757" name="Line 13"/>
          <p:cNvSpPr>
            <a:spLocks noChangeShapeType="1"/>
          </p:cNvSpPr>
          <p:nvPr/>
        </p:nvSpPr>
        <p:spPr bwMode="auto">
          <a:xfrm>
            <a:off x="6934200" y="44196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9758" name="Text Box 14"/>
          <p:cNvSpPr txBox="1">
            <a:spLocks noChangeArrowheads="1"/>
          </p:cNvSpPr>
          <p:nvPr/>
        </p:nvSpPr>
        <p:spPr bwMode="auto">
          <a:xfrm>
            <a:off x="7391400" y="3962400"/>
            <a:ext cx="1143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heap</a:t>
            </a:r>
          </a:p>
        </p:txBody>
      </p:sp>
      <p:sp>
        <p:nvSpPr>
          <p:cNvPr id="159759" name="Line 15"/>
          <p:cNvSpPr>
            <a:spLocks noChangeShapeType="1"/>
          </p:cNvSpPr>
          <p:nvPr/>
        </p:nvSpPr>
        <p:spPr bwMode="auto">
          <a:xfrm>
            <a:off x="7772400" y="4419600"/>
            <a:ext cx="0" cy="3810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9760" name="Text Box 16"/>
          <p:cNvSpPr txBox="1">
            <a:spLocks noChangeArrowheads="1"/>
          </p:cNvSpPr>
          <p:nvPr/>
        </p:nvSpPr>
        <p:spPr bwMode="auto">
          <a:xfrm>
            <a:off x="7391400" y="5562600"/>
            <a:ext cx="1143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stack</a:t>
            </a:r>
          </a:p>
        </p:txBody>
      </p:sp>
      <p:sp>
        <p:nvSpPr>
          <p:cNvPr id="159761" name="Line 17"/>
          <p:cNvSpPr>
            <a:spLocks noChangeShapeType="1"/>
          </p:cNvSpPr>
          <p:nvPr/>
        </p:nvSpPr>
        <p:spPr bwMode="auto">
          <a:xfrm>
            <a:off x="6934200" y="55626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9762" name="Line 18"/>
          <p:cNvSpPr>
            <a:spLocks noChangeShapeType="1"/>
          </p:cNvSpPr>
          <p:nvPr/>
        </p:nvSpPr>
        <p:spPr bwMode="auto">
          <a:xfrm flipV="1">
            <a:off x="7772400" y="5257800"/>
            <a:ext cx="0" cy="3048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27160" y="897616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196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747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0"/>
            <a:ext cx="8153400" cy="1066799"/>
          </a:xfrm>
        </p:spPr>
        <p:txBody>
          <a:bodyPr>
            <a:normAutofit/>
          </a:bodyPr>
          <a:lstStyle/>
          <a:p>
            <a:r>
              <a:rPr lang="en-US" altLang="zh-CN" sz="4800" b="1" dirty="0">
                <a:solidFill>
                  <a:srgbClr val="C00000"/>
                </a:solidFill>
              </a:rPr>
              <a:t>Example</a:t>
            </a:r>
          </a:p>
        </p:txBody>
      </p:sp>
      <p:sp>
        <p:nvSpPr>
          <p:cNvPr id="156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5446712" cy="41148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Courier New" panose="02070309020205020404" pitchFamily="49" charset="0"/>
              </a:rPr>
              <a:t>char *string = “hello”;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000" b="1" dirty="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 err="1">
                <a:latin typeface="Courier New" panose="02070309020205020404" pitchFamily="49" charset="0"/>
              </a:rPr>
              <a:t>const</a:t>
            </a:r>
            <a:r>
              <a:rPr lang="en-US" altLang="zh-CN" sz="2000" b="1" dirty="0">
                <a:latin typeface="Courier New" panose="02070309020205020404" pitchFamily="49" charset="0"/>
              </a:rPr>
              <a:t> </a:t>
            </a:r>
            <a:r>
              <a:rPr lang="en-US" altLang="zh-CN" sz="2000" b="1" dirty="0" err="1">
                <a:latin typeface="Courier New" panose="02070309020205020404" pitchFamily="49" charset="0"/>
              </a:rPr>
              <a:t>int</a:t>
            </a:r>
            <a:r>
              <a:rPr lang="en-US" altLang="zh-CN" sz="2000" b="1" dirty="0">
                <a:latin typeface="Courier New" panose="02070309020205020404" pitchFamily="49" charset="0"/>
              </a:rPr>
              <a:t> </a:t>
            </a:r>
            <a:r>
              <a:rPr lang="en-US" altLang="zh-CN" sz="2000" b="1" dirty="0" err="1">
                <a:latin typeface="Courier New" panose="02070309020205020404" pitchFamily="49" charset="0"/>
              </a:rPr>
              <a:t>iSize</a:t>
            </a:r>
            <a:r>
              <a:rPr lang="en-US" altLang="zh-CN" sz="2000" b="1" dirty="0">
                <a:latin typeface="Courier New" panose="02070309020205020404" pitchFamily="49" charset="0"/>
              </a:rPr>
              <a:t>=8;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000" b="1" dirty="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Courier New" panose="02070309020205020404" pitchFamily="49" charset="0"/>
              </a:rPr>
              <a:t>char *f (</a:t>
            </a:r>
            <a:r>
              <a:rPr lang="en-US" altLang="zh-CN" sz="2000" b="1" dirty="0" err="1">
                <a:latin typeface="Courier New" panose="02070309020205020404" pitchFamily="49" charset="0"/>
              </a:rPr>
              <a:t>int</a:t>
            </a:r>
            <a:r>
              <a:rPr lang="en-US" altLang="zh-CN" sz="2000" b="1" dirty="0">
                <a:latin typeface="Courier New" panose="02070309020205020404" pitchFamily="49" charset="0"/>
              </a:rPr>
              <a:t> x)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Courier New" panose="02070309020205020404" pitchFamily="49" charset="0"/>
              </a:rPr>
              <a:t>{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Courier New" panose="02070309020205020404" pitchFamily="49" charset="0"/>
              </a:rPr>
              <a:t>  char *p;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000" b="1" dirty="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Courier New" panose="02070309020205020404" pitchFamily="49" charset="0"/>
              </a:rPr>
              <a:t>  p = new char[</a:t>
            </a:r>
            <a:r>
              <a:rPr lang="en-US" altLang="zh-CN" sz="2000" b="1" dirty="0" err="1">
                <a:latin typeface="Courier New" panose="02070309020205020404" pitchFamily="49" charset="0"/>
              </a:rPr>
              <a:t>iSize</a:t>
            </a:r>
            <a:r>
              <a:rPr lang="en-US" altLang="zh-CN" sz="2000" b="1" dirty="0">
                <a:latin typeface="Courier New" panose="02070309020205020404" pitchFamily="49" charset="0"/>
              </a:rPr>
              <a:t>];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000" b="1" dirty="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Courier New" panose="02070309020205020404" pitchFamily="49" charset="0"/>
              </a:rPr>
              <a:t>  return p;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56676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934200" y="2286000"/>
            <a:ext cx="1752600" cy="3657600"/>
          </a:xfrm>
          <a:prstGeom prst="rect">
            <a:avLst/>
          </a:prstGeom>
          <a:solidFill>
            <a:srgbClr val="F8F8F8"/>
          </a:solidFill>
          <a:ln w="28575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>
              <a:solidFill>
                <a:schemeClr val="accent2"/>
              </a:solidFill>
              <a:latin typeface="Courier New" panose="02070309020205020404" pitchFamily="49" charset="0"/>
            </a:endParaRPr>
          </a:p>
        </p:txBody>
      </p:sp>
      <p:sp>
        <p:nvSpPr>
          <p:cNvPr id="156677" name="Text Box 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257800" y="5678488"/>
            <a:ext cx="170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0xffffffff</a:t>
            </a:r>
          </a:p>
        </p:txBody>
      </p:sp>
      <p:sp>
        <p:nvSpPr>
          <p:cNvPr id="156678" name="Text Box 6"/>
          <p:cNvSpPr txBox="1">
            <a:spLocks noChangeArrowheads="1"/>
          </p:cNvSpPr>
          <p:nvPr/>
        </p:nvSpPr>
        <p:spPr bwMode="auto">
          <a:xfrm>
            <a:off x="6629400" y="2209800"/>
            <a:ext cx="381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0</a:t>
            </a:r>
          </a:p>
        </p:txBody>
      </p:sp>
      <p:sp>
        <p:nvSpPr>
          <p:cNvPr id="156679" name="Line 7"/>
          <p:cNvSpPr>
            <a:spLocks noChangeShapeType="1"/>
          </p:cNvSpPr>
          <p:nvPr/>
        </p:nvSpPr>
        <p:spPr bwMode="auto">
          <a:xfrm>
            <a:off x="6934200" y="28956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6680" name="Text Box 8"/>
          <p:cNvSpPr txBox="1">
            <a:spLocks noChangeArrowheads="1"/>
          </p:cNvSpPr>
          <p:nvPr/>
        </p:nvSpPr>
        <p:spPr bwMode="auto">
          <a:xfrm>
            <a:off x="7391400" y="2438400"/>
            <a:ext cx="1066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latin typeface="Courier New" panose="02070309020205020404" pitchFamily="49" charset="0"/>
              </a:rPr>
              <a:t>text</a:t>
            </a:r>
          </a:p>
        </p:txBody>
      </p:sp>
      <p:sp>
        <p:nvSpPr>
          <p:cNvPr id="156681" name="Text Box 9"/>
          <p:cNvSpPr txBox="1">
            <a:spLocks noChangeArrowheads="1"/>
          </p:cNvSpPr>
          <p:nvPr/>
        </p:nvSpPr>
        <p:spPr bwMode="auto">
          <a:xfrm>
            <a:off x="7391400" y="2895600"/>
            <a:ext cx="1143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latin typeface="Courier New" panose="02070309020205020404" pitchFamily="49" charset="0"/>
              </a:rPr>
              <a:t>data</a:t>
            </a:r>
          </a:p>
        </p:txBody>
      </p:sp>
      <p:sp>
        <p:nvSpPr>
          <p:cNvPr id="156682" name="Line 10"/>
          <p:cNvSpPr>
            <a:spLocks noChangeShapeType="1"/>
          </p:cNvSpPr>
          <p:nvPr/>
        </p:nvSpPr>
        <p:spPr bwMode="auto">
          <a:xfrm>
            <a:off x="6934200" y="33528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6683" name="Line 11"/>
          <p:cNvSpPr>
            <a:spLocks noChangeShapeType="1"/>
          </p:cNvSpPr>
          <p:nvPr/>
        </p:nvSpPr>
        <p:spPr bwMode="auto">
          <a:xfrm>
            <a:off x="6934200" y="38100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6684" name="Text Box 12"/>
          <p:cNvSpPr txBox="1">
            <a:spLocks noChangeArrowheads="1"/>
          </p:cNvSpPr>
          <p:nvPr/>
        </p:nvSpPr>
        <p:spPr bwMode="auto">
          <a:xfrm>
            <a:off x="7467600" y="3352800"/>
            <a:ext cx="76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 err="1">
                <a:latin typeface="Courier New" panose="02070309020205020404" pitchFamily="49" charset="0"/>
              </a:rPr>
              <a:t>bss</a:t>
            </a:r>
            <a:endParaRPr lang="en-US" altLang="zh-CN" b="1" dirty="0">
              <a:latin typeface="Courier New" panose="02070309020205020404" pitchFamily="49" charset="0"/>
            </a:endParaRPr>
          </a:p>
        </p:txBody>
      </p:sp>
      <p:sp>
        <p:nvSpPr>
          <p:cNvPr id="156685" name="Line 13"/>
          <p:cNvSpPr>
            <a:spLocks noChangeShapeType="1"/>
          </p:cNvSpPr>
          <p:nvPr/>
        </p:nvSpPr>
        <p:spPr bwMode="auto">
          <a:xfrm>
            <a:off x="6934200" y="44196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6686" name="Text Box 14"/>
          <p:cNvSpPr txBox="1">
            <a:spLocks noChangeArrowheads="1"/>
          </p:cNvSpPr>
          <p:nvPr/>
        </p:nvSpPr>
        <p:spPr bwMode="auto">
          <a:xfrm>
            <a:off x="7391400" y="3962400"/>
            <a:ext cx="1066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latin typeface="Courier New" panose="02070309020205020404" pitchFamily="49" charset="0"/>
              </a:rPr>
              <a:t>heap</a:t>
            </a:r>
          </a:p>
        </p:txBody>
      </p:sp>
      <p:sp>
        <p:nvSpPr>
          <p:cNvPr id="156687" name="Line 15"/>
          <p:cNvSpPr>
            <a:spLocks noChangeShapeType="1"/>
          </p:cNvSpPr>
          <p:nvPr/>
        </p:nvSpPr>
        <p:spPr bwMode="auto">
          <a:xfrm>
            <a:off x="7772400" y="4419600"/>
            <a:ext cx="0" cy="3810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6688" name="Text Box 16"/>
          <p:cNvSpPr txBox="1">
            <a:spLocks noChangeArrowheads="1"/>
          </p:cNvSpPr>
          <p:nvPr/>
        </p:nvSpPr>
        <p:spPr bwMode="auto">
          <a:xfrm>
            <a:off x="7391400" y="5562600"/>
            <a:ext cx="1143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latin typeface="Courier New" panose="02070309020205020404" pitchFamily="49" charset="0"/>
              </a:rPr>
              <a:t>stack</a:t>
            </a:r>
          </a:p>
        </p:txBody>
      </p:sp>
      <p:sp>
        <p:nvSpPr>
          <p:cNvPr id="156689" name="Line 17"/>
          <p:cNvSpPr>
            <a:spLocks noChangeShapeType="1"/>
          </p:cNvSpPr>
          <p:nvPr/>
        </p:nvSpPr>
        <p:spPr bwMode="auto">
          <a:xfrm>
            <a:off x="6934200" y="55626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6690" name="Line 18"/>
          <p:cNvSpPr>
            <a:spLocks noChangeShapeType="1"/>
          </p:cNvSpPr>
          <p:nvPr/>
        </p:nvSpPr>
        <p:spPr bwMode="auto">
          <a:xfrm flipV="1">
            <a:off x="7772400" y="5257800"/>
            <a:ext cx="0" cy="3048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38100" y="947899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38"/>
          <p:cNvGrpSpPr>
            <a:grpSpLocks/>
          </p:cNvGrpSpPr>
          <p:nvPr/>
        </p:nvGrpSpPr>
        <p:grpSpPr bwMode="auto">
          <a:xfrm>
            <a:off x="2286000" y="4487864"/>
            <a:ext cx="2514600" cy="1484313"/>
            <a:chOff x="1536" y="3024"/>
            <a:chExt cx="1584" cy="935"/>
          </a:xfrm>
        </p:grpSpPr>
        <p:sp>
          <p:nvSpPr>
            <p:cNvPr id="28" name="Text Box 35"/>
            <p:cNvSpPr txBox="1">
              <a:spLocks noChangeArrowheads="1"/>
            </p:cNvSpPr>
            <p:nvPr/>
          </p:nvSpPr>
          <p:spPr bwMode="auto">
            <a:xfrm>
              <a:off x="1536" y="3552"/>
              <a:ext cx="1584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solidFill>
                    <a:srgbClr val="B80000"/>
                  </a:solidFill>
                </a:rPr>
                <a:t>live after allocation</a:t>
              </a:r>
              <a:r>
                <a:rPr lang="en-US" altLang="zh-CN" dirty="0">
                  <a:solidFill>
                    <a:schemeClr val="hlink"/>
                  </a:solidFill>
                </a:rPr>
                <a:t>; till </a:t>
              </a:r>
              <a:r>
                <a:rPr lang="en-US" altLang="zh-CN" b="1" i="1" dirty="0">
                  <a:solidFill>
                    <a:srgbClr val="B80000"/>
                  </a:solidFill>
                </a:rPr>
                <a:t>delete</a:t>
              </a:r>
              <a:r>
                <a:rPr lang="en-US" altLang="zh-CN" dirty="0">
                  <a:solidFill>
                    <a:srgbClr val="B80000"/>
                  </a:solidFill>
                </a:rPr>
                <a:t> </a:t>
              </a:r>
              <a:r>
                <a:rPr lang="en-US" altLang="zh-CN" dirty="0">
                  <a:solidFill>
                    <a:schemeClr val="hlink"/>
                  </a:solidFill>
                </a:rPr>
                <a:t>or </a:t>
              </a:r>
              <a:r>
                <a:rPr lang="en-US" altLang="zh-CN" b="1" dirty="0">
                  <a:solidFill>
                    <a:srgbClr val="B80000"/>
                  </a:solidFill>
                </a:rPr>
                <a:t>program finish</a:t>
              </a:r>
            </a:p>
          </p:txBody>
        </p:sp>
        <p:sp>
          <p:nvSpPr>
            <p:cNvPr id="29" name="Line 36"/>
            <p:cNvSpPr>
              <a:spLocks noChangeShapeType="1"/>
            </p:cNvSpPr>
            <p:nvPr/>
          </p:nvSpPr>
          <p:spPr bwMode="auto">
            <a:xfrm flipH="1" flipV="1">
              <a:off x="2208" y="3024"/>
              <a:ext cx="384" cy="576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33"/>
          <p:cNvGrpSpPr>
            <a:grpSpLocks/>
          </p:cNvGrpSpPr>
          <p:nvPr/>
        </p:nvGrpSpPr>
        <p:grpSpPr bwMode="auto">
          <a:xfrm>
            <a:off x="2895600" y="3581400"/>
            <a:ext cx="3352800" cy="701675"/>
            <a:chOff x="1920" y="2256"/>
            <a:chExt cx="2112" cy="442"/>
          </a:xfrm>
        </p:grpSpPr>
        <p:sp>
          <p:nvSpPr>
            <p:cNvPr id="31" name="Text Box 30"/>
            <p:cNvSpPr txBox="1">
              <a:spLocks noChangeArrowheads="1"/>
            </p:cNvSpPr>
            <p:nvPr/>
          </p:nvSpPr>
          <p:spPr bwMode="auto">
            <a:xfrm>
              <a:off x="3216" y="2256"/>
              <a:ext cx="816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hlink"/>
                  </a:solidFill>
                </a:rPr>
                <a:t>when f() is called</a:t>
              </a:r>
            </a:p>
          </p:txBody>
        </p:sp>
        <p:sp>
          <p:nvSpPr>
            <p:cNvPr id="32" name="Line 32"/>
            <p:cNvSpPr>
              <a:spLocks noChangeShapeType="1"/>
            </p:cNvSpPr>
            <p:nvPr/>
          </p:nvSpPr>
          <p:spPr bwMode="auto">
            <a:xfrm flipH="1">
              <a:off x="1920" y="2400"/>
              <a:ext cx="1248" cy="4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" name="Group 27"/>
          <p:cNvGrpSpPr>
            <a:grpSpLocks/>
          </p:cNvGrpSpPr>
          <p:nvPr/>
        </p:nvGrpSpPr>
        <p:grpSpPr bwMode="auto">
          <a:xfrm>
            <a:off x="3810000" y="2133602"/>
            <a:ext cx="2743200" cy="646113"/>
            <a:chOff x="2400" y="1344"/>
            <a:chExt cx="1728" cy="407"/>
          </a:xfrm>
        </p:grpSpPr>
        <p:sp>
          <p:nvSpPr>
            <p:cNvPr id="34" name="Text Box 24"/>
            <p:cNvSpPr txBox="1">
              <a:spLocks noChangeArrowheads="1"/>
            </p:cNvSpPr>
            <p:nvPr/>
          </p:nvSpPr>
          <p:spPr bwMode="auto">
            <a:xfrm>
              <a:off x="3312" y="1344"/>
              <a:ext cx="816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solidFill>
                    <a:schemeClr val="hlink"/>
                  </a:solidFill>
                </a:rPr>
                <a:t>program startup</a:t>
              </a:r>
            </a:p>
          </p:txBody>
        </p:sp>
        <p:sp>
          <p:nvSpPr>
            <p:cNvPr id="35" name="Line 25"/>
            <p:cNvSpPr>
              <a:spLocks noChangeShapeType="1"/>
            </p:cNvSpPr>
            <p:nvPr/>
          </p:nvSpPr>
          <p:spPr bwMode="auto">
            <a:xfrm flipH="1" flipV="1">
              <a:off x="2976" y="1440"/>
              <a:ext cx="384" cy="96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Line 26"/>
            <p:cNvSpPr>
              <a:spLocks noChangeShapeType="1"/>
            </p:cNvSpPr>
            <p:nvPr/>
          </p:nvSpPr>
          <p:spPr bwMode="auto">
            <a:xfrm flipH="1">
              <a:off x="2400" y="1536"/>
              <a:ext cx="960" cy="144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7" name="Line 32"/>
          <p:cNvSpPr>
            <a:spLocks noChangeShapeType="1"/>
          </p:cNvSpPr>
          <p:nvPr/>
        </p:nvSpPr>
        <p:spPr bwMode="auto">
          <a:xfrm flipH="1" flipV="1">
            <a:off x="3352800" y="3389316"/>
            <a:ext cx="1562100" cy="340516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713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15876"/>
            <a:ext cx="8153400" cy="898526"/>
          </a:xfrm>
        </p:spPr>
        <p:txBody>
          <a:bodyPr>
            <a:normAutofit/>
          </a:bodyPr>
          <a:lstStyle/>
          <a:p>
            <a:r>
              <a:rPr lang="en-US" altLang="zh-CN" sz="4800" b="1" dirty="0">
                <a:solidFill>
                  <a:srgbClr val="B80000"/>
                </a:solidFill>
              </a:rPr>
              <a:t>Variable Initialization</a:t>
            </a:r>
          </a:p>
        </p:txBody>
      </p:sp>
      <p:sp>
        <p:nvSpPr>
          <p:cNvPr id="161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2088" y="1295400"/>
            <a:ext cx="6665912" cy="5287963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2C14DE"/>
                </a:solidFill>
              </a:rPr>
              <a:t>text:</a:t>
            </a:r>
          </a:p>
          <a:p>
            <a:pPr lvl="1">
              <a:lnSpc>
                <a:spcPct val="90000"/>
              </a:lnSpc>
            </a:pPr>
            <a:r>
              <a:rPr lang="en-US" altLang="zh-CN" sz="2000" b="1" dirty="0"/>
              <a:t>Read-only (once; e.g., constants)</a:t>
            </a:r>
          </a:p>
          <a:p>
            <a:pPr lvl="1">
              <a:lnSpc>
                <a:spcPct val="90000"/>
              </a:lnSpc>
            </a:pPr>
            <a:endParaRPr lang="en-US" altLang="zh-CN" sz="2000" dirty="0"/>
          </a:p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2C14DE"/>
                </a:solidFill>
              </a:rPr>
              <a:t>data</a:t>
            </a:r>
          </a:p>
          <a:p>
            <a:pPr lvl="1">
              <a:lnSpc>
                <a:spcPct val="90000"/>
              </a:lnSpc>
            </a:pPr>
            <a:r>
              <a:rPr lang="en-US" altLang="zh-CN" sz="2000" b="1" dirty="0"/>
              <a:t>on program startup</a:t>
            </a:r>
          </a:p>
          <a:p>
            <a:pPr lvl="1">
              <a:lnSpc>
                <a:spcPct val="90000"/>
              </a:lnSpc>
            </a:pPr>
            <a:endParaRPr lang="en-US" altLang="zh-CN" sz="2000" dirty="0"/>
          </a:p>
          <a:p>
            <a:pPr>
              <a:lnSpc>
                <a:spcPct val="90000"/>
              </a:lnSpc>
            </a:pPr>
            <a:r>
              <a:rPr lang="en-US" altLang="zh-CN" sz="2400" b="1" dirty="0" err="1">
                <a:solidFill>
                  <a:srgbClr val="2C14DE"/>
                </a:solidFill>
              </a:rPr>
              <a:t>bss</a:t>
            </a:r>
            <a:r>
              <a:rPr lang="en-US" altLang="zh-CN" sz="2400" b="1" dirty="0">
                <a:solidFill>
                  <a:srgbClr val="2C14DE"/>
                </a:solidFill>
              </a:rPr>
              <a:t>:</a:t>
            </a:r>
          </a:p>
          <a:p>
            <a:pPr lvl="1">
              <a:lnSpc>
                <a:spcPct val="90000"/>
              </a:lnSpc>
            </a:pPr>
            <a:r>
              <a:rPr lang="en-US" altLang="zh-CN" sz="2000" b="1" dirty="0"/>
              <a:t>un-initialized</a:t>
            </a:r>
            <a:r>
              <a:rPr lang="en-US" altLang="zh-CN" sz="2000" dirty="0"/>
              <a:t> (though some systems initialize with 0)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US" altLang="zh-CN" sz="2000" dirty="0"/>
          </a:p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2C14DE"/>
                </a:solidFill>
              </a:rPr>
              <a:t>heap:</a:t>
            </a:r>
          </a:p>
          <a:p>
            <a:pPr lvl="1">
              <a:lnSpc>
                <a:spcPct val="90000"/>
              </a:lnSpc>
            </a:pPr>
            <a:r>
              <a:rPr lang="en-US" altLang="zh-CN" sz="2000" b="1" dirty="0"/>
              <a:t>un-initialized</a:t>
            </a:r>
          </a:p>
          <a:p>
            <a:pPr lvl="1">
              <a:lnSpc>
                <a:spcPct val="90000"/>
              </a:lnSpc>
            </a:pPr>
            <a:endParaRPr lang="en-US" altLang="zh-CN" sz="2000" dirty="0"/>
          </a:p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2C14DE"/>
                </a:solidFill>
              </a:rPr>
              <a:t>stack:</a:t>
            </a:r>
          </a:p>
          <a:p>
            <a:pPr lvl="1">
              <a:lnSpc>
                <a:spcPct val="90000"/>
              </a:lnSpc>
            </a:pPr>
            <a:r>
              <a:rPr lang="en-US" altLang="zh-CN" sz="2000" b="1" dirty="0"/>
              <a:t>un-initialized</a:t>
            </a:r>
          </a:p>
        </p:txBody>
      </p:sp>
      <p:sp>
        <p:nvSpPr>
          <p:cNvPr id="161796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086600" y="1981200"/>
            <a:ext cx="1752600" cy="3657600"/>
          </a:xfrm>
          <a:prstGeom prst="rect">
            <a:avLst/>
          </a:prstGeom>
          <a:solidFill>
            <a:srgbClr val="F8F8F8"/>
          </a:solidFill>
          <a:ln w="28575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>
              <a:solidFill>
                <a:schemeClr val="accent2"/>
              </a:solidFill>
              <a:latin typeface="Courier New" panose="02070309020205020404" pitchFamily="49" charset="0"/>
            </a:endParaRPr>
          </a:p>
        </p:txBody>
      </p:sp>
      <p:sp>
        <p:nvSpPr>
          <p:cNvPr id="161797" name="Text Box 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410200" y="5373688"/>
            <a:ext cx="170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0xffffffff</a:t>
            </a:r>
          </a:p>
        </p:txBody>
      </p:sp>
      <p:sp>
        <p:nvSpPr>
          <p:cNvPr id="161798" name="Text Box 6"/>
          <p:cNvSpPr txBox="1">
            <a:spLocks noChangeArrowheads="1"/>
          </p:cNvSpPr>
          <p:nvPr/>
        </p:nvSpPr>
        <p:spPr bwMode="auto">
          <a:xfrm>
            <a:off x="6781800" y="1905000"/>
            <a:ext cx="381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0</a:t>
            </a:r>
          </a:p>
        </p:txBody>
      </p:sp>
      <p:sp>
        <p:nvSpPr>
          <p:cNvPr id="161799" name="Line 7"/>
          <p:cNvSpPr>
            <a:spLocks noChangeShapeType="1"/>
          </p:cNvSpPr>
          <p:nvPr/>
        </p:nvSpPr>
        <p:spPr bwMode="auto">
          <a:xfrm>
            <a:off x="7086600" y="25908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1800" name="Text Box 8"/>
          <p:cNvSpPr txBox="1">
            <a:spLocks noChangeArrowheads="1"/>
          </p:cNvSpPr>
          <p:nvPr/>
        </p:nvSpPr>
        <p:spPr bwMode="auto">
          <a:xfrm>
            <a:off x="7543800" y="2133600"/>
            <a:ext cx="1066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text</a:t>
            </a:r>
          </a:p>
        </p:txBody>
      </p:sp>
      <p:sp>
        <p:nvSpPr>
          <p:cNvPr id="161801" name="Text Box 9"/>
          <p:cNvSpPr txBox="1">
            <a:spLocks noChangeArrowheads="1"/>
          </p:cNvSpPr>
          <p:nvPr/>
        </p:nvSpPr>
        <p:spPr bwMode="auto">
          <a:xfrm>
            <a:off x="7543800" y="2590800"/>
            <a:ext cx="1143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data</a:t>
            </a:r>
          </a:p>
        </p:txBody>
      </p:sp>
      <p:sp>
        <p:nvSpPr>
          <p:cNvPr id="161802" name="Line 10"/>
          <p:cNvSpPr>
            <a:spLocks noChangeShapeType="1"/>
          </p:cNvSpPr>
          <p:nvPr/>
        </p:nvSpPr>
        <p:spPr bwMode="auto">
          <a:xfrm>
            <a:off x="7086600" y="30480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1803" name="Line 11"/>
          <p:cNvSpPr>
            <a:spLocks noChangeShapeType="1"/>
          </p:cNvSpPr>
          <p:nvPr/>
        </p:nvSpPr>
        <p:spPr bwMode="auto">
          <a:xfrm>
            <a:off x="7086600" y="35052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1804" name="Text Box 12"/>
          <p:cNvSpPr txBox="1">
            <a:spLocks noChangeArrowheads="1"/>
          </p:cNvSpPr>
          <p:nvPr/>
        </p:nvSpPr>
        <p:spPr bwMode="auto">
          <a:xfrm>
            <a:off x="7620000" y="3048000"/>
            <a:ext cx="76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bss</a:t>
            </a:r>
          </a:p>
        </p:txBody>
      </p:sp>
      <p:sp>
        <p:nvSpPr>
          <p:cNvPr id="161805" name="Line 13"/>
          <p:cNvSpPr>
            <a:spLocks noChangeShapeType="1"/>
          </p:cNvSpPr>
          <p:nvPr/>
        </p:nvSpPr>
        <p:spPr bwMode="auto">
          <a:xfrm>
            <a:off x="7086600" y="41148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1806" name="Text Box 14"/>
          <p:cNvSpPr txBox="1">
            <a:spLocks noChangeArrowheads="1"/>
          </p:cNvSpPr>
          <p:nvPr/>
        </p:nvSpPr>
        <p:spPr bwMode="auto">
          <a:xfrm>
            <a:off x="7543800" y="3657600"/>
            <a:ext cx="1143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heap</a:t>
            </a:r>
          </a:p>
        </p:txBody>
      </p:sp>
      <p:sp>
        <p:nvSpPr>
          <p:cNvPr id="161807" name="Line 15"/>
          <p:cNvSpPr>
            <a:spLocks noChangeShapeType="1"/>
          </p:cNvSpPr>
          <p:nvPr/>
        </p:nvSpPr>
        <p:spPr bwMode="auto">
          <a:xfrm>
            <a:off x="7924800" y="4114800"/>
            <a:ext cx="0" cy="3810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1808" name="Text Box 16"/>
          <p:cNvSpPr txBox="1">
            <a:spLocks noChangeArrowheads="1"/>
          </p:cNvSpPr>
          <p:nvPr/>
        </p:nvSpPr>
        <p:spPr bwMode="auto">
          <a:xfrm>
            <a:off x="7543800" y="5257800"/>
            <a:ext cx="1143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stack</a:t>
            </a:r>
          </a:p>
        </p:txBody>
      </p:sp>
      <p:sp>
        <p:nvSpPr>
          <p:cNvPr id="161809" name="Line 17"/>
          <p:cNvSpPr>
            <a:spLocks noChangeShapeType="1"/>
          </p:cNvSpPr>
          <p:nvPr/>
        </p:nvSpPr>
        <p:spPr bwMode="auto">
          <a:xfrm>
            <a:off x="7086600" y="52578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1810" name="Line 18"/>
          <p:cNvSpPr>
            <a:spLocks noChangeShapeType="1"/>
          </p:cNvSpPr>
          <p:nvPr/>
        </p:nvSpPr>
        <p:spPr bwMode="auto">
          <a:xfrm flipV="1">
            <a:off x="7924800" y="4953000"/>
            <a:ext cx="0" cy="3048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32898" y="940278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802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795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876300" y="20320"/>
            <a:ext cx="8229600" cy="876936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b="1" dirty="0">
                <a:solidFill>
                  <a:srgbClr val="B80000"/>
                </a:solidFill>
                <a:cs typeface="+mj-cs"/>
              </a:rPr>
              <a:t>Dynamic Memory Allocation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0500" y="1066800"/>
            <a:ext cx="8915400" cy="5791200"/>
          </a:xfrm>
          <a:extLst>
            <a:ext uri="{909E8E84-426E-40dd-AFC4-6F175D3DCCD1}"/>
          </a:extLst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defRPr/>
            </a:pPr>
            <a:r>
              <a:rPr lang="en-US" b="1" dirty="0">
                <a:latin typeface="+mj-lt"/>
              </a:rPr>
              <a:t>Used when</a:t>
            </a:r>
            <a:r>
              <a:rPr lang="en-US" dirty="0">
                <a:latin typeface="+mj-lt"/>
              </a:rPr>
              <a:t> </a:t>
            </a:r>
            <a:r>
              <a:rPr lang="en-US" b="1" dirty="0">
                <a:solidFill>
                  <a:srgbClr val="B80000"/>
                </a:solidFill>
                <a:latin typeface="+mj-lt"/>
              </a:rPr>
              <a:t>space requirements</a:t>
            </a:r>
            <a:r>
              <a:rPr lang="en-US" dirty="0">
                <a:solidFill>
                  <a:srgbClr val="B80000"/>
                </a:solidFill>
                <a:latin typeface="+mj-lt"/>
              </a:rPr>
              <a:t> </a:t>
            </a:r>
            <a:r>
              <a:rPr lang="en-US" b="1" dirty="0">
                <a:latin typeface="+mj-lt"/>
              </a:rPr>
              <a:t>are </a:t>
            </a:r>
            <a:r>
              <a:rPr lang="en-US" b="1" dirty="0">
                <a:solidFill>
                  <a:srgbClr val="2C14DE"/>
                </a:solidFill>
                <a:latin typeface="+mj-lt"/>
              </a:rPr>
              <a:t>unknown</a:t>
            </a:r>
            <a:r>
              <a:rPr lang="en-US" b="1" dirty="0">
                <a:latin typeface="+mj-lt"/>
              </a:rPr>
              <a:t> at </a:t>
            </a:r>
            <a:r>
              <a:rPr lang="en-US" b="1" dirty="0">
                <a:solidFill>
                  <a:srgbClr val="B80000"/>
                </a:solidFill>
                <a:latin typeface="+mj-lt"/>
              </a:rPr>
              <a:t>compile time</a:t>
            </a:r>
            <a:endParaRPr lang="en-US" dirty="0">
              <a:latin typeface="+mj-lt"/>
            </a:endParaRPr>
          </a:p>
          <a:p>
            <a:pPr eaLnBrk="1" hangingPunct="1">
              <a:lnSpc>
                <a:spcPct val="80000"/>
              </a:lnSpc>
              <a:defRPr/>
            </a:pPr>
            <a:endParaRPr lang="en-US" dirty="0">
              <a:latin typeface="+mj-lt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b="1" dirty="0">
                <a:latin typeface="+mj-lt"/>
              </a:rPr>
              <a:t>Most of the time </a:t>
            </a:r>
            <a:r>
              <a:rPr lang="en-US" b="1" dirty="0">
                <a:solidFill>
                  <a:srgbClr val="B80000"/>
                </a:solidFill>
                <a:latin typeface="+mj-lt"/>
              </a:rPr>
              <a:t>the amount of space required </a:t>
            </a:r>
            <a:r>
              <a:rPr lang="en-US" b="1" dirty="0">
                <a:latin typeface="+mj-lt"/>
              </a:rPr>
              <a:t>is </a:t>
            </a:r>
            <a:r>
              <a:rPr lang="en-US" b="1" dirty="0">
                <a:solidFill>
                  <a:srgbClr val="2C14DE"/>
                </a:solidFill>
                <a:latin typeface="+mj-lt"/>
              </a:rPr>
              <a:t>unknown at compile tim</a:t>
            </a:r>
            <a:r>
              <a:rPr lang="en-US" b="1" dirty="0">
                <a:latin typeface="+mj-lt"/>
              </a:rPr>
              <a:t>e</a:t>
            </a:r>
            <a:endParaRPr lang="en-US" sz="3600" dirty="0">
              <a:latin typeface="+mj-lt"/>
            </a:endParaRPr>
          </a:p>
          <a:p>
            <a:pPr lvl="1" eaLnBrk="1" hangingPunct="1">
              <a:lnSpc>
                <a:spcPct val="80000"/>
              </a:lnSpc>
              <a:defRPr/>
            </a:pPr>
            <a:endParaRPr lang="en-US" dirty="0">
              <a:solidFill>
                <a:srgbClr val="B80000"/>
              </a:solidFill>
              <a:latin typeface="+mj-lt"/>
            </a:endParaRPr>
          </a:p>
          <a:p>
            <a:pPr lvl="1" eaLnBrk="1" hangingPunct="1">
              <a:lnSpc>
                <a:spcPct val="80000"/>
              </a:lnSpc>
              <a:defRPr/>
            </a:pPr>
            <a:endParaRPr lang="en-US" dirty="0">
              <a:latin typeface="+mj-lt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b="1" dirty="0">
                <a:solidFill>
                  <a:srgbClr val="B80000"/>
                </a:solidFill>
                <a:latin typeface="+mj-lt"/>
              </a:rPr>
              <a:t>Dynamic Memory Allocation (DMA):-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b="1" dirty="0">
                <a:solidFill>
                  <a:srgbClr val="2C14DE"/>
                </a:solidFill>
                <a:latin typeface="+mj-lt"/>
              </a:rPr>
              <a:t>With Dynamic memory allocation we can allocate/deletes memory (elements of an array) </a:t>
            </a:r>
            <a:r>
              <a:rPr lang="en-US" b="1" dirty="0">
                <a:solidFill>
                  <a:srgbClr val="B80000"/>
                </a:solidFill>
                <a:latin typeface="+mj-lt"/>
              </a:rPr>
              <a:t>at runtime or execution time.</a:t>
            </a:r>
            <a:endParaRPr lang="en-US" dirty="0">
              <a:solidFill>
                <a:srgbClr val="B80000"/>
              </a:solidFill>
              <a:latin typeface="+mj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8100" y="897256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0110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8100" y="0"/>
            <a:ext cx="9067800" cy="897256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US" sz="2800" b="1" dirty="0">
                <a:solidFill>
                  <a:srgbClr val="B80000"/>
                </a:solidFill>
                <a:cs typeface="+mj-cs"/>
              </a:rPr>
              <a:t>Differences between Static and Dynamic Memory Allocation</a:t>
            </a:r>
            <a:endParaRPr lang="fr-FR" sz="2800" b="1" dirty="0">
              <a:solidFill>
                <a:srgbClr val="B8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800" b="1" dirty="0">
                <a:solidFill>
                  <a:srgbClr val="B80000"/>
                </a:solidFill>
                <a:cs typeface="+mn-cs"/>
              </a:rPr>
              <a:t>Dynamically allocated memory</a:t>
            </a:r>
            <a:r>
              <a:rPr lang="en-US" sz="2800" dirty="0">
                <a:cs typeface="+mn-cs"/>
              </a:rPr>
              <a:t> is kept on the </a:t>
            </a:r>
            <a:r>
              <a:rPr lang="en-US" sz="2800" b="1" dirty="0">
                <a:solidFill>
                  <a:srgbClr val="2C14DE"/>
                </a:solidFill>
                <a:cs typeface="+mn-cs"/>
              </a:rPr>
              <a:t>memory</a:t>
            </a:r>
            <a:r>
              <a:rPr lang="en-US" sz="2800" dirty="0">
                <a:solidFill>
                  <a:srgbClr val="2C14DE"/>
                </a:solidFill>
                <a:cs typeface="+mn-cs"/>
              </a:rPr>
              <a:t> </a:t>
            </a:r>
            <a:r>
              <a:rPr lang="en-US" sz="2800" b="1" dirty="0">
                <a:solidFill>
                  <a:srgbClr val="2C14DE"/>
                </a:solidFill>
                <a:cs typeface="+mn-cs"/>
              </a:rPr>
              <a:t>heap</a:t>
            </a:r>
            <a:r>
              <a:rPr lang="en-US" sz="2800" dirty="0">
                <a:cs typeface="+mn-cs"/>
              </a:rPr>
              <a:t> (also known as the </a:t>
            </a:r>
            <a:r>
              <a:rPr lang="en-US" sz="2800" b="1" dirty="0">
                <a:solidFill>
                  <a:srgbClr val="2C14DE"/>
                </a:solidFill>
                <a:cs typeface="+mn-cs"/>
              </a:rPr>
              <a:t>free store</a:t>
            </a:r>
            <a:r>
              <a:rPr lang="en-US" sz="2800" dirty="0">
                <a:cs typeface="+mn-cs"/>
              </a:rPr>
              <a:t>)</a:t>
            </a:r>
          </a:p>
          <a:p>
            <a:pPr>
              <a:defRPr/>
            </a:pPr>
            <a:endParaRPr lang="en-US" sz="2800" dirty="0">
              <a:cs typeface="+mn-cs"/>
            </a:endParaRPr>
          </a:p>
          <a:p>
            <a:pPr eaLnBrk="1" hangingPunct="1">
              <a:defRPr/>
            </a:pPr>
            <a:r>
              <a:rPr lang="en-US" sz="2800" b="1" dirty="0">
                <a:solidFill>
                  <a:srgbClr val="B80000"/>
                </a:solidFill>
                <a:cs typeface="+mn-cs"/>
              </a:rPr>
              <a:t>Dynamically allocated memory </a:t>
            </a:r>
            <a:r>
              <a:rPr lang="en-US" sz="2800" b="1" dirty="0">
                <a:solidFill>
                  <a:srgbClr val="2C14DE"/>
                </a:solidFill>
                <a:cs typeface="+mn-cs"/>
              </a:rPr>
              <a:t>cannot have a "name"</a:t>
            </a:r>
            <a:r>
              <a:rPr lang="en-US" sz="2800" dirty="0">
                <a:cs typeface="+mn-cs"/>
              </a:rPr>
              <a:t>, it must be referred to</a:t>
            </a:r>
          </a:p>
          <a:p>
            <a:pPr eaLnBrk="1" hangingPunct="1">
              <a:defRPr/>
            </a:pPr>
            <a:endParaRPr lang="en-US" sz="2800" b="1" dirty="0">
              <a:cs typeface="+mn-cs"/>
            </a:endParaRPr>
          </a:p>
          <a:p>
            <a:pPr eaLnBrk="1" hangingPunct="1">
              <a:defRPr/>
            </a:pPr>
            <a:r>
              <a:rPr lang="en-US" sz="2800" b="1" i="1" dirty="0">
                <a:solidFill>
                  <a:srgbClr val="B80000"/>
                </a:solidFill>
                <a:cs typeface="+mn-cs"/>
              </a:rPr>
              <a:t>Declarations</a:t>
            </a:r>
            <a:r>
              <a:rPr lang="en-US" sz="2800" dirty="0">
                <a:solidFill>
                  <a:srgbClr val="B80000"/>
                </a:solidFill>
                <a:cs typeface="+mn-cs"/>
              </a:rPr>
              <a:t> </a:t>
            </a:r>
            <a:r>
              <a:rPr lang="en-US" sz="2800" dirty="0">
                <a:cs typeface="+mn-cs"/>
              </a:rPr>
              <a:t>are used to statically allocate memory, </a:t>
            </a:r>
          </a:p>
          <a:p>
            <a:pPr lvl="1">
              <a:defRPr/>
            </a:pPr>
            <a:r>
              <a:rPr lang="en-US" dirty="0">
                <a:cs typeface="+mn-cs"/>
              </a:rPr>
              <a:t>the </a:t>
            </a:r>
            <a:r>
              <a:rPr lang="en-US" b="1" i="1" dirty="0">
                <a:solidFill>
                  <a:srgbClr val="2C14DE"/>
                </a:solidFill>
                <a:cs typeface="+mn-cs"/>
              </a:rPr>
              <a:t>new</a:t>
            </a:r>
            <a:r>
              <a:rPr lang="en-US" dirty="0">
                <a:solidFill>
                  <a:srgbClr val="2C14DE"/>
                </a:solidFill>
                <a:cs typeface="+mn-cs"/>
              </a:rPr>
              <a:t> </a:t>
            </a:r>
            <a:r>
              <a:rPr lang="en-US" b="1" dirty="0">
                <a:cs typeface="+mn-cs"/>
              </a:rPr>
              <a:t>operator</a:t>
            </a:r>
            <a:r>
              <a:rPr lang="en-US" dirty="0">
                <a:cs typeface="+mn-cs"/>
              </a:rPr>
              <a:t> is used to </a:t>
            </a:r>
            <a:r>
              <a:rPr lang="en-US" b="1" dirty="0">
                <a:solidFill>
                  <a:srgbClr val="2C14DE"/>
                </a:solidFill>
                <a:cs typeface="+mn-cs"/>
              </a:rPr>
              <a:t>dynamically allocate memory</a:t>
            </a:r>
            <a:endParaRPr lang="fr-FR" b="1" dirty="0">
              <a:solidFill>
                <a:srgbClr val="2C14DE"/>
              </a:solidFill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8100" y="897256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63636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0"/>
            <a:ext cx="8153400" cy="1036319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B80000"/>
                </a:solidFill>
              </a:rPr>
              <a:t>Dynamic Memory Allocation</a:t>
            </a:r>
            <a:endParaRPr lang="en-US" altLang="zh-CN" b="1" dirty="0">
              <a:solidFill>
                <a:srgbClr val="B80000"/>
              </a:solidFill>
            </a:endParaRPr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B80000"/>
                </a:solidFill>
              </a:rPr>
              <a:t>Heap management </a:t>
            </a:r>
            <a:r>
              <a:rPr lang="en-US" altLang="zh-CN" b="1" dirty="0">
                <a:solidFill>
                  <a:srgbClr val="2C14DE"/>
                </a:solidFill>
              </a:rPr>
              <a:t>in C++ is </a:t>
            </a:r>
            <a:r>
              <a:rPr lang="en-US" altLang="zh-CN" b="1" dirty="0">
                <a:solidFill>
                  <a:srgbClr val="B80000"/>
                </a:solidFill>
              </a:rPr>
              <a:t>explicit</a:t>
            </a:r>
            <a:r>
              <a:rPr lang="en-US" altLang="zh-CN" b="1" dirty="0">
                <a:solidFill>
                  <a:srgbClr val="2C14DE"/>
                </a:solidFill>
              </a:rPr>
              <a:t>: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Rectangle 3"/>
          <p:cNvSpPr/>
          <p:nvPr/>
        </p:nvSpPr>
        <p:spPr>
          <a:xfrm>
            <a:off x="38100" y="934319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9583" t="37408" r="47083" b="48518"/>
          <a:stretch/>
        </p:blipFill>
        <p:spPr>
          <a:xfrm>
            <a:off x="330724" y="2123997"/>
            <a:ext cx="4267200" cy="14478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29583" t="44075" r="51250" b="41111"/>
          <a:stretch/>
        </p:blipFill>
        <p:spPr>
          <a:xfrm>
            <a:off x="359004" y="4414798"/>
            <a:ext cx="35052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927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0"/>
            <a:ext cx="8153400" cy="1073150"/>
          </a:xfrm>
        </p:spPr>
        <p:txBody>
          <a:bodyPr>
            <a:normAutofit/>
          </a:bodyPr>
          <a:lstStyle/>
          <a:p>
            <a:r>
              <a:rPr lang="en-US" altLang="zh-CN" sz="5400" b="1" dirty="0">
                <a:solidFill>
                  <a:srgbClr val="C00000"/>
                </a:solidFill>
              </a:rPr>
              <a:t>Example</a:t>
            </a:r>
            <a:endParaRPr lang="en-US" altLang="zh-CN" sz="4800" b="1" dirty="0">
              <a:solidFill>
                <a:srgbClr val="C00000"/>
              </a:solidFill>
            </a:endParaRPr>
          </a:p>
        </p:txBody>
      </p:sp>
      <p:sp>
        <p:nvSpPr>
          <p:cNvPr id="174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133475"/>
            <a:ext cx="8991600" cy="5648325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 err="1">
                <a:latin typeface="Courier New" panose="02070309020205020404" pitchFamily="49" charset="0"/>
              </a:rPr>
              <a:t>int</a:t>
            </a:r>
            <a:r>
              <a:rPr lang="en-US" altLang="zh-CN" sz="2000" b="1" dirty="0">
                <a:latin typeface="Courier New" panose="02070309020205020404" pitchFamily="49" charset="0"/>
              </a:rPr>
              <a:t> main()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Courier New" panose="02070309020205020404" pitchFamily="49" charset="0"/>
              </a:rPr>
              <a:t>{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rgbClr val="2C14DE"/>
                </a:solidFill>
                <a:latin typeface="Courier New" panose="02070309020205020404" pitchFamily="49" charset="0"/>
              </a:rPr>
              <a:t>  </a:t>
            </a:r>
            <a:r>
              <a:rPr lang="en-US" altLang="zh-CN" sz="2000" b="1" dirty="0" err="1">
                <a:solidFill>
                  <a:srgbClr val="2C14DE"/>
                </a:solidFill>
                <a:latin typeface="Courier New" panose="02070309020205020404" pitchFamily="49" charset="0"/>
              </a:rPr>
              <a:t>int</a:t>
            </a:r>
            <a:r>
              <a:rPr lang="en-US" altLang="zh-CN" sz="2000" b="1" dirty="0">
                <a:solidFill>
                  <a:srgbClr val="2C14DE"/>
                </a:solidFill>
                <a:latin typeface="Courier New" panose="02070309020205020404" pitchFamily="49" charset="0"/>
              </a:rPr>
              <a:t> *p;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000" b="1" dirty="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Courier New" panose="02070309020205020404" pitchFamily="49" charset="0"/>
              </a:rPr>
              <a:t>  p = new </a:t>
            </a:r>
            <a:r>
              <a:rPr lang="en-US" altLang="zh-CN" sz="2000" b="1" dirty="0" err="1">
                <a:latin typeface="Courier New" panose="02070309020205020404" pitchFamily="49" charset="0"/>
              </a:rPr>
              <a:t>int</a:t>
            </a:r>
            <a:r>
              <a:rPr lang="en-US" altLang="zh-CN" sz="2000" b="1" dirty="0">
                <a:latin typeface="Courier New" panose="02070309020205020404" pitchFamily="49" charset="0"/>
              </a:rPr>
              <a:t>; 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Courier New" panose="02070309020205020404" pitchFamily="49" charset="0"/>
              </a:rPr>
              <a:t>  *p = 99;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000" b="1" dirty="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Courier New" panose="02070309020205020404" pitchFamily="49" charset="0"/>
              </a:rPr>
              <a:t>  return 0;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74084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934200" y="2286000"/>
            <a:ext cx="1752600" cy="4343400"/>
          </a:xfrm>
          <a:prstGeom prst="rect">
            <a:avLst/>
          </a:prstGeom>
          <a:solidFill>
            <a:srgbClr val="F8F8F8"/>
          </a:solidFill>
          <a:ln w="28575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>
              <a:solidFill>
                <a:schemeClr val="accent2"/>
              </a:solidFill>
              <a:latin typeface="Courier New" panose="02070309020205020404" pitchFamily="49" charset="0"/>
            </a:endParaRPr>
          </a:p>
        </p:txBody>
      </p:sp>
      <p:sp>
        <p:nvSpPr>
          <p:cNvPr id="174085" name="Text Box 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257800" y="6302375"/>
            <a:ext cx="170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0xffffffff</a:t>
            </a:r>
          </a:p>
        </p:txBody>
      </p:sp>
      <p:sp>
        <p:nvSpPr>
          <p:cNvPr id="174086" name="Text Box 6"/>
          <p:cNvSpPr txBox="1">
            <a:spLocks noChangeArrowheads="1"/>
          </p:cNvSpPr>
          <p:nvPr/>
        </p:nvSpPr>
        <p:spPr bwMode="auto">
          <a:xfrm>
            <a:off x="6629400" y="2209800"/>
            <a:ext cx="381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0</a:t>
            </a:r>
          </a:p>
        </p:txBody>
      </p:sp>
      <p:sp>
        <p:nvSpPr>
          <p:cNvPr id="174087" name="Line 7"/>
          <p:cNvSpPr>
            <a:spLocks noChangeShapeType="1"/>
          </p:cNvSpPr>
          <p:nvPr/>
        </p:nvSpPr>
        <p:spPr bwMode="auto">
          <a:xfrm>
            <a:off x="6934200" y="28956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088" name="Text Box 8"/>
          <p:cNvSpPr txBox="1">
            <a:spLocks noChangeArrowheads="1"/>
          </p:cNvSpPr>
          <p:nvPr/>
        </p:nvSpPr>
        <p:spPr bwMode="auto">
          <a:xfrm>
            <a:off x="7391400" y="2438400"/>
            <a:ext cx="1066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text</a:t>
            </a:r>
          </a:p>
        </p:txBody>
      </p:sp>
      <p:sp>
        <p:nvSpPr>
          <p:cNvPr id="174089" name="Text Box 9"/>
          <p:cNvSpPr txBox="1">
            <a:spLocks noChangeArrowheads="1"/>
          </p:cNvSpPr>
          <p:nvPr/>
        </p:nvSpPr>
        <p:spPr bwMode="auto">
          <a:xfrm>
            <a:off x="7391400" y="2895600"/>
            <a:ext cx="1143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data</a:t>
            </a:r>
          </a:p>
        </p:txBody>
      </p:sp>
      <p:sp>
        <p:nvSpPr>
          <p:cNvPr id="174090" name="Line 10"/>
          <p:cNvSpPr>
            <a:spLocks noChangeShapeType="1"/>
          </p:cNvSpPr>
          <p:nvPr/>
        </p:nvSpPr>
        <p:spPr bwMode="auto">
          <a:xfrm>
            <a:off x="6934200" y="33528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091" name="Line 11"/>
          <p:cNvSpPr>
            <a:spLocks noChangeShapeType="1"/>
          </p:cNvSpPr>
          <p:nvPr/>
        </p:nvSpPr>
        <p:spPr bwMode="auto">
          <a:xfrm>
            <a:off x="6934200" y="38100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092" name="Text Box 12"/>
          <p:cNvSpPr txBox="1">
            <a:spLocks noChangeArrowheads="1"/>
          </p:cNvSpPr>
          <p:nvPr/>
        </p:nvSpPr>
        <p:spPr bwMode="auto">
          <a:xfrm>
            <a:off x="7467600" y="3352800"/>
            <a:ext cx="76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bss</a:t>
            </a:r>
          </a:p>
        </p:txBody>
      </p:sp>
      <p:sp>
        <p:nvSpPr>
          <p:cNvPr id="174093" name="Line 13"/>
          <p:cNvSpPr>
            <a:spLocks noChangeShapeType="1"/>
          </p:cNvSpPr>
          <p:nvPr/>
        </p:nvSpPr>
        <p:spPr bwMode="auto">
          <a:xfrm>
            <a:off x="6934200" y="44196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094" name="Text Box 14"/>
          <p:cNvSpPr txBox="1">
            <a:spLocks noChangeArrowheads="1"/>
          </p:cNvSpPr>
          <p:nvPr/>
        </p:nvSpPr>
        <p:spPr bwMode="auto">
          <a:xfrm>
            <a:off x="7391400" y="3810000"/>
            <a:ext cx="1143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heap</a:t>
            </a:r>
          </a:p>
        </p:txBody>
      </p:sp>
      <p:sp>
        <p:nvSpPr>
          <p:cNvPr id="174095" name="Line 15"/>
          <p:cNvSpPr>
            <a:spLocks noChangeShapeType="1"/>
          </p:cNvSpPr>
          <p:nvPr/>
        </p:nvSpPr>
        <p:spPr bwMode="auto">
          <a:xfrm>
            <a:off x="7772400" y="4419600"/>
            <a:ext cx="0" cy="3810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096" name="Text Box 16"/>
          <p:cNvSpPr txBox="1">
            <a:spLocks noChangeArrowheads="1"/>
          </p:cNvSpPr>
          <p:nvPr/>
        </p:nvSpPr>
        <p:spPr bwMode="auto">
          <a:xfrm>
            <a:off x="7391400" y="6248400"/>
            <a:ext cx="1219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stack</a:t>
            </a:r>
          </a:p>
        </p:txBody>
      </p:sp>
      <p:sp>
        <p:nvSpPr>
          <p:cNvPr id="174097" name="Line 17"/>
          <p:cNvSpPr>
            <a:spLocks noChangeShapeType="1"/>
          </p:cNvSpPr>
          <p:nvPr/>
        </p:nvSpPr>
        <p:spPr bwMode="auto">
          <a:xfrm>
            <a:off x="6934200" y="55626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098" name="Line 18"/>
          <p:cNvSpPr>
            <a:spLocks noChangeShapeType="1"/>
          </p:cNvSpPr>
          <p:nvPr/>
        </p:nvSpPr>
        <p:spPr bwMode="auto">
          <a:xfrm flipV="1">
            <a:off x="7772400" y="5257800"/>
            <a:ext cx="0" cy="3048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01" name="Line 21"/>
          <p:cNvSpPr>
            <a:spLocks noChangeShapeType="1"/>
          </p:cNvSpPr>
          <p:nvPr/>
        </p:nvSpPr>
        <p:spPr bwMode="auto">
          <a:xfrm>
            <a:off x="6934200" y="58674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03" name="Text Box 23"/>
          <p:cNvSpPr txBox="1">
            <a:spLocks noChangeArrowheads="1"/>
          </p:cNvSpPr>
          <p:nvPr/>
        </p:nvSpPr>
        <p:spPr bwMode="auto">
          <a:xfrm>
            <a:off x="7696200" y="5562600"/>
            <a:ext cx="76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chemeClr val="hlink"/>
                </a:solidFill>
                <a:latin typeface="Courier New" panose="02070309020205020404" pitchFamily="49" charset="0"/>
              </a:rPr>
              <a:t>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53" y="933847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264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0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0"/>
            <a:ext cx="8153400" cy="920750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</a:rPr>
              <a:t>Example</a:t>
            </a:r>
          </a:p>
        </p:txBody>
      </p:sp>
      <p:sp>
        <p:nvSpPr>
          <p:cNvPr id="176132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934200" y="2286000"/>
            <a:ext cx="1752600" cy="4343400"/>
          </a:xfrm>
          <a:prstGeom prst="rect">
            <a:avLst/>
          </a:prstGeom>
          <a:solidFill>
            <a:srgbClr val="F8F8F8"/>
          </a:solidFill>
          <a:ln w="28575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>
              <a:solidFill>
                <a:schemeClr val="accent2"/>
              </a:solidFill>
              <a:latin typeface="Courier New" panose="02070309020205020404" pitchFamily="49" charset="0"/>
            </a:endParaRPr>
          </a:p>
        </p:txBody>
      </p:sp>
      <p:sp>
        <p:nvSpPr>
          <p:cNvPr id="176133" name="Text Box 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226050" y="6302375"/>
            <a:ext cx="170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0xffffffff</a:t>
            </a:r>
          </a:p>
        </p:txBody>
      </p:sp>
      <p:sp>
        <p:nvSpPr>
          <p:cNvPr id="176134" name="Text Box 6"/>
          <p:cNvSpPr txBox="1">
            <a:spLocks noChangeArrowheads="1"/>
          </p:cNvSpPr>
          <p:nvPr/>
        </p:nvSpPr>
        <p:spPr bwMode="auto">
          <a:xfrm>
            <a:off x="6629400" y="2209800"/>
            <a:ext cx="381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0</a:t>
            </a:r>
          </a:p>
        </p:txBody>
      </p:sp>
      <p:sp>
        <p:nvSpPr>
          <p:cNvPr id="176135" name="Line 7"/>
          <p:cNvSpPr>
            <a:spLocks noChangeShapeType="1"/>
          </p:cNvSpPr>
          <p:nvPr/>
        </p:nvSpPr>
        <p:spPr bwMode="auto">
          <a:xfrm>
            <a:off x="6934200" y="28956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6136" name="Text Box 8"/>
          <p:cNvSpPr txBox="1">
            <a:spLocks noChangeArrowheads="1"/>
          </p:cNvSpPr>
          <p:nvPr/>
        </p:nvSpPr>
        <p:spPr bwMode="auto">
          <a:xfrm>
            <a:off x="7391400" y="2438400"/>
            <a:ext cx="1143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text</a:t>
            </a:r>
          </a:p>
        </p:txBody>
      </p:sp>
      <p:sp>
        <p:nvSpPr>
          <p:cNvPr id="176137" name="Text Box 9"/>
          <p:cNvSpPr txBox="1">
            <a:spLocks noChangeArrowheads="1"/>
          </p:cNvSpPr>
          <p:nvPr/>
        </p:nvSpPr>
        <p:spPr bwMode="auto">
          <a:xfrm>
            <a:off x="7391400" y="2895600"/>
            <a:ext cx="1066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data</a:t>
            </a:r>
          </a:p>
        </p:txBody>
      </p:sp>
      <p:sp>
        <p:nvSpPr>
          <p:cNvPr id="176138" name="Line 10"/>
          <p:cNvSpPr>
            <a:spLocks noChangeShapeType="1"/>
          </p:cNvSpPr>
          <p:nvPr/>
        </p:nvSpPr>
        <p:spPr bwMode="auto">
          <a:xfrm>
            <a:off x="6934200" y="33528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6139" name="Line 11"/>
          <p:cNvSpPr>
            <a:spLocks noChangeShapeType="1"/>
          </p:cNvSpPr>
          <p:nvPr/>
        </p:nvSpPr>
        <p:spPr bwMode="auto">
          <a:xfrm>
            <a:off x="6934200" y="38100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6140" name="Text Box 12"/>
          <p:cNvSpPr txBox="1">
            <a:spLocks noChangeArrowheads="1"/>
          </p:cNvSpPr>
          <p:nvPr/>
        </p:nvSpPr>
        <p:spPr bwMode="auto">
          <a:xfrm>
            <a:off x="7467600" y="3352800"/>
            <a:ext cx="76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bss</a:t>
            </a:r>
          </a:p>
        </p:txBody>
      </p:sp>
      <p:sp>
        <p:nvSpPr>
          <p:cNvPr id="176141" name="Line 13"/>
          <p:cNvSpPr>
            <a:spLocks noChangeShapeType="1"/>
          </p:cNvSpPr>
          <p:nvPr/>
        </p:nvSpPr>
        <p:spPr bwMode="auto">
          <a:xfrm>
            <a:off x="6934200" y="44196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6142" name="Text Box 14"/>
          <p:cNvSpPr txBox="1">
            <a:spLocks noChangeArrowheads="1"/>
          </p:cNvSpPr>
          <p:nvPr/>
        </p:nvSpPr>
        <p:spPr bwMode="auto">
          <a:xfrm>
            <a:off x="7391400" y="3810000"/>
            <a:ext cx="1143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heap</a:t>
            </a:r>
          </a:p>
        </p:txBody>
      </p:sp>
      <p:sp>
        <p:nvSpPr>
          <p:cNvPr id="176143" name="Line 15"/>
          <p:cNvSpPr>
            <a:spLocks noChangeShapeType="1"/>
          </p:cNvSpPr>
          <p:nvPr/>
        </p:nvSpPr>
        <p:spPr bwMode="auto">
          <a:xfrm>
            <a:off x="7772400" y="4724400"/>
            <a:ext cx="0" cy="3810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6144" name="Text Box 16"/>
          <p:cNvSpPr txBox="1">
            <a:spLocks noChangeArrowheads="1"/>
          </p:cNvSpPr>
          <p:nvPr/>
        </p:nvSpPr>
        <p:spPr bwMode="auto">
          <a:xfrm>
            <a:off x="7391400" y="6248400"/>
            <a:ext cx="1143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stack</a:t>
            </a:r>
          </a:p>
        </p:txBody>
      </p:sp>
      <p:sp>
        <p:nvSpPr>
          <p:cNvPr id="176145" name="Line 17"/>
          <p:cNvSpPr>
            <a:spLocks noChangeShapeType="1"/>
          </p:cNvSpPr>
          <p:nvPr/>
        </p:nvSpPr>
        <p:spPr bwMode="auto">
          <a:xfrm>
            <a:off x="6934200" y="55626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6146" name="Line 18"/>
          <p:cNvSpPr>
            <a:spLocks noChangeShapeType="1"/>
          </p:cNvSpPr>
          <p:nvPr/>
        </p:nvSpPr>
        <p:spPr bwMode="auto">
          <a:xfrm flipV="1">
            <a:off x="7772400" y="5257800"/>
            <a:ext cx="0" cy="3048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6147" name="Line 19"/>
          <p:cNvSpPr>
            <a:spLocks noChangeShapeType="1"/>
          </p:cNvSpPr>
          <p:nvPr/>
        </p:nvSpPr>
        <p:spPr bwMode="auto">
          <a:xfrm>
            <a:off x="6934200" y="47244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6148" name="Text Box 20"/>
          <p:cNvSpPr txBox="1">
            <a:spLocks noChangeArrowheads="1"/>
          </p:cNvSpPr>
          <p:nvPr/>
        </p:nvSpPr>
        <p:spPr bwMode="auto">
          <a:xfrm>
            <a:off x="7319521" y="4419599"/>
            <a:ext cx="1524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chemeClr val="hlink"/>
                </a:solidFill>
                <a:latin typeface="Courier New" panose="02070309020205020404" pitchFamily="49" charset="0"/>
              </a:rPr>
              <a:t>#@%*&amp;</a:t>
            </a:r>
          </a:p>
        </p:txBody>
      </p:sp>
      <p:sp>
        <p:nvSpPr>
          <p:cNvPr id="176149" name="Line 21"/>
          <p:cNvSpPr>
            <a:spLocks noChangeShapeType="1"/>
          </p:cNvSpPr>
          <p:nvPr/>
        </p:nvSpPr>
        <p:spPr bwMode="auto">
          <a:xfrm>
            <a:off x="6934200" y="58674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6150" name="Text Box 22"/>
          <p:cNvSpPr txBox="1">
            <a:spLocks noChangeArrowheads="1"/>
          </p:cNvSpPr>
          <p:nvPr/>
        </p:nvSpPr>
        <p:spPr bwMode="auto">
          <a:xfrm>
            <a:off x="7620000" y="5562600"/>
            <a:ext cx="76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hlink"/>
                </a:solidFill>
                <a:latin typeface="Courier New" panose="02070309020205020404" pitchFamily="49" charset="0"/>
              </a:rPr>
              <a:t>p</a:t>
            </a:r>
          </a:p>
        </p:txBody>
      </p:sp>
      <p:sp>
        <p:nvSpPr>
          <p:cNvPr id="176152" name="Freeform 24"/>
          <p:cNvSpPr>
            <a:spLocks/>
          </p:cNvSpPr>
          <p:nvPr/>
        </p:nvSpPr>
        <p:spPr bwMode="auto">
          <a:xfrm>
            <a:off x="6502400" y="4572000"/>
            <a:ext cx="431800" cy="1143000"/>
          </a:xfrm>
          <a:custGeom>
            <a:avLst/>
            <a:gdLst>
              <a:gd name="T0" fmla="*/ 272 w 272"/>
              <a:gd name="T1" fmla="*/ 720 h 720"/>
              <a:gd name="T2" fmla="*/ 32 w 272"/>
              <a:gd name="T3" fmla="*/ 624 h 720"/>
              <a:gd name="T4" fmla="*/ 80 w 272"/>
              <a:gd name="T5" fmla="*/ 288 h 720"/>
              <a:gd name="T6" fmla="*/ 272 w 272"/>
              <a:gd name="T7" fmla="*/ 0 h 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2" h="720">
                <a:moveTo>
                  <a:pt x="272" y="720"/>
                </a:moveTo>
                <a:cubicBezTo>
                  <a:pt x="168" y="708"/>
                  <a:pt x="64" y="696"/>
                  <a:pt x="32" y="624"/>
                </a:cubicBezTo>
                <a:cubicBezTo>
                  <a:pt x="0" y="552"/>
                  <a:pt x="40" y="392"/>
                  <a:pt x="80" y="288"/>
                </a:cubicBezTo>
                <a:cubicBezTo>
                  <a:pt x="120" y="184"/>
                  <a:pt x="240" y="48"/>
                  <a:pt x="272" y="0"/>
                </a:cubicBezTo>
              </a:path>
            </a:pathLst>
          </a:custGeom>
          <a:noFill/>
          <a:ln w="25400">
            <a:solidFill>
              <a:srgbClr val="B8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76200" y="930275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3"/>
          <p:cNvSpPr txBox="1">
            <a:spLocks noChangeArrowheads="1"/>
          </p:cNvSpPr>
          <p:nvPr/>
        </p:nvSpPr>
        <p:spPr>
          <a:xfrm>
            <a:off x="152400" y="1133475"/>
            <a:ext cx="8991600" cy="56483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 err="1">
                <a:latin typeface="Courier New" panose="02070309020205020404" pitchFamily="49" charset="0"/>
              </a:rPr>
              <a:t>int</a:t>
            </a:r>
            <a:r>
              <a:rPr lang="en-US" altLang="zh-CN" sz="2000" b="1" dirty="0">
                <a:latin typeface="Courier New" panose="02070309020205020404" pitchFamily="49" charset="0"/>
              </a:rPr>
              <a:t> main()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Courier New" panose="02070309020205020404" pitchFamily="49" charset="0"/>
              </a:rPr>
              <a:t>{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Courier New" panose="02070309020205020404" pitchFamily="49" charset="0"/>
              </a:rPr>
              <a:t>  </a:t>
            </a:r>
            <a:r>
              <a:rPr lang="en-US" altLang="zh-CN" sz="2000" b="1" dirty="0" err="1">
                <a:latin typeface="Courier New" panose="02070309020205020404" pitchFamily="49" charset="0"/>
              </a:rPr>
              <a:t>int</a:t>
            </a:r>
            <a:r>
              <a:rPr lang="en-US" altLang="zh-CN" sz="2000" b="1" dirty="0">
                <a:latin typeface="Courier New" panose="02070309020205020404" pitchFamily="49" charset="0"/>
              </a:rPr>
              <a:t> *p;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000" b="1" dirty="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rgbClr val="2C14DE"/>
                </a:solidFill>
                <a:latin typeface="Courier New" panose="02070309020205020404" pitchFamily="49" charset="0"/>
              </a:rPr>
              <a:t>  p = new </a:t>
            </a:r>
            <a:r>
              <a:rPr lang="en-US" altLang="zh-CN" sz="2000" b="1" dirty="0" err="1">
                <a:solidFill>
                  <a:srgbClr val="2C14DE"/>
                </a:solidFill>
                <a:latin typeface="Courier New" panose="02070309020205020404" pitchFamily="49" charset="0"/>
              </a:rPr>
              <a:t>int</a:t>
            </a:r>
            <a:r>
              <a:rPr lang="en-US" altLang="zh-CN" sz="2000" b="1" dirty="0">
                <a:solidFill>
                  <a:srgbClr val="2C14DE"/>
                </a:solidFill>
                <a:latin typeface="Courier New" panose="02070309020205020404" pitchFamily="49" charset="0"/>
              </a:rPr>
              <a:t>; 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Courier New" panose="02070309020205020404" pitchFamily="49" charset="0"/>
              </a:rPr>
              <a:t>  *p = 99;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000" b="1" dirty="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Courier New" panose="02070309020205020404" pitchFamily="49" charset="0"/>
              </a:rPr>
              <a:t>  return 0;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56340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148" grpId="0"/>
      <p:bldP spid="17615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0"/>
            <a:ext cx="8153400" cy="920750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</a:rPr>
              <a:t>Example</a:t>
            </a:r>
          </a:p>
        </p:txBody>
      </p:sp>
      <p:sp>
        <p:nvSpPr>
          <p:cNvPr id="176132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934200" y="2286000"/>
            <a:ext cx="1752600" cy="4343400"/>
          </a:xfrm>
          <a:prstGeom prst="rect">
            <a:avLst/>
          </a:prstGeom>
          <a:solidFill>
            <a:srgbClr val="F8F8F8"/>
          </a:solidFill>
          <a:ln w="28575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>
              <a:solidFill>
                <a:schemeClr val="accent2"/>
              </a:solidFill>
              <a:latin typeface="Courier New" panose="02070309020205020404" pitchFamily="49" charset="0"/>
            </a:endParaRPr>
          </a:p>
        </p:txBody>
      </p:sp>
      <p:sp>
        <p:nvSpPr>
          <p:cNvPr id="176133" name="Text Box 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226050" y="6302375"/>
            <a:ext cx="170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0xffffffff</a:t>
            </a:r>
          </a:p>
        </p:txBody>
      </p:sp>
      <p:sp>
        <p:nvSpPr>
          <p:cNvPr id="176134" name="Text Box 6"/>
          <p:cNvSpPr txBox="1">
            <a:spLocks noChangeArrowheads="1"/>
          </p:cNvSpPr>
          <p:nvPr/>
        </p:nvSpPr>
        <p:spPr bwMode="auto">
          <a:xfrm>
            <a:off x="6629400" y="2209800"/>
            <a:ext cx="381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0</a:t>
            </a:r>
          </a:p>
        </p:txBody>
      </p:sp>
      <p:sp>
        <p:nvSpPr>
          <p:cNvPr id="176135" name="Line 7"/>
          <p:cNvSpPr>
            <a:spLocks noChangeShapeType="1"/>
          </p:cNvSpPr>
          <p:nvPr/>
        </p:nvSpPr>
        <p:spPr bwMode="auto">
          <a:xfrm>
            <a:off x="6934200" y="28956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6136" name="Text Box 8"/>
          <p:cNvSpPr txBox="1">
            <a:spLocks noChangeArrowheads="1"/>
          </p:cNvSpPr>
          <p:nvPr/>
        </p:nvSpPr>
        <p:spPr bwMode="auto">
          <a:xfrm>
            <a:off x="7391400" y="2438400"/>
            <a:ext cx="1143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text</a:t>
            </a:r>
          </a:p>
        </p:txBody>
      </p:sp>
      <p:sp>
        <p:nvSpPr>
          <p:cNvPr id="176137" name="Text Box 9"/>
          <p:cNvSpPr txBox="1">
            <a:spLocks noChangeArrowheads="1"/>
          </p:cNvSpPr>
          <p:nvPr/>
        </p:nvSpPr>
        <p:spPr bwMode="auto">
          <a:xfrm>
            <a:off x="7391400" y="2895600"/>
            <a:ext cx="1066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data</a:t>
            </a:r>
          </a:p>
        </p:txBody>
      </p:sp>
      <p:sp>
        <p:nvSpPr>
          <p:cNvPr id="176138" name="Line 10"/>
          <p:cNvSpPr>
            <a:spLocks noChangeShapeType="1"/>
          </p:cNvSpPr>
          <p:nvPr/>
        </p:nvSpPr>
        <p:spPr bwMode="auto">
          <a:xfrm>
            <a:off x="6934200" y="33528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6139" name="Line 11"/>
          <p:cNvSpPr>
            <a:spLocks noChangeShapeType="1"/>
          </p:cNvSpPr>
          <p:nvPr/>
        </p:nvSpPr>
        <p:spPr bwMode="auto">
          <a:xfrm>
            <a:off x="6934200" y="38100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6140" name="Text Box 12"/>
          <p:cNvSpPr txBox="1">
            <a:spLocks noChangeArrowheads="1"/>
          </p:cNvSpPr>
          <p:nvPr/>
        </p:nvSpPr>
        <p:spPr bwMode="auto">
          <a:xfrm>
            <a:off x="7467600" y="3352800"/>
            <a:ext cx="76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bss</a:t>
            </a:r>
          </a:p>
        </p:txBody>
      </p:sp>
      <p:sp>
        <p:nvSpPr>
          <p:cNvPr id="176141" name="Line 13"/>
          <p:cNvSpPr>
            <a:spLocks noChangeShapeType="1"/>
          </p:cNvSpPr>
          <p:nvPr/>
        </p:nvSpPr>
        <p:spPr bwMode="auto">
          <a:xfrm>
            <a:off x="6934200" y="44196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6142" name="Text Box 14"/>
          <p:cNvSpPr txBox="1">
            <a:spLocks noChangeArrowheads="1"/>
          </p:cNvSpPr>
          <p:nvPr/>
        </p:nvSpPr>
        <p:spPr bwMode="auto">
          <a:xfrm>
            <a:off x="7391400" y="3810000"/>
            <a:ext cx="1143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heap</a:t>
            </a:r>
          </a:p>
        </p:txBody>
      </p:sp>
      <p:sp>
        <p:nvSpPr>
          <p:cNvPr id="176143" name="Line 15"/>
          <p:cNvSpPr>
            <a:spLocks noChangeShapeType="1"/>
          </p:cNvSpPr>
          <p:nvPr/>
        </p:nvSpPr>
        <p:spPr bwMode="auto">
          <a:xfrm>
            <a:off x="7772400" y="4724400"/>
            <a:ext cx="0" cy="3810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6144" name="Text Box 16"/>
          <p:cNvSpPr txBox="1">
            <a:spLocks noChangeArrowheads="1"/>
          </p:cNvSpPr>
          <p:nvPr/>
        </p:nvSpPr>
        <p:spPr bwMode="auto">
          <a:xfrm>
            <a:off x="7391400" y="6248400"/>
            <a:ext cx="1143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stack</a:t>
            </a:r>
          </a:p>
        </p:txBody>
      </p:sp>
      <p:sp>
        <p:nvSpPr>
          <p:cNvPr id="176145" name="Line 17"/>
          <p:cNvSpPr>
            <a:spLocks noChangeShapeType="1"/>
          </p:cNvSpPr>
          <p:nvPr/>
        </p:nvSpPr>
        <p:spPr bwMode="auto">
          <a:xfrm>
            <a:off x="6934200" y="55626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6146" name="Line 18"/>
          <p:cNvSpPr>
            <a:spLocks noChangeShapeType="1"/>
          </p:cNvSpPr>
          <p:nvPr/>
        </p:nvSpPr>
        <p:spPr bwMode="auto">
          <a:xfrm flipV="1">
            <a:off x="7772400" y="5257800"/>
            <a:ext cx="0" cy="3048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6147" name="Line 19"/>
          <p:cNvSpPr>
            <a:spLocks noChangeShapeType="1"/>
          </p:cNvSpPr>
          <p:nvPr/>
        </p:nvSpPr>
        <p:spPr bwMode="auto">
          <a:xfrm>
            <a:off x="6934200" y="47244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6148" name="Text Box 20"/>
          <p:cNvSpPr txBox="1">
            <a:spLocks noChangeArrowheads="1"/>
          </p:cNvSpPr>
          <p:nvPr/>
        </p:nvSpPr>
        <p:spPr bwMode="auto">
          <a:xfrm>
            <a:off x="7315200" y="4419600"/>
            <a:ext cx="152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chemeClr val="hlink"/>
                </a:solidFill>
                <a:latin typeface="Courier New" panose="02070309020205020404" pitchFamily="49" charset="0"/>
              </a:rPr>
              <a:t>  99</a:t>
            </a:r>
          </a:p>
        </p:txBody>
      </p:sp>
      <p:sp>
        <p:nvSpPr>
          <p:cNvPr id="176149" name="Line 21"/>
          <p:cNvSpPr>
            <a:spLocks noChangeShapeType="1"/>
          </p:cNvSpPr>
          <p:nvPr/>
        </p:nvSpPr>
        <p:spPr bwMode="auto">
          <a:xfrm>
            <a:off x="6934200" y="58674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6150" name="Text Box 22"/>
          <p:cNvSpPr txBox="1">
            <a:spLocks noChangeArrowheads="1"/>
          </p:cNvSpPr>
          <p:nvPr/>
        </p:nvSpPr>
        <p:spPr bwMode="auto">
          <a:xfrm>
            <a:off x="7620000" y="5562600"/>
            <a:ext cx="76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hlink"/>
                </a:solidFill>
                <a:latin typeface="Courier New" panose="02070309020205020404" pitchFamily="49" charset="0"/>
              </a:rPr>
              <a:t>p</a:t>
            </a:r>
          </a:p>
        </p:txBody>
      </p:sp>
      <p:sp>
        <p:nvSpPr>
          <p:cNvPr id="176152" name="Freeform 24"/>
          <p:cNvSpPr>
            <a:spLocks/>
          </p:cNvSpPr>
          <p:nvPr/>
        </p:nvSpPr>
        <p:spPr bwMode="auto">
          <a:xfrm>
            <a:off x="6502400" y="4572000"/>
            <a:ext cx="431800" cy="1143000"/>
          </a:xfrm>
          <a:custGeom>
            <a:avLst/>
            <a:gdLst>
              <a:gd name="T0" fmla="*/ 272 w 272"/>
              <a:gd name="T1" fmla="*/ 720 h 720"/>
              <a:gd name="T2" fmla="*/ 32 w 272"/>
              <a:gd name="T3" fmla="*/ 624 h 720"/>
              <a:gd name="T4" fmla="*/ 80 w 272"/>
              <a:gd name="T5" fmla="*/ 288 h 720"/>
              <a:gd name="T6" fmla="*/ 272 w 272"/>
              <a:gd name="T7" fmla="*/ 0 h 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2" h="720">
                <a:moveTo>
                  <a:pt x="272" y="720"/>
                </a:moveTo>
                <a:cubicBezTo>
                  <a:pt x="168" y="708"/>
                  <a:pt x="64" y="696"/>
                  <a:pt x="32" y="624"/>
                </a:cubicBezTo>
                <a:cubicBezTo>
                  <a:pt x="0" y="552"/>
                  <a:pt x="40" y="392"/>
                  <a:pt x="80" y="288"/>
                </a:cubicBezTo>
                <a:cubicBezTo>
                  <a:pt x="120" y="184"/>
                  <a:pt x="240" y="48"/>
                  <a:pt x="272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8299" y="928476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3"/>
          <p:cNvSpPr txBox="1">
            <a:spLocks noChangeArrowheads="1"/>
          </p:cNvSpPr>
          <p:nvPr/>
        </p:nvSpPr>
        <p:spPr>
          <a:xfrm>
            <a:off x="152400" y="1133475"/>
            <a:ext cx="8991600" cy="56483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 err="1">
                <a:latin typeface="Courier New" panose="02070309020205020404" pitchFamily="49" charset="0"/>
              </a:rPr>
              <a:t>int</a:t>
            </a:r>
            <a:r>
              <a:rPr lang="en-US" altLang="zh-CN" sz="2000" b="1" dirty="0">
                <a:latin typeface="Courier New" panose="02070309020205020404" pitchFamily="49" charset="0"/>
              </a:rPr>
              <a:t> main()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Courier New" panose="02070309020205020404" pitchFamily="49" charset="0"/>
              </a:rPr>
              <a:t>{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Courier New" panose="02070309020205020404" pitchFamily="49" charset="0"/>
              </a:rPr>
              <a:t>  </a:t>
            </a:r>
            <a:r>
              <a:rPr lang="en-US" altLang="zh-CN" sz="2000" b="1" dirty="0" err="1">
                <a:latin typeface="Courier New" panose="02070309020205020404" pitchFamily="49" charset="0"/>
              </a:rPr>
              <a:t>int</a:t>
            </a:r>
            <a:r>
              <a:rPr lang="en-US" altLang="zh-CN" sz="2000" b="1" dirty="0">
                <a:latin typeface="Courier New" panose="02070309020205020404" pitchFamily="49" charset="0"/>
              </a:rPr>
              <a:t> *p;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000" b="1" dirty="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Courier New" panose="02070309020205020404" pitchFamily="49" charset="0"/>
              </a:rPr>
              <a:t>  p = new </a:t>
            </a:r>
            <a:r>
              <a:rPr lang="en-US" altLang="zh-CN" sz="2000" b="1" dirty="0" err="1">
                <a:latin typeface="Courier New" panose="02070309020205020404" pitchFamily="49" charset="0"/>
              </a:rPr>
              <a:t>int</a:t>
            </a:r>
            <a:r>
              <a:rPr lang="en-US" altLang="zh-CN" sz="2000" b="1" dirty="0">
                <a:latin typeface="Courier New" panose="02070309020205020404" pitchFamily="49" charset="0"/>
              </a:rPr>
              <a:t>; 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rgbClr val="2C14DE"/>
                </a:solidFill>
                <a:latin typeface="Courier New" panose="02070309020205020404" pitchFamily="49" charset="0"/>
              </a:rPr>
              <a:t>  *p = 99;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000" b="1" dirty="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Courier New" panose="02070309020205020404" pitchFamily="49" charset="0"/>
              </a:rPr>
              <a:t>  return 0;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31033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14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0"/>
            <a:ext cx="8153400" cy="914400"/>
          </a:xfrm>
        </p:spPr>
        <p:txBody>
          <a:bodyPr>
            <a:normAutofit/>
          </a:bodyPr>
          <a:lstStyle/>
          <a:p>
            <a:r>
              <a:rPr lang="en-US" altLang="zh-CN" sz="4800" b="1" dirty="0">
                <a:solidFill>
                  <a:srgbClr val="B80000"/>
                </a:solidFill>
              </a:rPr>
              <a:t>Aliasing</a:t>
            </a:r>
          </a:p>
        </p:txBody>
      </p:sp>
      <p:sp>
        <p:nvSpPr>
          <p:cNvPr id="182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799" y="1189037"/>
            <a:ext cx="8686801" cy="5510213"/>
          </a:xfrm>
        </p:spPr>
        <p:txBody>
          <a:bodyPr/>
          <a:lstStyle/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 err="1">
                <a:solidFill>
                  <a:schemeClr val="folHlink"/>
                </a:solidFill>
                <a:latin typeface="Courier New" panose="02070309020205020404" pitchFamily="49" charset="0"/>
              </a:rPr>
              <a:t>int</a:t>
            </a:r>
            <a:r>
              <a:rPr lang="en-US" altLang="zh-CN" sz="2000" b="1" dirty="0">
                <a:solidFill>
                  <a:schemeClr val="folHlink"/>
                </a:solidFill>
                <a:latin typeface="Courier New" panose="02070309020205020404" pitchFamily="49" charset="0"/>
              </a:rPr>
              <a:t> main()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folHlink"/>
                </a:solidFill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folHlink"/>
                </a:solidFill>
                <a:latin typeface="Courier New" panose="02070309020205020404" pitchFamily="49" charset="0"/>
              </a:rPr>
              <a:t>	</a:t>
            </a:r>
            <a:r>
              <a:rPr lang="en-US" altLang="zh-CN" sz="2000" b="1" dirty="0" err="1">
                <a:solidFill>
                  <a:schemeClr val="folHlink"/>
                </a:solidFill>
                <a:latin typeface="Courier New" panose="02070309020205020404" pitchFamily="49" charset="0"/>
              </a:rPr>
              <a:t>int</a:t>
            </a:r>
            <a:r>
              <a:rPr lang="en-US" altLang="zh-CN" sz="2000" b="1" dirty="0">
                <a:solidFill>
                  <a:schemeClr val="folHlink"/>
                </a:solidFill>
                <a:latin typeface="Courier New" panose="02070309020205020404" pitchFamily="49" charset="0"/>
              </a:rPr>
              <a:t> *p, *q;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000" b="1" dirty="0">
              <a:solidFill>
                <a:schemeClr val="folHlink"/>
              </a:solidFill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chemeClr val="folHlink"/>
                </a:solidFill>
                <a:latin typeface="Courier New" panose="02070309020205020404" pitchFamily="49" charset="0"/>
              </a:rPr>
              <a:t>	p = new </a:t>
            </a:r>
            <a:r>
              <a:rPr lang="en-US" altLang="zh-CN" sz="2000" b="1" dirty="0" err="1">
                <a:solidFill>
                  <a:schemeClr val="folHlink"/>
                </a:solidFill>
                <a:latin typeface="Courier New" panose="02070309020205020404" pitchFamily="49" charset="0"/>
              </a:rPr>
              <a:t>int</a:t>
            </a:r>
            <a:r>
              <a:rPr lang="en-US" altLang="zh-CN" sz="2000" b="1" dirty="0">
                <a:solidFill>
                  <a:schemeClr val="folHlink"/>
                </a:solidFill>
                <a:latin typeface="Courier New" panose="02070309020205020404" pitchFamily="49" charset="0"/>
              </a:rPr>
              <a:t>;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folHlink"/>
                </a:solidFill>
                <a:latin typeface="Courier New" panose="02070309020205020404" pitchFamily="49" charset="0"/>
              </a:rPr>
              <a:t>  *p = 99;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hlink"/>
                </a:solidFill>
                <a:latin typeface="Courier New" panose="02070309020205020404" pitchFamily="49" charset="0"/>
              </a:rPr>
              <a:t>	q = p;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000" b="1" dirty="0">
              <a:solidFill>
                <a:schemeClr val="hlink"/>
              </a:solidFill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folHlink"/>
                </a:solidFill>
                <a:latin typeface="Courier New" panose="02070309020205020404" pitchFamily="49" charset="0"/>
              </a:rPr>
              <a:t>	return 0;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folHlink"/>
                </a:solidFill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82276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934200" y="2286000"/>
            <a:ext cx="1752600" cy="4343400"/>
          </a:xfrm>
          <a:prstGeom prst="rect">
            <a:avLst/>
          </a:prstGeom>
          <a:solidFill>
            <a:srgbClr val="F8F8F8"/>
          </a:solidFill>
          <a:ln w="28575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>
              <a:solidFill>
                <a:schemeClr val="accent2"/>
              </a:solidFill>
              <a:latin typeface="Courier New" panose="02070309020205020404" pitchFamily="49" charset="0"/>
            </a:endParaRPr>
          </a:p>
        </p:txBody>
      </p:sp>
      <p:sp>
        <p:nvSpPr>
          <p:cNvPr id="182277" name="Text Box 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226050" y="6302375"/>
            <a:ext cx="170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0xffffffff</a:t>
            </a:r>
          </a:p>
        </p:txBody>
      </p:sp>
      <p:sp>
        <p:nvSpPr>
          <p:cNvPr id="182278" name="Text Box 6"/>
          <p:cNvSpPr txBox="1">
            <a:spLocks noChangeArrowheads="1"/>
          </p:cNvSpPr>
          <p:nvPr/>
        </p:nvSpPr>
        <p:spPr bwMode="auto">
          <a:xfrm>
            <a:off x="6629400" y="2209800"/>
            <a:ext cx="381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0</a:t>
            </a:r>
          </a:p>
        </p:txBody>
      </p:sp>
      <p:sp>
        <p:nvSpPr>
          <p:cNvPr id="182279" name="Line 7"/>
          <p:cNvSpPr>
            <a:spLocks noChangeShapeType="1"/>
          </p:cNvSpPr>
          <p:nvPr/>
        </p:nvSpPr>
        <p:spPr bwMode="auto">
          <a:xfrm>
            <a:off x="6934200" y="28956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2280" name="Text Box 8"/>
          <p:cNvSpPr txBox="1">
            <a:spLocks noChangeArrowheads="1"/>
          </p:cNvSpPr>
          <p:nvPr/>
        </p:nvSpPr>
        <p:spPr bwMode="auto">
          <a:xfrm>
            <a:off x="7391400" y="2438400"/>
            <a:ext cx="1143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text</a:t>
            </a:r>
          </a:p>
        </p:txBody>
      </p:sp>
      <p:sp>
        <p:nvSpPr>
          <p:cNvPr id="182281" name="Text Box 9"/>
          <p:cNvSpPr txBox="1">
            <a:spLocks noChangeArrowheads="1"/>
          </p:cNvSpPr>
          <p:nvPr/>
        </p:nvSpPr>
        <p:spPr bwMode="auto">
          <a:xfrm>
            <a:off x="7391400" y="2895600"/>
            <a:ext cx="1066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data</a:t>
            </a:r>
          </a:p>
        </p:txBody>
      </p:sp>
      <p:sp>
        <p:nvSpPr>
          <p:cNvPr id="182282" name="Line 10"/>
          <p:cNvSpPr>
            <a:spLocks noChangeShapeType="1"/>
          </p:cNvSpPr>
          <p:nvPr/>
        </p:nvSpPr>
        <p:spPr bwMode="auto">
          <a:xfrm>
            <a:off x="6934200" y="33528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2283" name="Line 11"/>
          <p:cNvSpPr>
            <a:spLocks noChangeShapeType="1"/>
          </p:cNvSpPr>
          <p:nvPr/>
        </p:nvSpPr>
        <p:spPr bwMode="auto">
          <a:xfrm>
            <a:off x="6934200" y="38100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2284" name="Text Box 12"/>
          <p:cNvSpPr txBox="1">
            <a:spLocks noChangeArrowheads="1"/>
          </p:cNvSpPr>
          <p:nvPr/>
        </p:nvSpPr>
        <p:spPr bwMode="auto">
          <a:xfrm>
            <a:off x="7467600" y="3352800"/>
            <a:ext cx="76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bss</a:t>
            </a:r>
          </a:p>
        </p:txBody>
      </p:sp>
      <p:sp>
        <p:nvSpPr>
          <p:cNvPr id="182285" name="Line 13"/>
          <p:cNvSpPr>
            <a:spLocks noChangeShapeType="1"/>
          </p:cNvSpPr>
          <p:nvPr/>
        </p:nvSpPr>
        <p:spPr bwMode="auto">
          <a:xfrm>
            <a:off x="6934200" y="44196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2286" name="Text Box 14"/>
          <p:cNvSpPr txBox="1">
            <a:spLocks noChangeArrowheads="1"/>
          </p:cNvSpPr>
          <p:nvPr/>
        </p:nvSpPr>
        <p:spPr bwMode="auto">
          <a:xfrm>
            <a:off x="7391400" y="3810000"/>
            <a:ext cx="1143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heap</a:t>
            </a:r>
          </a:p>
        </p:txBody>
      </p:sp>
      <p:sp>
        <p:nvSpPr>
          <p:cNvPr id="182287" name="Line 15"/>
          <p:cNvSpPr>
            <a:spLocks noChangeShapeType="1"/>
          </p:cNvSpPr>
          <p:nvPr/>
        </p:nvSpPr>
        <p:spPr bwMode="auto">
          <a:xfrm>
            <a:off x="7772400" y="4724400"/>
            <a:ext cx="0" cy="2286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2288" name="Text Box 16"/>
          <p:cNvSpPr txBox="1">
            <a:spLocks noChangeArrowheads="1"/>
          </p:cNvSpPr>
          <p:nvPr/>
        </p:nvSpPr>
        <p:spPr bwMode="auto">
          <a:xfrm>
            <a:off x="7391400" y="6248400"/>
            <a:ext cx="1143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stack</a:t>
            </a:r>
          </a:p>
        </p:txBody>
      </p:sp>
      <p:sp>
        <p:nvSpPr>
          <p:cNvPr id="182289" name="Line 17"/>
          <p:cNvSpPr>
            <a:spLocks noChangeShapeType="1"/>
          </p:cNvSpPr>
          <p:nvPr/>
        </p:nvSpPr>
        <p:spPr bwMode="auto">
          <a:xfrm>
            <a:off x="6934200" y="53340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2290" name="Line 18"/>
          <p:cNvSpPr>
            <a:spLocks noChangeShapeType="1"/>
          </p:cNvSpPr>
          <p:nvPr/>
        </p:nvSpPr>
        <p:spPr bwMode="auto">
          <a:xfrm flipV="1">
            <a:off x="7772400" y="5105400"/>
            <a:ext cx="0" cy="2286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2291" name="Line 19"/>
          <p:cNvSpPr>
            <a:spLocks noChangeShapeType="1"/>
          </p:cNvSpPr>
          <p:nvPr/>
        </p:nvSpPr>
        <p:spPr bwMode="auto">
          <a:xfrm>
            <a:off x="6934200" y="47244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2292" name="Text Box 20"/>
          <p:cNvSpPr txBox="1">
            <a:spLocks noChangeArrowheads="1"/>
          </p:cNvSpPr>
          <p:nvPr/>
        </p:nvSpPr>
        <p:spPr bwMode="auto">
          <a:xfrm>
            <a:off x="7467600" y="4419600"/>
            <a:ext cx="685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hlink"/>
                </a:solidFill>
                <a:latin typeface="Courier New" panose="02070309020205020404" pitchFamily="49" charset="0"/>
              </a:rPr>
              <a:t>99</a:t>
            </a:r>
          </a:p>
        </p:txBody>
      </p:sp>
      <p:sp>
        <p:nvSpPr>
          <p:cNvPr id="182293" name="Line 21"/>
          <p:cNvSpPr>
            <a:spLocks noChangeShapeType="1"/>
          </p:cNvSpPr>
          <p:nvPr/>
        </p:nvSpPr>
        <p:spPr bwMode="auto">
          <a:xfrm>
            <a:off x="6934200" y="58674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2294" name="Text Box 22"/>
          <p:cNvSpPr txBox="1">
            <a:spLocks noChangeArrowheads="1"/>
          </p:cNvSpPr>
          <p:nvPr/>
        </p:nvSpPr>
        <p:spPr bwMode="auto">
          <a:xfrm>
            <a:off x="7620000" y="5562600"/>
            <a:ext cx="76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hlink"/>
                </a:solidFill>
                <a:latin typeface="Courier New" panose="02070309020205020404" pitchFamily="49" charset="0"/>
              </a:rPr>
              <a:t>p</a:t>
            </a:r>
          </a:p>
        </p:txBody>
      </p:sp>
      <p:sp>
        <p:nvSpPr>
          <p:cNvPr id="182295" name="Freeform 23"/>
          <p:cNvSpPr>
            <a:spLocks/>
          </p:cNvSpPr>
          <p:nvPr/>
        </p:nvSpPr>
        <p:spPr bwMode="auto">
          <a:xfrm>
            <a:off x="6502400" y="4572000"/>
            <a:ext cx="431800" cy="1143000"/>
          </a:xfrm>
          <a:custGeom>
            <a:avLst/>
            <a:gdLst>
              <a:gd name="T0" fmla="*/ 272 w 272"/>
              <a:gd name="T1" fmla="*/ 720 h 720"/>
              <a:gd name="T2" fmla="*/ 32 w 272"/>
              <a:gd name="T3" fmla="*/ 624 h 720"/>
              <a:gd name="T4" fmla="*/ 80 w 272"/>
              <a:gd name="T5" fmla="*/ 288 h 720"/>
              <a:gd name="T6" fmla="*/ 272 w 272"/>
              <a:gd name="T7" fmla="*/ 0 h 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2" h="720">
                <a:moveTo>
                  <a:pt x="272" y="720"/>
                </a:moveTo>
                <a:cubicBezTo>
                  <a:pt x="168" y="708"/>
                  <a:pt x="64" y="696"/>
                  <a:pt x="32" y="624"/>
                </a:cubicBezTo>
                <a:cubicBezTo>
                  <a:pt x="0" y="552"/>
                  <a:pt x="40" y="392"/>
                  <a:pt x="80" y="288"/>
                </a:cubicBezTo>
                <a:cubicBezTo>
                  <a:pt x="120" y="184"/>
                  <a:pt x="240" y="48"/>
                  <a:pt x="272" y="0"/>
                </a:cubicBezTo>
              </a:path>
            </a:pathLst>
          </a:custGeom>
          <a:noFill/>
          <a:ln w="19050">
            <a:solidFill>
              <a:srgbClr val="B8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2296" name="Line 24"/>
          <p:cNvSpPr>
            <a:spLocks noChangeShapeType="1"/>
          </p:cNvSpPr>
          <p:nvPr/>
        </p:nvSpPr>
        <p:spPr bwMode="auto">
          <a:xfrm>
            <a:off x="6934200" y="56388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2297" name="Text Box 25"/>
          <p:cNvSpPr txBox="1">
            <a:spLocks noChangeArrowheads="1"/>
          </p:cNvSpPr>
          <p:nvPr/>
        </p:nvSpPr>
        <p:spPr bwMode="auto">
          <a:xfrm>
            <a:off x="7543800" y="5257800"/>
            <a:ext cx="76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hlink"/>
                </a:solidFill>
                <a:latin typeface="Courier New" panose="02070309020205020404" pitchFamily="49" charset="0"/>
              </a:rPr>
              <a:t>q</a:t>
            </a:r>
          </a:p>
        </p:txBody>
      </p:sp>
      <p:sp>
        <p:nvSpPr>
          <p:cNvPr id="182298" name="Freeform 26"/>
          <p:cNvSpPr>
            <a:spLocks/>
          </p:cNvSpPr>
          <p:nvPr/>
        </p:nvSpPr>
        <p:spPr bwMode="auto">
          <a:xfrm>
            <a:off x="8686800" y="4572000"/>
            <a:ext cx="304800" cy="914400"/>
          </a:xfrm>
          <a:custGeom>
            <a:avLst/>
            <a:gdLst>
              <a:gd name="T0" fmla="*/ 0 w 192"/>
              <a:gd name="T1" fmla="*/ 576 h 576"/>
              <a:gd name="T2" fmla="*/ 192 w 192"/>
              <a:gd name="T3" fmla="*/ 384 h 576"/>
              <a:gd name="T4" fmla="*/ 0 w 192"/>
              <a:gd name="T5" fmla="*/ 0 h 5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2" h="576">
                <a:moveTo>
                  <a:pt x="0" y="576"/>
                </a:moveTo>
                <a:cubicBezTo>
                  <a:pt x="96" y="528"/>
                  <a:pt x="192" y="480"/>
                  <a:pt x="192" y="384"/>
                </a:cubicBezTo>
                <a:cubicBezTo>
                  <a:pt x="192" y="288"/>
                  <a:pt x="32" y="64"/>
                  <a:pt x="0" y="0"/>
                </a:cubicBezTo>
              </a:path>
            </a:pathLst>
          </a:custGeom>
          <a:noFill/>
          <a:ln w="25400">
            <a:solidFill>
              <a:srgbClr val="2C14DE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44513" y="92964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5735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0"/>
            <a:ext cx="8153400" cy="914084"/>
          </a:xfrm>
        </p:spPr>
        <p:txBody>
          <a:bodyPr/>
          <a:lstStyle/>
          <a:p>
            <a:r>
              <a:rPr lang="en-US" altLang="zh-CN" b="1" dirty="0">
                <a:solidFill>
                  <a:srgbClr val="B80000"/>
                </a:solidFill>
              </a:rPr>
              <a:t>Aliasing</a:t>
            </a:r>
          </a:p>
        </p:txBody>
      </p:sp>
      <p:sp>
        <p:nvSpPr>
          <p:cNvPr id="183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143000"/>
            <a:ext cx="8839200" cy="5638800"/>
          </a:xfrm>
        </p:spPr>
        <p:txBody>
          <a:bodyPr/>
          <a:lstStyle/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 err="1">
                <a:solidFill>
                  <a:schemeClr val="folHlink"/>
                </a:solidFill>
                <a:latin typeface="Courier New" panose="02070309020205020404" pitchFamily="49" charset="0"/>
              </a:rPr>
              <a:t>int</a:t>
            </a:r>
            <a:r>
              <a:rPr lang="en-US" altLang="zh-CN" sz="2000" b="1" dirty="0">
                <a:solidFill>
                  <a:schemeClr val="folHlink"/>
                </a:solidFill>
                <a:latin typeface="Courier New" panose="02070309020205020404" pitchFamily="49" charset="0"/>
              </a:rPr>
              <a:t> main()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folHlink"/>
                </a:solidFill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folHlink"/>
                </a:solidFill>
                <a:latin typeface="Courier New" panose="02070309020205020404" pitchFamily="49" charset="0"/>
              </a:rPr>
              <a:t>	</a:t>
            </a:r>
            <a:r>
              <a:rPr lang="en-US" altLang="zh-CN" sz="2000" b="1" dirty="0" err="1">
                <a:solidFill>
                  <a:schemeClr val="folHlink"/>
                </a:solidFill>
                <a:latin typeface="Courier New" panose="02070309020205020404" pitchFamily="49" charset="0"/>
              </a:rPr>
              <a:t>int</a:t>
            </a:r>
            <a:r>
              <a:rPr lang="en-US" altLang="zh-CN" sz="2000" b="1" dirty="0">
                <a:solidFill>
                  <a:schemeClr val="folHlink"/>
                </a:solidFill>
                <a:latin typeface="Courier New" panose="02070309020205020404" pitchFamily="49" charset="0"/>
              </a:rPr>
              <a:t> *p, *q;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000" b="1" dirty="0">
              <a:solidFill>
                <a:schemeClr val="folHlink"/>
              </a:solidFill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chemeClr val="folHlink"/>
                </a:solidFill>
                <a:latin typeface="Courier New" panose="02070309020205020404" pitchFamily="49" charset="0"/>
              </a:rPr>
              <a:t>	p = new </a:t>
            </a:r>
            <a:r>
              <a:rPr lang="en-US" altLang="zh-CN" sz="2000" b="1" dirty="0" err="1">
                <a:solidFill>
                  <a:schemeClr val="folHlink"/>
                </a:solidFill>
                <a:latin typeface="Courier New" panose="02070309020205020404" pitchFamily="49" charset="0"/>
              </a:rPr>
              <a:t>int</a:t>
            </a:r>
            <a:r>
              <a:rPr lang="en-US" altLang="zh-CN" sz="2000" b="1" dirty="0">
                <a:solidFill>
                  <a:schemeClr val="folHlink"/>
                </a:solidFill>
                <a:latin typeface="Courier New" panose="02070309020205020404" pitchFamily="49" charset="0"/>
              </a:rPr>
              <a:t>;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folHlink"/>
                </a:solidFill>
                <a:latin typeface="Courier New" panose="02070309020205020404" pitchFamily="49" charset="0"/>
              </a:rPr>
              <a:t>  *p = 99;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hlink"/>
                </a:solidFill>
                <a:latin typeface="Courier New" panose="02070309020205020404" pitchFamily="49" charset="0"/>
              </a:rPr>
              <a:t>	</a:t>
            </a:r>
            <a:r>
              <a:rPr lang="en-US" altLang="zh-CN" sz="2000" b="1" dirty="0">
                <a:solidFill>
                  <a:schemeClr val="folHlink"/>
                </a:solidFill>
                <a:latin typeface="Courier New" panose="02070309020205020404" pitchFamily="49" charset="0"/>
              </a:rPr>
              <a:t>q = p;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000" b="1" dirty="0">
              <a:solidFill>
                <a:schemeClr val="folHlink"/>
              </a:solidFill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hlink"/>
                </a:solidFill>
                <a:latin typeface="Courier New" panose="02070309020205020404" pitchFamily="49" charset="0"/>
              </a:rPr>
              <a:t>	*q = 88;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000" b="1" dirty="0">
              <a:solidFill>
                <a:schemeClr val="hlink"/>
              </a:solidFill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folHlink"/>
                </a:solidFill>
                <a:latin typeface="Courier New" panose="02070309020205020404" pitchFamily="49" charset="0"/>
              </a:rPr>
              <a:t>	return 0;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folHlink"/>
                </a:solidFill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83300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934200" y="2286000"/>
            <a:ext cx="1752600" cy="4343400"/>
          </a:xfrm>
          <a:prstGeom prst="rect">
            <a:avLst/>
          </a:prstGeom>
          <a:solidFill>
            <a:srgbClr val="F8F8F8"/>
          </a:solidFill>
          <a:ln w="28575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>
              <a:solidFill>
                <a:schemeClr val="accent2"/>
              </a:solidFill>
              <a:latin typeface="Courier New" panose="02070309020205020404" pitchFamily="49" charset="0"/>
            </a:endParaRPr>
          </a:p>
        </p:txBody>
      </p:sp>
      <p:sp>
        <p:nvSpPr>
          <p:cNvPr id="183301" name="Text Box 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226050" y="6302375"/>
            <a:ext cx="170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0xffffffff</a:t>
            </a:r>
          </a:p>
        </p:txBody>
      </p:sp>
      <p:sp>
        <p:nvSpPr>
          <p:cNvPr id="183302" name="Text Box 6"/>
          <p:cNvSpPr txBox="1">
            <a:spLocks noChangeArrowheads="1"/>
          </p:cNvSpPr>
          <p:nvPr/>
        </p:nvSpPr>
        <p:spPr bwMode="auto">
          <a:xfrm>
            <a:off x="6629400" y="2209800"/>
            <a:ext cx="381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0</a:t>
            </a:r>
          </a:p>
        </p:txBody>
      </p:sp>
      <p:sp>
        <p:nvSpPr>
          <p:cNvPr id="183303" name="Line 7"/>
          <p:cNvSpPr>
            <a:spLocks noChangeShapeType="1"/>
          </p:cNvSpPr>
          <p:nvPr/>
        </p:nvSpPr>
        <p:spPr bwMode="auto">
          <a:xfrm>
            <a:off x="6934200" y="28956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3304" name="Text Box 8"/>
          <p:cNvSpPr txBox="1">
            <a:spLocks noChangeArrowheads="1"/>
          </p:cNvSpPr>
          <p:nvPr/>
        </p:nvSpPr>
        <p:spPr bwMode="auto">
          <a:xfrm>
            <a:off x="7391400" y="2438400"/>
            <a:ext cx="1143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text</a:t>
            </a:r>
          </a:p>
        </p:txBody>
      </p:sp>
      <p:sp>
        <p:nvSpPr>
          <p:cNvPr id="183305" name="Text Box 9"/>
          <p:cNvSpPr txBox="1">
            <a:spLocks noChangeArrowheads="1"/>
          </p:cNvSpPr>
          <p:nvPr/>
        </p:nvSpPr>
        <p:spPr bwMode="auto">
          <a:xfrm>
            <a:off x="7391400" y="2895600"/>
            <a:ext cx="1066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data</a:t>
            </a:r>
          </a:p>
        </p:txBody>
      </p:sp>
      <p:sp>
        <p:nvSpPr>
          <p:cNvPr id="183306" name="Line 10"/>
          <p:cNvSpPr>
            <a:spLocks noChangeShapeType="1"/>
          </p:cNvSpPr>
          <p:nvPr/>
        </p:nvSpPr>
        <p:spPr bwMode="auto">
          <a:xfrm>
            <a:off x="6934200" y="33528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3307" name="Line 11"/>
          <p:cNvSpPr>
            <a:spLocks noChangeShapeType="1"/>
          </p:cNvSpPr>
          <p:nvPr/>
        </p:nvSpPr>
        <p:spPr bwMode="auto">
          <a:xfrm>
            <a:off x="6934200" y="38100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3308" name="Text Box 12"/>
          <p:cNvSpPr txBox="1">
            <a:spLocks noChangeArrowheads="1"/>
          </p:cNvSpPr>
          <p:nvPr/>
        </p:nvSpPr>
        <p:spPr bwMode="auto">
          <a:xfrm>
            <a:off x="7467600" y="3352800"/>
            <a:ext cx="76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bss</a:t>
            </a:r>
          </a:p>
        </p:txBody>
      </p:sp>
      <p:sp>
        <p:nvSpPr>
          <p:cNvPr id="183309" name="Line 13"/>
          <p:cNvSpPr>
            <a:spLocks noChangeShapeType="1"/>
          </p:cNvSpPr>
          <p:nvPr/>
        </p:nvSpPr>
        <p:spPr bwMode="auto">
          <a:xfrm>
            <a:off x="6934200" y="44196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3310" name="Text Box 14"/>
          <p:cNvSpPr txBox="1">
            <a:spLocks noChangeArrowheads="1"/>
          </p:cNvSpPr>
          <p:nvPr/>
        </p:nvSpPr>
        <p:spPr bwMode="auto">
          <a:xfrm>
            <a:off x="7391400" y="3810000"/>
            <a:ext cx="1143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heap</a:t>
            </a:r>
          </a:p>
        </p:txBody>
      </p:sp>
      <p:sp>
        <p:nvSpPr>
          <p:cNvPr id="183311" name="Line 15"/>
          <p:cNvSpPr>
            <a:spLocks noChangeShapeType="1"/>
          </p:cNvSpPr>
          <p:nvPr/>
        </p:nvSpPr>
        <p:spPr bwMode="auto">
          <a:xfrm>
            <a:off x="7772400" y="4724400"/>
            <a:ext cx="0" cy="2286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3312" name="Text Box 16"/>
          <p:cNvSpPr txBox="1">
            <a:spLocks noChangeArrowheads="1"/>
          </p:cNvSpPr>
          <p:nvPr/>
        </p:nvSpPr>
        <p:spPr bwMode="auto">
          <a:xfrm>
            <a:off x="7391400" y="6248400"/>
            <a:ext cx="1143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stack</a:t>
            </a:r>
          </a:p>
        </p:txBody>
      </p:sp>
      <p:sp>
        <p:nvSpPr>
          <p:cNvPr id="183313" name="Line 17"/>
          <p:cNvSpPr>
            <a:spLocks noChangeShapeType="1"/>
          </p:cNvSpPr>
          <p:nvPr/>
        </p:nvSpPr>
        <p:spPr bwMode="auto">
          <a:xfrm>
            <a:off x="6934200" y="53340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3314" name="Line 18"/>
          <p:cNvSpPr>
            <a:spLocks noChangeShapeType="1"/>
          </p:cNvSpPr>
          <p:nvPr/>
        </p:nvSpPr>
        <p:spPr bwMode="auto">
          <a:xfrm flipV="1">
            <a:off x="7772400" y="5105400"/>
            <a:ext cx="0" cy="2286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3315" name="Line 19"/>
          <p:cNvSpPr>
            <a:spLocks noChangeShapeType="1"/>
          </p:cNvSpPr>
          <p:nvPr/>
        </p:nvSpPr>
        <p:spPr bwMode="auto">
          <a:xfrm>
            <a:off x="6934200" y="47244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3316" name="Text Box 20"/>
          <p:cNvSpPr txBox="1">
            <a:spLocks noChangeArrowheads="1"/>
          </p:cNvSpPr>
          <p:nvPr/>
        </p:nvSpPr>
        <p:spPr bwMode="auto">
          <a:xfrm>
            <a:off x="7467600" y="4419600"/>
            <a:ext cx="685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hlink"/>
                </a:solidFill>
                <a:latin typeface="Courier New" panose="02070309020205020404" pitchFamily="49" charset="0"/>
              </a:rPr>
              <a:t>88</a:t>
            </a:r>
          </a:p>
        </p:txBody>
      </p:sp>
      <p:sp>
        <p:nvSpPr>
          <p:cNvPr id="183317" name="Line 21"/>
          <p:cNvSpPr>
            <a:spLocks noChangeShapeType="1"/>
          </p:cNvSpPr>
          <p:nvPr/>
        </p:nvSpPr>
        <p:spPr bwMode="auto">
          <a:xfrm>
            <a:off x="6934200" y="58674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3318" name="Text Box 22"/>
          <p:cNvSpPr txBox="1">
            <a:spLocks noChangeArrowheads="1"/>
          </p:cNvSpPr>
          <p:nvPr/>
        </p:nvSpPr>
        <p:spPr bwMode="auto">
          <a:xfrm>
            <a:off x="7620000" y="5562600"/>
            <a:ext cx="76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hlink"/>
                </a:solidFill>
                <a:latin typeface="Courier New" panose="02070309020205020404" pitchFamily="49" charset="0"/>
              </a:rPr>
              <a:t>p</a:t>
            </a:r>
          </a:p>
        </p:txBody>
      </p:sp>
      <p:sp>
        <p:nvSpPr>
          <p:cNvPr id="183319" name="Freeform 23"/>
          <p:cNvSpPr>
            <a:spLocks/>
          </p:cNvSpPr>
          <p:nvPr/>
        </p:nvSpPr>
        <p:spPr bwMode="auto">
          <a:xfrm>
            <a:off x="6502400" y="4572000"/>
            <a:ext cx="431800" cy="1143000"/>
          </a:xfrm>
          <a:custGeom>
            <a:avLst/>
            <a:gdLst>
              <a:gd name="T0" fmla="*/ 272 w 272"/>
              <a:gd name="T1" fmla="*/ 720 h 720"/>
              <a:gd name="T2" fmla="*/ 32 w 272"/>
              <a:gd name="T3" fmla="*/ 624 h 720"/>
              <a:gd name="T4" fmla="*/ 80 w 272"/>
              <a:gd name="T5" fmla="*/ 288 h 720"/>
              <a:gd name="T6" fmla="*/ 272 w 272"/>
              <a:gd name="T7" fmla="*/ 0 h 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2" h="720">
                <a:moveTo>
                  <a:pt x="272" y="720"/>
                </a:moveTo>
                <a:cubicBezTo>
                  <a:pt x="168" y="708"/>
                  <a:pt x="64" y="696"/>
                  <a:pt x="32" y="624"/>
                </a:cubicBezTo>
                <a:cubicBezTo>
                  <a:pt x="0" y="552"/>
                  <a:pt x="40" y="392"/>
                  <a:pt x="80" y="288"/>
                </a:cubicBezTo>
                <a:cubicBezTo>
                  <a:pt x="120" y="184"/>
                  <a:pt x="240" y="48"/>
                  <a:pt x="272" y="0"/>
                </a:cubicBezTo>
              </a:path>
            </a:pathLst>
          </a:custGeom>
          <a:noFill/>
          <a:ln w="25400">
            <a:solidFill>
              <a:srgbClr val="B8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3320" name="Line 24"/>
          <p:cNvSpPr>
            <a:spLocks noChangeShapeType="1"/>
          </p:cNvSpPr>
          <p:nvPr/>
        </p:nvSpPr>
        <p:spPr bwMode="auto">
          <a:xfrm>
            <a:off x="6934200" y="56388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3321" name="Text Box 25"/>
          <p:cNvSpPr txBox="1">
            <a:spLocks noChangeArrowheads="1"/>
          </p:cNvSpPr>
          <p:nvPr/>
        </p:nvSpPr>
        <p:spPr bwMode="auto">
          <a:xfrm>
            <a:off x="7543800" y="5257800"/>
            <a:ext cx="76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hlink"/>
                </a:solidFill>
                <a:latin typeface="Courier New" panose="02070309020205020404" pitchFamily="49" charset="0"/>
              </a:rPr>
              <a:t>q</a:t>
            </a:r>
          </a:p>
        </p:txBody>
      </p:sp>
      <p:sp>
        <p:nvSpPr>
          <p:cNvPr id="183322" name="Freeform 26"/>
          <p:cNvSpPr>
            <a:spLocks/>
          </p:cNvSpPr>
          <p:nvPr/>
        </p:nvSpPr>
        <p:spPr bwMode="auto">
          <a:xfrm>
            <a:off x="8686800" y="4572000"/>
            <a:ext cx="304800" cy="914400"/>
          </a:xfrm>
          <a:custGeom>
            <a:avLst/>
            <a:gdLst>
              <a:gd name="T0" fmla="*/ 0 w 192"/>
              <a:gd name="T1" fmla="*/ 576 h 576"/>
              <a:gd name="T2" fmla="*/ 192 w 192"/>
              <a:gd name="T3" fmla="*/ 384 h 576"/>
              <a:gd name="T4" fmla="*/ 0 w 192"/>
              <a:gd name="T5" fmla="*/ 0 h 5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2" h="576">
                <a:moveTo>
                  <a:pt x="0" y="576"/>
                </a:moveTo>
                <a:cubicBezTo>
                  <a:pt x="96" y="528"/>
                  <a:pt x="192" y="480"/>
                  <a:pt x="192" y="384"/>
                </a:cubicBezTo>
                <a:cubicBezTo>
                  <a:pt x="192" y="288"/>
                  <a:pt x="32" y="64"/>
                  <a:pt x="0" y="0"/>
                </a:cubicBezTo>
              </a:path>
            </a:pathLst>
          </a:custGeom>
          <a:noFill/>
          <a:ln w="25400">
            <a:solidFill>
              <a:srgbClr val="2C14DE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38100" y="929959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6955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0"/>
            <a:ext cx="8153400" cy="974725"/>
          </a:xfrm>
        </p:spPr>
        <p:txBody>
          <a:bodyPr>
            <a:normAutofit/>
          </a:bodyPr>
          <a:lstStyle/>
          <a:p>
            <a:r>
              <a:rPr lang="en-US" altLang="zh-CN" sz="4800" b="1" dirty="0">
                <a:solidFill>
                  <a:srgbClr val="B80000"/>
                </a:solidFill>
              </a:rPr>
              <a:t>Aliasing</a:t>
            </a:r>
          </a:p>
        </p:txBody>
      </p:sp>
      <p:sp>
        <p:nvSpPr>
          <p:cNvPr id="184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143000"/>
            <a:ext cx="8915400" cy="56388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 err="1">
                <a:solidFill>
                  <a:schemeClr val="folHlink"/>
                </a:solidFill>
                <a:latin typeface="Courier New" panose="02070309020205020404" pitchFamily="49" charset="0"/>
              </a:rPr>
              <a:t>int</a:t>
            </a:r>
            <a:r>
              <a:rPr lang="en-US" altLang="zh-CN" sz="2000" b="1" dirty="0">
                <a:solidFill>
                  <a:schemeClr val="folHlink"/>
                </a:solidFill>
                <a:latin typeface="Courier New" panose="02070309020205020404" pitchFamily="49" charset="0"/>
              </a:rPr>
              <a:t> main()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folHlink"/>
                </a:solidFill>
                <a:latin typeface="Courier New" panose="02070309020205020404" pitchFamily="49" charset="0"/>
              </a:rPr>
              <a:t>{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folHlink"/>
                </a:solidFill>
                <a:latin typeface="Courier New" panose="02070309020205020404" pitchFamily="49" charset="0"/>
              </a:rPr>
              <a:t>	</a:t>
            </a:r>
            <a:r>
              <a:rPr lang="en-US" altLang="zh-CN" sz="2000" b="1" dirty="0" err="1">
                <a:solidFill>
                  <a:schemeClr val="folHlink"/>
                </a:solidFill>
                <a:latin typeface="Courier New" panose="02070309020205020404" pitchFamily="49" charset="0"/>
              </a:rPr>
              <a:t>int</a:t>
            </a:r>
            <a:r>
              <a:rPr lang="en-US" altLang="zh-CN" sz="2000" b="1" dirty="0">
                <a:solidFill>
                  <a:schemeClr val="folHlink"/>
                </a:solidFill>
                <a:latin typeface="Courier New" panose="02070309020205020404" pitchFamily="49" charset="0"/>
              </a:rPr>
              <a:t> *p, *q;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000" b="1" dirty="0">
              <a:solidFill>
                <a:schemeClr val="folHlink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chemeClr val="folHlink"/>
                </a:solidFill>
                <a:latin typeface="Courier New" panose="02070309020205020404" pitchFamily="49" charset="0"/>
              </a:rPr>
              <a:t>  p = new </a:t>
            </a:r>
            <a:r>
              <a:rPr lang="en-US" altLang="zh-CN" sz="2000" b="1" dirty="0" err="1">
                <a:solidFill>
                  <a:schemeClr val="folHlink"/>
                </a:solidFill>
                <a:latin typeface="Courier New" panose="02070309020205020404" pitchFamily="49" charset="0"/>
              </a:rPr>
              <a:t>int</a:t>
            </a:r>
            <a:r>
              <a:rPr lang="en-US" altLang="zh-CN" sz="2000" b="1" dirty="0">
                <a:solidFill>
                  <a:schemeClr val="folHlink"/>
                </a:solidFill>
                <a:latin typeface="Courier New" panose="02070309020205020404" pitchFamily="49" charset="0"/>
              </a:rPr>
              <a:t>; 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folHlink"/>
                </a:solidFill>
                <a:latin typeface="Courier New" panose="02070309020205020404" pitchFamily="49" charset="0"/>
              </a:rPr>
              <a:t>  *p = 99;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hlink"/>
                </a:solidFill>
                <a:latin typeface="Courier New" panose="02070309020205020404" pitchFamily="49" charset="0"/>
              </a:rPr>
              <a:t>	</a:t>
            </a:r>
            <a:r>
              <a:rPr lang="en-US" altLang="zh-CN" sz="2000" b="1" dirty="0">
                <a:solidFill>
                  <a:schemeClr val="folHlink"/>
                </a:solidFill>
                <a:latin typeface="Courier New" panose="02070309020205020404" pitchFamily="49" charset="0"/>
              </a:rPr>
              <a:t>q = p;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000" b="1" dirty="0">
              <a:solidFill>
                <a:schemeClr val="folHlink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hlink"/>
                </a:solidFill>
                <a:latin typeface="Courier New" panose="02070309020205020404" pitchFamily="49" charset="0"/>
              </a:rPr>
              <a:t>	</a:t>
            </a:r>
            <a:r>
              <a:rPr lang="en-US" altLang="zh-CN" sz="2000" b="1" dirty="0">
                <a:solidFill>
                  <a:schemeClr val="folHlink"/>
                </a:solidFill>
                <a:latin typeface="Courier New" panose="02070309020205020404" pitchFamily="49" charset="0"/>
              </a:rPr>
              <a:t>*q = 88;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000" b="1" dirty="0">
              <a:solidFill>
                <a:schemeClr val="folHlink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hlink"/>
                </a:solidFill>
                <a:latin typeface="Courier New" panose="02070309020205020404" pitchFamily="49" charset="0"/>
              </a:rPr>
              <a:t>	delete q;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000" b="1" dirty="0">
              <a:solidFill>
                <a:schemeClr val="hlink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folHlink"/>
                </a:solidFill>
                <a:latin typeface="Courier New" panose="02070309020205020404" pitchFamily="49" charset="0"/>
              </a:rPr>
              <a:t>	return 0;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folHlink"/>
                </a:solidFill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84324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934200" y="2286000"/>
            <a:ext cx="1752600" cy="4343400"/>
          </a:xfrm>
          <a:prstGeom prst="rect">
            <a:avLst/>
          </a:prstGeom>
          <a:solidFill>
            <a:srgbClr val="F8F8F8"/>
          </a:solidFill>
          <a:ln w="28575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>
              <a:solidFill>
                <a:schemeClr val="accent2"/>
              </a:solidFill>
              <a:latin typeface="Courier New" panose="02070309020205020404" pitchFamily="49" charset="0"/>
            </a:endParaRPr>
          </a:p>
        </p:txBody>
      </p:sp>
      <p:sp>
        <p:nvSpPr>
          <p:cNvPr id="184325" name="Text Box 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226050" y="6302375"/>
            <a:ext cx="170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0xffffffff</a:t>
            </a:r>
          </a:p>
        </p:txBody>
      </p:sp>
      <p:sp>
        <p:nvSpPr>
          <p:cNvPr id="184326" name="Text Box 6"/>
          <p:cNvSpPr txBox="1">
            <a:spLocks noChangeArrowheads="1"/>
          </p:cNvSpPr>
          <p:nvPr/>
        </p:nvSpPr>
        <p:spPr bwMode="auto">
          <a:xfrm>
            <a:off x="6629400" y="2209800"/>
            <a:ext cx="381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0</a:t>
            </a:r>
          </a:p>
        </p:txBody>
      </p:sp>
      <p:sp>
        <p:nvSpPr>
          <p:cNvPr id="184327" name="Line 7"/>
          <p:cNvSpPr>
            <a:spLocks noChangeShapeType="1"/>
          </p:cNvSpPr>
          <p:nvPr/>
        </p:nvSpPr>
        <p:spPr bwMode="auto">
          <a:xfrm>
            <a:off x="6934200" y="28956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328" name="Text Box 8"/>
          <p:cNvSpPr txBox="1">
            <a:spLocks noChangeArrowheads="1"/>
          </p:cNvSpPr>
          <p:nvPr/>
        </p:nvSpPr>
        <p:spPr bwMode="auto">
          <a:xfrm>
            <a:off x="7391400" y="2438400"/>
            <a:ext cx="1143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text</a:t>
            </a:r>
          </a:p>
        </p:txBody>
      </p:sp>
      <p:sp>
        <p:nvSpPr>
          <p:cNvPr id="184329" name="Text Box 9"/>
          <p:cNvSpPr txBox="1">
            <a:spLocks noChangeArrowheads="1"/>
          </p:cNvSpPr>
          <p:nvPr/>
        </p:nvSpPr>
        <p:spPr bwMode="auto">
          <a:xfrm>
            <a:off x="7391400" y="2895600"/>
            <a:ext cx="1066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data</a:t>
            </a:r>
          </a:p>
        </p:txBody>
      </p:sp>
      <p:sp>
        <p:nvSpPr>
          <p:cNvPr id="184330" name="Line 10"/>
          <p:cNvSpPr>
            <a:spLocks noChangeShapeType="1"/>
          </p:cNvSpPr>
          <p:nvPr/>
        </p:nvSpPr>
        <p:spPr bwMode="auto">
          <a:xfrm>
            <a:off x="6934200" y="33528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331" name="Line 11"/>
          <p:cNvSpPr>
            <a:spLocks noChangeShapeType="1"/>
          </p:cNvSpPr>
          <p:nvPr/>
        </p:nvSpPr>
        <p:spPr bwMode="auto">
          <a:xfrm>
            <a:off x="6934200" y="38100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332" name="Text Box 12"/>
          <p:cNvSpPr txBox="1">
            <a:spLocks noChangeArrowheads="1"/>
          </p:cNvSpPr>
          <p:nvPr/>
        </p:nvSpPr>
        <p:spPr bwMode="auto">
          <a:xfrm>
            <a:off x="7467600" y="3352800"/>
            <a:ext cx="76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bss</a:t>
            </a:r>
          </a:p>
        </p:txBody>
      </p:sp>
      <p:sp>
        <p:nvSpPr>
          <p:cNvPr id="184334" name="Text Box 14"/>
          <p:cNvSpPr txBox="1">
            <a:spLocks noChangeArrowheads="1"/>
          </p:cNvSpPr>
          <p:nvPr/>
        </p:nvSpPr>
        <p:spPr bwMode="auto">
          <a:xfrm>
            <a:off x="7391400" y="3810000"/>
            <a:ext cx="1143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heap</a:t>
            </a:r>
          </a:p>
        </p:txBody>
      </p:sp>
      <p:sp>
        <p:nvSpPr>
          <p:cNvPr id="184335" name="Line 15"/>
          <p:cNvSpPr>
            <a:spLocks noChangeShapeType="1"/>
          </p:cNvSpPr>
          <p:nvPr/>
        </p:nvSpPr>
        <p:spPr bwMode="auto">
          <a:xfrm>
            <a:off x="7772400" y="4419600"/>
            <a:ext cx="0" cy="2286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336" name="Text Box 16"/>
          <p:cNvSpPr txBox="1">
            <a:spLocks noChangeArrowheads="1"/>
          </p:cNvSpPr>
          <p:nvPr/>
        </p:nvSpPr>
        <p:spPr bwMode="auto">
          <a:xfrm>
            <a:off x="7391400" y="6248400"/>
            <a:ext cx="1143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stack</a:t>
            </a:r>
          </a:p>
        </p:txBody>
      </p:sp>
      <p:sp>
        <p:nvSpPr>
          <p:cNvPr id="184337" name="Line 17"/>
          <p:cNvSpPr>
            <a:spLocks noChangeShapeType="1"/>
          </p:cNvSpPr>
          <p:nvPr/>
        </p:nvSpPr>
        <p:spPr bwMode="auto">
          <a:xfrm>
            <a:off x="6934200" y="53340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338" name="Line 18"/>
          <p:cNvSpPr>
            <a:spLocks noChangeShapeType="1"/>
          </p:cNvSpPr>
          <p:nvPr/>
        </p:nvSpPr>
        <p:spPr bwMode="auto">
          <a:xfrm flipV="1">
            <a:off x="7772400" y="5105400"/>
            <a:ext cx="0" cy="2286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339" name="Line 19"/>
          <p:cNvSpPr>
            <a:spLocks noChangeShapeType="1"/>
          </p:cNvSpPr>
          <p:nvPr/>
        </p:nvSpPr>
        <p:spPr bwMode="auto">
          <a:xfrm>
            <a:off x="6934200" y="44196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340" name="Text Box 20"/>
          <p:cNvSpPr txBox="1">
            <a:spLocks noChangeArrowheads="1"/>
          </p:cNvSpPr>
          <p:nvPr/>
        </p:nvSpPr>
        <p:spPr bwMode="auto">
          <a:xfrm>
            <a:off x="7366000" y="4402710"/>
            <a:ext cx="1066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chemeClr val="hlink"/>
                </a:solidFill>
                <a:latin typeface="Courier New" panose="02070309020205020404" pitchFamily="49" charset="0"/>
              </a:rPr>
              <a:t>$%#^&amp;</a:t>
            </a:r>
          </a:p>
        </p:txBody>
      </p:sp>
      <p:sp>
        <p:nvSpPr>
          <p:cNvPr id="184341" name="Line 21"/>
          <p:cNvSpPr>
            <a:spLocks noChangeShapeType="1"/>
          </p:cNvSpPr>
          <p:nvPr/>
        </p:nvSpPr>
        <p:spPr bwMode="auto">
          <a:xfrm>
            <a:off x="6934200" y="58674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342" name="Text Box 22"/>
          <p:cNvSpPr txBox="1">
            <a:spLocks noChangeArrowheads="1"/>
          </p:cNvSpPr>
          <p:nvPr/>
        </p:nvSpPr>
        <p:spPr bwMode="auto">
          <a:xfrm>
            <a:off x="7620000" y="5562600"/>
            <a:ext cx="76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hlink"/>
                </a:solidFill>
                <a:latin typeface="Courier New" panose="02070309020205020404" pitchFamily="49" charset="0"/>
              </a:rPr>
              <a:t>p</a:t>
            </a:r>
          </a:p>
        </p:txBody>
      </p:sp>
      <p:sp>
        <p:nvSpPr>
          <p:cNvPr id="184343" name="Freeform 23"/>
          <p:cNvSpPr>
            <a:spLocks/>
          </p:cNvSpPr>
          <p:nvPr/>
        </p:nvSpPr>
        <p:spPr bwMode="auto">
          <a:xfrm>
            <a:off x="6502400" y="4572000"/>
            <a:ext cx="431800" cy="1143000"/>
          </a:xfrm>
          <a:custGeom>
            <a:avLst/>
            <a:gdLst>
              <a:gd name="T0" fmla="*/ 272 w 272"/>
              <a:gd name="T1" fmla="*/ 720 h 720"/>
              <a:gd name="T2" fmla="*/ 32 w 272"/>
              <a:gd name="T3" fmla="*/ 624 h 720"/>
              <a:gd name="T4" fmla="*/ 80 w 272"/>
              <a:gd name="T5" fmla="*/ 288 h 720"/>
              <a:gd name="T6" fmla="*/ 272 w 272"/>
              <a:gd name="T7" fmla="*/ 0 h 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2" h="720">
                <a:moveTo>
                  <a:pt x="272" y="720"/>
                </a:moveTo>
                <a:cubicBezTo>
                  <a:pt x="168" y="708"/>
                  <a:pt x="64" y="696"/>
                  <a:pt x="32" y="624"/>
                </a:cubicBezTo>
                <a:cubicBezTo>
                  <a:pt x="0" y="552"/>
                  <a:pt x="40" y="392"/>
                  <a:pt x="80" y="288"/>
                </a:cubicBezTo>
                <a:cubicBezTo>
                  <a:pt x="120" y="184"/>
                  <a:pt x="240" y="48"/>
                  <a:pt x="272" y="0"/>
                </a:cubicBezTo>
              </a:path>
            </a:pathLst>
          </a:custGeom>
          <a:noFill/>
          <a:ln w="25400">
            <a:solidFill>
              <a:srgbClr val="B8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344" name="Line 24"/>
          <p:cNvSpPr>
            <a:spLocks noChangeShapeType="1"/>
          </p:cNvSpPr>
          <p:nvPr/>
        </p:nvSpPr>
        <p:spPr bwMode="auto">
          <a:xfrm>
            <a:off x="6934200" y="56388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345" name="Text Box 25"/>
          <p:cNvSpPr txBox="1">
            <a:spLocks noChangeArrowheads="1"/>
          </p:cNvSpPr>
          <p:nvPr/>
        </p:nvSpPr>
        <p:spPr bwMode="auto">
          <a:xfrm>
            <a:off x="7543800" y="5257800"/>
            <a:ext cx="76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hlink"/>
                </a:solidFill>
                <a:latin typeface="Courier New" panose="02070309020205020404" pitchFamily="49" charset="0"/>
              </a:rPr>
              <a:t>q</a:t>
            </a:r>
          </a:p>
        </p:txBody>
      </p:sp>
      <p:sp>
        <p:nvSpPr>
          <p:cNvPr id="184346" name="Freeform 26"/>
          <p:cNvSpPr>
            <a:spLocks/>
          </p:cNvSpPr>
          <p:nvPr/>
        </p:nvSpPr>
        <p:spPr bwMode="auto">
          <a:xfrm>
            <a:off x="8686800" y="4572000"/>
            <a:ext cx="304800" cy="914400"/>
          </a:xfrm>
          <a:custGeom>
            <a:avLst/>
            <a:gdLst>
              <a:gd name="T0" fmla="*/ 0 w 192"/>
              <a:gd name="T1" fmla="*/ 576 h 576"/>
              <a:gd name="T2" fmla="*/ 192 w 192"/>
              <a:gd name="T3" fmla="*/ 384 h 576"/>
              <a:gd name="T4" fmla="*/ 0 w 192"/>
              <a:gd name="T5" fmla="*/ 0 h 5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2" h="576">
                <a:moveTo>
                  <a:pt x="0" y="576"/>
                </a:moveTo>
                <a:cubicBezTo>
                  <a:pt x="96" y="528"/>
                  <a:pt x="192" y="480"/>
                  <a:pt x="192" y="384"/>
                </a:cubicBezTo>
                <a:cubicBezTo>
                  <a:pt x="192" y="288"/>
                  <a:pt x="32" y="64"/>
                  <a:pt x="0" y="0"/>
                </a:cubicBezTo>
              </a:path>
            </a:pathLst>
          </a:custGeom>
          <a:noFill/>
          <a:ln w="28575">
            <a:solidFill>
              <a:srgbClr val="2C14DE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38100" y="92964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5194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0"/>
            <a:ext cx="8153400" cy="1066800"/>
          </a:xfrm>
        </p:spPr>
        <p:txBody>
          <a:bodyPr/>
          <a:lstStyle/>
          <a:p>
            <a:r>
              <a:rPr lang="en-US" altLang="zh-CN" b="1" dirty="0">
                <a:solidFill>
                  <a:srgbClr val="B80000"/>
                </a:solidFill>
              </a:rPr>
              <a:t>Dangling Pointers</a:t>
            </a:r>
          </a:p>
        </p:txBody>
      </p:sp>
      <p:sp>
        <p:nvSpPr>
          <p:cNvPr id="185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143000"/>
            <a:ext cx="8991600" cy="5638800"/>
          </a:xfrm>
        </p:spPr>
        <p:txBody>
          <a:bodyPr/>
          <a:lstStyle/>
          <a:p>
            <a:pPr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 err="1">
                <a:solidFill>
                  <a:schemeClr val="folHlink"/>
                </a:solidFill>
                <a:latin typeface="Courier New" panose="02070309020205020404" pitchFamily="49" charset="0"/>
              </a:rPr>
              <a:t>int</a:t>
            </a:r>
            <a:r>
              <a:rPr lang="en-US" altLang="zh-CN" sz="2000" b="1" dirty="0">
                <a:solidFill>
                  <a:schemeClr val="folHlink"/>
                </a:solidFill>
                <a:latin typeface="Courier New" panose="02070309020205020404" pitchFamily="49" charset="0"/>
              </a:rPr>
              <a:t> main()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folHlink"/>
                </a:solidFill>
                <a:latin typeface="Courier New" panose="02070309020205020404" pitchFamily="49" charset="0"/>
              </a:rPr>
              <a:t>{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folHlink"/>
                </a:solidFill>
                <a:latin typeface="Courier New" panose="02070309020205020404" pitchFamily="49" charset="0"/>
              </a:rPr>
              <a:t>	</a:t>
            </a:r>
            <a:r>
              <a:rPr lang="en-US" altLang="zh-CN" sz="2000" b="1" dirty="0" err="1">
                <a:solidFill>
                  <a:schemeClr val="folHlink"/>
                </a:solidFill>
                <a:latin typeface="Courier New" panose="02070309020205020404" pitchFamily="49" charset="0"/>
              </a:rPr>
              <a:t>int</a:t>
            </a:r>
            <a:r>
              <a:rPr lang="en-US" altLang="zh-CN" sz="2000" b="1" dirty="0">
                <a:solidFill>
                  <a:schemeClr val="folHlink"/>
                </a:solidFill>
                <a:latin typeface="Courier New" panose="02070309020205020404" pitchFamily="49" charset="0"/>
              </a:rPr>
              <a:t> *p, *q;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000" b="1" dirty="0">
              <a:solidFill>
                <a:schemeClr val="folHlink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folHlink"/>
                </a:solidFill>
                <a:latin typeface="Courier New" panose="02070309020205020404" pitchFamily="49" charset="0"/>
              </a:rPr>
              <a:t>	</a:t>
            </a:r>
            <a:r>
              <a:rPr lang="en-US" altLang="zh-CN" sz="2000" b="1" dirty="0">
                <a:latin typeface="Courier New" panose="02070309020205020404" pitchFamily="49" charset="0"/>
              </a:rPr>
              <a:t>p = new </a:t>
            </a:r>
            <a:r>
              <a:rPr lang="en-US" altLang="zh-CN" sz="2000" b="1" dirty="0" err="1">
                <a:latin typeface="Courier New" panose="02070309020205020404" pitchFamily="49" charset="0"/>
              </a:rPr>
              <a:t>int</a:t>
            </a:r>
            <a:r>
              <a:rPr lang="en-US" altLang="zh-CN" sz="2000" b="1" dirty="0">
                <a:latin typeface="Courier New" panose="02070309020205020404" pitchFamily="49" charset="0"/>
              </a:rPr>
              <a:t>; 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folHlink"/>
                </a:solidFill>
                <a:latin typeface="Courier New" panose="02070309020205020404" pitchFamily="49" charset="0"/>
              </a:rPr>
              <a:t>  *p = 99;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hlink"/>
                </a:solidFill>
                <a:latin typeface="Courier New" panose="02070309020205020404" pitchFamily="49" charset="0"/>
              </a:rPr>
              <a:t>	</a:t>
            </a:r>
            <a:r>
              <a:rPr lang="en-US" altLang="zh-CN" sz="2000" b="1" dirty="0">
                <a:solidFill>
                  <a:schemeClr val="folHlink"/>
                </a:solidFill>
                <a:latin typeface="Courier New" panose="02070309020205020404" pitchFamily="49" charset="0"/>
              </a:rPr>
              <a:t>q = p;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000" b="1" dirty="0">
              <a:solidFill>
                <a:schemeClr val="folHlink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hlink"/>
                </a:solidFill>
                <a:latin typeface="Courier New" panose="02070309020205020404" pitchFamily="49" charset="0"/>
              </a:rPr>
              <a:t>	</a:t>
            </a:r>
            <a:r>
              <a:rPr lang="en-US" altLang="zh-CN" sz="2000" b="1" dirty="0">
                <a:solidFill>
                  <a:schemeClr val="folHlink"/>
                </a:solidFill>
                <a:latin typeface="Courier New" panose="02070309020205020404" pitchFamily="49" charset="0"/>
              </a:rPr>
              <a:t>*q = 88;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000" b="1" dirty="0">
              <a:solidFill>
                <a:schemeClr val="folHlink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hlink"/>
                </a:solidFill>
                <a:latin typeface="Courier New" panose="02070309020205020404" pitchFamily="49" charset="0"/>
              </a:rPr>
              <a:t>	</a:t>
            </a:r>
            <a:r>
              <a:rPr lang="en-US" altLang="zh-CN" sz="2000" b="1" dirty="0">
                <a:solidFill>
                  <a:schemeClr val="folHlink"/>
                </a:solidFill>
                <a:latin typeface="Courier New" panose="02070309020205020404" pitchFamily="49" charset="0"/>
              </a:rPr>
              <a:t>delete q;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000" b="1" dirty="0">
              <a:solidFill>
                <a:schemeClr val="folHlink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B80000"/>
                </a:solidFill>
                <a:latin typeface="Courier New" panose="02070309020205020404" pitchFamily="49" charset="0"/>
              </a:rPr>
              <a:t>	*p = 77;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000" b="1" dirty="0">
              <a:solidFill>
                <a:schemeClr val="hlink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folHlink"/>
                </a:solidFill>
                <a:latin typeface="Courier New" panose="02070309020205020404" pitchFamily="49" charset="0"/>
              </a:rPr>
              <a:t>	return 0;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folHlink"/>
                </a:solidFill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85348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934200" y="2286000"/>
            <a:ext cx="1752600" cy="4343400"/>
          </a:xfrm>
          <a:prstGeom prst="rect">
            <a:avLst/>
          </a:prstGeom>
          <a:solidFill>
            <a:srgbClr val="F8F8F8"/>
          </a:solidFill>
          <a:ln w="28575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>
              <a:solidFill>
                <a:schemeClr val="accent2"/>
              </a:solidFill>
              <a:latin typeface="Courier New" panose="02070309020205020404" pitchFamily="49" charset="0"/>
            </a:endParaRPr>
          </a:p>
        </p:txBody>
      </p:sp>
      <p:sp>
        <p:nvSpPr>
          <p:cNvPr id="185349" name="Text Box 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226050" y="6302375"/>
            <a:ext cx="170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0xffffffff</a:t>
            </a:r>
          </a:p>
        </p:txBody>
      </p:sp>
      <p:sp>
        <p:nvSpPr>
          <p:cNvPr id="185350" name="Text Box 6"/>
          <p:cNvSpPr txBox="1">
            <a:spLocks noChangeArrowheads="1"/>
          </p:cNvSpPr>
          <p:nvPr/>
        </p:nvSpPr>
        <p:spPr bwMode="auto">
          <a:xfrm>
            <a:off x="6629400" y="2209800"/>
            <a:ext cx="381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0</a:t>
            </a:r>
          </a:p>
        </p:txBody>
      </p:sp>
      <p:sp>
        <p:nvSpPr>
          <p:cNvPr id="185351" name="Line 7"/>
          <p:cNvSpPr>
            <a:spLocks noChangeShapeType="1"/>
          </p:cNvSpPr>
          <p:nvPr/>
        </p:nvSpPr>
        <p:spPr bwMode="auto">
          <a:xfrm>
            <a:off x="6934200" y="28956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5352" name="Text Box 8"/>
          <p:cNvSpPr txBox="1">
            <a:spLocks noChangeArrowheads="1"/>
          </p:cNvSpPr>
          <p:nvPr/>
        </p:nvSpPr>
        <p:spPr bwMode="auto">
          <a:xfrm>
            <a:off x="7391400" y="2438400"/>
            <a:ext cx="1143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text</a:t>
            </a:r>
          </a:p>
        </p:txBody>
      </p:sp>
      <p:sp>
        <p:nvSpPr>
          <p:cNvPr id="185353" name="Text Box 9"/>
          <p:cNvSpPr txBox="1">
            <a:spLocks noChangeArrowheads="1"/>
          </p:cNvSpPr>
          <p:nvPr/>
        </p:nvSpPr>
        <p:spPr bwMode="auto">
          <a:xfrm>
            <a:off x="7391400" y="2895600"/>
            <a:ext cx="1066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data</a:t>
            </a:r>
          </a:p>
        </p:txBody>
      </p:sp>
      <p:sp>
        <p:nvSpPr>
          <p:cNvPr id="185354" name="Line 10"/>
          <p:cNvSpPr>
            <a:spLocks noChangeShapeType="1"/>
          </p:cNvSpPr>
          <p:nvPr/>
        </p:nvSpPr>
        <p:spPr bwMode="auto">
          <a:xfrm>
            <a:off x="6934200" y="33528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5355" name="Line 11"/>
          <p:cNvSpPr>
            <a:spLocks noChangeShapeType="1"/>
          </p:cNvSpPr>
          <p:nvPr/>
        </p:nvSpPr>
        <p:spPr bwMode="auto">
          <a:xfrm>
            <a:off x="6934200" y="38100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5356" name="Text Box 12"/>
          <p:cNvSpPr txBox="1">
            <a:spLocks noChangeArrowheads="1"/>
          </p:cNvSpPr>
          <p:nvPr/>
        </p:nvSpPr>
        <p:spPr bwMode="auto">
          <a:xfrm>
            <a:off x="7467600" y="3352800"/>
            <a:ext cx="76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bss</a:t>
            </a:r>
          </a:p>
        </p:txBody>
      </p:sp>
      <p:sp>
        <p:nvSpPr>
          <p:cNvPr id="185357" name="Text Box 13"/>
          <p:cNvSpPr txBox="1">
            <a:spLocks noChangeArrowheads="1"/>
          </p:cNvSpPr>
          <p:nvPr/>
        </p:nvSpPr>
        <p:spPr bwMode="auto">
          <a:xfrm>
            <a:off x="7391400" y="3810000"/>
            <a:ext cx="1143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heap</a:t>
            </a:r>
          </a:p>
        </p:txBody>
      </p:sp>
      <p:sp>
        <p:nvSpPr>
          <p:cNvPr id="185358" name="Line 14"/>
          <p:cNvSpPr>
            <a:spLocks noChangeShapeType="1"/>
          </p:cNvSpPr>
          <p:nvPr/>
        </p:nvSpPr>
        <p:spPr bwMode="auto">
          <a:xfrm>
            <a:off x="7772400" y="4419600"/>
            <a:ext cx="0" cy="2286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5359" name="Text Box 15"/>
          <p:cNvSpPr txBox="1">
            <a:spLocks noChangeArrowheads="1"/>
          </p:cNvSpPr>
          <p:nvPr/>
        </p:nvSpPr>
        <p:spPr bwMode="auto">
          <a:xfrm>
            <a:off x="7391400" y="6248400"/>
            <a:ext cx="1143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Courier New" panose="02070309020205020404" pitchFamily="49" charset="0"/>
              </a:rPr>
              <a:t>stack</a:t>
            </a:r>
          </a:p>
        </p:txBody>
      </p:sp>
      <p:sp>
        <p:nvSpPr>
          <p:cNvPr id="185360" name="Line 16"/>
          <p:cNvSpPr>
            <a:spLocks noChangeShapeType="1"/>
          </p:cNvSpPr>
          <p:nvPr/>
        </p:nvSpPr>
        <p:spPr bwMode="auto">
          <a:xfrm>
            <a:off x="6934200" y="53340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5361" name="Line 17"/>
          <p:cNvSpPr>
            <a:spLocks noChangeShapeType="1"/>
          </p:cNvSpPr>
          <p:nvPr/>
        </p:nvSpPr>
        <p:spPr bwMode="auto">
          <a:xfrm flipV="1">
            <a:off x="7772400" y="5105400"/>
            <a:ext cx="0" cy="2286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5362" name="Line 18"/>
          <p:cNvSpPr>
            <a:spLocks noChangeShapeType="1"/>
          </p:cNvSpPr>
          <p:nvPr/>
        </p:nvSpPr>
        <p:spPr bwMode="auto">
          <a:xfrm>
            <a:off x="6934200" y="44196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5363" name="Text Box 19"/>
          <p:cNvSpPr txBox="1">
            <a:spLocks noChangeArrowheads="1"/>
          </p:cNvSpPr>
          <p:nvPr/>
        </p:nvSpPr>
        <p:spPr bwMode="auto">
          <a:xfrm>
            <a:off x="7467600" y="4419600"/>
            <a:ext cx="1066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hlink"/>
                </a:solidFill>
                <a:latin typeface="Courier New" panose="02070309020205020404" pitchFamily="49" charset="0"/>
              </a:rPr>
              <a:t>$%#^&amp;</a:t>
            </a:r>
          </a:p>
        </p:txBody>
      </p:sp>
      <p:sp>
        <p:nvSpPr>
          <p:cNvPr id="185364" name="Line 20"/>
          <p:cNvSpPr>
            <a:spLocks noChangeShapeType="1"/>
          </p:cNvSpPr>
          <p:nvPr/>
        </p:nvSpPr>
        <p:spPr bwMode="auto">
          <a:xfrm>
            <a:off x="6934200" y="58674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5365" name="Text Box 21"/>
          <p:cNvSpPr txBox="1">
            <a:spLocks noChangeArrowheads="1"/>
          </p:cNvSpPr>
          <p:nvPr/>
        </p:nvSpPr>
        <p:spPr bwMode="auto">
          <a:xfrm>
            <a:off x="7620000" y="5562600"/>
            <a:ext cx="76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hlink"/>
                </a:solidFill>
                <a:latin typeface="Courier New" panose="02070309020205020404" pitchFamily="49" charset="0"/>
              </a:rPr>
              <a:t>p</a:t>
            </a:r>
          </a:p>
        </p:txBody>
      </p:sp>
      <p:sp>
        <p:nvSpPr>
          <p:cNvPr id="185366" name="Freeform 22"/>
          <p:cNvSpPr>
            <a:spLocks/>
          </p:cNvSpPr>
          <p:nvPr/>
        </p:nvSpPr>
        <p:spPr bwMode="auto">
          <a:xfrm>
            <a:off x="6502400" y="4572000"/>
            <a:ext cx="431800" cy="1143000"/>
          </a:xfrm>
          <a:custGeom>
            <a:avLst/>
            <a:gdLst>
              <a:gd name="T0" fmla="*/ 272 w 272"/>
              <a:gd name="T1" fmla="*/ 720 h 720"/>
              <a:gd name="T2" fmla="*/ 32 w 272"/>
              <a:gd name="T3" fmla="*/ 624 h 720"/>
              <a:gd name="T4" fmla="*/ 80 w 272"/>
              <a:gd name="T5" fmla="*/ 288 h 720"/>
              <a:gd name="T6" fmla="*/ 272 w 272"/>
              <a:gd name="T7" fmla="*/ 0 h 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2" h="720">
                <a:moveTo>
                  <a:pt x="272" y="720"/>
                </a:moveTo>
                <a:cubicBezTo>
                  <a:pt x="168" y="708"/>
                  <a:pt x="64" y="696"/>
                  <a:pt x="32" y="624"/>
                </a:cubicBezTo>
                <a:cubicBezTo>
                  <a:pt x="0" y="552"/>
                  <a:pt x="40" y="392"/>
                  <a:pt x="80" y="288"/>
                </a:cubicBezTo>
                <a:cubicBezTo>
                  <a:pt x="120" y="184"/>
                  <a:pt x="240" y="48"/>
                  <a:pt x="272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5367" name="Line 23"/>
          <p:cNvSpPr>
            <a:spLocks noChangeShapeType="1"/>
          </p:cNvSpPr>
          <p:nvPr/>
        </p:nvSpPr>
        <p:spPr bwMode="auto">
          <a:xfrm>
            <a:off x="6934200" y="56388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5368" name="Text Box 24"/>
          <p:cNvSpPr txBox="1">
            <a:spLocks noChangeArrowheads="1"/>
          </p:cNvSpPr>
          <p:nvPr/>
        </p:nvSpPr>
        <p:spPr bwMode="auto">
          <a:xfrm>
            <a:off x="7543800" y="5257800"/>
            <a:ext cx="76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hlink"/>
                </a:solidFill>
                <a:latin typeface="Courier New" panose="02070309020205020404" pitchFamily="49" charset="0"/>
              </a:rPr>
              <a:t>q</a:t>
            </a:r>
          </a:p>
        </p:txBody>
      </p:sp>
      <p:sp>
        <p:nvSpPr>
          <p:cNvPr id="185369" name="Freeform 25"/>
          <p:cNvSpPr>
            <a:spLocks/>
          </p:cNvSpPr>
          <p:nvPr/>
        </p:nvSpPr>
        <p:spPr bwMode="auto">
          <a:xfrm>
            <a:off x="8686800" y="4572000"/>
            <a:ext cx="304800" cy="914400"/>
          </a:xfrm>
          <a:custGeom>
            <a:avLst/>
            <a:gdLst>
              <a:gd name="T0" fmla="*/ 0 w 192"/>
              <a:gd name="T1" fmla="*/ 576 h 576"/>
              <a:gd name="T2" fmla="*/ 192 w 192"/>
              <a:gd name="T3" fmla="*/ 384 h 576"/>
              <a:gd name="T4" fmla="*/ 0 w 192"/>
              <a:gd name="T5" fmla="*/ 0 h 5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2" h="576">
                <a:moveTo>
                  <a:pt x="0" y="576"/>
                </a:moveTo>
                <a:cubicBezTo>
                  <a:pt x="96" y="528"/>
                  <a:pt x="192" y="480"/>
                  <a:pt x="192" y="384"/>
                </a:cubicBezTo>
                <a:cubicBezTo>
                  <a:pt x="192" y="288"/>
                  <a:pt x="32" y="64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39756" y="10668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23987" y="2723560"/>
            <a:ext cx="38993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i="1" dirty="0">
                <a:solidFill>
                  <a:srgbClr val="2C14DE"/>
                </a:solidFill>
              </a:rPr>
              <a:t>P</a:t>
            </a:r>
            <a:r>
              <a:rPr lang="en-US" altLang="zh-CN" sz="2400" b="1" i="1" dirty="0"/>
              <a:t> and </a:t>
            </a:r>
            <a:r>
              <a:rPr lang="en-US" altLang="zh-CN" sz="2400" b="1" i="1" dirty="0">
                <a:solidFill>
                  <a:srgbClr val="2C14DE"/>
                </a:solidFill>
              </a:rPr>
              <a:t>q</a:t>
            </a:r>
            <a:r>
              <a:rPr lang="en-US" altLang="zh-CN" sz="2400" b="1" i="1" dirty="0"/>
              <a:t> are </a:t>
            </a:r>
            <a:r>
              <a:rPr lang="en-US" altLang="zh-CN" sz="2400" b="1" i="1" dirty="0">
                <a:solidFill>
                  <a:srgbClr val="C00000"/>
                </a:solidFill>
              </a:rPr>
              <a:t>dangling pointers</a:t>
            </a:r>
          </a:p>
          <a:p>
            <a:r>
              <a:rPr lang="en-US" altLang="zh-CN" sz="2400" b="1" i="1" dirty="0"/>
              <a:t>WHY?</a:t>
            </a:r>
            <a:endParaRPr lang="en-US" sz="2400" i="1" dirty="0"/>
          </a:p>
        </p:txBody>
      </p:sp>
    </p:spTree>
    <p:extLst>
      <p:ext uri="{BB962C8B-B14F-4D97-AF65-F5344CB8AC3E}">
        <p14:creationId xmlns:p14="http://schemas.microsoft.com/office/powerpoint/2010/main" val="39116350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90600" y="0"/>
            <a:ext cx="8153400" cy="942975"/>
          </a:xfrm>
        </p:spPr>
        <p:txBody>
          <a:bodyPr/>
          <a:lstStyle/>
          <a:p>
            <a:pPr eaLnBrk="1" hangingPunct="1">
              <a:defRPr/>
            </a:pPr>
            <a:r>
              <a:rPr lang="de-DE" b="1" dirty="0" err="1">
                <a:solidFill>
                  <a:srgbClr val="B80000"/>
                </a:solidFill>
                <a:cs typeface="+mj-cs"/>
              </a:rPr>
              <a:t>Dangling</a:t>
            </a:r>
            <a:r>
              <a:rPr lang="de-DE" b="1" dirty="0">
                <a:solidFill>
                  <a:srgbClr val="B80000"/>
                </a:solidFill>
                <a:cs typeface="+mj-cs"/>
              </a:rPr>
              <a:t> Pointers</a:t>
            </a:r>
            <a:endParaRPr lang="fr-FR" b="1" dirty="0">
              <a:solidFill>
                <a:srgbClr val="B8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143000"/>
            <a:ext cx="8991600" cy="5638800"/>
          </a:xfrm>
        </p:spPr>
        <p:txBody>
          <a:bodyPr>
            <a:normAutofit/>
          </a:bodyPr>
          <a:lstStyle/>
          <a:p>
            <a:pPr algn="just" eaLnBrk="1" hangingPunct="1">
              <a:defRPr/>
            </a:pPr>
            <a:r>
              <a:rPr lang="en-US" sz="3000" dirty="0">
                <a:cs typeface="+mn-cs"/>
              </a:rPr>
              <a:t>The </a:t>
            </a:r>
            <a:r>
              <a:rPr lang="en-US" sz="3000" b="1" dirty="0">
                <a:solidFill>
                  <a:srgbClr val="B80000"/>
                </a:solidFill>
                <a:cs typeface="+mn-cs"/>
              </a:rPr>
              <a:t>delete operator </a:t>
            </a:r>
            <a:r>
              <a:rPr lang="en-US" sz="3000" b="1" dirty="0">
                <a:solidFill>
                  <a:srgbClr val="2C14DE"/>
                </a:solidFill>
                <a:cs typeface="+mn-cs"/>
              </a:rPr>
              <a:t>does not delete the pointer</a:t>
            </a:r>
            <a:r>
              <a:rPr lang="en-US" sz="3000" dirty="0">
                <a:cs typeface="+mn-cs"/>
              </a:rPr>
              <a:t>, it takes the </a:t>
            </a:r>
            <a:r>
              <a:rPr lang="en-US" sz="3000" b="1" dirty="0">
                <a:solidFill>
                  <a:srgbClr val="2C14DE"/>
                </a:solidFill>
                <a:cs typeface="+mn-cs"/>
              </a:rPr>
              <a:t>memory being pointed </a:t>
            </a:r>
            <a:r>
              <a:rPr lang="en-US" sz="3000" dirty="0">
                <a:cs typeface="+mn-cs"/>
              </a:rPr>
              <a:t>to and </a:t>
            </a:r>
            <a:r>
              <a:rPr lang="en-US" sz="3000" b="1" dirty="0">
                <a:solidFill>
                  <a:srgbClr val="2C14DE"/>
                </a:solidFill>
                <a:cs typeface="+mn-cs"/>
              </a:rPr>
              <a:t>returns</a:t>
            </a:r>
            <a:r>
              <a:rPr lang="en-US" sz="3000" dirty="0">
                <a:cs typeface="+mn-cs"/>
              </a:rPr>
              <a:t> it </a:t>
            </a:r>
            <a:r>
              <a:rPr lang="en-US" sz="3000" b="1" dirty="0">
                <a:solidFill>
                  <a:srgbClr val="2C14DE"/>
                </a:solidFill>
                <a:cs typeface="+mn-cs"/>
              </a:rPr>
              <a:t>to the heap</a:t>
            </a:r>
          </a:p>
          <a:p>
            <a:pPr algn="just" eaLnBrk="1" hangingPunct="1">
              <a:defRPr/>
            </a:pPr>
            <a:endParaRPr lang="en-US" sz="3000" dirty="0">
              <a:cs typeface="+mn-cs"/>
            </a:endParaRPr>
          </a:p>
          <a:p>
            <a:pPr algn="just" eaLnBrk="1" hangingPunct="1">
              <a:defRPr/>
            </a:pPr>
            <a:r>
              <a:rPr lang="en-US" sz="3000" dirty="0">
                <a:cs typeface="+mn-cs"/>
              </a:rPr>
              <a:t>It </a:t>
            </a:r>
            <a:r>
              <a:rPr lang="en-US" sz="3000" b="1" dirty="0">
                <a:cs typeface="+mn-cs"/>
              </a:rPr>
              <a:t>does not even change the contents </a:t>
            </a:r>
            <a:r>
              <a:rPr lang="en-US" sz="3000" dirty="0">
                <a:cs typeface="+mn-cs"/>
              </a:rPr>
              <a:t>of the </a:t>
            </a:r>
            <a:r>
              <a:rPr lang="en-US" sz="3000" b="1" dirty="0">
                <a:cs typeface="+mn-cs"/>
              </a:rPr>
              <a:t>pointer</a:t>
            </a:r>
          </a:p>
          <a:p>
            <a:pPr algn="just" eaLnBrk="1" hangingPunct="1">
              <a:defRPr/>
            </a:pPr>
            <a:endParaRPr lang="en-US" sz="3000" dirty="0">
              <a:cs typeface="+mn-cs"/>
            </a:endParaRPr>
          </a:p>
          <a:p>
            <a:pPr algn="just" eaLnBrk="1" hangingPunct="1">
              <a:defRPr/>
            </a:pPr>
            <a:r>
              <a:rPr lang="en-US" sz="3000" dirty="0">
                <a:cs typeface="+mn-cs"/>
              </a:rPr>
              <a:t>Since the memory </a:t>
            </a:r>
            <a:r>
              <a:rPr lang="en-US" sz="3000" b="1" dirty="0">
                <a:solidFill>
                  <a:srgbClr val="2C14DE"/>
                </a:solidFill>
                <a:cs typeface="+mn-cs"/>
              </a:rPr>
              <a:t>being pointed to is no longer available</a:t>
            </a:r>
            <a:r>
              <a:rPr lang="en-US" sz="3000" dirty="0">
                <a:cs typeface="+mn-cs"/>
              </a:rPr>
              <a:t> (and </a:t>
            </a:r>
            <a:r>
              <a:rPr lang="en-US" sz="3000" b="1" dirty="0">
                <a:cs typeface="+mn-cs"/>
              </a:rPr>
              <a:t>may even be given to another application</a:t>
            </a:r>
            <a:r>
              <a:rPr lang="en-US" sz="3000" dirty="0">
                <a:cs typeface="+mn-cs"/>
              </a:rPr>
              <a:t>), such a </a:t>
            </a:r>
            <a:r>
              <a:rPr lang="en-US" sz="3000" b="1" dirty="0">
                <a:solidFill>
                  <a:srgbClr val="2C14DE"/>
                </a:solidFill>
                <a:cs typeface="+mn-cs"/>
              </a:rPr>
              <a:t>pointer is said to be dangling</a:t>
            </a:r>
            <a:endParaRPr lang="fr-FR" sz="3000" b="1" dirty="0">
              <a:solidFill>
                <a:srgbClr val="2C14DE"/>
              </a:solidFill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8100" y="897256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11592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90600" y="0"/>
            <a:ext cx="8153400" cy="897256"/>
          </a:xfrm>
        </p:spPr>
        <p:txBody>
          <a:bodyPr/>
          <a:lstStyle/>
          <a:p>
            <a:pPr eaLnBrk="1" hangingPunct="1">
              <a:defRPr/>
            </a:pPr>
            <a:r>
              <a:rPr lang="en-US" b="1" dirty="0">
                <a:solidFill>
                  <a:srgbClr val="C00000"/>
                </a:solidFill>
                <a:cs typeface="+mj-cs"/>
              </a:rPr>
              <a:t>Avoiding a Dangling Pointer</a:t>
            </a:r>
            <a:endParaRPr lang="fr-FR" b="1" dirty="0">
              <a:solidFill>
                <a:srgbClr val="C0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fr-FR" b="1" dirty="0">
                <a:solidFill>
                  <a:srgbClr val="C00000"/>
                </a:solidFill>
              </a:rPr>
              <a:t>For Variables:</a:t>
            </a:r>
          </a:p>
          <a:p>
            <a:pPr marL="457200" lvl="1" indent="0">
              <a:buNone/>
              <a:defRPr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hu-HU" b="1" dirty="0">
                <a:latin typeface="Courier New" panose="02070309020205020404" pitchFamily="49" charset="0"/>
                <a:cs typeface="Courier New" panose="02070309020205020404" pitchFamily="49" charset="0"/>
              </a:rPr>
              <a:t>elete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v1</a:t>
            </a:r>
            <a:r>
              <a:rPr lang="hu-HU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457200" lvl="1" indent="0">
              <a:buNone/>
              <a:defRPr/>
            </a:pPr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</a:rPr>
              <a:t>v1 = NULL;</a:t>
            </a:r>
          </a:p>
          <a:p>
            <a:pPr eaLnBrk="1" hangingPunct="1">
              <a:defRPr/>
            </a:pPr>
            <a:endParaRPr lang="fr-FR" b="1" dirty="0">
              <a:solidFill>
                <a:srgbClr val="C00000"/>
              </a:solidFill>
              <a:cs typeface="+mn-cs"/>
            </a:endParaRPr>
          </a:p>
          <a:p>
            <a:pPr eaLnBrk="1" hangingPunct="1">
              <a:defRPr/>
            </a:pPr>
            <a:endParaRPr lang="fr-FR" b="1" dirty="0">
              <a:solidFill>
                <a:srgbClr val="C00000"/>
              </a:solidFill>
            </a:endParaRPr>
          </a:p>
          <a:p>
            <a:pPr eaLnBrk="1" hangingPunct="1">
              <a:defRPr/>
            </a:pPr>
            <a:r>
              <a:rPr lang="fr-FR" b="1" dirty="0">
                <a:solidFill>
                  <a:srgbClr val="C00000"/>
                </a:solidFill>
                <a:cs typeface="+mn-cs"/>
              </a:rPr>
              <a:t>For </a:t>
            </a:r>
            <a:r>
              <a:rPr lang="fr-FR" b="1" dirty="0" err="1">
                <a:solidFill>
                  <a:srgbClr val="C00000"/>
                </a:solidFill>
                <a:cs typeface="+mn-cs"/>
              </a:rPr>
              <a:t>Arrays</a:t>
            </a:r>
            <a:r>
              <a:rPr lang="fr-FR" b="1" dirty="0">
                <a:solidFill>
                  <a:srgbClr val="C00000"/>
                </a:solidFill>
                <a:cs typeface="+mn-cs"/>
              </a:rPr>
              <a:t>:</a:t>
            </a:r>
          </a:p>
          <a:p>
            <a:pPr marL="457200" lvl="1" indent="0" eaLnBrk="1" hangingPunct="1">
              <a:buNone/>
              <a:defRPr/>
            </a:pPr>
            <a:r>
              <a:rPr lang="hu-HU" b="1" dirty="0">
                <a:latin typeface="Courier New" panose="02070309020205020404" pitchFamily="49" charset="0"/>
                <a:cs typeface="Courier New" panose="02070309020205020404" pitchFamily="49" charset="0"/>
              </a:rPr>
              <a:t>delete[ ] a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rr</a:t>
            </a:r>
            <a:r>
              <a:rPr lang="hu-HU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457200" lvl="1" indent="0" eaLnBrk="1" hangingPunct="1">
              <a:buNone/>
              <a:defRPr/>
            </a:pPr>
            <a:r>
              <a:rPr lang="fr-F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</a:rPr>
              <a:t> = NULL;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" y="897256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2401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90600" y="0"/>
            <a:ext cx="8153400" cy="897256"/>
          </a:xfrm>
        </p:spPr>
        <p:txBody>
          <a:bodyPr/>
          <a:lstStyle/>
          <a:p>
            <a:pPr eaLnBrk="1" hangingPunct="1">
              <a:defRPr/>
            </a:pPr>
            <a:r>
              <a:rPr lang="en-US" b="1" dirty="0">
                <a:solidFill>
                  <a:srgbClr val="C00000"/>
                </a:solidFill>
                <a:cs typeface="+mj-cs"/>
              </a:rPr>
              <a:t>Returning Memory to the Heap</a:t>
            </a:r>
            <a:endParaRPr lang="fr-FR" b="1" dirty="0">
              <a:solidFill>
                <a:srgbClr val="C0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1" dirty="0">
                <a:solidFill>
                  <a:srgbClr val="C00000"/>
                </a:solidFill>
                <a:cs typeface="+mn-cs"/>
              </a:rPr>
              <a:t>Remember:</a:t>
            </a:r>
          </a:p>
          <a:p>
            <a:pPr lvl="1" eaLnBrk="1" hangingPunct="1">
              <a:defRPr/>
            </a:pPr>
            <a:r>
              <a:rPr lang="en-US" dirty="0"/>
              <a:t>Return </a:t>
            </a:r>
            <a:r>
              <a:rPr lang="en-US" b="1" dirty="0">
                <a:solidFill>
                  <a:srgbClr val="2C14DE"/>
                </a:solidFill>
              </a:rPr>
              <a:t>memory to the heap before </a:t>
            </a:r>
            <a:r>
              <a:rPr lang="en-US" b="1" i="1" dirty="0" err="1"/>
              <a:t>undangling</a:t>
            </a:r>
            <a:r>
              <a:rPr lang="en-US" b="1" dirty="0"/>
              <a:t> the pointer</a:t>
            </a:r>
          </a:p>
          <a:p>
            <a:pPr lvl="1" eaLnBrk="1" hangingPunct="1">
              <a:defRPr/>
            </a:pPr>
            <a:endParaRPr lang="en-US" dirty="0"/>
          </a:p>
          <a:p>
            <a:pPr eaLnBrk="1" hangingPunct="1">
              <a:defRPr/>
            </a:pPr>
            <a:r>
              <a:rPr lang="en-US" dirty="0">
                <a:cs typeface="+mn-cs"/>
              </a:rPr>
              <a:t>What's Wrong with the Following:</a:t>
            </a:r>
          </a:p>
          <a:p>
            <a:pPr marL="457200" lvl="1" indent="0" eaLnBrk="1" hangingPunct="1">
              <a:buNone/>
              <a:defRPr/>
            </a:pPr>
            <a:r>
              <a:rPr lang="en-US" b="1" dirty="0">
                <a:solidFill>
                  <a:srgbClr val="2C14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b="1" dirty="0" err="1">
                <a:solidFill>
                  <a:srgbClr val="2C14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b="1" dirty="0">
                <a:solidFill>
                  <a:srgbClr val="2C14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NULL;</a:t>
            </a:r>
          </a:p>
          <a:p>
            <a:pPr marL="457200" lvl="1" indent="0" eaLnBrk="1" hangingPunct="1">
              <a:buNone/>
              <a:defRPr/>
            </a:pPr>
            <a:r>
              <a:rPr lang="en-US" b="1" dirty="0">
                <a:solidFill>
                  <a:srgbClr val="2C14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delete </a:t>
            </a:r>
            <a:r>
              <a:rPr lang="en-US" b="1" dirty="0" err="1">
                <a:solidFill>
                  <a:srgbClr val="2C14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b="1" dirty="0">
                <a:solidFill>
                  <a:srgbClr val="2C14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eaLnBrk="1" hangingPunct="1">
              <a:defRPr/>
            </a:pPr>
            <a:endParaRPr lang="fr-FR" dirty="0"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8100" y="897256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40960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0"/>
            <a:ext cx="8153400" cy="1112519"/>
          </a:xfrm>
        </p:spPr>
        <p:txBody>
          <a:bodyPr>
            <a:normAutofit/>
          </a:bodyPr>
          <a:lstStyle/>
          <a:p>
            <a:r>
              <a:rPr lang="en-US" altLang="zh-CN" sz="4800" b="1" dirty="0">
                <a:solidFill>
                  <a:srgbClr val="C00000"/>
                </a:solidFill>
              </a:rPr>
              <a:t>Memory Leaking</a:t>
            </a:r>
          </a:p>
        </p:txBody>
      </p:sp>
      <p:sp>
        <p:nvSpPr>
          <p:cNvPr id="167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95400"/>
            <a:ext cx="8763000" cy="5410200"/>
          </a:xfrm>
        </p:spPr>
        <p:txBody>
          <a:bodyPr/>
          <a:lstStyle/>
          <a:p>
            <a:pPr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 err="1">
                <a:latin typeface="Courier New" panose="02070309020205020404" pitchFamily="49" charset="0"/>
              </a:rPr>
              <a:t>int</a:t>
            </a:r>
            <a:r>
              <a:rPr lang="en-US" altLang="zh-CN" sz="2000" b="1" dirty="0">
                <a:latin typeface="Courier New" panose="02070309020205020404" pitchFamily="49" charset="0"/>
              </a:rPr>
              <a:t> main()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Courier New" panose="02070309020205020404" pitchFamily="49" charset="0"/>
              </a:rPr>
              <a:t>{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000" b="1" dirty="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Courier New" panose="02070309020205020404" pitchFamily="49" charset="0"/>
              </a:rPr>
              <a:t>  </a:t>
            </a:r>
            <a:r>
              <a:rPr lang="en-US" altLang="zh-CN" sz="2000" b="1" dirty="0" err="1">
                <a:latin typeface="Courier New" panose="02070309020205020404" pitchFamily="49" charset="0"/>
              </a:rPr>
              <a:t>int</a:t>
            </a:r>
            <a:r>
              <a:rPr lang="en-US" altLang="zh-CN" sz="2000" b="1" dirty="0">
                <a:latin typeface="Courier New" panose="02070309020205020404" pitchFamily="49" charset="0"/>
              </a:rPr>
              <a:t> *p;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Courier New" panose="02070309020205020404" pitchFamily="49" charset="0"/>
              </a:rPr>
              <a:t>  </a:t>
            </a:r>
          </a:p>
          <a:p>
            <a:pPr>
              <a:lnSpc>
                <a:spcPct val="80000"/>
              </a:lnSpc>
              <a:spcBef>
                <a:spcPct val="0"/>
              </a:spcBef>
              <a:buNone/>
            </a:pPr>
            <a:r>
              <a:rPr lang="en-US" altLang="zh-CN" sz="2000" b="1" dirty="0">
                <a:latin typeface="Courier New" panose="02070309020205020404" pitchFamily="49" charset="0"/>
              </a:rPr>
              <a:t>  p = new </a:t>
            </a:r>
            <a:r>
              <a:rPr lang="en-US" altLang="zh-CN" sz="2000" b="1" dirty="0" err="1">
                <a:latin typeface="Courier New" panose="02070309020205020404" pitchFamily="49" charset="0"/>
              </a:rPr>
              <a:t>int</a:t>
            </a:r>
            <a:r>
              <a:rPr lang="en-US" altLang="zh-CN" sz="2000" b="1" dirty="0">
                <a:latin typeface="Courier New" panose="02070309020205020404" pitchFamily="49" charset="0"/>
              </a:rPr>
              <a:t>; </a:t>
            </a:r>
          </a:p>
          <a:p>
            <a:pPr>
              <a:lnSpc>
                <a:spcPct val="80000"/>
              </a:lnSpc>
              <a:spcBef>
                <a:spcPct val="0"/>
              </a:spcBef>
              <a:buNone/>
            </a:pPr>
            <a:endParaRPr lang="en-US" altLang="zh-CN" sz="2000" b="1" dirty="0">
              <a:solidFill>
                <a:schemeClr val="folHlink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rgbClr val="2C14DE"/>
                </a:solidFill>
                <a:latin typeface="Courier New" panose="02070309020205020404" pitchFamily="49" charset="0"/>
              </a:rPr>
              <a:t>  // make the above space unreachable; How? </a:t>
            </a:r>
          </a:p>
          <a:p>
            <a:pPr>
              <a:lnSpc>
                <a:spcPct val="80000"/>
              </a:lnSpc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chemeClr val="folHlink"/>
                </a:solidFill>
                <a:latin typeface="Courier New" panose="02070309020205020404" pitchFamily="49" charset="0"/>
              </a:rPr>
              <a:t>  </a:t>
            </a:r>
            <a:r>
              <a:rPr lang="en-US" altLang="zh-CN" sz="2000" b="1" dirty="0">
                <a:solidFill>
                  <a:srgbClr val="B80000"/>
                </a:solidFill>
                <a:latin typeface="Courier New" panose="02070309020205020404" pitchFamily="49" charset="0"/>
              </a:rPr>
              <a:t>p = new </a:t>
            </a:r>
            <a:r>
              <a:rPr lang="en-US" altLang="zh-CN" sz="2000" b="1" dirty="0" err="1">
                <a:solidFill>
                  <a:srgbClr val="B80000"/>
                </a:solidFill>
                <a:latin typeface="Courier New" panose="02070309020205020404" pitchFamily="49" charset="0"/>
              </a:rPr>
              <a:t>int</a:t>
            </a:r>
            <a:r>
              <a:rPr lang="en-US" altLang="zh-CN" sz="2000" b="1" dirty="0">
                <a:solidFill>
                  <a:srgbClr val="B80000"/>
                </a:solidFill>
                <a:latin typeface="Courier New" panose="02070309020205020404" pitchFamily="49" charset="0"/>
              </a:rPr>
              <a:t>; </a:t>
            </a:r>
          </a:p>
          <a:p>
            <a:pPr>
              <a:lnSpc>
                <a:spcPct val="80000"/>
              </a:lnSpc>
              <a:spcBef>
                <a:spcPct val="0"/>
              </a:spcBef>
              <a:buNone/>
            </a:pPr>
            <a:endParaRPr lang="en-US" altLang="zh-CN" sz="2000" b="1" dirty="0">
              <a:solidFill>
                <a:schemeClr val="folHlink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None/>
            </a:pPr>
            <a:endParaRPr lang="en-US" altLang="zh-CN" sz="2000" b="1" dirty="0">
              <a:solidFill>
                <a:schemeClr val="folHlink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rgbClr val="2C14DE"/>
                </a:solidFill>
                <a:latin typeface="Courier New" panose="02070309020205020404" pitchFamily="49" charset="0"/>
              </a:rPr>
              <a:t>  // even worse…; WHY?</a:t>
            </a:r>
          </a:p>
          <a:p>
            <a:pPr>
              <a:lnSpc>
                <a:spcPct val="80000"/>
              </a:lnSpc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rgbClr val="B80000"/>
                </a:solidFill>
                <a:latin typeface="Courier New" panose="02070309020205020404" pitchFamily="49" charset="0"/>
              </a:rPr>
              <a:t>  while (1)</a:t>
            </a:r>
          </a:p>
          <a:p>
            <a:pPr>
              <a:lnSpc>
                <a:spcPct val="80000"/>
              </a:lnSpc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rgbClr val="B80000"/>
                </a:solidFill>
                <a:latin typeface="Courier New" panose="02070309020205020404" pitchFamily="49" charset="0"/>
              </a:rPr>
              <a:t>     p = new </a:t>
            </a:r>
            <a:r>
              <a:rPr lang="en-US" altLang="zh-CN" sz="2000" b="1" dirty="0" err="1">
                <a:solidFill>
                  <a:srgbClr val="B80000"/>
                </a:solidFill>
                <a:latin typeface="Courier New" panose="02070309020205020404" pitchFamily="49" charset="0"/>
              </a:rPr>
              <a:t>int</a:t>
            </a:r>
            <a:r>
              <a:rPr lang="en-US" altLang="zh-CN" sz="2000" b="1" dirty="0">
                <a:solidFill>
                  <a:srgbClr val="B80000"/>
                </a:solidFill>
                <a:latin typeface="Courier New" panose="02070309020205020404" pitchFamily="49" charset="0"/>
              </a:rPr>
              <a:t>; 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folHlink"/>
                </a:solidFill>
                <a:latin typeface="Courier New" panose="02070309020205020404" pitchFamily="49" charset="0"/>
              </a:rPr>
              <a:t>  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Courier New" panose="02070309020205020404" pitchFamily="49" charset="0"/>
              </a:rPr>
              <a:t>  return 0;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56" y="10668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3616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76200"/>
            <a:ext cx="8153400" cy="838200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</a:rPr>
              <a:t>Memory Leaking</a:t>
            </a:r>
          </a:p>
        </p:txBody>
      </p:sp>
      <p:sp>
        <p:nvSpPr>
          <p:cNvPr id="175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19200"/>
            <a:ext cx="8610600" cy="5486400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400" b="1" dirty="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Courier New" panose="02070309020205020404" pitchFamily="49" charset="0"/>
              </a:rPr>
              <a:t>void f ( )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Courier New" panose="02070309020205020404" pitchFamily="49" charset="0"/>
              </a:rPr>
              <a:t>{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Courier New" panose="02070309020205020404" pitchFamily="49" charset="0"/>
              </a:rPr>
              <a:t>    </a:t>
            </a:r>
            <a:r>
              <a:rPr lang="en-US" altLang="zh-CN" sz="2400" b="1" dirty="0" err="1">
                <a:latin typeface="Courier New" panose="02070309020205020404" pitchFamily="49" charset="0"/>
              </a:rPr>
              <a:t>int</a:t>
            </a:r>
            <a:r>
              <a:rPr lang="en-US" altLang="zh-CN" sz="2400" b="1" dirty="0">
                <a:latin typeface="Courier New" panose="02070309020205020404" pitchFamily="49" charset="0"/>
              </a:rPr>
              <a:t> *p;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Courier New" panose="02070309020205020404" pitchFamily="49" charset="0"/>
              </a:rPr>
              <a:t>    </a:t>
            </a:r>
            <a:r>
              <a:rPr lang="en-US" altLang="zh-CN" sz="2400" b="1" dirty="0">
                <a:solidFill>
                  <a:srgbClr val="2C14DE"/>
                </a:solidFill>
                <a:latin typeface="Courier New" panose="02070309020205020404" pitchFamily="49" charset="0"/>
              </a:rPr>
              <a:t>p = new </a:t>
            </a:r>
            <a:r>
              <a:rPr lang="en-US" altLang="zh-CN" sz="2400" b="1" dirty="0" err="1">
                <a:solidFill>
                  <a:srgbClr val="2C14DE"/>
                </a:solidFill>
                <a:latin typeface="Courier New" panose="02070309020205020404" pitchFamily="49" charset="0"/>
              </a:rPr>
              <a:t>int</a:t>
            </a:r>
            <a:r>
              <a:rPr lang="en-US" altLang="zh-CN" sz="2400" b="1" dirty="0">
                <a:solidFill>
                  <a:srgbClr val="2C14DE"/>
                </a:solidFill>
                <a:latin typeface="Courier New" panose="02070309020205020404" pitchFamily="49" charset="0"/>
              </a:rPr>
              <a:t>; 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400" b="1" dirty="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Courier New" panose="02070309020205020404" pitchFamily="49" charset="0"/>
              </a:rPr>
              <a:t>    return;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Courier New" panose="02070309020205020404" pitchFamily="49" charset="0"/>
              </a:rPr>
              <a:t>}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400" b="1" dirty="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400" b="1" dirty="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400" b="1" dirty="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 err="1">
                <a:latin typeface="Courier New" panose="02070309020205020404" pitchFamily="49" charset="0"/>
              </a:rPr>
              <a:t>int</a:t>
            </a:r>
            <a:r>
              <a:rPr lang="en-US" altLang="zh-CN" sz="2400" b="1" dirty="0">
                <a:latin typeface="Courier New" panose="02070309020205020404" pitchFamily="49" charset="0"/>
              </a:rPr>
              <a:t> main ( )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Courier New" panose="02070309020205020404" pitchFamily="49" charset="0"/>
              </a:rPr>
              <a:t>{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Courier New" panose="02070309020205020404" pitchFamily="49" charset="0"/>
              </a:rPr>
              <a:t>    f ( );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Courier New" panose="02070309020205020404" pitchFamily="49" charset="0"/>
              </a:rPr>
              <a:t>    return 0;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4" name="Rectangle 3"/>
          <p:cNvSpPr/>
          <p:nvPr/>
        </p:nvSpPr>
        <p:spPr>
          <a:xfrm>
            <a:off x="-9808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6087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da-DK" b="1" dirty="0">
                <a:solidFill>
                  <a:srgbClr val="C00000"/>
                </a:solidFill>
                <a:cs typeface="+mj-cs"/>
              </a:rPr>
              <a:t>Memory </a:t>
            </a:r>
            <a:r>
              <a:rPr lang="da-DK" b="1" dirty="0" err="1">
                <a:solidFill>
                  <a:srgbClr val="C00000"/>
                </a:solidFill>
                <a:cs typeface="+mj-cs"/>
              </a:rPr>
              <a:t>Leaks</a:t>
            </a:r>
            <a:endParaRPr lang="fr-FR" b="1" dirty="0">
              <a:solidFill>
                <a:srgbClr val="C0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n-cs"/>
              </a:rPr>
              <a:t>Memory </a:t>
            </a:r>
            <a:r>
              <a:rPr lang="en-US" b="1" i="1" dirty="0">
                <a:solidFill>
                  <a:srgbClr val="C00000"/>
                </a:solidFill>
                <a:cs typeface="+mn-cs"/>
              </a:rPr>
              <a:t>leaks</a:t>
            </a:r>
            <a:r>
              <a:rPr lang="en-US" dirty="0">
                <a:solidFill>
                  <a:srgbClr val="C00000"/>
                </a:solidFill>
                <a:cs typeface="+mn-cs"/>
              </a:rPr>
              <a:t> </a:t>
            </a:r>
            <a:r>
              <a:rPr lang="en-US" dirty="0">
                <a:cs typeface="+mn-cs"/>
              </a:rPr>
              <a:t>when it is </a:t>
            </a:r>
            <a:r>
              <a:rPr lang="en-US" b="1" dirty="0">
                <a:solidFill>
                  <a:srgbClr val="2C14DE"/>
                </a:solidFill>
                <a:cs typeface="+mn-cs"/>
              </a:rPr>
              <a:t>allocated from the heap </a:t>
            </a:r>
            <a:r>
              <a:rPr lang="en-US" dirty="0">
                <a:cs typeface="+mn-cs"/>
              </a:rPr>
              <a:t>using the </a:t>
            </a:r>
            <a:r>
              <a:rPr lang="en-US" b="1" dirty="0">
                <a:solidFill>
                  <a:srgbClr val="2C14DE"/>
                </a:solidFill>
                <a:cs typeface="+mn-cs"/>
              </a:rPr>
              <a:t>new</a:t>
            </a:r>
            <a:r>
              <a:rPr lang="en-US" dirty="0">
                <a:solidFill>
                  <a:srgbClr val="2C14DE"/>
                </a:solidFill>
                <a:cs typeface="+mn-cs"/>
              </a:rPr>
              <a:t> </a:t>
            </a:r>
            <a:r>
              <a:rPr lang="en-US" dirty="0">
                <a:cs typeface="+mn-cs"/>
              </a:rPr>
              <a:t>operator but </a:t>
            </a:r>
            <a:r>
              <a:rPr lang="en-US" b="1" dirty="0">
                <a:solidFill>
                  <a:srgbClr val="2C14DE"/>
                </a:solidFill>
                <a:cs typeface="+mn-cs"/>
              </a:rPr>
              <a:t>not returned to the heap</a:t>
            </a:r>
            <a:r>
              <a:rPr lang="en-US" dirty="0">
                <a:cs typeface="+mn-cs"/>
              </a:rPr>
              <a:t> using the </a:t>
            </a:r>
            <a:r>
              <a:rPr lang="en-US" b="1" dirty="0">
                <a:solidFill>
                  <a:srgbClr val="2C14DE"/>
                </a:solidFill>
                <a:cs typeface="+mn-cs"/>
              </a:rPr>
              <a:t>delete</a:t>
            </a:r>
            <a:r>
              <a:rPr lang="en-US" dirty="0">
                <a:solidFill>
                  <a:srgbClr val="2C14DE"/>
                </a:solidFill>
                <a:cs typeface="+mn-cs"/>
              </a:rPr>
              <a:t> </a:t>
            </a:r>
            <a:r>
              <a:rPr lang="en-US" b="1" dirty="0">
                <a:cs typeface="+mn-cs"/>
              </a:rPr>
              <a:t>operator</a:t>
            </a:r>
            <a:endParaRPr lang="fr-FR" b="1" dirty="0"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8100" y="897256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71024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0"/>
            <a:ext cx="8153400" cy="883919"/>
          </a:xfrm>
        </p:spPr>
        <p:txBody>
          <a:bodyPr>
            <a:noAutofit/>
          </a:bodyPr>
          <a:lstStyle/>
          <a:p>
            <a:r>
              <a:rPr lang="en-US" altLang="zh-CN" sz="3600" b="1" dirty="0">
                <a:solidFill>
                  <a:srgbClr val="C00000"/>
                </a:solidFill>
              </a:rPr>
              <a:t>Memory Leaking and Dangling Pointers</a:t>
            </a:r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856" y="1295400"/>
            <a:ext cx="8991600" cy="5334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b="1" dirty="0">
                <a:solidFill>
                  <a:srgbClr val="C00000"/>
                </a:solidFill>
              </a:rPr>
              <a:t>Dangling pointers </a:t>
            </a:r>
            <a:r>
              <a:rPr lang="en-US" altLang="zh-CN" dirty="0"/>
              <a:t>and </a:t>
            </a:r>
            <a:r>
              <a:rPr lang="en-US" altLang="zh-CN" b="1" dirty="0">
                <a:solidFill>
                  <a:srgbClr val="C00000"/>
                </a:solidFill>
              </a:rPr>
              <a:t>memory leaking </a:t>
            </a:r>
            <a:r>
              <a:rPr lang="en-US" altLang="zh-CN" dirty="0"/>
              <a:t>are </a:t>
            </a:r>
            <a:r>
              <a:rPr lang="en-US" altLang="zh-CN" b="1" u="sng" dirty="0">
                <a:solidFill>
                  <a:srgbClr val="FF0000"/>
                </a:solidFill>
              </a:rPr>
              <a:t>evil sources of bugs</a:t>
            </a:r>
            <a:r>
              <a:rPr lang="en-US" altLang="zh-CN" dirty="0"/>
              <a:t>:</a:t>
            </a:r>
          </a:p>
          <a:p>
            <a:pPr lvl="1">
              <a:lnSpc>
                <a:spcPct val="90000"/>
              </a:lnSpc>
            </a:pPr>
            <a:r>
              <a:rPr lang="en-US" altLang="zh-CN" b="1" dirty="0">
                <a:solidFill>
                  <a:srgbClr val="2C14DE"/>
                </a:solidFill>
              </a:rPr>
              <a:t>hard to debug</a:t>
            </a:r>
          </a:p>
          <a:p>
            <a:pPr lvl="2">
              <a:lnSpc>
                <a:spcPct val="90000"/>
              </a:lnSpc>
            </a:pPr>
            <a:r>
              <a:rPr lang="en-US" altLang="zh-CN" sz="2800" dirty="0"/>
              <a:t>may appear after a long time of run</a:t>
            </a:r>
          </a:p>
          <a:p>
            <a:pPr lvl="2">
              <a:lnSpc>
                <a:spcPct val="90000"/>
              </a:lnSpc>
            </a:pPr>
            <a:r>
              <a:rPr lang="en-US" altLang="zh-CN" sz="2800" dirty="0"/>
              <a:t>may far from the bug point</a:t>
            </a:r>
          </a:p>
          <a:p>
            <a:pPr lvl="2">
              <a:lnSpc>
                <a:spcPct val="90000"/>
              </a:lnSpc>
            </a:pP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en-US" altLang="zh-CN" b="1" dirty="0">
                <a:solidFill>
                  <a:srgbClr val="2C14DE"/>
                </a:solidFill>
              </a:rPr>
              <a:t>hard to prevent</a:t>
            </a:r>
          </a:p>
          <a:p>
            <a:pPr lvl="1">
              <a:lnSpc>
                <a:spcPct val="90000"/>
              </a:lnSpc>
            </a:pPr>
            <a:endParaRPr lang="en-US" altLang="zh-CN" b="1" dirty="0">
              <a:solidFill>
                <a:srgbClr val="2C14DE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zh-CN" sz="2800" b="1" i="1" dirty="0">
                <a:solidFill>
                  <a:srgbClr val="008000"/>
                </a:solidFill>
              </a:rPr>
              <a:t>What should be the good programming practices while using Pointers?</a:t>
            </a:r>
          </a:p>
          <a:p>
            <a:pPr lvl="2">
              <a:lnSpc>
                <a:spcPct val="90000"/>
              </a:lnSpc>
            </a:pPr>
            <a:endParaRPr lang="en-US" altLang="zh-CN" dirty="0"/>
          </a:p>
          <a:p>
            <a:pPr marL="0" indent="0">
              <a:lnSpc>
                <a:spcPct val="90000"/>
              </a:lnSpc>
              <a:buNone/>
            </a:pPr>
            <a:endParaRPr lang="en-US" altLang="zh-CN" dirty="0"/>
          </a:p>
        </p:txBody>
      </p:sp>
      <p:sp>
        <p:nvSpPr>
          <p:cNvPr id="4" name="Rectangle 3"/>
          <p:cNvSpPr/>
          <p:nvPr/>
        </p:nvSpPr>
        <p:spPr>
          <a:xfrm>
            <a:off x="0" y="883919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9060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-1"/>
            <a:ext cx="8229600" cy="96012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Pointers Data-Type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992" y="1066800"/>
            <a:ext cx="9076008" cy="5715000"/>
          </a:xfrm>
        </p:spPr>
        <p:txBody>
          <a:bodyPr>
            <a:noAutofit/>
          </a:bodyPr>
          <a:lstStyle/>
          <a:p>
            <a:r>
              <a:rPr lang="en-US" b="1" u="sng" dirty="0"/>
              <a:t>Question:</a:t>
            </a:r>
            <a:r>
              <a:rPr lang="en-US" dirty="0"/>
              <a:t> </a:t>
            </a:r>
          </a:p>
          <a:p>
            <a:pPr algn="ctr">
              <a:buNone/>
            </a:pPr>
            <a:r>
              <a:rPr lang="en-US" dirty="0"/>
              <a:t>	</a:t>
            </a:r>
          </a:p>
          <a:p>
            <a:pPr>
              <a:buNone/>
            </a:pPr>
            <a:r>
              <a:rPr lang="en-US" dirty="0">
                <a:solidFill>
                  <a:srgbClr val="2F1BC7"/>
                </a:solidFill>
              </a:rPr>
              <a:t>	</a:t>
            </a:r>
            <a:r>
              <a:rPr lang="en-US" b="1" dirty="0">
                <a:solidFill>
                  <a:srgbClr val="2F1BC7"/>
                </a:solidFill>
              </a:rPr>
              <a:t>Why</a:t>
            </a:r>
            <a:r>
              <a:rPr lang="en-US" b="1" dirty="0"/>
              <a:t> is it </a:t>
            </a:r>
            <a:r>
              <a:rPr lang="en-US" b="1" dirty="0">
                <a:solidFill>
                  <a:srgbClr val="2F1BC7"/>
                </a:solidFill>
              </a:rPr>
              <a:t>important</a:t>
            </a:r>
            <a:r>
              <a:rPr lang="en-US" b="1" dirty="0"/>
              <a:t> to </a:t>
            </a:r>
            <a:r>
              <a:rPr lang="en-US" b="1" dirty="0">
                <a:solidFill>
                  <a:srgbClr val="2F1BC7"/>
                </a:solidFill>
              </a:rPr>
              <a:t>declare</a:t>
            </a:r>
            <a:r>
              <a:rPr lang="en-US" b="1" dirty="0"/>
              <a:t> the </a:t>
            </a:r>
            <a:r>
              <a:rPr lang="en-US" b="1" dirty="0">
                <a:solidFill>
                  <a:srgbClr val="2F1BC7"/>
                </a:solidFill>
              </a:rPr>
              <a:t>type</a:t>
            </a:r>
            <a:r>
              <a:rPr lang="en-US" b="1" dirty="0"/>
              <a:t> of the </a:t>
            </a:r>
            <a:r>
              <a:rPr lang="en-US" b="1" dirty="0">
                <a:solidFill>
                  <a:srgbClr val="2F1BC7"/>
                </a:solidFill>
              </a:rPr>
              <a:t>variable</a:t>
            </a:r>
            <a:r>
              <a:rPr lang="en-US" b="1" dirty="0"/>
              <a:t> that </a:t>
            </a:r>
            <a:r>
              <a:rPr lang="en-US" b="1" dirty="0">
                <a:solidFill>
                  <a:srgbClr val="2F1BC7"/>
                </a:solidFill>
              </a:rPr>
              <a:t>a pointer points to</a:t>
            </a:r>
            <a:r>
              <a:rPr lang="en-US" b="1" dirty="0"/>
              <a:t>? </a:t>
            </a:r>
            <a:br>
              <a:rPr lang="en-US" b="1" dirty="0"/>
            </a:br>
            <a:endParaRPr lang="en-US" b="1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	Aren’t </a:t>
            </a:r>
            <a:r>
              <a:rPr lang="en-US" b="1" u="sng" dirty="0">
                <a:solidFill>
                  <a:srgbClr val="FF0000"/>
                </a:solidFill>
              </a:rPr>
              <a:t>all memory addresses of the same length</a:t>
            </a:r>
            <a:r>
              <a:rPr lang="en-US" dirty="0"/>
              <a:t>?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2929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915154" y="-15090"/>
            <a:ext cx="8229600" cy="929489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Pointers Type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992" y="1084380"/>
            <a:ext cx="8991600" cy="5562600"/>
          </a:xfrm>
        </p:spPr>
        <p:txBody>
          <a:bodyPr>
            <a:noAutofit/>
          </a:bodyPr>
          <a:lstStyle/>
          <a:p>
            <a:r>
              <a:rPr lang="en-US" b="1" u="sng" dirty="0"/>
              <a:t>Answer: </a:t>
            </a:r>
          </a:p>
          <a:p>
            <a:pPr>
              <a:buNone/>
            </a:pPr>
            <a:r>
              <a:rPr lang="en-US" sz="3000" dirty="0"/>
              <a:t>	-  </a:t>
            </a:r>
            <a:r>
              <a:rPr lang="en-US" sz="3000" b="1" dirty="0">
                <a:solidFill>
                  <a:srgbClr val="008000"/>
                </a:solidFill>
              </a:rPr>
              <a:t>All memory addresses are of the same length</a:t>
            </a:r>
            <a:r>
              <a:rPr lang="en-US" sz="3000" dirty="0"/>
              <a:t>, </a:t>
            </a:r>
          </a:p>
          <a:p>
            <a:pPr lvl="1"/>
            <a:r>
              <a:rPr lang="en-US" sz="3000" dirty="0"/>
              <a:t>However, with </a:t>
            </a:r>
            <a:r>
              <a:rPr lang="en-US" sz="3000" b="1" dirty="0">
                <a:solidFill>
                  <a:srgbClr val="2F1BC7"/>
                </a:solidFill>
              </a:rPr>
              <a:t>operation</a:t>
            </a:r>
            <a:r>
              <a:rPr lang="en-US" sz="3000" dirty="0"/>
              <a:t> </a:t>
            </a:r>
            <a:r>
              <a:rPr lang="en-US" sz="3000" b="1" dirty="0">
                <a:solidFill>
                  <a:srgbClr val="2F1BC7"/>
                </a:solidFill>
              </a:rPr>
              <a:t>“p++” </a:t>
            </a:r>
            <a:r>
              <a:rPr lang="en-US" sz="3000" dirty="0"/>
              <a:t>where </a:t>
            </a:r>
            <a:r>
              <a:rPr lang="en-US" sz="3000" b="1" dirty="0">
                <a:solidFill>
                  <a:srgbClr val="2F1BC7"/>
                </a:solidFill>
              </a:rPr>
              <a:t>“p”</a:t>
            </a:r>
            <a:r>
              <a:rPr lang="en-US" sz="3000" dirty="0"/>
              <a:t> is a </a:t>
            </a:r>
            <a:r>
              <a:rPr lang="en-US" sz="3000" b="1" dirty="0">
                <a:solidFill>
                  <a:srgbClr val="2F1BC7"/>
                </a:solidFill>
              </a:rPr>
              <a:t>pointer </a:t>
            </a:r>
            <a:r>
              <a:rPr lang="en-US" sz="3000" dirty="0">
                <a:sym typeface="Wingdings" pitchFamily="2" charset="2"/>
              </a:rPr>
              <a:t></a:t>
            </a:r>
            <a:r>
              <a:rPr lang="en-US" sz="3000" dirty="0"/>
              <a:t> the </a:t>
            </a:r>
            <a:r>
              <a:rPr lang="en-US" sz="3000" b="1" dirty="0">
                <a:solidFill>
                  <a:srgbClr val="2F1BC7"/>
                </a:solidFill>
              </a:rPr>
              <a:t>compiler needs to know</a:t>
            </a:r>
            <a:r>
              <a:rPr lang="en-US" sz="3000" dirty="0"/>
              <a:t> the </a:t>
            </a:r>
            <a:r>
              <a:rPr lang="en-US" sz="3000" b="1" dirty="0">
                <a:solidFill>
                  <a:srgbClr val="2F1BC7"/>
                </a:solidFill>
              </a:rPr>
              <a:t>data type </a:t>
            </a:r>
            <a:r>
              <a:rPr lang="en-US" sz="3000" dirty="0"/>
              <a:t>of the </a:t>
            </a:r>
            <a:r>
              <a:rPr lang="en-US" sz="3000" b="1" dirty="0">
                <a:solidFill>
                  <a:srgbClr val="2F1BC7"/>
                </a:solidFill>
              </a:rPr>
              <a:t>variable</a:t>
            </a:r>
            <a:r>
              <a:rPr lang="en-US" sz="3000" dirty="0"/>
              <a:t> </a:t>
            </a:r>
            <a:r>
              <a:rPr lang="en-US" sz="3000" b="1" dirty="0">
                <a:solidFill>
                  <a:srgbClr val="C00000"/>
                </a:solidFill>
              </a:rPr>
              <a:t>“p”</a:t>
            </a:r>
            <a:r>
              <a:rPr lang="en-US" sz="3000" dirty="0"/>
              <a:t> (</a:t>
            </a:r>
            <a:r>
              <a:rPr lang="en-US" sz="3000" b="1" dirty="0">
                <a:solidFill>
                  <a:srgbClr val="FF0000"/>
                </a:solidFill>
              </a:rPr>
              <a:t>to jump at next memory location</a:t>
            </a:r>
            <a:r>
              <a:rPr lang="en-US" sz="3000" dirty="0"/>
              <a:t>)</a:t>
            </a:r>
          </a:p>
          <a:p>
            <a:pPr lvl="1"/>
            <a:r>
              <a:rPr lang="en-US" sz="3000" dirty="0"/>
              <a:t>Examples: </a:t>
            </a:r>
          </a:p>
          <a:p>
            <a:pPr lvl="3"/>
            <a:r>
              <a:rPr lang="en-US" sz="3000" dirty="0"/>
              <a:t>If </a:t>
            </a:r>
            <a:r>
              <a:rPr lang="en-US" sz="3000" dirty="0">
                <a:solidFill>
                  <a:srgbClr val="2F1BC7"/>
                </a:solidFill>
              </a:rPr>
              <a:t>“p”</a:t>
            </a:r>
            <a:r>
              <a:rPr lang="en-US" sz="3000" dirty="0"/>
              <a:t> is a </a:t>
            </a:r>
            <a:r>
              <a:rPr lang="en-US" sz="3000" b="1" dirty="0">
                <a:solidFill>
                  <a:srgbClr val="C00000"/>
                </a:solidFill>
              </a:rPr>
              <a:t>character-pointer</a:t>
            </a:r>
            <a:r>
              <a:rPr lang="en-US" sz="3000" dirty="0"/>
              <a:t> then </a:t>
            </a:r>
            <a:r>
              <a:rPr lang="en-US" sz="3000" dirty="0">
                <a:solidFill>
                  <a:srgbClr val="2F1BC7"/>
                </a:solidFill>
              </a:rPr>
              <a:t>“p++” </a:t>
            </a:r>
            <a:r>
              <a:rPr lang="en-US" sz="3000" dirty="0"/>
              <a:t>will increment </a:t>
            </a:r>
            <a:r>
              <a:rPr lang="en-US" sz="3000" dirty="0">
                <a:solidFill>
                  <a:srgbClr val="2F1BC7"/>
                </a:solidFill>
              </a:rPr>
              <a:t>“p” </a:t>
            </a:r>
            <a:r>
              <a:rPr lang="en-US" sz="3000" dirty="0"/>
              <a:t>by </a:t>
            </a:r>
            <a:r>
              <a:rPr lang="en-US" sz="3000" b="1" dirty="0">
                <a:solidFill>
                  <a:srgbClr val="C00000"/>
                </a:solidFill>
              </a:rPr>
              <a:t>one byte </a:t>
            </a:r>
            <a:r>
              <a:rPr lang="en-US" sz="3000" b="1" dirty="0"/>
              <a:t>(next location)</a:t>
            </a:r>
          </a:p>
          <a:p>
            <a:pPr lvl="3"/>
            <a:r>
              <a:rPr lang="en-US" sz="3000" dirty="0"/>
              <a:t>if </a:t>
            </a:r>
            <a:r>
              <a:rPr lang="en-US" sz="3000" dirty="0">
                <a:solidFill>
                  <a:srgbClr val="2F1BC7"/>
                </a:solidFill>
              </a:rPr>
              <a:t>“p”</a:t>
            </a:r>
            <a:r>
              <a:rPr lang="en-US" sz="3000" dirty="0"/>
              <a:t> is an </a:t>
            </a:r>
            <a:r>
              <a:rPr lang="en-US" sz="3000" dirty="0">
                <a:solidFill>
                  <a:srgbClr val="C00000"/>
                </a:solidFill>
              </a:rPr>
              <a:t>i</a:t>
            </a:r>
            <a:r>
              <a:rPr lang="en-US" sz="3000" b="1" dirty="0">
                <a:solidFill>
                  <a:srgbClr val="C00000"/>
                </a:solidFill>
              </a:rPr>
              <a:t>nteger-pointer</a:t>
            </a:r>
            <a:r>
              <a:rPr lang="en-US" sz="3000" dirty="0"/>
              <a:t> its value on </a:t>
            </a:r>
            <a:r>
              <a:rPr lang="en-US" sz="3000" dirty="0">
                <a:solidFill>
                  <a:srgbClr val="2F1BC7"/>
                </a:solidFill>
              </a:rPr>
              <a:t>“p++” </a:t>
            </a:r>
            <a:r>
              <a:rPr lang="en-US" sz="3000" dirty="0"/>
              <a:t>would be incremented by </a:t>
            </a:r>
            <a:r>
              <a:rPr lang="en-US" sz="3000" b="1" dirty="0">
                <a:solidFill>
                  <a:srgbClr val="C00000"/>
                </a:solidFill>
              </a:rPr>
              <a:t>4 bytes </a:t>
            </a:r>
            <a:r>
              <a:rPr lang="en-US" sz="3000" b="1" dirty="0"/>
              <a:t>(next loc.)</a:t>
            </a:r>
          </a:p>
        </p:txBody>
      </p:sp>
      <p:sp>
        <p:nvSpPr>
          <p:cNvPr id="4" name="Rectangle 3"/>
          <p:cNvSpPr/>
          <p:nvPr/>
        </p:nvSpPr>
        <p:spPr>
          <a:xfrm>
            <a:off x="76954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569278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0"/>
            <a:ext cx="8229600" cy="868362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Pointers Types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928" y="914400"/>
            <a:ext cx="9428872" cy="5867400"/>
          </a:xfrm>
        </p:spPr>
        <p:txBody>
          <a:bodyPr>
            <a:normAutofit/>
          </a:bodyPr>
          <a:lstStyle/>
          <a:p>
            <a:r>
              <a:rPr lang="en-US" sz="3600" b="1" u="sng" dirty="0">
                <a:solidFill>
                  <a:srgbClr val="C00000"/>
                </a:solidFill>
              </a:rPr>
              <a:t>Summary:</a:t>
            </a:r>
          </a:p>
          <a:p>
            <a:pPr marL="463550" lvl="1" indent="-238125"/>
            <a:r>
              <a:rPr lang="en-US" sz="3200" dirty="0">
                <a:solidFill>
                  <a:srgbClr val="2F1BC7"/>
                </a:solidFill>
              </a:rPr>
              <a:t>Pointer</a:t>
            </a:r>
            <a:r>
              <a:rPr lang="en-US" sz="3200" dirty="0"/>
              <a:t> is a </a:t>
            </a:r>
            <a:r>
              <a:rPr lang="en-US" sz="3200" dirty="0">
                <a:solidFill>
                  <a:srgbClr val="2F1BC7"/>
                </a:solidFill>
              </a:rPr>
              <a:t>data-type</a:t>
            </a:r>
            <a:r>
              <a:rPr lang="en-US" sz="3200" dirty="0"/>
              <a:t> that </a:t>
            </a:r>
            <a:r>
              <a:rPr lang="en-US" sz="3200" dirty="0">
                <a:solidFill>
                  <a:srgbClr val="2F1BC7"/>
                </a:solidFill>
              </a:rPr>
              <a:t>stores addresses</a:t>
            </a:r>
            <a:r>
              <a:rPr lang="en-US" sz="3200" dirty="0"/>
              <a:t>, it is declared as follows: </a:t>
            </a:r>
            <a:r>
              <a:rPr lang="en-US" sz="3200" dirty="0" err="1"/>
              <a:t>int</a:t>
            </a:r>
            <a:r>
              <a:rPr lang="en-US" sz="3200" dirty="0"/>
              <a:t>* a;  char* p;   etc. </a:t>
            </a:r>
          </a:p>
          <a:p>
            <a:pPr marL="463550" lvl="1" indent="-238125"/>
            <a:endParaRPr lang="en-US" sz="3200" dirty="0"/>
          </a:p>
          <a:p>
            <a:pPr marL="463550" lvl="1" indent="-238125"/>
            <a:r>
              <a:rPr lang="en-US" sz="3200" dirty="0"/>
              <a:t>The </a:t>
            </a:r>
            <a:r>
              <a:rPr lang="en-US" sz="3200" dirty="0">
                <a:solidFill>
                  <a:srgbClr val="2F1BC7"/>
                </a:solidFill>
              </a:rPr>
              <a:t>value stored</a:t>
            </a:r>
            <a:r>
              <a:rPr lang="en-US" sz="3200" dirty="0"/>
              <a:t> in a </a:t>
            </a:r>
            <a:r>
              <a:rPr lang="en-US" sz="3200" dirty="0">
                <a:solidFill>
                  <a:srgbClr val="2F1BC7"/>
                </a:solidFill>
              </a:rPr>
              <a:t>pointer </a:t>
            </a:r>
            <a:r>
              <a:rPr lang="en-US" sz="3200" b="1" i="1" dirty="0">
                <a:solidFill>
                  <a:srgbClr val="2F1BC7"/>
                </a:solidFill>
              </a:rPr>
              <a:t>p</a:t>
            </a:r>
            <a:r>
              <a:rPr lang="en-US" sz="3200" dirty="0"/>
              <a:t> can be </a:t>
            </a:r>
            <a:r>
              <a:rPr lang="en-US" sz="3200" dirty="0">
                <a:solidFill>
                  <a:srgbClr val="2F1BC7"/>
                </a:solidFill>
              </a:rPr>
              <a:t>accessed</a:t>
            </a:r>
            <a:r>
              <a:rPr lang="en-US" sz="3200" dirty="0"/>
              <a:t> through the </a:t>
            </a:r>
            <a:r>
              <a:rPr lang="en-US" sz="3200" b="1" u="sng" dirty="0">
                <a:solidFill>
                  <a:srgbClr val="B80000"/>
                </a:solidFill>
              </a:rPr>
              <a:t>dereferencing</a:t>
            </a:r>
            <a:r>
              <a:rPr lang="en-US" sz="3200" b="1" dirty="0">
                <a:solidFill>
                  <a:srgbClr val="B80000"/>
                </a:solidFill>
              </a:rPr>
              <a:t> operator</a:t>
            </a:r>
            <a:r>
              <a:rPr lang="en-US" sz="3200" dirty="0"/>
              <a:t> </a:t>
            </a:r>
            <a:r>
              <a:rPr lang="en-US" sz="3200" b="1" dirty="0">
                <a:solidFill>
                  <a:srgbClr val="2F1BC7"/>
                </a:solidFill>
              </a:rPr>
              <a:t>*</a:t>
            </a:r>
          </a:p>
          <a:p>
            <a:pPr marL="463550" lvl="1" indent="-238125"/>
            <a:endParaRPr lang="en-US" sz="3200" dirty="0"/>
          </a:p>
          <a:p>
            <a:pPr marL="463550" lvl="1" indent="-238125"/>
            <a:r>
              <a:rPr lang="en-US" sz="3200" dirty="0"/>
              <a:t>The </a:t>
            </a:r>
            <a:r>
              <a:rPr lang="en-US" sz="3200" dirty="0">
                <a:solidFill>
                  <a:srgbClr val="2F1BC7"/>
                </a:solidFill>
              </a:rPr>
              <a:t>address</a:t>
            </a:r>
            <a:r>
              <a:rPr lang="en-US" sz="3200" dirty="0"/>
              <a:t> of a </a:t>
            </a:r>
            <a:r>
              <a:rPr lang="en-US" sz="3200" dirty="0">
                <a:solidFill>
                  <a:srgbClr val="2F1BC7"/>
                </a:solidFill>
              </a:rPr>
              <a:t>memory location</a:t>
            </a:r>
            <a:r>
              <a:rPr lang="en-US" sz="3200" dirty="0"/>
              <a:t> of a </a:t>
            </a:r>
            <a:r>
              <a:rPr lang="en-US" sz="3200" dirty="0">
                <a:solidFill>
                  <a:srgbClr val="2F1BC7"/>
                </a:solidFill>
              </a:rPr>
              <a:t>variable</a:t>
            </a:r>
            <a:r>
              <a:rPr lang="en-US" sz="3200" dirty="0"/>
              <a:t> can be accessed through the </a:t>
            </a:r>
            <a:r>
              <a:rPr lang="en-US" sz="3200" dirty="0">
                <a:solidFill>
                  <a:srgbClr val="B80000"/>
                </a:solidFill>
              </a:rPr>
              <a:t>reference operator “&amp;”.</a:t>
            </a:r>
          </a:p>
          <a:p>
            <a:pPr marL="225425" lvl="1" indent="0">
              <a:buNone/>
            </a:pPr>
            <a:endParaRPr lang="en-US" sz="3200" dirty="0">
              <a:solidFill>
                <a:srgbClr val="B8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8686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842356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714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11574"/>
            <a:ext cx="8229600" cy="838200"/>
          </a:xfrm>
        </p:spPr>
        <p:txBody>
          <a:bodyPr/>
          <a:lstStyle/>
          <a:p>
            <a:r>
              <a:rPr lang="en-US" sz="4800" b="1" dirty="0">
                <a:solidFill>
                  <a:srgbClr val="C00000"/>
                </a:solidFill>
              </a:rPr>
              <a:t>Pointer Assignments (Aliasing)</a:t>
            </a:r>
          </a:p>
        </p:txBody>
      </p:sp>
      <p:sp>
        <p:nvSpPr>
          <p:cNvPr id="8837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136" y="1066800"/>
            <a:ext cx="8963464" cy="3733800"/>
          </a:xfrm>
        </p:spPr>
        <p:txBody>
          <a:bodyPr/>
          <a:lstStyle/>
          <a:p>
            <a:pPr algn="just"/>
            <a:r>
              <a:rPr lang="en-US" dirty="0"/>
              <a:t>Some care is required making assignments to </a:t>
            </a:r>
            <a:br>
              <a:rPr lang="en-US" dirty="0"/>
            </a:br>
            <a:r>
              <a:rPr lang="en-US" dirty="0"/>
              <a:t>pointer variables:</a:t>
            </a:r>
          </a:p>
          <a:p>
            <a:endParaRPr lang="en-US" dirty="0"/>
          </a:p>
          <a:p>
            <a:pPr marL="457200" lvl="1" indent="0">
              <a:buNone/>
            </a:pPr>
            <a:r>
              <a:rPr lang="en-US" b="1" dirty="0">
                <a:solidFill>
                  <a:srgbClr val="C00000"/>
                </a:solidFill>
              </a:rPr>
              <a:t>p1= p2</a:t>
            </a:r>
            <a:r>
              <a:rPr lang="en-US" dirty="0"/>
              <a:t>;  </a:t>
            </a:r>
            <a:r>
              <a:rPr lang="en-US" dirty="0">
                <a:solidFill>
                  <a:srgbClr val="008000"/>
                </a:solidFill>
              </a:rPr>
              <a:t>// changes the location that p1 "points" to</a:t>
            </a:r>
            <a:br>
              <a:rPr lang="en-US" dirty="0"/>
            </a:br>
            <a:endParaRPr lang="en-US" dirty="0"/>
          </a:p>
          <a:p>
            <a:pPr marL="457200" lvl="1" indent="0">
              <a:buNone/>
            </a:pPr>
            <a:r>
              <a:rPr lang="en-US" b="1" dirty="0">
                <a:solidFill>
                  <a:srgbClr val="C00000"/>
                </a:solidFill>
              </a:rPr>
              <a:t>*p1 = *p2</a:t>
            </a:r>
            <a:r>
              <a:rPr lang="en-US" dirty="0"/>
              <a:t>; </a:t>
            </a:r>
            <a:r>
              <a:rPr lang="en-US" dirty="0">
                <a:solidFill>
                  <a:srgbClr val="008000"/>
                </a:solidFill>
              </a:rPr>
              <a:t>// changes the value at location that</a:t>
            </a:r>
            <a:br>
              <a:rPr lang="en-US" dirty="0">
                <a:solidFill>
                  <a:srgbClr val="008000"/>
                </a:solidFill>
              </a:rPr>
            </a:br>
            <a:r>
              <a:rPr lang="en-US" dirty="0">
                <a:solidFill>
                  <a:srgbClr val="008000"/>
                </a:solidFill>
              </a:rPr>
              <a:t>                  // p1 "points" to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907726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0"/>
            <a:ext cx="8229600" cy="868362"/>
          </a:xfrm>
          <a:noFill/>
          <a:ln/>
        </p:spPr>
        <p:txBody>
          <a:bodyPr lIns="92075" tIns="46038" rIns="92075" bIns="46038"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Another Pointer Example</a:t>
            </a:r>
          </a:p>
        </p:txBody>
      </p:sp>
      <p:sp>
        <p:nvSpPr>
          <p:cNvPr id="1126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160608" y="1018736"/>
            <a:ext cx="8748932" cy="3920196"/>
          </a:xfrm>
          <a:solidFill>
            <a:schemeClr val="accent5">
              <a:lumMod val="20000"/>
              <a:lumOff val="80000"/>
            </a:schemeClr>
          </a:solidFill>
          <a:ln/>
        </p:spPr>
        <p:txBody>
          <a:bodyPr lIns="92075" tIns="46038" rIns="92075" bIns="46038">
            <a:noAutofit/>
          </a:bodyPr>
          <a:lstStyle/>
          <a:p>
            <a:pPr lvl="1">
              <a:buFont typeface="Wingdings" pitchFamily="2" charset="2"/>
              <a:buNone/>
            </a:pPr>
            <a:r>
              <a:rPr lang="en-US" sz="2600" b="1" dirty="0" err="1">
                <a:latin typeface="Courier New" pitchFamily="49" charset="0"/>
              </a:rPr>
              <a:t>int</a:t>
            </a:r>
            <a:r>
              <a:rPr lang="en-US" sz="2600" b="1" dirty="0">
                <a:latin typeface="Courier New" pitchFamily="49" charset="0"/>
              </a:rPr>
              <a:t> </a:t>
            </a:r>
            <a:r>
              <a:rPr lang="en-US" sz="2600" b="1" dirty="0" err="1">
                <a:latin typeface="Courier New" pitchFamily="49" charset="0"/>
              </a:rPr>
              <a:t>i</a:t>
            </a:r>
            <a:r>
              <a:rPr lang="en-US" sz="2600" b="1" dirty="0">
                <a:latin typeface="Courier New" pitchFamily="49" charset="0"/>
              </a:rPr>
              <a:t> = 1;</a:t>
            </a:r>
          </a:p>
          <a:p>
            <a:pPr lvl="1">
              <a:buFont typeface="Wingdings" pitchFamily="2" charset="2"/>
              <a:buNone/>
            </a:pPr>
            <a:r>
              <a:rPr lang="en-US" sz="2600" b="1" dirty="0" err="1">
                <a:latin typeface="Courier New" pitchFamily="49" charset="0"/>
              </a:rPr>
              <a:t>int</a:t>
            </a:r>
            <a:r>
              <a:rPr lang="en-US" sz="2600" b="1" dirty="0">
                <a:latin typeface="Courier New" pitchFamily="49" charset="0"/>
              </a:rPr>
              <a:t> j = 2;</a:t>
            </a:r>
          </a:p>
          <a:p>
            <a:pPr lvl="1">
              <a:buFont typeface="Wingdings" pitchFamily="2" charset="2"/>
              <a:buNone/>
            </a:pPr>
            <a:r>
              <a:rPr lang="en-US" sz="2600" b="1" dirty="0" err="1">
                <a:latin typeface="Courier New" pitchFamily="49" charset="0"/>
              </a:rPr>
              <a:t>int</a:t>
            </a:r>
            <a:r>
              <a:rPr lang="en-US" sz="2600" b="1" dirty="0">
                <a:latin typeface="Courier New" pitchFamily="49" charset="0"/>
              </a:rPr>
              <a:t>* </a:t>
            </a:r>
            <a:r>
              <a:rPr lang="en-US" sz="2600" b="1" dirty="0" err="1">
                <a:latin typeface="Courier New" pitchFamily="49" charset="0"/>
              </a:rPr>
              <a:t>ptr</a:t>
            </a:r>
            <a:r>
              <a:rPr lang="en-US" sz="2600" b="1" dirty="0">
                <a:latin typeface="Courier New" pitchFamily="49" charset="0"/>
              </a:rPr>
              <a:t>;</a:t>
            </a:r>
          </a:p>
          <a:p>
            <a:pPr lvl="1">
              <a:buFont typeface="Wingdings" pitchFamily="2" charset="2"/>
              <a:buNone/>
            </a:pPr>
            <a:r>
              <a:rPr lang="en-US" sz="2600" b="1" dirty="0" err="1">
                <a:latin typeface="Courier New" pitchFamily="49" charset="0"/>
              </a:rPr>
              <a:t>ptr</a:t>
            </a:r>
            <a:r>
              <a:rPr lang="en-US" sz="2600" b="1" dirty="0">
                <a:latin typeface="Courier New" pitchFamily="49" charset="0"/>
              </a:rPr>
              <a:t> = &amp;</a:t>
            </a:r>
            <a:r>
              <a:rPr lang="en-US" sz="2600" b="1" dirty="0" err="1">
                <a:latin typeface="Courier New" pitchFamily="49" charset="0"/>
              </a:rPr>
              <a:t>i</a:t>
            </a:r>
            <a:r>
              <a:rPr lang="en-US" sz="2600" b="1" dirty="0">
                <a:latin typeface="Courier New" pitchFamily="49" charset="0"/>
              </a:rPr>
              <a:t>; </a:t>
            </a:r>
            <a:r>
              <a:rPr lang="en-US" sz="2600" b="1" i="1" dirty="0">
                <a:latin typeface="Courier New" pitchFamily="49" charset="0"/>
              </a:rPr>
              <a:t>// </a:t>
            </a:r>
            <a:r>
              <a:rPr lang="en-US" sz="2600" b="1" i="1" dirty="0" err="1">
                <a:latin typeface="Courier New" pitchFamily="49" charset="0"/>
              </a:rPr>
              <a:t>ptr</a:t>
            </a:r>
            <a:r>
              <a:rPr lang="en-US" sz="2600" b="1" i="1" dirty="0">
                <a:latin typeface="Courier New" pitchFamily="49" charset="0"/>
              </a:rPr>
              <a:t> points to location of </a:t>
            </a:r>
            <a:r>
              <a:rPr lang="en-US" sz="2600" b="1" i="1" dirty="0" err="1">
                <a:latin typeface="Courier New" pitchFamily="49" charset="0"/>
              </a:rPr>
              <a:t>i</a:t>
            </a:r>
            <a:endParaRPr lang="en-US" sz="2600" b="1" dirty="0">
              <a:latin typeface="Courier New" pitchFamily="49" charset="0"/>
            </a:endParaRPr>
          </a:p>
          <a:p>
            <a:pPr lvl="1">
              <a:buFont typeface="Wingdings" pitchFamily="2" charset="2"/>
              <a:buNone/>
            </a:pPr>
            <a:r>
              <a:rPr lang="en-US" sz="2600" b="1" dirty="0">
                <a:latin typeface="Courier New" pitchFamily="49" charset="0"/>
              </a:rPr>
              <a:t>*</a:t>
            </a:r>
            <a:r>
              <a:rPr lang="en-US" sz="2600" b="1" dirty="0" err="1">
                <a:latin typeface="Courier New" pitchFamily="49" charset="0"/>
              </a:rPr>
              <a:t>ptr</a:t>
            </a:r>
            <a:r>
              <a:rPr lang="en-US" sz="2600" b="1" dirty="0">
                <a:latin typeface="Courier New" pitchFamily="49" charset="0"/>
              </a:rPr>
              <a:t> = 3; </a:t>
            </a:r>
            <a:r>
              <a:rPr lang="en-US" sz="2600" b="1" i="1" dirty="0">
                <a:latin typeface="Courier New" pitchFamily="49" charset="0"/>
              </a:rPr>
              <a:t>// contents of </a:t>
            </a:r>
            <a:r>
              <a:rPr lang="en-US" sz="2600" b="1" i="1" dirty="0" err="1">
                <a:latin typeface="Courier New" pitchFamily="49" charset="0"/>
              </a:rPr>
              <a:t>i</a:t>
            </a:r>
            <a:r>
              <a:rPr lang="en-US" sz="2600" b="1" i="1" dirty="0">
                <a:latin typeface="Courier New" pitchFamily="49" charset="0"/>
              </a:rPr>
              <a:t> are updated</a:t>
            </a:r>
            <a:endParaRPr lang="en-US" sz="2600" b="1" dirty="0">
              <a:latin typeface="Courier New" pitchFamily="49" charset="0"/>
            </a:endParaRPr>
          </a:p>
          <a:p>
            <a:pPr lvl="1">
              <a:buFont typeface="Wingdings" pitchFamily="2" charset="2"/>
              <a:buNone/>
            </a:pPr>
            <a:r>
              <a:rPr lang="en-US" sz="2600" b="1" dirty="0" err="1">
                <a:latin typeface="Courier New" pitchFamily="49" charset="0"/>
              </a:rPr>
              <a:t>ptr</a:t>
            </a:r>
            <a:r>
              <a:rPr lang="en-US" sz="2600" b="1" dirty="0">
                <a:latin typeface="Courier New" pitchFamily="49" charset="0"/>
              </a:rPr>
              <a:t> = &amp;j; /</a:t>
            </a:r>
            <a:r>
              <a:rPr lang="en-US" sz="2600" b="1" i="1" dirty="0">
                <a:latin typeface="Courier New" pitchFamily="49" charset="0"/>
              </a:rPr>
              <a:t>/ </a:t>
            </a:r>
            <a:r>
              <a:rPr lang="en-US" sz="2600" b="1" i="1" dirty="0" err="1">
                <a:latin typeface="Courier New" pitchFamily="49" charset="0"/>
              </a:rPr>
              <a:t>ptr</a:t>
            </a:r>
            <a:r>
              <a:rPr lang="en-US" sz="2600" b="1" i="1" dirty="0">
                <a:latin typeface="Courier New" pitchFamily="49" charset="0"/>
              </a:rPr>
              <a:t> points to location of j</a:t>
            </a:r>
          </a:p>
          <a:p>
            <a:pPr lvl="1">
              <a:buFont typeface="Wingdings" pitchFamily="2" charset="2"/>
              <a:buNone/>
            </a:pPr>
            <a:r>
              <a:rPr lang="en-US" sz="2600" b="1" dirty="0">
                <a:latin typeface="Courier New" pitchFamily="49" charset="0"/>
              </a:rPr>
              <a:t>*</a:t>
            </a:r>
            <a:r>
              <a:rPr lang="en-US" sz="2600" b="1" dirty="0" err="1">
                <a:latin typeface="Courier New" pitchFamily="49" charset="0"/>
              </a:rPr>
              <a:t>ptr</a:t>
            </a:r>
            <a:r>
              <a:rPr lang="en-US" sz="2600" b="1" dirty="0">
                <a:latin typeface="Courier New" pitchFamily="49" charset="0"/>
              </a:rPr>
              <a:t> = 4; </a:t>
            </a:r>
            <a:r>
              <a:rPr lang="en-US" sz="2600" b="1" i="1" dirty="0">
                <a:latin typeface="Courier New" pitchFamily="49" charset="0"/>
              </a:rPr>
              <a:t>// contents of j are updated</a:t>
            </a:r>
            <a:endParaRPr lang="en-US" sz="2600" b="1" dirty="0">
              <a:latin typeface="Courier New" pitchFamily="49" charset="0"/>
            </a:endParaRPr>
          </a:p>
          <a:p>
            <a:pPr lvl="1">
              <a:buFont typeface="Wingdings" pitchFamily="2" charset="2"/>
              <a:buNone/>
            </a:pPr>
            <a:r>
              <a:rPr lang="en-US" sz="2600" b="1" dirty="0" err="1">
                <a:latin typeface="Courier New" pitchFamily="49" charset="0"/>
              </a:rPr>
              <a:t>cout</a:t>
            </a:r>
            <a:r>
              <a:rPr lang="en-US" sz="2600" b="1" dirty="0">
                <a:latin typeface="Courier New" pitchFamily="49" charset="0"/>
              </a:rPr>
              <a:t> &lt;&lt; </a:t>
            </a:r>
            <a:r>
              <a:rPr lang="en-US" sz="2600" b="1" dirty="0" err="1">
                <a:latin typeface="Courier New" pitchFamily="49" charset="0"/>
              </a:rPr>
              <a:t>i</a:t>
            </a:r>
            <a:r>
              <a:rPr lang="en-US" sz="2600" b="1" dirty="0">
                <a:latin typeface="Courier New" pitchFamily="49" charset="0"/>
              </a:rPr>
              <a:t> &lt;&lt; " " &lt;&lt; j &lt;&lt; </a:t>
            </a:r>
            <a:r>
              <a:rPr lang="en-US" sz="2600" b="1" dirty="0" err="1">
                <a:latin typeface="Courier New" pitchFamily="49" charset="0"/>
              </a:rPr>
              <a:t>endl</a:t>
            </a:r>
            <a:r>
              <a:rPr lang="en-US" sz="2600" b="1" dirty="0">
                <a:latin typeface="Courier New" pitchFamily="49" charset="0"/>
              </a:rPr>
              <a:t>;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Rectangle 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>
          <a:xfrm>
            <a:off x="140680" y="5179252"/>
            <a:ext cx="8774720" cy="14501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 vert="horz" lIns="92075" tIns="46038" rIns="92075" bIns="46038" rtlCol="0">
            <a:noAutofit/>
          </a:bodyPr>
          <a:lstStyle/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Output: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sz="2600" b="1" dirty="0">
                <a:latin typeface="Courier New" pitchFamily="49" charset="0"/>
              </a:rPr>
              <a:t>			3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			4</a:t>
            </a:r>
          </a:p>
        </p:txBody>
      </p:sp>
    </p:spTree>
    <p:extLst>
      <p:ext uri="{BB962C8B-B14F-4D97-AF65-F5344CB8AC3E}">
        <p14:creationId xmlns:p14="http://schemas.microsoft.com/office/powerpoint/2010/main" val="1001075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-1"/>
            <a:ext cx="8229600" cy="962465"/>
          </a:xfrm>
          <a:noFill/>
          <a:ln/>
        </p:spPr>
        <p:txBody>
          <a:bodyPr lIns="92075" tIns="46038" rIns="92075" bIns="46038">
            <a:normAutofit/>
          </a:bodyPr>
          <a:lstStyle/>
          <a:p>
            <a:r>
              <a:rPr lang="en-US" sz="4800" b="1" dirty="0">
                <a:solidFill>
                  <a:srgbClr val="C00000"/>
                </a:solidFill>
              </a:rPr>
              <a:t>Null Address</a:t>
            </a:r>
          </a:p>
        </p:txBody>
      </p:sp>
      <p:sp>
        <p:nvSpPr>
          <p:cNvPr id="1331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6200" y="962464"/>
            <a:ext cx="8991600" cy="5791200"/>
          </a:xfrm>
          <a:noFill/>
          <a:ln/>
        </p:spPr>
        <p:txBody>
          <a:bodyPr lIns="92075" tIns="46038" rIns="92075" bIns="46038">
            <a:normAutofit fontScale="92500" lnSpcReduction="10000"/>
          </a:bodyPr>
          <a:lstStyle/>
          <a:p>
            <a:pPr algn="just"/>
            <a:r>
              <a:rPr lang="en-US" dirty="0"/>
              <a:t>Like a </a:t>
            </a:r>
            <a:r>
              <a:rPr lang="en-US" b="1" u="sng" dirty="0"/>
              <a:t>local variable</a:t>
            </a:r>
            <a:r>
              <a:rPr lang="en-US" dirty="0"/>
              <a:t>, a </a:t>
            </a:r>
            <a:r>
              <a:rPr lang="en-US" b="1" dirty="0">
                <a:solidFill>
                  <a:srgbClr val="2F1BC7"/>
                </a:solidFill>
              </a:rPr>
              <a:t>pointer</a:t>
            </a:r>
            <a:r>
              <a:rPr lang="en-US" dirty="0"/>
              <a:t> is assigned a </a:t>
            </a:r>
            <a:r>
              <a:rPr lang="en-US" b="1" dirty="0">
                <a:solidFill>
                  <a:srgbClr val="2F1BC7"/>
                </a:solidFill>
              </a:rPr>
              <a:t>random value </a:t>
            </a:r>
            <a:r>
              <a:rPr lang="en-US" b="1" dirty="0"/>
              <a:t>(i.e., </a:t>
            </a:r>
            <a:r>
              <a:rPr lang="en-US" b="1" u="sng" dirty="0"/>
              <a:t>address</a:t>
            </a:r>
            <a:r>
              <a:rPr lang="en-US" b="1" dirty="0"/>
              <a:t>) </a:t>
            </a:r>
            <a:r>
              <a:rPr lang="en-US" dirty="0"/>
              <a:t>if not initialized</a:t>
            </a:r>
          </a:p>
          <a:p>
            <a:pPr algn="just"/>
            <a:r>
              <a:rPr lang="en-US" b="1" dirty="0">
                <a:solidFill>
                  <a:srgbClr val="2F1BC7"/>
                </a:solidFill>
              </a:rPr>
              <a:t>0</a:t>
            </a:r>
            <a:r>
              <a:rPr lang="en-US" dirty="0"/>
              <a:t> is a </a:t>
            </a:r>
            <a:r>
              <a:rPr lang="en-US" b="1" dirty="0">
                <a:solidFill>
                  <a:srgbClr val="2F1BC7"/>
                </a:solidFill>
              </a:rPr>
              <a:t>pointer constant</a:t>
            </a:r>
            <a:r>
              <a:rPr lang="en-US" b="1" dirty="0"/>
              <a:t> </a:t>
            </a:r>
            <a:r>
              <a:rPr lang="en-US" dirty="0"/>
              <a:t>that represents the </a:t>
            </a:r>
            <a:r>
              <a:rPr lang="en-US" b="1" dirty="0">
                <a:solidFill>
                  <a:srgbClr val="C00000"/>
                </a:solidFill>
              </a:rPr>
              <a:t>empty</a:t>
            </a:r>
            <a:r>
              <a:rPr lang="en-US" dirty="0"/>
              <a:t> or </a:t>
            </a:r>
            <a:r>
              <a:rPr lang="en-US" b="1" dirty="0">
                <a:solidFill>
                  <a:srgbClr val="C00000"/>
                </a:solidFill>
              </a:rPr>
              <a:t>Null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address </a:t>
            </a:r>
          </a:p>
          <a:p>
            <a:pPr algn="just"/>
            <a:r>
              <a:rPr lang="en-US" b="1" dirty="0"/>
              <a:t>Should be used to </a:t>
            </a:r>
            <a:r>
              <a:rPr lang="en-US" b="1" dirty="0">
                <a:solidFill>
                  <a:srgbClr val="2C14DE"/>
                </a:solidFill>
              </a:rPr>
              <a:t>avoid dangling pointers</a:t>
            </a:r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r>
              <a:rPr lang="en-US" b="1" u="sng" dirty="0">
                <a:solidFill>
                  <a:srgbClr val="FF0000"/>
                </a:solidFill>
              </a:rPr>
              <a:t>Cannot Dereference a Pointer whose value is Null:</a:t>
            </a:r>
            <a:br>
              <a:rPr lang="en-US" b="1" u="sng" dirty="0">
                <a:solidFill>
                  <a:srgbClr val="FF0000"/>
                </a:solidFill>
              </a:rPr>
            </a:br>
            <a:endParaRPr lang="en-US" b="1" u="sng" dirty="0">
              <a:solidFill>
                <a:srgbClr val="FF0000"/>
              </a:solidFill>
            </a:endParaRPr>
          </a:p>
          <a:p>
            <a:pPr lvl="1"/>
            <a:endParaRPr lang="en-US" sz="800" dirty="0"/>
          </a:p>
          <a:p>
            <a:pPr lvl="2">
              <a:buFont typeface="Wingdings" pitchFamily="2" charset="2"/>
              <a:buNone/>
            </a:pPr>
            <a:r>
              <a:rPr lang="en-US" b="1" dirty="0" err="1">
                <a:solidFill>
                  <a:srgbClr val="008000"/>
                </a:solidFill>
                <a:latin typeface="Courier New" pitchFamily="49" charset="0"/>
              </a:rPr>
              <a:t>int</a:t>
            </a:r>
            <a:r>
              <a:rPr lang="en-US" b="1" dirty="0">
                <a:solidFill>
                  <a:srgbClr val="008000"/>
                </a:solidFill>
                <a:latin typeface="Courier New" pitchFamily="49" charset="0"/>
              </a:rPr>
              <a:t> *</a:t>
            </a:r>
            <a:r>
              <a:rPr lang="en-US" b="1" dirty="0" err="1">
                <a:solidFill>
                  <a:srgbClr val="008000"/>
                </a:solidFill>
                <a:latin typeface="Courier New" pitchFamily="49" charset="0"/>
              </a:rPr>
              <a:t>ptr</a:t>
            </a:r>
            <a:r>
              <a:rPr lang="en-US" b="1" dirty="0">
                <a:solidFill>
                  <a:srgbClr val="008000"/>
                </a:solidFill>
                <a:latin typeface="Courier New" pitchFamily="49" charset="0"/>
              </a:rPr>
              <a:t> = 0; </a:t>
            </a:r>
            <a:r>
              <a:rPr lang="en-US" b="1" dirty="0">
                <a:latin typeface="Courier New" pitchFamily="49" charset="0"/>
              </a:rPr>
              <a:t>OR </a:t>
            </a:r>
            <a:r>
              <a:rPr lang="en-US" b="1" dirty="0" err="1">
                <a:solidFill>
                  <a:srgbClr val="008000"/>
                </a:solidFill>
                <a:latin typeface="Courier New" pitchFamily="49" charset="0"/>
              </a:rPr>
              <a:t>int</a:t>
            </a:r>
            <a:r>
              <a:rPr lang="en-US" b="1" dirty="0">
                <a:solidFill>
                  <a:srgbClr val="008000"/>
                </a:solidFill>
                <a:latin typeface="Courier New" pitchFamily="49" charset="0"/>
              </a:rPr>
              <a:t> *</a:t>
            </a:r>
            <a:r>
              <a:rPr lang="en-US" b="1" dirty="0" err="1">
                <a:solidFill>
                  <a:srgbClr val="008000"/>
                </a:solidFill>
                <a:latin typeface="Courier New" pitchFamily="49" charset="0"/>
              </a:rPr>
              <a:t>ptr</a:t>
            </a:r>
            <a:r>
              <a:rPr lang="en-US" b="1" dirty="0">
                <a:solidFill>
                  <a:srgbClr val="008000"/>
                </a:solidFill>
                <a:latin typeface="Courier New" pitchFamily="49" charset="0"/>
              </a:rPr>
              <a:t>=NULL;</a:t>
            </a:r>
          </a:p>
          <a:p>
            <a:pPr lvl="2">
              <a:buFont typeface="Wingdings" pitchFamily="2" charset="2"/>
              <a:buNone/>
            </a:pPr>
            <a:endParaRPr lang="en-US" b="1" dirty="0">
              <a:solidFill>
                <a:srgbClr val="008000"/>
              </a:solidFill>
              <a:latin typeface="Courier New" pitchFamily="49" charset="0"/>
            </a:endParaRPr>
          </a:p>
          <a:p>
            <a:pPr lvl="2">
              <a:buFont typeface="Wingdings" pitchFamily="2" charset="2"/>
              <a:buNone/>
            </a:pPr>
            <a:r>
              <a:rPr lang="en-US" b="1" dirty="0" err="1">
                <a:latin typeface="Courier New" pitchFamily="49" charset="0"/>
              </a:rPr>
              <a:t>cout</a:t>
            </a:r>
            <a:r>
              <a:rPr lang="en-US" b="1" dirty="0">
                <a:latin typeface="Courier New" pitchFamily="49" charset="0"/>
              </a:rPr>
              <a:t> &lt;&lt; *</a:t>
            </a:r>
            <a:r>
              <a:rPr lang="en-US" b="1" dirty="0" err="1">
                <a:latin typeface="Courier New" pitchFamily="49" charset="0"/>
              </a:rPr>
              <a:t>ptr</a:t>
            </a:r>
            <a:r>
              <a:rPr lang="en-US" b="1" dirty="0">
                <a:latin typeface="Courier New" pitchFamily="49" charset="0"/>
              </a:rPr>
              <a:t> &lt;&lt; </a:t>
            </a:r>
            <a:r>
              <a:rPr lang="en-US" b="1" dirty="0" err="1">
                <a:latin typeface="Courier New" pitchFamily="49" charset="0"/>
              </a:rPr>
              <a:t>endl</a:t>
            </a:r>
            <a:r>
              <a:rPr lang="en-US" b="1" dirty="0">
                <a:latin typeface="Courier New" pitchFamily="49" charset="0"/>
              </a:rPr>
              <a:t>; </a:t>
            </a:r>
            <a:r>
              <a:rPr lang="en-US" b="1" dirty="0">
                <a:solidFill>
                  <a:srgbClr val="B80000"/>
                </a:solidFill>
                <a:latin typeface="Courier New" pitchFamily="49" charset="0"/>
              </a:rPr>
              <a:t>// ERROR: </a:t>
            </a:r>
            <a:r>
              <a:rPr lang="en-US" b="1" dirty="0" err="1">
                <a:solidFill>
                  <a:srgbClr val="B80000"/>
                </a:solidFill>
                <a:latin typeface="Courier New" pitchFamily="49" charset="0"/>
              </a:rPr>
              <a:t>ptr</a:t>
            </a:r>
            <a:endParaRPr lang="en-US" b="1" dirty="0">
              <a:solidFill>
                <a:srgbClr val="B80000"/>
              </a:solidFill>
              <a:latin typeface="Courier New" pitchFamily="49" charset="0"/>
            </a:endParaRPr>
          </a:p>
          <a:p>
            <a:pPr lvl="2">
              <a:buFont typeface="Wingdings" pitchFamily="2" charset="2"/>
              <a:buNone/>
            </a:pPr>
            <a:r>
              <a:rPr lang="en-US" b="1" dirty="0">
                <a:solidFill>
                  <a:srgbClr val="B80000"/>
                </a:solidFill>
                <a:latin typeface="Courier New" pitchFamily="49" charset="0"/>
              </a:rPr>
              <a:t>                      // does not point to</a:t>
            </a:r>
          </a:p>
          <a:p>
            <a:pPr lvl="2">
              <a:buFont typeface="Wingdings" pitchFamily="2" charset="2"/>
              <a:buNone/>
            </a:pPr>
            <a:r>
              <a:rPr lang="en-US" b="1" dirty="0">
                <a:solidFill>
                  <a:srgbClr val="B80000"/>
                </a:solidFill>
                <a:latin typeface="Courier New" pitchFamily="49" charset="0"/>
              </a:rPr>
              <a:t>                      // a valid address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39604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710140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0"/>
            <a:ext cx="8382000" cy="985323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3600" b="1" dirty="0">
                <a:solidFill>
                  <a:srgbClr val="C00000"/>
                </a:solidFill>
                <a:cs typeface="+mj-cs"/>
              </a:rPr>
              <a:t>Relationship Between Pointers and Arrays</a:t>
            </a:r>
          </a:p>
        </p:txBody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245" y="1143000"/>
            <a:ext cx="9144000" cy="5638800"/>
          </a:xfrm>
        </p:spPr>
        <p:txBody>
          <a:bodyPr>
            <a:normAutofit lnSpcReduction="10000"/>
          </a:bodyPr>
          <a:lstStyle/>
          <a:p>
            <a:pPr eaLnBrk="1" hangingPunct="1">
              <a:defRPr/>
            </a:pPr>
            <a:r>
              <a:rPr lang="en-US" b="1" dirty="0">
                <a:solidFill>
                  <a:srgbClr val="C00000"/>
                </a:solidFill>
                <a:cs typeface="+mn-cs"/>
              </a:rPr>
              <a:t>Arrays</a:t>
            </a:r>
            <a:r>
              <a:rPr lang="en-US" dirty="0">
                <a:solidFill>
                  <a:srgbClr val="C00000"/>
                </a:solidFill>
                <a:cs typeface="+mn-cs"/>
              </a:rPr>
              <a:t> </a:t>
            </a:r>
            <a:r>
              <a:rPr lang="en-US" dirty="0">
                <a:cs typeface="+mn-cs"/>
              </a:rPr>
              <a:t>and </a:t>
            </a:r>
            <a:r>
              <a:rPr lang="en-US" b="1" dirty="0">
                <a:solidFill>
                  <a:srgbClr val="C00000"/>
                </a:solidFill>
                <a:cs typeface="+mn-cs"/>
              </a:rPr>
              <a:t>pointers</a:t>
            </a:r>
            <a:r>
              <a:rPr lang="en-US" dirty="0">
                <a:solidFill>
                  <a:srgbClr val="C00000"/>
                </a:solidFill>
                <a:cs typeface="+mn-cs"/>
              </a:rPr>
              <a:t> </a:t>
            </a:r>
            <a:r>
              <a:rPr lang="en-US" dirty="0">
                <a:cs typeface="+mn-cs"/>
              </a:rPr>
              <a:t>are </a:t>
            </a:r>
            <a:r>
              <a:rPr lang="en-US" b="1" dirty="0">
                <a:solidFill>
                  <a:srgbClr val="008000"/>
                </a:solidFill>
                <a:cs typeface="+mn-cs"/>
              </a:rPr>
              <a:t>closely related</a:t>
            </a:r>
          </a:p>
          <a:p>
            <a:pPr lvl="1" eaLnBrk="1" hangingPunct="1">
              <a:defRPr/>
            </a:pPr>
            <a:r>
              <a:rPr lang="en-US" sz="3200" b="1" dirty="0">
                <a:solidFill>
                  <a:srgbClr val="2C14DE"/>
                </a:solidFill>
              </a:rPr>
              <a:t>Array name</a:t>
            </a:r>
            <a:r>
              <a:rPr lang="en-US" sz="3200" dirty="0"/>
              <a:t> is </a:t>
            </a:r>
            <a:r>
              <a:rPr lang="en-US" sz="3200" b="1" dirty="0"/>
              <a:t>like</a:t>
            </a:r>
            <a:r>
              <a:rPr lang="en-US" sz="3200" dirty="0"/>
              <a:t> </a:t>
            </a:r>
            <a:r>
              <a:rPr lang="en-US" sz="3200" b="1" u="sng" dirty="0">
                <a:solidFill>
                  <a:srgbClr val="2C14DE"/>
                </a:solidFill>
              </a:rPr>
              <a:t>constant pointer</a:t>
            </a:r>
          </a:p>
          <a:p>
            <a:pPr lvl="1" eaLnBrk="1" hangingPunct="1">
              <a:defRPr/>
            </a:pPr>
            <a:r>
              <a:rPr lang="en-US" sz="3200" b="1" i="1" dirty="0"/>
              <a:t>All </a:t>
            </a:r>
            <a:r>
              <a:rPr lang="en-US" sz="3200" b="1" i="1" dirty="0">
                <a:solidFill>
                  <a:srgbClr val="2C14DE"/>
                </a:solidFill>
              </a:rPr>
              <a:t>arrays elements </a:t>
            </a:r>
            <a:r>
              <a:rPr lang="en-US" sz="3200" b="1" i="1" dirty="0"/>
              <a:t>are placed in the </a:t>
            </a:r>
            <a:r>
              <a:rPr lang="en-US" sz="3200" b="1" i="1" dirty="0">
                <a:solidFill>
                  <a:srgbClr val="2C14DE"/>
                </a:solidFill>
              </a:rPr>
              <a:t>consecutive locations</a:t>
            </a:r>
            <a:r>
              <a:rPr lang="en-US" sz="3200" dirty="0"/>
              <a:t>. </a:t>
            </a:r>
          </a:p>
          <a:p>
            <a:pPr lvl="2" eaLnBrk="1" hangingPunct="1">
              <a:defRPr/>
            </a:pPr>
            <a:r>
              <a:rPr lang="en-US" sz="2800" b="1" dirty="0">
                <a:solidFill>
                  <a:srgbClr val="008000"/>
                </a:solidFill>
              </a:rPr>
              <a:t>Example:-</a:t>
            </a:r>
            <a:r>
              <a:rPr lang="en-US" sz="2800" b="1" dirty="0">
                <a:solidFill>
                  <a:schemeClr val="accent2"/>
                </a:solidFill>
              </a:rPr>
              <a:t>  </a:t>
            </a:r>
            <a:r>
              <a:rPr lang="en-US" sz="2800" b="1" dirty="0" err="1">
                <a:solidFill>
                  <a:srgbClr val="B80000"/>
                </a:solidFill>
              </a:rPr>
              <a:t>int</a:t>
            </a:r>
            <a:r>
              <a:rPr lang="en-US" sz="2800" b="1" dirty="0">
                <a:solidFill>
                  <a:srgbClr val="B80000"/>
                </a:solidFill>
              </a:rPr>
              <a:t> List [10]; </a:t>
            </a:r>
            <a:r>
              <a:rPr lang="en-US" sz="2800" b="1" i="1" dirty="0">
                <a:solidFill>
                  <a:srgbClr val="2C14DE"/>
                </a:solidFill>
              </a:rPr>
              <a:t>List is the start address of array</a:t>
            </a:r>
          </a:p>
          <a:p>
            <a:pPr lvl="2" eaLnBrk="1" hangingPunct="1">
              <a:defRPr/>
            </a:pPr>
            <a:endParaRPr lang="en-US" sz="2800" b="1" dirty="0">
              <a:solidFill>
                <a:schemeClr val="accent2"/>
              </a:solidFill>
            </a:endParaRPr>
          </a:p>
          <a:p>
            <a:pPr lvl="1" eaLnBrk="1" hangingPunct="1">
              <a:defRPr/>
            </a:pPr>
            <a:r>
              <a:rPr lang="en-US" sz="3200" b="1" dirty="0">
                <a:solidFill>
                  <a:srgbClr val="2C14DE"/>
                </a:solidFill>
              </a:rPr>
              <a:t>Pointers can do array subscripting operations </a:t>
            </a:r>
            <a:r>
              <a:rPr lang="en-US" sz="3200" dirty="0"/>
              <a:t>We can access array elements using pointers.</a:t>
            </a:r>
          </a:p>
          <a:p>
            <a:pPr lvl="2" eaLnBrk="1" hangingPunct="1">
              <a:defRPr/>
            </a:pPr>
            <a:r>
              <a:rPr lang="en-US" sz="2800" b="1" dirty="0"/>
              <a:t>Example:-   </a:t>
            </a:r>
            <a:r>
              <a:rPr lang="en-US" sz="2800" b="1" dirty="0" err="1">
                <a:solidFill>
                  <a:srgbClr val="B80000"/>
                </a:solidFill>
              </a:rPr>
              <a:t>int</a:t>
            </a:r>
            <a:r>
              <a:rPr lang="en-US" sz="2800" b="1" dirty="0">
                <a:solidFill>
                  <a:srgbClr val="B80000"/>
                </a:solidFill>
              </a:rPr>
              <a:t> value = List [2]; </a:t>
            </a:r>
            <a:r>
              <a:rPr lang="en-US" sz="2800" b="1" dirty="0">
                <a:solidFill>
                  <a:schemeClr val="bg1">
                    <a:lumMod val="50000"/>
                  </a:schemeClr>
                </a:solidFill>
              </a:rPr>
              <a:t>//value assignment</a:t>
            </a:r>
          </a:p>
          <a:p>
            <a:pPr marL="2743200" lvl="6" indent="0">
              <a:buNone/>
              <a:defRPr/>
            </a:pPr>
            <a:r>
              <a:rPr lang="en-US" sz="2800" b="1" dirty="0">
                <a:solidFill>
                  <a:srgbClr val="B80000"/>
                </a:solidFill>
              </a:rPr>
              <a:t>  </a:t>
            </a:r>
            <a:r>
              <a:rPr lang="en-US" sz="2800" b="1" dirty="0" err="1">
                <a:solidFill>
                  <a:srgbClr val="B80000"/>
                </a:solidFill>
              </a:rPr>
              <a:t>int</a:t>
            </a:r>
            <a:r>
              <a:rPr lang="en-US" sz="2800" b="1" dirty="0">
                <a:solidFill>
                  <a:srgbClr val="B80000"/>
                </a:solidFill>
              </a:rPr>
              <a:t>* p = List; </a:t>
            </a:r>
            <a:r>
              <a:rPr lang="en-US" sz="2800" b="1" dirty="0">
                <a:solidFill>
                  <a:schemeClr val="bg1">
                    <a:lumMod val="50000"/>
                  </a:schemeClr>
                </a:solidFill>
              </a:rPr>
              <a:t>//address assignment</a:t>
            </a:r>
          </a:p>
          <a:p>
            <a:pPr lvl="1" eaLnBrk="1" hangingPunct="1">
              <a:defRPr/>
            </a:pP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939604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7954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0390"/>
            <a:ext cx="9123218" cy="929213"/>
          </a:xfrm>
          <a:solidFill>
            <a:schemeClr val="bg1"/>
          </a:solidFill>
        </p:spPr>
        <p:txBody>
          <a:bodyPr/>
          <a:lstStyle/>
          <a:p>
            <a:pPr eaLnBrk="1" hangingPunct="1">
              <a:defRPr/>
            </a:pPr>
            <a:r>
              <a:rPr lang="en-US" sz="3200" b="1" dirty="0">
                <a:solidFill>
                  <a:srgbClr val="B80000"/>
                </a:solidFill>
                <a:cs typeface="+mj-cs"/>
              </a:rPr>
              <a:t>Relationship Between Pointers and Arrays (Cont.)</a:t>
            </a:r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" y="1066800"/>
            <a:ext cx="8686800" cy="5410200"/>
          </a:xfrm>
        </p:spPr>
        <p:txBody>
          <a:bodyPr>
            <a:normAutofit/>
          </a:bodyPr>
          <a:lstStyle/>
          <a:p>
            <a:pPr lvl="1" eaLnBrk="1" hangingPunct="1">
              <a:buFontTx/>
              <a:buNone/>
              <a:defRPr/>
            </a:pPr>
            <a:r>
              <a:rPr lang="en-US" sz="2900" b="1" dirty="0">
                <a:solidFill>
                  <a:srgbClr val="FF0000"/>
                </a:solidFill>
              </a:rPr>
              <a:t>Effect:-</a:t>
            </a:r>
          </a:p>
          <a:p>
            <a:pPr lvl="1" eaLnBrk="1" hangingPunct="1">
              <a:buFontTx/>
              <a:buNone/>
              <a:defRPr/>
            </a:pPr>
            <a:r>
              <a:rPr lang="en-US" sz="2500" dirty="0">
                <a:solidFill>
                  <a:srgbClr val="008000"/>
                </a:solidFill>
              </a:rPr>
              <a:t>- </a:t>
            </a:r>
            <a:r>
              <a:rPr lang="en-US" sz="2500" b="1" dirty="0">
                <a:solidFill>
                  <a:srgbClr val="B80000"/>
                </a:solidFill>
              </a:rPr>
              <a:t>List</a:t>
            </a:r>
            <a:r>
              <a:rPr lang="en-US" sz="2500" b="1" dirty="0">
                <a:solidFill>
                  <a:srgbClr val="008000"/>
                </a:solidFill>
              </a:rPr>
              <a:t> </a:t>
            </a:r>
            <a:r>
              <a:rPr lang="en-US" sz="2500" b="1" dirty="0"/>
              <a:t>is an </a:t>
            </a:r>
            <a:r>
              <a:rPr lang="en-US" sz="2500" b="1" dirty="0">
                <a:solidFill>
                  <a:srgbClr val="B80000"/>
                </a:solidFill>
              </a:rPr>
              <a:t>address</a:t>
            </a:r>
            <a:r>
              <a:rPr lang="en-US" sz="2500" dirty="0">
                <a:solidFill>
                  <a:srgbClr val="008000"/>
                </a:solidFill>
              </a:rPr>
              <a:t>, </a:t>
            </a:r>
            <a:r>
              <a:rPr lang="en-US" sz="2500" b="1" dirty="0"/>
              <a:t>no need for</a:t>
            </a:r>
            <a:r>
              <a:rPr lang="en-US" sz="2500" b="1" dirty="0">
                <a:solidFill>
                  <a:srgbClr val="008000"/>
                </a:solidFill>
              </a:rPr>
              <a:t> </a:t>
            </a:r>
            <a:r>
              <a:rPr lang="en-US" sz="2500" b="1" dirty="0">
                <a:solidFill>
                  <a:srgbClr val="2C14DE"/>
                </a:solidFill>
              </a:rPr>
              <a:t>&amp;</a:t>
            </a:r>
          </a:p>
          <a:p>
            <a:pPr lvl="1" eaLnBrk="1" hangingPunct="1">
              <a:buFontTx/>
              <a:buNone/>
              <a:defRPr/>
            </a:pPr>
            <a:r>
              <a:rPr lang="en-US" sz="2500" dirty="0">
                <a:solidFill>
                  <a:srgbClr val="008000"/>
                </a:solidFill>
              </a:rPr>
              <a:t>- </a:t>
            </a:r>
            <a:r>
              <a:rPr lang="en-US" sz="2500" dirty="0"/>
              <a:t>The</a:t>
            </a:r>
            <a:r>
              <a:rPr lang="en-US" sz="2500" dirty="0">
                <a:solidFill>
                  <a:srgbClr val="008000"/>
                </a:solidFill>
              </a:rPr>
              <a:t> </a:t>
            </a:r>
            <a:r>
              <a:rPr lang="en-US" sz="2500" b="1" dirty="0" err="1">
                <a:solidFill>
                  <a:srgbClr val="B80000"/>
                </a:solidFill>
              </a:rPr>
              <a:t>bPtr</a:t>
            </a:r>
            <a:r>
              <a:rPr lang="en-US" sz="2500" dirty="0">
                <a:solidFill>
                  <a:srgbClr val="B80000"/>
                </a:solidFill>
              </a:rPr>
              <a:t> </a:t>
            </a:r>
            <a:r>
              <a:rPr lang="en-US" sz="2500" b="1" dirty="0">
                <a:solidFill>
                  <a:srgbClr val="2C14DE"/>
                </a:solidFill>
              </a:rPr>
              <a:t>pointer</a:t>
            </a:r>
            <a:r>
              <a:rPr lang="en-US" sz="2500" dirty="0">
                <a:solidFill>
                  <a:srgbClr val="2C14DE"/>
                </a:solidFill>
              </a:rPr>
              <a:t> </a:t>
            </a:r>
            <a:r>
              <a:rPr lang="en-US" sz="2500" dirty="0"/>
              <a:t>will contain the </a:t>
            </a:r>
            <a:r>
              <a:rPr lang="en-US" sz="2500" b="1" dirty="0">
                <a:solidFill>
                  <a:srgbClr val="2C14DE"/>
                </a:solidFill>
              </a:rPr>
              <a:t>address of the first element</a:t>
            </a:r>
            <a:r>
              <a:rPr lang="en-US" sz="2500" b="1" dirty="0">
                <a:solidFill>
                  <a:srgbClr val="008000"/>
                </a:solidFill>
              </a:rPr>
              <a:t> </a:t>
            </a:r>
            <a:r>
              <a:rPr lang="en-US" sz="2500" dirty="0"/>
              <a:t>of </a:t>
            </a:r>
            <a:r>
              <a:rPr lang="en-US" sz="2500" b="1" dirty="0"/>
              <a:t>array </a:t>
            </a:r>
            <a:r>
              <a:rPr lang="en-US" sz="2500" b="1" dirty="0">
                <a:solidFill>
                  <a:srgbClr val="B80000"/>
                </a:solidFill>
              </a:rPr>
              <a:t>List</a:t>
            </a:r>
            <a:r>
              <a:rPr lang="en-US" sz="2500" dirty="0">
                <a:solidFill>
                  <a:srgbClr val="008000"/>
                </a:solidFill>
              </a:rPr>
              <a:t>.</a:t>
            </a:r>
          </a:p>
          <a:p>
            <a:pPr lvl="1" eaLnBrk="1" hangingPunct="1">
              <a:defRPr/>
            </a:pPr>
            <a:r>
              <a:rPr lang="en-US" sz="2500" dirty="0"/>
              <a:t>Element </a:t>
            </a:r>
            <a:r>
              <a:rPr lang="en-US" sz="2500" b="1" dirty="0">
                <a:solidFill>
                  <a:schemeClr val="accent2"/>
                </a:solidFill>
              </a:rPr>
              <a:t>List[2]</a:t>
            </a:r>
            <a:r>
              <a:rPr lang="en-US" sz="2500" dirty="0"/>
              <a:t> can be accessed by  </a:t>
            </a:r>
            <a:r>
              <a:rPr lang="en-US" sz="2500" b="1" dirty="0">
                <a:solidFill>
                  <a:srgbClr val="008000"/>
                </a:solidFill>
              </a:rPr>
              <a:t>*( </a:t>
            </a:r>
            <a:r>
              <a:rPr lang="en-US" sz="2500" b="1" dirty="0" err="1">
                <a:solidFill>
                  <a:srgbClr val="008000"/>
                </a:solidFill>
              </a:rPr>
              <a:t>bPtr</a:t>
            </a:r>
            <a:r>
              <a:rPr lang="en-US" sz="2500" b="1" dirty="0">
                <a:solidFill>
                  <a:srgbClr val="008000"/>
                </a:solidFill>
              </a:rPr>
              <a:t> + 2 )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39604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271336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Rectangle 2"/>
          <p:cNvSpPr>
            <a:spLocks noGrp="1" noChangeArrowheads="1"/>
          </p:cNvSpPr>
          <p:nvPr>
            <p:ph type="title"/>
          </p:nvPr>
        </p:nvSpPr>
        <p:spPr>
          <a:xfrm>
            <a:off x="864909" y="54037"/>
            <a:ext cx="8229600" cy="793491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B80000"/>
                </a:solidFill>
              </a:rPr>
              <a:t>Relationship between Arrays and Pointers</a:t>
            </a:r>
            <a:endParaRPr lang="en-US" sz="2400" b="1" dirty="0">
              <a:solidFill>
                <a:srgbClr val="B80000"/>
              </a:solidFill>
            </a:endParaRPr>
          </a:p>
        </p:txBody>
      </p:sp>
      <p:sp>
        <p:nvSpPr>
          <p:cNvPr id="376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14400"/>
            <a:ext cx="9144000" cy="59436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2F1BC7"/>
                </a:solidFill>
              </a:rPr>
              <a:t>Arrays</a:t>
            </a:r>
            <a:r>
              <a:rPr lang="en-US" dirty="0"/>
              <a:t> and </a:t>
            </a:r>
            <a:r>
              <a:rPr lang="en-US" b="1" dirty="0">
                <a:solidFill>
                  <a:srgbClr val="2F1BC7"/>
                </a:solidFill>
              </a:rPr>
              <a:t>pointers</a:t>
            </a:r>
            <a:r>
              <a:rPr lang="en-US" dirty="0"/>
              <a:t> are </a:t>
            </a:r>
            <a:r>
              <a:rPr lang="en-US" b="1" i="1" dirty="0"/>
              <a:t>closely related</a:t>
            </a:r>
            <a:r>
              <a:rPr lang="en-US" i="1" dirty="0"/>
              <a:t>:</a:t>
            </a:r>
            <a:endParaRPr lang="en-US" sz="3200" i="1" dirty="0">
              <a:solidFill>
                <a:srgbClr val="2F1BC7"/>
              </a:solidFill>
            </a:endParaRPr>
          </a:p>
          <a:p>
            <a:endParaRPr lang="en-US" dirty="0"/>
          </a:p>
          <a:p>
            <a:pPr>
              <a:buNone/>
            </a:pPr>
            <a:r>
              <a:rPr lang="en-US" sz="3000" b="1" dirty="0">
                <a:latin typeface="Courier New" pitchFamily="49" charset="0"/>
              </a:rPr>
              <a:t>void main()</a:t>
            </a:r>
          </a:p>
          <a:p>
            <a:pPr>
              <a:buNone/>
            </a:pPr>
            <a:r>
              <a:rPr lang="en-US" sz="3000" b="1" dirty="0">
                <a:latin typeface="Courier New" pitchFamily="49" charset="0"/>
              </a:rPr>
              <a:t>{</a:t>
            </a:r>
          </a:p>
          <a:p>
            <a:pPr>
              <a:buNone/>
            </a:pPr>
            <a:r>
              <a:rPr lang="en-US" sz="3000" b="1" dirty="0">
                <a:latin typeface="Courier New" pitchFamily="49" charset="0"/>
              </a:rPr>
              <a:t>  </a:t>
            </a:r>
            <a:r>
              <a:rPr lang="en-US" sz="3000" b="1" dirty="0" err="1">
                <a:latin typeface="Courier New" pitchFamily="49" charset="0"/>
              </a:rPr>
              <a:t>int</a:t>
            </a:r>
            <a:r>
              <a:rPr lang="en-US" sz="3000" b="1" dirty="0">
                <a:latin typeface="Courier New" pitchFamily="49" charset="0"/>
              </a:rPr>
              <a:t> numbers[]={10,20,30,40,50};</a:t>
            </a:r>
          </a:p>
          <a:p>
            <a:pPr>
              <a:buNone/>
            </a:pPr>
            <a:r>
              <a:rPr lang="en-US" sz="3000" b="1" dirty="0">
                <a:latin typeface="Courier New" pitchFamily="49" charset="0"/>
              </a:rPr>
              <a:t>  </a:t>
            </a:r>
            <a:r>
              <a:rPr lang="en-US" sz="3000" b="1" dirty="0" err="1">
                <a:latin typeface="Courier New" pitchFamily="49" charset="0"/>
              </a:rPr>
              <a:t>cout</a:t>
            </a:r>
            <a:r>
              <a:rPr lang="en-US" sz="3000" b="1" dirty="0">
                <a:latin typeface="Courier New" pitchFamily="49" charset="0"/>
              </a:rPr>
              <a:t>&lt;&lt;numbers[0]&lt;&lt;</a:t>
            </a:r>
            <a:r>
              <a:rPr lang="en-US" sz="3000" b="1" dirty="0" err="1">
                <a:latin typeface="Courier New" pitchFamily="49" charset="0"/>
              </a:rPr>
              <a:t>endl</a:t>
            </a:r>
            <a:r>
              <a:rPr lang="en-US" sz="3000" b="1" dirty="0">
                <a:latin typeface="Courier New" pitchFamily="49" charset="0"/>
              </a:rPr>
              <a:t>;</a:t>
            </a:r>
          </a:p>
          <a:p>
            <a:pPr>
              <a:buNone/>
            </a:pPr>
            <a:r>
              <a:rPr lang="en-US" sz="3000" b="1" dirty="0">
                <a:latin typeface="Courier New" pitchFamily="49" charset="0"/>
              </a:rPr>
              <a:t>  </a:t>
            </a:r>
            <a:r>
              <a:rPr lang="en-US" sz="3000" b="1" dirty="0" err="1">
                <a:latin typeface="Courier New" pitchFamily="49" charset="0"/>
              </a:rPr>
              <a:t>cout</a:t>
            </a:r>
            <a:r>
              <a:rPr lang="en-US" sz="3000" b="1" dirty="0">
                <a:latin typeface="Courier New" pitchFamily="49" charset="0"/>
              </a:rPr>
              <a:t>&lt;&lt;numbers&lt;&lt;</a:t>
            </a:r>
            <a:r>
              <a:rPr lang="en-US" sz="3000" b="1" dirty="0" err="1">
                <a:latin typeface="Courier New" pitchFamily="49" charset="0"/>
              </a:rPr>
              <a:t>endl</a:t>
            </a:r>
            <a:r>
              <a:rPr lang="en-US" sz="3000" b="1" dirty="0">
                <a:latin typeface="Courier New" pitchFamily="49" charset="0"/>
              </a:rPr>
              <a:t>;</a:t>
            </a:r>
          </a:p>
          <a:p>
            <a:pPr>
              <a:buNone/>
            </a:pPr>
            <a:r>
              <a:rPr lang="en-US" sz="3000" b="1" dirty="0">
                <a:latin typeface="Courier New" pitchFamily="49" charset="0"/>
              </a:rPr>
              <a:t>  </a:t>
            </a:r>
            <a:r>
              <a:rPr lang="en-US" sz="3000" b="1" dirty="0" err="1">
                <a:latin typeface="Courier New" pitchFamily="49" charset="0"/>
              </a:rPr>
              <a:t>cout</a:t>
            </a:r>
            <a:r>
              <a:rPr lang="en-US" sz="3000" b="1" dirty="0">
                <a:latin typeface="Courier New" pitchFamily="49" charset="0"/>
              </a:rPr>
              <a:t>&lt;&lt;*numbers&lt;&lt;</a:t>
            </a:r>
            <a:r>
              <a:rPr lang="en-US" sz="3000" b="1" dirty="0" err="1">
                <a:latin typeface="Courier New" pitchFamily="49" charset="0"/>
              </a:rPr>
              <a:t>endl</a:t>
            </a:r>
            <a:r>
              <a:rPr lang="en-US" sz="3000" b="1" dirty="0">
                <a:latin typeface="Courier New" pitchFamily="49" charset="0"/>
              </a:rPr>
              <a:t>;</a:t>
            </a:r>
          </a:p>
          <a:p>
            <a:pPr>
              <a:buNone/>
            </a:pPr>
            <a:r>
              <a:rPr lang="en-US" sz="3000" b="1" dirty="0">
                <a:latin typeface="Courier New" pitchFamily="49" charset="0"/>
              </a:rPr>
              <a:t>  </a:t>
            </a:r>
            <a:r>
              <a:rPr lang="en-US" sz="3000" b="1" dirty="0" err="1">
                <a:latin typeface="Courier New" pitchFamily="49" charset="0"/>
              </a:rPr>
              <a:t>cout</a:t>
            </a:r>
            <a:r>
              <a:rPr lang="en-US" sz="3000" b="1" dirty="0">
                <a:latin typeface="Courier New" pitchFamily="49" charset="0"/>
              </a:rPr>
              <a:t>&lt;&lt;*(numbers+1);</a:t>
            </a:r>
          </a:p>
          <a:p>
            <a:pPr>
              <a:buNone/>
            </a:pPr>
            <a:r>
              <a:rPr lang="en-US" sz="3000" b="1" dirty="0">
                <a:latin typeface="Courier New" pitchFamily="49" charset="0"/>
              </a:rP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847529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67400" y="3705664"/>
            <a:ext cx="12192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867400" y="4267200"/>
            <a:ext cx="2286000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Address e.g., &amp;34234 </a:t>
            </a:r>
          </a:p>
        </p:txBody>
      </p:sp>
      <p:sp>
        <p:nvSpPr>
          <p:cNvPr id="8" name="Rectangle 7"/>
          <p:cNvSpPr/>
          <p:nvPr/>
        </p:nvSpPr>
        <p:spPr>
          <a:xfrm>
            <a:off x="5867400" y="4876800"/>
            <a:ext cx="12192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5867400" y="5410200"/>
            <a:ext cx="12192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654197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Rectangle 2"/>
          <p:cNvSpPr>
            <a:spLocks noGrp="1" noChangeArrowheads="1"/>
          </p:cNvSpPr>
          <p:nvPr>
            <p:ph type="title"/>
          </p:nvPr>
        </p:nvSpPr>
        <p:spPr>
          <a:xfrm>
            <a:off x="894784" y="-18862"/>
            <a:ext cx="8229600" cy="78086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B80000"/>
                </a:solidFill>
              </a:rPr>
              <a:t>Arrays and Pointers</a:t>
            </a:r>
            <a:endParaRPr lang="en-US" sz="2800" b="1" dirty="0">
              <a:solidFill>
                <a:srgbClr val="B80000"/>
              </a:solidFill>
            </a:endParaRPr>
          </a:p>
        </p:txBody>
      </p:sp>
      <p:sp>
        <p:nvSpPr>
          <p:cNvPr id="376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838200"/>
            <a:ext cx="8991600" cy="6019800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sz="3200" b="1" dirty="0">
                <a:solidFill>
                  <a:srgbClr val="2F1BC7"/>
                </a:solidFill>
              </a:rPr>
              <a:t>Array name </a:t>
            </a:r>
            <a:r>
              <a:rPr lang="en-US" sz="3200" dirty="0"/>
              <a:t>is the </a:t>
            </a:r>
            <a:r>
              <a:rPr lang="en-US" sz="3200" b="1" dirty="0">
                <a:solidFill>
                  <a:srgbClr val="2F1BC7"/>
                </a:solidFill>
              </a:rPr>
              <a:t>starting address</a:t>
            </a:r>
            <a:r>
              <a:rPr lang="en-US" sz="3200" dirty="0"/>
              <a:t> of the </a:t>
            </a:r>
            <a:r>
              <a:rPr lang="en-US" sz="3200" b="1" dirty="0">
                <a:solidFill>
                  <a:srgbClr val="2F1BC7"/>
                </a:solidFill>
              </a:rPr>
              <a:t>array</a:t>
            </a:r>
          </a:p>
          <a:p>
            <a:endParaRPr lang="en-US" dirty="0"/>
          </a:p>
          <a:p>
            <a:r>
              <a:rPr lang="en-US" dirty="0"/>
              <a:t>Let		</a:t>
            </a:r>
            <a:r>
              <a:rPr lang="en-US" sz="3000" b="1" dirty="0" err="1">
                <a:latin typeface="Courier New" pitchFamily="49" charset="0"/>
              </a:rPr>
              <a:t>int</a:t>
            </a:r>
            <a:r>
              <a:rPr lang="en-US" sz="3000" b="1" dirty="0">
                <a:latin typeface="Courier New" pitchFamily="49" charset="0"/>
              </a:rPr>
              <a:t> A[25];</a:t>
            </a:r>
            <a:br>
              <a:rPr lang="en-US" dirty="0"/>
            </a:br>
            <a:r>
              <a:rPr lang="en-US" dirty="0"/>
              <a:t>		</a:t>
            </a:r>
            <a:r>
              <a:rPr lang="en-US" sz="3000" b="1" dirty="0" err="1">
                <a:latin typeface="Courier New" pitchFamily="49" charset="0"/>
              </a:rPr>
              <a:t>int</a:t>
            </a:r>
            <a:r>
              <a:rPr lang="en-US" sz="3000" b="1" dirty="0">
                <a:latin typeface="Courier New" pitchFamily="49" charset="0"/>
              </a:rPr>
              <a:t> *p; </a:t>
            </a:r>
            <a:r>
              <a:rPr lang="en-US" sz="3000" b="1" dirty="0" err="1">
                <a:latin typeface="Courier New" pitchFamily="49" charset="0"/>
              </a:rPr>
              <a:t>int</a:t>
            </a:r>
            <a:r>
              <a:rPr lang="en-US" sz="3000" b="1" dirty="0">
                <a:latin typeface="Courier New" pitchFamily="49" charset="0"/>
              </a:rPr>
              <a:t> </a:t>
            </a:r>
            <a:r>
              <a:rPr lang="en-US" sz="3000" b="1" dirty="0" err="1">
                <a:latin typeface="Courier New" pitchFamily="49" charset="0"/>
              </a:rPr>
              <a:t>i</a:t>
            </a:r>
            <a:r>
              <a:rPr lang="en-US" sz="3000" b="1" dirty="0">
                <a:latin typeface="Courier New" pitchFamily="49" charset="0"/>
              </a:rPr>
              <a:t>, j;</a:t>
            </a:r>
          </a:p>
          <a:p>
            <a:endParaRPr lang="en-US" sz="3000" b="1" dirty="0">
              <a:latin typeface="Courier New" pitchFamily="49" charset="0"/>
            </a:endParaRPr>
          </a:p>
          <a:p>
            <a:r>
              <a:rPr lang="en-US" dirty="0"/>
              <a:t>Let		</a:t>
            </a:r>
            <a:r>
              <a:rPr lang="en-US" sz="3000" b="1" dirty="0">
                <a:solidFill>
                  <a:srgbClr val="2F1BC7"/>
                </a:solidFill>
                <a:latin typeface="Courier New" pitchFamily="49" charset="0"/>
              </a:rPr>
              <a:t>p = A; </a:t>
            </a:r>
          </a:p>
          <a:p>
            <a:endParaRPr lang="en-US" sz="3000" b="1" dirty="0">
              <a:latin typeface="Courier New" pitchFamily="49" charset="0"/>
            </a:endParaRPr>
          </a:p>
          <a:p>
            <a:r>
              <a:rPr lang="en-US" dirty="0"/>
              <a:t>Then	</a:t>
            </a:r>
            <a:r>
              <a:rPr lang="en-US" sz="3000" b="1" dirty="0">
                <a:solidFill>
                  <a:srgbClr val="2F1BC7"/>
                </a:solidFill>
                <a:latin typeface="Courier New" pitchFamily="49" charset="0"/>
              </a:rPr>
              <a:t>p</a:t>
            </a:r>
            <a:r>
              <a:rPr lang="en-US" dirty="0"/>
              <a:t> points to </a:t>
            </a:r>
            <a:r>
              <a:rPr lang="en-US" sz="3000" b="1" dirty="0">
                <a:solidFill>
                  <a:srgbClr val="2F1BC7"/>
                </a:solidFill>
                <a:latin typeface="Courier New" pitchFamily="49" charset="0"/>
              </a:rPr>
              <a:t>A[0]</a:t>
            </a:r>
            <a:br>
              <a:rPr lang="en-US" dirty="0"/>
            </a:br>
            <a:r>
              <a:rPr lang="en-US" dirty="0"/>
              <a:t>		</a:t>
            </a:r>
            <a:r>
              <a:rPr lang="en-US" sz="3000" b="1" dirty="0">
                <a:solidFill>
                  <a:srgbClr val="2F1BC7"/>
                </a:solidFill>
                <a:latin typeface="Courier New" pitchFamily="49" charset="0"/>
              </a:rPr>
              <a:t>p + </a:t>
            </a:r>
            <a:r>
              <a:rPr lang="en-US" sz="3000" b="1" dirty="0" err="1">
                <a:solidFill>
                  <a:srgbClr val="2F1BC7"/>
                </a:solidFill>
                <a:latin typeface="Courier New" pitchFamily="49" charset="0"/>
              </a:rPr>
              <a:t>i</a:t>
            </a:r>
            <a:r>
              <a:rPr lang="en-US" dirty="0">
                <a:solidFill>
                  <a:srgbClr val="2F1BC7"/>
                </a:solidFill>
              </a:rPr>
              <a:t>   </a:t>
            </a:r>
            <a:r>
              <a:rPr lang="en-US" dirty="0"/>
              <a:t>points to    </a:t>
            </a:r>
            <a:r>
              <a:rPr lang="en-US" sz="3000" b="1" dirty="0">
                <a:solidFill>
                  <a:srgbClr val="2F1BC7"/>
                </a:solidFill>
                <a:latin typeface="Courier New" pitchFamily="49" charset="0"/>
              </a:rPr>
              <a:t>A[</a:t>
            </a:r>
            <a:r>
              <a:rPr lang="en-US" sz="3000" b="1" dirty="0" err="1">
                <a:solidFill>
                  <a:srgbClr val="2F1BC7"/>
                </a:solidFill>
                <a:latin typeface="Courier New" pitchFamily="49" charset="0"/>
              </a:rPr>
              <a:t>i</a:t>
            </a:r>
            <a:r>
              <a:rPr lang="en-US" sz="3000" b="1" dirty="0">
                <a:solidFill>
                  <a:srgbClr val="2F1BC7"/>
                </a:solidFill>
                <a:latin typeface="Courier New" pitchFamily="49" charset="0"/>
              </a:rPr>
              <a:t>]</a:t>
            </a:r>
            <a:br>
              <a:rPr lang="en-US" dirty="0"/>
            </a:br>
            <a:r>
              <a:rPr lang="en-US" dirty="0"/>
              <a:t>		</a:t>
            </a:r>
            <a:r>
              <a:rPr lang="en-US" sz="3000" b="1" dirty="0">
                <a:solidFill>
                  <a:srgbClr val="2F1BC7"/>
                </a:solidFill>
                <a:latin typeface="Courier New" pitchFamily="49" charset="0"/>
              </a:rPr>
              <a:t>&amp;A[j] </a:t>
            </a:r>
            <a:r>
              <a:rPr lang="en-US" sz="3000" b="1" dirty="0">
                <a:latin typeface="Courier New" pitchFamily="49" charset="0"/>
              </a:rPr>
              <a:t>== </a:t>
            </a:r>
            <a:r>
              <a:rPr lang="en-US" sz="3000" b="1" dirty="0" err="1">
                <a:solidFill>
                  <a:srgbClr val="2F1BC7"/>
                </a:solidFill>
                <a:latin typeface="Courier New" pitchFamily="49" charset="0"/>
              </a:rPr>
              <a:t>p+j</a:t>
            </a:r>
            <a:br>
              <a:rPr lang="en-US" dirty="0"/>
            </a:br>
            <a:r>
              <a:rPr lang="en-US" dirty="0"/>
              <a:t>		</a:t>
            </a:r>
            <a:r>
              <a:rPr lang="en-US" sz="3000" b="1" dirty="0">
                <a:solidFill>
                  <a:srgbClr val="2F1BC7"/>
                </a:solidFill>
                <a:latin typeface="Courier New" pitchFamily="49" charset="0"/>
              </a:rPr>
              <a:t>*(</a:t>
            </a:r>
            <a:r>
              <a:rPr lang="en-US" sz="3000" b="1" dirty="0" err="1">
                <a:solidFill>
                  <a:srgbClr val="2F1BC7"/>
                </a:solidFill>
                <a:latin typeface="Courier New" pitchFamily="49" charset="0"/>
              </a:rPr>
              <a:t>p+j</a:t>
            </a:r>
            <a:r>
              <a:rPr lang="en-US" sz="3000" b="1" dirty="0">
                <a:solidFill>
                  <a:srgbClr val="2F1BC7"/>
                </a:solidFill>
                <a:latin typeface="Courier New" pitchFamily="49" charset="0"/>
              </a:rPr>
              <a:t>)</a:t>
            </a:r>
            <a:r>
              <a:rPr lang="en-US" dirty="0">
                <a:solidFill>
                  <a:srgbClr val="2F1BC7"/>
                </a:solidFill>
              </a:rPr>
              <a:t> </a:t>
            </a:r>
            <a:r>
              <a:rPr lang="en-US" dirty="0"/>
              <a:t>is the same as </a:t>
            </a:r>
            <a:r>
              <a:rPr lang="en-US" sz="3000" b="1" dirty="0">
                <a:solidFill>
                  <a:srgbClr val="2F1BC7"/>
                </a:solidFill>
                <a:latin typeface="Courier New" pitchFamily="49" charset="0"/>
              </a:rPr>
              <a:t>A[j]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7620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528652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Rectangle 2"/>
          <p:cNvSpPr>
            <a:spLocks noGrp="1" noChangeArrowheads="1"/>
          </p:cNvSpPr>
          <p:nvPr>
            <p:ph type="title"/>
          </p:nvPr>
        </p:nvSpPr>
        <p:spPr>
          <a:xfrm>
            <a:off x="894784" y="-18862"/>
            <a:ext cx="8229600" cy="78086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B80000"/>
                </a:solidFill>
              </a:rPr>
              <a:t>Arrays and Pointers</a:t>
            </a:r>
            <a:endParaRPr lang="en-US" sz="2800" b="1" dirty="0">
              <a:solidFill>
                <a:srgbClr val="B8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7620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371600"/>
            <a:ext cx="7429500" cy="4073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75003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Rectangle 2"/>
          <p:cNvSpPr>
            <a:spLocks noGrp="1" noChangeArrowheads="1"/>
          </p:cNvSpPr>
          <p:nvPr>
            <p:ph type="title"/>
          </p:nvPr>
        </p:nvSpPr>
        <p:spPr>
          <a:xfrm>
            <a:off x="894784" y="-18862"/>
            <a:ext cx="8229600" cy="78086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B80000"/>
                </a:solidFill>
              </a:rPr>
              <a:t>Pointer Arithmetic</a:t>
            </a:r>
            <a:endParaRPr lang="en-US" sz="2800" b="1" dirty="0">
              <a:solidFill>
                <a:srgbClr val="B80000"/>
              </a:solidFill>
            </a:endParaRPr>
          </a:p>
        </p:txBody>
      </p:sp>
      <p:sp>
        <p:nvSpPr>
          <p:cNvPr id="376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" y="838200"/>
            <a:ext cx="9067800" cy="59979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B80000"/>
                </a:solidFill>
              </a:rPr>
              <a:t>Only two types of arithmetic operations allowed:</a:t>
            </a:r>
          </a:p>
          <a:p>
            <a:pPr marL="514350" indent="-514350">
              <a:buAutoNum type="arabicParenR"/>
            </a:pPr>
            <a:r>
              <a:rPr lang="en-US" sz="2800" b="1" dirty="0">
                <a:solidFill>
                  <a:srgbClr val="008000"/>
                </a:solidFill>
              </a:rPr>
              <a:t>Addition</a:t>
            </a:r>
            <a:r>
              <a:rPr lang="en-US" sz="2800" b="1" dirty="0">
                <a:solidFill>
                  <a:srgbClr val="2C14DE"/>
                </a:solidFill>
              </a:rPr>
              <a:t> :</a:t>
            </a:r>
            <a:r>
              <a:rPr lang="en-US" sz="2800" b="1" dirty="0"/>
              <a:t> only </a:t>
            </a:r>
            <a:r>
              <a:rPr lang="en-US" sz="2800" b="1" dirty="0">
                <a:solidFill>
                  <a:srgbClr val="2C14DE"/>
                </a:solidFill>
              </a:rPr>
              <a:t>integers</a:t>
            </a:r>
            <a:r>
              <a:rPr lang="en-US" sz="2800" b="1" dirty="0"/>
              <a:t> can be added</a:t>
            </a:r>
          </a:p>
          <a:p>
            <a:pPr marL="514350" indent="-514350">
              <a:buFont typeface="Arial" pitchFamily="34" charset="0"/>
              <a:buAutoNum type="arabicParenR"/>
            </a:pPr>
            <a:r>
              <a:rPr lang="en-US" sz="2800" b="1" dirty="0">
                <a:solidFill>
                  <a:srgbClr val="008000"/>
                </a:solidFill>
              </a:rPr>
              <a:t>Subtraction</a:t>
            </a:r>
            <a:r>
              <a:rPr lang="en-US" sz="2800" b="1" dirty="0">
                <a:solidFill>
                  <a:srgbClr val="2C14DE"/>
                </a:solidFill>
              </a:rPr>
              <a:t>: </a:t>
            </a:r>
            <a:r>
              <a:rPr lang="en-US" sz="2800" b="1" dirty="0"/>
              <a:t>only </a:t>
            </a:r>
            <a:r>
              <a:rPr lang="en-US" sz="2800" b="1" dirty="0">
                <a:solidFill>
                  <a:srgbClr val="2C14DE"/>
                </a:solidFill>
              </a:rPr>
              <a:t>integers</a:t>
            </a:r>
            <a:r>
              <a:rPr lang="en-US" sz="2800" b="1" dirty="0"/>
              <a:t> be subtracted</a:t>
            </a:r>
          </a:p>
          <a:p>
            <a:pPr marL="514350" indent="-514350">
              <a:buAutoNum type="arabicParenR"/>
            </a:pPr>
            <a:endParaRPr lang="en-US" sz="2800" b="1" dirty="0">
              <a:solidFill>
                <a:srgbClr val="2C14DE"/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2C14DE"/>
                </a:solidFill>
              </a:rPr>
              <a:t>Which of the following are valid/invalid?</a:t>
            </a:r>
          </a:p>
          <a:p>
            <a:pPr marL="0" indent="0">
              <a:buNone/>
            </a:pPr>
            <a:endParaRPr lang="en-US" b="1" dirty="0">
              <a:solidFill>
                <a:srgbClr val="B80000"/>
              </a:solidFill>
            </a:endParaRPr>
          </a:p>
          <a:p>
            <a:pPr lvl="1"/>
            <a:endParaRPr lang="en-US" sz="3200" dirty="0">
              <a:solidFill>
                <a:srgbClr val="2F1BC7"/>
              </a:solidFill>
            </a:endParaRPr>
          </a:p>
          <a:p>
            <a:pPr lvl="1"/>
            <a:endParaRPr lang="en-US" sz="3200" dirty="0">
              <a:solidFill>
                <a:srgbClr val="2F1BC7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7620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t="9401"/>
          <a:stretch/>
        </p:blipFill>
        <p:spPr>
          <a:xfrm>
            <a:off x="333093" y="3352799"/>
            <a:ext cx="5704703" cy="3313751"/>
          </a:xfrm>
          <a:prstGeom prst="rect">
            <a:avLst/>
          </a:prstGeom>
        </p:spPr>
      </p:pic>
      <p:sp>
        <p:nvSpPr>
          <p:cNvPr id="4" name="Freeform 3"/>
          <p:cNvSpPr/>
          <p:nvPr/>
        </p:nvSpPr>
        <p:spPr>
          <a:xfrm>
            <a:off x="4114800" y="3429000"/>
            <a:ext cx="325925" cy="152400"/>
          </a:xfrm>
          <a:custGeom>
            <a:avLst/>
            <a:gdLst>
              <a:gd name="connsiteX0" fmla="*/ 0 w 325925"/>
              <a:gd name="connsiteY0" fmla="*/ 108642 h 185157"/>
              <a:gd name="connsiteX1" fmla="*/ 81481 w 325925"/>
              <a:gd name="connsiteY1" fmla="*/ 181069 h 185157"/>
              <a:gd name="connsiteX2" fmla="*/ 325925 w 325925"/>
              <a:gd name="connsiteY2" fmla="*/ 0 h 1851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5925" h="185157">
                <a:moveTo>
                  <a:pt x="0" y="108642"/>
                </a:moveTo>
                <a:cubicBezTo>
                  <a:pt x="13580" y="153909"/>
                  <a:pt x="27160" y="199176"/>
                  <a:pt x="81481" y="181069"/>
                </a:cubicBezTo>
                <a:cubicBezTo>
                  <a:pt x="135802" y="162962"/>
                  <a:pt x="230863" y="81481"/>
                  <a:pt x="325925" y="0"/>
                </a:cubicBezTo>
              </a:path>
            </a:pathLst>
          </a:custGeom>
          <a:noFill/>
          <a:ln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4355762" y="4070378"/>
            <a:ext cx="228600" cy="245198"/>
            <a:chOff x="7188451" y="4137434"/>
            <a:chExt cx="355349" cy="298764"/>
          </a:xfrm>
        </p:grpSpPr>
        <p:sp>
          <p:nvSpPr>
            <p:cNvPr id="5" name="Freeform 4"/>
            <p:cNvSpPr/>
            <p:nvPr/>
          </p:nvSpPr>
          <p:spPr>
            <a:xfrm>
              <a:off x="7188451" y="4182701"/>
              <a:ext cx="355349" cy="236899"/>
            </a:xfrm>
            <a:custGeom>
              <a:avLst/>
              <a:gdLst>
                <a:gd name="connsiteX0" fmla="*/ 0 w 597529"/>
                <a:gd name="connsiteY0" fmla="*/ 0 h 334978"/>
                <a:gd name="connsiteX1" fmla="*/ 597529 w 597529"/>
                <a:gd name="connsiteY1" fmla="*/ 334978 h 334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7529" h="334978">
                  <a:moveTo>
                    <a:pt x="0" y="0"/>
                  </a:moveTo>
                  <a:lnTo>
                    <a:pt x="597529" y="334978"/>
                  </a:lnTo>
                </a:path>
              </a:pathLst>
            </a:custGeom>
            <a:noFill/>
            <a:ln>
              <a:solidFill>
                <a:srgbClr val="B8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reeform 5"/>
            <p:cNvSpPr/>
            <p:nvPr/>
          </p:nvSpPr>
          <p:spPr>
            <a:xfrm>
              <a:off x="7306147" y="4137434"/>
              <a:ext cx="172015" cy="298764"/>
            </a:xfrm>
            <a:custGeom>
              <a:avLst/>
              <a:gdLst>
                <a:gd name="connsiteX0" fmla="*/ 172015 w 172015"/>
                <a:gd name="connsiteY0" fmla="*/ 0 h 298764"/>
                <a:gd name="connsiteX1" fmla="*/ 0 w 172015"/>
                <a:gd name="connsiteY1" fmla="*/ 298764 h 298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2015" h="298764">
                  <a:moveTo>
                    <a:pt x="172015" y="0"/>
                  </a:moveTo>
                  <a:cubicBezTo>
                    <a:pt x="101851" y="119958"/>
                    <a:pt x="31687" y="239917"/>
                    <a:pt x="0" y="298764"/>
                  </a:cubicBezTo>
                </a:path>
              </a:pathLst>
            </a:custGeom>
            <a:noFill/>
            <a:ln>
              <a:solidFill>
                <a:srgbClr val="B8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220800" y="4707802"/>
            <a:ext cx="228600" cy="245198"/>
            <a:chOff x="7188451" y="4137434"/>
            <a:chExt cx="355349" cy="298764"/>
          </a:xfrm>
        </p:grpSpPr>
        <p:sp>
          <p:nvSpPr>
            <p:cNvPr id="12" name="Freeform 11"/>
            <p:cNvSpPr/>
            <p:nvPr/>
          </p:nvSpPr>
          <p:spPr>
            <a:xfrm>
              <a:off x="7188451" y="4182701"/>
              <a:ext cx="355349" cy="236899"/>
            </a:xfrm>
            <a:custGeom>
              <a:avLst/>
              <a:gdLst>
                <a:gd name="connsiteX0" fmla="*/ 0 w 597529"/>
                <a:gd name="connsiteY0" fmla="*/ 0 h 334978"/>
                <a:gd name="connsiteX1" fmla="*/ 597529 w 597529"/>
                <a:gd name="connsiteY1" fmla="*/ 334978 h 334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7529" h="334978">
                  <a:moveTo>
                    <a:pt x="0" y="0"/>
                  </a:moveTo>
                  <a:lnTo>
                    <a:pt x="597529" y="334978"/>
                  </a:lnTo>
                </a:path>
              </a:pathLst>
            </a:custGeom>
            <a:noFill/>
            <a:ln>
              <a:solidFill>
                <a:srgbClr val="B8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7306147" y="4137434"/>
              <a:ext cx="172015" cy="298764"/>
            </a:xfrm>
            <a:custGeom>
              <a:avLst/>
              <a:gdLst>
                <a:gd name="connsiteX0" fmla="*/ 172015 w 172015"/>
                <a:gd name="connsiteY0" fmla="*/ 0 h 298764"/>
                <a:gd name="connsiteX1" fmla="*/ 0 w 172015"/>
                <a:gd name="connsiteY1" fmla="*/ 298764 h 298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2015" h="298764">
                  <a:moveTo>
                    <a:pt x="172015" y="0"/>
                  </a:moveTo>
                  <a:cubicBezTo>
                    <a:pt x="101851" y="119958"/>
                    <a:pt x="31687" y="239917"/>
                    <a:pt x="0" y="298764"/>
                  </a:cubicBezTo>
                </a:path>
              </a:pathLst>
            </a:custGeom>
            <a:noFill/>
            <a:ln>
              <a:solidFill>
                <a:srgbClr val="B8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5595076" y="5613183"/>
            <a:ext cx="228600" cy="245198"/>
            <a:chOff x="7188451" y="4137434"/>
            <a:chExt cx="355349" cy="298764"/>
          </a:xfrm>
        </p:grpSpPr>
        <p:sp>
          <p:nvSpPr>
            <p:cNvPr id="18" name="Freeform 17"/>
            <p:cNvSpPr/>
            <p:nvPr/>
          </p:nvSpPr>
          <p:spPr>
            <a:xfrm>
              <a:off x="7188451" y="4182701"/>
              <a:ext cx="355349" cy="236899"/>
            </a:xfrm>
            <a:custGeom>
              <a:avLst/>
              <a:gdLst>
                <a:gd name="connsiteX0" fmla="*/ 0 w 597529"/>
                <a:gd name="connsiteY0" fmla="*/ 0 h 334978"/>
                <a:gd name="connsiteX1" fmla="*/ 597529 w 597529"/>
                <a:gd name="connsiteY1" fmla="*/ 334978 h 334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7529" h="334978">
                  <a:moveTo>
                    <a:pt x="0" y="0"/>
                  </a:moveTo>
                  <a:lnTo>
                    <a:pt x="597529" y="334978"/>
                  </a:lnTo>
                </a:path>
              </a:pathLst>
            </a:custGeom>
            <a:noFill/>
            <a:ln>
              <a:solidFill>
                <a:srgbClr val="B8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7306147" y="4137434"/>
              <a:ext cx="172015" cy="298764"/>
            </a:xfrm>
            <a:custGeom>
              <a:avLst/>
              <a:gdLst>
                <a:gd name="connsiteX0" fmla="*/ 172015 w 172015"/>
                <a:gd name="connsiteY0" fmla="*/ 0 h 298764"/>
                <a:gd name="connsiteX1" fmla="*/ 0 w 172015"/>
                <a:gd name="connsiteY1" fmla="*/ 298764 h 298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2015" h="298764">
                  <a:moveTo>
                    <a:pt x="172015" y="0"/>
                  </a:moveTo>
                  <a:cubicBezTo>
                    <a:pt x="101851" y="119958"/>
                    <a:pt x="31687" y="239917"/>
                    <a:pt x="0" y="298764"/>
                  </a:cubicBezTo>
                </a:path>
              </a:pathLst>
            </a:custGeom>
            <a:noFill/>
            <a:ln>
              <a:solidFill>
                <a:srgbClr val="B8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5" name="Freeform 34"/>
          <p:cNvSpPr/>
          <p:nvPr/>
        </p:nvSpPr>
        <p:spPr>
          <a:xfrm>
            <a:off x="4114799" y="3733800"/>
            <a:ext cx="325925" cy="152400"/>
          </a:xfrm>
          <a:custGeom>
            <a:avLst/>
            <a:gdLst>
              <a:gd name="connsiteX0" fmla="*/ 0 w 325925"/>
              <a:gd name="connsiteY0" fmla="*/ 108642 h 185157"/>
              <a:gd name="connsiteX1" fmla="*/ 81481 w 325925"/>
              <a:gd name="connsiteY1" fmla="*/ 181069 h 185157"/>
              <a:gd name="connsiteX2" fmla="*/ 325925 w 325925"/>
              <a:gd name="connsiteY2" fmla="*/ 0 h 1851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5925" h="185157">
                <a:moveTo>
                  <a:pt x="0" y="108642"/>
                </a:moveTo>
                <a:cubicBezTo>
                  <a:pt x="13580" y="153909"/>
                  <a:pt x="27160" y="199176"/>
                  <a:pt x="81481" y="181069"/>
                </a:cubicBezTo>
                <a:cubicBezTo>
                  <a:pt x="135802" y="162962"/>
                  <a:pt x="230863" y="81481"/>
                  <a:pt x="325925" y="0"/>
                </a:cubicBezTo>
              </a:path>
            </a:pathLst>
          </a:custGeom>
          <a:noFill/>
          <a:ln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 35"/>
          <p:cNvSpPr/>
          <p:nvPr/>
        </p:nvSpPr>
        <p:spPr>
          <a:xfrm>
            <a:off x="4277761" y="4400768"/>
            <a:ext cx="325925" cy="152400"/>
          </a:xfrm>
          <a:custGeom>
            <a:avLst/>
            <a:gdLst>
              <a:gd name="connsiteX0" fmla="*/ 0 w 325925"/>
              <a:gd name="connsiteY0" fmla="*/ 108642 h 185157"/>
              <a:gd name="connsiteX1" fmla="*/ 81481 w 325925"/>
              <a:gd name="connsiteY1" fmla="*/ 181069 h 185157"/>
              <a:gd name="connsiteX2" fmla="*/ 325925 w 325925"/>
              <a:gd name="connsiteY2" fmla="*/ 0 h 1851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5925" h="185157">
                <a:moveTo>
                  <a:pt x="0" y="108642"/>
                </a:moveTo>
                <a:cubicBezTo>
                  <a:pt x="13580" y="153909"/>
                  <a:pt x="27160" y="199176"/>
                  <a:pt x="81481" y="181069"/>
                </a:cubicBezTo>
                <a:cubicBezTo>
                  <a:pt x="135802" y="162962"/>
                  <a:pt x="230863" y="81481"/>
                  <a:pt x="325925" y="0"/>
                </a:cubicBezTo>
              </a:path>
            </a:pathLst>
          </a:custGeom>
          <a:noFill/>
          <a:ln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 36"/>
          <p:cNvSpPr/>
          <p:nvPr/>
        </p:nvSpPr>
        <p:spPr>
          <a:xfrm>
            <a:off x="5709376" y="5315963"/>
            <a:ext cx="325925" cy="152400"/>
          </a:xfrm>
          <a:custGeom>
            <a:avLst/>
            <a:gdLst>
              <a:gd name="connsiteX0" fmla="*/ 0 w 325925"/>
              <a:gd name="connsiteY0" fmla="*/ 108642 h 185157"/>
              <a:gd name="connsiteX1" fmla="*/ 81481 w 325925"/>
              <a:gd name="connsiteY1" fmla="*/ 181069 h 185157"/>
              <a:gd name="connsiteX2" fmla="*/ 325925 w 325925"/>
              <a:gd name="connsiteY2" fmla="*/ 0 h 1851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5925" h="185157">
                <a:moveTo>
                  <a:pt x="0" y="108642"/>
                </a:moveTo>
                <a:cubicBezTo>
                  <a:pt x="13580" y="153909"/>
                  <a:pt x="27160" y="199176"/>
                  <a:pt x="81481" y="181069"/>
                </a:cubicBezTo>
                <a:cubicBezTo>
                  <a:pt x="135802" y="162962"/>
                  <a:pt x="230863" y="81481"/>
                  <a:pt x="325925" y="0"/>
                </a:cubicBezTo>
              </a:path>
            </a:pathLst>
          </a:custGeom>
          <a:noFill/>
          <a:ln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Freeform 38"/>
          <p:cNvSpPr/>
          <p:nvPr/>
        </p:nvSpPr>
        <p:spPr>
          <a:xfrm>
            <a:off x="4846621" y="5960198"/>
            <a:ext cx="325925" cy="152400"/>
          </a:xfrm>
          <a:custGeom>
            <a:avLst/>
            <a:gdLst>
              <a:gd name="connsiteX0" fmla="*/ 0 w 325925"/>
              <a:gd name="connsiteY0" fmla="*/ 108642 h 185157"/>
              <a:gd name="connsiteX1" fmla="*/ 81481 w 325925"/>
              <a:gd name="connsiteY1" fmla="*/ 181069 h 185157"/>
              <a:gd name="connsiteX2" fmla="*/ 325925 w 325925"/>
              <a:gd name="connsiteY2" fmla="*/ 0 h 1851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5925" h="185157">
                <a:moveTo>
                  <a:pt x="0" y="108642"/>
                </a:moveTo>
                <a:cubicBezTo>
                  <a:pt x="13580" y="153909"/>
                  <a:pt x="27160" y="199176"/>
                  <a:pt x="81481" y="181069"/>
                </a:cubicBezTo>
                <a:cubicBezTo>
                  <a:pt x="135802" y="162962"/>
                  <a:pt x="230863" y="81481"/>
                  <a:pt x="325925" y="0"/>
                </a:cubicBezTo>
              </a:path>
            </a:pathLst>
          </a:custGeom>
          <a:noFill/>
          <a:ln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 39"/>
          <p:cNvSpPr/>
          <p:nvPr/>
        </p:nvSpPr>
        <p:spPr>
          <a:xfrm>
            <a:off x="5904780" y="6248400"/>
            <a:ext cx="325925" cy="152400"/>
          </a:xfrm>
          <a:custGeom>
            <a:avLst/>
            <a:gdLst>
              <a:gd name="connsiteX0" fmla="*/ 0 w 325925"/>
              <a:gd name="connsiteY0" fmla="*/ 108642 h 185157"/>
              <a:gd name="connsiteX1" fmla="*/ 81481 w 325925"/>
              <a:gd name="connsiteY1" fmla="*/ 181069 h 185157"/>
              <a:gd name="connsiteX2" fmla="*/ 325925 w 325925"/>
              <a:gd name="connsiteY2" fmla="*/ 0 h 1851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5925" h="185157">
                <a:moveTo>
                  <a:pt x="0" y="108642"/>
                </a:moveTo>
                <a:cubicBezTo>
                  <a:pt x="13580" y="153909"/>
                  <a:pt x="27160" y="199176"/>
                  <a:pt x="81481" y="181069"/>
                </a:cubicBezTo>
                <a:cubicBezTo>
                  <a:pt x="135802" y="162962"/>
                  <a:pt x="230863" y="81481"/>
                  <a:pt x="325925" y="0"/>
                </a:cubicBezTo>
              </a:path>
            </a:pathLst>
          </a:custGeom>
          <a:noFill/>
          <a:ln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5-Point Star 2"/>
          <p:cNvSpPr/>
          <p:nvPr/>
        </p:nvSpPr>
        <p:spPr>
          <a:xfrm>
            <a:off x="4355277" y="5060635"/>
            <a:ext cx="152400" cy="154634"/>
          </a:xfrm>
          <a:prstGeom prst="star5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154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5" grpId="0" animBg="1"/>
      <p:bldP spid="36" grpId="0" animBg="1"/>
      <p:bldP spid="37" grpId="0" animBg="1"/>
      <p:bldP spid="39" grpId="0" animBg="1"/>
      <p:bldP spid="40" grpId="0" animBg="1"/>
      <p:bldP spid="3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6" name="Rectangle 2"/>
          <p:cNvSpPr>
            <a:spLocks noGrp="1" noChangeArrowheads="1"/>
          </p:cNvSpPr>
          <p:nvPr>
            <p:ph type="title"/>
          </p:nvPr>
        </p:nvSpPr>
        <p:spPr>
          <a:xfrm>
            <a:off x="849517" y="45453"/>
            <a:ext cx="8229600" cy="792162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Comparing Pointers</a:t>
            </a:r>
          </a:p>
        </p:txBody>
      </p:sp>
      <p:sp>
        <p:nvSpPr>
          <p:cNvPr id="385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60" y="976532"/>
            <a:ext cx="8985740" cy="5791200"/>
          </a:xfrm>
        </p:spPr>
        <p:txBody>
          <a:bodyPr>
            <a:noAutofit/>
          </a:bodyPr>
          <a:lstStyle/>
          <a:p>
            <a:pPr algn="just"/>
            <a:r>
              <a:rPr lang="en-US" dirty="0">
                <a:latin typeface="+mj-lt"/>
                <a:cs typeface="Courier New" pitchFamily="49" charset="0"/>
              </a:rPr>
              <a:t>If </a:t>
            </a:r>
            <a:r>
              <a:rPr lang="en-US" dirty="0">
                <a:solidFill>
                  <a:srgbClr val="2F1BC7"/>
                </a:solidFill>
                <a:latin typeface="+mj-lt"/>
                <a:cs typeface="Courier New" pitchFamily="49" charset="0"/>
              </a:rPr>
              <a:t>one address </a:t>
            </a:r>
            <a:r>
              <a:rPr lang="en-US" dirty="0">
                <a:latin typeface="+mj-lt"/>
                <a:cs typeface="Courier New" pitchFamily="49" charset="0"/>
              </a:rPr>
              <a:t>comes </a:t>
            </a:r>
            <a:r>
              <a:rPr lang="en-US" dirty="0">
                <a:solidFill>
                  <a:srgbClr val="2F1BC7"/>
                </a:solidFill>
                <a:latin typeface="+mj-lt"/>
                <a:cs typeface="Courier New" pitchFamily="49" charset="0"/>
              </a:rPr>
              <a:t>before</a:t>
            </a:r>
            <a:r>
              <a:rPr lang="en-US" dirty="0">
                <a:latin typeface="+mj-lt"/>
                <a:cs typeface="Courier New" pitchFamily="49" charset="0"/>
              </a:rPr>
              <a:t> another </a:t>
            </a:r>
            <a:r>
              <a:rPr lang="en-US" dirty="0">
                <a:solidFill>
                  <a:srgbClr val="2F1BC7"/>
                </a:solidFill>
                <a:latin typeface="+mj-lt"/>
                <a:cs typeface="Courier New" pitchFamily="49" charset="0"/>
              </a:rPr>
              <a:t>address</a:t>
            </a:r>
            <a:r>
              <a:rPr lang="en-US" dirty="0">
                <a:latin typeface="+mj-lt"/>
                <a:cs typeface="Courier New" pitchFamily="49" charset="0"/>
              </a:rPr>
              <a:t> in memory, the </a:t>
            </a:r>
            <a:r>
              <a:rPr lang="en-US" b="1" i="1" dirty="0">
                <a:solidFill>
                  <a:srgbClr val="2F1BC7"/>
                </a:solidFill>
                <a:latin typeface="+mj-lt"/>
                <a:cs typeface="Courier New" pitchFamily="49" charset="0"/>
              </a:rPr>
              <a:t>first address</a:t>
            </a:r>
            <a:r>
              <a:rPr lang="en-US" dirty="0">
                <a:latin typeface="+mj-lt"/>
                <a:cs typeface="Courier New" pitchFamily="49" charset="0"/>
              </a:rPr>
              <a:t> is considered </a:t>
            </a:r>
            <a:r>
              <a:rPr lang="en-US" b="1" i="1" dirty="0">
                <a:solidFill>
                  <a:srgbClr val="2F1BC7"/>
                </a:solidFill>
                <a:latin typeface="+mj-lt"/>
                <a:cs typeface="Courier New" pitchFamily="49" charset="0"/>
              </a:rPr>
              <a:t>less than </a:t>
            </a:r>
            <a:r>
              <a:rPr lang="en-US" dirty="0">
                <a:latin typeface="+mj-lt"/>
                <a:cs typeface="Courier New" pitchFamily="49" charset="0"/>
              </a:rPr>
              <a:t>the</a:t>
            </a:r>
            <a:r>
              <a:rPr lang="en-US" b="1" i="1" dirty="0">
                <a:solidFill>
                  <a:srgbClr val="2F1BC7"/>
                </a:solidFill>
                <a:latin typeface="+mj-lt"/>
                <a:cs typeface="Courier New" pitchFamily="49" charset="0"/>
              </a:rPr>
              <a:t> second address.</a:t>
            </a:r>
          </a:p>
          <a:p>
            <a:pPr algn="just"/>
            <a:endParaRPr lang="en-US" b="1" i="1" dirty="0">
              <a:solidFill>
                <a:srgbClr val="2F1BC7"/>
              </a:solidFill>
              <a:latin typeface="+mj-lt"/>
              <a:cs typeface="Courier New" pitchFamily="49" charset="0"/>
            </a:endParaRPr>
          </a:p>
          <a:p>
            <a:pPr algn="just"/>
            <a:r>
              <a:rPr lang="en-US" dirty="0">
                <a:latin typeface="+mj-lt"/>
                <a:cs typeface="Courier New" pitchFamily="49" charset="0"/>
              </a:rPr>
              <a:t>Two pointer variables can be compared using C++ relational operators: </a:t>
            </a:r>
            <a:r>
              <a:rPr lang="en-US" b="1" dirty="0">
                <a:solidFill>
                  <a:srgbClr val="2F1BC7"/>
                </a:solidFill>
                <a:latin typeface="+mj-lt"/>
                <a:cs typeface="Courier New" pitchFamily="49" charset="0"/>
              </a:rPr>
              <a:t>&lt;</a:t>
            </a:r>
            <a:r>
              <a:rPr lang="en-US" dirty="0">
                <a:latin typeface="+mj-lt"/>
                <a:cs typeface="Courier New" pitchFamily="49" charset="0"/>
              </a:rPr>
              <a:t>, </a:t>
            </a:r>
            <a:r>
              <a:rPr lang="en-US" b="1" dirty="0">
                <a:solidFill>
                  <a:srgbClr val="2F1BC7"/>
                </a:solidFill>
                <a:latin typeface="+mj-lt"/>
                <a:cs typeface="Courier New" pitchFamily="49" charset="0"/>
              </a:rPr>
              <a:t>&gt;</a:t>
            </a:r>
            <a:r>
              <a:rPr lang="en-US" b="1" dirty="0">
                <a:latin typeface="+mj-lt"/>
                <a:cs typeface="Courier New" pitchFamily="49" charset="0"/>
              </a:rPr>
              <a:t>,</a:t>
            </a:r>
            <a:r>
              <a:rPr lang="en-US" dirty="0">
                <a:latin typeface="+mj-lt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2F1BC7"/>
                </a:solidFill>
                <a:latin typeface="+mj-lt"/>
                <a:cs typeface="Courier New" pitchFamily="49" charset="0"/>
              </a:rPr>
              <a:t>&lt;=</a:t>
            </a:r>
            <a:r>
              <a:rPr lang="en-US" b="1" dirty="0">
                <a:latin typeface="+mj-lt"/>
                <a:cs typeface="Courier New" pitchFamily="49" charset="0"/>
              </a:rPr>
              <a:t>,</a:t>
            </a:r>
            <a:r>
              <a:rPr lang="en-US" dirty="0">
                <a:latin typeface="+mj-lt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2F1BC7"/>
                </a:solidFill>
                <a:latin typeface="+mj-lt"/>
                <a:cs typeface="Courier New" pitchFamily="49" charset="0"/>
              </a:rPr>
              <a:t>&gt;=</a:t>
            </a:r>
            <a:r>
              <a:rPr lang="en-US" b="1" dirty="0">
                <a:latin typeface="+mj-lt"/>
                <a:cs typeface="Courier New" pitchFamily="49" charset="0"/>
              </a:rPr>
              <a:t>,</a:t>
            </a:r>
            <a:r>
              <a:rPr lang="en-US" dirty="0">
                <a:latin typeface="+mj-lt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2F1BC7"/>
                </a:solidFill>
                <a:latin typeface="+mj-lt"/>
                <a:cs typeface="Courier New" pitchFamily="49" charset="0"/>
              </a:rPr>
              <a:t>==</a:t>
            </a:r>
          </a:p>
          <a:p>
            <a:pPr algn="just">
              <a:buNone/>
            </a:pPr>
            <a:endParaRPr lang="en-US" b="1" dirty="0">
              <a:solidFill>
                <a:srgbClr val="2F1BC7"/>
              </a:solidFill>
              <a:latin typeface="+mj-lt"/>
              <a:cs typeface="Courier New" pitchFamily="49" charset="0"/>
            </a:endParaRPr>
          </a:p>
          <a:p>
            <a:pPr algn="just"/>
            <a:r>
              <a:rPr lang="en-US" dirty="0">
                <a:latin typeface="+mj-lt"/>
                <a:cs typeface="Courier New" pitchFamily="49" charset="0"/>
              </a:rPr>
              <a:t>In an array, elements are stored in consecutive memory locations, E.g., </a:t>
            </a:r>
            <a:r>
              <a:rPr lang="en-US" i="1" dirty="0">
                <a:latin typeface="+mj-lt"/>
                <a:cs typeface="Courier New" pitchFamily="49" charset="0"/>
              </a:rPr>
              <a:t>address of </a:t>
            </a:r>
            <a:r>
              <a:rPr lang="en-US" b="1" dirty="0" err="1">
                <a:solidFill>
                  <a:srgbClr val="2F1BC7"/>
                </a:solidFill>
                <a:latin typeface="+mj-lt"/>
                <a:cs typeface="Courier New" pitchFamily="49" charset="0"/>
              </a:rPr>
              <a:t>Arr</a:t>
            </a:r>
            <a:r>
              <a:rPr lang="en-US" b="1" dirty="0">
                <a:solidFill>
                  <a:srgbClr val="2F1BC7"/>
                </a:solidFill>
                <a:latin typeface="+mj-lt"/>
                <a:cs typeface="Courier New" pitchFamily="49" charset="0"/>
              </a:rPr>
              <a:t>[2]</a:t>
            </a:r>
            <a:r>
              <a:rPr lang="en-US" i="1" dirty="0">
                <a:latin typeface="+mj-lt"/>
                <a:cs typeface="Courier New" pitchFamily="49" charset="0"/>
              </a:rPr>
              <a:t> will be smaller than the address of </a:t>
            </a:r>
            <a:r>
              <a:rPr lang="en-US" b="1" dirty="0" err="1">
                <a:solidFill>
                  <a:srgbClr val="2F1BC7"/>
                </a:solidFill>
                <a:latin typeface="+mj-lt"/>
                <a:cs typeface="Courier New" pitchFamily="49" charset="0"/>
              </a:rPr>
              <a:t>Arr</a:t>
            </a:r>
            <a:r>
              <a:rPr lang="en-US" b="1" dirty="0">
                <a:solidFill>
                  <a:srgbClr val="2F1BC7"/>
                </a:solidFill>
                <a:latin typeface="+mj-lt"/>
                <a:cs typeface="Courier New" pitchFamily="49" charset="0"/>
              </a:rPr>
              <a:t>[3]</a:t>
            </a:r>
            <a:r>
              <a:rPr lang="en-US" i="1" dirty="0">
                <a:latin typeface="+mj-lt"/>
                <a:cs typeface="Courier New" pitchFamily="49" charset="0"/>
              </a:rPr>
              <a:t> etc.</a:t>
            </a:r>
          </a:p>
          <a:p>
            <a:pPr algn="just"/>
            <a:endParaRPr lang="en-US" b="1" dirty="0">
              <a:solidFill>
                <a:srgbClr val="2F1BC7"/>
              </a:solidFill>
              <a:latin typeface="+mj-lt"/>
              <a:cs typeface="Courier New" pitchFamily="49" charset="0"/>
            </a:endParaRPr>
          </a:p>
          <a:p>
            <a:pPr algn="just"/>
            <a:endParaRPr lang="en-US" b="1" i="1" dirty="0">
              <a:solidFill>
                <a:srgbClr val="2F1BC7"/>
              </a:solidFill>
              <a:latin typeface="+mj-lt"/>
              <a:cs typeface="Courier New" pitchFamily="49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8686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504198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6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0"/>
            <a:ext cx="8229600" cy="792162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Void Pointer</a:t>
            </a:r>
          </a:p>
        </p:txBody>
      </p:sp>
      <p:sp>
        <p:nvSpPr>
          <p:cNvPr id="385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914400"/>
            <a:ext cx="8839200" cy="5791200"/>
          </a:xfrm>
        </p:spPr>
        <p:txBody>
          <a:bodyPr>
            <a:normAutofit fontScale="92500" lnSpcReduction="20000"/>
          </a:bodyPr>
          <a:lstStyle/>
          <a:p>
            <a:r>
              <a:rPr lang="en-US" sz="3000" b="1" dirty="0">
                <a:solidFill>
                  <a:srgbClr val="2F1BC7"/>
                </a:solidFill>
                <a:latin typeface="Courier New" pitchFamily="49" charset="0"/>
              </a:rPr>
              <a:t>void*</a:t>
            </a:r>
            <a:r>
              <a:rPr lang="en-US" dirty="0"/>
              <a:t> is a </a:t>
            </a:r>
            <a:r>
              <a:rPr lang="en-US" b="1" dirty="0">
                <a:solidFill>
                  <a:srgbClr val="2F1BC7"/>
                </a:solidFill>
              </a:rPr>
              <a:t>pointer</a:t>
            </a:r>
            <a:r>
              <a:rPr lang="en-US" dirty="0"/>
              <a:t> to </a:t>
            </a:r>
            <a:r>
              <a:rPr lang="en-US" b="1" dirty="0">
                <a:solidFill>
                  <a:srgbClr val="2F1BC7"/>
                </a:solidFill>
              </a:rPr>
              <a:t>no type</a:t>
            </a:r>
            <a:r>
              <a:rPr lang="en-US" b="1" dirty="0"/>
              <a:t> </a:t>
            </a:r>
            <a:r>
              <a:rPr lang="en-US" dirty="0"/>
              <a:t>at all:</a:t>
            </a:r>
          </a:p>
          <a:p>
            <a:pPr lvl="2"/>
            <a:r>
              <a:rPr lang="en-US" sz="3200" b="1" i="1" dirty="0">
                <a:solidFill>
                  <a:srgbClr val="008000"/>
                </a:solidFill>
                <a:latin typeface="+mj-lt"/>
              </a:rPr>
              <a:t>Any pointer type</a:t>
            </a:r>
            <a:r>
              <a:rPr lang="en-US" sz="3200" i="1" dirty="0">
                <a:solidFill>
                  <a:srgbClr val="008000"/>
                </a:solidFill>
                <a:latin typeface="+mj-lt"/>
              </a:rPr>
              <a:t> </a:t>
            </a:r>
            <a:r>
              <a:rPr lang="en-US" sz="3200" i="1" dirty="0">
                <a:latin typeface="+mj-lt"/>
              </a:rPr>
              <a:t>may be </a:t>
            </a:r>
            <a:r>
              <a:rPr lang="en-US" sz="3200" b="1" i="1" dirty="0">
                <a:solidFill>
                  <a:srgbClr val="008000"/>
                </a:solidFill>
                <a:latin typeface="+mj-lt"/>
              </a:rPr>
              <a:t>assigned</a:t>
            </a:r>
            <a:r>
              <a:rPr lang="en-US" sz="3200" i="1" dirty="0">
                <a:solidFill>
                  <a:srgbClr val="008000"/>
                </a:solidFill>
                <a:latin typeface="+mj-lt"/>
              </a:rPr>
              <a:t> </a:t>
            </a:r>
            <a:r>
              <a:rPr lang="en-US" sz="3200" i="1" dirty="0">
                <a:latin typeface="+mj-lt"/>
              </a:rPr>
              <a:t>to </a:t>
            </a:r>
            <a:r>
              <a:rPr lang="en-US" sz="3200" b="1" i="1" dirty="0">
                <a:solidFill>
                  <a:srgbClr val="008000"/>
                </a:solidFill>
                <a:latin typeface="+mj-lt"/>
              </a:rPr>
              <a:t>void *</a:t>
            </a:r>
          </a:p>
          <a:p>
            <a:pPr lvl="2">
              <a:buNone/>
            </a:pPr>
            <a:endParaRPr lang="en-US" sz="3200" dirty="0">
              <a:latin typeface="+mj-lt"/>
            </a:endParaRPr>
          </a:p>
          <a:p>
            <a:pPr lvl="2">
              <a:buNone/>
            </a:pPr>
            <a:r>
              <a:rPr lang="en-US" sz="2800" b="1" dirty="0" err="1">
                <a:solidFill>
                  <a:srgbClr val="2F1BC7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8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800" b="1" dirty="0" err="1">
                <a:latin typeface="Courier New" pitchFamily="49" charset="0"/>
                <a:cs typeface="Courier New" pitchFamily="49" charset="0"/>
              </a:rPr>
              <a:t>iVar</a:t>
            </a:r>
            <a:r>
              <a:rPr lang="en-US" sz="2800" b="1" dirty="0">
                <a:latin typeface="Courier New" pitchFamily="49" charset="0"/>
                <a:cs typeface="Courier New" pitchFamily="49" charset="0"/>
              </a:rPr>
              <a:t>=5;</a:t>
            </a:r>
          </a:p>
          <a:p>
            <a:pPr lvl="2">
              <a:buNone/>
            </a:pPr>
            <a:r>
              <a:rPr lang="en-US" sz="2800" b="1" dirty="0">
                <a:solidFill>
                  <a:srgbClr val="2F1BC7"/>
                </a:solidFill>
                <a:latin typeface="Courier New" pitchFamily="49" charset="0"/>
                <a:cs typeface="Courier New" pitchFamily="49" charset="0"/>
              </a:rPr>
              <a:t>float</a:t>
            </a:r>
            <a:r>
              <a:rPr lang="en-US" sz="28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800" b="1" dirty="0" err="1">
                <a:latin typeface="Courier New" pitchFamily="49" charset="0"/>
                <a:cs typeface="Courier New" pitchFamily="49" charset="0"/>
              </a:rPr>
              <a:t>fVar</a:t>
            </a:r>
            <a:r>
              <a:rPr lang="en-US" sz="2800" b="1" dirty="0">
                <a:latin typeface="Courier New" pitchFamily="49" charset="0"/>
                <a:cs typeface="Courier New" pitchFamily="49" charset="0"/>
              </a:rPr>
              <a:t>=4.3;</a:t>
            </a:r>
          </a:p>
          <a:p>
            <a:pPr lvl="2">
              <a:buNone/>
            </a:pPr>
            <a:r>
              <a:rPr lang="en-US" sz="2800" b="1" dirty="0">
                <a:solidFill>
                  <a:srgbClr val="2F1BC7"/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en-US" sz="28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800" b="1" dirty="0" err="1">
                <a:latin typeface="Courier New" pitchFamily="49" charset="0"/>
                <a:cs typeface="Courier New" pitchFamily="49" charset="0"/>
              </a:rPr>
              <a:t>cVar</a:t>
            </a:r>
            <a:r>
              <a:rPr lang="en-US" sz="2800" b="1" dirty="0">
                <a:latin typeface="Courier New" pitchFamily="49" charset="0"/>
                <a:cs typeface="Courier New" pitchFamily="49" charset="0"/>
              </a:rPr>
              <a:t>=‘Z’;</a:t>
            </a:r>
          </a:p>
          <a:p>
            <a:pPr lvl="2">
              <a:buNone/>
            </a:pPr>
            <a:r>
              <a:rPr lang="en-US" sz="2800" b="1" dirty="0" err="1">
                <a:solidFill>
                  <a:srgbClr val="2F1BC7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800" b="1" dirty="0">
                <a:solidFill>
                  <a:srgbClr val="2F1BC7"/>
                </a:solidFill>
                <a:latin typeface="Courier New" pitchFamily="49" charset="0"/>
                <a:cs typeface="Courier New" pitchFamily="49" charset="0"/>
              </a:rPr>
              <a:t>*</a:t>
            </a:r>
            <a:r>
              <a:rPr lang="en-US" sz="2800" b="1" dirty="0">
                <a:latin typeface="Courier New" pitchFamily="49" charset="0"/>
                <a:cs typeface="Courier New" pitchFamily="49" charset="0"/>
              </a:rPr>
              <a:t> p1;</a:t>
            </a:r>
          </a:p>
          <a:p>
            <a:pPr lvl="2">
              <a:buNone/>
            </a:pPr>
            <a:r>
              <a:rPr lang="en-US" sz="2800" b="1" dirty="0">
                <a:solidFill>
                  <a:srgbClr val="2F1BC7"/>
                </a:solidFill>
                <a:latin typeface="Courier New" pitchFamily="49" charset="0"/>
                <a:cs typeface="Courier New" pitchFamily="49" charset="0"/>
              </a:rPr>
              <a:t>void* </a:t>
            </a:r>
            <a:r>
              <a:rPr lang="en-US" sz="2800" b="1" dirty="0">
                <a:latin typeface="Courier New" pitchFamily="49" charset="0"/>
                <a:cs typeface="Courier New" pitchFamily="49" charset="0"/>
              </a:rPr>
              <a:t>vp2;</a:t>
            </a:r>
          </a:p>
          <a:p>
            <a:pPr lvl="2">
              <a:buNone/>
            </a:pPr>
            <a:r>
              <a:rPr lang="en-US" sz="2800" b="1" dirty="0">
                <a:latin typeface="Courier New" pitchFamily="49" charset="0"/>
                <a:cs typeface="Courier New" pitchFamily="49" charset="0"/>
              </a:rPr>
              <a:t>p1 = &amp;</a:t>
            </a:r>
            <a:r>
              <a:rPr lang="en-US" sz="2800" b="1" dirty="0" err="1">
                <a:latin typeface="Courier New" pitchFamily="49" charset="0"/>
                <a:cs typeface="Courier New" pitchFamily="49" charset="0"/>
              </a:rPr>
              <a:t>iVar</a:t>
            </a:r>
            <a:r>
              <a:rPr lang="en-US" sz="2800" b="1" dirty="0">
                <a:latin typeface="Courier New" pitchFamily="49" charset="0"/>
                <a:cs typeface="Courier New" pitchFamily="49" charset="0"/>
              </a:rPr>
              <a:t>; // </a:t>
            </a:r>
            <a:r>
              <a:rPr lang="en-US" sz="2800" b="1" dirty="0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Allowed</a:t>
            </a:r>
            <a:endParaRPr lang="en-US" sz="2800" b="1" dirty="0">
              <a:latin typeface="Courier New" pitchFamily="49" charset="0"/>
              <a:cs typeface="Courier New" pitchFamily="49" charset="0"/>
            </a:endParaRPr>
          </a:p>
          <a:p>
            <a:pPr lvl="2">
              <a:buNone/>
            </a:pPr>
            <a:r>
              <a:rPr lang="en-US" sz="2800" b="1" dirty="0">
                <a:latin typeface="Courier New" pitchFamily="49" charset="0"/>
                <a:cs typeface="Courier New" pitchFamily="49" charset="0"/>
              </a:rPr>
              <a:t>p1 = &amp;</a:t>
            </a:r>
            <a:r>
              <a:rPr lang="en-US" sz="2800" b="1" dirty="0" err="1">
                <a:latin typeface="Courier New" pitchFamily="49" charset="0"/>
                <a:cs typeface="Courier New" pitchFamily="49" charset="0"/>
              </a:rPr>
              <a:t>fvar</a:t>
            </a:r>
            <a:r>
              <a:rPr lang="en-US" sz="2800" b="1" dirty="0">
                <a:latin typeface="Courier New" pitchFamily="49" charset="0"/>
                <a:cs typeface="Courier New" pitchFamily="49" charset="0"/>
              </a:rPr>
              <a:t>; // </a:t>
            </a:r>
            <a:r>
              <a:rPr lang="en-US" sz="2800" b="1" dirty="0">
                <a:solidFill>
                  <a:srgbClr val="B80000"/>
                </a:solidFill>
                <a:latin typeface="Courier New" pitchFamily="49" charset="0"/>
                <a:cs typeface="Courier New" pitchFamily="49" charset="0"/>
              </a:rPr>
              <a:t>Not Allowed</a:t>
            </a:r>
          </a:p>
          <a:p>
            <a:pPr lvl="2">
              <a:buNone/>
            </a:pPr>
            <a:r>
              <a:rPr lang="en-US" sz="2800" b="1" dirty="0">
                <a:latin typeface="Courier New" pitchFamily="49" charset="0"/>
                <a:cs typeface="Courier New" pitchFamily="49" charset="0"/>
              </a:rPr>
              <a:t>P1 = &amp;</a:t>
            </a:r>
            <a:r>
              <a:rPr lang="en-US" sz="2800" b="1" dirty="0" err="1">
                <a:latin typeface="Courier New" pitchFamily="49" charset="0"/>
                <a:cs typeface="Courier New" pitchFamily="49" charset="0"/>
              </a:rPr>
              <a:t>cVar</a:t>
            </a:r>
            <a:r>
              <a:rPr lang="en-US" sz="2800" b="1" dirty="0">
                <a:latin typeface="Courier New" pitchFamily="49" charset="0"/>
                <a:cs typeface="Courier New" pitchFamily="49" charset="0"/>
              </a:rPr>
              <a:t>; // </a:t>
            </a:r>
            <a:r>
              <a:rPr lang="en-US" sz="2800" b="1" dirty="0">
                <a:solidFill>
                  <a:srgbClr val="B80000"/>
                </a:solidFill>
                <a:latin typeface="Courier New" pitchFamily="49" charset="0"/>
                <a:cs typeface="Courier New" pitchFamily="49" charset="0"/>
              </a:rPr>
              <a:t>Not Allowed</a:t>
            </a:r>
          </a:p>
          <a:p>
            <a:pPr lvl="2">
              <a:buNone/>
            </a:pPr>
            <a:r>
              <a:rPr lang="en-US" sz="2800" b="1" dirty="0">
                <a:latin typeface="Courier New" pitchFamily="49" charset="0"/>
                <a:cs typeface="Courier New" pitchFamily="49" charset="0"/>
              </a:rPr>
              <a:t>vp2 = &amp;</a:t>
            </a:r>
            <a:r>
              <a:rPr lang="en-US" sz="2800" b="1" dirty="0" err="1">
                <a:latin typeface="Courier New" pitchFamily="49" charset="0"/>
                <a:cs typeface="Courier New" pitchFamily="49" charset="0"/>
              </a:rPr>
              <a:t>fvar</a:t>
            </a:r>
            <a:r>
              <a:rPr lang="en-US" sz="2800" b="1" dirty="0">
                <a:latin typeface="Courier New" pitchFamily="49" charset="0"/>
                <a:cs typeface="Courier New" pitchFamily="49" charset="0"/>
              </a:rPr>
              <a:t>; // </a:t>
            </a:r>
            <a:r>
              <a:rPr lang="en-US" sz="2800" b="1" dirty="0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Allowed</a:t>
            </a:r>
          </a:p>
          <a:p>
            <a:pPr lvl="2">
              <a:buNone/>
            </a:pPr>
            <a:r>
              <a:rPr lang="en-US" sz="2800" b="1" dirty="0">
                <a:latin typeface="Courier New" pitchFamily="49" charset="0"/>
                <a:cs typeface="Courier New" pitchFamily="49" charset="0"/>
              </a:rPr>
              <a:t>vp2 = &amp;</a:t>
            </a:r>
            <a:r>
              <a:rPr lang="en-US" sz="2800" b="1" dirty="0" err="1">
                <a:latin typeface="Courier New" pitchFamily="49" charset="0"/>
                <a:cs typeface="Courier New" pitchFamily="49" charset="0"/>
              </a:rPr>
              <a:t>cVar</a:t>
            </a:r>
            <a:r>
              <a:rPr lang="en-US" sz="2800" b="1" dirty="0">
                <a:latin typeface="Courier New" pitchFamily="49" charset="0"/>
                <a:cs typeface="Courier New" pitchFamily="49" charset="0"/>
              </a:rPr>
              <a:t>; // </a:t>
            </a:r>
            <a:r>
              <a:rPr lang="en-US" sz="2800" b="1" dirty="0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Allowed</a:t>
            </a:r>
          </a:p>
          <a:p>
            <a:pPr lvl="2">
              <a:buNone/>
            </a:pPr>
            <a:r>
              <a:rPr lang="en-US" sz="2800" b="1" dirty="0">
                <a:latin typeface="Courier New" pitchFamily="49" charset="0"/>
                <a:cs typeface="Courier New" pitchFamily="49" charset="0"/>
              </a:rPr>
              <a:t>vp2 = &amp;</a:t>
            </a:r>
            <a:r>
              <a:rPr lang="en-US" sz="2800" b="1" dirty="0" err="1">
                <a:latin typeface="Courier New" pitchFamily="49" charset="0"/>
                <a:cs typeface="Courier New" pitchFamily="49" charset="0"/>
              </a:rPr>
              <a:t>iVar</a:t>
            </a:r>
            <a:r>
              <a:rPr lang="en-US" sz="2800" b="1" dirty="0">
                <a:latin typeface="Courier New" pitchFamily="49" charset="0"/>
                <a:cs typeface="Courier New" pitchFamily="49" charset="0"/>
              </a:rPr>
              <a:t>; // </a:t>
            </a:r>
            <a:r>
              <a:rPr lang="en-US" sz="2800" b="1" dirty="0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Allowed</a:t>
            </a:r>
          </a:p>
          <a:p>
            <a:pPr lvl="2">
              <a:buNone/>
            </a:pPr>
            <a:endParaRPr lang="en-US" sz="2800" dirty="0">
              <a:latin typeface="Courier New" pitchFamily="49" charset="0"/>
              <a:cs typeface="Courier New" pitchFamily="49" charset="0"/>
            </a:endParaRPr>
          </a:p>
          <a:p>
            <a:pPr lvl="2">
              <a:buNone/>
            </a:pPr>
            <a:endParaRPr lang="en-US" sz="2800" dirty="0">
              <a:latin typeface="Courier New" pitchFamily="49" charset="0"/>
              <a:cs typeface="Courier New" pitchFamily="49" charset="0"/>
            </a:endParaRPr>
          </a:p>
          <a:p>
            <a:pPr lvl="2">
              <a:buNone/>
            </a:pPr>
            <a:endParaRPr lang="en-US" sz="3200" dirty="0">
              <a:latin typeface="+mj-lt"/>
            </a:endParaRPr>
          </a:p>
          <a:p>
            <a:pPr lvl="2"/>
            <a:endParaRPr lang="en-US" sz="3200" b="1" dirty="0">
              <a:solidFill>
                <a:srgbClr val="2F1BC7"/>
              </a:solidFill>
              <a:latin typeface="+mj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8686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Rounded Rectangle 1"/>
          <p:cNvSpPr/>
          <p:nvPr/>
        </p:nvSpPr>
        <p:spPr>
          <a:xfrm>
            <a:off x="4343400" y="2239962"/>
            <a:ext cx="4343400" cy="14478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This is a great advantage…</a:t>
            </a:r>
          </a:p>
          <a:p>
            <a:pPr algn="ctr"/>
            <a:r>
              <a:rPr lang="en-US" sz="2800" b="1" dirty="0"/>
              <a:t>So, What are the limitations/challenges?</a:t>
            </a:r>
          </a:p>
        </p:txBody>
      </p:sp>
    </p:spTree>
    <p:extLst>
      <p:ext uri="{BB962C8B-B14F-4D97-AF65-F5344CB8AC3E}">
        <p14:creationId xmlns:p14="http://schemas.microsoft.com/office/powerpoint/2010/main" val="933807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850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850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850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850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8502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8502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4764"/>
            <a:ext cx="8610600" cy="771525"/>
          </a:xfrm>
        </p:spPr>
        <p:txBody>
          <a:bodyPr/>
          <a:lstStyle/>
          <a:p>
            <a:pPr eaLnBrk="1" hangingPunct="1">
              <a:defRPr/>
            </a:pPr>
            <a:r>
              <a:rPr lang="en-US" sz="3200" b="1" dirty="0">
                <a:solidFill>
                  <a:srgbClr val="B80000"/>
                </a:solidFill>
                <a:cs typeface="+mj-cs"/>
              </a:rPr>
              <a:t>Accessing 1-Demensional Array Using Pointers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424" y="1120610"/>
            <a:ext cx="6226175" cy="5280190"/>
          </a:xfrm>
          <a:ln>
            <a:solidFill>
              <a:schemeClr val="tx1"/>
            </a:solidFill>
          </a:ln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000" dirty="0">
                <a:cs typeface="+mn-cs"/>
              </a:rPr>
              <a:t>We know, </a:t>
            </a:r>
            <a:r>
              <a:rPr lang="en-US" sz="2000" b="1" u="sng" dirty="0">
                <a:solidFill>
                  <a:srgbClr val="B80000"/>
                </a:solidFill>
                <a:cs typeface="+mn-cs"/>
              </a:rPr>
              <a:t>Array name</a:t>
            </a:r>
            <a:r>
              <a:rPr lang="en-US" sz="2000" b="1" dirty="0">
                <a:solidFill>
                  <a:srgbClr val="B80000"/>
                </a:solidFill>
                <a:cs typeface="+mn-cs"/>
              </a:rPr>
              <a:t> </a:t>
            </a:r>
            <a:r>
              <a:rPr lang="en-US" sz="2000" dirty="0">
                <a:cs typeface="+mn-cs"/>
              </a:rPr>
              <a:t>denotes the </a:t>
            </a:r>
            <a:r>
              <a:rPr lang="en-US" sz="2000" b="1" u="sng" dirty="0">
                <a:solidFill>
                  <a:srgbClr val="B80000"/>
                </a:solidFill>
                <a:cs typeface="+mn-cs"/>
              </a:rPr>
              <a:t>memory address</a:t>
            </a:r>
            <a:r>
              <a:rPr lang="en-US" sz="2000" b="1" dirty="0">
                <a:solidFill>
                  <a:srgbClr val="B80000"/>
                </a:solidFill>
                <a:cs typeface="+mn-cs"/>
              </a:rPr>
              <a:t> </a:t>
            </a:r>
            <a:r>
              <a:rPr lang="en-US" sz="2000" dirty="0">
                <a:cs typeface="+mn-cs"/>
              </a:rPr>
              <a:t>of its first slot.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1800" dirty="0"/>
              <a:t>Example:</a:t>
            </a:r>
          </a:p>
          <a:p>
            <a:pPr marL="914400" lvl="2" indent="0" eaLnBrk="1" hangingPunct="1">
              <a:lnSpc>
                <a:spcPct val="90000"/>
              </a:lnSpc>
              <a:buNone/>
              <a:defRPr/>
            </a:pPr>
            <a:r>
              <a:rPr lang="en-US" sz="1800" b="1" dirty="0" err="1">
                <a:solidFill>
                  <a:srgbClr val="B8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800" b="1" dirty="0">
                <a:solidFill>
                  <a:srgbClr val="B8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List [ 50 ];</a:t>
            </a:r>
          </a:p>
          <a:p>
            <a:pPr marL="914400" lvl="2" indent="0" eaLnBrk="1" hangingPunct="1">
              <a:lnSpc>
                <a:spcPct val="90000"/>
              </a:lnSpc>
              <a:buNone/>
              <a:defRPr/>
            </a:pPr>
            <a:r>
              <a:rPr lang="en-US" sz="1800" b="1" dirty="0" err="1">
                <a:solidFill>
                  <a:srgbClr val="B8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800" b="1" dirty="0">
                <a:solidFill>
                  <a:srgbClr val="B8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*Pointer;</a:t>
            </a:r>
          </a:p>
          <a:p>
            <a:pPr marL="914400" lvl="2" indent="0" eaLnBrk="1" hangingPunct="1">
              <a:lnSpc>
                <a:spcPct val="90000"/>
              </a:lnSpc>
              <a:buNone/>
              <a:defRPr/>
            </a:pPr>
            <a:r>
              <a:rPr lang="en-US" sz="1800" b="1" dirty="0">
                <a:solidFill>
                  <a:srgbClr val="B8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Pointer = List;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000" dirty="0">
                <a:cs typeface="+mn-cs"/>
              </a:rPr>
              <a:t>Other slots of the </a:t>
            </a:r>
            <a:r>
              <a:rPr lang="en-US" sz="2000" b="1" u="sng" dirty="0">
                <a:solidFill>
                  <a:srgbClr val="B80000"/>
                </a:solidFill>
                <a:cs typeface="+mn-cs"/>
              </a:rPr>
              <a:t>Array (List [50])</a:t>
            </a:r>
            <a:r>
              <a:rPr lang="en-US" sz="2000" b="1" dirty="0">
                <a:solidFill>
                  <a:srgbClr val="B80000"/>
                </a:solidFill>
                <a:cs typeface="+mn-cs"/>
              </a:rPr>
              <a:t> </a:t>
            </a:r>
            <a:r>
              <a:rPr lang="en-US" sz="2000" dirty="0">
                <a:cs typeface="+mn-cs"/>
              </a:rPr>
              <a:t>can be accessed using by performing </a:t>
            </a:r>
            <a:r>
              <a:rPr lang="en-US" sz="2000" b="1" u="sng" dirty="0">
                <a:solidFill>
                  <a:srgbClr val="B80000"/>
                </a:solidFill>
                <a:cs typeface="+mn-cs"/>
              </a:rPr>
              <a:t>Arithmetic operations </a:t>
            </a:r>
            <a:r>
              <a:rPr lang="en-US" sz="2000" dirty="0">
                <a:cs typeface="+mn-cs"/>
              </a:rPr>
              <a:t>on</a:t>
            </a:r>
            <a:r>
              <a:rPr lang="en-US" sz="2000" u="sng" dirty="0">
                <a:solidFill>
                  <a:srgbClr val="FF3300"/>
                </a:solidFill>
                <a:cs typeface="+mn-cs"/>
              </a:rPr>
              <a:t> </a:t>
            </a:r>
            <a:r>
              <a:rPr lang="en-US" sz="2000" b="1" u="sng" dirty="0">
                <a:solidFill>
                  <a:srgbClr val="B80000"/>
                </a:solidFill>
                <a:cs typeface="+mn-cs"/>
              </a:rPr>
              <a:t>Pointer</a:t>
            </a:r>
            <a:r>
              <a:rPr lang="en-US" sz="2000" dirty="0">
                <a:cs typeface="+mn-cs"/>
              </a:rPr>
              <a:t>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000" dirty="0">
                <a:cs typeface="+mn-cs"/>
              </a:rPr>
              <a:t>For example the address of </a:t>
            </a:r>
            <a:r>
              <a:rPr lang="en-US" sz="2000" u="sng" dirty="0">
                <a:solidFill>
                  <a:srgbClr val="B80000"/>
                </a:solidFill>
                <a:cs typeface="+mn-cs"/>
              </a:rPr>
              <a:t>(</a:t>
            </a:r>
            <a:r>
              <a:rPr lang="en-US" sz="2000" b="1" u="sng" dirty="0">
                <a:solidFill>
                  <a:srgbClr val="B80000"/>
                </a:solidFill>
                <a:cs typeface="+mn-cs"/>
              </a:rPr>
              <a:t>element 4</a:t>
            </a:r>
            <a:r>
              <a:rPr lang="en-US" sz="2000" b="1" u="sng" baseline="30000" dirty="0">
                <a:solidFill>
                  <a:srgbClr val="B80000"/>
                </a:solidFill>
                <a:cs typeface="+mn-cs"/>
              </a:rPr>
              <a:t>th</a:t>
            </a:r>
            <a:r>
              <a:rPr lang="en-US" sz="2000" b="1" u="sng" dirty="0">
                <a:solidFill>
                  <a:srgbClr val="B80000"/>
                </a:solidFill>
                <a:cs typeface="+mn-cs"/>
              </a:rPr>
              <a:t>)</a:t>
            </a:r>
            <a:r>
              <a:rPr lang="en-US" sz="2000" u="sng" dirty="0">
                <a:solidFill>
                  <a:srgbClr val="FF3300"/>
                </a:solidFill>
                <a:cs typeface="+mn-cs"/>
              </a:rPr>
              <a:t> </a:t>
            </a:r>
            <a:r>
              <a:rPr lang="en-US" sz="2000" dirty="0">
                <a:cs typeface="+mn-cs"/>
              </a:rPr>
              <a:t>can be accessed using:-</a:t>
            </a:r>
          </a:p>
          <a:p>
            <a:pPr marL="457200" lvl="1" indent="0" eaLnBrk="1" hangingPunct="1">
              <a:lnSpc>
                <a:spcPct val="90000"/>
              </a:lnSpc>
              <a:buNone/>
              <a:defRPr/>
            </a:pPr>
            <a:r>
              <a:rPr lang="en-US" sz="1600" b="1" dirty="0" err="1">
                <a:solidFill>
                  <a:srgbClr val="2C14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b="1" dirty="0">
                <a:solidFill>
                  <a:srgbClr val="2C14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*Value = Pointer + 3;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000" dirty="0">
                <a:cs typeface="+mn-cs"/>
              </a:rPr>
              <a:t>The value of </a:t>
            </a:r>
            <a:r>
              <a:rPr lang="en-US" sz="2000" b="1" u="sng" dirty="0">
                <a:solidFill>
                  <a:srgbClr val="B80000"/>
                </a:solidFill>
                <a:cs typeface="+mn-cs"/>
              </a:rPr>
              <a:t>(element 4</a:t>
            </a:r>
            <a:r>
              <a:rPr lang="en-US" sz="2000" b="1" u="sng" baseline="30000" dirty="0">
                <a:solidFill>
                  <a:srgbClr val="B80000"/>
                </a:solidFill>
                <a:cs typeface="+mn-cs"/>
              </a:rPr>
              <a:t>th</a:t>
            </a:r>
            <a:r>
              <a:rPr lang="en-US" sz="2000" b="1" u="sng" dirty="0">
                <a:solidFill>
                  <a:srgbClr val="B80000"/>
                </a:solidFill>
                <a:cs typeface="+mn-cs"/>
              </a:rPr>
              <a:t>)</a:t>
            </a:r>
            <a:r>
              <a:rPr lang="en-US" sz="2000" u="sng" dirty="0">
                <a:solidFill>
                  <a:srgbClr val="FF3300"/>
                </a:solidFill>
                <a:cs typeface="+mn-cs"/>
              </a:rPr>
              <a:t> </a:t>
            </a:r>
            <a:r>
              <a:rPr lang="en-US" sz="2000" dirty="0">
                <a:cs typeface="+mn-cs"/>
              </a:rPr>
              <a:t>can be accessed using:-</a:t>
            </a:r>
          </a:p>
          <a:p>
            <a:pPr marL="457200" lvl="1" indent="0">
              <a:lnSpc>
                <a:spcPct val="90000"/>
              </a:lnSpc>
              <a:buNone/>
              <a:defRPr/>
            </a:pPr>
            <a:r>
              <a:rPr lang="en-US" sz="1600" b="1" dirty="0" err="1">
                <a:solidFill>
                  <a:srgbClr val="2C14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b="1" dirty="0">
                <a:solidFill>
                  <a:srgbClr val="2C14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Value = *(Pointer + 3);</a:t>
            </a:r>
          </a:p>
          <a:p>
            <a:pPr lvl="1" eaLnBrk="1" hangingPunct="1">
              <a:lnSpc>
                <a:spcPct val="90000"/>
              </a:lnSpc>
              <a:defRPr/>
            </a:pPr>
            <a:endParaRPr lang="en-US" sz="1800" dirty="0"/>
          </a:p>
        </p:txBody>
      </p:sp>
      <p:sp>
        <p:nvSpPr>
          <p:cNvPr id="104452" name="Rectangle 4"/>
          <p:cNvSpPr>
            <a:spLocks noChangeArrowheads="1"/>
          </p:cNvSpPr>
          <p:nvPr/>
        </p:nvSpPr>
        <p:spPr bwMode="auto">
          <a:xfrm>
            <a:off x="6477000" y="1295400"/>
            <a:ext cx="2514600" cy="449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fr-FR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6553200" y="1371600"/>
            <a:ext cx="2362200" cy="381000"/>
            <a:chOff x="4128" y="864"/>
            <a:chExt cx="1488" cy="240"/>
          </a:xfrm>
        </p:grpSpPr>
        <p:sp>
          <p:nvSpPr>
            <p:cNvPr id="5165" name="Text Box 6"/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23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800" b="1"/>
                <a:t>Address</a:t>
              </a:r>
            </a:p>
          </p:txBody>
        </p:sp>
        <p:sp>
          <p:nvSpPr>
            <p:cNvPr id="5166" name="Text Box 7"/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23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800" b="1"/>
                <a:t>Data</a:t>
              </a:r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6553200" y="1752600"/>
            <a:ext cx="2362200" cy="319088"/>
            <a:chOff x="4128" y="864"/>
            <a:chExt cx="1488" cy="201"/>
          </a:xfrm>
        </p:grpSpPr>
        <p:sp>
          <p:nvSpPr>
            <p:cNvPr id="5163" name="Text Box 9"/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980</a:t>
              </a:r>
            </a:p>
          </p:txBody>
        </p:sp>
        <p:sp>
          <p:nvSpPr>
            <p:cNvPr id="5164" name="Text Box 10"/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Element 0</a:t>
              </a:r>
            </a:p>
          </p:txBody>
        </p:sp>
      </p:grpSp>
      <p:grpSp>
        <p:nvGrpSpPr>
          <p:cNvPr id="4" name="Group 11"/>
          <p:cNvGrpSpPr>
            <a:grpSpLocks/>
          </p:cNvGrpSpPr>
          <p:nvPr/>
        </p:nvGrpSpPr>
        <p:grpSpPr bwMode="auto">
          <a:xfrm>
            <a:off x="6553200" y="2057400"/>
            <a:ext cx="2362200" cy="319088"/>
            <a:chOff x="4128" y="864"/>
            <a:chExt cx="1488" cy="201"/>
          </a:xfrm>
        </p:grpSpPr>
        <p:sp>
          <p:nvSpPr>
            <p:cNvPr id="5161" name="Text Box 12"/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982</a:t>
              </a:r>
            </a:p>
          </p:txBody>
        </p:sp>
        <p:sp>
          <p:nvSpPr>
            <p:cNvPr id="5162" name="Text Box 13"/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Element 1</a:t>
              </a:r>
            </a:p>
          </p:txBody>
        </p:sp>
      </p:grpSp>
      <p:grpSp>
        <p:nvGrpSpPr>
          <p:cNvPr id="5" name="Group 14"/>
          <p:cNvGrpSpPr>
            <a:grpSpLocks/>
          </p:cNvGrpSpPr>
          <p:nvPr/>
        </p:nvGrpSpPr>
        <p:grpSpPr bwMode="auto">
          <a:xfrm>
            <a:off x="6553200" y="2362200"/>
            <a:ext cx="2362200" cy="319088"/>
            <a:chOff x="4128" y="864"/>
            <a:chExt cx="1488" cy="201"/>
          </a:xfrm>
        </p:grpSpPr>
        <p:sp>
          <p:nvSpPr>
            <p:cNvPr id="5159" name="Text Box 15"/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984</a:t>
              </a:r>
            </a:p>
          </p:txBody>
        </p:sp>
        <p:sp>
          <p:nvSpPr>
            <p:cNvPr id="5160" name="Text Box 16"/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Element 2</a:t>
              </a:r>
            </a:p>
          </p:txBody>
        </p:sp>
      </p:grpSp>
      <p:grpSp>
        <p:nvGrpSpPr>
          <p:cNvPr id="6" name="Group 17"/>
          <p:cNvGrpSpPr>
            <a:grpSpLocks/>
          </p:cNvGrpSpPr>
          <p:nvPr/>
        </p:nvGrpSpPr>
        <p:grpSpPr bwMode="auto">
          <a:xfrm>
            <a:off x="6553200" y="2667000"/>
            <a:ext cx="2362200" cy="319088"/>
            <a:chOff x="4128" y="864"/>
            <a:chExt cx="1488" cy="201"/>
          </a:xfrm>
        </p:grpSpPr>
        <p:sp>
          <p:nvSpPr>
            <p:cNvPr id="5157" name="Text Box 18"/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986</a:t>
              </a:r>
            </a:p>
          </p:txBody>
        </p:sp>
        <p:sp>
          <p:nvSpPr>
            <p:cNvPr id="5158" name="Text Box 19"/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Element 3</a:t>
              </a:r>
            </a:p>
          </p:txBody>
        </p:sp>
      </p:grpSp>
      <p:grpSp>
        <p:nvGrpSpPr>
          <p:cNvPr id="7" name="Group 20"/>
          <p:cNvGrpSpPr>
            <a:grpSpLocks/>
          </p:cNvGrpSpPr>
          <p:nvPr/>
        </p:nvGrpSpPr>
        <p:grpSpPr bwMode="auto">
          <a:xfrm>
            <a:off x="6553200" y="2971800"/>
            <a:ext cx="2362200" cy="319088"/>
            <a:chOff x="4128" y="864"/>
            <a:chExt cx="1488" cy="201"/>
          </a:xfrm>
        </p:grpSpPr>
        <p:sp>
          <p:nvSpPr>
            <p:cNvPr id="5155" name="Text Box 21"/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988</a:t>
              </a:r>
            </a:p>
          </p:txBody>
        </p:sp>
        <p:sp>
          <p:nvSpPr>
            <p:cNvPr id="5156" name="Text Box 22"/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Element 4</a:t>
              </a:r>
            </a:p>
          </p:txBody>
        </p:sp>
      </p:grpSp>
      <p:grpSp>
        <p:nvGrpSpPr>
          <p:cNvPr id="8" name="Group 23"/>
          <p:cNvGrpSpPr>
            <a:grpSpLocks/>
          </p:cNvGrpSpPr>
          <p:nvPr/>
        </p:nvGrpSpPr>
        <p:grpSpPr bwMode="auto">
          <a:xfrm>
            <a:off x="6553200" y="3276600"/>
            <a:ext cx="2362200" cy="319088"/>
            <a:chOff x="4128" y="864"/>
            <a:chExt cx="1488" cy="201"/>
          </a:xfrm>
        </p:grpSpPr>
        <p:sp>
          <p:nvSpPr>
            <p:cNvPr id="5153" name="Text Box 24"/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990</a:t>
              </a:r>
            </a:p>
          </p:txBody>
        </p:sp>
        <p:sp>
          <p:nvSpPr>
            <p:cNvPr id="5154" name="Text Box 25"/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Element 5</a:t>
              </a:r>
            </a:p>
          </p:txBody>
        </p:sp>
      </p:grpSp>
      <p:grpSp>
        <p:nvGrpSpPr>
          <p:cNvPr id="9" name="Group 26"/>
          <p:cNvGrpSpPr>
            <a:grpSpLocks/>
          </p:cNvGrpSpPr>
          <p:nvPr/>
        </p:nvGrpSpPr>
        <p:grpSpPr bwMode="auto">
          <a:xfrm>
            <a:off x="6553200" y="3581400"/>
            <a:ext cx="2362200" cy="319088"/>
            <a:chOff x="4128" y="864"/>
            <a:chExt cx="1488" cy="201"/>
          </a:xfrm>
        </p:grpSpPr>
        <p:sp>
          <p:nvSpPr>
            <p:cNvPr id="5151" name="Text Box 27"/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992</a:t>
              </a:r>
            </a:p>
          </p:txBody>
        </p:sp>
        <p:sp>
          <p:nvSpPr>
            <p:cNvPr id="5152" name="Text Box 28"/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Element 6</a:t>
              </a:r>
            </a:p>
          </p:txBody>
        </p:sp>
      </p:grpSp>
      <p:grpSp>
        <p:nvGrpSpPr>
          <p:cNvPr id="10" name="Group 29"/>
          <p:cNvGrpSpPr>
            <a:grpSpLocks/>
          </p:cNvGrpSpPr>
          <p:nvPr/>
        </p:nvGrpSpPr>
        <p:grpSpPr bwMode="auto">
          <a:xfrm>
            <a:off x="6553200" y="3886200"/>
            <a:ext cx="2362200" cy="319088"/>
            <a:chOff x="4128" y="864"/>
            <a:chExt cx="1488" cy="201"/>
          </a:xfrm>
        </p:grpSpPr>
        <p:sp>
          <p:nvSpPr>
            <p:cNvPr id="5149" name="Text Box 30"/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994</a:t>
              </a:r>
            </a:p>
          </p:txBody>
        </p:sp>
        <p:sp>
          <p:nvSpPr>
            <p:cNvPr id="5150" name="Text Box 31"/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Element 7</a:t>
              </a:r>
            </a:p>
          </p:txBody>
        </p:sp>
      </p:grpSp>
      <p:grpSp>
        <p:nvGrpSpPr>
          <p:cNvPr id="11" name="Group 32"/>
          <p:cNvGrpSpPr>
            <a:grpSpLocks/>
          </p:cNvGrpSpPr>
          <p:nvPr/>
        </p:nvGrpSpPr>
        <p:grpSpPr bwMode="auto">
          <a:xfrm>
            <a:off x="6553200" y="4191000"/>
            <a:ext cx="2362200" cy="319088"/>
            <a:chOff x="4128" y="864"/>
            <a:chExt cx="1488" cy="201"/>
          </a:xfrm>
        </p:grpSpPr>
        <p:sp>
          <p:nvSpPr>
            <p:cNvPr id="5147" name="Text Box 33"/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996</a:t>
              </a:r>
            </a:p>
          </p:txBody>
        </p:sp>
        <p:sp>
          <p:nvSpPr>
            <p:cNvPr id="5148" name="Text Box 34"/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Element 8</a:t>
              </a:r>
            </a:p>
          </p:txBody>
        </p:sp>
      </p:grpSp>
      <p:grpSp>
        <p:nvGrpSpPr>
          <p:cNvPr id="12" name="Group 35"/>
          <p:cNvGrpSpPr>
            <a:grpSpLocks/>
          </p:cNvGrpSpPr>
          <p:nvPr/>
        </p:nvGrpSpPr>
        <p:grpSpPr bwMode="auto">
          <a:xfrm>
            <a:off x="6553200" y="5410200"/>
            <a:ext cx="2362200" cy="319088"/>
            <a:chOff x="4128" y="864"/>
            <a:chExt cx="1488" cy="201"/>
          </a:xfrm>
        </p:grpSpPr>
        <p:sp>
          <p:nvSpPr>
            <p:cNvPr id="5145" name="Text Box 36"/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998</a:t>
              </a:r>
            </a:p>
          </p:txBody>
        </p:sp>
        <p:sp>
          <p:nvSpPr>
            <p:cNvPr id="5146" name="Text Box 37"/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 dirty="0"/>
                <a:t>Element 49</a:t>
              </a:r>
            </a:p>
          </p:txBody>
        </p:sp>
      </p:grpSp>
      <p:grpSp>
        <p:nvGrpSpPr>
          <p:cNvPr id="13" name="Group 38"/>
          <p:cNvGrpSpPr>
            <a:grpSpLocks/>
          </p:cNvGrpSpPr>
          <p:nvPr/>
        </p:nvGrpSpPr>
        <p:grpSpPr bwMode="auto">
          <a:xfrm>
            <a:off x="6553200" y="4572000"/>
            <a:ext cx="2362200" cy="371475"/>
            <a:chOff x="4128" y="864"/>
            <a:chExt cx="1488" cy="234"/>
          </a:xfrm>
        </p:grpSpPr>
        <p:sp>
          <p:nvSpPr>
            <p:cNvPr id="5143" name="Text Box 39"/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23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800" b="1"/>
                <a:t>…</a:t>
              </a:r>
            </a:p>
          </p:txBody>
        </p:sp>
        <p:sp>
          <p:nvSpPr>
            <p:cNvPr id="5144" name="Text Box 40"/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21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endParaRPr lang="fr-FR" sz="1600" b="1"/>
            </a:p>
          </p:txBody>
        </p:sp>
      </p:grpSp>
      <p:grpSp>
        <p:nvGrpSpPr>
          <p:cNvPr id="14" name="Group 41"/>
          <p:cNvGrpSpPr>
            <a:grpSpLocks/>
          </p:cNvGrpSpPr>
          <p:nvPr/>
        </p:nvGrpSpPr>
        <p:grpSpPr bwMode="auto">
          <a:xfrm>
            <a:off x="6553200" y="4953000"/>
            <a:ext cx="2362200" cy="371475"/>
            <a:chOff x="4128" y="864"/>
            <a:chExt cx="1488" cy="234"/>
          </a:xfrm>
        </p:grpSpPr>
        <p:sp>
          <p:nvSpPr>
            <p:cNvPr id="5141" name="Text Box 42"/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23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800" b="1"/>
                <a:t>…</a:t>
              </a:r>
            </a:p>
          </p:txBody>
        </p:sp>
        <p:sp>
          <p:nvSpPr>
            <p:cNvPr id="5142" name="Text Box 43"/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endParaRPr lang="fr-FR" sz="1600" b="1"/>
            </a:p>
          </p:txBody>
        </p:sp>
      </p:grpSp>
      <p:sp>
        <p:nvSpPr>
          <p:cNvPr id="104492" name="Line 44"/>
          <p:cNvSpPr>
            <a:spLocks noChangeShapeType="1"/>
          </p:cNvSpPr>
          <p:nvPr/>
        </p:nvSpPr>
        <p:spPr bwMode="auto">
          <a:xfrm>
            <a:off x="1828800" y="1614487"/>
            <a:ext cx="4724400" cy="290513"/>
          </a:xfrm>
          <a:prstGeom prst="line">
            <a:avLst/>
          </a:prstGeom>
          <a:noFill/>
          <a:ln w="57150">
            <a:solidFill>
              <a:srgbClr val="FF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493" name="Line 45"/>
          <p:cNvSpPr>
            <a:spLocks noChangeShapeType="1"/>
          </p:cNvSpPr>
          <p:nvPr/>
        </p:nvSpPr>
        <p:spPr bwMode="auto">
          <a:xfrm flipV="1">
            <a:off x="3733800" y="2819400"/>
            <a:ext cx="2819400" cy="1524000"/>
          </a:xfrm>
          <a:prstGeom prst="line">
            <a:avLst/>
          </a:prstGeom>
          <a:noFill/>
          <a:ln w="57150">
            <a:solidFill>
              <a:srgbClr val="FF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494" name="Line 46"/>
          <p:cNvSpPr>
            <a:spLocks noChangeShapeType="1"/>
          </p:cNvSpPr>
          <p:nvPr/>
        </p:nvSpPr>
        <p:spPr bwMode="auto">
          <a:xfrm flipV="1">
            <a:off x="3962400" y="2895599"/>
            <a:ext cx="3886200" cy="1976439"/>
          </a:xfrm>
          <a:prstGeom prst="line">
            <a:avLst/>
          </a:prstGeom>
          <a:noFill/>
          <a:ln w="57150">
            <a:solidFill>
              <a:srgbClr val="FF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0" y="7620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9764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2" grpId="0" animBg="1"/>
      <p:bldP spid="104492" grpId="0" animBg="1"/>
      <p:bldP spid="104493" grpId="0" animBg="1"/>
      <p:bldP spid="10449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19843"/>
            <a:ext cx="8229600" cy="72787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b="1" dirty="0">
                <a:solidFill>
                  <a:srgbClr val="B80000"/>
                </a:solidFill>
                <a:cs typeface="+mj-cs"/>
              </a:rPr>
              <a:t>Accessing 1-Demensional Array</a:t>
            </a:r>
          </a:p>
        </p:txBody>
      </p:sp>
      <p:sp>
        <p:nvSpPr>
          <p:cNvPr id="6147" name="Rectangle 3"/>
          <p:cNvSpPr>
            <a:spLocks noChangeArrowheads="1"/>
          </p:cNvSpPr>
          <p:nvPr/>
        </p:nvSpPr>
        <p:spPr bwMode="auto">
          <a:xfrm>
            <a:off x="6477000" y="1574800"/>
            <a:ext cx="2514600" cy="449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fr-FR"/>
          </a:p>
        </p:txBody>
      </p:sp>
      <p:grpSp>
        <p:nvGrpSpPr>
          <p:cNvPr id="6148" name="Group 4"/>
          <p:cNvGrpSpPr>
            <a:grpSpLocks/>
          </p:cNvGrpSpPr>
          <p:nvPr/>
        </p:nvGrpSpPr>
        <p:grpSpPr bwMode="auto">
          <a:xfrm>
            <a:off x="6553200" y="1651000"/>
            <a:ext cx="2362200" cy="381000"/>
            <a:chOff x="4128" y="864"/>
            <a:chExt cx="1488" cy="240"/>
          </a:xfrm>
        </p:grpSpPr>
        <p:sp>
          <p:nvSpPr>
            <p:cNvPr id="6192" name="Text Box 5"/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23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800" b="1"/>
                <a:t>Address</a:t>
              </a:r>
            </a:p>
          </p:txBody>
        </p:sp>
        <p:sp>
          <p:nvSpPr>
            <p:cNvPr id="6193" name="Text Box 6"/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23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800" b="1"/>
                <a:t>Data</a:t>
              </a:r>
            </a:p>
          </p:txBody>
        </p:sp>
      </p:grpSp>
      <p:grpSp>
        <p:nvGrpSpPr>
          <p:cNvPr id="6149" name="Group 7"/>
          <p:cNvGrpSpPr>
            <a:grpSpLocks/>
          </p:cNvGrpSpPr>
          <p:nvPr/>
        </p:nvGrpSpPr>
        <p:grpSpPr bwMode="auto">
          <a:xfrm>
            <a:off x="6553200" y="2032000"/>
            <a:ext cx="2362200" cy="319088"/>
            <a:chOff x="4128" y="864"/>
            <a:chExt cx="1488" cy="201"/>
          </a:xfrm>
        </p:grpSpPr>
        <p:sp>
          <p:nvSpPr>
            <p:cNvPr id="6190" name="Text Box 8"/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980</a:t>
              </a:r>
            </a:p>
          </p:txBody>
        </p:sp>
        <p:sp>
          <p:nvSpPr>
            <p:cNvPr id="6191" name="Text Box 9"/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Element 0</a:t>
              </a:r>
            </a:p>
          </p:txBody>
        </p:sp>
      </p:grpSp>
      <p:grpSp>
        <p:nvGrpSpPr>
          <p:cNvPr id="6150" name="Group 10"/>
          <p:cNvGrpSpPr>
            <a:grpSpLocks/>
          </p:cNvGrpSpPr>
          <p:nvPr/>
        </p:nvGrpSpPr>
        <p:grpSpPr bwMode="auto">
          <a:xfrm>
            <a:off x="6553200" y="2336800"/>
            <a:ext cx="2362200" cy="319088"/>
            <a:chOff x="4128" y="864"/>
            <a:chExt cx="1488" cy="201"/>
          </a:xfrm>
        </p:grpSpPr>
        <p:sp>
          <p:nvSpPr>
            <p:cNvPr id="6188" name="Text Box 11"/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982</a:t>
              </a:r>
            </a:p>
          </p:txBody>
        </p:sp>
        <p:sp>
          <p:nvSpPr>
            <p:cNvPr id="6189" name="Text Box 12"/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Element 1</a:t>
              </a:r>
            </a:p>
          </p:txBody>
        </p:sp>
      </p:grpSp>
      <p:grpSp>
        <p:nvGrpSpPr>
          <p:cNvPr id="6151" name="Group 13"/>
          <p:cNvGrpSpPr>
            <a:grpSpLocks/>
          </p:cNvGrpSpPr>
          <p:nvPr/>
        </p:nvGrpSpPr>
        <p:grpSpPr bwMode="auto">
          <a:xfrm>
            <a:off x="6553200" y="2641600"/>
            <a:ext cx="2362200" cy="319088"/>
            <a:chOff x="4128" y="864"/>
            <a:chExt cx="1488" cy="201"/>
          </a:xfrm>
        </p:grpSpPr>
        <p:sp>
          <p:nvSpPr>
            <p:cNvPr id="6186" name="Text Box 14"/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984</a:t>
              </a:r>
            </a:p>
          </p:txBody>
        </p:sp>
        <p:sp>
          <p:nvSpPr>
            <p:cNvPr id="6187" name="Text Box 15"/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Element 2</a:t>
              </a:r>
            </a:p>
          </p:txBody>
        </p:sp>
      </p:grpSp>
      <p:grpSp>
        <p:nvGrpSpPr>
          <p:cNvPr id="6152" name="Group 16"/>
          <p:cNvGrpSpPr>
            <a:grpSpLocks/>
          </p:cNvGrpSpPr>
          <p:nvPr/>
        </p:nvGrpSpPr>
        <p:grpSpPr bwMode="auto">
          <a:xfrm>
            <a:off x="6553200" y="2946400"/>
            <a:ext cx="2362200" cy="319088"/>
            <a:chOff x="4128" y="864"/>
            <a:chExt cx="1488" cy="201"/>
          </a:xfrm>
        </p:grpSpPr>
        <p:sp>
          <p:nvSpPr>
            <p:cNvPr id="6184" name="Text Box 17"/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986</a:t>
              </a:r>
            </a:p>
          </p:txBody>
        </p:sp>
        <p:sp>
          <p:nvSpPr>
            <p:cNvPr id="6185" name="Text Box 18"/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Element 3</a:t>
              </a:r>
            </a:p>
          </p:txBody>
        </p:sp>
      </p:grpSp>
      <p:grpSp>
        <p:nvGrpSpPr>
          <p:cNvPr id="6153" name="Group 19"/>
          <p:cNvGrpSpPr>
            <a:grpSpLocks/>
          </p:cNvGrpSpPr>
          <p:nvPr/>
        </p:nvGrpSpPr>
        <p:grpSpPr bwMode="auto">
          <a:xfrm>
            <a:off x="6553200" y="3251200"/>
            <a:ext cx="2362200" cy="319088"/>
            <a:chOff x="4128" y="864"/>
            <a:chExt cx="1488" cy="201"/>
          </a:xfrm>
        </p:grpSpPr>
        <p:sp>
          <p:nvSpPr>
            <p:cNvPr id="6182" name="Text Box 20"/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988</a:t>
              </a:r>
            </a:p>
          </p:txBody>
        </p:sp>
        <p:sp>
          <p:nvSpPr>
            <p:cNvPr id="6183" name="Text Box 21"/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Element 4</a:t>
              </a:r>
            </a:p>
          </p:txBody>
        </p:sp>
      </p:grpSp>
      <p:grpSp>
        <p:nvGrpSpPr>
          <p:cNvPr id="6154" name="Group 22"/>
          <p:cNvGrpSpPr>
            <a:grpSpLocks/>
          </p:cNvGrpSpPr>
          <p:nvPr/>
        </p:nvGrpSpPr>
        <p:grpSpPr bwMode="auto">
          <a:xfrm>
            <a:off x="6553200" y="3556000"/>
            <a:ext cx="2362200" cy="319088"/>
            <a:chOff x="4128" y="864"/>
            <a:chExt cx="1488" cy="201"/>
          </a:xfrm>
        </p:grpSpPr>
        <p:sp>
          <p:nvSpPr>
            <p:cNvPr id="6180" name="Text Box 23"/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990</a:t>
              </a:r>
            </a:p>
          </p:txBody>
        </p:sp>
        <p:sp>
          <p:nvSpPr>
            <p:cNvPr id="6181" name="Text Box 24"/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Element 5</a:t>
              </a:r>
            </a:p>
          </p:txBody>
        </p:sp>
      </p:grpSp>
      <p:grpSp>
        <p:nvGrpSpPr>
          <p:cNvPr id="6155" name="Group 25"/>
          <p:cNvGrpSpPr>
            <a:grpSpLocks/>
          </p:cNvGrpSpPr>
          <p:nvPr/>
        </p:nvGrpSpPr>
        <p:grpSpPr bwMode="auto">
          <a:xfrm>
            <a:off x="6553200" y="3860800"/>
            <a:ext cx="2362200" cy="319088"/>
            <a:chOff x="4128" y="864"/>
            <a:chExt cx="1488" cy="201"/>
          </a:xfrm>
        </p:grpSpPr>
        <p:sp>
          <p:nvSpPr>
            <p:cNvPr id="6178" name="Text Box 26"/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992</a:t>
              </a:r>
            </a:p>
          </p:txBody>
        </p:sp>
        <p:sp>
          <p:nvSpPr>
            <p:cNvPr id="6179" name="Text Box 27"/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Element 6</a:t>
              </a:r>
            </a:p>
          </p:txBody>
        </p:sp>
      </p:grpSp>
      <p:grpSp>
        <p:nvGrpSpPr>
          <p:cNvPr id="6156" name="Group 28"/>
          <p:cNvGrpSpPr>
            <a:grpSpLocks/>
          </p:cNvGrpSpPr>
          <p:nvPr/>
        </p:nvGrpSpPr>
        <p:grpSpPr bwMode="auto">
          <a:xfrm>
            <a:off x="6553200" y="4165600"/>
            <a:ext cx="2362200" cy="319088"/>
            <a:chOff x="4128" y="864"/>
            <a:chExt cx="1488" cy="201"/>
          </a:xfrm>
        </p:grpSpPr>
        <p:sp>
          <p:nvSpPr>
            <p:cNvPr id="6176" name="Text Box 29"/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994</a:t>
              </a:r>
            </a:p>
          </p:txBody>
        </p:sp>
        <p:sp>
          <p:nvSpPr>
            <p:cNvPr id="6177" name="Text Box 30"/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Element 7</a:t>
              </a:r>
            </a:p>
          </p:txBody>
        </p:sp>
      </p:grpSp>
      <p:grpSp>
        <p:nvGrpSpPr>
          <p:cNvPr id="6157" name="Group 31"/>
          <p:cNvGrpSpPr>
            <a:grpSpLocks/>
          </p:cNvGrpSpPr>
          <p:nvPr/>
        </p:nvGrpSpPr>
        <p:grpSpPr bwMode="auto">
          <a:xfrm>
            <a:off x="6553200" y="4470400"/>
            <a:ext cx="2362200" cy="319088"/>
            <a:chOff x="4128" y="864"/>
            <a:chExt cx="1488" cy="201"/>
          </a:xfrm>
        </p:grpSpPr>
        <p:sp>
          <p:nvSpPr>
            <p:cNvPr id="6174" name="Text Box 32"/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996</a:t>
              </a:r>
            </a:p>
          </p:txBody>
        </p:sp>
        <p:sp>
          <p:nvSpPr>
            <p:cNvPr id="6175" name="Text Box 33"/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Element 8</a:t>
              </a:r>
            </a:p>
          </p:txBody>
        </p:sp>
      </p:grpSp>
      <p:grpSp>
        <p:nvGrpSpPr>
          <p:cNvPr id="6158" name="Group 34"/>
          <p:cNvGrpSpPr>
            <a:grpSpLocks/>
          </p:cNvGrpSpPr>
          <p:nvPr/>
        </p:nvGrpSpPr>
        <p:grpSpPr bwMode="auto">
          <a:xfrm>
            <a:off x="6553200" y="5689600"/>
            <a:ext cx="2362200" cy="319088"/>
            <a:chOff x="4128" y="864"/>
            <a:chExt cx="1488" cy="201"/>
          </a:xfrm>
        </p:grpSpPr>
        <p:sp>
          <p:nvSpPr>
            <p:cNvPr id="6172" name="Text Box 35"/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998</a:t>
              </a:r>
            </a:p>
          </p:txBody>
        </p:sp>
        <p:sp>
          <p:nvSpPr>
            <p:cNvPr id="6173" name="Text Box 36"/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 dirty="0"/>
                <a:t>Element 49</a:t>
              </a:r>
            </a:p>
          </p:txBody>
        </p:sp>
      </p:grpSp>
      <p:grpSp>
        <p:nvGrpSpPr>
          <p:cNvPr id="6159" name="Group 37"/>
          <p:cNvGrpSpPr>
            <a:grpSpLocks/>
          </p:cNvGrpSpPr>
          <p:nvPr/>
        </p:nvGrpSpPr>
        <p:grpSpPr bwMode="auto">
          <a:xfrm>
            <a:off x="6553200" y="4851400"/>
            <a:ext cx="2362200" cy="371475"/>
            <a:chOff x="4128" y="864"/>
            <a:chExt cx="1488" cy="234"/>
          </a:xfrm>
        </p:grpSpPr>
        <p:sp>
          <p:nvSpPr>
            <p:cNvPr id="6170" name="Text Box 38"/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23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800" b="1"/>
                <a:t>…</a:t>
              </a:r>
            </a:p>
          </p:txBody>
        </p:sp>
        <p:sp>
          <p:nvSpPr>
            <p:cNvPr id="6171" name="Text Box 39"/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21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endParaRPr lang="fr-FR" sz="1600" b="1"/>
            </a:p>
          </p:txBody>
        </p:sp>
      </p:grpSp>
      <p:grpSp>
        <p:nvGrpSpPr>
          <p:cNvPr id="6160" name="Group 40"/>
          <p:cNvGrpSpPr>
            <a:grpSpLocks/>
          </p:cNvGrpSpPr>
          <p:nvPr/>
        </p:nvGrpSpPr>
        <p:grpSpPr bwMode="auto">
          <a:xfrm>
            <a:off x="6553200" y="5232400"/>
            <a:ext cx="2362200" cy="371475"/>
            <a:chOff x="4128" y="864"/>
            <a:chExt cx="1488" cy="234"/>
          </a:xfrm>
        </p:grpSpPr>
        <p:sp>
          <p:nvSpPr>
            <p:cNvPr id="6168" name="Text Box 41"/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23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800" b="1"/>
                <a:t>…</a:t>
              </a:r>
            </a:p>
          </p:txBody>
        </p:sp>
        <p:sp>
          <p:nvSpPr>
            <p:cNvPr id="6169" name="Text Box 42"/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endParaRPr lang="fr-FR" sz="1600" b="1"/>
            </a:p>
          </p:txBody>
        </p:sp>
      </p:grpSp>
      <p:sp>
        <p:nvSpPr>
          <p:cNvPr id="106539" name="Line 43"/>
          <p:cNvSpPr>
            <a:spLocks noChangeShapeType="1"/>
          </p:cNvSpPr>
          <p:nvPr/>
        </p:nvSpPr>
        <p:spPr bwMode="auto">
          <a:xfrm flipV="1">
            <a:off x="2362200" y="2184400"/>
            <a:ext cx="4191000" cy="1143000"/>
          </a:xfrm>
          <a:prstGeom prst="line">
            <a:avLst/>
          </a:prstGeom>
          <a:noFill/>
          <a:ln w="57150">
            <a:solidFill>
              <a:srgbClr val="FF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540" name="Line 44"/>
          <p:cNvSpPr>
            <a:spLocks noChangeShapeType="1"/>
          </p:cNvSpPr>
          <p:nvPr/>
        </p:nvSpPr>
        <p:spPr bwMode="auto">
          <a:xfrm flipV="1">
            <a:off x="2743200" y="3098800"/>
            <a:ext cx="3810000" cy="1081088"/>
          </a:xfrm>
          <a:prstGeom prst="line">
            <a:avLst/>
          </a:prstGeom>
          <a:noFill/>
          <a:ln w="57150">
            <a:solidFill>
              <a:srgbClr val="FF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542" name="Text Box 46"/>
          <p:cNvSpPr txBox="1">
            <a:spLocks noChangeArrowheads="1"/>
          </p:cNvSpPr>
          <p:nvPr/>
        </p:nvSpPr>
        <p:spPr bwMode="auto">
          <a:xfrm>
            <a:off x="228600" y="1928813"/>
            <a:ext cx="6019800" cy="37861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404813" indent="-404813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fr-FR" sz="2000" dirty="0">
                <a:latin typeface="Trebuchet MS" panose="020B0603020202020204" pitchFamily="34" charset="0"/>
              </a:rPr>
              <a:t>….</a:t>
            </a:r>
            <a:endParaRPr lang="en-US" sz="2000" dirty="0">
              <a:latin typeface="Trebuchet MS" panose="020B0603020202020204" pitchFamily="34" charset="0"/>
            </a:endParaRPr>
          </a:p>
          <a:p>
            <a:pPr eaLnBrk="1" hangingPunct="1"/>
            <a:r>
              <a:rPr lang="fr-FR" sz="2000" dirty="0">
                <a:latin typeface="Trebuchet MS" panose="020B0603020202020204" pitchFamily="34" charset="0"/>
              </a:rPr>
              <a:t>….</a:t>
            </a:r>
            <a:endParaRPr lang="en-US" sz="2000" dirty="0">
              <a:latin typeface="Trebuchet MS" panose="020B0603020202020204" pitchFamily="34" charset="0"/>
            </a:endParaRPr>
          </a:p>
          <a:p>
            <a:pPr eaLnBrk="1" hangingPunct="1"/>
            <a:r>
              <a:rPr lang="en-US" sz="2000" dirty="0">
                <a:latin typeface="Trebuchet MS" panose="020B0603020202020204" pitchFamily="34" charset="0"/>
              </a:rPr>
              <a:t>	</a:t>
            </a:r>
            <a:r>
              <a:rPr lang="en-US" sz="2000" dirty="0" err="1">
                <a:latin typeface="Trebuchet MS" panose="020B0603020202020204" pitchFamily="34" charset="0"/>
              </a:rPr>
              <a:t>int</a:t>
            </a:r>
            <a:r>
              <a:rPr lang="en-US" sz="2000" dirty="0">
                <a:latin typeface="Trebuchet MS" panose="020B0603020202020204" pitchFamily="34" charset="0"/>
              </a:rPr>
              <a:t> List [ 50 ];</a:t>
            </a:r>
          </a:p>
          <a:p>
            <a:pPr eaLnBrk="1" hangingPunct="1"/>
            <a:r>
              <a:rPr lang="en-US" sz="2000" dirty="0">
                <a:latin typeface="Trebuchet MS" panose="020B0603020202020204" pitchFamily="34" charset="0"/>
              </a:rPr>
              <a:t>	</a:t>
            </a:r>
            <a:r>
              <a:rPr lang="en-US" sz="2000" dirty="0" err="1">
                <a:latin typeface="Trebuchet MS" panose="020B0603020202020204" pitchFamily="34" charset="0"/>
              </a:rPr>
              <a:t>int</a:t>
            </a:r>
            <a:r>
              <a:rPr lang="en-US" sz="2000" dirty="0">
                <a:latin typeface="Trebuchet MS" panose="020B0603020202020204" pitchFamily="34" charset="0"/>
              </a:rPr>
              <a:t> *Pointer;</a:t>
            </a:r>
          </a:p>
          <a:p>
            <a:pPr eaLnBrk="1" hangingPunct="1"/>
            <a:r>
              <a:rPr lang="en-US" sz="2000" dirty="0">
                <a:latin typeface="Trebuchet MS" panose="020B0603020202020204" pitchFamily="34" charset="0"/>
              </a:rPr>
              <a:t>	Pointer = List; </a:t>
            </a:r>
            <a:r>
              <a:rPr lang="en-US" sz="2000" dirty="0">
                <a:solidFill>
                  <a:srgbClr val="008000"/>
                </a:solidFill>
                <a:latin typeface="Trebuchet MS" panose="020B0603020202020204" pitchFamily="34" charset="0"/>
              </a:rPr>
              <a:t>// Address of first Element</a:t>
            </a:r>
          </a:p>
          <a:p>
            <a:pPr eaLnBrk="1" hangingPunct="1"/>
            <a:endParaRPr lang="en-US" sz="2000" dirty="0">
              <a:solidFill>
                <a:schemeClr val="accent1"/>
              </a:solidFill>
              <a:latin typeface="Trebuchet MS" panose="020B0603020202020204" pitchFamily="34" charset="0"/>
            </a:endParaRPr>
          </a:p>
          <a:p>
            <a:pPr eaLnBrk="1" hangingPunct="1"/>
            <a:r>
              <a:rPr lang="en-US" sz="2000" dirty="0">
                <a:latin typeface="Trebuchet MS" panose="020B0603020202020204" pitchFamily="34" charset="0"/>
              </a:rPr>
              <a:t>	</a:t>
            </a:r>
            <a:r>
              <a:rPr lang="en-US" sz="2000" dirty="0" err="1">
                <a:latin typeface="Trebuchet MS" panose="020B0603020202020204" pitchFamily="34" charset="0"/>
              </a:rPr>
              <a:t>int</a:t>
            </a:r>
            <a:r>
              <a:rPr lang="en-US" sz="2000" dirty="0">
                <a:latin typeface="Trebuchet MS" panose="020B0603020202020204" pitchFamily="34" charset="0"/>
              </a:rPr>
              <a:t> *</a:t>
            </a:r>
            <a:r>
              <a:rPr lang="en-US" sz="2000" dirty="0" err="1">
                <a:latin typeface="Trebuchet MS" panose="020B0603020202020204" pitchFamily="34" charset="0"/>
              </a:rPr>
              <a:t>ptr</a:t>
            </a:r>
            <a:r>
              <a:rPr lang="en-US" sz="2000" dirty="0">
                <a:latin typeface="Trebuchet MS" panose="020B0603020202020204" pitchFamily="34" charset="0"/>
              </a:rPr>
              <a:t>;</a:t>
            </a:r>
          </a:p>
          <a:p>
            <a:pPr eaLnBrk="1" hangingPunct="1"/>
            <a:r>
              <a:rPr lang="en-US" sz="2000" dirty="0">
                <a:latin typeface="Trebuchet MS" panose="020B0603020202020204" pitchFamily="34" charset="0"/>
              </a:rPr>
              <a:t>	</a:t>
            </a:r>
            <a:r>
              <a:rPr lang="en-US" sz="2000" dirty="0" err="1">
                <a:latin typeface="Trebuchet MS" panose="020B0603020202020204" pitchFamily="34" charset="0"/>
              </a:rPr>
              <a:t>ptr</a:t>
            </a:r>
            <a:r>
              <a:rPr lang="en-US" sz="2000" dirty="0">
                <a:latin typeface="Trebuchet MS" panose="020B0603020202020204" pitchFamily="34" charset="0"/>
              </a:rPr>
              <a:t> = Pointer + 3; </a:t>
            </a:r>
            <a:r>
              <a:rPr lang="en-US" sz="2000" dirty="0">
                <a:solidFill>
                  <a:srgbClr val="008000"/>
                </a:solidFill>
                <a:latin typeface="Trebuchet MS" panose="020B0603020202020204" pitchFamily="34" charset="0"/>
              </a:rPr>
              <a:t>// Address of 4</a:t>
            </a:r>
            <a:r>
              <a:rPr lang="en-US" sz="2000" baseline="30000" dirty="0">
                <a:solidFill>
                  <a:srgbClr val="008000"/>
                </a:solidFill>
                <a:latin typeface="Trebuchet MS" panose="020B0603020202020204" pitchFamily="34" charset="0"/>
              </a:rPr>
              <a:t>th</a:t>
            </a:r>
            <a:r>
              <a:rPr lang="en-US" sz="2000" dirty="0">
                <a:solidFill>
                  <a:srgbClr val="008000"/>
                </a:solidFill>
                <a:latin typeface="Trebuchet MS" panose="020B0603020202020204" pitchFamily="34" charset="0"/>
              </a:rPr>
              <a:t> Element</a:t>
            </a:r>
          </a:p>
          <a:p>
            <a:pPr eaLnBrk="1" hangingPunct="1"/>
            <a:r>
              <a:rPr lang="en-US" sz="2000" dirty="0">
                <a:latin typeface="Trebuchet MS" panose="020B0603020202020204" pitchFamily="34" charset="0"/>
              </a:rPr>
              <a:t>	*</a:t>
            </a:r>
            <a:r>
              <a:rPr lang="en-US" sz="2000" dirty="0" err="1">
                <a:latin typeface="Trebuchet MS" panose="020B0603020202020204" pitchFamily="34" charset="0"/>
              </a:rPr>
              <a:t>ptr</a:t>
            </a:r>
            <a:r>
              <a:rPr lang="en-US" sz="2000" dirty="0">
                <a:latin typeface="Trebuchet MS" panose="020B0603020202020204" pitchFamily="34" charset="0"/>
              </a:rPr>
              <a:t> = 293; </a:t>
            </a:r>
            <a:r>
              <a:rPr lang="en-US" sz="2000" dirty="0">
                <a:solidFill>
                  <a:srgbClr val="008000"/>
                </a:solidFill>
                <a:latin typeface="Trebuchet MS" panose="020B0603020202020204" pitchFamily="34" charset="0"/>
              </a:rPr>
              <a:t>// 293 value store at 4</a:t>
            </a:r>
            <a:r>
              <a:rPr lang="en-US" sz="2000" baseline="30000" dirty="0">
                <a:solidFill>
                  <a:srgbClr val="008000"/>
                </a:solidFill>
                <a:latin typeface="Trebuchet MS" panose="020B0603020202020204" pitchFamily="34" charset="0"/>
              </a:rPr>
              <a:t>th</a:t>
            </a:r>
            <a:r>
              <a:rPr lang="en-US" sz="2000" dirty="0">
                <a:solidFill>
                  <a:srgbClr val="008000"/>
                </a:solidFill>
                <a:latin typeface="Trebuchet MS" panose="020B0603020202020204" pitchFamily="34" charset="0"/>
              </a:rPr>
              <a:t> element address</a:t>
            </a:r>
          </a:p>
          <a:p>
            <a:pPr eaLnBrk="1" hangingPunct="1"/>
            <a:endParaRPr lang="en-US" sz="2000" dirty="0">
              <a:solidFill>
                <a:srgbClr val="008000"/>
              </a:solidFill>
              <a:latin typeface="Trebuchet MS" panose="020B0603020202020204" pitchFamily="34" charset="0"/>
            </a:endParaRPr>
          </a:p>
          <a:p>
            <a:pPr eaLnBrk="1" hangingPunct="1"/>
            <a:r>
              <a:rPr lang="en-US" sz="2000" dirty="0">
                <a:latin typeface="Trebuchet MS" panose="020B0603020202020204" pitchFamily="34" charset="0"/>
              </a:rPr>
              <a:t>}</a:t>
            </a:r>
          </a:p>
        </p:txBody>
      </p:sp>
      <p:grpSp>
        <p:nvGrpSpPr>
          <p:cNvPr id="15" name="Group 47"/>
          <p:cNvGrpSpPr>
            <a:grpSpLocks/>
          </p:cNvGrpSpPr>
          <p:nvPr/>
        </p:nvGrpSpPr>
        <p:grpSpPr bwMode="auto">
          <a:xfrm>
            <a:off x="6553200" y="2946400"/>
            <a:ext cx="2362200" cy="319088"/>
            <a:chOff x="4128" y="864"/>
            <a:chExt cx="1488" cy="201"/>
          </a:xfrm>
        </p:grpSpPr>
        <p:sp>
          <p:nvSpPr>
            <p:cNvPr id="6166" name="Text Box 48"/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986</a:t>
              </a:r>
            </a:p>
          </p:txBody>
        </p:sp>
        <p:sp>
          <p:nvSpPr>
            <p:cNvPr id="6167" name="Text Box 49"/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>
                  <a:solidFill>
                    <a:srgbClr val="FF3300"/>
                  </a:solidFill>
                </a:rPr>
                <a:t>293</a:t>
              </a:r>
            </a:p>
          </p:txBody>
        </p:sp>
      </p:grpSp>
      <p:sp>
        <p:nvSpPr>
          <p:cNvPr id="106541" name="Line 45"/>
          <p:cNvSpPr>
            <a:spLocks noChangeShapeType="1"/>
          </p:cNvSpPr>
          <p:nvPr/>
        </p:nvSpPr>
        <p:spPr bwMode="auto">
          <a:xfrm flipV="1">
            <a:off x="3200400" y="3175000"/>
            <a:ext cx="4648200" cy="1309688"/>
          </a:xfrm>
          <a:prstGeom prst="line">
            <a:avLst/>
          </a:prstGeom>
          <a:noFill/>
          <a:ln w="57150">
            <a:solidFill>
              <a:srgbClr val="FF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0" y="7620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7665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1065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1065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065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6" dur="500" fill="hold"/>
                                        <p:tgtEl>
                                          <p:spTgt spid="1065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" dur="500" fill="hold"/>
                                        <p:tgtEl>
                                          <p:spTgt spid="1065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1065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6" dur="500" fill="hold"/>
                                        <p:tgtEl>
                                          <p:spTgt spid="1065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7" dur="500" fill="hold"/>
                                        <p:tgtEl>
                                          <p:spTgt spid="1065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8" dur="500" fill="hold"/>
                                        <p:tgtEl>
                                          <p:spTgt spid="1065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539" grpId="0" animBg="1"/>
      <p:bldP spid="106540" grpId="0" animBg="1"/>
      <p:bldP spid="106541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>
          <a:xfrm>
            <a:off x="883227" y="9999"/>
            <a:ext cx="8229600" cy="736126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b="1" dirty="0">
                <a:solidFill>
                  <a:srgbClr val="B80000"/>
                </a:solidFill>
                <a:cs typeface="+mj-cs"/>
              </a:rPr>
              <a:t>Accessing 1-Demensional Array</a:t>
            </a:r>
          </a:p>
        </p:txBody>
      </p:sp>
      <p:sp>
        <p:nvSpPr>
          <p:cNvPr id="7171" name="Rectangle 3"/>
          <p:cNvSpPr>
            <a:spLocks noChangeArrowheads="1"/>
          </p:cNvSpPr>
          <p:nvPr/>
        </p:nvSpPr>
        <p:spPr bwMode="auto">
          <a:xfrm>
            <a:off x="6477000" y="1295400"/>
            <a:ext cx="2514600" cy="449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fr-FR"/>
          </a:p>
        </p:txBody>
      </p:sp>
      <p:grpSp>
        <p:nvGrpSpPr>
          <p:cNvPr id="7172" name="Group 4"/>
          <p:cNvGrpSpPr>
            <a:grpSpLocks/>
          </p:cNvGrpSpPr>
          <p:nvPr/>
        </p:nvGrpSpPr>
        <p:grpSpPr bwMode="auto">
          <a:xfrm>
            <a:off x="6553200" y="1371600"/>
            <a:ext cx="2362200" cy="381000"/>
            <a:chOff x="4128" y="864"/>
            <a:chExt cx="1488" cy="240"/>
          </a:xfrm>
        </p:grpSpPr>
        <p:sp>
          <p:nvSpPr>
            <p:cNvPr id="7215" name="Text Box 5"/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23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800" b="1"/>
                <a:t>Address</a:t>
              </a:r>
            </a:p>
          </p:txBody>
        </p:sp>
        <p:sp>
          <p:nvSpPr>
            <p:cNvPr id="7216" name="Text Box 6"/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23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800" b="1"/>
                <a:t>Data</a:t>
              </a:r>
            </a:p>
          </p:txBody>
        </p:sp>
      </p:grpSp>
      <p:grpSp>
        <p:nvGrpSpPr>
          <p:cNvPr id="7173" name="Group 7"/>
          <p:cNvGrpSpPr>
            <a:grpSpLocks/>
          </p:cNvGrpSpPr>
          <p:nvPr/>
        </p:nvGrpSpPr>
        <p:grpSpPr bwMode="auto">
          <a:xfrm>
            <a:off x="6553200" y="1752600"/>
            <a:ext cx="2362200" cy="319088"/>
            <a:chOff x="4128" y="864"/>
            <a:chExt cx="1488" cy="201"/>
          </a:xfrm>
        </p:grpSpPr>
        <p:sp>
          <p:nvSpPr>
            <p:cNvPr id="7213" name="Text Box 8"/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980</a:t>
              </a:r>
            </a:p>
          </p:txBody>
        </p:sp>
        <p:sp>
          <p:nvSpPr>
            <p:cNvPr id="7214" name="Text Box 9"/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Element 0</a:t>
              </a:r>
            </a:p>
          </p:txBody>
        </p:sp>
      </p:grpSp>
      <p:grpSp>
        <p:nvGrpSpPr>
          <p:cNvPr id="7174" name="Group 10"/>
          <p:cNvGrpSpPr>
            <a:grpSpLocks/>
          </p:cNvGrpSpPr>
          <p:nvPr/>
        </p:nvGrpSpPr>
        <p:grpSpPr bwMode="auto">
          <a:xfrm>
            <a:off x="6553200" y="2057400"/>
            <a:ext cx="2362200" cy="319088"/>
            <a:chOff x="4128" y="864"/>
            <a:chExt cx="1488" cy="201"/>
          </a:xfrm>
        </p:grpSpPr>
        <p:sp>
          <p:nvSpPr>
            <p:cNvPr id="7211" name="Text Box 11"/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982</a:t>
              </a:r>
            </a:p>
          </p:txBody>
        </p:sp>
        <p:sp>
          <p:nvSpPr>
            <p:cNvPr id="7212" name="Text Box 12"/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Element 1</a:t>
              </a:r>
            </a:p>
          </p:txBody>
        </p:sp>
      </p:grpSp>
      <p:grpSp>
        <p:nvGrpSpPr>
          <p:cNvPr id="7175" name="Group 13"/>
          <p:cNvGrpSpPr>
            <a:grpSpLocks/>
          </p:cNvGrpSpPr>
          <p:nvPr/>
        </p:nvGrpSpPr>
        <p:grpSpPr bwMode="auto">
          <a:xfrm>
            <a:off x="6553200" y="2362200"/>
            <a:ext cx="2362200" cy="319088"/>
            <a:chOff x="4128" y="864"/>
            <a:chExt cx="1488" cy="201"/>
          </a:xfrm>
        </p:grpSpPr>
        <p:sp>
          <p:nvSpPr>
            <p:cNvPr id="7209" name="Text Box 14"/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984</a:t>
              </a:r>
            </a:p>
          </p:txBody>
        </p:sp>
        <p:sp>
          <p:nvSpPr>
            <p:cNvPr id="7210" name="Text Box 15"/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Element 2</a:t>
              </a:r>
            </a:p>
          </p:txBody>
        </p:sp>
      </p:grpSp>
      <p:grpSp>
        <p:nvGrpSpPr>
          <p:cNvPr id="7176" name="Group 16"/>
          <p:cNvGrpSpPr>
            <a:grpSpLocks/>
          </p:cNvGrpSpPr>
          <p:nvPr/>
        </p:nvGrpSpPr>
        <p:grpSpPr bwMode="auto">
          <a:xfrm>
            <a:off x="6553200" y="2667000"/>
            <a:ext cx="2362200" cy="319088"/>
            <a:chOff x="4128" y="864"/>
            <a:chExt cx="1488" cy="201"/>
          </a:xfrm>
        </p:grpSpPr>
        <p:sp>
          <p:nvSpPr>
            <p:cNvPr id="7207" name="Text Box 17"/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986</a:t>
              </a:r>
            </a:p>
          </p:txBody>
        </p:sp>
        <p:sp>
          <p:nvSpPr>
            <p:cNvPr id="7208" name="Text Box 18"/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Element 3</a:t>
              </a:r>
            </a:p>
          </p:txBody>
        </p:sp>
      </p:grpSp>
      <p:grpSp>
        <p:nvGrpSpPr>
          <p:cNvPr id="7177" name="Group 19"/>
          <p:cNvGrpSpPr>
            <a:grpSpLocks/>
          </p:cNvGrpSpPr>
          <p:nvPr/>
        </p:nvGrpSpPr>
        <p:grpSpPr bwMode="auto">
          <a:xfrm>
            <a:off x="6553200" y="2971800"/>
            <a:ext cx="2362200" cy="319088"/>
            <a:chOff x="4128" y="864"/>
            <a:chExt cx="1488" cy="201"/>
          </a:xfrm>
        </p:grpSpPr>
        <p:sp>
          <p:nvSpPr>
            <p:cNvPr id="7205" name="Text Box 20"/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988</a:t>
              </a:r>
            </a:p>
          </p:txBody>
        </p:sp>
        <p:sp>
          <p:nvSpPr>
            <p:cNvPr id="7206" name="Text Box 21"/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Element 4</a:t>
              </a:r>
            </a:p>
          </p:txBody>
        </p:sp>
      </p:grpSp>
      <p:grpSp>
        <p:nvGrpSpPr>
          <p:cNvPr id="7178" name="Group 22"/>
          <p:cNvGrpSpPr>
            <a:grpSpLocks/>
          </p:cNvGrpSpPr>
          <p:nvPr/>
        </p:nvGrpSpPr>
        <p:grpSpPr bwMode="auto">
          <a:xfrm>
            <a:off x="6553200" y="3276600"/>
            <a:ext cx="2362200" cy="319088"/>
            <a:chOff x="4128" y="864"/>
            <a:chExt cx="1488" cy="201"/>
          </a:xfrm>
        </p:grpSpPr>
        <p:sp>
          <p:nvSpPr>
            <p:cNvPr id="7203" name="Text Box 23"/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990</a:t>
              </a:r>
            </a:p>
          </p:txBody>
        </p:sp>
        <p:sp>
          <p:nvSpPr>
            <p:cNvPr id="7204" name="Text Box 24"/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Element 5</a:t>
              </a:r>
            </a:p>
          </p:txBody>
        </p:sp>
      </p:grpSp>
      <p:grpSp>
        <p:nvGrpSpPr>
          <p:cNvPr id="7179" name="Group 25"/>
          <p:cNvGrpSpPr>
            <a:grpSpLocks/>
          </p:cNvGrpSpPr>
          <p:nvPr/>
        </p:nvGrpSpPr>
        <p:grpSpPr bwMode="auto">
          <a:xfrm>
            <a:off x="6553200" y="3581400"/>
            <a:ext cx="2362200" cy="319088"/>
            <a:chOff x="4128" y="864"/>
            <a:chExt cx="1488" cy="201"/>
          </a:xfrm>
        </p:grpSpPr>
        <p:sp>
          <p:nvSpPr>
            <p:cNvPr id="7201" name="Text Box 26"/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992</a:t>
              </a:r>
            </a:p>
          </p:txBody>
        </p:sp>
        <p:sp>
          <p:nvSpPr>
            <p:cNvPr id="7202" name="Text Box 27"/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Element 6</a:t>
              </a:r>
            </a:p>
          </p:txBody>
        </p:sp>
      </p:grpSp>
      <p:grpSp>
        <p:nvGrpSpPr>
          <p:cNvPr id="7180" name="Group 28"/>
          <p:cNvGrpSpPr>
            <a:grpSpLocks/>
          </p:cNvGrpSpPr>
          <p:nvPr/>
        </p:nvGrpSpPr>
        <p:grpSpPr bwMode="auto">
          <a:xfrm>
            <a:off x="6553200" y="3886200"/>
            <a:ext cx="2362200" cy="319088"/>
            <a:chOff x="4128" y="864"/>
            <a:chExt cx="1488" cy="201"/>
          </a:xfrm>
        </p:grpSpPr>
        <p:sp>
          <p:nvSpPr>
            <p:cNvPr id="7199" name="Text Box 29"/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994</a:t>
              </a:r>
            </a:p>
          </p:txBody>
        </p:sp>
        <p:sp>
          <p:nvSpPr>
            <p:cNvPr id="7200" name="Text Box 30"/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Element 7</a:t>
              </a:r>
            </a:p>
          </p:txBody>
        </p:sp>
      </p:grpSp>
      <p:grpSp>
        <p:nvGrpSpPr>
          <p:cNvPr id="7181" name="Group 31"/>
          <p:cNvGrpSpPr>
            <a:grpSpLocks/>
          </p:cNvGrpSpPr>
          <p:nvPr/>
        </p:nvGrpSpPr>
        <p:grpSpPr bwMode="auto">
          <a:xfrm>
            <a:off x="6553200" y="4191000"/>
            <a:ext cx="2362200" cy="319088"/>
            <a:chOff x="4128" y="864"/>
            <a:chExt cx="1488" cy="201"/>
          </a:xfrm>
        </p:grpSpPr>
        <p:sp>
          <p:nvSpPr>
            <p:cNvPr id="7197" name="Text Box 32"/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996</a:t>
              </a:r>
            </a:p>
          </p:txBody>
        </p:sp>
        <p:sp>
          <p:nvSpPr>
            <p:cNvPr id="7198" name="Text Box 33"/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Element 8</a:t>
              </a:r>
            </a:p>
          </p:txBody>
        </p:sp>
      </p:grpSp>
      <p:grpSp>
        <p:nvGrpSpPr>
          <p:cNvPr id="7182" name="Group 34"/>
          <p:cNvGrpSpPr>
            <a:grpSpLocks/>
          </p:cNvGrpSpPr>
          <p:nvPr/>
        </p:nvGrpSpPr>
        <p:grpSpPr bwMode="auto">
          <a:xfrm>
            <a:off x="6553200" y="5410200"/>
            <a:ext cx="2362200" cy="319088"/>
            <a:chOff x="4128" y="864"/>
            <a:chExt cx="1488" cy="201"/>
          </a:xfrm>
        </p:grpSpPr>
        <p:sp>
          <p:nvSpPr>
            <p:cNvPr id="7195" name="Text Box 35"/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998</a:t>
              </a:r>
            </a:p>
          </p:txBody>
        </p:sp>
        <p:sp>
          <p:nvSpPr>
            <p:cNvPr id="7196" name="Text Box 36"/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 dirty="0"/>
                <a:t>Element 49</a:t>
              </a:r>
            </a:p>
          </p:txBody>
        </p:sp>
      </p:grpSp>
      <p:grpSp>
        <p:nvGrpSpPr>
          <p:cNvPr id="7183" name="Group 37"/>
          <p:cNvGrpSpPr>
            <a:grpSpLocks/>
          </p:cNvGrpSpPr>
          <p:nvPr/>
        </p:nvGrpSpPr>
        <p:grpSpPr bwMode="auto">
          <a:xfrm>
            <a:off x="6553200" y="4572000"/>
            <a:ext cx="2362200" cy="371475"/>
            <a:chOff x="4128" y="864"/>
            <a:chExt cx="1488" cy="234"/>
          </a:xfrm>
        </p:grpSpPr>
        <p:sp>
          <p:nvSpPr>
            <p:cNvPr id="7193" name="Text Box 38"/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23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800" b="1"/>
                <a:t>…</a:t>
              </a:r>
            </a:p>
          </p:txBody>
        </p:sp>
        <p:sp>
          <p:nvSpPr>
            <p:cNvPr id="7194" name="Text Box 39"/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21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endParaRPr lang="fr-FR" sz="1600" b="1"/>
            </a:p>
          </p:txBody>
        </p:sp>
      </p:grpSp>
      <p:grpSp>
        <p:nvGrpSpPr>
          <p:cNvPr id="7184" name="Group 40"/>
          <p:cNvGrpSpPr>
            <a:grpSpLocks/>
          </p:cNvGrpSpPr>
          <p:nvPr/>
        </p:nvGrpSpPr>
        <p:grpSpPr bwMode="auto">
          <a:xfrm>
            <a:off x="6553200" y="4953000"/>
            <a:ext cx="2362200" cy="371475"/>
            <a:chOff x="4128" y="864"/>
            <a:chExt cx="1488" cy="234"/>
          </a:xfrm>
        </p:grpSpPr>
        <p:sp>
          <p:nvSpPr>
            <p:cNvPr id="7191" name="Text Box 41"/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23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800" b="1"/>
                <a:t>…</a:t>
              </a:r>
            </a:p>
          </p:txBody>
        </p:sp>
        <p:sp>
          <p:nvSpPr>
            <p:cNvPr id="7192" name="Text Box 42"/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endParaRPr lang="fr-FR" sz="1600" b="1"/>
            </a:p>
          </p:txBody>
        </p:sp>
      </p:grpSp>
      <p:sp>
        <p:nvSpPr>
          <p:cNvPr id="7185" name="Text Box 43"/>
          <p:cNvSpPr txBox="1">
            <a:spLocks noChangeArrowheads="1"/>
          </p:cNvSpPr>
          <p:nvPr/>
        </p:nvSpPr>
        <p:spPr bwMode="auto">
          <a:xfrm>
            <a:off x="228600" y="1752600"/>
            <a:ext cx="6019800" cy="37861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404813" indent="-404813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sz="2000" dirty="0">
              <a:latin typeface="Trebuchet MS" panose="020B0603020202020204" pitchFamily="34" charset="0"/>
            </a:endParaRPr>
          </a:p>
          <a:p>
            <a:pPr eaLnBrk="1" hangingPunct="1"/>
            <a:r>
              <a:rPr lang="fr-FR" sz="2000" dirty="0">
                <a:latin typeface="Trebuchet MS" panose="020B0603020202020204" pitchFamily="34" charset="0"/>
              </a:rPr>
              <a:t>…</a:t>
            </a:r>
            <a:endParaRPr lang="en-US" sz="2000" dirty="0">
              <a:latin typeface="Trebuchet MS" panose="020B0603020202020204" pitchFamily="34" charset="0"/>
            </a:endParaRPr>
          </a:p>
          <a:p>
            <a:pPr eaLnBrk="1" hangingPunct="1"/>
            <a:r>
              <a:rPr lang="fr-FR" sz="2000" dirty="0">
                <a:latin typeface="Trebuchet MS" panose="020B0603020202020204" pitchFamily="34" charset="0"/>
              </a:rPr>
              <a:t>…</a:t>
            </a:r>
            <a:endParaRPr lang="en-US" sz="2000" dirty="0">
              <a:latin typeface="Trebuchet MS" panose="020B0603020202020204" pitchFamily="34" charset="0"/>
            </a:endParaRPr>
          </a:p>
          <a:p>
            <a:pPr eaLnBrk="1" hangingPunct="1"/>
            <a:r>
              <a:rPr lang="en-US" sz="2000" dirty="0">
                <a:latin typeface="Trebuchet MS" panose="020B0603020202020204" pitchFamily="34" charset="0"/>
              </a:rPr>
              <a:t>	</a:t>
            </a:r>
            <a:r>
              <a:rPr lang="en-US" sz="2000" dirty="0" err="1">
                <a:latin typeface="Trebuchet MS" panose="020B0603020202020204" pitchFamily="34" charset="0"/>
              </a:rPr>
              <a:t>int</a:t>
            </a:r>
            <a:r>
              <a:rPr lang="en-US" sz="2000" dirty="0">
                <a:latin typeface="Trebuchet MS" panose="020B0603020202020204" pitchFamily="34" charset="0"/>
              </a:rPr>
              <a:t> List [ 50 ];</a:t>
            </a:r>
          </a:p>
          <a:p>
            <a:pPr eaLnBrk="1" hangingPunct="1"/>
            <a:r>
              <a:rPr lang="en-US" sz="2000" dirty="0">
                <a:latin typeface="Trebuchet MS" panose="020B0603020202020204" pitchFamily="34" charset="0"/>
              </a:rPr>
              <a:t>	</a:t>
            </a:r>
            <a:r>
              <a:rPr lang="en-US" sz="2000" dirty="0" err="1">
                <a:latin typeface="Trebuchet MS" panose="020B0603020202020204" pitchFamily="34" charset="0"/>
              </a:rPr>
              <a:t>int</a:t>
            </a:r>
            <a:r>
              <a:rPr lang="en-US" sz="2000" dirty="0">
                <a:latin typeface="Trebuchet MS" panose="020B0603020202020204" pitchFamily="34" charset="0"/>
              </a:rPr>
              <a:t> *Pointer;</a:t>
            </a:r>
          </a:p>
          <a:p>
            <a:pPr eaLnBrk="1" hangingPunct="1"/>
            <a:r>
              <a:rPr lang="en-US" sz="2000" dirty="0">
                <a:latin typeface="Trebuchet MS" panose="020B0603020202020204" pitchFamily="34" charset="0"/>
              </a:rPr>
              <a:t>	Pointer = List;</a:t>
            </a:r>
          </a:p>
          <a:p>
            <a:pPr eaLnBrk="1" hangingPunct="1"/>
            <a:r>
              <a:rPr lang="en-US" sz="2000" dirty="0">
                <a:latin typeface="Trebuchet MS" panose="020B0603020202020204" pitchFamily="34" charset="0"/>
              </a:rPr>
              <a:t>	</a:t>
            </a:r>
            <a:r>
              <a:rPr lang="en-US" sz="2000" dirty="0">
                <a:solidFill>
                  <a:srgbClr val="2C14DE"/>
                </a:solidFill>
                <a:latin typeface="Trebuchet MS" panose="020B0603020202020204" pitchFamily="34" charset="0"/>
              </a:rPr>
              <a:t>for ( </a:t>
            </a:r>
            <a:r>
              <a:rPr lang="en-US" sz="2000" dirty="0" err="1">
                <a:solidFill>
                  <a:srgbClr val="2C14DE"/>
                </a:solidFill>
                <a:latin typeface="Trebuchet MS" panose="020B0603020202020204" pitchFamily="34" charset="0"/>
              </a:rPr>
              <a:t>int</a:t>
            </a:r>
            <a:r>
              <a:rPr lang="en-US" sz="2000" dirty="0">
                <a:solidFill>
                  <a:srgbClr val="2C14DE"/>
                </a:solidFill>
                <a:latin typeface="Trebuchet MS" panose="020B0603020202020204" pitchFamily="34" charset="0"/>
              </a:rPr>
              <a:t> </a:t>
            </a:r>
            <a:r>
              <a:rPr lang="en-US" sz="2000" dirty="0" err="1">
                <a:solidFill>
                  <a:srgbClr val="2C14DE"/>
                </a:solidFill>
                <a:latin typeface="Trebuchet MS" panose="020B0603020202020204" pitchFamily="34" charset="0"/>
              </a:rPr>
              <a:t>i</a:t>
            </a:r>
            <a:r>
              <a:rPr lang="en-US" sz="2000" dirty="0">
                <a:solidFill>
                  <a:srgbClr val="2C14DE"/>
                </a:solidFill>
                <a:latin typeface="Trebuchet MS" panose="020B0603020202020204" pitchFamily="34" charset="0"/>
              </a:rPr>
              <a:t> = 0; </a:t>
            </a:r>
            <a:r>
              <a:rPr lang="en-US" sz="2000" dirty="0" err="1">
                <a:solidFill>
                  <a:srgbClr val="2C14DE"/>
                </a:solidFill>
                <a:latin typeface="Trebuchet MS" panose="020B0603020202020204" pitchFamily="34" charset="0"/>
              </a:rPr>
              <a:t>i</a:t>
            </a:r>
            <a:r>
              <a:rPr lang="en-US" sz="2000" dirty="0">
                <a:solidFill>
                  <a:srgbClr val="2C14DE"/>
                </a:solidFill>
                <a:latin typeface="Trebuchet MS" panose="020B0603020202020204" pitchFamily="34" charset="0"/>
              </a:rPr>
              <a:t> &lt; 50; </a:t>
            </a:r>
            <a:r>
              <a:rPr lang="en-US" sz="2000" dirty="0" err="1">
                <a:solidFill>
                  <a:srgbClr val="2C14DE"/>
                </a:solidFill>
                <a:latin typeface="Trebuchet MS" panose="020B0603020202020204" pitchFamily="34" charset="0"/>
              </a:rPr>
              <a:t>i</a:t>
            </a:r>
            <a:r>
              <a:rPr lang="en-US" sz="2000" dirty="0">
                <a:solidFill>
                  <a:srgbClr val="2C14DE"/>
                </a:solidFill>
                <a:latin typeface="Trebuchet MS" panose="020B0603020202020204" pitchFamily="34" charset="0"/>
              </a:rPr>
              <a:t>++ )</a:t>
            </a:r>
          </a:p>
          <a:p>
            <a:pPr eaLnBrk="1" hangingPunct="1"/>
            <a:r>
              <a:rPr lang="en-US" sz="2000" dirty="0">
                <a:solidFill>
                  <a:srgbClr val="2C14DE"/>
                </a:solidFill>
                <a:latin typeface="Trebuchet MS" panose="020B0603020202020204" pitchFamily="34" charset="0"/>
              </a:rPr>
              <a:t>	{</a:t>
            </a:r>
          </a:p>
          <a:p>
            <a:pPr eaLnBrk="1" hangingPunct="1"/>
            <a:r>
              <a:rPr lang="en-US" sz="2000" dirty="0">
                <a:solidFill>
                  <a:srgbClr val="2C14DE"/>
                </a:solidFill>
                <a:latin typeface="Trebuchet MS" panose="020B0603020202020204" pitchFamily="34" charset="0"/>
              </a:rPr>
              <a:t>		</a:t>
            </a:r>
            <a:r>
              <a:rPr lang="en-US" sz="2000" dirty="0" err="1">
                <a:solidFill>
                  <a:srgbClr val="2C14DE"/>
                </a:solidFill>
                <a:latin typeface="Trebuchet MS" panose="020B0603020202020204" pitchFamily="34" charset="0"/>
              </a:rPr>
              <a:t>cout</a:t>
            </a:r>
            <a:r>
              <a:rPr lang="en-US" sz="2000" dirty="0">
                <a:solidFill>
                  <a:srgbClr val="2C14DE"/>
                </a:solidFill>
                <a:latin typeface="Trebuchet MS" panose="020B0603020202020204" pitchFamily="34" charset="0"/>
              </a:rPr>
              <a:t> &lt;&lt; *Pointer;</a:t>
            </a:r>
          </a:p>
          <a:p>
            <a:pPr eaLnBrk="1" hangingPunct="1"/>
            <a:r>
              <a:rPr lang="en-US" sz="2000" dirty="0">
                <a:solidFill>
                  <a:srgbClr val="2C14DE"/>
                </a:solidFill>
                <a:latin typeface="Trebuchet MS" panose="020B0603020202020204" pitchFamily="34" charset="0"/>
              </a:rPr>
              <a:t>		Pointer++; </a:t>
            </a:r>
            <a:r>
              <a:rPr lang="en-US" sz="2000" b="1" dirty="0">
                <a:solidFill>
                  <a:srgbClr val="008000"/>
                </a:solidFill>
                <a:latin typeface="Trebuchet MS" panose="020B0603020202020204" pitchFamily="34" charset="0"/>
              </a:rPr>
              <a:t>// Address of next element</a:t>
            </a:r>
            <a:r>
              <a:rPr lang="en-US" sz="2000" dirty="0">
                <a:solidFill>
                  <a:srgbClr val="2C14DE"/>
                </a:solidFill>
                <a:latin typeface="Trebuchet MS" panose="020B0603020202020204" pitchFamily="34" charset="0"/>
              </a:rPr>
              <a:t>	</a:t>
            </a:r>
          </a:p>
          <a:p>
            <a:pPr eaLnBrk="1" hangingPunct="1"/>
            <a:r>
              <a:rPr lang="en-US" sz="2000" dirty="0">
                <a:solidFill>
                  <a:srgbClr val="2C14DE"/>
                </a:solidFill>
                <a:latin typeface="Trebuchet MS" panose="020B0603020202020204" pitchFamily="34" charset="0"/>
              </a:rPr>
              <a:t>     }</a:t>
            </a:r>
          </a:p>
          <a:p>
            <a:pPr eaLnBrk="1" hangingPunct="1"/>
            <a:endParaRPr lang="en-US" sz="2000" dirty="0">
              <a:latin typeface="Trebuchet MS" panose="020B0603020202020204" pitchFamily="34" charset="0"/>
            </a:endParaRPr>
          </a:p>
        </p:txBody>
      </p:sp>
      <p:sp>
        <p:nvSpPr>
          <p:cNvPr id="7186" name="Text Box 44"/>
          <p:cNvSpPr txBox="1">
            <a:spLocks noChangeArrowheads="1"/>
          </p:cNvSpPr>
          <p:nvPr/>
        </p:nvSpPr>
        <p:spPr bwMode="auto">
          <a:xfrm>
            <a:off x="152400" y="6070600"/>
            <a:ext cx="6019800" cy="711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404813" indent="-404813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sz="2000" dirty="0">
                <a:latin typeface="Trebuchet MS" panose="020B0603020202020204" pitchFamily="34" charset="0"/>
              </a:rPr>
              <a:t>	</a:t>
            </a:r>
            <a:r>
              <a:rPr lang="en-US" sz="2000" dirty="0">
                <a:solidFill>
                  <a:srgbClr val="2C14DE"/>
                </a:solidFill>
                <a:latin typeface="Trebuchet MS" panose="020B0603020202020204" pitchFamily="34" charset="0"/>
              </a:rPr>
              <a:t>for ( </a:t>
            </a:r>
            <a:r>
              <a:rPr lang="en-US" sz="2000" dirty="0" err="1">
                <a:solidFill>
                  <a:srgbClr val="2C14DE"/>
                </a:solidFill>
                <a:latin typeface="Trebuchet MS" panose="020B0603020202020204" pitchFamily="34" charset="0"/>
              </a:rPr>
              <a:t>int</a:t>
            </a:r>
            <a:r>
              <a:rPr lang="en-US" sz="2000" dirty="0">
                <a:solidFill>
                  <a:srgbClr val="2C14DE"/>
                </a:solidFill>
                <a:latin typeface="Trebuchet MS" panose="020B0603020202020204" pitchFamily="34" charset="0"/>
              </a:rPr>
              <a:t> loop = 0; loop &lt; 50; loop++ )</a:t>
            </a:r>
          </a:p>
          <a:p>
            <a:pPr eaLnBrk="1" hangingPunct="1"/>
            <a:r>
              <a:rPr lang="en-US" sz="2000" dirty="0">
                <a:solidFill>
                  <a:srgbClr val="2C14DE"/>
                </a:solidFill>
                <a:latin typeface="Trebuchet MS" panose="020B0603020202020204" pitchFamily="34" charset="0"/>
              </a:rPr>
              <a:t>		</a:t>
            </a:r>
            <a:r>
              <a:rPr lang="fr-FR" sz="2000" dirty="0">
                <a:solidFill>
                  <a:srgbClr val="2C14DE"/>
                </a:solidFill>
                <a:latin typeface="Trebuchet MS" panose="020B0603020202020204" pitchFamily="34" charset="0"/>
              </a:rPr>
              <a:t>cout &lt;&lt;</a:t>
            </a:r>
            <a:r>
              <a:rPr lang="en-US" sz="2000" dirty="0">
                <a:solidFill>
                  <a:srgbClr val="2C14DE"/>
                </a:solidFill>
                <a:latin typeface="Trebuchet MS" panose="020B0603020202020204" pitchFamily="34" charset="0"/>
              </a:rPr>
              <a:t>  Array [ loop ] ;</a:t>
            </a:r>
          </a:p>
        </p:txBody>
      </p:sp>
      <p:sp>
        <p:nvSpPr>
          <p:cNvPr id="7187" name="AutoShape 45"/>
          <p:cNvSpPr>
            <a:spLocks/>
          </p:cNvSpPr>
          <p:nvPr/>
        </p:nvSpPr>
        <p:spPr bwMode="auto">
          <a:xfrm>
            <a:off x="5638800" y="3657600"/>
            <a:ext cx="381000" cy="1447800"/>
          </a:xfrm>
          <a:prstGeom prst="rightBrace">
            <a:avLst>
              <a:gd name="adj1" fmla="val 31667"/>
              <a:gd name="adj2" fmla="val 50000"/>
            </a:avLst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fr-FR"/>
          </a:p>
        </p:txBody>
      </p:sp>
      <p:sp>
        <p:nvSpPr>
          <p:cNvPr id="7188" name="Text Box 46"/>
          <p:cNvSpPr txBox="1">
            <a:spLocks noChangeArrowheads="1"/>
          </p:cNvSpPr>
          <p:nvPr/>
        </p:nvSpPr>
        <p:spPr bwMode="auto">
          <a:xfrm>
            <a:off x="152400" y="5562600"/>
            <a:ext cx="6019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04813" indent="-404813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sz="2400" b="1" u="sng">
                <a:solidFill>
                  <a:srgbClr val="FF3300"/>
                </a:solidFill>
                <a:latin typeface="Trebuchet MS" panose="020B0603020202020204" pitchFamily="34" charset="0"/>
              </a:rPr>
              <a:t>This is Equivalent to</a:t>
            </a:r>
          </a:p>
        </p:txBody>
      </p:sp>
      <p:sp>
        <p:nvSpPr>
          <p:cNvPr id="7189" name="Line 47"/>
          <p:cNvSpPr>
            <a:spLocks noChangeShapeType="1"/>
          </p:cNvSpPr>
          <p:nvPr/>
        </p:nvSpPr>
        <p:spPr bwMode="auto">
          <a:xfrm flipH="1">
            <a:off x="3352800" y="4419600"/>
            <a:ext cx="2362200" cy="1371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90" name="Text Box 48"/>
          <p:cNvSpPr txBox="1">
            <a:spLocks noChangeArrowheads="1"/>
          </p:cNvSpPr>
          <p:nvPr/>
        </p:nvSpPr>
        <p:spPr bwMode="auto">
          <a:xfrm>
            <a:off x="76200" y="968374"/>
            <a:ext cx="61722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sz="2000" dirty="0">
                <a:latin typeface="Trebuchet MS" panose="020B0603020202020204" pitchFamily="34" charset="0"/>
              </a:rPr>
              <a:t>We can access all element of List [50] using Pointers and for loop combinations.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7620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536165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"/>
            <a:ext cx="8707582" cy="823826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b="1" dirty="0">
                <a:solidFill>
                  <a:srgbClr val="B80000"/>
                </a:solidFill>
                <a:cs typeface="+mj-cs"/>
              </a:rPr>
              <a:t>Accessing 2-Demensional Array</a:t>
            </a:r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" y="1066800"/>
            <a:ext cx="6324600" cy="5410200"/>
          </a:xfrm>
          <a:ln>
            <a:solidFill>
              <a:schemeClr val="tx1"/>
            </a:solidFill>
          </a:ln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sz="2400" b="1" dirty="0">
                <a:cs typeface="+mn-cs"/>
              </a:rPr>
              <a:t>Note that the statements </a:t>
            </a:r>
          </a:p>
          <a:p>
            <a:pPr marL="457200" lvl="1" indent="0" eaLnBrk="1" hangingPunct="1">
              <a:lnSpc>
                <a:spcPct val="80000"/>
              </a:lnSpc>
              <a:buNone/>
              <a:defRPr/>
            </a:pPr>
            <a:r>
              <a:rPr lang="en-US" sz="2000" b="1" dirty="0" err="1">
                <a:solidFill>
                  <a:srgbClr val="2C14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solidFill>
                  <a:srgbClr val="2C14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*Pointer;</a:t>
            </a:r>
          </a:p>
          <a:p>
            <a:pPr marL="457200" lvl="1" indent="0" eaLnBrk="1" hangingPunct="1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rgbClr val="2C14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Pointer = &amp;List [3];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sz="2400" b="1" dirty="0">
                <a:cs typeface="+mn-cs"/>
              </a:rPr>
              <a:t>represents that we are accessing the address of 4</a:t>
            </a:r>
            <a:r>
              <a:rPr lang="en-US" sz="2400" b="1" baseline="30000" dirty="0">
                <a:cs typeface="+mn-cs"/>
              </a:rPr>
              <a:t>th</a:t>
            </a:r>
            <a:r>
              <a:rPr lang="en-US" sz="2400" b="1" dirty="0">
                <a:cs typeface="+mn-cs"/>
              </a:rPr>
              <a:t> slot.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  <a:defRPr/>
            </a:pPr>
            <a:endParaRPr lang="en-US" sz="2400" dirty="0">
              <a:cs typeface="+mn-cs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sz="2400" b="1" dirty="0">
                <a:cs typeface="+mn-cs"/>
              </a:rPr>
              <a:t>In 2-Demensional array the statements</a:t>
            </a:r>
          </a:p>
          <a:p>
            <a:pPr marL="457200" lvl="1" indent="0" eaLnBrk="1" hangingPunct="1">
              <a:lnSpc>
                <a:spcPct val="80000"/>
              </a:lnSpc>
              <a:buNone/>
              <a:defRPr/>
            </a:pPr>
            <a:r>
              <a:rPr lang="en-US" sz="2000" b="1" dirty="0" err="1">
                <a:solidFill>
                  <a:srgbClr val="2C14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solidFill>
                  <a:srgbClr val="2C14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List[ 5 ][ 6 ];</a:t>
            </a:r>
          </a:p>
          <a:p>
            <a:pPr marL="457200" lvl="1" indent="0" eaLnBrk="1" hangingPunct="1">
              <a:lnSpc>
                <a:spcPct val="80000"/>
              </a:lnSpc>
              <a:buNone/>
              <a:defRPr/>
            </a:pPr>
            <a:r>
              <a:rPr lang="en-US" sz="2000" b="1" dirty="0" err="1">
                <a:solidFill>
                  <a:srgbClr val="2C14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solidFill>
                  <a:srgbClr val="2C14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*Pointer;</a:t>
            </a:r>
          </a:p>
          <a:p>
            <a:pPr marL="457200" lvl="1" indent="0" eaLnBrk="1" hangingPunct="1">
              <a:lnSpc>
                <a:spcPct val="80000"/>
              </a:lnSpc>
              <a:buNone/>
              <a:defRPr/>
            </a:pPr>
            <a:r>
              <a:rPr lang="en-US" sz="2000" b="1" dirty="0">
                <a:solidFill>
                  <a:srgbClr val="2C14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Pointer = &amp;List [3];</a:t>
            </a:r>
          </a:p>
          <a:p>
            <a:pPr marL="0" indent="0" eaLnBrk="1" hangingPunct="1">
              <a:lnSpc>
                <a:spcPct val="80000"/>
              </a:lnSpc>
              <a:buNone/>
              <a:defRPr/>
            </a:pPr>
            <a:endParaRPr lang="en-US" sz="2400" b="1" dirty="0">
              <a:cs typeface="+mn-cs"/>
            </a:endParaRPr>
          </a:p>
          <a:p>
            <a:pPr marL="0" indent="0" eaLnBrk="1" hangingPunct="1">
              <a:lnSpc>
                <a:spcPct val="80000"/>
              </a:lnSpc>
              <a:buNone/>
              <a:defRPr/>
            </a:pPr>
            <a:r>
              <a:rPr lang="en-US" sz="2400" b="1" dirty="0"/>
              <a:t>     </a:t>
            </a:r>
            <a:r>
              <a:rPr lang="en-US" sz="2400" b="1" dirty="0">
                <a:cs typeface="+mn-cs"/>
              </a:rPr>
              <a:t>Represents that we are accessing the address </a:t>
            </a:r>
            <a:r>
              <a:rPr lang="en-US" sz="2400" b="1" dirty="0"/>
              <a:t>   </a:t>
            </a:r>
            <a:r>
              <a:rPr lang="en-US" sz="2400" b="1" dirty="0">
                <a:cs typeface="+mn-cs"/>
              </a:rPr>
              <a:t>of 4</a:t>
            </a:r>
            <a:r>
              <a:rPr lang="en-US" sz="2400" b="1" baseline="30000" dirty="0">
                <a:cs typeface="+mn-cs"/>
              </a:rPr>
              <a:t>th</a:t>
            </a:r>
            <a:r>
              <a:rPr lang="en-US" sz="2400" b="1" dirty="0">
                <a:cs typeface="+mn-cs"/>
              </a:rPr>
              <a:t> row </a:t>
            </a:r>
          </a:p>
          <a:p>
            <a:pPr eaLnBrk="1" hangingPunct="1">
              <a:lnSpc>
                <a:spcPct val="80000"/>
              </a:lnSpc>
              <a:defRPr/>
            </a:pPr>
            <a:endParaRPr lang="en-US" sz="2400" b="1" dirty="0">
              <a:solidFill>
                <a:srgbClr val="FF3300"/>
              </a:solidFill>
              <a:cs typeface="+mn-cs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sz="2400" dirty="0">
                <a:solidFill>
                  <a:srgbClr val="FF3300"/>
                </a:solidFill>
                <a:cs typeface="+mn-cs"/>
              </a:rPr>
              <a:t>or </a:t>
            </a:r>
            <a:r>
              <a:rPr lang="en-US" sz="2400" b="1" i="1" dirty="0">
                <a:solidFill>
                  <a:srgbClr val="2C14DE"/>
                </a:solidFill>
                <a:cs typeface="+mn-cs"/>
              </a:rPr>
              <a:t>the address the 4</a:t>
            </a:r>
            <a:r>
              <a:rPr lang="en-US" sz="2400" b="1" i="1" baseline="30000" dirty="0">
                <a:solidFill>
                  <a:srgbClr val="2C14DE"/>
                </a:solidFill>
                <a:cs typeface="+mn-cs"/>
              </a:rPr>
              <a:t>th</a:t>
            </a:r>
            <a:r>
              <a:rPr lang="en-US" sz="2400" b="1" i="1" dirty="0">
                <a:solidFill>
                  <a:srgbClr val="2C14DE"/>
                </a:solidFill>
                <a:cs typeface="+mn-cs"/>
              </a:rPr>
              <a:t> row and 1</a:t>
            </a:r>
            <a:r>
              <a:rPr lang="en-US" sz="2400" b="1" i="1" baseline="30000" dirty="0">
                <a:solidFill>
                  <a:srgbClr val="2C14DE"/>
                </a:solidFill>
                <a:cs typeface="+mn-cs"/>
              </a:rPr>
              <a:t>st</a:t>
            </a:r>
            <a:r>
              <a:rPr lang="en-US" sz="2400" b="1" i="1" dirty="0">
                <a:solidFill>
                  <a:srgbClr val="2C14DE"/>
                </a:solidFill>
                <a:cs typeface="+mn-cs"/>
              </a:rPr>
              <a:t> column.</a:t>
            </a: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6477000" y="1295400"/>
            <a:ext cx="2514600" cy="449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fr-FR"/>
          </a:p>
        </p:txBody>
      </p:sp>
      <p:grpSp>
        <p:nvGrpSpPr>
          <p:cNvPr id="8197" name="Group 5"/>
          <p:cNvGrpSpPr>
            <a:grpSpLocks/>
          </p:cNvGrpSpPr>
          <p:nvPr/>
        </p:nvGrpSpPr>
        <p:grpSpPr bwMode="auto">
          <a:xfrm>
            <a:off x="6553200" y="1371600"/>
            <a:ext cx="2362200" cy="381000"/>
            <a:chOff x="4128" y="864"/>
            <a:chExt cx="1488" cy="240"/>
          </a:xfrm>
        </p:grpSpPr>
        <p:sp>
          <p:nvSpPr>
            <p:cNvPr id="8235" name="Text Box 6"/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23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800" b="1"/>
                <a:t>Address</a:t>
              </a:r>
            </a:p>
          </p:txBody>
        </p:sp>
        <p:sp>
          <p:nvSpPr>
            <p:cNvPr id="8236" name="Text Box 7"/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23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800" b="1"/>
                <a:t>Data</a:t>
              </a:r>
            </a:p>
          </p:txBody>
        </p:sp>
      </p:grpSp>
      <p:grpSp>
        <p:nvGrpSpPr>
          <p:cNvPr id="8198" name="Group 8"/>
          <p:cNvGrpSpPr>
            <a:grpSpLocks/>
          </p:cNvGrpSpPr>
          <p:nvPr/>
        </p:nvGrpSpPr>
        <p:grpSpPr bwMode="auto">
          <a:xfrm>
            <a:off x="6553200" y="1752600"/>
            <a:ext cx="2362200" cy="319088"/>
            <a:chOff x="4128" y="864"/>
            <a:chExt cx="1488" cy="201"/>
          </a:xfrm>
        </p:grpSpPr>
        <p:sp>
          <p:nvSpPr>
            <p:cNvPr id="8233" name="Text Box 9"/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980</a:t>
              </a:r>
            </a:p>
          </p:txBody>
        </p:sp>
        <p:sp>
          <p:nvSpPr>
            <p:cNvPr id="8234" name="Text Box 10"/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Element 0</a:t>
              </a:r>
            </a:p>
          </p:txBody>
        </p:sp>
      </p:grpSp>
      <p:grpSp>
        <p:nvGrpSpPr>
          <p:cNvPr id="8199" name="Group 11"/>
          <p:cNvGrpSpPr>
            <a:grpSpLocks/>
          </p:cNvGrpSpPr>
          <p:nvPr/>
        </p:nvGrpSpPr>
        <p:grpSpPr bwMode="auto">
          <a:xfrm>
            <a:off x="6553200" y="2057400"/>
            <a:ext cx="2362200" cy="319088"/>
            <a:chOff x="4128" y="864"/>
            <a:chExt cx="1488" cy="201"/>
          </a:xfrm>
        </p:grpSpPr>
        <p:sp>
          <p:nvSpPr>
            <p:cNvPr id="8231" name="Text Box 12"/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982</a:t>
              </a:r>
            </a:p>
          </p:txBody>
        </p:sp>
        <p:sp>
          <p:nvSpPr>
            <p:cNvPr id="8232" name="Text Box 13"/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Element 1</a:t>
              </a:r>
            </a:p>
          </p:txBody>
        </p:sp>
      </p:grpSp>
      <p:grpSp>
        <p:nvGrpSpPr>
          <p:cNvPr id="8200" name="Group 14"/>
          <p:cNvGrpSpPr>
            <a:grpSpLocks/>
          </p:cNvGrpSpPr>
          <p:nvPr/>
        </p:nvGrpSpPr>
        <p:grpSpPr bwMode="auto">
          <a:xfrm>
            <a:off x="6553200" y="2362200"/>
            <a:ext cx="2362200" cy="319088"/>
            <a:chOff x="4128" y="864"/>
            <a:chExt cx="1488" cy="201"/>
          </a:xfrm>
        </p:grpSpPr>
        <p:sp>
          <p:nvSpPr>
            <p:cNvPr id="8229" name="Text Box 15"/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984</a:t>
              </a:r>
            </a:p>
          </p:txBody>
        </p:sp>
        <p:sp>
          <p:nvSpPr>
            <p:cNvPr id="8230" name="Text Box 16"/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Element 2</a:t>
              </a:r>
            </a:p>
          </p:txBody>
        </p:sp>
      </p:grpSp>
      <p:grpSp>
        <p:nvGrpSpPr>
          <p:cNvPr id="8201" name="Group 17"/>
          <p:cNvGrpSpPr>
            <a:grpSpLocks/>
          </p:cNvGrpSpPr>
          <p:nvPr/>
        </p:nvGrpSpPr>
        <p:grpSpPr bwMode="auto">
          <a:xfrm>
            <a:off x="6553200" y="2667000"/>
            <a:ext cx="2362200" cy="319088"/>
            <a:chOff x="4128" y="864"/>
            <a:chExt cx="1488" cy="201"/>
          </a:xfrm>
        </p:grpSpPr>
        <p:sp>
          <p:nvSpPr>
            <p:cNvPr id="8227" name="Text Box 18"/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986</a:t>
              </a:r>
            </a:p>
          </p:txBody>
        </p:sp>
        <p:sp>
          <p:nvSpPr>
            <p:cNvPr id="8228" name="Text Box 19"/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Element 3</a:t>
              </a:r>
            </a:p>
          </p:txBody>
        </p:sp>
      </p:grpSp>
      <p:grpSp>
        <p:nvGrpSpPr>
          <p:cNvPr id="8202" name="Group 20"/>
          <p:cNvGrpSpPr>
            <a:grpSpLocks/>
          </p:cNvGrpSpPr>
          <p:nvPr/>
        </p:nvGrpSpPr>
        <p:grpSpPr bwMode="auto">
          <a:xfrm>
            <a:off x="6553200" y="2971800"/>
            <a:ext cx="2362200" cy="319088"/>
            <a:chOff x="4128" y="864"/>
            <a:chExt cx="1488" cy="201"/>
          </a:xfrm>
        </p:grpSpPr>
        <p:sp>
          <p:nvSpPr>
            <p:cNvPr id="8225" name="Text Box 21"/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988</a:t>
              </a:r>
            </a:p>
          </p:txBody>
        </p:sp>
        <p:sp>
          <p:nvSpPr>
            <p:cNvPr id="8226" name="Text Box 22"/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Element 4</a:t>
              </a:r>
            </a:p>
          </p:txBody>
        </p:sp>
      </p:grpSp>
      <p:grpSp>
        <p:nvGrpSpPr>
          <p:cNvPr id="8203" name="Group 23"/>
          <p:cNvGrpSpPr>
            <a:grpSpLocks/>
          </p:cNvGrpSpPr>
          <p:nvPr/>
        </p:nvGrpSpPr>
        <p:grpSpPr bwMode="auto">
          <a:xfrm>
            <a:off x="6553200" y="3276600"/>
            <a:ext cx="2362200" cy="319088"/>
            <a:chOff x="4128" y="864"/>
            <a:chExt cx="1488" cy="201"/>
          </a:xfrm>
        </p:grpSpPr>
        <p:sp>
          <p:nvSpPr>
            <p:cNvPr id="8223" name="Text Box 24"/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990</a:t>
              </a:r>
            </a:p>
          </p:txBody>
        </p:sp>
        <p:sp>
          <p:nvSpPr>
            <p:cNvPr id="8224" name="Text Box 25"/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Element 5</a:t>
              </a:r>
            </a:p>
          </p:txBody>
        </p:sp>
      </p:grpSp>
      <p:grpSp>
        <p:nvGrpSpPr>
          <p:cNvPr id="8204" name="Group 26"/>
          <p:cNvGrpSpPr>
            <a:grpSpLocks/>
          </p:cNvGrpSpPr>
          <p:nvPr/>
        </p:nvGrpSpPr>
        <p:grpSpPr bwMode="auto">
          <a:xfrm>
            <a:off x="6553200" y="3581400"/>
            <a:ext cx="2362200" cy="319088"/>
            <a:chOff x="4128" y="864"/>
            <a:chExt cx="1488" cy="201"/>
          </a:xfrm>
        </p:grpSpPr>
        <p:sp>
          <p:nvSpPr>
            <p:cNvPr id="8221" name="Text Box 27"/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992</a:t>
              </a:r>
            </a:p>
          </p:txBody>
        </p:sp>
        <p:sp>
          <p:nvSpPr>
            <p:cNvPr id="8222" name="Text Box 28"/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Element 6</a:t>
              </a:r>
            </a:p>
          </p:txBody>
        </p:sp>
      </p:grpSp>
      <p:grpSp>
        <p:nvGrpSpPr>
          <p:cNvPr id="8205" name="Group 29"/>
          <p:cNvGrpSpPr>
            <a:grpSpLocks/>
          </p:cNvGrpSpPr>
          <p:nvPr/>
        </p:nvGrpSpPr>
        <p:grpSpPr bwMode="auto">
          <a:xfrm>
            <a:off x="6553200" y="3886200"/>
            <a:ext cx="2362200" cy="319088"/>
            <a:chOff x="4128" y="864"/>
            <a:chExt cx="1488" cy="201"/>
          </a:xfrm>
        </p:grpSpPr>
        <p:sp>
          <p:nvSpPr>
            <p:cNvPr id="8219" name="Text Box 30"/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994</a:t>
              </a:r>
            </a:p>
          </p:txBody>
        </p:sp>
        <p:sp>
          <p:nvSpPr>
            <p:cNvPr id="8220" name="Text Box 31"/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Element 7</a:t>
              </a:r>
            </a:p>
          </p:txBody>
        </p:sp>
      </p:grpSp>
      <p:grpSp>
        <p:nvGrpSpPr>
          <p:cNvPr id="8206" name="Group 32"/>
          <p:cNvGrpSpPr>
            <a:grpSpLocks/>
          </p:cNvGrpSpPr>
          <p:nvPr/>
        </p:nvGrpSpPr>
        <p:grpSpPr bwMode="auto">
          <a:xfrm>
            <a:off x="6553200" y="4191000"/>
            <a:ext cx="2362200" cy="319088"/>
            <a:chOff x="4128" y="864"/>
            <a:chExt cx="1488" cy="201"/>
          </a:xfrm>
        </p:grpSpPr>
        <p:sp>
          <p:nvSpPr>
            <p:cNvPr id="8217" name="Text Box 33"/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996</a:t>
              </a:r>
            </a:p>
          </p:txBody>
        </p:sp>
        <p:sp>
          <p:nvSpPr>
            <p:cNvPr id="8218" name="Text Box 34"/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Element 8</a:t>
              </a:r>
            </a:p>
          </p:txBody>
        </p:sp>
      </p:grpSp>
      <p:grpSp>
        <p:nvGrpSpPr>
          <p:cNvPr id="8207" name="Group 35"/>
          <p:cNvGrpSpPr>
            <a:grpSpLocks/>
          </p:cNvGrpSpPr>
          <p:nvPr/>
        </p:nvGrpSpPr>
        <p:grpSpPr bwMode="auto">
          <a:xfrm>
            <a:off x="6553200" y="5410200"/>
            <a:ext cx="2362200" cy="319088"/>
            <a:chOff x="4128" y="864"/>
            <a:chExt cx="1488" cy="201"/>
          </a:xfrm>
        </p:grpSpPr>
        <p:sp>
          <p:nvSpPr>
            <p:cNvPr id="8215" name="Text Box 36"/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998</a:t>
              </a:r>
            </a:p>
          </p:txBody>
        </p:sp>
        <p:sp>
          <p:nvSpPr>
            <p:cNvPr id="8216" name="Text Box 37"/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Element 50</a:t>
              </a:r>
            </a:p>
          </p:txBody>
        </p:sp>
      </p:grpSp>
      <p:grpSp>
        <p:nvGrpSpPr>
          <p:cNvPr id="8208" name="Group 38"/>
          <p:cNvGrpSpPr>
            <a:grpSpLocks/>
          </p:cNvGrpSpPr>
          <p:nvPr/>
        </p:nvGrpSpPr>
        <p:grpSpPr bwMode="auto">
          <a:xfrm>
            <a:off x="6553200" y="4572000"/>
            <a:ext cx="2362200" cy="371475"/>
            <a:chOff x="4128" y="864"/>
            <a:chExt cx="1488" cy="234"/>
          </a:xfrm>
        </p:grpSpPr>
        <p:sp>
          <p:nvSpPr>
            <p:cNvPr id="8213" name="Text Box 39"/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23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800" b="1"/>
                <a:t>…</a:t>
              </a:r>
            </a:p>
          </p:txBody>
        </p:sp>
        <p:sp>
          <p:nvSpPr>
            <p:cNvPr id="8214" name="Text Box 40"/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21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endParaRPr lang="fr-FR" sz="1600" b="1"/>
            </a:p>
          </p:txBody>
        </p:sp>
      </p:grpSp>
      <p:grpSp>
        <p:nvGrpSpPr>
          <p:cNvPr id="8209" name="Group 41"/>
          <p:cNvGrpSpPr>
            <a:grpSpLocks/>
          </p:cNvGrpSpPr>
          <p:nvPr/>
        </p:nvGrpSpPr>
        <p:grpSpPr bwMode="auto">
          <a:xfrm>
            <a:off x="6553200" y="4953000"/>
            <a:ext cx="2362200" cy="371475"/>
            <a:chOff x="4128" y="864"/>
            <a:chExt cx="1488" cy="234"/>
          </a:xfrm>
        </p:grpSpPr>
        <p:sp>
          <p:nvSpPr>
            <p:cNvPr id="8211" name="Text Box 42"/>
            <p:cNvSpPr txBox="1">
              <a:spLocks noChangeArrowheads="1"/>
            </p:cNvSpPr>
            <p:nvPr/>
          </p:nvSpPr>
          <p:spPr bwMode="auto">
            <a:xfrm>
              <a:off x="4128" y="867"/>
              <a:ext cx="720" cy="23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800" b="1"/>
                <a:t>…</a:t>
              </a:r>
            </a:p>
          </p:txBody>
        </p:sp>
        <p:sp>
          <p:nvSpPr>
            <p:cNvPr id="8212" name="Text Box 43"/>
            <p:cNvSpPr txBox="1">
              <a:spLocks noChangeArrowheads="1"/>
            </p:cNvSpPr>
            <p:nvPr/>
          </p:nvSpPr>
          <p:spPr bwMode="auto">
            <a:xfrm>
              <a:off x="4848" y="864"/>
              <a:ext cx="76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endParaRPr lang="fr-FR" sz="1600" b="1"/>
            </a:p>
          </p:txBody>
        </p:sp>
      </p:grpSp>
      <p:sp>
        <p:nvSpPr>
          <p:cNvPr id="8210" name="Line 44"/>
          <p:cNvSpPr>
            <a:spLocks noChangeShapeType="1"/>
          </p:cNvSpPr>
          <p:nvPr/>
        </p:nvSpPr>
        <p:spPr bwMode="auto">
          <a:xfrm>
            <a:off x="3505200" y="1897469"/>
            <a:ext cx="3048000" cy="921931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55418" y="876213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403304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>
          <a:xfrm>
            <a:off x="907473" y="-23554"/>
            <a:ext cx="8229600" cy="876042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b="1" dirty="0">
                <a:solidFill>
                  <a:srgbClr val="B80000"/>
                </a:solidFill>
                <a:cs typeface="+mj-cs"/>
              </a:rPr>
              <a:t>Accessing 2-Demensional Array</a:t>
            </a:r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327006"/>
            <a:ext cx="5653088" cy="5105400"/>
          </a:xfrm>
          <a:ln>
            <a:solidFill>
              <a:schemeClr val="tx1"/>
            </a:solidFill>
          </a:ln>
        </p:spPr>
        <p:txBody>
          <a:bodyPr/>
          <a:lstStyle/>
          <a:p>
            <a:pPr lvl="1" eaLnBrk="1" hangingPunct="1">
              <a:defRPr/>
            </a:pPr>
            <a:r>
              <a:rPr lang="en-US" sz="2400" b="1" dirty="0" err="1"/>
              <a:t>int</a:t>
            </a:r>
            <a:r>
              <a:rPr lang="en-US" sz="2400" b="1" dirty="0"/>
              <a:t> List [ 9 ] [ 6 ];</a:t>
            </a:r>
          </a:p>
          <a:p>
            <a:pPr lvl="1" eaLnBrk="1" hangingPunct="1">
              <a:defRPr/>
            </a:pPr>
            <a:r>
              <a:rPr lang="en-US" sz="2400" b="1" dirty="0" err="1"/>
              <a:t>int</a:t>
            </a:r>
            <a:r>
              <a:rPr lang="en-US" sz="2400" b="1" dirty="0"/>
              <a:t> *</a:t>
            </a:r>
            <a:r>
              <a:rPr lang="en-US" sz="2400" b="1" dirty="0" err="1"/>
              <a:t>ptr</a:t>
            </a:r>
            <a:r>
              <a:rPr lang="en-US" sz="2400" b="1" dirty="0"/>
              <a:t>;</a:t>
            </a:r>
          </a:p>
          <a:p>
            <a:pPr lvl="1" eaLnBrk="1" hangingPunct="1">
              <a:defRPr/>
            </a:pPr>
            <a:r>
              <a:rPr lang="en-US" sz="2400" b="1" dirty="0" err="1"/>
              <a:t>ptr</a:t>
            </a:r>
            <a:r>
              <a:rPr lang="en-US" sz="2400" b="1" dirty="0"/>
              <a:t> = &amp;List [3];</a:t>
            </a:r>
          </a:p>
          <a:p>
            <a:pPr lvl="1" eaLnBrk="1" hangingPunct="1">
              <a:defRPr/>
            </a:pPr>
            <a:endParaRPr lang="en-US" sz="2400" b="1" dirty="0"/>
          </a:p>
          <a:p>
            <a:pPr eaLnBrk="1" hangingPunct="1">
              <a:defRPr/>
            </a:pPr>
            <a:r>
              <a:rPr lang="en-US" sz="2800" dirty="0">
                <a:cs typeface="+mn-cs"/>
              </a:rPr>
              <a:t>To access the address of </a:t>
            </a:r>
            <a:r>
              <a:rPr lang="en-US" sz="2800" b="1" dirty="0">
                <a:solidFill>
                  <a:srgbClr val="2C14DE"/>
                </a:solidFill>
                <a:cs typeface="+mn-cs"/>
              </a:rPr>
              <a:t>4</a:t>
            </a:r>
            <a:r>
              <a:rPr lang="en-US" sz="2800" b="1" baseline="30000" dirty="0">
                <a:solidFill>
                  <a:srgbClr val="2C14DE"/>
                </a:solidFill>
                <a:cs typeface="+mn-cs"/>
              </a:rPr>
              <a:t>th</a:t>
            </a:r>
            <a:r>
              <a:rPr lang="en-US" sz="2800" b="1" dirty="0">
                <a:solidFill>
                  <a:srgbClr val="2C14DE"/>
                </a:solidFill>
                <a:cs typeface="+mn-cs"/>
              </a:rPr>
              <a:t> row 2</a:t>
            </a:r>
            <a:r>
              <a:rPr lang="en-US" sz="2800" b="1" baseline="30000" dirty="0">
                <a:solidFill>
                  <a:srgbClr val="2C14DE"/>
                </a:solidFill>
                <a:cs typeface="+mn-cs"/>
              </a:rPr>
              <a:t>nd</a:t>
            </a:r>
            <a:r>
              <a:rPr lang="en-US" sz="2800" b="1" dirty="0">
                <a:solidFill>
                  <a:srgbClr val="2C14DE"/>
                </a:solidFill>
                <a:cs typeface="+mn-cs"/>
              </a:rPr>
              <a:t>  column</a:t>
            </a:r>
            <a:r>
              <a:rPr lang="en-US" sz="2800" b="1" dirty="0">
                <a:cs typeface="+mn-cs"/>
              </a:rPr>
              <a:t>:</a:t>
            </a:r>
            <a:endParaRPr lang="en-US" sz="2800" dirty="0">
              <a:cs typeface="+mn-cs"/>
            </a:endParaRPr>
          </a:p>
          <a:p>
            <a:pPr lvl="1" eaLnBrk="1" hangingPunct="1">
              <a:defRPr/>
            </a:pPr>
            <a:r>
              <a:rPr lang="en-US" sz="2400" b="1" dirty="0" err="1">
                <a:solidFill>
                  <a:srgbClr val="B80000"/>
                </a:solidFill>
              </a:rPr>
              <a:t>ptr</a:t>
            </a:r>
            <a:r>
              <a:rPr lang="en-US" sz="2400" b="1" dirty="0">
                <a:solidFill>
                  <a:srgbClr val="B80000"/>
                </a:solidFill>
              </a:rPr>
              <a:t>++; </a:t>
            </a: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 address of 4</a:t>
            </a:r>
            <a:r>
              <a:rPr lang="en-US" sz="2400" b="1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</a:t>
            </a: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row 2</a:t>
            </a:r>
            <a:r>
              <a:rPr lang="en-US" sz="2400" b="1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nd</a:t>
            </a: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column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pPr lvl="1" eaLnBrk="1" hangingPunct="1">
              <a:defRPr/>
            </a:pPr>
            <a:r>
              <a:rPr lang="en-US" sz="2400" dirty="0"/>
              <a:t>(</a:t>
            </a:r>
            <a:r>
              <a:rPr lang="en-US" sz="2400" b="1" dirty="0">
                <a:solidFill>
                  <a:srgbClr val="B80000"/>
                </a:solidFill>
              </a:rPr>
              <a:t>faster than normal array accessing </a:t>
            </a:r>
            <a:r>
              <a:rPr lang="en-US" sz="2400" b="1" dirty="0">
                <a:solidFill>
                  <a:srgbClr val="1E7509"/>
                </a:solidFill>
              </a:rPr>
              <a:t>Why?</a:t>
            </a:r>
            <a:r>
              <a:rPr lang="en-US" sz="2400" b="1" dirty="0"/>
              <a:t>)</a:t>
            </a:r>
          </a:p>
          <a:p>
            <a:pPr lvl="1" eaLnBrk="1" hangingPunct="1">
              <a:defRPr/>
            </a:pPr>
            <a:r>
              <a:rPr lang="en-US" sz="2400" dirty="0"/>
              <a:t>Equivalent to </a:t>
            </a:r>
            <a:r>
              <a:rPr lang="en-US" sz="2400" b="1" dirty="0">
                <a:solidFill>
                  <a:srgbClr val="2C14DE"/>
                </a:solidFill>
              </a:rPr>
              <a:t>List [3][1] ;</a:t>
            </a:r>
          </a:p>
        </p:txBody>
      </p:sp>
      <p:sp>
        <p:nvSpPr>
          <p:cNvPr id="9220" name="Rectangle 4"/>
          <p:cNvSpPr>
            <a:spLocks noChangeArrowheads="1"/>
          </p:cNvSpPr>
          <p:nvPr/>
        </p:nvSpPr>
        <p:spPr bwMode="auto">
          <a:xfrm>
            <a:off x="6248400" y="1752600"/>
            <a:ext cx="2819400" cy="3276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fr-FR"/>
          </a:p>
        </p:txBody>
      </p:sp>
      <p:grpSp>
        <p:nvGrpSpPr>
          <p:cNvPr id="9221" name="Group 5"/>
          <p:cNvGrpSpPr>
            <a:grpSpLocks/>
          </p:cNvGrpSpPr>
          <p:nvPr/>
        </p:nvGrpSpPr>
        <p:grpSpPr bwMode="auto">
          <a:xfrm>
            <a:off x="6781800" y="2200275"/>
            <a:ext cx="2286000" cy="314325"/>
            <a:chOff x="3408" y="1008"/>
            <a:chExt cx="1440" cy="198"/>
          </a:xfrm>
        </p:grpSpPr>
        <p:sp>
          <p:nvSpPr>
            <p:cNvPr id="9299" name="Text Box 6"/>
            <p:cNvSpPr txBox="1">
              <a:spLocks noChangeArrowheads="1"/>
            </p:cNvSpPr>
            <p:nvPr/>
          </p:nvSpPr>
          <p:spPr bwMode="auto">
            <a:xfrm>
              <a:off x="364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302</a:t>
              </a:r>
            </a:p>
          </p:txBody>
        </p:sp>
        <p:sp>
          <p:nvSpPr>
            <p:cNvPr id="9300" name="Text Box 7"/>
            <p:cNvSpPr txBox="1">
              <a:spLocks noChangeArrowheads="1"/>
            </p:cNvSpPr>
            <p:nvPr/>
          </p:nvSpPr>
          <p:spPr bwMode="auto">
            <a:xfrm>
              <a:off x="388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304</a:t>
              </a:r>
            </a:p>
          </p:txBody>
        </p:sp>
        <p:sp>
          <p:nvSpPr>
            <p:cNvPr id="9301" name="Text Box 8"/>
            <p:cNvSpPr txBox="1">
              <a:spLocks noChangeArrowheads="1"/>
            </p:cNvSpPr>
            <p:nvPr/>
          </p:nvSpPr>
          <p:spPr bwMode="auto">
            <a:xfrm>
              <a:off x="340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300</a:t>
              </a:r>
            </a:p>
          </p:txBody>
        </p:sp>
        <p:sp>
          <p:nvSpPr>
            <p:cNvPr id="9302" name="Text Box 9"/>
            <p:cNvSpPr txBox="1">
              <a:spLocks noChangeArrowheads="1"/>
            </p:cNvSpPr>
            <p:nvPr/>
          </p:nvSpPr>
          <p:spPr bwMode="auto">
            <a:xfrm>
              <a:off x="412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306</a:t>
              </a:r>
            </a:p>
          </p:txBody>
        </p:sp>
        <p:sp>
          <p:nvSpPr>
            <p:cNvPr id="9303" name="Text Box 10"/>
            <p:cNvSpPr txBox="1">
              <a:spLocks noChangeArrowheads="1"/>
            </p:cNvSpPr>
            <p:nvPr/>
          </p:nvSpPr>
          <p:spPr bwMode="auto">
            <a:xfrm>
              <a:off x="436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308</a:t>
              </a:r>
            </a:p>
          </p:txBody>
        </p:sp>
        <p:sp>
          <p:nvSpPr>
            <p:cNvPr id="9304" name="Text Box 11"/>
            <p:cNvSpPr txBox="1">
              <a:spLocks noChangeArrowheads="1"/>
            </p:cNvSpPr>
            <p:nvPr/>
          </p:nvSpPr>
          <p:spPr bwMode="auto">
            <a:xfrm>
              <a:off x="460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310</a:t>
              </a:r>
            </a:p>
          </p:txBody>
        </p:sp>
      </p:grpSp>
      <p:grpSp>
        <p:nvGrpSpPr>
          <p:cNvPr id="9222" name="Group 12"/>
          <p:cNvGrpSpPr>
            <a:grpSpLocks/>
          </p:cNvGrpSpPr>
          <p:nvPr/>
        </p:nvGrpSpPr>
        <p:grpSpPr bwMode="auto">
          <a:xfrm>
            <a:off x="6781800" y="2514600"/>
            <a:ext cx="2286000" cy="314325"/>
            <a:chOff x="3408" y="1008"/>
            <a:chExt cx="1440" cy="198"/>
          </a:xfrm>
        </p:grpSpPr>
        <p:sp>
          <p:nvSpPr>
            <p:cNvPr id="9293" name="Text Box 13"/>
            <p:cNvSpPr txBox="1">
              <a:spLocks noChangeArrowheads="1"/>
            </p:cNvSpPr>
            <p:nvPr/>
          </p:nvSpPr>
          <p:spPr bwMode="auto">
            <a:xfrm>
              <a:off x="364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314</a:t>
              </a:r>
            </a:p>
          </p:txBody>
        </p:sp>
        <p:sp>
          <p:nvSpPr>
            <p:cNvPr id="9294" name="Text Box 14"/>
            <p:cNvSpPr txBox="1">
              <a:spLocks noChangeArrowheads="1"/>
            </p:cNvSpPr>
            <p:nvPr/>
          </p:nvSpPr>
          <p:spPr bwMode="auto">
            <a:xfrm>
              <a:off x="388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316</a:t>
              </a:r>
            </a:p>
          </p:txBody>
        </p:sp>
        <p:sp>
          <p:nvSpPr>
            <p:cNvPr id="9295" name="Text Box 15"/>
            <p:cNvSpPr txBox="1">
              <a:spLocks noChangeArrowheads="1"/>
            </p:cNvSpPr>
            <p:nvPr/>
          </p:nvSpPr>
          <p:spPr bwMode="auto">
            <a:xfrm>
              <a:off x="340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312</a:t>
              </a:r>
            </a:p>
          </p:txBody>
        </p:sp>
        <p:sp>
          <p:nvSpPr>
            <p:cNvPr id="9296" name="Text Box 16"/>
            <p:cNvSpPr txBox="1">
              <a:spLocks noChangeArrowheads="1"/>
            </p:cNvSpPr>
            <p:nvPr/>
          </p:nvSpPr>
          <p:spPr bwMode="auto">
            <a:xfrm>
              <a:off x="412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318</a:t>
              </a:r>
            </a:p>
          </p:txBody>
        </p:sp>
        <p:sp>
          <p:nvSpPr>
            <p:cNvPr id="9297" name="Text Box 17"/>
            <p:cNvSpPr txBox="1">
              <a:spLocks noChangeArrowheads="1"/>
            </p:cNvSpPr>
            <p:nvPr/>
          </p:nvSpPr>
          <p:spPr bwMode="auto">
            <a:xfrm>
              <a:off x="436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320</a:t>
              </a:r>
            </a:p>
          </p:txBody>
        </p:sp>
        <p:sp>
          <p:nvSpPr>
            <p:cNvPr id="9298" name="Text Box 18"/>
            <p:cNvSpPr txBox="1">
              <a:spLocks noChangeArrowheads="1"/>
            </p:cNvSpPr>
            <p:nvPr/>
          </p:nvSpPr>
          <p:spPr bwMode="auto">
            <a:xfrm>
              <a:off x="460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322</a:t>
              </a:r>
            </a:p>
          </p:txBody>
        </p:sp>
      </p:grpSp>
      <p:grpSp>
        <p:nvGrpSpPr>
          <p:cNvPr id="9223" name="Group 19"/>
          <p:cNvGrpSpPr>
            <a:grpSpLocks/>
          </p:cNvGrpSpPr>
          <p:nvPr/>
        </p:nvGrpSpPr>
        <p:grpSpPr bwMode="auto">
          <a:xfrm>
            <a:off x="6781800" y="2819400"/>
            <a:ext cx="2286000" cy="314325"/>
            <a:chOff x="3408" y="1008"/>
            <a:chExt cx="1440" cy="198"/>
          </a:xfrm>
        </p:grpSpPr>
        <p:sp>
          <p:nvSpPr>
            <p:cNvPr id="9287" name="Text Box 20"/>
            <p:cNvSpPr txBox="1">
              <a:spLocks noChangeArrowheads="1"/>
            </p:cNvSpPr>
            <p:nvPr/>
          </p:nvSpPr>
          <p:spPr bwMode="auto">
            <a:xfrm>
              <a:off x="364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326</a:t>
              </a:r>
            </a:p>
          </p:txBody>
        </p:sp>
        <p:sp>
          <p:nvSpPr>
            <p:cNvPr id="9288" name="Text Box 21"/>
            <p:cNvSpPr txBox="1">
              <a:spLocks noChangeArrowheads="1"/>
            </p:cNvSpPr>
            <p:nvPr/>
          </p:nvSpPr>
          <p:spPr bwMode="auto">
            <a:xfrm>
              <a:off x="388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328</a:t>
              </a:r>
            </a:p>
          </p:txBody>
        </p:sp>
        <p:sp>
          <p:nvSpPr>
            <p:cNvPr id="9289" name="Text Box 22"/>
            <p:cNvSpPr txBox="1">
              <a:spLocks noChangeArrowheads="1"/>
            </p:cNvSpPr>
            <p:nvPr/>
          </p:nvSpPr>
          <p:spPr bwMode="auto">
            <a:xfrm>
              <a:off x="340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324</a:t>
              </a:r>
            </a:p>
          </p:txBody>
        </p:sp>
        <p:sp>
          <p:nvSpPr>
            <p:cNvPr id="9290" name="Text Box 23"/>
            <p:cNvSpPr txBox="1">
              <a:spLocks noChangeArrowheads="1"/>
            </p:cNvSpPr>
            <p:nvPr/>
          </p:nvSpPr>
          <p:spPr bwMode="auto">
            <a:xfrm>
              <a:off x="412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330</a:t>
              </a:r>
            </a:p>
          </p:txBody>
        </p:sp>
        <p:sp>
          <p:nvSpPr>
            <p:cNvPr id="9291" name="Text Box 24"/>
            <p:cNvSpPr txBox="1">
              <a:spLocks noChangeArrowheads="1"/>
            </p:cNvSpPr>
            <p:nvPr/>
          </p:nvSpPr>
          <p:spPr bwMode="auto">
            <a:xfrm>
              <a:off x="436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332</a:t>
              </a:r>
            </a:p>
          </p:txBody>
        </p:sp>
        <p:sp>
          <p:nvSpPr>
            <p:cNvPr id="9292" name="Text Box 25"/>
            <p:cNvSpPr txBox="1">
              <a:spLocks noChangeArrowheads="1"/>
            </p:cNvSpPr>
            <p:nvPr/>
          </p:nvSpPr>
          <p:spPr bwMode="auto">
            <a:xfrm>
              <a:off x="460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334</a:t>
              </a:r>
            </a:p>
          </p:txBody>
        </p:sp>
      </p:grpSp>
      <p:grpSp>
        <p:nvGrpSpPr>
          <p:cNvPr id="9224" name="Group 26"/>
          <p:cNvGrpSpPr>
            <a:grpSpLocks/>
          </p:cNvGrpSpPr>
          <p:nvPr/>
        </p:nvGrpSpPr>
        <p:grpSpPr bwMode="auto">
          <a:xfrm>
            <a:off x="6781800" y="3114675"/>
            <a:ext cx="2286000" cy="314325"/>
            <a:chOff x="3408" y="1008"/>
            <a:chExt cx="1440" cy="198"/>
          </a:xfrm>
        </p:grpSpPr>
        <p:sp>
          <p:nvSpPr>
            <p:cNvPr id="9281" name="Text Box 27"/>
            <p:cNvSpPr txBox="1">
              <a:spLocks noChangeArrowheads="1"/>
            </p:cNvSpPr>
            <p:nvPr/>
          </p:nvSpPr>
          <p:spPr bwMode="auto">
            <a:xfrm>
              <a:off x="364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338</a:t>
              </a:r>
            </a:p>
          </p:txBody>
        </p:sp>
        <p:sp>
          <p:nvSpPr>
            <p:cNvPr id="9282" name="Text Box 28"/>
            <p:cNvSpPr txBox="1">
              <a:spLocks noChangeArrowheads="1"/>
            </p:cNvSpPr>
            <p:nvPr/>
          </p:nvSpPr>
          <p:spPr bwMode="auto">
            <a:xfrm>
              <a:off x="388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340</a:t>
              </a:r>
            </a:p>
          </p:txBody>
        </p:sp>
        <p:sp>
          <p:nvSpPr>
            <p:cNvPr id="9283" name="Text Box 29"/>
            <p:cNvSpPr txBox="1">
              <a:spLocks noChangeArrowheads="1"/>
            </p:cNvSpPr>
            <p:nvPr/>
          </p:nvSpPr>
          <p:spPr bwMode="auto">
            <a:xfrm>
              <a:off x="340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336</a:t>
              </a:r>
            </a:p>
          </p:txBody>
        </p:sp>
        <p:sp>
          <p:nvSpPr>
            <p:cNvPr id="9284" name="Text Box 30"/>
            <p:cNvSpPr txBox="1">
              <a:spLocks noChangeArrowheads="1"/>
            </p:cNvSpPr>
            <p:nvPr/>
          </p:nvSpPr>
          <p:spPr bwMode="auto">
            <a:xfrm>
              <a:off x="412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342</a:t>
              </a:r>
            </a:p>
          </p:txBody>
        </p:sp>
        <p:sp>
          <p:nvSpPr>
            <p:cNvPr id="9285" name="Text Box 31"/>
            <p:cNvSpPr txBox="1">
              <a:spLocks noChangeArrowheads="1"/>
            </p:cNvSpPr>
            <p:nvPr/>
          </p:nvSpPr>
          <p:spPr bwMode="auto">
            <a:xfrm>
              <a:off x="436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344</a:t>
              </a:r>
            </a:p>
          </p:txBody>
        </p:sp>
        <p:sp>
          <p:nvSpPr>
            <p:cNvPr id="9286" name="Text Box 32"/>
            <p:cNvSpPr txBox="1">
              <a:spLocks noChangeArrowheads="1"/>
            </p:cNvSpPr>
            <p:nvPr/>
          </p:nvSpPr>
          <p:spPr bwMode="auto">
            <a:xfrm>
              <a:off x="460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346</a:t>
              </a:r>
            </a:p>
          </p:txBody>
        </p:sp>
      </p:grpSp>
      <p:grpSp>
        <p:nvGrpSpPr>
          <p:cNvPr id="9225" name="Group 33"/>
          <p:cNvGrpSpPr>
            <a:grpSpLocks/>
          </p:cNvGrpSpPr>
          <p:nvPr/>
        </p:nvGrpSpPr>
        <p:grpSpPr bwMode="auto">
          <a:xfrm>
            <a:off x="6781800" y="3419475"/>
            <a:ext cx="2286000" cy="314325"/>
            <a:chOff x="3408" y="1008"/>
            <a:chExt cx="1440" cy="198"/>
          </a:xfrm>
        </p:grpSpPr>
        <p:sp>
          <p:nvSpPr>
            <p:cNvPr id="9275" name="Text Box 34"/>
            <p:cNvSpPr txBox="1">
              <a:spLocks noChangeArrowheads="1"/>
            </p:cNvSpPr>
            <p:nvPr/>
          </p:nvSpPr>
          <p:spPr bwMode="auto">
            <a:xfrm>
              <a:off x="364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350</a:t>
              </a:r>
            </a:p>
          </p:txBody>
        </p:sp>
        <p:sp>
          <p:nvSpPr>
            <p:cNvPr id="9276" name="Text Box 35"/>
            <p:cNvSpPr txBox="1">
              <a:spLocks noChangeArrowheads="1"/>
            </p:cNvSpPr>
            <p:nvPr/>
          </p:nvSpPr>
          <p:spPr bwMode="auto">
            <a:xfrm>
              <a:off x="388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352</a:t>
              </a:r>
            </a:p>
          </p:txBody>
        </p:sp>
        <p:sp>
          <p:nvSpPr>
            <p:cNvPr id="9277" name="Text Box 36"/>
            <p:cNvSpPr txBox="1">
              <a:spLocks noChangeArrowheads="1"/>
            </p:cNvSpPr>
            <p:nvPr/>
          </p:nvSpPr>
          <p:spPr bwMode="auto">
            <a:xfrm>
              <a:off x="340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348</a:t>
              </a:r>
            </a:p>
          </p:txBody>
        </p:sp>
        <p:sp>
          <p:nvSpPr>
            <p:cNvPr id="9278" name="Text Box 37"/>
            <p:cNvSpPr txBox="1">
              <a:spLocks noChangeArrowheads="1"/>
            </p:cNvSpPr>
            <p:nvPr/>
          </p:nvSpPr>
          <p:spPr bwMode="auto">
            <a:xfrm>
              <a:off x="412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354</a:t>
              </a:r>
            </a:p>
          </p:txBody>
        </p:sp>
        <p:sp>
          <p:nvSpPr>
            <p:cNvPr id="9279" name="Text Box 38"/>
            <p:cNvSpPr txBox="1">
              <a:spLocks noChangeArrowheads="1"/>
            </p:cNvSpPr>
            <p:nvPr/>
          </p:nvSpPr>
          <p:spPr bwMode="auto">
            <a:xfrm>
              <a:off x="436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356</a:t>
              </a:r>
            </a:p>
          </p:txBody>
        </p:sp>
        <p:sp>
          <p:nvSpPr>
            <p:cNvPr id="9280" name="Text Box 39"/>
            <p:cNvSpPr txBox="1">
              <a:spLocks noChangeArrowheads="1"/>
            </p:cNvSpPr>
            <p:nvPr/>
          </p:nvSpPr>
          <p:spPr bwMode="auto">
            <a:xfrm>
              <a:off x="460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358</a:t>
              </a:r>
            </a:p>
          </p:txBody>
        </p:sp>
      </p:grpSp>
      <p:grpSp>
        <p:nvGrpSpPr>
          <p:cNvPr id="9226" name="Group 40"/>
          <p:cNvGrpSpPr>
            <a:grpSpLocks/>
          </p:cNvGrpSpPr>
          <p:nvPr/>
        </p:nvGrpSpPr>
        <p:grpSpPr bwMode="auto">
          <a:xfrm>
            <a:off x="6781800" y="3724275"/>
            <a:ext cx="2286000" cy="314325"/>
            <a:chOff x="3408" y="1008"/>
            <a:chExt cx="1440" cy="198"/>
          </a:xfrm>
        </p:grpSpPr>
        <p:sp>
          <p:nvSpPr>
            <p:cNvPr id="9269" name="Text Box 41"/>
            <p:cNvSpPr txBox="1">
              <a:spLocks noChangeArrowheads="1"/>
            </p:cNvSpPr>
            <p:nvPr/>
          </p:nvSpPr>
          <p:spPr bwMode="auto">
            <a:xfrm>
              <a:off x="364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362</a:t>
              </a:r>
            </a:p>
          </p:txBody>
        </p:sp>
        <p:sp>
          <p:nvSpPr>
            <p:cNvPr id="9270" name="Text Box 42"/>
            <p:cNvSpPr txBox="1">
              <a:spLocks noChangeArrowheads="1"/>
            </p:cNvSpPr>
            <p:nvPr/>
          </p:nvSpPr>
          <p:spPr bwMode="auto">
            <a:xfrm>
              <a:off x="388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364</a:t>
              </a:r>
            </a:p>
          </p:txBody>
        </p:sp>
        <p:sp>
          <p:nvSpPr>
            <p:cNvPr id="9271" name="Text Box 43"/>
            <p:cNvSpPr txBox="1">
              <a:spLocks noChangeArrowheads="1"/>
            </p:cNvSpPr>
            <p:nvPr/>
          </p:nvSpPr>
          <p:spPr bwMode="auto">
            <a:xfrm>
              <a:off x="340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360</a:t>
              </a:r>
            </a:p>
          </p:txBody>
        </p:sp>
        <p:sp>
          <p:nvSpPr>
            <p:cNvPr id="9272" name="Text Box 44"/>
            <p:cNvSpPr txBox="1">
              <a:spLocks noChangeArrowheads="1"/>
            </p:cNvSpPr>
            <p:nvPr/>
          </p:nvSpPr>
          <p:spPr bwMode="auto">
            <a:xfrm>
              <a:off x="412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366</a:t>
              </a:r>
            </a:p>
          </p:txBody>
        </p:sp>
        <p:sp>
          <p:nvSpPr>
            <p:cNvPr id="9273" name="Text Box 45"/>
            <p:cNvSpPr txBox="1">
              <a:spLocks noChangeArrowheads="1"/>
            </p:cNvSpPr>
            <p:nvPr/>
          </p:nvSpPr>
          <p:spPr bwMode="auto">
            <a:xfrm>
              <a:off x="436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368</a:t>
              </a:r>
            </a:p>
          </p:txBody>
        </p:sp>
        <p:sp>
          <p:nvSpPr>
            <p:cNvPr id="9274" name="Text Box 46"/>
            <p:cNvSpPr txBox="1">
              <a:spLocks noChangeArrowheads="1"/>
            </p:cNvSpPr>
            <p:nvPr/>
          </p:nvSpPr>
          <p:spPr bwMode="auto">
            <a:xfrm>
              <a:off x="460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370</a:t>
              </a:r>
            </a:p>
          </p:txBody>
        </p:sp>
      </p:grpSp>
      <p:grpSp>
        <p:nvGrpSpPr>
          <p:cNvPr id="9227" name="Group 47"/>
          <p:cNvGrpSpPr>
            <a:grpSpLocks/>
          </p:cNvGrpSpPr>
          <p:nvPr/>
        </p:nvGrpSpPr>
        <p:grpSpPr bwMode="auto">
          <a:xfrm>
            <a:off x="6781800" y="4038600"/>
            <a:ext cx="2286000" cy="314325"/>
            <a:chOff x="3408" y="1008"/>
            <a:chExt cx="1440" cy="198"/>
          </a:xfrm>
        </p:grpSpPr>
        <p:sp>
          <p:nvSpPr>
            <p:cNvPr id="9263" name="Text Box 48"/>
            <p:cNvSpPr txBox="1">
              <a:spLocks noChangeArrowheads="1"/>
            </p:cNvSpPr>
            <p:nvPr/>
          </p:nvSpPr>
          <p:spPr bwMode="auto">
            <a:xfrm>
              <a:off x="364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374</a:t>
              </a:r>
            </a:p>
          </p:txBody>
        </p:sp>
        <p:sp>
          <p:nvSpPr>
            <p:cNvPr id="9264" name="Text Box 49"/>
            <p:cNvSpPr txBox="1">
              <a:spLocks noChangeArrowheads="1"/>
            </p:cNvSpPr>
            <p:nvPr/>
          </p:nvSpPr>
          <p:spPr bwMode="auto">
            <a:xfrm>
              <a:off x="388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376</a:t>
              </a:r>
            </a:p>
          </p:txBody>
        </p:sp>
        <p:sp>
          <p:nvSpPr>
            <p:cNvPr id="9265" name="Text Box 50"/>
            <p:cNvSpPr txBox="1">
              <a:spLocks noChangeArrowheads="1"/>
            </p:cNvSpPr>
            <p:nvPr/>
          </p:nvSpPr>
          <p:spPr bwMode="auto">
            <a:xfrm>
              <a:off x="340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372</a:t>
              </a:r>
            </a:p>
          </p:txBody>
        </p:sp>
        <p:sp>
          <p:nvSpPr>
            <p:cNvPr id="9266" name="Text Box 51"/>
            <p:cNvSpPr txBox="1">
              <a:spLocks noChangeArrowheads="1"/>
            </p:cNvSpPr>
            <p:nvPr/>
          </p:nvSpPr>
          <p:spPr bwMode="auto">
            <a:xfrm>
              <a:off x="412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378</a:t>
              </a:r>
            </a:p>
          </p:txBody>
        </p:sp>
        <p:sp>
          <p:nvSpPr>
            <p:cNvPr id="9267" name="Text Box 52"/>
            <p:cNvSpPr txBox="1">
              <a:spLocks noChangeArrowheads="1"/>
            </p:cNvSpPr>
            <p:nvPr/>
          </p:nvSpPr>
          <p:spPr bwMode="auto">
            <a:xfrm>
              <a:off x="436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380</a:t>
              </a:r>
            </a:p>
          </p:txBody>
        </p:sp>
        <p:sp>
          <p:nvSpPr>
            <p:cNvPr id="9268" name="Text Box 53"/>
            <p:cNvSpPr txBox="1">
              <a:spLocks noChangeArrowheads="1"/>
            </p:cNvSpPr>
            <p:nvPr/>
          </p:nvSpPr>
          <p:spPr bwMode="auto">
            <a:xfrm>
              <a:off x="460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382</a:t>
              </a:r>
            </a:p>
          </p:txBody>
        </p:sp>
      </p:grpSp>
      <p:grpSp>
        <p:nvGrpSpPr>
          <p:cNvPr id="9228" name="Group 54"/>
          <p:cNvGrpSpPr>
            <a:grpSpLocks/>
          </p:cNvGrpSpPr>
          <p:nvPr/>
        </p:nvGrpSpPr>
        <p:grpSpPr bwMode="auto">
          <a:xfrm>
            <a:off x="6781800" y="4343400"/>
            <a:ext cx="2286000" cy="314325"/>
            <a:chOff x="3408" y="1008"/>
            <a:chExt cx="1440" cy="198"/>
          </a:xfrm>
        </p:grpSpPr>
        <p:sp>
          <p:nvSpPr>
            <p:cNvPr id="9257" name="Text Box 55"/>
            <p:cNvSpPr txBox="1">
              <a:spLocks noChangeArrowheads="1"/>
            </p:cNvSpPr>
            <p:nvPr/>
          </p:nvSpPr>
          <p:spPr bwMode="auto">
            <a:xfrm>
              <a:off x="364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386</a:t>
              </a:r>
            </a:p>
          </p:txBody>
        </p:sp>
        <p:sp>
          <p:nvSpPr>
            <p:cNvPr id="9258" name="Text Box 56"/>
            <p:cNvSpPr txBox="1">
              <a:spLocks noChangeArrowheads="1"/>
            </p:cNvSpPr>
            <p:nvPr/>
          </p:nvSpPr>
          <p:spPr bwMode="auto">
            <a:xfrm>
              <a:off x="388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388</a:t>
              </a:r>
            </a:p>
          </p:txBody>
        </p:sp>
        <p:sp>
          <p:nvSpPr>
            <p:cNvPr id="9259" name="Text Box 57"/>
            <p:cNvSpPr txBox="1">
              <a:spLocks noChangeArrowheads="1"/>
            </p:cNvSpPr>
            <p:nvPr/>
          </p:nvSpPr>
          <p:spPr bwMode="auto">
            <a:xfrm>
              <a:off x="340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384</a:t>
              </a:r>
            </a:p>
          </p:txBody>
        </p:sp>
        <p:sp>
          <p:nvSpPr>
            <p:cNvPr id="9260" name="Text Box 58"/>
            <p:cNvSpPr txBox="1">
              <a:spLocks noChangeArrowheads="1"/>
            </p:cNvSpPr>
            <p:nvPr/>
          </p:nvSpPr>
          <p:spPr bwMode="auto">
            <a:xfrm>
              <a:off x="412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390</a:t>
              </a:r>
            </a:p>
          </p:txBody>
        </p:sp>
        <p:sp>
          <p:nvSpPr>
            <p:cNvPr id="9261" name="Text Box 59"/>
            <p:cNvSpPr txBox="1">
              <a:spLocks noChangeArrowheads="1"/>
            </p:cNvSpPr>
            <p:nvPr/>
          </p:nvSpPr>
          <p:spPr bwMode="auto">
            <a:xfrm>
              <a:off x="436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392</a:t>
              </a:r>
            </a:p>
          </p:txBody>
        </p:sp>
        <p:sp>
          <p:nvSpPr>
            <p:cNvPr id="9262" name="Text Box 60"/>
            <p:cNvSpPr txBox="1">
              <a:spLocks noChangeArrowheads="1"/>
            </p:cNvSpPr>
            <p:nvPr/>
          </p:nvSpPr>
          <p:spPr bwMode="auto">
            <a:xfrm>
              <a:off x="460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394</a:t>
              </a:r>
            </a:p>
          </p:txBody>
        </p:sp>
      </p:grpSp>
      <p:grpSp>
        <p:nvGrpSpPr>
          <p:cNvPr id="9229" name="Group 61"/>
          <p:cNvGrpSpPr>
            <a:grpSpLocks/>
          </p:cNvGrpSpPr>
          <p:nvPr/>
        </p:nvGrpSpPr>
        <p:grpSpPr bwMode="auto">
          <a:xfrm>
            <a:off x="6781800" y="4638675"/>
            <a:ext cx="2286000" cy="314325"/>
            <a:chOff x="3408" y="1008"/>
            <a:chExt cx="1440" cy="198"/>
          </a:xfrm>
        </p:grpSpPr>
        <p:sp>
          <p:nvSpPr>
            <p:cNvPr id="9251" name="Text Box 62"/>
            <p:cNvSpPr txBox="1">
              <a:spLocks noChangeArrowheads="1"/>
            </p:cNvSpPr>
            <p:nvPr/>
          </p:nvSpPr>
          <p:spPr bwMode="auto">
            <a:xfrm>
              <a:off x="364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398</a:t>
              </a:r>
            </a:p>
          </p:txBody>
        </p:sp>
        <p:sp>
          <p:nvSpPr>
            <p:cNvPr id="9252" name="Text Box 63"/>
            <p:cNvSpPr txBox="1">
              <a:spLocks noChangeArrowheads="1"/>
            </p:cNvSpPr>
            <p:nvPr/>
          </p:nvSpPr>
          <p:spPr bwMode="auto">
            <a:xfrm>
              <a:off x="388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400</a:t>
              </a:r>
            </a:p>
          </p:txBody>
        </p:sp>
        <p:sp>
          <p:nvSpPr>
            <p:cNvPr id="9253" name="Text Box 64"/>
            <p:cNvSpPr txBox="1">
              <a:spLocks noChangeArrowheads="1"/>
            </p:cNvSpPr>
            <p:nvPr/>
          </p:nvSpPr>
          <p:spPr bwMode="auto">
            <a:xfrm>
              <a:off x="340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396</a:t>
              </a:r>
            </a:p>
          </p:txBody>
        </p:sp>
        <p:sp>
          <p:nvSpPr>
            <p:cNvPr id="9254" name="Text Box 65"/>
            <p:cNvSpPr txBox="1">
              <a:spLocks noChangeArrowheads="1"/>
            </p:cNvSpPr>
            <p:nvPr/>
          </p:nvSpPr>
          <p:spPr bwMode="auto">
            <a:xfrm>
              <a:off x="412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402</a:t>
              </a:r>
            </a:p>
          </p:txBody>
        </p:sp>
        <p:sp>
          <p:nvSpPr>
            <p:cNvPr id="9255" name="Text Box 66"/>
            <p:cNvSpPr txBox="1">
              <a:spLocks noChangeArrowheads="1"/>
            </p:cNvSpPr>
            <p:nvPr/>
          </p:nvSpPr>
          <p:spPr bwMode="auto">
            <a:xfrm>
              <a:off x="436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404</a:t>
              </a:r>
            </a:p>
          </p:txBody>
        </p:sp>
        <p:sp>
          <p:nvSpPr>
            <p:cNvPr id="9256" name="Text Box 67"/>
            <p:cNvSpPr txBox="1">
              <a:spLocks noChangeArrowheads="1"/>
            </p:cNvSpPr>
            <p:nvPr/>
          </p:nvSpPr>
          <p:spPr bwMode="auto">
            <a:xfrm>
              <a:off x="460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406</a:t>
              </a:r>
            </a:p>
          </p:txBody>
        </p:sp>
      </p:grpSp>
      <p:sp>
        <p:nvSpPr>
          <p:cNvPr id="9230" name="Text Box 68"/>
          <p:cNvSpPr txBox="1">
            <a:spLocks noChangeArrowheads="1"/>
          </p:cNvSpPr>
          <p:nvPr/>
        </p:nvSpPr>
        <p:spPr bwMode="auto">
          <a:xfrm>
            <a:off x="7162800" y="1819275"/>
            <a:ext cx="3810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27432" rIns="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</p:txBody>
      </p:sp>
      <p:sp>
        <p:nvSpPr>
          <p:cNvPr id="9231" name="Text Box 69"/>
          <p:cNvSpPr txBox="1">
            <a:spLocks noChangeArrowheads="1"/>
          </p:cNvSpPr>
          <p:nvPr/>
        </p:nvSpPr>
        <p:spPr bwMode="auto">
          <a:xfrm>
            <a:off x="7543800" y="1819275"/>
            <a:ext cx="3810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27432" rIns="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</a:p>
        </p:txBody>
      </p:sp>
      <p:sp>
        <p:nvSpPr>
          <p:cNvPr id="9232" name="Text Box 70"/>
          <p:cNvSpPr txBox="1">
            <a:spLocks noChangeArrowheads="1"/>
          </p:cNvSpPr>
          <p:nvPr/>
        </p:nvSpPr>
        <p:spPr bwMode="auto">
          <a:xfrm>
            <a:off x="6781800" y="1819275"/>
            <a:ext cx="3810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27432" rIns="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</a:p>
        </p:txBody>
      </p:sp>
      <p:sp>
        <p:nvSpPr>
          <p:cNvPr id="9233" name="Text Box 71"/>
          <p:cNvSpPr txBox="1">
            <a:spLocks noChangeArrowheads="1"/>
          </p:cNvSpPr>
          <p:nvPr/>
        </p:nvSpPr>
        <p:spPr bwMode="auto">
          <a:xfrm>
            <a:off x="7924800" y="1819275"/>
            <a:ext cx="3810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27432" rIns="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</a:p>
        </p:txBody>
      </p:sp>
      <p:sp>
        <p:nvSpPr>
          <p:cNvPr id="9234" name="Text Box 72"/>
          <p:cNvSpPr txBox="1">
            <a:spLocks noChangeArrowheads="1"/>
          </p:cNvSpPr>
          <p:nvPr/>
        </p:nvSpPr>
        <p:spPr bwMode="auto">
          <a:xfrm>
            <a:off x="8305800" y="1819275"/>
            <a:ext cx="3810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27432" rIns="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4</a:t>
            </a:r>
          </a:p>
        </p:txBody>
      </p:sp>
      <p:sp>
        <p:nvSpPr>
          <p:cNvPr id="9235" name="Text Box 73"/>
          <p:cNvSpPr txBox="1">
            <a:spLocks noChangeArrowheads="1"/>
          </p:cNvSpPr>
          <p:nvPr/>
        </p:nvSpPr>
        <p:spPr bwMode="auto">
          <a:xfrm>
            <a:off x="8686800" y="1819275"/>
            <a:ext cx="3810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27432" rIns="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5</a:t>
            </a:r>
          </a:p>
        </p:txBody>
      </p:sp>
      <p:sp>
        <p:nvSpPr>
          <p:cNvPr id="9236" name="Text Box 74"/>
          <p:cNvSpPr txBox="1">
            <a:spLocks noChangeArrowheads="1"/>
          </p:cNvSpPr>
          <p:nvPr/>
        </p:nvSpPr>
        <p:spPr bwMode="auto">
          <a:xfrm>
            <a:off x="6324600" y="2209800"/>
            <a:ext cx="3810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27432" rIns="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</a:p>
        </p:txBody>
      </p:sp>
      <p:sp>
        <p:nvSpPr>
          <p:cNvPr id="9237" name="Text Box 75"/>
          <p:cNvSpPr txBox="1">
            <a:spLocks noChangeArrowheads="1"/>
          </p:cNvSpPr>
          <p:nvPr/>
        </p:nvSpPr>
        <p:spPr bwMode="auto">
          <a:xfrm>
            <a:off x="6324600" y="2514600"/>
            <a:ext cx="3810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27432" rIns="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</p:txBody>
      </p:sp>
      <p:sp>
        <p:nvSpPr>
          <p:cNvPr id="9238" name="Text Box 76"/>
          <p:cNvSpPr txBox="1">
            <a:spLocks noChangeArrowheads="1"/>
          </p:cNvSpPr>
          <p:nvPr/>
        </p:nvSpPr>
        <p:spPr bwMode="auto">
          <a:xfrm>
            <a:off x="6324600" y="2819400"/>
            <a:ext cx="3810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27432" rIns="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</a:p>
        </p:txBody>
      </p:sp>
      <p:sp>
        <p:nvSpPr>
          <p:cNvPr id="9239" name="Text Box 77"/>
          <p:cNvSpPr txBox="1">
            <a:spLocks noChangeArrowheads="1"/>
          </p:cNvSpPr>
          <p:nvPr/>
        </p:nvSpPr>
        <p:spPr bwMode="auto">
          <a:xfrm>
            <a:off x="6324600" y="3124200"/>
            <a:ext cx="3810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27432" rIns="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</a:p>
        </p:txBody>
      </p:sp>
      <p:sp>
        <p:nvSpPr>
          <p:cNvPr id="9240" name="Text Box 78"/>
          <p:cNvSpPr txBox="1">
            <a:spLocks noChangeArrowheads="1"/>
          </p:cNvSpPr>
          <p:nvPr/>
        </p:nvSpPr>
        <p:spPr bwMode="auto">
          <a:xfrm>
            <a:off x="6324600" y="3429000"/>
            <a:ext cx="3810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27432" rIns="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4</a:t>
            </a:r>
          </a:p>
        </p:txBody>
      </p:sp>
      <p:sp>
        <p:nvSpPr>
          <p:cNvPr id="9241" name="Text Box 79"/>
          <p:cNvSpPr txBox="1">
            <a:spLocks noChangeArrowheads="1"/>
          </p:cNvSpPr>
          <p:nvPr/>
        </p:nvSpPr>
        <p:spPr bwMode="auto">
          <a:xfrm>
            <a:off x="6324600" y="3724275"/>
            <a:ext cx="3810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27432" rIns="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5</a:t>
            </a:r>
          </a:p>
        </p:txBody>
      </p:sp>
      <p:sp>
        <p:nvSpPr>
          <p:cNvPr id="9242" name="Text Box 80"/>
          <p:cNvSpPr txBox="1">
            <a:spLocks noChangeArrowheads="1"/>
          </p:cNvSpPr>
          <p:nvPr/>
        </p:nvSpPr>
        <p:spPr bwMode="auto">
          <a:xfrm>
            <a:off x="6324600" y="4038600"/>
            <a:ext cx="3810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27432" rIns="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6</a:t>
            </a:r>
          </a:p>
        </p:txBody>
      </p:sp>
      <p:sp>
        <p:nvSpPr>
          <p:cNvPr id="9243" name="Text Box 81"/>
          <p:cNvSpPr txBox="1">
            <a:spLocks noChangeArrowheads="1"/>
          </p:cNvSpPr>
          <p:nvPr/>
        </p:nvSpPr>
        <p:spPr bwMode="auto">
          <a:xfrm>
            <a:off x="6324600" y="4343400"/>
            <a:ext cx="3810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27432" rIns="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7</a:t>
            </a:r>
          </a:p>
        </p:txBody>
      </p:sp>
      <p:sp>
        <p:nvSpPr>
          <p:cNvPr id="9244" name="Text Box 82"/>
          <p:cNvSpPr txBox="1">
            <a:spLocks noChangeArrowheads="1"/>
          </p:cNvSpPr>
          <p:nvPr/>
        </p:nvSpPr>
        <p:spPr bwMode="auto">
          <a:xfrm>
            <a:off x="6324600" y="4648200"/>
            <a:ext cx="3810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27432" rIns="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8</a:t>
            </a:r>
          </a:p>
        </p:txBody>
      </p:sp>
      <p:sp>
        <p:nvSpPr>
          <p:cNvPr id="9245" name="Text Box 83"/>
          <p:cNvSpPr txBox="1">
            <a:spLocks noChangeArrowheads="1"/>
          </p:cNvSpPr>
          <p:nvPr/>
        </p:nvSpPr>
        <p:spPr bwMode="auto">
          <a:xfrm>
            <a:off x="7162800" y="1309688"/>
            <a:ext cx="106680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800" b="1" dirty="0">
                <a:solidFill>
                  <a:srgbClr val="FFFF00"/>
                </a:solidFill>
              </a:rPr>
              <a:t>Column</a:t>
            </a:r>
          </a:p>
        </p:txBody>
      </p:sp>
      <p:sp>
        <p:nvSpPr>
          <p:cNvPr id="9246" name="Text Box 84"/>
          <p:cNvSpPr txBox="1">
            <a:spLocks noChangeArrowheads="1"/>
          </p:cNvSpPr>
          <p:nvPr/>
        </p:nvSpPr>
        <p:spPr bwMode="auto">
          <a:xfrm rot="5400000">
            <a:off x="5607844" y="3321844"/>
            <a:ext cx="76200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800" b="1">
                <a:solidFill>
                  <a:srgbClr val="FFFF00"/>
                </a:solidFill>
              </a:rPr>
              <a:t>Row</a:t>
            </a:r>
          </a:p>
        </p:txBody>
      </p:sp>
      <p:sp>
        <p:nvSpPr>
          <p:cNvPr id="9247" name="Line 85"/>
          <p:cNvSpPr>
            <a:spLocks noChangeShapeType="1"/>
          </p:cNvSpPr>
          <p:nvPr/>
        </p:nvSpPr>
        <p:spPr bwMode="auto">
          <a:xfrm flipH="1" flipV="1">
            <a:off x="6477000" y="4876799"/>
            <a:ext cx="1066800" cy="936481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48" name="Text Box 86"/>
          <p:cNvSpPr txBox="1">
            <a:spLocks noChangeArrowheads="1"/>
          </p:cNvSpPr>
          <p:nvPr/>
        </p:nvSpPr>
        <p:spPr bwMode="auto">
          <a:xfrm>
            <a:off x="6705600" y="5715000"/>
            <a:ext cx="2133600" cy="3667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800" b="1">
                <a:solidFill>
                  <a:srgbClr val="1E7509"/>
                </a:solidFill>
              </a:rPr>
              <a:t>Memory address</a:t>
            </a:r>
          </a:p>
        </p:txBody>
      </p:sp>
      <p:sp>
        <p:nvSpPr>
          <p:cNvPr id="85079" name="Line 87"/>
          <p:cNvSpPr>
            <a:spLocks noChangeShapeType="1"/>
          </p:cNvSpPr>
          <p:nvPr/>
        </p:nvSpPr>
        <p:spPr bwMode="auto">
          <a:xfrm>
            <a:off x="2819400" y="2514600"/>
            <a:ext cx="3505200" cy="770056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5080" name="Line 88"/>
          <p:cNvSpPr>
            <a:spLocks noChangeShapeType="1"/>
          </p:cNvSpPr>
          <p:nvPr/>
        </p:nvSpPr>
        <p:spPr bwMode="auto">
          <a:xfrm flipV="1">
            <a:off x="3581400" y="3321193"/>
            <a:ext cx="3733799" cy="2393806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45028" y="874913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8255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079" grpId="0" animBg="1"/>
      <p:bldP spid="85080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>
          <a:xfrm>
            <a:off x="-38100" y="28100"/>
            <a:ext cx="9144000" cy="869156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b="1" dirty="0">
                <a:solidFill>
                  <a:srgbClr val="B80000"/>
                </a:solidFill>
                <a:cs typeface="+mj-cs"/>
              </a:rPr>
              <a:t>Accessing 2-Demensional Array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" y="1066800"/>
            <a:ext cx="5753100" cy="5791200"/>
          </a:xfrm>
          <a:ln>
            <a:solidFill>
              <a:schemeClr val="tx1"/>
            </a:solidFill>
          </a:ln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sz="2400" dirty="0">
                <a:cs typeface="+mn-cs"/>
              </a:rPr>
              <a:t>We know </a:t>
            </a:r>
            <a:r>
              <a:rPr lang="en-US" sz="2400" b="1" dirty="0">
                <a:cs typeface="+mn-cs"/>
              </a:rPr>
              <a:t>computer can perform only one </a:t>
            </a:r>
            <a:r>
              <a:rPr lang="en-US" sz="2400" b="1" dirty="0">
                <a:solidFill>
                  <a:srgbClr val="1E7509"/>
                </a:solidFill>
                <a:cs typeface="+mn-cs"/>
              </a:rPr>
              <a:t>operation at any time</a:t>
            </a:r>
            <a:r>
              <a:rPr lang="en-US" sz="2400" b="1" dirty="0">
                <a:cs typeface="+mn-cs"/>
              </a:rPr>
              <a:t> </a:t>
            </a:r>
            <a:r>
              <a:rPr lang="en-US" sz="2400" dirty="0">
                <a:cs typeface="+mn-cs"/>
              </a:rPr>
              <a:t>(</a:t>
            </a:r>
            <a:r>
              <a:rPr lang="en-US" sz="2400" b="1" dirty="0">
                <a:solidFill>
                  <a:srgbClr val="B80000"/>
                </a:solidFill>
                <a:cs typeface="+mn-cs"/>
              </a:rPr>
              <a:t>remember fetch-decode-execute cycle</a:t>
            </a:r>
            <a:r>
              <a:rPr lang="en-US" sz="2400" dirty="0">
                <a:cs typeface="+mn-cs"/>
              </a:rPr>
              <a:t>).</a:t>
            </a:r>
          </a:p>
          <a:p>
            <a:pPr eaLnBrk="1" hangingPunct="1">
              <a:lnSpc>
                <a:spcPct val="80000"/>
              </a:lnSpc>
              <a:defRPr/>
            </a:pPr>
            <a:endParaRPr lang="en-US" sz="2400" dirty="0">
              <a:cs typeface="+mn-cs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sz="2400" dirty="0">
                <a:cs typeface="+mn-cs"/>
              </a:rPr>
              <a:t>Thus to access List [3][1] element (</a:t>
            </a:r>
            <a:r>
              <a:rPr lang="en-US" sz="2400" b="1" dirty="0">
                <a:solidFill>
                  <a:srgbClr val="B80000"/>
                </a:solidFill>
                <a:cs typeface="+mn-cs"/>
              </a:rPr>
              <a:t>without pointer</a:t>
            </a:r>
            <a:r>
              <a:rPr lang="en-US" sz="2400" b="1" dirty="0">
                <a:cs typeface="+mn-cs"/>
              </a:rPr>
              <a:t>) two operations are involved:-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sz="2000" b="1" dirty="0">
                <a:solidFill>
                  <a:srgbClr val="1E7509"/>
                </a:solidFill>
              </a:rPr>
              <a:t>First to determine row List [3]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sz="2000" b="1" dirty="0">
                <a:solidFill>
                  <a:srgbClr val="1E7509"/>
                </a:solidFill>
              </a:rPr>
              <a:t>Second to determine column List[3][1]</a:t>
            </a:r>
          </a:p>
          <a:p>
            <a:pPr lvl="1" eaLnBrk="1" hangingPunct="1">
              <a:lnSpc>
                <a:spcPct val="80000"/>
              </a:lnSpc>
              <a:defRPr/>
            </a:pPr>
            <a:endParaRPr lang="en-US" sz="1800" b="1" dirty="0">
              <a:solidFill>
                <a:srgbClr val="1E7509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endParaRPr lang="en-US" sz="1800" b="1" dirty="0">
              <a:solidFill>
                <a:srgbClr val="1E7509"/>
              </a:solidFill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sz="2400" dirty="0">
                <a:solidFill>
                  <a:srgbClr val="B80000"/>
                </a:solidFill>
                <a:cs typeface="+mn-cs"/>
              </a:rPr>
              <a:t>But using pointer we can reach the element of 4</a:t>
            </a:r>
            <a:r>
              <a:rPr lang="en-US" sz="2400" baseline="30000" dirty="0">
                <a:solidFill>
                  <a:srgbClr val="B80000"/>
                </a:solidFill>
                <a:cs typeface="+mn-cs"/>
              </a:rPr>
              <a:t>th</a:t>
            </a:r>
            <a:r>
              <a:rPr lang="en-US" sz="2400" dirty="0">
                <a:solidFill>
                  <a:srgbClr val="B80000"/>
                </a:solidFill>
                <a:cs typeface="+mn-cs"/>
              </a:rPr>
              <a:t> row 2</a:t>
            </a:r>
            <a:r>
              <a:rPr lang="en-US" sz="2400" baseline="30000" dirty="0">
                <a:solidFill>
                  <a:srgbClr val="B80000"/>
                </a:solidFill>
                <a:cs typeface="+mn-cs"/>
              </a:rPr>
              <a:t>nd</a:t>
            </a:r>
            <a:r>
              <a:rPr lang="en-US" sz="2400" dirty="0">
                <a:solidFill>
                  <a:srgbClr val="B80000"/>
                </a:solidFill>
                <a:cs typeface="+mn-cs"/>
              </a:rPr>
              <a:t> column (directly) by </a:t>
            </a:r>
            <a:r>
              <a:rPr lang="en-US" sz="2400" b="1" dirty="0">
                <a:solidFill>
                  <a:srgbClr val="B80000"/>
                </a:solidFill>
                <a:cs typeface="+mn-cs"/>
              </a:rPr>
              <a:t>increment our pointer value (which is a single operation).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sz="1800" b="1" dirty="0">
                <a:solidFill>
                  <a:srgbClr val="1E7509"/>
                </a:solidFill>
              </a:rPr>
              <a:t>ptr+1; // 4</a:t>
            </a:r>
            <a:r>
              <a:rPr lang="en-US" sz="1800" b="1" baseline="30000" dirty="0">
                <a:solidFill>
                  <a:srgbClr val="1E7509"/>
                </a:solidFill>
              </a:rPr>
              <a:t>th</a:t>
            </a:r>
            <a:r>
              <a:rPr lang="en-US" sz="1800" b="1" dirty="0">
                <a:solidFill>
                  <a:srgbClr val="1E7509"/>
                </a:solidFill>
              </a:rPr>
              <a:t> row 2</a:t>
            </a:r>
            <a:r>
              <a:rPr lang="en-US" sz="1800" b="1" baseline="30000" dirty="0">
                <a:solidFill>
                  <a:srgbClr val="1E7509"/>
                </a:solidFill>
              </a:rPr>
              <a:t>nd</a:t>
            </a:r>
            <a:r>
              <a:rPr lang="en-US" sz="1800" b="1" dirty="0">
                <a:solidFill>
                  <a:srgbClr val="1E7509"/>
                </a:solidFill>
              </a:rPr>
              <a:t> column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sz="1800" b="1" dirty="0">
                <a:solidFill>
                  <a:srgbClr val="1E7509"/>
                </a:solidFill>
              </a:rPr>
              <a:t>ptr+2; // 4</a:t>
            </a:r>
            <a:r>
              <a:rPr lang="en-US" sz="1800" b="1" baseline="30000" dirty="0">
                <a:solidFill>
                  <a:srgbClr val="1E7509"/>
                </a:solidFill>
              </a:rPr>
              <a:t>th</a:t>
            </a:r>
            <a:r>
              <a:rPr lang="en-US" sz="1800" b="1" dirty="0">
                <a:solidFill>
                  <a:srgbClr val="1E7509"/>
                </a:solidFill>
              </a:rPr>
              <a:t> row 3</a:t>
            </a:r>
            <a:r>
              <a:rPr lang="en-US" sz="1800" b="1" baseline="30000" dirty="0">
                <a:solidFill>
                  <a:srgbClr val="1E7509"/>
                </a:solidFill>
              </a:rPr>
              <a:t>rd</a:t>
            </a:r>
            <a:r>
              <a:rPr lang="en-US" sz="1800" b="1" dirty="0">
                <a:solidFill>
                  <a:srgbClr val="1E7509"/>
                </a:solidFill>
              </a:rPr>
              <a:t> column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sz="1800" b="1" dirty="0">
                <a:solidFill>
                  <a:srgbClr val="1E7509"/>
                </a:solidFill>
              </a:rPr>
              <a:t>ptr+3; // 4</a:t>
            </a:r>
            <a:r>
              <a:rPr lang="en-US" sz="1800" b="1" baseline="30000" dirty="0">
                <a:solidFill>
                  <a:srgbClr val="1E7509"/>
                </a:solidFill>
              </a:rPr>
              <a:t>th</a:t>
            </a:r>
            <a:r>
              <a:rPr lang="en-US" sz="1800" b="1" dirty="0">
                <a:solidFill>
                  <a:srgbClr val="1E7509"/>
                </a:solidFill>
              </a:rPr>
              <a:t> row 4</a:t>
            </a:r>
            <a:r>
              <a:rPr lang="en-US" sz="1800" b="1" baseline="30000" dirty="0">
                <a:solidFill>
                  <a:srgbClr val="1E7509"/>
                </a:solidFill>
              </a:rPr>
              <a:t>th</a:t>
            </a:r>
            <a:r>
              <a:rPr lang="en-US" sz="1800" b="1" dirty="0">
                <a:solidFill>
                  <a:srgbClr val="1E7509"/>
                </a:solidFill>
              </a:rPr>
              <a:t> column</a:t>
            </a:r>
            <a:endParaRPr lang="en-US" sz="1600" b="1" dirty="0">
              <a:solidFill>
                <a:srgbClr val="1E7509"/>
              </a:solidFill>
            </a:endParaRPr>
          </a:p>
        </p:txBody>
      </p:sp>
      <p:sp>
        <p:nvSpPr>
          <p:cNvPr id="10244" name="Rectangle 4"/>
          <p:cNvSpPr>
            <a:spLocks noChangeArrowheads="1"/>
          </p:cNvSpPr>
          <p:nvPr/>
        </p:nvSpPr>
        <p:spPr bwMode="auto">
          <a:xfrm>
            <a:off x="6248400" y="1752600"/>
            <a:ext cx="2819400" cy="3276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fr-FR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0245" name="Group 5"/>
          <p:cNvGrpSpPr>
            <a:grpSpLocks/>
          </p:cNvGrpSpPr>
          <p:nvPr/>
        </p:nvGrpSpPr>
        <p:grpSpPr bwMode="auto">
          <a:xfrm>
            <a:off x="6781800" y="2200275"/>
            <a:ext cx="2286000" cy="314325"/>
            <a:chOff x="3408" y="1008"/>
            <a:chExt cx="1440" cy="198"/>
          </a:xfrm>
        </p:grpSpPr>
        <p:sp>
          <p:nvSpPr>
            <p:cNvPr id="10321" name="Text Box 6"/>
            <p:cNvSpPr txBox="1">
              <a:spLocks noChangeArrowheads="1"/>
            </p:cNvSpPr>
            <p:nvPr/>
          </p:nvSpPr>
          <p:spPr bwMode="auto">
            <a:xfrm>
              <a:off x="364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302</a:t>
              </a:r>
            </a:p>
          </p:txBody>
        </p:sp>
        <p:sp>
          <p:nvSpPr>
            <p:cNvPr id="10322" name="Text Box 7"/>
            <p:cNvSpPr txBox="1">
              <a:spLocks noChangeArrowheads="1"/>
            </p:cNvSpPr>
            <p:nvPr/>
          </p:nvSpPr>
          <p:spPr bwMode="auto">
            <a:xfrm>
              <a:off x="388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304</a:t>
              </a:r>
            </a:p>
          </p:txBody>
        </p:sp>
        <p:sp>
          <p:nvSpPr>
            <p:cNvPr id="10323" name="Text Box 8"/>
            <p:cNvSpPr txBox="1">
              <a:spLocks noChangeArrowheads="1"/>
            </p:cNvSpPr>
            <p:nvPr/>
          </p:nvSpPr>
          <p:spPr bwMode="auto">
            <a:xfrm>
              <a:off x="340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300</a:t>
              </a:r>
            </a:p>
          </p:txBody>
        </p:sp>
        <p:sp>
          <p:nvSpPr>
            <p:cNvPr id="10324" name="Text Box 9"/>
            <p:cNvSpPr txBox="1">
              <a:spLocks noChangeArrowheads="1"/>
            </p:cNvSpPr>
            <p:nvPr/>
          </p:nvSpPr>
          <p:spPr bwMode="auto">
            <a:xfrm>
              <a:off x="412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306</a:t>
              </a:r>
            </a:p>
          </p:txBody>
        </p:sp>
        <p:sp>
          <p:nvSpPr>
            <p:cNvPr id="10325" name="Text Box 10"/>
            <p:cNvSpPr txBox="1">
              <a:spLocks noChangeArrowheads="1"/>
            </p:cNvSpPr>
            <p:nvPr/>
          </p:nvSpPr>
          <p:spPr bwMode="auto">
            <a:xfrm>
              <a:off x="436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308</a:t>
              </a:r>
            </a:p>
          </p:txBody>
        </p:sp>
        <p:sp>
          <p:nvSpPr>
            <p:cNvPr id="10326" name="Text Box 11"/>
            <p:cNvSpPr txBox="1">
              <a:spLocks noChangeArrowheads="1"/>
            </p:cNvSpPr>
            <p:nvPr/>
          </p:nvSpPr>
          <p:spPr bwMode="auto">
            <a:xfrm>
              <a:off x="460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310</a:t>
              </a:r>
            </a:p>
          </p:txBody>
        </p:sp>
      </p:grpSp>
      <p:grpSp>
        <p:nvGrpSpPr>
          <p:cNvPr id="10246" name="Group 12"/>
          <p:cNvGrpSpPr>
            <a:grpSpLocks/>
          </p:cNvGrpSpPr>
          <p:nvPr/>
        </p:nvGrpSpPr>
        <p:grpSpPr bwMode="auto">
          <a:xfrm>
            <a:off x="6781800" y="2514600"/>
            <a:ext cx="2286000" cy="314325"/>
            <a:chOff x="3408" y="1008"/>
            <a:chExt cx="1440" cy="198"/>
          </a:xfrm>
        </p:grpSpPr>
        <p:sp>
          <p:nvSpPr>
            <p:cNvPr id="10315" name="Text Box 13"/>
            <p:cNvSpPr txBox="1">
              <a:spLocks noChangeArrowheads="1"/>
            </p:cNvSpPr>
            <p:nvPr/>
          </p:nvSpPr>
          <p:spPr bwMode="auto">
            <a:xfrm>
              <a:off x="364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314</a:t>
              </a:r>
            </a:p>
          </p:txBody>
        </p:sp>
        <p:sp>
          <p:nvSpPr>
            <p:cNvPr id="10316" name="Text Box 14"/>
            <p:cNvSpPr txBox="1">
              <a:spLocks noChangeArrowheads="1"/>
            </p:cNvSpPr>
            <p:nvPr/>
          </p:nvSpPr>
          <p:spPr bwMode="auto">
            <a:xfrm>
              <a:off x="388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316</a:t>
              </a:r>
            </a:p>
          </p:txBody>
        </p:sp>
        <p:sp>
          <p:nvSpPr>
            <p:cNvPr id="10317" name="Text Box 15"/>
            <p:cNvSpPr txBox="1">
              <a:spLocks noChangeArrowheads="1"/>
            </p:cNvSpPr>
            <p:nvPr/>
          </p:nvSpPr>
          <p:spPr bwMode="auto">
            <a:xfrm>
              <a:off x="340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312</a:t>
              </a:r>
            </a:p>
          </p:txBody>
        </p:sp>
        <p:sp>
          <p:nvSpPr>
            <p:cNvPr id="10318" name="Text Box 16"/>
            <p:cNvSpPr txBox="1">
              <a:spLocks noChangeArrowheads="1"/>
            </p:cNvSpPr>
            <p:nvPr/>
          </p:nvSpPr>
          <p:spPr bwMode="auto">
            <a:xfrm>
              <a:off x="412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318</a:t>
              </a:r>
            </a:p>
          </p:txBody>
        </p:sp>
        <p:sp>
          <p:nvSpPr>
            <p:cNvPr id="10319" name="Text Box 17"/>
            <p:cNvSpPr txBox="1">
              <a:spLocks noChangeArrowheads="1"/>
            </p:cNvSpPr>
            <p:nvPr/>
          </p:nvSpPr>
          <p:spPr bwMode="auto">
            <a:xfrm>
              <a:off x="436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320</a:t>
              </a:r>
            </a:p>
          </p:txBody>
        </p:sp>
        <p:sp>
          <p:nvSpPr>
            <p:cNvPr id="10320" name="Text Box 18"/>
            <p:cNvSpPr txBox="1">
              <a:spLocks noChangeArrowheads="1"/>
            </p:cNvSpPr>
            <p:nvPr/>
          </p:nvSpPr>
          <p:spPr bwMode="auto">
            <a:xfrm>
              <a:off x="460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322</a:t>
              </a:r>
            </a:p>
          </p:txBody>
        </p:sp>
      </p:grpSp>
      <p:grpSp>
        <p:nvGrpSpPr>
          <p:cNvPr id="10247" name="Group 19"/>
          <p:cNvGrpSpPr>
            <a:grpSpLocks/>
          </p:cNvGrpSpPr>
          <p:nvPr/>
        </p:nvGrpSpPr>
        <p:grpSpPr bwMode="auto">
          <a:xfrm>
            <a:off x="6781800" y="2819400"/>
            <a:ext cx="2286000" cy="314325"/>
            <a:chOff x="3408" y="1008"/>
            <a:chExt cx="1440" cy="198"/>
          </a:xfrm>
        </p:grpSpPr>
        <p:sp>
          <p:nvSpPr>
            <p:cNvPr id="10309" name="Text Box 20"/>
            <p:cNvSpPr txBox="1">
              <a:spLocks noChangeArrowheads="1"/>
            </p:cNvSpPr>
            <p:nvPr/>
          </p:nvSpPr>
          <p:spPr bwMode="auto">
            <a:xfrm>
              <a:off x="364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326</a:t>
              </a:r>
            </a:p>
          </p:txBody>
        </p:sp>
        <p:sp>
          <p:nvSpPr>
            <p:cNvPr id="10310" name="Text Box 21"/>
            <p:cNvSpPr txBox="1">
              <a:spLocks noChangeArrowheads="1"/>
            </p:cNvSpPr>
            <p:nvPr/>
          </p:nvSpPr>
          <p:spPr bwMode="auto">
            <a:xfrm>
              <a:off x="388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328</a:t>
              </a:r>
            </a:p>
          </p:txBody>
        </p:sp>
        <p:sp>
          <p:nvSpPr>
            <p:cNvPr id="10311" name="Text Box 22"/>
            <p:cNvSpPr txBox="1">
              <a:spLocks noChangeArrowheads="1"/>
            </p:cNvSpPr>
            <p:nvPr/>
          </p:nvSpPr>
          <p:spPr bwMode="auto">
            <a:xfrm>
              <a:off x="340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324</a:t>
              </a:r>
            </a:p>
          </p:txBody>
        </p:sp>
        <p:sp>
          <p:nvSpPr>
            <p:cNvPr id="10312" name="Text Box 23"/>
            <p:cNvSpPr txBox="1">
              <a:spLocks noChangeArrowheads="1"/>
            </p:cNvSpPr>
            <p:nvPr/>
          </p:nvSpPr>
          <p:spPr bwMode="auto">
            <a:xfrm>
              <a:off x="412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330</a:t>
              </a:r>
            </a:p>
          </p:txBody>
        </p:sp>
        <p:sp>
          <p:nvSpPr>
            <p:cNvPr id="10313" name="Text Box 24"/>
            <p:cNvSpPr txBox="1">
              <a:spLocks noChangeArrowheads="1"/>
            </p:cNvSpPr>
            <p:nvPr/>
          </p:nvSpPr>
          <p:spPr bwMode="auto">
            <a:xfrm>
              <a:off x="436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332</a:t>
              </a:r>
            </a:p>
          </p:txBody>
        </p:sp>
        <p:sp>
          <p:nvSpPr>
            <p:cNvPr id="10314" name="Text Box 25"/>
            <p:cNvSpPr txBox="1">
              <a:spLocks noChangeArrowheads="1"/>
            </p:cNvSpPr>
            <p:nvPr/>
          </p:nvSpPr>
          <p:spPr bwMode="auto">
            <a:xfrm>
              <a:off x="460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334</a:t>
              </a:r>
            </a:p>
          </p:txBody>
        </p:sp>
      </p:grpSp>
      <p:grpSp>
        <p:nvGrpSpPr>
          <p:cNvPr id="10248" name="Group 26"/>
          <p:cNvGrpSpPr>
            <a:grpSpLocks/>
          </p:cNvGrpSpPr>
          <p:nvPr/>
        </p:nvGrpSpPr>
        <p:grpSpPr bwMode="auto">
          <a:xfrm>
            <a:off x="6781800" y="3114675"/>
            <a:ext cx="2286000" cy="314325"/>
            <a:chOff x="3408" y="1008"/>
            <a:chExt cx="1440" cy="198"/>
          </a:xfrm>
        </p:grpSpPr>
        <p:sp>
          <p:nvSpPr>
            <p:cNvPr id="10303" name="Text Box 27"/>
            <p:cNvSpPr txBox="1">
              <a:spLocks noChangeArrowheads="1"/>
            </p:cNvSpPr>
            <p:nvPr/>
          </p:nvSpPr>
          <p:spPr bwMode="auto">
            <a:xfrm>
              <a:off x="364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338</a:t>
              </a:r>
            </a:p>
          </p:txBody>
        </p:sp>
        <p:sp>
          <p:nvSpPr>
            <p:cNvPr id="10304" name="Text Box 28"/>
            <p:cNvSpPr txBox="1">
              <a:spLocks noChangeArrowheads="1"/>
            </p:cNvSpPr>
            <p:nvPr/>
          </p:nvSpPr>
          <p:spPr bwMode="auto">
            <a:xfrm>
              <a:off x="388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340</a:t>
              </a:r>
            </a:p>
          </p:txBody>
        </p:sp>
        <p:sp>
          <p:nvSpPr>
            <p:cNvPr id="10305" name="Text Box 29"/>
            <p:cNvSpPr txBox="1">
              <a:spLocks noChangeArrowheads="1"/>
            </p:cNvSpPr>
            <p:nvPr/>
          </p:nvSpPr>
          <p:spPr bwMode="auto">
            <a:xfrm>
              <a:off x="340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336</a:t>
              </a:r>
            </a:p>
          </p:txBody>
        </p:sp>
        <p:sp>
          <p:nvSpPr>
            <p:cNvPr id="10306" name="Text Box 30"/>
            <p:cNvSpPr txBox="1">
              <a:spLocks noChangeArrowheads="1"/>
            </p:cNvSpPr>
            <p:nvPr/>
          </p:nvSpPr>
          <p:spPr bwMode="auto">
            <a:xfrm>
              <a:off x="412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342</a:t>
              </a:r>
            </a:p>
          </p:txBody>
        </p:sp>
        <p:sp>
          <p:nvSpPr>
            <p:cNvPr id="10307" name="Text Box 31"/>
            <p:cNvSpPr txBox="1">
              <a:spLocks noChangeArrowheads="1"/>
            </p:cNvSpPr>
            <p:nvPr/>
          </p:nvSpPr>
          <p:spPr bwMode="auto">
            <a:xfrm>
              <a:off x="436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344</a:t>
              </a:r>
            </a:p>
          </p:txBody>
        </p:sp>
        <p:sp>
          <p:nvSpPr>
            <p:cNvPr id="10308" name="Text Box 32"/>
            <p:cNvSpPr txBox="1">
              <a:spLocks noChangeArrowheads="1"/>
            </p:cNvSpPr>
            <p:nvPr/>
          </p:nvSpPr>
          <p:spPr bwMode="auto">
            <a:xfrm>
              <a:off x="460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346</a:t>
              </a:r>
            </a:p>
          </p:txBody>
        </p:sp>
      </p:grpSp>
      <p:grpSp>
        <p:nvGrpSpPr>
          <p:cNvPr id="10249" name="Group 33"/>
          <p:cNvGrpSpPr>
            <a:grpSpLocks/>
          </p:cNvGrpSpPr>
          <p:nvPr/>
        </p:nvGrpSpPr>
        <p:grpSpPr bwMode="auto">
          <a:xfrm>
            <a:off x="6781800" y="3419475"/>
            <a:ext cx="2286000" cy="314325"/>
            <a:chOff x="3408" y="1008"/>
            <a:chExt cx="1440" cy="198"/>
          </a:xfrm>
        </p:grpSpPr>
        <p:sp>
          <p:nvSpPr>
            <p:cNvPr id="10297" name="Text Box 34"/>
            <p:cNvSpPr txBox="1">
              <a:spLocks noChangeArrowheads="1"/>
            </p:cNvSpPr>
            <p:nvPr/>
          </p:nvSpPr>
          <p:spPr bwMode="auto">
            <a:xfrm>
              <a:off x="364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350</a:t>
              </a:r>
            </a:p>
          </p:txBody>
        </p:sp>
        <p:sp>
          <p:nvSpPr>
            <p:cNvPr id="10298" name="Text Box 35"/>
            <p:cNvSpPr txBox="1">
              <a:spLocks noChangeArrowheads="1"/>
            </p:cNvSpPr>
            <p:nvPr/>
          </p:nvSpPr>
          <p:spPr bwMode="auto">
            <a:xfrm>
              <a:off x="388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352</a:t>
              </a:r>
            </a:p>
          </p:txBody>
        </p:sp>
        <p:sp>
          <p:nvSpPr>
            <p:cNvPr id="10299" name="Text Box 36"/>
            <p:cNvSpPr txBox="1">
              <a:spLocks noChangeArrowheads="1"/>
            </p:cNvSpPr>
            <p:nvPr/>
          </p:nvSpPr>
          <p:spPr bwMode="auto">
            <a:xfrm>
              <a:off x="340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348</a:t>
              </a:r>
            </a:p>
          </p:txBody>
        </p:sp>
        <p:sp>
          <p:nvSpPr>
            <p:cNvPr id="10300" name="Text Box 37"/>
            <p:cNvSpPr txBox="1">
              <a:spLocks noChangeArrowheads="1"/>
            </p:cNvSpPr>
            <p:nvPr/>
          </p:nvSpPr>
          <p:spPr bwMode="auto">
            <a:xfrm>
              <a:off x="412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354</a:t>
              </a:r>
            </a:p>
          </p:txBody>
        </p:sp>
        <p:sp>
          <p:nvSpPr>
            <p:cNvPr id="10301" name="Text Box 38"/>
            <p:cNvSpPr txBox="1">
              <a:spLocks noChangeArrowheads="1"/>
            </p:cNvSpPr>
            <p:nvPr/>
          </p:nvSpPr>
          <p:spPr bwMode="auto">
            <a:xfrm>
              <a:off x="436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356</a:t>
              </a:r>
            </a:p>
          </p:txBody>
        </p:sp>
        <p:sp>
          <p:nvSpPr>
            <p:cNvPr id="10302" name="Text Box 39"/>
            <p:cNvSpPr txBox="1">
              <a:spLocks noChangeArrowheads="1"/>
            </p:cNvSpPr>
            <p:nvPr/>
          </p:nvSpPr>
          <p:spPr bwMode="auto">
            <a:xfrm>
              <a:off x="460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358</a:t>
              </a:r>
            </a:p>
          </p:txBody>
        </p:sp>
      </p:grpSp>
      <p:grpSp>
        <p:nvGrpSpPr>
          <p:cNvPr id="10250" name="Group 40"/>
          <p:cNvGrpSpPr>
            <a:grpSpLocks/>
          </p:cNvGrpSpPr>
          <p:nvPr/>
        </p:nvGrpSpPr>
        <p:grpSpPr bwMode="auto">
          <a:xfrm>
            <a:off x="6781800" y="3724275"/>
            <a:ext cx="2286000" cy="314325"/>
            <a:chOff x="3408" y="1008"/>
            <a:chExt cx="1440" cy="198"/>
          </a:xfrm>
        </p:grpSpPr>
        <p:sp>
          <p:nvSpPr>
            <p:cNvPr id="10291" name="Text Box 41"/>
            <p:cNvSpPr txBox="1">
              <a:spLocks noChangeArrowheads="1"/>
            </p:cNvSpPr>
            <p:nvPr/>
          </p:nvSpPr>
          <p:spPr bwMode="auto">
            <a:xfrm>
              <a:off x="364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362</a:t>
              </a:r>
            </a:p>
          </p:txBody>
        </p:sp>
        <p:sp>
          <p:nvSpPr>
            <p:cNvPr id="10292" name="Text Box 42"/>
            <p:cNvSpPr txBox="1">
              <a:spLocks noChangeArrowheads="1"/>
            </p:cNvSpPr>
            <p:nvPr/>
          </p:nvSpPr>
          <p:spPr bwMode="auto">
            <a:xfrm>
              <a:off x="388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364</a:t>
              </a:r>
            </a:p>
          </p:txBody>
        </p:sp>
        <p:sp>
          <p:nvSpPr>
            <p:cNvPr id="10293" name="Text Box 43"/>
            <p:cNvSpPr txBox="1">
              <a:spLocks noChangeArrowheads="1"/>
            </p:cNvSpPr>
            <p:nvPr/>
          </p:nvSpPr>
          <p:spPr bwMode="auto">
            <a:xfrm>
              <a:off x="340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360</a:t>
              </a:r>
            </a:p>
          </p:txBody>
        </p:sp>
        <p:sp>
          <p:nvSpPr>
            <p:cNvPr id="10294" name="Text Box 44"/>
            <p:cNvSpPr txBox="1">
              <a:spLocks noChangeArrowheads="1"/>
            </p:cNvSpPr>
            <p:nvPr/>
          </p:nvSpPr>
          <p:spPr bwMode="auto">
            <a:xfrm>
              <a:off x="412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366</a:t>
              </a:r>
            </a:p>
          </p:txBody>
        </p:sp>
        <p:sp>
          <p:nvSpPr>
            <p:cNvPr id="10295" name="Text Box 45"/>
            <p:cNvSpPr txBox="1">
              <a:spLocks noChangeArrowheads="1"/>
            </p:cNvSpPr>
            <p:nvPr/>
          </p:nvSpPr>
          <p:spPr bwMode="auto">
            <a:xfrm>
              <a:off x="436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368</a:t>
              </a:r>
            </a:p>
          </p:txBody>
        </p:sp>
        <p:sp>
          <p:nvSpPr>
            <p:cNvPr id="10296" name="Text Box 46"/>
            <p:cNvSpPr txBox="1">
              <a:spLocks noChangeArrowheads="1"/>
            </p:cNvSpPr>
            <p:nvPr/>
          </p:nvSpPr>
          <p:spPr bwMode="auto">
            <a:xfrm>
              <a:off x="460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370</a:t>
              </a:r>
            </a:p>
          </p:txBody>
        </p:sp>
      </p:grpSp>
      <p:grpSp>
        <p:nvGrpSpPr>
          <p:cNvPr id="10251" name="Group 47"/>
          <p:cNvGrpSpPr>
            <a:grpSpLocks/>
          </p:cNvGrpSpPr>
          <p:nvPr/>
        </p:nvGrpSpPr>
        <p:grpSpPr bwMode="auto">
          <a:xfrm>
            <a:off x="6781800" y="4038600"/>
            <a:ext cx="2286000" cy="314325"/>
            <a:chOff x="3408" y="1008"/>
            <a:chExt cx="1440" cy="198"/>
          </a:xfrm>
        </p:grpSpPr>
        <p:sp>
          <p:nvSpPr>
            <p:cNvPr id="10285" name="Text Box 48"/>
            <p:cNvSpPr txBox="1">
              <a:spLocks noChangeArrowheads="1"/>
            </p:cNvSpPr>
            <p:nvPr/>
          </p:nvSpPr>
          <p:spPr bwMode="auto">
            <a:xfrm>
              <a:off x="364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374</a:t>
              </a:r>
            </a:p>
          </p:txBody>
        </p:sp>
        <p:sp>
          <p:nvSpPr>
            <p:cNvPr id="10286" name="Text Box 49"/>
            <p:cNvSpPr txBox="1">
              <a:spLocks noChangeArrowheads="1"/>
            </p:cNvSpPr>
            <p:nvPr/>
          </p:nvSpPr>
          <p:spPr bwMode="auto">
            <a:xfrm>
              <a:off x="388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376</a:t>
              </a:r>
            </a:p>
          </p:txBody>
        </p:sp>
        <p:sp>
          <p:nvSpPr>
            <p:cNvPr id="10287" name="Text Box 50"/>
            <p:cNvSpPr txBox="1">
              <a:spLocks noChangeArrowheads="1"/>
            </p:cNvSpPr>
            <p:nvPr/>
          </p:nvSpPr>
          <p:spPr bwMode="auto">
            <a:xfrm>
              <a:off x="340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372</a:t>
              </a:r>
            </a:p>
          </p:txBody>
        </p:sp>
        <p:sp>
          <p:nvSpPr>
            <p:cNvPr id="10288" name="Text Box 51"/>
            <p:cNvSpPr txBox="1">
              <a:spLocks noChangeArrowheads="1"/>
            </p:cNvSpPr>
            <p:nvPr/>
          </p:nvSpPr>
          <p:spPr bwMode="auto">
            <a:xfrm>
              <a:off x="412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378</a:t>
              </a:r>
            </a:p>
          </p:txBody>
        </p:sp>
        <p:sp>
          <p:nvSpPr>
            <p:cNvPr id="10289" name="Text Box 52"/>
            <p:cNvSpPr txBox="1">
              <a:spLocks noChangeArrowheads="1"/>
            </p:cNvSpPr>
            <p:nvPr/>
          </p:nvSpPr>
          <p:spPr bwMode="auto">
            <a:xfrm>
              <a:off x="436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380</a:t>
              </a:r>
            </a:p>
          </p:txBody>
        </p:sp>
        <p:sp>
          <p:nvSpPr>
            <p:cNvPr id="10290" name="Text Box 53"/>
            <p:cNvSpPr txBox="1">
              <a:spLocks noChangeArrowheads="1"/>
            </p:cNvSpPr>
            <p:nvPr/>
          </p:nvSpPr>
          <p:spPr bwMode="auto">
            <a:xfrm>
              <a:off x="460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382</a:t>
              </a:r>
            </a:p>
          </p:txBody>
        </p:sp>
      </p:grpSp>
      <p:grpSp>
        <p:nvGrpSpPr>
          <p:cNvPr id="10252" name="Group 54"/>
          <p:cNvGrpSpPr>
            <a:grpSpLocks/>
          </p:cNvGrpSpPr>
          <p:nvPr/>
        </p:nvGrpSpPr>
        <p:grpSpPr bwMode="auto">
          <a:xfrm>
            <a:off x="6781800" y="4343400"/>
            <a:ext cx="2286000" cy="314325"/>
            <a:chOff x="3408" y="1008"/>
            <a:chExt cx="1440" cy="198"/>
          </a:xfrm>
        </p:grpSpPr>
        <p:sp>
          <p:nvSpPr>
            <p:cNvPr id="10279" name="Text Box 55"/>
            <p:cNvSpPr txBox="1">
              <a:spLocks noChangeArrowheads="1"/>
            </p:cNvSpPr>
            <p:nvPr/>
          </p:nvSpPr>
          <p:spPr bwMode="auto">
            <a:xfrm>
              <a:off x="364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386</a:t>
              </a:r>
            </a:p>
          </p:txBody>
        </p:sp>
        <p:sp>
          <p:nvSpPr>
            <p:cNvPr id="10280" name="Text Box 56"/>
            <p:cNvSpPr txBox="1">
              <a:spLocks noChangeArrowheads="1"/>
            </p:cNvSpPr>
            <p:nvPr/>
          </p:nvSpPr>
          <p:spPr bwMode="auto">
            <a:xfrm>
              <a:off x="388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388</a:t>
              </a:r>
            </a:p>
          </p:txBody>
        </p:sp>
        <p:sp>
          <p:nvSpPr>
            <p:cNvPr id="10281" name="Text Box 57"/>
            <p:cNvSpPr txBox="1">
              <a:spLocks noChangeArrowheads="1"/>
            </p:cNvSpPr>
            <p:nvPr/>
          </p:nvSpPr>
          <p:spPr bwMode="auto">
            <a:xfrm>
              <a:off x="340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384</a:t>
              </a:r>
            </a:p>
          </p:txBody>
        </p:sp>
        <p:sp>
          <p:nvSpPr>
            <p:cNvPr id="10282" name="Text Box 58"/>
            <p:cNvSpPr txBox="1">
              <a:spLocks noChangeArrowheads="1"/>
            </p:cNvSpPr>
            <p:nvPr/>
          </p:nvSpPr>
          <p:spPr bwMode="auto">
            <a:xfrm>
              <a:off x="412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390</a:t>
              </a:r>
            </a:p>
          </p:txBody>
        </p:sp>
        <p:sp>
          <p:nvSpPr>
            <p:cNvPr id="10283" name="Text Box 59"/>
            <p:cNvSpPr txBox="1">
              <a:spLocks noChangeArrowheads="1"/>
            </p:cNvSpPr>
            <p:nvPr/>
          </p:nvSpPr>
          <p:spPr bwMode="auto">
            <a:xfrm>
              <a:off x="436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392</a:t>
              </a:r>
            </a:p>
          </p:txBody>
        </p:sp>
        <p:sp>
          <p:nvSpPr>
            <p:cNvPr id="10284" name="Text Box 60"/>
            <p:cNvSpPr txBox="1">
              <a:spLocks noChangeArrowheads="1"/>
            </p:cNvSpPr>
            <p:nvPr/>
          </p:nvSpPr>
          <p:spPr bwMode="auto">
            <a:xfrm>
              <a:off x="460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394</a:t>
              </a:r>
            </a:p>
          </p:txBody>
        </p:sp>
      </p:grpSp>
      <p:grpSp>
        <p:nvGrpSpPr>
          <p:cNvPr id="10253" name="Group 61"/>
          <p:cNvGrpSpPr>
            <a:grpSpLocks/>
          </p:cNvGrpSpPr>
          <p:nvPr/>
        </p:nvGrpSpPr>
        <p:grpSpPr bwMode="auto">
          <a:xfrm>
            <a:off x="6781800" y="4638675"/>
            <a:ext cx="2286000" cy="314325"/>
            <a:chOff x="3408" y="1008"/>
            <a:chExt cx="1440" cy="198"/>
          </a:xfrm>
        </p:grpSpPr>
        <p:sp>
          <p:nvSpPr>
            <p:cNvPr id="10273" name="Text Box 62"/>
            <p:cNvSpPr txBox="1">
              <a:spLocks noChangeArrowheads="1"/>
            </p:cNvSpPr>
            <p:nvPr/>
          </p:nvSpPr>
          <p:spPr bwMode="auto">
            <a:xfrm>
              <a:off x="364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398</a:t>
              </a:r>
            </a:p>
          </p:txBody>
        </p:sp>
        <p:sp>
          <p:nvSpPr>
            <p:cNvPr id="10274" name="Text Box 63"/>
            <p:cNvSpPr txBox="1">
              <a:spLocks noChangeArrowheads="1"/>
            </p:cNvSpPr>
            <p:nvPr/>
          </p:nvSpPr>
          <p:spPr bwMode="auto">
            <a:xfrm>
              <a:off x="388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400</a:t>
              </a:r>
            </a:p>
          </p:txBody>
        </p:sp>
        <p:sp>
          <p:nvSpPr>
            <p:cNvPr id="10275" name="Text Box 64"/>
            <p:cNvSpPr txBox="1">
              <a:spLocks noChangeArrowheads="1"/>
            </p:cNvSpPr>
            <p:nvPr/>
          </p:nvSpPr>
          <p:spPr bwMode="auto">
            <a:xfrm>
              <a:off x="340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396</a:t>
              </a:r>
            </a:p>
          </p:txBody>
        </p:sp>
        <p:sp>
          <p:nvSpPr>
            <p:cNvPr id="10276" name="Text Box 65"/>
            <p:cNvSpPr txBox="1">
              <a:spLocks noChangeArrowheads="1"/>
            </p:cNvSpPr>
            <p:nvPr/>
          </p:nvSpPr>
          <p:spPr bwMode="auto">
            <a:xfrm>
              <a:off x="412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402</a:t>
              </a:r>
            </a:p>
          </p:txBody>
        </p:sp>
        <p:sp>
          <p:nvSpPr>
            <p:cNvPr id="10277" name="Text Box 66"/>
            <p:cNvSpPr txBox="1">
              <a:spLocks noChangeArrowheads="1"/>
            </p:cNvSpPr>
            <p:nvPr/>
          </p:nvSpPr>
          <p:spPr bwMode="auto">
            <a:xfrm>
              <a:off x="436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404</a:t>
              </a:r>
            </a:p>
          </p:txBody>
        </p:sp>
        <p:sp>
          <p:nvSpPr>
            <p:cNvPr id="10278" name="Text Box 67"/>
            <p:cNvSpPr txBox="1">
              <a:spLocks noChangeArrowheads="1"/>
            </p:cNvSpPr>
            <p:nvPr/>
          </p:nvSpPr>
          <p:spPr bwMode="auto">
            <a:xfrm>
              <a:off x="4608" y="1008"/>
              <a:ext cx="24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27432" r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 b="1"/>
                <a:t>406</a:t>
              </a:r>
            </a:p>
          </p:txBody>
        </p:sp>
      </p:grpSp>
      <p:sp>
        <p:nvSpPr>
          <p:cNvPr id="10254" name="Text Box 68"/>
          <p:cNvSpPr txBox="1">
            <a:spLocks noChangeArrowheads="1"/>
          </p:cNvSpPr>
          <p:nvPr/>
        </p:nvSpPr>
        <p:spPr bwMode="auto">
          <a:xfrm>
            <a:off x="7162800" y="1819275"/>
            <a:ext cx="3810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27432" rIns="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</p:txBody>
      </p:sp>
      <p:sp>
        <p:nvSpPr>
          <p:cNvPr id="10255" name="Text Box 69"/>
          <p:cNvSpPr txBox="1">
            <a:spLocks noChangeArrowheads="1"/>
          </p:cNvSpPr>
          <p:nvPr/>
        </p:nvSpPr>
        <p:spPr bwMode="auto">
          <a:xfrm>
            <a:off x="7543800" y="1819275"/>
            <a:ext cx="3810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27432" rIns="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</a:p>
        </p:txBody>
      </p:sp>
      <p:sp>
        <p:nvSpPr>
          <p:cNvPr id="10256" name="Text Box 70"/>
          <p:cNvSpPr txBox="1">
            <a:spLocks noChangeArrowheads="1"/>
          </p:cNvSpPr>
          <p:nvPr/>
        </p:nvSpPr>
        <p:spPr bwMode="auto">
          <a:xfrm>
            <a:off x="6781800" y="1819275"/>
            <a:ext cx="3810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27432" rIns="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</a:p>
        </p:txBody>
      </p:sp>
      <p:sp>
        <p:nvSpPr>
          <p:cNvPr id="10257" name="Text Box 71"/>
          <p:cNvSpPr txBox="1">
            <a:spLocks noChangeArrowheads="1"/>
          </p:cNvSpPr>
          <p:nvPr/>
        </p:nvSpPr>
        <p:spPr bwMode="auto">
          <a:xfrm>
            <a:off x="7924800" y="1819275"/>
            <a:ext cx="3810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27432" rIns="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</a:p>
        </p:txBody>
      </p:sp>
      <p:sp>
        <p:nvSpPr>
          <p:cNvPr id="10258" name="Text Box 72"/>
          <p:cNvSpPr txBox="1">
            <a:spLocks noChangeArrowheads="1"/>
          </p:cNvSpPr>
          <p:nvPr/>
        </p:nvSpPr>
        <p:spPr bwMode="auto">
          <a:xfrm>
            <a:off x="8305800" y="1819275"/>
            <a:ext cx="3810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27432" rIns="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4</a:t>
            </a:r>
          </a:p>
        </p:txBody>
      </p:sp>
      <p:sp>
        <p:nvSpPr>
          <p:cNvPr id="10259" name="Text Box 73"/>
          <p:cNvSpPr txBox="1">
            <a:spLocks noChangeArrowheads="1"/>
          </p:cNvSpPr>
          <p:nvPr/>
        </p:nvSpPr>
        <p:spPr bwMode="auto">
          <a:xfrm>
            <a:off x="8686800" y="1819275"/>
            <a:ext cx="3810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27432" rIns="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5</a:t>
            </a:r>
          </a:p>
        </p:txBody>
      </p:sp>
      <p:sp>
        <p:nvSpPr>
          <p:cNvPr id="10260" name="Text Box 74"/>
          <p:cNvSpPr txBox="1">
            <a:spLocks noChangeArrowheads="1"/>
          </p:cNvSpPr>
          <p:nvPr/>
        </p:nvSpPr>
        <p:spPr bwMode="auto">
          <a:xfrm>
            <a:off x="6324600" y="2209800"/>
            <a:ext cx="3810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27432" rIns="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</a:p>
        </p:txBody>
      </p:sp>
      <p:sp>
        <p:nvSpPr>
          <p:cNvPr id="10261" name="Text Box 75"/>
          <p:cNvSpPr txBox="1">
            <a:spLocks noChangeArrowheads="1"/>
          </p:cNvSpPr>
          <p:nvPr/>
        </p:nvSpPr>
        <p:spPr bwMode="auto">
          <a:xfrm>
            <a:off x="6324600" y="2514600"/>
            <a:ext cx="3810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27432" rIns="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</p:txBody>
      </p:sp>
      <p:sp>
        <p:nvSpPr>
          <p:cNvPr id="10262" name="Text Box 76"/>
          <p:cNvSpPr txBox="1">
            <a:spLocks noChangeArrowheads="1"/>
          </p:cNvSpPr>
          <p:nvPr/>
        </p:nvSpPr>
        <p:spPr bwMode="auto">
          <a:xfrm>
            <a:off x="6324600" y="2819400"/>
            <a:ext cx="3810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27432" rIns="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</a:p>
        </p:txBody>
      </p:sp>
      <p:sp>
        <p:nvSpPr>
          <p:cNvPr id="10263" name="Text Box 77"/>
          <p:cNvSpPr txBox="1">
            <a:spLocks noChangeArrowheads="1"/>
          </p:cNvSpPr>
          <p:nvPr/>
        </p:nvSpPr>
        <p:spPr bwMode="auto">
          <a:xfrm>
            <a:off x="6324600" y="3124200"/>
            <a:ext cx="3810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27432" rIns="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</a:p>
        </p:txBody>
      </p:sp>
      <p:sp>
        <p:nvSpPr>
          <p:cNvPr id="10264" name="Text Box 78"/>
          <p:cNvSpPr txBox="1">
            <a:spLocks noChangeArrowheads="1"/>
          </p:cNvSpPr>
          <p:nvPr/>
        </p:nvSpPr>
        <p:spPr bwMode="auto">
          <a:xfrm>
            <a:off x="6324600" y="3429000"/>
            <a:ext cx="3810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27432" rIns="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4</a:t>
            </a:r>
          </a:p>
        </p:txBody>
      </p:sp>
      <p:sp>
        <p:nvSpPr>
          <p:cNvPr id="10265" name="Text Box 79"/>
          <p:cNvSpPr txBox="1">
            <a:spLocks noChangeArrowheads="1"/>
          </p:cNvSpPr>
          <p:nvPr/>
        </p:nvSpPr>
        <p:spPr bwMode="auto">
          <a:xfrm>
            <a:off x="6324600" y="3724275"/>
            <a:ext cx="3810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27432" rIns="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5</a:t>
            </a:r>
          </a:p>
        </p:txBody>
      </p:sp>
      <p:sp>
        <p:nvSpPr>
          <p:cNvPr id="10266" name="Text Box 80"/>
          <p:cNvSpPr txBox="1">
            <a:spLocks noChangeArrowheads="1"/>
          </p:cNvSpPr>
          <p:nvPr/>
        </p:nvSpPr>
        <p:spPr bwMode="auto">
          <a:xfrm>
            <a:off x="6324600" y="4038600"/>
            <a:ext cx="3810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27432" rIns="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6</a:t>
            </a:r>
          </a:p>
        </p:txBody>
      </p:sp>
      <p:sp>
        <p:nvSpPr>
          <p:cNvPr id="10267" name="Text Box 81"/>
          <p:cNvSpPr txBox="1">
            <a:spLocks noChangeArrowheads="1"/>
          </p:cNvSpPr>
          <p:nvPr/>
        </p:nvSpPr>
        <p:spPr bwMode="auto">
          <a:xfrm>
            <a:off x="6324600" y="4343400"/>
            <a:ext cx="3810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27432" rIns="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7</a:t>
            </a:r>
          </a:p>
        </p:txBody>
      </p:sp>
      <p:sp>
        <p:nvSpPr>
          <p:cNvPr id="10268" name="Text Box 82"/>
          <p:cNvSpPr txBox="1">
            <a:spLocks noChangeArrowheads="1"/>
          </p:cNvSpPr>
          <p:nvPr/>
        </p:nvSpPr>
        <p:spPr bwMode="auto">
          <a:xfrm>
            <a:off x="6324600" y="4648200"/>
            <a:ext cx="381000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27432" rIns="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8</a:t>
            </a:r>
          </a:p>
        </p:txBody>
      </p:sp>
      <p:sp>
        <p:nvSpPr>
          <p:cNvPr id="10269" name="Text Box 83"/>
          <p:cNvSpPr txBox="1">
            <a:spLocks noChangeArrowheads="1"/>
          </p:cNvSpPr>
          <p:nvPr/>
        </p:nvSpPr>
        <p:spPr bwMode="auto">
          <a:xfrm>
            <a:off x="7162800" y="1309688"/>
            <a:ext cx="106680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800" b="1" dirty="0">
                <a:solidFill>
                  <a:srgbClr val="1E7509"/>
                </a:solidFill>
              </a:rPr>
              <a:t>Column</a:t>
            </a:r>
          </a:p>
        </p:txBody>
      </p:sp>
      <p:sp>
        <p:nvSpPr>
          <p:cNvPr id="10270" name="Text Box 84"/>
          <p:cNvSpPr txBox="1">
            <a:spLocks noChangeArrowheads="1"/>
          </p:cNvSpPr>
          <p:nvPr/>
        </p:nvSpPr>
        <p:spPr bwMode="auto">
          <a:xfrm rot="5400000">
            <a:off x="5607844" y="3321844"/>
            <a:ext cx="76200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800" b="1">
                <a:solidFill>
                  <a:srgbClr val="FFFF00"/>
                </a:solidFill>
              </a:rPr>
              <a:t>Row</a:t>
            </a:r>
          </a:p>
        </p:txBody>
      </p:sp>
      <p:sp>
        <p:nvSpPr>
          <p:cNvPr id="10271" name="Line 85"/>
          <p:cNvSpPr>
            <a:spLocks noChangeShapeType="1"/>
          </p:cNvSpPr>
          <p:nvPr/>
        </p:nvSpPr>
        <p:spPr bwMode="auto">
          <a:xfrm flipH="1" flipV="1">
            <a:off x="6477000" y="4800600"/>
            <a:ext cx="990600" cy="9144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2" name="Text Box 86"/>
          <p:cNvSpPr txBox="1">
            <a:spLocks noChangeArrowheads="1"/>
          </p:cNvSpPr>
          <p:nvPr/>
        </p:nvSpPr>
        <p:spPr bwMode="auto">
          <a:xfrm>
            <a:off x="6705600" y="5715000"/>
            <a:ext cx="2133600" cy="3667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800" b="1">
                <a:solidFill>
                  <a:srgbClr val="1E7509"/>
                </a:solidFill>
              </a:rPr>
              <a:t>Memory address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8100" y="897256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381661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-26164"/>
            <a:ext cx="8229600" cy="792162"/>
          </a:xfrm>
          <a:noFill/>
          <a:ln/>
        </p:spPr>
        <p:txBody>
          <a:bodyPr lIns="92075" tIns="46038" rIns="92075" bIns="46038"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Swapping variables using Pointers</a:t>
            </a:r>
          </a:p>
        </p:txBody>
      </p:sp>
      <p:sp>
        <p:nvSpPr>
          <p:cNvPr id="1536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126612" y="892124"/>
            <a:ext cx="8915400" cy="5813476"/>
          </a:xfrm>
          <a:solidFill>
            <a:schemeClr val="accent5">
              <a:lumMod val="20000"/>
              <a:lumOff val="80000"/>
            </a:schemeClr>
          </a:solidFill>
          <a:ln/>
        </p:spPr>
        <p:txBody>
          <a:bodyPr lIns="92075" tIns="46038" rIns="92075" bIns="46038">
            <a:noAutofit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800" b="1" dirty="0">
                <a:latin typeface="Courier New" pitchFamily="49" charset="0"/>
              </a:rPr>
              <a:t>void main()  {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b="1" dirty="0">
                <a:latin typeface="Courier New" pitchFamily="49" charset="0"/>
              </a:rPr>
              <a:t>char a = ‘A';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b="1" dirty="0">
                <a:latin typeface="Courier New" pitchFamily="49" charset="0"/>
              </a:rPr>
              <a:t>char b = ‘Z';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b="1" dirty="0">
                <a:latin typeface="Courier New" pitchFamily="49" charset="0"/>
              </a:rPr>
              <a:t>char *Ptr1= &amp;a;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b="1" dirty="0">
                <a:latin typeface="Courier New" pitchFamily="49" charset="0"/>
              </a:rPr>
              <a:t>char *Ptr2= &amp;b;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endParaRPr lang="en-US" b="1" dirty="0">
              <a:latin typeface="Courier New" pitchFamily="49" charset="0"/>
            </a:endParaRP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b="1" dirty="0">
                <a:latin typeface="Courier New" pitchFamily="49" charset="0"/>
              </a:rPr>
              <a:t>char temp = *Ptr1;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b="1" dirty="0">
                <a:latin typeface="Courier New" pitchFamily="49" charset="0"/>
              </a:rPr>
              <a:t>*Ptr1 = *Ptr2;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b="1" dirty="0">
                <a:latin typeface="Courier New" pitchFamily="49" charset="0"/>
              </a:rPr>
              <a:t>*Ptr2 = c;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endParaRPr lang="en-US" b="1" dirty="0">
              <a:latin typeface="Courier New" pitchFamily="49" charset="0"/>
            </a:endParaRP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b="1" dirty="0" err="1">
                <a:latin typeface="Courier New" pitchFamily="49" charset="0"/>
              </a:rPr>
              <a:t>cout</a:t>
            </a:r>
            <a:r>
              <a:rPr lang="en-US" b="1" dirty="0">
                <a:latin typeface="Courier New" pitchFamily="49" charset="0"/>
              </a:rPr>
              <a:t> &lt;&lt; a &lt;&lt; b &lt;&lt; </a:t>
            </a:r>
            <a:r>
              <a:rPr lang="en-US" b="1" dirty="0" err="1">
                <a:latin typeface="Courier New" pitchFamily="49" charset="0"/>
              </a:rPr>
              <a:t>endl</a:t>
            </a:r>
            <a:r>
              <a:rPr lang="en-US" b="1" dirty="0">
                <a:latin typeface="Courier New" pitchFamily="49" charset="0"/>
              </a:rPr>
              <a:t>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800" b="1" dirty="0">
                <a:latin typeface="Courier New" pitchFamily="49" charset="0"/>
              </a:rPr>
              <a:t>}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620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4114800" y="1360928"/>
            <a:ext cx="4824601" cy="2437934"/>
            <a:chOff x="4114800" y="1360928"/>
            <a:chExt cx="4824601" cy="2437934"/>
          </a:xfrm>
        </p:grpSpPr>
        <p:pic>
          <p:nvPicPr>
            <p:cNvPr id="5" name="Content Placeholder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14800" y="1360928"/>
              <a:ext cx="4824601" cy="2437934"/>
            </a:xfrm>
            <a:prstGeom prst="rect">
              <a:avLst/>
            </a:prstGeom>
          </p:spPr>
        </p:pic>
        <p:sp>
          <p:nvSpPr>
            <p:cNvPr id="2" name="TextBox 1"/>
            <p:cNvSpPr txBox="1"/>
            <p:nvPr/>
          </p:nvSpPr>
          <p:spPr>
            <a:xfrm flipH="1">
              <a:off x="5105400" y="2542172"/>
              <a:ext cx="304800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cs typeface="Times New Roman" panose="02020603050405020304" pitchFamily="18" charset="0"/>
                </a:rPr>
                <a:t>;</a:t>
              </a:r>
              <a:endParaRPr lang="en-US" sz="2400" b="1" dirty="0"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13248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876300" y="20320"/>
            <a:ext cx="8229600" cy="876936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b="1" dirty="0">
                <a:solidFill>
                  <a:srgbClr val="B80000"/>
                </a:solidFill>
                <a:cs typeface="+mj-cs"/>
              </a:rPr>
              <a:t>Dynamic Memory Allocation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0500" y="1066800"/>
            <a:ext cx="8915400" cy="5791200"/>
          </a:xfrm>
          <a:extLst>
            <a:ext uri="{909E8E84-426E-40dd-AFC4-6F175D3DCCD1}"/>
          </a:extLst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defRPr/>
            </a:pPr>
            <a:r>
              <a:rPr lang="en-US" b="1" dirty="0">
                <a:latin typeface="+mj-lt"/>
              </a:rPr>
              <a:t>Used when</a:t>
            </a:r>
            <a:r>
              <a:rPr lang="en-US" dirty="0">
                <a:latin typeface="+mj-lt"/>
              </a:rPr>
              <a:t> </a:t>
            </a:r>
            <a:r>
              <a:rPr lang="en-US" b="1" dirty="0">
                <a:solidFill>
                  <a:srgbClr val="B80000"/>
                </a:solidFill>
                <a:latin typeface="+mj-lt"/>
              </a:rPr>
              <a:t>space requirements</a:t>
            </a:r>
            <a:r>
              <a:rPr lang="en-US" dirty="0">
                <a:solidFill>
                  <a:srgbClr val="B80000"/>
                </a:solidFill>
                <a:latin typeface="+mj-lt"/>
              </a:rPr>
              <a:t> </a:t>
            </a:r>
            <a:r>
              <a:rPr lang="en-US" b="1" dirty="0">
                <a:latin typeface="+mj-lt"/>
              </a:rPr>
              <a:t>are </a:t>
            </a:r>
            <a:r>
              <a:rPr lang="en-US" b="1" dirty="0">
                <a:solidFill>
                  <a:srgbClr val="2C14DE"/>
                </a:solidFill>
                <a:latin typeface="+mj-lt"/>
              </a:rPr>
              <a:t>unknown</a:t>
            </a:r>
            <a:r>
              <a:rPr lang="en-US" b="1" dirty="0">
                <a:latin typeface="+mj-lt"/>
              </a:rPr>
              <a:t> at </a:t>
            </a:r>
            <a:r>
              <a:rPr lang="en-US" b="1" dirty="0">
                <a:solidFill>
                  <a:srgbClr val="B80000"/>
                </a:solidFill>
                <a:latin typeface="+mj-lt"/>
              </a:rPr>
              <a:t>compile time</a:t>
            </a:r>
            <a:endParaRPr lang="en-US" dirty="0">
              <a:latin typeface="+mj-lt"/>
            </a:endParaRPr>
          </a:p>
          <a:p>
            <a:pPr eaLnBrk="1" hangingPunct="1">
              <a:lnSpc>
                <a:spcPct val="80000"/>
              </a:lnSpc>
              <a:defRPr/>
            </a:pPr>
            <a:endParaRPr lang="en-US" dirty="0">
              <a:latin typeface="+mj-lt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b="1" dirty="0">
                <a:latin typeface="+mj-lt"/>
              </a:rPr>
              <a:t>Most of the time </a:t>
            </a:r>
            <a:r>
              <a:rPr lang="en-US" b="1" dirty="0">
                <a:solidFill>
                  <a:srgbClr val="B80000"/>
                </a:solidFill>
                <a:latin typeface="+mj-lt"/>
              </a:rPr>
              <a:t>the amount of space required </a:t>
            </a:r>
            <a:r>
              <a:rPr lang="en-US" b="1" dirty="0">
                <a:latin typeface="+mj-lt"/>
              </a:rPr>
              <a:t>is </a:t>
            </a:r>
            <a:r>
              <a:rPr lang="en-US" b="1" dirty="0">
                <a:solidFill>
                  <a:srgbClr val="2C14DE"/>
                </a:solidFill>
                <a:latin typeface="+mj-lt"/>
              </a:rPr>
              <a:t>unknown at compile tim</a:t>
            </a:r>
            <a:r>
              <a:rPr lang="en-US" b="1" dirty="0">
                <a:latin typeface="+mj-lt"/>
              </a:rPr>
              <a:t>e</a:t>
            </a:r>
            <a:endParaRPr lang="en-US" sz="3600" dirty="0">
              <a:latin typeface="+mj-lt"/>
            </a:endParaRPr>
          </a:p>
          <a:p>
            <a:pPr lvl="1" eaLnBrk="1" hangingPunct="1">
              <a:lnSpc>
                <a:spcPct val="80000"/>
              </a:lnSpc>
              <a:defRPr/>
            </a:pPr>
            <a:endParaRPr lang="en-US" dirty="0">
              <a:solidFill>
                <a:srgbClr val="B80000"/>
              </a:solidFill>
              <a:latin typeface="+mj-lt"/>
            </a:endParaRPr>
          </a:p>
          <a:p>
            <a:pPr lvl="1" eaLnBrk="1" hangingPunct="1">
              <a:lnSpc>
                <a:spcPct val="80000"/>
              </a:lnSpc>
              <a:defRPr/>
            </a:pPr>
            <a:endParaRPr lang="en-US" dirty="0">
              <a:latin typeface="+mj-lt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b="1" dirty="0">
                <a:solidFill>
                  <a:srgbClr val="B80000"/>
                </a:solidFill>
                <a:latin typeface="+mj-lt"/>
              </a:rPr>
              <a:t>Dynamic Memory Allocation (DMA):-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b="1" dirty="0">
                <a:solidFill>
                  <a:srgbClr val="2C14DE"/>
                </a:solidFill>
                <a:latin typeface="+mj-lt"/>
              </a:rPr>
              <a:t>With Dynamic memory allocation we can allocate/deletes memory (elements of an array) </a:t>
            </a:r>
            <a:r>
              <a:rPr lang="en-US" b="1" dirty="0">
                <a:solidFill>
                  <a:srgbClr val="B80000"/>
                </a:solidFill>
                <a:latin typeface="+mj-lt"/>
              </a:rPr>
              <a:t>at runtime or execution time.</a:t>
            </a:r>
            <a:endParaRPr lang="en-US" dirty="0">
              <a:solidFill>
                <a:srgbClr val="B80000"/>
              </a:solidFill>
              <a:latin typeface="+mj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8100" y="897256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5127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8100" y="0"/>
            <a:ext cx="9067800" cy="897256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US" sz="2800" b="1" dirty="0">
                <a:solidFill>
                  <a:srgbClr val="B80000"/>
                </a:solidFill>
                <a:cs typeface="+mj-cs"/>
              </a:rPr>
              <a:t>Differences between Static and Dynamic Memory Allocation</a:t>
            </a:r>
            <a:endParaRPr lang="fr-FR" sz="2800" b="1" dirty="0">
              <a:solidFill>
                <a:srgbClr val="B8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800" b="1" dirty="0">
                <a:solidFill>
                  <a:srgbClr val="B80000"/>
                </a:solidFill>
                <a:cs typeface="+mn-cs"/>
              </a:rPr>
              <a:t>Dynamically allocated memory</a:t>
            </a:r>
            <a:r>
              <a:rPr lang="en-US" sz="2800" dirty="0">
                <a:cs typeface="+mn-cs"/>
              </a:rPr>
              <a:t> is kept on the </a:t>
            </a:r>
            <a:r>
              <a:rPr lang="en-US" sz="2800" b="1" dirty="0">
                <a:solidFill>
                  <a:srgbClr val="2C14DE"/>
                </a:solidFill>
                <a:cs typeface="+mn-cs"/>
              </a:rPr>
              <a:t>memory</a:t>
            </a:r>
            <a:r>
              <a:rPr lang="en-US" sz="2800" dirty="0">
                <a:solidFill>
                  <a:srgbClr val="2C14DE"/>
                </a:solidFill>
                <a:cs typeface="+mn-cs"/>
              </a:rPr>
              <a:t> </a:t>
            </a:r>
            <a:r>
              <a:rPr lang="en-US" sz="2800" b="1" dirty="0">
                <a:solidFill>
                  <a:srgbClr val="2C14DE"/>
                </a:solidFill>
                <a:cs typeface="+mn-cs"/>
              </a:rPr>
              <a:t>heap</a:t>
            </a:r>
            <a:r>
              <a:rPr lang="en-US" sz="2800" dirty="0">
                <a:cs typeface="+mn-cs"/>
              </a:rPr>
              <a:t> (also known as the </a:t>
            </a:r>
            <a:r>
              <a:rPr lang="en-US" sz="2800" b="1" dirty="0">
                <a:solidFill>
                  <a:srgbClr val="2C14DE"/>
                </a:solidFill>
                <a:cs typeface="+mn-cs"/>
              </a:rPr>
              <a:t>free store</a:t>
            </a:r>
            <a:r>
              <a:rPr lang="en-US" sz="2800" dirty="0">
                <a:cs typeface="+mn-cs"/>
              </a:rPr>
              <a:t>)</a:t>
            </a:r>
          </a:p>
          <a:p>
            <a:pPr>
              <a:defRPr/>
            </a:pPr>
            <a:endParaRPr lang="en-US" sz="2800" dirty="0">
              <a:cs typeface="+mn-cs"/>
            </a:endParaRPr>
          </a:p>
          <a:p>
            <a:pPr eaLnBrk="1" hangingPunct="1">
              <a:defRPr/>
            </a:pPr>
            <a:r>
              <a:rPr lang="en-US" sz="2800" b="1" dirty="0">
                <a:solidFill>
                  <a:srgbClr val="B80000"/>
                </a:solidFill>
                <a:cs typeface="+mn-cs"/>
              </a:rPr>
              <a:t>Dynamically allocated memory </a:t>
            </a:r>
            <a:r>
              <a:rPr lang="en-US" sz="2800" b="1" dirty="0">
                <a:solidFill>
                  <a:srgbClr val="2C14DE"/>
                </a:solidFill>
                <a:cs typeface="+mn-cs"/>
              </a:rPr>
              <a:t>cannot have a "name"</a:t>
            </a:r>
            <a:r>
              <a:rPr lang="en-US" sz="2800" dirty="0">
                <a:cs typeface="+mn-cs"/>
              </a:rPr>
              <a:t>, it must be referred to</a:t>
            </a:r>
          </a:p>
          <a:p>
            <a:pPr eaLnBrk="1" hangingPunct="1">
              <a:defRPr/>
            </a:pPr>
            <a:endParaRPr lang="en-US" sz="2800" b="1" dirty="0">
              <a:cs typeface="+mn-cs"/>
            </a:endParaRPr>
          </a:p>
          <a:p>
            <a:pPr eaLnBrk="1" hangingPunct="1">
              <a:defRPr/>
            </a:pPr>
            <a:r>
              <a:rPr lang="en-US" sz="2800" b="1" i="1" dirty="0">
                <a:solidFill>
                  <a:srgbClr val="B80000"/>
                </a:solidFill>
                <a:cs typeface="+mn-cs"/>
              </a:rPr>
              <a:t>Declarations</a:t>
            </a:r>
            <a:r>
              <a:rPr lang="en-US" sz="2800" dirty="0">
                <a:solidFill>
                  <a:srgbClr val="B80000"/>
                </a:solidFill>
                <a:cs typeface="+mn-cs"/>
              </a:rPr>
              <a:t> </a:t>
            </a:r>
            <a:r>
              <a:rPr lang="en-US" sz="2800" dirty="0">
                <a:cs typeface="+mn-cs"/>
              </a:rPr>
              <a:t>are used to statically allocate memory, </a:t>
            </a:r>
          </a:p>
          <a:p>
            <a:pPr lvl="1">
              <a:defRPr/>
            </a:pPr>
            <a:r>
              <a:rPr lang="en-US" dirty="0">
                <a:cs typeface="+mn-cs"/>
              </a:rPr>
              <a:t>the </a:t>
            </a:r>
            <a:r>
              <a:rPr lang="en-US" b="1" i="1" dirty="0">
                <a:solidFill>
                  <a:srgbClr val="2C14DE"/>
                </a:solidFill>
                <a:cs typeface="+mn-cs"/>
              </a:rPr>
              <a:t>new</a:t>
            </a:r>
            <a:r>
              <a:rPr lang="en-US" dirty="0">
                <a:solidFill>
                  <a:srgbClr val="2C14DE"/>
                </a:solidFill>
                <a:cs typeface="+mn-cs"/>
              </a:rPr>
              <a:t> </a:t>
            </a:r>
            <a:r>
              <a:rPr lang="en-US" b="1" dirty="0">
                <a:cs typeface="+mn-cs"/>
              </a:rPr>
              <a:t>operator</a:t>
            </a:r>
            <a:r>
              <a:rPr lang="en-US" dirty="0">
                <a:cs typeface="+mn-cs"/>
              </a:rPr>
              <a:t> is used to </a:t>
            </a:r>
            <a:r>
              <a:rPr lang="en-US" b="1" dirty="0">
                <a:solidFill>
                  <a:srgbClr val="2C14DE"/>
                </a:solidFill>
                <a:cs typeface="+mn-cs"/>
              </a:rPr>
              <a:t>dynamically allocate memory</a:t>
            </a:r>
            <a:endParaRPr lang="fr-FR" b="1" dirty="0">
              <a:solidFill>
                <a:srgbClr val="2C14DE"/>
              </a:solidFill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8100" y="897256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738127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90600" y="0"/>
            <a:ext cx="8153400" cy="855663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US" sz="3200" b="1" dirty="0">
                <a:solidFill>
                  <a:srgbClr val="B80000"/>
                </a:solidFill>
                <a:cs typeface="+mj-cs"/>
              </a:rPr>
              <a:t>Pointing to Memory Allocated at Run Time</a:t>
            </a:r>
            <a:endParaRPr lang="fr-FR" sz="3200" b="1" dirty="0">
              <a:solidFill>
                <a:srgbClr val="B8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da-DK" sz="2400" i="1" dirty="0" err="1">
                <a:cs typeface="+mn-cs"/>
              </a:rPr>
              <a:t>int</a:t>
            </a:r>
            <a:r>
              <a:rPr lang="da-DK" sz="2400" i="1" dirty="0">
                <a:cs typeface="+mn-cs"/>
              </a:rPr>
              <a:t> *</a:t>
            </a:r>
            <a:r>
              <a:rPr lang="da-DK" sz="2400" i="1" dirty="0" err="1">
                <a:cs typeface="+mn-cs"/>
              </a:rPr>
              <a:t>ptr</a:t>
            </a:r>
            <a:r>
              <a:rPr lang="da-DK" sz="2400" i="1" dirty="0">
                <a:cs typeface="+mn-cs"/>
              </a:rPr>
              <a:t>;</a:t>
            </a:r>
          </a:p>
          <a:p>
            <a:pPr eaLnBrk="1" hangingPunct="1">
              <a:defRPr/>
            </a:pPr>
            <a:r>
              <a:rPr lang="en-US" sz="2400" i="1" dirty="0" err="1">
                <a:cs typeface="+mn-cs"/>
              </a:rPr>
              <a:t>ptr</a:t>
            </a:r>
            <a:r>
              <a:rPr lang="en-US" sz="2400" i="1" dirty="0">
                <a:cs typeface="+mn-cs"/>
              </a:rPr>
              <a:t> = new </a:t>
            </a:r>
            <a:r>
              <a:rPr lang="en-US" sz="2400" i="1" dirty="0" err="1">
                <a:cs typeface="+mn-cs"/>
              </a:rPr>
              <a:t>int</a:t>
            </a:r>
            <a:r>
              <a:rPr lang="en-US" sz="2400" i="1" dirty="0">
                <a:cs typeface="+mn-cs"/>
              </a:rPr>
              <a:t>;</a:t>
            </a:r>
          </a:p>
          <a:p>
            <a:pPr eaLnBrk="1" hangingPunct="1">
              <a:defRPr/>
            </a:pPr>
            <a:r>
              <a:rPr lang="ro-RO" sz="2400" i="1" dirty="0">
                <a:cs typeface="+mn-cs"/>
              </a:rPr>
              <a:t>*ptr = 7;</a:t>
            </a:r>
          </a:p>
          <a:p>
            <a:pPr eaLnBrk="1" hangingPunct="1">
              <a:defRPr/>
            </a:pPr>
            <a:r>
              <a:rPr lang="da-DK" sz="2400" i="1" dirty="0" err="1">
                <a:cs typeface="+mn-cs"/>
              </a:rPr>
              <a:t>int</a:t>
            </a:r>
            <a:r>
              <a:rPr lang="da-DK" sz="2400" i="1" dirty="0">
                <a:cs typeface="+mn-cs"/>
              </a:rPr>
              <a:t> *a;</a:t>
            </a:r>
          </a:p>
          <a:p>
            <a:pPr eaLnBrk="1" hangingPunct="1">
              <a:defRPr/>
            </a:pPr>
            <a:endParaRPr lang="da-DK" sz="2400" i="1" dirty="0">
              <a:cs typeface="+mn-cs"/>
            </a:endParaRPr>
          </a:p>
          <a:p>
            <a:pPr eaLnBrk="1" hangingPunct="1">
              <a:defRPr/>
            </a:pPr>
            <a:r>
              <a:rPr lang="en-US" sz="2400" i="1" dirty="0">
                <a:cs typeface="+mn-cs"/>
              </a:rPr>
              <a:t>a = new </a:t>
            </a:r>
            <a:r>
              <a:rPr lang="en-US" sz="2400" i="1" dirty="0" err="1">
                <a:cs typeface="+mn-cs"/>
              </a:rPr>
              <a:t>int</a:t>
            </a:r>
            <a:r>
              <a:rPr lang="en-US" sz="2400" i="1" dirty="0">
                <a:cs typeface="+mn-cs"/>
              </a:rPr>
              <a:t>[3];</a:t>
            </a:r>
          </a:p>
          <a:p>
            <a:pPr lvl="1" eaLnBrk="1" hangingPunct="1">
              <a:defRPr/>
            </a:pPr>
            <a:r>
              <a:rPr lang="fr-FR" sz="2000" i="1" dirty="0">
                <a:cs typeface="+mn-cs"/>
              </a:rPr>
              <a:t> *a     = 300;	</a:t>
            </a:r>
          </a:p>
          <a:p>
            <a:pPr lvl="1" eaLnBrk="1" hangingPunct="1">
              <a:defRPr/>
            </a:pPr>
            <a:r>
              <a:rPr lang="fr-FR" sz="2000" i="1" dirty="0">
                <a:cs typeface="+mn-cs"/>
              </a:rPr>
              <a:t>*(a+1) = 301;</a:t>
            </a:r>
          </a:p>
          <a:p>
            <a:pPr lvl="1" eaLnBrk="1" hangingPunct="1">
              <a:defRPr/>
            </a:pPr>
            <a:r>
              <a:rPr lang="fr-FR" sz="2000" i="1" dirty="0">
                <a:cs typeface="+mn-cs"/>
              </a:rPr>
              <a:t>*(a+2) = 302;</a:t>
            </a:r>
            <a:endParaRPr lang="en-US" sz="2000" i="1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94" t="56062" r="288" b="7442"/>
          <a:stretch>
            <a:fillRect/>
          </a:stretch>
        </p:blipFill>
        <p:spPr bwMode="auto">
          <a:xfrm>
            <a:off x="4233863" y="3744913"/>
            <a:ext cx="5138737" cy="2503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" b="68633"/>
          <a:stretch>
            <a:fillRect/>
          </a:stretch>
        </p:blipFill>
        <p:spPr bwMode="auto">
          <a:xfrm>
            <a:off x="4011613" y="1295400"/>
            <a:ext cx="5132387" cy="2151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1" t="55742" r="3249" b="7718"/>
          <a:stretch>
            <a:fillRect/>
          </a:stretch>
        </p:blipFill>
        <p:spPr bwMode="auto">
          <a:xfrm>
            <a:off x="4267200" y="3733800"/>
            <a:ext cx="4953000" cy="250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3" b="68813"/>
          <a:stretch>
            <a:fillRect/>
          </a:stretch>
        </p:blipFill>
        <p:spPr bwMode="auto">
          <a:xfrm>
            <a:off x="4005263" y="1290638"/>
            <a:ext cx="5138737" cy="2138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t="56288" r="4289" b="7762"/>
          <a:stretch>
            <a:fillRect/>
          </a:stretch>
        </p:blipFill>
        <p:spPr bwMode="auto">
          <a:xfrm>
            <a:off x="4202113" y="3783013"/>
            <a:ext cx="4941887" cy="2465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8" b="68951"/>
          <a:stretch>
            <a:fillRect/>
          </a:stretch>
        </p:blipFill>
        <p:spPr bwMode="auto">
          <a:xfrm>
            <a:off x="4003675" y="1295400"/>
            <a:ext cx="5140325" cy="212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926" b="69133"/>
          <a:stretch>
            <a:fillRect/>
          </a:stretch>
        </p:blipFill>
        <p:spPr bwMode="auto">
          <a:xfrm>
            <a:off x="4038600" y="1295400"/>
            <a:ext cx="5291138" cy="2116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t="56612" r="948" b="7986"/>
          <a:stretch>
            <a:fillRect/>
          </a:stretch>
        </p:blipFill>
        <p:spPr bwMode="auto">
          <a:xfrm>
            <a:off x="4419600" y="3810000"/>
            <a:ext cx="5192713" cy="242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287" r="4169" b="7581"/>
          <a:stretch>
            <a:fillRect/>
          </a:stretch>
        </p:blipFill>
        <p:spPr bwMode="auto">
          <a:xfrm>
            <a:off x="4367213" y="3810000"/>
            <a:ext cx="4929187" cy="247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tangle 12"/>
          <p:cNvSpPr/>
          <p:nvPr/>
        </p:nvSpPr>
        <p:spPr>
          <a:xfrm>
            <a:off x="38100" y="897256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8272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52500" y="40729"/>
            <a:ext cx="8153400" cy="829733"/>
          </a:xfrm>
        </p:spPr>
        <p:txBody>
          <a:bodyPr/>
          <a:lstStyle/>
          <a:p>
            <a:pPr eaLnBrk="1" hangingPunct="1">
              <a:defRPr/>
            </a:pPr>
            <a:r>
              <a:rPr lang="en-US" b="1" dirty="0">
                <a:solidFill>
                  <a:srgbClr val="B80000"/>
                </a:solidFill>
                <a:cs typeface="+mj-cs"/>
              </a:rPr>
              <a:t>Returning Memory to the Heap</a:t>
            </a:r>
            <a:endParaRPr lang="fr-FR" b="1" dirty="0">
              <a:solidFill>
                <a:srgbClr val="B8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1" dirty="0">
                <a:solidFill>
                  <a:srgbClr val="B80000"/>
                </a:solidFill>
                <a:cs typeface="+mn-cs"/>
              </a:rPr>
              <a:t>How Big is the Heap?</a:t>
            </a:r>
          </a:p>
          <a:p>
            <a:pPr lvl="1" eaLnBrk="1" hangingPunct="1">
              <a:defRPr/>
            </a:pPr>
            <a:r>
              <a:rPr lang="en-US" b="1" dirty="0">
                <a:solidFill>
                  <a:srgbClr val="2C14DE"/>
                </a:solidFill>
              </a:rPr>
              <a:t>Most applications request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b="1" dirty="0">
                <a:solidFill>
                  <a:srgbClr val="2C14DE"/>
                </a:solidFill>
              </a:rPr>
              <a:t>memory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dirty="0"/>
              <a:t>from the </a:t>
            </a:r>
            <a:r>
              <a:rPr lang="en-US" b="1" dirty="0">
                <a:solidFill>
                  <a:srgbClr val="2C14DE"/>
                </a:solidFill>
              </a:rPr>
              <a:t>heap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dirty="0"/>
              <a:t>when they are running;</a:t>
            </a:r>
            <a:br>
              <a:rPr lang="en-US" dirty="0"/>
            </a:br>
            <a:endParaRPr lang="en-US" dirty="0"/>
          </a:p>
          <a:p>
            <a:pPr lvl="1" eaLnBrk="1" hangingPunct="1">
              <a:defRPr/>
            </a:pPr>
            <a:r>
              <a:rPr lang="en-US" dirty="0"/>
              <a:t>It is </a:t>
            </a:r>
            <a:r>
              <a:rPr lang="en-US" b="1" dirty="0">
                <a:solidFill>
                  <a:srgbClr val="2C14DE"/>
                </a:solidFill>
              </a:rPr>
              <a:t>possible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dirty="0"/>
              <a:t>to </a:t>
            </a:r>
            <a:r>
              <a:rPr lang="en-US" b="1" dirty="0">
                <a:solidFill>
                  <a:srgbClr val="2C14DE"/>
                </a:solidFill>
              </a:rPr>
              <a:t>run out of memory </a:t>
            </a:r>
            <a:r>
              <a:rPr lang="en-US" dirty="0"/>
              <a:t>(you may even have gotten a message like "</a:t>
            </a:r>
            <a:r>
              <a:rPr lang="en-US" b="1" i="1" dirty="0">
                <a:solidFill>
                  <a:srgbClr val="B80000"/>
                </a:solidFill>
              </a:rPr>
              <a:t>Running Low On Virtual Memory</a:t>
            </a:r>
            <a:r>
              <a:rPr lang="en-US" dirty="0"/>
              <a:t>")</a:t>
            </a:r>
            <a:br>
              <a:rPr lang="en-US" dirty="0"/>
            </a:br>
            <a:endParaRPr lang="en-US" dirty="0"/>
          </a:p>
          <a:p>
            <a:pPr lvl="1" eaLnBrk="1" hangingPunct="1">
              <a:defRPr/>
            </a:pPr>
            <a:r>
              <a:rPr lang="en-US" dirty="0"/>
              <a:t>So, it is </a:t>
            </a:r>
            <a:r>
              <a:rPr lang="en-US" b="1" dirty="0">
                <a:solidFill>
                  <a:srgbClr val="2C14DE"/>
                </a:solidFill>
              </a:rPr>
              <a:t>important to return memory to the heap </a:t>
            </a:r>
            <a:r>
              <a:rPr lang="en-US" dirty="0"/>
              <a:t>when you no longer need it</a:t>
            </a:r>
            <a:endParaRPr lang="fr-FR" dirty="0"/>
          </a:p>
        </p:txBody>
      </p:sp>
      <p:sp>
        <p:nvSpPr>
          <p:cNvPr id="4" name="Rectangle 3"/>
          <p:cNvSpPr/>
          <p:nvPr/>
        </p:nvSpPr>
        <p:spPr>
          <a:xfrm>
            <a:off x="38100" y="897256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398780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90600" y="0"/>
            <a:ext cx="8153400" cy="897256"/>
          </a:xfrm>
        </p:spPr>
        <p:txBody>
          <a:bodyPr/>
          <a:lstStyle/>
          <a:p>
            <a:pPr eaLnBrk="1" hangingPunct="1">
              <a:defRPr/>
            </a:pPr>
            <a:r>
              <a:rPr lang="en-US" b="1" dirty="0">
                <a:solidFill>
                  <a:srgbClr val="C00000"/>
                </a:solidFill>
                <a:cs typeface="+mj-cs"/>
              </a:rPr>
              <a:t>Returning Memory to the Heap</a:t>
            </a:r>
            <a:endParaRPr lang="fr-FR" b="1" dirty="0">
              <a:solidFill>
                <a:srgbClr val="C0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n-cs"/>
              </a:rPr>
              <a:t>The Opposite of </a:t>
            </a:r>
            <a:r>
              <a:rPr lang="en-US" b="1" dirty="0">
                <a:solidFill>
                  <a:srgbClr val="2C14DE"/>
                </a:solidFill>
                <a:cs typeface="+mn-cs"/>
              </a:rPr>
              <a:t>new</a:t>
            </a:r>
            <a:r>
              <a:rPr lang="en-US" dirty="0">
                <a:cs typeface="+mn-cs"/>
              </a:rPr>
              <a:t>:</a:t>
            </a:r>
          </a:p>
          <a:p>
            <a:pPr lvl="1" eaLnBrk="1" hangingPunct="1">
              <a:defRPr/>
            </a:pPr>
            <a:r>
              <a:rPr lang="en-US" dirty="0">
                <a:cs typeface="+mn-cs"/>
              </a:rPr>
              <a:t>The </a:t>
            </a:r>
            <a:r>
              <a:rPr lang="en-US" b="1" dirty="0">
                <a:solidFill>
                  <a:srgbClr val="2C14DE"/>
                </a:solidFill>
                <a:cs typeface="+mn-cs"/>
              </a:rPr>
              <a:t>delete</a:t>
            </a:r>
            <a:r>
              <a:rPr lang="en-US" dirty="0">
                <a:solidFill>
                  <a:srgbClr val="2C14DE"/>
                </a:solidFill>
                <a:cs typeface="+mn-cs"/>
              </a:rPr>
              <a:t> </a:t>
            </a:r>
            <a:r>
              <a:rPr lang="en-US" b="1" dirty="0">
                <a:cs typeface="+mn-cs"/>
              </a:rPr>
              <a:t>operator</a:t>
            </a:r>
            <a:r>
              <a:rPr lang="en-US" dirty="0">
                <a:cs typeface="+mn-cs"/>
              </a:rPr>
              <a:t> in </a:t>
            </a:r>
            <a:r>
              <a:rPr lang="en-US" b="1" dirty="0"/>
              <a:t>C++</a:t>
            </a:r>
            <a:endParaRPr lang="fr-FR" b="1" dirty="0"/>
          </a:p>
        </p:txBody>
      </p:sp>
      <p:sp>
        <p:nvSpPr>
          <p:cNvPr id="4" name="Rectangle 3"/>
          <p:cNvSpPr/>
          <p:nvPr/>
        </p:nvSpPr>
        <p:spPr>
          <a:xfrm>
            <a:off x="38100" y="897256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25273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hu-HU" dirty="0">
                <a:cs typeface="+mn-cs"/>
              </a:rPr>
              <a:t>delete ptr;</a:t>
            </a:r>
          </a:p>
          <a:p>
            <a:pPr marL="0" indent="0" eaLnBrk="1" hangingPunct="1">
              <a:buFontTx/>
              <a:buNone/>
              <a:defRPr/>
            </a:pPr>
            <a:endParaRPr lang="fr-FR" dirty="0">
              <a:cs typeface="+mn-cs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658" b="69028"/>
          <a:stretch>
            <a:fillRect/>
          </a:stretch>
        </p:blipFill>
        <p:spPr bwMode="auto">
          <a:xfrm>
            <a:off x="3810000" y="577850"/>
            <a:ext cx="5216525" cy="212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61" t="56252" r="-3349" b="7436"/>
          <a:stretch>
            <a:fillRect/>
          </a:stretch>
        </p:blipFill>
        <p:spPr bwMode="auto">
          <a:xfrm>
            <a:off x="4038600" y="3486150"/>
            <a:ext cx="5407025" cy="2490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55296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90600" y="0"/>
            <a:ext cx="8153400" cy="942975"/>
          </a:xfrm>
        </p:spPr>
        <p:txBody>
          <a:bodyPr/>
          <a:lstStyle/>
          <a:p>
            <a:pPr eaLnBrk="1" hangingPunct="1">
              <a:defRPr/>
            </a:pPr>
            <a:r>
              <a:rPr lang="de-DE" b="1" dirty="0" err="1">
                <a:solidFill>
                  <a:srgbClr val="B80000"/>
                </a:solidFill>
                <a:cs typeface="+mj-cs"/>
              </a:rPr>
              <a:t>Dangling</a:t>
            </a:r>
            <a:r>
              <a:rPr lang="de-DE" b="1" dirty="0">
                <a:solidFill>
                  <a:srgbClr val="B80000"/>
                </a:solidFill>
                <a:cs typeface="+mj-cs"/>
              </a:rPr>
              <a:t> Pointers</a:t>
            </a:r>
            <a:endParaRPr lang="fr-FR" b="1" dirty="0">
              <a:solidFill>
                <a:srgbClr val="B8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143000"/>
            <a:ext cx="8991600" cy="5638800"/>
          </a:xfrm>
        </p:spPr>
        <p:txBody>
          <a:bodyPr>
            <a:normAutofit/>
          </a:bodyPr>
          <a:lstStyle/>
          <a:p>
            <a:pPr algn="just" eaLnBrk="1" hangingPunct="1">
              <a:defRPr/>
            </a:pPr>
            <a:r>
              <a:rPr lang="en-US" sz="3000" dirty="0">
                <a:cs typeface="+mn-cs"/>
              </a:rPr>
              <a:t>The </a:t>
            </a:r>
            <a:r>
              <a:rPr lang="en-US" sz="3000" b="1" dirty="0">
                <a:solidFill>
                  <a:srgbClr val="B80000"/>
                </a:solidFill>
                <a:cs typeface="+mn-cs"/>
              </a:rPr>
              <a:t>delete operator </a:t>
            </a:r>
            <a:r>
              <a:rPr lang="en-US" sz="3000" b="1" dirty="0">
                <a:solidFill>
                  <a:srgbClr val="2C14DE"/>
                </a:solidFill>
                <a:cs typeface="+mn-cs"/>
              </a:rPr>
              <a:t>does not delete the pointer</a:t>
            </a:r>
            <a:r>
              <a:rPr lang="en-US" sz="3000" dirty="0">
                <a:cs typeface="+mn-cs"/>
              </a:rPr>
              <a:t>, it takes the </a:t>
            </a:r>
            <a:r>
              <a:rPr lang="en-US" sz="3000" b="1" dirty="0">
                <a:solidFill>
                  <a:srgbClr val="2C14DE"/>
                </a:solidFill>
                <a:cs typeface="+mn-cs"/>
              </a:rPr>
              <a:t>memory being pointed </a:t>
            </a:r>
            <a:r>
              <a:rPr lang="en-US" sz="3000" dirty="0">
                <a:cs typeface="+mn-cs"/>
              </a:rPr>
              <a:t>to and </a:t>
            </a:r>
            <a:r>
              <a:rPr lang="en-US" sz="3000" b="1" dirty="0">
                <a:solidFill>
                  <a:srgbClr val="2C14DE"/>
                </a:solidFill>
                <a:cs typeface="+mn-cs"/>
              </a:rPr>
              <a:t>returns</a:t>
            </a:r>
            <a:r>
              <a:rPr lang="en-US" sz="3000" dirty="0">
                <a:cs typeface="+mn-cs"/>
              </a:rPr>
              <a:t> it </a:t>
            </a:r>
            <a:r>
              <a:rPr lang="en-US" sz="3000" b="1" dirty="0">
                <a:solidFill>
                  <a:srgbClr val="2C14DE"/>
                </a:solidFill>
                <a:cs typeface="+mn-cs"/>
              </a:rPr>
              <a:t>to the heap</a:t>
            </a:r>
          </a:p>
          <a:p>
            <a:pPr algn="just" eaLnBrk="1" hangingPunct="1">
              <a:defRPr/>
            </a:pPr>
            <a:endParaRPr lang="en-US" sz="3000" dirty="0">
              <a:cs typeface="+mn-cs"/>
            </a:endParaRPr>
          </a:p>
          <a:p>
            <a:pPr algn="just" eaLnBrk="1" hangingPunct="1">
              <a:defRPr/>
            </a:pPr>
            <a:r>
              <a:rPr lang="en-US" sz="3000" dirty="0">
                <a:cs typeface="+mn-cs"/>
              </a:rPr>
              <a:t>It </a:t>
            </a:r>
            <a:r>
              <a:rPr lang="en-US" sz="3000" b="1" dirty="0">
                <a:cs typeface="+mn-cs"/>
              </a:rPr>
              <a:t>does not even change the contents </a:t>
            </a:r>
            <a:r>
              <a:rPr lang="en-US" sz="3000" dirty="0">
                <a:cs typeface="+mn-cs"/>
              </a:rPr>
              <a:t>of the </a:t>
            </a:r>
            <a:r>
              <a:rPr lang="en-US" sz="3000" b="1" dirty="0">
                <a:cs typeface="+mn-cs"/>
              </a:rPr>
              <a:t>pointer</a:t>
            </a:r>
          </a:p>
          <a:p>
            <a:pPr algn="just" eaLnBrk="1" hangingPunct="1">
              <a:defRPr/>
            </a:pPr>
            <a:endParaRPr lang="en-US" sz="3000" dirty="0">
              <a:cs typeface="+mn-cs"/>
            </a:endParaRPr>
          </a:p>
          <a:p>
            <a:pPr algn="just" eaLnBrk="1" hangingPunct="1">
              <a:defRPr/>
            </a:pPr>
            <a:r>
              <a:rPr lang="en-US" sz="3000" dirty="0">
                <a:cs typeface="+mn-cs"/>
              </a:rPr>
              <a:t>Since the memory </a:t>
            </a:r>
            <a:r>
              <a:rPr lang="en-US" sz="3000" b="1" dirty="0">
                <a:solidFill>
                  <a:srgbClr val="2C14DE"/>
                </a:solidFill>
                <a:cs typeface="+mn-cs"/>
              </a:rPr>
              <a:t>being pointed to is no longer available</a:t>
            </a:r>
            <a:r>
              <a:rPr lang="en-US" sz="3000" dirty="0">
                <a:cs typeface="+mn-cs"/>
              </a:rPr>
              <a:t> (and </a:t>
            </a:r>
            <a:r>
              <a:rPr lang="en-US" sz="3000" b="1" dirty="0">
                <a:cs typeface="+mn-cs"/>
              </a:rPr>
              <a:t>may even be given to another application</a:t>
            </a:r>
            <a:r>
              <a:rPr lang="en-US" sz="3000" dirty="0">
                <a:cs typeface="+mn-cs"/>
              </a:rPr>
              <a:t>), such a </a:t>
            </a:r>
            <a:r>
              <a:rPr lang="en-US" sz="3000" b="1" dirty="0">
                <a:solidFill>
                  <a:srgbClr val="2C14DE"/>
                </a:solidFill>
                <a:cs typeface="+mn-cs"/>
              </a:rPr>
              <a:t>pointer is said to be dangling</a:t>
            </a:r>
            <a:endParaRPr lang="fr-FR" sz="3000" b="1" dirty="0">
              <a:solidFill>
                <a:srgbClr val="2C14DE"/>
              </a:solidFill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8100" y="897256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091946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endParaRPr lang="fr-FR"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ro-RO" dirty="0">
                <a:cs typeface="+mn-cs"/>
              </a:rPr>
              <a:t>ptr = NULL;</a:t>
            </a:r>
            <a:endParaRPr lang="fr-FR" dirty="0">
              <a:cs typeface="+mn-cs"/>
            </a:endParaRPr>
          </a:p>
        </p:txBody>
      </p:sp>
      <p:pic>
        <p:nvPicPr>
          <p:cNvPr id="18436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03" b="69000"/>
          <a:stretch>
            <a:fillRect/>
          </a:stretch>
        </p:blipFill>
        <p:spPr bwMode="auto">
          <a:xfrm>
            <a:off x="3505200" y="1447800"/>
            <a:ext cx="5148263" cy="212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5810697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90600" y="0"/>
            <a:ext cx="8153400" cy="897256"/>
          </a:xfrm>
        </p:spPr>
        <p:txBody>
          <a:bodyPr/>
          <a:lstStyle/>
          <a:p>
            <a:pPr eaLnBrk="1" hangingPunct="1">
              <a:defRPr/>
            </a:pPr>
            <a:r>
              <a:rPr lang="en-US" b="1" dirty="0">
                <a:solidFill>
                  <a:srgbClr val="C00000"/>
                </a:solidFill>
                <a:cs typeface="+mj-cs"/>
              </a:rPr>
              <a:t>Returning Memory to the Heap</a:t>
            </a:r>
            <a:endParaRPr lang="fr-FR" b="1" dirty="0">
              <a:solidFill>
                <a:srgbClr val="C0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1" dirty="0">
                <a:solidFill>
                  <a:srgbClr val="C00000"/>
                </a:solidFill>
                <a:cs typeface="+mn-cs"/>
              </a:rPr>
              <a:t>Remember:</a:t>
            </a:r>
          </a:p>
          <a:p>
            <a:pPr lvl="1" eaLnBrk="1" hangingPunct="1">
              <a:defRPr/>
            </a:pPr>
            <a:r>
              <a:rPr lang="en-US" dirty="0"/>
              <a:t>Return </a:t>
            </a:r>
            <a:r>
              <a:rPr lang="en-US" b="1" dirty="0">
                <a:solidFill>
                  <a:srgbClr val="2C14DE"/>
                </a:solidFill>
              </a:rPr>
              <a:t>memory to the heap before </a:t>
            </a:r>
            <a:r>
              <a:rPr lang="en-US" b="1" i="1" dirty="0" err="1"/>
              <a:t>undangling</a:t>
            </a:r>
            <a:r>
              <a:rPr lang="en-US" b="1" dirty="0"/>
              <a:t> the pointer</a:t>
            </a:r>
          </a:p>
          <a:p>
            <a:pPr lvl="1" eaLnBrk="1" hangingPunct="1">
              <a:defRPr/>
            </a:pPr>
            <a:endParaRPr lang="en-US" dirty="0"/>
          </a:p>
          <a:p>
            <a:pPr eaLnBrk="1" hangingPunct="1">
              <a:defRPr/>
            </a:pPr>
            <a:r>
              <a:rPr lang="en-US" dirty="0">
                <a:cs typeface="+mn-cs"/>
              </a:rPr>
              <a:t>What's Wrong with the Following:</a:t>
            </a:r>
          </a:p>
          <a:p>
            <a:pPr marL="457200" lvl="1" indent="0" eaLnBrk="1" hangingPunct="1">
              <a:buNone/>
              <a:defRPr/>
            </a:pPr>
            <a:r>
              <a:rPr lang="en-US" b="1" dirty="0">
                <a:solidFill>
                  <a:srgbClr val="2C14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b="1" dirty="0" err="1">
                <a:solidFill>
                  <a:srgbClr val="2C14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b="1" dirty="0">
                <a:solidFill>
                  <a:srgbClr val="2C14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NULL;</a:t>
            </a:r>
          </a:p>
          <a:p>
            <a:pPr marL="457200" lvl="1" indent="0" eaLnBrk="1" hangingPunct="1">
              <a:buNone/>
              <a:defRPr/>
            </a:pPr>
            <a:r>
              <a:rPr lang="en-US" b="1" dirty="0">
                <a:solidFill>
                  <a:srgbClr val="2C14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delete </a:t>
            </a:r>
            <a:r>
              <a:rPr lang="en-US" b="1" dirty="0" err="1">
                <a:solidFill>
                  <a:srgbClr val="2C14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b="1" dirty="0">
                <a:solidFill>
                  <a:srgbClr val="2C14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eaLnBrk="1" hangingPunct="1">
              <a:defRPr/>
            </a:pPr>
            <a:endParaRPr lang="fr-FR" dirty="0"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8100" y="897256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801048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90600" y="0"/>
            <a:ext cx="8153400" cy="897256"/>
          </a:xfrm>
        </p:spPr>
        <p:txBody>
          <a:bodyPr/>
          <a:lstStyle/>
          <a:p>
            <a:pPr eaLnBrk="1" hangingPunct="1">
              <a:defRPr/>
            </a:pPr>
            <a:r>
              <a:rPr lang="en-US" b="1" dirty="0">
                <a:solidFill>
                  <a:srgbClr val="C00000"/>
                </a:solidFill>
                <a:cs typeface="+mj-cs"/>
              </a:rPr>
              <a:t>Returning Memory to the Heap</a:t>
            </a:r>
            <a:endParaRPr lang="fr-FR" b="1" dirty="0">
              <a:solidFill>
                <a:srgbClr val="C0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fr-FR" b="1" dirty="0">
                <a:solidFill>
                  <a:srgbClr val="C00000"/>
                </a:solidFill>
                <a:cs typeface="+mn-cs"/>
              </a:rPr>
              <a:t>For </a:t>
            </a:r>
            <a:r>
              <a:rPr lang="fr-FR" b="1" dirty="0" err="1">
                <a:solidFill>
                  <a:srgbClr val="C00000"/>
                </a:solidFill>
                <a:cs typeface="+mn-cs"/>
              </a:rPr>
              <a:t>Arrays</a:t>
            </a:r>
            <a:r>
              <a:rPr lang="fr-FR" b="1" dirty="0">
                <a:solidFill>
                  <a:srgbClr val="C00000"/>
                </a:solidFill>
                <a:cs typeface="+mn-cs"/>
              </a:rPr>
              <a:t>:</a:t>
            </a:r>
          </a:p>
          <a:p>
            <a:pPr marL="457200" lvl="1" indent="0" eaLnBrk="1" hangingPunct="1">
              <a:buNone/>
              <a:defRPr/>
            </a:pPr>
            <a:r>
              <a:rPr lang="hu-HU" b="1" dirty="0">
                <a:latin typeface="Courier New" panose="02070309020205020404" pitchFamily="49" charset="0"/>
                <a:cs typeface="Courier New" panose="02070309020205020404" pitchFamily="49" charset="0"/>
              </a:rPr>
              <a:t>delete[ ] a;</a:t>
            </a:r>
          </a:p>
          <a:p>
            <a:pPr marL="457200" lvl="1" indent="0" eaLnBrk="1" hangingPunct="1">
              <a:buNone/>
              <a:defRPr/>
            </a:pPr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</a:rPr>
              <a:t>a = NULL;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" y="897256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638676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da-DK" b="1" dirty="0">
                <a:solidFill>
                  <a:srgbClr val="C00000"/>
                </a:solidFill>
                <a:cs typeface="+mj-cs"/>
              </a:rPr>
              <a:t>Memory </a:t>
            </a:r>
            <a:r>
              <a:rPr lang="da-DK" b="1" dirty="0" err="1">
                <a:solidFill>
                  <a:srgbClr val="C00000"/>
                </a:solidFill>
                <a:cs typeface="+mj-cs"/>
              </a:rPr>
              <a:t>Leaks</a:t>
            </a:r>
            <a:endParaRPr lang="fr-FR" b="1" dirty="0">
              <a:solidFill>
                <a:srgbClr val="C0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n-cs"/>
              </a:rPr>
              <a:t>Memory </a:t>
            </a:r>
            <a:r>
              <a:rPr lang="en-US" b="1" i="1" dirty="0">
                <a:solidFill>
                  <a:srgbClr val="C00000"/>
                </a:solidFill>
                <a:cs typeface="+mn-cs"/>
              </a:rPr>
              <a:t>leaks</a:t>
            </a:r>
            <a:r>
              <a:rPr lang="en-US" dirty="0">
                <a:solidFill>
                  <a:srgbClr val="C00000"/>
                </a:solidFill>
                <a:cs typeface="+mn-cs"/>
              </a:rPr>
              <a:t> </a:t>
            </a:r>
            <a:r>
              <a:rPr lang="en-US" dirty="0">
                <a:cs typeface="+mn-cs"/>
              </a:rPr>
              <a:t>when it is </a:t>
            </a:r>
            <a:r>
              <a:rPr lang="en-US" b="1" dirty="0">
                <a:solidFill>
                  <a:srgbClr val="2C14DE"/>
                </a:solidFill>
                <a:cs typeface="+mn-cs"/>
              </a:rPr>
              <a:t>allocated from the heap </a:t>
            </a:r>
            <a:r>
              <a:rPr lang="en-US" dirty="0">
                <a:cs typeface="+mn-cs"/>
              </a:rPr>
              <a:t>using the </a:t>
            </a:r>
            <a:r>
              <a:rPr lang="en-US" b="1" dirty="0">
                <a:solidFill>
                  <a:srgbClr val="2C14DE"/>
                </a:solidFill>
                <a:cs typeface="+mn-cs"/>
              </a:rPr>
              <a:t>new</a:t>
            </a:r>
            <a:r>
              <a:rPr lang="en-US" dirty="0">
                <a:solidFill>
                  <a:srgbClr val="2C14DE"/>
                </a:solidFill>
                <a:cs typeface="+mn-cs"/>
              </a:rPr>
              <a:t> </a:t>
            </a:r>
            <a:r>
              <a:rPr lang="en-US" dirty="0">
                <a:cs typeface="+mn-cs"/>
              </a:rPr>
              <a:t>operator but </a:t>
            </a:r>
            <a:r>
              <a:rPr lang="en-US" b="1" dirty="0">
                <a:solidFill>
                  <a:srgbClr val="2C14DE"/>
                </a:solidFill>
                <a:cs typeface="+mn-cs"/>
              </a:rPr>
              <a:t>not returned to the heap</a:t>
            </a:r>
            <a:r>
              <a:rPr lang="en-US" dirty="0">
                <a:cs typeface="+mn-cs"/>
              </a:rPr>
              <a:t> using the </a:t>
            </a:r>
            <a:r>
              <a:rPr lang="en-US" b="1" dirty="0">
                <a:solidFill>
                  <a:srgbClr val="2C14DE"/>
                </a:solidFill>
                <a:cs typeface="+mn-cs"/>
              </a:rPr>
              <a:t>delete</a:t>
            </a:r>
            <a:r>
              <a:rPr lang="en-US" dirty="0">
                <a:solidFill>
                  <a:srgbClr val="2C14DE"/>
                </a:solidFill>
                <a:cs typeface="+mn-cs"/>
              </a:rPr>
              <a:t> </a:t>
            </a:r>
            <a:r>
              <a:rPr lang="en-US" b="1" dirty="0">
                <a:cs typeface="+mn-cs"/>
              </a:rPr>
              <a:t>operator</a:t>
            </a:r>
            <a:endParaRPr lang="fr-FR" b="1" dirty="0"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8100" y="897256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483963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00200"/>
            <a:ext cx="3352800" cy="685800"/>
          </a:xfrm>
        </p:spPr>
        <p:txBody>
          <a:bodyPr/>
          <a:lstStyle/>
          <a:p>
            <a:pPr eaLnBrk="1" hangingPunct="1">
              <a:defRPr/>
            </a:pPr>
            <a:r>
              <a:rPr lang="en-US" sz="2400" i="1" dirty="0">
                <a:cs typeface="+mn-cs"/>
              </a:rPr>
              <a:t> </a:t>
            </a:r>
            <a:r>
              <a:rPr lang="en-US" sz="2400" i="1" dirty="0" err="1">
                <a:cs typeface="+mn-cs"/>
              </a:rPr>
              <a:t>int</a:t>
            </a:r>
            <a:r>
              <a:rPr lang="en-US" sz="2400" i="1" dirty="0">
                <a:cs typeface="+mn-cs"/>
              </a:rPr>
              <a:t> *</a:t>
            </a:r>
            <a:r>
              <a:rPr lang="en-US" sz="2400" i="1" dirty="0" err="1">
                <a:cs typeface="+mn-cs"/>
              </a:rPr>
              <a:t>otherptr</a:t>
            </a:r>
            <a:r>
              <a:rPr lang="en-US" sz="2400" i="1" dirty="0">
                <a:cs typeface="+mn-cs"/>
              </a:rPr>
              <a:t>;</a:t>
            </a:r>
            <a:endParaRPr lang="fr-FR" sz="2400" i="1" dirty="0">
              <a:cs typeface="+mn-cs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r="-2042" b="68878"/>
          <a:stretch>
            <a:fillRect/>
          </a:stretch>
        </p:blipFill>
        <p:spPr bwMode="auto">
          <a:xfrm>
            <a:off x="3898900" y="1219200"/>
            <a:ext cx="5221288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886" t="56316" r="-3445" b="7552"/>
          <a:stretch>
            <a:fillRect/>
          </a:stretch>
        </p:blipFill>
        <p:spPr bwMode="auto">
          <a:xfrm>
            <a:off x="3429000" y="3886200"/>
            <a:ext cx="5951538" cy="247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Espace réservé du contenu 2"/>
          <p:cNvSpPr txBox="1">
            <a:spLocks/>
          </p:cNvSpPr>
          <p:nvPr/>
        </p:nvSpPr>
        <p:spPr bwMode="auto">
          <a:xfrm>
            <a:off x="457200" y="2057400"/>
            <a:ext cx="33528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sz="2400" i="1"/>
              <a:t>otherptr  = new int;</a:t>
            </a:r>
            <a:endParaRPr lang="fr-FR" sz="2400" i="1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t="56287" r="-2765" b="7762"/>
          <a:stretch>
            <a:fillRect/>
          </a:stretch>
        </p:blipFill>
        <p:spPr bwMode="auto">
          <a:xfrm>
            <a:off x="4038600" y="3886200"/>
            <a:ext cx="5253038" cy="2465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44" t="-182" r="-2463" b="68994"/>
          <a:stretch>
            <a:fillRect/>
          </a:stretch>
        </p:blipFill>
        <p:spPr bwMode="auto">
          <a:xfrm>
            <a:off x="3863975" y="1219200"/>
            <a:ext cx="5249863" cy="213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Espace réservé du contenu 2"/>
          <p:cNvSpPr txBox="1">
            <a:spLocks/>
          </p:cNvSpPr>
          <p:nvPr/>
        </p:nvSpPr>
        <p:spPr bwMode="auto">
          <a:xfrm>
            <a:off x="457200" y="2819400"/>
            <a:ext cx="33528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sz="2400" i="1"/>
              <a:t> *otherptr = 4;</a:t>
            </a:r>
            <a:endParaRPr lang="fr-FR" sz="2400" i="1"/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742" r="191" b="7762"/>
          <a:stretch>
            <a:fillRect/>
          </a:stretch>
        </p:blipFill>
        <p:spPr bwMode="auto">
          <a:xfrm>
            <a:off x="4014788" y="3886200"/>
            <a:ext cx="5154612" cy="2503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Espace réservé du contenu 2"/>
          <p:cNvSpPr txBox="1">
            <a:spLocks/>
          </p:cNvSpPr>
          <p:nvPr/>
        </p:nvSpPr>
        <p:spPr bwMode="auto">
          <a:xfrm>
            <a:off x="457200" y="3276600"/>
            <a:ext cx="33528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sz="2400" i="1"/>
              <a:t> otherptr  = new int;</a:t>
            </a:r>
            <a:endParaRPr lang="fr-FR" sz="2400" i="1"/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554" b="68784"/>
          <a:stretch>
            <a:fillRect/>
          </a:stretch>
        </p:blipFill>
        <p:spPr bwMode="auto">
          <a:xfrm>
            <a:off x="3835400" y="1219200"/>
            <a:ext cx="5384800" cy="2141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t="55881" r="-1787" b="7866"/>
          <a:stretch>
            <a:fillRect/>
          </a:stretch>
        </p:blipFill>
        <p:spPr bwMode="auto">
          <a:xfrm>
            <a:off x="3962400" y="3886200"/>
            <a:ext cx="5292725" cy="248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38812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1" grpId="0"/>
      <p:bldP spid="11" grpId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0"/>
            <a:ext cx="8153400" cy="897256"/>
          </a:xfrm>
        </p:spPr>
        <p:txBody>
          <a:bodyPr/>
          <a:lstStyle/>
          <a:p>
            <a:pPr eaLnBrk="1" hangingPunct="1">
              <a:defRPr/>
            </a:pPr>
            <a:r>
              <a:rPr lang="en-US" b="1" dirty="0">
                <a:solidFill>
                  <a:srgbClr val="B80000"/>
                </a:solidFill>
                <a:cs typeface="+mj-cs"/>
              </a:rPr>
              <a:t>Casting pointers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143000"/>
            <a:ext cx="8686800" cy="4724400"/>
          </a:xfrm>
        </p:spPr>
        <p:txBody>
          <a:bodyPr/>
          <a:lstStyle/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2C14DE"/>
                </a:solidFill>
                <a:latin typeface="+mj-lt"/>
              </a:rPr>
              <a:t>Pointers</a:t>
            </a:r>
            <a:r>
              <a:rPr lang="en-US" dirty="0">
                <a:latin typeface="+mj-lt"/>
              </a:rPr>
              <a:t> have types, so you cannot </a:t>
            </a:r>
            <a:r>
              <a:rPr lang="en-US" altLang="ja-JP" dirty="0">
                <a:latin typeface="+mj-lt"/>
              </a:rPr>
              <a:t>just do</a:t>
            </a:r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None/>
            </a:pPr>
            <a:endParaRPr lang="en-US" dirty="0">
              <a:latin typeface="+mj-lt"/>
            </a:endParaRPr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b="1" dirty="0">
                <a:latin typeface="+mj-lt"/>
              </a:rPr>
              <a:t>	</a:t>
            </a:r>
            <a:r>
              <a:rPr lang="en-US" b="1" dirty="0" err="1">
                <a:solidFill>
                  <a:srgbClr val="B80000"/>
                </a:solidFill>
                <a:latin typeface="+mj-lt"/>
              </a:rPr>
              <a:t>int</a:t>
            </a:r>
            <a:r>
              <a:rPr lang="en-US" b="1" dirty="0">
                <a:solidFill>
                  <a:srgbClr val="B80000"/>
                </a:solidFill>
                <a:latin typeface="+mj-lt"/>
              </a:rPr>
              <a:t> </a:t>
            </a:r>
            <a:r>
              <a:rPr lang="en-US" b="1" dirty="0">
                <a:latin typeface="+mj-lt"/>
              </a:rPr>
              <a:t>*pi</a:t>
            </a:r>
            <a:r>
              <a:rPr lang="en-US" dirty="0">
                <a:latin typeface="+mj-lt"/>
              </a:rPr>
              <a:t>; 	</a:t>
            </a:r>
            <a:r>
              <a:rPr lang="en-US" b="1" dirty="0">
                <a:solidFill>
                  <a:srgbClr val="B80000"/>
                </a:solidFill>
                <a:latin typeface="+mj-lt"/>
              </a:rPr>
              <a:t>double </a:t>
            </a:r>
            <a:r>
              <a:rPr lang="en-US" b="1" dirty="0">
                <a:latin typeface="+mj-lt"/>
              </a:rPr>
              <a:t>*</a:t>
            </a:r>
            <a:r>
              <a:rPr lang="en-US" b="1" dirty="0" err="1">
                <a:latin typeface="+mj-lt"/>
              </a:rPr>
              <a:t>pd</a:t>
            </a:r>
            <a:r>
              <a:rPr lang="en-US" dirty="0">
                <a:latin typeface="+mj-lt"/>
              </a:rPr>
              <a:t>;</a:t>
            </a:r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b="1" dirty="0">
                <a:latin typeface="+mj-lt"/>
              </a:rPr>
              <a:t>	</a:t>
            </a:r>
            <a:r>
              <a:rPr lang="en-US" b="1" dirty="0" err="1">
                <a:latin typeface="+mj-lt"/>
              </a:rPr>
              <a:t>pd</a:t>
            </a:r>
            <a:r>
              <a:rPr lang="en-US" b="1" dirty="0">
                <a:latin typeface="+mj-lt"/>
              </a:rPr>
              <a:t> = pi;</a:t>
            </a:r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None/>
            </a:pPr>
            <a:endParaRPr lang="en-US" dirty="0">
              <a:latin typeface="+mj-lt"/>
            </a:endParaRPr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</a:rPr>
              <a:t>Even though they are both just integers, C++ </a:t>
            </a:r>
            <a:r>
              <a:rPr lang="en-US" altLang="ja-JP" dirty="0">
                <a:latin typeface="+mj-lt"/>
              </a:rPr>
              <a:t> not allows (</a:t>
            </a:r>
            <a:r>
              <a:rPr lang="en-US" altLang="ja-JP" b="1" dirty="0">
                <a:solidFill>
                  <a:srgbClr val="B80000"/>
                </a:solidFill>
                <a:latin typeface="+mj-lt"/>
              </a:rPr>
              <a:t>Error</a:t>
            </a:r>
            <a:r>
              <a:rPr lang="en-US" altLang="ja-JP" dirty="0">
                <a:latin typeface="+mj-lt"/>
              </a:rPr>
              <a:t>)</a:t>
            </a:r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None/>
            </a:pPr>
            <a:endParaRPr lang="en-US" dirty="0">
              <a:latin typeface="Trebuchet MS" panose="020B0603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8100" y="897256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41576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1" dirty="0">
                <a:solidFill>
                  <a:srgbClr val="B80000"/>
                </a:solidFill>
                <a:cs typeface="+mj-cs"/>
              </a:rPr>
              <a:t>Casting pointers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752600"/>
            <a:ext cx="8839200" cy="4572000"/>
          </a:xfrm>
        </p:spPr>
        <p:txBody>
          <a:bodyPr/>
          <a:lstStyle/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rebuchet MS" panose="020B0603020202020204" pitchFamily="34" charset="0"/>
                <a:cs typeface="Courier New" panose="02070309020205020404" pitchFamily="49" charset="0"/>
              </a:rPr>
              <a:t>C++ will let you change the type of a pointer with an </a:t>
            </a:r>
            <a:r>
              <a:rPr lang="en-US" b="1" dirty="0">
                <a:solidFill>
                  <a:srgbClr val="B80000"/>
                </a:solidFill>
                <a:latin typeface="Trebuchet MS" panose="020B0603020202020204" pitchFamily="34" charset="0"/>
                <a:cs typeface="Courier New" panose="02070309020205020404" pitchFamily="49" charset="0"/>
              </a:rPr>
              <a:t>explicit cast</a:t>
            </a:r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en-US" dirty="0">
              <a:latin typeface="Trebuchet MS" panose="020B0603020202020204" pitchFamily="34" charset="0"/>
              <a:cs typeface="Courier New" panose="02070309020205020404" pitchFamily="49" charset="0"/>
            </a:endParaRPr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dirty="0">
                <a:latin typeface="Trebuchet MS" panose="020B0603020202020204" pitchFamily="34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Trebuchet MS" panose="020B0603020202020204" pitchFamily="34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Trebuchet MS" panose="020B0603020202020204" pitchFamily="34" charset="0"/>
                <a:cs typeface="Courier New" panose="02070309020205020404" pitchFamily="49" charset="0"/>
              </a:rPr>
              <a:t> *pi; double *</a:t>
            </a:r>
            <a:r>
              <a:rPr lang="en-US" dirty="0" err="1">
                <a:latin typeface="Trebuchet MS" panose="020B0603020202020204" pitchFamily="34" charset="0"/>
                <a:cs typeface="Courier New" panose="02070309020205020404" pitchFamily="49" charset="0"/>
              </a:rPr>
              <a:t>pd</a:t>
            </a:r>
            <a:r>
              <a:rPr lang="en-US" dirty="0">
                <a:latin typeface="Trebuchet MS" panose="020B0603020202020204" pitchFamily="34" charset="0"/>
                <a:cs typeface="Courier New" panose="02070309020205020404" pitchFamily="49" charset="0"/>
              </a:rPr>
              <a:t>;</a:t>
            </a:r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dirty="0">
                <a:latin typeface="Trebuchet MS" panose="020B0603020202020204" pitchFamily="34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Trebuchet MS" panose="020B0603020202020204" pitchFamily="34" charset="0"/>
                <a:cs typeface="Courier New" panose="02070309020205020404" pitchFamily="49" charset="0"/>
              </a:rPr>
              <a:t>pd</a:t>
            </a:r>
            <a:r>
              <a:rPr lang="en-US" dirty="0">
                <a:latin typeface="Trebuchet MS" panose="020B0603020202020204" pitchFamily="34" charset="0"/>
                <a:cs typeface="Courier New" panose="02070309020205020404" pitchFamily="49" charset="0"/>
              </a:rPr>
              <a:t> = </a:t>
            </a:r>
            <a:r>
              <a:rPr lang="en-US" b="1" dirty="0">
                <a:solidFill>
                  <a:srgbClr val="B80000"/>
                </a:solidFill>
                <a:latin typeface="Trebuchet MS" panose="020B0603020202020204" pitchFamily="34" charset="0"/>
                <a:cs typeface="Courier New" panose="02070309020205020404" pitchFamily="49" charset="0"/>
              </a:rPr>
              <a:t>(double*)</a:t>
            </a:r>
            <a:r>
              <a:rPr lang="en-US" dirty="0">
                <a:solidFill>
                  <a:srgbClr val="B80000"/>
                </a:solidFill>
                <a:latin typeface="Trebuchet MS" panose="020B0603020202020204" pitchFamily="34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Trebuchet MS" panose="020B0603020202020204" pitchFamily="34" charset="0"/>
                <a:cs typeface="Courier New" panose="02070309020205020404" pitchFamily="49" charset="0"/>
              </a:rPr>
              <a:t>pi;</a:t>
            </a:r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None/>
            </a:pPr>
            <a:endParaRPr lang="en-US" dirty="0">
              <a:latin typeface="Trebuchet MS" panose="020B0603020202020204" pitchFamily="34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8100" y="897256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514600" y="5943600"/>
            <a:ext cx="4114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>
                <a:solidFill>
                  <a:srgbClr val="FFC000"/>
                </a:solidFill>
              </a:rPr>
              <a:t>Note: Values differenced after cast are undermined (difference of memory size)</a:t>
            </a:r>
          </a:p>
        </p:txBody>
      </p:sp>
    </p:spTree>
    <p:extLst>
      <p:ext uri="{BB962C8B-B14F-4D97-AF65-F5344CB8AC3E}">
        <p14:creationId xmlns:p14="http://schemas.microsoft.com/office/powerpoint/2010/main" val="230831233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b="1" dirty="0">
                <a:solidFill>
                  <a:srgbClr val="B80000"/>
                </a:solidFill>
                <a:cs typeface="+mj-cs"/>
              </a:rPr>
              <a:t>Creating Dynamic 2D Arrays</a:t>
            </a:r>
            <a:endParaRPr lang="fr-FR" b="1" dirty="0">
              <a:solidFill>
                <a:srgbClr val="B80000"/>
              </a:solidFill>
              <a:cs typeface="+mj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8100" y="897256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52400" y="1143000"/>
            <a:ext cx="883920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B80000"/>
                </a:solidFill>
                <a:latin typeface="Trebuchet MS" panose="020B0603020202020204" pitchFamily="34" charset="0"/>
                <a:cs typeface="Courier New" panose="02070309020205020404" pitchFamily="49" charset="0"/>
              </a:rPr>
              <a:t>Two basic methods</a:t>
            </a:r>
            <a:r>
              <a:rPr lang="en-US" dirty="0">
                <a:solidFill>
                  <a:srgbClr val="B80000"/>
                </a:solidFill>
                <a:latin typeface="Trebuchet MS" panose="020B0603020202020204" pitchFamily="34" charset="0"/>
                <a:cs typeface="Courier New" panose="02070309020205020404" pitchFamily="49" charset="0"/>
              </a:rPr>
              <a:t>:</a:t>
            </a:r>
          </a:p>
          <a:p>
            <a:pPr marL="971550" lvl="1" indent="-514350">
              <a:buClr>
                <a:srgbClr val="FF0000"/>
              </a:buClr>
              <a:buFont typeface="+mj-lt"/>
              <a:buAutoNum type="arabicPeriod"/>
            </a:pPr>
            <a:r>
              <a:rPr lang="en-US" b="1" dirty="0">
                <a:solidFill>
                  <a:srgbClr val="2C14DE"/>
                </a:solidFill>
                <a:latin typeface="Trebuchet MS" panose="020B0603020202020204" pitchFamily="34" charset="0"/>
                <a:cs typeface="Courier New" panose="02070309020205020404" pitchFamily="49" charset="0"/>
              </a:rPr>
              <a:t>Using a </a:t>
            </a:r>
            <a:r>
              <a:rPr lang="en-US" b="1" u="sng" dirty="0">
                <a:solidFill>
                  <a:srgbClr val="2C14DE"/>
                </a:solidFill>
                <a:latin typeface="Trebuchet MS" panose="020B0603020202020204" pitchFamily="34" charset="0"/>
                <a:cs typeface="Courier New" panose="02070309020205020404" pitchFamily="49" charset="0"/>
              </a:rPr>
              <a:t>single Pointer</a:t>
            </a:r>
          </a:p>
          <a:p>
            <a:pPr marL="971550" lvl="1" indent="-514350">
              <a:buClr>
                <a:srgbClr val="FF0000"/>
              </a:buClr>
              <a:buFont typeface="+mj-lt"/>
              <a:buAutoNum type="arabicPeriod"/>
            </a:pPr>
            <a:r>
              <a:rPr lang="en-US" b="1" dirty="0">
                <a:solidFill>
                  <a:srgbClr val="2C14DE"/>
                </a:solidFill>
                <a:latin typeface="Trebuchet MS" panose="020B0603020202020204" pitchFamily="34" charset="0"/>
                <a:cs typeface="Courier New" panose="02070309020205020404" pitchFamily="49" charset="0"/>
              </a:rPr>
              <a:t>Using a </a:t>
            </a:r>
            <a:r>
              <a:rPr lang="en-US" b="1" u="sng" dirty="0">
                <a:solidFill>
                  <a:srgbClr val="2C14DE"/>
                </a:solidFill>
                <a:latin typeface="Trebuchet MS" panose="020B0603020202020204" pitchFamily="34" charset="0"/>
                <a:cs typeface="Courier New" panose="02070309020205020404" pitchFamily="49" charset="0"/>
              </a:rPr>
              <a:t>Array of Pointers</a:t>
            </a:r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en-US" dirty="0">
              <a:latin typeface="Trebuchet MS" panose="020B0603020202020204" pitchFamily="34" charset="0"/>
              <a:cs typeface="Courier New" panose="02070309020205020404" pitchFamily="49" charset="0"/>
            </a:endParaRPr>
          </a:p>
          <a:p>
            <a:pPr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dirty="0">
                <a:latin typeface="Trebuchet MS" panose="020B0603020202020204" pitchFamily="34" charset="0"/>
                <a:cs typeface="Courier New" panose="02070309020205020404" pitchFamily="49" charset="0"/>
              </a:rPr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323792043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1" dirty="0">
                <a:solidFill>
                  <a:srgbClr val="B80000"/>
                </a:solidFill>
                <a:cs typeface="+mj-cs"/>
              </a:rPr>
              <a:t>Dynamic two dimensional arrays</a:t>
            </a:r>
            <a:endParaRPr lang="fr-FR" b="1" dirty="0">
              <a:solidFill>
                <a:srgbClr val="B80000"/>
              </a:solidFill>
              <a:cs typeface="+mj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8100" y="897256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-228600" y="1124146"/>
            <a:ext cx="883920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71550" lvl="1" indent="-514350">
              <a:buClr>
                <a:srgbClr val="FF0000"/>
              </a:buClr>
              <a:buFont typeface="+mj-lt"/>
              <a:buAutoNum type="arabicPeriod"/>
            </a:pPr>
            <a:r>
              <a:rPr lang="en-US" b="1" dirty="0">
                <a:solidFill>
                  <a:srgbClr val="2C14DE"/>
                </a:solidFill>
                <a:latin typeface="Trebuchet MS" panose="020B0603020202020204" pitchFamily="34" charset="0"/>
                <a:cs typeface="Courier New" panose="02070309020205020404" pitchFamily="49" charset="0"/>
              </a:rPr>
              <a:t>Using a single Pointer</a:t>
            </a:r>
          </a:p>
          <a:p>
            <a:pPr marL="1371600" lvl="2" indent="-514350">
              <a:buClr>
                <a:srgbClr val="FF0000"/>
              </a:buClr>
            </a:pPr>
            <a:r>
              <a:rPr lang="en-US" sz="2800" b="1" dirty="0">
                <a:latin typeface="Trebuchet MS" panose="020B0603020202020204" pitchFamily="34" charset="0"/>
                <a:cs typeface="Courier New" panose="02070309020205020404" pitchFamily="49" charset="0"/>
              </a:rPr>
              <a:t>Total elements in a 2D Array: </a:t>
            </a:r>
          </a:p>
          <a:p>
            <a:pPr marL="1828800" lvl="3" indent="-514350">
              <a:buClr>
                <a:srgbClr val="FF0000"/>
              </a:buClr>
            </a:pPr>
            <a:r>
              <a:rPr lang="en-US" sz="2800" b="1" dirty="0">
                <a:latin typeface="Trebuchet MS" panose="020B0603020202020204" pitchFamily="34" charset="0"/>
                <a:cs typeface="Courier New" panose="02070309020205020404" pitchFamily="49" charset="0"/>
              </a:rPr>
              <a:t>m * n (i.e., rows * cols)</a:t>
            </a:r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en-US" dirty="0">
              <a:latin typeface="Trebuchet MS" panose="020B0603020202020204" pitchFamily="34" charset="0"/>
              <a:cs typeface="Courier New" panose="02070309020205020404" pitchFamily="49" charset="0"/>
            </a:endParaRPr>
          </a:p>
          <a:p>
            <a:pPr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dirty="0">
                <a:latin typeface="Trebuchet MS" panose="020B0603020202020204" pitchFamily="34" charset="0"/>
                <a:cs typeface="Courier New" panose="02070309020205020404" pitchFamily="49" charset="0"/>
              </a:rPr>
              <a:t>    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7095024"/>
              </p:ext>
            </p:extLst>
          </p:nvPr>
        </p:nvGraphicFramePr>
        <p:xfrm>
          <a:off x="3566160" y="2995910"/>
          <a:ext cx="2072640" cy="194416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{2D5ABB26-0587-4C30-8999-92F81FD0307C}</a:tableStyleId>
              </a:tblPr>
              <a:tblGrid>
                <a:gridCol w="518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8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8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883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83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83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83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83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447800" y="3429000"/>
            <a:ext cx="2057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5 rows * 4 columns = 20 elements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486400"/>
            <a:ext cx="6542030" cy="1046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B80000"/>
                </a:solidFill>
              </a:rPr>
              <a:t>Target Approach=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2C14DE"/>
                </a:solidFill>
              </a:rPr>
              <a:t> allocate 20 elements using dynamic allocation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2C14DE"/>
                </a:solidFill>
              </a:rPr>
              <a:t>Use a </a:t>
            </a:r>
            <a:r>
              <a:rPr lang="en-US" sz="2000" b="1" dirty="0">
                <a:solidFill>
                  <a:srgbClr val="C00000"/>
                </a:solidFill>
              </a:rPr>
              <a:t>single pointer </a:t>
            </a:r>
            <a:r>
              <a:rPr lang="en-US" sz="2000" b="1" dirty="0">
                <a:solidFill>
                  <a:srgbClr val="2C14DE"/>
                </a:solidFill>
              </a:rPr>
              <a:t>to point and access those items.</a:t>
            </a:r>
          </a:p>
        </p:txBody>
      </p:sp>
    </p:spTree>
    <p:extLst>
      <p:ext uri="{BB962C8B-B14F-4D97-AF65-F5344CB8AC3E}">
        <p14:creationId xmlns:p14="http://schemas.microsoft.com/office/powerpoint/2010/main" val="3048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2384" y="-228600"/>
            <a:ext cx="8153400" cy="829733"/>
          </a:xfrm>
        </p:spPr>
        <p:txBody>
          <a:bodyPr/>
          <a:lstStyle/>
          <a:p>
            <a:pPr eaLnBrk="1" hangingPunct="1">
              <a:defRPr/>
            </a:pPr>
            <a:r>
              <a:rPr lang="en-US" b="1" dirty="0">
                <a:solidFill>
                  <a:srgbClr val="B80000"/>
                </a:solidFill>
                <a:cs typeface="+mj-cs"/>
              </a:rPr>
              <a:t>Dynamic 2D Arrays</a:t>
            </a:r>
            <a:endParaRPr lang="fr-FR" b="1" dirty="0">
              <a:solidFill>
                <a:srgbClr val="B80000"/>
              </a:solidFill>
              <a:cs typeface="+mj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6200" y="555414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l="12500" t="19260" r="46667" b="19259"/>
          <a:stretch/>
        </p:blipFill>
        <p:spPr>
          <a:xfrm>
            <a:off x="92697" y="605061"/>
            <a:ext cx="7290847" cy="617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79605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b="1" dirty="0">
                <a:solidFill>
                  <a:srgbClr val="B80000"/>
                </a:solidFill>
                <a:cs typeface="+mj-cs"/>
              </a:rPr>
              <a:t>Dynamic </a:t>
            </a:r>
            <a:r>
              <a:rPr lang="en-US" b="1" dirty="0">
                <a:solidFill>
                  <a:srgbClr val="B80000"/>
                </a:solidFill>
              </a:rPr>
              <a:t>2D Array – Double Pointer</a:t>
            </a:r>
            <a:endParaRPr lang="fr-FR" b="1" dirty="0">
              <a:solidFill>
                <a:srgbClr val="B80000"/>
              </a:solidFill>
              <a:cs typeface="+mj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8100" y="897256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-228600" y="1010498"/>
            <a:ext cx="9372600" cy="10469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71550" lvl="1" indent="-514350">
              <a:buClr>
                <a:srgbClr val="FF0000"/>
              </a:buClr>
              <a:buFont typeface="+mj-lt"/>
              <a:buAutoNum type="arabicPeriod" startAt="2"/>
            </a:pPr>
            <a:r>
              <a:rPr lang="en-US" sz="2400" b="1" dirty="0">
                <a:solidFill>
                  <a:srgbClr val="2C14DE"/>
                </a:solidFill>
                <a:latin typeface="Trebuchet MS" panose="020B0603020202020204" pitchFamily="34" charset="0"/>
                <a:cs typeface="Courier New" panose="02070309020205020404" pitchFamily="49" charset="0"/>
              </a:rPr>
              <a:t>Using a </a:t>
            </a:r>
            <a:r>
              <a:rPr lang="en-US" sz="2400" b="1" dirty="0">
                <a:solidFill>
                  <a:srgbClr val="C00000"/>
                </a:solidFill>
                <a:latin typeface="Trebuchet MS" panose="020B0603020202020204" pitchFamily="34" charset="0"/>
                <a:cs typeface="Courier New" panose="02070309020205020404" pitchFamily="49" charset="0"/>
              </a:rPr>
              <a:t>Pointer</a:t>
            </a:r>
            <a:r>
              <a:rPr lang="en-US" sz="2400" b="1" dirty="0">
                <a:solidFill>
                  <a:srgbClr val="2C14DE"/>
                </a:solidFill>
                <a:latin typeface="Trebuchet MS" panose="020B0603020202020204" pitchFamily="34" charset="0"/>
                <a:cs typeface="Courier New" panose="02070309020205020404" pitchFamily="49" charset="0"/>
              </a:rPr>
              <a:t> that points to </a:t>
            </a:r>
            <a:r>
              <a:rPr lang="en-US" sz="2400" b="1" dirty="0">
                <a:solidFill>
                  <a:srgbClr val="C00000"/>
                </a:solidFill>
                <a:latin typeface="Trebuchet MS" panose="020B0603020202020204" pitchFamily="34" charset="0"/>
                <a:cs typeface="Courier New" panose="02070309020205020404" pitchFamily="49" charset="0"/>
              </a:rPr>
              <a:t>Array of Pointer</a:t>
            </a:r>
          </a:p>
          <a:p>
            <a:pPr marL="1371600" lvl="2" indent="-514350">
              <a:buClr>
                <a:srgbClr val="FF0000"/>
              </a:buClr>
            </a:pPr>
            <a:r>
              <a:rPr lang="en-US" b="1" dirty="0">
                <a:latin typeface="Trebuchet MS" panose="020B0603020202020204" pitchFamily="34" charset="0"/>
                <a:cs typeface="Courier New" panose="02070309020205020404" pitchFamily="49" charset="0"/>
              </a:rPr>
              <a:t>Total elements in a 2D Array: </a:t>
            </a:r>
            <a:r>
              <a:rPr lang="en-US" b="1" dirty="0" err="1">
                <a:latin typeface="Trebuchet MS" panose="020B0603020202020204" pitchFamily="34" charset="0"/>
                <a:cs typeface="Courier New" panose="02070309020205020404" pitchFamily="49" charset="0"/>
              </a:rPr>
              <a:t>M_rows</a:t>
            </a:r>
            <a:r>
              <a:rPr lang="en-US" b="1" dirty="0">
                <a:latin typeface="Trebuchet MS" panose="020B0603020202020204" pitchFamily="34" charset="0"/>
                <a:cs typeface="Courier New" panose="02070309020205020404" pitchFamily="49" charset="0"/>
              </a:rPr>
              <a:t> * N_coulmns</a:t>
            </a:r>
            <a:r>
              <a:rPr lang="en-US" sz="2800" b="1" dirty="0">
                <a:latin typeface="Trebuchet MS" panose="020B0603020202020204" pitchFamily="34" charset="0"/>
                <a:cs typeface="Courier New" panose="02070309020205020404" pitchFamily="49" charset="0"/>
              </a:rPr>
              <a:t>	</a:t>
            </a:r>
            <a:endParaRPr lang="en-US" dirty="0">
              <a:latin typeface="Trebuchet MS" panose="020B0603020202020204" pitchFamily="34" charset="0"/>
              <a:cs typeface="Courier New" panose="02070309020205020404" pitchFamily="49" charset="0"/>
            </a:endParaRPr>
          </a:p>
        </p:txBody>
      </p:sp>
      <p:pic>
        <p:nvPicPr>
          <p:cNvPr id="1026" name="Picture 2" descr="Dynamic memory allocation in C++ for 2D arra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2667715"/>
            <a:ext cx="4419600" cy="3330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609600" y="3276600"/>
            <a:ext cx="2286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Ptr2D</a:t>
            </a:r>
          </a:p>
          <a:p>
            <a:r>
              <a:rPr lang="en-US" b="1" dirty="0">
                <a:solidFill>
                  <a:srgbClr val="2C14DE"/>
                </a:solidFill>
              </a:rPr>
              <a:t>(Pointer to a Pointer)</a:t>
            </a:r>
          </a:p>
        </p:txBody>
      </p:sp>
      <p:sp>
        <p:nvSpPr>
          <p:cNvPr id="9" name="Freeform 8"/>
          <p:cNvSpPr/>
          <p:nvPr/>
        </p:nvSpPr>
        <p:spPr>
          <a:xfrm>
            <a:off x="1182279" y="2665358"/>
            <a:ext cx="2931736" cy="678871"/>
          </a:xfrm>
          <a:custGeom>
            <a:avLst/>
            <a:gdLst>
              <a:gd name="connsiteX0" fmla="*/ 0 w 2931736"/>
              <a:gd name="connsiteY0" fmla="*/ 678871 h 678871"/>
              <a:gd name="connsiteX1" fmla="*/ 838985 w 2931736"/>
              <a:gd name="connsiteY1" fmla="*/ 141 h 678871"/>
              <a:gd name="connsiteX2" fmla="*/ 2931736 w 2931736"/>
              <a:gd name="connsiteY2" fmla="*/ 631736 h 678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31736" h="678871">
                <a:moveTo>
                  <a:pt x="0" y="678871"/>
                </a:moveTo>
                <a:cubicBezTo>
                  <a:pt x="175181" y="343434"/>
                  <a:pt x="350362" y="7997"/>
                  <a:pt x="838985" y="141"/>
                </a:cubicBezTo>
                <a:cubicBezTo>
                  <a:pt x="1327608" y="-7715"/>
                  <a:pt x="2129672" y="312010"/>
                  <a:pt x="2931736" y="631736"/>
                </a:cubicBezTo>
              </a:path>
            </a:pathLst>
          </a:custGeom>
          <a:noFill/>
          <a:ln>
            <a:solidFill>
              <a:schemeClr val="accent2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07228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829733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b="1" dirty="0">
                <a:solidFill>
                  <a:srgbClr val="B80000"/>
                </a:solidFill>
                <a:cs typeface="+mj-cs"/>
              </a:rPr>
              <a:t>Dynamic 2D Array – Double Pointer</a:t>
            </a:r>
            <a:endParaRPr lang="fr-FR" b="1" dirty="0">
              <a:solidFill>
                <a:srgbClr val="B80000"/>
              </a:solidFill>
              <a:cs typeface="+mj-cs"/>
            </a:endParaRPr>
          </a:p>
        </p:txBody>
      </p:sp>
      <p:pic>
        <p:nvPicPr>
          <p:cNvPr id="25603" name="Image 5" descr="Screen Shot 2012-08-29 at 11.06.11 AM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500"/>
          <a:stretch/>
        </p:blipFill>
        <p:spPr bwMode="auto">
          <a:xfrm>
            <a:off x="304800" y="1066800"/>
            <a:ext cx="80772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38100" y="897256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526889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562600" y="152400"/>
            <a:ext cx="3352800" cy="2286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2800" b="1" dirty="0">
                <a:solidFill>
                  <a:srgbClr val="B80000"/>
                </a:solidFill>
                <a:cs typeface="+mj-cs"/>
              </a:rPr>
              <a:t>Dynamic two dimensional arrays</a:t>
            </a:r>
            <a:endParaRPr lang="fr-FR" sz="2800" b="1" dirty="0">
              <a:solidFill>
                <a:srgbClr val="B80000"/>
              </a:solidFill>
              <a:cs typeface="+mj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l="12500" t="13703" r="54167" b="10742"/>
          <a:stretch/>
        </p:blipFill>
        <p:spPr>
          <a:xfrm>
            <a:off x="76200" y="114693"/>
            <a:ext cx="8610600" cy="66903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610100" y="3124200"/>
            <a:ext cx="3429000" cy="1219200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Can we vary size of each column in Dynamic 2D Array (using double pointer)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33800" y="4532289"/>
            <a:ext cx="5181600" cy="17526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PP 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 start of array of pointers</a:t>
            </a:r>
          </a:p>
          <a:p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*PP  First Address pointed by first row (sub array)</a:t>
            </a:r>
          </a:p>
          <a:p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*(*PP)  First value of first array </a:t>
            </a:r>
          </a:p>
          <a:p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(*PP)++  Move to next address in the first array</a:t>
            </a:r>
          </a:p>
          <a:p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PP++  Move to Next row (second array address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3630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679857" y="304800"/>
            <a:ext cx="3352800" cy="13716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3200" b="1" dirty="0">
                <a:solidFill>
                  <a:srgbClr val="B80000"/>
                </a:solidFill>
              </a:rPr>
              <a:t>Dynamic 2D Array</a:t>
            </a:r>
            <a:br>
              <a:rPr lang="en-US" sz="2400" b="1" dirty="0">
                <a:solidFill>
                  <a:srgbClr val="B80000"/>
                </a:solidFill>
              </a:rPr>
            </a:br>
            <a:r>
              <a:rPr lang="en-US" sz="2400" b="1" dirty="0">
                <a:solidFill>
                  <a:srgbClr val="2F1BC7"/>
                </a:solidFill>
              </a:rPr>
              <a:t>(Varying Row Size)</a:t>
            </a:r>
            <a:endParaRPr lang="fr-FR" sz="2400" b="1" dirty="0">
              <a:solidFill>
                <a:srgbClr val="2F1BC7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7520" y="2819400"/>
            <a:ext cx="2657475" cy="14859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625" y="152400"/>
            <a:ext cx="5641490" cy="47244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625" y="4879942"/>
            <a:ext cx="5004062" cy="1758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52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1" dirty="0">
                <a:solidFill>
                  <a:srgbClr val="B80000"/>
                </a:solidFill>
                <a:cs typeface="+mj-cs"/>
              </a:rPr>
              <a:t>Home Work</a:t>
            </a:r>
            <a:endParaRPr lang="fr-FR" b="1" dirty="0">
              <a:solidFill>
                <a:srgbClr val="B80000"/>
              </a:solidFill>
              <a:cs typeface="+mj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8100" y="897256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52400" y="1124146"/>
            <a:ext cx="845820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Clr>
                <a:srgbClr val="FF0000"/>
              </a:buClr>
              <a:buNone/>
            </a:pPr>
            <a:r>
              <a:rPr lang="en-US" b="1" dirty="0">
                <a:solidFill>
                  <a:srgbClr val="2C14DE"/>
                </a:solidFill>
                <a:latin typeface="Trebuchet MS" panose="020B0603020202020204" pitchFamily="34" charset="0"/>
                <a:cs typeface="Courier New" panose="02070309020205020404" pitchFamily="49" charset="0"/>
              </a:rPr>
              <a:t>- Manipulating a 3D Array</a:t>
            </a:r>
          </a:p>
          <a:p>
            <a:pPr marL="1371600" lvl="2" indent="-514350">
              <a:buClr>
                <a:srgbClr val="FF0000"/>
              </a:buClr>
              <a:buFont typeface="+mj-lt"/>
              <a:buAutoNum type="arabicPeriod"/>
            </a:pPr>
            <a:r>
              <a:rPr lang="en-US" sz="2400" b="1" dirty="0">
                <a:latin typeface="Trebuchet MS" panose="020B0603020202020204" pitchFamily="34" charset="0"/>
                <a:cs typeface="Courier New" panose="02070309020205020404" pitchFamily="49" charset="0"/>
              </a:rPr>
              <a:t>Using a single pointer</a:t>
            </a:r>
          </a:p>
          <a:p>
            <a:pPr marL="1371600" lvl="2" indent="-514350">
              <a:buClr>
                <a:srgbClr val="FF0000"/>
              </a:buClr>
              <a:buFont typeface="+mj-lt"/>
              <a:buAutoNum type="arabicPeriod"/>
            </a:pPr>
            <a:r>
              <a:rPr lang="en-US" b="1" dirty="0">
                <a:latin typeface="Trebuchet MS" panose="020B0603020202020204" pitchFamily="34" charset="0"/>
                <a:cs typeface="Courier New" panose="02070309020205020404" pitchFamily="49" charset="0"/>
              </a:rPr>
              <a:t>Using a triple pointer</a:t>
            </a:r>
          </a:p>
        </p:txBody>
      </p:sp>
      <p:pic>
        <p:nvPicPr>
          <p:cNvPr id="2050" name="Picture 2" descr="Image result for 3D arra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6450" y="2743200"/>
            <a:ext cx="4991100" cy="2407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507786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77000" y="228600"/>
            <a:ext cx="2433320" cy="1143000"/>
          </a:xfrm>
        </p:spPr>
        <p:txBody>
          <a:bodyPr>
            <a:normAutofit/>
          </a:bodyPr>
          <a:lstStyle/>
          <a:p>
            <a:pPr lvl="1" algn="ctr" rtl="0">
              <a:spcBef>
                <a:spcPct val="0"/>
              </a:spcBef>
              <a:defRPr/>
            </a:pPr>
            <a:r>
              <a:rPr lang="en-US" sz="2400" b="1" u="sng" dirty="0">
                <a:solidFill>
                  <a:srgbClr val="C00000"/>
                </a:solidFill>
                <a:latin typeface="Trebuchet MS" panose="020B0603020202020204" pitchFamily="34" charset="0"/>
                <a:cs typeface="Courier New" panose="02070309020205020404" pitchFamily="49" charset="0"/>
              </a:rPr>
              <a:t>3D Array Using a single pointer</a:t>
            </a:r>
            <a:endParaRPr lang="fr-FR" sz="2400" b="1" u="sng" dirty="0">
              <a:solidFill>
                <a:srgbClr val="C00000"/>
              </a:solidFill>
              <a:cs typeface="+mj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l="12500" t="14444" r="52500" b="12222"/>
          <a:stretch/>
        </p:blipFill>
        <p:spPr>
          <a:xfrm>
            <a:off x="76200" y="25400"/>
            <a:ext cx="6019800" cy="678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64450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867400" y="228600"/>
            <a:ext cx="3048000" cy="914400"/>
          </a:xfrm>
        </p:spPr>
        <p:txBody>
          <a:bodyPr>
            <a:normAutofit fontScale="90000"/>
          </a:bodyPr>
          <a:lstStyle/>
          <a:p>
            <a:pPr lvl="1" algn="ctr" rtl="0">
              <a:spcBef>
                <a:spcPct val="0"/>
              </a:spcBef>
              <a:defRPr/>
            </a:pPr>
            <a:r>
              <a:rPr lang="en-US" sz="2800" b="1" u="sng" dirty="0">
                <a:solidFill>
                  <a:srgbClr val="C00000"/>
                </a:solidFill>
                <a:latin typeface="Trebuchet MS" panose="020B0603020202020204" pitchFamily="34" charset="0"/>
                <a:cs typeface="Courier New" panose="02070309020205020404" pitchFamily="49" charset="0"/>
              </a:rPr>
              <a:t>3D Array Using a triple pointer</a:t>
            </a:r>
            <a:endParaRPr lang="fr-FR" sz="2800" b="1" u="sng" dirty="0">
              <a:solidFill>
                <a:srgbClr val="C00000"/>
              </a:solidFill>
              <a:cs typeface="+mj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l="21667" t="14444" r="55000" b="12222"/>
          <a:stretch/>
        </p:blipFill>
        <p:spPr>
          <a:xfrm>
            <a:off x="25400" y="32657"/>
            <a:ext cx="8890000" cy="6825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32989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6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-1"/>
            <a:ext cx="8229600" cy="868681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Constant Pointer</a:t>
            </a:r>
          </a:p>
        </p:txBody>
      </p:sp>
      <p:sp>
        <p:nvSpPr>
          <p:cNvPr id="385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064" y="990600"/>
            <a:ext cx="9095936" cy="5777132"/>
          </a:xfrm>
        </p:spPr>
        <p:txBody>
          <a:bodyPr>
            <a:noAutofit/>
          </a:bodyPr>
          <a:lstStyle/>
          <a:p>
            <a:pPr algn="just"/>
            <a:r>
              <a:rPr lang="en-US" sz="3000" dirty="0">
                <a:latin typeface="+mj-lt"/>
              </a:rPr>
              <a:t>A </a:t>
            </a:r>
            <a:r>
              <a:rPr lang="en-US" sz="3000" b="1" dirty="0">
                <a:solidFill>
                  <a:srgbClr val="2F1BC7"/>
                </a:solidFill>
                <a:latin typeface="+mj-lt"/>
              </a:rPr>
              <a:t>constant pointer</a:t>
            </a:r>
            <a:r>
              <a:rPr lang="en-US" sz="3000" b="1" dirty="0">
                <a:latin typeface="+mj-lt"/>
              </a:rPr>
              <a:t> </a:t>
            </a:r>
            <a:r>
              <a:rPr lang="en-US" sz="3000" dirty="0">
                <a:latin typeface="+mj-lt"/>
              </a:rPr>
              <a:t>is a </a:t>
            </a:r>
            <a:r>
              <a:rPr lang="en-US" sz="3000" b="1" dirty="0">
                <a:solidFill>
                  <a:srgbClr val="2F1BC7"/>
                </a:solidFill>
                <a:latin typeface="+mj-lt"/>
              </a:rPr>
              <a:t>pointer</a:t>
            </a:r>
            <a:r>
              <a:rPr lang="en-US" sz="3000" dirty="0">
                <a:latin typeface="+mj-lt"/>
              </a:rPr>
              <a:t> that is </a:t>
            </a:r>
            <a:r>
              <a:rPr lang="en-US" sz="3000" b="1" u="sng" dirty="0">
                <a:solidFill>
                  <a:srgbClr val="C00000"/>
                </a:solidFill>
                <a:latin typeface="+mj-lt"/>
              </a:rPr>
              <a:t>constant</a:t>
            </a:r>
            <a:r>
              <a:rPr lang="en-US" sz="3000" dirty="0">
                <a:latin typeface="+mj-lt"/>
              </a:rPr>
              <a:t>, such that we </a:t>
            </a:r>
            <a:r>
              <a:rPr lang="en-US" sz="3000" b="1" dirty="0">
                <a:solidFill>
                  <a:srgbClr val="2F1BC7"/>
                </a:solidFill>
                <a:latin typeface="+mj-lt"/>
              </a:rPr>
              <a:t>cannot change</a:t>
            </a:r>
            <a:r>
              <a:rPr lang="en-US" sz="3000" b="1" dirty="0">
                <a:latin typeface="+mj-lt"/>
              </a:rPr>
              <a:t> </a:t>
            </a:r>
            <a:r>
              <a:rPr lang="en-US" sz="3000" dirty="0">
                <a:latin typeface="+mj-lt"/>
              </a:rPr>
              <a:t>the </a:t>
            </a:r>
            <a:r>
              <a:rPr lang="en-US" sz="3000" b="1" dirty="0">
                <a:solidFill>
                  <a:srgbClr val="2F1BC7"/>
                </a:solidFill>
                <a:latin typeface="+mj-lt"/>
              </a:rPr>
              <a:t>location</a:t>
            </a:r>
            <a:r>
              <a:rPr lang="en-US" sz="3000" dirty="0">
                <a:solidFill>
                  <a:srgbClr val="2F1BC7"/>
                </a:solidFill>
                <a:latin typeface="+mj-lt"/>
              </a:rPr>
              <a:t> </a:t>
            </a:r>
            <a:r>
              <a:rPr lang="en-US" sz="3000" dirty="0">
                <a:latin typeface="+mj-lt"/>
              </a:rPr>
              <a:t>(</a:t>
            </a:r>
            <a:r>
              <a:rPr lang="en-US" sz="3000" b="1" dirty="0">
                <a:latin typeface="+mj-lt"/>
              </a:rPr>
              <a:t>address</a:t>
            </a:r>
            <a:r>
              <a:rPr lang="en-US" sz="3000" dirty="0">
                <a:latin typeface="+mj-lt"/>
              </a:rPr>
              <a:t>) to which the pointer points to:</a:t>
            </a:r>
          </a:p>
          <a:p>
            <a:endParaRPr lang="en-US" sz="2800" dirty="0">
              <a:latin typeface="+mj-lt"/>
            </a:endParaRPr>
          </a:p>
          <a:p>
            <a:pPr lvl="2">
              <a:buNone/>
            </a:pPr>
            <a:r>
              <a:rPr lang="en-US" sz="3000" dirty="0">
                <a:latin typeface="+mj-lt"/>
              </a:rPr>
              <a:t>	  </a:t>
            </a:r>
            <a:r>
              <a:rPr lang="en-US" sz="2800" b="1" dirty="0">
                <a:solidFill>
                  <a:srgbClr val="2F1BC7"/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en-US" sz="2800" b="1" dirty="0">
                <a:latin typeface="Courier New" pitchFamily="49" charset="0"/>
                <a:cs typeface="Courier New" pitchFamily="49" charset="0"/>
              </a:rPr>
              <a:t> c = 'c';</a:t>
            </a:r>
          </a:p>
          <a:p>
            <a:pPr lvl="2">
              <a:buNone/>
            </a:pPr>
            <a:r>
              <a:rPr lang="en-US" sz="2800" b="1" dirty="0">
                <a:latin typeface="Courier New" pitchFamily="49" charset="0"/>
                <a:cs typeface="Courier New" pitchFamily="49" charset="0"/>
              </a:rPr>
              <a:t>	 </a:t>
            </a:r>
            <a:r>
              <a:rPr lang="en-US" sz="2800" b="1" dirty="0">
                <a:solidFill>
                  <a:srgbClr val="2F1BC7"/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en-US" sz="2800" b="1" dirty="0">
                <a:latin typeface="Courier New" pitchFamily="49" charset="0"/>
                <a:cs typeface="Courier New" pitchFamily="49" charset="0"/>
              </a:rPr>
              <a:t> d = 'd';</a:t>
            </a:r>
          </a:p>
          <a:p>
            <a:pPr lvl="2">
              <a:buNone/>
            </a:pPr>
            <a:r>
              <a:rPr lang="en-US" sz="2800" b="1" dirty="0">
                <a:latin typeface="Courier New" pitchFamily="49" charset="0"/>
                <a:cs typeface="Courier New" pitchFamily="49" charset="0"/>
              </a:rPr>
              <a:t>	 </a:t>
            </a:r>
            <a:r>
              <a:rPr lang="en-US" sz="2800" b="1" dirty="0">
                <a:solidFill>
                  <a:srgbClr val="2F1BC7"/>
                </a:solidFill>
                <a:latin typeface="Courier New" pitchFamily="49" charset="0"/>
                <a:cs typeface="Courier New" pitchFamily="49" charset="0"/>
              </a:rPr>
              <a:t>char* const</a:t>
            </a:r>
            <a:r>
              <a:rPr lang="en-US" sz="2800" b="1" dirty="0">
                <a:latin typeface="Courier New" pitchFamily="49" charset="0"/>
                <a:cs typeface="Courier New" pitchFamily="49" charset="0"/>
              </a:rPr>
              <a:t> ptr1 = &amp;c;</a:t>
            </a:r>
          </a:p>
          <a:p>
            <a:pPr lvl="2">
              <a:buNone/>
            </a:pPr>
            <a:r>
              <a:rPr lang="en-US" sz="2800" b="1" dirty="0">
                <a:latin typeface="Courier New" pitchFamily="49" charset="0"/>
                <a:cs typeface="Courier New" pitchFamily="49" charset="0"/>
              </a:rPr>
              <a:t>	 ptr1 = &amp;d;  // </a:t>
            </a:r>
            <a:r>
              <a:rPr lang="en-US" sz="28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Not Allowed</a:t>
            </a:r>
          </a:p>
          <a:p>
            <a:pPr lvl="2">
              <a:buNone/>
            </a:pPr>
            <a:endParaRPr lang="en-US" sz="2800" b="1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  <a:p>
            <a:pPr lvl="2">
              <a:buNone/>
            </a:pPr>
            <a:endParaRPr lang="en-US" sz="2800" b="1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200" b="1" dirty="0" err="1">
                <a:solidFill>
                  <a:srgbClr val="B800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200" b="1" dirty="0">
                <a:solidFill>
                  <a:srgbClr val="B80000"/>
                </a:solidFill>
                <a:latin typeface="Courier New" pitchFamily="49" charset="0"/>
                <a:cs typeface="Courier New" pitchFamily="49" charset="0"/>
              </a:rPr>
              <a:t>* </a:t>
            </a:r>
            <a:r>
              <a:rPr lang="en-US" sz="2200" b="1" dirty="0" err="1">
                <a:solidFill>
                  <a:srgbClr val="B80000"/>
                </a:solidFill>
                <a:latin typeface="Courier New" pitchFamily="49" charset="0"/>
                <a:cs typeface="Courier New" pitchFamily="49" charset="0"/>
              </a:rPr>
              <a:t>const</a:t>
            </a:r>
            <a:r>
              <a:rPr lang="en-US" sz="2200" b="1" dirty="0">
                <a:solidFill>
                  <a:srgbClr val="B8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200" b="1" dirty="0" err="1">
                <a:solidFill>
                  <a:srgbClr val="B80000"/>
                </a:solidFill>
                <a:latin typeface="Courier New" pitchFamily="49" charset="0"/>
                <a:cs typeface="Courier New" pitchFamily="49" charset="0"/>
              </a:rPr>
              <a:t>ptrInt</a:t>
            </a:r>
            <a:r>
              <a:rPr lang="en-US" sz="2200" b="1" dirty="0">
                <a:solidFill>
                  <a:srgbClr val="B80000"/>
                </a:solidFill>
                <a:latin typeface="Courier New" pitchFamily="49" charset="0"/>
                <a:cs typeface="Courier New" pitchFamily="49" charset="0"/>
              </a:rPr>
              <a:t>=&amp;v1; 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//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</a:rPr>
              <a:t>ptr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is </a:t>
            </a:r>
            <a:r>
              <a:rPr lang="en-US" sz="1800" b="1" dirty="0">
                <a:solidFill>
                  <a:srgbClr val="2F1BC7"/>
                </a:solidFill>
                <a:latin typeface="Courier New" pitchFamily="49" charset="0"/>
                <a:cs typeface="Courier New" pitchFamily="49" charset="0"/>
              </a:rPr>
              <a:t>constant pointer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to </a:t>
            </a:r>
            <a:r>
              <a:rPr lang="en-US" sz="1800" b="1" dirty="0" err="1">
                <a:solidFill>
                  <a:srgbClr val="2F1BC7"/>
                </a:solidFill>
                <a:latin typeface="Courier New" pitchFamily="49" charset="0"/>
                <a:cs typeface="Courier New" pitchFamily="49" charset="0"/>
              </a:rPr>
              <a:t>int</a:t>
            </a:r>
            <a:endParaRPr lang="en-US" sz="1800" b="1" dirty="0">
              <a:solidFill>
                <a:srgbClr val="2F1BC7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8686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373368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6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-19563"/>
            <a:ext cx="8229600" cy="888244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Pointer to Constant 1/2</a:t>
            </a:r>
          </a:p>
        </p:txBody>
      </p:sp>
      <p:sp>
        <p:nvSpPr>
          <p:cNvPr id="385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064" y="976532"/>
            <a:ext cx="9095936" cy="5791200"/>
          </a:xfrm>
        </p:spPr>
        <p:txBody>
          <a:bodyPr>
            <a:noAutofit/>
          </a:bodyPr>
          <a:lstStyle/>
          <a:p>
            <a:r>
              <a:rPr lang="en-US" sz="2800" dirty="0"/>
              <a:t>we </a:t>
            </a:r>
            <a:r>
              <a:rPr lang="en-US" sz="2800" b="1" dirty="0">
                <a:solidFill>
                  <a:srgbClr val="B80000"/>
                </a:solidFill>
              </a:rPr>
              <a:t>cannot</a:t>
            </a:r>
            <a:r>
              <a:rPr lang="en-US" sz="2800" dirty="0"/>
              <a:t> set a </a:t>
            </a:r>
            <a:r>
              <a:rPr lang="en-US" sz="2800" b="1" dirty="0">
                <a:solidFill>
                  <a:srgbClr val="2F1BC7"/>
                </a:solidFill>
              </a:rPr>
              <a:t>non-</a:t>
            </a:r>
            <a:r>
              <a:rPr lang="en-US" sz="2800" b="1" dirty="0" err="1">
                <a:solidFill>
                  <a:srgbClr val="2F1BC7"/>
                </a:solidFill>
              </a:rPr>
              <a:t>const</a:t>
            </a:r>
            <a:r>
              <a:rPr lang="en-US" sz="2800" b="1" dirty="0">
                <a:solidFill>
                  <a:srgbClr val="2F1BC7"/>
                </a:solidFill>
              </a:rPr>
              <a:t> pointer </a:t>
            </a:r>
            <a:r>
              <a:rPr lang="en-US" sz="2800" dirty="0"/>
              <a:t>to a </a:t>
            </a:r>
            <a:r>
              <a:rPr lang="en-US" sz="2800" b="1" dirty="0" err="1">
                <a:solidFill>
                  <a:srgbClr val="2F1BC7"/>
                </a:solidFill>
              </a:rPr>
              <a:t>const</a:t>
            </a:r>
            <a:r>
              <a:rPr lang="en-US" sz="2800" b="1" dirty="0">
                <a:solidFill>
                  <a:srgbClr val="2F1BC7"/>
                </a:solidFill>
              </a:rPr>
              <a:t> data-item</a:t>
            </a:r>
          </a:p>
          <a:p>
            <a:endParaRPr lang="en-US" sz="2800" dirty="0">
              <a:latin typeface="+mj-lt"/>
            </a:endParaRPr>
          </a:p>
          <a:p>
            <a:pPr marL="0" indent="0" latinLnBrk="1">
              <a:buNone/>
            </a:pPr>
            <a:r>
              <a:rPr lang="en-US" sz="2000" b="1" dirty="0" err="1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2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value = 5; </a:t>
            </a:r>
            <a:r>
              <a:rPr lang="en-US" sz="2000" b="1" dirty="0">
                <a:solidFill>
                  <a:srgbClr val="2F1BC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value is </a:t>
            </a:r>
            <a:r>
              <a:rPr lang="en-US" sz="2000" b="1" dirty="0" err="1">
                <a:solidFill>
                  <a:srgbClr val="2F1BC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endParaRPr lang="en-US" sz="2000" b="1" dirty="0">
              <a:solidFill>
                <a:srgbClr val="2F1BC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latinLnBrk="1">
              <a:buNone/>
            </a:pPr>
            <a:r>
              <a:rPr lang="en-US" sz="2000" b="1" dirty="0" err="1">
                <a:solidFill>
                  <a:srgbClr val="B8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solidFill>
                  <a:srgbClr val="B8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sz="2000" b="1" dirty="0" err="1">
                <a:solidFill>
                  <a:srgbClr val="B8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sz="2000" b="1" dirty="0">
                <a:solidFill>
                  <a:srgbClr val="B8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&amp;value; </a:t>
            </a:r>
            <a:r>
              <a:rPr lang="en-US" sz="1400" b="1" dirty="0">
                <a:solidFill>
                  <a:srgbClr val="2F1BC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compile error: cannot convert </a:t>
            </a:r>
            <a:r>
              <a:rPr lang="en-US" sz="1400" b="1" u="sng" dirty="0" err="1">
                <a:solidFill>
                  <a:srgbClr val="2F1BC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400" b="1" u="sng" dirty="0">
                <a:solidFill>
                  <a:srgbClr val="2F1BC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u="sng" dirty="0" err="1">
                <a:solidFill>
                  <a:srgbClr val="2F1BC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 b="1" u="sng" dirty="0">
                <a:solidFill>
                  <a:srgbClr val="2F1BC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 to </a:t>
            </a:r>
            <a:r>
              <a:rPr lang="en-US" sz="1400" b="1" u="sng" dirty="0" err="1">
                <a:solidFill>
                  <a:srgbClr val="2F1BC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 b="1" u="sng" dirty="0">
                <a:solidFill>
                  <a:srgbClr val="2F1BC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endParaRPr lang="en-US" sz="2000" b="1" u="sng" dirty="0">
              <a:solidFill>
                <a:srgbClr val="2F1BC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latinLnBrk="1">
              <a:buNone/>
            </a:pPr>
            <a:r>
              <a:rPr lang="en-US" sz="2000" b="1" dirty="0">
                <a:solidFill>
                  <a:srgbClr val="B8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sz="2000" b="1" dirty="0" err="1">
                <a:solidFill>
                  <a:srgbClr val="B8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sz="2000" b="1" dirty="0">
                <a:solidFill>
                  <a:srgbClr val="B8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6; </a:t>
            </a:r>
            <a:r>
              <a:rPr lang="en-US" sz="2000" b="1" dirty="0">
                <a:solidFill>
                  <a:srgbClr val="2F1BC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change value to 6</a:t>
            </a:r>
          </a:p>
          <a:p>
            <a:pPr marL="0" indent="0" latinLnBrk="1">
              <a:buNone/>
            </a:pPr>
            <a:endParaRPr lang="en-US" sz="2000" b="1" dirty="0">
              <a:solidFill>
                <a:srgbClr val="2F1BC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latinLnBrk="1">
              <a:buNone/>
            </a:pPr>
            <a:endParaRPr lang="en-US" sz="2000" b="1" dirty="0">
              <a:solidFill>
                <a:srgbClr val="2F1BC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latinLnBrk="1">
              <a:buNone/>
            </a:pPr>
            <a:endParaRPr lang="en-US" sz="2000" b="1" dirty="0">
              <a:solidFill>
                <a:srgbClr val="2F1BC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latinLnBrk="1">
              <a:buNone/>
            </a:pPr>
            <a:r>
              <a:rPr lang="en-US" sz="2000" b="1" dirty="0" err="1">
                <a:solidFill>
                  <a:srgbClr val="008000"/>
                </a:solidFill>
              </a:rPr>
              <a:t>const</a:t>
            </a:r>
            <a:r>
              <a:rPr lang="en-US" sz="2000" b="1" dirty="0">
                <a:solidFill>
                  <a:srgbClr val="008000"/>
                </a:solidFill>
              </a:rPr>
              <a:t> </a:t>
            </a:r>
            <a:r>
              <a:rPr lang="en-US" sz="2000" b="1" dirty="0" err="1">
                <a:solidFill>
                  <a:srgbClr val="008000"/>
                </a:solidFill>
              </a:rPr>
              <a:t>int</a:t>
            </a:r>
            <a:r>
              <a:rPr lang="en-US" sz="2000" b="1" dirty="0">
                <a:solidFill>
                  <a:srgbClr val="008000"/>
                </a:solidFill>
              </a:rPr>
              <a:t> value = 5;</a:t>
            </a:r>
          </a:p>
          <a:p>
            <a:pPr marL="0" indent="0" latinLnBrk="1">
              <a:buNone/>
            </a:pPr>
            <a:r>
              <a:rPr lang="en-US" sz="2000" b="1" dirty="0" err="1">
                <a:solidFill>
                  <a:srgbClr val="008000"/>
                </a:solidFill>
              </a:rPr>
              <a:t>const</a:t>
            </a:r>
            <a:r>
              <a:rPr lang="en-US" sz="2000" b="1" dirty="0">
                <a:solidFill>
                  <a:srgbClr val="008000"/>
                </a:solidFill>
              </a:rPr>
              <a:t> </a:t>
            </a:r>
            <a:r>
              <a:rPr lang="en-US" sz="2000" b="1" dirty="0" err="1">
                <a:solidFill>
                  <a:srgbClr val="008000"/>
                </a:solidFill>
              </a:rPr>
              <a:t>int</a:t>
            </a:r>
            <a:r>
              <a:rPr lang="en-US" sz="2000" b="1" dirty="0">
                <a:solidFill>
                  <a:srgbClr val="008000"/>
                </a:solidFill>
              </a:rPr>
              <a:t> *</a:t>
            </a:r>
            <a:r>
              <a:rPr lang="en-US" sz="2000" b="1" dirty="0" err="1">
                <a:solidFill>
                  <a:srgbClr val="008000"/>
                </a:solidFill>
              </a:rPr>
              <a:t>ptr</a:t>
            </a:r>
            <a:r>
              <a:rPr lang="en-US" sz="2000" b="1" dirty="0">
                <a:solidFill>
                  <a:srgbClr val="008000"/>
                </a:solidFill>
              </a:rPr>
              <a:t> = &amp;value; </a:t>
            </a:r>
            <a:r>
              <a:rPr lang="en-US" sz="2000" b="1" dirty="0">
                <a:solidFill>
                  <a:srgbClr val="2F1BC7"/>
                </a:solidFill>
              </a:rPr>
              <a:t>// this is okay, </a:t>
            </a:r>
          </a:p>
          <a:p>
            <a:pPr marL="0" indent="0" latinLnBrk="1">
              <a:buNone/>
            </a:pPr>
            <a:r>
              <a:rPr lang="en-US" sz="2000" b="1" dirty="0">
                <a:solidFill>
                  <a:srgbClr val="B80000"/>
                </a:solidFill>
              </a:rPr>
              <a:t>*</a:t>
            </a:r>
            <a:r>
              <a:rPr lang="en-US" sz="2000" b="1" dirty="0" err="1">
                <a:solidFill>
                  <a:srgbClr val="B80000"/>
                </a:solidFill>
              </a:rPr>
              <a:t>ptr</a:t>
            </a:r>
            <a:r>
              <a:rPr lang="en-US" sz="2000" b="1" dirty="0">
                <a:solidFill>
                  <a:srgbClr val="B80000"/>
                </a:solidFill>
              </a:rPr>
              <a:t> = 6; </a:t>
            </a:r>
            <a:r>
              <a:rPr lang="en-US" sz="2000" b="1" dirty="0">
                <a:solidFill>
                  <a:srgbClr val="2F1BC7"/>
                </a:solidFill>
              </a:rPr>
              <a:t>// not allowed, we cannot change a </a:t>
            </a:r>
            <a:r>
              <a:rPr lang="en-US" sz="2000" b="1" dirty="0" err="1">
                <a:solidFill>
                  <a:srgbClr val="2F1BC7"/>
                </a:solidFill>
              </a:rPr>
              <a:t>const</a:t>
            </a:r>
            <a:r>
              <a:rPr lang="en-US" sz="2000" b="1" dirty="0">
                <a:solidFill>
                  <a:srgbClr val="2F1BC7"/>
                </a:solidFill>
              </a:rPr>
              <a:t> value</a:t>
            </a:r>
          </a:p>
          <a:p>
            <a:pPr marL="0" indent="0" latinLnBrk="1">
              <a:buNone/>
            </a:pPr>
            <a:endParaRPr lang="en-US" sz="2000" b="1" dirty="0">
              <a:solidFill>
                <a:srgbClr val="2F1BC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8686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508430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6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-19563"/>
            <a:ext cx="8229600" cy="888244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Pointer </a:t>
            </a:r>
            <a:r>
              <a:rPr lang="en-US" b="1">
                <a:solidFill>
                  <a:srgbClr val="C00000"/>
                </a:solidFill>
              </a:rPr>
              <a:t>to Constant 2/2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85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064" y="976532"/>
            <a:ext cx="9095936" cy="5791200"/>
          </a:xfrm>
        </p:spPr>
        <p:txBody>
          <a:bodyPr>
            <a:noAutofit/>
          </a:bodyPr>
          <a:lstStyle/>
          <a:p>
            <a:r>
              <a:rPr lang="en-US" sz="3000" dirty="0">
                <a:latin typeface="+mj-lt"/>
              </a:rPr>
              <a:t>A </a:t>
            </a:r>
            <a:r>
              <a:rPr lang="en-US" sz="3000" b="1" dirty="0">
                <a:solidFill>
                  <a:srgbClr val="2F1BC7"/>
                </a:solidFill>
              </a:rPr>
              <a:t>pointer</a:t>
            </a:r>
            <a:r>
              <a:rPr lang="en-US" sz="3000" dirty="0"/>
              <a:t> through which we </a:t>
            </a:r>
            <a:r>
              <a:rPr lang="en-US" sz="3000" b="1" dirty="0">
                <a:solidFill>
                  <a:srgbClr val="2F1BC7"/>
                </a:solidFill>
              </a:rPr>
              <a:t>cannot change </a:t>
            </a:r>
            <a:r>
              <a:rPr lang="en-US" sz="3000" dirty="0"/>
              <a:t>the </a:t>
            </a:r>
            <a:r>
              <a:rPr lang="en-US" sz="3000" b="1" dirty="0">
                <a:solidFill>
                  <a:srgbClr val="2F1BC7"/>
                </a:solidFill>
              </a:rPr>
              <a:t>value</a:t>
            </a:r>
            <a:r>
              <a:rPr lang="en-US" sz="3000" dirty="0"/>
              <a:t> of </a:t>
            </a:r>
            <a:r>
              <a:rPr lang="en-US" sz="3000" b="1" dirty="0">
                <a:solidFill>
                  <a:srgbClr val="2F1BC7"/>
                </a:solidFill>
              </a:rPr>
              <a:t>variable</a:t>
            </a:r>
            <a:r>
              <a:rPr lang="en-US" sz="3000" dirty="0"/>
              <a:t> it </a:t>
            </a:r>
            <a:r>
              <a:rPr lang="en-US" sz="3000" b="1" dirty="0">
                <a:solidFill>
                  <a:srgbClr val="2F1BC7"/>
                </a:solidFill>
              </a:rPr>
              <a:t>points</a:t>
            </a:r>
            <a:r>
              <a:rPr lang="en-US" sz="3000" dirty="0"/>
              <a:t> is known as a</a:t>
            </a:r>
            <a:r>
              <a:rPr lang="en-US" sz="3000" dirty="0">
                <a:solidFill>
                  <a:srgbClr val="2F1BC7"/>
                </a:solidFill>
              </a:rPr>
              <a:t> </a:t>
            </a:r>
            <a:r>
              <a:rPr lang="en-US" sz="3000" b="1" dirty="0">
                <a:solidFill>
                  <a:srgbClr val="2F1BC7"/>
                </a:solidFill>
              </a:rPr>
              <a:t>pointer </a:t>
            </a:r>
            <a:r>
              <a:rPr lang="en-US" sz="3000" b="1" dirty="0"/>
              <a:t>to</a:t>
            </a:r>
            <a:r>
              <a:rPr lang="en-US" sz="3000" b="1" dirty="0">
                <a:solidFill>
                  <a:srgbClr val="2F1BC7"/>
                </a:solidFill>
              </a:rPr>
              <a:t> constant</a:t>
            </a:r>
            <a:r>
              <a:rPr lang="en-US" sz="3000" dirty="0">
                <a:solidFill>
                  <a:srgbClr val="2F1BC7"/>
                </a:solidFill>
              </a:rPr>
              <a:t>. </a:t>
            </a:r>
          </a:p>
          <a:p>
            <a:r>
              <a:rPr lang="en-US" sz="3000" dirty="0"/>
              <a:t>These type of pointers </a:t>
            </a:r>
            <a:r>
              <a:rPr lang="en-US" sz="3000" b="1" dirty="0">
                <a:solidFill>
                  <a:srgbClr val="2F1BC7"/>
                </a:solidFill>
              </a:rPr>
              <a:t>can change</a:t>
            </a:r>
            <a:r>
              <a:rPr lang="en-US" sz="3000" dirty="0">
                <a:solidFill>
                  <a:srgbClr val="2F1BC7"/>
                </a:solidFill>
              </a:rPr>
              <a:t> </a:t>
            </a:r>
            <a:r>
              <a:rPr lang="en-US" sz="3000" dirty="0"/>
              <a:t>the</a:t>
            </a:r>
            <a:r>
              <a:rPr lang="en-US" sz="3000" dirty="0">
                <a:solidFill>
                  <a:srgbClr val="2F1BC7"/>
                </a:solidFill>
              </a:rPr>
              <a:t> </a:t>
            </a:r>
            <a:r>
              <a:rPr lang="en-US" sz="3000" b="1" dirty="0">
                <a:solidFill>
                  <a:srgbClr val="2F1BC7"/>
                </a:solidFill>
              </a:rPr>
              <a:t>address</a:t>
            </a:r>
            <a:r>
              <a:rPr lang="en-US" sz="3000" dirty="0">
                <a:solidFill>
                  <a:srgbClr val="2F1BC7"/>
                </a:solidFill>
              </a:rPr>
              <a:t> </a:t>
            </a:r>
            <a:r>
              <a:rPr lang="en-US" sz="3000" dirty="0"/>
              <a:t>they point to but </a:t>
            </a:r>
            <a:r>
              <a:rPr lang="en-US" sz="3000" b="1" dirty="0">
                <a:solidFill>
                  <a:srgbClr val="2F1BC7"/>
                </a:solidFill>
              </a:rPr>
              <a:t>cannot change </a:t>
            </a:r>
            <a:r>
              <a:rPr lang="en-US" sz="3000" dirty="0"/>
              <a:t>the</a:t>
            </a:r>
            <a:r>
              <a:rPr lang="en-US" sz="3000" dirty="0">
                <a:solidFill>
                  <a:srgbClr val="2F1BC7"/>
                </a:solidFill>
              </a:rPr>
              <a:t> </a:t>
            </a:r>
            <a:r>
              <a:rPr lang="en-US" sz="3000" b="1" dirty="0">
                <a:solidFill>
                  <a:srgbClr val="2F1BC7"/>
                </a:solidFill>
              </a:rPr>
              <a:t>value</a:t>
            </a:r>
            <a:r>
              <a:rPr lang="en-US" sz="3000" dirty="0"/>
              <a:t> kept at </a:t>
            </a:r>
            <a:r>
              <a:rPr lang="en-US" sz="3000" dirty="0">
                <a:solidFill>
                  <a:srgbClr val="2F1BC7"/>
                </a:solidFill>
              </a:rPr>
              <a:t>those address</a:t>
            </a:r>
            <a:r>
              <a:rPr lang="en-US" sz="3000" dirty="0"/>
              <a:t>.</a:t>
            </a:r>
            <a:endParaRPr lang="en-US" sz="3000" dirty="0">
              <a:latin typeface="+mj-lt"/>
            </a:endParaRPr>
          </a:p>
          <a:p>
            <a:endParaRPr lang="en-US" sz="2800" dirty="0">
              <a:latin typeface="+mj-lt"/>
            </a:endParaRPr>
          </a:p>
          <a:p>
            <a:pPr lvl="2">
              <a:buNone/>
            </a:pPr>
            <a:r>
              <a:rPr lang="en-US" sz="3200" dirty="0" err="1">
                <a:solidFill>
                  <a:srgbClr val="2F1BC7"/>
                </a:solidFill>
              </a:rPr>
              <a:t>int</a:t>
            </a:r>
            <a:r>
              <a:rPr lang="en-US" sz="3200" dirty="0"/>
              <a:t> var1 = 0; </a:t>
            </a:r>
          </a:p>
          <a:p>
            <a:pPr lvl="2">
              <a:buNone/>
            </a:pPr>
            <a:r>
              <a:rPr lang="en-US" sz="3200" dirty="0">
                <a:solidFill>
                  <a:srgbClr val="2F1BC7"/>
                </a:solidFill>
              </a:rPr>
              <a:t>const </a:t>
            </a:r>
            <a:r>
              <a:rPr lang="en-US" sz="3200" dirty="0" err="1">
                <a:solidFill>
                  <a:srgbClr val="2F1BC7"/>
                </a:solidFill>
              </a:rPr>
              <a:t>int</a:t>
            </a:r>
            <a:r>
              <a:rPr lang="en-US" sz="3200" dirty="0">
                <a:solidFill>
                  <a:srgbClr val="2F1BC7"/>
                </a:solidFill>
              </a:rPr>
              <a:t>*</a:t>
            </a:r>
            <a:r>
              <a:rPr lang="en-US" sz="3200" dirty="0"/>
              <a:t> </a:t>
            </a:r>
            <a:r>
              <a:rPr lang="en-US" sz="3200" dirty="0" err="1"/>
              <a:t>ptr</a:t>
            </a:r>
            <a:r>
              <a:rPr lang="en-US" sz="3200" dirty="0"/>
              <a:t> = &amp;var1; </a:t>
            </a:r>
          </a:p>
          <a:p>
            <a:pPr lvl="2">
              <a:buNone/>
            </a:pPr>
            <a:r>
              <a:rPr lang="en-US" sz="3200" dirty="0"/>
              <a:t>*</a:t>
            </a:r>
            <a:r>
              <a:rPr lang="en-US" sz="3200" dirty="0" err="1"/>
              <a:t>ptr</a:t>
            </a:r>
            <a:r>
              <a:rPr lang="en-US" sz="3200" dirty="0"/>
              <a:t> = 1;  // </a:t>
            </a:r>
            <a:r>
              <a:rPr lang="en-US" sz="3200" dirty="0">
                <a:solidFill>
                  <a:srgbClr val="B80000"/>
                </a:solidFill>
              </a:rPr>
              <a:t>Not Allowed</a:t>
            </a:r>
          </a:p>
          <a:p>
            <a:pPr lvl="2">
              <a:buNone/>
            </a:pPr>
            <a:r>
              <a:rPr lang="en-US" sz="3200" dirty="0"/>
              <a:t> </a:t>
            </a:r>
            <a:r>
              <a:rPr lang="en-US" sz="3200" dirty="0" err="1"/>
              <a:t>cout</a:t>
            </a:r>
            <a:r>
              <a:rPr lang="en-US" sz="3200" dirty="0"/>
              <a:t>&lt;&lt;*</a:t>
            </a:r>
            <a:r>
              <a:rPr lang="en-US" sz="3200" dirty="0" err="1"/>
              <a:t>ptr</a:t>
            </a:r>
            <a:r>
              <a:rPr lang="en-US" sz="3200" dirty="0"/>
              <a:t>;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8686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125963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6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-19563"/>
            <a:ext cx="8229600" cy="888244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char* and </a:t>
            </a:r>
            <a:r>
              <a:rPr lang="en-US" b="1" dirty="0" err="1">
                <a:solidFill>
                  <a:srgbClr val="C00000"/>
                </a:solidFill>
              </a:rPr>
              <a:t>const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85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064" y="976532"/>
            <a:ext cx="9095936" cy="5791200"/>
          </a:xfrm>
        </p:spPr>
        <p:txBody>
          <a:bodyPr>
            <a:noAutofit/>
          </a:bodyPr>
          <a:lstStyle/>
          <a:p>
            <a:r>
              <a:rPr lang="en-US" sz="28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const</a:t>
            </a:r>
            <a:r>
              <a:rPr lang="en-US" sz="2800" b="1" dirty="0">
                <a:solidFill>
                  <a:srgbClr val="C00000"/>
                </a:solidFill>
                <a:latin typeface="Consolas" panose="020B0609020204030204" pitchFamily="49" charset="0"/>
              </a:rPr>
              <a:t> char *</a:t>
            </a:r>
            <a:r>
              <a:rPr lang="en-US" sz="28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ptr</a:t>
            </a:r>
            <a:r>
              <a:rPr lang="en-US" sz="2800" b="1" dirty="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en-US" sz="2800" b="1" dirty="0"/>
              <a:t>:</a:t>
            </a:r>
            <a:r>
              <a:rPr lang="en-US" sz="2800" dirty="0"/>
              <a:t> This is a pointer to a constant character.</a:t>
            </a:r>
            <a:r>
              <a:rPr lang="en-US" sz="2800" b="1" dirty="0"/>
              <a:t> You cannot change the value pointed by </a:t>
            </a:r>
            <a:r>
              <a:rPr lang="en-US" sz="2800" b="1" dirty="0" err="1"/>
              <a:t>ptr</a:t>
            </a:r>
            <a:r>
              <a:rPr lang="en-US" sz="2800" b="1" dirty="0"/>
              <a:t>, but you can change the pointer itself</a:t>
            </a:r>
            <a:r>
              <a:rPr lang="en-US" sz="2800" dirty="0"/>
              <a:t>. “</a:t>
            </a:r>
            <a:r>
              <a:rPr lang="en-US" sz="2800" dirty="0" err="1"/>
              <a:t>const</a:t>
            </a:r>
            <a:r>
              <a:rPr lang="en-US" sz="2800" dirty="0"/>
              <a:t> char *” is a (non-</a:t>
            </a:r>
            <a:r>
              <a:rPr lang="en-US" sz="2800" dirty="0" err="1"/>
              <a:t>const</a:t>
            </a:r>
            <a:r>
              <a:rPr lang="en-US" sz="2800" dirty="0"/>
              <a:t>) pointer to a </a:t>
            </a:r>
            <a:r>
              <a:rPr lang="en-US" sz="2800" dirty="0" err="1"/>
              <a:t>const</a:t>
            </a:r>
            <a:r>
              <a:rPr lang="en-US" sz="2800" dirty="0"/>
              <a:t> char.</a:t>
            </a:r>
          </a:p>
          <a:p>
            <a:endParaRPr lang="en-US" sz="2800" b="1" dirty="0"/>
          </a:p>
          <a:p>
            <a:r>
              <a:rPr lang="en-US" sz="2800" b="1" dirty="0">
                <a:solidFill>
                  <a:srgbClr val="C00000"/>
                </a:solidFill>
                <a:latin typeface="Consolas" panose="020B0609020204030204" pitchFamily="49" charset="0"/>
              </a:rPr>
              <a:t>char *</a:t>
            </a:r>
            <a:r>
              <a:rPr lang="en-US" sz="28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const</a:t>
            </a:r>
            <a:r>
              <a:rPr lang="en-US" sz="2800" b="1" dirty="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en-US" sz="28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ptr</a:t>
            </a:r>
            <a:r>
              <a:rPr lang="en-US" sz="2800" b="1" dirty="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en-US" sz="2800" b="1" dirty="0"/>
              <a:t>: </a:t>
            </a:r>
            <a:r>
              <a:rPr lang="en-US" sz="2800" dirty="0"/>
              <a:t>This is a constant pointer to non-constant character. </a:t>
            </a:r>
            <a:r>
              <a:rPr lang="en-US" sz="2800" b="1" dirty="0"/>
              <a:t>You cannot change the pointer p, but can change the value pointed by </a:t>
            </a:r>
            <a:r>
              <a:rPr lang="en-US" sz="2800" b="1" dirty="0" err="1"/>
              <a:t>ptr</a:t>
            </a:r>
            <a:r>
              <a:rPr lang="en-US" sz="2800" b="1" dirty="0"/>
              <a:t>.</a:t>
            </a:r>
          </a:p>
          <a:p>
            <a:endParaRPr lang="en-US" sz="2800" b="1" dirty="0"/>
          </a:p>
          <a:p>
            <a:r>
              <a:rPr lang="en-US" sz="28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const</a:t>
            </a:r>
            <a:r>
              <a:rPr lang="en-US" sz="2800" b="1" dirty="0">
                <a:solidFill>
                  <a:srgbClr val="C00000"/>
                </a:solidFill>
                <a:latin typeface="Consolas" panose="020B0609020204030204" pitchFamily="49" charset="0"/>
              </a:rPr>
              <a:t> char * </a:t>
            </a:r>
            <a:r>
              <a:rPr lang="en-US" sz="28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const</a:t>
            </a:r>
            <a:r>
              <a:rPr lang="en-US" sz="2800" b="1" dirty="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en-US" sz="28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ptr</a:t>
            </a:r>
            <a:r>
              <a:rPr lang="en-US" sz="2800" b="1" dirty="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en-US" sz="2800" b="1" dirty="0"/>
              <a:t>: </a:t>
            </a:r>
            <a:r>
              <a:rPr lang="en-US" sz="2800" dirty="0"/>
              <a:t>This is a constant pointer to constant character. </a:t>
            </a:r>
            <a:r>
              <a:rPr lang="en-US" sz="2800" b="1" dirty="0"/>
              <a:t>You can neither change the value pointed by </a:t>
            </a:r>
            <a:r>
              <a:rPr lang="en-US" sz="2800" b="1" dirty="0" err="1"/>
              <a:t>ptr</a:t>
            </a:r>
            <a:r>
              <a:rPr lang="en-US" sz="2800" b="1" dirty="0"/>
              <a:t> nor the pointer </a:t>
            </a:r>
            <a:r>
              <a:rPr lang="en-US" sz="2800" b="1" dirty="0" err="1"/>
              <a:t>ptr</a:t>
            </a:r>
            <a:r>
              <a:rPr lang="en-US" sz="2800" b="1" dirty="0"/>
              <a:t>.</a:t>
            </a:r>
            <a:endParaRPr lang="en-US" sz="2800" dirty="0"/>
          </a:p>
        </p:txBody>
      </p:sp>
      <p:sp>
        <p:nvSpPr>
          <p:cNvPr id="10" name="Rectangle 9"/>
          <p:cNvSpPr/>
          <p:nvPr/>
        </p:nvSpPr>
        <p:spPr>
          <a:xfrm>
            <a:off x="0" y="8686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988156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6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-19563"/>
            <a:ext cx="8229600" cy="888244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C-String and Char Pointer</a:t>
            </a:r>
          </a:p>
        </p:txBody>
      </p:sp>
      <p:sp>
        <p:nvSpPr>
          <p:cNvPr id="385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064" y="976532"/>
            <a:ext cx="9095936" cy="57912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/>
            <a:r>
              <a:rPr lang="en-US" sz="2800" dirty="0"/>
              <a:t>A </a:t>
            </a:r>
            <a:r>
              <a:rPr lang="en-US" sz="2800" b="1" dirty="0">
                <a:solidFill>
                  <a:srgbClr val="B80000"/>
                </a:solidFill>
              </a:rPr>
              <a:t>String:</a:t>
            </a:r>
            <a:r>
              <a:rPr lang="en-US" sz="2800" dirty="0">
                <a:solidFill>
                  <a:srgbClr val="B80000"/>
                </a:solidFill>
              </a:rPr>
              <a:t> </a:t>
            </a:r>
            <a:r>
              <a:rPr lang="en-US" sz="2800" dirty="0"/>
              <a:t>is simply defined as </a:t>
            </a:r>
            <a:r>
              <a:rPr lang="en-US" sz="2800" b="1" dirty="0">
                <a:solidFill>
                  <a:srgbClr val="2C14DE"/>
                </a:solidFill>
              </a:rPr>
              <a:t>an array of characters 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2C14DE"/>
                </a:solidFill>
              </a:rPr>
              <a:t>      </a:t>
            </a:r>
            <a:r>
              <a:rPr lang="en-US" sz="2800" b="1" dirty="0">
                <a:solidFill>
                  <a:srgbClr val="2C14DE"/>
                </a:solidFill>
              </a:rPr>
              <a:t>char* s; </a:t>
            </a:r>
            <a:br>
              <a:rPr lang="en-US" sz="2800" b="1" dirty="0">
                <a:solidFill>
                  <a:srgbClr val="2C14DE"/>
                </a:solidFill>
              </a:rPr>
            </a:br>
            <a:r>
              <a:rPr lang="en-US" sz="2800" b="1" dirty="0">
                <a:solidFill>
                  <a:srgbClr val="2C14DE"/>
                </a:solidFill>
              </a:rPr>
              <a:t>     </a:t>
            </a:r>
            <a:r>
              <a:rPr lang="en-US" sz="2800" b="1" dirty="0"/>
              <a:t>// </a:t>
            </a:r>
            <a:r>
              <a:rPr lang="en-US" sz="2800" b="1" dirty="0">
                <a:solidFill>
                  <a:srgbClr val="2C14DE"/>
                </a:solidFill>
              </a:rPr>
              <a:t>s</a:t>
            </a:r>
            <a:r>
              <a:rPr lang="en-US" sz="2800" dirty="0"/>
              <a:t> is the </a:t>
            </a:r>
            <a:r>
              <a:rPr lang="en-US" sz="2800" b="1" dirty="0">
                <a:solidFill>
                  <a:srgbClr val="2C14DE"/>
                </a:solidFill>
              </a:rPr>
              <a:t>address</a:t>
            </a:r>
            <a:r>
              <a:rPr lang="en-US" sz="2800" dirty="0">
                <a:solidFill>
                  <a:srgbClr val="2C14DE"/>
                </a:solidFill>
              </a:rPr>
              <a:t> </a:t>
            </a:r>
            <a:r>
              <a:rPr lang="en-US" sz="2800" dirty="0"/>
              <a:t>of the </a:t>
            </a:r>
            <a:r>
              <a:rPr lang="en-US" sz="2800" b="1" dirty="0">
                <a:solidFill>
                  <a:srgbClr val="2C14DE"/>
                </a:solidFill>
              </a:rPr>
              <a:t>first character </a:t>
            </a:r>
            <a:r>
              <a:rPr lang="en-US" sz="2800" dirty="0"/>
              <a:t>(byte) of the </a:t>
            </a:r>
            <a:r>
              <a:rPr lang="en-US" sz="2800" b="1" dirty="0">
                <a:solidFill>
                  <a:srgbClr val="2C14DE"/>
                </a:solidFill>
              </a:rPr>
              <a:t>string</a:t>
            </a:r>
          </a:p>
          <a:p>
            <a:pPr marL="0" indent="0">
              <a:buNone/>
            </a:pPr>
            <a:endParaRPr lang="en-US" sz="2800" b="1" dirty="0">
              <a:solidFill>
                <a:srgbClr val="2C14DE"/>
              </a:solidFill>
            </a:endParaRPr>
          </a:p>
          <a:p>
            <a:r>
              <a:rPr lang="en-US" sz="2800" dirty="0"/>
              <a:t>A </a:t>
            </a:r>
            <a:r>
              <a:rPr lang="en-US" sz="2800" b="1" dirty="0">
                <a:solidFill>
                  <a:srgbClr val="2C14DE"/>
                </a:solidFill>
              </a:rPr>
              <a:t>valid</a:t>
            </a:r>
            <a:r>
              <a:rPr lang="en-US" sz="2800" dirty="0">
                <a:solidFill>
                  <a:srgbClr val="2C14DE"/>
                </a:solidFill>
              </a:rPr>
              <a:t> </a:t>
            </a:r>
            <a:r>
              <a:rPr lang="en-US" sz="2800" b="1" dirty="0">
                <a:solidFill>
                  <a:srgbClr val="2C14DE"/>
                </a:solidFill>
              </a:rPr>
              <a:t>C string ends</a:t>
            </a:r>
            <a:r>
              <a:rPr lang="en-US" sz="2800" dirty="0">
                <a:solidFill>
                  <a:srgbClr val="2C14DE"/>
                </a:solidFill>
              </a:rPr>
              <a:t> </a:t>
            </a:r>
            <a:r>
              <a:rPr lang="en-US" sz="2800" dirty="0"/>
              <a:t>with the </a:t>
            </a:r>
            <a:r>
              <a:rPr lang="en-US" sz="2800" b="1" dirty="0">
                <a:solidFill>
                  <a:srgbClr val="2C14DE"/>
                </a:solidFill>
              </a:rPr>
              <a:t>null character </a:t>
            </a:r>
            <a:r>
              <a:rPr lang="en-US" sz="2800" b="1" dirty="0"/>
              <a:t>‘\0’</a:t>
            </a:r>
            <a:r>
              <a:rPr lang="en-US" sz="2800" dirty="0"/>
              <a:t> </a:t>
            </a:r>
          </a:p>
          <a:p>
            <a:endParaRPr lang="en-US" sz="2800" dirty="0">
              <a:solidFill>
                <a:srgbClr val="2F1BC7"/>
              </a:solidFill>
            </a:endParaRPr>
          </a:p>
          <a:p>
            <a:r>
              <a:rPr lang="en-US" sz="2800" b="1" dirty="0"/>
              <a:t>Direct initialization </a:t>
            </a:r>
            <a:r>
              <a:rPr lang="en-US" sz="2800" dirty="0">
                <a:solidFill>
                  <a:srgbClr val="2F1BC7"/>
                </a:solidFill>
              </a:rPr>
              <a:t>char* </a:t>
            </a:r>
            <a:r>
              <a:rPr lang="en-US" sz="2800" dirty="0">
                <a:sym typeface="Wingdings" pitchFamily="2" charset="2"/>
              </a:rPr>
              <a:t>&lt;</a:t>
            </a:r>
            <a:r>
              <a:rPr lang="en-US" sz="2800" dirty="0">
                <a:solidFill>
                  <a:srgbClr val="008000"/>
                </a:solidFill>
                <a:sym typeface="Wingdings" pitchFamily="2" charset="2"/>
              </a:rPr>
              <a:t>string Literal</a:t>
            </a:r>
            <a:r>
              <a:rPr lang="en-US" sz="2800" dirty="0">
                <a:sym typeface="Wingdings" pitchFamily="2" charset="2"/>
              </a:rPr>
              <a:t>&gt;;</a:t>
            </a:r>
            <a:endParaRPr lang="en-US" sz="2800" b="1" dirty="0">
              <a:solidFill>
                <a:srgbClr val="2C14DE"/>
              </a:solidFill>
            </a:endParaRPr>
          </a:p>
          <a:p>
            <a:pPr marL="0" indent="0">
              <a:buNone/>
            </a:pPr>
            <a:endParaRPr lang="en-US" sz="2800" b="1" dirty="0"/>
          </a:p>
          <a:p>
            <a:pPr marL="457200" lvl="1" indent="0">
              <a:buNone/>
            </a:pPr>
            <a:r>
              <a:rPr lang="en-US" sz="2000" b="1" dirty="0">
                <a:solidFill>
                  <a:srgbClr val="2C14DE"/>
                </a:solidFill>
              </a:rPr>
              <a:t> 		</a:t>
            </a:r>
            <a:r>
              <a:rPr lang="en-US" sz="2000" b="1" dirty="0">
                <a:solidFill>
                  <a:srgbClr val="2C14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char* s=“FAST”;</a:t>
            </a:r>
          </a:p>
          <a:p>
            <a:pPr marL="457200" lvl="1" indent="0"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&lt;&lt;s&lt;&lt;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(s);</a:t>
            </a:r>
          </a:p>
          <a:p>
            <a:pPr marL="457200" lvl="1" indent="0"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&lt;&lt;++s&lt;&lt;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(s);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8686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325534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6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-19563"/>
            <a:ext cx="8229600" cy="888244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char [ ] VS. char *</a:t>
            </a:r>
          </a:p>
        </p:txBody>
      </p:sp>
      <p:sp>
        <p:nvSpPr>
          <p:cNvPr id="385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064" y="976532"/>
            <a:ext cx="9095936" cy="471268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B8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char A[20]=“FAST”;   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>
                <a:solidFill>
                  <a:srgbClr val="B8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char* P=“FAST”;</a:t>
            </a:r>
          </a:p>
          <a:p>
            <a:pPr marL="457200" lvl="1" indent="0">
              <a:buNone/>
            </a:pPr>
            <a:r>
              <a:rPr lang="en-US" sz="2000" b="1" dirty="0">
                <a:solidFill>
                  <a:srgbClr val="2C14DE"/>
                </a:solidFill>
              </a:rPr>
              <a:t> 		</a:t>
            </a:r>
            <a:r>
              <a:rPr lang="en-US" sz="2000" b="1" dirty="0">
                <a:solidFill>
                  <a:srgbClr val="2C14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8686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3" name="Straight Connector 2"/>
          <p:cNvCxnSpPr>
            <a:stCxn id="385027" idx="0"/>
          </p:cNvCxnSpPr>
          <p:nvPr/>
        </p:nvCxnSpPr>
        <p:spPr>
          <a:xfrm>
            <a:off x="4596032" y="976532"/>
            <a:ext cx="128368" cy="59576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28600" y="1676400"/>
            <a:ext cx="436743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US" b="1" dirty="0">
                <a:solidFill>
                  <a:srgbClr val="2F1BC7"/>
                </a:solidFill>
              </a:rPr>
              <a:t>A</a:t>
            </a:r>
            <a:r>
              <a:rPr lang="en-US" b="1" dirty="0"/>
              <a:t> is an </a:t>
            </a:r>
            <a:r>
              <a:rPr lang="en-US" b="1" dirty="0">
                <a:solidFill>
                  <a:srgbClr val="2F1BC7"/>
                </a:solidFill>
              </a:rPr>
              <a:t>Array</a:t>
            </a:r>
          </a:p>
          <a:p>
            <a:pPr marL="342900" indent="-342900">
              <a:buAutoNum type="arabicParenR"/>
            </a:pPr>
            <a:endParaRPr lang="en-US" b="1" dirty="0"/>
          </a:p>
          <a:p>
            <a:pPr marL="342900" indent="-342900">
              <a:buAutoNum type="arabicParenR"/>
            </a:pPr>
            <a:r>
              <a:rPr lang="en-US" b="1" dirty="0"/>
              <a:t>A++; //</a:t>
            </a:r>
            <a:r>
              <a:rPr lang="en-US" b="1" dirty="0">
                <a:solidFill>
                  <a:srgbClr val="B80000"/>
                </a:solidFill>
              </a:rPr>
              <a:t>invalid</a:t>
            </a:r>
          </a:p>
          <a:p>
            <a:pPr marL="342900" indent="-342900">
              <a:buAutoNum type="arabicParenR"/>
            </a:pPr>
            <a:endParaRPr lang="en-US" b="1" dirty="0"/>
          </a:p>
          <a:p>
            <a:pPr marL="342900" indent="-342900">
              <a:buAutoNum type="arabicParenR"/>
            </a:pPr>
            <a:r>
              <a:rPr lang="en-US" b="1" dirty="0" err="1"/>
              <a:t>sizeof</a:t>
            </a:r>
            <a:r>
              <a:rPr lang="en-US" b="1" dirty="0"/>
              <a:t>(A)  </a:t>
            </a:r>
            <a:r>
              <a:rPr lang="en-US" b="1" dirty="0">
                <a:sym typeface="Wingdings" panose="05000000000000000000" pitchFamily="2" charset="2"/>
              </a:rPr>
              <a:t> </a:t>
            </a:r>
            <a:r>
              <a:rPr lang="en-US" b="1" dirty="0">
                <a:solidFill>
                  <a:srgbClr val="2F1BC7"/>
                </a:solidFill>
                <a:sym typeface="Wingdings" panose="05000000000000000000" pitchFamily="2" charset="2"/>
              </a:rPr>
              <a:t>20 Characters </a:t>
            </a:r>
            <a:r>
              <a:rPr lang="en-US" b="1" dirty="0">
                <a:sym typeface="Wingdings" panose="05000000000000000000" pitchFamily="2" charset="2"/>
              </a:rPr>
              <a:t>or bytes</a:t>
            </a:r>
          </a:p>
          <a:p>
            <a:pPr marL="342900" indent="-342900">
              <a:buAutoNum type="arabicParenR"/>
            </a:pPr>
            <a:endParaRPr lang="en-US" b="1" dirty="0">
              <a:sym typeface="Wingdings" panose="05000000000000000000" pitchFamily="2" charset="2"/>
            </a:endParaRPr>
          </a:p>
          <a:p>
            <a:pPr marL="342900" indent="-342900">
              <a:buAutoNum type="arabicParenR"/>
            </a:pPr>
            <a:r>
              <a:rPr lang="en-US" b="1" dirty="0">
                <a:solidFill>
                  <a:srgbClr val="2F1BC7"/>
                </a:solidFill>
                <a:sym typeface="Wingdings" panose="05000000000000000000" pitchFamily="2" charset="2"/>
              </a:rPr>
              <a:t>A</a:t>
            </a:r>
            <a:r>
              <a:rPr lang="en-US" b="1" dirty="0">
                <a:sym typeface="Wingdings" panose="05000000000000000000" pitchFamily="2" charset="2"/>
              </a:rPr>
              <a:t> and </a:t>
            </a:r>
            <a:r>
              <a:rPr lang="en-US" b="1" dirty="0">
                <a:solidFill>
                  <a:srgbClr val="2F1BC7"/>
                </a:solidFill>
                <a:sym typeface="Wingdings" panose="05000000000000000000" pitchFamily="2" charset="2"/>
              </a:rPr>
              <a:t>&amp;A </a:t>
            </a:r>
            <a:r>
              <a:rPr lang="en-US" b="1" dirty="0">
                <a:sym typeface="Wingdings" panose="05000000000000000000" pitchFamily="2" charset="2"/>
              </a:rPr>
              <a:t>points to </a:t>
            </a:r>
            <a:r>
              <a:rPr lang="en-US" b="1" dirty="0">
                <a:solidFill>
                  <a:srgbClr val="2F1BC7"/>
                </a:solidFill>
                <a:sym typeface="Wingdings" panose="05000000000000000000" pitchFamily="2" charset="2"/>
              </a:rPr>
              <a:t>same memory </a:t>
            </a:r>
          </a:p>
          <a:p>
            <a:r>
              <a:rPr lang="en-US" b="1" dirty="0">
                <a:solidFill>
                  <a:srgbClr val="2F1BC7"/>
                </a:solidFill>
                <a:sym typeface="Wingdings" panose="05000000000000000000" pitchFamily="2" charset="2"/>
              </a:rPr>
              <a:t>address</a:t>
            </a:r>
          </a:p>
          <a:p>
            <a:endParaRPr lang="en-US" b="1" dirty="0">
              <a:sym typeface="Wingdings" panose="05000000000000000000" pitchFamily="2" charset="2"/>
            </a:endParaRPr>
          </a:p>
          <a:p>
            <a:r>
              <a:rPr lang="en-US" b="1" dirty="0">
                <a:sym typeface="Wingdings" panose="05000000000000000000" pitchFamily="2" charset="2"/>
              </a:rPr>
              <a:t>5) A=“PAKISTAN”; //</a:t>
            </a:r>
            <a:r>
              <a:rPr lang="en-US" b="1" dirty="0">
                <a:solidFill>
                  <a:srgbClr val="B80000"/>
                </a:solidFill>
                <a:sym typeface="Wingdings" panose="05000000000000000000" pitchFamily="2" charset="2"/>
              </a:rPr>
              <a:t>invalid</a:t>
            </a:r>
          </a:p>
          <a:p>
            <a:r>
              <a:rPr lang="en-US" b="1" dirty="0">
                <a:sym typeface="Wingdings" panose="05000000000000000000" pitchFamily="2" charset="2"/>
              </a:rPr>
              <a:t>A is an address, “PAKISTAN” is the start address where “PAKISTAN” string is stored in memory.</a:t>
            </a:r>
          </a:p>
          <a:p>
            <a:endParaRPr lang="en-US" b="1" dirty="0">
              <a:sym typeface="Wingdings" panose="05000000000000000000" pitchFamily="2" charset="2"/>
            </a:endParaRPr>
          </a:p>
          <a:p>
            <a:r>
              <a:rPr lang="en-US" b="1" dirty="0">
                <a:sym typeface="Wingdings" panose="05000000000000000000" pitchFamily="2" charset="2"/>
              </a:rPr>
              <a:t>6) A[0]=‘p’; //</a:t>
            </a:r>
            <a:r>
              <a:rPr lang="en-US" b="1" dirty="0">
                <a:solidFill>
                  <a:srgbClr val="008000"/>
                </a:solidFill>
                <a:sym typeface="Wingdings" panose="05000000000000000000" pitchFamily="2" charset="2"/>
              </a:rPr>
              <a:t>Valid</a:t>
            </a:r>
          </a:p>
          <a:p>
            <a:endParaRPr lang="en-US" b="1" dirty="0">
              <a:sym typeface="Wingdings" panose="05000000000000000000" pitchFamily="2" charset="2"/>
            </a:endParaRPr>
          </a:p>
          <a:p>
            <a:r>
              <a:rPr lang="en-US" b="1" dirty="0">
                <a:sym typeface="Wingdings" panose="05000000000000000000" pitchFamily="2" charset="2"/>
              </a:rPr>
              <a:t>7) </a:t>
            </a:r>
            <a:r>
              <a:rPr lang="en-US" b="1" dirty="0">
                <a:solidFill>
                  <a:srgbClr val="B80000"/>
                </a:solidFill>
                <a:sym typeface="Wingdings" panose="05000000000000000000" pitchFamily="2" charset="2"/>
              </a:rPr>
              <a:t>A</a:t>
            </a:r>
            <a:r>
              <a:rPr lang="en-US" b="1" dirty="0">
                <a:sym typeface="Wingdings" panose="05000000000000000000" pitchFamily="2" charset="2"/>
              </a:rPr>
              <a:t> is </a:t>
            </a:r>
            <a:r>
              <a:rPr lang="en-US" b="1" dirty="0">
                <a:solidFill>
                  <a:srgbClr val="2F1BC7"/>
                </a:solidFill>
                <a:sym typeface="Wingdings" panose="05000000000000000000" pitchFamily="2" charset="2"/>
              </a:rPr>
              <a:t>stored</a:t>
            </a:r>
            <a:r>
              <a:rPr lang="en-US" b="1" dirty="0">
                <a:sym typeface="Wingdings" panose="05000000000000000000" pitchFamily="2" charset="2"/>
              </a:rPr>
              <a:t> in </a:t>
            </a:r>
            <a:r>
              <a:rPr lang="en-US" b="1" dirty="0">
                <a:solidFill>
                  <a:srgbClr val="2F1BC7"/>
                </a:solidFill>
                <a:sym typeface="Wingdings" panose="05000000000000000000" pitchFamily="2" charset="2"/>
              </a:rPr>
              <a:t>stack </a:t>
            </a:r>
            <a:endParaRPr lang="en-US" b="1" dirty="0">
              <a:sym typeface="Wingdings" panose="05000000000000000000" pitchFamily="2" charset="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706833" y="1617978"/>
            <a:ext cx="436096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US" b="1" dirty="0">
                <a:solidFill>
                  <a:srgbClr val="2F1BC7"/>
                </a:solidFill>
              </a:rPr>
              <a:t>P</a:t>
            </a:r>
            <a:r>
              <a:rPr lang="en-US" b="1" dirty="0"/>
              <a:t> is a </a:t>
            </a:r>
            <a:r>
              <a:rPr lang="en-US" b="1" dirty="0">
                <a:solidFill>
                  <a:srgbClr val="2F1BC7"/>
                </a:solidFill>
              </a:rPr>
              <a:t>pointer variable</a:t>
            </a:r>
          </a:p>
          <a:p>
            <a:pPr marL="342900" indent="-342900">
              <a:buAutoNum type="arabicParenR"/>
            </a:pPr>
            <a:endParaRPr lang="en-US" b="1" dirty="0"/>
          </a:p>
          <a:p>
            <a:pPr marL="342900" indent="-342900">
              <a:buAutoNum type="arabicParenR"/>
            </a:pPr>
            <a:r>
              <a:rPr lang="en-US" b="1" dirty="0"/>
              <a:t>P++; //</a:t>
            </a:r>
            <a:r>
              <a:rPr lang="en-US" b="1" dirty="0">
                <a:solidFill>
                  <a:srgbClr val="008000"/>
                </a:solidFill>
              </a:rPr>
              <a:t>Valid</a:t>
            </a:r>
          </a:p>
          <a:p>
            <a:pPr marL="342900" indent="-342900">
              <a:buAutoNum type="arabicParenR"/>
            </a:pPr>
            <a:endParaRPr lang="en-US" b="1" dirty="0"/>
          </a:p>
          <a:p>
            <a:pPr marL="342900" indent="-342900">
              <a:buFontTx/>
              <a:buAutoNum type="arabicParenR"/>
            </a:pPr>
            <a:r>
              <a:rPr lang="en-US" b="1" dirty="0" err="1"/>
              <a:t>Sizeof</a:t>
            </a:r>
            <a:r>
              <a:rPr lang="en-US" b="1" dirty="0"/>
              <a:t>(P)  </a:t>
            </a:r>
            <a:r>
              <a:rPr lang="en-US" b="1" dirty="0">
                <a:sym typeface="Wingdings" panose="05000000000000000000" pitchFamily="2" charset="2"/>
              </a:rPr>
              <a:t> </a:t>
            </a:r>
            <a:r>
              <a:rPr lang="en-US" b="1" dirty="0">
                <a:solidFill>
                  <a:srgbClr val="2F1BC7"/>
                </a:solidFill>
                <a:sym typeface="Wingdings" panose="05000000000000000000" pitchFamily="2" charset="2"/>
              </a:rPr>
              <a:t>4 Characters </a:t>
            </a:r>
            <a:r>
              <a:rPr lang="en-US" b="1" dirty="0">
                <a:sym typeface="Wingdings" panose="05000000000000000000" pitchFamily="2" charset="2"/>
              </a:rPr>
              <a:t>or bytes</a:t>
            </a:r>
          </a:p>
          <a:p>
            <a:pPr marL="342900" indent="-342900">
              <a:buFontTx/>
              <a:buAutoNum type="arabicParenR"/>
            </a:pPr>
            <a:endParaRPr lang="en-US" b="1" dirty="0"/>
          </a:p>
          <a:p>
            <a:pPr marL="342900" indent="-342900">
              <a:buAutoNum type="arabicParenR"/>
            </a:pPr>
            <a:r>
              <a:rPr lang="en-US" b="1" dirty="0"/>
              <a:t> </a:t>
            </a:r>
            <a:r>
              <a:rPr lang="en-US" b="1" dirty="0">
                <a:solidFill>
                  <a:srgbClr val="2F1BC7"/>
                </a:solidFill>
              </a:rPr>
              <a:t>P</a:t>
            </a:r>
            <a:r>
              <a:rPr lang="en-US" b="1" dirty="0"/>
              <a:t> </a:t>
            </a:r>
            <a:r>
              <a:rPr lang="en-US" b="1" dirty="0">
                <a:solidFill>
                  <a:srgbClr val="2F1BC7"/>
                </a:solidFill>
              </a:rPr>
              <a:t>points</a:t>
            </a:r>
            <a:r>
              <a:rPr lang="en-US" b="1" dirty="0"/>
              <a:t> to s</a:t>
            </a:r>
            <a:r>
              <a:rPr lang="en-US" b="1" dirty="0">
                <a:solidFill>
                  <a:srgbClr val="2F1BC7"/>
                </a:solidFill>
              </a:rPr>
              <a:t>tart address where characters  are stored</a:t>
            </a:r>
            <a:r>
              <a:rPr lang="en-US" b="1" dirty="0"/>
              <a:t>, and </a:t>
            </a:r>
            <a:r>
              <a:rPr lang="en-US" b="1" dirty="0">
                <a:solidFill>
                  <a:srgbClr val="008000"/>
                </a:solidFill>
              </a:rPr>
              <a:t>&amp;P points to address of pointer variable</a:t>
            </a:r>
            <a:r>
              <a:rPr lang="en-US" b="1" dirty="0"/>
              <a:t>.</a:t>
            </a:r>
          </a:p>
          <a:p>
            <a:pPr marL="342900" indent="-342900">
              <a:buAutoNum type="arabicParenR"/>
            </a:pPr>
            <a:endParaRPr lang="en-US" b="1" dirty="0"/>
          </a:p>
          <a:p>
            <a:pPr marL="342900" indent="-342900">
              <a:buAutoNum type="arabicParenR"/>
            </a:pPr>
            <a:r>
              <a:rPr lang="en-US" b="1" dirty="0"/>
              <a:t>P=“PAKISTAN” //</a:t>
            </a:r>
            <a:r>
              <a:rPr lang="en-US" b="1" dirty="0">
                <a:solidFill>
                  <a:srgbClr val="008000"/>
                </a:solidFill>
              </a:rPr>
              <a:t>valid</a:t>
            </a:r>
          </a:p>
          <a:p>
            <a:pPr marL="342900" indent="-342900">
              <a:buAutoNum type="arabicParenR"/>
            </a:pPr>
            <a:endParaRPr lang="en-US" b="1" dirty="0"/>
          </a:p>
          <a:p>
            <a:pPr marL="342900" indent="-342900">
              <a:buAutoNum type="arabicParenR"/>
            </a:pPr>
            <a:endParaRPr lang="en-US" b="1" dirty="0"/>
          </a:p>
          <a:p>
            <a:pPr marL="342900" indent="-342900">
              <a:buAutoNum type="arabicParenR"/>
            </a:pPr>
            <a:endParaRPr lang="en-US" b="1" dirty="0"/>
          </a:p>
          <a:p>
            <a:pPr marL="342900" indent="-342900">
              <a:buFontTx/>
              <a:buAutoNum type="arabicParenR"/>
            </a:pPr>
            <a:r>
              <a:rPr lang="en-US" b="1" dirty="0">
                <a:sym typeface="Wingdings" panose="05000000000000000000" pitchFamily="2" charset="2"/>
              </a:rPr>
              <a:t>P[0]=‘p’; //</a:t>
            </a:r>
            <a:r>
              <a:rPr lang="en-US" b="1" dirty="0" err="1">
                <a:solidFill>
                  <a:srgbClr val="B80000"/>
                </a:solidFill>
                <a:sym typeface="Wingdings" panose="05000000000000000000" pitchFamily="2" charset="2"/>
              </a:rPr>
              <a:t>inValid</a:t>
            </a:r>
            <a:endParaRPr lang="en-US" b="1" dirty="0">
              <a:solidFill>
                <a:srgbClr val="B80000"/>
              </a:solidFill>
              <a:sym typeface="Wingdings" panose="05000000000000000000" pitchFamily="2" charset="2"/>
            </a:endParaRPr>
          </a:p>
          <a:p>
            <a:pPr marL="342900" indent="-342900">
              <a:buFontTx/>
              <a:buAutoNum type="arabicParenR"/>
            </a:pPr>
            <a:endParaRPr lang="en-US" b="1" dirty="0">
              <a:sym typeface="Wingdings" panose="05000000000000000000" pitchFamily="2" charset="2"/>
            </a:endParaRPr>
          </a:p>
          <a:p>
            <a:pPr marL="342900" indent="-342900">
              <a:buFontTx/>
              <a:buAutoNum type="arabicParenR"/>
            </a:pPr>
            <a:r>
              <a:rPr lang="en-US" b="1" dirty="0">
                <a:solidFill>
                  <a:srgbClr val="2F1BC7"/>
                </a:solidFill>
                <a:sym typeface="Wingdings" panose="05000000000000000000" pitchFamily="2" charset="2"/>
              </a:rPr>
              <a:t>P</a:t>
            </a:r>
            <a:r>
              <a:rPr lang="en-US" b="1" dirty="0">
                <a:sym typeface="Wingdings" panose="05000000000000000000" pitchFamily="2" charset="2"/>
              </a:rPr>
              <a:t> is </a:t>
            </a:r>
            <a:r>
              <a:rPr lang="en-US" b="1" dirty="0">
                <a:solidFill>
                  <a:srgbClr val="2F1BC7"/>
                </a:solidFill>
                <a:sym typeface="Wingdings" panose="05000000000000000000" pitchFamily="2" charset="2"/>
              </a:rPr>
              <a:t>stored</a:t>
            </a:r>
            <a:r>
              <a:rPr lang="en-US" b="1" dirty="0">
                <a:sym typeface="Wingdings" panose="05000000000000000000" pitchFamily="2" charset="2"/>
              </a:rPr>
              <a:t> in </a:t>
            </a:r>
            <a:r>
              <a:rPr lang="en-US" b="1" dirty="0">
                <a:solidFill>
                  <a:srgbClr val="B80000"/>
                </a:solidFill>
                <a:sym typeface="Wingdings" panose="05000000000000000000" pitchFamily="2" charset="2"/>
              </a:rPr>
              <a:t>Stack</a:t>
            </a:r>
            <a:r>
              <a:rPr lang="en-US" b="1" dirty="0">
                <a:sym typeface="Wingdings" panose="05000000000000000000" pitchFamily="2" charset="2"/>
              </a:rPr>
              <a:t>, “FAST” is stored in </a:t>
            </a:r>
            <a:r>
              <a:rPr lang="en-US" b="1" dirty="0">
                <a:solidFill>
                  <a:srgbClr val="B80000"/>
                </a:solidFill>
                <a:sym typeface="Wingdings" panose="05000000000000000000" pitchFamily="2" charset="2"/>
              </a:rPr>
              <a:t>“Text” section (Read-only)</a:t>
            </a:r>
          </a:p>
          <a:p>
            <a:pPr marL="342900" indent="-342900">
              <a:buAutoNum type="arabicParenR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68019139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6" name="Rectangle 2"/>
          <p:cNvSpPr>
            <a:spLocks noGrp="1" noChangeArrowheads="1"/>
          </p:cNvSpPr>
          <p:nvPr>
            <p:ph type="title"/>
          </p:nvPr>
        </p:nvSpPr>
        <p:spPr>
          <a:xfrm>
            <a:off x="907473" y="16626"/>
            <a:ext cx="8229600" cy="88285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C-String and Char Pointer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8686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2096" y="1219200"/>
            <a:ext cx="8723607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51784282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6" name="Rectangle 2"/>
          <p:cNvSpPr>
            <a:spLocks noGrp="1" noChangeArrowheads="1"/>
          </p:cNvSpPr>
          <p:nvPr>
            <p:ph type="title"/>
          </p:nvPr>
        </p:nvSpPr>
        <p:spPr>
          <a:xfrm>
            <a:off x="925717" y="14387"/>
            <a:ext cx="8229600" cy="79216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C-String and Char Pointer - Example</a:t>
            </a:r>
          </a:p>
        </p:txBody>
      </p:sp>
      <p:sp>
        <p:nvSpPr>
          <p:cNvPr id="385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60" y="976532"/>
            <a:ext cx="9149457" cy="57912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// Copying string using Pointers</a:t>
            </a:r>
          </a:p>
          <a:p>
            <a:pPr>
              <a:buNone/>
            </a:pPr>
            <a:endParaRPr lang="en-US" sz="2000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000" b="1" dirty="0">
                <a:solidFill>
                  <a:srgbClr val="2F1BC7"/>
                </a:solidFill>
                <a:latin typeface="Courier New" pitchFamily="49" charset="0"/>
                <a:cs typeface="Courier New" pitchFamily="49" charset="0"/>
              </a:rPr>
              <a:t>char*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str1 = “</a:t>
            </a:r>
            <a:r>
              <a:rPr lang="en-US" sz="2000" b="1" dirty="0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Self-conquest is the greatest victory.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”;</a:t>
            </a:r>
          </a:p>
          <a:p>
            <a:pPr>
              <a:buNone/>
            </a:pPr>
            <a:r>
              <a:rPr lang="en-US" sz="2000" b="1" dirty="0">
                <a:solidFill>
                  <a:srgbClr val="2F1BC7"/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str2[80]; //empty string</a:t>
            </a:r>
          </a:p>
          <a:p>
            <a:pPr>
              <a:buNone/>
            </a:pPr>
            <a:r>
              <a:rPr lang="en-US" sz="2000" b="1" dirty="0">
                <a:solidFill>
                  <a:srgbClr val="2F1BC7"/>
                </a:solidFill>
                <a:latin typeface="Courier New" pitchFamily="49" charset="0"/>
                <a:cs typeface="Courier New" pitchFamily="49" charset="0"/>
              </a:rPr>
              <a:t>char* </a:t>
            </a:r>
            <a:r>
              <a:rPr lang="en-US" sz="2000" b="1" dirty="0" err="1">
                <a:solidFill>
                  <a:srgbClr val="B80000"/>
                </a:solidFill>
                <a:latin typeface="Courier New" pitchFamily="49" charset="0"/>
                <a:cs typeface="Courier New" pitchFamily="49" charset="0"/>
              </a:rPr>
              <a:t>src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= str1;</a:t>
            </a:r>
          </a:p>
          <a:p>
            <a:pPr>
              <a:buNone/>
            </a:pPr>
            <a:r>
              <a:rPr lang="en-US" sz="2000" b="1" dirty="0">
                <a:solidFill>
                  <a:srgbClr val="2F1BC7"/>
                </a:solidFill>
                <a:latin typeface="Courier New" pitchFamily="49" charset="0"/>
                <a:cs typeface="Courier New" pitchFamily="49" charset="0"/>
              </a:rPr>
              <a:t>char* </a:t>
            </a:r>
            <a:r>
              <a:rPr lang="en-US" sz="2000" b="1" dirty="0" err="1">
                <a:solidFill>
                  <a:srgbClr val="B80000"/>
                </a:solidFill>
                <a:latin typeface="Courier New" pitchFamily="49" charset="0"/>
                <a:cs typeface="Courier New" pitchFamily="49" charset="0"/>
              </a:rPr>
              <a:t>dest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= str2;</a:t>
            </a:r>
          </a:p>
          <a:p>
            <a:pPr>
              <a:buNone/>
            </a:pPr>
            <a:endParaRPr lang="en-US" sz="20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000" b="1" dirty="0">
                <a:solidFill>
                  <a:srgbClr val="2F1BC7"/>
                </a:solidFill>
                <a:latin typeface="Courier New" pitchFamily="49" charset="0"/>
                <a:cs typeface="Courier New" pitchFamily="49" charset="0"/>
              </a:rPr>
              <a:t>while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 </a:t>
            </a:r>
            <a:r>
              <a:rPr lang="en-US" sz="2000" b="1" dirty="0">
                <a:solidFill>
                  <a:srgbClr val="B80000"/>
                </a:solidFill>
                <a:latin typeface="Courier New" pitchFamily="49" charset="0"/>
                <a:cs typeface="Courier New" pitchFamily="49" charset="0"/>
              </a:rPr>
              <a:t>*</a:t>
            </a:r>
            <a:r>
              <a:rPr lang="en-US" sz="2000" b="1" dirty="0" err="1">
                <a:solidFill>
                  <a:srgbClr val="B80000"/>
                </a:solidFill>
                <a:latin typeface="Courier New" pitchFamily="49" charset="0"/>
                <a:cs typeface="Courier New" pitchFamily="49" charset="0"/>
              </a:rPr>
              <a:t>src</a:t>
            </a:r>
            <a:r>
              <a:rPr lang="en-US" sz="2000" b="1" dirty="0">
                <a:solidFill>
                  <a:srgbClr val="B8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) //until null character,</a:t>
            </a:r>
          </a:p>
          <a:p>
            <a:pPr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000" b="1" dirty="0">
                <a:solidFill>
                  <a:srgbClr val="B80000"/>
                </a:solidFill>
                <a:latin typeface="Courier New" pitchFamily="49" charset="0"/>
                <a:cs typeface="Courier New" pitchFamily="49" charset="0"/>
              </a:rPr>
              <a:t>*</a:t>
            </a:r>
            <a:r>
              <a:rPr lang="en-US" sz="2000" b="1" dirty="0" err="1">
                <a:solidFill>
                  <a:srgbClr val="B80000"/>
                </a:solidFill>
                <a:latin typeface="Courier New" pitchFamily="49" charset="0"/>
                <a:cs typeface="Courier New" pitchFamily="49" charset="0"/>
              </a:rPr>
              <a:t>dest</a:t>
            </a:r>
            <a:r>
              <a:rPr lang="en-US" sz="2000" b="1" dirty="0">
                <a:solidFill>
                  <a:srgbClr val="B80000"/>
                </a:solidFill>
                <a:latin typeface="Courier New" pitchFamily="49" charset="0"/>
                <a:cs typeface="Courier New" pitchFamily="49" charset="0"/>
              </a:rPr>
              <a:t>++ 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= </a:t>
            </a:r>
            <a:r>
              <a:rPr lang="en-US" sz="2000" b="1" dirty="0">
                <a:solidFill>
                  <a:srgbClr val="B80000"/>
                </a:solidFill>
                <a:latin typeface="Courier New" pitchFamily="49" charset="0"/>
                <a:cs typeface="Courier New" pitchFamily="49" charset="0"/>
              </a:rPr>
              <a:t>*</a:t>
            </a:r>
            <a:r>
              <a:rPr lang="en-US" sz="2000" b="1" dirty="0" err="1">
                <a:solidFill>
                  <a:srgbClr val="B80000"/>
                </a:solidFill>
                <a:latin typeface="Courier New" pitchFamily="49" charset="0"/>
                <a:cs typeface="Courier New" pitchFamily="49" charset="0"/>
              </a:rPr>
              <a:t>src</a:t>
            </a:r>
            <a:r>
              <a:rPr lang="en-US" sz="2000" b="1" dirty="0">
                <a:solidFill>
                  <a:srgbClr val="B80000"/>
                </a:solidFill>
                <a:latin typeface="Courier New" pitchFamily="49" charset="0"/>
                <a:cs typeface="Courier New" pitchFamily="49" charset="0"/>
              </a:rPr>
              <a:t>++; 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//copy chars from </a:t>
            </a:r>
            <a:r>
              <a:rPr lang="en-US" sz="2000" b="1" i="1" dirty="0" err="1">
                <a:latin typeface="Courier New" pitchFamily="49" charset="0"/>
                <a:cs typeface="Courier New" pitchFamily="49" charset="0"/>
              </a:rPr>
              <a:t>src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to </a:t>
            </a:r>
            <a:r>
              <a:rPr lang="en-US" sz="2000" b="1" i="1" dirty="0" err="1">
                <a:latin typeface="Courier New" pitchFamily="49" charset="0"/>
                <a:cs typeface="Courier New" pitchFamily="49" charset="0"/>
              </a:rPr>
              <a:t>dest</a:t>
            </a:r>
            <a:endParaRPr lang="en-US" sz="2000" b="1" i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</a:t>
            </a:r>
          </a:p>
          <a:p>
            <a:pPr>
              <a:buNone/>
            </a:pPr>
            <a:r>
              <a:rPr lang="en-US" sz="2000" b="1" dirty="0">
                <a:solidFill>
                  <a:srgbClr val="B80000"/>
                </a:solidFill>
                <a:latin typeface="Courier New" pitchFamily="49" charset="0"/>
                <a:cs typeface="Courier New" pitchFamily="49" charset="0"/>
              </a:rPr>
              <a:t>*</a:t>
            </a:r>
            <a:r>
              <a:rPr lang="en-US" sz="2000" b="1" dirty="0" err="1">
                <a:solidFill>
                  <a:srgbClr val="B80000"/>
                </a:solidFill>
                <a:latin typeface="Courier New" pitchFamily="49" charset="0"/>
                <a:cs typeface="Courier New" pitchFamily="49" charset="0"/>
              </a:rPr>
              <a:t>dest</a:t>
            </a:r>
            <a:r>
              <a:rPr lang="en-US" sz="2000" b="1" dirty="0">
                <a:solidFill>
                  <a:srgbClr val="B8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= </a:t>
            </a:r>
            <a:r>
              <a:rPr lang="en-US" sz="2000" b="1" dirty="0">
                <a:solidFill>
                  <a:srgbClr val="B80000"/>
                </a:solidFill>
                <a:latin typeface="Courier New" pitchFamily="49" charset="0"/>
                <a:cs typeface="Courier New" pitchFamily="49" charset="0"/>
              </a:rPr>
              <a:t>‘\0’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;</a:t>
            </a:r>
            <a:r>
              <a:rPr lang="en-US" sz="2000" b="1" dirty="0">
                <a:solidFill>
                  <a:srgbClr val="B8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//</a:t>
            </a:r>
            <a:r>
              <a:rPr lang="en-US" sz="2000" b="1" dirty="0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terminate </a:t>
            </a:r>
            <a:r>
              <a:rPr lang="en-US" sz="2000" b="1" dirty="0" err="1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dest</a:t>
            </a:r>
            <a:endParaRPr lang="en-US" sz="2000" b="1" dirty="0">
              <a:solidFill>
                <a:srgbClr val="008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sz="20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000" b="1" dirty="0" err="1">
                <a:solidFill>
                  <a:srgbClr val="2F1BC7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&lt;&lt; str2 &lt;&lt; </a:t>
            </a:r>
            <a:r>
              <a:rPr lang="en-US" sz="2000" b="1" dirty="0" err="1">
                <a:solidFill>
                  <a:srgbClr val="2F1BC7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; //display str2</a:t>
            </a:r>
          </a:p>
          <a:p>
            <a:pPr>
              <a:buNone/>
            </a:pPr>
            <a:endParaRPr lang="en-US" sz="2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8686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674564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54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0"/>
            <a:ext cx="8206212" cy="868681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Functions</a:t>
            </a:r>
            <a:r>
              <a:rPr lang="en-US" sz="3200" b="1" dirty="0">
                <a:solidFill>
                  <a:srgbClr val="C00000"/>
                </a:solidFill>
                <a:sym typeface="Wingdings" pitchFamily="2" charset="2"/>
              </a:rPr>
              <a:t> </a:t>
            </a:r>
            <a:r>
              <a:rPr lang="en-US" sz="3200" b="1" dirty="0">
                <a:solidFill>
                  <a:srgbClr val="C00000"/>
                </a:solidFill>
              </a:rPr>
              <a:t>Pass by using Reference Pointer</a:t>
            </a:r>
          </a:p>
        </p:txBody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90600"/>
            <a:ext cx="9144000" cy="58674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+mj-lt"/>
              </a:rPr>
              <a:t>Pass-by-reference with pointer</a:t>
            </a:r>
            <a:r>
              <a:rPr lang="en-US" dirty="0">
                <a:solidFill>
                  <a:srgbClr val="C00000"/>
                </a:solidFill>
                <a:latin typeface="+mj-lt"/>
              </a:rPr>
              <a:t> </a:t>
            </a:r>
            <a:r>
              <a:rPr lang="en-US" dirty="0">
                <a:latin typeface="+mj-lt"/>
              </a:rPr>
              <a:t>arguments</a:t>
            </a:r>
          </a:p>
          <a:p>
            <a:pPr lvl="2" algn="just"/>
            <a:r>
              <a:rPr lang="en-US" sz="3200" dirty="0">
                <a:latin typeface="+mj-lt"/>
              </a:rPr>
              <a:t>Use </a:t>
            </a:r>
            <a:r>
              <a:rPr lang="en-US" sz="3200" dirty="0">
                <a:solidFill>
                  <a:srgbClr val="2F1BC7"/>
                </a:solidFill>
                <a:latin typeface="+mj-lt"/>
              </a:rPr>
              <a:t>pointers</a:t>
            </a:r>
            <a:r>
              <a:rPr lang="en-US" sz="3200" dirty="0">
                <a:latin typeface="+mj-lt"/>
              </a:rPr>
              <a:t> as </a:t>
            </a:r>
            <a:r>
              <a:rPr lang="en-US" sz="3200" dirty="0">
                <a:solidFill>
                  <a:srgbClr val="2F1BC7"/>
                </a:solidFill>
                <a:latin typeface="+mj-lt"/>
              </a:rPr>
              <a:t>formal parameters </a:t>
            </a:r>
            <a:r>
              <a:rPr lang="en-US" sz="3200" dirty="0">
                <a:latin typeface="+mj-lt"/>
              </a:rPr>
              <a:t>and </a:t>
            </a:r>
            <a:r>
              <a:rPr lang="en-US" sz="3200" dirty="0">
                <a:solidFill>
                  <a:srgbClr val="2F1BC7"/>
                </a:solidFill>
                <a:latin typeface="+mj-lt"/>
              </a:rPr>
              <a:t>addresses</a:t>
            </a:r>
            <a:r>
              <a:rPr lang="en-US" sz="3200" dirty="0">
                <a:latin typeface="+mj-lt"/>
              </a:rPr>
              <a:t> as </a:t>
            </a:r>
            <a:r>
              <a:rPr lang="en-US" sz="3200" dirty="0">
                <a:solidFill>
                  <a:srgbClr val="2F1BC7"/>
                </a:solidFill>
                <a:latin typeface="+mj-lt"/>
              </a:rPr>
              <a:t>actual parameters</a:t>
            </a:r>
          </a:p>
          <a:p>
            <a:pPr lvl="2"/>
            <a:endParaRPr lang="en-US" sz="3400" dirty="0">
              <a:solidFill>
                <a:srgbClr val="2F1BC7"/>
              </a:solidFill>
              <a:latin typeface="+mj-lt"/>
            </a:endParaRPr>
          </a:p>
          <a:p>
            <a:r>
              <a:rPr lang="en-US" b="1" dirty="0">
                <a:solidFill>
                  <a:srgbClr val="2F1BC7"/>
                </a:solidFill>
                <a:latin typeface="+mj-lt"/>
              </a:rPr>
              <a:t>Pass address </a:t>
            </a:r>
            <a:r>
              <a:rPr lang="en-US" dirty="0">
                <a:latin typeface="+mj-lt"/>
              </a:rPr>
              <a:t>of </a:t>
            </a:r>
            <a:r>
              <a:rPr lang="en-US" b="1" dirty="0">
                <a:solidFill>
                  <a:srgbClr val="2F1BC7"/>
                </a:solidFill>
                <a:latin typeface="+mj-lt"/>
              </a:rPr>
              <a:t>argument</a:t>
            </a:r>
            <a:r>
              <a:rPr lang="en-US" dirty="0">
                <a:latin typeface="+mj-lt"/>
              </a:rPr>
              <a:t> using </a:t>
            </a:r>
            <a:r>
              <a:rPr lang="en-US" b="1" dirty="0">
                <a:solidFill>
                  <a:srgbClr val="2F1BC7"/>
                </a:solidFill>
                <a:latin typeface="+mj-lt"/>
              </a:rPr>
              <a:t>&amp;</a:t>
            </a:r>
            <a:r>
              <a:rPr lang="en-US" dirty="0">
                <a:solidFill>
                  <a:srgbClr val="2F1BC7"/>
                </a:solidFill>
                <a:latin typeface="+mj-lt"/>
              </a:rPr>
              <a:t> operator</a:t>
            </a:r>
          </a:p>
          <a:p>
            <a:pPr lvl="1"/>
            <a:r>
              <a:rPr lang="en-US" sz="3200" b="1" dirty="0">
                <a:solidFill>
                  <a:srgbClr val="C00000"/>
                </a:solidFill>
                <a:latin typeface="+mj-lt"/>
              </a:rPr>
              <a:t>Arrays not passed with &amp;</a:t>
            </a:r>
            <a:r>
              <a:rPr lang="en-US" sz="3200" dirty="0">
                <a:solidFill>
                  <a:srgbClr val="C00000"/>
                </a:solidFill>
                <a:latin typeface="+mj-lt"/>
              </a:rPr>
              <a:t> </a:t>
            </a:r>
            <a:r>
              <a:rPr lang="en-US" sz="3200" dirty="0">
                <a:latin typeface="+mj-lt"/>
              </a:rPr>
              <a:t>because </a:t>
            </a:r>
            <a:r>
              <a:rPr lang="en-US" sz="3200" dirty="0">
                <a:solidFill>
                  <a:srgbClr val="2F1BC7"/>
                </a:solidFill>
                <a:latin typeface="+mj-lt"/>
              </a:rPr>
              <a:t>array name </a:t>
            </a:r>
            <a:r>
              <a:rPr lang="en-US" sz="3200" dirty="0">
                <a:latin typeface="+mj-lt"/>
              </a:rPr>
              <a:t>already </a:t>
            </a:r>
            <a:r>
              <a:rPr lang="en-US" sz="3200" dirty="0">
                <a:solidFill>
                  <a:srgbClr val="2F1BC7"/>
                </a:solidFill>
                <a:latin typeface="+mj-lt"/>
              </a:rPr>
              <a:t>an address </a:t>
            </a:r>
          </a:p>
          <a:p>
            <a:pPr lvl="1"/>
            <a:r>
              <a:rPr lang="en-US" sz="3200" dirty="0">
                <a:solidFill>
                  <a:srgbClr val="2F1BC7"/>
                </a:solidFill>
                <a:latin typeface="+mj-lt"/>
              </a:rPr>
              <a:t>Pointers  variable</a:t>
            </a:r>
            <a:r>
              <a:rPr lang="en-US" sz="3200" dirty="0">
                <a:latin typeface="+mj-lt"/>
              </a:rPr>
              <a:t> are </a:t>
            </a:r>
            <a:r>
              <a:rPr lang="en-US" sz="3200" dirty="0">
                <a:solidFill>
                  <a:srgbClr val="2F1BC7"/>
                </a:solidFill>
                <a:latin typeface="+mj-lt"/>
              </a:rPr>
              <a:t>used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>
                <a:solidFill>
                  <a:srgbClr val="2F1BC7"/>
                </a:solidFill>
                <a:latin typeface="+mj-lt"/>
              </a:rPr>
              <a:t>inside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>
                <a:solidFill>
                  <a:srgbClr val="2F1BC7"/>
                </a:solidFill>
                <a:latin typeface="+mj-lt"/>
              </a:rPr>
              <a:t>function </a:t>
            </a:r>
          </a:p>
          <a:p>
            <a:pPr lvl="3">
              <a:buFontTx/>
              <a:buNone/>
            </a:pPr>
            <a:r>
              <a:rPr lang="en-US" sz="3400" b="1" dirty="0">
                <a:latin typeface="+mj-lt"/>
              </a:rPr>
              <a:t> 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ourier New" pitchFamily="49" charset="0"/>
                <a:cs typeface="Courier New" pitchFamily="49" charset="0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144858188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14400" y="53924"/>
            <a:ext cx="8229600" cy="784276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Pass by Reference Pointers– Example1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04800" y="1143000"/>
          <a:ext cx="8628062" cy="5502275"/>
        </p:xfrm>
        <a:graphic>
          <a:graphicData uri="http://schemas.openxmlformats.org/drawingml/2006/table">
            <a:tbl>
              <a:tblPr/>
              <a:tblGrid>
                <a:gridCol w="8628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02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void </a:t>
                      </a: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func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(</a:t>
                      </a: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int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  *num)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{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     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cout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&lt;&lt;"num = "&lt;&lt;*num&lt;&lt;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endl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      *num = 10;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     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cout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&lt;&lt;"num = "&lt;&lt;*num&lt;&lt;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endl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}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宋体" pitchFamily="2" charset="-122"/>
                        <a:cs typeface="Courier New" pitchFamily="49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void main()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{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   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int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 n = 5;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   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cout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&lt;&lt;"Before call: n = "&lt;&lt;n&lt;&lt;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endl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    </a:t>
                      </a: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func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(&amp;n);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   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cout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&lt;&lt;"After call: n = "&lt;&lt;n&lt;&lt;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endl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}</a:t>
                      </a:r>
                    </a:p>
                  </a:txBody>
                  <a:tcPr marL="91445" marR="91445" marT="45717" marB="4571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8686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ourier New" pitchFamily="49" charset="0"/>
                <a:cs typeface="Courier New" pitchFamily="49" charset="0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1298161566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 Box 3"/>
          <p:cNvSpPr txBox="1">
            <a:spLocks noChangeArrowheads="1"/>
          </p:cNvSpPr>
          <p:nvPr/>
        </p:nvSpPr>
        <p:spPr bwMode="auto">
          <a:xfrm>
            <a:off x="34924" y="990600"/>
            <a:ext cx="8956676" cy="578619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393700" lvl="2" indent="-168275" eaLnBrk="0" hangingPunct="0">
              <a:spcBef>
                <a:spcPct val="50000"/>
              </a:spcBef>
            </a:pPr>
            <a:r>
              <a:rPr lang="en-US" sz="2000" b="1" dirty="0">
                <a:solidFill>
                  <a:srgbClr val="2F1BC7"/>
                </a:solidFill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sz="2000" b="1" dirty="0" err="1">
                <a:solidFill>
                  <a:srgbClr val="2F1BC7"/>
                </a:solidFill>
                <a:latin typeface="Courier New" pitchFamily="49" charset="0"/>
                <a:cs typeface="Courier New" pitchFamily="49" charset="0"/>
              </a:rPr>
              <a:t>compDouble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* </a:t>
            </a:r>
            <a:r>
              <a:rPr lang="en-US" sz="2000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Ar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marL="393700" lvl="2" indent="-168275" eaLnBrk="0" hangingPunct="0">
              <a:spcBef>
                <a:spcPct val="50000"/>
              </a:spcBef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{</a:t>
            </a:r>
            <a:br>
              <a:rPr lang="en-US" sz="2000" b="1" dirty="0">
                <a:latin typeface="Courier New" pitchFamily="49" charset="0"/>
                <a:cs typeface="Courier New" pitchFamily="49" charset="0"/>
              </a:rPr>
            </a:b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>
                <a:solidFill>
                  <a:srgbClr val="2F1BC7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=0;i&lt;10;i++)</a:t>
            </a:r>
          </a:p>
          <a:p>
            <a:pPr marL="393700" lvl="2" indent="-168275" eaLnBrk="0" hangingPunct="0">
              <a:spcBef>
                <a:spcPct val="50000"/>
              </a:spcBef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	{	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*</a:t>
            </a:r>
            <a:r>
              <a:rPr lang="en-US" sz="2000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Ar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=(*</a:t>
            </a:r>
            <a:r>
              <a:rPr lang="en-US" sz="2000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Ar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)*2;</a:t>
            </a:r>
          </a:p>
          <a:p>
            <a:pPr marL="393700" lvl="2" indent="-168275" eaLnBrk="0" hangingPunct="0">
              <a:spcBef>
                <a:spcPct val="50000"/>
              </a:spcBef>
            </a:pP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		 </a:t>
            </a:r>
            <a:r>
              <a:rPr lang="en-US" sz="2000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Ar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++;</a:t>
            </a:r>
          </a:p>
          <a:p>
            <a:pPr marL="393700" lvl="2" indent="-168275" eaLnBrk="0" hangingPunct="0">
              <a:spcBef>
                <a:spcPct val="50000"/>
              </a:spcBef>
            </a:pP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marL="393700" lvl="2" indent="-168275" eaLnBrk="0" hangingPunct="0">
              <a:spcBef>
                <a:spcPct val="50000"/>
              </a:spcBef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393700" lvl="2" indent="-168275" eaLnBrk="0" hangingPunct="0">
              <a:spcBef>
                <a:spcPct val="50000"/>
              </a:spcBef>
            </a:pPr>
            <a:r>
              <a:rPr lang="en-US" sz="2000" b="1" dirty="0">
                <a:solidFill>
                  <a:srgbClr val="2F1BC7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main()</a:t>
            </a:r>
          </a:p>
          <a:p>
            <a:pPr marL="393700" lvl="2" indent="-168275" eaLnBrk="0" hangingPunct="0">
              <a:spcBef>
                <a:spcPct val="50000"/>
              </a:spcBef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{		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Arr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[10]={0,1,2,3,4,5,6,7,8,9};</a:t>
            </a:r>
          </a:p>
          <a:p>
            <a:pPr marL="393700" lvl="2" indent="-168275" eaLnBrk="0" hangingPunct="0">
              <a:spcBef>
                <a:spcPct val="50000"/>
              </a:spcBef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000" b="1" dirty="0" err="1">
                <a:solidFill>
                  <a:srgbClr val="2F1BC7"/>
                </a:solidFill>
                <a:latin typeface="Courier New" pitchFamily="49" charset="0"/>
                <a:cs typeface="Courier New" pitchFamily="49" charset="0"/>
              </a:rPr>
              <a:t>compDouble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Arr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393700" lvl="2" indent="-168275" eaLnBrk="0" hangingPunct="0">
              <a:spcBef>
                <a:spcPct val="50000"/>
              </a:spcBef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000" b="1" dirty="0">
                <a:solidFill>
                  <a:srgbClr val="2F1BC7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b="1" dirty="0" err="1">
                <a:solidFill>
                  <a:srgbClr val="2F1BC7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=0;i&lt;10;i++)</a:t>
            </a:r>
          </a:p>
          <a:p>
            <a:pPr marL="393700" lvl="2" indent="-168275" eaLnBrk="0" hangingPunct="0">
              <a:spcBef>
                <a:spcPct val="50000"/>
              </a:spcBef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sz="2000" b="1" dirty="0" err="1">
                <a:solidFill>
                  <a:srgbClr val="2F1BC7"/>
                </a:solidFill>
                <a:latin typeface="Courier New" pitchFamily="49" charset="0"/>
                <a:cs typeface="Courier New" pitchFamily="49" charset="0"/>
              </a:rPr>
              <a:t>Arr</a:t>
            </a:r>
            <a:r>
              <a:rPr lang="en-US" sz="2000" b="1" dirty="0">
                <a:solidFill>
                  <a:srgbClr val="2F1BC7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2000" b="1" dirty="0" err="1">
                <a:solidFill>
                  <a:srgbClr val="2F1BC7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 dirty="0">
                <a:solidFill>
                  <a:srgbClr val="2F1BC7"/>
                </a:solidFill>
                <a:latin typeface="Courier New" pitchFamily="49" charset="0"/>
                <a:cs typeface="Courier New" pitchFamily="49" charset="0"/>
              </a:rPr>
              <a:t>]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393700" lvl="2" indent="-168275" eaLnBrk="0" hangingPunct="0">
              <a:spcBef>
                <a:spcPct val="50000"/>
              </a:spcBef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}</a:t>
            </a:r>
            <a:endParaRPr lang="en-US" sz="2000" dirty="0">
              <a:latin typeface="Calibri" pitchFamily="34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8686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ourier New" pitchFamily="49" charset="0"/>
                <a:cs typeface="Courier New" pitchFamily="49" charset="0"/>
              </a:rPr>
              <a:t>c</a:t>
            </a:r>
          </a:p>
        </p:txBody>
      </p:sp>
      <p:sp>
        <p:nvSpPr>
          <p:cNvPr id="14" name="Rectangle 2"/>
          <p:cNvSpPr txBox="1">
            <a:spLocks noChangeArrowheads="1"/>
          </p:cNvSpPr>
          <p:nvPr/>
        </p:nvSpPr>
        <p:spPr>
          <a:xfrm>
            <a:off x="914400" y="-1"/>
            <a:ext cx="8229600" cy="8686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+mj-cs"/>
              </a:rPr>
              <a:t>Pass by Reference Pointers– Example2</a:t>
            </a:r>
          </a:p>
        </p:txBody>
      </p:sp>
    </p:spTree>
    <p:extLst>
      <p:ext uri="{BB962C8B-B14F-4D97-AF65-F5344CB8AC3E}">
        <p14:creationId xmlns:p14="http://schemas.microsoft.com/office/powerpoint/2010/main" val="1427100303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 Box 3"/>
          <p:cNvSpPr txBox="1">
            <a:spLocks noChangeArrowheads="1"/>
          </p:cNvSpPr>
          <p:nvPr/>
        </p:nvSpPr>
        <p:spPr bwMode="auto">
          <a:xfrm>
            <a:off x="34924" y="990600"/>
            <a:ext cx="8956676" cy="578619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393700" lvl="2" indent="-168275" eaLnBrk="0" hangingPunct="0">
              <a:spcBef>
                <a:spcPct val="50000"/>
              </a:spcBef>
            </a:pPr>
            <a:r>
              <a:rPr lang="en-US" sz="2000" b="1" dirty="0">
                <a:solidFill>
                  <a:srgbClr val="2F1BC7"/>
                </a:solidFill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sz="2000" b="1" dirty="0" err="1">
                <a:solidFill>
                  <a:srgbClr val="2F1BC7"/>
                </a:solidFill>
                <a:latin typeface="Courier New" pitchFamily="49" charset="0"/>
                <a:cs typeface="Courier New" pitchFamily="49" charset="0"/>
              </a:rPr>
              <a:t>compDouble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* </a:t>
            </a:r>
            <a:r>
              <a:rPr lang="en-US" sz="2000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Ar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marL="393700" lvl="2" indent="-168275" eaLnBrk="0" hangingPunct="0">
              <a:spcBef>
                <a:spcPct val="50000"/>
              </a:spcBef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{</a:t>
            </a:r>
            <a:br>
              <a:rPr lang="en-US" sz="2000" b="1" dirty="0">
                <a:latin typeface="Courier New" pitchFamily="49" charset="0"/>
                <a:cs typeface="Courier New" pitchFamily="49" charset="0"/>
              </a:rPr>
            </a:b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>
                <a:solidFill>
                  <a:srgbClr val="2F1BC7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=0;i&lt;10;i++)</a:t>
            </a:r>
          </a:p>
          <a:p>
            <a:pPr marL="393700" lvl="2" indent="-168275" eaLnBrk="0" hangingPunct="0">
              <a:spcBef>
                <a:spcPct val="50000"/>
              </a:spcBef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	{	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*</a:t>
            </a:r>
            <a:r>
              <a:rPr lang="en-US" sz="2000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Ar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=(*</a:t>
            </a:r>
            <a:r>
              <a:rPr lang="en-US" sz="2000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Ar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)*2;</a:t>
            </a:r>
          </a:p>
          <a:p>
            <a:pPr marL="393700" lvl="2" indent="-168275" eaLnBrk="0" hangingPunct="0">
              <a:spcBef>
                <a:spcPct val="50000"/>
              </a:spcBef>
            </a:pP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		 </a:t>
            </a:r>
            <a:r>
              <a:rPr lang="en-US" sz="2000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Ar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++;</a:t>
            </a:r>
          </a:p>
          <a:p>
            <a:pPr marL="393700" lvl="2" indent="-168275" eaLnBrk="0" hangingPunct="0">
              <a:spcBef>
                <a:spcPct val="50000"/>
              </a:spcBef>
            </a:pP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marL="393700" lvl="2" indent="-168275" eaLnBrk="0" hangingPunct="0">
              <a:spcBef>
                <a:spcPct val="50000"/>
              </a:spcBef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393700" lvl="2" indent="-168275" eaLnBrk="0" hangingPunct="0">
              <a:spcBef>
                <a:spcPct val="50000"/>
              </a:spcBef>
            </a:pPr>
            <a:r>
              <a:rPr lang="en-US" sz="2000" b="1" dirty="0">
                <a:solidFill>
                  <a:srgbClr val="2F1BC7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main()</a:t>
            </a:r>
          </a:p>
          <a:p>
            <a:pPr marL="393700" lvl="2" indent="-168275" eaLnBrk="0" hangingPunct="0">
              <a:spcBef>
                <a:spcPct val="50000"/>
              </a:spcBef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{		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Arr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[10]={0,1,2,3,4,5,6,7,8,9};</a:t>
            </a:r>
          </a:p>
          <a:p>
            <a:pPr marL="393700" lvl="2" indent="-168275" eaLnBrk="0" hangingPunct="0">
              <a:spcBef>
                <a:spcPct val="50000"/>
              </a:spcBef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000" b="1" dirty="0" err="1">
                <a:solidFill>
                  <a:srgbClr val="2F1BC7"/>
                </a:solidFill>
                <a:latin typeface="Courier New" pitchFamily="49" charset="0"/>
                <a:cs typeface="Courier New" pitchFamily="49" charset="0"/>
              </a:rPr>
              <a:t>compDouble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Arr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393700" lvl="2" indent="-168275" eaLnBrk="0" hangingPunct="0">
              <a:spcBef>
                <a:spcPct val="50000"/>
              </a:spcBef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000" b="1" dirty="0">
                <a:solidFill>
                  <a:srgbClr val="2F1BC7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b="1" dirty="0" err="1">
                <a:solidFill>
                  <a:srgbClr val="2F1BC7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=0;i&lt;10;i++)</a:t>
            </a:r>
          </a:p>
          <a:p>
            <a:pPr marL="393700" lvl="2" indent="-168275" eaLnBrk="0" hangingPunct="0">
              <a:spcBef>
                <a:spcPct val="50000"/>
              </a:spcBef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sz="2000" b="1" dirty="0" err="1">
                <a:solidFill>
                  <a:srgbClr val="2F1BC7"/>
                </a:solidFill>
                <a:latin typeface="Courier New" pitchFamily="49" charset="0"/>
                <a:cs typeface="Courier New" pitchFamily="49" charset="0"/>
              </a:rPr>
              <a:t>Arr</a:t>
            </a:r>
            <a:r>
              <a:rPr lang="en-US" sz="2000" b="1" dirty="0">
                <a:solidFill>
                  <a:srgbClr val="2F1BC7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2000" b="1" dirty="0" err="1">
                <a:solidFill>
                  <a:srgbClr val="2F1BC7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 dirty="0">
                <a:solidFill>
                  <a:srgbClr val="2F1BC7"/>
                </a:solidFill>
                <a:latin typeface="Courier New" pitchFamily="49" charset="0"/>
                <a:cs typeface="Courier New" pitchFamily="49" charset="0"/>
              </a:rPr>
              <a:t>]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393700" lvl="2" indent="-168275" eaLnBrk="0" hangingPunct="0">
              <a:spcBef>
                <a:spcPct val="50000"/>
              </a:spcBef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}</a:t>
            </a:r>
            <a:endParaRPr lang="en-US" sz="2000" dirty="0">
              <a:latin typeface="Calibri" pitchFamily="34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8686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ourier New" pitchFamily="49" charset="0"/>
                <a:cs typeface="Courier New" pitchFamily="49" charset="0"/>
              </a:rPr>
              <a:t>c</a:t>
            </a:r>
          </a:p>
        </p:txBody>
      </p:sp>
      <p:sp>
        <p:nvSpPr>
          <p:cNvPr id="14" name="Rectangle 2"/>
          <p:cNvSpPr txBox="1">
            <a:spLocks noChangeArrowheads="1"/>
          </p:cNvSpPr>
          <p:nvPr/>
        </p:nvSpPr>
        <p:spPr>
          <a:xfrm>
            <a:off x="914400" y="-1"/>
            <a:ext cx="8229600" cy="8686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+mj-cs"/>
              </a:rPr>
              <a:t>Pass by Reference Pointers– Example2</a:t>
            </a:r>
          </a:p>
        </p:txBody>
      </p:sp>
    </p:spTree>
    <p:extLst>
      <p:ext uri="{BB962C8B-B14F-4D97-AF65-F5344CB8AC3E}">
        <p14:creationId xmlns:p14="http://schemas.microsoft.com/office/powerpoint/2010/main" val="229378036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 Box 3"/>
          <p:cNvSpPr txBox="1">
            <a:spLocks noChangeArrowheads="1"/>
          </p:cNvSpPr>
          <p:nvPr/>
        </p:nvSpPr>
        <p:spPr bwMode="auto">
          <a:xfrm>
            <a:off x="34924" y="990600"/>
            <a:ext cx="8956676" cy="67710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393700" lvl="2" indent="-168275" eaLnBrk="0" hangingPunct="0">
              <a:spcBef>
                <a:spcPct val="50000"/>
              </a:spcBef>
            </a:pPr>
            <a:r>
              <a:rPr lang="en-US" sz="2000" b="1" dirty="0">
                <a:solidFill>
                  <a:srgbClr val="2F1BC7"/>
                </a:solidFill>
                <a:latin typeface="Courier New" pitchFamily="49" charset="0"/>
                <a:cs typeface="Courier New" pitchFamily="49" charset="0"/>
              </a:rPr>
              <a:t>Address of character variable…</a:t>
            </a:r>
          </a:p>
          <a:p>
            <a:endParaRPr lang="en-US" dirty="0">
              <a:ea typeface="宋体" pitchFamily="2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8686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ourier New" pitchFamily="49" charset="0"/>
                <a:cs typeface="Courier New" pitchFamily="49" charset="0"/>
              </a:rPr>
              <a:t>c</a:t>
            </a:r>
          </a:p>
        </p:txBody>
      </p:sp>
      <p:sp>
        <p:nvSpPr>
          <p:cNvPr id="14" name="Rectangle 2"/>
          <p:cNvSpPr txBox="1">
            <a:spLocks noChangeArrowheads="1"/>
          </p:cNvSpPr>
          <p:nvPr/>
        </p:nvSpPr>
        <p:spPr>
          <a:xfrm>
            <a:off x="914400" y="-1"/>
            <a:ext cx="8229600" cy="8686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+mj-cs"/>
              </a:rPr>
              <a:t>Questions</a:t>
            </a:r>
            <a:r>
              <a:rPr kumimoji="0" lang="en-US" sz="4000" b="1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+mj-cs"/>
              </a:rPr>
              <a:t> (last lecture)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+mj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24000"/>
            <a:ext cx="9194391" cy="21336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3962400"/>
            <a:ext cx="4238122" cy="1863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188255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8686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ourier New" pitchFamily="49" charset="0"/>
                <a:cs typeface="Courier New" pitchFamily="49" charset="0"/>
              </a:rPr>
              <a:t>c</a:t>
            </a:r>
          </a:p>
        </p:txBody>
      </p:sp>
      <p:sp>
        <p:nvSpPr>
          <p:cNvPr id="14" name="Rectangle 2"/>
          <p:cNvSpPr txBox="1">
            <a:spLocks noChangeArrowheads="1"/>
          </p:cNvSpPr>
          <p:nvPr/>
        </p:nvSpPr>
        <p:spPr>
          <a:xfrm>
            <a:off x="533400" y="2209800"/>
            <a:ext cx="8229600" cy="8686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8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+mj-cs"/>
              </a:rPr>
              <a:t>EXTRA Slides</a:t>
            </a:r>
            <a:endParaRPr kumimoji="0" lang="en-US" sz="4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77135086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8686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ourier New" pitchFamily="49" charset="0"/>
                <a:cs typeface="Courier New" pitchFamily="49" charset="0"/>
              </a:rPr>
              <a:t>c</a:t>
            </a:r>
          </a:p>
        </p:txBody>
      </p:sp>
      <p:sp>
        <p:nvSpPr>
          <p:cNvPr id="14" name="Rectangle 2"/>
          <p:cNvSpPr txBox="1">
            <a:spLocks noChangeArrowheads="1"/>
          </p:cNvSpPr>
          <p:nvPr/>
        </p:nvSpPr>
        <p:spPr>
          <a:xfrm>
            <a:off x="266700" y="1219200"/>
            <a:ext cx="8534400" cy="4191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200" b="1" u="sng" dirty="0"/>
              <a:t>Reference Variable and a Pointer</a:t>
            </a:r>
          </a:p>
          <a:p>
            <a:pPr algn="ctr"/>
            <a:endParaRPr lang="en-US" sz="2400" b="1" u="sng" dirty="0"/>
          </a:p>
          <a:p>
            <a:pPr algn="just"/>
            <a:r>
              <a:rPr lang="en-US" sz="2400" dirty="0"/>
              <a:t>The main </a:t>
            </a:r>
            <a:r>
              <a:rPr lang="en-US" sz="2400" b="1" dirty="0"/>
              <a:t>difference between</a:t>
            </a:r>
            <a:r>
              <a:rPr lang="en-US" sz="2400" dirty="0"/>
              <a:t> C++ </a:t>
            </a:r>
            <a:r>
              <a:rPr lang="en-US" sz="2400" b="1" dirty="0"/>
              <a:t>Reference</a:t>
            </a:r>
            <a:r>
              <a:rPr lang="en-US" sz="2400" dirty="0"/>
              <a:t> </a:t>
            </a:r>
            <a:r>
              <a:rPr lang="en-US" sz="2400" dirty="0" err="1"/>
              <a:t>vs</a:t>
            </a:r>
            <a:r>
              <a:rPr lang="en-US" sz="2400" dirty="0"/>
              <a:t> </a:t>
            </a:r>
            <a:r>
              <a:rPr lang="en-US" sz="2400" b="1" dirty="0"/>
              <a:t>Pointer is</a:t>
            </a:r>
            <a:r>
              <a:rPr lang="en-US" sz="2400" dirty="0"/>
              <a:t> that one </a:t>
            </a:r>
            <a:r>
              <a:rPr lang="en-US" sz="2400" b="1" dirty="0"/>
              <a:t>is</a:t>
            </a:r>
            <a:r>
              <a:rPr lang="en-US" sz="2400" dirty="0"/>
              <a:t> referring to another </a:t>
            </a:r>
            <a:r>
              <a:rPr lang="en-US" sz="2400" b="1" dirty="0"/>
              <a:t>variable</a:t>
            </a:r>
            <a:r>
              <a:rPr lang="en-US" sz="2400" dirty="0"/>
              <a:t> while the latter </a:t>
            </a:r>
            <a:r>
              <a:rPr lang="en-US" sz="2400" b="1" dirty="0"/>
              <a:t>is</a:t>
            </a:r>
            <a:r>
              <a:rPr lang="en-US" sz="2400" dirty="0"/>
              <a:t> storing the address </a:t>
            </a:r>
            <a:r>
              <a:rPr lang="en-US" sz="2400" b="1" dirty="0"/>
              <a:t>of</a:t>
            </a:r>
            <a:r>
              <a:rPr lang="en-US" sz="2400" dirty="0"/>
              <a:t> a </a:t>
            </a:r>
            <a:r>
              <a:rPr lang="en-US" sz="2400" b="1" dirty="0"/>
              <a:t>variable</a:t>
            </a:r>
            <a:r>
              <a:rPr lang="en-US" sz="2400" dirty="0"/>
              <a:t>. ... An array </a:t>
            </a:r>
            <a:r>
              <a:rPr lang="en-US" sz="2400" b="1" dirty="0"/>
              <a:t>of pointers</a:t>
            </a:r>
            <a:r>
              <a:rPr lang="en-US" sz="2400" dirty="0"/>
              <a:t> can be created while an array </a:t>
            </a:r>
            <a:r>
              <a:rPr lang="en-US" sz="2400" b="1" dirty="0"/>
              <a:t>of references</a:t>
            </a:r>
            <a:r>
              <a:rPr lang="en-US" sz="2400" dirty="0"/>
              <a:t> cannot be created. A null value cannot be assigned to a </a:t>
            </a:r>
            <a:r>
              <a:rPr lang="en-US" sz="2400" b="1" dirty="0"/>
              <a:t>reference</a:t>
            </a:r>
            <a:r>
              <a:rPr lang="en-US" sz="2400" dirty="0"/>
              <a:t> but it can be assigned to a </a:t>
            </a:r>
            <a:r>
              <a:rPr lang="en-US" sz="2400" b="1" dirty="0"/>
              <a:t>pointer</a:t>
            </a:r>
            <a:r>
              <a:rPr lang="en-US" sz="2400" dirty="0"/>
              <a:t>.</a:t>
            </a:r>
          </a:p>
          <a:p>
            <a:br>
              <a:rPr lang="en-US" sz="2400" dirty="0"/>
            </a:b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888885978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8686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ourier New" pitchFamily="49" charset="0"/>
                <a:cs typeface="Courier New" pitchFamily="49" charset="0"/>
              </a:rPr>
              <a:t>c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l="22917" t="25556" r="35416" b="11481"/>
          <a:stretch/>
        </p:blipFill>
        <p:spPr>
          <a:xfrm>
            <a:off x="152400" y="381000"/>
            <a:ext cx="7391400" cy="628269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37120" y="1773853"/>
            <a:ext cx="17068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Passing a Pointer as a reference variable;</a:t>
            </a:r>
          </a:p>
        </p:txBody>
      </p:sp>
    </p:spTree>
    <p:extLst>
      <p:ext uri="{BB962C8B-B14F-4D97-AF65-F5344CB8AC3E}">
        <p14:creationId xmlns:p14="http://schemas.microsoft.com/office/powerpoint/2010/main" val="11797496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4929</TotalTime>
  <Words>5756</Words>
  <Application>Microsoft Macintosh PowerPoint</Application>
  <PresentationFormat>On-screen Show (4:3)</PresentationFormat>
  <Paragraphs>1311</Paragraphs>
  <Slides>102</Slides>
  <Notes>46</Notes>
  <HiddenSlides>16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102</vt:i4>
      </vt:variant>
    </vt:vector>
  </HeadingPairs>
  <TitlesOfParts>
    <vt:vector size="111" baseType="lpstr">
      <vt:lpstr>宋体</vt:lpstr>
      <vt:lpstr>Arial</vt:lpstr>
      <vt:lpstr>Calibri</vt:lpstr>
      <vt:lpstr>Consolas</vt:lpstr>
      <vt:lpstr>Courier New</vt:lpstr>
      <vt:lpstr>Times New Roman</vt:lpstr>
      <vt:lpstr>Trebuchet MS</vt:lpstr>
      <vt:lpstr>Wingdings</vt:lpstr>
      <vt:lpstr>Office Theme</vt:lpstr>
      <vt:lpstr>Pointers </vt:lpstr>
      <vt:lpstr>From C++ Code to Process</vt:lpstr>
      <vt:lpstr>PowerPoint Presentation</vt:lpstr>
      <vt:lpstr>C++ Memory Models</vt:lpstr>
      <vt:lpstr>C++ Memory Models</vt:lpstr>
      <vt:lpstr>Main Memory</vt:lpstr>
      <vt:lpstr>Virtual Memory  (How a CPU see’s a Process?)</vt:lpstr>
      <vt:lpstr>Organization of Virtual Memory: .text</vt:lpstr>
      <vt:lpstr>Organization of Virtual Memory: .data</vt:lpstr>
      <vt:lpstr>Organization of Virtual Memory: heap</vt:lpstr>
      <vt:lpstr>Organization of Virtual Memory: stack</vt:lpstr>
      <vt:lpstr>Summary: Process Address Space</vt:lpstr>
      <vt:lpstr>Introduction to Pointers</vt:lpstr>
      <vt:lpstr>Introduction to Pointers</vt:lpstr>
      <vt:lpstr>Introduction to Pointers</vt:lpstr>
      <vt:lpstr>The address of Operator &amp; </vt:lpstr>
      <vt:lpstr>Dereferencing Operator *</vt:lpstr>
      <vt:lpstr>Dereferencing Pointer Example</vt:lpstr>
      <vt:lpstr>Pointer Assignment and Dereferencing </vt:lpstr>
      <vt:lpstr>Example</vt:lpstr>
      <vt:lpstr>Example</vt:lpstr>
      <vt:lpstr>Variable Lifetime</vt:lpstr>
      <vt:lpstr>Example</vt:lpstr>
      <vt:lpstr>Variable Initialization</vt:lpstr>
      <vt:lpstr>Dynamic Memory Allocation</vt:lpstr>
      <vt:lpstr>Differences between Static and Dynamic Memory Allocation</vt:lpstr>
      <vt:lpstr>Dynamic Memory Allocation</vt:lpstr>
      <vt:lpstr>Example</vt:lpstr>
      <vt:lpstr>Example</vt:lpstr>
      <vt:lpstr>Example</vt:lpstr>
      <vt:lpstr>Aliasing</vt:lpstr>
      <vt:lpstr>Aliasing</vt:lpstr>
      <vt:lpstr>Aliasing</vt:lpstr>
      <vt:lpstr>Dangling Pointers</vt:lpstr>
      <vt:lpstr>Dangling Pointers</vt:lpstr>
      <vt:lpstr>Avoiding a Dangling Pointer</vt:lpstr>
      <vt:lpstr>Returning Memory to the Heap</vt:lpstr>
      <vt:lpstr>Memory Leaking</vt:lpstr>
      <vt:lpstr>Memory Leaking</vt:lpstr>
      <vt:lpstr>Memory Leaks</vt:lpstr>
      <vt:lpstr>Memory Leaking and Dangling Pointers</vt:lpstr>
      <vt:lpstr>Pointers Data-Type</vt:lpstr>
      <vt:lpstr>Pointers Type</vt:lpstr>
      <vt:lpstr>Pointers Types</vt:lpstr>
      <vt:lpstr>Pointer Assignments (Aliasing)</vt:lpstr>
      <vt:lpstr>Another Pointer Example</vt:lpstr>
      <vt:lpstr>Null Address</vt:lpstr>
      <vt:lpstr>Relationship Between Pointers and Arrays</vt:lpstr>
      <vt:lpstr>Relationship Between Pointers and Arrays (Cont.)</vt:lpstr>
      <vt:lpstr>Relationship between Arrays and Pointers</vt:lpstr>
      <vt:lpstr>Arrays and Pointers</vt:lpstr>
      <vt:lpstr>Arrays and Pointers</vt:lpstr>
      <vt:lpstr>Pointer Arithmetic</vt:lpstr>
      <vt:lpstr>Comparing Pointers</vt:lpstr>
      <vt:lpstr>Void Pointer</vt:lpstr>
      <vt:lpstr>Accessing 1-Demensional Array Using Pointers</vt:lpstr>
      <vt:lpstr>Accessing 1-Demensional Array</vt:lpstr>
      <vt:lpstr>Accessing 1-Demensional Array</vt:lpstr>
      <vt:lpstr>Accessing 2-Demensional Array</vt:lpstr>
      <vt:lpstr>Accessing 2-Demensional Array</vt:lpstr>
      <vt:lpstr>Accessing 2-Demensional Array</vt:lpstr>
      <vt:lpstr>Swapping variables using Pointers</vt:lpstr>
      <vt:lpstr>Dynamic Memory Allocation</vt:lpstr>
      <vt:lpstr>Differences between Static and Dynamic Memory Allocation</vt:lpstr>
      <vt:lpstr>Pointing to Memory Allocated at Run Time</vt:lpstr>
      <vt:lpstr>Returning Memory to the Heap</vt:lpstr>
      <vt:lpstr>Returning Memory to the Heap</vt:lpstr>
      <vt:lpstr>PowerPoint Presentation</vt:lpstr>
      <vt:lpstr>Dangling Pointers</vt:lpstr>
      <vt:lpstr>PowerPoint Presentation</vt:lpstr>
      <vt:lpstr>Returning Memory to the Heap</vt:lpstr>
      <vt:lpstr>Returning Memory to the Heap</vt:lpstr>
      <vt:lpstr>Memory Leaks</vt:lpstr>
      <vt:lpstr>PowerPoint Presentation</vt:lpstr>
      <vt:lpstr>Casting pointers</vt:lpstr>
      <vt:lpstr>Casting pointers</vt:lpstr>
      <vt:lpstr>Creating Dynamic 2D Arrays</vt:lpstr>
      <vt:lpstr>Dynamic two dimensional arrays</vt:lpstr>
      <vt:lpstr>Dynamic 2D Arrays</vt:lpstr>
      <vt:lpstr>Dynamic 2D Array – Double Pointer</vt:lpstr>
      <vt:lpstr>Dynamic 2D Array – Double Pointer</vt:lpstr>
      <vt:lpstr>Dynamic two dimensional arrays</vt:lpstr>
      <vt:lpstr>Dynamic 2D Array (Varying Row Size)</vt:lpstr>
      <vt:lpstr>Home Work</vt:lpstr>
      <vt:lpstr>3D Array Using a single pointer</vt:lpstr>
      <vt:lpstr>3D Array Using a triple pointer</vt:lpstr>
      <vt:lpstr>Constant Pointer</vt:lpstr>
      <vt:lpstr>Pointer to Constant 1/2</vt:lpstr>
      <vt:lpstr>Pointer to Constant 2/2</vt:lpstr>
      <vt:lpstr>char* and const</vt:lpstr>
      <vt:lpstr>C-String and Char Pointer</vt:lpstr>
      <vt:lpstr>char [ ] VS. char *</vt:lpstr>
      <vt:lpstr>C-String and Char Pointer</vt:lpstr>
      <vt:lpstr>C-String and Char Pointer - Example</vt:lpstr>
      <vt:lpstr>Functions Pass by using Reference Pointer</vt:lpstr>
      <vt:lpstr>Pass by Reference Pointers– Example1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aleem</dc:creator>
  <cp:lastModifiedBy>Dr. Ali Zeeshan Ijaz Assistant Professor FCS</cp:lastModifiedBy>
  <cp:revision>450</cp:revision>
  <dcterms:created xsi:type="dcterms:W3CDTF">2012-08-28T12:59:58Z</dcterms:created>
  <dcterms:modified xsi:type="dcterms:W3CDTF">2024-01-24T03:25:12Z</dcterms:modified>
</cp:coreProperties>
</file>