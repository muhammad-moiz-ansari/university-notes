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7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1" r:id="rId11"/>
    <p:sldId id="292" r:id="rId12"/>
    <p:sldId id="293" r:id="rId13"/>
    <p:sldId id="294" r:id="rId14"/>
    <p:sldId id="295" r:id="rId15"/>
    <p:sldId id="296" r:id="rId16"/>
    <p:sldId id="597" r:id="rId17"/>
    <p:sldId id="297" r:id="rId18"/>
    <p:sldId id="590" r:id="rId19"/>
    <p:sldId id="619" r:id="rId20"/>
    <p:sldId id="591" r:id="rId21"/>
    <p:sldId id="592" r:id="rId22"/>
    <p:sldId id="593" r:id="rId23"/>
    <p:sldId id="594" r:id="rId24"/>
    <p:sldId id="595" r:id="rId25"/>
    <p:sldId id="596" r:id="rId26"/>
    <p:sldId id="302" r:id="rId27"/>
    <p:sldId id="378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612" r:id="rId36"/>
    <p:sldId id="310" r:id="rId37"/>
    <p:sldId id="610" r:id="rId38"/>
    <p:sldId id="613" r:id="rId39"/>
    <p:sldId id="620" r:id="rId40"/>
    <p:sldId id="609" r:id="rId41"/>
    <p:sldId id="611" r:id="rId42"/>
    <p:sldId id="614" r:id="rId43"/>
    <p:sldId id="615" r:id="rId44"/>
    <p:sldId id="621" r:id="rId45"/>
    <p:sldId id="407" r:id="rId46"/>
    <p:sldId id="475" r:id="rId47"/>
    <p:sldId id="476" r:id="rId48"/>
    <p:sldId id="477" r:id="rId49"/>
    <p:sldId id="598" r:id="rId50"/>
    <p:sldId id="599" r:id="rId51"/>
    <p:sldId id="479" r:id="rId52"/>
    <p:sldId id="600" r:id="rId53"/>
    <p:sldId id="601" r:id="rId54"/>
    <p:sldId id="602" r:id="rId55"/>
    <p:sldId id="603" r:id="rId56"/>
    <p:sldId id="604" r:id="rId57"/>
    <p:sldId id="605" r:id="rId58"/>
    <p:sldId id="606" r:id="rId59"/>
    <p:sldId id="607" r:id="rId60"/>
    <p:sldId id="608" r:id="rId61"/>
    <p:sldId id="622" r:id="rId62"/>
    <p:sldId id="481" r:id="rId63"/>
    <p:sldId id="482" r:id="rId64"/>
    <p:sldId id="489" r:id="rId65"/>
    <p:sldId id="490" r:id="rId66"/>
    <p:sldId id="553" r:id="rId67"/>
    <p:sldId id="617" r:id="rId68"/>
    <p:sldId id="618" r:id="rId69"/>
    <p:sldId id="616" r:id="rId70"/>
    <p:sldId id="497" r:id="rId71"/>
    <p:sldId id="498" r:id="rId72"/>
    <p:sldId id="499" r:id="rId73"/>
    <p:sldId id="500" r:id="rId74"/>
    <p:sldId id="623" r:id="rId75"/>
    <p:sldId id="647" r:id="rId76"/>
    <p:sldId id="648" r:id="rId77"/>
    <p:sldId id="649" r:id="rId78"/>
    <p:sldId id="469" r:id="rId79"/>
    <p:sldId id="556" r:id="rId80"/>
    <p:sldId id="557" r:id="rId81"/>
    <p:sldId id="558" r:id="rId82"/>
    <p:sldId id="627" r:id="rId83"/>
    <p:sldId id="625" r:id="rId84"/>
    <p:sldId id="624" r:id="rId85"/>
    <p:sldId id="628" r:id="rId86"/>
    <p:sldId id="629" r:id="rId87"/>
    <p:sldId id="560" r:id="rId88"/>
    <p:sldId id="561" r:id="rId89"/>
    <p:sldId id="562" r:id="rId90"/>
    <p:sldId id="563" r:id="rId91"/>
    <p:sldId id="570" r:id="rId92"/>
    <p:sldId id="630" r:id="rId93"/>
    <p:sldId id="631" r:id="rId94"/>
    <p:sldId id="632" r:id="rId95"/>
    <p:sldId id="633" r:id="rId96"/>
    <p:sldId id="634" r:id="rId97"/>
    <p:sldId id="635" r:id="rId98"/>
    <p:sldId id="636" r:id="rId99"/>
    <p:sldId id="579" r:id="rId100"/>
    <p:sldId id="580" r:id="rId101"/>
    <p:sldId id="581" r:id="rId102"/>
    <p:sldId id="582" r:id="rId103"/>
    <p:sldId id="583" r:id="rId104"/>
    <p:sldId id="584" r:id="rId105"/>
    <p:sldId id="585" r:id="rId106"/>
    <p:sldId id="586" r:id="rId107"/>
    <p:sldId id="587" r:id="rId108"/>
    <p:sldId id="642" r:id="rId109"/>
    <p:sldId id="644" r:id="rId110"/>
    <p:sldId id="645" r:id="rId111"/>
    <p:sldId id="646" r:id="rId112"/>
    <p:sldId id="641" r:id="rId113"/>
    <p:sldId id="638" r:id="rId114"/>
    <p:sldId id="637" r:id="rId115"/>
    <p:sldId id="639" r:id="rId1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BC7"/>
    <a:srgbClr val="E9EFF7"/>
    <a:srgbClr val="008000"/>
    <a:srgbClr val="D20000"/>
    <a:srgbClr val="2C14DE"/>
    <a:srgbClr val="B80000"/>
    <a:srgbClr val="27558D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3" autoAdjust="0"/>
    <p:restoredTop sz="79048" autoAdjust="0"/>
  </p:normalViewPr>
  <p:slideViewPr>
    <p:cSldViewPr>
      <p:cViewPr varScale="1">
        <p:scale>
          <a:sx n="100" d="100"/>
          <a:sy n="100" d="100"/>
        </p:scale>
        <p:origin x="2576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57.xml"/><Relationship Id="rId13" Type="http://schemas.openxmlformats.org/officeDocument/2006/relationships/slide" Target="slides/slide86.xml"/><Relationship Id="rId18" Type="http://schemas.openxmlformats.org/officeDocument/2006/relationships/slide" Target="slides/slide94.xml"/><Relationship Id="rId3" Type="http://schemas.openxmlformats.org/officeDocument/2006/relationships/slide" Target="slides/slide47.xml"/><Relationship Id="rId21" Type="http://schemas.openxmlformats.org/officeDocument/2006/relationships/slide" Target="slides/slide97.xml"/><Relationship Id="rId7" Type="http://schemas.openxmlformats.org/officeDocument/2006/relationships/slide" Target="slides/slide54.xml"/><Relationship Id="rId12" Type="http://schemas.openxmlformats.org/officeDocument/2006/relationships/slide" Target="slides/slide79.xml"/><Relationship Id="rId17" Type="http://schemas.openxmlformats.org/officeDocument/2006/relationships/slide" Target="slides/slide93.xml"/><Relationship Id="rId2" Type="http://schemas.openxmlformats.org/officeDocument/2006/relationships/slide" Target="slides/slide23.xml"/><Relationship Id="rId16" Type="http://schemas.openxmlformats.org/officeDocument/2006/relationships/slide" Target="slides/slide92.xml"/><Relationship Id="rId20" Type="http://schemas.openxmlformats.org/officeDocument/2006/relationships/slide" Target="slides/slide96.xml"/><Relationship Id="rId1" Type="http://schemas.openxmlformats.org/officeDocument/2006/relationships/slide" Target="slides/slide22.xml"/><Relationship Id="rId6" Type="http://schemas.openxmlformats.org/officeDocument/2006/relationships/slide" Target="slides/slide53.xml"/><Relationship Id="rId11" Type="http://schemas.openxmlformats.org/officeDocument/2006/relationships/slide" Target="slides/slide60.xml"/><Relationship Id="rId5" Type="http://schemas.openxmlformats.org/officeDocument/2006/relationships/slide" Target="slides/slide52.xml"/><Relationship Id="rId15" Type="http://schemas.openxmlformats.org/officeDocument/2006/relationships/slide" Target="slides/slide91.xml"/><Relationship Id="rId10" Type="http://schemas.openxmlformats.org/officeDocument/2006/relationships/slide" Target="slides/slide59.xml"/><Relationship Id="rId19" Type="http://schemas.openxmlformats.org/officeDocument/2006/relationships/slide" Target="slides/slide95.xml"/><Relationship Id="rId4" Type="http://schemas.openxmlformats.org/officeDocument/2006/relationships/slide" Target="slides/slide48.xml"/><Relationship Id="rId9" Type="http://schemas.openxmlformats.org/officeDocument/2006/relationships/slide" Target="slides/slide58.xml"/><Relationship Id="rId14" Type="http://schemas.openxmlformats.org/officeDocument/2006/relationships/slide" Target="slides/slide89.xml"/><Relationship Id="rId22" Type="http://schemas.openxmlformats.org/officeDocument/2006/relationships/slide" Target="slides/slide10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2/19/24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understanding-exit-abort-and-assert/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ismnet.com/~mcmahon/Notes/default.html#initialization" TargetMode="External"/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when-do-we-use-initializer-list-in-c/" TargetMode="External"/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Declarative programming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where you say what you want without having to say how to do it. With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 programming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have to specify exact steps to get the result. For example, SQL is more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declarative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because the queries don't specify steps to produce the result.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("Meta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 is a general-purpose functional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programming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84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Unified Modeling Language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 general-purpose, developmental, modeling language in the field of software engineering that is intended to provide a standard way to visualize the design of a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68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489414D-0126-43F0-BBDF-989A2978F2AB}" type="slidenum">
              <a:rPr lang="en-US" sz="1200"/>
              <a:pPr eaLnBrk="1" hangingPunct="1"/>
              <a:t>22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8651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304CAE1-F8BC-486F-B630-F9D77232B580}" type="slidenum">
              <a:rPr lang="en-US" sz="1200"/>
              <a:pPr eaLnBrk="1" hangingPunct="1"/>
              <a:t>23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77863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 constructor can be public or private.</a:t>
            </a:r>
          </a:p>
          <a:p>
            <a:r>
              <a:rPr lang="en-US" dirty="0"/>
              <a:t>If there are multiple constructors of a</a:t>
            </a:r>
            <a:r>
              <a:rPr lang="en-US" baseline="0" dirty="0"/>
              <a:t> class, then the </a:t>
            </a:r>
            <a:r>
              <a:rPr lang="en-US" b="1" baseline="0" dirty="0"/>
              <a:t>constructor being used to construct an object must be public</a:t>
            </a:r>
            <a:r>
              <a:rPr lang="en-US" baseline="0" dirty="0"/>
              <a:t>. Although, the constructors not being used to construct objects may still be “Private”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90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E517AC5-9AA3-4408-876C-57C59914222F}" type="slidenum">
              <a:rPr lang="en-US" sz="1200"/>
              <a:pPr eaLnBrk="1" hangingPunct="1"/>
              <a:t>27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97366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ERROR:</a:t>
            </a:r>
            <a:r>
              <a:rPr lang="en-US" b="1" baseline="0" dirty="0"/>
              <a:t> No Argument constructor not provided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98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35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019006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37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565316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property of an object goes into effect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constructor finishes executing 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 ends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class's destructor executes. So the constructor and destructor can modify the object, but other methods of the class can't.</a:t>
            </a:r>
          </a:p>
          <a:p>
            <a:endParaRPr lang="en-US" dirty="0"/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reason for this is that the compiler cannot decide whether a method performs write operations or only read operations with data members unless additional information is supplied.</a:t>
            </a:r>
            <a:br>
              <a:rPr lang="en-US" dirty="0"/>
            </a:br>
            <a:endParaRPr lang="fr-FR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38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063217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property of an object goes into effect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constructor finishes executing 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 ends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class's destructor executes. So the constructor and destructor can modify the object, but other methods of the class can't.</a:t>
            </a:r>
          </a:p>
          <a:p>
            <a:endParaRPr lang="en-US" dirty="0"/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reason for this is that the compiler cannot decide whether a method performs write operations or only read operations with data members unless additional information is supplied.</a:t>
            </a:r>
            <a:br>
              <a:rPr lang="en-US" dirty="0"/>
            </a:br>
            <a:endParaRPr lang="fr-FR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39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2678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40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23364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41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00357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42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820956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43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99182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44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75054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C99EE14-42A3-4EA0-A56F-F4219FA2BE2A}" type="slidenum">
              <a:rPr lang="en-US" sz="1200"/>
              <a:pPr eaLnBrk="1" hangingPunct="1"/>
              <a:t>46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72886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ifndef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checks whether the given token has been #defined earlier in the file or in an included file; if not, it includes the code between it and the closing #else or, if no #else is present, #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statement.</a:t>
            </a: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8678104-3FEC-4F74-91CC-157FC9576882}" type="slidenum">
              <a:rPr lang="en-US" sz="1200"/>
              <a:pPr eaLnBrk="1" hangingPunct="1"/>
              <a:t>47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4948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74D3453-0BA6-4022-85FF-CEFD66D48CE9}" type="slidenum">
              <a:rPr lang="en-US" sz="1200"/>
              <a:pPr eaLnBrk="1" hangingPunct="1"/>
              <a:t>48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18725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you define any a</a:t>
            </a:r>
            <a:r>
              <a:rPr lang="en-US" baseline="0" dirty="0"/>
              <a:t>n argument based constructor </a:t>
            </a:r>
            <a:r>
              <a:rPr lang="en-US" baseline="0" dirty="0">
                <a:sym typeface="Wingdings" panose="05000000000000000000" pitchFamily="2" charset="2"/>
              </a:rPr>
              <a:t> </a:t>
            </a:r>
            <a:r>
              <a:rPr lang="en-US" b="1" baseline="0" dirty="0"/>
              <a:t>YOU MUST ALO DEFINE A NO-ARGUMENT </a:t>
            </a:r>
            <a:r>
              <a:rPr lang="en-US" baseline="0" dirty="0"/>
              <a:t>constructor yourself.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F5A00E1-12D1-4748-A3D2-7F7797D8F8B2}" type="slidenum">
              <a:rPr lang="en-US" sz="1200">
                <a:latin typeface="Times New Roman" panose="02020603050405020304" pitchFamily="18" charset="0"/>
              </a:rPr>
              <a:pPr eaLnBrk="1" hangingPunct="1"/>
              <a:t>51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13" tIns="44956" rIns="89913" bIns="44956"/>
          <a:lstStyle/>
          <a:p>
            <a:endParaRPr lang="fr-F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59638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default constructor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constructor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that either has no parameters, or if it has parameters, all the parameters have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default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values.</a:t>
            </a:r>
            <a:b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</a:b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When prototype is written then only prototype has default value but not the definition of function.</a:t>
            </a:r>
            <a:endParaRPr lang="fr-FR" b="1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1AD8B68-8AFB-49ED-B321-1665E8BA1EFD}" type="slidenum">
              <a:rPr lang="en-US" sz="1200"/>
              <a:pPr eaLnBrk="1" hangingPunct="1"/>
              <a:t>52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150343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38DFCFD-661E-431F-AC27-5A8525967573}" type="slidenum">
              <a:rPr lang="en-US" sz="1200"/>
              <a:pPr eaLnBrk="1" hangingPunct="1"/>
              <a:t>53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059641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1D67C0D-0582-4037-AAFC-2DD49FBC5D0B}" type="slidenum">
              <a:rPr lang="en-US" sz="1200"/>
              <a:pPr eaLnBrk="1" hangingPunct="1"/>
              <a:t>54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7972428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r-FR" b="1" dirty="0" err="1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const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b="1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b="1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: 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That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cannot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modify</a:t>
            </a:r>
            <a:r>
              <a:rPr lang="fr-FR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class data </a:t>
            </a:r>
            <a:r>
              <a:rPr lang="fr-FR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members</a:t>
            </a:r>
            <a:endParaRPr lang="fr-FR" baseline="0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static</a:t>
            </a:r>
            <a:r>
              <a:rPr lang="fr-FR" b="1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b="1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b="1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: 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class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level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(not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assosiated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with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any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object</a:t>
            </a:r>
            <a:r>
              <a:rPr lang="fr-FR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volatile</a:t>
            </a: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b="1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virtual</a:t>
            </a: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b="1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C++ virtual function is a member function in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that you redefine in a derived class</a:t>
            </a:r>
            <a:endParaRPr lang="fr-FR" b="1" baseline="0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pure-</a:t>
            </a:r>
            <a:r>
              <a:rPr lang="fr-FR" b="1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virtual</a:t>
            </a: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</a:t>
            </a:r>
            <a:r>
              <a:rPr lang="fr-FR" b="1" baseline="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function</a:t>
            </a:r>
            <a:r>
              <a:rPr lang="fr-FR" b="1" baseline="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pure virtual function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function in C++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which we need not to write any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definition and only we have to declare it</a:t>
            </a:r>
            <a:endParaRPr lang="fr-FR" b="1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4F13B0B-DA1B-43AB-8679-B6491A654938}" type="slidenum">
              <a:rPr lang="en-US" sz="1200"/>
              <a:pPr eaLnBrk="1" hangingPunct="1"/>
              <a:t>55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3892877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Abort: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Aborts the current process, producing an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abnormal program termination.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exit()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terminates the calling process without executing the rest code which is after the exit() function.</a:t>
            </a:r>
            <a:br>
              <a:rPr lang="en-US" b="1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_Exit()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in C/C++ gives normal termination of a program without performing any cleanup tasks.</a:t>
            </a:r>
            <a:endParaRPr lang="fr-FR" b="1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B0402A4-0676-4B37-9E58-0EFC29AB3E99}" type="slidenum">
              <a:rPr lang="en-US" sz="1200"/>
              <a:pPr eaLnBrk="1" hangingPunct="1"/>
              <a:t>56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7962759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F02E1CB-8E81-477C-AC36-A4F8C04A01B8}" type="slidenum">
              <a:rPr lang="en-US" sz="1200"/>
              <a:pPr eaLnBrk="1" hangingPunct="1"/>
              <a:t>57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4227288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0B627D3-C5E1-4E3B-86FF-BECCE06EAB33}" type="slidenum">
              <a:rPr lang="en-US" sz="1200"/>
              <a:pPr eaLnBrk="1" hangingPunct="1"/>
              <a:t>58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085976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Static objects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are declared with the keyword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static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They are initialized only once and stored in the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static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storage area. The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static objects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are only destroyed when the program terminates i.e. they live until program termination</a:t>
            </a:r>
            <a:endParaRPr lang="fr-FR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46935C4-6722-47C0-943A-E7895FB86D22}" type="slidenum">
              <a:rPr lang="en-US" sz="1200"/>
              <a:pPr eaLnBrk="1" hangingPunct="1"/>
              <a:t>59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76955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455716-DFFE-484C-8D58-A1CA3DD1C1E0}" type="slidenum">
              <a:rPr lang="en-US" sz="1200"/>
              <a:pPr eaLnBrk="1" hangingPunct="1"/>
              <a:t>60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540552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4BD3AE4-EBF5-4B30-BAE0-E0AEC1ADB7C2}" type="slidenum">
              <a:rPr lang="en-US" sz="1200">
                <a:latin typeface="Times New Roman" panose="02020603050405020304" pitchFamily="18" charset="0"/>
              </a:rPr>
              <a:pPr eaLnBrk="1" hangingPunct="1"/>
              <a:t>62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13" tIns="44956" rIns="89913" bIns="44956"/>
          <a:lstStyle/>
          <a:p>
            <a:r>
              <a:rPr lang="fr-FR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Return by value calls copy </a:t>
            </a:r>
            <a:r>
              <a:rPr lang="fr-FR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constructor</a:t>
            </a:r>
            <a:r>
              <a:rPr lang="fr-FR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64254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856FC49-76DE-4DF1-A367-A88063ADF932}" type="slidenum">
              <a:rPr lang="en-US" sz="1200">
                <a:latin typeface="Times New Roman" panose="02020603050405020304" pitchFamily="18" charset="0"/>
              </a:rPr>
              <a:pPr eaLnBrk="1" hangingPunct="1"/>
              <a:t>63</a:t>
            </a:fld>
            <a:endParaRPr lang="en-US" sz="120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13" tIns="44956" rIns="89913" bIns="44956"/>
          <a:lstStyle/>
          <a:p>
            <a:endParaRPr lang="fr-F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72481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we don’t define our own copy constructor, the C++ compiler creates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 copy constructor for each class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does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member-wise copy between objects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440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 constructor 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called when a new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 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created from an existing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existing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Assignment operator 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called when an already initialized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 is assigned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new value from another existing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648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 constructor 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called when a new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 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created from an existing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existing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Assignment operator 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called when an already initialized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 is assigned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new value from another existing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25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for dynamic memory or pointers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540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544AD9E-D30C-4EB1-A24A-0062B84E8B68}" type="slidenum">
              <a:rPr lang="en-US"/>
              <a:pPr eaLnBrk="1" hangingPunct="1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97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 definition statement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causes the variable to be created in memory and is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compulsory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fr-FR" dirty="0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299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There is no </a:t>
            </a:r>
            <a:r>
              <a:rPr lang="en-US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this</a:t>
            </a:r>
            <a:r>
              <a:rPr 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 pointer 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static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functions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, they </a:t>
            </a:r>
            <a:r>
              <a:rPr 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exist independent of objects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sharing variables across object instances and making variables accessible are independent of each other. There are four combinations of (shared, accessible) pairs. All four are available to you: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static variable is shared and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static variable is shared, but not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 non-static variable is not shared, but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 non-static variable is neither shared nor accessible outside the class</a:t>
            </a:r>
          </a:p>
          <a:p>
            <a:endParaRPr lang="fr-FR" b="1" dirty="0">
              <a:ea typeface="ＭＳ Ｐゴシック" panose="020B0600070205080204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709F292-073F-4653-A5B6-E92CE176666A}" type="slidenum">
              <a:rPr lang="en-US"/>
              <a:pPr eaLnBrk="1" hangingPunct="1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404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There is no </a:t>
            </a:r>
            <a:r>
              <a:rPr lang="en-US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this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pointer for </a:t>
            </a:r>
            <a:r>
              <a:rPr lang="en-US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static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functions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, they </a:t>
            </a:r>
            <a:r>
              <a:rPr 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exist independent of objects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sharing variables across object instances and making variables accessible are independent of each other. There are four combinations of (shared, accessible) pairs. All four are available to you: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static variable is shared and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static variable is shared, but not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 non-static variable is not shared, but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 non-static variable is neither shared nor accessible outside the class</a:t>
            </a:r>
          </a:p>
          <a:p>
            <a:endParaRPr lang="fr-FR" b="1" dirty="0">
              <a:ea typeface="ＭＳ Ｐゴシック" panose="020B0600070205080204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709F292-073F-4653-A5B6-E92CE176666A}" type="slidenum">
              <a:rPr lang="en-US"/>
              <a:pPr eaLnBrk="1" hangingPunct="1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317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254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40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766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CBE334A-CF0B-4C5E-B109-9F71933F1B97}" type="slidenum">
              <a:rPr lang="en-US"/>
              <a:pPr eaLnBrk="1" hangingPunct="1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100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statements used to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assumptions made by programmer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For example, we may use assertion to check if pointer returned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malloc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is NULL or not.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Following is syntax for assertion.</a:t>
            </a:r>
          </a:p>
          <a:p>
            <a:pPr fontAlgn="base"/>
            <a:r>
              <a:rPr lang="en-US" b="1" dirty="0"/>
              <a:t>void assert( </a:t>
            </a:r>
            <a:r>
              <a:rPr lang="en-US" b="1" dirty="0" err="1"/>
              <a:t>int</a:t>
            </a:r>
            <a:r>
              <a:rPr lang="en-US" b="1" dirty="0"/>
              <a:t> expression );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expression evaluates to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(false), then the expression,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sourcecode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filename, and line number are sent to the standard error, and then abort() function is called., Otherwise moves to next statement</a:t>
            </a:r>
          </a:p>
          <a:p>
            <a:endParaRPr lang="fr-FR" dirty="0">
              <a:ea typeface="ＭＳ Ｐゴシック" panose="020B0600070205080204" pitchFamily="34" charset="-128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98E01F3-5043-482F-8D37-1F0B1EE640D2}" type="slidenum">
              <a:rPr lang="en-US"/>
              <a:pPr eaLnBrk="1" hangingPunct="1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620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916F6E8-66DF-4656-8CC9-69EB09979BF7}" type="slidenum">
              <a:rPr lang="en-US"/>
              <a:pPr eaLnBrk="1" hangingPunct="1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1988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ADBE7E7-BA89-48DE-BE1C-B4FECA331984}" type="slidenum">
              <a:rPr lang="en-US"/>
              <a:pPr eaLnBrk="1" hangingPunct="1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215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900D07F-EDB8-427C-84F2-3348ADC3A5EB}" type="slidenum">
              <a:rPr lang="en-US"/>
              <a:pPr eaLnBrk="1" hangingPunct="1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0568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A42AB1D-5DC7-4A72-B12C-291C4A5FADC9}" type="slidenum">
              <a:rPr lang="en-US"/>
              <a:pPr eaLnBrk="1" hangingPunct="1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530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b="1" dirty="0">
                <a:ea typeface="ＭＳ Ｐゴシック" panose="020B0600070205080204" pitchFamily="34" charset="-128"/>
              </a:rPr>
              <a:t>OUTPUT: </a:t>
            </a:r>
          </a:p>
          <a:p>
            <a:r>
              <a:rPr lang="fr-FR" b="1" dirty="0">
                <a:ea typeface="ＭＳ Ｐゴシック" panose="020B0600070205080204" pitchFamily="34" charset="-128"/>
              </a:rPr>
              <a:t>x = 10, y = 15 </a:t>
            </a: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A42AB1D-5DC7-4A72-B12C-291C4A5FADC9}" type="slidenum">
              <a:rPr lang="en-US"/>
              <a:pPr eaLnBrk="1" hangingPunct="1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475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const</a:t>
            </a: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data member cannot be initialized at the time of declaration or within the member function definition.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Such a data member </a:t>
            </a:r>
            <a:r>
              <a:rPr lang="en-GB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must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be initialized by the constructor using an </a:t>
            </a:r>
            <a:r>
              <a:rPr lang="en-GB" b="0" i="0" dirty="0">
                <a:effectLst/>
                <a:latin typeface="Times New Roman" panose="02020603050405020304" pitchFamily="18" charset="0"/>
                <a:hlinkClick r:id="rId3"/>
              </a:rPr>
              <a:t>initialization list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br>
              <a:rPr lang="fr-FR" b="1" dirty="0">
                <a:ea typeface="ＭＳ Ｐゴシック" panose="020B0600070205080204" pitchFamily="34" charset="-128"/>
              </a:rPr>
            </a:br>
            <a:r>
              <a:rPr lang="fr-FR" b="1" dirty="0">
                <a:ea typeface="ＭＳ Ｐゴシック" panose="020B0600070205080204" pitchFamily="34" charset="-128"/>
              </a:rPr>
              <a:t>OUTPUT: </a:t>
            </a:r>
            <a:r>
              <a:rPr lang="fr-FR" b="1" baseline="0" dirty="0">
                <a:ea typeface="ＭＳ Ｐゴシック" panose="020B0600070205080204" pitchFamily="34" charset="-128"/>
              </a:rPr>
              <a:t> 10</a:t>
            </a:r>
            <a:endParaRPr lang="fr-FR" b="1" dirty="0">
              <a:ea typeface="ＭＳ Ｐゴシック" panose="020B0600070205080204" pitchFamily="34" charset="-128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A42AB1D-5DC7-4A72-B12C-291C4A5FADC9}" type="slidenum">
              <a:rPr lang="en-US"/>
              <a:pPr eaLnBrk="1" hangingPunct="1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6130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b="1" dirty="0">
                <a:ea typeface="ＭＳ Ｐゴシック" panose="020B0600070205080204" pitchFamily="34" charset="-128"/>
              </a:rPr>
              <a:t>OUTPUT: </a:t>
            </a:r>
            <a:r>
              <a:rPr lang="fr-FR" b="1" baseline="0" dirty="0">
                <a:ea typeface="ＭＳ Ｐゴシック" panose="020B0600070205080204" pitchFamily="34" charset="-128"/>
              </a:rPr>
              <a:t> </a:t>
            </a:r>
          </a:p>
          <a:p>
            <a:r>
              <a:rPr lang="fr-FR" b="1" baseline="0" dirty="0">
                <a:ea typeface="ＭＳ Ｐゴシック" panose="020B0600070205080204" pitchFamily="34" charset="-128"/>
              </a:rPr>
              <a:t>20</a:t>
            </a:r>
          </a:p>
          <a:p>
            <a:r>
              <a:rPr lang="fr-FR" b="1" baseline="0" dirty="0">
                <a:ea typeface="ＭＳ Ｐゴシック" panose="020B0600070205080204" pitchFamily="34" charset="-128"/>
              </a:rPr>
              <a:t>30</a:t>
            </a:r>
          </a:p>
          <a:p>
            <a:endParaRPr lang="fr-FR" b="1" baseline="0" dirty="0">
              <a:ea typeface="ＭＳ Ｐゴシック" panose="020B0600070205080204" pitchFamily="34" charset="-128"/>
            </a:endParaRPr>
          </a:p>
          <a:p>
            <a:r>
              <a:rPr lang="fr-FR" b="0" baseline="0" dirty="0">
                <a:ea typeface="ＭＳ Ｐゴシック" panose="020B0600070205080204" pitchFamily="34" charset="-128"/>
              </a:rPr>
              <a:t>NOT: IF </a:t>
            </a:r>
            <a:r>
              <a:rPr lang="fr-FR" b="0" baseline="0" dirty="0" err="1">
                <a:ea typeface="ＭＳ Ｐゴシック" panose="020B0600070205080204" pitchFamily="34" charset="-128"/>
              </a:rPr>
              <a:t>refrence</a:t>
            </a:r>
            <a:r>
              <a:rPr lang="fr-FR" b="0" baseline="0" dirty="0">
                <a:ea typeface="ＭＳ Ｐゴシック" panose="020B0600070205080204" pitchFamily="34" charset="-128"/>
              </a:rPr>
              <a:t> variable </a:t>
            </a:r>
            <a:r>
              <a:rPr lang="fr-FR" b="0" baseline="0" dirty="0" err="1">
                <a:ea typeface="ＭＳ Ｐゴシック" panose="020B0600070205080204" pitchFamily="34" charset="-128"/>
              </a:rPr>
              <a:t>is</a:t>
            </a:r>
            <a:r>
              <a:rPr lang="fr-FR" b="0" baseline="0" dirty="0">
                <a:ea typeface="ＭＳ Ｐゴシック" panose="020B0600070205080204" pitchFamily="34" charset="-128"/>
              </a:rPr>
              <a:t> not </a:t>
            </a:r>
            <a:r>
              <a:rPr lang="fr-FR" b="0" baseline="0" dirty="0" err="1">
                <a:ea typeface="ＭＳ Ｐゴシック" panose="020B0600070205080204" pitchFamily="34" charset="-128"/>
              </a:rPr>
              <a:t>initializaed</a:t>
            </a:r>
            <a:r>
              <a:rPr lang="fr-FR" b="0" baseline="0" dirty="0">
                <a:ea typeface="ＭＳ Ｐゴシック" panose="020B0600070205080204" pitchFamily="34" charset="-128"/>
              </a:rPr>
              <a:t> in </a:t>
            </a:r>
            <a:r>
              <a:rPr lang="fr-FR" b="0" baseline="0" dirty="0" err="1">
                <a:ea typeface="ＭＳ Ｐゴシック" panose="020B0600070205080204" pitchFamily="34" charset="-128"/>
              </a:rPr>
              <a:t>initialization</a:t>
            </a:r>
            <a:r>
              <a:rPr lang="fr-FR" b="0" baseline="0" dirty="0">
                <a:ea typeface="ＭＳ Ｐゴシック" panose="020B0600070205080204" pitchFamily="34" charset="-128"/>
              </a:rPr>
              <a:t> </a:t>
            </a:r>
            <a:r>
              <a:rPr lang="fr-FR" b="0" baseline="0" dirty="0" err="1">
                <a:ea typeface="ＭＳ Ｐゴシック" panose="020B0600070205080204" pitchFamily="34" charset="-128"/>
              </a:rPr>
              <a:t>list</a:t>
            </a:r>
            <a:r>
              <a:rPr lang="fr-FR" b="0" baseline="0" dirty="0">
                <a:ea typeface="ＭＳ Ｐゴシック" panose="020B0600070205080204" pitchFamily="34" charset="-128"/>
              </a:rPr>
              <a:t> and </a:t>
            </a:r>
            <a:r>
              <a:rPr lang="fr-FR" b="0" baseline="0" dirty="0" err="1">
                <a:ea typeface="ＭＳ Ｐゴシック" panose="020B0600070205080204" pitchFamily="34" charset="-128"/>
              </a:rPr>
              <a:t>intitliazed</a:t>
            </a:r>
            <a:r>
              <a:rPr lang="fr-FR" b="0" baseline="0" dirty="0">
                <a:ea typeface="ＭＳ Ｐゴシック" panose="020B0600070205080204" pitchFamily="34" charset="-128"/>
              </a:rPr>
              <a:t> </a:t>
            </a:r>
            <a:r>
              <a:rPr lang="fr-FR" b="0" baseline="0" dirty="0" err="1">
                <a:ea typeface="ＭＳ Ｐゴシック" panose="020B0600070205080204" pitchFamily="34" charset="-128"/>
              </a:rPr>
              <a:t>within</a:t>
            </a:r>
            <a:r>
              <a:rPr lang="fr-FR" b="0" baseline="0" dirty="0">
                <a:ea typeface="ＭＳ Ｐゴシック" panose="020B0600070205080204" pitchFamily="34" charset="-128"/>
              </a:rPr>
              <a:t> </a:t>
            </a:r>
            <a:r>
              <a:rPr lang="fr-FR" b="0" baseline="0" dirty="0" err="1">
                <a:ea typeface="ＭＳ Ｐゴシック" panose="020B0600070205080204" pitchFamily="34" charset="-128"/>
              </a:rPr>
              <a:t>constructor</a:t>
            </a:r>
            <a:r>
              <a:rPr lang="fr-FR" b="0" baseline="0" dirty="0">
                <a:ea typeface="ＭＳ Ｐゴシック" panose="020B0600070205080204" pitchFamily="34" charset="-128"/>
              </a:rPr>
              <a:t>, </a:t>
            </a:r>
            <a:r>
              <a:rPr lang="fr-FR" b="0" baseline="0" dirty="0" err="1">
                <a:ea typeface="ＭＳ Ｐゴシック" panose="020B0600070205080204" pitchFamily="34" charset="-128"/>
              </a:rPr>
              <a:t>we</a:t>
            </a:r>
            <a:r>
              <a:rPr lang="fr-FR" b="0" baseline="0" dirty="0">
                <a:ea typeface="ＭＳ Ｐゴシック" panose="020B0600070205080204" pitchFamily="34" charset="-128"/>
              </a:rPr>
              <a:t> </a:t>
            </a:r>
            <a:r>
              <a:rPr lang="fr-FR" b="0" baseline="0" dirty="0" err="1">
                <a:ea typeface="ＭＳ Ｐゴシック" panose="020B0600070205080204" pitchFamily="34" charset="-128"/>
              </a:rPr>
              <a:t>get</a:t>
            </a:r>
            <a:r>
              <a:rPr lang="fr-FR" b="0" baseline="0" dirty="0">
                <a:ea typeface="ＭＳ Ｐゴシック" panose="020B0600070205080204" pitchFamily="34" charset="-128"/>
              </a:rPr>
              <a:t> an </a:t>
            </a:r>
            <a:r>
              <a:rPr lang="fr-FR" b="0" baseline="0" dirty="0" err="1">
                <a:ea typeface="ＭＳ Ｐゴシック" panose="020B0600070205080204" pitchFamily="34" charset="-128"/>
              </a:rPr>
              <a:t>error</a:t>
            </a:r>
            <a:r>
              <a:rPr lang="fr-FR" b="0" baseline="0" dirty="0">
                <a:ea typeface="ＭＳ Ｐゴシック" panose="020B0600070205080204" pitchFamily="34" charset="-128"/>
              </a:rPr>
              <a:t> message</a:t>
            </a: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A42AB1D-5DC7-4A72-B12C-291C4A5FADC9}" type="slidenum">
              <a:rPr lang="en-US"/>
              <a:pPr eaLnBrk="1" hangingPunct="1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0067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b="1" dirty="0">
                <a:ea typeface="ＭＳ Ｐゴシック" panose="020B0600070205080204" pitchFamily="34" charset="-128"/>
              </a:rPr>
              <a:t>OUTPUT: </a:t>
            </a:r>
            <a:r>
              <a:rPr lang="fr-FR" b="1" baseline="0" dirty="0">
                <a:ea typeface="ＭＳ Ｐゴシック" panose="020B0600070205080204" pitchFamily="34" charset="-128"/>
              </a:rPr>
              <a:t> </a:t>
            </a:r>
          </a:p>
          <a:p>
            <a:r>
              <a:rPr lang="en-US" b="1" dirty="0"/>
              <a:t>A's Constructor called: Value of i: 10 </a:t>
            </a:r>
          </a:p>
          <a:p>
            <a:r>
              <a:rPr lang="en-US" b="1" dirty="0"/>
              <a:t>B's Constructor called</a:t>
            </a:r>
            <a:endParaRPr lang="fr-FR" b="1" baseline="0" dirty="0">
              <a:ea typeface="ＭＳ Ｐゴシック" panose="020B0600070205080204" pitchFamily="34" charset="-128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A42AB1D-5DC7-4A72-B12C-291C4A5FADC9}" type="slidenum">
              <a:rPr lang="en-US"/>
              <a:pPr eaLnBrk="1" hangingPunct="1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651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ea typeface="ＭＳ Ｐゴシック" panose="020B0600070205080204" pitchFamily="34" charset="-128"/>
              </a:rPr>
              <a:t>OUTPUT: </a:t>
            </a:r>
            <a:r>
              <a:rPr lang="fr-FR" b="1" baseline="0" dirty="0">
                <a:ea typeface="ＭＳ Ｐゴシック" panose="020B0600070205080204" pitchFamily="34" charset="-128"/>
              </a:rPr>
              <a:t> </a:t>
            </a:r>
          </a:p>
          <a:p>
            <a:r>
              <a:rPr lang="fr-FR" b="1" baseline="0" dirty="0">
                <a:ea typeface="ＭＳ Ｐゴシック" panose="020B0600070205080204" pitchFamily="34" charset="-128"/>
              </a:rPr>
              <a:t>10</a:t>
            </a: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A42AB1D-5DC7-4A72-B12C-291C4A5FADC9}" type="slidenum">
              <a:rPr lang="en-US"/>
              <a:pPr eaLnBrk="1" hangingPunct="1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5538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>
                <a:hlinkClick r:id="rId3"/>
              </a:rPr>
              <a:t>https://www.geeksforgeeks.org/when-do-we-use-initializer-list-in-c/</a:t>
            </a:r>
            <a:endParaRPr lang="fr-FR" b="1" baseline="0" dirty="0">
              <a:ea typeface="ＭＳ Ｐゴシック" panose="020B0600070205080204" pitchFamily="34" charset="-128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A42AB1D-5DC7-4A72-B12C-291C4A5FADC9}" type="slidenum">
              <a:rPr lang="en-US"/>
              <a:pPr eaLnBrk="1" hangingPunct="1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5987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C++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Every object in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C++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has access to its own address through an important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called this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this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an implicit parameter to all member functions. Therefore, inside a member function, this may be used to refer to the invoking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757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69723D8-12E9-4FAF-8195-1F0DAA51DD2D}" type="slidenum">
              <a:rPr lang="en-US"/>
              <a:pPr eaLnBrk="1" hangingPunct="1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104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5B52FBF-9C78-4324-B54C-DD04C932EBD3}" type="slidenum">
              <a:rPr lang="en-US"/>
              <a:pPr eaLnBrk="1" hangingPunct="1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206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A830A9E-4B97-4641-8569-A80F7726EB58}" type="slidenum">
              <a:rPr lang="en-US"/>
              <a:pPr eaLnBrk="1" hangingPunct="1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311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E1FF5F2-FA09-4543-87F7-D355963AAE1B}" type="slidenum">
              <a:rPr lang="en-US"/>
              <a:pPr eaLnBrk="1" hangingPunct="1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5055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D1E55E4-8689-44CD-BC5C-198198D0898E}" type="slidenum">
              <a:rPr lang="en-US"/>
              <a:pPr eaLnBrk="1" hangingPunct="1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3500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when multiple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functions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called using a single object name in a single statement, it is known as </a:t>
            </a: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cascaded function call.</a:t>
            </a:r>
            <a:endParaRPr lang="fr-FR" dirty="0">
              <a:ea typeface="ＭＳ Ｐゴシック" panose="020B0600070205080204" pitchFamily="34" charset="-128"/>
            </a:endParaRP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F469264-7555-4040-9032-9C615F1A54B4}" type="slidenum">
              <a:rPr lang="en-US"/>
              <a:pPr eaLnBrk="1" hangingPunct="1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5923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F34EA57-3CEB-48CA-B35C-A3BD84275E96}" type="slidenum">
              <a:rPr lang="en-US"/>
              <a:pPr eaLnBrk="1" hangingPunct="1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4456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56C5216-7068-4BDF-988C-AB029F85AE0D}" type="slidenum">
              <a:rPr lang="en-US"/>
              <a:pPr eaLnBrk="1" hangingPunct="1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6226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05B095E-503B-4A08-872B-025C779EFD93}" type="slidenum">
              <a:rPr lang="en-US"/>
              <a:pPr eaLnBrk="1" hangingPunct="1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0835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87500" y="1006475"/>
            <a:ext cx="4595813" cy="34480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85863" y="4787900"/>
            <a:ext cx="5407025" cy="3825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917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87500" y="1006475"/>
            <a:ext cx="4595813" cy="34480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85863" y="4787900"/>
            <a:ext cx="5407025" cy="3825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5980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87500" y="1006475"/>
            <a:ext cx="4595813" cy="34480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85863" y="4787900"/>
            <a:ext cx="5407025" cy="3825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1400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87500" y="1006475"/>
            <a:ext cx="4595813" cy="34480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85863" y="4787900"/>
            <a:ext cx="5407025" cy="3825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0097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0325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set of instances can also be created by</a:t>
            </a:r>
            <a:r>
              <a:rPr lang="en-US" baseline="0" dirty="0"/>
              <a:t> making constructors private and getting instance of a class via static method (set of static variables or static array of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17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fr-FR" sz="1400" b="1">
              <a:latin typeface="AvantGarde" pitchFamily="34" charset="0"/>
            </a:endParaRPr>
          </a:p>
        </p:txBody>
      </p:sp>
      <p:sp>
        <p:nvSpPr>
          <p:cNvPr id="3" name="Rectangle 14"/>
          <p:cNvSpPr>
            <a:spLocks noChangeArrowheads="1"/>
          </p:cNvSpPr>
          <p:nvPr userDrawn="1"/>
        </p:nvSpPr>
        <p:spPr bwMode="auto">
          <a:xfrm>
            <a:off x="66294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fr-FR" sz="1400" b="1">
              <a:latin typeface="AvantGar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97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2/19/24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" y="44449"/>
            <a:ext cx="895349" cy="8953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36" y="1882775"/>
            <a:ext cx="8991600" cy="16224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60C5C"/>
                </a:solidFill>
              </a:rPr>
              <a:t>Introduction to Classes</a:t>
            </a:r>
            <a:br>
              <a:rPr lang="en-US" dirty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Science, </a:t>
            </a:r>
          </a:p>
          <a:p>
            <a:r>
              <a:rPr lang="en-US" sz="2800" dirty="0"/>
              <a:t>National University of Computer &amp; Emerging Sciences</a:t>
            </a:r>
            <a:r>
              <a:rPr lang="en-US" sz="2600" dirty="0"/>
              <a:t>, Islamabad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1676400"/>
            <a:ext cx="7086600" cy="1905000"/>
          </a:xfrm>
        </p:spPr>
        <p:txBody>
          <a:bodyPr>
            <a:noAutofit/>
          </a:bodyPr>
          <a:lstStyle/>
          <a:p>
            <a:r>
              <a:rPr lang="en-US" b="1" i="1" dirty="0">
                <a:solidFill>
                  <a:srgbClr val="B80000"/>
                </a:solidFill>
                <a:latin typeface="Calibri" pitchFamily="34" charset="0"/>
              </a:rPr>
              <a:t>Why Objects?</a:t>
            </a:r>
          </a:p>
        </p:txBody>
      </p:sp>
    </p:spTree>
    <p:extLst>
      <p:ext uri="{BB962C8B-B14F-4D97-AF65-F5344CB8AC3E}">
        <p14:creationId xmlns:p14="http://schemas.microsoft.com/office/powerpoint/2010/main" val="2409767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2875"/>
            <a:ext cx="6494890" cy="56756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0657" y="5943600"/>
            <a:ext cx="8025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>
                <a:solidFill>
                  <a:srgbClr val="000000"/>
                </a:solidFill>
                <a:latin typeface="JCOHK L+ Gill Sans"/>
              </a:rPr>
              <a:t>But </a:t>
            </a:r>
            <a:r>
              <a:rPr lang="en-US" sz="2800" b="1" i="1" dirty="0">
                <a:solidFill>
                  <a:srgbClr val="2C14DE"/>
                </a:solidFill>
                <a:latin typeface="JCOHK L+ Gill Sans"/>
              </a:rPr>
              <a:t>binary is hard (for humans)</a:t>
            </a:r>
            <a:r>
              <a:rPr lang="en-US" sz="2800" i="1" dirty="0">
                <a:solidFill>
                  <a:srgbClr val="2C14DE"/>
                </a:solidFill>
                <a:latin typeface="JCOHK L+ Gill Sans"/>
              </a:rPr>
              <a:t> </a:t>
            </a:r>
            <a:r>
              <a:rPr lang="en-US" sz="2800" i="1" dirty="0">
                <a:solidFill>
                  <a:srgbClr val="000000"/>
                </a:solidFill>
                <a:latin typeface="JCOHK L+ Gill Sans"/>
              </a:rPr>
              <a:t>to work with…</a:t>
            </a:r>
          </a:p>
        </p:txBody>
      </p:sp>
    </p:spTree>
    <p:extLst>
      <p:ext uri="{BB962C8B-B14F-4D97-AF65-F5344CB8AC3E}">
        <p14:creationId xmlns:p14="http://schemas.microsoft.com/office/powerpoint/2010/main" val="173814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14400"/>
            <a:ext cx="7543800" cy="553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7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2428" y="93767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40" name="Picture 4" descr="https://image.slidesharecdn.com/proceduralvs-150616113314-lva1-app6891/95/procedural-vs-object-oriented-programming-9-638.jpg?cb=144947322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" t="33818" r="1525" b="11483"/>
          <a:stretch/>
        </p:blipFill>
        <p:spPr bwMode="auto">
          <a:xfrm>
            <a:off x="2803160" y="4119576"/>
            <a:ext cx="6237125" cy="26416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AutoShape 8" descr="Related image"/>
          <p:cNvSpPr>
            <a:spLocks noChangeAspect="1" noChangeArrowheads="1"/>
          </p:cNvSpPr>
          <p:nvPr/>
        </p:nvSpPr>
        <p:spPr bwMode="auto">
          <a:xfrm>
            <a:off x="155574" y="-144463"/>
            <a:ext cx="4264025" cy="426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46" name="Picture 10" descr="https://simplesnippets.tech/wp-content/uploads/2018/03/java-introduction-to-Object-Oriented-Programm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99" y="1114931"/>
            <a:ext cx="5778501" cy="278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0" y="1"/>
            <a:ext cx="9107556" cy="9144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B80000"/>
                </a:solidFill>
                <a:latin typeface="Calibri" pitchFamily="34" charset="0"/>
              </a:rPr>
              <a:t>Procedural VS. Object-Oriented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134738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"/>
            <a:ext cx="8116956" cy="9144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</a:rPr>
              <a:t>Object-oriented Programming (OOP)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066800"/>
            <a:ext cx="8915400" cy="5715000"/>
          </a:xfrm>
        </p:spPr>
        <p:txBody>
          <a:bodyPr>
            <a:normAutofit/>
          </a:bodyPr>
          <a:lstStyle/>
          <a:p>
            <a:pPr algn="just"/>
            <a:r>
              <a:rPr lang="en-US" sz="3000" b="1" dirty="0">
                <a:solidFill>
                  <a:srgbClr val="B80000"/>
                </a:solidFill>
                <a:latin typeface="Calibri" pitchFamily="34" charset="0"/>
              </a:rPr>
              <a:t>Object-oriented programming </a:t>
            </a:r>
            <a:r>
              <a:rPr lang="en-US" sz="3000" dirty="0">
                <a:latin typeface="Calibri" pitchFamily="34" charset="0"/>
              </a:rPr>
              <a:t>approach </a:t>
            </a:r>
            <a:r>
              <a:rPr lang="en-US" sz="3000" b="1" dirty="0">
                <a:latin typeface="Calibri" pitchFamily="34" charset="0"/>
              </a:rPr>
              <a:t>organizes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en-US" sz="3000" b="1" dirty="0">
                <a:latin typeface="Calibri" pitchFamily="34" charset="0"/>
              </a:rPr>
              <a:t>programs</a:t>
            </a:r>
            <a:r>
              <a:rPr lang="en-US" sz="3000" dirty="0">
                <a:latin typeface="Calibri" pitchFamily="34" charset="0"/>
              </a:rPr>
              <a:t> in a way that </a:t>
            </a:r>
            <a:r>
              <a:rPr lang="en-US" sz="3000" b="1" i="1" dirty="0">
                <a:solidFill>
                  <a:srgbClr val="2C14DE"/>
                </a:solidFill>
                <a:latin typeface="Calibri" pitchFamily="34" charset="0"/>
              </a:rPr>
              <a:t>mirrors the real world</a:t>
            </a:r>
            <a:r>
              <a:rPr lang="en-US" sz="3000" dirty="0">
                <a:latin typeface="Calibri" pitchFamily="34" charset="0"/>
              </a:rPr>
              <a:t>, in which all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objects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</a:rPr>
              <a:t> </a:t>
            </a:r>
            <a:r>
              <a:rPr lang="en-US" sz="3000" dirty="0">
                <a:latin typeface="Calibri" pitchFamily="34" charset="0"/>
              </a:rPr>
              <a:t>are associated with </a:t>
            </a:r>
            <a:r>
              <a:rPr lang="en-US" sz="3000" b="1" dirty="0">
                <a:latin typeface="Calibri" pitchFamily="34" charset="0"/>
              </a:rPr>
              <a:t>both</a:t>
            </a:r>
            <a:r>
              <a:rPr lang="en-US" sz="3000" dirty="0">
                <a:latin typeface="Calibri" pitchFamily="34" charset="0"/>
              </a:rPr>
              <a:t> </a:t>
            </a:r>
            <a:r>
              <a:rPr lang="en-US" sz="3000" b="1" u="sng" dirty="0">
                <a:solidFill>
                  <a:srgbClr val="008000"/>
                </a:solidFill>
                <a:latin typeface="Calibri" pitchFamily="34" charset="0"/>
              </a:rPr>
              <a:t>attributes</a:t>
            </a:r>
            <a:r>
              <a:rPr lang="en-US" sz="3000" dirty="0">
                <a:solidFill>
                  <a:srgbClr val="008000"/>
                </a:solidFill>
                <a:latin typeface="Calibri" pitchFamily="34" charset="0"/>
              </a:rPr>
              <a:t> </a:t>
            </a:r>
            <a:r>
              <a:rPr lang="en-US" sz="3000" dirty="0">
                <a:latin typeface="Calibri" pitchFamily="34" charset="0"/>
              </a:rPr>
              <a:t>and </a:t>
            </a:r>
            <a:r>
              <a:rPr lang="en-US" sz="3000" b="1" u="sng" dirty="0">
                <a:solidFill>
                  <a:srgbClr val="008000"/>
                </a:solidFill>
                <a:latin typeface="Calibri" pitchFamily="34" charset="0"/>
              </a:rPr>
              <a:t>behaviors</a:t>
            </a:r>
            <a:r>
              <a:rPr lang="en-US" sz="3000" u="sng" dirty="0">
                <a:solidFill>
                  <a:srgbClr val="008000"/>
                </a:solidFill>
                <a:latin typeface="Calibri" pitchFamily="34" charset="0"/>
              </a:rPr>
              <a:t> </a:t>
            </a:r>
          </a:p>
          <a:p>
            <a:endParaRPr lang="en-US" sz="3000" dirty="0">
              <a:latin typeface="Calibri" pitchFamily="34" charset="0"/>
            </a:endParaRPr>
          </a:p>
          <a:p>
            <a:pPr algn="just"/>
            <a:r>
              <a:rPr lang="en-US" sz="3000" b="1" u="sng" dirty="0">
                <a:latin typeface="Calibri" pitchFamily="34" charset="0"/>
              </a:rPr>
              <a:t>Object-oriented programming </a:t>
            </a:r>
            <a:r>
              <a:rPr lang="en-US" sz="3000" dirty="0">
                <a:latin typeface="Calibri" pitchFamily="34" charset="0"/>
              </a:rPr>
              <a:t>involves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thinking</a:t>
            </a:r>
            <a:r>
              <a:rPr lang="en-US" sz="3000" b="1" dirty="0">
                <a:latin typeface="Calibri" pitchFamily="34" charset="0"/>
              </a:rPr>
              <a:t> in terms of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objects</a:t>
            </a:r>
          </a:p>
          <a:p>
            <a:endParaRPr lang="en-US" sz="3000" b="1" i="1" dirty="0">
              <a:latin typeface="Calibri" pitchFamily="34" charset="0"/>
            </a:endParaRPr>
          </a:p>
          <a:p>
            <a:pPr algn="just"/>
            <a:r>
              <a:rPr lang="en-US" sz="3000" dirty="0">
                <a:latin typeface="Calibri" pitchFamily="34" charset="0"/>
              </a:rPr>
              <a:t>An </a:t>
            </a:r>
            <a:r>
              <a:rPr lang="en-US" sz="3000" b="1" dirty="0">
                <a:latin typeface="Calibri" pitchFamily="34" charset="0"/>
              </a:rPr>
              <a:t>OOP program </a:t>
            </a:r>
            <a:r>
              <a:rPr lang="en-US" sz="3000" dirty="0">
                <a:latin typeface="Calibri" pitchFamily="34" charset="0"/>
              </a:rPr>
              <a:t>can be </a:t>
            </a:r>
            <a:r>
              <a:rPr lang="en-US" sz="3000" b="1" dirty="0">
                <a:latin typeface="Calibri" pitchFamily="34" charset="0"/>
              </a:rPr>
              <a:t>viewed</a:t>
            </a:r>
            <a:r>
              <a:rPr lang="en-US" sz="3000" dirty="0">
                <a:latin typeface="Calibri" pitchFamily="34" charset="0"/>
              </a:rPr>
              <a:t> as a </a:t>
            </a:r>
            <a:r>
              <a:rPr lang="en-US" sz="3000" b="1" u="sng" dirty="0">
                <a:solidFill>
                  <a:srgbClr val="2C14DE"/>
                </a:solidFill>
                <a:latin typeface="Calibri" pitchFamily="34" charset="0"/>
              </a:rPr>
              <a:t>collection of cooperating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34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76199"/>
            <a:ext cx="7848600" cy="83820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</a:rPr>
              <a:t>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9888"/>
          <a:stretch/>
        </p:blipFill>
        <p:spPr>
          <a:xfrm>
            <a:off x="134698" y="1219200"/>
            <a:ext cx="8877916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57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8101"/>
            <a:ext cx="8109411" cy="90678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</a:rPr>
              <a:t>Classes in OOP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268356" y="1143000"/>
            <a:ext cx="8723244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Classes are </a:t>
            </a:r>
            <a:r>
              <a:rPr lang="en-US" sz="3000" b="1" u="sng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constructs/templates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 that define objects of the same type. 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3000" dirty="0">
              <a:latin typeface="Calibri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latin typeface="Calibri" pitchFamily="34" charset="0"/>
                <a:cs typeface="Times New Roman" pitchFamily="18" charset="0"/>
              </a:rPr>
              <a:t>A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class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uses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Variables </a:t>
            </a:r>
            <a:r>
              <a:rPr lang="en-US" sz="3000" b="1" dirty="0">
                <a:latin typeface="Calibri" pitchFamily="34" charset="0"/>
                <a:cs typeface="Times New Roman" pitchFamily="18" charset="0"/>
              </a:rPr>
              <a:t>(data fields) to define </a:t>
            </a:r>
            <a:r>
              <a:rPr lang="en-US" sz="3000" b="1" u="sng" dirty="0">
                <a:solidFill>
                  <a:srgbClr val="008000"/>
                </a:solidFill>
                <a:latin typeface="Calibri" pitchFamily="34" charset="0"/>
                <a:cs typeface="Times New Roman" pitchFamily="18" charset="0"/>
              </a:rPr>
              <a:t>state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000" b="1" dirty="0">
              <a:solidFill>
                <a:srgbClr val="B80000"/>
              </a:solidFill>
              <a:latin typeface="Calibri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latin typeface="Calibri" pitchFamily="34" charset="0"/>
                <a:cs typeface="Times New Roman" pitchFamily="18" charset="0"/>
              </a:rPr>
              <a:t>A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class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uses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Functions </a:t>
            </a:r>
            <a:r>
              <a:rPr lang="en-US" sz="3000" b="1" dirty="0">
                <a:latin typeface="Calibri" pitchFamily="34" charset="0"/>
                <a:cs typeface="Times New Roman" pitchFamily="18" charset="0"/>
              </a:rPr>
              <a:t>to define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sz="3000" b="1" u="sng" dirty="0">
                <a:solidFill>
                  <a:srgbClr val="008000"/>
                </a:solidFill>
                <a:latin typeface="Calibri" pitchFamily="34" charset="0"/>
                <a:cs typeface="Times New Roman" pitchFamily="18" charset="0"/>
              </a:rPr>
              <a:t>behaviors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. </a:t>
            </a:r>
          </a:p>
          <a:p>
            <a:pPr marL="0" indent="0"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3000" dirty="0">
              <a:latin typeface="Calibri" pitchFamily="34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latin typeface="Calibri" pitchFamily="34" charset="0"/>
                <a:cs typeface="Times New Roman" pitchFamily="18" charset="0"/>
              </a:rPr>
              <a:t>Additionally, </a:t>
            </a:r>
            <a:r>
              <a:rPr lang="en-US" sz="3000" b="1" i="1" dirty="0">
                <a:latin typeface="Calibri" pitchFamily="34" charset="0"/>
                <a:cs typeface="Times New Roman" pitchFamily="18" charset="0"/>
              </a:rPr>
              <a:t>a class provides a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Times New Roman" pitchFamily="18" charset="0"/>
              </a:rPr>
              <a:t>special type of functio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n</a:t>
            </a:r>
            <a:r>
              <a:rPr lang="en-US" sz="3000" b="1" i="1" dirty="0">
                <a:latin typeface="Calibri" pitchFamily="34" charset="0"/>
                <a:cs typeface="Times New Roman" pitchFamily="18" charset="0"/>
              </a:rPr>
              <a:t>, </a:t>
            </a:r>
            <a:r>
              <a:rPr lang="en-US" sz="3000" b="1" dirty="0">
                <a:latin typeface="Calibri" pitchFamily="34" charset="0"/>
                <a:cs typeface="Times New Roman" pitchFamily="18" charset="0"/>
              </a:rPr>
              <a:t>known as </a:t>
            </a:r>
            <a:r>
              <a:rPr lang="en-US" sz="3000" b="1" u="sng" dirty="0">
                <a:solidFill>
                  <a:srgbClr val="008000"/>
                </a:solidFill>
                <a:latin typeface="Calibri" pitchFamily="34" charset="0"/>
                <a:cs typeface="Times New Roman" pitchFamily="18" charset="0"/>
              </a:rPr>
              <a:t>constructors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: 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dirty="0">
                <a:latin typeface="Calibri" pitchFamily="34" charset="0"/>
                <a:cs typeface="Times New Roman" pitchFamily="18" charset="0"/>
              </a:rPr>
              <a:t>Invoked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 to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Times New Roman" pitchFamily="18" charset="0"/>
              </a:rPr>
              <a:t>construct objects 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from the </a:t>
            </a:r>
            <a:r>
              <a:rPr lang="en-US" sz="3000" b="1" dirty="0">
                <a:latin typeface="Calibri" pitchFamily="34" charset="0"/>
                <a:cs typeface="Times New Roman" pitchFamily="18" charset="0"/>
              </a:rPr>
              <a:t>class</a:t>
            </a:r>
            <a:r>
              <a:rPr lang="en-US" sz="3000" dirty="0">
                <a:latin typeface="Calibri" pitchFamily="34" charset="0"/>
                <a:cs typeface="Times New Roman" pitchFamily="18" charset="0"/>
              </a:rPr>
              <a:t>. 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66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3811"/>
            <a:ext cx="8105775" cy="931069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B80000"/>
                </a:solidFill>
                <a:latin typeface="Calibri" pitchFamily="34" charset="0"/>
              </a:rPr>
              <a:t>Objects in OOP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60325" y="1198563"/>
            <a:ext cx="9036050" cy="4385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dirty="0">
                <a:latin typeface="Calibri" pitchFamily="34" charset="0"/>
                <a:cs typeface="Courier New" pitchFamily="49" charset="0"/>
              </a:rPr>
              <a:t>An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cs typeface="Courier New" pitchFamily="49" charset="0"/>
              </a:rPr>
              <a:t>object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 has a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unique identity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,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state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, and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behaviors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.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000" dirty="0">
              <a:latin typeface="Calibri" pitchFamily="34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000" dirty="0">
              <a:latin typeface="Calibri" pitchFamily="34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latin typeface="Calibri" pitchFamily="34" charset="0"/>
                <a:cs typeface="Courier New" pitchFamily="49" charset="0"/>
              </a:rPr>
              <a:t>The 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cs typeface="Courier New" pitchFamily="49" charset="0"/>
              </a:rPr>
              <a:t>state</a:t>
            </a:r>
            <a:r>
              <a:rPr lang="en-US" sz="3000" dirty="0">
                <a:solidFill>
                  <a:srgbClr val="C00000"/>
                </a:solidFill>
                <a:latin typeface="Calibri" pitchFamily="34" charset="0"/>
                <a:cs typeface="Courier New" pitchFamily="49" charset="0"/>
              </a:rPr>
              <a:t> 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of an 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object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 consists of </a:t>
            </a:r>
            <a:r>
              <a:rPr lang="en-US" sz="3000" b="1" i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a </a:t>
            </a:r>
            <a:r>
              <a:rPr lang="en-US" sz="3000" b="1" i="1" u="sng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set of data fields</a:t>
            </a:r>
            <a:r>
              <a:rPr lang="en-US" sz="3000" u="sng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 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(also known as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properties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) 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with their </a:t>
            </a:r>
            <a:r>
              <a:rPr lang="en-US" sz="3000" b="1" u="sng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current values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.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000" dirty="0">
              <a:latin typeface="Calibri" pitchFamily="34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000" dirty="0">
              <a:latin typeface="Calibri" pitchFamily="34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latin typeface="Calibri" pitchFamily="34" charset="0"/>
                <a:cs typeface="Courier New" pitchFamily="49" charset="0"/>
              </a:rPr>
              <a:t>The 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cs typeface="Courier New" pitchFamily="49" charset="0"/>
              </a:rPr>
              <a:t>behavior</a:t>
            </a:r>
            <a:r>
              <a:rPr lang="en-US" sz="3000" dirty="0">
                <a:solidFill>
                  <a:srgbClr val="C00000"/>
                </a:solidFill>
                <a:latin typeface="Calibri" pitchFamily="34" charset="0"/>
                <a:cs typeface="Courier New" pitchFamily="49" charset="0"/>
              </a:rPr>
              <a:t> 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of an 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object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 is </a:t>
            </a:r>
            <a:r>
              <a:rPr lang="en-US" sz="3000" b="1" dirty="0">
                <a:latin typeface="Calibri" pitchFamily="34" charset="0"/>
                <a:cs typeface="Courier New" pitchFamily="49" charset="0"/>
              </a:rPr>
              <a:t>defined</a:t>
            </a:r>
            <a:r>
              <a:rPr lang="en-US" sz="3000" dirty="0">
                <a:latin typeface="Calibri" pitchFamily="34" charset="0"/>
                <a:cs typeface="Courier New" pitchFamily="49" charset="0"/>
              </a:rPr>
              <a:t> by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a set of functions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cs typeface="Courier New" pitchFamily="49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2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87394" y="65512"/>
            <a:ext cx="8172450" cy="9017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UML Diagram for Class and Object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240030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2628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568054"/>
              </p:ext>
            </p:extLst>
          </p:nvPr>
        </p:nvGraphicFramePr>
        <p:xfrm>
          <a:off x="181292" y="1219200"/>
          <a:ext cx="8781415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860292" imgH="1466088" progId="Word.Picture.8">
                  <p:embed/>
                </p:oleObj>
              </mc:Choice>
              <mc:Fallback>
                <p:oleObj name="Picture" r:id="rId3" imgW="3860292" imgH="146608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" y="1219200"/>
                        <a:ext cx="8781415" cy="3657600"/>
                      </a:xfrm>
                      <a:prstGeom prst="rect">
                        <a:avLst/>
                      </a:prstGeom>
                      <a:solidFill>
                        <a:srgbClr val="CACAFF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99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71600" y="70961"/>
            <a:ext cx="8135956" cy="8117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Class in C++ - Example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1951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37" y="1295400"/>
            <a:ext cx="7004525" cy="4807027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32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53740"/>
            <a:ext cx="8192632" cy="88796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</a:rPr>
              <a:t>Class in C++ - Example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1951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grpSp>
        <p:nvGrpSpPr>
          <p:cNvPr id="9222" name="Group 8"/>
          <p:cNvGrpSpPr>
            <a:grpSpLocks noChangeAspect="1"/>
          </p:cNvGrpSpPr>
          <p:nvPr/>
        </p:nvGrpSpPr>
        <p:grpSpPr bwMode="auto">
          <a:xfrm>
            <a:off x="224228" y="1143000"/>
            <a:ext cx="6641612" cy="5575300"/>
            <a:chOff x="757" y="482"/>
            <a:chExt cx="4210" cy="3512"/>
          </a:xfrm>
          <a:solidFill>
            <a:srgbClr val="E9EFF7"/>
          </a:solidFill>
        </p:grpSpPr>
        <p:sp>
          <p:nvSpPr>
            <p:cNvPr id="9223" name="AutoShape 7"/>
            <p:cNvSpPr>
              <a:spLocks noChangeAspect="1" noChangeArrowheads="1" noTextEdit="1"/>
            </p:cNvSpPr>
            <p:nvPr/>
          </p:nvSpPr>
          <p:spPr bwMode="auto">
            <a:xfrm>
              <a:off x="757" y="482"/>
              <a:ext cx="4210" cy="3512"/>
            </a:xfrm>
            <a:prstGeom prst="rect">
              <a:avLst/>
            </a:prstGeom>
            <a:grpFill/>
            <a:ln w="9525" algn="ctr">
              <a:solidFill>
                <a:schemeClr val="bg2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 b="1"/>
            </a:p>
          </p:txBody>
        </p:sp>
        <p:sp>
          <p:nvSpPr>
            <p:cNvPr id="9224" name="Rectangle 9"/>
            <p:cNvSpPr>
              <a:spLocks noChangeArrowheads="1"/>
            </p:cNvSpPr>
            <p:nvPr/>
          </p:nvSpPr>
          <p:spPr bwMode="auto">
            <a:xfrm>
              <a:off x="793" y="482"/>
              <a:ext cx="46" cy="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3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b="1"/>
            </a:p>
          </p:txBody>
        </p:sp>
        <p:sp>
          <p:nvSpPr>
            <p:cNvPr id="9225" name="Rectangle 10"/>
            <p:cNvSpPr>
              <a:spLocks noChangeArrowheads="1"/>
            </p:cNvSpPr>
            <p:nvPr/>
          </p:nvSpPr>
          <p:spPr bwMode="auto">
            <a:xfrm>
              <a:off x="920" y="591"/>
              <a:ext cx="2994" cy="335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226" name="Rectangle 11"/>
            <p:cNvSpPr>
              <a:spLocks noChangeArrowheads="1"/>
            </p:cNvSpPr>
            <p:nvPr/>
          </p:nvSpPr>
          <p:spPr bwMode="auto">
            <a:xfrm>
              <a:off x="920" y="591"/>
              <a:ext cx="2994" cy="3354"/>
            </a:xfrm>
            <a:prstGeom prst="rect">
              <a:avLst/>
            </a:prstGeom>
            <a:grpFill/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227" name="Rectangle 12"/>
            <p:cNvSpPr>
              <a:spLocks noChangeArrowheads="1"/>
            </p:cNvSpPr>
            <p:nvPr/>
          </p:nvSpPr>
          <p:spPr bwMode="auto">
            <a:xfrm>
              <a:off x="925" y="595"/>
              <a:ext cx="36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50"/>
                  </a:solidFill>
                  <a:latin typeface="Courier New" pitchFamily="49" charset="0"/>
                </a:rPr>
                <a:t>class</a:t>
              </a:r>
              <a:endParaRPr lang="en-US" b="1" dirty="0"/>
            </a:p>
          </p:txBody>
        </p:sp>
        <p:sp>
          <p:nvSpPr>
            <p:cNvPr id="9228" name="Rectangle 13"/>
            <p:cNvSpPr>
              <a:spLocks noChangeArrowheads="1"/>
            </p:cNvSpPr>
            <p:nvPr/>
          </p:nvSpPr>
          <p:spPr bwMode="auto">
            <a:xfrm>
              <a:off x="1287" y="600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Circle</a:t>
              </a:r>
              <a:endParaRPr lang="en-US" b="1" dirty="0"/>
            </a:p>
          </p:txBody>
        </p:sp>
        <p:sp>
          <p:nvSpPr>
            <p:cNvPr id="9229" name="Rectangle 14"/>
            <p:cNvSpPr>
              <a:spLocks noChangeArrowheads="1"/>
            </p:cNvSpPr>
            <p:nvPr/>
          </p:nvSpPr>
          <p:spPr bwMode="auto">
            <a:xfrm>
              <a:off x="1793" y="600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 dirty="0"/>
            </a:p>
          </p:txBody>
        </p:sp>
        <p:sp>
          <p:nvSpPr>
            <p:cNvPr id="9230" name="Rectangle 15"/>
            <p:cNvSpPr>
              <a:spLocks noChangeArrowheads="1"/>
            </p:cNvSpPr>
            <p:nvPr/>
          </p:nvSpPr>
          <p:spPr bwMode="auto">
            <a:xfrm>
              <a:off x="925" y="74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{</a:t>
              </a:r>
              <a:endParaRPr lang="en-US" b="1"/>
            </a:p>
          </p:txBody>
        </p:sp>
        <p:sp>
          <p:nvSpPr>
            <p:cNvPr id="9231" name="Rectangle 16"/>
            <p:cNvSpPr>
              <a:spLocks noChangeArrowheads="1"/>
            </p:cNvSpPr>
            <p:nvPr/>
          </p:nvSpPr>
          <p:spPr bwMode="auto">
            <a:xfrm>
              <a:off x="997" y="74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32" name="Rectangle 17"/>
            <p:cNvSpPr>
              <a:spLocks noChangeArrowheads="1"/>
            </p:cNvSpPr>
            <p:nvPr/>
          </p:nvSpPr>
          <p:spPr bwMode="auto">
            <a:xfrm>
              <a:off x="925" y="86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50"/>
                  </a:solidFill>
                  <a:latin typeface="Courier New" pitchFamily="49" charset="0"/>
                </a:rPr>
                <a:t>public</a:t>
              </a:r>
              <a:endParaRPr lang="en-US" b="1" dirty="0"/>
            </a:p>
          </p:txBody>
        </p:sp>
        <p:sp>
          <p:nvSpPr>
            <p:cNvPr id="9233" name="Rectangle 18"/>
            <p:cNvSpPr>
              <a:spLocks noChangeArrowheads="1"/>
            </p:cNvSpPr>
            <p:nvPr/>
          </p:nvSpPr>
          <p:spPr bwMode="auto">
            <a:xfrm>
              <a:off x="1359" y="873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:</a:t>
              </a:r>
              <a:endParaRPr lang="en-US" b="1"/>
            </a:p>
          </p:txBody>
        </p:sp>
        <p:sp>
          <p:nvSpPr>
            <p:cNvPr id="9234" name="Rectangle 19"/>
            <p:cNvSpPr>
              <a:spLocks noChangeArrowheads="1"/>
            </p:cNvSpPr>
            <p:nvPr/>
          </p:nvSpPr>
          <p:spPr bwMode="auto">
            <a:xfrm>
              <a:off x="1432" y="873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35" name="Rectangle 20"/>
            <p:cNvSpPr>
              <a:spLocks noChangeArrowheads="1"/>
            </p:cNvSpPr>
            <p:nvPr/>
          </p:nvSpPr>
          <p:spPr bwMode="auto">
            <a:xfrm>
              <a:off x="925" y="1014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36" name="Rectangle 21"/>
            <p:cNvSpPr>
              <a:spLocks noChangeArrowheads="1"/>
            </p:cNvSpPr>
            <p:nvPr/>
          </p:nvSpPr>
          <p:spPr bwMode="auto">
            <a:xfrm>
              <a:off x="1070" y="1014"/>
              <a:ext cx="20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// The radius of this circle</a:t>
              </a:r>
              <a:endParaRPr lang="en-US" b="1" dirty="0"/>
            </a:p>
          </p:txBody>
        </p:sp>
        <p:sp>
          <p:nvSpPr>
            <p:cNvPr id="9237" name="Rectangle 22"/>
            <p:cNvSpPr>
              <a:spLocks noChangeArrowheads="1"/>
            </p:cNvSpPr>
            <p:nvPr/>
          </p:nvSpPr>
          <p:spPr bwMode="auto">
            <a:xfrm>
              <a:off x="3096" y="1014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38" name="Rectangle 23"/>
            <p:cNvSpPr>
              <a:spLocks noChangeArrowheads="1"/>
            </p:cNvSpPr>
            <p:nvPr/>
          </p:nvSpPr>
          <p:spPr bwMode="auto">
            <a:xfrm>
              <a:off x="925" y="1146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39" name="Rectangle 24"/>
            <p:cNvSpPr>
              <a:spLocks noChangeArrowheads="1"/>
            </p:cNvSpPr>
            <p:nvPr/>
          </p:nvSpPr>
          <p:spPr bwMode="auto">
            <a:xfrm>
              <a:off x="1070" y="1141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50"/>
                  </a:solidFill>
                  <a:latin typeface="Courier New" pitchFamily="49" charset="0"/>
                </a:rPr>
                <a:t>double</a:t>
              </a:r>
              <a:endParaRPr lang="en-US" b="1"/>
            </a:p>
          </p:txBody>
        </p:sp>
        <p:sp>
          <p:nvSpPr>
            <p:cNvPr id="9240" name="Rectangle 25"/>
            <p:cNvSpPr>
              <a:spLocks noChangeArrowheads="1"/>
            </p:cNvSpPr>
            <p:nvPr/>
          </p:nvSpPr>
          <p:spPr bwMode="auto">
            <a:xfrm>
              <a:off x="1504" y="1146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radius;</a:t>
              </a:r>
              <a:endParaRPr lang="en-US" b="1" dirty="0"/>
            </a:p>
          </p:txBody>
        </p:sp>
        <p:sp>
          <p:nvSpPr>
            <p:cNvPr id="9241" name="Rectangle 26"/>
            <p:cNvSpPr>
              <a:spLocks noChangeArrowheads="1"/>
            </p:cNvSpPr>
            <p:nvPr/>
          </p:nvSpPr>
          <p:spPr bwMode="auto">
            <a:xfrm>
              <a:off x="2083" y="1146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42" name="Rectangle 27"/>
            <p:cNvSpPr>
              <a:spLocks noChangeArrowheads="1"/>
            </p:cNvSpPr>
            <p:nvPr/>
          </p:nvSpPr>
          <p:spPr bwMode="auto">
            <a:xfrm>
              <a:off x="925" y="1288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43" name="Rectangle 28"/>
            <p:cNvSpPr>
              <a:spLocks noChangeArrowheads="1"/>
            </p:cNvSpPr>
            <p:nvPr/>
          </p:nvSpPr>
          <p:spPr bwMode="auto">
            <a:xfrm>
              <a:off x="925" y="1423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44" name="Rectangle 29"/>
            <p:cNvSpPr>
              <a:spLocks noChangeArrowheads="1"/>
            </p:cNvSpPr>
            <p:nvPr/>
          </p:nvSpPr>
          <p:spPr bwMode="auto">
            <a:xfrm>
              <a:off x="1070" y="1423"/>
              <a:ext cx="20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// Construct a circle object</a:t>
              </a:r>
              <a:endParaRPr lang="en-US" b="1" dirty="0"/>
            </a:p>
          </p:txBody>
        </p:sp>
        <p:sp>
          <p:nvSpPr>
            <p:cNvPr id="9245" name="Rectangle 30"/>
            <p:cNvSpPr>
              <a:spLocks noChangeArrowheads="1"/>
            </p:cNvSpPr>
            <p:nvPr/>
          </p:nvSpPr>
          <p:spPr bwMode="auto">
            <a:xfrm>
              <a:off x="3096" y="1423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46" name="Rectangle 31"/>
            <p:cNvSpPr>
              <a:spLocks noChangeArrowheads="1"/>
            </p:cNvSpPr>
            <p:nvPr/>
          </p:nvSpPr>
          <p:spPr bwMode="auto">
            <a:xfrm>
              <a:off x="925" y="1561"/>
              <a:ext cx="72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 Circle()</a:t>
              </a:r>
              <a:endParaRPr lang="en-US" b="1" dirty="0"/>
            </a:p>
          </p:txBody>
        </p:sp>
        <p:sp>
          <p:nvSpPr>
            <p:cNvPr id="9247" name="Rectangle 32"/>
            <p:cNvSpPr>
              <a:spLocks noChangeArrowheads="1"/>
            </p:cNvSpPr>
            <p:nvPr/>
          </p:nvSpPr>
          <p:spPr bwMode="auto">
            <a:xfrm>
              <a:off x="1649" y="156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48" name="Rectangle 33"/>
            <p:cNvSpPr>
              <a:spLocks noChangeArrowheads="1"/>
            </p:cNvSpPr>
            <p:nvPr/>
          </p:nvSpPr>
          <p:spPr bwMode="auto">
            <a:xfrm>
              <a:off x="925" y="1698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{</a:t>
              </a:r>
              <a:endParaRPr lang="en-US" b="1"/>
            </a:p>
          </p:txBody>
        </p:sp>
        <p:sp>
          <p:nvSpPr>
            <p:cNvPr id="9249" name="Rectangle 34"/>
            <p:cNvSpPr>
              <a:spLocks noChangeArrowheads="1"/>
            </p:cNvSpPr>
            <p:nvPr/>
          </p:nvSpPr>
          <p:spPr bwMode="auto">
            <a:xfrm>
              <a:off x="1142" y="1698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50" name="Rectangle 35"/>
            <p:cNvSpPr>
              <a:spLocks noChangeArrowheads="1"/>
            </p:cNvSpPr>
            <p:nvPr/>
          </p:nvSpPr>
          <p:spPr bwMode="auto">
            <a:xfrm>
              <a:off x="925" y="1834"/>
              <a:ext cx="93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   radius = </a:t>
              </a:r>
              <a:endParaRPr lang="en-US" b="1" dirty="0"/>
            </a:p>
          </p:txBody>
        </p:sp>
        <p:sp>
          <p:nvSpPr>
            <p:cNvPr id="9251" name="Rectangle 36"/>
            <p:cNvSpPr>
              <a:spLocks noChangeArrowheads="1"/>
            </p:cNvSpPr>
            <p:nvPr/>
          </p:nvSpPr>
          <p:spPr bwMode="auto">
            <a:xfrm>
              <a:off x="1866" y="1834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3366FF"/>
                  </a:solidFill>
                  <a:latin typeface="Courier New" pitchFamily="49" charset="0"/>
                </a:rPr>
                <a:t>1</a:t>
              </a:r>
              <a:endParaRPr lang="en-US" b="1"/>
            </a:p>
          </p:txBody>
        </p:sp>
        <p:sp>
          <p:nvSpPr>
            <p:cNvPr id="9252" name="Rectangle 37"/>
            <p:cNvSpPr>
              <a:spLocks noChangeArrowheads="1"/>
            </p:cNvSpPr>
            <p:nvPr/>
          </p:nvSpPr>
          <p:spPr bwMode="auto">
            <a:xfrm>
              <a:off x="1938" y="1834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  <a:endParaRPr lang="en-US" b="1"/>
            </a:p>
          </p:txBody>
        </p:sp>
        <p:sp>
          <p:nvSpPr>
            <p:cNvPr id="9253" name="Rectangle 38"/>
            <p:cNvSpPr>
              <a:spLocks noChangeArrowheads="1"/>
            </p:cNvSpPr>
            <p:nvPr/>
          </p:nvSpPr>
          <p:spPr bwMode="auto">
            <a:xfrm>
              <a:off x="2011" y="1834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54" name="Rectangle 39"/>
            <p:cNvSpPr>
              <a:spLocks noChangeArrowheads="1"/>
            </p:cNvSpPr>
            <p:nvPr/>
          </p:nvSpPr>
          <p:spPr bwMode="auto">
            <a:xfrm>
              <a:off x="925" y="1972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}</a:t>
              </a:r>
              <a:endParaRPr lang="en-US" b="1"/>
            </a:p>
          </p:txBody>
        </p:sp>
        <p:sp>
          <p:nvSpPr>
            <p:cNvPr id="9255" name="Rectangle 40"/>
            <p:cNvSpPr>
              <a:spLocks noChangeArrowheads="1"/>
            </p:cNvSpPr>
            <p:nvPr/>
          </p:nvSpPr>
          <p:spPr bwMode="auto">
            <a:xfrm>
              <a:off x="1142" y="1972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56" name="Rectangle 41"/>
            <p:cNvSpPr>
              <a:spLocks noChangeArrowheads="1"/>
            </p:cNvSpPr>
            <p:nvPr/>
          </p:nvSpPr>
          <p:spPr bwMode="auto">
            <a:xfrm>
              <a:off x="925" y="2108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57" name="Rectangle 42"/>
            <p:cNvSpPr>
              <a:spLocks noChangeArrowheads="1"/>
            </p:cNvSpPr>
            <p:nvPr/>
          </p:nvSpPr>
          <p:spPr bwMode="auto">
            <a:xfrm>
              <a:off x="925" y="2245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58" name="Rectangle 43"/>
            <p:cNvSpPr>
              <a:spLocks noChangeArrowheads="1"/>
            </p:cNvSpPr>
            <p:nvPr/>
          </p:nvSpPr>
          <p:spPr bwMode="auto">
            <a:xfrm>
              <a:off x="1070" y="2245"/>
              <a:ext cx="20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// Construct a circle object</a:t>
              </a:r>
              <a:endParaRPr lang="en-US" b="1" dirty="0"/>
            </a:p>
          </p:txBody>
        </p:sp>
        <p:sp>
          <p:nvSpPr>
            <p:cNvPr id="9259" name="Rectangle 44"/>
            <p:cNvSpPr>
              <a:spLocks noChangeArrowheads="1"/>
            </p:cNvSpPr>
            <p:nvPr/>
          </p:nvSpPr>
          <p:spPr bwMode="auto">
            <a:xfrm>
              <a:off x="3096" y="2245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60" name="Rectangle 45"/>
            <p:cNvSpPr>
              <a:spLocks noChangeArrowheads="1"/>
            </p:cNvSpPr>
            <p:nvPr/>
          </p:nvSpPr>
          <p:spPr bwMode="auto">
            <a:xfrm>
              <a:off x="3168" y="2245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61" name="Rectangle 46"/>
            <p:cNvSpPr>
              <a:spLocks noChangeArrowheads="1"/>
            </p:cNvSpPr>
            <p:nvPr/>
          </p:nvSpPr>
          <p:spPr bwMode="auto">
            <a:xfrm>
              <a:off x="925" y="2377"/>
              <a:ext cx="64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 Circle(</a:t>
              </a:r>
              <a:endParaRPr lang="en-US" b="1" dirty="0"/>
            </a:p>
          </p:txBody>
        </p:sp>
        <p:sp>
          <p:nvSpPr>
            <p:cNvPr id="9262" name="Rectangle 47"/>
            <p:cNvSpPr>
              <a:spLocks noChangeArrowheads="1"/>
            </p:cNvSpPr>
            <p:nvPr/>
          </p:nvSpPr>
          <p:spPr bwMode="auto">
            <a:xfrm>
              <a:off x="1576" y="2372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50"/>
                  </a:solidFill>
                  <a:latin typeface="Courier New" pitchFamily="49" charset="0"/>
                </a:rPr>
                <a:t>double</a:t>
              </a:r>
              <a:endParaRPr lang="en-US" b="1"/>
            </a:p>
          </p:txBody>
        </p:sp>
        <p:sp>
          <p:nvSpPr>
            <p:cNvPr id="9263" name="Rectangle 48"/>
            <p:cNvSpPr>
              <a:spLocks noChangeArrowheads="1"/>
            </p:cNvSpPr>
            <p:nvPr/>
          </p:nvSpPr>
          <p:spPr bwMode="auto">
            <a:xfrm>
              <a:off x="2011" y="2377"/>
              <a:ext cx="79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newRadius)</a:t>
              </a:r>
              <a:endParaRPr lang="en-US" b="1"/>
            </a:p>
          </p:txBody>
        </p:sp>
        <p:sp>
          <p:nvSpPr>
            <p:cNvPr id="9264" name="Rectangle 49"/>
            <p:cNvSpPr>
              <a:spLocks noChangeArrowheads="1"/>
            </p:cNvSpPr>
            <p:nvPr/>
          </p:nvSpPr>
          <p:spPr bwMode="auto">
            <a:xfrm>
              <a:off x="2807" y="2377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65" name="Rectangle 50"/>
            <p:cNvSpPr>
              <a:spLocks noChangeArrowheads="1"/>
            </p:cNvSpPr>
            <p:nvPr/>
          </p:nvSpPr>
          <p:spPr bwMode="auto">
            <a:xfrm>
              <a:off x="925" y="2519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{</a:t>
              </a:r>
              <a:endParaRPr lang="en-US" b="1"/>
            </a:p>
          </p:txBody>
        </p:sp>
        <p:sp>
          <p:nvSpPr>
            <p:cNvPr id="9266" name="Rectangle 51"/>
            <p:cNvSpPr>
              <a:spLocks noChangeArrowheads="1"/>
            </p:cNvSpPr>
            <p:nvPr/>
          </p:nvSpPr>
          <p:spPr bwMode="auto">
            <a:xfrm>
              <a:off x="1142" y="2519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67" name="Rectangle 52"/>
            <p:cNvSpPr>
              <a:spLocks noChangeArrowheads="1"/>
            </p:cNvSpPr>
            <p:nvPr/>
          </p:nvSpPr>
          <p:spPr bwMode="auto">
            <a:xfrm>
              <a:off x="925" y="2654"/>
              <a:ext cx="165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  radius = newRadius;</a:t>
              </a:r>
              <a:endParaRPr lang="en-US" b="1"/>
            </a:p>
          </p:txBody>
        </p:sp>
        <p:sp>
          <p:nvSpPr>
            <p:cNvPr id="9268" name="Rectangle 53"/>
            <p:cNvSpPr>
              <a:spLocks noChangeArrowheads="1"/>
            </p:cNvSpPr>
            <p:nvPr/>
          </p:nvSpPr>
          <p:spPr bwMode="auto">
            <a:xfrm>
              <a:off x="2590" y="2654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69" name="Rectangle 54"/>
            <p:cNvSpPr>
              <a:spLocks noChangeArrowheads="1"/>
            </p:cNvSpPr>
            <p:nvPr/>
          </p:nvSpPr>
          <p:spPr bwMode="auto">
            <a:xfrm>
              <a:off x="925" y="2792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}</a:t>
              </a:r>
              <a:endParaRPr lang="en-US" b="1"/>
            </a:p>
          </p:txBody>
        </p:sp>
        <p:sp>
          <p:nvSpPr>
            <p:cNvPr id="9270" name="Rectangle 55"/>
            <p:cNvSpPr>
              <a:spLocks noChangeArrowheads="1"/>
            </p:cNvSpPr>
            <p:nvPr/>
          </p:nvSpPr>
          <p:spPr bwMode="auto">
            <a:xfrm>
              <a:off x="1142" y="2792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71" name="Rectangle 56"/>
            <p:cNvSpPr>
              <a:spLocks noChangeArrowheads="1"/>
            </p:cNvSpPr>
            <p:nvPr/>
          </p:nvSpPr>
          <p:spPr bwMode="auto">
            <a:xfrm>
              <a:off x="925" y="2928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72" name="Rectangle 57"/>
            <p:cNvSpPr>
              <a:spLocks noChangeArrowheads="1"/>
            </p:cNvSpPr>
            <p:nvPr/>
          </p:nvSpPr>
          <p:spPr bwMode="auto">
            <a:xfrm>
              <a:off x="925" y="3065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73" name="Rectangle 58"/>
            <p:cNvSpPr>
              <a:spLocks noChangeArrowheads="1"/>
            </p:cNvSpPr>
            <p:nvPr/>
          </p:nvSpPr>
          <p:spPr bwMode="auto">
            <a:xfrm>
              <a:off x="1070" y="3065"/>
              <a:ext cx="86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// Return </a:t>
              </a:r>
              <a:r>
                <a:rPr lang="en-US" sz="1500" b="1" dirty="0" err="1">
                  <a:latin typeface="Courier New" pitchFamily="49" charset="0"/>
                </a:rPr>
                <a:t>th</a:t>
              </a:r>
              <a:endParaRPr lang="en-US" b="1" dirty="0"/>
            </a:p>
          </p:txBody>
        </p:sp>
        <p:sp>
          <p:nvSpPr>
            <p:cNvPr id="9274" name="Rectangle 59"/>
            <p:cNvSpPr>
              <a:spLocks noChangeArrowheads="1"/>
            </p:cNvSpPr>
            <p:nvPr/>
          </p:nvSpPr>
          <p:spPr bwMode="auto">
            <a:xfrm>
              <a:off x="1938" y="3065"/>
              <a:ext cx="151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e area of this circle</a:t>
              </a:r>
              <a:endParaRPr lang="en-US" b="1" dirty="0"/>
            </a:p>
          </p:txBody>
        </p:sp>
        <p:sp>
          <p:nvSpPr>
            <p:cNvPr id="9275" name="Rectangle 60"/>
            <p:cNvSpPr>
              <a:spLocks noChangeArrowheads="1"/>
            </p:cNvSpPr>
            <p:nvPr/>
          </p:nvSpPr>
          <p:spPr bwMode="auto">
            <a:xfrm>
              <a:off x="3458" y="3065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76" name="Rectangle 61"/>
            <p:cNvSpPr>
              <a:spLocks noChangeArrowheads="1"/>
            </p:cNvSpPr>
            <p:nvPr/>
          </p:nvSpPr>
          <p:spPr bwMode="auto">
            <a:xfrm>
              <a:off x="3530" y="3065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77" name="Rectangle 62"/>
            <p:cNvSpPr>
              <a:spLocks noChangeArrowheads="1"/>
            </p:cNvSpPr>
            <p:nvPr/>
          </p:nvSpPr>
          <p:spPr bwMode="auto">
            <a:xfrm>
              <a:off x="925" y="319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b="1"/>
            </a:p>
          </p:txBody>
        </p:sp>
        <p:sp>
          <p:nvSpPr>
            <p:cNvPr id="9278" name="Rectangle 63"/>
            <p:cNvSpPr>
              <a:spLocks noChangeArrowheads="1"/>
            </p:cNvSpPr>
            <p:nvPr/>
          </p:nvSpPr>
          <p:spPr bwMode="auto">
            <a:xfrm>
              <a:off x="1070" y="3192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50"/>
                  </a:solidFill>
                  <a:latin typeface="Courier New" pitchFamily="49" charset="0"/>
                </a:rPr>
                <a:t>double</a:t>
              </a:r>
              <a:endParaRPr lang="en-US" b="1"/>
            </a:p>
          </p:txBody>
        </p:sp>
        <p:sp>
          <p:nvSpPr>
            <p:cNvPr id="9279" name="Rectangle 64"/>
            <p:cNvSpPr>
              <a:spLocks noChangeArrowheads="1"/>
            </p:cNvSpPr>
            <p:nvPr/>
          </p:nvSpPr>
          <p:spPr bwMode="auto">
            <a:xfrm>
              <a:off x="1504" y="3197"/>
              <a:ext cx="72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r>
                <a:rPr lang="en-US" sz="1500" b="1" dirty="0" err="1">
                  <a:solidFill>
                    <a:srgbClr val="000000"/>
                  </a:solidFill>
                  <a:latin typeface="Courier New" pitchFamily="49" charset="0"/>
                </a:rPr>
                <a:t>getArea</a:t>
              </a: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()</a:t>
              </a:r>
              <a:endParaRPr lang="en-US" b="1" dirty="0"/>
            </a:p>
          </p:txBody>
        </p:sp>
        <p:sp>
          <p:nvSpPr>
            <p:cNvPr id="9280" name="Rectangle 65"/>
            <p:cNvSpPr>
              <a:spLocks noChangeArrowheads="1"/>
            </p:cNvSpPr>
            <p:nvPr/>
          </p:nvSpPr>
          <p:spPr bwMode="auto">
            <a:xfrm>
              <a:off x="2228" y="3197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81" name="Rectangle 66"/>
            <p:cNvSpPr>
              <a:spLocks noChangeArrowheads="1"/>
            </p:cNvSpPr>
            <p:nvPr/>
          </p:nvSpPr>
          <p:spPr bwMode="auto">
            <a:xfrm>
              <a:off x="925" y="3339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{</a:t>
              </a:r>
              <a:endParaRPr lang="en-US" b="1"/>
            </a:p>
          </p:txBody>
        </p:sp>
        <p:sp>
          <p:nvSpPr>
            <p:cNvPr id="9282" name="Rectangle 67"/>
            <p:cNvSpPr>
              <a:spLocks noChangeArrowheads="1"/>
            </p:cNvSpPr>
            <p:nvPr/>
          </p:nvSpPr>
          <p:spPr bwMode="auto">
            <a:xfrm>
              <a:off x="1142" y="3339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83" name="Rectangle 68"/>
            <p:cNvSpPr>
              <a:spLocks noChangeArrowheads="1"/>
            </p:cNvSpPr>
            <p:nvPr/>
          </p:nvSpPr>
          <p:spPr bwMode="auto">
            <a:xfrm>
              <a:off x="925" y="3471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  </a:t>
              </a:r>
              <a:endParaRPr lang="en-US" b="1"/>
            </a:p>
          </p:txBody>
        </p:sp>
        <p:sp>
          <p:nvSpPr>
            <p:cNvPr id="9284" name="Rectangle 69"/>
            <p:cNvSpPr>
              <a:spLocks noChangeArrowheads="1"/>
            </p:cNvSpPr>
            <p:nvPr/>
          </p:nvSpPr>
          <p:spPr bwMode="auto">
            <a:xfrm>
              <a:off x="1215" y="3466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50"/>
                  </a:solidFill>
                  <a:latin typeface="Courier New" pitchFamily="49" charset="0"/>
                </a:rPr>
                <a:t>return</a:t>
              </a:r>
              <a:endParaRPr lang="en-US" b="1"/>
            </a:p>
          </p:txBody>
        </p:sp>
        <p:sp>
          <p:nvSpPr>
            <p:cNvPr id="9285" name="Rectangle 70"/>
            <p:cNvSpPr>
              <a:spLocks noChangeArrowheads="1"/>
            </p:cNvSpPr>
            <p:nvPr/>
          </p:nvSpPr>
          <p:spPr bwMode="auto">
            <a:xfrm>
              <a:off x="1649" y="3471"/>
              <a:ext cx="136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radius * radius * </a:t>
              </a:r>
              <a:endParaRPr lang="en-US" b="1"/>
            </a:p>
          </p:txBody>
        </p:sp>
        <p:sp>
          <p:nvSpPr>
            <p:cNvPr id="9286" name="Rectangle 71"/>
            <p:cNvSpPr>
              <a:spLocks noChangeArrowheads="1"/>
            </p:cNvSpPr>
            <p:nvPr/>
          </p:nvSpPr>
          <p:spPr bwMode="auto">
            <a:xfrm>
              <a:off x="3024" y="3471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latin typeface="Courier New" pitchFamily="49" charset="0"/>
                </a:rPr>
                <a:t>3.14159</a:t>
              </a:r>
              <a:endParaRPr lang="en-US" b="1" dirty="0"/>
            </a:p>
          </p:txBody>
        </p:sp>
        <p:sp>
          <p:nvSpPr>
            <p:cNvPr id="9287" name="Rectangle 72"/>
            <p:cNvSpPr>
              <a:spLocks noChangeArrowheads="1"/>
            </p:cNvSpPr>
            <p:nvPr/>
          </p:nvSpPr>
          <p:spPr bwMode="auto">
            <a:xfrm>
              <a:off x="3530" y="347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  <a:endParaRPr lang="en-US" b="1"/>
            </a:p>
          </p:txBody>
        </p:sp>
        <p:sp>
          <p:nvSpPr>
            <p:cNvPr id="9288" name="Rectangle 73"/>
            <p:cNvSpPr>
              <a:spLocks noChangeArrowheads="1"/>
            </p:cNvSpPr>
            <p:nvPr/>
          </p:nvSpPr>
          <p:spPr bwMode="auto">
            <a:xfrm>
              <a:off x="3603" y="347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89" name="Rectangle 74"/>
            <p:cNvSpPr>
              <a:spLocks noChangeArrowheads="1"/>
            </p:cNvSpPr>
            <p:nvPr/>
          </p:nvSpPr>
          <p:spPr bwMode="auto">
            <a:xfrm>
              <a:off x="925" y="3612"/>
              <a:ext cx="21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 }</a:t>
              </a:r>
              <a:endParaRPr lang="en-US" b="1"/>
            </a:p>
          </p:txBody>
        </p:sp>
        <p:sp>
          <p:nvSpPr>
            <p:cNvPr id="9290" name="Rectangle 75"/>
            <p:cNvSpPr>
              <a:spLocks noChangeArrowheads="1"/>
            </p:cNvSpPr>
            <p:nvPr/>
          </p:nvSpPr>
          <p:spPr bwMode="auto">
            <a:xfrm>
              <a:off x="1142" y="3612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91" name="Rectangle 76"/>
            <p:cNvSpPr>
              <a:spLocks noChangeArrowheads="1"/>
            </p:cNvSpPr>
            <p:nvPr/>
          </p:nvSpPr>
          <p:spPr bwMode="auto">
            <a:xfrm>
              <a:off x="925" y="373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};</a:t>
              </a:r>
              <a:endParaRPr lang="en-US" b="1"/>
            </a:p>
          </p:txBody>
        </p:sp>
        <p:sp>
          <p:nvSpPr>
            <p:cNvPr id="9292" name="Rectangle 77"/>
            <p:cNvSpPr>
              <a:spLocks noChangeArrowheads="1"/>
            </p:cNvSpPr>
            <p:nvPr/>
          </p:nvSpPr>
          <p:spPr bwMode="auto">
            <a:xfrm>
              <a:off x="1070" y="3739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293" name="Rectangle 78"/>
            <p:cNvSpPr>
              <a:spLocks noChangeArrowheads="1"/>
            </p:cNvSpPr>
            <p:nvPr/>
          </p:nvSpPr>
          <p:spPr bwMode="auto">
            <a:xfrm>
              <a:off x="4064" y="1168"/>
              <a:ext cx="814" cy="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294" name="Rectangle 79"/>
            <p:cNvSpPr>
              <a:spLocks noChangeArrowheads="1"/>
            </p:cNvSpPr>
            <p:nvPr/>
          </p:nvSpPr>
          <p:spPr bwMode="auto">
            <a:xfrm>
              <a:off x="4064" y="1168"/>
              <a:ext cx="814" cy="163"/>
            </a:xfrm>
            <a:prstGeom prst="rect">
              <a:avLst/>
            </a:prstGeom>
            <a:grpFill/>
            <a:ln w="17463">
              <a:solidFill>
                <a:schemeClr val="accent5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 dirty="0"/>
            </a:p>
          </p:txBody>
        </p:sp>
        <p:sp>
          <p:nvSpPr>
            <p:cNvPr id="9295" name="Rectangle 80"/>
            <p:cNvSpPr>
              <a:spLocks noChangeArrowheads="1"/>
            </p:cNvSpPr>
            <p:nvPr/>
          </p:nvSpPr>
          <p:spPr bwMode="auto">
            <a:xfrm>
              <a:off x="4071" y="1181"/>
              <a:ext cx="72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2C14DE"/>
                  </a:solidFill>
                  <a:latin typeface="Courier New" pitchFamily="49" charset="0"/>
                </a:rPr>
                <a:t>Data field</a:t>
              </a:r>
              <a:endParaRPr lang="en-US" b="1" dirty="0">
                <a:solidFill>
                  <a:srgbClr val="2C14DE"/>
                </a:solidFill>
              </a:endParaRPr>
            </a:p>
          </p:txBody>
        </p:sp>
        <p:sp>
          <p:nvSpPr>
            <p:cNvPr id="9296" name="Rectangle 81"/>
            <p:cNvSpPr>
              <a:spLocks noChangeArrowheads="1"/>
            </p:cNvSpPr>
            <p:nvPr/>
          </p:nvSpPr>
          <p:spPr bwMode="auto">
            <a:xfrm>
              <a:off x="4795" y="118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 dirty="0"/>
            </a:p>
          </p:txBody>
        </p:sp>
        <p:sp>
          <p:nvSpPr>
            <p:cNvPr id="9297" name="Rectangle 82"/>
            <p:cNvSpPr>
              <a:spLocks noChangeArrowheads="1"/>
            </p:cNvSpPr>
            <p:nvPr/>
          </p:nvSpPr>
          <p:spPr bwMode="auto">
            <a:xfrm>
              <a:off x="4071" y="1311"/>
              <a:ext cx="46" cy="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3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b="1"/>
            </a:p>
          </p:txBody>
        </p:sp>
        <p:sp>
          <p:nvSpPr>
            <p:cNvPr id="9298" name="Freeform 83"/>
            <p:cNvSpPr>
              <a:spLocks noEditPoints="1"/>
            </p:cNvSpPr>
            <p:nvPr/>
          </p:nvSpPr>
          <p:spPr bwMode="auto">
            <a:xfrm>
              <a:off x="2131" y="1177"/>
              <a:ext cx="1895" cy="81"/>
            </a:xfrm>
            <a:custGeom>
              <a:avLst/>
              <a:gdLst>
                <a:gd name="T0" fmla="*/ 60 w 1147"/>
                <a:gd name="T1" fmla="*/ 38 h 91"/>
                <a:gd name="T2" fmla="*/ 1140 w 1147"/>
                <a:gd name="T3" fmla="*/ 38 h 91"/>
                <a:gd name="T4" fmla="*/ 1143 w 1147"/>
                <a:gd name="T5" fmla="*/ 38 h 91"/>
                <a:gd name="T6" fmla="*/ 1145 w 1147"/>
                <a:gd name="T7" fmla="*/ 40 h 91"/>
                <a:gd name="T8" fmla="*/ 1147 w 1147"/>
                <a:gd name="T9" fmla="*/ 42 h 91"/>
                <a:gd name="T10" fmla="*/ 1147 w 1147"/>
                <a:gd name="T11" fmla="*/ 45 h 91"/>
                <a:gd name="T12" fmla="*/ 1147 w 1147"/>
                <a:gd name="T13" fmla="*/ 47 h 91"/>
                <a:gd name="T14" fmla="*/ 1145 w 1147"/>
                <a:gd name="T15" fmla="*/ 51 h 91"/>
                <a:gd name="T16" fmla="*/ 1143 w 1147"/>
                <a:gd name="T17" fmla="*/ 53 h 91"/>
                <a:gd name="T18" fmla="*/ 1140 w 1147"/>
                <a:gd name="T19" fmla="*/ 53 h 91"/>
                <a:gd name="T20" fmla="*/ 60 w 1147"/>
                <a:gd name="T21" fmla="*/ 53 h 91"/>
                <a:gd name="T22" fmla="*/ 58 w 1147"/>
                <a:gd name="T23" fmla="*/ 53 h 91"/>
                <a:gd name="T24" fmla="*/ 54 w 1147"/>
                <a:gd name="T25" fmla="*/ 51 h 91"/>
                <a:gd name="T26" fmla="*/ 52 w 1147"/>
                <a:gd name="T27" fmla="*/ 47 h 91"/>
                <a:gd name="T28" fmla="*/ 52 w 1147"/>
                <a:gd name="T29" fmla="*/ 45 h 91"/>
                <a:gd name="T30" fmla="*/ 52 w 1147"/>
                <a:gd name="T31" fmla="*/ 42 h 91"/>
                <a:gd name="T32" fmla="*/ 54 w 1147"/>
                <a:gd name="T33" fmla="*/ 40 h 91"/>
                <a:gd name="T34" fmla="*/ 58 w 1147"/>
                <a:gd name="T35" fmla="*/ 38 h 91"/>
                <a:gd name="T36" fmla="*/ 60 w 1147"/>
                <a:gd name="T37" fmla="*/ 38 h 91"/>
                <a:gd name="T38" fmla="*/ 60 w 1147"/>
                <a:gd name="T39" fmla="*/ 38 h 91"/>
                <a:gd name="T40" fmla="*/ 60 w 1147"/>
                <a:gd name="T41" fmla="*/ 45 h 91"/>
                <a:gd name="T42" fmla="*/ 90 w 1147"/>
                <a:gd name="T43" fmla="*/ 91 h 91"/>
                <a:gd name="T44" fmla="*/ 0 w 1147"/>
                <a:gd name="T45" fmla="*/ 45 h 91"/>
                <a:gd name="T46" fmla="*/ 90 w 1147"/>
                <a:gd name="T47" fmla="*/ 0 h 91"/>
                <a:gd name="T48" fmla="*/ 60 w 1147"/>
                <a:gd name="T49" fmla="*/ 45 h 9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47"/>
                <a:gd name="T76" fmla="*/ 0 h 91"/>
                <a:gd name="T77" fmla="*/ 1147 w 1147"/>
                <a:gd name="T78" fmla="*/ 91 h 9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47" h="91">
                  <a:moveTo>
                    <a:pt x="60" y="38"/>
                  </a:moveTo>
                  <a:lnTo>
                    <a:pt x="1140" y="38"/>
                  </a:lnTo>
                  <a:lnTo>
                    <a:pt x="1143" y="38"/>
                  </a:lnTo>
                  <a:lnTo>
                    <a:pt x="1145" y="40"/>
                  </a:lnTo>
                  <a:lnTo>
                    <a:pt x="1147" y="42"/>
                  </a:lnTo>
                  <a:lnTo>
                    <a:pt x="1147" y="45"/>
                  </a:lnTo>
                  <a:lnTo>
                    <a:pt x="1147" y="47"/>
                  </a:lnTo>
                  <a:lnTo>
                    <a:pt x="1145" y="51"/>
                  </a:lnTo>
                  <a:lnTo>
                    <a:pt x="1143" y="53"/>
                  </a:lnTo>
                  <a:lnTo>
                    <a:pt x="1140" y="53"/>
                  </a:lnTo>
                  <a:lnTo>
                    <a:pt x="60" y="53"/>
                  </a:lnTo>
                  <a:lnTo>
                    <a:pt x="58" y="53"/>
                  </a:lnTo>
                  <a:lnTo>
                    <a:pt x="54" y="51"/>
                  </a:lnTo>
                  <a:lnTo>
                    <a:pt x="52" y="47"/>
                  </a:lnTo>
                  <a:lnTo>
                    <a:pt x="52" y="45"/>
                  </a:lnTo>
                  <a:lnTo>
                    <a:pt x="52" y="42"/>
                  </a:lnTo>
                  <a:lnTo>
                    <a:pt x="54" y="40"/>
                  </a:lnTo>
                  <a:lnTo>
                    <a:pt x="58" y="38"/>
                  </a:lnTo>
                  <a:lnTo>
                    <a:pt x="60" y="38"/>
                  </a:lnTo>
                  <a:close/>
                  <a:moveTo>
                    <a:pt x="60" y="45"/>
                  </a:moveTo>
                  <a:lnTo>
                    <a:pt x="90" y="91"/>
                  </a:lnTo>
                  <a:lnTo>
                    <a:pt x="0" y="45"/>
                  </a:lnTo>
                  <a:lnTo>
                    <a:pt x="90" y="0"/>
                  </a:lnTo>
                  <a:lnTo>
                    <a:pt x="60" y="45"/>
                  </a:lnTo>
                  <a:close/>
                </a:path>
              </a:pathLst>
            </a:custGeom>
            <a:grp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299" name="Rectangle 84"/>
            <p:cNvSpPr>
              <a:spLocks noChangeArrowheads="1"/>
            </p:cNvSpPr>
            <p:nvPr/>
          </p:nvSpPr>
          <p:spPr bwMode="auto">
            <a:xfrm>
              <a:off x="4022" y="3226"/>
              <a:ext cx="780" cy="18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01" name="Rectangle 86"/>
            <p:cNvSpPr>
              <a:spLocks noChangeArrowheads="1"/>
            </p:cNvSpPr>
            <p:nvPr/>
          </p:nvSpPr>
          <p:spPr bwMode="auto">
            <a:xfrm>
              <a:off x="4028" y="3203"/>
              <a:ext cx="576" cy="14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2C14DE"/>
                  </a:solidFill>
                  <a:latin typeface="Courier New" pitchFamily="49" charset="0"/>
                </a:rPr>
                <a:t>Function</a:t>
              </a:r>
              <a:endParaRPr lang="en-US" sz="1500" b="1" dirty="0">
                <a:solidFill>
                  <a:srgbClr val="2C14DE"/>
                </a:solidFill>
              </a:endParaRPr>
            </a:p>
          </p:txBody>
        </p:sp>
        <p:sp>
          <p:nvSpPr>
            <p:cNvPr id="9302" name="Rectangle 87"/>
            <p:cNvSpPr>
              <a:spLocks noChangeArrowheads="1"/>
            </p:cNvSpPr>
            <p:nvPr/>
          </p:nvSpPr>
          <p:spPr bwMode="auto">
            <a:xfrm>
              <a:off x="4607" y="324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 dirty="0"/>
            </a:p>
          </p:txBody>
        </p:sp>
        <p:sp>
          <p:nvSpPr>
            <p:cNvPr id="9303" name="Rectangle 88"/>
            <p:cNvSpPr>
              <a:spLocks noChangeArrowheads="1"/>
            </p:cNvSpPr>
            <p:nvPr/>
          </p:nvSpPr>
          <p:spPr bwMode="auto">
            <a:xfrm>
              <a:off x="4028" y="3371"/>
              <a:ext cx="46" cy="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3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b="1"/>
            </a:p>
          </p:txBody>
        </p:sp>
        <p:sp>
          <p:nvSpPr>
            <p:cNvPr id="9304" name="Freeform 89"/>
            <p:cNvSpPr>
              <a:spLocks noEditPoints="1"/>
            </p:cNvSpPr>
            <p:nvPr/>
          </p:nvSpPr>
          <p:spPr bwMode="auto">
            <a:xfrm>
              <a:off x="2224" y="3254"/>
              <a:ext cx="1760" cy="120"/>
            </a:xfrm>
            <a:custGeom>
              <a:avLst/>
              <a:gdLst>
                <a:gd name="T0" fmla="*/ 60 w 1147"/>
                <a:gd name="T1" fmla="*/ 38 h 90"/>
                <a:gd name="T2" fmla="*/ 1140 w 1147"/>
                <a:gd name="T3" fmla="*/ 38 h 90"/>
                <a:gd name="T4" fmla="*/ 1142 w 1147"/>
                <a:gd name="T5" fmla="*/ 38 h 90"/>
                <a:gd name="T6" fmla="*/ 1146 w 1147"/>
                <a:gd name="T7" fmla="*/ 39 h 90"/>
                <a:gd name="T8" fmla="*/ 1146 w 1147"/>
                <a:gd name="T9" fmla="*/ 43 h 90"/>
                <a:gd name="T10" fmla="*/ 1147 w 1147"/>
                <a:gd name="T11" fmla="*/ 45 h 90"/>
                <a:gd name="T12" fmla="*/ 1146 w 1147"/>
                <a:gd name="T13" fmla="*/ 48 h 90"/>
                <a:gd name="T14" fmla="*/ 1146 w 1147"/>
                <a:gd name="T15" fmla="*/ 50 h 90"/>
                <a:gd name="T16" fmla="*/ 1142 w 1147"/>
                <a:gd name="T17" fmla="*/ 52 h 90"/>
                <a:gd name="T18" fmla="*/ 1140 w 1147"/>
                <a:gd name="T19" fmla="*/ 52 h 90"/>
                <a:gd name="T20" fmla="*/ 60 w 1147"/>
                <a:gd name="T21" fmla="*/ 52 h 90"/>
                <a:gd name="T22" fmla="*/ 56 w 1147"/>
                <a:gd name="T23" fmla="*/ 52 h 90"/>
                <a:gd name="T24" fmla="*/ 55 w 1147"/>
                <a:gd name="T25" fmla="*/ 50 h 90"/>
                <a:gd name="T26" fmla="*/ 53 w 1147"/>
                <a:gd name="T27" fmla="*/ 48 h 90"/>
                <a:gd name="T28" fmla="*/ 53 w 1147"/>
                <a:gd name="T29" fmla="*/ 45 h 90"/>
                <a:gd name="T30" fmla="*/ 53 w 1147"/>
                <a:gd name="T31" fmla="*/ 43 h 90"/>
                <a:gd name="T32" fmla="*/ 55 w 1147"/>
                <a:gd name="T33" fmla="*/ 39 h 90"/>
                <a:gd name="T34" fmla="*/ 56 w 1147"/>
                <a:gd name="T35" fmla="*/ 38 h 90"/>
                <a:gd name="T36" fmla="*/ 60 w 1147"/>
                <a:gd name="T37" fmla="*/ 38 h 90"/>
                <a:gd name="T38" fmla="*/ 60 w 1147"/>
                <a:gd name="T39" fmla="*/ 38 h 90"/>
                <a:gd name="T40" fmla="*/ 60 w 1147"/>
                <a:gd name="T41" fmla="*/ 45 h 90"/>
                <a:gd name="T42" fmla="*/ 91 w 1147"/>
                <a:gd name="T43" fmla="*/ 90 h 90"/>
                <a:gd name="T44" fmla="*/ 0 w 1147"/>
                <a:gd name="T45" fmla="*/ 45 h 90"/>
                <a:gd name="T46" fmla="*/ 91 w 1147"/>
                <a:gd name="T47" fmla="*/ 0 h 90"/>
                <a:gd name="T48" fmla="*/ 60 w 1147"/>
                <a:gd name="T49" fmla="*/ 45 h 9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47"/>
                <a:gd name="T76" fmla="*/ 0 h 90"/>
                <a:gd name="T77" fmla="*/ 1147 w 1147"/>
                <a:gd name="T78" fmla="*/ 90 h 9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47" h="90">
                  <a:moveTo>
                    <a:pt x="60" y="38"/>
                  </a:moveTo>
                  <a:lnTo>
                    <a:pt x="1140" y="38"/>
                  </a:lnTo>
                  <a:lnTo>
                    <a:pt x="1142" y="38"/>
                  </a:lnTo>
                  <a:lnTo>
                    <a:pt x="1146" y="39"/>
                  </a:lnTo>
                  <a:lnTo>
                    <a:pt x="1146" y="43"/>
                  </a:lnTo>
                  <a:lnTo>
                    <a:pt x="1147" y="45"/>
                  </a:lnTo>
                  <a:lnTo>
                    <a:pt x="1146" y="48"/>
                  </a:lnTo>
                  <a:lnTo>
                    <a:pt x="1146" y="50"/>
                  </a:lnTo>
                  <a:lnTo>
                    <a:pt x="1142" y="52"/>
                  </a:lnTo>
                  <a:lnTo>
                    <a:pt x="1140" y="52"/>
                  </a:lnTo>
                  <a:lnTo>
                    <a:pt x="60" y="52"/>
                  </a:lnTo>
                  <a:lnTo>
                    <a:pt x="56" y="52"/>
                  </a:lnTo>
                  <a:lnTo>
                    <a:pt x="55" y="50"/>
                  </a:lnTo>
                  <a:lnTo>
                    <a:pt x="53" y="48"/>
                  </a:lnTo>
                  <a:lnTo>
                    <a:pt x="53" y="45"/>
                  </a:lnTo>
                  <a:lnTo>
                    <a:pt x="53" y="43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60" y="38"/>
                  </a:lnTo>
                  <a:close/>
                  <a:moveTo>
                    <a:pt x="60" y="45"/>
                  </a:moveTo>
                  <a:lnTo>
                    <a:pt x="91" y="90"/>
                  </a:lnTo>
                  <a:lnTo>
                    <a:pt x="0" y="45"/>
                  </a:lnTo>
                  <a:lnTo>
                    <a:pt x="91" y="0"/>
                  </a:lnTo>
                  <a:lnTo>
                    <a:pt x="60" y="45"/>
                  </a:lnTo>
                  <a:close/>
                </a:path>
              </a:pathLst>
            </a:custGeom>
            <a:grp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05" name="Rectangle 90"/>
            <p:cNvSpPr>
              <a:spLocks noChangeArrowheads="1"/>
            </p:cNvSpPr>
            <p:nvPr/>
          </p:nvSpPr>
          <p:spPr bwMode="auto">
            <a:xfrm>
              <a:off x="4012" y="1907"/>
              <a:ext cx="886" cy="17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08" name="Rectangle 93"/>
            <p:cNvSpPr>
              <a:spLocks noChangeArrowheads="1"/>
            </p:cNvSpPr>
            <p:nvPr/>
          </p:nvSpPr>
          <p:spPr bwMode="auto">
            <a:xfrm>
              <a:off x="4885" y="1921"/>
              <a:ext cx="7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1500" b="1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b="1"/>
            </a:p>
          </p:txBody>
        </p:sp>
        <p:sp>
          <p:nvSpPr>
            <p:cNvPr id="9309" name="Rectangle 94"/>
            <p:cNvSpPr>
              <a:spLocks noChangeArrowheads="1"/>
            </p:cNvSpPr>
            <p:nvPr/>
          </p:nvSpPr>
          <p:spPr bwMode="auto">
            <a:xfrm>
              <a:off x="4017" y="2050"/>
              <a:ext cx="46" cy="2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sz="23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en-US" b="1"/>
            </a:p>
          </p:txBody>
        </p:sp>
        <p:sp>
          <p:nvSpPr>
            <p:cNvPr id="9310" name="Freeform 95"/>
            <p:cNvSpPr>
              <a:spLocks noEditPoints="1"/>
            </p:cNvSpPr>
            <p:nvPr/>
          </p:nvSpPr>
          <p:spPr bwMode="auto">
            <a:xfrm>
              <a:off x="3686" y="1943"/>
              <a:ext cx="306" cy="90"/>
            </a:xfrm>
            <a:custGeom>
              <a:avLst/>
              <a:gdLst>
                <a:gd name="T0" fmla="*/ 60 w 306"/>
                <a:gd name="T1" fmla="*/ 38 h 90"/>
                <a:gd name="T2" fmla="*/ 298 w 306"/>
                <a:gd name="T3" fmla="*/ 38 h 90"/>
                <a:gd name="T4" fmla="*/ 300 w 306"/>
                <a:gd name="T5" fmla="*/ 38 h 90"/>
                <a:gd name="T6" fmla="*/ 304 w 306"/>
                <a:gd name="T7" fmla="*/ 40 h 90"/>
                <a:gd name="T8" fmla="*/ 306 w 306"/>
                <a:gd name="T9" fmla="*/ 42 h 90"/>
                <a:gd name="T10" fmla="*/ 306 w 306"/>
                <a:gd name="T11" fmla="*/ 45 h 90"/>
                <a:gd name="T12" fmla="*/ 306 w 306"/>
                <a:gd name="T13" fmla="*/ 49 h 90"/>
                <a:gd name="T14" fmla="*/ 304 w 306"/>
                <a:gd name="T15" fmla="*/ 51 h 90"/>
                <a:gd name="T16" fmla="*/ 300 w 306"/>
                <a:gd name="T17" fmla="*/ 52 h 90"/>
                <a:gd name="T18" fmla="*/ 298 w 306"/>
                <a:gd name="T19" fmla="*/ 52 h 90"/>
                <a:gd name="T20" fmla="*/ 60 w 306"/>
                <a:gd name="T21" fmla="*/ 52 h 90"/>
                <a:gd name="T22" fmla="*/ 56 w 306"/>
                <a:gd name="T23" fmla="*/ 52 h 90"/>
                <a:gd name="T24" fmla="*/ 54 w 306"/>
                <a:gd name="T25" fmla="*/ 51 h 90"/>
                <a:gd name="T26" fmla="*/ 52 w 306"/>
                <a:gd name="T27" fmla="*/ 49 h 90"/>
                <a:gd name="T28" fmla="*/ 52 w 306"/>
                <a:gd name="T29" fmla="*/ 45 h 90"/>
                <a:gd name="T30" fmla="*/ 52 w 306"/>
                <a:gd name="T31" fmla="*/ 42 h 90"/>
                <a:gd name="T32" fmla="*/ 54 w 306"/>
                <a:gd name="T33" fmla="*/ 40 h 90"/>
                <a:gd name="T34" fmla="*/ 56 w 306"/>
                <a:gd name="T35" fmla="*/ 38 h 90"/>
                <a:gd name="T36" fmla="*/ 60 w 306"/>
                <a:gd name="T37" fmla="*/ 38 h 90"/>
                <a:gd name="T38" fmla="*/ 60 w 306"/>
                <a:gd name="T39" fmla="*/ 38 h 90"/>
                <a:gd name="T40" fmla="*/ 60 w 306"/>
                <a:gd name="T41" fmla="*/ 45 h 90"/>
                <a:gd name="T42" fmla="*/ 90 w 306"/>
                <a:gd name="T43" fmla="*/ 90 h 90"/>
                <a:gd name="T44" fmla="*/ 0 w 306"/>
                <a:gd name="T45" fmla="*/ 45 h 90"/>
                <a:gd name="T46" fmla="*/ 90 w 306"/>
                <a:gd name="T47" fmla="*/ 0 h 90"/>
                <a:gd name="T48" fmla="*/ 60 w 306"/>
                <a:gd name="T49" fmla="*/ 45 h 9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06"/>
                <a:gd name="T76" fmla="*/ 0 h 90"/>
                <a:gd name="T77" fmla="*/ 306 w 306"/>
                <a:gd name="T78" fmla="*/ 90 h 9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06" h="90">
                  <a:moveTo>
                    <a:pt x="60" y="38"/>
                  </a:moveTo>
                  <a:lnTo>
                    <a:pt x="298" y="38"/>
                  </a:lnTo>
                  <a:lnTo>
                    <a:pt x="300" y="38"/>
                  </a:lnTo>
                  <a:lnTo>
                    <a:pt x="304" y="40"/>
                  </a:lnTo>
                  <a:lnTo>
                    <a:pt x="306" y="42"/>
                  </a:lnTo>
                  <a:lnTo>
                    <a:pt x="306" y="45"/>
                  </a:lnTo>
                  <a:lnTo>
                    <a:pt x="306" y="49"/>
                  </a:lnTo>
                  <a:lnTo>
                    <a:pt x="304" y="51"/>
                  </a:lnTo>
                  <a:lnTo>
                    <a:pt x="300" y="52"/>
                  </a:lnTo>
                  <a:lnTo>
                    <a:pt x="298" y="52"/>
                  </a:lnTo>
                  <a:lnTo>
                    <a:pt x="60" y="52"/>
                  </a:lnTo>
                  <a:lnTo>
                    <a:pt x="56" y="52"/>
                  </a:lnTo>
                  <a:lnTo>
                    <a:pt x="54" y="51"/>
                  </a:lnTo>
                  <a:lnTo>
                    <a:pt x="52" y="49"/>
                  </a:lnTo>
                  <a:lnTo>
                    <a:pt x="52" y="45"/>
                  </a:lnTo>
                  <a:lnTo>
                    <a:pt x="52" y="42"/>
                  </a:lnTo>
                  <a:lnTo>
                    <a:pt x="54" y="40"/>
                  </a:lnTo>
                  <a:lnTo>
                    <a:pt x="56" y="38"/>
                  </a:lnTo>
                  <a:lnTo>
                    <a:pt x="60" y="38"/>
                  </a:lnTo>
                  <a:close/>
                  <a:moveTo>
                    <a:pt x="60" y="45"/>
                  </a:moveTo>
                  <a:lnTo>
                    <a:pt x="90" y="90"/>
                  </a:lnTo>
                  <a:lnTo>
                    <a:pt x="0" y="45"/>
                  </a:lnTo>
                  <a:lnTo>
                    <a:pt x="90" y="0"/>
                  </a:lnTo>
                  <a:lnTo>
                    <a:pt x="60" y="45"/>
                  </a:lnTo>
                  <a:close/>
                </a:path>
              </a:pathLst>
            </a:custGeom>
            <a:grp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11" name="Line 96"/>
            <p:cNvSpPr>
              <a:spLocks noChangeShapeType="1"/>
            </p:cNvSpPr>
            <p:nvPr/>
          </p:nvSpPr>
          <p:spPr bwMode="auto">
            <a:xfrm>
              <a:off x="3487" y="1599"/>
              <a:ext cx="145" cy="1"/>
            </a:xfrm>
            <a:prstGeom prst="line">
              <a:avLst/>
            </a:prstGeom>
            <a:grp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12" name="Line 97"/>
            <p:cNvSpPr>
              <a:spLocks noChangeShapeType="1"/>
            </p:cNvSpPr>
            <p:nvPr/>
          </p:nvSpPr>
          <p:spPr bwMode="auto">
            <a:xfrm>
              <a:off x="3472" y="2899"/>
              <a:ext cx="145" cy="1"/>
            </a:xfrm>
            <a:prstGeom prst="line">
              <a:avLst/>
            </a:prstGeom>
            <a:grp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9313" name="Line 98"/>
            <p:cNvSpPr>
              <a:spLocks noChangeShapeType="1"/>
            </p:cNvSpPr>
            <p:nvPr/>
          </p:nvSpPr>
          <p:spPr bwMode="auto">
            <a:xfrm flipH="1">
              <a:off x="3621" y="1599"/>
              <a:ext cx="2" cy="1311"/>
            </a:xfrm>
            <a:prstGeom prst="line">
              <a:avLst/>
            </a:prstGeom>
            <a:grp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b="1"/>
            </a:p>
          </p:txBody>
        </p:sp>
      </p:grpSp>
      <p:sp>
        <p:nvSpPr>
          <p:cNvPr id="98" name="Rectangle 80"/>
          <p:cNvSpPr>
            <a:spLocks noChangeArrowheads="1"/>
          </p:cNvSpPr>
          <p:nvPr/>
        </p:nvSpPr>
        <p:spPr bwMode="auto">
          <a:xfrm>
            <a:off x="5490928" y="3407310"/>
            <a:ext cx="1385887" cy="2301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sz="1500" b="1" dirty="0">
                <a:solidFill>
                  <a:srgbClr val="2C14DE"/>
                </a:solidFill>
                <a:latin typeface="Courier New" pitchFamily="49" charset="0"/>
              </a:rPr>
              <a:t>Constructors</a:t>
            </a: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946412" y="1749961"/>
            <a:ext cx="22579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u="sng" dirty="0">
                <a:solidFill>
                  <a:srgbClr val="C00000"/>
                </a:solidFill>
              </a:rPr>
              <a:t>Note: </a:t>
            </a:r>
          </a:p>
          <a:p>
            <a:pPr algn="just"/>
            <a:r>
              <a:rPr lang="en-US" sz="2000" b="1" dirty="0"/>
              <a:t>the </a:t>
            </a:r>
            <a:r>
              <a:rPr lang="en-US" sz="2000" b="1" dirty="0">
                <a:solidFill>
                  <a:srgbClr val="C00000"/>
                </a:solidFill>
              </a:rPr>
              <a:t>special syntax </a:t>
            </a:r>
            <a:r>
              <a:rPr lang="en-US" sz="2000" b="1" dirty="0"/>
              <a:t>for </a:t>
            </a:r>
            <a:r>
              <a:rPr lang="en-US" sz="2000" b="1" dirty="0">
                <a:solidFill>
                  <a:srgbClr val="C00000"/>
                </a:solidFill>
              </a:rPr>
              <a:t>constructor </a:t>
            </a:r>
          </a:p>
          <a:p>
            <a:pPr algn="just"/>
            <a:r>
              <a:rPr lang="en-US" sz="2000" b="1" u="sng" dirty="0"/>
              <a:t>(</a:t>
            </a:r>
            <a:r>
              <a:rPr lang="en-US" sz="2000" b="1" u="sng" dirty="0">
                <a:solidFill>
                  <a:srgbClr val="2C14DE"/>
                </a:solidFill>
              </a:rPr>
              <a:t>no return type</a:t>
            </a:r>
            <a:r>
              <a:rPr lang="en-US" sz="2000" b="1" u="sng" dirty="0"/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3467483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35932"/>
            <a:ext cx="8193156" cy="95466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</a:rPr>
              <a:t>Class is a Type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219200"/>
            <a:ext cx="8839200" cy="5486400"/>
          </a:xfrm>
        </p:spPr>
        <p:txBody>
          <a:bodyPr/>
          <a:lstStyle/>
          <a:p>
            <a:pPr algn="just">
              <a:lnSpc>
                <a:spcPct val="90000"/>
              </a:lnSpc>
              <a:defRPr/>
            </a:pPr>
            <a:r>
              <a:rPr lang="en-US" dirty="0">
                <a:latin typeface="Calibri" pitchFamily="34" charset="0"/>
              </a:rPr>
              <a:t>You can use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</a:rPr>
              <a:t>primitive data types</a:t>
            </a:r>
            <a:r>
              <a:rPr lang="en-US" b="1" dirty="0">
                <a:latin typeface="Calibri" pitchFamily="34" charset="0"/>
              </a:rPr>
              <a:t> </a:t>
            </a:r>
            <a:r>
              <a:rPr lang="en-US" dirty="0">
                <a:latin typeface="Calibri" pitchFamily="34" charset="0"/>
              </a:rPr>
              <a:t>to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</a:rPr>
              <a:t>define variables</a:t>
            </a:r>
            <a:r>
              <a:rPr lang="en-US" dirty="0">
                <a:latin typeface="Calibri" pitchFamily="34" charset="0"/>
              </a:rPr>
              <a:t>.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4000" dirty="0">
              <a:latin typeface="Calibri" pitchFamily="34" charset="0"/>
            </a:endParaRPr>
          </a:p>
          <a:p>
            <a:pPr algn="just">
              <a:lnSpc>
                <a:spcPct val="90000"/>
              </a:lnSpc>
              <a:defRPr/>
            </a:pPr>
            <a:r>
              <a:rPr lang="en-US" dirty="0">
                <a:latin typeface="Calibri" pitchFamily="34" charset="0"/>
              </a:rPr>
              <a:t>You can also use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</a:rPr>
              <a:t>class names </a:t>
            </a:r>
            <a:r>
              <a:rPr lang="en-US" dirty="0">
                <a:latin typeface="Calibri" pitchFamily="34" charset="0"/>
              </a:rPr>
              <a:t>to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</a:rPr>
              <a:t>declare object   names</a:t>
            </a:r>
            <a:r>
              <a:rPr lang="en-US" dirty="0">
                <a:latin typeface="Calibri" pitchFamily="34" charset="0"/>
              </a:rPr>
              <a:t>. </a:t>
            </a:r>
          </a:p>
          <a:p>
            <a:pPr>
              <a:lnSpc>
                <a:spcPct val="90000"/>
              </a:lnSpc>
              <a:defRPr/>
            </a:pPr>
            <a:endParaRPr lang="en-US" b="1" i="1" dirty="0">
              <a:solidFill>
                <a:srgbClr val="FF0000"/>
              </a:solidFill>
              <a:latin typeface="Calibri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b="1" i="1" dirty="0">
                <a:latin typeface="Calibri" pitchFamily="34" charset="0"/>
              </a:rPr>
              <a:t>In this sense, a </a:t>
            </a:r>
            <a:r>
              <a:rPr lang="en-US" b="1" i="1" u="sng" dirty="0">
                <a:solidFill>
                  <a:srgbClr val="B80000"/>
                </a:solidFill>
                <a:latin typeface="Calibri" pitchFamily="34" charset="0"/>
              </a:rPr>
              <a:t>class</a:t>
            </a:r>
            <a:r>
              <a:rPr lang="en-US" b="1" i="1" dirty="0">
                <a:solidFill>
                  <a:srgbClr val="B80000"/>
                </a:solidFill>
                <a:latin typeface="Calibri" pitchFamily="34" charset="0"/>
              </a:rPr>
              <a:t> </a:t>
            </a:r>
            <a:r>
              <a:rPr lang="en-US" b="1" i="1" dirty="0">
                <a:latin typeface="Calibri" pitchFamily="34" charset="0"/>
              </a:rPr>
              <a:t>is an </a:t>
            </a:r>
            <a:r>
              <a:rPr lang="en-US" b="1" i="1" u="sng" dirty="0">
                <a:solidFill>
                  <a:srgbClr val="B80000"/>
                </a:solidFill>
                <a:latin typeface="Calibri" pitchFamily="34" charset="0"/>
              </a:rPr>
              <a:t>abstract data-type</a:t>
            </a:r>
            <a:r>
              <a:rPr lang="en-US" b="1" i="1" dirty="0">
                <a:solidFill>
                  <a:srgbClr val="B80000"/>
                </a:solidFill>
                <a:latin typeface="Calibri" pitchFamily="34" charset="0"/>
              </a:rPr>
              <a:t> </a:t>
            </a:r>
            <a:r>
              <a:rPr lang="en-US" b="1" i="1" dirty="0">
                <a:latin typeface="Calibri" pitchFamily="34" charset="0"/>
              </a:rPr>
              <a:t>or</a:t>
            </a:r>
            <a:r>
              <a:rPr lang="en-US" b="1" i="1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b="1" i="1" u="sng" dirty="0">
                <a:solidFill>
                  <a:srgbClr val="B80000"/>
                </a:solidFill>
                <a:latin typeface="Calibri" pitchFamily="34" charset="0"/>
              </a:rPr>
              <a:t>user-defined data type</a:t>
            </a:r>
            <a:r>
              <a:rPr lang="en-US" b="1" i="1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906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719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699"/>
            <a:ext cx="9107556" cy="932181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alibri" pitchFamily="34" charset="0"/>
              </a:rPr>
              <a:t>Class Data Members and Member Functions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143000"/>
            <a:ext cx="6781800" cy="56388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Calibri" pitchFamily="34" charset="0"/>
              </a:rPr>
              <a:t>The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</a:rPr>
              <a:t>data items </a:t>
            </a:r>
            <a:r>
              <a:rPr lang="en-US" dirty="0">
                <a:latin typeface="Calibri" pitchFamily="34" charset="0"/>
              </a:rPr>
              <a:t>within a </a:t>
            </a:r>
            <a:r>
              <a:rPr lang="en-US" b="1" dirty="0">
                <a:latin typeface="Calibri" pitchFamily="34" charset="0"/>
              </a:rPr>
              <a:t>class</a:t>
            </a:r>
            <a:r>
              <a:rPr lang="en-US" dirty="0">
                <a:latin typeface="Calibri" pitchFamily="34" charset="0"/>
              </a:rPr>
              <a:t> are called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</a:rPr>
              <a:t>data members</a:t>
            </a:r>
            <a:r>
              <a:rPr lang="en-US" u="sng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dirty="0">
                <a:latin typeface="Calibri" pitchFamily="34" charset="0"/>
              </a:rPr>
              <a:t>or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</a:rPr>
              <a:t>data fields</a:t>
            </a:r>
            <a:r>
              <a:rPr lang="en-US" u="sng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dirty="0">
                <a:latin typeface="Calibri" pitchFamily="34" charset="0"/>
              </a:rPr>
              <a:t>or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</a:rPr>
              <a:t>instance variables</a:t>
            </a:r>
          </a:p>
          <a:p>
            <a:endParaRPr lang="en-US" dirty="0">
              <a:latin typeface="Calibri" pitchFamily="34" charset="0"/>
            </a:endParaRPr>
          </a:p>
          <a:p>
            <a:endParaRPr lang="en-US" dirty="0">
              <a:solidFill>
                <a:srgbClr val="2C14DE"/>
              </a:solidFill>
              <a:latin typeface="Calibri" pitchFamily="34" charset="0"/>
            </a:endParaRPr>
          </a:p>
          <a:p>
            <a:pPr algn="just"/>
            <a:r>
              <a:rPr lang="en-US" b="1" i="1" dirty="0">
                <a:solidFill>
                  <a:srgbClr val="2C14DE"/>
                </a:solidFill>
                <a:latin typeface="Calibri" pitchFamily="34" charset="0"/>
              </a:rPr>
              <a:t>Member functions</a:t>
            </a:r>
            <a:r>
              <a:rPr lang="en-US" dirty="0">
                <a:solidFill>
                  <a:srgbClr val="2C14DE"/>
                </a:solidFill>
                <a:latin typeface="Calibri" pitchFamily="34" charset="0"/>
              </a:rPr>
              <a:t> </a:t>
            </a:r>
            <a:r>
              <a:rPr lang="en-US" dirty="0">
                <a:latin typeface="Calibri" pitchFamily="34" charset="0"/>
              </a:rPr>
              <a:t>are </a:t>
            </a:r>
            <a:r>
              <a:rPr lang="en-US" b="1" dirty="0">
                <a:latin typeface="Calibri" pitchFamily="34" charset="0"/>
              </a:rPr>
              <a:t>functions</a:t>
            </a:r>
            <a:r>
              <a:rPr lang="en-US" dirty="0">
                <a:latin typeface="Calibri" pitchFamily="34" charset="0"/>
              </a:rPr>
              <a:t> that are </a:t>
            </a:r>
            <a:r>
              <a:rPr lang="en-US" b="1" dirty="0">
                <a:latin typeface="Calibri" pitchFamily="34" charset="0"/>
              </a:rPr>
              <a:t>included</a:t>
            </a:r>
            <a:r>
              <a:rPr lang="en-US" dirty="0">
                <a:latin typeface="Calibri" pitchFamily="34" charset="0"/>
              </a:rPr>
              <a:t> within a </a:t>
            </a:r>
            <a:r>
              <a:rPr lang="en-US" b="1" dirty="0">
                <a:latin typeface="Calibri" pitchFamily="34" charset="0"/>
              </a:rPr>
              <a:t>class</a:t>
            </a:r>
            <a:r>
              <a:rPr lang="en-US" dirty="0">
                <a:latin typeface="Calibri" pitchFamily="34" charset="0"/>
              </a:rPr>
              <a:t>. Also known as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</a:rPr>
              <a:t>instance functions</a:t>
            </a:r>
            <a:r>
              <a:rPr lang="en-US" dirty="0">
                <a:latin typeface="Calibri" pitchFamily="34" charset="0"/>
              </a:rPr>
              <a:t>.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256184"/>
            <a:ext cx="1853411" cy="3773016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729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0"/>
            <a:ext cx="8189844" cy="9080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Object Creation - Instantiation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9606" y="1027431"/>
            <a:ext cx="8928100" cy="5473700"/>
          </a:xfrm>
        </p:spPr>
        <p:txBody>
          <a:bodyPr/>
          <a:lstStyle/>
          <a:p>
            <a:pPr algn="just">
              <a:defRPr/>
            </a:pPr>
            <a:r>
              <a:rPr lang="en-US" sz="2800" b="1" dirty="0">
                <a:latin typeface="Calibri" pitchFamily="34" charset="0"/>
              </a:rPr>
              <a:t>In C++, </a:t>
            </a:r>
            <a:r>
              <a:rPr lang="en-US" sz="2800" dirty="0">
                <a:latin typeface="Calibri" pitchFamily="34" charset="0"/>
              </a:rPr>
              <a:t>you can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assign a name </a:t>
            </a:r>
            <a:r>
              <a:rPr lang="en-US" sz="2800" dirty="0">
                <a:latin typeface="Calibri" pitchFamily="34" charset="0"/>
              </a:rPr>
              <a:t>when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creating an object</a:t>
            </a:r>
            <a:r>
              <a:rPr lang="en-US" sz="2800" dirty="0">
                <a:latin typeface="Calibri" pitchFamily="34" charset="0"/>
              </a:rPr>
              <a:t>. </a:t>
            </a:r>
          </a:p>
          <a:p>
            <a:pPr algn="just">
              <a:defRPr/>
            </a:pPr>
            <a:endParaRPr lang="en-US" sz="2800" dirty="0">
              <a:latin typeface="Calibri" pitchFamily="34" charset="0"/>
            </a:endParaRPr>
          </a:p>
          <a:p>
            <a:pPr algn="just">
              <a:defRPr/>
            </a:pPr>
            <a:r>
              <a:rPr lang="en-US" sz="2800" dirty="0">
                <a:latin typeface="Calibri" pitchFamily="34" charset="0"/>
              </a:rPr>
              <a:t>A 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</a:rPr>
              <a:t>constructor is invoked </a:t>
            </a:r>
            <a:r>
              <a:rPr lang="en-US" sz="2800" dirty="0">
                <a:latin typeface="Calibri" pitchFamily="34" charset="0"/>
              </a:rPr>
              <a:t>when an 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</a:rPr>
              <a:t>object is created</a:t>
            </a:r>
            <a:r>
              <a:rPr lang="en-US" sz="2800" dirty="0">
                <a:latin typeface="Calibri" pitchFamily="34" charset="0"/>
              </a:rPr>
              <a:t>. </a:t>
            </a:r>
          </a:p>
          <a:p>
            <a:pPr>
              <a:defRPr/>
            </a:pPr>
            <a:endParaRPr lang="en-US" sz="2800" dirty="0">
              <a:latin typeface="Calibri" pitchFamily="34" charset="0"/>
            </a:endParaRPr>
          </a:p>
          <a:p>
            <a:pPr algn="just">
              <a:defRPr/>
            </a:pPr>
            <a:r>
              <a:rPr lang="en-US" sz="2800" dirty="0">
                <a:latin typeface="Calibri" pitchFamily="34" charset="0"/>
              </a:rPr>
              <a:t>The syntax to </a:t>
            </a:r>
            <a:r>
              <a:rPr lang="en-US" sz="2800" b="1" dirty="0">
                <a:latin typeface="Calibri" pitchFamily="34" charset="0"/>
              </a:rPr>
              <a:t>create</a:t>
            </a:r>
            <a:r>
              <a:rPr lang="en-US" sz="2800" dirty="0">
                <a:latin typeface="Calibri" pitchFamily="34" charset="0"/>
              </a:rPr>
              <a:t> an </a:t>
            </a:r>
            <a:r>
              <a:rPr lang="en-US" sz="2800" b="1" dirty="0">
                <a:latin typeface="Calibri" pitchFamily="34" charset="0"/>
              </a:rPr>
              <a:t>object</a:t>
            </a:r>
            <a:r>
              <a:rPr lang="en-US" sz="2800" dirty="0">
                <a:latin typeface="Calibri" pitchFamily="34" charset="0"/>
              </a:rPr>
              <a:t> using the </a:t>
            </a:r>
            <a:r>
              <a:rPr lang="en-US" sz="2800" b="1" i="1" dirty="0">
                <a:solidFill>
                  <a:srgbClr val="C00000"/>
                </a:solidFill>
                <a:latin typeface="Calibri" pitchFamily="34" charset="0"/>
              </a:rPr>
              <a:t>no-</a:t>
            </a:r>
            <a:r>
              <a:rPr lang="en-US" sz="2800" b="1" i="1" dirty="0" err="1">
                <a:solidFill>
                  <a:srgbClr val="C00000"/>
                </a:solidFill>
                <a:latin typeface="Calibri" pitchFamily="34" charset="0"/>
              </a:rPr>
              <a:t>arg</a:t>
            </a:r>
            <a:r>
              <a:rPr lang="en-US" sz="2800" b="1" i="1" dirty="0">
                <a:solidFill>
                  <a:srgbClr val="C00000"/>
                </a:solidFill>
                <a:latin typeface="Calibri" pitchFamily="34" charset="0"/>
              </a:rPr>
              <a:t> constructor</a:t>
            </a:r>
            <a:r>
              <a:rPr lang="en-US" sz="2800" dirty="0">
                <a:latin typeface="Calibri" pitchFamily="34" charset="0"/>
              </a:rPr>
              <a:t> is:</a:t>
            </a:r>
            <a:endParaRPr lang="en-US" sz="2800" b="1" i="1" dirty="0">
              <a:latin typeface="Calibri" pitchFamily="34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US" sz="2800" u="sng" dirty="0">
              <a:latin typeface="Calibri" pitchFamily="34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2800" b="1" dirty="0">
                <a:latin typeface="Calibri" pitchFamily="34" charset="0"/>
              </a:rPr>
              <a:t>		</a:t>
            </a:r>
            <a:r>
              <a:rPr lang="en-US" sz="2800" b="1" dirty="0" err="1">
                <a:solidFill>
                  <a:srgbClr val="2F1BC7"/>
                </a:solidFill>
                <a:latin typeface="Calibri" pitchFamily="34" charset="0"/>
              </a:rPr>
              <a:t>ClassName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</a:rPr>
              <a:t>    </a:t>
            </a:r>
            <a:r>
              <a:rPr lang="en-US" sz="2800" b="1" dirty="0" err="1">
                <a:solidFill>
                  <a:srgbClr val="2F1BC7"/>
                </a:solidFill>
                <a:latin typeface="Calibri" pitchFamily="34" charset="0"/>
              </a:rPr>
              <a:t>objectName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</a:rPr>
              <a:t>;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2800" u="sng" dirty="0">
              <a:latin typeface="Calibri" pitchFamily="34" charset="0"/>
            </a:endParaRPr>
          </a:p>
          <a:p>
            <a:pPr algn="just">
              <a:defRPr/>
            </a:pPr>
            <a:r>
              <a:rPr lang="en-US" sz="2800" dirty="0">
                <a:latin typeface="Calibri" pitchFamily="34" charset="0"/>
              </a:rPr>
              <a:t>Defining </a:t>
            </a:r>
            <a:r>
              <a:rPr lang="en-US" sz="2800" b="1" dirty="0">
                <a:latin typeface="Calibri" pitchFamily="34" charset="0"/>
              </a:rPr>
              <a:t>objects</a:t>
            </a:r>
            <a:r>
              <a:rPr lang="en-US" sz="2800" dirty="0">
                <a:latin typeface="Calibri" pitchFamily="34" charset="0"/>
              </a:rPr>
              <a:t> in this way means </a:t>
            </a:r>
            <a:r>
              <a:rPr lang="en-US" sz="2800" b="1" i="1" dirty="0">
                <a:solidFill>
                  <a:srgbClr val="008000"/>
                </a:solidFill>
                <a:latin typeface="Calibri" pitchFamily="34" charset="0"/>
              </a:rPr>
              <a:t>creating </a:t>
            </a:r>
            <a:r>
              <a:rPr lang="en-US" sz="2800" b="1" i="1" dirty="0">
                <a:latin typeface="Calibri" pitchFamily="34" charset="0"/>
              </a:rPr>
              <a:t>them</a:t>
            </a:r>
            <a:r>
              <a:rPr lang="en-US" sz="2800" dirty="0">
                <a:latin typeface="Calibri" pitchFamily="34" charset="0"/>
              </a:rPr>
              <a:t>. This is also </a:t>
            </a:r>
            <a:r>
              <a:rPr lang="en-US" sz="2800" b="1" dirty="0">
                <a:latin typeface="Calibri" pitchFamily="34" charset="0"/>
              </a:rPr>
              <a:t>called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b="1" i="1" dirty="0">
                <a:solidFill>
                  <a:srgbClr val="008000"/>
                </a:solidFill>
                <a:latin typeface="Calibri" pitchFamily="34" charset="0"/>
              </a:rPr>
              <a:t>instantiating</a:t>
            </a:r>
            <a:r>
              <a:rPr lang="en-US" sz="2800" b="1" i="1" dirty="0">
                <a:solidFill>
                  <a:srgbClr val="2C14DE"/>
                </a:solidFill>
                <a:latin typeface="Calibri" pitchFamily="34" charset="0"/>
              </a:rPr>
              <a:t> them</a:t>
            </a:r>
            <a:r>
              <a:rPr lang="en-US" sz="2800" dirty="0">
                <a:latin typeface="Calibri" pitchFamily="34" charset="0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16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56839"/>
            <a:ext cx="8116956" cy="88804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</a:rPr>
              <a:t>Object Member Access Operator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4653" y="1066800"/>
            <a:ext cx="8926947" cy="5791200"/>
          </a:xfrm>
        </p:spPr>
        <p:txBody>
          <a:bodyPr/>
          <a:lstStyle/>
          <a:p>
            <a:pPr algn="just"/>
            <a:r>
              <a:rPr lang="en-US" sz="2800" dirty="0">
                <a:latin typeface="Calibri" pitchFamily="34" charset="0"/>
              </a:rPr>
              <a:t>After </a:t>
            </a:r>
            <a:r>
              <a:rPr lang="en-US" sz="2800" b="1" dirty="0">
                <a:latin typeface="Calibri" pitchFamily="34" charset="0"/>
              </a:rPr>
              <a:t>object creation</a:t>
            </a:r>
            <a:r>
              <a:rPr lang="en-US" sz="2800" dirty="0">
                <a:latin typeface="Calibri" pitchFamily="34" charset="0"/>
              </a:rPr>
              <a:t>, its 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</a:rPr>
              <a:t>data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and 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</a:rPr>
              <a:t>functions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can be 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</a:rPr>
              <a:t>accessed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(invoked) using:</a:t>
            </a:r>
          </a:p>
          <a:p>
            <a:pPr lvl="1" algn="just"/>
            <a:r>
              <a:rPr lang="en-US" dirty="0">
                <a:latin typeface="Calibri" pitchFamily="34" charset="0"/>
              </a:rPr>
              <a:t>The </a:t>
            </a:r>
            <a:r>
              <a:rPr lang="en-US" b="1" i="1" dirty="0">
                <a:solidFill>
                  <a:srgbClr val="2F1BC7"/>
                </a:solidFill>
                <a:latin typeface="Calibri" pitchFamily="34" charset="0"/>
              </a:rPr>
              <a:t>.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</a:rPr>
              <a:t>operator</a:t>
            </a:r>
            <a:r>
              <a:rPr lang="en-US" dirty="0">
                <a:latin typeface="Calibri" pitchFamily="34" charset="0"/>
              </a:rPr>
              <a:t>, also known as the </a:t>
            </a:r>
            <a:r>
              <a:rPr lang="en-US" b="1" i="1" dirty="0">
                <a:solidFill>
                  <a:srgbClr val="B80000"/>
                </a:solidFill>
                <a:latin typeface="Calibri" pitchFamily="34" charset="0"/>
              </a:rPr>
              <a:t>object member access operator</a:t>
            </a:r>
            <a:r>
              <a:rPr lang="en-US" dirty="0">
                <a:latin typeface="Calibri" pitchFamily="34" charset="0"/>
              </a:rPr>
              <a:t>.</a:t>
            </a:r>
          </a:p>
          <a:p>
            <a:endParaRPr lang="en-US" sz="2800" dirty="0">
              <a:latin typeface="Calibri" pitchFamily="34" charset="0"/>
            </a:endParaRPr>
          </a:p>
          <a:p>
            <a:pPr algn="just"/>
            <a:r>
              <a:rPr lang="en-US" sz="2800" b="1" i="1" dirty="0" err="1">
                <a:solidFill>
                  <a:srgbClr val="2F1BC7"/>
                </a:solidFill>
                <a:latin typeface="Calibri" pitchFamily="34" charset="0"/>
              </a:rPr>
              <a:t>objectName.dataField</a:t>
            </a:r>
            <a:r>
              <a:rPr lang="en-US" sz="2800" dirty="0">
                <a:latin typeface="Calibri" pitchFamily="34" charset="0"/>
              </a:rPr>
              <a:t> references a </a:t>
            </a:r>
            <a:r>
              <a:rPr lang="en-US" sz="2800" b="1" dirty="0">
                <a:latin typeface="Calibri" pitchFamily="34" charset="0"/>
              </a:rPr>
              <a:t>data field</a:t>
            </a:r>
            <a:r>
              <a:rPr lang="en-US" sz="2800" dirty="0">
                <a:latin typeface="Calibri" pitchFamily="34" charset="0"/>
              </a:rPr>
              <a:t> in the object</a:t>
            </a:r>
          </a:p>
          <a:p>
            <a:endParaRPr lang="en-US" sz="2800" dirty="0">
              <a:latin typeface="Calibri" pitchFamily="34" charset="0"/>
            </a:endParaRPr>
          </a:p>
          <a:p>
            <a:r>
              <a:rPr lang="en-US" sz="2800" b="1" i="1" dirty="0" err="1">
                <a:solidFill>
                  <a:srgbClr val="2F1BC7"/>
                </a:solidFill>
                <a:latin typeface="Calibri" pitchFamily="34" charset="0"/>
              </a:rPr>
              <a:t>objectName.function</a:t>
            </a: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</a:rPr>
              <a:t>( )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invokes</a:t>
            </a:r>
            <a:r>
              <a:rPr lang="en-US" sz="2800" dirty="0">
                <a:latin typeface="Calibri" pitchFamily="34" charset="0"/>
              </a:rPr>
              <a:t> a </a:t>
            </a:r>
            <a:r>
              <a:rPr lang="en-US" sz="2800" b="1" dirty="0">
                <a:latin typeface="Calibri" pitchFamily="34" charset="0"/>
              </a:rPr>
              <a:t>function on the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41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44450"/>
            <a:ext cx="8135937" cy="457200"/>
          </a:xfrm>
        </p:spPr>
        <p:txBody>
          <a:bodyPr lIns="92075" tIns="46038" rIns="92075" bIns="46038">
            <a:noAutofit/>
          </a:bodyPr>
          <a:lstStyle/>
          <a:p>
            <a:r>
              <a:rPr lang="en-US" altLang="zh-CN" sz="3000" b="1" u="sng" dirty="0">
                <a:latin typeface="Calibri" pitchFamily="34" charset="0"/>
              </a:rPr>
              <a:t>A Simple Program – </a:t>
            </a:r>
            <a:r>
              <a:rPr lang="en-US" altLang="zh-CN" sz="3000" b="1" i="1" u="sng" dirty="0">
                <a:solidFill>
                  <a:srgbClr val="FF0000"/>
                </a:solidFill>
                <a:latin typeface="Calibri" pitchFamily="34" charset="0"/>
              </a:rPr>
              <a:t>Object</a:t>
            </a:r>
            <a:r>
              <a:rPr lang="en-US" altLang="zh-CN" sz="3000" b="1" u="sng" dirty="0">
                <a:latin typeface="Calibri" pitchFamily="34" charset="0"/>
              </a:rPr>
              <a:t> Creation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669925"/>
            <a:ext cx="5400675" cy="368776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92075" tIns="46038" rIns="92075" bIns="46038"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5.0;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 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971550" y="2527300"/>
            <a:ext cx="3095625" cy="719138"/>
          </a:xfrm>
          <a:prstGeom prst="rect">
            <a:avLst/>
          </a:prstGeom>
          <a:solidFill>
            <a:schemeClr val="accent1">
              <a:lumMod val="75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Rectangle 11"/>
          <p:cNvSpPr>
            <a:spLocks noChangeArrowheads="1"/>
          </p:cNvSpPr>
          <p:nvPr/>
        </p:nvSpPr>
        <p:spPr bwMode="auto">
          <a:xfrm>
            <a:off x="6737115" y="981793"/>
            <a:ext cx="1913067" cy="3063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144" tIns="9144" rIns="9144" bIns="9144" anchor="ctr"/>
          <a:lstStyle/>
          <a:p>
            <a:pPr algn="ctr" eaLnBrk="0" hangingPunct="0"/>
            <a:r>
              <a:rPr lang="en-US" sz="2200" dirty="0">
                <a:latin typeface="Calibri" pitchFamily="34" charset="0"/>
              </a:rPr>
              <a:t>Object Instance</a:t>
            </a:r>
          </a:p>
        </p:txBody>
      </p:sp>
      <p:sp>
        <p:nvSpPr>
          <p:cNvPr id="13321" name="Text Box 12"/>
          <p:cNvSpPr txBox="1">
            <a:spLocks noChangeArrowheads="1"/>
          </p:cNvSpPr>
          <p:nvPr/>
        </p:nvSpPr>
        <p:spPr bwMode="auto">
          <a:xfrm>
            <a:off x="6284913" y="901700"/>
            <a:ext cx="576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500" b="1">
                <a:latin typeface="Calibri" pitchFamily="34" charset="0"/>
              </a:rPr>
              <a:t>C1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6083300" y="1323975"/>
            <a:ext cx="2851150" cy="2116138"/>
            <a:chOff x="6083300" y="1324084"/>
            <a:chExt cx="2851150" cy="2116029"/>
          </a:xfrm>
        </p:grpSpPr>
        <p:graphicFrame>
          <p:nvGraphicFramePr>
            <p:cNvPr id="1537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807609"/>
                </p:ext>
              </p:extLst>
            </p:nvPr>
          </p:nvGraphicFramePr>
          <p:xfrm>
            <a:off x="6083300" y="1957388"/>
            <a:ext cx="2851150" cy="148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2" imgW="1028510" imgH="456439" progId="Word.Picture.8">
                    <p:embed/>
                  </p:oleObj>
                </mc:Choice>
                <mc:Fallback>
                  <p:oleObj name="Picture" r:id="rId2" imgW="1028510" imgH="456439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300" y="1957388"/>
                          <a:ext cx="2851150" cy="1482725"/>
                        </a:xfrm>
                        <a:prstGeom prst="rect">
                          <a:avLst/>
                        </a:prstGeom>
                        <a:solidFill>
                          <a:srgbClr val="CACA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Line 14"/>
            <p:cNvSpPr>
              <a:spLocks noChangeShapeType="1"/>
            </p:cNvSpPr>
            <p:nvPr/>
          </p:nvSpPr>
          <p:spPr bwMode="auto">
            <a:xfrm flipH="1" flipV="1">
              <a:off x="7308304" y="1324084"/>
              <a:ext cx="360363" cy="86518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4581525"/>
            <a:ext cx="8424862" cy="2082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//C1.radius = 10;      </a:t>
            </a:r>
            <a:r>
              <a:rPr lang="en-US" altLang="zh-CN" sz="2200" b="1" dirty="0">
                <a:solidFill>
                  <a:srgbClr val="FF0000"/>
                </a:solidFill>
                <a:latin typeface="Calibri" pitchFamily="34" charset="0"/>
              </a:rPr>
              <a:t>can’t access private member outside the class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 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955675" y="5268913"/>
            <a:ext cx="3592513" cy="295275"/>
          </a:xfrm>
          <a:prstGeom prst="rect">
            <a:avLst/>
          </a:prstGeom>
          <a:solidFill>
            <a:schemeClr val="accent1">
              <a:lumMod val="75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 flipV="1">
            <a:off x="3886200" y="2971800"/>
            <a:ext cx="0" cy="240506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6983" name="AutoShape 7"/>
          <p:cNvSpPr>
            <a:spLocks noChangeArrowheads="1"/>
          </p:cNvSpPr>
          <p:nvPr/>
        </p:nvSpPr>
        <p:spPr bwMode="auto">
          <a:xfrm>
            <a:off x="6732588" y="3717925"/>
            <a:ext cx="1881187" cy="615950"/>
          </a:xfrm>
          <a:prstGeom prst="wedgeRoundRectCallout">
            <a:avLst>
              <a:gd name="adj1" fmla="val 1560"/>
              <a:gd name="adj2" fmla="val -15592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dirty="0">
                <a:latin typeface="Calibri" pitchFamily="34" charset="0"/>
              </a:rPr>
              <a:t>Allocate memory for radius</a:t>
            </a:r>
          </a:p>
        </p:txBody>
      </p:sp>
    </p:spTree>
    <p:extLst>
      <p:ext uri="{BB962C8B-B14F-4D97-AF65-F5344CB8AC3E}">
        <p14:creationId xmlns:p14="http://schemas.microsoft.com/office/powerpoint/2010/main" val="41097249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6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20" grpId="0" animBg="1"/>
      <p:bldP spid="13321" grpId="0"/>
      <p:bldP spid="13316" grpId="0" animBg="1"/>
      <p:bldP spid="13" grpId="0" animBg="1"/>
      <p:bldP spid="76698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>
            <a:noAutofit/>
          </a:bodyPr>
          <a:lstStyle/>
          <a:p>
            <a:r>
              <a:rPr lang="fr-FR" b="1" dirty="0">
                <a:solidFill>
                  <a:srgbClr val="B80000"/>
                </a:solidFill>
              </a:rPr>
              <a:t>Local Classes</a:t>
            </a:r>
          </a:p>
        </p:txBody>
      </p:sp>
      <p:sp>
        <p:nvSpPr>
          <p:cNvPr id="9219" name="Espace réservé du contenu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Local classes</a:t>
            </a:r>
            <a:r>
              <a:rPr lang="en-US" dirty="0"/>
              <a:t>: A local </a:t>
            </a:r>
            <a:r>
              <a:rPr lang="en-US" b="1" dirty="0">
                <a:solidFill>
                  <a:srgbClr val="2C14DE"/>
                </a:solidFill>
              </a:rPr>
              <a:t>class</a:t>
            </a:r>
            <a:r>
              <a:rPr lang="en-US" dirty="0"/>
              <a:t> is declared </a:t>
            </a:r>
            <a:r>
              <a:rPr lang="en-US" b="1" dirty="0">
                <a:solidFill>
                  <a:srgbClr val="2C14DE"/>
                </a:solidFill>
              </a:rPr>
              <a:t>within a function definition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Scope is within the function</a:t>
            </a:r>
          </a:p>
          <a:p>
            <a:r>
              <a:rPr lang="en-US" dirty="0"/>
              <a:t>Functions of local class must be inline</a:t>
            </a:r>
          </a:p>
          <a:p>
            <a:r>
              <a:rPr lang="en-US" dirty="0"/>
              <a:t>A </a:t>
            </a:r>
            <a:r>
              <a:rPr lang="en-US" b="1" u="sng" dirty="0">
                <a:solidFill>
                  <a:srgbClr val="D20000"/>
                </a:solidFill>
              </a:rPr>
              <a:t>local class cannot have static data members but can have static function.</a:t>
            </a:r>
          </a:p>
          <a:p>
            <a:pPr marL="0" indent="0">
              <a:buNone/>
            </a:pPr>
            <a:endParaRPr lang="en-US" b="1" u="sng" dirty="0">
              <a:solidFill>
                <a:srgbClr val="D20000"/>
              </a:solidFill>
            </a:endParaRPr>
          </a:p>
          <a:p>
            <a:r>
              <a:rPr lang="en-US" dirty="0"/>
              <a:t>Methods of local class can only access static members of the enclosing function.</a:t>
            </a:r>
          </a:p>
          <a:p>
            <a:pPr marL="0" indent="0">
              <a:buNone/>
            </a:pPr>
            <a:br>
              <a:rPr lang="en-US" dirty="0"/>
            </a:br>
            <a:endParaRPr lang="en-US" sz="24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09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>
            <a:noAutofit/>
          </a:bodyPr>
          <a:lstStyle/>
          <a:p>
            <a:r>
              <a:rPr lang="fr-FR" sz="4000" b="1" dirty="0" err="1">
                <a:solidFill>
                  <a:srgbClr val="B80000"/>
                </a:solidFill>
              </a:rPr>
              <a:t>Inline</a:t>
            </a:r>
            <a:r>
              <a:rPr lang="fr-FR" sz="4000" b="1" dirty="0">
                <a:solidFill>
                  <a:srgbClr val="B80000"/>
                </a:solidFill>
              </a:rPr>
              <a:t>/Out-of-Line </a:t>
            </a:r>
            <a:r>
              <a:rPr lang="fr-FR" sz="4000" b="1" dirty="0" err="1">
                <a:solidFill>
                  <a:srgbClr val="B80000"/>
                </a:solidFill>
              </a:rPr>
              <a:t>Member</a:t>
            </a:r>
            <a:r>
              <a:rPr lang="fr-FR" sz="4000" b="1" dirty="0">
                <a:solidFill>
                  <a:srgbClr val="B80000"/>
                </a:solidFill>
              </a:rPr>
              <a:t> </a:t>
            </a:r>
            <a:r>
              <a:rPr lang="fr-FR" sz="4000" b="1" dirty="0" err="1">
                <a:solidFill>
                  <a:srgbClr val="B80000"/>
                </a:solidFill>
              </a:rPr>
              <a:t>Functions</a:t>
            </a:r>
            <a:endParaRPr lang="fr-FR" sz="4000" b="1" dirty="0">
              <a:solidFill>
                <a:srgbClr val="B80000"/>
              </a:solidFill>
            </a:endParaRPr>
          </a:p>
        </p:txBody>
      </p:sp>
      <p:sp>
        <p:nvSpPr>
          <p:cNvPr id="9219" name="Espace réservé du contenu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638800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  <a:latin typeface="+mj-lt"/>
              </a:rPr>
              <a:t>Inline </a:t>
            </a:r>
            <a:r>
              <a:rPr lang="en-US" b="1" dirty="0">
                <a:latin typeface="+mj-lt"/>
              </a:rPr>
              <a:t>functions:</a:t>
            </a:r>
          </a:p>
          <a:p>
            <a:pPr lvl="1"/>
            <a:r>
              <a:rPr lang="en-US" dirty="0">
                <a:latin typeface="+mj-lt"/>
              </a:rPr>
              <a:t>are </a:t>
            </a:r>
            <a:r>
              <a:rPr lang="en-US" b="1" u="sng" dirty="0">
                <a:latin typeface="+mj-lt"/>
              </a:rPr>
              <a:t>defined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within the body of the class</a:t>
            </a:r>
            <a:r>
              <a:rPr lang="en-US" dirty="0">
                <a:latin typeface="+mj-lt"/>
              </a:rPr>
              <a:t> definition.</a:t>
            </a:r>
          </a:p>
          <a:p>
            <a:pPr lvl="1"/>
            <a:endParaRPr lang="en-US" dirty="0">
              <a:latin typeface="+mj-lt"/>
            </a:endParaRPr>
          </a:p>
          <a:p>
            <a:r>
              <a:rPr lang="en-US" b="1" dirty="0">
                <a:solidFill>
                  <a:srgbClr val="B80000"/>
                </a:solidFill>
                <a:latin typeface="+mj-lt"/>
              </a:rPr>
              <a:t>Out-of-line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functions</a:t>
            </a:r>
            <a:r>
              <a:rPr lang="en-US" dirty="0">
                <a:latin typeface="+mj-lt"/>
              </a:rPr>
              <a:t>: </a:t>
            </a:r>
          </a:p>
          <a:p>
            <a:pPr lvl="1"/>
            <a:r>
              <a:rPr lang="en-US" dirty="0">
                <a:latin typeface="+mj-lt"/>
              </a:rPr>
              <a:t>are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declared within the body of the class </a:t>
            </a:r>
            <a:r>
              <a:rPr lang="en-US" dirty="0">
                <a:latin typeface="+mj-lt"/>
              </a:rPr>
              <a:t>definition and </a:t>
            </a:r>
            <a:r>
              <a:rPr lang="en-US" b="1" u="sng" dirty="0">
                <a:solidFill>
                  <a:srgbClr val="2C14DE"/>
                </a:solidFill>
                <a:latin typeface="+mj-lt"/>
              </a:rPr>
              <a:t>defined outside</a:t>
            </a:r>
            <a:r>
              <a:rPr lang="en-US" dirty="0">
                <a:latin typeface="+mj-lt"/>
              </a:rPr>
              <a:t>.</a:t>
            </a:r>
          </a:p>
          <a:p>
            <a:pPr lvl="1"/>
            <a:endParaRPr lang="en-US" sz="24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81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90600"/>
          </a:xfrm>
        </p:spPr>
        <p:txBody>
          <a:bodyPr>
            <a:noAutofit/>
          </a:bodyPr>
          <a:lstStyle/>
          <a:p>
            <a:r>
              <a:rPr lang="fr-FR" sz="4000" b="1" dirty="0" err="1">
                <a:solidFill>
                  <a:srgbClr val="C00000"/>
                </a:solidFill>
              </a:rPr>
              <a:t>Inline</a:t>
            </a:r>
            <a:r>
              <a:rPr lang="fr-FR" sz="4000" b="1" dirty="0">
                <a:solidFill>
                  <a:srgbClr val="C00000"/>
                </a:solidFill>
              </a:rPr>
              <a:t>/Out-of-Line </a:t>
            </a:r>
            <a:r>
              <a:rPr lang="fr-FR" sz="4000" b="1" dirty="0" err="1">
                <a:solidFill>
                  <a:srgbClr val="C00000"/>
                </a:solidFill>
              </a:rPr>
              <a:t>Member</a:t>
            </a:r>
            <a:r>
              <a:rPr lang="fr-FR" sz="4000" b="1" dirty="0">
                <a:solidFill>
                  <a:srgbClr val="C00000"/>
                </a:solidFill>
              </a:rPr>
              <a:t> </a:t>
            </a:r>
            <a:r>
              <a:rPr lang="fr-FR" sz="4000" b="1" dirty="0" err="1">
                <a:solidFill>
                  <a:srgbClr val="C00000"/>
                </a:solidFill>
              </a:rPr>
              <a:t>Functions</a:t>
            </a:r>
            <a:endParaRPr lang="fr-FR" sz="4000" b="1" dirty="0">
              <a:solidFill>
                <a:srgbClr val="C00000"/>
              </a:solidFill>
            </a:endParaRPr>
          </a:p>
        </p:txBody>
      </p:sp>
      <p:sp>
        <p:nvSpPr>
          <p:cNvPr id="1024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If a </a:t>
            </a:r>
            <a:r>
              <a:rPr lang="en-US" sz="2800" b="1" dirty="0">
                <a:solidFill>
                  <a:srgbClr val="C00000"/>
                </a:solidFill>
              </a:rPr>
              <a:t>member function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is </a:t>
            </a:r>
            <a:r>
              <a:rPr lang="en-US" sz="2800" b="1" dirty="0">
                <a:solidFill>
                  <a:srgbClr val="C00000"/>
                </a:solidFill>
              </a:rPr>
              <a:t>defined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outside the class</a:t>
            </a:r>
          </a:p>
          <a:p>
            <a:pPr lvl="1" algn="just"/>
            <a:r>
              <a:rPr lang="en-US" sz="2600" b="1" dirty="0">
                <a:solidFill>
                  <a:srgbClr val="2C14DE"/>
                </a:solidFill>
              </a:rPr>
              <a:t>Scope resolution operator </a:t>
            </a:r>
            <a:r>
              <a:rPr lang="en-US" sz="2600" dirty="0"/>
              <a:t>(</a:t>
            </a:r>
            <a:r>
              <a:rPr lang="en-US" sz="2600" b="1" dirty="0"/>
              <a:t>::</a:t>
            </a:r>
            <a:r>
              <a:rPr lang="en-US" sz="2600" dirty="0"/>
              <a:t>) and </a:t>
            </a:r>
            <a:r>
              <a:rPr lang="en-US" sz="2600" b="1" dirty="0">
                <a:solidFill>
                  <a:srgbClr val="2C14DE"/>
                </a:solidFill>
              </a:rPr>
              <a:t>class name </a:t>
            </a:r>
            <a:r>
              <a:rPr lang="en-US" sz="2600" dirty="0"/>
              <a:t>are needed  </a:t>
            </a:r>
          </a:p>
          <a:p>
            <a:pPr lvl="1" algn="just"/>
            <a:r>
              <a:rPr lang="en-US" sz="2600" dirty="0"/>
              <a:t>Defining a </a:t>
            </a:r>
            <a:r>
              <a:rPr lang="en-US" sz="2600" b="1" dirty="0"/>
              <a:t>function outside a class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2C14DE"/>
                </a:solidFill>
              </a:rPr>
              <a:t>does not change </a:t>
            </a:r>
            <a:r>
              <a:rPr lang="en-US" sz="2600" dirty="0"/>
              <a:t>it being </a:t>
            </a:r>
            <a:r>
              <a:rPr lang="en-US" sz="2600" b="1" dirty="0">
                <a:solidFill>
                  <a:srgbClr val="2C14DE"/>
                </a:solidFill>
                <a:latin typeface="Courier New" panose="02070309020205020404" pitchFamily="49" charset="0"/>
              </a:rPr>
              <a:t>public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or </a:t>
            </a:r>
            <a:r>
              <a:rPr lang="en-US" sz="2600" b="1" dirty="0">
                <a:solidFill>
                  <a:srgbClr val="2C14DE"/>
                </a:solidFill>
                <a:latin typeface="Courier New" panose="02070309020205020404" pitchFamily="49" charset="0"/>
              </a:rPr>
              <a:t>private</a:t>
            </a:r>
          </a:p>
          <a:p>
            <a:pPr marL="457200" lvl="1" indent="0">
              <a:buNone/>
            </a:pPr>
            <a:endParaRPr lang="en-US" sz="2000" b="1" dirty="0">
              <a:latin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B80000"/>
                </a:solidFill>
              </a:rPr>
              <a:t>Binary scope resolution operator 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B80000"/>
                </a:solidFill>
                <a:latin typeface="Courier New" panose="02070309020205020404" pitchFamily="49" charset="0"/>
              </a:rPr>
              <a:t>::</a:t>
            </a:r>
            <a:r>
              <a:rPr lang="en-US" sz="2800" dirty="0"/>
              <a:t>)</a:t>
            </a:r>
          </a:p>
          <a:p>
            <a:pPr lvl="1" algn="just"/>
            <a:r>
              <a:rPr lang="en-US" sz="2600" b="1" dirty="0">
                <a:solidFill>
                  <a:srgbClr val="2C14DE"/>
                </a:solidFill>
              </a:rPr>
              <a:t>Combines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the </a:t>
            </a:r>
            <a:r>
              <a:rPr lang="en-US" sz="2600" b="1" dirty="0">
                <a:solidFill>
                  <a:srgbClr val="2C14DE"/>
                </a:solidFill>
              </a:rPr>
              <a:t>class name </a:t>
            </a:r>
            <a:r>
              <a:rPr lang="en-US" sz="2600" dirty="0"/>
              <a:t>with the </a:t>
            </a:r>
            <a:r>
              <a:rPr lang="en-US" sz="2600" b="1" dirty="0">
                <a:solidFill>
                  <a:srgbClr val="2C14DE"/>
                </a:solidFill>
              </a:rPr>
              <a:t>member function name</a:t>
            </a:r>
          </a:p>
          <a:p>
            <a:pPr lvl="1" algn="just"/>
            <a:r>
              <a:rPr lang="en-US" sz="2600" b="1" dirty="0">
                <a:solidFill>
                  <a:srgbClr val="2C14DE"/>
                </a:solidFill>
              </a:rPr>
              <a:t>Different classes</a:t>
            </a:r>
            <a:r>
              <a:rPr lang="en-US" sz="2600" dirty="0"/>
              <a:t> can have </a:t>
            </a:r>
            <a:r>
              <a:rPr lang="en-US" sz="2600" b="1" dirty="0">
                <a:solidFill>
                  <a:srgbClr val="2C14DE"/>
                </a:solidFill>
              </a:rPr>
              <a:t>member functions</a:t>
            </a:r>
            <a:r>
              <a:rPr lang="en-US" sz="2600" dirty="0"/>
              <a:t> with the </a:t>
            </a:r>
            <a:r>
              <a:rPr lang="en-US" sz="2600" b="1" dirty="0">
                <a:solidFill>
                  <a:srgbClr val="2C14DE"/>
                </a:solidFill>
              </a:rPr>
              <a:t>same name</a:t>
            </a:r>
          </a:p>
          <a:p>
            <a:pPr lvl="1"/>
            <a:endParaRPr lang="en-US" sz="2000" b="1" dirty="0"/>
          </a:p>
          <a:p>
            <a:pPr marL="457200" lvl="1" indent="0">
              <a:buNone/>
            </a:pPr>
            <a:r>
              <a:rPr 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returnType</a:t>
            </a: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ClassName</a:t>
            </a:r>
            <a:r>
              <a:rPr lang="en-US" sz="2000" b="1" dirty="0">
                <a:solidFill>
                  <a:srgbClr val="2C14DE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MemberFunctionName</a:t>
            </a: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( ){</a:t>
            </a:r>
          </a:p>
          <a:p>
            <a:pPr lvl="2">
              <a:buFontTx/>
              <a:buNone/>
            </a:pP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   …</a:t>
            </a:r>
          </a:p>
          <a:p>
            <a:pPr lvl="2">
              <a:buFontTx/>
              <a:buNone/>
            </a:pP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}</a:t>
            </a:r>
            <a:endParaRPr lang="en-US" sz="32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79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7049" y="123280"/>
            <a:ext cx="8208391" cy="785440"/>
          </a:xfrm>
        </p:spPr>
        <p:txBody>
          <a:bodyPr lIns="92075" tIns="46038" rIns="92075" bIns="46038">
            <a:normAutofit fontScale="90000"/>
          </a:bodyPr>
          <a:lstStyle/>
          <a:p>
            <a:r>
              <a:rPr lang="en-US" sz="3200" b="1" dirty="0">
                <a:solidFill>
                  <a:srgbClr val="B80000"/>
                </a:solidFill>
                <a:latin typeface="Calibri" pitchFamily="34" charset="0"/>
              </a:rPr>
              <a:t>Member Functions</a:t>
            </a:r>
            <a:br>
              <a:rPr lang="en-US" sz="3200" b="1" dirty="0">
                <a:solidFill>
                  <a:srgbClr val="B80000"/>
                </a:solidFill>
                <a:latin typeface="Calibri" pitchFamily="34" charset="0"/>
              </a:rPr>
            </a:br>
            <a:r>
              <a:rPr lang="en-US" sz="3200" b="1" dirty="0">
                <a:solidFill>
                  <a:srgbClr val="B80000"/>
                </a:solidFill>
                <a:latin typeface="Calibri" pitchFamily="34" charset="0"/>
              </a:rPr>
              <a:t>Separating Declaration from Implementation</a:t>
            </a:r>
            <a:endParaRPr lang="en-US" altLang="zh-CN" sz="3200" b="1" dirty="0">
              <a:solidFill>
                <a:srgbClr val="B80000"/>
              </a:solidFill>
              <a:latin typeface="Calibri" pitchFamily="34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0682" y="1030619"/>
            <a:ext cx="6337250" cy="4103985"/>
          </a:xfrm>
          <a:solidFill>
            <a:schemeClr val="tx2">
              <a:lumMod val="20000"/>
              <a:lumOff val="80000"/>
            </a:schemeClr>
          </a:solidFill>
        </p:spPr>
        <p:txBody>
          <a:bodyPr lIns="92075" tIns="46038" rIns="92075" bIns="46038"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Circle(double   radius)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this-&gt;radius = radius;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solidFill>
                  <a:srgbClr val="008000"/>
                </a:solidFill>
                <a:latin typeface="Calibri" pitchFamily="34" charset="0"/>
              </a:rPr>
              <a:t>	</a:t>
            </a:r>
            <a:r>
              <a:rPr lang="en-US" altLang="zh-CN" sz="2200" b="1" dirty="0">
                <a:solidFill>
                  <a:srgbClr val="2C14DE"/>
                </a:solidFill>
                <a:latin typeface="Calibri" pitchFamily="34" charset="0"/>
              </a:rPr>
              <a:t>double   </a:t>
            </a:r>
            <a:r>
              <a:rPr lang="en-US" altLang="zh-CN" sz="2200" b="1" dirty="0" err="1">
                <a:solidFill>
                  <a:srgbClr val="2C14DE"/>
                </a:solidFill>
                <a:latin typeface="Calibri" pitchFamily="34" charset="0"/>
              </a:rPr>
              <a:t>getArea</a:t>
            </a:r>
            <a:r>
              <a:rPr lang="en-US" altLang="zh-CN" sz="2200" b="1" dirty="0">
                <a:solidFill>
                  <a:srgbClr val="2C14DE"/>
                </a:solidFill>
                <a:latin typeface="Calibri" pitchFamily="34" charset="0"/>
              </a:rPr>
              <a:t>( ); </a:t>
            </a:r>
            <a:r>
              <a:rPr lang="en-US" altLang="zh-CN" sz="2200" b="1" dirty="0">
                <a:solidFill>
                  <a:srgbClr val="00B050"/>
                </a:solidFill>
                <a:latin typeface="Calibri" pitchFamily="34" charset="0"/>
              </a:rPr>
              <a:t>// Not implemented yet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double   Circle::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  return  this-&gt;radius *  radius  *  3.14159; }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687596" y="5164970"/>
            <a:ext cx="5400898" cy="16573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C1(99.0);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00682" y="4291002"/>
            <a:ext cx="5826715" cy="792088"/>
          </a:xfrm>
          <a:prstGeom prst="rect">
            <a:avLst/>
          </a:prstGeom>
          <a:solidFill>
            <a:schemeClr val="accent3">
              <a:lumMod val="20000"/>
              <a:lumOff val="8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Callout 1"/>
          <p:cNvSpPr/>
          <p:nvPr/>
        </p:nvSpPr>
        <p:spPr>
          <a:xfrm>
            <a:off x="4800600" y="1591169"/>
            <a:ext cx="4244840" cy="1380632"/>
          </a:xfrm>
          <a:prstGeom prst="wedgeEllipseCallout">
            <a:avLst>
              <a:gd name="adj1" fmla="val -85391"/>
              <a:gd name="adj2" fmla="val 5361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Class must define a no-argument constructor too….</a:t>
            </a:r>
          </a:p>
        </p:txBody>
      </p:sp>
    </p:spTree>
    <p:extLst>
      <p:ext uri="{BB962C8B-B14F-4D97-AF65-F5344CB8AC3E}">
        <p14:creationId xmlns:p14="http://schemas.microsoft.com/office/powerpoint/2010/main" val="371621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4"/>
          <p:cNvGrpSpPr>
            <a:grpSpLocks/>
          </p:cNvGrpSpPr>
          <p:nvPr/>
        </p:nvGrpSpPr>
        <p:grpSpPr bwMode="auto">
          <a:xfrm>
            <a:off x="152400" y="0"/>
            <a:ext cx="6705600" cy="6919913"/>
            <a:chOff x="0" y="-55"/>
            <a:chExt cx="3072" cy="12077"/>
          </a:xfrm>
        </p:grpSpPr>
        <p:grpSp>
          <p:nvGrpSpPr>
            <p:cNvPr id="11270" name="Group 5"/>
            <p:cNvGrpSpPr>
              <a:grpSpLocks/>
            </p:cNvGrpSpPr>
            <p:nvPr/>
          </p:nvGrpSpPr>
          <p:grpSpPr bwMode="auto">
            <a:xfrm>
              <a:off x="0" y="-55"/>
              <a:ext cx="3072" cy="483"/>
              <a:chOff x="0" y="-55"/>
              <a:chExt cx="3072" cy="483"/>
            </a:xfrm>
          </p:grpSpPr>
          <p:sp>
            <p:nvSpPr>
              <p:cNvPr id="11364" name="Rectangle 6"/>
              <p:cNvSpPr>
                <a:spLocks noChangeArrowheads="1"/>
              </p:cNvSpPr>
              <p:nvPr/>
            </p:nvSpPr>
            <p:spPr bwMode="auto">
              <a:xfrm>
                <a:off x="0" y="-5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6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Fig. 6.3: fig06_03.cpp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1" name="Group 8"/>
            <p:cNvGrpSpPr>
              <a:grpSpLocks/>
            </p:cNvGrpSpPr>
            <p:nvPr/>
          </p:nvGrpSpPr>
          <p:grpSpPr bwMode="auto">
            <a:xfrm>
              <a:off x="0" y="319"/>
              <a:ext cx="3072" cy="483"/>
              <a:chOff x="0" y="319"/>
              <a:chExt cx="3072" cy="483"/>
            </a:xfrm>
          </p:grpSpPr>
          <p:sp>
            <p:nvSpPr>
              <p:cNvPr id="11362" name="Rectangle 9"/>
              <p:cNvSpPr>
                <a:spLocks noChangeArrowheads="1"/>
              </p:cNvSpPr>
              <p:nvPr/>
            </p:nvSpPr>
            <p:spPr bwMode="auto">
              <a:xfrm>
                <a:off x="0" y="31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63" name="Rectangle 10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Time class.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2" name="Group 11"/>
            <p:cNvGrpSpPr>
              <a:grpSpLocks/>
            </p:cNvGrpSpPr>
            <p:nvPr/>
          </p:nvGrpSpPr>
          <p:grpSpPr bwMode="auto">
            <a:xfrm>
              <a:off x="0" y="693"/>
              <a:ext cx="3072" cy="483"/>
              <a:chOff x="0" y="693"/>
              <a:chExt cx="3072" cy="483"/>
            </a:xfrm>
          </p:grpSpPr>
          <p:sp>
            <p:nvSpPr>
              <p:cNvPr id="11360" name="Rectangle 12"/>
              <p:cNvSpPr>
                <a:spLocks noChangeArrowheads="1"/>
              </p:cNvSpPr>
              <p:nvPr/>
            </p:nvSpPr>
            <p:spPr bwMode="auto">
              <a:xfrm>
                <a:off x="0" y="69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61" name="Rectangle 13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	</a:t>
                </a:r>
                <a:r>
                  <a:rPr lang="en-US" sz="1200" b="1">
                    <a:latin typeface="Courier New" panose="02070309020205020404" pitchFamily="49" charset="0"/>
                  </a:rPr>
                  <a:t>#include &lt;iostream&gt;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3" name="Group 14"/>
            <p:cNvGrpSpPr>
              <a:grpSpLocks/>
            </p:cNvGrpSpPr>
            <p:nvPr/>
          </p:nvGrpSpPr>
          <p:grpSpPr bwMode="auto">
            <a:xfrm>
              <a:off x="0" y="1067"/>
              <a:ext cx="3072" cy="483"/>
              <a:chOff x="0" y="1067"/>
              <a:chExt cx="3072" cy="483"/>
            </a:xfrm>
          </p:grpSpPr>
          <p:sp>
            <p:nvSpPr>
              <p:cNvPr id="11358" name="Rectangle 15"/>
              <p:cNvSpPr>
                <a:spLocks noChangeArrowheads="1"/>
              </p:cNvSpPr>
              <p:nvPr/>
            </p:nvSpPr>
            <p:spPr bwMode="auto">
              <a:xfrm>
                <a:off x="0" y="106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9" name="Rectangle 16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4" name="Group 17"/>
            <p:cNvGrpSpPr>
              <a:grpSpLocks/>
            </p:cNvGrpSpPr>
            <p:nvPr/>
          </p:nvGrpSpPr>
          <p:grpSpPr bwMode="auto">
            <a:xfrm>
              <a:off x="0" y="1441"/>
              <a:ext cx="3072" cy="483"/>
              <a:chOff x="0" y="1441"/>
              <a:chExt cx="3072" cy="483"/>
            </a:xfrm>
          </p:grpSpPr>
          <p:sp>
            <p:nvSpPr>
              <p:cNvPr id="11356" name="Rectangle 18"/>
              <p:cNvSpPr>
                <a:spLocks noChangeArrowheads="1"/>
              </p:cNvSpPr>
              <p:nvPr/>
            </p:nvSpPr>
            <p:spPr bwMode="auto">
              <a:xfrm>
                <a:off x="0" y="144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7" name="Rectangle 19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5	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using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std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::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cout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;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5" name="Group 20"/>
            <p:cNvGrpSpPr>
              <a:grpSpLocks/>
            </p:cNvGrpSpPr>
            <p:nvPr/>
          </p:nvGrpSpPr>
          <p:grpSpPr bwMode="auto">
            <a:xfrm>
              <a:off x="0" y="1815"/>
              <a:ext cx="3072" cy="483"/>
              <a:chOff x="0" y="1815"/>
              <a:chExt cx="3072" cy="483"/>
            </a:xfrm>
          </p:grpSpPr>
          <p:sp>
            <p:nvSpPr>
              <p:cNvPr id="11354" name="Rectangle 21"/>
              <p:cNvSpPr>
                <a:spLocks noChangeArrowheads="1"/>
              </p:cNvSpPr>
              <p:nvPr/>
            </p:nvSpPr>
            <p:spPr bwMode="auto">
              <a:xfrm>
                <a:off x="0" y="181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5" name="Rectangle 22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	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using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std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::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endl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;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6" name="Group 23"/>
            <p:cNvGrpSpPr>
              <a:grpSpLocks/>
            </p:cNvGrpSpPr>
            <p:nvPr/>
          </p:nvGrpSpPr>
          <p:grpSpPr bwMode="auto">
            <a:xfrm>
              <a:off x="0" y="2189"/>
              <a:ext cx="3072" cy="483"/>
              <a:chOff x="0" y="2189"/>
              <a:chExt cx="3072" cy="483"/>
            </a:xfrm>
          </p:grpSpPr>
          <p:sp>
            <p:nvSpPr>
              <p:cNvPr id="11352" name="Rectangle 24"/>
              <p:cNvSpPr>
                <a:spLocks noChangeArrowheads="1"/>
              </p:cNvSpPr>
              <p:nvPr/>
            </p:nvSpPr>
            <p:spPr bwMode="auto">
              <a:xfrm>
                <a:off x="0" y="218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3" name="Rectangle 25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7" name="Group 26"/>
            <p:cNvGrpSpPr>
              <a:grpSpLocks/>
            </p:cNvGrpSpPr>
            <p:nvPr/>
          </p:nvGrpSpPr>
          <p:grpSpPr bwMode="auto">
            <a:xfrm>
              <a:off x="0" y="2563"/>
              <a:ext cx="3072" cy="483"/>
              <a:chOff x="0" y="2563"/>
              <a:chExt cx="3072" cy="483"/>
            </a:xfrm>
          </p:grpSpPr>
          <p:sp>
            <p:nvSpPr>
              <p:cNvPr id="11350" name="Rectangle 27"/>
              <p:cNvSpPr>
                <a:spLocks noChangeArrowheads="1"/>
              </p:cNvSpPr>
              <p:nvPr/>
            </p:nvSpPr>
            <p:spPr bwMode="auto">
              <a:xfrm>
                <a:off x="0" y="256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51" name="Rectangle 28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Time abstract data type (ADT) definition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8" name="Group 29"/>
            <p:cNvGrpSpPr>
              <a:grpSpLocks/>
            </p:cNvGrpSpPr>
            <p:nvPr/>
          </p:nvGrpSpPr>
          <p:grpSpPr bwMode="auto">
            <a:xfrm>
              <a:off x="0" y="2937"/>
              <a:ext cx="3072" cy="483"/>
              <a:chOff x="0" y="2937"/>
              <a:chExt cx="3072" cy="483"/>
            </a:xfrm>
          </p:grpSpPr>
          <p:sp>
            <p:nvSpPr>
              <p:cNvPr id="11348" name="Rectangle 30"/>
              <p:cNvSpPr>
                <a:spLocks noChangeArrowheads="1"/>
              </p:cNvSpPr>
              <p:nvPr/>
            </p:nvSpPr>
            <p:spPr bwMode="auto">
              <a:xfrm>
                <a:off x="0" y="293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9" name="Rectangle 31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class</a:t>
                </a:r>
                <a:r>
                  <a:rPr lang="en-US" sz="1200" b="1">
                    <a:latin typeface="Courier New" panose="02070309020205020404" pitchFamily="49" charset="0"/>
                  </a:rPr>
                  <a:t> Time 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79" name="Group 32"/>
            <p:cNvGrpSpPr>
              <a:grpSpLocks/>
            </p:cNvGrpSpPr>
            <p:nvPr/>
          </p:nvGrpSpPr>
          <p:grpSpPr bwMode="auto">
            <a:xfrm>
              <a:off x="0" y="3311"/>
              <a:ext cx="3072" cy="483"/>
              <a:chOff x="0" y="3311"/>
              <a:chExt cx="3072" cy="483"/>
            </a:xfrm>
          </p:grpSpPr>
          <p:sp>
            <p:nvSpPr>
              <p:cNvPr id="11346" name="Rectangle 33"/>
              <p:cNvSpPr>
                <a:spLocks noChangeArrowheads="1"/>
              </p:cNvSpPr>
              <p:nvPr/>
            </p:nvSpPr>
            <p:spPr bwMode="auto">
              <a:xfrm>
                <a:off x="0" y="331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7" name="Rectangle 34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public: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0" name="Group 35"/>
            <p:cNvGrpSpPr>
              <a:grpSpLocks/>
            </p:cNvGrpSpPr>
            <p:nvPr/>
          </p:nvGrpSpPr>
          <p:grpSpPr bwMode="auto">
            <a:xfrm>
              <a:off x="0" y="3685"/>
              <a:ext cx="3072" cy="483"/>
              <a:chOff x="0" y="3685"/>
              <a:chExt cx="3072" cy="483"/>
            </a:xfrm>
          </p:grpSpPr>
          <p:sp>
            <p:nvSpPr>
              <p:cNvPr id="11344" name="Rectangle 36"/>
              <p:cNvSpPr>
                <a:spLocks noChangeArrowheads="1"/>
              </p:cNvSpPr>
              <p:nvPr/>
            </p:nvSpPr>
            <p:spPr bwMode="auto">
              <a:xfrm>
                <a:off x="0" y="368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5" name="Rectangle 37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	</a:t>
                </a:r>
                <a:r>
                  <a:rPr lang="en-US" sz="1200" b="1">
                    <a:latin typeface="Courier New" panose="02070309020205020404" pitchFamily="49" charset="0"/>
                  </a:rPr>
                  <a:t>   Time();                 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constructor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1" name="Group 38"/>
            <p:cNvGrpSpPr>
              <a:grpSpLocks/>
            </p:cNvGrpSpPr>
            <p:nvPr/>
          </p:nvGrpSpPr>
          <p:grpSpPr bwMode="auto">
            <a:xfrm>
              <a:off x="0" y="4059"/>
              <a:ext cx="3072" cy="483"/>
              <a:chOff x="0" y="4059"/>
              <a:chExt cx="3072" cy="483"/>
            </a:xfrm>
          </p:grpSpPr>
          <p:sp>
            <p:nvSpPr>
              <p:cNvPr id="11342" name="Rectangle 39"/>
              <p:cNvSpPr>
                <a:spLocks noChangeArrowheads="1"/>
              </p:cNvSpPr>
              <p:nvPr/>
            </p:nvSpPr>
            <p:spPr bwMode="auto">
              <a:xfrm>
                <a:off x="0" y="405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3" name="Rectangle 40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setTime( int, int, int );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hour, minute, second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2" name="Group 41"/>
            <p:cNvGrpSpPr>
              <a:grpSpLocks/>
            </p:cNvGrpSpPr>
            <p:nvPr/>
          </p:nvGrpSpPr>
          <p:grpSpPr bwMode="auto">
            <a:xfrm>
              <a:off x="0" y="4433"/>
              <a:ext cx="3072" cy="483"/>
              <a:chOff x="0" y="4433"/>
              <a:chExt cx="3072" cy="483"/>
            </a:xfrm>
          </p:grpSpPr>
          <p:sp>
            <p:nvSpPr>
              <p:cNvPr id="11340" name="Rectangle 42"/>
              <p:cNvSpPr>
                <a:spLocks noChangeArrowheads="1"/>
              </p:cNvSpPr>
              <p:nvPr/>
            </p:nvSpPr>
            <p:spPr bwMode="auto">
              <a:xfrm>
                <a:off x="0" y="443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41" name="Rectangle 43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13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printMilitary();   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military time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3" name="Group 44"/>
            <p:cNvGrpSpPr>
              <a:grpSpLocks/>
            </p:cNvGrpSpPr>
            <p:nvPr/>
          </p:nvGrpSpPr>
          <p:grpSpPr bwMode="auto">
            <a:xfrm>
              <a:off x="0" y="4807"/>
              <a:ext cx="3072" cy="483"/>
              <a:chOff x="0" y="4807"/>
              <a:chExt cx="3072" cy="483"/>
            </a:xfrm>
          </p:grpSpPr>
          <p:sp>
            <p:nvSpPr>
              <p:cNvPr id="11338" name="Rectangle 45"/>
              <p:cNvSpPr>
                <a:spLocks noChangeArrowheads="1"/>
              </p:cNvSpPr>
              <p:nvPr/>
            </p:nvSpPr>
            <p:spPr bwMode="auto">
              <a:xfrm>
                <a:off x="0" y="480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9" name="Rectangle 46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14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printStandard();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  // print standard time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4" name="Group 47"/>
            <p:cNvGrpSpPr>
              <a:grpSpLocks/>
            </p:cNvGrpSpPr>
            <p:nvPr/>
          </p:nvGrpSpPr>
          <p:grpSpPr bwMode="auto">
            <a:xfrm>
              <a:off x="0" y="5181"/>
              <a:ext cx="3072" cy="483"/>
              <a:chOff x="0" y="5181"/>
              <a:chExt cx="3072" cy="483"/>
            </a:xfrm>
          </p:grpSpPr>
          <p:sp>
            <p:nvSpPr>
              <p:cNvPr id="11336" name="Rectangle 48"/>
              <p:cNvSpPr>
                <a:spLocks noChangeArrowheads="1"/>
              </p:cNvSpPr>
              <p:nvPr/>
            </p:nvSpPr>
            <p:spPr bwMode="auto">
              <a:xfrm>
                <a:off x="0" y="518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7" name="Rectangle 49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15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private: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5" name="Group 50"/>
            <p:cNvGrpSpPr>
              <a:grpSpLocks/>
            </p:cNvGrpSpPr>
            <p:nvPr/>
          </p:nvGrpSpPr>
          <p:grpSpPr bwMode="auto">
            <a:xfrm>
              <a:off x="0" y="5555"/>
              <a:ext cx="3072" cy="483"/>
              <a:chOff x="0" y="5555"/>
              <a:chExt cx="3072" cy="483"/>
            </a:xfrm>
          </p:grpSpPr>
          <p:sp>
            <p:nvSpPr>
              <p:cNvPr id="11334" name="Rectangle 51"/>
              <p:cNvSpPr>
                <a:spLocks noChangeArrowheads="1"/>
              </p:cNvSpPr>
              <p:nvPr/>
            </p:nvSpPr>
            <p:spPr bwMode="auto">
              <a:xfrm>
                <a:off x="0" y="555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5" name="Rectangle 52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16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hour;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0 – 23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6" name="Group 53"/>
            <p:cNvGrpSpPr>
              <a:grpSpLocks/>
            </p:cNvGrpSpPr>
            <p:nvPr/>
          </p:nvGrpSpPr>
          <p:grpSpPr bwMode="auto">
            <a:xfrm>
              <a:off x="0" y="5929"/>
              <a:ext cx="3072" cy="483"/>
              <a:chOff x="0" y="5929"/>
              <a:chExt cx="3072" cy="483"/>
            </a:xfrm>
          </p:grpSpPr>
          <p:sp>
            <p:nvSpPr>
              <p:cNvPr id="11332" name="Rectangle 54"/>
              <p:cNvSpPr>
                <a:spLocks noChangeArrowheads="1"/>
              </p:cNvSpPr>
              <p:nvPr/>
            </p:nvSpPr>
            <p:spPr bwMode="auto">
              <a:xfrm>
                <a:off x="0" y="592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3" name="Rectangle 55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17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minute;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// 0 – 59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7" name="Group 56"/>
            <p:cNvGrpSpPr>
              <a:grpSpLocks/>
            </p:cNvGrpSpPr>
            <p:nvPr/>
          </p:nvGrpSpPr>
          <p:grpSpPr bwMode="auto">
            <a:xfrm>
              <a:off x="0" y="6303"/>
              <a:ext cx="3072" cy="483"/>
              <a:chOff x="0" y="6303"/>
              <a:chExt cx="3072" cy="483"/>
            </a:xfrm>
          </p:grpSpPr>
          <p:sp>
            <p:nvSpPr>
              <p:cNvPr id="11330" name="Rectangle 57"/>
              <p:cNvSpPr>
                <a:spLocks noChangeArrowheads="1"/>
              </p:cNvSpPr>
              <p:nvPr/>
            </p:nvSpPr>
            <p:spPr bwMode="auto">
              <a:xfrm>
                <a:off x="0" y="630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31" name="Rectangle 58"/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18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second;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 // 0 – 59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8" name="Group 59"/>
            <p:cNvGrpSpPr>
              <a:grpSpLocks/>
            </p:cNvGrpSpPr>
            <p:nvPr/>
          </p:nvGrpSpPr>
          <p:grpSpPr bwMode="auto">
            <a:xfrm>
              <a:off x="0" y="6677"/>
              <a:ext cx="3072" cy="483"/>
              <a:chOff x="0" y="6677"/>
              <a:chExt cx="3072" cy="483"/>
            </a:xfrm>
          </p:grpSpPr>
          <p:sp>
            <p:nvSpPr>
              <p:cNvPr id="11328" name="Rectangle 60"/>
              <p:cNvSpPr>
                <a:spLocks noChangeArrowheads="1"/>
              </p:cNvSpPr>
              <p:nvPr/>
            </p:nvSpPr>
            <p:spPr bwMode="auto">
              <a:xfrm>
                <a:off x="0" y="667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9" name="Rectangle 61"/>
              <p:cNvSpPr>
                <a:spLocks noChangeArrowheads="1"/>
              </p:cNvSpPr>
              <p:nvPr/>
            </p:nvSpPr>
            <p:spPr bwMode="auto"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19	</a:t>
                </a:r>
                <a:r>
                  <a:rPr lang="en-US" sz="1200" b="1">
                    <a:latin typeface="Courier New" panose="02070309020205020404" pitchFamily="49" charset="0"/>
                  </a:rPr>
                  <a:t>};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89" name="Group 62"/>
            <p:cNvGrpSpPr>
              <a:grpSpLocks/>
            </p:cNvGrpSpPr>
            <p:nvPr/>
          </p:nvGrpSpPr>
          <p:grpSpPr bwMode="auto">
            <a:xfrm>
              <a:off x="0" y="7051"/>
              <a:ext cx="3072" cy="483"/>
              <a:chOff x="0" y="7051"/>
              <a:chExt cx="3072" cy="483"/>
            </a:xfrm>
          </p:grpSpPr>
          <p:sp>
            <p:nvSpPr>
              <p:cNvPr id="11326" name="Rectangle 63"/>
              <p:cNvSpPr>
                <a:spLocks noChangeArrowheads="1"/>
              </p:cNvSpPr>
              <p:nvPr/>
            </p:nvSpPr>
            <p:spPr bwMode="auto">
              <a:xfrm>
                <a:off x="0" y="705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7" name="Rectangle 64"/>
              <p:cNvSpPr>
                <a:spLocks noChangeArrowheads="1"/>
              </p:cNvSpPr>
              <p:nvPr/>
            </p:nvSpPr>
            <p:spPr bwMode="auto"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20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0" name="Group 65"/>
            <p:cNvGrpSpPr>
              <a:grpSpLocks/>
            </p:cNvGrpSpPr>
            <p:nvPr/>
          </p:nvGrpSpPr>
          <p:grpSpPr bwMode="auto">
            <a:xfrm>
              <a:off x="0" y="7425"/>
              <a:ext cx="3072" cy="483"/>
              <a:chOff x="0" y="7425"/>
              <a:chExt cx="3072" cy="483"/>
            </a:xfrm>
          </p:grpSpPr>
          <p:sp>
            <p:nvSpPr>
              <p:cNvPr id="11324" name="Rectangle 66"/>
              <p:cNvSpPr>
                <a:spLocks noChangeArrowheads="1"/>
              </p:cNvSpPr>
              <p:nvPr/>
            </p:nvSpPr>
            <p:spPr bwMode="auto">
              <a:xfrm>
                <a:off x="0" y="742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5" name="Rectangle 67"/>
              <p:cNvSpPr>
                <a:spLocks noChangeArrowheads="1"/>
              </p:cNvSpPr>
              <p:nvPr/>
            </p:nvSpPr>
            <p:spPr bwMode="auto"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21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Time constructor initializes each data member to zero.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1" name="Group 68"/>
            <p:cNvGrpSpPr>
              <a:grpSpLocks/>
            </p:cNvGrpSpPr>
            <p:nvPr/>
          </p:nvGrpSpPr>
          <p:grpSpPr bwMode="auto">
            <a:xfrm>
              <a:off x="0" y="7799"/>
              <a:ext cx="3072" cy="483"/>
              <a:chOff x="0" y="7799"/>
              <a:chExt cx="3072" cy="483"/>
            </a:xfrm>
          </p:grpSpPr>
          <p:sp>
            <p:nvSpPr>
              <p:cNvPr id="11322" name="Rectangle 69"/>
              <p:cNvSpPr>
                <a:spLocks noChangeArrowheads="1"/>
              </p:cNvSpPr>
              <p:nvPr/>
            </p:nvSpPr>
            <p:spPr bwMode="auto">
              <a:xfrm>
                <a:off x="0" y="779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3" name="Rectangle 70"/>
              <p:cNvSpPr>
                <a:spLocks noChangeArrowheads="1"/>
              </p:cNvSpPr>
              <p:nvPr/>
            </p:nvSpPr>
            <p:spPr bwMode="auto"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22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Ensures all Time objects start in a consistent state.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2" name="Group 71"/>
            <p:cNvGrpSpPr>
              <a:grpSpLocks/>
            </p:cNvGrpSpPr>
            <p:nvPr/>
          </p:nvGrpSpPr>
          <p:grpSpPr bwMode="auto">
            <a:xfrm>
              <a:off x="0" y="8173"/>
              <a:ext cx="3072" cy="483"/>
              <a:chOff x="0" y="8173"/>
              <a:chExt cx="3072" cy="483"/>
            </a:xfrm>
          </p:grpSpPr>
          <p:sp>
            <p:nvSpPr>
              <p:cNvPr id="11320" name="Rectangle 72"/>
              <p:cNvSpPr>
                <a:spLocks noChangeArrowheads="1"/>
              </p:cNvSpPr>
              <p:nvPr/>
            </p:nvSpPr>
            <p:spPr bwMode="auto">
              <a:xfrm>
                <a:off x="0" y="817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21" name="Rectangle 73"/>
              <p:cNvSpPr>
                <a:spLocks noChangeArrowheads="1"/>
              </p:cNvSpPr>
              <p:nvPr/>
            </p:nvSpPr>
            <p:spPr bwMode="auto"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23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Time::Time() { hour = minute = second = 0; }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3" name="Group 74"/>
            <p:cNvGrpSpPr>
              <a:grpSpLocks/>
            </p:cNvGrpSpPr>
            <p:nvPr/>
          </p:nvGrpSpPr>
          <p:grpSpPr bwMode="auto">
            <a:xfrm>
              <a:off x="0" y="8547"/>
              <a:ext cx="3072" cy="483"/>
              <a:chOff x="0" y="8547"/>
              <a:chExt cx="3072" cy="483"/>
            </a:xfrm>
          </p:grpSpPr>
          <p:sp>
            <p:nvSpPr>
              <p:cNvPr id="11318" name="Rectangle 75"/>
              <p:cNvSpPr>
                <a:spLocks noChangeArrowheads="1"/>
              </p:cNvSpPr>
              <p:nvPr/>
            </p:nvSpPr>
            <p:spPr bwMode="auto">
              <a:xfrm>
                <a:off x="0" y="854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9" name="Rectangle 76"/>
              <p:cNvSpPr>
                <a:spLocks noChangeArrowheads="1"/>
              </p:cNvSpPr>
              <p:nvPr/>
            </p:nvSpPr>
            <p:spPr bwMode="auto"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24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4" name="Group 77"/>
            <p:cNvGrpSpPr>
              <a:grpSpLocks/>
            </p:cNvGrpSpPr>
            <p:nvPr/>
          </p:nvGrpSpPr>
          <p:grpSpPr bwMode="auto">
            <a:xfrm>
              <a:off x="0" y="8921"/>
              <a:ext cx="3072" cy="483"/>
              <a:chOff x="0" y="8921"/>
              <a:chExt cx="3072" cy="483"/>
            </a:xfrm>
          </p:grpSpPr>
          <p:sp>
            <p:nvSpPr>
              <p:cNvPr id="11316" name="Rectangle 78"/>
              <p:cNvSpPr>
                <a:spLocks noChangeArrowheads="1"/>
              </p:cNvSpPr>
              <p:nvPr/>
            </p:nvSpPr>
            <p:spPr bwMode="auto">
              <a:xfrm>
                <a:off x="0" y="892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7" name="Rectangle 79"/>
              <p:cNvSpPr>
                <a:spLocks noChangeArrowheads="1"/>
              </p:cNvSpPr>
              <p:nvPr/>
            </p:nvSpPr>
            <p:spPr bwMode="auto">
              <a:xfrm>
                <a:off x="0" y="897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25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a new Time value using military time. Perform validity 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5" name="Group 80"/>
            <p:cNvGrpSpPr>
              <a:grpSpLocks/>
            </p:cNvGrpSpPr>
            <p:nvPr/>
          </p:nvGrpSpPr>
          <p:grpSpPr bwMode="auto">
            <a:xfrm>
              <a:off x="0" y="9295"/>
              <a:ext cx="3072" cy="483"/>
              <a:chOff x="0" y="9295"/>
              <a:chExt cx="3072" cy="483"/>
            </a:xfrm>
          </p:grpSpPr>
          <p:sp>
            <p:nvSpPr>
              <p:cNvPr id="11314" name="Rectangle 81"/>
              <p:cNvSpPr>
                <a:spLocks noChangeArrowheads="1"/>
              </p:cNvSpPr>
              <p:nvPr/>
            </p:nvSpPr>
            <p:spPr bwMode="auto">
              <a:xfrm>
                <a:off x="0" y="929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5" name="Rectangle 82"/>
              <p:cNvSpPr>
                <a:spLocks noChangeArrowheads="1"/>
              </p:cNvSpPr>
              <p:nvPr/>
            </p:nvSpPr>
            <p:spPr bwMode="auto">
              <a:xfrm>
                <a:off x="0" y="935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26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checks on the data values. Set invalid values to zero.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6" name="Group 83"/>
            <p:cNvGrpSpPr>
              <a:grpSpLocks/>
            </p:cNvGrpSpPr>
            <p:nvPr/>
          </p:nvGrpSpPr>
          <p:grpSpPr bwMode="auto">
            <a:xfrm>
              <a:off x="0" y="9669"/>
              <a:ext cx="3072" cy="483"/>
              <a:chOff x="0" y="9669"/>
              <a:chExt cx="3072" cy="483"/>
            </a:xfrm>
          </p:grpSpPr>
          <p:sp>
            <p:nvSpPr>
              <p:cNvPr id="11312" name="Rectangle 84"/>
              <p:cNvSpPr>
                <a:spLocks noChangeArrowheads="1"/>
              </p:cNvSpPr>
              <p:nvPr/>
            </p:nvSpPr>
            <p:spPr bwMode="auto">
              <a:xfrm>
                <a:off x="0" y="966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3" name="Rectangle 85"/>
              <p:cNvSpPr>
                <a:spLocks noChangeArrowheads="1"/>
              </p:cNvSpPr>
              <p:nvPr/>
            </p:nvSpPr>
            <p:spPr bwMode="auto">
              <a:xfrm>
                <a:off x="0" y="972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27	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Time::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setTime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(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h,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m,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s )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7" name="Group 86"/>
            <p:cNvGrpSpPr>
              <a:grpSpLocks/>
            </p:cNvGrpSpPr>
            <p:nvPr/>
          </p:nvGrpSpPr>
          <p:grpSpPr bwMode="auto">
            <a:xfrm>
              <a:off x="0" y="10043"/>
              <a:ext cx="3072" cy="483"/>
              <a:chOff x="0" y="10043"/>
              <a:chExt cx="3072" cy="483"/>
            </a:xfrm>
          </p:grpSpPr>
          <p:sp>
            <p:nvSpPr>
              <p:cNvPr id="11310" name="Rectangle 87"/>
              <p:cNvSpPr>
                <a:spLocks noChangeArrowheads="1"/>
              </p:cNvSpPr>
              <p:nvPr/>
            </p:nvSpPr>
            <p:spPr bwMode="auto">
              <a:xfrm>
                <a:off x="0" y="10043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11" name="Rectangle 88"/>
              <p:cNvSpPr>
                <a:spLocks noChangeArrowheads="1"/>
              </p:cNvSpPr>
              <p:nvPr/>
            </p:nvSpPr>
            <p:spPr bwMode="auto">
              <a:xfrm>
                <a:off x="0" y="1009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28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8" name="Group 89"/>
            <p:cNvGrpSpPr>
              <a:grpSpLocks/>
            </p:cNvGrpSpPr>
            <p:nvPr/>
          </p:nvGrpSpPr>
          <p:grpSpPr bwMode="auto">
            <a:xfrm>
              <a:off x="0" y="10417"/>
              <a:ext cx="3072" cy="483"/>
              <a:chOff x="0" y="10417"/>
              <a:chExt cx="3072" cy="483"/>
            </a:xfrm>
          </p:grpSpPr>
          <p:sp>
            <p:nvSpPr>
              <p:cNvPr id="11308" name="Rectangle 90"/>
              <p:cNvSpPr>
                <a:spLocks noChangeArrowheads="1"/>
              </p:cNvSpPr>
              <p:nvPr/>
            </p:nvSpPr>
            <p:spPr bwMode="auto">
              <a:xfrm>
                <a:off x="0" y="10417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9" name="Rectangle 91"/>
              <p:cNvSpPr>
                <a:spLocks noChangeArrowheads="1"/>
              </p:cNvSpPr>
              <p:nvPr/>
            </p:nvSpPr>
            <p:spPr bwMode="auto">
              <a:xfrm>
                <a:off x="0" y="1047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29	</a:t>
                </a:r>
                <a:r>
                  <a:rPr lang="en-US" sz="1200" b="1">
                    <a:latin typeface="Courier New" panose="02070309020205020404" pitchFamily="49" charset="0"/>
                  </a:rPr>
                  <a:t>   hour = ( h &gt;= 0 &amp;&amp; h &lt; 24 ) ? h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299" name="Group 92"/>
            <p:cNvGrpSpPr>
              <a:grpSpLocks/>
            </p:cNvGrpSpPr>
            <p:nvPr/>
          </p:nvGrpSpPr>
          <p:grpSpPr bwMode="auto">
            <a:xfrm>
              <a:off x="0" y="10791"/>
              <a:ext cx="3072" cy="483"/>
              <a:chOff x="0" y="10791"/>
              <a:chExt cx="3072" cy="483"/>
            </a:xfrm>
          </p:grpSpPr>
          <p:sp>
            <p:nvSpPr>
              <p:cNvPr id="11306" name="Rectangle 93"/>
              <p:cNvSpPr>
                <a:spLocks noChangeArrowheads="1"/>
              </p:cNvSpPr>
              <p:nvPr/>
            </p:nvSpPr>
            <p:spPr bwMode="auto">
              <a:xfrm>
                <a:off x="0" y="10791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7" name="Rectangle 94"/>
              <p:cNvSpPr>
                <a:spLocks noChangeArrowheads="1"/>
              </p:cNvSpPr>
              <p:nvPr/>
            </p:nvSpPr>
            <p:spPr bwMode="auto">
              <a:xfrm>
                <a:off x="0" y="1084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30	</a:t>
                </a:r>
                <a:r>
                  <a:rPr lang="en-US" sz="1200" b="1">
                    <a:latin typeface="Courier New" panose="02070309020205020404" pitchFamily="49" charset="0"/>
                  </a:rPr>
                  <a:t>   minute = ( m &gt;= 0 &amp;&amp; m &lt; 60 ) ? m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300" name="Group 95"/>
            <p:cNvGrpSpPr>
              <a:grpSpLocks/>
            </p:cNvGrpSpPr>
            <p:nvPr/>
          </p:nvGrpSpPr>
          <p:grpSpPr bwMode="auto">
            <a:xfrm>
              <a:off x="0" y="11165"/>
              <a:ext cx="3072" cy="483"/>
              <a:chOff x="0" y="11165"/>
              <a:chExt cx="3072" cy="483"/>
            </a:xfrm>
          </p:grpSpPr>
          <p:sp>
            <p:nvSpPr>
              <p:cNvPr id="11304" name="Rectangle 96"/>
              <p:cNvSpPr>
                <a:spLocks noChangeArrowheads="1"/>
              </p:cNvSpPr>
              <p:nvPr/>
            </p:nvSpPr>
            <p:spPr bwMode="auto">
              <a:xfrm>
                <a:off x="0" y="11165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5" name="Rectangle 97"/>
              <p:cNvSpPr>
                <a:spLocks noChangeArrowheads="1"/>
              </p:cNvSpPr>
              <p:nvPr/>
            </p:nvSpPr>
            <p:spPr bwMode="auto">
              <a:xfrm>
                <a:off x="0" y="1122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31	</a:t>
                </a:r>
                <a:r>
                  <a:rPr lang="en-US" sz="1200" b="1">
                    <a:latin typeface="Courier New" panose="02070309020205020404" pitchFamily="49" charset="0"/>
                  </a:rPr>
                  <a:t>   second = ( s &gt;= 0 &amp;&amp; s &lt; 60 ) ? s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1301" name="Group 98"/>
            <p:cNvGrpSpPr>
              <a:grpSpLocks/>
            </p:cNvGrpSpPr>
            <p:nvPr/>
          </p:nvGrpSpPr>
          <p:grpSpPr bwMode="auto">
            <a:xfrm>
              <a:off x="0" y="11539"/>
              <a:ext cx="3072" cy="483"/>
              <a:chOff x="0" y="11539"/>
              <a:chExt cx="3072" cy="483"/>
            </a:xfrm>
          </p:grpSpPr>
          <p:sp>
            <p:nvSpPr>
              <p:cNvPr id="11302" name="Rectangle 99"/>
              <p:cNvSpPr>
                <a:spLocks noChangeArrowheads="1"/>
              </p:cNvSpPr>
              <p:nvPr/>
            </p:nvSpPr>
            <p:spPr bwMode="auto">
              <a:xfrm>
                <a:off x="0" y="11539"/>
                <a:ext cx="85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1303" name="Rectangle 100"/>
              <p:cNvSpPr>
                <a:spLocks noChangeArrowheads="1"/>
              </p:cNvSpPr>
              <p:nvPr/>
            </p:nvSpPr>
            <p:spPr bwMode="auto">
              <a:xfrm>
                <a:off x="0" y="1159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32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30725" name="Group 103"/>
          <p:cNvGrpSpPr>
            <a:grpSpLocks/>
          </p:cNvGrpSpPr>
          <p:nvPr/>
        </p:nvGrpSpPr>
        <p:grpSpPr bwMode="auto">
          <a:xfrm>
            <a:off x="4419180" y="4057594"/>
            <a:ext cx="4343819" cy="790575"/>
            <a:chOff x="2486" y="384"/>
            <a:chExt cx="2458" cy="498"/>
          </a:xfrm>
        </p:grpSpPr>
        <p:sp>
          <p:nvSpPr>
            <p:cNvPr id="11268" name="Text Box 101"/>
            <p:cNvSpPr txBox="1">
              <a:spLocks noChangeArrowheads="1"/>
            </p:cNvSpPr>
            <p:nvPr/>
          </p:nvSpPr>
          <p:spPr bwMode="auto">
            <a:xfrm>
              <a:off x="3600" y="384"/>
              <a:ext cx="1344" cy="3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/>
                <a:t>Note the </a:t>
              </a:r>
              <a:r>
                <a:rPr lang="en-US" sz="1600" b="1">
                  <a:latin typeface="Courier New" panose="02070309020205020404" pitchFamily="49" charset="0"/>
                </a:rPr>
                <a:t>::</a:t>
              </a:r>
              <a:r>
                <a:rPr lang="en-US" sz="1600" b="1"/>
                <a:t> preceding the function names.</a:t>
              </a:r>
            </a:p>
          </p:txBody>
        </p:sp>
        <p:sp>
          <p:nvSpPr>
            <p:cNvPr id="11269" name="Line 102"/>
            <p:cNvSpPr>
              <a:spLocks noChangeShapeType="1"/>
            </p:cNvSpPr>
            <p:nvPr/>
          </p:nvSpPr>
          <p:spPr bwMode="auto">
            <a:xfrm flipH="1">
              <a:off x="2486" y="624"/>
              <a:ext cx="1114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830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85"/>
          <p:cNvGrpSpPr>
            <a:grpSpLocks/>
          </p:cNvGrpSpPr>
          <p:nvPr/>
        </p:nvGrpSpPr>
        <p:grpSpPr bwMode="auto">
          <a:xfrm>
            <a:off x="457200" y="304800"/>
            <a:ext cx="6705600" cy="4024313"/>
            <a:chOff x="0" y="-34"/>
            <a:chExt cx="3072" cy="6426"/>
          </a:xfrm>
        </p:grpSpPr>
        <p:grpSp>
          <p:nvGrpSpPr>
            <p:cNvPr id="12291" name="Group 32"/>
            <p:cNvGrpSpPr>
              <a:grpSpLocks/>
            </p:cNvGrpSpPr>
            <p:nvPr/>
          </p:nvGrpSpPr>
          <p:grpSpPr bwMode="auto">
            <a:xfrm>
              <a:off x="0" y="-34"/>
              <a:ext cx="3072" cy="442"/>
              <a:chOff x="0" y="-34"/>
              <a:chExt cx="3072" cy="442"/>
            </a:xfrm>
          </p:grpSpPr>
          <p:sp>
            <p:nvSpPr>
              <p:cNvPr id="12340" name="Rectangle 31"/>
              <p:cNvSpPr>
                <a:spLocks noChangeArrowheads="1"/>
              </p:cNvSpPr>
              <p:nvPr/>
            </p:nvSpPr>
            <p:spPr bwMode="auto">
              <a:xfrm>
                <a:off x="0" y="-3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41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33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2" name="Group 34"/>
            <p:cNvGrpSpPr>
              <a:grpSpLocks/>
            </p:cNvGrpSpPr>
            <p:nvPr/>
          </p:nvGrpSpPr>
          <p:grpSpPr bwMode="auto">
            <a:xfrm>
              <a:off x="0" y="340"/>
              <a:ext cx="3072" cy="442"/>
              <a:chOff x="0" y="340"/>
              <a:chExt cx="3072" cy="442"/>
            </a:xfrm>
          </p:grpSpPr>
          <p:sp>
            <p:nvSpPr>
              <p:cNvPr id="12338" name="Rectangle 33"/>
              <p:cNvSpPr>
                <a:spLocks noChangeArrowheads="1"/>
              </p:cNvSpPr>
              <p:nvPr/>
            </p:nvSpPr>
            <p:spPr bwMode="auto">
              <a:xfrm>
                <a:off x="0" y="34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9" name="Rectangle 5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34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Time in military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3" name="Group 36"/>
            <p:cNvGrpSpPr>
              <a:grpSpLocks/>
            </p:cNvGrpSpPr>
            <p:nvPr/>
          </p:nvGrpSpPr>
          <p:grpSpPr bwMode="auto">
            <a:xfrm>
              <a:off x="0" y="714"/>
              <a:ext cx="3072" cy="442"/>
              <a:chOff x="0" y="714"/>
              <a:chExt cx="3072" cy="442"/>
            </a:xfrm>
          </p:grpSpPr>
          <p:sp>
            <p:nvSpPr>
              <p:cNvPr id="12336" name="Rectangle 35"/>
              <p:cNvSpPr>
                <a:spLocks noChangeArrowheads="1"/>
              </p:cNvSpPr>
              <p:nvPr/>
            </p:nvSpPr>
            <p:spPr bwMode="auto">
              <a:xfrm>
                <a:off x="0" y="71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7" name="Rectangle 6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35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Time::printMilitary()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4" name="Group 38"/>
            <p:cNvGrpSpPr>
              <a:grpSpLocks/>
            </p:cNvGrpSpPr>
            <p:nvPr/>
          </p:nvGrpSpPr>
          <p:grpSpPr bwMode="auto">
            <a:xfrm>
              <a:off x="0" y="1088"/>
              <a:ext cx="3072" cy="442"/>
              <a:chOff x="0" y="1088"/>
              <a:chExt cx="3072" cy="442"/>
            </a:xfrm>
          </p:grpSpPr>
          <p:sp>
            <p:nvSpPr>
              <p:cNvPr id="12334" name="Rectangle 37"/>
              <p:cNvSpPr>
                <a:spLocks noChangeArrowheads="1"/>
              </p:cNvSpPr>
              <p:nvPr/>
            </p:nvSpPr>
            <p:spPr bwMode="auto">
              <a:xfrm>
                <a:off x="0" y="1088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5" name="Rectangle 7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36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5" name="Group 40"/>
            <p:cNvGrpSpPr>
              <a:grpSpLocks/>
            </p:cNvGrpSpPr>
            <p:nvPr/>
          </p:nvGrpSpPr>
          <p:grpSpPr bwMode="auto">
            <a:xfrm>
              <a:off x="0" y="1462"/>
              <a:ext cx="3072" cy="442"/>
              <a:chOff x="0" y="1462"/>
              <a:chExt cx="3072" cy="442"/>
            </a:xfrm>
          </p:grpSpPr>
          <p:sp>
            <p:nvSpPr>
              <p:cNvPr id="12332" name="Rectangle 39"/>
              <p:cNvSpPr>
                <a:spLocks noChangeArrowheads="1"/>
              </p:cNvSpPr>
              <p:nvPr/>
            </p:nvSpPr>
            <p:spPr bwMode="auto">
              <a:xfrm>
                <a:off x="0" y="1462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3" name="Rectangle 8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37	</a:t>
                </a:r>
                <a:r>
                  <a:rPr lang="en-US" sz="1200" b="1">
                    <a:latin typeface="Courier New" panose="02070309020205020404" pitchFamily="49" charset="0"/>
                  </a:rPr>
                  <a:t>   cout &lt;&lt; ( hour &lt; 10 ? "0" : "" ) &lt;&lt; hour &lt;&lt; ":"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6" name="Group 42"/>
            <p:cNvGrpSpPr>
              <a:grpSpLocks/>
            </p:cNvGrpSpPr>
            <p:nvPr/>
          </p:nvGrpSpPr>
          <p:grpSpPr bwMode="auto">
            <a:xfrm>
              <a:off x="0" y="1836"/>
              <a:ext cx="3072" cy="442"/>
              <a:chOff x="0" y="1836"/>
              <a:chExt cx="3072" cy="442"/>
            </a:xfrm>
          </p:grpSpPr>
          <p:sp>
            <p:nvSpPr>
              <p:cNvPr id="12330" name="Rectangle 41"/>
              <p:cNvSpPr>
                <a:spLocks noChangeArrowheads="1"/>
              </p:cNvSpPr>
              <p:nvPr/>
            </p:nvSpPr>
            <p:spPr bwMode="auto">
              <a:xfrm>
                <a:off x="0" y="1836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31" name="Rectangle 9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38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( minute &lt; 10 ? "0" : "" ) &lt;&lt; minute;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7" name="Group 44"/>
            <p:cNvGrpSpPr>
              <a:grpSpLocks/>
            </p:cNvGrpSpPr>
            <p:nvPr/>
          </p:nvGrpSpPr>
          <p:grpSpPr bwMode="auto">
            <a:xfrm>
              <a:off x="0" y="2210"/>
              <a:ext cx="3072" cy="442"/>
              <a:chOff x="0" y="2210"/>
              <a:chExt cx="3072" cy="442"/>
            </a:xfrm>
          </p:grpSpPr>
          <p:sp>
            <p:nvSpPr>
              <p:cNvPr id="12328" name="Rectangle 43"/>
              <p:cNvSpPr>
                <a:spLocks noChangeArrowheads="1"/>
              </p:cNvSpPr>
              <p:nvPr/>
            </p:nvSpPr>
            <p:spPr bwMode="auto">
              <a:xfrm>
                <a:off x="0" y="221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9" name="Rectangle 10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39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8" name="Group 46"/>
            <p:cNvGrpSpPr>
              <a:grpSpLocks/>
            </p:cNvGrpSpPr>
            <p:nvPr/>
          </p:nvGrpSpPr>
          <p:grpSpPr bwMode="auto">
            <a:xfrm>
              <a:off x="0" y="2584"/>
              <a:ext cx="3072" cy="442"/>
              <a:chOff x="0" y="2584"/>
              <a:chExt cx="3072" cy="442"/>
            </a:xfrm>
          </p:grpSpPr>
          <p:sp>
            <p:nvSpPr>
              <p:cNvPr id="12326" name="Rectangle 45"/>
              <p:cNvSpPr>
                <a:spLocks noChangeArrowheads="1"/>
              </p:cNvSpPr>
              <p:nvPr/>
            </p:nvSpPr>
            <p:spPr bwMode="auto">
              <a:xfrm>
                <a:off x="0" y="258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7" name="Rectangle 11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40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299" name="Group 48"/>
            <p:cNvGrpSpPr>
              <a:grpSpLocks/>
            </p:cNvGrpSpPr>
            <p:nvPr/>
          </p:nvGrpSpPr>
          <p:grpSpPr bwMode="auto">
            <a:xfrm>
              <a:off x="0" y="2958"/>
              <a:ext cx="3072" cy="442"/>
              <a:chOff x="0" y="2958"/>
              <a:chExt cx="3072" cy="442"/>
            </a:xfrm>
          </p:grpSpPr>
          <p:sp>
            <p:nvSpPr>
              <p:cNvPr id="12324" name="Rectangle 47"/>
              <p:cNvSpPr>
                <a:spLocks noChangeArrowheads="1"/>
              </p:cNvSpPr>
              <p:nvPr/>
            </p:nvSpPr>
            <p:spPr bwMode="auto">
              <a:xfrm>
                <a:off x="0" y="2958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5" name="Rectangle 12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41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Time in standard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0" name="Group 50"/>
            <p:cNvGrpSpPr>
              <a:grpSpLocks/>
            </p:cNvGrpSpPr>
            <p:nvPr/>
          </p:nvGrpSpPr>
          <p:grpSpPr bwMode="auto">
            <a:xfrm>
              <a:off x="0" y="3332"/>
              <a:ext cx="3072" cy="442"/>
              <a:chOff x="0" y="3332"/>
              <a:chExt cx="3072" cy="442"/>
            </a:xfrm>
          </p:grpSpPr>
          <p:sp>
            <p:nvSpPr>
              <p:cNvPr id="12322" name="Rectangle 49"/>
              <p:cNvSpPr>
                <a:spLocks noChangeArrowheads="1"/>
              </p:cNvSpPr>
              <p:nvPr/>
            </p:nvSpPr>
            <p:spPr bwMode="auto">
              <a:xfrm>
                <a:off x="0" y="3332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3" name="Rectangle 13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42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Time::printStandard()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1" name="Group 52"/>
            <p:cNvGrpSpPr>
              <a:grpSpLocks/>
            </p:cNvGrpSpPr>
            <p:nvPr/>
          </p:nvGrpSpPr>
          <p:grpSpPr bwMode="auto">
            <a:xfrm>
              <a:off x="0" y="3706"/>
              <a:ext cx="3072" cy="442"/>
              <a:chOff x="0" y="3706"/>
              <a:chExt cx="3072" cy="442"/>
            </a:xfrm>
          </p:grpSpPr>
          <p:sp>
            <p:nvSpPr>
              <p:cNvPr id="12320" name="Rectangle 51"/>
              <p:cNvSpPr>
                <a:spLocks noChangeArrowheads="1"/>
              </p:cNvSpPr>
              <p:nvPr/>
            </p:nvSpPr>
            <p:spPr bwMode="auto">
              <a:xfrm>
                <a:off x="0" y="3706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21" name="Rectangle 14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43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2" name="Group 54"/>
            <p:cNvGrpSpPr>
              <a:grpSpLocks/>
            </p:cNvGrpSpPr>
            <p:nvPr/>
          </p:nvGrpSpPr>
          <p:grpSpPr bwMode="auto">
            <a:xfrm>
              <a:off x="0" y="4080"/>
              <a:ext cx="3072" cy="442"/>
              <a:chOff x="0" y="4080"/>
              <a:chExt cx="3072" cy="442"/>
            </a:xfrm>
          </p:grpSpPr>
          <p:sp>
            <p:nvSpPr>
              <p:cNvPr id="12318" name="Rectangle 53"/>
              <p:cNvSpPr>
                <a:spLocks noChangeArrowheads="1"/>
              </p:cNvSpPr>
              <p:nvPr/>
            </p:nvSpPr>
            <p:spPr bwMode="auto">
              <a:xfrm>
                <a:off x="0" y="408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9" name="Rectangle 15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44	</a:t>
                </a:r>
                <a:r>
                  <a:rPr lang="en-US" sz="1200" b="1">
                    <a:latin typeface="Courier New" panose="02070309020205020404" pitchFamily="49" charset="0"/>
                  </a:rPr>
                  <a:t>   cout &lt;&lt; ( ( hour == 0 || hour == 12 ) ? 12 : hour % 12 )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3" name="Group 56"/>
            <p:cNvGrpSpPr>
              <a:grpSpLocks/>
            </p:cNvGrpSpPr>
            <p:nvPr/>
          </p:nvGrpSpPr>
          <p:grpSpPr bwMode="auto">
            <a:xfrm>
              <a:off x="0" y="4454"/>
              <a:ext cx="3072" cy="442"/>
              <a:chOff x="0" y="4454"/>
              <a:chExt cx="3072" cy="442"/>
            </a:xfrm>
          </p:grpSpPr>
          <p:sp>
            <p:nvSpPr>
              <p:cNvPr id="12316" name="Rectangle 55"/>
              <p:cNvSpPr>
                <a:spLocks noChangeArrowheads="1"/>
              </p:cNvSpPr>
              <p:nvPr/>
            </p:nvSpPr>
            <p:spPr bwMode="auto">
              <a:xfrm>
                <a:off x="0" y="4454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7" name="Rectangle 16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45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":" &lt;&lt; ( minute &lt; 10 ? "0" : "" ) &lt;&lt; minute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4" name="Group 58"/>
            <p:cNvGrpSpPr>
              <a:grpSpLocks/>
            </p:cNvGrpSpPr>
            <p:nvPr/>
          </p:nvGrpSpPr>
          <p:grpSpPr bwMode="auto">
            <a:xfrm>
              <a:off x="0" y="4828"/>
              <a:ext cx="3072" cy="442"/>
              <a:chOff x="0" y="4828"/>
              <a:chExt cx="3072" cy="442"/>
            </a:xfrm>
          </p:grpSpPr>
          <p:sp>
            <p:nvSpPr>
              <p:cNvPr id="12314" name="Rectangle 57"/>
              <p:cNvSpPr>
                <a:spLocks noChangeArrowheads="1"/>
              </p:cNvSpPr>
              <p:nvPr/>
            </p:nvSpPr>
            <p:spPr bwMode="auto">
              <a:xfrm>
                <a:off x="0" y="4828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5" name="Rectangle 17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46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":" &lt;&lt; ( second &lt; 10 ? "0" : "" ) &lt;&lt; second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5" name="Group 60"/>
            <p:cNvGrpSpPr>
              <a:grpSpLocks/>
            </p:cNvGrpSpPr>
            <p:nvPr/>
          </p:nvGrpSpPr>
          <p:grpSpPr bwMode="auto">
            <a:xfrm>
              <a:off x="0" y="5202"/>
              <a:ext cx="3072" cy="442"/>
              <a:chOff x="0" y="5202"/>
              <a:chExt cx="3072" cy="442"/>
            </a:xfrm>
          </p:grpSpPr>
          <p:sp>
            <p:nvSpPr>
              <p:cNvPr id="12312" name="Rectangle 59"/>
              <p:cNvSpPr>
                <a:spLocks noChangeArrowheads="1"/>
              </p:cNvSpPr>
              <p:nvPr/>
            </p:nvSpPr>
            <p:spPr bwMode="auto">
              <a:xfrm>
                <a:off x="0" y="5202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3" name="Rectangle 18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47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( hour &lt; 12 ? " AM" : " PM" );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6" name="Group 62"/>
            <p:cNvGrpSpPr>
              <a:grpSpLocks/>
            </p:cNvGrpSpPr>
            <p:nvPr/>
          </p:nvGrpSpPr>
          <p:grpSpPr bwMode="auto">
            <a:xfrm>
              <a:off x="0" y="5576"/>
              <a:ext cx="3072" cy="442"/>
              <a:chOff x="0" y="5576"/>
              <a:chExt cx="3072" cy="442"/>
            </a:xfrm>
          </p:grpSpPr>
          <p:sp>
            <p:nvSpPr>
              <p:cNvPr id="12310" name="Rectangle 61"/>
              <p:cNvSpPr>
                <a:spLocks noChangeArrowheads="1"/>
              </p:cNvSpPr>
              <p:nvPr/>
            </p:nvSpPr>
            <p:spPr bwMode="auto">
              <a:xfrm>
                <a:off x="0" y="5576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11" name="Rectangle 19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48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12307" name="Group 64"/>
            <p:cNvGrpSpPr>
              <a:grpSpLocks/>
            </p:cNvGrpSpPr>
            <p:nvPr/>
          </p:nvGrpSpPr>
          <p:grpSpPr bwMode="auto">
            <a:xfrm>
              <a:off x="0" y="5950"/>
              <a:ext cx="3072" cy="442"/>
              <a:chOff x="0" y="5950"/>
              <a:chExt cx="3072" cy="442"/>
            </a:xfrm>
          </p:grpSpPr>
          <p:sp>
            <p:nvSpPr>
              <p:cNvPr id="12308" name="Rectangle 63"/>
              <p:cNvSpPr>
                <a:spLocks noChangeArrowheads="1"/>
              </p:cNvSpPr>
              <p:nvPr/>
            </p:nvSpPr>
            <p:spPr bwMode="auto">
              <a:xfrm>
                <a:off x="0" y="5950"/>
                <a:ext cx="85" cy="44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12309" name="Rectangle 20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49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9575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>
            <a:noAutofit/>
          </a:bodyPr>
          <a:lstStyle/>
          <a:p>
            <a:r>
              <a:rPr lang="fr-FR" sz="4000" b="1" dirty="0" err="1">
                <a:solidFill>
                  <a:srgbClr val="B80000"/>
                </a:solidFill>
              </a:rPr>
              <a:t>Private</a:t>
            </a:r>
            <a:r>
              <a:rPr lang="fr-FR" sz="4000" b="1" dirty="0">
                <a:solidFill>
                  <a:srgbClr val="B80000"/>
                </a:solidFill>
              </a:rPr>
              <a:t> </a:t>
            </a:r>
            <a:r>
              <a:rPr lang="fr-FR" sz="4000" b="1" dirty="0" err="1">
                <a:solidFill>
                  <a:srgbClr val="B80000"/>
                </a:solidFill>
              </a:rPr>
              <a:t>Member</a:t>
            </a:r>
            <a:r>
              <a:rPr lang="fr-FR" sz="4000" b="1" dirty="0">
                <a:solidFill>
                  <a:srgbClr val="B80000"/>
                </a:solidFill>
              </a:rPr>
              <a:t> </a:t>
            </a:r>
            <a:r>
              <a:rPr lang="fr-FR" sz="4000" b="1" dirty="0" err="1">
                <a:solidFill>
                  <a:srgbClr val="B80000"/>
                </a:solidFill>
              </a:rPr>
              <a:t>Functions</a:t>
            </a:r>
            <a:endParaRPr lang="fr-FR" sz="4000" b="1" dirty="0">
              <a:solidFill>
                <a:srgbClr val="B80000"/>
              </a:solidFill>
            </a:endParaRPr>
          </a:p>
        </p:txBody>
      </p:sp>
      <p:sp>
        <p:nvSpPr>
          <p:cNvPr id="9219" name="Espace réservé du contenu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638800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  <a:latin typeface="+mj-lt"/>
              </a:rPr>
              <a:t>Private Member Functions:</a:t>
            </a:r>
            <a:endParaRPr lang="en-US" b="1" dirty="0">
              <a:latin typeface="+mj-lt"/>
            </a:endParaRPr>
          </a:p>
          <a:p>
            <a:pPr lvl="1" algn="just"/>
            <a:r>
              <a:rPr lang="en-US" dirty="0">
                <a:latin typeface="+mj-lt"/>
              </a:rPr>
              <a:t>Only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accessible</a:t>
            </a:r>
            <a:r>
              <a:rPr lang="en-US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(callable) from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member functions</a:t>
            </a:r>
            <a:r>
              <a:rPr lang="en-US" b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of the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class</a:t>
            </a:r>
          </a:p>
          <a:p>
            <a:pPr lvl="1" algn="just"/>
            <a:endParaRPr lang="en-US" b="1" dirty="0">
              <a:latin typeface="+mj-lt"/>
            </a:endParaRPr>
          </a:p>
          <a:p>
            <a:pPr lvl="1" algn="just"/>
            <a:r>
              <a:rPr lang="en-US" b="1" dirty="0">
                <a:solidFill>
                  <a:srgbClr val="C00000"/>
                </a:solidFill>
                <a:latin typeface="+mj-lt"/>
              </a:rPr>
              <a:t>No direct access possible </a:t>
            </a:r>
            <a:r>
              <a:rPr lang="en-US" dirty="0">
                <a:latin typeface="+mj-lt"/>
              </a:rPr>
              <a:t>(with </a:t>
            </a:r>
            <a:r>
              <a:rPr lang="en-US" b="1" u="sng" dirty="0">
                <a:latin typeface="+mj-lt"/>
              </a:rPr>
              <a:t>object instance of the class</a:t>
            </a:r>
            <a:r>
              <a:rPr lang="en-US" dirty="0">
                <a:latin typeface="+mj-lt"/>
              </a:rPr>
              <a:t>)</a:t>
            </a:r>
          </a:p>
          <a:p>
            <a:pPr lvl="1" algn="just"/>
            <a:endParaRPr lang="en-US" dirty="0">
              <a:latin typeface="+mj-lt"/>
            </a:endParaRPr>
          </a:p>
          <a:p>
            <a:pPr lvl="1" algn="just"/>
            <a:r>
              <a:rPr lang="en-US" b="1" dirty="0">
                <a:latin typeface="+mj-lt"/>
              </a:rPr>
              <a:t>Can be: </a:t>
            </a:r>
            <a:r>
              <a:rPr lang="en-US" b="1" dirty="0">
                <a:solidFill>
                  <a:srgbClr val="008000"/>
                </a:solidFill>
                <a:latin typeface="+mj-lt"/>
              </a:rPr>
              <a:t>inline </a:t>
            </a:r>
            <a:r>
              <a:rPr lang="en-US" b="1" dirty="0">
                <a:latin typeface="+mj-lt"/>
              </a:rPr>
              <a:t>/ </a:t>
            </a:r>
            <a:r>
              <a:rPr lang="en-US" b="1" dirty="0">
                <a:solidFill>
                  <a:srgbClr val="008000"/>
                </a:solidFill>
                <a:latin typeface="+mj-lt"/>
              </a:rPr>
              <a:t>out-of-line</a:t>
            </a:r>
            <a:endParaRPr lang="en-US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88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>
          <a:xfrm>
            <a:off x="6211956" y="2057400"/>
            <a:ext cx="2895600" cy="19812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fr-FR" sz="2400" b="1" dirty="0" err="1">
                <a:solidFill>
                  <a:srgbClr val="B80000"/>
                </a:solidFill>
              </a:rPr>
              <a:t>Private</a:t>
            </a:r>
            <a:r>
              <a:rPr lang="fr-FR" sz="2400" b="1" dirty="0">
                <a:solidFill>
                  <a:srgbClr val="B80000"/>
                </a:solidFill>
              </a:rPr>
              <a:t> </a:t>
            </a:r>
            <a:r>
              <a:rPr lang="fr-FR" sz="2400" b="1" dirty="0" err="1">
                <a:solidFill>
                  <a:srgbClr val="B80000"/>
                </a:solidFill>
              </a:rPr>
              <a:t>Member</a:t>
            </a:r>
            <a:r>
              <a:rPr lang="fr-FR" sz="2400" b="1" dirty="0">
                <a:solidFill>
                  <a:srgbClr val="B80000"/>
                </a:solidFill>
              </a:rPr>
              <a:t> </a:t>
            </a:r>
            <a:r>
              <a:rPr lang="fr-FR" sz="2400" b="1" dirty="0" err="1">
                <a:solidFill>
                  <a:srgbClr val="B80000"/>
                </a:solidFill>
              </a:rPr>
              <a:t>Functions</a:t>
            </a:r>
            <a:br>
              <a:rPr lang="fr-FR" sz="2800" b="1" dirty="0">
                <a:solidFill>
                  <a:srgbClr val="B80000"/>
                </a:solidFill>
              </a:rPr>
            </a:br>
            <a:r>
              <a:rPr lang="fr-FR" sz="2000" b="1" dirty="0">
                <a:solidFill>
                  <a:schemeClr val="tx1"/>
                </a:solidFill>
              </a:rPr>
              <a:t>(</a:t>
            </a:r>
            <a:r>
              <a:rPr lang="en-US" sz="2000" b="1" dirty="0">
                <a:solidFill>
                  <a:schemeClr val="tx1"/>
                </a:solidFill>
              </a:rPr>
              <a:t>out-of-line)</a:t>
            </a:r>
            <a:br>
              <a:rPr lang="fr-FR" sz="2800" b="1" dirty="0">
                <a:solidFill>
                  <a:srgbClr val="B80000"/>
                </a:solidFill>
              </a:rPr>
            </a:br>
            <a:endParaRPr lang="fr-FR" sz="2800" b="1" dirty="0">
              <a:solidFill>
                <a:srgbClr val="B8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06" y="0"/>
            <a:ext cx="5032448" cy="674386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3170441" y="2667000"/>
            <a:ext cx="3048000" cy="175260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370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0"/>
            <a:ext cx="8116956" cy="98072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B80000"/>
                </a:solidFill>
                <a:latin typeface="Calibri" pitchFamily="34" charset="0"/>
              </a:rPr>
              <a:t>Access Modifiers/</a:t>
            </a:r>
            <a:r>
              <a:rPr lang="en-US" sz="4800" b="1" dirty="0" err="1">
                <a:solidFill>
                  <a:srgbClr val="B80000"/>
                </a:solidFill>
                <a:latin typeface="Calibri" pitchFamily="34" charset="0"/>
              </a:rPr>
              <a:t>Specifier</a:t>
            </a:r>
            <a:endParaRPr lang="en-US" sz="4800" b="1" dirty="0">
              <a:solidFill>
                <a:srgbClr val="B80000"/>
              </a:solidFill>
              <a:latin typeface="Calibri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4840" y="1026059"/>
            <a:ext cx="8812088" cy="4105275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latin typeface="Calibri" pitchFamily="34" charset="0"/>
              </a:rPr>
              <a:t>Access modifiers are used to </a:t>
            </a:r>
            <a:r>
              <a:rPr lang="en-US" sz="2800" b="1" u="sng" dirty="0">
                <a:solidFill>
                  <a:srgbClr val="C00000"/>
                </a:solidFill>
                <a:latin typeface="Calibri" pitchFamily="34" charset="0"/>
              </a:rPr>
              <a:t>set access levels</a:t>
            </a:r>
            <a:r>
              <a:rPr lang="en-US" sz="2800" b="1" u="sng" dirty="0">
                <a:latin typeface="Calibri" pitchFamily="34" charset="0"/>
              </a:rPr>
              <a:t> for</a:t>
            </a:r>
            <a:r>
              <a:rPr lang="en-US" sz="2800" b="1" u="sng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</a:rPr>
              <a:t>variables</a:t>
            </a:r>
            <a:r>
              <a:rPr lang="en-US" sz="2800" b="1" i="1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</a:rPr>
              <a:t>methods,</a:t>
            </a:r>
            <a:r>
              <a:rPr lang="en-US" sz="2800" b="1" i="1" dirty="0">
                <a:solidFill>
                  <a:srgbClr val="FF0000"/>
                </a:solidFill>
                <a:latin typeface="Calibri" pitchFamily="34" charset="0"/>
              </a:rPr>
              <a:t> and </a:t>
            </a: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</a:rPr>
              <a:t>constructors </a:t>
            </a:r>
            <a:endParaRPr lang="en-US" sz="2800" dirty="0">
              <a:latin typeface="Calibri" pitchFamily="34" charset="0"/>
            </a:endParaRPr>
          </a:p>
          <a:p>
            <a:r>
              <a:rPr lang="en-US" sz="2800" b="1" dirty="0">
                <a:solidFill>
                  <a:srgbClr val="008000"/>
                </a:solidFill>
                <a:latin typeface="Calibri" pitchFamily="34" charset="0"/>
              </a:rPr>
              <a:t>private</a:t>
            </a:r>
            <a:r>
              <a:rPr lang="en-US" sz="2800" dirty="0">
                <a:latin typeface="Calibri" pitchFamily="34" charset="0"/>
              </a:rPr>
              <a:t>, </a:t>
            </a:r>
            <a:r>
              <a:rPr lang="en-US" sz="2800" b="1" dirty="0">
                <a:solidFill>
                  <a:srgbClr val="008000"/>
                </a:solidFill>
                <a:latin typeface="Calibri" pitchFamily="34" charset="0"/>
              </a:rPr>
              <a:t>public</a:t>
            </a:r>
            <a:r>
              <a:rPr lang="en-US" sz="2800" dirty="0">
                <a:latin typeface="Calibri" pitchFamily="34" charset="0"/>
              </a:rPr>
              <a:t>, and </a:t>
            </a:r>
            <a:r>
              <a:rPr lang="en-US" sz="2800" b="1" dirty="0">
                <a:solidFill>
                  <a:srgbClr val="008000"/>
                </a:solidFill>
                <a:latin typeface="Calibri" pitchFamily="34" charset="0"/>
              </a:rPr>
              <a:t>protected</a:t>
            </a:r>
            <a:endParaRPr lang="en-US" sz="2800" dirty="0">
              <a:latin typeface="Calibri" pitchFamily="34" charset="0"/>
            </a:endParaRPr>
          </a:p>
          <a:p>
            <a:r>
              <a:rPr lang="en-US" sz="2800" dirty="0">
                <a:latin typeface="Calibri" pitchFamily="34" charset="0"/>
              </a:rPr>
              <a:t>In C++, </a:t>
            </a:r>
            <a:r>
              <a:rPr lang="en-US" sz="2800" b="1" i="1" dirty="0">
                <a:solidFill>
                  <a:srgbClr val="2C14DE"/>
                </a:solidFill>
                <a:latin typeface="Calibri" pitchFamily="34" charset="0"/>
              </a:rPr>
              <a:t>default</a:t>
            </a:r>
            <a:r>
              <a:rPr lang="en-US" sz="2800" b="1" i="1" dirty="0">
                <a:solidFill>
                  <a:srgbClr val="FF0000"/>
                </a:solidFill>
                <a:latin typeface="Calibri" pitchFamily="34" charset="0"/>
              </a:rPr>
              <a:t> accessibility is </a:t>
            </a:r>
            <a:r>
              <a:rPr lang="en-US" sz="2800" b="1" i="1" dirty="0">
                <a:solidFill>
                  <a:srgbClr val="2C14DE"/>
                </a:solidFill>
                <a:latin typeface="Calibri" pitchFamily="34" charset="0"/>
              </a:rPr>
              <a:t>private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239546"/>
            <a:ext cx="5105400" cy="3466053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63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8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  <a:latin typeface="Arial" panose="020B0604020202020204" pitchFamily="34" charset="0"/>
              </a:rPr>
              <a:t>Member Access </a:t>
            </a:r>
            <a:r>
              <a:rPr lang="en-US" b="1" dirty="0" err="1">
                <a:solidFill>
                  <a:srgbClr val="B80000"/>
                </a:solidFill>
                <a:latin typeface="Arial" panose="020B0604020202020204" pitchFamily="34" charset="0"/>
              </a:rPr>
              <a:t>Specifiers</a:t>
            </a:r>
            <a:endParaRPr lang="en-US" b="1" dirty="0">
              <a:solidFill>
                <a:srgbClr val="B8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49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638800"/>
          </a:xfrm>
        </p:spPr>
        <p:txBody>
          <a:bodyPr>
            <a:normAutofit fontScale="92500"/>
          </a:bodyPr>
          <a:lstStyle/>
          <a:p>
            <a:r>
              <a:rPr lang="en-US" sz="2400" b="1" dirty="0">
                <a:solidFill>
                  <a:srgbClr val="B80000"/>
                </a:solidFill>
                <a:latin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srgbClr val="B80000"/>
                </a:solidFill>
              </a:rPr>
              <a:t> </a:t>
            </a:r>
          </a:p>
          <a:p>
            <a:pPr lvl="1"/>
            <a:r>
              <a:rPr lang="en-US" b="1" dirty="0"/>
              <a:t>Presents</a:t>
            </a:r>
            <a:r>
              <a:rPr lang="en-US" dirty="0"/>
              <a:t> </a:t>
            </a:r>
            <a:r>
              <a:rPr lang="en-US" b="1" dirty="0"/>
              <a:t>clients</a:t>
            </a:r>
            <a:r>
              <a:rPr lang="en-US" dirty="0"/>
              <a:t> with a view of the </a:t>
            </a:r>
            <a:r>
              <a:rPr lang="en-US" b="1" dirty="0">
                <a:solidFill>
                  <a:srgbClr val="2C14DE"/>
                </a:solidFill>
              </a:rPr>
              <a:t>services the class provides </a:t>
            </a:r>
            <a:r>
              <a:rPr lang="en-US" dirty="0"/>
              <a:t>(i.e., </a:t>
            </a:r>
            <a:r>
              <a:rPr lang="en-US" b="1" dirty="0">
                <a:solidFill>
                  <a:srgbClr val="008000"/>
                </a:solidFill>
              </a:rPr>
              <a:t>interface</a:t>
            </a:r>
            <a:r>
              <a:rPr lang="en-US" dirty="0"/>
              <a:t>)</a:t>
            </a: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2C14DE"/>
                </a:solidFill>
              </a:rPr>
              <a:t>member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>
                <a:solidFill>
                  <a:srgbClr val="2C14DE"/>
                </a:solidFill>
              </a:rPr>
              <a:t>functions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are </a:t>
            </a:r>
            <a:r>
              <a:rPr lang="en-US" b="1" dirty="0">
                <a:solidFill>
                  <a:srgbClr val="2C14DE"/>
                </a:solidFill>
              </a:rPr>
              <a:t>accessible </a:t>
            </a:r>
            <a:r>
              <a:rPr lang="en-US" b="1" dirty="0"/>
              <a:t>(outside class)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b="1" dirty="0">
                <a:solidFill>
                  <a:srgbClr val="B80000"/>
                </a:solidFill>
                <a:latin typeface="Courier New" panose="02070309020205020404" pitchFamily="49" charset="0"/>
              </a:rPr>
              <a:t>private</a:t>
            </a:r>
            <a:endParaRPr lang="en-US" sz="2400" dirty="0">
              <a:solidFill>
                <a:srgbClr val="B80000"/>
              </a:solidFill>
            </a:endParaRP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Default</a:t>
            </a:r>
            <a:r>
              <a:rPr lang="en-US" b="1" dirty="0"/>
              <a:t> </a:t>
            </a:r>
            <a:r>
              <a:rPr lang="en-US" b="1" dirty="0">
                <a:solidFill>
                  <a:srgbClr val="2C14DE"/>
                </a:solidFill>
              </a:rPr>
              <a:t>access mode</a:t>
            </a:r>
          </a:p>
          <a:p>
            <a:pPr lvl="1"/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/>
              <a:t> </a:t>
            </a:r>
            <a:r>
              <a:rPr lang="en-US" b="1" dirty="0"/>
              <a:t>only accessible</a:t>
            </a:r>
            <a:r>
              <a:rPr lang="en-US" dirty="0"/>
              <a:t> to </a:t>
            </a:r>
            <a:r>
              <a:rPr lang="en-US" b="1" dirty="0">
                <a:solidFill>
                  <a:srgbClr val="2C14DE"/>
                </a:solidFill>
              </a:rPr>
              <a:t>member functions </a:t>
            </a:r>
            <a:r>
              <a:rPr lang="en-US" dirty="0"/>
              <a:t>and </a:t>
            </a:r>
            <a:r>
              <a:rPr lang="en-US" b="1" u="sng" dirty="0">
                <a:solidFill>
                  <a:srgbClr val="008000"/>
                </a:solidFill>
                <a:latin typeface="Courier New" panose="02070309020205020404" pitchFamily="49" charset="0"/>
              </a:rPr>
              <a:t>friend</a:t>
            </a:r>
            <a:r>
              <a:rPr lang="en-US" b="1" u="sng" dirty="0">
                <a:solidFill>
                  <a:srgbClr val="008000"/>
                </a:solidFill>
              </a:rPr>
              <a:t>s</a:t>
            </a:r>
          </a:p>
          <a:p>
            <a:pPr lvl="1"/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</a:rPr>
              <a:t>private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/>
              <a:t>members</a:t>
            </a:r>
            <a:r>
              <a:rPr lang="en-US" dirty="0"/>
              <a:t> </a:t>
            </a:r>
            <a:r>
              <a:rPr lang="en-US" b="1" dirty="0"/>
              <a:t>only accessible through</a:t>
            </a:r>
            <a:r>
              <a:rPr lang="en-US" dirty="0"/>
              <a:t> the 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class interface using 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</a:rPr>
              <a:t>public</a:t>
            </a:r>
            <a:r>
              <a:rPr lang="en-US" b="1" dirty="0">
                <a:solidFill>
                  <a:srgbClr val="2C14DE"/>
                </a:solidFill>
              </a:rPr>
              <a:t> member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170622" y="76200"/>
            <a:ext cx="8839200" cy="10668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The </a:t>
            </a:r>
            <a:r>
              <a:rPr lang="en-US" sz="2200" b="1" dirty="0">
                <a:solidFill>
                  <a:srgbClr val="D20000"/>
                </a:solidFill>
              </a:rPr>
              <a:t>default constructor </a:t>
            </a:r>
            <a:r>
              <a:rPr lang="en-US" sz="2200" b="1" dirty="0">
                <a:solidFill>
                  <a:schemeClr val="tx1"/>
                </a:solidFill>
              </a:rPr>
              <a:t>(provided by compiler) is always public.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Programmer can specify a constructor to be private  (no use) or public </a:t>
            </a:r>
          </a:p>
        </p:txBody>
      </p:sp>
    </p:spTree>
    <p:extLst>
      <p:ext uri="{BB962C8B-B14F-4D97-AF65-F5344CB8AC3E}">
        <p14:creationId xmlns:p14="http://schemas.microsoft.com/office/powerpoint/2010/main" val="255581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-26988"/>
            <a:ext cx="8193156" cy="971869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B80000"/>
                </a:solidFill>
                <a:latin typeface="Calibri" pitchFamily="34" charset="0"/>
              </a:rPr>
              <a:t>Data Hiding - Data Field Encapsulation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5314" y="1066800"/>
            <a:ext cx="8928168" cy="453707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>
                <a:latin typeface="Calibri" pitchFamily="34" charset="0"/>
              </a:rPr>
              <a:t>A </a:t>
            </a:r>
            <a:r>
              <a:rPr lang="en-US" sz="2800" b="1" dirty="0">
                <a:solidFill>
                  <a:srgbClr val="B80000"/>
                </a:solidFill>
                <a:latin typeface="Calibri" pitchFamily="34" charset="0"/>
              </a:rPr>
              <a:t>key feature </a:t>
            </a:r>
            <a:r>
              <a:rPr lang="en-US" sz="2800" dirty="0">
                <a:latin typeface="Calibri" pitchFamily="34" charset="0"/>
              </a:rPr>
              <a:t>of </a:t>
            </a:r>
            <a:r>
              <a:rPr lang="en-US" sz="2800" b="1" dirty="0">
                <a:solidFill>
                  <a:srgbClr val="B80000"/>
                </a:solidFill>
                <a:latin typeface="Calibri" pitchFamily="34" charset="0"/>
              </a:rPr>
              <a:t>OOP</a:t>
            </a:r>
            <a:r>
              <a:rPr lang="en-US" sz="2800" dirty="0">
                <a:solidFill>
                  <a:srgbClr val="B80000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is </a:t>
            </a:r>
            <a:r>
              <a:rPr lang="en-US" sz="2800" b="1" dirty="0">
                <a:solidFill>
                  <a:srgbClr val="B80000"/>
                </a:solidFill>
                <a:latin typeface="Calibri" pitchFamily="34" charset="0"/>
              </a:rPr>
              <a:t>data hiding</a:t>
            </a:r>
            <a:endParaRPr lang="en-US" sz="2800" dirty="0">
              <a:latin typeface="Calibri" pitchFamily="34" charset="0"/>
            </a:endParaRPr>
          </a:p>
          <a:p>
            <a:pPr lvl="1" algn="just"/>
            <a:r>
              <a:rPr lang="en-US" b="1" dirty="0">
                <a:latin typeface="Calibri" pitchFamily="34" charset="0"/>
              </a:rPr>
              <a:t>data is </a:t>
            </a:r>
            <a:r>
              <a:rPr lang="en-US" b="1" u="sng" dirty="0">
                <a:solidFill>
                  <a:srgbClr val="2F1BC7"/>
                </a:solidFill>
                <a:latin typeface="Calibri" pitchFamily="34" charset="0"/>
              </a:rPr>
              <a:t>concealed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</a:rPr>
              <a:t> within a class </a:t>
            </a:r>
            <a:r>
              <a:rPr lang="en-US" b="1" dirty="0">
                <a:latin typeface="Calibri" pitchFamily="34" charset="0"/>
              </a:rPr>
              <a:t>so that it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</a:rPr>
              <a:t>cannot be accessed mistakenly </a:t>
            </a:r>
            <a:r>
              <a:rPr lang="en-US" b="1" dirty="0">
                <a:latin typeface="Calibri" pitchFamily="34" charset="0"/>
              </a:rPr>
              <a:t>by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</a:rPr>
              <a:t>functions outside the class</a:t>
            </a:r>
            <a:r>
              <a:rPr lang="en-US" dirty="0">
                <a:latin typeface="Calibri" pitchFamily="34" charset="0"/>
              </a:rPr>
              <a:t>. </a:t>
            </a:r>
          </a:p>
          <a:p>
            <a:pPr algn="just"/>
            <a:endParaRPr lang="en-US" sz="2800" dirty="0">
              <a:latin typeface="Calibri" pitchFamily="34" charset="0"/>
            </a:endParaRPr>
          </a:p>
          <a:p>
            <a:pPr algn="just"/>
            <a:endParaRPr lang="en-US" sz="2800" dirty="0">
              <a:latin typeface="Calibri" pitchFamily="34" charset="0"/>
            </a:endParaRPr>
          </a:p>
          <a:p>
            <a:pPr algn="just"/>
            <a:r>
              <a:rPr lang="en-US" sz="2800" b="1" dirty="0">
                <a:latin typeface="Calibri" pitchFamily="34" charset="0"/>
              </a:rPr>
              <a:t>To prevent </a:t>
            </a:r>
            <a:r>
              <a:rPr lang="en-US" sz="2800" b="1" u="sng" dirty="0">
                <a:solidFill>
                  <a:srgbClr val="C00000"/>
                </a:solidFill>
                <a:latin typeface="Calibri" pitchFamily="34" charset="0"/>
              </a:rPr>
              <a:t>direct modification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of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class attributes </a:t>
            </a:r>
            <a:r>
              <a:rPr lang="en-US" sz="2800" dirty="0">
                <a:latin typeface="Calibri" pitchFamily="34" charset="0"/>
              </a:rPr>
              <a:t>(outside the class), the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primary mechanism for hiding data</a:t>
            </a:r>
            <a:r>
              <a:rPr lang="en-US" sz="2800" dirty="0">
                <a:latin typeface="Calibri" pitchFamily="34" charset="0"/>
              </a:rPr>
              <a:t> is to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put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it in a </a:t>
            </a:r>
            <a:r>
              <a:rPr lang="en-US" sz="2800" b="1" dirty="0">
                <a:latin typeface="Calibri" pitchFamily="34" charset="0"/>
              </a:rPr>
              <a:t>class</a:t>
            </a:r>
            <a:r>
              <a:rPr lang="en-US" sz="2800" dirty="0">
                <a:latin typeface="Calibri" pitchFamily="34" charset="0"/>
              </a:rPr>
              <a:t> and </a:t>
            </a:r>
            <a:r>
              <a:rPr lang="en-US" sz="2800" b="1" u="sng" dirty="0">
                <a:latin typeface="Calibri" pitchFamily="34" charset="0"/>
              </a:rPr>
              <a:t>make it </a:t>
            </a:r>
            <a:r>
              <a:rPr lang="en-US" sz="2800" b="1" u="sng" dirty="0">
                <a:solidFill>
                  <a:srgbClr val="2C14DE"/>
                </a:solidFill>
                <a:latin typeface="Calibri" pitchFamily="34" charset="0"/>
              </a:rPr>
              <a:t>private</a:t>
            </a:r>
            <a:r>
              <a:rPr lang="en-US" sz="2800" b="1" u="sng" dirty="0"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using </a:t>
            </a: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</a:rPr>
              <a:t>private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keyword.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</a:rPr>
              <a:t>This is also known as </a:t>
            </a:r>
            <a:r>
              <a:rPr lang="en-US" sz="2800" b="1" i="1" u="sng" dirty="0">
                <a:solidFill>
                  <a:srgbClr val="008000"/>
                </a:solidFill>
                <a:latin typeface="Calibri" pitchFamily="34" charset="0"/>
              </a:rPr>
              <a:t>data field encapsulation</a:t>
            </a:r>
            <a:r>
              <a:rPr lang="en-US" sz="2800" b="1" dirty="0">
                <a:solidFill>
                  <a:srgbClr val="008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00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-26988"/>
            <a:ext cx="8351906" cy="9718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</a:rPr>
              <a:t>Hidden from Whom?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163" y="1231900"/>
            <a:ext cx="9082087" cy="4449763"/>
          </a:xfrm>
        </p:spPr>
        <p:txBody>
          <a:bodyPr/>
          <a:lstStyle/>
          <a:p>
            <a:pPr algn="just"/>
            <a:r>
              <a:rPr lang="en-US" b="1" i="1" dirty="0">
                <a:solidFill>
                  <a:srgbClr val="FF0000"/>
                </a:solidFill>
                <a:latin typeface="Calibri" pitchFamily="34" charset="0"/>
              </a:rPr>
              <a:t>Data hiding means </a:t>
            </a:r>
            <a:r>
              <a:rPr lang="en-US" b="1" i="1" dirty="0">
                <a:solidFill>
                  <a:srgbClr val="2F1BC7"/>
                </a:solidFill>
                <a:latin typeface="Calibri" pitchFamily="34" charset="0"/>
              </a:rPr>
              <a:t>hiding data from parts of the program</a:t>
            </a:r>
            <a:r>
              <a:rPr lang="en-US" b="1" i="1" dirty="0">
                <a:solidFill>
                  <a:srgbClr val="FF0000"/>
                </a:solidFill>
                <a:latin typeface="Calibri" pitchFamily="34" charset="0"/>
              </a:rPr>
              <a:t> that don’t need to access it.</a:t>
            </a:r>
            <a:r>
              <a:rPr lang="en-US" dirty="0">
                <a:latin typeface="Calibri" pitchFamily="34" charset="0"/>
              </a:rPr>
              <a:t> More specifically, </a:t>
            </a:r>
            <a:r>
              <a:rPr lang="en-US" b="1" dirty="0">
                <a:latin typeface="Calibri" pitchFamily="34" charset="0"/>
              </a:rPr>
              <a:t>one class’s data </a:t>
            </a:r>
            <a:r>
              <a:rPr lang="en-US" dirty="0">
                <a:latin typeface="Calibri" pitchFamily="34" charset="0"/>
              </a:rPr>
              <a:t>is </a:t>
            </a:r>
            <a:r>
              <a:rPr lang="en-US" b="1" dirty="0">
                <a:latin typeface="Calibri" pitchFamily="34" charset="0"/>
              </a:rPr>
              <a:t>hidden</a:t>
            </a:r>
            <a:r>
              <a:rPr lang="en-US" dirty="0">
                <a:latin typeface="Calibri" pitchFamily="34" charset="0"/>
              </a:rPr>
              <a:t> from </a:t>
            </a:r>
            <a:r>
              <a:rPr lang="en-US" b="1" dirty="0">
                <a:latin typeface="Calibri" pitchFamily="34" charset="0"/>
              </a:rPr>
              <a:t>other classes</a:t>
            </a:r>
            <a:r>
              <a:rPr lang="en-US" dirty="0">
                <a:latin typeface="Calibri" pitchFamily="34" charset="0"/>
              </a:rPr>
              <a:t>. </a:t>
            </a:r>
          </a:p>
          <a:p>
            <a:pPr algn="just"/>
            <a:endParaRPr lang="en-US" dirty="0">
              <a:latin typeface="Calibri" pitchFamily="34" charset="0"/>
            </a:endParaRPr>
          </a:p>
          <a:p>
            <a:pPr algn="just"/>
            <a:r>
              <a:rPr lang="en-US" b="1" dirty="0">
                <a:solidFill>
                  <a:srgbClr val="2F1BC7"/>
                </a:solidFill>
                <a:latin typeface="Calibri" pitchFamily="34" charset="0"/>
              </a:rPr>
              <a:t>Data hiding </a:t>
            </a:r>
            <a:r>
              <a:rPr lang="en-US" dirty="0">
                <a:latin typeface="Calibri" pitchFamily="34" charset="0"/>
              </a:rPr>
              <a:t>is </a:t>
            </a:r>
            <a:r>
              <a:rPr lang="en-US" b="1" dirty="0">
                <a:latin typeface="Calibri" pitchFamily="34" charset="0"/>
              </a:rPr>
              <a:t>designed</a:t>
            </a:r>
            <a:r>
              <a:rPr lang="en-US" dirty="0">
                <a:latin typeface="Calibri" pitchFamily="34" charset="0"/>
              </a:rPr>
              <a:t> to </a:t>
            </a:r>
            <a:r>
              <a:rPr lang="en-US" b="1" u="sng" dirty="0">
                <a:latin typeface="Calibri" pitchFamily="34" charset="0"/>
              </a:rPr>
              <a:t>protect well-intentioned programmers</a:t>
            </a:r>
            <a:r>
              <a:rPr lang="en-US" dirty="0">
                <a:latin typeface="Calibri" pitchFamily="34" charset="0"/>
              </a:rPr>
              <a:t> from </a:t>
            </a:r>
            <a:r>
              <a:rPr lang="en-US" b="1" u="sng" dirty="0">
                <a:latin typeface="Calibri" pitchFamily="34" charset="0"/>
              </a:rPr>
              <a:t>mistakes</a:t>
            </a:r>
            <a:r>
              <a:rPr lang="en-US" dirty="0">
                <a:latin typeface="Calibri" pitchFamily="34" charset="0"/>
              </a:rPr>
              <a:t>.</a:t>
            </a:r>
          </a:p>
          <a:p>
            <a:pPr algn="just"/>
            <a:endParaRPr lang="en-US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02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9775" y="28575"/>
            <a:ext cx="8388350" cy="457200"/>
          </a:xfrm>
        </p:spPr>
        <p:txBody>
          <a:bodyPr lIns="92075" tIns="46038" rIns="92075" bIns="46038">
            <a:noAutofit/>
          </a:bodyPr>
          <a:lstStyle/>
          <a:p>
            <a:r>
              <a:rPr lang="en-US" altLang="zh-CN" sz="3200" dirty="0">
                <a:latin typeface="Calibri" pitchFamily="34" charset="0"/>
              </a:rPr>
              <a:t>A Simple Program – </a:t>
            </a:r>
            <a:r>
              <a:rPr lang="en-US" altLang="zh-CN" sz="3200" b="1" dirty="0">
                <a:latin typeface="Calibri" pitchFamily="34" charset="0"/>
              </a:rPr>
              <a:t>Accessing</a:t>
            </a:r>
            <a:r>
              <a:rPr lang="en-US" altLang="zh-CN" sz="3200" dirty="0">
                <a:latin typeface="Calibri" pitchFamily="34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Calibri" pitchFamily="34" charset="0"/>
              </a:rPr>
              <a:t>Member Function</a:t>
            </a:r>
            <a:endParaRPr lang="en-US" altLang="zh-CN" sz="3200" b="1" dirty="0">
              <a:latin typeface="Calibri" pitchFamily="34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669925"/>
            <a:ext cx="5400675" cy="368776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92075" tIns="46038" rIns="92075" bIns="46038"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5.0;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971550" y="3252788"/>
            <a:ext cx="4537075" cy="720725"/>
          </a:xfrm>
          <a:prstGeom prst="rect">
            <a:avLst/>
          </a:prstGeom>
          <a:solidFill>
            <a:schemeClr val="tx2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solidFill>
                <a:srgbClr val="2F1BC7"/>
              </a:solidFill>
            </a:endParaRPr>
          </a:p>
        </p:txBody>
      </p:sp>
      <p:sp>
        <p:nvSpPr>
          <p:cNvPr id="23557" name="Rectangle 11"/>
          <p:cNvSpPr>
            <a:spLocks noChangeArrowheads="1"/>
          </p:cNvSpPr>
          <p:nvPr/>
        </p:nvSpPr>
        <p:spPr bwMode="auto">
          <a:xfrm>
            <a:off x="6732588" y="1003300"/>
            <a:ext cx="1897062" cy="3063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144" tIns="9144" rIns="9144" bIns="9144" anchor="ctr"/>
          <a:lstStyle/>
          <a:p>
            <a:pPr algn="ctr" eaLnBrk="0" hangingPunct="0"/>
            <a:r>
              <a:rPr lang="en-US" sz="2200" dirty="0">
                <a:latin typeface="Calibri" pitchFamily="34" charset="0"/>
              </a:rPr>
              <a:t>Object Instance</a:t>
            </a:r>
          </a:p>
        </p:txBody>
      </p:sp>
      <p:sp>
        <p:nvSpPr>
          <p:cNvPr id="23558" name="Text Box 12"/>
          <p:cNvSpPr txBox="1">
            <a:spLocks noChangeArrowheads="1"/>
          </p:cNvSpPr>
          <p:nvPr/>
        </p:nvSpPr>
        <p:spPr bwMode="auto">
          <a:xfrm>
            <a:off x="6269038" y="917575"/>
            <a:ext cx="576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500" b="1">
                <a:latin typeface="Calibri" pitchFamily="34" charset="0"/>
              </a:rPr>
              <a:t>C1</a:t>
            </a:r>
          </a:p>
        </p:txBody>
      </p:sp>
      <p:grpSp>
        <p:nvGrpSpPr>
          <p:cNvPr id="23559" name="Group 1"/>
          <p:cNvGrpSpPr>
            <a:grpSpLocks/>
          </p:cNvGrpSpPr>
          <p:nvPr/>
        </p:nvGrpSpPr>
        <p:grpSpPr bwMode="auto">
          <a:xfrm>
            <a:off x="6083300" y="1323975"/>
            <a:ext cx="2851150" cy="2116138"/>
            <a:chOff x="6083300" y="1324084"/>
            <a:chExt cx="2851150" cy="2116029"/>
          </a:xfrm>
        </p:grpSpPr>
        <p:graphicFrame>
          <p:nvGraphicFramePr>
            <p:cNvPr id="23564" name="Object 10"/>
            <p:cNvGraphicFramePr>
              <a:graphicFrameLocks noChangeAspect="1"/>
            </p:cNvGraphicFramePr>
            <p:nvPr/>
          </p:nvGraphicFramePr>
          <p:xfrm>
            <a:off x="6083300" y="1957388"/>
            <a:ext cx="2851150" cy="148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2" imgW="1028510" imgH="456439" progId="Word.Picture.8">
                    <p:embed/>
                  </p:oleObj>
                </mc:Choice>
                <mc:Fallback>
                  <p:oleObj name="Picture" r:id="rId2" imgW="1028510" imgH="456439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300" y="1957388"/>
                          <a:ext cx="2851150" cy="1482725"/>
                        </a:xfrm>
                        <a:prstGeom prst="rect">
                          <a:avLst/>
                        </a:prstGeom>
                        <a:solidFill>
                          <a:srgbClr val="CACA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5" name="Line 14"/>
            <p:cNvSpPr>
              <a:spLocks noChangeShapeType="1"/>
            </p:cNvSpPr>
            <p:nvPr/>
          </p:nvSpPr>
          <p:spPr bwMode="auto">
            <a:xfrm flipH="1" flipV="1">
              <a:off x="7308304" y="1324084"/>
              <a:ext cx="360363" cy="86518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4581525"/>
            <a:ext cx="8424862" cy="2082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//C1.radius = 10;    can’t access private member outside the class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955675" y="5942013"/>
            <a:ext cx="4840288" cy="295275"/>
          </a:xfrm>
          <a:prstGeom prst="rect">
            <a:avLst/>
          </a:prstGeom>
          <a:solidFill>
            <a:schemeClr val="tx2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 flipV="1">
            <a:off x="3914775" y="3860800"/>
            <a:ext cx="0" cy="208121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6983" name="AutoShape 7"/>
          <p:cNvSpPr>
            <a:spLocks noChangeArrowheads="1"/>
          </p:cNvSpPr>
          <p:nvPr/>
        </p:nvSpPr>
        <p:spPr bwMode="auto">
          <a:xfrm>
            <a:off x="6732588" y="3717925"/>
            <a:ext cx="1881187" cy="615950"/>
          </a:xfrm>
          <a:prstGeom prst="wedgeRoundRectCallout">
            <a:avLst>
              <a:gd name="adj1" fmla="val 1560"/>
              <a:gd name="adj2" fmla="val -15592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dirty="0">
                <a:latin typeface="Calibri" pitchFamily="34" charset="0"/>
              </a:rPr>
              <a:t>Allocate memory for radius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674" y="533401"/>
            <a:ext cx="8188325" cy="6750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078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16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44450"/>
            <a:ext cx="7993062" cy="457200"/>
          </a:xfrm>
        </p:spPr>
        <p:txBody>
          <a:bodyPr lIns="92075" tIns="46038" rIns="92075" bIns="46038">
            <a:normAutofit fontScale="90000"/>
          </a:bodyPr>
          <a:lstStyle/>
          <a:p>
            <a:r>
              <a:rPr lang="en-US" altLang="zh-CN" sz="3200" b="1" dirty="0">
                <a:latin typeface="Calibri" pitchFamily="34" charset="0"/>
              </a:rPr>
              <a:t>A Simple Program – </a:t>
            </a:r>
            <a:r>
              <a:rPr lang="en-US" altLang="zh-CN" sz="3200" b="1" i="1" dirty="0">
                <a:solidFill>
                  <a:srgbClr val="FF0000"/>
                </a:solidFill>
                <a:latin typeface="Calibri" pitchFamily="34" charset="0"/>
              </a:rPr>
              <a:t>Default Constructor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669925"/>
            <a:ext cx="5400675" cy="3687763"/>
          </a:xfrm>
          <a:solidFill>
            <a:schemeClr val="accent1">
              <a:lumMod val="40000"/>
              <a:lumOff val="60000"/>
            </a:schemeClr>
          </a:solidFill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955675" y="2527300"/>
            <a:ext cx="3095625" cy="438150"/>
          </a:xfrm>
          <a:prstGeom prst="rect">
            <a:avLst/>
          </a:prstGeom>
          <a:solidFill>
            <a:schemeClr val="bg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// No Constructor Here</a:t>
            </a:r>
            <a:endParaRPr lang="en-US" sz="2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320" name="Rectangle 11"/>
          <p:cNvSpPr>
            <a:spLocks noChangeArrowheads="1"/>
          </p:cNvSpPr>
          <p:nvPr/>
        </p:nvSpPr>
        <p:spPr bwMode="auto">
          <a:xfrm>
            <a:off x="6757485" y="991750"/>
            <a:ext cx="1897063" cy="3063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144" tIns="9144" rIns="9144" bIns="9144" anchor="ctr"/>
          <a:lstStyle/>
          <a:p>
            <a:pPr algn="ctr" eaLnBrk="0" hangingPunct="0"/>
            <a:r>
              <a:rPr lang="en-US" sz="2200" dirty="0">
                <a:latin typeface="Calibri" pitchFamily="34" charset="0"/>
              </a:rPr>
              <a:t>Object Instance</a:t>
            </a:r>
          </a:p>
        </p:txBody>
      </p:sp>
      <p:sp>
        <p:nvSpPr>
          <p:cNvPr id="13321" name="Text Box 12"/>
          <p:cNvSpPr txBox="1">
            <a:spLocks noChangeArrowheads="1"/>
          </p:cNvSpPr>
          <p:nvPr/>
        </p:nvSpPr>
        <p:spPr bwMode="auto">
          <a:xfrm>
            <a:off x="6284913" y="901700"/>
            <a:ext cx="576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500" b="1">
                <a:latin typeface="Calibri" pitchFamily="34" charset="0"/>
              </a:rPr>
              <a:t>C1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4581525"/>
            <a:ext cx="8424862" cy="2082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//C1.radius = 10;      can’t access private member outside the class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955675" y="5268913"/>
            <a:ext cx="3592513" cy="295275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 flipV="1">
            <a:off x="3930650" y="2965450"/>
            <a:ext cx="0" cy="240506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64728" y="2213576"/>
            <a:ext cx="3851275" cy="857823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en-US" altLang="zh-CN" sz="2000" b="1" dirty="0">
                <a:latin typeface="Calibri" pitchFamily="34" charset="0"/>
              </a:rPr>
              <a:t>//Default Constructor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latin typeface="Calibri" pitchFamily="34" charset="0"/>
              </a:rPr>
              <a:t>Circle()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 dirty="0">
                <a:latin typeface="Calibri" pitchFamily="34" charset="0"/>
              </a:rPr>
              <a:t>{  	    }</a:t>
            </a: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6083300" y="1270000"/>
            <a:ext cx="2851150" cy="2116138"/>
            <a:chOff x="6083300" y="1324084"/>
            <a:chExt cx="2851150" cy="2116029"/>
          </a:xfrm>
        </p:grpSpPr>
        <p:graphicFrame>
          <p:nvGraphicFramePr>
            <p:cNvPr id="24589" name="Object 10"/>
            <p:cNvGraphicFramePr>
              <a:graphicFrameLocks noChangeAspect="1"/>
            </p:cNvGraphicFramePr>
            <p:nvPr/>
          </p:nvGraphicFramePr>
          <p:xfrm>
            <a:off x="6083300" y="1957388"/>
            <a:ext cx="2851150" cy="148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2" imgW="1028510" imgH="456439" progId="Word.Picture.8">
                    <p:embed/>
                  </p:oleObj>
                </mc:Choice>
                <mc:Fallback>
                  <p:oleObj name="Picture" r:id="rId2" imgW="1028510" imgH="456439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300" y="1957388"/>
                          <a:ext cx="2851150" cy="1482725"/>
                        </a:xfrm>
                        <a:prstGeom prst="rect">
                          <a:avLst/>
                        </a:prstGeom>
                        <a:solidFill>
                          <a:srgbClr val="CACA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 flipH="1" flipV="1">
              <a:off x="7308304" y="1324084"/>
              <a:ext cx="360363" cy="86518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AutoShape 7"/>
          <p:cNvSpPr>
            <a:spLocks noChangeArrowheads="1"/>
          </p:cNvSpPr>
          <p:nvPr/>
        </p:nvSpPr>
        <p:spPr bwMode="auto">
          <a:xfrm>
            <a:off x="6732588" y="3789363"/>
            <a:ext cx="1881187" cy="615950"/>
          </a:xfrm>
          <a:prstGeom prst="wedgeRoundRectCallout">
            <a:avLst>
              <a:gd name="adj1" fmla="val 1560"/>
              <a:gd name="adj2" fmla="val -15592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dirty="0">
                <a:latin typeface="Calibri" pitchFamily="34" charset="0"/>
              </a:rPr>
              <a:t>Allocate memory for radius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674" y="533401"/>
            <a:ext cx="8188325" cy="6750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037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17" grpId="1" animBg="1"/>
      <p:bldP spid="13320" grpId="0" animBg="1"/>
      <p:bldP spid="13321" grpId="0"/>
      <p:bldP spid="13316" grpId="0" animBg="1"/>
      <p:bldP spid="13" grpId="0" animBg="1"/>
      <p:bldP spid="11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1849" y="-1588"/>
            <a:ext cx="8240713" cy="9464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</a:rPr>
              <a:t>Object Construction with Arguments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07950" y="1268413"/>
            <a:ext cx="8964613" cy="47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800" dirty="0">
                <a:latin typeface="Calibri" pitchFamily="34" charset="0"/>
              </a:rPr>
              <a:t>The syntax to declare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</a:rPr>
              <a:t>an object using a constructor </a:t>
            </a:r>
            <a:r>
              <a:rPr lang="en-US" sz="2800" b="1" u="sng" dirty="0">
                <a:solidFill>
                  <a:srgbClr val="2C14DE"/>
                </a:solidFill>
                <a:latin typeface="Calibri" pitchFamily="34" charset="0"/>
              </a:rPr>
              <a:t>with arguments</a:t>
            </a:r>
            <a:r>
              <a:rPr lang="en-US" sz="2800" dirty="0">
                <a:latin typeface="Calibri" pitchFamily="34" charset="0"/>
              </a:rPr>
              <a:t> is:</a:t>
            </a:r>
          </a:p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  <a:defRPr/>
            </a:pPr>
            <a:endParaRPr lang="en-US" sz="2800" u="sng" dirty="0">
              <a:latin typeface="Calibri" pitchFamily="34" charset="0"/>
            </a:endParaRPr>
          </a:p>
          <a:p>
            <a:pPr algn="ctr">
              <a:spcBef>
                <a:spcPct val="20000"/>
              </a:spcBef>
              <a:buClr>
                <a:srgbClr val="00007D"/>
              </a:buClr>
              <a:buSzPct val="75000"/>
              <a:defRPr/>
            </a:pPr>
            <a:r>
              <a:rPr lang="en-US" sz="2800" b="1" i="1" dirty="0" err="1">
                <a:solidFill>
                  <a:srgbClr val="FF0000"/>
                </a:solidFill>
                <a:latin typeface="Calibri" pitchFamily="34" charset="0"/>
              </a:rPr>
              <a:t>ClassName</a:t>
            </a:r>
            <a:r>
              <a:rPr lang="en-US" sz="2800" b="1" i="1" dirty="0">
                <a:solidFill>
                  <a:srgbClr val="FF0000"/>
                </a:solidFill>
                <a:latin typeface="Calibri" pitchFamily="34" charset="0"/>
              </a:rPr>
              <a:t>     </a:t>
            </a:r>
            <a:r>
              <a:rPr lang="en-US" sz="2800" b="1" i="1" dirty="0" err="1">
                <a:solidFill>
                  <a:srgbClr val="FF0000"/>
                </a:solidFill>
                <a:latin typeface="Calibri" pitchFamily="34" charset="0"/>
              </a:rPr>
              <a:t>objectName</a:t>
            </a:r>
            <a:r>
              <a:rPr lang="en-US" sz="2800" b="1" i="1" dirty="0">
                <a:solidFill>
                  <a:srgbClr val="FF0000"/>
                </a:solidFill>
                <a:latin typeface="Calibri" pitchFamily="34" charset="0"/>
              </a:rPr>
              <a:t>(arguments);</a:t>
            </a:r>
          </a:p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  <a:defRPr/>
            </a:pPr>
            <a:endParaRPr lang="en-US" sz="2800" u="sng" dirty="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800" dirty="0">
                <a:latin typeface="Calibri" pitchFamily="34" charset="0"/>
              </a:rPr>
              <a:t>For example, the </a:t>
            </a:r>
            <a:r>
              <a:rPr lang="en-US" sz="2800" b="1" dirty="0">
                <a:latin typeface="Calibri" pitchFamily="34" charset="0"/>
              </a:rPr>
              <a:t>following declaration creates an object </a:t>
            </a:r>
            <a:r>
              <a:rPr lang="en-US" sz="2800" dirty="0">
                <a:latin typeface="Calibri" pitchFamily="34" charset="0"/>
              </a:rPr>
              <a:t>named </a:t>
            </a:r>
            <a:r>
              <a:rPr lang="en-US" sz="2800" b="1" i="1" dirty="0">
                <a:latin typeface="Calibri" pitchFamily="34" charset="0"/>
              </a:rPr>
              <a:t>circle1</a:t>
            </a:r>
            <a:r>
              <a:rPr lang="en-US" sz="2800" dirty="0">
                <a:latin typeface="Calibri" pitchFamily="34" charset="0"/>
              </a:rPr>
              <a:t> by invoking the </a:t>
            </a:r>
            <a:r>
              <a:rPr lang="en-US" sz="2800" b="1" i="1" dirty="0">
                <a:latin typeface="Calibri" pitchFamily="34" charset="0"/>
              </a:rPr>
              <a:t>Circle</a:t>
            </a:r>
            <a:r>
              <a:rPr lang="en-US" sz="2800" dirty="0">
                <a:latin typeface="Calibri" pitchFamily="34" charset="0"/>
              </a:rPr>
              <a:t> class’s </a:t>
            </a:r>
            <a:r>
              <a:rPr lang="en-US" sz="2800" b="1" dirty="0">
                <a:latin typeface="Calibri" pitchFamily="34" charset="0"/>
              </a:rPr>
              <a:t>constructor</a:t>
            </a:r>
            <a:r>
              <a:rPr lang="en-US" sz="2800" dirty="0">
                <a:latin typeface="Calibri" pitchFamily="34" charset="0"/>
              </a:rPr>
              <a:t> with a specified radius </a:t>
            </a:r>
            <a:r>
              <a:rPr lang="en-US" sz="2800" b="1" i="1" dirty="0">
                <a:latin typeface="Calibri" pitchFamily="34" charset="0"/>
              </a:rPr>
              <a:t>5.5</a:t>
            </a:r>
            <a:r>
              <a:rPr lang="en-US" sz="2800" dirty="0">
                <a:latin typeface="Calibri" pitchFamily="34" charset="0"/>
              </a:rPr>
              <a:t>.</a:t>
            </a:r>
          </a:p>
          <a:p>
            <a:pPr>
              <a:defRPr/>
            </a:pPr>
            <a:endParaRPr lang="en-US" sz="2800" u="sng" dirty="0">
              <a:latin typeface="Calibri" pitchFamily="34" charset="0"/>
            </a:endParaRPr>
          </a:p>
          <a:p>
            <a:pPr algn="ctr">
              <a:defRPr/>
            </a:pPr>
            <a:r>
              <a:rPr lang="en-US" sz="2800" b="1" dirty="0">
                <a:latin typeface="Consolas" panose="020B0609020204030204" pitchFamily="49" charset="0"/>
              </a:rPr>
              <a:t>Circle   circle1(5.5);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67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71550" y="54066"/>
            <a:ext cx="8172450" cy="547596"/>
          </a:xfrm>
        </p:spPr>
        <p:txBody>
          <a:bodyPr lIns="92075" tIns="46038" rIns="92075" bIns="46038">
            <a:noAutofit/>
          </a:bodyPr>
          <a:lstStyle/>
          <a:p>
            <a:r>
              <a:rPr lang="en-US" altLang="zh-CN" sz="2800" b="1" dirty="0">
                <a:latin typeface="Calibri" pitchFamily="34" charset="0"/>
              </a:rPr>
              <a:t>A Simple Program – </a:t>
            </a:r>
            <a:r>
              <a:rPr lang="en-US" altLang="zh-CN" sz="2800" b="1" i="1" dirty="0">
                <a:solidFill>
                  <a:srgbClr val="FF0000"/>
                </a:solidFill>
                <a:latin typeface="Calibri" pitchFamily="34" charset="0"/>
              </a:rPr>
              <a:t>Constructor with Arguments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669925"/>
            <a:ext cx="5400675" cy="368776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public: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000" b="1" dirty="0">
                <a:latin typeface="Calibri" pitchFamily="34" charset="0"/>
              </a:rPr>
              <a:t>	Circle( ) {}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Circle(double rad)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rad;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835025" y="2404683"/>
            <a:ext cx="3095625" cy="719138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Rectangle 11"/>
          <p:cNvSpPr>
            <a:spLocks noChangeArrowheads="1"/>
          </p:cNvSpPr>
          <p:nvPr/>
        </p:nvSpPr>
        <p:spPr bwMode="auto">
          <a:xfrm>
            <a:off x="6716712" y="901700"/>
            <a:ext cx="1897063" cy="409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144" tIns="9144" rIns="9144" bIns="9144" anchor="ctr"/>
          <a:lstStyle/>
          <a:p>
            <a:pPr algn="ctr" eaLnBrk="0" hangingPunct="0"/>
            <a:r>
              <a:rPr lang="en-US" sz="2200" dirty="0">
                <a:latin typeface="Calibri" pitchFamily="34" charset="0"/>
              </a:rPr>
              <a:t>Object Instance</a:t>
            </a:r>
          </a:p>
        </p:txBody>
      </p:sp>
      <p:sp>
        <p:nvSpPr>
          <p:cNvPr id="13321" name="Text Box 12"/>
          <p:cNvSpPr txBox="1">
            <a:spLocks noChangeArrowheads="1"/>
          </p:cNvSpPr>
          <p:nvPr/>
        </p:nvSpPr>
        <p:spPr bwMode="auto">
          <a:xfrm>
            <a:off x="6284913" y="901700"/>
            <a:ext cx="576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500" b="1" dirty="0">
                <a:latin typeface="Calibri" pitchFamily="34" charset="0"/>
              </a:rPr>
              <a:t>C1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6083300" y="1323975"/>
            <a:ext cx="2851150" cy="2116138"/>
            <a:chOff x="6083300" y="1324084"/>
            <a:chExt cx="2851150" cy="2116029"/>
          </a:xfrm>
        </p:grpSpPr>
        <p:graphicFrame>
          <p:nvGraphicFramePr>
            <p:cNvPr id="26636" name="Object 10"/>
            <p:cNvGraphicFramePr>
              <a:graphicFrameLocks noChangeAspect="1"/>
            </p:cNvGraphicFramePr>
            <p:nvPr/>
          </p:nvGraphicFramePr>
          <p:xfrm>
            <a:off x="6083300" y="1957388"/>
            <a:ext cx="2851150" cy="148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2" imgW="1028510" imgH="456439" progId="Word.Picture.8">
                    <p:embed/>
                  </p:oleObj>
                </mc:Choice>
                <mc:Fallback>
                  <p:oleObj name="Picture" r:id="rId2" imgW="1028510" imgH="456439" progId="Word.Pictur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300" y="1957388"/>
                          <a:ext cx="2851150" cy="1482725"/>
                        </a:xfrm>
                        <a:prstGeom prst="rect">
                          <a:avLst/>
                        </a:prstGeom>
                        <a:solidFill>
                          <a:srgbClr val="CACA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7" name="Line 14"/>
            <p:cNvSpPr>
              <a:spLocks noChangeShapeType="1"/>
            </p:cNvSpPr>
            <p:nvPr/>
          </p:nvSpPr>
          <p:spPr bwMode="auto">
            <a:xfrm flipH="1" flipV="1">
              <a:off x="7308304" y="1324084"/>
              <a:ext cx="360363" cy="86518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11188" y="4581525"/>
            <a:ext cx="8424862" cy="2082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C1(9.0);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//C1.radius = 10;      can’t access private member outside the class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955675" y="5268913"/>
            <a:ext cx="3592513" cy="295275"/>
          </a:xfrm>
          <a:prstGeom prst="rect">
            <a:avLst/>
          </a:prstGeom>
          <a:solidFill>
            <a:schemeClr val="accent3">
              <a:lumMod val="40000"/>
              <a:lumOff val="6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H="1" flipV="1">
            <a:off x="3930650" y="2965450"/>
            <a:ext cx="0" cy="240506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6983" name="AutoShape 7"/>
          <p:cNvSpPr>
            <a:spLocks noChangeArrowheads="1"/>
          </p:cNvSpPr>
          <p:nvPr/>
        </p:nvSpPr>
        <p:spPr bwMode="auto">
          <a:xfrm>
            <a:off x="6732588" y="3717925"/>
            <a:ext cx="1881187" cy="615950"/>
          </a:xfrm>
          <a:prstGeom prst="wedgeRoundRectCallout">
            <a:avLst>
              <a:gd name="adj1" fmla="val 1560"/>
              <a:gd name="adj2" fmla="val -15592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dirty="0">
                <a:latin typeface="Calibri" pitchFamily="34" charset="0"/>
              </a:rPr>
              <a:t>Allocate memory for radius</a:t>
            </a:r>
          </a:p>
        </p:txBody>
      </p:sp>
    </p:spTree>
    <p:extLst>
      <p:ext uri="{BB962C8B-B14F-4D97-AF65-F5344CB8AC3E}">
        <p14:creationId xmlns:p14="http://schemas.microsoft.com/office/powerpoint/2010/main" val="9416154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6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20" grpId="0" animBg="1"/>
      <p:bldP spid="13321" grpId="0"/>
      <p:bldP spid="13316" grpId="0" animBg="1"/>
      <p:bldP spid="13" grpId="0" animBg="1"/>
      <p:bldP spid="76698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44450"/>
            <a:ext cx="8167687" cy="717550"/>
          </a:xfrm>
        </p:spPr>
        <p:txBody>
          <a:bodyPr lIns="92075" tIns="46038" rIns="92075" bIns="46038">
            <a:normAutofit/>
          </a:bodyPr>
          <a:lstStyle/>
          <a:p>
            <a:r>
              <a:rPr lang="en-US" altLang="zh-CN" sz="3200" b="1" u="sng" dirty="0">
                <a:solidFill>
                  <a:srgbClr val="B80000"/>
                </a:solidFill>
                <a:latin typeface="Calibri" pitchFamily="34" charset="0"/>
              </a:rPr>
              <a:t>Output of the following Program?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52600" y="762000"/>
            <a:ext cx="5400675" cy="4068763"/>
          </a:xfrm>
          <a:solidFill>
            <a:schemeClr val="accent5">
              <a:lumMod val="20000"/>
              <a:lumOff val="80000"/>
            </a:schemeClr>
          </a:solidFill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000" b="1">
                <a:latin typeface="Calibri" pitchFamily="34" charset="0"/>
              </a:rPr>
              <a:t>	//Circle</a:t>
            </a:r>
            <a:r>
              <a:rPr lang="en-US" altLang="zh-CN" sz="2000" b="1" dirty="0">
                <a:latin typeface="Calibri" pitchFamily="34" charset="0"/>
              </a:rPr>
              <a:t>( ) {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</a:t>
            </a:r>
            <a:r>
              <a:rPr lang="en-US" altLang="zh-CN" sz="2400" b="1" dirty="0">
                <a:latin typeface="Calibri" pitchFamily="34" charset="0"/>
              </a:rPr>
              <a:t>Circle(double rad)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rad;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447800" y="5029200"/>
            <a:ext cx="6481763" cy="1657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</a:t>
            </a:r>
            <a:r>
              <a:rPr lang="en-US" altLang="zh-CN" sz="2200" b="1" dirty="0">
                <a:solidFill>
                  <a:srgbClr val="C00000"/>
                </a:solidFill>
                <a:latin typeface="Calibri" pitchFamily="34" charset="0"/>
              </a:rPr>
              <a:t>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744696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 err="1">
                <a:solidFill>
                  <a:srgbClr val="D20000"/>
                </a:solidFill>
              </a:rPr>
              <a:t>const</a:t>
            </a:r>
            <a:r>
              <a:rPr lang="en-US" b="1" dirty="0">
                <a:solidFill>
                  <a:srgbClr val="D20000"/>
                </a:solidFill>
              </a:rPr>
              <a:t> Member Functions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-36444" y="944881"/>
            <a:ext cx="9144000" cy="5638800"/>
          </a:xfrm>
        </p:spPr>
        <p:txBody>
          <a:bodyPr/>
          <a:lstStyle/>
          <a:p>
            <a:r>
              <a:rPr lang="en-US" sz="3000" b="1" dirty="0" err="1">
                <a:solidFill>
                  <a:srgbClr val="D20000"/>
                </a:solidFill>
              </a:rPr>
              <a:t>const</a:t>
            </a:r>
            <a:r>
              <a:rPr lang="en-US" sz="3000" b="1" dirty="0">
                <a:solidFill>
                  <a:srgbClr val="D20000"/>
                </a:solidFill>
              </a:rPr>
              <a:t> Member Functions: </a:t>
            </a:r>
            <a:r>
              <a:rPr lang="en-US" sz="3000" b="1" dirty="0">
                <a:solidFill>
                  <a:srgbClr val="2C14DE"/>
                </a:solidFill>
              </a:rPr>
              <a:t>Read-only </a:t>
            </a:r>
            <a:r>
              <a:rPr lang="en-US" sz="3000" b="1" dirty="0"/>
              <a:t>functions </a:t>
            </a:r>
            <a:r>
              <a:rPr lang="en-US" sz="3000" b="1" dirty="0">
                <a:solidFill>
                  <a:srgbClr val="2C14DE"/>
                </a:solidFill>
              </a:rPr>
              <a:t>cannot modify</a:t>
            </a:r>
            <a:r>
              <a:rPr lang="en-US" sz="3000" b="1" dirty="0"/>
              <a:t> object’s </a:t>
            </a:r>
            <a:r>
              <a:rPr lang="en-US" sz="3000" b="1" dirty="0">
                <a:solidFill>
                  <a:srgbClr val="2C14DE"/>
                </a:solidFill>
              </a:rPr>
              <a:t>data members</a:t>
            </a:r>
          </a:p>
          <a:p>
            <a:endParaRPr lang="en-US" sz="3000" b="1" dirty="0">
              <a:solidFill>
                <a:srgbClr val="2C14DE"/>
              </a:solidFill>
            </a:endParaRPr>
          </a:p>
          <a:p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52057"/>
          <a:stretch/>
        </p:blipFill>
        <p:spPr>
          <a:xfrm>
            <a:off x="533400" y="2438400"/>
            <a:ext cx="8235888" cy="63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91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44450"/>
            <a:ext cx="8167687" cy="457200"/>
          </a:xfrm>
        </p:spPr>
        <p:txBody>
          <a:bodyPr lIns="92075" tIns="46038" rIns="92075" bIns="46038">
            <a:normAutofit fontScale="90000"/>
          </a:bodyPr>
          <a:lstStyle/>
          <a:p>
            <a:r>
              <a:rPr lang="en-US" altLang="zh-CN" sz="3200" b="1" u="sng" dirty="0">
                <a:solidFill>
                  <a:srgbClr val="B80000"/>
                </a:solidFill>
                <a:latin typeface="Calibri" pitchFamily="34" charset="0"/>
              </a:rPr>
              <a:t>Constant Functions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06588" y="630238"/>
            <a:ext cx="5402262" cy="4151312"/>
          </a:xfrm>
          <a:solidFill>
            <a:schemeClr val="accent5">
              <a:lumMod val="20000"/>
              <a:lumOff val="80000"/>
            </a:schemeClr>
          </a:solidFill>
        </p:spPr>
        <p:txBody>
          <a:bodyPr lIns="92075" tIns="46038" rIns="92075" bIns="46038"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class  Circle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private: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   double radius;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	public: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Circle 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{    radius = 1;    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</a:t>
            </a:r>
            <a:r>
              <a:rPr lang="en-US" altLang="zh-CN" sz="2400" b="1" dirty="0">
                <a:latin typeface="Calibri" pitchFamily="34" charset="0"/>
              </a:rPr>
              <a:t>Circle(double rad)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Calibri" pitchFamily="34" charset="0"/>
              </a:rPr>
              <a:t>	{  	radius = rad;    }</a:t>
            </a:r>
            <a:endParaRPr lang="en-US" altLang="zh-CN" sz="2200" b="1" dirty="0"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double   </a:t>
            </a:r>
            <a:r>
              <a:rPr lang="en-US" altLang="zh-CN" sz="2200" b="1" dirty="0" err="1">
                <a:latin typeface="Calibri" pitchFamily="34" charset="0"/>
              </a:rPr>
              <a:t>getArea</a:t>
            </a:r>
            <a:r>
              <a:rPr lang="en-US" altLang="zh-CN" sz="2200" b="1" dirty="0">
                <a:latin typeface="Calibri" pitchFamily="34" charset="0"/>
              </a:rPr>
              <a:t>() </a:t>
            </a:r>
            <a:r>
              <a:rPr lang="en-US" altLang="zh-CN" sz="2200" b="1" dirty="0" err="1">
                <a:solidFill>
                  <a:srgbClr val="2C14DE"/>
                </a:solidFill>
                <a:latin typeface="Calibri" pitchFamily="34" charset="0"/>
              </a:rPr>
              <a:t>const</a:t>
            </a:r>
            <a:endParaRPr lang="en-US" altLang="zh-CN" sz="2200" b="1" dirty="0">
              <a:solidFill>
                <a:srgbClr val="2C14DE"/>
              </a:solidFill>
              <a:latin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{  return radius *  radius  *  3.14159;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};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403350" y="4829175"/>
            <a:ext cx="6481763" cy="19685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void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Circle      C2(8.0);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	  Circle     C1;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       </a:t>
            </a:r>
            <a:r>
              <a:rPr lang="en-US" altLang="zh-CN" sz="2200" b="1" dirty="0" err="1">
                <a:latin typeface="Calibri" pitchFamily="34" charset="0"/>
              </a:rPr>
              <a:t>cout</a:t>
            </a:r>
            <a:r>
              <a:rPr lang="en-US" altLang="zh-CN" sz="2200" b="1" dirty="0">
                <a:latin typeface="Calibri" pitchFamily="34" charset="0"/>
              </a:rPr>
              <a:t>&lt;&lt;“Area of circle = “&lt;&lt;C1.getArea();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b="1" dirty="0">
                <a:latin typeface="Calibri" pitchFamily="34" charset="0"/>
              </a:rPr>
              <a:t>}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268538" y="2276475"/>
            <a:ext cx="3095625" cy="1439863"/>
          </a:xfrm>
          <a:prstGeom prst="rect">
            <a:avLst/>
          </a:prstGeom>
          <a:solidFill>
            <a:schemeClr val="accent2">
              <a:lumMod val="20000"/>
              <a:lumOff val="80000"/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3925888" y="3184525"/>
            <a:ext cx="2940050" cy="2474913"/>
          </a:xfrm>
          <a:custGeom>
            <a:avLst/>
            <a:gdLst>
              <a:gd name="connsiteX0" fmla="*/ 0 w 2940650"/>
              <a:gd name="connsiteY0" fmla="*/ 2475187 h 2475187"/>
              <a:gd name="connsiteX1" fmla="*/ 2932386 w 2940650"/>
              <a:gd name="connsiteY1" fmla="*/ 1119352 h 2475187"/>
              <a:gd name="connsiteX2" fmla="*/ 709448 w 2940650"/>
              <a:gd name="connsiteY2" fmla="*/ 0 h 2475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0650" h="2475187">
                <a:moveTo>
                  <a:pt x="0" y="2475187"/>
                </a:moveTo>
                <a:cubicBezTo>
                  <a:pt x="1407072" y="2003535"/>
                  <a:pt x="2814145" y="1531883"/>
                  <a:pt x="2932386" y="1119352"/>
                </a:cubicBezTo>
                <a:cubicBezTo>
                  <a:pt x="3050627" y="706821"/>
                  <a:pt x="1880037" y="353410"/>
                  <a:pt x="709448" y="0"/>
                </a:cubicBezTo>
              </a:path>
            </a:pathLst>
          </a:cu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389313" y="2362200"/>
            <a:ext cx="3879850" cy="3660775"/>
          </a:xfrm>
          <a:custGeom>
            <a:avLst/>
            <a:gdLst>
              <a:gd name="connsiteX0" fmla="*/ 31531 w 3879517"/>
              <a:gd name="connsiteY0" fmla="*/ 3659580 h 3659580"/>
              <a:gd name="connsiteX1" fmla="*/ 3263462 w 3879517"/>
              <a:gd name="connsiteY1" fmla="*/ 2760945 h 3659580"/>
              <a:gd name="connsiteX2" fmla="*/ 3736428 w 3879517"/>
              <a:gd name="connsiteY2" fmla="*/ 1436642 h 3659580"/>
              <a:gd name="connsiteX3" fmla="*/ 1529255 w 3879517"/>
              <a:gd name="connsiteY3" fmla="*/ 128104 h 3659580"/>
              <a:gd name="connsiteX4" fmla="*/ 0 w 3879517"/>
              <a:gd name="connsiteY4" fmla="*/ 49276 h 3659580"/>
              <a:gd name="connsiteX5" fmla="*/ 0 w 3879517"/>
              <a:gd name="connsiteY5" fmla="*/ 49276 h 365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9517" h="3659580">
                <a:moveTo>
                  <a:pt x="31531" y="3659580"/>
                </a:moveTo>
                <a:cubicBezTo>
                  <a:pt x="1338755" y="3395507"/>
                  <a:pt x="2645979" y="3131435"/>
                  <a:pt x="3263462" y="2760945"/>
                </a:cubicBezTo>
                <a:cubicBezTo>
                  <a:pt x="3880945" y="2390455"/>
                  <a:pt x="4025462" y="1875449"/>
                  <a:pt x="3736428" y="1436642"/>
                </a:cubicBezTo>
                <a:cubicBezTo>
                  <a:pt x="3447394" y="997835"/>
                  <a:pt x="2151993" y="359332"/>
                  <a:pt x="1529255" y="128104"/>
                </a:cubicBezTo>
                <a:cubicBezTo>
                  <a:pt x="906517" y="-103124"/>
                  <a:pt x="0" y="49276"/>
                  <a:pt x="0" y="49276"/>
                </a:cubicBezTo>
                <a:lnTo>
                  <a:pt x="0" y="49276"/>
                </a:lnTo>
              </a:path>
            </a:pathLst>
          </a:cu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6665912" y="3378597"/>
            <a:ext cx="2438401" cy="158472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const</a:t>
            </a:r>
            <a:r>
              <a:rPr lang="en-US" sz="2400" b="1" dirty="0"/>
              <a:t> member function </a:t>
            </a:r>
            <a:r>
              <a:rPr lang="en-US" sz="2400" b="1" dirty="0">
                <a:solidFill>
                  <a:srgbClr val="D20000"/>
                </a:solidFill>
              </a:rPr>
              <a:t>cannot update/change object’s data</a:t>
            </a:r>
          </a:p>
        </p:txBody>
      </p:sp>
    </p:spTree>
    <p:extLst>
      <p:ext uri="{BB962C8B-B14F-4D97-AF65-F5344CB8AC3E}">
        <p14:creationId xmlns:p14="http://schemas.microsoft.com/office/powerpoint/2010/main" val="1953871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39756" y="0"/>
            <a:ext cx="9104244" cy="944881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D20000"/>
                </a:solidFill>
              </a:rPr>
              <a:t>Accessors</a:t>
            </a:r>
            <a:r>
              <a:rPr lang="en-US" sz="3600" b="1" dirty="0">
                <a:solidFill>
                  <a:srgbClr val="D20000"/>
                </a:solidFill>
              </a:rPr>
              <a:t> and </a:t>
            </a:r>
            <a:r>
              <a:rPr lang="en-US" sz="3600" b="1" dirty="0" err="1">
                <a:solidFill>
                  <a:srgbClr val="D20000"/>
                </a:solidFill>
              </a:rPr>
              <a:t>Mutators</a:t>
            </a:r>
            <a:r>
              <a:rPr lang="en-US" sz="3600" b="1" dirty="0">
                <a:solidFill>
                  <a:srgbClr val="D20000"/>
                </a:solidFill>
              </a:rPr>
              <a:t>(Getters &amp; Setters)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-36444" y="944881"/>
            <a:ext cx="9144000" cy="5638800"/>
          </a:xfrm>
        </p:spPr>
        <p:txBody>
          <a:bodyPr/>
          <a:lstStyle/>
          <a:p>
            <a:r>
              <a:rPr lang="en-US" sz="3000" b="1" dirty="0" err="1">
                <a:solidFill>
                  <a:srgbClr val="D20000"/>
                </a:solidFill>
              </a:rPr>
              <a:t>Accessors</a:t>
            </a:r>
            <a:r>
              <a:rPr lang="en-US" sz="3000" b="1" dirty="0">
                <a:solidFill>
                  <a:srgbClr val="D20000"/>
                </a:solidFill>
              </a:rPr>
              <a:t>:</a:t>
            </a:r>
            <a:r>
              <a:rPr lang="en-US" sz="3000" dirty="0"/>
              <a:t> </a:t>
            </a:r>
            <a:r>
              <a:rPr lang="en-US" sz="3000" b="1" dirty="0"/>
              <a:t>member function </a:t>
            </a:r>
            <a:r>
              <a:rPr lang="en-US" sz="3000" dirty="0"/>
              <a:t>only </a:t>
            </a:r>
            <a:r>
              <a:rPr lang="en-US" sz="3000" b="1" dirty="0">
                <a:solidFill>
                  <a:srgbClr val="2C14DE"/>
                </a:solidFill>
              </a:rPr>
              <a:t>reads/gets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b="1" dirty="0">
                <a:solidFill>
                  <a:srgbClr val="2C14DE"/>
                </a:solidFill>
              </a:rPr>
              <a:t>value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dirty="0"/>
              <a:t>from a </a:t>
            </a:r>
            <a:r>
              <a:rPr lang="en-US" sz="3000" b="1" dirty="0">
                <a:solidFill>
                  <a:srgbClr val="2C14DE"/>
                </a:solidFill>
              </a:rPr>
              <a:t>class’s member variable </a:t>
            </a:r>
            <a:r>
              <a:rPr lang="en-US" sz="3000" dirty="0"/>
              <a:t>but </a:t>
            </a:r>
            <a:r>
              <a:rPr lang="en-US" sz="3000" b="1" u="sng" dirty="0">
                <a:solidFill>
                  <a:srgbClr val="2C14DE"/>
                </a:solidFill>
              </a:rPr>
              <a:t>does not change it</a:t>
            </a:r>
            <a:r>
              <a:rPr lang="en-US" sz="3000" b="1" dirty="0">
                <a:solidFill>
                  <a:srgbClr val="2C14DE"/>
                </a:solidFill>
              </a:rPr>
              <a:t>.</a:t>
            </a:r>
          </a:p>
          <a:p>
            <a:r>
              <a:rPr lang="en-US" sz="3000" b="1" dirty="0" err="1">
                <a:solidFill>
                  <a:srgbClr val="D20000"/>
                </a:solidFill>
              </a:rPr>
              <a:t>Mutators</a:t>
            </a:r>
            <a:r>
              <a:rPr lang="en-US" sz="3000" b="1" dirty="0">
                <a:solidFill>
                  <a:srgbClr val="D20000"/>
                </a:solidFill>
              </a:rPr>
              <a:t>:</a:t>
            </a:r>
            <a:r>
              <a:rPr lang="en-US" sz="3000" dirty="0"/>
              <a:t> </a:t>
            </a:r>
            <a:r>
              <a:rPr lang="en-US" sz="3000" b="1" dirty="0"/>
              <a:t>member function </a:t>
            </a:r>
            <a:r>
              <a:rPr lang="en-US" sz="3000" dirty="0"/>
              <a:t>that </a:t>
            </a:r>
            <a:r>
              <a:rPr lang="en-US" sz="3000" b="1" dirty="0">
                <a:solidFill>
                  <a:srgbClr val="2C14DE"/>
                </a:solidFill>
              </a:rPr>
              <a:t>stores a value </a:t>
            </a:r>
            <a:r>
              <a:rPr lang="en-US" sz="3000" dirty="0"/>
              <a:t>in </a:t>
            </a:r>
            <a:r>
              <a:rPr lang="en-US" sz="3000" b="1" dirty="0">
                <a:solidFill>
                  <a:srgbClr val="2C14DE"/>
                </a:solidFill>
              </a:rPr>
              <a:t>member variable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590800"/>
            <a:ext cx="4724400" cy="40862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322441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 err="1">
                <a:solidFill>
                  <a:srgbClr val="D20000"/>
                </a:solidFill>
              </a:rPr>
              <a:t>const</a:t>
            </a:r>
            <a:r>
              <a:rPr lang="en-US" b="1" dirty="0">
                <a:solidFill>
                  <a:srgbClr val="D20000"/>
                </a:solidFill>
              </a:rPr>
              <a:t> Objects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-36444" y="944881"/>
            <a:ext cx="9028044" cy="5638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1" dirty="0" err="1">
                <a:solidFill>
                  <a:srgbClr val="D20000"/>
                </a:solidFill>
              </a:rPr>
              <a:t>const</a:t>
            </a:r>
            <a:r>
              <a:rPr lang="en-US" b="1" dirty="0">
                <a:solidFill>
                  <a:srgbClr val="D20000"/>
                </a:solidFill>
              </a:rPr>
              <a:t> Object: </a:t>
            </a:r>
            <a:r>
              <a:rPr lang="en-US" b="1" dirty="0">
                <a:solidFill>
                  <a:srgbClr val="2C14DE"/>
                </a:solidFill>
              </a:rPr>
              <a:t>Read-only </a:t>
            </a:r>
            <a:r>
              <a:rPr lang="en-US" b="1" dirty="0"/>
              <a:t>objects</a:t>
            </a:r>
          </a:p>
          <a:p>
            <a:pPr lvl="1" algn="just">
              <a:spcBef>
                <a:spcPts val="2400"/>
              </a:spcBef>
            </a:pPr>
            <a:r>
              <a:rPr lang="en-US" sz="2600" b="1" dirty="0"/>
              <a:t>Object </a:t>
            </a:r>
            <a:r>
              <a:rPr lang="en-US" b="1" dirty="0">
                <a:solidFill>
                  <a:srgbClr val="2C14DE"/>
                </a:solidFill>
              </a:rPr>
              <a:t>data members can only be read</a:t>
            </a:r>
            <a:r>
              <a:rPr lang="en-US" sz="2600" b="1" dirty="0"/>
              <a:t>, </a:t>
            </a:r>
            <a:r>
              <a:rPr lang="en-US" sz="2600" b="1" dirty="0">
                <a:solidFill>
                  <a:srgbClr val="D20000"/>
                </a:solidFill>
              </a:rPr>
              <a:t>NO write/update </a:t>
            </a:r>
            <a:r>
              <a:rPr lang="en-US" sz="2600" b="1" dirty="0"/>
              <a:t>of </a:t>
            </a:r>
            <a:r>
              <a:rPr lang="en-US" sz="2600" b="1" dirty="0">
                <a:solidFill>
                  <a:srgbClr val="D20000"/>
                </a:solidFill>
              </a:rPr>
              <a:t>data member allowed</a:t>
            </a:r>
          </a:p>
          <a:p>
            <a:pPr lvl="1" algn="just">
              <a:spcBef>
                <a:spcPts val="2400"/>
              </a:spcBef>
            </a:pPr>
            <a:r>
              <a:rPr lang="en-US" sz="2600" b="1" dirty="0">
                <a:solidFill>
                  <a:srgbClr val="D20000"/>
                </a:solidFill>
              </a:rPr>
              <a:t>Requires</a:t>
            </a:r>
            <a:r>
              <a:rPr lang="en-US" sz="2600" b="1" dirty="0"/>
              <a:t> all </a:t>
            </a:r>
            <a:r>
              <a:rPr lang="en-US" sz="2600" b="1" dirty="0">
                <a:solidFill>
                  <a:srgbClr val="2C14DE"/>
                </a:solidFill>
              </a:rPr>
              <a:t>member functions </a:t>
            </a:r>
            <a:r>
              <a:rPr lang="en-US" sz="2600" b="1" dirty="0"/>
              <a:t>be </a:t>
            </a:r>
            <a:r>
              <a:rPr lang="en-US" sz="2600" b="1" dirty="0" err="1">
                <a:solidFill>
                  <a:srgbClr val="2C14DE"/>
                </a:solidFill>
              </a:rPr>
              <a:t>const</a:t>
            </a:r>
            <a:r>
              <a:rPr lang="en-US" sz="2600" b="1" dirty="0">
                <a:solidFill>
                  <a:srgbClr val="2C14DE"/>
                </a:solidFill>
              </a:rPr>
              <a:t> </a:t>
            </a:r>
            <a:r>
              <a:rPr lang="en-US" sz="2600" b="1" dirty="0"/>
              <a:t>(except </a:t>
            </a:r>
            <a:r>
              <a:rPr lang="en-US" sz="2600" b="1" u="sng" dirty="0"/>
              <a:t>constructors</a:t>
            </a:r>
            <a:r>
              <a:rPr lang="en-US" sz="2600" b="1" dirty="0"/>
              <a:t> and </a:t>
            </a:r>
            <a:r>
              <a:rPr lang="en-US" sz="2600" b="1" u="sng" dirty="0"/>
              <a:t>destructors</a:t>
            </a:r>
            <a:r>
              <a:rPr lang="en-US" sz="2600" b="1" dirty="0"/>
              <a:t>)</a:t>
            </a:r>
          </a:p>
          <a:p>
            <a:pPr lvl="1" algn="just">
              <a:spcBef>
                <a:spcPts val="2400"/>
              </a:spcBef>
            </a:pPr>
            <a:r>
              <a:rPr lang="en-US" sz="2600" b="1" dirty="0" err="1">
                <a:solidFill>
                  <a:srgbClr val="D20000"/>
                </a:solidFill>
              </a:rPr>
              <a:t>const</a:t>
            </a:r>
            <a:r>
              <a:rPr lang="en-US" sz="2600" b="1" dirty="0">
                <a:solidFill>
                  <a:srgbClr val="D20000"/>
                </a:solidFill>
              </a:rPr>
              <a:t> object </a:t>
            </a:r>
            <a:r>
              <a:rPr lang="en-US" sz="2600" b="1" dirty="0">
                <a:solidFill>
                  <a:srgbClr val="2C14DE"/>
                </a:solidFill>
              </a:rPr>
              <a:t>must be initialized </a:t>
            </a:r>
            <a:r>
              <a:rPr lang="en-US" sz="2600" b="1" dirty="0"/>
              <a:t>(using constructors) at </a:t>
            </a:r>
            <a:r>
              <a:rPr lang="en-US" sz="2600" b="1" dirty="0">
                <a:solidFill>
                  <a:srgbClr val="2C14DE"/>
                </a:solidFill>
              </a:rPr>
              <a:t>the time of object creation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endParaRPr lang="en-US" sz="2600" b="1" dirty="0"/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78" y="5562600"/>
            <a:ext cx="8763000" cy="58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13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 err="1">
                <a:solidFill>
                  <a:srgbClr val="D20000"/>
                </a:solidFill>
              </a:rPr>
              <a:t>const</a:t>
            </a:r>
            <a:r>
              <a:rPr lang="en-US" b="1" dirty="0">
                <a:solidFill>
                  <a:srgbClr val="D20000"/>
                </a:solidFill>
              </a:rPr>
              <a:t> Objects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-36444" y="944881"/>
            <a:ext cx="9028044" cy="5638800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b="1" dirty="0" err="1">
                <a:solidFill>
                  <a:srgbClr val="D20000"/>
                </a:solidFill>
              </a:rPr>
              <a:t>const</a:t>
            </a:r>
            <a:r>
              <a:rPr lang="en-US" dirty="0"/>
              <a:t> </a:t>
            </a:r>
            <a:r>
              <a:rPr lang="en-US" b="1" dirty="0">
                <a:solidFill>
                  <a:srgbClr val="2C14DE"/>
                </a:solidFill>
              </a:rPr>
              <a:t>property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of an </a:t>
            </a:r>
            <a:r>
              <a:rPr lang="en-US" b="1" dirty="0">
                <a:solidFill>
                  <a:srgbClr val="2C14DE"/>
                </a:solidFill>
              </a:rPr>
              <a:t>object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/>
              <a:t>goes into effect</a:t>
            </a:r>
            <a:r>
              <a:rPr lang="en-US" dirty="0"/>
              <a:t> </a:t>
            </a:r>
            <a:r>
              <a:rPr lang="en-US" b="1" u="sng" dirty="0">
                <a:solidFill>
                  <a:srgbClr val="008000"/>
                </a:solidFill>
              </a:rPr>
              <a:t>after</a:t>
            </a:r>
            <a:r>
              <a:rPr lang="en-US" b="1" dirty="0">
                <a:solidFill>
                  <a:srgbClr val="008000"/>
                </a:solidFill>
              </a:rPr>
              <a:t> the constructor finishes executing </a:t>
            </a:r>
            <a:r>
              <a:rPr lang="en-US" b="1" dirty="0"/>
              <a:t>and ends </a:t>
            </a:r>
            <a:r>
              <a:rPr lang="en-US" b="1" u="sng" dirty="0">
                <a:solidFill>
                  <a:srgbClr val="008000"/>
                </a:solidFill>
              </a:rPr>
              <a:t>before</a:t>
            </a:r>
            <a:r>
              <a:rPr lang="en-US" b="1" dirty="0">
                <a:solidFill>
                  <a:srgbClr val="008000"/>
                </a:solidFill>
              </a:rPr>
              <a:t> the class's destructor executes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3200" dirty="0"/>
              <a:t>So the </a:t>
            </a:r>
            <a:r>
              <a:rPr lang="en-US" sz="3200" b="1" u="sng" dirty="0">
                <a:solidFill>
                  <a:srgbClr val="D20000"/>
                </a:solidFill>
              </a:rPr>
              <a:t>constructor</a:t>
            </a:r>
            <a:r>
              <a:rPr lang="en-US" sz="3200" dirty="0">
                <a:solidFill>
                  <a:srgbClr val="D20000"/>
                </a:solidFill>
              </a:rPr>
              <a:t> </a:t>
            </a:r>
            <a:r>
              <a:rPr lang="en-US" sz="3200" dirty="0"/>
              <a:t>and </a:t>
            </a:r>
            <a:r>
              <a:rPr lang="en-US" sz="3200" b="1" u="sng" dirty="0">
                <a:solidFill>
                  <a:srgbClr val="D20000"/>
                </a:solidFill>
              </a:rPr>
              <a:t>destructor</a:t>
            </a:r>
            <a:r>
              <a:rPr lang="en-US" sz="3200" dirty="0">
                <a:solidFill>
                  <a:srgbClr val="D20000"/>
                </a:solidFill>
              </a:rPr>
              <a:t> </a:t>
            </a:r>
            <a:r>
              <a:rPr lang="en-US" sz="3200" b="1" i="1" dirty="0">
                <a:solidFill>
                  <a:srgbClr val="2C14DE"/>
                </a:solidFill>
              </a:rPr>
              <a:t>can modify the object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endParaRPr lang="en-US" sz="2600" b="1" dirty="0"/>
          </a:p>
          <a:p>
            <a:pPr lvl="1" algn="just">
              <a:spcBef>
                <a:spcPts val="0"/>
              </a:spcBef>
              <a:spcAft>
                <a:spcPts val="1200"/>
              </a:spcAft>
            </a:pP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641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Pointers to Objects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39756" y="995680"/>
            <a:ext cx="9028044" cy="5862320"/>
          </a:xfrm>
        </p:spPr>
        <p:txBody>
          <a:bodyPr/>
          <a:lstStyle/>
          <a:p>
            <a:r>
              <a:rPr lang="en-US" sz="2800" b="1" dirty="0"/>
              <a:t>You can also </a:t>
            </a:r>
            <a:r>
              <a:rPr lang="en-US" sz="2800" b="1" dirty="0">
                <a:solidFill>
                  <a:srgbClr val="2C14DE"/>
                </a:solidFill>
              </a:rPr>
              <a:t>define pointers </a:t>
            </a:r>
            <a:r>
              <a:rPr lang="en-US" sz="2800" b="1" dirty="0"/>
              <a:t>to </a:t>
            </a:r>
            <a:r>
              <a:rPr lang="en-US" sz="2800" b="1" dirty="0">
                <a:solidFill>
                  <a:srgbClr val="2C14DE"/>
                </a:solidFill>
              </a:rPr>
              <a:t>class objects</a:t>
            </a:r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  <a:p>
            <a:pPr algn="just"/>
            <a:endParaRPr lang="en-US" sz="2800" b="1" dirty="0"/>
          </a:p>
          <a:p>
            <a:pPr algn="just"/>
            <a:r>
              <a:rPr lang="en-US" sz="2800" b="1" dirty="0"/>
              <a:t>You </a:t>
            </a:r>
            <a:r>
              <a:rPr lang="en-US" sz="2800" b="1" dirty="0">
                <a:solidFill>
                  <a:srgbClr val="2C14DE"/>
                </a:solidFill>
              </a:rPr>
              <a:t>can use </a:t>
            </a:r>
            <a:r>
              <a:rPr lang="en-US" sz="2800" b="1" dirty="0">
                <a:solidFill>
                  <a:srgbClr val="D20000"/>
                </a:solidFill>
              </a:rPr>
              <a:t>*</a:t>
            </a:r>
            <a:r>
              <a:rPr lang="en-US" sz="2800" b="1" dirty="0"/>
              <a:t> and  </a:t>
            </a:r>
            <a:r>
              <a:rPr lang="en-US" b="1" dirty="0">
                <a:solidFill>
                  <a:srgbClr val="D20000"/>
                </a:solidFill>
              </a:rPr>
              <a:t>.</a:t>
            </a:r>
            <a:r>
              <a:rPr lang="en-US" sz="2800" b="1" dirty="0"/>
              <a:t>  </a:t>
            </a:r>
            <a:r>
              <a:rPr lang="en-US" sz="2800" b="1" dirty="0">
                <a:solidFill>
                  <a:srgbClr val="2C14DE"/>
                </a:solidFill>
              </a:rPr>
              <a:t>operators</a:t>
            </a:r>
            <a:r>
              <a:rPr lang="en-US" sz="2800" b="1" dirty="0"/>
              <a:t> OR </a:t>
            </a:r>
            <a:r>
              <a:rPr lang="en-US" sz="2800" b="1" dirty="0">
                <a:solidFill>
                  <a:srgbClr val="D20000"/>
                </a:solidFill>
              </a:rPr>
              <a:t>-&gt;</a:t>
            </a:r>
            <a:r>
              <a:rPr lang="en-US" sz="2800" b="1" dirty="0"/>
              <a:t> to </a:t>
            </a:r>
            <a:r>
              <a:rPr lang="en-US" sz="2800" b="1" dirty="0">
                <a:solidFill>
                  <a:srgbClr val="2C14DE"/>
                </a:solidFill>
              </a:rPr>
              <a:t>access members</a:t>
            </a:r>
            <a:r>
              <a:rPr lang="en-US" sz="2800" b="1" dirty="0"/>
              <a:t>:</a:t>
            </a:r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77" y="1646276"/>
            <a:ext cx="8608223" cy="8775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733800"/>
            <a:ext cx="4038600" cy="74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55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Pointers to Objects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39756" y="995680"/>
            <a:ext cx="9028044" cy="5862320"/>
          </a:xfrm>
        </p:spPr>
        <p:txBody>
          <a:bodyPr/>
          <a:lstStyle/>
          <a:p>
            <a:r>
              <a:rPr lang="en-US" sz="2800" b="1" u="sng" dirty="0">
                <a:solidFill>
                  <a:srgbClr val="2C14DE"/>
                </a:solidFill>
              </a:rPr>
              <a:t>Dynamic Object Creation</a:t>
            </a:r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  <a:p>
            <a:pPr algn="just"/>
            <a:endParaRPr lang="en-US" sz="2800" b="1" dirty="0"/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11" y="1600200"/>
            <a:ext cx="861309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146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Reference to Objects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39756" y="995680"/>
            <a:ext cx="9028044" cy="5862320"/>
          </a:xfrm>
        </p:spPr>
        <p:txBody>
          <a:bodyPr/>
          <a:lstStyle/>
          <a:p>
            <a:r>
              <a:rPr lang="en-US" sz="2800" b="1" u="sng" dirty="0">
                <a:solidFill>
                  <a:srgbClr val="D20000"/>
                </a:solidFill>
              </a:rPr>
              <a:t>Reference</a:t>
            </a:r>
            <a:r>
              <a:rPr lang="en-US" sz="2800" b="1" dirty="0">
                <a:solidFill>
                  <a:srgbClr val="D20000"/>
                </a:solidFill>
              </a:rPr>
              <a:t> </a:t>
            </a:r>
            <a:r>
              <a:rPr lang="en-US" sz="2800" b="1" dirty="0"/>
              <a:t>is an </a:t>
            </a:r>
            <a:r>
              <a:rPr lang="en-US" sz="2800" b="1" dirty="0">
                <a:solidFill>
                  <a:srgbClr val="008000"/>
                </a:solidFill>
              </a:rPr>
              <a:t>alias </a:t>
            </a:r>
            <a:r>
              <a:rPr lang="en-US" sz="2800" b="1" dirty="0"/>
              <a:t>to an </a:t>
            </a:r>
            <a:r>
              <a:rPr lang="en-US" sz="2800" b="1" dirty="0">
                <a:solidFill>
                  <a:srgbClr val="2C14DE"/>
                </a:solidFill>
              </a:rPr>
              <a:t>existing object</a:t>
            </a:r>
          </a:p>
          <a:p>
            <a:endParaRPr lang="en-US" sz="2800" b="1" dirty="0">
              <a:solidFill>
                <a:srgbClr val="2C14DE"/>
              </a:solidFill>
            </a:endParaRPr>
          </a:p>
          <a:p>
            <a:endParaRPr lang="en-US" sz="2800" b="1" dirty="0">
              <a:solidFill>
                <a:srgbClr val="2C14DE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  <a:p>
            <a:pPr algn="just"/>
            <a:endParaRPr lang="en-US" sz="2800" b="1" dirty="0"/>
          </a:p>
          <a:p>
            <a:endParaRPr lang="en-US" sz="2800" b="1" dirty="0">
              <a:solidFill>
                <a:srgbClr val="00B050"/>
              </a:solidFill>
            </a:endParaRPr>
          </a:p>
          <a:p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47800"/>
            <a:ext cx="6934200" cy="528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01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1"/>
            <a:ext cx="8153400" cy="609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Reference to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5" y="609601"/>
            <a:ext cx="8913042" cy="480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562600"/>
            <a:ext cx="8292163" cy="10287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6559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143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Reference and Pointers to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977437"/>
            <a:ext cx="6858000" cy="5893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318" y="1987997"/>
            <a:ext cx="4114800" cy="19363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98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057400"/>
            <a:ext cx="8388350" cy="9906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D20000"/>
                </a:solidFill>
                <a:latin typeface="Calibri" panose="020F0502020204030204" pitchFamily="34" charset="0"/>
              </a:rPr>
              <a:t>Constructors and Destructors</a:t>
            </a:r>
            <a:endParaRPr lang="en-US" b="1" i="1" u="sng" dirty="0">
              <a:solidFill>
                <a:srgbClr val="D2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95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5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Interface </a:t>
            </a:r>
            <a:r>
              <a:rPr lang="en-US" b="1" dirty="0" err="1">
                <a:solidFill>
                  <a:srgbClr val="D20000"/>
                </a:solidFill>
              </a:rPr>
              <a:t>vs</a:t>
            </a:r>
            <a:r>
              <a:rPr lang="en-US" b="1" dirty="0">
                <a:solidFill>
                  <a:srgbClr val="D20000"/>
                </a:solidFill>
              </a:rPr>
              <a:t> Implementation </a:t>
            </a:r>
          </a:p>
        </p:txBody>
      </p:sp>
      <p:sp>
        <p:nvSpPr>
          <p:cNvPr id="8195" name="Rectangle 3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Separating</a:t>
            </a:r>
            <a:r>
              <a:rPr lang="en-US" dirty="0">
                <a:solidFill>
                  <a:srgbClr val="D20000"/>
                </a:solidFill>
              </a:rPr>
              <a:t> </a:t>
            </a:r>
            <a:r>
              <a:rPr lang="en-US" b="1" dirty="0">
                <a:solidFill>
                  <a:srgbClr val="2C14DE"/>
                </a:solidFill>
              </a:rPr>
              <a:t>interface</a:t>
            </a:r>
            <a:r>
              <a:rPr lang="en-US" dirty="0"/>
              <a:t> from </a:t>
            </a:r>
            <a:r>
              <a:rPr lang="en-US" b="1" dirty="0">
                <a:solidFill>
                  <a:srgbClr val="2C14DE"/>
                </a:solidFill>
              </a:rPr>
              <a:t>implementation</a:t>
            </a:r>
          </a:p>
          <a:p>
            <a:pPr lvl="1"/>
            <a:r>
              <a:rPr lang="en-US" sz="3200" b="1" dirty="0">
                <a:solidFill>
                  <a:srgbClr val="008000"/>
                </a:solidFill>
              </a:rPr>
              <a:t>Makes it easier to modify programs</a:t>
            </a:r>
          </a:p>
          <a:p>
            <a:pPr lvl="1"/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lang="en-US" sz="3200" b="1" dirty="0">
                <a:solidFill>
                  <a:srgbClr val="D20000"/>
                </a:solidFill>
              </a:rPr>
              <a:t>Header files</a:t>
            </a:r>
          </a:p>
          <a:p>
            <a:pPr lvl="2"/>
            <a:r>
              <a:rPr lang="en-US" sz="2800" b="1" dirty="0"/>
              <a:t>Contains</a:t>
            </a:r>
            <a:r>
              <a:rPr lang="en-US" sz="2800" dirty="0"/>
              <a:t> </a:t>
            </a:r>
            <a:r>
              <a:rPr lang="en-US" sz="2800" b="1" u="sng" dirty="0">
                <a:solidFill>
                  <a:srgbClr val="2C14DE"/>
                </a:solidFill>
              </a:rPr>
              <a:t>class definitions </a:t>
            </a:r>
            <a:r>
              <a:rPr lang="en-US" sz="2800" dirty="0"/>
              <a:t>and </a:t>
            </a:r>
            <a:r>
              <a:rPr lang="en-US" sz="2800" b="1" u="sng" dirty="0">
                <a:solidFill>
                  <a:srgbClr val="2C14DE"/>
                </a:solidFill>
              </a:rPr>
              <a:t>function prototypes</a:t>
            </a:r>
          </a:p>
          <a:p>
            <a:pPr lvl="1"/>
            <a:endParaRPr lang="en-US" b="1" dirty="0">
              <a:solidFill>
                <a:srgbClr val="2C14DE"/>
              </a:solidFill>
            </a:endParaRPr>
          </a:p>
          <a:p>
            <a:pPr lvl="1"/>
            <a:r>
              <a:rPr lang="en-US" sz="3200" b="1" dirty="0">
                <a:solidFill>
                  <a:srgbClr val="D20000"/>
                </a:solidFill>
              </a:rPr>
              <a:t>Source-code files</a:t>
            </a:r>
          </a:p>
          <a:p>
            <a:pPr lvl="2"/>
            <a:r>
              <a:rPr lang="en-US" sz="2800" b="1" dirty="0"/>
              <a:t>Contains</a:t>
            </a:r>
            <a:r>
              <a:rPr lang="en-US" sz="2800" dirty="0"/>
              <a:t> </a:t>
            </a:r>
            <a:r>
              <a:rPr lang="en-US" sz="2800" b="1" u="sng" dirty="0">
                <a:solidFill>
                  <a:srgbClr val="2C14DE"/>
                </a:solidFill>
              </a:rPr>
              <a:t>member function definitions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979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70"/>
          <p:cNvGrpSpPr>
            <a:grpSpLocks/>
          </p:cNvGrpSpPr>
          <p:nvPr/>
        </p:nvGrpSpPr>
        <p:grpSpPr bwMode="auto">
          <a:xfrm>
            <a:off x="76200" y="228600"/>
            <a:ext cx="6705600" cy="6400800"/>
            <a:chOff x="0" y="0"/>
            <a:chExt cx="3072" cy="8228"/>
          </a:xfrm>
        </p:grpSpPr>
        <p:grpSp>
          <p:nvGrpSpPr>
            <p:cNvPr id="9225" name="Group 27"/>
            <p:cNvGrpSpPr>
              <a:grpSpLocks/>
            </p:cNvGrpSpPr>
            <p:nvPr/>
          </p:nvGrpSpPr>
          <p:grpSpPr bwMode="auto">
            <a:xfrm>
              <a:off x="0" y="0"/>
              <a:ext cx="3072" cy="374"/>
              <a:chOff x="0" y="0"/>
              <a:chExt cx="3072" cy="374"/>
            </a:xfrm>
          </p:grpSpPr>
          <p:sp>
            <p:nvSpPr>
              <p:cNvPr id="9289" name="Rectangle 26"/>
              <p:cNvSpPr>
                <a:spLocks noChangeArrowheads="1"/>
              </p:cNvSpPr>
              <p:nvPr/>
            </p:nvSpPr>
            <p:spPr bwMode="auto">
              <a:xfrm>
                <a:off x="0" y="9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90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Fig. 6.5: time1.h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26" name="Group 29"/>
            <p:cNvGrpSpPr>
              <a:grpSpLocks/>
            </p:cNvGrpSpPr>
            <p:nvPr/>
          </p:nvGrpSpPr>
          <p:grpSpPr bwMode="auto">
            <a:xfrm>
              <a:off x="0" y="374"/>
              <a:ext cx="3072" cy="374"/>
              <a:chOff x="0" y="374"/>
              <a:chExt cx="3072" cy="374"/>
            </a:xfrm>
          </p:grpSpPr>
          <p:sp>
            <p:nvSpPr>
              <p:cNvPr id="9287" name="Rectangle 28"/>
              <p:cNvSpPr>
                <a:spLocks noChangeArrowheads="1"/>
              </p:cNvSpPr>
              <p:nvPr/>
            </p:nvSpPr>
            <p:spPr bwMode="auto">
              <a:xfrm>
                <a:off x="0" y="383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88" name="Rectangle 5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Declaration of the Time class.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27" name="Group 31"/>
            <p:cNvGrpSpPr>
              <a:grpSpLocks/>
            </p:cNvGrpSpPr>
            <p:nvPr/>
          </p:nvGrpSpPr>
          <p:grpSpPr bwMode="auto">
            <a:xfrm>
              <a:off x="0" y="748"/>
              <a:ext cx="3072" cy="374"/>
              <a:chOff x="0" y="748"/>
              <a:chExt cx="3072" cy="374"/>
            </a:xfrm>
          </p:grpSpPr>
          <p:sp>
            <p:nvSpPr>
              <p:cNvPr id="9285" name="Rectangle 30"/>
              <p:cNvSpPr>
                <a:spLocks noChangeArrowheads="1"/>
              </p:cNvSpPr>
              <p:nvPr/>
            </p:nvSpPr>
            <p:spPr bwMode="auto">
              <a:xfrm>
                <a:off x="0" y="757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86" name="Rectangle 6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Member functions are defined in time1.cpp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28" name="Group 33"/>
            <p:cNvGrpSpPr>
              <a:grpSpLocks/>
            </p:cNvGrpSpPr>
            <p:nvPr/>
          </p:nvGrpSpPr>
          <p:grpSpPr bwMode="auto">
            <a:xfrm>
              <a:off x="0" y="1122"/>
              <a:ext cx="3072" cy="374"/>
              <a:chOff x="0" y="1122"/>
              <a:chExt cx="3072" cy="374"/>
            </a:xfrm>
          </p:grpSpPr>
          <p:sp>
            <p:nvSpPr>
              <p:cNvPr id="9283" name="Rectangle 32"/>
              <p:cNvSpPr>
                <a:spLocks noChangeArrowheads="1"/>
              </p:cNvSpPr>
              <p:nvPr/>
            </p:nvSpPr>
            <p:spPr bwMode="auto">
              <a:xfrm>
                <a:off x="0" y="1131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84" name="Rectangle 7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29" name="Group 35"/>
            <p:cNvGrpSpPr>
              <a:grpSpLocks/>
            </p:cNvGrpSpPr>
            <p:nvPr/>
          </p:nvGrpSpPr>
          <p:grpSpPr bwMode="auto">
            <a:xfrm>
              <a:off x="0" y="1496"/>
              <a:ext cx="3072" cy="374"/>
              <a:chOff x="0" y="1496"/>
              <a:chExt cx="3072" cy="374"/>
            </a:xfrm>
          </p:grpSpPr>
          <p:sp>
            <p:nvSpPr>
              <p:cNvPr id="9281" name="Rectangle 34"/>
              <p:cNvSpPr>
                <a:spLocks noChangeArrowheads="1"/>
              </p:cNvSpPr>
              <p:nvPr/>
            </p:nvSpPr>
            <p:spPr bwMode="auto">
              <a:xfrm>
                <a:off x="0" y="1505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82" name="Rectangle 8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5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prevent multiple inclusions of header file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30" name="Group 37"/>
            <p:cNvGrpSpPr>
              <a:grpSpLocks/>
            </p:cNvGrpSpPr>
            <p:nvPr/>
          </p:nvGrpSpPr>
          <p:grpSpPr bwMode="auto">
            <a:xfrm>
              <a:off x="0" y="1870"/>
              <a:ext cx="3072" cy="374"/>
              <a:chOff x="0" y="1870"/>
              <a:chExt cx="3072" cy="374"/>
            </a:xfrm>
          </p:grpSpPr>
          <p:sp>
            <p:nvSpPr>
              <p:cNvPr id="9279" name="Rectangle 36"/>
              <p:cNvSpPr>
                <a:spLocks noChangeArrowheads="1"/>
              </p:cNvSpPr>
              <p:nvPr/>
            </p:nvSpPr>
            <p:spPr bwMode="auto">
              <a:xfrm>
                <a:off x="0" y="1879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80" name="Rectangle 9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#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ifndef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TIME1_H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31" name="Group 39"/>
            <p:cNvGrpSpPr>
              <a:grpSpLocks/>
            </p:cNvGrpSpPr>
            <p:nvPr/>
          </p:nvGrpSpPr>
          <p:grpSpPr bwMode="auto">
            <a:xfrm>
              <a:off x="0" y="2244"/>
              <a:ext cx="3072" cy="374"/>
              <a:chOff x="0" y="2244"/>
              <a:chExt cx="3072" cy="374"/>
            </a:xfrm>
          </p:grpSpPr>
          <p:sp>
            <p:nvSpPr>
              <p:cNvPr id="9277" name="Rectangle 38"/>
              <p:cNvSpPr>
                <a:spLocks noChangeArrowheads="1"/>
              </p:cNvSpPr>
              <p:nvPr/>
            </p:nvSpPr>
            <p:spPr bwMode="auto">
              <a:xfrm>
                <a:off x="0" y="2253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78" name="Rectangle 10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#define TIME1_H</a:t>
                </a: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32" name="Group 41"/>
            <p:cNvGrpSpPr>
              <a:grpSpLocks/>
            </p:cNvGrpSpPr>
            <p:nvPr/>
          </p:nvGrpSpPr>
          <p:grpSpPr bwMode="auto">
            <a:xfrm>
              <a:off x="0" y="2618"/>
              <a:ext cx="3072" cy="374"/>
              <a:chOff x="0" y="2618"/>
              <a:chExt cx="3072" cy="374"/>
            </a:xfrm>
          </p:grpSpPr>
          <p:sp>
            <p:nvSpPr>
              <p:cNvPr id="9275" name="Rectangle 40"/>
              <p:cNvSpPr>
                <a:spLocks noChangeArrowheads="1"/>
              </p:cNvSpPr>
              <p:nvPr/>
            </p:nvSpPr>
            <p:spPr bwMode="auto">
              <a:xfrm>
                <a:off x="0" y="2627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76" name="Rectangle 11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33" name="Group 43"/>
            <p:cNvGrpSpPr>
              <a:grpSpLocks/>
            </p:cNvGrpSpPr>
            <p:nvPr/>
          </p:nvGrpSpPr>
          <p:grpSpPr bwMode="auto">
            <a:xfrm>
              <a:off x="0" y="2992"/>
              <a:ext cx="3072" cy="374"/>
              <a:chOff x="0" y="2992"/>
              <a:chExt cx="3072" cy="374"/>
            </a:xfrm>
          </p:grpSpPr>
          <p:sp>
            <p:nvSpPr>
              <p:cNvPr id="9273" name="Rectangle 42"/>
              <p:cNvSpPr>
                <a:spLocks noChangeArrowheads="1"/>
              </p:cNvSpPr>
              <p:nvPr/>
            </p:nvSpPr>
            <p:spPr bwMode="auto">
              <a:xfrm>
                <a:off x="0" y="3001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74" name="Rectangle 12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	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Time abstract data type definition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34" name="Group 45"/>
            <p:cNvGrpSpPr>
              <a:grpSpLocks/>
            </p:cNvGrpSpPr>
            <p:nvPr/>
          </p:nvGrpSpPr>
          <p:grpSpPr bwMode="auto">
            <a:xfrm>
              <a:off x="0" y="3366"/>
              <a:ext cx="3072" cy="374"/>
              <a:chOff x="0" y="3366"/>
              <a:chExt cx="3072" cy="374"/>
            </a:xfrm>
          </p:grpSpPr>
          <p:sp>
            <p:nvSpPr>
              <p:cNvPr id="9271" name="Rectangle 44"/>
              <p:cNvSpPr>
                <a:spLocks noChangeArrowheads="1"/>
              </p:cNvSpPr>
              <p:nvPr/>
            </p:nvSpPr>
            <p:spPr bwMode="auto">
              <a:xfrm>
                <a:off x="0" y="3375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72" name="Rectangle 13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class</a:t>
                </a:r>
                <a:r>
                  <a:rPr lang="en-US" sz="1200" b="1">
                    <a:latin typeface="Courier New" panose="02070309020205020404" pitchFamily="49" charset="0"/>
                  </a:rPr>
                  <a:t> Time 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35" name="Group 47"/>
            <p:cNvGrpSpPr>
              <a:grpSpLocks/>
            </p:cNvGrpSpPr>
            <p:nvPr/>
          </p:nvGrpSpPr>
          <p:grpSpPr bwMode="auto">
            <a:xfrm>
              <a:off x="0" y="3740"/>
              <a:ext cx="3072" cy="374"/>
              <a:chOff x="0" y="3740"/>
              <a:chExt cx="3072" cy="374"/>
            </a:xfrm>
          </p:grpSpPr>
          <p:sp>
            <p:nvSpPr>
              <p:cNvPr id="9269" name="Rectangle 46"/>
              <p:cNvSpPr>
                <a:spLocks noChangeArrowheads="1"/>
              </p:cNvSpPr>
              <p:nvPr/>
            </p:nvSpPr>
            <p:spPr bwMode="auto">
              <a:xfrm>
                <a:off x="0" y="3749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70" name="Rectangle 14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public: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36" name="Group 49"/>
            <p:cNvGrpSpPr>
              <a:grpSpLocks/>
            </p:cNvGrpSpPr>
            <p:nvPr/>
          </p:nvGrpSpPr>
          <p:grpSpPr bwMode="auto">
            <a:xfrm>
              <a:off x="0" y="4114"/>
              <a:ext cx="3072" cy="374"/>
              <a:chOff x="0" y="4114"/>
              <a:chExt cx="3072" cy="374"/>
            </a:xfrm>
          </p:grpSpPr>
          <p:sp>
            <p:nvSpPr>
              <p:cNvPr id="9267" name="Rectangle 48"/>
              <p:cNvSpPr>
                <a:spLocks noChangeArrowheads="1"/>
              </p:cNvSpPr>
              <p:nvPr/>
            </p:nvSpPr>
            <p:spPr bwMode="auto">
              <a:xfrm>
                <a:off x="0" y="4123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68" name="Rectangle 15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	</a:t>
                </a:r>
                <a:r>
                  <a:rPr lang="en-US" sz="1200" b="1">
                    <a:latin typeface="Courier New" panose="02070309020205020404" pitchFamily="49" charset="0"/>
                  </a:rPr>
                  <a:t>   Time();                 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constructor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37" name="Group 51"/>
            <p:cNvGrpSpPr>
              <a:grpSpLocks/>
            </p:cNvGrpSpPr>
            <p:nvPr/>
          </p:nvGrpSpPr>
          <p:grpSpPr bwMode="auto">
            <a:xfrm>
              <a:off x="0" y="4488"/>
              <a:ext cx="3072" cy="374"/>
              <a:chOff x="0" y="4488"/>
              <a:chExt cx="3072" cy="374"/>
            </a:xfrm>
          </p:grpSpPr>
          <p:sp>
            <p:nvSpPr>
              <p:cNvPr id="9265" name="Rectangle 50"/>
              <p:cNvSpPr>
                <a:spLocks noChangeArrowheads="1"/>
              </p:cNvSpPr>
              <p:nvPr/>
            </p:nvSpPr>
            <p:spPr bwMode="auto">
              <a:xfrm>
                <a:off x="0" y="4497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66" name="Rectangle 16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13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setTime( int, int, int );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hour, minute, second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38" name="Group 53"/>
            <p:cNvGrpSpPr>
              <a:grpSpLocks/>
            </p:cNvGrpSpPr>
            <p:nvPr/>
          </p:nvGrpSpPr>
          <p:grpSpPr bwMode="auto">
            <a:xfrm>
              <a:off x="0" y="4862"/>
              <a:ext cx="3072" cy="374"/>
              <a:chOff x="0" y="4862"/>
              <a:chExt cx="3072" cy="374"/>
            </a:xfrm>
          </p:grpSpPr>
          <p:sp>
            <p:nvSpPr>
              <p:cNvPr id="9263" name="Rectangle 52"/>
              <p:cNvSpPr>
                <a:spLocks noChangeArrowheads="1"/>
              </p:cNvSpPr>
              <p:nvPr/>
            </p:nvSpPr>
            <p:spPr bwMode="auto">
              <a:xfrm>
                <a:off x="0" y="4871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64" name="Rectangle 17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14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printMilitary();   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military time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39" name="Group 55"/>
            <p:cNvGrpSpPr>
              <a:grpSpLocks/>
            </p:cNvGrpSpPr>
            <p:nvPr/>
          </p:nvGrpSpPr>
          <p:grpSpPr bwMode="auto">
            <a:xfrm>
              <a:off x="0" y="5236"/>
              <a:ext cx="3072" cy="374"/>
              <a:chOff x="0" y="5236"/>
              <a:chExt cx="3072" cy="374"/>
            </a:xfrm>
          </p:grpSpPr>
          <p:sp>
            <p:nvSpPr>
              <p:cNvPr id="9261" name="Rectangle 54"/>
              <p:cNvSpPr>
                <a:spLocks noChangeArrowheads="1"/>
              </p:cNvSpPr>
              <p:nvPr/>
            </p:nvSpPr>
            <p:spPr bwMode="auto">
              <a:xfrm>
                <a:off x="0" y="5245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62" name="Rectangle 18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15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printStandard();   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print standard time format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40" name="Group 57"/>
            <p:cNvGrpSpPr>
              <a:grpSpLocks/>
            </p:cNvGrpSpPr>
            <p:nvPr/>
          </p:nvGrpSpPr>
          <p:grpSpPr bwMode="auto">
            <a:xfrm>
              <a:off x="0" y="5610"/>
              <a:ext cx="3072" cy="374"/>
              <a:chOff x="0" y="5610"/>
              <a:chExt cx="3072" cy="374"/>
            </a:xfrm>
          </p:grpSpPr>
          <p:sp>
            <p:nvSpPr>
              <p:cNvPr id="9259" name="Rectangle 56"/>
              <p:cNvSpPr>
                <a:spLocks noChangeArrowheads="1"/>
              </p:cNvSpPr>
              <p:nvPr/>
            </p:nvSpPr>
            <p:spPr bwMode="auto">
              <a:xfrm>
                <a:off x="0" y="5619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60" name="Rectangle 19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16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private: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41" name="Group 59"/>
            <p:cNvGrpSpPr>
              <a:grpSpLocks/>
            </p:cNvGrpSpPr>
            <p:nvPr/>
          </p:nvGrpSpPr>
          <p:grpSpPr bwMode="auto">
            <a:xfrm>
              <a:off x="0" y="5984"/>
              <a:ext cx="3072" cy="374"/>
              <a:chOff x="0" y="5984"/>
              <a:chExt cx="3072" cy="374"/>
            </a:xfrm>
          </p:grpSpPr>
          <p:sp>
            <p:nvSpPr>
              <p:cNvPr id="9257" name="Rectangle 58"/>
              <p:cNvSpPr>
                <a:spLocks noChangeArrowheads="1"/>
              </p:cNvSpPr>
              <p:nvPr/>
            </p:nvSpPr>
            <p:spPr bwMode="auto">
              <a:xfrm>
                <a:off x="0" y="5993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58" name="Rectangle 20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17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hour;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// 0 - 23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42" name="Group 61"/>
            <p:cNvGrpSpPr>
              <a:grpSpLocks/>
            </p:cNvGrpSpPr>
            <p:nvPr/>
          </p:nvGrpSpPr>
          <p:grpSpPr bwMode="auto">
            <a:xfrm>
              <a:off x="0" y="6358"/>
              <a:ext cx="3072" cy="374"/>
              <a:chOff x="0" y="6358"/>
              <a:chExt cx="3072" cy="374"/>
            </a:xfrm>
          </p:grpSpPr>
          <p:sp>
            <p:nvSpPr>
              <p:cNvPr id="9255" name="Rectangle 60"/>
              <p:cNvSpPr>
                <a:spLocks noChangeArrowheads="1"/>
              </p:cNvSpPr>
              <p:nvPr/>
            </p:nvSpPr>
            <p:spPr bwMode="auto">
              <a:xfrm>
                <a:off x="0" y="6367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56" name="Rectangle 21"/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18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minute;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// 0 - 59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43" name="Group 63"/>
            <p:cNvGrpSpPr>
              <a:grpSpLocks/>
            </p:cNvGrpSpPr>
            <p:nvPr/>
          </p:nvGrpSpPr>
          <p:grpSpPr bwMode="auto">
            <a:xfrm>
              <a:off x="0" y="6732"/>
              <a:ext cx="3072" cy="374"/>
              <a:chOff x="0" y="6732"/>
              <a:chExt cx="3072" cy="374"/>
            </a:xfrm>
          </p:grpSpPr>
          <p:sp>
            <p:nvSpPr>
              <p:cNvPr id="9253" name="Rectangle 62"/>
              <p:cNvSpPr>
                <a:spLocks noChangeArrowheads="1"/>
              </p:cNvSpPr>
              <p:nvPr/>
            </p:nvSpPr>
            <p:spPr bwMode="auto">
              <a:xfrm>
                <a:off x="0" y="6741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54" name="Rectangle 22"/>
              <p:cNvSpPr>
                <a:spLocks noChangeArrowheads="1"/>
              </p:cNvSpPr>
              <p:nvPr/>
            </p:nvSpPr>
            <p:spPr bwMode="auto"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19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 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second;   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0 - 59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44" name="Group 65"/>
            <p:cNvGrpSpPr>
              <a:grpSpLocks/>
            </p:cNvGrpSpPr>
            <p:nvPr/>
          </p:nvGrpSpPr>
          <p:grpSpPr bwMode="auto">
            <a:xfrm>
              <a:off x="0" y="7106"/>
              <a:ext cx="3072" cy="374"/>
              <a:chOff x="0" y="7106"/>
              <a:chExt cx="3072" cy="374"/>
            </a:xfrm>
          </p:grpSpPr>
          <p:sp>
            <p:nvSpPr>
              <p:cNvPr id="9251" name="Rectangle 64"/>
              <p:cNvSpPr>
                <a:spLocks noChangeArrowheads="1"/>
              </p:cNvSpPr>
              <p:nvPr/>
            </p:nvSpPr>
            <p:spPr bwMode="auto">
              <a:xfrm>
                <a:off x="0" y="7115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52" name="Rectangle 23"/>
              <p:cNvSpPr>
                <a:spLocks noChangeArrowheads="1"/>
              </p:cNvSpPr>
              <p:nvPr/>
            </p:nvSpPr>
            <p:spPr bwMode="auto"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20	</a:t>
                </a:r>
                <a:r>
                  <a:rPr lang="en-US" sz="1200" b="1">
                    <a:latin typeface="Courier New" panose="02070309020205020404" pitchFamily="49" charset="0"/>
                  </a:rPr>
                  <a:t>};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45" name="Group 67"/>
            <p:cNvGrpSpPr>
              <a:grpSpLocks/>
            </p:cNvGrpSpPr>
            <p:nvPr/>
          </p:nvGrpSpPr>
          <p:grpSpPr bwMode="auto">
            <a:xfrm>
              <a:off x="0" y="7480"/>
              <a:ext cx="3072" cy="374"/>
              <a:chOff x="0" y="7480"/>
              <a:chExt cx="3072" cy="374"/>
            </a:xfrm>
          </p:grpSpPr>
          <p:sp>
            <p:nvSpPr>
              <p:cNvPr id="9249" name="Rectangle 66"/>
              <p:cNvSpPr>
                <a:spLocks noChangeArrowheads="1"/>
              </p:cNvSpPr>
              <p:nvPr/>
            </p:nvSpPr>
            <p:spPr bwMode="auto">
              <a:xfrm>
                <a:off x="0" y="7489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50" name="Rectangle 24"/>
              <p:cNvSpPr>
                <a:spLocks noChangeArrowheads="1"/>
              </p:cNvSpPr>
              <p:nvPr/>
            </p:nvSpPr>
            <p:spPr bwMode="auto"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21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9246" name="Group 69"/>
            <p:cNvGrpSpPr>
              <a:grpSpLocks/>
            </p:cNvGrpSpPr>
            <p:nvPr/>
          </p:nvGrpSpPr>
          <p:grpSpPr bwMode="auto">
            <a:xfrm>
              <a:off x="0" y="7854"/>
              <a:ext cx="3072" cy="374"/>
              <a:chOff x="0" y="7854"/>
              <a:chExt cx="3072" cy="374"/>
            </a:xfrm>
          </p:grpSpPr>
          <p:sp>
            <p:nvSpPr>
              <p:cNvPr id="9247" name="Rectangle 68"/>
              <p:cNvSpPr>
                <a:spLocks noChangeArrowheads="1"/>
              </p:cNvSpPr>
              <p:nvPr/>
            </p:nvSpPr>
            <p:spPr bwMode="auto">
              <a:xfrm>
                <a:off x="0" y="7863"/>
                <a:ext cx="85" cy="356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9248" name="Rectangle 25"/>
              <p:cNvSpPr>
                <a:spLocks noChangeArrowheads="1"/>
              </p:cNvSpPr>
              <p:nvPr/>
            </p:nvSpPr>
            <p:spPr bwMode="auto"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22	</a:t>
                </a:r>
                <a:r>
                  <a:rPr lang="en-US" sz="1200" b="1">
                    <a:latin typeface="Courier New" panose="02070309020205020404" pitchFamily="49" charset="0"/>
                  </a:rPr>
                  <a:t>#endif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25" name="Group 80"/>
          <p:cNvGrpSpPr>
            <a:grpSpLocks/>
          </p:cNvGrpSpPr>
          <p:nvPr/>
        </p:nvGrpSpPr>
        <p:grpSpPr bwMode="auto">
          <a:xfrm>
            <a:off x="1828800" y="2127250"/>
            <a:ext cx="7086600" cy="1022350"/>
            <a:chOff x="1152" y="1340"/>
            <a:chExt cx="4394" cy="644"/>
          </a:xfrm>
        </p:grpSpPr>
        <p:sp>
          <p:nvSpPr>
            <p:cNvPr id="9223" name="Line 74"/>
            <p:cNvSpPr>
              <a:spLocks noChangeShapeType="1"/>
            </p:cNvSpPr>
            <p:nvPr/>
          </p:nvSpPr>
          <p:spPr bwMode="auto">
            <a:xfrm flipH="1" flipV="1">
              <a:off x="1152" y="1340"/>
              <a:ext cx="2928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9224" name="Text Box 73"/>
            <p:cNvSpPr txBox="1">
              <a:spLocks noChangeArrowheads="1"/>
            </p:cNvSpPr>
            <p:nvPr/>
          </p:nvSpPr>
          <p:spPr bwMode="auto">
            <a:xfrm>
              <a:off x="3216" y="1344"/>
              <a:ext cx="2330" cy="64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/>
                <a:t>If </a:t>
              </a:r>
              <a:r>
                <a:rPr lang="en-US" sz="1200" b="1">
                  <a:latin typeface="Courier New" panose="02070309020205020404" pitchFamily="49" charset="0"/>
                </a:rPr>
                <a:t>time1.h</a:t>
              </a:r>
              <a:r>
                <a:rPr lang="en-US" sz="1200"/>
                <a:t> (</a:t>
              </a:r>
              <a:r>
                <a:rPr lang="en-US" sz="1200" b="1">
                  <a:latin typeface="Courier New" panose="02070309020205020404" pitchFamily="49" charset="0"/>
                </a:rPr>
                <a:t>TIME1_H</a:t>
              </a:r>
              <a:r>
                <a:rPr lang="en-US" sz="1200"/>
                <a:t>) is not defined (</a:t>
              </a:r>
              <a:r>
                <a:rPr lang="en-US" sz="1200" b="1">
                  <a:latin typeface="Courier New" panose="02070309020205020404" pitchFamily="49" charset="0"/>
                </a:rPr>
                <a:t>#ifndef</a:t>
              </a:r>
              <a:r>
                <a:rPr lang="en-US" sz="1200"/>
                <a:t>) then it is loaded (</a:t>
              </a:r>
              <a:r>
                <a:rPr lang="en-US" sz="1200" b="1">
                  <a:latin typeface="Courier New" panose="02070309020205020404" pitchFamily="49" charset="0"/>
                </a:rPr>
                <a:t>#define</a:t>
              </a:r>
              <a:r>
                <a:rPr lang="en-US" sz="1200"/>
                <a:t> </a:t>
              </a:r>
              <a:r>
                <a:rPr lang="en-US" sz="1200" b="1">
                  <a:latin typeface="Courier New" panose="02070309020205020404" pitchFamily="49" charset="0"/>
                </a:rPr>
                <a:t>TIME1_H</a:t>
              </a:r>
              <a:r>
                <a:rPr lang="en-US" sz="1200"/>
                <a:t>).  If </a:t>
              </a:r>
              <a:r>
                <a:rPr lang="en-US" sz="1200" b="1">
                  <a:latin typeface="Courier New" panose="02070309020205020404" pitchFamily="49" charset="0"/>
                </a:rPr>
                <a:t>TIME1_H</a:t>
              </a:r>
              <a:r>
                <a:rPr lang="en-US" sz="1200"/>
                <a:t> </a:t>
              </a:r>
              <a:r>
                <a:rPr lang="en-US" sz="1200" i="1"/>
                <a:t>is</a:t>
              </a:r>
              <a:r>
                <a:rPr lang="en-US" sz="1200"/>
                <a:t> already defined, then everything up to </a:t>
              </a:r>
              <a:r>
                <a:rPr lang="en-US" sz="1200" b="1">
                  <a:latin typeface="Courier New" panose="02070309020205020404" pitchFamily="49" charset="0"/>
                </a:rPr>
                <a:t>#endif</a:t>
              </a:r>
              <a:r>
                <a:rPr lang="en-US" sz="1200">
                  <a:latin typeface="Courier New" panose="02070309020205020404" pitchFamily="49" charset="0"/>
                </a:rPr>
                <a:t> </a:t>
              </a:r>
              <a:r>
                <a:rPr lang="en-US" sz="1200"/>
                <a:t>is ignored.</a:t>
              </a:r>
            </a:p>
            <a:p>
              <a:pPr eaLnBrk="1" hangingPunct="1"/>
              <a:r>
                <a:rPr lang="en-US" sz="1200"/>
                <a:t>This prevents loading a header file multiple times.</a:t>
              </a:r>
            </a:p>
          </p:txBody>
        </p:sp>
      </p:grpSp>
      <p:grpSp>
        <p:nvGrpSpPr>
          <p:cNvPr id="26" name="Group 83"/>
          <p:cNvGrpSpPr>
            <a:grpSpLocks/>
          </p:cNvGrpSpPr>
          <p:nvPr/>
        </p:nvGrpSpPr>
        <p:grpSpPr bwMode="auto">
          <a:xfrm>
            <a:off x="1828800" y="1371602"/>
            <a:ext cx="7239000" cy="414338"/>
            <a:chOff x="1200" y="816"/>
            <a:chExt cx="4320" cy="261"/>
          </a:xfrm>
        </p:grpSpPr>
        <p:sp>
          <p:nvSpPr>
            <p:cNvPr id="9221" name="Text Box 84"/>
            <p:cNvSpPr txBox="1">
              <a:spLocks noChangeArrowheads="1"/>
            </p:cNvSpPr>
            <p:nvPr/>
          </p:nvSpPr>
          <p:spPr bwMode="auto">
            <a:xfrm>
              <a:off x="3057" y="816"/>
              <a:ext cx="2463" cy="17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/>
                <a:t>Dot ( . ) replaced with underscore ( _ ) in file name.</a:t>
              </a:r>
            </a:p>
          </p:txBody>
        </p:sp>
        <p:sp>
          <p:nvSpPr>
            <p:cNvPr id="9222" name="Line 85"/>
            <p:cNvSpPr>
              <a:spLocks noChangeShapeType="1"/>
            </p:cNvSpPr>
            <p:nvPr/>
          </p:nvSpPr>
          <p:spPr bwMode="auto">
            <a:xfrm flipH="1">
              <a:off x="1200" y="890"/>
              <a:ext cx="185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886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41"/>
          <p:cNvGrpSpPr>
            <a:grpSpLocks/>
          </p:cNvGrpSpPr>
          <p:nvPr/>
        </p:nvGrpSpPr>
        <p:grpSpPr bwMode="auto">
          <a:xfrm>
            <a:off x="0" y="0"/>
            <a:ext cx="6705600" cy="190500"/>
            <a:chOff x="0" y="0"/>
            <a:chExt cx="3072" cy="374"/>
          </a:xfrm>
        </p:grpSpPr>
        <p:sp>
          <p:nvSpPr>
            <p:cNvPr id="10356" name="Rectangle 40"/>
            <p:cNvSpPr>
              <a:spLocks noChangeArrowheads="1"/>
            </p:cNvSpPr>
            <p:nvPr/>
          </p:nvSpPr>
          <p:spPr bwMode="auto">
            <a:xfrm>
              <a:off x="0" y="5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57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23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Fig. 6.5: time1.cpp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43" name="Group 43"/>
          <p:cNvGrpSpPr>
            <a:grpSpLocks/>
          </p:cNvGrpSpPr>
          <p:nvPr/>
        </p:nvGrpSpPr>
        <p:grpSpPr bwMode="auto">
          <a:xfrm>
            <a:off x="0" y="190500"/>
            <a:ext cx="6705600" cy="190500"/>
            <a:chOff x="0" y="374"/>
            <a:chExt cx="3072" cy="374"/>
          </a:xfrm>
        </p:grpSpPr>
        <p:sp>
          <p:nvSpPr>
            <p:cNvPr id="10354" name="Rectangle 42"/>
            <p:cNvSpPr>
              <a:spLocks noChangeArrowheads="1"/>
            </p:cNvSpPr>
            <p:nvPr/>
          </p:nvSpPr>
          <p:spPr bwMode="auto">
            <a:xfrm>
              <a:off x="0" y="379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55" name="Rectangle 5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24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Member function definitions for Time class.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44" name="Group 45"/>
          <p:cNvGrpSpPr>
            <a:grpSpLocks/>
          </p:cNvGrpSpPr>
          <p:nvPr/>
        </p:nvGrpSpPr>
        <p:grpSpPr bwMode="auto">
          <a:xfrm>
            <a:off x="0" y="381000"/>
            <a:ext cx="6705600" cy="190500"/>
            <a:chOff x="0" y="748"/>
            <a:chExt cx="3072" cy="374"/>
          </a:xfrm>
        </p:grpSpPr>
        <p:sp>
          <p:nvSpPr>
            <p:cNvPr id="10352" name="Rectangle 44"/>
            <p:cNvSpPr>
              <a:spLocks noChangeArrowheads="1"/>
            </p:cNvSpPr>
            <p:nvPr/>
          </p:nvSpPr>
          <p:spPr bwMode="auto">
            <a:xfrm>
              <a:off x="0" y="753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53" name="Rectangle 6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25	</a:t>
              </a:r>
              <a:r>
                <a:rPr lang="en-US" sz="1200" b="1" dirty="0">
                  <a:latin typeface="Courier New" panose="02070309020205020404" pitchFamily="49" charset="0"/>
                </a:rPr>
                <a:t>#include &lt;</a:t>
              </a:r>
              <a:r>
                <a:rPr lang="en-US" sz="1200" b="1" dirty="0" err="1">
                  <a:latin typeface="Courier New" panose="02070309020205020404" pitchFamily="49" charset="0"/>
                </a:rPr>
                <a:t>iostream</a:t>
              </a:r>
              <a:r>
                <a:rPr lang="en-US" sz="1200" b="1" dirty="0">
                  <a:latin typeface="Courier New" panose="02070309020205020404" pitchFamily="49" charset="0"/>
                </a:rPr>
                <a:t>&gt;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45" name="Group 47"/>
          <p:cNvGrpSpPr>
            <a:grpSpLocks/>
          </p:cNvGrpSpPr>
          <p:nvPr/>
        </p:nvGrpSpPr>
        <p:grpSpPr bwMode="auto">
          <a:xfrm>
            <a:off x="0" y="571500"/>
            <a:ext cx="6705600" cy="190500"/>
            <a:chOff x="0" y="1122"/>
            <a:chExt cx="3072" cy="374"/>
          </a:xfrm>
        </p:grpSpPr>
        <p:sp>
          <p:nvSpPr>
            <p:cNvPr id="10350" name="Rectangle 46"/>
            <p:cNvSpPr>
              <a:spLocks noChangeArrowheads="1"/>
            </p:cNvSpPr>
            <p:nvPr/>
          </p:nvSpPr>
          <p:spPr bwMode="auto">
            <a:xfrm>
              <a:off x="0" y="1127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51" name="Rectangle 7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26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46" name="Group 49"/>
          <p:cNvGrpSpPr>
            <a:grpSpLocks/>
          </p:cNvGrpSpPr>
          <p:nvPr/>
        </p:nvGrpSpPr>
        <p:grpSpPr bwMode="auto">
          <a:xfrm>
            <a:off x="0" y="762000"/>
            <a:ext cx="6705600" cy="190500"/>
            <a:chOff x="0" y="1496"/>
            <a:chExt cx="3072" cy="374"/>
          </a:xfrm>
        </p:grpSpPr>
        <p:sp>
          <p:nvSpPr>
            <p:cNvPr id="10348" name="Rectangle 48"/>
            <p:cNvSpPr>
              <a:spLocks noChangeArrowheads="1"/>
            </p:cNvSpPr>
            <p:nvPr/>
          </p:nvSpPr>
          <p:spPr bwMode="auto">
            <a:xfrm>
              <a:off x="0" y="1501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49" name="Rectangle 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27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 dirty="0">
                  <a:latin typeface="Courier New" panose="02070309020205020404" pitchFamily="49" charset="0"/>
                </a:rPr>
                <a:t> </a:t>
              </a:r>
              <a:r>
                <a:rPr lang="en-US" sz="1200" b="1" dirty="0" err="1">
                  <a:latin typeface="Courier New" panose="02070309020205020404" pitchFamily="49" charset="0"/>
                </a:rPr>
                <a:t>std</a:t>
              </a:r>
              <a:r>
                <a:rPr lang="en-US" sz="1200" b="1" dirty="0">
                  <a:latin typeface="Courier New" panose="02070309020205020404" pitchFamily="49" charset="0"/>
                </a:rPr>
                <a:t>::</a:t>
              </a:r>
              <a:r>
                <a:rPr lang="en-US" sz="1200" b="1" dirty="0" err="1">
                  <a:latin typeface="Courier New" panose="02070309020205020404" pitchFamily="49" charset="0"/>
                </a:rPr>
                <a:t>cout</a:t>
              </a:r>
              <a:r>
                <a:rPr lang="en-US" sz="1200" b="1" dirty="0">
                  <a:latin typeface="Courier New" panose="02070309020205020404" pitchFamily="49" charset="0"/>
                </a:rPr>
                <a:t>;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47" name="Group 51"/>
          <p:cNvGrpSpPr>
            <a:grpSpLocks/>
          </p:cNvGrpSpPr>
          <p:nvPr/>
        </p:nvGrpSpPr>
        <p:grpSpPr bwMode="auto">
          <a:xfrm>
            <a:off x="0" y="952500"/>
            <a:ext cx="6705600" cy="190500"/>
            <a:chOff x="0" y="1870"/>
            <a:chExt cx="3072" cy="374"/>
          </a:xfrm>
        </p:grpSpPr>
        <p:sp>
          <p:nvSpPr>
            <p:cNvPr id="10346" name="Rectangle 50"/>
            <p:cNvSpPr>
              <a:spLocks noChangeArrowheads="1"/>
            </p:cNvSpPr>
            <p:nvPr/>
          </p:nvSpPr>
          <p:spPr bwMode="auto">
            <a:xfrm>
              <a:off x="0" y="1875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47" name="Rectangle 9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48" name="Group 53"/>
          <p:cNvGrpSpPr>
            <a:grpSpLocks/>
          </p:cNvGrpSpPr>
          <p:nvPr/>
        </p:nvGrpSpPr>
        <p:grpSpPr bwMode="auto">
          <a:xfrm>
            <a:off x="0" y="1143000"/>
            <a:ext cx="6705600" cy="190500"/>
            <a:chOff x="0" y="2244"/>
            <a:chExt cx="3072" cy="374"/>
          </a:xfrm>
        </p:grpSpPr>
        <p:sp>
          <p:nvSpPr>
            <p:cNvPr id="10344" name="Rectangle 52"/>
            <p:cNvSpPr>
              <a:spLocks noChangeArrowheads="1"/>
            </p:cNvSpPr>
            <p:nvPr/>
          </p:nvSpPr>
          <p:spPr bwMode="auto">
            <a:xfrm>
              <a:off x="0" y="2249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45" name="Rectangle 10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29	</a:t>
              </a:r>
              <a:r>
                <a:rPr lang="en-US" sz="1200" b="1" dirty="0">
                  <a:latin typeface="Courier New" panose="02070309020205020404" pitchFamily="49" charset="0"/>
                </a:rPr>
                <a:t>#include "time1.h"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49" name="Group 55"/>
          <p:cNvGrpSpPr>
            <a:grpSpLocks/>
          </p:cNvGrpSpPr>
          <p:nvPr/>
        </p:nvGrpSpPr>
        <p:grpSpPr bwMode="auto">
          <a:xfrm>
            <a:off x="0" y="1333500"/>
            <a:ext cx="6705600" cy="190500"/>
            <a:chOff x="0" y="2618"/>
            <a:chExt cx="3072" cy="374"/>
          </a:xfrm>
        </p:grpSpPr>
        <p:sp>
          <p:nvSpPr>
            <p:cNvPr id="10342" name="Rectangle 54"/>
            <p:cNvSpPr>
              <a:spLocks noChangeArrowheads="1"/>
            </p:cNvSpPr>
            <p:nvPr/>
          </p:nvSpPr>
          <p:spPr bwMode="auto">
            <a:xfrm>
              <a:off x="0" y="2623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43" name="Rectangle 11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30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50" name="Group 57"/>
          <p:cNvGrpSpPr>
            <a:grpSpLocks/>
          </p:cNvGrpSpPr>
          <p:nvPr/>
        </p:nvGrpSpPr>
        <p:grpSpPr bwMode="auto">
          <a:xfrm>
            <a:off x="0" y="1524000"/>
            <a:ext cx="6705600" cy="190500"/>
            <a:chOff x="0" y="2992"/>
            <a:chExt cx="3072" cy="374"/>
          </a:xfrm>
        </p:grpSpPr>
        <p:sp>
          <p:nvSpPr>
            <p:cNvPr id="10340" name="Rectangle 56"/>
            <p:cNvSpPr>
              <a:spLocks noChangeArrowheads="1"/>
            </p:cNvSpPr>
            <p:nvPr/>
          </p:nvSpPr>
          <p:spPr bwMode="auto">
            <a:xfrm>
              <a:off x="0" y="2997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41" name="Rectangle 12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31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Time constructor initializes each data member to zero.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51" name="Group 59"/>
          <p:cNvGrpSpPr>
            <a:grpSpLocks/>
          </p:cNvGrpSpPr>
          <p:nvPr/>
        </p:nvGrpSpPr>
        <p:grpSpPr bwMode="auto">
          <a:xfrm>
            <a:off x="0" y="1714500"/>
            <a:ext cx="6705600" cy="190500"/>
            <a:chOff x="0" y="3366"/>
            <a:chExt cx="3072" cy="374"/>
          </a:xfrm>
        </p:grpSpPr>
        <p:sp>
          <p:nvSpPr>
            <p:cNvPr id="10338" name="Rectangle 58"/>
            <p:cNvSpPr>
              <a:spLocks noChangeArrowheads="1"/>
            </p:cNvSpPr>
            <p:nvPr/>
          </p:nvSpPr>
          <p:spPr bwMode="auto">
            <a:xfrm>
              <a:off x="0" y="3371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39" name="Rectangle 1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32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Ensures all Time objects start in a consistent state.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52" name="Group 61"/>
          <p:cNvGrpSpPr>
            <a:grpSpLocks/>
          </p:cNvGrpSpPr>
          <p:nvPr/>
        </p:nvGrpSpPr>
        <p:grpSpPr bwMode="auto">
          <a:xfrm>
            <a:off x="0" y="1905000"/>
            <a:ext cx="6705600" cy="190500"/>
            <a:chOff x="0" y="3740"/>
            <a:chExt cx="3072" cy="374"/>
          </a:xfrm>
        </p:grpSpPr>
        <p:sp>
          <p:nvSpPr>
            <p:cNvPr id="10336" name="Rectangle 60"/>
            <p:cNvSpPr>
              <a:spLocks noChangeArrowheads="1"/>
            </p:cNvSpPr>
            <p:nvPr/>
          </p:nvSpPr>
          <p:spPr bwMode="auto">
            <a:xfrm>
              <a:off x="0" y="3745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37" name="Rectangle 14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33	</a:t>
              </a:r>
              <a:r>
                <a:rPr lang="en-US" sz="1200" b="1" dirty="0">
                  <a:latin typeface="Courier New" panose="02070309020205020404" pitchFamily="49" charset="0"/>
                </a:rPr>
                <a:t>Time::Time() { hour = minute = second = 0; }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53" name="Group 63"/>
          <p:cNvGrpSpPr>
            <a:grpSpLocks/>
          </p:cNvGrpSpPr>
          <p:nvPr/>
        </p:nvGrpSpPr>
        <p:grpSpPr bwMode="auto">
          <a:xfrm>
            <a:off x="0" y="2095500"/>
            <a:ext cx="6705600" cy="190500"/>
            <a:chOff x="0" y="4114"/>
            <a:chExt cx="3072" cy="374"/>
          </a:xfrm>
        </p:grpSpPr>
        <p:sp>
          <p:nvSpPr>
            <p:cNvPr id="10334" name="Rectangle 62"/>
            <p:cNvSpPr>
              <a:spLocks noChangeArrowheads="1"/>
            </p:cNvSpPr>
            <p:nvPr/>
          </p:nvSpPr>
          <p:spPr bwMode="auto">
            <a:xfrm>
              <a:off x="0" y="4119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35" name="Rectangle 15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54" name="Group 65"/>
          <p:cNvGrpSpPr>
            <a:grpSpLocks/>
          </p:cNvGrpSpPr>
          <p:nvPr/>
        </p:nvGrpSpPr>
        <p:grpSpPr bwMode="auto">
          <a:xfrm>
            <a:off x="0" y="2286000"/>
            <a:ext cx="6705600" cy="190500"/>
            <a:chOff x="0" y="4488"/>
            <a:chExt cx="3072" cy="374"/>
          </a:xfrm>
        </p:grpSpPr>
        <p:sp>
          <p:nvSpPr>
            <p:cNvPr id="10332" name="Rectangle 64"/>
            <p:cNvSpPr>
              <a:spLocks noChangeArrowheads="1"/>
            </p:cNvSpPr>
            <p:nvPr/>
          </p:nvSpPr>
          <p:spPr bwMode="auto">
            <a:xfrm>
              <a:off x="0" y="4493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33" name="Rectangle 16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35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Set a new Time value using military time. Perform validity 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55" name="Group 67"/>
          <p:cNvGrpSpPr>
            <a:grpSpLocks/>
          </p:cNvGrpSpPr>
          <p:nvPr/>
        </p:nvGrpSpPr>
        <p:grpSpPr bwMode="auto">
          <a:xfrm>
            <a:off x="0" y="2476500"/>
            <a:ext cx="6705600" cy="190500"/>
            <a:chOff x="0" y="4862"/>
            <a:chExt cx="3072" cy="374"/>
          </a:xfrm>
        </p:grpSpPr>
        <p:sp>
          <p:nvSpPr>
            <p:cNvPr id="10330" name="Rectangle 66"/>
            <p:cNvSpPr>
              <a:spLocks noChangeArrowheads="1"/>
            </p:cNvSpPr>
            <p:nvPr/>
          </p:nvSpPr>
          <p:spPr bwMode="auto">
            <a:xfrm>
              <a:off x="0" y="4867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31" name="Rectangle 17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36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checks on the data values. Set invalid values to zero.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56" name="Group 69"/>
          <p:cNvGrpSpPr>
            <a:grpSpLocks/>
          </p:cNvGrpSpPr>
          <p:nvPr/>
        </p:nvGrpSpPr>
        <p:grpSpPr bwMode="auto">
          <a:xfrm>
            <a:off x="0" y="2667000"/>
            <a:ext cx="6705600" cy="190500"/>
            <a:chOff x="0" y="5236"/>
            <a:chExt cx="3072" cy="374"/>
          </a:xfrm>
        </p:grpSpPr>
        <p:sp>
          <p:nvSpPr>
            <p:cNvPr id="10328" name="Rectangle 68"/>
            <p:cNvSpPr>
              <a:spLocks noChangeArrowheads="1"/>
            </p:cNvSpPr>
            <p:nvPr/>
          </p:nvSpPr>
          <p:spPr bwMode="auto">
            <a:xfrm>
              <a:off x="0" y="5241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29" name="Rectangle 1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37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Time::</a:t>
              </a:r>
              <a:r>
                <a:rPr lang="en-US" sz="1200" b="1" dirty="0" err="1">
                  <a:latin typeface="Courier New" panose="02070309020205020404" pitchFamily="49" charset="0"/>
                </a:rPr>
                <a:t>setTime</a:t>
              </a:r>
              <a:r>
                <a:rPr lang="en-US" sz="1200" b="1" dirty="0">
                  <a:latin typeface="Courier New" panose="02070309020205020404" pitchFamily="49" charset="0"/>
                </a:rPr>
                <a:t>( </a:t>
              </a:r>
              <a:r>
                <a:rPr lang="en-US" sz="1200" b="1" dirty="0" err="1"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h, </a:t>
              </a:r>
              <a:r>
                <a:rPr lang="en-US" sz="1200" b="1" dirty="0" err="1"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m, </a:t>
              </a:r>
              <a:r>
                <a:rPr lang="en-US" sz="1200" b="1" dirty="0" err="1"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s )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57" name="Group 71"/>
          <p:cNvGrpSpPr>
            <a:grpSpLocks/>
          </p:cNvGrpSpPr>
          <p:nvPr/>
        </p:nvGrpSpPr>
        <p:grpSpPr bwMode="auto">
          <a:xfrm>
            <a:off x="0" y="2857500"/>
            <a:ext cx="6705600" cy="190500"/>
            <a:chOff x="0" y="5610"/>
            <a:chExt cx="3072" cy="374"/>
          </a:xfrm>
        </p:grpSpPr>
        <p:sp>
          <p:nvSpPr>
            <p:cNvPr id="10326" name="Rectangle 70"/>
            <p:cNvSpPr>
              <a:spLocks noChangeArrowheads="1"/>
            </p:cNvSpPr>
            <p:nvPr/>
          </p:nvSpPr>
          <p:spPr bwMode="auto">
            <a:xfrm>
              <a:off x="0" y="5615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27" name="Rectangle 19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38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58" name="Group 73"/>
          <p:cNvGrpSpPr>
            <a:grpSpLocks/>
          </p:cNvGrpSpPr>
          <p:nvPr/>
        </p:nvGrpSpPr>
        <p:grpSpPr bwMode="auto">
          <a:xfrm>
            <a:off x="0" y="3048000"/>
            <a:ext cx="6705600" cy="190500"/>
            <a:chOff x="0" y="5984"/>
            <a:chExt cx="3072" cy="374"/>
          </a:xfrm>
        </p:grpSpPr>
        <p:sp>
          <p:nvSpPr>
            <p:cNvPr id="10324" name="Rectangle 72"/>
            <p:cNvSpPr>
              <a:spLocks noChangeArrowheads="1"/>
            </p:cNvSpPr>
            <p:nvPr/>
          </p:nvSpPr>
          <p:spPr bwMode="auto">
            <a:xfrm>
              <a:off x="0" y="5989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25" name="Rectangle 20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39	</a:t>
              </a:r>
              <a:r>
                <a:rPr lang="en-US" sz="1200" b="1">
                  <a:latin typeface="Courier New" panose="02070309020205020404" pitchFamily="49" charset="0"/>
                </a:rPr>
                <a:t>   hour   = ( h &gt;= 0 &amp;&amp; h &lt; 24 ) ? h :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59" name="Group 75"/>
          <p:cNvGrpSpPr>
            <a:grpSpLocks/>
          </p:cNvGrpSpPr>
          <p:nvPr/>
        </p:nvGrpSpPr>
        <p:grpSpPr bwMode="auto">
          <a:xfrm>
            <a:off x="0" y="3238500"/>
            <a:ext cx="6705600" cy="190500"/>
            <a:chOff x="0" y="6358"/>
            <a:chExt cx="3072" cy="374"/>
          </a:xfrm>
        </p:grpSpPr>
        <p:sp>
          <p:nvSpPr>
            <p:cNvPr id="10322" name="Rectangle 74"/>
            <p:cNvSpPr>
              <a:spLocks noChangeArrowheads="1"/>
            </p:cNvSpPr>
            <p:nvPr/>
          </p:nvSpPr>
          <p:spPr bwMode="auto">
            <a:xfrm>
              <a:off x="0" y="6363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23" name="Rectangle 21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40	</a:t>
              </a:r>
              <a:r>
                <a:rPr lang="en-US" sz="1200" b="1">
                  <a:latin typeface="Courier New" panose="02070309020205020404" pitchFamily="49" charset="0"/>
                </a:rPr>
                <a:t>   minute = ( m &gt;= 0 &amp;&amp; m &lt; 60 ) ? m :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60" name="Group 77"/>
          <p:cNvGrpSpPr>
            <a:grpSpLocks/>
          </p:cNvGrpSpPr>
          <p:nvPr/>
        </p:nvGrpSpPr>
        <p:grpSpPr bwMode="auto">
          <a:xfrm>
            <a:off x="0" y="3429000"/>
            <a:ext cx="6705600" cy="190500"/>
            <a:chOff x="0" y="6732"/>
            <a:chExt cx="3072" cy="374"/>
          </a:xfrm>
        </p:grpSpPr>
        <p:sp>
          <p:nvSpPr>
            <p:cNvPr id="10320" name="Rectangle 76"/>
            <p:cNvSpPr>
              <a:spLocks noChangeArrowheads="1"/>
            </p:cNvSpPr>
            <p:nvPr/>
          </p:nvSpPr>
          <p:spPr bwMode="auto">
            <a:xfrm>
              <a:off x="0" y="6737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21" name="Rectangle 22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41	</a:t>
              </a:r>
              <a:r>
                <a:rPr lang="en-US" sz="1200" b="1">
                  <a:latin typeface="Courier New" panose="02070309020205020404" pitchFamily="49" charset="0"/>
                </a:rPr>
                <a:t>   second = ( s &gt;= 0 &amp;&amp; s &lt; 60 ) ? s :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61" name="Group 79"/>
          <p:cNvGrpSpPr>
            <a:grpSpLocks/>
          </p:cNvGrpSpPr>
          <p:nvPr/>
        </p:nvGrpSpPr>
        <p:grpSpPr bwMode="auto">
          <a:xfrm>
            <a:off x="0" y="3619500"/>
            <a:ext cx="6705600" cy="190500"/>
            <a:chOff x="0" y="7106"/>
            <a:chExt cx="3072" cy="374"/>
          </a:xfrm>
        </p:grpSpPr>
        <p:sp>
          <p:nvSpPr>
            <p:cNvPr id="10318" name="Rectangle 78"/>
            <p:cNvSpPr>
              <a:spLocks noChangeArrowheads="1"/>
            </p:cNvSpPr>
            <p:nvPr/>
          </p:nvSpPr>
          <p:spPr bwMode="auto">
            <a:xfrm>
              <a:off x="0" y="7111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19" name="Rectangle 2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42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62" name="Group 81"/>
          <p:cNvGrpSpPr>
            <a:grpSpLocks/>
          </p:cNvGrpSpPr>
          <p:nvPr/>
        </p:nvGrpSpPr>
        <p:grpSpPr bwMode="auto">
          <a:xfrm>
            <a:off x="0" y="3810000"/>
            <a:ext cx="6705600" cy="190500"/>
            <a:chOff x="0" y="7480"/>
            <a:chExt cx="3072" cy="374"/>
          </a:xfrm>
        </p:grpSpPr>
        <p:sp>
          <p:nvSpPr>
            <p:cNvPr id="10316" name="Rectangle 80"/>
            <p:cNvSpPr>
              <a:spLocks noChangeArrowheads="1"/>
            </p:cNvSpPr>
            <p:nvPr/>
          </p:nvSpPr>
          <p:spPr bwMode="auto">
            <a:xfrm>
              <a:off x="0" y="7485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17" name="Rectangle 24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43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63" name="Group 83"/>
          <p:cNvGrpSpPr>
            <a:grpSpLocks/>
          </p:cNvGrpSpPr>
          <p:nvPr/>
        </p:nvGrpSpPr>
        <p:grpSpPr bwMode="auto">
          <a:xfrm>
            <a:off x="0" y="4000500"/>
            <a:ext cx="6705600" cy="190500"/>
            <a:chOff x="0" y="7854"/>
            <a:chExt cx="3072" cy="374"/>
          </a:xfrm>
        </p:grpSpPr>
        <p:sp>
          <p:nvSpPr>
            <p:cNvPr id="10314" name="Rectangle 82"/>
            <p:cNvSpPr>
              <a:spLocks noChangeArrowheads="1"/>
            </p:cNvSpPr>
            <p:nvPr/>
          </p:nvSpPr>
          <p:spPr bwMode="auto">
            <a:xfrm>
              <a:off x="0" y="7859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15" name="Rectangle 25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44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Print Time in military format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64" name="Group 85"/>
          <p:cNvGrpSpPr>
            <a:grpSpLocks/>
          </p:cNvGrpSpPr>
          <p:nvPr/>
        </p:nvGrpSpPr>
        <p:grpSpPr bwMode="auto">
          <a:xfrm>
            <a:off x="0" y="4191000"/>
            <a:ext cx="6705600" cy="190500"/>
            <a:chOff x="0" y="8228"/>
            <a:chExt cx="3072" cy="374"/>
          </a:xfrm>
        </p:grpSpPr>
        <p:sp>
          <p:nvSpPr>
            <p:cNvPr id="10312" name="Rectangle 84"/>
            <p:cNvSpPr>
              <a:spLocks noChangeArrowheads="1"/>
            </p:cNvSpPr>
            <p:nvPr/>
          </p:nvSpPr>
          <p:spPr bwMode="auto">
            <a:xfrm>
              <a:off x="0" y="8233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13" name="Rectangle 26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45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Time::</a:t>
              </a:r>
              <a:r>
                <a:rPr lang="en-US" sz="1200" b="1" dirty="0" err="1">
                  <a:latin typeface="Courier New" panose="02070309020205020404" pitchFamily="49" charset="0"/>
                </a:rPr>
                <a:t>printMilitary</a:t>
              </a:r>
              <a:r>
                <a:rPr lang="en-US" sz="1200" b="1" dirty="0">
                  <a:latin typeface="Courier New" panose="02070309020205020404" pitchFamily="49" charset="0"/>
                </a:rPr>
                <a:t>()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65" name="Group 87"/>
          <p:cNvGrpSpPr>
            <a:grpSpLocks/>
          </p:cNvGrpSpPr>
          <p:nvPr/>
        </p:nvGrpSpPr>
        <p:grpSpPr bwMode="auto">
          <a:xfrm>
            <a:off x="0" y="4381500"/>
            <a:ext cx="6705600" cy="190500"/>
            <a:chOff x="0" y="8602"/>
            <a:chExt cx="3072" cy="374"/>
          </a:xfrm>
        </p:grpSpPr>
        <p:sp>
          <p:nvSpPr>
            <p:cNvPr id="10310" name="Rectangle 86"/>
            <p:cNvSpPr>
              <a:spLocks noChangeArrowheads="1"/>
            </p:cNvSpPr>
            <p:nvPr/>
          </p:nvSpPr>
          <p:spPr bwMode="auto">
            <a:xfrm>
              <a:off x="0" y="8607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11" name="Rectangle 27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46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66" name="Group 89"/>
          <p:cNvGrpSpPr>
            <a:grpSpLocks/>
          </p:cNvGrpSpPr>
          <p:nvPr/>
        </p:nvGrpSpPr>
        <p:grpSpPr bwMode="auto">
          <a:xfrm>
            <a:off x="0" y="4572000"/>
            <a:ext cx="6705600" cy="190500"/>
            <a:chOff x="0" y="8976"/>
            <a:chExt cx="3072" cy="374"/>
          </a:xfrm>
        </p:grpSpPr>
        <p:sp>
          <p:nvSpPr>
            <p:cNvPr id="10308" name="Rectangle 88"/>
            <p:cNvSpPr>
              <a:spLocks noChangeArrowheads="1"/>
            </p:cNvSpPr>
            <p:nvPr/>
          </p:nvSpPr>
          <p:spPr bwMode="auto">
            <a:xfrm>
              <a:off x="0" y="8981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09" name="Rectangle 2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47	</a:t>
              </a:r>
              <a:r>
                <a:rPr lang="en-US" sz="1200" b="1">
                  <a:latin typeface="Courier New" panose="02070309020205020404" pitchFamily="49" charset="0"/>
                </a:rPr>
                <a:t>   cout &lt;&lt; ( hour &lt; 10 ? "0" : "" ) &lt;&lt; hour &lt;&lt; ":"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67" name="Group 91"/>
          <p:cNvGrpSpPr>
            <a:grpSpLocks/>
          </p:cNvGrpSpPr>
          <p:nvPr/>
        </p:nvGrpSpPr>
        <p:grpSpPr bwMode="auto">
          <a:xfrm>
            <a:off x="0" y="4762500"/>
            <a:ext cx="6705600" cy="190500"/>
            <a:chOff x="0" y="9350"/>
            <a:chExt cx="3072" cy="374"/>
          </a:xfrm>
        </p:grpSpPr>
        <p:sp>
          <p:nvSpPr>
            <p:cNvPr id="10306" name="Rectangle 90"/>
            <p:cNvSpPr>
              <a:spLocks noChangeArrowheads="1"/>
            </p:cNvSpPr>
            <p:nvPr/>
          </p:nvSpPr>
          <p:spPr bwMode="auto">
            <a:xfrm>
              <a:off x="0" y="9355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07" name="Rectangle 29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48	</a:t>
              </a:r>
              <a:r>
                <a:rPr lang="en-US" sz="1200" b="1">
                  <a:latin typeface="Courier New" panose="02070309020205020404" pitchFamily="49" charset="0"/>
                </a:rPr>
                <a:t>        &lt;&lt; ( minute &lt; 10 ? "0" : "" ) &lt;&lt; minute;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68" name="Group 93"/>
          <p:cNvGrpSpPr>
            <a:grpSpLocks/>
          </p:cNvGrpSpPr>
          <p:nvPr/>
        </p:nvGrpSpPr>
        <p:grpSpPr bwMode="auto">
          <a:xfrm>
            <a:off x="0" y="4953000"/>
            <a:ext cx="6705600" cy="190500"/>
            <a:chOff x="0" y="9724"/>
            <a:chExt cx="3072" cy="374"/>
          </a:xfrm>
        </p:grpSpPr>
        <p:sp>
          <p:nvSpPr>
            <p:cNvPr id="10304" name="Rectangle 92"/>
            <p:cNvSpPr>
              <a:spLocks noChangeArrowheads="1"/>
            </p:cNvSpPr>
            <p:nvPr/>
          </p:nvSpPr>
          <p:spPr bwMode="auto">
            <a:xfrm>
              <a:off x="0" y="9729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05" name="Rectangle 30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49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69" name="Group 95"/>
          <p:cNvGrpSpPr>
            <a:grpSpLocks/>
          </p:cNvGrpSpPr>
          <p:nvPr/>
        </p:nvGrpSpPr>
        <p:grpSpPr bwMode="auto">
          <a:xfrm>
            <a:off x="0" y="5143500"/>
            <a:ext cx="6705600" cy="190500"/>
            <a:chOff x="0" y="10098"/>
            <a:chExt cx="3072" cy="374"/>
          </a:xfrm>
        </p:grpSpPr>
        <p:sp>
          <p:nvSpPr>
            <p:cNvPr id="10302" name="Rectangle 94"/>
            <p:cNvSpPr>
              <a:spLocks noChangeArrowheads="1"/>
            </p:cNvSpPr>
            <p:nvPr/>
          </p:nvSpPr>
          <p:spPr bwMode="auto">
            <a:xfrm>
              <a:off x="0" y="10103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03" name="Rectangle 31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50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70" name="Group 97"/>
          <p:cNvGrpSpPr>
            <a:grpSpLocks/>
          </p:cNvGrpSpPr>
          <p:nvPr/>
        </p:nvGrpSpPr>
        <p:grpSpPr bwMode="auto">
          <a:xfrm>
            <a:off x="0" y="5334000"/>
            <a:ext cx="6705600" cy="190500"/>
            <a:chOff x="0" y="10472"/>
            <a:chExt cx="3072" cy="374"/>
          </a:xfrm>
        </p:grpSpPr>
        <p:sp>
          <p:nvSpPr>
            <p:cNvPr id="10300" name="Rectangle 96"/>
            <p:cNvSpPr>
              <a:spLocks noChangeArrowheads="1"/>
            </p:cNvSpPr>
            <p:nvPr/>
          </p:nvSpPr>
          <p:spPr bwMode="auto">
            <a:xfrm>
              <a:off x="0" y="10477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301" name="Rectangle 32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51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Print time in standard format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71" name="Group 99"/>
          <p:cNvGrpSpPr>
            <a:grpSpLocks/>
          </p:cNvGrpSpPr>
          <p:nvPr/>
        </p:nvGrpSpPr>
        <p:grpSpPr bwMode="auto">
          <a:xfrm>
            <a:off x="0" y="5524500"/>
            <a:ext cx="6705600" cy="190500"/>
            <a:chOff x="0" y="10846"/>
            <a:chExt cx="3072" cy="374"/>
          </a:xfrm>
        </p:grpSpPr>
        <p:sp>
          <p:nvSpPr>
            <p:cNvPr id="10298" name="Rectangle 98"/>
            <p:cNvSpPr>
              <a:spLocks noChangeArrowheads="1"/>
            </p:cNvSpPr>
            <p:nvPr/>
          </p:nvSpPr>
          <p:spPr bwMode="auto">
            <a:xfrm>
              <a:off x="0" y="10851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299" name="Rectangle 3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52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Time::</a:t>
              </a:r>
              <a:r>
                <a:rPr lang="en-US" sz="1200" b="1" dirty="0" err="1">
                  <a:latin typeface="Courier New" panose="02070309020205020404" pitchFamily="49" charset="0"/>
                </a:rPr>
                <a:t>printStandard</a:t>
              </a:r>
              <a:r>
                <a:rPr lang="en-US" sz="1200" b="1" dirty="0">
                  <a:latin typeface="Courier New" panose="02070309020205020404" pitchFamily="49" charset="0"/>
                </a:rPr>
                <a:t>()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72" name="Group 101"/>
          <p:cNvGrpSpPr>
            <a:grpSpLocks/>
          </p:cNvGrpSpPr>
          <p:nvPr/>
        </p:nvGrpSpPr>
        <p:grpSpPr bwMode="auto">
          <a:xfrm>
            <a:off x="0" y="5715000"/>
            <a:ext cx="6705600" cy="190500"/>
            <a:chOff x="0" y="11220"/>
            <a:chExt cx="3072" cy="374"/>
          </a:xfrm>
        </p:grpSpPr>
        <p:sp>
          <p:nvSpPr>
            <p:cNvPr id="10296" name="Rectangle 100"/>
            <p:cNvSpPr>
              <a:spLocks noChangeArrowheads="1"/>
            </p:cNvSpPr>
            <p:nvPr/>
          </p:nvSpPr>
          <p:spPr bwMode="auto">
            <a:xfrm>
              <a:off x="0" y="11225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297" name="Rectangle 34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53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73" name="Group 103"/>
          <p:cNvGrpSpPr>
            <a:grpSpLocks/>
          </p:cNvGrpSpPr>
          <p:nvPr/>
        </p:nvGrpSpPr>
        <p:grpSpPr bwMode="auto">
          <a:xfrm>
            <a:off x="0" y="5905500"/>
            <a:ext cx="6705600" cy="190500"/>
            <a:chOff x="0" y="11594"/>
            <a:chExt cx="3072" cy="374"/>
          </a:xfrm>
        </p:grpSpPr>
        <p:sp>
          <p:nvSpPr>
            <p:cNvPr id="10294" name="Rectangle 102"/>
            <p:cNvSpPr>
              <a:spLocks noChangeArrowheads="1"/>
            </p:cNvSpPr>
            <p:nvPr/>
          </p:nvSpPr>
          <p:spPr bwMode="auto">
            <a:xfrm>
              <a:off x="0" y="11599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295" name="Rectangle 35"/>
            <p:cNvSpPr>
              <a:spLocks noChangeArrowheads="1"/>
            </p:cNvSpPr>
            <p:nvPr/>
          </p:nvSpPr>
          <p:spPr bwMode="auto">
            <a:xfrm>
              <a:off x="0" y="1159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54	</a:t>
              </a:r>
              <a:r>
                <a:rPr lang="en-US" sz="1200" b="1">
                  <a:latin typeface="Courier New" panose="02070309020205020404" pitchFamily="49" charset="0"/>
                </a:rPr>
                <a:t>   cout &lt;&lt; ( ( hour == 0 || hour == 12 ) ? 12 : hour % 12 )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74" name="Group 105"/>
          <p:cNvGrpSpPr>
            <a:grpSpLocks/>
          </p:cNvGrpSpPr>
          <p:nvPr/>
        </p:nvGrpSpPr>
        <p:grpSpPr bwMode="auto">
          <a:xfrm>
            <a:off x="0" y="6096000"/>
            <a:ext cx="6705600" cy="190500"/>
            <a:chOff x="0" y="11968"/>
            <a:chExt cx="3072" cy="374"/>
          </a:xfrm>
        </p:grpSpPr>
        <p:sp>
          <p:nvSpPr>
            <p:cNvPr id="10292" name="Rectangle 104"/>
            <p:cNvSpPr>
              <a:spLocks noChangeArrowheads="1"/>
            </p:cNvSpPr>
            <p:nvPr/>
          </p:nvSpPr>
          <p:spPr bwMode="auto">
            <a:xfrm>
              <a:off x="0" y="11973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293" name="Rectangle 36"/>
            <p:cNvSpPr>
              <a:spLocks noChangeArrowheads="1"/>
            </p:cNvSpPr>
            <p:nvPr/>
          </p:nvSpPr>
          <p:spPr bwMode="auto">
            <a:xfrm>
              <a:off x="0" y="1196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55	</a:t>
              </a:r>
              <a:r>
                <a:rPr lang="en-US" sz="1200" b="1">
                  <a:latin typeface="Courier New" panose="02070309020205020404" pitchFamily="49" charset="0"/>
                </a:rPr>
                <a:t>        &lt;&lt; ":" &lt;&lt; ( minute &lt; 10 ? "0" : "" ) &lt;&lt; minute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75" name="Group 107"/>
          <p:cNvGrpSpPr>
            <a:grpSpLocks/>
          </p:cNvGrpSpPr>
          <p:nvPr/>
        </p:nvGrpSpPr>
        <p:grpSpPr bwMode="auto">
          <a:xfrm>
            <a:off x="0" y="6286500"/>
            <a:ext cx="6705600" cy="190500"/>
            <a:chOff x="0" y="12342"/>
            <a:chExt cx="3072" cy="374"/>
          </a:xfrm>
        </p:grpSpPr>
        <p:sp>
          <p:nvSpPr>
            <p:cNvPr id="10290" name="Rectangle 106"/>
            <p:cNvSpPr>
              <a:spLocks noChangeArrowheads="1"/>
            </p:cNvSpPr>
            <p:nvPr/>
          </p:nvSpPr>
          <p:spPr bwMode="auto">
            <a:xfrm>
              <a:off x="0" y="12347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291" name="Rectangle 37"/>
            <p:cNvSpPr>
              <a:spLocks noChangeArrowheads="1"/>
            </p:cNvSpPr>
            <p:nvPr/>
          </p:nvSpPr>
          <p:spPr bwMode="auto">
            <a:xfrm>
              <a:off x="0" y="1234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56	</a:t>
              </a:r>
              <a:r>
                <a:rPr lang="en-US" sz="1200" b="1">
                  <a:latin typeface="Courier New" panose="02070309020205020404" pitchFamily="49" charset="0"/>
                </a:rPr>
                <a:t>        &lt;&lt; ":" &lt;&lt; ( second &lt; 10 ? "0" : "" ) &lt;&lt; second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76" name="Group 109"/>
          <p:cNvGrpSpPr>
            <a:grpSpLocks/>
          </p:cNvGrpSpPr>
          <p:nvPr/>
        </p:nvGrpSpPr>
        <p:grpSpPr bwMode="auto">
          <a:xfrm>
            <a:off x="0" y="6477000"/>
            <a:ext cx="6705600" cy="190500"/>
            <a:chOff x="0" y="12716"/>
            <a:chExt cx="3072" cy="374"/>
          </a:xfrm>
        </p:grpSpPr>
        <p:sp>
          <p:nvSpPr>
            <p:cNvPr id="10288" name="Rectangle 108"/>
            <p:cNvSpPr>
              <a:spLocks noChangeArrowheads="1"/>
            </p:cNvSpPr>
            <p:nvPr/>
          </p:nvSpPr>
          <p:spPr bwMode="auto">
            <a:xfrm>
              <a:off x="0" y="12721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289" name="Rectangle 38"/>
            <p:cNvSpPr>
              <a:spLocks noChangeArrowheads="1"/>
            </p:cNvSpPr>
            <p:nvPr/>
          </p:nvSpPr>
          <p:spPr bwMode="auto">
            <a:xfrm>
              <a:off x="0" y="1271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57	</a:t>
              </a:r>
              <a:r>
                <a:rPr lang="en-US" sz="1200" b="1">
                  <a:latin typeface="Courier New" panose="02070309020205020404" pitchFamily="49" charset="0"/>
                </a:rPr>
                <a:t>        &lt;&lt; ( hour &lt; 12 ? " AM" : " PM"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0277" name="Group 111"/>
          <p:cNvGrpSpPr>
            <a:grpSpLocks/>
          </p:cNvGrpSpPr>
          <p:nvPr/>
        </p:nvGrpSpPr>
        <p:grpSpPr bwMode="auto">
          <a:xfrm>
            <a:off x="0" y="6667500"/>
            <a:ext cx="6705600" cy="190500"/>
            <a:chOff x="0" y="13090"/>
            <a:chExt cx="3072" cy="374"/>
          </a:xfrm>
        </p:grpSpPr>
        <p:sp>
          <p:nvSpPr>
            <p:cNvPr id="10286" name="Rectangle 110"/>
            <p:cNvSpPr>
              <a:spLocks noChangeArrowheads="1"/>
            </p:cNvSpPr>
            <p:nvPr/>
          </p:nvSpPr>
          <p:spPr bwMode="auto">
            <a:xfrm>
              <a:off x="0" y="13095"/>
              <a:ext cx="0" cy="36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0287" name="Rectangle 39"/>
            <p:cNvSpPr>
              <a:spLocks noChangeArrowheads="1"/>
            </p:cNvSpPr>
            <p:nvPr/>
          </p:nvSpPr>
          <p:spPr bwMode="auto">
            <a:xfrm>
              <a:off x="0" y="1309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58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9819" name="Group 122"/>
          <p:cNvGrpSpPr>
            <a:grpSpLocks/>
          </p:cNvGrpSpPr>
          <p:nvPr/>
        </p:nvGrpSpPr>
        <p:grpSpPr bwMode="auto">
          <a:xfrm>
            <a:off x="1904893" y="920751"/>
            <a:ext cx="5410308" cy="430213"/>
            <a:chOff x="1219" y="580"/>
            <a:chExt cx="2957" cy="271"/>
          </a:xfrm>
        </p:grpSpPr>
        <p:sp>
          <p:nvSpPr>
            <p:cNvPr id="10284" name="Text Box 113"/>
            <p:cNvSpPr txBox="1">
              <a:spLocks noChangeArrowheads="1"/>
            </p:cNvSpPr>
            <p:nvPr/>
          </p:nvSpPr>
          <p:spPr bwMode="auto">
            <a:xfrm>
              <a:off x="2496" y="580"/>
              <a:ext cx="1680" cy="27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dirty="0"/>
                <a:t>Source file uses </a:t>
              </a:r>
              <a:r>
                <a:rPr lang="en-US" sz="1400" b="1" dirty="0">
                  <a:latin typeface="Courier New" panose="02070309020205020404" pitchFamily="49" charset="0"/>
                </a:rPr>
                <a:t>#include</a:t>
              </a:r>
              <a:r>
                <a:rPr lang="en-US" sz="1400" dirty="0"/>
                <a:t> to load the header file</a:t>
              </a:r>
            </a:p>
          </p:txBody>
        </p:sp>
        <p:sp>
          <p:nvSpPr>
            <p:cNvPr id="10285" name="Line 114"/>
            <p:cNvSpPr>
              <a:spLocks noChangeShapeType="1"/>
            </p:cNvSpPr>
            <p:nvPr/>
          </p:nvSpPr>
          <p:spPr bwMode="auto">
            <a:xfrm flipH="1">
              <a:off x="1219" y="718"/>
              <a:ext cx="1277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29820" name="Group 123"/>
          <p:cNvGrpSpPr>
            <a:grpSpLocks/>
          </p:cNvGrpSpPr>
          <p:nvPr/>
        </p:nvGrpSpPr>
        <p:grpSpPr bwMode="auto">
          <a:xfrm>
            <a:off x="2667000" y="2762250"/>
            <a:ext cx="5562600" cy="3105150"/>
            <a:chOff x="1680" y="1740"/>
            <a:chExt cx="3504" cy="1956"/>
          </a:xfrm>
        </p:grpSpPr>
        <p:sp>
          <p:nvSpPr>
            <p:cNvPr id="10280" name="Text Box 118"/>
            <p:cNvSpPr txBox="1">
              <a:spLocks noChangeArrowheads="1"/>
            </p:cNvSpPr>
            <p:nvPr/>
          </p:nvSpPr>
          <p:spPr bwMode="auto">
            <a:xfrm>
              <a:off x="3840" y="2160"/>
              <a:ext cx="1344" cy="27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b="1" dirty="0"/>
                <a:t>Source file contains function definitions</a:t>
              </a:r>
            </a:p>
          </p:txBody>
        </p:sp>
        <p:sp>
          <p:nvSpPr>
            <p:cNvPr id="10281" name="Line 119"/>
            <p:cNvSpPr>
              <a:spLocks noChangeShapeType="1"/>
            </p:cNvSpPr>
            <p:nvPr/>
          </p:nvSpPr>
          <p:spPr bwMode="auto">
            <a:xfrm flipH="1" flipV="1">
              <a:off x="2520" y="1740"/>
              <a:ext cx="124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0282" name="Line 120"/>
            <p:cNvSpPr>
              <a:spLocks noChangeShapeType="1"/>
            </p:cNvSpPr>
            <p:nvPr/>
          </p:nvSpPr>
          <p:spPr bwMode="auto">
            <a:xfrm flipH="1">
              <a:off x="1680" y="2352"/>
              <a:ext cx="2160" cy="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0283" name="Line 121"/>
            <p:cNvSpPr>
              <a:spLocks noChangeShapeType="1"/>
            </p:cNvSpPr>
            <p:nvPr/>
          </p:nvSpPr>
          <p:spPr bwMode="auto">
            <a:xfrm flipH="1">
              <a:off x="2160" y="2352"/>
              <a:ext cx="168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470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-754"/>
            <a:ext cx="8116956" cy="94563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Constructors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66675" y="874713"/>
            <a:ext cx="9001125" cy="5663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latin typeface="Calibri" pitchFamily="34" charset="0"/>
              </a:rPr>
              <a:t>A </a:t>
            </a:r>
            <a:r>
              <a:rPr lang="en-US" sz="2600" b="1" i="1" dirty="0">
                <a:solidFill>
                  <a:srgbClr val="C00000"/>
                </a:solidFill>
                <a:latin typeface="Calibri" pitchFamily="34" charset="0"/>
              </a:rPr>
              <a:t>constructor is a special function used to create an object</a:t>
            </a:r>
            <a:r>
              <a:rPr lang="en-US" sz="2600" dirty="0">
                <a:latin typeface="Calibri" pitchFamily="34" charset="0"/>
              </a:rPr>
              <a:t>. </a:t>
            </a:r>
            <a:r>
              <a:rPr lang="en-US" sz="2600" b="1" dirty="0">
                <a:latin typeface="Calibri" pitchFamily="34" charset="0"/>
              </a:rPr>
              <a:t>Constructor</a:t>
            </a:r>
            <a:r>
              <a:rPr lang="en-US" sz="2600" dirty="0">
                <a:latin typeface="Calibri" pitchFamily="34" charset="0"/>
              </a:rPr>
              <a:t> has </a:t>
            </a:r>
            <a:r>
              <a:rPr lang="en-US" sz="2600" b="1" dirty="0">
                <a:latin typeface="Calibri" pitchFamily="34" charset="0"/>
              </a:rPr>
              <a:t>exactly</a:t>
            </a:r>
            <a:r>
              <a:rPr lang="en-US" sz="2600" dirty="0">
                <a:latin typeface="Calibri" pitchFamily="34" charset="0"/>
              </a:rPr>
              <a:t> the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</a:rPr>
              <a:t>same name</a:t>
            </a:r>
            <a:r>
              <a:rPr lang="en-US" sz="2600" dirty="0">
                <a:latin typeface="Calibri" pitchFamily="34" charset="0"/>
              </a:rPr>
              <a:t> as the </a:t>
            </a:r>
            <a:r>
              <a:rPr lang="en-US" sz="2600" b="1" dirty="0">
                <a:solidFill>
                  <a:srgbClr val="2C14DE"/>
                </a:solidFill>
                <a:latin typeface="Calibri" pitchFamily="34" charset="0"/>
              </a:rPr>
              <a:t>defining class</a:t>
            </a: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600" b="1" dirty="0">
                <a:solidFill>
                  <a:srgbClr val="2F1BC7"/>
                </a:solidFill>
                <a:latin typeface="Calibri" pitchFamily="34" charset="0"/>
              </a:rPr>
              <a:t>Constructors</a:t>
            </a:r>
            <a:r>
              <a:rPr lang="en-US" sz="2600" dirty="0">
                <a:latin typeface="Calibri" pitchFamily="34" charset="0"/>
              </a:rPr>
              <a:t> can be </a:t>
            </a:r>
            <a:r>
              <a:rPr lang="en-US" sz="2600" b="1" i="1" u="sng" dirty="0">
                <a:solidFill>
                  <a:srgbClr val="C00000"/>
                </a:solidFill>
                <a:latin typeface="Calibri" pitchFamily="34" charset="0"/>
              </a:rPr>
              <a:t>overloaded</a:t>
            </a:r>
            <a:r>
              <a:rPr lang="en-US" sz="26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600" dirty="0">
                <a:latin typeface="Calibri" pitchFamily="34" charset="0"/>
              </a:rPr>
              <a:t>(i.e., </a:t>
            </a:r>
            <a:r>
              <a:rPr lang="en-US" sz="2600" b="1" dirty="0">
                <a:latin typeface="Calibri" pitchFamily="34" charset="0"/>
              </a:rPr>
              <a:t>multiple constructors</a:t>
            </a:r>
            <a:r>
              <a:rPr lang="en-US" sz="2600" dirty="0">
                <a:latin typeface="Calibri" pitchFamily="34" charset="0"/>
              </a:rPr>
              <a:t> with </a:t>
            </a:r>
            <a:r>
              <a:rPr lang="en-US" sz="2600" b="1" dirty="0">
                <a:latin typeface="Calibri" pitchFamily="34" charset="0"/>
              </a:rPr>
              <a:t>different signatures</a:t>
            </a:r>
            <a:r>
              <a:rPr lang="en-US" sz="2600" dirty="0">
                <a:latin typeface="Calibri" pitchFamily="34" charset="0"/>
              </a:rPr>
              <a:t>) [</a:t>
            </a:r>
            <a:r>
              <a:rPr lang="en-US" sz="2600" b="1" u="sng" dirty="0">
                <a:solidFill>
                  <a:srgbClr val="008000"/>
                </a:solidFill>
                <a:latin typeface="Calibri" pitchFamily="34" charset="0"/>
              </a:rPr>
              <a:t>Purpose:</a:t>
            </a:r>
            <a:r>
              <a:rPr lang="en-US" sz="2600" u="sng" dirty="0">
                <a:latin typeface="Calibri" pitchFamily="34" charset="0"/>
              </a:rPr>
              <a:t> 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</a:rPr>
              <a:t>making it easy to construct objects with different initial data values</a:t>
            </a:r>
            <a:r>
              <a:rPr lang="en-US" sz="2600" dirty="0">
                <a:latin typeface="Calibri" pitchFamily="34" charset="0"/>
              </a:rPr>
              <a:t>). </a:t>
            </a: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latin typeface="Calibri" pitchFamily="34" charset="0"/>
              </a:rPr>
              <a:t>A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</a:rPr>
              <a:t>class</a:t>
            </a:r>
            <a:r>
              <a:rPr lang="en-US" sz="26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600" dirty="0">
                <a:latin typeface="Calibri" pitchFamily="34" charset="0"/>
              </a:rPr>
              <a:t>may be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</a:rPr>
              <a:t>declared</a:t>
            </a:r>
            <a:r>
              <a:rPr lang="en-US" sz="26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</a:rPr>
              <a:t>without constructors</a:t>
            </a:r>
            <a:r>
              <a:rPr lang="en-US" sz="2600" dirty="0">
                <a:latin typeface="Calibri" pitchFamily="34" charset="0"/>
              </a:rPr>
              <a:t>. In this case, </a:t>
            </a:r>
            <a:r>
              <a:rPr lang="en-US" sz="2600" b="1" dirty="0">
                <a:latin typeface="Calibri" pitchFamily="34" charset="0"/>
              </a:rPr>
              <a:t>a </a:t>
            </a:r>
            <a:r>
              <a:rPr lang="en-US" sz="2600" b="1" u="sng" dirty="0">
                <a:latin typeface="Calibri" pitchFamily="34" charset="0"/>
              </a:rPr>
              <a:t>no-argument constructor </a:t>
            </a:r>
            <a:r>
              <a:rPr lang="en-US" sz="2600" b="1" dirty="0">
                <a:latin typeface="Calibri" pitchFamily="34" charset="0"/>
              </a:rPr>
              <a:t>with an </a:t>
            </a:r>
            <a:r>
              <a:rPr lang="en-US" sz="2600" b="1" u="sng" dirty="0">
                <a:latin typeface="Calibri" pitchFamily="34" charset="0"/>
              </a:rPr>
              <a:t>empty body </a:t>
            </a:r>
            <a:r>
              <a:rPr lang="en-US" sz="2600" dirty="0">
                <a:latin typeface="Calibri" pitchFamily="34" charset="0"/>
              </a:rPr>
              <a:t>is </a:t>
            </a:r>
            <a:r>
              <a:rPr lang="en-US" sz="2600" b="1" u="sng" dirty="0">
                <a:solidFill>
                  <a:srgbClr val="008000"/>
                </a:solidFill>
                <a:latin typeface="Calibri" pitchFamily="34" charset="0"/>
              </a:rPr>
              <a:t>implicitly declared</a:t>
            </a:r>
            <a:r>
              <a:rPr lang="en-US" sz="2600" dirty="0">
                <a:latin typeface="Calibri" pitchFamily="34" charset="0"/>
              </a:rPr>
              <a:t> in the class known as </a:t>
            </a:r>
            <a:r>
              <a:rPr lang="en-US" sz="2600" b="1" u="sng" dirty="0">
                <a:solidFill>
                  <a:srgbClr val="C00000"/>
                </a:solidFill>
                <a:latin typeface="Calibri" pitchFamily="34" charset="0"/>
              </a:rPr>
              <a:t>default constructor</a:t>
            </a: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b="1" i="1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1200" b="1" i="1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600" b="1" i="1" dirty="0">
                <a:solidFill>
                  <a:srgbClr val="C00000"/>
                </a:solidFill>
                <a:latin typeface="Calibri" pitchFamily="34" charset="0"/>
              </a:rPr>
              <a:t>Note: </a:t>
            </a:r>
            <a:r>
              <a:rPr lang="en-US" sz="2600" b="1" u="sng" dirty="0">
                <a:solidFill>
                  <a:srgbClr val="C00000"/>
                </a:solidFill>
                <a:latin typeface="Calibri" pitchFamily="34" charset="0"/>
              </a:rPr>
              <a:t>Default constructor is provided automatically </a:t>
            </a:r>
            <a:r>
              <a:rPr lang="en-US" sz="2600" b="1" i="1" u="sng" dirty="0">
                <a:solidFill>
                  <a:srgbClr val="2C14DE"/>
                </a:solidFill>
                <a:latin typeface="Calibri" pitchFamily="34" charset="0"/>
              </a:rPr>
              <a:t>only if </a:t>
            </a:r>
            <a:r>
              <a:rPr lang="en-US" sz="2600" b="1" i="1" u="sng" dirty="0">
                <a:solidFill>
                  <a:srgbClr val="C00000"/>
                </a:solidFill>
                <a:latin typeface="Calibri" pitchFamily="34" charset="0"/>
              </a:rPr>
              <a:t>no constructors are explicitly declared</a:t>
            </a:r>
            <a:r>
              <a:rPr lang="en-US" sz="2600" b="1" u="sng" dirty="0">
                <a:solidFill>
                  <a:srgbClr val="C00000"/>
                </a:solidFill>
                <a:latin typeface="Calibri" pitchFamily="34" charset="0"/>
              </a:rPr>
              <a:t> in the class.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987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74136"/>
            <a:ext cx="8001000" cy="7640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Constructors’ Properties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33991" y="1447800"/>
            <a:ext cx="8821738" cy="2591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must have the same name as the class</a:t>
            </a:r>
            <a:r>
              <a:rPr lang="en-US" sz="2800" dirty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 </a:t>
            </a:r>
            <a:r>
              <a:rPr lang="en-US" sz="2800" dirty="0">
                <a:latin typeface="Calibri" pitchFamily="34" charset="0"/>
                <a:cs typeface="Times New Roman" pitchFamily="18" charset="0"/>
              </a:rPr>
              <a:t>itself. </a:t>
            </a:r>
          </a:p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2800" dirty="0">
              <a:latin typeface="Calibri" pitchFamily="34" charset="0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do not have a return type</a:t>
            </a:r>
            <a:r>
              <a:rPr lang="en-US" sz="2800" dirty="0">
                <a:latin typeface="Calibri" pitchFamily="34" charset="0"/>
                <a:cs typeface="Times New Roman" pitchFamily="18" charset="0"/>
              </a:rPr>
              <a:t>—</a:t>
            </a:r>
            <a:r>
              <a:rPr lang="en-US" sz="2800" b="1" i="1" u="sng" dirty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not even void</a:t>
            </a:r>
            <a:r>
              <a:rPr lang="en-US" sz="2800" dirty="0">
                <a:latin typeface="Calibri" pitchFamily="34" charset="0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2800" dirty="0">
              <a:latin typeface="Calibri" pitchFamily="34" charset="0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2800" b="1" i="1" dirty="0">
                <a:solidFill>
                  <a:srgbClr val="2F1BC7"/>
                </a:solidFill>
                <a:latin typeface="Calibri" pitchFamily="34" charset="0"/>
                <a:cs typeface="Times New Roman" pitchFamily="18" charset="0"/>
              </a:rPr>
              <a:t>play the role of initializing objects</a:t>
            </a:r>
            <a:r>
              <a:rPr lang="en-US" sz="2800" dirty="0">
                <a:latin typeface="Calibri" pitchFamily="34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818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906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b="1" dirty="0">
                <a:solidFill>
                  <a:srgbClr val="D2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Constructors and Destructors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9756" y="1066800"/>
            <a:ext cx="8951844" cy="5715000"/>
          </a:xfrm>
        </p:spPr>
        <p:txBody>
          <a:bodyPr/>
          <a:lstStyle/>
          <a:p>
            <a:pPr lvl="1" algn="just"/>
            <a:r>
              <a:rPr lang="en-US" sz="3000" b="1" dirty="0">
                <a:solidFill>
                  <a:srgbClr val="D20000"/>
                </a:solidFill>
                <a:latin typeface="+mj-lt"/>
              </a:rPr>
              <a:t>Constructor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is a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function in every class</a:t>
            </a:r>
            <a:r>
              <a:rPr lang="en-US" sz="3000" dirty="0">
                <a:latin typeface="+mj-lt"/>
              </a:rPr>
              <a:t> which is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called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when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 creates its object</a:t>
            </a:r>
          </a:p>
          <a:p>
            <a:pPr lvl="2" eaLnBrk="1" hangingPunct="1"/>
            <a:r>
              <a:rPr lang="en-US" sz="2800" dirty="0">
                <a:latin typeface="+mj-lt"/>
              </a:rPr>
              <a:t>Basically it </a:t>
            </a:r>
            <a:r>
              <a:rPr lang="en-US" sz="2800" b="1" dirty="0">
                <a:latin typeface="+mj-lt"/>
              </a:rPr>
              <a:t>helps in</a:t>
            </a:r>
            <a:r>
              <a:rPr lang="en-US" sz="2800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800" b="1" u="sng" dirty="0">
                <a:solidFill>
                  <a:srgbClr val="2C14DE"/>
                </a:solidFill>
                <a:latin typeface="+mj-lt"/>
              </a:rPr>
              <a:t>initializing data members</a:t>
            </a:r>
            <a:r>
              <a:rPr lang="en-US" sz="2800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2800" dirty="0">
                <a:latin typeface="+mj-lt"/>
              </a:rPr>
              <a:t>of the class</a:t>
            </a:r>
          </a:p>
          <a:p>
            <a:pPr lvl="2" eaLnBrk="1" hangingPunct="1"/>
            <a:r>
              <a:rPr lang="en-US" sz="2800" dirty="0">
                <a:latin typeface="+mj-lt"/>
              </a:rPr>
              <a:t>A class may have </a:t>
            </a:r>
            <a:r>
              <a:rPr lang="en-US" sz="2800" b="1" u="sng" dirty="0">
                <a:solidFill>
                  <a:srgbClr val="2C14DE"/>
                </a:solidFill>
                <a:latin typeface="+mj-lt"/>
              </a:rPr>
              <a:t>multiple constructors</a:t>
            </a:r>
          </a:p>
          <a:p>
            <a:pPr lvl="1" eaLnBrk="1" hangingPunct="1"/>
            <a:endParaRPr lang="en-US" sz="2400" dirty="0">
              <a:latin typeface="+mj-lt"/>
            </a:endParaRPr>
          </a:p>
          <a:p>
            <a:pPr lvl="1" algn="just" eaLnBrk="1" hangingPunct="1"/>
            <a:r>
              <a:rPr lang="en-US" sz="3000" b="1" dirty="0">
                <a:solidFill>
                  <a:srgbClr val="D20000"/>
                </a:solidFill>
                <a:latin typeface="+mj-lt"/>
              </a:rPr>
              <a:t>Destructors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is a 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function in every class</a:t>
            </a:r>
            <a:r>
              <a:rPr lang="en-US" sz="3000" dirty="0">
                <a:latin typeface="+mj-lt"/>
              </a:rPr>
              <a:t> which is 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called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when the 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object of a class is destroyed</a:t>
            </a:r>
          </a:p>
          <a:p>
            <a:pPr lvl="2" algn="just" eaLnBrk="1" hangingPunct="1"/>
            <a:r>
              <a:rPr lang="en-US" sz="2800" dirty="0">
                <a:latin typeface="+mj-lt"/>
              </a:rPr>
              <a:t>The main purpose of destructor is to </a:t>
            </a:r>
            <a:r>
              <a:rPr lang="en-US" sz="2800" b="1" dirty="0">
                <a:solidFill>
                  <a:srgbClr val="2C14DE"/>
                </a:solidFill>
                <a:latin typeface="+mj-lt"/>
              </a:rPr>
              <a:t>remove dynamic memories etc.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622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46"/>
          <p:cNvGrpSpPr>
            <a:grpSpLocks/>
          </p:cNvGrpSpPr>
          <p:nvPr/>
        </p:nvGrpSpPr>
        <p:grpSpPr bwMode="auto">
          <a:xfrm>
            <a:off x="533400" y="942883"/>
            <a:ext cx="7848600" cy="849405"/>
            <a:chOff x="0" y="3365"/>
            <a:chExt cx="3072" cy="377"/>
          </a:xfrm>
        </p:grpSpPr>
        <p:sp>
          <p:nvSpPr>
            <p:cNvPr id="18477" name="Rectangle 45"/>
            <p:cNvSpPr>
              <a:spLocks noChangeArrowheads="1"/>
            </p:cNvSpPr>
            <p:nvPr/>
          </p:nvSpPr>
          <p:spPr bwMode="auto">
            <a:xfrm>
              <a:off x="0" y="3365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78" name="Rectangle 1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Time abstract data type definition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35" name="Group 48"/>
          <p:cNvGrpSpPr>
            <a:grpSpLocks/>
          </p:cNvGrpSpPr>
          <p:nvPr/>
        </p:nvGrpSpPr>
        <p:grpSpPr bwMode="auto">
          <a:xfrm>
            <a:off x="533400" y="1217521"/>
            <a:ext cx="7848600" cy="849402"/>
            <a:chOff x="0" y="3739"/>
            <a:chExt cx="3072" cy="377"/>
          </a:xfrm>
        </p:grpSpPr>
        <p:sp>
          <p:nvSpPr>
            <p:cNvPr id="18475" name="Rectangle 47"/>
            <p:cNvSpPr>
              <a:spLocks noChangeArrowheads="1"/>
            </p:cNvSpPr>
            <p:nvPr/>
          </p:nvSpPr>
          <p:spPr bwMode="auto">
            <a:xfrm>
              <a:off x="0" y="3739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76" name="Rectangle 14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11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class</a:t>
              </a:r>
              <a:r>
                <a:rPr lang="en-US" sz="1200" b="1" dirty="0">
                  <a:latin typeface="Courier New" panose="02070309020205020404" pitchFamily="49" charset="0"/>
                </a:rPr>
                <a:t> Time {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36" name="Group 50"/>
          <p:cNvGrpSpPr>
            <a:grpSpLocks/>
          </p:cNvGrpSpPr>
          <p:nvPr/>
        </p:nvGrpSpPr>
        <p:grpSpPr bwMode="auto">
          <a:xfrm>
            <a:off x="533400" y="1492158"/>
            <a:ext cx="7848600" cy="849405"/>
            <a:chOff x="0" y="4113"/>
            <a:chExt cx="3072" cy="377"/>
          </a:xfrm>
        </p:grpSpPr>
        <p:sp>
          <p:nvSpPr>
            <p:cNvPr id="18473" name="Rectangle 49"/>
            <p:cNvSpPr>
              <a:spLocks noChangeArrowheads="1"/>
            </p:cNvSpPr>
            <p:nvPr/>
          </p:nvSpPr>
          <p:spPr bwMode="auto">
            <a:xfrm>
              <a:off x="0" y="4113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74" name="Rectangle 15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public: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37" name="Group 52"/>
          <p:cNvGrpSpPr>
            <a:grpSpLocks/>
          </p:cNvGrpSpPr>
          <p:nvPr/>
        </p:nvGrpSpPr>
        <p:grpSpPr bwMode="auto">
          <a:xfrm>
            <a:off x="533400" y="1768383"/>
            <a:ext cx="7848600" cy="844550"/>
            <a:chOff x="0" y="4487"/>
            <a:chExt cx="3072" cy="377"/>
          </a:xfrm>
        </p:grpSpPr>
        <p:sp>
          <p:nvSpPr>
            <p:cNvPr id="18471" name="Rectangle 51"/>
            <p:cNvSpPr>
              <a:spLocks noChangeArrowheads="1"/>
            </p:cNvSpPr>
            <p:nvPr/>
          </p:nvSpPr>
          <p:spPr bwMode="auto">
            <a:xfrm>
              <a:off x="0" y="4487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72" name="Rectangle 16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13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Time( </a:t>
              </a:r>
              <a:r>
                <a:rPr lang="en-US" sz="1200" b="1" dirty="0" err="1">
                  <a:solidFill>
                    <a:srgbClr val="C00000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 = 0, </a:t>
              </a:r>
              <a:r>
                <a:rPr lang="en-US" sz="1200" b="1" dirty="0" err="1">
                  <a:solidFill>
                    <a:srgbClr val="C00000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 = 0, </a:t>
              </a:r>
              <a:r>
                <a:rPr lang="en-US" sz="1200" b="1" dirty="0" err="1">
                  <a:solidFill>
                    <a:srgbClr val="C00000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 = 0 );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default constructor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38" name="Group 54"/>
          <p:cNvGrpSpPr>
            <a:grpSpLocks/>
          </p:cNvGrpSpPr>
          <p:nvPr/>
        </p:nvGrpSpPr>
        <p:grpSpPr bwMode="auto">
          <a:xfrm>
            <a:off x="533400" y="2043021"/>
            <a:ext cx="7848600" cy="844550"/>
            <a:chOff x="0" y="4861"/>
            <a:chExt cx="3072" cy="377"/>
          </a:xfrm>
        </p:grpSpPr>
        <p:sp>
          <p:nvSpPr>
            <p:cNvPr id="18469" name="Rectangle 53"/>
            <p:cNvSpPr>
              <a:spLocks noChangeArrowheads="1"/>
            </p:cNvSpPr>
            <p:nvPr/>
          </p:nvSpPr>
          <p:spPr bwMode="auto">
            <a:xfrm>
              <a:off x="0" y="4861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70" name="Rectangle 17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14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</a:t>
              </a:r>
              <a:r>
                <a:rPr lang="en-US" sz="1200" b="1" dirty="0" err="1">
                  <a:latin typeface="Courier New" panose="02070309020205020404" pitchFamily="49" charset="0"/>
                </a:rPr>
                <a:t>setTime</a:t>
              </a:r>
              <a:r>
                <a:rPr lang="en-US" sz="1200" b="1" dirty="0">
                  <a:latin typeface="Courier New" panose="02070309020205020404" pitchFamily="49" charset="0"/>
                </a:rPr>
                <a:t>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);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set hour, minute, second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39" name="Group 56"/>
          <p:cNvGrpSpPr>
            <a:grpSpLocks/>
          </p:cNvGrpSpPr>
          <p:nvPr/>
        </p:nvGrpSpPr>
        <p:grpSpPr bwMode="auto">
          <a:xfrm>
            <a:off x="533400" y="2317658"/>
            <a:ext cx="7848600" cy="849405"/>
            <a:chOff x="0" y="5235"/>
            <a:chExt cx="3072" cy="377"/>
          </a:xfrm>
        </p:grpSpPr>
        <p:sp>
          <p:nvSpPr>
            <p:cNvPr id="18467" name="Rectangle 55"/>
            <p:cNvSpPr>
              <a:spLocks noChangeArrowheads="1"/>
            </p:cNvSpPr>
            <p:nvPr/>
          </p:nvSpPr>
          <p:spPr bwMode="auto">
            <a:xfrm>
              <a:off x="0" y="5235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68" name="Rectangle 1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15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printMilitary();    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print military time format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0" name="Group 58"/>
          <p:cNvGrpSpPr>
            <a:grpSpLocks/>
          </p:cNvGrpSpPr>
          <p:nvPr/>
        </p:nvGrpSpPr>
        <p:grpSpPr bwMode="auto">
          <a:xfrm>
            <a:off x="533400" y="2592296"/>
            <a:ext cx="7848600" cy="849402"/>
            <a:chOff x="0" y="5609"/>
            <a:chExt cx="3072" cy="377"/>
          </a:xfrm>
        </p:grpSpPr>
        <p:sp>
          <p:nvSpPr>
            <p:cNvPr id="18465" name="Rectangle 57"/>
            <p:cNvSpPr>
              <a:spLocks noChangeArrowheads="1"/>
            </p:cNvSpPr>
            <p:nvPr/>
          </p:nvSpPr>
          <p:spPr bwMode="auto">
            <a:xfrm>
              <a:off x="0" y="5609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66" name="Rectangle 19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16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</a:t>
              </a:r>
              <a:r>
                <a:rPr lang="en-US" sz="1200" b="1" dirty="0" err="1">
                  <a:latin typeface="Courier New" panose="02070309020205020404" pitchFamily="49" charset="0"/>
                </a:rPr>
                <a:t>printStandard</a:t>
              </a:r>
              <a:r>
                <a:rPr lang="en-US" sz="1200" b="1" dirty="0">
                  <a:latin typeface="Courier New" panose="02070309020205020404" pitchFamily="49" charset="0"/>
                </a:rPr>
                <a:t>();      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print standard time format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1" name="Group 60"/>
          <p:cNvGrpSpPr>
            <a:grpSpLocks/>
          </p:cNvGrpSpPr>
          <p:nvPr/>
        </p:nvGrpSpPr>
        <p:grpSpPr bwMode="auto">
          <a:xfrm>
            <a:off x="533400" y="2866933"/>
            <a:ext cx="7848600" cy="849405"/>
            <a:chOff x="0" y="5983"/>
            <a:chExt cx="3072" cy="377"/>
          </a:xfrm>
        </p:grpSpPr>
        <p:sp>
          <p:nvSpPr>
            <p:cNvPr id="18463" name="Rectangle 59"/>
            <p:cNvSpPr>
              <a:spLocks noChangeArrowheads="1"/>
            </p:cNvSpPr>
            <p:nvPr/>
          </p:nvSpPr>
          <p:spPr bwMode="auto">
            <a:xfrm>
              <a:off x="0" y="5983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64" name="Rectangle 20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17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private: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2" name="Group 62"/>
          <p:cNvGrpSpPr>
            <a:grpSpLocks/>
          </p:cNvGrpSpPr>
          <p:nvPr/>
        </p:nvGrpSpPr>
        <p:grpSpPr bwMode="auto">
          <a:xfrm>
            <a:off x="533400" y="3143158"/>
            <a:ext cx="7848600" cy="844550"/>
            <a:chOff x="0" y="6357"/>
            <a:chExt cx="3072" cy="377"/>
          </a:xfrm>
        </p:grpSpPr>
        <p:sp>
          <p:nvSpPr>
            <p:cNvPr id="18461" name="Rectangle 61"/>
            <p:cNvSpPr>
              <a:spLocks noChangeArrowheads="1"/>
            </p:cNvSpPr>
            <p:nvPr/>
          </p:nvSpPr>
          <p:spPr bwMode="auto">
            <a:xfrm>
              <a:off x="0" y="6357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62" name="Rectangle 21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18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hour;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0 - 23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3" name="Group 64"/>
          <p:cNvGrpSpPr>
            <a:grpSpLocks/>
          </p:cNvGrpSpPr>
          <p:nvPr/>
        </p:nvGrpSpPr>
        <p:grpSpPr bwMode="auto">
          <a:xfrm>
            <a:off x="533400" y="3417796"/>
            <a:ext cx="7848600" cy="844550"/>
            <a:chOff x="0" y="6731"/>
            <a:chExt cx="3072" cy="377"/>
          </a:xfrm>
        </p:grpSpPr>
        <p:sp>
          <p:nvSpPr>
            <p:cNvPr id="18459" name="Rectangle 63"/>
            <p:cNvSpPr>
              <a:spLocks noChangeArrowheads="1"/>
            </p:cNvSpPr>
            <p:nvPr/>
          </p:nvSpPr>
          <p:spPr bwMode="auto">
            <a:xfrm>
              <a:off x="0" y="6731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60" name="Rectangle 22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19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minute;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0 - 59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4" name="Group 66"/>
          <p:cNvGrpSpPr>
            <a:grpSpLocks/>
          </p:cNvGrpSpPr>
          <p:nvPr/>
        </p:nvGrpSpPr>
        <p:grpSpPr bwMode="auto">
          <a:xfrm>
            <a:off x="533400" y="3692433"/>
            <a:ext cx="7848600" cy="849405"/>
            <a:chOff x="0" y="7105"/>
            <a:chExt cx="3072" cy="377"/>
          </a:xfrm>
        </p:grpSpPr>
        <p:sp>
          <p:nvSpPr>
            <p:cNvPr id="18457" name="Rectangle 65"/>
            <p:cNvSpPr>
              <a:spLocks noChangeArrowheads="1"/>
            </p:cNvSpPr>
            <p:nvPr/>
          </p:nvSpPr>
          <p:spPr bwMode="auto">
            <a:xfrm>
              <a:off x="0" y="7105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58" name="Rectangle 2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20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second;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0 - 59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5" name="Group 68"/>
          <p:cNvGrpSpPr>
            <a:grpSpLocks/>
          </p:cNvGrpSpPr>
          <p:nvPr/>
        </p:nvGrpSpPr>
        <p:grpSpPr bwMode="auto">
          <a:xfrm>
            <a:off x="533400" y="3967071"/>
            <a:ext cx="7848600" cy="849402"/>
            <a:chOff x="0" y="7479"/>
            <a:chExt cx="3072" cy="377"/>
          </a:xfrm>
        </p:grpSpPr>
        <p:sp>
          <p:nvSpPr>
            <p:cNvPr id="18455" name="Rectangle 67"/>
            <p:cNvSpPr>
              <a:spLocks noChangeArrowheads="1"/>
            </p:cNvSpPr>
            <p:nvPr/>
          </p:nvSpPr>
          <p:spPr bwMode="auto">
            <a:xfrm>
              <a:off x="0" y="7479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56" name="Rectangle 24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21	</a:t>
              </a:r>
              <a:r>
                <a:rPr lang="en-US" sz="1200" b="1">
                  <a:latin typeface="Courier New" panose="02070309020205020404" pitchFamily="49" charset="0"/>
                </a:rPr>
                <a:t>};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6" name="Group 70"/>
          <p:cNvGrpSpPr>
            <a:grpSpLocks/>
          </p:cNvGrpSpPr>
          <p:nvPr/>
        </p:nvGrpSpPr>
        <p:grpSpPr bwMode="auto">
          <a:xfrm>
            <a:off x="533400" y="4241708"/>
            <a:ext cx="7848600" cy="849405"/>
            <a:chOff x="0" y="7853"/>
            <a:chExt cx="3072" cy="377"/>
          </a:xfrm>
        </p:grpSpPr>
        <p:sp>
          <p:nvSpPr>
            <p:cNvPr id="18453" name="Rectangle 69"/>
            <p:cNvSpPr>
              <a:spLocks noChangeArrowheads="1"/>
            </p:cNvSpPr>
            <p:nvPr/>
          </p:nvSpPr>
          <p:spPr bwMode="auto">
            <a:xfrm>
              <a:off x="0" y="7853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54" name="Rectangle 25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22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8447" name="Group 72"/>
          <p:cNvGrpSpPr>
            <a:grpSpLocks/>
          </p:cNvGrpSpPr>
          <p:nvPr/>
        </p:nvGrpSpPr>
        <p:grpSpPr bwMode="auto">
          <a:xfrm>
            <a:off x="533400" y="4517933"/>
            <a:ext cx="7848600" cy="844550"/>
            <a:chOff x="0" y="8227"/>
            <a:chExt cx="3072" cy="377"/>
          </a:xfrm>
        </p:grpSpPr>
        <p:sp>
          <p:nvSpPr>
            <p:cNvPr id="18451" name="Rectangle 71"/>
            <p:cNvSpPr>
              <a:spLocks noChangeArrowheads="1"/>
            </p:cNvSpPr>
            <p:nvPr/>
          </p:nvSpPr>
          <p:spPr bwMode="auto">
            <a:xfrm>
              <a:off x="0" y="8227"/>
              <a:ext cx="85" cy="37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8452" name="Rectangle 26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23	</a:t>
              </a:r>
              <a:r>
                <a:rPr lang="en-US" sz="1200" b="1">
                  <a:latin typeface="Courier New" panose="02070309020205020404" pitchFamily="49" charset="0"/>
                </a:rPr>
                <a:t>#endif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6" name="Group 78"/>
          <p:cNvGrpSpPr>
            <a:grpSpLocks/>
          </p:cNvGrpSpPr>
          <p:nvPr/>
        </p:nvGrpSpPr>
        <p:grpSpPr bwMode="auto">
          <a:xfrm>
            <a:off x="4191000" y="152401"/>
            <a:ext cx="4953000" cy="1362982"/>
            <a:chOff x="2784" y="1872"/>
            <a:chExt cx="2928" cy="989"/>
          </a:xfrm>
        </p:grpSpPr>
        <p:sp>
          <p:nvSpPr>
            <p:cNvPr id="18449" name="Line 74"/>
            <p:cNvSpPr>
              <a:spLocks noChangeShapeType="1"/>
            </p:cNvSpPr>
            <p:nvPr/>
          </p:nvSpPr>
          <p:spPr bwMode="auto">
            <a:xfrm flipH="1">
              <a:off x="2784" y="1968"/>
              <a:ext cx="1344" cy="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 sz="2000"/>
            </a:p>
          </p:txBody>
        </p:sp>
        <p:sp>
          <p:nvSpPr>
            <p:cNvPr id="18450" name="Text Box 75"/>
            <p:cNvSpPr txBox="1">
              <a:spLocks noChangeArrowheads="1"/>
            </p:cNvSpPr>
            <p:nvPr/>
          </p:nvSpPr>
          <p:spPr bwMode="auto">
            <a:xfrm>
              <a:off x="3312" y="1872"/>
              <a:ext cx="2400" cy="98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just" eaLnBrk="1" hangingPunct="1"/>
              <a:r>
                <a:rPr lang="en-US" sz="1600" b="1" dirty="0"/>
                <a:t>Notice that </a:t>
              </a:r>
              <a:r>
                <a:rPr lang="en-US" sz="1600" b="1" dirty="0">
                  <a:solidFill>
                    <a:srgbClr val="FF0000"/>
                  </a:solidFill>
                </a:rPr>
                <a:t>default settings </a:t>
              </a:r>
              <a:r>
                <a:rPr lang="en-US" sz="1600" b="1" dirty="0"/>
                <a:t>for the three member variables are set in constructor prototype.  </a:t>
              </a:r>
              <a:r>
                <a:rPr lang="en-US" sz="1600" b="1" dirty="0">
                  <a:solidFill>
                    <a:srgbClr val="FF0000"/>
                  </a:solidFill>
                </a:rPr>
                <a:t>No names are needed</a:t>
              </a:r>
              <a:r>
                <a:rPr lang="en-US" sz="1600" b="1" dirty="0"/>
                <a:t>; the </a:t>
              </a:r>
              <a:r>
                <a:rPr lang="en-US" sz="1600" b="1" dirty="0">
                  <a:solidFill>
                    <a:srgbClr val="008000"/>
                  </a:solidFill>
                </a:rPr>
                <a:t>defaults are applied in the order the variables are declared.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362200" y="5715000"/>
            <a:ext cx="464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D20000"/>
                </a:solidFill>
              </a:rPr>
              <a:t>Default Parameters in Constructor</a:t>
            </a:r>
          </a:p>
        </p:txBody>
      </p:sp>
      <p:sp>
        <p:nvSpPr>
          <p:cNvPr id="48" name="Rectangle 2"/>
          <p:cNvSpPr txBox="1">
            <a:spLocks noChangeArrowheads="1"/>
          </p:cNvSpPr>
          <p:nvPr/>
        </p:nvSpPr>
        <p:spPr>
          <a:xfrm>
            <a:off x="29183" y="19455"/>
            <a:ext cx="4572000" cy="990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D20000"/>
                </a:solidFill>
                <a:cs typeface="Arial" panose="020B0604020202020204" pitchFamily="34" charset="0"/>
              </a:rPr>
              <a:t>Initializing Objects</a:t>
            </a:r>
          </a:p>
        </p:txBody>
      </p:sp>
    </p:spTree>
    <p:extLst>
      <p:ext uri="{BB962C8B-B14F-4D97-AF65-F5344CB8AC3E}">
        <p14:creationId xmlns:p14="http://schemas.microsoft.com/office/powerpoint/2010/main" val="133459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69"/>
          <p:cNvGrpSpPr>
            <a:grpSpLocks/>
          </p:cNvGrpSpPr>
          <p:nvPr/>
        </p:nvGrpSpPr>
        <p:grpSpPr bwMode="auto">
          <a:xfrm>
            <a:off x="762000" y="1260475"/>
            <a:ext cx="6705600" cy="207963"/>
            <a:chOff x="0" y="3366"/>
            <a:chExt cx="3072" cy="374"/>
          </a:xfrm>
        </p:grpSpPr>
        <p:sp>
          <p:nvSpPr>
            <p:cNvPr id="19531" name="Rectangle 268"/>
            <p:cNvSpPr>
              <a:spLocks noChangeArrowheads="1"/>
            </p:cNvSpPr>
            <p:nvPr/>
          </p:nvSpPr>
          <p:spPr bwMode="auto">
            <a:xfrm>
              <a:off x="0" y="338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32" name="Rectangle 226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70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59" name="Group 271"/>
          <p:cNvGrpSpPr>
            <a:grpSpLocks/>
          </p:cNvGrpSpPr>
          <p:nvPr/>
        </p:nvGrpSpPr>
        <p:grpSpPr bwMode="auto">
          <a:xfrm>
            <a:off x="762000" y="1468438"/>
            <a:ext cx="6705600" cy="207962"/>
            <a:chOff x="0" y="3740"/>
            <a:chExt cx="3072" cy="374"/>
          </a:xfrm>
        </p:grpSpPr>
        <p:sp>
          <p:nvSpPr>
            <p:cNvPr id="19529" name="Rectangle 270"/>
            <p:cNvSpPr>
              <a:spLocks noChangeArrowheads="1"/>
            </p:cNvSpPr>
            <p:nvPr/>
          </p:nvSpPr>
          <p:spPr bwMode="auto">
            <a:xfrm>
              <a:off x="0" y="376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30" name="Rectangle 227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71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main()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0" name="Group 273"/>
          <p:cNvGrpSpPr>
            <a:grpSpLocks/>
          </p:cNvGrpSpPr>
          <p:nvPr/>
        </p:nvGrpSpPr>
        <p:grpSpPr bwMode="auto">
          <a:xfrm>
            <a:off x="762000" y="1676400"/>
            <a:ext cx="6705600" cy="207963"/>
            <a:chOff x="0" y="4114"/>
            <a:chExt cx="3072" cy="374"/>
          </a:xfrm>
        </p:grpSpPr>
        <p:sp>
          <p:nvSpPr>
            <p:cNvPr id="19527" name="Rectangle 272"/>
            <p:cNvSpPr>
              <a:spLocks noChangeArrowheads="1"/>
            </p:cNvSpPr>
            <p:nvPr/>
          </p:nvSpPr>
          <p:spPr bwMode="auto">
            <a:xfrm>
              <a:off x="0" y="413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28" name="Rectangle 228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72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1" name="Group 275"/>
          <p:cNvGrpSpPr>
            <a:grpSpLocks/>
          </p:cNvGrpSpPr>
          <p:nvPr/>
        </p:nvGrpSpPr>
        <p:grpSpPr bwMode="auto">
          <a:xfrm>
            <a:off x="762000" y="1884363"/>
            <a:ext cx="6705600" cy="207962"/>
            <a:chOff x="0" y="4488"/>
            <a:chExt cx="3072" cy="374"/>
          </a:xfrm>
        </p:grpSpPr>
        <p:sp>
          <p:nvSpPr>
            <p:cNvPr id="19525" name="Rectangle 274"/>
            <p:cNvSpPr>
              <a:spLocks noChangeArrowheads="1"/>
            </p:cNvSpPr>
            <p:nvPr/>
          </p:nvSpPr>
          <p:spPr bwMode="auto">
            <a:xfrm>
              <a:off x="0" y="450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26" name="Rectangle 229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73	</a:t>
              </a:r>
              <a:r>
                <a:rPr lang="en-US" sz="1200" b="1" dirty="0">
                  <a:latin typeface="Courier New" panose="02070309020205020404" pitchFamily="49" charset="0"/>
                </a:rPr>
                <a:t>   Time t1,         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all arguments defaulted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2" name="Group 277"/>
          <p:cNvGrpSpPr>
            <a:grpSpLocks/>
          </p:cNvGrpSpPr>
          <p:nvPr/>
        </p:nvGrpSpPr>
        <p:grpSpPr bwMode="auto">
          <a:xfrm>
            <a:off x="762000" y="2092325"/>
            <a:ext cx="6705600" cy="207963"/>
            <a:chOff x="0" y="4862"/>
            <a:chExt cx="3072" cy="374"/>
          </a:xfrm>
        </p:grpSpPr>
        <p:sp>
          <p:nvSpPr>
            <p:cNvPr id="19523" name="Rectangle 276"/>
            <p:cNvSpPr>
              <a:spLocks noChangeArrowheads="1"/>
            </p:cNvSpPr>
            <p:nvPr/>
          </p:nvSpPr>
          <p:spPr bwMode="auto">
            <a:xfrm>
              <a:off x="0" y="488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24" name="Rectangle 230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74	</a:t>
              </a:r>
              <a:r>
                <a:rPr lang="en-US" sz="1200" b="1" dirty="0">
                  <a:latin typeface="Courier New" panose="02070309020205020404" pitchFamily="49" charset="0"/>
                </a:rPr>
                <a:t>        t2(2),      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minute and second defaulted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3" name="Group 279"/>
          <p:cNvGrpSpPr>
            <a:grpSpLocks/>
          </p:cNvGrpSpPr>
          <p:nvPr/>
        </p:nvGrpSpPr>
        <p:grpSpPr bwMode="auto">
          <a:xfrm>
            <a:off x="762000" y="2300288"/>
            <a:ext cx="6705600" cy="206375"/>
            <a:chOff x="0" y="5236"/>
            <a:chExt cx="3072" cy="374"/>
          </a:xfrm>
        </p:grpSpPr>
        <p:sp>
          <p:nvSpPr>
            <p:cNvPr id="19521" name="Rectangle 278"/>
            <p:cNvSpPr>
              <a:spLocks noChangeArrowheads="1"/>
            </p:cNvSpPr>
            <p:nvPr/>
          </p:nvSpPr>
          <p:spPr bwMode="auto">
            <a:xfrm>
              <a:off x="0" y="525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22" name="Rectangle 231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75	</a:t>
              </a:r>
              <a:r>
                <a:rPr lang="en-US" sz="1200" b="1" dirty="0">
                  <a:latin typeface="Courier New" panose="02070309020205020404" pitchFamily="49" charset="0"/>
                </a:rPr>
                <a:t>        t3(21, 34), 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second defaulted 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4" name="Group 281"/>
          <p:cNvGrpSpPr>
            <a:grpSpLocks/>
          </p:cNvGrpSpPr>
          <p:nvPr/>
        </p:nvGrpSpPr>
        <p:grpSpPr bwMode="auto">
          <a:xfrm>
            <a:off x="762000" y="2506663"/>
            <a:ext cx="6705600" cy="207962"/>
            <a:chOff x="0" y="5610"/>
            <a:chExt cx="3072" cy="374"/>
          </a:xfrm>
        </p:grpSpPr>
        <p:sp>
          <p:nvSpPr>
            <p:cNvPr id="19519" name="Rectangle 280"/>
            <p:cNvSpPr>
              <a:spLocks noChangeArrowheads="1"/>
            </p:cNvSpPr>
            <p:nvPr/>
          </p:nvSpPr>
          <p:spPr bwMode="auto">
            <a:xfrm>
              <a:off x="0" y="563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20" name="Rectangle 232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76	</a:t>
              </a:r>
              <a:r>
                <a:rPr lang="en-US" sz="1200" b="1" dirty="0">
                  <a:latin typeface="Courier New" panose="02070309020205020404" pitchFamily="49" charset="0"/>
                </a:rPr>
                <a:t>        t4(12, 25, 42),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all values specified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5" name="Group 283"/>
          <p:cNvGrpSpPr>
            <a:grpSpLocks/>
          </p:cNvGrpSpPr>
          <p:nvPr/>
        </p:nvGrpSpPr>
        <p:grpSpPr bwMode="auto">
          <a:xfrm>
            <a:off x="762000" y="2714625"/>
            <a:ext cx="6705600" cy="207963"/>
            <a:chOff x="0" y="5984"/>
            <a:chExt cx="3072" cy="374"/>
          </a:xfrm>
        </p:grpSpPr>
        <p:sp>
          <p:nvSpPr>
            <p:cNvPr id="19517" name="Rectangle 282"/>
            <p:cNvSpPr>
              <a:spLocks noChangeArrowheads="1"/>
            </p:cNvSpPr>
            <p:nvPr/>
          </p:nvSpPr>
          <p:spPr bwMode="auto">
            <a:xfrm>
              <a:off x="0" y="600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18" name="Rectangle 233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77	</a:t>
              </a:r>
              <a:r>
                <a:rPr lang="en-US" sz="1200" b="1" dirty="0">
                  <a:latin typeface="Courier New" panose="02070309020205020404" pitchFamily="49" charset="0"/>
                </a:rPr>
                <a:t>        t5(27, 74, 99);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all bad values specified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6" name="Group 285"/>
          <p:cNvGrpSpPr>
            <a:grpSpLocks/>
          </p:cNvGrpSpPr>
          <p:nvPr/>
        </p:nvGrpSpPr>
        <p:grpSpPr bwMode="auto">
          <a:xfrm>
            <a:off x="762000" y="2922588"/>
            <a:ext cx="6705600" cy="207962"/>
            <a:chOff x="0" y="6358"/>
            <a:chExt cx="3072" cy="374"/>
          </a:xfrm>
        </p:grpSpPr>
        <p:sp>
          <p:nvSpPr>
            <p:cNvPr id="19515" name="Rectangle 284"/>
            <p:cNvSpPr>
              <a:spLocks noChangeArrowheads="1"/>
            </p:cNvSpPr>
            <p:nvPr/>
          </p:nvSpPr>
          <p:spPr bwMode="auto">
            <a:xfrm>
              <a:off x="0" y="637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16" name="Rectangle 234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7" name="Group 287"/>
          <p:cNvGrpSpPr>
            <a:grpSpLocks/>
          </p:cNvGrpSpPr>
          <p:nvPr/>
        </p:nvGrpSpPr>
        <p:grpSpPr bwMode="auto">
          <a:xfrm>
            <a:off x="762000" y="3130550"/>
            <a:ext cx="6705600" cy="207963"/>
            <a:chOff x="0" y="6732"/>
            <a:chExt cx="3072" cy="374"/>
          </a:xfrm>
        </p:grpSpPr>
        <p:sp>
          <p:nvSpPr>
            <p:cNvPr id="19513" name="Rectangle 286"/>
            <p:cNvSpPr>
              <a:spLocks noChangeArrowheads="1"/>
            </p:cNvSpPr>
            <p:nvPr/>
          </p:nvSpPr>
          <p:spPr bwMode="auto">
            <a:xfrm>
              <a:off x="0" y="675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14" name="Rectangle 235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79	</a:t>
              </a:r>
              <a:r>
                <a:rPr lang="en-US" sz="1200" b="1">
                  <a:latin typeface="Courier New" panose="02070309020205020404" pitchFamily="49" charset="0"/>
                </a:rPr>
                <a:t>   cout &lt;&lt; "Constructed with:\n"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8" name="Group 289"/>
          <p:cNvGrpSpPr>
            <a:grpSpLocks/>
          </p:cNvGrpSpPr>
          <p:nvPr/>
        </p:nvGrpSpPr>
        <p:grpSpPr bwMode="auto">
          <a:xfrm>
            <a:off x="762000" y="3338513"/>
            <a:ext cx="6705600" cy="207962"/>
            <a:chOff x="0" y="7106"/>
            <a:chExt cx="3072" cy="374"/>
          </a:xfrm>
        </p:grpSpPr>
        <p:sp>
          <p:nvSpPr>
            <p:cNvPr id="19511" name="Rectangle 288"/>
            <p:cNvSpPr>
              <a:spLocks noChangeArrowheads="1"/>
            </p:cNvSpPr>
            <p:nvPr/>
          </p:nvSpPr>
          <p:spPr bwMode="auto">
            <a:xfrm>
              <a:off x="0" y="712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12" name="Rectangle 236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80	</a:t>
              </a:r>
              <a:r>
                <a:rPr lang="en-US" sz="1200" b="1">
                  <a:latin typeface="Courier New" panose="02070309020205020404" pitchFamily="49" charset="0"/>
                </a:rPr>
                <a:t>        &lt;&lt; "all arguments defaulted:\n  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69" name="Group 291"/>
          <p:cNvGrpSpPr>
            <a:grpSpLocks/>
          </p:cNvGrpSpPr>
          <p:nvPr/>
        </p:nvGrpSpPr>
        <p:grpSpPr bwMode="auto">
          <a:xfrm>
            <a:off x="762000" y="3546475"/>
            <a:ext cx="6705600" cy="207963"/>
            <a:chOff x="0" y="7480"/>
            <a:chExt cx="3072" cy="374"/>
          </a:xfrm>
        </p:grpSpPr>
        <p:sp>
          <p:nvSpPr>
            <p:cNvPr id="19509" name="Rectangle 290"/>
            <p:cNvSpPr>
              <a:spLocks noChangeArrowheads="1"/>
            </p:cNvSpPr>
            <p:nvPr/>
          </p:nvSpPr>
          <p:spPr bwMode="auto">
            <a:xfrm>
              <a:off x="0" y="750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10" name="Rectangle 237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81	</a:t>
              </a:r>
              <a:r>
                <a:rPr lang="en-US" sz="1200" b="1">
                  <a:latin typeface="Courier New" panose="02070309020205020404" pitchFamily="49" charset="0"/>
                </a:rPr>
                <a:t>   t1.printMilitary();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0" name="Group 293"/>
          <p:cNvGrpSpPr>
            <a:grpSpLocks/>
          </p:cNvGrpSpPr>
          <p:nvPr/>
        </p:nvGrpSpPr>
        <p:grpSpPr bwMode="auto">
          <a:xfrm>
            <a:off x="762000" y="3754438"/>
            <a:ext cx="6705600" cy="207962"/>
            <a:chOff x="0" y="7854"/>
            <a:chExt cx="3072" cy="374"/>
          </a:xfrm>
        </p:grpSpPr>
        <p:sp>
          <p:nvSpPr>
            <p:cNvPr id="19507" name="Rectangle 292"/>
            <p:cNvSpPr>
              <a:spLocks noChangeArrowheads="1"/>
            </p:cNvSpPr>
            <p:nvPr/>
          </p:nvSpPr>
          <p:spPr bwMode="auto">
            <a:xfrm>
              <a:off x="0" y="787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08" name="Rectangle 238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82	</a:t>
              </a:r>
              <a:r>
                <a:rPr lang="en-US" sz="1200" b="1">
                  <a:latin typeface="Courier New" panose="02070309020205020404" pitchFamily="49" charset="0"/>
                </a:rPr>
                <a:t>   cout &lt;&lt; "\n  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1" name="Group 295"/>
          <p:cNvGrpSpPr>
            <a:grpSpLocks/>
          </p:cNvGrpSpPr>
          <p:nvPr/>
        </p:nvGrpSpPr>
        <p:grpSpPr bwMode="auto">
          <a:xfrm>
            <a:off x="762000" y="3962400"/>
            <a:ext cx="6705600" cy="207963"/>
            <a:chOff x="0" y="8228"/>
            <a:chExt cx="3072" cy="374"/>
          </a:xfrm>
        </p:grpSpPr>
        <p:sp>
          <p:nvSpPr>
            <p:cNvPr id="19505" name="Rectangle 294"/>
            <p:cNvSpPr>
              <a:spLocks noChangeArrowheads="1"/>
            </p:cNvSpPr>
            <p:nvPr/>
          </p:nvSpPr>
          <p:spPr bwMode="auto">
            <a:xfrm>
              <a:off x="0" y="824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06" name="Rectangle 239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83	</a:t>
              </a:r>
              <a:r>
                <a:rPr lang="en-US" sz="1200" b="1">
                  <a:latin typeface="Courier New" panose="02070309020205020404" pitchFamily="49" charset="0"/>
                </a:rPr>
                <a:t>   t1.printStandard();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2" name="Group 297"/>
          <p:cNvGrpSpPr>
            <a:grpSpLocks/>
          </p:cNvGrpSpPr>
          <p:nvPr/>
        </p:nvGrpSpPr>
        <p:grpSpPr bwMode="auto">
          <a:xfrm>
            <a:off x="762000" y="4170363"/>
            <a:ext cx="6705600" cy="207962"/>
            <a:chOff x="0" y="8602"/>
            <a:chExt cx="3072" cy="374"/>
          </a:xfrm>
        </p:grpSpPr>
        <p:sp>
          <p:nvSpPr>
            <p:cNvPr id="19503" name="Rectangle 296"/>
            <p:cNvSpPr>
              <a:spLocks noChangeArrowheads="1"/>
            </p:cNvSpPr>
            <p:nvPr/>
          </p:nvSpPr>
          <p:spPr bwMode="auto">
            <a:xfrm>
              <a:off x="0" y="862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04" name="Rectangle 240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3" name="Group 299"/>
          <p:cNvGrpSpPr>
            <a:grpSpLocks/>
          </p:cNvGrpSpPr>
          <p:nvPr/>
        </p:nvGrpSpPr>
        <p:grpSpPr bwMode="auto">
          <a:xfrm>
            <a:off x="762000" y="4378325"/>
            <a:ext cx="6705600" cy="207963"/>
            <a:chOff x="0" y="8976"/>
            <a:chExt cx="3072" cy="374"/>
          </a:xfrm>
        </p:grpSpPr>
        <p:sp>
          <p:nvSpPr>
            <p:cNvPr id="19501" name="Rectangle 298"/>
            <p:cNvSpPr>
              <a:spLocks noChangeArrowheads="1"/>
            </p:cNvSpPr>
            <p:nvPr/>
          </p:nvSpPr>
          <p:spPr bwMode="auto">
            <a:xfrm>
              <a:off x="0" y="899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02" name="Rectangle 241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85	</a:t>
              </a:r>
              <a:r>
                <a:rPr lang="en-US" sz="1200" b="1">
                  <a:latin typeface="Courier New" panose="02070309020205020404" pitchFamily="49" charset="0"/>
                </a:rPr>
                <a:t>   cout &lt;&lt; "\nhour specified; minute and second defaulted:"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4" name="Group 301"/>
          <p:cNvGrpSpPr>
            <a:grpSpLocks/>
          </p:cNvGrpSpPr>
          <p:nvPr/>
        </p:nvGrpSpPr>
        <p:grpSpPr bwMode="auto">
          <a:xfrm>
            <a:off x="762000" y="4586288"/>
            <a:ext cx="6705600" cy="207962"/>
            <a:chOff x="0" y="9350"/>
            <a:chExt cx="3072" cy="374"/>
          </a:xfrm>
        </p:grpSpPr>
        <p:sp>
          <p:nvSpPr>
            <p:cNvPr id="19499" name="Rectangle 300"/>
            <p:cNvSpPr>
              <a:spLocks noChangeArrowheads="1"/>
            </p:cNvSpPr>
            <p:nvPr/>
          </p:nvSpPr>
          <p:spPr bwMode="auto">
            <a:xfrm>
              <a:off x="0" y="937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500" name="Rectangle 242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86	</a:t>
              </a:r>
              <a:r>
                <a:rPr lang="en-US" sz="1200" b="1">
                  <a:latin typeface="Courier New" panose="02070309020205020404" pitchFamily="49" charset="0"/>
                </a:rPr>
                <a:t>        &lt;&lt; "\n  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5" name="Group 303"/>
          <p:cNvGrpSpPr>
            <a:grpSpLocks/>
          </p:cNvGrpSpPr>
          <p:nvPr/>
        </p:nvGrpSpPr>
        <p:grpSpPr bwMode="auto">
          <a:xfrm>
            <a:off x="762000" y="4794250"/>
            <a:ext cx="6705600" cy="206375"/>
            <a:chOff x="0" y="9724"/>
            <a:chExt cx="3072" cy="374"/>
          </a:xfrm>
        </p:grpSpPr>
        <p:sp>
          <p:nvSpPr>
            <p:cNvPr id="19497" name="Rectangle 302"/>
            <p:cNvSpPr>
              <a:spLocks noChangeArrowheads="1"/>
            </p:cNvSpPr>
            <p:nvPr/>
          </p:nvSpPr>
          <p:spPr bwMode="auto">
            <a:xfrm>
              <a:off x="0" y="974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98" name="Rectangle 243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87	</a:t>
              </a:r>
              <a:r>
                <a:rPr lang="en-US" sz="1200" b="1">
                  <a:latin typeface="Courier New" panose="02070309020205020404" pitchFamily="49" charset="0"/>
                </a:rPr>
                <a:t>   t2.printMilitary();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6" name="Group 305"/>
          <p:cNvGrpSpPr>
            <a:grpSpLocks/>
          </p:cNvGrpSpPr>
          <p:nvPr/>
        </p:nvGrpSpPr>
        <p:grpSpPr bwMode="auto">
          <a:xfrm>
            <a:off x="762000" y="5000625"/>
            <a:ext cx="6705600" cy="207963"/>
            <a:chOff x="0" y="10098"/>
            <a:chExt cx="3072" cy="374"/>
          </a:xfrm>
        </p:grpSpPr>
        <p:sp>
          <p:nvSpPr>
            <p:cNvPr id="19495" name="Rectangle 304"/>
            <p:cNvSpPr>
              <a:spLocks noChangeArrowheads="1"/>
            </p:cNvSpPr>
            <p:nvPr/>
          </p:nvSpPr>
          <p:spPr bwMode="auto">
            <a:xfrm>
              <a:off x="0" y="1011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96" name="Rectangle 244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88	</a:t>
              </a:r>
              <a:r>
                <a:rPr lang="en-US" sz="1200" b="1">
                  <a:latin typeface="Courier New" panose="02070309020205020404" pitchFamily="49" charset="0"/>
                </a:rPr>
                <a:t>   cout &lt;&lt; "\n  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7" name="Group 307"/>
          <p:cNvGrpSpPr>
            <a:grpSpLocks/>
          </p:cNvGrpSpPr>
          <p:nvPr/>
        </p:nvGrpSpPr>
        <p:grpSpPr bwMode="auto">
          <a:xfrm>
            <a:off x="762000" y="5208588"/>
            <a:ext cx="6705600" cy="207962"/>
            <a:chOff x="0" y="10472"/>
            <a:chExt cx="3072" cy="374"/>
          </a:xfrm>
        </p:grpSpPr>
        <p:sp>
          <p:nvSpPr>
            <p:cNvPr id="19493" name="Rectangle 306"/>
            <p:cNvSpPr>
              <a:spLocks noChangeArrowheads="1"/>
            </p:cNvSpPr>
            <p:nvPr/>
          </p:nvSpPr>
          <p:spPr bwMode="auto">
            <a:xfrm>
              <a:off x="0" y="1049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94" name="Rectangle 245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89	</a:t>
              </a:r>
              <a:r>
                <a:rPr lang="en-US" sz="1200" b="1">
                  <a:latin typeface="Courier New" panose="02070309020205020404" pitchFamily="49" charset="0"/>
                </a:rPr>
                <a:t>   t2.printStandard();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8" name="Group 309"/>
          <p:cNvGrpSpPr>
            <a:grpSpLocks/>
          </p:cNvGrpSpPr>
          <p:nvPr/>
        </p:nvGrpSpPr>
        <p:grpSpPr bwMode="auto">
          <a:xfrm>
            <a:off x="762000" y="5416550"/>
            <a:ext cx="6705600" cy="207963"/>
            <a:chOff x="0" y="10846"/>
            <a:chExt cx="3072" cy="374"/>
          </a:xfrm>
        </p:grpSpPr>
        <p:sp>
          <p:nvSpPr>
            <p:cNvPr id="19491" name="Rectangle 308"/>
            <p:cNvSpPr>
              <a:spLocks noChangeArrowheads="1"/>
            </p:cNvSpPr>
            <p:nvPr/>
          </p:nvSpPr>
          <p:spPr bwMode="auto">
            <a:xfrm>
              <a:off x="0" y="1086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92" name="Rectangle 246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90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79" name="Group 311"/>
          <p:cNvGrpSpPr>
            <a:grpSpLocks/>
          </p:cNvGrpSpPr>
          <p:nvPr/>
        </p:nvGrpSpPr>
        <p:grpSpPr bwMode="auto">
          <a:xfrm>
            <a:off x="762000" y="5624513"/>
            <a:ext cx="6705600" cy="207962"/>
            <a:chOff x="0" y="11220"/>
            <a:chExt cx="3072" cy="374"/>
          </a:xfrm>
        </p:grpSpPr>
        <p:sp>
          <p:nvSpPr>
            <p:cNvPr id="19489" name="Rectangle 310"/>
            <p:cNvSpPr>
              <a:spLocks noChangeArrowheads="1"/>
            </p:cNvSpPr>
            <p:nvPr/>
          </p:nvSpPr>
          <p:spPr bwMode="auto">
            <a:xfrm>
              <a:off x="0" y="1124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90" name="Rectangle 247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91	</a:t>
              </a:r>
              <a:r>
                <a:rPr lang="en-US" sz="1200" b="1">
                  <a:latin typeface="Courier New" panose="02070309020205020404" pitchFamily="49" charset="0"/>
                </a:rPr>
                <a:t>   cout &lt;&lt; "\nhour and minute specified; second defaulted:"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80" name="Group 313"/>
          <p:cNvGrpSpPr>
            <a:grpSpLocks/>
          </p:cNvGrpSpPr>
          <p:nvPr/>
        </p:nvGrpSpPr>
        <p:grpSpPr bwMode="auto">
          <a:xfrm>
            <a:off x="762000" y="5832475"/>
            <a:ext cx="6705600" cy="207963"/>
            <a:chOff x="0" y="11594"/>
            <a:chExt cx="3072" cy="374"/>
          </a:xfrm>
        </p:grpSpPr>
        <p:sp>
          <p:nvSpPr>
            <p:cNvPr id="19487" name="Rectangle 312"/>
            <p:cNvSpPr>
              <a:spLocks noChangeArrowheads="1"/>
            </p:cNvSpPr>
            <p:nvPr/>
          </p:nvSpPr>
          <p:spPr bwMode="auto">
            <a:xfrm>
              <a:off x="0" y="1161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88" name="Rectangle 248"/>
            <p:cNvSpPr>
              <a:spLocks noChangeArrowheads="1"/>
            </p:cNvSpPr>
            <p:nvPr/>
          </p:nvSpPr>
          <p:spPr bwMode="auto">
            <a:xfrm>
              <a:off x="0" y="1159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92	</a:t>
              </a:r>
              <a:r>
                <a:rPr lang="en-US" sz="1200" b="1">
                  <a:latin typeface="Courier New" panose="02070309020205020404" pitchFamily="49" charset="0"/>
                </a:rPr>
                <a:t>        &lt;&lt; "\n  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9481" name="Group 315"/>
          <p:cNvGrpSpPr>
            <a:grpSpLocks/>
          </p:cNvGrpSpPr>
          <p:nvPr/>
        </p:nvGrpSpPr>
        <p:grpSpPr bwMode="auto">
          <a:xfrm>
            <a:off x="762000" y="6040438"/>
            <a:ext cx="6705600" cy="207962"/>
            <a:chOff x="0" y="11968"/>
            <a:chExt cx="3072" cy="374"/>
          </a:xfrm>
        </p:grpSpPr>
        <p:sp>
          <p:nvSpPr>
            <p:cNvPr id="19485" name="Rectangle 314"/>
            <p:cNvSpPr>
              <a:spLocks noChangeArrowheads="1"/>
            </p:cNvSpPr>
            <p:nvPr/>
          </p:nvSpPr>
          <p:spPr bwMode="auto">
            <a:xfrm>
              <a:off x="0" y="1198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19486" name="Rectangle 249"/>
            <p:cNvSpPr>
              <a:spLocks noChangeArrowheads="1"/>
            </p:cNvSpPr>
            <p:nvPr/>
          </p:nvSpPr>
          <p:spPr bwMode="auto">
            <a:xfrm>
              <a:off x="0" y="1196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93	</a:t>
              </a:r>
              <a:r>
                <a:rPr lang="en-US" sz="1200" b="1">
                  <a:latin typeface="Courier New" panose="02070309020205020404" pitchFamily="49" charset="0"/>
                </a:rPr>
                <a:t>   t3.printMilitary();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6" name="Group 320"/>
          <p:cNvGrpSpPr>
            <a:grpSpLocks/>
          </p:cNvGrpSpPr>
          <p:nvPr/>
        </p:nvGrpSpPr>
        <p:grpSpPr bwMode="auto">
          <a:xfrm>
            <a:off x="2361530" y="1153557"/>
            <a:ext cx="6182445" cy="827088"/>
            <a:chOff x="1083" y="959"/>
            <a:chExt cx="3155" cy="521"/>
          </a:xfrm>
        </p:grpSpPr>
        <p:sp>
          <p:nvSpPr>
            <p:cNvPr id="19483" name="Text Box 321"/>
            <p:cNvSpPr txBox="1">
              <a:spLocks noChangeArrowheads="1"/>
            </p:cNvSpPr>
            <p:nvPr/>
          </p:nvSpPr>
          <p:spPr bwMode="auto">
            <a:xfrm>
              <a:off x="1550" y="959"/>
              <a:ext cx="2688" cy="21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Same constructor, used in overloaded style</a:t>
              </a:r>
              <a:endParaRPr lang="en-US" sz="1600" i="1" dirty="0"/>
            </a:p>
          </p:txBody>
        </p:sp>
        <p:sp>
          <p:nvSpPr>
            <p:cNvPr id="19484" name="Line 322"/>
            <p:cNvSpPr>
              <a:spLocks noChangeShapeType="1"/>
            </p:cNvSpPr>
            <p:nvPr/>
          </p:nvSpPr>
          <p:spPr bwMode="auto">
            <a:xfrm flipH="1">
              <a:off x="1083" y="1152"/>
              <a:ext cx="645" cy="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57778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0"/>
          <p:cNvSpPr>
            <a:spLocks noChangeArrowheads="1"/>
          </p:cNvSpPr>
          <p:nvPr/>
        </p:nvSpPr>
        <p:spPr bwMode="auto">
          <a:xfrm>
            <a:off x="1066800" y="3811588"/>
            <a:ext cx="6705600" cy="2970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bIns="0">
            <a:spAutoFit/>
          </a:bodyPr>
          <a:lstStyle>
            <a:lvl1pPr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 OUTPUT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Constructed with: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all arguments defaulted: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00:00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12:00:00 AM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hour specified; minute and second defaulted: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02:00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2:00:00 AM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hour and minute specified; second defaulted: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21:34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9:34:00 PM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hour, minute, and second specified: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12:25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12:25:42 PM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all invalid values specified: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00:00</a:t>
            </a:r>
          </a:p>
          <a:p>
            <a:pPr eaLnBrk="1" hangingPunct="1"/>
            <a:r>
              <a:rPr lang="en-US" sz="1100" b="1" dirty="0">
                <a:latin typeface="Courier New" panose="02070309020205020404" pitchFamily="49" charset="0"/>
              </a:rPr>
              <a:t>   12:00:00 AM </a:t>
            </a:r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4876801" y="3844928"/>
            <a:ext cx="4013465" cy="969963"/>
            <a:chOff x="2448" y="2325"/>
            <a:chExt cx="2167" cy="611"/>
          </a:xfrm>
        </p:grpSpPr>
        <p:sp>
          <p:nvSpPr>
            <p:cNvPr id="20539" name="Text Box 51"/>
            <p:cNvSpPr txBox="1">
              <a:spLocks noChangeArrowheads="1"/>
            </p:cNvSpPr>
            <p:nvPr/>
          </p:nvSpPr>
          <p:spPr bwMode="auto">
            <a:xfrm>
              <a:off x="3559" y="2325"/>
              <a:ext cx="1056" cy="61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bIns="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dirty="0"/>
                <a:t>When only </a:t>
              </a:r>
              <a:r>
                <a:rPr lang="en-US" sz="1200" b="1" dirty="0">
                  <a:latin typeface="Courier New" panose="02070309020205020404" pitchFamily="49" charset="0"/>
                </a:rPr>
                <a:t>hour</a:t>
              </a:r>
              <a:r>
                <a:rPr lang="en-US" sz="1200" b="1" dirty="0"/>
                <a:t> </a:t>
              </a:r>
              <a:r>
                <a:rPr lang="en-US" sz="1200" dirty="0"/>
                <a:t>is specified, </a:t>
              </a:r>
              <a:r>
                <a:rPr lang="en-US" sz="1200" b="1" dirty="0">
                  <a:latin typeface="Courier New" panose="02070309020205020404" pitchFamily="49" charset="0"/>
                </a:rPr>
                <a:t>minute</a:t>
              </a:r>
              <a:r>
                <a:rPr lang="en-US" sz="1200" dirty="0"/>
                <a:t> and </a:t>
              </a:r>
              <a:r>
                <a:rPr lang="en-US" sz="1200" b="1" dirty="0">
                  <a:latin typeface="Courier New" panose="02070309020205020404" pitchFamily="49" charset="0"/>
                </a:rPr>
                <a:t>second</a:t>
              </a:r>
              <a:r>
                <a:rPr lang="en-US" sz="1200" b="1" dirty="0"/>
                <a:t> </a:t>
              </a:r>
              <a:r>
                <a:rPr lang="en-US" sz="1200" dirty="0"/>
                <a:t>are set to their default values of </a:t>
              </a:r>
              <a:r>
                <a:rPr lang="en-US" sz="1200" b="1" dirty="0">
                  <a:latin typeface="Courier New" panose="02070309020205020404" pitchFamily="49" charset="0"/>
                </a:rPr>
                <a:t>0</a:t>
              </a:r>
              <a:r>
                <a:rPr lang="en-US" sz="1200" dirty="0"/>
                <a:t>.</a:t>
              </a:r>
              <a:endParaRPr lang="en-US" sz="1200" b="1" dirty="0"/>
            </a:p>
          </p:txBody>
        </p:sp>
        <p:sp>
          <p:nvSpPr>
            <p:cNvPr id="20540" name="Line 53"/>
            <p:cNvSpPr>
              <a:spLocks noChangeShapeType="1"/>
            </p:cNvSpPr>
            <p:nvPr/>
          </p:nvSpPr>
          <p:spPr bwMode="auto">
            <a:xfrm flipH="1">
              <a:off x="2448" y="2705"/>
              <a:ext cx="1111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484" name="Group 109"/>
          <p:cNvGrpSpPr>
            <a:grpSpLocks/>
          </p:cNvGrpSpPr>
          <p:nvPr/>
        </p:nvGrpSpPr>
        <p:grpSpPr bwMode="auto">
          <a:xfrm>
            <a:off x="1066800" y="149225"/>
            <a:ext cx="6705600" cy="3668713"/>
            <a:chOff x="0" y="-11"/>
            <a:chExt cx="3072" cy="6755"/>
          </a:xfrm>
        </p:grpSpPr>
        <p:grpSp>
          <p:nvGrpSpPr>
            <p:cNvPr id="20485" name="Group 74"/>
            <p:cNvGrpSpPr>
              <a:grpSpLocks/>
            </p:cNvGrpSpPr>
            <p:nvPr/>
          </p:nvGrpSpPr>
          <p:grpSpPr bwMode="auto">
            <a:xfrm>
              <a:off x="0" y="-11"/>
              <a:ext cx="3072" cy="397"/>
              <a:chOff x="0" y="-11"/>
              <a:chExt cx="3072" cy="397"/>
            </a:xfrm>
          </p:grpSpPr>
          <p:sp>
            <p:nvSpPr>
              <p:cNvPr id="20537" name="Rectangle 73"/>
              <p:cNvSpPr>
                <a:spLocks noChangeArrowheads="1"/>
              </p:cNvSpPr>
              <p:nvPr/>
            </p:nvSpPr>
            <p:spPr bwMode="auto">
              <a:xfrm>
                <a:off x="0" y="-11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38" name="Rectangle 5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94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"\n   ";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86" name="Group 76"/>
            <p:cNvGrpSpPr>
              <a:grpSpLocks/>
            </p:cNvGrpSpPr>
            <p:nvPr/>
          </p:nvGrpSpPr>
          <p:grpSpPr bwMode="auto">
            <a:xfrm>
              <a:off x="0" y="363"/>
              <a:ext cx="3072" cy="397"/>
              <a:chOff x="0" y="363"/>
              <a:chExt cx="3072" cy="397"/>
            </a:xfrm>
          </p:grpSpPr>
          <p:sp>
            <p:nvSpPr>
              <p:cNvPr id="20535" name="Rectangle 75"/>
              <p:cNvSpPr>
                <a:spLocks noChangeArrowheads="1"/>
              </p:cNvSpPr>
              <p:nvPr/>
            </p:nvSpPr>
            <p:spPr bwMode="auto">
              <a:xfrm>
                <a:off x="0" y="363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36" name="Rectangle 56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95	</a:t>
                </a:r>
                <a:r>
                  <a:rPr lang="en-US" sz="1100" b="1">
                    <a:latin typeface="Courier New" panose="02070309020205020404" pitchFamily="49" charset="0"/>
                  </a:rPr>
                  <a:t>   t3.printStandard();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87" name="Group 78"/>
            <p:cNvGrpSpPr>
              <a:grpSpLocks/>
            </p:cNvGrpSpPr>
            <p:nvPr/>
          </p:nvGrpSpPr>
          <p:grpSpPr bwMode="auto">
            <a:xfrm>
              <a:off x="0" y="737"/>
              <a:ext cx="3072" cy="397"/>
              <a:chOff x="0" y="737"/>
              <a:chExt cx="3072" cy="397"/>
            </a:xfrm>
          </p:grpSpPr>
          <p:sp>
            <p:nvSpPr>
              <p:cNvPr id="20533" name="Rectangle 77"/>
              <p:cNvSpPr>
                <a:spLocks noChangeArrowheads="1"/>
              </p:cNvSpPr>
              <p:nvPr/>
            </p:nvSpPr>
            <p:spPr bwMode="auto">
              <a:xfrm>
                <a:off x="0" y="737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34" name="Rectangle 57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96	</a:t>
                </a:r>
                <a:endParaRPr lang="en-US" sz="11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88" name="Group 80"/>
            <p:cNvGrpSpPr>
              <a:grpSpLocks/>
            </p:cNvGrpSpPr>
            <p:nvPr/>
          </p:nvGrpSpPr>
          <p:grpSpPr bwMode="auto">
            <a:xfrm>
              <a:off x="0" y="1111"/>
              <a:ext cx="3072" cy="397"/>
              <a:chOff x="0" y="1111"/>
              <a:chExt cx="3072" cy="397"/>
            </a:xfrm>
          </p:grpSpPr>
          <p:sp>
            <p:nvSpPr>
              <p:cNvPr id="20531" name="Rectangle 79"/>
              <p:cNvSpPr>
                <a:spLocks noChangeArrowheads="1"/>
              </p:cNvSpPr>
              <p:nvPr/>
            </p:nvSpPr>
            <p:spPr bwMode="auto">
              <a:xfrm>
                <a:off x="0" y="1111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32" name="Rectangle 58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97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"\nhour, minute, and second specified:" 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89" name="Group 82"/>
            <p:cNvGrpSpPr>
              <a:grpSpLocks/>
            </p:cNvGrpSpPr>
            <p:nvPr/>
          </p:nvGrpSpPr>
          <p:grpSpPr bwMode="auto">
            <a:xfrm>
              <a:off x="0" y="1485"/>
              <a:ext cx="3072" cy="397"/>
              <a:chOff x="0" y="1485"/>
              <a:chExt cx="3072" cy="397"/>
            </a:xfrm>
          </p:grpSpPr>
          <p:sp>
            <p:nvSpPr>
              <p:cNvPr id="20529" name="Rectangle 81"/>
              <p:cNvSpPr>
                <a:spLocks noChangeArrowheads="1"/>
              </p:cNvSpPr>
              <p:nvPr/>
            </p:nvSpPr>
            <p:spPr bwMode="auto">
              <a:xfrm>
                <a:off x="0" y="1485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30" name="Rectangle 59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98	</a:t>
                </a:r>
                <a:r>
                  <a:rPr lang="en-US" sz="1100" b="1">
                    <a:latin typeface="Courier New" panose="02070309020205020404" pitchFamily="49" charset="0"/>
                  </a:rPr>
                  <a:t>        &lt;&lt; "\n   ";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0" name="Group 84"/>
            <p:cNvGrpSpPr>
              <a:grpSpLocks/>
            </p:cNvGrpSpPr>
            <p:nvPr/>
          </p:nvGrpSpPr>
          <p:grpSpPr bwMode="auto">
            <a:xfrm>
              <a:off x="0" y="1859"/>
              <a:ext cx="3072" cy="397"/>
              <a:chOff x="0" y="1859"/>
              <a:chExt cx="3072" cy="397"/>
            </a:xfrm>
          </p:grpSpPr>
          <p:sp>
            <p:nvSpPr>
              <p:cNvPr id="20527" name="Rectangle 83"/>
              <p:cNvSpPr>
                <a:spLocks noChangeArrowheads="1"/>
              </p:cNvSpPr>
              <p:nvPr/>
            </p:nvSpPr>
            <p:spPr bwMode="auto">
              <a:xfrm>
                <a:off x="0" y="1859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28" name="Rectangle 60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99	</a:t>
                </a:r>
                <a:r>
                  <a:rPr lang="en-US" sz="1100" b="1">
                    <a:latin typeface="Courier New" panose="02070309020205020404" pitchFamily="49" charset="0"/>
                  </a:rPr>
                  <a:t>   t4.printMilitary();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1" name="Group 86"/>
            <p:cNvGrpSpPr>
              <a:grpSpLocks/>
            </p:cNvGrpSpPr>
            <p:nvPr/>
          </p:nvGrpSpPr>
          <p:grpSpPr bwMode="auto">
            <a:xfrm>
              <a:off x="0" y="2233"/>
              <a:ext cx="3072" cy="397"/>
              <a:chOff x="0" y="2233"/>
              <a:chExt cx="3072" cy="397"/>
            </a:xfrm>
          </p:grpSpPr>
          <p:sp>
            <p:nvSpPr>
              <p:cNvPr id="20525" name="Rectangle 85"/>
              <p:cNvSpPr>
                <a:spLocks noChangeArrowheads="1"/>
              </p:cNvSpPr>
              <p:nvPr/>
            </p:nvSpPr>
            <p:spPr bwMode="auto">
              <a:xfrm>
                <a:off x="0" y="2233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26" name="Rectangle 61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100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"\n   ";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2" name="Group 88"/>
            <p:cNvGrpSpPr>
              <a:grpSpLocks/>
            </p:cNvGrpSpPr>
            <p:nvPr/>
          </p:nvGrpSpPr>
          <p:grpSpPr bwMode="auto">
            <a:xfrm>
              <a:off x="0" y="2607"/>
              <a:ext cx="3072" cy="397"/>
              <a:chOff x="0" y="2607"/>
              <a:chExt cx="3072" cy="397"/>
            </a:xfrm>
          </p:grpSpPr>
          <p:sp>
            <p:nvSpPr>
              <p:cNvPr id="20523" name="Rectangle 87"/>
              <p:cNvSpPr>
                <a:spLocks noChangeArrowheads="1"/>
              </p:cNvSpPr>
              <p:nvPr/>
            </p:nvSpPr>
            <p:spPr bwMode="auto">
              <a:xfrm>
                <a:off x="0" y="2607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24" name="Rectangle 62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101	</a:t>
                </a:r>
                <a:r>
                  <a:rPr lang="en-US" sz="1100" b="1">
                    <a:latin typeface="Courier New" panose="02070309020205020404" pitchFamily="49" charset="0"/>
                  </a:rPr>
                  <a:t>   t4.printStandard();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3" name="Group 90"/>
            <p:cNvGrpSpPr>
              <a:grpSpLocks/>
            </p:cNvGrpSpPr>
            <p:nvPr/>
          </p:nvGrpSpPr>
          <p:grpSpPr bwMode="auto">
            <a:xfrm>
              <a:off x="0" y="2981"/>
              <a:ext cx="3072" cy="397"/>
              <a:chOff x="0" y="2981"/>
              <a:chExt cx="3072" cy="397"/>
            </a:xfrm>
          </p:grpSpPr>
          <p:sp>
            <p:nvSpPr>
              <p:cNvPr id="20521" name="Rectangle 89"/>
              <p:cNvSpPr>
                <a:spLocks noChangeArrowheads="1"/>
              </p:cNvSpPr>
              <p:nvPr/>
            </p:nvSpPr>
            <p:spPr bwMode="auto">
              <a:xfrm>
                <a:off x="0" y="2981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22" name="Rectangle 63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102	</a:t>
                </a:r>
                <a:endParaRPr lang="en-US" sz="11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4" name="Group 92"/>
            <p:cNvGrpSpPr>
              <a:grpSpLocks/>
            </p:cNvGrpSpPr>
            <p:nvPr/>
          </p:nvGrpSpPr>
          <p:grpSpPr bwMode="auto">
            <a:xfrm>
              <a:off x="0" y="3355"/>
              <a:ext cx="3072" cy="397"/>
              <a:chOff x="0" y="3355"/>
              <a:chExt cx="3072" cy="397"/>
            </a:xfrm>
          </p:grpSpPr>
          <p:sp>
            <p:nvSpPr>
              <p:cNvPr id="20519" name="Rectangle 91"/>
              <p:cNvSpPr>
                <a:spLocks noChangeArrowheads="1"/>
              </p:cNvSpPr>
              <p:nvPr/>
            </p:nvSpPr>
            <p:spPr bwMode="auto">
              <a:xfrm>
                <a:off x="0" y="3355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20" name="Rectangle 64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103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"\nall invalid values specified:" 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5" name="Group 94"/>
            <p:cNvGrpSpPr>
              <a:grpSpLocks/>
            </p:cNvGrpSpPr>
            <p:nvPr/>
          </p:nvGrpSpPr>
          <p:grpSpPr bwMode="auto">
            <a:xfrm>
              <a:off x="0" y="3729"/>
              <a:ext cx="3072" cy="397"/>
              <a:chOff x="0" y="3729"/>
              <a:chExt cx="3072" cy="397"/>
            </a:xfrm>
          </p:grpSpPr>
          <p:sp>
            <p:nvSpPr>
              <p:cNvPr id="20517" name="Rectangle 93"/>
              <p:cNvSpPr>
                <a:spLocks noChangeArrowheads="1"/>
              </p:cNvSpPr>
              <p:nvPr/>
            </p:nvSpPr>
            <p:spPr bwMode="auto">
              <a:xfrm>
                <a:off x="0" y="3729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18" name="Rectangle 65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104	</a:t>
                </a:r>
                <a:r>
                  <a:rPr lang="en-US" sz="1100" b="1">
                    <a:latin typeface="Courier New" panose="02070309020205020404" pitchFamily="49" charset="0"/>
                  </a:rPr>
                  <a:t>        &lt;&lt; "\n   ";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6" name="Group 96"/>
            <p:cNvGrpSpPr>
              <a:grpSpLocks/>
            </p:cNvGrpSpPr>
            <p:nvPr/>
          </p:nvGrpSpPr>
          <p:grpSpPr bwMode="auto">
            <a:xfrm>
              <a:off x="0" y="4103"/>
              <a:ext cx="3072" cy="397"/>
              <a:chOff x="0" y="4103"/>
              <a:chExt cx="3072" cy="397"/>
            </a:xfrm>
          </p:grpSpPr>
          <p:sp>
            <p:nvSpPr>
              <p:cNvPr id="20515" name="Rectangle 95"/>
              <p:cNvSpPr>
                <a:spLocks noChangeArrowheads="1"/>
              </p:cNvSpPr>
              <p:nvPr/>
            </p:nvSpPr>
            <p:spPr bwMode="auto">
              <a:xfrm>
                <a:off x="0" y="4103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16" name="Rectangle 66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105	</a:t>
                </a:r>
                <a:r>
                  <a:rPr lang="en-US" sz="1100" b="1">
                    <a:latin typeface="Courier New" panose="02070309020205020404" pitchFamily="49" charset="0"/>
                  </a:rPr>
                  <a:t>   t5.printMilitary();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7" name="Group 98"/>
            <p:cNvGrpSpPr>
              <a:grpSpLocks/>
            </p:cNvGrpSpPr>
            <p:nvPr/>
          </p:nvGrpSpPr>
          <p:grpSpPr bwMode="auto">
            <a:xfrm>
              <a:off x="0" y="4477"/>
              <a:ext cx="3072" cy="397"/>
              <a:chOff x="0" y="4477"/>
              <a:chExt cx="3072" cy="397"/>
            </a:xfrm>
          </p:grpSpPr>
          <p:sp>
            <p:nvSpPr>
              <p:cNvPr id="20513" name="Rectangle 97"/>
              <p:cNvSpPr>
                <a:spLocks noChangeArrowheads="1"/>
              </p:cNvSpPr>
              <p:nvPr/>
            </p:nvSpPr>
            <p:spPr bwMode="auto">
              <a:xfrm>
                <a:off x="0" y="4477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14" name="Rectangle 67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106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"\n   ";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8" name="Group 100"/>
            <p:cNvGrpSpPr>
              <a:grpSpLocks/>
            </p:cNvGrpSpPr>
            <p:nvPr/>
          </p:nvGrpSpPr>
          <p:grpSpPr bwMode="auto">
            <a:xfrm>
              <a:off x="0" y="4851"/>
              <a:ext cx="3072" cy="397"/>
              <a:chOff x="0" y="4851"/>
              <a:chExt cx="3072" cy="397"/>
            </a:xfrm>
          </p:grpSpPr>
          <p:sp>
            <p:nvSpPr>
              <p:cNvPr id="20511" name="Rectangle 99"/>
              <p:cNvSpPr>
                <a:spLocks noChangeArrowheads="1"/>
              </p:cNvSpPr>
              <p:nvPr/>
            </p:nvSpPr>
            <p:spPr bwMode="auto">
              <a:xfrm>
                <a:off x="0" y="4851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12" name="Rectangle 68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107	</a:t>
                </a:r>
                <a:r>
                  <a:rPr lang="en-US" sz="1100" b="1">
                    <a:latin typeface="Courier New" panose="02070309020205020404" pitchFamily="49" charset="0"/>
                  </a:rPr>
                  <a:t>   t5.printStandard();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499" name="Group 102"/>
            <p:cNvGrpSpPr>
              <a:grpSpLocks/>
            </p:cNvGrpSpPr>
            <p:nvPr/>
          </p:nvGrpSpPr>
          <p:grpSpPr bwMode="auto">
            <a:xfrm>
              <a:off x="0" y="5225"/>
              <a:ext cx="3072" cy="397"/>
              <a:chOff x="0" y="5225"/>
              <a:chExt cx="3072" cy="397"/>
            </a:xfrm>
          </p:grpSpPr>
          <p:sp>
            <p:nvSpPr>
              <p:cNvPr id="20509" name="Rectangle 101"/>
              <p:cNvSpPr>
                <a:spLocks noChangeArrowheads="1"/>
              </p:cNvSpPr>
              <p:nvPr/>
            </p:nvSpPr>
            <p:spPr bwMode="auto">
              <a:xfrm>
                <a:off x="0" y="5225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10" name="Rectangle 69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108	</a:t>
                </a:r>
                <a:r>
                  <a:rPr lang="en-US" sz="1100" b="1">
                    <a:latin typeface="Courier New" panose="02070309020205020404" pitchFamily="49" charset="0"/>
                  </a:rPr>
                  <a:t>   cout &lt;&lt; endl;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500" name="Group 104"/>
            <p:cNvGrpSpPr>
              <a:grpSpLocks/>
            </p:cNvGrpSpPr>
            <p:nvPr/>
          </p:nvGrpSpPr>
          <p:grpSpPr bwMode="auto">
            <a:xfrm>
              <a:off x="0" y="5599"/>
              <a:ext cx="3072" cy="397"/>
              <a:chOff x="0" y="5599"/>
              <a:chExt cx="3072" cy="397"/>
            </a:xfrm>
          </p:grpSpPr>
          <p:sp>
            <p:nvSpPr>
              <p:cNvPr id="20507" name="Rectangle 103"/>
              <p:cNvSpPr>
                <a:spLocks noChangeArrowheads="1"/>
              </p:cNvSpPr>
              <p:nvPr/>
            </p:nvSpPr>
            <p:spPr bwMode="auto">
              <a:xfrm>
                <a:off x="0" y="5599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08" name="Rectangle 70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109	</a:t>
                </a:r>
                <a:endParaRPr lang="en-US" sz="11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501" name="Group 106"/>
            <p:cNvGrpSpPr>
              <a:grpSpLocks/>
            </p:cNvGrpSpPr>
            <p:nvPr/>
          </p:nvGrpSpPr>
          <p:grpSpPr bwMode="auto">
            <a:xfrm>
              <a:off x="0" y="5973"/>
              <a:ext cx="3072" cy="397"/>
              <a:chOff x="0" y="5973"/>
              <a:chExt cx="3072" cy="397"/>
            </a:xfrm>
          </p:grpSpPr>
          <p:sp>
            <p:nvSpPr>
              <p:cNvPr id="20505" name="Rectangle 105"/>
              <p:cNvSpPr>
                <a:spLocks noChangeArrowheads="1"/>
              </p:cNvSpPr>
              <p:nvPr/>
            </p:nvSpPr>
            <p:spPr bwMode="auto">
              <a:xfrm>
                <a:off x="0" y="5973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06" name="Rectangle 71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110	</a:t>
                </a:r>
                <a:r>
                  <a:rPr lang="en-US" sz="1100" b="1">
                    <a:latin typeface="Courier New" panose="02070309020205020404" pitchFamily="49" charset="0"/>
                  </a:rPr>
                  <a:t>   </a:t>
                </a:r>
                <a:r>
                  <a:rPr lang="en-US" sz="11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100" b="1">
                    <a:latin typeface="Courier New" panose="02070309020205020404" pitchFamily="49" charset="0"/>
                  </a:rPr>
                  <a:t> 0;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20502" name="Group 108"/>
            <p:cNvGrpSpPr>
              <a:grpSpLocks/>
            </p:cNvGrpSpPr>
            <p:nvPr/>
          </p:nvGrpSpPr>
          <p:grpSpPr bwMode="auto">
            <a:xfrm>
              <a:off x="0" y="6347"/>
              <a:ext cx="3072" cy="397"/>
              <a:chOff x="0" y="6347"/>
              <a:chExt cx="3072" cy="397"/>
            </a:xfrm>
          </p:grpSpPr>
          <p:sp>
            <p:nvSpPr>
              <p:cNvPr id="20503" name="Rectangle 107"/>
              <p:cNvSpPr>
                <a:spLocks noChangeArrowheads="1"/>
              </p:cNvSpPr>
              <p:nvPr/>
            </p:nvSpPr>
            <p:spPr bwMode="auto">
              <a:xfrm>
                <a:off x="0" y="6347"/>
                <a:ext cx="3072" cy="397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 anchor="ctr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100"/>
              </a:p>
            </p:txBody>
          </p:sp>
          <p:sp>
            <p:nvSpPr>
              <p:cNvPr id="20504" name="Rectangle 72"/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1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111	</a:t>
                </a:r>
                <a:r>
                  <a:rPr lang="en-US" sz="11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100" b="1">
                  <a:latin typeface="Courier New" panose="020703090202050204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65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90600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  <a:latin typeface="Arial" panose="020B0604020202020204" pitchFamily="34" charset="0"/>
              </a:rPr>
              <a:t>Using Destructors 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</a:rPr>
              <a:t>Destructors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Are </a:t>
            </a:r>
            <a:r>
              <a:rPr lang="en-US" b="1" dirty="0">
                <a:solidFill>
                  <a:srgbClr val="2C14DE"/>
                </a:solidFill>
              </a:rPr>
              <a:t>member function </a:t>
            </a:r>
            <a:r>
              <a:rPr lang="en-US" dirty="0"/>
              <a:t>of </a:t>
            </a:r>
            <a:r>
              <a:rPr lang="en-US" b="1" dirty="0"/>
              <a:t>class</a:t>
            </a:r>
          </a:p>
          <a:p>
            <a:pPr lvl="1">
              <a:spcAft>
                <a:spcPts val="600"/>
              </a:spcAft>
            </a:pPr>
            <a:r>
              <a:rPr lang="en-US" b="1" dirty="0"/>
              <a:t>Perform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termination housekeeping </a:t>
            </a:r>
            <a:r>
              <a:rPr lang="en-US" dirty="0"/>
              <a:t>before the system reclaims the object</a:t>
            </a:r>
            <a:r>
              <a:rPr lang="ja-JP" altLang="en-US" dirty="0"/>
              <a:t>’</a:t>
            </a:r>
            <a:r>
              <a:rPr lang="en-US" altLang="ja-JP" dirty="0"/>
              <a:t>s memory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lang="en-US" dirty="0"/>
              <a:t>Name is </a:t>
            </a:r>
            <a:r>
              <a:rPr lang="en-US" b="1" dirty="0">
                <a:solidFill>
                  <a:srgbClr val="2C14DE"/>
                </a:solidFill>
              </a:rPr>
              <a:t>tilde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</a:rPr>
              <a:t>~</a:t>
            </a:r>
            <a:r>
              <a:rPr lang="en-US" dirty="0"/>
              <a:t>) </a:t>
            </a:r>
            <a:r>
              <a:rPr lang="en-US" b="1" dirty="0"/>
              <a:t>followed by </a:t>
            </a:r>
            <a:r>
              <a:rPr lang="en-US" dirty="0"/>
              <a:t>the </a:t>
            </a:r>
            <a:r>
              <a:rPr lang="en-US" b="1" dirty="0"/>
              <a:t>class name </a:t>
            </a:r>
            <a:r>
              <a:rPr lang="en-US" dirty="0"/>
              <a:t>(i.e., </a:t>
            </a: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</a:rPr>
              <a:t>~Time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Receives </a:t>
            </a:r>
            <a:r>
              <a:rPr lang="en-US" b="1" dirty="0">
                <a:solidFill>
                  <a:srgbClr val="2C14DE"/>
                </a:solidFill>
              </a:rPr>
              <a:t>no parameters</a:t>
            </a:r>
            <a:r>
              <a:rPr lang="en-US" dirty="0"/>
              <a:t>, </a:t>
            </a:r>
            <a:r>
              <a:rPr lang="en-US" b="1" dirty="0">
                <a:solidFill>
                  <a:srgbClr val="2C14DE"/>
                </a:solidFill>
              </a:rPr>
              <a:t>returns no value</a:t>
            </a:r>
          </a:p>
          <a:p>
            <a:pPr lvl="1">
              <a:spcAft>
                <a:spcPts val="600"/>
              </a:spcAft>
            </a:pPr>
            <a:r>
              <a:rPr lang="en-US" b="1" dirty="0">
                <a:solidFill>
                  <a:srgbClr val="B80000"/>
                </a:solidFill>
              </a:rPr>
              <a:t>One destructor per class </a:t>
            </a:r>
            <a:r>
              <a:rPr lang="en-US" b="1" dirty="0"/>
              <a:t>(no overloading)</a:t>
            </a:r>
          </a:p>
          <a:p>
            <a:pPr lvl="1"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</a:rPr>
              <a:t>Destructors </a:t>
            </a:r>
            <a:r>
              <a:rPr lang="en-US" b="1" u="sng" dirty="0">
                <a:solidFill>
                  <a:srgbClr val="B80000"/>
                </a:solidFill>
                <a:latin typeface="Calibri" panose="020F0502020204030204" pitchFamily="34" charset="0"/>
              </a:rPr>
              <a:t>cannot be declared </a:t>
            </a:r>
            <a:r>
              <a:rPr lang="en-US" b="1" i="1" dirty="0" err="1">
                <a:solidFill>
                  <a:srgbClr val="2C14DE"/>
                </a:solidFill>
                <a:latin typeface="Calibri" panose="020F0502020204030204" pitchFamily="34" charset="0"/>
              </a:rPr>
              <a:t>const</a:t>
            </a:r>
            <a:r>
              <a:rPr lang="en-US" dirty="0">
                <a:latin typeface="Calibri" panose="020F0502020204030204" pitchFamily="34" charset="0"/>
              </a:rPr>
              <a:t>, </a:t>
            </a:r>
            <a:r>
              <a:rPr lang="en-US" b="1" i="1" dirty="0">
                <a:solidFill>
                  <a:srgbClr val="2C14DE"/>
                </a:solidFill>
                <a:latin typeface="Calibri" panose="020F0502020204030204" pitchFamily="34" charset="0"/>
              </a:rPr>
              <a:t>static</a:t>
            </a:r>
            <a:endParaRPr lang="en-US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</a:rPr>
              <a:t>A </a:t>
            </a:r>
            <a:r>
              <a:rPr lang="en-US" b="1" dirty="0">
                <a:solidFill>
                  <a:srgbClr val="008000"/>
                </a:solidFill>
                <a:latin typeface="Calibri" panose="020F0502020204030204" pitchFamily="34" charset="0"/>
              </a:rPr>
              <a:t>destructor can be declared </a:t>
            </a:r>
            <a:r>
              <a:rPr lang="en-US" b="1" i="1" dirty="0">
                <a:solidFill>
                  <a:srgbClr val="2C14DE"/>
                </a:solidFill>
                <a:latin typeface="Calibri" panose="020F0502020204030204" pitchFamily="34" charset="0"/>
              </a:rPr>
              <a:t>virtual</a:t>
            </a:r>
            <a:r>
              <a:rPr lang="en-US" dirty="0">
                <a:solidFill>
                  <a:srgbClr val="2C14DE"/>
                </a:solidFill>
                <a:latin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</a:rPr>
              <a:t>or </a:t>
            </a:r>
            <a:r>
              <a:rPr lang="en-US" b="1" i="1" dirty="0">
                <a:solidFill>
                  <a:srgbClr val="2C14DE"/>
                </a:solidFill>
                <a:latin typeface="Calibri" panose="020F0502020204030204" pitchFamily="34" charset="0"/>
              </a:rPr>
              <a:t>pure virtual</a:t>
            </a:r>
            <a:endParaRPr lang="en-US" dirty="0">
              <a:latin typeface="Calibri" panose="020F0502020204030204" pitchFamily="34" charset="0"/>
            </a:endParaRPr>
          </a:p>
          <a:p>
            <a:pPr lvl="2"/>
            <a:endParaRPr lang="en-US" b="1" u="sng" dirty="0"/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6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78347"/>
            <a:ext cx="9089449" cy="829733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B80000"/>
                </a:solidFill>
                <a:latin typeface="+mn-lt"/>
              </a:rPr>
              <a:t>When Constructors and Destructors Are Called </a:t>
            </a:r>
          </a:p>
        </p:txBody>
      </p:sp>
      <p:sp>
        <p:nvSpPr>
          <p:cNvPr id="2253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77832"/>
            <a:ext cx="8839200" cy="65421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u="sng" dirty="0">
                <a:solidFill>
                  <a:srgbClr val="B80000"/>
                </a:solidFill>
              </a:rPr>
              <a:t>Constructors</a:t>
            </a:r>
            <a:r>
              <a:rPr lang="en-US" sz="2800" u="sng" dirty="0">
                <a:solidFill>
                  <a:srgbClr val="B80000"/>
                </a:solidFill>
              </a:rPr>
              <a:t> </a:t>
            </a:r>
            <a:r>
              <a:rPr lang="en-US" sz="2800" u="sng" dirty="0"/>
              <a:t>and </a:t>
            </a:r>
            <a:r>
              <a:rPr lang="en-US" sz="2800" b="1" u="sng" dirty="0">
                <a:solidFill>
                  <a:srgbClr val="B80000"/>
                </a:solidFill>
              </a:rPr>
              <a:t>destructors</a:t>
            </a:r>
            <a:r>
              <a:rPr lang="en-US" sz="2800" u="sng" dirty="0">
                <a:solidFill>
                  <a:srgbClr val="B80000"/>
                </a:solidFill>
              </a:rPr>
              <a:t> </a:t>
            </a:r>
            <a:r>
              <a:rPr lang="en-US" sz="2800" b="1" u="sng" dirty="0">
                <a:solidFill>
                  <a:srgbClr val="2C14DE"/>
                </a:solidFill>
              </a:rPr>
              <a:t>called automatically</a:t>
            </a:r>
          </a:p>
          <a:p>
            <a:pPr lvl="1"/>
            <a:r>
              <a:rPr lang="en-US" sz="2400" b="1" u="sng" dirty="0"/>
              <a:t>Order depends on scope of objects</a:t>
            </a:r>
            <a:endParaRPr lang="en-US" sz="2800" b="1" u="sng" dirty="0"/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solidFill>
                  <a:srgbClr val="B80000"/>
                </a:solidFill>
              </a:rPr>
              <a:t>Global scope objects</a:t>
            </a:r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Constructors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b="1" dirty="0"/>
              <a:t>called</a:t>
            </a:r>
            <a:r>
              <a:rPr lang="en-US" sz="2400" dirty="0"/>
              <a:t> </a:t>
            </a:r>
            <a:r>
              <a:rPr lang="en-US" sz="2400" b="1" dirty="0"/>
              <a:t>before any other function </a:t>
            </a:r>
            <a:r>
              <a:rPr lang="en-US" sz="2400" dirty="0"/>
              <a:t>(including 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</a:rPr>
              <a:t>main</a:t>
            </a:r>
            <a:r>
              <a:rPr lang="en-US" sz="2400" dirty="0"/>
              <a:t>)</a:t>
            </a:r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Destructors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dirty="0"/>
              <a:t>called when 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</a:rPr>
              <a:t>main</a:t>
            </a:r>
            <a:r>
              <a:rPr lang="en-US" sz="2400" b="1" dirty="0">
                <a:solidFill>
                  <a:srgbClr val="2C14DE"/>
                </a:solidFill>
              </a:rPr>
              <a:t> </a:t>
            </a:r>
            <a:r>
              <a:rPr lang="en-US" sz="2400" b="1" dirty="0"/>
              <a:t>terminates</a:t>
            </a:r>
            <a:r>
              <a:rPr lang="en-US" sz="2400" b="1" dirty="0">
                <a:solidFill>
                  <a:srgbClr val="2C14DE"/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b="1" i="1" dirty="0"/>
              <a:t>or </a:t>
            </a:r>
            <a:r>
              <a:rPr lang="en-US" sz="24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/>
              <a:t>function called</a:t>
            </a:r>
            <a:r>
              <a:rPr lang="en-US" sz="2400" dirty="0"/>
              <a:t>) </a:t>
            </a:r>
          </a:p>
          <a:p>
            <a:pPr lvl="1"/>
            <a:r>
              <a:rPr lang="en-US" sz="2400" b="1" u="sng" dirty="0">
                <a:solidFill>
                  <a:srgbClr val="2C14DE"/>
                </a:solidFill>
              </a:rPr>
              <a:t>Destructors not called </a:t>
            </a:r>
            <a:r>
              <a:rPr lang="en-US" sz="2400" dirty="0"/>
              <a:t>if </a:t>
            </a:r>
            <a:r>
              <a:rPr lang="en-US" sz="2400" b="1" dirty="0"/>
              <a:t>program terminates </a:t>
            </a:r>
            <a:r>
              <a:rPr lang="en-US" sz="2400" dirty="0"/>
              <a:t>with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abort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2600" b="1" dirty="0">
                <a:solidFill>
                  <a:srgbClr val="B80000"/>
                </a:solidFill>
              </a:rPr>
              <a:t>Automatic local objects</a:t>
            </a:r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Constructors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b="1" dirty="0"/>
              <a:t>called when </a:t>
            </a:r>
            <a:r>
              <a:rPr lang="en-US" sz="2400" b="1" dirty="0">
                <a:solidFill>
                  <a:srgbClr val="2C14DE"/>
                </a:solidFill>
              </a:rPr>
              <a:t>objects are defined</a:t>
            </a:r>
          </a:p>
          <a:p>
            <a:pPr lvl="1"/>
            <a:r>
              <a:rPr lang="en-US" sz="2400" b="1" dirty="0">
                <a:solidFill>
                  <a:srgbClr val="2C14DE"/>
                </a:solidFill>
              </a:rPr>
              <a:t>Destructors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b="1" dirty="0"/>
              <a:t>called when </a:t>
            </a:r>
            <a:r>
              <a:rPr lang="en-US" sz="2400" b="1" dirty="0">
                <a:solidFill>
                  <a:srgbClr val="2C14DE"/>
                </a:solidFill>
              </a:rPr>
              <a:t>objects leave scope</a:t>
            </a:r>
          </a:p>
          <a:p>
            <a:pPr lvl="1"/>
            <a:r>
              <a:rPr lang="en-US" sz="2400" b="1" dirty="0"/>
              <a:t>Destructors</a:t>
            </a:r>
            <a:r>
              <a:rPr lang="en-US" sz="2400" dirty="0"/>
              <a:t> </a:t>
            </a:r>
            <a:r>
              <a:rPr lang="en-US" sz="2400" b="1" dirty="0"/>
              <a:t>not called </a:t>
            </a:r>
            <a:r>
              <a:rPr lang="en-US" sz="2400" dirty="0"/>
              <a:t>if the program ends with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abort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749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32"/>
          <p:cNvGrpSpPr>
            <a:grpSpLocks/>
          </p:cNvGrpSpPr>
          <p:nvPr/>
        </p:nvGrpSpPr>
        <p:grpSpPr bwMode="auto">
          <a:xfrm>
            <a:off x="609600" y="1298575"/>
            <a:ext cx="8153400" cy="1504950"/>
            <a:chOff x="0" y="2244"/>
            <a:chExt cx="3072" cy="374"/>
          </a:xfrm>
        </p:grpSpPr>
        <p:sp>
          <p:nvSpPr>
            <p:cNvPr id="23579" name="Rectangle 31"/>
            <p:cNvSpPr>
              <a:spLocks noChangeArrowheads="1"/>
            </p:cNvSpPr>
            <p:nvPr/>
          </p:nvSpPr>
          <p:spPr bwMode="auto">
            <a:xfrm>
              <a:off x="0" y="2345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80" name="Rectangle 10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	</a:t>
              </a:r>
              <a:r>
                <a:rPr lang="en-US" sz="16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class</a:t>
              </a:r>
              <a:r>
                <a:rPr lang="en-US" sz="1600" b="1" dirty="0">
                  <a:latin typeface="Courier New" panose="02070309020205020404" pitchFamily="49" charset="0"/>
                </a:rPr>
                <a:t> </a:t>
              </a:r>
              <a:r>
                <a:rPr lang="en-US" sz="1600" b="1" dirty="0" err="1">
                  <a:latin typeface="Courier New" panose="02070309020205020404" pitchFamily="49" charset="0"/>
                </a:rPr>
                <a:t>CreateAndDestroy</a:t>
              </a:r>
              <a:r>
                <a:rPr lang="en-US" sz="1600" b="1" dirty="0">
                  <a:latin typeface="Courier New" panose="02070309020205020404" pitchFamily="49" charset="0"/>
                </a:rPr>
                <a:t> {</a:t>
              </a:r>
            </a:p>
            <a:p>
              <a:pPr eaLnBrk="1" hangingPunct="1"/>
              <a:endParaRPr 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55" name="Group 34"/>
          <p:cNvGrpSpPr>
            <a:grpSpLocks/>
          </p:cNvGrpSpPr>
          <p:nvPr/>
        </p:nvGrpSpPr>
        <p:grpSpPr bwMode="auto">
          <a:xfrm>
            <a:off x="609600" y="1558925"/>
            <a:ext cx="8153400" cy="1503363"/>
            <a:chOff x="0" y="2618"/>
            <a:chExt cx="3072" cy="374"/>
          </a:xfrm>
        </p:grpSpPr>
        <p:sp>
          <p:nvSpPr>
            <p:cNvPr id="23577" name="Rectangle 33"/>
            <p:cNvSpPr>
              <a:spLocks noChangeArrowheads="1"/>
            </p:cNvSpPr>
            <p:nvPr/>
          </p:nvSpPr>
          <p:spPr bwMode="auto">
            <a:xfrm>
              <a:off x="0" y="2719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78" name="Rectangle 11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	</a:t>
              </a:r>
              <a:r>
                <a:rPr lang="en-US" sz="16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public: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56" name="Group 36"/>
          <p:cNvGrpSpPr>
            <a:grpSpLocks/>
          </p:cNvGrpSpPr>
          <p:nvPr/>
        </p:nvGrpSpPr>
        <p:grpSpPr bwMode="auto">
          <a:xfrm>
            <a:off x="609600" y="1817688"/>
            <a:ext cx="8153400" cy="1504950"/>
            <a:chOff x="0" y="2992"/>
            <a:chExt cx="3072" cy="374"/>
          </a:xfrm>
        </p:grpSpPr>
        <p:sp>
          <p:nvSpPr>
            <p:cNvPr id="23575" name="Rectangle 35"/>
            <p:cNvSpPr>
              <a:spLocks noChangeArrowheads="1"/>
            </p:cNvSpPr>
            <p:nvPr/>
          </p:nvSpPr>
          <p:spPr bwMode="auto">
            <a:xfrm>
              <a:off x="0" y="3093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76" name="Rectangle 12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	</a:t>
              </a:r>
              <a:r>
                <a:rPr lang="en-US" sz="1600" b="1">
                  <a:latin typeface="Courier New" panose="02070309020205020404" pitchFamily="49" charset="0"/>
                </a:rPr>
                <a:t>   CreateAndDestroy( int );  </a:t>
              </a:r>
              <a:r>
                <a:rPr lang="en-US" sz="16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constructor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57" name="Group 38"/>
          <p:cNvGrpSpPr>
            <a:grpSpLocks/>
          </p:cNvGrpSpPr>
          <p:nvPr/>
        </p:nvGrpSpPr>
        <p:grpSpPr bwMode="auto">
          <a:xfrm>
            <a:off x="609600" y="2076450"/>
            <a:ext cx="8153400" cy="1504950"/>
            <a:chOff x="0" y="3366"/>
            <a:chExt cx="3072" cy="374"/>
          </a:xfrm>
        </p:grpSpPr>
        <p:sp>
          <p:nvSpPr>
            <p:cNvPr id="23573" name="Rectangle 37"/>
            <p:cNvSpPr>
              <a:spLocks noChangeArrowheads="1"/>
            </p:cNvSpPr>
            <p:nvPr/>
          </p:nvSpPr>
          <p:spPr bwMode="auto">
            <a:xfrm>
              <a:off x="0" y="3467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74" name="Rectangle 1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	</a:t>
              </a:r>
              <a:r>
                <a:rPr lang="en-US" sz="1600" b="1">
                  <a:latin typeface="Courier New" panose="02070309020205020404" pitchFamily="49" charset="0"/>
                </a:rPr>
                <a:t>   ~CreateAndDestroy();      </a:t>
              </a:r>
              <a:r>
                <a:rPr lang="en-US" sz="16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destructor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58" name="Group 40"/>
          <p:cNvGrpSpPr>
            <a:grpSpLocks/>
          </p:cNvGrpSpPr>
          <p:nvPr/>
        </p:nvGrpSpPr>
        <p:grpSpPr bwMode="auto">
          <a:xfrm>
            <a:off x="609600" y="2335213"/>
            <a:ext cx="8153400" cy="1504950"/>
            <a:chOff x="0" y="3740"/>
            <a:chExt cx="3072" cy="374"/>
          </a:xfrm>
        </p:grpSpPr>
        <p:sp>
          <p:nvSpPr>
            <p:cNvPr id="23571" name="Rectangle 39"/>
            <p:cNvSpPr>
              <a:spLocks noChangeArrowheads="1"/>
            </p:cNvSpPr>
            <p:nvPr/>
          </p:nvSpPr>
          <p:spPr bwMode="auto">
            <a:xfrm>
              <a:off x="0" y="3841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72" name="Rectangle 14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	</a:t>
              </a:r>
              <a:r>
                <a:rPr lang="en-US" sz="16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private: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59" name="Group 42"/>
          <p:cNvGrpSpPr>
            <a:grpSpLocks/>
          </p:cNvGrpSpPr>
          <p:nvPr/>
        </p:nvGrpSpPr>
        <p:grpSpPr bwMode="auto">
          <a:xfrm>
            <a:off x="609600" y="2595563"/>
            <a:ext cx="8153400" cy="1503362"/>
            <a:chOff x="0" y="4114"/>
            <a:chExt cx="3072" cy="374"/>
          </a:xfrm>
        </p:grpSpPr>
        <p:sp>
          <p:nvSpPr>
            <p:cNvPr id="23569" name="Rectangle 41"/>
            <p:cNvSpPr>
              <a:spLocks noChangeArrowheads="1"/>
            </p:cNvSpPr>
            <p:nvPr/>
          </p:nvSpPr>
          <p:spPr bwMode="auto">
            <a:xfrm>
              <a:off x="0" y="4215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70" name="Rectangle 15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	</a:t>
              </a:r>
              <a:r>
                <a:rPr lang="en-US" sz="1600" b="1">
                  <a:latin typeface="Courier New" panose="02070309020205020404" pitchFamily="49" charset="0"/>
                </a:rPr>
                <a:t>   </a:t>
              </a:r>
              <a:r>
                <a:rPr lang="en-US" sz="16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600" b="1">
                  <a:latin typeface="Courier New" panose="02070309020205020404" pitchFamily="49" charset="0"/>
                </a:rPr>
                <a:t> data;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60" name="Group 44"/>
          <p:cNvGrpSpPr>
            <a:grpSpLocks/>
          </p:cNvGrpSpPr>
          <p:nvPr/>
        </p:nvGrpSpPr>
        <p:grpSpPr bwMode="auto">
          <a:xfrm>
            <a:off x="609600" y="2854325"/>
            <a:ext cx="8153400" cy="1184275"/>
            <a:chOff x="0" y="4488"/>
            <a:chExt cx="3072" cy="374"/>
          </a:xfrm>
        </p:grpSpPr>
        <p:sp>
          <p:nvSpPr>
            <p:cNvPr id="23567" name="Rectangle 43"/>
            <p:cNvSpPr>
              <a:spLocks noChangeArrowheads="1"/>
            </p:cNvSpPr>
            <p:nvPr/>
          </p:nvSpPr>
          <p:spPr bwMode="auto">
            <a:xfrm>
              <a:off x="0" y="4589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68" name="Rectangle 16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13	</a:t>
              </a:r>
              <a:r>
                <a:rPr lang="en-US" sz="1600" b="1">
                  <a:latin typeface="Courier New" panose="02070309020205020404" pitchFamily="49" charset="0"/>
                </a:rPr>
                <a:t>};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61" name="Group 46"/>
          <p:cNvGrpSpPr>
            <a:grpSpLocks/>
          </p:cNvGrpSpPr>
          <p:nvPr/>
        </p:nvGrpSpPr>
        <p:grpSpPr bwMode="auto">
          <a:xfrm>
            <a:off x="609600" y="3113088"/>
            <a:ext cx="8153400" cy="925512"/>
            <a:chOff x="0" y="4862"/>
            <a:chExt cx="3072" cy="374"/>
          </a:xfrm>
        </p:grpSpPr>
        <p:sp>
          <p:nvSpPr>
            <p:cNvPr id="23565" name="Rectangle 45"/>
            <p:cNvSpPr>
              <a:spLocks noChangeArrowheads="1"/>
            </p:cNvSpPr>
            <p:nvPr/>
          </p:nvSpPr>
          <p:spPr bwMode="auto">
            <a:xfrm>
              <a:off x="0" y="4963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66" name="Rectangle 17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14	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562" name="Group 48"/>
          <p:cNvGrpSpPr>
            <a:grpSpLocks/>
          </p:cNvGrpSpPr>
          <p:nvPr/>
        </p:nvGrpSpPr>
        <p:grpSpPr bwMode="auto">
          <a:xfrm>
            <a:off x="609600" y="3371850"/>
            <a:ext cx="8153400" cy="742950"/>
            <a:chOff x="0" y="5236"/>
            <a:chExt cx="3072" cy="374"/>
          </a:xfrm>
        </p:grpSpPr>
        <p:sp>
          <p:nvSpPr>
            <p:cNvPr id="23563" name="Rectangle 47"/>
            <p:cNvSpPr>
              <a:spLocks noChangeArrowheads="1"/>
            </p:cNvSpPr>
            <p:nvPr/>
          </p:nvSpPr>
          <p:spPr bwMode="auto">
            <a:xfrm>
              <a:off x="0" y="5337"/>
              <a:ext cx="76" cy="17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3564" name="Rectangle 1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15	</a:t>
              </a:r>
              <a:r>
                <a:rPr lang="en-US" sz="1600" b="1">
                  <a:latin typeface="Courier New" panose="02070309020205020404" pitchFamily="49" charset="0"/>
                </a:rPr>
                <a:t>#endif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59824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38"/>
          <p:cNvGrpSpPr>
            <a:grpSpLocks/>
          </p:cNvGrpSpPr>
          <p:nvPr/>
        </p:nvGrpSpPr>
        <p:grpSpPr bwMode="auto">
          <a:xfrm>
            <a:off x="678256" y="1143000"/>
            <a:ext cx="8001000" cy="381000"/>
            <a:chOff x="0" y="2992"/>
            <a:chExt cx="3072" cy="374"/>
          </a:xfrm>
        </p:grpSpPr>
        <p:sp>
          <p:nvSpPr>
            <p:cNvPr id="24607" name="Rectangle 37"/>
            <p:cNvSpPr>
              <a:spLocks noChangeArrowheads="1"/>
            </p:cNvSpPr>
            <p:nvPr/>
          </p:nvSpPr>
          <p:spPr bwMode="auto">
            <a:xfrm>
              <a:off x="0" y="3013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608" name="Rectangle 12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24	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79" name="Group 40"/>
          <p:cNvGrpSpPr>
            <a:grpSpLocks/>
          </p:cNvGrpSpPr>
          <p:nvPr/>
        </p:nvGrpSpPr>
        <p:grpSpPr bwMode="auto">
          <a:xfrm>
            <a:off x="678256" y="1524000"/>
            <a:ext cx="8001000" cy="381000"/>
            <a:chOff x="0" y="3366"/>
            <a:chExt cx="3072" cy="374"/>
          </a:xfrm>
        </p:grpSpPr>
        <p:sp>
          <p:nvSpPr>
            <p:cNvPr id="24605" name="Rectangle 39"/>
            <p:cNvSpPr>
              <a:spLocks noChangeArrowheads="1"/>
            </p:cNvSpPr>
            <p:nvPr/>
          </p:nvSpPr>
          <p:spPr bwMode="auto">
            <a:xfrm>
              <a:off x="0" y="3387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606" name="Rectangle 1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25	</a:t>
              </a:r>
              <a:r>
                <a:rPr lang="en-US" sz="1600" b="1" dirty="0" err="1">
                  <a:latin typeface="Courier New" panose="02070309020205020404" pitchFamily="49" charset="0"/>
                </a:rPr>
                <a:t>CreateAndDestroy</a:t>
              </a:r>
              <a:r>
                <a:rPr lang="en-US" sz="1600" b="1" dirty="0">
                  <a:latin typeface="Courier New" panose="02070309020205020404" pitchFamily="49" charset="0"/>
                </a:rPr>
                <a:t>::</a:t>
              </a:r>
              <a:r>
                <a:rPr lang="en-US" sz="1600" b="1" dirty="0" err="1">
                  <a:latin typeface="Courier New" panose="02070309020205020404" pitchFamily="49" charset="0"/>
                </a:rPr>
                <a:t>CreateAndDestroy</a:t>
              </a:r>
              <a:r>
                <a:rPr lang="en-US" sz="1600" b="1" dirty="0">
                  <a:latin typeface="Courier New" panose="02070309020205020404" pitchFamily="49" charset="0"/>
                </a:rPr>
                <a:t>( </a:t>
              </a:r>
              <a:r>
                <a:rPr lang="en-US" sz="16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600" b="1" dirty="0">
                  <a:latin typeface="Courier New" panose="02070309020205020404" pitchFamily="49" charset="0"/>
                </a:rPr>
                <a:t> value )</a:t>
              </a:r>
            </a:p>
            <a:p>
              <a:pPr eaLnBrk="1" hangingPunct="1"/>
              <a:endParaRPr 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0" name="Group 42"/>
          <p:cNvGrpSpPr>
            <a:grpSpLocks/>
          </p:cNvGrpSpPr>
          <p:nvPr/>
        </p:nvGrpSpPr>
        <p:grpSpPr bwMode="auto">
          <a:xfrm>
            <a:off x="678256" y="1905000"/>
            <a:ext cx="8001000" cy="381000"/>
            <a:chOff x="0" y="3740"/>
            <a:chExt cx="3072" cy="374"/>
          </a:xfrm>
        </p:grpSpPr>
        <p:sp>
          <p:nvSpPr>
            <p:cNvPr id="24603" name="Rectangle 41"/>
            <p:cNvSpPr>
              <a:spLocks noChangeArrowheads="1"/>
            </p:cNvSpPr>
            <p:nvPr/>
          </p:nvSpPr>
          <p:spPr bwMode="auto">
            <a:xfrm>
              <a:off x="0" y="3761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604" name="Rectangle 14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26	</a:t>
              </a:r>
              <a:r>
                <a:rPr lang="en-US" sz="16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1" name="Group 44"/>
          <p:cNvGrpSpPr>
            <a:grpSpLocks/>
          </p:cNvGrpSpPr>
          <p:nvPr/>
        </p:nvGrpSpPr>
        <p:grpSpPr bwMode="auto">
          <a:xfrm>
            <a:off x="678256" y="2286000"/>
            <a:ext cx="8001000" cy="381000"/>
            <a:chOff x="0" y="4114"/>
            <a:chExt cx="3072" cy="374"/>
          </a:xfrm>
        </p:grpSpPr>
        <p:sp>
          <p:nvSpPr>
            <p:cNvPr id="24601" name="Rectangle 43"/>
            <p:cNvSpPr>
              <a:spLocks noChangeArrowheads="1"/>
            </p:cNvSpPr>
            <p:nvPr/>
          </p:nvSpPr>
          <p:spPr bwMode="auto">
            <a:xfrm>
              <a:off x="0" y="4135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602" name="Rectangle 15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27	</a:t>
              </a:r>
              <a:r>
                <a:rPr lang="en-US" sz="1600" b="1">
                  <a:latin typeface="Courier New" panose="02070309020205020404" pitchFamily="49" charset="0"/>
                </a:rPr>
                <a:t>   data = value;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2" name="Group 46"/>
          <p:cNvGrpSpPr>
            <a:grpSpLocks/>
          </p:cNvGrpSpPr>
          <p:nvPr/>
        </p:nvGrpSpPr>
        <p:grpSpPr bwMode="auto">
          <a:xfrm>
            <a:off x="678256" y="2667000"/>
            <a:ext cx="8001000" cy="381000"/>
            <a:chOff x="0" y="4488"/>
            <a:chExt cx="3072" cy="374"/>
          </a:xfrm>
        </p:grpSpPr>
        <p:sp>
          <p:nvSpPr>
            <p:cNvPr id="24599" name="Rectangle 45"/>
            <p:cNvSpPr>
              <a:spLocks noChangeArrowheads="1"/>
            </p:cNvSpPr>
            <p:nvPr/>
          </p:nvSpPr>
          <p:spPr bwMode="auto">
            <a:xfrm>
              <a:off x="0" y="4509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600" name="Rectangle 16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28	</a:t>
              </a:r>
              <a:r>
                <a:rPr lang="en-US" sz="1600" b="1" dirty="0">
                  <a:latin typeface="Courier New" panose="02070309020205020404" pitchFamily="49" charset="0"/>
                </a:rPr>
                <a:t>   </a:t>
              </a:r>
              <a:r>
                <a:rPr lang="en-US" sz="1600" b="1" dirty="0" err="1">
                  <a:latin typeface="Courier New" panose="02070309020205020404" pitchFamily="49" charset="0"/>
                </a:rPr>
                <a:t>cout</a:t>
              </a:r>
              <a:r>
                <a:rPr lang="en-US" sz="1600" b="1" dirty="0">
                  <a:latin typeface="Courier New" panose="02070309020205020404" pitchFamily="49" charset="0"/>
                </a:rPr>
                <a:t> &lt;&lt; "Object " &lt;&lt; data &lt;&lt; "   constructor";</a:t>
              </a:r>
            </a:p>
            <a:p>
              <a:pPr eaLnBrk="1" hangingPunct="1"/>
              <a:endParaRPr 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3" name="Group 48"/>
          <p:cNvGrpSpPr>
            <a:grpSpLocks/>
          </p:cNvGrpSpPr>
          <p:nvPr/>
        </p:nvGrpSpPr>
        <p:grpSpPr bwMode="auto">
          <a:xfrm>
            <a:off x="678256" y="3048000"/>
            <a:ext cx="8000999" cy="381000"/>
            <a:chOff x="0" y="4862"/>
            <a:chExt cx="3072" cy="374"/>
          </a:xfrm>
        </p:grpSpPr>
        <p:sp>
          <p:nvSpPr>
            <p:cNvPr id="24597" name="Rectangle 47"/>
            <p:cNvSpPr>
              <a:spLocks noChangeArrowheads="1"/>
            </p:cNvSpPr>
            <p:nvPr/>
          </p:nvSpPr>
          <p:spPr bwMode="auto">
            <a:xfrm>
              <a:off x="0" y="4883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598" name="Rectangle 17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29	</a:t>
              </a:r>
              <a:r>
                <a:rPr lang="en-US" sz="16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4" name="Group 50"/>
          <p:cNvGrpSpPr>
            <a:grpSpLocks/>
          </p:cNvGrpSpPr>
          <p:nvPr/>
        </p:nvGrpSpPr>
        <p:grpSpPr bwMode="auto">
          <a:xfrm>
            <a:off x="678256" y="3429000"/>
            <a:ext cx="8001000" cy="381000"/>
            <a:chOff x="0" y="5236"/>
            <a:chExt cx="3072" cy="374"/>
          </a:xfrm>
        </p:grpSpPr>
        <p:sp>
          <p:nvSpPr>
            <p:cNvPr id="24595" name="Rectangle 49"/>
            <p:cNvSpPr>
              <a:spLocks noChangeArrowheads="1"/>
            </p:cNvSpPr>
            <p:nvPr/>
          </p:nvSpPr>
          <p:spPr bwMode="auto">
            <a:xfrm>
              <a:off x="0" y="5257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596" name="Rectangle 1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30	</a:t>
              </a:r>
              <a:endParaRPr lang="en-US" sz="16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5" name="Group 52"/>
          <p:cNvGrpSpPr>
            <a:grpSpLocks/>
          </p:cNvGrpSpPr>
          <p:nvPr/>
        </p:nvGrpSpPr>
        <p:grpSpPr bwMode="auto">
          <a:xfrm>
            <a:off x="678256" y="3810000"/>
            <a:ext cx="8000999" cy="381000"/>
            <a:chOff x="0" y="5610"/>
            <a:chExt cx="3072" cy="374"/>
          </a:xfrm>
        </p:grpSpPr>
        <p:sp>
          <p:nvSpPr>
            <p:cNvPr id="24593" name="Rectangle 51"/>
            <p:cNvSpPr>
              <a:spLocks noChangeArrowheads="1"/>
            </p:cNvSpPr>
            <p:nvPr/>
          </p:nvSpPr>
          <p:spPr bwMode="auto">
            <a:xfrm>
              <a:off x="0" y="5631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594" name="Rectangle 19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31	</a:t>
              </a:r>
              <a:r>
                <a:rPr lang="en-US" sz="1600" b="1">
                  <a:latin typeface="Courier New" panose="02070309020205020404" pitchFamily="49" charset="0"/>
                </a:rPr>
                <a:t>CreateAndDestroy::~CreateAndDestroy()</a:t>
              </a:r>
            </a:p>
            <a:p>
              <a:pPr eaLnBrk="1" hangingPunct="1"/>
              <a:endParaRPr lang="en-US" sz="16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4586" name="Group 54"/>
          <p:cNvGrpSpPr>
            <a:grpSpLocks/>
          </p:cNvGrpSpPr>
          <p:nvPr/>
        </p:nvGrpSpPr>
        <p:grpSpPr bwMode="auto">
          <a:xfrm>
            <a:off x="685800" y="4191000"/>
            <a:ext cx="7993455" cy="381000"/>
            <a:chOff x="0" y="5984"/>
            <a:chExt cx="3072" cy="374"/>
          </a:xfrm>
        </p:grpSpPr>
        <p:sp>
          <p:nvSpPr>
            <p:cNvPr id="24591" name="Rectangle 53"/>
            <p:cNvSpPr>
              <a:spLocks noChangeArrowheads="1"/>
            </p:cNvSpPr>
            <p:nvPr/>
          </p:nvSpPr>
          <p:spPr bwMode="auto">
            <a:xfrm>
              <a:off x="0" y="6005"/>
              <a:ext cx="85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600"/>
            </a:p>
          </p:txBody>
        </p:sp>
        <p:sp>
          <p:nvSpPr>
            <p:cNvPr id="24592" name="Rectangle 20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32	</a:t>
              </a:r>
              <a:r>
                <a:rPr lang="en-US" sz="1600" b="1" dirty="0">
                  <a:latin typeface="Courier New" panose="02070309020205020404" pitchFamily="49" charset="0"/>
                </a:rPr>
                <a:t>   { </a:t>
              </a:r>
              <a:r>
                <a:rPr lang="en-US" sz="1600" b="1" dirty="0" err="1">
                  <a:latin typeface="Courier New" panose="02070309020205020404" pitchFamily="49" charset="0"/>
                </a:rPr>
                <a:t>cout</a:t>
              </a:r>
              <a:r>
                <a:rPr lang="en-US" sz="1600" b="1" dirty="0">
                  <a:latin typeface="Courier New" panose="02070309020205020404" pitchFamily="49" charset="0"/>
                </a:rPr>
                <a:t> &lt;&lt; "Object " &lt;&lt; data &lt;&lt; "   destructor " &lt;&lt; </a:t>
              </a:r>
              <a:r>
                <a:rPr lang="en-US" sz="1600" b="1" dirty="0" err="1">
                  <a:latin typeface="Courier New" panose="02070309020205020404" pitchFamily="49" charset="0"/>
                </a:rPr>
                <a:t>endl</a:t>
              </a:r>
              <a:r>
                <a:rPr lang="en-US" sz="1600" b="1" dirty="0">
                  <a:latin typeface="Courier New" panose="02070309020205020404" pitchFamily="49" charset="0"/>
                </a:rPr>
                <a:t>; }</a:t>
              </a:r>
            </a:p>
            <a:p>
              <a:pPr eaLnBrk="1" hangingPunct="1"/>
              <a:endParaRPr 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1" name="Group 60"/>
          <p:cNvGrpSpPr>
            <a:grpSpLocks/>
          </p:cNvGrpSpPr>
          <p:nvPr/>
        </p:nvGrpSpPr>
        <p:grpSpPr bwMode="auto">
          <a:xfrm>
            <a:off x="4716856" y="1845508"/>
            <a:ext cx="3810000" cy="2366963"/>
            <a:chOff x="3216" y="2400"/>
            <a:chExt cx="2400" cy="1491"/>
          </a:xfrm>
        </p:grpSpPr>
        <p:sp>
          <p:nvSpPr>
            <p:cNvPr id="24588" name="Text Box 57"/>
            <p:cNvSpPr txBox="1">
              <a:spLocks noChangeArrowheads="1"/>
            </p:cNvSpPr>
            <p:nvPr/>
          </p:nvSpPr>
          <p:spPr bwMode="auto">
            <a:xfrm>
              <a:off x="3456" y="2400"/>
              <a:ext cx="2160" cy="52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/>
                <a:t>Constructor and Destructor changed to print when they are called.</a:t>
              </a:r>
            </a:p>
          </p:txBody>
        </p:sp>
        <p:sp>
          <p:nvSpPr>
            <p:cNvPr id="24589" name="Line 58"/>
            <p:cNvSpPr>
              <a:spLocks noChangeShapeType="1"/>
            </p:cNvSpPr>
            <p:nvPr/>
          </p:nvSpPr>
          <p:spPr bwMode="auto">
            <a:xfrm flipH="1">
              <a:off x="4368" y="2904"/>
              <a:ext cx="528" cy="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24590" name="Line 59"/>
            <p:cNvSpPr>
              <a:spLocks noChangeShapeType="1"/>
            </p:cNvSpPr>
            <p:nvPr/>
          </p:nvSpPr>
          <p:spPr bwMode="auto">
            <a:xfrm flipH="1">
              <a:off x="3216" y="2736"/>
              <a:ext cx="240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484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53"/>
          <p:cNvGrpSpPr>
            <a:grpSpLocks/>
          </p:cNvGrpSpPr>
          <p:nvPr/>
        </p:nvGrpSpPr>
        <p:grpSpPr bwMode="auto">
          <a:xfrm>
            <a:off x="0" y="2033588"/>
            <a:ext cx="6705600" cy="276225"/>
            <a:chOff x="0" y="3326"/>
            <a:chExt cx="3072" cy="453"/>
          </a:xfrm>
        </p:grpSpPr>
        <p:sp>
          <p:nvSpPr>
            <p:cNvPr id="25664" name="Rectangle 52"/>
            <p:cNvSpPr>
              <a:spLocks noChangeArrowheads="1"/>
            </p:cNvSpPr>
            <p:nvPr/>
          </p:nvSpPr>
          <p:spPr bwMode="auto">
            <a:xfrm>
              <a:off x="0" y="3326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65" name="Rectangle 1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42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3" name="Group 55"/>
          <p:cNvGrpSpPr>
            <a:grpSpLocks/>
          </p:cNvGrpSpPr>
          <p:nvPr/>
        </p:nvGrpSpPr>
        <p:grpSpPr bwMode="auto">
          <a:xfrm>
            <a:off x="0" y="2262188"/>
            <a:ext cx="6705600" cy="276225"/>
            <a:chOff x="0" y="3700"/>
            <a:chExt cx="3072" cy="453"/>
          </a:xfrm>
        </p:grpSpPr>
        <p:sp>
          <p:nvSpPr>
            <p:cNvPr id="25662" name="Rectangle 54"/>
            <p:cNvSpPr>
              <a:spLocks noChangeArrowheads="1"/>
            </p:cNvSpPr>
            <p:nvPr/>
          </p:nvSpPr>
          <p:spPr bwMode="auto">
            <a:xfrm>
              <a:off x="0" y="3700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63" name="Rectangle 14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43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create(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);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// prototype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4" name="Group 57"/>
          <p:cNvGrpSpPr>
            <a:grpSpLocks/>
          </p:cNvGrpSpPr>
          <p:nvPr/>
        </p:nvGrpSpPr>
        <p:grpSpPr bwMode="auto">
          <a:xfrm>
            <a:off x="0" y="2490788"/>
            <a:ext cx="6705600" cy="276225"/>
            <a:chOff x="0" y="4074"/>
            <a:chExt cx="3072" cy="453"/>
          </a:xfrm>
        </p:grpSpPr>
        <p:sp>
          <p:nvSpPr>
            <p:cNvPr id="25660" name="Rectangle 56"/>
            <p:cNvSpPr>
              <a:spLocks noChangeArrowheads="1"/>
            </p:cNvSpPr>
            <p:nvPr/>
          </p:nvSpPr>
          <p:spPr bwMode="auto">
            <a:xfrm>
              <a:off x="0" y="4074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61" name="Rectangle 15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5" name="Group 59"/>
          <p:cNvGrpSpPr>
            <a:grpSpLocks/>
          </p:cNvGrpSpPr>
          <p:nvPr/>
        </p:nvGrpSpPr>
        <p:grpSpPr bwMode="auto">
          <a:xfrm>
            <a:off x="0" y="2719388"/>
            <a:ext cx="6705600" cy="276225"/>
            <a:chOff x="0" y="4448"/>
            <a:chExt cx="3072" cy="453"/>
          </a:xfrm>
        </p:grpSpPr>
        <p:sp>
          <p:nvSpPr>
            <p:cNvPr id="25658" name="Rectangle 58"/>
            <p:cNvSpPr>
              <a:spLocks noChangeArrowheads="1"/>
            </p:cNvSpPr>
            <p:nvPr/>
          </p:nvSpPr>
          <p:spPr bwMode="auto">
            <a:xfrm>
              <a:off x="0" y="4448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59" name="Rectangle 16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45	</a:t>
              </a:r>
              <a:r>
                <a:rPr lang="en-US" sz="1200" b="1">
                  <a:latin typeface="Courier New" panose="02070309020205020404" pitchFamily="49" charset="0"/>
                </a:rPr>
                <a:t>CreateAndDestroy first( 1 );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global object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6" name="Group 61"/>
          <p:cNvGrpSpPr>
            <a:grpSpLocks/>
          </p:cNvGrpSpPr>
          <p:nvPr/>
        </p:nvGrpSpPr>
        <p:grpSpPr bwMode="auto">
          <a:xfrm>
            <a:off x="0" y="2947988"/>
            <a:ext cx="6705600" cy="276225"/>
            <a:chOff x="0" y="4822"/>
            <a:chExt cx="3072" cy="453"/>
          </a:xfrm>
        </p:grpSpPr>
        <p:sp>
          <p:nvSpPr>
            <p:cNvPr id="25656" name="Rectangle 60"/>
            <p:cNvSpPr>
              <a:spLocks noChangeArrowheads="1"/>
            </p:cNvSpPr>
            <p:nvPr/>
          </p:nvSpPr>
          <p:spPr bwMode="auto">
            <a:xfrm>
              <a:off x="0" y="4822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57" name="Rectangle 17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46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7" name="Group 63"/>
          <p:cNvGrpSpPr>
            <a:grpSpLocks/>
          </p:cNvGrpSpPr>
          <p:nvPr/>
        </p:nvGrpSpPr>
        <p:grpSpPr bwMode="auto">
          <a:xfrm>
            <a:off x="0" y="3176588"/>
            <a:ext cx="6705600" cy="276225"/>
            <a:chOff x="0" y="5196"/>
            <a:chExt cx="3072" cy="453"/>
          </a:xfrm>
        </p:grpSpPr>
        <p:sp>
          <p:nvSpPr>
            <p:cNvPr id="25654" name="Rectangle 62"/>
            <p:cNvSpPr>
              <a:spLocks noChangeArrowheads="1"/>
            </p:cNvSpPr>
            <p:nvPr/>
          </p:nvSpPr>
          <p:spPr bwMode="auto">
            <a:xfrm>
              <a:off x="0" y="5196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55" name="Rectangle 1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47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main()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8" name="Group 65"/>
          <p:cNvGrpSpPr>
            <a:grpSpLocks/>
          </p:cNvGrpSpPr>
          <p:nvPr/>
        </p:nvGrpSpPr>
        <p:grpSpPr bwMode="auto">
          <a:xfrm>
            <a:off x="0" y="3405188"/>
            <a:ext cx="6705600" cy="276225"/>
            <a:chOff x="0" y="5570"/>
            <a:chExt cx="3072" cy="453"/>
          </a:xfrm>
        </p:grpSpPr>
        <p:sp>
          <p:nvSpPr>
            <p:cNvPr id="25652" name="Rectangle 64"/>
            <p:cNvSpPr>
              <a:spLocks noChangeArrowheads="1"/>
            </p:cNvSpPr>
            <p:nvPr/>
          </p:nvSpPr>
          <p:spPr bwMode="auto">
            <a:xfrm>
              <a:off x="0" y="5570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53" name="Rectangle 19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48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09" name="Group 67"/>
          <p:cNvGrpSpPr>
            <a:grpSpLocks/>
          </p:cNvGrpSpPr>
          <p:nvPr/>
        </p:nvGrpSpPr>
        <p:grpSpPr bwMode="auto">
          <a:xfrm>
            <a:off x="0" y="3633788"/>
            <a:ext cx="6705600" cy="276225"/>
            <a:chOff x="0" y="5944"/>
            <a:chExt cx="3072" cy="453"/>
          </a:xfrm>
        </p:grpSpPr>
        <p:sp>
          <p:nvSpPr>
            <p:cNvPr id="25650" name="Rectangle 66"/>
            <p:cNvSpPr>
              <a:spLocks noChangeArrowheads="1"/>
            </p:cNvSpPr>
            <p:nvPr/>
          </p:nvSpPr>
          <p:spPr bwMode="auto">
            <a:xfrm>
              <a:off x="0" y="5944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51" name="Rectangle 20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49	</a:t>
              </a:r>
              <a:r>
                <a:rPr lang="en-US" sz="1200" b="1">
                  <a:latin typeface="Courier New" panose="02070309020205020404" pitchFamily="49" charset="0"/>
                </a:rPr>
                <a:t>   cout &lt;&lt; "   (global created before main)" &lt;&lt; 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0" name="Group 69"/>
          <p:cNvGrpSpPr>
            <a:grpSpLocks/>
          </p:cNvGrpSpPr>
          <p:nvPr/>
        </p:nvGrpSpPr>
        <p:grpSpPr bwMode="auto">
          <a:xfrm>
            <a:off x="0" y="3862388"/>
            <a:ext cx="6705600" cy="276225"/>
            <a:chOff x="0" y="6318"/>
            <a:chExt cx="3072" cy="453"/>
          </a:xfrm>
        </p:grpSpPr>
        <p:sp>
          <p:nvSpPr>
            <p:cNvPr id="25648" name="Rectangle 68"/>
            <p:cNvSpPr>
              <a:spLocks noChangeArrowheads="1"/>
            </p:cNvSpPr>
            <p:nvPr/>
          </p:nvSpPr>
          <p:spPr bwMode="auto">
            <a:xfrm>
              <a:off x="0" y="6318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49" name="Rectangle 21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50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1" name="Group 71"/>
          <p:cNvGrpSpPr>
            <a:grpSpLocks/>
          </p:cNvGrpSpPr>
          <p:nvPr/>
        </p:nvGrpSpPr>
        <p:grpSpPr bwMode="auto">
          <a:xfrm>
            <a:off x="0" y="4090988"/>
            <a:ext cx="6705600" cy="276225"/>
            <a:chOff x="0" y="6692"/>
            <a:chExt cx="3072" cy="453"/>
          </a:xfrm>
        </p:grpSpPr>
        <p:sp>
          <p:nvSpPr>
            <p:cNvPr id="25646" name="Rectangle 70"/>
            <p:cNvSpPr>
              <a:spLocks noChangeArrowheads="1"/>
            </p:cNvSpPr>
            <p:nvPr/>
          </p:nvSpPr>
          <p:spPr bwMode="auto">
            <a:xfrm>
              <a:off x="0" y="6692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47" name="Rectangle 22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51	</a:t>
              </a:r>
              <a:r>
                <a:rPr lang="en-US" sz="1200" b="1">
                  <a:latin typeface="Courier New" panose="02070309020205020404" pitchFamily="49" charset="0"/>
                </a:rPr>
                <a:t>   CreateAndDestroy second( 2 );  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local object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2" name="Group 73"/>
          <p:cNvGrpSpPr>
            <a:grpSpLocks/>
          </p:cNvGrpSpPr>
          <p:nvPr/>
        </p:nvGrpSpPr>
        <p:grpSpPr bwMode="auto">
          <a:xfrm>
            <a:off x="0" y="4319588"/>
            <a:ext cx="6705600" cy="276225"/>
            <a:chOff x="0" y="7066"/>
            <a:chExt cx="3072" cy="453"/>
          </a:xfrm>
        </p:grpSpPr>
        <p:sp>
          <p:nvSpPr>
            <p:cNvPr id="25644" name="Rectangle 72"/>
            <p:cNvSpPr>
              <a:spLocks noChangeArrowheads="1"/>
            </p:cNvSpPr>
            <p:nvPr/>
          </p:nvSpPr>
          <p:spPr bwMode="auto">
            <a:xfrm>
              <a:off x="0" y="7066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45" name="Rectangle 2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52	</a:t>
              </a:r>
              <a:r>
                <a:rPr lang="en-US" sz="1200" b="1">
                  <a:latin typeface="Courier New" panose="02070309020205020404" pitchFamily="49" charset="0"/>
                </a:rPr>
                <a:t>   cout &lt;&lt; "   (local automatic in main)" &lt;&lt; 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3" name="Group 75"/>
          <p:cNvGrpSpPr>
            <a:grpSpLocks/>
          </p:cNvGrpSpPr>
          <p:nvPr/>
        </p:nvGrpSpPr>
        <p:grpSpPr bwMode="auto">
          <a:xfrm>
            <a:off x="0" y="4548188"/>
            <a:ext cx="6705600" cy="276225"/>
            <a:chOff x="0" y="7440"/>
            <a:chExt cx="3072" cy="453"/>
          </a:xfrm>
        </p:grpSpPr>
        <p:sp>
          <p:nvSpPr>
            <p:cNvPr id="25642" name="Rectangle 74"/>
            <p:cNvSpPr>
              <a:spLocks noChangeArrowheads="1"/>
            </p:cNvSpPr>
            <p:nvPr/>
          </p:nvSpPr>
          <p:spPr bwMode="auto">
            <a:xfrm>
              <a:off x="0" y="7440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43" name="Rectangle 24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53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4" name="Group 77"/>
          <p:cNvGrpSpPr>
            <a:grpSpLocks/>
          </p:cNvGrpSpPr>
          <p:nvPr/>
        </p:nvGrpSpPr>
        <p:grpSpPr bwMode="auto">
          <a:xfrm>
            <a:off x="0" y="4776788"/>
            <a:ext cx="6705600" cy="276225"/>
            <a:chOff x="0" y="7814"/>
            <a:chExt cx="3072" cy="453"/>
          </a:xfrm>
        </p:grpSpPr>
        <p:sp>
          <p:nvSpPr>
            <p:cNvPr id="25640" name="Rectangle 76"/>
            <p:cNvSpPr>
              <a:spLocks noChangeArrowheads="1"/>
            </p:cNvSpPr>
            <p:nvPr/>
          </p:nvSpPr>
          <p:spPr bwMode="auto">
            <a:xfrm>
              <a:off x="0" y="7814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41" name="Rectangle 25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54	</a:t>
              </a:r>
              <a:r>
                <a:rPr lang="en-US" sz="1200" b="1">
                  <a:latin typeface="Courier New" panose="02070309020205020404" pitchFamily="49" charset="0"/>
                </a:rPr>
                <a:t>   static CreateAndDestroy third( 3 );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local object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5" name="Group 79"/>
          <p:cNvGrpSpPr>
            <a:grpSpLocks/>
          </p:cNvGrpSpPr>
          <p:nvPr/>
        </p:nvGrpSpPr>
        <p:grpSpPr bwMode="auto">
          <a:xfrm>
            <a:off x="0" y="5005388"/>
            <a:ext cx="6705600" cy="276225"/>
            <a:chOff x="0" y="8188"/>
            <a:chExt cx="3072" cy="453"/>
          </a:xfrm>
        </p:grpSpPr>
        <p:sp>
          <p:nvSpPr>
            <p:cNvPr id="25638" name="Rectangle 78"/>
            <p:cNvSpPr>
              <a:spLocks noChangeArrowheads="1"/>
            </p:cNvSpPr>
            <p:nvPr/>
          </p:nvSpPr>
          <p:spPr bwMode="auto">
            <a:xfrm>
              <a:off x="0" y="8188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39" name="Rectangle 26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55	</a:t>
              </a:r>
              <a:r>
                <a:rPr lang="en-US" sz="1200" b="1">
                  <a:latin typeface="Courier New" panose="02070309020205020404" pitchFamily="49" charset="0"/>
                </a:rPr>
                <a:t>   cout &lt;&lt; "   (local static in main)" &lt;&lt; 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6" name="Group 81"/>
          <p:cNvGrpSpPr>
            <a:grpSpLocks/>
          </p:cNvGrpSpPr>
          <p:nvPr/>
        </p:nvGrpSpPr>
        <p:grpSpPr bwMode="auto">
          <a:xfrm>
            <a:off x="0" y="5233988"/>
            <a:ext cx="6705600" cy="276225"/>
            <a:chOff x="0" y="8562"/>
            <a:chExt cx="3072" cy="453"/>
          </a:xfrm>
        </p:grpSpPr>
        <p:sp>
          <p:nvSpPr>
            <p:cNvPr id="25636" name="Rectangle 80"/>
            <p:cNvSpPr>
              <a:spLocks noChangeArrowheads="1"/>
            </p:cNvSpPr>
            <p:nvPr/>
          </p:nvSpPr>
          <p:spPr bwMode="auto">
            <a:xfrm>
              <a:off x="0" y="8562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37" name="Rectangle 27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56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7" name="Group 83"/>
          <p:cNvGrpSpPr>
            <a:grpSpLocks/>
          </p:cNvGrpSpPr>
          <p:nvPr/>
        </p:nvGrpSpPr>
        <p:grpSpPr bwMode="auto">
          <a:xfrm>
            <a:off x="0" y="5462588"/>
            <a:ext cx="6705600" cy="276225"/>
            <a:chOff x="0" y="8936"/>
            <a:chExt cx="3072" cy="453"/>
          </a:xfrm>
        </p:grpSpPr>
        <p:sp>
          <p:nvSpPr>
            <p:cNvPr id="25634" name="Rectangle 82"/>
            <p:cNvSpPr>
              <a:spLocks noChangeArrowheads="1"/>
            </p:cNvSpPr>
            <p:nvPr/>
          </p:nvSpPr>
          <p:spPr bwMode="auto">
            <a:xfrm>
              <a:off x="0" y="8936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35" name="Rectangle 2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57	</a:t>
              </a:r>
              <a:r>
                <a:rPr lang="en-US" sz="1200" b="1">
                  <a:latin typeface="Courier New" panose="02070309020205020404" pitchFamily="49" charset="0"/>
                </a:rPr>
                <a:t>   create();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call function to create objects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8" name="Group 85"/>
          <p:cNvGrpSpPr>
            <a:grpSpLocks/>
          </p:cNvGrpSpPr>
          <p:nvPr/>
        </p:nvGrpSpPr>
        <p:grpSpPr bwMode="auto">
          <a:xfrm>
            <a:off x="0" y="5691188"/>
            <a:ext cx="6705600" cy="276225"/>
            <a:chOff x="0" y="9310"/>
            <a:chExt cx="3072" cy="453"/>
          </a:xfrm>
        </p:grpSpPr>
        <p:sp>
          <p:nvSpPr>
            <p:cNvPr id="25632" name="Rectangle 84"/>
            <p:cNvSpPr>
              <a:spLocks noChangeArrowheads="1"/>
            </p:cNvSpPr>
            <p:nvPr/>
          </p:nvSpPr>
          <p:spPr bwMode="auto">
            <a:xfrm>
              <a:off x="0" y="9310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33" name="Rectangle 29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19" name="Group 87"/>
          <p:cNvGrpSpPr>
            <a:grpSpLocks/>
          </p:cNvGrpSpPr>
          <p:nvPr/>
        </p:nvGrpSpPr>
        <p:grpSpPr bwMode="auto">
          <a:xfrm>
            <a:off x="0" y="5919788"/>
            <a:ext cx="6705600" cy="276225"/>
            <a:chOff x="0" y="9684"/>
            <a:chExt cx="3072" cy="453"/>
          </a:xfrm>
        </p:grpSpPr>
        <p:sp>
          <p:nvSpPr>
            <p:cNvPr id="25630" name="Rectangle 86"/>
            <p:cNvSpPr>
              <a:spLocks noChangeArrowheads="1"/>
            </p:cNvSpPr>
            <p:nvPr/>
          </p:nvSpPr>
          <p:spPr bwMode="auto">
            <a:xfrm>
              <a:off x="0" y="9684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31" name="Rectangle 30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59	</a:t>
              </a:r>
              <a:r>
                <a:rPr lang="en-US" sz="1200" b="1">
                  <a:latin typeface="Courier New" panose="02070309020205020404" pitchFamily="49" charset="0"/>
                </a:rPr>
                <a:t>   CreateAndDestroy fourth( 4 );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// local object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20" name="Group 89"/>
          <p:cNvGrpSpPr>
            <a:grpSpLocks/>
          </p:cNvGrpSpPr>
          <p:nvPr/>
        </p:nvGrpSpPr>
        <p:grpSpPr bwMode="auto">
          <a:xfrm>
            <a:off x="0" y="6148388"/>
            <a:ext cx="6705600" cy="276225"/>
            <a:chOff x="0" y="10058"/>
            <a:chExt cx="3072" cy="453"/>
          </a:xfrm>
        </p:grpSpPr>
        <p:sp>
          <p:nvSpPr>
            <p:cNvPr id="25628" name="Rectangle 88"/>
            <p:cNvSpPr>
              <a:spLocks noChangeArrowheads="1"/>
            </p:cNvSpPr>
            <p:nvPr/>
          </p:nvSpPr>
          <p:spPr bwMode="auto">
            <a:xfrm>
              <a:off x="0" y="10058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29" name="Rectangle 31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60	</a:t>
              </a:r>
              <a:r>
                <a:rPr lang="en-US" sz="1200" b="1">
                  <a:latin typeface="Courier New" panose="02070309020205020404" pitchFamily="49" charset="0"/>
                </a:rPr>
                <a:t>   cout &lt;&lt; "   (local automatic in main)" &lt;&lt; 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21" name="Group 91"/>
          <p:cNvGrpSpPr>
            <a:grpSpLocks/>
          </p:cNvGrpSpPr>
          <p:nvPr/>
        </p:nvGrpSpPr>
        <p:grpSpPr bwMode="auto">
          <a:xfrm>
            <a:off x="0" y="6376988"/>
            <a:ext cx="6705600" cy="276225"/>
            <a:chOff x="0" y="10432"/>
            <a:chExt cx="3072" cy="453"/>
          </a:xfrm>
        </p:grpSpPr>
        <p:sp>
          <p:nvSpPr>
            <p:cNvPr id="25626" name="Rectangle 90"/>
            <p:cNvSpPr>
              <a:spLocks noChangeArrowheads="1"/>
            </p:cNvSpPr>
            <p:nvPr/>
          </p:nvSpPr>
          <p:spPr bwMode="auto">
            <a:xfrm>
              <a:off x="0" y="10432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27" name="Rectangle 32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61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200" b="1">
                  <a:latin typeface="Courier New" panose="02070309020205020404" pitchFamily="49" charset="0"/>
                </a:rPr>
                <a:t>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5622" name="Group 93"/>
          <p:cNvGrpSpPr>
            <a:grpSpLocks/>
          </p:cNvGrpSpPr>
          <p:nvPr/>
        </p:nvGrpSpPr>
        <p:grpSpPr bwMode="auto">
          <a:xfrm>
            <a:off x="0" y="6605588"/>
            <a:ext cx="6705600" cy="276225"/>
            <a:chOff x="0" y="10806"/>
            <a:chExt cx="3072" cy="453"/>
          </a:xfrm>
        </p:grpSpPr>
        <p:sp>
          <p:nvSpPr>
            <p:cNvPr id="25624" name="Rectangle 92"/>
            <p:cNvSpPr>
              <a:spLocks noChangeArrowheads="1"/>
            </p:cNvSpPr>
            <p:nvPr/>
          </p:nvSpPr>
          <p:spPr bwMode="auto">
            <a:xfrm>
              <a:off x="0" y="10806"/>
              <a:ext cx="85" cy="453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25625" name="Rectangle 3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62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23" name="Group 43"/>
          <p:cNvGrpSpPr>
            <a:grpSpLocks/>
          </p:cNvGrpSpPr>
          <p:nvPr/>
        </p:nvGrpSpPr>
        <p:grpSpPr bwMode="auto">
          <a:xfrm>
            <a:off x="3657600" y="-1"/>
            <a:ext cx="5486400" cy="2771945"/>
            <a:chOff x="0" y="-40"/>
            <a:chExt cx="3072" cy="4941"/>
          </a:xfrm>
          <a:solidFill>
            <a:srgbClr val="FFC000"/>
          </a:solidFill>
        </p:grpSpPr>
        <p:grpSp>
          <p:nvGrpSpPr>
            <p:cNvPr id="24" name="Group 18"/>
            <p:cNvGrpSpPr>
              <a:grpSpLocks/>
            </p:cNvGrpSpPr>
            <p:nvPr/>
          </p:nvGrpSpPr>
          <p:grpSpPr bwMode="auto">
            <a:xfrm>
              <a:off x="0" y="-40"/>
              <a:ext cx="3072" cy="453"/>
              <a:chOff x="0" y="-40"/>
              <a:chExt cx="3072" cy="453"/>
            </a:xfrm>
            <a:grpFill/>
          </p:grpSpPr>
          <p:sp>
            <p:nvSpPr>
              <p:cNvPr id="131" name="Rectangle 17"/>
              <p:cNvSpPr>
                <a:spLocks noChangeArrowheads="1"/>
              </p:cNvSpPr>
              <p:nvPr/>
            </p:nvSpPr>
            <p:spPr bwMode="auto">
              <a:xfrm>
                <a:off x="0" y="-40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3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63	</a:t>
                </a: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25" name="Group 20"/>
            <p:cNvGrpSpPr>
              <a:grpSpLocks/>
            </p:cNvGrpSpPr>
            <p:nvPr/>
          </p:nvGrpSpPr>
          <p:grpSpPr bwMode="auto">
            <a:xfrm>
              <a:off x="0" y="334"/>
              <a:ext cx="3072" cy="453"/>
              <a:chOff x="0" y="334"/>
              <a:chExt cx="3072" cy="453"/>
            </a:xfrm>
            <a:grpFill/>
          </p:grpSpPr>
          <p:sp>
            <p:nvSpPr>
              <p:cNvPr id="129" name="Rectangle 19"/>
              <p:cNvSpPr>
                <a:spLocks noChangeArrowheads="1"/>
              </p:cNvSpPr>
              <p:nvPr/>
            </p:nvSpPr>
            <p:spPr bwMode="auto">
              <a:xfrm>
                <a:off x="0" y="334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30" name="Rectangle 5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64	</a:t>
                </a:r>
                <a:r>
                  <a:rPr lang="en-US" sz="1200" b="1">
                    <a:solidFill>
                      <a:srgbClr val="33CC33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// Function to create objects</a:t>
                </a: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26" name="Group 22"/>
            <p:cNvGrpSpPr>
              <a:grpSpLocks/>
            </p:cNvGrpSpPr>
            <p:nvPr/>
          </p:nvGrpSpPr>
          <p:grpSpPr bwMode="auto">
            <a:xfrm>
              <a:off x="0" y="708"/>
              <a:ext cx="3072" cy="453"/>
              <a:chOff x="0" y="708"/>
              <a:chExt cx="3072" cy="453"/>
            </a:xfrm>
            <a:grpFill/>
          </p:grpSpPr>
          <p:sp>
            <p:nvSpPr>
              <p:cNvPr id="127" name="Rectangle 21"/>
              <p:cNvSpPr>
                <a:spLocks noChangeArrowheads="1"/>
              </p:cNvSpPr>
              <p:nvPr/>
            </p:nvSpPr>
            <p:spPr bwMode="auto">
              <a:xfrm>
                <a:off x="0" y="708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28" name="Rectangle 6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65	</a:t>
                </a:r>
                <a:r>
                  <a:rPr lang="en-US" sz="1200" b="1">
                    <a:solidFill>
                      <a:srgbClr val="275A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void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create( </a:t>
                </a:r>
                <a:r>
                  <a:rPr lang="en-US" sz="1200" b="1">
                    <a:solidFill>
                      <a:srgbClr val="275A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void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)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27" name="Group 24"/>
            <p:cNvGrpSpPr>
              <a:grpSpLocks/>
            </p:cNvGrpSpPr>
            <p:nvPr/>
          </p:nvGrpSpPr>
          <p:grpSpPr bwMode="auto">
            <a:xfrm>
              <a:off x="0" y="1082"/>
              <a:ext cx="3072" cy="453"/>
              <a:chOff x="0" y="1082"/>
              <a:chExt cx="3072" cy="453"/>
            </a:xfrm>
            <a:grpFill/>
          </p:grpSpPr>
          <p:sp>
            <p:nvSpPr>
              <p:cNvPr id="125" name="Rectangle 23"/>
              <p:cNvSpPr>
                <a:spLocks noChangeArrowheads="1"/>
              </p:cNvSpPr>
              <p:nvPr/>
            </p:nvSpPr>
            <p:spPr bwMode="auto">
              <a:xfrm>
                <a:off x="0" y="1082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26" name="Rectangle 7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66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{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28" name="Group 26"/>
            <p:cNvGrpSpPr>
              <a:grpSpLocks/>
            </p:cNvGrpSpPr>
            <p:nvPr/>
          </p:nvGrpSpPr>
          <p:grpSpPr bwMode="auto">
            <a:xfrm>
              <a:off x="0" y="1456"/>
              <a:ext cx="3072" cy="453"/>
              <a:chOff x="0" y="1456"/>
              <a:chExt cx="3072" cy="453"/>
            </a:xfrm>
            <a:grpFill/>
          </p:grpSpPr>
          <p:sp>
            <p:nvSpPr>
              <p:cNvPr id="123" name="Rectangle 25"/>
              <p:cNvSpPr>
                <a:spLocks noChangeArrowheads="1"/>
              </p:cNvSpPr>
              <p:nvPr/>
            </p:nvSpPr>
            <p:spPr bwMode="auto">
              <a:xfrm>
                <a:off x="0" y="1456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24" name="Rectangle 8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67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CreateAndDestroy fifth( 5 );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29" name="Group 28"/>
            <p:cNvGrpSpPr>
              <a:grpSpLocks/>
            </p:cNvGrpSpPr>
            <p:nvPr/>
          </p:nvGrpSpPr>
          <p:grpSpPr bwMode="auto">
            <a:xfrm>
              <a:off x="0" y="1830"/>
              <a:ext cx="3072" cy="453"/>
              <a:chOff x="0" y="1830"/>
              <a:chExt cx="3072" cy="453"/>
            </a:xfrm>
            <a:grpFill/>
          </p:grpSpPr>
          <p:sp>
            <p:nvSpPr>
              <p:cNvPr id="121" name="Rectangle 27"/>
              <p:cNvSpPr>
                <a:spLocks noChangeArrowheads="1"/>
              </p:cNvSpPr>
              <p:nvPr/>
            </p:nvSpPr>
            <p:spPr bwMode="auto">
              <a:xfrm>
                <a:off x="0" y="1830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22" name="Rectangle 9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68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cout &lt;&lt; "   (local automatic in create)" &lt;&lt; endl;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30" name="Group 30"/>
            <p:cNvGrpSpPr>
              <a:grpSpLocks/>
            </p:cNvGrpSpPr>
            <p:nvPr/>
          </p:nvGrpSpPr>
          <p:grpSpPr bwMode="auto">
            <a:xfrm>
              <a:off x="0" y="2204"/>
              <a:ext cx="3072" cy="453"/>
              <a:chOff x="0" y="2204"/>
              <a:chExt cx="3072" cy="453"/>
            </a:xfrm>
            <a:grpFill/>
          </p:grpSpPr>
          <p:sp>
            <p:nvSpPr>
              <p:cNvPr id="119" name="Rectangle 29"/>
              <p:cNvSpPr>
                <a:spLocks noChangeArrowheads="1"/>
              </p:cNvSpPr>
              <p:nvPr/>
            </p:nvSpPr>
            <p:spPr bwMode="auto">
              <a:xfrm>
                <a:off x="0" y="2204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20" name="Rectangle 10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69	</a:t>
                </a: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31" name="Group 32"/>
            <p:cNvGrpSpPr>
              <a:grpSpLocks/>
            </p:cNvGrpSpPr>
            <p:nvPr/>
          </p:nvGrpSpPr>
          <p:grpSpPr bwMode="auto">
            <a:xfrm>
              <a:off x="0" y="2578"/>
              <a:ext cx="3072" cy="453"/>
              <a:chOff x="0" y="2578"/>
              <a:chExt cx="3072" cy="453"/>
            </a:xfrm>
            <a:grpFill/>
          </p:grpSpPr>
          <p:sp>
            <p:nvSpPr>
              <p:cNvPr id="117" name="Rectangle 31"/>
              <p:cNvSpPr>
                <a:spLocks noChangeArrowheads="1"/>
              </p:cNvSpPr>
              <p:nvPr/>
            </p:nvSpPr>
            <p:spPr bwMode="auto">
              <a:xfrm>
                <a:off x="0" y="2578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18" name="Rectangle 11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70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static CreateAndDestroy sixth( 6 );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59392" name="Group 34"/>
            <p:cNvGrpSpPr>
              <a:grpSpLocks/>
            </p:cNvGrpSpPr>
            <p:nvPr/>
          </p:nvGrpSpPr>
          <p:grpSpPr bwMode="auto">
            <a:xfrm>
              <a:off x="0" y="2952"/>
              <a:ext cx="3072" cy="453"/>
              <a:chOff x="0" y="2952"/>
              <a:chExt cx="3072" cy="453"/>
            </a:xfrm>
            <a:grpFill/>
          </p:grpSpPr>
          <p:sp>
            <p:nvSpPr>
              <p:cNvPr id="115" name="Rectangle 33"/>
              <p:cNvSpPr>
                <a:spLocks noChangeArrowheads="1"/>
              </p:cNvSpPr>
              <p:nvPr/>
            </p:nvSpPr>
            <p:spPr bwMode="auto">
              <a:xfrm>
                <a:off x="0" y="2952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16" name="Rectangle 12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71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cout &lt;&lt; "   (local static in create)" &lt;&lt; endl;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59393" name="Group 36"/>
            <p:cNvGrpSpPr>
              <a:grpSpLocks/>
            </p:cNvGrpSpPr>
            <p:nvPr/>
          </p:nvGrpSpPr>
          <p:grpSpPr bwMode="auto">
            <a:xfrm>
              <a:off x="0" y="3326"/>
              <a:ext cx="3072" cy="453"/>
              <a:chOff x="0" y="3326"/>
              <a:chExt cx="3072" cy="453"/>
            </a:xfrm>
            <a:grpFill/>
          </p:grpSpPr>
          <p:sp>
            <p:nvSpPr>
              <p:cNvPr id="113" name="Rectangle 35"/>
              <p:cNvSpPr>
                <a:spLocks noChangeArrowheads="1"/>
              </p:cNvSpPr>
              <p:nvPr/>
            </p:nvSpPr>
            <p:spPr bwMode="auto">
              <a:xfrm>
                <a:off x="0" y="3326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14" name="Rectangle 13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72	</a:t>
                </a: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59394" name="Group 38"/>
            <p:cNvGrpSpPr>
              <a:grpSpLocks/>
            </p:cNvGrpSpPr>
            <p:nvPr/>
          </p:nvGrpSpPr>
          <p:grpSpPr bwMode="auto">
            <a:xfrm>
              <a:off x="0" y="3700"/>
              <a:ext cx="3072" cy="453"/>
              <a:chOff x="0" y="3700"/>
              <a:chExt cx="3072" cy="453"/>
            </a:xfrm>
            <a:grpFill/>
          </p:grpSpPr>
          <p:sp>
            <p:nvSpPr>
              <p:cNvPr id="111" name="Rectangle 37"/>
              <p:cNvSpPr>
                <a:spLocks noChangeArrowheads="1"/>
              </p:cNvSpPr>
              <p:nvPr/>
            </p:nvSpPr>
            <p:spPr bwMode="auto">
              <a:xfrm>
                <a:off x="0" y="3700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12" name="Rectangle 14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73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CreateAndDestroy seventh( 7 );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59395" name="Group 40"/>
            <p:cNvGrpSpPr>
              <a:grpSpLocks/>
            </p:cNvGrpSpPr>
            <p:nvPr/>
          </p:nvGrpSpPr>
          <p:grpSpPr bwMode="auto">
            <a:xfrm>
              <a:off x="0" y="4074"/>
              <a:ext cx="3072" cy="453"/>
              <a:chOff x="0" y="4074"/>
              <a:chExt cx="3072" cy="453"/>
            </a:xfrm>
            <a:grpFill/>
          </p:grpSpPr>
          <p:sp>
            <p:nvSpPr>
              <p:cNvPr id="109" name="Rectangle 39"/>
              <p:cNvSpPr>
                <a:spLocks noChangeArrowheads="1"/>
              </p:cNvSpPr>
              <p:nvPr/>
            </p:nvSpPr>
            <p:spPr bwMode="auto">
              <a:xfrm>
                <a:off x="0" y="4074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10" name="Rectangle 15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74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   cout &lt;&lt; "   (local automatic in create)" &lt;&lt; endl;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59396" name="Group 42"/>
            <p:cNvGrpSpPr>
              <a:grpSpLocks/>
            </p:cNvGrpSpPr>
            <p:nvPr/>
          </p:nvGrpSpPr>
          <p:grpSpPr bwMode="auto">
            <a:xfrm>
              <a:off x="0" y="4448"/>
              <a:ext cx="3072" cy="453"/>
              <a:chOff x="0" y="4448"/>
              <a:chExt cx="3072" cy="453"/>
            </a:xfrm>
            <a:grpFill/>
          </p:grpSpPr>
          <p:sp>
            <p:nvSpPr>
              <p:cNvPr id="107" name="Rectangle 41"/>
              <p:cNvSpPr>
                <a:spLocks noChangeArrowheads="1"/>
              </p:cNvSpPr>
              <p:nvPr/>
            </p:nvSpPr>
            <p:spPr bwMode="auto">
              <a:xfrm>
                <a:off x="0" y="4448"/>
                <a:ext cx="85" cy="45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1200">
                  <a:latin typeface="Arial" charset="0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108" name="Rectangle 16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r>
                  <a:rPr lang="en-US" sz="1200" b="1">
                    <a:solidFill>
                      <a:srgbClr val="4D8DFF"/>
                    </a:solidFill>
                    <a:latin typeface="Courier New" pitchFamily="49" charset="0"/>
                    <a:ea typeface="+mn-ea"/>
                    <a:cs typeface="ＭＳ Ｐゴシック" charset="0"/>
                  </a:rPr>
                  <a:t>	75	</a:t>
                </a:r>
                <a:r>
                  <a:rPr lang="en-US" sz="1200" b="1">
                    <a:latin typeface="Courier New" pitchFamily="49" charset="0"/>
                    <a:ea typeface="+mn-ea"/>
                    <a:cs typeface="ＭＳ Ｐゴシック" charset="0"/>
                  </a:rPr>
                  <a:t>}</a:t>
                </a:r>
              </a:p>
              <a:p>
                <a:pPr>
                  <a:tabLst>
                    <a:tab pos="139700" algn="r"/>
                    <a:tab pos="292100" algn="l"/>
                  </a:tabLst>
                  <a:defRPr/>
                </a:pPr>
                <a:endParaRPr lang="en-US" sz="1200" b="1">
                  <a:latin typeface="Courier New" pitchFamily="49" charset="0"/>
                  <a:ea typeface="+mn-ea"/>
                  <a:cs typeface="ＭＳ Ｐゴシック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40881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4"/>
          <p:cNvSpPr>
            <a:spLocks noChangeArrowheads="1"/>
          </p:cNvSpPr>
          <p:nvPr/>
        </p:nvSpPr>
        <p:spPr bwMode="auto">
          <a:xfrm>
            <a:off x="457200" y="1219200"/>
            <a:ext cx="6705600" cy="28622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  <a:tab pos="1981200" algn="l"/>
                <a:tab pos="2133600" algn="l"/>
                <a:tab pos="22860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OUTPUT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1   constructor   (global created before main)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2   constructor   (local automatic in main)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3   constructor   (local static in main)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5   constructor   (local automatic in create)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6   constructor   (local static in create)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7   constructor   (local automatic in create)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7   destructor    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5   destructor    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4   constructor   (local automatic in main)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4   destructor    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2   destructor    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6   destructor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3   destructor    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Object 1   destructor    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181600" y="1752601"/>
            <a:ext cx="3810000" cy="1931989"/>
            <a:chOff x="3120" y="2496"/>
            <a:chExt cx="2400" cy="1217"/>
          </a:xfrm>
        </p:grpSpPr>
        <p:sp>
          <p:nvSpPr>
            <p:cNvPr id="26628" name="Text Box 48"/>
            <p:cNvSpPr txBox="1">
              <a:spLocks noChangeArrowheads="1"/>
            </p:cNvSpPr>
            <p:nvPr/>
          </p:nvSpPr>
          <p:spPr bwMode="auto">
            <a:xfrm>
              <a:off x="3552" y="2976"/>
              <a:ext cx="1968" cy="73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b="1"/>
                <a:t>Notice how the order of the constructor and destructor call depends on the types of variables (automatic, global and </a:t>
              </a:r>
              <a:r>
                <a:rPr lang="en-US" sz="1400" b="1">
                  <a:latin typeface="Courier New" panose="02070309020205020404" pitchFamily="49" charset="0"/>
                </a:rPr>
                <a:t>static</a:t>
              </a:r>
              <a:r>
                <a:rPr lang="en-US" sz="1400" b="1"/>
                <a:t>) they are associated with.</a:t>
              </a:r>
            </a:p>
          </p:txBody>
        </p:sp>
        <p:sp>
          <p:nvSpPr>
            <p:cNvPr id="26629" name="Line 49"/>
            <p:cNvSpPr>
              <a:spLocks noChangeShapeType="1"/>
            </p:cNvSpPr>
            <p:nvPr/>
          </p:nvSpPr>
          <p:spPr bwMode="auto">
            <a:xfrm flipH="1" flipV="1">
              <a:off x="3120" y="2496"/>
              <a:ext cx="480" cy="5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 sz="2000" b="1"/>
            </a:p>
          </p:txBody>
        </p:sp>
      </p:grpSp>
    </p:spTree>
    <p:extLst>
      <p:ext uri="{BB962C8B-B14F-4D97-AF65-F5344CB8AC3E}">
        <p14:creationId xmlns:p14="http://schemas.microsoft.com/office/powerpoint/2010/main" val="202929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37493" y="22634"/>
            <a:ext cx="91440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Destructor Example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0073" y="1219200"/>
            <a:ext cx="8627166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void f1()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  Employee *c = new Employee[3];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  c[0].var1 = 322;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  c[1].var1 = 5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  c[2].var1 = 9;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</a:rPr>
              <a:t>lete [] c; </a:t>
            </a:r>
            <a:r>
              <a:rPr lang="en-US" sz="2400" b="1" i="1" dirty="0">
                <a:solidFill>
                  <a:schemeClr val="bg1"/>
                </a:solidFill>
                <a:latin typeface="Courier New" panose="02070309020205020404" pitchFamily="49" charset="0"/>
              </a:rPr>
              <a:t>//destructor will call here</a:t>
            </a:r>
            <a:endParaRPr lang="en-US" sz="28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eaLnBrk="1" hangingPunct="1">
              <a:buFontTx/>
              <a:buNone/>
            </a:pPr>
            <a:r>
              <a:rPr lang="en-US" sz="2000" b="1" dirty="0">
                <a:latin typeface="Tahoma" panose="020B0604030504040204" pitchFamily="34" charset="0"/>
              </a:rPr>
              <a:t>}</a:t>
            </a:r>
            <a:endParaRPr 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115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75"/>
            <a:ext cx="8421756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  <a:cs typeface="Arial" panose="020B0604020202020204" pitchFamily="34" charset="0"/>
              </a:rPr>
              <a:t>When do Constructors Get Called?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229600" cy="5334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b="1" dirty="0"/>
              <a:t>Class</a:t>
            </a:r>
            <a:r>
              <a:rPr lang="en-US" dirty="0"/>
              <a:t> </a:t>
            </a:r>
            <a:r>
              <a:rPr lang="en-US" b="1" dirty="0">
                <a:solidFill>
                  <a:srgbClr val="2C14DE"/>
                </a:solidFill>
              </a:rPr>
              <a:t>object creation </a:t>
            </a:r>
            <a:r>
              <a:rPr lang="en-US" b="1" dirty="0"/>
              <a:t>time</a:t>
            </a:r>
          </a:p>
          <a:p>
            <a:pPr eaLnBrk="1" hangingPunct="1">
              <a:lnSpc>
                <a:spcPct val="150000"/>
              </a:lnSpc>
            </a:pPr>
            <a:r>
              <a:rPr lang="en-US" b="1" dirty="0">
                <a:solidFill>
                  <a:srgbClr val="2C14DE"/>
                </a:solidFill>
              </a:rPr>
              <a:t>Dynamically allocated object</a:t>
            </a:r>
          </a:p>
          <a:p>
            <a:pPr eaLnBrk="1" hangingPunct="1">
              <a:lnSpc>
                <a:spcPct val="150000"/>
              </a:lnSpc>
            </a:pPr>
            <a:r>
              <a:rPr lang="en-US" b="1" dirty="0"/>
              <a:t>Class </a:t>
            </a:r>
            <a:r>
              <a:rPr lang="en-US" b="1" dirty="0">
                <a:solidFill>
                  <a:srgbClr val="2C14DE"/>
                </a:solidFill>
              </a:rPr>
              <a:t>argument passed </a:t>
            </a:r>
            <a:r>
              <a:rPr lang="en-US" b="1" u="sng" dirty="0">
                <a:solidFill>
                  <a:srgbClr val="2C14DE"/>
                </a:solidFill>
              </a:rPr>
              <a:t>by value</a:t>
            </a:r>
          </a:p>
          <a:p>
            <a:pPr eaLnBrk="1" hangingPunct="1">
              <a:lnSpc>
                <a:spcPct val="150000"/>
              </a:lnSpc>
            </a:pPr>
            <a:r>
              <a:rPr lang="en-US" b="1" dirty="0"/>
              <a:t>Class </a:t>
            </a:r>
            <a:r>
              <a:rPr lang="en-US" b="1" dirty="0">
                <a:solidFill>
                  <a:srgbClr val="2C14DE"/>
                </a:solidFill>
              </a:rPr>
              <a:t>object returned </a:t>
            </a:r>
            <a:r>
              <a:rPr lang="en-US" b="1" u="sng" dirty="0">
                <a:solidFill>
                  <a:srgbClr val="2C14DE"/>
                </a:solidFill>
              </a:rPr>
              <a:t>by value</a:t>
            </a:r>
          </a:p>
          <a:p>
            <a:pPr eaLnBrk="1" hangingPunct="1">
              <a:lnSpc>
                <a:spcPct val="150000"/>
              </a:lnSpc>
            </a:pPr>
            <a:r>
              <a:rPr lang="en-US" b="1" dirty="0">
                <a:solidFill>
                  <a:srgbClr val="2C14DE"/>
                </a:solidFill>
              </a:rPr>
              <a:t>Object Array element (created)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69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54156" y="0"/>
            <a:ext cx="81534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What Constructors Do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839200" cy="5562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rgbClr val="B80000"/>
                </a:solidFill>
              </a:rPr>
              <a:t>Help in initializing: </a:t>
            </a:r>
            <a:r>
              <a:rPr lang="en-US" dirty="0"/>
              <a:t>class data members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Employee( ) { id = 0; } 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rgbClr val="B80000"/>
                </a:solidFill>
              </a:rPr>
              <a:t>Allocate memory</a:t>
            </a:r>
            <a:r>
              <a:rPr lang="en-US" dirty="0"/>
              <a:t> for </a:t>
            </a:r>
            <a:r>
              <a:rPr lang="en-US" b="1" dirty="0">
                <a:solidFill>
                  <a:srgbClr val="B80000"/>
                </a:solidFill>
              </a:rPr>
              <a:t>dynamic members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Employee() { char* </a:t>
            </a:r>
            <a:r>
              <a:rPr lang="en-US" sz="2400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nameptr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char[20];}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rgbClr val="B80000"/>
                </a:solidFill>
              </a:rPr>
              <a:t>Allocate</a:t>
            </a:r>
            <a:r>
              <a:rPr lang="en-US" dirty="0">
                <a:solidFill>
                  <a:srgbClr val="B80000"/>
                </a:solidFill>
              </a:rPr>
              <a:t> </a:t>
            </a:r>
            <a:r>
              <a:rPr lang="en-US" dirty="0"/>
              <a:t>any </a:t>
            </a:r>
            <a:r>
              <a:rPr lang="en-US" b="1" dirty="0">
                <a:solidFill>
                  <a:srgbClr val="B80000"/>
                </a:solidFill>
              </a:rPr>
              <a:t>needed resources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Such as to open files, etc.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299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Constructing Arrays of Objects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763000" cy="54102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Complex </a:t>
            </a:r>
            <a:r>
              <a:rPr lang="en-US" sz="2400" b="1" dirty="0" err="1">
                <a:latin typeface="Courier New" panose="02070309020205020404" pitchFamily="49" charset="0"/>
              </a:rPr>
              <a:t>c_arr</a:t>
            </a:r>
            <a:r>
              <a:rPr lang="en-US" sz="2400" b="1" dirty="0">
                <a:latin typeface="Courier New" panose="02070309020205020404" pitchFamily="49" charset="0"/>
              </a:rPr>
              <a:t>[10];</a:t>
            </a: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Date </a:t>
            </a:r>
            <a:r>
              <a:rPr lang="en-US" sz="2400" b="1" dirty="0" err="1">
                <a:latin typeface="Courier New" panose="02070309020205020404" pitchFamily="49" charset="0"/>
              </a:rPr>
              <a:t>date_arr</a:t>
            </a:r>
            <a:r>
              <a:rPr lang="en-US" sz="2400" b="1" dirty="0">
                <a:latin typeface="Courier New" panose="02070309020205020404" pitchFamily="49" charset="0"/>
              </a:rPr>
              <a:t>[20];</a:t>
            </a:r>
          </a:p>
          <a:p>
            <a:pPr eaLnBrk="1" hangingPunct="1"/>
            <a:endParaRPr lang="en-US" sz="2800" dirty="0">
              <a:latin typeface="Tahoma" panose="020B0604030504040204" pitchFamily="34" charset="0"/>
            </a:endParaRPr>
          </a:p>
          <a:p>
            <a:pPr marL="0" indent="0" algn="just" eaLnBrk="1" hangingPunct="1">
              <a:buNone/>
            </a:pPr>
            <a:r>
              <a:rPr lang="en-US" sz="2800" b="1" u="sng" dirty="0">
                <a:solidFill>
                  <a:srgbClr val="B80000"/>
                </a:solidFill>
                <a:latin typeface="+mj-lt"/>
              </a:rPr>
              <a:t>Issue: </a:t>
            </a:r>
            <a:r>
              <a:rPr lang="en-US" sz="2800" b="1" dirty="0">
                <a:solidFill>
                  <a:srgbClr val="B80000"/>
                </a:solidFill>
                <a:latin typeface="+mj-lt"/>
              </a:rPr>
              <a:t>There is no way to call argument-based constructors </a:t>
            </a:r>
            <a:r>
              <a:rPr lang="en-US" sz="2800" dirty="0">
                <a:latin typeface="+mj-lt"/>
              </a:rPr>
              <a:t>(</a:t>
            </a:r>
            <a:r>
              <a:rPr lang="en-US" sz="2800" b="1" dirty="0">
                <a:latin typeface="+mj-lt"/>
              </a:rPr>
              <a:t>non-default</a:t>
            </a:r>
            <a:r>
              <a:rPr lang="en-US" sz="2800" dirty="0">
                <a:latin typeface="+mj-lt"/>
              </a:rPr>
              <a:t>) </a:t>
            </a:r>
            <a:r>
              <a:rPr lang="en-US" sz="2800" b="1" dirty="0">
                <a:latin typeface="+mj-lt"/>
              </a:rPr>
              <a:t>for array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431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7619"/>
            <a:ext cx="8305800" cy="9906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Arrays of Objects and Non-Default Constructors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305800" cy="5334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ahoma" panose="020B0604030504040204" pitchFamily="34" charset="0"/>
              </a:rPr>
              <a:t>Trick: </a:t>
            </a:r>
            <a:r>
              <a:rPr lang="en-US" sz="2800" dirty="0">
                <a:solidFill>
                  <a:srgbClr val="2C14DE"/>
                </a:solidFill>
                <a:latin typeface="Tahoma" panose="020B0604030504040204" pitchFamily="34" charset="0"/>
              </a:rPr>
              <a:t>declare an </a:t>
            </a:r>
            <a:r>
              <a:rPr lang="en-US" sz="2800" b="1" dirty="0">
                <a:solidFill>
                  <a:srgbClr val="2C14DE"/>
                </a:solidFill>
                <a:latin typeface="Tahoma" panose="020B0604030504040204" pitchFamily="34" charset="0"/>
              </a:rPr>
              <a:t>array</a:t>
            </a:r>
            <a:r>
              <a:rPr lang="en-US" sz="2800" dirty="0">
                <a:solidFill>
                  <a:srgbClr val="2C14DE"/>
                </a:solidFill>
                <a:latin typeface="Tahoma" panose="020B0604030504040204" pitchFamily="34" charset="0"/>
              </a:rPr>
              <a:t> of </a:t>
            </a:r>
            <a:r>
              <a:rPr lang="en-US" sz="2800" u="sng" dirty="0">
                <a:solidFill>
                  <a:srgbClr val="2C14DE"/>
                </a:solidFill>
                <a:latin typeface="Tahoma" panose="020B0604030504040204" pitchFamily="34" charset="0"/>
              </a:rPr>
              <a:t>pointer to objects</a:t>
            </a:r>
          </a:p>
          <a:p>
            <a:pPr eaLnBrk="1" hangingPunct="1"/>
            <a:r>
              <a:rPr lang="en-US" sz="2400" b="1" dirty="0">
                <a:solidFill>
                  <a:srgbClr val="D20000"/>
                </a:solidFill>
                <a:latin typeface="Tahoma" panose="020B0604030504040204" pitchFamily="34" charset="0"/>
              </a:rPr>
              <a:t>Allocate</a:t>
            </a:r>
            <a:r>
              <a:rPr lang="en-US" sz="2400" dirty="0">
                <a:solidFill>
                  <a:srgbClr val="D20000"/>
                </a:solidFill>
                <a:latin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</a:rPr>
              <a:t>and </a:t>
            </a:r>
            <a:r>
              <a:rPr lang="en-US" sz="2400" b="1" dirty="0">
                <a:solidFill>
                  <a:srgbClr val="D20000"/>
                </a:solidFill>
                <a:latin typeface="Tahoma" panose="020B0604030504040204" pitchFamily="34" charset="0"/>
              </a:rPr>
              <a:t>initialize each object in a loop</a:t>
            </a:r>
          </a:p>
          <a:p>
            <a:pPr eaLnBrk="1" hangingPunct="1"/>
            <a:endParaRPr lang="en-US" sz="2400" dirty="0">
              <a:latin typeface="Tahoma" panose="020B0604030504040204" pitchFamily="34" charset="0"/>
            </a:endParaRPr>
          </a:p>
          <a:p>
            <a:pPr eaLnBrk="1" hangingPunct="1"/>
            <a:endParaRPr lang="en-US" sz="2400" dirty="0">
              <a:latin typeface="Tahoma" panose="020B0604030504040204" pitchFamily="34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Date *dates[31];</a:t>
            </a:r>
          </a:p>
          <a:p>
            <a:pPr eaLnBrk="1" hangingPunct="1">
              <a:buFont typeface="Monotype Sorts" charset="2"/>
              <a:buNone/>
            </a:pPr>
            <a:endParaRPr lang="en-US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for (</a:t>
            </a:r>
            <a:r>
              <a:rPr 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day = 0; day &lt; 31; ++day) </a:t>
            </a:r>
          </a:p>
          <a:p>
            <a:pPr eaLnBrk="1" hangingPunct="1">
              <a:buFont typeface="Monotype Sorts" charset="2"/>
              <a:buNone/>
            </a:pP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 typeface="Monotype Sorts" charset="2"/>
              <a:buNone/>
            </a:pP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 dates[day] = new Date(3, day, 2020);</a:t>
            </a:r>
          </a:p>
          <a:p>
            <a:pPr eaLnBrk="1" hangingPunct="1">
              <a:buFont typeface="Monotype Sorts" charset="2"/>
              <a:buNone/>
            </a:pP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}</a:t>
            </a:r>
            <a:endParaRPr lang="en-US" sz="2800" b="1" dirty="0">
              <a:solidFill>
                <a:srgbClr val="008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807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6988"/>
            <a:ext cx="8280468" cy="91789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anose="020F0502020204030204" pitchFamily="34" charset="0"/>
              </a:rPr>
              <a:t>Default Member-wise Assignment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76200" y="1125538"/>
            <a:ext cx="8964613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eaLnBrk="0" hangingPunct="0"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j-lt"/>
              </a:rPr>
              <a:t> 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Assignment operator </a:t>
            </a:r>
            <a:r>
              <a:rPr lang="en-US" sz="3000" dirty="0">
                <a:latin typeface="+mj-lt"/>
              </a:rPr>
              <a:t>(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=</a:t>
            </a:r>
            <a:r>
              <a:rPr lang="en-US" sz="3000" dirty="0">
                <a:latin typeface="+mj-lt"/>
              </a:rPr>
              <a:t>) can be used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to assign </a:t>
            </a:r>
            <a:r>
              <a:rPr lang="en-US" sz="3000" dirty="0">
                <a:latin typeface="+mj-lt"/>
              </a:rPr>
              <a:t>an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object</a:t>
            </a:r>
            <a:r>
              <a:rPr lang="en-US" sz="3000" dirty="0">
                <a:latin typeface="+mj-lt"/>
              </a:rPr>
              <a:t> to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another object </a:t>
            </a:r>
            <a:r>
              <a:rPr lang="en-US" sz="3000" dirty="0">
                <a:latin typeface="+mj-lt"/>
              </a:rPr>
              <a:t>of the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same type</a:t>
            </a:r>
            <a:r>
              <a:rPr lang="en-US" sz="3000" dirty="0">
                <a:latin typeface="+mj-lt"/>
              </a:rPr>
              <a:t>.</a:t>
            </a:r>
          </a:p>
          <a:p>
            <a:pPr algn="just"/>
            <a:endParaRPr lang="en-US" sz="3000" dirty="0">
              <a:latin typeface="+mj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D20000"/>
                </a:solidFill>
                <a:latin typeface="+mj-lt"/>
              </a:rPr>
              <a:t>Member-wise assignment</a:t>
            </a:r>
            <a:r>
              <a:rPr lang="en-US" sz="3000" dirty="0">
                <a:latin typeface="+mj-lt"/>
              </a:rPr>
              <a:t>: each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data member </a:t>
            </a:r>
            <a:r>
              <a:rPr lang="en-US" sz="3000" dirty="0">
                <a:latin typeface="+mj-lt"/>
              </a:rPr>
              <a:t>of the </a:t>
            </a:r>
            <a:r>
              <a:rPr lang="en-US" sz="3000" b="1" dirty="0">
                <a:latin typeface="+mj-lt"/>
              </a:rPr>
              <a:t>object</a:t>
            </a:r>
            <a:r>
              <a:rPr lang="en-US" sz="3000" dirty="0">
                <a:latin typeface="+mj-lt"/>
              </a:rPr>
              <a:t> on the </a:t>
            </a:r>
            <a:r>
              <a:rPr lang="en-US" sz="3000" b="1" u="sng" dirty="0">
                <a:latin typeface="+mj-lt"/>
              </a:rPr>
              <a:t>right of the assignment </a:t>
            </a:r>
            <a:r>
              <a:rPr lang="en-US" sz="3000" dirty="0">
                <a:latin typeface="+mj-lt"/>
              </a:rPr>
              <a:t>operator is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assigned individually </a:t>
            </a:r>
            <a:r>
              <a:rPr lang="en-US" sz="3000" dirty="0">
                <a:latin typeface="+mj-lt"/>
              </a:rPr>
              <a:t>to the </a:t>
            </a:r>
            <a:r>
              <a:rPr lang="en-US" sz="3000" b="1" i="1" dirty="0">
                <a:latin typeface="+mj-lt"/>
              </a:rPr>
              <a:t>same </a:t>
            </a:r>
            <a:r>
              <a:rPr lang="en-US" sz="3000" b="1" dirty="0">
                <a:latin typeface="+mj-lt"/>
              </a:rPr>
              <a:t>data member </a:t>
            </a:r>
            <a:r>
              <a:rPr lang="en-US" sz="3000" dirty="0">
                <a:latin typeface="+mj-lt"/>
              </a:rPr>
              <a:t>in the </a:t>
            </a:r>
            <a:r>
              <a:rPr lang="en-US" sz="3000" b="1" dirty="0">
                <a:latin typeface="+mj-lt"/>
              </a:rPr>
              <a:t>object on the left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3200" dirty="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305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433" t="4698" r="-173" b="-427"/>
          <a:stretch/>
        </p:blipFill>
        <p:spPr>
          <a:xfrm>
            <a:off x="152400" y="120606"/>
            <a:ext cx="7772400" cy="31059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7461"/>
          <a:stretch/>
        </p:blipFill>
        <p:spPr>
          <a:xfrm>
            <a:off x="152400" y="3436788"/>
            <a:ext cx="5466080" cy="31926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952670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79" y="228600"/>
            <a:ext cx="8543199" cy="4495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79" y="5410200"/>
            <a:ext cx="7945121" cy="11016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17334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6988"/>
            <a:ext cx="8280468" cy="91789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anose="020F0502020204030204" pitchFamily="34" charset="0"/>
              </a:rPr>
              <a:t>Default copy constructor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76200" y="1125538"/>
            <a:ext cx="8964613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eaLnBrk="0" hangingPunct="0"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4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3200" dirty="0">
                <a:latin typeface="Calibri" panose="020F0502020204030204" pitchFamily="34" charset="0"/>
              </a:rPr>
              <a:t> </a:t>
            </a:r>
            <a:r>
              <a:rPr lang="en-US" sz="3200" b="1" dirty="0">
                <a:latin typeface="Calibri" panose="020F0502020204030204" pitchFamily="34" charset="0"/>
              </a:rPr>
              <a:t>A type of </a:t>
            </a:r>
            <a:r>
              <a:rPr lang="en-US" sz="3200" b="1" dirty="0">
                <a:solidFill>
                  <a:srgbClr val="B80000"/>
                </a:solidFill>
                <a:latin typeface="Calibri" panose="020F0502020204030204" pitchFamily="34" charset="0"/>
              </a:rPr>
              <a:t>constructor that is used </a:t>
            </a:r>
            <a:r>
              <a:rPr lang="en-US" sz="3200" b="1" dirty="0">
                <a:latin typeface="Calibri" panose="020F0502020204030204" pitchFamily="34" charset="0"/>
              </a:rPr>
              <a:t>to</a:t>
            </a:r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rgbClr val="2C14DE"/>
                </a:solidFill>
                <a:latin typeface="Calibri" panose="020F0502020204030204" pitchFamily="34" charset="0"/>
              </a:rPr>
              <a:t>initialize an object</a:t>
            </a:r>
            <a:r>
              <a:rPr lang="en-US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 with </a:t>
            </a:r>
            <a:r>
              <a:rPr lang="en-US" sz="3200" b="1" dirty="0">
                <a:solidFill>
                  <a:srgbClr val="2C14DE"/>
                </a:solidFill>
                <a:latin typeface="Calibri" panose="020F0502020204030204" pitchFamily="34" charset="0"/>
              </a:rPr>
              <a:t>another object </a:t>
            </a:r>
            <a:r>
              <a:rPr lang="en-US" sz="3200" b="1" dirty="0">
                <a:latin typeface="Calibri" panose="020F0502020204030204" pitchFamily="34" charset="0"/>
              </a:rPr>
              <a:t>of the </a:t>
            </a:r>
            <a:r>
              <a:rPr lang="en-US" sz="3200" b="1" u="sng" dirty="0">
                <a:solidFill>
                  <a:srgbClr val="2C14DE"/>
                </a:solidFill>
                <a:latin typeface="Calibri" panose="020F0502020204030204" pitchFamily="34" charset="0"/>
              </a:rPr>
              <a:t>same type</a:t>
            </a:r>
            <a:r>
              <a:rPr lang="en-US" sz="3200" b="1" dirty="0">
                <a:solidFill>
                  <a:srgbClr val="2C14DE"/>
                </a:solidFill>
                <a:latin typeface="Calibri" panose="020F0502020204030204" pitchFamily="34" charset="0"/>
              </a:rPr>
              <a:t> </a:t>
            </a:r>
            <a:r>
              <a:rPr lang="en-US" sz="3200" b="1" dirty="0">
                <a:latin typeface="Calibri" panose="020F0502020204030204" pitchFamily="34" charset="0"/>
              </a:rPr>
              <a:t>is known as </a:t>
            </a:r>
            <a:r>
              <a:rPr lang="en-US" sz="3200" b="1" u="sng" dirty="0">
                <a:solidFill>
                  <a:srgbClr val="2C14DE"/>
                </a:solidFill>
                <a:latin typeface="Calibri" panose="020F0502020204030204" pitchFamily="34" charset="0"/>
              </a:rPr>
              <a:t>default copy constructor</a:t>
            </a:r>
            <a:r>
              <a:rPr lang="en-US" sz="3200" b="1" dirty="0">
                <a:latin typeface="Calibri" panose="020F0502020204030204" pitchFamily="34" charset="0"/>
              </a:rPr>
              <a:t>.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endParaRPr lang="en-US" sz="32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3200" dirty="0">
                <a:latin typeface="Calibri" panose="020F0502020204030204" pitchFamily="34" charset="0"/>
              </a:rPr>
              <a:t> It is </a:t>
            </a:r>
            <a:r>
              <a:rPr lang="en-US" sz="3200" b="1" u="sng" dirty="0">
                <a:solidFill>
                  <a:srgbClr val="B80000"/>
                </a:solidFill>
                <a:latin typeface="Calibri" panose="020F0502020204030204" pitchFamily="34" charset="0"/>
              </a:rPr>
              <a:t>by default available in all classes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endParaRPr lang="en-US" sz="32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3200" dirty="0">
                <a:latin typeface="Calibri" panose="020F0502020204030204" pitchFamily="34" charset="0"/>
              </a:rPr>
              <a:t> syntax is  </a:t>
            </a:r>
            <a:r>
              <a:rPr lang="en-US" sz="3200" b="1" dirty="0" err="1">
                <a:solidFill>
                  <a:srgbClr val="008000"/>
                </a:solidFill>
                <a:latin typeface="Calibri" panose="020F0502020204030204" pitchFamily="34" charset="0"/>
              </a:rPr>
              <a:t>ClassName</a:t>
            </a:r>
            <a:r>
              <a:rPr lang="en-US" sz="3200" b="1" dirty="0">
                <a:solidFill>
                  <a:srgbClr val="008000"/>
                </a:solidFill>
                <a:latin typeface="Calibri" panose="020F0502020204030204" pitchFamily="34" charset="0"/>
              </a:rPr>
              <a:t>(</a:t>
            </a:r>
            <a:r>
              <a:rPr lang="en-US" sz="3200" b="1" dirty="0" err="1">
                <a:solidFill>
                  <a:srgbClr val="008000"/>
                </a:solidFill>
                <a:latin typeface="Calibri" panose="020F0502020204030204" pitchFamily="34" charset="0"/>
              </a:rPr>
              <a:t>ClassName</a:t>
            </a:r>
            <a:r>
              <a:rPr lang="en-US" sz="3200" b="1" dirty="0">
                <a:solidFill>
                  <a:srgbClr val="008000"/>
                </a:solidFill>
                <a:latin typeface="Calibri" panose="020F0502020204030204" pitchFamily="34" charset="0"/>
              </a:rPr>
              <a:t>   &amp;Variable)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endParaRPr lang="en-US" sz="3200" dirty="0">
              <a:latin typeface="Calibri" panose="020F0502020204030204" pitchFamily="34" charset="0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666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  <a:cs typeface="Arial" panose="020B0604020202020204" pitchFamily="34" charset="0"/>
              </a:rPr>
              <a:t>Copy Constructor for Class Date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991600" cy="56388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Date::Date(Date &amp;date) </a:t>
            </a:r>
          </a:p>
          <a:p>
            <a:pPr eaLnBrk="1" hangingPunct="1">
              <a:buFont typeface="Monotype Sorts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 typeface="Monotype Sorts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// no need to check passed date </a:t>
            </a:r>
            <a:r>
              <a:rPr lang="en-US" sz="2800" b="1" dirty="0" err="1">
                <a:latin typeface="Courier New" panose="02070309020205020404" pitchFamily="49" charset="0"/>
              </a:rPr>
              <a:t>arg</a:t>
            </a:r>
            <a:endParaRPr lang="en-US" sz="2800" b="1" dirty="0">
              <a:latin typeface="Courier New" panose="02070309020205020404" pitchFamily="49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month = </a:t>
            </a:r>
            <a:r>
              <a:rPr lang="en-US" sz="2800" b="1" dirty="0" err="1">
                <a:latin typeface="Courier New" panose="02070309020205020404" pitchFamily="49" charset="0"/>
              </a:rPr>
              <a:t>date.month</a:t>
            </a:r>
            <a:r>
              <a:rPr lang="en-US" sz="2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 typeface="Monotype Sorts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day   = </a:t>
            </a:r>
            <a:r>
              <a:rPr lang="en-US" sz="2800" b="1" dirty="0" err="1">
                <a:latin typeface="Courier New" panose="02070309020205020404" pitchFamily="49" charset="0"/>
              </a:rPr>
              <a:t>date.day</a:t>
            </a:r>
            <a:r>
              <a:rPr lang="en-US" sz="2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 typeface="Monotype Sorts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  year  = </a:t>
            </a:r>
            <a:r>
              <a:rPr lang="en-US" sz="2800" b="1" dirty="0" err="1">
                <a:latin typeface="Courier New" panose="02070309020205020404" pitchFamily="49" charset="0"/>
              </a:rPr>
              <a:t>date.year</a:t>
            </a:r>
            <a:r>
              <a:rPr lang="en-US" sz="2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 typeface="Monotype Sorts" charset="2"/>
              <a:buNone/>
            </a:pPr>
            <a:r>
              <a:rPr lang="en-US" sz="2800" b="1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 typeface="Monotype Sorts" charset="2"/>
              <a:buNone/>
            </a:pPr>
            <a:endParaRPr lang="en-US" sz="2800" b="1" dirty="0">
              <a:latin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128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44881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Uses of the Copy Constructor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839200" cy="48006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Implicitly</a:t>
            </a:r>
            <a:r>
              <a:rPr lang="en-US" dirty="0">
                <a:solidFill>
                  <a:srgbClr val="B80000"/>
                </a:solidFill>
              </a:rPr>
              <a:t> </a:t>
            </a:r>
            <a:r>
              <a:rPr lang="en-US" b="1" dirty="0">
                <a:solidFill>
                  <a:srgbClr val="B80000"/>
                </a:solidFill>
              </a:rPr>
              <a:t>called in 3 situations: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sz="3000" b="1" dirty="0">
                <a:solidFill>
                  <a:srgbClr val="2C14DE"/>
                </a:solidFill>
              </a:rPr>
              <a:t>defining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dirty="0"/>
              <a:t>a </a:t>
            </a:r>
            <a:r>
              <a:rPr lang="en-US" sz="3000" b="1" dirty="0">
                <a:solidFill>
                  <a:srgbClr val="2C14DE"/>
                </a:solidFill>
              </a:rPr>
              <a:t>new object </a:t>
            </a:r>
            <a:r>
              <a:rPr lang="en-US" sz="3000" dirty="0"/>
              <a:t>from an </a:t>
            </a:r>
            <a:r>
              <a:rPr lang="en-US" sz="3000" b="1" dirty="0">
                <a:solidFill>
                  <a:srgbClr val="2C14DE"/>
                </a:solidFill>
              </a:rPr>
              <a:t>existing object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sz="3000" b="1" dirty="0">
                <a:solidFill>
                  <a:srgbClr val="2C14DE"/>
                </a:solidFill>
              </a:rPr>
              <a:t>passing an object by value</a:t>
            </a:r>
          </a:p>
          <a:p>
            <a:pPr marL="971550" lvl="1" indent="-514350" eaLnBrk="1" hangingPunct="1">
              <a:buFont typeface="+mj-lt"/>
              <a:buAutoNum type="arabicPeriod"/>
            </a:pPr>
            <a:r>
              <a:rPr lang="en-US" sz="3000" b="1" dirty="0">
                <a:solidFill>
                  <a:srgbClr val="2C14DE"/>
                </a:solidFill>
              </a:rPr>
              <a:t>returning an object by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151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07556" cy="944881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/>
            <a:r>
              <a:rPr lang="en-US" sz="4000" b="1" dirty="0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Copy Constructor:  Defining a New Object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96956" y="1600200"/>
            <a:ext cx="8153400" cy="39624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Date 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</a:rPr>
              <a:t>d1</a:t>
            </a:r>
            <a:r>
              <a:rPr lang="en-US" sz="2400" b="1" dirty="0">
                <a:latin typeface="Courier New" panose="02070309020205020404" pitchFamily="49" charset="0"/>
              </a:rPr>
              <a:t>(02</a:t>
            </a:r>
            <a:r>
              <a:rPr lang="en-US" altLang="ja-JP" sz="2400" b="1" dirty="0">
                <a:latin typeface="Courier New" panose="02070309020205020404" pitchFamily="49" charset="0"/>
              </a:rPr>
              <a:t>,28,2020); </a:t>
            </a:r>
          </a:p>
          <a:p>
            <a:pPr eaLnBrk="1" hangingPunct="1">
              <a:buFont typeface="Monotype Sorts" charset="2"/>
              <a:buNone/>
            </a:pPr>
            <a:endParaRPr lang="en-US" sz="2400" b="1" dirty="0">
              <a:latin typeface="Courier New" panose="02070309020205020404" pitchFamily="49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solidFill>
                  <a:srgbClr val="B80000"/>
                </a:solidFill>
                <a:latin typeface="Courier New" panose="02070309020205020404" pitchFamily="49" charset="0"/>
              </a:rPr>
              <a:t>// </a:t>
            </a:r>
            <a:r>
              <a:rPr lang="en-US" sz="24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init</a:t>
            </a:r>
            <a:r>
              <a:rPr lang="en-US" sz="2400" b="1" dirty="0">
                <a:solidFill>
                  <a:srgbClr val="B80000"/>
                </a:solidFill>
                <a:latin typeface="Courier New" panose="02070309020205020404" pitchFamily="49" charset="0"/>
              </a:rPr>
              <a:t> 2 local objects from d1</a:t>
            </a: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Date 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</a:rPr>
              <a:t>d2</a:t>
            </a:r>
            <a:r>
              <a:rPr lang="en-US" sz="2400" b="1" dirty="0"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</a:rPr>
              <a:t>d1</a:t>
            </a:r>
            <a:r>
              <a:rPr lang="en-US" sz="2400" b="1" dirty="0">
                <a:latin typeface="Courier New" panose="02070309020205020404" pitchFamily="49" charset="0"/>
              </a:rPr>
              <a:t>);// pass by value</a:t>
            </a: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Date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d3</a:t>
            </a:r>
            <a:r>
              <a:rPr lang="en-US" sz="2400" b="1" dirty="0">
                <a:latin typeface="Courier New" panose="02070309020205020404" pitchFamily="49" charset="0"/>
              </a:rPr>
              <a:t> = 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</a:rPr>
              <a:t>d1</a:t>
            </a:r>
            <a:r>
              <a:rPr lang="en-US" sz="2400" b="1" dirty="0">
                <a:latin typeface="Courier New" panose="02070309020205020404" pitchFamily="49" charset="0"/>
              </a:rPr>
              <a:t>;// return value </a:t>
            </a:r>
          </a:p>
          <a:p>
            <a:pPr eaLnBrk="1" hangingPunct="1">
              <a:buFont typeface="Monotype Sorts" charset="2"/>
              <a:buNone/>
            </a:pPr>
            <a:endParaRPr lang="en-US" sz="2400" b="1" dirty="0">
              <a:latin typeface="Courier New" panose="02070309020205020404" pitchFamily="49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solidFill>
                  <a:srgbClr val="B80000"/>
                </a:solidFill>
                <a:latin typeface="Courier New" panose="02070309020205020404" pitchFamily="49" charset="0"/>
              </a:rPr>
              <a:t>// </a:t>
            </a:r>
            <a:r>
              <a:rPr lang="en-US" sz="2400" b="1" dirty="0" err="1">
                <a:solidFill>
                  <a:srgbClr val="B80000"/>
                </a:solidFill>
                <a:latin typeface="Courier New" panose="02070309020205020404" pitchFamily="49" charset="0"/>
              </a:rPr>
              <a:t>init</a:t>
            </a:r>
            <a:r>
              <a:rPr lang="en-US" sz="2400" b="1" dirty="0">
                <a:solidFill>
                  <a:srgbClr val="B80000"/>
                </a:solidFill>
                <a:latin typeface="Courier New" panose="02070309020205020404" pitchFamily="49" charset="0"/>
              </a:rPr>
              <a:t> a dynamic object from d1</a:t>
            </a: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Date* </a:t>
            </a:r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</a:rPr>
              <a:t>pdate</a:t>
            </a:r>
            <a:r>
              <a:rPr lang="en-US" sz="2400" b="1" dirty="0">
                <a:latin typeface="Courier New" panose="02070309020205020404" pitchFamily="49" charset="0"/>
              </a:rPr>
              <a:t> = new Date(</a:t>
            </a:r>
            <a:r>
              <a:rPr lang="en-US" sz="2400" b="1" dirty="0">
                <a:solidFill>
                  <a:srgbClr val="2C14DE"/>
                </a:solidFill>
                <a:latin typeface="Courier New" panose="02070309020205020404" pitchFamily="49" charset="0"/>
              </a:rPr>
              <a:t>d1</a:t>
            </a:r>
            <a:r>
              <a:rPr lang="en-US" sz="2400" b="1" dirty="0">
                <a:latin typeface="Courier New" panose="02070309020205020404" pitchFamily="49" charset="0"/>
              </a:rPr>
              <a:t>);</a:t>
            </a:r>
            <a:endParaRPr lang="en-US" sz="2400" dirty="0">
              <a:latin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816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-152400" y="0"/>
            <a:ext cx="9296400" cy="944881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/>
            <a:r>
              <a:rPr lang="en-US" sz="4000" b="1" dirty="0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Copy </a:t>
            </a:r>
            <a:r>
              <a:rPr lang="en-US" sz="4000" b="1" dirty="0" err="1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Constructor:Passing</a:t>
            </a:r>
            <a:r>
              <a:rPr lang="en-US" sz="4000" b="1" dirty="0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 Objects by Value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1485900"/>
            <a:ext cx="8305800" cy="49530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sz="2400" b="1" dirty="0">
                <a:solidFill>
                  <a:srgbClr val="D20000"/>
                </a:solidFill>
                <a:latin typeface="Courier New" panose="02070309020205020404" pitchFamily="49" charset="0"/>
              </a:rPr>
              <a:t>//copy constructor called for each value </a:t>
            </a:r>
            <a:r>
              <a:rPr lang="en-US" sz="2400" b="1" dirty="0" err="1">
                <a:solidFill>
                  <a:srgbClr val="D20000"/>
                </a:solidFill>
                <a:latin typeface="Courier New" panose="02070309020205020404" pitchFamily="49" charset="0"/>
              </a:rPr>
              <a:t>arg</a:t>
            </a:r>
            <a:endParaRPr lang="en-US" sz="2400" b="1" dirty="0">
              <a:solidFill>
                <a:srgbClr val="D20000"/>
              </a:solidFill>
              <a:latin typeface="Courier New" panose="02070309020205020404" pitchFamily="49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unsigned </a:t>
            </a:r>
            <a:r>
              <a:rPr lang="en-US" sz="2400" b="1" dirty="0" err="1">
                <a:latin typeface="Courier New" panose="02070309020205020404" pitchFamily="49" charset="0"/>
              </a:rPr>
              <a:t>dateDiff</a:t>
            </a:r>
            <a:r>
              <a:rPr lang="en-US" sz="2400" b="1" dirty="0">
                <a:latin typeface="Courier New" panose="02070309020205020404" pitchFamily="49" charset="0"/>
              </a:rPr>
              <a:t>(Date d1, Date d2);</a:t>
            </a: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Date today;</a:t>
            </a:r>
          </a:p>
          <a:p>
            <a:pPr eaLnBrk="1" hangingPunct="1">
              <a:buFont typeface="Monotype Sorts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Date d3(02, 21, 2000);</a:t>
            </a:r>
          </a:p>
          <a:p>
            <a:pPr eaLnBrk="1" hangingPunct="1">
              <a:buFont typeface="Monotype Sorts" charset="2"/>
              <a:buNone/>
            </a:pPr>
            <a:r>
              <a:rPr lang="en-US" sz="2400" b="1" dirty="0" err="1">
                <a:latin typeface="Courier New" panose="02070309020205020404" pitchFamily="49" charset="0"/>
              </a:rPr>
              <a:t>cout</a:t>
            </a:r>
            <a:r>
              <a:rPr lang="en-US" sz="2400" b="1" dirty="0">
                <a:latin typeface="Courier New" panose="02070309020205020404" pitchFamily="49" charset="0"/>
              </a:rPr>
              <a:t> &lt;&lt; </a:t>
            </a:r>
            <a:r>
              <a:rPr lang="en-US" sz="2400" b="1" dirty="0" err="1">
                <a:latin typeface="Courier New" panose="02070309020205020404" pitchFamily="49" charset="0"/>
              </a:rPr>
              <a:t>dateDiff</a:t>
            </a:r>
            <a:r>
              <a:rPr lang="en-US" sz="2400" b="1" dirty="0">
                <a:latin typeface="Courier New" panose="02070309020205020404" pitchFamily="49" charset="0"/>
              </a:rPr>
              <a:t>(d3, today);</a:t>
            </a:r>
          </a:p>
          <a:p>
            <a:pPr eaLnBrk="1" hangingPunct="1"/>
            <a:endParaRPr lang="en-US" sz="2400" dirty="0">
              <a:latin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3810000" y="2209800"/>
            <a:ext cx="954156" cy="1640541"/>
          </a:xfrm>
          <a:prstGeom prst="straightConnector1">
            <a:avLst/>
          </a:prstGeom>
          <a:ln w="34925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410200" y="2250141"/>
            <a:ext cx="1066800" cy="1600200"/>
          </a:xfrm>
          <a:prstGeom prst="straightConnector1">
            <a:avLst/>
          </a:prstGeom>
          <a:ln w="31750">
            <a:solidFill>
              <a:srgbClr val="2C14DE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1526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-74544" y="13447"/>
            <a:ext cx="9296400" cy="944881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/>
            <a:r>
              <a:rPr lang="en-US" sz="3600" b="1" dirty="0">
                <a:solidFill>
                  <a:srgbClr val="B80000"/>
                </a:solidFill>
                <a:latin typeface="+mn-lt"/>
                <a:cs typeface="Arial" panose="020B0604020202020204" pitchFamily="34" charset="0"/>
              </a:rPr>
              <a:t>User-defined Copy Constructor, when required?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3002" y="1066800"/>
            <a:ext cx="9233397" cy="495300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C00000"/>
                </a:solidFill>
                <a:latin typeface="+mj-lt"/>
              </a:rPr>
              <a:t>Default-copy Constructor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do only “Shallow Copy”</a:t>
            </a:r>
            <a:endParaRPr lang="en-US" sz="3000" b="1" dirty="0">
              <a:latin typeface="+mj-lt"/>
            </a:endParaRPr>
          </a:p>
          <a:p>
            <a:r>
              <a:rPr lang="en-US" sz="3000" b="1" dirty="0">
                <a:latin typeface="+mj-lt"/>
              </a:rPr>
              <a:t>We need 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user-defined copy-constructor</a:t>
            </a:r>
            <a:r>
              <a:rPr lang="en-US" sz="3000" b="1" dirty="0">
                <a:latin typeface="+mj-lt"/>
              </a:rPr>
              <a:t>, </a:t>
            </a:r>
          </a:p>
          <a:p>
            <a:pPr lvl="1"/>
            <a:r>
              <a:rPr lang="en-US" sz="3000" b="1" dirty="0">
                <a:latin typeface="+mj-lt"/>
              </a:rPr>
              <a:t>When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we need “Deep Copy” (for Dynamic Memory)</a:t>
            </a:r>
            <a:endParaRPr lang="en-US" sz="3000" dirty="0">
              <a:solidFill>
                <a:srgbClr val="2C14DE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https://media.geeksforgeeks.org/wp-content/uploads/shallow-copy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4" t="17236" r="7823" b="7631"/>
          <a:stretch/>
        </p:blipFill>
        <p:spPr bwMode="auto">
          <a:xfrm>
            <a:off x="228600" y="3429000"/>
            <a:ext cx="37338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https://media.geeksforgeeks.org/wp-content/uploads/deep-copy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0" t="16883" r="12100" b="17932"/>
          <a:stretch/>
        </p:blipFill>
        <p:spPr bwMode="auto">
          <a:xfrm>
            <a:off x="4311153" y="3429000"/>
            <a:ext cx="47244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4114800" y="2743200"/>
            <a:ext cx="0" cy="3962400"/>
          </a:xfrm>
          <a:prstGeom prst="line">
            <a:avLst/>
          </a:prstGeom>
          <a:ln w="1587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1499210" y="1458686"/>
            <a:ext cx="5032219" cy="2188028"/>
          </a:xfrm>
          <a:custGeom>
            <a:avLst/>
            <a:gdLst>
              <a:gd name="connsiteX0" fmla="*/ 5032219 w 5032219"/>
              <a:gd name="connsiteY0" fmla="*/ 0 h 2188028"/>
              <a:gd name="connsiteX1" fmla="*/ 329590 w 5032219"/>
              <a:gd name="connsiteY1" fmla="*/ 185057 h 2188028"/>
              <a:gd name="connsiteX2" fmla="*/ 394904 w 5032219"/>
              <a:gd name="connsiteY2" fmla="*/ 2188028 h 218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32219" h="2188028">
                <a:moveTo>
                  <a:pt x="5032219" y="0"/>
                </a:moveTo>
                <a:lnTo>
                  <a:pt x="329590" y="185057"/>
                </a:lnTo>
                <a:cubicBezTo>
                  <a:pt x="-443296" y="549728"/>
                  <a:pt x="384018" y="1854200"/>
                  <a:pt x="394904" y="2188028"/>
                </a:cubicBezTo>
              </a:path>
            </a:pathLst>
          </a:custGeom>
          <a:ln>
            <a:tailEnd type="stealth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5192486" y="2357179"/>
            <a:ext cx="1991104" cy="1311307"/>
          </a:xfrm>
          <a:custGeom>
            <a:avLst/>
            <a:gdLst>
              <a:gd name="connsiteX0" fmla="*/ 0 w 1991104"/>
              <a:gd name="connsiteY0" fmla="*/ 179192 h 1311307"/>
              <a:gd name="connsiteX1" fmla="*/ 1959428 w 1991104"/>
              <a:gd name="connsiteY1" fmla="*/ 92107 h 1311307"/>
              <a:gd name="connsiteX2" fmla="*/ 1262743 w 1991104"/>
              <a:gd name="connsiteY2" fmla="*/ 1311307 h 131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1104" h="1311307">
                <a:moveTo>
                  <a:pt x="0" y="179192"/>
                </a:moveTo>
                <a:cubicBezTo>
                  <a:pt x="874485" y="41306"/>
                  <a:pt x="1748971" y="-96579"/>
                  <a:pt x="1959428" y="92107"/>
                </a:cubicBezTo>
                <a:cubicBezTo>
                  <a:pt x="2169885" y="280793"/>
                  <a:pt x="1262743" y="1311307"/>
                  <a:pt x="1262743" y="1311307"/>
                </a:cubicBezTo>
              </a:path>
            </a:pathLst>
          </a:custGeom>
          <a:ln>
            <a:tailEnd type="stealth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0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D929-865A-4CC9-93B7-49A42C7E8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Copy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B4760-DCD8-449B-871C-CD3ED074E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sz="14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class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Demo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{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4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4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b;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4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*p;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public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Demo()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{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p=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new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14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}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void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setdata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</a:t>
            </a:r>
            <a:r>
              <a:rPr lang="en-US" sz="14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x,</a:t>
            </a:r>
            <a:r>
              <a:rPr lang="en-US" sz="1400" b="1" i="0" dirty="0" err="1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y,</a:t>
            </a:r>
            <a:r>
              <a:rPr lang="en-US" sz="1400" b="1" i="0" dirty="0" err="1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z)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{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a=x;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b=y;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*p=z;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}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void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showdata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()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{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std::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cout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 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"value of a is : "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&lt;&lt;a&lt;&lt; std::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endl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std::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cout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 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"value of b is : "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&lt;&lt;b&lt;&lt; std::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endl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std::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cout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 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"value of *p is : "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&lt;&lt;*p&lt;&lt; std::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endl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}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};  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main()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{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Demo d1;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d1.setdata(4,5,7);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Demo d2 = d1;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d2.showdata();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4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return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0;  </a:t>
            </a:r>
          </a:p>
          <a:p>
            <a:pPr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}  </a:t>
            </a:r>
          </a:p>
          <a:p>
            <a:endParaRPr lang="en-PK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B6DEC9-1FDE-456E-BAE0-0EFDDF289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676400"/>
            <a:ext cx="360045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80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89C3-DD33-4296-81DA-699784A3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Copy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05CFB-1A60-4C3E-B8FD-9472870F0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class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Demo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{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2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public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2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2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b;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2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*p;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Demo()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{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p=</a:t>
            </a:r>
            <a:r>
              <a:rPr lang="en-US" sz="12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new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12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}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Demo(Demo &amp;d)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{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a = 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d.a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b = 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d.b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p = </a:t>
            </a:r>
            <a:r>
              <a:rPr lang="en-US" sz="12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new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12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*p = *(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d.p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}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12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void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setdata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</a:t>
            </a:r>
            <a:r>
              <a:rPr lang="en-US" sz="12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x,</a:t>
            </a:r>
            <a:r>
              <a:rPr lang="en-US" sz="1200" b="1" i="0" dirty="0" err="1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y,</a:t>
            </a:r>
            <a:r>
              <a:rPr lang="en-US" sz="1200" b="1" i="0" dirty="0" err="1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z)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{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a=x;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b=y;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*p=z;  </a:t>
            </a:r>
          </a:p>
          <a:p>
            <a:pPr algn="l">
              <a:buFont typeface="+mj-lt"/>
              <a:buAutoNum type="arabicPeriod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} </a:t>
            </a:r>
            <a:endParaRPr lang="en-PK" sz="1200" dirty="0"/>
          </a:p>
        </p:txBody>
      </p:sp>
    </p:spTree>
    <p:extLst>
      <p:ext uri="{BB962C8B-B14F-4D97-AF65-F5344CB8AC3E}">
        <p14:creationId xmlns:p14="http://schemas.microsoft.com/office/powerpoint/2010/main" val="13679230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8310-AB3E-4ADB-8585-A2580EA9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E0B7-D1DA-423F-A868-E101082F2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sz="32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void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showdata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()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{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std::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cout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 </a:t>
            </a:r>
            <a:r>
              <a:rPr lang="en-US" sz="3200" b="0" i="0" dirty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"value of a is : "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&lt;&lt;a&lt;&lt; std::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endl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std::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cout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 </a:t>
            </a:r>
            <a:r>
              <a:rPr lang="en-US" sz="3200" b="0" i="0" dirty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"value of b is : "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&lt;&lt;b&lt;&lt; std::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endl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  std::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cout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 </a:t>
            </a:r>
            <a:r>
              <a:rPr lang="en-US" sz="3200" b="0" i="0" dirty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"value of *p is : "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&lt;&lt;*p&lt;&lt; std::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endl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;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}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};  </a:t>
            </a:r>
          </a:p>
          <a:p>
            <a:pPr algn="l">
              <a:buFont typeface="+mj-lt"/>
              <a:buAutoNum type="arabicPeriod"/>
            </a:pPr>
            <a:r>
              <a:rPr lang="en-US" sz="3200" b="1" i="0" dirty="0">
                <a:solidFill>
                  <a:srgbClr val="2E8B57"/>
                </a:solidFill>
                <a:effectLst/>
                <a:latin typeface="verdana" panose="020B0604030504040204" pitchFamily="34" charset="0"/>
              </a:rPr>
              <a:t>int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main()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{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Demo d1;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d1.setdata(4,5,7);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Demo d2 = d1;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d2.showdata();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lang="en-US" sz="3200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return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0;  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}  </a:t>
            </a:r>
          </a:p>
          <a:p>
            <a:endParaRPr lang="en-PK" sz="3200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FB926-5662-4FD4-BA62-A25E92CC6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962400"/>
            <a:ext cx="32670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132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362200"/>
            <a:ext cx="8388350" cy="793750"/>
          </a:xfrm>
        </p:spPr>
        <p:txBody>
          <a:bodyPr>
            <a:noAutofit/>
          </a:bodyPr>
          <a:lstStyle/>
          <a:p>
            <a:r>
              <a:rPr lang="en-US" sz="5400" b="1" i="1" u="sng" dirty="0">
                <a:solidFill>
                  <a:srgbClr val="D20000"/>
                </a:solidFill>
                <a:ea typeface="ＭＳ Ｐゴシック" pitchFamily="34" charset="-128"/>
                <a:cs typeface="Courier New" pitchFamily="49" charset="0"/>
              </a:rPr>
              <a:t>static</a:t>
            </a:r>
            <a:r>
              <a:rPr lang="en-US" sz="5400" b="1" u="sng" dirty="0">
                <a:solidFill>
                  <a:srgbClr val="D20000"/>
                </a:solidFill>
                <a:ea typeface="ＭＳ Ｐゴシック" pitchFamily="34" charset="-128"/>
              </a:rPr>
              <a:t>, </a:t>
            </a:r>
            <a:r>
              <a:rPr lang="en-US" sz="5400" b="1" i="1" u="sng" dirty="0" err="1">
                <a:solidFill>
                  <a:srgbClr val="D20000"/>
                </a:solidFill>
                <a:ea typeface="ＭＳ Ｐゴシック" pitchFamily="34" charset="-128"/>
                <a:cs typeface="Courier New" pitchFamily="49" charset="0"/>
              </a:rPr>
              <a:t>const</a:t>
            </a:r>
            <a:r>
              <a:rPr lang="en-US" sz="5400" b="1" i="1" u="sng" dirty="0">
                <a:solidFill>
                  <a:srgbClr val="D20000"/>
                </a:solidFill>
                <a:ea typeface="ＭＳ Ｐゴシック" pitchFamily="34" charset="-128"/>
                <a:cs typeface="Courier New" pitchFamily="49" charset="0"/>
              </a:rPr>
              <a:t>,</a:t>
            </a:r>
            <a:r>
              <a:rPr lang="en-US" sz="5400" b="1" u="sng" dirty="0">
                <a:solidFill>
                  <a:srgbClr val="D20000"/>
                </a:solidFill>
                <a:ea typeface="ＭＳ Ｐゴシック" pitchFamily="34" charset="-128"/>
              </a:rPr>
              <a:t> and </a:t>
            </a:r>
            <a:r>
              <a:rPr lang="en-US" sz="5400" b="1" i="1" u="sng" dirty="0">
                <a:solidFill>
                  <a:srgbClr val="D20000"/>
                </a:solidFill>
                <a:ea typeface="ＭＳ Ｐゴシック" pitchFamily="34" charset="-128"/>
                <a:cs typeface="Courier New" pitchFamily="49" charset="0"/>
              </a:rPr>
              <a:t>this</a:t>
            </a:r>
            <a:r>
              <a:rPr lang="en-US" sz="5400" b="1" u="sng" dirty="0">
                <a:solidFill>
                  <a:srgbClr val="D20000"/>
                </a:solidFill>
                <a:ea typeface="ＭＳ Ｐゴシック" pitchFamily="34" charset="-128"/>
              </a:rPr>
              <a:t> Pointer</a:t>
            </a:r>
            <a:endParaRPr lang="en-US" sz="5400" b="1" u="sng" dirty="0">
              <a:solidFill>
                <a:srgbClr val="D2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2725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title"/>
          </p:nvPr>
        </p:nvSpPr>
        <p:spPr>
          <a:xfrm>
            <a:off x="962025" y="38948"/>
            <a:ext cx="8153400" cy="951652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  <a:latin typeface="Courier New" charset="0"/>
                <a:cs typeface="+mj-cs"/>
              </a:rPr>
              <a:t>static</a:t>
            </a:r>
            <a:r>
              <a:rPr lang="en-US" b="1" dirty="0">
                <a:solidFill>
                  <a:srgbClr val="B80000"/>
                </a:solidFill>
                <a:cs typeface="+mj-cs"/>
              </a:rPr>
              <a:t> Class Members</a:t>
            </a:r>
          </a:p>
        </p:txBody>
      </p:sp>
      <p:sp>
        <p:nvSpPr>
          <p:cNvPr id="4198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756" y="1066800"/>
            <a:ext cx="9067800" cy="57150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latin typeface="Courier New" charset="0"/>
                <a:cs typeface="+mn-cs"/>
              </a:rPr>
              <a:t>static</a:t>
            </a:r>
            <a:r>
              <a:rPr lang="en-US" b="1" dirty="0">
                <a:solidFill>
                  <a:srgbClr val="B80000"/>
                </a:solidFill>
                <a:cs typeface="+mn-cs"/>
              </a:rPr>
              <a:t> class members</a:t>
            </a:r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Shared</a:t>
            </a:r>
            <a:r>
              <a:rPr lang="en-US" dirty="0"/>
              <a:t> by </a:t>
            </a:r>
            <a:r>
              <a:rPr lang="en-US" b="1" dirty="0">
                <a:solidFill>
                  <a:srgbClr val="2C14DE"/>
                </a:solidFill>
              </a:rPr>
              <a:t>all objects of a class</a:t>
            </a:r>
          </a:p>
          <a:p>
            <a:pPr lvl="1">
              <a:defRPr/>
            </a:pPr>
            <a:r>
              <a:rPr lang="en-US" b="1" dirty="0">
                <a:solidFill>
                  <a:srgbClr val="008000"/>
                </a:solidFill>
              </a:rPr>
              <a:t>Efficient</a:t>
            </a:r>
            <a:r>
              <a:rPr lang="en-US" b="1" dirty="0">
                <a:solidFill>
                  <a:srgbClr val="2C14DE"/>
                </a:solidFill>
              </a:rPr>
              <a:t>, </a:t>
            </a:r>
            <a:r>
              <a:rPr lang="en-US" b="1" dirty="0"/>
              <a:t>when a </a:t>
            </a:r>
            <a:r>
              <a:rPr lang="en-US" b="1" u="sng" dirty="0">
                <a:solidFill>
                  <a:srgbClr val="2C14DE"/>
                </a:solidFill>
              </a:rPr>
              <a:t>single copy </a:t>
            </a:r>
            <a:r>
              <a:rPr lang="en-US" b="1" u="sng" dirty="0"/>
              <a:t>of</a:t>
            </a:r>
            <a:r>
              <a:rPr lang="en-US" b="1" u="sng" dirty="0">
                <a:solidFill>
                  <a:srgbClr val="2C14DE"/>
                </a:solidFill>
              </a:rPr>
              <a:t> data </a:t>
            </a:r>
            <a:r>
              <a:rPr lang="en-US" b="1" dirty="0"/>
              <a:t>is </a:t>
            </a:r>
            <a:r>
              <a:rPr lang="en-US" b="1" dirty="0">
                <a:solidFill>
                  <a:srgbClr val="2C14DE"/>
                </a:solidFill>
              </a:rPr>
              <a:t>enough </a:t>
            </a:r>
          </a:p>
          <a:p>
            <a:pPr lvl="2">
              <a:defRPr/>
            </a:pPr>
            <a:r>
              <a:rPr lang="en-US" sz="2800" b="1" dirty="0"/>
              <a:t>Only the </a:t>
            </a:r>
            <a:r>
              <a:rPr lang="en-US" sz="2800" b="1" dirty="0">
                <a:solidFill>
                  <a:srgbClr val="FF0000"/>
                </a:solidFill>
                <a:latin typeface="Courier New" charset="0"/>
              </a:rPr>
              <a:t>static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/>
              <a:t>variable has to be </a:t>
            </a:r>
            <a:r>
              <a:rPr lang="en-US" sz="2800" b="1" dirty="0">
                <a:solidFill>
                  <a:srgbClr val="FF0000"/>
                </a:solidFill>
              </a:rPr>
              <a:t>updated</a:t>
            </a:r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May seems like global variables</a:t>
            </a:r>
            <a:r>
              <a:rPr lang="en-US" dirty="0"/>
              <a:t>, but have </a:t>
            </a:r>
            <a:r>
              <a:rPr lang="en-US" b="1" dirty="0">
                <a:solidFill>
                  <a:srgbClr val="2C14DE"/>
                </a:solidFill>
              </a:rPr>
              <a:t>class scope</a:t>
            </a:r>
          </a:p>
          <a:p>
            <a:pPr lvl="2">
              <a:defRPr/>
            </a:pPr>
            <a:r>
              <a:rPr lang="en-US" sz="2800" b="1" u="sng" dirty="0"/>
              <a:t>only accessible to </a:t>
            </a:r>
            <a:r>
              <a:rPr lang="en-US" sz="2800" b="1" u="sng" dirty="0">
                <a:solidFill>
                  <a:srgbClr val="FF0000"/>
                </a:solidFill>
              </a:rPr>
              <a:t>objects</a:t>
            </a:r>
            <a:r>
              <a:rPr lang="en-US" sz="2800" b="1" u="sng" dirty="0"/>
              <a:t> </a:t>
            </a:r>
            <a:r>
              <a:rPr lang="en-US" sz="2800" b="1" dirty="0"/>
              <a:t>of </a:t>
            </a:r>
            <a:r>
              <a:rPr lang="en-US" sz="2800" b="1" u="sng" dirty="0">
                <a:solidFill>
                  <a:srgbClr val="FF0000"/>
                </a:solidFill>
              </a:rPr>
              <a:t>same class</a:t>
            </a:r>
          </a:p>
          <a:p>
            <a:pPr lvl="2">
              <a:defRPr/>
            </a:pPr>
            <a:endParaRPr lang="en-US" b="1" dirty="0"/>
          </a:p>
          <a:p>
            <a:pPr lvl="2">
              <a:defRPr/>
            </a:pPr>
            <a:endParaRPr lang="en-US" sz="2000" dirty="0"/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Initialized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at </a:t>
            </a:r>
            <a:r>
              <a:rPr lang="en-US" b="1" u="sng" dirty="0">
                <a:solidFill>
                  <a:srgbClr val="2C14DE"/>
                </a:solidFill>
              </a:rPr>
              <a:t>file scope</a:t>
            </a:r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Exist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even </a:t>
            </a:r>
            <a:r>
              <a:rPr lang="en-US" b="1" dirty="0"/>
              <a:t>if </a:t>
            </a:r>
            <a:r>
              <a:rPr lang="en-US" b="1" dirty="0">
                <a:solidFill>
                  <a:srgbClr val="2C14DE"/>
                </a:solidFill>
              </a:rPr>
              <a:t>no instances (objects) of the class exist</a:t>
            </a:r>
          </a:p>
          <a:p>
            <a:pPr lvl="1">
              <a:defRPr/>
            </a:pPr>
            <a:r>
              <a:rPr lang="en-US" dirty="0"/>
              <a:t>Both </a:t>
            </a:r>
            <a:r>
              <a:rPr lang="en-US" b="1" dirty="0">
                <a:solidFill>
                  <a:srgbClr val="2C14DE"/>
                </a:solidFill>
              </a:rPr>
              <a:t>variables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2C14DE"/>
                </a:solidFill>
              </a:rPr>
              <a:t>functions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can be 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static</a:t>
            </a:r>
          </a:p>
          <a:p>
            <a:pPr lvl="1">
              <a:defRPr/>
            </a:pPr>
            <a:r>
              <a:rPr lang="en-US" dirty="0"/>
              <a:t>Can be </a:t>
            </a:r>
            <a:r>
              <a:rPr lang="en-US" b="1" dirty="0">
                <a:solidFill>
                  <a:srgbClr val="008000"/>
                </a:solidFill>
                <a:latin typeface="Courier New" charset="0"/>
              </a:rPr>
              <a:t>public</a:t>
            </a:r>
            <a:r>
              <a:rPr lang="en-US" b="1" dirty="0"/>
              <a:t>, </a:t>
            </a:r>
            <a:r>
              <a:rPr lang="en-US" b="1" dirty="0">
                <a:solidFill>
                  <a:srgbClr val="008000"/>
                </a:solidFill>
                <a:latin typeface="Courier New" charset="0"/>
              </a:rPr>
              <a:t>private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b="1" dirty="0"/>
              <a:t>or </a:t>
            </a:r>
            <a:r>
              <a:rPr lang="en-US" b="1" dirty="0">
                <a:solidFill>
                  <a:srgbClr val="008000"/>
                </a:solidFill>
                <a:latin typeface="Courier New" charset="0"/>
              </a:rPr>
              <a:t>protected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2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941184" y="92288"/>
            <a:ext cx="8153400" cy="829733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  <a:latin typeface="Courier New" charset="0"/>
                <a:cs typeface="+mj-cs"/>
              </a:rPr>
              <a:t>static</a:t>
            </a:r>
            <a:r>
              <a:rPr lang="en-US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en-US" b="1" dirty="0">
                <a:solidFill>
                  <a:srgbClr val="B80000"/>
                </a:solidFill>
                <a:cs typeface="+mj-cs"/>
              </a:rPr>
              <a:t>Class Variables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7301" y="990600"/>
            <a:ext cx="9058600" cy="57150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</a:rPr>
              <a:t>Two-Step Procedure: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b="1" dirty="0">
                <a:solidFill>
                  <a:srgbClr val="2C14DE"/>
                </a:solidFill>
                <a:latin typeface="+mj-lt"/>
                <a:cs typeface="+mn-cs"/>
              </a:rPr>
              <a:t>Declare</a:t>
            </a:r>
            <a:r>
              <a:rPr lang="en-US" b="1" dirty="0">
                <a:latin typeface="+mj-lt"/>
                <a:cs typeface="+mn-cs"/>
              </a:rPr>
              <a:t> (</a:t>
            </a:r>
            <a:r>
              <a:rPr lang="en-US" b="1" dirty="0">
                <a:solidFill>
                  <a:srgbClr val="2C14DE"/>
                </a:solidFill>
                <a:latin typeface="+mj-lt"/>
                <a:cs typeface="+mn-cs"/>
              </a:rPr>
              <a:t>Inside</a:t>
            </a:r>
            <a:r>
              <a:rPr lang="en-US" b="1" dirty="0">
                <a:latin typeface="+mj-lt"/>
                <a:cs typeface="+mn-cs"/>
              </a:rPr>
              <a:t> </a:t>
            </a:r>
            <a:r>
              <a:rPr lang="en-US" b="1" dirty="0">
                <a:solidFill>
                  <a:srgbClr val="2C14DE"/>
                </a:solidFill>
                <a:latin typeface="+mj-lt"/>
                <a:cs typeface="+mn-cs"/>
              </a:rPr>
              <a:t>Class</a:t>
            </a:r>
            <a:r>
              <a:rPr lang="en-US" b="1" dirty="0">
                <a:latin typeface="+mj-lt"/>
                <a:cs typeface="+mn-cs"/>
              </a:rPr>
              <a:t>):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static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radius;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b="1" dirty="0">
                <a:solidFill>
                  <a:srgbClr val="2C14DE"/>
                </a:solidFill>
                <a:latin typeface="+mj-lt"/>
              </a:rPr>
              <a:t>Define</a:t>
            </a:r>
            <a:r>
              <a:rPr lang="en-US" b="1" dirty="0">
                <a:latin typeface="+mj-lt"/>
              </a:rPr>
              <a:t> (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Outside</a:t>
            </a:r>
            <a:r>
              <a:rPr lang="en-US" b="1" dirty="0">
                <a:latin typeface="+mj-lt"/>
              </a:rPr>
              <a:t>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Class</a:t>
            </a:r>
            <a:r>
              <a:rPr lang="en-US" b="1" dirty="0">
                <a:latin typeface="+mj-lt"/>
              </a:rPr>
              <a:t>): 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Circle::radius=2;</a:t>
            </a:r>
          </a:p>
          <a:p>
            <a:pPr marL="971550" lvl="1" indent="-514350">
              <a:buFont typeface="+mj-lt"/>
              <a:buAutoNum type="arabicPeriod"/>
              <a:defRPr/>
            </a:pPr>
            <a:endParaRPr lang="en-US" b="1" dirty="0">
              <a:latin typeface="+mj-lt"/>
            </a:endParaRPr>
          </a:p>
          <a:p>
            <a:pPr marL="457200" lvl="1" indent="0">
              <a:buNone/>
              <a:defRPr/>
            </a:pPr>
            <a:endParaRPr lang="en-US" b="1" dirty="0">
              <a:solidFill>
                <a:srgbClr val="B80000"/>
              </a:solidFill>
              <a:latin typeface="+mj-lt"/>
              <a:cs typeface="+mn-cs"/>
            </a:endParaRPr>
          </a:p>
          <a:p>
            <a:pPr>
              <a:defRPr/>
            </a:pPr>
            <a:r>
              <a:rPr lang="en-US" b="1" dirty="0">
                <a:solidFill>
                  <a:srgbClr val="B80000"/>
                </a:solidFill>
                <a:latin typeface="+mj-lt"/>
                <a:cs typeface="+mn-cs"/>
              </a:rPr>
              <a:t>static Variables</a:t>
            </a:r>
          </a:p>
          <a:p>
            <a:pPr lvl="1" algn="just">
              <a:defRPr/>
            </a:pPr>
            <a:r>
              <a:rPr lang="en-US" b="1" dirty="0">
                <a:solidFill>
                  <a:srgbClr val="2C14DE"/>
                </a:solidFill>
              </a:rPr>
              <a:t>Default Initialization</a:t>
            </a:r>
            <a:r>
              <a:rPr lang="en-US" b="1" dirty="0"/>
              <a:t>: </a:t>
            </a:r>
            <a:r>
              <a:rPr lang="en-US" b="1" dirty="0">
                <a:solidFill>
                  <a:srgbClr val="008000"/>
                </a:solidFill>
              </a:rPr>
              <a:t>0</a:t>
            </a:r>
            <a:r>
              <a:rPr lang="en-US" b="1" dirty="0"/>
              <a:t> or </a:t>
            </a:r>
            <a:r>
              <a:rPr lang="en-US" b="1" dirty="0">
                <a:solidFill>
                  <a:srgbClr val="008000"/>
                </a:solidFill>
              </a:rPr>
              <a:t>Null</a:t>
            </a:r>
            <a:r>
              <a:rPr lang="en-US" b="1" dirty="0"/>
              <a:t> (for pointers)</a:t>
            </a:r>
            <a:endParaRPr lang="en-US" dirty="0"/>
          </a:p>
          <a:p>
            <a:pPr lvl="1" algn="just">
              <a:defRPr/>
            </a:pPr>
            <a:r>
              <a:rPr lang="en-US" b="1" dirty="0">
                <a:solidFill>
                  <a:srgbClr val="2C14DE"/>
                </a:solidFill>
              </a:rPr>
              <a:t>Initialization</a:t>
            </a:r>
            <a:r>
              <a:rPr lang="en-US" b="1" dirty="0"/>
              <a:t>: </a:t>
            </a:r>
            <a:r>
              <a:rPr lang="en-US" b="1" dirty="0">
                <a:solidFill>
                  <a:srgbClr val="008000"/>
                </a:solidFill>
              </a:rPr>
              <a:t>user defined value</a:t>
            </a:r>
            <a:endParaRPr lang="en-US" dirty="0">
              <a:solidFill>
                <a:srgbClr val="008000"/>
              </a:solidFill>
            </a:endParaRPr>
          </a:p>
          <a:p>
            <a:pPr lvl="1" algn="just">
              <a:defRPr/>
            </a:pPr>
            <a:r>
              <a:rPr lang="en-US" b="1" dirty="0">
                <a:solidFill>
                  <a:srgbClr val="2C14DE"/>
                </a:solidFill>
              </a:rPr>
              <a:t>Initialization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is </a:t>
            </a:r>
            <a:r>
              <a:rPr lang="en-US" b="1" u="sng" dirty="0">
                <a:solidFill>
                  <a:srgbClr val="008000"/>
                </a:solidFill>
              </a:rPr>
              <a:t>made just once</a:t>
            </a:r>
            <a:r>
              <a:rPr lang="en-US" dirty="0"/>
              <a:t>, at </a:t>
            </a:r>
            <a:r>
              <a:rPr lang="en-US" b="1" u="sng" dirty="0">
                <a:solidFill>
                  <a:srgbClr val="008000"/>
                </a:solidFill>
              </a:rPr>
              <a:t>compile time</a:t>
            </a:r>
            <a:r>
              <a:rPr lang="en-US" b="1" dirty="0">
                <a:solidFill>
                  <a:srgbClr val="008000"/>
                </a:solidFill>
              </a:rPr>
              <a:t>.</a:t>
            </a:r>
          </a:p>
          <a:p>
            <a:pPr lvl="1" algn="just">
              <a:defRPr/>
            </a:pPr>
            <a:r>
              <a:rPr lang="en-US" b="1" dirty="0">
                <a:solidFill>
                  <a:srgbClr val="2C14DE"/>
                </a:solidFill>
              </a:rPr>
              <a:t>Accessibility</a:t>
            </a:r>
            <a:r>
              <a:rPr lang="en-US" b="1" dirty="0"/>
              <a:t>: </a:t>
            </a:r>
            <a:r>
              <a:rPr lang="en-US" b="1" dirty="0">
                <a:solidFill>
                  <a:srgbClr val="008000"/>
                </a:solidFill>
              </a:rPr>
              <a:t>Private</a:t>
            </a:r>
            <a:r>
              <a:rPr lang="en-US" b="1" dirty="0"/>
              <a:t> or </a:t>
            </a:r>
            <a:r>
              <a:rPr lang="en-US" b="1" dirty="0">
                <a:solidFill>
                  <a:srgbClr val="008000"/>
                </a:solidFill>
              </a:rPr>
              <a:t>Public</a:t>
            </a: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3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906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Public static Class Variables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756" y="1023796"/>
            <a:ext cx="9144000" cy="56388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fontScale="92500" lnSpcReduction="10000"/>
          </a:bodyPr>
          <a:lstStyle/>
          <a:p>
            <a:pPr marL="541338" lvl="1" indent="-457200">
              <a:defRPr/>
            </a:pPr>
            <a:r>
              <a:rPr lang="en-US" sz="3000" b="1" dirty="0">
                <a:latin typeface="+mj-lt"/>
              </a:rPr>
              <a:t>Can</a:t>
            </a:r>
            <a:r>
              <a:rPr lang="en-US" sz="3000" dirty="0">
                <a:latin typeface="+mj-lt"/>
              </a:rPr>
              <a:t> </a:t>
            </a:r>
            <a:r>
              <a:rPr lang="en-US" sz="3000" b="1" dirty="0">
                <a:latin typeface="+mj-lt"/>
              </a:rPr>
              <a:t>be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accessed</a:t>
            </a:r>
            <a:r>
              <a:rPr lang="en-US" sz="3000" b="1" dirty="0">
                <a:latin typeface="+mj-lt"/>
              </a:rPr>
              <a:t> </a:t>
            </a:r>
            <a:r>
              <a:rPr lang="en-US" sz="3000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 name:</a:t>
            </a:r>
            <a:endParaRPr lang="en-US" sz="3000" dirty="0">
              <a:latin typeface="+mj-lt"/>
            </a:endParaRPr>
          </a:p>
          <a:p>
            <a:pPr marL="84138" lvl="1" indent="0">
              <a:buNone/>
              <a:defRPr/>
            </a:pPr>
            <a:r>
              <a:rPr lang="en-US" sz="2800" b="1" dirty="0">
                <a:latin typeface="+mj-lt"/>
              </a:rPr>
              <a:t>	</a:t>
            </a:r>
            <a:r>
              <a:rPr lang="en-US" b="1" dirty="0">
                <a:latin typeface="+mj-lt"/>
              </a:rPr>
              <a:t>     </a:t>
            </a:r>
            <a:r>
              <a:rPr lang="en-US" sz="2800" b="1" dirty="0" err="1">
                <a:latin typeface="Consolas" panose="020B0609020204030204" pitchFamily="49" charset="0"/>
              </a:rPr>
              <a:t>cout</a:t>
            </a:r>
            <a:r>
              <a:rPr lang="en-US" sz="2800" b="1" dirty="0">
                <a:latin typeface="Consolas" panose="020B0609020204030204" pitchFamily="49" charset="0"/>
              </a:rPr>
              <a:t>&lt;&lt;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Employee::count;</a:t>
            </a:r>
          </a:p>
          <a:p>
            <a:pPr lvl="4">
              <a:buFontTx/>
              <a:buNone/>
              <a:defRPr/>
            </a:pP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541338" lvl="1" indent="-457200">
              <a:defRPr/>
            </a:pPr>
            <a:r>
              <a:rPr lang="en-US" sz="3000" b="1" dirty="0"/>
              <a:t>Can</a:t>
            </a:r>
            <a:r>
              <a:rPr lang="en-US" sz="3000" dirty="0"/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any </a:t>
            </a:r>
            <a:r>
              <a:rPr lang="en-US" sz="3000" b="1" dirty="0">
                <a:solidFill>
                  <a:srgbClr val="2C14DE"/>
                </a:solidFill>
              </a:rPr>
              <a:t>class’ object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	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e1.count;</a:t>
            </a:r>
          </a:p>
          <a:p>
            <a:pPr marL="84138" lvl="1" indent="0">
              <a:buNone/>
              <a:defRPr/>
            </a:pPr>
            <a:endParaRPr lang="en-US" b="1" dirty="0"/>
          </a:p>
          <a:p>
            <a:pPr marL="541338" lvl="1" indent="-457200">
              <a:defRPr/>
            </a:pPr>
            <a:r>
              <a:rPr lang="en-US" sz="3000" b="1" dirty="0"/>
              <a:t>Can</a:t>
            </a:r>
            <a:r>
              <a:rPr lang="en-US" sz="3000" dirty="0"/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</a:t>
            </a:r>
            <a:r>
              <a:rPr lang="en-US" sz="3000" b="1" dirty="0">
                <a:solidFill>
                  <a:srgbClr val="2C14DE"/>
                </a:solidFill>
              </a:rPr>
              <a:t>Non-Static</a:t>
            </a:r>
            <a:r>
              <a:rPr lang="en-US" sz="3000" b="1" dirty="0"/>
              <a:t> member </a:t>
            </a:r>
            <a:r>
              <a:rPr lang="en-US" sz="3000" b="1" dirty="0">
                <a:solidFill>
                  <a:srgbClr val="2C14DE"/>
                </a:solidFill>
              </a:rPr>
              <a:t>functions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   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e1.getCount();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/>
          </a:p>
          <a:p>
            <a:pPr marL="541338" lvl="1" indent="-457200">
              <a:defRPr/>
            </a:pPr>
            <a:r>
              <a:rPr lang="en-US" sz="3000" b="1" dirty="0"/>
              <a:t>Can</a:t>
            </a:r>
            <a:r>
              <a:rPr lang="en-US" sz="3000" dirty="0"/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</a:t>
            </a:r>
            <a:r>
              <a:rPr lang="en-US" sz="3000" b="1" dirty="0">
                <a:solidFill>
                  <a:srgbClr val="2C14DE"/>
                </a:solidFill>
              </a:rPr>
              <a:t>Static</a:t>
            </a:r>
            <a:r>
              <a:rPr lang="en-US" sz="3000" b="1" dirty="0"/>
              <a:t> member </a:t>
            </a:r>
            <a:r>
              <a:rPr lang="en-US" sz="3000" b="1" dirty="0">
                <a:solidFill>
                  <a:srgbClr val="2C14DE"/>
                </a:solidFill>
              </a:rPr>
              <a:t>functions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Stat_getCount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e1.Stat_getCount();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//public static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/>
          </a:p>
          <a:p>
            <a:pPr marL="84138" lvl="1" indent="0">
              <a:buNone/>
              <a:defRPr/>
            </a:pPr>
            <a:endParaRPr lang="en-US" b="1" dirty="0"/>
          </a:p>
          <a:p>
            <a:pPr marL="541338" lvl="1" indent="-457200">
              <a:defRPr/>
            </a:pPr>
            <a:endParaRPr lang="en-US" b="1" dirty="0"/>
          </a:p>
          <a:p>
            <a:pPr marL="541338" lvl="1" indent="-457200">
              <a:defRPr/>
            </a:pPr>
            <a:endParaRPr lang="en-US" b="1" dirty="0"/>
          </a:p>
          <a:p>
            <a:pPr lvl="1">
              <a:defRPr/>
            </a:pPr>
            <a:endParaRPr lang="en-US" dirty="0"/>
          </a:p>
          <a:p>
            <a:pPr lvl="4">
              <a:buFontTx/>
              <a:buNone/>
              <a:defRPr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4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906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Private static Class Variables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756" y="1023796"/>
            <a:ext cx="9144000" cy="56388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fontScale="92500" lnSpcReduction="10000"/>
          </a:bodyPr>
          <a:lstStyle/>
          <a:p>
            <a:pPr marL="541338" lvl="1" indent="-457200">
              <a:defRPr/>
            </a:pPr>
            <a:r>
              <a:rPr lang="en-US" sz="3000" b="1" u="sng" dirty="0">
                <a:solidFill>
                  <a:srgbClr val="D20000"/>
                </a:solidFill>
                <a:latin typeface="+mj-lt"/>
              </a:rPr>
              <a:t>Cannot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b="1" dirty="0">
                <a:latin typeface="+mj-lt"/>
              </a:rPr>
              <a:t>be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accessed</a:t>
            </a:r>
            <a:r>
              <a:rPr lang="en-US" sz="3000" b="1" dirty="0">
                <a:latin typeface="+mj-lt"/>
              </a:rPr>
              <a:t> </a:t>
            </a:r>
            <a:r>
              <a:rPr lang="en-US" sz="3000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 name:</a:t>
            </a:r>
            <a:endParaRPr lang="en-US" sz="3000" dirty="0">
              <a:latin typeface="+mj-lt"/>
            </a:endParaRPr>
          </a:p>
          <a:p>
            <a:pPr marL="84138" lvl="1" indent="0">
              <a:buNone/>
              <a:defRPr/>
            </a:pPr>
            <a:r>
              <a:rPr lang="en-US" sz="3000" b="1" dirty="0">
                <a:latin typeface="+mj-lt"/>
              </a:rPr>
              <a:t>      </a:t>
            </a:r>
            <a:r>
              <a:rPr lang="en-US" b="1" dirty="0">
                <a:latin typeface="+mj-lt"/>
              </a:rPr>
              <a:t> </a:t>
            </a:r>
            <a:r>
              <a:rPr lang="en-US" b="1" dirty="0">
                <a:solidFill>
                  <a:srgbClr val="D20000"/>
                </a:solidFill>
                <a:latin typeface="+mj-lt"/>
              </a:rPr>
              <a:t>// ERROR </a:t>
            </a:r>
            <a:r>
              <a:rPr lang="en-US" b="1" dirty="0">
                <a:solidFill>
                  <a:srgbClr val="D20000"/>
                </a:solidFill>
                <a:latin typeface="+mj-lt"/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2800" b="1" dirty="0" err="1">
                <a:latin typeface="Consolas" panose="020B0609020204030204" pitchFamily="49" charset="0"/>
              </a:rPr>
              <a:t>cout</a:t>
            </a:r>
            <a:r>
              <a:rPr lang="en-US" sz="2800" b="1" dirty="0">
                <a:latin typeface="Consolas" panose="020B0609020204030204" pitchFamily="49" charset="0"/>
              </a:rPr>
              <a:t>&lt;&lt;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Employee::count;</a:t>
            </a:r>
          </a:p>
          <a:p>
            <a:pPr lvl="4">
              <a:buFontTx/>
              <a:buNone/>
              <a:defRPr/>
            </a:pP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541338" lvl="1" indent="-457200">
              <a:defRPr/>
            </a:pPr>
            <a:r>
              <a:rPr lang="en-US" sz="3000" b="1" u="sng" dirty="0">
                <a:solidFill>
                  <a:srgbClr val="D20000"/>
                </a:solidFill>
              </a:rPr>
              <a:t>Cannot</a:t>
            </a:r>
            <a:r>
              <a:rPr lang="en-US" sz="3000" dirty="0">
                <a:solidFill>
                  <a:srgbClr val="D20000"/>
                </a:solidFill>
              </a:rPr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</a:t>
            </a:r>
            <a:r>
              <a:rPr lang="en-US" sz="3000" b="1" dirty="0">
                <a:solidFill>
                  <a:srgbClr val="2C14DE"/>
                </a:solidFill>
              </a:rPr>
              <a:t>class' object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D20000"/>
                </a:solidFill>
              </a:rPr>
              <a:t>// ERROR </a:t>
            </a:r>
            <a:r>
              <a:rPr lang="en-US" b="1" dirty="0">
                <a:solidFill>
                  <a:srgbClr val="D20000"/>
                </a:solidFill>
                <a:sym typeface="Wingdings" panose="05000000000000000000" pitchFamily="2" charset="2"/>
              </a:rPr>
              <a:t>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e1.count;</a:t>
            </a:r>
          </a:p>
          <a:p>
            <a:pPr marL="84138" lvl="1" indent="0">
              <a:buNone/>
              <a:defRPr/>
            </a:pPr>
            <a:endParaRPr lang="en-US" b="1" dirty="0"/>
          </a:p>
          <a:p>
            <a:pPr marL="541338" lvl="1" indent="-457200">
              <a:defRPr/>
            </a:pPr>
            <a:r>
              <a:rPr lang="en-US" sz="3000" b="1" dirty="0"/>
              <a:t>Can</a:t>
            </a:r>
            <a:r>
              <a:rPr lang="en-US" sz="3000" dirty="0"/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</a:t>
            </a:r>
            <a:r>
              <a:rPr lang="en-US" sz="3000" b="1" dirty="0">
                <a:solidFill>
                  <a:srgbClr val="2C14DE"/>
                </a:solidFill>
              </a:rPr>
              <a:t>Non-Static</a:t>
            </a:r>
            <a:r>
              <a:rPr lang="en-US" sz="3000" b="1" dirty="0"/>
              <a:t> member </a:t>
            </a:r>
            <a:r>
              <a:rPr lang="en-US" sz="3000" b="1" dirty="0">
                <a:solidFill>
                  <a:srgbClr val="2C14DE"/>
                </a:solidFill>
              </a:rPr>
              <a:t>functions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   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e1.getCount();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/>
          </a:p>
          <a:p>
            <a:pPr marL="541338" lvl="1" indent="-457200">
              <a:defRPr/>
            </a:pPr>
            <a:r>
              <a:rPr lang="en-US" sz="3000" b="1" dirty="0"/>
              <a:t>Can</a:t>
            </a:r>
            <a:r>
              <a:rPr lang="en-US" sz="3000" dirty="0"/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</a:t>
            </a:r>
            <a:r>
              <a:rPr lang="en-US" sz="3000" b="1" dirty="0">
                <a:solidFill>
                  <a:srgbClr val="2C14DE"/>
                </a:solidFill>
              </a:rPr>
              <a:t>Static</a:t>
            </a:r>
            <a:r>
              <a:rPr lang="en-US" sz="3000" b="1" dirty="0"/>
              <a:t> member </a:t>
            </a:r>
            <a:r>
              <a:rPr lang="en-US" sz="3000" b="1" dirty="0">
                <a:solidFill>
                  <a:srgbClr val="2C14DE"/>
                </a:solidFill>
              </a:rPr>
              <a:t>functions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Stat_getCount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e1.Stat_getCount();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//public static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/>
          </a:p>
          <a:p>
            <a:pPr marL="84138" lvl="1" indent="0">
              <a:buNone/>
              <a:defRPr/>
            </a:pPr>
            <a:endParaRPr lang="en-US" b="1" dirty="0"/>
          </a:p>
          <a:p>
            <a:pPr marL="541338" lvl="1" indent="-457200">
              <a:defRPr/>
            </a:pPr>
            <a:endParaRPr lang="en-US" b="1" dirty="0"/>
          </a:p>
          <a:p>
            <a:pPr marL="541338" lvl="1" indent="-457200">
              <a:defRPr/>
            </a:pPr>
            <a:endParaRPr lang="en-US" b="1" dirty="0"/>
          </a:p>
          <a:p>
            <a:pPr lvl="1">
              <a:defRPr/>
            </a:pPr>
            <a:endParaRPr lang="en-US" dirty="0"/>
          </a:p>
          <a:p>
            <a:pPr lvl="4">
              <a:buFontTx/>
              <a:buNone/>
              <a:defRPr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5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952500" y="38100"/>
            <a:ext cx="8153400" cy="829733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  <a:latin typeface="Courier New" charset="0"/>
                <a:cs typeface="+mj-cs"/>
              </a:rPr>
              <a:t>static</a:t>
            </a:r>
            <a:r>
              <a:rPr lang="en-US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en-US" b="1" dirty="0">
                <a:solidFill>
                  <a:srgbClr val="B80000"/>
                </a:solidFill>
                <a:cs typeface="+mj-cs"/>
              </a:rPr>
              <a:t>Class Functions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9535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Non-static function:</a:t>
            </a:r>
          </a:p>
          <a:p>
            <a:pPr marL="442913" lvl="1" indent="-263525" algn="just">
              <a:defRPr/>
            </a:pPr>
            <a:r>
              <a:rPr lang="en-US" sz="3000" b="1" dirty="0">
                <a:solidFill>
                  <a:srgbClr val="2C14DE"/>
                </a:solidFill>
              </a:rPr>
              <a:t>Can access:</a:t>
            </a:r>
            <a:r>
              <a:rPr lang="en-US" sz="3000" dirty="0"/>
              <a:t> </a:t>
            </a:r>
            <a:r>
              <a:rPr lang="en-US" sz="3000" b="1" u="sng" dirty="0">
                <a:solidFill>
                  <a:srgbClr val="008000"/>
                </a:solidFill>
              </a:rPr>
              <a:t>static/non-static data</a:t>
            </a:r>
            <a:r>
              <a:rPr lang="en-US" sz="3000" dirty="0"/>
              <a:t> </a:t>
            </a:r>
            <a:r>
              <a:rPr lang="en-US" sz="3000" b="1" dirty="0"/>
              <a:t>members</a:t>
            </a:r>
            <a:r>
              <a:rPr lang="en-US" sz="3000" dirty="0"/>
              <a:t> and </a:t>
            </a:r>
            <a:r>
              <a:rPr lang="en-US" sz="3000" b="1" u="sng" dirty="0">
                <a:solidFill>
                  <a:srgbClr val="008000"/>
                </a:solidFill>
              </a:rPr>
              <a:t>static/non-static methods</a:t>
            </a:r>
          </a:p>
          <a:p>
            <a:pPr lvl="1" algn="just">
              <a:defRPr/>
            </a:pPr>
            <a:endParaRPr lang="en-US" sz="3000" b="1" dirty="0">
              <a:solidFill>
                <a:srgbClr val="2C14DE"/>
              </a:solidFill>
            </a:endParaRPr>
          </a:p>
          <a:p>
            <a:pPr lvl="1" algn="just">
              <a:defRPr/>
            </a:pPr>
            <a:endParaRPr lang="en-US" sz="3000" b="1" dirty="0">
              <a:solidFill>
                <a:srgbClr val="2C14DE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Static functions:</a:t>
            </a:r>
          </a:p>
          <a:p>
            <a:pPr marL="442913" lvl="1" indent="-263525">
              <a:defRPr/>
            </a:pPr>
            <a:r>
              <a:rPr lang="en-US" sz="3000" b="1" dirty="0">
                <a:solidFill>
                  <a:srgbClr val="2C14DE"/>
                </a:solidFill>
                <a:latin typeface="+mj-lt"/>
              </a:rPr>
              <a:t>Can access: </a:t>
            </a:r>
            <a:r>
              <a:rPr lang="en-US" sz="3000" b="1" u="sng" dirty="0">
                <a:solidFill>
                  <a:srgbClr val="008000"/>
                </a:solidFill>
                <a:latin typeface="+mj-lt"/>
              </a:rPr>
              <a:t>static data</a:t>
            </a:r>
            <a:r>
              <a:rPr lang="en-US" sz="3000" b="1" dirty="0">
                <a:solidFill>
                  <a:srgbClr val="008000"/>
                </a:solidFill>
                <a:latin typeface="+mj-lt"/>
              </a:rPr>
              <a:t> </a:t>
            </a:r>
            <a:r>
              <a:rPr lang="en-US" sz="3000" b="1" dirty="0">
                <a:latin typeface="+mj-lt"/>
              </a:rPr>
              <a:t>and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3000" b="1" u="sng" dirty="0">
                <a:solidFill>
                  <a:srgbClr val="008000"/>
                </a:solidFill>
                <a:latin typeface="+mj-lt"/>
              </a:rPr>
              <a:t>static functions</a:t>
            </a:r>
          </a:p>
          <a:p>
            <a:pPr marL="442913" lvl="1" indent="-263525">
              <a:defRPr/>
            </a:pPr>
            <a:r>
              <a:rPr lang="en-US" sz="3000" b="1" u="sng" dirty="0">
                <a:solidFill>
                  <a:srgbClr val="D20000"/>
                </a:solidFill>
                <a:latin typeface="+mj-lt"/>
              </a:rPr>
              <a:t>Cannot access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:  </a:t>
            </a:r>
            <a:r>
              <a:rPr lang="en-US" sz="3000" b="1" dirty="0">
                <a:solidFill>
                  <a:srgbClr val="FF0000"/>
                </a:solidFill>
                <a:latin typeface="+mj-lt"/>
              </a:rPr>
              <a:t>non-static</a:t>
            </a:r>
            <a:r>
              <a:rPr lang="en-US" sz="3000" b="1" dirty="0">
                <a:latin typeface="+mj-lt"/>
              </a:rPr>
              <a:t> data, </a:t>
            </a:r>
            <a:r>
              <a:rPr lang="en-US" sz="3000" b="1" dirty="0">
                <a:solidFill>
                  <a:srgbClr val="FF0000"/>
                </a:solidFill>
                <a:latin typeface="+mj-lt"/>
              </a:rPr>
              <a:t>non-static </a:t>
            </a:r>
            <a:r>
              <a:rPr lang="en-US" sz="3000" b="1" dirty="0">
                <a:latin typeface="+mj-lt"/>
              </a:rPr>
              <a:t>functions, and </a:t>
            </a:r>
            <a:r>
              <a:rPr lang="en-US" sz="3000" b="1" dirty="0">
                <a:solidFill>
                  <a:srgbClr val="FF0000"/>
                </a:solidFill>
                <a:latin typeface="+mj-lt"/>
              </a:rPr>
              <a:t>this</a:t>
            </a:r>
            <a:r>
              <a:rPr lang="en-US" sz="3000" b="1" dirty="0">
                <a:latin typeface="+mj-lt"/>
              </a:rPr>
              <a:t> pointer</a:t>
            </a: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411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" y="37707"/>
            <a:ext cx="9105900" cy="907174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FF0000"/>
                </a:solidFill>
                <a:latin typeface="Courier New" charset="0"/>
              </a:rPr>
              <a:t>Public static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>
                <a:solidFill>
                  <a:srgbClr val="B80000"/>
                </a:solidFill>
              </a:rPr>
              <a:t>Class Functions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 marL="0" lvl="1" indent="0">
              <a:defRPr/>
            </a:pPr>
            <a:r>
              <a:rPr lang="en-US" sz="3000" b="1" dirty="0">
                <a:solidFill>
                  <a:srgbClr val="2C14DE"/>
                </a:solidFill>
                <a:latin typeface="+mj-lt"/>
              </a:rPr>
              <a:t>Can be invoked </a:t>
            </a:r>
            <a:r>
              <a:rPr lang="en-US" sz="3000" b="1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class’s any object:</a:t>
            </a:r>
          </a:p>
          <a:p>
            <a:pPr marL="0" lvl="2" indent="0">
              <a:buNone/>
              <a:defRPr/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</a:t>
            </a:r>
            <a:r>
              <a:rPr lang="en-US" sz="3000" b="1" dirty="0" err="1">
                <a:latin typeface="Consolas" panose="020B0609020204030204" pitchFamily="49" charset="0"/>
              </a:rPr>
              <a:t>cout</a:t>
            </a:r>
            <a:r>
              <a:rPr lang="en-US" sz="3000" b="1" dirty="0">
                <a:latin typeface="Consolas" panose="020B0609020204030204" pitchFamily="49" charset="0"/>
              </a:rPr>
              <a:t>&lt;&lt;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e1.getCount();</a:t>
            </a:r>
          </a:p>
          <a:p>
            <a:pPr marL="0" lvl="2" indent="0">
              <a:buNone/>
              <a:defRPr/>
            </a:pP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lvl="1" indent="0">
              <a:defRPr/>
            </a:pPr>
            <a:r>
              <a:rPr lang="en-US" sz="3000" b="1" dirty="0">
                <a:solidFill>
                  <a:srgbClr val="2C14DE"/>
                </a:solidFill>
                <a:latin typeface="+mj-lt"/>
              </a:rPr>
              <a:t>Can be invoked </a:t>
            </a:r>
            <a:r>
              <a:rPr lang="en-US" sz="3000" b="1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 name:</a:t>
            </a:r>
          </a:p>
          <a:p>
            <a:pPr marL="0" lvl="2" indent="0">
              <a:buNone/>
              <a:defRPr/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     </a:t>
            </a:r>
            <a:r>
              <a:rPr lang="en-US" sz="3000" b="1" dirty="0" err="1">
                <a:latin typeface="Consolas" panose="020B0609020204030204" pitchFamily="49" charset="0"/>
              </a:rPr>
              <a:t>cout</a:t>
            </a:r>
            <a:r>
              <a:rPr lang="en-US" sz="3000" b="1" dirty="0">
                <a:latin typeface="Consolas" panose="020B0609020204030204" pitchFamily="49" charset="0"/>
              </a:rPr>
              <a:t>&lt;&lt;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</a:t>
            </a:r>
            <a:r>
              <a:rPr lang="en-US" sz="3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getCount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B8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B8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3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" y="37707"/>
            <a:ext cx="9105900" cy="907174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FF0000"/>
                </a:solidFill>
                <a:latin typeface="Courier New" charset="0"/>
              </a:rPr>
              <a:t>Private static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>
                <a:solidFill>
                  <a:srgbClr val="B80000"/>
                </a:solidFill>
              </a:rPr>
              <a:t>Class Functions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 marL="0" lvl="1" indent="0">
              <a:defRPr/>
            </a:pP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Cannot be invoked </a:t>
            </a:r>
            <a:r>
              <a:rPr lang="en-US" sz="3000" b="1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class’s object</a:t>
            </a:r>
          </a:p>
          <a:p>
            <a:pPr marL="0" lvl="2" indent="0">
              <a:buNone/>
              <a:defRPr/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 //ERROR 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sz="3000" b="1" dirty="0" err="1">
                <a:latin typeface="Consolas" panose="020B0609020204030204" pitchFamily="49" charset="0"/>
              </a:rPr>
              <a:t>cout</a:t>
            </a:r>
            <a:r>
              <a:rPr lang="en-US" sz="3000" b="1" dirty="0">
                <a:latin typeface="Consolas" panose="020B0609020204030204" pitchFamily="49" charset="0"/>
              </a:rPr>
              <a:t>&lt;&lt;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e1.getCount();</a:t>
            </a:r>
          </a:p>
          <a:p>
            <a:pPr marL="0" lvl="2" indent="0">
              <a:buNone/>
              <a:defRPr/>
            </a:pP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lvl="1" indent="0">
              <a:defRPr/>
            </a:pP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Cannot be invoked </a:t>
            </a:r>
            <a:r>
              <a:rPr lang="en-US" sz="3000" b="1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 name</a:t>
            </a:r>
          </a:p>
          <a:p>
            <a:pPr marL="0" lvl="2" indent="0">
              <a:buNone/>
              <a:defRPr/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 //ERROR 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sz="3000" b="1" dirty="0" err="1">
                <a:latin typeface="Consolas" panose="020B0609020204030204" pitchFamily="49" charset="0"/>
              </a:rPr>
              <a:t>cout</a:t>
            </a:r>
            <a:r>
              <a:rPr lang="en-US" sz="3000" b="1" dirty="0">
                <a:latin typeface="Consolas" panose="020B0609020204030204" pitchFamily="49" charset="0"/>
              </a:rPr>
              <a:t>&lt;&lt;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</a:t>
            </a:r>
            <a:r>
              <a:rPr lang="en-US" sz="3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getCount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</a:p>
          <a:p>
            <a:pPr marL="0" lvl="2" indent="0">
              <a:buNone/>
              <a:defRPr/>
            </a:pPr>
            <a:endParaRPr lang="en-US" sz="30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lvl="1" indent="0">
              <a:defRPr/>
            </a:pPr>
            <a:r>
              <a:rPr lang="en-US" sz="3000" b="1" dirty="0">
                <a:solidFill>
                  <a:srgbClr val="2C14DE"/>
                </a:solidFill>
              </a:rPr>
              <a:t>Can be invoked </a:t>
            </a:r>
            <a:r>
              <a:rPr lang="en-US" sz="3000" b="1" u="sng" dirty="0"/>
              <a:t>within Class</a:t>
            </a:r>
            <a:r>
              <a:rPr lang="en-US" sz="3000" b="1" dirty="0"/>
              <a:t>:</a:t>
            </a:r>
          </a:p>
          <a:p>
            <a:pPr marL="400050" lvl="2" indent="0">
              <a:defRPr/>
            </a:pPr>
            <a:r>
              <a:rPr lang="en-US" sz="3000" b="1" dirty="0">
                <a:latin typeface="+mj-lt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Static</a:t>
            </a:r>
            <a:r>
              <a:rPr lang="en-US" sz="3000" b="1" dirty="0">
                <a:latin typeface="+mj-lt"/>
              </a:rPr>
              <a:t> member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functions</a:t>
            </a:r>
          </a:p>
          <a:p>
            <a:pPr marL="400050" lvl="2" indent="0">
              <a:defRPr/>
            </a:pPr>
            <a:r>
              <a:rPr lang="en-US" sz="3000" b="1" dirty="0">
                <a:latin typeface="+mj-lt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Non-Static</a:t>
            </a:r>
            <a:r>
              <a:rPr lang="en-US" sz="3000" b="1" dirty="0">
                <a:latin typeface="+mj-lt"/>
              </a:rPr>
              <a:t> member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functions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B8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B8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1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3"/>
          <p:cNvGrpSpPr>
            <a:grpSpLocks/>
          </p:cNvGrpSpPr>
          <p:nvPr/>
        </p:nvGrpSpPr>
        <p:grpSpPr bwMode="auto">
          <a:xfrm>
            <a:off x="0" y="0"/>
            <a:ext cx="6705600" cy="6858000"/>
            <a:chOff x="0" y="0"/>
            <a:chExt cx="3072" cy="8976"/>
          </a:xfrm>
        </p:grpSpPr>
        <p:grpSp>
          <p:nvGrpSpPr>
            <p:cNvPr id="30727" name="Group 4"/>
            <p:cNvGrpSpPr>
              <a:grpSpLocks/>
            </p:cNvGrpSpPr>
            <p:nvPr/>
          </p:nvGrpSpPr>
          <p:grpSpPr bwMode="auto">
            <a:xfrm>
              <a:off x="0" y="0"/>
              <a:ext cx="3072" cy="374"/>
              <a:chOff x="0" y="0"/>
              <a:chExt cx="3072" cy="374"/>
            </a:xfrm>
          </p:grpSpPr>
          <p:sp>
            <p:nvSpPr>
              <p:cNvPr id="30797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98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Fig. 7.9: employ1.h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28" name="Group 7"/>
            <p:cNvGrpSpPr>
              <a:grpSpLocks/>
            </p:cNvGrpSpPr>
            <p:nvPr/>
          </p:nvGrpSpPr>
          <p:grpSpPr bwMode="auto">
            <a:xfrm>
              <a:off x="0" y="374"/>
              <a:ext cx="3072" cy="374"/>
              <a:chOff x="0" y="374"/>
              <a:chExt cx="3072" cy="374"/>
            </a:xfrm>
          </p:grpSpPr>
          <p:sp>
            <p:nvSpPr>
              <p:cNvPr id="30795" name="Rectangle 8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96" name="Rectangle 9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An employee class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29" name="Group 10"/>
            <p:cNvGrpSpPr>
              <a:grpSpLocks/>
            </p:cNvGrpSpPr>
            <p:nvPr/>
          </p:nvGrpSpPr>
          <p:grpSpPr bwMode="auto">
            <a:xfrm>
              <a:off x="0" y="748"/>
              <a:ext cx="3072" cy="374"/>
              <a:chOff x="0" y="748"/>
              <a:chExt cx="3072" cy="374"/>
            </a:xfrm>
          </p:grpSpPr>
          <p:sp>
            <p:nvSpPr>
              <p:cNvPr id="30793" name="Rectangle 11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94" name="Rectangle 12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#ifndef</a:t>
                </a:r>
                <a:r>
                  <a:rPr lang="en-US" sz="1200" b="1">
                    <a:latin typeface="Courier New" panose="02070309020205020404" pitchFamily="49" charset="0"/>
                  </a:rPr>
                  <a:t> EMPLOY1_H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30" name="Group 13"/>
            <p:cNvGrpSpPr>
              <a:grpSpLocks/>
            </p:cNvGrpSpPr>
            <p:nvPr/>
          </p:nvGrpSpPr>
          <p:grpSpPr bwMode="auto">
            <a:xfrm>
              <a:off x="0" y="1122"/>
              <a:ext cx="3072" cy="374"/>
              <a:chOff x="0" y="1122"/>
              <a:chExt cx="3072" cy="374"/>
            </a:xfrm>
          </p:grpSpPr>
          <p:sp>
            <p:nvSpPr>
              <p:cNvPr id="30791" name="Rectangle 14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92" name="Rectangle 15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4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#define</a:t>
                </a:r>
                <a:r>
                  <a:rPr lang="en-US" sz="1200" b="1">
                    <a:latin typeface="Courier New" panose="02070309020205020404" pitchFamily="49" charset="0"/>
                  </a:rPr>
                  <a:t> EMPLOY1_H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31" name="Group 16"/>
            <p:cNvGrpSpPr>
              <a:grpSpLocks/>
            </p:cNvGrpSpPr>
            <p:nvPr/>
          </p:nvGrpSpPr>
          <p:grpSpPr bwMode="auto">
            <a:xfrm>
              <a:off x="0" y="1496"/>
              <a:ext cx="3072" cy="374"/>
              <a:chOff x="0" y="1496"/>
              <a:chExt cx="3072" cy="374"/>
            </a:xfrm>
          </p:grpSpPr>
          <p:sp>
            <p:nvSpPr>
              <p:cNvPr id="30789" name="Rectangle 17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90" name="Rectangle 18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5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32" name="Group 19"/>
            <p:cNvGrpSpPr>
              <a:grpSpLocks/>
            </p:cNvGrpSpPr>
            <p:nvPr/>
          </p:nvGrpSpPr>
          <p:grpSpPr bwMode="auto">
            <a:xfrm>
              <a:off x="0" y="1870"/>
              <a:ext cx="3072" cy="374"/>
              <a:chOff x="0" y="1870"/>
              <a:chExt cx="3072" cy="374"/>
            </a:xfrm>
          </p:grpSpPr>
          <p:sp>
            <p:nvSpPr>
              <p:cNvPr id="30787" name="Rectangle 20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88" name="Rectangle 21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class</a:t>
                </a:r>
                <a:r>
                  <a:rPr lang="en-US" sz="1200" b="1">
                    <a:latin typeface="Courier New" panose="02070309020205020404" pitchFamily="49" charset="0"/>
                  </a:rPr>
                  <a:t> Employee 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33" name="Group 22"/>
            <p:cNvGrpSpPr>
              <a:grpSpLocks/>
            </p:cNvGrpSpPr>
            <p:nvPr/>
          </p:nvGrpSpPr>
          <p:grpSpPr bwMode="auto">
            <a:xfrm>
              <a:off x="0" y="2244"/>
              <a:ext cx="3072" cy="374"/>
              <a:chOff x="0" y="2244"/>
              <a:chExt cx="3072" cy="374"/>
            </a:xfrm>
          </p:grpSpPr>
          <p:sp>
            <p:nvSpPr>
              <p:cNvPr id="30785" name="Rectangle 23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86" name="Rectangle 24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public: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34" name="Group 25"/>
            <p:cNvGrpSpPr>
              <a:grpSpLocks/>
            </p:cNvGrpSpPr>
            <p:nvPr/>
          </p:nvGrpSpPr>
          <p:grpSpPr bwMode="auto">
            <a:xfrm>
              <a:off x="0" y="2618"/>
              <a:ext cx="3072" cy="374"/>
              <a:chOff x="0" y="2618"/>
              <a:chExt cx="3072" cy="374"/>
            </a:xfrm>
          </p:grpSpPr>
          <p:sp>
            <p:nvSpPr>
              <p:cNvPr id="30783" name="Rectangle 26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84" name="Rectangle 27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	</a:t>
                </a:r>
                <a:r>
                  <a:rPr lang="en-US" sz="1200" b="1">
                    <a:latin typeface="Courier New" panose="02070309020205020404" pitchFamily="49" charset="0"/>
                  </a:rPr>
                  <a:t>   Employee(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 char</a:t>
                </a:r>
                <a:r>
                  <a:rPr lang="en-US" sz="1200" b="1">
                    <a:latin typeface="Courier New" panose="02070309020205020404" pitchFamily="49" charset="0"/>
                  </a:rPr>
                  <a:t>*,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 char</a:t>
                </a:r>
                <a:r>
                  <a:rPr lang="en-US" sz="1200" b="1">
                    <a:latin typeface="Courier New" panose="02070309020205020404" pitchFamily="49" charset="0"/>
                  </a:rPr>
                  <a:t>* );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constructor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35" name="Group 28"/>
            <p:cNvGrpSpPr>
              <a:grpSpLocks/>
            </p:cNvGrpSpPr>
            <p:nvPr/>
          </p:nvGrpSpPr>
          <p:grpSpPr bwMode="auto">
            <a:xfrm>
              <a:off x="0" y="2992"/>
              <a:ext cx="3072" cy="374"/>
              <a:chOff x="0" y="2992"/>
              <a:chExt cx="3072" cy="374"/>
            </a:xfrm>
          </p:grpSpPr>
          <p:sp>
            <p:nvSpPr>
              <p:cNvPr id="30781" name="Rectangle 29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82" name="Rectangle 30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	</a:t>
                </a:r>
                <a:r>
                  <a:rPr lang="en-US" sz="1200" b="1">
                    <a:latin typeface="Courier New" panose="02070309020205020404" pitchFamily="49" charset="0"/>
                  </a:rPr>
                  <a:t>   ~Employee();                  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 // destructor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36" name="Group 31"/>
            <p:cNvGrpSpPr>
              <a:grpSpLocks/>
            </p:cNvGrpSpPr>
            <p:nvPr/>
          </p:nvGrpSpPr>
          <p:grpSpPr bwMode="auto">
            <a:xfrm>
              <a:off x="0" y="3366"/>
              <a:ext cx="3072" cy="374"/>
              <a:chOff x="0" y="3366"/>
              <a:chExt cx="3072" cy="374"/>
            </a:xfrm>
          </p:grpSpPr>
          <p:sp>
            <p:nvSpPr>
              <p:cNvPr id="30779" name="Rectangle 32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80" name="Rectangle 33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 char</a:t>
                </a:r>
                <a:r>
                  <a:rPr lang="en-US" sz="1200" b="1">
                    <a:latin typeface="Courier New" panose="02070309020205020404" pitchFamily="49" charset="0"/>
                  </a:rPr>
                  <a:t> *getFirstName()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r>
                  <a:rPr lang="en-US" sz="1200" b="1">
                    <a:latin typeface="Courier New" panose="02070309020205020404" pitchFamily="49" charset="0"/>
                  </a:rPr>
                  <a:t>;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return first name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37" name="Group 34"/>
            <p:cNvGrpSpPr>
              <a:grpSpLocks/>
            </p:cNvGrpSpPr>
            <p:nvPr/>
          </p:nvGrpSpPr>
          <p:grpSpPr bwMode="auto">
            <a:xfrm>
              <a:off x="0" y="3740"/>
              <a:ext cx="3072" cy="374"/>
              <a:chOff x="0" y="3740"/>
              <a:chExt cx="3072" cy="374"/>
            </a:xfrm>
          </p:grpSpPr>
          <p:sp>
            <p:nvSpPr>
              <p:cNvPr id="30777" name="Rectangle 35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78" name="Rectangle 36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 char</a:t>
                </a:r>
                <a:r>
                  <a:rPr lang="en-US" sz="1200" b="1">
                    <a:latin typeface="Courier New" panose="02070309020205020404" pitchFamily="49" charset="0"/>
                  </a:rPr>
                  <a:t> *getLastName()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r>
                  <a:rPr lang="en-US" sz="1200" b="1">
                    <a:latin typeface="Courier New" panose="02070309020205020404" pitchFamily="49" charset="0"/>
                  </a:rPr>
                  <a:t>;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return last name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38" name="Group 37"/>
            <p:cNvGrpSpPr>
              <a:grpSpLocks/>
            </p:cNvGrpSpPr>
            <p:nvPr/>
          </p:nvGrpSpPr>
          <p:grpSpPr bwMode="auto">
            <a:xfrm>
              <a:off x="0" y="4114"/>
              <a:ext cx="3072" cy="374"/>
              <a:chOff x="0" y="4114"/>
              <a:chExt cx="3072" cy="374"/>
            </a:xfrm>
          </p:grpSpPr>
          <p:sp>
            <p:nvSpPr>
              <p:cNvPr id="30775" name="Rectangle 38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76" name="Rectangle 39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39" name="Group 40"/>
            <p:cNvGrpSpPr>
              <a:grpSpLocks/>
            </p:cNvGrpSpPr>
            <p:nvPr/>
          </p:nvGrpSpPr>
          <p:grpSpPr bwMode="auto">
            <a:xfrm>
              <a:off x="0" y="4488"/>
              <a:ext cx="3072" cy="374"/>
              <a:chOff x="0" y="4488"/>
              <a:chExt cx="3072" cy="374"/>
            </a:xfrm>
          </p:grpSpPr>
          <p:sp>
            <p:nvSpPr>
              <p:cNvPr id="30773" name="Rectangle 41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74" name="Rectangle 42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13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  // static member function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40" name="Group 43"/>
            <p:cNvGrpSpPr>
              <a:grpSpLocks/>
            </p:cNvGrpSpPr>
            <p:nvPr/>
          </p:nvGrpSpPr>
          <p:grpSpPr bwMode="auto">
            <a:xfrm>
              <a:off x="0" y="4862"/>
              <a:ext cx="3072" cy="374"/>
              <a:chOff x="0" y="4862"/>
              <a:chExt cx="3072" cy="374"/>
            </a:xfrm>
          </p:grpSpPr>
          <p:sp>
            <p:nvSpPr>
              <p:cNvPr id="30771" name="Rectangle 44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72" name="Rectangle 45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14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  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static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</a:t>
                </a:r>
                <a:r>
                  <a:rPr lang="en-US" sz="1200" b="1" dirty="0" err="1">
                    <a:latin typeface="Courier New" panose="02070309020205020404" pitchFamily="49" charset="0"/>
                  </a:rPr>
                  <a:t>getCount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();  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return # objects instantiated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41" name="Group 46"/>
            <p:cNvGrpSpPr>
              <a:grpSpLocks/>
            </p:cNvGrpSpPr>
            <p:nvPr/>
          </p:nvGrpSpPr>
          <p:grpSpPr bwMode="auto">
            <a:xfrm>
              <a:off x="0" y="5236"/>
              <a:ext cx="3072" cy="374"/>
              <a:chOff x="0" y="5236"/>
              <a:chExt cx="3072" cy="374"/>
            </a:xfrm>
          </p:grpSpPr>
          <p:sp>
            <p:nvSpPr>
              <p:cNvPr id="30769" name="Rectangle 47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70" name="Rectangle 48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15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42" name="Group 49"/>
            <p:cNvGrpSpPr>
              <a:grpSpLocks/>
            </p:cNvGrpSpPr>
            <p:nvPr/>
          </p:nvGrpSpPr>
          <p:grpSpPr bwMode="auto">
            <a:xfrm>
              <a:off x="0" y="5610"/>
              <a:ext cx="3072" cy="374"/>
              <a:chOff x="0" y="5610"/>
              <a:chExt cx="3072" cy="374"/>
            </a:xfrm>
          </p:grpSpPr>
          <p:sp>
            <p:nvSpPr>
              <p:cNvPr id="30767" name="Rectangle 50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68" name="Rectangle 51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16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private: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43" name="Group 52"/>
            <p:cNvGrpSpPr>
              <a:grpSpLocks/>
            </p:cNvGrpSpPr>
            <p:nvPr/>
          </p:nvGrpSpPr>
          <p:grpSpPr bwMode="auto">
            <a:xfrm>
              <a:off x="0" y="5984"/>
              <a:ext cx="3072" cy="374"/>
              <a:chOff x="0" y="5984"/>
              <a:chExt cx="3072" cy="374"/>
            </a:xfrm>
          </p:grpSpPr>
          <p:sp>
            <p:nvSpPr>
              <p:cNvPr id="30765" name="Rectangle 53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66" name="Rectangle 54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17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char</a:t>
                </a:r>
                <a:r>
                  <a:rPr lang="en-US" sz="1200" b="1">
                    <a:latin typeface="Courier New" panose="02070309020205020404" pitchFamily="49" charset="0"/>
                  </a:rPr>
                  <a:t> *firstName;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44" name="Group 55"/>
            <p:cNvGrpSpPr>
              <a:grpSpLocks/>
            </p:cNvGrpSpPr>
            <p:nvPr/>
          </p:nvGrpSpPr>
          <p:grpSpPr bwMode="auto">
            <a:xfrm>
              <a:off x="0" y="6358"/>
              <a:ext cx="3072" cy="374"/>
              <a:chOff x="0" y="6358"/>
              <a:chExt cx="3072" cy="374"/>
            </a:xfrm>
          </p:grpSpPr>
          <p:sp>
            <p:nvSpPr>
              <p:cNvPr id="30763" name="Rectangle 56"/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64" name="Rectangle 57"/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18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char</a:t>
                </a:r>
                <a:r>
                  <a:rPr lang="en-US" sz="1200" b="1">
                    <a:latin typeface="Courier New" panose="02070309020205020404" pitchFamily="49" charset="0"/>
                  </a:rPr>
                  <a:t> *lastName;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45" name="Group 58"/>
            <p:cNvGrpSpPr>
              <a:grpSpLocks/>
            </p:cNvGrpSpPr>
            <p:nvPr/>
          </p:nvGrpSpPr>
          <p:grpSpPr bwMode="auto">
            <a:xfrm>
              <a:off x="0" y="6732"/>
              <a:ext cx="3072" cy="374"/>
              <a:chOff x="0" y="6732"/>
              <a:chExt cx="3072" cy="374"/>
            </a:xfrm>
          </p:grpSpPr>
          <p:sp>
            <p:nvSpPr>
              <p:cNvPr id="30761" name="Rectangle 59"/>
              <p:cNvSpPr>
                <a:spLocks noChangeArrowheads="1"/>
              </p:cNvSpPr>
              <p:nvPr/>
            </p:nvSpPr>
            <p:spPr bwMode="auto"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62" name="Rectangle 60"/>
              <p:cNvSpPr>
                <a:spLocks noChangeArrowheads="1"/>
              </p:cNvSpPr>
              <p:nvPr/>
            </p:nvSpPr>
            <p:spPr bwMode="auto"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19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46" name="Group 61"/>
            <p:cNvGrpSpPr>
              <a:grpSpLocks/>
            </p:cNvGrpSpPr>
            <p:nvPr/>
          </p:nvGrpSpPr>
          <p:grpSpPr bwMode="auto">
            <a:xfrm>
              <a:off x="0" y="7106"/>
              <a:ext cx="3072" cy="374"/>
              <a:chOff x="0" y="7106"/>
              <a:chExt cx="3072" cy="374"/>
            </a:xfrm>
          </p:grpSpPr>
          <p:sp>
            <p:nvSpPr>
              <p:cNvPr id="30759" name="Rectangle 62"/>
              <p:cNvSpPr>
                <a:spLocks noChangeArrowheads="1"/>
              </p:cNvSpPr>
              <p:nvPr/>
            </p:nvSpPr>
            <p:spPr bwMode="auto"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60" name="Rectangle 63"/>
              <p:cNvSpPr>
                <a:spLocks noChangeArrowheads="1"/>
              </p:cNvSpPr>
              <p:nvPr/>
            </p:nvSpPr>
            <p:spPr bwMode="auto"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20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  // static data member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47" name="Group 64"/>
            <p:cNvGrpSpPr>
              <a:grpSpLocks/>
            </p:cNvGrpSpPr>
            <p:nvPr/>
          </p:nvGrpSpPr>
          <p:grpSpPr bwMode="auto">
            <a:xfrm>
              <a:off x="0" y="7480"/>
              <a:ext cx="3072" cy="374"/>
              <a:chOff x="0" y="7480"/>
              <a:chExt cx="3072" cy="374"/>
            </a:xfrm>
          </p:grpSpPr>
          <p:sp>
            <p:nvSpPr>
              <p:cNvPr id="30757" name="Rectangle 65"/>
              <p:cNvSpPr>
                <a:spLocks noChangeArrowheads="1"/>
              </p:cNvSpPr>
              <p:nvPr/>
            </p:nvSpPr>
            <p:spPr bwMode="auto"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58" name="Rectangle 66"/>
              <p:cNvSpPr>
                <a:spLocks noChangeArrowheads="1"/>
              </p:cNvSpPr>
              <p:nvPr/>
            </p:nvSpPr>
            <p:spPr bwMode="auto"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 dirty="0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21	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  </a:t>
                </a:r>
                <a:r>
                  <a:rPr lang="en-US" sz="1200" b="1" dirty="0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static </a:t>
                </a:r>
                <a:r>
                  <a:rPr lang="en-US" sz="1200" b="1" dirty="0" err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 dirty="0">
                    <a:latin typeface="Courier New" panose="02070309020205020404" pitchFamily="49" charset="0"/>
                  </a:rPr>
                  <a:t> count;  </a:t>
                </a:r>
                <a:r>
                  <a:rPr lang="en-US" sz="1200" b="1" dirty="0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number of objects instantiated</a:t>
                </a:r>
                <a:endParaRPr lang="en-US" sz="1200" b="1" dirty="0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48" name="Group 67"/>
            <p:cNvGrpSpPr>
              <a:grpSpLocks/>
            </p:cNvGrpSpPr>
            <p:nvPr/>
          </p:nvGrpSpPr>
          <p:grpSpPr bwMode="auto">
            <a:xfrm>
              <a:off x="0" y="7854"/>
              <a:ext cx="3072" cy="374"/>
              <a:chOff x="0" y="7854"/>
              <a:chExt cx="3072" cy="374"/>
            </a:xfrm>
          </p:grpSpPr>
          <p:sp>
            <p:nvSpPr>
              <p:cNvPr id="30755" name="Rectangle 68"/>
              <p:cNvSpPr>
                <a:spLocks noChangeArrowheads="1"/>
              </p:cNvSpPr>
              <p:nvPr/>
            </p:nvSpPr>
            <p:spPr bwMode="auto"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56" name="Rectangle 69"/>
              <p:cNvSpPr>
                <a:spLocks noChangeArrowheads="1"/>
              </p:cNvSpPr>
              <p:nvPr/>
            </p:nvSpPr>
            <p:spPr bwMode="auto"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22	</a:t>
                </a:r>
                <a:r>
                  <a:rPr lang="en-US" sz="1200" b="1">
                    <a:latin typeface="Courier New" panose="02070309020205020404" pitchFamily="49" charset="0"/>
                  </a:rPr>
                  <a:t>};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49" name="Group 70"/>
            <p:cNvGrpSpPr>
              <a:grpSpLocks/>
            </p:cNvGrpSpPr>
            <p:nvPr/>
          </p:nvGrpSpPr>
          <p:grpSpPr bwMode="auto">
            <a:xfrm>
              <a:off x="0" y="8228"/>
              <a:ext cx="3072" cy="374"/>
              <a:chOff x="0" y="8228"/>
              <a:chExt cx="3072" cy="374"/>
            </a:xfrm>
          </p:grpSpPr>
          <p:sp>
            <p:nvSpPr>
              <p:cNvPr id="30753" name="Rectangle 71"/>
              <p:cNvSpPr>
                <a:spLocks noChangeArrowheads="1"/>
              </p:cNvSpPr>
              <p:nvPr/>
            </p:nvSpPr>
            <p:spPr bwMode="auto"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54" name="Rectangle 72"/>
              <p:cNvSpPr>
                <a:spLocks noChangeArrowheads="1"/>
              </p:cNvSpPr>
              <p:nvPr/>
            </p:nvSpPr>
            <p:spPr bwMode="auto"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23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0750" name="Group 73"/>
            <p:cNvGrpSpPr>
              <a:grpSpLocks/>
            </p:cNvGrpSpPr>
            <p:nvPr/>
          </p:nvGrpSpPr>
          <p:grpSpPr bwMode="auto">
            <a:xfrm>
              <a:off x="0" y="8602"/>
              <a:ext cx="3072" cy="374"/>
              <a:chOff x="0" y="8602"/>
              <a:chExt cx="3072" cy="374"/>
            </a:xfrm>
          </p:grpSpPr>
          <p:sp>
            <p:nvSpPr>
              <p:cNvPr id="30751" name="Rectangle 74"/>
              <p:cNvSpPr>
                <a:spLocks noChangeArrowheads="1"/>
              </p:cNvSpPr>
              <p:nvPr/>
            </p:nvSpPr>
            <p:spPr bwMode="auto"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0752" name="Rectangle 75"/>
              <p:cNvSpPr>
                <a:spLocks noChangeArrowheads="1"/>
              </p:cNvSpPr>
              <p:nvPr/>
            </p:nvSpPr>
            <p:spPr bwMode="auto"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24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#endif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27" name="Group 85"/>
          <p:cNvGrpSpPr>
            <a:grpSpLocks/>
          </p:cNvGrpSpPr>
          <p:nvPr/>
        </p:nvGrpSpPr>
        <p:grpSpPr bwMode="auto">
          <a:xfrm>
            <a:off x="2133600" y="3876675"/>
            <a:ext cx="6210300" cy="1838325"/>
            <a:chOff x="1344" y="2442"/>
            <a:chExt cx="3912" cy="1158"/>
          </a:xfrm>
        </p:grpSpPr>
        <p:sp>
          <p:nvSpPr>
            <p:cNvPr id="30724" name="Text Box 78"/>
            <p:cNvSpPr txBox="1">
              <a:spLocks noChangeArrowheads="1"/>
            </p:cNvSpPr>
            <p:nvPr/>
          </p:nvSpPr>
          <p:spPr bwMode="auto">
            <a:xfrm>
              <a:off x="3192" y="2614"/>
              <a:ext cx="2064" cy="36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solidFill>
                    <a:srgbClr val="D20000"/>
                  </a:solidFill>
                  <a:latin typeface="Courier New" panose="02070309020205020404" pitchFamily="49" charset="0"/>
                </a:rPr>
                <a:t>static</a:t>
              </a:r>
              <a:r>
                <a:rPr lang="en-US" sz="1600" b="1" dirty="0">
                  <a:solidFill>
                    <a:srgbClr val="D20000"/>
                  </a:solidFill>
                </a:rPr>
                <a:t> </a:t>
              </a:r>
              <a:r>
                <a:rPr lang="en-US" sz="1600" b="1" dirty="0">
                  <a:solidFill>
                    <a:srgbClr val="2F1BC7"/>
                  </a:solidFill>
                </a:rPr>
                <a:t>member function </a:t>
              </a:r>
              <a:r>
                <a:rPr lang="en-US" sz="1600" b="1" dirty="0"/>
                <a:t>and </a:t>
              </a:r>
              <a:r>
                <a:rPr lang="en-US" sz="1600" b="1" dirty="0">
                  <a:solidFill>
                    <a:srgbClr val="2F1BC7"/>
                  </a:solidFill>
                </a:rPr>
                <a:t>variable</a:t>
              </a:r>
              <a:r>
                <a:rPr lang="en-US" sz="1600" b="1" dirty="0"/>
                <a:t> declared.</a:t>
              </a:r>
            </a:p>
          </p:txBody>
        </p:sp>
        <p:sp>
          <p:nvSpPr>
            <p:cNvPr id="30725" name="Line 81"/>
            <p:cNvSpPr>
              <a:spLocks noChangeShapeType="1"/>
            </p:cNvSpPr>
            <p:nvPr/>
          </p:nvSpPr>
          <p:spPr bwMode="auto">
            <a:xfrm flipH="1" flipV="1">
              <a:off x="1728" y="2442"/>
              <a:ext cx="1464" cy="2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30726" name="Line 84"/>
            <p:cNvSpPr>
              <a:spLocks noChangeShapeType="1"/>
            </p:cNvSpPr>
            <p:nvPr/>
          </p:nvSpPr>
          <p:spPr bwMode="auto">
            <a:xfrm flipH="1">
              <a:off x="1344" y="2966"/>
              <a:ext cx="1920" cy="6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274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4"/>
          <p:cNvGrpSpPr>
            <a:grpSpLocks/>
          </p:cNvGrpSpPr>
          <p:nvPr/>
        </p:nvGrpSpPr>
        <p:grpSpPr bwMode="auto">
          <a:xfrm>
            <a:off x="0" y="-1588"/>
            <a:ext cx="6781800" cy="215901"/>
            <a:chOff x="0" y="-2"/>
            <a:chExt cx="3072" cy="376"/>
          </a:xfrm>
        </p:grpSpPr>
        <p:sp>
          <p:nvSpPr>
            <p:cNvPr id="31851" name="Rectangle 5"/>
            <p:cNvSpPr>
              <a:spLocks noChangeArrowheads="1"/>
            </p:cNvSpPr>
            <p:nvPr/>
          </p:nvSpPr>
          <p:spPr bwMode="auto">
            <a:xfrm>
              <a:off x="0" y="-2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52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25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Fig. 7.9: employ1.cpp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47" name="Group 7"/>
          <p:cNvGrpSpPr>
            <a:grpSpLocks/>
          </p:cNvGrpSpPr>
          <p:nvPr/>
        </p:nvGrpSpPr>
        <p:grpSpPr bwMode="auto">
          <a:xfrm>
            <a:off x="0" y="212725"/>
            <a:ext cx="6781800" cy="215900"/>
            <a:chOff x="0" y="372"/>
            <a:chExt cx="3072" cy="376"/>
          </a:xfrm>
        </p:grpSpPr>
        <p:sp>
          <p:nvSpPr>
            <p:cNvPr id="31849" name="Rectangle 8"/>
            <p:cNvSpPr>
              <a:spLocks noChangeArrowheads="1"/>
            </p:cNvSpPr>
            <p:nvPr/>
          </p:nvSpPr>
          <p:spPr bwMode="auto">
            <a:xfrm>
              <a:off x="0" y="372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50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26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Member function definitions for class Employee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48" name="Group 10"/>
          <p:cNvGrpSpPr>
            <a:grpSpLocks/>
          </p:cNvGrpSpPr>
          <p:nvPr/>
        </p:nvGrpSpPr>
        <p:grpSpPr bwMode="auto">
          <a:xfrm>
            <a:off x="0" y="427038"/>
            <a:ext cx="6781800" cy="215900"/>
            <a:chOff x="0" y="746"/>
            <a:chExt cx="3072" cy="376"/>
          </a:xfrm>
        </p:grpSpPr>
        <p:sp>
          <p:nvSpPr>
            <p:cNvPr id="31847" name="Rectangle 11"/>
            <p:cNvSpPr>
              <a:spLocks noChangeArrowheads="1"/>
            </p:cNvSpPr>
            <p:nvPr/>
          </p:nvSpPr>
          <p:spPr bwMode="auto">
            <a:xfrm>
              <a:off x="0" y="746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48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27	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100" b="1">
                  <a:latin typeface="Courier New" panose="02070309020205020404" pitchFamily="49" charset="0"/>
                </a:rPr>
                <a:t> &lt;iostream&gt;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49" name="Group 13"/>
          <p:cNvGrpSpPr>
            <a:grpSpLocks/>
          </p:cNvGrpSpPr>
          <p:nvPr/>
        </p:nvGrpSpPr>
        <p:grpSpPr bwMode="auto">
          <a:xfrm>
            <a:off x="0" y="641350"/>
            <a:ext cx="6781800" cy="215900"/>
            <a:chOff x="0" y="1120"/>
            <a:chExt cx="3072" cy="376"/>
          </a:xfrm>
        </p:grpSpPr>
        <p:sp>
          <p:nvSpPr>
            <p:cNvPr id="31845" name="Rectangle 14"/>
            <p:cNvSpPr>
              <a:spLocks noChangeArrowheads="1"/>
            </p:cNvSpPr>
            <p:nvPr/>
          </p:nvSpPr>
          <p:spPr bwMode="auto">
            <a:xfrm>
              <a:off x="0" y="1120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46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28	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50" name="Group 16"/>
          <p:cNvGrpSpPr>
            <a:grpSpLocks/>
          </p:cNvGrpSpPr>
          <p:nvPr/>
        </p:nvGrpSpPr>
        <p:grpSpPr bwMode="auto">
          <a:xfrm>
            <a:off x="0" y="855663"/>
            <a:ext cx="6781800" cy="215900"/>
            <a:chOff x="0" y="1494"/>
            <a:chExt cx="3072" cy="376"/>
          </a:xfrm>
        </p:grpSpPr>
        <p:sp>
          <p:nvSpPr>
            <p:cNvPr id="31843" name="Rectangle 17"/>
            <p:cNvSpPr>
              <a:spLocks noChangeArrowheads="1"/>
            </p:cNvSpPr>
            <p:nvPr/>
          </p:nvSpPr>
          <p:spPr bwMode="auto">
            <a:xfrm>
              <a:off x="0" y="1494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44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29	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100" b="1">
                  <a:latin typeface="Courier New" panose="02070309020205020404" pitchFamily="49" charset="0"/>
                </a:rPr>
                <a:t> std::cout;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51" name="Group 19"/>
          <p:cNvGrpSpPr>
            <a:grpSpLocks/>
          </p:cNvGrpSpPr>
          <p:nvPr/>
        </p:nvGrpSpPr>
        <p:grpSpPr bwMode="auto">
          <a:xfrm>
            <a:off x="0" y="1069975"/>
            <a:ext cx="6781800" cy="215900"/>
            <a:chOff x="0" y="1868"/>
            <a:chExt cx="3072" cy="376"/>
          </a:xfrm>
        </p:grpSpPr>
        <p:sp>
          <p:nvSpPr>
            <p:cNvPr id="31841" name="Rectangle 20"/>
            <p:cNvSpPr>
              <a:spLocks noChangeArrowheads="1"/>
            </p:cNvSpPr>
            <p:nvPr/>
          </p:nvSpPr>
          <p:spPr bwMode="auto">
            <a:xfrm>
              <a:off x="0" y="1868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42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30	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100" b="1">
                  <a:latin typeface="Courier New" panose="02070309020205020404" pitchFamily="49" charset="0"/>
                </a:rPr>
                <a:t> std::endl;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52" name="Group 22"/>
          <p:cNvGrpSpPr>
            <a:grpSpLocks/>
          </p:cNvGrpSpPr>
          <p:nvPr/>
        </p:nvGrpSpPr>
        <p:grpSpPr bwMode="auto">
          <a:xfrm>
            <a:off x="0" y="1284288"/>
            <a:ext cx="6781800" cy="215900"/>
            <a:chOff x="0" y="2242"/>
            <a:chExt cx="3072" cy="376"/>
          </a:xfrm>
        </p:grpSpPr>
        <p:sp>
          <p:nvSpPr>
            <p:cNvPr id="31839" name="Rectangle 23"/>
            <p:cNvSpPr>
              <a:spLocks noChangeArrowheads="1"/>
            </p:cNvSpPr>
            <p:nvPr/>
          </p:nvSpPr>
          <p:spPr bwMode="auto">
            <a:xfrm>
              <a:off x="0" y="2242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40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31	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53" name="Group 25"/>
          <p:cNvGrpSpPr>
            <a:grpSpLocks/>
          </p:cNvGrpSpPr>
          <p:nvPr/>
        </p:nvGrpSpPr>
        <p:grpSpPr bwMode="auto">
          <a:xfrm>
            <a:off x="0" y="1498600"/>
            <a:ext cx="6781800" cy="215900"/>
            <a:chOff x="0" y="2616"/>
            <a:chExt cx="3072" cy="376"/>
          </a:xfrm>
        </p:grpSpPr>
        <p:sp>
          <p:nvSpPr>
            <p:cNvPr id="31837" name="Rectangle 26"/>
            <p:cNvSpPr>
              <a:spLocks noChangeArrowheads="1"/>
            </p:cNvSpPr>
            <p:nvPr/>
          </p:nvSpPr>
          <p:spPr bwMode="auto">
            <a:xfrm>
              <a:off x="0" y="2616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38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32	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100" b="1">
                  <a:latin typeface="Courier New" panose="02070309020205020404" pitchFamily="49" charset="0"/>
                </a:rPr>
                <a:t> &lt;cstring&gt;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54" name="Group 28"/>
          <p:cNvGrpSpPr>
            <a:grpSpLocks/>
          </p:cNvGrpSpPr>
          <p:nvPr/>
        </p:nvGrpSpPr>
        <p:grpSpPr bwMode="auto">
          <a:xfrm>
            <a:off x="0" y="1712913"/>
            <a:ext cx="6781800" cy="215900"/>
            <a:chOff x="0" y="2990"/>
            <a:chExt cx="3072" cy="376"/>
          </a:xfrm>
        </p:grpSpPr>
        <p:sp>
          <p:nvSpPr>
            <p:cNvPr id="31835" name="Rectangle 29"/>
            <p:cNvSpPr>
              <a:spLocks noChangeArrowheads="1"/>
            </p:cNvSpPr>
            <p:nvPr/>
          </p:nvSpPr>
          <p:spPr bwMode="auto">
            <a:xfrm>
              <a:off x="0" y="2990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36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33	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100" b="1">
                  <a:latin typeface="Courier New" panose="02070309020205020404" pitchFamily="49" charset="0"/>
                </a:rPr>
                <a:t> &lt;cassert&gt;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55" name="Group 31"/>
          <p:cNvGrpSpPr>
            <a:grpSpLocks/>
          </p:cNvGrpSpPr>
          <p:nvPr/>
        </p:nvGrpSpPr>
        <p:grpSpPr bwMode="auto">
          <a:xfrm>
            <a:off x="0" y="1927225"/>
            <a:ext cx="6781800" cy="215900"/>
            <a:chOff x="0" y="3364"/>
            <a:chExt cx="3072" cy="376"/>
          </a:xfrm>
        </p:grpSpPr>
        <p:sp>
          <p:nvSpPr>
            <p:cNvPr id="31833" name="Rectangle 32"/>
            <p:cNvSpPr>
              <a:spLocks noChangeArrowheads="1"/>
            </p:cNvSpPr>
            <p:nvPr/>
          </p:nvSpPr>
          <p:spPr bwMode="auto">
            <a:xfrm>
              <a:off x="0" y="3364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34" name="Rectangle 3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34	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100" b="1">
                  <a:latin typeface="Courier New" panose="02070309020205020404" pitchFamily="49" charset="0"/>
                </a:rPr>
                <a:t> "employ1.h"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56" name="Group 34"/>
          <p:cNvGrpSpPr>
            <a:grpSpLocks/>
          </p:cNvGrpSpPr>
          <p:nvPr/>
        </p:nvGrpSpPr>
        <p:grpSpPr bwMode="auto">
          <a:xfrm>
            <a:off x="0" y="2141538"/>
            <a:ext cx="6781800" cy="215900"/>
            <a:chOff x="0" y="3738"/>
            <a:chExt cx="3072" cy="376"/>
          </a:xfrm>
        </p:grpSpPr>
        <p:sp>
          <p:nvSpPr>
            <p:cNvPr id="31831" name="Rectangle 35"/>
            <p:cNvSpPr>
              <a:spLocks noChangeArrowheads="1"/>
            </p:cNvSpPr>
            <p:nvPr/>
          </p:nvSpPr>
          <p:spPr bwMode="auto">
            <a:xfrm>
              <a:off x="0" y="3738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32" name="Rectangle 36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35	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57" name="Group 37"/>
          <p:cNvGrpSpPr>
            <a:grpSpLocks/>
          </p:cNvGrpSpPr>
          <p:nvPr/>
        </p:nvGrpSpPr>
        <p:grpSpPr bwMode="auto">
          <a:xfrm>
            <a:off x="0" y="2355850"/>
            <a:ext cx="6781800" cy="215900"/>
            <a:chOff x="0" y="4112"/>
            <a:chExt cx="3072" cy="376"/>
          </a:xfrm>
        </p:grpSpPr>
        <p:sp>
          <p:nvSpPr>
            <p:cNvPr id="31829" name="Rectangle 38"/>
            <p:cNvSpPr>
              <a:spLocks noChangeArrowheads="1"/>
            </p:cNvSpPr>
            <p:nvPr/>
          </p:nvSpPr>
          <p:spPr bwMode="auto">
            <a:xfrm>
              <a:off x="0" y="4112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30" name="Rectangle 39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36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Initialize the static data member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58" name="Group 40"/>
          <p:cNvGrpSpPr>
            <a:grpSpLocks/>
          </p:cNvGrpSpPr>
          <p:nvPr/>
        </p:nvGrpSpPr>
        <p:grpSpPr bwMode="auto">
          <a:xfrm>
            <a:off x="0" y="2570163"/>
            <a:ext cx="6781800" cy="215900"/>
            <a:chOff x="0" y="4486"/>
            <a:chExt cx="3072" cy="376"/>
          </a:xfrm>
        </p:grpSpPr>
        <p:sp>
          <p:nvSpPr>
            <p:cNvPr id="31827" name="Rectangle 41"/>
            <p:cNvSpPr>
              <a:spLocks noChangeArrowheads="1"/>
            </p:cNvSpPr>
            <p:nvPr/>
          </p:nvSpPr>
          <p:spPr bwMode="auto">
            <a:xfrm>
              <a:off x="0" y="4486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28" name="Rectangle 42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37	</a:t>
              </a:r>
              <a:r>
                <a:rPr lang="en-US" sz="11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100" b="1" dirty="0">
                  <a:latin typeface="Courier New" panose="02070309020205020404" pitchFamily="49" charset="0"/>
                </a:rPr>
                <a:t> Employee::count = 0;</a:t>
              </a:r>
            </a:p>
            <a:p>
              <a:pPr eaLnBrk="1" hangingPunct="1"/>
              <a:endParaRPr lang="en-US" sz="11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59" name="Group 43"/>
          <p:cNvGrpSpPr>
            <a:grpSpLocks/>
          </p:cNvGrpSpPr>
          <p:nvPr/>
        </p:nvGrpSpPr>
        <p:grpSpPr bwMode="auto">
          <a:xfrm>
            <a:off x="0" y="2784475"/>
            <a:ext cx="6781800" cy="215900"/>
            <a:chOff x="0" y="4860"/>
            <a:chExt cx="3072" cy="376"/>
          </a:xfrm>
        </p:grpSpPr>
        <p:sp>
          <p:nvSpPr>
            <p:cNvPr id="31825" name="Rectangle 44"/>
            <p:cNvSpPr>
              <a:spLocks noChangeArrowheads="1"/>
            </p:cNvSpPr>
            <p:nvPr/>
          </p:nvSpPr>
          <p:spPr bwMode="auto">
            <a:xfrm>
              <a:off x="0" y="4860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26" name="Rectangle 45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38	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60" name="Group 46"/>
          <p:cNvGrpSpPr>
            <a:grpSpLocks/>
          </p:cNvGrpSpPr>
          <p:nvPr/>
        </p:nvGrpSpPr>
        <p:grpSpPr bwMode="auto">
          <a:xfrm>
            <a:off x="0" y="2998788"/>
            <a:ext cx="6781800" cy="215900"/>
            <a:chOff x="0" y="5234"/>
            <a:chExt cx="3072" cy="376"/>
          </a:xfrm>
        </p:grpSpPr>
        <p:sp>
          <p:nvSpPr>
            <p:cNvPr id="31823" name="Rectangle 47"/>
            <p:cNvSpPr>
              <a:spLocks noChangeArrowheads="1"/>
            </p:cNvSpPr>
            <p:nvPr/>
          </p:nvSpPr>
          <p:spPr bwMode="auto">
            <a:xfrm>
              <a:off x="0" y="5234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24" name="Rectangle 4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39	</a:t>
              </a:r>
              <a:r>
                <a:rPr lang="en-US" sz="11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Define the static member function that</a:t>
              </a:r>
              <a:endParaRPr lang="en-US" sz="11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61" name="Group 49"/>
          <p:cNvGrpSpPr>
            <a:grpSpLocks/>
          </p:cNvGrpSpPr>
          <p:nvPr/>
        </p:nvGrpSpPr>
        <p:grpSpPr bwMode="auto">
          <a:xfrm>
            <a:off x="0" y="3213100"/>
            <a:ext cx="6781800" cy="215900"/>
            <a:chOff x="0" y="5608"/>
            <a:chExt cx="3072" cy="376"/>
          </a:xfrm>
        </p:grpSpPr>
        <p:sp>
          <p:nvSpPr>
            <p:cNvPr id="31821" name="Rectangle 50"/>
            <p:cNvSpPr>
              <a:spLocks noChangeArrowheads="1"/>
            </p:cNvSpPr>
            <p:nvPr/>
          </p:nvSpPr>
          <p:spPr bwMode="auto">
            <a:xfrm>
              <a:off x="0" y="5608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22" name="Rectangle 51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40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returns the number of employee objects instantiated.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62" name="Group 52"/>
          <p:cNvGrpSpPr>
            <a:grpSpLocks/>
          </p:cNvGrpSpPr>
          <p:nvPr/>
        </p:nvGrpSpPr>
        <p:grpSpPr bwMode="auto">
          <a:xfrm>
            <a:off x="0" y="3427413"/>
            <a:ext cx="6781800" cy="215900"/>
            <a:chOff x="0" y="5982"/>
            <a:chExt cx="3072" cy="376"/>
          </a:xfrm>
        </p:grpSpPr>
        <p:sp>
          <p:nvSpPr>
            <p:cNvPr id="31819" name="Rectangle 53"/>
            <p:cNvSpPr>
              <a:spLocks noChangeArrowheads="1"/>
            </p:cNvSpPr>
            <p:nvPr/>
          </p:nvSpPr>
          <p:spPr bwMode="auto">
            <a:xfrm>
              <a:off x="0" y="5982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20" name="Rectangle 54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41	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100" b="1">
                  <a:latin typeface="Courier New" panose="02070309020205020404" pitchFamily="49" charset="0"/>
                </a:rPr>
                <a:t> Employee::getCount() {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100" b="1">
                  <a:latin typeface="Courier New" panose="02070309020205020404" pitchFamily="49" charset="0"/>
                </a:rPr>
                <a:t> count; }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63" name="Group 55"/>
          <p:cNvGrpSpPr>
            <a:grpSpLocks/>
          </p:cNvGrpSpPr>
          <p:nvPr/>
        </p:nvGrpSpPr>
        <p:grpSpPr bwMode="auto">
          <a:xfrm>
            <a:off x="0" y="3641725"/>
            <a:ext cx="6781800" cy="215900"/>
            <a:chOff x="0" y="6356"/>
            <a:chExt cx="3072" cy="376"/>
          </a:xfrm>
        </p:grpSpPr>
        <p:sp>
          <p:nvSpPr>
            <p:cNvPr id="31817" name="Rectangle 56"/>
            <p:cNvSpPr>
              <a:spLocks noChangeArrowheads="1"/>
            </p:cNvSpPr>
            <p:nvPr/>
          </p:nvSpPr>
          <p:spPr bwMode="auto">
            <a:xfrm>
              <a:off x="0" y="6356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18" name="Rectangle 57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42	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64" name="Group 58"/>
          <p:cNvGrpSpPr>
            <a:grpSpLocks/>
          </p:cNvGrpSpPr>
          <p:nvPr/>
        </p:nvGrpSpPr>
        <p:grpSpPr bwMode="auto">
          <a:xfrm>
            <a:off x="0" y="3856038"/>
            <a:ext cx="6781800" cy="215900"/>
            <a:chOff x="0" y="6730"/>
            <a:chExt cx="3072" cy="376"/>
          </a:xfrm>
        </p:grpSpPr>
        <p:sp>
          <p:nvSpPr>
            <p:cNvPr id="31815" name="Rectangle 59"/>
            <p:cNvSpPr>
              <a:spLocks noChangeArrowheads="1"/>
            </p:cNvSpPr>
            <p:nvPr/>
          </p:nvSpPr>
          <p:spPr bwMode="auto">
            <a:xfrm>
              <a:off x="0" y="6730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16" name="Rectangle 60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43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Constructor dynamically allocates space for the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65" name="Group 61"/>
          <p:cNvGrpSpPr>
            <a:grpSpLocks/>
          </p:cNvGrpSpPr>
          <p:nvPr/>
        </p:nvGrpSpPr>
        <p:grpSpPr bwMode="auto">
          <a:xfrm>
            <a:off x="0" y="4070350"/>
            <a:ext cx="6781800" cy="215900"/>
            <a:chOff x="0" y="7104"/>
            <a:chExt cx="3072" cy="376"/>
          </a:xfrm>
        </p:grpSpPr>
        <p:sp>
          <p:nvSpPr>
            <p:cNvPr id="31813" name="Rectangle 62"/>
            <p:cNvSpPr>
              <a:spLocks noChangeArrowheads="1"/>
            </p:cNvSpPr>
            <p:nvPr/>
          </p:nvSpPr>
          <p:spPr bwMode="auto">
            <a:xfrm>
              <a:off x="0" y="7104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14" name="Rectangle 6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44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first and last name and uses strcpy to copy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66" name="Group 64"/>
          <p:cNvGrpSpPr>
            <a:grpSpLocks/>
          </p:cNvGrpSpPr>
          <p:nvPr/>
        </p:nvGrpSpPr>
        <p:grpSpPr bwMode="auto">
          <a:xfrm>
            <a:off x="0" y="4284663"/>
            <a:ext cx="6781800" cy="215900"/>
            <a:chOff x="0" y="7478"/>
            <a:chExt cx="3072" cy="376"/>
          </a:xfrm>
        </p:grpSpPr>
        <p:sp>
          <p:nvSpPr>
            <p:cNvPr id="31811" name="Rectangle 65"/>
            <p:cNvSpPr>
              <a:spLocks noChangeArrowheads="1"/>
            </p:cNvSpPr>
            <p:nvPr/>
          </p:nvSpPr>
          <p:spPr bwMode="auto">
            <a:xfrm>
              <a:off x="0" y="7478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12" name="Rectangle 66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45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the first and last names into the object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67" name="Group 67"/>
          <p:cNvGrpSpPr>
            <a:grpSpLocks/>
          </p:cNvGrpSpPr>
          <p:nvPr/>
        </p:nvGrpSpPr>
        <p:grpSpPr bwMode="auto">
          <a:xfrm>
            <a:off x="0" y="4498975"/>
            <a:ext cx="6781800" cy="215900"/>
            <a:chOff x="0" y="7852"/>
            <a:chExt cx="3072" cy="376"/>
          </a:xfrm>
        </p:grpSpPr>
        <p:sp>
          <p:nvSpPr>
            <p:cNvPr id="31809" name="Rectangle 68"/>
            <p:cNvSpPr>
              <a:spLocks noChangeArrowheads="1"/>
            </p:cNvSpPr>
            <p:nvPr/>
          </p:nvSpPr>
          <p:spPr bwMode="auto">
            <a:xfrm>
              <a:off x="0" y="7852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10" name="Rectangle 69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46	</a:t>
              </a:r>
              <a:r>
                <a:rPr lang="en-US" sz="1100" b="1">
                  <a:latin typeface="Courier New" panose="02070309020205020404" pitchFamily="49" charset="0"/>
                </a:rPr>
                <a:t>Employee::Employee(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 char</a:t>
              </a:r>
              <a:r>
                <a:rPr lang="en-US" sz="1100" b="1">
                  <a:latin typeface="Courier New" panose="02070309020205020404" pitchFamily="49" charset="0"/>
                </a:rPr>
                <a:t> *first,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 char</a:t>
              </a:r>
              <a:r>
                <a:rPr lang="en-US" sz="1100" b="1">
                  <a:latin typeface="Courier New" panose="02070309020205020404" pitchFamily="49" charset="0"/>
                </a:rPr>
                <a:t> *last )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68" name="Group 70"/>
          <p:cNvGrpSpPr>
            <a:grpSpLocks/>
          </p:cNvGrpSpPr>
          <p:nvPr/>
        </p:nvGrpSpPr>
        <p:grpSpPr bwMode="auto">
          <a:xfrm>
            <a:off x="0" y="4713288"/>
            <a:ext cx="6781800" cy="215900"/>
            <a:chOff x="0" y="8226"/>
            <a:chExt cx="3072" cy="376"/>
          </a:xfrm>
        </p:grpSpPr>
        <p:sp>
          <p:nvSpPr>
            <p:cNvPr id="31807" name="Rectangle 71"/>
            <p:cNvSpPr>
              <a:spLocks noChangeArrowheads="1"/>
            </p:cNvSpPr>
            <p:nvPr/>
          </p:nvSpPr>
          <p:spPr bwMode="auto">
            <a:xfrm>
              <a:off x="0" y="8226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08" name="Rectangle 72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47	</a:t>
              </a:r>
              <a:r>
                <a:rPr lang="en-US" sz="11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69" name="Group 73"/>
          <p:cNvGrpSpPr>
            <a:grpSpLocks/>
          </p:cNvGrpSpPr>
          <p:nvPr/>
        </p:nvGrpSpPr>
        <p:grpSpPr bwMode="auto">
          <a:xfrm>
            <a:off x="0" y="4927600"/>
            <a:ext cx="6781800" cy="215900"/>
            <a:chOff x="0" y="8600"/>
            <a:chExt cx="3072" cy="376"/>
          </a:xfrm>
        </p:grpSpPr>
        <p:sp>
          <p:nvSpPr>
            <p:cNvPr id="31805" name="Rectangle 74"/>
            <p:cNvSpPr>
              <a:spLocks noChangeArrowheads="1"/>
            </p:cNvSpPr>
            <p:nvPr/>
          </p:nvSpPr>
          <p:spPr bwMode="auto">
            <a:xfrm>
              <a:off x="0" y="8600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06" name="Rectangle 75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48	</a:t>
              </a:r>
              <a:r>
                <a:rPr lang="en-US" sz="1100" b="1">
                  <a:latin typeface="Courier New" panose="02070309020205020404" pitchFamily="49" charset="0"/>
                </a:rPr>
                <a:t>   firstName =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new</a:t>
              </a:r>
              <a:r>
                <a:rPr lang="en-US" sz="1100" b="1">
                  <a:latin typeface="Courier New" panose="02070309020205020404" pitchFamily="49" charset="0"/>
                </a:rPr>
                <a:t>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char</a:t>
              </a:r>
              <a:r>
                <a:rPr lang="en-US" sz="1100" b="1">
                  <a:latin typeface="Courier New" panose="02070309020205020404" pitchFamily="49" charset="0"/>
                </a:rPr>
                <a:t>[ strlen( first ) + 1 ];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70" name="Group 76"/>
          <p:cNvGrpSpPr>
            <a:grpSpLocks/>
          </p:cNvGrpSpPr>
          <p:nvPr/>
        </p:nvGrpSpPr>
        <p:grpSpPr bwMode="auto">
          <a:xfrm>
            <a:off x="0" y="5141913"/>
            <a:ext cx="6781800" cy="215900"/>
            <a:chOff x="0" y="8974"/>
            <a:chExt cx="3072" cy="376"/>
          </a:xfrm>
        </p:grpSpPr>
        <p:sp>
          <p:nvSpPr>
            <p:cNvPr id="31803" name="Rectangle 77"/>
            <p:cNvSpPr>
              <a:spLocks noChangeArrowheads="1"/>
            </p:cNvSpPr>
            <p:nvPr/>
          </p:nvSpPr>
          <p:spPr bwMode="auto">
            <a:xfrm>
              <a:off x="0" y="8974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04" name="Rectangle 7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49	</a:t>
              </a:r>
              <a:r>
                <a:rPr lang="en-US" sz="1100" b="1" dirty="0">
                  <a:latin typeface="Courier New" panose="02070309020205020404" pitchFamily="49" charset="0"/>
                </a:rPr>
                <a:t>   assert( </a:t>
              </a:r>
              <a:r>
                <a:rPr lang="en-US" sz="1100" b="1" dirty="0" err="1">
                  <a:latin typeface="Courier New" panose="02070309020205020404" pitchFamily="49" charset="0"/>
                </a:rPr>
                <a:t>firstName</a:t>
              </a:r>
              <a:r>
                <a:rPr lang="en-US" sz="1100" b="1" dirty="0">
                  <a:latin typeface="Courier New" panose="02070309020205020404" pitchFamily="49" charset="0"/>
                </a:rPr>
                <a:t> != 0 );   </a:t>
              </a:r>
              <a:r>
                <a:rPr lang="en-US" sz="11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ensure memory allocated</a:t>
              </a:r>
              <a:endParaRPr lang="en-US" sz="11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71" name="Group 79"/>
          <p:cNvGrpSpPr>
            <a:grpSpLocks/>
          </p:cNvGrpSpPr>
          <p:nvPr/>
        </p:nvGrpSpPr>
        <p:grpSpPr bwMode="auto">
          <a:xfrm>
            <a:off x="0" y="5356225"/>
            <a:ext cx="6781800" cy="215900"/>
            <a:chOff x="0" y="9348"/>
            <a:chExt cx="3072" cy="376"/>
          </a:xfrm>
        </p:grpSpPr>
        <p:sp>
          <p:nvSpPr>
            <p:cNvPr id="31801" name="Rectangle 80"/>
            <p:cNvSpPr>
              <a:spLocks noChangeArrowheads="1"/>
            </p:cNvSpPr>
            <p:nvPr/>
          </p:nvSpPr>
          <p:spPr bwMode="auto">
            <a:xfrm>
              <a:off x="0" y="9348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02" name="Rectangle 81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50	</a:t>
              </a:r>
              <a:r>
                <a:rPr lang="en-US" sz="1100" b="1">
                  <a:latin typeface="Courier New" panose="02070309020205020404" pitchFamily="49" charset="0"/>
                </a:rPr>
                <a:t>   strcpy( firstName, first );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72" name="Group 82"/>
          <p:cNvGrpSpPr>
            <a:grpSpLocks/>
          </p:cNvGrpSpPr>
          <p:nvPr/>
        </p:nvGrpSpPr>
        <p:grpSpPr bwMode="auto">
          <a:xfrm>
            <a:off x="0" y="5570538"/>
            <a:ext cx="6781800" cy="215900"/>
            <a:chOff x="0" y="9722"/>
            <a:chExt cx="3072" cy="376"/>
          </a:xfrm>
        </p:grpSpPr>
        <p:sp>
          <p:nvSpPr>
            <p:cNvPr id="31799" name="Rectangle 83"/>
            <p:cNvSpPr>
              <a:spLocks noChangeArrowheads="1"/>
            </p:cNvSpPr>
            <p:nvPr/>
          </p:nvSpPr>
          <p:spPr bwMode="auto">
            <a:xfrm>
              <a:off x="0" y="9722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800" name="Rectangle 84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51	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73" name="Group 85"/>
          <p:cNvGrpSpPr>
            <a:grpSpLocks/>
          </p:cNvGrpSpPr>
          <p:nvPr/>
        </p:nvGrpSpPr>
        <p:grpSpPr bwMode="auto">
          <a:xfrm>
            <a:off x="0" y="5784850"/>
            <a:ext cx="6781800" cy="215900"/>
            <a:chOff x="0" y="10096"/>
            <a:chExt cx="3072" cy="376"/>
          </a:xfrm>
        </p:grpSpPr>
        <p:sp>
          <p:nvSpPr>
            <p:cNvPr id="31797" name="Rectangle 86"/>
            <p:cNvSpPr>
              <a:spLocks noChangeArrowheads="1"/>
            </p:cNvSpPr>
            <p:nvPr/>
          </p:nvSpPr>
          <p:spPr bwMode="auto">
            <a:xfrm>
              <a:off x="0" y="10096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798" name="Rectangle 87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52	</a:t>
              </a:r>
              <a:r>
                <a:rPr lang="en-US" sz="1100" b="1">
                  <a:latin typeface="Courier New" panose="02070309020205020404" pitchFamily="49" charset="0"/>
                </a:rPr>
                <a:t>   lastName =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new char</a:t>
              </a:r>
              <a:r>
                <a:rPr lang="en-US" sz="1100" b="1">
                  <a:latin typeface="Courier New" panose="02070309020205020404" pitchFamily="49" charset="0"/>
                </a:rPr>
                <a:t>[ strlen( last ) + 1 ];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74" name="Group 88"/>
          <p:cNvGrpSpPr>
            <a:grpSpLocks/>
          </p:cNvGrpSpPr>
          <p:nvPr/>
        </p:nvGrpSpPr>
        <p:grpSpPr bwMode="auto">
          <a:xfrm>
            <a:off x="0" y="5999163"/>
            <a:ext cx="6781800" cy="215900"/>
            <a:chOff x="0" y="10470"/>
            <a:chExt cx="3072" cy="376"/>
          </a:xfrm>
        </p:grpSpPr>
        <p:sp>
          <p:nvSpPr>
            <p:cNvPr id="31795" name="Rectangle 89"/>
            <p:cNvSpPr>
              <a:spLocks noChangeArrowheads="1"/>
            </p:cNvSpPr>
            <p:nvPr/>
          </p:nvSpPr>
          <p:spPr bwMode="auto">
            <a:xfrm>
              <a:off x="0" y="10470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796" name="Rectangle 90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53	</a:t>
              </a:r>
              <a:r>
                <a:rPr lang="en-US" sz="1100" b="1">
                  <a:latin typeface="Courier New" panose="02070309020205020404" pitchFamily="49" charset="0"/>
                </a:rPr>
                <a:t>   assert( lastName != 0 );    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ensure memory allocated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75" name="Group 91"/>
          <p:cNvGrpSpPr>
            <a:grpSpLocks/>
          </p:cNvGrpSpPr>
          <p:nvPr/>
        </p:nvGrpSpPr>
        <p:grpSpPr bwMode="auto">
          <a:xfrm>
            <a:off x="0" y="6213475"/>
            <a:ext cx="6781800" cy="215900"/>
            <a:chOff x="0" y="10844"/>
            <a:chExt cx="3072" cy="376"/>
          </a:xfrm>
        </p:grpSpPr>
        <p:sp>
          <p:nvSpPr>
            <p:cNvPr id="31793" name="Rectangle 92"/>
            <p:cNvSpPr>
              <a:spLocks noChangeArrowheads="1"/>
            </p:cNvSpPr>
            <p:nvPr/>
          </p:nvSpPr>
          <p:spPr bwMode="auto">
            <a:xfrm>
              <a:off x="0" y="10844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794" name="Rectangle 9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54	</a:t>
              </a:r>
              <a:r>
                <a:rPr lang="en-US" sz="1100" b="1">
                  <a:latin typeface="Courier New" panose="02070309020205020404" pitchFamily="49" charset="0"/>
                </a:rPr>
                <a:t>   strcpy( lastName, last );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76" name="Group 94"/>
          <p:cNvGrpSpPr>
            <a:grpSpLocks/>
          </p:cNvGrpSpPr>
          <p:nvPr/>
        </p:nvGrpSpPr>
        <p:grpSpPr bwMode="auto">
          <a:xfrm>
            <a:off x="0" y="6427788"/>
            <a:ext cx="6781800" cy="215900"/>
            <a:chOff x="0" y="11218"/>
            <a:chExt cx="3072" cy="376"/>
          </a:xfrm>
        </p:grpSpPr>
        <p:sp>
          <p:nvSpPr>
            <p:cNvPr id="31791" name="Rectangle 95"/>
            <p:cNvSpPr>
              <a:spLocks noChangeArrowheads="1"/>
            </p:cNvSpPr>
            <p:nvPr/>
          </p:nvSpPr>
          <p:spPr bwMode="auto">
            <a:xfrm>
              <a:off x="0" y="11218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792" name="Rectangle 96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55	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777" name="Group 97"/>
          <p:cNvGrpSpPr>
            <a:grpSpLocks/>
          </p:cNvGrpSpPr>
          <p:nvPr/>
        </p:nvGrpSpPr>
        <p:grpSpPr bwMode="auto">
          <a:xfrm>
            <a:off x="0" y="6642100"/>
            <a:ext cx="6781800" cy="214313"/>
            <a:chOff x="0" y="11592"/>
            <a:chExt cx="3072" cy="376"/>
          </a:xfrm>
        </p:grpSpPr>
        <p:sp>
          <p:nvSpPr>
            <p:cNvPr id="31789" name="Rectangle 98"/>
            <p:cNvSpPr>
              <a:spLocks noChangeArrowheads="1"/>
            </p:cNvSpPr>
            <p:nvPr/>
          </p:nvSpPr>
          <p:spPr bwMode="auto">
            <a:xfrm>
              <a:off x="0" y="11592"/>
              <a:ext cx="3072" cy="376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1790" name="Rectangle 99"/>
            <p:cNvSpPr>
              <a:spLocks noChangeArrowheads="1"/>
            </p:cNvSpPr>
            <p:nvPr/>
          </p:nvSpPr>
          <p:spPr bwMode="auto">
            <a:xfrm>
              <a:off x="0" y="1159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56	</a:t>
              </a:r>
              <a:r>
                <a:rPr lang="en-US" sz="1100" b="1">
                  <a:latin typeface="Courier New" panose="02070309020205020404" pitchFamily="49" charset="0"/>
                </a:rPr>
                <a:t>   ++count;  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increment static count of employees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1855" name="Group 218"/>
          <p:cNvGrpSpPr>
            <a:grpSpLocks/>
          </p:cNvGrpSpPr>
          <p:nvPr/>
        </p:nvGrpSpPr>
        <p:grpSpPr bwMode="auto">
          <a:xfrm>
            <a:off x="1524000" y="1066800"/>
            <a:ext cx="7519592" cy="2400300"/>
            <a:chOff x="960" y="672"/>
            <a:chExt cx="4235" cy="1512"/>
          </a:xfrm>
        </p:grpSpPr>
        <p:sp>
          <p:nvSpPr>
            <p:cNvPr id="31786" name="Text Box 102"/>
            <p:cNvSpPr txBox="1">
              <a:spLocks noChangeArrowheads="1"/>
            </p:cNvSpPr>
            <p:nvPr/>
          </p:nvSpPr>
          <p:spPr bwMode="auto">
            <a:xfrm>
              <a:off x="3235" y="672"/>
              <a:ext cx="1960" cy="43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b="1" dirty="0">
                  <a:latin typeface="Courier New" panose="02070309020205020404" pitchFamily="49" charset="0"/>
                </a:rPr>
                <a:t>static</a:t>
              </a:r>
              <a:r>
                <a:rPr lang="en-US" sz="1400" b="1" dirty="0"/>
                <a:t> data member </a:t>
              </a:r>
              <a:r>
                <a:rPr lang="en-US" sz="1400" b="1" dirty="0">
                  <a:latin typeface="Courier New" panose="02070309020205020404" pitchFamily="49" charset="0"/>
                </a:rPr>
                <a:t>count</a:t>
              </a:r>
              <a:r>
                <a:rPr lang="en-US" sz="1400" b="1" dirty="0"/>
                <a:t> and function </a:t>
              </a:r>
              <a:r>
                <a:rPr lang="en-US" sz="1400" b="1" dirty="0" err="1">
                  <a:latin typeface="Courier New" panose="02070309020205020404" pitchFamily="49" charset="0"/>
                </a:rPr>
                <a:t>getCount</a:t>
              </a:r>
              <a:r>
                <a:rPr lang="en-US" sz="1400" b="1" dirty="0">
                  <a:latin typeface="Courier New" panose="02070309020205020404" pitchFamily="49" charset="0"/>
                </a:rPr>
                <a:t>( )</a:t>
              </a:r>
              <a:r>
                <a:rPr lang="en-US" sz="1400" b="1" dirty="0"/>
                <a:t> </a:t>
              </a:r>
              <a:r>
                <a:rPr lang="en-US" sz="1400" b="1" dirty="0">
                  <a:solidFill>
                    <a:srgbClr val="D20000"/>
                  </a:solidFill>
                </a:rPr>
                <a:t>initialized at file scope (required).</a:t>
              </a:r>
            </a:p>
          </p:txBody>
        </p:sp>
        <p:sp>
          <p:nvSpPr>
            <p:cNvPr id="31787" name="Line 216"/>
            <p:cNvSpPr>
              <a:spLocks noChangeShapeType="1"/>
            </p:cNvSpPr>
            <p:nvPr/>
          </p:nvSpPr>
          <p:spPr bwMode="auto">
            <a:xfrm flipH="1">
              <a:off x="960" y="880"/>
              <a:ext cx="2275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88" name="Line 217"/>
            <p:cNvSpPr>
              <a:spLocks noChangeShapeType="1"/>
            </p:cNvSpPr>
            <p:nvPr/>
          </p:nvSpPr>
          <p:spPr bwMode="auto">
            <a:xfrm flipH="1">
              <a:off x="1432" y="1062"/>
              <a:ext cx="1803" cy="1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1856" name="Group 221"/>
          <p:cNvGrpSpPr>
            <a:grpSpLocks/>
          </p:cNvGrpSpPr>
          <p:nvPr/>
        </p:nvGrpSpPr>
        <p:grpSpPr bwMode="auto">
          <a:xfrm>
            <a:off x="2667000" y="3378201"/>
            <a:ext cx="5410200" cy="2717801"/>
            <a:chOff x="1680" y="2128"/>
            <a:chExt cx="3408" cy="1712"/>
          </a:xfrm>
        </p:grpSpPr>
        <p:sp>
          <p:nvSpPr>
            <p:cNvPr id="31783" name="Text Box 212"/>
            <p:cNvSpPr txBox="1">
              <a:spLocks noChangeArrowheads="1"/>
            </p:cNvSpPr>
            <p:nvPr/>
          </p:nvSpPr>
          <p:spPr bwMode="auto">
            <a:xfrm>
              <a:off x="3759" y="2128"/>
              <a:ext cx="1329" cy="4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just" eaLnBrk="1" hangingPunct="1"/>
              <a:r>
                <a:rPr lang="en-US" sz="1600" dirty="0"/>
                <a:t>Note the use of </a:t>
              </a:r>
              <a:r>
                <a:rPr lang="en-US" sz="1600" b="1" dirty="0">
                  <a:solidFill>
                    <a:srgbClr val="D20000"/>
                  </a:solidFill>
                  <a:latin typeface="Courier New" panose="02070309020205020404" pitchFamily="49" charset="0"/>
                </a:rPr>
                <a:t>assert</a:t>
              </a:r>
              <a:r>
                <a:rPr lang="en-US" sz="1600" dirty="0">
                  <a:solidFill>
                    <a:srgbClr val="D20000"/>
                  </a:solidFill>
                </a:rPr>
                <a:t> </a:t>
              </a:r>
              <a:r>
                <a:rPr lang="en-US" sz="1600" dirty="0"/>
                <a:t>to </a:t>
              </a:r>
              <a:r>
                <a:rPr lang="en-US" sz="1600" b="1" dirty="0">
                  <a:solidFill>
                    <a:srgbClr val="2F1BC7"/>
                  </a:solidFill>
                </a:rPr>
                <a:t>test for memory allocation</a:t>
              </a:r>
              <a:r>
                <a:rPr lang="en-US" sz="1600" b="1" dirty="0"/>
                <a:t>.</a:t>
              </a:r>
            </a:p>
          </p:txBody>
        </p:sp>
        <p:sp>
          <p:nvSpPr>
            <p:cNvPr id="31784" name="Line 219"/>
            <p:cNvSpPr>
              <a:spLocks noChangeShapeType="1"/>
            </p:cNvSpPr>
            <p:nvPr/>
          </p:nvSpPr>
          <p:spPr bwMode="auto">
            <a:xfrm flipH="1">
              <a:off x="1728" y="2211"/>
              <a:ext cx="2031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85" name="Line 220"/>
            <p:cNvSpPr>
              <a:spLocks noChangeShapeType="1"/>
            </p:cNvSpPr>
            <p:nvPr/>
          </p:nvSpPr>
          <p:spPr bwMode="auto">
            <a:xfrm flipH="1">
              <a:off x="1680" y="2640"/>
              <a:ext cx="2079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1857" name="Group 223"/>
          <p:cNvGrpSpPr>
            <a:grpSpLocks/>
          </p:cNvGrpSpPr>
          <p:nvPr/>
        </p:nvGrpSpPr>
        <p:grpSpPr bwMode="auto">
          <a:xfrm>
            <a:off x="1295400" y="5267330"/>
            <a:ext cx="7618329" cy="1468439"/>
            <a:chOff x="816" y="3318"/>
            <a:chExt cx="4559" cy="925"/>
          </a:xfrm>
        </p:grpSpPr>
        <p:sp>
          <p:nvSpPr>
            <p:cNvPr id="31781" name="Text Box 214"/>
            <p:cNvSpPr txBox="1">
              <a:spLocks noChangeArrowheads="1"/>
            </p:cNvSpPr>
            <p:nvPr/>
          </p:nvSpPr>
          <p:spPr bwMode="auto">
            <a:xfrm>
              <a:off x="3612" y="3318"/>
              <a:ext cx="1763" cy="72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rgbClr val="D20000"/>
                  </a:solidFill>
                  <a:latin typeface="Courier New" panose="02070309020205020404" pitchFamily="49" charset="0"/>
                </a:rPr>
                <a:t>static</a:t>
              </a:r>
              <a:r>
                <a:rPr lang="en-US" b="1" dirty="0">
                  <a:solidFill>
                    <a:srgbClr val="D20000"/>
                  </a:solidFill>
                </a:rPr>
                <a:t> </a:t>
              </a:r>
              <a:r>
                <a:rPr lang="en-US" dirty="0"/>
                <a:t>data</a:t>
              </a:r>
              <a:r>
                <a:rPr lang="en-US" b="1" dirty="0"/>
                <a:t> </a:t>
              </a:r>
              <a:r>
                <a:rPr lang="en-US" dirty="0"/>
                <a:t>member</a:t>
              </a:r>
              <a:r>
                <a:rPr lang="en-US" b="1" dirty="0"/>
                <a:t> </a:t>
              </a:r>
              <a:r>
                <a:rPr lang="en-US" b="1" dirty="0">
                  <a:latin typeface="Courier New" panose="02070309020205020404" pitchFamily="49" charset="0"/>
                </a:rPr>
                <a:t>count</a:t>
              </a:r>
              <a:r>
                <a:rPr lang="en-US" dirty="0"/>
                <a:t> changed when a constructor/destructor called.</a:t>
              </a:r>
              <a:endParaRPr lang="en-US" b="1" dirty="0"/>
            </a:p>
          </p:txBody>
        </p:sp>
        <p:sp>
          <p:nvSpPr>
            <p:cNvPr id="31782" name="Line 222"/>
            <p:cNvSpPr>
              <a:spLocks noChangeShapeType="1"/>
            </p:cNvSpPr>
            <p:nvPr/>
          </p:nvSpPr>
          <p:spPr bwMode="auto">
            <a:xfrm flipH="1">
              <a:off x="816" y="4003"/>
              <a:ext cx="27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686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4"/>
          <p:cNvGrpSpPr>
            <a:grpSpLocks/>
          </p:cNvGrpSpPr>
          <p:nvPr/>
        </p:nvGrpSpPr>
        <p:grpSpPr bwMode="auto">
          <a:xfrm>
            <a:off x="0" y="0"/>
            <a:ext cx="6781800" cy="220663"/>
            <a:chOff x="0" y="0"/>
            <a:chExt cx="3072" cy="374"/>
          </a:xfrm>
        </p:grpSpPr>
        <p:sp>
          <p:nvSpPr>
            <p:cNvPr id="32867" name="Rectangle 5"/>
            <p:cNvSpPr>
              <a:spLocks noChangeArrowheads="1"/>
            </p:cNvSpPr>
            <p:nvPr/>
          </p:nvSpPr>
          <p:spPr bwMode="auto">
            <a:xfrm>
              <a:off x="0" y="5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68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57	</a:t>
              </a:r>
              <a:r>
                <a:rPr lang="en-US" sz="1100" b="1">
                  <a:latin typeface="Courier New" panose="02070309020205020404" pitchFamily="49" charset="0"/>
                </a:rPr>
                <a:t>   cout &lt;&lt; "Employee constructor for " &lt;&lt; firstName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71" name="Group 7"/>
          <p:cNvGrpSpPr>
            <a:grpSpLocks/>
          </p:cNvGrpSpPr>
          <p:nvPr/>
        </p:nvGrpSpPr>
        <p:grpSpPr bwMode="auto">
          <a:xfrm>
            <a:off x="0" y="220663"/>
            <a:ext cx="6781800" cy="220662"/>
            <a:chOff x="0" y="374"/>
            <a:chExt cx="3072" cy="374"/>
          </a:xfrm>
        </p:grpSpPr>
        <p:sp>
          <p:nvSpPr>
            <p:cNvPr id="32865" name="Rectangle 8"/>
            <p:cNvSpPr>
              <a:spLocks noChangeArrowheads="1"/>
            </p:cNvSpPr>
            <p:nvPr/>
          </p:nvSpPr>
          <p:spPr bwMode="auto">
            <a:xfrm>
              <a:off x="0" y="379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66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58	</a:t>
              </a:r>
              <a:r>
                <a:rPr lang="en-US" sz="1100" b="1">
                  <a:latin typeface="Courier New" panose="02070309020205020404" pitchFamily="49" charset="0"/>
                </a:rPr>
                <a:t>        &lt;&lt; ' ' &lt;&lt; lastName &lt;&lt; " called." &lt;&lt; endl;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72" name="Group 10"/>
          <p:cNvGrpSpPr>
            <a:grpSpLocks/>
          </p:cNvGrpSpPr>
          <p:nvPr/>
        </p:nvGrpSpPr>
        <p:grpSpPr bwMode="auto">
          <a:xfrm>
            <a:off x="0" y="441325"/>
            <a:ext cx="6781800" cy="222250"/>
            <a:chOff x="0" y="748"/>
            <a:chExt cx="3072" cy="374"/>
          </a:xfrm>
        </p:grpSpPr>
        <p:sp>
          <p:nvSpPr>
            <p:cNvPr id="32863" name="Rectangle 11"/>
            <p:cNvSpPr>
              <a:spLocks noChangeArrowheads="1"/>
            </p:cNvSpPr>
            <p:nvPr/>
          </p:nvSpPr>
          <p:spPr bwMode="auto">
            <a:xfrm>
              <a:off x="0" y="753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64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59	</a:t>
              </a:r>
              <a:r>
                <a:rPr lang="en-US" sz="11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73" name="Group 13"/>
          <p:cNvGrpSpPr>
            <a:grpSpLocks/>
          </p:cNvGrpSpPr>
          <p:nvPr/>
        </p:nvGrpSpPr>
        <p:grpSpPr bwMode="auto">
          <a:xfrm>
            <a:off x="0" y="663575"/>
            <a:ext cx="6781800" cy="220663"/>
            <a:chOff x="0" y="1122"/>
            <a:chExt cx="3072" cy="374"/>
          </a:xfrm>
        </p:grpSpPr>
        <p:sp>
          <p:nvSpPr>
            <p:cNvPr id="32861" name="Rectangle 14"/>
            <p:cNvSpPr>
              <a:spLocks noChangeArrowheads="1"/>
            </p:cNvSpPr>
            <p:nvPr/>
          </p:nvSpPr>
          <p:spPr bwMode="auto">
            <a:xfrm>
              <a:off x="0" y="1127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62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60	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74" name="Group 16"/>
          <p:cNvGrpSpPr>
            <a:grpSpLocks/>
          </p:cNvGrpSpPr>
          <p:nvPr/>
        </p:nvGrpSpPr>
        <p:grpSpPr bwMode="auto">
          <a:xfrm>
            <a:off x="0" y="884238"/>
            <a:ext cx="6781800" cy="220662"/>
            <a:chOff x="0" y="1496"/>
            <a:chExt cx="3072" cy="374"/>
          </a:xfrm>
        </p:grpSpPr>
        <p:sp>
          <p:nvSpPr>
            <p:cNvPr id="32859" name="Rectangle 17"/>
            <p:cNvSpPr>
              <a:spLocks noChangeArrowheads="1"/>
            </p:cNvSpPr>
            <p:nvPr/>
          </p:nvSpPr>
          <p:spPr bwMode="auto">
            <a:xfrm>
              <a:off x="0" y="1501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60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61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Destructor deallocates dynamically allocated memory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75" name="Group 19"/>
          <p:cNvGrpSpPr>
            <a:grpSpLocks/>
          </p:cNvGrpSpPr>
          <p:nvPr/>
        </p:nvGrpSpPr>
        <p:grpSpPr bwMode="auto">
          <a:xfrm>
            <a:off x="0" y="1104900"/>
            <a:ext cx="6781800" cy="222250"/>
            <a:chOff x="0" y="1870"/>
            <a:chExt cx="3072" cy="374"/>
          </a:xfrm>
        </p:grpSpPr>
        <p:sp>
          <p:nvSpPr>
            <p:cNvPr id="32857" name="Rectangle 20"/>
            <p:cNvSpPr>
              <a:spLocks noChangeArrowheads="1"/>
            </p:cNvSpPr>
            <p:nvPr/>
          </p:nvSpPr>
          <p:spPr bwMode="auto">
            <a:xfrm>
              <a:off x="0" y="1875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58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62	</a:t>
              </a:r>
              <a:r>
                <a:rPr lang="en-US" sz="1100" b="1">
                  <a:latin typeface="Courier New" panose="02070309020205020404" pitchFamily="49" charset="0"/>
                </a:rPr>
                <a:t>Employee::~Employee()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76" name="Group 22"/>
          <p:cNvGrpSpPr>
            <a:grpSpLocks/>
          </p:cNvGrpSpPr>
          <p:nvPr/>
        </p:nvGrpSpPr>
        <p:grpSpPr bwMode="auto">
          <a:xfrm>
            <a:off x="0" y="1327150"/>
            <a:ext cx="6781800" cy="220663"/>
            <a:chOff x="0" y="2244"/>
            <a:chExt cx="3072" cy="374"/>
          </a:xfrm>
        </p:grpSpPr>
        <p:sp>
          <p:nvSpPr>
            <p:cNvPr id="32855" name="Rectangle 23"/>
            <p:cNvSpPr>
              <a:spLocks noChangeArrowheads="1"/>
            </p:cNvSpPr>
            <p:nvPr/>
          </p:nvSpPr>
          <p:spPr bwMode="auto">
            <a:xfrm>
              <a:off x="0" y="2249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56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63	</a:t>
              </a:r>
              <a:r>
                <a:rPr lang="en-US" sz="11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77" name="Group 25"/>
          <p:cNvGrpSpPr>
            <a:grpSpLocks/>
          </p:cNvGrpSpPr>
          <p:nvPr/>
        </p:nvGrpSpPr>
        <p:grpSpPr bwMode="auto">
          <a:xfrm>
            <a:off x="0" y="1547813"/>
            <a:ext cx="6781800" cy="222250"/>
            <a:chOff x="0" y="2618"/>
            <a:chExt cx="3072" cy="374"/>
          </a:xfrm>
        </p:grpSpPr>
        <p:sp>
          <p:nvSpPr>
            <p:cNvPr id="32853" name="Rectangle 26"/>
            <p:cNvSpPr>
              <a:spLocks noChangeArrowheads="1"/>
            </p:cNvSpPr>
            <p:nvPr/>
          </p:nvSpPr>
          <p:spPr bwMode="auto">
            <a:xfrm>
              <a:off x="0" y="2623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54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64	</a:t>
              </a:r>
              <a:r>
                <a:rPr lang="en-US" sz="1100" b="1">
                  <a:latin typeface="Courier New" panose="02070309020205020404" pitchFamily="49" charset="0"/>
                </a:rPr>
                <a:t>   cout &lt;&lt; "~Employee() called for " &lt;&lt; firstName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78" name="Group 28"/>
          <p:cNvGrpSpPr>
            <a:grpSpLocks/>
          </p:cNvGrpSpPr>
          <p:nvPr/>
        </p:nvGrpSpPr>
        <p:grpSpPr bwMode="auto">
          <a:xfrm>
            <a:off x="0" y="1770063"/>
            <a:ext cx="6781800" cy="220662"/>
            <a:chOff x="0" y="2992"/>
            <a:chExt cx="3072" cy="374"/>
          </a:xfrm>
        </p:grpSpPr>
        <p:sp>
          <p:nvSpPr>
            <p:cNvPr id="32851" name="Rectangle 29"/>
            <p:cNvSpPr>
              <a:spLocks noChangeArrowheads="1"/>
            </p:cNvSpPr>
            <p:nvPr/>
          </p:nvSpPr>
          <p:spPr bwMode="auto">
            <a:xfrm>
              <a:off x="0" y="2997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52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65	</a:t>
              </a:r>
              <a:r>
                <a:rPr lang="en-US" sz="1100" b="1">
                  <a:latin typeface="Courier New" panose="02070309020205020404" pitchFamily="49" charset="0"/>
                </a:rPr>
                <a:t>        &lt;&lt; ' ' &lt;&lt; lastName &lt;&lt; endl;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79" name="Group 31"/>
          <p:cNvGrpSpPr>
            <a:grpSpLocks/>
          </p:cNvGrpSpPr>
          <p:nvPr/>
        </p:nvGrpSpPr>
        <p:grpSpPr bwMode="auto">
          <a:xfrm>
            <a:off x="0" y="1990725"/>
            <a:ext cx="6781800" cy="220663"/>
            <a:chOff x="0" y="3366"/>
            <a:chExt cx="3072" cy="374"/>
          </a:xfrm>
        </p:grpSpPr>
        <p:sp>
          <p:nvSpPr>
            <p:cNvPr id="32849" name="Rectangle 32"/>
            <p:cNvSpPr>
              <a:spLocks noChangeArrowheads="1"/>
            </p:cNvSpPr>
            <p:nvPr/>
          </p:nvSpPr>
          <p:spPr bwMode="auto">
            <a:xfrm>
              <a:off x="0" y="3371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50" name="Rectangle 3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66	</a:t>
              </a:r>
              <a:r>
                <a:rPr lang="en-US" sz="1100" b="1">
                  <a:latin typeface="Courier New" panose="02070309020205020404" pitchFamily="49" charset="0"/>
                </a:rPr>
                <a:t>  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delete</a:t>
              </a:r>
              <a:r>
                <a:rPr lang="en-US" sz="1100" b="1">
                  <a:latin typeface="Courier New" panose="02070309020205020404" pitchFamily="49" charset="0"/>
                </a:rPr>
                <a:t> [] firstName;  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recapture memory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80" name="Group 34"/>
          <p:cNvGrpSpPr>
            <a:grpSpLocks/>
          </p:cNvGrpSpPr>
          <p:nvPr/>
        </p:nvGrpSpPr>
        <p:grpSpPr bwMode="auto">
          <a:xfrm>
            <a:off x="0" y="2211388"/>
            <a:ext cx="6781800" cy="222250"/>
            <a:chOff x="0" y="3740"/>
            <a:chExt cx="3072" cy="374"/>
          </a:xfrm>
        </p:grpSpPr>
        <p:sp>
          <p:nvSpPr>
            <p:cNvPr id="32847" name="Rectangle 35"/>
            <p:cNvSpPr>
              <a:spLocks noChangeArrowheads="1"/>
            </p:cNvSpPr>
            <p:nvPr/>
          </p:nvSpPr>
          <p:spPr bwMode="auto">
            <a:xfrm>
              <a:off x="0" y="3745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48" name="Rectangle 36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67	</a:t>
              </a:r>
              <a:r>
                <a:rPr lang="en-US" sz="1100" b="1">
                  <a:latin typeface="Courier New" panose="02070309020205020404" pitchFamily="49" charset="0"/>
                </a:rPr>
                <a:t>  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delete</a:t>
              </a:r>
              <a:r>
                <a:rPr lang="en-US" sz="1100" b="1">
                  <a:latin typeface="Courier New" panose="02070309020205020404" pitchFamily="49" charset="0"/>
                </a:rPr>
                <a:t> [] lastName;  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// recapture memory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81" name="Group 37"/>
          <p:cNvGrpSpPr>
            <a:grpSpLocks/>
          </p:cNvGrpSpPr>
          <p:nvPr/>
        </p:nvGrpSpPr>
        <p:grpSpPr bwMode="auto">
          <a:xfrm>
            <a:off x="0" y="2433638"/>
            <a:ext cx="6781800" cy="220662"/>
            <a:chOff x="0" y="4114"/>
            <a:chExt cx="3072" cy="374"/>
          </a:xfrm>
        </p:grpSpPr>
        <p:sp>
          <p:nvSpPr>
            <p:cNvPr id="32845" name="Rectangle 38"/>
            <p:cNvSpPr>
              <a:spLocks noChangeArrowheads="1"/>
            </p:cNvSpPr>
            <p:nvPr/>
          </p:nvSpPr>
          <p:spPr bwMode="auto">
            <a:xfrm>
              <a:off x="0" y="4119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46" name="Rectangle 39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68	</a:t>
              </a:r>
              <a:r>
                <a:rPr lang="en-US" sz="1100" b="1" dirty="0">
                  <a:latin typeface="Courier New" panose="02070309020205020404" pitchFamily="49" charset="0"/>
                </a:rPr>
                <a:t>   </a:t>
              </a:r>
              <a:r>
                <a:rPr lang="en-US" sz="1400" b="1" dirty="0">
                  <a:solidFill>
                    <a:srgbClr val="D20000"/>
                  </a:solidFill>
                  <a:latin typeface="Courier New" panose="02070309020205020404" pitchFamily="49" charset="0"/>
                </a:rPr>
                <a:t>--count;  </a:t>
              </a:r>
              <a:r>
                <a:rPr lang="en-US" sz="11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decrement static count of employees</a:t>
              </a:r>
              <a:endParaRPr lang="en-US" sz="11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82" name="Group 40"/>
          <p:cNvGrpSpPr>
            <a:grpSpLocks/>
          </p:cNvGrpSpPr>
          <p:nvPr/>
        </p:nvGrpSpPr>
        <p:grpSpPr bwMode="auto">
          <a:xfrm>
            <a:off x="0" y="2654300"/>
            <a:ext cx="6781800" cy="222250"/>
            <a:chOff x="0" y="4488"/>
            <a:chExt cx="3072" cy="374"/>
          </a:xfrm>
        </p:grpSpPr>
        <p:sp>
          <p:nvSpPr>
            <p:cNvPr id="32843" name="Rectangle 41"/>
            <p:cNvSpPr>
              <a:spLocks noChangeArrowheads="1"/>
            </p:cNvSpPr>
            <p:nvPr/>
          </p:nvSpPr>
          <p:spPr bwMode="auto">
            <a:xfrm>
              <a:off x="0" y="4493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44" name="Rectangle 42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69	</a:t>
              </a:r>
              <a:r>
                <a:rPr lang="en-US" sz="11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83" name="Group 43"/>
          <p:cNvGrpSpPr>
            <a:grpSpLocks/>
          </p:cNvGrpSpPr>
          <p:nvPr/>
        </p:nvGrpSpPr>
        <p:grpSpPr bwMode="auto">
          <a:xfrm>
            <a:off x="0" y="2876550"/>
            <a:ext cx="6781800" cy="220663"/>
            <a:chOff x="0" y="4862"/>
            <a:chExt cx="3072" cy="374"/>
          </a:xfrm>
        </p:grpSpPr>
        <p:sp>
          <p:nvSpPr>
            <p:cNvPr id="32841" name="Rectangle 44"/>
            <p:cNvSpPr>
              <a:spLocks noChangeArrowheads="1"/>
            </p:cNvSpPr>
            <p:nvPr/>
          </p:nvSpPr>
          <p:spPr bwMode="auto">
            <a:xfrm>
              <a:off x="0" y="4867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42" name="Rectangle 45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70	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84" name="Group 46"/>
          <p:cNvGrpSpPr>
            <a:grpSpLocks/>
          </p:cNvGrpSpPr>
          <p:nvPr/>
        </p:nvGrpSpPr>
        <p:grpSpPr bwMode="auto">
          <a:xfrm>
            <a:off x="0" y="3097213"/>
            <a:ext cx="6781800" cy="220662"/>
            <a:chOff x="0" y="5236"/>
            <a:chExt cx="3072" cy="374"/>
          </a:xfrm>
        </p:grpSpPr>
        <p:sp>
          <p:nvSpPr>
            <p:cNvPr id="32839" name="Rectangle 47"/>
            <p:cNvSpPr>
              <a:spLocks noChangeArrowheads="1"/>
            </p:cNvSpPr>
            <p:nvPr/>
          </p:nvSpPr>
          <p:spPr bwMode="auto">
            <a:xfrm>
              <a:off x="0" y="5241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40" name="Rectangle 4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71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Return first name of employee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85" name="Group 49"/>
          <p:cNvGrpSpPr>
            <a:grpSpLocks/>
          </p:cNvGrpSpPr>
          <p:nvPr/>
        </p:nvGrpSpPr>
        <p:grpSpPr bwMode="auto">
          <a:xfrm>
            <a:off x="0" y="3317875"/>
            <a:ext cx="6781800" cy="222250"/>
            <a:chOff x="0" y="5610"/>
            <a:chExt cx="3072" cy="374"/>
          </a:xfrm>
        </p:grpSpPr>
        <p:sp>
          <p:nvSpPr>
            <p:cNvPr id="32837" name="Rectangle 50"/>
            <p:cNvSpPr>
              <a:spLocks noChangeArrowheads="1"/>
            </p:cNvSpPr>
            <p:nvPr/>
          </p:nvSpPr>
          <p:spPr bwMode="auto">
            <a:xfrm>
              <a:off x="0" y="5615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38" name="Rectangle 51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72	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 char</a:t>
              </a:r>
              <a:r>
                <a:rPr lang="en-US" sz="1100" b="1">
                  <a:latin typeface="Courier New" panose="02070309020205020404" pitchFamily="49" charset="0"/>
                </a:rPr>
                <a:t> *Employee::getFirstName()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86" name="Group 52"/>
          <p:cNvGrpSpPr>
            <a:grpSpLocks/>
          </p:cNvGrpSpPr>
          <p:nvPr/>
        </p:nvGrpSpPr>
        <p:grpSpPr bwMode="auto">
          <a:xfrm>
            <a:off x="0" y="3540125"/>
            <a:ext cx="6781800" cy="220663"/>
            <a:chOff x="0" y="5984"/>
            <a:chExt cx="3072" cy="374"/>
          </a:xfrm>
        </p:grpSpPr>
        <p:sp>
          <p:nvSpPr>
            <p:cNvPr id="32835" name="Rectangle 53"/>
            <p:cNvSpPr>
              <a:spLocks noChangeArrowheads="1"/>
            </p:cNvSpPr>
            <p:nvPr/>
          </p:nvSpPr>
          <p:spPr bwMode="auto">
            <a:xfrm>
              <a:off x="0" y="5989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36" name="Rectangle 54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73	</a:t>
              </a:r>
              <a:r>
                <a:rPr lang="en-US" sz="11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87" name="Group 55"/>
          <p:cNvGrpSpPr>
            <a:grpSpLocks/>
          </p:cNvGrpSpPr>
          <p:nvPr/>
        </p:nvGrpSpPr>
        <p:grpSpPr bwMode="auto">
          <a:xfrm>
            <a:off x="0" y="3760788"/>
            <a:ext cx="6781800" cy="220662"/>
            <a:chOff x="0" y="6358"/>
            <a:chExt cx="3072" cy="374"/>
          </a:xfrm>
        </p:grpSpPr>
        <p:sp>
          <p:nvSpPr>
            <p:cNvPr id="32833" name="Rectangle 56"/>
            <p:cNvSpPr>
              <a:spLocks noChangeArrowheads="1"/>
            </p:cNvSpPr>
            <p:nvPr/>
          </p:nvSpPr>
          <p:spPr bwMode="auto">
            <a:xfrm>
              <a:off x="0" y="6363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34" name="Rectangle 57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74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Const before return type prevents client from modifying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88" name="Group 58"/>
          <p:cNvGrpSpPr>
            <a:grpSpLocks/>
          </p:cNvGrpSpPr>
          <p:nvPr/>
        </p:nvGrpSpPr>
        <p:grpSpPr bwMode="auto">
          <a:xfrm>
            <a:off x="0" y="3981450"/>
            <a:ext cx="6781800" cy="222250"/>
            <a:chOff x="0" y="6732"/>
            <a:chExt cx="3072" cy="374"/>
          </a:xfrm>
        </p:grpSpPr>
        <p:sp>
          <p:nvSpPr>
            <p:cNvPr id="32831" name="Rectangle 59"/>
            <p:cNvSpPr>
              <a:spLocks noChangeArrowheads="1"/>
            </p:cNvSpPr>
            <p:nvPr/>
          </p:nvSpPr>
          <p:spPr bwMode="auto">
            <a:xfrm>
              <a:off x="0" y="6737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32" name="Rectangle 60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75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private data. Client should copy returned string before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89" name="Group 61"/>
          <p:cNvGrpSpPr>
            <a:grpSpLocks/>
          </p:cNvGrpSpPr>
          <p:nvPr/>
        </p:nvGrpSpPr>
        <p:grpSpPr bwMode="auto">
          <a:xfrm>
            <a:off x="0" y="4203700"/>
            <a:ext cx="6781800" cy="220663"/>
            <a:chOff x="0" y="7106"/>
            <a:chExt cx="3072" cy="374"/>
          </a:xfrm>
        </p:grpSpPr>
        <p:sp>
          <p:nvSpPr>
            <p:cNvPr id="32829" name="Rectangle 62"/>
            <p:cNvSpPr>
              <a:spLocks noChangeArrowheads="1"/>
            </p:cNvSpPr>
            <p:nvPr/>
          </p:nvSpPr>
          <p:spPr bwMode="auto">
            <a:xfrm>
              <a:off x="0" y="7111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30" name="Rectangle 6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76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destructor deletes storage to prevent undefined pointer.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90" name="Group 64"/>
          <p:cNvGrpSpPr>
            <a:grpSpLocks/>
          </p:cNvGrpSpPr>
          <p:nvPr/>
        </p:nvGrpSpPr>
        <p:grpSpPr bwMode="auto">
          <a:xfrm>
            <a:off x="0" y="4424363"/>
            <a:ext cx="6781800" cy="222250"/>
            <a:chOff x="0" y="7480"/>
            <a:chExt cx="3072" cy="374"/>
          </a:xfrm>
        </p:grpSpPr>
        <p:sp>
          <p:nvSpPr>
            <p:cNvPr id="32827" name="Rectangle 65"/>
            <p:cNvSpPr>
              <a:spLocks noChangeArrowheads="1"/>
            </p:cNvSpPr>
            <p:nvPr/>
          </p:nvSpPr>
          <p:spPr bwMode="auto">
            <a:xfrm>
              <a:off x="0" y="7485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28" name="Rectangle 66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77	</a:t>
              </a:r>
              <a:r>
                <a:rPr lang="en-US" sz="1100" b="1">
                  <a:latin typeface="Courier New" panose="02070309020205020404" pitchFamily="49" charset="0"/>
                </a:rPr>
                <a:t>  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100" b="1">
                  <a:latin typeface="Courier New" panose="02070309020205020404" pitchFamily="49" charset="0"/>
                </a:rPr>
                <a:t> firstName;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91" name="Group 67"/>
          <p:cNvGrpSpPr>
            <a:grpSpLocks/>
          </p:cNvGrpSpPr>
          <p:nvPr/>
        </p:nvGrpSpPr>
        <p:grpSpPr bwMode="auto">
          <a:xfrm>
            <a:off x="0" y="4646613"/>
            <a:ext cx="6781800" cy="220662"/>
            <a:chOff x="0" y="7854"/>
            <a:chExt cx="3072" cy="374"/>
          </a:xfrm>
        </p:grpSpPr>
        <p:sp>
          <p:nvSpPr>
            <p:cNvPr id="32825" name="Rectangle 68"/>
            <p:cNvSpPr>
              <a:spLocks noChangeArrowheads="1"/>
            </p:cNvSpPr>
            <p:nvPr/>
          </p:nvSpPr>
          <p:spPr bwMode="auto">
            <a:xfrm>
              <a:off x="0" y="7859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26" name="Rectangle 69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78	</a:t>
              </a:r>
              <a:r>
                <a:rPr lang="en-US" sz="11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92" name="Group 70"/>
          <p:cNvGrpSpPr>
            <a:grpSpLocks/>
          </p:cNvGrpSpPr>
          <p:nvPr/>
        </p:nvGrpSpPr>
        <p:grpSpPr bwMode="auto">
          <a:xfrm>
            <a:off x="0" y="4867275"/>
            <a:ext cx="6781800" cy="220663"/>
            <a:chOff x="0" y="8228"/>
            <a:chExt cx="3072" cy="374"/>
          </a:xfrm>
        </p:grpSpPr>
        <p:sp>
          <p:nvSpPr>
            <p:cNvPr id="32823" name="Rectangle 71"/>
            <p:cNvSpPr>
              <a:spLocks noChangeArrowheads="1"/>
            </p:cNvSpPr>
            <p:nvPr/>
          </p:nvSpPr>
          <p:spPr bwMode="auto">
            <a:xfrm>
              <a:off x="0" y="8233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24" name="Rectangle 72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79	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93" name="Group 73"/>
          <p:cNvGrpSpPr>
            <a:grpSpLocks/>
          </p:cNvGrpSpPr>
          <p:nvPr/>
        </p:nvGrpSpPr>
        <p:grpSpPr bwMode="auto">
          <a:xfrm>
            <a:off x="0" y="5087938"/>
            <a:ext cx="6781800" cy="222250"/>
            <a:chOff x="0" y="8602"/>
            <a:chExt cx="3072" cy="374"/>
          </a:xfrm>
        </p:grpSpPr>
        <p:sp>
          <p:nvSpPr>
            <p:cNvPr id="32821" name="Rectangle 74"/>
            <p:cNvSpPr>
              <a:spLocks noChangeArrowheads="1"/>
            </p:cNvSpPr>
            <p:nvPr/>
          </p:nvSpPr>
          <p:spPr bwMode="auto">
            <a:xfrm>
              <a:off x="0" y="8607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22" name="Rectangle 75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80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Return last name of employee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94" name="Group 76"/>
          <p:cNvGrpSpPr>
            <a:grpSpLocks/>
          </p:cNvGrpSpPr>
          <p:nvPr/>
        </p:nvGrpSpPr>
        <p:grpSpPr bwMode="auto">
          <a:xfrm>
            <a:off x="0" y="5310188"/>
            <a:ext cx="6781800" cy="220662"/>
            <a:chOff x="0" y="8976"/>
            <a:chExt cx="3072" cy="374"/>
          </a:xfrm>
        </p:grpSpPr>
        <p:sp>
          <p:nvSpPr>
            <p:cNvPr id="32819" name="Rectangle 77"/>
            <p:cNvSpPr>
              <a:spLocks noChangeArrowheads="1"/>
            </p:cNvSpPr>
            <p:nvPr/>
          </p:nvSpPr>
          <p:spPr bwMode="auto">
            <a:xfrm>
              <a:off x="0" y="8981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20" name="Rectangle 7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81	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 char</a:t>
              </a:r>
              <a:r>
                <a:rPr lang="en-US" sz="1100" b="1">
                  <a:latin typeface="Courier New" panose="02070309020205020404" pitchFamily="49" charset="0"/>
                </a:rPr>
                <a:t> *Employee::getLastName()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95" name="Group 79"/>
          <p:cNvGrpSpPr>
            <a:grpSpLocks/>
          </p:cNvGrpSpPr>
          <p:nvPr/>
        </p:nvGrpSpPr>
        <p:grpSpPr bwMode="auto">
          <a:xfrm>
            <a:off x="0" y="5530850"/>
            <a:ext cx="6781800" cy="222250"/>
            <a:chOff x="0" y="9350"/>
            <a:chExt cx="3072" cy="374"/>
          </a:xfrm>
        </p:grpSpPr>
        <p:sp>
          <p:nvSpPr>
            <p:cNvPr id="32817" name="Rectangle 80"/>
            <p:cNvSpPr>
              <a:spLocks noChangeArrowheads="1"/>
            </p:cNvSpPr>
            <p:nvPr/>
          </p:nvSpPr>
          <p:spPr bwMode="auto">
            <a:xfrm>
              <a:off x="0" y="9355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18" name="Rectangle 81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82	</a:t>
              </a:r>
              <a:r>
                <a:rPr lang="en-US" sz="11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96" name="Group 82"/>
          <p:cNvGrpSpPr>
            <a:grpSpLocks/>
          </p:cNvGrpSpPr>
          <p:nvPr/>
        </p:nvGrpSpPr>
        <p:grpSpPr bwMode="auto">
          <a:xfrm>
            <a:off x="0" y="5753100"/>
            <a:ext cx="6781800" cy="220663"/>
            <a:chOff x="0" y="9724"/>
            <a:chExt cx="3072" cy="374"/>
          </a:xfrm>
        </p:grpSpPr>
        <p:sp>
          <p:nvSpPr>
            <p:cNvPr id="32815" name="Rectangle 83"/>
            <p:cNvSpPr>
              <a:spLocks noChangeArrowheads="1"/>
            </p:cNvSpPr>
            <p:nvPr/>
          </p:nvSpPr>
          <p:spPr bwMode="auto">
            <a:xfrm>
              <a:off x="0" y="9729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16" name="Rectangle 84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83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Const before return type prevents client from modifying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97" name="Group 85"/>
          <p:cNvGrpSpPr>
            <a:grpSpLocks/>
          </p:cNvGrpSpPr>
          <p:nvPr/>
        </p:nvGrpSpPr>
        <p:grpSpPr bwMode="auto">
          <a:xfrm>
            <a:off x="0" y="5973763"/>
            <a:ext cx="6781800" cy="220662"/>
            <a:chOff x="0" y="10098"/>
            <a:chExt cx="3072" cy="374"/>
          </a:xfrm>
        </p:grpSpPr>
        <p:sp>
          <p:nvSpPr>
            <p:cNvPr id="32813" name="Rectangle 86"/>
            <p:cNvSpPr>
              <a:spLocks noChangeArrowheads="1"/>
            </p:cNvSpPr>
            <p:nvPr/>
          </p:nvSpPr>
          <p:spPr bwMode="auto">
            <a:xfrm>
              <a:off x="0" y="10103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14" name="Rectangle 87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84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private data. Client should copy returned string before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98" name="Group 88"/>
          <p:cNvGrpSpPr>
            <a:grpSpLocks/>
          </p:cNvGrpSpPr>
          <p:nvPr/>
        </p:nvGrpSpPr>
        <p:grpSpPr bwMode="auto">
          <a:xfrm>
            <a:off x="0" y="6194425"/>
            <a:ext cx="6781800" cy="222250"/>
            <a:chOff x="0" y="10472"/>
            <a:chExt cx="3072" cy="374"/>
          </a:xfrm>
        </p:grpSpPr>
        <p:sp>
          <p:nvSpPr>
            <p:cNvPr id="32811" name="Rectangle 89"/>
            <p:cNvSpPr>
              <a:spLocks noChangeArrowheads="1"/>
            </p:cNvSpPr>
            <p:nvPr/>
          </p:nvSpPr>
          <p:spPr bwMode="auto">
            <a:xfrm>
              <a:off x="0" y="10477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12" name="Rectangle 90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85	</a:t>
              </a:r>
              <a:r>
                <a:rPr lang="en-US" sz="11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destructor deletes storage to prevent undefined pointer.</a:t>
              </a:r>
              <a:endParaRPr lang="en-US" sz="11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799" name="Group 91"/>
          <p:cNvGrpSpPr>
            <a:grpSpLocks/>
          </p:cNvGrpSpPr>
          <p:nvPr/>
        </p:nvGrpSpPr>
        <p:grpSpPr bwMode="auto">
          <a:xfrm>
            <a:off x="0" y="6416675"/>
            <a:ext cx="6781800" cy="220663"/>
            <a:chOff x="0" y="10846"/>
            <a:chExt cx="3072" cy="374"/>
          </a:xfrm>
        </p:grpSpPr>
        <p:sp>
          <p:nvSpPr>
            <p:cNvPr id="32809" name="Rectangle 92"/>
            <p:cNvSpPr>
              <a:spLocks noChangeArrowheads="1"/>
            </p:cNvSpPr>
            <p:nvPr/>
          </p:nvSpPr>
          <p:spPr bwMode="auto">
            <a:xfrm>
              <a:off x="0" y="10851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10" name="Rectangle 9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86	</a:t>
              </a:r>
              <a:r>
                <a:rPr lang="en-US" sz="1100" b="1">
                  <a:latin typeface="Courier New" panose="02070309020205020404" pitchFamily="49" charset="0"/>
                </a:rPr>
                <a:t>   </a:t>
              </a:r>
              <a:r>
                <a:rPr lang="en-US" sz="1100" b="1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100" b="1">
                  <a:latin typeface="Courier New" panose="02070309020205020404" pitchFamily="49" charset="0"/>
                </a:rPr>
                <a:t> lastName;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800" name="Group 94"/>
          <p:cNvGrpSpPr>
            <a:grpSpLocks/>
          </p:cNvGrpSpPr>
          <p:nvPr/>
        </p:nvGrpSpPr>
        <p:grpSpPr bwMode="auto">
          <a:xfrm>
            <a:off x="0" y="6637338"/>
            <a:ext cx="6781800" cy="220662"/>
            <a:chOff x="0" y="11220"/>
            <a:chExt cx="3072" cy="374"/>
          </a:xfrm>
        </p:grpSpPr>
        <p:sp>
          <p:nvSpPr>
            <p:cNvPr id="32807" name="Rectangle 95"/>
            <p:cNvSpPr>
              <a:spLocks noChangeArrowheads="1"/>
            </p:cNvSpPr>
            <p:nvPr/>
          </p:nvSpPr>
          <p:spPr bwMode="auto">
            <a:xfrm>
              <a:off x="0" y="11225"/>
              <a:ext cx="3072" cy="36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100"/>
            </a:p>
          </p:txBody>
        </p:sp>
        <p:sp>
          <p:nvSpPr>
            <p:cNvPr id="32808" name="Rectangle 96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1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87	</a:t>
              </a:r>
              <a:r>
                <a:rPr lang="en-US" sz="11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1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2801" name="Group 111"/>
          <p:cNvGrpSpPr>
            <a:grpSpLocks/>
          </p:cNvGrpSpPr>
          <p:nvPr/>
        </p:nvGrpSpPr>
        <p:grpSpPr bwMode="auto">
          <a:xfrm>
            <a:off x="1599741" y="2090623"/>
            <a:ext cx="7315659" cy="1277939"/>
            <a:chOff x="-51" y="3796"/>
            <a:chExt cx="4292" cy="805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32805" name="Text Box 104"/>
            <p:cNvSpPr txBox="1">
              <a:spLocks noChangeArrowheads="1"/>
            </p:cNvSpPr>
            <p:nvPr/>
          </p:nvSpPr>
          <p:spPr bwMode="auto">
            <a:xfrm>
              <a:off x="2993" y="3796"/>
              <a:ext cx="1248" cy="8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latin typeface="Courier New" panose="02070309020205020404" pitchFamily="49" charset="0"/>
                </a:rPr>
                <a:t>Count</a:t>
              </a:r>
              <a:r>
                <a:rPr lang="en-US" sz="1600" b="1" dirty="0"/>
                <a:t> </a:t>
              </a:r>
              <a:r>
                <a:rPr lang="en-US" sz="1600" dirty="0"/>
                <a:t>decremented because of destructor calls from </a:t>
              </a:r>
              <a:r>
                <a:rPr lang="en-US" sz="1600" b="1" dirty="0">
                  <a:latin typeface="Courier New" panose="02070309020205020404" pitchFamily="49" charset="0"/>
                </a:rPr>
                <a:t>delete</a:t>
              </a:r>
              <a:r>
                <a:rPr lang="en-US" sz="1600" dirty="0"/>
                <a:t>.</a:t>
              </a:r>
            </a:p>
          </p:txBody>
        </p:sp>
        <p:sp>
          <p:nvSpPr>
            <p:cNvPr id="32806" name="Line 105"/>
            <p:cNvSpPr>
              <a:spLocks noChangeShapeType="1"/>
            </p:cNvSpPr>
            <p:nvPr/>
          </p:nvSpPr>
          <p:spPr bwMode="auto">
            <a:xfrm flipH="1" flipV="1">
              <a:off x="-51" y="4149"/>
              <a:ext cx="3040" cy="331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square" bIns="0" anchor="ctr">
              <a:spAutoFit/>
            </a:bodyPr>
            <a:lstStyle/>
            <a:p>
              <a:endParaRPr lang="en-US" sz="2000"/>
            </a:p>
          </p:txBody>
        </p:sp>
      </p:grpSp>
      <p:grpSp>
        <p:nvGrpSpPr>
          <p:cNvPr id="32802" name="Group 106"/>
          <p:cNvGrpSpPr>
            <a:grpSpLocks/>
          </p:cNvGrpSpPr>
          <p:nvPr/>
        </p:nvGrpSpPr>
        <p:grpSpPr bwMode="auto">
          <a:xfrm>
            <a:off x="1600200" y="1031878"/>
            <a:ext cx="7086600" cy="1498601"/>
            <a:chOff x="1056" y="3206"/>
            <a:chExt cx="4464" cy="944"/>
          </a:xfrm>
        </p:grpSpPr>
        <p:sp>
          <p:nvSpPr>
            <p:cNvPr id="32803" name="Text Box 107"/>
            <p:cNvSpPr txBox="1">
              <a:spLocks noChangeArrowheads="1"/>
            </p:cNvSpPr>
            <p:nvPr/>
          </p:nvSpPr>
          <p:spPr bwMode="auto">
            <a:xfrm>
              <a:off x="3360" y="3206"/>
              <a:ext cx="2160" cy="4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b="1" dirty="0">
                  <a:latin typeface="Courier New" panose="02070309020205020404" pitchFamily="49" charset="0"/>
                </a:rPr>
                <a:t>static</a:t>
              </a:r>
              <a:r>
                <a:rPr lang="en-US" sz="1600" b="1" dirty="0"/>
                <a:t> </a:t>
              </a:r>
              <a:r>
                <a:rPr lang="en-US" sz="1600" dirty="0"/>
                <a:t>data</a:t>
              </a:r>
              <a:r>
                <a:rPr lang="en-US" sz="1600" b="1" dirty="0"/>
                <a:t> </a:t>
              </a:r>
              <a:r>
                <a:rPr lang="en-US" sz="1600" dirty="0"/>
                <a:t>member</a:t>
              </a:r>
              <a:r>
                <a:rPr lang="en-US" sz="1600" b="1" dirty="0"/>
                <a:t> </a:t>
              </a:r>
              <a:r>
                <a:rPr lang="en-US" sz="1600" b="1" dirty="0">
                  <a:latin typeface="Courier New" panose="02070309020205020404" pitchFamily="49" charset="0"/>
                </a:rPr>
                <a:t>count</a:t>
              </a:r>
              <a:r>
                <a:rPr lang="en-US" sz="1600" dirty="0"/>
                <a:t> changed when a </a:t>
              </a:r>
              <a:r>
                <a:rPr lang="en-US" sz="1600" b="1" dirty="0"/>
                <a:t>constructor/destructor</a:t>
              </a:r>
              <a:r>
                <a:rPr lang="en-US" sz="1600" dirty="0"/>
                <a:t> </a:t>
              </a:r>
              <a:r>
                <a:rPr lang="en-US" sz="1600" b="1" dirty="0"/>
                <a:t>called</a:t>
              </a:r>
              <a:r>
                <a:rPr lang="en-US" sz="1600" dirty="0"/>
                <a:t>.</a:t>
              </a:r>
              <a:endParaRPr lang="en-US" sz="1600" b="1" dirty="0"/>
            </a:p>
          </p:txBody>
        </p:sp>
        <p:sp>
          <p:nvSpPr>
            <p:cNvPr id="32804" name="Line 108"/>
            <p:cNvSpPr>
              <a:spLocks noChangeShapeType="1"/>
            </p:cNvSpPr>
            <p:nvPr/>
          </p:nvSpPr>
          <p:spPr bwMode="auto">
            <a:xfrm flipH="1">
              <a:off x="1056" y="3516"/>
              <a:ext cx="2544" cy="6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90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4"/>
          <p:cNvGrpSpPr>
            <a:grpSpLocks/>
          </p:cNvGrpSpPr>
          <p:nvPr/>
        </p:nvGrpSpPr>
        <p:grpSpPr bwMode="auto">
          <a:xfrm>
            <a:off x="0" y="-4763"/>
            <a:ext cx="6781800" cy="230188"/>
            <a:chOff x="0" y="-8"/>
            <a:chExt cx="3072" cy="390"/>
          </a:xfrm>
        </p:grpSpPr>
        <p:sp>
          <p:nvSpPr>
            <p:cNvPr id="33909" name="Rectangle 5"/>
            <p:cNvSpPr>
              <a:spLocks noChangeArrowheads="1"/>
            </p:cNvSpPr>
            <p:nvPr/>
          </p:nvSpPr>
          <p:spPr bwMode="auto">
            <a:xfrm>
              <a:off x="0" y="-8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910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88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Fig. 7.9: fig07_09.cpp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795" name="Group 7"/>
          <p:cNvGrpSpPr>
            <a:grpSpLocks/>
          </p:cNvGrpSpPr>
          <p:nvPr/>
        </p:nvGrpSpPr>
        <p:grpSpPr bwMode="auto">
          <a:xfrm>
            <a:off x="0" y="215900"/>
            <a:ext cx="6781800" cy="230188"/>
            <a:chOff x="0" y="366"/>
            <a:chExt cx="3072" cy="390"/>
          </a:xfrm>
        </p:grpSpPr>
        <p:sp>
          <p:nvSpPr>
            <p:cNvPr id="33907" name="Rectangle 8"/>
            <p:cNvSpPr>
              <a:spLocks noChangeArrowheads="1"/>
            </p:cNvSpPr>
            <p:nvPr/>
          </p:nvSpPr>
          <p:spPr bwMode="auto">
            <a:xfrm>
              <a:off x="0" y="366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908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89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Driver to test the employee class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796" name="Group 10"/>
          <p:cNvGrpSpPr>
            <a:grpSpLocks/>
          </p:cNvGrpSpPr>
          <p:nvPr/>
        </p:nvGrpSpPr>
        <p:grpSpPr bwMode="auto">
          <a:xfrm>
            <a:off x="0" y="436563"/>
            <a:ext cx="6781800" cy="231775"/>
            <a:chOff x="0" y="740"/>
            <a:chExt cx="3072" cy="390"/>
          </a:xfrm>
        </p:grpSpPr>
        <p:sp>
          <p:nvSpPr>
            <p:cNvPr id="33905" name="Rectangle 11"/>
            <p:cNvSpPr>
              <a:spLocks noChangeArrowheads="1"/>
            </p:cNvSpPr>
            <p:nvPr/>
          </p:nvSpPr>
          <p:spPr bwMode="auto">
            <a:xfrm>
              <a:off x="0" y="740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906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90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>
                  <a:latin typeface="Courier New" panose="02070309020205020404" pitchFamily="49" charset="0"/>
                </a:rPr>
                <a:t> &lt;iostream&gt;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797" name="Group 13"/>
          <p:cNvGrpSpPr>
            <a:grpSpLocks/>
          </p:cNvGrpSpPr>
          <p:nvPr/>
        </p:nvGrpSpPr>
        <p:grpSpPr bwMode="auto">
          <a:xfrm>
            <a:off x="0" y="658813"/>
            <a:ext cx="6781800" cy="230187"/>
            <a:chOff x="0" y="1114"/>
            <a:chExt cx="3072" cy="390"/>
          </a:xfrm>
        </p:grpSpPr>
        <p:sp>
          <p:nvSpPr>
            <p:cNvPr id="33903" name="Rectangle 14"/>
            <p:cNvSpPr>
              <a:spLocks noChangeArrowheads="1"/>
            </p:cNvSpPr>
            <p:nvPr/>
          </p:nvSpPr>
          <p:spPr bwMode="auto">
            <a:xfrm>
              <a:off x="0" y="1114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904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91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798" name="Group 16"/>
          <p:cNvGrpSpPr>
            <a:grpSpLocks/>
          </p:cNvGrpSpPr>
          <p:nvPr/>
        </p:nvGrpSpPr>
        <p:grpSpPr bwMode="auto">
          <a:xfrm>
            <a:off x="0" y="879475"/>
            <a:ext cx="6781800" cy="230188"/>
            <a:chOff x="0" y="1488"/>
            <a:chExt cx="3072" cy="390"/>
          </a:xfrm>
        </p:grpSpPr>
        <p:sp>
          <p:nvSpPr>
            <p:cNvPr id="33901" name="Rectangle 17"/>
            <p:cNvSpPr>
              <a:spLocks noChangeArrowheads="1"/>
            </p:cNvSpPr>
            <p:nvPr/>
          </p:nvSpPr>
          <p:spPr bwMode="auto">
            <a:xfrm>
              <a:off x="0" y="1488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902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92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std::cout;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799" name="Group 19"/>
          <p:cNvGrpSpPr>
            <a:grpSpLocks/>
          </p:cNvGrpSpPr>
          <p:nvPr/>
        </p:nvGrpSpPr>
        <p:grpSpPr bwMode="auto">
          <a:xfrm>
            <a:off x="0" y="1100138"/>
            <a:ext cx="6781800" cy="231775"/>
            <a:chOff x="0" y="1862"/>
            <a:chExt cx="3072" cy="390"/>
          </a:xfrm>
        </p:grpSpPr>
        <p:sp>
          <p:nvSpPr>
            <p:cNvPr id="33899" name="Rectangle 20"/>
            <p:cNvSpPr>
              <a:spLocks noChangeArrowheads="1"/>
            </p:cNvSpPr>
            <p:nvPr/>
          </p:nvSpPr>
          <p:spPr bwMode="auto">
            <a:xfrm>
              <a:off x="0" y="1862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900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93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00" name="Group 22"/>
          <p:cNvGrpSpPr>
            <a:grpSpLocks/>
          </p:cNvGrpSpPr>
          <p:nvPr/>
        </p:nvGrpSpPr>
        <p:grpSpPr bwMode="auto">
          <a:xfrm>
            <a:off x="0" y="1322388"/>
            <a:ext cx="6781800" cy="230187"/>
            <a:chOff x="0" y="2236"/>
            <a:chExt cx="3072" cy="390"/>
          </a:xfrm>
        </p:grpSpPr>
        <p:sp>
          <p:nvSpPr>
            <p:cNvPr id="33897" name="Rectangle 23"/>
            <p:cNvSpPr>
              <a:spLocks noChangeArrowheads="1"/>
            </p:cNvSpPr>
            <p:nvPr/>
          </p:nvSpPr>
          <p:spPr bwMode="auto">
            <a:xfrm>
              <a:off x="0" y="2236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98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01" name="Group 25"/>
          <p:cNvGrpSpPr>
            <a:grpSpLocks/>
          </p:cNvGrpSpPr>
          <p:nvPr/>
        </p:nvGrpSpPr>
        <p:grpSpPr bwMode="auto">
          <a:xfrm>
            <a:off x="0" y="1543050"/>
            <a:ext cx="6781800" cy="231775"/>
            <a:chOff x="0" y="2610"/>
            <a:chExt cx="3072" cy="390"/>
          </a:xfrm>
        </p:grpSpPr>
        <p:sp>
          <p:nvSpPr>
            <p:cNvPr id="33895" name="Rectangle 26"/>
            <p:cNvSpPr>
              <a:spLocks noChangeArrowheads="1"/>
            </p:cNvSpPr>
            <p:nvPr/>
          </p:nvSpPr>
          <p:spPr bwMode="auto">
            <a:xfrm>
              <a:off x="0" y="2610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96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95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>
                  <a:latin typeface="Courier New" panose="02070309020205020404" pitchFamily="49" charset="0"/>
                </a:rPr>
                <a:t> "employ1.h"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02" name="Group 28"/>
          <p:cNvGrpSpPr>
            <a:grpSpLocks/>
          </p:cNvGrpSpPr>
          <p:nvPr/>
        </p:nvGrpSpPr>
        <p:grpSpPr bwMode="auto">
          <a:xfrm>
            <a:off x="0" y="1765300"/>
            <a:ext cx="6781800" cy="230188"/>
            <a:chOff x="0" y="2984"/>
            <a:chExt cx="3072" cy="390"/>
          </a:xfrm>
        </p:grpSpPr>
        <p:sp>
          <p:nvSpPr>
            <p:cNvPr id="33893" name="Rectangle 29"/>
            <p:cNvSpPr>
              <a:spLocks noChangeArrowheads="1"/>
            </p:cNvSpPr>
            <p:nvPr/>
          </p:nvSpPr>
          <p:spPr bwMode="auto">
            <a:xfrm>
              <a:off x="0" y="2984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94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96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03" name="Group 31"/>
          <p:cNvGrpSpPr>
            <a:grpSpLocks/>
          </p:cNvGrpSpPr>
          <p:nvPr/>
        </p:nvGrpSpPr>
        <p:grpSpPr bwMode="auto">
          <a:xfrm>
            <a:off x="0" y="1985963"/>
            <a:ext cx="6781800" cy="230187"/>
            <a:chOff x="0" y="3358"/>
            <a:chExt cx="3072" cy="390"/>
          </a:xfrm>
        </p:grpSpPr>
        <p:sp>
          <p:nvSpPr>
            <p:cNvPr id="33891" name="Rectangle 32"/>
            <p:cNvSpPr>
              <a:spLocks noChangeArrowheads="1"/>
            </p:cNvSpPr>
            <p:nvPr/>
          </p:nvSpPr>
          <p:spPr bwMode="auto">
            <a:xfrm>
              <a:off x="0" y="3358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92" name="Rectangle 3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97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main()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04" name="Group 34"/>
          <p:cNvGrpSpPr>
            <a:grpSpLocks/>
          </p:cNvGrpSpPr>
          <p:nvPr/>
        </p:nvGrpSpPr>
        <p:grpSpPr bwMode="auto">
          <a:xfrm>
            <a:off x="0" y="2206625"/>
            <a:ext cx="6781800" cy="231775"/>
            <a:chOff x="0" y="3732"/>
            <a:chExt cx="3072" cy="390"/>
          </a:xfrm>
        </p:grpSpPr>
        <p:sp>
          <p:nvSpPr>
            <p:cNvPr id="33889" name="Rectangle 35"/>
            <p:cNvSpPr>
              <a:spLocks noChangeArrowheads="1"/>
            </p:cNvSpPr>
            <p:nvPr/>
          </p:nvSpPr>
          <p:spPr bwMode="auto">
            <a:xfrm>
              <a:off x="0" y="3732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90" name="Rectangle 36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98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05" name="Group 37"/>
          <p:cNvGrpSpPr>
            <a:grpSpLocks/>
          </p:cNvGrpSpPr>
          <p:nvPr/>
        </p:nvGrpSpPr>
        <p:grpSpPr bwMode="auto">
          <a:xfrm>
            <a:off x="0" y="2428875"/>
            <a:ext cx="6781800" cy="230188"/>
            <a:chOff x="0" y="4106"/>
            <a:chExt cx="3072" cy="390"/>
          </a:xfrm>
        </p:grpSpPr>
        <p:sp>
          <p:nvSpPr>
            <p:cNvPr id="33887" name="Rectangle 38"/>
            <p:cNvSpPr>
              <a:spLocks noChangeArrowheads="1"/>
            </p:cNvSpPr>
            <p:nvPr/>
          </p:nvSpPr>
          <p:spPr bwMode="auto">
            <a:xfrm>
              <a:off x="0" y="4106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88" name="Rectangle 39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99	</a:t>
              </a:r>
              <a:r>
                <a:rPr lang="en-US" sz="1200" b="1">
                  <a:latin typeface="Courier New" panose="02070309020205020404" pitchFamily="49" charset="0"/>
                </a:rPr>
                <a:t>   cout &lt;&lt; "Number of employees before instantiation is 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06" name="Group 40"/>
          <p:cNvGrpSpPr>
            <a:grpSpLocks/>
          </p:cNvGrpSpPr>
          <p:nvPr/>
        </p:nvGrpSpPr>
        <p:grpSpPr bwMode="auto">
          <a:xfrm>
            <a:off x="0" y="2649538"/>
            <a:ext cx="6781800" cy="231775"/>
            <a:chOff x="0" y="4480"/>
            <a:chExt cx="3072" cy="390"/>
          </a:xfrm>
        </p:grpSpPr>
        <p:sp>
          <p:nvSpPr>
            <p:cNvPr id="33885" name="Rectangle 41"/>
            <p:cNvSpPr>
              <a:spLocks noChangeArrowheads="1"/>
            </p:cNvSpPr>
            <p:nvPr/>
          </p:nvSpPr>
          <p:spPr bwMode="auto">
            <a:xfrm>
              <a:off x="0" y="4480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86" name="Rectangle 42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100	</a:t>
              </a:r>
              <a:r>
                <a:rPr lang="en-US" sz="1200" b="1">
                  <a:latin typeface="Courier New" panose="02070309020205020404" pitchFamily="49" charset="0"/>
                </a:rPr>
                <a:t>        &lt;&lt; Employee::getCount() &lt;&lt; endl;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use class name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07" name="Group 43"/>
          <p:cNvGrpSpPr>
            <a:grpSpLocks/>
          </p:cNvGrpSpPr>
          <p:nvPr/>
        </p:nvGrpSpPr>
        <p:grpSpPr bwMode="auto">
          <a:xfrm>
            <a:off x="0" y="2871788"/>
            <a:ext cx="6781800" cy="230187"/>
            <a:chOff x="0" y="4854"/>
            <a:chExt cx="3072" cy="390"/>
          </a:xfrm>
        </p:grpSpPr>
        <p:sp>
          <p:nvSpPr>
            <p:cNvPr id="33883" name="Rectangle 44"/>
            <p:cNvSpPr>
              <a:spLocks noChangeArrowheads="1"/>
            </p:cNvSpPr>
            <p:nvPr/>
          </p:nvSpPr>
          <p:spPr bwMode="auto">
            <a:xfrm>
              <a:off x="0" y="4854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84" name="Rectangle 45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101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08" name="Group 46"/>
          <p:cNvGrpSpPr>
            <a:grpSpLocks/>
          </p:cNvGrpSpPr>
          <p:nvPr/>
        </p:nvGrpSpPr>
        <p:grpSpPr bwMode="auto">
          <a:xfrm>
            <a:off x="0" y="3092450"/>
            <a:ext cx="6781800" cy="230188"/>
            <a:chOff x="0" y="5228"/>
            <a:chExt cx="3072" cy="390"/>
          </a:xfrm>
        </p:grpSpPr>
        <p:sp>
          <p:nvSpPr>
            <p:cNvPr id="33881" name="Rectangle 47"/>
            <p:cNvSpPr>
              <a:spLocks noChangeArrowheads="1"/>
            </p:cNvSpPr>
            <p:nvPr/>
          </p:nvSpPr>
          <p:spPr bwMode="auto">
            <a:xfrm>
              <a:off x="0" y="5228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82" name="Rectangle 4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102	</a:t>
              </a:r>
              <a:r>
                <a:rPr lang="en-US" sz="1200" b="1">
                  <a:latin typeface="Courier New" panose="02070309020205020404" pitchFamily="49" charset="0"/>
                </a:rPr>
                <a:t>   Employee *e1Ptr =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new</a:t>
              </a:r>
              <a:r>
                <a:rPr lang="en-US" sz="1200" b="1">
                  <a:latin typeface="Courier New" panose="02070309020205020404" pitchFamily="49" charset="0"/>
                </a:rPr>
                <a:t> Employee( "Susan", "Baker"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09" name="Group 49"/>
          <p:cNvGrpSpPr>
            <a:grpSpLocks/>
          </p:cNvGrpSpPr>
          <p:nvPr/>
        </p:nvGrpSpPr>
        <p:grpSpPr bwMode="auto">
          <a:xfrm>
            <a:off x="0" y="3313113"/>
            <a:ext cx="6781800" cy="231775"/>
            <a:chOff x="0" y="5602"/>
            <a:chExt cx="3072" cy="390"/>
          </a:xfrm>
        </p:grpSpPr>
        <p:sp>
          <p:nvSpPr>
            <p:cNvPr id="33879" name="Rectangle 50"/>
            <p:cNvSpPr>
              <a:spLocks noChangeArrowheads="1"/>
            </p:cNvSpPr>
            <p:nvPr/>
          </p:nvSpPr>
          <p:spPr bwMode="auto">
            <a:xfrm>
              <a:off x="0" y="5602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80" name="Rectangle 51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103	</a:t>
              </a:r>
              <a:r>
                <a:rPr lang="en-US" sz="1200" b="1">
                  <a:latin typeface="Courier New" panose="02070309020205020404" pitchFamily="49" charset="0"/>
                </a:rPr>
                <a:t>   Employee *e2Ptr =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new</a:t>
              </a:r>
              <a:r>
                <a:rPr lang="en-US" sz="1200" b="1">
                  <a:latin typeface="Courier New" panose="02070309020205020404" pitchFamily="49" charset="0"/>
                </a:rPr>
                <a:t> Employee( "Robert", "Jones"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10" name="Group 52"/>
          <p:cNvGrpSpPr>
            <a:grpSpLocks/>
          </p:cNvGrpSpPr>
          <p:nvPr/>
        </p:nvGrpSpPr>
        <p:grpSpPr bwMode="auto">
          <a:xfrm>
            <a:off x="0" y="3535363"/>
            <a:ext cx="6781800" cy="230187"/>
            <a:chOff x="0" y="5976"/>
            <a:chExt cx="3072" cy="390"/>
          </a:xfrm>
        </p:grpSpPr>
        <p:sp>
          <p:nvSpPr>
            <p:cNvPr id="33877" name="Rectangle 53"/>
            <p:cNvSpPr>
              <a:spLocks noChangeArrowheads="1"/>
            </p:cNvSpPr>
            <p:nvPr/>
          </p:nvSpPr>
          <p:spPr bwMode="auto">
            <a:xfrm>
              <a:off x="0" y="5976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78" name="Rectangle 54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11" name="Group 55"/>
          <p:cNvGrpSpPr>
            <a:grpSpLocks/>
          </p:cNvGrpSpPr>
          <p:nvPr/>
        </p:nvGrpSpPr>
        <p:grpSpPr bwMode="auto">
          <a:xfrm>
            <a:off x="0" y="3756025"/>
            <a:ext cx="6781800" cy="230188"/>
            <a:chOff x="0" y="6350"/>
            <a:chExt cx="3072" cy="390"/>
          </a:xfrm>
        </p:grpSpPr>
        <p:sp>
          <p:nvSpPr>
            <p:cNvPr id="33875" name="Rectangle 56"/>
            <p:cNvSpPr>
              <a:spLocks noChangeArrowheads="1"/>
            </p:cNvSpPr>
            <p:nvPr/>
          </p:nvSpPr>
          <p:spPr bwMode="auto">
            <a:xfrm>
              <a:off x="0" y="6350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76" name="Rectangle 57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105	</a:t>
              </a:r>
              <a:r>
                <a:rPr lang="en-US" sz="1200" b="1">
                  <a:latin typeface="Courier New" panose="02070309020205020404" pitchFamily="49" charset="0"/>
                </a:rPr>
                <a:t>   cout &lt;&lt; "Number of employees after instantiation is 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12" name="Group 58"/>
          <p:cNvGrpSpPr>
            <a:grpSpLocks/>
          </p:cNvGrpSpPr>
          <p:nvPr/>
        </p:nvGrpSpPr>
        <p:grpSpPr bwMode="auto">
          <a:xfrm>
            <a:off x="0" y="3976688"/>
            <a:ext cx="6781800" cy="231775"/>
            <a:chOff x="0" y="6724"/>
            <a:chExt cx="3072" cy="390"/>
          </a:xfrm>
        </p:grpSpPr>
        <p:sp>
          <p:nvSpPr>
            <p:cNvPr id="33873" name="Rectangle 59"/>
            <p:cNvSpPr>
              <a:spLocks noChangeArrowheads="1"/>
            </p:cNvSpPr>
            <p:nvPr/>
          </p:nvSpPr>
          <p:spPr bwMode="auto">
            <a:xfrm>
              <a:off x="0" y="6724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74" name="Rectangle 60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106	</a:t>
              </a:r>
              <a:r>
                <a:rPr lang="en-US" sz="1200" b="1">
                  <a:latin typeface="Courier New" panose="02070309020205020404" pitchFamily="49" charset="0"/>
                </a:rPr>
                <a:t>        &lt;&lt; e1Ptr-&gt;getCount();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13" name="Group 61"/>
          <p:cNvGrpSpPr>
            <a:grpSpLocks/>
          </p:cNvGrpSpPr>
          <p:nvPr/>
        </p:nvGrpSpPr>
        <p:grpSpPr bwMode="auto">
          <a:xfrm>
            <a:off x="0" y="4198938"/>
            <a:ext cx="6781800" cy="230187"/>
            <a:chOff x="0" y="7098"/>
            <a:chExt cx="3072" cy="390"/>
          </a:xfrm>
        </p:grpSpPr>
        <p:sp>
          <p:nvSpPr>
            <p:cNvPr id="33871" name="Rectangle 62"/>
            <p:cNvSpPr>
              <a:spLocks noChangeArrowheads="1"/>
            </p:cNvSpPr>
            <p:nvPr/>
          </p:nvSpPr>
          <p:spPr bwMode="auto">
            <a:xfrm>
              <a:off x="0" y="7098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72" name="Rectangle 6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107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14" name="Group 64"/>
          <p:cNvGrpSpPr>
            <a:grpSpLocks/>
          </p:cNvGrpSpPr>
          <p:nvPr/>
        </p:nvGrpSpPr>
        <p:grpSpPr bwMode="auto">
          <a:xfrm>
            <a:off x="0" y="4419600"/>
            <a:ext cx="6781800" cy="231775"/>
            <a:chOff x="0" y="7472"/>
            <a:chExt cx="3072" cy="390"/>
          </a:xfrm>
        </p:grpSpPr>
        <p:sp>
          <p:nvSpPr>
            <p:cNvPr id="33869" name="Rectangle 65"/>
            <p:cNvSpPr>
              <a:spLocks noChangeArrowheads="1"/>
            </p:cNvSpPr>
            <p:nvPr/>
          </p:nvSpPr>
          <p:spPr bwMode="auto">
            <a:xfrm>
              <a:off x="0" y="7472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70" name="Rectangle 66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108	</a:t>
              </a:r>
              <a:r>
                <a:rPr lang="en-US" sz="1200" b="1">
                  <a:latin typeface="Courier New" panose="02070309020205020404" pitchFamily="49" charset="0"/>
                </a:rPr>
                <a:t>   cout &lt;&lt; "\n\nEmployee 1: 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15" name="Group 67"/>
          <p:cNvGrpSpPr>
            <a:grpSpLocks/>
          </p:cNvGrpSpPr>
          <p:nvPr/>
        </p:nvGrpSpPr>
        <p:grpSpPr bwMode="auto">
          <a:xfrm>
            <a:off x="0" y="4641850"/>
            <a:ext cx="6781800" cy="230188"/>
            <a:chOff x="0" y="7846"/>
            <a:chExt cx="3072" cy="390"/>
          </a:xfrm>
        </p:grpSpPr>
        <p:sp>
          <p:nvSpPr>
            <p:cNvPr id="33867" name="Rectangle 68"/>
            <p:cNvSpPr>
              <a:spLocks noChangeArrowheads="1"/>
            </p:cNvSpPr>
            <p:nvPr/>
          </p:nvSpPr>
          <p:spPr bwMode="auto">
            <a:xfrm>
              <a:off x="0" y="7846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68" name="Rectangle 69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109	</a:t>
              </a:r>
              <a:r>
                <a:rPr lang="en-US" sz="1200" b="1">
                  <a:latin typeface="Courier New" panose="02070309020205020404" pitchFamily="49" charset="0"/>
                </a:rPr>
                <a:t>        &lt;&lt; e1Ptr-&gt;getFirstName()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16" name="Group 70"/>
          <p:cNvGrpSpPr>
            <a:grpSpLocks/>
          </p:cNvGrpSpPr>
          <p:nvPr/>
        </p:nvGrpSpPr>
        <p:grpSpPr bwMode="auto">
          <a:xfrm>
            <a:off x="0" y="4862513"/>
            <a:ext cx="6781800" cy="230187"/>
            <a:chOff x="0" y="8220"/>
            <a:chExt cx="3072" cy="390"/>
          </a:xfrm>
        </p:grpSpPr>
        <p:sp>
          <p:nvSpPr>
            <p:cNvPr id="33865" name="Rectangle 71"/>
            <p:cNvSpPr>
              <a:spLocks noChangeArrowheads="1"/>
            </p:cNvSpPr>
            <p:nvPr/>
          </p:nvSpPr>
          <p:spPr bwMode="auto">
            <a:xfrm>
              <a:off x="0" y="8220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66" name="Rectangle 72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110	</a:t>
              </a:r>
              <a:r>
                <a:rPr lang="en-US" sz="1200" b="1">
                  <a:latin typeface="Courier New" panose="02070309020205020404" pitchFamily="49" charset="0"/>
                </a:rPr>
                <a:t>        &lt;&lt; " " &lt;&lt; e1Ptr-&gt;getLastName()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17" name="Group 73"/>
          <p:cNvGrpSpPr>
            <a:grpSpLocks/>
          </p:cNvGrpSpPr>
          <p:nvPr/>
        </p:nvGrpSpPr>
        <p:grpSpPr bwMode="auto">
          <a:xfrm>
            <a:off x="0" y="5083175"/>
            <a:ext cx="6781800" cy="231775"/>
            <a:chOff x="0" y="8594"/>
            <a:chExt cx="3072" cy="390"/>
          </a:xfrm>
        </p:grpSpPr>
        <p:sp>
          <p:nvSpPr>
            <p:cNvPr id="33863" name="Rectangle 74"/>
            <p:cNvSpPr>
              <a:spLocks noChangeArrowheads="1"/>
            </p:cNvSpPr>
            <p:nvPr/>
          </p:nvSpPr>
          <p:spPr bwMode="auto">
            <a:xfrm>
              <a:off x="0" y="8594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64" name="Rectangle 75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111	</a:t>
              </a:r>
              <a:r>
                <a:rPr lang="en-US" sz="1200" b="1">
                  <a:latin typeface="Courier New" panose="02070309020205020404" pitchFamily="49" charset="0"/>
                </a:rPr>
                <a:t>        &lt;&lt; "\nEmployee 2: 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18" name="Group 76"/>
          <p:cNvGrpSpPr>
            <a:grpSpLocks/>
          </p:cNvGrpSpPr>
          <p:nvPr/>
        </p:nvGrpSpPr>
        <p:grpSpPr bwMode="auto">
          <a:xfrm>
            <a:off x="0" y="5305425"/>
            <a:ext cx="6781800" cy="230188"/>
            <a:chOff x="0" y="8968"/>
            <a:chExt cx="3072" cy="390"/>
          </a:xfrm>
        </p:grpSpPr>
        <p:sp>
          <p:nvSpPr>
            <p:cNvPr id="33861" name="Rectangle 77"/>
            <p:cNvSpPr>
              <a:spLocks noChangeArrowheads="1"/>
            </p:cNvSpPr>
            <p:nvPr/>
          </p:nvSpPr>
          <p:spPr bwMode="auto">
            <a:xfrm>
              <a:off x="0" y="8968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62" name="Rectangle 7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112	</a:t>
              </a:r>
              <a:r>
                <a:rPr lang="en-US" sz="1200" b="1">
                  <a:latin typeface="Courier New" panose="02070309020205020404" pitchFamily="49" charset="0"/>
                </a:rPr>
                <a:t>        &lt;&lt; e2Ptr-&gt;getFirstName()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19" name="Group 79"/>
          <p:cNvGrpSpPr>
            <a:grpSpLocks/>
          </p:cNvGrpSpPr>
          <p:nvPr/>
        </p:nvGrpSpPr>
        <p:grpSpPr bwMode="auto">
          <a:xfrm>
            <a:off x="0" y="5526088"/>
            <a:ext cx="6781800" cy="231775"/>
            <a:chOff x="0" y="9342"/>
            <a:chExt cx="3072" cy="390"/>
          </a:xfrm>
        </p:grpSpPr>
        <p:sp>
          <p:nvSpPr>
            <p:cNvPr id="33859" name="Rectangle 80"/>
            <p:cNvSpPr>
              <a:spLocks noChangeArrowheads="1"/>
            </p:cNvSpPr>
            <p:nvPr/>
          </p:nvSpPr>
          <p:spPr bwMode="auto">
            <a:xfrm>
              <a:off x="0" y="9342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60" name="Rectangle 81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113	</a:t>
              </a:r>
              <a:r>
                <a:rPr lang="en-US" sz="1200" b="1">
                  <a:latin typeface="Courier New" panose="02070309020205020404" pitchFamily="49" charset="0"/>
                </a:rPr>
                <a:t>        &lt;&lt; " " &lt;&lt; e2Ptr-&gt;getLastName() &lt;&lt; "\n\n";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20" name="Group 82"/>
          <p:cNvGrpSpPr>
            <a:grpSpLocks/>
          </p:cNvGrpSpPr>
          <p:nvPr/>
        </p:nvGrpSpPr>
        <p:grpSpPr bwMode="auto">
          <a:xfrm>
            <a:off x="0" y="5748338"/>
            <a:ext cx="6781800" cy="230187"/>
            <a:chOff x="0" y="9716"/>
            <a:chExt cx="3072" cy="390"/>
          </a:xfrm>
        </p:grpSpPr>
        <p:sp>
          <p:nvSpPr>
            <p:cNvPr id="33857" name="Rectangle 83"/>
            <p:cNvSpPr>
              <a:spLocks noChangeArrowheads="1"/>
            </p:cNvSpPr>
            <p:nvPr/>
          </p:nvSpPr>
          <p:spPr bwMode="auto">
            <a:xfrm>
              <a:off x="0" y="9716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58" name="Rectangle 84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21" name="Group 85"/>
          <p:cNvGrpSpPr>
            <a:grpSpLocks/>
          </p:cNvGrpSpPr>
          <p:nvPr/>
        </p:nvGrpSpPr>
        <p:grpSpPr bwMode="auto">
          <a:xfrm>
            <a:off x="0" y="5969000"/>
            <a:ext cx="6781800" cy="230188"/>
            <a:chOff x="0" y="10090"/>
            <a:chExt cx="3072" cy="390"/>
          </a:xfrm>
        </p:grpSpPr>
        <p:sp>
          <p:nvSpPr>
            <p:cNvPr id="33855" name="Rectangle 86"/>
            <p:cNvSpPr>
              <a:spLocks noChangeArrowheads="1"/>
            </p:cNvSpPr>
            <p:nvPr/>
          </p:nvSpPr>
          <p:spPr bwMode="auto">
            <a:xfrm>
              <a:off x="0" y="10090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56" name="Rectangle 87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115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delete</a:t>
              </a:r>
              <a:r>
                <a:rPr lang="en-US" sz="1200" b="1">
                  <a:latin typeface="Courier New" panose="02070309020205020404" pitchFamily="49" charset="0"/>
                </a:rPr>
                <a:t> e1Ptr;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// recapture memory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22" name="Group 88"/>
          <p:cNvGrpSpPr>
            <a:grpSpLocks/>
          </p:cNvGrpSpPr>
          <p:nvPr/>
        </p:nvGrpSpPr>
        <p:grpSpPr bwMode="auto">
          <a:xfrm>
            <a:off x="0" y="6189663"/>
            <a:ext cx="6781800" cy="231775"/>
            <a:chOff x="0" y="10464"/>
            <a:chExt cx="3072" cy="390"/>
          </a:xfrm>
        </p:grpSpPr>
        <p:sp>
          <p:nvSpPr>
            <p:cNvPr id="33853" name="Rectangle 89"/>
            <p:cNvSpPr>
              <a:spLocks noChangeArrowheads="1"/>
            </p:cNvSpPr>
            <p:nvPr/>
          </p:nvSpPr>
          <p:spPr bwMode="auto">
            <a:xfrm>
              <a:off x="0" y="10464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54" name="Rectangle 90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116	</a:t>
              </a:r>
              <a:r>
                <a:rPr lang="en-US" sz="1200" b="1">
                  <a:latin typeface="Courier New" panose="02070309020205020404" pitchFamily="49" charset="0"/>
                </a:rPr>
                <a:t>   e1Ptr =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23" name="Group 91"/>
          <p:cNvGrpSpPr>
            <a:grpSpLocks/>
          </p:cNvGrpSpPr>
          <p:nvPr/>
        </p:nvGrpSpPr>
        <p:grpSpPr bwMode="auto">
          <a:xfrm>
            <a:off x="0" y="6411913"/>
            <a:ext cx="6781800" cy="230187"/>
            <a:chOff x="0" y="10838"/>
            <a:chExt cx="3072" cy="390"/>
          </a:xfrm>
        </p:grpSpPr>
        <p:sp>
          <p:nvSpPr>
            <p:cNvPr id="33851" name="Rectangle 92"/>
            <p:cNvSpPr>
              <a:spLocks noChangeArrowheads="1"/>
            </p:cNvSpPr>
            <p:nvPr/>
          </p:nvSpPr>
          <p:spPr bwMode="auto">
            <a:xfrm>
              <a:off x="0" y="10838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52" name="Rectangle 9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117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delete</a:t>
              </a:r>
              <a:r>
                <a:rPr lang="en-US" sz="1200" b="1">
                  <a:latin typeface="Courier New" panose="02070309020205020404" pitchFamily="49" charset="0"/>
                </a:rPr>
                <a:t> e2Ptr;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recapture memory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24" name="Group 94"/>
          <p:cNvGrpSpPr>
            <a:grpSpLocks/>
          </p:cNvGrpSpPr>
          <p:nvPr/>
        </p:nvGrpSpPr>
        <p:grpSpPr bwMode="auto">
          <a:xfrm>
            <a:off x="0" y="6632575"/>
            <a:ext cx="6781800" cy="230188"/>
            <a:chOff x="0" y="11212"/>
            <a:chExt cx="3072" cy="390"/>
          </a:xfrm>
        </p:grpSpPr>
        <p:sp>
          <p:nvSpPr>
            <p:cNvPr id="33849" name="Rectangle 95"/>
            <p:cNvSpPr>
              <a:spLocks noChangeArrowheads="1"/>
            </p:cNvSpPr>
            <p:nvPr/>
          </p:nvSpPr>
          <p:spPr bwMode="auto">
            <a:xfrm>
              <a:off x="0" y="11212"/>
              <a:ext cx="3072" cy="390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33850" name="Rectangle 96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118	</a:t>
              </a:r>
              <a:r>
                <a:rPr lang="en-US" sz="1200" b="1">
                  <a:latin typeface="Courier New" panose="02070309020205020404" pitchFamily="49" charset="0"/>
                </a:rPr>
                <a:t>   e2Ptr =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33825" name="Group 97"/>
          <p:cNvGrpSpPr>
            <a:grpSpLocks/>
          </p:cNvGrpSpPr>
          <p:nvPr/>
        </p:nvGrpSpPr>
        <p:grpSpPr bwMode="auto">
          <a:xfrm>
            <a:off x="2743200" y="392899"/>
            <a:ext cx="6248400" cy="2368550"/>
            <a:chOff x="864" y="144"/>
            <a:chExt cx="3936" cy="1492"/>
          </a:xfrm>
        </p:grpSpPr>
        <p:sp>
          <p:nvSpPr>
            <p:cNvPr id="33847" name="Text Box 98"/>
            <p:cNvSpPr txBox="1">
              <a:spLocks noChangeArrowheads="1"/>
            </p:cNvSpPr>
            <p:nvPr/>
          </p:nvSpPr>
          <p:spPr bwMode="auto">
            <a:xfrm>
              <a:off x="2976" y="144"/>
              <a:ext cx="1824" cy="43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dirty="0"/>
                <a:t>If no </a:t>
              </a:r>
              <a:r>
                <a:rPr lang="en-US" sz="1400" b="1" dirty="0">
                  <a:latin typeface="Courier New" panose="02070309020205020404" pitchFamily="49" charset="0"/>
                </a:rPr>
                <a:t>Employee</a:t>
              </a:r>
              <a:r>
                <a:rPr lang="en-US" sz="1400" b="1" dirty="0"/>
                <a:t> </a:t>
              </a:r>
              <a:r>
                <a:rPr lang="en-US" sz="1400" dirty="0"/>
                <a:t>objects exist </a:t>
              </a:r>
              <a:r>
                <a:rPr lang="en-US" sz="1400" b="1" dirty="0" err="1">
                  <a:latin typeface="Courier New" panose="02070309020205020404" pitchFamily="49" charset="0"/>
                </a:rPr>
                <a:t>getCount</a:t>
              </a:r>
              <a:r>
                <a:rPr lang="en-US" sz="1400" dirty="0"/>
                <a:t> must be accessed using the class name and (</a:t>
              </a:r>
              <a:r>
                <a:rPr lang="en-US" sz="1400" b="1" dirty="0">
                  <a:latin typeface="Courier New" panose="02070309020205020404" pitchFamily="49" charset="0"/>
                </a:rPr>
                <a:t>::</a:t>
              </a:r>
              <a:r>
                <a:rPr lang="en-US" sz="1400" dirty="0"/>
                <a:t>).</a:t>
              </a:r>
            </a:p>
          </p:txBody>
        </p:sp>
        <p:sp>
          <p:nvSpPr>
            <p:cNvPr id="33848" name="Line 99"/>
            <p:cNvSpPr>
              <a:spLocks noChangeShapeType="1"/>
            </p:cNvSpPr>
            <p:nvPr/>
          </p:nvSpPr>
          <p:spPr bwMode="auto">
            <a:xfrm flipH="1">
              <a:off x="864" y="480"/>
              <a:ext cx="2112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33826" name="Group 105"/>
          <p:cNvGrpSpPr>
            <a:grpSpLocks/>
          </p:cNvGrpSpPr>
          <p:nvPr/>
        </p:nvGrpSpPr>
        <p:grpSpPr bwMode="auto">
          <a:xfrm>
            <a:off x="3962761" y="1838332"/>
            <a:ext cx="5137150" cy="679449"/>
            <a:chOff x="2194" y="1117"/>
            <a:chExt cx="3236" cy="428"/>
          </a:xfrm>
        </p:grpSpPr>
        <p:sp>
          <p:nvSpPr>
            <p:cNvPr id="33845" name="Rectangle 103"/>
            <p:cNvSpPr>
              <a:spLocks noChangeArrowheads="1"/>
            </p:cNvSpPr>
            <p:nvPr/>
          </p:nvSpPr>
          <p:spPr bwMode="auto">
            <a:xfrm>
              <a:off x="2688" y="1117"/>
              <a:ext cx="2742" cy="14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</a:rPr>
                <a:t>Number of employees before instantiation is 0</a:t>
              </a:r>
            </a:p>
          </p:txBody>
        </p:sp>
        <p:sp>
          <p:nvSpPr>
            <p:cNvPr id="33846" name="Line 104"/>
            <p:cNvSpPr>
              <a:spLocks noChangeShapeType="1"/>
            </p:cNvSpPr>
            <p:nvPr/>
          </p:nvSpPr>
          <p:spPr bwMode="auto">
            <a:xfrm flipH="1">
              <a:off x="2194" y="1248"/>
              <a:ext cx="494" cy="2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3827" name="Group 106"/>
          <p:cNvGrpSpPr>
            <a:grpSpLocks/>
          </p:cNvGrpSpPr>
          <p:nvPr/>
        </p:nvGrpSpPr>
        <p:grpSpPr bwMode="auto">
          <a:xfrm>
            <a:off x="3066838" y="2663785"/>
            <a:ext cx="6097588" cy="1466850"/>
            <a:chOff x="1727" y="1536"/>
            <a:chExt cx="3841" cy="924"/>
          </a:xfrm>
        </p:grpSpPr>
        <p:sp>
          <p:nvSpPr>
            <p:cNvPr id="33843" name="Line 102"/>
            <p:cNvSpPr>
              <a:spLocks noChangeShapeType="1"/>
            </p:cNvSpPr>
            <p:nvPr/>
          </p:nvSpPr>
          <p:spPr bwMode="auto">
            <a:xfrm flipH="1">
              <a:off x="1727" y="1728"/>
              <a:ext cx="1057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 b="1"/>
            </a:p>
          </p:txBody>
        </p:sp>
        <p:sp>
          <p:nvSpPr>
            <p:cNvPr id="33844" name="Text Box 101"/>
            <p:cNvSpPr txBox="1">
              <a:spLocks noChangeArrowheads="1"/>
            </p:cNvSpPr>
            <p:nvPr/>
          </p:nvSpPr>
          <p:spPr bwMode="auto">
            <a:xfrm>
              <a:off x="2640" y="1536"/>
              <a:ext cx="2928" cy="26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</a:rPr>
                <a:t>e2Ptr-&gt;</a:t>
              </a:r>
              <a:r>
                <a:rPr lang="en-US" sz="1200" b="1" dirty="0" err="1">
                  <a:latin typeface="Courier New" panose="02070309020205020404" pitchFamily="49" charset="0"/>
                </a:rPr>
                <a:t>getCount</a:t>
              </a:r>
              <a:r>
                <a:rPr lang="en-US" sz="1200" b="1" dirty="0">
                  <a:latin typeface="Courier New" panose="02070309020205020404" pitchFamily="49" charset="0"/>
                </a:rPr>
                <a:t>()</a:t>
              </a:r>
              <a:r>
                <a:rPr lang="en-US" sz="1200" b="1" dirty="0"/>
                <a:t>  or </a:t>
              </a:r>
              <a:r>
                <a:rPr lang="en-US" sz="1200" b="1" dirty="0">
                  <a:latin typeface="Courier New" panose="02070309020205020404" pitchFamily="49" charset="0"/>
                </a:rPr>
                <a:t>Employee::</a:t>
              </a:r>
              <a:r>
                <a:rPr lang="en-US" sz="1200" b="1" dirty="0" err="1">
                  <a:latin typeface="Courier New" panose="02070309020205020404" pitchFamily="49" charset="0"/>
                </a:rPr>
                <a:t>getCount</a:t>
              </a:r>
              <a:r>
                <a:rPr lang="en-US" sz="1200" b="1" dirty="0">
                  <a:latin typeface="Courier New" panose="02070309020205020404" pitchFamily="49" charset="0"/>
                </a:rPr>
                <a:t>()</a:t>
              </a:r>
              <a:r>
                <a:rPr lang="en-US" sz="1200" b="1" dirty="0"/>
                <a:t>  would also work.</a:t>
              </a:r>
            </a:p>
          </p:txBody>
        </p:sp>
      </p:grpSp>
      <p:grpSp>
        <p:nvGrpSpPr>
          <p:cNvPr id="33828" name="Group 110"/>
          <p:cNvGrpSpPr>
            <a:grpSpLocks/>
          </p:cNvGrpSpPr>
          <p:nvPr/>
        </p:nvGrpSpPr>
        <p:grpSpPr bwMode="auto">
          <a:xfrm>
            <a:off x="3200400" y="3581402"/>
            <a:ext cx="5902325" cy="1033463"/>
            <a:chOff x="2016" y="2256"/>
            <a:chExt cx="3718" cy="651"/>
          </a:xfrm>
        </p:grpSpPr>
        <p:sp>
          <p:nvSpPr>
            <p:cNvPr id="33841" name="Rectangle 107"/>
            <p:cNvSpPr>
              <a:spLocks noChangeArrowheads="1"/>
            </p:cNvSpPr>
            <p:nvPr/>
          </p:nvSpPr>
          <p:spPr bwMode="auto">
            <a:xfrm>
              <a:off x="2854" y="2645"/>
              <a:ext cx="2880" cy="26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</a:rPr>
                <a:t>Employee constructor for Susan Baker called.</a:t>
              </a:r>
            </a:p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</a:rPr>
                <a:t>Employee constructor for Robert Jones called.</a:t>
              </a:r>
            </a:p>
          </p:txBody>
        </p:sp>
        <p:sp>
          <p:nvSpPr>
            <p:cNvPr id="33842" name="Line 109"/>
            <p:cNvSpPr>
              <a:spLocks noChangeShapeType="1"/>
            </p:cNvSpPr>
            <p:nvPr/>
          </p:nvSpPr>
          <p:spPr bwMode="auto">
            <a:xfrm flipH="1" flipV="1">
              <a:off x="2016" y="2256"/>
              <a:ext cx="829" cy="4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3829" name="Group 115"/>
          <p:cNvGrpSpPr>
            <a:grpSpLocks/>
          </p:cNvGrpSpPr>
          <p:nvPr/>
        </p:nvGrpSpPr>
        <p:grpSpPr bwMode="auto">
          <a:xfrm>
            <a:off x="4191000" y="3524251"/>
            <a:ext cx="4910138" cy="357187"/>
            <a:chOff x="2640" y="2220"/>
            <a:chExt cx="3093" cy="225"/>
          </a:xfrm>
        </p:grpSpPr>
        <p:sp>
          <p:nvSpPr>
            <p:cNvPr id="33839" name="Line 113"/>
            <p:cNvSpPr>
              <a:spLocks noChangeShapeType="1"/>
            </p:cNvSpPr>
            <p:nvPr/>
          </p:nvSpPr>
          <p:spPr bwMode="auto">
            <a:xfrm flipH="1">
              <a:off x="2640" y="2282"/>
              <a:ext cx="455" cy="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3840" name="Rectangle 111"/>
            <p:cNvSpPr>
              <a:spLocks noChangeArrowheads="1"/>
            </p:cNvSpPr>
            <p:nvPr/>
          </p:nvSpPr>
          <p:spPr bwMode="auto">
            <a:xfrm>
              <a:off x="3049" y="2220"/>
              <a:ext cx="2684" cy="14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</a:rPr>
                <a:t>Number of employees after instantiation is 2</a:t>
              </a:r>
            </a:p>
          </p:txBody>
        </p:sp>
      </p:grpSp>
      <p:grpSp>
        <p:nvGrpSpPr>
          <p:cNvPr id="33830" name="Group 119"/>
          <p:cNvGrpSpPr>
            <a:grpSpLocks/>
          </p:cNvGrpSpPr>
          <p:nvPr/>
        </p:nvGrpSpPr>
        <p:grpSpPr bwMode="auto">
          <a:xfrm>
            <a:off x="3353088" y="4887204"/>
            <a:ext cx="5735638" cy="576263"/>
            <a:chOff x="1907" y="3072"/>
            <a:chExt cx="3613" cy="363"/>
          </a:xfrm>
        </p:grpSpPr>
        <p:sp>
          <p:nvSpPr>
            <p:cNvPr id="33837" name="Rectangle 116"/>
            <p:cNvSpPr>
              <a:spLocks noChangeArrowheads="1"/>
            </p:cNvSpPr>
            <p:nvPr/>
          </p:nvSpPr>
          <p:spPr bwMode="auto">
            <a:xfrm>
              <a:off x="2640" y="3072"/>
              <a:ext cx="2880" cy="26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</a:rPr>
                <a:t>Employee 1: Susan Baker</a:t>
              </a:r>
            </a:p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</a:rPr>
                <a:t>Employee 2: Robert Jones</a:t>
              </a:r>
            </a:p>
          </p:txBody>
        </p:sp>
        <p:sp>
          <p:nvSpPr>
            <p:cNvPr id="33838" name="Line 118"/>
            <p:cNvSpPr>
              <a:spLocks noChangeShapeType="1"/>
            </p:cNvSpPr>
            <p:nvPr/>
          </p:nvSpPr>
          <p:spPr bwMode="auto">
            <a:xfrm flipH="1">
              <a:off x="1907" y="3312"/>
              <a:ext cx="733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3831" name="Group 122"/>
          <p:cNvGrpSpPr>
            <a:grpSpLocks/>
          </p:cNvGrpSpPr>
          <p:nvPr/>
        </p:nvGrpSpPr>
        <p:grpSpPr bwMode="auto">
          <a:xfrm>
            <a:off x="2743489" y="5964250"/>
            <a:ext cx="6345238" cy="484188"/>
            <a:chOff x="1619" y="3744"/>
            <a:chExt cx="3997" cy="305"/>
          </a:xfrm>
        </p:grpSpPr>
        <p:sp>
          <p:nvSpPr>
            <p:cNvPr id="33835" name="Rectangle 120"/>
            <p:cNvSpPr>
              <a:spLocks noChangeArrowheads="1"/>
            </p:cNvSpPr>
            <p:nvPr/>
          </p:nvSpPr>
          <p:spPr bwMode="auto">
            <a:xfrm>
              <a:off x="2736" y="3744"/>
              <a:ext cx="2880" cy="26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</a:rPr>
                <a:t>~Employee() called for Susan Baker</a:t>
              </a:r>
            </a:p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</a:rPr>
                <a:t>~Employee() called for Robert Jones</a:t>
              </a:r>
            </a:p>
          </p:txBody>
        </p:sp>
        <p:sp>
          <p:nvSpPr>
            <p:cNvPr id="33836" name="Line 121"/>
            <p:cNvSpPr>
              <a:spLocks noChangeShapeType="1"/>
            </p:cNvSpPr>
            <p:nvPr/>
          </p:nvSpPr>
          <p:spPr bwMode="auto">
            <a:xfrm flipH="1">
              <a:off x="1619" y="3895"/>
              <a:ext cx="1126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3832" name="Group 127"/>
          <p:cNvGrpSpPr>
            <a:grpSpLocks/>
          </p:cNvGrpSpPr>
          <p:nvPr/>
        </p:nvGrpSpPr>
        <p:grpSpPr bwMode="auto">
          <a:xfrm>
            <a:off x="1935163" y="677863"/>
            <a:ext cx="2438400" cy="2506663"/>
            <a:chOff x="1219" y="427"/>
            <a:chExt cx="1536" cy="1579"/>
          </a:xfrm>
        </p:grpSpPr>
        <p:sp>
          <p:nvSpPr>
            <p:cNvPr id="33833" name="Text Box 124"/>
            <p:cNvSpPr txBox="1">
              <a:spLocks noChangeArrowheads="1"/>
            </p:cNvSpPr>
            <p:nvPr/>
          </p:nvSpPr>
          <p:spPr bwMode="auto">
            <a:xfrm>
              <a:off x="1219" y="427"/>
              <a:ext cx="1536" cy="26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</a:rPr>
                <a:t>count</a:t>
              </a:r>
              <a:r>
                <a:rPr lang="en-US" sz="1200" b="1" dirty="0"/>
                <a:t> incremented because of constructor calls from </a:t>
              </a:r>
              <a:r>
                <a:rPr lang="en-US" sz="1200" b="1" dirty="0">
                  <a:latin typeface="Courier New" panose="02070309020205020404" pitchFamily="49" charset="0"/>
                </a:rPr>
                <a:t>new</a:t>
              </a:r>
              <a:r>
                <a:rPr lang="en-US" sz="1200" b="1" dirty="0"/>
                <a:t>.  </a:t>
              </a:r>
            </a:p>
          </p:txBody>
        </p:sp>
        <p:sp>
          <p:nvSpPr>
            <p:cNvPr id="33834" name="Line 126"/>
            <p:cNvSpPr>
              <a:spLocks noChangeShapeType="1"/>
            </p:cNvSpPr>
            <p:nvPr/>
          </p:nvSpPr>
          <p:spPr bwMode="auto">
            <a:xfrm flipH="1">
              <a:off x="1482" y="693"/>
              <a:ext cx="246" cy="1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bIns="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261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3"/>
          <p:cNvGrpSpPr>
            <a:grpSpLocks/>
          </p:cNvGrpSpPr>
          <p:nvPr/>
        </p:nvGrpSpPr>
        <p:grpSpPr bwMode="auto">
          <a:xfrm>
            <a:off x="0" y="0"/>
            <a:ext cx="6629400" cy="1981200"/>
            <a:chOff x="0" y="0"/>
            <a:chExt cx="3072" cy="2244"/>
          </a:xfrm>
        </p:grpSpPr>
        <p:grpSp>
          <p:nvGrpSpPr>
            <p:cNvPr id="34824" name="Group 4"/>
            <p:cNvGrpSpPr>
              <a:grpSpLocks/>
            </p:cNvGrpSpPr>
            <p:nvPr/>
          </p:nvGrpSpPr>
          <p:grpSpPr bwMode="auto">
            <a:xfrm>
              <a:off x="0" y="0"/>
              <a:ext cx="3072" cy="374"/>
              <a:chOff x="0" y="0"/>
              <a:chExt cx="3072" cy="374"/>
            </a:xfrm>
          </p:grpSpPr>
          <p:sp>
            <p:nvSpPr>
              <p:cNvPr id="34840" name="Rectangle 5"/>
              <p:cNvSpPr>
                <a:spLocks noChangeArrowheads="1"/>
              </p:cNvSpPr>
              <p:nvPr/>
            </p:nvSpPr>
            <p:spPr bwMode="auto">
              <a:xfrm>
                <a:off x="0" y="30"/>
                <a:ext cx="3072" cy="31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4841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119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4825" name="Group 7"/>
            <p:cNvGrpSpPr>
              <a:grpSpLocks/>
            </p:cNvGrpSpPr>
            <p:nvPr/>
          </p:nvGrpSpPr>
          <p:grpSpPr bwMode="auto">
            <a:xfrm>
              <a:off x="0" y="374"/>
              <a:ext cx="3072" cy="374"/>
              <a:chOff x="0" y="374"/>
              <a:chExt cx="3072" cy="374"/>
            </a:xfrm>
          </p:grpSpPr>
          <p:sp>
            <p:nvSpPr>
              <p:cNvPr id="34838" name="Rectangle 8"/>
              <p:cNvSpPr>
                <a:spLocks noChangeArrowheads="1"/>
              </p:cNvSpPr>
              <p:nvPr/>
            </p:nvSpPr>
            <p:spPr bwMode="auto">
              <a:xfrm>
                <a:off x="0" y="404"/>
                <a:ext cx="3072" cy="31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4839" name="Rectangle 9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120	</a:t>
                </a:r>
                <a:r>
                  <a:rPr lang="en-US" sz="1200" b="1">
                    <a:latin typeface="Courier New" panose="02070309020205020404" pitchFamily="49" charset="0"/>
                  </a:rPr>
                  <a:t>   cout &lt;&lt; "Number of employees after deletion is "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4826" name="Group 10"/>
            <p:cNvGrpSpPr>
              <a:grpSpLocks/>
            </p:cNvGrpSpPr>
            <p:nvPr/>
          </p:nvGrpSpPr>
          <p:grpSpPr bwMode="auto">
            <a:xfrm>
              <a:off x="0" y="748"/>
              <a:ext cx="3072" cy="374"/>
              <a:chOff x="0" y="748"/>
              <a:chExt cx="3072" cy="374"/>
            </a:xfrm>
          </p:grpSpPr>
          <p:sp>
            <p:nvSpPr>
              <p:cNvPr id="34836" name="Rectangle 11"/>
              <p:cNvSpPr>
                <a:spLocks noChangeArrowheads="1"/>
              </p:cNvSpPr>
              <p:nvPr/>
            </p:nvSpPr>
            <p:spPr bwMode="auto">
              <a:xfrm>
                <a:off x="0" y="778"/>
                <a:ext cx="3072" cy="31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4837" name="Rectangle 12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121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Employee::getCount() &lt;&lt; endl;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4827" name="Group 13"/>
            <p:cNvGrpSpPr>
              <a:grpSpLocks/>
            </p:cNvGrpSpPr>
            <p:nvPr/>
          </p:nvGrpSpPr>
          <p:grpSpPr bwMode="auto">
            <a:xfrm>
              <a:off x="0" y="1122"/>
              <a:ext cx="3072" cy="374"/>
              <a:chOff x="0" y="1122"/>
              <a:chExt cx="3072" cy="374"/>
            </a:xfrm>
          </p:grpSpPr>
          <p:sp>
            <p:nvSpPr>
              <p:cNvPr id="34834" name="Rectangle 14"/>
              <p:cNvSpPr>
                <a:spLocks noChangeArrowheads="1"/>
              </p:cNvSpPr>
              <p:nvPr/>
            </p:nvSpPr>
            <p:spPr bwMode="auto">
              <a:xfrm>
                <a:off x="0" y="1152"/>
                <a:ext cx="3072" cy="31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4835" name="Rectangle 15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122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4828" name="Group 16"/>
            <p:cNvGrpSpPr>
              <a:grpSpLocks/>
            </p:cNvGrpSpPr>
            <p:nvPr/>
          </p:nvGrpSpPr>
          <p:grpSpPr bwMode="auto">
            <a:xfrm>
              <a:off x="0" y="1496"/>
              <a:ext cx="3072" cy="374"/>
              <a:chOff x="0" y="1496"/>
              <a:chExt cx="3072" cy="374"/>
            </a:xfrm>
          </p:grpSpPr>
          <p:sp>
            <p:nvSpPr>
              <p:cNvPr id="34832" name="Rectangle 17"/>
              <p:cNvSpPr>
                <a:spLocks noChangeArrowheads="1"/>
              </p:cNvSpPr>
              <p:nvPr/>
            </p:nvSpPr>
            <p:spPr bwMode="auto">
              <a:xfrm>
                <a:off x="0" y="1526"/>
                <a:ext cx="3072" cy="31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4833" name="Rectangle 18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123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34829" name="Group 19"/>
            <p:cNvGrpSpPr>
              <a:grpSpLocks/>
            </p:cNvGrpSpPr>
            <p:nvPr/>
          </p:nvGrpSpPr>
          <p:grpSpPr bwMode="auto">
            <a:xfrm>
              <a:off x="0" y="1870"/>
              <a:ext cx="3072" cy="374"/>
              <a:chOff x="0" y="1870"/>
              <a:chExt cx="3072" cy="374"/>
            </a:xfrm>
          </p:grpSpPr>
          <p:sp>
            <p:nvSpPr>
              <p:cNvPr id="34830" name="Rectangle 20"/>
              <p:cNvSpPr>
                <a:spLocks noChangeArrowheads="1"/>
              </p:cNvSpPr>
              <p:nvPr/>
            </p:nvSpPr>
            <p:spPr bwMode="auto">
              <a:xfrm>
                <a:off x="0" y="1900"/>
                <a:ext cx="3072" cy="31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34831" name="Rectangle 21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124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  <p:sp>
        <p:nvSpPr>
          <p:cNvPr id="34819" name="Rectangle 22"/>
          <p:cNvSpPr>
            <a:spLocks noChangeArrowheads="1"/>
          </p:cNvSpPr>
          <p:nvPr/>
        </p:nvSpPr>
        <p:spPr bwMode="auto">
          <a:xfrm>
            <a:off x="0" y="2209800"/>
            <a:ext cx="6629400" cy="23082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Number of employees before instantiation is 0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Employee constructor for Susan Baker called.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Employee constructor for Robert Jones called.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Number of employees after instantiation is 2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 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Employee 1: Susan Baker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Employee 2: Robert Jones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 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~Employee() called for Susan Baker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~Employee() called for Robert Jones</a:t>
            </a:r>
          </a:p>
          <a:p>
            <a:pPr eaLnBrk="1" hangingPunct="1"/>
            <a:r>
              <a:rPr lang="en-US" sz="1200" b="1" dirty="0">
                <a:latin typeface="Courier New" panose="02070309020205020404" pitchFamily="49" charset="0"/>
              </a:rPr>
              <a:t>Number of employees after deletion is 0</a:t>
            </a:r>
          </a:p>
          <a:p>
            <a:pPr eaLnBrk="1" hangingPunct="1"/>
            <a:endParaRPr lang="en-US" sz="1200" b="1" dirty="0">
              <a:latin typeface="Courier New" panose="02070309020205020404" pitchFamily="49" charset="0"/>
            </a:endParaRPr>
          </a:p>
        </p:txBody>
      </p: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3581400" y="914400"/>
            <a:ext cx="2895600" cy="3124200"/>
            <a:chOff x="2256" y="576"/>
            <a:chExt cx="1824" cy="1968"/>
          </a:xfrm>
        </p:grpSpPr>
        <p:sp>
          <p:nvSpPr>
            <p:cNvPr id="34821" name="Line 24"/>
            <p:cNvSpPr>
              <a:spLocks noChangeShapeType="1"/>
            </p:cNvSpPr>
            <p:nvPr/>
          </p:nvSpPr>
          <p:spPr bwMode="auto">
            <a:xfrm flipH="1" flipV="1">
              <a:off x="2448" y="57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22" name="Line 25"/>
            <p:cNvSpPr>
              <a:spLocks noChangeShapeType="1"/>
            </p:cNvSpPr>
            <p:nvPr/>
          </p:nvSpPr>
          <p:spPr bwMode="auto">
            <a:xfrm flipH="1">
              <a:off x="2256" y="1104"/>
              <a:ext cx="1152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23" name="Text Box 23"/>
            <p:cNvSpPr txBox="1">
              <a:spLocks noChangeArrowheads="1"/>
            </p:cNvSpPr>
            <p:nvPr/>
          </p:nvSpPr>
          <p:spPr bwMode="auto">
            <a:xfrm>
              <a:off x="2352" y="912"/>
              <a:ext cx="1728" cy="19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b="1">
                  <a:latin typeface="Courier New" panose="02070309020205020404" pitchFamily="49" charset="0"/>
                </a:rPr>
                <a:t>count</a:t>
              </a:r>
              <a:r>
                <a:rPr lang="en-US" sz="1400" b="1"/>
                <a:t> back to zero.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556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906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 err="1">
                <a:solidFill>
                  <a:srgbClr val="B80000"/>
                </a:solidFill>
                <a:cs typeface="+mj-cs"/>
              </a:rPr>
              <a:t>const</a:t>
            </a:r>
            <a:r>
              <a:rPr lang="en-US" sz="4000" b="1" dirty="0">
                <a:solidFill>
                  <a:srgbClr val="B80000"/>
                </a:solidFill>
                <a:cs typeface="+mj-cs"/>
              </a:rPr>
              <a:t> Class Members</a:t>
            </a:r>
          </a:p>
        </p:txBody>
      </p:sp>
      <p:sp>
        <p:nvSpPr>
          <p:cNvPr id="11267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067800" cy="56388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As with </a:t>
            </a:r>
            <a:r>
              <a:rPr lang="en-US" b="1" dirty="0">
                <a:solidFill>
                  <a:srgbClr val="B80000"/>
                </a:solidFill>
                <a:cs typeface="+mn-cs"/>
              </a:rPr>
              <a:t>member functions</a:t>
            </a:r>
            <a:r>
              <a:rPr lang="en-US" dirty="0">
                <a:cs typeface="+mn-cs"/>
              </a:rPr>
              <a:t>, </a:t>
            </a:r>
            <a:r>
              <a:rPr lang="en-US" b="1" dirty="0">
                <a:solidFill>
                  <a:srgbClr val="2C14DE"/>
                </a:solidFill>
                <a:cs typeface="+mn-cs"/>
              </a:rPr>
              <a:t>data members </a:t>
            </a:r>
            <a:r>
              <a:rPr lang="en-US" dirty="0">
                <a:cs typeface="+mn-cs"/>
              </a:rPr>
              <a:t>can also be </a:t>
            </a:r>
            <a:r>
              <a:rPr lang="en-US" b="1" dirty="0" err="1">
                <a:solidFill>
                  <a:srgbClr val="2C14DE"/>
                </a:solidFill>
                <a:cs typeface="+mn-cs"/>
              </a:rPr>
              <a:t>const</a:t>
            </a:r>
            <a:endParaRPr lang="en-US" b="1" dirty="0">
              <a:solidFill>
                <a:srgbClr val="2C14DE"/>
              </a:solidFill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b="1" dirty="0">
                <a:solidFill>
                  <a:srgbClr val="B80000"/>
                </a:solidFill>
                <a:cs typeface="+mn-cs"/>
              </a:rPr>
              <a:t>Member Initializer List:</a:t>
            </a:r>
          </a:p>
          <a:p>
            <a:pPr lvl="1" algn="just">
              <a:defRPr/>
            </a:pPr>
            <a:r>
              <a:rPr lang="en-US" sz="3000" b="1" dirty="0">
                <a:solidFill>
                  <a:srgbClr val="2F1BC7"/>
                </a:solidFill>
              </a:rPr>
              <a:t>Can be used </a:t>
            </a:r>
            <a:r>
              <a:rPr lang="en-US" sz="3000" b="1" dirty="0"/>
              <a:t>to </a:t>
            </a:r>
            <a:r>
              <a:rPr lang="en-US" sz="3000" b="1" dirty="0">
                <a:solidFill>
                  <a:srgbClr val="2F1BC7"/>
                </a:solidFill>
              </a:rPr>
              <a:t>initialize</a:t>
            </a:r>
            <a:r>
              <a:rPr lang="en-US" sz="3000" b="1" dirty="0"/>
              <a:t> both </a:t>
            </a:r>
            <a:r>
              <a:rPr lang="en-US" sz="3000" b="1" dirty="0" err="1">
                <a:solidFill>
                  <a:srgbClr val="2F1BC7"/>
                </a:solidFill>
              </a:rPr>
              <a:t>const</a:t>
            </a:r>
            <a:r>
              <a:rPr lang="en-US" sz="3000" b="1" dirty="0">
                <a:solidFill>
                  <a:srgbClr val="2F1BC7"/>
                </a:solidFill>
              </a:rPr>
              <a:t> </a:t>
            </a:r>
            <a:r>
              <a:rPr lang="en-US" sz="3000" b="1" dirty="0"/>
              <a:t>and </a:t>
            </a:r>
            <a:r>
              <a:rPr lang="en-US" sz="3000" b="1" dirty="0">
                <a:solidFill>
                  <a:srgbClr val="2F1BC7"/>
                </a:solidFill>
              </a:rPr>
              <a:t>non-</a:t>
            </a:r>
            <a:r>
              <a:rPr lang="en-US" sz="3000" b="1" dirty="0" err="1">
                <a:solidFill>
                  <a:srgbClr val="2F1BC7"/>
                </a:solidFill>
              </a:rPr>
              <a:t>const</a:t>
            </a:r>
            <a:r>
              <a:rPr lang="en-US" sz="3000" b="1" dirty="0">
                <a:solidFill>
                  <a:srgbClr val="2F1BC7"/>
                </a:solidFill>
              </a:rPr>
              <a:t> </a:t>
            </a:r>
            <a:r>
              <a:rPr lang="en-US" sz="3000" b="1" dirty="0"/>
              <a:t>data members</a:t>
            </a:r>
          </a:p>
          <a:p>
            <a:pPr lvl="1" algn="just">
              <a:defRPr/>
            </a:pPr>
            <a:r>
              <a:rPr lang="en-US" sz="3000" b="1" dirty="0" err="1">
                <a:solidFill>
                  <a:srgbClr val="2F1BC7"/>
                </a:solidFill>
                <a:latin typeface="Courier New" charset="0"/>
              </a:rPr>
              <a:t>const</a:t>
            </a:r>
            <a:r>
              <a:rPr lang="en-US" sz="3000" b="1" dirty="0" err="1">
                <a:solidFill>
                  <a:srgbClr val="2F1BC7"/>
                </a:solidFill>
              </a:rPr>
              <a:t>s</a:t>
            </a:r>
            <a:r>
              <a:rPr lang="en-US" sz="3000" dirty="0">
                <a:solidFill>
                  <a:srgbClr val="2F1BC7"/>
                </a:solidFill>
              </a:rPr>
              <a:t> </a:t>
            </a:r>
            <a:r>
              <a:rPr lang="en-US" sz="3000" dirty="0"/>
              <a:t>and </a:t>
            </a:r>
            <a:r>
              <a:rPr lang="en-US" sz="3000" b="1" dirty="0">
                <a:solidFill>
                  <a:srgbClr val="2F1BC7"/>
                </a:solidFill>
              </a:rPr>
              <a:t>references</a:t>
            </a:r>
            <a:r>
              <a:rPr lang="en-US" sz="3000" dirty="0">
                <a:solidFill>
                  <a:srgbClr val="2F1BC7"/>
                </a:solidFill>
              </a:rPr>
              <a:t> </a:t>
            </a:r>
            <a:r>
              <a:rPr lang="en-US" sz="3000" b="1" u="sng" dirty="0">
                <a:solidFill>
                  <a:srgbClr val="C00000"/>
                </a:solidFill>
              </a:rPr>
              <a:t>must be initialized </a:t>
            </a:r>
            <a:r>
              <a:rPr lang="en-US" sz="3000" b="1" dirty="0">
                <a:solidFill>
                  <a:srgbClr val="2F1BC7"/>
                </a:solidFill>
              </a:rPr>
              <a:t>using member initializer</a:t>
            </a:r>
            <a:endParaRPr lang="en-US" sz="3000" b="1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3735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"/>
          <p:cNvSpPr>
            <a:spLocks noGrp="1" noChangeArrowheads="1"/>
          </p:cNvSpPr>
          <p:nvPr>
            <p:ph type="title"/>
          </p:nvPr>
        </p:nvSpPr>
        <p:spPr>
          <a:xfrm>
            <a:off x="0" y="-8170"/>
            <a:ext cx="9144000" cy="922570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B80000"/>
                </a:solidFill>
              </a:rPr>
              <a:t>Member Initializer List (Non-</a:t>
            </a:r>
            <a:r>
              <a:rPr lang="en-US" sz="3600" b="1" dirty="0" err="1">
                <a:solidFill>
                  <a:srgbClr val="B80000"/>
                </a:solidFill>
              </a:rPr>
              <a:t>const</a:t>
            </a:r>
            <a:r>
              <a:rPr lang="en-US" sz="3600" b="1" dirty="0">
                <a:solidFill>
                  <a:srgbClr val="B80000"/>
                </a:solidFill>
              </a:rPr>
              <a:t> Members)</a:t>
            </a:r>
            <a:endParaRPr lang="en-US" sz="2400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5278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8" y="1066800"/>
            <a:ext cx="9072140" cy="55854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362200"/>
            <a:ext cx="8343900" cy="1619250"/>
          </a:xfrm>
          <a:prstGeom prst="rect">
            <a:avLst/>
          </a:prstGeom>
          <a:ln w="38100" cap="sq">
            <a:solidFill>
              <a:srgbClr val="2C14DE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811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"/>
          <p:cNvSpPr>
            <a:spLocks noGrp="1" noChangeArrowheads="1"/>
          </p:cNvSpPr>
          <p:nvPr>
            <p:ph type="title"/>
          </p:nvPr>
        </p:nvSpPr>
        <p:spPr>
          <a:xfrm>
            <a:off x="0" y="-8170"/>
            <a:ext cx="9144000" cy="922570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B80000"/>
                </a:solidFill>
              </a:rPr>
              <a:t>Member Initializer List (non-static </a:t>
            </a:r>
            <a:r>
              <a:rPr lang="en-US" sz="4000" b="1" dirty="0" err="1">
                <a:solidFill>
                  <a:srgbClr val="B80000"/>
                </a:solidFill>
              </a:rPr>
              <a:t>const</a:t>
            </a:r>
            <a:r>
              <a:rPr lang="en-US" sz="4000" b="1" dirty="0">
                <a:solidFill>
                  <a:srgbClr val="B80000"/>
                </a:solidFill>
              </a:rPr>
              <a:t>)</a:t>
            </a:r>
            <a:endParaRPr lang="en-US" sz="2800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5278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19200"/>
            <a:ext cx="7467600" cy="420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7798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"/>
          <p:cNvSpPr>
            <a:spLocks noGrp="1" noChangeArrowheads="1"/>
          </p:cNvSpPr>
          <p:nvPr>
            <p:ph type="title"/>
          </p:nvPr>
        </p:nvSpPr>
        <p:spPr>
          <a:xfrm>
            <a:off x="0" y="-8170"/>
            <a:ext cx="9144000" cy="922570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B80000"/>
                </a:solidFill>
              </a:rPr>
              <a:t>Member Initializer List (References)</a:t>
            </a:r>
            <a:endParaRPr lang="en-US" sz="2800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5278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19200"/>
            <a:ext cx="830860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640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"/>
          <p:cNvSpPr>
            <a:spLocks noGrp="1" noChangeArrowheads="1"/>
          </p:cNvSpPr>
          <p:nvPr>
            <p:ph type="title"/>
          </p:nvPr>
        </p:nvSpPr>
        <p:spPr>
          <a:xfrm>
            <a:off x="0" y="-8170"/>
            <a:ext cx="9144000" cy="617770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B80000"/>
                </a:solidFill>
              </a:rPr>
              <a:t>Member Initializer List (member object, no default constructor)</a:t>
            </a:r>
            <a:endParaRPr lang="en-US" sz="1600" b="1" dirty="0">
              <a:solidFill>
                <a:srgbClr val="B80000"/>
              </a:solidFill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5278" y="6096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7" y="655319"/>
            <a:ext cx="7426628" cy="621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867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"/>
          <p:cNvSpPr>
            <a:spLocks noGrp="1" noChangeArrowheads="1"/>
          </p:cNvSpPr>
          <p:nvPr>
            <p:ph type="title"/>
          </p:nvPr>
        </p:nvSpPr>
        <p:spPr>
          <a:xfrm>
            <a:off x="-6485" y="4864"/>
            <a:ext cx="9144000" cy="1214336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B80000"/>
                </a:solidFill>
              </a:rPr>
              <a:t>Member Initializer List </a:t>
            </a:r>
            <a:br>
              <a:rPr lang="en-US" sz="4000" b="1" dirty="0">
                <a:solidFill>
                  <a:srgbClr val="B80000"/>
                </a:solidFill>
              </a:rPr>
            </a:br>
            <a:r>
              <a:rPr lang="en-US" sz="4000" b="1" dirty="0">
                <a:solidFill>
                  <a:srgbClr val="C00000"/>
                </a:solidFill>
              </a:rPr>
              <a:t>(parameter name same as data member)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1246762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24000"/>
            <a:ext cx="8532312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0858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"/>
          <p:cNvSpPr>
            <a:spLocks noGrp="1" noChangeArrowheads="1"/>
          </p:cNvSpPr>
          <p:nvPr>
            <p:ph type="title"/>
          </p:nvPr>
        </p:nvSpPr>
        <p:spPr>
          <a:xfrm>
            <a:off x="-6485" y="4864"/>
            <a:ext cx="9144000" cy="1214336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B80000"/>
                </a:solidFill>
              </a:rPr>
              <a:t>Member Initializer List </a:t>
            </a:r>
            <a:br>
              <a:rPr lang="en-US" sz="4000" b="1" dirty="0">
                <a:solidFill>
                  <a:srgbClr val="B80000"/>
                </a:solidFill>
              </a:rPr>
            </a:br>
            <a:r>
              <a:rPr lang="en-US" sz="4000" b="1" dirty="0">
                <a:solidFill>
                  <a:srgbClr val="C00000"/>
                </a:solidFill>
              </a:rPr>
              <a:t>(</a:t>
            </a:r>
            <a:r>
              <a:rPr lang="en-US" sz="4000" b="1" u="sng" dirty="0">
                <a:solidFill>
                  <a:srgbClr val="C00000"/>
                </a:solidFill>
              </a:rPr>
              <a:t>base class </a:t>
            </a:r>
            <a:r>
              <a:rPr lang="en-US" sz="4000" b="1" dirty="0">
                <a:solidFill>
                  <a:srgbClr val="C00000"/>
                </a:solidFill>
              </a:rPr>
              <a:t>members)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1246762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524000" y="2667000"/>
            <a:ext cx="6553200" cy="14478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Will be discussed in chapters after midterm</a:t>
            </a:r>
          </a:p>
        </p:txBody>
      </p:sp>
    </p:spTree>
    <p:extLst>
      <p:ext uri="{BB962C8B-B14F-4D97-AF65-F5344CB8AC3E}">
        <p14:creationId xmlns:p14="http://schemas.microsoft.com/office/powerpoint/2010/main" val="56105018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0797"/>
            <a:ext cx="8116956" cy="877253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itchFamily="34" charset="0"/>
              </a:rPr>
              <a:t>The </a:t>
            </a:r>
            <a:r>
              <a:rPr lang="en-US" b="1" i="1" dirty="0">
                <a:solidFill>
                  <a:srgbClr val="FF0000"/>
                </a:solidFill>
                <a:latin typeface="Calibri" pitchFamily="34" charset="0"/>
              </a:rPr>
              <a:t>this</a:t>
            </a:r>
            <a:r>
              <a:rPr lang="en-US" b="1" dirty="0">
                <a:latin typeface="Calibri" pitchFamily="34" charset="0"/>
              </a:rPr>
              <a:t> Pointer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76200" y="1143000"/>
            <a:ext cx="8955156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algn="just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i="1" dirty="0">
                <a:solidFill>
                  <a:srgbClr val="B80000"/>
                </a:solidFill>
                <a:latin typeface="Calibri" pitchFamily="34" charset="0"/>
              </a:rPr>
              <a:t>this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</a:rPr>
              <a:t> </a:t>
            </a:r>
            <a:r>
              <a:rPr lang="en-US" sz="3000" b="1" dirty="0">
                <a:latin typeface="Calibri" pitchFamily="34" charset="0"/>
              </a:rPr>
              <a:t>keyword is a </a:t>
            </a:r>
            <a:r>
              <a:rPr lang="en-US" sz="3000" b="1" u="sng" dirty="0">
                <a:solidFill>
                  <a:srgbClr val="2F1BC7"/>
                </a:solidFill>
                <a:latin typeface="Calibri" pitchFamily="34" charset="0"/>
              </a:rPr>
              <a:t>special built-in pointer (</a:t>
            </a:r>
            <a:r>
              <a:rPr lang="en-US" sz="3000" b="1" u="sng" dirty="0">
                <a:solidFill>
                  <a:srgbClr val="FF0000"/>
                </a:solidFill>
                <a:latin typeface="Calibri" pitchFamily="34" charset="0"/>
              </a:rPr>
              <a:t>constant pointer</a:t>
            </a:r>
            <a:r>
              <a:rPr lang="en-US" sz="3000" b="1" u="sng" dirty="0">
                <a:solidFill>
                  <a:srgbClr val="2F1BC7"/>
                </a:solidFill>
                <a:latin typeface="Calibri" pitchFamily="34" charset="0"/>
              </a:rPr>
              <a:t>)</a:t>
            </a:r>
            <a:r>
              <a:rPr lang="en-US" sz="3000" b="1" u="sng" dirty="0">
                <a:latin typeface="Calibri" pitchFamily="34" charset="0"/>
              </a:rPr>
              <a:t> </a:t>
            </a:r>
            <a:r>
              <a:rPr lang="en-US" sz="3000" b="1" dirty="0">
                <a:latin typeface="Calibri" pitchFamily="34" charset="0"/>
              </a:rPr>
              <a:t>that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</a:rPr>
              <a:t>references</a:t>
            </a:r>
            <a:r>
              <a:rPr lang="en-US" sz="3000" b="1" dirty="0">
                <a:latin typeface="Calibri" pitchFamily="34" charset="0"/>
              </a:rPr>
              <a:t> to the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calling object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2800" dirty="0">
              <a:latin typeface="Calibri" pitchFamily="34" charset="0"/>
            </a:endParaRPr>
          </a:p>
          <a:p>
            <a:pPr marL="342900" indent="-342900" algn="just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dirty="0">
                <a:solidFill>
                  <a:srgbClr val="B80000"/>
                </a:solidFill>
                <a:latin typeface="+mj-lt"/>
              </a:rPr>
              <a:t>this</a:t>
            </a:r>
            <a:r>
              <a:rPr lang="en-US" sz="3000" dirty="0">
                <a:solidFill>
                  <a:srgbClr val="B8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pointer is passed as a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hidden argument </a:t>
            </a:r>
            <a:r>
              <a:rPr lang="en-US" sz="3000" dirty="0">
                <a:latin typeface="+mj-lt"/>
              </a:rPr>
              <a:t>to all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non-static member function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and is </a:t>
            </a:r>
            <a:r>
              <a:rPr lang="en-US" sz="3000" b="1" dirty="0">
                <a:latin typeface="+mj-lt"/>
              </a:rPr>
              <a:t>available</a:t>
            </a:r>
            <a:r>
              <a:rPr lang="en-US" sz="3000" dirty="0">
                <a:latin typeface="+mj-lt"/>
              </a:rPr>
              <a:t> as a </a:t>
            </a:r>
            <a:r>
              <a:rPr lang="en-US" sz="3000" b="1" dirty="0">
                <a:latin typeface="+mj-lt"/>
              </a:rPr>
              <a:t>local variable </a:t>
            </a:r>
            <a:r>
              <a:rPr lang="en-US" sz="3000" dirty="0">
                <a:latin typeface="+mj-lt"/>
              </a:rPr>
              <a:t>within the body of all </a:t>
            </a:r>
            <a:r>
              <a:rPr lang="en-US" sz="3000" b="1" u="sng" dirty="0">
                <a:latin typeface="+mj-lt"/>
              </a:rPr>
              <a:t>non-static functions</a:t>
            </a:r>
            <a:r>
              <a:rPr lang="en-US" sz="3000" dirty="0">
                <a:latin typeface="+mj-lt"/>
              </a:rPr>
              <a:t>.</a:t>
            </a:r>
          </a:p>
          <a:p>
            <a:pPr marL="800100" lvl="2" indent="-342900" algn="just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u="sng" dirty="0">
                <a:latin typeface="+mj-lt"/>
              </a:rPr>
              <a:t>Not part of the object itself (</a:t>
            </a:r>
            <a:r>
              <a:rPr lang="en-US" sz="3000" b="1" u="sng" dirty="0">
                <a:solidFill>
                  <a:srgbClr val="FF0000"/>
                </a:solidFill>
                <a:latin typeface="+mj-lt"/>
              </a:rPr>
              <a:t>this</a:t>
            </a:r>
            <a:r>
              <a:rPr lang="en-US" sz="3000" b="1" u="sng" dirty="0">
                <a:latin typeface="+mj-lt"/>
              </a:rPr>
              <a:t>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pointer is not reflected with </a:t>
            </a:r>
            <a:r>
              <a:rPr lang="en-US" sz="3000" b="1" u="sng" dirty="0" err="1">
                <a:solidFill>
                  <a:srgbClr val="2C14DE"/>
                </a:solidFill>
                <a:latin typeface="+mj-lt"/>
              </a:rPr>
              <a:t>sizeof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(object)</a:t>
            </a:r>
            <a:r>
              <a:rPr lang="en-US" sz="3000" b="1" u="sng" dirty="0">
                <a:latin typeface="+mj-lt"/>
              </a:rPr>
              <a:t>)</a:t>
            </a:r>
          </a:p>
          <a:p>
            <a:pPr eaLnBrk="0" hangingPunct="0"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2800" dirty="0">
              <a:solidFill>
                <a:srgbClr val="FF0000"/>
              </a:solidFill>
              <a:latin typeface="Calibri" pitchFamily="34" charset="0"/>
            </a:endParaRPr>
          </a:p>
          <a:p>
            <a:pPr marL="342900" indent="-342900" algn="just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000" b="1" dirty="0">
                <a:latin typeface="Calibri" pitchFamily="34" charset="0"/>
              </a:rPr>
              <a:t>Can be used</a:t>
            </a:r>
            <a:r>
              <a:rPr lang="en-US" sz="3000" dirty="0">
                <a:latin typeface="Calibri" pitchFamily="34" charset="0"/>
              </a:rPr>
              <a:t> to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access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instance variables </a:t>
            </a:r>
            <a:r>
              <a:rPr lang="en-US" sz="3000" dirty="0">
                <a:latin typeface="Calibri" pitchFamily="34" charset="0"/>
              </a:rPr>
              <a:t>within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constructors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</a:rPr>
              <a:t> </a:t>
            </a:r>
            <a:r>
              <a:rPr lang="en-US" sz="3000" dirty="0">
                <a:latin typeface="Calibri" pitchFamily="34" charset="0"/>
              </a:rPr>
              <a:t>and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</a:rPr>
              <a:t>member functions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451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>
          <a:xfrm>
            <a:off x="982731" y="38948"/>
            <a:ext cx="8153400" cy="829733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Using the </a:t>
            </a:r>
            <a:r>
              <a:rPr lang="en-US" b="1" dirty="0">
                <a:solidFill>
                  <a:srgbClr val="FF0000"/>
                </a:solidFill>
                <a:cs typeface="+mj-cs"/>
              </a:rPr>
              <a:t>this</a:t>
            </a:r>
            <a:r>
              <a:rPr lang="en-US" b="1" dirty="0">
                <a:solidFill>
                  <a:srgbClr val="B80000"/>
                </a:solidFill>
                <a:cs typeface="+mj-cs"/>
              </a:rPr>
              <a:t> Pointer</a:t>
            </a:r>
          </a:p>
        </p:txBody>
      </p:sp>
      <p:sp>
        <p:nvSpPr>
          <p:cNvPr id="1946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756" y="1095374"/>
            <a:ext cx="8951844" cy="5762625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cs typeface="+mn-cs"/>
              </a:rPr>
              <a:t>Examples using </a:t>
            </a:r>
            <a:r>
              <a:rPr lang="en-US" b="1" dirty="0">
                <a:solidFill>
                  <a:srgbClr val="FF0000"/>
                </a:solidFill>
                <a:latin typeface="Courier New" charset="0"/>
                <a:cs typeface="+mn-cs"/>
              </a:rPr>
              <a:t>this</a:t>
            </a:r>
          </a:p>
          <a:p>
            <a:pPr lvl="1">
              <a:defRPr/>
            </a:pPr>
            <a:r>
              <a:rPr lang="en-US" dirty="0"/>
              <a:t>For a </a:t>
            </a:r>
            <a:r>
              <a:rPr lang="en-US" b="1" dirty="0">
                <a:solidFill>
                  <a:srgbClr val="2C14DE"/>
                </a:solidFill>
              </a:rPr>
              <a:t>member function </a:t>
            </a:r>
            <a:r>
              <a:rPr lang="en-US" b="1" dirty="0"/>
              <a:t>print data member </a:t>
            </a:r>
            <a:r>
              <a:rPr lang="en-US" b="1" dirty="0">
                <a:latin typeface="Courier New" charset="0"/>
              </a:rPr>
              <a:t>x</a:t>
            </a:r>
            <a:r>
              <a:rPr lang="en-US" dirty="0"/>
              <a:t>, either</a:t>
            </a:r>
          </a:p>
          <a:p>
            <a:pPr lvl="4">
              <a:buFontTx/>
              <a:buNone/>
              <a:defRPr/>
            </a:pPr>
            <a:r>
              <a:rPr lang="en-US" sz="2400" b="1" dirty="0">
                <a:solidFill>
                  <a:srgbClr val="008000"/>
                </a:solidFill>
                <a:latin typeface="Courier New" charset="0"/>
              </a:rPr>
              <a:t>      this-&gt;x;</a:t>
            </a:r>
          </a:p>
          <a:p>
            <a:pPr lvl="4">
              <a:buFontTx/>
              <a:buNone/>
              <a:defRPr/>
            </a:pPr>
            <a:r>
              <a:rPr lang="en-US" sz="2400" dirty="0"/>
              <a:t>                   or</a:t>
            </a:r>
          </a:p>
          <a:p>
            <a:pPr lvl="4">
              <a:buFontTx/>
              <a:buNone/>
              <a:defRPr/>
            </a:pPr>
            <a:r>
              <a:rPr lang="en-US" sz="2400" b="1" dirty="0">
                <a:solidFill>
                  <a:srgbClr val="008000"/>
                </a:solidFill>
                <a:latin typeface="Courier New" charset="0"/>
              </a:rPr>
              <a:t>      (*this).x</a:t>
            </a:r>
          </a:p>
          <a:p>
            <a:pPr lvl="4">
              <a:buFontTx/>
              <a:buNone/>
              <a:defRPr/>
            </a:pPr>
            <a:endParaRPr lang="en-US" b="1" dirty="0">
              <a:solidFill>
                <a:srgbClr val="008000"/>
              </a:solidFill>
              <a:latin typeface="Courier New" charset="0"/>
            </a:endParaRPr>
          </a:p>
          <a:p>
            <a:pPr>
              <a:defRPr/>
            </a:pPr>
            <a:r>
              <a:rPr lang="en-US" b="1" u="sng" dirty="0">
                <a:solidFill>
                  <a:srgbClr val="B80000"/>
                </a:solidFill>
                <a:cs typeface="+mn-cs"/>
              </a:rPr>
              <a:t>Cascaded</a:t>
            </a:r>
            <a:r>
              <a:rPr lang="en-US" b="1" dirty="0">
                <a:solidFill>
                  <a:srgbClr val="B80000"/>
                </a:solidFill>
                <a:cs typeface="+mn-cs"/>
              </a:rPr>
              <a:t> member function calls:</a:t>
            </a:r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Function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/>
              <a:t>returns</a:t>
            </a:r>
            <a:r>
              <a:rPr lang="en-US" dirty="0"/>
              <a:t> a </a:t>
            </a:r>
            <a:r>
              <a:rPr lang="en-US" b="1" dirty="0">
                <a:solidFill>
                  <a:srgbClr val="FF0000"/>
                </a:solidFill>
              </a:rPr>
              <a:t>reference pointer </a:t>
            </a:r>
            <a:r>
              <a:rPr lang="en-US" dirty="0"/>
              <a:t>to the </a:t>
            </a:r>
            <a:r>
              <a:rPr lang="en-US" b="1" dirty="0"/>
              <a:t>same object</a:t>
            </a:r>
            <a:r>
              <a:rPr lang="en-US" dirty="0"/>
              <a:t> </a:t>
            </a:r>
          </a:p>
          <a:p>
            <a:pPr lvl="4">
              <a:buFontTx/>
              <a:buNone/>
              <a:defRPr/>
            </a:pPr>
            <a:r>
              <a:rPr lang="en-US" b="1" dirty="0">
                <a:latin typeface="Courier New" charset="0"/>
              </a:rPr>
              <a:t>{ return *this; } </a:t>
            </a:r>
          </a:p>
          <a:p>
            <a:pPr lvl="1">
              <a:defRPr/>
            </a:pPr>
            <a:r>
              <a:rPr lang="en-US" dirty="0"/>
              <a:t>Other </a:t>
            </a:r>
            <a:r>
              <a:rPr lang="en-US" b="1" dirty="0">
                <a:solidFill>
                  <a:srgbClr val="2C14DE"/>
                </a:solidFill>
              </a:rPr>
              <a:t>functions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can </a:t>
            </a:r>
            <a:r>
              <a:rPr lang="en-US" b="1" dirty="0">
                <a:solidFill>
                  <a:srgbClr val="2C14DE"/>
                </a:solidFill>
              </a:rPr>
              <a:t>operate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on </a:t>
            </a:r>
            <a:r>
              <a:rPr lang="en-US" b="1" dirty="0"/>
              <a:t>that </a:t>
            </a:r>
            <a:r>
              <a:rPr lang="en-US" b="1" dirty="0">
                <a:solidFill>
                  <a:srgbClr val="2C14DE"/>
                </a:solidFill>
              </a:rPr>
              <a:t>pointer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049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09600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cs typeface="+mj-cs"/>
              </a:rPr>
              <a:t>Using the this Pointer</a:t>
            </a:r>
          </a:p>
        </p:txBody>
      </p:sp>
      <p:sp>
        <p:nvSpPr>
          <p:cNvPr id="2150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94422" y="533400"/>
            <a:ext cx="9067800" cy="6705599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cs typeface="+mn-cs"/>
              </a:rPr>
              <a:t>Example</a:t>
            </a:r>
            <a:r>
              <a:rPr lang="en-US" dirty="0">
                <a:solidFill>
                  <a:srgbClr val="B80000"/>
                </a:solidFill>
                <a:cs typeface="+mn-cs"/>
              </a:rPr>
              <a:t> </a:t>
            </a:r>
            <a:r>
              <a:rPr lang="en-US" dirty="0">
                <a:cs typeface="+mn-cs"/>
              </a:rPr>
              <a:t>of</a:t>
            </a:r>
            <a:r>
              <a:rPr lang="en-US" dirty="0">
                <a:solidFill>
                  <a:srgbClr val="B80000"/>
                </a:solidFill>
                <a:cs typeface="+mn-cs"/>
              </a:rPr>
              <a:t> </a:t>
            </a:r>
            <a:r>
              <a:rPr lang="en-US" b="1" dirty="0">
                <a:solidFill>
                  <a:srgbClr val="B80000"/>
                </a:solidFill>
                <a:cs typeface="+mn-cs"/>
              </a:rPr>
              <a:t>cascaded member function calls:</a:t>
            </a:r>
          </a:p>
          <a:p>
            <a:pPr lvl="1">
              <a:defRPr/>
            </a:pPr>
            <a:r>
              <a:rPr lang="en-US" dirty="0"/>
              <a:t>Member functions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setHour</a:t>
            </a:r>
            <a:r>
              <a:rPr lang="en-US" dirty="0"/>
              <a:t>,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setMinute</a:t>
            </a:r>
            <a:r>
              <a:rPr lang="en-US" dirty="0"/>
              <a:t>, and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setSecond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all return </a:t>
            </a:r>
            <a:r>
              <a:rPr lang="en-US" b="1" dirty="0">
                <a:latin typeface="Courier New" charset="0"/>
              </a:rPr>
              <a:t>*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this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(</a:t>
            </a:r>
            <a:r>
              <a:rPr lang="en-US" b="1" i="1" dirty="0"/>
              <a:t>reference to an object</a:t>
            </a:r>
            <a:r>
              <a:rPr lang="en-US" dirty="0"/>
              <a:t>)</a:t>
            </a:r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For </a:t>
            </a:r>
            <a:r>
              <a:rPr lang="en-US" b="1" dirty="0">
                <a:solidFill>
                  <a:srgbClr val="2C14DE"/>
                </a:solidFill>
              </a:rPr>
              <a:t>object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>
                <a:latin typeface="Courier New" charset="0"/>
              </a:rPr>
              <a:t>t</a:t>
            </a:r>
            <a:r>
              <a:rPr lang="en-US" dirty="0"/>
              <a:t>, consider:</a:t>
            </a:r>
          </a:p>
          <a:p>
            <a:pPr lvl="3">
              <a:buFontTx/>
              <a:buNone/>
              <a:defRPr/>
            </a:pPr>
            <a:r>
              <a:rPr lang="en-US" sz="2800" b="1" dirty="0" err="1">
                <a:latin typeface="Courier New" charset="0"/>
              </a:rPr>
              <a:t>t.setHour</a:t>
            </a:r>
            <a:r>
              <a:rPr lang="en-US" sz="2800" b="1" dirty="0">
                <a:latin typeface="Courier New" charset="0"/>
              </a:rPr>
              <a:t>(1).</a:t>
            </a:r>
            <a:r>
              <a:rPr lang="en-US" sz="2800" b="1" dirty="0" err="1">
                <a:latin typeface="Courier New" charset="0"/>
              </a:rPr>
              <a:t>setMinute</a:t>
            </a:r>
            <a:r>
              <a:rPr lang="en-US" sz="2800" b="1" dirty="0">
                <a:latin typeface="Courier New" charset="0"/>
              </a:rPr>
              <a:t>(2).</a:t>
            </a:r>
            <a:r>
              <a:rPr lang="en-US" sz="2800" b="1" dirty="0" err="1">
                <a:latin typeface="Courier New" charset="0"/>
              </a:rPr>
              <a:t>setSecond</a:t>
            </a:r>
            <a:r>
              <a:rPr lang="en-US" sz="2800" b="1" dirty="0">
                <a:latin typeface="Courier New" charset="0"/>
              </a:rPr>
              <a:t>(3);</a:t>
            </a:r>
          </a:p>
          <a:p>
            <a:pPr lvl="3">
              <a:buFontTx/>
              <a:buNone/>
              <a:defRPr/>
            </a:pPr>
            <a:endParaRPr lang="en-US" sz="2200" b="1" dirty="0">
              <a:latin typeface="Courier New" charset="0"/>
            </a:endParaRPr>
          </a:p>
          <a:p>
            <a:pPr lvl="1">
              <a:defRPr/>
            </a:pPr>
            <a:r>
              <a:rPr lang="en-US" dirty="0"/>
              <a:t>Executes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t.setHour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(1)</a:t>
            </a:r>
            <a:r>
              <a:rPr lang="en-US" dirty="0">
                <a:solidFill>
                  <a:srgbClr val="2C14DE"/>
                </a:solidFill>
              </a:rPr>
              <a:t>, </a:t>
            </a:r>
            <a:r>
              <a:rPr lang="en-US" dirty="0"/>
              <a:t>returns 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*this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(reference to object) and the </a:t>
            </a:r>
            <a:r>
              <a:rPr lang="en-US" b="1" dirty="0"/>
              <a:t>expression becomes</a:t>
            </a:r>
          </a:p>
          <a:p>
            <a:pPr lvl="3">
              <a:buFontTx/>
              <a:buNone/>
              <a:defRPr/>
            </a:pPr>
            <a:r>
              <a:rPr lang="en-US" sz="2800" b="1" dirty="0" err="1">
                <a:latin typeface="Courier New" charset="0"/>
              </a:rPr>
              <a:t>t.setMinute</a:t>
            </a:r>
            <a:r>
              <a:rPr lang="en-US" sz="2800" b="1" dirty="0">
                <a:latin typeface="Courier New" charset="0"/>
              </a:rPr>
              <a:t>(2).</a:t>
            </a:r>
            <a:r>
              <a:rPr lang="en-US" sz="2800" b="1" dirty="0" err="1">
                <a:latin typeface="Courier New" charset="0"/>
              </a:rPr>
              <a:t>setSecond</a:t>
            </a:r>
            <a:r>
              <a:rPr lang="en-US" sz="2800" b="1" dirty="0">
                <a:latin typeface="Courier New" charset="0"/>
              </a:rPr>
              <a:t>(3);</a:t>
            </a:r>
          </a:p>
          <a:p>
            <a:pPr lvl="3">
              <a:buFontTx/>
              <a:buNone/>
              <a:defRPr/>
            </a:pPr>
            <a:endParaRPr lang="en-US" sz="2200" b="1" dirty="0">
              <a:latin typeface="Courier New" charset="0"/>
            </a:endParaRPr>
          </a:p>
          <a:p>
            <a:pPr lvl="1">
              <a:defRPr/>
            </a:pPr>
            <a:r>
              <a:rPr lang="en-US" dirty="0"/>
              <a:t>Executes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t.setMinute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(2)</a:t>
            </a:r>
            <a:r>
              <a:rPr lang="en-US" dirty="0"/>
              <a:t>, </a:t>
            </a:r>
            <a:r>
              <a:rPr lang="en-US" b="1" dirty="0"/>
              <a:t>returns reference </a:t>
            </a:r>
            <a:r>
              <a:rPr lang="en-US" dirty="0"/>
              <a:t>and becomes</a:t>
            </a:r>
          </a:p>
          <a:p>
            <a:pPr lvl="3">
              <a:buFontTx/>
              <a:buNone/>
              <a:defRPr/>
            </a:pPr>
            <a:r>
              <a:rPr lang="en-US" sz="2800" b="1" dirty="0" err="1">
                <a:solidFill>
                  <a:srgbClr val="2C14DE"/>
                </a:solidFill>
                <a:latin typeface="Courier New" charset="0"/>
              </a:rPr>
              <a:t>t.setSecond</a:t>
            </a:r>
            <a:r>
              <a:rPr lang="en-US" sz="2800" b="1" dirty="0">
                <a:solidFill>
                  <a:srgbClr val="2C14DE"/>
                </a:solidFill>
                <a:latin typeface="Courier New" charset="0"/>
              </a:rPr>
              <a:t>(3);</a:t>
            </a:r>
          </a:p>
          <a:p>
            <a:pPr lvl="3">
              <a:buFontTx/>
              <a:buNone/>
              <a:defRPr/>
            </a:pPr>
            <a:endParaRPr lang="en-US" sz="2600" b="1" dirty="0">
              <a:solidFill>
                <a:srgbClr val="2C14DE"/>
              </a:solidFill>
              <a:latin typeface="Courier New" charset="0"/>
            </a:endParaRPr>
          </a:p>
          <a:p>
            <a:pPr lvl="1">
              <a:defRPr/>
            </a:pPr>
            <a:r>
              <a:rPr lang="en-US" dirty="0"/>
              <a:t>Executes </a:t>
            </a:r>
            <a:r>
              <a:rPr lang="en-US" b="1" dirty="0" err="1">
                <a:solidFill>
                  <a:srgbClr val="2C14DE"/>
                </a:solidFill>
                <a:latin typeface="Courier New" charset="0"/>
              </a:rPr>
              <a:t>t.setSecond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(3)</a:t>
            </a:r>
            <a:r>
              <a:rPr lang="en-US" dirty="0"/>
              <a:t>, returns reference and becomes</a:t>
            </a:r>
          </a:p>
          <a:p>
            <a:pPr lvl="3">
              <a:buFontTx/>
              <a:buNone/>
              <a:defRPr/>
            </a:pPr>
            <a:r>
              <a:rPr lang="en-US" sz="2800" b="1" dirty="0">
                <a:latin typeface="Courier New" charset="0"/>
              </a:rPr>
              <a:t>t; </a:t>
            </a:r>
            <a:r>
              <a:rPr lang="en-US" sz="2800" b="1" dirty="0">
                <a:latin typeface="+mj-lt"/>
              </a:rPr>
              <a:t>(</a:t>
            </a:r>
            <a:r>
              <a:rPr lang="en-US" sz="2800" b="1" u="sng" dirty="0">
                <a:latin typeface="+mj-lt"/>
              </a:rPr>
              <a:t>Has no effect)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60960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4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4"/>
          <p:cNvGrpSpPr>
            <a:grpSpLocks/>
          </p:cNvGrpSpPr>
          <p:nvPr/>
        </p:nvGrpSpPr>
        <p:grpSpPr bwMode="auto">
          <a:xfrm>
            <a:off x="0" y="0"/>
            <a:ext cx="6705600" cy="214313"/>
            <a:chOff x="0" y="0"/>
            <a:chExt cx="3072" cy="374"/>
          </a:xfrm>
        </p:grpSpPr>
        <p:sp>
          <p:nvSpPr>
            <p:cNvPr id="53353" name="Rectangle 5"/>
            <p:cNvSpPr>
              <a:spLocks noChangeArrowheads="1"/>
            </p:cNvSpPr>
            <p:nvPr/>
          </p:nvSpPr>
          <p:spPr bwMode="auto">
            <a:xfrm>
              <a:off x="0" y="2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54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	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Fig. 7.7: fig07_07.cpp  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1" name="Group 7"/>
          <p:cNvGrpSpPr>
            <a:grpSpLocks/>
          </p:cNvGrpSpPr>
          <p:nvPr/>
        </p:nvGrpSpPr>
        <p:grpSpPr bwMode="auto">
          <a:xfrm>
            <a:off x="0" y="214313"/>
            <a:ext cx="6705600" cy="214312"/>
            <a:chOff x="0" y="374"/>
            <a:chExt cx="3072" cy="374"/>
          </a:xfrm>
        </p:grpSpPr>
        <p:sp>
          <p:nvSpPr>
            <p:cNvPr id="53351" name="Rectangle 8"/>
            <p:cNvSpPr>
              <a:spLocks noChangeArrowheads="1"/>
            </p:cNvSpPr>
            <p:nvPr/>
          </p:nvSpPr>
          <p:spPr bwMode="auto">
            <a:xfrm>
              <a:off x="0" y="39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52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Using the this pointer to refer to object members.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2" name="Group 10"/>
          <p:cNvGrpSpPr>
            <a:grpSpLocks/>
          </p:cNvGrpSpPr>
          <p:nvPr/>
        </p:nvGrpSpPr>
        <p:grpSpPr bwMode="auto">
          <a:xfrm>
            <a:off x="0" y="428625"/>
            <a:ext cx="6705600" cy="214313"/>
            <a:chOff x="0" y="748"/>
            <a:chExt cx="3072" cy="374"/>
          </a:xfrm>
        </p:grpSpPr>
        <p:sp>
          <p:nvSpPr>
            <p:cNvPr id="53349" name="Rectangle 11"/>
            <p:cNvSpPr>
              <a:spLocks noChangeArrowheads="1"/>
            </p:cNvSpPr>
            <p:nvPr/>
          </p:nvSpPr>
          <p:spPr bwMode="auto">
            <a:xfrm>
              <a:off x="0" y="77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50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3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 dirty="0">
                  <a:latin typeface="Courier New" panose="02070309020205020404" pitchFamily="49" charset="0"/>
                </a:rPr>
                <a:t> &lt;</a:t>
              </a:r>
              <a:r>
                <a:rPr lang="en-US" sz="1200" b="1" dirty="0" err="1">
                  <a:latin typeface="Courier New" panose="02070309020205020404" pitchFamily="49" charset="0"/>
                </a:rPr>
                <a:t>iostream</a:t>
              </a:r>
              <a:r>
                <a:rPr lang="en-US" sz="1200" b="1" dirty="0">
                  <a:latin typeface="Courier New" panose="02070309020205020404" pitchFamily="49" charset="0"/>
                </a:rPr>
                <a:t>&gt;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3" name="Group 13"/>
          <p:cNvGrpSpPr>
            <a:grpSpLocks/>
          </p:cNvGrpSpPr>
          <p:nvPr/>
        </p:nvGrpSpPr>
        <p:grpSpPr bwMode="auto">
          <a:xfrm>
            <a:off x="0" y="642938"/>
            <a:ext cx="6705600" cy="214312"/>
            <a:chOff x="0" y="1122"/>
            <a:chExt cx="3072" cy="374"/>
          </a:xfrm>
        </p:grpSpPr>
        <p:sp>
          <p:nvSpPr>
            <p:cNvPr id="53347" name="Rectangle 14"/>
            <p:cNvSpPr>
              <a:spLocks noChangeArrowheads="1"/>
            </p:cNvSpPr>
            <p:nvPr/>
          </p:nvSpPr>
          <p:spPr bwMode="auto">
            <a:xfrm>
              <a:off x="0" y="114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48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4" name="Group 16"/>
          <p:cNvGrpSpPr>
            <a:grpSpLocks/>
          </p:cNvGrpSpPr>
          <p:nvPr/>
        </p:nvGrpSpPr>
        <p:grpSpPr bwMode="auto">
          <a:xfrm>
            <a:off x="0" y="857250"/>
            <a:ext cx="6705600" cy="214313"/>
            <a:chOff x="0" y="1496"/>
            <a:chExt cx="3072" cy="374"/>
          </a:xfrm>
        </p:grpSpPr>
        <p:sp>
          <p:nvSpPr>
            <p:cNvPr id="53345" name="Rectangle 17"/>
            <p:cNvSpPr>
              <a:spLocks noChangeArrowheads="1"/>
            </p:cNvSpPr>
            <p:nvPr/>
          </p:nvSpPr>
          <p:spPr bwMode="auto">
            <a:xfrm>
              <a:off x="0" y="152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46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std::cout;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5" name="Group 19"/>
          <p:cNvGrpSpPr>
            <a:grpSpLocks/>
          </p:cNvGrpSpPr>
          <p:nvPr/>
        </p:nvGrpSpPr>
        <p:grpSpPr bwMode="auto">
          <a:xfrm>
            <a:off x="0" y="1071563"/>
            <a:ext cx="6705600" cy="214312"/>
            <a:chOff x="0" y="1870"/>
            <a:chExt cx="3072" cy="374"/>
          </a:xfrm>
        </p:grpSpPr>
        <p:sp>
          <p:nvSpPr>
            <p:cNvPr id="53343" name="Rectangle 20"/>
            <p:cNvSpPr>
              <a:spLocks noChangeArrowheads="1"/>
            </p:cNvSpPr>
            <p:nvPr/>
          </p:nvSpPr>
          <p:spPr bwMode="auto">
            <a:xfrm>
              <a:off x="0" y="189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44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6" name="Group 22"/>
          <p:cNvGrpSpPr>
            <a:grpSpLocks/>
          </p:cNvGrpSpPr>
          <p:nvPr/>
        </p:nvGrpSpPr>
        <p:grpSpPr bwMode="auto">
          <a:xfrm>
            <a:off x="0" y="1285875"/>
            <a:ext cx="6705600" cy="214313"/>
            <a:chOff x="0" y="2244"/>
            <a:chExt cx="3072" cy="374"/>
          </a:xfrm>
        </p:grpSpPr>
        <p:sp>
          <p:nvSpPr>
            <p:cNvPr id="53341" name="Rectangle 23"/>
            <p:cNvSpPr>
              <a:spLocks noChangeArrowheads="1"/>
            </p:cNvSpPr>
            <p:nvPr/>
          </p:nvSpPr>
          <p:spPr bwMode="auto">
            <a:xfrm>
              <a:off x="0" y="226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42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7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7" name="Group 25"/>
          <p:cNvGrpSpPr>
            <a:grpSpLocks/>
          </p:cNvGrpSpPr>
          <p:nvPr/>
        </p:nvGrpSpPr>
        <p:grpSpPr bwMode="auto">
          <a:xfrm>
            <a:off x="0" y="1500188"/>
            <a:ext cx="6705600" cy="214312"/>
            <a:chOff x="0" y="2618"/>
            <a:chExt cx="3072" cy="374"/>
          </a:xfrm>
        </p:grpSpPr>
        <p:sp>
          <p:nvSpPr>
            <p:cNvPr id="53339" name="Rectangle 26"/>
            <p:cNvSpPr>
              <a:spLocks noChangeArrowheads="1"/>
            </p:cNvSpPr>
            <p:nvPr/>
          </p:nvSpPr>
          <p:spPr bwMode="auto">
            <a:xfrm>
              <a:off x="0" y="264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40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8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class</a:t>
              </a:r>
              <a:r>
                <a:rPr lang="en-US" sz="1200" b="1" dirty="0">
                  <a:latin typeface="Courier New" panose="02070309020205020404" pitchFamily="49" charset="0"/>
                </a:rPr>
                <a:t> Test {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8" name="Group 28"/>
          <p:cNvGrpSpPr>
            <a:grpSpLocks/>
          </p:cNvGrpSpPr>
          <p:nvPr/>
        </p:nvGrpSpPr>
        <p:grpSpPr bwMode="auto">
          <a:xfrm>
            <a:off x="0" y="1714500"/>
            <a:ext cx="6705600" cy="214313"/>
            <a:chOff x="0" y="2992"/>
            <a:chExt cx="3072" cy="374"/>
          </a:xfrm>
        </p:grpSpPr>
        <p:sp>
          <p:nvSpPr>
            <p:cNvPr id="53337" name="Rectangle 29"/>
            <p:cNvSpPr>
              <a:spLocks noChangeArrowheads="1"/>
            </p:cNvSpPr>
            <p:nvPr/>
          </p:nvSpPr>
          <p:spPr bwMode="auto">
            <a:xfrm>
              <a:off x="0" y="301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38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public: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59" name="Group 31"/>
          <p:cNvGrpSpPr>
            <a:grpSpLocks/>
          </p:cNvGrpSpPr>
          <p:nvPr/>
        </p:nvGrpSpPr>
        <p:grpSpPr bwMode="auto">
          <a:xfrm>
            <a:off x="0" y="1928813"/>
            <a:ext cx="6705600" cy="214312"/>
            <a:chOff x="0" y="3366"/>
            <a:chExt cx="3072" cy="374"/>
          </a:xfrm>
        </p:grpSpPr>
        <p:sp>
          <p:nvSpPr>
            <p:cNvPr id="53335" name="Rectangle 32"/>
            <p:cNvSpPr>
              <a:spLocks noChangeArrowheads="1"/>
            </p:cNvSpPr>
            <p:nvPr/>
          </p:nvSpPr>
          <p:spPr bwMode="auto">
            <a:xfrm>
              <a:off x="0" y="339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36" name="Rectangle 3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10	</a:t>
              </a:r>
              <a:r>
                <a:rPr lang="en-US" sz="1200" b="1" dirty="0">
                  <a:latin typeface="Courier New" panose="02070309020205020404" pitchFamily="49" charset="0"/>
                </a:rPr>
                <a:t>   Test(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= 0 );       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 // default constructor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0" name="Group 34"/>
          <p:cNvGrpSpPr>
            <a:grpSpLocks/>
          </p:cNvGrpSpPr>
          <p:nvPr/>
        </p:nvGrpSpPr>
        <p:grpSpPr bwMode="auto">
          <a:xfrm>
            <a:off x="0" y="2143125"/>
            <a:ext cx="6705600" cy="214313"/>
            <a:chOff x="0" y="3740"/>
            <a:chExt cx="3072" cy="374"/>
          </a:xfrm>
        </p:grpSpPr>
        <p:sp>
          <p:nvSpPr>
            <p:cNvPr id="53333" name="Rectangle 35"/>
            <p:cNvSpPr>
              <a:spLocks noChangeArrowheads="1"/>
            </p:cNvSpPr>
            <p:nvPr/>
          </p:nvSpPr>
          <p:spPr bwMode="auto">
            <a:xfrm>
              <a:off x="0" y="376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34" name="Rectangle 36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11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print()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 dirty="0">
                  <a:latin typeface="Courier New" panose="02070309020205020404" pitchFamily="49" charset="0"/>
                </a:rPr>
                <a:t>;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1" name="Group 37"/>
          <p:cNvGrpSpPr>
            <a:grpSpLocks/>
          </p:cNvGrpSpPr>
          <p:nvPr/>
        </p:nvGrpSpPr>
        <p:grpSpPr bwMode="auto">
          <a:xfrm>
            <a:off x="0" y="2357438"/>
            <a:ext cx="6705600" cy="214312"/>
            <a:chOff x="0" y="4114"/>
            <a:chExt cx="3072" cy="374"/>
          </a:xfrm>
        </p:grpSpPr>
        <p:sp>
          <p:nvSpPr>
            <p:cNvPr id="53331" name="Rectangle 38"/>
            <p:cNvSpPr>
              <a:spLocks noChangeArrowheads="1"/>
            </p:cNvSpPr>
            <p:nvPr/>
          </p:nvSpPr>
          <p:spPr bwMode="auto">
            <a:xfrm>
              <a:off x="0" y="413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32" name="Rectangle 39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12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private: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2" name="Group 40"/>
          <p:cNvGrpSpPr>
            <a:grpSpLocks/>
          </p:cNvGrpSpPr>
          <p:nvPr/>
        </p:nvGrpSpPr>
        <p:grpSpPr bwMode="auto">
          <a:xfrm>
            <a:off x="0" y="2571750"/>
            <a:ext cx="6705600" cy="214313"/>
            <a:chOff x="0" y="4488"/>
            <a:chExt cx="3072" cy="374"/>
          </a:xfrm>
        </p:grpSpPr>
        <p:sp>
          <p:nvSpPr>
            <p:cNvPr id="53329" name="Rectangle 41"/>
            <p:cNvSpPr>
              <a:spLocks noChangeArrowheads="1"/>
            </p:cNvSpPr>
            <p:nvPr/>
          </p:nvSpPr>
          <p:spPr bwMode="auto">
            <a:xfrm>
              <a:off x="0" y="451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30" name="Rectangle 42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13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x;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3" name="Group 43"/>
          <p:cNvGrpSpPr>
            <a:grpSpLocks/>
          </p:cNvGrpSpPr>
          <p:nvPr/>
        </p:nvGrpSpPr>
        <p:grpSpPr bwMode="auto">
          <a:xfrm>
            <a:off x="0" y="2786063"/>
            <a:ext cx="6705600" cy="214312"/>
            <a:chOff x="0" y="4862"/>
            <a:chExt cx="3072" cy="374"/>
          </a:xfrm>
        </p:grpSpPr>
        <p:sp>
          <p:nvSpPr>
            <p:cNvPr id="53327" name="Rectangle 44"/>
            <p:cNvSpPr>
              <a:spLocks noChangeArrowheads="1"/>
            </p:cNvSpPr>
            <p:nvPr/>
          </p:nvSpPr>
          <p:spPr bwMode="auto">
            <a:xfrm>
              <a:off x="0" y="488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28" name="Rectangle 45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14	</a:t>
              </a:r>
              <a:r>
                <a:rPr lang="en-US" sz="1200" b="1">
                  <a:latin typeface="Courier New" panose="02070309020205020404" pitchFamily="49" charset="0"/>
                </a:rPr>
                <a:t>};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4" name="Group 46"/>
          <p:cNvGrpSpPr>
            <a:grpSpLocks/>
          </p:cNvGrpSpPr>
          <p:nvPr/>
        </p:nvGrpSpPr>
        <p:grpSpPr bwMode="auto">
          <a:xfrm>
            <a:off x="0" y="3000375"/>
            <a:ext cx="6705600" cy="214313"/>
            <a:chOff x="0" y="5236"/>
            <a:chExt cx="3072" cy="374"/>
          </a:xfrm>
        </p:grpSpPr>
        <p:sp>
          <p:nvSpPr>
            <p:cNvPr id="53325" name="Rectangle 47"/>
            <p:cNvSpPr>
              <a:spLocks noChangeArrowheads="1"/>
            </p:cNvSpPr>
            <p:nvPr/>
          </p:nvSpPr>
          <p:spPr bwMode="auto">
            <a:xfrm>
              <a:off x="0" y="526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26" name="Rectangle 4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15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5" name="Group 49"/>
          <p:cNvGrpSpPr>
            <a:grpSpLocks/>
          </p:cNvGrpSpPr>
          <p:nvPr/>
        </p:nvGrpSpPr>
        <p:grpSpPr bwMode="auto">
          <a:xfrm>
            <a:off x="0" y="3214688"/>
            <a:ext cx="6705600" cy="214312"/>
            <a:chOff x="0" y="5610"/>
            <a:chExt cx="3072" cy="374"/>
          </a:xfrm>
        </p:grpSpPr>
        <p:sp>
          <p:nvSpPr>
            <p:cNvPr id="53323" name="Rectangle 50"/>
            <p:cNvSpPr>
              <a:spLocks noChangeArrowheads="1"/>
            </p:cNvSpPr>
            <p:nvPr/>
          </p:nvSpPr>
          <p:spPr bwMode="auto">
            <a:xfrm>
              <a:off x="0" y="563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24" name="Rectangle 51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16	</a:t>
              </a:r>
              <a:r>
                <a:rPr lang="en-US" sz="1200" b="1" dirty="0">
                  <a:latin typeface="Courier New" panose="02070309020205020404" pitchFamily="49" charset="0"/>
                </a:rPr>
                <a:t>Test::Test(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a ) { x = a; }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constructor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6" name="Group 52"/>
          <p:cNvGrpSpPr>
            <a:grpSpLocks/>
          </p:cNvGrpSpPr>
          <p:nvPr/>
        </p:nvGrpSpPr>
        <p:grpSpPr bwMode="auto">
          <a:xfrm>
            <a:off x="0" y="3429000"/>
            <a:ext cx="6705600" cy="214313"/>
            <a:chOff x="0" y="5984"/>
            <a:chExt cx="3072" cy="374"/>
          </a:xfrm>
        </p:grpSpPr>
        <p:sp>
          <p:nvSpPr>
            <p:cNvPr id="53321" name="Rectangle 53"/>
            <p:cNvSpPr>
              <a:spLocks noChangeArrowheads="1"/>
            </p:cNvSpPr>
            <p:nvPr/>
          </p:nvSpPr>
          <p:spPr bwMode="auto">
            <a:xfrm>
              <a:off x="0" y="600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22" name="Rectangle 54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17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7" name="Group 55"/>
          <p:cNvGrpSpPr>
            <a:grpSpLocks/>
          </p:cNvGrpSpPr>
          <p:nvPr/>
        </p:nvGrpSpPr>
        <p:grpSpPr bwMode="auto">
          <a:xfrm>
            <a:off x="0" y="3643313"/>
            <a:ext cx="6705600" cy="214312"/>
            <a:chOff x="0" y="6358"/>
            <a:chExt cx="3072" cy="374"/>
          </a:xfrm>
        </p:grpSpPr>
        <p:sp>
          <p:nvSpPr>
            <p:cNvPr id="53319" name="Rectangle 56"/>
            <p:cNvSpPr>
              <a:spLocks noChangeArrowheads="1"/>
            </p:cNvSpPr>
            <p:nvPr/>
          </p:nvSpPr>
          <p:spPr bwMode="auto">
            <a:xfrm>
              <a:off x="0" y="638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20" name="Rectangle 57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18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 dirty="0">
                  <a:latin typeface="Courier New" panose="02070309020205020404" pitchFamily="49" charset="0"/>
                </a:rPr>
                <a:t> Test::print()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( ) around *this required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8" name="Group 58"/>
          <p:cNvGrpSpPr>
            <a:grpSpLocks/>
          </p:cNvGrpSpPr>
          <p:nvPr/>
        </p:nvGrpSpPr>
        <p:grpSpPr bwMode="auto">
          <a:xfrm>
            <a:off x="0" y="3857625"/>
            <a:ext cx="6705600" cy="214313"/>
            <a:chOff x="0" y="6732"/>
            <a:chExt cx="3072" cy="374"/>
          </a:xfrm>
        </p:grpSpPr>
        <p:sp>
          <p:nvSpPr>
            <p:cNvPr id="53317" name="Rectangle 59"/>
            <p:cNvSpPr>
              <a:spLocks noChangeArrowheads="1"/>
            </p:cNvSpPr>
            <p:nvPr/>
          </p:nvSpPr>
          <p:spPr bwMode="auto">
            <a:xfrm>
              <a:off x="0" y="675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18" name="Rectangle 60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19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69" name="Group 61"/>
          <p:cNvGrpSpPr>
            <a:grpSpLocks/>
          </p:cNvGrpSpPr>
          <p:nvPr/>
        </p:nvGrpSpPr>
        <p:grpSpPr bwMode="auto">
          <a:xfrm>
            <a:off x="0" y="4071938"/>
            <a:ext cx="6705600" cy="214312"/>
            <a:chOff x="0" y="7106"/>
            <a:chExt cx="3072" cy="374"/>
          </a:xfrm>
        </p:grpSpPr>
        <p:sp>
          <p:nvSpPr>
            <p:cNvPr id="53315" name="Rectangle 62"/>
            <p:cNvSpPr>
              <a:spLocks noChangeArrowheads="1"/>
            </p:cNvSpPr>
            <p:nvPr/>
          </p:nvSpPr>
          <p:spPr bwMode="auto">
            <a:xfrm>
              <a:off x="0" y="713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16" name="Rectangle 6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20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 err="1">
                  <a:latin typeface="Courier New" panose="02070309020205020404" pitchFamily="49" charset="0"/>
                </a:rPr>
                <a:t>cout</a:t>
              </a:r>
              <a:r>
                <a:rPr lang="en-US" sz="1200" b="1" dirty="0">
                  <a:latin typeface="Courier New" panose="02070309020205020404" pitchFamily="49" charset="0"/>
                </a:rPr>
                <a:t> &lt;&lt; "        x = " &lt;&lt; x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0" name="Group 64"/>
          <p:cNvGrpSpPr>
            <a:grpSpLocks/>
          </p:cNvGrpSpPr>
          <p:nvPr/>
        </p:nvGrpSpPr>
        <p:grpSpPr bwMode="auto">
          <a:xfrm>
            <a:off x="0" y="4286250"/>
            <a:ext cx="6705600" cy="214313"/>
            <a:chOff x="0" y="7480"/>
            <a:chExt cx="3072" cy="374"/>
          </a:xfrm>
        </p:grpSpPr>
        <p:sp>
          <p:nvSpPr>
            <p:cNvPr id="53313" name="Rectangle 65"/>
            <p:cNvSpPr>
              <a:spLocks noChangeArrowheads="1"/>
            </p:cNvSpPr>
            <p:nvPr/>
          </p:nvSpPr>
          <p:spPr bwMode="auto">
            <a:xfrm>
              <a:off x="0" y="750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14" name="Rectangle 66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21	</a:t>
              </a:r>
              <a:r>
                <a:rPr lang="en-US" sz="1200" b="1">
                  <a:latin typeface="Courier New" panose="02070309020205020404" pitchFamily="49" charset="0"/>
                </a:rPr>
                <a:t>        &lt;&lt; "\n  this-&gt;x = " &lt;&lt; this-&gt;x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1" name="Group 67"/>
          <p:cNvGrpSpPr>
            <a:grpSpLocks/>
          </p:cNvGrpSpPr>
          <p:nvPr/>
        </p:nvGrpSpPr>
        <p:grpSpPr bwMode="auto">
          <a:xfrm>
            <a:off x="0" y="4500563"/>
            <a:ext cx="6705600" cy="214312"/>
            <a:chOff x="0" y="7854"/>
            <a:chExt cx="3072" cy="374"/>
          </a:xfrm>
        </p:grpSpPr>
        <p:sp>
          <p:nvSpPr>
            <p:cNvPr id="53311" name="Rectangle 68"/>
            <p:cNvSpPr>
              <a:spLocks noChangeArrowheads="1"/>
            </p:cNvSpPr>
            <p:nvPr/>
          </p:nvSpPr>
          <p:spPr bwMode="auto">
            <a:xfrm>
              <a:off x="0" y="787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12" name="Rectangle 69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22	</a:t>
              </a:r>
              <a:r>
                <a:rPr lang="en-US" sz="1200" b="1" dirty="0">
                  <a:latin typeface="Courier New" panose="02070309020205020404" pitchFamily="49" charset="0"/>
                </a:rPr>
                <a:t>        &lt;&lt; "\n(*this).x = " &lt;&lt; ( *this ).x &lt;&lt; </a:t>
              </a:r>
              <a:r>
                <a:rPr lang="en-US" sz="1200" b="1" dirty="0" err="1">
                  <a:latin typeface="Courier New" panose="02070309020205020404" pitchFamily="49" charset="0"/>
                </a:rPr>
                <a:t>endl</a:t>
              </a:r>
              <a:r>
                <a:rPr lang="en-US" sz="1200" b="1" dirty="0">
                  <a:latin typeface="Courier New" panose="02070309020205020404" pitchFamily="49" charset="0"/>
                </a:rPr>
                <a:t>;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2" name="Group 70"/>
          <p:cNvGrpSpPr>
            <a:grpSpLocks/>
          </p:cNvGrpSpPr>
          <p:nvPr/>
        </p:nvGrpSpPr>
        <p:grpSpPr bwMode="auto">
          <a:xfrm>
            <a:off x="0" y="4714875"/>
            <a:ext cx="6705600" cy="214313"/>
            <a:chOff x="0" y="8228"/>
            <a:chExt cx="3072" cy="374"/>
          </a:xfrm>
        </p:grpSpPr>
        <p:sp>
          <p:nvSpPr>
            <p:cNvPr id="53309" name="Rectangle 71"/>
            <p:cNvSpPr>
              <a:spLocks noChangeArrowheads="1"/>
            </p:cNvSpPr>
            <p:nvPr/>
          </p:nvSpPr>
          <p:spPr bwMode="auto">
            <a:xfrm>
              <a:off x="0" y="825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10" name="Rectangle 72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23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3" name="Group 73"/>
          <p:cNvGrpSpPr>
            <a:grpSpLocks/>
          </p:cNvGrpSpPr>
          <p:nvPr/>
        </p:nvGrpSpPr>
        <p:grpSpPr bwMode="auto">
          <a:xfrm>
            <a:off x="0" y="4929188"/>
            <a:ext cx="6705600" cy="214312"/>
            <a:chOff x="0" y="8602"/>
            <a:chExt cx="3072" cy="374"/>
          </a:xfrm>
        </p:grpSpPr>
        <p:sp>
          <p:nvSpPr>
            <p:cNvPr id="53307" name="Rectangle 74"/>
            <p:cNvSpPr>
              <a:spLocks noChangeArrowheads="1"/>
            </p:cNvSpPr>
            <p:nvPr/>
          </p:nvSpPr>
          <p:spPr bwMode="auto">
            <a:xfrm>
              <a:off x="0" y="862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08" name="Rectangle 75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4" name="Group 76"/>
          <p:cNvGrpSpPr>
            <a:grpSpLocks/>
          </p:cNvGrpSpPr>
          <p:nvPr/>
        </p:nvGrpSpPr>
        <p:grpSpPr bwMode="auto">
          <a:xfrm>
            <a:off x="0" y="5143500"/>
            <a:ext cx="6705600" cy="214313"/>
            <a:chOff x="0" y="8976"/>
            <a:chExt cx="3072" cy="374"/>
          </a:xfrm>
        </p:grpSpPr>
        <p:sp>
          <p:nvSpPr>
            <p:cNvPr id="53305" name="Rectangle 77"/>
            <p:cNvSpPr>
              <a:spLocks noChangeArrowheads="1"/>
            </p:cNvSpPr>
            <p:nvPr/>
          </p:nvSpPr>
          <p:spPr bwMode="auto">
            <a:xfrm>
              <a:off x="0" y="900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06" name="Rectangle 7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25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main()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5" name="Group 79"/>
          <p:cNvGrpSpPr>
            <a:grpSpLocks/>
          </p:cNvGrpSpPr>
          <p:nvPr/>
        </p:nvGrpSpPr>
        <p:grpSpPr bwMode="auto">
          <a:xfrm>
            <a:off x="0" y="5357813"/>
            <a:ext cx="6705600" cy="214312"/>
            <a:chOff x="0" y="9350"/>
            <a:chExt cx="3072" cy="374"/>
          </a:xfrm>
        </p:grpSpPr>
        <p:sp>
          <p:nvSpPr>
            <p:cNvPr id="53303" name="Rectangle 80"/>
            <p:cNvSpPr>
              <a:spLocks noChangeArrowheads="1"/>
            </p:cNvSpPr>
            <p:nvPr/>
          </p:nvSpPr>
          <p:spPr bwMode="auto">
            <a:xfrm>
              <a:off x="0" y="937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04" name="Rectangle 81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26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6" name="Group 82"/>
          <p:cNvGrpSpPr>
            <a:grpSpLocks/>
          </p:cNvGrpSpPr>
          <p:nvPr/>
        </p:nvGrpSpPr>
        <p:grpSpPr bwMode="auto">
          <a:xfrm>
            <a:off x="0" y="5572125"/>
            <a:ext cx="6705600" cy="214313"/>
            <a:chOff x="0" y="9724"/>
            <a:chExt cx="3072" cy="374"/>
          </a:xfrm>
        </p:grpSpPr>
        <p:sp>
          <p:nvSpPr>
            <p:cNvPr id="53301" name="Rectangle 83"/>
            <p:cNvSpPr>
              <a:spLocks noChangeArrowheads="1"/>
            </p:cNvSpPr>
            <p:nvPr/>
          </p:nvSpPr>
          <p:spPr bwMode="auto">
            <a:xfrm>
              <a:off x="0" y="974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02" name="Rectangle 84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27	</a:t>
              </a:r>
              <a:r>
                <a:rPr lang="en-US" sz="1200" b="1">
                  <a:latin typeface="Courier New" panose="02070309020205020404" pitchFamily="49" charset="0"/>
                </a:rPr>
                <a:t>   Test testObject( 12 );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7" name="Group 85"/>
          <p:cNvGrpSpPr>
            <a:grpSpLocks/>
          </p:cNvGrpSpPr>
          <p:nvPr/>
        </p:nvGrpSpPr>
        <p:grpSpPr bwMode="auto">
          <a:xfrm>
            <a:off x="0" y="5786438"/>
            <a:ext cx="6705600" cy="214312"/>
            <a:chOff x="0" y="10098"/>
            <a:chExt cx="3072" cy="374"/>
          </a:xfrm>
        </p:grpSpPr>
        <p:sp>
          <p:nvSpPr>
            <p:cNvPr id="53299" name="Rectangle 86"/>
            <p:cNvSpPr>
              <a:spLocks noChangeArrowheads="1"/>
            </p:cNvSpPr>
            <p:nvPr/>
          </p:nvSpPr>
          <p:spPr bwMode="auto">
            <a:xfrm>
              <a:off x="0" y="10123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300" name="Rectangle 87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8" name="Group 88"/>
          <p:cNvGrpSpPr>
            <a:grpSpLocks/>
          </p:cNvGrpSpPr>
          <p:nvPr/>
        </p:nvGrpSpPr>
        <p:grpSpPr bwMode="auto">
          <a:xfrm>
            <a:off x="0" y="6000750"/>
            <a:ext cx="6705600" cy="214313"/>
            <a:chOff x="0" y="10472"/>
            <a:chExt cx="3072" cy="374"/>
          </a:xfrm>
        </p:grpSpPr>
        <p:sp>
          <p:nvSpPr>
            <p:cNvPr id="53297" name="Rectangle 89"/>
            <p:cNvSpPr>
              <a:spLocks noChangeArrowheads="1"/>
            </p:cNvSpPr>
            <p:nvPr/>
          </p:nvSpPr>
          <p:spPr bwMode="auto">
            <a:xfrm>
              <a:off x="0" y="10497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298" name="Rectangle 90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29	</a:t>
              </a:r>
              <a:r>
                <a:rPr lang="en-US" sz="1200" b="1">
                  <a:latin typeface="Courier New" panose="02070309020205020404" pitchFamily="49" charset="0"/>
                </a:rPr>
                <a:t>   testObject.print();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79" name="Group 91"/>
          <p:cNvGrpSpPr>
            <a:grpSpLocks/>
          </p:cNvGrpSpPr>
          <p:nvPr/>
        </p:nvGrpSpPr>
        <p:grpSpPr bwMode="auto">
          <a:xfrm>
            <a:off x="0" y="6215063"/>
            <a:ext cx="6705600" cy="214312"/>
            <a:chOff x="0" y="10846"/>
            <a:chExt cx="3072" cy="374"/>
          </a:xfrm>
        </p:grpSpPr>
        <p:sp>
          <p:nvSpPr>
            <p:cNvPr id="53295" name="Rectangle 92"/>
            <p:cNvSpPr>
              <a:spLocks noChangeArrowheads="1"/>
            </p:cNvSpPr>
            <p:nvPr/>
          </p:nvSpPr>
          <p:spPr bwMode="auto">
            <a:xfrm>
              <a:off x="0" y="10871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296" name="Rectangle 9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30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80" name="Group 94"/>
          <p:cNvGrpSpPr>
            <a:grpSpLocks/>
          </p:cNvGrpSpPr>
          <p:nvPr/>
        </p:nvGrpSpPr>
        <p:grpSpPr bwMode="auto">
          <a:xfrm>
            <a:off x="0" y="6429375"/>
            <a:ext cx="6705600" cy="214313"/>
            <a:chOff x="0" y="11220"/>
            <a:chExt cx="3072" cy="374"/>
          </a:xfrm>
        </p:grpSpPr>
        <p:sp>
          <p:nvSpPr>
            <p:cNvPr id="53293" name="Rectangle 95"/>
            <p:cNvSpPr>
              <a:spLocks noChangeArrowheads="1"/>
            </p:cNvSpPr>
            <p:nvPr/>
          </p:nvSpPr>
          <p:spPr bwMode="auto">
            <a:xfrm>
              <a:off x="0" y="11245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294" name="Rectangle 96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31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200" b="1">
                  <a:latin typeface="Courier New" panose="02070309020205020404" pitchFamily="49" charset="0"/>
                </a:rPr>
                <a:t>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281" name="Group 97"/>
          <p:cNvGrpSpPr>
            <a:grpSpLocks/>
          </p:cNvGrpSpPr>
          <p:nvPr/>
        </p:nvGrpSpPr>
        <p:grpSpPr bwMode="auto">
          <a:xfrm>
            <a:off x="0" y="6643688"/>
            <a:ext cx="6705600" cy="214312"/>
            <a:chOff x="0" y="11594"/>
            <a:chExt cx="3072" cy="374"/>
          </a:xfrm>
        </p:grpSpPr>
        <p:sp>
          <p:nvSpPr>
            <p:cNvPr id="53291" name="Rectangle 98"/>
            <p:cNvSpPr>
              <a:spLocks noChangeArrowheads="1"/>
            </p:cNvSpPr>
            <p:nvPr/>
          </p:nvSpPr>
          <p:spPr bwMode="auto">
            <a:xfrm>
              <a:off x="0" y="11619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3292" name="Rectangle 99"/>
            <p:cNvSpPr>
              <a:spLocks noChangeArrowheads="1"/>
            </p:cNvSpPr>
            <p:nvPr/>
          </p:nvSpPr>
          <p:spPr bwMode="auto">
            <a:xfrm>
              <a:off x="0" y="1159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32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3357" name="Group 113"/>
          <p:cNvGrpSpPr>
            <a:grpSpLocks/>
          </p:cNvGrpSpPr>
          <p:nvPr/>
        </p:nvGrpSpPr>
        <p:grpSpPr bwMode="auto">
          <a:xfrm>
            <a:off x="2590800" y="2438400"/>
            <a:ext cx="2971800" cy="1676400"/>
            <a:chOff x="1632" y="1536"/>
            <a:chExt cx="1872" cy="1056"/>
          </a:xfrm>
        </p:grpSpPr>
        <p:sp>
          <p:nvSpPr>
            <p:cNvPr id="53289" name="Text Box 102"/>
            <p:cNvSpPr txBox="1">
              <a:spLocks noChangeArrowheads="1"/>
            </p:cNvSpPr>
            <p:nvPr/>
          </p:nvSpPr>
          <p:spPr bwMode="auto">
            <a:xfrm>
              <a:off x="2256" y="1536"/>
              <a:ext cx="1248" cy="155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/>
                <a:t>Printing </a:t>
              </a:r>
              <a:r>
                <a:rPr lang="en-US" sz="1600" b="1"/>
                <a:t>x</a:t>
              </a:r>
              <a:r>
                <a:rPr lang="en-US" sz="1600"/>
                <a:t> directly.</a:t>
              </a:r>
            </a:p>
          </p:txBody>
        </p:sp>
        <p:sp>
          <p:nvSpPr>
            <p:cNvPr id="53290" name="Line 103"/>
            <p:cNvSpPr>
              <a:spLocks noChangeShapeType="1"/>
            </p:cNvSpPr>
            <p:nvPr/>
          </p:nvSpPr>
          <p:spPr bwMode="auto">
            <a:xfrm flipH="1">
              <a:off x="1632" y="1680"/>
              <a:ext cx="62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3358" name="Group 111"/>
          <p:cNvGrpSpPr>
            <a:grpSpLocks/>
          </p:cNvGrpSpPr>
          <p:nvPr/>
        </p:nvGrpSpPr>
        <p:grpSpPr bwMode="auto">
          <a:xfrm>
            <a:off x="3505200" y="3632203"/>
            <a:ext cx="5257800" cy="668338"/>
            <a:chOff x="1344" y="2672"/>
            <a:chExt cx="3312" cy="421"/>
          </a:xfrm>
        </p:grpSpPr>
        <p:sp>
          <p:nvSpPr>
            <p:cNvPr id="53287" name="Line 105"/>
            <p:cNvSpPr>
              <a:spLocks noChangeShapeType="1"/>
            </p:cNvSpPr>
            <p:nvPr/>
          </p:nvSpPr>
          <p:spPr bwMode="auto">
            <a:xfrm flipH="1">
              <a:off x="1344" y="2812"/>
              <a:ext cx="1296" cy="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3288" name="Text Box 104"/>
            <p:cNvSpPr txBox="1">
              <a:spLocks noChangeArrowheads="1"/>
            </p:cNvSpPr>
            <p:nvPr/>
          </p:nvSpPr>
          <p:spPr bwMode="auto">
            <a:xfrm>
              <a:off x="2640" y="2672"/>
              <a:ext cx="2016" cy="31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Print </a:t>
              </a:r>
              <a:r>
                <a:rPr lang="en-US" sz="1600" b="1" dirty="0">
                  <a:latin typeface="Courier New" panose="02070309020205020404" pitchFamily="49" charset="0"/>
                </a:rPr>
                <a:t>x</a:t>
              </a:r>
              <a:r>
                <a:rPr lang="en-US" sz="1600" b="1" dirty="0"/>
                <a:t> </a:t>
              </a:r>
              <a:r>
                <a:rPr lang="en-US" sz="1600" dirty="0"/>
                <a:t>using the arrow </a:t>
              </a:r>
              <a:r>
                <a:rPr lang="en-US" sz="1600" b="1" dirty="0">
                  <a:latin typeface="Courier" charset="0"/>
                </a:rPr>
                <a:t>-&gt;</a:t>
              </a:r>
              <a:r>
                <a:rPr lang="en-US" sz="1600" dirty="0"/>
                <a:t> operator off the </a:t>
              </a:r>
              <a:r>
                <a:rPr lang="en-US" sz="1600" b="1" dirty="0">
                  <a:latin typeface="Courier New" panose="02070309020205020404" pitchFamily="49" charset="0"/>
                </a:rPr>
                <a:t>this</a:t>
              </a:r>
              <a:r>
                <a:rPr lang="en-US" sz="1600" b="1" dirty="0"/>
                <a:t> </a:t>
              </a:r>
              <a:r>
                <a:rPr lang="en-US" sz="1600" dirty="0"/>
                <a:t>pointer.</a:t>
              </a:r>
            </a:p>
          </p:txBody>
        </p:sp>
      </p:grpSp>
      <p:grpSp>
        <p:nvGrpSpPr>
          <p:cNvPr id="53359" name="Group 112"/>
          <p:cNvGrpSpPr>
            <a:grpSpLocks/>
          </p:cNvGrpSpPr>
          <p:nvPr/>
        </p:nvGrpSpPr>
        <p:grpSpPr bwMode="auto">
          <a:xfrm>
            <a:off x="2514600" y="4653353"/>
            <a:ext cx="6400800" cy="2039939"/>
            <a:chOff x="1056" y="2505"/>
            <a:chExt cx="4032" cy="1285"/>
          </a:xfrm>
        </p:grpSpPr>
        <p:sp>
          <p:nvSpPr>
            <p:cNvPr id="53285" name="Line 107"/>
            <p:cNvSpPr>
              <a:spLocks noChangeShapeType="1"/>
            </p:cNvSpPr>
            <p:nvPr/>
          </p:nvSpPr>
          <p:spPr bwMode="auto">
            <a:xfrm flipH="1" flipV="1">
              <a:off x="1056" y="2505"/>
              <a:ext cx="1344" cy="8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 sz="2000"/>
            </a:p>
          </p:txBody>
        </p:sp>
        <p:sp>
          <p:nvSpPr>
            <p:cNvPr id="53286" name="Text Box 106"/>
            <p:cNvSpPr txBox="1">
              <a:spLocks noChangeArrowheads="1"/>
            </p:cNvSpPr>
            <p:nvPr/>
          </p:nvSpPr>
          <p:spPr bwMode="auto">
            <a:xfrm>
              <a:off x="2208" y="3170"/>
              <a:ext cx="2880" cy="62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Printing </a:t>
              </a:r>
              <a:r>
                <a:rPr lang="en-US" sz="1600" b="1" dirty="0">
                  <a:latin typeface="Courier New" panose="02070309020205020404" pitchFamily="49" charset="0"/>
                </a:rPr>
                <a:t>x</a:t>
              </a:r>
              <a:r>
                <a:rPr lang="en-US" sz="1600" dirty="0"/>
                <a:t> using the dot (</a:t>
              </a:r>
              <a:r>
                <a:rPr lang="en-US" sz="1600" b="1" dirty="0"/>
                <a:t>.</a:t>
              </a:r>
              <a:r>
                <a:rPr lang="en-US" sz="1600" dirty="0"/>
                <a:t>) operator. Parenthesis required because dot operator has higher precedence than </a:t>
              </a:r>
              <a:r>
                <a:rPr lang="en-US" sz="1600" b="1" dirty="0">
                  <a:latin typeface="Courier New" panose="02070309020205020404" pitchFamily="49" charset="0"/>
                </a:rPr>
                <a:t>*</a:t>
              </a:r>
              <a:r>
                <a:rPr lang="en-US" sz="1600" dirty="0"/>
                <a:t>. Without, interpreted incorrectly as </a:t>
              </a:r>
              <a:r>
                <a:rPr lang="en-US" sz="1600" b="1" dirty="0">
                  <a:latin typeface="Courier New" panose="02070309020205020404" pitchFamily="49" charset="0"/>
                </a:rPr>
                <a:t>*(</a:t>
              </a:r>
              <a:r>
                <a:rPr lang="en-US" sz="1600" b="1" dirty="0" err="1">
                  <a:latin typeface="Courier New" panose="02070309020205020404" pitchFamily="49" charset="0"/>
                </a:rPr>
                <a:t>this.x</a:t>
              </a:r>
              <a:r>
                <a:rPr lang="en-US" sz="1600" b="1" dirty="0">
                  <a:latin typeface="Courier New" panose="02070309020205020404" pitchFamily="49" charset="0"/>
                </a:rPr>
                <a:t>)</a:t>
              </a:r>
              <a:r>
                <a:rPr lang="en-US" sz="16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06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ChangeArrowheads="1"/>
          </p:cNvSpPr>
          <p:nvPr/>
        </p:nvSpPr>
        <p:spPr bwMode="auto">
          <a:xfrm>
            <a:off x="304800" y="914400"/>
            <a:ext cx="66294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 </a:t>
            </a:r>
          </a:p>
          <a:p>
            <a:pPr eaLnBrk="1" hangingPunct="1"/>
            <a:endParaRPr lang="en-US" sz="1400" b="1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        x = 12</a:t>
            </a: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  this-&gt;x = 12</a:t>
            </a: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(*this).x = 12</a:t>
            </a:r>
          </a:p>
          <a:p>
            <a:pPr eaLnBrk="1" hangingPunct="1"/>
            <a:endParaRPr lang="en-US" sz="1400" b="1" dirty="0">
              <a:latin typeface="Courier New" panose="02070309020205020404" pitchFamily="49" charset="0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905000" y="1752600"/>
            <a:ext cx="4114800" cy="1727201"/>
            <a:chOff x="960" y="384"/>
            <a:chExt cx="2592" cy="1088"/>
          </a:xfrm>
        </p:grpSpPr>
        <p:sp>
          <p:nvSpPr>
            <p:cNvPr id="54276" name="Text Box 4"/>
            <p:cNvSpPr txBox="1">
              <a:spLocks noChangeArrowheads="1"/>
            </p:cNvSpPr>
            <p:nvPr/>
          </p:nvSpPr>
          <p:spPr bwMode="auto">
            <a:xfrm>
              <a:off x="2160" y="1104"/>
              <a:ext cx="1392" cy="36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All three methods have the same result.</a:t>
              </a:r>
            </a:p>
          </p:txBody>
        </p:sp>
        <p:sp>
          <p:nvSpPr>
            <p:cNvPr id="54277" name="Line 6"/>
            <p:cNvSpPr>
              <a:spLocks noChangeShapeType="1"/>
            </p:cNvSpPr>
            <p:nvPr/>
          </p:nvSpPr>
          <p:spPr bwMode="auto">
            <a:xfrm flipH="1" flipV="1">
              <a:off x="960" y="384"/>
              <a:ext cx="120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33444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Group 4"/>
          <p:cNvGrpSpPr>
            <a:grpSpLocks/>
          </p:cNvGrpSpPr>
          <p:nvPr/>
        </p:nvGrpSpPr>
        <p:grpSpPr bwMode="auto">
          <a:xfrm>
            <a:off x="0" y="0"/>
            <a:ext cx="6781800" cy="207963"/>
            <a:chOff x="0" y="0"/>
            <a:chExt cx="3072" cy="374"/>
          </a:xfrm>
        </p:grpSpPr>
        <p:sp>
          <p:nvSpPr>
            <p:cNvPr id="55400" name="Rectangle 5"/>
            <p:cNvSpPr>
              <a:spLocks noChangeArrowheads="1"/>
            </p:cNvSpPr>
            <p:nvPr/>
          </p:nvSpPr>
          <p:spPr bwMode="auto">
            <a:xfrm>
              <a:off x="0" y="2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401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Fig. 7.8: time6.h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299" name="Group 7"/>
          <p:cNvGrpSpPr>
            <a:grpSpLocks/>
          </p:cNvGrpSpPr>
          <p:nvPr/>
        </p:nvGrpSpPr>
        <p:grpSpPr bwMode="auto">
          <a:xfrm>
            <a:off x="0" y="206605"/>
            <a:ext cx="6781800" cy="207962"/>
            <a:chOff x="0" y="374"/>
            <a:chExt cx="3072" cy="374"/>
          </a:xfrm>
        </p:grpSpPr>
        <p:sp>
          <p:nvSpPr>
            <p:cNvPr id="55398" name="Rectangle 8"/>
            <p:cNvSpPr>
              <a:spLocks noChangeArrowheads="1"/>
            </p:cNvSpPr>
            <p:nvPr/>
          </p:nvSpPr>
          <p:spPr bwMode="auto">
            <a:xfrm>
              <a:off x="0" y="39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99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Cascading member function calls.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0" name="Group 10"/>
          <p:cNvGrpSpPr>
            <a:grpSpLocks/>
          </p:cNvGrpSpPr>
          <p:nvPr/>
        </p:nvGrpSpPr>
        <p:grpSpPr bwMode="auto">
          <a:xfrm>
            <a:off x="0" y="414567"/>
            <a:ext cx="6781800" cy="206375"/>
            <a:chOff x="0" y="748"/>
            <a:chExt cx="3072" cy="374"/>
          </a:xfrm>
        </p:grpSpPr>
        <p:sp>
          <p:nvSpPr>
            <p:cNvPr id="55396" name="Rectangle 11"/>
            <p:cNvSpPr>
              <a:spLocks noChangeArrowheads="1"/>
            </p:cNvSpPr>
            <p:nvPr/>
          </p:nvSpPr>
          <p:spPr bwMode="auto">
            <a:xfrm>
              <a:off x="0" y="76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97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1" name="Group 13"/>
          <p:cNvGrpSpPr>
            <a:grpSpLocks/>
          </p:cNvGrpSpPr>
          <p:nvPr/>
        </p:nvGrpSpPr>
        <p:grpSpPr bwMode="auto">
          <a:xfrm>
            <a:off x="0" y="620942"/>
            <a:ext cx="6781800" cy="207963"/>
            <a:chOff x="0" y="1122"/>
            <a:chExt cx="3072" cy="374"/>
          </a:xfrm>
        </p:grpSpPr>
        <p:sp>
          <p:nvSpPr>
            <p:cNvPr id="55394" name="Rectangle 14"/>
            <p:cNvSpPr>
              <a:spLocks noChangeArrowheads="1"/>
            </p:cNvSpPr>
            <p:nvPr/>
          </p:nvSpPr>
          <p:spPr bwMode="auto">
            <a:xfrm>
              <a:off x="0" y="114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95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Declaration of class Time.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2" name="Group 16"/>
          <p:cNvGrpSpPr>
            <a:grpSpLocks/>
          </p:cNvGrpSpPr>
          <p:nvPr/>
        </p:nvGrpSpPr>
        <p:grpSpPr bwMode="auto">
          <a:xfrm>
            <a:off x="0" y="828905"/>
            <a:ext cx="6781800" cy="207962"/>
            <a:chOff x="0" y="1496"/>
            <a:chExt cx="3072" cy="374"/>
          </a:xfrm>
        </p:grpSpPr>
        <p:sp>
          <p:nvSpPr>
            <p:cNvPr id="55392" name="Rectangle 17"/>
            <p:cNvSpPr>
              <a:spLocks noChangeArrowheads="1"/>
            </p:cNvSpPr>
            <p:nvPr/>
          </p:nvSpPr>
          <p:spPr bwMode="auto">
            <a:xfrm>
              <a:off x="0" y="151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93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Member functions defined in time6.cpp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3" name="Group 19"/>
          <p:cNvGrpSpPr>
            <a:grpSpLocks/>
          </p:cNvGrpSpPr>
          <p:nvPr/>
        </p:nvGrpSpPr>
        <p:grpSpPr bwMode="auto">
          <a:xfrm>
            <a:off x="0" y="1036867"/>
            <a:ext cx="6781800" cy="207963"/>
            <a:chOff x="0" y="1870"/>
            <a:chExt cx="3072" cy="374"/>
          </a:xfrm>
        </p:grpSpPr>
        <p:sp>
          <p:nvSpPr>
            <p:cNvPr id="55390" name="Rectangle 20"/>
            <p:cNvSpPr>
              <a:spLocks noChangeArrowheads="1"/>
            </p:cNvSpPr>
            <p:nvPr/>
          </p:nvSpPr>
          <p:spPr bwMode="auto">
            <a:xfrm>
              <a:off x="0" y="189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91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6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#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ifndef</a:t>
              </a:r>
              <a:r>
                <a:rPr lang="en-US" sz="1200" b="1" dirty="0">
                  <a:latin typeface="Courier New" panose="02070309020205020404" pitchFamily="49" charset="0"/>
                </a:rPr>
                <a:t> TIME6_H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4" name="Group 22"/>
          <p:cNvGrpSpPr>
            <a:grpSpLocks/>
          </p:cNvGrpSpPr>
          <p:nvPr/>
        </p:nvGrpSpPr>
        <p:grpSpPr bwMode="auto">
          <a:xfrm>
            <a:off x="0" y="1244830"/>
            <a:ext cx="6781800" cy="207962"/>
            <a:chOff x="0" y="2244"/>
            <a:chExt cx="3072" cy="374"/>
          </a:xfrm>
        </p:grpSpPr>
        <p:sp>
          <p:nvSpPr>
            <p:cNvPr id="55388" name="Rectangle 23"/>
            <p:cNvSpPr>
              <a:spLocks noChangeArrowheads="1"/>
            </p:cNvSpPr>
            <p:nvPr/>
          </p:nvSpPr>
          <p:spPr bwMode="auto">
            <a:xfrm>
              <a:off x="0" y="226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89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7	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#define</a:t>
              </a:r>
              <a:r>
                <a:rPr lang="en-US" sz="1200" b="1" dirty="0">
                  <a:latin typeface="Courier New" panose="02070309020205020404" pitchFamily="49" charset="0"/>
                </a:rPr>
                <a:t> TIME6_H</a:t>
              </a: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5" name="Group 25"/>
          <p:cNvGrpSpPr>
            <a:grpSpLocks/>
          </p:cNvGrpSpPr>
          <p:nvPr/>
        </p:nvGrpSpPr>
        <p:grpSpPr bwMode="auto">
          <a:xfrm>
            <a:off x="0" y="1452792"/>
            <a:ext cx="6781800" cy="207963"/>
            <a:chOff x="0" y="2618"/>
            <a:chExt cx="3072" cy="374"/>
          </a:xfrm>
        </p:grpSpPr>
        <p:sp>
          <p:nvSpPr>
            <p:cNvPr id="55386" name="Rectangle 26"/>
            <p:cNvSpPr>
              <a:spLocks noChangeArrowheads="1"/>
            </p:cNvSpPr>
            <p:nvPr/>
          </p:nvSpPr>
          <p:spPr bwMode="auto">
            <a:xfrm>
              <a:off x="0" y="263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87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6" name="Group 28"/>
          <p:cNvGrpSpPr>
            <a:grpSpLocks/>
          </p:cNvGrpSpPr>
          <p:nvPr/>
        </p:nvGrpSpPr>
        <p:grpSpPr bwMode="auto">
          <a:xfrm>
            <a:off x="0" y="1660755"/>
            <a:ext cx="6781800" cy="207962"/>
            <a:chOff x="0" y="2992"/>
            <a:chExt cx="3072" cy="374"/>
          </a:xfrm>
        </p:grpSpPr>
        <p:sp>
          <p:nvSpPr>
            <p:cNvPr id="55384" name="Rectangle 29"/>
            <p:cNvSpPr>
              <a:spLocks noChangeArrowheads="1"/>
            </p:cNvSpPr>
            <p:nvPr/>
          </p:nvSpPr>
          <p:spPr bwMode="auto">
            <a:xfrm>
              <a:off x="0" y="301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85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class</a:t>
              </a:r>
              <a:r>
                <a:rPr lang="en-US" sz="1200" b="1">
                  <a:latin typeface="Courier New" panose="02070309020205020404" pitchFamily="49" charset="0"/>
                </a:rPr>
                <a:t> Time 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7" name="Group 31"/>
          <p:cNvGrpSpPr>
            <a:grpSpLocks/>
          </p:cNvGrpSpPr>
          <p:nvPr/>
        </p:nvGrpSpPr>
        <p:grpSpPr bwMode="auto">
          <a:xfrm>
            <a:off x="0" y="1868717"/>
            <a:ext cx="6781800" cy="207963"/>
            <a:chOff x="0" y="3366"/>
            <a:chExt cx="3072" cy="374"/>
          </a:xfrm>
        </p:grpSpPr>
        <p:sp>
          <p:nvSpPr>
            <p:cNvPr id="55382" name="Rectangle 32"/>
            <p:cNvSpPr>
              <a:spLocks noChangeArrowheads="1"/>
            </p:cNvSpPr>
            <p:nvPr/>
          </p:nvSpPr>
          <p:spPr bwMode="auto">
            <a:xfrm>
              <a:off x="0" y="338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83" name="Rectangle 3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public: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8" name="Group 34"/>
          <p:cNvGrpSpPr>
            <a:grpSpLocks/>
          </p:cNvGrpSpPr>
          <p:nvPr/>
        </p:nvGrpSpPr>
        <p:grpSpPr bwMode="auto">
          <a:xfrm>
            <a:off x="0" y="2076680"/>
            <a:ext cx="6781800" cy="207962"/>
            <a:chOff x="0" y="3740"/>
            <a:chExt cx="3072" cy="374"/>
          </a:xfrm>
        </p:grpSpPr>
        <p:sp>
          <p:nvSpPr>
            <p:cNvPr id="55380" name="Rectangle 35"/>
            <p:cNvSpPr>
              <a:spLocks noChangeArrowheads="1"/>
            </p:cNvSpPr>
            <p:nvPr/>
          </p:nvSpPr>
          <p:spPr bwMode="auto">
            <a:xfrm>
              <a:off x="0" y="376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81" name="Rectangle 36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11	</a:t>
              </a:r>
              <a:r>
                <a:rPr lang="en-US" sz="1200" b="1" dirty="0">
                  <a:latin typeface="Courier New" panose="02070309020205020404" pitchFamily="49" charset="0"/>
                </a:rPr>
                <a:t>   Time(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= 0,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 =</a:t>
              </a:r>
              <a:r>
                <a:rPr lang="en-US" sz="1200" b="1" dirty="0">
                  <a:latin typeface="Courier New" panose="02070309020205020404" pitchFamily="49" charset="0"/>
                </a:rPr>
                <a:t> 0,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= 0 );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default constructor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09" name="Group 37"/>
          <p:cNvGrpSpPr>
            <a:grpSpLocks/>
          </p:cNvGrpSpPr>
          <p:nvPr/>
        </p:nvGrpSpPr>
        <p:grpSpPr bwMode="auto">
          <a:xfrm>
            <a:off x="0" y="2284642"/>
            <a:ext cx="6781800" cy="207963"/>
            <a:chOff x="0" y="4114"/>
            <a:chExt cx="3072" cy="374"/>
          </a:xfrm>
        </p:grpSpPr>
        <p:sp>
          <p:nvSpPr>
            <p:cNvPr id="55378" name="Rectangle 38"/>
            <p:cNvSpPr>
              <a:spLocks noChangeArrowheads="1"/>
            </p:cNvSpPr>
            <p:nvPr/>
          </p:nvSpPr>
          <p:spPr bwMode="auto">
            <a:xfrm>
              <a:off x="0" y="413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79" name="Rectangle 39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0" name="Group 40"/>
          <p:cNvGrpSpPr>
            <a:grpSpLocks/>
          </p:cNvGrpSpPr>
          <p:nvPr/>
        </p:nvGrpSpPr>
        <p:grpSpPr bwMode="auto">
          <a:xfrm>
            <a:off x="0" y="2492605"/>
            <a:ext cx="6781800" cy="207962"/>
            <a:chOff x="0" y="4488"/>
            <a:chExt cx="3072" cy="374"/>
          </a:xfrm>
        </p:grpSpPr>
        <p:sp>
          <p:nvSpPr>
            <p:cNvPr id="55376" name="Rectangle 41"/>
            <p:cNvSpPr>
              <a:spLocks noChangeArrowheads="1"/>
            </p:cNvSpPr>
            <p:nvPr/>
          </p:nvSpPr>
          <p:spPr bwMode="auto">
            <a:xfrm>
              <a:off x="0" y="450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77" name="Rectangle 42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13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set functions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1" name="Group 43"/>
          <p:cNvGrpSpPr>
            <a:grpSpLocks/>
          </p:cNvGrpSpPr>
          <p:nvPr/>
        </p:nvGrpSpPr>
        <p:grpSpPr bwMode="auto">
          <a:xfrm>
            <a:off x="0" y="2700567"/>
            <a:ext cx="6781800" cy="207963"/>
            <a:chOff x="0" y="4862"/>
            <a:chExt cx="3072" cy="374"/>
          </a:xfrm>
        </p:grpSpPr>
        <p:sp>
          <p:nvSpPr>
            <p:cNvPr id="55374" name="Rectangle 44"/>
            <p:cNvSpPr>
              <a:spLocks noChangeArrowheads="1"/>
            </p:cNvSpPr>
            <p:nvPr/>
          </p:nvSpPr>
          <p:spPr bwMode="auto">
            <a:xfrm>
              <a:off x="0" y="488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75" name="Rectangle 45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14	</a:t>
              </a:r>
              <a:r>
                <a:rPr lang="en-US" sz="1200" b="1" dirty="0">
                  <a:latin typeface="Courier New" panose="02070309020205020404" pitchFamily="49" charset="0"/>
                </a:rPr>
                <a:t>   Time &amp;</a:t>
              </a:r>
              <a:r>
                <a:rPr lang="en-US" sz="1200" b="1" dirty="0" err="1">
                  <a:latin typeface="Courier New" panose="02070309020205020404" pitchFamily="49" charset="0"/>
                </a:rPr>
                <a:t>setTime</a:t>
              </a:r>
              <a:r>
                <a:rPr lang="en-US" sz="1200" b="1" dirty="0">
                  <a:latin typeface="Courier New" panose="02070309020205020404" pitchFamily="49" charset="0"/>
                </a:rPr>
                <a:t>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,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);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set hour, minute, second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2" name="Group 46"/>
          <p:cNvGrpSpPr>
            <a:grpSpLocks/>
          </p:cNvGrpSpPr>
          <p:nvPr/>
        </p:nvGrpSpPr>
        <p:grpSpPr bwMode="auto">
          <a:xfrm>
            <a:off x="0" y="2908530"/>
            <a:ext cx="6781800" cy="206375"/>
            <a:chOff x="0" y="5236"/>
            <a:chExt cx="3072" cy="374"/>
          </a:xfrm>
        </p:grpSpPr>
        <p:sp>
          <p:nvSpPr>
            <p:cNvPr id="55372" name="Rectangle 47"/>
            <p:cNvSpPr>
              <a:spLocks noChangeArrowheads="1"/>
            </p:cNvSpPr>
            <p:nvPr/>
          </p:nvSpPr>
          <p:spPr bwMode="auto">
            <a:xfrm>
              <a:off x="0" y="525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73" name="Rectangle 4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15	</a:t>
              </a:r>
              <a:r>
                <a:rPr lang="en-US" sz="1200" b="1" dirty="0">
                  <a:latin typeface="Courier New" panose="02070309020205020404" pitchFamily="49" charset="0"/>
                </a:rPr>
                <a:t>   Time &amp;</a:t>
              </a:r>
              <a:r>
                <a:rPr lang="en-US" sz="1200" b="1" dirty="0" err="1">
                  <a:latin typeface="Courier New" panose="02070309020205020404" pitchFamily="49" charset="0"/>
                </a:rPr>
                <a:t>setHour</a:t>
              </a:r>
              <a:r>
                <a:rPr lang="en-US" sz="1200" b="1" dirty="0">
                  <a:latin typeface="Courier New" panose="02070309020205020404" pitchFamily="49" charset="0"/>
                </a:rPr>
                <a:t>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);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set hour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3" name="Group 49"/>
          <p:cNvGrpSpPr>
            <a:grpSpLocks/>
          </p:cNvGrpSpPr>
          <p:nvPr/>
        </p:nvGrpSpPr>
        <p:grpSpPr bwMode="auto">
          <a:xfrm>
            <a:off x="0" y="3114905"/>
            <a:ext cx="6781800" cy="207962"/>
            <a:chOff x="0" y="5610"/>
            <a:chExt cx="3072" cy="374"/>
          </a:xfrm>
        </p:grpSpPr>
        <p:sp>
          <p:nvSpPr>
            <p:cNvPr id="55370" name="Rectangle 50"/>
            <p:cNvSpPr>
              <a:spLocks noChangeArrowheads="1"/>
            </p:cNvSpPr>
            <p:nvPr/>
          </p:nvSpPr>
          <p:spPr bwMode="auto">
            <a:xfrm>
              <a:off x="0" y="563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71" name="Rectangle 51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16	</a:t>
              </a:r>
              <a:r>
                <a:rPr lang="en-US" sz="1200" b="1" dirty="0">
                  <a:latin typeface="Courier New" panose="02070309020205020404" pitchFamily="49" charset="0"/>
                </a:rPr>
                <a:t>   Time &amp;</a:t>
              </a:r>
              <a:r>
                <a:rPr lang="en-US" sz="1200" b="1" dirty="0" err="1">
                  <a:latin typeface="Courier New" panose="02070309020205020404" pitchFamily="49" charset="0"/>
                </a:rPr>
                <a:t>setMinute</a:t>
              </a:r>
              <a:r>
                <a:rPr lang="en-US" sz="1200" b="1" dirty="0">
                  <a:latin typeface="Courier New" panose="02070309020205020404" pitchFamily="49" charset="0"/>
                </a:rPr>
                <a:t>(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);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set minute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4" name="Group 52"/>
          <p:cNvGrpSpPr>
            <a:grpSpLocks/>
          </p:cNvGrpSpPr>
          <p:nvPr/>
        </p:nvGrpSpPr>
        <p:grpSpPr bwMode="auto">
          <a:xfrm>
            <a:off x="0" y="3322867"/>
            <a:ext cx="6781800" cy="207963"/>
            <a:chOff x="0" y="5984"/>
            <a:chExt cx="3072" cy="374"/>
          </a:xfrm>
        </p:grpSpPr>
        <p:sp>
          <p:nvSpPr>
            <p:cNvPr id="55368" name="Rectangle 53"/>
            <p:cNvSpPr>
              <a:spLocks noChangeArrowheads="1"/>
            </p:cNvSpPr>
            <p:nvPr/>
          </p:nvSpPr>
          <p:spPr bwMode="auto">
            <a:xfrm>
              <a:off x="0" y="600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69" name="Rectangle 54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17	</a:t>
              </a:r>
              <a:r>
                <a:rPr lang="en-US" sz="1200" b="1">
                  <a:latin typeface="Courier New" panose="02070309020205020404" pitchFamily="49" charset="0"/>
                </a:rPr>
                <a:t>   Time &amp;setSecond(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);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set second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5" name="Group 55"/>
          <p:cNvGrpSpPr>
            <a:grpSpLocks/>
          </p:cNvGrpSpPr>
          <p:nvPr/>
        </p:nvGrpSpPr>
        <p:grpSpPr bwMode="auto">
          <a:xfrm>
            <a:off x="0" y="3530830"/>
            <a:ext cx="6781800" cy="207962"/>
            <a:chOff x="0" y="6358"/>
            <a:chExt cx="3072" cy="374"/>
          </a:xfrm>
        </p:grpSpPr>
        <p:sp>
          <p:nvSpPr>
            <p:cNvPr id="55366" name="Rectangle 56"/>
            <p:cNvSpPr>
              <a:spLocks noChangeArrowheads="1"/>
            </p:cNvSpPr>
            <p:nvPr/>
          </p:nvSpPr>
          <p:spPr bwMode="auto">
            <a:xfrm>
              <a:off x="0" y="637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67" name="Rectangle 57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6" name="Group 58"/>
          <p:cNvGrpSpPr>
            <a:grpSpLocks/>
          </p:cNvGrpSpPr>
          <p:nvPr/>
        </p:nvGrpSpPr>
        <p:grpSpPr bwMode="auto">
          <a:xfrm>
            <a:off x="0" y="3738792"/>
            <a:ext cx="6781800" cy="207963"/>
            <a:chOff x="0" y="6732"/>
            <a:chExt cx="3072" cy="374"/>
          </a:xfrm>
        </p:grpSpPr>
        <p:sp>
          <p:nvSpPr>
            <p:cNvPr id="55364" name="Rectangle 59"/>
            <p:cNvSpPr>
              <a:spLocks noChangeArrowheads="1"/>
            </p:cNvSpPr>
            <p:nvPr/>
          </p:nvSpPr>
          <p:spPr bwMode="auto">
            <a:xfrm>
              <a:off x="0" y="675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65" name="Rectangle 60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19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get functions (normally declared const)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7" name="Group 61"/>
          <p:cNvGrpSpPr>
            <a:grpSpLocks/>
          </p:cNvGrpSpPr>
          <p:nvPr/>
        </p:nvGrpSpPr>
        <p:grpSpPr bwMode="auto">
          <a:xfrm>
            <a:off x="0" y="3946755"/>
            <a:ext cx="6781800" cy="207962"/>
            <a:chOff x="0" y="7106"/>
            <a:chExt cx="3072" cy="374"/>
          </a:xfrm>
        </p:grpSpPr>
        <p:sp>
          <p:nvSpPr>
            <p:cNvPr id="55362" name="Rectangle 62"/>
            <p:cNvSpPr>
              <a:spLocks noChangeArrowheads="1"/>
            </p:cNvSpPr>
            <p:nvPr/>
          </p:nvSpPr>
          <p:spPr bwMode="auto">
            <a:xfrm>
              <a:off x="0" y="712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63" name="Rectangle 6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20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</a:t>
              </a:r>
              <a:r>
                <a:rPr lang="en-US" sz="1200" b="1" dirty="0" err="1">
                  <a:latin typeface="Courier New" panose="02070309020205020404" pitchFamily="49" charset="0"/>
                </a:rPr>
                <a:t>getHour</a:t>
              </a:r>
              <a:r>
                <a:rPr lang="en-US" sz="1200" b="1" dirty="0">
                  <a:latin typeface="Courier New" panose="02070309020205020404" pitchFamily="49" charset="0"/>
                </a:rPr>
                <a:t>()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 dirty="0">
                  <a:latin typeface="Courier New" panose="02070309020205020404" pitchFamily="49" charset="0"/>
                </a:rPr>
                <a:t>;  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return hour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8" name="Group 64"/>
          <p:cNvGrpSpPr>
            <a:grpSpLocks/>
          </p:cNvGrpSpPr>
          <p:nvPr/>
        </p:nvGrpSpPr>
        <p:grpSpPr bwMode="auto">
          <a:xfrm>
            <a:off x="0" y="4154717"/>
            <a:ext cx="6781800" cy="207963"/>
            <a:chOff x="0" y="7480"/>
            <a:chExt cx="3072" cy="374"/>
          </a:xfrm>
        </p:grpSpPr>
        <p:sp>
          <p:nvSpPr>
            <p:cNvPr id="55360" name="Rectangle 65"/>
            <p:cNvSpPr>
              <a:spLocks noChangeArrowheads="1"/>
            </p:cNvSpPr>
            <p:nvPr/>
          </p:nvSpPr>
          <p:spPr bwMode="auto">
            <a:xfrm>
              <a:off x="0" y="750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61" name="Rectangle 66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21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 dirty="0">
                  <a:latin typeface="Courier New" panose="02070309020205020404" pitchFamily="49" charset="0"/>
                </a:rPr>
                <a:t> </a:t>
              </a:r>
              <a:r>
                <a:rPr lang="en-US" sz="1200" b="1" dirty="0" err="1">
                  <a:latin typeface="Courier New" panose="02070309020205020404" pitchFamily="49" charset="0"/>
                </a:rPr>
                <a:t>getMinute</a:t>
              </a:r>
              <a:r>
                <a:rPr lang="en-US" sz="1200" b="1" dirty="0">
                  <a:latin typeface="Courier New" panose="02070309020205020404" pitchFamily="49" charset="0"/>
                </a:rPr>
                <a:t>() </a:t>
              </a:r>
              <a:r>
                <a:rPr lang="en-US" sz="1200" b="1" dirty="0" err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 dirty="0">
                  <a:latin typeface="Courier New" panose="02070309020205020404" pitchFamily="49" charset="0"/>
                </a:rPr>
                <a:t>;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return minute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19" name="Group 67"/>
          <p:cNvGrpSpPr>
            <a:grpSpLocks/>
          </p:cNvGrpSpPr>
          <p:nvPr/>
        </p:nvGrpSpPr>
        <p:grpSpPr bwMode="auto">
          <a:xfrm>
            <a:off x="0" y="4362680"/>
            <a:ext cx="6781800" cy="207962"/>
            <a:chOff x="0" y="7854"/>
            <a:chExt cx="3072" cy="374"/>
          </a:xfrm>
        </p:grpSpPr>
        <p:sp>
          <p:nvSpPr>
            <p:cNvPr id="55358" name="Rectangle 68"/>
            <p:cNvSpPr>
              <a:spLocks noChangeArrowheads="1"/>
            </p:cNvSpPr>
            <p:nvPr/>
          </p:nvSpPr>
          <p:spPr bwMode="auto">
            <a:xfrm>
              <a:off x="0" y="787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59" name="Rectangle 69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22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getSecond()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>
                  <a:latin typeface="Courier New" panose="02070309020205020404" pitchFamily="49" charset="0"/>
                </a:rPr>
                <a:t>;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return second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0" name="Group 70"/>
          <p:cNvGrpSpPr>
            <a:grpSpLocks/>
          </p:cNvGrpSpPr>
          <p:nvPr/>
        </p:nvGrpSpPr>
        <p:grpSpPr bwMode="auto">
          <a:xfrm>
            <a:off x="0" y="4570642"/>
            <a:ext cx="6781800" cy="207963"/>
            <a:chOff x="0" y="8228"/>
            <a:chExt cx="3072" cy="374"/>
          </a:xfrm>
        </p:grpSpPr>
        <p:sp>
          <p:nvSpPr>
            <p:cNvPr id="55356" name="Rectangle 71"/>
            <p:cNvSpPr>
              <a:spLocks noChangeArrowheads="1"/>
            </p:cNvSpPr>
            <p:nvPr/>
          </p:nvSpPr>
          <p:spPr bwMode="auto">
            <a:xfrm>
              <a:off x="0" y="824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57" name="Rectangle 72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23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1" name="Group 73"/>
          <p:cNvGrpSpPr>
            <a:grpSpLocks/>
          </p:cNvGrpSpPr>
          <p:nvPr/>
        </p:nvGrpSpPr>
        <p:grpSpPr bwMode="auto">
          <a:xfrm>
            <a:off x="0" y="4778605"/>
            <a:ext cx="6781800" cy="207962"/>
            <a:chOff x="0" y="8602"/>
            <a:chExt cx="3072" cy="374"/>
          </a:xfrm>
        </p:grpSpPr>
        <p:sp>
          <p:nvSpPr>
            <p:cNvPr id="55354" name="Rectangle 74"/>
            <p:cNvSpPr>
              <a:spLocks noChangeArrowheads="1"/>
            </p:cNvSpPr>
            <p:nvPr/>
          </p:nvSpPr>
          <p:spPr bwMode="auto">
            <a:xfrm>
              <a:off x="0" y="862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55" name="Rectangle 75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24	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  // print functions (normally declared </a:t>
              </a:r>
              <a:r>
                <a:rPr lang="en-US" sz="1200" b="1" dirty="0" err="1">
                  <a:solidFill>
                    <a:srgbClr val="33CC33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)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2" name="Group 76"/>
          <p:cNvGrpSpPr>
            <a:grpSpLocks/>
          </p:cNvGrpSpPr>
          <p:nvPr/>
        </p:nvGrpSpPr>
        <p:grpSpPr bwMode="auto">
          <a:xfrm>
            <a:off x="0" y="4986567"/>
            <a:ext cx="6781800" cy="207963"/>
            <a:chOff x="0" y="8976"/>
            <a:chExt cx="3072" cy="374"/>
          </a:xfrm>
        </p:grpSpPr>
        <p:sp>
          <p:nvSpPr>
            <p:cNvPr id="55352" name="Rectangle 77"/>
            <p:cNvSpPr>
              <a:spLocks noChangeArrowheads="1"/>
            </p:cNvSpPr>
            <p:nvPr/>
          </p:nvSpPr>
          <p:spPr bwMode="auto">
            <a:xfrm>
              <a:off x="0" y="899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53" name="Rectangle 7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25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printMilitary()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>
                  <a:latin typeface="Courier New" panose="02070309020205020404" pitchFamily="49" charset="0"/>
                </a:rPr>
                <a:t>;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// print military time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3" name="Group 79"/>
          <p:cNvGrpSpPr>
            <a:grpSpLocks/>
          </p:cNvGrpSpPr>
          <p:nvPr/>
        </p:nvGrpSpPr>
        <p:grpSpPr bwMode="auto">
          <a:xfrm>
            <a:off x="0" y="5194530"/>
            <a:ext cx="6781800" cy="207962"/>
            <a:chOff x="0" y="9350"/>
            <a:chExt cx="3072" cy="374"/>
          </a:xfrm>
        </p:grpSpPr>
        <p:sp>
          <p:nvSpPr>
            <p:cNvPr id="55350" name="Rectangle 80"/>
            <p:cNvSpPr>
              <a:spLocks noChangeArrowheads="1"/>
            </p:cNvSpPr>
            <p:nvPr/>
          </p:nvSpPr>
          <p:spPr bwMode="auto">
            <a:xfrm>
              <a:off x="0" y="937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51" name="Rectangle 81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26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printStandard()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r>
                <a:rPr lang="en-US" sz="1200" b="1">
                  <a:latin typeface="Courier New" panose="02070309020205020404" pitchFamily="49" charset="0"/>
                </a:rPr>
                <a:t>;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// print standard time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4" name="Group 82"/>
          <p:cNvGrpSpPr>
            <a:grpSpLocks/>
          </p:cNvGrpSpPr>
          <p:nvPr/>
        </p:nvGrpSpPr>
        <p:grpSpPr bwMode="auto">
          <a:xfrm>
            <a:off x="0" y="5402492"/>
            <a:ext cx="6781800" cy="206375"/>
            <a:chOff x="0" y="9724"/>
            <a:chExt cx="3072" cy="374"/>
          </a:xfrm>
        </p:grpSpPr>
        <p:sp>
          <p:nvSpPr>
            <p:cNvPr id="55348" name="Rectangle 83"/>
            <p:cNvSpPr>
              <a:spLocks noChangeArrowheads="1"/>
            </p:cNvSpPr>
            <p:nvPr/>
          </p:nvSpPr>
          <p:spPr bwMode="auto">
            <a:xfrm>
              <a:off x="0" y="974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49" name="Rectangle 84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27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private: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5" name="Group 85"/>
          <p:cNvGrpSpPr>
            <a:grpSpLocks/>
          </p:cNvGrpSpPr>
          <p:nvPr/>
        </p:nvGrpSpPr>
        <p:grpSpPr bwMode="auto">
          <a:xfrm>
            <a:off x="0" y="5608867"/>
            <a:ext cx="6781800" cy="207963"/>
            <a:chOff x="0" y="10098"/>
            <a:chExt cx="3072" cy="374"/>
          </a:xfrm>
        </p:grpSpPr>
        <p:sp>
          <p:nvSpPr>
            <p:cNvPr id="55346" name="Rectangle 86"/>
            <p:cNvSpPr>
              <a:spLocks noChangeArrowheads="1"/>
            </p:cNvSpPr>
            <p:nvPr/>
          </p:nvSpPr>
          <p:spPr bwMode="auto">
            <a:xfrm>
              <a:off x="0" y="1011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47" name="Rectangle 87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28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hour;       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// 0 - 23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6" name="Group 88"/>
          <p:cNvGrpSpPr>
            <a:grpSpLocks/>
          </p:cNvGrpSpPr>
          <p:nvPr/>
        </p:nvGrpSpPr>
        <p:grpSpPr bwMode="auto">
          <a:xfrm>
            <a:off x="0" y="5816830"/>
            <a:ext cx="6781800" cy="207962"/>
            <a:chOff x="0" y="10472"/>
            <a:chExt cx="3072" cy="374"/>
          </a:xfrm>
        </p:grpSpPr>
        <p:sp>
          <p:nvSpPr>
            <p:cNvPr id="55344" name="Rectangle 89"/>
            <p:cNvSpPr>
              <a:spLocks noChangeArrowheads="1"/>
            </p:cNvSpPr>
            <p:nvPr/>
          </p:nvSpPr>
          <p:spPr bwMode="auto">
            <a:xfrm>
              <a:off x="0" y="10493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45" name="Rectangle 90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29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minute;      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0 - 59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7" name="Group 91"/>
          <p:cNvGrpSpPr>
            <a:grpSpLocks/>
          </p:cNvGrpSpPr>
          <p:nvPr/>
        </p:nvGrpSpPr>
        <p:grpSpPr bwMode="auto">
          <a:xfrm>
            <a:off x="0" y="6024792"/>
            <a:ext cx="6781800" cy="207963"/>
            <a:chOff x="0" y="10846"/>
            <a:chExt cx="3072" cy="374"/>
          </a:xfrm>
        </p:grpSpPr>
        <p:sp>
          <p:nvSpPr>
            <p:cNvPr id="55342" name="Rectangle 92"/>
            <p:cNvSpPr>
              <a:spLocks noChangeArrowheads="1"/>
            </p:cNvSpPr>
            <p:nvPr/>
          </p:nvSpPr>
          <p:spPr bwMode="auto">
            <a:xfrm>
              <a:off x="0" y="10867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43" name="Rectangle 9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30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second;      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   // 0 - 59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8" name="Group 94"/>
          <p:cNvGrpSpPr>
            <a:grpSpLocks/>
          </p:cNvGrpSpPr>
          <p:nvPr/>
        </p:nvGrpSpPr>
        <p:grpSpPr bwMode="auto">
          <a:xfrm>
            <a:off x="0" y="6232755"/>
            <a:ext cx="6781800" cy="207962"/>
            <a:chOff x="0" y="11220"/>
            <a:chExt cx="3072" cy="374"/>
          </a:xfrm>
        </p:grpSpPr>
        <p:sp>
          <p:nvSpPr>
            <p:cNvPr id="55340" name="Rectangle 95"/>
            <p:cNvSpPr>
              <a:spLocks noChangeArrowheads="1"/>
            </p:cNvSpPr>
            <p:nvPr/>
          </p:nvSpPr>
          <p:spPr bwMode="auto">
            <a:xfrm>
              <a:off x="0" y="11241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41" name="Rectangle 96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31	</a:t>
              </a:r>
              <a:r>
                <a:rPr lang="en-US" sz="1200" b="1">
                  <a:latin typeface="Courier New" panose="02070309020205020404" pitchFamily="49" charset="0"/>
                </a:rPr>
                <a:t>};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29" name="Group 97"/>
          <p:cNvGrpSpPr>
            <a:grpSpLocks/>
          </p:cNvGrpSpPr>
          <p:nvPr/>
        </p:nvGrpSpPr>
        <p:grpSpPr bwMode="auto">
          <a:xfrm>
            <a:off x="0" y="6440717"/>
            <a:ext cx="6781800" cy="207963"/>
            <a:chOff x="0" y="11594"/>
            <a:chExt cx="3072" cy="374"/>
          </a:xfrm>
        </p:grpSpPr>
        <p:sp>
          <p:nvSpPr>
            <p:cNvPr id="55338" name="Rectangle 98"/>
            <p:cNvSpPr>
              <a:spLocks noChangeArrowheads="1"/>
            </p:cNvSpPr>
            <p:nvPr/>
          </p:nvSpPr>
          <p:spPr bwMode="auto">
            <a:xfrm>
              <a:off x="0" y="11615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5339" name="Rectangle 99"/>
            <p:cNvSpPr>
              <a:spLocks noChangeArrowheads="1"/>
            </p:cNvSpPr>
            <p:nvPr/>
          </p:nvSpPr>
          <p:spPr bwMode="auto">
            <a:xfrm>
              <a:off x="0" y="1159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32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5330" name="Group 100"/>
          <p:cNvGrpSpPr>
            <a:grpSpLocks/>
          </p:cNvGrpSpPr>
          <p:nvPr/>
        </p:nvGrpSpPr>
        <p:grpSpPr bwMode="auto">
          <a:xfrm>
            <a:off x="0" y="6650038"/>
            <a:ext cx="6781800" cy="207962"/>
            <a:chOff x="0" y="11968"/>
            <a:chExt cx="3072" cy="374"/>
          </a:xfrm>
        </p:grpSpPr>
        <p:sp>
          <p:nvSpPr>
            <p:cNvPr id="55334" name="Rectangle 101"/>
            <p:cNvSpPr>
              <a:spLocks noChangeArrowheads="1"/>
            </p:cNvSpPr>
            <p:nvPr/>
          </p:nvSpPr>
          <p:spPr bwMode="auto">
            <a:xfrm>
              <a:off x="0" y="11989"/>
              <a:ext cx="3072" cy="33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grpSp>
          <p:nvGrpSpPr>
            <p:cNvPr id="2" name="Group 102"/>
            <p:cNvGrpSpPr>
              <a:grpSpLocks/>
            </p:cNvGrpSpPr>
            <p:nvPr/>
          </p:nvGrpSpPr>
          <p:grpSpPr bwMode="auto">
            <a:xfrm>
              <a:off x="0" y="11968"/>
              <a:ext cx="3072" cy="374"/>
              <a:chOff x="0" y="11968"/>
              <a:chExt cx="3072" cy="374"/>
            </a:xfrm>
          </p:grpSpPr>
          <p:sp>
            <p:nvSpPr>
              <p:cNvPr id="55336" name="Rectangle 103"/>
              <p:cNvSpPr>
                <a:spLocks noChangeArrowheads="1"/>
              </p:cNvSpPr>
              <p:nvPr/>
            </p:nvSpPr>
            <p:spPr bwMode="auto">
              <a:xfrm>
                <a:off x="0" y="1196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33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#endif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5337" name="Rectangle 104"/>
              <p:cNvSpPr>
                <a:spLocks noChangeArrowheads="1"/>
              </p:cNvSpPr>
              <p:nvPr/>
            </p:nvSpPr>
            <p:spPr bwMode="auto">
              <a:xfrm>
                <a:off x="0" y="11989"/>
                <a:ext cx="3072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</p:grpSp>
      </p:grpSp>
      <p:grpSp>
        <p:nvGrpSpPr>
          <p:cNvPr id="55335" name="Group 109"/>
          <p:cNvGrpSpPr>
            <a:grpSpLocks/>
          </p:cNvGrpSpPr>
          <p:nvPr/>
        </p:nvGrpSpPr>
        <p:grpSpPr bwMode="auto">
          <a:xfrm>
            <a:off x="3506045" y="2852174"/>
            <a:ext cx="5408452" cy="1466852"/>
            <a:chOff x="1667" y="1815"/>
            <a:chExt cx="2856" cy="924"/>
          </a:xfrm>
        </p:grpSpPr>
        <p:sp>
          <p:nvSpPr>
            <p:cNvPr id="55332" name="Text Box 106"/>
            <p:cNvSpPr txBox="1">
              <a:spLocks noChangeArrowheads="1"/>
            </p:cNvSpPr>
            <p:nvPr/>
          </p:nvSpPr>
          <p:spPr bwMode="auto">
            <a:xfrm>
              <a:off x="2749" y="2119"/>
              <a:ext cx="1774" cy="62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Notice the </a:t>
              </a:r>
              <a:r>
                <a:rPr 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Time &amp;</a:t>
              </a:r>
              <a:r>
                <a:rPr lang="en-US" sz="1600" b="1" dirty="0">
                  <a:solidFill>
                    <a:srgbClr val="C00000"/>
                  </a:solidFill>
                </a:rPr>
                <a:t> </a:t>
              </a:r>
              <a:r>
                <a:rPr lang="en-US" sz="1600" dirty="0"/>
                <a:t>- function returns a </a:t>
              </a:r>
              <a:r>
                <a:rPr lang="en-US" sz="1600" b="1" dirty="0">
                  <a:solidFill>
                    <a:srgbClr val="C00000"/>
                  </a:solidFill>
                </a:rPr>
                <a:t>reference to a </a:t>
              </a:r>
              <a:r>
                <a:rPr 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Time</a:t>
              </a:r>
              <a:r>
                <a:rPr lang="en-US" sz="1600" b="1" dirty="0">
                  <a:solidFill>
                    <a:srgbClr val="C00000"/>
                  </a:solidFill>
                </a:rPr>
                <a:t> object</a:t>
              </a:r>
              <a:r>
                <a:rPr lang="en-US" sz="1600" dirty="0"/>
                <a:t>. </a:t>
              </a:r>
            </a:p>
            <a:p>
              <a:pPr eaLnBrk="1" hangingPunct="1"/>
              <a:r>
                <a:rPr lang="en-US" sz="1600" dirty="0"/>
                <a:t>Specify object in function definition.</a:t>
              </a:r>
              <a:endParaRPr lang="en-US" sz="1600" b="1" dirty="0"/>
            </a:p>
          </p:txBody>
        </p:sp>
        <p:sp>
          <p:nvSpPr>
            <p:cNvPr id="55333" name="Line 108"/>
            <p:cNvSpPr>
              <a:spLocks noChangeShapeType="1"/>
            </p:cNvSpPr>
            <p:nvPr/>
          </p:nvSpPr>
          <p:spPr bwMode="auto">
            <a:xfrm flipH="1" flipV="1">
              <a:off x="1667" y="1815"/>
              <a:ext cx="1082" cy="5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287360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4"/>
          <p:cNvGrpSpPr>
            <a:grpSpLocks/>
          </p:cNvGrpSpPr>
          <p:nvPr/>
        </p:nvGrpSpPr>
        <p:grpSpPr bwMode="auto">
          <a:xfrm>
            <a:off x="0" y="0"/>
            <a:ext cx="6781800" cy="220663"/>
            <a:chOff x="0" y="0"/>
            <a:chExt cx="3072" cy="374"/>
          </a:xfrm>
        </p:grpSpPr>
        <p:sp>
          <p:nvSpPr>
            <p:cNvPr id="56416" name="Rectangle 5"/>
            <p:cNvSpPr>
              <a:spLocks noChangeArrowheads="1"/>
            </p:cNvSpPr>
            <p:nvPr/>
          </p:nvSpPr>
          <p:spPr bwMode="auto">
            <a:xfrm>
              <a:off x="0" y="3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17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34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Fig. 7.8: time.cpp 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3" name="Group 7"/>
          <p:cNvGrpSpPr>
            <a:grpSpLocks/>
          </p:cNvGrpSpPr>
          <p:nvPr/>
        </p:nvGrpSpPr>
        <p:grpSpPr bwMode="auto">
          <a:xfrm>
            <a:off x="0" y="220663"/>
            <a:ext cx="6781800" cy="220662"/>
            <a:chOff x="0" y="374"/>
            <a:chExt cx="3072" cy="374"/>
          </a:xfrm>
        </p:grpSpPr>
        <p:sp>
          <p:nvSpPr>
            <p:cNvPr id="56414" name="Rectangle 8"/>
            <p:cNvSpPr>
              <a:spLocks noChangeArrowheads="1"/>
            </p:cNvSpPr>
            <p:nvPr/>
          </p:nvSpPr>
          <p:spPr bwMode="auto">
            <a:xfrm>
              <a:off x="0" y="40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15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35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Member function definitions for Time class.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4" name="Group 10"/>
          <p:cNvGrpSpPr>
            <a:grpSpLocks/>
          </p:cNvGrpSpPr>
          <p:nvPr/>
        </p:nvGrpSpPr>
        <p:grpSpPr bwMode="auto">
          <a:xfrm>
            <a:off x="0" y="441325"/>
            <a:ext cx="6781800" cy="222250"/>
            <a:chOff x="0" y="748"/>
            <a:chExt cx="3072" cy="374"/>
          </a:xfrm>
        </p:grpSpPr>
        <p:sp>
          <p:nvSpPr>
            <p:cNvPr id="56412" name="Rectangle 11"/>
            <p:cNvSpPr>
              <a:spLocks noChangeArrowheads="1"/>
            </p:cNvSpPr>
            <p:nvPr/>
          </p:nvSpPr>
          <p:spPr bwMode="auto">
            <a:xfrm>
              <a:off x="0" y="77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13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36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>
                  <a:latin typeface="Courier New" panose="02070309020205020404" pitchFamily="49" charset="0"/>
                </a:rPr>
                <a:t> &lt;iostream&gt;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5" name="Group 13"/>
          <p:cNvGrpSpPr>
            <a:grpSpLocks/>
          </p:cNvGrpSpPr>
          <p:nvPr/>
        </p:nvGrpSpPr>
        <p:grpSpPr bwMode="auto">
          <a:xfrm>
            <a:off x="0" y="663575"/>
            <a:ext cx="6781800" cy="220663"/>
            <a:chOff x="0" y="1122"/>
            <a:chExt cx="3072" cy="374"/>
          </a:xfrm>
        </p:grpSpPr>
        <p:sp>
          <p:nvSpPr>
            <p:cNvPr id="56410" name="Rectangle 14"/>
            <p:cNvSpPr>
              <a:spLocks noChangeArrowheads="1"/>
            </p:cNvSpPr>
            <p:nvPr/>
          </p:nvSpPr>
          <p:spPr bwMode="auto">
            <a:xfrm>
              <a:off x="0" y="115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11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37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6" name="Group 16"/>
          <p:cNvGrpSpPr>
            <a:grpSpLocks/>
          </p:cNvGrpSpPr>
          <p:nvPr/>
        </p:nvGrpSpPr>
        <p:grpSpPr bwMode="auto">
          <a:xfrm>
            <a:off x="0" y="884238"/>
            <a:ext cx="6781800" cy="220662"/>
            <a:chOff x="0" y="1496"/>
            <a:chExt cx="3072" cy="374"/>
          </a:xfrm>
        </p:grpSpPr>
        <p:sp>
          <p:nvSpPr>
            <p:cNvPr id="56408" name="Rectangle 17"/>
            <p:cNvSpPr>
              <a:spLocks noChangeArrowheads="1"/>
            </p:cNvSpPr>
            <p:nvPr/>
          </p:nvSpPr>
          <p:spPr bwMode="auto">
            <a:xfrm>
              <a:off x="0" y="152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09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38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std::cout;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7" name="Group 19"/>
          <p:cNvGrpSpPr>
            <a:grpSpLocks/>
          </p:cNvGrpSpPr>
          <p:nvPr/>
        </p:nvGrpSpPr>
        <p:grpSpPr bwMode="auto">
          <a:xfrm>
            <a:off x="0" y="1104900"/>
            <a:ext cx="6781800" cy="222250"/>
            <a:chOff x="0" y="1870"/>
            <a:chExt cx="3072" cy="374"/>
          </a:xfrm>
        </p:grpSpPr>
        <p:sp>
          <p:nvSpPr>
            <p:cNvPr id="56406" name="Rectangle 20"/>
            <p:cNvSpPr>
              <a:spLocks noChangeArrowheads="1"/>
            </p:cNvSpPr>
            <p:nvPr/>
          </p:nvSpPr>
          <p:spPr bwMode="auto">
            <a:xfrm>
              <a:off x="0" y="190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07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39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8" name="Group 22"/>
          <p:cNvGrpSpPr>
            <a:grpSpLocks/>
          </p:cNvGrpSpPr>
          <p:nvPr/>
        </p:nvGrpSpPr>
        <p:grpSpPr bwMode="auto">
          <a:xfrm>
            <a:off x="0" y="1327150"/>
            <a:ext cx="6781800" cy="220663"/>
            <a:chOff x="0" y="2244"/>
            <a:chExt cx="3072" cy="374"/>
          </a:xfrm>
        </p:grpSpPr>
        <p:sp>
          <p:nvSpPr>
            <p:cNvPr id="56404" name="Rectangle 23"/>
            <p:cNvSpPr>
              <a:spLocks noChangeArrowheads="1"/>
            </p:cNvSpPr>
            <p:nvPr/>
          </p:nvSpPr>
          <p:spPr bwMode="auto">
            <a:xfrm>
              <a:off x="0" y="227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05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40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>
                  <a:latin typeface="Courier New" panose="02070309020205020404" pitchFamily="49" charset="0"/>
                </a:rPr>
                <a:t> "time6.h"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29" name="Group 25"/>
          <p:cNvGrpSpPr>
            <a:grpSpLocks/>
          </p:cNvGrpSpPr>
          <p:nvPr/>
        </p:nvGrpSpPr>
        <p:grpSpPr bwMode="auto">
          <a:xfrm>
            <a:off x="0" y="1547813"/>
            <a:ext cx="6781800" cy="222250"/>
            <a:chOff x="0" y="2618"/>
            <a:chExt cx="3072" cy="374"/>
          </a:xfrm>
        </p:grpSpPr>
        <p:sp>
          <p:nvSpPr>
            <p:cNvPr id="56402" name="Rectangle 26"/>
            <p:cNvSpPr>
              <a:spLocks noChangeArrowheads="1"/>
            </p:cNvSpPr>
            <p:nvPr/>
          </p:nvSpPr>
          <p:spPr bwMode="auto">
            <a:xfrm>
              <a:off x="0" y="264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03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41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0" name="Group 28"/>
          <p:cNvGrpSpPr>
            <a:grpSpLocks/>
          </p:cNvGrpSpPr>
          <p:nvPr/>
        </p:nvGrpSpPr>
        <p:grpSpPr bwMode="auto">
          <a:xfrm>
            <a:off x="0" y="1770063"/>
            <a:ext cx="6781800" cy="220662"/>
            <a:chOff x="0" y="2992"/>
            <a:chExt cx="3072" cy="374"/>
          </a:xfrm>
        </p:grpSpPr>
        <p:sp>
          <p:nvSpPr>
            <p:cNvPr id="56400" name="Rectangle 29"/>
            <p:cNvSpPr>
              <a:spLocks noChangeArrowheads="1"/>
            </p:cNvSpPr>
            <p:nvPr/>
          </p:nvSpPr>
          <p:spPr bwMode="auto">
            <a:xfrm>
              <a:off x="0" y="302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401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42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Constructor function to initialize private data.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1" name="Group 31"/>
          <p:cNvGrpSpPr>
            <a:grpSpLocks/>
          </p:cNvGrpSpPr>
          <p:nvPr/>
        </p:nvGrpSpPr>
        <p:grpSpPr bwMode="auto">
          <a:xfrm>
            <a:off x="0" y="1990725"/>
            <a:ext cx="6781800" cy="220663"/>
            <a:chOff x="0" y="3366"/>
            <a:chExt cx="3072" cy="374"/>
          </a:xfrm>
        </p:grpSpPr>
        <p:sp>
          <p:nvSpPr>
            <p:cNvPr id="56398" name="Rectangle 32"/>
            <p:cNvSpPr>
              <a:spLocks noChangeArrowheads="1"/>
            </p:cNvSpPr>
            <p:nvPr/>
          </p:nvSpPr>
          <p:spPr bwMode="auto">
            <a:xfrm>
              <a:off x="0" y="339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99" name="Rectangle 33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43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Calls member function setTime to set variables.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2" name="Group 34"/>
          <p:cNvGrpSpPr>
            <a:grpSpLocks/>
          </p:cNvGrpSpPr>
          <p:nvPr/>
        </p:nvGrpSpPr>
        <p:grpSpPr bwMode="auto">
          <a:xfrm>
            <a:off x="0" y="2211388"/>
            <a:ext cx="6781800" cy="222250"/>
            <a:chOff x="0" y="3740"/>
            <a:chExt cx="3072" cy="374"/>
          </a:xfrm>
        </p:grpSpPr>
        <p:sp>
          <p:nvSpPr>
            <p:cNvPr id="56396" name="Rectangle 35"/>
            <p:cNvSpPr>
              <a:spLocks noChangeArrowheads="1"/>
            </p:cNvSpPr>
            <p:nvPr/>
          </p:nvSpPr>
          <p:spPr bwMode="auto">
            <a:xfrm>
              <a:off x="0" y="377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97" name="Rectangle 36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44	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Default values are 0 (see class definition).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3" name="Group 37"/>
          <p:cNvGrpSpPr>
            <a:grpSpLocks/>
          </p:cNvGrpSpPr>
          <p:nvPr/>
        </p:nvGrpSpPr>
        <p:grpSpPr bwMode="auto">
          <a:xfrm>
            <a:off x="0" y="2433638"/>
            <a:ext cx="6781800" cy="220662"/>
            <a:chOff x="0" y="4114"/>
            <a:chExt cx="3072" cy="374"/>
          </a:xfrm>
        </p:grpSpPr>
        <p:sp>
          <p:nvSpPr>
            <p:cNvPr id="56394" name="Rectangle 38"/>
            <p:cNvSpPr>
              <a:spLocks noChangeArrowheads="1"/>
            </p:cNvSpPr>
            <p:nvPr/>
          </p:nvSpPr>
          <p:spPr bwMode="auto">
            <a:xfrm>
              <a:off x="0" y="414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95" name="Rectangle 39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45	</a:t>
              </a:r>
              <a:r>
                <a:rPr lang="en-US" sz="1200" b="1">
                  <a:latin typeface="Courier New" panose="02070309020205020404" pitchFamily="49" charset="0"/>
                </a:rPr>
                <a:t>Time::Time(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hr,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min,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sec )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4" name="Group 40"/>
          <p:cNvGrpSpPr>
            <a:grpSpLocks/>
          </p:cNvGrpSpPr>
          <p:nvPr/>
        </p:nvGrpSpPr>
        <p:grpSpPr bwMode="auto">
          <a:xfrm>
            <a:off x="0" y="2654300"/>
            <a:ext cx="6781800" cy="222250"/>
            <a:chOff x="0" y="4488"/>
            <a:chExt cx="3072" cy="374"/>
          </a:xfrm>
        </p:grpSpPr>
        <p:sp>
          <p:nvSpPr>
            <p:cNvPr id="56392" name="Rectangle 41"/>
            <p:cNvSpPr>
              <a:spLocks noChangeArrowheads="1"/>
            </p:cNvSpPr>
            <p:nvPr/>
          </p:nvSpPr>
          <p:spPr bwMode="auto">
            <a:xfrm>
              <a:off x="0" y="451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93" name="Rectangle 42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46	</a:t>
              </a:r>
              <a:r>
                <a:rPr lang="en-US" sz="1200" b="1">
                  <a:latin typeface="Courier New" panose="02070309020205020404" pitchFamily="49" charset="0"/>
                </a:rPr>
                <a:t>   { setTime( hr, min, sec ); 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5" name="Group 43"/>
          <p:cNvGrpSpPr>
            <a:grpSpLocks/>
          </p:cNvGrpSpPr>
          <p:nvPr/>
        </p:nvGrpSpPr>
        <p:grpSpPr bwMode="auto">
          <a:xfrm>
            <a:off x="0" y="2876550"/>
            <a:ext cx="6781800" cy="220663"/>
            <a:chOff x="0" y="4862"/>
            <a:chExt cx="3072" cy="374"/>
          </a:xfrm>
        </p:grpSpPr>
        <p:sp>
          <p:nvSpPr>
            <p:cNvPr id="56390" name="Rectangle 44"/>
            <p:cNvSpPr>
              <a:spLocks noChangeArrowheads="1"/>
            </p:cNvSpPr>
            <p:nvPr/>
          </p:nvSpPr>
          <p:spPr bwMode="auto">
            <a:xfrm>
              <a:off x="0" y="489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91" name="Rectangle 45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47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6" name="Group 46"/>
          <p:cNvGrpSpPr>
            <a:grpSpLocks/>
          </p:cNvGrpSpPr>
          <p:nvPr/>
        </p:nvGrpSpPr>
        <p:grpSpPr bwMode="auto">
          <a:xfrm>
            <a:off x="0" y="3097213"/>
            <a:ext cx="6781800" cy="220662"/>
            <a:chOff x="0" y="5236"/>
            <a:chExt cx="3072" cy="374"/>
          </a:xfrm>
        </p:grpSpPr>
        <p:sp>
          <p:nvSpPr>
            <p:cNvPr id="56388" name="Rectangle 47"/>
            <p:cNvSpPr>
              <a:spLocks noChangeArrowheads="1"/>
            </p:cNvSpPr>
            <p:nvPr/>
          </p:nvSpPr>
          <p:spPr bwMode="auto">
            <a:xfrm>
              <a:off x="0" y="526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89" name="Rectangle 48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48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Set the values of hour, minute, and second.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7" name="Group 49"/>
          <p:cNvGrpSpPr>
            <a:grpSpLocks/>
          </p:cNvGrpSpPr>
          <p:nvPr/>
        </p:nvGrpSpPr>
        <p:grpSpPr bwMode="auto">
          <a:xfrm>
            <a:off x="0" y="3317875"/>
            <a:ext cx="6781800" cy="222250"/>
            <a:chOff x="0" y="5610"/>
            <a:chExt cx="3072" cy="374"/>
          </a:xfrm>
        </p:grpSpPr>
        <p:sp>
          <p:nvSpPr>
            <p:cNvPr id="56386" name="Rectangle 50"/>
            <p:cNvSpPr>
              <a:spLocks noChangeArrowheads="1"/>
            </p:cNvSpPr>
            <p:nvPr/>
          </p:nvSpPr>
          <p:spPr bwMode="auto">
            <a:xfrm>
              <a:off x="0" y="564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87" name="Rectangle 51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49	</a:t>
              </a:r>
              <a:r>
                <a:rPr lang="en-US" sz="1200" b="1">
                  <a:latin typeface="Courier New" panose="02070309020205020404" pitchFamily="49" charset="0"/>
                </a:rPr>
                <a:t>Time &amp;Time::setTime(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h,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m,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s 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8" name="Group 52"/>
          <p:cNvGrpSpPr>
            <a:grpSpLocks/>
          </p:cNvGrpSpPr>
          <p:nvPr/>
        </p:nvGrpSpPr>
        <p:grpSpPr bwMode="auto">
          <a:xfrm>
            <a:off x="0" y="3540125"/>
            <a:ext cx="6781800" cy="220663"/>
            <a:chOff x="0" y="5984"/>
            <a:chExt cx="3072" cy="374"/>
          </a:xfrm>
        </p:grpSpPr>
        <p:sp>
          <p:nvSpPr>
            <p:cNvPr id="56384" name="Rectangle 53"/>
            <p:cNvSpPr>
              <a:spLocks noChangeArrowheads="1"/>
            </p:cNvSpPr>
            <p:nvPr/>
          </p:nvSpPr>
          <p:spPr bwMode="auto">
            <a:xfrm>
              <a:off x="0" y="601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85" name="Rectangle 54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50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39" name="Group 55"/>
          <p:cNvGrpSpPr>
            <a:grpSpLocks/>
          </p:cNvGrpSpPr>
          <p:nvPr/>
        </p:nvGrpSpPr>
        <p:grpSpPr bwMode="auto">
          <a:xfrm>
            <a:off x="0" y="3760788"/>
            <a:ext cx="6781800" cy="220662"/>
            <a:chOff x="0" y="6358"/>
            <a:chExt cx="3072" cy="374"/>
          </a:xfrm>
        </p:grpSpPr>
        <p:sp>
          <p:nvSpPr>
            <p:cNvPr id="56382" name="Rectangle 56"/>
            <p:cNvSpPr>
              <a:spLocks noChangeArrowheads="1"/>
            </p:cNvSpPr>
            <p:nvPr/>
          </p:nvSpPr>
          <p:spPr bwMode="auto">
            <a:xfrm>
              <a:off x="0" y="638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83" name="Rectangle 57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51	</a:t>
              </a:r>
              <a:r>
                <a:rPr lang="en-US" sz="1200" b="1">
                  <a:latin typeface="Courier New" panose="02070309020205020404" pitchFamily="49" charset="0"/>
                </a:rPr>
                <a:t>   setHour( h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0" name="Group 58"/>
          <p:cNvGrpSpPr>
            <a:grpSpLocks/>
          </p:cNvGrpSpPr>
          <p:nvPr/>
        </p:nvGrpSpPr>
        <p:grpSpPr bwMode="auto">
          <a:xfrm>
            <a:off x="0" y="3981450"/>
            <a:ext cx="6781800" cy="222250"/>
            <a:chOff x="0" y="6732"/>
            <a:chExt cx="3072" cy="374"/>
          </a:xfrm>
        </p:grpSpPr>
        <p:sp>
          <p:nvSpPr>
            <p:cNvPr id="56380" name="Rectangle 59"/>
            <p:cNvSpPr>
              <a:spLocks noChangeArrowheads="1"/>
            </p:cNvSpPr>
            <p:nvPr/>
          </p:nvSpPr>
          <p:spPr bwMode="auto">
            <a:xfrm>
              <a:off x="0" y="676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81" name="Rectangle 60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52	</a:t>
              </a:r>
              <a:r>
                <a:rPr lang="en-US" sz="1200" b="1">
                  <a:latin typeface="Courier New" panose="02070309020205020404" pitchFamily="49" charset="0"/>
                </a:rPr>
                <a:t>   setMinute( m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1" name="Group 61"/>
          <p:cNvGrpSpPr>
            <a:grpSpLocks/>
          </p:cNvGrpSpPr>
          <p:nvPr/>
        </p:nvGrpSpPr>
        <p:grpSpPr bwMode="auto">
          <a:xfrm>
            <a:off x="0" y="4203700"/>
            <a:ext cx="6781800" cy="220663"/>
            <a:chOff x="0" y="7106"/>
            <a:chExt cx="3072" cy="374"/>
          </a:xfrm>
        </p:grpSpPr>
        <p:sp>
          <p:nvSpPr>
            <p:cNvPr id="56378" name="Rectangle 62"/>
            <p:cNvSpPr>
              <a:spLocks noChangeArrowheads="1"/>
            </p:cNvSpPr>
            <p:nvPr/>
          </p:nvSpPr>
          <p:spPr bwMode="auto">
            <a:xfrm>
              <a:off x="0" y="713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79" name="Rectangle 63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53	</a:t>
              </a:r>
              <a:r>
                <a:rPr lang="en-US" sz="1200" b="1">
                  <a:latin typeface="Courier New" panose="02070309020205020404" pitchFamily="49" charset="0"/>
                </a:rPr>
                <a:t>   setSecond( s );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2" name="Group 64"/>
          <p:cNvGrpSpPr>
            <a:grpSpLocks/>
          </p:cNvGrpSpPr>
          <p:nvPr/>
        </p:nvGrpSpPr>
        <p:grpSpPr bwMode="auto">
          <a:xfrm>
            <a:off x="0" y="4424363"/>
            <a:ext cx="6781800" cy="222250"/>
            <a:chOff x="0" y="7480"/>
            <a:chExt cx="3072" cy="374"/>
          </a:xfrm>
        </p:grpSpPr>
        <p:sp>
          <p:nvSpPr>
            <p:cNvPr id="56376" name="Rectangle 65"/>
            <p:cNvSpPr>
              <a:spLocks noChangeArrowheads="1"/>
            </p:cNvSpPr>
            <p:nvPr/>
          </p:nvSpPr>
          <p:spPr bwMode="auto">
            <a:xfrm>
              <a:off x="0" y="751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77" name="Rectangle 66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54	</a:t>
              </a:r>
              <a:r>
                <a:rPr lang="en-US" sz="1200" b="1" dirty="0">
                  <a:latin typeface="Courier New" panose="02070309020205020404" pitchFamily="49" charset="0"/>
                </a:rPr>
                <a:t>   </a:t>
              </a:r>
              <a:r>
                <a:rPr lang="en-US" sz="1200" b="1" dirty="0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200" b="1" dirty="0">
                  <a:latin typeface="Courier New" panose="02070309020205020404" pitchFamily="49" charset="0"/>
                </a:rPr>
                <a:t> *this;  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 // enables cascading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3" name="Group 67"/>
          <p:cNvGrpSpPr>
            <a:grpSpLocks/>
          </p:cNvGrpSpPr>
          <p:nvPr/>
        </p:nvGrpSpPr>
        <p:grpSpPr bwMode="auto">
          <a:xfrm>
            <a:off x="0" y="4646613"/>
            <a:ext cx="6781800" cy="220662"/>
            <a:chOff x="0" y="7854"/>
            <a:chExt cx="3072" cy="374"/>
          </a:xfrm>
        </p:grpSpPr>
        <p:sp>
          <p:nvSpPr>
            <p:cNvPr id="56374" name="Rectangle 68"/>
            <p:cNvSpPr>
              <a:spLocks noChangeArrowheads="1"/>
            </p:cNvSpPr>
            <p:nvPr/>
          </p:nvSpPr>
          <p:spPr bwMode="auto">
            <a:xfrm>
              <a:off x="0" y="788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75" name="Rectangle 69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55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4" name="Group 70"/>
          <p:cNvGrpSpPr>
            <a:grpSpLocks/>
          </p:cNvGrpSpPr>
          <p:nvPr/>
        </p:nvGrpSpPr>
        <p:grpSpPr bwMode="auto">
          <a:xfrm>
            <a:off x="0" y="4867275"/>
            <a:ext cx="6781800" cy="220663"/>
            <a:chOff x="0" y="8228"/>
            <a:chExt cx="3072" cy="374"/>
          </a:xfrm>
        </p:grpSpPr>
        <p:sp>
          <p:nvSpPr>
            <p:cNvPr id="56372" name="Rectangle 71"/>
            <p:cNvSpPr>
              <a:spLocks noChangeArrowheads="1"/>
            </p:cNvSpPr>
            <p:nvPr/>
          </p:nvSpPr>
          <p:spPr bwMode="auto">
            <a:xfrm>
              <a:off x="0" y="825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73" name="Rectangle 72"/>
            <p:cNvSpPr>
              <a:spLocks noChangeArrowheads="1"/>
            </p:cNvSpPr>
            <p:nvPr/>
          </p:nvSpPr>
          <p:spPr bwMode="auto">
            <a:xfrm>
              <a:off x="0" y="822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56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5" name="Group 73"/>
          <p:cNvGrpSpPr>
            <a:grpSpLocks/>
          </p:cNvGrpSpPr>
          <p:nvPr/>
        </p:nvGrpSpPr>
        <p:grpSpPr bwMode="auto">
          <a:xfrm>
            <a:off x="0" y="5087938"/>
            <a:ext cx="6781800" cy="222250"/>
            <a:chOff x="0" y="8602"/>
            <a:chExt cx="3072" cy="374"/>
          </a:xfrm>
        </p:grpSpPr>
        <p:sp>
          <p:nvSpPr>
            <p:cNvPr id="56370" name="Rectangle 74"/>
            <p:cNvSpPr>
              <a:spLocks noChangeArrowheads="1"/>
            </p:cNvSpPr>
            <p:nvPr/>
          </p:nvSpPr>
          <p:spPr bwMode="auto">
            <a:xfrm>
              <a:off x="0" y="863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71" name="Rectangle 75"/>
            <p:cNvSpPr>
              <a:spLocks noChangeArrowheads="1"/>
            </p:cNvSpPr>
            <p:nvPr/>
          </p:nvSpPr>
          <p:spPr bwMode="auto">
            <a:xfrm>
              <a:off x="0" y="860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 dirty="0">
                  <a:solidFill>
                    <a:srgbClr val="4D8DFF"/>
                  </a:solidFill>
                  <a:latin typeface="Courier New" panose="02070309020205020404" pitchFamily="49" charset="0"/>
                </a:rPr>
                <a:t>	57	</a:t>
              </a:r>
              <a:r>
                <a:rPr lang="en-US" sz="1200" b="1" dirty="0">
                  <a:solidFill>
                    <a:srgbClr val="33CC33"/>
                  </a:solidFill>
                  <a:latin typeface="Courier New" panose="02070309020205020404" pitchFamily="49" charset="0"/>
                </a:rPr>
                <a:t>// Set the hour value</a:t>
              </a:r>
              <a:endParaRPr lang="en-US" sz="1200" b="1" dirty="0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6" name="Group 76"/>
          <p:cNvGrpSpPr>
            <a:grpSpLocks/>
          </p:cNvGrpSpPr>
          <p:nvPr/>
        </p:nvGrpSpPr>
        <p:grpSpPr bwMode="auto">
          <a:xfrm>
            <a:off x="0" y="5310188"/>
            <a:ext cx="6781800" cy="220662"/>
            <a:chOff x="0" y="8976"/>
            <a:chExt cx="3072" cy="374"/>
          </a:xfrm>
        </p:grpSpPr>
        <p:sp>
          <p:nvSpPr>
            <p:cNvPr id="56368" name="Rectangle 77"/>
            <p:cNvSpPr>
              <a:spLocks noChangeArrowheads="1"/>
            </p:cNvSpPr>
            <p:nvPr/>
          </p:nvSpPr>
          <p:spPr bwMode="auto">
            <a:xfrm>
              <a:off x="0" y="900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69" name="Rectangle 78"/>
            <p:cNvSpPr>
              <a:spLocks noChangeArrowheads="1"/>
            </p:cNvSpPr>
            <p:nvPr/>
          </p:nvSpPr>
          <p:spPr bwMode="auto">
            <a:xfrm>
              <a:off x="0" y="897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58	</a:t>
              </a:r>
              <a:r>
                <a:rPr lang="en-US" sz="1200" b="1">
                  <a:latin typeface="Courier New" panose="02070309020205020404" pitchFamily="49" charset="0"/>
                </a:rPr>
                <a:t>Time &amp;Time::setHour(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h 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7" name="Group 79"/>
          <p:cNvGrpSpPr>
            <a:grpSpLocks/>
          </p:cNvGrpSpPr>
          <p:nvPr/>
        </p:nvGrpSpPr>
        <p:grpSpPr bwMode="auto">
          <a:xfrm>
            <a:off x="0" y="5530850"/>
            <a:ext cx="6781800" cy="222250"/>
            <a:chOff x="0" y="9350"/>
            <a:chExt cx="3072" cy="374"/>
          </a:xfrm>
        </p:grpSpPr>
        <p:sp>
          <p:nvSpPr>
            <p:cNvPr id="56366" name="Rectangle 80"/>
            <p:cNvSpPr>
              <a:spLocks noChangeArrowheads="1"/>
            </p:cNvSpPr>
            <p:nvPr/>
          </p:nvSpPr>
          <p:spPr bwMode="auto">
            <a:xfrm>
              <a:off x="0" y="938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67" name="Rectangle 81"/>
            <p:cNvSpPr>
              <a:spLocks noChangeArrowheads="1"/>
            </p:cNvSpPr>
            <p:nvPr/>
          </p:nvSpPr>
          <p:spPr bwMode="auto">
            <a:xfrm>
              <a:off x="0" y="935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59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8" name="Group 82"/>
          <p:cNvGrpSpPr>
            <a:grpSpLocks/>
          </p:cNvGrpSpPr>
          <p:nvPr/>
        </p:nvGrpSpPr>
        <p:grpSpPr bwMode="auto">
          <a:xfrm>
            <a:off x="0" y="5753100"/>
            <a:ext cx="6781800" cy="220663"/>
            <a:chOff x="0" y="9724"/>
            <a:chExt cx="3072" cy="374"/>
          </a:xfrm>
        </p:grpSpPr>
        <p:sp>
          <p:nvSpPr>
            <p:cNvPr id="56364" name="Rectangle 83"/>
            <p:cNvSpPr>
              <a:spLocks noChangeArrowheads="1"/>
            </p:cNvSpPr>
            <p:nvPr/>
          </p:nvSpPr>
          <p:spPr bwMode="auto">
            <a:xfrm>
              <a:off x="0" y="9755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65" name="Rectangle 84"/>
            <p:cNvSpPr>
              <a:spLocks noChangeArrowheads="1"/>
            </p:cNvSpPr>
            <p:nvPr/>
          </p:nvSpPr>
          <p:spPr bwMode="auto">
            <a:xfrm>
              <a:off x="0" y="972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60	</a:t>
              </a:r>
              <a:r>
                <a:rPr lang="en-US" sz="1200" b="1">
                  <a:latin typeface="Courier New" panose="02070309020205020404" pitchFamily="49" charset="0"/>
                </a:rPr>
                <a:t>   hour = ( h &gt;= 0 &amp;&amp; h &lt; 24 ) ? h : 0;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49" name="Group 85"/>
          <p:cNvGrpSpPr>
            <a:grpSpLocks/>
          </p:cNvGrpSpPr>
          <p:nvPr/>
        </p:nvGrpSpPr>
        <p:grpSpPr bwMode="auto">
          <a:xfrm>
            <a:off x="0" y="5973763"/>
            <a:ext cx="6781800" cy="220662"/>
            <a:chOff x="0" y="10098"/>
            <a:chExt cx="3072" cy="374"/>
          </a:xfrm>
        </p:grpSpPr>
        <p:sp>
          <p:nvSpPr>
            <p:cNvPr id="56362" name="Rectangle 86"/>
            <p:cNvSpPr>
              <a:spLocks noChangeArrowheads="1"/>
            </p:cNvSpPr>
            <p:nvPr/>
          </p:nvSpPr>
          <p:spPr bwMode="auto">
            <a:xfrm>
              <a:off x="0" y="10129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63" name="Rectangle 87"/>
            <p:cNvSpPr>
              <a:spLocks noChangeArrowheads="1"/>
            </p:cNvSpPr>
            <p:nvPr/>
          </p:nvSpPr>
          <p:spPr bwMode="auto">
            <a:xfrm>
              <a:off x="0" y="1009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61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50" name="Group 88"/>
          <p:cNvGrpSpPr>
            <a:grpSpLocks/>
          </p:cNvGrpSpPr>
          <p:nvPr/>
        </p:nvGrpSpPr>
        <p:grpSpPr bwMode="auto">
          <a:xfrm>
            <a:off x="0" y="6194425"/>
            <a:ext cx="6781800" cy="222250"/>
            <a:chOff x="0" y="10472"/>
            <a:chExt cx="3072" cy="374"/>
          </a:xfrm>
        </p:grpSpPr>
        <p:sp>
          <p:nvSpPr>
            <p:cNvPr id="56360" name="Rectangle 89"/>
            <p:cNvSpPr>
              <a:spLocks noChangeArrowheads="1"/>
            </p:cNvSpPr>
            <p:nvPr/>
          </p:nvSpPr>
          <p:spPr bwMode="auto">
            <a:xfrm>
              <a:off x="0" y="10503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61" name="Rectangle 90"/>
            <p:cNvSpPr>
              <a:spLocks noChangeArrowheads="1"/>
            </p:cNvSpPr>
            <p:nvPr/>
          </p:nvSpPr>
          <p:spPr bwMode="auto">
            <a:xfrm>
              <a:off x="0" y="1047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62	</a:t>
              </a:r>
              <a:r>
                <a:rPr lang="en-US" sz="1200" b="1">
                  <a:latin typeface="Courier New" panose="02070309020205020404" pitchFamily="49" charset="0"/>
                </a:rPr>
                <a:t>  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return</a:t>
              </a:r>
              <a:r>
                <a:rPr lang="en-US" sz="1200" b="1">
                  <a:latin typeface="Courier New" panose="02070309020205020404" pitchFamily="49" charset="0"/>
                </a:rPr>
                <a:t> *this;   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enables cascading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51" name="Group 91"/>
          <p:cNvGrpSpPr>
            <a:grpSpLocks/>
          </p:cNvGrpSpPr>
          <p:nvPr/>
        </p:nvGrpSpPr>
        <p:grpSpPr bwMode="auto">
          <a:xfrm>
            <a:off x="0" y="6416675"/>
            <a:ext cx="6781800" cy="220663"/>
            <a:chOff x="0" y="10846"/>
            <a:chExt cx="3072" cy="374"/>
          </a:xfrm>
        </p:grpSpPr>
        <p:sp>
          <p:nvSpPr>
            <p:cNvPr id="56358" name="Rectangle 92"/>
            <p:cNvSpPr>
              <a:spLocks noChangeArrowheads="1"/>
            </p:cNvSpPr>
            <p:nvPr/>
          </p:nvSpPr>
          <p:spPr bwMode="auto">
            <a:xfrm>
              <a:off x="0" y="10877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59" name="Rectangle 93"/>
            <p:cNvSpPr>
              <a:spLocks noChangeArrowheads="1"/>
            </p:cNvSpPr>
            <p:nvPr/>
          </p:nvSpPr>
          <p:spPr bwMode="auto">
            <a:xfrm>
              <a:off x="0" y="1084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63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52" name="Group 94"/>
          <p:cNvGrpSpPr>
            <a:grpSpLocks/>
          </p:cNvGrpSpPr>
          <p:nvPr/>
        </p:nvGrpSpPr>
        <p:grpSpPr bwMode="auto">
          <a:xfrm>
            <a:off x="0" y="6637338"/>
            <a:ext cx="6781800" cy="220662"/>
            <a:chOff x="0" y="11220"/>
            <a:chExt cx="3072" cy="374"/>
          </a:xfrm>
        </p:grpSpPr>
        <p:sp>
          <p:nvSpPr>
            <p:cNvPr id="56356" name="Rectangle 95"/>
            <p:cNvSpPr>
              <a:spLocks noChangeArrowheads="1"/>
            </p:cNvSpPr>
            <p:nvPr/>
          </p:nvSpPr>
          <p:spPr bwMode="auto">
            <a:xfrm>
              <a:off x="0" y="11251"/>
              <a:ext cx="3072" cy="3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6357" name="Rectangle 96"/>
            <p:cNvSpPr>
              <a:spLocks noChangeArrowheads="1"/>
            </p:cNvSpPr>
            <p:nvPr/>
          </p:nvSpPr>
          <p:spPr bwMode="auto">
            <a:xfrm>
              <a:off x="0" y="1122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64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6353" name="Group 103"/>
          <p:cNvGrpSpPr>
            <a:grpSpLocks/>
          </p:cNvGrpSpPr>
          <p:nvPr/>
        </p:nvGrpSpPr>
        <p:grpSpPr bwMode="auto">
          <a:xfrm>
            <a:off x="1828800" y="3176456"/>
            <a:ext cx="5934075" cy="1266825"/>
            <a:chOff x="342" y="288"/>
            <a:chExt cx="3738" cy="798"/>
          </a:xfrm>
        </p:grpSpPr>
        <p:sp>
          <p:nvSpPr>
            <p:cNvPr id="56354" name="Line 100"/>
            <p:cNvSpPr>
              <a:spLocks noChangeShapeType="1"/>
            </p:cNvSpPr>
            <p:nvPr/>
          </p:nvSpPr>
          <p:spPr bwMode="auto">
            <a:xfrm flipH="1">
              <a:off x="342" y="480"/>
              <a:ext cx="2778" cy="6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6355" name="Text Box 97"/>
            <p:cNvSpPr txBox="1">
              <a:spLocks noChangeArrowheads="1"/>
            </p:cNvSpPr>
            <p:nvPr/>
          </p:nvSpPr>
          <p:spPr bwMode="auto">
            <a:xfrm>
              <a:off x="2352" y="288"/>
              <a:ext cx="1728" cy="31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 dirty="0"/>
                <a:t>Returning </a:t>
              </a:r>
              <a:r>
                <a:rPr lang="en-US" sz="1600" b="1" dirty="0">
                  <a:latin typeface="Courier New" panose="02070309020205020404" pitchFamily="49" charset="0"/>
                </a:rPr>
                <a:t>*this</a:t>
              </a:r>
              <a:r>
                <a:rPr lang="en-US" sz="1600" dirty="0"/>
                <a:t> enables cascading function calls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37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" name="Group 3"/>
          <p:cNvGrpSpPr>
            <a:grpSpLocks/>
          </p:cNvGrpSpPr>
          <p:nvPr/>
        </p:nvGrpSpPr>
        <p:grpSpPr bwMode="auto">
          <a:xfrm>
            <a:off x="0" y="-23813"/>
            <a:ext cx="6781800" cy="6905626"/>
            <a:chOff x="0" y="-40"/>
            <a:chExt cx="3072" cy="11299"/>
          </a:xfrm>
        </p:grpSpPr>
        <p:grpSp>
          <p:nvGrpSpPr>
            <p:cNvPr id="57352" name="Group 4"/>
            <p:cNvGrpSpPr>
              <a:grpSpLocks/>
            </p:cNvGrpSpPr>
            <p:nvPr/>
          </p:nvGrpSpPr>
          <p:grpSpPr bwMode="auto">
            <a:xfrm>
              <a:off x="0" y="-40"/>
              <a:ext cx="3072" cy="453"/>
              <a:chOff x="0" y="-40"/>
              <a:chExt cx="3072" cy="453"/>
            </a:xfrm>
          </p:grpSpPr>
          <p:sp>
            <p:nvSpPr>
              <p:cNvPr id="57440" name="Rectangle 5"/>
              <p:cNvSpPr>
                <a:spLocks noChangeArrowheads="1"/>
              </p:cNvSpPr>
              <p:nvPr/>
            </p:nvSpPr>
            <p:spPr bwMode="auto">
              <a:xfrm>
                <a:off x="0" y="-4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41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65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the minute value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3" name="Group 7"/>
            <p:cNvGrpSpPr>
              <a:grpSpLocks/>
            </p:cNvGrpSpPr>
            <p:nvPr/>
          </p:nvGrpSpPr>
          <p:grpSpPr bwMode="auto">
            <a:xfrm>
              <a:off x="0" y="334"/>
              <a:ext cx="3072" cy="453"/>
              <a:chOff x="0" y="334"/>
              <a:chExt cx="3072" cy="453"/>
            </a:xfrm>
          </p:grpSpPr>
          <p:sp>
            <p:nvSpPr>
              <p:cNvPr id="57438" name="Rectangle 8"/>
              <p:cNvSpPr>
                <a:spLocks noChangeArrowheads="1"/>
              </p:cNvSpPr>
              <p:nvPr/>
            </p:nvSpPr>
            <p:spPr bwMode="auto">
              <a:xfrm>
                <a:off x="0" y="33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39" name="Rectangle 9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66	</a:t>
                </a:r>
                <a:r>
                  <a:rPr lang="en-US" sz="1200" b="1">
                    <a:latin typeface="Courier New" panose="02070309020205020404" pitchFamily="49" charset="0"/>
                  </a:rPr>
                  <a:t>Time &amp;Time::setMinute(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m 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4" name="Group 10"/>
            <p:cNvGrpSpPr>
              <a:grpSpLocks/>
            </p:cNvGrpSpPr>
            <p:nvPr/>
          </p:nvGrpSpPr>
          <p:grpSpPr bwMode="auto">
            <a:xfrm>
              <a:off x="0" y="708"/>
              <a:ext cx="3072" cy="453"/>
              <a:chOff x="0" y="708"/>
              <a:chExt cx="3072" cy="453"/>
            </a:xfrm>
          </p:grpSpPr>
          <p:sp>
            <p:nvSpPr>
              <p:cNvPr id="57436" name="Rectangle 11"/>
              <p:cNvSpPr>
                <a:spLocks noChangeArrowheads="1"/>
              </p:cNvSpPr>
              <p:nvPr/>
            </p:nvSpPr>
            <p:spPr bwMode="auto">
              <a:xfrm>
                <a:off x="0" y="70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37" name="Rectangle 12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67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5" name="Group 13"/>
            <p:cNvGrpSpPr>
              <a:grpSpLocks/>
            </p:cNvGrpSpPr>
            <p:nvPr/>
          </p:nvGrpSpPr>
          <p:grpSpPr bwMode="auto">
            <a:xfrm>
              <a:off x="0" y="1082"/>
              <a:ext cx="3072" cy="453"/>
              <a:chOff x="0" y="1082"/>
              <a:chExt cx="3072" cy="453"/>
            </a:xfrm>
          </p:grpSpPr>
          <p:sp>
            <p:nvSpPr>
              <p:cNvPr id="57434" name="Rectangle 14"/>
              <p:cNvSpPr>
                <a:spLocks noChangeArrowheads="1"/>
              </p:cNvSpPr>
              <p:nvPr/>
            </p:nvSpPr>
            <p:spPr bwMode="auto">
              <a:xfrm>
                <a:off x="0" y="108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35" name="Rectangle 15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68	</a:t>
                </a:r>
                <a:r>
                  <a:rPr lang="en-US" sz="1200" b="1">
                    <a:latin typeface="Courier New" panose="02070309020205020404" pitchFamily="49" charset="0"/>
                  </a:rPr>
                  <a:t>   minute = ( m &gt;= 0 &amp;&amp; m &lt; 60 ) ? m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6" name="Group 16"/>
            <p:cNvGrpSpPr>
              <a:grpSpLocks/>
            </p:cNvGrpSpPr>
            <p:nvPr/>
          </p:nvGrpSpPr>
          <p:grpSpPr bwMode="auto">
            <a:xfrm>
              <a:off x="0" y="1456"/>
              <a:ext cx="3072" cy="453"/>
              <a:chOff x="0" y="1456"/>
              <a:chExt cx="3072" cy="453"/>
            </a:xfrm>
          </p:grpSpPr>
          <p:sp>
            <p:nvSpPr>
              <p:cNvPr id="57432" name="Rectangle 17"/>
              <p:cNvSpPr>
                <a:spLocks noChangeArrowheads="1"/>
              </p:cNvSpPr>
              <p:nvPr/>
            </p:nvSpPr>
            <p:spPr bwMode="auto">
              <a:xfrm>
                <a:off x="0" y="145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33" name="Rectangle 18"/>
              <p:cNvSpPr>
                <a:spLocks noChangeArrowheads="1"/>
              </p:cNvSpPr>
              <p:nvPr/>
            </p:nvSpPr>
            <p:spPr bwMode="auto"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69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7" name="Group 19"/>
            <p:cNvGrpSpPr>
              <a:grpSpLocks/>
            </p:cNvGrpSpPr>
            <p:nvPr/>
          </p:nvGrpSpPr>
          <p:grpSpPr bwMode="auto">
            <a:xfrm>
              <a:off x="0" y="1830"/>
              <a:ext cx="3072" cy="453"/>
              <a:chOff x="0" y="1830"/>
              <a:chExt cx="3072" cy="453"/>
            </a:xfrm>
          </p:grpSpPr>
          <p:sp>
            <p:nvSpPr>
              <p:cNvPr id="57430" name="Rectangle 20"/>
              <p:cNvSpPr>
                <a:spLocks noChangeArrowheads="1"/>
              </p:cNvSpPr>
              <p:nvPr/>
            </p:nvSpPr>
            <p:spPr bwMode="auto">
              <a:xfrm>
                <a:off x="0" y="183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31" name="Rectangle 21"/>
              <p:cNvSpPr>
                <a:spLocks noChangeArrowheads="1"/>
              </p:cNvSpPr>
              <p:nvPr/>
            </p:nvSpPr>
            <p:spPr bwMode="auto"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70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*this; 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enables cascading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8" name="Group 22"/>
            <p:cNvGrpSpPr>
              <a:grpSpLocks/>
            </p:cNvGrpSpPr>
            <p:nvPr/>
          </p:nvGrpSpPr>
          <p:grpSpPr bwMode="auto">
            <a:xfrm>
              <a:off x="0" y="2204"/>
              <a:ext cx="3072" cy="453"/>
              <a:chOff x="0" y="2204"/>
              <a:chExt cx="3072" cy="453"/>
            </a:xfrm>
          </p:grpSpPr>
          <p:sp>
            <p:nvSpPr>
              <p:cNvPr id="57428" name="Rectangle 23"/>
              <p:cNvSpPr>
                <a:spLocks noChangeArrowheads="1"/>
              </p:cNvSpPr>
              <p:nvPr/>
            </p:nvSpPr>
            <p:spPr bwMode="auto">
              <a:xfrm>
                <a:off x="0" y="220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29" name="Rectangle 24"/>
              <p:cNvSpPr>
                <a:spLocks noChangeArrowheads="1"/>
              </p:cNvSpPr>
              <p:nvPr/>
            </p:nvSpPr>
            <p:spPr bwMode="auto"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71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59" name="Group 25"/>
            <p:cNvGrpSpPr>
              <a:grpSpLocks/>
            </p:cNvGrpSpPr>
            <p:nvPr/>
          </p:nvGrpSpPr>
          <p:grpSpPr bwMode="auto">
            <a:xfrm>
              <a:off x="0" y="2578"/>
              <a:ext cx="3072" cy="453"/>
              <a:chOff x="0" y="2578"/>
              <a:chExt cx="3072" cy="453"/>
            </a:xfrm>
          </p:grpSpPr>
          <p:sp>
            <p:nvSpPr>
              <p:cNvPr id="57426" name="Rectangle 26"/>
              <p:cNvSpPr>
                <a:spLocks noChangeArrowheads="1"/>
              </p:cNvSpPr>
              <p:nvPr/>
            </p:nvSpPr>
            <p:spPr bwMode="auto">
              <a:xfrm>
                <a:off x="0" y="257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27" name="Rectangle 27"/>
              <p:cNvSpPr>
                <a:spLocks noChangeArrowheads="1"/>
              </p:cNvSpPr>
              <p:nvPr/>
            </p:nvSpPr>
            <p:spPr bwMode="auto"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72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0" name="Group 28"/>
            <p:cNvGrpSpPr>
              <a:grpSpLocks/>
            </p:cNvGrpSpPr>
            <p:nvPr/>
          </p:nvGrpSpPr>
          <p:grpSpPr bwMode="auto">
            <a:xfrm>
              <a:off x="0" y="2952"/>
              <a:ext cx="3072" cy="453"/>
              <a:chOff x="0" y="2952"/>
              <a:chExt cx="3072" cy="453"/>
            </a:xfrm>
          </p:grpSpPr>
          <p:sp>
            <p:nvSpPr>
              <p:cNvPr id="57424" name="Rectangle 29"/>
              <p:cNvSpPr>
                <a:spLocks noChangeArrowheads="1"/>
              </p:cNvSpPr>
              <p:nvPr/>
            </p:nvSpPr>
            <p:spPr bwMode="auto">
              <a:xfrm>
                <a:off x="0" y="295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25" name="Rectangle 30"/>
              <p:cNvSpPr>
                <a:spLocks noChangeArrowheads="1"/>
              </p:cNvSpPr>
              <p:nvPr/>
            </p:nvSpPr>
            <p:spPr bwMode="auto"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73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Set the second value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1" name="Group 31"/>
            <p:cNvGrpSpPr>
              <a:grpSpLocks/>
            </p:cNvGrpSpPr>
            <p:nvPr/>
          </p:nvGrpSpPr>
          <p:grpSpPr bwMode="auto">
            <a:xfrm>
              <a:off x="0" y="3326"/>
              <a:ext cx="3072" cy="453"/>
              <a:chOff x="0" y="3326"/>
              <a:chExt cx="3072" cy="453"/>
            </a:xfrm>
          </p:grpSpPr>
          <p:sp>
            <p:nvSpPr>
              <p:cNvPr id="57422" name="Rectangle 32"/>
              <p:cNvSpPr>
                <a:spLocks noChangeArrowheads="1"/>
              </p:cNvSpPr>
              <p:nvPr/>
            </p:nvSpPr>
            <p:spPr bwMode="auto">
              <a:xfrm>
                <a:off x="0" y="332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23" name="Rectangle 33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74	</a:t>
                </a:r>
                <a:r>
                  <a:rPr lang="en-US" sz="1200" b="1">
                    <a:latin typeface="Courier New" panose="02070309020205020404" pitchFamily="49" charset="0"/>
                  </a:rPr>
                  <a:t>Time &amp;Time::setSecond(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s )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2" name="Group 34"/>
            <p:cNvGrpSpPr>
              <a:grpSpLocks/>
            </p:cNvGrpSpPr>
            <p:nvPr/>
          </p:nvGrpSpPr>
          <p:grpSpPr bwMode="auto">
            <a:xfrm>
              <a:off x="0" y="3700"/>
              <a:ext cx="3072" cy="453"/>
              <a:chOff x="0" y="3700"/>
              <a:chExt cx="3072" cy="453"/>
            </a:xfrm>
          </p:grpSpPr>
          <p:sp>
            <p:nvSpPr>
              <p:cNvPr id="57420" name="Rectangle 35"/>
              <p:cNvSpPr>
                <a:spLocks noChangeArrowheads="1"/>
              </p:cNvSpPr>
              <p:nvPr/>
            </p:nvSpPr>
            <p:spPr bwMode="auto">
              <a:xfrm>
                <a:off x="0" y="370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21" name="Rectangle 36"/>
              <p:cNvSpPr>
                <a:spLocks noChangeArrowheads="1"/>
              </p:cNvSpPr>
              <p:nvPr/>
            </p:nvSpPr>
            <p:spPr bwMode="auto"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75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3" name="Group 37"/>
            <p:cNvGrpSpPr>
              <a:grpSpLocks/>
            </p:cNvGrpSpPr>
            <p:nvPr/>
          </p:nvGrpSpPr>
          <p:grpSpPr bwMode="auto">
            <a:xfrm>
              <a:off x="0" y="4074"/>
              <a:ext cx="3072" cy="453"/>
              <a:chOff x="0" y="4074"/>
              <a:chExt cx="3072" cy="453"/>
            </a:xfrm>
          </p:grpSpPr>
          <p:sp>
            <p:nvSpPr>
              <p:cNvPr id="57418" name="Rectangle 38"/>
              <p:cNvSpPr>
                <a:spLocks noChangeArrowheads="1"/>
              </p:cNvSpPr>
              <p:nvPr/>
            </p:nvSpPr>
            <p:spPr bwMode="auto">
              <a:xfrm>
                <a:off x="0" y="407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19" name="Rectangle 39"/>
              <p:cNvSpPr>
                <a:spLocks noChangeArrowheads="1"/>
              </p:cNvSpPr>
              <p:nvPr/>
            </p:nvSpPr>
            <p:spPr bwMode="auto"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76	</a:t>
                </a:r>
                <a:r>
                  <a:rPr lang="en-US" sz="1200" b="1">
                    <a:latin typeface="Courier New" panose="02070309020205020404" pitchFamily="49" charset="0"/>
                  </a:rPr>
                  <a:t>   second = ( s &gt;= 0 &amp;&amp; s &lt; 60 ) ? s : 0;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4" name="Group 40"/>
            <p:cNvGrpSpPr>
              <a:grpSpLocks/>
            </p:cNvGrpSpPr>
            <p:nvPr/>
          </p:nvGrpSpPr>
          <p:grpSpPr bwMode="auto">
            <a:xfrm>
              <a:off x="0" y="4448"/>
              <a:ext cx="3072" cy="453"/>
              <a:chOff x="0" y="4448"/>
              <a:chExt cx="3072" cy="453"/>
            </a:xfrm>
          </p:grpSpPr>
          <p:sp>
            <p:nvSpPr>
              <p:cNvPr id="57416" name="Rectangle 41"/>
              <p:cNvSpPr>
                <a:spLocks noChangeArrowheads="1"/>
              </p:cNvSpPr>
              <p:nvPr/>
            </p:nvSpPr>
            <p:spPr bwMode="auto">
              <a:xfrm>
                <a:off x="0" y="444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17" name="Rectangle 42"/>
              <p:cNvSpPr>
                <a:spLocks noChangeArrowheads="1"/>
              </p:cNvSpPr>
              <p:nvPr/>
            </p:nvSpPr>
            <p:spPr bwMode="auto"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77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5" name="Group 43"/>
            <p:cNvGrpSpPr>
              <a:grpSpLocks/>
            </p:cNvGrpSpPr>
            <p:nvPr/>
          </p:nvGrpSpPr>
          <p:grpSpPr bwMode="auto">
            <a:xfrm>
              <a:off x="0" y="4822"/>
              <a:ext cx="3072" cy="453"/>
              <a:chOff x="0" y="4822"/>
              <a:chExt cx="3072" cy="453"/>
            </a:xfrm>
          </p:grpSpPr>
          <p:sp>
            <p:nvSpPr>
              <p:cNvPr id="57414" name="Rectangle 44"/>
              <p:cNvSpPr>
                <a:spLocks noChangeArrowheads="1"/>
              </p:cNvSpPr>
              <p:nvPr/>
            </p:nvSpPr>
            <p:spPr bwMode="auto">
              <a:xfrm>
                <a:off x="0" y="482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15" name="Rectangle 45"/>
              <p:cNvSpPr>
                <a:spLocks noChangeArrowheads="1"/>
              </p:cNvSpPr>
              <p:nvPr/>
            </p:nvSpPr>
            <p:spPr bwMode="auto"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78	</a:t>
                </a:r>
                <a:r>
                  <a:rPr lang="en-US" sz="1200" b="1">
                    <a:latin typeface="Courier New" panose="02070309020205020404" pitchFamily="49" charset="0"/>
                  </a:rPr>
                  <a:t>  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*this;  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 // enables cascading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6" name="Group 46"/>
            <p:cNvGrpSpPr>
              <a:grpSpLocks/>
            </p:cNvGrpSpPr>
            <p:nvPr/>
          </p:nvGrpSpPr>
          <p:grpSpPr bwMode="auto">
            <a:xfrm>
              <a:off x="0" y="5196"/>
              <a:ext cx="3072" cy="453"/>
              <a:chOff x="0" y="5196"/>
              <a:chExt cx="3072" cy="453"/>
            </a:xfrm>
          </p:grpSpPr>
          <p:sp>
            <p:nvSpPr>
              <p:cNvPr id="57412" name="Rectangle 47"/>
              <p:cNvSpPr>
                <a:spLocks noChangeArrowheads="1"/>
              </p:cNvSpPr>
              <p:nvPr/>
            </p:nvSpPr>
            <p:spPr bwMode="auto">
              <a:xfrm>
                <a:off x="0" y="519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13" name="Rectangle 48"/>
              <p:cNvSpPr>
                <a:spLocks noChangeArrowheads="1"/>
              </p:cNvSpPr>
              <p:nvPr/>
            </p:nvSpPr>
            <p:spPr bwMode="auto"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79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7" name="Group 49"/>
            <p:cNvGrpSpPr>
              <a:grpSpLocks/>
            </p:cNvGrpSpPr>
            <p:nvPr/>
          </p:nvGrpSpPr>
          <p:grpSpPr bwMode="auto">
            <a:xfrm>
              <a:off x="0" y="5570"/>
              <a:ext cx="3072" cy="453"/>
              <a:chOff x="0" y="5570"/>
              <a:chExt cx="3072" cy="453"/>
            </a:xfrm>
          </p:grpSpPr>
          <p:sp>
            <p:nvSpPr>
              <p:cNvPr id="57410" name="Rectangle 50"/>
              <p:cNvSpPr>
                <a:spLocks noChangeArrowheads="1"/>
              </p:cNvSpPr>
              <p:nvPr/>
            </p:nvSpPr>
            <p:spPr bwMode="auto">
              <a:xfrm>
                <a:off x="0" y="557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11" name="Rectangle 51"/>
              <p:cNvSpPr>
                <a:spLocks noChangeArrowheads="1"/>
              </p:cNvSpPr>
              <p:nvPr/>
            </p:nvSpPr>
            <p:spPr bwMode="auto"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80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8" name="Group 52"/>
            <p:cNvGrpSpPr>
              <a:grpSpLocks/>
            </p:cNvGrpSpPr>
            <p:nvPr/>
          </p:nvGrpSpPr>
          <p:grpSpPr bwMode="auto">
            <a:xfrm>
              <a:off x="0" y="5944"/>
              <a:ext cx="3072" cy="453"/>
              <a:chOff x="0" y="5944"/>
              <a:chExt cx="3072" cy="453"/>
            </a:xfrm>
          </p:grpSpPr>
          <p:sp>
            <p:nvSpPr>
              <p:cNvPr id="57408" name="Rectangle 53"/>
              <p:cNvSpPr>
                <a:spLocks noChangeArrowheads="1"/>
              </p:cNvSpPr>
              <p:nvPr/>
            </p:nvSpPr>
            <p:spPr bwMode="auto">
              <a:xfrm>
                <a:off x="0" y="594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09" name="Rectangle 54"/>
              <p:cNvSpPr>
                <a:spLocks noChangeArrowheads="1"/>
              </p:cNvSpPr>
              <p:nvPr/>
            </p:nvSpPr>
            <p:spPr bwMode="auto"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81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Get the hour value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69" name="Group 55"/>
            <p:cNvGrpSpPr>
              <a:grpSpLocks/>
            </p:cNvGrpSpPr>
            <p:nvPr/>
          </p:nvGrpSpPr>
          <p:grpSpPr bwMode="auto">
            <a:xfrm>
              <a:off x="0" y="6318"/>
              <a:ext cx="3072" cy="453"/>
              <a:chOff x="0" y="6318"/>
              <a:chExt cx="3072" cy="453"/>
            </a:xfrm>
          </p:grpSpPr>
          <p:sp>
            <p:nvSpPr>
              <p:cNvPr id="57406" name="Rectangle 56"/>
              <p:cNvSpPr>
                <a:spLocks noChangeArrowheads="1"/>
              </p:cNvSpPr>
              <p:nvPr/>
            </p:nvSpPr>
            <p:spPr bwMode="auto">
              <a:xfrm>
                <a:off x="0" y="631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07" name="Rectangle 57"/>
              <p:cNvSpPr>
                <a:spLocks noChangeArrowheads="1"/>
              </p:cNvSpPr>
              <p:nvPr/>
            </p:nvSpPr>
            <p:spPr bwMode="auto"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82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Time::getHour()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r>
                  <a:rPr lang="en-US" sz="1200" b="1">
                    <a:latin typeface="Courier New" panose="02070309020205020404" pitchFamily="49" charset="0"/>
                  </a:rPr>
                  <a:t> {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hour; 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0" name="Group 58"/>
            <p:cNvGrpSpPr>
              <a:grpSpLocks/>
            </p:cNvGrpSpPr>
            <p:nvPr/>
          </p:nvGrpSpPr>
          <p:grpSpPr bwMode="auto">
            <a:xfrm>
              <a:off x="0" y="6692"/>
              <a:ext cx="3072" cy="453"/>
              <a:chOff x="0" y="6692"/>
              <a:chExt cx="3072" cy="453"/>
            </a:xfrm>
          </p:grpSpPr>
          <p:sp>
            <p:nvSpPr>
              <p:cNvPr id="57404" name="Rectangle 59"/>
              <p:cNvSpPr>
                <a:spLocks noChangeArrowheads="1"/>
              </p:cNvSpPr>
              <p:nvPr/>
            </p:nvSpPr>
            <p:spPr bwMode="auto">
              <a:xfrm>
                <a:off x="0" y="669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05" name="Rectangle 60"/>
              <p:cNvSpPr>
                <a:spLocks noChangeArrowheads="1"/>
              </p:cNvSpPr>
              <p:nvPr/>
            </p:nvSpPr>
            <p:spPr bwMode="auto"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83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1" name="Group 61"/>
            <p:cNvGrpSpPr>
              <a:grpSpLocks/>
            </p:cNvGrpSpPr>
            <p:nvPr/>
          </p:nvGrpSpPr>
          <p:grpSpPr bwMode="auto">
            <a:xfrm>
              <a:off x="0" y="7066"/>
              <a:ext cx="3072" cy="453"/>
              <a:chOff x="0" y="7066"/>
              <a:chExt cx="3072" cy="453"/>
            </a:xfrm>
          </p:grpSpPr>
          <p:sp>
            <p:nvSpPr>
              <p:cNvPr id="57402" name="Rectangle 62"/>
              <p:cNvSpPr>
                <a:spLocks noChangeArrowheads="1"/>
              </p:cNvSpPr>
              <p:nvPr/>
            </p:nvSpPr>
            <p:spPr bwMode="auto">
              <a:xfrm>
                <a:off x="0" y="706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03" name="Rectangle 63"/>
              <p:cNvSpPr>
                <a:spLocks noChangeArrowheads="1"/>
              </p:cNvSpPr>
              <p:nvPr/>
            </p:nvSpPr>
            <p:spPr bwMode="auto"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84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Get the minute value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2" name="Group 64"/>
            <p:cNvGrpSpPr>
              <a:grpSpLocks/>
            </p:cNvGrpSpPr>
            <p:nvPr/>
          </p:nvGrpSpPr>
          <p:grpSpPr bwMode="auto">
            <a:xfrm>
              <a:off x="0" y="7440"/>
              <a:ext cx="3072" cy="453"/>
              <a:chOff x="0" y="7440"/>
              <a:chExt cx="3072" cy="453"/>
            </a:xfrm>
          </p:grpSpPr>
          <p:sp>
            <p:nvSpPr>
              <p:cNvPr id="57400" name="Rectangle 65"/>
              <p:cNvSpPr>
                <a:spLocks noChangeArrowheads="1"/>
              </p:cNvSpPr>
              <p:nvPr/>
            </p:nvSpPr>
            <p:spPr bwMode="auto">
              <a:xfrm>
                <a:off x="0" y="744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401" name="Rectangle 66"/>
              <p:cNvSpPr>
                <a:spLocks noChangeArrowheads="1"/>
              </p:cNvSpPr>
              <p:nvPr/>
            </p:nvSpPr>
            <p:spPr bwMode="auto"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85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Time::getMinute()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r>
                  <a:rPr lang="en-US" sz="1200" b="1">
                    <a:latin typeface="Courier New" panose="02070309020205020404" pitchFamily="49" charset="0"/>
                  </a:rPr>
                  <a:t> {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minute; 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3" name="Group 67"/>
            <p:cNvGrpSpPr>
              <a:grpSpLocks/>
            </p:cNvGrpSpPr>
            <p:nvPr/>
          </p:nvGrpSpPr>
          <p:grpSpPr bwMode="auto">
            <a:xfrm>
              <a:off x="0" y="7814"/>
              <a:ext cx="3072" cy="453"/>
              <a:chOff x="0" y="7814"/>
              <a:chExt cx="3072" cy="453"/>
            </a:xfrm>
          </p:grpSpPr>
          <p:sp>
            <p:nvSpPr>
              <p:cNvPr id="57398" name="Rectangle 68"/>
              <p:cNvSpPr>
                <a:spLocks noChangeArrowheads="1"/>
              </p:cNvSpPr>
              <p:nvPr/>
            </p:nvSpPr>
            <p:spPr bwMode="auto">
              <a:xfrm>
                <a:off x="0" y="781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99" name="Rectangle 69"/>
              <p:cNvSpPr>
                <a:spLocks noChangeArrowheads="1"/>
              </p:cNvSpPr>
              <p:nvPr/>
            </p:nvSpPr>
            <p:spPr bwMode="auto"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86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4" name="Group 70"/>
            <p:cNvGrpSpPr>
              <a:grpSpLocks/>
            </p:cNvGrpSpPr>
            <p:nvPr/>
          </p:nvGrpSpPr>
          <p:grpSpPr bwMode="auto">
            <a:xfrm>
              <a:off x="0" y="8188"/>
              <a:ext cx="3072" cy="453"/>
              <a:chOff x="0" y="8188"/>
              <a:chExt cx="3072" cy="453"/>
            </a:xfrm>
          </p:grpSpPr>
          <p:sp>
            <p:nvSpPr>
              <p:cNvPr id="57396" name="Rectangle 71"/>
              <p:cNvSpPr>
                <a:spLocks noChangeArrowheads="1"/>
              </p:cNvSpPr>
              <p:nvPr/>
            </p:nvSpPr>
            <p:spPr bwMode="auto">
              <a:xfrm>
                <a:off x="0" y="818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97" name="Rectangle 72"/>
              <p:cNvSpPr>
                <a:spLocks noChangeArrowheads="1"/>
              </p:cNvSpPr>
              <p:nvPr/>
            </p:nvSpPr>
            <p:spPr bwMode="auto"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87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Get the second value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5" name="Group 73"/>
            <p:cNvGrpSpPr>
              <a:grpSpLocks/>
            </p:cNvGrpSpPr>
            <p:nvPr/>
          </p:nvGrpSpPr>
          <p:grpSpPr bwMode="auto">
            <a:xfrm>
              <a:off x="0" y="8562"/>
              <a:ext cx="3072" cy="453"/>
              <a:chOff x="0" y="8562"/>
              <a:chExt cx="3072" cy="453"/>
            </a:xfrm>
          </p:grpSpPr>
          <p:sp>
            <p:nvSpPr>
              <p:cNvPr id="57394" name="Rectangle 74"/>
              <p:cNvSpPr>
                <a:spLocks noChangeArrowheads="1"/>
              </p:cNvSpPr>
              <p:nvPr/>
            </p:nvSpPr>
            <p:spPr bwMode="auto">
              <a:xfrm>
                <a:off x="0" y="856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95" name="Rectangle 75"/>
              <p:cNvSpPr>
                <a:spLocks noChangeArrowheads="1"/>
              </p:cNvSpPr>
              <p:nvPr/>
            </p:nvSpPr>
            <p:spPr bwMode="auto"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88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int</a:t>
                </a:r>
                <a:r>
                  <a:rPr lang="en-US" sz="1200" b="1">
                    <a:latin typeface="Courier New" panose="02070309020205020404" pitchFamily="49" charset="0"/>
                  </a:rPr>
                  <a:t> Time::getSecond()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r>
                  <a:rPr lang="en-US" sz="1200" b="1">
                    <a:latin typeface="Courier New" panose="02070309020205020404" pitchFamily="49" charset="0"/>
                  </a:rPr>
                  <a:t> {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200" b="1">
                    <a:latin typeface="Courier New" panose="02070309020205020404" pitchFamily="49" charset="0"/>
                  </a:rPr>
                  <a:t> second; 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6" name="Group 76"/>
            <p:cNvGrpSpPr>
              <a:grpSpLocks/>
            </p:cNvGrpSpPr>
            <p:nvPr/>
          </p:nvGrpSpPr>
          <p:grpSpPr bwMode="auto">
            <a:xfrm>
              <a:off x="0" y="8936"/>
              <a:ext cx="3072" cy="453"/>
              <a:chOff x="0" y="8936"/>
              <a:chExt cx="3072" cy="453"/>
            </a:xfrm>
          </p:grpSpPr>
          <p:sp>
            <p:nvSpPr>
              <p:cNvPr id="57392" name="Rectangle 77"/>
              <p:cNvSpPr>
                <a:spLocks noChangeArrowheads="1"/>
              </p:cNvSpPr>
              <p:nvPr/>
            </p:nvSpPr>
            <p:spPr bwMode="auto">
              <a:xfrm>
                <a:off x="0" y="893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93" name="Rectangle 78"/>
              <p:cNvSpPr>
                <a:spLocks noChangeArrowheads="1"/>
              </p:cNvSpPr>
              <p:nvPr/>
            </p:nvSpPr>
            <p:spPr bwMode="auto">
              <a:xfrm>
                <a:off x="0" y="897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89	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7" name="Group 79"/>
            <p:cNvGrpSpPr>
              <a:grpSpLocks/>
            </p:cNvGrpSpPr>
            <p:nvPr/>
          </p:nvGrpSpPr>
          <p:grpSpPr bwMode="auto">
            <a:xfrm>
              <a:off x="0" y="9310"/>
              <a:ext cx="3072" cy="453"/>
              <a:chOff x="0" y="9310"/>
              <a:chExt cx="3072" cy="453"/>
            </a:xfrm>
          </p:grpSpPr>
          <p:sp>
            <p:nvSpPr>
              <p:cNvPr id="57390" name="Rectangle 80"/>
              <p:cNvSpPr>
                <a:spLocks noChangeArrowheads="1"/>
              </p:cNvSpPr>
              <p:nvPr/>
            </p:nvSpPr>
            <p:spPr bwMode="auto">
              <a:xfrm>
                <a:off x="0" y="9310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91" name="Rectangle 81"/>
              <p:cNvSpPr>
                <a:spLocks noChangeArrowheads="1"/>
              </p:cNvSpPr>
              <p:nvPr/>
            </p:nvSpPr>
            <p:spPr bwMode="auto">
              <a:xfrm>
                <a:off x="0" y="935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90	</a:t>
                </a:r>
                <a:r>
                  <a:rPr lang="en-US" sz="1200" b="1">
                    <a:solidFill>
                      <a:srgbClr val="33CC33"/>
                    </a:solidFill>
                    <a:latin typeface="Courier New" panose="02070309020205020404" pitchFamily="49" charset="0"/>
                  </a:rPr>
                  <a:t>// Display military format time: HH:MM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8" name="Group 82"/>
            <p:cNvGrpSpPr>
              <a:grpSpLocks/>
            </p:cNvGrpSpPr>
            <p:nvPr/>
          </p:nvGrpSpPr>
          <p:grpSpPr bwMode="auto">
            <a:xfrm>
              <a:off x="0" y="9684"/>
              <a:ext cx="3072" cy="453"/>
              <a:chOff x="0" y="9684"/>
              <a:chExt cx="3072" cy="453"/>
            </a:xfrm>
          </p:grpSpPr>
          <p:sp>
            <p:nvSpPr>
              <p:cNvPr id="57388" name="Rectangle 83"/>
              <p:cNvSpPr>
                <a:spLocks noChangeArrowheads="1"/>
              </p:cNvSpPr>
              <p:nvPr/>
            </p:nvSpPr>
            <p:spPr bwMode="auto">
              <a:xfrm>
                <a:off x="0" y="9684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89" name="Rectangle 84"/>
              <p:cNvSpPr>
                <a:spLocks noChangeArrowheads="1"/>
              </p:cNvSpPr>
              <p:nvPr/>
            </p:nvSpPr>
            <p:spPr bwMode="auto">
              <a:xfrm>
                <a:off x="0" y="972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91	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void</a:t>
                </a:r>
                <a:r>
                  <a:rPr lang="en-US" sz="1200" b="1">
                    <a:latin typeface="Courier New" panose="02070309020205020404" pitchFamily="49" charset="0"/>
                  </a:rPr>
                  <a:t> Time::printMilitary() </a:t>
                </a:r>
                <a:r>
                  <a:rPr lang="en-US" sz="12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const</a:t>
                </a:r>
                <a:endParaRPr lang="en-US" sz="12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79" name="Group 85"/>
            <p:cNvGrpSpPr>
              <a:grpSpLocks/>
            </p:cNvGrpSpPr>
            <p:nvPr/>
          </p:nvGrpSpPr>
          <p:grpSpPr bwMode="auto">
            <a:xfrm>
              <a:off x="0" y="10058"/>
              <a:ext cx="3072" cy="453"/>
              <a:chOff x="0" y="10058"/>
              <a:chExt cx="3072" cy="453"/>
            </a:xfrm>
          </p:grpSpPr>
          <p:sp>
            <p:nvSpPr>
              <p:cNvPr id="57386" name="Rectangle 86"/>
              <p:cNvSpPr>
                <a:spLocks noChangeArrowheads="1"/>
              </p:cNvSpPr>
              <p:nvPr/>
            </p:nvSpPr>
            <p:spPr bwMode="auto">
              <a:xfrm>
                <a:off x="0" y="10058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87" name="Rectangle 87"/>
              <p:cNvSpPr>
                <a:spLocks noChangeArrowheads="1"/>
              </p:cNvSpPr>
              <p:nvPr/>
            </p:nvSpPr>
            <p:spPr bwMode="auto">
              <a:xfrm>
                <a:off x="0" y="1009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92	</a:t>
                </a:r>
                <a:r>
                  <a:rPr lang="en-US" sz="1200" b="1">
                    <a:latin typeface="Courier New" panose="02070309020205020404" pitchFamily="49" charset="0"/>
                  </a:rPr>
                  <a:t>{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80" name="Group 88"/>
            <p:cNvGrpSpPr>
              <a:grpSpLocks/>
            </p:cNvGrpSpPr>
            <p:nvPr/>
          </p:nvGrpSpPr>
          <p:grpSpPr bwMode="auto">
            <a:xfrm>
              <a:off x="0" y="10432"/>
              <a:ext cx="3072" cy="453"/>
              <a:chOff x="0" y="10432"/>
              <a:chExt cx="3072" cy="453"/>
            </a:xfrm>
          </p:grpSpPr>
          <p:sp>
            <p:nvSpPr>
              <p:cNvPr id="57384" name="Rectangle 89"/>
              <p:cNvSpPr>
                <a:spLocks noChangeArrowheads="1"/>
              </p:cNvSpPr>
              <p:nvPr/>
            </p:nvSpPr>
            <p:spPr bwMode="auto">
              <a:xfrm>
                <a:off x="0" y="10432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85" name="Rectangle 90"/>
              <p:cNvSpPr>
                <a:spLocks noChangeArrowheads="1"/>
              </p:cNvSpPr>
              <p:nvPr/>
            </p:nvSpPr>
            <p:spPr bwMode="auto">
              <a:xfrm>
                <a:off x="0" y="1047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93	</a:t>
                </a:r>
                <a:r>
                  <a:rPr lang="en-US" sz="1200" b="1">
                    <a:latin typeface="Courier New" panose="02070309020205020404" pitchFamily="49" charset="0"/>
                  </a:rPr>
                  <a:t>   cout &lt;&lt; ( hour &lt; 10 ? "0" : "" ) &lt;&lt; hour &lt;&lt; ":"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7381" name="Group 91"/>
            <p:cNvGrpSpPr>
              <a:grpSpLocks/>
            </p:cNvGrpSpPr>
            <p:nvPr/>
          </p:nvGrpSpPr>
          <p:grpSpPr bwMode="auto">
            <a:xfrm>
              <a:off x="0" y="10806"/>
              <a:ext cx="3072" cy="453"/>
              <a:chOff x="0" y="10806"/>
              <a:chExt cx="3072" cy="453"/>
            </a:xfrm>
          </p:grpSpPr>
          <p:sp>
            <p:nvSpPr>
              <p:cNvPr id="57382" name="Rectangle 92"/>
              <p:cNvSpPr>
                <a:spLocks noChangeArrowheads="1"/>
              </p:cNvSpPr>
              <p:nvPr/>
            </p:nvSpPr>
            <p:spPr bwMode="auto">
              <a:xfrm>
                <a:off x="0" y="10806"/>
                <a:ext cx="3072" cy="45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  <p:sp>
            <p:nvSpPr>
              <p:cNvPr id="57383" name="Rectangle 93"/>
              <p:cNvSpPr>
                <a:spLocks noChangeArrowheads="1"/>
              </p:cNvSpPr>
              <p:nvPr/>
            </p:nvSpPr>
            <p:spPr bwMode="auto">
              <a:xfrm>
                <a:off x="0" y="1084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94	</a:t>
                </a:r>
                <a:r>
                  <a:rPr lang="en-US" sz="1200" b="1">
                    <a:latin typeface="Courier New" panose="02070309020205020404" pitchFamily="49" charset="0"/>
                  </a:rPr>
                  <a:t>        &lt;&lt; ( minute &lt; 10 ? "0" : "" ) &lt;&lt; minute;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</p:grpSp>
      </p:grpSp>
      <p:grpSp>
        <p:nvGrpSpPr>
          <p:cNvPr id="57345" name="Group 102"/>
          <p:cNvGrpSpPr>
            <a:grpSpLocks/>
          </p:cNvGrpSpPr>
          <p:nvPr/>
        </p:nvGrpSpPr>
        <p:grpSpPr bwMode="auto">
          <a:xfrm>
            <a:off x="1828800" y="1395412"/>
            <a:ext cx="6248400" cy="1625600"/>
            <a:chOff x="1152" y="879"/>
            <a:chExt cx="3936" cy="1024"/>
          </a:xfrm>
        </p:grpSpPr>
        <p:grpSp>
          <p:nvGrpSpPr>
            <p:cNvPr id="57348" name="Group 98"/>
            <p:cNvGrpSpPr>
              <a:grpSpLocks/>
            </p:cNvGrpSpPr>
            <p:nvPr/>
          </p:nvGrpSpPr>
          <p:grpSpPr bwMode="auto">
            <a:xfrm>
              <a:off x="1152" y="1200"/>
              <a:ext cx="3936" cy="703"/>
              <a:chOff x="144" y="288"/>
              <a:chExt cx="3936" cy="703"/>
            </a:xfrm>
          </p:grpSpPr>
          <p:sp>
            <p:nvSpPr>
              <p:cNvPr id="57350" name="Line 99"/>
              <p:cNvSpPr>
                <a:spLocks noChangeShapeType="1"/>
              </p:cNvSpPr>
              <p:nvPr/>
            </p:nvSpPr>
            <p:spPr bwMode="auto">
              <a:xfrm flipH="1">
                <a:off x="144" y="480"/>
                <a:ext cx="2976" cy="5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351" name="Text Box 100"/>
              <p:cNvSpPr txBox="1">
                <a:spLocks noChangeArrowheads="1"/>
              </p:cNvSpPr>
              <p:nvPr/>
            </p:nvSpPr>
            <p:spPr bwMode="auto">
              <a:xfrm>
                <a:off x="2352" y="288"/>
                <a:ext cx="1728" cy="330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400" dirty="0"/>
                  <a:t>Returning </a:t>
                </a:r>
                <a:r>
                  <a:rPr lang="en-US" sz="1400" b="1" dirty="0">
                    <a:latin typeface="Courier New" panose="02070309020205020404" pitchFamily="49" charset="0"/>
                  </a:rPr>
                  <a:t>*this</a:t>
                </a:r>
                <a:r>
                  <a:rPr lang="en-US" sz="1400" dirty="0"/>
                  <a:t> enables cascading function calls</a:t>
                </a:r>
              </a:p>
            </p:txBody>
          </p:sp>
        </p:grpSp>
        <p:sp>
          <p:nvSpPr>
            <p:cNvPr id="57349" name="Line 101"/>
            <p:cNvSpPr>
              <a:spLocks noChangeShapeType="1"/>
            </p:cNvSpPr>
            <p:nvPr/>
          </p:nvSpPr>
          <p:spPr bwMode="auto">
            <a:xfrm flipH="1" flipV="1">
              <a:off x="1152" y="879"/>
              <a:ext cx="2208" cy="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732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4"/>
          <p:cNvGrpSpPr>
            <a:grpSpLocks/>
          </p:cNvGrpSpPr>
          <p:nvPr/>
        </p:nvGrpSpPr>
        <p:grpSpPr bwMode="auto">
          <a:xfrm>
            <a:off x="0" y="0"/>
            <a:ext cx="6781800" cy="212725"/>
            <a:chOff x="0" y="0"/>
            <a:chExt cx="3072" cy="374"/>
          </a:xfrm>
        </p:grpSpPr>
        <p:sp>
          <p:nvSpPr>
            <p:cNvPr id="58475" name="Rectangle 5"/>
            <p:cNvSpPr>
              <a:spLocks noChangeArrowheads="1"/>
            </p:cNvSpPr>
            <p:nvPr/>
          </p:nvSpPr>
          <p:spPr bwMode="auto">
            <a:xfrm>
              <a:off x="0" y="26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76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95	</a:t>
              </a:r>
              <a:r>
                <a:rPr lang="en-US" sz="1200" b="1">
                  <a:latin typeface="Courier New" panose="02070309020205020404" pitchFamily="49" charset="0"/>
                </a:rPr>
                <a:t>}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1" name="Group 7"/>
          <p:cNvGrpSpPr>
            <a:grpSpLocks/>
          </p:cNvGrpSpPr>
          <p:nvPr/>
        </p:nvGrpSpPr>
        <p:grpSpPr bwMode="auto">
          <a:xfrm>
            <a:off x="0" y="212725"/>
            <a:ext cx="6781800" cy="214313"/>
            <a:chOff x="0" y="374"/>
            <a:chExt cx="3072" cy="374"/>
          </a:xfrm>
        </p:grpSpPr>
        <p:sp>
          <p:nvSpPr>
            <p:cNvPr id="58473" name="Rectangle 8"/>
            <p:cNvSpPr>
              <a:spLocks noChangeArrowheads="1"/>
            </p:cNvSpPr>
            <p:nvPr/>
          </p:nvSpPr>
          <p:spPr bwMode="auto">
            <a:xfrm>
              <a:off x="0" y="400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74" name="Rectangle 9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96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2" name="Group 10"/>
          <p:cNvGrpSpPr>
            <a:grpSpLocks/>
          </p:cNvGrpSpPr>
          <p:nvPr/>
        </p:nvGrpSpPr>
        <p:grpSpPr bwMode="auto">
          <a:xfrm>
            <a:off x="0" y="427038"/>
            <a:ext cx="6781800" cy="212725"/>
            <a:chOff x="0" y="748"/>
            <a:chExt cx="3072" cy="374"/>
          </a:xfrm>
        </p:grpSpPr>
        <p:sp>
          <p:nvSpPr>
            <p:cNvPr id="58471" name="Rectangle 11"/>
            <p:cNvSpPr>
              <a:spLocks noChangeArrowheads="1"/>
            </p:cNvSpPr>
            <p:nvPr/>
          </p:nvSpPr>
          <p:spPr bwMode="auto">
            <a:xfrm>
              <a:off x="0" y="774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72" name="Rectangle 12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97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Display standard format time: HH:MM:SS AM (or PM)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3" name="Group 13"/>
          <p:cNvGrpSpPr>
            <a:grpSpLocks/>
          </p:cNvGrpSpPr>
          <p:nvPr/>
        </p:nvGrpSpPr>
        <p:grpSpPr bwMode="auto">
          <a:xfrm>
            <a:off x="0" y="639763"/>
            <a:ext cx="6781800" cy="214312"/>
            <a:chOff x="0" y="1122"/>
            <a:chExt cx="3072" cy="374"/>
          </a:xfrm>
        </p:grpSpPr>
        <p:sp>
          <p:nvSpPr>
            <p:cNvPr id="58469" name="Rectangle 14"/>
            <p:cNvSpPr>
              <a:spLocks noChangeArrowheads="1"/>
            </p:cNvSpPr>
            <p:nvPr/>
          </p:nvSpPr>
          <p:spPr bwMode="auto">
            <a:xfrm>
              <a:off x="0" y="1148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70" name="Rectangle 15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98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void</a:t>
              </a:r>
              <a:r>
                <a:rPr lang="en-US" sz="1200" b="1">
                  <a:latin typeface="Courier New" panose="02070309020205020404" pitchFamily="49" charset="0"/>
                </a:rPr>
                <a:t> Time::printStandard() 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const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4" name="Group 16"/>
          <p:cNvGrpSpPr>
            <a:grpSpLocks/>
          </p:cNvGrpSpPr>
          <p:nvPr/>
        </p:nvGrpSpPr>
        <p:grpSpPr bwMode="auto">
          <a:xfrm>
            <a:off x="0" y="854075"/>
            <a:ext cx="6781800" cy="212725"/>
            <a:chOff x="0" y="1496"/>
            <a:chExt cx="3072" cy="374"/>
          </a:xfrm>
        </p:grpSpPr>
        <p:sp>
          <p:nvSpPr>
            <p:cNvPr id="58467" name="Rectangle 17"/>
            <p:cNvSpPr>
              <a:spLocks noChangeArrowheads="1"/>
            </p:cNvSpPr>
            <p:nvPr/>
          </p:nvSpPr>
          <p:spPr bwMode="auto">
            <a:xfrm>
              <a:off x="0" y="1522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68" name="Rectangle 18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99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5" name="Group 19"/>
          <p:cNvGrpSpPr>
            <a:grpSpLocks/>
          </p:cNvGrpSpPr>
          <p:nvPr/>
        </p:nvGrpSpPr>
        <p:grpSpPr bwMode="auto">
          <a:xfrm>
            <a:off x="0" y="1066800"/>
            <a:ext cx="6781800" cy="212725"/>
            <a:chOff x="0" y="1870"/>
            <a:chExt cx="3072" cy="374"/>
          </a:xfrm>
        </p:grpSpPr>
        <p:sp>
          <p:nvSpPr>
            <p:cNvPr id="58465" name="Rectangle 20"/>
            <p:cNvSpPr>
              <a:spLocks noChangeArrowheads="1"/>
            </p:cNvSpPr>
            <p:nvPr/>
          </p:nvSpPr>
          <p:spPr bwMode="auto">
            <a:xfrm>
              <a:off x="0" y="1896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66" name="Rectangle 21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100	</a:t>
              </a:r>
              <a:r>
                <a:rPr lang="en-US" sz="1200" b="1">
                  <a:latin typeface="Courier New" panose="02070309020205020404" pitchFamily="49" charset="0"/>
                </a:rPr>
                <a:t>   cout &lt;&lt; ( ( hour == 0 || hour == 12 ) ? 12 : hour % 12 )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6" name="Group 22"/>
          <p:cNvGrpSpPr>
            <a:grpSpLocks/>
          </p:cNvGrpSpPr>
          <p:nvPr/>
        </p:nvGrpSpPr>
        <p:grpSpPr bwMode="auto">
          <a:xfrm>
            <a:off x="0" y="1279525"/>
            <a:ext cx="6781800" cy="214313"/>
            <a:chOff x="0" y="2244"/>
            <a:chExt cx="3072" cy="374"/>
          </a:xfrm>
        </p:grpSpPr>
        <p:sp>
          <p:nvSpPr>
            <p:cNvPr id="58463" name="Rectangle 23"/>
            <p:cNvSpPr>
              <a:spLocks noChangeArrowheads="1"/>
            </p:cNvSpPr>
            <p:nvPr/>
          </p:nvSpPr>
          <p:spPr bwMode="auto">
            <a:xfrm>
              <a:off x="0" y="2270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64" name="Rectangle 24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101	</a:t>
              </a:r>
              <a:r>
                <a:rPr lang="en-US" sz="1200" b="1">
                  <a:latin typeface="Courier New" panose="02070309020205020404" pitchFamily="49" charset="0"/>
                </a:rPr>
                <a:t>        &lt;&lt; ":" &lt;&lt; ( minute &lt; 10 ? "0" : "" ) &lt;&lt; minute 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7" name="Group 25"/>
          <p:cNvGrpSpPr>
            <a:grpSpLocks/>
          </p:cNvGrpSpPr>
          <p:nvPr/>
        </p:nvGrpSpPr>
        <p:grpSpPr bwMode="auto">
          <a:xfrm>
            <a:off x="0" y="1493838"/>
            <a:ext cx="6781800" cy="212725"/>
            <a:chOff x="0" y="2618"/>
            <a:chExt cx="3072" cy="374"/>
          </a:xfrm>
        </p:grpSpPr>
        <p:sp>
          <p:nvSpPr>
            <p:cNvPr id="58461" name="Rectangle 26"/>
            <p:cNvSpPr>
              <a:spLocks noChangeArrowheads="1"/>
            </p:cNvSpPr>
            <p:nvPr/>
          </p:nvSpPr>
          <p:spPr bwMode="auto">
            <a:xfrm>
              <a:off x="0" y="2644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62" name="Rectangle 27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102	</a:t>
              </a:r>
              <a:r>
                <a:rPr lang="en-US" sz="1200" b="1">
                  <a:latin typeface="Courier New" panose="02070309020205020404" pitchFamily="49" charset="0"/>
                </a:rPr>
                <a:t>        &lt;&lt; ":" &lt;&lt; ( second &lt; 10 ? "0" : "" ) &lt;&lt; second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8" name="Group 28"/>
          <p:cNvGrpSpPr>
            <a:grpSpLocks/>
          </p:cNvGrpSpPr>
          <p:nvPr/>
        </p:nvGrpSpPr>
        <p:grpSpPr bwMode="auto">
          <a:xfrm>
            <a:off x="0" y="1706563"/>
            <a:ext cx="6781800" cy="212725"/>
            <a:chOff x="0" y="2992"/>
            <a:chExt cx="3072" cy="374"/>
          </a:xfrm>
        </p:grpSpPr>
        <p:sp>
          <p:nvSpPr>
            <p:cNvPr id="58459" name="Rectangle 29"/>
            <p:cNvSpPr>
              <a:spLocks noChangeArrowheads="1"/>
            </p:cNvSpPr>
            <p:nvPr/>
          </p:nvSpPr>
          <p:spPr bwMode="auto">
            <a:xfrm>
              <a:off x="0" y="3018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60" name="Rectangle 30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103	</a:t>
              </a:r>
              <a:r>
                <a:rPr lang="en-US" sz="1200" b="1">
                  <a:latin typeface="Courier New" panose="02070309020205020404" pitchFamily="49" charset="0"/>
                </a:rPr>
                <a:t>        &lt;&lt; ( hour &lt; 12 ? " AM" : " PM"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79" name="Group 31"/>
          <p:cNvGrpSpPr>
            <a:grpSpLocks/>
          </p:cNvGrpSpPr>
          <p:nvPr/>
        </p:nvGrpSpPr>
        <p:grpSpPr bwMode="auto">
          <a:xfrm>
            <a:off x="0" y="1920875"/>
            <a:ext cx="6781800" cy="212725"/>
            <a:chOff x="0" y="3366"/>
            <a:chExt cx="3072" cy="374"/>
          </a:xfrm>
        </p:grpSpPr>
        <p:sp>
          <p:nvSpPr>
            <p:cNvPr id="58455" name="Rectangle 32"/>
            <p:cNvSpPr>
              <a:spLocks noChangeArrowheads="1"/>
            </p:cNvSpPr>
            <p:nvPr/>
          </p:nvSpPr>
          <p:spPr bwMode="auto">
            <a:xfrm>
              <a:off x="0" y="3392"/>
              <a:ext cx="3072" cy="32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grpSp>
          <p:nvGrpSpPr>
            <p:cNvPr id="58456" name="Group 33"/>
            <p:cNvGrpSpPr>
              <a:grpSpLocks/>
            </p:cNvGrpSpPr>
            <p:nvPr/>
          </p:nvGrpSpPr>
          <p:grpSpPr bwMode="auto">
            <a:xfrm>
              <a:off x="0" y="3366"/>
              <a:ext cx="3072" cy="374"/>
              <a:chOff x="0" y="3366"/>
              <a:chExt cx="3072" cy="374"/>
            </a:xfrm>
          </p:grpSpPr>
          <p:sp>
            <p:nvSpPr>
              <p:cNvPr id="58457" name="Rectangle 34"/>
              <p:cNvSpPr>
                <a:spLocks noChangeArrowheads="1"/>
              </p:cNvSpPr>
              <p:nvPr/>
            </p:nvSpPr>
            <p:spPr bwMode="auto"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 bIns="0"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2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104	</a:t>
                </a:r>
                <a:r>
                  <a:rPr lang="en-US" sz="12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2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458" name="Rectangle 35"/>
              <p:cNvSpPr>
                <a:spLocks noChangeArrowheads="1"/>
              </p:cNvSpPr>
              <p:nvPr/>
            </p:nvSpPr>
            <p:spPr bwMode="auto">
              <a:xfrm>
                <a:off x="0" y="3392"/>
                <a:ext cx="3072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7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200"/>
              </a:p>
            </p:txBody>
          </p:sp>
        </p:grpSp>
      </p:grpSp>
      <p:grpSp>
        <p:nvGrpSpPr>
          <p:cNvPr id="58380" name="Group 37"/>
          <p:cNvGrpSpPr>
            <a:grpSpLocks/>
          </p:cNvGrpSpPr>
          <p:nvPr/>
        </p:nvGrpSpPr>
        <p:grpSpPr bwMode="auto">
          <a:xfrm>
            <a:off x="0" y="2133600"/>
            <a:ext cx="6781800" cy="214313"/>
            <a:chOff x="0" y="0"/>
            <a:chExt cx="3072" cy="374"/>
          </a:xfrm>
        </p:grpSpPr>
        <p:sp>
          <p:nvSpPr>
            <p:cNvPr id="58453" name="Rectangle 38"/>
            <p:cNvSpPr>
              <a:spLocks noChangeArrowheads="1"/>
            </p:cNvSpPr>
            <p:nvPr/>
          </p:nvSpPr>
          <p:spPr bwMode="auto">
            <a:xfrm>
              <a:off x="0" y="26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54" name="Rectangle 39"/>
            <p:cNvSpPr>
              <a:spLocks noChangeArrowheads="1"/>
            </p:cNvSpPr>
            <p:nvPr/>
          </p:nvSpPr>
          <p:spPr bwMode="auto">
            <a:xfrm>
              <a:off x="0" y="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105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Fig. 7.8: fig07_08.cpp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1" name="Group 40"/>
          <p:cNvGrpSpPr>
            <a:grpSpLocks/>
          </p:cNvGrpSpPr>
          <p:nvPr/>
        </p:nvGrpSpPr>
        <p:grpSpPr bwMode="auto">
          <a:xfrm>
            <a:off x="0" y="2347913"/>
            <a:ext cx="6781800" cy="214312"/>
            <a:chOff x="0" y="374"/>
            <a:chExt cx="3072" cy="374"/>
          </a:xfrm>
        </p:grpSpPr>
        <p:sp>
          <p:nvSpPr>
            <p:cNvPr id="58451" name="Rectangle 41"/>
            <p:cNvSpPr>
              <a:spLocks noChangeArrowheads="1"/>
            </p:cNvSpPr>
            <p:nvPr/>
          </p:nvSpPr>
          <p:spPr bwMode="auto">
            <a:xfrm>
              <a:off x="0" y="400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52" name="Rectangle 42"/>
            <p:cNvSpPr>
              <a:spLocks noChangeArrowheads="1"/>
            </p:cNvSpPr>
            <p:nvPr/>
          </p:nvSpPr>
          <p:spPr bwMode="auto">
            <a:xfrm>
              <a:off x="0" y="37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106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Cascading member function calls together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2" name="Group 43"/>
          <p:cNvGrpSpPr>
            <a:grpSpLocks/>
          </p:cNvGrpSpPr>
          <p:nvPr/>
        </p:nvGrpSpPr>
        <p:grpSpPr bwMode="auto">
          <a:xfrm>
            <a:off x="0" y="2562225"/>
            <a:ext cx="6781800" cy="214313"/>
            <a:chOff x="0" y="748"/>
            <a:chExt cx="3072" cy="374"/>
          </a:xfrm>
        </p:grpSpPr>
        <p:sp>
          <p:nvSpPr>
            <p:cNvPr id="58449" name="Rectangle 44"/>
            <p:cNvSpPr>
              <a:spLocks noChangeArrowheads="1"/>
            </p:cNvSpPr>
            <p:nvPr/>
          </p:nvSpPr>
          <p:spPr bwMode="auto">
            <a:xfrm>
              <a:off x="0" y="774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50" name="Rectangle 45"/>
            <p:cNvSpPr>
              <a:spLocks noChangeArrowheads="1"/>
            </p:cNvSpPr>
            <p:nvPr/>
          </p:nvSpPr>
          <p:spPr bwMode="auto">
            <a:xfrm>
              <a:off x="0" y="74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107	</a:t>
              </a:r>
              <a:r>
                <a:rPr lang="en-US" sz="1200" b="1">
                  <a:solidFill>
                    <a:srgbClr val="33CC33"/>
                  </a:solidFill>
                  <a:latin typeface="Courier New" panose="02070309020205020404" pitchFamily="49" charset="0"/>
                </a:rPr>
                <a:t>// with the this pointer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3" name="Group 46"/>
          <p:cNvGrpSpPr>
            <a:grpSpLocks/>
          </p:cNvGrpSpPr>
          <p:nvPr/>
        </p:nvGrpSpPr>
        <p:grpSpPr bwMode="auto">
          <a:xfrm>
            <a:off x="0" y="2776538"/>
            <a:ext cx="6781800" cy="215900"/>
            <a:chOff x="0" y="1122"/>
            <a:chExt cx="3072" cy="374"/>
          </a:xfrm>
        </p:grpSpPr>
        <p:sp>
          <p:nvSpPr>
            <p:cNvPr id="58447" name="Rectangle 47"/>
            <p:cNvSpPr>
              <a:spLocks noChangeArrowheads="1"/>
            </p:cNvSpPr>
            <p:nvPr/>
          </p:nvSpPr>
          <p:spPr bwMode="auto">
            <a:xfrm>
              <a:off x="0" y="1148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48" name="Rectangle 48"/>
            <p:cNvSpPr>
              <a:spLocks noChangeArrowheads="1"/>
            </p:cNvSpPr>
            <p:nvPr/>
          </p:nvSpPr>
          <p:spPr bwMode="auto">
            <a:xfrm>
              <a:off x="0" y="112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108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>
                  <a:latin typeface="Courier New" panose="02070309020205020404" pitchFamily="49" charset="0"/>
                </a:rPr>
                <a:t> &lt;iostream&gt;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4" name="Group 49"/>
          <p:cNvGrpSpPr>
            <a:grpSpLocks/>
          </p:cNvGrpSpPr>
          <p:nvPr/>
        </p:nvGrpSpPr>
        <p:grpSpPr bwMode="auto">
          <a:xfrm>
            <a:off x="0" y="2992438"/>
            <a:ext cx="6781800" cy="214312"/>
            <a:chOff x="0" y="1496"/>
            <a:chExt cx="3072" cy="374"/>
          </a:xfrm>
        </p:grpSpPr>
        <p:sp>
          <p:nvSpPr>
            <p:cNvPr id="58445" name="Rectangle 50"/>
            <p:cNvSpPr>
              <a:spLocks noChangeArrowheads="1"/>
            </p:cNvSpPr>
            <p:nvPr/>
          </p:nvSpPr>
          <p:spPr bwMode="auto">
            <a:xfrm>
              <a:off x="0" y="1522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46" name="Rectangle 51"/>
            <p:cNvSpPr>
              <a:spLocks noChangeArrowheads="1"/>
            </p:cNvSpPr>
            <p:nvPr/>
          </p:nvSpPr>
          <p:spPr bwMode="auto">
            <a:xfrm>
              <a:off x="0" y="149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109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5" name="Group 52"/>
          <p:cNvGrpSpPr>
            <a:grpSpLocks/>
          </p:cNvGrpSpPr>
          <p:nvPr/>
        </p:nvGrpSpPr>
        <p:grpSpPr bwMode="auto">
          <a:xfrm>
            <a:off x="0" y="3206750"/>
            <a:ext cx="6781800" cy="214313"/>
            <a:chOff x="0" y="1870"/>
            <a:chExt cx="3072" cy="374"/>
          </a:xfrm>
        </p:grpSpPr>
        <p:sp>
          <p:nvSpPr>
            <p:cNvPr id="58443" name="Rectangle 53"/>
            <p:cNvSpPr>
              <a:spLocks noChangeArrowheads="1"/>
            </p:cNvSpPr>
            <p:nvPr/>
          </p:nvSpPr>
          <p:spPr bwMode="auto">
            <a:xfrm>
              <a:off x="0" y="1896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44" name="Rectangle 54"/>
            <p:cNvSpPr>
              <a:spLocks noChangeArrowheads="1"/>
            </p:cNvSpPr>
            <p:nvPr/>
          </p:nvSpPr>
          <p:spPr bwMode="auto">
            <a:xfrm>
              <a:off x="0" y="187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110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std::cout;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6" name="Group 55"/>
          <p:cNvGrpSpPr>
            <a:grpSpLocks/>
          </p:cNvGrpSpPr>
          <p:nvPr/>
        </p:nvGrpSpPr>
        <p:grpSpPr bwMode="auto">
          <a:xfrm>
            <a:off x="0" y="3421063"/>
            <a:ext cx="6781800" cy="215900"/>
            <a:chOff x="0" y="2244"/>
            <a:chExt cx="3072" cy="374"/>
          </a:xfrm>
        </p:grpSpPr>
        <p:sp>
          <p:nvSpPr>
            <p:cNvPr id="58441" name="Rectangle 56"/>
            <p:cNvSpPr>
              <a:spLocks noChangeArrowheads="1"/>
            </p:cNvSpPr>
            <p:nvPr/>
          </p:nvSpPr>
          <p:spPr bwMode="auto">
            <a:xfrm>
              <a:off x="0" y="2270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42" name="Rectangle 57"/>
            <p:cNvSpPr>
              <a:spLocks noChangeArrowheads="1"/>
            </p:cNvSpPr>
            <p:nvPr/>
          </p:nvSpPr>
          <p:spPr bwMode="auto">
            <a:xfrm>
              <a:off x="0" y="224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111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using</a:t>
              </a:r>
              <a:r>
                <a:rPr lang="en-US" sz="1200" b="1">
                  <a:latin typeface="Courier New" panose="02070309020205020404" pitchFamily="49" charset="0"/>
                </a:rPr>
                <a:t> std::endl;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7" name="Group 58"/>
          <p:cNvGrpSpPr>
            <a:grpSpLocks/>
          </p:cNvGrpSpPr>
          <p:nvPr/>
        </p:nvGrpSpPr>
        <p:grpSpPr bwMode="auto">
          <a:xfrm>
            <a:off x="0" y="3636963"/>
            <a:ext cx="6781800" cy="214312"/>
            <a:chOff x="0" y="2618"/>
            <a:chExt cx="3072" cy="374"/>
          </a:xfrm>
        </p:grpSpPr>
        <p:sp>
          <p:nvSpPr>
            <p:cNvPr id="58439" name="Rectangle 59"/>
            <p:cNvSpPr>
              <a:spLocks noChangeArrowheads="1"/>
            </p:cNvSpPr>
            <p:nvPr/>
          </p:nvSpPr>
          <p:spPr bwMode="auto">
            <a:xfrm>
              <a:off x="0" y="2644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40" name="Rectangle 60"/>
            <p:cNvSpPr>
              <a:spLocks noChangeArrowheads="1"/>
            </p:cNvSpPr>
            <p:nvPr/>
          </p:nvSpPr>
          <p:spPr bwMode="auto">
            <a:xfrm>
              <a:off x="0" y="261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112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8" name="Group 61"/>
          <p:cNvGrpSpPr>
            <a:grpSpLocks/>
          </p:cNvGrpSpPr>
          <p:nvPr/>
        </p:nvGrpSpPr>
        <p:grpSpPr bwMode="auto">
          <a:xfrm>
            <a:off x="0" y="3851275"/>
            <a:ext cx="6781800" cy="214313"/>
            <a:chOff x="0" y="2992"/>
            <a:chExt cx="3072" cy="374"/>
          </a:xfrm>
        </p:grpSpPr>
        <p:sp>
          <p:nvSpPr>
            <p:cNvPr id="58437" name="Rectangle 62"/>
            <p:cNvSpPr>
              <a:spLocks noChangeArrowheads="1"/>
            </p:cNvSpPr>
            <p:nvPr/>
          </p:nvSpPr>
          <p:spPr bwMode="auto">
            <a:xfrm>
              <a:off x="0" y="3018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38" name="Rectangle 63"/>
            <p:cNvSpPr>
              <a:spLocks noChangeArrowheads="1"/>
            </p:cNvSpPr>
            <p:nvPr/>
          </p:nvSpPr>
          <p:spPr bwMode="auto">
            <a:xfrm>
              <a:off x="0" y="299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113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#include</a:t>
              </a:r>
              <a:r>
                <a:rPr lang="en-US" sz="1200" b="1">
                  <a:latin typeface="Courier New" panose="02070309020205020404" pitchFamily="49" charset="0"/>
                </a:rPr>
                <a:t> "time6.h"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89" name="Group 64"/>
          <p:cNvGrpSpPr>
            <a:grpSpLocks/>
          </p:cNvGrpSpPr>
          <p:nvPr/>
        </p:nvGrpSpPr>
        <p:grpSpPr bwMode="auto">
          <a:xfrm>
            <a:off x="0" y="4065588"/>
            <a:ext cx="6781800" cy="215900"/>
            <a:chOff x="0" y="3366"/>
            <a:chExt cx="3072" cy="374"/>
          </a:xfrm>
        </p:grpSpPr>
        <p:sp>
          <p:nvSpPr>
            <p:cNvPr id="58435" name="Rectangle 65"/>
            <p:cNvSpPr>
              <a:spLocks noChangeArrowheads="1"/>
            </p:cNvSpPr>
            <p:nvPr/>
          </p:nvSpPr>
          <p:spPr bwMode="auto">
            <a:xfrm>
              <a:off x="0" y="3392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36" name="Rectangle 66"/>
            <p:cNvSpPr>
              <a:spLocks noChangeArrowheads="1"/>
            </p:cNvSpPr>
            <p:nvPr/>
          </p:nvSpPr>
          <p:spPr bwMode="auto">
            <a:xfrm>
              <a:off x="0" y="336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0" name="Group 67"/>
          <p:cNvGrpSpPr>
            <a:grpSpLocks/>
          </p:cNvGrpSpPr>
          <p:nvPr/>
        </p:nvGrpSpPr>
        <p:grpSpPr bwMode="auto">
          <a:xfrm>
            <a:off x="0" y="4281488"/>
            <a:ext cx="6781800" cy="214312"/>
            <a:chOff x="0" y="3740"/>
            <a:chExt cx="3072" cy="374"/>
          </a:xfrm>
        </p:grpSpPr>
        <p:sp>
          <p:nvSpPr>
            <p:cNvPr id="58433" name="Rectangle 68"/>
            <p:cNvSpPr>
              <a:spLocks noChangeArrowheads="1"/>
            </p:cNvSpPr>
            <p:nvPr/>
          </p:nvSpPr>
          <p:spPr bwMode="auto">
            <a:xfrm>
              <a:off x="0" y="3766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34" name="Rectangle 69"/>
            <p:cNvSpPr>
              <a:spLocks noChangeArrowheads="1"/>
            </p:cNvSpPr>
            <p:nvPr/>
          </p:nvSpPr>
          <p:spPr bwMode="auto">
            <a:xfrm>
              <a:off x="0" y="374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115	</a:t>
              </a:r>
              <a:r>
                <a:rPr lang="en-US" sz="1200" b="1">
                  <a:solidFill>
                    <a:srgbClr val="275AFF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sz="1200" b="1">
                  <a:latin typeface="Courier New" panose="02070309020205020404" pitchFamily="49" charset="0"/>
                </a:rPr>
                <a:t> main()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1" name="Group 70"/>
          <p:cNvGrpSpPr>
            <a:grpSpLocks/>
          </p:cNvGrpSpPr>
          <p:nvPr/>
        </p:nvGrpSpPr>
        <p:grpSpPr bwMode="auto">
          <a:xfrm>
            <a:off x="0" y="4495800"/>
            <a:ext cx="6781800" cy="214313"/>
            <a:chOff x="0" y="4114"/>
            <a:chExt cx="3072" cy="374"/>
          </a:xfrm>
        </p:grpSpPr>
        <p:sp>
          <p:nvSpPr>
            <p:cNvPr id="58431" name="Rectangle 71"/>
            <p:cNvSpPr>
              <a:spLocks noChangeArrowheads="1"/>
            </p:cNvSpPr>
            <p:nvPr/>
          </p:nvSpPr>
          <p:spPr bwMode="auto">
            <a:xfrm>
              <a:off x="0" y="4140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32" name="Rectangle 72"/>
            <p:cNvSpPr>
              <a:spLocks noChangeArrowheads="1"/>
            </p:cNvSpPr>
            <p:nvPr/>
          </p:nvSpPr>
          <p:spPr bwMode="auto">
            <a:xfrm>
              <a:off x="0" y="411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116	</a:t>
              </a:r>
              <a:r>
                <a:rPr lang="en-US" sz="1200" b="1">
                  <a:latin typeface="Courier New" panose="02070309020205020404" pitchFamily="49" charset="0"/>
                </a:rPr>
                <a:t>{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2" name="Group 73"/>
          <p:cNvGrpSpPr>
            <a:grpSpLocks/>
          </p:cNvGrpSpPr>
          <p:nvPr/>
        </p:nvGrpSpPr>
        <p:grpSpPr bwMode="auto">
          <a:xfrm>
            <a:off x="0" y="4710113"/>
            <a:ext cx="6781800" cy="215900"/>
            <a:chOff x="0" y="4488"/>
            <a:chExt cx="3072" cy="374"/>
          </a:xfrm>
        </p:grpSpPr>
        <p:sp>
          <p:nvSpPr>
            <p:cNvPr id="58429" name="Rectangle 74"/>
            <p:cNvSpPr>
              <a:spLocks noChangeArrowheads="1"/>
            </p:cNvSpPr>
            <p:nvPr/>
          </p:nvSpPr>
          <p:spPr bwMode="auto">
            <a:xfrm>
              <a:off x="0" y="4514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30" name="Rectangle 75"/>
            <p:cNvSpPr>
              <a:spLocks noChangeArrowheads="1"/>
            </p:cNvSpPr>
            <p:nvPr/>
          </p:nvSpPr>
          <p:spPr bwMode="auto">
            <a:xfrm>
              <a:off x="0" y="448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117	</a:t>
              </a:r>
              <a:r>
                <a:rPr lang="en-US" sz="1200" b="1">
                  <a:latin typeface="Courier New" panose="02070309020205020404" pitchFamily="49" charset="0"/>
                </a:rPr>
                <a:t>   Time t;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3" name="Group 76"/>
          <p:cNvGrpSpPr>
            <a:grpSpLocks/>
          </p:cNvGrpSpPr>
          <p:nvPr/>
        </p:nvGrpSpPr>
        <p:grpSpPr bwMode="auto">
          <a:xfrm>
            <a:off x="0" y="4926013"/>
            <a:ext cx="6781800" cy="214312"/>
            <a:chOff x="0" y="4862"/>
            <a:chExt cx="3072" cy="374"/>
          </a:xfrm>
        </p:grpSpPr>
        <p:sp>
          <p:nvSpPr>
            <p:cNvPr id="58427" name="Rectangle 77"/>
            <p:cNvSpPr>
              <a:spLocks noChangeArrowheads="1"/>
            </p:cNvSpPr>
            <p:nvPr/>
          </p:nvSpPr>
          <p:spPr bwMode="auto">
            <a:xfrm>
              <a:off x="0" y="4888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28" name="Rectangle 78"/>
            <p:cNvSpPr>
              <a:spLocks noChangeArrowheads="1"/>
            </p:cNvSpPr>
            <p:nvPr/>
          </p:nvSpPr>
          <p:spPr bwMode="auto">
            <a:xfrm>
              <a:off x="0" y="486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118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4" name="Group 79"/>
          <p:cNvGrpSpPr>
            <a:grpSpLocks/>
          </p:cNvGrpSpPr>
          <p:nvPr/>
        </p:nvGrpSpPr>
        <p:grpSpPr bwMode="auto">
          <a:xfrm>
            <a:off x="0" y="5140325"/>
            <a:ext cx="6781800" cy="214313"/>
            <a:chOff x="0" y="5236"/>
            <a:chExt cx="3072" cy="374"/>
          </a:xfrm>
        </p:grpSpPr>
        <p:sp>
          <p:nvSpPr>
            <p:cNvPr id="58425" name="Rectangle 80"/>
            <p:cNvSpPr>
              <a:spLocks noChangeArrowheads="1"/>
            </p:cNvSpPr>
            <p:nvPr/>
          </p:nvSpPr>
          <p:spPr bwMode="auto">
            <a:xfrm>
              <a:off x="0" y="5262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26" name="Rectangle 81"/>
            <p:cNvSpPr>
              <a:spLocks noChangeArrowheads="1"/>
            </p:cNvSpPr>
            <p:nvPr/>
          </p:nvSpPr>
          <p:spPr bwMode="auto">
            <a:xfrm>
              <a:off x="0" y="523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119	</a:t>
              </a:r>
              <a:r>
                <a:rPr lang="en-US" sz="1200" b="1">
                  <a:latin typeface="Courier New" panose="02070309020205020404" pitchFamily="49" charset="0"/>
                </a:rPr>
                <a:t>   t.setHour( 18 ).setMinute( 30 ).setSecond( 22 );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5" name="Group 82"/>
          <p:cNvGrpSpPr>
            <a:grpSpLocks/>
          </p:cNvGrpSpPr>
          <p:nvPr/>
        </p:nvGrpSpPr>
        <p:grpSpPr bwMode="auto">
          <a:xfrm>
            <a:off x="0" y="5354638"/>
            <a:ext cx="6781800" cy="215900"/>
            <a:chOff x="0" y="5610"/>
            <a:chExt cx="3072" cy="374"/>
          </a:xfrm>
        </p:grpSpPr>
        <p:sp>
          <p:nvSpPr>
            <p:cNvPr id="58423" name="Rectangle 83"/>
            <p:cNvSpPr>
              <a:spLocks noChangeArrowheads="1"/>
            </p:cNvSpPr>
            <p:nvPr/>
          </p:nvSpPr>
          <p:spPr bwMode="auto">
            <a:xfrm>
              <a:off x="0" y="5636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24" name="Rectangle 84"/>
            <p:cNvSpPr>
              <a:spLocks noChangeArrowheads="1"/>
            </p:cNvSpPr>
            <p:nvPr/>
          </p:nvSpPr>
          <p:spPr bwMode="auto">
            <a:xfrm>
              <a:off x="0" y="561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120	</a:t>
              </a:r>
              <a:r>
                <a:rPr lang="en-US" sz="1200" b="1">
                  <a:latin typeface="Courier New" panose="02070309020205020404" pitchFamily="49" charset="0"/>
                </a:rPr>
                <a:t>   cout &lt;&lt; "Military time: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6" name="Group 85"/>
          <p:cNvGrpSpPr>
            <a:grpSpLocks/>
          </p:cNvGrpSpPr>
          <p:nvPr/>
        </p:nvGrpSpPr>
        <p:grpSpPr bwMode="auto">
          <a:xfrm>
            <a:off x="0" y="5570538"/>
            <a:ext cx="6781800" cy="214312"/>
            <a:chOff x="0" y="5984"/>
            <a:chExt cx="3072" cy="374"/>
          </a:xfrm>
        </p:grpSpPr>
        <p:sp>
          <p:nvSpPr>
            <p:cNvPr id="58421" name="Rectangle 86"/>
            <p:cNvSpPr>
              <a:spLocks noChangeArrowheads="1"/>
            </p:cNvSpPr>
            <p:nvPr/>
          </p:nvSpPr>
          <p:spPr bwMode="auto">
            <a:xfrm>
              <a:off x="0" y="6010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22" name="Rectangle 87"/>
            <p:cNvSpPr>
              <a:spLocks noChangeArrowheads="1"/>
            </p:cNvSpPr>
            <p:nvPr/>
          </p:nvSpPr>
          <p:spPr bwMode="auto">
            <a:xfrm>
              <a:off x="0" y="598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121	</a:t>
              </a:r>
              <a:r>
                <a:rPr lang="en-US" sz="1200" b="1">
                  <a:latin typeface="Courier New" panose="02070309020205020404" pitchFamily="49" charset="0"/>
                </a:rPr>
                <a:t>   t.printMilitary();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7" name="Group 88"/>
          <p:cNvGrpSpPr>
            <a:grpSpLocks/>
          </p:cNvGrpSpPr>
          <p:nvPr/>
        </p:nvGrpSpPr>
        <p:grpSpPr bwMode="auto">
          <a:xfrm>
            <a:off x="0" y="5784850"/>
            <a:ext cx="6781800" cy="214313"/>
            <a:chOff x="0" y="6358"/>
            <a:chExt cx="3072" cy="374"/>
          </a:xfrm>
        </p:grpSpPr>
        <p:sp>
          <p:nvSpPr>
            <p:cNvPr id="58419" name="Rectangle 89"/>
            <p:cNvSpPr>
              <a:spLocks noChangeArrowheads="1"/>
            </p:cNvSpPr>
            <p:nvPr/>
          </p:nvSpPr>
          <p:spPr bwMode="auto">
            <a:xfrm>
              <a:off x="0" y="6384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20" name="Rectangle 90"/>
            <p:cNvSpPr>
              <a:spLocks noChangeArrowheads="1"/>
            </p:cNvSpPr>
            <p:nvPr/>
          </p:nvSpPr>
          <p:spPr bwMode="auto">
            <a:xfrm>
              <a:off x="0" y="6358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122	</a:t>
              </a:r>
              <a:r>
                <a:rPr lang="en-US" sz="1200" b="1">
                  <a:latin typeface="Courier New" panose="02070309020205020404" pitchFamily="49" charset="0"/>
                </a:rPr>
                <a:t>   cout &lt;&lt; "\nStandard time: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8" name="Group 91"/>
          <p:cNvGrpSpPr>
            <a:grpSpLocks/>
          </p:cNvGrpSpPr>
          <p:nvPr/>
        </p:nvGrpSpPr>
        <p:grpSpPr bwMode="auto">
          <a:xfrm>
            <a:off x="0" y="5999163"/>
            <a:ext cx="6781800" cy="215900"/>
            <a:chOff x="0" y="6732"/>
            <a:chExt cx="3072" cy="374"/>
          </a:xfrm>
        </p:grpSpPr>
        <p:sp>
          <p:nvSpPr>
            <p:cNvPr id="58417" name="Rectangle 92"/>
            <p:cNvSpPr>
              <a:spLocks noChangeArrowheads="1"/>
            </p:cNvSpPr>
            <p:nvPr/>
          </p:nvSpPr>
          <p:spPr bwMode="auto">
            <a:xfrm>
              <a:off x="0" y="6758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18" name="Rectangle 93"/>
            <p:cNvSpPr>
              <a:spLocks noChangeArrowheads="1"/>
            </p:cNvSpPr>
            <p:nvPr/>
          </p:nvSpPr>
          <p:spPr bwMode="auto">
            <a:xfrm>
              <a:off x="0" y="6732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123	</a:t>
              </a:r>
              <a:r>
                <a:rPr lang="en-US" sz="1200" b="1">
                  <a:latin typeface="Courier New" panose="02070309020205020404" pitchFamily="49" charset="0"/>
                </a:rPr>
                <a:t>   t.printStandard();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399" name="Group 94"/>
          <p:cNvGrpSpPr>
            <a:grpSpLocks/>
          </p:cNvGrpSpPr>
          <p:nvPr/>
        </p:nvGrpSpPr>
        <p:grpSpPr bwMode="auto">
          <a:xfrm>
            <a:off x="0" y="6215063"/>
            <a:ext cx="6781800" cy="214312"/>
            <a:chOff x="0" y="7106"/>
            <a:chExt cx="3072" cy="374"/>
          </a:xfrm>
        </p:grpSpPr>
        <p:sp>
          <p:nvSpPr>
            <p:cNvPr id="58415" name="Rectangle 95"/>
            <p:cNvSpPr>
              <a:spLocks noChangeArrowheads="1"/>
            </p:cNvSpPr>
            <p:nvPr/>
          </p:nvSpPr>
          <p:spPr bwMode="auto">
            <a:xfrm>
              <a:off x="0" y="7132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16" name="Rectangle 96"/>
            <p:cNvSpPr>
              <a:spLocks noChangeArrowheads="1"/>
            </p:cNvSpPr>
            <p:nvPr/>
          </p:nvSpPr>
          <p:spPr bwMode="auto">
            <a:xfrm>
              <a:off x="0" y="7106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124	</a:t>
              </a:r>
              <a:endParaRPr lang="en-US" sz="1200" b="1">
                <a:latin typeface="Courier New" panose="02070309020205020404" pitchFamily="49" charset="0"/>
              </a:endParaRP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400" name="Group 97"/>
          <p:cNvGrpSpPr>
            <a:grpSpLocks/>
          </p:cNvGrpSpPr>
          <p:nvPr/>
        </p:nvGrpSpPr>
        <p:grpSpPr bwMode="auto">
          <a:xfrm>
            <a:off x="0" y="6429375"/>
            <a:ext cx="6781800" cy="214313"/>
            <a:chOff x="0" y="7480"/>
            <a:chExt cx="3072" cy="374"/>
          </a:xfrm>
        </p:grpSpPr>
        <p:sp>
          <p:nvSpPr>
            <p:cNvPr id="58413" name="Rectangle 98"/>
            <p:cNvSpPr>
              <a:spLocks noChangeArrowheads="1"/>
            </p:cNvSpPr>
            <p:nvPr/>
          </p:nvSpPr>
          <p:spPr bwMode="auto">
            <a:xfrm>
              <a:off x="0" y="7506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14" name="Rectangle 99"/>
            <p:cNvSpPr>
              <a:spLocks noChangeArrowheads="1"/>
            </p:cNvSpPr>
            <p:nvPr/>
          </p:nvSpPr>
          <p:spPr bwMode="auto">
            <a:xfrm>
              <a:off x="0" y="7480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125	</a:t>
              </a:r>
              <a:r>
                <a:rPr lang="en-US" sz="1200" b="1">
                  <a:latin typeface="Courier New" panose="02070309020205020404" pitchFamily="49" charset="0"/>
                </a:rPr>
                <a:t>   cout &lt;&lt; "\n\nNew standard time: ";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401" name="Group 100"/>
          <p:cNvGrpSpPr>
            <a:grpSpLocks/>
          </p:cNvGrpSpPr>
          <p:nvPr/>
        </p:nvGrpSpPr>
        <p:grpSpPr bwMode="auto">
          <a:xfrm>
            <a:off x="0" y="6643688"/>
            <a:ext cx="6781800" cy="214312"/>
            <a:chOff x="0" y="7854"/>
            <a:chExt cx="3072" cy="374"/>
          </a:xfrm>
        </p:grpSpPr>
        <p:sp>
          <p:nvSpPr>
            <p:cNvPr id="58411" name="Rectangle 101"/>
            <p:cNvSpPr>
              <a:spLocks noChangeArrowheads="1"/>
            </p:cNvSpPr>
            <p:nvPr/>
          </p:nvSpPr>
          <p:spPr bwMode="auto">
            <a:xfrm>
              <a:off x="0" y="7880"/>
              <a:ext cx="3072" cy="32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fr-FR" sz="1200"/>
            </a:p>
          </p:txBody>
        </p:sp>
        <p:sp>
          <p:nvSpPr>
            <p:cNvPr id="58412" name="Rectangle 102"/>
            <p:cNvSpPr>
              <a:spLocks noChangeArrowheads="1"/>
            </p:cNvSpPr>
            <p:nvPr/>
          </p:nvSpPr>
          <p:spPr bwMode="auto">
            <a:xfrm>
              <a:off x="0" y="7854"/>
              <a:ext cx="3072" cy="374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9700" algn="r"/>
                  <a:tab pos="2921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4D8DFF"/>
                  </a:solidFill>
                  <a:latin typeface="Courier New" panose="02070309020205020404" pitchFamily="49" charset="0"/>
                </a:rPr>
                <a:t>	126	</a:t>
              </a:r>
              <a:r>
                <a:rPr lang="en-US" sz="1200" b="1">
                  <a:latin typeface="Courier New" panose="02070309020205020404" pitchFamily="49" charset="0"/>
                </a:rPr>
                <a:t>   t.setTime( 20, 20, 20 ).printStandard();</a:t>
              </a:r>
            </a:p>
            <a:p>
              <a:pPr eaLnBrk="1" hangingPunct="1"/>
              <a:endParaRPr lang="en-US" sz="12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58480" name="Group 111"/>
          <p:cNvGrpSpPr>
            <a:grpSpLocks/>
          </p:cNvGrpSpPr>
          <p:nvPr/>
        </p:nvGrpSpPr>
        <p:grpSpPr bwMode="auto">
          <a:xfrm>
            <a:off x="2895600" y="2723032"/>
            <a:ext cx="5638800" cy="2420938"/>
            <a:chOff x="1776" y="2304"/>
            <a:chExt cx="3552" cy="1525"/>
          </a:xfrm>
        </p:grpSpPr>
        <p:sp>
          <p:nvSpPr>
            <p:cNvPr id="58409" name="Text Box 103"/>
            <p:cNvSpPr txBox="1">
              <a:spLocks noChangeArrowheads="1"/>
            </p:cNvSpPr>
            <p:nvPr/>
          </p:nvSpPr>
          <p:spPr bwMode="auto">
            <a:xfrm>
              <a:off x="3168" y="2304"/>
              <a:ext cx="2160" cy="155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600"/>
                <a:t>Notice cascading function calls.</a:t>
              </a:r>
              <a:endParaRPr lang="en-US" sz="1600" b="1"/>
            </a:p>
          </p:txBody>
        </p:sp>
        <p:sp>
          <p:nvSpPr>
            <p:cNvPr id="58410" name="Line 104"/>
            <p:cNvSpPr>
              <a:spLocks noChangeShapeType="1"/>
            </p:cNvSpPr>
            <p:nvPr/>
          </p:nvSpPr>
          <p:spPr bwMode="auto">
            <a:xfrm flipH="1">
              <a:off x="1776" y="2406"/>
              <a:ext cx="1392" cy="1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8481" name="Group 110"/>
          <p:cNvGrpSpPr>
            <a:grpSpLocks/>
          </p:cNvGrpSpPr>
          <p:nvPr/>
        </p:nvGrpSpPr>
        <p:grpSpPr bwMode="auto">
          <a:xfrm>
            <a:off x="3886200" y="5336367"/>
            <a:ext cx="5219700" cy="1331912"/>
            <a:chOff x="2328" y="2785"/>
            <a:chExt cx="3288" cy="839"/>
          </a:xfrm>
        </p:grpSpPr>
        <p:sp>
          <p:nvSpPr>
            <p:cNvPr id="58407" name="Text Box 107"/>
            <p:cNvSpPr txBox="1">
              <a:spLocks noChangeArrowheads="1"/>
            </p:cNvSpPr>
            <p:nvPr/>
          </p:nvSpPr>
          <p:spPr bwMode="auto">
            <a:xfrm>
              <a:off x="2544" y="2785"/>
              <a:ext cx="3072" cy="67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dirty="0"/>
                <a:t>Cascading function calls. </a:t>
              </a:r>
              <a:r>
                <a:rPr lang="en-US" sz="1400" b="1" dirty="0" err="1">
                  <a:latin typeface="Courier New" panose="02070309020205020404" pitchFamily="49" charset="0"/>
                </a:rPr>
                <a:t>printStandard</a:t>
              </a:r>
              <a:r>
                <a:rPr lang="en-US" sz="1400" dirty="0"/>
                <a:t> must be called after </a:t>
              </a:r>
              <a:r>
                <a:rPr lang="en-US" sz="1400" b="1" dirty="0" err="1">
                  <a:latin typeface="Courier New" panose="02070309020205020404" pitchFamily="49" charset="0"/>
                </a:rPr>
                <a:t>setTime</a:t>
              </a:r>
              <a:r>
                <a:rPr lang="en-US" sz="1400" dirty="0"/>
                <a:t> because </a:t>
              </a:r>
              <a:r>
                <a:rPr lang="en-US" sz="1400" b="1" dirty="0" err="1">
                  <a:latin typeface="Courier New" panose="02070309020205020404" pitchFamily="49" charset="0"/>
                </a:rPr>
                <a:t>printStandard</a:t>
              </a:r>
              <a:r>
                <a:rPr lang="en-US" sz="1400" dirty="0"/>
                <a:t> does not return a reference to an object.</a:t>
              </a:r>
            </a:p>
            <a:p>
              <a:pPr eaLnBrk="1" hangingPunct="1"/>
              <a:r>
                <a:rPr lang="en-US" sz="1400" b="1" dirty="0" err="1">
                  <a:latin typeface="Courier New" panose="02070309020205020404" pitchFamily="49" charset="0"/>
                </a:rPr>
                <a:t>t.printStandard</a:t>
              </a:r>
              <a:r>
                <a:rPr lang="en-US" sz="1400" b="1" dirty="0">
                  <a:latin typeface="Courier New" panose="02070309020205020404" pitchFamily="49" charset="0"/>
                </a:rPr>
                <a:t>().</a:t>
              </a:r>
              <a:r>
                <a:rPr lang="en-US" sz="1400" b="1" dirty="0" err="1">
                  <a:latin typeface="Courier New" panose="02070309020205020404" pitchFamily="49" charset="0"/>
                </a:rPr>
                <a:t>setTime</a:t>
              </a:r>
              <a:r>
                <a:rPr lang="en-US" sz="1400" b="1" dirty="0">
                  <a:latin typeface="Courier New" panose="02070309020205020404" pitchFamily="49" charset="0"/>
                </a:rPr>
                <a:t>();</a:t>
              </a:r>
              <a:r>
                <a:rPr lang="en-US" sz="1400" dirty="0">
                  <a:latin typeface="Courier New" panose="02070309020205020404" pitchFamily="49" charset="0"/>
                </a:rPr>
                <a:t> </a:t>
              </a:r>
              <a:r>
                <a:rPr lang="en-US" sz="1400" dirty="0"/>
                <a:t>would cause an error.</a:t>
              </a:r>
            </a:p>
          </p:txBody>
        </p:sp>
        <p:sp>
          <p:nvSpPr>
            <p:cNvPr id="58408" name="Line 108"/>
            <p:cNvSpPr>
              <a:spLocks noChangeShapeType="1"/>
            </p:cNvSpPr>
            <p:nvPr/>
          </p:nvSpPr>
          <p:spPr bwMode="auto">
            <a:xfrm flipH="1">
              <a:off x="2328" y="3461"/>
              <a:ext cx="1680" cy="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8482" name="Group 114"/>
          <p:cNvGrpSpPr>
            <a:grpSpLocks/>
          </p:cNvGrpSpPr>
          <p:nvPr/>
        </p:nvGrpSpPr>
        <p:grpSpPr bwMode="auto">
          <a:xfrm>
            <a:off x="3428652" y="427037"/>
            <a:ext cx="5392607" cy="646113"/>
            <a:chOff x="1856" y="269"/>
            <a:chExt cx="2725" cy="407"/>
          </a:xfrm>
        </p:grpSpPr>
        <p:sp>
          <p:nvSpPr>
            <p:cNvPr id="58405" name="Text Box 112"/>
            <p:cNvSpPr txBox="1">
              <a:spLocks noChangeArrowheads="1"/>
            </p:cNvSpPr>
            <p:nvPr/>
          </p:nvSpPr>
          <p:spPr bwMode="auto">
            <a:xfrm>
              <a:off x="3189" y="269"/>
              <a:ext cx="1392" cy="40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400" b="1" dirty="0" err="1">
                  <a:latin typeface="Courier New" panose="02070309020205020404" pitchFamily="49" charset="0"/>
                </a:rPr>
                <a:t>printStandard</a:t>
              </a:r>
              <a:r>
                <a:rPr lang="en-US" sz="1400" b="1" dirty="0"/>
                <a:t> </a:t>
              </a:r>
              <a:r>
                <a:rPr lang="en-US" sz="1400" dirty="0"/>
                <a:t>does not return a reference to an object.</a:t>
              </a:r>
              <a:endParaRPr lang="en-US" sz="1400" b="1" dirty="0"/>
            </a:p>
          </p:txBody>
        </p:sp>
        <p:sp>
          <p:nvSpPr>
            <p:cNvPr id="58406" name="Line 113"/>
            <p:cNvSpPr>
              <a:spLocks noChangeShapeType="1"/>
            </p:cNvSpPr>
            <p:nvPr/>
          </p:nvSpPr>
          <p:spPr bwMode="auto">
            <a:xfrm flipH="1">
              <a:off x="1856" y="412"/>
              <a:ext cx="1333" cy="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tIns="0" bIns="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156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4" name="Group 3"/>
          <p:cNvGrpSpPr>
            <a:grpSpLocks/>
          </p:cNvGrpSpPr>
          <p:nvPr/>
        </p:nvGrpSpPr>
        <p:grpSpPr bwMode="auto">
          <a:xfrm>
            <a:off x="152400" y="228600"/>
            <a:ext cx="6705600" cy="1524000"/>
            <a:chOff x="0" y="0"/>
            <a:chExt cx="3072" cy="1496"/>
          </a:xfrm>
        </p:grpSpPr>
        <p:grpSp>
          <p:nvGrpSpPr>
            <p:cNvPr id="59396" name="Group 4"/>
            <p:cNvGrpSpPr>
              <a:grpSpLocks/>
            </p:cNvGrpSpPr>
            <p:nvPr/>
          </p:nvGrpSpPr>
          <p:grpSpPr bwMode="auto">
            <a:xfrm>
              <a:off x="0" y="0"/>
              <a:ext cx="3072" cy="374"/>
              <a:chOff x="0" y="0"/>
              <a:chExt cx="3072" cy="374"/>
            </a:xfrm>
          </p:grpSpPr>
          <p:sp>
            <p:nvSpPr>
              <p:cNvPr id="59406" name="Rectangle 5"/>
              <p:cNvSpPr>
                <a:spLocks noChangeArrowheads="1"/>
              </p:cNvSpPr>
              <p:nvPr/>
            </p:nvSpPr>
            <p:spPr bwMode="auto">
              <a:xfrm>
                <a:off x="0" y="36"/>
                <a:ext cx="3072" cy="30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400"/>
              </a:p>
            </p:txBody>
          </p:sp>
          <p:sp>
            <p:nvSpPr>
              <p:cNvPr id="59407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4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127	</a:t>
                </a:r>
                <a:r>
                  <a:rPr lang="en-US" sz="1400" b="1">
                    <a:latin typeface="Courier New" panose="02070309020205020404" pitchFamily="49" charset="0"/>
                  </a:rPr>
                  <a:t>   cout &lt;&lt; endl;</a:t>
                </a:r>
              </a:p>
              <a:p>
                <a:pPr eaLnBrk="1" hangingPunct="1"/>
                <a:endParaRPr lang="en-US" sz="14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9397" name="Group 7"/>
            <p:cNvGrpSpPr>
              <a:grpSpLocks/>
            </p:cNvGrpSpPr>
            <p:nvPr/>
          </p:nvGrpSpPr>
          <p:grpSpPr bwMode="auto">
            <a:xfrm>
              <a:off x="0" y="374"/>
              <a:ext cx="3072" cy="374"/>
              <a:chOff x="0" y="374"/>
              <a:chExt cx="3072" cy="374"/>
            </a:xfrm>
          </p:grpSpPr>
          <p:sp>
            <p:nvSpPr>
              <p:cNvPr id="59404" name="Rectangle 8"/>
              <p:cNvSpPr>
                <a:spLocks noChangeArrowheads="1"/>
              </p:cNvSpPr>
              <p:nvPr/>
            </p:nvSpPr>
            <p:spPr bwMode="auto">
              <a:xfrm>
                <a:off x="0" y="410"/>
                <a:ext cx="3072" cy="30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400"/>
              </a:p>
            </p:txBody>
          </p:sp>
          <p:sp>
            <p:nvSpPr>
              <p:cNvPr id="59405" name="Rectangle 9"/>
              <p:cNvSpPr>
                <a:spLocks noChangeArrowheads="1"/>
              </p:cNvSpPr>
              <p:nvPr/>
            </p:nvSpPr>
            <p:spPr bwMode="auto"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4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128	</a:t>
                </a:r>
                <a:endParaRPr lang="en-US" sz="1400" b="1">
                  <a:latin typeface="Courier New" panose="02070309020205020404" pitchFamily="49" charset="0"/>
                </a:endParaRPr>
              </a:p>
              <a:p>
                <a:pPr eaLnBrk="1" hangingPunct="1"/>
                <a:endParaRPr lang="en-US" sz="14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9398" name="Group 10"/>
            <p:cNvGrpSpPr>
              <a:grpSpLocks/>
            </p:cNvGrpSpPr>
            <p:nvPr/>
          </p:nvGrpSpPr>
          <p:grpSpPr bwMode="auto">
            <a:xfrm>
              <a:off x="0" y="748"/>
              <a:ext cx="3072" cy="374"/>
              <a:chOff x="0" y="748"/>
              <a:chExt cx="3072" cy="374"/>
            </a:xfrm>
          </p:grpSpPr>
          <p:sp>
            <p:nvSpPr>
              <p:cNvPr id="59402" name="Rectangle 11"/>
              <p:cNvSpPr>
                <a:spLocks noChangeArrowheads="1"/>
              </p:cNvSpPr>
              <p:nvPr/>
            </p:nvSpPr>
            <p:spPr bwMode="auto">
              <a:xfrm>
                <a:off x="0" y="784"/>
                <a:ext cx="3072" cy="30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400"/>
              </a:p>
            </p:txBody>
          </p:sp>
          <p:sp>
            <p:nvSpPr>
              <p:cNvPr id="59403" name="Rectangle 12"/>
              <p:cNvSpPr>
                <a:spLocks noChangeArrowheads="1"/>
              </p:cNvSpPr>
              <p:nvPr/>
            </p:nvSpPr>
            <p:spPr bwMode="auto"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4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129	</a:t>
                </a:r>
                <a:r>
                  <a:rPr lang="en-US" sz="1400" b="1">
                    <a:latin typeface="Courier New" panose="02070309020205020404" pitchFamily="49" charset="0"/>
                  </a:rPr>
                  <a:t>   </a:t>
                </a:r>
                <a:r>
                  <a:rPr lang="en-US" sz="1400" b="1">
                    <a:solidFill>
                      <a:srgbClr val="275AFF"/>
                    </a:solidFill>
                    <a:latin typeface="Courier New" panose="02070309020205020404" pitchFamily="49" charset="0"/>
                  </a:rPr>
                  <a:t>return</a:t>
                </a:r>
                <a:r>
                  <a:rPr lang="en-US" sz="1400" b="1">
                    <a:latin typeface="Courier New" panose="02070309020205020404" pitchFamily="49" charset="0"/>
                  </a:rPr>
                  <a:t> 0;</a:t>
                </a:r>
              </a:p>
              <a:p>
                <a:pPr eaLnBrk="1" hangingPunct="1"/>
                <a:endParaRPr lang="en-US" sz="1400" b="1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59399" name="Group 13"/>
            <p:cNvGrpSpPr>
              <a:grpSpLocks/>
            </p:cNvGrpSpPr>
            <p:nvPr/>
          </p:nvGrpSpPr>
          <p:grpSpPr bwMode="auto">
            <a:xfrm>
              <a:off x="0" y="1122"/>
              <a:ext cx="3072" cy="374"/>
              <a:chOff x="0" y="1122"/>
              <a:chExt cx="3072" cy="374"/>
            </a:xfrm>
          </p:grpSpPr>
          <p:sp>
            <p:nvSpPr>
              <p:cNvPr id="59400" name="Rectangle 14"/>
              <p:cNvSpPr>
                <a:spLocks noChangeArrowheads="1"/>
              </p:cNvSpPr>
              <p:nvPr/>
            </p:nvSpPr>
            <p:spPr bwMode="auto">
              <a:xfrm>
                <a:off x="0" y="1158"/>
                <a:ext cx="3072" cy="30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fr-FR" sz="1400"/>
              </a:p>
            </p:txBody>
          </p:sp>
          <p:sp>
            <p:nvSpPr>
              <p:cNvPr id="59401" name="Rectangle 15"/>
              <p:cNvSpPr>
                <a:spLocks noChangeArrowheads="1"/>
              </p:cNvSpPr>
              <p:nvPr/>
            </p:nvSpPr>
            <p:spPr bwMode="auto"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39700" algn="r"/>
                    <a:tab pos="29210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sz="1400" b="1">
                    <a:solidFill>
                      <a:srgbClr val="4D8DFF"/>
                    </a:solidFill>
                    <a:latin typeface="Courier New" panose="02070309020205020404" pitchFamily="49" charset="0"/>
                  </a:rPr>
                  <a:t>	130	</a:t>
                </a:r>
                <a:r>
                  <a:rPr lang="en-US" sz="1400" b="1">
                    <a:latin typeface="Courier New" panose="02070309020205020404" pitchFamily="49" charset="0"/>
                  </a:rPr>
                  <a:t>}</a:t>
                </a:r>
              </a:p>
              <a:p>
                <a:pPr eaLnBrk="1" hangingPunct="1"/>
                <a:endParaRPr lang="en-US" sz="1400" b="1">
                  <a:latin typeface="Courier New" panose="02070309020205020404" pitchFamily="49" charset="0"/>
                </a:endParaRPr>
              </a:p>
            </p:txBody>
          </p:sp>
        </p:grpSp>
      </p:grpSp>
      <p:sp>
        <p:nvSpPr>
          <p:cNvPr id="59395" name="Rectangle 16"/>
          <p:cNvSpPr>
            <a:spLocks noChangeArrowheads="1"/>
          </p:cNvSpPr>
          <p:nvPr/>
        </p:nvSpPr>
        <p:spPr bwMode="auto">
          <a:xfrm>
            <a:off x="152400" y="2057400"/>
            <a:ext cx="6629400" cy="1169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Military time: 18:30</a:t>
            </a: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Standard time: 6:30:22 PM</a:t>
            </a: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 </a:t>
            </a:r>
          </a:p>
          <a:p>
            <a:pPr eaLnBrk="1" hangingPunct="1"/>
            <a:r>
              <a:rPr lang="en-US" sz="1400" b="1" dirty="0">
                <a:latin typeface="Courier New" panose="02070309020205020404" pitchFamily="49" charset="0"/>
              </a:rPr>
              <a:t>New standard time: 8:20:20 PM</a:t>
            </a:r>
          </a:p>
          <a:p>
            <a:pPr eaLnBrk="1" hangingPunct="1"/>
            <a:endParaRPr lang="en-US" sz="1400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74638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195513" cy="914400"/>
          </a:xfrm>
          <a:ln/>
        </p:spPr>
        <p:txBody>
          <a:bodyPr>
            <a:normAutofit/>
          </a:bodyPr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b="1" dirty="0">
                <a:solidFill>
                  <a:srgbClr val="D20000"/>
                </a:solidFill>
              </a:rPr>
              <a:t>What is the Singleton Pattern?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15400" cy="4321440"/>
          </a:xfrm>
          <a:ln/>
        </p:spPr>
        <p:txBody>
          <a:bodyPr/>
          <a:lstStyle/>
          <a:p>
            <a:pPr algn="just"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b="1" dirty="0">
                <a:solidFill>
                  <a:srgbClr val="FF0000"/>
                </a:solidFill>
              </a:rPr>
              <a:t>Software design pattern </a:t>
            </a:r>
            <a:r>
              <a:rPr lang="en-US" dirty="0"/>
              <a:t>is a </a:t>
            </a:r>
            <a:r>
              <a:rPr lang="en-US" b="1" dirty="0">
                <a:solidFill>
                  <a:srgbClr val="2F1BC7"/>
                </a:solidFill>
              </a:rPr>
              <a:t>general</a:t>
            </a:r>
            <a:r>
              <a:rPr lang="en-US" dirty="0"/>
              <a:t>, </a:t>
            </a:r>
            <a:r>
              <a:rPr lang="en-US" b="1" dirty="0">
                <a:solidFill>
                  <a:srgbClr val="2F1BC7"/>
                </a:solidFill>
              </a:rPr>
              <a:t>reusable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b="1" dirty="0">
                <a:solidFill>
                  <a:srgbClr val="2F1BC7"/>
                </a:solidFill>
              </a:rPr>
              <a:t>solution</a:t>
            </a:r>
            <a:r>
              <a:rPr lang="en-US" dirty="0"/>
              <a:t> </a:t>
            </a:r>
            <a:r>
              <a:rPr lang="en-US" b="1" u="sng" dirty="0"/>
              <a:t>to a commonly occurring problem </a:t>
            </a:r>
            <a:r>
              <a:rPr lang="en-US" dirty="0"/>
              <a:t>within a </a:t>
            </a:r>
            <a:r>
              <a:rPr lang="en-US" b="1" dirty="0"/>
              <a:t>given context in software design</a:t>
            </a:r>
            <a:r>
              <a:rPr lang="en-US" dirty="0"/>
              <a:t>. </a:t>
            </a:r>
            <a:endParaRPr lang="en-GB" dirty="0"/>
          </a:p>
          <a:p>
            <a:pPr algn="just"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endParaRPr lang="en-GB" dirty="0"/>
          </a:p>
          <a:p>
            <a:pPr algn="just"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dirty="0"/>
              <a:t>The </a:t>
            </a:r>
            <a:r>
              <a:rPr lang="en-GB" b="1" u="sng" dirty="0">
                <a:solidFill>
                  <a:srgbClr val="D20000"/>
                </a:solidFill>
              </a:rPr>
              <a:t>Singleton pattern </a:t>
            </a:r>
            <a:r>
              <a:rPr lang="en-GB" b="1" dirty="0"/>
              <a:t>ensures</a:t>
            </a:r>
            <a:r>
              <a:rPr lang="en-GB" dirty="0"/>
              <a:t> that a </a:t>
            </a:r>
            <a:r>
              <a:rPr lang="en-GB" b="1" dirty="0">
                <a:solidFill>
                  <a:srgbClr val="2C14DE"/>
                </a:solidFill>
              </a:rPr>
              <a:t>class is only instantiated once </a:t>
            </a:r>
            <a:r>
              <a:rPr lang="en-GB" dirty="0"/>
              <a:t>and </a:t>
            </a:r>
            <a:r>
              <a:rPr lang="en-GB" b="1" dirty="0"/>
              <a:t>provides</a:t>
            </a:r>
            <a:r>
              <a:rPr lang="en-GB" dirty="0"/>
              <a:t> a </a:t>
            </a:r>
            <a:r>
              <a:rPr lang="en-GB" b="1" dirty="0"/>
              <a:t>global access </a:t>
            </a:r>
            <a:r>
              <a:rPr lang="en-GB" dirty="0"/>
              <a:t>point for this </a:t>
            </a:r>
            <a:r>
              <a:rPr lang="en-GB" b="1" dirty="0"/>
              <a:t>instance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538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39709"/>
      </p:ext>
    </p:extLst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14400"/>
          </a:xfrm>
          <a:ln/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b="1" dirty="0">
                <a:solidFill>
                  <a:srgbClr val="D20000"/>
                </a:solidFill>
              </a:rPr>
              <a:t>Why use the Singleton Pattern?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638800"/>
          </a:xfrm>
          <a:ln/>
        </p:spPr>
        <p:txBody>
          <a:bodyPr/>
          <a:lstStyle/>
          <a:p>
            <a:pPr algn="just"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dirty="0"/>
              <a:t>It is </a:t>
            </a:r>
            <a:r>
              <a:rPr lang="en-GB" b="1" dirty="0">
                <a:solidFill>
                  <a:srgbClr val="2C14DE"/>
                </a:solidFill>
              </a:rPr>
              <a:t>important</a:t>
            </a:r>
            <a:r>
              <a:rPr lang="en-GB" dirty="0">
                <a:solidFill>
                  <a:srgbClr val="2C14DE"/>
                </a:solidFill>
              </a:rPr>
              <a:t> </a:t>
            </a:r>
            <a:r>
              <a:rPr lang="en-GB" dirty="0"/>
              <a:t>for </a:t>
            </a:r>
            <a:r>
              <a:rPr lang="en-GB" b="1" dirty="0">
                <a:solidFill>
                  <a:srgbClr val="2C14DE"/>
                </a:solidFill>
              </a:rPr>
              <a:t>some classes </a:t>
            </a:r>
            <a:r>
              <a:rPr lang="en-GB" dirty="0"/>
              <a:t>to </a:t>
            </a:r>
            <a:r>
              <a:rPr lang="en-GB" b="1" dirty="0">
                <a:solidFill>
                  <a:srgbClr val="2C14DE"/>
                </a:solidFill>
              </a:rPr>
              <a:t>only have one instance</a:t>
            </a:r>
          </a:p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endParaRPr lang="en-GB" dirty="0"/>
          </a:p>
          <a:p>
            <a:pPr algn="just"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dirty="0"/>
              <a:t>It is also </a:t>
            </a:r>
            <a:r>
              <a:rPr lang="en-GB" b="1" dirty="0"/>
              <a:t>important</a:t>
            </a:r>
            <a:r>
              <a:rPr lang="en-GB" dirty="0"/>
              <a:t> that this </a:t>
            </a:r>
            <a:r>
              <a:rPr lang="en-GB" b="1" dirty="0">
                <a:solidFill>
                  <a:srgbClr val="2C14DE"/>
                </a:solidFill>
              </a:rPr>
              <a:t>single instance </a:t>
            </a:r>
            <a:r>
              <a:rPr lang="en-GB" dirty="0"/>
              <a:t>is </a:t>
            </a:r>
            <a:r>
              <a:rPr lang="en-GB" b="1" dirty="0">
                <a:solidFill>
                  <a:srgbClr val="2C14DE"/>
                </a:solidFill>
              </a:rPr>
              <a:t>easily accessible</a:t>
            </a:r>
          </a:p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endParaRPr lang="en-GB" dirty="0"/>
          </a:p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b="1" dirty="0">
                <a:solidFill>
                  <a:srgbClr val="C00000"/>
                </a:solidFill>
              </a:rPr>
              <a:t>Why not use a global object?</a:t>
            </a:r>
          </a:p>
          <a:p>
            <a:pPr lvl="1">
              <a:buSzPct val="85000"/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sz="2903" b="1" dirty="0">
                <a:solidFill>
                  <a:srgbClr val="2F1BC7"/>
                </a:solidFill>
              </a:rPr>
              <a:t>Global</a:t>
            </a:r>
            <a:r>
              <a:rPr lang="en-GB" sz="2903" dirty="0">
                <a:solidFill>
                  <a:srgbClr val="2F1BC7"/>
                </a:solidFill>
              </a:rPr>
              <a:t> </a:t>
            </a:r>
            <a:r>
              <a:rPr lang="en-GB" sz="2903" dirty="0"/>
              <a:t>variables </a:t>
            </a:r>
            <a:r>
              <a:rPr lang="en-GB" sz="2903" b="1" dirty="0"/>
              <a:t>make</a:t>
            </a:r>
            <a:r>
              <a:rPr lang="en-GB" sz="2903" dirty="0"/>
              <a:t> </a:t>
            </a:r>
            <a:r>
              <a:rPr lang="en-GB" sz="2903" b="1" dirty="0">
                <a:solidFill>
                  <a:srgbClr val="2F1BC7"/>
                </a:solidFill>
              </a:rPr>
              <a:t>objects accessible</a:t>
            </a:r>
            <a:r>
              <a:rPr lang="en-GB" sz="2903" dirty="0"/>
              <a:t>, but they </a:t>
            </a:r>
            <a:r>
              <a:rPr lang="en-GB" sz="2903" b="1" u="sng" dirty="0">
                <a:solidFill>
                  <a:srgbClr val="2F1BC7"/>
                </a:solidFill>
              </a:rPr>
              <a:t>don't prevent the instantiation </a:t>
            </a:r>
            <a:r>
              <a:rPr lang="en-GB" sz="2903" dirty="0"/>
              <a:t>of </a:t>
            </a:r>
            <a:r>
              <a:rPr lang="en-GB" sz="2903" b="1" dirty="0"/>
              <a:t>multiple objects</a:t>
            </a:r>
            <a:r>
              <a:rPr lang="en-GB" sz="2903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18450"/>
      </p:ext>
    </p:extLst>
  </p:cSld>
  <p:clrMapOvr>
    <a:masterClrMapping/>
  </p:clrMapOvr>
  <p:transition spd="med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193156" cy="914400"/>
          </a:xfrm>
          <a:ln/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b="1" dirty="0">
                <a:solidFill>
                  <a:srgbClr val="D20000"/>
                </a:solidFill>
              </a:rPr>
              <a:t>Solution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" y="1066800"/>
            <a:ext cx="8991600" cy="5715000"/>
          </a:xfrm>
          <a:ln/>
        </p:spPr>
        <p:txBody>
          <a:bodyPr/>
          <a:lstStyle/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b="1" dirty="0">
                <a:solidFill>
                  <a:srgbClr val="D20000"/>
                </a:solidFill>
              </a:rPr>
              <a:t>Make the class responsible </a:t>
            </a:r>
            <a:r>
              <a:rPr lang="en-GB" dirty="0"/>
              <a:t>for keeping track </a:t>
            </a:r>
            <a:r>
              <a:rPr lang="en-GB" b="1" dirty="0">
                <a:solidFill>
                  <a:srgbClr val="D20000"/>
                </a:solidFill>
              </a:rPr>
              <a:t>of its only instance</a:t>
            </a:r>
            <a:r>
              <a:rPr lang="en-GB" b="1" dirty="0"/>
              <a:t>:</a:t>
            </a:r>
          </a:p>
          <a:p>
            <a:pPr lvl="1"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sz="3000" dirty="0"/>
              <a:t>The </a:t>
            </a:r>
            <a:r>
              <a:rPr lang="en-GB" sz="3000" b="1" u="sng" dirty="0">
                <a:solidFill>
                  <a:srgbClr val="2F1BC7"/>
                </a:solidFill>
              </a:rPr>
              <a:t>class can ensure that no other instances are created</a:t>
            </a:r>
          </a:p>
          <a:p>
            <a:pPr lvl="1"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sz="3000" dirty="0"/>
              <a:t>This is the </a:t>
            </a:r>
            <a:r>
              <a:rPr lang="en-GB" sz="3000" b="1" u="sng" dirty="0">
                <a:solidFill>
                  <a:srgbClr val="2F1BC7"/>
                </a:solidFill>
              </a:rPr>
              <a:t>Singleton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11426"/>
      </p:ext>
    </p:extLst>
  </p:cSld>
  <p:clrMapOvr>
    <a:masterClrMapping/>
  </p:clrMapOvr>
  <p:transition spd="med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38640"/>
            <a:ext cx="8193156" cy="875760"/>
          </a:xfrm>
          <a:ln/>
        </p:spPr>
        <p:txBody>
          <a:bodyPr>
            <a:normAutofit/>
          </a:bodyPr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b="1" dirty="0">
                <a:solidFill>
                  <a:srgbClr val="D20000"/>
                </a:solidFill>
              </a:rPr>
              <a:t>Examples of Singleton Patterns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63000" cy="5257800"/>
          </a:xfrm>
          <a:ln/>
        </p:spPr>
        <p:txBody>
          <a:bodyPr>
            <a:normAutofit/>
          </a:bodyPr>
          <a:lstStyle/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endParaRPr lang="en-GB" dirty="0"/>
          </a:p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dirty="0"/>
              <a:t>HR Manager</a:t>
            </a:r>
          </a:p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dirty="0"/>
              <a:t>Head of Department</a:t>
            </a:r>
          </a:p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dirty="0"/>
              <a:t>Print spooler</a:t>
            </a:r>
          </a:p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dirty="0"/>
              <a:t>Window Managers</a:t>
            </a:r>
          </a:p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dirty="0"/>
              <a:t>Digital Filters</a:t>
            </a:r>
          </a:p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dirty="0"/>
              <a:t>Accounting Systems</a:t>
            </a:r>
          </a:p>
          <a:p>
            <a:pPr>
              <a:tabLst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dirty="0"/>
              <a:t>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29852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23039"/>
      </p:ext>
    </p:extLst>
  </p:cSld>
  <p:clrMapOvr>
    <a:masterClrMapping/>
  </p:clrMapOvr>
  <p:transition spd="med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0361"/>
            <a:ext cx="8153400" cy="829733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Design Solution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93461"/>
            <a:ext cx="8991600" cy="5638800"/>
          </a:xfrm>
        </p:spPr>
        <p:txBody>
          <a:bodyPr/>
          <a:lstStyle/>
          <a:p>
            <a:r>
              <a:rPr lang="en-US" dirty="0"/>
              <a:t>Defines a </a:t>
            </a:r>
            <a:r>
              <a:rPr lang="en-US" b="1" dirty="0" err="1">
                <a:solidFill>
                  <a:srgbClr val="D20000"/>
                </a:solidFill>
              </a:rPr>
              <a:t>getInstance</a:t>
            </a:r>
            <a:r>
              <a:rPr lang="en-US" b="1" dirty="0">
                <a:solidFill>
                  <a:srgbClr val="D20000"/>
                </a:solidFill>
              </a:rPr>
              <a:t>( ) </a:t>
            </a:r>
            <a:r>
              <a:rPr lang="en-US" b="1" dirty="0">
                <a:solidFill>
                  <a:srgbClr val="2F1BC7"/>
                </a:solidFill>
              </a:rPr>
              <a:t>operation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dirty="0"/>
              <a:t>that </a:t>
            </a:r>
            <a:r>
              <a:rPr lang="en-US" b="1" dirty="0">
                <a:solidFill>
                  <a:srgbClr val="2F1BC7"/>
                </a:solidFill>
              </a:rPr>
              <a:t>lets clients access</a:t>
            </a:r>
            <a:r>
              <a:rPr lang="en-US" dirty="0"/>
              <a:t> its </a:t>
            </a:r>
            <a:r>
              <a:rPr lang="en-US" b="1" u="sng" dirty="0">
                <a:solidFill>
                  <a:srgbClr val="2F1BC7"/>
                </a:solidFill>
              </a:rPr>
              <a:t>unique instance</a:t>
            </a:r>
          </a:p>
          <a:p>
            <a:r>
              <a:rPr lang="en-US" b="1" dirty="0">
                <a:solidFill>
                  <a:srgbClr val="2F1BC7"/>
                </a:solidFill>
              </a:rPr>
              <a:t>Responsible</a:t>
            </a:r>
            <a:r>
              <a:rPr lang="en-US" dirty="0">
                <a:solidFill>
                  <a:srgbClr val="2F1BC7"/>
                </a:solidFill>
              </a:rPr>
              <a:t> </a:t>
            </a:r>
            <a:r>
              <a:rPr lang="en-US" dirty="0"/>
              <a:t>for </a:t>
            </a:r>
            <a:r>
              <a:rPr lang="en-US" b="1" dirty="0">
                <a:solidFill>
                  <a:srgbClr val="2F1BC7"/>
                </a:solidFill>
              </a:rPr>
              <a:t>creating its own unique instance</a:t>
            </a:r>
          </a:p>
        </p:txBody>
      </p:sp>
      <p:sp>
        <p:nvSpPr>
          <p:cNvPr id="198660" name="Rectangle 4"/>
          <p:cNvSpPr>
            <a:spLocks noChangeArrowheads="1"/>
          </p:cNvSpPr>
          <p:nvPr/>
        </p:nvSpPr>
        <p:spPr bwMode="auto">
          <a:xfrm>
            <a:off x="4876800" y="3048000"/>
            <a:ext cx="2667000" cy="2590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dirty="0">
                <a:latin typeface="Times New Roman" panose="02020603050405020304" pitchFamily="18" charset="0"/>
              </a:rPr>
              <a:t>Singleton</a:t>
            </a:r>
          </a:p>
          <a:p>
            <a:pPr algn="ctr" eaLnBrk="0" hangingPunct="0"/>
            <a:endParaRPr lang="en-US" sz="2000" dirty="0"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en-US" sz="2000" dirty="0">
                <a:latin typeface="Times New Roman" panose="02020603050405020304" pitchFamily="18" charset="0"/>
              </a:rPr>
              <a:t>-static </a:t>
            </a:r>
            <a:r>
              <a:rPr lang="en-US" sz="2000" dirty="0" err="1">
                <a:latin typeface="Times New Roman" panose="02020603050405020304" pitchFamily="18" charset="0"/>
              </a:rPr>
              <a:t>uniqueinstance</a:t>
            </a:r>
            <a:endParaRPr lang="en-US" sz="2000" dirty="0"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en-US" sz="2000" dirty="0">
                <a:latin typeface="Times New Roman" panose="02020603050405020304" pitchFamily="18" charset="0"/>
              </a:rPr>
              <a:t>Singleton data</a:t>
            </a:r>
          </a:p>
          <a:p>
            <a:pPr algn="ctr" eaLnBrk="0" hangingPunct="0"/>
            <a:r>
              <a:rPr lang="en-US" sz="2000" dirty="0">
                <a:latin typeface="Times New Roman" panose="02020603050405020304" pitchFamily="18" charset="0"/>
              </a:rPr>
              <a:t>-Singleton()</a:t>
            </a:r>
          </a:p>
          <a:p>
            <a:pPr algn="ctr" eaLnBrk="0" hangingPunct="0"/>
            <a:r>
              <a:rPr lang="en-US" sz="2000" dirty="0">
                <a:latin typeface="Times New Roman" panose="02020603050405020304" pitchFamily="18" charset="0"/>
              </a:rPr>
              <a:t>+static </a:t>
            </a:r>
            <a:r>
              <a:rPr lang="en-US" sz="2000" dirty="0" err="1">
                <a:latin typeface="Times New Roman" panose="02020603050405020304" pitchFamily="18" charset="0"/>
              </a:rPr>
              <a:t>getInstance</a:t>
            </a:r>
            <a:r>
              <a:rPr lang="en-US" sz="2000" dirty="0">
                <a:latin typeface="Times New Roman" panose="02020603050405020304" pitchFamily="18" charset="0"/>
              </a:rPr>
              <a:t>()</a:t>
            </a:r>
          </a:p>
          <a:p>
            <a:pPr algn="ctr" eaLnBrk="0" hangingPunct="0"/>
            <a:r>
              <a:rPr lang="en-US" sz="2000" dirty="0">
                <a:latin typeface="Times New Roman" panose="02020603050405020304" pitchFamily="18" charset="0"/>
              </a:rPr>
              <a:t>Singleton methods…</a:t>
            </a:r>
          </a:p>
        </p:txBody>
      </p:sp>
      <p:sp>
        <p:nvSpPr>
          <p:cNvPr id="198661" name="Line 5"/>
          <p:cNvSpPr>
            <a:spLocks noChangeShapeType="1"/>
          </p:cNvSpPr>
          <p:nvPr/>
        </p:nvSpPr>
        <p:spPr bwMode="auto">
          <a:xfrm>
            <a:off x="4876800" y="4495800"/>
            <a:ext cx="26670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8662" name="Line 6"/>
          <p:cNvSpPr>
            <a:spLocks noChangeShapeType="1"/>
          </p:cNvSpPr>
          <p:nvPr/>
        </p:nvSpPr>
        <p:spPr bwMode="auto">
          <a:xfrm>
            <a:off x="4876800" y="3581400"/>
            <a:ext cx="26670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8663" name="Text Box 7"/>
          <p:cNvSpPr txBox="1">
            <a:spLocks noChangeArrowheads="1"/>
          </p:cNvSpPr>
          <p:nvPr/>
        </p:nvSpPr>
        <p:spPr bwMode="auto">
          <a:xfrm>
            <a:off x="1295400" y="4495800"/>
            <a:ext cx="2203450" cy="590550"/>
          </a:xfrm>
          <a:prstGeom prst="rect">
            <a:avLst/>
          </a:prstGeom>
          <a:noFill/>
          <a:ln w="9525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/>
              <a:t>…</a:t>
            </a:r>
          </a:p>
          <a:p>
            <a:r>
              <a:rPr lang="en-US" sz="1600"/>
              <a:t>return uniqueinstance;</a:t>
            </a:r>
          </a:p>
        </p:txBody>
      </p:sp>
      <p:sp>
        <p:nvSpPr>
          <p:cNvPr id="198664" name="Line 8"/>
          <p:cNvSpPr>
            <a:spLocks noChangeShapeType="1"/>
          </p:cNvSpPr>
          <p:nvPr/>
        </p:nvSpPr>
        <p:spPr bwMode="auto">
          <a:xfrm flipH="1" flipV="1">
            <a:off x="3657600" y="4953000"/>
            <a:ext cx="1371600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sysDot"/>
            <a:round/>
            <a:headEnd type="oval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89831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0893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7495"/>
            <a:ext cx="8153400" cy="829733"/>
          </a:xfrm>
        </p:spPr>
        <p:txBody>
          <a:bodyPr/>
          <a:lstStyle/>
          <a:p>
            <a:r>
              <a:rPr lang="en-US" dirty="0">
                <a:solidFill>
                  <a:srgbClr val="D20000"/>
                </a:solidFill>
              </a:rPr>
              <a:t>Implementation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839200" cy="55626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D20000"/>
                </a:solidFill>
              </a:rPr>
              <a:t>Declare</a:t>
            </a:r>
            <a:r>
              <a:rPr lang="en-US" b="1" dirty="0"/>
              <a:t> all </a:t>
            </a:r>
            <a:r>
              <a:rPr lang="en-US" dirty="0"/>
              <a:t>of </a:t>
            </a:r>
            <a:r>
              <a:rPr lang="en-US" b="1" dirty="0">
                <a:solidFill>
                  <a:srgbClr val="D20000"/>
                </a:solidFill>
              </a:rPr>
              <a:t>class’s constructors private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2F1BC7"/>
                </a:solidFill>
              </a:rPr>
              <a:t>prevent other classes </a:t>
            </a:r>
            <a:r>
              <a:rPr lang="en-US" b="1" dirty="0"/>
              <a:t>from </a:t>
            </a:r>
            <a:r>
              <a:rPr lang="en-US" b="1" dirty="0">
                <a:solidFill>
                  <a:srgbClr val="2F1BC7"/>
                </a:solidFill>
              </a:rPr>
              <a:t>directly creating an instance of this class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</a:pPr>
            <a:endParaRPr lang="en-US" sz="3200" b="1" dirty="0">
              <a:solidFill>
                <a:srgbClr val="2F1BC7"/>
              </a:solidFill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2F1BC7"/>
                </a:solidFill>
              </a:rPr>
              <a:t>Hide the operation </a:t>
            </a:r>
            <a:r>
              <a:rPr lang="en-US" b="1" dirty="0"/>
              <a:t>that </a:t>
            </a:r>
            <a:r>
              <a:rPr lang="en-US" b="1" dirty="0">
                <a:solidFill>
                  <a:srgbClr val="2F1BC7"/>
                </a:solidFill>
              </a:rPr>
              <a:t>creates the instance </a:t>
            </a:r>
            <a:r>
              <a:rPr lang="en-US" b="1" dirty="0"/>
              <a:t>behind a </a:t>
            </a:r>
            <a:r>
              <a:rPr lang="en-US" b="1" dirty="0">
                <a:solidFill>
                  <a:srgbClr val="2F1BC7"/>
                </a:solidFill>
              </a:rPr>
              <a:t>class operation </a:t>
            </a:r>
            <a:r>
              <a:rPr lang="en-US" dirty="0"/>
              <a:t>(</a:t>
            </a:r>
            <a:r>
              <a:rPr lang="en-US" dirty="0" err="1"/>
              <a:t>getInstance</a:t>
            </a:r>
            <a:r>
              <a:rPr lang="en-US" dirty="0"/>
              <a:t>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b="1" u="sng" dirty="0">
                <a:solidFill>
                  <a:srgbClr val="FF0000"/>
                </a:solidFill>
              </a:rPr>
              <a:t>Variation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Since </a:t>
            </a:r>
            <a:r>
              <a:rPr lang="en-US" b="1" dirty="0">
                <a:solidFill>
                  <a:srgbClr val="2F1BC7"/>
                </a:solidFill>
              </a:rPr>
              <a:t>creation policy is encapsulated </a:t>
            </a:r>
            <a:r>
              <a:rPr lang="en-US" dirty="0"/>
              <a:t>in </a:t>
            </a:r>
            <a:r>
              <a:rPr lang="en-US" b="1" dirty="0" err="1">
                <a:solidFill>
                  <a:srgbClr val="2F1BC7"/>
                </a:solidFill>
              </a:rPr>
              <a:t>getInstance</a:t>
            </a:r>
            <a:r>
              <a:rPr lang="en-US" dirty="0"/>
              <a:t>, it is </a:t>
            </a:r>
            <a:r>
              <a:rPr lang="en-US" b="1" u="sng" dirty="0">
                <a:solidFill>
                  <a:srgbClr val="2F1BC7"/>
                </a:solidFill>
              </a:rPr>
              <a:t>possible to vary the creation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6615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229600" cy="944881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Singleton Example (C++)</a:t>
            </a:r>
          </a:p>
        </p:txBody>
      </p:sp>
      <p:sp>
        <p:nvSpPr>
          <p:cNvPr id="200707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4343400" cy="535531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class Database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{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private: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 static Database *DB;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 ...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//private constructor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  Database() { ... }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public: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   //static method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static Database *</a:t>
            </a:r>
            <a:r>
              <a:rPr lang="en-US" b="1" dirty="0" err="1">
                <a:latin typeface="Consolas" panose="020B0609020204030204" pitchFamily="49" charset="0"/>
              </a:rPr>
              <a:t>getDB</a:t>
            </a:r>
            <a:r>
              <a:rPr lang="en-US" b="1" dirty="0">
                <a:latin typeface="Consolas" panose="020B0609020204030204" pitchFamily="49" charset="0"/>
              </a:rPr>
              <a:t>()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{ 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    if (DB == NULL) 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       DB = new Database());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    return DB;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  }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   ...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};</a:t>
            </a:r>
          </a:p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Database* Database::DB=NULL;</a:t>
            </a:r>
          </a:p>
        </p:txBody>
      </p:sp>
      <p:sp>
        <p:nvSpPr>
          <p:cNvPr id="200708" name="Text Box 4"/>
          <p:cNvSpPr txBox="1">
            <a:spLocks noChangeArrowheads="1"/>
          </p:cNvSpPr>
          <p:nvPr/>
        </p:nvSpPr>
        <p:spPr bwMode="auto">
          <a:xfrm>
            <a:off x="4724400" y="2667000"/>
            <a:ext cx="4343400" cy="92333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b="1" dirty="0">
                <a:latin typeface="Consolas" panose="020B0609020204030204" pitchFamily="49" charset="0"/>
              </a:rPr>
              <a:t>In application code…</a:t>
            </a:r>
          </a:p>
          <a:p>
            <a:pPr eaLnBrk="0" hangingPunct="0"/>
            <a:r>
              <a:rPr lang="en-US" b="1" dirty="0">
                <a:solidFill>
                  <a:srgbClr val="2F1BC7"/>
                </a:solidFill>
                <a:latin typeface="Consolas" panose="020B0609020204030204" pitchFamily="49" charset="0"/>
              </a:rPr>
              <a:t>Database *</a:t>
            </a:r>
            <a:r>
              <a:rPr lang="en-US" b="1" dirty="0" err="1">
                <a:solidFill>
                  <a:srgbClr val="2F1BC7"/>
                </a:solidFill>
                <a:latin typeface="Consolas" panose="020B0609020204030204" pitchFamily="49" charset="0"/>
              </a:rPr>
              <a:t>db</a:t>
            </a:r>
            <a:r>
              <a:rPr lang="en-US" b="1" dirty="0">
                <a:solidFill>
                  <a:srgbClr val="2F1BC7"/>
                </a:solidFill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rgbClr val="2F1BC7"/>
                </a:solidFill>
                <a:latin typeface="Consolas" panose="020B0609020204030204" pitchFamily="49" charset="0"/>
              </a:rPr>
              <a:t>Database.getDB</a:t>
            </a:r>
            <a:r>
              <a:rPr lang="en-US" b="1" dirty="0">
                <a:solidFill>
                  <a:srgbClr val="2F1BC7"/>
                </a:solidFill>
                <a:latin typeface="Consolas" panose="020B0609020204030204" pitchFamily="49" charset="0"/>
              </a:rPr>
              <a:t>();</a:t>
            </a:r>
          </a:p>
          <a:p>
            <a:pPr eaLnBrk="0" hangingPunct="0"/>
            <a:r>
              <a:rPr lang="en-US" b="1" dirty="0" err="1">
                <a:solidFill>
                  <a:srgbClr val="2F1BC7"/>
                </a:solidFill>
                <a:latin typeface="Consolas" panose="020B0609020204030204" pitchFamily="49" charset="0"/>
              </a:rPr>
              <a:t>db</a:t>
            </a:r>
            <a:r>
              <a:rPr lang="en-US" b="1" dirty="0">
                <a:solidFill>
                  <a:srgbClr val="2F1BC7"/>
                </a:solidFill>
                <a:latin typeface="Consolas" panose="020B0609020204030204" pitchFamily="49" charset="0"/>
              </a:rPr>
              <a:t>-&gt;</a:t>
            </a:r>
            <a:r>
              <a:rPr lang="en-US" b="1" dirty="0" err="1">
                <a:solidFill>
                  <a:srgbClr val="2F1BC7"/>
                </a:solidFill>
                <a:latin typeface="Consolas" panose="020B0609020204030204" pitchFamily="49" charset="0"/>
              </a:rPr>
              <a:t>someMethod</a:t>
            </a:r>
            <a:r>
              <a:rPr lang="en-US" b="1" dirty="0">
                <a:solidFill>
                  <a:srgbClr val="2F1BC7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976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63507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Singleton Consequences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800" b="1" dirty="0">
                <a:solidFill>
                  <a:srgbClr val="2F1BC7"/>
                </a:solidFill>
              </a:rPr>
              <a:t>Ensures only one </a:t>
            </a:r>
            <a:r>
              <a:rPr lang="en-US" sz="2800" dirty="0"/>
              <a:t>(e.g., Database) </a:t>
            </a:r>
            <a:r>
              <a:rPr lang="en-US" sz="2800" b="1" dirty="0">
                <a:solidFill>
                  <a:srgbClr val="2F1BC7"/>
                </a:solidFill>
              </a:rPr>
              <a:t>instance</a:t>
            </a:r>
            <a:r>
              <a:rPr lang="en-US" sz="2800" dirty="0">
                <a:solidFill>
                  <a:srgbClr val="2F1BC7"/>
                </a:solidFill>
              </a:rPr>
              <a:t> </a:t>
            </a:r>
            <a:r>
              <a:rPr lang="en-US" sz="2800" dirty="0"/>
              <a:t>exists in the system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 algn="just">
              <a:lnSpc>
                <a:spcPct val="90000"/>
              </a:lnSpc>
            </a:pPr>
            <a:r>
              <a:rPr lang="en-US" sz="2800" b="1" dirty="0">
                <a:solidFill>
                  <a:srgbClr val="2F1BC7"/>
                </a:solidFill>
              </a:rPr>
              <a:t>Can maintain a pointer </a:t>
            </a:r>
            <a:r>
              <a:rPr lang="en-US" sz="2800" dirty="0"/>
              <a:t>(need to </a:t>
            </a:r>
            <a:r>
              <a:rPr lang="en-US" sz="2800" b="1" dirty="0"/>
              <a:t>create object on first get call</a:t>
            </a:r>
            <a:r>
              <a:rPr lang="en-US" sz="2800" dirty="0"/>
              <a:t>) or </a:t>
            </a:r>
            <a:r>
              <a:rPr lang="en-US" sz="2800" b="1" dirty="0">
                <a:solidFill>
                  <a:srgbClr val="2F1BC7"/>
                </a:solidFill>
              </a:rPr>
              <a:t>an actual object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 algn="just">
              <a:lnSpc>
                <a:spcPct val="90000"/>
              </a:lnSpc>
            </a:pPr>
            <a:r>
              <a:rPr lang="en-US" sz="2800" b="1" dirty="0"/>
              <a:t>Can also use this </a:t>
            </a:r>
            <a:r>
              <a:rPr lang="en-US" sz="2800" b="1" u="sng" dirty="0">
                <a:solidFill>
                  <a:srgbClr val="2F1BC7"/>
                </a:solidFill>
              </a:rPr>
              <a:t>pattern to control fixed multiple instances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b="1" u="sng" dirty="0">
                <a:solidFill>
                  <a:srgbClr val="008000"/>
                </a:solidFill>
              </a:rPr>
              <a:t>Much better than the alternative</a:t>
            </a:r>
            <a:r>
              <a:rPr lang="en-US" sz="2800" dirty="0"/>
              <a:t>:  </a:t>
            </a:r>
            <a:r>
              <a:rPr lang="en-US" sz="2800" b="1" u="sng" dirty="0">
                <a:solidFill>
                  <a:srgbClr val="FF0000"/>
                </a:solidFill>
              </a:rPr>
              <a:t>global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963507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50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6664</TotalTime>
  <Words>10773</Words>
  <Application>Microsoft Macintosh PowerPoint</Application>
  <PresentationFormat>On-screen Show (4:3)</PresentationFormat>
  <Paragraphs>1533</Paragraphs>
  <Slides>115</Slides>
  <Notes>72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33" baseType="lpstr">
      <vt:lpstr>ＭＳ Ｐゴシック</vt:lpstr>
      <vt:lpstr>Arial</vt:lpstr>
      <vt:lpstr>Arial</vt:lpstr>
      <vt:lpstr>Arial Black</vt:lpstr>
      <vt:lpstr>AvantGarde</vt:lpstr>
      <vt:lpstr>Calibri</vt:lpstr>
      <vt:lpstr>Consolas</vt:lpstr>
      <vt:lpstr>Courier</vt:lpstr>
      <vt:lpstr>Courier New</vt:lpstr>
      <vt:lpstr>JCOHK L+ Gill Sans</vt:lpstr>
      <vt:lpstr>Monotype Sorts</vt:lpstr>
      <vt:lpstr>segoe ui</vt:lpstr>
      <vt:lpstr>Tahoma</vt:lpstr>
      <vt:lpstr>Times New Roman</vt:lpstr>
      <vt:lpstr>verdana</vt:lpstr>
      <vt:lpstr>Wingdings</vt:lpstr>
      <vt:lpstr>Office Theme</vt:lpstr>
      <vt:lpstr>Picture</vt:lpstr>
      <vt:lpstr>Introduction to Classes </vt:lpstr>
      <vt:lpstr>Why Objects?</vt:lpstr>
      <vt:lpstr>PowerPoint Presentation</vt:lpstr>
      <vt:lpstr>PowerPoint Presentation</vt:lpstr>
      <vt:lpstr>PowerPoint Presentation</vt:lpstr>
      <vt:lpstr>Object-oriented Programming (OOP)</vt:lpstr>
      <vt:lpstr>Classes</vt:lpstr>
      <vt:lpstr>Classes in OOP</vt:lpstr>
      <vt:lpstr>Objects in OOP</vt:lpstr>
      <vt:lpstr>UML Diagram for Class and Object</vt:lpstr>
      <vt:lpstr>Class in C++ - Example</vt:lpstr>
      <vt:lpstr>Class in C++ - Example</vt:lpstr>
      <vt:lpstr>Class is a Type</vt:lpstr>
      <vt:lpstr>Class Data Members and Member Functions</vt:lpstr>
      <vt:lpstr>Object Creation - Instantiation</vt:lpstr>
      <vt:lpstr>Object Member Access Operator</vt:lpstr>
      <vt:lpstr>A Simple Program – Object Creation</vt:lpstr>
      <vt:lpstr>Local Classes</vt:lpstr>
      <vt:lpstr>Inline/Out-of-Line Member Functions</vt:lpstr>
      <vt:lpstr>Inline/Out-of-Line Member Functions</vt:lpstr>
      <vt:lpstr>Member Functions Separating Declaration from Implementation</vt:lpstr>
      <vt:lpstr>PowerPoint Presentation</vt:lpstr>
      <vt:lpstr>PowerPoint Presentation</vt:lpstr>
      <vt:lpstr>Private Member Functions</vt:lpstr>
      <vt:lpstr>Private Member Functions (out-of-line) </vt:lpstr>
      <vt:lpstr>Access Modifiers/Specifier</vt:lpstr>
      <vt:lpstr>Member Access Specifiers</vt:lpstr>
      <vt:lpstr>Data Hiding - Data Field Encapsulation</vt:lpstr>
      <vt:lpstr>Hidden from Whom?</vt:lpstr>
      <vt:lpstr>A Simple Program – Accessing Member Function</vt:lpstr>
      <vt:lpstr>A Simple Program – Default Constructor</vt:lpstr>
      <vt:lpstr>Object Construction with Arguments</vt:lpstr>
      <vt:lpstr>A Simple Program – Constructor with Arguments</vt:lpstr>
      <vt:lpstr>Output of the following Program?</vt:lpstr>
      <vt:lpstr>const Member Functions</vt:lpstr>
      <vt:lpstr>Constant Functions</vt:lpstr>
      <vt:lpstr>Accessors and Mutators(Getters &amp; Setters)</vt:lpstr>
      <vt:lpstr>const Objects</vt:lpstr>
      <vt:lpstr>const Objects</vt:lpstr>
      <vt:lpstr>Pointers to Objects</vt:lpstr>
      <vt:lpstr>Pointers to Objects</vt:lpstr>
      <vt:lpstr>Reference to Objects</vt:lpstr>
      <vt:lpstr>Reference to Objects</vt:lpstr>
      <vt:lpstr>Reference and Pointers to Objects</vt:lpstr>
      <vt:lpstr>Constructors and Destructors</vt:lpstr>
      <vt:lpstr>Interface vs Implementation </vt:lpstr>
      <vt:lpstr>PowerPoint Presentation</vt:lpstr>
      <vt:lpstr>PowerPoint Presentation</vt:lpstr>
      <vt:lpstr>Constructors</vt:lpstr>
      <vt:lpstr>Constructors’ Properties</vt:lpstr>
      <vt:lpstr>Constructors and Destructors</vt:lpstr>
      <vt:lpstr>PowerPoint Presentation</vt:lpstr>
      <vt:lpstr>PowerPoint Presentation</vt:lpstr>
      <vt:lpstr>PowerPoint Presentation</vt:lpstr>
      <vt:lpstr>Using Destructors </vt:lpstr>
      <vt:lpstr>When Constructors and Destructors Are Called </vt:lpstr>
      <vt:lpstr>PowerPoint Presentation</vt:lpstr>
      <vt:lpstr>PowerPoint Presentation</vt:lpstr>
      <vt:lpstr>PowerPoint Presentation</vt:lpstr>
      <vt:lpstr>PowerPoint Presentation</vt:lpstr>
      <vt:lpstr>Destructor Example</vt:lpstr>
      <vt:lpstr>When do Constructors Get Called?</vt:lpstr>
      <vt:lpstr>What Constructors Do</vt:lpstr>
      <vt:lpstr>Constructing Arrays of Objects</vt:lpstr>
      <vt:lpstr>Arrays of Objects and Non-Default Constructors</vt:lpstr>
      <vt:lpstr>Default Member-wise Assignment</vt:lpstr>
      <vt:lpstr>PowerPoint Presentation</vt:lpstr>
      <vt:lpstr>PowerPoint Presentation</vt:lpstr>
      <vt:lpstr>Default copy constructor</vt:lpstr>
      <vt:lpstr>Copy Constructor for Class Date</vt:lpstr>
      <vt:lpstr>Uses of the Copy Constructor</vt:lpstr>
      <vt:lpstr>Copy Constructor:  Defining a New Object</vt:lpstr>
      <vt:lpstr>Copy Constructor:Passing Objects by Value</vt:lpstr>
      <vt:lpstr>User-defined Copy Constructor, when required?</vt:lpstr>
      <vt:lpstr>Shallow Copy</vt:lpstr>
      <vt:lpstr>Deep Copy</vt:lpstr>
      <vt:lpstr>PowerPoint Presentation</vt:lpstr>
      <vt:lpstr>static, const, and this Pointer</vt:lpstr>
      <vt:lpstr>static Class Members</vt:lpstr>
      <vt:lpstr>static Class Variables</vt:lpstr>
      <vt:lpstr>Public static Class Variables</vt:lpstr>
      <vt:lpstr>Private static Class Variables</vt:lpstr>
      <vt:lpstr>static Class Functions</vt:lpstr>
      <vt:lpstr>Public static Class Functions</vt:lpstr>
      <vt:lpstr>Private static Class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const Class Members</vt:lpstr>
      <vt:lpstr>Member Initializer List (Non-const Members)</vt:lpstr>
      <vt:lpstr>Member Initializer List (non-static const)</vt:lpstr>
      <vt:lpstr>Member Initializer List (References)</vt:lpstr>
      <vt:lpstr>Member Initializer List (member object, no default constructor)</vt:lpstr>
      <vt:lpstr>Member Initializer List  (parameter name same as data member)</vt:lpstr>
      <vt:lpstr>Member Initializer List  (base class members)</vt:lpstr>
      <vt:lpstr>The this Pointer</vt:lpstr>
      <vt:lpstr>Using the this Pointer</vt:lpstr>
      <vt:lpstr>Using the this Pointer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Singleton Pattern?</vt:lpstr>
      <vt:lpstr>Why use the Singleton Pattern?</vt:lpstr>
      <vt:lpstr>Solution</vt:lpstr>
      <vt:lpstr>Examples of Singleton Patterns</vt:lpstr>
      <vt:lpstr>Design Solution</vt:lpstr>
      <vt:lpstr>Implementation</vt:lpstr>
      <vt:lpstr>Singleton Example (C++)</vt:lpstr>
      <vt:lpstr>Singleton Consequences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Dr. Ali Zeeshan Ijaz Assistant Professor FCS</cp:lastModifiedBy>
  <cp:revision>524</cp:revision>
  <dcterms:created xsi:type="dcterms:W3CDTF">2012-08-28T12:59:58Z</dcterms:created>
  <dcterms:modified xsi:type="dcterms:W3CDTF">2024-02-19T03:29:39Z</dcterms:modified>
</cp:coreProperties>
</file>