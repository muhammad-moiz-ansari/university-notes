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10" r:id="rId3"/>
    <p:sldId id="282" r:id="rId4"/>
    <p:sldId id="283" r:id="rId5"/>
    <p:sldId id="284" r:id="rId6"/>
    <p:sldId id="286" r:id="rId7"/>
    <p:sldId id="285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326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27" r:id="rId26"/>
    <p:sldId id="313" r:id="rId27"/>
    <p:sldId id="314" r:id="rId28"/>
    <p:sldId id="315" r:id="rId29"/>
    <p:sldId id="318" r:id="rId30"/>
    <p:sldId id="329" r:id="rId31"/>
    <p:sldId id="330" r:id="rId32"/>
    <p:sldId id="328" r:id="rId33"/>
    <p:sldId id="332" r:id="rId34"/>
    <p:sldId id="331" r:id="rId35"/>
    <p:sldId id="324" r:id="rId36"/>
    <p:sldId id="32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B80000"/>
    <a:srgbClr val="2C14DE"/>
    <a:srgbClr val="F98E83"/>
    <a:srgbClr val="2F1BC7"/>
    <a:srgbClr val="27558D"/>
    <a:srgbClr val="D20000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3" autoAdjust="0"/>
    <p:restoredTop sz="84762" autoAdjust="0"/>
  </p:normalViewPr>
  <p:slideViewPr>
    <p:cSldViewPr>
      <p:cViewPr varScale="1">
        <p:scale>
          <a:sx n="107" d="100"/>
          <a:sy n="107" d="100"/>
        </p:scale>
        <p:origin x="228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2/14/24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3736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9171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Allocation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we create an object of some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then compiler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allocate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contiguous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the data members of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size of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allocated 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at least the sum of sizes of all data members.</a:t>
            </a:r>
          </a:p>
        </p:txBody>
      </p:sp>
    </p:spTree>
    <p:extLst>
      <p:ext uri="{BB962C8B-B14F-4D97-AF65-F5344CB8AC3E}">
        <p14:creationId xmlns:p14="http://schemas.microsoft.com/office/powerpoint/2010/main" val="4118343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5600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4909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8041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C5A2D-2B9C-4D08-B310-66A396ED0B1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08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book b[5]={{2},{50,30,20.5},  </a:t>
            </a:r>
            <a:r>
              <a:rPr lang="en-US" b="1" dirty="0">
                <a:latin typeface="Consolas" panose="020B0609020204030204" pitchFamily="49" charset="0"/>
              </a:rPr>
              <a:t>{,,400},  </a:t>
            </a:r>
            <a:r>
              <a:rPr lang="en-US" dirty="0">
                <a:latin typeface="Consolas" panose="020B0609020204030204" pitchFamily="49" charset="0"/>
              </a:rPr>
              <a:t>{},{4,600, 350.8}}; // Error because of the invalid partial initialization or do like </a:t>
            </a:r>
            <a:r>
              <a:rPr lang="en-US" b="1" dirty="0">
                <a:latin typeface="Consolas" panose="020B0609020204030204" pitchFamily="49" charset="0"/>
              </a:rPr>
              <a:t>{0,0,400} or {}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Book b[5]={{},{},{}}; //correct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31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29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Anonymous structure definition must have a structure type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47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setprecision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(2) &lt;&lt; fixed;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fixed manipulator is used, all floating point numbers that are subsequently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printed will be displayed in fixed point notation, with the number of digits to the right of</a:t>
            </a:r>
          </a:p>
          <a:p>
            <a:pPr algn="l" fontAlgn="base"/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decimal point specified by the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setprecision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manipulator.</a:t>
            </a:r>
            <a:b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b="1" i="0" dirty="0" err="1">
                <a:solidFill>
                  <a:srgbClr val="B29D85"/>
                </a:solidFill>
                <a:effectLst/>
                <a:latin typeface="inherit"/>
              </a:rPr>
              <a:t>showpoint</a:t>
            </a:r>
            <a:r>
              <a:rPr lang="en-GB" b="1" i="0" dirty="0">
                <a:solidFill>
                  <a:srgbClr val="B29D85"/>
                </a:solidFill>
                <a:effectLst/>
                <a:latin typeface="inherit"/>
              </a:rPr>
              <a:t> Manipulator</a:t>
            </a:r>
            <a:endParaRPr lang="en-GB" b="0" i="0" dirty="0">
              <a:solidFill>
                <a:srgbClr val="B29D85"/>
              </a:solidFill>
              <a:effectLst/>
              <a:latin typeface="Ubuntu"/>
            </a:endParaRPr>
          </a:p>
          <a:p>
            <a:pPr algn="l" fontAlgn="base"/>
            <a:r>
              <a:rPr lang="en-GB" b="0" i="0" dirty="0">
                <a:solidFill>
                  <a:srgbClr val="B29D85"/>
                </a:solidFill>
                <a:effectLst/>
                <a:latin typeface="Ubuntu"/>
              </a:rPr>
              <a:t>Suppose that the decimal part of a number is zero. In this case, when you instruct the computer to output the decimal number in a fixed decimal format, </a:t>
            </a:r>
            <a:r>
              <a:rPr lang="en-GB" b="0" i="0" dirty="0" err="1">
                <a:solidFill>
                  <a:srgbClr val="B29D85"/>
                </a:solidFill>
                <a:effectLst/>
                <a:latin typeface="Ubuntu"/>
              </a:rPr>
              <a:t>th</a:t>
            </a:r>
            <a:r>
              <a:rPr lang="en-GB" b="0" i="0" dirty="0">
                <a:solidFill>
                  <a:srgbClr val="B29D85"/>
                </a:solidFill>
                <a:effectLst/>
                <a:latin typeface="Ubuntu"/>
              </a:rPr>
              <a:t> output may not show the decimal point and the decimal part.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19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83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" y="44449"/>
            <a:ext cx="895349" cy="8953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36" y="1882775"/>
            <a:ext cx="8991600" cy="16224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60C5C"/>
                </a:solidFill>
              </a:rPr>
              <a:t>Structures</a:t>
            </a:r>
            <a:br>
              <a:rPr lang="en-US" dirty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/>
          </a:bodyPr>
          <a:lstStyle/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Science, </a:t>
            </a:r>
          </a:p>
          <a:p>
            <a:r>
              <a:rPr lang="en-US" sz="2800" dirty="0"/>
              <a:t>National University of Computer &amp; Emerging Sciences</a:t>
            </a:r>
            <a:r>
              <a:rPr lang="en-US" sz="2600" dirty="0"/>
              <a:t>, Islamabad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Structure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Structure</a:t>
            </a:r>
            <a:r>
              <a:rPr lang="en-US" dirty="0"/>
              <a:t> is a </a:t>
            </a:r>
            <a:r>
              <a:rPr lang="en-US" b="1" dirty="0">
                <a:solidFill>
                  <a:srgbClr val="2C14DE"/>
                </a:solidFill>
              </a:rPr>
              <a:t>container</a:t>
            </a:r>
            <a:r>
              <a:rPr lang="en-US" dirty="0"/>
              <a:t>, it can </a:t>
            </a:r>
            <a:r>
              <a:rPr lang="en-US" b="1" dirty="0">
                <a:solidFill>
                  <a:srgbClr val="2C14DE"/>
                </a:solidFill>
              </a:rPr>
              <a:t>hold a bunch of </a:t>
            </a:r>
            <a:r>
              <a:rPr lang="en-US" b="1" i="1" dirty="0">
                <a:solidFill>
                  <a:srgbClr val="2C14DE"/>
                </a:solidFill>
              </a:rPr>
              <a:t>things</a:t>
            </a:r>
            <a:r>
              <a:rPr lang="en-US" dirty="0"/>
              <a:t>.</a:t>
            </a:r>
          </a:p>
          <a:p>
            <a:pPr lvl="1" algn="l" rtl="0">
              <a:defRPr/>
            </a:pPr>
            <a:r>
              <a:rPr lang="en-US" dirty="0"/>
              <a:t>These </a:t>
            </a:r>
            <a:r>
              <a:rPr lang="en-US" b="1" dirty="0"/>
              <a:t>things</a:t>
            </a:r>
            <a:r>
              <a:rPr lang="en-US" dirty="0"/>
              <a:t> can be of </a:t>
            </a:r>
            <a:r>
              <a:rPr lang="en-US" b="1" u="sng" dirty="0">
                <a:solidFill>
                  <a:srgbClr val="2C14DE"/>
                </a:solidFill>
              </a:rPr>
              <a:t>any type</a:t>
            </a:r>
            <a:r>
              <a:rPr lang="en-US" dirty="0"/>
              <a:t>.</a:t>
            </a:r>
          </a:p>
          <a:p>
            <a:pPr algn="l" rtl="0">
              <a:defRPr/>
            </a:pPr>
            <a:endParaRPr lang="en-US" dirty="0"/>
          </a:p>
          <a:p>
            <a:pPr algn="l" rtl="0">
              <a:defRPr/>
            </a:pPr>
            <a:r>
              <a:rPr lang="en-US" b="1" dirty="0">
                <a:solidFill>
                  <a:srgbClr val="B80000"/>
                </a:solidFill>
              </a:rPr>
              <a:t>Structures</a:t>
            </a:r>
            <a:r>
              <a:rPr lang="en-US" dirty="0">
                <a:solidFill>
                  <a:srgbClr val="B80000"/>
                </a:solidFill>
              </a:rPr>
              <a:t> </a:t>
            </a:r>
            <a:r>
              <a:rPr lang="en-US" dirty="0"/>
              <a:t>are used to </a:t>
            </a:r>
            <a:r>
              <a:rPr lang="en-US" b="1" dirty="0"/>
              <a:t>organize </a:t>
            </a:r>
            <a:r>
              <a:rPr lang="en-US" b="1" dirty="0">
                <a:solidFill>
                  <a:srgbClr val="2C14DE"/>
                </a:solidFill>
              </a:rPr>
              <a:t>related data </a:t>
            </a:r>
            <a:r>
              <a:rPr lang="en-US" dirty="0"/>
              <a:t>(variables) into a </a:t>
            </a:r>
            <a:r>
              <a:rPr lang="en-US" b="1" dirty="0">
                <a:solidFill>
                  <a:srgbClr val="2C14DE"/>
                </a:solidFill>
              </a:rPr>
              <a:t>nice neat package</a:t>
            </a:r>
            <a:r>
              <a:rPr lang="en-US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99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9786" y="24143"/>
            <a:ext cx="8304213" cy="7175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Introducing Structures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" y="914400"/>
            <a:ext cx="9067800" cy="491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A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structure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3200" dirty="0">
                <a:latin typeface="Calibri" pitchFamily="34" charset="0"/>
              </a:rPr>
              <a:t>is a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collection</a:t>
            </a:r>
            <a:r>
              <a:rPr lang="en-US" sz="3200" dirty="0">
                <a:latin typeface="Calibri" pitchFamily="34" charset="0"/>
              </a:rPr>
              <a:t> and is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referenced</a:t>
            </a:r>
            <a:r>
              <a:rPr lang="en-US" sz="3200" dirty="0">
                <a:latin typeface="Calibri" pitchFamily="34" charset="0"/>
              </a:rPr>
              <a:t> with </a:t>
            </a:r>
            <a:r>
              <a:rPr lang="en-US" sz="3200" b="1" dirty="0">
                <a:solidFill>
                  <a:srgbClr val="2F1BC7"/>
                </a:solidFill>
                <a:latin typeface="Calibri" pitchFamily="34" charset="0"/>
              </a:rPr>
              <a:t>single name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.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200" dirty="0">
              <a:latin typeface="Calibri" pitchFamily="34" charset="0"/>
            </a:endParaRP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The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data items </a:t>
            </a:r>
            <a:r>
              <a:rPr lang="en-US" sz="3200" dirty="0">
                <a:latin typeface="Calibri" pitchFamily="34" charset="0"/>
              </a:rPr>
              <a:t>in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structure</a:t>
            </a:r>
            <a:r>
              <a:rPr lang="en-US" sz="3200" dirty="0">
                <a:latin typeface="Calibri" pitchFamily="34" charset="0"/>
              </a:rPr>
              <a:t> are called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structure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members</a:t>
            </a:r>
            <a:r>
              <a:rPr lang="en-US" sz="3200" dirty="0">
                <a:latin typeface="Calibri" pitchFamily="34" charset="0"/>
              </a:rPr>
              <a:t>,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elements</a:t>
            </a:r>
            <a:r>
              <a:rPr lang="en-US" sz="3200" dirty="0">
                <a:latin typeface="Calibri" pitchFamily="34" charset="0"/>
              </a:rPr>
              <a:t>, or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fields</a:t>
            </a:r>
            <a:r>
              <a:rPr lang="en-US" sz="3200" dirty="0">
                <a:latin typeface="Calibri" pitchFamily="34" charset="0"/>
              </a:rPr>
              <a:t>.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sz="32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The difference between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array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 and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structure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: </a:t>
            </a:r>
            <a:r>
              <a:rPr lang="en-US" sz="3200" dirty="0">
                <a:latin typeface="Calibri" pitchFamily="34" charset="0"/>
              </a:rPr>
              <a:t>is that </a:t>
            </a:r>
            <a:r>
              <a:rPr lang="en-US" sz="3200" b="1" i="1" u="sng" dirty="0">
                <a:solidFill>
                  <a:srgbClr val="2F1BC7"/>
                </a:solidFill>
                <a:latin typeface="Calibri" pitchFamily="34" charset="0"/>
              </a:rPr>
              <a:t>array must consists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3200" i="1" dirty="0">
                <a:latin typeface="Calibri" pitchFamily="34" charset="0"/>
              </a:rPr>
              <a:t>of a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3200" b="1" i="1" u="sng" dirty="0">
                <a:solidFill>
                  <a:srgbClr val="2F1BC7"/>
                </a:solidFill>
                <a:latin typeface="Calibri" pitchFamily="34" charset="0"/>
              </a:rPr>
              <a:t>set of values 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of same data</a:t>
            </a:r>
            <a:r>
              <a:rPr lang="en-US" sz="3200" i="1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type</a:t>
            </a:r>
            <a:r>
              <a:rPr lang="en-US" sz="3200" dirty="0">
                <a:latin typeface="Calibri" pitchFamily="34" charset="0"/>
              </a:rPr>
              <a:t> but on the other hand, </a:t>
            </a:r>
            <a:r>
              <a:rPr lang="en-US" sz="3200" b="1" u="sng" dirty="0">
                <a:solidFill>
                  <a:srgbClr val="2F1BC7"/>
                </a:solidFill>
                <a:latin typeface="Calibri" pitchFamily="34" charset="0"/>
              </a:rPr>
              <a:t>structure may consist of different data types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2770188" y="219868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171700" y="191293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191293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4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59711"/>
            <a:ext cx="8207721" cy="611187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Defining the Structure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898821"/>
            <a:ext cx="5867400" cy="4941887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definition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tells how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is organized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: it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specifies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what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</a:t>
            </a:r>
            <a:r>
              <a:rPr lang="en-US" dirty="0">
                <a:latin typeface="Calibri" pitchFamily="34" charset="0"/>
                <a:ea typeface="宋体" pitchFamily="2" charset="-122"/>
              </a:rPr>
              <a:t>will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contain.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dirty="0">
                <a:latin typeface="Calibri" pitchFamily="34" charset="0"/>
                <a:ea typeface="宋体" pitchFamily="2" charset="-122"/>
              </a:rPr>
              <a:t>       Syntax &amp; Example </a:t>
            </a:r>
            <a:r>
              <a:rPr lang="en-US" dirty="0">
                <a:latin typeface="Calibri" pitchFamily="34" charset="0"/>
                <a:ea typeface="宋体" pitchFamily="2" charset="-122"/>
                <a:sym typeface="Wingdings" pitchFamily="2" charset="2"/>
              </a:rPr>
              <a:t></a:t>
            </a:r>
            <a:endParaRPr lang="en-US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410200" y="1219200"/>
            <a:ext cx="3581400" cy="5181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/>
          <a:p>
            <a:pPr marL="342900" indent="-342900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</a:rPr>
              <a:t>Syntax: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 err="1">
                <a:solidFill>
                  <a:srgbClr val="2F1BC7"/>
                </a:solidFill>
                <a:latin typeface="Calibri" pitchFamily="34" charset="0"/>
              </a:rPr>
              <a:t>struct</a:t>
            </a:r>
            <a:r>
              <a:rPr lang="en-US" sz="2000" b="1" dirty="0">
                <a:latin typeface="Calibri" pitchFamily="34" charset="0"/>
              </a:rPr>
              <a:t>  </a:t>
            </a:r>
            <a:r>
              <a:rPr lang="en-US" sz="2000" b="1" dirty="0" err="1">
                <a:solidFill>
                  <a:srgbClr val="008000"/>
                </a:solidFill>
                <a:latin typeface="Calibri" pitchFamily="34" charset="0"/>
              </a:rPr>
              <a:t>StructName</a:t>
            </a:r>
            <a:endParaRPr lang="en-US" sz="2000" b="1" dirty="0">
              <a:solidFill>
                <a:srgbClr val="008000"/>
              </a:solidFill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2F1BC7"/>
                </a:solidFill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</a:t>
            </a: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DataType1</a:t>
            </a:r>
            <a:r>
              <a:rPr lang="en-US" sz="2000" dirty="0">
                <a:latin typeface="Calibri" pitchFamily="34" charset="0"/>
              </a:rPr>
              <a:t>    </a:t>
            </a:r>
            <a:r>
              <a:rPr lang="en-US" sz="2000" dirty="0">
                <a:solidFill>
                  <a:srgbClr val="008000"/>
                </a:solidFill>
                <a:latin typeface="Calibri" pitchFamily="34" charset="0"/>
              </a:rPr>
              <a:t>Identifier1</a:t>
            </a:r>
            <a:r>
              <a:rPr lang="en-US" sz="20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</a:t>
            </a: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DataType2</a:t>
            </a:r>
            <a:r>
              <a:rPr lang="en-US" sz="2000" dirty="0">
                <a:latin typeface="Calibri" pitchFamily="34" charset="0"/>
              </a:rPr>
              <a:t>    </a:t>
            </a:r>
            <a:r>
              <a:rPr lang="en-US" sz="2000" dirty="0">
                <a:solidFill>
                  <a:srgbClr val="008000"/>
                </a:solidFill>
                <a:latin typeface="Calibri" pitchFamily="34" charset="0"/>
              </a:rPr>
              <a:t>Identifier2</a:t>
            </a:r>
            <a:r>
              <a:rPr lang="en-US" sz="20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2F1BC7"/>
                </a:solidFill>
                <a:latin typeface="Calibri" pitchFamily="34" charset="0"/>
              </a:rPr>
              <a:t>};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Example: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 err="1">
                <a:latin typeface="Calibri" pitchFamily="34" charset="0"/>
              </a:rPr>
              <a:t>struct</a:t>
            </a:r>
            <a:r>
              <a:rPr lang="en-US" sz="2000" b="1" dirty="0">
                <a:latin typeface="Calibri" pitchFamily="34" charset="0"/>
              </a:rPr>
              <a:t>   Product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</a:t>
            </a:r>
            <a:r>
              <a:rPr lang="en-US" sz="2000" b="1" dirty="0" err="1">
                <a:latin typeface="Calibri" pitchFamily="34" charset="0"/>
              </a:rPr>
              <a:t>int</a:t>
            </a:r>
            <a:r>
              <a:rPr lang="en-US" sz="2000" b="1" dirty="0">
                <a:latin typeface="Calibri" pitchFamily="34" charset="0"/>
              </a:rPr>
              <a:t>        ID;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string   name;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float     price;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7001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0"/>
            <a:ext cx="8166980" cy="76200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Definition Syntax</a:t>
            </a:r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1295400"/>
            <a:ext cx="6172200" cy="38566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0616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36513"/>
            <a:ext cx="8170957" cy="713819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members in memory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52400" y="2209800"/>
            <a:ext cx="4191000" cy="251460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6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b="1" dirty="0" err="1">
                <a:latin typeface="Calibri" pitchFamily="34" charset="0"/>
              </a:rPr>
              <a:t>struct</a:t>
            </a:r>
            <a:r>
              <a:rPr lang="en-US" sz="2600" b="1" dirty="0">
                <a:latin typeface="Calibri" pitchFamily="34" charset="0"/>
              </a:rPr>
              <a:t>   part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</a:t>
            </a:r>
            <a:r>
              <a:rPr lang="en-US" sz="2600" dirty="0" err="1">
                <a:latin typeface="Calibri" pitchFamily="34" charset="0"/>
              </a:rPr>
              <a:t>int</a:t>
            </a:r>
            <a:r>
              <a:rPr lang="en-US" sz="2600" dirty="0">
                <a:latin typeface="Calibri" pitchFamily="34" charset="0"/>
              </a:rPr>
              <a:t>         </a:t>
            </a:r>
            <a:r>
              <a:rPr lang="en-US" sz="2600" dirty="0" err="1">
                <a:latin typeface="Calibri" pitchFamily="34" charset="0"/>
              </a:rPr>
              <a:t>modelnumber</a:t>
            </a:r>
            <a:r>
              <a:rPr lang="en-US" sz="26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</a:t>
            </a:r>
            <a:r>
              <a:rPr lang="en-US" sz="2600" dirty="0" err="1">
                <a:latin typeface="Calibri" pitchFamily="34" charset="0"/>
              </a:rPr>
              <a:t>int</a:t>
            </a:r>
            <a:r>
              <a:rPr lang="en-US" sz="2600" dirty="0">
                <a:latin typeface="Calibri" pitchFamily="34" charset="0"/>
              </a:rPr>
              <a:t>         </a:t>
            </a:r>
            <a:r>
              <a:rPr lang="en-US" sz="2600" dirty="0" err="1">
                <a:latin typeface="Calibri" pitchFamily="34" charset="0"/>
              </a:rPr>
              <a:t>partnumber</a:t>
            </a:r>
            <a:r>
              <a:rPr lang="en-US" sz="26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float     cost;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0" y="1524000"/>
            <a:ext cx="1828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modelnumber</a:t>
            </a:r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6096000" y="2819400"/>
            <a:ext cx="1828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partnumber</a:t>
            </a:r>
            <a:endParaRPr lang="en-US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6096000" y="4114800"/>
            <a:ext cx="1828800" cy="1219200"/>
          </a:xfrm>
          <a:prstGeom prst="rect">
            <a:avLst/>
          </a:prstGeom>
          <a:solidFill>
            <a:srgbClr val="9BB7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8001000" y="15240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/>
          <p:cNvSpPr/>
          <p:nvPr/>
        </p:nvSpPr>
        <p:spPr>
          <a:xfrm>
            <a:off x="8001000" y="28194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/>
          <p:cNvSpPr/>
          <p:nvPr/>
        </p:nvSpPr>
        <p:spPr>
          <a:xfrm>
            <a:off x="8001000" y="41148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144992" y="1777901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6617" y="3051746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6617" y="4448647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114800" y="2133600"/>
            <a:ext cx="1905000" cy="11430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886200" y="3505200"/>
            <a:ext cx="2133600" cy="1524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19400" y="4038600"/>
            <a:ext cx="3200400" cy="8382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2457450" y="1060664"/>
            <a:ext cx="2857500" cy="850472"/>
          </a:xfrm>
          <a:prstGeom prst="round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Memory is only allocated when we create </a:t>
            </a:r>
            <a:r>
              <a:rPr lang="en-US" b="1" dirty="0" err="1"/>
              <a:t>struct</a:t>
            </a:r>
            <a:r>
              <a:rPr lang="en-US" b="1" dirty="0"/>
              <a:t> type variables</a:t>
            </a:r>
          </a:p>
        </p:txBody>
      </p:sp>
    </p:spTree>
    <p:extLst>
      <p:ext uri="{BB962C8B-B14F-4D97-AF65-F5344CB8AC3E}">
        <p14:creationId xmlns:p14="http://schemas.microsoft.com/office/powerpoint/2010/main" val="7790111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4402"/>
            <a:ext cx="8077200" cy="879998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Declaring a Structure variable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5" y="1066800"/>
            <a:ext cx="9137075" cy="5791199"/>
          </a:xfrm>
          <a:noFill/>
        </p:spPr>
        <p:txBody>
          <a:bodyPr lIns="92075" tIns="46038" rIns="92075" bIns="46038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variable 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can be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created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after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definition</a:t>
            </a:r>
            <a:r>
              <a:rPr lang="en-US" sz="30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of a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.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syntax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of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declaration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is: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     </a:t>
            </a:r>
            <a:r>
              <a:rPr lang="en-US" sz="2400" b="1" dirty="0" err="1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StructName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 Identifier;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itchFamily="2" charset="-122"/>
              </a:rPr>
              <a:t> Example: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		   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part    processor;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	  part    keyboard;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925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7162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76201"/>
            <a:ext cx="9144000" cy="1001709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Another way of Declaring a Structure variable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0175" y="1224913"/>
            <a:ext cx="8985250" cy="982662"/>
          </a:xfrm>
          <a:noFill/>
        </p:spPr>
        <p:txBody>
          <a:bodyPr lIns="92075" tIns="46038" rIns="92075" bIns="46038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Calibri" pitchFamily="34" charset="0"/>
                <a:ea typeface="宋体" pitchFamily="2" charset="-122"/>
              </a:rPr>
              <a:t>You can also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declare</a:t>
            </a:r>
            <a:r>
              <a:rPr lang="en-US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variables</a:t>
            </a:r>
            <a:r>
              <a:rPr lang="en-US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</a:rPr>
              <a:t>during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definition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of the </a:t>
            </a:r>
            <a:r>
              <a:rPr lang="en-US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. For example: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33600" y="2506980"/>
            <a:ext cx="4648200" cy="23139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 err="1"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latin typeface="Consolas" panose="020B0609020204030204" pitchFamily="49" charset="0"/>
              </a:rPr>
              <a:t>   </a:t>
            </a:r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part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</a:rPr>
              <a:t>      </a:t>
            </a:r>
            <a:r>
              <a:rPr lang="en-US" sz="2400" b="1" dirty="0" err="1">
                <a:latin typeface="Consolas" panose="020B0609020204030204" pitchFamily="49" charset="0"/>
              </a:rPr>
              <a:t>modelnumber</a:t>
            </a:r>
            <a:r>
              <a:rPr lang="en-US" sz="2400" b="1" dirty="0">
                <a:latin typeface="Consolas" panose="020B0609020204030204" pitchFamily="49" charset="0"/>
              </a:rPr>
              <a:t>;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800" b="1" dirty="0">
              <a:latin typeface="Consolas" panose="020B0609020204030204" pitchFamily="49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</a:rPr>
              <a:t>      </a:t>
            </a:r>
            <a:r>
              <a:rPr lang="en-US" sz="2400" b="1" dirty="0" err="1">
                <a:latin typeface="Consolas" panose="020B0609020204030204" pitchFamily="49" charset="0"/>
              </a:rPr>
              <a:t>partnumber</a:t>
            </a:r>
            <a:r>
              <a:rPr lang="en-US" sz="2400" b="1" dirty="0">
                <a:latin typeface="Consolas" panose="020B0609020204030204" pitchFamily="49" charset="0"/>
              </a:rPr>
              <a:t>;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800" b="1" dirty="0">
                <a:latin typeface="Consolas" panose="020B0609020204030204" pitchFamily="49" charset="0"/>
              </a:rPr>
              <a:t>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float   cost;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1200" b="1" dirty="0">
              <a:latin typeface="Consolas" panose="020B0609020204030204" pitchFamily="49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} </a:t>
            </a: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part1</a:t>
            </a:r>
            <a:r>
              <a:rPr lang="en-US" sz="2400" b="1" dirty="0">
                <a:latin typeface="Consolas" panose="020B0609020204030204" pitchFamily="49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3200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3200" b="1" dirty="0">
              <a:latin typeface="Calibri" pitchFamily="34" charset="0"/>
            </a:endParaRPr>
          </a:p>
        </p:txBody>
      </p:sp>
      <p:sp>
        <p:nvSpPr>
          <p:cNvPr id="10245" name="Rectangle 3"/>
          <p:cNvSpPr txBox="1">
            <a:spLocks noChangeArrowheads="1"/>
          </p:cNvSpPr>
          <p:nvPr/>
        </p:nvSpPr>
        <p:spPr bwMode="auto">
          <a:xfrm>
            <a:off x="9525" y="5257800"/>
            <a:ext cx="9144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These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statements</a:t>
            </a:r>
            <a:r>
              <a:rPr lang="en-US" sz="3200" dirty="0">
                <a:latin typeface="Calibri" pitchFamily="34" charset="0"/>
              </a:rPr>
              <a:t> define the </a:t>
            </a:r>
            <a:r>
              <a:rPr lang="en-US" sz="3200" dirty="0" err="1">
                <a:solidFill>
                  <a:srgbClr val="2F1BC7"/>
                </a:solidFill>
                <a:latin typeface="Calibri" pitchFamily="34" charset="0"/>
              </a:rPr>
              <a:t>struct</a:t>
            </a:r>
            <a:r>
              <a:rPr lang="en-US" sz="3200" dirty="0">
                <a:latin typeface="Calibri" pitchFamily="34" charset="0"/>
              </a:rPr>
              <a:t>  named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part</a:t>
            </a:r>
            <a:r>
              <a:rPr lang="en-US" sz="3200" dirty="0">
                <a:latin typeface="Calibri" pitchFamily="34" charset="0"/>
              </a:rPr>
              <a:t> and also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declare</a:t>
            </a:r>
            <a:r>
              <a:rPr lang="en-US" sz="3200" dirty="0">
                <a:latin typeface="Calibri" pitchFamily="34" charset="0"/>
              </a:rPr>
              <a:t> </a:t>
            </a:r>
            <a:r>
              <a:rPr lang="en-US" sz="3200" b="1" dirty="0">
                <a:solidFill>
                  <a:srgbClr val="008000"/>
                </a:solidFill>
                <a:latin typeface="Calibri" pitchFamily="34" charset="0"/>
              </a:rPr>
              <a:t>part1</a:t>
            </a:r>
            <a:r>
              <a:rPr lang="en-US" sz="3200" dirty="0">
                <a:latin typeface="Calibri" pitchFamily="34" charset="0"/>
              </a:rPr>
              <a:t> to be a </a:t>
            </a:r>
            <a:r>
              <a:rPr lang="en-US" sz="3200" dirty="0">
                <a:solidFill>
                  <a:srgbClr val="008000"/>
                </a:solidFill>
                <a:latin typeface="Calibri" pitchFamily="34" charset="0"/>
              </a:rPr>
              <a:t>variable</a:t>
            </a:r>
            <a:r>
              <a:rPr lang="en-US" sz="3200" dirty="0">
                <a:latin typeface="Calibri" pitchFamily="34" charset="0"/>
              </a:rPr>
              <a:t> of </a:t>
            </a:r>
            <a:r>
              <a:rPr lang="en-US" sz="3200" dirty="0">
                <a:solidFill>
                  <a:srgbClr val="008000"/>
                </a:solidFill>
                <a:latin typeface="Calibri" pitchFamily="34" charset="0"/>
              </a:rPr>
              <a:t>type </a:t>
            </a:r>
            <a:r>
              <a:rPr lang="en-US" sz="3200" b="1" dirty="0">
                <a:solidFill>
                  <a:srgbClr val="B80000"/>
                </a:solidFill>
                <a:latin typeface="Calibri" pitchFamily="34" charset="0"/>
              </a:rPr>
              <a:t>part</a:t>
            </a:r>
            <a:r>
              <a:rPr lang="en-US" sz="3200" dirty="0">
                <a:latin typeface="Calibri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" y="92550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47382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4619"/>
            <a:ext cx="9067800" cy="64135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Examples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28600" y="1268413"/>
            <a:ext cx="4038599" cy="4248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 err="1">
                <a:latin typeface="Calibri" pitchFamily="34" charset="0"/>
              </a:rPr>
              <a:t>struct</a:t>
            </a:r>
            <a:r>
              <a:rPr lang="en-US" sz="2800" dirty="0">
                <a:latin typeface="Calibri" pitchFamily="34" charset="0"/>
              </a:rPr>
              <a:t>  </a:t>
            </a:r>
            <a:r>
              <a:rPr lang="en-US" sz="2800" b="1" dirty="0">
                <a:latin typeface="Calibri" pitchFamily="34" charset="0"/>
              </a:rPr>
              <a:t>Employee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</a:t>
            </a:r>
            <a:r>
              <a:rPr lang="en-US" sz="2800" dirty="0" err="1">
                <a:latin typeface="Calibri" pitchFamily="34" charset="0"/>
              </a:rPr>
              <a:t>firstName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</a:t>
            </a:r>
            <a:r>
              <a:rPr lang="en-US" sz="2800" dirty="0" err="1">
                <a:latin typeface="Calibri" pitchFamily="34" charset="0"/>
              </a:rPr>
              <a:t>lastName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address;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double    salary;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</a:t>
            </a:r>
            <a:r>
              <a:rPr lang="en-US" sz="2800" dirty="0" err="1">
                <a:latin typeface="Calibri" pitchFamily="34" charset="0"/>
              </a:rPr>
              <a:t>int</a:t>
            </a:r>
            <a:r>
              <a:rPr lang="en-US" sz="2800" dirty="0">
                <a:latin typeface="Calibri" pitchFamily="34" charset="0"/>
              </a:rPr>
              <a:t>            </a:t>
            </a:r>
            <a:r>
              <a:rPr lang="en-US" sz="2800" dirty="0" err="1">
                <a:latin typeface="Calibri" pitchFamily="34" charset="0"/>
              </a:rPr>
              <a:t>deptID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};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Employee 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</a:rPr>
              <a:t>e1</a:t>
            </a:r>
            <a:r>
              <a:rPr lang="en-US" sz="2800" dirty="0">
                <a:latin typeface="Calibri" pitchFamily="34" charset="0"/>
              </a:rPr>
              <a:t>;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52950" y="1325563"/>
            <a:ext cx="4179888" cy="419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   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Student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{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string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firstName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string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lastName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char  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courseGrade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	          Score;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    double    CGPA;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28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}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s2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30029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44449"/>
            <a:ext cx="8177543" cy="900431"/>
          </a:xfrm>
          <a:solidFill>
            <a:schemeClr val="bg1"/>
          </a:solidFill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Initializing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990600"/>
            <a:ext cx="8839200" cy="58674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</a:rPr>
              <a:t>The syntax of </a:t>
            </a:r>
            <a:r>
              <a:rPr lang="en-US" b="1" u="sng" dirty="0">
                <a:latin typeface="Calibri" pitchFamily="34" charset="0"/>
                <a:ea typeface="宋体" pitchFamily="2" charset="-122"/>
              </a:rPr>
              <a:t>initializing structure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is: </a:t>
            </a: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StructName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 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struct_identifier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=  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{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Value1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Value2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, …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};</a:t>
            </a: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75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08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44449"/>
            <a:ext cx="9067801" cy="861479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Variable Initialization with Declaration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5943600"/>
            <a:ext cx="8915400" cy="914400"/>
          </a:xfrm>
        </p:spPr>
        <p:txBody>
          <a:bodyPr lIns="92075" tIns="46038" rIns="92075" bIns="46038">
            <a:noAutofit/>
          </a:bodyPr>
          <a:lstStyle/>
          <a:p>
            <a:pPr marL="0" indent="0">
              <a:buFont typeface="Wingdings" pitchFamily="2" charset="2"/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Note: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 should be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written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 in the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same sequence 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in which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they are specified 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in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definition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6200" y="959694"/>
            <a:ext cx="8763000" cy="495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 err="1">
                <a:latin typeface="Calibri" pitchFamily="34" charset="0"/>
              </a:rPr>
              <a:t>struct</a:t>
            </a:r>
            <a:r>
              <a:rPr lang="en-US" sz="2400" dirty="0">
                <a:latin typeface="Calibri" pitchFamily="34" charset="0"/>
              </a:rPr>
              <a:t> 	 Student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{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string     </a:t>
            </a:r>
            <a:r>
              <a:rPr lang="en-US" sz="2400" dirty="0" err="1">
                <a:latin typeface="Calibri" pitchFamily="34" charset="0"/>
              </a:rPr>
              <a:t>firstName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string     </a:t>
            </a:r>
            <a:r>
              <a:rPr lang="en-US" sz="2400" dirty="0" err="1">
                <a:latin typeface="Calibri" pitchFamily="34" charset="0"/>
              </a:rPr>
              <a:t>lastName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char       </a:t>
            </a:r>
            <a:r>
              <a:rPr lang="en-US" sz="2400" dirty="0" err="1">
                <a:latin typeface="Calibri" pitchFamily="34" charset="0"/>
              </a:rPr>
              <a:t>courseGrade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</a:t>
            </a:r>
            <a:r>
              <a:rPr lang="en-US" sz="2400" dirty="0" err="1">
                <a:latin typeface="Calibri" pitchFamily="34" charset="0"/>
              </a:rPr>
              <a:t>int</a:t>
            </a:r>
            <a:r>
              <a:rPr lang="en-US" sz="2400" dirty="0">
                <a:latin typeface="Calibri" pitchFamily="34" charset="0"/>
              </a:rPr>
              <a:t>          marks;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};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 dirty="0">
              <a:latin typeface="Calibri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 dirty="0">
              <a:latin typeface="Calibri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void main( )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{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        </a:t>
            </a:r>
            <a:r>
              <a:rPr lang="en-US" sz="2600" b="1" dirty="0">
                <a:latin typeface="Calibri" pitchFamily="34" charset="0"/>
              </a:rPr>
              <a:t>Student s1= {“M”, “Umar”, ‘A’, 94} 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0592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2667000" y="1586343"/>
            <a:ext cx="519546" cy="3407397"/>
          </a:xfrm>
          <a:custGeom>
            <a:avLst/>
            <a:gdLst>
              <a:gd name="connsiteX0" fmla="*/ 1163782 w 1357746"/>
              <a:gd name="connsiteY0" fmla="*/ 3484418 h 3484418"/>
              <a:gd name="connsiteX1" fmla="*/ 1163782 w 1357746"/>
              <a:gd name="connsiteY1" fmla="*/ 547254 h 3484418"/>
              <a:gd name="connsiteX2" fmla="*/ 0 w 1357746"/>
              <a:gd name="connsiteY2" fmla="*/ 200891 h 348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7746" h="3484418">
                <a:moveTo>
                  <a:pt x="1163782" y="3484418"/>
                </a:moveTo>
                <a:cubicBezTo>
                  <a:pt x="1260764" y="2289463"/>
                  <a:pt x="1357746" y="1094508"/>
                  <a:pt x="1163782" y="547254"/>
                </a:cubicBezTo>
                <a:cubicBezTo>
                  <a:pt x="969818" y="0"/>
                  <a:pt x="484909" y="100445"/>
                  <a:pt x="0" y="200891"/>
                </a:cubicBezTo>
              </a:path>
            </a:pathLst>
          </a:custGeom>
          <a:ln w="31750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2895600" y="1752600"/>
            <a:ext cx="1391228" cy="3276600"/>
          </a:xfrm>
          <a:custGeom>
            <a:avLst/>
            <a:gdLst>
              <a:gd name="connsiteX0" fmla="*/ 2064328 w 2200564"/>
              <a:gd name="connsiteY0" fmla="*/ 3276600 h 3276600"/>
              <a:gd name="connsiteX1" fmla="*/ 1856509 w 2200564"/>
              <a:gd name="connsiteY1" fmla="*/ 477982 h 3276600"/>
              <a:gd name="connsiteX2" fmla="*/ 0 w 2200564"/>
              <a:gd name="connsiteY2" fmla="*/ 408709 h 327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0564" h="3276600">
                <a:moveTo>
                  <a:pt x="2064328" y="3276600"/>
                </a:moveTo>
                <a:cubicBezTo>
                  <a:pt x="2132446" y="2116282"/>
                  <a:pt x="2200564" y="955964"/>
                  <a:pt x="1856509" y="477982"/>
                </a:cubicBezTo>
                <a:cubicBezTo>
                  <a:pt x="1512454" y="0"/>
                  <a:pt x="756227" y="204354"/>
                  <a:pt x="0" y="408709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3128239" y="1961904"/>
            <a:ext cx="1748561" cy="3031836"/>
          </a:xfrm>
          <a:custGeom>
            <a:avLst/>
            <a:gdLst>
              <a:gd name="connsiteX0" fmla="*/ 2244437 w 2493819"/>
              <a:gd name="connsiteY0" fmla="*/ 3031836 h 3031836"/>
              <a:gd name="connsiteX1" fmla="*/ 2119746 w 2493819"/>
              <a:gd name="connsiteY1" fmla="*/ 413327 h 3031836"/>
              <a:gd name="connsiteX2" fmla="*/ 0 w 2493819"/>
              <a:gd name="connsiteY2" fmla="*/ 551873 h 3031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93819" h="3031836">
                <a:moveTo>
                  <a:pt x="2244437" y="3031836"/>
                </a:moveTo>
                <a:cubicBezTo>
                  <a:pt x="2369128" y="1929245"/>
                  <a:pt x="2493819" y="826654"/>
                  <a:pt x="2119746" y="413327"/>
                </a:cubicBezTo>
                <a:cubicBezTo>
                  <a:pt x="1745673" y="0"/>
                  <a:pt x="872836" y="275936"/>
                  <a:pt x="0" y="551873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2757055" y="2339109"/>
            <a:ext cx="2805545" cy="2690091"/>
          </a:xfrm>
          <a:custGeom>
            <a:avLst/>
            <a:gdLst>
              <a:gd name="connsiteX0" fmla="*/ 3588327 w 4200235"/>
              <a:gd name="connsiteY0" fmla="*/ 2690091 h 2690091"/>
              <a:gd name="connsiteX1" fmla="*/ 3602181 w 4200235"/>
              <a:gd name="connsiteY1" fmla="*/ 348673 h 2690091"/>
              <a:gd name="connsiteX2" fmla="*/ 0 w 4200235"/>
              <a:gd name="connsiteY2" fmla="*/ 598055 h 269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00235" h="2690091">
                <a:moveTo>
                  <a:pt x="3588327" y="2690091"/>
                </a:moveTo>
                <a:cubicBezTo>
                  <a:pt x="3894281" y="1693718"/>
                  <a:pt x="4200235" y="697346"/>
                  <a:pt x="3602181" y="348673"/>
                </a:cubicBezTo>
                <a:cubicBezTo>
                  <a:pt x="3004127" y="0"/>
                  <a:pt x="1502063" y="299027"/>
                  <a:pt x="0" y="598055"/>
                </a:cubicBezTo>
              </a:path>
            </a:pathLst>
          </a:custGeom>
          <a:ln w="31750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5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11212" y="-31751"/>
            <a:ext cx="8304213" cy="976631"/>
          </a:xfrm>
          <a:noFill/>
        </p:spPr>
        <p:txBody>
          <a:bodyPr lIns="92075" tIns="46038" rIns="92075" bIns="46038">
            <a:normAutofit fontScale="90000"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Values to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990600"/>
            <a:ext cx="9067800" cy="58674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After creating structure variable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can be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dot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.</a:t>
            </a:r>
            <a:r>
              <a:rPr lang="en-US" dirty="0">
                <a:latin typeface="Calibri" pitchFamily="34" charset="0"/>
                <a:ea typeface="宋体" pitchFamily="2" charset="-122"/>
              </a:rPr>
              <a:t>)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operator</a:t>
            </a:r>
            <a:endParaRPr lang="en-US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endParaRPr lang="en-US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r>
              <a:rPr lang="en-US" sz="3400" dirty="0">
                <a:latin typeface="Calibri" pitchFamily="34" charset="0"/>
                <a:ea typeface="宋体" pitchFamily="2" charset="-122"/>
              </a:rPr>
              <a:t>The </a:t>
            </a:r>
            <a:r>
              <a:rPr lang="en-US" sz="34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syntax</a:t>
            </a:r>
            <a:r>
              <a:rPr lang="en-US" sz="3400" dirty="0">
                <a:latin typeface="Calibri" pitchFamily="34" charset="0"/>
                <a:ea typeface="宋体" pitchFamily="2" charset="-122"/>
              </a:rPr>
              <a:t> is </a:t>
            </a:r>
            <a:r>
              <a:rPr lang="en-US" sz="34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 follows</a:t>
            </a:r>
            <a:r>
              <a:rPr lang="en-US" sz="3400" dirty="0">
                <a:latin typeface="Calibri" pitchFamily="34" charset="0"/>
                <a:ea typeface="宋体" pitchFamily="2" charset="-122"/>
              </a:rPr>
              <a:t>:</a:t>
            </a:r>
          </a:p>
          <a:p>
            <a:pPr algn="ctr">
              <a:spcBef>
                <a:spcPct val="0"/>
              </a:spcBef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       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student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</a:rPr>
              <a:t>  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firstName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“ABC”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lastName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“XYZ”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courseGrade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‘A’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marks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93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30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544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7716" y="-19680"/>
            <a:ext cx="8304213" cy="934079"/>
          </a:xfrm>
          <a:noFill/>
        </p:spPr>
        <p:txBody>
          <a:bodyPr lIns="92075" tIns="46038" rIns="92075" bIns="46038">
            <a:normAutofit fontScale="90000"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Values to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066800"/>
            <a:ext cx="8991600" cy="57912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After creating structure variable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can be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i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br>
              <a:rPr lang="en-US" b="1" i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</a:br>
            <a:endParaRPr lang="en-US" b="1" i="1" u="sng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Output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screen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i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cout</a:t>
            </a:r>
            <a:endParaRPr lang="en-US" b="1" i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 algn="ctr">
              <a:spcBef>
                <a:spcPct val="0"/>
              </a:spcBef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       student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</a:rPr>
              <a:t>  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3000" b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courseGrade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 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endParaRPr lang="en-US" sz="3000" b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cout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&lt;&lt;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&lt;&lt;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  <a:endParaRPr lang="en-US" sz="3000" b="1" dirty="0"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30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129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06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4288"/>
            <a:ext cx="9144000" cy="900112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one Structure Variable to another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52513"/>
            <a:ext cx="9144000" cy="5805487"/>
          </a:xfrm>
        </p:spPr>
        <p:txBody>
          <a:bodyPr lIns="92075" tIns="46038" rIns="92075" bIns="46038">
            <a:normAutofit/>
          </a:bodyPr>
          <a:lstStyle/>
          <a:p>
            <a:pPr algn="just"/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another 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variable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only if both are of same type</a:t>
            </a:r>
            <a:r>
              <a:rPr lang="en-US" b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</a:p>
          <a:p>
            <a:pPr algn="just"/>
            <a:endParaRPr lang="en-US" sz="28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/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initialized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by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assigning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another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it by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using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the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assignment operator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as follows:</a:t>
            </a:r>
          </a:p>
          <a:p>
            <a:pPr algn="just">
              <a:buFont typeface="Wingdings" pitchFamily="2" charset="2"/>
              <a:buNone/>
            </a:pPr>
            <a:endParaRPr lang="en-US" sz="28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Example:</a:t>
            </a:r>
            <a:endParaRPr lang="en-US" sz="28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studentType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Student1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= {“Amir”, “Ali”, ‘A’, 98} 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studentType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student2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Student1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44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1" y="-6649"/>
            <a:ext cx="9067799" cy="984127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of Structures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2601" y="1173072"/>
            <a:ext cx="8836937" cy="4239245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Autofit/>
          </a:bodyPr>
          <a:lstStyle/>
          <a:p>
            <a:pPr marL="0" indent="0" algn="just">
              <a:lnSpc>
                <a:spcPct val="80000"/>
              </a:lnSpc>
              <a:spcBef>
                <a:spcPct val="100000"/>
              </a:spcBef>
              <a:buNone/>
            </a:pP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An array 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of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is a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type of array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in which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each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element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contains a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complete structure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.</a:t>
            </a:r>
          </a:p>
          <a:p>
            <a:pPr>
              <a:lnSpc>
                <a:spcPct val="80000"/>
              </a:lnSpc>
              <a:spcBef>
                <a:spcPct val="100000"/>
              </a:spcBef>
            </a:pPr>
            <a:endParaRPr lang="en-US" sz="2400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000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</a:t>
            </a: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Book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{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 err="1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 ID;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 err="1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 Pages;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float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Price;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};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Book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</a:t>
            </a:r>
            <a:r>
              <a:rPr lang="en-US" sz="2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Library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[100];	// declaration of array of structures</a:t>
            </a:r>
          </a:p>
          <a:p>
            <a:pPr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</a:pPr>
            <a:endParaRPr lang="en-US" sz="400" b="1" u="sng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04800" y="5715951"/>
            <a:ext cx="2524125" cy="890588"/>
            <a:chOff x="498475" y="5281613"/>
            <a:chExt cx="2524125" cy="890588"/>
          </a:xfrm>
        </p:grpSpPr>
        <p:sp>
          <p:nvSpPr>
            <p:cNvPr id="10" name="Rectangle 9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Library[0]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  <p:sp>
        <p:nvSpPr>
          <p:cNvPr id="23" name="TextBox 31"/>
          <p:cNvSpPr txBox="1">
            <a:spLocks noChangeArrowheads="1"/>
          </p:cNvSpPr>
          <p:nvPr/>
        </p:nvSpPr>
        <p:spPr bwMode="auto">
          <a:xfrm>
            <a:off x="5410200" y="5539739"/>
            <a:ext cx="57099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5000" b="1" dirty="0">
                <a:latin typeface="Lucida Console" pitchFamily="49" charset="0"/>
                <a:cs typeface="Arial" charset="0"/>
              </a:rPr>
              <a:t>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-58737" y="99329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2895600" y="5692139"/>
            <a:ext cx="2524125" cy="890588"/>
            <a:chOff x="498475" y="5281613"/>
            <a:chExt cx="2524125" cy="890588"/>
          </a:xfrm>
        </p:grpSpPr>
        <p:sp>
          <p:nvSpPr>
            <p:cNvPr id="28" name="Rectangle 27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Library[1]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971310" y="5692139"/>
            <a:ext cx="2524125" cy="890588"/>
            <a:chOff x="498475" y="5281613"/>
            <a:chExt cx="2524125" cy="890588"/>
          </a:xfrm>
        </p:grpSpPr>
        <p:sp>
          <p:nvSpPr>
            <p:cNvPr id="33" name="Rectangle 32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Library[99]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289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3969"/>
            <a:ext cx="8153401" cy="717550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Initialization of Array of Structures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" y="685800"/>
            <a:ext cx="9144000" cy="64008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	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Book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{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   ID;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   Pages;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float  Price;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};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Book    b[3];	// declaration of array of structures</a:t>
            </a:r>
            <a:br>
              <a:rPr lang="en-US" sz="20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</a:br>
            <a:endParaRPr lang="en-US" sz="20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Initializing can be at the time of declaration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Book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[3] = {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{1,275,70}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</a:t>
            </a:r>
            <a:r>
              <a:rPr lang="en-US" sz="28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{2,600,90}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{3,786,100}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endParaRPr lang="en-US" sz="20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can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be 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 values 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using </a:t>
            </a:r>
            <a:r>
              <a:rPr lang="en-US" sz="2800" b="1" i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&gt;&gt;b[0].ID ;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&gt;&gt;b[0].Pages;  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&gt;&gt;b[0].Price;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67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3968"/>
            <a:ext cx="8153401" cy="900431"/>
          </a:xfrm>
          <a:noFill/>
        </p:spPr>
        <p:txBody>
          <a:bodyPr lIns="92075" tIns="46038" rIns="92075" bIns="46038">
            <a:normAutofit fontScale="90000"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Partial Initialization of Array of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0"/>
            <a:ext cx="5867400" cy="47259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371600"/>
            <a:ext cx="2169367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0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21936"/>
            <a:ext cx="8141194" cy="879302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as Member of Structures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1066800"/>
            <a:ext cx="8991600" cy="56942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lnSpc>
                <a:spcPct val="80000"/>
              </a:lnSpc>
              <a:spcBef>
                <a:spcPct val="100000"/>
              </a:spcBef>
            </a:pPr>
            <a:r>
              <a:rPr lang="en-US" dirty="0">
                <a:latin typeface="Calibri" pitchFamily="34" charset="0"/>
                <a:ea typeface="宋体" pitchFamily="2" charset="-122"/>
              </a:rPr>
              <a:t>A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may also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contain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as members.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	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Student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      		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     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RollNo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      		float     Marks[3];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};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8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14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Initialization can be done at time of declaration:</a:t>
            </a:r>
            <a:b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</a:br>
            <a: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b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</a:br>
            <a: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		  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Student   S   = {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1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   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{70.0, 90.0, 97.0}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};</a:t>
            </a:r>
          </a:p>
        </p:txBody>
      </p:sp>
      <p:sp>
        <p:nvSpPr>
          <p:cNvPr id="4" name="Rectangle 3"/>
          <p:cNvSpPr/>
          <p:nvPr/>
        </p:nvSpPr>
        <p:spPr>
          <a:xfrm>
            <a:off x="-12206" y="90123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710872" y="2895600"/>
            <a:ext cx="1632528" cy="2821709"/>
          </a:xfrm>
          <a:custGeom>
            <a:avLst/>
            <a:gdLst>
              <a:gd name="connsiteX0" fmla="*/ 1632528 w 1632528"/>
              <a:gd name="connsiteY0" fmla="*/ 3050309 h 3050309"/>
              <a:gd name="connsiteX1" fmla="*/ 205509 w 1632528"/>
              <a:gd name="connsiteY1" fmla="*/ 501073 h 3050309"/>
              <a:gd name="connsiteX2" fmla="*/ 399473 w 1632528"/>
              <a:gd name="connsiteY2" fmla="*/ 43873 h 3050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2528" h="3050309">
                <a:moveTo>
                  <a:pt x="1632528" y="3050309"/>
                </a:moveTo>
                <a:cubicBezTo>
                  <a:pt x="1021773" y="2026227"/>
                  <a:pt x="411018" y="1002146"/>
                  <a:pt x="205509" y="501073"/>
                </a:cubicBezTo>
                <a:cubicBezTo>
                  <a:pt x="0" y="0"/>
                  <a:pt x="199736" y="21936"/>
                  <a:pt x="399473" y="43873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419600" y="2971800"/>
            <a:ext cx="2819400" cy="2667000"/>
            <a:chOff x="4419600" y="2653145"/>
            <a:chExt cx="2819400" cy="2985655"/>
          </a:xfrm>
        </p:grpSpPr>
        <p:sp>
          <p:nvSpPr>
            <p:cNvPr id="8" name="Left Brace 7"/>
            <p:cNvSpPr/>
            <p:nvPr/>
          </p:nvSpPr>
          <p:spPr>
            <a:xfrm rot="5400000">
              <a:off x="5886450" y="4286250"/>
              <a:ext cx="342900" cy="2362200"/>
            </a:xfrm>
            <a:prstGeom prst="leftBrace">
              <a:avLst/>
            </a:prstGeom>
            <a:ln w="31750">
              <a:solidFill>
                <a:srgbClr val="2F1B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4419600" y="2653145"/>
              <a:ext cx="2034309" cy="2597727"/>
            </a:xfrm>
            <a:custGeom>
              <a:avLst/>
              <a:gdLst>
                <a:gd name="connsiteX0" fmla="*/ 1648690 w 2034309"/>
                <a:gd name="connsiteY0" fmla="*/ 2597727 h 2597727"/>
                <a:gd name="connsiteX1" fmla="*/ 1759527 w 2034309"/>
                <a:gd name="connsiteY1" fmla="*/ 381000 h 2597727"/>
                <a:gd name="connsiteX2" fmla="*/ 0 w 2034309"/>
                <a:gd name="connsiteY2" fmla="*/ 311727 h 259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4309" h="2597727">
                  <a:moveTo>
                    <a:pt x="1648690" y="2597727"/>
                  </a:moveTo>
                  <a:cubicBezTo>
                    <a:pt x="1841499" y="1679863"/>
                    <a:pt x="2034309" y="762000"/>
                    <a:pt x="1759527" y="381000"/>
                  </a:cubicBezTo>
                  <a:cubicBezTo>
                    <a:pt x="1484745" y="0"/>
                    <a:pt x="742372" y="155863"/>
                    <a:pt x="0" y="311727"/>
                  </a:cubicBezTo>
                </a:path>
              </a:pathLst>
            </a:custGeom>
            <a:ln w="28575">
              <a:solidFill>
                <a:srgbClr val="2F1BC7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631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97236" y="67309"/>
            <a:ext cx="8189614" cy="82631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as Member of Structures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893619"/>
            <a:ext cx="8991600" cy="5867401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it can be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 values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later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in the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program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Student   S;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S.RollNo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= 1;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[0] = 70.0;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	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[1] = 90.0;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[2] = 97.0;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user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can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i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get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input directly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ct val="0"/>
              </a:spcBef>
              <a:buNone/>
            </a:pPr>
            <a:r>
              <a:rPr lang="en-US" sz="2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S.RollNo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endParaRPr lang="en-US" sz="30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[0]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[1]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[2]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9742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372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53397"/>
            <a:ext cx="8177543" cy="64135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Nested Structure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60198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 algn="just">
              <a:lnSpc>
                <a:spcPct val="80000"/>
              </a:lnSpc>
            </a:pP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can be a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member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of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another 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 called </a:t>
            </a:r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nesting of structure.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A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{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x;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double   y;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};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2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B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{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 char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 </a:t>
            </a:r>
            <a:r>
              <a:rPr lang="en-US" sz="26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         v1;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};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6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   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  record;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2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1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35413" y="4492625"/>
            <a:ext cx="5029200" cy="1600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record 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30813" y="4873625"/>
            <a:ext cx="3505200" cy="1066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v1</a:t>
            </a:r>
          </a:p>
          <a:p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64163" y="5178425"/>
            <a:ext cx="108585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x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4013" y="5178425"/>
            <a:ext cx="914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ch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8125" y="5178425"/>
            <a:ext cx="1995488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90055" y="1766456"/>
            <a:ext cx="1403928" cy="3193472"/>
          </a:xfrm>
          <a:custGeom>
            <a:avLst/>
            <a:gdLst>
              <a:gd name="connsiteX0" fmla="*/ 893619 w 1403928"/>
              <a:gd name="connsiteY0" fmla="*/ 3193472 h 3193472"/>
              <a:gd name="connsiteX1" fmla="*/ 270164 w 1403928"/>
              <a:gd name="connsiteY1" fmla="*/ 2680854 h 3193472"/>
              <a:gd name="connsiteX2" fmla="*/ 173182 w 1403928"/>
              <a:gd name="connsiteY2" fmla="*/ 865909 h 3193472"/>
              <a:gd name="connsiteX3" fmla="*/ 1309255 w 1403928"/>
              <a:gd name="connsiteY3" fmla="*/ 103909 h 319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3928" h="3193472">
                <a:moveTo>
                  <a:pt x="893619" y="3193472"/>
                </a:moveTo>
                <a:cubicBezTo>
                  <a:pt x="641928" y="3131126"/>
                  <a:pt x="390237" y="3068781"/>
                  <a:pt x="270164" y="2680854"/>
                </a:cubicBezTo>
                <a:cubicBezTo>
                  <a:pt x="150091" y="2292927"/>
                  <a:pt x="0" y="1295400"/>
                  <a:pt x="173182" y="865909"/>
                </a:cubicBezTo>
                <a:cubicBezTo>
                  <a:pt x="346364" y="436418"/>
                  <a:pt x="1403928" y="0"/>
                  <a:pt x="1309255" y="103909"/>
                </a:cubicBezTo>
              </a:path>
            </a:pathLst>
          </a:custGeom>
          <a:ln w="34925">
            <a:solidFill>
              <a:srgbClr val="2F1BC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233055" y="3657600"/>
            <a:ext cx="5084618" cy="2299855"/>
          </a:xfrm>
          <a:custGeom>
            <a:avLst/>
            <a:gdLst>
              <a:gd name="connsiteX0" fmla="*/ 0 w 5084618"/>
              <a:gd name="connsiteY0" fmla="*/ 2299855 h 2299855"/>
              <a:gd name="connsiteX1" fmla="*/ 2119745 w 5084618"/>
              <a:gd name="connsiteY1" fmla="*/ 1634836 h 2299855"/>
              <a:gd name="connsiteX2" fmla="*/ 2396836 w 5084618"/>
              <a:gd name="connsiteY2" fmla="*/ 249382 h 2299855"/>
              <a:gd name="connsiteX3" fmla="*/ 4627418 w 5084618"/>
              <a:gd name="connsiteY3" fmla="*/ 138545 h 2299855"/>
              <a:gd name="connsiteX4" fmla="*/ 5084618 w 5084618"/>
              <a:gd name="connsiteY4" fmla="*/ 734291 h 2299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4618" h="2299855">
                <a:moveTo>
                  <a:pt x="0" y="2299855"/>
                </a:moveTo>
                <a:cubicBezTo>
                  <a:pt x="860136" y="2138218"/>
                  <a:pt x="1720272" y="1976581"/>
                  <a:pt x="2119745" y="1634836"/>
                </a:cubicBezTo>
                <a:cubicBezTo>
                  <a:pt x="2519218" y="1293091"/>
                  <a:pt x="1978891" y="498764"/>
                  <a:pt x="2396836" y="249382"/>
                </a:cubicBezTo>
                <a:cubicBezTo>
                  <a:pt x="2814781" y="0"/>
                  <a:pt x="4179454" y="57727"/>
                  <a:pt x="4627418" y="138545"/>
                </a:cubicBezTo>
                <a:cubicBezTo>
                  <a:pt x="5075382" y="219363"/>
                  <a:pt x="5080000" y="476827"/>
                  <a:pt x="5084618" y="734291"/>
                </a:cubicBezTo>
              </a:path>
            </a:pathLst>
          </a:custGeom>
          <a:ln w="34925">
            <a:solidFill>
              <a:srgbClr val="B8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0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44450"/>
            <a:ext cx="8991600" cy="717550"/>
          </a:xfrm>
          <a:solidFill>
            <a:schemeClr val="bg1"/>
          </a:solidFill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Initializing/Assigning to Nested Structure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88963" y="908050"/>
            <a:ext cx="3767137" cy="3529013"/>
          </a:xfr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/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A{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x;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float  y;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endParaRPr lang="en-US" sz="24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char </a:t>
            </a: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ch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A    v2;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endParaRPr lang="en-US" sz="24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908550" y="981074"/>
            <a:ext cx="4006850" cy="2524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80000"/>
              </a:lnSpc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Input</a:t>
            </a:r>
            <a:endParaRPr lang="en-US" sz="22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B   record;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&gt;&gt;record.ch;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&gt;&gt;record.v2.x;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&gt;&gt;record.v2.y;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4868863"/>
            <a:ext cx="4179887" cy="16843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Initialization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B  record = {‘S’, {100, 3.6} 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908550" y="3860800"/>
            <a:ext cx="4006850" cy="2616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/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Assignment</a:t>
            </a:r>
            <a:endParaRPr lang="en-US" sz="2200" b="1" dirty="0">
              <a:latin typeface="Calibri" pitchFamily="34" charset="0"/>
              <a:cs typeface="Courier New" pitchFamily="49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{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B     record;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record.ch = ‘S’;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record.v2.x = 100;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record.v2.y = 3.6;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43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-1907"/>
            <a:ext cx="9220200" cy="763907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762001"/>
            <a:ext cx="8991600" cy="59990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Pointer variables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used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to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type variables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too.</a:t>
            </a:r>
          </a:p>
          <a:p>
            <a:pPr algn="just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pointer variable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should be of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same type,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for example: 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type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6936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3034145"/>
            <a:ext cx="8915400" cy="37576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rect1Ptr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94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6450" y="-19049"/>
            <a:ext cx="9113067" cy="933192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990600"/>
            <a:ext cx="8991600" cy="57704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How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access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members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using pointer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)? 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Use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dereferencing operator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*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 with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dot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.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 operator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-25975" y="91414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3034145"/>
            <a:ext cx="8915400" cy="37576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rectPtr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cout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 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(*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).width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(*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).height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81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4897"/>
            <a:ext cx="9149281" cy="717550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762001"/>
            <a:ext cx="8991600" cy="59990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Is there some easier way also?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Use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arrow operator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</a:t>
            </a:r>
          </a:p>
          <a:p>
            <a:pPr lvl="1">
              <a:spcBef>
                <a:spcPts val="1200"/>
              </a:spcBef>
              <a:buNone/>
            </a:pPr>
            <a:endParaRPr lang="en-US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lvl="1">
              <a:spcBef>
                <a:spcPts val="1200"/>
              </a:spcBef>
            </a:pPr>
            <a:endParaRPr lang="en-US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2667001"/>
            <a:ext cx="8915400" cy="412475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rectPtr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cout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 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-&gt;width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-&gt;height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08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6450" y="-19049"/>
            <a:ext cx="9113067" cy="933192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Anonymous Structure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990600"/>
            <a:ext cx="8991600" cy="57704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Structures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anonymous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ts val="1200"/>
              </a:spcBef>
            </a:pPr>
            <a:endParaRPr lang="en-US" dirty="0">
              <a:solidFill>
                <a:srgbClr val="2F1BC7"/>
              </a:solidFill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dirty="0">
              <a:solidFill>
                <a:srgbClr val="2F1BC7"/>
              </a:solidFill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sz="30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5975" y="91414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28285"/>
            <a:ext cx="6553200" cy="286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97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Other stuff you can do with a </a:t>
            </a:r>
            <a:r>
              <a:rPr lang="en-US" b="1" dirty="0" err="1">
                <a:solidFill>
                  <a:srgbClr val="2C14DE"/>
                </a:solidFill>
              </a:rPr>
              <a:t>struct</a:t>
            </a: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867400"/>
          </a:xfrm>
        </p:spPr>
        <p:txBody>
          <a:bodyPr/>
          <a:lstStyle/>
          <a:p>
            <a:pPr algn="l" rtl="0">
              <a:defRPr/>
            </a:pPr>
            <a:r>
              <a:rPr lang="en-US" dirty="0"/>
              <a:t>You can also </a:t>
            </a:r>
            <a:r>
              <a:rPr lang="en-US" b="1" dirty="0"/>
              <a:t>associate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functions </a:t>
            </a:r>
            <a:r>
              <a:rPr lang="en-US" dirty="0"/>
              <a:t>with a </a:t>
            </a:r>
            <a:r>
              <a:rPr lang="en-US" b="1" dirty="0">
                <a:solidFill>
                  <a:srgbClr val="2C14DE"/>
                </a:solidFill>
              </a:rPr>
              <a:t>structure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(called </a:t>
            </a:r>
            <a:r>
              <a:rPr lang="en-US" b="1" i="1" u="sng" dirty="0">
                <a:solidFill>
                  <a:srgbClr val="2C14DE"/>
                </a:solidFill>
              </a:rPr>
              <a:t>member functions</a:t>
            </a:r>
            <a:r>
              <a:rPr lang="en-US" dirty="0"/>
              <a:t>)</a:t>
            </a:r>
          </a:p>
          <a:p>
            <a:pPr algn="l" rtl="0">
              <a:defRPr/>
            </a:pPr>
            <a:endParaRPr lang="en-US" dirty="0"/>
          </a:p>
          <a:p>
            <a:pPr algn="l" rtl="0">
              <a:defRPr/>
            </a:pPr>
            <a:r>
              <a:rPr lang="en-US" dirty="0"/>
              <a:t>A C++ </a:t>
            </a:r>
            <a:r>
              <a:rPr lang="en-US" b="1" i="1" dirty="0">
                <a:solidFill>
                  <a:srgbClr val="B80000"/>
                </a:solidFill>
              </a:rPr>
              <a:t>class</a:t>
            </a:r>
            <a:r>
              <a:rPr lang="en-US" b="1" dirty="0">
                <a:solidFill>
                  <a:srgbClr val="B8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2C14DE"/>
                </a:solidFill>
              </a:rPr>
              <a:t>very similar </a:t>
            </a:r>
            <a:r>
              <a:rPr lang="en-US" dirty="0"/>
              <a:t>to a </a:t>
            </a:r>
            <a:r>
              <a:rPr lang="en-US" b="1" dirty="0">
                <a:solidFill>
                  <a:srgbClr val="2C14DE"/>
                </a:solidFill>
              </a:rPr>
              <a:t>structure</a:t>
            </a:r>
            <a:r>
              <a:rPr lang="en-US" dirty="0"/>
              <a:t>, we will focus on </a:t>
            </a:r>
            <a:r>
              <a:rPr lang="en-US" b="1" dirty="0">
                <a:solidFill>
                  <a:srgbClr val="C00000"/>
                </a:solidFill>
              </a:rPr>
              <a:t>classes</a:t>
            </a:r>
            <a:r>
              <a:rPr lang="en-US" dirty="0"/>
              <a:t>.</a:t>
            </a:r>
          </a:p>
          <a:p>
            <a:pPr lvl="1" algn="l" rtl="0">
              <a:defRPr/>
            </a:pPr>
            <a:r>
              <a:rPr lang="en-US" dirty="0"/>
              <a:t>can have (</a:t>
            </a:r>
            <a:r>
              <a:rPr lang="en-US" b="1" dirty="0">
                <a:solidFill>
                  <a:srgbClr val="2C14DE"/>
                </a:solidFill>
              </a:rPr>
              <a:t>data</a:t>
            </a:r>
            <a:r>
              <a:rPr lang="en-US" dirty="0"/>
              <a:t>) </a:t>
            </a:r>
            <a:r>
              <a:rPr lang="en-US" b="1" dirty="0">
                <a:solidFill>
                  <a:srgbClr val="2C14DE"/>
                </a:solidFill>
              </a:rPr>
              <a:t>members</a:t>
            </a:r>
          </a:p>
          <a:p>
            <a:pPr lvl="1" algn="l" rtl="0">
              <a:defRPr/>
            </a:pPr>
            <a:r>
              <a:rPr lang="en-US" dirty="0"/>
              <a:t>can have </a:t>
            </a:r>
            <a:r>
              <a:rPr lang="en-US" b="1" dirty="0">
                <a:solidFill>
                  <a:srgbClr val="2C14DE"/>
                </a:solidFill>
              </a:rPr>
              <a:t>member functions</a:t>
            </a:r>
            <a:r>
              <a:rPr lang="en-US" b="1" dirty="0"/>
              <a:t>.</a:t>
            </a:r>
          </a:p>
          <a:p>
            <a:pPr lvl="1" algn="l" rtl="0">
              <a:defRPr/>
            </a:pPr>
            <a:r>
              <a:rPr lang="en-US" dirty="0"/>
              <a:t>can also </a:t>
            </a:r>
            <a:r>
              <a:rPr lang="en-US" b="1" i="1" dirty="0">
                <a:solidFill>
                  <a:srgbClr val="2C14DE"/>
                </a:solidFill>
              </a:rPr>
              <a:t>hide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some of the </a:t>
            </a:r>
            <a:r>
              <a:rPr lang="en-US" b="1" dirty="0">
                <a:solidFill>
                  <a:srgbClr val="2C14DE"/>
                </a:solidFill>
              </a:rPr>
              <a:t>members</a:t>
            </a:r>
            <a:r>
              <a:rPr lang="en-US" dirty="0"/>
              <a:t> (</a:t>
            </a:r>
            <a:r>
              <a:rPr lang="en-US" b="1" dirty="0"/>
              <a:t>functions </a:t>
            </a:r>
            <a:r>
              <a:rPr lang="en-US" dirty="0"/>
              <a:t>and</a:t>
            </a:r>
            <a:r>
              <a:rPr lang="en-US" b="1" dirty="0"/>
              <a:t> data</a:t>
            </a:r>
            <a:r>
              <a:rPr lang="en-US" dirty="0"/>
              <a:t>).</a:t>
            </a:r>
          </a:p>
          <a:p>
            <a:pPr algn="l" rtl="0"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866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755"/>
            <a:ext cx="8229600" cy="80847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Quick Example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839200" cy="5257800"/>
          </a:xfrm>
        </p:spPr>
        <p:txBody>
          <a:bodyPr>
            <a:normAutofit/>
          </a:bodyPr>
          <a:lstStyle/>
          <a:p>
            <a:pPr algn="l" rtl="0">
              <a:buFontTx/>
              <a:buNone/>
              <a:defRPr/>
            </a:pPr>
            <a:r>
              <a:rPr lang="en-US" sz="2400" b="1" dirty="0" err="1">
                <a:latin typeface="Courier New" pitchFamily="49" charset="0"/>
              </a:rPr>
              <a:t>struct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Courier New" pitchFamily="49" charset="0"/>
              </a:rPr>
              <a:t>StudentRecord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char *name;           // student name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</a:t>
            </a:r>
            <a:r>
              <a:rPr lang="en-US" sz="2400" b="1" dirty="0" err="1">
                <a:latin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</a:rPr>
              <a:t> marks[5];       // test grades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double </a:t>
            </a:r>
            <a:r>
              <a:rPr lang="en-US" sz="2400" b="1" dirty="0" err="1">
                <a:latin typeface="Courier New" pitchFamily="49" charset="0"/>
              </a:rPr>
              <a:t>ave</a:t>
            </a:r>
            <a:r>
              <a:rPr lang="en-US" sz="2400" b="1" dirty="0">
                <a:latin typeface="Courier New" pitchFamily="49" charset="0"/>
              </a:rPr>
              <a:t>;           // final average</a:t>
            </a:r>
          </a:p>
          <a:p>
            <a:pPr algn="l" rtl="0">
              <a:buFontTx/>
              <a:buNone/>
              <a:defRPr/>
            </a:pPr>
            <a:endParaRPr lang="en-US" sz="2400" b="1" dirty="0">
              <a:latin typeface="Courier New" pitchFamily="49" charset="0"/>
            </a:endParaRP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</a:t>
            </a:r>
            <a:r>
              <a:rPr lang="en-US" sz="2400" b="1" dirty="0">
                <a:solidFill>
                  <a:srgbClr val="2C14DE"/>
                </a:solidFill>
                <a:latin typeface="Courier New" pitchFamily="49" charset="0"/>
              </a:rPr>
              <a:t>void </a:t>
            </a:r>
            <a:r>
              <a:rPr lang="en-US" sz="2400" b="1" dirty="0" err="1">
                <a:solidFill>
                  <a:srgbClr val="2C14DE"/>
                </a:solidFill>
                <a:latin typeface="Courier New" pitchFamily="49" charset="0"/>
              </a:rPr>
              <a:t>print_ave</a:t>
            </a:r>
            <a:r>
              <a:rPr lang="en-US" sz="2400" b="1" dirty="0">
                <a:solidFill>
                  <a:srgbClr val="2C14DE"/>
                </a:solidFill>
                <a:latin typeface="Courier New" pitchFamily="49" charset="0"/>
              </a:rPr>
              <a:t>( ) </a:t>
            </a: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    </a:t>
            </a:r>
            <a:r>
              <a:rPr lang="en-US" sz="2400" b="1" dirty="0" err="1">
                <a:latin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</a:rPr>
              <a:t> &lt;&lt; "Name: " &lt;&lt; name &lt;&lt; </a:t>
            </a:r>
            <a:r>
              <a:rPr lang="en-US" sz="2400" b="1" dirty="0" err="1">
                <a:latin typeface="Courier New" pitchFamily="49" charset="0"/>
              </a:rPr>
              <a:t>endl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    </a:t>
            </a:r>
            <a:r>
              <a:rPr lang="en-US" sz="2400" b="1" dirty="0" err="1">
                <a:latin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</a:rPr>
              <a:t> &lt;&lt; "Average: " &lt;&lt; </a:t>
            </a:r>
            <a:r>
              <a:rPr lang="en-US" sz="2400" b="1" dirty="0" err="1">
                <a:latin typeface="Courier New" pitchFamily="49" charset="0"/>
              </a:rPr>
              <a:t>ave</a:t>
            </a:r>
            <a:r>
              <a:rPr lang="en-US" sz="2400" b="1" dirty="0">
                <a:latin typeface="Courier New" pitchFamily="49" charset="0"/>
              </a:rPr>
              <a:t> &lt;&lt; </a:t>
            </a:r>
            <a:r>
              <a:rPr lang="en-US" sz="2400" b="1" dirty="0" err="1">
                <a:latin typeface="Courier New" pitchFamily="49" charset="0"/>
              </a:rPr>
              <a:t>endl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}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596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Using the member function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800600"/>
          </a:xfrm>
        </p:spPr>
        <p:txBody>
          <a:bodyPr/>
          <a:lstStyle/>
          <a:p>
            <a:pPr algn="l">
              <a:buFontTx/>
              <a:buNone/>
              <a:defRPr/>
            </a:pPr>
            <a:r>
              <a:rPr lang="en-US" sz="2800" b="1" dirty="0" err="1">
                <a:solidFill>
                  <a:srgbClr val="B80000"/>
                </a:solidFill>
                <a:latin typeface="Courier New" pitchFamily="49" charset="0"/>
              </a:rPr>
              <a:t>StudentRecord</a:t>
            </a:r>
            <a:r>
              <a:rPr lang="en-US" sz="2800" b="1" dirty="0">
                <a:solidFill>
                  <a:srgbClr val="B80000"/>
                </a:solidFill>
                <a:latin typeface="Courier New" pitchFamily="49" charset="0"/>
              </a:rPr>
              <a:t> </a:t>
            </a:r>
            <a:r>
              <a:rPr lang="en-US" sz="2800" b="1" dirty="0" err="1">
                <a:solidFill>
                  <a:srgbClr val="2C14DE"/>
                </a:solidFill>
                <a:latin typeface="Courier New" pitchFamily="49" charset="0"/>
              </a:rPr>
              <a:t>stu</a:t>
            </a:r>
            <a:r>
              <a:rPr lang="en-US" sz="2800" b="1" dirty="0">
                <a:latin typeface="Courier New" pitchFamily="49" charset="0"/>
              </a:rPr>
              <a:t>;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  <a:p>
            <a:pPr algn="l">
              <a:buFontTx/>
              <a:buNone/>
              <a:defRPr/>
            </a:pPr>
            <a:r>
              <a:rPr lang="en-US" sz="2800" b="1" dirty="0">
                <a:latin typeface="Courier New" pitchFamily="49" charset="0"/>
              </a:rPr>
              <a:t>…  // set values in the structure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  <a:p>
            <a:pPr algn="l">
              <a:buFontTx/>
              <a:buNone/>
              <a:defRPr/>
            </a:pPr>
            <a:r>
              <a:rPr lang="en-US" sz="2800" b="1" dirty="0">
                <a:solidFill>
                  <a:srgbClr val="2C14DE"/>
                </a:solidFill>
                <a:latin typeface="Courier New" pitchFamily="49" charset="0"/>
              </a:rPr>
              <a:t>	</a:t>
            </a:r>
            <a:r>
              <a:rPr lang="en-US" sz="2800" b="1" dirty="0" err="1">
                <a:solidFill>
                  <a:srgbClr val="2C14DE"/>
                </a:solidFill>
                <a:latin typeface="Courier New" pitchFamily="49" charset="0"/>
              </a:rPr>
              <a:t>stu.print_ave</a:t>
            </a:r>
            <a:r>
              <a:rPr lang="en-US" sz="2800" b="1" dirty="0">
                <a:solidFill>
                  <a:srgbClr val="2C14DE"/>
                </a:solidFill>
                <a:latin typeface="Courier New" pitchFamily="49" charset="0"/>
              </a:rPr>
              <a:t>( );</a:t>
            </a:r>
            <a:r>
              <a:rPr lang="en-US" sz="2800" b="1" dirty="0">
                <a:latin typeface="Courier New" pitchFamily="49" charset="0"/>
              </a:rPr>
              <a:t>   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302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6700" y="12143"/>
            <a:ext cx="88391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2C14DE"/>
                </a:solidFill>
              </a:rPr>
              <a:t>Structures</a:t>
            </a:r>
            <a:r>
              <a:rPr lang="en-US" sz="2800" b="1" dirty="0"/>
              <a:t> can be </a:t>
            </a:r>
            <a:r>
              <a:rPr lang="en-US" sz="2800" b="1" dirty="0">
                <a:solidFill>
                  <a:srgbClr val="2C14DE"/>
                </a:solidFill>
              </a:rPr>
              <a:t>passed in a function</a:t>
            </a:r>
            <a:r>
              <a:rPr lang="en-US" sz="2800" b="1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Pass-by-reference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Pass-by-reference (using pointers)</a:t>
            </a:r>
          </a:p>
          <a:p>
            <a:pPr lvl="1"/>
            <a:endParaRPr lang="en-US" sz="24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68566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6700" y="12143"/>
            <a:ext cx="88391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 – By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66800"/>
            <a:ext cx="7970309" cy="28096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4191000"/>
            <a:ext cx="3379800" cy="227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51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76200"/>
            <a:ext cx="7058848" cy="4495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4648200"/>
            <a:ext cx="6361398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3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 – By Value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B80000"/>
                </a:solidFill>
              </a:rPr>
              <a:t>Problem</a:t>
            </a:r>
            <a:r>
              <a:rPr lang="en-US" sz="2800" b="1" dirty="0"/>
              <a:t>: </a:t>
            </a:r>
            <a:r>
              <a:rPr lang="en-US" sz="2800" b="1" u="sng" dirty="0"/>
              <a:t>copy of a large structure takes time and a lot of memory</a:t>
            </a:r>
          </a:p>
          <a:p>
            <a:endParaRPr lang="en-US" sz="2800" u="sng" dirty="0"/>
          </a:p>
          <a:p>
            <a:r>
              <a:rPr lang="en-US" sz="28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Solution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: </a:t>
            </a:r>
            <a:r>
              <a:rPr lang="en-US" sz="2800" b="1" u="sng" dirty="0">
                <a:latin typeface="Calibri" pitchFamily="34" charset="0"/>
                <a:ea typeface="宋体" pitchFamily="2" charset="-122"/>
              </a:rPr>
              <a:t>Pass-by reference (conserves the memory)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Problem</a:t>
            </a:r>
            <a:r>
              <a:rPr lang="en-US" sz="2400" b="1" dirty="0">
                <a:latin typeface="Calibri" pitchFamily="34" charset="0"/>
                <a:ea typeface="宋体" pitchFamily="2" charset="-122"/>
              </a:rPr>
              <a:t>: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Function can update/change original values…</a:t>
            </a:r>
          </a:p>
          <a:p>
            <a:pPr lvl="1"/>
            <a:r>
              <a:rPr lang="en-US" sz="2400" b="1" u="sng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Solution: constant reference</a:t>
            </a:r>
          </a:p>
          <a:p>
            <a:pPr lvl="1"/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14800"/>
            <a:ext cx="7315200" cy="234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0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B80000"/>
                </a:solidFill>
              </a:rPr>
              <a:t>Structures can be returned by a function</a:t>
            </a: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9" y="2223831"/>
            <a:ext cx="8229600" cy="364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297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6700" y="12143"/>
            <a:ext cx="88391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Vs. Classes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/>
              <a:t>Members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B80000"/>
                </a:solidFill>
              </a:rPr>
              <a:t>Structures</a:t>
            </a:r>
            <a:r>
              <a:rPr lang="en-US" sz="2800" dirty="0">
                <a:solidFill>
                  <a:srgbClr val="B80000"/>
                </a:solidFill>
              </a:rPr>
              <a:t>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C14DE"/>
                </a:solidFill>
              </a:rPr>
              <a:t>default </a:t>
            </a:r>
            <a:r>
              <a:rPr lang="en-US" sz="2800" b="1" dirty="0">
                <a:solidFill>
                  <a:srgbClr val="008000"/>
                </a:solidFill>
              </a:rPr>
              <a:t>public</a:t>
            </a:r>
          </a:p>
          <a:p>
            <a:r>
              <a:rPr lang="en-US" sz="2800" b="1" dirty="0"/>
              <a:t>Members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B80000"/>
                </a:solidFill>
              </a:rPr>
              <a:t>Classes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C14DE"/>
                </a:solidFill>
              </a:rPr>
              <a:t>default </a:t>
            </a:r>
            <a:r>
              <a:rPr lang="en-US" sz="2800" b="1" dirty="0">
                <a:solidFill>
                  <a:srgbClr val="008000"/>
                </a:solidFill>
              </a:rPr>
              <a:t>private</a:t>
            </a:r>
          </a:p>
          <a:p>
            <a:endParaRPr lang="en-US" sz="2800" b="1" dirty="0">
              <a:solidFill>
                <a:srgbClr val="2C14DE"/>
              </a:solidFill>
            </a:endParaRPr>
          </a:p>
          <a:p>
            <a:pPr algn="just"/>
            <a:r>
              <a:rPr lang="en-US" sz="2800" b="1" dirty="0"/>
              <a:t>Traditionally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B80000"/>
                </a:solidFill>
              </a:rPr>
              <a:t>structures</a:t>
            </a:r>
            <a:r>
              <a:rPr lang="en-US" sz="2800" dirty="0"/>
              <a:t> are used in </a:t>
            </a:r>
            <a:r>
              <a:rPr lang="en-US" sz="2800" b="1" dirty="0"/>
              <a:t>'C' language </a:t>
            </a:r>
            <a:r>
              <a:rPr lang="en-US" sz="2800" dirty="0"/>
              <a:t>for </a:t>
            </a:r>
            <a:r>
              <a:rPr lang="en-US" sz="2800" b="1" dirty="0">
                <a:solidFill>
                  <a:srgbClr val="2C14DE"/>
                </a:solidFill>
              </a:rPr>
              <a:t>holding records </a:t>
            </a:r>
            <a:r>
              <a:rPr lang="en-US" sz="2800" dirty="0"/>
              <a:t>consisting of </a:t>
            </a:r>
            <a:r>
              <a:rPr lang="en-US" sz="2800" b="1" dirty="0"/>
              <a:t>many data values</a:t>
            </a:r>
          </a:p>
          <a:p>
            <a:endParaRPr lang="en-US" sz="2800" dirty="0"/>
          </a:p>
          <a:p>
            <a:pPr algn="just"/>
            <a:r>
              <a:rPr lang="en-US" sz="2800" b="1" dirty="0">
                <a:solidFill>
                  <a:srgbClr val="C00000"/>
                </a:solidFill>
              </a:rPr>
              <a:t>Classes</a:t>
            </a:r>
            <a:r>
              <a:rPr lang="en-US" sz="2800" dirty="0"/>
              <a:t> are </a:t>
            </a:r>
            <a:r>
              <a:rPr lang="en-US" sz="2800" b="1" dirty="0">
                <a:solidFill>
                  <a:srgbClr val="2C14DE"/>
                </a:solidFill>
              </a:rPr>
              <a:t>meant to describe objects </a:t>
            </a:r>
            <a:r>
              <a:rPr lang="en-US" sz="2800" dirty="0"/>
              <a:t>having </a:t>
            </a:r>
            <a:r>
              <a:rPr lang="en-US" sz="2800" b="1" dirty="0"/>
              <a:t>both private state/data</a:t>
            </a:r>
            <a:r>
              <a:rPr lang="en-US" sz="2800" dirty="0"/>
              <a:t> and </a:t>
            </a:r>
            <a:r>
              <a:rPr lang="en-US" sz="2800" b="1" dirty="0"/>
              <a:t>public member functions</a:t>
            </a:r>
            <a:endParaRPr lang="en-US" sz="28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11665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0"/>
            <a:ext cx="8153400" cy="762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Practice Question 1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5867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Define a structure called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“car”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. The member elements of the car structure are:</a:t>
            </a:r>
          </a:p>
          <a:p>
            <a:pPr lvl="8"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string Model;</a:t>
            </a:r>
          </a:p>
          <a:p>
            <a:pPr lvl="8">
              <a:lnSpc>
                <a:spcPct val="90000"/>
              </a:lnSpc>
            </a:pPr>
            <a:r>
              <a:rPr lang="en-US" sz="3000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Year;</a:t>
            </a:r>
          </a:p>
          <a:p>
            <a:pPr lvl="8"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 float Price</a:t>
            </a:r>
          </a:p>
          <a:p>
            <a:pPr lvl="1">
              <a:lnSpc>
                <a:spcPct val="90000"/>
              </a:lnSpc>
              <a:buNone/>
            </a:pPr>
            <a:endParaRPr lang="en-US" sz="3000" dirty="0">
              <a:latin typeface="Calibri" pitchFamily="34" charset="0"/>
              <a:ea typeface="宋体" pitchFamily="2" charset="-122"/>
            </a:endParaRP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Create an array of 30 cars. Get input for all 30 cars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from the user. Then the program should display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complete information (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Model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Year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Price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) of those 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cars only which are above 500000 in price.</a:t>
            </a:r>
          </a:p>
          <a:p>
            <a:pPr lvl="8">
              <a:lnSpc>
                <a:spcPct val="90000"/>
              </a:lnSpc>
            </a:pPr>
            <a:endParaRPr lang="en-US" sz="1600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142191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1654175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Write a program that implements the following using C++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. The program should finally displays the values stored in a phone directory (for 10 people)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28950" y="39195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PhoneNo</a:t>
            </a:r>
            <a:endParaRPr lang="en-US" b="1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6" name="Straight Arrow Connector 8"/>
          <p:cNvCxnSpPr/>
          <p:nvPr/>
        </p:nvCxnSpPr>
        <p:spPr>
          <a:xfrm rot="5400000" flipH="1" flipV="1">
            <a:off x="2457450" y="28908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71550" y="39195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Name</a:t>
            </a:r>
          </a:p>
        </p:txBody>
      </p:sp>
      <p:cxnSp>
        <p:nvCxnSpPr>
          <p:cNvPr id="8" name="Straight Arrow Connector 8"/>
          <p:cNvCxnSpPr/>
          <p:nvPr/>
        </p:nvCxnSpPr>
        <p:spPr>
          <a:xfrm rot="5400000" flipH="1" flipV="1">
            <a:off x="4819650" y="39576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90950" y="49863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City</a:t>
            </a:r>
          </a:p>
        </p:txBody>
      </p:sp>
      <p:cxnSp>
        <p:nvCxnSpPr>
          <p:cNvPr id="10" name="Straight Arrow Connector 13"/>
          <p:cNvCxnSpPr/>
          <p:nvPr/>
        </p:nvCxnSpPr>
        <p:spPr>
          <a:xfrm rot="16200000" flipV="1">
            <a:off x="6572250" y="39576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29350" y="49863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Country</a:t>
            </a:r>
          </a:p>
        </p:txBody>
      </p:sp>
      <p:cxnSp>
        <p:nvCxnSpPr>
          <p:cNvPr id="12" name="Straight Arrow Connector 13"/>
          <p:cNvCxnSpPr/>
          <p:nvPr/>
        </p:nvCxnSpPr>
        <p:spPr>
          <a:xfrm rot="16200000" flipV="1">
            <a:off x="5124450" y="28908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86350" y="3919538"/>
            <a:ext cx="18288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Address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4095750" y="3233738"/>
            <a:ext cx="0" cy="68580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57550" y="2852738"/>
            <a:ext cx="18288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PhoneDirectory</a:t>
            </a:r>
            <a:endParaRPr lang="en-US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914400" y="0"/>
            <a:ext cx="8153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Practice Question 2</a:t>
            </a:r>
          </a:p>
        </p:txBody>
      </p:sp>
    </p:spTree>
    <p:extLst>
      <p:ext uri="{BB962C8B-B14F-4D97-AF65-F5344CB8AC3E}">
        <p14:creationId xmlns:p14="http://schemas.microsoft.com/office/powerpoint/2010/main" val="4011903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2392</TotalTime>
  <Words>2023</Words>
  <Application>Microsoft Macintosh PowerPoint</Application>
  <PresentationFormat>On-screen Show (4:3)</PresentationFormat>
  <Paragraphs>398</Paragraphs>
  <Slides>36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宋体</vt:lpstr>
      <vt:lpstr>Arial</vt:lpstr>
      <vt:lpstr>Calibri</vt:lpstr>
      <vt:lpstr>Consolas</vt:lpstr>
      <vt:lpstr>Courier New</vt:lpstr>
      <vt:lpstr>inherit</vt:lpstr>
      <vt:lpstr>Lucida Console</vt:lpstr>
      <vt:lpstr>Ubuntu</vt:lpstr>
      <vt:lpstr>Wingdings</vt:lpstr>
      <vt:lpstr>Office Theme</vt:lpstr>
      <vt:lpstr>Structures </vt:lpstr>
      <vt:lpstr>Structure</vt:lpstr>
      <vt:lpstr>Introducing Structures</vt:lpstr>
      <vt:lpstr>Defining the Structure </vt:lpstr>
      <vt:lpstr>Structure Definition Syntax</vt:lpstr>
      <vt:lpstr>Structure members in memory</vt:lpstr>
      <vt:lpstr>Declaring a Structure variable</vt:lpstr>
      <vt:lpstr>Another way of Declaring a Structure variable</vt:lpstr>
      <vt:lpstr>Examples</vt:lpstr>
      <vt:lpstr>Initializing Structure Variables</vt:lpstr>
      <vt:lpstr>Structure Variable Initialization with Declaration</vt:lpstr>
      <vt:lpstr>Assigning Values to Structure Variables</vt:lpstr>
      <vt:lpstr>Assigning Values to Structure Variables</vt:lpstr>
      <vt:lpstr>Assigning one Structure Variable to another</vt:lpstr>
      <vt:lpstr>Array of Structures</vt:lpstr>
      <vt:lpstr>Initialization of Array of Structures</vt:lpstr>
      <vt:lpstr>Partial Initialization of Array of Structures</vt:lpstr>
      <vt:lpstr>Array as Member of Structures</vt:lpstr>
      <vt:lpstr>Array as Member of Structures</vt:lpstr>
      <vt:lpstr>Nested Structure</vt:lpstr>
      <vt:lpstr>Initializing/Assigning to Nested Structure</vt:lpstr>
      <vt:lpstr>Accessing Structures with Pointers</vt:lpstr>
      <vt:lpstr>Accessing Structures with Pointers</vt:lpstr>
      <vt:lpstr>Accessing Structures with Pointers</vt:lpstr>
      <vt:lpstr>Anonymous Structure</vt:lpstr>
      <vt:lpstr>Other stuff you can do with a struct</vt:lpstr>
      <vt:lpstr>Quick Example</vt:lpstr>
      <vt:lpstr>Using the member function</vt:lpstr>
      <vt:lpstr>Structures and Functions</vt:lpstr>
      <vt:lpstr>Structures and Functions – By Value</vt:lpstr>
      <vt:lpstr>PowerPoint Presentation</vt:lpstr>
      <vt:lpstr>Structures and Functions – By Value</vt:lpstr>
      <vt:lpstr>Structures and Functions</vt:lpstr>
      <vt:lpstr>Structures Vs. Classes</vt:lpstr>
      <vt:lpstr>Practice Question 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Dr. Ali Zeeshan Ijaz Assistant Professor FCS</cp:lastModifiedBy>
  <cp:revision>318</cp:revision>
  <dcterms:created xsi:type="dcterms:W3CDTF">2012-08-28T12:59:58Z</dcterms:created>
  <dcterms:modified xsi:type="dcterms:W3CDTF">2024-02-14T03:31:16Z</dcterms:modified>
</cp:coreProperties>
</file>