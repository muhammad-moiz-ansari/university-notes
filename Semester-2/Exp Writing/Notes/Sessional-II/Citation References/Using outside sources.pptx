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4"/>
  </p:sldMasterIdLst>
  <p:sldIdLst>
    <p:sldId id="256" r:id="rId5"/>
    <p:sldId id="269" r:id="rId6"/>
    <p:sldId id="271" r:id="rId7"/>
    <p:sldId id="259" r:id="rId8"/>
    <p:sldId id="260" r:id="rId9"/>
    <p:sldId id="261" r:id="rId10"/>
    <p:sldId id="262" r:id="rId11"/>
    <p:sldId id="263" r:id="rId12"/>
    <p:sldId id="264" r:id="rId13"/>
    <p:sldId id="265" r:id="rId14"/>
    <p:sldId id="266" r:id="rId15"/>
    <p:sldId id="267" r:id="rId16"/>
    <p:sldId id="268"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A12F36-1103-49FC-B726-7D947A3C95CB}" v="2" dt="2024-03-12T15:03:26.5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2" autoAdjust="0"/>
    <p:restoredTop sz="94660"/>
  </p:normalViewPr>
  <p:slideViewPr>
    <p:cSldViewPr snapToGrid="0">
      <p:cViewPr varScale="1">
        <p:scale>
          <a:sx n="65" d="100"/>
          <a:sy n="65" d="100"/>
        </p:scale>
        <p:origin x="72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3/13/2024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3/13/2024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3/13/2024</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3/13/2024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3/13/2024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3/13/2024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3/13/2024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3/13/2024</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3/13/2024</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3/13/2024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3/13/2024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3/13/2024</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scribbr.com/category/apa-style/"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hyperlink" Target="https://www.scribbr.com/category/apa-style/"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B97F9-D2A7-DDF7-C7D8-EB15D065312D}"/>
              </a:ext>
            </a:extLst>
          </p:cNvPr>
          <p:cNvSpPr>
            <a:spLocks noGrp="1"/>
          </p:cNvSpPr>
          <p:nvPr>
            <p:ph type="ctrTitle"/>
          </p:nvPr>
        </p:nvSpPr>
        <p:spPr/>
        <p:txBody>
          <a:bodyPr/>
          <a:lstStyle/>
          <a:p>
            <a:r>
              <a:rPr lang="en-US" dirty="0"/>
              <a:t>Using outside sources</a:t>
            </a:r>
          </a:p>
        </p:txBody>
      </p:sp>
      <p:sp>
        <p:nvSpPr>
          <p:cNvPr id="3" name="Subtitle 2">
            <a:extLst>
              <a:ext uri="{FF2B5EF4-FFF2-40B4-BE49-F238E27FC236}">
                <a16:creationId xmlns:a16="http://schemas.microsoft.com/office/drawing/2014/main" id="{C98EBD48-A41E-716E-5BFA-A3E36AD145ED}"/>
              </a:ext>
            </a:extLst>
          </p:cNvPr>
          <p:cNvSpPr>
            <a:spLocks noGrp="1"/>
          </p:cNvSpPr>
          <p:nvPr>
            <p:ph type="subTitle" idx="1"/>
          </p:nvPr>
        </p:nvSpPr>
        <p:spPr/>
        <p:txBody>
          <a:bodyPr/>
          <a:lstStyle/>
          <a:p>
            <a:r>
              <a:rPr lang="en-US" dirty="0"/>
              <a:t>Practice exercises</a:t>
            </a:r>
          </a:p>
        </p:txBody>
      </p:sp>
    </p:spTree>
    <p:extLst>
      <p:ext uri="{BB962C8B-B14F-4D97-AF65-F5344CB8AC3E}">
        <p14:creationId xmlns:p14="http://schemas.microsoft.com/office/powerpoint/2010/main" val="93009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2A65860-612C-07BB-F307-071B0A30A391}"/>
              </a:ext>
            </a:extLst>
          </p:cNvPr>
          <p:cNvSpPr/>
          <p:nvPr/>
        </p:nvSpPr>
        <p:spPr>
          <a:xfrm>
            <a:off x="1165123" y="280220"/>
            <a:ext cx="8362335" cy="82099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3600" b="1" i="0" dirty="0">
              <a:solidFill>
                <a:schemeClr val="bg1"/>
              </a:solidFill>
              <a:effectLst/>
              <a:latin typeface="Gilmer"/>
            </a:endParaRPr>
          </a:p>
          <a:p>
            <a:pPr algn="ctr"/>
            <a:r>
              <a:rPr lang="en-US" sz="3600" b="1" i="0" dirty="0">
                <a:solidFill>
                  <a:schemeClr val="bg1"/>
                </a:solidFill>
                <a:effectLst/>
                <a:latin typeface="Gilmer"/>
              </a:rPr>
              <a:t>How to Cite a Book in APA Style</a:t>
            </a:r>
          </a:p>
          <a:p>
            <a:pPr algn="ctr"/>
            <a:endParaRPr lang="en-US" dirty="0"/>
          </a:p>
        </p:txBody>
      </p:sp>
      <p:sp>
        <p:nvSpPr>
          <p:cNvPr id="3" name="Rectangle 2">
            <a:extLst>
              <a:ext uri="{FF2B5EF4-FFF2-40B4-BE49-F238E27FC236}">
                <a16:creationId xmlns:a16="http://schemas.microsoft.com/office/drawing/2014/main" id="{8C8C440B-3843-5553-5916-806F7F0B6A0C}"/>
              </a:ext>
            </a:extLst>
          </p:cNvPr>
          <p:cNvSpPr/>
          <p:nvPr/>
        </p:nvSpPr>
        <p:spPr>
          <a:xfrm>
            <a:off x="599767" y="1415845"/>
            <a:ext cx="11110451" cy="201315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800" b="1" i="0" dirty="0">
                <a:solidFill>
                  <a:schemeClr val="bg1"/>
                </a:solidFill>
                <a:effectLst/>
                <a:latin typeface="Inter"/>
              </a:rPr>
              <a:t>A book citation in </a:t>
            </a:r>
            <a:r>
              <a:rPr lang="en-US" sz="2800" b="1" i="0" u="none" strike="noStrike" dirty="0">
                <a:solidFill>
                  <a:schemeClr val="bg1"/>
                </a:solidFill>
                <a:effectLst/>
                <a:latin typeface="Inter"/>
                <a:hlinkClick r:id="rId2">
                  <a:extLst>
                    <a:ext uri="{A12FA001-AC4F-418D-AE19-62706E023703}">
                      <ahyp:hlinkClr xmlns:ahyp="http://schemas.microsoft.com/office/drawing/2018/hyperlinkcolor" val="tx"/>
                    </a:ext>
                  </a:extLst>
                </a:hlinkClick>
              </a:rPr>
              <a:t>APA Style</a:t>
            </a:r>
            <a:r>
              <a:rPr lang="en-US" sz="2800" b="1" i="0" dirty="0">
                <a:solidFill>
                  <a:schemeClr val="bg1"/>
                </a:solidFill>
                <a:effectLst/>
                <a:latin typeface="Inter"/>
              </a:rPr>
              <a:t> always includes </a:t>
            </a:r>
            <a:r>
              <a:rPr lang="en-US" sz="2800" b="1" i="0" dirty="0">
                <a:solidFill>
                  <a:schemeClr val="bg1"/>
                </a:solidFill>
                <a:effectLst/>
                <a:highlight>
                  <a:srgbClr val="FF0000"/>
                </a:highlight>
                <a:latin typeface="Inter"/>
              </a:rPr>
              <a:t>the author’s name</a:t>
            </a:r>
            <a:r>
              <a:rPr lang="en-US" sz="2800" b="1" i="0" dirty="0">
                <a:solidFill>
                  <a:schemeClr val="bg1"/>
                </a:solidFill>
                <a:effectLst/>
                <a:latin typeface="Inter"/>
              </a:rPr>
              <a:t>, </a:t>
            </a:r>
            <a:r>
              <a:rPr lang="en-US" sz="2800" b="1" i="0" dirty="0">
                <a:solidFill>
                  <a:schemeClr val="bg1"/>
                </a:solidFill>
                <a:effectLst/>
                <a:highlight>
                  <a:srgbClr val="FF0000"/>
                </a:highlight>
                <a:latin typeface="Inter"/>
              </a:rPr>
              <a:t>the publication year</a:t>
            </a:r>
            <a:r>
              <a:rPr lang="en-US" sz="2800" b="1" i="0" dirty="0">
                <a:solidFill>
                  <a:schemeClr val="bg1"/>
                </a:solidFill>
                <a:effectLst/>
                <a:latin typeface="Inter"/>
              </a:rPr>
              <a:t>, </a:t>
            </a:r>
            <a:r>
              <a:rPr lang="en-US" sz="2800" b="1" i="0" dirty="0">
                <a:solidFill>
                  <a:schemeClr val="bg1"/>
                </a:solidFill>
                <a:effectLst/>
                <a:highlight>
                  <a:srgbClr val="FF0000"/>
                </a:highlight>
                <a:latin typeface="Inter"/>
              </a:rPr>
              <a:t>the book title in italics</a:t>
            </a:r>
            <a:r>
              <a:rPr lang="en-US" sz="2800" b="1" i="0" dirty="0">
                <a:solidFill>
                  <a:schemeClr val="bg1"/>
                </a:solidFill>
                <a:effectLst/>
                <a:latin typeface="Inter"/>
              </a:rPr>
              <a:t>, and </a:t>
            </a:r>
            <a:r>
              <a:rPr lang="en-US" sz="2800" b="1" i="0" dirty="0">
                <a:solidFill>
                  <a:schemeClr val="bg1"/>
                </a:solidFill>
                <a:effectLst/>
                <a:highlight>
                  <a:srgbClr val="FF0000"/>
                </a:highlight>
                <a:latin typeface="Inter"/>
              </a:rPr>
              <a:t>the publisher</a:t>
            </a:r>
            <a:r>
              <a:rPr lang="en-US" sz="2800" b="1" i="0" dirty="0">
                <a:solidFill>
                  <a:schemeClr val="bg1"/>
                </a:solidFill>
                <a:effectLst/>
                <a:latin typeface="Inter"/>
              </a:rPr>
              <a:t>. </a:t>
            </a:r>
            <a:endParaRPr lang="en-US" sz="2800" b="1" dirty="0">
              <a:solidFill>
                <a:schemeClr val="bg1"/>
              </a:solidFill>
            </a:endParaRPr>
          </a:p>
        </p:txBody>
      </p:sp>
      <p:sp>
        <p:nvSpPr>
          <p:cNvPr id="4" name="Rectangle 3">
            <a:extLst>
              <a:ext uri="{FF2B5EF4-FFF2-40B4-BE49-F238E27FC236}">
                <a16:creationId xmlns:a16="http://schemas.microsoft.com/office/drawing/2014/main" id="{B4A00BC1-6920-3DC5-39EA-5D710119EA4A}"/>
              </a:ext>
            </a:extLst>
          </p:cNvPr>
          <p:cNvSpPr/>
          <p:nvPr/>
        </p:nvSpPr>
        <p:spPr>
          <a:xfrm>
            <a:off x="599767" y="3743631"/>
            <a:ext cx="10992465" cy="14158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3200" b="0" i="0" dirty="0">
                <a:solidFill>
                  <a:srgbClr val="05103E"/>
                </a:solidFill>
                <a:effectLst/>
                <a:latin typeface="Inter"/>
              </a:rPr>
              <a:t>Smith, T. (2020). </a:t>
            </a:r>
            <a:r>
              <a:rPr lang="en-US" sz="3200" b="0" i="1" dirty="0">
                <a:solidFill>
                  <a:srgbClr val="05103E"/>
                </a:solidFill>
                <a:effectLst/>
                <a:latin typeface="Inter"/>
              </a:rPr>
              <a:t>The citation manual for students: A quick guide</a:t>
            </a:r>
            <a:r>
              <a:rPr lang="en-US" sz="3200" b="0" i="0" dirty="0">
                <a:solidFill>
                  <a:srgbClr val="05103E"/>
                </a:solidFill>
                <a:effectLst/>
                <a:latin typeface="Inter"/>
              </a:rPr>
              <a:t> (2nd ed.). Wiley.</a:t>
            </a:r>
            <a:br>
              <a:rPr lang="en-US" sz="3200" dirty="0"/>
            </a:br>
            <a:endParaRPr lang="en-US" sz="3200" dirty="0"/>
          </a:p>
        </p:txBody>
      </p:sp>
      <p:sp>
        <p:nvSpPr>
          <p:cNvPr id="5" name="Rectangle 4">
            <a:extLst>
              <a:ext uri="{FF2B5EF4-FFF2-40B4-BE49-F238E27FC236}">
                <a16:creationId xmlns:a16="http://schemas.microsoft.com/office/drawing/2014/main" id="{CCF5E45A-DDAE-9167-B18A-BEBF5725F0B7}"/>
              </a:ext>
            </a:extLst>
          </p:cNvPr>
          <p:cNvSpPr/>
          <p:nvPr/>
        </p:nvSpPr>
        <p:spPr>
          <a:xfrm>
            <a:off x="599767" y="5442155"/>
            <a:ext cx="4989872" cy="100289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b="1" dirty="0"/>
              <a:t>Parenthetical :  (Smith, 2020)</a:t>
            </a:r>
          </a:p>
        </p:txBody>
      </p:sp>
      <p:sp>
        <p:nvSpPr>
          <p:cNvPr id="6" name="Rectangle 5">
            <a:extLst>
              <a:ext uri="{FF2B5EF4-FFF2-40B4-BE49-F238E27FC236}">
                <a16:creationId xmlns:a16="http://schemas.microsoft.com/office/drawing/2014/main" id="{650CE194-B302-EC3C-32EC-D4AD745B3069}"/>
              </a:ext>
            </a:extLst>
          </p:cNvPr>
          <p:cNvSpPr/>
          <p:nvPr/>
        </p:nvSpPr>
        <p:spPr>
          <a:xfrm>
            <a:off x="6405717" y="5442155"/>
            <a:ext cx="4921044" cy="100289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b="1" dirty="0"/>
              <a:t>Narrative:    Smith (2020)</a:t>
            </a:r>
          </a:p>
        </p:txBody>
      </p:sp>
    </p:spTree>
    <p:extLst>
      <p:ext uri="{BB962C8B-B14F-4D97-AF65-F5344CB8AC3E}">
        <p14:creationId xmlns:p14="http://schemas.microsoft.com/office/powerpoint/2010/main" val="32032865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2A65860-612C-07BB-F307-071B0A30A391}"/>
              </a:ext>
            </a:extLst>
          </p:cNvPr>
          <p:cNvSpPr/>
          <p:nvPr/>
        </p:nvSpPr>
        <p:spPr>
          <a:xfrm>
            <a:off x="1165123" y="280220"/>
            <a:ext cx="9512709" cy="82099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3600" b="1" i="0" dirty="0">
              <a:solidFill>
                <a:schemeClr val="bg1"/>
              </a:solidFill>
              <a:effectLst/>
              <a:latin typeface="Gilmer"/>
            </a:endParaRPr>
          </a:p>
          <a:p>
            <a:pPr algn="ctr"/>
            <a:r>
              <a:rPr lang="en-US" sz="3600" b="1" i="0" dirty="0">
                <a:solidFill>
                  <a:schemeClr val="bg1"/>
                </a:solidFill>
                <a:effectLst/>
                <a:latin typeface="Gilmer"/>
              </a:rPr>
              <a:t>How to Cite a </a:t>
            </a:r>
            <a:r>
              <a:rPr lang="en-US" sz="3600" b="1" dirty="0">
                <a:solidFill>
                  <a:schemeClr val="bg1"/>
                </a:solidFill>
                <a:latin typeface="Gilmer"/>
              </a:rPr>
              <a:t>Newspaper Article</a:t>
            </a:r>
            <a:r>
              <a:rPr lang="en-US" sz="3600" b="1" i="0" dirty="0">
                <a:solidFill>
                  <a:schemeClr val="bg1"/>
                </a:solidFill>
                <a:effectLst/>
                <a:latin typeface="Gilmer"/>
              </a:rPr>
              <a:t> in APA Style</a:t>
            </a:r>
          </a:p>
          <a:p>
            <a:pPr algn="ctr"/>
            <a:endParaRPr lang="en-US" dirty="0"/>
          </a:p>
        </p:txBody>
      </p:sp>
      <p:sp>
        <p:nvSpPr>
          <p:cNvPr id="3" name="Rectangle 2">
            <a:extLst>
              <a:ext uri="{FF2B5EF4-FFF2-40B4-BE49-F238E27FC236}">
                <a16:creationId xmlns:a16="http://schemas.microsoft.com/office/drawing/2014/main" id="{8C8C440B-3843-5553-5916-806F7F0B6A0C}"/>
              </a:ext>
            </a:extLst>
          </p:cNvPr>
          <p:cNvSpPr/>
          <p:nvPr/>
        </p:nvSpPr>
        <p:spPr>
          <a:xfrm>
            <a:off x="599767" y="1415845"/>
            <a:ext cx="11110451" cy="201315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800" b="1" dirty="0">
                <a:solidFill>
                  <a:schemeClr val="bg1"/>
                </a:solidFill>
                <a:latin typeface="Inter"/>
              </a:rPr>
              <a:t>A newspaper article</a:t>
            </a:r>
            <a:r>
              <a:rPr lang="en-US" sz="2800" b="1" i="0" dirty="0">
                <a:solidFill>
                  <a:schemeClr val="bg1"/>
                </a:solidFill>
                <a:effectLst/>
                <a:latin typeface="Inter"/>
              </a:rPr>
              <a:t> citation in </a:t>
            </a:r>
            <a:r>
              <a:rPr lang="en-US" sz="2800" b="1" i="0" u="none" strike="noStrike" dirty="0">
                <a:solidFill>
                  <a:schemeClr val="bg1"/>
                </a:solidFill>
                <a:effectLst/>
                <a:latin typeface="Inter"/>
                <a:hlinkClick r:id="rId2">
                  <a:extLst>
                    <a:ext uri="{A12FA001-AC4F-418D-AE19-62706E023703}">
                      <ahyp:hlinkClr xmlns:ahyp="http://schemas.microsoft.com/office/drawing/2018/hyperlinkcolor" val="tx"/>
                    </a:ext>
                  </a:extLst>
                </a:hlinkClick>
              </a:rPr>
              <a:t>APA Style</a:t>
            </a:r>
            <a:r>
              <a:rPr lang="en-US" sz="2800" b="1" i="0" dirty="0">
                <a:solidFill>
                  <a:schemeClr val="bg1"/>
                </a:solidFill>
                <a:effectLst/>
                <a:latin typeface="Inter"/>
              </a:rPr>
              <a:t> always includes </a:t>
            </a:r>
            <a:r>
              <a:rPr lang="en-US" sz="2800" b="1" i="0" dirty="0">
                <a:solidFill>
                  <a:schemeClr val="bg1"/>
                </a:solidFill>
                <a:effectLst/>
                <a:highlight>
                  <a:srgbClr val="FF0000"/>
                </a:highlight>
                <a:latin typeface="Inter"/>
              </a:rPr>
              <a:t>the author’s name</a:t>
            </a:r>
            <a:r>
              <a:rPr lang="en-US" sz="2800" b="1" i="0" dirty="0">
                <a:solidFill>
                  <a:schemeClr val="bg1"/>
                </a:solidFill>
                <a:effectLst/>
                <a:latin typeface="Inter"/>
              </a:rPr>
              <a:t>, </a:t>
            </a:r>
            <a:r>
              <a:rPr lang="en-US" sz="2800" b="1" i="0" dirty="0">
                <a:solidFill>
                  <a:schemeClr val="bg1"/>
                </a:solidFill>
                <a:effectLst/>
                <a:highlight>
                  <a:srgbClr val="FF0000"/>
                </a:highlight>
                <a:latin typeface="Inter"/>
              </a:rPr>
              <a:t>the publication date</a:t>
            </a:r>
            <a:r>
              <a:rPr lang="en-US" sz="2800" b="1" i="0" dirty="0">
                <a:solidFill>
                  <a:schemeClr val="bg1"/>
                </a:solidFill>
                <a:effectLst/>
                <a:latin typeface="Inter"/>
              </a:rPr>
              <a:t>, </a:t>
            </a:r>
            <a:r>
              <a:rPr lang="en-US" sz="2800" b="1" i="0" dirty="0">
                <a:solidFill>
                  <a:schemeClr val="bg1"/>
                </a:solidFill>
                <a:effectLst/>
                <a:highlight>
                  <a:srgbClr val="FF0000"/>
                </a:highlight>
                <a:latin typeface="Inter"/>
              </a:rPr>
              <a:t>the headline of the article</a:t>
            </a:r>
            <a:r>
              <a:rPr lang="en-US" sz="2800" b="1" i="0" dirty="0">
                <a:solidFill>
                  <a:schemeClr val="bg1"/>
                </a:solidFill>
                <a:effectLst/>
                <a:latin typeface="Inter"/>
              </a:rPr>
              <a:t>, and </a:t>
            </a:r>
            <a:r>
              <a:rPr lang="en-US" sz="2800" b="1" i="0" dirty="0">
                <a:solidFill>
                  <a:schemeClr val="bg1"/>
                </a:solidFill>
                <a:effectLst/>
                <a:highlight>
                  <a:srgbClr val="FF0000"/>
                </a:highlight>
                <a:latin typeface="Inter"/>
              </a:rPr>
              <a:t>the name of the newspaper in italics</a:t>
            </a:r>
            <a:r>
              <a:rPr lang="en-US" sz="2800" b="1" i="0" dirty="0">
                <a:solidFill>
                  <a:schemeClr val="bg1"/>
                </a:solidFill>
                <a:effectLst/>
                <a:latin typeface="Inter"/>
              </a:rPr>
              <a:t>.</a:t>
            </a:r>
            <a:endParaRPr lang="en-US" sz="2800" b="1" dirty="0">
              <a:solidFill>
                <a:schemeClr val="bg1"/>
              </a:solidFill>
            </a:endParaRPr>
          </a:p>
        </p:txBody>
      </p:sp>
      <p:sp>
        <p:nvSpPr>
          <p:cNvPr id="4" name="Rectangle 3">
            <a:extLst>
              <a:ext uri="{FF2B5EF4-FFF2-40B4-BE49-F238E27FC236}">
                <a16:creationId xmlns:a16="http://schemas.microsoft.com/office/drawing/2014/main" id="{B4A00BC1-6920-3DC5-39EA-5D710119EA4A}"/>
              </a:ext>
            </a:extLst>
          </p:cNvPr>
          <p:cNvSpPr/>
          <p:nvPr/>
        </p:nvSpPr>
        <p:spPr>
          <a:xfrm>
            <a:off x="599767" y="3596147"/>
            <a:ext cx="10992465" cy="14158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3200" b="0" i="0" dirty="0">
                <a:solidFill>
                  <a:srgbClr val="05103E"/>
                </a:solidFill>
                <a:effectLst/>
                <a:latin typeface="Inter"/>
              </a:rPr>
              <a:t>Popkin, G. (2020, August 12). Global warming could unlock carbon from tropical soil. </a:t>
            </a:r>
            <a:r>
              <a:rPr lang="en-US" sz="3200" b="0" i="1" dirty="0">
                <a:solidFill>
                  <a:srgbClr val="05103E"/>
                </a:solidFill>
                <a:effectLst/>
                <a:latin typeface="Inter"/>
              </a:rPr>
              <a:t>The New York Times</a:t>
            </a:r>
            <a:r>
              <a:rPr lang="en-US" sz="3200" b="0" i="0" dirty="0">
                <a:solidFill>
                  <a:srgbClr val="05103E"/>
                </a:solidFill>
                <a:effectLst/>
                <a:latin typeface="Inter"/>
              </a:rPr>
              <a:t>.</a:t>
            </a:r>
            <a:endParaRPr lang="en-US" sz="3200" dirty="0"/>
          </a:p>
        </p:txBody>
      </p:sp>
      <p:sp>
        <p:nvSpPr>
          <p:cNvPr id="5" name="Rectangle 4">
            <a:extLst>
              <a:ext uri="{FF2B5EF4-FFF2-40B4-BE49-F238E27FC236}">
                <a16:creationId xmlns:a16="http://schemas.microsoft.com/office/drawing/2014/main" id="{CCF5E45A-DDAE-9167-B18A-BEBF5725F0B7}"/>
              </a:ext>
            </a:extLst>
          </p:cNvPr>
          <p:cNvSpPr/>
          <p:nvPr/>
        </p:nvSpPr>
        <p:spPr>
          <a:xfrm>
            <a:off x="599767" y="5442155"/>
            <a:ext cx="4989872" cy="100289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b="1" dirty="0"/>
              <a:t>Parenthetical :  (Popkin, 2020)</a:t>
            </a:r>
          </a:p>
        </p:txBody>
      </p:sp>
      <p:sp>
        <p:nvSpPr>
          <p:cNvPr id="6" name="Rectangle 5">
            <a:extLst>
              <a:ext uri="{FF2B5EF4-FFF2-40B4-BE49-F238E27FC236}">
                <a16:creationId xmlns:a16="http://schemas.microsoft.com/office/drawing/2014/main" id="{650CE194-B302-EC3C-32EC-D4AD745B3069}"/>
              </a:ext>
            </a:extLst>
          </p:cNvPr>
          <p:cNvSpPr/>
          <p:nvPr/>
        </p:nvSpPr>
        <p:spPr>
          <a:xfrm>
            <a:off x="6405717" y="5442155"/>
            <a:ext cx="4921044" cy="100289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b="1" dirty="0"/>
              <a:t>Narrative</a:t>
            </a:r>
            <a:r>
              <a:rPr lang="en-US" sz="2400" b="1"/>
              <a:t>:    Popkin </a:t>
            </a:r>
            <a:r>
              <a:rPr lang="en-US" sz="2400" b="1" dirty="0"/>
              <a:t>(2020)</a:t>
            </a:r>
          </a:p>
        </p:txBody>
      </p:sp>
    </p:spTree>
    <p:extLst>
      <p:ext uri="{BB962C8B-B14F-4D97-AF65-F5344CB8AC3E}">
        <p14:creationId xmlns:p14="http://schemas.microsoft.com/office/powerpoint/2010/main" val="1418865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10B16-804F-9ABD-519F-882D5D7B9D5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AF32717-8F69-78AC-15FD-74BBECF7F5BB}"/>
              </a:ext>
            </a:extLst>
          </p:cNvPr>
          <p:cNvSpPr/>
          <p:nvPr/>
        </p:nvSpPr>
        <p:spPr>
          <a:xfrm>
            <a:off x="344129" y="1495733"/>
            <a:ext cx="11503742" cy="91194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2400" b="1" i="0" u="none" strike="noStrike" baseline="0" dirty="0">
                <a:latin typeface="TimesLTStd-Bold"/>
              </a:rPr>
              <a:t>1. </a:t>
            </a:r>
            <a:r>
              <a:rPr lang="en-US" sz="2400" b="1" i="0" u="none" strike="noStrike" baseline="0" dirty="0">
                <a:latin typeface="TimesLTStd-Roman"/>
              </a:rPr>
              <a:t>Inupiaq, an Alaskan language, has been threatened with extinction, but new educational initiatives may bring it back to life.</a:t>
            </a:r>
            <a:endParaRPr lang="en-US" sz="2400" b="1" dirty="0"/>
          </a:p>
        </p:txBody>
      </p:sp>
      <p:sp>
        <p:nvSpPr>
          <p:cNvPr id="3" name="Rectangle 2">
            <a:extLst>
              <a:ext uri="{FF2B5EF4-FFF2-40B4-BE49-F238E27FC236}">
                <a16:creationId xmlns:a16="http://schemas.microsoft.com/office/drawing/2014/main" id="{3C7C858A-894A-8803-9489-CDE2BC7CC95A}"/>
              </a:ext>
            </a:extLst>
          </p:cNvPr>
          <p:cNvSpPr/>
          <p:nvPr/>
        </p:nvSpPr>
        <p:spPr>
          <a:xfrm>
            <a:off x="344127" y="2624598"/>
            <a:ext cx="11503742" cy="911941"/>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2400" b="1" i="0" u="none" strike="noStrike" baseline="0" dirty="0">
                <a:latin typeface="TimesLTStd-Bold"/>
              </a:rPr>
              <a:t>2. </a:t>
            </a:r>
            <a:r>
              <a:rPr lang="en-US" sz="2400" b="1" i="0" u="none" strike="noStrike" baseline="0" dirty="0">
                <a:latin typeface="TimesLTStd-Roman"/>
              </a:rPr>
              <a:t>Sentence 2 emphasizes that the threat to Inupiaq is very serious. Sentence 11 stresses that new educational efforts may increase Inupiaq use in the younger generation.</a:t>
            </a:r>
            <a:endParaRPr lang="en-US" sz="2400" b="1" dirty="0"/>
          </a:p>
        </p:txBody>
      </p:sp>
      <p:sp>
        <p:nvSpPr>
          <p:cNvPr id="4" name="Rectangle 3">
            <a:extLst>
              <a:ext uri="{FF2B5EF4-FFF2-40B4-BE49-F238E27FC236}">
                <a16:creationId xmlns:a16="http://schemas.microsoft.com/office/drawing/2014/main" id="{294B637A-1012-7978-B409-3C66EB330614}"/>
              </a:ext>
            </a:extLst>
          </p:cNvPr>
          <p:cNvSpPr/>
          <p:nvPr/>
        </p:nvSpPr>
        <p:spPr>
          <a:xfrm>
            <a:off x="3097161" y="196647"/>
            <a:ext cx="5825613" cy="91194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i="0" u="none" strike="noStrike" baseline="0" dirty="0">
                <a:latin typeface="FrutigerLTPro-Black"/>
              </a:rPr>
              <a:t>Questions about the Model </a:t>
            </a:r>
            <a:r>
              <a:rPr lang="en-US" sz="2800" b="1" i="1" u="none" strike="noStrike" baseline="0" dirty="0">
                <a:latin typeface="TimesLTStd-SemiboldItalic"/>
              </a:rPr>
              <a:t>(page 48)</a:t>
            </a:r>
            <a:endParaRPr lang="en-US" sz="2800" b="1" dirty="0">
              <a:solidFill>
                <a:schemeClr val="bg1"/>
              </a:solidFill>
            </a:endParaRPr>
          </a:p>
        </p:txBody>
      </p:sp>
      <p:sp>
        <p:nvSpPr>
          <p:cNvPr id="5" name="Rectangle 4">
            <a:extLst>
              <a:ext uri="{FF2B5EF4-FFF2-40B4-BE49-F238E27FC236}">
                <a16:creationId xmlns:a16="http://schemas.microsoft.com/office/drawing/2014/main" id="{0C76FC21-D8DF-2A39-6465-462C0E2F1B03}"/>
              </a:ext>
            </a:extLst>
          </p:cNvPr>
          <p:cNvSpPr/>
          <p:nvPr/>
        </p:nvSpPr>
        <p:spPr>
          <a:xfrm>
            <a:off x="344129" y="3706762"/>
            <a:ext cx="11503742" cy="130769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2400" b="1" i="0" u="none" strike="noStrike" baseline="0" dirty="0">
                <a:latin typeface="TimesLTStd-Roman"/>
              </a:rPr>
              <a:t>3.The point is that a language dies every two weeks. “</a:t>
            </a:r>
            <a:r>
              <a:rPr lang="en-US" sz="2400" b="1" i="1" u="none" strike="noStrike" baseline="0" dirty="0">
                <a:latin typeface="TimesLTStd-Italic"/>
              </a:rPr>
              <a:t>Disappearing Langua</a:t>
            </a:r>
            <a:r>
              <a:rPr lang="en-US" sz="2400" b="1" i="0" u="none" strike="noStrike" baseline="0" dirty="0">
                <a:latin typeface="TimesLTStd-Roman"/>
              </a:rPr>
              <a:t>ges: Enduring Voices: Documenting the World’s Endangered Languages.” </a:t>
            </a:r>
            <a:r>
              <a:rPr lang="en-US" sz="2400" b="1" i="1" u="none" strike="noStrike" baseline="0" dirty="0">
                <a:latin typeface="TimesLTStd-Italic"/>
              </a:rPr>
              <a:t>National Geographic</a:t>
            </a:r>
            <a:r>
              <a:rPr lang="en-US" sz="2400" b="1" i="0" u="none" strike="noStrike" baseline="0" dirty="0">
                <a:latin typeface="TimesLTStd-Roman"/>
              </a:rPr>
              <a:t>. </a:t>
            </a:r>
            <a:r>
              <a:rPr lang="de-DE" sz="2400" b="1" i="0" u="none" strike="noStrike" baseline="0" dirty="0">
                <a:latin typeface="TimesLTStd-Roman"/>
              </a:rPr>
              <a:t>Nationalgeographic.com. 2012. Web. 14 Jun. 2012.</a:t>
            </a:r>
            <a:endParaRPr lang="en-US" sz="2400" b="1" dirty="0"/>
          </a:p>
        </p:txBody>
      </p:sp>
      <p:sp>
        <p:nvSpPr>
          <p:cNvPr id="6" name="Rectangle 5">
            <a:extLst>
              <a:ext uri="{FF2B5EF4-FFF2-40B4-BE49-F238E27FC236}">
                <a16:creationId xmlns:a16="http://schemas.microsoft.com/office/drawing/2014/main" id="{05AE7252-E3CF-3F78-18F6-DFB1517E70BE}"/>
              </a:ext>
            </a:extLst>
          </p:cNvPr>
          <p:cNvSpPr/>
          <p:nvPr/>
        </p:nvSpPr>
        <p:spPr>
          <a:xfrm>
            <a:off x="344128" y="5326625"/>
            <a:ext cx="11503741" cy="911943"/>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2400" b="1" i="0" u="none" strike="noStrike" baseline="0" dirty="0">
                <a:latin typeface="TimesLTStd-Roman"/>
              </a:rPr>
              <a:t>4. Even if the author did have relevant experience, the information from outside sources gives the paragraph authority.</a:t>
            </a:r>
            <a:endParaRPr lang="en-US" sz="2400" b="1" dirty="0"/>
          </a:p>
        </p:txBody>
      </p:sp>
    </p:spTree>
    <p:extLst>
      <p:ext uri="{BB962C8B-B14F-4D97-AF65-F5344CB8AC3E}">
        <p14:creationId xmlns:p14="http://schemas.microsoft.com/office/powerpoint/2010/main" val="468066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2E47819-1D48-EF1F-FD3D-021D5B25F9BC}"/>
              </a:ext>
            </a:extLst>
          </p:cNvPr>
          <p:cNvSpPr/>
          <p:nvPr/>
        </p:nvSpPr>
        <p:spPr>
          <a:xfrm>
            <a:off x="2920180" y="103239"/>
            <a:ext cx="5294672" cy="109138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b="1" i="0" u="none" strike="noStrike" baseline="0" dirty="0">
                <a:latin typeface="FrutigerLTPro-Black"/>
              </a:rPr>
              <a:t>PRACTICE 3: Analyzing Direct</a:t>
            </a:r>
          </a:p>
          <a:p>
            <a:pPr algn="ctr"/>
            <a:r>
              <a:rPr lang="en-US" sz="2800" b="1" i="0" u="none" strike="noStrike" baseline="0" dirty="0">
                <a:latin typeface="FrutigerLTPro-Black"/>
              </a:rPr>
              <a:t>Quotations </a:t>
            </a:r>
            <a:r>
              <a:rPr lang="en-US" sz="2800" b="1" i="1" u="none" strike="noStrike" baseline="0" dirty="0">
                <a:latin typeface="TimesLTStd-SemiboldItalic"/>
              </a:rPr>
              <a:t>(page 52)</a:t>
            </a:r>
            <a:endParaRPr lang="en-US" sz="2800" b="1" dirty="0"/>
          </a:p>
        </p:txBody>
      </p:sp>
      <p:sp>
        <p:nvSpPr>
          <p:cNvPr id="3" name="Rectangle 2">
            <a:extLst>
              <a:ext uri="{FF2B5EF4-FFF2-40B4-BE49-F238E27FC236}">
                <a16:creationId xmlns:a16="http://schemas.microsoft.com/office/drawing/2014/main" id="{B7428FD4-8F46-38E6-3F91-878685D5BA38}"/>
              </a:ext>
            </a:extLst>
          </p:cNvPr>
          <p:cNvSpPr/>
          <p:nvPr/>
        </p:nvSpPr>
        <p:spPr>
          <a:xfrm>
            <a:off x="545691" y="1526458"/>
            <a:ext cx="6740012" cy="166656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457200" indent="-457200" algn="l">
              <a:buAutoNum type="arabicPeriod"/>
            </a:pPr>
            <a:r>
              <a:rPr lang="en-US" sz="2400" b="1" i="0" u="none" strike="noStrike" baseline="0" dirty="0">
                <a:latin typeface="TimesLTStd-Roman"/>
              </a:rPr>
              <a:t>Henry Goodman</a:t>
            </a:r>
          </a:p>
          <a:p>
            <a:pPr algn="l"/>
            <a:endParaRPr lang="en-US" sz="2400" b="1" i="0" u="none" strike="noStrike" baseline="0" dirty="0">
              <a:latin typeface="TimesLTStd-Roman"/>
            </a:endParaRPr>
          </a:p>
          <a:p>
            <a:pPr algn="l"/>
            <a:r>
              <a:rPr lang="en-US" sz="2400" b="1" i="0" u="none" strike="noStrike" baseline="0" dirty="0">
                <a:latin typeface="TimesLTStd-Bold"/>
              </a:rPr>
              <a:t>2. </a:t>
            </a:r>
            <a:r>
              <a:rPr lang="en-US" sz="2400" b="1" i="0" u="none" strike="noStrike" baseline="0" dirty="0">
                <a:latin typeface="TimesLTStd-Roman"/>
              </a:rPr>
              <a:t>comments</a:t>
            </a:r>
          </a:p>
        </p:txBody>
      </p:sp>
      <p:sp>
        <p:nvSpPr>
          <p:cNvPr id="4" name="Rectangle 3">
            <a:extLst>
              <a:ext uri="{FF2B5EF4-FFF2-40B4-BE49-F238E27FC236}">
                <a16:creationId xmlns:a16="http://schemas.microsoft.com/office/drawing/2014/main" id="{9F47F330-7908-F269-1FD8-66ED0554CB5B}"/>
              </a:ext>
            </a:extLst>
          </p:cNvPr>
          <p:cNvSpPr/>
          <p:nvPr/>
        </p:nvSpPr>
        <p:spPr>
          <a:xfrm>
            <a:off x="545690" y="3888659"/>
            <a:ext cx="10899057" cy="166656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l"/>
            <a:r>
              <a:rPr lang="en-US" sz="2400" b="1" i="0" u="none" strike="noStrike" baseline="0" dirty="0">
                <a:latin typeface="TimesLTStd-Bold"/>
              </a:rPr>
              <a:t>3. </a:t>
            </a:r>
            <a:r>
              <a:rPr lang="en-US" sz="2400" b="1" i="0" u="none" strike="noStrike" baseline="0" dirty="0">
                <a:latin typeface="TimesLTStd-Roman"/>
              </a:rPr>
              <a:t>Martha Woodruff; from the source information provided, we don’t know if it is print or online; It gives a specific example of the frustrations of language loss.</a:t>
            </a:r>
            <a:endParaRPr lang="en-US" sz="2400" b="1" dirty="0"/>
          </a:p>
          <a:p>
            <a:endParaRPr lang="en-US" dirty="0"/>
          </a:p>
        </p:txBody>
      </p:sp>
    </p:spTree>
    <p:extLst>
      <p:ext uri="{BB962C8B-B14F-4D97-AF65-F5344CB8AC3E}">
        <p14:creationId xmlns:p14="http://schemas.microsoft.com/office/powerpoint/2010/main" val="6972168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8EB10-1B91-1EC6-F73B-74DB39DAD99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BAE0B80-5B79-E6BB-1B90-AE9648FA75DB}"/>
              </a:ext>
            </a:extLst>
          </p:cNvPr>
          <p:cNvSpPr/>
          <p:nvPr/>
        </p:nvSpPr>
        <p:spPr>
          <a:xfrm>
            <a:off x="2330245" y="344128"/>
            <a:ext cx="6223820" cy="82099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b="1" i="0" u="none" strike="noStrike" baseline="0" dirty="0">
                <a:latin typeface="FrutigerLTPro-Black"/>
              </a:rPr>
              <a:t>PRACTICE 4: Punctuating Direct</a:t>
            </a:r>
          </a:p>
          <a:p>
            <a:pPr algn="ctr"/>
            <a:r>
              <a:rPr lang="en-US" sz="2800" b="1" i="0" u="none" strike="noStrike" baseline="0" dirty="0">
                <a:latin typeface="FrutigerLTPro-Black"/>
              </a:rPr>
              <a:t>Quotations </a:t>
            </a:r>
            <a:r>
              <a:rPr lang="en-US" sz="2800" b="1" i="1" u="none" strike="noStrike" baseline="0" dirty="0">
                <a:latin typeface="TimesLTStd-SemiboldItalic"/>
              </a:rPr>
              <a:t>(page 55)</a:t>
            </a:r>
            <a:endParaRPr lang="en-US" sz="2800" b="1" dirty="0"/>
          </a:p>
        </p:txBody>
      </p:sp>
      <p:sp>
        <p:nvSpPr>
          <p:cNvPr id="3" name="Rectangle 2">
            <a:extLst>
              <a:ext uri="{FF2B5EF4-FFF2-40B4-BE49-F238E27FC236}">
                <a16:creationId xmlns:a16="http://schemas.microsoft.com/office/drawing/2014/main" id="{9C5D8902-FAB0-3B65-004A-7EA1B2686430}"/>
              </a:ext>
            </a:extLst>
          </p:cNvPr>
          <p:cNvSpPr/>
          <p:nvPr/>
        </p:nvSpPr>
        <p:spPr>
          <a:xfrm>
            <a:off x="339213" y="1423219"/>
            <a:ext cx="11297261" cy="166656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l"/>
            <a:r>
              <a:rPr lang="en-US" sz="2400" b="1" i="0" u="none" strike="noStrike" baseline="0" dirty="0">
                <a:latin typeface="TimesLTStd-Bold"/>
              </a:rPr>
              <a:t>1. </a:t>
            </a:r>
            <a:r>
              <a:rPr lang="en-US" sz="2400" b="1" i="0" u="none" strike="noStrike" baseline="0" dirty="0">
                <a:latin typeface="TimesLTStd-Roman"/>
              </a:rPr>
              <a:t>Dr. </a:t>
            </a:r>
            <a:r>
              <a:rPr lang="en-US" sz="2400" b="1" i="0" u="none" strike="noStrike" baseline="0" dirty="0" err="1">
                <a:latin typeface="TimesLTStd-Roman"/>
              </a:rPr>
              <a:t>Yixuan</a:t>
            </a:r>
            <a:r>
              <a:rPr lang="en-US" sz="2400" b="1" i="0" u="none" strike="noStrike" baseline="0" dirty="0">
                <a:latin typeface="TimesLTStd-Roman"/>
              </a:rPr>
              <a:t> Ma, a well-known astrophysicist who has been studying black holes, said, “They are the most interesting phenomena we astrophysicists have ever studied.”</a:t>
            </a:r>
            <a:endParaRPr lang="en-US" sz="2400" b="1" dirty="0"/>
          </a:p>
        </p:txBody>
      </p:sp>
      <p:sp>
        <p:nvSpPr>
          <p:cNvPr id="4" name="Rectangle 3">
            <a:extLst>
              <a:ext uri="{FF2B5EF4-FFF2-40B4-BE49-F238E27FC236}">
                <a16:creationId xmlns:a16="http://schemas.microsoft.com/office/drawing/2014/main" id="{A1104B90-D8E5-24BE-8246-BC75D289EA42}"/>
              </a:ext>
            </a:extLst>
          </p:cNvPr>
          <p:cNvSpPr/>
          <p:nvPr/>
        </p:nvSpPr>
        <p:spPr>
          <a:xfrm>
            <a:off x="339213" y="3548214"/>
            <a:ext cx="11297261" cy="84065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l"/>
            <a:r>
              <a:rPr lang="en-US" sz="2400" b="1" i="0" u="none" strike="noStrike" baseline="0" dirty="0">
                <a:latin typeface="TimesLTStd-Bold"/>
              </a:rPr>
              <a:t>2. </a:t>
            </a:r>
            <a:r>
              <a:rPr lang="en-US" sz="2400" b="1" i="0" u="none" strike="noStrike" baseline="0" dirty="0">
                <a:latin typeface="TimesLTStd-Roman"/>
              </a:rPr>
              <a:t>As she explained, “In black holes the laws of nature do not seem to apply.”</a:t>
            </a:r>
            <a:endParaRPr lang="en-US" sz="2400" b="1" dirty="0"/>
          </a:p>
        </p:txBody>
      </p:sp>
      <p:sp>
        <p:nvSpPr>
          <p:cNvPr id="5" name="Rectangle 4">
            <a:extLst>
              <a:ext uri="{FF2B5EF4-FFF2-40B4-BE49-F238E27FC236}">
                <a16:creationId xmlns:a16="http://schemas.microsoft.com/office/drawing/2014/main" id="{ED5D0343-FF71-8D5E-1CFB-9FADE92D38F8}"/>
              </a:ext>
            </a:extLst>
          </p:cNvPr>
          <p:cNvSpPr/>
          <p:nvPr/>
        </p:nvSpPr>
        <p:spPr>
          <a:xfrm>
            <a:off x="339213" y="4847300"/>
            <a:ext cx="11297261" cy="151416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l"/>
            <a:r>
              <a:rPr lang="en-US" sz="2400" b="1" i="0" u="none" strike="noStrike" baseline="0" dirty="0">
                <a:latin typeface="TimesLTStd-Bold"/>
              </a:rPr>
              <a:t>3. </a:t>
            </a:r>
            <a:r>
              <a:rPr lang="en-US" sz="2400" b="1" i="0" u="none" strike="noStrike" baseline="0" dirty="0">
                <a:latin typeface="TimesLTStd-Roman"/>
              </a:rPr>
              <a:t>“A black hole is a tiny point with the mass 25 times the mass of our sun,” explained Ma’s associate, Chun-Yi Su. “Black holes are created by the death of a very large star,” she stated.</a:t>
            </a:r>
            <a:endParaRPr lang="en-US" sz="2400" b="1" dirty="0"/>
          </a:p>
        </p:txBody>
      </p:sp>
    </p:spTree>
    <p:extLst>
      <p:ext uri="{BB962C8B-B14F-4D97-AF65-F5344CB8AC3E}">
        <p14:creationId xmlns:p14="http://schemas.microsoft.com/office/powerpoint/2010/main" val="171196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DE61C-CCC5-A47C-64F6-C2F843AE9DC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B71CD48-E178-BB3C-BD7E-EB4E64D33AAF}"/>
              </a:ext>
            </a:extLst>
          </p:cNvPr>
          <p:cNvSpPr/>
          <p:nvPr/>
        </p:nvSpPr>
        <p:spPr>
          <a:xfrm>
            <a:off x="501444" y="619431"/>
            <a:ext cx="10176387" cy="121428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l"/>
            <a:r>
              <a:rPr lang="en-US" sz="2400" b="1" i="0" u="none" strike="noStrike" baseline="0" dirty="0">
                <a:latin typeface="TimesLTStd-Bold"/>
              </a:rPr>
              <a:t>4. </a:t>
            </a:r>
            <a:r>
              <a:rPr lang="en-US" sz="2400" b="1" i="0" u="none" strike="noStrike" baseline="0" dirty="0">
                <a:latin typeface="TimesLTStd-Roman"/>
              </a:rPr>
              <a:t>“It is an invisible vacuum cleaner in space,” she added, “with tremendous gravitational pull.”</a:t>
            </a:r>
            <a:endParaRPr lang="en-US" sz="2400" b="1" dirty="0"/>
          </a:p>
        </p:txBody>
      </p:sp>
      <p:sp>
        <p:nvSpPr>
          <p:cNvPr id="3" name="Rectangle 2">
            <a:extLst>
              <a:ext uri="{FF2B5EF4-FFF2-40B4-BE49-F238E27FC236}">
                <a16:creationId xmlns:a16="http://schemas.microsoft.com/office/drawing/2014/main" id="{37CA15E0-3BB5-4C8B-DF62-6468874369D2}"/>
              </a:ext>
            </a:extLst>
          </p:cNvPr>
          <p:cNvSpPr/>
          <p:nvPr/>
        </p:nvSpPr>
        <p:spPr>
          <a:xfrm>
            <a:off x="501444" y="2440858"/>
            <a:ext cx="10309124" cy="166656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l"/>
            <a:r>
              <a:rPr lang="en-US" sz="2400" b="1" i="0" u="none" strike="noStrike" baseline="0" dirty="0">
                <a:latin typeface="TimesLTStd-Bold"/>
              </a:rPr>
              <a:t>5. </a:t>
            </a:r>
            <a:r>
              <a:rPr lang="en-US" sz="2400" b="1" i="0" u="none" strike="noStrike" baseline="0" dirty="0">
                <a:latin typeface="TimesLTStd-Roman"/>
              </a:rPr>
              <a:t>According to Dr. Su, “If a person falls into a black hole, he will eventually be crushed due to the tremendous gravitational forces.”</a:t>
            </a:r>
            <a:endParaRPr lang="en-US" sz="2400" b="1" dirty="0"/>
          </a:p>
        </p:txBody>
      </p:sp>
      <p:sp>
        <p:nvSpPr>
          <p:cNvPr id="4" name="Rectangle 3">
            <a:extLst>
              <a:ext uri="{FF2B5EF4-FFF2-40B4-BE49-F238E27FC236}">
                <a16:creationId xmlns:a16="http://schemas.microsoft.com/office/drawing/2014/main" id="{D39DFC2B-C6CE-47C5-BAE2-8C7E33E3A39F}"/>
              </a:ext>
            </a:extLst>
          </p:cNvPr>
          <p:cNvSpPr/>
          <p:nvPr/>
        </p:nvSpPr>
        <p:spPr>
          <a:xfrm>
            <a:off x="501443" y="4714569"/>
            <a:ext cx="10309123" cy="166656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l"/>
            <a:r>
              <a:rPr lang="en-US" sz="2400" b="1" i="0" u="none" strike="noStrike" baseline="0" dirty="0">
                <a:latin typeface="TimesLTStd-Bold"/>
              </a:rPr>
              <a:t>6. </a:t>
            </a:r>
            <a:r>
              <a:rPr lang="en-US" sz="2400" b="1" i="0" u="none" strike="noStrike" baseline="0" dirty="0">
                <a:latin typeface="TimesLTStd-Roman"/>
              </a:rPr>
              <a:t>“Time will slow down for him as he approaches the point of no return,” she said, “and when he reaches the point of no return, time will stand still for him.”</a:t>
            </a:r>
            <a:endParaRPr lang="en-US" sz="2400" b="1" dirty="0"/>
          </a:p>
        </p:txBody>
      </p:sp>
    </p:spTree>
    <p:extLst>
      <p:ext uri="{BB962C8B-B14F-4D97-AF65-F5344CB8AC3E}">
        <p14:creationId xmlns:p14="http://schemas.microsoft.com/office/powerpoint/2010/main" val="17920766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8D7F2-EDF5-B744-BC8B-153D00517D8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C3F2E5E-017B-0E7D-88C9-17CB464779F2}"/>
              </a:ext>
            </a:extLst>
          </p:cNvPr>
          <p:cNvSpPr/>
          <p:nvPr/>
        </p:nvSpPr>
        <p:spPr>
          <a:xfrm>
            <a:off x="3141406" y="1"/>
            <a:ext cx="5692877" cy="13126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b="1" i="0" u="none" strike="noStrike" baseline="0" dirty="0">
                <a:latin typeface="FrutigerLTPro-Black"/>
              </a:rPr>
              <a:t>PRACTICE 5: Changing Direct</a:t>
            </a:r>
          </a:p>
          <a:p>
            <a:pPr algn="ctr"/>
            <a:r>
              <a:rPr lang="en-US" sz="2800" b="1" i="0" u="none" strike="noStrike" baseline="0" dirty="0">
                <a:latin typeface="FrutigerLTPro-Black"/>
              </a:rPr>
              <a:t>Quotations to Indirect Quotations</a:t>
            </a:r>
          </a:p>
          <a:p>
            <a:pPr algn="ctr"/>
            <a:r>
              <a:rPr lang="en-US" sz="2800" b="1" i="1" u="none" strike="noStrike" baseline="0" dirty="0">
                <a:latin typeface="TimesLTStd-SemiboldItalic"/>
              </a:rPr>
              <a:t>(page 57)</a:t>
            </a:r>
            <a:endParaRPr lang="en-US" sz="2800" b="1" dirty="0"/>
          </a:p>
        </p:txBody>
      </p:sp>
      <p:sp>
        <p:nvSpPr>
          <p:cNvPr id="3" name="Rectangle 2">
            <a:extLst>
              <a:ext uri="{FF2B5EF4-FFF2-40B4-BE49-F238E27FC236}">
                <a16:creationId xmlns:a16="http://schemas.microsoft.com/office/drawing/2014/main" id="{0222EB93-F85A-2253-5E88-1A8BC0187803}"/>
              </a:ext>
            </a:extLst>
          </p:cNvPr>
          <p:cNvSpPr/>
          <p:nvPr/>
        </p:nvSpPr>
        <p:spPr>
          <a:xfrm>
            <a:off x="511277" y="4006645"/>
            <a:ext cx="11110451" cy="166656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l"/>
            <a:r>
              <a:rPr lang="en-US" sz="2400" b="1" i="0" u="none" strike="noStrike" baseline="0" dirty="0">
                <a:latin typeface="TimesLTStd-Bold"/>
              </a:rPr>
              <a:t>2. </a:t>
            </a:r>
            <a:r>
              <a:rPr lang="en-US" sz="2400" b="1" i="0" u="none" strike="noStrike" baseline="0" dirty="0">
                <a:latin typeface="TimesLTStd-Roman"/>
              </a:rPr>
              <a:t>Premed student Alma Rodriguez said that she missed being on campus, but that she had to work and take care of her family.</a:t>
            </a:r>
            <a:endParaRPr lang="en-US" sz="2400" b="1" dirty="0"/>
          </a:p>
        </p:txBody>
      </p:sp>
      <p:sp>
        <p:nvSpPr>
          <p:cNvPr id="4" name="Rectangle 3">
            <a:extLst>
              <a:ext uri="{FF2B5EF4-FFF2-40B4-BE49-F238E27FC236}">
                <a16:creationId xmlns:a16="http://schemas.microsoft.com/office/drawing/2014/main" id="{F0CA84ED-EA6C-914E-A564-5AA60A348037}"/>
              </a:ext>
            </a:extLst>
          </p:cNvPr>
          <p:cNvSpPr/>
          <p:nvPr/>
        </p:nvSpPr>
        <p:spPr>
          <a:xfrm>
            <a:off x="511277" y="1826342"/>
            <a:ext cx="11169445" cy="166656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l"/>
            <a:r>
              <a:rPr lang="en-US" sz="2400" b="1" i="0" u="none" strike="noStrike" baseline="0" dirty="0">
                <a:latin typeface="TimesLTStd-Bold"/>
              </a:rPr>
              <a:t>1. </a:t>
            </a:r>
            <a:r>
              <a:rPr lang="en-US" sz="2400" b="1" i="0" u="none" strike="noStrike" baseline="0" dirty="0" err="1">
                <a:latin typeface="TimesLTStd-Roman"/>
              </a:rPr>
              <a:t>OnlineEd</a:t>
            </a:r>
            <a:r>
              <a:rPr lang="en-US" sz="2400" b="1" i="0" u="none" strike="noStrike" baseline="0" dirty="0">
                <a:latin typeface="TimesLTStd-Roman"/>
              </a:rPr>
              <a:t>, Inc., General Manager Jim Burns said that not everyone could attend college in the traditional way; therefore, taking courses via the Internet would offer many more students the chance to earn a college degree.</a:t>
            </a:r>
            <a:endParaRPr lang="en-US" sz="2400" b="1" dirty="0"/>
          </a:p>
        </p:txBody>
      </p:sp>
    </p:spTree>
    <p:extLst>
      <p:ext uri="{BB962C8B-B14F-4D97-AF65-F5344CB8AC3E}">
        <p14:creationId xmlns:p14="http://schemas.microsoft.com/office/powerpoint/2010/main" val="8293158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3E7E1-0161-DE74-41BA-60AFE8AAC45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21ED17A-0C2F-3BBC-F5D4-7B82F2BF8A8C}"/>
              </a:ext>
            </a:extLst>
          </p:cNvPr>
          <p:cNvSpPr/>
          <p:nvPr/>
        </p:nvSpPr>
        <p:spPr>
          <a:xfrm>
            <a:off x="604684" y="619431"/>
            <a:ext cx="10368116" cy="199103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l"/>
            <a:r>
              <a:rPr lang="en-US" sz="2400" b="1" i="0" u="none" strike="noStrike" baseline="0" dirty="0">
                <a:latin typeface="TimesLTStd-Bold"/>
              </a:rPr>
              <a:t>3. </a:t>
            </a:r>
            <a:r>
              <a:rPr lang="en-US" sz="2400" b="1" i="0" u="none" strike="noStrike" baseline="0" dirty="0">
                <a:latin typeface="TimesLTStd-Roman"/>
              </a:rPr>
              <a:t>Other students noted that last year, they spent several hours a day commuting to and from school, but that now, they don’t have to do that.</a:t>
            </a:r>
            <a:endParaRPr lang="en-US" sz="2400" b="1" dirty="0"/>
          </a:p>
        </p:txBody>
      </p:sp>
      <p:sp>
        <p:nvSpPr>
          <p:cNvPr id="3" name="Rectangle 2">
            <a:extLst>
              <a:ext uri="{FF2B5EF4-FFF2-40B4-BE49-F238E27FC236}">
                <a16:creationId xmlns:a16="http://schemas.microsoft.com/office/drawing/2014/main" id="{36B0A0F3-3837-7B68-BAE5-582925F70E23}"/>
              </a:ext>
            </a:extLst>
          </p:cNvPr>
          <p:cNvSpPr/>
          <p:nvPr/>
        </p:nvSpPr>
        <p:spPr>
          <a:xfrm>
            <a:off x="604683" y="3428999"/>
            <a:ext cx="10368115" cy="239661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l"/>
            <a:r>
              <a:rPr lang="nl-NL" sz="2400" b="1" i="0" u="none" strike="noStrike" baseline="0" dirty="0">
                <a:latin typeface="TimesLTStd-Bold"/>
              </a:rPr>
              <a:t>4. </a:t>
            </a:r>
            <a:r>
              <a:rPr lang="nl-NL" sz="2400" b="1" i="0" u="none" strike="noStrike" baseline="0" dirty="0">
                <a:latin typeface="TimesLTStd-Roman"/>
              </a:rPr>
              <a:t>Computer engineering student Amir </a:t>
            </a:r>
            <a:r>
              <a:rPr lang="en-US" sz="2400" b="1" i="0" u="none" strike="noStrike" baseline="0" dirty="0" err="1">
                <a:latin typeface="TimesLTStd-Roman"/>
              </a:rPr>
              <a:t>Mehdizadeh</a:t>
            </a:r>
            <a:r>
              <a:rPr lang="en-US" sz="2400" b="1" i="0" u="none" strike="noStrike" baseline="0" dirty="0">
                <a:latin typeface="TimesLTStd-Roman"/>
              </a:rPr>
              <a:t> stated that he could choose when to study and how to study without pressure. He also said that he would take two more online classes in the fall.</a:t>
            </a:r>
            <a:endParaRPr lang="en-US" sz="2400" b="1" dirty="0"/>
          </a:p>
        </p:txBody>
      </p:sp>
    </p:spTree>
    <p:extLst>
      <p:ext uri="{BB962C8B-B14F-4D97-AF65-F5344CB8AC3E}">
        <p14:creationId xmlns:p14="http://schemas.microsoft.com/office/powerpoint/2010/main" val="2884218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176B7-0DA6-5AF2-7C78-19885BA9CE4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800C152-7EC8-0A96-B905-2C5015F1DB1E}"/>
              </a:ext>
            </a:extLst>
          </p:cNvPr>
          <p:cNvSpPr/>
          <p:nvPr/>
        </p:nvSpPr>
        <p:spPr>
          <a:xfrm>
            <a:off x="2654710" y="235974"/>
            <a:ext cx="6017342" cy="117987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b="1" i="0" u="none" strike="noStrike" baseline="0" dirty="0">
                <a:latin typeface="FrutigerLTPro-Black"/>
              </a:rPr>
              <a:t>Questions about the Model </a:t>
            </a:r>
            <a:r>
              <a:rPr lang="en-US" sz="2800" b="1" i="1" u="none" strike="noStrike" baseline="0" dirty="0">
                <a:latin typeface="TimesLTStd-SemiboldItalic"/>
              </a:rPr>
              <a:t>(page 59)</a:t>
            </a:r>
            <a:endParaRPr lang="en-US" sz="2800" b="1" dirty="0"/>
          </a:p>
        </p:txBody>
      </p:sp>
      <p:sp>
        <p:nvSpPr>
          <p:cNvPr id="3" name="Rectangle 2">
            <a:extLst>
              <a:ext uri="{FF2B5EF4-FFF2-40B4-BE49-F238E27FC236}">
                <a16:creationId xmlns:a16="http://schemas.microsoft.com/office/drawing/2014/main" id="{AFDD2BCD-08A5-B1BF-140B-743C9F230A9A}"/>
              </a:ext>
            </a:extLst>
          </p:cNvPr>
          <p:cNvSpPr/>
          <p:nvPr/>
        </p:nvSpPr>
        <p:spPr>
          <a:xfrm>
            <a:off x="588706" y="2192593"/>
            <a:ext cx="11014587" cy="333805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457200" indent="-457200" algn="l">
              <a:buAutoNum type="arabicPeriod"/>
            </a:pPr>
            <a:r>
              <a:rPr lang="en-US" sz="2400" b="1" i="0" u="none" strike="noStrike" baseline="0" dirty="0">
                <a:latin typeface="TimesLTStd-Roman"/>
              </a:rPr>
              <a:t>5 in the original, 6 in the paraphrase.</a:t>
            </a:r>
          </a:p>
          <a:p>
            <a:pPr algn="l"/>
            <a:endParaRPr lang="en-US" sz="2400" b="1" i="0" u="none" strike="noStrike" baseline="0" dirty="0">
              <a:latin typeface="TimesLTStd-Roman"/>
            </a:endParaRPr>
          </a:p>
          <a:p>
            <a:pPr algn="l"/>
            <a:r>
              <a:rPr lang="en-US" sz="2400" b="1" i="0" u="none" strike="noStrike" baseline="0" dirty="0">
                <a:latin typeface="TimesLTStd-Bold"/>
              </a:rPr>
              <a:t>2. a. </a:t>
            </a:r>
            <a:r>
              <a:rPr lang="en-US" sz="2400" b="1" i="1" u="none" strike="noStrike" baseline="0" dirty="0">
                <a:latin typeface="TimesLTStd-Italic"/>
              </a:rPr>
              <a:t>Language</a:t>
            </a:r>
            <a:r>
              <a:rPr lang="en-US" sz="2400" b="1" i="0" u="none" strike="noStrike" baseline="0" dirty="0">
                <a:latin typeface="TimesLTStd-Roman"/>
              </a:rPr>
              <a:t>, at the end</a:t>
            </a:r>
          </a:p>
          <a:p>
            <a:pPr algn="l"/>
            <a:endParaRPr lang="en-US" sz="2400" b="1" i="0" u="none" strike="noStrike" baseline="0" dirty="0">
              <a:latin typeface="TimesLTStd-Roman"/>
            </a:endParaRPr>
          </a:p>
          <a:p>
            <a:pPr algn="l"/>
            <a:r>
              <a:rPr lang="en-US" sz="2400" b="1" i="0" u="none" strike="noStrike" baseline="0" dirty="0">
                <a:latin typeface="TimesLTStd-Bold"/>
              </a:rPr>
              <a:t>b. </a:t>
            </a:r>
            <a:r>
              <a:rPr lang="en-US" sz="2400" b="1" i="1" u="none" strike="noStrike" baseline="0" dirty="0">
                <a:latin typeface="TimesLTStd-Italic"/>
              </a:rPr>
              <a:t>But</a:t>
            </a:r>
            <a:r>
              <a:rPr lang="en-US" sz="2400" b="1" i="0" u="none" strike="noStrike" baseline="0" dirty="0">
                <a:latin typeface="TimesLTStd-Roman"/>
              </a:rPr>
              <a:t>, </a:t>
            </a:r>
            <a:r>
              <a:rPr lang="en-US" sz="2400" b="1" i="1" u="none" strike="noStrike" baseline="0" dirty="0">
                <a:latin typeface="TimesLTStd-Italic"/>
              </a:rPr>
              <a:t>Because</a:t>
            </a:r>
          </a:p>
          <a:p>
            <a:pPr algn="l"/>
            <a:endParaRPr lang="en-US" sz="2400" b="1" i="1" u="none" strike="noStrike" baseline="0" dirty="0">
              <a:latin typeface="TimesLTStd-Italic"/>
            </a:endParaRPr>
          </a:p>
          <a:p>
            <a:pPr algn="l"/>
            <a:r>
              <a:rPr lang="en-US" sz="2400" b="1" i="0" u="none" strike="noStrike" baseline="0" dirty="0">
                <a:latin typeface="TimesLTStd-Bold"/>
              </a:rPr>
              <a:t>c. </a:t>
            </a:r>
            <a:r>
              <a:rPr lang="en-US" sz="2400" b="1" i="1" u="none" strike="noStrike" baseline="0" dirty="0">
                <a:latin typeface="TimesLTStd-Italic"/>
              </a:rPr>
              <a:t>wished for, reasons</a:t>
            </a:r>
          </a:p>
          <a:p>
            <a:pPr algn="l"/>
            <a:endParaRPr lang="en-US" sz="2400" b="1" i="1" u="none" strike="noStrike" baseline="0" dirty="0">
              <a:latin typeface="TimesLTStd-Italic"/>
            </a:endParaRPr>
          </a:p>
          <a:p>
            <a:pPr algn="l"/>
            <a:r>
              <a:rPr lang="en-US" sz="2400" b="1" i="0" u="none" strike="noStrike" baseline="0" dirty="0">
                <a:latin typeface="TimesLTStd-Bold"/>
              </a:rPr>
              <a:t>d. </a:t>
            </a:r>
            <a:r>
              <a:rPr lang="en-US" sz="2400" b="1" i="0" u="none" strike="noStrike" baseline="0" dirty="0">
                <a:latin typeface="TimesLTStd-Roman"/>
              </a:rPr>
              <a:t>sentence 5</a:t>
            </a:r>
            <a:endParaRPr lang="en-US" sz="2400" b="1" dirty="0"/>
          </a:p>
        </p:txBody>
      </p:sp>
    </p:spTree>
    <p:extLst>
      <p:ext uri="{BB962C8B-B14F-4D97-AF65-F5344CB8AC3E}">
        <p14:creationId xmlns:p14="http://schemas.microsoft.com/office/powerpoint/2010/main" val="6023331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B9127-13C8-DC59-4F80-DFE9FEAB6E9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A029772-D409-5DE2-AB49-794B7268F7ED}"/>
              </a:ext>
            </a:extLst>
          </p:cNvPr>
          <p:cNvSpPr/>
          <p:nvPr/>
        </p:nvSpPr>
        <p:spPr>
          <a:xfrm>
            <a:off x="3072581" y="329380"/>
            <a:ext cx="5009536" cy="101272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b="1" i="0" u="none" strike="noStrike" baseline="0" dirty="0">
                <a:latin typeface="FrutigerLTPro-Black"/>
              </a:rPr>
              <a:t>PRACTICE 6: Choosing the Best</a:t>
            </a:r>
          </a:p>
          <a:p>
            <a:pPr algn="ctr"/>
            <a:r>
              <a:rPr lang="en-US" sz="2800" b="1" i="0" u="none" strike="noStrike" baseline="0" dirty="0">
                <a:latin typeface="FrutigerLTPro-Black"/>
              </a:rPr>
              <a:t>Paraphrase </a:t>
            </a:r>
            <a:r>
              <a:rPr lang="en-US" sz="2800" b="1" i="1" u="none" strike="noStrike" baseline="0" dirty="0">
                <a:latin typeface="TimesLTStd-SemiboldItalic"/>
              </a:rPr>
              <a:t>(page 62)</a:t>
            </a:r>
          </a:p>
          <a:p>
            <a:pPr algn="ctr"/>
            <a:endParaRPr lang="en-US" dirty="0"/>
          </a:p>
        </p:txBody>
      </p:sp>
      <p:sp>
        <p:nvSpPr>
          <p:cNvPr id="3" name="Rectangle 2">
            <a:extLst>
              <a:ext uri="{FF2B5EF4-FFF2-40B4-BE49-F238E27FC236}">
                <a16:creationId xmlns:a16="http://schemas.microsoft.com/office/drawing/2014/main" id="{A02038D8-8C0B-91E2-3A90-6FE5856F5809}"/>
              </a:ext>
            </a:extLst>
          </p:cNvPr>
          <p:cNvSpPr/>
          <p:nvPr/>
        </p:nvSpPr>
        <p:spPr>
          <a:xfrm>
            <a:off x="2480188" y="1576848"/>
            <a:ext cx="6194322" cy="225404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b="1" i="0" u="none" strike="noStrike" baseline="0" dirty="0">
                <a:highlight>
                  <a:srgbClr val="FF0000"/>
                </a:highlight>
                <a:latin typeface="TimesLTStd-Bold"/>
              </a:rPr>
              <a:t>Original Passage 2</a:t>
            </a:r>
          </a:p>
          <a:p>
            <a:pPr algn="ctr"/>
            <a:r>
              <a:rPr lang="en-US" sz="2400" b="1" i="0" u="none" strike="noStrike" baseline="0" dirty="0">
                <a:latin typeface="TimesLTStd-Bold"/>
              </a:rPr>
              <a:t>a. </a:t>
            </a:r>
            <a:r>
              <a:rPr lang="en-US" sz="2400" b="1" i="0" u="none" strike="noStrike" baseline="0" dirty="0">
                <a:latin typeface="TimesLTStd-Roman"/>
              </a:rPr>
              <a:t>Too sim.</a:t>
            </a:r>
          </a:p>
          <a:p>
            <a:pPr algn="ctr"/>
            <a:r>
              <a:rPr lang="en-US" sz="2400" b="1" i="0" u="none" strike="noStrike" baseline="0" dirty="0">
                <a:latin typeface="TimesLTStd-Bold"/>
              </a:rPr>
              <a:t>b. </a:t>
            </a:r>
            <a:r>
              <a:rPr lang="en-US" sz="2400" b="1" i="0" u="none" strike="noStrike" baseline="0" dirty="0">
                <a:latin typeface="TimesLTStd-Roman"/>
              </a:rPr>
              <a:t>Best</a:t>
            </a:r>
          </a:p>
          <a:p>
            <a:pPr algn="ctr"/>
            <a:r>
              <a:rPr lang="en-US" sz="2400" b="1" i="0" u="none" strike="noStrike" baseline="0" dirty="0">
                <a:latin typeface="TimesLTStd-Bold"/>
              </a:rPr>
              <a:t>c. </a:t>
            </a:r>
            <a:r>
              <a:rPr lang="en-US" sz="2400" b="1" i="0" u="none" strike="noStrike" baseline="0" dirty="0">
                <a:latin typeface="TimesLTStd-Roman"/>
              </a:rPr>
              <a:t>No cit.</a:t>
            </a:r>
          </a:p>
          <a:p>
            <a:pPr algn="ctr"/>
            <a:r>
              <a:rPr lang="en-US" sz="2400" b="1" i="0" u="none" strike="noStrike" baseline="0" dirty="0">
                <a:latin typeface="TimesLTStd-Bold"/>
              </a:rPr>
              <a:t>d. </a:t>
            </a:r>
            <a:r>
              <a:rPr lang="en-US" sz="2400" b="1" i="0" u="none" strike="noStrike" baseline="0" dirty="0">
                <a:latin typeface="TimesLTStd-Roman"/>
              </a:rPr>
              <a:t>Inc. / </a:t>
            </a:r>
            <a:r>
              <a:rPr lang="en-US" sz="2400" b="1" i="0" u="none" strike="noStrike" baseline="0" dirty="0" err="1">
                <a:latin typeface="TimesLTStd-Roman"/>
              </a:rPr>
              <a:t>Innac</a:t>
            </a:r>
            <a:r>
              <a:rPr lang="en-US" sz="2400" b="1" i="0" u="none" strike="noStrike" baseline="0" dirty="0">
                <a:latin typeface="TimesLTStd-Roman"/>
              </a:rPr>
              <a:t>.</a:t>
            </a:r>
            <a:endParaRPr lang="en-US" sz="2400" b="1" dirty="0"/>
          </a:p>
        </p:txBody>
      </p:sp>
      <p:sp>
        <p:nvSpPr>
          <p:cNvPr id="4" name="Rectangle 3">
            <a:extLst>
              <a:ext uri="{FF2B5EF4-FFF2-40B4-BE49-F238E27FC236}">
                <a16:creationId xmlns:a16="http://schemas.microsoft.com/office/drawing/2014/main" id="{787C2159-301E-B253-52C2-2FF2A7928007}"/>
              </a:ext>
            </a:extLst>
          </p:cNvPr>
          <p:cNvSpPr/>
          <p:nvPr/>
        </p:nvSpPr>
        <p:spPr>
          <a:xfrm>
            <a:off x="2480187" y="4274574"/>
            <a:ext cx="6194321" cy="210410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b="1" i="0" u="none" strike="noStrike" baseline="0" dirty="0">
                <a:highlight>
                  <a:srgbClr val="FF0000"/>
                </a:highlight>
                <a:latin typeface="TimesLTStd-Bold"/>
              </a:rPr>
              <a:t>Original Passage 3</a:t>
            </a:r>
          </a:p>
          <a:p>
            <a:pPr algn="ctr"/>
            <a:r>
              <a:rPr lang="en-US" sz="2400" b="1" i="0" u="none" strike="noStrike" baseline="0" dirty="0">
                <a:latin typeface="TimesLTStd-Bold"/>
              </a:rPr>
              <a:t>a. </a:t>
            </a:r>
            <a:r>
              <a:rPr lang="en-US" sz="2400" b="1" i="0" u="none" strike="noStrike" baseline="0" dirty="0">
                <a:latin typeface="TimesLTStd-Roman"/>
              </a:rPr>
              <a:t>Inc. / </a:t>
            </a:r>
            <a:r>
              <a:rPr lang="en-US" sz="2400" b="1" i="0" u="none" strike="noStrike" baseline="0" dirty="0" err="1">
                <a:latin typeface="TimesLTStd-Roman"/>
              </a:rPr>
              <a:t>Innac</a:t>
            </a:r>
            <a:r>
              <a:rPr lang="en-US" sz="2400" b="1" i="0" u="none" strike="noStrike" baseline="0" dirty="0">
                <a:latin typeface="TimesLTStd-Roman"/>
              </a:rPr>
              <a:t>.</a:t>
            </a:r>
          </a:p>
          <a:p>
            <a:pPr algn="ctr"/>
            <a:r>
              <a:rPr lang="en-US" sz="2400" b="1" i="0" u="none" strike="noStrike" baseline="0" dirty="0">
                <a:latin typeface="TimesLTStd-Bold"/>
              </a:rPr>
              <a:t>b. </a:t>
            </a:r>
            <a:r>
              <a:rPr lang="en-US" sz="2400" b="1" i="0" u="none" strike="noStrike" baseline="0" dirty="0">
                <a:latin typeface="TimesLTStd-Roman"/>
              </a:rPr>
              <a:t>No cit.</a:t>
            </a:r>
          </a:p>
          <a:p>
            <a:pPr algn="ctr"/>
            <a:r>
              <a:rPr lang="en-US" sz="2400" b="1" i="0" u="none" strike="noStrike" baseline="0" dirty="0">
                <a:latin typeface="TimesLTStd-Bold"/>
              </a:rPr>
              <a:t>c. </a:t>
            </a:r>
            <a:r>
              <a:rPr lang="en-US" sz="2400" b="1" i="0" u="none" strike="noStrike" baseline="0" dirty="0">
                <a:latin typeface="TimesLTStd-Roman"/>
              </a:rPr>
              <a:t>Too sim.</a:t>
            </a:r>
          </a:p>
          <a:p>
            <a:pPr algn="ctr"/>
            <a:r>
              <a:rPr lang="en-US" sz="2400" b="1" i="0" u="none" strike="noStrike" baseline="0" dirty="0">
                <a:latin typeface="TimesLTStd-Bold"/>
              </a:rPr>
              <a:t>d. </a:t>
            </a:r>
            <a:r>
              <a:rPr lang="en-US" sz="2400" b="1" i="0" u="none" strike="noStrike" baseline="0" dirty="0">
                <a:latin typeface="TimesLTStd-Roman"/>
              </a:rPr>
              <a:t>Best</a:t>
            </a:r>
            <a:endParaRPr lang="en-US" b="1" dirty="0"/>
          </a:p>
        </p:txBody>
      </p:sp>
    </p:spTree>
    <p:extLst>
      <p:ext uri="{BB962C8B-B14F-4D97-AF65-F5344CB8AC3E}">
        <p14:creationId xmlns:p14="http://schemas.microsoft.com/office/powerpoint/2010/main" val="823951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C6CC2-75A5-5F98-7DFF-B8CFCA8DD91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E18C4FD-F5C2-02D4-0F11-E1F3055E0EE0}"/>
              </a:ext>
            </a:extLst>
          </p:cNvPr>
          <p:cNvSpPr/>
          <p:nvPr/>
        </p:nvSpPr>
        <p:spPr>
          <a:xfrm>
            <a:off x="2448232" y="309716"/>
            <a:ext cx="6223820" cy="82591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b="1" i="0" u="none" strike="noStrike" baseline="0" dirty="0">
                <a:latin typeface="FrutigerLTPro-Black"/>
              </a:rPr>
              <a:t>Questions about the Model </a:t>
            </a:r>
            <a:r>
              <a:rPr lang="en-US" sz="2800" b="1" i="1" u="none" strike="noStrike" baseline="0" dirty="0">
                <a:latin typeface="TimesLTStd-SemiboldItalic"/>
              </a:rPr>
              <a:t>(page 67)</a:t>
            </a:r>
          </a:p>
        </p:txBody>
      </p:sp>
      <p:sp>
        <p:nvSpPr>
          <p:cNvPr id="3" name="Rectangle 2">
            <a:extLst>
              <a:ext uri="{FF2B5EF4-FFF2-40B4-BE49-F238E27FC236}">
                <a16:creationId xmlns:a16="http://schemas.microsoft.com/office/drawing/2014/main" id="{8CA428DE-3B05-FC0F-AE59-5E185EBC6327}"/>
              </a:ext>
            </a:extLst>
          </p:cNvPr>
          <p:cNvSpPr/>
          <p:nvPr/>
        </p:nvSpPr>
        <p:spPr>
          <a:xfrm>
            <a:off x="796413" y="2266336"/>
            <a:ext cx="10781071" cy="28366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l"/>
            <a:r>
              <a:rPr lang="en-US" sz="2400" b="1" i="0" u="none" strike="noStrike" baseline="0" dirty="0">
                <a:latin typeface="TimesLTStd-Bold"/>
              </a:rPr>
              <a:t>1. </a:t>
            </a:r>
            <a:r>
              <a:rPr lang="en-US" sz="2400" b="1" i="0" u="none" strike="noStrike" baseline="0" dirty="0">
                <a:latin typeface="TimesLTStd-Roman"/>
              </a:rPr>
              <a:t>5, 6, 2</a:t>
            </a:r>
          </a:p>
          <a:p>
            <a:pPr algn="l"/>
            <a:r>
              <a:rPr lang="en-US" sz="2400" b="1" i="0" u="none" strike="noStrike" baseline="0" dirty="0">
                <a:latin typeface="TimesLTStd-Bold"/>
              </a:rPr>
              <a:t>2. </a:t>
            </a:r>
            <a:r>
              <a:rPr lang="en-US" sz="2400" b="1" i="0" u="none" strike="noStrike" baseline="0" dirty="0">
                <a:latin typeface="TimesLTStd-Roman"/>
              </a:rPr>
              <a:t>There are more ideas in the paraphrase. The points that are left out in the summary are that many different languages have developed, and that people have dreamed.</a:t>
            </a:r>
            <a:endParaRPr lang="en-US" sz="2400" b="1" dirty="0"/>
          </a:p>
          <a:p>
            <a:pPr algn="ctr"/>
            <a:endParaRPr lang="en-US" dirty="0"/>
          </a:p>
        </p:txBody>
      </p:sp>
    </p:spTree>
    <p:extLst>
      <p:ext uri="{BB962C8B-B14F-4D97-AF65-F5344CB8AC3E}">
        <p14:creationId xmlns:p14="http://schemas.microsoft.com/office/powerpoint/2010/main" val="19736238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9790C-62F1-D9FB-1870-2AF37E04A91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D682F7C-BB10-E761-3297-469A319E8BDE}"/>
              </a:ext>
            </a:extLst>
          </p:cNvPr>
          <p:cNvSpPr/>
          <p:nvPr/>
        </p:nvSpPr>
        <p:spPr>
          <a:xfrm>
            <a:off x="3008669" y="132736"/>
            <a:ext cx="5442156" cy="104713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b="1" i="0" u="none" strike="noStrike" baseline="0" dirty="0">
                <a:latin typeface="FrutigerLTPro-Black"/>
              </a:rPr>
              <a:t>PRACTICE 9: Using Synonyms </a:t>
            </a:r>
            <a:r>
              <a:rPr lang="en-US" sz="2800" b="1" i="1" u="none" strike="noStrike" baseline="0" dirty="0">
                <a:latin typeface="TimesLTStd-SemiboldItalic"/>
              </a:rPr>
              <a:t>(page 69)</a:t>
            </a:r>
            <a:endParaRPr lang="en-US" sz="2800" b="1" dirty="0"/>
          </a:p>
        </p:txBody>
      </p:sp>
      <p:sp>
        <p:nvSpPr>
          <p:cNvPr id="3" name="Rectangle 2">
            <a:extLst>
              <a:ext uri="{FF2B5EF4-FFF2-40B4-BE49-F238E27FC236}">
                <a16:creationId xmlns:a16="http://schemas.microsoft.com/office/drawing/2014/main" id="{EEF8C54A-DED5-984F-545B-5A44A4F78A86}"/>
              </a:ext>
            </a:extLst>
          </p:cNvPr>
          <p:cNvSpPr/>
          <p:nvPr/>
        </p:nvSpPr>
        <p:spPr>
          <a:xfrm>
            <a:off x="3008669" y="2249130"/>
            <a:ext cx="5442156" cy="344374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l"/>
            <a:r>
              <a:rPr lang="en-US" sz="2400" b="1" i="0" u="none" strike="noStrike" baseline="0" dirty="0">
                <a:latin typeface="TimesLTStd-Bold"/>
              </a:rPr>
              <a:t>1. </a:t>
            </a:r>
            <a:r>
              <a:rPr lang="en-US" sz="2400" b="1" i="0" u="none" strike="noStrike" baseline="0" dirty="0">
                <a:latin typeface="TimesLTStd-Roman"/>
              </a:rPr>
              <a:t>electronic tools</a:t>
            </a:r>
          </a:p>
          <a:p>
            <a:pPr algn="l"/>
            <a:r>
              <a:rPr lang="en-US" sz="2400" b="1" i="0" u="none" strike="noStrike" baseline="0" dirty="0">
                <a:latin typeface="TimesLTStd-Bold"/>
              </a:rPr>
              <a:t>2. </a:t>
            </a:r>
            <a:r>
              <a:rPr lang="en-US" sz="2400" b="1" i="0" u="none" strike="noStrike" baseline="0" dirty="0">
                <a:latin typeface="TimesLTStd-Roman"/>
              </a:rPr>
              <a:t>programs</a:t>
            </a:r>
          </a:p>
          <a:p>
            <a:pPr algn="l"/>
            <a:r>
              <a:rPr lang="en-US" sz="2400" b="1" i="0" u="none" strike="noStrike" baseline="0" dirty="0">
                <a:latin typeface="TimesLTStd-Bold"/>
              </a:rPr>
              <a:t>3. </a:t>
            </a:r>
            <a:r>
              <a:rPr lang="en-US" sz="2400" b="1" i="0" u="none" strike="noStrike" baseline="0" dirty="0">
                <a:latin typeface="TimesLTStd-Roman"/>
              </a:rPr>
              <a:t>tongues</a:t>
            </a:r>
          </a:p>
          <a:p>
            <a:pPr algn="l"/>
            <a:r>
              <a:rPr lang="en-US" sz="2400" b="1" i="0" u="none" strike="noStrike" baseline="0" dirty="0">
                <a:latin typeface="TimesLTStd-Bold"/>
              </a:rPr>
              <a:t>4. </a:t>
            </a:r>
            <a:r>
              <a:rPr lang="en-US" sz="2400" b="1" i="0" u="none" strike="noStrike" baseline="0" dirty="0">
                <a:latin typeface="TimesLTStd-Roman"/>
              </a:rPr>
              <a:t>speak</a:t>
            </a:r>
          </a:p>
          <a:p>
            <a:pPr algn="l"/>
            <a:r>
              <a:rPr lang="en-US" sz="2400" b="1" i="0" u="none" strike="noStrike" baseline="0" dirty="0">
                <a:latin typeface="TimesLTStd-Bold"/>
              </a:rPr>
              <a:t>5. </a:t>
            </a:r>
            <a:r>
              <a:rPr lang="en-US" sz="2400" b="1" i="0" u="none" strike="noStrike" baseline="0">
                <a:latin typeface="TimesLTStd-Roman"/>
              </a:rPr>
              <a:t>reawaken</a:t>
            </a:r>
            <a:endParaRPr lang="en-US" dirty="0"/>
          </a:p>
        </p:txBody>
      </p:sp>
    </p:spTree>
    <p:extLst>
      <p:ext uri="{BB962C8B-B14F-4D97-AF65-F5344CB8AC3E}">
        <p14:creationId xmlns:p14="http://schemas.microsoft.com/office/powerpoint/2010/main" val="61163840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5DD8F6D84AD6D4F8CA97508881E4EE9" ma:contentTypeVersion="4" ma:contentTypeDescription="Create a new document." ma:contentTypeScope="" ma:versionID="e93e190a11f3a0f795f6e88818b94dfb">
  <xsd:schema xmlns:xsd="http://www.w3.org/2001/XMLSchema" xmlns:xs="http://www.w3.org/2001/XMLSchema" xmlns:p="http://schemas.microsoft.com/office/2006/metadata/properties" xmlns:ns3="1ac97509-24c5-4f70-b50e-679a196b557b" targetNamespace="http://schemas.microsoft.com/office/2006/metadata/properties" ma:root="true" ma:fieldsID="d22227ea211711b8c83bc37afb6d5928" ns3:_="">
    <xsd:import namespace="1ac97509-24c5-4f70-b50e-679a196b557b"/>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c97509-24c5-4f70-b50e-679a196b55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EC1FD40-D059-467C-B86E-C8F9AD8BAF5F}">
  <ds:schemaRefs>
    <ds:schemaRef ds:uri="http://www.w3.org/XML/1998/namespace"/>
    <ds:schemaRef ds:uri="http://schemas.microsoft.com/office/2006/documentManagement/types"/>
    <ds:schemaRef ds:uri="http://schemas.microsoft.com/office/2006/metadata/properties"/>
    <ds:schemaRef ds:uri="http://schemas.microsoft.com/office/infopath/2007/PartnerControls"/>
    <ds:schemaRef ds:uri="http://purl.org/dc/terms/"/>
    <ds:schemaRef ds:uri="http://purl.org/dc/dcmitype/"/>
    <ds:schemaRef ds:uri="http://schemas.openxmlformats.org/package/2006/metadata/core-properties"/>
    <ds:schemaRef ds:uri="1ac97509-24c5-4f70-b50e-679a196b557b"/>
    <ds:schemaRef ds:uri="http://purl.org/dc/elements/1.1/"/>
  </ds:schemaRefs>
</ds:datastoreItem>
</file>

<file path=customXml/itemProps2.xml><?xml version="1.0" encoding="utf-8"?>
<ds:datastoreItem xmlns:ds="http://schemas.openxmlformats.org/officeDocument/2006/customXml" ds:itemID="{D0EE7B20-9A05-46E1-AF8B-9F7CB8BBB533}">
  <ds:schemaRefs>
    <ds:schemaRef ds:uri="http://schemas.microsoft.com/sharepoint/v3/contenttype/forms"/>
  </ds:schemaRefs>
</ds:datastoreItem>
</file>

<file path=customXml/itemProps3.xml><?xml version="1.0" encoding="utf-8"?>
<ds:datastoreItem xmlns:ds="http://schemas.openxmlformats.org/officeDocument/2006/customXml" ds:itemID="{6C3D016C-DDF7-4B60-899A-A73751BEC7F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c97509-24c5-4f70-b50e-679a196b557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Wood Type</Template>
  <TotalTime>57</TotalTime>
  <Words>847</Words>
  <Application>Microsoft Office PowerPoint</Application>
  <PresentationFormat>Widescreen</PresentationFormat>
  <Paragraphs>71</Paragraphs>
  <Slides>13</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13</vt:i4>
      </vt:variant>
    </vt:vector>
  </HeadingPairs>
  <TitlesOfParts>
    <vt:vector size="24" baseType="lpstr">
      <vt:lpstr>FrutigerLTPro-Black</vt:lpstr>
      <vt:lpstr>Gilmer</vt:lpstr>
      <vt:lpstr>Inter</vt:lpstr>
      <vt:lpstr>Rockwell</vt:lpstr>
      <vt:lpstr>Rockwell Condensed</vt:lpstr>
      <vt:lpstr>TimesLTStd-Bold</vt:lpstr>
      <vt:lpstr>TimesLTStd-Italic</vt:lpstr>
      <vt:lpstr>TimesLTStd-Roman</vt:lpstr>
      <vt:lpstr>TimesLTStd-SemiboldItalic</vt:lpstr>
      <vt:lpstr>Wingdings</vt:lpstr>
      <vt:lpstr>Wood Type</vt:lpstr>
      <vt:lpstr>Using outside sources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outside sources</dc:title>
  <dc:creator>Rafia zafar</dc:creator>
  <cp:lastModifiedBy>Rafia zafar</cp:lastModifiedBy>
  <cp:revision>2</cp:revision>
  <dcterms:created xsi:type="dcterms:W3CDTF">2024-03-06T02:43:58Z</dcterms:created>
  <dcterms:modified xsi:type="dcterms:W3CDTF">2024-03-13T06:43:35Z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0x01010055DD8F6D84AD6D4F8CA97508881E4EE9</vt:lpwstr>
  </property>
</Properties>
</file>