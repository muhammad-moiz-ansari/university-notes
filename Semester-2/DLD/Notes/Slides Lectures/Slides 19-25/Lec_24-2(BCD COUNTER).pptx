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1" r:id="rId4"/>
    <p:sldId id="282" r:id="rId5"/>
    <p:sldId id="277" r:id="rId6"/>
    <p:sldId id="259" r:id="rId7"/>
    <p:sldId id="258" r:id="rId8"/>
    <p:sldId id="270" r:id="rId9"/>
    <p:sldId id="269" r:id="rId10"/>
    <p:sldId id="268" r:id="rId11"/>
    <p:sldId id="271" r:id="rId12"/>
    <p:sldId id="272" r:id="rId13"/>
    <p:sldId id="267" r:id="rId14"/>
    <p:sldId id="273" r:id="rId15"/>
    <p:sldId id="274" r:id="rId16"/>
    <p:sldId id="278" r:id="rId17"/>
    <p:sldId id="266" r:id="rId18"/>
    <p:sldId id="276" r:id="rId19"/>
    <p:sldId id="279" r:id="rId20"/>
    <p:sldId id="280" r:id="rId21"/>
    <p:sldId id="261" r:id="rId22"/>
    <p:sldId id="263" r:id="rId23"/>
    <p:sldId id="264" r:id="rId24"/>
    <p:sldId id="265" r:id="rId25"/>
    <p:sldId id="262" r:id="rId26"/>
    <p:sldId id="27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9432C-211B-457D-9A66-D8511A19A6D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EFC3A-B8B4-4B19-B268-C50601281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39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9432C-211B-457D-9A66-D8511A19A6D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EFC3A-B8B4-4B19-B268-C50601281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498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9432C-211B-457D-9A66-D8511A19A6D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EFC3A-B8B4-4B19-B268-C50601281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2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9432C-211B-457D-9A66-D8511A19A6D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EFC3A-B8B4-4B19-B268-C50601281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248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9432C-211B-457D-9A66-D8511A19A6D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EFC3A-B8B4-4B19-B268-C50601281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69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9432C-211B-457D-9A66-D8511A19A6D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EFC3A-B8B4-4B19-B268-C50601281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797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9432C-211B-457D-9A66-D8511A19A6D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EFC3A-B8B4-4B19-B268-C50601281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3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9432C-211B-457D-9A66-D8511A19A6D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EFC3A-B8B4-4B19-B268-C50601281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43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9432C-211B-457D-9A66-D8511A19A6D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EFC3A-B8B4-4B19-B268-C50601281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67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9432C-211B-457D-9A66-D8511A19A6D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EFC3A-B8B4-4B19-B268-C50601281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90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9432C-211B-457D-9A66-D8511A19A6D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EFC3A-B8B4-4B19-B268-C50601281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44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9432C-211B-457D-9A66-D8511A19A6D7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EFC3A-B8B4-4B19-B268-C50601281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807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0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7013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4-BIT UP/DOWN COUNTER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BCD SYNCHRONOUS COUNTER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3970338"/>
            <a:ext cx="9144000" cy="1655762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LECTURE 10</a:t>
            </a:r>
          </a:p>
          <a:p>
            <a:pPr algn="r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Part 2</a:t>
            </a:r>
          </a:p>
        </p:txBody>
      </p:sp>
    </p:spTree>
    <p:extLst>
      <p:ext uri="{BB962C8B-B14F-4D97-AF65-F5344CB8AC3E}">
        <p14:creationId xmlns:p14="http://schemas.microsoft.com/office/powerpoint/2010/main" val="1479602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4"/>
            <a:ext cx="9220200" cy="110807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4-BIT UP/DOWN COUNTER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562100"/>
            <a:ext cx="11537108" cy="412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794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4"/>
            <a:ext cx="9220200" cy="53428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4-BIT UP COUNTER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endParaRPr lang="en-US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C6D09EBE-A12D-AB29-0396-A8B10DEFB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907641"/>
              </p:ext>
            </p:extLst>
          </p:nvPr>
        </p:nvGraphicFramePr>
        <p:xfrm>
          <a:off x="9062387" y="273015"/>
          <a:ext cx="2779845" cy="6311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969">
                  <a:extLst>
                    <a:ext uri="{9D8B030D-6E8A-4147-A177-3AD203B41FA5}">
                      <a16:colId xmlns:a16="http://schemas.microsoft.com/office/drawing/2014/main" val="1096121660"/>
                    </a:ext>
                  </a:extLst>
                </a:gridCol>
                <a:gridCol w="555969">
                  <a:extLst>
                    <a:ext uri="{9D8B030D-6E8A-4147-A177-3AD203B41FA5}">
                      <a16:colId xmlns:a16="http://schemas.microsoft.com/office/drawing/2014/main" val="2134392478"/>
                    </a:ext>
                  </a:extLst>
                </a:gridCol>
                <a:gridCol w="555969">
                  <a:extLst>
                    <a:ext uri="{9D8B030D-6E8A-4147-A177-3AD203B41FA5}">
                      <a16:colId xmlns:a16="http://schemas.microsoft.com/office/drawing/2014/main" val="1763425169"/>
                    </a:ext>
                  </a:extLst>
                </a:gridCol>
                <a:gridCol w="555969">
                  <a:extLst>
                    <a:ext uri="{9D8B030D-6E8A-4147-A177-3AD203B41FA5}">
                      <a16:colId xmlns:a16="http://schemas.microsoft.com/office/drawing/2014/main" val="3580723422"/>
                    </a:ext>
                  </a:extLst>
                </a:gridCol>
                <a:gridCol w="555969">
                  <a:extLst>
                    <a:ext uri="{9D8B030D-6E8A-4147-A177-3AD203B41FA5}">
                      <a16:colId xmlns:a16="http://schemas.microsoft.com/office/drawing/2014/main" val="8270354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134245"/>
                  </a:ext>
                </a:extLst>
              </a:tr>
              <a:tr h="37853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73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755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904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028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011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500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095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14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266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9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961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251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091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250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205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48597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EB3467E-A2A1-2208-7A65-23C2E48B5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386" y="738109"/>
            <a:ext cx="5115316" cy="5876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482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4"/>
            <a:ext cx="9220200" cy="53428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4-BIT DOWN COUNTER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39B6BA-D42A-749D-4DC8-C93DBA394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892267"/>
              </p:ext>
            </p:extLst>
          </p:nvPr>
        </p:nvGraphicFramePr>
        <p:xfrm>
          <a:off x="8668477" y="430445"/>
          <a:ext cx="2779845" cy="6225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969">
                  <a:extLst>
                    <a:ext uri="{9D8B030D-6E8A-4147-A177-3AD203B41FA5}">
                      <a16:colId xmlns:a16="http://schemas.microsoft.com/office/drawing/2014/main" val="1096121660"/>
                    </a:ext>
                  </a:extLst>
                </a:gridCol>
                <a:gridCol w="555969">
                  <a:extLst>
                    <a:ext uri="{9D8B030D-6E8A-4147-A177-3AD203B41FA5}">
                      <a16:colId xmlns:a16="http://schemas.microsoft.com/office/drawing/2014/main" val="2134392478"/>
                    </a:ext>
                  </a:extLst>
                </a:gridCol>
                <a:gridCol w="565300">
                  <a:extLst>
                    <a:ext uri="{9D8B030D-6E8A-4147-A177-3AD203B41FA5}">
                      <a16:colId xmlns:a16="http://schemas.microsoft.com/office/drawing/2014/main" val="1763425169"/>
                    </a:ext>
                  </a:extLst>
                </a:gridCol>
                <a:gridCol w="546638">
                  <a:extLst>
                    <a:ext uri="{9D8B030D-6E8A-4147-A177-3AD203B41FA5}">
                      <a16:colId xmlns:a16="http://schemas.microsoft.com/office/drawing/2014/main" val="3580723422"/>
                    </a:ext>
                  </a:extLst>
                </a:gridCol>
                <a:gridCol w="555969">
                  <a:extLst>
                    <a:ext uri="{9D8B030D-6E8A-4147-A177-3AD203B41FA5}">
                      <a16:colId xmlns:a16="http://schemas.microsoft.com/office/drawing/2014/main" val="827035491"/>
                    </a:ext>
                  </a:extLst>
                </a:gridCol>
              </a:tblGrid>
              <a:tr h="3610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134245"/>
                  </a:ext>
                </a:extLst>
              </a:tr>
              <a:tr h="372855"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73121"/>
                  </a:ext>
                </a:extLst>
              </a:tr>
              <a:tr h="365280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755486"/>
                  </a:ext>
                </a:extLst>
              </a:tr>
              <a:tr h="36528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904169"/>
                  </a:ext>
                </a:extLst>
              </a:tr>
              <a:tr h="36528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028405"/>
                  </a:ext>
                </a:extLst>
              </a:tr>
              <a:tr h="36528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011019"/>
                  </a:ext>
                </a:extLst>
              </a:tr>
              <a:tr h="36528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500260"/>
                  </a:ext>
                </a:extLst>
              </a:tr>
              <a:tr h="36528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095014"/>
                  </a:ext>
                </a:extLst>
              </a:tr>
              <a:tr h="36528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14108"/>
                  </a:ext>
                </a:extLst>
              </a:tr>
              <a:tr h="36528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266610"/>
                  </a:ext>
                </a:extLst>
              </a:tr>
              <a:tr h="36528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9087"/>
                  </a:ext>
                </a:extLst>
              </a:tr>
              <a:tr h="36528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961771"/>
                  </a:ext>
                </a:extLst>
              </a:tr>
              <a:tr h="36528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251905"/>
                  </a:ext>
                </a:extLst>
              </a:tr>
              <a:tr h="36528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091817"/>
                  </a:ext>
                </a:extLst>
              </a:tr>
              <a:tr h="36528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250999"/>
                  </a:ext>
                </a:extLst>
              </a:tr>
              <a:tr h="36027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205194"/>
                  </a:ext>
                </a:extLst>
              </a:tr>
              <a:tr h="36528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485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9232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4"/>
            <a:ext cx="3505200" cy="28225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4-BIT 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UP/DOWN 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COUNTER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012" y="142875"/>
            <a:ext cx="6962775" cy="639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639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4"/>
            <a:ext cx="6959600" cy="99377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4-BIT UP/DOWN COUNTER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854690"/>
              </p:ext>
            </p:extLst>
          </p:nvPr>
        </p:nvGraphicFramePr>
        <p:xfrm>
          <a:off x="2057401" y="2294466"/>
          <a:ext cx="6629400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174667179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10606606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1740198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COMMENT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960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3127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27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388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4812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990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4"/>
            <a:ext cx="3505200" cy="28225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4-BIT 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UP/DOWN 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COUNTER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012" y="142875"/>
            <a:ext cx="6962775" cy="63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269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4"/>
            <a:ext cx="6959600" cy="99377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4-BIT UP/DOWN COUNTER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807522"/>
              </p:ext>
            </p:extLst>
          </p:nvPr>
        </p:nvGraphicFramePr>
        <p:xfrm>
          <a:off x="2057401" y="2294466"/>
          <a:ext cx="6629400" cy="149267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174667179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10606606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1740198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COMMENT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960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3127477"/>
                  </a:ext>
                </a:extLst>
              </a:tr>
              <a:tr h="3801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27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UP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388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064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4"/>
            <a:ext cx="6959600" cy="99377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4-BIT UP/DOWN COUNTER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526151"/>
              </p:ext>
            </p:extLst>
          </p:nvPr>
        </p:nvGraphicFramePr>
        <p:xfrm>
          <a:off x="2057401" y="2294466"/>
          <a:ext cx="6629400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174667179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10606606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1740198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COMMENT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960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3127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27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388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3405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4"/>
            <a:ext cx="3505200" cy="28225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4-BIT 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UP/DOWN 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COUNTER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284" t="1652" r="3486" b="2908"/>
          <a:stretch/>
        </p:blipFill>
        <p:spPr>
          <a:xfrm>
            <a:off x="3962400" y="1"/>
            <a:ext cx="7594600" cy="638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523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4"/>
            <a:ext cx="6959600" cy="99377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4-BIT UP/DOWN COUNTER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428930"/>
              </p:ext>
            </p:extLst>
          </p:nvPr>
        </p:nvGraphicFramePr>
        <p:xfrm>
          <a:off x="2057401" y="2294466"/>
          <a:ext cx="6629400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174667179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10606606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1740198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COMMENT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960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3127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DOWN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27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388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0728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4"/>
            <a:ext cx="6959600" cy="99377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4-BIT UP/DOWN COUNTER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62810"/>
              </p:ext>
            </p:extLst>
          </p:nvPr>
        </p:nvGraphicFramePr>
        <p:xfrm>
          <a:off x="2057401" y="2294466"/>
          <a:ext cx="6629400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174667179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10606606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1740198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COMMENT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960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127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27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388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563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4"/>
            <a:ext cx="3505200" cy="28225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4-BIT 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UP/DOWN 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COUNTER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100" y="0"/>
            <a:ext cx="71247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391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4"/>
            <a:ext cx="6959600" cy="99377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4-BIT UP/DOWN COUNTER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459268"/>
              </p:ext>
            </p:extLst>
          </p:nvPr>
        </p:nvGraphicFramePr>
        <p:xfrm>
          <a:off x="2959101" y="2637366"/>
          <a:ext cx="6629400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174667179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10606606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1740198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COMMENT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960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NO</a:t>
                      </a:r>
                      <a:r>
                        <a:rPr lang="en-US" b="1" baseline="0"/>
                        <a:t> CHANGE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3127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27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388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866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5600" y="2511425"/>
            <a:ext cx="2311400" cy="1325563"/>
          </a:xfrm>
        </p:spPr>
        <p:txBody>
          <a:bodyPr/>
          <a:lstStyle/>
          <a:p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708541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BCD COUNTER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79128120"/>
                  </p:ext>
                </p:extLst>
              </p:nvPr>
            </p:nvGraphicFramePr>
            <p:xfrm>
              <a:off x="2641599" y="1508125"/>
              <a:ext cx="7670801" cy="46228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11823">
                      <a:extLst>
                        <a:ext uri="{9D8B030D-6E8A-4147-A177-3AD203B41FA5}">
                          <a16:colId xmlns:a16="http://schemas.microsoft.com/office/drawing/2014/main" val="4249844500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3614626860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218090762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667610623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460491958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301057195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2769088611"/>
                        </a:ext>
                      </a:extLst>
                    </a:gridCol>
                    <a:gridCol w="641840">
                      <a:extLst>
                        <a:ext uri="{9D8B030D-6E8A-4147-A177-3AD203B41FA5}">
                          <a16:colId xmlns:a16="http://schemas.microsoft.com/office/drawing/2014/main" val="2602181114"/>
                        </a:ext>
                      </a:extLst>
                    </a:gridCol>
                    <a:gridCol w="1346200">
                      <a:extLst>
                        <a:ext uri="{9D8B030D-6E8A-4147-A177-3AD203B41FA5}">
                          <a16:colId xmlns:a16="http://schemas.microsoft.com/office/drawing/2014/main" val="1842549834"/>
                        </a:ext>
                      </a:extLst>
                    </a:gridCol>
                  </a:tblGrid>
                  <a:tr h="37084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PRESENT STATE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NEXT STATE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OUTPUT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41175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 </a:t>
                          </a:r>
                          <a:r>
                            <a:rPr lang="en-US" sz="2400" baseline="0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19045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69860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60110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589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16766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4581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5752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8748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44508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4949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55360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79128120"/>
                  </p:ext>
                </p:extLst>
              </p:nvPr>
            </p:nvGraphicFramePr>
            <p:xfrm>
              <a:off x="2641599" y="1508125"/>
              <a:ext cx="7670801" cy="46228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11823">
                      <a:extLst>
                        <a:ext uri="{9D8B030D-6E8A-4147-A177-3AD203B41FA5}">
                          <a16:colId xmlns:a16="http://schemas.microsoft.com/office/drawing/2014/main" val="4249844500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3614626860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218090762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667610623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460491958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301057195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2769088611"/>
                        </a:ext>
                      </a:extLst>
                    </a:gridCol>
                    <a:gridCol w="641840">
                      <a:extLst>
                        <a:ext uri="{9D8B030D-6E8A-4147-A177-3AD203B41FA5}">
                          <a16:colId xmlns:a16="http://schemas.microsoft.com/office/drawing/2014/main" val="2602181114"/>
                        </a:ext>
                      </a:extLst>
                    </a:gridCol>
                    <a:gridCol w="1346200">
                      <a:extLst>
                        <a:ext uri="{9D8B030D-6E8A-4147-A177-3AD203B41FA5}">
                          <a16:colId xmlns:a16="http://schemas.microsoft.com/office/drawing/2014/main" val="1842549834"/>
                        </a:ext>
                      </a:extLst>
                    </a:gridCol>
                  </a:tblGrid>
                  <a:tr h="45720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PRESENT STATE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NEXT STATE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OUTPUT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411757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52" t="-110667" r="-849624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752" t="-110667" r="-749624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9254" t="-110667" r="-644030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1504" t="-110667" r="-548872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1504" t="-110667" r="-448872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1504" t="-110667" r="-348872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97015" t="-110667" r="-246269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9524" t="-110667" r="-214286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70136" t="-110667" r="-1810" b="-8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19045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69860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60110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589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16766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4581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5752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8748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44508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4949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55360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21528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BCD COUNTER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155619"/>
                  </p:ext>
                </p:extLst>
              </p:nvPr>
            </p:nvGraphicFramePr>
            <p:xfrm>
              <a:off x="1193799" y="1571625"/>
              <a:ext cx="10553699" cy="46228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11823">
                      <a:extLst>
                        <a:ext uri="{9D8B030D-6E8A-4147-A177-3AD203B41FA5}">
                          <a16:colId xmlns:a16="http://schemas.microsoft.com/office/drawing/2014/main" val="4249844500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3614626860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218090762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667610623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460491958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301057195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2769088611"/>
                        </a:ext>
                      </a:extLst>
                    </a:gridCol>
                    <a:gridCol w="641840">
                      <a:extLst>
                        <a:ext uri="{9D8B030D-6E8A-4147-A177-3AD203B41FA5}">
                          <a16:colId xmlns:a16="http://schemas.microsoft.com/office/drawing/2014/main" val="2602181114"/>
                        </a:ext>
                      </a:extLst>
                    </a:gridCol>
                    <a:gridCol w="1346200">
                      <a:extLst>
                        <a:ext uri="{9D8B030D-6E8A-4147-A177-3AD203B41FA5}">
                          <a16:colId xmlns:a16="http://schemas.microsoft.com/office/drawing/2014/main" val="1842549834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580104427"/>
                        </a:ext>
                      </a:extLst>
                    </a:gridCol>
                    <a:gridCol w="965200">
                      <a:extLst>
                        <a:ext uri="{9D8B030D-6E8A-4147-A177-3AD203B41FA5}">
                          <a16:colId xmlns:a16="http://schemas.microsoft.com/office/drawing/2014/main" val="2236421446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1365118493"/>
                        </a:ext>
                      </a:extLst>
                    </a:gridCol>
                    <a:gridCol w="685798">
                      <a:extLst>
                        <a:ext uri="{9D8B030D-6E8A-4147-A177-3AD203B41FA5}">
                          <a16:colId xmlns:a16="http://schemas.microsoft.com/office/drawing/2014/main" val="2369754992"/>
                        </a:ext>
                      </a:extLst>
                    </a:gridCol>
                  </a:tblGrid>
                  <a:tr h="37084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PRESENT STATE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NEXT STATE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OUTPUT</a:t>
                          </a:r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FLIP</a:t>
                          </a:r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</a:rPr>
                            <a:t> FLOP INPUTS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41175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 </a:t>
                          </a:r>
                          <a:r>
                            <a:rPr lang="en-US" sz="2400" baseline="0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19045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69860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60110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589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16766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4581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5752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8748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44508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4949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55360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155619"/>
                  </p:ext>
                </p:extLst>
              </p:nvPr>
            </p:nvGraphicFramePr>
            <p:xfrm>
              <a:off x="1193799" y="1571625"/>
              <a:ext cx="10553699" cy="46228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11823">
                      <a:extLst>
                        <a:ext uri="{9D8B030D-6E8A-4147-A177-3AD203B41FA5}">
                          <a16:colId xmlns:a16="http://schemas.microsoft.com/office/drawing/2014/main" val="4249844500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3614626860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218090762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667610623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460491958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301057195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2769088611"/>
                        </a:ext>
                      </a:extLst>
                    </a:gridCol>
                    <a:gridCol w="641840">
                      <a:extLst>
                        <a:ext uri="{9D8B030D-6E8A-4147-A177-3AD203B41FA5}">
                          <a16:colId xmlns:a16="http://schemas.microsoft.com/office/drawing/2014/main" val="2602181114"/>
                        </a:ext>
                      </a:extLst>
                    </a:gridCol>
                    <a:gridCol w="1346200">
                      <a:extLst>
                        <a:ext uri="{9D8B030D-6E8A-4147-A177-3AD203B41FA5}">
                          <a16:colId xmlns:a16="http://schemas.microsoft.com/office/drawing/2014/main" val="1842549834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580104427"/>
                        </a:ext>
                      </a:extLst>
                    </a:gridCol>
                    <a:gridCol w="965200">
                      <a:extLst>
                        <a:ext uri="{9D8B030D-6E8A-4147-A177-3AD203B41FA5}">
                          <a16:colId xmlns:a16="http://schemas.microsoft.com/office/drawing/2014/main" val="2236421446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1365118493"/>
                        </a:ext>
                      </a:extLst>
                    </a:gridCol>
                    <a:gridCol w="685798">
                      <a:extLst>
                        <a:ext uri="{9D8B030D-6E8A-4147-A177-3AD203B41FA5}">
                          <a16:colId xmlns:a16="http://schemas.microsoft.com/office/drawing/2014/main" val="2369754992"/>
                        </a:ext>
                      </a:extLst>
                    </a:gridCol>
                  </a:tblGrid>
                  <a:tr h="45720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PRESENT STATE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NEXT STATE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OUTPUT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FLIP</a:t>
                          </a:r>
                          <a:r>
                            <a:rPr lang="en-US" sz="2400" baseline="0" dirty="0" smtClean="0">
                              <a:solidFill>
                                <a:schemeClr val="tx1"/>
                              </a:solidFill>
                            </a:rPr>
                            <a:t> FLOP INPUTS</a:t>
                          </a:r>
                          <a:endParaRPr lang="en-US" sz="24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411757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52" t="-109333" r="-1206015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109333" r="-1097015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504" t="-109333" r="-1005263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1504" t="-109333" r="-905263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507" t="-109333" r="-798507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2256" t="-109333" r="-704511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2256" t="-109333" r="-604511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1132" t="-109333" r="-658491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70588" t="-109333" r="-215837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36275" t="-109333" r="-367647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62658" t="-109333" r="-137342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21000" t="-109333" r="-117000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34513" t="-109333" r="-3540" b="-8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19045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69860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60110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589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16766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4581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5752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8748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44508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4949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55360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39632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BCD COUNTER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34876133"/>
                  </p:ext>
                </p:extLst>
              </p:nvPr>
            </p:nvGraphicFramePr>
            <p:xfrm>
              <a:off x="1193799" y="1571625"/>
              <a:ext cx="10553699" cy="4676775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11823">
                      <a:extLst>
                        <a:ext uri="{9D8B030D-6E8A-4147-A177-3AD203B41FA5}">
                          <a16:colId xmlns:a16="http://schemas.microsoft.com/office/drawing/2014/main" val="4249844500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3614626860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218090762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667610623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460491958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301057195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2769088611"/>
                        </a:ext>
                      </a:extLst>
                    </a:gridCol>
                    <a:gridCol w="641840">
                      <a:extLst>
                        <a:ext uri="{9D8B030D-6E8A-4147-A177-3AD203B41FA5}">
                          <a16:colId xmlns:a16="http://schemas.microsoft.com/office/drawing/2014/main" val="2602181114"/>
                        </a:ext>
                      </a:extLst>
                    </a:gridCol>
                    <a:gridCol w="1346200">
                      <a:extLst>
                        <a:ext uri="{9D8B030D-6E8A-4147-A177-3AD203B41FA5}">
                          <a16:colId xmlns:a16="http://schemas.microsoft.com/office/drawing/2014/main" val="1842549834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580104427"/>
                        </a:ext>
                      </a:extLst>
                    </a:gridCol>
                    <a:gridCol w="965200">
                      <a:extLst>
                        <a:ext uri="{9D8B030D-6E8A-4147-A177-3AD203B41FA5}">
                          <a16:colId xmlns:a16="http://schemas.microsoft.com/office/drawing/2014/main" val="2236421446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1365118493"/>
                        </a:ext>
                      </a:extLst>
                    </a:gridCol>
                    <a:gridCol w="685798">
                      <a:extLst>
                        <a:ext uri="{9D8B030D-6E8A-4147-A177-3AD203B41FA5}">
                          <a16:colId xmlns:a16="http://schemas.microsoft.com/office/drawing/2014/main" val="2369754992"/>
                        </a:ext>
                      </a:extLst>
                    </a:gridCol>
                  </a:tblGrid>
                  <a:tr h="37084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PRESENT STATE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NEXT STATE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OUTPUT</a:t>
                          </a:r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FLIP</a:t>
                          </a:r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</a:rPr>
                            <a:t> FLOP INPUTS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41175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 </a:t>
                          </a:r>
                          <a:r>
                            <a:rPr lang="en-US" sz="2400" baseline="0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19045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69860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60110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589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1676621"/>
                      </a:ext>
                    </a:extLst>
                  </a:tr>
                  <a:tr h="4248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4581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5752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8748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44508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4949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55360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34876133"/>
                  </p:ext>
                </p:extLst>
              </p:nvPr>
            </p:nvGraphicFramePr>
            <p:xfrm>
              <a:off x="1193799" y="1571625"/>
              <a:ext cx="10553699" cy="4676775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11823">
                      <a:extLst>
                        <a:ext uri="{9D8B030D-6E8A-4147-A177-3AD203B41FA5}">
                          <a16:colId xmlns:a16="http://schemas.microsoft.com/office/drawing/2014/main" val="4249844500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3614626860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218090762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667610623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460491958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301057195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2769088611"/>
                        </a:ext>
                      </a:extLst>
                    </a:gridCol>
                    <a:gridCol w="641840">
                      <a:extLst>
                        <a:ext uri="{9D8B030D-6E8A-4147-A177-3AD203B41FA5}">
                          <a16:colId xmlns:a16="http://schemas.microsoft.com/office/drawing/2014/main" val="2602181114"/>
                        </a:ext>
                      </a:extLst>
                    </a:gridCol>
                    <a:gridCol w="1346200">
                      <a:extLst>
                        <a:ext uri="{9D8B030D-6E8A-4147-A177-3AD203B41FA5}">
                          <a16:colId xmlns:a16="http://schemas.microsoft.com/office/drawing/2014/main" val="1842549834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580104427"/>
                        </a:ext>
                      </a:extLst>
                    </a:gridCol>
                    <a:gridCol w="965200">
                      <a:extLst>
                        <a:ext uri="{9D8B030D-6E8A-4147-A177-3AD203B41FA5}">
                          <a16:colId xmlns:a16="http://schemas.microsoft.com/office/drawing/2014/main" val="2236421446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1365118493"/>
                        </a:ext>
                      </a:extLst>
                    </a:gridCol>
                    <a:gridCol w="685798">
                      <a:extLst>
                        <a:ext uri="{9D8B030D-6E8A-4147-A177-3AD203B41FA5}">
                          <a16:colId xmlns:a16="http://schemas.microsoft.com/office/drawing/2014/main" val="2369754992"/>
                        </a:ext>
                      </a:extLst>
                    </a:gridCol>
                  </a:tblGrid>
                  <a:tr h="45720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PRESENT STATE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NEXT STATE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OUTPUT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FLIP</a:t>
                          </a:r>
                          <a:r>
                            <a:rPr lang="en-US" sz="2400" baseline="0" dirty="0" smtClean="0">
                              <a:solidFill>
                                <a:schemeClr val="tx1"/>
                              </a:solidFill>
                            </a:rPr>
                            <a:t> FLOP INPUTS</a:t>
                          </a:r>
                          <a:endParaRPr lang="en-US" sz="24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411757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52" t="-109333" r="-1206015" b="-84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109333" r="-1097015" b="-84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504" t="-109333" r="-1005263" b="-84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1504" t="-109333" r="-905263" b="-84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507" t="-109333" r="-798507" b="-84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2256" t="-109333" r="-704511" b="-84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2256" t="-109333" r="-604511" b="-84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1132" t="-109333" r="-658491" b="-84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70588" t="-109333" r="-215837" b="-84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36275" t="-109333" r="-367647" b="-84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62658" t="-109333" r="-137342" b="-84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21000" t="-109333" r="-117000" b="-84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34513" t="-109333" r="-3540" b="-845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19045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69860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60110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589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1676621"/>
                      </a:ext>
                    </a:extLst>
                  </a:tr>
                  <a:tr h="4248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4581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5752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8748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44508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4949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55360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27907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BCD COUNTER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64325315"/>
                  </p:ext>
                </p:extLst>
              </p:nvPr>
            </p:nvGraphicFramePr>
            <p:xfrm>
              <a:off x="1193799" y="1571625"/>
              <a:ext cx="10553699" cy="46228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11823">
                      <a:extLst>
                        <a:ext uri="{9D8B030D-6E8A-4147-A177-3AD203B41FA5}">
                          <a16:colId xmlns:a16="http://schemas.microsoft.com/office/drawing/2014/main" val="4249844500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3614626860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218090762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667610623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460491958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301057195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2769088611"/>
                        </a:ext>
                      </a:extLst>
                    </a:gridCol>
                    <a:gridCol w="641840">
                      <a:extLst>
                        <a:ext uri="{9D8B030D-6E8A-4147-A177-3AD203B41FA5}">
                          <a16:colId xmlns:a16="http://schemas.microsoft.com/office/drawing/2014/main" val="2602181114"/>
                        </a:ext>
                      </a:extLst>
                    </a:gridCol>
                    <a:gridCol w="1346200">
                      <a:extLst>
                        <a:ext uri="{9D8B030D-6E8A-4147-A177-3AD203B41FA5}">
                          <a16:colId xmlns:a16="http://schemas.microsoft.com/office/drawing/2014/main" val="1842549834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580104427"/>
                        </a:ext>
                      </a:extLst>
                    </a:gridCol>
                    <a:gridCol w="965200">
                      <a:extLst>
                        <a:ext uri="{9D8B030D-6E8A-4147-A177-3AD203B41FA5}">
                          <a16:colId xmlns:a16="http://schemas.microsoft.com/office/drawing/2014/main" val="2236421446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1365118493"/>
                        </a:ext>
                      </a:extLst>
                    </a:gridCol>
                    <a:gridCol w="685798">
                      <a:extLst>
                        <a:ext uri="{9D8B030D-6E8A-4147-A177-3AD203B41FA5}">
                          <a16:colId xmlns:a16="http://schemas.microsoft.com/office/drawing/2014/main" val="2369754992"/>
                        </a:ext>
                      </a:extLst>
                    </a:gridCol>
                  </a:tblGrid>
                  <a:tr h="37084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PRESENT STATE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NEXT STATE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OUTPUT</a:t>
                          </a:r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FLIP</a:t>
                          </a:r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</a:rPr>
                            <a:t> FLOP INPUTS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41175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 </a:t>
                          </a:r>
                          <a:r>
                            <a:rPr lang="en-US" sz="2400" baseline="0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19045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69860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60110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589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16766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4581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5752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8748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44508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4949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55360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64325315"/>
                  </p:ext>
                </p:extLst>
              </p:nvPr>
            </p:nvGraphicFramePr>
            <p:xfrm>
              <a:off x="1193799" y="1571625"/>
              <a:ext cx="10553699" cy="46228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11823">
                      <a:extLst>
                        <a:ext uri="{9D8B030D-6E8A-4147-A177-3AD203B41FA5}">
                          <a16:colId xmlns:a16="http://schemas.microsoft.com/office/drawing/2014/main" val="4249844500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3614626860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218090762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667610623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460491958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301057195"/>
                        </a:ext>
                      </a:extLst>
                    </a:gridCol>
                    <a:gridCol w="811823">
                      <a:extLst>
                        <a:ext uri="{9D8B030D-6E8A-4147-A177-3AD203B41FA5}">
                          <a16:colId xmlns:a16="http://schemas.microsoft.com/office/drawing/2014/main" val="2769088611"/>
                        </a:ext>
                      </a:extLst>
                    </a:gridCol>
                    <a:gridCol w="641840">
                      <a:extLst>
                        <a:ext uri="{9D8B030D-6E8A-4147-A177-3AD203B41FA5}">
                          <a16:colId xmlns:a16="http://schemas.microsoft.com/office/drawing/2014/main" val="2602181114"/>
                        </a:ext>
                      </a:extLst>
                    </a:gridCol>
                    <a:gridCol w="1346200">
                      <a:extLst>
                        <a:ext uri="{9D8B030D-6E8A-4147-A177-3AD203B41FA5}">
                          <a16:colId xmlns:a16="http://schemas.microsoft.com/office/drawing/2014/main" val="1842549834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580104427"/>
                        </a:ext>
                      </a:extLst>
                    </a:gridCol>
                    <a:gridCol w="965200">
                      <a:extLst>
                        <a:ext uri="{9D8B030D-6E8A-4147-A177-3AD203B41FA5}">
                          <a16:colId xmlns:a16="http://schemas.microsoft.com/office/drawing/2014/main" val="2236421446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1365118493"/>
                        </a:ext>
                      </a:extLst>
                    </a:gridCol>
                    <a:gridCol w="685798">
                      <a:extLst>
                        <a:ext uri="{9D8B030D-6E8A-4147-A177-3AD203B41FA5}">
                          <a16:colId xmlns:a16="http://schemas.microsoft.com/office/drawing/2014/main" val="2369754992"/>
                        </a:ext>
                      </a:extLst>
                    </a:gridCol>
                  </a:tblGrid>
                  <a:tr h="45720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PRESENT STATE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NEXT STATE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OUTPUT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FLIP</a:t>
                          </a:r>
                          <a:r>
                            <a:rPr lang="en-US" sz="2400" baseline="0" dirty="0" smtClean="0">
                              <a:solidFill>
                                <a:schemeClr val="tx1"/>
                              </a:solidFill>
                            </a:rPr>
                            <a:t> FLOP INPUTS</a:t>
                          </a:r>
                          <a:endParaRPr lang="en-US" sz="24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411757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52" t="-109333" r="-1206015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109333" r="-1097015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504" t="-109333" r="-1005263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1504" t="-109333" r="-905263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507" t="-109333" r="-798507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2256" t="-109333" r="-704511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2256" t="-109333" r="-604511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1132" t="-109333" r="-658491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70588" t="-109333" r="-215837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36275" t="-109333" r="-367647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62658" t="-109333" r="-137342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21000" t="-109333" r="-117000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34513" t="-109333" r="-3540" b="-8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19045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69860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60110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589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16766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4581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5752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8748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44508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4949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55360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72197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BCD COUNTER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179630226"/>
                  </p:ext>
                </p:extLst>
              </p:nvPr>
            </p:nvGraphicFramePr>
            <p:xfrm>
              <a:off x="4394201" y="1419225"/>
              <a:ext cx="4152899" cy="46634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396509">
                      <a:extLst>
                        <a:ext uri="{9D8B030D-6E8A-4147-A177-3AD203B41FA5}">
                          <a16:colId xmlns:a16="http://schemas.microsoft.com/office/drawing/2014/main" val="4249844500"/>
                        </a:ext>
                      </a:extLst>
                    </a:gridCol>
                    <a:gridCol w="344336">
                      <a:extLst>
                        <a:ext uri="{9D8B030D-6E8A-4147-A177-3AD203B41FA5}">
                          <a16:colId xmlns:a16="http://schemas.microsoft.com/office/drawing/2014/main" val="3614626860"/>
                        </a:ext>
                      </a:extLst>
                    </a:gridCol>
                    <a:gridCol w="438245">
                      <a:extLst>
                        <a:ext uri="{9D8B030D-6E8A-4147-A177-3AD203B41FA5}">
                          <a16:colId xmlns:a16="http://schemas.microsoft.com/office/drawing/2014/main" val="218090762"/>
                        </a:ext>
                      </a:extLst>
                    </a:gridCol>
                    <a:gridCol w="354770">
                      <a:extLst>
                        <a:ext uri="{9D8B030D-6E8A-4147-A177-3AD203B41FA5}">
                          <a16:colId xmlns:a16="http://schemas.microsoft.com/office/drawing/2014/main" val="667610623"/>
                        </a:ext>
                      </a:extLst>
                    </a:gridCol>
                    <a:gridCol w="649235">
                      <a:extLst>
                        <a:ext uri="{9D8B030D-6E8A-4147-A177-3AD203B41FA5}">
                          <a16:colId xmlns:a16="http://schemas.microsoft.com/office/drawing/2014/main" val="1842549834"/>
                        </a:ext>
                      </a:extLst>
                    </a:gridCol>
                    <a:gridCol w="438568">
                      <a:extLst>
                        <a:ext uri="{9D8B030D-6E8A-4147-A177-3AD203B41FA5}">
                          <a16:colId xmlns:a16="http://schemas.microsoft.com/office/drawing/2014/main" val="580104427"/>
                        </a:ext>
                      </a:extLst>
                    </a:gridCol>
                    <a:gridCol w="540061">
                      <a:extLst>
                        <a:ext uri="{9D8B030D-6E8A-4147-A177-3AD203B41FA5}">
                          <a16:colId xmlns:a16="http://schemas.microsoft.com/office/drawing/2014/main" val="2236421446"/>
                        </a:ext>
                      </a:extLst>
                    </a:gridCol>
                    <a:gridCol w="492364">
                      <a:extLst>
                        <a:ext uri="{9D8B030D-6E8A-4147-A177-3AD203B41FA5}">
                          <a16:colId xmlns:a16="http://schemas.microsoft.com/office/drawing/2014/main" val="1365118493"/>
                        </a:ext>
                      </a:extLst>
                    </a:gridCol>
                    <a:gridCol w="498811">
                      <a:extLst>
                        <a:ext uri="{9D8B030D-6E8A-4147-A177-3AD203B41FA5}">
                          <a16:colId xmlns:a16="http://schemas.microsoft.com/office/drawing/2014/main" val="2369754992"/>
                        </a:ext>
                      </a:extLst>
                    </a:gridCol>
                  </a:tblGrid>
                  <a:tr h="49723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PRESENT STATE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OUT PUT</a:t>
                          </a:r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FLIP</a:t>
                          </a:r>
                          <a:r>
                            <a:rPr lang="en-US" sz="1800" baseline="0" dirty="0">
                              <a:solidFill>
                                <a:schemeClr val="tx1"/>
                              </a:solidFill>
                            </a:rPr>
                            <a:t> FLOP INPUTS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4117572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 </a:t>
                          </a:r>
                          <a:r>
                            <a:rPr lang="en-US" sz="1800" baseline="0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1904555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6986094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6011075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58965252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1676621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4581816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575285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874829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4450818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4949389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55360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179630226"/>
                  </p:ext>
                </p:extLst>
              </p:nvPr>
            </p:nvGraphicFramePr>
            <p:xfrm>
              <a:off x="4394201" y="1419225"/>
              <a:ext cx="4152899" cy="46634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396509">
                      <a:extLst>
                        <a:ext uri="{9D8B030D-6E8A-4147-A177-3AD203B41FA5}">
                          <a16:colId xmlns:a16="http://schemas.microsoft.com/office/drawing/2014/main" val="4249844500"/>
                        </a:ext>
                      </a:extLst>
                    </a:gridCol>
                    <a:gridCol w="344336">
                      <a:extLst>
                        <a:ext uri="{9D8B030D-6E8A-4147-A177-3AD203B41FA5}">
                          <a16:colId xmlns:a16="http://schemas.microsoft.com/office/drawing/2014/main" val="3614626860"/>
                        </a:ext>
                      </a:extLst>
                    </a:gridCol>
                    <a:gridCol w="438245">
                      <a:extLst>
                        <a:ext uri="{9D8B030D-6E8A-4147-A177-3AD203B41FA5}">
                          <a16:colId xmlns:a16="http://schemas.microsoft.com/office/drawing/2014/main" val="218090762"/>
                        </a:ext>
                      </a:extLst>
                    </a:gridCol>
                    <a:gridCol w="354770">
                      <a:extLst>
                        <a:ext uri="{9D8B030D-6E8A-4147-A177-3AD203B41FA5}">
                          <a16:colId xmlns:a16="http://schemas.microsoft.com/office/drawing/2014/main" val="667610623"/>
                        </a:ext>
                      </a:extLst>
                    </a:gridCol>
                    <a:gridCol w="649235">
                      <a:extLst>
                        <a:ext uri="{9D8B030D-6E8A-4147-A177-3AD203B41FA5}">
                          <a16:colId xmlns:a16="http://schemas.microsoft.com/office/drawing/2014/main" val="1842549834"/>
                        </a:ext>
                      </a:extLst>
                    </a:gridCol>
                    <a:gridCol w="438568">
                      <a:extLst>
                        <a:ext uri="{9D8B030D-6E8A-4147-A177-3AD203B41FA5}">
                          <a16:colId xmlns:a16="http://schemas.microsoft.com/office/drawing/2014/main" val="580104427"/>
                        </a:ext>
                      </a:extLst>
                    </a:gridCol>
                    <a:gridCol w="540061">
                      <a:extLst>
                        <a:ext uri="{9D8B030D-6E8A-4147-A177-3AD203B41FA5}">
                          <a16:colId xmlns:a16="http://schemas.microsoft.com/office/drawing/2014/main" val="2236421446"/>
                        </a:ext>
                      </a:extLst>
                    </a:gridCol>
                    <a:gridCol w="492364">
                      <a:extLst>
                        <a:ext uri="{9D8B030D-6E8A-4147-A177-3AD203B41FA5}">
                          <a16:colId xmlns:a16="http://schemas.microsoft.com/office/drawing/2014/main" val="1365118493"/>
                        </a:ext>
                      </a:extLst>
                    </a:gridCol>
                    <a:gridCol w="498811">
                      <a:extLst>
                        <a:ext uri="{9D8B030D-6E8A-4147-A177-3AD203B41FA5}">
                          <a16:colId xmlns:a16="http://schemas.microsoft.com/office/drawing/2014/main" val="2369754992"/>
                        </a:ext>
                      </a:extLst>
                    </a:gridCol>
                  </a:tblGrid>
                  <a:tr h="64008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PRESENT STATE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OUT PUT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FLIP</a:t>
                          </a:r>
                          <a:r>
                            <a:rPr lang="en-US" sz="1800" baseline="0" dirty="0" smtClean="0">
                              <a:solidFill>
                                <a:schemeClr val="tx1"/>
                              </a:solidFill>
                            </a:rPr>
                            <a:t> FLOP INPUTS</a:t>
                          </a:r>
                          <a:endParaRPr lang="en-US" sz="18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411757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38" t="-183333" r="-956923" b="-10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5789" t="-183333" r="-991228" b="-10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0833" t="-183333" r="-684722" b="-10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6207" t="-183333" r="-750000" b="-10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36449" t="-183333" r="-306542" b="-10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183333" r="-355556" b="-10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85393" t="-183333" r="-187640" b="-10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43210" t="-183333" r="-106173" b="-10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34146" t="-183333" r="-4878" b="-10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190455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698609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601107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5896525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16766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458181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5752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87482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445081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49493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55360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61676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BCD COUNTER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15200"/>
                  </p:ext>
                </p:extLst>
              </p:nvPr>
            </p:nvGraphicFramePr>
            <p:xfrm>
              <a:off x="203200" y="2630488"/>
              <a:ext cx="6584950" cy="341400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04900">
                      <a:extLst>
                        <a:ext uri="{9D8B030D-6E8A-4147-A177-3AD203B41FA5}">
                          <a16:colId xmlns:a16="http://schemas.microsoft.com/office/drawing/2014/main" val="453392487"/>
                        </a:ext>
                      </a:extLst>
                    </a:gridCol>
                    <a:gridCol w="1233429">
                      <a:extLst>
                        <a:ext uri="{9D8B030D-6E8A-4147-A177-3AD203B41FA5}">
                          <a16:colId xmlns:a16="http://schemas.microsoft.com/office/drawing/2014/main" val="2585311513"/>
                        </a:ext>
                      </a:extLst>
                    </a:gridCol>
                    <a:gridCol w="1196042">
                      <a:extLst>
                        <a:ext uri="{9D8B030D-6E8A-4147-A177-3AD203B41FA5}">
                          <a16:colId xmlns:a16="http://schemas.microsoft.com/office/drawing/2014/main" val="429018632"/>
                        </a:ext>
                      </a:extLst>
                    </a:gridCol>
                    <a:gridCol w="1061655">
                      <a:extLst>
                        <a:ext uri="{9D8B030D-6E8A-4147-A177-3AD203B41FA5}">
                          <a16:colId xmlns:a16="http://schemas.microsoft.com/office/drawing/2014/main" val="2852334319"/>
                        </a:ext>
                      </a:extLst>
                    </a:gridCol>
                    <a:gridCol w="981023">
                      <a:extLst>
                        <a:ext uri="{9D8B030D-6E8A-4147-A177-3AD203B41FA5}">
                          <a16:colId xmlns:a16="http://schemas.microsoft.com/office/drawing/2014/main" val="2208980271"/>
                        </a:ext>
                      </a:extLst>
                    </a:gridCol>
                    <a:gridCol w="1007901">
                      <a:extLst>
                        <a:ext uri="{9D8B030D-6E8A-4147-A177-3AD203B41FA5}">
                          <a16:colId xmlns:a16="http://schemas.microsoft.com/office/drawing/2014/main" val="3431712064"/>
                        </a:ext>
                      </a:extLst>
                    </a:gridCol>
                  </a:tblGrid>
                  <a:tr h="671546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36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r>
                            <a:rPr lang="en-US" sz="24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</m:acc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acc>
                                <m:accPr>
                                  <m:chr m:val="̅"/>
                                  <m:ctrlPr>
                                    <a:rPr lang="en-US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17834926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</m:e>
                                <m:sub>
                                  <m:r>
                                    <a:rPr lang="en-US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</m:e>
                                <m:sub>
                                  <m:r>
                                    <a:rPr lang="en-US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\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</m:e>
                                <m:sub>
                                  <m:r>
                                    <a:rPr lang="en-US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endParaRPr lang="en-US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 00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01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4655557"/>
                      </a:ext>
                    </a:extLst>
                  </a:tr>
                  <a:tr h="4804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r>
                            <a:rPr lang="en-US" sz="2400" b="1" dirty="0"/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𝟒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endParaRPr lang="en-US" sz="2400" b="1" dirty="0"/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00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38817427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4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𝟖</m:t>
                                        </m:r>
                                      </m:sub>
                                    </m:sSub>
                                  </m:e>
                                </m:acc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01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1751476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11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7896196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  <m:acc>
                                  <m:accPr>
                                    <m:chr m:val="̅"/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4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𝟒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10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476594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15200"/>
                  </p:ext>
                </p:extLst>
              </p:nvPr>
            </p:nvGraphicFramePr>
            <p:xfrm>
              <a:off x="203200" y="2630488"/>
              <a:ext cx="6584950" cy="341400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04900">
                      <a:extLst>
                        <a:ext uri="{9D8B030D-6E8A-4147-A177-3AD203B41FA5}">
                          <a16:colId xmlns:a16="http://schemas.microsoft.com/office/drawing/2014/main" val="453392487"/>
                        </a:ext>
                      </a:extLst>
                    </a:gridCol>
                    <a:gridCol w="1233429">
                      <a:extLst>
                        <a:ext uri="{9D8B030D-6E8A-4147-A177-3AD203B41FA5}">
                          <a16:colId xmlns:a16="http://schemas.microsoft.com/office/drawing/2014/main" val="2585311513"/>
                        </a:ext>
                      </a:extLst>
                    </a:gridCol>
                    <a:gridCol w="1196042">
                      <a:extLst>
                        <a:ext uri="{9D8B030D-6E8A-4147-A177-3AD203B41FA5}">
                          <a16:colId xmlns:a16="http://schemas.microsoft.com/office/drawing/2014/main" val="429018632"/>
                        </a:ext>
                      </a:extLst>
                    </a:gridCol>
                    <a:gridCol w="1061655">
                      <a:extLst>
                        <a:ext uri="{9D8B030D-6E8A-4147-A177-3AD203B41FA5}">
                          <a16:colId xmlns:a16="http://schemas.microsoft.com/office/drawing/2014/main" val="2852334319"/>
                        </a:ext>
                      </a:extLst>
                    </a:gridCol>
                    <a:gridCol w="981023">
                      <a:extLst>
                        <a:ext uri="{9D8B030D-6E8A-4147-A177-3AD203B41FA5}">
                          <a16:colId xmlns:a16="http://schemas.microsoft.com/office/drawing/2014/main" val="2208980271"/>
                        </a:ext>
                      </a:extLst>
                    </a:gridCol>
                    <a:gridCol w="1007901">
                      <a:extLst>
                        <a:ext uri="{9D8B030D-6E8A-4147-A177-3AD203B41FA5}">
                          <a16:colId xmlns:a16="http://schemas.microsoft.com/office/drawing/2014/main" val="3431712064"/>
                        </a:ext>
                      </a:extLst>
                    </a:gridCol>
                  </a:tblGrid>
                  <a:tr h="6715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2" t="-909" r="-499448" b="-42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6429" t="-909" r="-257653" b="-42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3908" t="-909" r="-190230" b="-42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66049" t="-909" r="-104321" b="-42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5758" t="-909" r="-2424" b="-42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834926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9655" t="-81618" r="-345320" b="-24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chemeClr val="tx1"/>
                              </a:solidFill>
                            </a:rPr>
                            <a:t> 00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chemeClr val="tx1"/>
                              </a:solidFill>
                            </a:rPr>
                            <a:t>01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4655557"/>
                      </a:ext>
                    </a:extLst>
                  </a:tr>
                  <a:tr h="4804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2" t="-312658" r="-499448" b="-325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00</a:t>
                          </a:r>
                          <a:endParaRPr lang="en-US" sz="2400" b="1" dirty="0"/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38817427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2" t="-417949" r="-499448" b="-2294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01</a:t>
                          </a:r>
                          <a:endParaRPr lang="en-US" sz="2400" b="1" dirty="0"/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1751476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2" t="-511392" r="-499448" b="-1265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11</a:t>
                          </a:r>
                          <a:endParaRPr lang="en-US" sz="2400" b="1" dirty="0"/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7896196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2" t="-611392" r="-499448" b="-265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10</a:t>
                          </a:r>
                          <a:endParaRPr lang="en-US" sz="2400" b="1" dirty="0"/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476594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Oval 6"/>
          <p:cNvSpPr/>
          <p:nvPr/>
        </p:nvSpPr>
        <p:spPr>
          <a:xfrm rot="5400000">
            <a:off x="3302212" y="3036675"/>
            <a:ext cx="2895103" cy="429252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712200" y="5367389"/>
                <a:ext cx="1728999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𝑻𝑸</m:t>
                        </m:r>
                      </m:e>
                      <m:sub>
                        <m:r>
                          <a:rPr lang="en-US" sz="4400" b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4400" b="1" dirty="0"/>
                  <a:t>= 1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2200" y="5367389"/>
                <a:ext cx="1728999" cy="677108"/>
              </a:xfrm>
              <a:prstGeom prst="rect">
                <a:avLst/>
              </a:prstGeom>
              <a:blipFill>
                <a:blip r:embed="rId4"/>
                <a:stretch>
                  <a:fillRect t="-25000" r="-18662" b="-48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832529866"/>
                  </p:ext>
                </p:extLst>
              </p:nvPr>
            </p:nvGraphicFramePr>
            <p:xfrm>
              <a:off x="7937501" y="136525"/>
              <a:ext cx="4152899" cy="46634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396509">
                      <a:extLst>
                        <a:ext uri="{9D8B030D-6E8A-4147-A177-3AD203B41FA5}">
                          <a16:colId xmlns:a16="http://schemas.microsoft.com/office/drawing/2014/main" val="4249844500"/>
                        </a:ext>
                      </a:extLst>
                    </a:gridCol>
                    <a:gridCol w="344336">
                      <a:extLst>
                        <a:ext uri="{9D8B030D-6E8A-4147-A177-3AD203B41FA5}">
                          <a16:colId xmlns:a16="http://schemas.microsoft.com/office/drawing/2014/main" val="3614626860"/>
                        </a:ext>
                      </a:extLst>
                    </a:gridCol>
                    <a:gridCol w="438245">
                      <a:extLst>
                        <a:ext uri="{9D8B030D-6E8A-4147-A177-3AD203B41FA5}">
                          <a16:colId xmlns:a16="http://schemas.microsoft.com/office/drawing/2014/main" val="218090762"/>
                        </a:ext>
                      </a:extLst>
                    </a:gridCol>
                    <a:gridCol w="354770">
                      <a:extLst>
                        <a:ext uri="{9D8B030D-6E8A-4147-A177-3AD203B41FA5}">
                          <a16:colId xmlns:a16="http://schemas.microsoft.com/office/drawing/2014/main" val="667610623"/>
                        </a:ext>
                      </a:extLst>
                    </a:gridCol>
                    <a:gridCol w="649235">
                      <a:extLst>
                        <a:ext uri="{9D8B030D-6E8A-4147-A177-3AD203B41FA5}">
                          <a16:colId xmlns:a16="http://schemas.microsoft.com/office/drawing/2014/main" val="1842549834"/>
                        </a:ext>
                      </a:extLst>
                    </a:gridCol>
                    <a:gridCol w="438568">
                      <a:extLst>
                        <a:ext uri="{9D8B030D-6E8A-4147-A177-3AD203B41FA5}">
                          <a16:colId xmlns:a16="http://schemas.microsoft.com/office/drawing/2014/main" val="580104427"/>
                        </a:ext>
                      </a:extLst>
                    </a:gridCol>
                    <a:gridCol w="540061">
                      <a:extLst>
                        <a:ext uri="{9D8B030D-6E8A-4147-A177-3AD203B41FA5}">
                          <a16:colId xmlns:a16="http://schemas.microsoft.com/office/drawing/2014/main" val="2236421446"/>
                        </a:ext>
                      </a:extLst>
                    </a:gridCol>
                    <a:gridCol w="492364">
                      <a:extLst>
                        <a:ext uri="{9D8B030D-6E8A-4147-A177-3AD203B41FA5}">
                          <a16:colId xmlns:a16="http://schemas.microsoft.com/office/drawing/2014/main" val="1365118493"/>
                        </a:ext>
                      </a:extLst>
                    </a:gridCol>
                    <a:gridCol w="498811">
                      <a:extLst>
                        <a:ext uri="{9D8B030D-6E8A-4147-A177-3AD203B41FA5}">
                          <a16:colId xmlns:a16="http://schemas.microsoft.com/office/drawing/2014/main" val="2369754992"/>
                        </a:ext>
                      </a:extLst>
                    </a:gridCol>
                  </a:tblGrid>
                  <a:tr h="49723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PRESENT STATE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OUT PUT</a:t>
                          </a:r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FLIP</a:t>
                          </a:r>
                          <a:r>
                            <a:rPr lang="en-US" sz="1800" baseline="0" dirty="0">
                              <a:solidFill>
                                <a:schemeClr val="tx1"/>
                              </a:solidFill>
                            </a:rPr>
                            <a:t> FLOP INPUTS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4117572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 </a:t>
                          </a:r>
                          <a:r>
                            <a:rPr lang="en-US" sz="1800" baseline="0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1904555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6986094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6011075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8965252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1676621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4581816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3575285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874829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4450818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4949389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55360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832529866"/>
                  </p:ext>
                </p:extLst>
              </p:nvPr>
            </p:nvGraphicFramePr>
            <p:xfrm>
              <a:off x="7937501" y="136525"/>
              <a:ext cx="4152899" cy="46634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396509">
                      <a:extLst>
                        <a:ext uri="{9D8B030D-6E8A-4147-A177-3AD203B41FA5}">
                          <a16:colId xmlns:a16="http://schemas.microsoft.com/office/drawing/2014/main" val="4249844500"/>
                        </a:ext>
                      </a:extLst>
                    </a:gridCol>
                    <a:gridCol w="344336">
                      <a:extLst>
                        <a:ext uri="{9D8B030D-6E8A-4147-A177-3AD203B41FA5}">
                          <a16:colId xmlns:a16="http://schemas.microsoft.com/office/drawing/2014/main" val="3614626860"/>
                        </a:ext>
                      </a:extLst>
                    </a:gridCol>
                    <a:gridCol w="438245">
                      <a:extLst>
                        <a:ext uri="{9D8B030D-6E8A-4147-A177-3AD203B41FA5}">
                          <a16:colId xmlns:a16="http://schemas.microsoft.com/office/drawing/2014/main" val="218090762"/>
                        </a:ext>
                      </a:extLst>
                    </a:gridCol>
                    <a:gridCol w="354770">
                      <a:extLst>
                        <a:ext uri="{9D8B030D-6E8A-4147-A177-3AD203B41FA5}">
                          <a16:colId xmlns:a16="http://schemas.microsoft.com/office/drawing/2014/main" val="667610623"/>
                        </a:ext>
                      </a:extLst>
                    </a:gridCol>
                    <a:gridCol w="649235">
                      <a:extLst>
                        <a:ext uri="{9D8B030D-6E8A-4147-A177-3AD203B41FA5}">
                          <a16:colId xmlns:a16="http://schemas.microsoft.com/office/drawing/2014/main" val="1842549834"/>
                        </a:ext>
                      </a:extLst>
                    </a:gridCol>
                    <a:gridCol w="438568">
                      <a:extLst>
                        <a:ext uri="{9D8B030D-6E8A-4147-A177-3AD203B41FA5}">
                          <a16:colId xmlns:a16="http://schemas.microsoft.com/office/drawing/2014/main" val="580104427"/>
                        </a:ext>
                      </a:extLst>
                    </a:gridCol>
                    <a:gridCol w="540061">
                      <a:extLst>
                        <a:ext uri="{9D8B030D-6E8A-4147-A177-3AD203B41FA5}">
                          <a16:colId xmlns:a16="http://schemas.microsoft.com/office/drawing/2014/main" val="2236421446"/>
                        </a:ext>
                      </a:extLst>
                    </a:gridCol>
                    <a:gridCol w="492364">
                      <a:extLst>
                        <a:ext uri="{9D8B030D-6E8A-4147-A177-3AD203B41FA5}">
                          <a16:colId xmlns:a16="http://schemas.microsoft.com/office/drawing/2014/main" val="1365118493"/>
                        </a:ext>
                      </a:extLst>
                    </a:gridCol>
                    <a:gridCol w="498811">
                      <a:extLst>
                        <a:ext uri="{9D8B030D-6E8A-4147-A177-3AD203B41FA5}">
                          <a16:colId xmlns:a16="http://schemas.microsoft.com/office/drawing/2014/main" val="2369754992"/>
                        </a:ext>
                      </a:extLst>
                    </a:gridCol>
                  </a:tblGrid>
                  <a:tr h="64008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PRESENT STATE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OUT PUT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FLIP</a:t>
                          </a:r>
                          <a:r>
                            <a:rPr lang="en-US" sz="1800" baseline="0" dirty="0" smtClean="0">
                              <a:solidFill>
                                <a:schemeClr val="tx1"/>
                              </a:solidFill>
                            </a:rPr>
                            <a:t> FLOP INPUTS</a:t>
                          </a:r>
                          <a:endParaRPr lang="en-US" sz="18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411757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538" t="-183333" r="-955385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15789" t="-183333" r="-989474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70833" t="-183333" r="-683333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36207" t="-183333" r="-748276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36449" t="-183333" r="-305607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500000" t="-183333" r="-354167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90909" t="-183333" r="-189773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41975" t="-183333" r="-106173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32927" t="-183333" r="-4878" b="-10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190455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698609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601107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896525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16766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458181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35752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87482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445081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49493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55360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91848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BCD COUNTER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0607421"/>
                  </p:ext>
                </p:extLst>
              </p:nvPr>
            </p:nvGraphicFramePr>
            <p:xfrm>
              <a:off x="838200" y="2630488"/>
              <a:ext cx="6584950" cy="341400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04900">
                      <a:extLst>
                        <a:ext uri="{9D8B030D-6E8A-4147-A177-3AD203B41FA5}">
                          <a16:colId xmlns:a16="http://schemas.microsoft.com/office/drawing/2014/main" val="453392487"/>
                        </a:ext>
                      </a:extLst>
                    </a:gridCol>
                    <a:gridCol w="1233429">
                      <a:extLst>
                        <a:ext uri="{9D8B030D-6E8A-4147-A177-3AD203B41FA5}">
                          <a16:colId xmlns:a16="http://schemas.microsoft.com/office/drawing/2014/main" val="2585311513"/>
                        </a:ext>
                      </a:extLst>
                    </a:gridCol>
                    <a:gridCol w="1196042">
                      <a:extLst>
                        <a:ext uri="{9D8B030D-6E8A-4147-A177-3AD203B41FA5}">
                          <a16:colId xmlns:a16="http://schemas.microsoft.com/office/drawing/2014/main" val="429018632"/>
                        </a:ext>
                      </a:extLst>
                    </a:gridCol>
                    <a:gridCol w="1061655">
                      <a:extLst>
                        <a:ext uri="{9D8B030D-6E8A-4147-A177-3AD203B41FA5}">
                          <a16:colId xmlns:a16="http://schemas.microsoft.com/office/drawing/2014/main" val="2852334319"/>
                        </a:ext>
                      </a:extLst>
                    </a:gridCol>
                    <a:gridCol w="981023">
                      <a:extLst>
                        <a:ext uri="{9D8B030D-6E8A-4147-A177-3AD203B41FA5}">
                          <a16:colId xmlns:a16="http://schemas.microsoft.com/office/drawing/2014/main" val="2208980271"/>
                        </a:ext>
                      </a:extLst>
                    </a:gridCol>
                    <a:gridCol w="1007901">
                      <a:extLst>
                        <a:ext uri="{9D8B030D-6E8A-4147-A177-3AD203B41FA5}">
                          <a16:colId xmlns:a16="http://schemas.microsoft.com/office/drawing/2014/main" val="3431712064"/>
                        </a:ext>
                      </a:extLst>
                    </a:gridCol>
                  </a:tblGrid>
                  <a:tr h="671546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36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r>
                            <a:rPr lang="en-US" sz="24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</m:acc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acc>
                                <m:accPr>
                                  <m:chr m:val="̅"/>
                                  <m:ctrlPr>
                                    <a:rPr lang="en-US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17834926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</m:e>
                                <m:sub>
                                  <m:r>
                                    <a:rPr lang="en-US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</m:e>
                                <m:sub>
                                  <m:r>
                                    <a:rPr lang="en-US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\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</m:e>
                                <m:sub>
                                  <m:r>
                                    <a:rPr lang="en-US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endParaRPr lang="en-US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 00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01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4655557"/>
                      </a:ext>
                    </a:extLst>
                  </a:tr>
                  <a:tr h="4804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r>
                            <a:rPr lang="en-US" sz="2400" b="1" dirty="0"/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𝟒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endParaRPr lang="en-US" sz="2400" b="1" dirty="0"/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00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38817427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4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𝟖</m:t>
                                        </m:r>
                                      </m:sub>
                                    </m:sSub>
                                  </m:e>
                                </m:acc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01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1751476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11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7896196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  <m:acc>
                                  <m:accPr>
                                    <m:chr m:val="̅"/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4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𝟒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10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476594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0607421"/>
                  </p:ext>
                </p:extLst>
              </p:nvPr>
            </p:nvGraphicFramePr>
            <p:xfrm>
              <a:off x="838200" y="2630488"/>
              <a:ext cx="6584950" cy="341400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04900">
                      <a:extLst>
                        <a:ext uri="{9D8B030D-6E8A-4147-A177-3AD203B41FA5}">
                          <a16:colId xmlns:a16="http://schemas.microsoft.com/office/drawing/2014/main" val="453392487"/>
                        </a:ext>
                      </a:extLst>
                    </a:gridCol>
                    <a:gridCol w="1233429">
                      <a:extLst>
                        <a:ext uri="{9D8B030D-6E8A-4147-A177-3AD203B41FA5}">
                          <a16:colId xmlns:a16="http://schemas.microsoft.com/office/drawing/2014/main" val="2585311513"/>
                        </a:ext>
                      </a:extLst>
                    </a:gridCol>
                    <a:gridCol w="1196042">
                      <a:extLst>
                        <a:ext uri="{9D8B030D-6E8A-4147-A177-3AD203B41FA5}">
                          <a16:colId xmlns:a16="http://schemas.microsoft.com/office/drawing/2014/main" val="429018632"/>
                        </a:ext>
                      </a:extLst>
                    </a:gridCol>
                    <a:gridCol w="1061655">
                      <a:extLst>
                        <a:ext uri="{9D8B030D-6E8A-4147-A177-3AD203B41FA5}">
                          <a16:colId xmlns:a16="http://schemas.microsoft.com/office/drawing/2014/main" val="2852334319"/>
                        </a:ext>
                      </a:extLst>
                    </a:gridCol>
                    <a:gridCol w="981023">
                      <a:extLst>
                        <a:ext uri="{9D8B030D-6E8A-4147-A177-3AD203B41FA5}">
                          <a16:colId xmlns:a16="http://schemas.microsoft.com/office/drawing/2014/main" val="2208980271"/>
                        </a:ext>
                      </a:extLst>
                    </a:gridCol>
                    <a:gridCol w="1007901">
                      <a:extLst>
                        <a:ext uri="{9D8B030D-6E8A-4147-A177-3AD203B41FA5}">
                          <a16:colId xmlns:a16="http://schemas.microsoft.com/office/drawing/2014/main" val="3431712064"/>
                        </a:ext>
                      </a:extLst>
                    </a:gridCol>
                  </a:tblGrid>
                  <a:tr h="6715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2" t="-909" r="-499448" b="-42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6429" t="-909" r="-257653" b="-42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908" t="-909" r="-190230" b="-42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66049" t="-909" r="-104321" b="-42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5758" t="-909" r="-2424" b="-42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834926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9655" t="-81618" r="-345320" b="-24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chemeClr val="tx1"/>
                              </a:solidFill>
                            </a:rPr>
                            <a:t> 00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chemeClr val="tx1"/>
                              </a:solidFill>
                            </a:rPr>
                            <a:t>01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4655557"/>
                      </a:ext>
                    </a:extLst>
                  </a:tr>
                  <a:tr h="4804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2" t="-312658" r="-499448" b="-325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00</a:t>
                          </a:r>
                          <a:endParaRPr lang="en-US" sz="2400" b="1" dirty="0"/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38817427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2" t="-417949" r="-499448" b="-2294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01</a:t>
                          </a:r>
                          <a:endParaRPr lang="en-US" sz="2400" b="1" dirty="0"/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1751476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2" t="-511392" r="-499448" b="-1265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11</a:t>
                          </a:r>
                          <a:endParaRPr lang="en-US" sz="2400" b="1" dirty="0"/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7896196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2" t="-611392" r="-499448" b="-265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10</a:t>
                          </a:r>
                          <a:endParaRPr lang="en-US" sz="2400" b="1" dirty="0"/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476594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Oval 7"/>
          <p:cNvSpPr/>
          <p:nvPr/>
        </p:nvSpPr>
        <p:spPr>
          <a:xfrm rot="5400000">
            <a:off x="4725193" y="3886996"/>
            <a:ext cx="1281112" cy="146050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712200" y="5365913"/>
                <a:ext cx="3086100" cy="6785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𝑻𝑸</m:t>
                        </m:r>
                      </m:e>
                      <m:sub>
                        <m:r>
                          <a:rPr lang="en-US" sz="44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4400" b="1" dirty="0"/>
                  <a:t>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4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sz="4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</m:sub>
                        </m:sSub>
                      </m:e>
                    </m:acc>
                    <m:sSub>
                      <m:sSubPr>
                        <m:ctrlPr>
                          <a:rPr lang="en-US" sz="4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sz="4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4400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2200" y="5365913"/>
                <a:ext cx="3086100" cy="678584"/>
              </a:xfrm>
              <a:prstGeom prst="rect">
                <a:avLst/>
              </a:prstGeom>
              <a:blipFill>
                <a:blip r:embed="rId4"/>
                <a:stretch>
                  <a:fillRect t="-24107" b="-49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68675570"/>
                  </p:ext>
                </p:extLst>
              </p:nvPr>
            </p:nvGraphicFramePr>
            <p:xfrm>
              <a:off x="7937501" y="136525"/>
              <a:ext cx="4152899" cy="46634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396509">
                      <a:extLst>
                        <a:ext uri="{9D8B030D-6E8A-4147-A177-3AD203B41FA5}">
                          <a16:colId xmlns:a16="http://schemas.microsoft.com/office/drawing/2014/main" val="4249844500"/>
                        </a:ext>
                      </a:extLst>
                    </a:gridCol>
                    <a:gridCol w="344336">
                      <a:extLst>
                        <a:ext uri="{9D8B030D-6E8A-4147-A177-3AD203B41FA5}">
                          <a16:colId xmlns:a16="http://schemas.microsoft.com/office/drawing/2014/main" val="3614626860"/>
                        </a:ext>
                      </a:extLst>
                    </a:gridCol>
                    <a:gridCol w="438245">
                      <a:extLst>
                        <a:ext uri="{9D8B030D-6E8A-4147-A177-3AD203B41FA5}">
                          <a16:colId xmlns:a16="http://schemas.microsoft.com/office/drawing/2014/main" val="218090762"/>
                        </a:ext>
                      </a:extLst>
                    </a:gridCol>
                    <a:gridCol w="354770">
                      <a:extLst>
                        <a:ext uri="{9D8B030D-6E8A-4147-A177-3AD203B41FA5}">
                          <a16:colId xmlns:a16="http://schemas.microsoft.com/office/drawing/2014/main" val="667610623"/>
                        </a:ext>
                      </a:extLst>
                    </a:gridCol>
                    <a:gridCol w="649235">
                      <a:extLst>
                        <a:ext uri="{9D8B030D-6E8A-4147-A177-3AD203B41FA5}">
                          <a16:colId xmlns:a16="http://schemas.microsoft.com/office/drawing/2014/main" val="1842549834"/>
                        </a:ext>
                      </a:extLst>
                    </a:gridCol>
                    <a:gridCol w="438568">
                      <a:extLst>
                        <a:ext uri="{9D8B030D-6E8A-4147-A177-3AD203B41FA5}">
                          <a16:colId xmlns:a16="http://schemas.microsoft.com/office/drawing/2014/main" val="580104427"/>
                        </a:ext>
                      </a:extLst>
                    </a:gridCol>
                    <a:gridCol w="540061">
                      <a:extLst>
                        <a:ext uri="{9D8B030D-6E8A-4147-A177-3AD203B41FA5}">
                          <a16:colId xmlns:a16="http://schemas.microsoft.com/office/drawing/2014/main" val="2236421446"/>
                        </a:ext>
                      </a:extLst>
                    </a:gridCol>
                    <a:gridCol w="492364">
                      <a:extLst>
                        <a:ext uri="{9D8B030D-6E8A-4147-A177-3AD203B41FA5}">
                          <a16:colId xmlns:a16="http://schemas.microsoft.com/office/drawing/2014/main" val="1365118493"/>
                        </a:ext>
                      </a:extLst>
                    </a:gridCol>
                    <a:gridCol w="498811">
                      <a:extLst>
                        <a:ext uri="{9D8B030D-6E8A-4147-A177-3AD203B41FA5}">
                          <a16:colId xmlns:a16="http://schemas.microsoft.com/office/drawing/2014/main" val="2369754992"/>
                        </a:ext>
                      </a:extLst>
                    </a:gridCol>
                  </a:tblGrid>
                  <a:tr h="49723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PRESENT STATE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OUT PUT</a:t>
                          </a:r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FLIP</a:t>
                          </a:r>
                          <a:r>
                            <a:rPr lang="en-US" sz="1800" baseline="0" dirty="0">
                              <a:solidFill>
                                <a:schemeClr val="tx1"/>
                              </a:solidFill>
                            </a:rPr>
                            <a:t> FLOP INPUTS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4117572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 </a:t>
                          </a:r>
                          <a:r>
                            <a:rPr lang="en-US" sz="1800" baseline="0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1904555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6986094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6011075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58965252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1676621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4581816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575285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874829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4450818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4949389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55360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68675570"/>
                  </p:ext>
                </p:extLst>
              </p:nvPr>
            </p:nvGraphicFramePr>
            <p:xfrm>
              <a:off x="7937501" y="136525"/>
              <a:ext cx="4152899" cy="46634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396509">
                      <a:extLst>
                        <a:ext uri="{9D8B030D-6E8A-4147-A177-3AD203B41FA5}">
                          <a16:colId xmlns:a16="http://schemas.microsoft.com/office/drawing/2014/main" val="4249844500"/>
                        </a:ext>
                      </a:extLst>
                    </a:gridCol>
                    <a:gridCol w="344336">
                      <a:extLst>
                        <a:ext uri="{9D8B030D-6E8A-4147-A177-3AD203B41FA5}">
                          <a16:colId xmlns:a16="http://schemas.microsoft.com/office/drawing/2014/main" val="3614626860"/>
                        </a:ext>
                      </a:extLst>
                    </a:gridCol>
                    <a:gridCol w="438245">
                      <a:extLst>
                        <a:ext uri="{9D8B030D-6E8A-4147-A177-3AD203B41FA5}">
                          <a16:colId xmlns:a16="http://schemas.microsoft.com/office/drawing/2014/main" val="218090762"/>
                        </a:ext>
                      </a:extLst>
                    </a:gridCol>
                    <a:gridCol w="354770">
                      <a:extLst>
                        <a:ext uri="{9D8B030D-6E8A-4147-A177-3AD203B41FA5}">
                          <a16:colId xmlns:a16="http://schemas.microsoft.com/office/drawing/2014/main" val="667610623"/>
                        </a:ext>
                      </a:extLst>
                    </a:gridCol>
                    <a:gridCol w="649235">
                      <a:extLst>
                        <a:ext uri="{9D8B030D-6E8A-4147-A177-3AD203B41FA5}">
                          <a16:colId xmlns:a16="http://schemas.microsoft.com/office/drawing/2014/main" val="1842549834"/>
                        </a:ext>
                      </a:extLst>
                    </a:gridCol>
                    <a:gridCol w="438568">
                      <a:extLst>
                        <a:ext uri="{9D8B030D-6E8A-4147-A177-3AD203B41FA5}">
                          <a16:colId xmlns:a16="http://schemas.microsoft.com/office/drawing/2014/main" val="580104427"/>
                        </a:ext>
                      </a:extLst>
                    </a:gridCol>
                    <a:gridCol w="540061">
                      <a:extLst>
                        <a:ext uri="{9D8B030D-6E8A-4147-A177-3AD203B41FA5}">
                          <a16:colId xmlns:a16="http://schemas.microsoft.com/office/drawing/2014/main" val="2236421446"/>
                        </a:ext>
                      </a:extLst>
                    </a:gridCol>
                    <a:gridCol w="492364">
                      <a:extLst>
                        <a:ext uri="{9D8B030D-6E8A-4147-A177-3AD203B41FA5}">
                          <a16:colId xmlns:a16="http://schemas.microsoft.com/office/drawing/2014/main" val="1365118493"/>
                        </a:ext>
                      </a:extLst>
                    </a:gridCol>
                    <a:gridCol w="498811">
                      <a:extLst>
                        <a:ext uri="{9D8B030D-6E8A-4147-A177-3AD203B41FA5}">
                          <a16:colId xmlns:a16="http://schemas.microsoft.com/office/drawing/2014/main" val="2369754992"/>
                        </a:ext>
                      </a:extLst>
                    </a:gridCol>
                  </a:tblGrid>
                  <a:tr h="64008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PRESENT STATE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OUT PUT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FLIP</a:t>
                          </a:r>
                          <a:r>
                            <a:rPr lang="en-US" sz="1800" baseline="0" dirty="0" smtClean="0">
                              <a:solidFill>
                                <a:schemeClr val="tx1"/>
                              </a:solidFill>
                            </a:rPr>
                            <a:t> FLOP INPUTS</a:t>
                          </a:r>
                          <a:endParaRPr lang="en-US" sz="18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411757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538" t="-183333" r="-955385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15789" t="-183333" r="-989474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70833" t="-183333" r="-683333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36207" t="-183333" r="-748276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36449" t="-183333" r="-305607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500000" t="-183333" r="-354167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90909" t="-183333" r="-189773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41975" t="-183333" r="-106173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32927" t="-183333" r="-4878" b="-10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190455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698609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601107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5896525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16766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458181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5752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87482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445081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49493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55360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101171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BCD COUNTER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5900730"/>
                  </p:ext>
                </p:extLst>
              </p:nvPr>
            </p:nvGraphicFramePr>
            <p:xfrm>
              <a:off x="838200" y="2630488"/>
              <a:ext cx="6584950" cy="341400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04900">
                      <a:extLst>
                        <a:ext uri="{9D8B030D-6E8A-4147-A177-3AD203B41FA5}">
                          <a16:colId xmlns:a16="http://schemas.microsoft.com/office/drawing/2014/main" val="453392487"/>
                        </a:ext>
                      </a:extLst>
                    </a:gridCol>
                    <a:gridCol w="1233429">
                      <a:extLst>
                        <a:ext uri="{9D8B030D-6E8A-4147-A177-3AD203B41FA5}">
                          <a16:colId xmlns:a16="http://schemas.microsoft.com/office/drawing/2014/main" val="2585311513"/>
                        </a:ext>
                      </a:extLst>
                    </a:gridCol>
                    <a:gridCol w="1196042">
                      <a:extLst>
                        <a:ext uri="{9D8B030D-6E8A-4147-A177-3AD203B41FA5}">
                          <a16:colId xmlns:a16="http://schemas.microsoft.com/office/drawing/2014/main" val="429018632"/>
                        </a:ext>
                      </a:extLst>
                    </a:gridCol>
                    <a:gridCol w="1061655">
                      <a:extLst>
                        <a:ext uri="{9D8B030D-6E8A-4147-A177-3AD203B41FA5}">
                          <a16:colId xmlns:a16="http://schemas.microsoft.com/office/drawing/2014/main" val="2852334319"/>
                        </a:ext>
                      </a:extLst>
                    </a:gridCol>
                    <a:gridCol w="981023">
                      <a:extLst>
                        <a:ext uri="{9D8B030D-6E8A-4147-A177-3AD203B41FA5}">
                          <a16:colId xmlns:a16="http://schemas.microsoft.com/office/drawing/2014/main" val="2208980271"/>
                        </a:ext>
                      </a:extLst>
                    </a:gridCol>
                    <a:gridCol w="1007901">
                      <a:extLst>
                        <a:ext uri="{9D8B030D-6E8A-4147-A177-3AD203B41FA5}">
                          <a16:colId xmlns:a16="http://schemas.microsoft.com/office/drawing/2014/main" val="3431712064"/>
                        </a:ext>
                      </a:extLst>
                    </a:gridCol>
                  </a:tblGrid>
                  <a:tr h="671546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36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r>
                            <a:rPr lang="en-US" sz="24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</m:acc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acc>
                                <m:accPr>
                                  <m:chr m:val="̅"/>
                                  <m:ctrlPr>
                                    <a:rPr lang="en-US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17834926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</m:e>
                                <m:sub>
                                  <m:r>
                                    <a:rPr lang="en-US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</m:e>
                                <m:sub>
                                  <m:r>
                                    <a:rPr lang="en-US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\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</m:e>
                                <m:sub>
                                  <m:r>
                                    <a:rPr lang="en-US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endParaRPr lang="en-US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 00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01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4655557"/>
                      </a:ext>
                    </a:extLst>
                  </a:tr>
                  <a:tr h="4804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r>
                            <a:rPr lang="en-US" sz="2400" b="1" dirty="0"/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𝟒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endParaRPr lang="en-US" sz="2400" b="1" dirty="0"/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00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38817427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4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𝟖</m:t>
                                        </m:r>
                                      </m:sub>
                                    </m:sSub>
                                  </m:e>
                                </m:acc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01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1751476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11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7896196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  <m:acc>
                                  <m:accPr>
                                    <m:chr m:val="̅"/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4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𝟒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10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476594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5900730"/>
                  </p:ext>
                </p:extLst>
              </p:nvPr>
            </p:nvGraphicFramePr>
            <p:xfrm>
              <a:off x="838200" y="2630488"/>
              <a:ext cx="6584950" cy="341400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04900">
                      <a:extLst>
                        <a:ext uri="{9D8B030D-6E8A-4147-A177-3AD203B41FA5}">
                          <a16:colId xmlns:a16="http://schemas.microsoft.com/office/drawing/2014/main" val="453392487"/>
                        </a:ext>
                      </a:extLst>
                    </a:gridCol>
                    <a:gridCol w="1233429">
                      <a:extLst>
                        <a:ext uri="{9D8B030D-6E8A-4147-A177-3AD203B41FA5}">
                          <a16:colId xmlns:a16="http://schemas.microsoft.com/office/drawing/2014/main" val="2585311513"/>
                        </a:ext>
                      </a:extLst>
                    </a:gridCol>
                    <a:gridCol w="1196042">
                      <a:extLst>
                        <a:ext uri="{9D8B030D-6E8A-4147-A177-3AD203B41FA5}">
                          <a16:colId xmlns:a16="http://schemas.microsoft.com/office/drawing/2014/main" val="429018632"/>
                        </a:ext>
                      </a:extLst>
                    </a:gridCol>
                    <a:gridCol w="1061655">
                      <a:extLst>
                        <a:ext uri="{9D8B030D-6E8A-4147-A177-3AD203B41FA5}">
                          <a16:colId xmlns:a16="http://schemas.microsoft.com/office/drawing/2014/main" val="2852334319"/>
                        </a:ext>
                      </a:extLst>
                    </a:gridCol>
                    <a:gridCol w="981023">
                      <a:extLst>
                        <a:ext uri="{9D8B030D-6E8A-4147-A177-3AD203B41FA5}">
                          <a16:colId xmlns:a16="http://schemas.microsoft.com/office/drawing/2014/main" val="2208980271"/>
                        </a:ext>
                      </a:extLst>
                    </a:gridCol>
                    <a:gridCol w="1007901">
                      <a:extLst>
                        <a:ext uri="{9D8B030D-6E8A-4147-A177-3AD203B41FA5}">
                          <a16:colId xmlns:a16="http://schemas.microsoft.com/office/drawing/2014/main" val="3431712064"/>
                        </a:ext>
                      </a:extLst>
                    </a:gridCol>
                  </a:tblGrid>
                  <a:tr h="6715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2" t="-909" r="-499448" b="-42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6429" t="-909" r="-257653" b="-42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908" t="-909" r="-190230" b="-42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66049" t="-909" r="-104321" b="-42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5758" t="-909" r="-2424" b="-42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834926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9655" t="-81618" r="-345320" b="-24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chemeClr val="tx1"/>
                              </a:solidFill>
                            </a:rPr>
                            <a:t> 00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chemeClr val="tx1"/>
                              </a:solidFill>
                            </a:rPr>
                            <a:t>01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4655557"/>
                      </a:ext>
                    </a:extLst>
                  </a:tr>
                  <a:tr h="4804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2" t="-312658" r="-499448" b="-325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00</a:t>
                          </a:r>
                          <a:endParaRPr lang="en-US" sz="2400" b="1" dirty="0"/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38817427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2" t="-417949" r="-499448" b="-2294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01</a:t>
                          </a:r>
                          <a:endParaRPr lang="en-US" sz="2400" b="1" dirty="0"/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1751476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2" t="-511392" r="-499448" b="-1265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11</a:t>
                          </a:r>
                          <a:endParaRPr lang="en-US" sz="2400" b="1" dirty="0"/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7896196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2" t="-611392" r="-499448" b="-265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10</a:t>
                          </a:r>
                          <a:endParaRPr lang="en-US" sz="2400" b="1" dirty="0"/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4765943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712200" y="5365913"/>
                <a:ext cx="3086100" cy="6785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𝑻𝑸</m:t>
                        </m:r>
                      </m:e>
                      <m:sub>
                        <m:r>
                          <a:rPr lang="en-US" sz="4400" b="1" i="0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4400" b="1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sz="4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4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sz="4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4400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2200" y="5365913"/>
                <a:ext cx="3086100" cy="678584"/>
              </a:xfrm>
              <a:prstGeom prst="rect">
                <a:avLst/>
              </a:prstGeom>
              <a:blipFill>
                <a:blip r:embed="rId4"/>
                <a:stretch>
                  <a:fillRect t="-25000" b="-48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/>
          <p:cNvSpPr/>
          <p:nvPr/>
        </p:nvSpPr>
        <p:spPr>
          <a:xfrm rot="5400000">
            <a:off x="4825997" y="4711701"/>
            <a:ext cx="2286003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4423398"/>
                  </p:ext>
                </p:extLst>
              </p:nvPr>
            </p:nvGraphicFramePr>
            <p:xfrm>
              <a:off x="7937501" y="136525"/>
              <a:ext cx="4152899" cy="46634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396509">
                      <a:extLst>
                        <a:ext uri="{9D8B030D-6E8A-4147-A177-3AD203B41FA5}">
                          <a16:colId xmlns:a16="http://schemas.microsoft.com/office/drawing/2014/main" val="4249844500"/>
                        </a:ext>
                      </a:extLst>
                    </a:gridCol>
                    <a:gridCol w="344336">
                      <a:extLst>
                        <a:ext uri="{9D8B030D-6E8A-4147-A177-3AD203B41FA5}">
                          <a16:colId xmlns:a16="http://schemas.microsoft.com/office/drawing/2014/main" val="3614626860"/>
                        </a:ext>
                      </a:extLst>
                    </a:gridCol>
                    <a:gridCol w="438245">
                      <a:extLst>
                        <a:ext uri="{9D8B030D-6E8A-4147-A177-3AD203B41FA5}">
                          <a16:colId xmlns:a16="http://schemas.microsoft.com/office/drawing/2014/main" val="218090762"/>
                        </a:ext>
                      </a:extLst>
                    </a:gridCol>
                    <a:gridCol w="354770">
                      <a:extLst>
                        <a:ext uri="{9D8B030D-6E8A-4147-A177-3AD203B41FA5}">
                          <a16:colId xmlns:a16="http://schemas.microsoft.com/office/drawing/2014/main" val="667610623"/>
                        </a:ext>
                      </a:extLst>
                    </a:gridCol>
                    <a:gridCol w="649235">
                      <a:extLst>
                        <a:ext uri="{9D8B030D-6E8A-4147-A177-3AD203B41FA5}">
                          <a16:colId xmlns:a16="http://schemas.microsoft.com/office/drawing/2014/main" val="1842549834"/>
                        </a:ext>
                      </a:extLst>
                    </a:gridCol>
                    <a:gridCol w="438568">
                      <a:extLst>
                        <a:ext uri="{9D8B030D-6E8A-4147-A177-3AD203B41FA5}">
                          <a16:colId xmlns:a16="http://schemas.microsoft.com/office/drawing/2014/main" val="580104427"/>
                        </a:ext>
                      </a:extLst>
                    </a:gridCol>
                    <a:gridCol w="540061">
                      <a:extLst>
                        <a:ext uri="{9D8B030D-6E8A-4147-A177-3AD203B41FA5}">
                          <a16:colId xmlns:a16="http://schemas.microsoft.com/office/drawing/2014/main" val="2236421446"/>
                        </a:ext>
                      </a:extLst>
                    </a:gridCol>
                    <a:gridCol w="492364">
                      <a:extLst>
                        <a:ext uri="{9D8B030D-6E8A-4147-A177-3AD203B41FA5}">
                          <a16:colId xmlns:a16="http://schemas.microsoft.com/office/drawing/2014/main" val="1365118493"/>
                        </a:ext>
                      </a:extLst>
                    </a:gridCol>
                    <a:gridCol w="498811">
                      <a:extLst>
                        <a:ext uri="{9D8B030D-6E8A-4147-A177-3AD203B41FA5}">
                          <a16:colId xmlns:a16="http://schemas.microsoft.com/office/drawing/2014/main" val="2369754992"/>
                        </a:ext>
                      </a:extLst>
                    </a:gridCol>
                  </a:tblGrid>
                  <a:tr h="49723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PRESENT STATE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OUT PUT</a:t>
                          </a:r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FLIP</a:t>
                          </a:r>
                          <a:r>
                            <a:rPr lang="en-US" sz="1800" baseline="0" dirty="0">
                              <a:solidFill>
                                <a:schemeClr val="tx1"/>
                              </a:solidFill>
                            </a:rPr>
                            <a:t> FLOP INPUTS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4117572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 </a:t>
                          </a:r>
                          <a:r>
                            <a:rPr lang="en-US" sz="1800" baseline="0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1904555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6986094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6011075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58965252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1676621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4581816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575285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874829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4450818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4949389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55360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4423398"/>
                  </p:ext>
                </p:extLst>
              </p:nvPr>
            </p:nvGraphicFramePr>
            <p:xfrm>
              <a:off x="7937501" y="136525"/>
              <a:ext cx="4152899" cy="46634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396509">
                      <a:extLst>
                        <a:ext uri="{9D8B030D-6E8A-4147-A177-3AD203B41FA5}">
                          <a16:colId xmlns:a16="http://schemas.microsoft.com/office/drawing/2014/main" val="4249844500"/>
                        </a:ext>
                      </a:extLst>
                    </a:gridCol>
                    <a:gridCol w="344336">
                      <a:extLst>
                        <a:ext uri="{9D8B030D-6E8A-4147-A177-3AD203B41FA5}">
                          <a16:colId xmlns:a16="http://schemas.microsoft.com/office/drawing/2014/main" val="3614626860"/>
                        </a:ext>
                      </a:extLst>
                    </a:gridCol>
                    <a:gridCol w="438245">
                      <a:extLst>
                        <a:ext uri="{9D8B030D-6E8A-4147-A177-3AD203B41FA5}">
                          <a16:colId xmlns:a16="http://schemas.microsoft.com/office/drawing/2014/main" val="218090762"/>
                        </a:ext>
                      </a:extLst>
                    </a:gridCol>
                    <a:gridCol w="354770">
                      <a:extLst>
                        <a:ext uri="{9D8B030D-6E8A-4147-A177-3AD203B41FA5}">
                          <a16:colId xmlns:a16="http://schemas.microsoft.com/office/drawing/2014/main" val="667610623"/>
                        </a:ext>
                      </a:extLst>
                    </a:gridCol>
                    <a:gridCol w="649235">
                      <a:extLst>
                        <a:ext uri="{9D8B030D-6E8A-4147-A177-3AD203B41FA5}">
                          <a16:colId xmlns:a16="http://schemas.microsoft.com/office/drawing/2014/main" val="1842549834"/>
                        </a:ext>
                      </a:extLst>
                    </a:gridCol>
                    <a:gridCol w="438568">
                      <a:extLst>
                        <a:ext uri="{9D8B030D-6E8A-4147-A177-3AD203B41FA5}">
                          <a16:colId xmlns:a16="http://schemas.microsoft.com/office/drawing/2014/main" val="580104427"/>
                        </a:ext>
                      </a:extLst>
                    </a:gridCol>
                    <a:gridCol w="540061">
                      <a:extLst>
                        <a:ext uri="{9D8B030D-6E8A-4147-A177-3AD203B41FA5}">
                          <a16:colId xmlns:a16="http://schemas.microsoft.com/office/drawing/2014/main" val="2236421446"/>
                        </a:ext>
                      </a:extLst>
                    </a:gridCol>
                    <a:gridCol w="492364">
                      <a:extLst>
                        <a:ext uri="{9D8B030D-6E8A-4147-A177-3AD203B41FA5}">
                          <a16:colId xmlns:a16="http://schemas.microsoft.com/office/drawing/2014/main" val="1365118493"/>
                        </a:ext>
                      </a:extLst>
                    </a:gridCol>
                    <a:gridCol w="498811">
                      <a:extLst>
                        <a:ext uri="{9D8B030D-6E8A-4147-A177-3AD203B41FA5}">
                          <a16:colId xmlns:a16="http://schemas.microsoft.com/office/drawing/2014/main" val="2369754992"/>
                        </a:ext>
                      </a:extLst>
                    </a:gridCol>
                  </a:tblGrid>
                  <a:tr h="64008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PRESENT STATE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OUT PUT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FLIP</a:t>
                          </a:r>
                          <a:r>
                            <a:rPr lang="en-US" sz="1800" baseline="0" dirty="0" smtClean="0">
                              <a:solidFill>
                                <a:schemeClr val="tx1"/>
                              </a:solidFill>
                            </a:rPr>
                            <a:t> FLOP INPUTS</a:t>
                          </a:r>
                          <a:endParaRPr lang="en-US" sz="18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411757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538" t="-183333" r="-955385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15789" t="-183333" r="-989474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70833" t="-183333" r="-683333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36207" t="-183333" r="-748276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36449" t="-183333" r="-305607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500000" t="-183333" r="-354167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90909" t="-183333" r="-189773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41975" t="-183333" r="-106173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32927" t="-183333" r="-4878" b="-10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190455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698609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601107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5896525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16766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458181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5752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87482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445081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49493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55360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099205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BCD COUNTER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1840311"/>
                  </p:ext>
                </p:extLst>
              </p:nvPr>
            </p:nvGraphicFramePr>
            <p:xfrm>
              <a:off x="441325" y="2224058"/>
              <a:ext cx="6584950" cy="341400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04900">
                      <a:extLst>
                        <a:ext uri="{9D8B030D-6E8A-4147-A177-3AD203B41FA5}">
                          <a16:colId xmlns:a16="http://schemas.microsoft.com/office/drawing/2014/main" val="453392487"/>
                        </a:ext>
                      </a:extLst>
                    </a:gridCol>
                    <a:gridCol w="1233429">
                      <a:extLst>
                        <a:ext uri="{9D8B030D-6E8A-4147-A177-3AD203B41FA5}">
                          <a16:colId xmlns:a16="http://schemas.microsoft.com/office/drawing/2014/main" val="2585311513"/>
                        </a:ext>
                      </a:extLst>
                    </a:gridCol>
                    <a:gridCol w="1196042">
                      <a:extLst>
                        <a:ext uri="{9D8B030D-6E8A-4147-A177-3AD203B41FA5}">
                          <a16:colId xmlns:a16="http://schemas.microsoft.com/office/drawing/2014/main" val="429018632"/>
                        </a:ext>
                      </a:extLst>
                    </a:gridCol>
                    <a:gridCol w="1061655">
                      <a:extLst>
                        <a:ext uri="{9D8B030D-6E8A-4147-A177-3AD203B41FA5}">
                          <a16:colId xmlns:a16="http://schemas.microsoft.com/office/drawing/2014/main" val="2852334319"/>
                        </a:ext>
                      </a:extLst>
                    </a:gridCol>
                    <a:gridCol w="981023">
                      <a:extLst>
                        <a:ext uri="{9D8B030D-6E8A-4147-A177-3AD203B41FA5}">
                          <a16:colId xmlns:a16="http://schemas.microsoft.com/office/drawing/2014/main" val="2208980271"/>
                        </a:ext>
                      </a:extLst>
                    </a:gridCol>
                    <a:gridCol w="1007901">
                      <a:extLst>
                        <a:ext uri="{9D8B030D-6E8A-4147-A177-3AD203B41FA5}">
                          <a16:colId xmlns:a16="http://schemas.microsoft.com/office/drawing/2014/main" val="3431712064"/>
                        </a:ext>
                      </a:extLst>
                    </a:gridCol>
                  </a:tblGrid>
                  <a:tr h="671546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36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r>
                            <a:rPr lang="en-US" sz="24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</m:acc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acc>
                                <m:accPr>
                                  <m:chr m:val="̅"/>
                                  <m:ctrlPr>
                                    <a:rPr lang="en-US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17834926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</m:e>
                                <m:sub>
                                  <m:r>
                                    <a:rPr lang="en-US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</m:e>
                                <m:sub>
                                  <m:r>
                                    <a:rPr lang="en-US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\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</m:e>
                                <m:sub>
                                  <m:r>
                                    <a:rPr lang="en-US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endParaRPr lang="en-US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 00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01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4655557"/>
                      </a:ext>
                    </a:extLst>
                  </a:tr>
                  <a:tr h="4804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r>
                            <a:rPr lang="en-US" sz="2400" b="1" dirty="0"/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𝟒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endParaRPr lang="en-US" sz="2400" b="1" dirty="0"/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00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38817427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4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𝟖</m:t>
                                        </m:r>
                                      </m:sub>
                                    </m:sSub>
                                  </m:e>
                                </m:acc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01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1751476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11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7896196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  <m:acc>
                                  <m:accPr>
                                    <m:chr m:val="̅"/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4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𝟒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10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476594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1840311"/>
                  </p:ext>
                </p:extLst>
              </p:nvPr>
            </p:nvGraphicFramePr>
            <p:xfrm>
              <a:off x="441325" y="2224058"/>
              <a:ext cx="6584950" cy="341400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04900">
                      <a:extLst>
                        <a:ext uri="{9D8B030D-6E8A-4147-A177-3AD203B41FA5}">
                          <a16:colId xmlns:a16="http://schemas.microsoft.com/office/drawing/2014/main" val="453392487"/>
                        </a:ext>
                      </a:extLst>
                    </a:gridCol>
                    <a:gridCol w="1233429">
                      <a:extLst>
                        <a:ext uri="{9D8B030D-6E8A-4147-A177-3AD203B41FA5}">
                          <a16:colId xmlns:a16="http://schemas.microsoft.com/office/drawing/2014/main" val="2585311513"/>
                        </a:ext>
                      </a:extLst>
                    </a:gridCol>
                    <a:gridCol w="1196042">
                      <a:extLst>
                        <a:ext uri="{9D8B030D-6E8A-4147-A177-3AD203B41FA5}">
                          <a16:colId xmlns:a16="http://schemas.microsoft.com/office/drawing/2014/main" val="429018632"/>
                        </a:ext>
                      </a:extLst>
                    </a:gridCol>
                    <a:gridCol w="1061655">
                      <a:extLst>
                        <a:ext uri="{9D8B030D-6E8A-4147-A177-3AD203B41FA5}">
                          <a16:colId xmlns:a16="http://schemas.microsoft.com/office/drawing/2014/main" val="2852334319"/>
                        </a:ext>
                      </a:extLst>
                    </a:gridCol>
                    <a:gridCol w="981023">
                      <a:extLst>
                        <a:ext uri="{9D8B030D-6E8A-4147-A177-3AD203B41FA5}">
                          <a16:colId xmlns:a16="http://schemas.microsoft.com/office/drawing/2014/main" val="2208980271"/>
                        </a:ext>
                      </a:extLst>
                    </a:gridCol>
                    <a:gridCol w="1007901">
                      <a:extLst>
                        <a:ext uri="{9D8B030D-6E8A-4147-A177-3AD203B41FA5}">
                          <a16:colId xmlns:a16="http://schemas.microsoft.com/office/drawing/2014/main" val="3431712064"/>
                        </a:ext>
                      </a:extLst>
                    </a:gridCol>
                  </a:tblGrid>
                  <a:tr h="6715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2" t="-909" r="-499448" b="-42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6429" t="-909" r="-257653" b="-42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908" t="-909" r="-190230" b="-42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66049" t="-909" r="-104321" b="-42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5758" t="-909" r="-2424" b="-42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834926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9655" t="-81618" r="-345320" b="-24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chemeClr val="tx1"/>
                              </a:solidFill>
                            </a:rPr>
                            <a:t> 00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chemeClr val="tx1"/>
                              </a:solidFill>
                            </a:rPr>
                            <a:t>01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4655557"/>
                      </a:ext>
                    </a:extLst>
                  </a:tr>
                  <a:tr h="4804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2" t="-312658" r="-499448" b="-325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00</a:t>
                          </a:r>
                          <a:endParaRPr lang="en-US" sz="2400" b="1" dirty="0"/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38817427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2" t="-417949" r="-499448" b="-2294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01</a:t>
                          </a:r>
                          <a:endParaRPr lang="en-US" sz="2400" b="1" dirty="0"/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1751476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2" t="-511392" r="-499448" b="-1265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11</a:t>
                          </a:r>
                          <a:endParaRPr lang="en-US" sz="2400" b="1" dirty="0"/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7896196"/>
                      </a:ext>
                    </a:extLst>
                  </a:tr>
                  <a:tr h="4796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2" t="-611392" r="-499448" b="-265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10</a:t>
                          </a:r>
                          <a:endParaRPr lang="en-US" sz="2400" b="1" dirty="0"/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4765943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048249" y="6024124"/>
                <a:ext cx="5797551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𝑻𝑸</m:t>
                        </m:r>
                      </m:e>
                      <m:sub>
                        <m:r>
                          <a:rPr lang="en-US" sz="4400" b="1" i="0" smtClean="0"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</m:oMath>
                </a14:m>
                <a:r>
                  <a:rPr lang="en-US" sz="4400" b="1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sz="4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sz="4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sz="4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4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sz="4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4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44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sz="4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4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sz="4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4400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249" y="6024124"/>
                <a:ext cx="5797551" cy="677108"/>
              </a:xfrm>
              <a:prstGeom prst="rect">
                <a:avLst/>
              </a:prstGeom>
              <a:blipFill>
                <a:blip r:embed="rId4"/>
                <a:stretch>
                  <a:fillRect t="-25225" b="-49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 rot="5400000">
            <a:off x="4407693" y="4406109"/>
            <a:ext cx="1281112" cy="146050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 rot="5400000">
            <a:off x="5025702" y="4347013"/>
            <a:ext cx="1143001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80966561"/>
                  </p:ext>
                </p:extLst>
              </p:nvPr>
            </p:nvGraphicFramePr>
            <p:xfrm>
              <a:off x="7937501" y="136525"/>
              <a:ext cx="4152899" cy="46634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396509">
                      <a:extLst>
                        <a:ext uri="{9D8B030D-6E8A-4147-A177-3AD203B41FA5}">
                          <a16:colId xmlns:a16="http://schemas.microsoft.com/office/drawing/2014/main" val="4249844500"/>
                        </a:ext>
                      </a:extLst>
                    </a:gridCol>
                    <a:gridCol w="344336">
                      <a:extLst>
                        <a:ext uri="{9D8B030D-6E8A-4147-A177-3AD203B41FA5}">
                          <a16:colId xmlns:a16="http://schemas.microsoft.com/office/drawing/2014/main" val="3614626860"/>
                        </a:ext>
                      </a:extLst>
                    </a:gridCol>
                    <a:gridCol w="438245">
                      <a:extLst>
                        <a:ext uri="{9D8B030D-6E8A-4147-A177-3AD203B41FA5}">
                          <a16:colId xmlns:a16="http://schemas.microsoft.com/office/drawing/2014/main" val="218090762"/>
                        </a:ext>
                      </a:extLst>
                    </a:gridCol>
                    <a:gridCol w="354770">
                      <a:extLst>
                        <a:ext uri="{9D8B030D-6E8A-4147-A177-3AD203B41FA5}">
                          <a16:colId xmlns:a16="http://schemas.microsoft.com/office/drawing/2014/main" val="667610623"/>
                        </a:ext>
                      </a:extLst>
                    </a:gridCol>
                    <a:gridCol w="649235">
                      <a:extLst>
                        <a:ext uri="{9D8B030D-6E8A-4147-A177-3AD203B41FA5}">
                          <a16:colId xmlns:a16="http://schemas.microsoft.com/office/drawing/2014/main" val="1842549834"/>
                        </a:ext>
                      </a:extLst>
                    </a:gridCol>
                    <a:gridCol w="522004">
                      <a:extLst>
                        <a:ext uri="{9D8B030D-6E8A-4147-A177-3AD203B41FA5}">
                          <a16:colId xmlns:a16="http://schemas.microsoft.com/office/drawing/2014/main" val="580104427"/>
                        </a:ext>
                      </a:extLst>
                    </a:gridCol>
                    <a:gridCol w="456625">
                      <a:extLst>
                        <a:ext uri="{9D8B030D-6E8A-4147-A177-3AD203B41FA5}">
                          <a16:colId xmlns:a16="http://schemas.microsoft.com/office/drawing/2014/main" val="2236421446"/>
                        </a:ext>
                      </a:extLst>
                    </a:gridCol>
                    <a:gridCol w="492364">
                      <a:extLst>
                        <a:ext uri="{9D8B030D-6E8A-4147-A177-3AD203B41FA5}">
                          <a16:colId xmlns:a16="http://schemas.microsoft.com/office/drawing/2014/main" val="1365118493"/>
                        </a:ext>
                      </a:extLst>
                    </a:gridCol>
                    <a:gridCol w="498811">
                      <a:extLst>
                        <a:ext uri="{9D8B030D-6E8A-4147-A177-3AD203B41FA5}">
                          <a16:colId xmlns:a16="http://schemas.microsoft.com/office/drawing/2014/main" val="2369754992"/>
                        </a:ext>
                      </a:extLst>
                    </a:gridCol>
                  </a:tblGrid>
                  <a:tr h="49723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PRESENT STATE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OUT PUT</a:t>
                          </a:r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FLIP</a:t>
                          </a:r>
                          <a:r>
                            <a:rPr lang="en-US" sz="1800" baseline="0" dirty="0">
                              <a:solidFill>
                                <a:schemeClr val="tx1"/>
                              </a:solidFill>
                            </a:rPr>
                            <a:t> FLOP INPUTS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4117572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 </a:t>
                          </a:r>
                          <a:r>
                            <a:rPr lang="en-US" sz="1800" baseline="0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𝑻𝑸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1904555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6986094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6011075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58965252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1676621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4581816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575285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874829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4450818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4949389"/>
                      </a:ext>
                    </a:extLst>
                  </a:tr>
                  <a:tr h="284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55360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80966561"/>
                  </p:ext>
                </p:extLst>
              </p:nvPr>
            </p:nvGraphicFramePr>
            <p:xfrm>
              <a:off x="7937501" y="136525"/>
              <a:ext cx="4152899" cy="46634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396509">
                      <a:extLst>
                        <a:ext uri="{9D8B030D-6E8A-4147-A177-3AD203B41FA5}">
                          <a16:colId xmlns:a16="http://schemas.microsoft.com/office/drawing/2014/main" val="4249844500"/>
                        </a:ext>
                      </a:extLst>
                    </a:gridCol>
                    <a:gridCol w="344336">
                      <a:extLst>
                        <a:ext uri="{9D8B030D-6E8A-4147-A177-3AD203B41FA5}">
                          <a16:colId xmlns:a16="http://schemas.microsoft.com/office/drawing/2014/main" val="3614626860"/>
                        </a:ext>
                      </a:extLst>
                    </a:gridCol>
                    <a:gridCol w="438245">
                      <a:extLst>
                        <a:ext uri="{9D8B030D-6E8A-4147-A177-3AD203B41FA5}">
                          <a16:colId xmlns:a16="http://schemas.microsoft.com/office/drawing/2014/main" val="218090762"/>
                        </a:ext>
                      </a:extLst>
                    </a:gridCol>
                    <a:gridCol w="354770">
                      <a:extLst>
                        <a:ext uri="{9D8B030D-6E8A-4147-A177-3AD203B41FA5}">
                          <a16:colId xmlns:a16="http://schemas.microsoft.com/office/drawing/2014/main" val="667610623"/>
                        </a:ext>
                      </a:extLst>
                    </a:gridCol>
                    <a:gridCol w="649235">
                      <a:extLst>
                        <a:ext uri="{9D8B030D-6E8A-4147-A177-3AD203B41FA5}">
                          <a16:colId xmlns:a16="http://schemas.microsoft.com/office/drawing/2014/main" val="1842549834"/>
                        </a:ext>
                      </a:extLst>
                    </a:gridCol>
                    <a:gridCol w="522004">
                      <a:extLst>
                        <a:ext uri="{9D8B030D-6E8A-4147-A177-3AD203B41FA5}">
                          <a16:colId xmlns:a16="http://schemas.microsoft.com/office/drawing/2014/main" val="580104427"/>
                        </a:ext>
                      </a:extLst>
                    </a:gridCol>
                    <a:gridCol w="456625">
                      <a:extLst>
                        <a:ext uri="{9D8B030D-6E8A-4147-A177-3AD203B41FA5}">
                          <a16:colId xmlns:a16="http://schemas.microsoft.com/office/drawing/2014/main" val="2236421446"/>
                        </a:ext>
                      </a:extLst>
                    </a:gridCol>
                    <a:gridCol w="492364">
                      <a:extLst>
                        <a:ext uri="{9D8B030D-6E8A-4147-A177-3AD203B41FA5}">
                          <a16:colId xmlns:a16="http://schemas.microsoft.com/office/drawing/2014/main" val="1365118493"/>
                        </a:ext>
                      </a:extLst>
                    </a:gridCol>
                    <a:gridCol w="498811">
                      <a:extLst>
                        <a:ext uri="{9D8B030D-6E8A-4147-A177-3AD203B41FA5}">
                          <a16:colId xmlns:a16="http://schemas.microsoft.com/office/drawing/2014/main" val="2369754992"/>
                        </a:ext>
                      </a:extLst>
                    </a:gridCol>
                  </a:tblGrid>
                  <a:tr h="64008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PRESENT STATE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OUT PUT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FLIP</a:t>
                          </a:r>
                          <a:r>
                            <a:rPr lang="en-US" sz="1800" baseline="0" dirty="0" smtClean="0">
                              <a:solidFill>
                                <a:schemeClr val="tx1"/>
                              </a:solidFill>
                            </a:rPr>
                            <a:t> FLOP INPUTS</a:t>
                          </a:r>
                          <a:endParaRPr lang="en-US" sz="18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411757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538" t="-183333" r="-955385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15789" t="-183333" r="-989474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70833" t="-183333" r="-683333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36207" t="-183333" r="-748276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36449" t="-183333" r="-305607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23529" t="-183333" r="-284706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593333" t="-183333" r="-222667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41975" t="-183333" r="-106173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32927" t="-183333" r="-4878" b="-10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190455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698609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601107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5896525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16766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458181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5752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87482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445081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49493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55360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912853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BCD COUNTER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365125"/>
            <a:ext cx="5613400" cy="22879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12" y="2653051"/>
            <a:ext cx="4676775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6869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5600" y="2511425"/>
            <a:ext cx="2311400" cy="1325563"/>
          </a:xfrm>
        </p:spPr>
        <p:txBody>
          <a:bodyPr/>
          <a:lstStyle/>
          <a:p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3156577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1108</TotalTime>
  <Words>1593</Words>
  <Application>Microsoft Office PowerPoint</Application>
  <PresentationFormat>Widescreen</PresentationFormat>
  <Paragraphs>1392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Office Theme</vt:lpstr>
      <vt:lpstr>4-BIT UP/DOWN COUNTER  BCD SYNCHRONOUS COUNTER </vt:lpstr>
      <vt:lpstr>4-BIT UP/DOWN COUNTER </vt:lpstr>
      <vt:lpstr>4-BIT UP COUNTER </vt:lpstr>
      <vt:lpstr>4-BIT DOWN COUNTER </vt:lpstr>
      <vt:lpstr>4-BIT  UP/DOWN  COUNTER </vt:lpstr>
      <vt:lpstr>4-BIT UP/DOWN COUNTER </vt:lpstr>
      <vt:lpstr>4-BIT  UP/DOWN  COUNTER </vt:lpstr>
      <vt:lpstr>4-BIT UP/DOWN COUNTER </vt:lpstr>
      <vt:lpstr>4-BIT UP/DOWN COUNTER </vt:lpstr>
      <vt:lpstr>4-BIT  UP/DOWN  COUNTER </vt:lpstr>
      <vt:lpstr>4-BIT UP/DOWN COUNTER </vt:lpstr>
      <vt:lpstr>4-BIT UP/DOWN COUNTER </vt:lpstr>
      <vt:lpstr>4-BIT  UP/DOWN  COUNTER </vt:lpstr>
      <vt:lpstr>4-BIT UP/DOWN COUNTER </vt:lpstr>
      <vt:lpstr>THANKS</vt:lpstr>
      <vt:lpstr>BCD COUNTER</vt:lpstr>
      <vt:lpstr>BCD COUNTER</vt:lpstr>
      <vt:lpstr>BCD COUNTER</vt:lpstr>
      <vt:lpstr>BCD COUNTER</vt:lpstr>
      <vt:lpstr>BCD COUNTER</vt:lpstr>
      <vt:lpstr>BCD COUNTER</vt:lpstr>
      <vt:lpstr>BCD COUNTER</vt:lpstr>
      <vt:lpstr>BCD COUNTER</vt:lpstr>
      <vt:lpstr>BCD COUNTER</vt:lpstr>
      <vt:lpstr>BCD COUNTER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4-BIT UP/DOWN COUNTER  BCD SYNCHRONOUS COUNTER </dc:title>
  <dc:creator>Windows User</dc:creator>
  <cp:lastModifiedBy>Shams Farooq</cp:lastModifiedBy>
  <cp:revision>44</cp:revision>
  <dcterms:created xsi:type="dcterms:W3CDTF">2020-05-01T03:30:21Z</dcterms:created>
  <dcterms:modified xsi:type="dcterms:W3CDTF">2022-06-06T03:22:48Z</dcterms:modified>
</cp:coreProperties>
</file>