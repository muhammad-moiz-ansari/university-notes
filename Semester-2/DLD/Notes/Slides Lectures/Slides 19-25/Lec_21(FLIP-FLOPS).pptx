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0"/>
  </p:notesMasterIdLst>
  <p:sldIdLst>
    <p:sldId id="300" r:id="rId2"/>
    <p:sldId id="352" r:id="rId3"/>
    <p:sldId id="353" r:id="rId4"/>
    <p:sldId id="381" r:id="rId5"/>
    <p:sldId id="379" r:id="rId6"/>
    <p:sldId id="380" r:id="rId7"/>
    <p:sldId id="382" r:id="rId8"/>
    <p:sldId id="383" r:id="rId9"/>
    <p:sldId id="384" r:id="rId10"/>
    <p:sldId id="387" r:id="rId11"/>
    <p:sldId id="386" r:id="rId12"/>
    <p:sldId id="385" r:id="rId13"/>
    <p:sldId id="388" r:id="rId14"/>
    <p:sldId id="394" r:id="rId15"/>
    <p:sldId id="389" r:id="rId16"/>
    <p:sldId id="404" r:id="rId17"/>
    <p:sldId id="396" r:id="rId18"/>
    <p:sldId id="390" r:id="rId19"/>
    <p:sldId id="399" r:id="rId20"/>
    <p:sldId id="400" r:id="rId21"/>
    <p:sldId id="401" r:id="rId22"/>
    <p:sldId id="405" r:id="rId23"/>
    <p:sldId id="402" r:id="rId24"/>
    <p:sldId id="406" r:id="rId25"/>
    <p:sldId id="395" r:id="rId26"/>
    <p:sldId id="392" r:id="rId27"/>
    <p:sldId id="407" r:id="rId28"/>
    <p:sldId id="408" r:id="rId29"/>
    <p:sldId id="410" r:id="rId30"/>
    <p:sldId id="411" r:id="rId31"/>
    <p:sldId id="412" r:id="rId32"/>
    <p:sldId id="409" r:id="rId33"/>
    <p:sldId id="393" r:id="rId34"/>
    <p:sldId id="413" r:id="rId35"/>
    <p:sldId id="414" r:id="rId36"/>
    <p:sldId id="391" r:id="rId37"/>
    <p:sldId id="415" r:id="rId38"/>
    <p:sldId id="418" r:id="rId39"/>
    <p:sldId id="416" r:id="rId40"/>
    <p:sldId id="417" r:id="rId41"/>
    <p:sldId id="419" r:id="rId42"/>
    <p:sldId id="420" r:id="rId43"/>
    <p:sldId id="421" r:id="rId44"/>
    <p:sldId id="424" r:id="rId45"/>
    <p:sldId id="425" r:id="rId46"/>
    <p:sldId id="426" r:id="rId47"/>
    <p:sldId id="427" r:id="rId48"/>
    <p:sldId id="423" r:id="rId49"/>
    <p:sldId id="447" r:id="rId50"/>
    <p:sldId id="428" r:id="rId51"/>
    <p:sldId id="429" r:id="rId52"/>
    <p:sldId id="430" r:id="rId53"/>
    <p:sldId id="431" r:id="rId54"/>
    <p:sldId id="432" r:id="rId55"/>
    <p:sldId id="448" r:id="rId56"/>
    <p:sldId id="434" r:id="rId57"/>
    <p:sldId id="435" r:id="rId58"/>
    <p:sldId id="436" r:id="rId59"/>
    <p:sldId id="437" r:id="rId60"/>
    <p:sldId id="438" r:id="rId61"/>
    <p:sldId id="439" r:id="rId62"/>
    <p:sldId id="449" r:id="rId63"/>
    <p:sldId id="440" r:id="rId64"/>
    <p:sldId id="441" r:id="rId65"/>
    <p:sldId id="442" r:id="rId66"/>
    <p:sldId id="443" r:id="rId67"/>
    <p:sldId id="444" r:id="rId68"/>
    <p:sldId id="445" r:id="rId69"/>
    <p:sldId id="450" r:id="rId70"/>
    <p:sldId id="446" r:id="rId71"/>
    <p:sldId id="422" r:id="rId72"/>
    <p:sldId id="510" r:id="rId73"/>
    <p:sldId id="511" r:id="rId74"/>
    <p:sldId id="512" r:id="rId75"/>
    <p:sldId id="513" r:id="rId76"/>
    <p:sldId id="451" r:id="rId77"/>
    <p:sldId id="452" r:id="rId78"/>
    <p:sldId id="453" r:id="rId79"/>
    <p:sldId id="454" r:id="rId80"/>
    <p:sldId id="455" r:id="rId81"/>
    <p:sldId id="457" r:id="rId82"/>
    <p:sldId id="458" r:id="rId83"/>
    <p:sldId id="464" r:id="rId84"/>
    <p:sldId id="466" r:id="rId85"/>
    <p:sldId id="467" r:id="rId86"/>
    <p:sldId id="462" r:id="rId87"/>
    <p:sldId id="456" r:id="rId88"/>
    <p:sldId id="468" r:id="rId89"/>
    <p:sldId id="469" r:id="rId90"/>
    <p:sldId id="470" r:id="rId91"/>
    <p:sldId id="471" r:id="rId92"/>
    <p:sldId id="472" r:id="rId93"/>
    <p:sldId id="473" r:id="rId94"/>
    <p:sldId id="474" r:id="rId95"/>
    <p:sldId id="475" r:id="rId96"/>
    <p:sldId id="476" r:id="rId97"/>
    <p:sldId id="477" r:id="rId98"/>
    <p:sldId id="507" r:id="rId99"/>
    <p:sldId id="478" r:id="rId100"/>
    <p:sldId id="479" r:id="rId101"/>
    <p:sldId id="480" r:id="rId102"/>
    <p:sldId id="481" r:id="rId103"/>
    <p:sldId id="482" r:id="rId104"/>
    <p:sldId id="483" r:id="rId105"/>
    <p:sldId id="484" r:id="rId106"/>
    <p:sldId id="485" r:id="rId107"/>
    <p:sldId id="486" r:id="rId108"/>
    <p:sldId id="487" r:id="rId109"/>
    <p:sldId id="488" r:id="rId110"/>
    <p:sldId id="489" r:id="rId111"/>
    <p:sldId id="490" r:id="rId112"/>
    <p:sldId id="491" r:id="rId113"/>
    <p:sldId id="492" r:id="rId114"/>
    <p:sldId id="493" r:id="rId115"/>
    <p:sldId id="494" r:id="rId116"/>
    <p:sldId id="495" r:id="rId117"/>
    <p:sldId id="496" r:id="rId118"/>
    <p:sldId id="497" r:id="rId119"/>
    <p:sldId id="498" r:id="rId120"/>
    <p:sldId id="508" r:id="rId121"/>
    <p:sldId id="499" r:id="rId122"/>
    <p:sldId id="509" r:id="rId123"/>
    <p:sldId id="500" r:id="rId124"/>
    <p:sldId id="501" r:id="rId125"/>
    <p:sldId id="503" r:id="rId126"/>
    <p:sldId id="505" r:id="rId127"/>
    <p:sldId id="504" r:id="rId128"/>
    <p:sldId id="506" r:id="rId1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660"/>
  </p:normalViewPr>
  <p:slideViewPr>
    <p:cSldViewPr snapToGrid="0">
      <p:cViewPr varScale="1">
        <p:scale>
          <a:sx n="77" d="100"/>
          <a:sy n="77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13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B2F44B-E2EA-4F3F-9234-72F69429E4B9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A258B-1E8D-478C-9F1D-A5C830568B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463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C7BDD3EA-D0D5-4E56-9868-C08CBD1AEAFA}" type="slidenum">
              <a:rPr lang="en-GB" sz="1200" smtClean="0">
                <a:solidFill>
                  <a:srgbClr val="000000"/>
                </a:solidFill>
              </a:rPr>
              <a:pPr eaLnBrk="1" hangingPunct="1"/>
              <a:t>6</a:t>
            </a:fld>
            <a:endParaRPr lang="en-GB" sz="1200" dirty="0">
              <a:solidFill>
                <a:srgbClr val="000000"/>
              </a:solidFill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4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5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083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747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77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726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254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0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848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261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56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39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481D1-A66D-46FF-8ED9-6BF8EE929798}" type="datetimeFigureOut">
              <a:rPr lang="en-US" smtClean="0"/>
              <a:t>4/23/2024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6E25C-E0B0-4DE7-935D-411BEF28EF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59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7" Type="http://schemas.openxmlformats.org/officeDocument/2006/relationships/image" Target="../media/image7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24.emf"/><Relationship Id="rId4" Type="http://schemas.openxmlformats.org/officeDocument/2006/relationships/oleObject" Target="../embeddings/oleObject3.bin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1.png"/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5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2" Type="http://schemas.openxmlformats.org/officeDocument/2006/relationships/image" Target="../media/image1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5865" y="1122363"/>
            <a:ext cx="9144000" cy="2154237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SEQUENTIAL CIRCUIT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46900" y="3276600"/>
            <a:ext cx="2342465" cy="99060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3200" dirty="0"/>
              <a:t>Flip Flops</a:t>
            </a:r>
          </a:p>
        </p:txBody>
      </p:sp>
    </p:spTree>
    <p:extLst>
      <p:ext uri="{BB962C8B-B14F-4D97-AF65-F5344CB8AC3E}">
        <p14:creationId xmlns:p14="http://schemas.microsoft.com/office/powerpoint/2010/main" val="1905414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5443"/>
            <a:ext cx="42672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GATED D LATCH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854201"/>
            <a:ext cx="6438900" cy="1041400"/>
          </a:xfrm>
        </p:spPr>
        <p:txBody>
          <a:bodyPr>
            <a:normAutofit/>
          </a:bodyPr>
          <a:lstStyle/>
          <a:p>
            <a:r>
              <a:rPr lang="en-US" dirty="0"/>
              <a:t>Gated D latch is called Transparent Latch.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271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5443"/>
            <a:ext cx="42672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GATED D LATCH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3899" y="2488406"/>
            <a:ext cx="4776119" cy="2832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333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GATED D LATCH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3193001"/>
                  </p:ext>
                </p:extLst>
              </p:nvPr>
            </p:nvGraphicFramePr>
            <p:xfrm>
              <a:off x="2667000" y="2232024"/>
              <a:ext cx="5146764" cy="272505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86691">
                      <a:extLst>
                        <a:ext uri="{9D8B030D-6E8A-4147-A177-3AD203B41FA5}">
                          <a16:colId xmlns:a16="http://schemas.microsoft.com/office/drawing/2014/main" val="3344478847"/>
                        </a:ext>
                      </a:extLst>
                    </a:gridCol>
                    <a:gridCol w="1286691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286691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286691">
                      <a:extLst>
                        <a:ext uri="{9D8B030D-6E8A-4147-A177-3AD203B41FA5}">
                          <a16:colId xmlns:a16="http://schemas.microsoft.com/office/drawing/2014/main" val="482435044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𝐭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61695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3193001"/>
                  </p:ext>
                </p:extLst>
              </p:nvPr>
            </p:nvGraphicFramePr>
            <p:xfrm>
              <a:off x="2667000" y="2232024"/>
              <a:ext cx="5146764" cy="272505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86691">
                      <a:extLst>
                        <a:ext uri="{9D8B030D-6E8A-4147-A177-3AD203B41FA5}">
                          <a16:colId xmlns:a16="http://schemas.microsoft.com/office/drawing/2014/main" val="3344478847"/>
                        </a:ext>
                      </a:extLst>
                    </a:gridCol>
                    <a:gridCol w="1286691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286691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286691">
                      <a:extLst>
                        <a:ext uri="{9D8B030D-6E8A-4147-A177-3AD203B41FA5}">
                          <a16:colId xmlns:a16="http://schemas.microsoft.com/office/drawing/2014/main" val="482435044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EN</a:t>
                          </a:r>
                          <a:endParaRPr lang="en-US" sz="28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D</a:t>
                          </a:r>
                          <a:endParaRPr lang="en-US" sz="28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48" t="-746" r="-101896" b="-239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948" t="-746" r="-1896" b="-2395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X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48" t="-128571" r="-101896" b="-2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948" t="-128571" r="-1896" b="-2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1695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3251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GATED D LATCH TABLE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73101015"/>
                  </p:ext>
                </p:extLst>
              </p:nvPr>
            </p:nvGraphicFramePr>
            <p:xfrm>
              <a:off x="3670300" y="2422524"/>
              <a:ext cx="3860073" cy="272505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86691">
                      <a:extLst>
                        <a:ext uri="{9D8B030D-6E8A-4147-A177-3AD203B41FA5}">
                          <a16:colId xmlns:a16="http://schemas.microsoft.com/office/drawing/2014/main" val="3344478847"/>
                        </a:ext>
                      </a:extLst>
                    </a:gridCol>
                    <a:gridCol w="1286691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286691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461695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73101015"/>
                  </p:ext>
                </p:extLst>
              </p:nvPr>
            </p:nvGraphicFramePr>
            <p:xfrm>
              <a:off x="3670300" y="2422524"/>
              <a:ext cx="3860073" cy="272505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86691">
                      <a:extLst>
                        <a:ext uri="{9D8B030D-6E8A-4147-A177-3AD203B41FA5}">
                          <a16:colId xmlns:a16="http://schemas.microsoft.com/office/drawing/2014/main" val="3344478847"/>
                        </a:ext>
                      </a:extLst>
                    </a:gridCol>
                    <a:gridCol w="1286691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286691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EN</a:t>
                          </a:r>
                          <a:endParaRPr lang="en-US" sz="28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D</a:t>
                          </a:r>
                          <a:endParaRPr lang="en-US" sz="28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48" t="-746" r="-1896" b="-2402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X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948" t="-128571" r="-1896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1695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2793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9256" y="465817"/>
            <a:ext cx="7815943" cy="1143000"/>
          </a:xfrm>
        </p:spPr>
        <p:txBody>
          <a:bodyPr/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TIMING DIAGRAM D LATCH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3170608"/>
                  </p:ext>
                </p:extLst>
              </p:nvPr>
            </p:nvGraphicFramePr>
            <p:xfrm>
              <a:off x="9932127" y="4296683"/>
              <a:ext cx="2259873" cy="1896383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53291">
                      <a:extLst>
                        <a:ext uri="{9D8B030D-6E8A-4147-A177-3AD203B41FA5}">
                          <a16:colId xmlns:a16="http://schemas.microsoft.com/office/drawing/2014/main" val="3206523816"/>
                        </a:ext>
                      </a:extLst>
                    </a:gridCol>
                    <a:gridCol w="753291">
                      <a:extLst>
                        <a:ext uri="{9D8B030D-6E8A-4147-A177-3AD203B41FA5}">
                          <a16:colId xmlns:a16="http://schemas.microsoft.com/office/drawing/2014/main" val="1681665303"/>
                        </a:ext>
                      </a:extLst>
                    </a:gridCol>
                    <a:gridCol w="753291">
                      <a:extLst>
                        <a:ext uri="{9D8B030D-6E8A-4147-A177-3AD203B41FA5}">
                          <a16:colId xmlns:a16="http://schemas.microsoft.com/office/drawing/2014/main" val="3420218693"/>
                        </a:ext>
                      </a:extLst>
                    </a:gridCol>
                  </a:tblGrid>
                  <a:tr h="567842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EN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0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4066892"/>
                      </a:ext>
                    </a:extLst>
                  </a:tr>
                  <a:tr h="44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0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29535941"/>
                      </a:ext>
                    </a:extLst>
                  </a:tr>
                  <a:tr h="44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3271370"/>
                      </a:ext>
                    </a:extLst>
                  </a:tr>
                  <a:tr h="44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83484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3170608"/>
                  </p:ext>
                </p:extLst>
              </p:nvPr>
            </p:nvGraphicFramePr>
            <p:xfrm>
              <a:off x="9932127" y="4296683"/>
              <a:ext cx="2259873" cy="1896383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53291">
                      <a:extLst>
                        <a:ext uri="{9D8B030D-6E8A-4147-A177-3AD203B41FA5}">
                          <a16:colId xmlns:a16="http://schemas.microsoft.com/office/drawing/2014/main" val="3206523816"/>
                        </a:ext>
                      </a:extLst>
                    </a:gridCol>
                    <a:gridCol w="753291">
                      <a:extLst>
                        <a:ext uri="{9D8B030D-6E8A-4147-A177-3AD203B41FA5}">
                          <a16:colId xmlns:a16="http://schemas.microsoft.com/office/drawing/2014/main" val="1681665303"/>
                        </a:ext>
                      </a:extLst>
                    </a:gridCol>
                    <a:gridCol w="753291">
                      <a:extLst>
                        <a:ext uri="{9D8B030D-6E8A-4147-A177-3AD203B41FA5}">
                          <a16:colId xmlns:a16="http://schemas.microsoft.com/office/drawing/2014/main" val="3420218693"/>
                        </a:ext>
                      </a:extLst>
                    </a:gridCol>
                  </a:tblGrid>
                  <a:tr h="567842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EN</a:t>
                          </a:r>
                          <a:endParaRPr 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D</a:t>
                          </a:r>
                          <a:endParaRPr lang="en-US" sz="20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1075" r="-4032" b="-250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4066892"/>
                      </a:ext>
                    </a:extLst>
                  </a:tr>
                  <a:tr h="44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X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000" t="-128767" r="-4032" b="-2191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9535941"/>
                      </a:ext>
                    </a:extLst>
                  </a:tr>
                  <a:tr h="44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0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0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13271370"/>
                      </a:ext>
                    </a:extLst>
                  </a:tr>
                  <a:tr h="4428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 smtClean="0"/>
                            <a:t>1</a:t>
                          </a:r>
                          <a:endParaRPr lang="en-US" sz="2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0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0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834845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74" y="2209799"/>
            <a:ext cx="8188325" cy="4059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118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544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SEQUENTIAL CIRCUIT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9400"/>
            <a:ext cx="10515600" cy="18033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Sequential circuit is a combination circuit with memory</a:t>
            </a:r>
          </a:p>
          <a:p>
            <a:endParaRPr lang="en-US" dirty="0"/>
          </a:p>
          <a:p>
            <a:r>
              <a:rPr lang="en-US" dirty="0"/>
              <a:t>Sequential circuit is specified by a time sequence of inputs, outputs, and internal states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037" y="3835400"/>
            <a:ext cx="7248525" cy="206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753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544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SEQUENTIAL CIRCUIT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2622550"/>
            <a:ext cx="83439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0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1525"/>
            <a:ext cx="10515600" cy="1082675"/>
          </a:xfrm>
        </p:spPr>
        <p:txBody>
          <a:bodyPr>
            <a:normAutofit/>
          </a:bodyPr>
          <a:lstStyle/>
          <a:p>
            <a:r>
              <a:rPr lang="en-US" dirty="0"/>
              <a:t>The state of a latch or flip-flop is switched by a change in the control input. This momentary change is called a trigger</a:t>
            </a:r>
          </a:p>
        </p:txBody>
      </p:sp>
    </p:spTree>
    <p:extLst>
      <p:ext uri="{BB962C8B-B14F-4D97-AF65-F5344CB8AC3E}">
        <p14:creationId xmlns:p14="http://schemas.microsoft.com/office/powerpoint/2010/main" val="2164565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5308600"/>
          </a:xfrm>
        </p:spPr>
        <p:txBody>
          <a:bodyPr/>
          <a:lstStyle/>
          <a:p>
            <a:r>
              <a:rPr lang="en-US" dirty="0"/>
              <a:t>Positive Clock Level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Positive Clock Edge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Negative Clock Edge</a:t>
            </a:r>
          </a:p>
          <a:p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1938337"/>
            <a:ext cx="7124700" cy="1000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3493293"/>
            <a:ext cx="7067550" cy="885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162" y="5068093"/>
            <a:ext cx="713422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36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FLIP 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1525"/>
            <a:ext cx="10515600" cy="1908175"/>
          </a:xfrm>
        </p:spPr>
        <p:txBody>
          <a:bodyPr>
            <a:noAutofit/>
          </a:bodyPr>
          <a:lstStyle/>
          <a:p>
            <a:r>
              <a:rPr lang="en-US" dirty="0"/>
              <a:t>The latch with pulses in its control input is essentially a </a:t>
            </a:r>
            <a:r>
              <a:rPr lang="en-US" b="1" i="1" dirty="0"/>
              <a:t>FLIP-FLOP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i="1" dirty="0"/>
              <a:t>FLIP-FLOP</a:t>
            </a:r>
            <a:r>
              <a:rPr lang="en-US" dirty="0"/>
              <a:t>  is triggered every time the pulse goes to the logic-1 level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11983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544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SEQUENTIAL CIRCUIT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050" y="2470150"/>
            <a:ext cx="83439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54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Edge Triggered D FLIP FLOP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1525"/>
            <a:ext cx="10515600" cy="1908175"/>
          </a:xfrm>
        </p:spPr>
        <p:txBody>
          <a:bodyPr>
            <a:noAutofit/>
          </a:bodyPr>
          <a:lstStyle/>
          <a:p>
            <a:r>
              <a:rPr lang="en-US" b="1" i="1" dirty="0"/>
              <a:t>Master Slave FLIP-FLOP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i="1" dirty="0"/>
              <a:t>Positive Edge Triggered FLIP-FLOP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70352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CLOCK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5308600"/>
          </a:xfrm>
        </p:spPr>
        <p:txBody>
          <a:bodyPr/>
          <a:lstStyle/>
          <a:p>
            <a:r>
              <a:rPr lang="en-US" dirty="0"/>
              <a:t>Positive Clock Level</a:t>
            </a:r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Negative Clock Edge</a:t>
            </a:r>
          </a:p>
          <a:p>
            <a:endParaRPr lang="en-US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1938337"/>
            <a:ext cx="7124700" cy="1000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162" y="5068093"/>
            <a:ext cx="713422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2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D-FLIP-FLOP</a:t>
            </a:r>
            <a:r>
              <a:rPr lang="en-US" sz="3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(NEGATIVE EDGE TRIGGERED)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49" y="1993900"/>
            <a:ext cx="943437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31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(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NEGATIVE EDGE TRIGGERED)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2120673"/>
            <a:ext cx="47053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23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5517243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21" y="2516414"/>
            <a:ext cx="9434377" cy="3352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9552288"/>
                  </p:ext>
                </p:extLst>
              </p:nvPr>
            </p:nvGraphicFramePr>
            <p:xfrm>
              <a:off x="6988627" y="188686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3043544898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004407841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64435649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238265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731552684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868362463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1317498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832154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3320348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endParaRPr lang="en-US" b="1" i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1041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9552288"/>
                  </p:ext>
                </p:extLst>
              </p:nvPr>
            </p:nvGraphicFramePr>
            <p:xfrm>
              <a:off x="6988627" y="188686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3043544898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004407841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64435649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238265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731552684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868362463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1317498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741" t="-101136" r="-302222" b="-2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2985" t="-101136" r="-204478" b="-2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0000" t="-101136" r="-102963" b="-2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0000" t="-101136" r="-2963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832154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3320348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endParaRPr lang="en-US" b="1" i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710414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694945" y="5690441"/>
                <a:ext cx="1052712" cy="462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𝐶𝐿𝐾</m:t>
                          </m:r>
                          <m:r>
                            <m:rPr>
                              <m:nor/>
                            </m:r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945" y="5690441"/>
                <a:ext cx="1052712" cy="462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3439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972557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1" i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7972557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273" r="-302963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273" r="-20522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273" r="-10370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273" r="-3704" b="-20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1" i="1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Group 22"/>
          <p:cNvGrpSpPr/>
          <p:nvPr/>
        </p:nvGrpSpPr>
        <p:grpSpPr>
          <a:xfrm>
            <a:off x="977781" y="2730023"/>
            <a:ext cx="9648825" cy="3688421"/>
            <a:chOff x="963267" y="2396194"/>
            <a:chExt cx="9648825" cy="368842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3267" y="2396194"/>
              <a:ext cx="9648825" cy="3228975"/>
            </a:xfrm>
            <a:prstGeom prst="rect">
              <a:avLst/>
            </a:prstGeom>
          </p:spPr>
        </p:pic>
        <p:grpSp>
          <p:nvGrpSpPr>
            <p:cNvPr id="22" name="Group 21"/>
            <p:cNvGrpSpPr/>
            <p:nvPr/>
          </p:nvGrpSpPr>
          <p:grpSpPr>
            <a:xfrm>
              <a:off x="5162011" y="5394050"/>
              <a:ext cx="884011" cy="659746"/>
              <a:chOff x="5162011" y="5394050"/>
              <a:chExt cx="884011" cy="659746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5162011" y="552992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701864" y="5394050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1864427" y="5394050"/>
              <a:ext cx="846818" cy="690565"/>
              <a:chOff x="1864427" y="5394050"/>
              <a:chExt cx="846818" cy="690565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64427" y="539405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2367087" y="5655988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4" name="Oval 23"/>
          <p:cNvSpPr/>
          <p:nvPr/>
        </p:nvSpPr>
        <p:spPr>
          <a:xfrm>
            <a:off x="2888343" y="2191657"/>
            <a:ext cx="3860800" cy="31205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453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079664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47079664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273" r="-302963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273" r="-20522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273" r="-10370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273" r="-3704" b="-20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Group 22"/>
          <p:cNvGrpSpPr/>
          <p:nvPr/>
        </p:nvGrpSpPr>
        <p:grpSpPr>
          <a:xfrm>
            <a:off x="977781" y="2730023"/>
            <a:ext cx="9648825" cy="3688421"/>
            <a:chOff x="963267" y="2396194"/>
            <a:chExt cx="9648825" cy="368842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3267" y="2396194"/>
              <a:ext cx="9648825" cy="3228975"/>
            </a:xfrm>
            <a:prstGeom prst="rect">
              <a:avLst/>
            </a:prstGeom>
          </p:spPr>
        </p:pic>
        <p:grpSp>
          <p:nvGrpSpPr>
            <p:cNvPr id="22" name="Group 21"/>
            <p:cNvGrpSpPr/>
            <p:nvPr/>
          </p:nvGrpSpPr>
          <p:grpSpPr>
            <a:xfrm>
              <a:off x="5162011" y="5394050"/>
              <a:ext cx="884011" cy="659746"/>
              <a:chOff x="5162011" y="5394050"/>
              <a:chExt cx="884011" cy="659746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5162011" y="552992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701864" y="5394050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1864427" y="5394050"/>
              <a:ext cx="846818" cy="690565"/>
              <a:chOff x="1864427" y="5394050"/>
              <a:chExt cx="846818" cy="690565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64427" y="539405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2367087" y="5655988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8313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0746157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0746157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273" r="-302963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273" r="-20522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273" r="-10370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273" r="-3704" b="-20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204598" r="-302963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Group 22"/>
          <p:cNvGrpSpPr/>
          <p:nvPr/>
        </p:nvGrpSpPr>
        <p:grpSpPr>
          <a:xfrm>
            <a:off x="977781" y="2730023"/>
            <a:ext cx="9648825" cy="3688421"/>
            <a:chOff x="963267" y="2396194"/>
            <a:chExt cx="9648825" cy="368842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3267" y="2396194"/>
              <a:ext cx="9648825" cy="3228975"/>
            </a:xfrm>
            <a:prstGeom prst="rect">
              <a:avLst/>
            </a:prstGeom>
          </p:spPr>
        </p:pic>
        <p:grpSp>
          <p:nvGrpSpPr>
            <p:cNvPr id="22" name="Group 21"/>
            <p:cNvGrpSpPr/>
            <p:nvPr/>
          </p:nvGrpSpPr>
          <p:grpSpPr>
            <a:xfrm>
              <a:off x="5162011" y="5394050"/>
              <a:ext cx="884011" cy="659746"/>
              <a:chOff x="5162011" y="5394050"/>
              <a:chExt cx="884011" cy="659746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5162011" y="552992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701864" y="5394050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1864427" y="5394050"/>
              <a:ext cx="846818" cy="690565"/>
              <a:chOff x="1864427" y="5394050"/>
              <a:chExt cx="846818" cy="690565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64427" y="539405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2367087" y="5655988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01302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791853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791853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273" r="-302963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273" r="-20522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273" r="-10370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273" r="-3704" b="-20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204598" r="-302963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Group 22"/>
          <p:cNvGrpSpPr/>
          <p:nvPr/>
        </p:nvGrpSpPr>
        <p:grpSpPr>
          <a:xfrm>
            <a:off x="977781" y="2730023"/>
            <a:ext cx="9648825" cy="3688421"/>
            <a:chOff x="963267" y="2396194"/>
            <a:chExt cx="9648825" cy="368842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3267" y="2396194"/>
              <a:ext cx="9648825" cy="3228975"/>
            </a:xfrm>
            <a:prstGeom prst="rect">
              <a:avLst/>
            </a:prstGeom>
          </p:spPr>
        </p:pic>
        <p:grpSp>
          <p:nvGrpSpPr>
            <p:cNvPr id="22" name="Group 21"/>
            <p:cNvGrpSpPr/>
            <p:nvPr/>
          </p:nvGrpSpPr>
          <p:grpSpPr>
            <a:xfrm>
              <a:off x="5162011" y="5394050"/>
              <a:ext cx="884011" cy="659746"/>
              <a:chOff x="5162011" y="5394050"/>
              <a:chExt cx="884011" cy="659746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5162011" y="552992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701864" y="5394050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1864427" y="5394050"/>
              <a:ext cx="846818" cy="690565"/>
              <a:chOff x="1864427" y="5394050"/>
              <a:chExt cx="846818" cy="690565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64427" y="539405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2367087" y="5655988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1785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6853926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6853926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273" r="-302963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273" r="-20522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273" r="-10370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273" r="-3704" b="-20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204598" r="-302963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 smtClean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Group 22"/>
          <p:cNvGrpSpPr/>
          <p:nvPr/>
        </p:nvGrpSpPr>
        <p:grpSpPr>
          <a:xfrm>
            <a:off x="977781" y="2730023"/>
            <a:ext cx="9648825" cy="3688421"/>
            <a:chOff x="963267" y="2396194"/>
            <a:chExt cx="9648825" cy="368842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3267" y="2396194"/>
              <a:ext cx="9648825" cy="3228975"/>
            </a:xfrm>
            <a:prstGeom prst="rect">
              <a:avLst/>
            </a:prstGeom>
          </p:spPr>
        </p:pic>
        <p:grpSp>
          <p:nvGrpSpPr>
            <p:cNvPr id="22" name="Group 21"/>
            <p:cNvGrpSpPr/>
            <p:nvPr/>
          </p:nvGrpSpPr>
          <p:grpSpPr>
            <a:xfrm>
              <a:off x="5162011" y="5394050"/>
              <a:ext cx="884011" cy="659746"/>
              <a:chOff x="5162011" y="5394050"/>
              <a:chExt cx="884011" cy="659746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5162011" y="552992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701864" y="5394050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1864427" y="5394050"/>
              <a:ext cx="846818" cy="690565"/>
              <a:chOff x="1864427" y="5394050"/>
              <a:chExt cx="846818" cy="690565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64427" y="539405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2367087" y="5655988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0749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390514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390514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273" r="-302963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273" r="-20522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273" r="-10370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273" r="-3704" b="-20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204598" r="-302963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204598" r="-103704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 smtClean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Group 22"/>
          <p:cNvGrpSpPr/>
          <p:nvPr/>
        </p:nvGrpSpPr>
        <p:grpSpPr>
          <a:xfrm>
            <a:off x="977781" y="2730023"/>
            <a:ext cx="9648825" cy="3688421"/>
            <a:chOff x="963267" y="2396194"/>
            <a:chExt cx="9648825" cy="368842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3267" y="2396194"/>
              <a:ext cx="9648825" cy="3228975"/>
            </a:xfrm>
            <a:prstGeom prst="rect">
              <a:avLst/>
            </a:prstGeom>
          </p:spPr>
        </p:pic>
        <p:grpSp>
          <p:nvGrpSpPr>
            <p:cNvPr id="22" name="Group 21"/>
            <p:cNvGrpSpPr/>
            <p:nvPr/>
          </p:nvGrpSpPr>
          <p:grpSpPr>
            <a:xfrm>
              <a:off x="5162011" y="5394050"/>
              <a:ext cx="884011" cy="659746"/>
              <a:chOff x="5162011" y="5394050"/>
              <a:chExt cx="884011" cy="659746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5162011" y="552992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701864" y="5394050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1864427" y="5394050"/>
              <a:ext cx="846818" cy="690565"/>
              <a:chOff x="1864427" y="5394050"/>
              <a:chExt cx="846818" cy="690565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64427" y="539405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2367087" y="5655988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91256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6813535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6813535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273" r="-302963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273" r="-20522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273" r="-10370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273" r="-3704" b="-20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204598" r="-302963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204598" r="-103704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 smtClean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Group 22"/>
          <p:cNvGrpSpPr/>
          <p:nvPr/>
        </p:nvGrpSpPr>
        <p:grpSpPr>
          <a:xfrm>
            <a:off x="977781" y="2730023"/>
            <a:ext cx="9648825" cy="3688421"/>
            <a:chOff x="963267" y="2396194"/>
            <a:chExt cx="9648825" cy="368842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3267" y="2396194"/>
              <a:ext cx="9648825" cy="3228975"/>
            </a:xfrm>
            <a:prstGeom prst="rect">
              <a:avLst/>
            </a:prstGeom>
          </p:spPr>
        </p:pic>
        <p:grpSp>
          <p:nvGrpSpPr>
            <p:cNvPr id="22" name="Group 21"/>
            <p:cNvGrpSpPr/>
            <p:nvPr/>
          </p:nvGrpSpPr>
          <p:grpSpPr>
            <a:xfrm>
              <a:off x="5162011" y="5394050"/>
              <a:ext cx="884011" cy="659746"/>
              <a:chOff x="5162011" y="5394050"/>
              <a:chExt cx="884011" cy="659746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5162011" y="552992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701864" y="5394050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1864427" y="5394050"/>
              <a:ext cx="846818" cy="690565"/>
              <a:chOff x="1864427" y="5394050"/>
              <a:chExt cx="846818" cy="690565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64427" y="539405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2367087" y="5655988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8529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8330279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8330279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273" r="-302963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273" r="-20522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273" r="-10370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273" r="-3704" b="-20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204598" r="-302963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204598" r="-103704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204598" r="-3704" b="-1034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  <a:endParaRPr lang="en-US" b="1" i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3" name="Group 22"/>
          <p:cNvGrpSpPr/>
          <p:nvPr/>
        </p:nvGrpSpPr>
        <p:grpSpPr>
          <a:xfrm>
            <a:off x="977781" y="2730023"/>
            <a:ext cx="9648825" cy="3688421"/>
            <a:chOff x="963267" y="2396194"/>
            <a:chExt cx="9648825" cy="3688421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3267" y="2396194"/>
              <a:ext cx="9648825" cy="3228975"/>
            </a:xfrm>
            <a:prstGeom prst="rect">
              <a:avLst/>
            </a:prstGeom>
          </p:spPr>
        </p:pic>
        <p:grpSp>
          <p:nvGrpSpPr>
            <p:cNvPr id="22" name="Group 21"/>
            <p:cNvGrpSpPr/>
            <p:nvPr/>
          </p:nvGrpSpPr>
          <p:grpSpPr>
            <a:xfrm>
              <a:off x="5162011" y="5394050"/>
              <a:ext cx="884011" cy="659746"/>
              <a:chOff x="5162011" y="5394050"/>
              <a:chExt cx="884011" cy="659746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5162011" y="552992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701864" y="5394050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1864427" y="5394050"/>
              <a:ext cx="846818" cy="690565"/>
              <a:chOff x="1864427" y="5394050"/>
              <a:chExt cx="846818" cy="690565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64427" y="5394050"/>
                <a:ext cx="809625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2367087" y="5655988"/>
                <a:ext cx="344158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2543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749621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1" i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3749621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105" r="-302963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105" r="-20522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105" r="-10370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105" r="-3704" b="-20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dirty="0" smtClean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1" i="1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/>
          <p:cNvGrpSpPr/>
          <p:nvPr/>
        </p:nvGrpSpPr>
        <p:grpSpPr>
          <a:xfrm>
            <a:off x="1166049" y="2754045"/>
            <a:ext cx="9496425" cy="3707362"/>
            <a:chOff x="1166049" y="2754045"/>
            <a:chExt cx="9496425" cy="3707362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6049" y="2754045"/>
              <a:ext cx="9496425" cy="3219450"/>
            </a:xfrm>
            <a:prstGeom prst="rect">
              <a:avLst/>
            </a:prstGeom>
          </p:spPr>
        </p:pic>
        <p:grpSp>
          <p:nvGrpSpPr>
            <p:cNvPr id="16" name="Group 15"/>
            <p:cNvGrpSpPr/>
            <p:nvPr/>
          </p:nvGrpSpPr>
          <p:grpSpPr>
            <a:xfrm>
              <a:off x="5164163" y="5733317"/>
              <a:ext cx="930141" cy="728090"/>
              <a:chOff x="4984121" y="5595246"/>
              <a:chExt cx="930141" cy="728090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4984121" y="5595246"/>
                <a:ext cx="930141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112810" y="5894709"/>
                <a:ext cx="437667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1981832" y="5695253"/>
              <a:ext cx="1037139" cy="698824"/>
              <a:chOff x="1836689" y="5522405"/>
              <a:chExt cx="1037139" cy="698824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36689" y="5697353"/>
                <a:ext cx="1037139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1989801" y="5522405"/>
                <a:ext cx="466474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53247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701171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1" i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6701171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105" r="-302963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105" r="-20522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105" r="-10370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105" r="-3704" b="-20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 smtClean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1" i="1" dirty="0" smtClean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/>
          <p:cNvGrpSpPr/>
          <p:nvPr/>
        </p:nvGrpSpPr>
        <p:grpSpPr>
          <a:xfrm>
            <a:off x="1166049" y="2754045"/>
            <a:ext cx="9496425" cy="3707362"/>
            <a:chOff x="1166049" y="2754045"/>
            <a:chExt cx="9496425" cy="3707362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6049" y="2754045"/>
              <a:ext cx="9496425" cy="3219450"/>
            </a:xfrm>
            <a:prstGeom prst="rect">
              <a:avLst/>
            </a:prstGeom>
          </p:spPr>
        </p:pic>
        <p:grpSp>
          <p:nvGrpSpPr>
            <p:cNvPr id="16" name="Group 15"/>
            <p:cNvGrpSpPr/>
            <p:nvPr/>
          </p:nvGrpSpPr>
          <p:grpSpPr>
            <a:xfrm>
              <a:off x="5164163" y="5733317"/>
              <a:ext cx="930141" cy="728090"/>
              <a:chOff x="4984121" y="5595246"/>
              <a:chExt cx="930141" cy="728090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4984121" y="5595246"/>
                <a:ext cx="930141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112810" y="5894709"/>
                <a:ext cx="437667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1981832" y="5695253"/>
              <a:ext cx="1037139" cy="698824"/>
              <a:chOff x="1836689" y="5522405"/>
              <a:chExt cx="1037139" cy="698824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36689" y="5697353"/>
                <a:ext cx="1037139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1989801" y="5522405"/>
                <a:ext cx="466474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1314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617631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617631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105" r="-302963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105" r="-20522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105" r="-10370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105" r="-3704" b="-20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 smtClean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/>
          <p:cNvGrpSpPr/>
          <p:nvPr/>
        </p:nvGrpSpPr>
        <p:grpSpPr>
          <a:xfrm>
            <a:off x="1166049" y="2754045"/>
            <a:ext cx="9496425" cy="3707362"/>
            <a:chOff x="1166049" y="2754045"/>
            <a:chExt cx="9496425" cy="3707362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6049" y="2754045"/>
              <a:ext cx="9496425" cy="3219450"/>
            </a:xfrm>
            <a:prstGeom prst="rect">
              <a:avLst/>
            </a:prstGeom>
          </p:spPr>
        </p:pic>
        <p:grpSp>
          <p:nvGrpSpPr>
            <p:cNvPr id="16" name="Group 15"/>
            <p:cNvGrpSpPr/>
            <p:nvPr/>
          </p:nvGrpSpPr>
          <p:grpSpPr>
            <a:xfrm>
              <a:off x="5164163" y="5733317"/>
              <a:ext cx="930141" cy="728090"/>
              <a:chOff x="4984121" y="5595246"/>
              <a:chExt cx="930141" cy="728090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4984121" y="5595246"/>
                <a:ext cx="930141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112810" y="5894709"/>
                <a:ext cx="437667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1981832" y="5695253"/>
              <a:ext cx="1037139" cy="698824"/>
              <a:chOff x="1836689" y="5522405"/>
              <a:chExt cx="1037139" cy="698824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36689" y="5697353"/>
                <a:ext cx="1037139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1989801" y="5522405"/>
                <a:ext cx="466474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1605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4755946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4755946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105" r="-302963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105" r="-20522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105" r="-10370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105" r="-3704" b="-20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200000" r="-3704" b="-1010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 smtClean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/>
          <p:cNvGrpSpPr/>
          <p:nvPr/>
        </p:nvGrpSpPr>
        <p:grpSpPr>
          <a:xfrm>
            <a:off x="1166049" y="2754045"/>
            <a:ext cx="9496425" cy="3707362"/>
            <a:chOff x="1166049" y="2754045"/>
            <a:chExt cx="9496425" cy="3707362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6049" y="2754045"/>
              <a:ext cx="9496425" cy="3219450"/>
            </a:xfrm>
            <a:prstGeom prst="rect">
              <a:avLst/>
            </a:prstGeom>
          </p:spPr>
        </p:pic>
        <p:grpSp>
          <p:nvGrpSpPr>
            <p:cNvPr id="16" name="Group 15"/>
            <p:cNvGrpSpPr/>
            <p:nvPr/>
          </p:nvGrpSpPr>
          <p:grpSpPr>
            <a:xfrm>
              <a:off x="5164163" y="5733317"/>
              <a:ext cx="930141" cy="728090"/>
              <a:chOff x="4984121" y="5595246"/>
              <a:chExt cx="930141" cy="728090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4984121" y="5595246"/>
                <a:ext cx="930141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112810" y="5894709"/>
                <a:ext cx="437667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1981832" y="5695253"/>
              <a:ext cx="1037139" cy="698824"/>
              <a:chOff x="1836689" y="5522405"/>
              <a:chExt cx="1037139" cy="698824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36689" y="5697353"/>
                <a:ext cx="1037139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1989801" y="5522405"/>
                <a:ext cx="466474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510535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499858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2499858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105" r="-302963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105" r="-20522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105" r="-10370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105" r="-3704" b="-20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200000" r="-3704" b="-1010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 smtClean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/>
          <p:cNvGrpSpPr/>
          <p:nvPr/>
        </p:nvGrpSpPr>
        <p:grpSpPr>
          <a:xfrm>
            <a:off x="1166049" y="2754045"/>
            <a:ext cx="9496425" cy="3707362"/>
            <a:chOff x="1166049" y="2754045"/>
            <a:chExt cx="9496425" cy="3707362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6049" y="2754045"/>
              <a:ext cx="9496425" cy="3219450"/>
            </a:xfrm>
            <a:prstGeom prst="rect">
              <a:avLst/>
            </a:prstGeom>
          </p:spPr>
        </p:pic>
        <p:grpSp>
          <p:nvGrpSpPr>
            <p:cNvPr id="16" name="Group 15"/>
            <p:cNvGrpSpPr/>
            <p:nvPr/>
          </p:nvGrpSpPr>
          <p:grpSpPr>
            <a:xfrm>
              <a:off x="5164163" y="5733317"/>
              <a:ext cx="930141" cy="728090"/>
              <a:chOff x="4984121" y="5595246"/>
              <a:chExt cx="930141" cy="728090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4984121" y="5595246"/>
                <a:ext cx="930141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112810" y="5894709"/>
                <a:ext cx="437667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1981832" y="5695253"/>
              <a:ext cx="1037139" cy="698824"/>
              <a:chOff x="1836689" y="5522405"/>
              <a:chExt cx="1037139" cy="698824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36689" y="5697353"/>
                <a:ext cx="1037139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1989801" y="5522405"/>
                <a:ext cx="466474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5659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877274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7877274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105" r="-302963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105" r="-20522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105" r="-10370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105" r="-3704" b="-20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200000" r="-3704" b="-1010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 smtClean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/>
          <p:cNvGrpSpPr/>
          <p:nvPr/>
        </p:nvGrpSpPr>
        <p:grpSpPr>
          <a:xfrm>
            <a:off x="1166049" y="2754045"/>
            <a:ext cx="9496425" cy="3707362"/>
            <a:chOff x="1166049" y="2754045"/>
            <a:chExt cx="9496425" cy="3707362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6049" y="2754045"/>
              <a:ext cx="9496425" cy="3219450"/>
            </a:xfrm>
            <a:prstGeom prst="rect">
              <a:avLst/>
            </a:prstGeom>
          </p:spPr>
        </p:pic>
        <p:grpSp>
          <p:nvGrpSpPr>
            <p:cNvPr id="16" name="Group 15"/>
            <p:cNvGrpSpPr/>
            <p:nvPr/>
          </p:nvGrpSpPr>
          <p:grpSpPr>
            <a:xfrm>
              <a:off x="5164163" y="5733317"/>
              <a:ext cx="930141" cy="728090"/>
              <a:chOff x="4984121" y="5595246"/>
              <a:chExt cx="930141" cy="728090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4984121" y="5595246"/>
                <a:ext cx="930141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112810" y="5894709"/>
                <a:ext cx="437667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1981832" y="5695253"/>
              <a:ext cx="1037139" cy="698824"/>
              <a:chOff x="1836689" y="5522405"/>
              <a:chExt cx="1037139" cy="698824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36689" y="5697353"/>
                <a:ext cx="1037139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1989801" y="5522405"/>
                <a:ext cx="466474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0507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2195092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2195092"/>
                  </p:ext>
                </p:extLst>
              </p:nvPr>
            </p:nvGraphicFramePr>
            <p:xfrm>
              <a:off x="7099300" y="365123"/>
              <a:ext cx="4927602" cy="231775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105" r="-302963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105" r="-20522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105" r="-103704" b="-20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105" r="-3704" b="-20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D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200000" r="-3704" b="-1010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7943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ENABLE</a:t>
                          </a:r>
                          <a:endParaRPr lang="en-US" dirty="0" smtClean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705489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/>
          <p:cNvGrpSpPr/>
          <p:nvPr/>
        </p:nvGrpSpPr>
        <p:grpSpPr>
          <a:xfrm>
            <a:off x="1166049" y="2754045"/>
            <a:ext cx="9496425" cy="3707362"/>
            <a:chOff x="1166049" y="2754045"/>
            <a:chExt cx="9496425" cy="3707362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6049" y="2754045"/>
              <a:ext cx="9496425" cy="3219450"/>
            </a:xfrm>
            <a:prstGeom prst="rect">
              <a:avLst/>
            </a:prstGeom>
          </p:spPr>
        </p:pic>
        <p:grpSp>
          <p:nvGrpSpPr>
            <p:cNvPr id="16" name="Group 15"/>
            <p:cNvGrpSpPr/>
            <p:nvPr/>
          </p:nvGrpSpPr>
          <p:grpSpPr>
            <a:xfrm>
              <a:off x="5164163" y="5733317"/>
              <a:ext cx="930141" cy="728090"/>
              <a:chOff x="4984121" y="5595246"/>
              <a:chExt cx="930141" cy="728090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>
                <a:off x="4984121" y="5595246"/>
                <a:ext cx="930141" cy="523876"/>
              </a:xfrm>
              <a:prstGeom prst="rect">
                <a:avLst/>
              </a:prstGeom>
            </p:spPr>
          </p:pic>
          <p:sp>
            <p:nvSpPr>
              <p:cNvPr id="9" name="Oval 8"/>
              <p:cNvSpPr/>
              <p:nvPr/>
            </p:nvSpPr>
            <p:spPr>
              <a:xfrm>
                <a:off x="5112810" y="5894709"/>
                <a:ext cx="437667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1981832" y="5695253"/>
              <a:ext cx="1037139" cy="698824"/>
              <a:chOff x="1836689" y="5522405"/>
              <a:chExt cx="1037139" cy="698824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 flipH="1" flipV="1">
                <a:off x="1836689" y="5697353"/>
                <a:ext cx="1037139" cy="523876"/>
              </a:xfrm>
              <a:prstGeom prst="rect">
                <a:avLst/>
              </a:prstGeom>
            </p:spPr>
          </p:pic>
          <p:sp>
            <p:nvSpPr>
              <p:cNvPr id="19" name="Oval 18"/>
              <p:cNvSpPr/>
              <p:nvPr/>
            </p:nvSpPr>
            <p:spPr>
              <a:xfrm>
                <a:off x="1989801" y="5522405"/>
                <a:ext cx="466474" cy="428627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263906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39" y="2393698"/>
            <a:ext cx="9829800" cy="32099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962874" y="5277831"/>
            <a:ext cx="920665" cy="564497"/>
            <a:chOff x="5050971" y="5489299"/>
            <a:chExt cx="920665" cy="56449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 flipH="1">
              <a:off x="5162011" y="5529920"/>
              <a:ext cx="809625" cy="523876"/>
            </a:xfrm>
            <a:prstGeom prst="rect">
              <a:avLst/>
            </a:prstGeom>
          </p:spPr>
        </p:pic>
        <p:sp>
          <p:nvSpPr>
            <p:cNvPr id="9" name="Oval 8"/>
            <p:cNvSpPr/>
            <p:nvPr/>
          </p:nvSpPr>
          <p:spPr>
            <a:xfrm>
              <a:off x="5050971" y="5489299"/>
              <a:ext cx="455197" cy="42862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898410"/>
                  </p:ext>
                </p:extLst>
              </p:nvPr>
            </p:nvGraphicFramePr>
            <p:xfrm>
              <a:off x="7099300" y="365123"/>
              <a:ext cx="4927602" cy="179895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↓</a:t>
                          </a:r>
                        </a:p>
                        <a:p>
                          <a:pPr marL="0" algn="ctr" defTabSz="914400" rtl="0" eaLnBrk="1" latinLnBrk="0" hangingPunct="1"/>
                          <a:endParaRPr lang="en-US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=0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↑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898410"/>
                  </p:ext>
                </p:extLst>
              </p:nvPr>
            </p:nvGraphicFramePr>
            <p:xfrm>
              <a:off x="7099300" y="365123"/>
              <a:ext cx="4927602" cy="179895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741" t="-100000" r="-302963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2985" t="-100000" r="-205224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0000" t="-100000" r="-103704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0000" t="-100000" r="-3704" b="-1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↓</a:t>
                          </a:r>
                        </a:p>
                        <a:p>
                          <a:pPr marL="0" algn="ctr" defTabSz="914400" rtl="0" eaLnBrk="1" latinLnBrk="0" hangingPunct="1"/>
                          <a:endParaRPr lang="en-US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741" t="-182857" r="-302963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↑</a:t>
                          </a:r>
                        </a:p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0000" t="-182857" r="-3704" b="-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 flipV="1">
            <a:off x="2053989" y="5372334"/>
            <a:ext cx="809625" cy="523876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1881909" y="5393103"/>
            <a:ext cx="344158" cy="42862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531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39" y="2393698"/>
            <a:ext cx="9829800" cy="32099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962874" y="5277831"/>
            <a:ext cx="920665" cy="564497"/>
            <a:chOff x="5050971" y="5489299"/>
            <a:chExt cx="920665" cy="56449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 flipH="1">
              <a:off x="5162011" y="5529920"/>
              <a:ext cx="809625" cy="523876"/>
            </a:xfrm>
            <a:prstGeom prst="rect">
              <a:avLst/>
            </a:prstGeom>
          </p:spPr>
        </p:pic>
        <p:sp>
          <p:nvSpPr>
            <p:cNvPr id="9" name="Oval 8"/>
            <p:cNvSpPr/>
            <p:nvPr/>
          </p:nvSpPr>
          <p:spPr>
            <a:xfrm>
              <a:off x="5050971" y="5489299"/>
              <a:ext cx="455197" cy="428627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9066029"/>
                  </p:ext>
                </p:extLst>
              </p:nvPr>
            </p:nvGraphicFramePr>
            <p:xfrm>
              <a:off x="7099300" y="365123"/>
              <a:ext cx="4927602" cy="179895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+!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↓</a:t>
                          </a:r>
                        </a:p>
                        <a:p>
                          <a:pPr marL="0" algn="ctr" defTabSz="914400" rtl="0" eaLnBrk="1" latinLnBrk="0" hangingPunct="1"/>
                          <a:endParaRPr lang="en-US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9066029"/>
                  </p:ext>
                </p:extLst>
              </p:nvPr>
            </p:nvGraphicFramePr>
            <p:xfrm>
              <a:off x="7099300" y="365123"/>
              <a:ext cx="4927602" cy="179895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7943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794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741" t="-100000" r="-302963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2985" t="-100000" r="-205224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0000" t="-100000" r="-103704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0000" t="-100000" r="-3704" b="-1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↓</a:t>
                          </a:r>
                        </a:p>
                        <a:p>
                          <a:pPr marL="0" algn="ctr" defTabSz="914400" rtl="0" eaLnBrk="1" latinLnBrk="0" hangingPunct="1"/>
                          <a:endParaRPr lang="en-US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741" t="-182857" r="-302963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00000" t="-182857" r="-10370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00000" t="-182857" r="-3704" b="-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 flipV="1">
            <a:off x="2053989" y="5372334"/>
            <a:ext cx="809625" cy="523876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1881909" y="5393103"/>
            <a:ext cx="344158" cy="42862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672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9912263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𝐶𝐿𝐾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b="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X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>
                              <a:solidFill>
                                <a:srgbClr val="FF0000"/>
                              </a:solidFill>
                            </a:rPr>
                            <a:t>ENSABLE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9912263"/>
                  </p:ext>
                </p:extLst>
              </p:nvPr>
            </p:nvGraphicFramePr>
            <p:xfrm>
              <a:off x="7099300" y="226684"/>
              <a:ext cx="4927602" cy="213659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21267">
                      <a:extLst>
                        <a:ext uri="{9D8B030D-6E8A-4147-A177-3AD203B41FA5}">
                          <a16:colId xmlns:a16="http://schemas.microsoft.com/office/drawing/2014/main" val="10628609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627887362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894790106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675297975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2373848893"/>
                        </a:ext>
                      </a:extLst>
                    </a:gridCol>
                    <a:gridCol w="821267">
                      <a:extLst>
                        <a:ext uri="{9D8B030D-6E8A-4147-A177-3AD203B41FA5}">
                          <a16:colId xmlns:a16="http://schemas.microsoft.com/office/drawing/2014/main" val="3847150200"/>
                        </a:ext>
                      </a:extLst>
                    </a:gridCol>
                  </a:tblGrid>
                  <a:tr h="534148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MASTER</a:t>
                          </a:r>
                          <a:endParaRPr lang="en-US" sz="2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a:t>SLAVE</a:t>
                          </a:r>
                          <a:endParaRPr lang="en-US" sz="2400" b="1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5016426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CLK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D</a:t>
                          </a:r>
                          <a:endParaRPr lang="en-US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102273" r="-302963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985" t="-102273" r="-20522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0000" t="-102273" r="-103704" b="-20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000" t="-102273" r="-3704" b="-20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6187334"/>
                      </a:ext>
                    </a:extLst>
                  </a:tr>
                  <a:tr h="53414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X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41" t="-204598" r="-302963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1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0</a:t>
                          </a:r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0553853"/>
                      </a:ext>
                    </a:extLst>
                  </a:tr>
                  <a:tr h="534148"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DISABLE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i="1" dirty="0" smtClean="0">
                              <a:solidFill>
                                <a:srgbClr val="FF0000"/>
                              </a:solidFill>
                            </a:rPr>
                            <a:t>ENSABLE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95835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957" y="2363276"/>
            <a:ext cx="96774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463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FLIP-FLOP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49" y="1955800"/>
            <a:ext cx="943437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802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(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NEGATIVE EDGE TRIGGERED)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175" y="1453015"/>
            <a:ext cx="4705350" cy="3400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2457" y="5571998"/>
            <a:ext cx="5094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Dynamic Input Indicator: </a:t>
            </a:r>
            <a:r>
              <a:rPr lang="en-US" i="1" dirty="0"/>
              <a:t>FF 	only changes on Edge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3236686" y="4499429"/>
            <a:ext cx="1582057" cy="1072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7627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59312"/>
          </a:xfrm>
        </p:spPr>
        <p:txBody>
          <a:bodyPr>
            <a:normAutofit/>
          </a:bodyPr>
          <a:lstStyle/>
          <a:p>
            <a:r>
              <a:rPr lang="en-US" b="1" dirty="0">
                <a:latin typeface="+mj-lt"/>
              </a:rPr>
              <a:t>JK Flip-flop </a:t>
            </a:r>
            <a:r>
              <a:rPr lang="en-US" dirty="0">
                <a:latin typeface="+mj-lt"/>
              </a:rPr>
              <a:t>is similar to the </a:t>
            </a:r>
            <a:r>
              <a:rPr lang="en-US" b="1" dirty="0">
                <a:latin typeface="+mj-lt"/>
              </a:rPr>
              <a:t>SR Flip-flop </a:t>
            </a:r>
            <a:r>
              <a:rPr lang="en-US" dirty="0">
                <a:latin typeface="+mj-lt"/>
              </a:rPr>
              <a:t>with no INVALID CONDITION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	*</a:t>
            </a:r>
            <a:r>
              <a:rPr lang="en-US" b="1" dirty="0">
                <a:latin typeface="+mj-lt"/>
              </a:rPr>
              <a:t>SR Flip-flop(SR GATED Latch </a:t>
            </a:r>
            <a:r>
              <a:rPr lang="en-US" dirty="0">
                <a:latin typeface="+mj-lt"/>
              </a:rPr>
              <a:t>with clock pulse  on enable)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JK Flip Flop</a:t>
            </a:r>
            <a:r>
              <a:rPr lang="en-US" dirty="0">
                <a:latin typeface="+mj-lt"/>
              </a:rPr>
              <a:t> perform three operations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</a:rPr>
              <a:t>SET</a:t>
            </a:r>
          </a:p>
          <a:p>
            <a:pPr lvl="1"/>
            <a:r>
              <a:rPr lang="en-US" dirty="0">
                <a:latin typeface="+mj-lt"/>
              </a:rPr>
              <a:t>RESET</a:t>
            </a:r>
          </a:p>
          <a:p>
            <a:pPr lvl="1"/>
            <a:r>
              <a:rPr lang="en-US" dirty="0">
                <a:latin typeface="+mj-lt"/>
              </a:rPr>
              <a:t>COMPLEMENT</a:t>
            </a:r>
          </a:p>
        </p:txBody>
      </p:sp>
    </p:spTree>
    <p:extLst>
      <p:ext uri="{BB962C8B-B14F-4D97-AF65-F5344CB8AC3E}">
        <p14:creationId xmlns:p14="http://schemas.microsoft.com/office/powerpoint/2010/main" val="26943237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 SYMBOL </a:t>
            </a: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083" y="2173287"/>
            <a:ext cx="4966934" cy="332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089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Using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D-FLIP FLOP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162" y="1485901"/>
            <a:ext cx="10396538" cy="481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3650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14450" y="3251200"/>
                <a:ext cx="909955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𝐽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450" y="3251200"/>
                <a:ext cx="9099550" cy="740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90307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(JK-FLIP-FLOP)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07809951"/>
                  </p:ext>
                </p:extLst>
              </p:nvPr>
            </p:nvGraphicFramePr>
            <p:xfrm>
              <a:off x="3975100" y="22320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07809951"/>
                  </p:ext>
                </p:extLst>
              </p:nvPr>
            </p:nvGraphicFramePr>
            <p:xfrm>
              <a:off x="3975100" y="22320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46" r="-365574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102" t="-746" r="-173061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746" r="-87611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746" r="-2062" b="-3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241487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1798543"/>
                  </p:ext>
                </p:extLst>
              </p:nvPr>
            </p:nvGraphicFramePr>
            <p:xfrm>
              <a:off x="5473700" y="486910"/>
              <a:ext cx="6433456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1798543"/>
                  </p:ext>
                </p:extLst>
              </p:nvPr>
            </p:nvGraphicFramePr>
            <p:xfrm>
              <a:off x="5473700" y="486910"/>
              <a:ext cx="6433456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9" t="-741" r="-301894" b="-8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741" r="-200755" b="-8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741" r="-101515" b="-8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8" t="-741" r="-1515" b="-829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474" y="1939246"/>
            <a:ext cx="9991725" cy="4600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089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3824310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3824310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5" t="-6522" r="-378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0" t="-113953" r="-303422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248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8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1967" r="6184" b="4451"/>
          <a:stretch/>
        </p:blipFill>
        <p:spPr>
          <a:xfrm>
            <a:off x="488950" y="1968499"/>
            <a:ext cx="11169650" cy="466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026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𝐽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1570153"/>
                  </p:ext>
                </p:extLst>
              </p:nvPr>
            </p:nvGraphicFramePr>
            <p:xfrm>
              <a:off x="7569199" y="1539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𝐓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1570153"/>
                  </p:ext>
                </p:extLst>
              </p:nvPr>
            </p:nvGraphicFramePr>
            <p:xfrm>
              <a:off x="7569199" y="1539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245333" r="-102116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245333" r="-2116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3900" y="3700240"/>
                <a:ext cx="38989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=0+0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3700240"/>
                <a:ext cx="389890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63600" y="2746264"/>
                <a:ext cx="44704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=0.</m:t>
                      </m:r>
                      <m:acc>
                        <m:accPr>
                          <m:chr m:val="̅"/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2746264"/>
                <a:ext cx="44704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3750" y="4757419"/>
                <a:ext cx="30162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0" y="4757419"/>
                <a:ext cx="3016250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63600" y="5814598"/>
                <a:ext cx="34036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5814598"/>
                <a:ext cx="34036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0025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081786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081786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5" t="-6522" r="-378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0" t="-113953" r="-303422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248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8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946275"/>
            <a:ext cx="118681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428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𝐽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466396"/>
                  </p:ext>
                </p:extLst>
              </p:nvPr>
            </p:nvGraphicFramePr>
            <p:xfrm>
              <a:off x="7569199" y="1539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𝐓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466396"/>
                  </p:ext>
                </p:extLst>
              </p:nvPr>
            </p:nvGraphicFramePr>
            <p:xfrm>
              <a:off x="7569199" y="1539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245333" r="-102116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245333" r="-2116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1500" y="3692080"/>
                <a:ext cx="51435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=0.0+1.1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692080"/>
                <a:ext cx="514350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23900" y="2742184"/>
                <a:ext cx="50038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=0.</m:t>
                      </m:r>
                      <m:acc>
                        <m:accPr>
                          <m:chr m:val="̅"/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.1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2742184"/>
                <a:ext cx="50038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60450" y="4745179"/>
                <a:ext cx="46672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4800" dirty="0"/>
                  <a:t>+1 =1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450" y="4745179"/>
                <a:ext cx="4667250" cy="738664"/>
              </a:xfrm>
              <a:prstGeom prst="rect">
                <a:avLst/>
              </a:prstGeom>
              <a:blipFill>
                <a:blip r:embed="rId6"/>
                <a:stretch>
                  <a:fillRect t="-23770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63600" y="5814598"/>
                <a:ext cx="34036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5814598"/>
                <a:ext cx="34036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4818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340106"/>
            <a:ext cx="11455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COMPARING CASE I &amp; II when  J=0 , K=0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400850"/>
                  </p:ext>
                </p:extLst>
              </p:nvPr>
            </p:nvGraphicFramePr>
            <p:xfrm>
              <a:off x="3526520" y="21097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0=</m:t>
                                    </m:r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𝐓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9400850"/>
                  </p:ext>
                </p:extLst>
              </p:nvPr>
            </p:nvGraphicFramePr>
            <p:xfrm>
              <a:off x="3526520" y="21097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29" t="-245333" r="-102116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29" t="-245333" r="-2116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5787892"/>
                  </p:ext>
                </p:extLst>
              </p:nvPr>
            </p:nvGraphicFramePr>
            <p:xfrm>
              <a:off x="3526520" y="45354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ea typeface="+mn-ea"/>
                              <a:cs typeface="+mn-cs"/>
                            </a:rPr>
                            <a:t>1=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400" kern="120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𝑻</m:t>
                                  </m:r>
                                </m:sub>
                              </m:sSub>
                            </m:oMath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𝐓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5787892"/>
                  </p:ext>
                </p:extLst>
              </p:nvPr>
            </p:nvGraphicFramePr>
            <p:xfrm>
              <a:off x="3526520" y="45354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245333" r="-102116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245333" r="-2116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18542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2530753"/>
                  </p:ext>
                </p:extLst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𝐓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2530753"/>
                  </p:ext>
                </p:extLst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46" r="-366120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102" t="-746" r="-173469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746" r="-88053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746" r="-2577" b="-3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129808" r="-88053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129808" r="-2577" b="-3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545912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898881"/>
                  </p:ext>
                </p:extLst>
              </p:nvPr>
            </p:nvGraphicFramePr>
            <p:xfrm>
              <a:off x="5651500" y="105910"/>
              <a:ext cx="6433456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1898881"/>
                  </p:ext>
                </p:extLst>
              </p:nvPr>
            </p:nvGraphicFramePr>
            <p:xfrm>
              <a:off x="5651500" y="105910"/>
              <a:ext cx="6433456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9" t="-746" r="-301515" b="-8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379" t="-746" r="-201515" b="-8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379" t="-746" r="-101515" b="-8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379" t="-746" r="-1515" b="-8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37" y="2119312"/>
            <a:ext cx="99917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988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580746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580746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5" t="-6522" r="-378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0" t="-113953" r="-303422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248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8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7" y="1882775"/>
            <a:ext cx="111728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440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𝐽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127620"/>
                  </p:ext>
                </p:extLst>
              </p:nvPr>
            </p:nvGraphicFramePr>
            <p:xfrm>
              <a:off x="7569199" y="1539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3127620"/>
                  </p:ext>
                </p:extLst>
              </p:nvPr>
            </p:nvGraphicFramePr>
            <p:xfrm>
              <a:off x="7569199" y="1539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3900" y="3700240"/>
                <a:ext cx="48641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=0.1+0.0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3700240"/>
                <a:ext cx="486410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63600" y="2746264"/>
                <a:ext cx="44704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=0.</m:t>
                      </m:r>
                      <m:acc>
                        <m:accPr>
                          <m:chr m:val="̅"/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2746264"/>
                <a:ext cx="44704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3750" y="4757419"/>
                <a:ext cx="40449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=0+0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0" y="4757419"/>
                <a:ext cx="4044950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63600" y="5814598"/>
                <a:ext cx="28829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5814598"/>
                <a:ext cx="28829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2869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2911599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2911599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5" t="-6522" r="-378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0" t="-113953" r="-303422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248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8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882775"/>
            <a:ext cx="118681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475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𝐽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9897480"/>
                  </p:ext>
                </p:extLst>
              </p:nvPr>
            </p:nvGraphicFramePr>
            <p:xfrm>
              <a:off x="7569199" y="1539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9897480"/>
                  </p:ext>
                </p:extLst>
              </p:nvPr>
            </p:nvGraphicFramePr>
            <p:xfrm>
              <a:off x="7569199" y="1539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1500" y="3692080"/>
                <a:ext cx="51435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0" smtClean="0">
                          <a:latin typeface="Cambria Math" panose="02040503050406030204" pitchFamily="18" charset="0"/>
                        </a:rPr>
                        <m:t>0.0+0.1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692080"/>
                <a:ext cx="514350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23900" y="2742184"/>
                <a:ext cx="50038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=0.</m:t>
                      </m:r>
                      <m:acc>
                        <m:accPr>
                          <m:chr m:val="̅"/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.1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2742184"/>
                <a:ext cx="50038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60450" y="4745179"/>
                <a:ext cx="34607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i="0">
                        <a:latin typeface="Cambria Math" panose="02040503050406030204" pitchFamily="18" charset="0"/>
                      </a:rPr>
                      <m:t>0+</m:t>
                    </m:r>
                  </m:oMath>
                </a14:m>
                <a:r>
                  <a:rPr lang="en-US" sz="4800" dirty="0">
                    <a:latin typeface="Cambria Math" panose="02040503050406030204" pitchFamily="18" charset="0"/>
                  </a:rPr>
                  <a:t>0</a:t>
                </a:r>
                <a:r>
                  <a:rPr lang="en-US" sz="4800" i="1" dirty="0"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450" y="4745179"/>
                <a:ext cx="3460750" cy="738664"/>
              </a:xfrm>
              <a:prstGeom prst="rect">
                <a:avLst/>
              </a:prstGeom>
              <a:blipFill>
                <a:blip r:embed="rId6"/>
                <a:stretch>
                  <a:fillRect t="-24590" r="-7746" b="-48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71500" y="5798278"/>
                <a:ext cx="34036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800" b="0" i="0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5798278"/>
                <a:ext cx="34036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12624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340106"/>
            <a:ext cx="11455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COMPARING CASE I &amp; II when  J=0 , K=1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5730042"/>
                  </p:ext>
                </p:extLst>
              </p:nvPr>
            </p:nvGraphicFramePr>
            <p:xfrm>
              <a:off x="3581399" y="20970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5730042"/>
                  </p:ext>
                </p:extLst>
              </p:nvPr>
            </p:nvGraphicFramePr>
            <p:xfrm>
              <a:off x="3581399" y="20970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4181642"/>
                  </p:ext>
                </p:extLst>
              </p:nvPr>
            </p:nvGraphicFramePr>
            <p:xfrm>
              <a:off x="3581399" y="43068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4181642"/>
                  </p:ext>
                </p:extLst>
              </p:nvPr>
            </p:nvGraphicFramePr>
            <p:xfrm>
              <a:off x="3581399" y="43068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6522" r="-529" b="-2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3953" r="-304255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3953" r="-201053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3953" r="-102116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3953" r="-2116" b="-1139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270208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60668205"/>
                  </p:ext>
                </p:extLst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𝐓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60668205"/>
                  </p:ext>
                </p:extLst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46" r="-366120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102" t="-746" r="-173469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746" r="-88053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746" r="-2577" b="-3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129808" r="-88053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129808" r="-2577" b="-3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020866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4520637"/>
                  </p:ext>
                </p:extLst>
              </p:nvPr>
            </p:nvGraphicFramePr>
            <p:xfrm>
              <a:off x="5473700" y="486910"/>
              <a:ext cx="6433456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4520637"/>
                  </p:ext>
                </p:extLst>
              </p:nvPr>
            </p:nvGraphicFramePr>
            <p:xfrm>
              <a:off x="5473700" y="486910"/>
              <a:ext cx="6433456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9" t="-741" r="-301894" b="-8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741" r="-200755" b="-8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741" r="-101515" b="-8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8" t="-741" r="-1515" b="-829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137" y="2143125"/>
            <a:ext cx="99917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2816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3312459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3312459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5" t="-6522" r="-378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0" t="-113953" r="-303422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248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8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87" y="1870075"/>
            <a:ext cx="111728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360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𝐽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7637561"/>
                  </p:ext>
                </p:extLst>
              </p:nvPr>
            </p:nvGraphicFramePr>
            <p:xfrm>
              <a:off x="7569199" y="1539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7637561"/>
                  </p:ext>
                </p:extLst>
              </p:nvPr>
            </p:nvGraphicFramePr>
            <p:xfrm>
              <a:off x="7569199" y="1539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245333" r="-102116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245333" r="-2116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23900" y="3700240"/>
                <a:ext cx="46101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=1.1+1.0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3700240"/>
                <a:ext cx="461010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63600" y="2746264"/>
                <a:ext cx="44704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=1.</m:t>
                      </m:r>
                      <m:acc>
                        <m:accPr>
                          <m:chr m:val="̅"/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2746264"/>
                <a:ext cx="44704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93750" y="4757419"/>
                <a:ext cx="36512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=1+0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0" y="4757419"/>
                <a:ext cx="3651250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95300" y="5814598"/>
                <a:ext cx="34036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5814598"/>
                <a:ext cx="34036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3402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8580519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8580519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5" t="-6522" r="-378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0" t="-113953" r="-303422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248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8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1933575"/>
            <a:ext cx="111728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832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𝐽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962575"/>
                  </p:ext>
                </p:extLst>
              </p:nvPr>
            </p:nvGraphicFramePr>
            <p:xfrm>
              <a:off x="7569199" y="1539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962575"/>
                  </p:ext>
                </p:extLst>
              </p:nvPr>
            </p:nvGraphicFramePr>
            <p:xfrm>
              <a:off x="7569199" y="1539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245333" r="-102116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245333" r="-2116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1500" y="3692080"/>
                <a:ext cx="51435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=1.0+1.1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692080"/>
                <a:ext cx="514350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23900" y="2742184"/>
                <a:ext cx="50038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=1.</m:t>
                      </m:r>
                      <m:acc>
                        <m:accPr>
                          <m:chr m:val="̅"/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.1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2742184"/>
                <a:ext cx="50038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60450" y="4745179"/>
                <a:ext cx="46672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4800" dirty="0"/>
                  <a:t>+1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450" y="4745179"/>
                <a:ext cx="4667250" cy="738664"/>
              </a:xfrm>
              <a:prstGeom prst="rect">
                <a:avLst/>
              </a:prstGeom>
              <a:blipFill>
                <a:blip r:embed="rId6"/>
                <a:stretch>
                  <a:fillRect t="-23770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63600" y="5814598"/>
                <a:ext cx="30353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5814598"/>
                <a:ext cx="30353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41289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340106"/>
            <a:ext cx="11455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COMPARING CASE I &amp; II when  J=1 , K=0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9454387"/>
                  </p:ext>
                </p:extLst>
              </p:nvPr>
            </p:nvGraphicFramePr>
            <p:xfrm>
              <a:off x="3757160" y="26939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9454387"/>
                  </p:ext>
                </p:extLst>
              </p:nvPr>
            </p:nvGraphicFramePr>
            <p:xfrm>
              <a:off x="3757160" y="26939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2" t="-5435" r="-529" b="-2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112791" r="-304255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474" t="-112791" r="-201053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29" t="-112791" r="-102116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29" t="-112791" r="-2116" b="-1139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29" t="-240789" r="-102116" b="-2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29" t="-240789" r="-2116" b="-289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8588924"/>
                  </p:ext>
                </p:extLst>
              </p:nvPr>
            </p:nvGraphicFramePr>
            <p:xfrm>
              <a:off x="3757160" y="47894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0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8588924"/>
                  </p:ext>
                </p:extLst>
              </p:nvPr>
            </p:nvGraphicFramePr>
            <p:xfrm>
              <a:off x="3757160" y="4789488"/>
              <a:ext cx="4601480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5435" r="-529" b="-2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2791" r="-304255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2791" r="-201053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2791" r="-102116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2791" r="-2116" b="-1139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244000" r="-102116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244000" r="-2116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351607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89575132"/>
                  </p:ext>
                </p:extLst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𝐓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89575132"/>
                  </p:ext>
                </p:extLst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46" r="-366120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102" t="-746" r="-173469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746" r="-88053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746" r="-2577" b="-3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129808" r="-88053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129808" r="-2577" b="-3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30975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3138273"/>
                  </p:ext>
                </p:extLst>
              </p:nvPr>
            </p:nvGraphicFramePr>
            <p:xfrm>
              <a:off x="5473700" y="486910"/>
              <a:ext cx="6433456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3138273"/>
                  </p:ext>
                </p:extLst>
              </p:nvPr>
            </p:nvGraphicFramePr>
            <p:xfrm>
              <a:off x="5473700" y="486910"/>
              <a:ext cx="6433456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9" t="-741" r="-301894" b="-8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741" r="-200755" b="-8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741" r="-101515" b="-8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8" t="-741" r="-1515" b="-829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14580"/>
          <a:stretch/>
        </p:blipFill>
        <p:spPr>
          <a:xfrm>
            <a:off x="1266825" y="2190750"/>
            <a:ext cx="1013777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521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7630184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7630184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5" t="-6522" r="-378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0" t="-113953" r="-303422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248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8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" y="1971675"/>
            <a:ext cx="111728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9605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𝐽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3584177"/>
                  </p:ext>
                </p:extLst>
              </p:nvPr>
            </p:nvGraphicFramePr>
            <p:xfrm>
              <a:off x="7569199" y="1539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3584177"/>
                  </p:ext>
                </p:extLst>
              </p:nvPr>
            </p:nvGraphicFramePr>
            <p:xfrm>
              <a:off x="7569199" y="1539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245333" r="-102116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245333" r="-2116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93750" y="3700240"/>
                <a:ext cx="46101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=1.1+0.0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750" y="3700240"/>
                <a:ext cx="461010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63600" y="2746264"/>
                <a:ext cx="44704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=1.</m:t>
                      </m:r>
                      <m:acc>
                        <m:accPr>
                          <m:chr m:val="̅"/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2746264"/>
                <a:ext cx="44704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09650" y="4757419"/>
                <a:ext cx="47053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=1+0</m:t>
                    </m:r>
                  </m:oMath>
                </a14:m>
                <a:r>
                  <a:rPr lang="en-US" sz="4800" i="1" dirty="0"/>
                  <a:t> = </a:t>
                </a:r>
                <a:r>
                  <a:rPr lang="en-US" sz="4800" dirty="0"/>
                  <a:t>1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4757419"/>
                <a:ext cx="4705350" cy="738664"/>
              </a:xfrm>
              <a:prstGeom prst="rect">
                <a:avLst/>
              </a:prstGeom>
              <a:blipFill>
                <a:blip r:embed="rId6"/>
                <a:stretch>
                  <a:fillRect t="-23770" r="-1166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09650" y="5923501"/>
                <a:ext cx="29845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b="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b="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4800" b="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650" y="5923501"/>
                <a:ext cx="2984500" cy="7402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53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878325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𝐭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878325"/>
                  </p:ext>
                </p:extLst>
              </p:nvPr>
            </p:nvGraphicFramePr>
            <p:xfrm>
              <a:off x="5644244" y="128588"/>
              <a:ext cx="64334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0200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5" t="-6522" r="-378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0" t="-113953" r="-303422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248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758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87" y="2022475"/>
            <a:ext cx="111728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6263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𝐽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600" y="1792288"/>
                <a:ext cx="5295900" cy="740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2054220"/>
                  </p:ext>
                </p:extLst>
              </p:nvPr>
            </p:nvGraphicFramePr>
            <p:xfrm>
              <a:off x="7569199" y="1539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2054220"/>
                  </p:ext>
                </p:extLst>
              </p:nvPr>
            </p:nvGraphicFramePr>
            <p:xfrm>
              <a:off x="7569199" y="1539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245333" r="-102116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245333" r="-2116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1500" y="3692080"/>
                <a:ext cx="51435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=1.0+0.1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692080"/>
                <a:ext cx="514350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23900" y="2742184"/>
                <a:ext cx="50038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=1.</m:t>
                      </m:r>
                      <m:acc>
                        <m:accPr>
                          <m:chr m:val="̅"/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.1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2742184"/>
                <a:ext cx="50038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047750" y="4753339"/>
                <a:ext cx="466725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0" smtClean="0">
                        <a:latin typeface="Cambria Math" panose="02040503050406030204" pitchFamily="18" charset="0"/>
                      </a:rPr>
                      <m:t>0+0=0</m:t>
                    </m:r>
                  </m:oMath>
                </a14:m>
                <a:r>
                  <a:rPr lang="en-US" sz="4800" dirty="0"/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50" y="4753339"/>
                <a:ext cx="4667250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52500" y="5814598"/>
                <a:ext cx="30353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480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5814598"/>
                <a:ext cx="3035300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9115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340106"/>
            <a:ext cx="11455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COMPARING CASE I &amp; II when  J=1 , K=1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702630"/>
                  </p:ext>
                </p:extLst>
              </p:nvPr>
            </p:nvGraphicFramePr>
            <p:xfrm>
              <a:off x="4330699" y="21605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/>
                            <a:t>1 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endParaRPr lang="en-US" sz="24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5702630"/>
                  </p:ext>
                </p:extLst>
              </p:nvPr>
            </p:nvGraphicFramePr>
            <p:xfrm>
              <a:off x="4330699" y="21605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32" t="-6522" r="-529" b="-2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32" t="-113953" r="-304255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9474" t="-113953" r="-201053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29" t="-113953" r="-102116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29" t="-113953" r="-2116" b="-1139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529" t="-245333" r="-102116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0529" t="-245333" r="-2116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6503720"/>
                  </p:ext>
                </p:extLst>
              </p:nvPr>
            </p:nvGraphicFramePr>
            <p:xfrm>
              <a:off x="4330699" y="44084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/>
                            <a:t>0 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b>
                                      <m:r>
                                        <a:rPr lang="en-US" sz="2400" b="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endParaRPr lang="en-US" sz="24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26503720"/>
                  </p:ext>
                </p:extLst>
              </p:nvPr>
            </p:nvGraphicFramePr>
            <p:xfrm>
              <a:off x="4330699" y="4408488"/>
              <a:ext cx="4601480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4531">
                      <a:extLst>
                        <a:ext uri="{9D8B030D-6E8A-4147-A177-3AD203B41FA5}">
                          <a16:colId xmlns:a16="http://schemas.microsoft.com/office/drawing/2014/main" val="3365767442"/>
                        </a:ext>
                      </a:extLst>
                    </a:gridCol>
                    <a:gridCol w="1156209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150370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32" t="-6522" r="-529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32" t="-113953" r="-30425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9474" t="-113953" r="-201053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113953" r="-102116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113953" r="-2116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529" t="-245333" r="-102116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00529" t="-245333" r="-2116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083789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11861357"/>
                  </p:ext>
                </p:extLst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11861357"/>
                  </p:ext>
                </p:extLst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46" r="-366120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102" t="-746" r="-173469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746" r="-88053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746" r="-2577" b="-3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129808" r="-88053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129808" r="-2577" b="-3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426667" r="-88053" b="-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426667" r="-2577" b="-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429812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44079529"/>
                  </p:ext>
                </p:extLst>
              </p:nvPr>
            </p:nvGraphicFramePr>
            <p:xfrm>
              <a:off x="2667000" y="2244724"/>
              <a:ext cx="7480299" cy="336513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855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533020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414508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214846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  <a:gridCol w="2169366">
                      <a:extLst>
                        <a:ext uri="{9D8B030D-6E8A-4147-A177-3AD203B41FA5}">
                          <a16:colId xmlns:a16="http://schemas.microsoft.com/office/drawing/2014/main" val="166570066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</a:t>
                          </a:r>
                          <a:r>
                            <a:rPr lang="en-US" sz="1800" b="1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CHANGE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TOGGLE/ COMPLEMENT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44079529"/>
                  </p:ext>
                </p:extLst>
              </p:nvPr>
            </p:nvGraphicFramePr>
            <p:xfrm>
              <a:off x="2667000" y="2244724"/>
              <a:ext cx="7480299" cy="336513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855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533020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414508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214846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  <a:gridCol w="2169366">
                      <a:extLst>
                        <a:ext uri="{9D8B030D-6E8A-4147-A177-3AD203B41FA5}">
                          <a16:colId xmlns:a16="http://schemas.microsoft.com/office/drawing/2014/main" val="166570066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9" t="-746" r="-551852" b="-3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697" t="-746" r="-315538" b="-3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086" t="-746" r="-241379" b="-3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6500" t="-746" r="-180000" b="-3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smtClean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086" t="-128571" r="-241379" b="-3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6500" t="-128571" r="-180000" b="-3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</a:t>
                          </a:r>
                          <a:r>
                            <a:rPr lang="en-US" sz="1800" b="1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CHANGE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RESET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086" t="-427619" r="-241379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6500" t="-427619" r="-180000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TOGGLE/ COMPLEMENT</a:t>
                          </a:r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624422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66711551"/>
                  </p:ext>
                </p:extLst>
              </p:nvPr>
            </p:nvGraphicFramePr>
            <p:xfrm>
              <a:off x="2667000" y="2244724"/>
              <a:ext cx="6265453" cy="336513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855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533020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414508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2169366">
                      <a:extLst>
                        <a:ext uri="{9D8B030D-6E8A-4147-A177-3AD203B41FA5}">
                          <a16:colId xmlns:a16="http://schemas.microsoft.com/office/drawing/2014/main" val="166570066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</a:t>
                          </a:r>
                          <a:r>
                            <a:rPr lang="en-US" sz="1800" b="1" kern="1200" baseline="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CHANGE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TOGGLE/ COMPLEMENT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166711551"/>
                  </p:ext>
                </p:extLst>
              </p:nvPr>
            </p:nvGraphicFramePr>
            <p:xfrm>
              <a:off x="2667000" y="2244724"/>
              <a:ext cx="6265453" cy="336513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855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533020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414508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2169366">
                      <a:extLst>
                        <a:ext uri="{9D8B030D-6E8A-4147-A177-3AD203B41FA5}">
                          <a16:colId xmlns:a16="http://schemas.microsoft.com/office/drawing/2014/main" val="166570066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9" t="-746" r="-446561" b="-3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697" t="-746" r="-236255" b="-3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270" t="-746" r="-154506" b="-3238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smtClean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270" t="-128571" r="-154506" b="-3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</a:t>
                          </a:r>
                          <a:r>
                            <a:rPr lang="en-US" sz="1800" b="1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CHANGE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RESET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270" t="-427619" r="-154506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TOGGLE/ COMPLEMENT</a:t>
                          </a:r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9020431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01588561"/>
                  </p:ext>
                </p:extLst>
              </p:nvPr>
            </p:nvGraphicFramePr>
            <p:xfrm>
              <a:off x="3924300" y="2155824"/>
              <a:ext cx="4096087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855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533020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414508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01588561"/>
                  </p:ext>
                </p:extLst>
              </p:nvPr>
            </p:nvGraphicFramePr>
            <p:xfrm>
              <a:off x="3924300" y="2155824"/>
              <a:ext cx="4096087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4855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533020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414508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29" t="-746" r="-258201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397" t="-746" r="-93651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517" t="-746" r="-1724" b="-3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517" t="-128571" r="-1724" b="-3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517" t="-427619" r="-1724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2328561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7200900" cy="1325563"/>
          </a:xfrm>
        </p:spPr>
        <p:txBody>
          <a:bodyPr/>
          <a:lstStyle/>
          <a:p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JK Flip Flop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77856284"/>
                  </p:ext>
                </p:extLst>
              </p:nvPr>
            </p:nvGraphicFramePr>
            <p:xfrm>
              <a:off x="9206630" y="3933173"/>
              <a:ext cx="2847139" cy="2686363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76614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087318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983207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</a:tblGrid>
                  <a:tr h="65210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50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50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50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50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77856284"/>
                  </p:ext>
                </p:extLst>
              </p:nvPr>
            </p:nvGraphicFramePr>
            <p:xfrm>
              <a:off x="9206630" y="3933173"/>
              <a:ext cx="2847139" cy="2686363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76614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087318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983207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</a:tblGrid>
                  <a:tr h="6521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1" t="-935" r="-268750" b="-329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72" t="-935" r="-93258" b="-329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506" t="-935" r="-2469" b="-3299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50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506" t="-128571" r="-2469" b="-320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50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50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50856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506" t="-432530" r="-2469" b="-228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57ACE4D8-6213-9BC1-A19D-4FD338500A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036499"/>
              </p:ext>
            </p:extLst>
          </p:nvPr>
        </p:nvGraphicFramePr>
        <p:xfrm>
          <a:off x="427190" y="2245324"/>
          <a:ext cx="811530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17266" imgH="1090879" progId="Visio.Drawing.6">
                  <p:embed/>
                </p:oleObj>
              </mc:Choice>
              <mc:Fallback>
                <p:oleObj r:id="rId3" imgW="2817266" imgH="1090879" progId="Visio.Drawing.6">
                  <p:embed/>
                  <p:pic>
                    <p:nvPicPr>
                      <p:cNvPr id="4096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190" y="2245324"/>
                        <a:ext cx="8115300" cy="314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427325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7706116" cy="1325563"/>
          </a:xfrm>
        </p:spPr>
        <p:txBody>
          <a:bodyPr>
            <a:normAutofit/>
          </a:bodyPr>
          <a:lstStyle/>
          <a:p>
            <a:r>
              <a:rPr lang="en-GB" sz="3200">
                <a:solidFill>
                  <a:schemeClr val="accent1">
                    <a:lumMod val="60000"/>
                    <a:lumOff val="40000"/>
                  </a:schemeClr>
                </a:solidFill>
              </a:rPr>
              <a:t>Asynchronous Preset </a:t>
            </a: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and Clear J-K flip-flop</a:t>
            </a:r>
            <a:br>
              <a:rPr lang="en-US" sz="1200" dirty="0">
                <a:latin typeface="Folio"/>
              </a:rPr>
            </a:b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34892686-43FE-2DF7-ED8E-EB944FF59A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119489"/>
              </p:ext>
            </p:extLst>
          </p:nvPr>
        </p:nvGraphicFramePr>
        <p:xfrm>
          <a:off x="557930" y="1690688"/>
          <a:ext cx="8267700" cy="460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817266" imgH="1566977" progId="Visio.Drawing.6">
                  <p:embed/>
                </p:oleObj>
              </mc:Choice>
              <mc:Fallback>
                <p:oleObj r:id="rId2" imgW="2817266" imgH="1566977" progId="Visio.Drawing.6">
                  <p:embed/>
                  <p:pic>
                    <p:nvPicPr>
                      <p:cNvPr id="3481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930" y="1690688"/>
                        <a:ext cx="8267700" cy="460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C24C09CD-19C7-E269-0DC2-4AB2AADF7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42492"/>
              </p:ext>
            </p:extLst>
          </p:nvPr>
        </p:nvGraphicFramePr>
        <p:xfrm>
          <a:off x="9301662" y="0"/>
          <a:ext cx="2890338" cy="281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644750" imgH="2580437" progId="Visio.Drawing.6">
                  <p:embed/>
                </p:oleObj>
              </mc:Choice>
              <mc:Fallback>
                <p:oleObj r:id="rId4" imgW="2644750" imgH="2580437" progId="Visio.Drawing.6">
                  <p:embed/>
                  <p:pic>
                    <p:nvPicPr>
                      <p:cNvPr id="3379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1662" y="0"/>
                        <a:ext cx="2890338" cy="28183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0151202-CBB0-D6AB-EF82-98392B154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40" y="1828799"/>
            <a:ext cx="9208557" cy="432730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50106A4-0326-C617-E147-3E4402EDFE5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72615667"/>
                  </p:ext>
                </p:extLst>
              </p:nvPr>
            </p:nvGraphicFramePr>
            <p:xfrm>
              <a:off x="8825630" y="3429001"/>
              <a:ext cx="3366370" cy="342900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66277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946868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253225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</a:tblGrid>
                  <a:tr h="69567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𝑷𝑹𝑬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𝑪𝑳𝑹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5137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GB" sz="2400" b="0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itchFamily="18" charset="0"/>
                                    <a:cs typeface="Times New Roman" pitchFamily="18" charset="0"/>
                                  </a:rPr>
                                  <m:t>Invalid</m:t>
                                </m:r>
                              </m:oMath>
                            </m:oMathPara>
                          </a14:m>
                          <a:endParaRPr kumimoji="0" lang="en-GB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5137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5137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11922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kumimoji="0" lang="en-GB" sz="2400" b="0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itchFamily="18" charset="0"/>
                                    <a:cs typeface="Times New Roman" pitchFamily="18" charset="0"/>
                                  </a:rPr>
                                  <m:t>Clocked</m:t>
                                </m:r>
                                <m:r>
                                  <m:rPr>
                                    <m:nor/>
                                  </m:rPr>
                                  <a:rPr kumimoji="0" lang="en-GB" sz="2400" b="0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itchFamily="18" charset="0"/>
                                    <a:cs typeface="Times New Roman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en-GB" sz="2400" b="0" i="0" u="none" strike="noStrike" cap="none" normalizeH="0" baseline="0" dirty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Times New Roman" pitchFamily="18" charset="0"/>
                                    <a:cs typeface="Times New Roman" pitchFamily="18" charset="0"/>
                                  </a:rPr>
                                  <m:t>operation</m:t>
                                </m:r>
                              </m:oMath>
                            </m:oMathPara>
                          </a14:m>
                          <a:endParaRPr kumimoji="0" lang="en-GB" sz="2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Arial" pitchFamily="34" charset="0"/>
                          </a:endParaRP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b="0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Content Placeholder 4">
                <a:extLst>
                  <a:ext uri="{FF2B5EF4-FFF2-40B4-BE49-F238E27FC236}">
                    <a16:creationId xmlns:a16="http://schemas.microsoft.com/office/drawing/2014/main" id="{750106A4-0326-C617-E147-3E4402EDFE5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72615667"/>
                  </p:ext>
                </p:extLst>
              </p:nvPr>
            </p:nvGraphicFramePr>
            <p:xfrm>
              <a:off x="8825630" y="3429001"/>
              <a:ext cx="3366370" cy="3429001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66277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946868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253225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</a:tblGrid>
                  <a:tr h="6956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521" t="-877" r="-190625" b="-396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24516" t="-877" r="-136129" b="-3964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68932" t="-877" r="-2427" b="-3964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5137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68932" t="-135294" r="-2427" b="-43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5137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51370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11922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68932" t="-188265" r="-2427" b="-1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669216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T-FLIP FLOP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59312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The </a:t>
            </a:r>
            <a:r>
              <a:rPr lang="en-US" b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 or "toggle" </a:t>
            </a:r>
            <a:r>
              <a:rPr lang="en-US" b="1" dirty="0">
                <a:latin typeface="+mj-lt"/>
              </a:rPr>
              <a:t>flip</a:t>
            </a:r>
            <a:r>
              <a:rPr lang="en-US" dirty="0">
                <a:latin typeface="+mj-lt"/>
              </a:rPr>
              <a:t>-</a:t>
            </a:r>
            <a:r>
              <a:rPr lang="en-US" b="1" dirty="0">
                <a:latin typeface="+mj-lt"/>
              </a:rPr>
              <a:t>flop</a:t>
            </a:r>
            <a:r>
              <a:rPr lang="en-US" dirty="0">
                <a:latin typeface="+mj-lt"/>
              </a:rPr>
              <a:t> </a:t>
            </a:r>
          </a:p>
          <a:p>
            <a:endParaRPr lang="en-US" dirty="0">
              <a:latin typeface="+mj-lt"/>
            </a:endParaRPr>
          </a:p>
          <a:p>
            <a:r>
              <a:rPr lang="en-US" dirty="0"/>
              <a:t>T </a:t>
            </a:r>
            <a:r>
              <a:rPr lang="en-US" dirty="0">
                <a:latin typeface="+mj-lt"/>
              </a:rPr>
              <a:t>input is low, the flip-flop holds the previous value. 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T</a:t>
            </a:r>
            <a:r>
              <a:rPr lang="en-US" dirty="0">
                <a:latin typeface="+mj-lt"/>
              </a:rPr>
              <a:t> input is high, the </a:t>
            </a:r>
            <a:r>
              <a:rPr lang="en-US" b="1" dirty="0">
                <a:latin typeface="+mj-lt"/>
              </a:rPr>
              <a:t>T flip-flop </a:t>
            </a:r>
            <a:r>
              <a:rPr lang="en-US" dirty="0">
                <a:latin typeface="+mj-lt"/>
              </a:rPr>
              <a:t>changes toggles old state ("toggles") whenever the clock input is strobed</a:t>
            </a:r>
            <a:r>
              <a:rPr lang="en-US" dirty="0"/>
              <a:t>. </a:t>
            </a: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Used in binary counters, frequency dividers, and general binary addition devices. </a:t>
            </a:r>
          </a:p>
        </p:txBody>
      </p:sp>
    </p:spTree>
    <p:extLst>
      <p:ext uri="{BB962C8B-B14F-4D97-AF65-F5344CB8AC3E}">
        <p14:creationId xmlns:p14="http://schemas.microsoft.com/office/powerpoint/2010/main" val="5445964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GB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 SYMBOL </a:t>
            </a:r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T-FLIP-FLOP)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812" y="1879600"/>
            <a:ext cx="5260901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902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T-FLIP-FLOP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Using </a:t>
            </a: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 FLOP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4" y="1893887"/>
            <a:ext cx="6556375" cy="408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511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16050" y="4402383"/>
                <a:ext cx="539115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50" y="4402383"/>
                <a:ext cx="5391150" cy="7402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4267200" y="3460751"/>
            <a:ext cx="482600" cy="5116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16050" y="3313850"/>
                <a:ext cx="44450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50" y="3313850"/>
                <a:ext cx="4445000" cy="7402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59581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(T-FLIP-FLOP)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87426305"/>
                  </p:ext>
                </p:extLst>
              </p:nvPr>
            </p:nvGraphicFramePr>
            <p:xfrm>
              <a:off x="4079238" y="2816224"/>
              <a:ext cx="4048762" cy="208869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87426305"/>
                  </p:ext>
                </p:extLst>
              </p:nvPr>
            </p:nvGraphicFramePr>
            <p:xfrm>
              <a:off x="4079238" y="2816224"/>
              <a:ext cx="4048762" cy="208869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8" t="-746" r="-173061" b="-1626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850" t="-746" r="-87611" b="-1626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3299" t="-746" r="-2062" b="-1626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641559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0428124"/>
                  </p:ext>
                </p:extLst>
              </p:nvPr>
            </p:nvGraphicFramePr>
            <p:xfrm>
              <a:off x="7277100" y="171677"/>
              <a:ext cx="4825092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0428124"/>
                  </p:ext>
                </p:extLst>
              </p:nvPr>
            </p:nvGraphicFramePr>
            <p:xfrm>
              <a:off x="7277100" y="171677"/>
              <a:ext cx="4825092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9" t="-746" r="-201894" b="-8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746" r="-101132" b="-8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746" r="-1515" b="-8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257425"/>
            <a:ext cx="94107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775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4083678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4083678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" t="-6522" r="-504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6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36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36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205037"/>
            <a:ext cx="9653587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230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6545944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6583993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6583993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" t="-6522" r="-504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6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36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36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3900" y="1901825"/>
                <a:ext cx="52832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901825"/>
                <a:ext cx="5283200" cy="7402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5500" y="3066814"/>
                <a:ext cx="47117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3066814"/>
                <a:ext cx="4711700" cy="7402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23900" y="4200289"/>
                <a:ext cx="47117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0.1+1.0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4200289"/>
                <a:ext cx="47117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25500" y="5333764"/>
                <a:ext cx="52832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0+0</m:t>
                    </m:r>
                  </m:oMath>
                </a14:m>
                <a:r>
                  <a:rPr lang="en-US" sz="4800" i="1" dirty="0"/>
                  <a:t> = </a:t>
                </a:r>
                <a:r>
                  <a:rPr lang="en-US" sz="4800" dirty="0">
                    <a:latin typeface="Cambria Math" panose="020405030504060302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5333764"/>
                <a:ext cx="5283200" cy="740267"/>
              </a:xfrm>
              <a:prstGeom prst="rect">
                <a:avLst/>
              </a:prstGeom>
              <a:blipFill>
                <a:blip r:embed="rId6"/>
                <a:stretch>
                  <a:fillRect t="-28099" b="-49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98785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5173020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5173020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" t="-6522" r="-504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6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36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36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166937"/>
            <a:ext cx="102870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810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6545944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8029632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8029632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" t="-6522" r="-504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6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36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36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3900" y="1901825"/>
                <a:ext cx="52832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901825"/>
                <a:ext cx="5283200" cy="7402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5500" y="3066814"/>
                <a:ext cx="47117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.1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3066814"/>
                <a:ext cx="4711700" cy="7402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23900" y="4200289"/>
                <a:ext cx="47117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0.0+1.1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4200289"/>
                <a:ext cx="47117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25500" y="5333764"/>
                <a:ext cx="52832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0+1</m:t>
                    </m:r>
                  </m:oMath>
                </a14:m>
                <a:r>
                  <a:rPr lang="en-US" sz="4800" i="1" dirty="0"/>
                  <a:t> = </a:t>
                </a:r>
                <a:r>
                  <a:rPr lang="en-US" sz="4800" dirty="0">
                    <a:latin typeface="Cambria Math" panose="020405030504060302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5333764"/>
                <a:ext cx="5283200" cy="740267"/>
              </a:xfrm>
              <a:prstGeom prst="rect">
                <a:avLst/>
              </a:prstGeom>
              <a:blipFill>
                <a:blip r:embed="rId6"/>
                <a:stretch>
                  <a:fillRect t="-28099" b="-49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9448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340106"/>
            <a:ext cx="11455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COMPARING CASE I &amp; II when  T=0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4120437"/>
                  </p:ext>
                </p:extLst>
              </p:nvPr>
            </p:nvGraphicFramePr>
            <p:xfrm>
              <a:off x="3641272" y="2033588"/>
              <a:ext cx="4833256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 =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</m:oMath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4120437"/>
                  </p:ext>
                </p:extLst>
              </p:nvPr>
            </p:nvGraphicFramePr>
            <p:xfrm>
              <a:off x="3641272" y="2033588"/>
              <a:ext cx="4833256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" t="-6522" r="-504" b="-2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6" t="-113953" r="-200000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36" t="-113953" r="-101515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36" t="-113953" r="-1515" b="-1139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1136" t="-245333" r="-101515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136" t="-245333" r="-1515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8970666"/>
                  </p:ext>
                </p:extLst>
              </p:nvPr>
            </p:nvGraphicFramePr>
            <p:xfrm>
              <a:off x="3641272" y="4243388"/>
              <a:ext cx="4833256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1=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</m:oMath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 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8970666"/>
                  </p:ext>
                </p:extLst>
              </p:nvPr>
            </p:nvGraphicFramePr>
            <p:xfrm>
              <a:off x="3641272" y="4243388"/>
              <a:ext cx="4833256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6" t="-6522" r="-504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6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136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136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136" t="-245333" r="-101515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136" t="-245333" r="-1515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1115698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(T-FLIP-FLOP)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39915803"/>
                  </p:ext>
                </p:extLst>
              </p:nvPr>
            </p:nvGraphicFramePr>
            <p:xfrm>
              <a:off x="4079238" y="2816224"/>
              <a:ext cx="4048762" cy="208869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39915803"/>
                  </p:ext>
                </p:extLst>
              </p:nvPr>
            </p:nvGraphicFramePr>
            <p:xfrm>
              <a:off x="4079238" y="2816224"/>
              <a:ext cx="4048762" cy="208869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8" t="-746" r="-173061" b="-1626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850" t="-746" r="-87611" b="-1626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3299" t="-746" r="-2062" b="-1626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850" t="-128571" r="-87611" b="-10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3299" t="-128571" r="-2062" b="-10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5257013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8652652"/>
                  </p:ext>
                </p:extLst>
              </p:nvPr>
            </p:nvGraphicFramePr>
            <p:xfrm>
              <a:off x="7277100" y="171677"/>
              <a:ext cx="4825092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8652652"/>
                  </p:ext>
                </p:extLst>
              </p:nvPr>
            </p:nvGraphicFramePr>
            <p:xfrm>
              <a:off x="7277100" y="171677"/>
              <a:ext cx="4825092" cy="145233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08364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9" t="-746" r="-201894" b="-8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000" t="-746" r="-101132" b="-843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0758" t="-746" r="-1515" b="-843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206625"/>
            <a:ext cx="96012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8358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9644588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9644588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" t="-6522" r="-504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6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36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36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50" y="2105025"/>
            <a:ext cx="97917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705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6545944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7289594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7289594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" t="-6522" r="-504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6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36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36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3900" y="1901825"/>
                <a:ext cx="52832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901825"/>
                <a:ext cx="5283200" cy="7402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5500" y="3066814"/>
                <a:ext cx="47117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1.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.0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3066814"/>
                <a:ext cx="4711700" cy="7402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23900" y="4200289"/>
                <a:ext cx="47117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1.1+0.0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4200289"/>
                <a:ext cx="47117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25500" y="5333764"/>
                <a:ext cx="52832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1+0</m:t>
                    </m:r>
                  </m:oMath>
                </a14:m>
                <a:r>
                  <a:rPr lang="en-US" sz="4800" i="1" dirty="0"/>
                  <a:t> = </a:t>
                </a:r>
                <a:r>
                  <a:rPr lang="en-US" sz="4800" dirty="0">
                    <a:latin typeface="Cambria Math" panose="020405030504060302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5333764"/>
                <a:ext cx="5283200" cy="740267"/>
              </a:xfrm>
              <a:prstGeom prst="rect">
                <a:avLst/>
              </a:prstGeom>
              <a:blipFill>
                <a:blip r:embed="rId6"/>
                <a:stretch>
                  <a:fillRect t="-28099" b="-49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556336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3073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T-FLIP-FLOP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1901266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81901266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" t="-6522" r="-504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6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36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36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422525"/>
            <a:ext cx="97917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9396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6545944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CHARACTERISTIC EQUATION  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0379545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0379545"/>
                  </p:ext>
                </p:extLst>
              </p:nvPr>
            </p:nvGraphicFramePr>
            <p:xfrm>
              <a:off x="7269844" y="153988"/>
              <a:ext cx="4833256" cy="15367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" t="-6522" r="-504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6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36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36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3900" y="1901825"/>
                <a:ext cx="52832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1901825"/>
                <a:ext cx="5283200" cy="7402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5500" y="3066814"/>
                <a:ext cx="47117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1.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.1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3066814"/>
                <a:ext cx="4711700" cy="7402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23900" y="4200289"/>
                <a:ext cx="47117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1.0+0.1</m:t>
                      </m:r>
                    </m:oMath>
                  </m:oMathPara>
                </a14:m>
                <a:endParaRPr lang="en-US" sz="48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4200289"/>
                <a:ext cx="4711700" cy="7402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25500" y="5371864"/>
                <a:ext cx="5283200" cy="7402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4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0+0</m:t>
                    </m:r>
                  </m:oMath>
                </a14:m>
                <a:r>
                  <a:rPr lang="en-US" sz="4800" i="1" dirty="0"/>
                  <a:t> = </a:t>
                </a:r>
                <a:r>
                  <a:rPr lang="en-US" sz="4800" dirty="0">
                    <a:latin typeface="Cambria Math" panose="02040503050406030204" pitchFamily="18" charset="0"/>
                  </a:rPr>
                  <a:t>0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500" y="5371864"/>
                <a:ext cx="5283200" cy="740267"/>
              </a:xfrm>
              <a:prstGeom prst="rect">
                <a:avLst/>
              </a:prstGeom>
              <a:blipFill>
                <a:blip r:embed="rId6"/>
                <a:stretch>
                  <a:fillRect t="-27049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1799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340106"/>
            <a:ext cx="114554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COMPARING CASE I &amp; II </a:t>
            </a:r>
            <a:r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when  T=1 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7469694"/>
                  </p:ext>
                </p:extLst>
              </p:nvPr>
            </p:nvGraphicFramePr>
            <p:xfrm>
              <a:off x="3641272" y="2033588"/>
              <a:ext cx="4833256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 =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</m:oMath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7469694"/>
                  </p:ext>
                </p:extLst>
              </p:nvPr>
            </p:nvGraphicFramePr>
            <p:xfrm>
              <a:off x="3641272" y="2033588"/>
              <a:ext cx="4833256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6" t="-6522" r="-504" b="-200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6" t="-113953" r="-200000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1136" t="-113953" r="-101515" b="-1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01136" t="-113953" r="-1515" b="-1139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1136" t="-245333" r="-101515" b="-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1136" t="-245333" r="-1515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0497523"/>
                  </p:ext>
                </p:extLst>
              </p:nvPr>
            </p:nvGraphicFramePr>
            <p:xfrm>
              <a:off x="3641272" y="4243388"/>
              <a:ext cx="4833256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pPr algn="l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CASE</a:t>
                          </a:r>
                          <a:r>
                            <a:rPr lang="en-US" sz="2800" i="1" baseline="0" dirty="0">
                              <a:solidFill>
                                <a:schemeClr val="tx1"/>
                              </a:solidFill>
                            </a:rPr>
                            <a:t> II:   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8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oMath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𝐓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𝐓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383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 =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2400" b="1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𝐓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1=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  <m:sub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𝐓</m:t>
                                  </m:r>
                                </m:sub>
                              </m:sSub>
                            </m:oMath>
                          </a14:m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0497523"/>
                  </p:ext>
                </p:extLst>
              </p:nvPr>
            </p:nvGraphicFramePr>
            <p:xfrm>
              <a:off x="3641272" y="4243388"/>
              <a:ext cx="4833256" cy="153746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616528">
                      <a:extLst>
                        <a:ext uri="{9D8B030D-6E8A-4147-A177-3AD203B41FA5}">
                          <a16:colId xmlns:a16="http://schemas.microsoft.com/office/drawing/2014/main" val="1063947636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2485786837"/>
                        </a:ext>
                      </a:extLst>
                    </a:gridCol>
                    <a:gridCol w="1608364">
                      <a:extLst>
                        <a:ext uri="{9D8B030D-6E8A-4147-A177-3AD203B41FA5}">
                          <a16:colId xmlns:a16="http://schemas.microsoft.com/office/drawing/2014/main" val="15910017"/>
                        </a:ext>
                      </a:extLst>
                    </a:gridCol>
                  </a:tblGrid>
                  <a:tr h="55880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6" t="-6522" r="-504" b="-19891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1213284"/>
                      </a:ext>
                    </a:extLst>
                  </a:tr>
                  <a:tr h="5207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6" t="-113953" r="-200000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1136" t="-113953" r="-101515" b="-1127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1136" t="-113953" r="-1515" b="-1127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9793186"/>
                      </a:ext>
                    </a:extLst>
                  </a:tr>
                  <a:tr h="4579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1136" t="-245333" r="-101515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136" t="-245333" r="-1515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5582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6011604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(T-FLIP-FLOP)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4079238" y="2816224"/>
              <a:ext cx="4048762" cy="208869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/>
              </p:nvPr>
            </p:nvGraphicFramePr>
            <p:xfrm>
              <a:off x="4079238" y="2816224"/>
              <a:ext cx="4048762" cy="208869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8" t="-746" r="-173061" b="-1626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850" t="-746" r="-87611" b="-1626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3299" t="-746" r="-2062" b="-1626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850" t="-128571" r="-87611" b="-10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3299" t="-128571" r="-2062" b="-10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8850" t="-228571" r="-87611" b="-76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3299" t="-228571" r="-2062" b="-76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1542412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(T-FLIP-FLOP)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18011352"/>
                  </p:ext>
                </p:extLst>
              </p:nvPr>
            </p:nvGraphicFramePr>
            <p:xfrm>
              <a:off x="4079238" y="2816224"/>
              <a:ext cx="6487162" cy="208869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54762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536700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  <a:gridCol w="2070100">
                      <a:extLst>
                        <a:ext uri="{9D8B030D-6E8A-4147-A177-3AD203B41FA5}">
                          <a16:colId xmlns:a16="http://schemas.microsoft.com/office/drawing/2014/main" val="3322789003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1" dirty="0">
                              <a:solidFill>
                                <a:schemeClr val="tx1"/>
                              </a:solidFill>
                            </a:rPr>
                            <a:t>NO CHANGE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i="1" kern="12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TOGGLE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818011352"/>
                  </p:ext>
                </p:extLst>
              </p:nvPr>
            </p:nvGraphicFramePr>
            <p:xfrm>
              <a:off x="4079238" y="2816224"/>
              <a:ext cx="6487162" cy="2088697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54762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536700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  <a:gridCol w="2070100">
                      <a:extLst>
                        <a:ext uri="{9D8B030D-6E8A-4147-A177-3AD203B41FA5}">
                          <a16:colId xmlns:a16="http://schemas.microsoft.com/office/drawing/2014/main" val="3322789003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85" t="-746" r="-418932" b="-170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528" t="-746" r="-223221" b="-170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8095" t="-746" r="-136508" b="-170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smtClean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528" t="-128571" r="-223221" b="-1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8095" t="-128571" r="-136508" b="-1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i="1" dirty="0" smtClean="0">
                              <a:solidFill>
                                <a:schemeClr val="tx1"/>
                              </a:solidFill>
                            </a:rPr>
                            <a:t>NO CHANGE</a:t>
                          </a:r>
                          <a:endParaRPr lang="en-US" sz="28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7528" t="-228571" r="-223221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8095" t="-228571" r="-136508" b="-1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800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a:t>TOGGLE</a:t>
                          </a:r>
                          <a:endParaRPr lang="en-US" sz="280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431170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4300" y="1122363"/>
            <a:ext cx="9512300" cy="238760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Flip Flop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11162"/>
          </a:xfrm>
        </p:spPr>
        <p:txBody>
          <a:bodyPr>
            <a:normAutofit lnSpcReduction="10000"/>
          </a:bodyPr>
          <a:lstStyle/>
          <a:p>
            <a:pPr algn="r"/>
            <a:r>
              <a:rPr lang="en-US" dirty="0"/>
              <a:t>D-Type Positive Edge Triggered</a:t>
            </a:r>
          </a:p>
        </p:txBody>
      </p:sp>
    </p:spTree>
    <p:extLst>
      <p:ext uri="{BB962C8B-B14F-4D97-AF65-F5344CB8AC3E}">
        <p14:creationId xmlns:p14="http://schemas.microsoft.com/office/powerpoint/2010/main" val="6079452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Master Slave D-FLIP-FLOP</a:t>
            </a:r>
            <a:r>
              <a:rPr lang="en-US" sz="31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(NEGATIVE EDGE TRIGGERED)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49" y="1993900"/>
            <a:ext cx="943437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472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9" y="1830387"/>
            <a:ext cx="4557241" cy="371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69330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3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3300" y="1447800"/>
            <a:ext cx="10223499" cy="524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7583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3800"/>
            <a:ext cx="10515600" cy="4983163"/>
          </a:xfrm>
        </p:spPr>
        <p:txBody>
          <a:bodyPr/>
          <a:lstStyle/>
          <a:p>
            <a:r>
              <a:rPr lang="en-US" dirty="0">
                <a:latin typeface="+mj-lt"/>
              </a:rPr>
              <a:t>Three</a:t>
            </a:r>
            <a:r>
              <a:rPr lang="en-US" dirty="0"/>
              <a:t> </a:t>
            </a:r>
            <a:r>
              <a:rPr lang="en-US" b="1" i="1" dirty="0"/>
              <a:t>SR LATCH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990600" y="1765300"/>
            <a:ext cx="10223499" cy="4965699"/>
            <a:chOff x="990600" y="1765300"/>
            <a:chExt cx="10223499" cy="4965699"/>
          </a:xfrm>
        </p:grpSpPr>
        <p:pic>
          <p:nvPicPr>
            <p:cNvPr id="4" name="Content Placeholder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600" y="1765300"/>
              <a:ext cx="10223499" cy="4965699"/>
            </a:xfrm>
            <a:prstGeom prst="rect">
              <a:avLst/>
            </a:prstGeom>
          </p:spPr>
        </p:pic>
        <p:sp>
          <p:nvSpPr>
            <p:cNvPr id="5" name="Oval 4"/>
            <p:cNvSpPr/>
            <p:nvPr/>
          </p:nvSpPr>
          <p:spPr>
            <a:xfrm>
              <a:off x="3289300" y="1765300"/>
              <a:ext cx="3390900" cy="21463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3162300" y="4307681"/>
              <a:ext cx="3390900" cy="21463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616700" y="3155554"/>
              <a:ext cx="3390900" cy="21463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208410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3800"/>
            <a:ext cx="10515600" cy="4983163"/>
          </a:xfrm>
        </p:spPr>
        <p:txBody>
          <a:bodyPr/>
          <a:lstStyle/>
          <a:p>
            <a:r>
              <a:rPr lang="en-US" dirty="0">
                <a:latin typeface="+mj-lt"/>
              </a:rPr>
              <a:t>Three</a:t>
            </a:r>
            <a:r>
              <a:rPr lang="en-US" dirty="0"/>
              <a:t> </a:t>
            </a:r>
            <a:r>
              <a:rPr lang="en-US" b="1" i="1" dirty="0"/>
              <a:t>SR LATCH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130301" y="1752600"/>
            <a:ext cx="10223499" cy="4965699"/>
            <a:chOff x="990600" y="1765300"/>
            <a:chExt cx="10223499" cy="4965699"/>
          </a:xfrm>
        </p:grpSpPr>
        <p:pic>
          <p:nvPicPr>
            <p:cNvPr id="4" name="Content Placeholder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0600" y="1765300"/>
              <a:ext cx="10223499" cy="4965699"/>
            </a:xfrm>
            <a:prstGeom prst="rect">
              <a:avLst/>
            </a:prstGeom>
          </p:spPr>
        </p:pic>
        <p:sp>
          <p:nvSpPr>
            <p:cNvPr id="5" name="Oval 4"/>
            <p:cNvSpPr/>
            <p:nvPr/>
          </p:nvSpPr>
          <p:spPr>
            <a:xfrm>
              <a:off x="3289300" y="1765300"/>
              <a:ext cx="3390900" cy="21463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3162300" y="4307681"/>
              <a:ext cx="3390900" cy="21463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616700" y="3155554"/>
              <a:ext cx="3390900" cy="21463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857750" y="2469118"/>
            <a:ext cx="72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0900" y="5488265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BOTTOM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0" y="4867315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54594084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SR LATCH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667000" y="2232024"/>
              <a:ext cx="7276124" cy="363945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  <a:gridCol w="2110153">
                      <a:extLst>
                        <a:ext uri="{9D8B030D-6E8A-4147-A177-3AD203B41FA5}">
                          <a16:colId xmlns:a16="http://schemas.microsoft.com/office/drawing/2014/main" val="166570066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80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80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80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INVALID CONDITION</a:t>
                          </a:r>
                        </a:p>
                        <a:p>
                          <a:pPr marL="0" algn="ctr" defTabSz="914400" rtl="0" eaLnBrk="1" latinLnBrk="0" hangingPunct="1"/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1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1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NO</a:t>
                          </a:r>
                          <a:r>
                            <a:rPr lang="en-US" b="1" baseline="0" dirty="0"/>
                            <a:t> CHANGE</a:t>
                          </a:r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85139951"/>
                  </p:ext>
                </p:extLst>
              </p:nvPr>
            </p:nvGraphicFramePr>
            <p:xfrm>
              <a:off x="2667000" y="2232024"/>
              <a:ext cx="7276124" cy="363945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  <a:gridCol w="2110153">
                      <a:extLst>
                        <a:ext uri="{9D8B030D-6E8A-4147-A177-3AD203B41FA5}">
                          <a16:colId xmlns:a16="http://schemas.microsoft.com/office/drawing/2014/main" val="166570066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46" r="-555191" b="-35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102" t="-746" r="-314694" b="-35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746" r="-241150" b="-35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746" r="-180928" b="-35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smtClean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INVALID CONDITION</a:t>
                          </a:r>
                        </a:p>
                        <a:p>
                          <a:pPr marL="0" algn="ctr" defTabSz="914400" rtl="0" eaLnBrk="1" latinLnBrk="0" hangingPunct="1"/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RESET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470476" r="-241150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470476" r="-180928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NO</a:t>
                          </a:r>
                          <a:r>
                            <a:rPr lang="en-US" b="1" baseline="0" dirty="0" smtClean="0"/>
                            <a:t> CHANGE</a:t>
                          </a:r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1209754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SR LATCH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667000" y="2232024"/>
              <a:ext cx="6094437" cy="363945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2110153">
                      <a:extLst>
                        <a:ext uri="{9D8B030D-6E8A-4147-A177-3AD203B41FA5}">
                          <a16:colId xmlns:a16="http://schemas.microsoft.com/office/drawing/2014/main" val="166570066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80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280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R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800" i="0" dirty="0" smtClean="0">
                                        <a:solidFill>
                                          <a:schemeClr val="tx1"/>
                                        </a:solidFill>
                                      </a:rPr>
                                      <m:t> 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INVALID CONDITION</a:t>
                          </a:r>
                        </a:p>
                        <a:p>
                          <a:pPr marL="0" algn="ctr" defTabSz="914400" rtl="0" eaLnBrk="1" latinLnBrk="0" hangingPunct="1"/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1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NO</a:t>
                          </a:r>
                          <a:r>
                            <a:rPr lang="en-US" b="1" baseline="0" dirty="0"/>
                            <a:t> CHANGE</a:t>
                          </a:r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/>
              </p:nvPr>
            </p:nvGraphicFramePr>
            <p:xfrm>
              <a:off x="2667000" y="2232024"/>
              <a:ext cx="6094437" cy="363945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2110153">
                      <a:extLst>
                        <a:ext uri="{9D8B030D-6E8A-4147-A177-3AD203B41FA5}">
                          <a16:colId xmlns:a16="http://schemas.microsoft.com/office/drawing/2014/main" val="166570066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46" r="-449180" b="-35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102" t="-746" r="-235510" b="-35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746" r="-155310" b="-3514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smtClean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RC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INVALID CONDITION</a:t>
                          </a:r>
                        </a:p>
                        <a:p>
                          <a:pPr marL="0" algn="ctr" defTabSz="914400" rtl="0" eaLnBrk="1" latinLnBrk="0" hangingPunct="1"/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8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RESET</a:t>
                          </a:r>
                          <a:endParaRPr lang="en-US" sz="18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470476" r="-155310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NO</a:t>
                          </a:r>
                          <a:r>
                            <a:rPr lang="en-US" b="1" baseline="0" dirty="0" smtClean="0"/>
                            <a:t> CHANGE</a:t>
                          </a:r>
                          <a:endParaRPr lang="en-US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9927486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992187"/>
            <a:ext cx="10534650" cy="53054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3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95" t="-1053" r="-2488" b="-1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0053736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75" y="1335087"/>
            <a:ext cx="10534650" cy="53054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00" y="246856"/>
            <a:ext cx="10515600" cy="8413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95" t="-1053" r="-2488" b="-1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2428593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𝑪𝒍𝒌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/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46" r="-366120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102" t="-746" r="-173469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746" r="-88053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746" r="-2577" b="-3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129808" r="-88053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129808" r="-2577" b="-3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4483100" y="4432300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4470400" y="5095421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37519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𝑪𝒍𝒌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/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46" r="-366120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102" t="-746" r="-173469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746" r="-88053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746" r="-2577" b="-3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129808" r="-88053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129808" r="-2577" b="-3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4483100" y="4432300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4470400" y="5095421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421185" y="4215039"/>
            <a:ext cx="6273800" cy="8155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744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675" y="1335087"/>
            <a:ext cx="10534650" cy="53054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00" y="246856"/>
            <a:ext cx="10515600" cy="8413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95" t="-1053" r="-2488" b="-1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10121900" y="6108700"/>
            <a:ext cx="25402" cy="4191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98872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𝑪𝒍𝒌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/>
              </p:nvPr>
            </p:nvGraphicFramePr>
            <p:xfrm>
              <a:off x="3873500" y="22701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46" r="-366120" b="-3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102" t="-746" r="-173469" b="-3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746" r="-88053" b="-3134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746" r="-2577" b="-3134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129808" r="-88053" b="-3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129808" r="-2577" b="-3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4483100" y="4432300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4470400" y="5095421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89345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1347787"/>
            <a:ext cx="10534650" cy="53054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00" y="246856"/>
            <a:ext cx="10515600" cy="8413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95" t="-1053" r="-2488" b="-1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9228223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937000" y="22574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𝑪𝒍𝒌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𝑻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1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1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𝑻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/>
              </p:nvPr>
            </p:nvGraphicFramePr>
            <p:xfrm>
              <a:off x="3937000" y="22574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3" t="-746" r="-363587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510" t="-746" r="-173061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265" t="-746" r="-87611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144" t="-746" r="-2062" b="-3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265" t="-129808" r="-87611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144" t="-129808" r="-2062" b="-3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265" t="-227619" r="-87611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144" t="-227619" r="-2062" b="-2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4483100" y="4432300"/>
            <a:ext cx="127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4470400" y="5095421"/>
            <a:ext cx="127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00478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6500"/>
            <a:ext cx="10534650" cy="53054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3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95" t="-1053" r="-2488" b="-1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7967636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873500" y="22447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𝑪𝒍𝒌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/>
              </p:nvPr>
            </p:nvGraphicFramePr>
            <p:xfrm>
              <a:off x="3873500" y="2244724"/>
              <a:ext cx="5165971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6" t="-746" r="-366120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102" t="-746" r="-173469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746" r="-88053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746" r="-2577" b="-3179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823" t="-129808" r="-88053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629" t="-129808" r="-2577" b="-3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4483100" y="4432300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4470400" y="5095421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/>
          <p:cNvSpPr/>
          <p:nvPr/>
        </p:nvSpPr>
        <p:spPr>
          <a:xfrm>
            <a:off x="3319585" y="4931682"/>
            <a:ext cx="6273800" cy="8155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1128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00" y="246856"/>
            <a:ext cx="10515600" cy="8413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" y="1088231"/>
            <a:ext cx="10534650" cy="5305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95" t="-1053" r="-2488" b="-1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10121900" y="6108700"/>
            <a:ext cx="25402" cy="4191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5797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937000" y="2298700"/>
              <a:ext cx="5165971" cy="3332843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78739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𝑪𝒍𝒌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tx1">
                                            <a:lumMod val="65000"/>
                                            <a:lumOff val="3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tx1">
                                                <a:lumMod val="65000"/>
                                                <a:lumOff val="35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/>
              </p:nvPr>
            </p:nvGraphicFramePr>
            <p:xfrm>
              <a:off x="3937000" y="2298700"/>
              <a:ext cx="5165971" cy="3332843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7873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3" t="-775" r="-363587" b="-3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510" t="-775" r="-173061" b="-3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265" t="-775" r="-87611" b="-3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144" t="-775" r="-2062" b="-3302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265" t="-123810" r="-87611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144" t="-123810" r="-2062" b="-3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b="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b="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265" t="-225962" r="-87611" b="-2086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144" t="-225962" r="-2062" b="-2086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b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4483100" y="4432300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4470400" y="5095421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00193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" y="1075531"/>
            <a:ext cx="10534650" cy="53054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00" y="246856"/>
            <a:ext cx="10515600" cy="841375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8343900" y="5493278"/>
              <a:ext cx="3676650" cy="1147234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5550">
                      <a:extLst>
                        <a:ext uri="{9D8B030D-6E8A-4147-A177-3AD203B41FA5}">
                          <a16:colId xmlns:a16="http://schemas.microsoft.com/office/drawing/2014/main" val="3521166739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3583048283"/>
                        </a:ext>
                      </a:extLst>
                    </a:gridCol>
                    <a:gridCol w="1225550">
                      <a:extLst>
                        <a:ext uri="{9D8B030D-6E8A-4147-A177-3AD203B41FA5}">
                          <a16:colId xmlns:a16="http://schemas.microsoft.com/office/drawing/2014/main" val="1889044182"/>
                        </a:ext>
                      </a:extLst>
                    </a:gridCol>
                  </a:tblGrid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err="1" smtClean="0">
                              <a:solidFill>
                                <a:schemeClr val="tx1"/>
                              </a:solidFill>
                            </a:rPr>
                            <a:t>Clk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95" t="-1053" r="-2488" b="-11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1114107"/>
                      </a:ext>
                    </a:extLst>
                  </a:tr>
                  <a:tr h="5736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592637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2837982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3937000" y="2298700"/>
              <a:ext cx="5165971" cy="3332843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78739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𝑪𝒍𝒌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/>
              </p:nvPr>
            </p:nvGraphicFramePr>
            <p:xfrm>
              <a:off x="3937000" y="2298700"/>
              <a:ext cx="5165971" cy="3332843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209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491176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375899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1181687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</a:tblGrid>
                  <a:tr h="7873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43" t="-775" r="-363587" b="-3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510" t="-775" r="-173061" b="-3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265" t="-775" r="-87611" b="-3302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144" t="-775" r="-2062" b="-3302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265" t="-123810" r="-87611" b="-3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144" t="-123810" r="-2062" b="-3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265" t="-225962" r="-87611" b="-2086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8144" t="-225962" r="-2062" b="-2086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4483100" y="4432300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4470400" y="5095421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83406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00" y="403225"/>
            <a:ext cx="7200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TRUTH TABLE</a:t>
            </a:r>
            <a:endParaRPr lang="en-US" sz="32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2908300" y="2232024"/>
              <a:ext cx="6375400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909228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213577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119760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961703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  <a:gridCol w="2171132">
                      <a:extLst>
                        <a:ext uri="{9D8B030D-6E8A-4147-A177-3AD203B41FA5}">
                          <a16:colId xmlns:a16="http://schemas.microsoft.com/office/drawing/2014/main" val="145515683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𝑪𝒍𝒌</m:t>
                                </m:r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80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8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8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𝐭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1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 CHANGE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sz="2400" b="0" i="1" kern="1200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b="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 CHANGE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idx="1"/>
                <p:extLst/>
              </p:nvPr>
            </p:nvGraphicFramePr>
            <p:xfrm>
              <a:off x="2908300" y="2232024"/>
              <a:ext cx="6375400" cy="3361419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909228">
                      <a:extLst>
                        <a:ext uri="{9D8B030D-6E8A-4147-A177-3AD203B41FA5}">
                          <a16:colId xmlns:a16="http://schemas.microsoft.com/office/drawing/2014/main" val="2817786732"/>
                        </a:ext>
                      </a:extLst>
                    </a:gridCol>
                    <a:gridCol w="1213577">
                      <a:extLst>
                        <a:ext uri="{9D8B030D-6E8A-4147-A177-3AD203B41FA5}">
                          <a16:colId xmlns:a16="http://schemas.microsoft.com/office/drawing/2014/main" val="4028518993"/>
                        </a:ext>
                      </a:extLst>
                    </a:gridCol>
                    <a:gridCol w="1119760">
                      <a:extLst>
                        <a:ext uri="{9D8B030D-6E8A-4147-A177-3AD203B41FA5}">
                          <a16:colId xmlns:a16="http://schemas.microsoft.com/office/drawing/2014/main" val="2712590100"/>
                        </a:ext>
                      </a:extLst>
                    </a:gridCol>
                    <a:gridCol w="961703">
                      <a:extLst>
                        <a:ext uri="{9D8B030D-6E8A-4147-A177-3AD203B41FA5}">
                          <a16:colId xmlns:a16="http://schemas.microsoft.com/office/drawing/2014/main" val="1628063102"/>
                        </a:ext>
                      </a:extLst>
                    </a:gridCol>
                    <a:gridCol w="2171132">
                      <a:extLst>
                        <a:ext uri="{9D8B030D-6E8A-4147-A177-3AD203B41FA5}">
                          <a16:colId xmlns:a16="http://schemas.microsoft.com/office/drawing/2014/main" val="1455156832"/>
                        </a:ext>
                      </a:extLst>
                    </a:gridCol>
                  </a:tblGrid>
                  <a:tr h="8159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71" t="-746" r="-605369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5377" t="-746" r="-353266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674" t="-746" r="-282065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342" t="-746" r="-228481" b="-3179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 smtClean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  <a:endParaRPr 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625923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674" t="-129808" r="-282065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342" t="-129808" r="-228481" b="-3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 CHANGE</a:t>
                          </a:r>
                          <a:endParaRPr lang="en-US" sz="2400" b="1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78297069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X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9674" t="-227619" r="-282065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37342" t="-227619" r="-228481" b="-2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NO CHANGE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2756318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RESET</a:t>
                          </a:r>
                          <a:endParaRPr lang="en-US" sz="2400" b="1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46622450"/>
                      </a:ext>
                    </a:extLst>
                  </a:tr>
                  <a:tr h="636361">
                    <a:tc>
                      <a:txBody>
                        <a:bodyPr/>
                        <a:lstStyle/>
                        <a:p>
                          <a:pPr algn="ctr"/>
                          <a:endParaRPr lang="en-US" sz="24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</a:t>
                          </a:r>
                          <a:endParaRPr lang="en-US" sz="24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2400" b="1" i="1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SET</a:t>
                          </a:r>
                          <a:endParaRPr lang="en-US" sz="2400" b="1" i="1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251542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/>
          <p:cNvCxnSpPr/>
          <p:nvPr/>
        </p:nvCxnSpPr>
        <p:spPr>
          <a:xfrm flipV="1">
            <a:off x="3403600" y="4419600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3403600" y="4993821"/>
            <a:ext cx="12700" cy="381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12903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2074862"/>
            <a:ext cx="9144000" cy="2573337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D-FLIP FLOP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Edwardian Script ITC" panose="030303020407070D0804" pitchFamily="66" charset="0"/>
              </a:rPr>
              <a:t>with 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ASYNCHRONOUS RESET</a:t>
            </a:r>
          </a:p>
        </p:txBody>
      </p:sp>
    </p:spTree>
    <p:extLst>
      <p:ext uri="{BB962C8B-B14F-4D97-AF65-F5344CB8AC3E}">
        <p14:creationId xmlns:p14="http://schemas.microsoft.com/office/powerpoint/2010/main" val="36192803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365125"/>
            <a:ext cx="106299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D-FLIP-FLOP </a:t>
            </a:r>
            <a:r>
              <a:rPr lang="en-US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(POSITIVE EDGE TRIGGERED)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9" y="1830387"/>
            <a:ext cx="4557241" cy="371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28283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BLOCK DIAGRAM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(D-FLIP FLOP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with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 DIRECT INPUT) 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9812" y="2135981"/>
            <a:ext cx="5310188" cy="35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70139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D-FLIP FLOP with DIRECT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</a:rPr>
              <a:t>Force </a:t>
            </a:r>
            <a:r>
              <a:rPr lang="en-US" dirty="0"/>
              <a:t>Flip Flop </a:t>
            </a:r>
            <a:r>
              <a:rPr lang="en-US" dirty="0">
                <a:latin typeface="+mj-lt"/>
              </a:rPr>
              <a:t>to Particular state independently of the </a:t>
            </a:r>
            <a:r>
              <a:rPr lang="en-US" dirty="0"/>
              <a:t>CLOCK</a:t>
            </a:r>
          </a:p>
          <a:p>
            <a:endParaRPr lang="en-US" dirty="0"/>
          </a:p>
          <a:p>
            <a:pPr lvl="1"/>
            <a:r>
              <a:rPr lang="en-US" dirty="0"/>
              <a:t>PRESET/ DIRECT SET: </a:t>
            </a:r>
            <a:r>
              <a:rPr lang="en-US" i="1" dirty="0">
                <a:latin typeface="+mj-lt"/>
              </a:rPr>
              <a:t>Set Flip-Flop to 1</a:t>
            </a:r>
          </a:p>
          <a:p>
            <a:pPr lvl="1"/>
            <a:endParaRPr lang="en-US" i="1" dirty="0">
              <a:latin typeface="+mj-lt"/>
            </a:endParaRPr>
          </a:p>
          <a:p>
            <a:pPr lvl="1"/>
            <a:r>
              <a:rPr lang="en-US" dirty="0"/>
              <a:t>CLEAR/ DIRECT RESET: </a:t>
            </a:r>
            <a:r>
              <a:rPr lang="en-US" i="1" dirty="0">
                <a:latin typeface="+mj-lt"/>
              </a:rPr>
              <a:t>Clears Flip-Flop to 0</a:t>
            </a:r>
          </a:p>
          <a:p>
            <a:pPr lvl="1"/>
            <a:endParaRPr lang="en-US" i="1" dirty="0">
              <a:latin typeface="+mj-lt"/>
            </a:endParaRPr>
          </a:p>
          <a:p>
            <a:pPr lvl="1"/>
            <a:r>
              <a:rPr lang="en-US" dirty="0"/>
              <a:t>Usage: </a:t>
            </a:r>
            <a:r>
              <a:rPr lang="en-US" sz="2000" dirty="0"/>
              <a:t>Digital systems </a:t>
            </a:r>
            <a:r>
              <a:rPr lang="en-US" sz="2000"/>
              <a:t>are </a:t>
            </a:r>
            <a:r>
              <a:rPr lang="en-US">
                <a:latin typeface="+mj-lt"/>
              </a:rPr>
              <a:t>Cleared/PRESET </a:t>
            </a:r>
            <a:r>
              <a:rPr lang="en-US" dirty="0">
                <a:latin typeface="+mj-lt"/>
              </a:rPr>
              <a:t>before CLOCKED OPERATION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64446039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D-FLIP FLOP AYSNCHRONOUS RESET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69" r="1643"/>
          <a:stretch/>
        </p:blipFill>
        <p:spPr>
          <a:xfrm>
            <a:off x="647700" y="1511300"/>
            <a:ext cx="10642600" cy="49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887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D-FLIP FLOP AYSNCHRONOUS RESET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3629" r="6783" b="6526"/>
          <a:stretch/>
        </p:blipFill>
        <p:spPr>
          <a:xfrm>
            <a:off x="233362" y="1320800"/>
            <a:ext cx="11818937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0850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FUNCTION TABLE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(D FLIPFLOP with DIRECT INPUTS)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11940286"/>
                  </p:ext>
                </p:extLst>
              </p:nvPr>
            </p:nvGraphicFramePr>
            <p:xfrm>
              <a:off x="4140200" y="3005454"/>
              <a:ext cx="4241800" cy="225806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48360">
                      <a:extLst>
                        <a:ext uri="{9D8B030D-6E8A-4147-A177-3AD203B41FA5}">
                          <a16:colId xmlns:a16="http://schemas.microsoft.com/office/drawing/2014/main" val="2898006790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2106223339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1749235536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3212603414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2871844788"/>
                        </a:ext>
                      </a:extLst>
                    </a:gridCol>
                  </a:tblGrid>
                  <a:tr h="5645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𝑪𝒍𝒌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0066851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89979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296375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67810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11940286"/>
                  </p:ext>
                </p:extLst>
              </p:nvPr>
            </p:nvGraphicFramePr>
            <p:xfrm>
              <a:off x="4140200" y="3005454"/>
              <a:ext cx="4241800" cy="225806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48360">
                      <a:extLst>
                        <a:ext uri="{9D8B030D-6E8A-4147-A177-3AD203B41FA5}">
                          <a16:colId xmlns:a16="http://schemas.microsoft.com/office/drawing/2014/main" val="2898006790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2106223339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1749235536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3212603414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2871844788"/>
                        </a:ext>
                      </a:extLst>
                    </a:gridCol>
                  </a:tblGrid>
                  <a:tr h="5645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9" t="-2151" r="-404317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19" t="-2151" r="-304317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286" t="-2151" r="-202143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439" t="-2151" r="-103597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439" t="-2151" r="-3597" b="-3139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066851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89979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296375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678102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5397500" y="4183380"/>
            <a:ext cx="12700" cy="4445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5410200" y="4755514"/>
            <a:ext cx="12700" cy="4445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47723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D-FLIP FLOP AYSNCHRONOUS RESET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7779" y="1690688"/>
            <a:ext cx="11036441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01784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TABLE (D FLIPFLOP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with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DIRECT INPUTS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98054730"/>
                  </p:ext>
                </p:extLst>
              </p:nvPr>
            </p:nvGraphicFramePr>
            <p:xfrm>
              <a:off x="4140200" y="3005454"/>
              <a:ext cx="4241800" cy="225806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48360">
                      <a:extLst>
                        <a:ext uri="{9D8B030D-6E8A-4147-A177-3AD203B41FA5}">
                          <a16:colId xmlns:a16="http://schemas.microsoft.com/office/drawing/2014/main" val="2898006790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2106223339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1749235536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3212603414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2871844788"/>
                        </a:ext>
                      </a:extLst>
                    </a:gridCol>
                  </a:tblGrid>
                  <a:tr h="5645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𝑪𝒍𝒌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b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e>
                                </m:acc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0066851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89979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296375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67810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98054730"/>
                  </p:ext>
                </p:extLst>
              </p:nvPr>
            </p:nvGraphicFramePr>
            <p:xfrm>
              <a:off x="4140200" y="3005454"/>
              <a:ext cx="4241800" cy="225806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848360">
                      <a:extLst>
                        <a:ext uri="{9D8B030D-6E8A-4147-A177-3AD203B41FA5}">
                          <a16:colId xmlns:a16="http://schemas.microsoft.com/office/drawing/2014/main" val="2898006790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2106223339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1749235536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3212603414"/>
                        </a:ext>
                      </a:extLst>
                    </a:gridCol>
                    <a:gridCol w="848360">
                      <a:extLst>
                        <a:ext uri="{9D8B030D-6E8A-4147-A177-3AD203B41FA5}">
                          <a16:colId xmlns:a16="http://schemas.microsoft.com/office/drawing/2014/main" val="2871844788"/>
                        </a:ext>
                      </a:extLst>
                    </a:gridCol>
                  </a:tblGrid>
                  <a:tr h="5645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9" t="-2151" r="-404317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719" t="-2151" r="-304317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9286" t="-2151" r="-202143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439" t="-2151" r="-103597" b="-3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439" t="-2151" r="-3597" b="-3139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066851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X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X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1439" t="-102151" r="-103597" b="-2139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01439" t="-102151" r="-3597" b="-2139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89979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296375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678102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5397500" y="4183380"/>
            <a:ext cx="12700" cy="4445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5410200" y="4755514"/>
            <a:ext cx="12700" cy="4445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62345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TABLE (D FLIPFLOP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with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 DIRECT INPUTS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98493561"/>
                  </p:ext>
                </p:extLst>
              </p:nvPr>
            </p:nvGraphicFramePr>
            <p:xfrm>
              <a:off x="3581403" y="3005454"/>
              <a:ext cx="6540498" cy="233362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74697">
                      <a:extLst>
                        <a:ext uri="{9D8B030D-6E8A-4147-A177-3AD203B41FA5}">
                          <a16:colId xmlns:a16="http://schemas.microsoft.com/office/drawing/2014/main" val="2898006790"/>
                        </a:ext>
                      </a:extLst>
                    </a:gridCol>
                    <a:gridCol w="1080527">
                      <a:extLst>
                        <a:ext uri="{9D8B030D-6E8A-4147-A177-3AD203B41FA5}">
                          <a16:colId xmlns:a16="http://schemas.microsoft.com/office/drawing/2014/main" val="2106223339"/>
                        </a:ext>
                      </a:extLst>
                    </a:gridCol>
                    <a:gridCol w="748273">
                      <a:extLst>
                        <a:ext uri="{9D8B030D-6E8A-4147-A177-3AD203B41FA5}">
                          <a16:colId xmlns:a16="http://schemas.microsoft.com/office/drawing/2014/main" val="1749235536"/>
                        </a:ext>
                      </a:extLst>
                    </a:gridCol>
                    <a:gridCol w="1106951">
                      <a:extLst>
                        <a:ext uri="{9D8B030D-6E8A-4147-A177-3AD203B41FA5}">
                          <a16:colId xmlns:a16="http://schemas.microsoft.com/office/drawing/2014/main" val="3212603414"/>
                        </a:ext>
                      </a:extLst>
                    </a:gridCol>
                    <a:gridCol w="2830050">
                      <a:extLst>
                        <a:ext uri="{9D8B030D-6E8A-4147-A177-3AD203B41FA5}">
                          <a16:colId xmlns:a16="http://schemas.microsoft.com/office/drawing/2014/main" val="2871844788"/>
                        </a:ext>
                      </a:extLst>
                    </a:gridCol>
                  </a:tblGrid>
                  <a:tr h="56451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oMath>
                            </m:oMathPara>
                          </a14:m>
                          <a:endParaRPr lang="en-US" sz="3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𝑪𝒍𝒌</m:t>
                                </m:r>
                              </m:oMath>
                            </m:oMathPara>
                          </a14:m>
                          <a:endParaRPr lang="en-US" sz="3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3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3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b>
                                    <m:r>
                                      <a:rPr lang="en-US" sz="3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  <m:r>
                                      <a:rPr lang="en-US" sz="3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3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3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0066851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X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/>
                            <a:t>Asynchronous</a:t>
                          </a:r>
                          <a:r>
                            <a:rPr lang="en-US" sz="2400" i="1" baseline="0" dirty="0"/>
                            <a:t> </a:t>
                          </a:r>
                          <a:r>
                            <a:rPr lang="en-US" sz="2400" b="1" i="1" baseline="0" dirty="0"/>
                            <a:t>Reset</a:t>
                          </a:r>
                          <a:endParaRPr lang="en-US" sz="2400" b="1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89979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i="1" dirty="0"/>
                            <a:t>Clocked </a:t>
                          </a:r>
                          <a:r>
                            <a:rPr lang="en-US" sz="2400" b="1" i="1" dirty="0"/>
                            <a:t>Reset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296375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/>
                            <a:t>Clocked </a:t>
                          </a:r>
                          <a:r>
                            <a:rPr lang="en-US" sz="2400" b="1" i="1" dirty="0"/>
                            <a:t>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67810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98493561"/>
                  </p:ext>
                </p:extLst>
              </p:nvPr>
            </p:nvGraphicFramePr>
            <p:xfrm>
              <a:off x="3581403" y="3005454"/>
              <a:ext cx="6540498" cy="233362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774697">
                      <a:extLst>
                        <a:ext uri="{9D8B030D-6E8A-4147-A177-3AD203B41FA5}">
                          <a16:colId xmlns:a16="http://schemas.microsoft.com/office/drawing/2014/main" val="2898006790"/>
                        </a:ext>
                      </a:extLst>
                    </a:gridCol>
                    <a:gridCol w="1080527">
                      <a:extLst>
                        <a:ext uri="{9D8B030D-6E8A-4147-A177-3AD203B41FA5}">
                          <a16:colId xmlns:a16="http://schemas.microsoft.com/office/drawing/2014/main" val="2106223339"/>
                        </a:ext>
                      </a:extLst>
                    </a:gridCol>
                    <a:gridCol w="748273">
                      <a:extLst>
                        <a:ext uri="{9D8B030D-6E8A-4147-A177-3AD203B41FA5}">
                          <a16:colId xmlns:a16="http://schemas.microsoft.com/office/drawing/2014/main" val="1749235536"/>
                        </a:ext>
                      </a:extLst>
                    </a:gridCol>
                    <a:gridCol w="1106951">
                      <a:extLst>
                        <a:ext uri="{9D8B030D-6E8A-4147-A177-3AD203B41FA5}">
                          <a16:colId xmlns:a16="http://schemas.microsoft.com/office/drawing/2014/main" val="3212603414"/>
                        </a:ext>
                      </a:extLst>
                    </a:gridCol>
                    <a:gridCol w="2830050">
                      <a:extLst>
                        <a:ext uri="{9D8B030D-6E8A-4147-A177-3AD203B41FA5}">
                          <a16:colId xmlns:a16="http://schemas.microsoft.com/office/drawing/2014/main" val="287184478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87" t="-14286" r="-748819" b="-27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1910" t="-14286" r="-434270" b="-27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8780" t="-14286" r="-528455" b="-27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7017" t="-14286" r="-259116" b="-27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600" dirty="0" smtClean="0">
                              <a:solidFill>
                                <a:schemeClr val="tx1"/>
                              </a:solidFill>
                            </a:rPr>
                            <a:t>COMMENT</a:t>
                          </a:r>
                          <a:endParaRPr lang="en-US" sz="3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0066851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X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X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 smtClean="0"/>
                            <a:t>Asynchronous</a:t>
                          </a:r>
                          <a:r>
                            <a:rPr lang="en-US" sz="2400" i="1" baseline="0" dirty="0" smtClean="0"/>
                            <a:t> </a:t>
                          </a:r>
                          <a:r>
                            <a:rPr lang="en-US" sz="2400" b="1" i="1" baseline="0" dirty="0" smtClean="0"/>
                            <a:t>Reset</a:t>
                          </a:r>
                          <a:endParaRPr lang="en-US" sz="2400" b="1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899790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0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i="1" dirty="0" smtClean="0"/>
                            <a:t>Clocked </a:t>
                          </a:r>
                          <a:r>
                            <a:rPr lang="en-US" sz="2400" b="1" i="1" dirty="0" smtClean="0"/>
                            <a:t>Reset</a:t>
                          </a:r>
                          <a:endParaRPr lang="en-US" sz="2400" b="1" i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0296375"/>
                      </a:ext>
                    </a:extLst>
                  </a:tr>
                  <a:tr h="5645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 smtClean="0"/>
                            <a:t>1</a:t>
                          </a:r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i="1" dirty="0" smtClean="0"/>
                            <a:t>Clocked </a:t>
                          </a:r>
                          <a:r>
                            <a:rPr lang="en-US" sz="2400" b="1" i="1" dirty="0" smtClean="0"/>
                            <a:t>Set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8678102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4889500" y="4272280"/>
            <a:ext cx="12700" cy="4445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4902200" y="4805679"/>
            <a:ext cx="12700" cy="4445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263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4178</TotalTime>
  <Words>2240</Words>
  <Application>Microsoft Office PowerPoint</Application>
  <PresentationFormat>Widescreen</PresentationFormat>
  <Paragraphs>1292</Paragraphs>
  <Slides>128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128</vt:i4>
      </vt:variant>
    </vt:vector>
  </HeadingPairs>
  <TitlesOfParts>
    <vt:vector size="137" baseType="lpstr">
      <vt:lpstr>Arial</vt:lpstr>
      <vt:lpstr>Calibri</vt:lpstr>
      <vt:lpstr>Calibri Light</vt:lpstr>
      <vt:lpstr>Cambria Math</vt:lpstr>
      <vt:lpstr>Edwardian Script ITC</vt:lpstr>
      <vt:lpstr>Folio</vt:lpstr>
      <vt:lpstr>Times New Roman</vt:lpstr>
      <vt:lpstr>Office Theme</vt:lpstr>
      <vt:lpstr>Visio.Drawing.6</vt:lpstr>
      <vt:lpstr>SEQUENTIAL CIRCUIT</vt:lpstr>
      <vt:lpstr>GATED D LATCH</vt:lpstr>
      <vt:lpstr>GATED D LATCH</vt:lpstr>
      <vt:lpstr>GATED D LATCH TABLE</vt:lpstr>
      <vt:lpstr>GATED D LATCH TABLE SUMMARY</vt:lpstr>
      <vt:lpstr>TIMING DIAGRAM D LATCH </vt:lpstr>
      <vt:lpstr>SEQUENTIAL CIRCUIT</vt:lpstr>
      <vt:lpstr>SEQUENTIAL CIRCUIT</vt:lpstr>
      <vt:lpstr>TRIGGER</vt:lpstr>
      <vt:lpstr>CLOCK </vt:lpstr>
      <vt:lpstr>FLIP FLOP</vt:lpstr>
      <vt:lpstr>SEQUENTIAL CIRCUIT</vt:lpstr>
      <vt:lpstr>Edge Triggered D FLIP FLOP</vt:lpstr>
      <vt:lpstr>CLOCK </vt:lpstr>
      <vt:lpstr>Master Slave D-FLIP-FLOP(NEGATIVE EDGE TRIGGERED) </vt:lpstr>
      <vt:lpstr>D-FLIP-FLOP (NEGATIVE EDGE TRIGGERED)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Master Slave FLIP-FLOP </vt:lpstr>
      <vt:lpstr>D-FLIP-FLOP (NEGATIVE EDGE TRIGGERED) </vt:lpstr>
      <vt:lpstr>JK-FLIP-FLOP</vt:lpstr>
      <vt:lpstr>LOGIC SYMBOL (JK-FLIP-FLOP)</vt:lpstr>
      <vt:lpstr>JK-FLIP-FLOP Using D-FLIP FLOP</vt:lpstr>
      <vt:lpstr>CHARACTERISTIC EQUATION </vt:lpstr>
      <vt:lpstr>TRUTH TABLE (JK-FLIP-FLOP)</vt:lpstr>
      <vt:lpstr>JK-FLIP-FLOP </vt:lpstr>
      <vt:lpstr>JK-FLIP-FLOP </vt:lpstr>
      <vt:lpstr>CHARACTERISTIC EQUATION </vt:lpstr>
      <vt:lpstr>JK-FLIP-FLOP </vt:lpstr>
      <vt:lpstr>CHARACTERISTIC EQUATION </vt:lpstr>
      <vt:lpstr>COMPARING CASE I &amp; II when  J=0 , K=0</vt:lpstr>
      <vt:lpstr>TRUTH TABLE</vt:lpstr>
      <vt:lpstr>JK-FLIP-FLOP </vt:lpstr>
      <vt:lpstr>JK-FLIP-FLOP </vt:lpstr>
      <vt:lpstr>CHARACTERISTIC EQUATION </vt:lpstr>
      <vt:lpstr>JK-FLIP-FLOP </vt:lpstr>
      <vt:lpstr>CHARACTERISTIC EQUATION </vt:lpstr>
      <vt:lpstr>COMPARING CASE I &amp; II when  J=0 , K=1</vt:lpstr>
      <vt:lpstr>TRUTH TABLE</vt:lpstr>
      <vt:lpstr>JK-FLIP-FLOP </vt:lpstr>
      <vt:lpstr>JK-FLIP-FLOP </vt:lpstr>
      <vt:lpstr>CHARACTERISTIC EQUATION </vt:lpstr>
      <vt:lpstr>JK-FLIP-FLOP </vt:lpstr>
      <vt:lpstr>CHARACTERISTIC EQUATION </vt:lpstr>
      <vt:lpstr>COMPARING CASE I &amp; II when  J=1 , K=0</vt:lpstr>
      <vt:lpstr>TRUTH TABLE</vt:lpstr>
      <vt:lpstr>JK-FLIP-FLOP </vt:lpstr>
      <vt:lpstr>JK-FLIP-FLOP </vt:lpstr>
      <vt:lpstr>CHARACTERISTIC EQUATION </vt:lpstr>
      <vt:lpstr>JK-FLIP-FLOP </vt:lpstr>
      <vt:lpstr>CHARACTERISTIC EQUATION </vt:lpstr>
      <vt:lpstr>COMPARING CASE I &amp; II when  J=1 , K=1</vt:lpstr>
      <vt:lpstr>TRUTH TABLE</vt:lpstr>
      <vt:lpstr>CHARACTERISTIC TABLE</vt:lpstr>
      <vt:lpstr>CHARACTERISTIC TABLE</vt:lpstr>
      <vt:lpstr>CHARACTERISTIC TABLE</vt:lpstr>
      <vt:lpstr>JK Flip Flop</vt:lpstr>
      <vt:lpstr>Asynchronous Preset and Clear J-K flip-flop </vt:lpstr>
      <vt:lpstr>T-FLIP FLOP</vt:lpstr>
      <vt:lpstr>LOGIC SYMBOL (T-FLIP-FLOP)</vt:lpstr>
      <vt:lpstr>T-FLIP-FLOP Using D-FLIP FLOP</vt:lpstr>
      <vt:lpstr>CHARACTERISTIC EQUATION </vt:lpstr>
      <vt:lpstr>TRUTH TABLE (T-FLIP-FLOP)</vt:lpstr>
      <vt:lpstr>T-FLIP-FLOP </vt:lpstr>
      <vt:lpstr>T-FLIP-FLOP </vt:lpstr>
      <vt:lpstr>CHARACTERISTIC EQUATION  </vt:lpstr>
      <vt:lpstr>T-FLIP-FLOP </vt:lpstr>
      <vt:lpstr>CHARACTERISTIC EQUATION  </vt:lpstr>
      <vt:lpstr>COMPARING CASE I &amp; II when  T=0 </vt:lpstr>
      <vt:lpstr>TRUTH TABLE (T-FLIP-FLOP)</vt:lpstr>
      <vt:lpstr>T-FLIP-FLOP </vt:lpstr>
      <vt:lpstr>T-FLIP-FLOP </vt:lpstr>
      <vt:lpstr>CHARACTERISTIC EQUATION  </vt:lpstr>
      <vt:lpstr>T-FLIP-FLOP </vt:lpstr>
      <vt:lpstr>CHARACTERISTIC EQUATION  </vt:lpstr>
      <vt:lpstr>COMPARING CASE I &amp; II when  T=1 </vt:lpstr>
      <vt:lpstr>TRUTH TABLE (T-FLIP-FLOP)</vt:lpstr>
      <vt:lpstr>TRUTH TABLE (T-FLIP-FLOP)</vt:lpstr>
      <vt:lpstr>Flip Flop</vt:lpstr>
      <vt:lpstr>Master Slave D-FLIP-FLOP(NEGATIVE EDGE TRIGGERED) </vt:lpstr>
      <vt:lpstr>D-FLIP-FLOP (POSITIVE EDGE TRIGGERED) </vt:lpstr>
      <vt:lpstr>D-FLIP-FLOP (POSITIVE EDGE TRIGGERED) </vt:lpstr>
      <vt:lpstr>D-FLIP-FLOP (POSITIVE EDGE TRIGGERED) </vt:lpstr>
      <vt:lpstr>D-FLIP-FLOP (POSITIVE EDGE TRIGGERED) </vt:lpstr>
      <vt:lpstr>SR LATCH TABLE</vt:lpstr>
      <vt:lpstr>SR LATCH TABLE</vt:lpstr>
      <vt:lpstr>D-FLIP-FLOP (POSITIVE EDGE TRIGGERED) </vt:lpstr>
      <vt:lpstr>D-FLIP-FLOP (POSITIVE EDGE TRIGGERED) </vt:lpstr>
      <vt:lpstr>TRUTH TABLE</vt:lpstr>
      <vt:lpstr>TRUTH TABLE</vt:lpstr>
      <vt:lpstr>D-FLIP-FLOP (POSITIVE EDGE TRIGGERED) </vt:lpstr>
      <vt:lpstr>TRUTH TABLE</vt:lpstr>
      <vt:lpstr>D-FLIP-FLOP (POSITIVE EDGE TRIGGERED) </vt:lpstr>
      <vt:lpstr>TRUTH TABLE</vt:lpstr>
      <vt:lpstr>D-FLIP-FLOP (POSITIVE EDGE TRIGGERED) </vt:lpstr>
      <vt:lpstr>TRUTH TABLE</vt:lpstr>
      <vt:lpstr>D-FLIP-FLOP (POSITIVE EDGE TRIGGERED) </vt:lpstr>
      <vt:lpstr>TRUTH TABLE</vt:lpstr>
      <vt:lpstr>D-FLIP-FLOP (POSITIVE EDGE TRIGGERED) </vt:lpstr>
      <vt:lpstr>TRUTH TABLE</vt:lpstr>
      <vt:lpstr>TRUTH TABLE</vt:lpstr>
      <vt:lpstr>D-FLIP FLOP  with  ASYNCHRONOUS RESET</vt:lpstr>
      <vt:lpstr>D-FLIP-FLOP (POSITIVE EDGE TRIGGERED) </vt:lpstr>
      <vt:lpstr>BLOCK DIAGRAM (D-FLIP FLOP with DIRECT INPUT) </vt:lpstr>
      <vt:lpstr>D-FLIP FLOP with DIRECT INPUT</vt:lpstr>
      <vt:lpstr>D-FLIP FLOP AYSNCHRONOUS RESET</vt:lpstr>
      <vt:lpstr>D-FLIP FLOP AYSNCHRONOUS RESET</vt:lpstr>
      <vt:lpstr>FUNCTION TABLE (D FLIPFLOP with DIRECT INPUTS)</vt:lpstr>
      <vt:lpstr>D-FLIP FLOP AYSNCHRONOUS RESET</vt:lpstr>
      <vt:lpstr>TABLE (D FLIPFLOP with DIRECT INPUTS</vt:lpstr>
      <vt:lpstr>TABLE (D FLIPFLOP with DIRECT INPUTS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SEQUENTIAL CIRCUITS</dc:title>
  <dc:creator>Windows User</dc:creator>
  <cp:lastModifiedBy>Shams Farooq</cp:lastModifiedBy>
  <cp:revision>507</cp:revision>
  <dcterms:created xsi:type="dcterms:W3CDTF">2020-03-24T22:22:44Z</dcterms:created>
  <dcterms:modified xsi:type="dcterms:W3CDTF">2024-04-23T03:51:59Z</dcterms:modified>
</cp:coreProperties>
</file>