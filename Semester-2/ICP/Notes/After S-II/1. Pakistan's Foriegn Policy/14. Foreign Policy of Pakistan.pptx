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73" r:id="rId6"/>
    <p:sldId id="260" r:id="rId7"/>
    <p:sldId id="261" r:id="rId8"/>
    <p:sldId id="262"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69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664B69-0D1C-42AB-A385-E112035ECEC8}" type="datetimeFigureOut">
              <a:rPr lang="en-US" smtClean="0"/>
              <a:t>11/22/2023</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81F7D281-5601-472F-89D0-73B02F81CF54}"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853323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64B69-0D1C-42AB-A385-E112035ECEC8}" type="datetimeFigureOut">
              <a:rPr lang="en-US" smtClean="0"/>
              <a:t>11/22/2023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F7D281-5601-472F-89D0-73B02F81CF54}"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23194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664B69-0D1C-42AB-A385-E112035ECEC8}" type="datetimeFigureOut">
              <a:rPr lang="en-US" smtClean="0"/>
              <a:t>11/22/2023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F7D281-5601-472F-89D0-73B02F81CF54}"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534413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664B69-0D1C-42AB-A385-E112035ECEC8}" type="datetimeFigureOut">
              <a:rPr lang="en-US" smtClean="0"/>
              <a:t>11/22/2023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F7D281-5601-472F-89D0-73B02F81CF54}"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63832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664B69-0D1C-42AB-A385-E112035ECEC8}" type="datetimeFigureOut">
              <a:rPr lang="en-US" smtClean="0"/>
              <a:t>11/22/2023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1F7D281-5601-472F-89D0-73B02F81CF54}"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31134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664B69-0D1C-42AB-A385-E112035ECEC8}" type="datetimeFigureOut">
              <a:rPr lang="en-US" smtClean="0"/>
              <a:t>11/22/2023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1F7D281-5601-472F-89D0-73B02F81CF54}"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453526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664B69-0D1C-42AB-A385-E112035ECEC8}" type="datetimeFigureOut">
              <a:rPr lang="en-US" smtClean="0"/>
              <a:t>11/22/2023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1F7D281-5601-472F-89D0-73B02F81CF54}" type="slidenum">
              <a:rPr lang="en-US" smtClean="0"/>
              <a:t>‹#›</a:t>
            </a:fld>
            <a:endParaRPr lang="en-US"/>
          </a:p>
        </p:txBody>
      </p:sp>
    </p:spTree>
    <p:extLst>
      <p:ext uri="{BB962C8B-B14F-4D97-AF65-F5344CB8AC3E}">
        <p14:creationId xmlns:p14="http://schemas.microsoft.com/office/powerpoint/2010/main" val="3211102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664B69-0D1C-42AB-A385-E112035ECEC8}" type="datetimeFigureOut">
              <a:rPr lang="en-US" smtClean="0"/>
              <a:t>11/22/2023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F7D281-5601-472F-89D0-73B02F81CF54}"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28768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57664B69-0D1C-42AB-A385-E112035ECEC8}" type="datetimeFigureOut">
              <a:rPr lang="en-US" smtClean="0"/>
              <a:t>11/22/2023</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81F7D281-5601-472F-89D0-73B02F81CF54}"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550298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64B69-0D1C-42AB-A385-E112035ECEC8}" type="datetimeFigureOut">
              <a:rPr lang="en-US" smtClean="0"/>
              <a:t>11/22/2023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F7D281-5601-472F-89D0-73B02F81CF54}"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694373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64B69-0D1C-42AB-A385-E112035ECEC8}" type="datetimeFigureOut">
              <a:rPr lang="en-US" smtClean="0"/>
              <a:t>11/22/2023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F7D281-5601-472F-89D0-73B02F81CF54}"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46226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7664B69-0D1C-42AB-A385-E112035ECEC8}" type="datetimeFigureOut">
              <a:rPr lang="en-US" smtClean="0"/>
              <a:t>11/22/2023</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81F7D281-5601-472F-89D0-73B02F81CF54}"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405791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24545" y="1913467"/>
            <a:ext cx="8659091" cy="1515533"/>
          </a:xfrm>
        </p:spPr>
        <p:txBody>
          <a:bodyPr>
            <a:normAutofit/>
          </a:bodyPr>
          <a:lstStyle/>
          <a:p>
            <a:pPr algn="ctr"/>
            <a:r>
              <a:rPr lang="en-US" sz="2800" b="1" dirty="0"/>
              <a:t>China Pakistan Economic Corridor (CPEC)</a:t>
            </a:r>
          </a:p>
        </p:txBody>
      </p:sp>
      <p:sp>
        <p:nvSpPr>
          <p:cNvPr id="5" name="TextBox 4">
            <a:extLst>
              <a:ext uri="{FF2B5EF4-FFF2-40B4-BE49-F238E27FC236}">
                <a16:creationId xmlns:a16="http://schemas.microsoft.com/office/drawing/2014/main" id="{80F8E766-4BDB-43F4-D4F2-24E411F85726}"/>
              </a:ext>
            </a:extLst>
          </p:cNvPr>
          <p:cNvSpPr txBox="1"/>
          <p:nvPr/>
        </p:nvSpPr>
        <p:spPr>
          <a:xfrm>
            <a:off x="3300846" y="4082534"/>
            <a:ext cx="6102926" cy="369332"/>
          </a:xfrm>
          <a:prstGeom prst="rect">
            <a:avLst/>
          </a:prstGeom>
          <a:noFill/>
        </p:spPr>
        <p:txBody>
          <a:bodyPr wrap="square">
            <a:spAutoFit/>
          </a:bodyPr>
          <a:lstStyle/>
          <a:p>
            <a:pPr algn="ctr"/>
            <a:r>
              <a:rPr lang="en-US" b="1" dirty="0"/>
              <a:t>By Muhammad Ajmal Khan</a:t>
            </a:r>
          </a:p>
        </p:txBody>
      </p:sp>
    </p:spTree>
    <p:extLst>
      <p:ext uri="{BB962C8B-B14F-4D97-AF65-F5344CB8AC3E}">
        <p14:creationId xmlns:p14="http://schemas.microsoft.com/office/powerpoint/2010/main" val="29205328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081610"/>
            <a:ext cx="9603275" cy="1049235"/>
          </a:xfrm>
        </p:spPr>
        <p:txBody>
          <a:bodyPr>
            <a:normAutofit/>
          </a:bodyPr>
          <a:lstStyle/>
          <a:p>
            <a:pPr lvl="0" algn="ctr"/>
            <a:r>
              <a:rPr lang="en-US" sz="2400" b="1" dirty="0"/>
              <a:t>Historical background of China Pakistan Economic Corridor</a:t>
            </a:r>
            <a:endParaRPr lang="en-US" sz="2400" dirty="0"/>
          </a:p>
        </p:txBody>
      </p:sp>
      <p:sp>
        <p:nvSpPr>
          <p:cNvPr id="3" name="Content Placeholder 2"/>
          <p:cNvSpPr>
            <a:spLocks noGrp="1"/>
          </p:cNvSpPr>
          <p:nvPr>
            <p:ph idx="1"/>
          </p:nvPr>
        </p:nvSpPr>
        <p:spPr/>
        <p:txBody>
          <a:bodyPr/>
          <a:lstStyle/>
          <a:p>
            <a:pPr lvl="0"/>
            <a:r>
              <a:rPr lang="en-US" dirty="0"/>
              <a:t>One Belt One Road initiative of China in the 21</a:t>
            </a:r>
            <a:r>
              <a:rPr lang="en-US" baseline="30000" dirty="0"/>
              <a:t>st</a:t>
            </a:r>
            <a:r>
              <a:rPr lang="en-US" dirty="0"/>
              <a:t> Century.</a:t>
            </a:r>
          </a:p>
          <a:p>
            <a:pPr lvl="0"/>
            <a:r>
              <a:rPr lang="en-US" dirty="0"/>
              <a:t>Six corridors of OBOR and CPEC is one of them which the most functional one among them.</a:t>
            </a:r>
          </a:p>
          <a:p>
            <a:pPr lvl="0"/>
            <a:r>
              <a:rPr lang="en-US" dirty="0"/>
              <a:t>Gwadar port attracted the Chinese government to invest in Pakistan in terms of CPEC. </a:t>
            </a:r>
          </a:p>
          <a:p>
            <a:endParaRPr lang="en-US" dirty="0"/>
          </a:p>
        </p:txBody>
      </p:sp>
    </p:spTree>
    <p:extLst>
      <p:ext uri="{BB962C8B-B14F-4D97-AF65-F5344CB8AC3E}">
        <p14:creationId xmlns:p14="http://schemas.microsoft.com/office/powerpoint/2010/main" val="3490465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391655"/>
            <a:ext cx="9603275" cy="462099"/>
          </a:xfrm>
        </p:spPr>
        <p:txBody>
          <a:bodyPr>
            <a:normAutofit/>
          </a:bodyPr>
          <a:lstStyle/>
          <a:p>
            <a:pPr lvl="0" algn="ctr"/>
            <a:r>
              <a:rPr lang="en-US" sz="2400" b="1" dirty="0"/>
              <a:t>Worth of China Pakistan Economic Corridor</a:t>
            </a:r>
            <a:endParaRPr lang="en-US" sz="2400" dirty="0"/>
          </a:p>
        </p:txBody>
      </p:sp>
      <p:sp>
        <p:nvSpPr>
          <p:cNvPr id="3" name="Content Placeholder 2"/>
          <p:cNvSpPr>
            <a:spLocks noGrp="1"/>
          </p:cNvSpPr>
          <p:nvPr>
            <p:ph idx="1"/>
          </p:nvPr>
        </p:nvSpPr>
        <p:spPr/>
        <p:txBody>
          <a:bodyPr/>
          <a:lstStyle/>
          <a:p>
            <a:pPr lvl="0"/>
            <a:r>
              <a:rPr lang="en-US" dirty="0"/>
              <a:t>CPEC was proposed by China in 2013 and signed in 2015</a:t>
            </a:r>
          </a:p>
          <a:p>
            <a:pPr lvl="0"/>
            <a:r>
              <a:rPr lang="en-US" dirty="0"/>
              <a:t>Worth $46 billion to $65 billion</a:t>
            </a:r>
          </a:p>
          <a:p>
            <a:pPr lvl="0"/>
            <a:r>
              <a:rPr lang="en-US" dirty="0"/>
              <a:t>Include Fiber optics, roads, railway lanes, pipelines, etc. </a:t>
            </a:r>
          </a:p>
          <a:p>
            <a:pPr lvl="0"/>
            <a:r>
              <a:rPr lang="en-US" dirty="0"/>
              <a:t>Divided into three categories; Short term, mid Term and Long term projects which will take 15 years to complete.</a:t>
            </a:r>
          </a:p>
          <a:p>
            <a:pPr lvl="0"/>
            <a:r>
              <a:rPr lang="en-US" dirty="0"/>
              <a:t>Motive behind the corridor</a:t>
            </a:r>
          </a:p>
          <a:p>
            <a:endParaRPr lang="en-US" dirty="0"/>
          </a:p>
        </p:txBody>
      </p:sp>
    </p:spTree>
    <p:extLst>
      <p:ext uri="{BB962C8B-B14F-4D97-AF65-F5344CB8AC3E}">
        <p14:creationId xmlns:p14="http://schemas.microsoft.com/office/powerpoint/2010/main" val="770675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094509"/>
            <a:ext cx="9603275" cy="759245"/>
          </a:xfrm>
        </p:spPr>
        <p:txBody>
          <a:bodyPr>
            <a:normAutofit/>
          </a:bodyPr>
          <a:lstStyle/>
          <a:p>
            <a:pPr lvl="0" algn="ctr"/>
            <a:r>
              <a:rPr lang="en-US" sz="2400" b="1" dirty="0"/>
              <a:t>Problems and Prospects of China Pakistan Economic Corridor</a:t>
            </a:r>
            <a:endParaRPr lang="en-US" sz="2400" dirty="0"/>
          </a:p>
        </p:txBody>
      </p:sp>
      <p:sp>
        <p:nvSpPr>
          <p:cNvPr id="3" name="Content Placeholder 2"/>
          <p:cNvSpPr>
            <a:spLocks noGrp="1"/>
          </p:cNvSpPr>
          <p:nvPr>
            <p:ph idx="1"/>
          </p:nvPr>
        </p:nvSpPr>
        <p:spPr/>
        <p:txBody>
          <a:bodyPr/>
          <a:lstStyle/>
          <a:p>
            <a:pPr lvl="0"/>
            <a:r>
              <a:rPr lang="en-US" dirty="0"/>
              <a:t>Most of the projects are in the advanced stage and about to complete </a:t>
            </a:r>
          </a:p>
          <a:p>
            <a:pPr lvl="0"/>
            <a:r>
              <a:rPr lang="en-US" dirty="0"/>
              <a:t>More projects are yet to be added to the mega project when required.</a:t>
            </a:r>
          </a:p>
          <a:p>
            <a:pPr lvl="0"/>
            <a:r>
              <a:rPr lang="en-US" dirty="0"/>
              <a:t>Due to its long duration there are chances to be affected by some internal and external factors as well.</a:t>
            </a:r>
          </a:p>
          <a:p>
            <a:endParaRPr lang="en-US" dirty="0"/>
          </a:p>
        </p:txBody>
      </p:sp>
    </p:spTree>
    <p:extLst>
      <p:ext uri="{BB962C8B-B14F-4D97-AF65-F5344CB8AC3E}">
        <p14:creationId xmlns:p14="http://schemas.microsoft.com/office/powerpoint/2010/main" val="3919384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2B3EB78D-4D84-6CEF-6BB3-B6EE72323C1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37725" y="0"/>
            <a:ext cx="9603274" cy="6151418"/>
          </a:xfrm>
        </p:spPr>
      </p:pic>
    </p:spTree>
    <p:extLst>
      <p:ext uri="{BB962C8B-B14F-4D97-AF65-F5344CB8AC3E}">
        <p14:creationId xmlns:p14="http://schemas.microsoft.com/office/powerpoint/2010/main" val="2584422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391655"/>
            <a:ext cx="9603275" cy="462099"/>
          </a:xfrm>
        </p:spPr>
        <p:txBody>
          <a:bodyPr>
            <a:normAutofit/>
          </a:bodyPr>
          <a:lstStyle/>
          <a:p>
            <a:pPr lvl="0" algn="ctr"/>
            <a:r>
              <a:rPr lang="en-US" sz="2400" b="1" dirty="0"/>
              <a:t>Impacts of China Pakistan Economic Corridor</a:t>
            </a:r>
            <a:endParaRPr lang="en-US" sz="2400" dirty="0"/>
          </a:p>
        </p:txBody>
      </p:sp>
      <p:sp>
        <p:nvSpPr>
          <p:cNvPr id="3" name="Content Placeholder 2"/>
          <p:cNvSpPr>
            <a:spLocks noGrp="1"/>
          </p:cNvSpPr>
          <p:nvPr>
            <p:ph idx="1"/>
          </p:nvPr>
        </p:nvSpPr>
        <p:spPr/>
        <p:txBody>
          <a:bodyPr/>
          <a:lstStyle/>
          <a:p>
            <a:pPr lvl="0"/>
            <a:r>
              <a:rPr lang="en-US" dirty="0"/>
              <a:t>CPEC is a prosperous project for Pakistan, a golden opportunity that can change the fate of Pakistan.</a:t>
            </a:r>
          </a:p>
          <a:p>
            <a:pPr lvl="0"/>
            <a:r>
              <a:rPr lang="en-US" dirty="0"/>
              <a:t>There are many positive impacts of CPEC; Boost economy, Employment, development of the industrial sector and will connect the whole country, etc. </a:t>
            </a:r>
          </a:p>
          <a:p>
            <a:pPr lvl="0"/>
            <a:r>
              <a:rPr lang="en-US" dirty="0"/>
              <a:t>No doubt there are negative impacts of CPEC too; Environmental effects can destroy Pakistani industry, Chinese can overwhelm the country, replace Pakistani labors with Chinese, etc. </a:t>
            </a:r>
          </a:p>
          <a:p>
            <a:endParaRPr lang="en-US" dirty="0"/>
          </a:p>
        </p:txBody>
      </p:sp>
    </p:spTree>
    <p:extLst>
      <p:ext uri="{BB962C8B-B14F-4D97-AF65-F5344CB8AC3E}">
        <p14:creationId xmlns:p14="http://schemas.microsoft.com/office/powerpoint/2010/main" val="593412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260764"/>
            <a:ext cx="9603275" cy="592990"/>
          </a:xfrm>
        </p:spPr>
        <p:txBody>
          <a:bodyPr/>
          <a:lstStyle/>
          <a:p>
            <a:pPr lvl="0" algn="ctr"/>
            <a:r>
              <a:rPr lang="en-US" b="1" dirty="0"/>
              <a:t>Main Theme</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a:t>CPEC is a mega project worth more than $62 billion and will take fifteen years to complete. CPEC is very well known for its prosperity and will boost the economy of Pakistan and all that but the problem is that CPEC is not full of milk and honey at all. Because there are many barriers in its way to completion. Even in the implementation stage, there are lots of challenges in terms of internal and external threats from the surroundings. Additionally, Pakistan is not in a position to adjust to the advancement of such projects because China is more advance than Pakistan in every field of life even though Pakistan cannot compete with its economy. So, the government of Pakistan needs attention to respond to this project sincerely and I have concluded from my research that recently Pakistan is in such a position that she can take advantage of CPEC and destroy herself in the implementation of this project. So, it’s up to the government of Pakistan how it is responding to the project.</a:t>
            </a:r>
          </a:p>
          <a:p>
            <a:pPr algn="just"/>
            <a:endParaRPr lang="en-US" dirty="0"/>
          </a:p>
        </p:txBody>
      </p:sp>
    </p:spTree>
    <p:extLst>
      <p:ext uri="{BB962C8B-B14F-4D97-AF65-F5344CB8AC3E}">
        <p14:creationId xmlns:p14="http://schemas.microsoft.com/office/powerpoint/2010/main" val="22040300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391655"/>
            <a:ext cx="9603275" cy="462099"/>
          </a:xfrm>
        </p:spPr>
        <p:txBody>
          <a:bodyPr>
            <a:normAutofit fontScale="90000"/>
          </a:bodyPr>
          <a:lstStyle/>
          <a:p>
            <a:pPr algn="ctr"/>
            <a:r>
              <a:rPr lang="en-US" b="1" dirty="0"/>
              <a:t>Impacts of CPEC</a:t>
            </a:r>
            <a:endParaRPr lang="en-US" dirty="0"/>
          </a:p>
        </p:txBody>
      </p:sp>
      <p:sp>
        <p:nvSpPr>
          <p:cNvPr id="3" name="Content Placeholder 2"/>
          <p:cNvSpPr>
            <a:spLocks noGrp="1"/>
          </p:cNvSpPr>
          <p:nvPr>
            <p:ph idx="1"/>
          </p:nvPr>
        </p:nvSpPr>
        <p:spPr/>
        <p:txBody>
          <a:bodyPr>
            <a:noAutofit/>
          </a:bodyPr>
          <a:lstStyle/>
          <a:p>
            <a:pPr lvl="0"/>
            <a:r>
              <a:rPr lang="en-US" sz="1800" dirty="0"/>
              <a:t>Chinese products in Pakistani markets.</a:t>
            </a:r>
          </a:p>
          <a:p>
            <a:pPr lvl="0"/>
            <a:r>
              <a:rPr lang="en-US" sz="1800" dirty="0"/>
              <a:t>Challenges during CPEC implementation are; Uncertainty in Afghanistan, Baloch insurgency, CPEC dividends, etc. Route controversy. </a:t>
            </a:r>
          </a:p>
          <a:p>
            <a:pPr lvl="0"/>
            <a:r>
              <a:rPr lang="en-US" sz="1800" dirty="0"/>
              <a:t>People of Gwadar and advancement of CPEC.</a:t>
            </a:r>
          </a:p>
          <a:p>
            <a:pPr lvl="0"/>
            <a:r>
              <a:rPr lang="en-US" sz="1800" dirty="0"/>
              <a:t>Environmental impact in Pakistan.</a:t>
            </a:r>
          </a:p>
          <a:p>
            <a:pPr lvl="0"/>
            <a:r>
              <a:rPr lang="en-US" sz="1800" dirty="0"/>
              <a:t>Unskilled labors and disappointment. 332 skills of CPEC.</a:t>
            </a:r>
          </a:p>
          <a:p>
            <a:pPr lvl="0"/>
            <a:r>
              <a:rPr lang="en-US" sz="1800" dirty="0"/>
              <a:t>Disputed areas of Kashmir and GB</a:t>
            </a:r>
          </a:p>
          <a:p>
            <a:pPr lvl="0"/>
            <a:r>
              <a:rPr lang="en-US" sz="1800" dirty="0"/>
              <a:t>Paying $90 billion to the Chinese government till 2030 is impossible for Pakistan.</a:t>
            </a:r>
          </a:p>
          <a:p>
            <a:pPr lvl="0"/>
            <a:r>
              <a:rPr lang="en-US" sz="1800" dirty="0"/>
              <a:t>US and China are rivalries</a:t>
            </a:r>
          </a:p>
        </p:txBody>
      </p:sp>
    </p:spTree>
    <p:extLst>
      <p:ext uri="{BB962C8B-B14F-4D97-AF65-F5344CB8AC3E}">
        <p14:creationId xmlns:p14="http://schemas.microsoft.com/office/powerpoint/2010/main" val="787992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A3EF24-F7CF-4380-8855-2656D3F7F249}"/>
              </a:ext>
            </a:extLst>
          </p:cNvPr>
          <p:cNvSpPr>
            <a:spLocks noGrp="1"/>
          </p:cNvSpPr>
          <p:nvPr>
            <p:ph sz="half" idx="1"/>
          </p:nvPr>
        </p:nvSpPr>
        <p:spPr/>
        <p:txBody>
          <a:bodyPr>
            <a:noAutofit/>
          </a:bodyPr>
          <a:lstStyle/>
          <a:p>
            <a:pPr lvl="0"/>
            <a:r>
              <a:rPr lang="en-US" dirty="0"/>
              <a:t>Will it be another East India company?</a:t>
            </a:r>
          </a:p>
          <a:p>
            <a:pPr lvl="0"/>
            <a:r>
              <a:rPr lang="en-US" dirty="0"/>
              <a:t>Baluchistan will not separate from Pakistan.</a:t>
            </a:r>
          </a:p>
          <a:p>
            <a:pPr lvl="0"/>
            <a:r>
              <a:rPr lang="en-US" dirty="0"/>
              <a:t>We have already been affected by English after 1947 and now the Chinese language is affecting Urdu.</a:t>
            </a:r>
          </a:p>
          <a:p>
            <a:pPr lvl="0"/>
            <a:r>
              <a:rPr lang="en-US" dirty="0"/>
              <a:t>Pakistan will get better infrastructure</a:t>
            </a:r>
          </a:p>
          <a:p>
            <a:pPr lvl="0"/>
            <a:r>
              <a:rPr lang="en-US" dirty="0"/>
              <a:t>India financed Iran’s Chahbahar port to compete with Pakistan’s Gwadar port. </a:t>
            </a:r>
          </a:p>
          <a:p>
            <a:endParaRPr lang="en-US" dirty="0"/>
          </a:p>
        </p:txBody>
      </p:sp>
      <p:sp>
        <p:nvSpPr>
          <p:cNvPr id="4" name="Content Placeholder 3">
            <a:extLst>
              <a:ext uri="{FF2B5EF4-FFF2-40B4-BE49-F238E27FC236}">
                <a16:creationId xmlns:a16="http://schemas.microsoft.com/office/drawing/2014/main" id="{C82B33BD-FF90-452D-9B91-7094C06C4C1C}"/>
              </a:ext>
            </a:extLst>
          </p:cNvPr>
          <p:cNvSpPr>
            <a:spLocks noGrp="1"/>
          </p:cNvSpPr>
          <p:nvPr>
            <p:ph sz="half" idx="2"/>
          </p:nvPr>
        </p:nvSpPr>
        <p:spPr/>
        <p:txBody>
          <a:bodyPr>
            <a:noAutofit/>
          </a:bodyPr>
          <a:lstStyle/>
          <a:p>
            <a:pPr lvl="0" algn="just"/>
            <a:r>
              <a:rPr lang="en-US" sz="1800" dirty="0"/>
              <a:t>The completion of this project will promote Tourism in Pakistan.</a:t>
            </a:r>
          </a:p>
          <a:p>
            <a:pPr lvl="0" algn="just"/>
            <a:r>
              <a:rPr lang="en-US" sz="1800" dirty="0"/>
              <a:t>China’s incomplete project in Sri Lanka and some parts of Africa.</a:t>
            </a:r>
          </a:p>
          <a:p>
            <a:pPr lvl="0" algn="just"/>
            <a:r>
              <a:rPr lang="en-US" sz="1800" dirty="0"/>
              <a:t>Chinese presence in other countries is not a threat.</a:t>
            </a:r>
          </a:p>
          <a:p>
            <a:pPr lvl="0" algn="just"/>
            <a:r>
              <a:rPr lang="en-US" sz="1800" dirty="0"/>
              <a:t>China’s Western region has a resemblance to Baluchistan in terms of rich resources, land, and least development.</a:t>
            </a:r>
          </a:p>
          <a:p>
            <a:pPr lvl="0" algn="just"/>
            <a:r>
              <a:rPr lang="en-US" sz="1800" dirty="0"/>
              <a:t>It is still in the hands of Pakistan whether to lose or gain from the project.</a:t>
            </a:r>
          </a:p>
          <a:p>
            <a:pPr algn="just"/>
            <a:endParaRPr lang="en-US" sz="1800" dirty="0"/>
          </a:p>
        </p:txBody>
      </p:sp>
    </p:spTree>
    <p:extLst>
      <p:ext uri="{BB962C8B-B14F-4D97-AF65-F5344CB8AC3E}">
        <p14:creationId xmlns:p14="http://schemas.microsoft.com/office/powerpoint/2010/main" val="2392469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2DE2C-86A9-E7B9-4BB3-DDE87DA4AC5A}"/>
              </a:ext>
            </a:extLst>
          </p:cNvPr>
          <p:cNvSpPr>
            <a:spLocks noGrp="1"/>
          </p:cNvSpPr>
          <p:nvPr>
            <p:ph type="ctr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Foreign Policy with India</a:t>
            </a:r>
          </a:p>
        </p:txBody>
      </p:sp>
    </p:spTree>
    <p:extLst>
      <p:ext uri="{BB962C8B-B14F-4D97-AF65-F5344CB8AC3E}">
        <p14:creationId xmlns:p14="http://schemas.microsoft.com/office/powerpoint/2010/main" val="919934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EF8D0-4B4E-6FA2-D8D1-3FA69483D420}"/>
              </a:ext>
            </a:extLst>
          </p:cNvPr>
          <p:cNvSpPr>
            <a:spLocks noGrp="1"/>
          </p:cNvSpPr>
          <p:nvPr>
            <p:ph type="title"/>
          </p:nvPr>
        </p:nvSpPr>
        <p:spPr>
          <a:xfrm>
            <a:off x="1451579" y="1219200"/>
            <a:ext cx="9603275" cy="634554"/>
          </a:xfrm>
        </p:spPr>
        <p:txBody>
          <a:bodyPr>
            <a:normAutofit/>
          </a:bodyPr>
          <a:lstStyle/>
          <a:p>
            <a:pPr algn="ctr"/>
            <a:r>
              <a:rPr lang="en-US" sz="2800" b="1" dirty="0">
                <a:latin typeface="Times New Roman" panose="02020603050405020304" pitchFamily="18" charset="0"/>
                <a:cs typeface="Times New Roman" panose="02020603050405020304" pitchFamily="18" charset="0"/>
              </a:rPr>
              <a:t>Quaid-</a:t>
            </a:r>
            <a:r>
              <a:rPr lang="en-US" sz="2800" b="1" dirty="0" err="1">
                <a:latin typeface="Times New Roman" panose="02020603050405020304" pitchFamily="18" charset="0"/>
                <a:cs typeface="Times New Roman" panose="02020603050405020304" pitchFamily="18" charset="0"/>
              </a:rPr>
              <a:t>i</a:t>
            </a:r>
            <a:r>
              <a:rPr lang="en-US" sz="2800" b="1" dirty="0">
                <a:latin typeface="Times New Roman" panose="02020603050405020304" pitchFamily="18" charset="0"/>
                <a:cs typeface="Times New Roman" panose="02020603050405020304" pitchFamily="18" charset="0"/>
              </a:rPr>
              <a:t>-Azam’s Stance on Foreign Policy</a:t>
            </a:r>
          </a:p>
        </p:txBody>
      </p:sp>
      <p:sp>
        <p:nvSpPr>
          <p:cNvPr id="3" name="Content Placeholder 2">
            <a:extLst>
              <a:ext uri="{FF2B5EF4-FFF2-40B4-BE49-F238E27FC236}">
                <a16:creationId xmlns:a16="http://schemas.microsoft.com/office/drawing/2014/main" id="{6CBA5074-C622-FCCC-4F72-ABB50BAF092B}"/>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“Our foreign policy is one of </a:t>
            </a:r>
            <a:r>
              <a:rPr lang="en-US" b="1" dirty="0">
                <a:latin typeface="Times New Roman" panose="02020603050405020304" pitchFamily="18" charset="0"/>
                <a:cs typeface="Times New Roman" panose="02020603050405020304" pitchFamily="18" charset="0"/>
              </a:rPr>
              <a:t>friendliness and goodwill</a:t>
            </a:r>
            <a:r>
              <a:rPr lang="en-US" dirty="0">
                <a:latin typeface="Times New Roman" panose="02020603050405020304" pitchFamily="18" charset="0"/>
                <a:cs typeface="Times New Roman" panose="02020603050405020304" pitchFamily="18" charset="0"/>
              </a:rPr>
              <a:t> towards all the nations of the world. </a:t>
            </a:r>
            <a:r>
              <a:rPr lang="en-US" b="1" dirty="0">
                <a:latin typeface="Times New Roman" panose="02020603050405020304" pitchFamily="18" charset="0"/>
                <a:cs typeface="Times New Roman" panose="02020603050405020304" pitchFamily="18" charset="0"/>
              </a:rPr>
              <a:t>We do not cherish aggressive designs</a:t>
            </a:r>
            <a:r>
              <a:rPr lang="en-US" dirty="0">
                <a:latin typeface="Times New Roman" panose="02020603050405020304" pitchFamily="18" charset="0"/>
                <a:cs typeface="Times New Roman" panose="02020603050405020304" pitchFamily="18" charset="0"/>
              </a:rPr>
              <a:t> against any country or nation. We believe in the </a:t>
            </a:r>
            <a:r>
              <a:rPr lang="en-US" b="1" dirty="0">
                <a:latin typeface="Times New Roman" panose="02020603050405020304" pitchFamily="18" charset="0"/>
                <a:cs typeface="Times New Roman" panose="02020603050405020304" pitchFamily="18" charset="0"/>
              </a:rPr>
              <a:t>principle of honesty and fair play in national and international dealings</a:t>
            </a:r>
            <a:r>
              <a:rPr lang="en-US" dirty="0">
                <a:latin typeface="Times New Roman" panose="02020603050405020304" pitchFamily="18" charset="0"/>
                <a:cs typeface="Times New Roman" panose="02020603050405020304" pitchFamily="18" charset="0"/>
              </a:rPr>
              <a:t> and are prepared to make our utmost contribution to the promotion of peace and prosperity among the nations of the world. Pakistan will never be found lacking in extending its material and moral support to the oppressed and suppressed peoples of the world and in upholding the principles of the </a:t>
            </a:r>
            <a:r>
              <a:rPr lang="en-US" b="1" dirty="0">
                <a:latin typeface="Times New Roman" panose="02020603050405020304" pitchFamily="18" charset="0"/>
                <a:cs typeface="Times New Roman" panose="02020603050405020304" pitchFamily="18" charset="0"/>
              </a:rPr>
              <a:t>United Nations charter</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30790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8D381-828C-66B6-6F33-DA75F1A9510E}"/>
              </a:ext>
            </a:extLst>
          </p:cNvPr>
          <p:cNvSpPr>
            <a:spLocks noGrp="1"/>
          </p:cNvSpPr>
          <p:nvPr>
            <p:ph type="title"/>
          </p:nvPr>
        </p:nvSpPr>
        <p:spPr>
          <a:xfrm>
            <a:off x="1451579" y="1260764"/>
            <a:ext cx="9603275" cy="592990"/>
          </a:xfrm>
        </p:spPr>
        <p:txBody>
          <a:bodyPr>
            <a:normAutofit/>
          </a:bodyPr>
          <a:lstStyle/>
          <a:p>
            <a:pPr algn="ctr"/>
            <a:r>
              <a:rPr lang="en-US" sz="2800" b="1" dirty="0">
                <a:latin typeface="Times New Roman" panose="02020603050405020304" pitchFamily="18" charset="0"/>
                <a:cs typeface="Times New Roman" panose="02020603050405020304" pitchFamily="18" charset="0"/>
              </a:rPr>
              <a:t>Background of Pak-India Relations</a:t>
            </a:r>
          </a:p>
        </p:txBody>
      </p:sp>
      <p:sp>
        <p:nvSpPr>
          <p:cNvPr id="3" name="Content Placeholder 2">
            <a:extLst>
              <a:ext uri="{FF2B5EF4-FFF2-40B4-BE49-F238E27FC236}">
                <a16:creationId xmlns:a16="http://schemas.microsoft.com/office/drawing/2014/main" id="{FF562D44-D8C6-D9D7-9746-8C5A087CD808}"/>
              </a:ext>
            </a:extLst>
          </p:cNvPr>
          <p:cNvSpPr>
            <a:spLocks noGrp="1"/>
          </p:cNvSpPr>
          <p:nvPr>
            <p:ph idx="1"/>
          </p:nvPr>
        </p:nvSpPr>
        <p:spPr>
          <a:xfrm>
            <a:off x="1451579" y="1853754"/>
            <a:ext cx="9603275" cy="3450613"/>
          </a:xfrm>
        </p:spPr>
        <p:txBody>
          <a:bodyPr>
            <a:noAutofit/>
          </a:bodyPr>
          <a:lstStyle/>
          <a:p>
            <a:pPr algn="just"/>
            <a:r>
              <a:rPr lang="en-US" dirty="0">
                <a:latin typeface="Times New Roman" panose="02020603050405020304" pitchFamily="18" charset="0"/>
                <a:cs typeface="Times New Roman" panose="02020603050405020304" pitchFamily="18" charset="0"/>
              </a:rPr>
              <a:t>India claims Kashmir to be its </a:t>
            </a:r>
            <a:r>
              <a:rPr lang="en-US" b="1" dirty="0">
                <a:latin typeface="Times New Roman" panose="02020603050405020304" pitchFamily="18" charset="0"/>
                <a:cs typeface="Times New Roman" panose="02020603050405020304" pitchFamily="18" charset="0"/>
              </a:rPr>
              <a:t>integral part</a:t>
            </a:r>
            <a:r>
              <a:rPr lang="en-US" dirty="0">
                <a:latin typeface="Times New Roman" panose="02020603050405020304" pitchFamily="18" charset="0"/>
                <a:cs typeface="Times New Roman" panose="02020603050405020304" pitchFamily="18" charset="0"/>
              </a:rPr>
              <a:t> and Pakistan claims it as its‘ </a:t>
            </a:r>
            <a:r>
              <a:rPr lang="en-US" b="1" dirty="0">
                <a:latin typeface="Times New Roman" panose="02020603050405020304" pitchFamily="18" charset="0"/>
                <a:cs typeface="Times New Roman" panose="02020603050405020304" pitchFamily="18" charset="0"/>
              </a:rPr>
              <a:t>Jugular vein’</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India is considered to be Pakistan’s enemy since both countries have been separated in 1947 on the bases of religious nationalism.</a:t>
            </a:r>
          </a:p>
          <a:p>
            <a:pPr algn="just"/>
            <a:r>
              <a:rPr lang="en-US" dirty="0">
                <a:latin typeface="Times New Roman" panose="02020603050405020304" pitchFamily="18" charset="0"/>
                <a:cs typeface="Times New Roman" panose="02020603050405020304" pitchFamily="18" charset="0"/>
              </a:rPr>
              <a:t>To maintain the balance of power in the region, most of the budget of these countries spend on defense. Along with this, both countries have the status of </a:t>
            </a:r>
            <a:r>
              <a:rPr lang="en-US" b="1" dirty="0">
                <a:latin typeface="Times New Roman" panose="02020603050405020304" pitchFamily="18" charset="0"/>
                <a:cs typeface="Times New Roman" panose="02020603050405020304" pitchFamily="18" charset="0"/>
              </a:rPr>
              <a:t>Nuclear power</a:t>
            </a:r>
            <a:r>
              <a:rPr lang="en-US" dirty="0">
                <a:latin typeface="Times New Roman" panose="02020603050405020304" pitchFamily="18" charset="0"/>
                <a:cs typeface="Times New Roman" panose="02020603050405020304" pitchFamily="18" charset="0"/>
              </a:rPr>
              <a:t> due to which this region </a:t>
            </a:r>
            <a:r>
              <a:rPr lang="en-US" b="1" dirty="0">
                <a:latin typeface="Times New Roman" panose="02020603050405020304" pitchFamily="18" charset="0"/>
                <a:cs typeface="Times New Roman" panose="02020603050405020304" pitchFamily="18" charset="0"/>
              </a:rPr>
              <a:t>(South Asia) </a:t>
            </a:r>
            <a:r>
              <a:rPr lang="en-US" dirty="0">
                <a:latin typeface="Times New Roman" panose="02020603050405020304" pitchFamily="18" charset="0"/>
                <a:cs typeface="Times New Roman" panose="02020603050405020304" pitchFamily="18" charset="0"/>
              </a:rPr>
              <a:t>is considered as the danger zone on earth in terms of war.</a:t>
            </a:r>
          </a:p>
          <a:p>
            <a:pPr algn="just"/>
            <a:r>
              <a:rPr lang="en-US" dirty="0">
                <a:latin typeface="Times New Roman" panose="02020603050405020304" pitchFamily="18" charset="0"/>
                <a:cs typeface="Times New Roman" panose="02020603050405020304" pitchFamily="18" charset="0"/>
              </a:rPr>
              <a:t>Since its inception, Pakistan being a nascent state has been facing problems like regional instability, water issues, disputed areas, and insecurity from the Indian side.</a:t>
            </a:r>
          </a:p>
          <a:p>
            <a:pPr algn="just"/>
            <a:r>
              <a:rPr lang="en-US" dirty="0">
                <a:latin typeface="Times New Roman" panose="02020603050405020304" pitchFamily="18" charset="0"/>
                <a:cs typeface="Times New Roman" panose="02020603050405020304" pitchFamily="18" charset="0"/>
              </a:rPr>
              <a:t>Both countries have fought almost four wars: the </a:t>
            </a:r>
            <a:r>
              <a:rPr lang="en-US" b="1" dirty="0">
                <a:latin typeface="Times New Roman" panose="02020603050405020304" pitchFamily="18" charset="0"/>
                <a:cs typeface="Times New Roman" panose="02020603050405020304" pitchFamily="18" charset="0"/>
              </a:rPr>
              <a:t>1948 Kashmir issue</a:t>
            </a:r>
            <a:r>
              <a:rPr lang="en-US" dirty="0">
                <a:latin typeface="Times New Roman" panose="02020603050405020304" pitchFamily="18" charset="0"/>
                <a:cs typeface="Times New Roman" panose="02020603050405020304" pitchFamily="18" charset="0"/>
              </a:rPr>
              <a:t>, the </a:t>
            </a:r>
            <a:r>
              <a:rPr lang="en-US" b="1" dirty="0">
                <a:latin typeface="Times New Roman" panose="02020603050405020304" pitchFamily="18" charset="0"/>
                <a:cs typeface="Times New Roman" panose="02020603050405020304" pitchFamily="18" charset="0"/>
              </a:rPr>
              <a:t>1965 Operation Gibraltar</a:t>
            </a:r>
            <a:r>
              <a:rPr lang="en-US" dirty="0">
                <a:latin typeface="Times New Roman" panose="02020603050405020304" pitchFamily="18" charset="0"/>
                <a:cs typeface="Times New Roman" panose="02020603050405020304" pitchFamily="18" charset="0"/>
              </a:rPr>
              <a:t>, the </a:t>
            </a:r>
            <a:r>
              <a:rPr lang="en-US" b="1" dirty="0">
                <a:latin typeface="Times New Roman" panose="02020603050405020304" pitchFamily="18" charset="0"/>
                <a:cs typeface="Times New Roman" panose="02020603050405020304" pitchFamily="18" charset="0"/>
              </a:rPr>
              <a:t>1971 Separation of East Pakistan</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the 1999 Kargil War.</a:t>
            </a:r>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9047095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875E5-42E3-67E1-1814-F3A762FAC9AB}"/>
              </a:ext>
            </a:extLst>
          </p:cNvPr>
          <p:cNvSpPr>
            <a:spLocks noGrp="1"/>
          </p:cNvSpPr>
          <p:nvPr>
            <p:ph type="title"/>
          </p:nvPr>
        </p:nvSpPr>
        <p:spPr/>
        <p:txBody>
          <a:bodyPr>
            <a:normAutofit/>
          </a:bodyPr>
          <a:lstStyle/>
          <a:p>
            <a:pPr algn="ctr"/>
            <a:r>
              <a:rPr lang="en-US" sz="2800" b="1" dirty="0">
                <a:latin typeface="Times New Roman" panose="02020603050405020304" pitchFamily="18" charset="0"/>
                <a:cs typeface="Times New Roman" panose="02020603050405020304" pitchFamily="18" charset="0"/>
              </a:rPr>
              <a:t>Kashmir Issue: </a:t>
            </a:r>
            <a:r>
              <a:rPr lang="en-US" sz="2800" dirty="0">
                <a:latin typeface="Times New Roman" panose="02020603050405020304" pitchFamily="18" charset="0"/>
                <a:cs typeface="Times New Roman" panose="02020603050405020304" pitchFamily="18" charset="0"/>
              </a:rPr>
              <a:t>Bone of contention between India and Pakistan</a:t>
            </a:r>
          </a:p>
        </p:txBody>
      </p:sp>
      <p:sp>
        <p:nvSpPr>
          <p:cNvPr id="3" name="Content Placeholder 2">
            <a:extLst>
              <a:ext uri="{FF2B5EF4-FFF2-40B4-BE49-F238E27FC236}">
                <a16:creationId xmlns:a16="http://schemas.microsoft.com/office/drawing/2014/main" id="{ACF9853D-C751-AC27-3FAE-551E4AA60F67}"/>
              </a:ext>
            </a:extLst>
          </p:cNvPr>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The 3</a:t>
            </a:r>
            <a:r>
              <a:rPr lang="en-US" baseline="30000" dirty="0">
                <a:latin typeface="Times New Roman" panose="02020603050405020304" pitchFamily="18" charset="0"/>
                <a:cs typeface="Times New Roman" panose="02020603050405020304" pitchFamily="18" charset="0"/>
              </a:rPr>
              <a:t>rd</a:t>
            </a:r>
            <a:r>
              <a:rPr lang="en-US" dirty="0">
                <a:latin typeface="Times New Roman" panose="02020603050405020304" pitchFamily="18" charset="0"/>
                <a:cs typeface="Times New Roman" panose="02020603050405020304" pitchFamily="18" charset="0"/>
              </a:rPr>
              <a:t> June Plan (Partition of British India)</a:t>
            </a:r>
          </a:p>
          <a:p>
            <a:pPr algn="just"/>
            <a:r>
              <a:rPr lang="en-US" dirty="0">
                <a:latin typeface="Times New Roman" panose="02020603050405020304" pitchFamily="18" charset="0"/>
                <a:cs typeface="Times New Roman" panose="02020603050405020304" pitchFamily="18" charset="0"/>
              </a:rPr>
              <a:t>There were a total of 562 Princely States including Kashmir</a:t>
            </a:r>
          </a:p>
          <a:p>
            <a:pPr algn="just"/>
            <a:r>
              <a:rPr lang="en-US" dirty="0">
                <a:latin typeface="Times New Roman" panose="02020603050405020304" pitchFamily="18" charset="0"/>
                <a:cs typeface="Times New Roman" panose="02020603050405020304" pitchFamily="18" charset="0"/>
              </a:rPr>
              <a:t>During the partition in 1947, approximately </a:t>
            </a:r>
            <a:r>
              <a:rPr lang="en-US" b="1" dirty="0">
                <a:latin typeface="Times New Roman" panose="02020603050405020304" pitchFamily="18" charset="0"/>
                <a:cs typeface="Times New Roman" panose="02020603050405020304" pitchFamily="18" charset="0"/>
              </a:rPr>
              <a:t>500 princely states</a:t>
            </a:r>
            <a:r>
              <a:rPr lang="en-US" dirty="0">
                <a:latin typeface="Times New Roman" panose="02020603050405020304" pitchFamily="18" charset="0"/>
                <a:cs typeface="Times New Roman" panose="02020603050405020304" pitchFamily="18" charset="0"/>
              </a:rPr>
              <a:t> joined India and supported the Indian Congress. While 14 Princely states supported the cause of Pakistan and joined Pakistan accordingly. There were only 3 Independent Princely States who had joined non of the above </a:t>
            </a:r>
            <a:r>
              <a:rPr lang="en-US" b="1" dirty="0">
                <a:latin typeface="Times New Roman" panose="02020603050405020304" pitchFamily="18" charset="0"/>
                <a:cs typeface="Times New Roman" panose="02020603050405020304" pitchFamily="18" charset="0"/>
              </a:rPr>
              <a:t>(Junagarh, Hyderabad, and Kashmir)</a:t>
            </a:r>
          </a:p>
          <a:p>
            <a:pPr algn="just"/>
            <a:r>
              <a:rPr lang="en-US" dirty="0">
                <a:latin typeface="Times New Roman" panose="02020603050405020304" pitchFamily="18" charset="0"/>
                <a:cs typeface="Times New Roman" panose="02020603050405020304" pitchFamily="18" charset="0"/>
              </a:rPr>
              <a:t> Kashmir was the second largest Princely State of United India.</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83301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6E046-C5D3-6797-DFFE-07522C90AD15}"/>
              </a:ext>
            </a:extLst>
          </p:cNvPr>
          <p:cNvSpPr>
            <a:spLocks noGrp="1"/>
          </p:cNvSpPr>
          <p:nvPr>
            <p:ph type="title"/>
          </p:nvPr>
        </p:nvSpPr>
        <p:spPr>
          <a:xfrm>
            <a:off x="1451579" y="1302327"/>
            <a:ext cx="9603275" cy="551427"/>
          </a:xfrm>
        </p:spPr>
        <p:txBody>
          <a:bodyPr>
            <a:normAutofit/>
          </a:bodyPr>
          <a:lstStyle/>
          <a:p>
            <a:pPr algn="ctr"/>
            <a:r>
              <a:rPr lang="en-US" sz="2800" b="1" dirty="0">
                <a:latin typeface="Times New Roman" panose="02020603050405020304" pitchFamily="18" charset="0"/>
                <a:cs typeface="Times New Roman" panose="02020603050405020304" pitchFamily="18" charset="0"/>
              </a:rPr>
              <a:t>Kashmir Issue</a:t>
            </a:r>
          </a:p>
        </p:txBody>
      </p:sp>
      <p:sp>
        <p:nvSpPr>
          <p:cNvPr id="3" name="Content Placeholder 2">
            <a:extLst>
              <a:ext uri="{FF2B5EF4-FFF2-40B4-BE49-F238E27FC236}">
                <a16:creationId xmlns:a16="http://schemas.microsoft.com/office/drawing/2014/main" id="{931651CD-95A0-0280-6CAB-2C438D9D7742}"/>
              </a:ext>
            </a:extLst>
          </p:cNvPr>
          <p:cNvSpPr>
            <a:spLocks noGrp="1"/>
          </p:cNvSpPr>
          <p:nvPr>
            <p:ph idx="1"/>
          </p:nvPr>
        </p:nvSpPr>
        <p:spPr>
          <a:xfrm>
            <a:off x="1451578" y="1853754"/>
            <a:ext cx="9603275" cy="3450613"/>
          </a:xfrm>
        </p:spPr>
        <p:txBody>
          <a:bodyPr>
            <a:noAutofit/>
          </a:bodyPr>
          <a:lstStyle/>
          <a:p>
            <a:pPr algn="just"/>
            <a:r>
              <a:rPr lang="en-US" dirty="0">
                <a:latin typeface="Times New Roman" panose="02020603050405020304" pitchFamily="18" charset="0"/>
                <a:cs typeface="Times New Roman" panose="02020603050405020304" pitchFamily="18" charset="0"/>
              </a:rPr>
              <a:t>Area and population: It has an area of </a:t>
            </a:r>
            <a:r>
              <a:rPr lang="en-US" b="1" dirty="0">
                <a:latin typeface="Times New Roman" panose="02020603050405020304" pitchFamily="18" charset="0"/>
                <a:cs typeface="Times New Roman" panose="02020603050405020304" pitchFamily="18" charset="0"/>
              </a:rPr>
              <a:t>84000 sq miles</a:t>
            </a:r>
            <a:r>
              <a:rPr lang="en-US" dirty="0">
                <a:latin typeface="Times New Roman" panose="02020603050405020304" pitchFamily="18" charset="0"/>
                <a:cs typeface="Times New Roman" panose="02020603050405020304" pitchFamily="18" charset="0"/>
              </a:rPr>
              <a:t>. According to the 1941 census, its population was about </a:t>
            </a:r>
            <a:r>
              <a:rPr lang="en-US" b="1" dirty="0">
                <a:latin typeface="Times New Roman" panose="02020603050405020304" pitchFamily="18" charset="0"/>
                <a:cs typeface="Times New Roman" panose="02020603050405020304" pitchFamily="18" charset="0"/>
              </a:rPr>
              <a:t>4.4 million</a:t>
            </a:r>
            <a:r>
              <a:rPr lang="en-US" dirty="0">
                <a:latin typeface="Times New Roman" panose="02020603050405020304" pitchFamily="18" charset="0"/>
                <a:cs typeface="Times New Roman" panose="02020603050405020304" pitchFamily="18" charset="0"/>
              </a:rPr>
              <a:t>. Amongst them, </a:t>
            </a:r>
            <a:r>
              <a:rPr lang="en-US" b="1" dirty="0">
                <a:latin typeface="Times New Roman" panose="02020603050405020304" pitchFamily="18" charset="0"/>
                <a:cs typeface="Times New Roman" panose="02020603050405020304" pitchFamily="18" charset="0"/>
              </a:rPr>
              <a:t>3.07</a:t>
            </a:r>
            <a:r>
              <a:rPr lang="en-US" dirty="0">
                <a:latin typeface="Times New Roman" panose="02020603050405020304" pitchFamily="18" charset="0"/>
                <a:cs typeface="Times New Roman" panose="02020603050405020304" pitchFamily="18" charset="0"/>
              </a:rPr>
              <a:t> were Muslims. </a:t>
            </a:r>
          </a:p>
          <a:p>
            <a:pPr algn="just"/>
            <a:r>
              <a:rPr lang="en-US" dirty="0">
                <a:latin typeface="Times New Roman" panose="02020603050405020304" pitchFamily="18" charset="0"/>
                <a:cs typeface="Times New Roman" panose="02020603050405020304" pitchFamily="18" charset="0"/>
              </a:rPr>
              <a:t>Both the Hindus and Muslims wished to convince the Kashmiris but the Hindus were somehow aggressive in getting Kashmir. Consequently, the Kashmiri Muslims revolted against the Hindu’s tyranny due to which the Maharaja showed favor towards India. </a:t>
            </a:r>
          </a:p>
          <a:p>
            <a:pPr algn="just"/>
            <a:r>
              <a:rPr lang="en-US" dirty="0">
                <a:latin typeface="Times New Roman" panose="02020603050405020304" pitchFamily="18" charset="0"/>
                <a:cs typeface="Times New Roman" panose="02020603050405020304" pitchFamily="18" charset="0"/>
              </a:rPr>
              <a:t>Facing the Muslim revolts in Kashmir, the Maharaja had to flee from the valley of Kashmir on </a:t>
            </a:r>
            <a:r>
              <a:rPr lang="en-US" b="1" dirty="0">
                <a:latin typeface="Times New Roman" panose="02020603050405020304" pitchFamily="18" charset="0"/>
                <a:cs typeface="Times New Roman" panose="02020603050405020304" pitchFamily="18" charset="0"/>
              </a:rPr>
              <a:t>October 24, 1947,</a:t>
            </a:r>
            <a:r>
              <a:rPr lang="en-US" dirty="0">
                <a:latin typeface="Times New Roman" panose="02020603050405020304" pitchFamily="18" charset="0"/>
                <a:cs typeface="Times New Roman" panose="02020603050405020304" pitchFamily="18" charset="0"/>
              </a:rPr>
              <a:t> and seek refuge and wrote a </a:t>
            </a:r>
            <a:r>
              <a:rPr lang="en-US" b="1" dirty="0">
                <a:latin typeface="Times New Roman" panose="02020603050405020304" pitchFamily="18" charset="0"/>
                <a:cs typeface="Times New Roman" panose="02020603050405020304" pitchFamily="18" charset="0"/>
              </a:rPr>
              <a:t>letter to Mountbatten</a:t>
            </a:r>
            <a:r>
              <a:rPr lang="en-US" dirty="0">
                <a:latin typeface="Times New Roman" panose="02020603050405020304" pitchFamily="18" charset="0"/>
                <a:cs typeface="Times New Roman" panose="02020603050405020304" pitchFamily="18" charset="0"/>
              </a:rPr>
              <a:t> to send the Indian Army to control the situation and the Indian army did the same as expected.</a:t>
            </a:r>
          </a:p>
          <a:p>
            <a:pPr algn="just"/>
            <a:r>
              <a:rPr lang="en-US" dirty="0">
                <a:latin typeface="Times New Roman" panose="02020603050405020304" pitchFamily="18" charset="0"/>
                <a:cs typeface="Times New Roman" panose="02020603050405020304" pitchFamily="18" charset="0"/>
              </a:rPr>
              <a:t>To respond to the Indian army, the government of Pakistan sent the army and the tribal Pathans from KPK.</a:t>
            </a:r>
          </a:p>
          <a:p>
            <a:pPr algn="just"/>
            <a:r>
              <a:rPr lang="en-US" dirty="0">
                <a:latin typeface="Times New Roman" panose="02020603050405020304" pitchFamily="18" charset="0"/>
                <a:cs typeface="Times New Roman" panose="02020603050405020304" pitchFamily="18" charset="0"/>
              </a:rPr>
              <a:t>Violation of the plebiscite. </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4253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D919A-C5A2-9D64-88B3-809DCC2CC855}"/>
              </a:ext>
            </a:extLst>
          </p:cNvPr>
          <p:cNvSpPr>
            <a:spLocks noGrp="1"/>
          </p:cNvSpPr>
          <p:nvPr>
            <p:ph type="title"/>
          </p:nvPr>
        </p:nvSpPr>
        <p:spPr>
          <a:xfrm>
            <a:off x="1451579" y="1274618"/>
            <a:ext cx="9603275" cy="579136"/>
          </a:xfrm>
        </p:spPr>
        <p:txBody>
          <a:bodyPr>
            <a:normAutofit/>
          </a:bodyPr>
          <a:lstStyle/>
          <a:p>
            <a:pPr algn="ctr"/>
            <a:r>
              <a:rPr lang="en-US" sz="2800" b="1" dirty="0">
                <a:latin typeface="Times New Roman" panose="02020603050405020304" pitchFamily="18" charset="0"/>
                <a:cs typeface="Times New Roman" panose="02020603050405020304" pitchFamily="18" charset="0"/>
              </a:rPr>
              <a:t>Kashmir Issue and the United Nations</a:t>
            </a:r>
          </a:p>
        </p:txBody>
      </p:sp>
      <p:sp>
        <p:nvSpPr>
          <p:cNvPr id="3" name="Content Placeholder 2">
            <a:extLst>
              <a:ext uri="{FF2B5EF4-FFF2-40B4-BE49-F238E27FC236}">
                <a16:creationId xmlns:a16="http://schemas.microsoft.com/office/drawing/2014/main" id="{1543590F-2BB7-F049-322E-1B6DE6BD14F8}"/>
              </a:ext>
            </a:extLst>
          </p:cNvPr>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Pakistan welcomed the intervention of the UN</a:t>
            </a:r>
          </a:p>
          <a:p>
            <a:pPr algn="just"/>
            <a:r>
              <a:rPr lang="en-US" dirty="0">
                <a:latin typeface="Times New Roman" panose="02020603050405020304" pitchFamily="18" charset="0"/>
                <a:cs typeface="Times New Roman" panose="02020603050405020304" pitchFamily="18" charset="0"/>
              </a:rPr>
              <a:t>Decision of the Security Council: Ceasefire between the two countries, </a:t>
            </a:r>
            <a:r>
              <a:rPr lang="en-US" b="1" dirty="0">
                <a:latin typeface="Times New Roman" panose="02020603050405020304" pitchFamily="18" charset="0"/>
                <a:cs typeface="Times New Roman" panose="02020603050405020304" pitchFamily="18" charset="0"/>
              </a:rPr>
              <a:t>Truce agreement </a:t>
            </a:r>
            <a:r>
              <a:rPr lang="en-US" dirty="0">
                <a:latin typeface="Times New Roman" panose="02020603050405020304" pitchFamily="18" charset="0"/>
                <a:cs typeface="Times New Roman" panose="02020603050405020304" pitchFamily="18" charset="0"/>
              </a:rPr>
              <a:t>and </a:t>
            </a:r>
            <a:r>
              <a:rPr lang="en-US" b="1" dirty="0">
                <a:latin typeface="Times New Roman" panose="02020603050405020304" pitchFamily="18" charset="0"/>
                <a:cs typeface="Times New Roman" panose="02020603050405020304" pitchFamily="18" charset="0"/>
              </a:rPr>
              <a:t>demilitarization</a:t>
            </a:r>
            <a:r>
              <a:rPr lang="en-US" dirty="0">
                <a:latin typeface="Times New Roman" panose="02020603050405020304" pitchFamily="18" charset="0"/>
                <a:cs typeface="Times New Roman" panose="02020603050405020304" pitchFamily="18" charset="0"/>
              </a:rPr>
              <a:t> of the </a:t>
            </a:r>
            <a:r>
              <a:rPr lang="en-US" b="1" dirty="0">
                <a:latin typeface="Times New Roman" panose="02020603050405020304" pitchFamily="18" charset="0"/>
                <a:cs typeface="Times New Roman" panose="02020603050405020304" pitchFamily="18" charset="0"/>
              </a:rPr>
              <a:t>State Jammu and Kashmir</a:t>
            </a:r>
            <a:r>
              <a:rPr lang="en-US" dirty="0">
                <a:latin typeface="Times New Roman" panose="02020603050405020304" pitchFamily="18" charset="0"/>
                <a:cs typeface="Times New Roman" panose="02020603050405020304" pitchFamily="18" charset="0"/>
              </a:rPr>
              <a:t> and a </a:t>
            </a:r>
            <a:r>
              <a:rPr lang="en-US" b="1" dirty="0">
                <a:latin typeface="Times New Roman" panose="02020603050405020304" pitchFamily="18" charset="0"/>
                <a:cs typeface="Times New Roman" panose="02020603050405020304" pitchFamily="18" charset="0"/>
              </a:rPr>
              <a:t>council of commission</a:t>
            </a:r>
            <a:r>
              <a:rPr lang="en-US" dirty="0">
                <a:latin typeface="Times New Roman" panose="02020603050405020304" pitchFamily="18" charset="0"/>
                <a:cs typeface="Times New Roman" panose="02020603050405020304" pitchFamily="18" charset="0"/>
              </a:rPr>
              <a:t> for India and Pakistan was made to follow the instructions of cease fire. </a:t>
            </a:r>
          </a:p>
          <a:p>
            <a:pPr algn="just"/>
            <a:r>
              <a:rPr lang="en-US" dirty="0">
                <a:latin typeface="Times New Roman" panose="02020603050405020304" pitchFamily="18" charset="0"/>
                <a:cs typeface="Times New Roman" panose="02020603050405020304" pitchFamily="18" charset="0"/>
              </a:rPr>
              <a:t>India implemented </a:t>
            </a:r>
            <a:r>
              <a:rPr lang="en-US" b="1" dirty="0">
                <a:latin typeface="Times New Roman" panose="02020603050405020304" pitchFamily="18" charset="0"/>
                <a:cs typeface="Times New Roman" panose="02020603050405020304" pitchFamily="18" charset="0"/>
              </a:rPr>
              <a:t>article 370 on Kashmir</a:t>
            </a:r>
            <a:r>
              <a:rPr lang="en-US" dirty="0">
                <a:latin typeface="Times New Roman" panose="02020603050405020304" pitchFamily="18" charset="0"/>
                <a:cs typeface="Times New Roman" panose="02020603050405020304" pitchFamily="18" charset="0"/>
              </a:rPr>
              <a:t> which was intended to establish a representative government in Kashmir. </a:t>
            </a:r>
          </a:p>
          <a:p>
            <a:pPr algn="just"/>
            <a:r>
              <a:rPr lang="en-US" dirty="0" err="1">
                <a:latin typeface="Times New Roman" panose="02020603050405020304" pitchFamily="18" charset="0"/>
                <a:cs typeface="Times New Roman" panose="02020603050405020304" pitchFamily="18" charset="0"/>
              </a:rPr>
              <a:t>Ayub</a:t>
            </a:r>
            <a:r>
              <a:rPr lang="en-US" dirty="0">
                <a:latin typeface="Times New Roman" panose="02020603050405020304" pitchFamily="18" charset="0"/>
                <a:cs typeface="Times New Roman" panose="02020603050405020304" pitchFamily="18" charset="0"/>
              </a:rPr>
              <a:t> Khan’s meeting with Nehru in 1959 over Kashmir</a:t>
            </a:r>
          </a:p>
          <a:p>
            <a:pPr algn="just"/>
            <a:r>
              <a:rPr lang="en-US" dirty="0">
                <a:latin typeface="Times New Roman" panose="02020603050405020304" pitchFamily="18" charset="0"/>
                <a:cs typeface="Times New Roman" panose="02020603050405020304" pitchFamily="18" charset="0"/>
              </a:rPr>
              <a:t>Six Round table talks on Kashmir</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05522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47477-B0BE-3501-E52F-659C912F5991}"/>
              </a:ext>
            </a:extLst>
          </p:cNvPr>
          <p:cNvSpPr>
            <a:spLocks noGrp="1"/>
          </p:cNvSpPr>
          <p:nvPr>
            <p:ph type="title"/>
          </p:nvPr>
        </p:nvSpPr>
        <p:spPr>
          <a:xfrm>
            <a:off x="1451579" y="1205345"/>
            <a:ext cx="9603275" cy="648409"/>
          </a:xfrm>
        </p:spPr>
        <p:txBody>
          <a:bodyPr>
            <a:normAutofit/>
          </a:bodyPr>
          <a:lstStyle/>
          <a:p>
            <a:pPr algn="ctr"/>
            <a:r>
              <a:rPr lang="en-US" sz="2800" b="1" dirty="0">
                <a:latin typeface="Times New Roman" panose="02020603050405020304" pitchFamily="18" charset="0"/>
                <a:cs typeface="Times New Roman" panose="02020603050405020304" pitchFamily="18" charset="0"/>
              </a:rPr>
              <a:t>Relations with Afghanistan</a:t>
            </a:r>
          </a:p>
        </p:txBody>
      </p:sp>
      <p:sp>
        <p:nvSpPr>
          <p:cNvPr id="3" name="Content Placeholder 2">
            <a:extLst>
              <a:ext uri="{FF2B5EF4-FFF2-40B4-BE49-F238E27FC236}">
                <a16:creationId xmlns:a16="http://schemas.microsoft.com/office/drawing/2014/main" id="{291B4E1B-C1CF-B4DD-D2A4-5ECB9DF9CAFD}"/>
              </a:ext>
            </a:extLst>
          </p:cNvPr>
          <p:cNvSpPr>
            <a:spLocks noGrp="1"/>
          </p:cNvSpPr>
          <p:nvPr>
            <p:ph idx="1"/>
          </p:nvPr>
        </p:nvSpPr>
        <p:spPr/>
        <p:txBody>
          <a:bodyPr>
            <a:noAutofit/>
          </a:bodyPr>
          <a:lstStyle/>
          <a:p>
            <a:pPr algn="just"/>
            <a:r>
              <a:rPr lang="en-US" dirty="0">
                <a:latin typeface="Times New Roman" panose="02020603050405020304" pitchFamily="18" charset="0"/>
                <a:cs typeface="Times New Roman" panose="02020603050405020304" pitchFamily="18" charset="0"/>
              </a:rPr>
              <a:t>Pakistan and Afghanistan is sharing a long border of 2250 KM. Along with this, both the countries are sharing same religion and culture. </a:t>
            </a:r>
          </a:p>
          <a:p>
            <a:pPr algn="just"/>
            <a:r>
              <a:rPr lang="en-US" dirty="0">
                <a:latin typeface="Times New Roman" panose="02020603050405020304" pitchFamily="18" charset="0"/>
                <a:cs typeface="Times New Roman" panose="02020603050405020304" pitchFamily="18" charset="0"/>
              </a:rPr>
              <a:t>Conflict over Durand Line</a:t>
            </a:r>
          </a:p>
          <a:p>
            <a:pPr algn="just"/>
            <a:r>
              <a:rPr lang="en-US" dirty="0">
                <a:latin typeface="Times New Roman" panose="02020603050405020304" pitchFamily="18" charset="0"/>
                <a:cs typeface="Times New Roman" panose="02020603050405020304" pitchFamily="18" charset="0"/>
              </a:rPr>
              <a:t>The Soviet Invasion and Pakistan’s participation in the War.</a:t>
            </a:r>
          </a:p>
          <a:p>
            <a:pPr algn="just"/>
            <a:r>
              <a:rPr lang="en-US" dirty="0">
                <a:latin typeface="Times New Roman" panose="02020603050405020304" pitchFamily="18" charset="0"/>
                <a:cs typeface="Times New Roman" panose="02020603050405020304" pitchFamily="18" charset="0"/>
              </a:rPr>
              <a:t>Afghan refugees and Pakistan’s response</a:t>
            </a:r>
          </a:p>
          <a:p>
            <a:pPr algn="just"/>
            <a:r>
              <a:rPr lang="en-US" b="1" dirty="0">
                <a:latin typeface="Times New Roman" panose="02020603050405020304" pitchFamily="18" charset="0"/>
                <a:cs typeface="Times New Roman" panose="02020603050405020304" pitchFamily="18" charset="0"/>
              </a:rPr>
              <a:t>War on Terror </a:t>
            </a:r>
            <a:r>
              <a:rPr lang="en-US" dirty="0">
                <a:latin typeface="Times New Roman" panose="02020603050405020304" pitchFamily="18" charset="0"/>
                <a:cs typeface="Times New Roman" panose="02020603050405020304" pitchFamily="18" charset="0"/>
              </a:rPr>
              <a:t>Al-Qaida attack on World Trad Centre on 9 September 2001, popularly called as 9/11.</a:t>
            </a:r>
          </a:p>
          <a:p>
            <a:pPr algn="just"/>
            <a:r>
              <a:rPr lang="en-US" dirty="0">
                <a:latin typeface="Times New Roman" panose="02020603050405020304" pitchFamily="18" charset="0"/>
                <a:cs typeface="Times New Roman" panose="02020603050405020304" pitchFamily="18" charset="0"/>
              </a:rPr>
              <a:t>Loss in war on Terror</a:t>
            </a:r>
          </a:p>
          <a:p>
            <a:pPr algn="just"/>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17109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AC321-1B94-F00E-7974-77021AC5AEAF}"/>
              </a:ext>
            </a:extLst>
          </p:cNvPr>
          <p:cNvSpPr>
            <a:spLocks noGrp="1"/>
          </p:cNvSpPr>
          <p:nvPr>
            <p:ph type="title"/>
          </p:nvPr>
        </p:nvSpPr>
        <p:spPr>
          <a:xfrm>
            <a:off x="1451579" y="1288473"/>
            <a:ext cx="9603275" cy="565281"/>
          </a:xfrm>
        </p:spPr>
        <p:txBody>
          <a:bodyPr>
            <a:normAutofit/>
          </a:bodyPr>
          <a:lstStyle/>
          <a:p>
            <a:pPr algn="ctr"/>
            <a:r>
              <a:rPr lang="en-US" sz="2400" b="1" dirty="0">
                <a:latin typeface="Times New Roman" panose="02020603050405020304" pitchFamily="18" charset="0"/>
                <a:cs typeface="Times New Roman" panose="02020603050405020304" pitchFamily="18" charset="0"/>
              </a:rPr>
              <a:t>Diplomatic Initiatives</a:t>
            </a:r>
          </a:p>
        </p:txBody>
      </p:sp>
      <p:sp>
        <p:nvSpPr>
          <p:cNvPr id="3" name="Content Placeholder 2">
            <a:extLst>
              <a:ext uri="{FF2B5EF4-FFF2-40B4-BE49-F238E27FC236}">
                <a16:creationId xmlns:a16="http://schemas.microsoft.com/office/drawing/2014/main" id="{B93E064E-4EED-A3C0-235B-9CAC6C5495AB}"/>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Peace Talks with Taliban</a:t>
            </a:r>
          </a:p>
          <a:p>
            <a:r>
              <a:rPr lang="en-US" dirty="0">
                <a:latin typeface="Times New Roman" panose="02020603050405020304" pitchFamily="18" charset="0"/>
                <a:cs typeface="Times New Roman" panose="02020603050405020304" pitchFamily="18" charset="0"/>
              </a:rPr>
              <a:t>Trilateral Dialogue- Pakistan, China and Afghanistan</a:t>
            </a:r>
          </a:p>
          <a:p>
            <a:r>
              <a:rPr lang="en-US" dirty="0">
                <a:latin typeface="Times New Roman" panose="02020603050405020304" pitchFamily="18" charset="0"/>
                <a:cs typeface="Times New Roman" panose="02020603050405020304" pitchFamily="18" charset="0"/>
              </a:rPr>
              <a:t>Indian presence in Afghanistan and Pakistan’s response</a:t>
            </a:r>
          </a:p>
          <a:p>
            <a:r>
              <a:rPr lang="en-US" dirty="0">
                <a:latin typeface="Times New Roman" panose="02020603050405020304" pitchFamily="18" charset="0"/>
                <a:cs typeface="Times New Roman" panose="02020603050405020304" pitchFamily="18" charset="0"/>
              </a:rPr>
              <a:t>US exit from Afghanistan</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7139899"/>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184</TotalTime>
  <Words>1351</Words>
  <Application>Microsoft Office PowerPoint</Application>
  <PresentationFormat>Widescreen</PresentationFormat>
  <Paragraphs>79</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Gill Sans MT</vt:lpstr>
      <vt:lpstr>Times New Roman</vt:lpstr>
      <vt:lpstr>Gallery</vt:lpstr>
      <vt:lpstr>China Pakistan Economic Corridor (CPEC)</vt:lpstr>
      <vt:lpstr>Historical background of China Pakistan Economic Corridor</vt:lpstr>
      <vt:lpstr>Worth of China Pakistan Economic Corridor</vt:lpstr>
      <vt:lpstr>Problems and Prospects of China Pakistan Economic Corridor</vt:lpstr>
      <vt:lpstr>PowerPoint Presentation</vt:lpstr>
      <vt:lpstr>Impacts of China Pakistan Economic Corridor</vt:lpstr>
      <vt:lpstr>Main Theme</vt:lpstr>
      <vt:lpstr>Impacts of CPEC</vt:lpstr>
      <vt:lpstr>PowerPoint Presentation</vt:lpstr>
      <vt:lpstr>Foreign Policy with India</vt:lpstr>
      <vt:lpstr>Quaid-i-Azam’s Stance on Foreign Policy</vt:lpstr>
      <vt:lpstr>Background of Pak-India Relations</vt:lpstr>
      <vt:lpstr>Kashmir Issue: Bone of contention between India and Pakistan</vt:lpstr>
      <vt:lpstr>Kashmir Issue</vt:lpstr>
      <vt:lpstr>Kashmir Issue and the United Nations</vt:lpstr>
      <vt:lpstr>Relations with Afghanistan</vt:lpstr>
      <vt:lpstr>Diplomatic Initiatives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China Pakistan Economic Corridor (CPEC)</dc:title>
  <dc:creator>Ajmal</dc:creator>
  <cp:lastModifiedBy>Hafiz Computer CC</cp:lastModifiedBy>
  <cp:revision>13</cp:revision>
  <dcterms:created xsi:type="dcterms:W3CDTF">2020-12-24T04:26:26Z</dcterms:created>
  <dcterms:modified xsi:type="dcterms:W3CDTF">2023-11-22T03:27:32Z</dcterms:modified>
</cp:coreProperties>
</file>