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96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4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3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0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0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0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84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5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53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67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16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62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37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59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9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0D3C21A-0E28-4B92-891D-1FDC342E0F8A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57BA8F6-C573-48C9-BD95-915EEFC9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78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Foreign Policy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A64FA0-A4EF-96D1-310A-801BEA9AB4A7}"/>
              </a:ext>
            </a:extLst>
          </p:cNvPr>
          <p:cNvSpPr txBox="1"/>
          <p:nvPr/>
        </p:nvSpPr>
        <p:spPr>
          <a:xfrm>
            <a:off x="4142510" y="4793673"/>
            <a:ext cx="340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By Muhammad Ajmal Khan</a:t>
            </a:r>
          </a:p>
        </p:txBody>
      </p:sp>
    </p:spTree>
    <p:extLst>
      <p:ext uri="{BB962C8B-B14F-4D97-AF65-F5344CB8AC3E}">
        <p14:creationId xmlns:p14="http://schemas.microsoft.com/office/powerpoint/2010/main" val="710993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u="sng" dirty="0"/>
              <a:t>What is Foreign Policy?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784" y="1974668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“The strategy through which the state interact with other states and nations in terms of trade, diplomacy, dialogue, war etc.”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/>
              </a:rPr>
              <a:t>Foreign policy</a:t>
            </a:r>
            <a:r>
              <a:rPr lang="en-US" dirty="0">
                <a:effectLst/>
              </a:rPr>
              <a:t> or </a:t>
            </a:r>
            <a:r>
              <a:rPr lang="en-US" b="1" dirty="0">
                <a:effectLst/>
              </a:rPr>
              <a:t>foreign relations</a:t>
            </a:r>
            <a:r>
              <a:rPr lang="en-US" dirty="0">
                <a:effectLst/>
              </a:rPr>
              <a:t> refers to how a government deals with other countries. We also call it </a:t>
            </a:r>
            <a:r>
              <a:rPr lang="en-US" b="1" dirty="0">
                <a:effectLst/>
              </a:rPr>
              <a:t>foreign affairs policy</a:t>
            </a:r>
            <a:r>
              <a:rPr lang="en-US" dirty="0">
                <a:effectLst/>
              </a:rPr>
              <a:t>. Foreign policy includes such matters as trade and defense. The government chooses its foreign affairs policy to safeguard the interests of the nation and its citizens.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8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u="sng" dirty="0"/>
              <a:t>Objectives of Foreign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156" y="2314302"/>
            <a:ext cx="9905998" cy="3124201"/>
          </a:xfrm>
        </p:spPr>
        <p:txBody>
          <a:bodyPr/>
          <a:lstStyle/>
          <a:p>
            <a:pPr lvl="0"/>
            <a:r>
              <a:rPr lang="en-US" b="1" u="sng" dirty="0"/>
              <a:t>Sovereignty:</a:t>
            </a:r>
            <a:r>
              <a:rPr lang="en-US" b="1" dirty="0"/>
              <a:t> </a:t>
            </a:r>
            <a:r>
              <a:rPr lang="en-US" dirty="0"/>
              <a:t>Sovereignty basically means that other states cannot claim the territory of other states and cannot interfere in its internal affairs. . (Ideological boundaries, State, Geographical boundaries) </a:t>
            </a:r>
          </a:p>
          <a:p>
            <a:pPr lvl="0"/>
            <a:r>
              <a:rPr lang="en-US" b="1" u="sng" dirty="0"/>
              <a:t>National Interest:</a:t>
            </a:r>
            <a:r>
              <a:rPr lang="en-US" b="1" dirty="0"/>
              <a:t> </a:t>
            </a:r>
            <a:r>
              <a:rPr lang="en-US" i="1" dirty="0">
                <a:effectLst/>
              </a:rPr>
              <a:t>“The meaning of national interest is survival—the protection of physical, political and cultural identity against encroachments by other nation-states”—Morgenthau.</a:t>
            </a:r>
            <a:r>
              <a:rPr lang="en-US" dirty="0"/>
              <a:t> (Economy, National interest)</a:t>
            </a:r>
          </a:p>
          <a:p>
            <a:pPr lvl="0"/>
            <a:r>
              <a:rPr lang="en-US" b="1" u="sng" dirty="0">
                <a:effectLst/>
              </a:rPr>
              <a:t>Citizens</a:t>
            </a:r>
            <a:r>
              <a:rPr lang="en-US" dirty="0">
                <a:effectLst/>
              </a:rPr>
              <a:t> (Foreign policy’s main goal is the protection of its citizens. This applies to the country’s citizens while they are at home and abroad).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41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of Foreign policy of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343" y="2011680"/>
            <a:ext cx="9937068" cy="2381794"/>
          </a:xfrm>
        </p:spPr>
        <p:txBody>
          <a:bodyPr/>
          <a:lstStyle/>
          <a:p>
            <a:r>
              <a:rPr lang="en-US" dirty="0">
                <a:effectLst/>
              </a:rPr>
              <a:t>Maintenance of territorial integrity</a:t>
            </a:r>
          </a:p>
          <a:p>
            <a:r>
              <a:rPr lang="en-US" dirty="0">
                <a:effectLst/>
              </a:rPr>
              <a:t>Maintenance of its political independence</a:t>
            </a:r>
          </a:p>
          <a:p>
            <a:r>
              <a:rPr lang="en-US" dirty="0">
                <a:effectLst/>
              </a:rPr>
              <a:t>Acceleration of social and economic development</a:t>
            </a:r>
          </a:p>
          <a:p>
            <a:r>
              <a:rPr lang="en-US" dirty="0">
                <a:effectLst/>
              </a:rPr>
              <a:t>Cordial Relations with Muslim Countries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05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u="sng" dirty="0"/>
              <a:t>Principles of Foreign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844039"/>
            <a:ext cx="9905998" cy="31242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Peaceful co-existence (Don’t challenge the writ of other state)</a:t>
            </a:r>
          </a:p>
          <a:p>
            <a:pPr lvl="0"/>
            <a:r>
              <a:rPr lang="en-US" dirty="0"/>
              <a:t>Non-Alignment (Allies)</a:t>
            </a:r>
          </a:p>
          <a:p>
            <a:pPr lvl="0"/>
            <a:r>
              <a:rPr lang="en-US" dirty="0"/>
              <a:t>Bilateralism (Cordial relations on both sides)</a:t>
            </a:r>
          </a:p>
          <a:p>
            <a:pPr lvl="0"/>
            <a:r>
              <a:rPr lang="en-US" dirty="0"/>
              <a:t>UN Charter (It should not be against the charter of UN, like wars)</a:t>
            </a:r>
          </a:p>
          <a:p>
            <a:pPr lvl="0"/>
            <a:r>
              <a:rPr lang="en-US" dirty="0"/>
              <a:t>Unity of Islamic World</a:t>
            </a:r>
          </a:p>
        </p:txBody>
      </p:sp>
    </p:spTree>
    <p:extLst>
      <p:ext uri="{BB962C8B-B14F-4D97-AF65-F5344CB8AC3E}">
        <p14:creationId xmlns:p14="http://schemas.microsoft.com/office/powerpoint/2010/main" val="84808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2225" y="1739536"/>
            <a:ext cx="9905998" cy="3124201"/>
          </a:xfrm>
        </p:spPr>
        <p:txBody>
          <a:bodyPr/>
          <a:lstStyle/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Deweaponisation</a:t>
            </a:r>
          </a:p>
          <a:p>
            <a:pPr lvl="0"/>
            <a:r>
              <a:rPr lang="en-US" dirty="0"/>
              <a:t>Good relations with neighbors</a:t>
            </a:r>
          </a:p>
          <a:p>
            <a:pPr lvl="0"/>
            <a:r>
              <a:rPr lang="en-US" dirty="0"/>
              <a:t>International and regional cooperation</a:t>
            </a:r>
          </a:p>
          <a:p>
            <a:pPr lvl="0"/>
            <a:r>
              <a:rPr lang="en-US" dirty="0"/>
              <a:t>Diplomacy</a:t>
            </a:r>
          </a:p>
          <a:p>
            <a:pPr lvl="0"/>
            <a:r>
              <a:rPr lang="en-US" dirty="0"/>
              <a:t>Racial discrimination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120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u="sng" dirty="0"/>
              <a:t>Determinants of Foreign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870165"/>
            <a:ext cx="9905998" cy="3124201"/>
          </a:xfrm>
        </p:spPr>
        <p:txBody>
          <a:bodyPr/>
          <a:lstStyle/>
          <a:p>
            <a:pPr lvl="0"/>
            <a:r>
              <a:rPr lang="en-US" dirty="0"/>
              <a:t>Administration</a:t>
            </a:r>
          </a:p>
          <a:p>
            <a:pPr lvl="0"/>
            <a:r>
              <a:rPr lang="en-US" dirty="0"/>
              <a:t>Ministry of foreign policy</a:t>
            </a:r>
          </a:p>
          <a:p>
            <a:pPr lvl="0"/>
            <a:r>
              <a:rPr lang="en-US" dirty="0"/>
              <a:t>Intelligence agencies</a:t>
            </a:r>
          </a:p>
          <a:p>
            <a:pPr lvl="0"/>
            <a:r>
              <a:rPr lang="en-US" dirty="0"/>
              <a:t>Political parties and public pressure</a:t>
            </a:r>
          </a:p>
          <a:p>
            <a:pPr lvl="0"/>
            <a:r>
              <a:rPr lang="en-US" dirty="0"/>
              <a:t>Parliament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404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u="sng" dirty="0"/>
              <a:t>Foreign Policy of Pakistan with: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896290"/>
            <a:ext cx="9905998" cy="3124201"/>
          </a:xfrm>
        </p:spPr>
        <p:txBody>
          <a:bodyPr>
            <a:normAutofit/>
          </a:bodyPr>
          <a:lstStyle/>
          <a:p>
            <a:pPr lvl="0"/>
            <a:r>
              <a:rPr lang="en-US" b="1" u="sng" dirty="0"/>
              <a:t>India</a:t>
            </a:r>
            <a:r>
              <a:rPr lang="en-US" b="1" dirty="0"/>
              <a:t> (Wars, Kashmir Issue, Indus water treaty, </a:t>
            </a:r>
            <a:r>
              <a:rPr lang="en-US" b="1" dirty="0" err="1"/>
              <a:t>Aman</a:t>
            </a:r>
            <a:r>
              <a:rPr lang="en-US" b="1" dirty="0"/>
              <a:t> </a:t>
            </a:r>
            <a:r>
              <a:rPr lang="en-US" b="1" dirty="0" err="1"/>
              <a:t>ki</a:t>
            </a:r>
            <a:r>
              <a:rPr lang="en-US" b="1" dirty="0"/>
              <a:t> Asha)</a:t>
            </a:r>
          </a:p>
          <a:p>
            <a:pPr lvl="0"/>
            <a:r>
              <a:rPr lang="en-US" b="1" u="sng" dirty="0"/>
              <a:t>Afghanistan</a:t>
            </a:r>
            <a:r>
              <a:rPr lang="en-US" b="1" dirty="0"/>
              <a:t> (Durand line, trade, Soviet invasion, war on terror, Pak role in peace process)</a:t>
            </a:r>
          </a:p>
          <a:p>
            <a:pPr lvl="0"/>
            <a:r>
              <a:rPr lang="en-US" b="1" u="sng" dirty="0"/>
              <a:t>China</a:t>
            </a:r>
            <a:r>
              <a:rPr lang="en-US" b="1" dirty="0"/>
              <a:t> (sharing Long border, CPEC, time test friend)</a:t>
            </a:r>
          </a:p>
          <a:p>
            <a:pPr lvl="0"/>
            <a:r>
              <a:rPr lang="en-US" b="1" u="sng" dirty="0"/>
              <a:t>Iran</a:t>
            </a:r>
            <a:r>
              <a:rPr lang="en-US" b="1" dirty="0"/>
              <a:t> (sharing border, sectarian conflict, sanctions, trade)</a:t>
            </a:r>
          </a:p>
          <a:p>
            <a:pPr lvl="0"/>
            <a:r>
              <a:rPr lang="en-US" b="1" u="sng" dirty="0"/>
              <a:t>USA</a:t>
            </a:r>
            <a:r>
              <a:rPr lang="en-US" b="1" dirty="0"/>
              <a:t> (Yes boss policy, us-china facto)</a:t>
            </a:r>
          </a:p>
        </p:txBody>
      </p:sp>
    </p:spTree>
    <p:extLst>
      <p:ext uri="{BB962C8B-B14F-4D97-AF65-F5344CB8AC3E}">
        <p14:creationId xmlns:p14="http://schemas.microsoft.com/office/powerpoint/2010/main" val="3169085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130</TotalTime>
  <Words>362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Mesh</vt:lpstr>
      <vt:lpstr>Foreign Policy</vt:lpstr>
      <vt:lpstr>What is Foreign Policy?</vt:lpstr>
      <vt:lpstr>Objectives of Foreign Policy</vt:lpstr>
      <vt:lpstr>Objectives of Foreign policy of Pakistan</vt:lpstr>
      <vt:lpstr>Principles of Foreign Policy</vt:lpstr>
      <vt:lpstr>PowerPoint Presentation</vt:lpstr>
      <vt:lpstr>Determinants of Foreign Policy</vt:lpstr>
      <vt:lpstr>Foreign Policy of Pakistan with: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Foreign Policy</dc:title>
  <dc:creator>Ajmal</dc:creator>
  <cp:lastModifiedBy>Hafiz Computer CC</cp:lastModifiedBy>
  <cp:revision>7</cp:revision>
  <dcterms:created xsi:type="dcterms:W3CDTF">2020-12-30T11:19:07Z</dcterms:created>
  <dcterms:modified xsi:type="dcterms:W3CDTF">2022-11-14T06:20:52Z</dcterms:modified>
</cp:coreProperties>
</file>