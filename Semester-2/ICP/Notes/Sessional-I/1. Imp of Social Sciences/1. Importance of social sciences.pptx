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7" r:id="rId4"/>
    <p:sldId id="262" r:id="rId5"/>
    <p:sldId id="263" r:id="rId6"/>
    <p:sldId id="268" r:id="rId7"/>
    <p:sldId id="264" r:id="rId8"/>
    <p:sldId id="265" r:id="rId9"/>
    <p:sldId id="266" r:id="rId10"/>
    <p:sldId id="267" r:id="rId11"/>
    <p:sldId id="269" r:id="rId12"/>
    <p:sldId id="270" r:id="rId13"/>
    <p:sldId id="271" r:id="rId14"/>
    <p:sldId id="272" r:id="rId15"/>
    <p:sldId id="273" r:id="rId16"/>
    <p:sldId id="27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91" autoAdjust="0"/>
  </p:normalViewPr>
  <p:slideViewPr>
    <p:cSldViewPr snapToGrid="0">
      <p:cViewPr varScale="1">
        <p:scale>
          <a:sx n="65" d="100"/>
          <a:sy n="65" d="100"/>
        </p:scale>
        <p:origin x="858" y="60"/>
      </p:cViewPr>
      <p:guideLst/>
    </p:cSldViewPr>
  </p:slideViewPr>
  <p:outlineViewPr>
    <p:cViewPr>
      <p:scale>
        <a:sx n="33" d="100"/>
        <a:sy n="33" d="100"/>
      </p:scale>
      <p:origin x="0" y="-103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3488E1-46B5-4F09-8117-FA080BCBE1FC}" type="datetimeFigureOut">
              <a:rPr lang="en-US" smtClean="0"/>
              <a:t>1/25/2023</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D62A5EE8-C6A6-49D6-AF41-FA961EFD942D}"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6467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3488E1-46B5-4F09-8117-FA080BCBE1FC}"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A5EE8-C6A6-49D6-AF41-FA961EFD942D}"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03522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3488E1-46B5-4F09-8117-FA080BCBE1FC}"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A5EE8-C6A6-49D6-AF41-FA961EFD942D}"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55386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3488E1-46B5-4F09-8117-FA080BCBE1FC}"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2A5EE8-C6A6-49D6-AF41-FA961EFD942D}"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31979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3488E1-46B5-4F09-8117-FA080BCBE1FC}" type="datetimeFigureOut">
              <a:rPr lang="en-US" smtClean="0"/>
              <a:t>1/25/2023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2A5EE8-C6A6-49D6-AF41-FA961EFD942D}"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51672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3488E1-46B5-4F09-8117-FA080BCBE1FC}" type="datetimeFigureOut">
              <a:rPr lang="en-US" smtClean="0"/>
              <a:t>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2A5EE8-C6A6-49D6-AF41-FA961EFD942D}"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8859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3488E1-46B5-4F09-8117-FA080BCBE1FC}" type="datetimeFigureOut">
              <a:rPr lang="en-US" smtClean="0"/>
              <a:t>1/25/2023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2A5EE8-C6A6-49D6-AF41-FA961EFD942D}" type="slidenum">
              <a:rPr lang="en-US" smtClean="0"/>
              <a:t>‹#›</a:t>
            </a:fld>
            <a:endParaRPr lang="en-US"/>
          </a:p>
        </p:txBody>
      </p:sp>
    </p:spTree>
    <p:extLst>
      <p:ext uri="{BB962C8B-B14F-4D97-AF65-F5344CB8AC3E}">
        <p14:creationId xmlns:p14="http://schemas.microsoft.com/office/powerpoint/2010/main" val="1278204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3488E1-46B5-4F09-8117-FA080BCBE1FC}"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2A5EE8-C6A6-49D6-AF41-FA961EFD942D}"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97038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13488E1-46B5-4F09-8117-FA080BCBE1FC}" type="datetimeFigureOut">
              <a:rPr lang="en-US" smtClean="0"/>
              <a:t>1/25/2023</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D62A5EE8-C6A6-49D6-AF41-FA961EFD942D}"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24176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3488E1-46B5-4F09-8117-FA080BCBE1FC}"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A5EE8-C6A6-49D6-AF41-FA961EFD942D}"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4732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3488E1-46B5-4F09-8117-FA080BCBE1FC}"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A5EE8-C6A6-49D6-AF41-FA961EFD942D}"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07823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13488E1-46B5-4F09-8117-FA080BCBE1FC}" type="datetimeFigureOut">
              <a:rPr lang="en-US" smtClean="0"/>
              <a:t>1/25/2023</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62A5EE8-C6A6-49D6-AF41-FA961EFD942D}"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13073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43CFE0-4EA7-43E8-8BDB-4679BB8A9E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65250"/>
            <a:ext cx="12192000" cy="4127500"/>
          </a:xfrm>
          <a:prstGeom prst="rect">
            <a:avLst/>
          </a:prstGeom>
        </p:spPr>
      </p:pic>
    </p:spTree>
    <p:extLst>
      <p:ext uri="{BB962C8B-B14F-4D97-AF65-F5344CB8AC3E}">
        <p14:creationId xmlns:p14="http://schemas.microsoft.com/office/powerpoint/2010/main" val="2110703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0C187-EB24-4452-9DEA-A354F0E344EC}"/>
              </a:ext>
            </a:extLst>
          </p:cNvPr>
          <p:cNvSpPr>
            <a:spLocks noGrp="1"/>
          </p:cNvSpPr>
          <p:nvPr>
            <p:ph type="title"/>
          </p:nvPr>
        </p:nvSpPr>
        <p:spPr>
          <a:xfrm>
            <a:off x="1451579" y="1261720"/>
            <a:ext cx="9603275" cy="587136"/>
          </a:xfrm>
        </p:spPr>
        <p:txBody>
          <a:bodyPr>
            <a:normAutofit/>
          </a:bodyPr>
          <a:lstStyle/>
          <a:p>
            <a:pPr algn="ctr"/>
            <a:r>
              <a:rPr lang="en-US" sz="3600" b="1" dirty="0">
                <a:latin typeface="Times New Roman" panose="02020603050405020304" pitchFamily="18" charset="0"/>
              </a:rPr>
              <a:t>Purpose of Science?</a:t>
            </a:r>
            <a:endParaRPr lang="en-US" sz="3600" b="1" dirty="0"/>
          </a:p>
        </p:txBody>
      </p:sp>
      <p:sp>
        <p:nvSpPr>
          <p:cNvPr id="3" name="Content Placeholder 2">
            <a:extLst>
              <a:ext uri="{FF2B5EF4-FFF2-40B4-BE49-F238E27FC236}">
                <a16:creationId xmlns:a16="http://schemas.microsoft.com/office/drawing/2014/main" id="{17CC6CD6-6098-4A8E-A3A7-72C8431CA236}"/>
              </a:ext>
            </a:extLst>
          </p:cNvPr>
          <p:cNvSpPr>
            <a:spLocks noGrp="1"/>
          </p:cNvSpPr>
          <p:nvPr>
            <p:ph idx="1"/>
          </p:nvPr>
        </p:nvSpPr>
        <p:spPr/>
        <p:txBody>
          <a:bodyPr>
            <a:normAutofit fontScale="92500" lnSpcReduction="10000"/>
          </a:bodyPr>
          <a:lstStyle/>
          <a:p>
            <a:pPr algn="just"/>
            <a:r>
              <a:rPr lang="en-US" sz="2400" b="1" dirty="0">
                <a:latin typeface="Times New Roman" panose="02020603050405020304" pitchFamily="18" charset="0"/>
                <a:cs typeface="Times New Roman" panose="02020603050405020304" pitchFamily="18" charset="0"/>
              </a:rPr>
              <a:t>Science:</a:t>
            </a:r>
            <a:r>
              <a:rPr lang="en-US" sz="2400" dirty="0">
                <a:latin typeface="Times New Roman" panose="02020603050405020304" pitchFamily="18" charset="0"/>
                <a:cs typeface="Times New Roman" panose="02020603050405020304" pitchFamily="18" charset="0"/>
              </a:rPr>
              <a:t> The process to get information from the universe and everything that </a:t>
            </a:r>
            <a:r>
              <a:rPr lang="en-US" sz="2400" b="1" dirty="0">
                <a:latin typeface="Times New Roman" panose="02020603050405020304" pitchFamily="18" charset="0"/>
                <a:cs typeface="Times New Roman" panose="02020603050405020304" pitchFamily="18" charset="0"/>
              </a:rPr>
              <a:t>happened, happening, or going to happen</a:t>
            </a:r>
            <a:r>
              <a:rPr lang="en-US" sz="2400" dirty="0">
                <a:latin typeface="Times New Roman" panose="02020603050405020304" pitchFamily="18" charset="0"/>
                <a:cs typeface="Times New Roman" panose="02020603050405020304" pitchFamily="18" charset="0"/>
              </a:rPr>
              <a:t> around us. </a:t>
            </a:r>
          </a:p>
          <a:p>
            <a:pPr algn="just"/>
            <a:r>
              <a:rPr lang="en-US" sz="2400" dirty="0">
                <a:latin typeface="Times New Roman" panose="02020603050405020304" pitchFamily="18" charset="0"/>
                <a:cs typeface="Times New Roman" panose="02020603050405020304" pitchFamily="18" charset="0"/>
              </a:rPr>
              <a:t>Science can be studied or observed through </a:t>
            </a:r>
            <a:r>
              <a:rPr lang="en-US" sz="2400" b="1" dirty="0">
                <a:latin typeface="Times New Roman" panose="02020603050405020304" pitchFamily="18" charset="0"/>
                <a:cs typeface="Times New Roman" panose="02020603050405020304" pitchFamily="18" charset="0"/>
              </a:rPr>
              <a:t>methods, logic, rationalism, empiricism, hypothesis,</a:t>
            </a:r>
            <a:r>
              <a:rPr lang="en-US" sz="2400" dirty="0">
                <a:latin typeface="Times New Roman" panose="02020603050405020304" pitchFamily="18" charset="0"/>
                <a:cs typeface="Times New Roman" panose="02020603050405020304" pitchFamily="18" charset="0"/>
              </a:rPr>
              <a:t> etc. </a:t>
            </a:r>
          </a:p>
          <a:p>
            <a:pPr algn="just">
              <a:lnSpc>
                <a:spcPct val="107000"/>
              </a:lnSpc>
              <a:spcBef>
                <a:spcPts val="0"/>
              </a:spcBef>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 purpose of science is to figure out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how it all works. How does it evolve? How does it collapse?</a:t>
            </a:r>
          </a:p>
          <a:p>
            <a:pPr algn="just"/>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To answer the above-mentioned questions, we normally categorize things in different fields which the scientists gave different names.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200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1222-05B3-48B6-8ED3-445F9D51858D}"/>
              </a:ext>
            </a:extLst>
          </p:cNvPr>
          <p:cNvSpPr>
            <a:spLocks noGrp="1"/>
          </p:cNvSpPr>
          <p:nvPr>
            <p:ph type="title"/>
          </p:nvPr>
        </p:nvSpPr>
        <p:spPr>
          <a:xfrm>
            <a:off x="1528542" y="1261665"/>
            <a:ext cx="9472185" cy="531372"/>
          </a:xfrm>
        </p:spPr>
        <p:txBody>
          <a:bodyPr/>
          <a:lstStyle/>
          <a:p>
            <a:pPr algn="ctr"/>
            <a:r>
              <a:rPr lang="en-US" b="1" dirty="0"/>
              <a:t>Introduction to Science</a:t>
            </a:r>
          </a:p>
        </p:txBody>
      </p:sp>
      <p:sp>
        <p:nvSpPr>
          <p:cNvPr id="25" name="Freeform: Shape 24">
            <a:extLst>
              <a:ext uri="{FF2B5EF4-FFF2-40B4-BE49-F238E27FC236}">
                <a16:creationId xmlns:a16="http://schemas.microsoft.com/office/drawing/2014/main" id="{C3146154-21B5-4F10-A9AC-1ED8DA595E05}"/>
              </a:ext>
            </a:extLst>
          </p:cNvPr>
          <p:cNvSpPr/>
          <p:nvPr/>
        </p:nvSpPr>
        <p:spPr>
          <a:xfrm>
            <a:off x="5053192" y="5082538"/>
            <a:ext cx="1145898" cy="264438"/>
          </a:xfrm>
          <a:custGeom>
            <a:avLst/>
            <a:gdLst>
              <a:gd name="connsiteX0" fmla="*/ 132219 w 1145898"/>
              <a:gd name="connsiteY0" fmla="*/ 0 h 264438"/>
              <a:gd name="connsiteX1" fmla="*/ 1013679 w 1145898"/>
              <a:gd name="connsiteY1" fmla="*/ 0 h 264438"/>
              <a:gd name="connsiteX2" fmla="*/ 1145898 w 1145898"/>
              <a:gd name="connsiteY2" fmla="*/ 132219 h 264438"/>
              <a:gd name="connsiteX3" fmla="*/ 1013679 w 1145898"/>
              <a:gd name="connsiteY3" fmla="*/ 264438 h 264438"/>
              <a:gd name="connsiteX4" fmla="*/ 132219 w 1145898"/>
              <a:gd name="connsiteY4" fmla="*/ 264438 h 264438"/>
              <a:gd name="connsiteX5" fmla="*/ 0 w 1145898"/>
              <a:gd name="connsiteY5" fmla="*/ 132219 h 264438"/>
              <a:gd name="connsiteX6" fmla="*/ 132219 w 1145898"/>
              <a:gd name="connsiteY6" fmla="*/ 0 h 26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5898" h="264438">
                <a:moveTo>
                  <a:pt x="132219" y="0"/>
                </a:moveTo>
                <a:lnTo>
                  <a:pt x="1013679" y="0"/>
                </a:lnTo>
                <a:cubicBezTo>
                  <a:pt x="1088603" y="0"/>
                  <a:pt x="1145898" y="57295"/>
                  <a:pt x="1145898" y="132219"/>
                </a:cubicBezTo>
                <a:cubicBezTo>
                  <a:pt x="1145898" y="207143"/>
                  <a:pt x="1088603" y="264438"/>
                  <a:pt x="1013679" y="264438"/>
                </a:cubicBezTo>
                <a:lnTo>
                  <a:pt x="132219" y="264438"/>
                </a:lnTo>
                <a:cubicBezTo>
                  <a:pt x="57295" y="264438"/>
                  <a:pt x="0" y="207143"/>
                  <a:pt x="0" y="132219"/>
                </a:cubicBezTo>
                <a:cubicBezTo>
                  <a:pt x="0" y="57295"/>
                  <a:pt x="57295" y="0"/>
                  <a:pt x="132219" y="0"/>
                </a:cubicBezTo>
                <a:close/>
              </a:path>
            </a:pathLst>
          </a:custGeom>
          <a:solidFill>
            <a:srgbClr val="000000"/>
          </a:solidFill>
          <a:ln w="28575" cap="flat">
            <a:solidFill>
              <a:srgbClr val="FFFFFF"/>
            </a:solidFill>
            <a:prstDash val="solid"/>
            <a:miter/>
          </a:ln>
          <a:effectLst>
            <a:softEdge rad="12700"/>
          </a:effectLst>
        </p:spPr>
        <p:txBody>
          <a:bodyPr rtlCol="0" anchor="ctr"/>
          <a:lstStyle/>
          <a:p>
            <a:endParaRPr lang="en-US"/>
          </a:p>
        </p:txBody>
      </p:sp>
      <p:sp>
        <p:nvSpPr>
          <p:cNvPr id="26" name="Freeform: Shape 25">
            <a:extLst>
              <a:ext uri="{FF2B5EF4-FFF2-40B4-BE49-F238E27FC236}">
                <a16:creationId xmlns:a16="http://schemas.microsoft.com/office/drawing/2014/main" id="{32F8AB91-78BE-48EF-8CCE-B65F2FB2C736}"/>
              </a:ext>
            </a:extLst>
          </p:cNvPr>
          <p:cNvSpPr/>
          <p:nvPr/>
        </p:nvSpPr>
        <p:spPr>
          <a:xfrm>
            <a:off x="5053192" y="5523268"/>
            <a:ext cx="1145898" cy="264438"/>
          </a:xfrm>
          <a:custGeom>
            <a:avLst/>
            <a:gdLst>
              <a:gd name="connsiteX0" fmla="*/ 132219 w 1145898"/>
              <a:gd name="connsiteY0" fmla="*/ 0 h 264438"/>
              <a:gd name="connsiteX1" fmla="*/ 1013679 w 1145898"/>
              <a:gd name="connsiteY1" fmla="*/ 0 h 264438"/>
              <a:gd name="connsiteX2" fmla="*/ 1145898 w 1145898"/>
              <a:gd name="connsiteY2" fmla="*/ 132219 h 264438"/>
              <a:gd name="connsiteX3" fmla="*/ 1013679 w 1145898"/>
              <a:gd name="connsiteY3" fmla="*/ 264438 h 264438"/>
              <a:gd name="connsiteX4" fmla="*/ 132219 w 1145898"/>
              <a:gd name="connsiteY4" fmla="*/ 264438 h 264438"/>
              <a:gd name="connsiteX5" fmla="*/ 0 w 1145898"/>
              <a:gd name="connsiteY5" fmla="*/ 132219 h 264438"/>
              <a:gd name="connsiteX6" fmla="*/ 132219 w 1145898"/>
              <a:gd name="connsiteY6" fmla="*/ 0 h 26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5898" h="264438">
                <a:moveTo>
                  <a:pt x="132219" y="0"/>
                </a:moveTo>
                <a:lnTo>
                  <a:pt x="1013679" y="0"/>
                </a:lnTo>
                <a:cubicBezTo>
                  <a:pt x="1088603" y="0"/>
                  <a:pt x="1145898" y="57295"/>
                  <a:pt x="1145898" y="132219"/>
                </a:cubicBezTo>
                <a:cubicBezTo>
                  <a:pt x="1145898" y="207143"/>
                  <a:pt x="1088603" y="264438"/>
                  <a:pt x="1013679" y="264438"/>
                </a:cubicBezTo>
                <a:lnTo>
                  <a:pt x="132219" y="264438"/>
                </a:lnTo>
                <a:cubicBezTo>
                  <a:pt x="57295" y="264438"/>
                  <a:pt x="0" y="207143"/>
                  <a:pt x="0" y="132219"/>
                </a:cubicBezTo>
                <a:cubicBezTo>
                  <a:pt x="0" y="57295"/>
                  <a:pt x="57295" y="0"/>
                  <a:pt x="132219" y="0"/>
                </a:cubicBezTo>
                <a:close/>
              </a:path>
            </a:pathLst>
          </a:custGeom>
          <a:solidFill>
            <a:srgbClr val="000000"/>
          </a:solidFill>
          <a:ln w="28575" cap="flat">
            <a:solidFill>
              <a:srgbClr val="FFFFFF"/>
            </a:solidFill>
            <a:prstDash val="solid"/>
            <a:miter/>
          </a:ln>
          <a:effectLst>
            <a:softEdge rad="12700"/>
          </a:effectLst>
        </p:spPr>
        <p:txBody>
          <a:bodyPr rtlCol="0" anchor="ctr"/>
          <a:lstStyle/>
          <a:p>
            <a:endParaRPr lang="en-US"/>
          </a:p>
        </p:txBody>
      </p:sp>
      <p:sp>
        <p:nvSpPr>
          <p:cNvPr id="27" name="Freeform: Shape 26">
            <a:extLst>
              <a:ext uri="{FF2B5EF4-FFF2-40B4-BE49-F238E27FC236}">
                <a16:creationId xmlns:a16="http://schemas.microsoft.com/office/drawing/2014/main" id="{9F702884-A805-48B0-B5F7-6E4AB4DCE65D}"/>
              </a:ext>
            </a:extLst>
          </p:cNvPr>
          <p:cNvSpPr/>
          <p:nvPr/>
        </p:nvSpPr>
        <p:spPr>
          <a:xfrm>
            <a:off x="5339666" y="5963998"/>
            <a:ext cx="572949" cy="264438"/>
          </a:xfrm>
          <a:custGeom>
            <a:avLst/>
            <a:gdLst>
              <a:gd name="connsiteX0" fmla="*/ 0 w 572949"/>
              <a:gd name="connsiteY0" fmla="*/ 0 h 264438"/>
              <a:gd name="connsiteX1" fmla="*/ 286475 w 572949"/>
              <a:gd name="connsiteY1" fmla="*/ 264438 h 264438"/>
              <a:gd name="connsiteX2" fmla="*/ 572949 w 572949"/>
              <a:gd name="connsiteY2" fmla="*/ 0 h 264438"/>
              <a:gd name="connsiteX3" fmla="*/ 0 w 572949"/>
              <a:gd name="connsiteY3" fmla="*/ 0 h 264438"/>
            </a:gdLst>
            <a:ahLst/>
            <a:cxnLst>
              <a:cxn ang="0">
                <a:pos x="connsiteX0" y="connsiteY0"/>
              </a:cxn>
              <a:cxn ang="0">
                <a:pos x="connsiteX1" y="connsiteY1"/>
              </a:cxn>
              <a:cxn ang="0">
                <a:pos x="connsiteX2" y="connsiteY2"/>
              </a:cxn>
              <a:cxn ang="0">
                <a:pos x="connsiteX3" y="connsiteY3"/>
              </a:cxn>
            </a:cxnLst>
            <a:rect l="l" t="t" r="r" b="b"/>
            <a:pathLst>
              <a:path w="572949" h="264438">
                <a:moveTo>
                  <a:pt x="0" y="0"/>
                </a:moveTo>
                <a:cubicBezTo>
                  <a:pt x="13222" y="149848"/>
                  <a:pt x="136626" y="264438"/>
                  <a:pt x="286475" y="264438"/>
                </a:cubicBezTo>
                <a:cubicBezTo>
                  <a:pt x="436323" y="264438"/>
                  <a:pt x="559727" y="149848"/>
                  <a:pt x="572949" y="0"/>
                </a:cubicBezTo>
                <a:lnTo>
                  <a:pt x="0" y="0"/>
                </a:lnTo>
                <a:close/>
              </a:path>
            </a:pathLst>
          </a:custGeom>
          <a:solidFill>
            <a:srgbClr val="000000"/>
          </a:solidFill>
          <a:ln w="28575" cap="flat">
            <a:solidFill>
              <a:srgbClr val="FFFFFF"/>
            </a:solidFill>
            <a:prstDash val="solid"/>
            <a:miter/>
          </a:ln>
          <a:effectLst>
            <a:softEdge rad="12700"/>
          </a:effectLst>
        </p:spPr>
        <p:txBody>
          <a:bodyPr rtlCol="0" anchor="ctr"/>
          <a:lstStyle/>
          <a:p>
            <a:endParaRPr lang="en-US"/>
          </a:p>
        </p:txBody>
      </p:sp>
      <p:sp>
        <p:nvSpPr>
          <p:cNvPr id="28" name="Freeform: Shape 27">
            <a:extLst>
              <a:ext uri="{FF2B5EF4-FFF2-40B4-BE49-F238E27FC236}">
                <a16:creationId xmlns:a16="http://schemas.microsoft.com/office/drawing/2014/main" id="{6D65A6CA-EBC1-43BC-83D2-5380F4EC0E5F}"/>
              </a:ext>
            </a:extLst>
          </p:cNvPr>
          <p:cNvSpPr/>
          <p:nvPr/>
        </p:nvSpPr>
        <p:spPr>
          <a:xfrm>
            <a:off x="4480243" y="2526304"/>
            <a:ext cx="2291796" cy="2379942"/>
          </a:xfrm>
          <a:custGeom>
            <a:avLst/>
            <a:gdLst>
              <a:gd name="connsiteX0" fmla="*/ 1145898 w 2291796"/>
              <a:gd name="connsiteY0" fmla="*/ 0 h 2379942"/>
              <a:gd name="connsiteX1" fmla="*/ 1145898 w 2291796"/>
              <a:gd name="connsiteY1" fmla="*/ 0 h 2379942"/>
              <a:gd name="connsiteX2" fmla="*/ 1145898 w 2291796"/>
              <a:gd name="connsiteY2" fmla="*/ 0 h 2379942"/>
              <a:gd name="connsiteX3" fmla="*/ 0 w 2291796"/>
              <a:gd name="connsiteY3" fmla="*/ 1132676 h 2379942"/>
              <a:gd name="connsiteX4" fmla="*/ 0 w 2291796"/>
              <a:gd name="connsiteY4" fmla="*/ 1172342 h 2379942"/>
              <a:gd name="connsiteX5" fmla="*/ 79331 w 2291796"/>
              <a:gd name="connsiteY5" fmla="*/ 1568999 h 2379942"/>
              <a:gd name="connsiteX6" fmla="*/ 277660 w 2291796"/>
              <a:gd name="connsiteY6" fmla="*/ 1895140 h 2379942"/>
              <a:gd name="connsiteX7" fmla="*/ 546505 w 2291796"/>
              <a:gd name="connsiteY7" fmla="*/ 2331462 h 2379942"/>
              <a:gd name="connsiteX8" fmla="*/ 625837 w 2291796"/>
              <a:gd name="connsiteY8" fmla="*/ 2379943 h 2379942"/>
              <a:gd name="connsiteX9" fmla="*/ 1665960 w 2291796"/>
              <a:gd name="connsiteY9" fmla="*/ 2379943 h 2379942"/>
              <a:gd name="connsiteX10" fmla="*/ 1745291 w 2291796"/>
              <a:gd name="connsiteY10" fmla="*/ 2331462 h 2379942"/>
              <a:gd name="connsiteX11" fmla="*/ 2014137 w 2291796"/>
              <a:gd name="connsiteY11" fmla="*/ 1895140 h 2379942"/>
              <a:gd name="connsiteX12" fmla="*/ 2212465 w 2291796"/>
              <a:gd name="connsiteY12" fmla="*/ 1568999 h 2379942"/>
              <a:gd name="connsiteX13" fmla="*/ 2291797 w 2291796"/>
              <a:gd name="connsiteY13" fmla="*/ 1172342 h 2379942"/>
              <a:gd name="connsiteX14" fmla="*/ 2291797 w 2291796"/>
              <a:gd name="connsiteY14" fmla="*/ 1132676 h 2379942"/>
              <a:gd name="connsiteX15" fmla="*/ 1145898 w 2291796"/>
              <a:gd name="connsiteY15" fmla="*/ 0 h 2379942"/>
              <a:gd name="connsiteX16" fmla="*/ 2027359 w 2291796"/>
              <a:gd name="connsiteY16" fmla="*/ 1167935 h 2379942"/>
              <a:gd name="connsiteX17" fmla="*/ 1965656 w 2291796"/>
              <a:gd name="connsiteY17" fmla="*/ 1476446 h 2379942"/>
              <a:gd name="connsiteX18" fmla="*/ 1815808 w 2291796"/>
              <a:gd name="connsiteY18" fmla="*/ 1718847 h 2379942"/>
              <a:gd name="connsiteX19" fmla="*/ 1560185 w 2291796"/>
              <a:gd name="connsiteY19" fmla="*/ 2115505 h 2379942"/>
              <a:gd name="connsiteX20" fmla="*/ 1145898 w 2291796"/>
              <a:gd name="connsiteY20" fmla="*/ 2115505 h 2379942"/>
              <a:gd name="connsiteX21" fmla="*/ 736019 w 2291796"/>
              <a:gd name="connsiteY21" fmla="*/ 2115505 h 2379942"/>
              <a:gd name="connsiteX22" fmla="*/ 480396 w 2291796"/>
              <a:gd name="connsiteY22" fmla="*/ 1718847 h 2379942"/>
              <a:gd name="connsiteX23" fmla="*/ 330548 w 2291796"/>
              <a:gd name="connsiteY23" fmla="*/ 1476446 h 2379942"/>
              <a:gd name="connsiteX24" fmla="*/ 268845 w 2291796"/>
              <a:gd name="connsiteY24" fmla="*/ 1167935 h 2379942"/>
              <a:gd name="connsiteX25" fmla="*/ 268845 w 2291796"/>
              <a:gd name="connsiteY25" fmla="*/ 1132676 h 2379942"/>
              <a:gd name="connsiteX26" fmla="*/ 1150306 w 2291796"/>
              <a:gd name="connsiteY26" fmla="*/ 260031 h 2379942"/>
              <a:gd name="connsiteX27" fmla="*/ 1150306 w 2291796"/>
              <a:gd name="connsiteY27" fmla="*/ 260031 h 2379942"/>
              <a:gd name="connsiteX28" fmla="*/ 1150306 w 2291796"/>
              <a:gd name="connsiteY28" fmla="*/ 260031 h 2379942"/>
              <a:gd name="connsiteX29" fmla="*/ 1150306 w 2291796"/>
              <a:gd name="connsiteY29" fmla="*/ 260031 h 2379942"/>
              <a:gd name="connsiteX30" fmla="*/ 1150306 w 2291796"/>
              <a:gd name="connsiteY30" fmla="*/ 260031 h 2379942"/>
              <a:gd name="connsiteX31" fmla="*/ 1150306 w 2291796"/>
              <a:gd name="connsiteY31" fmla="*/ 260031 h 2379942"/>
              <a:gd name="connsiteX32" fmla="*/ 1150306 w 2291796"/>
              <a:gd name="connsiteY32" fmla="*/ 260031 h 2379942"/>
              <a:gd name="connsiteX33" fmla="*/ 2031766 w 2291796"/>
              <a:gd name="connsiteY33" fmla="*/ 1132676 h 2379942"/>
              <a:gd name="connsiteX34" fmla="*/ 2031766 w 2291796"/>
              <a:gd name="connsiteY34" fmla="*/ 1167935 h 237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91796" h="2379942">
                <a:moveTo>
                  <a:pt x="1145898" y="0"/>
                </a:moveTo>
                <a:cubicBezTo>
                  <a:pt x="1145898" y="0"/>
                  <a:pt x="1145898" y="0"/>
                  <a:pt x="1145898" y="0"/>
                </a:cubicBezTo>
                <a:cubicBezTo>
                  <a:pt x="1145898" y="0"/>
                  <a:pt x="1145898" y="0"/>
                  <a:pt x="1145898" y="0"/>
                </a:cubicBezTo>
                <a:cubicBezTo>
                  <a:pt x="520062" y="4407"/>
                  <a:pt x="13222" y="506840"/>
                  <a:pt x="0" y="1132676"/>
                </a:cubicBezTo>
                <a:lnTo>
                  <a:pt x="0" y="1172342"/>
                </a:lnTo>
                <a:cubicBezTo>
                  <a:pt x="4407" y="1308969"/>
                  <a:pt x="30851" y="1441188"/>
                  <a:pt x="79331" y="1568999"/>
                </a:cubicBezTo>
                <a:cubicBezTo>
                  <a:pt x="127812" y="1687996"/>
                  <a:pt x="193921" y="1798179"/>
                  <a:pt x="277660" y="1895140"/>
                </a:cubicBezTo>
                <a:cubicBezTo>
                  <a:pt x="383435" y="2009729"/>
                  <a:pt x="498025" y="2234502"/>
                  <a:pt x="546505" y="2331462"/>
                </a:cubicBezTo>
                <a:cubicBezTo>
                  <a:pt x="559727" y="2362313"/>
                  <a:pt x="590578" y="2379943"/>
                  <a:pt x="625837" y="2379943"/>
                </a:cubicBezTo>
                <a:lnTo>
                  <a:pt x="1665960" y="2379943"/>
                </a:lnTo>
                <a:cubicBezTo>
                  <a:pt x="1701218" y="2379943"/>
                  <a:pt x="1732069" y="2362313"/>
                  <a:pt x="1745291" y="2331462"/>
                </a:cubicBezTo>
                <a:cubicBezTo>
                  <a:pt x="1793772" y="2234502"/>
                  <a:pt x="1908362" y="2009729"/>
                  <a:pt x="2014137" y="1895140"/>
                </a:cubicBezTo>
                <a:cubicBezTo>
                  <a:pt x="2097875" y="1798179"/>
                  <a:pt x="2168392" y="1687996"/>
                  <a:pt x="2212465" y="1568999"/>
                </a:cubicBezTo>
                <a:cubicBezTo>
                  <a:pt x="2260946" y="1441188"/>
                  <a:pt x="2287389" y="1308969"/>
                  <a:pt x="2291797" y="1172342"/>
                </a:cubicBezTo>
                <a:lnTo>
                  <a:pt x="2291797" y="1132676"/>
                </a:lnTo>
                <a:cubicBezTo>
                  <a:pt x="2278575" y="506840"/>
                  <a:pt x="1771735" y="4407"/>
                  <a:pt x="1145898" y="0"/>
                </a:cubicBezTo>
                <a:close/>
                <a:moveTo>
                  <a:pt x="2027359" y="1167935"/>
                </a:moveTo>
                <a:cubicBezTo>
                  <a:pt x="2022951" y="1273710"/>
                  <a:pt x="2000915" y="1379485"/>
                  <a:pt x="1965656" y="1476446"/>
                </a:cubicBezTo>
                <a:cubicBezTo>
                  <a:pt x="1930398" y="1564592"/>
                  <a:pt x="1881917" y="1648331"/>
                  <a:pt x="1815808" y="1718847"/>
                </a:cubicBezTo>
                <a:cubicBezTo>
                  <a:pt x="1714440" y="1842252"/>
                  <a:pt x="1626294" y="1974471"/>
                  <a:pt x="1560185" y="2115505"/>
                </a:cubicBezTo>
                <a:lnTo>
                  <a:pt x="1145898" y="2115505"/>
                </a:lnTo>
                <a:lnTo>
                  <a:pt x="736019" y="2115505"/>
                </a:lnTo>
                <a:cubicBezTo>
                  <a:pt x="665502" y="1974471"/>
                  <a:pt x="577356" y="1842252"/>
                  <a:pt x="480396" y="1718847"/>
                </a:cubicBezTo>
                <a:cubicBezTo>
                  <a:pt x="418694" y="1648331"/>
                  <a:pt x="365806" y="1564592"/>
                  <a:pt x="330548" y="1476446"/>
                </a:cubicBezTo>
                <a:cubicBezTo>
                  <a:pt x="290882" y="1379485"/>
                  <a:pt x="273253" y="1273710"/>
                  <a:pt x="268845" y="1167935"/>
                </a:cubicBezTo>
                <a:lnTo>
                  <a:pt x="268845" y="1132676"/>
                </a:lnTo>
                <a:cubicBezTo>
                  <a:pt x="277660" y="652281"/>
                  <a:pt x="669910" y="264438"/>
                  <a:pt x="1150306" y="260031"/>
                </a:cubicBezTo>
                <a:lnTo>
                  <a:pt x="1150306" y="260031"/>
                </a:lnTo>
                <a:lnTo>
                  <a:pt x="1150306" y="260031"/>
                </a:lnTo>
                <a:cubicBezTo>
                  <a:pt x="1150306" y="260031"/>
                  <a:pt x="1150306" y="260031"/>
                  <a:pt x="1150306" y="260031"/>
                </a:cubicBezTo>
                <a:cubicBezTo>
                  <a:pt x="1150306" y="260031"/>
                  <a:pt x="1150306" y="260031"/>
                  <a:pt x="1150306" y="260031"/>
                </a:cubicBezTo>
                <a:lnTo>
                  <a:pt x="1150306" y="260031"/>
                </a:lnTo>
                <a:lnTo>
                  <a:pt x="1150306" y="260031"/>
                </a:lnTo>
                <a:cubicBezTo>
                  <a:pt x="1630701" y="264438"/>
                  <a:pt x="2022951" y="647873"/>
                  <a:pt x="2031766" y="1132676"/>
                </a:cubicBezTo>
                <a:lnTo>
                  <a:pt x="2031766" y="1167935"/>
                </a:lnTo>
                <a:close/>
              </a:path>
            </a:pathLst>
          </a:custGeom>
          <a:solidFill>
            <a:srgbClr val="000000"/>
          </a:solidFill>
          <a:ln w="28575" cap="flat">
            <a:solidFill>
              <a:srgbClr val="FFFFFF"/>
            </a:solidFill>
            <a:prstDash val="solid"/>
            <a:miter/>
          </a:ln>
          <a:effectLst>
            <a:softEdge rad="12700"/>
          </a:effectLst>
        </p:spPr>
        <p:txBody>
          <a:bodyPr rtlCol="0" anchor="ctr"/>
          <a:lstStyle/>
          <a:p>
            <a:endParaRPr lang="en-US"/>
          </a:p>
        </p:txBody>
      </p:sp>
      <p:sp>
        <p:nvSpPr>
          <p:cNvPr id="6" name="TextBox 5">
            <a:extLst>
              <a:ext uri="{FF2B5EF4-FFF2-40B4-BE49-F238E27FC236}">
                <a16:creationId xmlns:a16="http://schemas.microsoft.com/office/drawing/2014/main" id="{D178EB78-050E-43BF-BDE5-B8FEF5AB9C49}"/>
              </a:ext>
            </a:extLst>
          </p:cNvPr>
          <p:cNvSpPr txBox="1"/>
          <p:nvPr/>
        </p:nvSpPr>
        <p:spPr>
          <a:xfrm>
            <a:off x="4822968" y="3358937"/>
            <a:ext cx="1687226" cy="584775"/>
          </a:xfrm>
          <a:prstGeom prst="rect">
            <a:avLst/>
          </a:prstGeom>
          <a:noFill/>
        </p:spPr>
        <p:txBody>
          <a:bodyPr wrap="square" rtlCol="0">
            <a:spAutoFit/>
          </a:bodyPr>
          <a:lstStyle/>
          <a:p>
            <a:r>
              <a:rPr lang="en-US" sz="3200" b="1" dirty="0">
                <a:solidFill>
                  <a:srgbClr val="C00000"/>
                </a:solidFill>
              </a:rPr>
              <a:t>Science</a:t>
            </a:r>
          </a:p>
        </p:txBody>
      </p:sp>
      <p:pic>
        <p:nvPicPr>
          <p:cNvPr id="8" name="Graphic 7" descr="Line arrow Counter clockwise curve">
            <a:extLst>
              <a:ext uri="{FF2B5EF4-FFF2-40B4-BE49-F238E27FC236}">
                <a16:creationId xmlns:a16="http://schemas.microsoft.com/office/drawing/2014/main" id="{AFF182D2-4162-4C52-A976-5EE4222465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8474489">
            <a:off x="3201772" y="2053849"/>
            <a:ext cx="1419306" cy="1419306"/>
          </a:xfrm>
          <a:prstGeom prst="rect">
            <a:avLst/>
          </a:prstGeom>
        </p:spPr>
      </p:pic>
      <p:pic>
        <p:nvPicPr>
          <p:cNvPr id="10" name="Graphic 9" descr="Line arrow Clockwise curve">
            <a:extLst>
              <a:ext uri="{FF2B5EF4-FFF2-40B4-BE49-F238E27FC236}">
                <a16:creationId xmlns:a16="http://schemas.microsoft.com/office/drawing/2014/main" id="{4452833C-A268-41A6-A585-C6D84244178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108870">
            <a:off x="6562430" y="2014810"/>
            <a:ext cx="1289750" cy="1289750"/>
          </a:xfrm>
          <a:prstGeom prst="rect">
            <a:avLst/>
          </a:prstGeom>
        </p:spPr>
      </p:pic>
      <p:pic>
        <p:nvPicPr>
          <p:cNvPr id="13" name="Graphic 12" descr="Line arrow Counter clockwise curve">
            <a:extLst>
              <a:ext uri="{FF2B5EF4-FFF2-40B4-BE49-F238E27FC236}">
                <a16:creationId xmlns:a16="http://schemas.microsoft.com/office/drawing/2014/main" id="{B214FF75-3702-403E-BEE8-F99AB4BE8F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3294305" y="4083328"/>
            <a:ext cx="1419306" cy="1419306"/>
          </a:xfrm>
          <a:prstGeom prst="rect">
            <a:avLst/>
          </a:prstGeom>
        </p:spPr>
      </p:pic>
      <p:pic>
        <p:nvPicPr>
          <p:cNvPr id="14" name="Graphic 13" descr="Line arrow Clockwise curve">
            <a:extLst>
              <a:ext uri="{FF2B5EF4-FFF2-40B4-BE49-F238E27FC236}">
                <a16:creationId xmlns:a16="http://schemas.microsoft.com/office/drawing/2014/main" id="{A7ED5D57-734A-4FCD-BB9C-9560C0AFCDB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6865805">
            <a:off x="6700341" y="3931134"/>
            <a:ext cx="1289750" cy="1289750"/>
          </a:xfrm>
          <a:prstGeom prst="rect">
            <a:avLst/>
          </a:prstGeom>
        </p:spPr>
      </p:pic>
      <p:sp>
        <p:nvSpPr>
          <p:cNvPr id="15" name="Teardrop 14">
            <a:extLst>
              <a:ext uri="{FF2B5EF4-FFF2-40B4-BE49-F238E27FC236}">
                <a16:creationId xmlns:a16="http://schemas.microsoft.com/office/drawing/2014/main" id="{43E1833C-5CCD-45F1-9358-FB14256E5974}"/>
              </a:ext>
            </a:extLst>
          </p:cNvPr>
          <p:cNvSpPr/>
          <p:nvPr/>
        </p:nvSpPr>
        <p:spPr>
          <a:xfrm>
            <a:off x="1633914" y="5152507"/>
            <a:ext cx="1536673" cy="165107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ardrop 15">
            <a:extLst>
              <a:ext uri="{FF2B5EF4-FFF2-40B4-BE49-F238E27FC236}">
                <a16:creationId xmlns:a16="http://schemas.microsoft.com/office/drawing/2014/main" id="{AEB90A6F-6A85-4B89-94F9-C3C100B91076}"/>
              </a:ext>
            </a:extLst>
          </p:cNvPr>
          <p:cNvSpPr/>
          <p:nvPr/>
        </p:nvSpPr>
        <p:spPr>
          <a:xfrm rot="1618382">
            <a:off x="1245718" y="2307657"/>
            <a:ext cx="1495190" cy="170039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ardrop 16">
            <a:extLst>
              <a:ext uri="{FF2B5EF4-FFF2-40B4-BE49-F238E27FC236}">
                <a16:creationId xmlns:a16="http://schemas.microsoft.com/office/drawing/2014/main" id="{69A038E8-158A-4212-BD8A-41467152EBFF}"/>
              </a:ext>
            </a:extLst>
          </p:cNvPr>
          <p:cNvSpPr/>
          <p:nvPr/>
        </p:nvSpPr>
        <p:spPr>
          <a:xfrm rot="15615734">
            <a:off x="8438621" y="2243216"/>
            <a:ext cx="1644161" cy="1829273"/>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ardrop 17">
            <a:extLst>
              <a:ext uri="{FF2B5EF4-FFF2-40B4-BE49-F238E27FC236}">
                <a16:creationId xmlns:a16="http://schemas.microsoft.com/office/drawing/2014/main" id="{E1AEB526-87A1-4B4D-BF62-9E229E529DF0}"/>
              </a:ext>
            </a:extLst>
          </p:cNvPr>
          <p:cNvSpPr/>
          <p:nvPr/>
        </p:nvSpPr>
        <p:spPr>
          <a:xfrm rot="15286890">
            <a:off x="8654146" y="4441038"/>
            <a:ext cx="1765975" cy="1991880"/>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9726A61-C59A-410F-B701-C92940DD93E6}"/>
              </a:ext>
            </a:extLst>
          </p:cNvPr>
          <p:cNvSpPr txBox="1"/>
          <p:nvPr/>
        </p:nvSpPr>
        <p:spPr>
          <a:xfrm rot="20530161">
            <a:off x="1357616" y="2576430"/>
            <a:ext cx="1351798" cy="830997"/>
          </a:xfrm>
          <a:prstGeom prst="rect">
            <a:avLst/>
          </a:prstGeom>
          <a:noFill/>
        </p:spPr>
        <p:txBody>
          <a:bodyPr wrap="square" rtlCol="0">
            <a:spAutoFit/>
          </a:bodyPr>
          <a:lstStyle/>
          <a:p>
            <a:pPr algn="ctr"/>
            <a:r>
              <a:rPr lang="en-US" sz="2400" dirty="0"/>
              <a:t>Natural Sciences</a:t>
            </a:r>
          </a:p>
        </p:txBody>
      </p:sp>
      <p:sp>
        <p:nvSpPr>
          <p:cNvPr id="20" name="TextBox 19">
            <a:extLst>
              <a:ext uri="{FF2B5EF4-FFF2-40B4-BE49-F238E27FC236}">
                <a16:creationId xmlns:a16="http://schemas.microsoft.com/office/drawing/2014/main" id="{A1166805-2277-4CDA-96EB-F0511B0F6163}"/>
              </a:ext>
            </a:extLst>
          </p:cNvPr>
          <p:cNvSpPr txBox="1"/>
          <p:nvPr/>
        </p:nvSpPr>
        <p:spPr>
          <a:xfrm rot="913192">
            <a:off x="8280446" y="2614274"/>
            <a:ext cx="1918241" cy="830997"/>
          </a:xfrm>
          <a:prstGeom prst="rect">
            <a:avLst/>
          </a:prstGeom>
          <a:noFill/>
        </p:spPr>
        <p:txBody>
          <a:bodyPr wrap="square" rtlCol="0">
            <a:spAutoFit/>
          </a:bodyPr>
          <a:lstStyle/>
          <a:p>
            <a:pPr algn="ctr"/>
            <a:r>
              <a:rPr lang="en-US" sz="2400" dirty="0"/>
              <a:t>Management Sciences</a:t>
            </a:r>
          </a:p>
        </p:txBody>
      </p:sp>
      <p:sp>
        <p:nvSpPr>
          <p:cNvPr id="21" name="TextBox 20">
            <a:extLst>
              <a:ext uri="{FF2B5EF4-FFF2-40B4-BE49-F238E27FC236}">
                <a16:creationId xmlns:a16="http://schemas.microsoft.com/office/drawing/2014/main" id="{0EDACF2F-AE42-45E8-AF97-8A25607E8445}"/>
              </a:ext>
            </a:extLst>
          </p:cNvPr>
          <p:cNvSpPr txBox="1"/>
          <p:nvPr/>
        </p:nvSpPr>
        <p:spPr>
          <a:xfrm rot="20103859">
            <a:off x="1633914" y="5502634"/>
            <a:ext cx="1497621" cy="830997"/>
          </a:xfrm>
          <a:prstGeom prst="rect">
            <a:avLst/>
          </a:prstGeom>
          <a:noFill/>
        </p:spPr>
        <p:txBody>
          <a:bodyPr wrap="square" rtlCol="0">
            <a:spAutoFit/>
          </a:bodyPr>
          <a:lstStyle/>
          <a:p>
            <a:pPr algn="ctr"/>
            <a:r>
              <a:rPr lang="en-US" sz="2400" dirty="0"/>
              <a:t>Computer Sciences</a:t>
            </a:r>
          </a:p>
        </p:txBody>
      </p:sp>
      <p:sp>
        <p:nvSpPr>
          <p:cNvPr id="22" name="TextBox 21">
            <a:extLst>
              <a:ext uri="{FF2B5EF4-FFF2-40B4-BE49-F238E27FC236}">
                <a16:creationId xmlns:a16="http://schemas.microsoft.com/office/drawing/2014/main" id="{66920D22-7FD3-4B82-9F0D-A9124FAE93BA}"/>
              </a:ext>
            </a:extLst>
          </p:cNvPr>
          <p:cNvSpPr txBox="1"/>
          <p:nvPr/>
        </p:nvSpPr>
        <p:spPr>
          <a:xfrm rot="736400">
            <a:off x="8794196" y="4910982"/>
            <a:ext cx="1485877" cy="830997"/>
          </a:xfrm>
          <a:prstGeom prst="rect">
            <a:avLst/>
          </a:prstGeom>
          <a:noFill/>
        </p:spPr>
        <p:txBody>
          <a:bodyPr wrap="square" rtlCol="0">
            <a:spAutoFit/>
          </a:bodyPr>
          <a:lstStyle/>
          <a:p>
            <a:pPr algn="ctr"/>
            <a:r>
              <a:rPr lang="en-US" sz="2400" dirty="0"/>
              <a:t>Social Sciences</a:t>
            </a:r>
          </a:p>
        </p:txBody>
      </p:sp>
    </p:spTree>
    <p:extLst>
      <p:ext uri="{BB962C8B-B14F-4D97-AF65-F5344CB8AC3E}">
        <p14:creationId xmlns:p14="http://schemas.microsoft.com/office/powerpoint/2010/main" val="814656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arn(inVertical)">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barn(inVertical)">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down)">
                                      <p:cBhvr>
                                        <p:cTn id="38" dur="5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down)">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barn(inVertical)">
                                      <p:cBhvr>
                                        <p:cTn id="48" dur="5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down)">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down)">
                                      <p:cBhvr>
                                        <p:cTn id="5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p:bldP spid="20" grpId="0"/>
      <p:bldP spid="2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BC66B-1712-4B28-B874-76C8897710C2}"/>
              </a:ext>
            </a:extLst>
          </p:cNvPr>
          <p:cNvSpPr>
            <a:spLocks noGrp="1"/>
          </p:cNvSpPr>
          <p:nvPr>
            <p:ph type="title"/>
          </p:nvPr>
        </p:nvSpPr>
        <p:spPr>
          <a:xfrm>
            <a:off x="1414762" y="1248333"/>
            <a:ext cx="9603275" cy="625410"/>
          </a:xfrm>
        </p:spPr>
        <p:txBody>
          <a:bodyPr/>
          <a:lstStyle/>
          <a:p>
            <a:pPr algn="ctr"/>
            <a:r>
              <a:rPr lang="en-US" b="1" dirty="0"/>
              <a:t>Categorization of Science</a:t>
            </a:r>
          </a:p>
        </p:txBody>
      </p:sp>
      <p:pic>
        <p:nvPicPr>
          <p:cNvPr id="5" name="Content Placeholder 4" descr="Clipboard">
            <a:extLst>
              <a:ext uri="{FF2B5EF4-FFF2-40B4-BE49-F238E27FC236}">
                <a16:creationId xmlns:a16="http://schemas.microsoft.com/office/drawing/2014/main" id="{3D8BEDE7-4A82-4D3A-9E42-B08694C783FF}"/>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70878" y="2072338"/>
            <a:ext cx="2296816" cy="1569923"/>
          </a:xfrm>
        </p:spPr>
      </p:pic>
      <p:sp>
        <p:nvSpPr>
          <p:cNvPr id="10" name="TextBox 9">
            <a:extLst>
              <a:ext uri="{FF2B5EF4-FFF2-40B4-BE49-F238E27FC236}">
                <a16:creationId xmlns:a16="http://schemas.microsoft.com/office/drawing/2014/main" id="{B3123D2B-2CCA-41BC-8DB2-13A7BC8CCC6A}"/>
              </a:ext>
            </a:extLst>
          </p:cNvPr>
          <p:cNvSpPr txBox="1"/>
          <p:nvPr/>
        </p:nvSpPr>
        <p:spPr>
          <a:xfrm>
            <a:off x="1460801" y="2671864"/>
            <a:ext cx="1122218" cy="646331"/>
          </a:xfrm>
          <a:prstGeom prst="rect">
            <a:avLst/>
          </a:prstGeom>
          <a:noFill/>
        </p:spPr>
        <p:txBody>
          <a:bodyPr wrap="square" rtlCol="0">
            <a:spAutoFit/>
          </a:bodyPr>
          <a:lstStyle/>
          <a:p>
            <a:r>
              <a:rPr lang="en-US" dirty="0"/>
              <a:t>Natural Sciences</a:t>
            </a:r>
          </a:p>
        </p:txBody>
      </p:sp>
      <p:pic>
        <p:nvPicPr>
          <p:cNvPr id="12" name="Content Placeholder 4" descr="Clipboard">
            <a:extLst>
              <a:ext uri="{FF2B5EF4-FFF2-40B4-BE49-F238E27FC236}">
                <a16:creationId xmlns:a16="http://schemas.microsoft.com/office/drawing/2014/main" id="{41D487EF-1D22-4ABA-96C0-710DB156AB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12832" y="2061178"/>
            <a:ext cx="2482921" cy="1569923"/>
          </a:xfrm>
          <a:prstGeom prst="rect">
            <a:avLst/>
          </a:prstGeom>
        </p:spPr>
      </p:pic>
      <p:sp>
        <p:nvSpPr>
          <p:cNvPr id="15" name="TextBox 14">
            <a:extLst>
              <a:ext uri="{FF2B5EF4-FFF2-40B4-BE49-F238E27FC236}">
                <a16:creationId xmlns:a16="http://schemas.microsoft.com/office/drawing/2014/main" id="{813DBEF9-5350-44EB-97DC-B85FA266D5FC}"/>
              </a:ext>
            </a:extLst>
          </p:cNvPr>
          <p:cNvSpPr txBox="1"/>
          <p:nvPr/>
        </p:nvSpPr>
        <p:spPr>
          <a:xfrm>
            <a:off x="4103646" y="2671863"/>
            <a:ext cx="1454727" cy="646331"/>
          </a:xfrm>
          <a:prstGeom prst="rect">
            <a:avLst/>
          </a:prstGeom>
          <a:noFill/>
        </p:spPr>
        <p:txBody>
          <a:bodyPr wrap="square" rtlCol="0">
            <a:spAutoFit/>
          </a:bodyPr>
          <a:lstStyle/>
          <a:p>
            <a:r>
              <a:rPr lang="en-US" dirty="0"/>
              <a:t>Management Sciences</a:t>
            </a:r>
          </a:p>
        </p:txBody>
      </p:sp>
      <p:sp>
        <p:nvSpPr>
          <p:cNvPr id="16" name="TextBox 15">
            <a:extLst>
              <a:ext uri="{FF2B5EF4-FFF2-40B4-BE49-F238E27FC236}">
                <a16:creationId xmlns:a16="http://schemas.microsoft.com/office/drawing/2014/main" id="{D5FBABB1-AF50-49EA-926B-F06F49E85476}"/>
              </a:ext>
            </a:extLst>
          </p:cNvPr>
          <p:cNvSpPr txBox="1"/>
          <p:nvPr/>
        </p:nvSpPr>
        <p:spPr>
          <a:xfrm>
            <a:off x="6822946" y="2585239"/>
            <a:ext cx="1237351" cy="646331"/>
          </a:xfrm>
          <a:prstGeom prst="rect">
            <a:avLst/>
          </a:prstGeom>
          <a:noFill/>
        </p:spPr>
        <p:txBody>
          <a:bodyPr wrap="square" rtlCol="0">
            <a:spAutoFit/>
          </a:bodyPr>
          <a:lstStyle/>
          <a:p>
            <a:r>
              <a:rPr lang="en-US" dirty="0"/>
              <a:t>Computer Sciences</a:t>
            </a:r>
          </a:p>
        </p:txBody>
      </p:sp>
      <p:sp>
        <p:nvSpPr>
          <p:cNvPr id="17" name="TextBox 16">
            <a:extLst>
              <a:ext uri="{FF2B5EF4-FFF2-40B4-BE49-F238E27FC236}">
                <a16:creationId xmlns:a16="http://schemas.microsoft.com/office/drawing/2014/main" id="{C909BC82-9BB0-4E96-8E50-EA08157575F4}"/>
              </a:ext>
            </a:extLst>
          </p:cNvPr>
          <p:cNvSpPr txBox="1"/>
          <p:nvPr/>
        </p:nvSpPr>
        <p:spPr>
          <a:xfrm>
            <a:off x="9656618" y="2671863"/>
            <a:ext cx="1177637" cy="646331"/>
          </a:xfrm>
          <a:prstGeom prst="rect">
            <a:avLst/>
          </a:prstGeom>
          <a:noFill/>
        </p:spPr>
        <p:txBody>
          <a:bodyPr wrap="square" rtlCol="0">
            <a:spAutoFit/>
          </a:bodyPr>
          <a:lstStyle/>
          <a:p>
            <a:r>
              <a:rPr lang="en-US" dirty="0"/>
              <a:t>Social Sciences</a:t>
            </a:r>
          </a:p>
        </p:txBody>
      </p:sp>
      <p:pic>
        <p:nvPicPr>
          <p:cNvPr id="20" name="Content Placeholder 4" descr="Clipboard">
            <a:extLst>
              <a:ext uri="{FF2B5EF4-FFF2-40B4-BE49-F238E27FC236}">
                <a16:creationId xmlns:a16="http://schemas.microsoft.com/office/drawing/2014/main" id="{7A61F642-8B7B-4E4C-B48E-1AD24E98A75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4018" y="2061178"/>
            <a:ext cx="2482921" cy="1569923"/>
          </a:xfrm>
          <a:prstGeom prst="rect">
            <a:avLst/>
          </a:prstGeom>
        </p:spPr>
      </p:pic>
      <p:pic>
        <p:nvPicPr>
          <p:cNvPr id="21" name="Content Placeholder 4" descr="Clipboard">
            <a:extLst>
              <a:ext uri="{FF2B5EF4-FFF2-40B4-BE49-F238E27FC236}">
                <a16:creationId xmlns:a16="http://schemas.microsoft.com/office/drawing/2014/main" id="{18928F54-C40E-4BAB-A43F-C3544DFBB7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54285" y="2061178"/>
            <a:ext cx="2482921" cy="1569923"/>
          </a:xfrm>
          <a:prstGeom prst="rect">
            <a:avLst/>
          </a:prstGeom>
        </p:spPr>
      </p:pic>
      <p:pic>
        <p:nvPicPr>
          <p:cNvPr id="35" name="Graphic 34" descr="Arrow Straight">
            <a:extLst>
              <a:ext uri="{FF2B5EF4-FFF2-40B4-BE49-F238E27FC236}">
                <a16:creationId xmlns:a16="http://schemas.microsoft.com/office/drawing/2014/main" id="{4DCBC4F0-7CAC-45A0-B5F6-BE14402F7C7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498277" y="3471679"/>
            <a:ext cx="914400" cy="914400"/>
          </a:xfrm>
          <a:prstGeom prst="rect">
            <a:avLst/>
          </a:prstGeom>
        </p:spPr>
      </p:pic>
      <p:sp>
        <p:nvSpPr>
          <p:cNvPr id="36" name="TextBox 35">
            <a:extLst>
              <a:ext uri="{FF2B5EF4-FFF2-40B4-BE49-F238E27FC236}">
                <a16:creationId xmlns:a16="http://schemas.microsoft.com/office/drawing/2014/main" id="{B7E8A592-04D2-4796-A788-D4BF655356C7}"/>
              </a:ext>
            </a:extLst>
          </p:cNvPr>
          <p:cNvSpPr txBox="1"/>
          <p:nvPr/>
        </p:nvSpPr>
        <p:spPr>
          <a:xfrm>
            <a:off x="1231832" y="4511864"/>
            <a:ext cx="1460801" cy="1477328"/>
          </a:xfrm>
          <a:prstGeom prst="rect">
            <a:avLst/>
          </a:prstGeom>
          <a:noFill/>
        </p:spPr>
        <p:txBody>
          <a:bodyPr wrap="square" rtlCol="0">
            <a:spAutoFit/>
          </a:bodyPr>
          <a:lstStyle/>
          <a:p>
            <a:pPr algn="ctr"/>
            <a:r>
              <a:rPr lang="en-US" b="1" dirty="0"/>
              <a:t>Zoology</a:t>
            </a:r>
          </a:p>
          <a:p>
            <a:pPr algn="ctr"/>
            <a:r>
              <a:rPr lang="en-US" b="1" dirty="0"/>
              <a:t>Botany</a:t>
            </a:r>
          </a:p>
          <a:p>
            <a:pPr algn="ctr"/>
            <a:r>
              <a:rPr lang="en-US" b="1" dirty="0"/>
              <a:t>Physics</a:t>
            </a:r>
          </a:p>
          <a:p>
            <a:pPr algn="ctr"/>
            <a:r>
              <a:rPr lang="en-US" b="1" dirty="0"/>
              <a:t>Chemistry</a:t>
            </a:r>
          </a:p>
          <a:p>
            <a:pPr algn="ctr"/>
            <a:r>
              <a:rPr lang="en-US" b="1" dirty="0"/>
              <a:t>Geology</a:t>
            </a:r>
          </a:p>
        </p:txBody>
      </p:sp>
      <p:pic>
        <p:nvPicPr>
          <p:cNvPr id="37" name="Graphic 36" descr="Arrow Straight">
            <a:extLst>
              <a:ext uri="{FF2B5EF4-FFF2-40B4-BE49-F238E27FC236}">
                <a16:creationId xmlns:a16="http://schemas.microsoft.com/office/drawing/2014/main" id="{5D341E89-4EAA-4E6C-BD5D-E6B1737C83B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4306894" y="3471679"/>
            <a:ext cx="914400" cy="914400"/>
          </a:xfrm>
          <a:prstGeom prst="rect">
            <a:avLst/>
          </a:prstGeom>
        </p:spPr>
      </p:pic>
      <p:pic>
        <p:nvPicPr>
          <p:cNvPr id="38" name="Graphic 37" descr="Arrow Straight">
            <a:extLst>
              <a:ext uri="{FF2B5EF4-FFF2-40B4-BE49-F238E27FC236}">
                <a16:creationId xmlns:a16="http://schemas.microsoft.com/office/drawing/2014/main" id="{8902BE23-766A-45A2-81A4-FCEA80DAF84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6996842" y="3430166"/>
            <a:ext cx="914400" cy="914400"/>
          </a:xfrm>
          <a:prstGeom prst="rect">
            <a:avLst/>
          </a:prstGeom>
        </p:spPr>
      </p:pic>
      <p:pic>
        <p:nvPicPr>
          <p:cNvPr id="39" name="Graphic 38" descr="Arrow Straight">
            <a:extLst>
              <a:ext uri="{FF2B5EF4-FFF2-40B4-BE49-F238E27FC236}">
                <a16:creationId xmlns:a16="http://schemas.microsoft.com/office/drawing/2014/main" id="{05804DA5-A926-4E19-802D-529BDCC23E6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9655139" y="3502768"/>
            <a:ext cx="914400" cy="914400"/>
          </a:xfrm>
          <a:prstGeom prst="rect">
            <a:avLst/>
          </a:prstGeom>
        </p:spPr>
      </p:pic>
      <p:sp>
        <p:nvSpPr>
          <p:cNvPr id="40" name="TextBox 39">
            <a:extLst>
              <a:ext uri="{FF2B5EF4-FFF2-40B4-BE49-F238E27FC236}">
                <a16:creationId xmlns:a16="http://schemas.microsoft.com/office/drawing/2014/main" id="{F8639CC9-BA22-40AF-815F-D8CE62A177C2}"/>
              </a:ext>
            </a:extLst>
          </p:cNvPr>
          <p:cNvSpPr txBox="1"/>
          <p:nvPr/>
        </p:nvSpPr>
        <p:spPr>
          <a:xfrm>
            <a:off x="3712394" y="4436797"/>
            <a:ext cx="2001824" cy="1477328"/>
          </a:xfrm>
          <a:prstGeom prst="rect">
            <a:avLst/>
          </a:prstGeom>
          <a:noFill/>
        </p:spPr>
        <p:txBody>
          <a:bodyPr wrap="square" rtlCol="0">
            <a:spAutoFit/>
          </a:bodyPr>
          <a:lstStyle/>
          <a:p>
            <a:pPr algn="ctr"/>
            <a:r>
              <a:rPr lang="en-US" b="1" dirty="0"/>
              <a:t>Administration</a:t>
            </a:r>
          </a:p>
          <a:p>
            <a:pPr algn="ctr"/>
            <a:r>
              <a:rPr lang="en-US" b="1" dirty="0"/>
              <a:t>Accounting</a:t>
            </a:r>
          </a:p>
          <a:p>
            <a:pPr algn="ctr"/>
            <a:r>
              <a:rPr lang="en-US" b="1" dirty="0"/>
              <a:t>Marketing</a:t>
            </a:r>
          </a:p>
          <a:p>
            <a:pPr algn="ctr"/>
            <a:r>
              <a:rPr lang="en-US" b="1" dirty="0"/>
              <a:t>Business</a:t>
            </a:r>
          </a:p>
          <a:p>
            <a:pPr algn="ctr"/>
            <a:r>
              <a:rPr lang="en-US" b="1" dirty="0"/>
              <a:t>Finance</a:t>
            </a:r>
          </a:p>
        </p:txBody>
      </p:sp>
      <p:sp>
        <p:nvSpPr>
          <p:cNvPr id="41" name="TextBox 40">
            <a:extLst>
              <a:ext uri="{FF2B5EF4-FFF2-40B4-BE49-F238E27FC236}">
                <a16:creationId xmlns:a16="http://schemas.microsoft.com/office/drawing/2014/main" id="{7EBC676C-A817-4DAE-84A9-083DAED7B237}"/>
              </a:ext>
            </a:extLst>
          </p:cNvPr>
          <p:cNvSpPr txBox="1"/>
          <p:nvPr/>
        </p:nvSpPr>
        <p:spPr>
          <a:xfrm>
            <a:off x="6578133" y="4461174"/>
            <a:ext cx="1751817" cy="1200329"/>
          </a:xfrm>
          <a:prstGeom prst="rect">
            <a:avLst/>
          </a:prstGeom>
          <a:noFill/>
        </p:spPr>
        <p:txBody>
          <a:bodyPr wrap="square" rtlCol="0">
            <a:spAutoFit/>
          </a:bodyPr>
          <a:lstStyle/>
          <a:p>
            <a:pPr algn="ctr"/>
            <a:r>
              <a:rPr lang="en-US" b="1" dirty="0"/>
              <a:t>Data Science</a:t>
            </a:r>
          </a:p>
          <a:p>
            <a:pPr algn="ctr"/>
            <a:r>
              <a:rPr lang="en-US" b="1" dirty="0"/>
              <a:t>Software Engineering</a:t>
            </a:r>
          </a:p>
          <a:p>
            <a:pPr algn="ctr"/>
            <a:r>
              <a:rPr lang="en-US" b="1" dirty="0"/>
              <a:t>Cyber Security</a:t>
            </a:r>
          </a:p>
        </p:txBody>
      </p:sp>
      <p:sp>
        <p:nvSpPr>
          <p:cNvPr id="42" name="TextBox 41">
            <a:extLst>
              <a:ext uri="{FF2B5EF4-FFF2-40B4-BE49-F238E27FC236}">
                <a16:creationId xmlns:a16="http://schemas.microsoft.com/office/drawing/2014/main" id="{9CE7A932-5A70-4105-BC84-57498E42739B}"/>
              </a:ext>
            </a:extLst>
          </p:cNvPr>
          <p:cNvSpPr txBox="1"/>
          <p:nvPr/>
        </p:nvSpPr>
        <p:spPr>
          <a:xfrm>
            <a:off x="9349710" y="4386079"/>
            <a:ext cx="1668327" cy="2031325"/>
          </a:xfrm>
          <a:prstGeom prst="rect">
            <a:avLst/>
          </a:prstGeom>
          <a:noFill/>
        </p:spPr>
        <p:txBody>
          <a:bodyPr wrap="square" rtlCol="0">
            <a:spAutoFit/>
          </a:bodyPr>
          <a:lstStyle/>
          <a:p>
            <a:pPr algn="ctr"/>
            <a:r>
              <a:rPr lang="en-US" b="1" dirty="0"/>
              <a:t>Anthropology</a:t>
            </a:r>
          </a:p>
          <a:p>
            <a:pPr algn="ctr"/>
            <a:r>
              <a:rPr lang="en-US" b="1" dirty="0"/>
              <a:t>Sociology</a:t>
            </a:r>
          </a:p>
          <a:p>
            <a:pPr algn="ctr"/>
            <a:r>
              <a:rPr lang="en-US" b="1" dirty="0"/>
              <a:t>Economics</a:t>
            </a:r>
          </a:p>
          <a:p>
            <a:pPr algn="ctr"/>
            <a:r>
              <a:rPr lang="en-US" b="1" dirty="0"/>
              <a:t>Political Science</a:t>
            </a:r>
          </a:p>
          <a:p>
            <a:pPr algn="ctr"/>
            <a:r>
              <a:rPr lang="en-US" b="1" dirty="0"/>
              <a:t>History</a:t>
            </a:r>
          </a:p>
          <a:p>
            <a:pPr algn="ctr"/>
            <a:r>
              <a:rPr lang="en-US" b="1" dirty="0"/>
              <a:t>Psychology</a:t>
            </a:r>
          </a:p>
        </p:txBody>
      </p:sp>
    </p:spTree>
    <p:extLst>
      <p:ext uri="{BB962C8B-B14F-4D97-AF65-F5344CB8AC3E}">
        <p14:creationId xmlns:p14="http://schemas.microsoft.com/office/powerpoint/2010/main" val="2392612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down)">
                                      <p:cBhvr>
                                        <p:cTn id="37" dur="5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anim calcmode="lin" valueType="num">
                                      <p:cBhvr additive="base">
                                        <p:cTn id="42" dur="500" fill="hold"/>
                                        <p:tgtEl>
                                          <p:spTgt spid="36"/>
                                        </p:tgtEl>
                                        <p:attrNameLst>
                                          <p:attrName>ppt_x</p:attrName>
                                        </p:attrNameLst>
                                      </p:cBhvr>
                                      <p:tavLst>
                                        <p:tav tm="0">
                                          <p:val>
                                            <p:strVal val="#ppt_x"/>
                                          </p:val>
                                        </p:tav>
                                        <p:tav tm="100000">
                                          <p:val>
                                            <p:strVal val="#ppt_x"/>
                                          </p:val>
                                        </p:tav>
                                      </p:tavLst>
                                    </p:anim>
                                    <p:anim calcmode="lin" valueType="num">
                                      <p:cBhvr additive="base">
                                        <p:cTn id="43"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down)">
                                      <p:cBhvr>
                                        <p:cTn id="48" dur="500"/>
                                        <p:tgtEl>
                                          <p:spTgt spid="37"/>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anim calcmode="lin" valueType="num">
                                      <p:cBhvr additive="base">
                                        <p:cTn id="53" dur="500" fill="hold"/>
                                        <p:tgtEl>
                                          <p:spTgt spid="40"/>
                                        </p:tgtEl>
                                        <p:attrNameLst>
                                          <p:attrName>ppt_x</p:attrName>
                                        </p:attrNameLst>
                                      </p:cBhvr>
                                      <p:tavLst>
                                        <p:tav tm="0">
                                          <p:val>
                                            <p:strVal val="#ppt_x"/>
                                          </p:val>
                                        </p:tav>
                                        <p:tav tm="100000">
                                          <p:val>
                                            <p:strVal val="#ppt_x"/>
                                          </p:val>
                                        </p:tav>
                                      </p:tavLst>
                                    </p:anim>
                                    <p:anim calcmode="lin" valueType="num">
                                      <p:cBhvr additive="base">
                                        <p:cTn id="5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wipe(down)">
                                      <p:cBhvr>
                                        <p:cTn id="59" dur="500"/>
                                        <p:tgtEl>
                                          <p:spTgt spid="38"/>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41"/>
                                        </p:tgtEl>
                                        <p:attrNameLst>
                                          <p:attrName>style.visibility</p:attrName>
                                        </p:attrNameLst>
                                      </p:cBhvr>
                                      <p:to>
                                        <p:strVal val="visible"/>
                                      </p:to>
                                    </p:set>
                                    <p:anim calcmode="lin" valueType="num">
                                      <p:cBhvr additive="base">
                                        <p:cTn id="64" dur="500" fill="hold"/>
                                        <p:tgtEl>
                                          <p:spTgt spid="41"/>
                                        </p:tgtEl>
                                        <p:attrNameLst>
                                          <p:attrName>ppt_x</p:attrName>
                                        </p:attrNameLst>
                                      </p:cBhvr>
                                      <p:tavLst>
                                        <p:tav tm="0">
                                          <p:val>
                                            <p:strVal val="#ppt_x"/>
                                          </p:val>
                                        </p:tav>
                                        <p:tav tm="100000">
                                          <p:val>
                                            <p:strVal val="#ppt_x"/>
                                          </p:val>
                                        </p:tav>
                                      </p:tavLst>
                                    </p:anim>
                                    <p:anim calcmode="lin" valueType="num">
                                      <p:cBhvr additive="base">
                                        <p:cTn id="65"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39"/>
                                        </p:tgtEl>
                                        <p:attrNameLst>
                                          <p:attrName>style.visibility</p:attrName>
                                        </p:attrNameLst>
                                      </p:cBhvr>
                                      <p:to>
                                        <p:strVal val="visible"/>
                                      </p:to>
                                    </p:set>
                                    <p:animEffect transition="in" filter="wipe(down)">
                                      <p:cBhvr>
                                        <p:cTn id="70" dur="500"/>
                                        <p:tgtEl>
                                          <p:spTgt spid="39"/>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42"/>
                                        </p:tgtEl>
                                        <p:attrNameLst>
                                          <p:attrName>style.visibility</p:attrName>
                                        </p:attrNameLst>
                                      </p:cBhvr>
                                      <p:to>
                                        <p:strVal val="visible"/>
                                      </p:to>
                                    </p:set>
                                    <p:anim calcmode="lin" valueType="num">
                                      <p:cBhvr additive="base">
                                        <p:cTn id="75" dur="500" fill="hold"/>
                                        <p:tgtEl>
                                          <p:spTgt spid="42"/>
                                        </p:tgtEl>
                                        <p:attrNameLst>
                                          <p:attrName>ppt_x</p:attrName>
                                        </p:attrNameLst>
                                      </p:cBhvr>
                                      <p:tavLst>
                                        <p:tav tm="0">
                                          <p:val>
                                            <p:strVal val="#ppt_x"/>
                                          </p:val>
                                        </p:tav>
                                        <p:tav tm="100000">
                                          <p:val>
                                            <p:strVal val="#ppt_x"/>
                                          </p:val>
                                        </p:tav>
                                      </p:tavLst>
                                    </p:anim>
                                    <p:anim calcmode="lin" valueType="num">
                                      <p:cBhvr additive="base">
                                        <p:cTn id="76"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36" grpId="0"/>
      <p:bldP spid="40" grpId="0"/>
      <p:bldP spid="41" grpId="0"/>
      <p:bldP spid="4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09E95-58A0-4D2B-86B7-DEF6D9C7911D}"/>
              </a:ext>
            </a:extLst>
          </p:cNvPr>
          <p:cNvSpPr>
            <a:spLocks noGrp="1"/>
          </p:cNvSpPr>
          <p:nvPr>
            <p:ph type="title"/>
          </p:nvPr>
        </p:nvSpPr>
        <p:spPr>
          <a:xfrm>
            <a:off x="1451579" y="1275574"/>
            <a:ext cx="9603275" cy="587136"/>
          </a:xfrm>
        </p:spPr>
        <p:txBody>
          <a:bodyPr/>
          <a:lstStyle/>
          <a:p>
            <a:pPr algn="ctr"/>
            <a:r>
              <a:rPr lang="en-US" b="1" dirty="0">
                <a:latin typeface="Times New Roman" panose="02020603050405020304" pitchFamily="18" charset="0"/>
                <a:cs typeface="Times New Roman" panose="02020603050405020304" pitchFamily="18" charset="0"/>
              </a:rPr>
              <a:t>Importance of Social Sciences</a:t>
            </a:r>
          </a:p>
        </p:txBody>
      </p:sp>
      <p:sp>
        <p:nvSpPr>
          <p:cNvPr id="3" name="Content Placeholder 2">
            <a:extLst>
              <a:ext uri="{FF2B5EF4-FFF2-40B4-BE49-F238E27FC236}">
                <a16:creationId xmlns:a16="http://schemas.microsoft.com/office/drawing/2014/main" id="{256FFAE1-F32E-40F9-B426-7E2E917E3A84}"/>
              </a:ext>
            </a:extLst>
          </p:cNvPr>
          <p:cNvSpPr>
            <a:spLocks noGrp="1"/>
          </p:cNvSpPr>
          <p:nvPr>
            <p:ph idx="1"/>
          </p:nvPr>
        </p:nvSpPr>
        <p:spPr/>
        <p:txBody>
          <a:bodyPr>
            <a:noAutofit/>
          </a:bodyPr>
          <a:lstStyle/>
          <a:p>
            <a:pPr algn="just"/>
            <a:r>
              <a:rPr lang="en-US">
                <a:latin typeface="Times New Roman" panose="02020603050405020304" pitchFamily="18" charset="0"/>
                <a:cs typeface="Times New Roman" panose="02020603050405020304" pitchFamily="18" charset="0"/>
              </a:rPr>
              <a:t>Unlike </a:t>
            </a:r>
            <a:r>
              <a:rPr lang="en-US" dirty="0">
                <a:latin typeface="Times New Roman" panose="02020603050405020304" pitchFamily="18" charset="0"/>
                <a:cs typeface="Times New Roman" panose="02020603050405020304" pitchFamily="18" charset="0"/>
              </a:rPr>
              <a:t>other sciences, Social science has a </a:t>
            </a:r>
            <a:r>
              <a:rPr lang="en-US" b="1" dirty="0">
                <a:latin typeface="Times New Roman" panose="02020603050405020304" pitchFamily="18" charset="0"/>
                <a:cs typeface="Times New Roman" panose="02020603050405020304" pitchFamily="18" charset="0"/>
              </a:rPr>
              <a:t>broader aspect</a:t>
            </a:r>
            <a:r>
              <a:rPr lang="en-US" dirty="0">
                <a:latin typeface="Times New Roman" panose="02020603050405020304" pitchFamily="18" charset="0"/>
                <a:cs typeface="Times New Roman" panose="02020603050405020304" pitchFamily="18" charset="0"/>
              </a:rPr>
              <a:t> to perceive the activities around. Other sciences are too </a:t>
            </a:r>
            <a:r>
              <a:rPr lang="en-US" b="1" dirty="0">
                <a:latin typeface="Times New Roman" panose="02020603050405020304" pitchFamily="18" charset="0"/>
                <a:cs typeface="Times New Roman" panose="02020603050405020304" pitchFamily="18" charset="0"/>
              </a:rPr>
              <a:t>specific in nature</a:t>
            </a:r>
            <a:r>
              <a:rPr lang="en-US" dirty="0">
                <a:latin typeface="Times New Roman" panose="02020603050405020304" pitchFamily="18" charset="0"/>
                <a:cs typeface="Times New Roman" panose="02020603050405020304" pitchFamily="18" charset="0"/>
              </a:rPr>
              <a:t> but social sciences are </a:t>
            </a:r>
            <a:r>
              <a:rPr lang="en-US" b="1" dirty="0">
                <a:latin typeface="Times New Roman" panose="02020603050405020304" pitchFamily="18" charset="0"/>
                <a:cs typeface="Times New Roman" panose="02020603050405020304" pitchFamily="18" charset="0"/>
              </a:rPr>
              <a:t>broader and general</a:t>
            </a:r>
            <a:r>
              <a:rPr lang="en-US" dirty="0">
                <a:latin typeface="Times New Roman" panose="02020603050405020304" pitchFamily="18" charset="0"/>
                <a:cs typeface="Times New Roman" panose="02020603050405020304" pitchFamily="18" charset="0"/>
              </a:rPr>
              <a:t> in nature. </a:t>
            </a:r>
          </a:p>
          <a:p>
            <a:pPr algn="just"/>
            <a:r>
              <a:rPr lang="en-US" dirty="0">
                <a:effectLst/>
                <a:latin typeface="Times New Roman" panose="02020603050405020304" pitchFamily="18" charset="0"/>
                <a:ea typeface="Calibri" panose="020F0502020204030204" pitchFamily="34" charset="0"/>
                <a:cs typeface="Times New Roman" panose="02020603050405020304" pitchFamily="18" charset="0"/>
              </a:rPr>
              <a:t>Social Sciences (Society is the lab for social scientists) World War 1, conferences, League of nations</a:t>
            </a:r>
          </a:p>
          <a:p>
            <a:pPr marL="0" marR="0" algn="just">
              <a:lnSpc>
                <a:spcPct val="107000"/>
              </a:lnSpc>
              <a:spcBef>
                <a:spcPts val="0"/>
              </a:spcBef>
              <a:spcAft>
                <a:spcPts val="80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study of Human behavior is called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Anthropology</a:t>
            </a:r>
          </a:p>
          <a:p>
            <a:pPr marL="0" marR="0" algn="just">
              <a:lnSpc>
                <a:spcPct val="107000"/>
              </a:lnSpc>
              <a:spcBef>
                <a:spcPts val="0"/>
              </a:spcBef>
              <a:spcAft>
                <a:spcPts val="80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study of the Past is called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History</a:t>
            </a:r>
          </a:p>
          <a:p>
            <a:pPr marL="0" marR="0" algn="just">
              <a:lnSpc>
                <a:spcPct val="107000"/>
              </a:lnSpc>
              <a:spcBef>
                <a:spcPts val="0"/>
              </a:spcBef>
              <a:spcAft>
                <a:spcPts val="80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study of region is called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Geography</a:t>
            </a:r>
          </a:p>
          <a:p>
            <a:pPr marL="0" marR="0" algn="just">
              <a:lnSpc>
                <a:spcPct val="107000"/>
              </a:lnSpc>
              <a:spcBef>
                <a:spcPts val="0"/>
              </a:spcBef>
              <a:spcAft>
                <a:spcPts val="80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study of society is called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Sociology</a:t>
            </a:r>
            <a:endParaRPr lang="en-US" b="1"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7948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0D4AA-7AA7-4A7C-87F3-BCEE32CE7707}"/>
              </a:ext>
            </a:extLst>
          </p:cNvPr>
          <p:cNvSpPr>
            <a:spLocks noGrp="1"/>
          </p:cNvSpPr>
          <p:nvPr>
            <p:ph type="title"/>
          </p:nvPr>
        </p:nvSpPr>
        <p:spPr>
          <a:xfrm>
            <a:off x="1451578" y="1261719"/>
            <a:ext cx="9603275" cy="587136"/>
          </a:xfrm>
        </p:spPr>
        <p:txBody>
          <a:bodyPr/>
          <a:lstStyle/>
          <a:p>
            <a:pPr algn="ctr"/>
            <a:r>
              <a:rPr lang="en-US" b="1" dirty="0">
                <a:latin typeface="Times New Roman" panose="02020603050405020304" pitchFamily="18" charset="0"/>
                <a:cs typeface="Times New Roman" panose="02020603050405020304" pitchFamily="18" charset="0"/>
              </a:rPr>
              <a:t>Social Sciences is all about…</a:t>
            </a:r>
          </a:p>
        </p:txBody>
      </p:sp>
      <p:sp>
        <p:nvSpPr>
          <p:cNvPr id="3" name="Content Placeholder 2">
            <a:extLst>
              <a:ext uri="{FF2B5EF4-FFF2-40B4-BE49-F238E27FC236}">
                <a16:creationId xmlns:a16="http://schemas.microsoft.com/office/drawing/2014/main" id="{55EF90D1-F7C8-4D32-AA5C-EF7CDFF30D42}"/>
              </a:ext>
            </a:extLst>
          </p:cNvPr>
          <p:cNvSpPr>
            <a:spLocks noGrp="1"/>
          </p:cNvSpPr>
          <p:nvPr>
            <p:ph idx="1"/>
          </p:nvPr>
        </p:nvSpPr>
        <p:spPr>
          <a:xfrm>
            <a:off x="1451578" y="1848855"/>
            <a:ext cx="9603275" cy="3450613"/>
          </a:xfrm>
        </p:spPr>
        <p:txBody>
          <a:bodyPr>
            <a:noAutofit/>
          </a:bodyPr>
          <a:lstStyle/>
          <a:p>
            <a:pPr algn="just">
              <a:lnSpc>
                <a:spcPct val="100000"/>
              </a:lnSpc>
            </a:pPr>
            <a:r>
              <a:rPr lang="en-US" b="1" dirty="0">
                <a:latin typeface="Times New Roman" panose="02020603050405020304" pitchFamily="18" charset="0"/>
                <a:cs typeface="Times New Roman" panose="02020603050405020304" pitchFamily="18" charset="0"/>
              </a:rPr>
              <a:t>Various Ages-</a:t>
            </a:r>
            <a:r>
              <a:rPr lang="en-US" dirty="0">
                <a:latin typeface="Times New Roman" panose="02020603050405020304" pitchFamily="18" charset="0"/>
                <a:cs typeface="Times New Roman" panose="02020603050405020304" pitchFamily="18" charset="0"/>
              </a:rPr>
              <a:t> Ancient civilizations</a:t>
            </a:r>
          </a:p>
          <a:p>
            <a:pPr algn="just">
              <a:lnSpc>
                <a:spcPct val="100000"/>
              </a:lnSpc>
            </a:pPr>
            <a:r>
              <a:rPr lang="en-US" b="1" dirty="0">
                <a:latin typeface="Times New Roman" panose="02020603050405020304" pitchFamily="18" charset="0"/>
                <a:cs typeface="Times New Roman" panose="02020603050405020304" pitchFamily="18" charset="0"/>
              </a:rPr>
              <a:t>Continents</a:t>
            </a:r>
            <a:r>
              <a:rPr lang="en-US" dirty="0">
                <a:latin typeface="Times New Roman" panose="02020603050405020304" pitchFamily="18" charset="0"/>
                <a:cs typeface="Times New Roman" panose="02020603050405020304" pitchFamily="18" charset="0"/>
              </a:rPr>
              <a:t>- Europe, Asia, Africa</a:t>
            </a:r>
          </a:p>
          <a:p>
            <a:pPr algn="just">
              <a:lnSpc>
                <a:spcPct val="100000"/>
              </a:lnSpc>
            </a:pPr>
            <a:r>
              <a:rPr lang="en-US" b="1" dirty="0">
                <a:latin typeface="Times New Roman" panose="02020603050405020304" pitchFamily="18" charset="0"/>
                <a:cs typeface="Times New Roman" panose="02020603050405020304" pitchFamily="18" charset="0"/>
              </a:rPr>
              <a:t>Regions</a:t>
            </a:r>
            <a:r>
              <a:rPr lang="en-US" dirty="0">
                <a:latin typeface="Times New Roman" panose="02020603050405020304" pitchFamily="18" charset="0"/>
                <a:cs typeface="Times New Roman" panose="02020603050405020304" pitchFamily="18" charset="0"/>
              </a:rPr>
              <a:t>- South Asia, Indo-Pak</a:t>
            </a:r>
          </a:p>
          <a:p>
            <a:pPr algn="just">
              <a:lnSpc>
                <a:spcPct val="100000"/>
              </a:lnSpc>
            </a:pPr>
            <a:r>
              <a:rPr lang="en-US" b="1" dirty="0">
                <a:latin typeface="Times New Roman" panose="02020603050405020304" pitchFamily="18" charset="0"/>
                <a:cs typeface="Times New Roman" panose="02020603050405020304" pitchFamily="18" charset="0"/>
              </a:rPr>
              <a:t>Countries</a:t>
            </a:r>
            <a:r>
              <a:rPr lang="en-US" dirty="0">
                <a:latin typeface="Times New Roman" panose="02020603050405020304" pitchFamily="18" charset="0"/>
                <a:cs typeface="Times New Roman" panose="02020603050405020304" pitchFamily="18" charset="0"/>
              </a:rPr>
              <a:t>- Pakistan, Afghanistan, India</a:t>
            </a:r>
          </a:p>
          <a:p>
            <a:pPr algn="just">
              <a:lnSpc>
                <a:spcPct val="100000"/>
              </a:lnSpc>
            </a:pPr>
            <a:r>
              <a:rPr lang="en-US" b="1" dirty="0">
                <a:latin typeface="Times New Roman" panose="02020603050405020304" pitchFamily="18" charset="0"/>
                <a:cs typeface="Times New Roman" panose="02020603050405020304" pitchFamily="18" charset="0"/>
              </a:rPr>
              <a:t>Movements</a:t>
            </a:r>
            <a:r>
              <a:rPr lang="en-US" dirty="0">
                <a:latin typeface="Times New Roman" panose="02020603050405020304" pitchFamily="18" charset="0"/>
                <a:cs typeface="Times New Roman" panose="02020603050405020304" pitchFamily="18" charset="0"/>
              </a:rPr>
              <a:t>- Khilafat Movement, Pakistan Movement</a:t>
            </a:r>
            <a:endParaRPr lang="en-US" b="1" dirty="0">
              <a:latin typeface="Times New Roman" panose="02020603050405020304" pitchFamily="18" charset="0"/>
              <a:cs typeface="Times New Roman" panose="02020603050405020304" pitchFamily="18" charset="0"/>
            </a:endParaRPr>
          </a:p>
          <a:p>
            <a:pPr algn="just">
              <a:lnSpc>
                <a:spcPct val="100000"/>
              </a:lnSpc>
            </a:pPr>
            <a:r>
              <a:rPr lang="en-US" b="1" dirty="0">
                <a:latin typeface="Times New Roman" panose="02020603050405020304" pitchFamily="18" charset="0"/>
                <a:cs typeface="Times New Roman" panose="02020603050405020304" pitchFamily="18" charset="0"/>
              </a:rPr>
              <a:t>Personalities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Hazrat</a:t>
            </a:r>
            <a:r>
              <a:rPr lang="en-US" dirty="0">
                <a:latin typeface="Times New Roman" panose="02020603050405020304" pitchFamily="18" charset="0"/>
                <a:cs typeface="Times New Roman" panose="02020603050405020304" pitchFamily="18" charset="0"/>
              </a:rPr>
              <a:t> Muhammad PBUH, Quaid-</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-Azam, Martin Luther</a:t>
            </a:r>
          </a:p>
          <a:p>
            <a:pPr algn="just">
              <a:lnSpc>
                <a:spcPct val="100000"/>
              </a:lnSpc>
            </a:pPr>
            <a:r>
              <a:rPr lang="en-US" b="1" dirty="0">
                <a:latin typeface="Times New Roman" panose="02020603050405020304" pitchFamily="18" charset="0"/>
                <a:cs typeface="Times New Roman" panose="02020603050405020304" pitchFamily="18" charset="0"/>
              </a:rPr>
              <a:t>Institutions</a:t>
            </a:r>
            <a:r>
              <a:rPr lang="en-US" dirty="0">
                <a:latin typeface="Times New Roman" panose="02020603050405020304" pitchFamily="18" charset="0"/>
                <a:cs typeface="Times New Roman" panose="02020603050405020304" pitchFamily="18" charset="0"/>
              </a:rPr>
              <a:t>- Feudalism, Capitalism</a:t>
            </a:r>
          </a:p>
          <a:p>
            <a:pPr algn="just">
              <a:lnSpc>
                <a:spcPct val="100000"/>
              </a:lnSpc>
            </a:pPr>
            <a:r>
              <a:rPr lang="en-US" b="1" dirty="0">
                <a:latin typeface="Times New Roman" panose="02020603050405020304" pitchFamily="18" charset="0"/>
                <a:cs typeface="Times New Roman" panose="02020603050405020304" pitchFamily="18" charset="0"/>
              </a:rPr>
              <a:t>Themes and Issues</a:t>
            </a:r>
            <a:r>
              <a:rPr lang="en-US" dirty="0">
                <a:latin typeface="Times New Roman" panose="02020603050405020304" pitchFamily="18" charset="0"/>
                <a:cs typeface="Times New Roman" panose="02020603050405020304" pitchFamily="18" charset="0"/>
              </a:rPr>
              <a:t>- Ethnic diversity, Religious diversity</a:t>
            </a:r>
          </a:p>
          <a:p>
            <a:pPr algn="just">
              <a:lnSpc>
                <a:spcPct val="100000"/>
              </a:lnSpc>
            </a:pPr>
            <a:r>
              <a:rPr lang="en-US" b="1" dirty="0">
                <a:latin typeface="Times New Roman" panose="02020603050405020304" pitchFamily="18" charset="0"/>
                <a:cs typeface="Times New Roman" panose="02020603050405020304" pitchFamily="18" charset="0"/>
              </a:rPr>
              <a:t>Revolutions</a:t>
            </a:r>
            <a:r>
              <a:rPr lang="en-US" dirty="0">
                <a:latin typeface="Times New Roman" panose="02020603050405020304" pitchFamily="18" charset="0"/>
                <a:cs typeface="Times New Roman" panose="02020603050405020304" pitchFamily="18" charset="0"/>
              </a:rPr>
              <a:t>- French Revolution, Iranian Revolution, and Industrial Revolutions</a:t>
            </a:r>
          </a:p>
          <a:p>
            <a:pPr algn="just">
              <a:lnSpc>
                <a:spcPct val="100000"/>
              </a:lnSpc>
            </a:pPr>
            <a:r>
              <a:rPr lang="en-US" b="1" dirty="0">
                <a:latin typeface="Times New Roman" panose="02020603050405020304" pitchFamily="18" charset="0"/>
                <a:cs typeface="Times New Roman" panose="02020603050405020304" pitchFamily="18" charset="0"/>
              </a:rPr>
              <a:t>Wars</a:t>
            </a:r>
            <a:r>
              <a:rPr lang="en-US" dirty="0">
                <a:latin typeface="Times New Roman" panose="02020603050405020304" pitchFamily="18" charset="0"/>
                <a:cs typeface="Times New Roman" panose="02020603050405020304" pitchFamily="18" charset="0"/>
              </a:rPr>
              <a:t>- World war I&amp;II, Indo-Pak Wars</a:t>
            </a:r>
          </a:p>
          <a:p>
            <a:pPr algn="just">
              <a:lnSpc>
                <a:spcPct val="10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8004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B0B4E-1C69-4708-B92E-BB6510C0D78E}"/>
              </a:ext>
            </a:extLst>
          </p:cNvPr>
          <p:cNvSpPr>
            <a:spLocks noGrp="1"/>
          </p:cNvSpPr>
          <p:nvPr>
            <p:ph type="title"/>
          </p:nvPr>
        </p:nvSpPr>
        <p:spPr>
          <a:xfrm>
            <a:off x="1451579" y="1220156"/>
            <a:ext cx="9603275" cy="587136"/>
          </a:xfrm>
        </p:spPr>
        <p:txBody>
          <a:bodyPr>
            <a:normAutofit/>
          </a:bodyPr>
          <a:lstStyle/>
          <a:p>
            <a:pPr algn="ctr"/>
            <a:r>
              <a:rPr lang="en-US" sz="2800" b="1" dirty="0">
                <a:latin typeface="Times New Roman" panose="02020603050405020304" pitchFamily="18" charset="0"/>
                <a:cs typeface="Times New Roman" panose="02020603050405020304" pitchFamily="18" charset="0"/>
              </a:rPr>
              <a:t>The Purpose of Social Sciences </a:t>
            </a:r>
          </a:p>
        </p:txBody>
      </p:sp>
      <p:sp>
        <p:nvSpPr>
          <p:cNvPr id="3" name="Content Placeholder 2">
            <a:extLst>
              <a:ext uri="{FF2B5EF4-FFF2-40B4-BE49-F238E27FC236}">
                <a16:creationId xmlns:a16="http://schemas.microsoft.com/office/drawing/2014/main" id="{06A8265B-9613-48DE-A719-F741EB1D146A}"/>
              </a:ext>
            </a:extLst>
          </p:cNvPr>
          <p:cNvSpPr>
            <a:spLocks noGrp="1"/>
          </p:cNvSpPr>
          <p:nvPr>
            <p:ph idx="1"/>
          </p:nvPr>
        </p:nvSpPr>
        <p:spPr/>
        <p:txBody>
          <a:bodyPr>
            <a:noAutofit/>
          </a:bodyPr>
          <a:lstStyle/>
          <a:p>
            <a:pPr marL="342900" marR="0" lvl="0" indent="-342900" algn="just">
              <a:lnSpc>
                <a:spcPct val="107000"/>
              </a:lnSpc>
              <a:spcBef>
                <a:spcPts val="0"/>
              </a:spcBef>
              <a:spcAft>
                <a:spcPts val="0"/>
              </a:spcAft>
              <a:buFont typeface="Symbol" panose="05050102010706020507" pitchFamily="18"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According to Professor Cary Cooper</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b="1" dirty="0">
                <a:latin typeface="Times New Roman" panose="02020603050405020304" pitchFamily="18" charset="0"/>
                <a:ea typeface="Calibri" panose="020F0502020204030204" pitchFamily="34" charset="0"/>
                <a:cs typeface="Times New Roman" panose="02020603050405020304" pitchFamily="18" charset="0"/>
              </a:rPr>
              <a:t>“</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We have all great Science in the world. We have the greatest climate change, medical research on Cancer like a disease but we do not have social ethics/Human behavior to respond to the crises”</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p>
          <a:p>
            <a:pPr marL="342900" marR="0" lvl="0" indent="-342900" algn="just">
              <a:lnSpc>
                <a:spcPct val="107000"/>
              </a:lnSpc>
              <a:spcBef>
                <a:spcPts val="0"/>
              </a:spcBef>
              <a:spcAft>
                <a:spcPts val="0"/>
              </a:spcAft>
              <a:buFont typeface="Symbol" panose="05050102010706020507" pitchFamily="18" charset="2"/>
              <a:buChar char=""/>
            </a:pPr>
            <a:r>
              <a:rPr lang="en-US" dirty="0">
                <a:latin typeface="Times New Roman" panose="02020603050405020304" pitchFamily="18" charset="0"/>
                <a:ea typeface="Calibri" panose="020F0502020204030204" pitchFamily="34" charset="0"/>
                <a:cs typeface="Times New Roman" panose="02020603050405020304" pitchFamily="18" charset="0"/>
              </a:rPr>
              <a:t>S</a:t>
            </a:r>
            <a:r>
              <a:rPr lang="en-US" dirty="0">
                <a:effectLst/>
                <a:latin typeface="Times New Roman" panose="02020603050405020304" pitchFamily="18" charset="0"/>
                <a:ea typeface="Calibri" panose="020F0502020204030204" pitchFamily="34" charset="0"/>
                <a:cs typeface="Times New Roman" panose="02020603050405020304" pitchFamily="18" charset="0"/>
              </a:rPr>
              <a:t>ocial Science is about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behavior changing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whether that is Psychology, Sociology, Political Science, Philosophy, Economics, and so on.</a:t>
            </a:r>
          </a:p>
          <a:p>
            <a:pPr marL="342900" marR="0" lvl="0" indent="-342900" algn="just">
              <a:lnSpc>
                <a:spcPct val="107000"/>
              </a:lnSpc>
              <a:spcBef>
                <a:spcPts val="0"/>
              </a:spcBef>
              <a:spcAft>
                <a:spcPts val="0"/>
              </a:spcAft>
              <a:buFont typeface="Symbol" panose="05050102010706020507" pitchFamily="18"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purpose of science is an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advancement towards life</a:t>
            </a:r>
            <a:r>
              <a:rPr lang="en-US" dirty="0">
                <a:effectLst/>
                <a:latin typeface="Times New Roman" panose="02020603050405020304" pitchFamily="18" charset="0"/>
                <a:ea typeface="Calibri" panose="020F0502020204030204" pitchFamily="34" charset="0"/>
                <a:cs typeface="Times New Roman" panose="02020603050405020304" pitchFamily="18" charset="0"/>
              </a:rPr>
              <a:t> or we can say to facilitate human beings.</a:t>
            </a:r>
          </a:p>
          <a:p>
            <a:pPr marL="342900" marR="0" lvl="0" indent="-342900" algn="just">
              <a:lnSpc>
                <a:spcPct val="107000"/>
              </a:lnSpc>
              <a:spcBef>
                <a:spcPts val="0"/>
              </a:spcBef>
              <a:spcAft>
                <a:spcPts val="0"/>
              </a:spcAft>
              <a:buFont typeface="Symbol" panose="05050102010706020507" pitchFamily="18"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To answer the questions like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how to get man turn up?</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How to change the behavior of a man</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How do we change people’s attitude towards sustainability, humanity, etc.</a:t>
            </a:r>
            <a:r>
              <a:rPr lang="en-US" dirty="0">
                <a:effectLst/>
                <a:latin typeface="Times New Roman" panose="02020603050405020304" pitchFamily="18" charset="0"/>
                <a:ea typeface="Calibri" panose="020F0502020204030204" pitchFamily="34" charset="0"/>
                <a:cs typeface="Times New Roman" panose="02020603050405020304" pitchFamily="18" charset="0"/>
              </a:rPr>
              <a:t> we need to study social sciences.  </a:t>
            </a:r>
          </a:p>
          <a:p>
            <a:pPr marL="342900" marR="0" lvl="0" indent="-342900" algn="just">
              <a:lnSpc>
                <a:spcPct val="107000"/>
              </a:lnSpc>
              <a:spcBef>
                <a:spcPts val="0"/>
              </a:spcBef>
              <a:spcAft>
                <a:spcPts val="0"/>
              </a:spcAft>
              <a:buFont typeface="Symbol" panose="05050102010706020507" pitchFamily="18"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Social Sciences can give a proper path and direction because they are all about social ethics.</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4401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70093-03CE-41DA-9844-7D3C36E947A3}"/>
              </a:ext>
            </a:extLst>
          </p:cNvPr>
          <p:cNvSpPr>
            <a:spLocks noGrp="1"/>
          </p:cNvSpPr>
          <p:nvPr>
            <p:ph type="title"/>
          </p:nvPr>
        </p:nvSpPr>
        <p:spPr>
          <a:xfrm>
            <a:off x="1534706" y="1261720"/>
            <a:ext cx="9603275" cy="587718"/>
          </a:xfrm>
        </p:spPr>
        <p:txBody>
          <a:bodyPr>
            <a:normAutofit/>
          </a:bodyPr>
          <a:lstStyle/>
          <a:p>
            <a:pPr algn="ctr"/>
            <a:r>
              <a:rPr lang="en-US" sz="2800" b="1" dirty="0">
                <a:latin typeface="Times New Roman" panose="02020603050405020304" pitchFamily="18" charset="0"/>
                <a:cs typeface="Times New Roman" panose="02020603050405020304" pitchFamily="18" charset="0"/>
              </a:rPr>
              <a:t>Understanding Social Sciences</a:t>
            </a:r>
          </a:p>
        </p:txBody>
      </p:sp>
      <p:sp>
        <p:nvSpPr>
          <p:cNvPr id="4" name="Content Placeholder 3">
            <a:extLst>
              <a:ext uri="{FF2B5EF4-FFF2-40B4-BE49-F238E27FC236}">
                <a16:creationId xmlns:a16="http://schemas.microsoft.com/office/drawing/2014/main" id="{E2C7B0F2-65BB-4FBE-AF18-01C3C66BF9ED}"/>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Our pattern of perception of how things are in our lives has been termed worldview.</a:t>
            </a:r>
          </a:p>
          <a:p>
            <a:pPr algn="just"/>
            <a:r>
              <a:rPr lang="en-US" dirty="0">
                <a:latin typeface="Times New Roman" panose="02020603050405020304" pitchFamily="18" charset="0"/>
                <a:cs typeface="Times New Roman" panose="02020603050405020304" pitchFamily="18" charset="0"/>
              </a:rPr>
              <a:t> Our worldview has a major influence on our future because it informs the institutions we make today.</a:t>
            </a:r>
          </a:p>
          <a:p>
            <a:pPr algn="just"/>
            <a:r>
              <a:rPr lang="en-US" b="1" dirty="0">
                <a:latin typeface="Times New Roman" panose="02020603050405020304" pitchFamily="18" charset="0"/>
                <a:cs typeface="Times New Roman" panose="02020603050405020304" pitchFamily="18" charset="0"/>
              </a:rPr>
              <a:t>Anthropocentrism</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Theo-centrism</a:t>
            </a:r>
            <a:r>
              <a:rPr lang="en-US" dirty="0">
                <a:latin typeface="Times New Roman" panose="02020603050405020304" pitchFamily="18" charset="0"/>
                <a:cs typeface="Times New Roman" panose="02020603050405020304" pitchFamily="18" charset="0"/>
              </a:rPr>
              <a:t> are two opposing worldviews that influence </a:t>
            </a:r>
            <a:r>
              <a:rPr lang="en-US" b="1" dirty="0">
                <a:latin typeface="Times New Roman" panose="02020603050405020304" pitchFamily="18" charset="0"/>
                <a:cs typeface="Times New Roman" panose="02020603050405020304" pitchFamily="18" charset="0"/>
              </a:rPr>
              <a:t>humanity’s relationship with ecology</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92741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4ED4C-60C0-4BB1-9531-F3D6776C3CE4}"/>
              </a:ext>
            </a:extLst>
          </p:cNvPr>
          <p:cNvSpPr>
            <a:spLocks noGrp="1"/>
          </p:cNvSpPr>
          <p:nvPr>
            <p:ph type="title"/>
          </p:nvPr>
        </p:nvSpPr>
        <p:spPr>
          <a:xfrm>
            <a:off x="1451579" y="1391655"/>
            <a:ext cx="9603275" cy="587136"/>
          </a:xfrm>
        </p:spPr>
        <p:txBody>
          <a:bodyPr>
            <a:normAutofit/>
          </a:bodyPr>
          <a:lstStyle/>
          <a:p>
            <a:pPr algn="ctr"/>
            <a:r>
              <a:rPr lang="en-US" sz="2800" b="1" dirty="0">
                <a:latin typeface="Times New Roman" panose="02020603050405020304" pitchFamily="18" charset="0"/>
                <a:cs typeface="Times New Roman" panose="02020603050405020304" pitchFamily="18" charset="0"/>
              </a:rPr>
              <a:t>History of Human Beings</a:t>
            </a:r>
          </a:p>
        </p:txBody>
      </p:sp>
      <p:sp>
        <p:nvSpPr>
          <p:cNvPr id="3" name="Content Placeholder 2">
            <a:extLst>
              <a:ext uri="{FF2B5EF4-FFF2-40B4-BE49-F238E27FC236}">
                <a16:creationId xmlns:a16="http://schemas.microsoft.com/office/drawing/2014/main" id="{E1C463DC-2739-4357-849D-5DD310097A85}"/>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According to </a:t>
            </a:r>
            <a:r>
              <a:rPr lang="en-US" b="1" dirty="0">
                <a:latin typeface="Times New Roman" panose="02020603050405020304" pitchFamily="18" charset="0"/>
                <a:cs typeface="Times New Roman" panose="02020603050405020304" pitchFamily="18" charset="0"/>
              </a:rPr>
              <a:t>Theo-centrists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Hazrat</a:t>
            </a:r>
            <a:r>
              <a:rPr lang="en-US" dirty="0">
                <a:latin typeface="Times New Roman" panose="02020603050405020304" pitchFamily="18" charset="0"/>
                <a:cs typeface="Times New Roman" panose="02020603050405020304" pitchFamily="18" charset="0"/>
              </a:rPr>
              <a:t> Adam (AS) was the first Human Being, and most probably, human history can be traced to Adam.</a:t>
            </a:r>
          </a:p>
          <a:p>
            <a:pPr algn="just"/>
            <a:r>
              <a:rPr lang="en-US" dirty="0">
                <a:latin typeface="Times New Roman" panose="02020603050405020304" pitchFamily="18" charset="0"/>
                <a:cs typeface="Times New Roman" panose="02020603050405020304" pitchFamily="18" charset="0"/>
              </a:rPr>
              <a:t>Responding to </a:t>
            </a:r>
            <a:r>
              <a:rPr lang="en-US" b="1" dirty="0">
                <a:latin typeface="Times New Roman" panose="02020603050405020304" pitchFamily="18" charset="0"/>
                <a:cs typeface="Times New Roman" panose="02020603050405020304" pitchFamily="18" charset="0"/>
              </a:rPr>
              <a:t>Theo-centrists</a:t>
            </a:r>
            <a:r>
              <a:rPr lang="en-US" dirty="0">
                <a:latin typeface="Times New Roman" panose="02020603050405020304" pitchFamily="18" charset="0"/>
                <a:cs typeface="Times New Roman" panose="02020603050405020304" pitchFamily="18" charset="0"/>
              </a:rPr>
              <a:t>, the Anthropo-centrists brought the </a:t>
            </a:r>
            <a:r>
              <a:rPr lang="en-US" b="1" dirty="0">
                <a:latin typeface="Times New Roman" panose="02020603050405020304" pitchFamily="18" charset="0"/>
                <a:cs typeface="Times New Roman" panose="02020603050405020304" pitchFamily="18" charset="0"/>
              </a:rPr>
              <a:t>theory of evolution (Darwinism)</a:t>
            </a:r>
            <a:r>
              <a:rPr lang="en-US" dirty="0">
                <a:latin typeface="Times New Roman" panose="02020603050405020304" pitchFamily="18" charset="0"/>
                <a:cs typeface="Times New Roman" panose="02020603050405020304" pitchFamily="18" charset="0"/>
              </a:rPr>
              <a:t> according to which the history of human beings can be traced from chimpanzees that had evolved with time and consequently got their perfect evolution in terms of Human Beings.  </a:t>
            </a:r>
          </a:p>
          <a:p>
            <a:pPr algn="just"/>
            <a:r>
              <a:rPr lang="en-US" dirty="0">
                <a:latin typeface="Times New Roman" panose="02020603050405020304" pitchFamily="18" charset="0"/>
                <a:cs typeface="Times New Roman" panose="02020603050405020304" pitchFamily="18" charset="0"/>
              </a:rPr>
              <a:t>Most Philosophers have different interpretations regarding human history.</a:t>
            </a:r>
          </a:p>
        </p:txBody>
      </p:sp>
    </p:spTree>
    <p:extLst>
      <p:ext uri="{BB962C8B-B14F-4D97-AF65-F5344CB8AC3E}">
        <p14:creationId xmlns:p14="http://schemas.microsoft.com/office/powerpoint/2010/main" val="3615353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13389-EA4B-4FAF-82B6-A202B46FB6E0}"/>
              </a:ext>
            </a:extLst>
          </p:cNvPr>
          <p:cNvSpPr>
            <a:spLocks noGrp="1"/>
          </p:cNvSpPr>
          <p:nvPr>
            <p:ph type="title"/>
          </p:nvPr>
        </p:nvSpPr>
        <p:spPr>
          <a:xfrm>
            <a:off x="1562416" y="1391655"/>
            <a:ext cx="9603275" cy="483954"/>
          </a:xfrm>
        </p:spPr>
        <p:txBody>
          <a:bodyPr>
            <a:normAutofit/>
          </a:bodyPr>
          <a:lstStyle/>
          <a:p>
            <a:pPr algn="ctr"/>
            <a:r>
              <a:rPr lang="en-US" sz="2800" b="1" dirty="0">
                <a:latin typeface="Times New Roman" panose="02020603050405020304" pitchFamily="18" charset="0"/>
                <a:cs typeface="Times New Roman" panose="02020603050405020304" pitchFamily="18" charset="0"/>
              </a:rPr>
              <a:t>Karl Marks’ Classes of History</a:t>
            </a:r>
          </a:p>
        </p:txBody>
      </p:sp>
      <p:sp>
        <p:nvSpPr>
          <p:cNvPr id="3" name="Content Placeholder 2">
            <a:extLst>
              <a:ext uri="{FF2B5EF4-FFF2-40B4-BE49-F238E27FC236}">
                <a16:creationId xmlns:a16="http://schemas.microsoft.com/office/drawing/2014/main" id="{F26CC731-7C7E-4DC0-9763-D57D85EF171F}"/>
              </a:ext>
            </a:extLst>
          </p:cNvPr>
          <p:cNvSpPr>
            <a:spLocks noGrp="1"/>
          </p:cNvSpPr>
          <p:nvPr>
            <p:ph idx="1"/>
          </p:nvPr>
        </p:nvSpPr>
        <p:spPr/>
        <p:txBody>
          <a:bodyPr>
            <a:normAutofit lnSpcReduction="10000"/>
          </a:bodyPr>
          <a:lstStyle/>
          <a:p>
            <a:pPr marL="514350" indent="-514350" algn="just">
              <a:buAutoNum type="arabicPeriod"/>
            </a:pPr>
            <a:r>
              <a:rPr lang="en-US" b="1" dirty="0">
                <a:latin typeface="Times New Roman" panose="02020603050405020304" pitchFamily="18" charset="0"/>
                <a:cs typeface="Times New Roman" panose="02020603050405020304" pitchFamily="18" charset="0"/>
              </a:rPr>
              <a:t>Primitive Communism</a:t>
            </a:r>
            <a:r>
              <a:rPr lang="en-US" dirty="0">
                <a:latin typeface="Times New Roman" panose="02020603050405020304" pitchFamily="18" charset="0"/>
                <a:cs typeface="Times New Roman" panose="02020603050405020304" pitchFamily="18" charset="0"/>
              </a:rPr>
              <a:t> (a stage of history without any class struggle, Age of survival) </a:t>
            </a:r>
          </a:p>
          <a:p>
            <a:pPr marL="514350" indent="-514350" algn="just">
              <a:buAutoNum type="arabicPeriod"/>
            </a:pPr>
            <a:r>
              <a:rPr lang="en-US" b="1" dirty="0">
                <a:latin typeface="Times New Roman" panose="02020603050405020304" pitchFamily="18" charset="0"/>
                <a:cs typeface="Times New Roman" panose="02020603050405020304" pitchFamily="18" charset="0"/>
              </a:rPr>
              <a:t>Slavery</a:t>
            </a:r>
            <a:r>
              <a:rPr lang="en-US" dirty="0">
                <a:latin typeface="Times New Roman" panose="02020603050405020304" pitchFamily="18" charset="0"/>
                <a:cs typeface="Times New Roman" panose="02020603050405020304" pitchFamily="18" charset="0"/>
              </a:rPr>
              <a:t> (a stage of history with the class struggle between slaves and slaveowners, Accumulation of power) </a:t>
            </a:r>
          </a:p>
          <a:p>
            <a:pPr marL="514350" indent="-514350" algn="just">
              <a:buAutoNum type="arabicPeriod"/>
            </a:pPr>
            <a:r>
              <a:rPr lang="en-US" b="1" dirty="0">
                <a:latin typeface="Times New Roman" panose="02020603050405020304" pitchFamily="18" charset="0"/>
                <a:cs typeface="Times New Roman" panose="02020603050405020304" pitchFamily="18" charset="0"/>
              </a:rPr>
              <a:t>Feudalism</a:t>
            </a:r>
            <a:r>
              <a:rPr lang="en-US" dirty="0">
                <a:latin typeface="Times New Roman" panose="02020603050405020304" pitchFamily="18" charset="0"/>
                <a:cs typeface="Times New Roman" panose="02020603050405020304" pitchFamily="18" charset="0"/>
              </a:rPr>
              <a:t> (a stage of history with a class struggle between peasants and feudal lords) </a:t>
            </a:r>
          </a:p>
          <a:p>
            <a:pPr marL="514350" indent="-514350" algn="just">
              <a:buAutoNum type="arabicPeriod"/>
            </a:pPr>
            <a:r>
              <a:rPr lang="en-US" b="1" dirty="0">
                <a:latin typeface="Times New Roman" panose="02020603050405020304" pitchFamily="18" charset="0"/>
                <a:cs typeface="Times New Roman" panose="02020603050405020304" pitchFamily="18" charset="0"/>
              </a:rPr>
              <a:t>Capitalism</a:t>
            </a:r>
            <a:r>
              <a:rPr lang="en-US" dirty="0">
                <a:latin typeface="Times New Roman" panose="02020603050405020304" pitchFamily="18" charset="0"/>
                <a:cs typeface="Times New Roman" panose="02020603050405020304" pitchFamily="18" charset="0"/>
              </a:rPr>
              <a:t> (a stage of history with the class struggle between the proletariat and bourgeoisie/capitalists) </a:t>
            </a:r>
          </a:p>
          <a:p>
            <a:pPr marL="514350" indent="-514350" algn="just">
              <a:buAutoNum type="arabicPeriod"/>
            </a:pPr>
            <a:r>
              <a:rPr lang="en-US" b="1" dirty="0">
                <a:latin typeface="Times New Roman" panose="02020603050405020304" pitchFamily="18" charset="0"/>
                <a:cs typeface="Times New Roman" panose="02020603050405020304" pitchFamily="18" charset="0"/>
              </a:rPr>
              <a:t>Advanced Communism</a:t>
            </a:r>
            <a:r>
              <a:rPr lang="en-US" dirty="0">
                <a:latin typeface="Times New Roman" panose="02020603050405020304" pitchFamily="18" charset="0"/>
                <a:cs typeface="Times New Roman" panose="02020603050405020304" pitchFamily="18" charset="0"/>
              </a:rPr>
              <a:t> (the final stage of human history, which was yet to come, with a classless society and stateless society)</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6727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F4EA1-1F7C-4068-B6DF-3731B94C4C2B}"/>
              </a:ext>
            </a:extLst>
          </p:cNvPr>
          <p:cNvSpPr>
            <a:spLocks noGrp="1"/>
          </p:cNvSpPr>
          <p:nvPr>
            <p:ph type="title"/>
          </p:nvPr>
        </p:nvSpPr>
        <p:spPr>
          <a:xfrm>
            <a:off x="1451579" y="1247865"/>
            <a:ext cx="9603275" cy="587136"/>
          </a:xfrm>
        </p:spPr>
        <p:txBody>
          <a:bodyPr/>
          <a:lstStyle/>
          <a:p>
            <a:pPr algn="ctr"/>
            <a:r>
              <a:rPr lang="en-US" b="1" dirty="0">
                <a:latin typeface="Times New Roman" panose="02020603050405020304" pitchFamily="18" charset="0"/>
                <a:cs typeface="Times New Roman" panose="02020603050405020304" pitchFamily="18" charset="0"/>
              </a:rPr>
              <a:t>Purposes of History</a:t>
            </a:r>
          </a:p>
        </p:txBody>
      </p:sp>
      <p:sp>
        <p:nvSpPr>
          <p:cNvPr id="3" name="Content Placeholder 2">
            <a:extLst>
              <a:ext uri="{FF2B5EF4-FFF2-40B4-BE49-F238E27FC236}">
                <a16:creationId xmlns:a16="http://schemas.microsoft.com/office/drawing/2014/main" id="{6187B11D-65AE-463A-BB0B-DCF9E92AB55F}"/>
              </a:ext>
            </a:extLst>
          </p:cNvPr>
          <p:cNvSpPr>
            <a:spLocks noGrp="1"/>
          </p:cNvSpPr>
          <p:nvPr>
            <p:ph idx="1"/>
          </p:nvPr>
        </p:nvSpPr>
        <p:spPr>
          <a:xfrm>
            <a:off x="1451579" y="1835001"/>
            <a:ext cx="9603275" cy="3450613"/>
          </a:xfrm>
        </p:spPr>
        <p:txBody>
          <a:bodyPr>
            <a:noAutofit/>
          </a:bodyPr>
          <a:lstStyle/>
          <a:p>
            <a:pPr algn="just">
              <a:lnSpc>
                <a:spcPct val="100000"/>
              </a:lnSpc>
            </a:pPr>
            <a:r>
              <a:rPr lang="en-US" sz="1800" b="1" u="sng" dirty="0">
                <a:latin typeface="Times New Roman" panose="02020603050405020304" pitchFamily="18" charset="0"/>
                <a:cs typeface="Times New Roman" panose="02020603050405020304" pitchFamily="18" charset="0"/>
              </a:rPr>
              <a:t>Commemorative Purpose:</a:t>
            </a:r>
            <a:r>
              <a:rPr lang="en-US" sz="1800" dirty="0">
                <a:latin typeface="Times New Roman" panose="02020603050405020304" pitchFamily="18" charset="0"/>
                <a:cs typeface="Times New Roman" panose="02020603050405020304" pitchFamily="18" charset="0"/>
              </a:rPr>
              <a:t> To preserve the memory of past events, especially the deeds and achievements of ancestors, heroes, leaders, and kings.</a:t>
            </a:r>
          </a:p>
          <a:p>
            <a:pPr algn="just">
              <a:lnSpc>
                <a:spcPct val="100000"/>
              </a:lnSpc>
            </a:pPr>
            <a:r>
              <a:rPr lang="en-US" sz="1800" b="1" u="sng" dirty="0">
                <a:latin typeface="Times New Roman" panose="02020603050405020304" pitchFamily="18" charset="0"/>
                <a:cs typeface="Times New Roman" panose="02020603050405020304" pitchFamily="18" charset="0"/>
              </a:rPr>
              <a:t>Moralistic Purpose:</a:t>
            </a:r>
            <a:r>
              <a:rPr lang="en-US" sz="1800" dirty="0">
                <a:latin typeface="Times New Roman" panose="02020603050405020304" pitchFamily="18" charset="0"/>
                <a:cs typeface="Times New Roman" panose="02020603050405020304" pitchFamily="18" charset="0"/>
              </a:rPr>
              <a:t> To record the past events so that future generations could draw or learn lessons from them, and thus avoid repeating the past errors.</a:t>
            </a:r>
          </a:p>
          <a:p>
            <a:pPr algn="just">
              <a:lnSpc>
                <a:spcPct val="100000"/>
              </a:lnSpc>
            </a:pPr>
            <a:r>
              <a:rPr lang="en-US" sz="1800" b="1" u="sng" dirty="0">
                <a:latin typeface="Times New Roman" panose="02020603050405020304" pitchFamily="18" charset="0"/>
                <a:cs typeface="Times New Roman" panose="02020603050405020304" pitchFamily="18" charset="0"/>
              </a:rPr>
              <a:t>Propagation of views: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To propagate and disseminate or spread particular views, beliefs, and doctrines in which the historians believe. These views may include, among others, religious/ideological or political ideas. </a:t>
            </a:r>
          </a:p>
          <a:p>
            <a:pPr algn="just">
              <a:lnSpc>
                <a:spcPct val="100000"/>
              </a:lnSpc>
            </a:pPr>
            <a:r>
              <a:rPr lang="en-US" sz="1800" b="1" u="sng" dirty="0">
                <a:latin typeface="Times New Roman" panose="02020603050405020304" pitchFamily="18" charset="0"/>
                <a:cs typeface="Times New Roman" panose="02020603050405020304" pitchFamily="18" charset="0"/>
              </a:rPr>
              <a:t>Propaganda:</a:t>
            </a:r>
            <a:r>
              <a:rPr lang="en-US" sz="1800" dirty="0">
                <a:latin typeface="Times New Roman" panose="02020603050405020304" pitchFamily="18" charset="0"/>
                <a:cs typeface="Times New Roman" panose="02020603050405020304" pitchFamily="18" charset="0"/>
              </a:rPr>
              <a:t> History may also be written with the purpose of propaganda among the intended readers such as glorifying the successes and achievements of kings or rulers while minimizing their failures.</a:t>
            </a:r>
          </a:p>
          <a:p>
            <a:pPr algn="just">
              <a:lnSpc>
                <a:spcPct val="100000"/>
              </a:lnSpc>
            </a:pPr>
            <a:r>
              <a:rPr lang="en-US" sz="1800" b="1" u="sng" dirty="0">
                <a:latin typeface="Times New Roman" panose="02020603050405020304" pitchFamily="18" charset="0"/>
                <a:cs typeface="Times New Roman" panose="02020603050405020304" pitchFamily="18" charset="0"/>
              </a:rPr>
              <a:t>Explanatory purpose:</a:t>
            </a:r>
            <a:r>
              <a:rPr lang="en-US" sz="1800" dirty="0">
                <a:latin typeface="Times New Roman" panose="02020603050405020304" pitchFamily="18" charset="0"/>
                <a:cs typeface="Times New Roman" panose="02020603050405020304" pitchFamily="18" charset="0"/>
              </a:rPr>
              <a:t> According to Mary </a:t>
            </a:r>
            <a:r>
              <a:rPr lang="en-US" sz="1800" dirty="0" err="1">
                <a:latin typeface="Times New Roman" panose="02020603050405020304" pitchFamily="18" charset="0"/>
                <a:cs typeface="Times New Roman" panose="02020603050405020304" pitchFamily="18" charset="0"/>
              </a:rPr>
              <a:t>Fulbrook</a:t>
            </a:r>
            <a:r>
              <a:rPr lang="en-US" sz="1800" dirty="0">
                <a:latin typeface="Times New Roman" panose="02020603050405020304" pitchFamily="18" charset="0"/>
                <a:cs typeface="Times New Roman" panose="02020603050405020304" pitchFamily="18" charset="0"/>
              </a:rPr>
              <a:t>, the “processes of historical investigation and representation are about making sense of the past… Making sense means imposing categories, looking for patterns, searching for connections, seeking answers to questions, imbuing the past with meaning.”</a:t>
            </a:r>
          </a:p>
        </p:txBody>
      </p:sp>
    </p:spTree>
    <p:extLst>
      <p:ext uri="{BB962C8B-B14F-4D97-AF65-F5344CB8AC3E}">
        <p14:creationId xmlns:p14="http://schemas.microsoft.com/office/powerpoint/2010/main" val="2631957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4026F-3E95-4399-8F19-0FD2CAED542C}"/>
              </a:ext>
            </a:extLst>
          </p:cNvPr>
          <p:cNvSpPr>
            <a:spLocks noGrp="1"/>
          </p:cNvSpPr>
          <p:nvPr>
            <p:ph type="title"/>
          </p:nvPr>
        </p:nvSpPr>
        <p:spPr>
          <a:xfrm>
            <a:off x="1451579" y="1246972"/>
            <a:ext cx="9603275" cy="587136"/>
          </a:xfrm>
        </p:spPr>
        <p:txBody>
          <a:bodyPr/>
          <a:lstStyle/>
          <a:p>
            <a:pPr algn="ctr"/>
            <a:r>
              <a:rPr lang="en-US" b="1" dirty="0">
                <a:latin typeface="Times New Roman" panose="02020603050405020304" pitchFamily="18" charset="0"/>
                <a:cs typeface="Times New Roman" panose="02020603050405020304" pitchFamily="18" charset="0"/>
              </a:rPr>
              <a:t>Emergence of Civilizations</a:t>
            </a:r>
          </a:p>
        </p:txBody>
      </p:sp>
      <p:sp>
        <p:nvSpPr>
          <p:cNvPr id="3" name="Content Placeholder 2">
            <a:extLst>
              <a:ext uri="{FF2B5EF4-FFF2-40B4-BE49-F238E27FC236}">
                <a16:creationId xmlns:a16="http://schemas.microsoft.com/office/drawing/2014/main" id="{1C09B0F6-6BE9-4137-BE52-919ED72F9544}"/>
              </a:ext>
            </a:extLst>
          </p:cNvPr>
          <p:cNvSpPr>
            <a:spLocks noGrp="1"/>
          </p:cNvSpPr>
          <p:nvPr>
            <p:ph idx="1"/>
          </p:nvPr>
        </p:nvSpPr>
        <p:spPr/>
        <p:txBody>
          <a:bodyPr>
            <a:normAutofit/>
          </a:bodyPr>
          <a:lstStyle/>
          <a:p>
            <a:pPr marL="0" marR="0" algn="just">
              <a:lnSpc>
                <a:spcPct val="107000"/>
              </a:lnSpc>
              <a:spcBef>
                <a:spcPts val="0"/>
              </a:spcBef>
              <a:spcAft>
                <a:spcPts val="0"/>
              </a:spcAft>
            </a:pPr>
            <a:r>
              <a:rPr lang="en-US" sz="2400" b="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Paleolithic:</a:t>
            </a: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Paleolithic era is a period from around 3 million to around 12,000 years ago. It is the era when humans first invented stone tools.</a:t>
            </a:r>
            <a:endParaRPr lang="en-US" sz="2400"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07000"/>
              </a:lnSpc>
              <a:spcBef>
                <a:spcPts val="0"/>
              </a:spcBef>
              <a:spcAft>
                <a:spcPts val="0"/>
              </a:spcAft>
            </a:pPr>
            <a:r>
              <a:rPr lang="en-US" sz="2400" b="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Neolithic</a:t>
            </a:r>
            <a:r>
              <a:rPr lang="en-US" sz="2400" b="1" u="sng" dirty="0">
                <a:latin typeface="Calibri" panose="020F0502020204030204" pitchFamily="34" charset="0"/>
                <a:ea typeface="Times New Roman" panose="02020603050405020304" pitchFamily="18" charset="0"/>
                <a:cs typeface="Times New Roman" panose="02020603050405020304" pitchFamily="18" charset="0"/>
              </a:rPr>
              <a:t>:</a:t>
            </a:r>
            <a:r>
              <a:rPr lang="en-US" sz="2400" b="1" dirty="0">
                <a:latin typeface="Calibri" panose="020F0502020204030204" pitchFamily="34" charset="0"/>
                <a:ea typeface="Times New Roman" panose="02020603050405020304" pitchFamily="18" charset="0"/>
                <a:cs typeface="Times New Roman" panose="02020603050405020304" pitchFamily="18" charset="0"/>
              </a:rPr>
              <a:t> </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Neolithic era is a period from about 12,000 to around 2,000 years ago. It is the era when humans started farming to fulfill their basic needs.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2400" dirty="0"/>
          </a:p>
        </p:txBody>
      </p:sp>
    </p:spTree>
    <p:extLst>
      <p:ext uri="{BB962C8B-B14F-4D97-AF65-F5344CB8AC3E}">
        <p14:creationId xmlns:p14="http://schemas.microsoft.com/office/powerpoint/2010/main" val="1359983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BF127-2FB2-4A3D-BA0F-102CD5CFAFE0}"/>
              </a:ext>
            </a:extLst>
          </p:cNvPr>
          <p:cNvSpPr>
            <a:spLocks noGrp="1"/>
          </p:cNvSpPr>
          <p:nvPr>
            <p:ph type="title"/>
          </p:nvPr>
        </p:nvSpPr>
        <p:spPr>
          <a:xfrm>
            <a:off x="1451579" y="1202726"/>
            <a:ext cx="9603275" cy="587136"/>
          </a:xfrm>
        </p:spPr>
        <p:txBody>
          <a:bodyPr/>
          <a:lstStyle/>
          <a:p>
            <a:pPr algn="ctr"/>
            <a:r>
              <a:rPr lang="en-US" b="1" dirty="0">
                <a:latin typeface="Times New Roman" panose="02020603050405020304" pitchFamily="18" charset="0"/>
                <a:cs typeface="Times New Roman" panose="02020603050405020304" pitchFamily="18" charset="0"/>
              </a:rPr>
              <a:t>Ancient Civilizations</a:t>
            </a:r>
          </a:p>
        </p:txBody>
      </p:sp>
      <p:sp>
        <p:nvSpPr>
          <p:cNvPr id="3" name="Content Placeholder 2">
            <a:extLst>
              <a:ext uri="{FF2B5EF4-FFF2-40B4-BE49-F238E27FC236}">
                <a16:creationId xmlns:a16="http://schemas.microsoft.com/office/drawing/2014/main" id="{5DD52342-EC6F-4D8B-981B-21F7B1E2F9DF}"/>
              </a:ext>
            </a:extLst>
          </p:cNvPr>
          <p:cNvSpPr>
            <a:spLocks noGrp="1"/>
          </p:cNvSpPr>
          <p:nvPr>
            <p:ph idx="1"/>
          </p:nvPr>
        </p:nvSpPr>
        <p:spPr/>
        <p:txBody>
          <a:bodyPr>
            <a:normAutofit/>
          </a:bodyPr>
          <a:lstStyle/>
          <a:p>
            <a:pPr algn="just"/>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 the course of human evolution, </a:t>
            </a:r>
            <a:r>
              <a:rPr lang="en-US"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practice of living in a group with mutual understanding</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and dependency has become a very useful and practical lifestyle, and from small isolated groups, larger communities have formed. Then came societies which in time became civilizations. </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1964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90A73-65F7-4B02-ACC9-5149A8465600}"/>
              </a:ext>
            </a:extLst>
          </p:cNvPr>
          <p:cNvSpPr>
            <a:spLocks noGrp="1"/>
          </p:cNvSpPr>
          <p:nvPr>
            <p:ph type="title"/>
          </p:nvPr>
        </p:nvSpPr>
        <p:spPr>
          <a:xfrm>
            <a:off x="1451579" y="1391655"/>
            <a:ext cx="9603275" cy="462099"/>
          </a:xfrm>
        </p:spPr>
        <p:txBody>
          <a:bodyPr>
            <a:normAutofit fontScale="90000"/>
          </a:bodyPr>
          <a:lstStyle/>
          <a:p>
            <a:pPr algn="ctr"/>
            <a:r>
              <a:rPr lang="en-US" sz="2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Mesopotamian Civilization</a:t>
            </a:r>
            <a:endParaRPr lang="en-US" sz="2800" b="1" dirty="0"/>
          </a:p>
        </p:txBody>
      </p:sp>
      <p:sp>
        <p:nvSpPr>
          <p:cNvPr id="3" name="Content Placeholder 2">
            <a:extLst>
              <a:ext uri="{FF2B5EF4-FFF2-40B4-BE49-F238E27FC236}">
                <a16:creationId xmlns:a16="http://schemas.microsoft.com/office/drawing/2014/main" id="{1FAB9911-04EF-4188-B9DE-3D5302AF284E}"/>
              </a:ext>
            </a:extLst>
          </p:cNvPr>
          <p:cNvSpPr>
            <a:spLocks noGrp="1"/>
          </p:cNvSpPr>
          <p:nvPr>
            <p:ph idx="1"/>
          </p:nvPr>
        </p:nvSpPr>
        <p:spPr/>
        <p:txBody>
          <a:bodyPr/>
          <a:lstStyle/>
          <a:p>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Civilization Name:</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Mesopotamian civilization</a:t>
            </a:r>
          </a:p>
          <a:p>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Period:</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3500 BC–500 BC</a:t>
            </a:r>
          </a:p>
          <a:p>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Original Location:</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Northeast by the Zagros </a:t>
            </a:r>
          </a:p>
          <a:p>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Current Location:</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Iraq, Syria, and Turkey</a:t>
            </a:r>
          </a:p>
          <a:p>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Meaning:</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Land between rivers (ancient Greek)</a:t>
            </a:r>
          </a:p>
          <a:p>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Major Highlights:</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First civilization in the world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p:txBody>
      </p:sp>
      <p:pic>
        <p:nvPicPr>
          <p:cNvPr id="5" name="Picture 4">
            <a:extLst>
              <a:ext uri="{FF2B5EF4-FFF2-40B4-BE49-F238E27FC236}">
                <a16:creationId xmlns:a16="http://schemas.microsoft.com/office/drawing/2014/main" id="{F36D9ED7-6B94-447A-8BE8-8AFEC85BC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2014" y="2015732"/>
            <a:ext cx="4781550" cy="3450612"/>
          </a:xfrm>
          <a:prstGeom prst="rect">
            <a:avLst/>
          </a:prstGeom>
        </p:spPr>
      </p:pic>
    </p:spTree>
    <p:extLst>
      <p:ext uri="{BB962C8B-B14F-4D97-AF65-F5344CB8AC3E}">
        <p14:creationId xmlns:p14="http://schemas.microsoft.com/office/powerpoint/2010/main" val="2671561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35D12-DAFF-4DEC-9BC4-24EA835514F5}"/>
              </a:ext>
            </a:extLst>
          </p:cNvPr>
          <p:cNvSpPr>
            <a:spLocks noGrp="1"/>
          </p:cNvSpPr>
          <p:nvPr>
            <p:ph type="title"/>
          </p:nvPr>
        </p:nvSpPr>
        <p:spPr>
          <a:xfrm>
            <a:off x="1451579" y="1391655"/>
            <a:ext cx="9603275" cy="462099"/>
          </a:xfrm>
        </p:spPr>
        <p:txBody>
          <a:bodyPr>
            <a:normAutofit fontScale="90000"/>
          </a:bodyPr>
          <a:lstStyle/>
          <a:p>
            <a:pPr algn="ctr"/>
            <a:r>
              <a:rPr lang="en-US" sz="2800" b="1" dirty="0">
                <a:solidFill>
                  <a:srgbClr val="000000"/>
                </a:solidFill>
                <a:effectLst/>
                <a:latin typeface="Times New Roman" panose="02020603050405020304" pitchFamily="18" charset="0"/>
                <a:ea typeface="Times New Roman" panose="02020603050405020304" pitchFamily="18" charset="0"/>
              </a:rPr>
              <a:t>The Ancient Egyptian Civilization</a:t>
            </a:r>
            <a:endParaRPr lang="en-US" sz="2800" b="1" dirty="0"/>
          </a:p>
        </p:txBody>
      </p:sp>
      <p:sp>
        <p:nvSpPr>
          <p:cNvPr id="3" name="Content Placeholder 2">
            <a:extLst>
              <a:ext uri="{FF2B5EF4-FFF2-40B4-BE49-F238E27FC236}">
                <a16:creationId xmlns:a16="http://schemas.microsoft.com/office/drawing/2014/main" id="{5BF07872-066D-4A56-9FCA-3575EBC50D2F}"/>
              </a:ext>
            </a:extLst>
          </p:cNvPr>
          <p:cNvSpPr>
            <a:spLocks noGrp="1"/>
          </p:cNvSpPr>
          <p:nvPr>
            <p:ph idx="1"/>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Civilization Name:</a:t>
            </a:r>
            <a:r>
              <a:rPr lang="en-US" sz="1800" dirty="0">
                <a:solidFill>
                  <a:srgbClr val="000000"/>
                </a:solidFill>
                <a:effectLst/>
                <a:latin typeface="Times New Roman" panose="02020603050405020304" pitchFamily="18" charset="0"/>
                <a:ea typeface="Times New Roman" panose="02020603050405020304" pitchFamily="18" charset="0"/>
              </a:rPr>
              <a:t> Egyptian civilization</a:t>
            </a:r>
          </a:p>
          <a:p>
            <a:r>
              <a:rPr lang="en-US" sz="1800" b="1" dirty="0">
                <a:solidFill>
                  <a:srgbClr val="000000"/>
                </a:solidFill>
                <a:effectLst/>
                <a:latin typeface="Times New Roman" panose="02020603050405020304" pitchFamily="18" charset="0"/>
                <a:ea typeface="Times New Roman" panose="02020603050405020304" pitchFamily="18" charset="0"/>
              </a:rPr>
              <a:t>Period:</a:t>
            </a:r>
            <a:r>
              <a:rPr lang="en-US" sz="1800" dirty="0">
                <a:solidFill>
                  <a:srgbClr val="000000"/>
                </a:solidFill>
                <a:effectLst/>
                <a:latin typeface="Times New Roman" panose="02020603050405020304" pitchFamily="18" charset="0"/>
                <a:ea typeface="Times New Roman" panose="02020603050405020304" pitchFamily="18" charset="0"/>
              </a:rPr>
              <a:t> 3150 BC–30 BC</a:t>
            </a:r>
          </a:p>
          <a:p>
            <a:r>
              <a:rPr lang="en-US" sz="1800" b="1" dirty="0">
                <a:solidFill>
                  <a:srgbClr val="000000"/>
                </a:solidFill>
                <a:effectLst/>
                <a:latin typeface="Times New Roman" panose="02020603050405020304" pitchFamily="18" charset="0"/>
                <a:ea typeface="Times New Roman" panose="02020603050405020304" pitchFamily="18" charset="0"/>
              </a:rPr>
              <a:t>Original Location:</a:t>
            </a:r>
            <a:r>
              <a:rPr lang="en-US" sz="1800" dirty="0">
                <a:solidFill>
                  <a:srgbClr val="000000"/>
                </a:solidFill>
                <a:effectLst/>
                <a:latin typeface="Times New Roman" panose="02020603050405020304" pitchFamily="18" charset="0"/>
                <a:ea typeface="Times New Roman" panose="02020603050405020304" pitchFamily="18" charset="0"/>
              </a:rPr>
              <a:t> Banks of the Nile</a:t>
            </a:r>
          </a:p>
          <a:p>
            <a:r>
              <a:rPr lang="en-US" sz="1800" b="1" dirty="0">
                <a:solidFill>
                  <a:srgbClr val="000000"/>
                </a:solidFill>
                <a:effectLst/>
                <a:latin typeface="Times New Roman" panose="02020603050405020304" pitchFamily="18" charset="0"/>
                <a:ea typeface="Times New Roman" panose="02020603050405020304" pitchFamily="18" charset="0"/>
              </a:rPr>
              <a:t>Current Location:</a:t>
            </a:r>
            <a:r>
              <a:rPr lang="en-US" sz="1800" dirty="0">
                <a:solidFill>
                  <a:srgbClr val="000000"/>
                </a:solidFill>
                <a:effectLst/>
                <a:latin typeface="Times New Roman" panose="02020603050405020304" pitchFamily="18" charset="0"/>
                <a:ea typeface="Times New Roman" panose="02020603050405020304" pitchFamily="18" charset="0"/>
              </a:rPr>
              <a:t> Egypt</a:t>
            </a:r>
          </a:p>
          <a:p>
            <a:r>
              <a:rPr lang="en-US" sz="1800" b="1" dirty="0">
                <a:solidFill>
                  <a:srgbClr val="000000"/>
                </a:solidFill>
                <a:effectLst/>
                <a:latin typeface="Times New Roman" panose="02020603050405020304" pitchFamily="18" charset="0"/>
                <a:ea typeface="Times New Roman" panose="02020603050405020304" pitchFamily="18" charset="0"/>
              </a:rPr>
              <a:t>Major Highlights:</a:t>
            </a:r>
            <a:r>
              <a:rPr lang="en-US" sz="1800" dirty="0">
                <a:solidFill>
                  <a:srgbClr val="000000"/>
                </a:solidFill>
                <a:effectLst/>
                <a:latin typeface="Times New Roman" panose="02020603050405020304" pitchFamily="18" charset="0"/>
                <a:ea typeface="Times New Roman" panose="02020603050405020304" pitchFamily="18" charset="0"/>
              </a:rPr>
              <a:t> Construction of pyramids</a:t>
            </a:r>
            <a:endParaRPr lang="en-US" sz="1800" dirty="0">
              <a:effectLst/>
              <a:latin typeface="Times New Roman" panose="02020603050405020304" pitchFamily="18" charset="0"/>
              <a:ea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7AF52600-59FD-4DCD-B36C-43DA5CFE01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63773" y="2015731"/>
            <a:ext cx="5422392" cy="3450613"/>
          </a:xfrm>
          <a:prstGeom prst="rect">
            <a:avLst/>
          </a:prstGeom>
        </p:spPr>
      </p:pic>
    </p:spTree>
    <p:extLst>
      <p:ext uri="{BB962C8B-B14F-4D97-AF65-F5344CB8AC3E}">
        <p14:creationId xmlns:p14="http://schemas.microsoft.com/office/powerpoint/2010/main" val="74745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C0BDB-D53D-4299-A949-FA210A00F0A4}"/>
              </a:ext>
            </a:extLst>
          </p:cNvPr>
          <p:cNvSpPr>
            <a:spLocks noGrp="1"/>
          </p:cNvSpPr>
          <p:nvPr>
            <p:ph type="title"/>
          </p:nvPr>
        </p:nvSpPr>
        <p:spPr/>
        <p:txBody>
          <a:bodyPr/>
          <a:lstStyle/>
          <a:p>
            <a:r>
              <a:rPr lang="en-US" sz="3200" b="0">
                <a:solidFill>
                  <a:srgbClr val="000000"/>
                </a:solidFill>
                <a:effectLst/>
                <a:latin typeface="Times New Roman" panose="02020603050405020304" pitchFamily="18" charset="0"/>
                <a:ea typeface="Times New Roman" panose="02020603050405020304" pitchFamily="18" charset="0"/>
              </a:rPr>
              <a:t>The Indus Valley Civilization</a:t>
            </a:r>
            <a:endParaRPr lang="en-US"/>
          </a:p>
        </p:txBody>
      </p:sp>
      <p:sp>
        <p:nvSpPr>
          <p:cNvPr id="3" name="Content Placeholder 2">
            <a:extLst>
              <a:ext uri="{FF2B5EF4-FFF2-40B4-BE49-F238E27FC236}">
                <a16:creationId xmlns:a16="http://schemas.microsoft.com/office/drawing/2014/main" id="{9DF4A65D-CFCB-4E77-AA9E-3ECA6AA1406C}"/>
              </a:ext>
            </a:extLst>
          </p:cNvPr>
          <p:cNvSpPr>
            <a:spLocks noGrp="1"/>
          </p:cNvSpPr>
          <p:nvPr>
            <p:ph idx="1"/>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Civilization Name:</a:t>
            </a:r>
            <a:r>
              <a:rPr lang="en-US" sz="1800" dirty="0">
                <a:solidFill>
                  <a:srgbClr val="000000"/>
                </a:solidFill>
                <a:effectLst/>
                <a:latin typeface="Times New Roman" panose="02020603050405020304" pitchFamily="18" charset="0"/>
                <a:ea typeface="Times New Roman" panose="02020603050405020304" pitchFamily="18" charset="0"/>
              </a:rPr>
              <a:t> Indus Valley civilization</a:t>
            </a:r>
          </a:p>
          <a:p>
            <a:r>
              <a:rPr lang="en-US" sz="1800" b="1" dirty="0">
                <a:solidFill>
                  <a:srgbClr val="000000"/>
                </a:solidFill>
                <a:effectLst/>
                <a:latin typeface="Times New Roman" panose="02020603050405020304" pitchFamily="18" charset="0"/>
                <a:ea typeface="Times New Roman" panose="02020603050405020304" pitchFamily="18" charset="0"/>
              </a:rPr>
              <a:t>Period:</a:t>
            </a:r>
            <a:r>
              <a:rPr lang="en-US" sz="1800" dirty="0">
                <a:solidFill>
                  <a:srgbClr val="000000"/>
                </a:solidFill>
                <a:effectLst/>
                <a:latin typeface="Times New Roman" panose="02020603050405020304" pitchFamily="18" charset="0"/>
                <a:ea typeface="Times New Roman" panose="02020603050405020304" pitchFamily="18" charset="0"/>
              </a:rPr>
              <a:t> 3300 BC–1900 BC</a:t>
            </a:r>
          </a:p>
          <a:p>
            <a:r>
              <a:rPr lang="en-US" sz="1800" b="1" dirty="0">
                <a:solidFill>
                  <a:srgbClr val="000000"/>
                </a:solidFill>
                <a:effectLst/>
                <a:latin typeface="Times New Roman" panose="02020603050405020304" pitchFamily="18" charset="0"/>
                <a:ea typeface="Times New Roman" panose="02020603050405020304" pitchFamily="18" charset="0"/>
              </a:rPr>
              <a:t>Original Location:</a:t>
            </a:r>
            <a:r>
              <a:rPr lang="en-US" sz="1800" dirty="0">
                <a:solidFill>
                  <a:srgbClr val="000000"/>
                </a:solidFill>
                <a:effectLst/>
                <a:latin typeface="Times New Roman" panose="02020603050405020304" pitchFamily="18" charset="0"/>
                <a:ea typeface="Times New Roman" panose="02020603050405020304" pitchFamily="18" charset="0"/>
              </a:rPr>
              <a:t> Around the basin of the Indus River</a:t>
            </a:r>
          </a:p>
          <a:p>
            <a:r>
              <a:rPr lang="en-US" sz="1800" b="1" dirty="0">
                <a:solidFill>
                  <a:srgbClr val="000000"/>
                </a:solidFill>
                <a:effectLst/>
                <a:latin typeface="Times New Roman" panose="02020603050405020304" pitchFamily="18" charset="0"/>
                <a:ea typeface="Times New Roman" panose="02020603050405020304" pitchFamily="18" charset="0"/>
              </a:rPr>
              <a:t>Current Location:</a:t>
            </a:r>
            <a:r>
              <a:rPr lang="en-US" sz="1800" dirty="0">
                <a:solidFill>
                  <a:srgbClr val="000000"/>
                </a:solidFill>
                <a:effectLst/>
                <a:latin typeface="Times New Roman" panose="02020603050405020304" pitchFamily="18" charset="0"/>
                <a:ea typeface="Times New Roman" panose="02020603050405020304" pitchFamily="18" charset="0"/>
              </a:rPr>
              <a:t> Northeast Afghanistan </a:t>
            </a:r>
          </a:p>
          <a:p>
            <a:pPr marL="0" indent="0">
              <a:buNone/>
            </a:pPr>
            <a:r>
              <a:rPr lang="en-US" sz="1800" dirty="0">
                <a:solidFill>
                  <a:srgbClr val="000000"/>
                </a:solidFill>
                <a:effectLst/>
                <a:latin typeface="Times New Roman" panose="02020603050405020304" pitchFamily="18" charset="0"/>
                <a:ea typeface="Times New Roman" panose="02020603050405020304" pitchFamily="18" charset="0"/>
              </a:rPr>
              <a:t>to Pakistan and northwest India</a:t>
            </a:r>
          </a:p>
          <a:p>
            <a:r>
              <a:rPr lang="en-US" sz="1800" b="1" dirty="0">
                <a:solidFill>
                  <a:srgbClr val="000000"/>
                </a:solidFill>
                <a:effectLst/>
                <a:latin typeface="Times New Roman" panose="02020603050405020304" pitchFamily="18" charset="0"/>
                <a:ea typeface="Times New Roman" panose="02020603050405020304" pitchFamily="18" charset="0"/>
              </a:rPr>
              <a:t>Major Highlights:</a:t>
            </a:r>
            <a:r>
              <a:rPr lang="en-US" sz="1800" dirty="0">
                <a:solidFill>
                  <a:srgbClr val="000000"/>
                </a:solidFill>
                <a:effectLst/>
                <a:latin typeface="Times New Roman" panose="02020603050405020304" pitchFamily="18" charset="0"/>
                <a:ea typeface="Times New Roman" panose="02020603050405020304" pitchFamily="18" charset="0"/>
              </a:rPr>
              <a:t> One of the most widespread </a:t>
            </a:r>
          </a:p>
          <a:p>
            <a:pPr marL="0" indent="0">
              <a:buNone/>
            </a:pPr>
            <a:r>
              <a:rPr lang="en-US" sz="1800" dirty="0">
                <a:solidFill>
                  <a:srgbClr val="000000"/>
                </a:solidFill>
                <a:effectLst/>
                <a:latin typeface="Times New Roman" panose="02020603050405020304" pitchFamily="18" charset="0"/>
                <a:ea typeface="Times New Roman" panose="02020603050405020304" pitchFamily="18" charset="0"/>
              </a:rPr>
              <a:t>civilizations, covering 1.25 million km</a:t>
            </a:r>
            <a:endParaRPr lang="en-US" sz="1800" dirty="0">
              <a:effectLst/>
              <a:latin typeface="Times New Roman" panose="02020603050405020304" pitchFamily="18" charset="0"/>
              <a:ea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19570446-84BF-4ABA-B13B-2A1F58B6DD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5987" y="2015732"/>
            <a:ext cx="4876800" cy="3131455"/>
          </a:xfrm>
          <a:prstGeom prst="rect">
            <a:avLst/>
          </a:prstGeom>
        </p:spPr>
      </p:pic>
    </p:spTree>
    <p:extLst>
      <p:ext uri="{BB962C8B-B14F-4D97-AF65-F5344CB8AC3E}">
        <p14:creationId xmlns:p14="http://schemas.microsoft.com/office/powerpoint/2010/main" val="368423770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1033</TotalTime>
  <Words>1102</Words>
  <Application>Microsoft Office PowerPoint</Application>
  <PresentationFormat>Widescreen</PresentationFormat>
  <Paragraphs>105</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Gill Sans MT</vt:lpstr>
      <vt:lpstr>Symbol</vt:lpstr>
      <vt:lpstr>Times New Roman</vt:lpstr>
      <vt:lpstr>Gallery</vt:lpstr>
      <vt:lpstr>PowerPoint Presentation</vt:lpstr>
      <vt:lpstr>Purpose of Science?</vt:lpstr>
      <vt:lpstr>Introduction to Science</vt:lpstr>
      <vt:lpstr>Categorization of Science</vt:lpstr>
      <vt:lpstr>Importance of Social Sciences</vt:lpstr>
      <vt:lpstr>Social Sciences is all about…</vt:lpstr>
      <vt:lpstr>The Purpose of Social Sciences </vt:lpstr>
      <vt:lpstr>Understanding Social Sciences</vt:lpstr>
      <vt:lpstr>History of Human Beings</vt:lpstr>
      <vt:lpstr>Karl Marks’ Classes of History</vt:lpstr>
      <vt:lpstr>Purposes of History</vt:lpstr>
      <vt:lpstr>Emergence of Civilizations</vt:lpstr>
      <vt:lpstr>Ancient Civilizations</vt:lpstr>
      <vt:lpstr>The Mesopotamian Civilization</vt:lpstr>
      <vt:lpstr>The Ancient Egyptian Civilization</vt:lpstr>
      <vt:lpstr>The Indus Valley Civilization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Hafiz Computer CC</dc:creator>
  <cp:lastModifiedBy>Hafiz Computer CC</cp:lastModifiedBy>
  <cp:revision>25</cp:revision>
  <dcterms:created xsi:type="dcterms:W3CDTF">2022-01-31T10:38:23Z</dcterms:created>
  <dcterms:modified xsi:type="dcterms:W3CDTF">2023-01-25T06:14:11Z</dcterms:modified>
</cp:coreProperties>
</file>