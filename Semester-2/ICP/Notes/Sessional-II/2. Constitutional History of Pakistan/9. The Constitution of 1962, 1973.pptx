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0" r:id="rId5"/>
    <p:sldId id="261" r:id="rId6"/>
    <p:sldId id="262" r:id="rId7"/>
    <p:sldId id="259" r:id="rId8"/>
    <p:sldId id="267" r:id="rId9"/>
    <p:sldId id="265" r:id="rId10"/>
    <p:sldId id="266"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7" d="100"/>
          <a:sy n="67" d="100"/>
        </p:scale>
        <p:origin x="6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8102C7-2CB5-44D3-AA29-27E6629A8220}" type="datetimeFigureOut">
              <a:rPr lang="en-US" smtClean="0"/>
              <a:t>3/18/2024</a:t>
            </a:fld>
            <a:endParaRPr lang="en-US"/>
          </a:p>
        </p:txBody>
      </p:sp>
      <p:sp>
        <p:nvSpPr>
          <p:cNvPr id="5" name="Footer Placeholder 4"/>
          <p:cNvSpPr>
            <a:spLocks noGrp="1"/>
          </p:cNvSpPr>
          <p:nvPr>
            <p:ph type="ftr" sz="quarter" idx="11"/>
          </p:nvPr>
        </p:nvSpPr>
        <p:spPr>
          <a:xfrm>
            <a:off x="1451579" y="329307"/>
            <a:ext cx="5626774" cy="309201"/>
          </a:xfrm>
        </p:spPr>
        <p:txBody>
          <a:bodyPr/>
          <a:lstStyle/>
          <a:p>
            <a:endParaRPr lang="en-US"/>
          </a:p>
        </p:txBody>
      </p:sp>
      <p:sp>
        <p:nvSpPr>
          <p:cNvPr id="6" name="Slide Number Placeholder 5"/>
          <p:cNvSpPr>
            <a:spLocks noGrp="1"/>
          </p:cNvSpPr>
          <p:nvPr>
            <p:ph type="sldNum" sz="quarter" idx="12"/>
          </p:nvPr>
        </p:nvSpPr>
        <p:spPr>
          <a:xfrm>
            <a:off x="476834" y="798973"/>
            <a:ext cx="811019" cy="503578"/>
          </a:xfrm>
        </p:spPr>
        <p:txBody>
          <a:bodyPr/>
          <a:lstStyle/>
          <a:p>
            <a:fld id="{61141EE8-4349-41AD-820A-84BF54BAB23D}" type="slidenum">
              <a:rPr lang="en-US" smtClean="0"/>
              <a:t>‹#›</a:t>
            </a:fld>
            <a:endParaRPr lang="en-US"/>
          </a:p>
        </p:txBody>
      </p:sp>
    </p:spTree>
    <p:extLst>
      <p:ext uri="{BB962C8B-B14F-4D97-AF65-F5344CB8AC3E}">
        <p14:creationId xmlns:p14="http://schemas.microsoft.com/office/powerpoint/2010/main" val="563138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8102C7-2CB5-44D3-AA29-27E6629A8220}" type="datetimeFigureOut">
              <a:rPr lang="en-US" smtClean="0"/>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41EE8-4349-41AD-820A-84BF54BAB23D}" type="slidenum">
              <a:rPr lang="en-US" smtClean="0"/>
              <a:t>‹#›</a:t>
            </a:fld>
            <a:endParaRPr lang="en-US"/>
          </a:p>
        </p:txBody>
      </p:sp>
    </p:spTree>
    <p:extLst>
      <p:ext uri="{BB962C8B-B14F-4D97-AF65-F5344CB8AC3E}">
        <p14:creationId xmlns:p14="http://schemas.microsoft.com/office/powerpoint/2010/main" val="727299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8102C7-2CB5-44D3-AA29-27E6629A8220}" type="datetimeFigureOut">
              <a:rPr lang="en-US" smtClean="0"/>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41EE8-4349-41AD-820A-84BF54BAB23D}" type="slidenum">
              <a:rPr lang="en-US" smtClean="0"/>
              <a:t>‹#›</a:t>
            </a:fld>
            <a:endParaRPr lang="en-US"/>
          </a:p>
        </p:txBody>
      </p:sp>
    </p:spTree>
    <p:extLst>
      <p:ext uri="{BB962C8B-B14F-4D97-AF65-F5344CB8AC3E}">
        <p14:creationId xmlns:p14="http://schemas.microsoft.com/office/powerpoint/2010/main" val="3323896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8102C7-2CB5-44D3-AA29-27E6629A8220}" type="datetimeFigureOut">
              <a:rPr lang="en-US" smtClean="0"/>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141EE8-4349-41AD-820A-84BF54BAB23D}" type="slidenum">
              <a:rPr lang="en-US" smtClean="0"/>
              <a:t>‹#›</a:t>
            </a:fld>
            <a:endParaRPr lang="en-US"/>
          </a:p>
        </p:txBody>
      </p:sp>
    </p:spTree>
    <p:extLst>
      <p:ext uri="{BB962C8B-B14F-4D97-AF65-F5344CB8AC3E}">
        <p14:creationId xmlns:p14="http://schemas.microsoft.com/office/powerpoint/2010/main" val="1514408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8102C7-2CB5-44D3-AA29-27E6629A8220}" type="datetimeFigureOut">
              <a:rPr lang="en-US" smtClean="0"/>
              <a:t>3/18/2024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141EE8-4349-41AD-820A-84BF54BAB23D}" type="slidenum">
              <a:rPr lang="en-US" smtClean="0"/>
              <a:t>‹#›</a:t>
            </a:fld>
            <a:endParaRPr lang="en-US"/>
          </a:p>
        </p:txBody>
      </p:sp>
    </p:spTree>
    <p:extLst>
      <p:ext uri="{BB962C8B-B14F-4D97-AF65-F5344CB8AC3E}">
        <p14:creationId xmlns:p14="http://schemas.microsoft.com/office/powerpoint/2010/main" val="2020840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8102C7-2CB5-44D3-AA29-27E6629A8220}" type="datetimeFigureOut">
              <a:rPr lang="en-US" smtClean="0"/>
              <a:t>3/18/2024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141EE8-4349-41AD-820A-84BF54BAB23D}" type="slidenum">
              <a:rPr lang="en-US" smtClean="0"/>
              <a:t>‹#›</a:t>
            </a:fld>
            <a:endParaRPr lang="en-US"/>
          </a:p>
        </p:txBody>
      </p:sp>
    </p:spTree>
    <p:extLst>
      <p:ext uri="{BB962C8B-B14F-4D97-AF65-F5344CB8AC3E}">
        <p14:creationId xmlns:p14="http://schemas.microsoft.com/office/powerpoint/2010/main" val="3520673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8102C7-2CB5-44D3-AA29-27E6629A8220}" type="datetimeFigureOut">
              <a:rPr lang="en-US" smtClean="0"/>
              <a:t>3/18/2024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141EE8-4349-41AD-820A-84BF54BAB23D}" type="slidenum">
              <a:rPr lang="en-US" smtClean="0"/>
              <a:t>‹#›</a:t>
            </a:fld>
            <a:endParaRPr lang="en-US"/>
          </a:p>
        </p:txBody>
      </p:sp>
    </p:spTree>
    <p:extLst>
      <p:ext uri="{BB962C8B-B14F-4D97-AF65-F5344CB8AC3E}">
        <p14:creationId xmlns:p14="http://schemas.microsoft.com/office/powerpoint/2010/main" val="4085548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8102C7-2CB5-44D3-AA29-27E6629A8220}" type="datetimeFigureOut">
              <a:rPr lang="en-US" smtClean="0"/>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141EE8-4349-41AD-820A-84BF54BAB23D}" type="slidenum">
              <a:rPr lang="en-US" smtClean="0"/>
              <a:t>‹#›</a:t>
            </a:fld>
            <a:endParaRPr lang="en-US"/>
          </a:p>
        </p:txBody>
      </p:sp>
    </p:spTree>
    <p:extLst>
      <p:ext uri="{BB962C8B-B14F-4D97-AF65-F5344CB8AC3E}">
        <p14:creationId xmlns:p14="http://schemas.microsoft.com/office/powerpoint/2010/main" val="2408205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B8102C7-2CB5-44D3-AA29-27E6629A8220}" type="datetimeFigureOut">
              <a:rPr lang="en-US" smtClean="0"/>
              <a:t>3/18/2024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1141EE8-4349-41AD-820A-84BF54BAB23D}" type="slidenum">
              <a:rPr lang="en-US" smtClean="0"/>
              <a:t>‹#›</a:t>
            </a:fld>
            <a:endParaRPr lang="en-US"/>
          </a:p>
        </p:txBody>
      </p:sp>
    </p:spTree>
    <p:extLst>
      <p:ext uri="{BB962C8B-B14F-4D97-AF65-F5344CB8AC3E}">
        <p14:creationId xmlns:p14="http://schemas.microsoft.com/office/powerpoint/2010/main" val="475836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8102C7-2CB5-44D3-AA29-27E6629A8220}" type="datetimeFigureOut">
              <a:rPr lang="en-US" smtClean="0"/>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41EE8-4349-41AD-820A-84BF54BAB23D}" type="slidenum">
              <a:rPr lang="en-US" smtClean="0"/>
              <a:t>‹#›</a:t>
            </a:fld>
            <a:endParaRPr lang="en-US"/>
          </a:p>
        </p:txBody>
      </p:sp>
    </p:spTree>
    <p:extLst>
      <p:ext uri="{BB962C8B-B14F-4D97-AF65-F5344CB8AC3E}">
        <p14:creationId xmlns:p14="http://schemas.microsoft.com/office/powerpoint/2010/main" val="406550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8102C7-2CB5-44D3-AA29-27E6629A8220}" type="datetimeFigureOut">
              <a:rPr lang="en-US" smtClean="0"/>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141EE8-4349-41AD-820A-84BF54BAB23D}" type="slidenum">
              <a:rPr lang="en-US" smtClean="0"/>
              <a:t>‹#›</a:t>
            </a:fld>
            <a:endParaRPr lang="en-US"/>
          </a:p>
        </p:txBody>
      </p:sp>
    </p:spTree>
    <p:extLst>
      <p:ext uri="{BB962C8B-B14F-4D97-AF65-F5344CB8AC3E}">
        <p14:creationId xmlns:p14="http://schemas.microsoft.com/office/powerpoint/2010/main" val="1423755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B8102C7-2CB5-44D3-AA29-27E6629A8220}" type="datetimeFigureOut">
              <a:rPr lang="en-US" smtClean="0"/>
              <a:t>3/18/2024</a:t>
            </a:fld>
            <a:endParaRPr lang="en-US"/>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1141EE8-4349-41AD-820A-84BF54BAB23D}" type="slidenum">
              <a:rPr lang="en-US" smtClean="0"/>
              <a:t>‹#›</a:t>
            </a:fld>
            <a:endParaRPr lang="en-US"/>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0409825"/>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F66D4-CE74-47F7-9EFF-7AB503DD39A5}"/>
              </a:ext>
            </a:extLst>
          </p:cNvPr>
          <p:cNvSpPr>
            <a:spLocks noGrp="1"/>
          </p:cNvSpPr>
          <p:nvPr>
            <p:ph type="ctrTitle"/>
          </p:nvPr>
        </p:nvSpPr>
        <p:spPr>
          <a:xfrm>
            <a:off x="1774423" y="3008243"/>
            <a:ext cx="8637073" cy="714768"/>
          </a:xfrm>
        </p:spPr>
        <p:txBody>
          <a:bodyPr>
            <a:noAutofit/>
          </a:bodyPr>
          <a:lstStyle/>
          <a:p>
            <a:r>
              <a:rPr lang="en-US" sz="5400" b="1" dirty="0">
                <a:effectLst/>
                <a:latin typeface="Times New Roman" panose="02020603050405020304" pitchFamily="18" charset="0"/>
                <a:ea typeface="Calibri" panose="020F0502020204030204" pitchFamily="34" charset="0"/>
                <a:cs typeface="Times New Roman" panose="02020603050405020304" pitchFamily="18" charset="0"/>
              </a:rPr>
              <a:t>The constitution of 1962</a:t>
            </a:r>
            <a:endParaRPr lang="en-US" sz="5400" b="1" dirty="0"/>
          </a:p>
        </p:txBody>
      </p:sp>
      <p:sp>
        <p:nvSpPr>
          <p:cNvPr id="3" name="TextBox 2">
            <a:extLst>
              <a:ext uri="{FF2B5EF4-FFF2-40B4-BE49-F238E27FC236}">
                <a16:creationId xmlns:a16="http://schemas.microsoft.com/office/drawing/2014/main" id="{0BDC8C05-0417-16CE-5C90-05B97B08844D}"/>
              </a:ext>
            </a:extLst>
          </p:cNvPr>
          <p:cNvSpPr txBox="1"/>
          <p:nvPr/>
        </p:nvSpPr>
        <p:spPr>
          <a:xfrm>
            <a:off x="8160327" y="4475018"/>
            <a:ext cx="3311237" cy="369332"/>
          </a:xfrm>
          <a:prstGeom prst="rect">
            <a:avLst/>
          </a:prstGeom>
          <a:noFill/>
        </p:spPr>
        <p:txBody>
          <a:bodyPr wrap="square" rtlCol="0">
            <a:spAutoFit/>
          </a:bodyPr>
          <a:lstStyle/>
          <a:p>
            <a:r>
              <a:rPr lang="en-US" dirty="0"/>
              <a:t>By Muhammad Ajmal Khan</a:t>
            </a:r>
          </a:p>
        </p:txBody>
      </p:sp>
    </p:spTree>
    <p:extLst>
      <p:ext uri="{BB962C8B-B14F-4D97-AF65-F5344CB8AC3E}">
        <p14:creationId xmlns:p14="http://schemas.microsoft.com/office/powerpoint/2010/main" val="3219959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4EF7A-EE88-4840-BACE-237FDBB90DDA}"/>
              </a:ext>
            </a:extLst>
          </p:cNvPr>
          <p:cNvSpPr>
            <a:spLocks noGrp="1"/>
          </p:cNvSpPr>
          <p:nvPr>
            <p:ph type="title"/>
          </p:nvPr>
        </p:nvSpPr>
        <p:spPr>
          <a:xfrm>
            <a:off x="1450392" y="1026764"/>
            <a:ext cx="9291215" cy="729781"/>
          </a:xfrm>
        </p:spPr>
        <p:txBody>
          <a:bodyPr>
            <a:normAutofit/>
          </a:bodyPr>
          <a:lstStyle/>
          <a:p>
            <a:r>
              <a:rPr lang="en-US" sz="2800"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46C7A537-448F-4611-A70C-D75E365431F8}"/>
              </a:ext>
            </a:extLst>
          </p:cNvPr>
          <p:cNvSpPr>
            <a:spLocks noGrp="1"/>
          </p:cNvSpPr>
          <p:nvPr>
            <p:ph idx="1"/>
          </p:nvPr>
        </p:nvSpPr>
        <p:spPr/>
        <p:txBody>
          <a:bodyPr>
            <a:normAutofit/>
          </a:bodyPr>
          <a:lstStyle/>
          <a:p>
            <a:pPr marL="0" marR="0" algn="just">
              <a:lnSpc>
                <a:spcPct val="107000"/>
              </a:lnSpc>
              <a:spcBef>
                <a:spcPts val="0"/>
              </a:spcBef>
              <a:spcAft>
                <a:spcPts val="800"/>
              </a:spcAft>
            </a:pPr>
            <a:r>
              <a:rPr lang="en-US"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Background</a:t>
            </a:r>
            <a:r>
              <a:rPr lang="en-US" dirty="0">
                <a:effectLst/>
                <a:latin typeface="Times New Roman" panose="02020603050405020304" pitchFamily="18" charset="0"/>
                <a:ea typeface="Calibri" panose="020F0502020204030204" pitchFamily="34" charset="0"/>
                <a:cs typeface="Times New Roman" panose="02020603050405020304" pitchFamily="18" charset="0"/>
              </a:rPr>
              <a:t> On October 18</a:t>
            </a:r>
            <a:r>
              <a:rPr lang="en-US"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US" dirty="0">
                <a:effectLst/>
                <a:latin typeface="Times New Roman" panose="02020603050405020304" pitchFamily="18" charset="0"/>
                <a:ea typeface="Calibri" panose="020F0502020204030204" pitchFamily="34" charset="0"/>
                <a:cs typeface="Times New Roman" panose="02020603050405020304" pitchFamily="18" charset="0"/>
              </a:rPr>
              <a:t>, 1958, General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Ayub</a:t>
            </a:r>
            <a:r>
              <a:rPr lang="en-US" dirty="0">
                <a:effectLst/>
                <a:latin typeface="Times New Roman" panose="02020603050405020304" pitchFamily="18" charset="0"/>
                <a:ea typeface="Calibri" panose="020F0502020204030204" pitchFamily="34" charset="0"/>
                <a:cs typeface="Times New Roman" panose="02020603050405020304" pitchFamily="18" charset="0"/>
              </a:rPr>
              <a:t> Khan ended the two and half years period of democracy and promulgated Martial Law. Ayub Khan took the status of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Chief Martial Law Administrator</a:t>
            </a:r>
            <a:r>
              <a:rPr lang="en-US" dirty="0">
                <a:effectLst/>
                <a:latin typeface="Times New Roman" panose="02020603050405020304" pitchFamily="18" charset="0"/>
                <a:ea typeface="Calibri" panose="020F0502020204030204" pitchFamily="34" charset="0"/>
                <a:cs typeface="Times New Roman" panose="02020603050405020304" pitchFamily="18" charset="0"/>
              </a:rPr>
              <a:t> and banned all the political parties. The </a:t>
            </a:r>
            <a:r>
              <a:rPr lang="en-US" b="1" u="sng" dirty="0">
                <a:effectLst/>
                <a:latin typeface="Times New Roman" panose="02020603050405020304" pitchFamily="18" charset="0"/>
                <a:ea typeface="Calibri" panose="020F0502020204030204" pitchFamily="34" charset="0"/>
                <a:cs typeface="Times New Roman" panose="02020603050405020304" pitchFamily="18" charset="0"/>
              </a:rPr>
              <a:t>1956 constitution</a:t>
            </a:r>
            <a:r>
              <a:rPr lang="en-US" dirty="0">
                <a:effectLst/>
                <a:latin typeface="Times New Roman" panose="02020603050405020304" pitchFamily="18" charset="0"/>
                <a:ea typeface="Calibri" panose="020F0502020204030204" pitchFamily="34" charset="0"/>
                <a:cs typeface="Times New Roman" panose="02020603050405020304" pitchFamily="18" charset="0"/>
              </a:rPr>
              <a:t> was abolished and all the provincial and National assemblies were dissolved. </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Iskandar Mirza</a:t>
            </a:r>
            <a:r>
              <a:rPr lang="en-US" dirty="0">
                <a:effectLst/>
                <a:latin typeface="Times New Roman" panose="02020603050405020304" pitchFamily="18" charset="0"/>
                <a:ea typeface="Calibri" panose="020F0502020204030204" pitchFamily="34" charset="0"/>
                <a:cs typeface="Times New Roman" panose="02020603050405020304" pitchFamily="18" charset="0"/>
              </a:rPr>
              <a:t> was forced to leave the country.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Constitution Making Under President Ayub Khan:</a:t>
            </a:r>
            <a:r>
              <a:rPr lang="en-US" dirty="0">
                <a:effectLst/>
                <a:latin typeface="Times New Roman" panose="02020603050405020304" pitchFamily="18" charset="0"/>
                <a:ea typeface="Calibri" panose="020F0502020204030204" pitchFamily="34" charset="0"/>
                <a:cs typeface="Times New Roman" panose="02020603050405020304" pitchFamily="18" charset="0"/>
              </a:rPr>
              <a:t> On 17</a:t>
            </a:r>
            <a:r>
              <a:rPr lang="en-US"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US" dirty="0">
                <a:effectLst/>
                <a:latin typeface="Times New Roman" panose="02020603050405020304" pitchFamily="18" charset="0"/>
                <a:ea typeface="Calibri" panose="020F0502020204030204" pitchFamily="34" charset="0"/>
                <a:cs typeface="Times New Roman" panose="02020603050405020304" pitchFamily="18" charset="0"/>
              </a:rPr>
              <a:t> Feb 1960, a commission was made under the head of Justice Shahab-</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ud</a:t>
            </a:r>
            <a:r>
              <a:rPr lang="en-US" dirty="0">
                <a:effectLst/>
                <a:latin typeface="Times New Roman" panose="02020603050405020304" pitchFamily="18" charset="0"/>
                <a:ea typeface="Calibri" panose="020F0502020204030204" pitchFamily="34" charset="0"/>
                <a:cs typeface="Times New Roman" panose="02020603050405020304" pitchFamily="18" charset="0"/>
              </a:rPr>
              <a:t>-Din to frame a constitution of the country. After getting the president’s approval, the constitution was implemented in 1962.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71258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047BF-3721-409E-BF4B-182EBB7BB68C}"/>
              </a:ext>
            </a:extLst>
          </p:cNvPr>
          <p:cNvSpPr>
            <a:spLocks noGrp="1"/>
          </p:cNvSpPr>
          <p:nvPr>
            <p:ph type="title"/>
          </p:nvPr>
        </p:nvSpPr>
        <p:spPr>
          <a:xfrm>
            <a:off x="1451579" y="804519"/>
            <a:ext cx="9291215" cy="609789"/>
          </a:xfrm>
        </p:spPr>
        <p:txBody>
          <a:bodyPr>
            <a:normAutofit/>
          </a:bodyPr>
          <a:lstStyle/>
          <a:p>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Salient Features</a:t>
            </a:r>
            <a:endParaRPr lang="en-US" sz="2800" b="1" dirty="0"/>
          </a:p>
        </p:txBody>
      </p:sp>
      <p:sp>
        <p:nvSpPr>
          <p:cNvPr id="3" name="Content Placeholder 2">
            <a:extLst>
              <a:ext uri="{FF2B5EF4-FFF2-40B4-BE49-F238E27FC236}">
                <a16:creationId xmlns:a16="http://schemas.microsoft.com/office/drawing/2014/main" id="{44EF7498-5CCC-4DBC-A12D-A218B01B970C}"/>
              </a:ext>
            </a:extLst>
          </p:cNvPr>
          <p:cNvSpPr>
            <a:spLocks noGrp="1"/>
          </p:cNvSpPr>
          <p:nvPr>
            <p:ph idx="1"/>
          </p:nvPr>
        </p:nvSpPr>
        <p:spPr>
          <a:xfrm>
            <a:off x="795130" y="1694728"/>
            <a:ext cx="10601740" cy="3748964"/>
          </a:xfrm>
        </p:spPr>
        <p:txBody>
          <a:bodyPr>
            <a:noAutofit/>
          </a:bodyPr>
          <a:lstStyle/>
          <a:p>
            <a:pPr marL="342900" marR="0" lvl="0" indent="-342900" algn="just">
              <a:lnSpc>
                <a:spcPct val="107000"/>
              </a:lnSpc>
              <a:spcBef>
                <a:spcPts val="0"/>
              </a:spcBef>
              <a:spcAft>
                <a:spcPts val="0"/>
              </a:spcAft>
              <a:buFont typeface="+mj-lt"/>
              <a:buAutoNum type="arabicPeriod"/>
            </a:pPr>
            <a:r>
              <a:rPr lang="en-US"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Unicameral Parliament:</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latin typeface="Times New Roman" panose="02020603050405020304" pitchFamily="18" charset="0"/>
                <a:ea typeface="Calibri" panose="020F0502020204030204" pitchFamily="34" charset="0"/>
                <a:cs typeface="Times New Roman" panose="02020603050405020304" pitchFamily="18" charset="0"/>
              </a:rPr>
              <a:t>National Assembly</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US"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A Rigid Constitution:</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A presidential form of Government was imposed (State and government were given to the President)</a:t>
            </a:r>
          </a:p>
          <a:p>
            <a:pPr marL="342900" marR="0" lvl="0" indent="-342900" algn="just">
              <a:lnSpc>
                <a:spcPct val="107000"/>
              </a:lnSpc>
              <a:spcBef>
                <a:spcPts val="0"/>
              </a:spcBef>
              <a:spcAft>
                <a:spcPts val="0"/>
              </a:spcAft>
              <a:buFont typeface="+mj-lt"/>
              <a:buAutoNum type="arabicPeriod"/>
            </a:pPr>
            <a:r>
              <a:rPr lang="en-US"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Basic Democracy:</a:t>
            </a:r>
            <a:r>
              <a:rPr lang="en-US" dirty="0">
                <a:effectLst/>
                <a:latin typeface="Times New Roman" panose="02020603050405020304" pitchFamily="18" charset="0"/>
                <a:ea typeface="Calibri" panose="020F0502020204030204" pitchFamily="34" charset="0"/>
                <a:cs typeface="Times New Roman" panose="02020603050405020304" pitchFamily="18" charset="0"/>
              </a:rPr>
              <a:t> 80000-120000 democrats were supposed to elect the President indirectly.</a:t>
            </a:r>
          </a:p>
          <a:p>
            <a:pPr marL="342900" marR="0" lvl="0" indent="-342900" algn="just">
              <a:lnSpc>
                <a:spcPct val="107000"/>
              </a:lnSpc>
              <a:spcBef>
                <a:spcPts val="0"/>
              </a:spcBef>
              <a:spcAft>
                <a:spcPts val="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President was not accountable to anyone in the country. He could make his cabinet.</a:t>
            </a:r>
          </a:p>
          <a:p>
            <a:pPr marL="342900" marR="0" lvl="0" indent="-342900" algn="just">
              <a:lnSpc>
                <a:spcPct val="107000"/>
              </a:lnSpc>
              <a:spcBef>
                <a:spcPts val="0"/>
              </a:spcBef>
              <a:spcAft>
                <a:spcPts val="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President was considered the most powerful person in the legislature. He had the authority to pass or reject the bill. </a:t>
            </a:r>
          </a:p>
          <a:p>
            <a:pPr marL="342900" marR="0" lvl="0" indent="-342900" algn="just">
              <a:lnSpc>
                <a:spcPct val="107000"/>
              </a:lnSpc>
              <a:spcBef>
                <a:spcPts val="0"/>
              </a:spcBef>
              <a:spcAft>
                <a:spcPts val="800"/>
              </a:spcAft>
              <a:buFont typeface="+mj-lt"/>
              <a:buAutoNum type="arabicPeriod"/>
            </a:pPr>
            <a:r>
              <a:rPr lang="en-US"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Role of Judiciary:</a:t>
            </a:r>
            <a:r>
              <a:rPr lang="en-US" dirty="0">
                <a:effectLst/>
                <a:latin typeface="Times New Roman" panose="02020603050405020304" pitchFamily="18" charset="0"/>
                <a:ea typeface="Calibri" panose="020F0502020204030204" pitchFamily="34" charset="0"/>
                <a:cs typeface="Times New Roman" panose="02020603050405020304" pitchFamily="18" charset="0"/>
              </a:rPr>
              <a:t> He had the power to appoint the Judge of the Supreme Court, Attorney General, High officials, and civil bureaucracy. </a:t>
            </a:r>
          </a:p>
          <a:p>
            <a:pPr marL="342900" marR="0" lvl="0" indent="-342900" algn="just">
              <a:lnSpc>
                <a:spcPct val="107000"/>
              </a:lnSpc>
              <a:spcBef>
                <a:spcPts val="0"/>
              </a:spcBef>
              <a:spcAft>
                <a:spcPts val="0"/>
              </a:spcAft>
              <a:buFont typeface="+mj-lt"/>
              <a:buAutoNum type="arabicPeriod"/>
            </a:pPr>
            <a:r>
              <a:rPr lang="en-US"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Basic Rights:</a:t>
            </a:r>
            <a:r>
              <a:rPr lang="en-US" dirty="0">
                <a:effectLst/>
                <a:latin typeface="Times New Roman" panose="02020603050405020304" pitchFamily="18" charset="0"/>
                <a:ea typeface="Calibri" panose="020F0502020204030204" pitchFamily="34" charset="0"/>
                <a:cs typeface="Times New Roman" panose="02020603050405020304" pitchFamily="18" charset="0"/>
              </a:rPr>
              <a:t> Basic rights were not included in the constitution, later it was amended in 1963 and people were given their political, economic, and social rights.</a:t>
            </a:r>
          </a:p>
          <a:p>
            <a:pPr marL="342900" marR="0" lvl="0" indent="-342900" algn="just">
              <a:lnSpc>
                <a:spcPct val="107000"/>
              </a:lnSpc>
              <a:spcBef>
                <a:spcPts val="0"/>
              </a:spcBef>
              <a:spcAft>
                <a:spcPts val="800"/>
              </a:spcAft>
              <a:buFont typeface="+mj-lt"/>
              <a:buAutoNum type="arabicPeriod"/>
            </a:pPr>
            <a:r>
              <a:rPr lang="en-US"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Federal Constitution:</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a:effectLst/>
                <a:latin typeface="Times New Roman" panose="02020603050405020304" pitchFamily="18" charset="0"/>
                <a:ea typeface="Calibri" panose="020F0502020204030204" pitchFamily="34" charset="0"/>
                <a:cs typeface="Times New Roman" panose="02020603050405020304" pitchFamily="18" charset="0"/>
              </a:rPr>
              <a:t>The constitution was federal in nature and the country was comprised of two provinces: East Pakistan and West Pakistan. But the federal became stronger than earlier. </a:t>
            </a:r>
          </a:p>
          <a:p>
            <a:pPr marL="342900" marR="0" lvl="0" indent="-342900" algn="just">
              <a:lnSpc>
                <a:spcPct val="107000"/>
              </a:lnSpc>
              <a:spcBef>
                <a:spcPts val="0"/>
              </a:spcBef>
              <a:spcAft>
                <a:spcPts val="800"/>
              </a:spcAft>
              <a:buFont typeface="+mj-lt"/>
              <a:buAutoNum type="arabicPeriod"/>
            </a:pP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0881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7C863-CD75-43B2-85D5-133B7E2F0E65}"/>
              </a:ext>
            </a:extLst>
          </p:cNvPr>
          <p:cNvSpPr>
            <a:spLocks noGrp="1"/>
          </p:cNvSpPr>
          <p:nvPr>
            <p:ph type="title"/>
          </p:nvPr>
        </p:nvSpPr>
        <p:spPr>
          <a:xfrm>
            <a:off x="1451579" y="1199042"/>
            <a:ext cx="9291215" cy="703277"/>
          </a:xfrm>
        </p:spPr>
        <p:txBody>
          <a:bodyPr>
            <a:normAutofit/>
          </a:bodyPr>
          <a:lstStyle/>
          <a:p>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Islamic provisions of the 1962 Constitution </a:t>
            </a:r>
            <a:endParaRPr lang="en-US" sz="2800" dirty="0"/>
          </a:p>
        </p:txBody>
      </p:sp>
      <p:sp>
        <p:nvSpPr>
          <p:cNvPr id="3" name="Content Placeholder 2">
            <a:extLst>
              <a:ext uri="{FF2B5EF4-FFF2-40B4-BE49-F238E27FC236}">
                <a16:creationId xmlns:a16="http://schemas.microsoft.com/office/drawing/2014/main" id="{00C9CA7D-49C1-4027-9666-8CA5C6D375B8}"/>
              </a:ext>
            </a:extLst>
          </p:cNvPr>
          <p:cNvSpPr>
            <a:spLocks noGrp="1"/>
          </p:cNvSpPr>
          <p:nvPr>
            <p:ph idx="1"/>
          </p:nvPr>
        </p:nvSpPr>
        <p:spPr/>
        <p:txBody>
          <a:bodyPr>
            <a:normAutofit/>
          </a:bodyPr>
          <a:lstStyle/>
          <a:p>
            <a:pPr marL="342900" marR="0" lvl="0" indent="-342900" algn="just">
              <a:lnSpc>
                <a:spcPct val="107000"/>
              </a:lnSpc>
              <a:spcBef>
                <a:spcPts val="0"/>
              </a:spcBef>
              <a:spcAft>
                <a:spcPts val="0"/>
              </a:spcAft>
              <a:buFont typeface="+mj-lt"/>
              <a:buAutoNum type="romanLcPeriod"/>
            </a:pPr>
            <a:r>
              <a:rPr lang="en-US" b="1" dirty="0">
                <a:solidFill>
                  <a:schemeClr val="accent2">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God’s Sovereignty</a:t>
            </a:r>
            <a:r>
              <a:rPr lang="en-US" dirty="0">
                <a:effectLst/>
                <a:latin typeface="Times New Roman" panose="02020603050405020304" pitchFamily="18" charset="0"/>
                <a:ea typeface="Calibri" panose="020F0502020204030204" pitchFamily="34" charset="0"/>
                <a:cs typeface="Times New Roman" panose="02020603050405020304" pitchFamily="18" charset="0"/>
              </a:rPr>
              <a:t> was proclaimed as the basic principle.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romanL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Pakistan was declared as Islamic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Jamhuria</a:t>
            </a:r>
            <a:r>
              <a:rPr lang="en-US" dirty="0">
                <a:effectLst/>
                <a:latin typeface="Times New Roman" panose="02020603050405020304" pitchFamily="18" charset="0"/>
                <a:ea typeface="Calibri" panose="020F0502020204030204" pitchFamily="34" charset="0"/>
                <a:cs typeface="Times New Roman" panose="02020603050405020304" pitchFamily="18" charset="0"/>
              </a:rPr>
              <a:t> Pakistan.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romanL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President must be a Muslim.</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romanL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No law against the Islamic rules would be enforced.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romanL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Islamic Counselling Commission was established to give suggestions to the President.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romanL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Friendly relations should be made with the Islamic Countries.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65510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A5003-6743-4C02-BF15-B60E2A8AC3AB}"/>
              </a:ext>
            </a:extLst>
          </p:cNvPr>
          <p:cNvSpPr>
            <a:spLocks noGrp="1"/>
          </p:cNvSpPr>
          <p:nvPr>
            <p:ph type="title"/>
          </p:nvPr>
        </p:nvSpPr>
        <p:spPr/>
        <p:txBody>
          <a:bodyPr>
            <a:normAutofit/>
          </a:bodyPr>
          <a:lstStyle/>
          <a:p>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Critical Analysis</a:t>
            </a:r>
            <a:endParaRPr lang="en-US" sz="2800" dirty="0"/>
          </a:p>
        </p:txBody>
      </p:sp>
      <p:sp>
        <p:nvSpPr>
          <p:cNvPr id="3" name="Content Placeholder 2">
            <a:extLst>
              <a:ext uri="{FF2B5EF4-FFF2-40B4-BE49-F238E27FC236}">
                <a16:creationId xmlns:a16="http://schemas.microsoft.com/office/drawing/2014/main" id="{B30CA704-9492-4F8F-B471-967414096CC4}"/>
              </a:ext>
            </a:extLst>
          </p:cNvPr>
          <p:cNvSpPr>
            <a:spLocks noGrp="1"/>
          </p:cNvSpPr>
          <p:nvPr>
            <p:ph idx="1"/>
          </p:nvPr>
        </p:nvSpPr>
        <p:spPr/>
        <p:txBody>
          <a:bodyPr>
            <a:normAutofit/>
          </a:bodyPr>
          <a:lstStyle/>
          <a:p>
            <a:pPr marL="228600" marR="0" algn="just">
              <a:lnSpc>
                <a:spcPct val="107000"/>
              </a:lnSpc>
              <a:spcBef>
                <a:spcPts val="0"/>
              </a:spcBef>
              <a:spcAft>
                <a:spcPts val="80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Constitution was dictatorial in character.</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07000"/>
              </a:lnSpc>
              <a:spcBef>
                <a:spcPts val="0"/>
              </a:spcBef>
              <a:spcAft>
                <a:spcPts val="80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president was more powerful than the president of America.</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07000"/>
              </a:lnSpc>
              <a:spcBef>
                <a:spcPts val="0"/>
              </a:spcBef>
              <a:spcAft>
                <a:spcPts val="80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In 1968 the people came out in the streets and revolted against the undemocratic government of General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Ayub</a:t>
            </a:r>
            <a:r>
              <a:rPr lang="en-US" dirty="0">
                <a:effectLst/>
                <a:latin typeface="Times New Roman" panose="02020603050405020304" pitchFamily="18" charset="0"/>
                <a:ea typeface="Calibri" panose="020F0502020204030204" pitchFamily="34" charset="0"/>
                <a:cs typeface="Times New Roman" panose="02020603050405020304" pitchFamily="18" charset="0"/>
              </a:rPr>
              <a:t> Khan.</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07000"/>
              </a:lnSpc>
              <a:spcBef>
                <a:spcPts val="0"/>
              </a:spcBef>
              <a:spcAft>
                <a:spcPts val="80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After having failed to calm down the political situation, Ayub Khan decided to step down on March 25, 1969, and handed over the power to Yahya Khan who declared the 3</a:t>
            </a:r>
            <a:r>
              <a:rPr lang="en-US" baseline="30000" dirty="0">
                <a:effectLst/>
                <a:latin typeface="Times New Roman" panose="02020603050405020304" pitchFamily="18" charset="0"/>
                <a:ea typeface="Calibri" panose="020F0502020204030204" pitchFamily="34" charset="0"/>
                <a:cs typeface="Times New Roman" panose="02020603050405020304" pitchFamily="18" charset="0"/>
              </a:rPr>
              <a:t>rd</a:t>
            </a:r>
            <a:r>
              <a:rPr lang="en-US" dirty="0">
                <a:effectLst/>
                <a:latin typeface="Times New Roman" panose="02020603050405020304" pitchFamily="18" charset="0"/>
                <a:ea typeface="Calibri" panose="020F0502020204030204" pitchFamily="34" charset="0"/>
                <a:cs typeface="Times New Roman" panose="02020603050405020304" pitchFamily="18" charset="0"/>
              </a:rPr>
              <a:t> Martial Law in the country.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221860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4805-C164-420E-97CE-B65D0CDAE3BD}"/>
              </a:ext>
            </a:extLst>
          </p:cNvPr>
          <p:cNvSpPr>
            <a:spLocks noGrp="1"/>
          </p:cNvSpPr>
          <p:nvPr>
            <p:ph type="title"/>
          </p:nvPr>
        </p:nvSpPr>
        <p:spPr>
          <a:xfrm>
            <a:off x="1450392" y="2281529"/>
            <a:ext cx="9291215" cy="1049235"/>
          </a:xfrm>
        </p:spPr>
        <p:txBody>
          <a:bodyPr>
            <a:normAutofit fontScale="90000"/>
          </a:bodyPr>
          <a:lstStyle/>
          <a:p>
            <a:r>
              <a:rPr lang="en-US" sz="5400" b="1" dirty="0">
                <a:latin typeface="Times New Roman" panose="02020603050405020304" pitchFamily="18" charset="0"/>
                <a:cs typeface="Times New Roman" panose="02020603050405020304" pitchFamily="18" charset="0"/>
              </a:rPr>
              <a:t>The Constitution of </a:t>
            </a:r>
            <a:br>
              <a:rPr lang="en-US" sz="5400" b="1" dirty="0">
                <a:latin typeface="Times New Roman" panose="02020603050405020304" pitchFamily="18" charset="0"/>
                <a:cs typeface="Times New Roman" panose="02020603050405020304" pitchFamily="18" charset="0"/>
              </a:rPr>
            </a:br>
            <a:r>
              <a:rPr lang="en-US" sz="5400" b="1" dirty="0">
                <a:latin typeface="Times New Roman" panose="02020603050405020304" pitchFamily="18" charset="0"/>
                <a:cs typeface="Times New Roman" panose="02020603050405020304" pitchFamily="18" charset="0"/>
              </a:rPr>
              <a:t>1973</a:t>
            </a:r>
          </a:p>
        </p:txBody>
      </p:sp>
    </p:spTree>
    <p:extLst>
      <p:ext uri="{BB962C8B-B14F-4D97-AF65-F5344CB8AC3E}">
        <p14:creationId xmlns:p14="http://schemas.microsoft.com/office/powerpoint/2010/main" val="1758742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964B3-AD01-47C5-A020-1F817A12B1DC}"/>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54524D1-DE43-4860-947D-7BA4AB23739F}"/>
              </a:ext>
            </a:extLst>
          </p:cNvPr>
          <p:cNvSpPr>
            <a:spLocks noGrp="1"/>
          </p:cNvSpPr>
          <p:nvPr>
            <p:ph idx="1"/>
          </p:nvPr>
        </p:nvSpPr>
        <p:spPr/>
        <p:txBody>
          <a:bodyPr/>
          <a:lstStyle/>
          <a:p>
            <a:pPr algn="just"/>
            <a:r>
              <a:rPr lang="en-US" b="1" u="sng" dirty="0">
                <a:solidFill>
                  <a:schemeClr val="accent2">
                    <a:lumMod val="75000"/>
                  </a:schemeClr>
                </a:solidFill>
              </a:rPr>
              <a:t>Background</a:t>
            </a:r>
            <a:r>
              <a:rPr lang="en-US" b="1" dirty="0"/>
              <a:t> </a:t>
            </a:r>
            <a:r>
              <a:rPr lang="en-US" dirty="0"/>
              <a:t>After the debacle of 1971, the country faced serious political issues in terms of revolts and criticism. The ideology of Pakistan was challenged by external factors. In such an unstable scenario, Zulfiqar Ali presented the 1973 constitution on April 10, 1973, and implemented it on 14</a:t>
            </a:r>
            <a:r>
              <a:rPr lang="en-US" baseline="30000" dirty="0"/>
              <a:t>th</a:t>
            </a:r>
            <a:r>
              <a:rPr lang="en-US" dirty="0"/>
              <a:t> August 1973. </a:t>
            </a:r>
            <a:endParaRPr lang="en-US" b="1" dirty="0"/>
          </a:p>
        </p:txBody>
      </p:sp>
    </p:spTree>
    <p:extLst>
      <p:ext uri="{BB962C8B-B14F-4D97-AF65-F5344CB8AC3E}">
        <p14:creationId xmlns:p14="http://schemas.microsoft.com/office/powerpoint/2010/main" val="2762268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Salient Features</a:t>
            </a:r>
          </a:p>
        </p:txBody>
      </p:sp>
      <p:sp>
        <p:nvSpPr>
          <p:cNvPr id="3" name="Content Placeholder 2"/>
          <p:cNvSpPr>
            <a:spLocks noGrp="1"/>
          </p:cNvSpPr>
          <p:nvPr>
            <p:ph sz="half" idx="1"/>
          </p:nvPr>
        </p:nvSpPr>
        <p:spPr/>
        <p:txBody>
          <a:bodyPr/>
          <a:lstStyle/>
          <a:p>
            <a:r>
              <a:rPr lang="en-US" dirty="0"/>
              <a:t>Parliamentary Nature of the Government:</a:t>
            </a:r>
          </a:p>
          <a:p>
            <a:r>
              <a:rPr lang="en-US" dirty="0"/>
              <a:t>The President</a:t>
            </a:r>
          </a:p>
          <a:p>
            <a:r>
              <a:rPr lang="en-US" dirty="0"/>
              <a:t>The Prime Minister</a:t>
            </a:r>
          </a:p>
          <a:p>
            <a:r>
              <a:rPr lang="en-US" dirty="0"/>
              <a:t>Democratic Character of the Constitution</a:t>
            </a:r>
          </a:p>
          <a:p>
            <a:r>
              <a:rPr lang="en-US" dirty="0"/>
              <a:t>Written Constitution</a:t>
            </a:r>
          </a:p>
          <a:p>
            <a:endParaRPr lang="en-US" dirty="0"/>
          </a:p>
        </p:txBody>
      </p:sp>
      <p:sp>
        <p:nvSpPr>
          <p:cNvPr id="4" name="Content Placeholder 3"/>
          <p:cNvSpPr>
            <a:spLocks noGrp="1"/>
          </p:cNvSpPr>
          <p:nvPr>
            <p:ph sz="half" idx="2"/>
          </p:nvPr>
        </p:nvSpPr>
        <p:spPr/>
        <p:txBody>
          <a:bodyPr/>
          <a:lstStyle/>
          <a:p>
            <a:r>
              <a:rPr lang="en-US" dirty="0"/>
              <a:t>Bicameral Legislature</a:t>
            </a:r>
          </a:p>
          <a:p>
            <a:r>
              <a:rPr lang="en-US" dirty="0"/>
              <a:t>The Senate</a:t>
            </a:r>
          </a:p>
          <a:p>
            <a:r>
              <a:rPr lang="en-US" dirty="0"/>
              <a:t>Provincial Assemblies</a:t>
            </a:r>
          </a:p>
          <a:p>
            <a:r>
              <a:rPr lang="en-US" dirty="0"/>
              <a:t>The Judicial Structure</a:t>
            </a:r>
          </a:p>
          <a:p>
            <a:r>
              <a:rPr lang="en-US" dirty="0"/>
              <a:t>Federal Nature</a:t>
            </a:r>
          </a:p>
          <a:p>
            <a:endParaRPr lang="en-US" dirty="0"/>
          </a:p>
        </p:txBody>
      </p:sp>
    </p:spTree>
    <p:extLst>
      <p:ext uri="{BB962C8B-B14F-4D97-AF65-F5344CB8AC3E}">
        <p14:creationId xmlns:p14="http://schemas.microsoft.com/office/powerpoint/2010/main" val="1852872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A6FE8-D266-4E68-8FC9-A9205938E3CC}"/>
              </a:ext>
            </a:extLst>
          </p:cNvPr>
          <p:cNvSpPr>
            <a:spLocks noGrp="1"/>
          </p:cNvSpPr>
          <p:nvPr>
            <p:ph type="title"/>
          </p:nvPr>
        </p:nvSpPr>
        <p:spPr/>
        <p:txBody>
          <a:bodyPr/>
          <a:lstStyle/>
          <a:p>
            <a:r>
              <a:rPr lang="en-US" dirty="0"/>
              <a:t>Islamic Provisions of the Constitution</a:t>
            </a:r>
          </a:p>
        </p:txBody>
      </p:sp>
      <p:sp>
        <p:nvSpPr>
          <p:cNvPr id="3" name="Content Placeholder 2">
            <a:extLst>
              <a:ext uri="{FF2B5EF4-FFF2-40B4-BE49-F238E27FC236}">
                <a16:creationId xmlns:a16="http://schemas.microsoft.com/office/drawing/2014/main" id="{C9D42447-FDCC-47AA-A1F9-42CF30F5A323}"/>
              </a:ext>
            </a:extLst>
          </p:cNvPr>
          <p:cNvSpPr>
            <a:spLocks noGrp="1"/>
          </p:cNvSpPr>
          <p:nvPr>
            <p:ph idx="1"/>
          </p:nvPr>
        </p:nvSpPr>
        <p:spPr/>
        <p:txBody>
          <a:bodyPr>
            <a:normAutofit/>
          </a:bodyPr>
          <a:lstStyle/>
          <a:p>
            <a:r>
              <a:rPr lang="en-US" dirty="0"/>
              <a:t>State Religion: Islam</a:t>
            </a:r>
          </a:p>
          <a:p>
            <a:r>
              <a:rPr lang="en-US" dirty="0"/>
              <a:t>Name of the Country: Islamic Republic of Pakistan</a:t>
            </a:r>
          </a:p>
          <a:p>
            <a:r>
              <a:rPr lang="en-US" dirty="0"/>
              <a:t>Islamic Ways of Life: Quran and </a:t>
            </a:r>
            <a:r>
              <a:rPr lang="en-US" dirty="0" err="1"/>
              <a:t>Sunnah</a:t>
            </a:r>
            <a:endParaRPr lang="en-US" dirty="0"/>
          </a:p>
          <a:p>
            <a:r>
              <a:rPr lang="en-US" dirty="0"/>
              <a:t>PM and President: Muslims</a:t>
            </a:r>
          </a:p>
          <a:p>
            <a:r>
              <a:rPr lang="en-US" dirty="0"/>
              <a:t>Pakistan Society: According to Islamic Principles</a:t>
            </a:r>
          </a:p>
          <a:p>
            <a:r>
              <a:rPr lang="en-US" dirty="0"/>
              <a:t>Islamic Values</a:t>
            </a:r>
          </a:p>
          <a:p>
            <a:r>
              <a:rPr lang="en-US" dirty="0"/>
              <a:t>Council of Islamic Ideology</a:t>
            </a:r>
          </a:p>
        </p:txBody>
      </p:sp>
    </p:spTree>
    <p:extLst>
      <p:ext uri="{BB962C8B-B14F-4D97-AF65-F5344CB8AC3E}">
        <p14:creationId xmlns:p14="http://schemas.microsoft.com/office/powerpoint/2010/main" val="3069370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AB463-D062-4FB2-9E21-96FDC2EC992D}"/>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Amendments in 1973 Constitution</a:t>
            </a:r>
          </a:p>
        </p:txBody>
      </p:sp>
      <p:sp>
        <p:nvSpPr>
          <p:cNvPr id="3" name="Content Placeholder 2">
            <a:extLst>
              <a:ext uri="{FF2B5EF4-FFF2-40B4-BE49-F238E27FC236}">
                <a16:creationId xmlns:a16="http://schemas.microsoft.com/office/drawing/2014/main" id="{ED74FE96-FC4F-44B3-BC55-1A67C70FFB98}"/>
              </a:ext>
            </a:extLst>
          </p:cNvPr>
          <p:cNvSpPr>
            <a:spLocks noGrp="1"/>
          </p:cNvSpPr>
          <p:nvPr>
            <p:ph idx="1"/>
          </p:nvPr>
        </p:nvSpPr>
        <p:spPr/>
        <p:txBody>
          <a:bodyPr>
            <a:normAutofit fontScale="92500" lnSpcReduction="10000"/>
          </a:bodyPr>
          <a:lstStyle/>
          <a:p>
            <a:r>
              <a:rPr lang="en-US" sz="1800" b="1" u="sng" dirty="0">
                <a:latin typeface="Times New Roman" panose="02020603050405020304" pitchFamily="18" charset="0"/>
                <a:cs typeface="Times New Roman" panose="02020603050405020304" pitchFamily="18" charset="0"/>
              </a:rPr>
              <a:t>1</a:t>
            </a:r>
            <a:r>
              <a:rPr lang="en-US" sz="1800" b="1" u="sng" baseline="30000" dirty="0">
                <a:latin typeface="Times New Roman" panose="02020603050405020304" pitchFamily="18" charset="0"/>
                <a:cs typeface="Times New Roman" panose="02020603050405020304" pitchFamily="18" charset="0"/>
              </a:rPr>
              <a:t>st</a:t>
            </a:r>
            <a:r>
              <a:rPr lang="en-US" sz="1800" b="1" u="sng" dirty="0">
                <a:latin typeface="Times New Roman" panose="02020603050405020304" pitchFamily="18" charset="0"/>
                <a:cs typeface="Times New Roman" panose="02020603050405020304" pitchFamily="18" charset="0"/>
              </a:rPr>
              <a:t> Amendment: </a:t>
            </a:r>
            <a:r>
              <a:rPr lang="en-US" sz="1800" dirty="0">
                <a:latin typeface="Times New Roman" panose="02020603050405020304" pitchFamily="18" charset="0"/>
                <a:cs typeface="Times New Roman" panose="02020603050405020304" pitchFamily="18" charset="0"/>
              </a:rPr>
              <a:t>Geographical settlement</a:t>
            </a:r>
          </a:p>
          <a:p>
            <a:r>
              <a:rPr lang="en-US" sz="1800" b="1" u="sng" dirty="0">
                <a:latin typeface="Times New Roman" panose="02020603050405020304" pitchFamily="18" charset="0"/>
                <a:cs typeface="Times New Roman" panose="02020603050405020304" pitchFamily="18" charset="0"/>
              </a:rPr>
              <a:t>2</a:t>
            </a:r>
            <a:r>
              <a:rPr lang="en-US" sz="1800" b="1" u="sng" baseline="30000" dirty="0">
                <a:latin typeface="Times New Roman" panose="02020603050405020304" pitchFamily="18" charset="0"/>
                <a:cs typeface="Times New Roman" panose="02020603050405020304" pitchFamily="18" charset="0"/>
              </a:rPr>
              <a:t>nd</a:t>
            </a:r>
            <a:r>
              <a:rPr lang="en-US" sz="1800" b="1" u="sng" dirty="0">
                <a:latin typeface="Times New Roman" panose="02020603050405020304" pitchFamily="18" charset="0"/>
                <a:cs typeface="Times New Roman" panose="02020603050405020304" pitchFamily="18" charset="0"/>
              </a:rPr>
              <a:t> Amendment: </a:t>
            </a:r>
            <a:r>
              <a:rPr lang="en-US" sz="1800" dirty="0">
                <a:latin typeface="Times New Roman" panose="02020603050405020304" pitchFamily="18" charset="0"/>
                <a:cs typeface="Times New Roman" panose="02020603050405020304" pitchFamily="18" charset="0"/>
              </a:rPr>
              <a:t>Declared Ahmadi as Non-Muslims</a:t>
            </a:r>
            <a:endParaRPr lang="en-US" sz="1800" b="1" u="sng" dirty="0">
              <a:latin typeface="Times New Roman" panose="02020603050405020304" pitchFamily="18" charset="0"/>
              <a:cs typeface="Times New Roman" panose="02020603050405020304" pitchFamily="18" charset="0"/>
            </a:endParaRPr>
          </a:p>
          <a:p>
            <a:r>
              <a:rPr lang="en-US" sz="1800" b="1" u="sng" dirty="0">
                <a:latin typeface="Times New Roman" panose="02020603050405020304" pitchFamily="18" charset="0"/>
                <a:cs typeface="Times New Roman" panose="02020603050405020304" pitchFamily="18" charset="0"/>
              </a:rPr>
              <a:t>8</a:t>
            </a:r>
            <a:r>
              <a:rPr lang="en-US" sz="1800" b="1" u="sng" baseline="30000" dirty="0">
                <a:latin typeface="Times New Roman" panose="02020603050405020304" pitchFamily="18" charset="0"/>
                <a:cs typeface="Times New Roman" panose="02020603050405020304" pitchFamily="18" charset="0"/>
              </a:rPr>
              <a:t>th</a:t>
            </a:r>
            <a:r>
              <a:rPr lang="en-US" sz="1800" b="1" u="sng" dirty="0">
                <a:latin typeface="Times New Roman" panose="02020603050405020304" pitchFamily="18" charset="0"/>
                <a:cs typeface="Times New Roman" panose="02020603050405020304" pitchFamily="18" charset="0"/>
              </a:rPr>
              <a:t> Amendment: </a:t>
            </a:r>
            <a:r>
              <a:rPr lang="en-US" sz="1800" dirty="0">
                <a:latin typeface="Times New Roman" panose="02020603050405020304" pitchFamily="18" charset="0"/>
                <a:cs typeface="Times New Roman" panose="02020603050405020304" pitchFamily="18" charset="0"/>
              </a:rPr>
              <a:t>Powers were given to the President under </a:t>
            </a:r>
            <a:r>
              <a:rPr lang="en-US" sz="1800" b="1" u="sng" dirty="0">
                <a:latin typeface="Times New Roman" panose="02020603050405020304" pitchFamily="18" charset="0"/>
                <a:cs typeface="Times New Roman" panose="02020603050405020304" pitchFamily="18" charset="0"/>
              </a:rPr>
              <a:t>Article</a:t>
            </a:r>
            <a:r>
              <a:rPr lang="en-US" sz="1800" u="sng" dirty="0">
                <a:latin typeface="Times New Roman" panose="02020603050405020304" pitchFamily="18" charset="0"/>
                <a:cs typeface="Times New Roman" panose="02020603050405020304" pitchFamily="18" charset="0"/>
              </a:rPr>
              <a:t> </a:t>
            </a:r>
            <a:r>
              <a:rPr lang="en-US" sz="1800" b="1" u="sng" dirty="0">
                <a:latin typeface="Times New Roman" panose="02020603050405020304" pitchFamily="18" charset="0"/>
                <a:cs typeface="Times New Roman" panose="02020603050405020304" pitchFamily="18" charset="0"/>
              </a:rPr>
              <a:t>58 (2)b </a:t>
            </a:r>
            <a:r>
              <a:rPr lang="en-US" sz="1800" dirty="0">
                <a:latin typeface="Times New Roman" panose="02020603050405020304" pitchFamily="18" charset="0"/>
                <a:cs typeface="Times New Roman" panose="02020603050405020304" pitchFamily="18" charset="0"/>
              </a:rPr>
              <a:t>(Parliamentary system to Semi Presidential System)</a:t>
            </a:r>
          </a:p>
          <a:p>
            <a:r>
              <a:rPr lang="en-US" sz="1800" b="1" u="sng" dirty="0">
                <a:latin typeface="Times New Roman" panose="02020603050405020304" pitchFamily="18" charset="0"/>
                <a:cs typeface="Times New Roman" panose="02020603050405020304" pitchFamily="18" charset="0"/>
              </a:rPr>
              <a:t>13</a:t>
            </a:r>
            <a:r>
              <a:rPr lang="en-US" sz="1800" b="1" u="sng" baseline="30000" dirty="0">
                <a:latin typeface="Times New Roman" panose="02020603050405020304" pitchFamily="18" charset="0"/>
                <a:cs typeface="Times New Roman" panose="02020603050405020304" pitchFamily="18" charset="0"/>
              </a:rPr>
              <a:t>th</a:t>
            </a:r>
            <a:r>
              <a:rPr lang="en-US" sz="1800" b="1" u="sng" dirty="0">
                <a:latin typeface="Times New Roman" panose="02020603050405020304" pitchFamily="18" charset="0"/>
                <a:cs typeface="Times New Roman" panose="02020603050405020304" pitchFamily="18" charset="0"/>
              </a:rPr>
              <a:t> Amendment: </a:t>
            </a:r>
            <a:r>
              <a:rPr lang="en-US" sz="1800" dirty="0">
                <a:latin typeface="Times New Roman" panose="02020603050405020304" pitchFamily="18" charset="0"/>
                <a:cs typeface="Times New Roman" panose="02020603050405020304" pitchFamily="18" charset="0"/>
              </a:rPr>
              <a:t>President’s powers were reduced</a:t>
            </a:r>
            <a:endParaRPr lang="en-US" sz="1800" b="1" u="sng" dirty="0">
              <a:latin typeface="Times New Roman" panose="02020603050405020304" pitchFamily="18" charset="0"/>
              <a:cs typeface="Times New Roman" panose="02020603050405020304" pitchFamily="18" charset="0"/>
            </a:endParaRPr>
          </a:p>
          <a:p>
            <a:r>
              <a:rPr lang="en-US" sz="1800" b="1" u="sng" dirty="0">
                <a:latin typeface="Times New Roman" panose="02020603050405020304" pitchFamily="18" charset="0"/>
                <a:cs typeface="Times New Roman" panose="02020603050405020304" pitchFamily="18" charset="0"/>
              </a:rPr>
              <a:t>17</a:t>
            </a:r>
            <a:r>
              <a:rPr lang="en-US" sz="1800" b="1" u="sng" baseline="30000" dirty="0">
                <a:latin typeface="Times New Roman" panose="02020603050405020304" pitchFamily="18" charset="0"/>
                <a:cs typeface="Times New Roman" panose="02020603050405020304" pitchFamily="18" charset="0"/>
              </a:rPr>
              <a:t>th</a:t>
            </a:r>
            <a:r>
              <a:rPr lang="en-US" sz="1800" b="1" u="sng" dirty="0">
                <a:latin typeface="Times New Roman" panose="02020603050405020304" pitchFamily="18" charset="0"/>
                <a:cs typeface="Times New Roman" panose="02020603050405020304" pitchFamily="18" charset="0"/>
              </a:rPr>
              <a:t> Amendment: </a:t>
            </a:r>
            <a:r>
              <a:rPr lang="en-US" sz="1800" dirty="0">
                <a:latin typeface="Times New Roman" panose="02020603050405020304" pitchFamily="18" charset="0"/>
                <a:cs typeface="Times New Roman" panose="02020603050405020304" pitchFamily="18" charset="0"/>
              </a:rPr>
              <a:t>G. P. </a:t>
            </a:r>
            <a:r>
              <a:rPr lang="en-US" sz="1800" dirty="0" err="1">
                <a:latin typeface="Times New Roman" panose="02020603050405020304" pitchFamily="18" charset="0"/>
                <a:cs typeface="Times New Roman" panose="02020603050405020304" pitchFamily="18" charset="0"/>
              </a:rPr>
              <a:t>Musharaf</a:t>
            </a:r>
            <a:r>
              <a:rPr lang="en-US" sz="1800" dirty="0">
                <a:latin typeface="Times New Roman" panose="02020603050405020304" pitchFamily="18" charset="0"/>
                <a:cs typeface="Times New Roman" panose="02020603050405020304" pitchFamily="18" charset="0"/>
              </a:rPr>
              <a:t> again empowered the President under</a:t>
            </a:r>
            <a:r>
              <a:rPr lang="en-US" sz="1800" b="1" u="sng" dirty="0">
                <a:latin typeface="Times New Roman" panose="02020603050405020304" pitchFamily="18" charset="0"/>
                <a:cs typeface="Times New Roman" panose="02020603050405020304" pitchFamily="18" charset="0"/>
              </a:rPr>
              <a:t> Article 58 (2)b </a:t>
            </a:r>
            <a:r>
              <a:rPr lang="en-US" sz="1800" dirty="0">
                <a:latin typeface="Times New Roman" panose="02020603050405020304" pitchFamily="18" charset="0"/>
                <a:cs typeface="Times New Roman" panose="02020603050405020304" pitchFamily="18" charset="0"/>
              </a:rPr>
              <a:t>(Reversal of the effect of the 13</a:t>
            </a:r>
            <a:r>
              <a:rPr lang="en-US" sz="1800" baseline="30000" dirty="0">
                <a:latin typeface="Times New Roman" panose="02020603050405020304" pitchFamily="18" charset="0"/>
                <a:cs typeface="Times New Roman" panose="02020603050405020304" pitchFamily="18" charset="0"/>
              </a:rPr>
              <a:t>th</a:t>
            </a:r>
            <a:r>
              <a:rPr lang="en-US" sz="1800" dirty="0">
                <a:latin typeface="Times New Roman" panose="02020603050405020304" pitchFamily="18" charset="0"/>
                <a:cs typeface="Times New Roman" panose="02020603050405020304" pitchFamily="18" charset="0"/>
              </a:rPr>
              <a:t> Amendment)</a:t>
            </a:r>
          </a:p>
          <a:p>
            <a:r>
              <a:rPr lang="en-US" sz="1800" b="1" u="sng" dirty="0">
                <a:latin typeface="Times New Roman" panose="02020603050405020304" pitchFamily="18" charset="0"/>
                <a:cs typeface="Times New Roman" panose="02020603050405020304" pitchFamily="18" charset="0"/>
              </a:rPr>
              <a:t>18</a:t>
            </a:r>
            <a:r>
              <a:rPr lang="en-US" sz="1800" b="1" u="sng" baseline="30000" dirty="0">
                <a:latin typeface="Times New Roman" panose="02020603050405020304" pitchFamily="18" charset="0"/>
                <a:cs typeface="Times New Roman" panose="02020603050405020304" pitchFamily="18" charset="0"/>
              </a:rPr>
              <a:t>th</a:t>
            </a:r>
            <a:r>
              <a:rPr lang="en-US" sz="1800" b="1" u="sng" dirty="0">
                <a:latin typeface="Times New Roman" panose="02020603050405020304" pitchFamily="18" charset="0"/>
                <a:cs typeface="Times New Roman" panose="02020603050405020304" pitchFamily="18" charset="0"/>
              </a:rPr>
              <a:t> Amendment: </a:t>
            </a:r>
            <a:r>
              <a:rPr lang="en-US" sz="1800" dirty="0">
                <a:latin typeface="Times New Roman" panose="02020603050405020304" pitchFamily="18" charset="0"/>
                <a:cs typeface="Times New Roman" panose="02020603050405020304" pitchFamily="18" charset="0"/>
              </a:rPr>
              <a:t>Mini Constitution/ Provincial Autonomy</a:t>
            </a:r>
          </a:p>
          <a:p>
            <a:r>
              <a:rPr lang="en-US" sz="1800" b="1" u="sng" dirty="0">
                <a:latin typeface="Times New Roman" panose="02020603050405020304" pitchFamily="18" charset="0"/>
                <a:cs typeface="Times New Roman" panose="02020603050405020304" pitchFamily="18" charset="0"/>
              </a:rPr>
              <a:t>24</a:t>
            </a:r>
            <a:r>
              <a:rPr lang="en-US" sz="1800" b="1" u="sng" baseline="30000" dirty="0">
                <a:latin typeface="Times New Roman" panose="02020603050405020304" pitchFamily="18" charset="0"/>
                <a:cs typeface="Times New Roman" panose="02020603050405020304" pitchFamily="18" charset="0"/>
              </a:rPr>
              <a:t>th</a:t>
            </a:r>
            <a:r>
              <a:rPr lang="en-US" sz="1800" b="1" u="sng" dirty="0">
                <a:latin typeface="Times New Roman" panose="02020603050405020304" pitchFamily="18" charset="0"/>
                <a:cs typeface="Times New Roman" panose="02020603050405020304" pitchFamily="18" charset="0"/>
              </a:rPr>
              <a:t> Amendment: </a:t>
            </a:r>
            <a:r>
              <a:rPr lang="en-US" sz="1800" dirty="0">
                <a:latin typeface="Times New Roman" panose="02020603050405020304" pitchFamily="18" charset="0"/>
                <a:cs typeface="Times New Roman" panose="02020603050405020304" pitchFamily="18" charset="0"/>
              </a:rPr>
              <a:t>Merged FATA with KPK</a:t>
            </a:r>
          </a:p>
          <a:p>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0176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5BC04-15D0-48B7-9B62-3E1294C69783}"/>
              </a:ext>
            </a:extLst>
          </p:cNvPr>
          <p:cNvSpPr>
            <a:spLocks noGrp="1"/>
          </p:cNvSpPr>
          <p:nvPr>
            <p:ph type="title"/>
          </p:nvPr>
        </p:nvSpPr>
        <p:spPr/>
        <p:txBody>
          <a:bodyPr>
            <a:normAutofit/>
          </a:bodyPr>
          <a:lstStyle/>
          <a:p>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Provincial Autonomy Key Points in the 18th Amendment </a:t>
            </a:r>
            <a:endParaRPr lang="en-US" sz="2000" dirty="0"/>
          </a:p>
        </p:txBody>
      </p:sp>
      <p:sp>
        <p:nvSpPr>
          <p:cNvPr id="3" name="Content Placeholder 2">
            <a:extLst>
              <a:ext uri="{FF2B5EF4-FFF2-40B4-BE49-F238E27FC236}">
                <a16:creationId xmlns:a16="http://schemas.microsoft.com/office/drawing/2014/main" id="{45128D56-4641-4DE3-A793-0D2FE7868CD4}"/>
              </a:ext>
            </a:extLst>
          </p:cNvPr>
          <p:cNvSpPr>
            <a:spLocks noGrp="1"/>
          </p:cNvSpPr>
          <p:nvPr>
            <p:ph idx="1"/>
          </p:nvPr>
        </p:nvSpPr>
        <p:spPr>
          <a:xfrm>
            <a:off x="1451579" y="1853754"/>
            <a:ext cx="9291215" cy="3450613"/>
          </a:xfrm>
        </p:spPr>
        <p:txBody>
          <a:bodyPr>
            <a:noAutofit/>
          </a:bodyPr>
          <a:lstStyle/>
          <a:p>
            <a:pPr marL="342900" marR="0" lvl="0" indent="-342900" algn="just">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To empower the provinces of the country, the proposed amendment Article 70 deleted the concurrent list.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Only the Provincial Assembly shall make laws regarding matters which are not mentioned in the federal legislative list.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Federal government can construct thermal power installations; and hydroelectric for the production of electricity with the consent of the provincial government.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royalty of gas and oil will be received by provinces where these resources are located.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provincial government can receive loans from international organizations keeping in view the security of the state.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provincial and federal governments will be mutual beneficiaries of land, minerals, and resources of the continental shelf.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Council of Common Interest was restored after the said Amendment.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Power transferred to local government.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1800" dirty="0"/>
          </a:p>
        </p:txBody>
      </p:sp>
    </p:spTree>
    <p:extLst>
      <p:ext uri="{BB962C8B-B14F-4D97-AF65-F5344CB8AC3E}">
        <p14:creationId xmlns:p14="http://schemas.microsoft.com/office/powerpoint/2010/main" val="26670806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155</TotalTime>
  <Words>799</Words>
  <Application>Microsoft Office PowerPoint</Application>
  <PresentationFormat>Widescreen</PresentationFormat>
  <Paragraphs>65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Rockwell</vt:lpstr>
      <vt:lpstr>Times New Roman</vt:lpstr>
      <vt:lpstr>Gallery</vt:lpstr>
      <vt:lpstr>The constitution of 1962</vt:lpstr>
      <vt:lpstr>Introduction</vt:lpstr>
      <vt:lpstr>Salient Features</vt:lpstr>
      <vt:lpstr>Islamic provisions of the 1962 Constitution </vt:lpstr>
      <vt:lpstr>Critical Analysis</vt:lpstr>
      <vt:lpstr>The Constitution of  1973</vt:lpstr>
      <vt:lpstr>Introduction</vt:lpstr>
      <vt:lpstr>Salient Features</vt:lpstr>
      <vt:lpstr>Islamic Provisions of the Constitution</vt:lpstr>
      <vt:lpstr>Amendments in 1973 Constitution</vt:lpstr>
      <vt:lpstr>Provincial Autonomy Key Points in the 18th Amendment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constitution of 1962</dc:title>
  <dc:creator>Hafiz Computer CC</dc:creator>
  <cp:lastModifiedBy>SKD</cp:lastModifiedBy>
  <cp:revision>10</cp:revision>
  <dcterms:created xsi:type="dcterms:W3CDTF">2021-11-29T12:29:08Z</dcterms:created>
  <dcterms:modified xsi:type="dcterms:W3CDTF">2024-03-18T17:05:35Z</dcterms:modified>
</cp:coreProperties>
</file>