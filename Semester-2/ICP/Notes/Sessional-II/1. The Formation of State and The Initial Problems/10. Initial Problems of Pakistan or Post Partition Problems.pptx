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2" r:id="rId6"/>
    <p:sldId id="263" r:id="rId7"/>
    <p:sldId id="264" r:id="rId8"/>
    <p:sldId id="265" r:id="rId9"/>
    <p:sldId id="266" r:id="rId10"/>
    <p:sldId id="260" r:id="rId11"/>
    <p:sldId id="26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3/5/2024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3/5/2024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3/5/2024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3/5/2024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3/5/2024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0573" y="3625086"/>
            <a:ext cx="10993549" cy="1475013"/>
          </a:xfrm>
        </p:spPr>
        <p:txBody>
          <a:bodyPr>
            <a:normAutofit/>
          </a:bodyPr>
          <a:lstStyle/>
          <a:p>
            <a:pPr algn="ctr"/>
            <a:r>
              <a:rPr lang="en-US" sz="3200" b="1" dirty="0">
                <a:solidFill>
                  <a:schemeClr val="bg2"/>
                </a:solidFill>
                <a:latin typeface="Times New Roman" panose="02020603050405020304" pitchFamily="18" charset="0"/>
                <a:cs typeface="Times New Roman" panose="02020603050405020304" pitchFamily="18" charset="0"/>
              </a:rPr>
              <a:t>Initial Problems of Pakistan or Post Partition Problems </a:t>
            </a:r>
          </a:p>
        </p:txBody>
      </p:sp>
      <p:sp>
        <p:nvSpPr>
          <p:cNvPr id="3" name="TextBox 2">
            <a:extLst>
              <a:ext uri="{FF2B5EF4-FFF2-40B4-BE49-F238E27FC236}">
                <a16:creationId xmlns:a16="http://schemas.microsoft.com/office/drawing/2014/main" id="{E0042C59-78B1-CB06-649A-680F69C8BD8B}"/>
              </a:ext>
            </a:extLst>
          </p:cNvPr>
          <p:cNvSpPr txBox="1"/>
          <p:nvPr/>
        </p:nvSpPr>
        <p:spPr>
          <a:xfrm>
            <a:off x="7398327" y="5486400"/>
            <a:ext cx="4114800" cy="400110"/>
          </a:xfrm>
          <a:prstGeom prst="rect">
            <a:avLst/>
          </a:prstGeom>
          <a:noFill/>
        </p:spPr>
        <p:txBody>
          <a:bodyPr wrap="square" rtlCol="0">
            <a:spAutoFit/>
          </a:bodyPr>
          <a:lstStyle/>
          <a:p>
            <a:r>
              <a:rPr lang="en-US" sz="2000" dirty="0">
                <a:solidFill>
                  <a:schemeClr val="bg1"/>
                </a:solidFill>
              </a:rPr>
              <a:t>By: Muhammad Ajmal Khan</a:t>
            </a:r>
          </a:p>
        </p:txBody>
      </p:sp>
    </p:spTree>
    <p:extLst>
      <p:ext uri="{BB962C8B-B14F-4D97-AF65-F5344CB8AC3E}">
        <p14:creationId xmlns:p14="http://schemas.microsoft.com/office/powerpoint/2010/main" val="498974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Formation of the State</a:t>
            </a:r>
          </a:p>
        </p:txBody>
      </p:sp>
      <p:sp>
        <p:nvSpPr>
          <p:cNvPr id="3" name="Content Placeholder 2"/>
          <p:cNvSpPr>
            <a:spLocks noGrp="1"/>
          </p:cNvSpPr>
          <p:nvPr>
            <p:ph idx="1"/>
          </p:nvPr>
        </p:nvSpPr>
        <p:spPr/>
        <p:txBody>
          <a:bodyPr/>
          <a:lstStyle/>
          <a:p>
            <a:r>
              <a:rPr lang="en-US" dirty="0">
                <a:solidFill>
                  <a:schemeClr val="tx1"/>
                </a:solidFill>
              </a:rPr>
              <a:t>The Muslims got their independence in 1947 from the shackles of British Raj and Hindu atrocities. The efforts and political struggles of charismatic leaders like </a:t>
            </a:r>
            <a:r>
              <a:rPr lang="en-US" b="1" dirty="0">
                <a:solidFill>
                  <a:schemeClr val="tx1"/>
                </a:solidFill>
              </a:rPr>
              <a:t>Muhammad Ali Jinnah, Sir Syed Ahmad Khan,  </a:t>
            </a:r>
            <a:r>
              <a:rPr lang="en-US" b="1" dirty="0" err="1">
                <a:solidFill>
                  <a:schemeClr val="tx1"/>
                </a:solidFill>
              </a:rPr>
              <a:t>Allama</a:t>
            </a:r>
            <a:r>
              <a:rPr lang="en-US" b="1" dirty="0">
                <a:solidFill>
                  <a:schemeClr val="tx1"/>
                </a:solidFill>
              </a:rPr>
              <a:t> Iqbal</a:t>
            </a:r>
            <a:r>
              <a:rPr lang="en-US" dirty="0">
                <a:solidFill>
                  <a:schemeClr val="tx1"/>
                </a:solidFill>
              </a:rPr>
              <a:t> and other Muslim leaders resulted in the emergence of new state on 14</a:t>
            </a:r>
            <a:r>
              <a:rPr lang="en-US" baseline="30000" dirty="0">
                <a:solidFill>
                  <a:schemeClr val="tx1"/>
                </a:solidFill>
              </a:rPr>
              <a:t>th</a:t>
            </a:r>
            <a:r>
              <a:rPr lang="en-US" dirty="0">
                <a:solidFill>
                  <a:schemeClr val="tx1"/>
                </a:solidFill>
              </a:rPr>
              <a:t> August 1947. The new state was supposed to be a separate homeland for the Muslims of India. </a:t>
            </a:r>
          </a:p>
          <a:p>
            <a:r>
              <a:rPr lang="en-US" dirty="0">
                <a:solidFill>
                  <a:schemeClr val="tx1"/>
                </a:solidFill>
              </a:rPr>
              <a:t>The formation of a state was not an easy task for the Muslims of Subcontinent. Thousands of people lost their lives (Muslims, Hindus and Sikhs) and millions of people lost their relatives, siblings, properties etc.</a:t>
            </a:r>
          </a:p>
          <a:p>
            <a:endParaRPr lang="en-US" dirty="0">
              <a:solidFill>
                <a:schemeClr val="tx1"/>
              </a:solidFill>
            </a:endParaRPr>
          </a:p>
        </p:txBody>
      </p:sp>
    </p:spTree>
    <p:extLst>
      <p:ext uri="{BB962C8B-B14F-4D97-AF65-F5344CB8AC3E}">
        <p14:creationId xmlns:p14="http://schemas.microsoft.com/office/powerpoint/2010/main" val="2768709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a State </a:t>
            </a:r>
          </a:p>
        </p:txBody>
      </p:sp>
      <p:sp>
        <p:nvSpPr>
          <p:cNvPr id="3" name="Content Placeholder 2"/>
          <p:cNvSpPr>
            <a:spLocks noGrp="1"/>
          </p:cNvSpPr>
          <p:nvPr>
            <p:ph idx="1"/>
          </p:nvPr>
        </p:nvSpPr>
        <p:spPr/>
        <p:txBody>
          <a:bodyPr/>
          <a:lstStyle/>
          <a:p>
            <a:r>
              <a:rPr lang="en-US" b="1" dirty="0">
                <a:solidFill>
                  <a:schemeClr val="tx1"/>
                </a:solidFill>
              </a:rPr>
              <a:t>A state is composed of four elements, they are:</a:t>
            </a:r>
            <a:endParaRPr lang="en-US" dirty="0">
              <a:solidFill>
                <a:schemeClr val="tx1"/>
              </a:solidFill>
            </a:endParaRPr>
          </a:p>
          <a:p>
            <a:pPr lvl="0"/>
            <a:r>
              <a:rPr lang="en-US" b="1" u="sng" dirty="0">
                <a:solidFill>
                  <a:schemeClr val="tx1"/>
                </a:solidFill>
              </a:rPr>
              <a:t>Physical bases of the state</a:t>
            </a:r>
          </a:p>
          <a:p>
            <a:pPr lvl="0"/>
            <a:r>
              <a:rPr lang="en-US" b="1" dirty="0">
                <a:solidFill>
                  <a:schemeClr val="tx1"/>
                </a:solidFill>
              </a:rPr>
              <a:t>Population</a:t>
            </a:r>
            <a:r>
              <a:rPr lang="en-US" dirty="0">
                <a:solidFill>
                  <a:schemeClr val="tx1"/>
                </a:solidFill>
              </a:rPr>
              <a:t> (It’s always the population that makes the state)</a:t>
            </a:r>
          </a:p>
          <a:p>
            <a:pPr lvl="0"/>
            <a:r>
              <a:rPr lang="en-US" b="1" dirty="0">
                <a:solidFill>
                  <a:schemeClr val="tx1"/>
                </a:solidFill>
              </a:rPr>
              <a:t>Territory </a:t>
            </a:r>
            <a:r>
              <a:rPr lang="en-US" dirty="0">
                <a:solidFill>
                  <a:schemeClr val="tx1"/>
                </a:solidFill>
              </a:rPr>
              <a:t>(There can be no state without a fixed territory: Land, water and Space)</a:t>
            </a:r>
          </a:p>
          <a:p>
            <a:pPr lvl="0"/>
            <a:r>
              <a:rPr lang="en-US" b="1" u="sng" dirty="0">
                <a:solidFill>
                  <a:schemeClr val="tx1"/>
                </a:solidFill>
              </a:rPr>
              <a:t>Political bases of the state</a:t>
            </a:r>
          </a:p>
          <a:p>
            <a:pPr lvl="0"/>
            <a:r>
              <a:rPr lang="en-US" b="1" dirty="0">
                <a:solidFill>
                  <a:schemeClr val="tx1"/>
                </a:solidFill>
              </a:rPr>
              <a:t>Government</a:t>
            </a:r>
            <a:r>
              <a:rPr lang="en-US" dirty="0">
                <a:solidFill>
                  <a:schemeClr val="tx1"/>
                </a:solidFill>
              </a:rPr>
              <a:t> (The working agency of the State)</a:t>
            </a:r>
          </a:p>
          <a:p>
            <a:pPr lvl="0"/>
            <a:r>
              <a:rPr lang="en-US" b="1" dirty="0">
                <a:solidFill>
                  <a:schemeClr val="tx1"/>
                </a:solidFill>
              </a:rPr>
              <a:t>Sovereignty</a:t>
            </a:r>
            <a:r>
              <a:rPr lang="en-US" dirty="0">
                <a:solidFill>
                  <a:schemeClr val="tx1"/>
                </a:solidFill>
              </a:rPr>
              <a:t> (The supreme and final legal authority: Internal and External Sovereignty)</a:t>
            </a:r>
          </a:p>
          <a:p>
            <a:endParaRPr lang="en-US" dirty="0">
              <a:solidFill>
                <a:schemeClr val="tx1"/>
              </a:solidFill>
            </a:endParaRPr>
          </a:p>
        </p:txBody>
      </p:sp>
    </p:spTree>
    <p:extLst>
      <p:ext uri="{BB962C8B-B14F-4D97-AF65-F5344CB8AC3E}">
        <p14:creationId xmlns:p14="http://schemas.microsoft.com/office/powerpoint/2010/main" val="1095521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between State and Government</a:t>
            </a:r>
          </a:p>
        </p:txBody>
      </p:sp>
      <p:sp>
        <p:nvSpPr>
          <p:cNvPr id="3" name="Content Placeholder 2"/>
          <p:cNvSpPr>
            <a:spLocks noGrp="1"/>
          </p:cNvSpPr>
          <p:nvPr>
            <p:ph idx="1"/>
          </p:nvPr>
        </p:nvSpPr>
        <p:spPr/>
        <p:txBody>
          <a:bodyPr/>
          <a:lstStyle/>
          <a:p>
            <a:r>
              <a:rPr lang="en-US" b="1" dirty="0">
                <a:solidFill>
                  <a:schemeClr val="tx1"/>
                </a:solidFill>
              </a:rPr>
              <a:t>State</a:t>
            </a:r>
            <a:r>
              <a:rPr lang="en-US" dirty="0">
                <a:solidFill>
                  <a:schemeClr val="tx1"/>
                </a:solidFill>
              </a:rPr>
              <a:t> consists of population, territory and government while the </a:t>
            </a:r>
            <a:r>
              <a:rPr lang="en-US" b="1" dirty="0">
                <a:solidFill>
                  <a:schemeClr val="tx1"/>
                </a:solidFill>
              </a:rPr>
              <a:t>Government </a:t>
            </a:r>
            <a:r>
              <a:rPr lang="en-US" dirty="0">
                <a:solidFill>
                  <a:schemeClr val="tx1"/>
                </a:solidFill>
              </a:rPr>
              <a:t>is part of the state. State is a permanent institution while government has its specific tenure. </a:t>
            </a:r>
          </a:p>
          <a:p>
            <a:r>
              <a:rPr lang="en-US" b="1" dirty="0">
                <a:solidFill>
                  <a:schemeClr val="tx1"/>
                </a:solidFill>
              </a:rPr>
              <a:t>Branches of Government </a:t>
            </a:r>
          </a:p>
          <a:p>
            <a:r>
              <a:rPr lang="en-US" b="1" dirty="0">
                <a:solidFill>
                  <a:schemeClr val="tx1"/>
                </a:solidFill>
              </a:rPr>
              <a:t>Legislature: </a:t>
            </a:r>
            <a:r>
              <a:rPr lang="en-US" dirty="0">
                <a:solidFill>
                  <a:schemeClr val="tx1"/>
                </a:solidFill>
              </a:rPr>
              <a:t>Matters of social, political and economic concerns are discussed</a:t>
            </a:r>
          </a:p>
          <a:p>
            <a:r>
              <a:rPr lang="en-US" b="1" dirty="0">
                <a:solidFill>
                  <a:schemeClr val="tx1"/>
                </a:solidFill>
              </a:rPr>
              <a:t>Executive: </a:t>
            </a:r>
            <a:r>
              <a:rPr lang="en-US" dirty="0">
                <a:solidFill>
                  <a:schemeClr val="tx1"/>
                </a:solidFill>
              </a:rPr>
              <a:t>Enforcing the laws passed by the legislature</a:t>
            </a:r>
          </a:p>
          <a:p>
            <a:r>
              <a:rPr lang="en-US" b="1" dirty="0">
                <a:solidFill>
                  <a:schemeClr val="tx1"/>
                </a:solidFill>
              </a:rPr>
              <a:t>Judiciary: </a:t>
            </a:r>
            <a:r>
              <a:rPr lang="en-US" dirty="0">
                <a:solidFill>
                  <a:schemeClr val="tx1"/>
                </a:solidFill>
              </a:rPr>
              <a:t>Administration of justice</a:t>
            </a:r>
          </a:p>
          <a:p>
            <a:endParaRPr lang="en-US" dirty="0">
              <a:solidFill>
                <a:schemeClr val="tx1"/>
              </a:solidFill>
            </a:endParaRPr>
          </a:p>
        </p:txBody>
      </p:sp>
    </p:spTree>
    <p:extLst>
      <p:ext uri="{BB962C8B-B14F-4D97-AF65-F5344CB8AC3E}">
        <p14:creationId xmlns:p14="http://schemas.microsoft.com/office/powerpoint/2010/main" val="4202977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526B7-1122-D8CE-5E8E-E24AFF0F13A3}"/>
              </a:ext>
            </a:extLst>
          </p:cNvPr>
          <p:cNvSpPr>
            <a:spLocks noGrp="1"/>
          </p:cNvSpPr>
          <p:nvPr>
            <p:ph type="title"/>
          </p:nvPr>
        </p:nvSpPr>
        <p:spPr/>
        <p:txBody>
          <a:bodyPr/>
          <a:lstStyle/>
          <a:p>
            <a:r>
              <a:rPr lang="en-US" dirty="0"/>
              <a:t>What is Government</a:t>
            </a:r>
          </a:p>
        </p:txBody>
      </p:sp>
      <p:pic>
        <p:nvPicPr>
          <p:cNvPr id="5" name="Content Placeholder 4">
            <a:extLst>
              <a:ext uri="{FF2B5EF4-FFF2-40B4-BE49-F238E27FC236}">
                <a16:creationId xmlns:a16="http://schemas.microsoft.com/office/drawing/2014/main" id="{A29097EA-74C5-D36E-E518-6ABDDAE88AA7}"/>
              </a:ext>
            </a:extLst>
          </p:cNvPr>
          <p:cNvPicPr>
            <a:picLocks noGrp="1" noChangeAspect="1"/>
          </p:cNvPicPr>
          <p:nvPr>
            <p:ph idx="1"/>
          </p:nvPr>
        </p:nvPicPr>
        <p:blipFill>
          <a:blip r:embed="rId2"/>
          <a:stretch>
            <a:fillRect/>
          </a:stretch>
        </p:blipFill>
        <p:spPr>
          <a:xfrm>
            <a:off x="1205346" y="2022764"/>
            <a:ext cx="10169236" cy="4447309"/>
          </a:xfrm>
        </p:spPr>
      </p:pic>
    </p:spTree>
    <p:extLst>
      <p:ext uri="{BB962C8B-B14F-4D97-AF65-F5344CB8AC3E}">
        <p14:creationId xmlns:p14="http://schemas.microsoft.com/office/powerpoint/2010/main" val="309064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56138-8A53-0413-1A62-E31FCC80C3E8}"/>
              </a:ext>
            </a:extLst>
          </p:cNvPr>
          <p:cNvSpPr>
            <a:spLocks noGrp="1"/>
          </p:cNvSpPr>
          <p:nvPr>
            <p:ph type="title"/>
          </p:nvPr>
        </p:nvSpPr>
        <p:spPr/>
        <p:txBody>
          <a:bodyPr/>
          <a:lstStyle/>
          <a:p>
            <a:r>
              <a:rPr lang="en-US" dirty="0"/>
              <a:t>Cabinet</a:t>
            </a:r>
          </a:p>
        </p:txBody>
      </p:sp>
      <p:pic>
        <p:nvPicPr>
          <p:cNvPr id="5" name="Content Placeholder 4">
            <a:extLst>
              <a:ext uri="{FF2B5EF4-FFF2-40B4-BE49-F238E27FC236}">
                <a16:creationId xmlns:a16="http://schemas.microsoft.com/office/drawing/2014/main" id="{8E5E431E-BE0E-6DB9-A422-9155A9AFD20E}"/>
              </a:ext>
            </a:extLst>
          </p:cNvPr>
          <p:cNvPicPr>
            <a:picLocks noGrp="1" noChangeAspect="1"/>
          </p:cNvPicPr>
          <p:nvPr>
            <p:ph idx="1"/>
          </p:nvPr>
        </p:nvPicPr>
        <p:blipFill>
          <a:blip r:embed="rId2"/>
          <a:stretch>
            <a:fillRect/>
          </a:stretch>
        </p:blipFill>
        <p:spPr>
          <a:xfrm>
            <a:off x="969818" y="2181225"/>
            <a:ext cx="10044546" cy="4288848"/>
          </a:xfrm>
        </p:spPr>
      </p:pic>
    </p:spTree>
    <p:extLst>
      <p:ext uri="{BB962C8B-B14F-4D97-AF65-F5344CB8AC3E}">
        <p14:creationId xmlns:p14="http://schemas.microsoft.com/office/powerpoint/2010/main" val="3374328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C21DB-A9E4-41FA-61D5-73A34587B7E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3CCF856-B0B1-5FE5-B1FB-FF00AC3CEABF}"/>
              </a:ext>
            </a:extLst>
          </p:cNvPr>
          <p:cNvPicPr>
            <a:picLocks noGrp="1" noChangeAspect="1"/>
          </p:cNvPicPr>
          <p:nvPr>
            <p:ph idx="1"/>
          </p:nvPr>
        </p:nvPicPr>
        <p:blipFill>
          <a:blip r:embed="rId2"/>
          <a:stretch>
            <a:fillRect/>
          </a:stretch>
        </p:blipFill>
        <p:spPr>
          <a:xfrm>
            <a:off x="997527" y="2181224"/>
            <a:ext cx="10723417" cy="4371975"/>
          </a:xfrm>
        </p:spPr>
      </p:pic>
    </p:spTree>
    <p:extLst>
      <p:ext uri="{BB962C8B-B14F-4D97-AF65-F5344CB8AC3E}">
        <p14:creationId xmlns:p14="http://schemas.microsoft.com/office/powerpoint/2010/main" val="1512151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BE277-7581-0B24-3F37-00093E4ABC9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F7C75FA-C1DF-6A5B-F409-C3299DE0082E}"/>
              </a:ext>
            </a:extLst>
          </p:cNvPr>
          <p:cNvPicPr>
            <a:picLocks noGrp="1" noChangeAspect="1"/>
          </p:cNvPicPr>
          <p:nvPr>
            <p:ph idx="1"/>
          </p:nvPr>
        </p:nvPicPr>
        <p:blipFill>
          <a:blip r:embed="rId2"/>
          <a:stretch>
            <a:fillRect/>
          </a:stretch>
        </p:blipFill>
        <p:spPr>
          <a:xfrm>
            <a:off x="1122218" y="1953492"/>
            <a:ext cx="9753599" cy="4544290"/>
          </a:xfrm>
        </p:spPr>
      </p:pic>
    </p:spTree>
    <p:extLst>
      <p:ext uri="{BB962C8B-B14F-4D97-AF65-F5344CB8AC3E}">
        <p14:creationId xmlns:p14="http://schemas.microsoft.com/office/powerpoint/2010/main" val="349949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587D9-6222-B4FB-FCAB-EEAA7503FBB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41C374F-D16B-9DC9-471F-07A900863ACE}"/>
              </a:ext>
            </a:extLst>
          </p:cNvPr>
          <p:cNvPicPr>
            <a:picLocks noGrp="1" noChangeAspect="1"/>
          </p:cNvPicPr>
          <p:nvPr>
            <p:ph idx="1"/>
          </p:nvPr>
        </p:nvPicPr>
        <p:blipFill>
          <a:blip r:embed="rId2"/>
          <a:stretch>
            <a:fillRect/>
          </a:stretch>
        </p:blipFill>
        <p:spPr>
          <a:xfrm>
            <a:off x="1011382" y="2181224"/>
            <a:ext cx="10072254" cy="4316557"/>
          </a:xfrm>
        </p:spPr>
      </p:pic>
    </p:spTree>
    <p:extLst>
      <p:ext uri="{BB962C8B-B14F-4D97-AF65-F5344CB8AC3E}">
        <p14:creationId xmlns:p14="http://schemas.microsoft.com/office/powerpoint/2010/main" val="2379254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 Problems of Pakistan</a:t>
            </a:r>
          </a:p>
        </p:txBody>
      </p:sp>
      <p:sp>
        <p:nvSpPr>
          <p:cNvPr id="3" name="Content Placeholder 2"/>
          <p:cNvSpPr>
            <a:spLocks noGrp="1"/>
          </p:cNvSpPr>
          <p:nvPr>
            <p:ph idx="1"/>
          </p:nvPr>
        </p:nvSpPr>
        <p:spPr/>
        <p:txBody>
          <a:bodyPr>
            <a:normAutofit fontScale="92500" lnSpcReduction="20000"/>
          </a:bodyPr>
          <a:lstStyle/>
          <a:p>
            <a:pPr algn="just"/>
            <a:r>
              <a:rPr lang="en-US" b="1" dirty="0">
                <a:solidFill>
                  <a:schemeClr val="tx1"/>
                </a:solidFill>
              </a:rPr>
              <a:t>Choice of Capital and Establishment of Government</a:t>
            </a:r>
            <a:r>
              <a:rPr lang="en-US" dirty="0">
                <a:solidFill>
                  <a:schemeClr val="tx1"/>
                </a:solidFill>
              </a:rPr>
              <a:t> (Lack of offices and equipment's to run the state affairs, Jinnah took the office of governor general of Pakistan and </a:t>
            </a:r>
            <a:r>
              <a:rPr lang="en-US" dirty="0" err="1">
                <a:solidFill>
                  <a:schemeClr val="tx1"/>
                </a:solidFill>
              </a:rPr>
              <a:t>Liaquat</a:t>
            </a:r>
            <a:r>
              <a:rPr lang="en-US" dirty="0">
                <a:solidFill>
                  <a:schemeClr val="tx1"/>
                </a:solidFill>
              </a:rPr>
              <a:t> Ali Khan as Prime Minister of Pakistan. Officers were installed in Barracks and private buildings)</a:t>
            </a:r>
          </a:p>
          <a:p>
            <a:pPr algn="just"/>
            <a:r>
              <a:rPr lang="en-US" b="1" dirty="0">
                <a:solidFill>
                  <a:schemeClr val="tx1"/>
                </a:solidFill>
              </a:rPr>
              <a:t>Unfair Boundary Distribution </a:t>
            </a:r>
            <a:r>
              <a:rPr lang="en-US" dirty="0">
                <a:solidFill>
                  <a:schemeClr val="tx1"/>
                </a:solidFill>
              </a:rPr>
              <a:t>(Sir Cyril Redcliff misused his powers and handed over the Muslim majority areas like </a:t>
            </a:r>
            <a:r>
              <a:rPr lang="en-US" dirty="0" err="1">
                <a:solidFill>
                  <a:schemeClr val="tx1"/>
                </a:solidFill>
              </a:rPr>
              <a:t>Gurdaspur</a:t>
            </a:r>
            <a:r>
              <a:rPr lang="en-US" dirty="0">
                <a:solidFill>
                  <a:schemeClr val="tx1"/>
                </a:solidFill>
              </a:rPr>
              <a:t>, </a:t>
            </a:r>
            <a:r>
              <a:rPr lang="en-US" dirty="0" err="1">
                <a:solidFill>
                  <a:schemeClr val="tx1"/>
                </a:solidFill>
              </a:rPr>
              <a:t>Ferozpur</a:t>
            </a:r>
            <a:r>
              <a:rPr lang="en-US" dirty="0">
                <a:solidFill>
                  <a:schemeClr val="tx1"/>
                </a:solidFill>
              </a:rPr>
              <a:t>, </a:t>
            </a:r>
            <a:r>
              <a:rPr lang="en-US" dirty="0" err="1">
                <a:solidFill>
                  <a:schemeClr val="tx1"/>
                </a:solidFill>
              </a:rPr>
              <a:t>Jullandar</a:t>
            </a:r>
            <a:r>
              <a:rPr lang="en-US" dirty="0">
                <a:solidFill>
                  <a:schemeClr val="tx1"/>
                </a:solidFill>
              </a:rPr>
              <a:t> to India and left the Kashmir as a bone of contention between India and Pakistan)</a:t>
            </a:r>
          </a:p>
          <a:p>
            <a:pPr algn="just"/>
            <a:r>
              <a:rPr lang="en-US" b="1" dirty="0">
                <a:solidFill>
                  <a:schemeClr val="tx1"/>
                </a:solidFill>
              </a:rPr>
              <a:t>The massacre of Muslim Refugees in India </a:t>
            </a:r>
            <a:r>
              <a:rPr lang="en-US" dirty="0">
                <a:solidFill>
                  <a:schemeClr val="tx1"/>
                </a:solidFill>
              </a:rPr>
              <a:t>(To Sikhs, The creation of Pakistan was the partition of Punjab and they rejected the creation of Pakistan, when the Pakistan was created, the Sikhs and Muslims migration resulted bloodshed. Hindus misused the opportunity and attacked Muslims)</a:t>
            </a:r>
          </a:p>
          <a:p>
            <a:pPr algn="just"/>
            <a:r>
              <a:rPr lang="en-US" b="1" dirty="0">
                <a:solidFill>
                  <a:schemeClr val="tx1"/>
                </a:solidFill>
              </a:rPr>
              <a:t>Rehabilitation of refugees</a:t>
            </a:r>
            <a:r>
              <a:rPr lang="en-US" dirty="0">
                <a:solidFill>
                  <a:schemeClr val="tx1"/>
                </a:solidFill>
              </a:rPr>
              <a:t> (The government of Pakistan took immediate measures to accommodate the refugees)</a:t>
            </a:r>
          </a:p>
          <a:p>
            <a:pPr algn="just"/>
            <a:r>
              <a:rPr lang="en-US" b="1" dirty="0">
                <a:solidFill>
                  <a:schemeClr val="tx1"/>
                </a:solidFill>
              </a:rPr>
              <a:t>Division of Military and Financial </a:t>
            </a:r>
            <a:r>
              <a:rPr lang="en-US" b="1" dirty="0" smtClean="0">
                <a:solidFill>
                  <a:schemeClr val="tx1"/>
                </a:solidFill>
              </a:rPr>
              <a:t>Assets</a:t>
            </a:r>
            <a:r>
              <a:rPr lang="en-US" dirty="0" smtClean="0">
                <a:solidFill>
                  <a:schemeClr val="tx1"/>
                </a:solidFill>
              </a:rPr>
              <a:t> </a:t>
            </a:r>
            <a:r>
              <a:rPr lang="en-US" dirty="0">
                <a:solidFill>
                  <a:schemeClr val="tx1"/>
                </a:solidFill>
              </a:rPr>
              <a:t>(Pakistan was promised  </a:t>
            </a:r>
            <a:r>
              <a:rPr lang="en-US" dirty="0" err="1">
                <a:solidFill>
                  <a:schemeClr val="tx1"/>
                </a:solidFill>
              </a:rPr>
              <a:t>Rs</a:t>
            </a:r>
            <a:r>
              <a:rPr lang="en-US" dirty="0">
                <a:solidFill>
                  <a:schemeClr val="tx1"/>
                </a:solidFill>
              </a:rPr>
              <a:t>: 750 million but the Indian government returned just 200 millions.)</a:t>
            </a:r>
          </a:p>
          <a:p>
            <a:pPr algn="just"/>
            <a:r>
              <a:rPr lang="en-US" b="1" dirty="0">
                <a:solidFill>
                  <a:schemeClr val="tx1"/>
                </a:solidFill>
              </a:rPr>
              <a:t>Electricity Problem</a:t>
            </a:r>
            <a:r>
              <a:rPr lang="en-US" dirty="0">
                <a:solidFill>
                  <a:schemeClr val="tx1"/>
                </a:solidFill>
              </a:rPr>
              <a:t> (Electricity system of West Punjab was disrupted because all the power stations were installed in India)</a:t>
            </a:r>
          </a:p>
        </p:txBody>
      </p:sp>
    </p:spTree>
    <p:extLst>
      <p:ext uri="{BB962C8B-B14F-4D97-AF65-F5344CB8AC3E}">
        <p14:creationId xmlns:p14="http://schemas.microsoft.com/office/powerpoint/2010/main" val="3657350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solidFill>
                  <a:schemeClr val="tx1"/>
                </a:solidFill>
              </a:rPr>
              <a:t>Problems of Princely States: </a:t>
            </a:r>
            <a:r>
              <a:rPr lang="en-US" dirty="0">
                <a:solidFill>
                  <a:schemeClr val="tx1"/>
                </a:solidFill>
              </a:rPr>
              <a:t>The Muslim majority princely states were given to India by British government which left unending disputes between India and Pakistan.  </a:t>
            </a:r>
          </a:p>
          <a:p>
            <a:r>
              <a:rPr lang="en-US" b="1" dirty="0">
                <a:solidFill>
                  <a:schemeClr val="tx1"/>
                </a:solidFill>
              </a:rPr>
              <a:t>Lingual Problems: </a:t>
            </a:r>
            <a:r>
              <a:rPr lang="en-US" dirty="0">
                <a:solidFill>
                  <a:schemeClr val="tx1"/>
                </a:solidFill>
              </a:rPr>
              <a:t>The Bengalis were in Majority due to which the demanded Bengali as the official language and it was opposed by West wing of Pakistan.  </a:t>
            </a:r>
          </a:p>
          <a:p>
            <a:r>
              <a:rPr lang="en-US" b="1" dirty="0">
                <a:solidFill>
                  <a:schemeClr val="tx1"/>
                </a:solidFill>
              </a:rPr>
              <a:t>Leadership Vacuum: </a:t>
            </a:r>
            <a:r>
              <a:rPr lang="en-US" dirty="0">
                <a:solidFill>
                  <a:schemeClr val="tx1"/>
                </a:solidFill>
              </a:rPr>
              <a:t>The early death of Muhammad Ali Jinnah and Liaquat Ali Khan left a leadership vacuum in that scenario which was never filled by any competent leader. </a:t>
            </a:r>
          </a:p>
          <a:p>
            <a:r>
              <a:rPr lang="en-US" b="1" dirty="0">
                <a:solidFill>
                  <a:schemeClr val="tx1"/>
                </a:solidFill>
              </a:rPr>
              <a:t>Indus Water Basin Treaty: </a:t>
            </a:r>
            <a:r>
              <a:rPr lang="en-US" dirty="0">
                <a:solidFill>
                  <a:schemeClr val="tx1"/>
                </a:solidFill>
              </a:rPr>
              <a:t>Pakistan had water dispute with India which was settled down in 1960 as Water Basin treaty. </a:t>
            </a:r>
          </a:p>
          <a:p>
            <a:r>
              <a:rPr lang="en-US" b="1" dirty="0">
                <a:solidFill>
                  <a:schemeClr val="tx1"/>
                </a:solidFill>
              </a:rPr>
              <a:t>Political riots:</a:t>
            </a:r>
            <a:r>
              <a:rPr lang="en-US" dirty="0">
                <a:solidFill>
                  <a:schemeClr val="tx1"/>
                </a:solidFill>
              </a:rPr>
              <a:t> Shia Sunni disorder started  during post partition era. Later one, the Ahmadi Movement also took place which resulted in the imposition of Martial Law. </a:t>
            </a:r>
          </a:p>
        </p:txBody>
      </p:sp>
    </p:spTree>
    <p:extLst>
      <p:ext uri="{BB962C8B-B14F-4D97-AF65-F5344CB8AC3E}">
        <p14:creationId xmlns:p14="http://schemas.microsoft.com/office/powerpoint/2010/main" val="371916044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557</TotalTime>
  <Words>607</Words>
  <Application>Microsoft Office PowerPoint</Application>
  <PresentationFormat>Widescreen</PresentationFormat>
  <Paragraphs>33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Gill Sans MT</vt:lpstr>
      <vt:lpstr>Times New Roman</vt:lpstr>
      <vt:lpstr>Wingdings 2</vt:lpstr>
      <vt:lpstr>Dividend</vt:lpstr>
      <vt:lpstr>Initial Problems of Pakistan or Post Partition Problems </vt:lpstr>
      <vt:lpstr>Formation of the State</vt:lpstr>
      <vt:lpstr>Elements of a State </vt:lpstr>
      <vt:lpstr>Difference between State and Government</vt:lpstr>
      <vt:lpstr>What is Government</vt:lpstr>
      <vt:lpstr>Cabinet</vt:lpstr>
      <vt:lpstr>PowerPoint Presentation</vt:lpstr>
      <vt:lpstr>PowerPoint Presentation</vt:lpstr>
      <vt:lpstr>PowerPoint Presentation</vt:lpstr>
      <vt:lpstr>Initial Problems of Pakistan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Initial Problems of Pakistan or Post Partition Problems</dc:title>
  <dc:creator>RC</dc:creator>
  <cp:lastModifiedBy>Ajmal</cp:lastModifiedBy>
  <cp:revision>14</cp:revision>
  <dcterms:created xsi:type="dcterms:W3CDTF">2021-11-17T06:03:08Z</dcterms:created>
  <dcterms:modified xsi:type="dcterms:W3CDTF">2024-03-05T06:22:57Z</dcterms:modified>
</cp:coreProperties>
</file>