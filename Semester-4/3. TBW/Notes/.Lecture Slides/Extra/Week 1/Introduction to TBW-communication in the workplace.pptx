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Gill Sans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9" roundtripDataSignature="AMtx7miqY2QT9jAZ0dq/HKd4ZGKuD+0A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GillSans-bold.fntdata"/><Relationship Id="rId27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7" name="Google Shape;10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fe26871b3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fe26871b3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fe26871b3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464aca84ef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464aca84ef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1464aca84ef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08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400"/>
              <a:buChar char="•"/>
              <a:defRPr sz="4400">
                <a:solidFill>
                  <a:schemeClr val="lt1"/>
                </a:solidFill>
              </a:defRPr>
            </a:lvl1pPr>
            <a:lvl2pPr indent="-457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  <a:defRPr sz="3600">
                <a:solidFill>
                  <a:schemeClr val="lt1"/>
                </a:solidFill>
              </a:defRPr>
            </a:lvl2pPr>
            <a:lvl3pPr indent="-4318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" type="body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2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" type="body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2" type="body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idx="1" type="body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30"/>
          <p:cNvSpPr txBox="1"/>
          <p:nvPr>
            <p:ph idx="2" type="body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3" type="body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4" type="body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30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0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30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2"/>
          <p:cNvSpPr txBox="1"/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" type="body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80" name="Google Shape;80;p32"/>
          <p:cNvSpPr txBox="1"/>
          <p:nvPr>
            <p:ph idx="2" type="body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3"/>
          <p:cNvSpPr txBox="1"/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/>
          <p:nvPr>
            <p:ph idx="2" type="pic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8" name="Google Shape;88;p33"/>
          <p:cNvSpPr txBox="1"/>
          <p:nvPr>
            <p:ph idx="1" type="body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3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4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idx="1" type="body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/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" type="body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2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2" name="Google Shape;32;p2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417834" y="1808252"/>
            <a:ext cx="9667982" cy="2224412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INTRODUCTION TO TBW.</a:t>
            </a:r>
            <a:br>
              <a:rPr lang="en-US"/>
            </a:br>
            <a:r>
              <a:rPr lang="en-US"/>
              <a:t>COMMUNICATION IN THE WORKPLACE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fe26871b32_0_0"/>
          <p:cNvSpPr txBox="1"/>
          <p:nvPr>
            <p:ph type="title"/>
          </p:nvPr>
        </p:nvSpPr>
        <p:spPr>
          <a:xfrm>
            <a:off x="2404150" y="2375152"/>
            <a:ext cx="7729800" cy="1524000"/>
          </a:xfrm>
          <a:prstGeom prst="rect">
            <a:avLst/>
          </a:prstGeom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Expectations from the course.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4000">
                <a:solidFill>
                  <a:schemeClr val="dk1"/>
                </a:solidFill>
              </a:rPr>
              <a:t>Why is this course important?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en-US"/>
              <a:t>COMMUNICATION </a:t>
            </a:r>
            <a:endParaRPr/>
          </a:p>
        </p:txBody>
      </p:sp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770561" y="2638044"/>
            <a:ext cx="11311847" cy="4132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•"/>
            </a:pPr>
            <a:r>
              <a:rPr lang="en-US"/>
              <a:t>Communication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</a:pPr>
            <a:r>
              <a:rPr lang="en-US"/>
              <a:t>Transfer of information and meanings between senders and receivers 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</a:pPr>
            <a:r>
              <a:rPr lang="en-US"/>
              <a:t>The essence is SHARING</a:t>
            </a:r>
            <a:endParaRPr/>
          </a:p>
          <a:p>
            <a:pPr indent="-228600" lvl="2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  providing data, information, insights, and inspiration in an exchange that benefits all parties involved.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en-US"/>
              <a:t>WHY DO GOOD COMMUNICATION SKILLS MATTER? </a:t>
            </a:r>
            <a:endParaRPr/>
          </a:p>
        </p:txBody>
      </p:sp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243155" y="2638044"/>
            <a:ext cx="6260387" cy="37011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•"/>
            </a:pPr>
            <a:r>
              <a:rPr lang="en-US" sz="4800"/>
              <a:t>Communication is important to your career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20+ Communication Memes to Make Your Workday More Fun | Chanty"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7107" y="2285678"/>
            <a:ext cx="5311738" cy="4397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667819" y="1335641"/>
            <a:ext cx="11209105" cy="54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•"/>
            </a:pPr>
            <a:r>
              <a:rPr lang="en-US"/>
              <a:t>The world is full of good marketing strategists, good accountants, good engineers, and good attorneys—but it is not full of good communicators.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667819" y="1335641"/>
            <a:ext cx="11209105" cy="54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•"/>
            </a:pPr>
            <a:r>
              <a:rPr lang="en-US"/>
              <a:t>If you learn to write well, speak well, listen well,  and recognize the appropriate way to communicate in any situation, you’ll gain a major advantage that will serve you throughout your career.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en-US"/>
              <a:t>WHY DO GOOD COMMUNICATION SKILLS MATTER? </a:t>
            </a:r>
            <a:endParaRPr/>
          </a:p>
        </p:txBody>
      </p:sp>
      <p:sp>
        <p:nvSpPr>
          <p:cNvPr id="149" name="Google Shape;149;p7"/>
          <p:cNvSpPr txBox="1"/>
          <p:nvPr>
            <p:ph idx="1" type="body"/>
          </p:nvPr>
        </p:nvSpPr>
        <p:spPr>
          <a:xfrm>
            <a:off x="0" y="3018188"/>
            <a:ext cx="11948845" cy="37011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•"/>
            </a:pPr>
            <a:r>
              <a:rPr lang="en-US" sz="4800"/>
              <a:t>Communication is important to your company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sz="4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2231136" y="379065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en-US"/>
              <a:t>WHAT MAKES TECHNICAL AND BUSINESS COMMUNICATION EFFECTIVE?</a:t>
            </a:r>
            <a:endParaRPr/>
          </a:p>
        </p:txBody>
      </p:sp>
      <p:sp>
        <p:nvSpPr>
          <p:cNvPr id="155" name="Google Shape;155;p8"/>
          <p:cNvSpPr txBox="1"/>
          <p:nvPr>
            <p:ph idx="1" type="body"/>
          </p:nvPr>
        </p:nvSpPr>
        <p:spPr>
          <a:xfrm>
            <a:off x="544525" y="1869900"/>
            <a:ext cx="5740500" cy="47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3749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Effective communication </a:t>
            </a:r>
            <a:endParaRPr/>
          </a:p>
          <a:p>
            <a:pPr indent="-194309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 Provide </a:t>
            </a:r>
            <a:r>
              <a:rPr lang="en-US"/>
              <a:t>accurate</a:t>
            </a:r>
            <a:r>
              <a:rPr lang="en-US"/>
              <a:t> information</a:t>
            </a:r>
            <a:endParaRPr/>
          </a:p>
          <a:p>
            <a:pPr indent="-194309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Facts and concrete information </a:t>
            </a:r>
            <a:endParaRPr/>
          </a:p>
          <a:p>
            <a:pPr indent="-194309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Concise </a:t>
            </a:r>
            <a:endParaRPr/>
          </a:p>
          <a:p>
            <a:pPr indent="-194309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Clarifies expectations and responsibilities</a:t>
            </a:r>
            <a:endParaRPr/>
          </a:p>
          <a:p>
            <a:pPr indent="-194309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Compelling, persuasive arguments and recommendations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56" name="Google Shape;15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0200" y="2169910"/>
            <a:ext cx="501015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970" y="287677"/>
            <a:ext cx="7904030" cy="1551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/>
          <p:nvPr/>
        </p:nvSpPr>
        <p:spPr>
          <a:xfrm>
            <a:off x="4623371" y="914400"/>
            <a:ext cx="680491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(</a:t>
            </a:r>
            <a:r>
              <a:rPr b="1" i="0" lang="en-US" sz="20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c) The opening paragraph fails to provide necessary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background information for anyone who missed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meeting.</a:t>
            </a:r>
            <a:endParaRPr/>
          </a:p>
        </p:txBody>
      </p:sp>
      <p:cxnSp>
        <p:nvCxnSpPr>
          <p:cNvPr id="174" name="Google Shape;174;p11"/>
          <p:cNvCxnSpPr/>
          <p:nvPr/>
        </p:nvCxnSpPr>
        <p:spPr>
          <a:xfrm flipH="1">
            <a:off x="1715784" y="1315092"/>
            <a:ext cx="2907587" cy="513708"/>
          </a:xfrm>
          <a:prstGeom prst="straightConnector1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5" name="Google Shape;175;p11"/>
          <p:cNvSpPr/>
          <p:nvPr/>
        </p:nvSpPr>
        <p:spPr>
          <a:xfrm>
            <a:off x="5277491" y="3886200"/>
            <a:ext cx="706177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(d) A negative, accusatory tone puts readers on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defensive, and the request for action fails to clarify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who needs to do what by when.</a:t>
            </a:r>
            <a:endParaRPr/>
          </a:p>
        </p:txBody>
      </p:sp>
      <p:cxnSp>
        <p:nvCxnSpPr>
          <p:cNvPr id="176" name="Google Shape;176;p11"/>
          <p:cNvCxnSpPr/>
          <p:nvPr/>
        </p:nvCxnSpPr>
        <p:spPr>
          <a:xfrm rot="10800000">
            <a:off x="2494905" y="3925116"/>
            <a:ext cx="2782586" cy="468915"/>
          </a:xfrm>
          <a:prstGeom prst="straightConnector1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1808" y="3731176"/>
            <a:ext cx="8168538" cy="1210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3"/>
          <p:cNvSpPr/>
          <p:nvPr/>
        </p:nvSpPr>
        <p:spPr>
          <a:xfrm>
            <a:off x="5203861" y="3886199"/>
            <a:ext cx="706177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(f) The wording here assumes that people who won’t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attend don’t want to, which might not be true.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writer also fails to invite questions ahead of the meeting.</a:t>
            </a:r>
            <a:endParaRPr/>
          </a:p>
        </p:txBody>
      </p:sp>
      <p:cxnSp>
        <p:nvCxnSpPr>
          <p:cNvPr id="189" name="Google Shape;189;p13"/>
          <p:cNvCxnSpPr/>
          <p:nvPr/>
        </p:nvCxnSpPr>
        <p:spPr>
          <a:xfrm flipH="1">
            <a:off x="2804845" y="4394031"/>
            <a:ext cx="2472647" cy="619758"/>
          </a:xfrm>
          <a:prstGeom prst="straightConnector1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90" name="Google Shape;1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8750" y="5263142"/>
            <a:ext cx="5256944" cy="123357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3"/>
          <p:cNvSpPr/>
          <p:nvPr/>
        </p:nvSpPr>
        <p:spPr>
          <a:xfrm>
            <a:off x="4431439" y="439893"/>
            <a:ext cx="371954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 cap="non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Ineffective</a:t>
            </a:r>
            <a:r>
              <a:rPr b="1" lang="en-US" sz="5400" cap="none">
                <a:solidFill>
                  <a:srgbClr val="EAC1AA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4593" y="-25483"/>
            <a:ext cx="8147407" cy="6883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36305" y="-25483"/>
            <a:ext cx="4457314" cy="117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22178" y="1147938"/>
            <a:ext cx="4370990" cy="77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68487" y="1934694"/>
            <a:ext cx="4121678" cy="77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5618" y="3169219"/>
            <a:ext cx="4204043" cy="478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3837711"/>
            <a:ext cx="4044593" cy="1057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5030674"/>
            <a:ext cx="4028372" cy="135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 txBox="1"/>
          <p:nvPr>
            <p:ph type="title"/>
          </p:nvPr>
        </p:nvSpPr>
        <p:spPr>
          <a:xfrm>
            <a:off x="847932" y="1645852"/>
            <a:ext cx="10716000" cy="2147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THIS COURSE IS DESIGNED TO TEACH YOU HOW TO WRITE IN A COMPLETE, CONCISE, CLEAR AND COMPELLING MANNER SO… 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COMMUNICATING IN AN ORGANIZATIONAL OR PROFESSIONAL CONTEXT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>
            <p:ph idx="1" type="body"/>
          </p:nvPr>
        </p:nvSpPr>
        <p:spPr>
          <a:xfrm>
            <a:off x="1128075" y="823675"/>
            <a:ext cx="10191000" cy="58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•"/>
            </a:pPr>
            <a:r>
              <a:rPr lang="en-US"/>
              <a:t>Formal communication network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</a:pPr>
            <a:r>
              <a:rPr lang="en-US"/>
              <a:t>Downward communication 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</a:pPr>
            <a:r>
              <a:rPr lang="en-US"/>
              <a:t>Upward communication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</a:pPr>
            <a:r>
              <a:rPr lang="en-US"/>
              <a:t> Horizontal communication</a:t>
            </a:r>
            <a:endParaRPr/>
          </a:p>
          <a:p>
            <a:pPr indent="-2794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400"/>
              <a:buChar char="•"/>
            </a:pPr>
            <a:r>
              <a:rPr lang="en-US"/>
              <a:t>Informal communication network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</a:pPr>
            <a:r>
              <a:rPr lang="en-US"/>
              <a:t>Grapevine / Rumor mill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ADOPTING AN AUDIENCE CENTERED APPROACH FOR PROFESSIONAL COMMUNICATION </a:t>
            </a:r>
            <a:endParaRPr/>
          </a:p>
        </p:txBody>
      </p:sp>
      <p:sp>
        <p:nvSpPr>
          <p:cNvPr id="228" name="Google Shape;228;p19"/>
          <p:cNvSpPr txBox="1"/>
          <p:nvPr>
            <p:ph idx="1" type="body"/>
          </p:nvPr>
        </p:nvSpPr>
        <p:spPr>
          <a:xfrm>
            <a:off x="667819" y="2321960"/>
            <a:ext cx="11034446" cy="4756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•"/>
            </a:pPr>
            <a:r>
              <a:rPr lang="en-US"/>
              <a:t> Understanding and respect audience 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</a:pPr>
            <a:r>
              <a:rPr lang="en-US"/>
              <a:t>The ‘you’ versus ‘me’ attitude </a:t>
            </a:r>
            <a:endParaRPr/>
          </a:p>
          <a:p>
            <a:pPr indent="-2794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400"/>
              <a:buChar char="•"/>
            </a:pPr>
            <a:r>
              <a:rPr lang="en-US"/>
              <a:t>Etiquette – the expected norms of behavior in any particular situation.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g1464aca84ef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750" y="1396650"/>
            <a:ext cx="7341475" cy="456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en-US"/>
              <a:t>SOURCES </a:t>
            </a:r>
            <a:endParaRPr/>
          </a:p>
        </p:txBody>
      </p:sp>
      <p:sp>
        <p:nvSpPr>
          <p:cNvPr id="240" name="Google Shape;240;p20"/>
          <p:cNvSpPr txBox="1"/>
          <p:nvPr>
            <p:ph idx="1" type="body"/>
          </p:nvPr>
        </p:nvSpPr>
        <p:spPr>
          <a:xfrm>
            <a:off x="123291" y="2638044"/>
            <a:ext cx="11311846" cy="355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94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•"/>
            </a:pPr>
            <a:r>
              <a:rPr lang="en-US"/>
              <a:t>Chapter 1 and 2 of Business Communication Today 14</a:t>
            </a:r>
            <a:r>
              <a:rPr baseline="30000" lang="en-US"/>
              <a:t>th</a:t>
            </a:r>
            <a:r>
              <a:rPr lang="en-US"/>
              <a:t> edition </a:t>
            </a:r>
            <a:endParaRPr/>
          </a:p>
          <a:p>
            <a:pPr indent="-2794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400"/>
              <a:buChar char="•"/>
            </a:pPr>
            <a:r>
              <a:rPr lang="en-US"/>
              <a:t>Bovee, C. L., &amp; Thill, J. V. (2018). </a:t>
            </a:r>
            <a:r>
              <a:rPr i="1" lang="en-US"/>
              <a:t>Business Communication today</a:t>
            </a:r>
            <a:r>
              <a:rPr lang="en-US"/>
              <a:t> (14th ed.). Essex, England : Pearson.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2022-08-20T09:38:54Z</dcterms:created>
  <dc:creator>RAJA HASHAM AHMAD</dc:creator>
</cp:coreProperties>
</file>