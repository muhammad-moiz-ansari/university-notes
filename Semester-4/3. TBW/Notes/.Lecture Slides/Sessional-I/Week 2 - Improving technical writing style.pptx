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43" roundtripDataSignature="AMtx7mjYHAMxee12vDMjUtfxgZyVpPha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customschemas.google.com/relationships/presentationmetadata" Target="meta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48731d00ad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48731d00ad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148731d00ad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weakens meaning by “burying” the subject in the middle of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sentence</a:t>
            </a:r>
            <a:endParaRPr/>
          </a:p>
        </p:txBody>
      </p:sp>
      <p:sp>
        <p:nvSpPr>
          <p:cNvPr id="145" name="Google Shape;1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48731d00ad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48731d00ad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148731d00ad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verbs turned into nouns by adding 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suffix such as -ion, -ity, -ment, or -ness</a:t>
            </a:r>
            <a:endParaRPr/>
          </a:p>
        </p:txBody>
      </p:sp>
      <p:sp>
        <p:nvSpPr>
          <p:cNvPr id="164" name="Google Shape;16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long. Shorter and longer sentences are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harder to read because they become too simple or too complicated.</a:t>
            </a:r>
            <a:endParaRPr/>
          </a:p>
        </p:txBody>
      </p:sp>
      <p:sp>
        <p:nvSpPr>
          <p:cNvPr id="181" name="Google Shape;1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603504" y="770467"/>
            <a:ext cx="107823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Calibri"/>
              <a:buNone/>
              <a:defRPr sz="8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667512" y="4206876"/>
            <a:ext cx="9228201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  <a:defRPr sz="2800"/>
            </a:lvl2pPr>
            <a:lvl3pPr lvl="2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3pPr>
            <a:lvl4pPr lvl="3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4pPr>
            <a:lvl5pPr lvl="4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5pPr>
            <a:lvl6pPr lvl="5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6pPr>
            <a:lvl7pPr lvl="6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7pPr>
            <a:lvl8pPr lvl="7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8pPr>
            <a:lvl9pPr lvl="8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type="title"/>
          </p:nvPr>
        </p:nvSpPr>
        <p:spPr>
          <a:xfrm>
            <a:off x="603504" y="767419"/>
            <a:ext cx="10780776" cy="33558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Calibri"/>
              <a:buNone/>
              <a:defRPr b="0" sz="8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" type="body"/>
          </p:nvPr>
        </p:nvSpPr>
        <p:spPr>
          <a:xfrm>
            <a:off x="667512" y="4204209"/>
            <a:ext cx="92262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41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accen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2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334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  <a:defRPr sz="4800">
                <a:solidFill>
                  <a:schemeClr val="lt1"/>
                </a:solidFill>
              </a:defRPr>
            </a:lvl1pPr>
            <a:lvl2pPr indent="-4572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Char char=" "/>
              <a:defRPr sz="3600">
                <a:solidFill>
                  <a:schemeClr val="lt1"/>
                </a:solidFill>
              </a:defRPr>
            </a:lvl2pPr>
            <a:lvl3pPr indent="-4318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 "/>
              <a:defRPr sz="32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 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 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chemeClr val="accen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3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676656" y="1998134"/>
            <a:ext cx="466344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000"/>
              <a:buChar char=" "/>
              <a:defRPr sz="4000">
                <a:solidFill>
                  <a:schemeClr val="lt1"/>
                </a:solidFill>
              </a:defRPr>
            </a:lvl1pPr>
            <a:lvl2pPr indent="-4572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Char char=" "/>
              <a:defRPr sz="36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 "/>
              <a:defRPr sz="18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 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 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6pPr>
            <a:lvl7pPr indent="-3302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7pPr>
            <a:lvl8pPr indent="-3302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8pPr>
            <a:lvl9pPr indent="-3302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9pPr>
          </a:lstStyle>
          <a:p/>
        </p:txBody>
      </p:sp>
      <p:sp>
        <p:nvSpPr>
          <p:cNvPr id="37" name="Google Shape;37;p43"/>
          <p:cNvSpPr txBox="1"/>
          <p:nvPr>
            <p:ph idx="2" type="body"/>
          </p:nvPr>
        </p:nvSpPr>
        <p:spPr>
          <a:xfrm>
            <a:off x="6011330" y="1998134"/>
            <a:ext cx="466344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000"/>
              <a:buChar char=" "/>
              <a:defRPr sz="4000">
                <a:solidFill>
                  <a:schemeClr val="lt1"/>
                </a:solidFill>
              </a:defRPr>
            </a:lvl1pPr>
            <a:lvl2pPr indent="-4572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Char char=" "/>
              <a:defRPr sz="36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 "/>
              <a:defRPr sz="18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 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 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6pPr>
            <a:lvl7pPr indent="-3302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7pPr>
            <a:lvl8pPr indent="-3302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8pPr>
            <a:lvl9pPr indent="-3302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9pPr>
          </a:lstStyle>
          <a:p/>
        </p:txBody>
      </p:sp>
      <p:sp>
        <p:nvSpPr>
          <p:cNvPr id="38" name="Google Shape;38;p43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4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676656" y="2040467"/>
            <a:ext cx="4663440" cy="7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200"/>
              <a:buNone/>
              <a:defRPr b="0" sz="2200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76656" y="2753084"/>
            <a:ext cx="46634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1pPr>
            <a:lvl2pPr indent="-355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 sz="1800"/>
            </a:lvl3pPr>
            <a:lvl4pPr indent="-3302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4pPr>
            <a:lvl5pPr indent="-3302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5pPr>
            <a:lvl6pPr indent="-3302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6pPr>
            <a:lvl7pPr indent="-3302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7pPr>
            <a:lvl8pPr indent="-3302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8pPr>
            <a:lvl9pPr indent="-3302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9pPr>
          </a:lstStyle>
          <a:p/>
        </p:txBody>
      </p:sp>
      <p:sp>
        <p:nvSpPr>
          <p:cNvPr id="45" name="Google Shape;45;p44"/>
          <p:cNvSpPr txBox="1"/>
          <p:nvPr>
            <p:ph idx="3" type="body"/>
          </p:nvPr>
        </p:nvSpPr>
        <p:spPr>
          <a:xfrm>
            <a:off x="6007608" y="2038435"/>
            <a:ext cx="466344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200"/>
              <a:buNone/>
              <a:defRPr b="0" sz="2200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44"/>
          <p:cNvSpPr txBox="1"/>
          <p:nvPr>
            <p:ph idx="4" type="body"/>
          </p:nvPr>
        </p:nvSpPr>
        <p:spPr>
          <a:xfrm>
            <a:off x="6007608" y="2750990"/>
            <a:ext cx="46634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1pPr>
            <a:lvl2pPr indent="-355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 sz="1800"/>
            </a:lvl3pPr>
            <a:lvl4pPr indent="-3302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4pPr>
            <a:lvl5pPr indent="-3302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5pPr>
            <a:lvl6pPr indent="-3302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6pPr>
            <a:lvl7pPr indent="-3302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7pPr>
            <a:lvl8pPr indent="-3302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8pPr>
            <a:lvl9pPr indent="-3302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9pPr>
          </a:lstStyle>
          <a:p/>
        </p:txBody>
      </p:sp>
      <p:sp>
        <p:nvSpPr>
          <p:cNvPr id="47" name="Google Shape;47;p44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4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5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6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6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6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7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7"/>
          <p:cNvSpPr txBox="1"/>
          <p:nvPr>
            <p:ph type="title"/>
          </p:nvPr>
        </p:nvSpPr>
        <p:spPr>
          <a:xfrm>
            <a:off x="8261404" y="542282"/>
            <a:ext cx="33832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7"/>
          <p:cNvSpPr txBox="1"/>
          <p:nvPr>
            <p:ph idx="1" type="body"/>
          </p:nvPr>
        </p:nvSpPr>
        <p:spPr>
          <a:xfrm>
            <a:off x="762000" y="762000"/>
            <a:ext cx="6096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  <a:defRPr sz="3200"/>
            </a:lvl1pPr>
            <a:lvl2pPr indent="-4064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  <a:defRPr sz="2800"/>
            </a:lvl2pPr>
            <a:lvl3pPr indent="-3810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3pPr>
            <a:lvl4pPr indent="-355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4pPr>
            <a:lvl5pPr indent="-355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5pPr>
            <a:lvl6pPr indent="-355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6pPr>
            <a:lvl7pPr indent="-355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7pPr>
            <a:lvl8pPr indent="-355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8pPr>
            <a:lvl9pPr indent="-355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9pPr>
          </a:lstStyle>
          <a:p/>
        </p:txBody>
      </p:sp>
      <p:sp>
        <p:nvSpPr>
          <p:cNvPr id="63" name="Google Shape;63;p47"/>
          <p:cNvSpPr txBox="1"/>
          <p:nvPr>
            <p:ph idx="2" type="body"/>
          </p:nvPr>
        </p:nvSpPr>
        <p:spPr>
          <a:xfrm>
            <a:off x="8275982" y="2511813"/>
            <a:ext cx="3398520" cy="312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None/>
              <a:defRPr sz="18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47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7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7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solidFill>
          <a:schemeClr val="accen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/>
          <p:nvPr>
            <p:ph type="title"/>
          </p:nvPr>
        </p:nvSpPr>
        <p:spPr>
          <a:xfrm>
            <a:off x="649224" y="5418667"/>
            <a:ext cx="10780776" cy="6132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  <a:defRPr b="0" sz="3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8"/>
          <p:cNvSpPr/>
          <p:nvPr>
            <p:ph idx="2" type="pic"/>
          </p:nvPr>
        </p:nvSpPr>
        <p:spPr>
          <a:xfrm>
            <a:off x="0" y="0"/>
            <a:ext cx="12192000" cy="5330952"/>
          </a:xfrm>
          <a:prstGeom prst="rect">
            <a:avLst/>
          </a:prstGeom>
          <a:solidFill>
            <a:srgbClr val="B7E0E9"/>
          </a:solidFill>
          <a:ln>
            <a:noFill/>
          </a:ln>
        </p:spPr>
      </p:sp>
      <p:sp>
        <p:nvSpPr>
          <p:cNvPr id="70" name="Google Shape;70;p48"/>
          <p:cNvSpPr txBox="1"/>
          <p:nvPr>
            <p:ph idx="1" type="body"/>
          </p:nvPr>
        </p:nvSpPr>
        <p:spPr>
          <a:xfrm>
            <a:off x="676656" y="5909735"/>
            <a:ext cx="922934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48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" type="body"/>
          </p:nvPr>
        </p:nvSpPr>
        <p:spPr>
          <a:xfrm rot="5400000">
            <a:off x="4170426" y="-1482090"/>
            <a:ext cx="3766185" cy="1075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0"/>
          <p:cNvSpPr txBox="1"/>
          <p:nvPr>
            <p:ph type="title"/>
          </p:nvPr>
        </p:nvSpPr>
        <p:spPr>
          <a:xfrm rot="5400000">
            <a:off x="7658100" y="1781175"/>
            <a:ext cx="48006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0"/>
          <p:cNvSpPr txBox="1"/>
          <p:nvPr>
            <p:ph idx="1" type="body"/>
          </p:nvPr>
        </p:nvSpPr>
        <p:spPr>
          <a:xfrm rot="5400000">
            <a:off x="1938338" y="-452437"/>
            <a:ext cx="5400675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83" name="Google Shape;83;p50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0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0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  <a:defRPr b="0" i="0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  <a:defRPr b="0" i="0" sz="2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  <a:defRPr b="0" i="0" sz="2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Char char=" "/>
              <a:defRPr b="0" i="1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Relationship Id="rId5" Type="http://schemas.openxmlformats.org/officeDocument/2006/relationships/image" Target="../media/image21.png"/><Relationship Id="rId6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603504" y="770467"/>
            <a:ext cx="107823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Calibri"/>
              <a:buNone/>
            </a:pPr>
            <a:r>
              <a:rPr lang="en-US"/>
              <a:t>Technical writing style </a:t>
            </a: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667512" y="4206876"/>
            <a:ext cx="9228201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/>
              <a:t>Polishing style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603504" y="767419"/>
            <a:ext cx="10780776" cy="33558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Calibri"/>
              <a:buNone/>
            </a:pPr>
            <a:r>
              <a:rPr lang="en-US"/>
              <a:t>Tips for improving technical writing style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1. Write in the Active Voice</a:t>
            </a:r>
            <a:endParaRPr/>
          </a:p>
        </p:txBody>
      </p:sp>
      <p:pic>
        <p:nvPicPr>
          <p:cNvPr descr="Active Voice Passive Voice I Wrote the Paper the Paper Was Written by Me  Inner Voice I'm Gonna Fail Dopl3r… | Funny baby jokes, Latest funny jokes,  Very funny jokes" id="102" name="Google Shape;102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609" y="1645603"/>
            <a:ext cx="5126831" cy="51268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re Memes, Make Memes, Make Money, Make Communities"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5440" y="85566"/>
            <a:ext cx="66611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8731d00ad_0_2"/>
          <p:cNvSpPr txBox="1"/>
          <p:nvPr>
            <p:ph type="title"/>
          </p:nvPr>
        </p:nvSpPr>
        <p:spPr>
          <a:xfrm>
            <a:off x="657225" y="499530"/>
            <a:ext cx="10772700" cy="68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active &gt; passive voice</a:t>
            </a:r>
            <a:endParaRPr/>
          </a:p>
        </p:txBody>
      </p:sp>
      <p:sp>
        <p:nvSpPr>
          <p:cNvPr id="110" name="Google Shape;110;g148731d00ad_0_2"/>
          <p:cNvSpPr/>
          <p:nvPr/>
        </p:nvSpPr>
        <p:spPr>
          <a:xfrm>
            <a:off x="769975" y="1862225"/>
            <a:ext cx="2256300" cy="1951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Normal word order is SVO</a:t>
            </a:r>
            <a:endParaRPr sz="2100"/>
          </a:p>
        </p:txBody>
      </p:sp>
      <p:sp>
        <p:nvSpPr>
          <p:cNvPr id="111" name="Google Shape;111;g148731d00ad_0_2"/>
          <p:cNvSpPr/>
          <p:nvPr/>
        </p:nvSpPr>
        <p:spPr>
          <a:xfrm>
            <a:off x="4825875" y="1933850"/>
            <a:ext cx="2256300" cy="1951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items in top-down order</a:t>
            </a:r>
            <a:endParaRPr sz="3000"/>
          </a:p>
        </p:txBody>
      </p:sp>
      <p:sp>
        <p:nvSpPr>
          <p:cNvPr id="112" name="Google Shape;112;g148731d00ad_0_2"/>
          <p:cNvSpPr/>
          <p:nvPr/>
        </p:nvSpPr>
        <p:spPr>
          <a:xfrm>
            <a:off x="8550325" y="1790600"/>
            <a:ext cx="2256300" cy="1951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less wordy and confusing.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13" name="Google Shape;113;g148731d00ad_0_2"/>
          <p:cNvSpPr/>
          <p:nvPr/>
        </p:nvSpPr>
        <p:spPr>
          <a:xfrm>
            <a:off x="1701075" y="4763000"/>
            <a:ext cx="9490200" cy="136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</a:rPr>
              <a:t>The planning committee discovered that the room wasn’t available. (active)  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100">
                <a:solidFill>
                  <a:schemeClr val="dk1"/>
                </a:solidFill>
              </a:rPr>
              <a:t>It was discovered by the planning committee that the room wasn’t available. (passive)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460513" y="87680"/>
            <a:ext cx="1077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Change Passive to Active</a:t>
            </a:r>
            <a:endParaRPr/>
          </a:p>
        </p:txBody>
      </p:sp>
      <p:pic>
        <p:nvPicPr>
          <p:cNvPr id="119" name="Google Shape;119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9341" l="12151" r="2237" t="5836"/>
          <a:stretch/>
        </p:blipFill>
        <p:spPr>
          <a:xfrm>
            <a:off x="408100" y="734176"/>
            <a:ext cx="11375700" cy="16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825" y="2511375"/>
            <a:ext cx="11168700" cy="17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800" y="4427175"/>
            <a:ext cx="11168700" cy="223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Use the Passive If It Is Accurate</a:t>
            </a:r>
            <a:endParaRPr/>
          </a:p>
        </p:txBody>
      </p:sp>
      <p:pic>
        <p:nvPicPr>
          <p:cNvPr id="127" name="Google Shape;12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4767" r="2187" t="0"/>
          <a:stretch/>
        </p:blipFill>
        <p:spPr>
          <a:xfrm>
            <a:off x="126432" y="2202602"/>
            <a:ext cx="11939136" cy="3169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83" y="1391920"/>
            <a:ext cx="12041833" cy="2377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2. Use Parallelism</a:t>
            </a:r>
            <a:endParaRPr/>
          </a:p>
        </p:txBody>
      </p:sp>
      <p:pic>
        <p:nvPicPr>
          <p:cNvPr id="138" name="Google Shape;138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2163" r="1362" t="25835"/>
          <a:stretch/>
        </p:blipFill>
        <p:spPr>
          <a:xfrm>
            <a:off x="355600" y="2157731"/>
            <a:ext cx="11511280" cy="100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600" y="3160361"/>
            <a:ext cx="11511280" cy="992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136" y="4162991"/>
            <a:ext cx="11916207" cy="107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135" y="5246269"/>
            <a:ext cx="11916207" cy="1063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3. Use There Are (indefinite phrase) Sparingly</a:t>
            </a:r>
            <a:endParaRPr/>
          </a:p>
        </p:txBody>
      </p:sp>
      <p:sp>
        <p:nvSpPr>
          <p:cNvPr id="148" name="Google Shape;148;p10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>
                <a:highlight>
                  <a:srgbClr val="FF00FF"/>
                </a:highlight>
              </a:rPr>
              <a:t>Ineffective. </a:t>
            </a:r>
            <a:endParaRPr/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Char char=" "/>
            </a:pPr>
            <a:r>
              <a:rPr lang="en-US">
                <a:highlight>
                  <a:srgbClr val="FF00FF"/>
                </a:highlight>
              </a:rPr>
              <a:t>There is a change in efficiency policy that could increase our profits.</a:t>
            </a:r>
            <a:endParaRPr/>
          </a:p>
          <a:p>
            <a:pPr indent="-304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>
                <a:highlight>
                  <a:srgbClr val="00FF00"/>
                </a:highlight>
              </a:rPr>
              <a:t>Effective </a:t>
            </a:r>
            <a:endParaRPr/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Char char=" "/>
            </a:pPr>
            <a:r>
              <a:rPr lang="en-US">
                <a:highlight>
                  <a:srgbClr val="00FF00"/>
                </a:highlight>
              </a:rPr>
              <a:t>Our profits will increase if we change our efficiency policy.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233680" y="314960"/>
            <a:ext cx="1156208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>
                <a:highlight>
                  <a:srgbClr val="FF00FF"/>
                </a:highlight>
              </a:rPr>
              <a:t>Ineffective </a:t>
            </a:r>
            <a:endParaRPr/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Char char=" "/>
            </a:pPr>
            <a:r>
              <a:rPr lang="en-US">
                <a:highlight>
                  <a:srgbClr val="FF00FF"/>
                </a:highlight>
              </a:rPr>
              <a:t>There are three problems that this process has.</a:t>
            </a:r>
            <a:endParaRPr/>
          </a:p>
          <a:p>
            <a:pPr indent="-304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>
                <a:highlight>
                  <a:srgbClr val="00FF00"/>
                </a:highlight>
              </a:rPr>
              <a:t>Effective </a:t>
            </a:r>
            <a:endParaRPr/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Char char=" "/>
            </a:pPr>
            <a:r>
              <a:rPr lang="en-US">
                <a:highlight>
                  <a:srgbClr val="00FF00"/>
                </a:highlight>
              </a:rPr>
              <a:t>This process has three problems.</a:t>
            </a:r>
            <a:endParaRPr/>
          </a:p>
          <a:p>
            <a:pPr indent="-304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>
                <a:highlight>
                  <a:srgbClr val="FF00FF"/>
                </a:highlight>
              </a:rPr>
              <a:t>Ineffective </a:t>
            </a:r>
            <a:endParaRPr/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Char char=" "/>
            </a:pPr>
            <a:r>
              <a:rPr lang="en-US">
                <a:highlight>
                  <a:srgbClr val="FF00FF"/>
                </a:highlight>
              </a:rPr>
              <a:t>There are two reasons why we should talk about abandoning our current location.</a:t>
            </a:r>
            <a:endParaRPr/>
          </a:p>
          <a:p>
            <a:pPr indent="-304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>
                <a:highlight>
                  <a:srgbClr val="00FF00"/>
                </a:highlight>
              </a:rPr>
              <a:t>Effective </a:t>
            </a:r>
            <a:endParaRPr/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Char char=" "/>
            </a:pPr>
            <a:r>
              <a:rPr lang="en-US">
                <a:highlight>
                  <a:srgbClr val="00FF00"/>
                </a:highlight>
              </a:rPr>
              <a:t>We should abandon our current location for two reasons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8731d00ad_0_14"/>
          <p:cNvSpPr txBox="1"/>
          <p:nvPr>
            <p:ph type="title"/>
          </p:nvPr>
        </p:nvSpPr>
        <p:spPr>
          <a:xfrm>
            <a:off x="657225" y="499528"/>
            <a:ext cx="10772700" cy="950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/>
              <a:t>Exercise</a:t>
            </a:r>
            <a:r>
              <a:rPr lang="en-US"/>
              <a:t>: Eliminate there are, or any related form, from the following sentences.</a:t>
            </a:r>
            <a:endParaRPr/>
          </a:p>
        </p:txBody>
      </p:sp>
      <p:sp>
        <p:nvSpPr>
          <p:cNvPr id="160" name="Google Shape;160;g148731d00ad_0_14"/>
          <p:cNvSpPr txBox="1"/>
          <p:nvPr>
            <p:ph idx="1" type="body"/>
          </p:nvPr>
        </p:nvSpPr>
        <p:spPr>
          <a:xfrm>
            <a:off x="676656" y="2011680"/>
            <a:ext cx="10753800" cy="376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441960" lvl="0" marL="457200" rtl="0" algn="l">
              <a:spcBef>
                <a:spcPts val="13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T</a:t>
            </a:r>
            <a:r>
              <a:rPr lang="en-US"/>
              <a:t>here are several methods of research that I will use.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/>
              <a:t>• There are slowness and inefficiency in the data processing and information retrieval.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/>
              <a:t>• There is a need for some XML code to be learned by me.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/>
              <a:t>• There is a reliance on business to provide product information on the Web.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4. Avoid Nominalizations </a:t>
            </a:r>
            <a:endParaRPr/>
          </a:p>
        </p:txBody>
      </p:sp>
      <p:pic>
        <p:nvPicPr>
          <p:cNvPr id="167" name="Google Shape;167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122" y="1821163"/>
            <a:ext cx="11464867" cy="1035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120" y="2954152"/>
            <a:ext cx="11464867" cy="949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119" y="4001677"/>
            <a:ext cx="11464867" cy="984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6119" y="5084462"/>
            <a:ext cx="11534844" cy="949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5. Put the Main Idea First</a:t>
            </a:r>
            <a:endParaRPr/>
          </a:p>
        </p:txBody>
      </p:sp>
      <p:pic>
        <p:nvPicPr>
          <p:cNvPr id="176" name="Google Shape;176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161" y="1746307"/>
            <a:ext cx="11793677" cy="185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161" y="3825058"/>
            <a:ext cx="11793676" cy="1896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6. Write Sentences of 12 to 25 Words</a:t>
            </a:r>
            <a:endParaRPr/>
          </a:p>
        </p:txBody>
      </p:sp>
      <p:pic>
        <p:nvPicPr>
          <p:cNvPr id="184" name="Google Shape;184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8" y="1931981"/>
            <a:ext cx="12044272" cy="186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97" y="4048991"/>
            <a:ext cx="12065931" cy="1946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7. Use </a:t>
            </a:r>
            <a:r>
              <a:rPr i="1" lang="en-US"/>
              <a:t>You</a:t>
            </a:r>
            <a:r>
              <a:rPr lang="en-US"/>
              <a:t> Correctly</a:t>
            </a:r>
            <a:endParaRPr/>
          </a:p>
        </p:txBody>
      </p:sp>
      <p:sp>
        <p:nvSpPr>
          <p:cNvPr id="191" name="Google Shape;191;p15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>
                <a:highlight>
                  <a:srgbClr val="FF0000"/>
                </a:highlight>
              </a:rPr>
              <a:t>Do not use you in formal reports</a:t>
            </a:r>
            <a:endParaRPr/>
          </a:p>
          <a:p>
            <a:pPr indent="-304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/>
              <a:t>you means “the reader”; it should not mean “I,” or a very informal substitute for “the” or “a</a:t>
            </a:r>
            <a:endParaRPr/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Char char=" "/>
            </a:pPr>
            <a:r>
              <a:rPr lang="en-US"/>
              <a:t>“This is your basic hammer.”</a:t>
            </a:r>
            <a:endParaRPr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383" y="1723411"/>
            <a:ext cx="11305141" cy="991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963" y="3556926"/>
            <a:ext cx="11367982" cy="991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8. Avoid Sexist Language</a:t>
            </a:r>
            <a:endParaRPr/>
          </a:p>
        </p:txBody>
      </p:sp>
      <p:pic>
        <p:nvPicPr>
          <p:cNvPr id="203" name="Google Shape;203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3979" t="13786"/>
          <a:stretch/>
        </p:blipFill>
        <p:spPr>
          <a:xfrm>
            <a:off x="399450" y="2249863"/>
            <a:ext cx="11299214" cy="590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/>
          <p:cNvPicPr preferRelativeResize="0"/>
          <p:nvPr/>
        </p:nvPicPr>
        <p:blipFill rotWithShape="1">
          <a:blip r:embed="rId4">
            <a:alphaModFix/>
          </a:blip>
          <a:srcRect b="6701" l="0" r="15836" t="0"/>
          <a:stretch/>
        </p:blipFill>
        <p:spPr>
          <a:xfrm>
            <a:off x="192060" y="3067250"/>
            <a:ext cx="11653098" cy="57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69" y="3891056"/>
            <a:ext cx="11997764" cy="671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69" y="4819127"/>
            <a:ext cx="11997763" cy="938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 txBox="1"/>
          <p:nvPr>
            <p:ph type="title"/>
          </p:nvPr>
        </p:nvSpPr>
        <p:spPr>
          <a:xfrm>
            <a:off x="603504" y="767419"/>
            <a:ext cx="10780776" cy="33558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Calibri"/>
              <a:buNone/>
            </a:pPr>
            <a:r>
              <a:rPr lang="en-US"/>
              <a:t>Eliminate Common Clarity Errors</a:t>
            </a:r>
            <a:endParaRPr/>
          </a:p>
        </p:txBody>
      </p:sp>
      <p:sp>
        <p:nvSpPr>
          <p:cNvPr id="212" name="Google Shape;212;p18"/>
          <p:cNvSpPr txBox="1"/>
          <p:nvPr>
            <p:ph idx="1" type="body"/>
          </p:nvPr>
        </p:nvSpPr>
        <p:spPr>
          <a:xfrm>
            <a:off x="667512" y="4204209"/>
            <a:ext cx="92262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1. Avoid Strings of Choppy Sentences</a:t>
            </a:r>
            <a:endParaRPr/>
          </a:p>
        </p:txBody>
      </p:sp>
      <p:pic>
        <p:nvPicPr>
          <p:cNvPr id="218" name="Google Shape;218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998" y="1948766"/>
            <a:ext cx="11391968" cy="126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998" y="3872059"/>
            <a:ext cx="11445049" cy="992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2. Avoid Wordiness and Redundancy</a:t>
            </a:r>
            <a:endParaRPr/>
          </a:p>
        </p:txBody>
      </p:sp>
      <p:pic>
        <p:nvPicPr>
          <p:cNvPr id="225" name="Google Shape;225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379" y="2053745"/>
            <a:ext cx="11320481" cy="910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139" y="3498990"/>
            <a:ext cx="11263721" cy="943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208" y="345957"/>
            <a:ext cx="11884301" cy="1209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208" y="1838227"/>
            <a:ext cx="11884301" cy="745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207" y="3265854"/>
            <a:ext cx="11884301" cy="1008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650" y="4409924"/>
            <a:ext cx="11792700" cy="1032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133" y="1465811"/>
            <a:ext cx="11512650" cy="1013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747" y="3247477"/>
            <a:ext cx="11514036" cy="9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3. Avoid Noun Clusters</a:t>
            </a:r>
            <a:endParaRPr/>
          </a:p>
        </p:txBody>
      </p:sp>
      <p:pic>
        <p:nvPicPr>
          <p:cNvPr id="246" name="Google Shape;246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884" y="2083325"/>
            <a:ext cx="10903990" cy="84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884" y="3930000"/>
            <a:ext cx="10903990" cy="863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4. Put the Topic Sentence First</a:t>
            </a:r>
            <a:endParaRPr/>
          </a:p>
        </p:txBody>
      </p:sp>
      <p:pic>
        <p:nvPicPr>
          <p:cNvPr id="253" name="Google Shape;253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181" y="1716086"/>
            <a:ext cx="10873818" cy="4310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>
            <p:ph type="title"/>
          </p:nvPr>
        </p:nvSpPr>
        <p:spPr>
          <a:xfrm>
            <a:off x="0" y="160175"/>
            <a:ext cx="77892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5. Arrange Sentences by Level</a:t>
            </a:r>
            <a:endParaRPr/>
          </a:p>
        </p:txBody>
      </p:sp>
      <p:sp>
        <p:nvSpPr>
          <p:cNvPr id="259" name="Google Shape;259;p25"/>
          <p:cNvSpPr txBox="1"/>
          <p:nvPr>
            <p:ph idx="1" type="body"/>
          </p:nvPr>
        </p:nvSpPr>
        <p:spPr>
          <a:xfrm>
            <a:off x="177036" y="838987"/>
            <a:ext cx="11804432" cy="2724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4310" lvl="0" marL="91440" rtl="0" algn="just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60"/>
              <a:buChar char=" "/>
            </a:pPr>
            <a:r>
              <a:rPr lang="en-US" sz="3060"/>
              <a:t>Hydraulic pumps are classified as either nonpositive or positive displacement units. Nonpositive displacement pumps produce a continuous flow. Because of this design, there is no positive internal seal against leakage, and their output varies as pressure varies. Positive displacement pumps produce a pulsating flow. Their design provides a positive internal seal against leakage. Their output is virtually unaffected as system pressure varies.</a:t>
            </a:r>
            <a:endParaRPr sz="3060"/>
          </a:p>
        </p:txBody>
      </p:sp>
      <p:pic>
        <p:nvPicPr>
          <p:cNvPr id="260" name="Google Shape;260;p25"/>
          <p:cNvPicPr preferRelativeResize="0"/>
          <p:nvPr/>
        </p:nvPicPr>
        <p:blipFill rotWithShape="1">
          <a:blip r:embed="rId3">
            <a:alphaModFix/>
          </a:blip>
          <a:srcRect b="4416" l="880" r="1472" t="0"/>
          <a:stretch/>
        </p:blipFill>
        <p:spPr>
          <a:xfrm>
            <a:off x="177036" y="3267262"/>
            <a:ext cx="11732160" cy="3590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6. Repeat Terms in a New/Old Sequence</a:t>
            </a:r>
            <a:endParaRPr/>
          </a:p>
        </p:txBody>
      </p:sp>
      <p:pic>
        <p:nvPicPr>
          <p:cNvPr id="266" name="Google Shape;266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520" y="2026763"/>
            <a:ext cx="11795841" cy="299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7. Provide Transitions</a:t>
            </a:r>
            <a:endParaRPr/>
          </a:p>
        </p:txBody>
      </p:sp>
      <p:sp>
        <p:nvSpPr>
          <p:cNvPr id="272" name="Google Shape;272;p27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/>
              <a:t>first/second </a:t>
            </a:r>
            <a:endParaRPr/>
          </a:p>
          <a:p>
            <a:pPr indent="-304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/>
              <a:t>not only/but also </a:t>
            </a:r>
            <a:endParaRPr/>
          </a:p>
          <a:p>
            <a:pPr indent="-304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/>
              <a:t>however, therefore</a:t>
            </a:r>
            <a:endParaRPr/>
          </a:p>
          <a:p>
            <a:pPr indent="-304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/>
              <a:t> and but are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 txBox="1"/>
          <p:nvPr>
            <p:ph type="title"/>
          </p:nvPr>
        </p:nvSpPr>
        <p:spPr>
          <a:xfrm>
            <a:off x="603504" y="767419"/>
            <a:ext cx="10780776" cy="33558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Calibri"/>
              <a:buNone/>
            </a:pPr>
            <a:r>
              <a:rPr lang="en-US"/>
              <a:t>Choose a Tone for the Reader </a:t>
            </a:r>
            <a:endParaRPr/>
          </a:p>
        </p:txBody>
      </p:sp>
      <p:sp>
        <p:nvSpPr>
          <p:cNvPr id="278" name="Google Shape;278;p28"/>
          <p:cNvSpPr txBox="1"/>
          <p:nvPr>
            <p:ph idx="1" type="body"/>
          </p:nvPr>
        </p:nvSpPr>
        <p:spPr>
          <a:xfrm>
            <a:off x="667512" y="4204209"/>
            <a:ext cx="92262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Learn to control tone</a:t>
            </a:r>
            <a:endParaRPr/>
          </a:p>
        </p:txBody>
      </p:sp>
      <p:sp>
        <p:nvSpPr>
          <p:cNvPr id="284" name="Google Shape;284;p29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14400" lvl="0" marL="9144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AutoNum type="arabicPeriod"/>
            </a:pPr>
            <a:r>
              <a:rPr lang="en-US"/>
              <a:t>Forceful</a:t>
            </a:r>
            <a:endParaRPr/>
          </a:p>
          <a:p>
            <a:pPr indent="-914400" lvl="0" marL="91440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AutoNum type="arabicPeriod"/>
            </a:pPr>
            <a:r>
              <a:rPr lang="en-US"/>
              <a:t>Passive</a:t>
            </a:r>
            <a:endParaRPr/>
          </a:p>
          <a:p>
            <a:pPr indent="-914400" lvl="0" marL="91440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AutoNum type="arabicPeriod"/>
            </a:pPr>
            <a:r>
              <a:rPr lang="en-US"/>
              <a:t>Personal</a:t>
            </a:r>
            <a:endParaRPr/>
          </a:p>
          <a:p>
            <a:pPr indent="-914400" lvl="0" marL="91440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AutoNum type="arabicPeriod"/>
            </a:pPr>
            <a:r>
              <a:rPr lang="en-US"/>
              <a:t>Impersonal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1. Forceful </a:t>
            </a:r>
            <a:endParaRPr/>
          </a:p>
        </p:txBody>
      </p:sp>
      <p:sp>
        <p:nvSpPr>
          <p:cNvPr id="290" name="Google Shape;290;p30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5908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Use the active voice.</a:t>
            </a:r>
            <a:endParaRPr/>
          </a:p>
          <a:p>
            <a:pPr indent="-25908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Use the subject–verb–object structure.</a:t>
            </a:r>
            <a:endParaRPr/>
          </a:p>
          <a:p>
            <a:pPr indent="-25908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Do not use “weasel words” (possibly, maybe, perhaps).</a:t>
            </a:r>
            <a:endParaRPr/>
          </a:p>
          <a:p>
            <a:pPr indent="-25908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75471"/>
              <a:buFont typeface="Noto Sans Symbols"/>
              <a:buChar char="▪"/>
            </a:pPr>
            <a:r>
              <a:rPr lang="en-US"/>
              <a:t>Use imperatives</a:t>
            </a:r>
            <a:endParaRPr sz="2735"/>
          </a:p>
          <a:p>
            <a:pPr indent="-25908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Clearly indica</a:t>
            </a:r>
            <a:r>
              <a:rPr lang="en-US"/>
              <a:t>te that you are the responsible agent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96" name="Google Shape;296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91" y="2450970"/>
            <a:ext cx="11604839" cy="234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2. Passive</a:t>
            </a:r>
            <a:endParaRPr/>
          </a:p>
        </p:txBody>
      </p:sp>
      <p:sp>
        <p:nvSpPr>
          <p:cNvPr id="302" name="Google Shape;302;p32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194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Avoid imperatives.</a:t>
            </a:r>
            <a:endParaRPr/>
          </a:p>
          <a:p>
            <a:pPr indent="-28194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Use the passive voice.</a:t>
            </a:r>
            <a:endParaRPr/>
          </a:p>
          <a:p>
            <a:pPr indent="-28194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Use “weasel words” (very, several people, quite, fairly).</a:t>
            </a:r>
            <a:endParaRPr/>
          </a:p>
          <a:p>
            <a:pPr indent="-28194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Use longer sentences.</a:t>
            </a:r>
            <a:endParaRPr/>
          </a:p>
          <a:p>
            <a:pPr indent="-28194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Do not explicitly take responsibility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08" name="Google Shape;308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723" y="113015"/>
            <a:ext cx="11690554" cy="365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730" y="3904177"/>
            <a:ext cx="11784474" cy="1941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3. Personal</a:t>
            </a:r>
            <a:endParaRPr/>
          </a:p>
        </p:txBody>
      </p:sp>
      <p:sp>
        <p:nvSpPr>
          <p:cNvPr id="315" name="Google Shape;315;p34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194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Use the active voice.</a:t>
            </a:r>
            <a:endParaRPr/>
          </a:p>
          <a:p>
            <a:pPr indent="-28194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Use first names.</a:t>
            </a:r>
            <a:endParaRPr/>
          </a:p>
          <a:p>
            <a:pPr indent="-28194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Use personal pronouns.</a:t>
            </a:r>
            <a:endParaRPr/>
          </a:p>
          <a:p>
            <a:pPr indent="-28194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Use short sentences.</a:t>
            </a:r>
            <a:endParaRPr/>
          </a:p>
          <a:p>
            <a:pPr indent="-28194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Use contractions.</a:t>
            </a:r>
            <a:endParaRPr/>
          </a:p>
          <a:p>
            <a:pPr indent="-28194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en-US"/>
              <a:t>Direct questions at the reader.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21" name="Google Shape;321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46" y="283775"/>
            <a:ext cx="11508529" cy="187395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5"/>
          <p:cNvSpPr/>
          <p:nvPr/>
        </p:nvSpPr>
        <p:spPr>
          <a:xfrm>
            <a:off x="246579" y="2486346"/>
            <a:ext cx="112913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This tone is also appropriate for delivering a negative message when both parties are equal</a:t>
            </a:r>
            <a:r>
              <a:rPr b="0" i="0" lang="en-US" sz="3600" u="none" cap="none" strike="noStrike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323" name="Google Shape;32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035" y="3897625"/>
            <a:ext cx="11620073" cy="2460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6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4. Impersonal </a:t>
            </a:r>
            <a:endParaRPr/>
          </a:p>
        </p:txBody>
      </p:sp>
      <p:sp>
        <p:nvSpPr>
          <p:cNvPr id="329" name="Google Shape;329;p36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 Symbols"/>
              <a:buChar char="▪"/>
            </a:pPr>
            <a:r>
              <a:rPr lang="en-US"/>
              <a:t>Do not use names, especially first names.</a:t>
            </a:r>
            <a:endParaRPr/>
          </a:p>
          <a:p>
            <a:pPr indent="-304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 Symbols"/>
              <a:buChar char="▪"/>
            </a:pPr>
            <a:r>
              <a:rPr lang="en-US"/>
              <a:t>Do not use personal pronouns.</a:t>
            </a:r>
            <a:endParaRPr/>
          </a:p>
          <a:p>
            <a:pPr indent="-304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 Symbols"/>
              <a:buChar char="▪"/>
            </a:pPr>
            <a:r>
              <a:rPr lang="en-US"/>
              <a:t>Use the passive voice.</a:t>
            </a:r>
            <a:endParaRPr/>
          </a:p>
          <a:p>
            <a:pPr indent="-304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 Symbols"/>
              <a:buChar char="▪"/>
            </a:pPr>
            <a:r>
              <a:rPr lang="en-US"/>
              <a:t>Use longer sentences.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35" name="Google Shape;335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94" y="924674"/>
            <a:ext cx="11859012" cy="2188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Source </a:t>
            </a:r>
            <a:endParaRPr/>
          </a:p>
        </p:txBody>
      </p:sp>
      <p:sp>
        <p:nvSpPr>
          <p:cNvPr id="341" name="Google Shape;341;p38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Char char=" "/>
            </a:pPr>
            <a:r>
              <a:rPr lang="en-US"/>
              <a:t>Riordan, D. (2014). </a:t>
            </a:r>
            <a:r>
              <a:rPr i="1" lang="en-US"/>
              <a:t>Technical report writing today</a:t>
            </a:r>
            <a:r>
              <a:rPr lang="en-US"/>
              <a:t>. Cengage Learning.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2022-08-26T10:41:52Z</dcterms:created>
  <dc:creator>RAJA HASHAM AHMAD</dc:creator>
</cp:coreProperties>
</file>