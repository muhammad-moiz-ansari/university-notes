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Century Gothic"/>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1" roundtripDataSignature="AMtx7mgUtNi2MR2W0113gte0PMAvFRK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enturyGothic-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enturyGothic-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CenturyGothic-italic.fntdata"/><Relationship Id="rId6" Type="http://schemas.openxmlformats.org/officeDocument/2006/relationships/slide" Target="slides/slide2.xml"/><Relationship Id="rId18" Type="http://schemas.openxmlformats.org/officeDocument/2006/relationships/font" Target="fonts/CenturyGothic-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4"/>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p:txBody>
      </p:sp>
      <p:sp>
        <p:nvSpPr>
          <p:cNvPr id="20" name="Google Shape;20;p1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6" name="Google Shape;26;p1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16"/>
          <p:cNvSpPr txBox="1"/>
          <p:nvPr>
            <p:ph type="title"/>
          </p:nvPr>
        </p:nvSpPr>
        <p:spPr>
          <a:xfrm>
            <a:off x="1154956" y="2861733"/>
            <a:ext cx="8825657" cy="191564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 type="body"/>
          </p:nvPr>
        </p:nvSpPr>
        <p:spPr>
          <a:xfrm>
            <a:off x="1154955" y="4777381"/>
            <a:ext cx="882565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32" name="Google Shape;32;p1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1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7"/>
          <p:cNvSpPr txBox="1"/>
          <p:nvPr>
            <p:ph idx="1" type="body"/>
          </p:nvPr>
        </p:nvSpPr>
        <p:spPr>
          <a:xfrm>
            <a:off x="1103312" y="2060575"/>
            <a:ext cx="4396339" cy="419576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8" name="Google Shape;38;p17"/>
          <p:cNvSpPr txBox="1"/>
          <p:nvPr>
            <p:ph idx="2" type="body"/>
          </p:nvPr>
        </p:nvSpPr>
        <p:spPr>
          <a:xfrm>
            <a:off x="5654493" y="2056092"/>
            <a:ext cx="4396341" cy="420024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39" name="Google Shape;39;p1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1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 type="body"/>
          </p:nvPr>
        </p:nvSpPr>
        <p:spPr>
          <a:xfrm>
            <a:off x="1103313" y="1905000"/>
            <a:ext cx="43963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5" name="Google Shape;45;p18"/>
          <p:cNvSpPr txBox="1"/>
          <p:nvPr>
            <p:ph idx="2" type="body"/>
          </p:nvPr>
        </p:nvSpPr>
        <p:spPr>
          <a:xfrm>
            <a:off x="1103312"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6" name="Google Shape;46;p18"/>
          <p:cNvSpPr txBox="1"/>
          <p:nvPr>
            <p:ph idx="3" type="body"/>
          </p:nvPr>
        </p:nvSpPr>
        <p:spPr>
          <a:xfrm>
            <a:off x="5654495" y="1905000"/>
            <a:ext cx="439633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47" name="Google Shape;47;p18"/>
          <p:cNvSpPr txBox="1"/>
          <p:nvPr>
            <p:ph idx="4" type="body"/>
          </p:nvPr>
        </p:nvSpPr>
        <p:spPr>
          <a:xfrm>
            <a:off x="5654495" y="2514600"/>
            <a:ext cx="4396339" cy="374173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48" name="Google Shape;48;p1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1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21"/>
          <p:cNvSpPr txBox="1"/>
          <p:nvPr>
            <p:ph type="title"/>
          </p:nvPr>
        </p:nvSpPr>
        <p:spPr>
          <a:xfrm>
            <a:off x="1154953" y="1447800"/>
            <a:ext cx="3401064" cy="1447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1"/>
          <p:cNvSpPr txBox="1"/>
          <p:nvPr>
            <p:ph idx="1" type="body"/>
          </p:nvPr>
        </p:nvSpPr>
        <p:spPr>
          <a:xfrm>
            <a:off x="4784616" y="1447800"/>
            <a:ext cx="5195997" cy="4572000"/>
          </a:xfrm>
          <a:prstGeom prst="rect">
            <a:avLst/>
          </a:prstGeom>
          <a:noFill/>
          <a:ln>
            <a:noFill/>
          </a:ln>
        </p:spPr>
        <p:txBody>
          <a:bodyPr anchorCtr="0" anchor="ctr" bIns="45700" lIns="91425" spcFirstLastPara="1" rIns="91425" wrap="square" tIns="45700">
            <a:normAutofit/>
          </a:bodyPr>
          <a:lstStyle>
            <a:lvl1pPr indent="-330200" lvl="0" marL="457200" algn="l">
              <a:spcBef>
                <a:spcPts val="1000"/>
              </a:spcBef>
              <a:spcAft>
                <a:spcPts val="0"/>
              </a:spcAft>
              <a:buSzPts val="1600"/>
              <a:buChar char="►"/>
              <a:defRPr sz="2000"/>
            </a:lvl1pPr>
            <a:lvl2pPr indent="-320040" lvl="1" marL="914400" algn="l">
              <a:spcBef>
                <a:spcPts val="1000"/>
              </a:spcBef>
              <a:spcAft>
                <a:spcPts val="0"/>
              </a:spcAft>
              <a:buSzPts val="1440"/>
              <a:buChar char="►"/>
              <a:defRPr sz="1800"/>
            </a:lvl2pPr>
            <a:lvl3pPr indent="-309880" lvl="2" marL="1371600" algn="l">
              <a:spcBef>
                <a:spcPts val="1000"/>
              </a:spcBef>
              <a:spcAft>
                <a:spcPts val="0"/>
              </a:spcAft>
              <a:buSzPts val="1280"/>
              <a:buChar char="►"/>
              <a:defRPr sz="1600"/>
            </a:lvl3pPr>
            <a:lvl4pPr indent="-299719" lvl="3" marL="1828800" algn="l">
              <a:spcBef>
                <a:spcPts val="1000"/>
              </a:spcBef>
              <a:spcAft>
                <a:spcPts val="0"/>
              </a:spcAft>
              <a:buSzPts val="1120"/>
              <a:buChar char="►"/>
              <a:defRPr sz="1400"/>
            </a:lvl4pPr>
            <a:lvl5pPr indent="-299720" lvl="4" marL="2286000" algn="l">
              <a:spcBef>
                <a:spcPts val="1000"/>
              </a:spcBef>
              <a:spcAft>
                <a:spcPts val="0"/>
              </a:spcAft>
              <a:buSzPts val="1120"/>
              <a:buChar char="►"/>
              <a:defRPr sz="1400"/>
            </a:lvl5pPr>
            <a:lvl6pPr indent="-299720" lvl="5" marL="2743200" algn="l">
              <a:spcBef>
                <a:spcPts val="1000"/>
              </a:spcBef>
              <a:spcAft>
                <a:spcPts val="0"/>
              </a:spcAft>
              <a:buSzPts val="1120"/>
              <a:buChar char="►"/>
              <a:defRPr sz="1400"/>
            </a:lvl6pPr>
            <a:lvl7pPr indent="-299720" lvl="6" marL="3200400" algn="l">
              <a:spcBef>
                <a:spcPts val="1000"/>
              </a:spcBef>
              <a:spcAft>
                <a:spcPts val="0"/>
              </a:spcAft>
              <a:buSzPts val="1120"/>
              <a:buChar char="►"/>
              <a:defRPr sz="1400"/>
            </a:lvl7pPr>
            <a:lvl8pPr indent="-299720" lvl="7" marL="3657600" algn="l">
              <a:spcBef>
                <a:spcPts val="1000"/>
              </a:spcBef>
              <a:spcAft>
                <a:spcPts val="0"/>
              </a:spcAft>
              <a:buSzPts val="1120"/>
              <a:buChar char="►"/>
              <a:defRPr sz="1400"/>
            </a:lvl8pPr>
            <a:lvl9pPr indent="-299720" lvl="8" marL="4114800" algn="l">
              <a:spcBef>
                <a:spcPts val="1000"/>
              </a:spcBef>
              <a:spcAft>
                <a:spcPts val="0"/>
              </a:spcAft>
              <a:buSzPts val="1120"/>
              <a:buChar char="►"/>
              <a:defRPr sz="1400"/>
            </a:lvl9pPr>
          </a:lstStyle>
          <a:p/>
        </p:txBody>
      </p:sp>
      <p:sp>
        <p:nvSpPr>
          <p:cNvPr id="63" name="Google Shape;63;p21"/>
          <p:cNvSpPr txBox="1"/>
          <p:nvPr>
            <p:ph idx="2" type="body"/>
          </p:nvPr>
        </p:nvSpPr>
        <p:spPr>
          <a:xfrm>
            <a:off x="1154953" y="3129280"/>
            <a:ext cx="3401063"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64" name="Google Shape;64;p21"/>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1"/>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22"/>
          <p:cNvSpPr txBox="1"/>
          <p:nvPr>
            <p:ph type="title"/>
          </p:nvPr>
        </p:nvSpPr>
        <p:spPr>
          <a:xfrm>
            <a:off x="1153907" y="1854192"/>
            <a:ext cx="5092906" cy="157480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2"/>
          <p:cNvSpPr/>
          <p:nvPr>
            <p:ph idx="2" type="pic"/>
          </p:nvPr>
        </p:nvSpPr>
        <p:spPr>
          <a:xfrm>
            <a:off x="6949546" y="1143000"/>
            <a:ext cx="3200400"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70" name="Google Shape;70;p22"/>
          <p:cNvSpPr txBox="1"/>
          <p:nvPr>
            <p:ph idx="1" type="body"/>
          </p:nvPr>
        </p:nvSpPr>
        <p:spPr>
          <a:xfrm>
            <a:off x="1154954" y="3657600"/>
            <a:ext cx="5084979"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1" name="Google Shape;71;p22"/>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2"/>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p23"/>
          <p:cNvSpPr txBox="1"/>
          <p:nvPr>
            <p:ph type="title"/>
          </p:nvPr>
        </p:nvSpPr>
        <p:spPr>
          <a:xfrm>
            <a:off x="1154956" y="4800587"/>
            <a:ext cx="882565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p:nvPr>
            <p:ph idx="2" type="pic"/>
          </p:nvPr>
        </p:nvSpPr>
        <p:spPr>
          <a:xfrm>
            <a:off x="1154955" y="685800"/>
            <a:ext cx="8825658" cy="3640666"/>
          </a:xfrm>
          <a:prstGeom prst="roundRect">
            <a:avLst>
              <a:gd fmla="val 1858" name="adj"/>
            </a:avLst>
          </a:prstGeom>
          <a:noFill/>
          <a:ln>
            <a:noFill/>
          </a:ln>
          <a:effectLst>
            <a:outerShdw blurRad="50800" rotWithShape="0" algn="tl" dir="5400000" dist="50800">
              <a:srgbClr val="000000">
                <a:alpha val="42745"/>
              </a:srgbClr>
            </a:outerShdw>
          </a:effectLst>
        </p:spPr>
      </p:sp>
      <p:sp>
        <p:nvSpPr>
          <p:cNvPr id="77" name="Google Shape;77;p23"/>
          <p:cNvSpPr txBox="1"/>
          <p:nvPr>
            <p:ph idx="1" type="body"/>
          </p:nvPr>
        </p:nvSpPr>
        <p:spPr>
          <a:xfrm>
            <a:off x="1154956" y="5367325"/>
            <a:ext cx="8825656"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78" name="Google Shape;78;p2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p24"/>
          <p:cNvSpPr txBox="1"/>
          <p:nvPr>
            <p:ph type="title"/>
          </p:nvPr>
        </p:nvSpPr>
        <p:spPr>
          <a:xfrm>
            <a:off x="1154954" y="1447800"/>
            <a:ext cx="8825659" cy="19812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 type="body"/>
          </p:nvPr>
        </p:nvSpPr>
        <p:spPr>
          <a:xfrm>
            <a:off x="1154954" y="3657600"/>
            <a:ext cx="8825659" cy="23622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4" name="Google Shape;84;p24"/>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4"/>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p25"/>
          <p:cNvSpPr txBox="1"/>
          <p:nvPr>
            <p:ph type="title"/>
          </p:nvPr>
        </p:nvSpPr>
        <p:spPr>
          <a:xfrm>
            <a:off x="1574801" y="1447800"/>
            <a:ext cx="7999315" cy="2323374"/>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5"/>
          <p:cNvSpPr txBox="1"/>
          <p:nvPr>
            <p:ph idx="1" type="body"/>
          </p:nvPr>
        </p:nvSpPr>
        <p:spPr>
          <a:xfrm>
            <a:off x="1930400" y="3771174"/>
            <a:ext cx="727964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0" name="Google Shape;90;p25"/>
          <p:cNvSpPr txBox="1"/>
          <p:nvPr>
            <p:ph idx="2" type="body"/>
          </p:nvPr>
        </p:nvSpPr>
        <p:spPr>
          <a:xfrm>
            <a:off x="1154954" y="4350657"/>
            <a:ext cx="8825659" cy="16764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25"/>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5"/>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4" name="Google Shape;94;p25"/>
          <p:cNvSpPr txBox="1"/>
          <p:nvPr/>
        </p:nvSpPr>
        <p:spPr>
          <a:xfrm>
            <a:off x="898295" y="971253"/>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
        <p:nvSpPr>
          <p:cNvPr id="95" name="Google Shape;95;p25"/>
          <p:cNvSpPr txBox="1"/>
          <p:nvPr/>
        </p:nvSpPr>
        <p:spPr>
          <a:xfrm>
            <a:off x="9330490" y="2613787"/>
            <a:ext cx="801912"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2200" u="none" cap="none" strike="noStrike">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26"/>
          <p:cNvSpPr txBox="1"/>
          <p:nvPr>
            <p:ph type="title"/>
          </p:nvPr>
        </p:nvSpPr>
        <p:spPr>
          <a:xfrm>
            <a:off x="1154954" y="3124201"/>
            <a:ext cx="8825660" cy="165318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6"/>
          <p:cNvSpPr txBox="1"/>
          <p:nvPr>
            <p:ph idx="1" type="body"/>
          </p:nvPr>
        </p:nvSpPr>
        <p:spPr>
          <a:xfrm>
            <a:off x="1154954" y="4777381"/>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86D1D8"/>
                </a:solidFill>
              </a:defRPr>
            </a:lvl1pPr>
            <a:lvl2pPr indent="-228600" lvl="1" marL="914400" algn="l">
              <a:spcBef>
                <a:spcPts val="1000"/>
              </a:spcBef>
              <a:spcAft>
                <a:spcPts val="0"/>
              </a:spcAft>
              <a:buSzPts val="1440"/>
              <a:buNone/>
              <a:defRPr sz="1800">
                <a:solidFill>
                  <a:schemeClr val="lt1"/>
                </a:solidFill>
              </a:defRPr>
            </a:lvl2pPr>
            <a:lvl3pPr indent="-228600" lvl="2" marL="1371600" algn="l">
              <a:spcBef>
                <a:spcPts val="1000"/>
              </a:spcBef>
              <a:spcAft>
                <a:spcPts val="0"/>
              </a:spcAft>
              <a:buSzPts val="1280"/>
              <a:buNone/>
              <a:defRPr sz="1600">
                <a:solidFill>
                  <a:schemeClr val="lt1"/>
                </a:solidFill>
              </a:defRPr>
            </a:lvl3pPr>
            <a:lvl4pPr indent="-228600" lvl="3" marL="1828800" algn="l">
              <a:spcBef>
                <a:spcPts val="1000"/>
              </a:spcBef>
              <a:spcAft>
                <a:spcPts val="0"/>
              </a:spcAft>
              <a:buSzPts val="1120"/>
              <a:buNone/>
              <a:defRPr sz="1400">
                <a:solidFill>
                  <a:schemeClr val="lt1"/>
                </a:solidFill>
              </a:defRPr>
            </a:lvl4pPr>
            <a:lvl5pPr indent="-228600" lvl="4" marL="2286000" algn="l">
              <a:spcBef>
                <a:spcPts val="1000"/>
              </a:spcBef>
              <a:spcAft>
                <a:spcPts val="0"/>
              </a:spcAft>
              <a:buSzPts val="1120"/>
              <a:buNone/>
              <a:defRPr sz="1400">
                <a:solidFill>
                  <a:schemeClr val="lt1"/>
                </a:solidFill>
              </a:defRPr>
            </a:lvl5pPr>
            <a:lvl6pPr indent="-228600" lvl="5" marL="2743200" algn="l">
              <a:spcBef>
                <a:spcPts val="1000"/>
              </a:spcBef>
              <a:spcAft>
                <a:spcPts val="0"/>
              </a:spcAft>
              <a:buSzPts val="1120"/>
              <a:buNone/>
              <a:defRPr sz="1400">
                <a:solidFill>
                  <a:schemeClr val="lt1"/>
                </a:solidFill>
              </a:defRPr>
            </a:lvl6pPr>
            <a:lvl7pPr indent="-228600" lvl="6" marL="3200400" algn="l">
              <a:spcBef>
                <a:spcPts val="1000"/>
              </a:spcBef>
              <a:spcAft>
                <a:spcPts val="0"/>
              </a:spcAft>
              <a:buSzPts val="1120"/>
              <a:buNone/>
              <a:defRPr sz="1400">
                <a:solidFill>
                  <a:schemeClr val="lt1"/>
                </a:solidFill>
              </a:defRPr>
            </a:lvl7pPr>
            <a:lvl8pPr indent="-228600" lvl="7" marL="3657600" algn="l">
              <a:spcBef>
                <a:spcPts val="1000"/>
              </a:spcBef>
              <a:spcAft>
                <a:spcPts val="0"/>
              </a:spcAft>
              <a:buSzPts val="1120"/>
              <a:buNone/>
              <a:defRPr sz="1400">
                <a:solidFill>
                  <a:schemeClr val="lt1"/>
                </a:solidFill>
              </a:defRPr>
            </a:lvl8pPr>
            <a:lvl9pPr indent="-228600" lvl="8" marL="4114800" algn="l">
              <a:spcBef>
                <a:spcPts val="1000"/>
              </a:spcBef>
              <a:spcAft>
                <a:spcPts val="0"/>
              </a:spcAft>
              <a:buSzPts val="1120"/>
              <a:buNone/>
              <a:defRPr sz="1400">
                <a:solidFill>
                  <a:schemeClr val="lt1"/>
                </a:solidFill>
              </a:defRPr>
            </a:lvl9pPr>
          </a:lstStyle>
          <a:p/>
        </p:txBody>
      </p:sp>
      <p:sp>
        <p:nvSpPr>
          <p:cNvPr id="99" name="Google Shape;99;p26"/>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6"/>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7"/>
          <p:cNvSpPr txBox="1"/>
          <p:nvPr>
            <p:ph idx="1" type="body"/>
          </p:nvPr>
        </p:nvSpPr>
        <p:spPr>
          <a:xfrm>
            <a:off x="632947" y="1981200"/>
            <a:ext cx="2946866"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5" name="Google Shape;105;p27"/>
          <p:cNvSpPr txBox="1"/>
          <p:nvPr>
            <p:ph idx="2" type="body"/>
          </p:nvPr>
        </p:nvSpPr>
        <p:spPr>
          <a:xfrm>
            <a:off x="652463" y="2667000"/>
            <a:ext cx="2927350"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6" name="Google Shape;106;p27"/>
          <p:cNvSpPr txBox="1"/>
          <p:nvPr>
            <p:ph idx="3" type="body"/>
          </p:nvPr>
        </p:nvSpPr>
        <p:spPr>
          <a:xfrm>
            <a:off x="3883659" y="1981200"/>
            <a:ext cx="293624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7" name="Google Shape;107;p27"/>
          <p:cNvSpPr txBox="1"/>
          <p:nvPr>
            <p:ph idx="4" type="body"/>
          </p:nvPr>
        </p:nvSpPr>
        <p:spPr>
          <a:xfrm>
            <a:off x="3873106" y="2667000"/>
            <a:ext cx="2946794"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08" name="Google Shape;108;p27"/>
          <p:cNvSpPr txBox="1"/>
          <p:nvPr>
            <p:ph idx="5" type="body"/>
          </p:nvPr>
        </p:nvSpPr>
        <p:spPr>
          <a:xfrm>
            <a:off x="7124700" y="1981200"/>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09" name="Google Shape;109;p27"/>
          <p:cNvSpPr txBox="1"/>
          <p:nvPr>
            <p:ph idx="6" type="body"/>
          </p:nvPr>
        </p:nvSpPr>
        <p:spPr>
          <a:xfrm>
            <a:off x="7124700" y="2667000"/>
            <a:ext cx="2932113" cy="3589338"/>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10" name="Google Shape;110;p27"/>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p27"/>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p27"/>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p2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 type="body"/>
          </p:nvPr>
        </p:nvSpPr>
        <p:spPr>
          <a:xfrm>
            <a:off x="652463" y="4250949"/>
            <a:ext cx="294005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8" name="Google Shape;118;p28"/>
          <p:cNvSpPr/>
          <p:nvPr>
            <p:ph idx="2" type="pic"/>
          </p:nvPr>
        </p:nvSpPr>
        <p:spPr>
          <a:xfrm>
            <a:off x="652463" y="2209800"/>
            <a:ext cx="2940050"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9" name="Google Shape;119;p28"/>
          <p:cNvSpPr txBox="1"/>
          <p:nvPr>
            <p:ph idx="3" type="body"/>
          </p:nvPr>
        </p:nvSpPr>
        <p:spPr>
          <a:xfrm>
            <a:off x="652463" y="4827211"/>
            <a:ext cx="2940050"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0" name="Google Shape;120;p28"/>
          <p:cNvSpPr txBox="1"/>
          <p:nvPr>
            <p:ph idx="4" type="body"/>
          </p:nvPr>
        </p:nvSpPr>
        <p:spPr>
          <a:xfrm>
            <a:off x="3889375" y="4250949"/>
            <a:ext cx="293052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1" name="Google Shape;121;p28"/>
          <p:cNvSpPr/>
          <p:nvPr>
            <p:ph idx="5" type="pic"/>
          </p:nvPr>
        </p:nvSpPr>
        <p:spPr>
          <a:xfrm>
            <a:off x="3889374" y="2209800"/>
            <a:ext cx="2930525"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2" name="Google Shape;122;p28"/>
          <p:cNvSpPr txBox="1"/>
          <p:nvPr>
            <p:ph idx="6" type="body"/>
          </p:nvPr>
        </p:nvSpPr>
        <p:spPr>
          <a:xfrm>
            <a:off x="3888022" y="4827210"/>
            <a:ext cx="2934406"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23" name="Google Shape;123;p28"/>
          <p:cNvSpPr txBox="1"/>
          <p:nvPr>
            <p:ph idx="7" type="body"/>
          </p:nvPr>
        </p:nvSpPr>
        <p:spPr>
          <a:xfrm>
            <a:off x="7124700" y="4250949"/>
            <a:ext cx="293211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86D1D8"/>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24" name="Google Shape;124;p28"/>
          <p:cNvSpPr/>
          <p:nvPr>
            <p:ph idx="8" type="pic"/>
          </p:nvPr>
        </p:nvSpPr>
        <p:spPr>
          <a:xfrm>
            <a:off x="7124699" y="2209800"/>
            <a:ext cx="2932113" cy="1524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25" name="Google Shape;125;p28"/>
          <p:cNvSpPr txBox="1"/>
          <p:nvPr>
            <p:ph idx="9" type="body"/>
          </p:nvPr>
        </p:nvSpPr>
        <p:spPr>
          <a:xfrm>
            <a:off x="7124575" y="4827208"/>
            <a:ext cx="2935997" cy="65918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126" name="Google Shape;126;p28"/>
          <p:cNvCxnSpPr/>
          <p:nvPr/>
        </p:nvCxnSpPr>
        <p:spPr>
          <a:xfrm>
            <a:off x="3726142" y="2133600"/>
            <a:ext cx="0" cy="39624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p28"/>
          <p:cNvCxnSpPr/>
          <p:nvPr/>
        </p:nvCxnSpPr>
        <p:spPr>
          <a:xfrm>
            <a:off x="6962227" y="2133600"/>
            <a:ext cx="0" cy="3966882"/>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p28"/>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8"/>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29"/>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9"/>
          <p:cNvSpPr txBox="1"/>
          <p:nvPr>
            <p:ph idx="1" type="body"/>
          </p:nvPr>
        </p:nvSpPr>
        <p:spPr>
          <a:xfrm rot="5400000">
            <a:off x="3478842" y="-322612"/>
            <a:ext cx="4195481" cy="894654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29"/>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9"/>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30"/>
          <p:cNvSpPr txBox="1"/>
          <p:nvPr>
            <p:ph type="title"/>
          </p:nvPr>
        </p:nvSpPr>
        <p:spPr>
          <a:xfrm rot="5400000">
            <a:off x="6267450" y="2466975"/>
            <a:ext cx="5826125" cy="17526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0"/>
          <p:cNvSpPr txBox="1"/>
          <p:nvPr>
            <p:ph idx="1" type="body"/>
          </p:nvPr>
        </p:nvSpPr>
        <p:spPr>
          <a:xfrm rot="5400000">
            <a:off x="1679576" y="-139699"/>
            <a:ext cx="5368924" cy="742314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0"/>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0"/>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5.xml"/><Relationship Id="rId11" Type="http://schemas.openxmlformats.org/officeDocument/2006/relationships/slideLayout" Target="../slideLayouts/slideLayout6.xml"/><Relationship Id="rId22" Type="http://schemas.openxmlformats.org/officeDocument/2006/relationships/slideLayout" Target="../slideLayouts/slideLayout17.xml"/><Relationship Id="rId10" Type="http://schemas.openxmlformats.org/officeDocument/2006/relationships/slideLayout" Target="../slideLayouts/slideLayout5.xml"/><Relationship Id="rId21" Type="http://schemas.openxmlformats.org/officeDocument/2006/relationships/slideLayout" Target="../slideLayouts/slideLayout16.xml"/><Relationship Id="rId13" Type="http://schemas.openxmlformats.org/officeDocument/2006/relationships/slideLayout" Target="../slideLayouts/slideLayout8.xml"/><Relationship Id="rId12" Type="http://schemas.openxmlformats.org/officeDocument/2006/relationships/slideLayout" Target="../slideLayouts/slideLayout7.xml"/><Relationship Id="rId23" Type="http://schemas.openxmlformats.org/officeDocument/2006/relationships/theme" Target="../theme/theme2.xml"/><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slideLayout" Target="../slideLayouts/slideLayout12.xml"/><Relationship Id="rId16" Type="http://schemas.openxmlformats.org/officeDocument/2006/relationships/slideLayout" Target="../slideLayouts/slideLayout11.xml"/><Relationship Id="rId5" Type="http://schemas.openxmlformats.org/officeDocument/2006/relationships/image" Target="../media/image2.png"/><Relationship Id="rId19" Type="http://schemas.openxmlformats.org/officeDocument/2006/relationships/slideLayout" Target="../slideLayouts/slideLayout14.xml"/><Relationship Id="rId6" Type="http://schemas.openxmlformats.org/officeDocument/2006/relationships/slideLayout" Target="../slideLayouts/slideLayout1.xml"/><Relationship Id="rId18" Type="http://schemas.openxmlformats.org/officeDocument/2006/relationships/slideLayout" Target="../slideLayouts/slideLayout13.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id="6" name="Google Shape;6;p13"/>
          <p:cNvPicPr preferRelativeResize="0"/>
          <p:nvPr/>
        </p:nvPicPr>
        <p:blipFill rotWithShape="1">
          <a:blip r:embed="rId2">
            <a:alphaModFix/>
          </a:blip>
          <a:srcRect b="0" l="3613" r="0" t="0"/>
          <a:stretch/>
        </p:blipFill>
        <p:spPr>
          <a:xfrm>
            <a:off x="0" y="2669685"/>
            <a:ext cx="4037012" cy="4188315"/>
          </a:xfrm>
          <a:prstGeom prst="rect">
            <a:avLst/>
          </a:prstGeom>
          <a:noFill/>
          <a:ln>
            <a:noFill/>
          </a:ln>
        </p:spPr>
      </p:pic>
      <p:pic>
        <p:nvPicPr>
          <p:cNvPr id="7" name="Google Shape;7;p13"/>
          <p:cNvPicPr preferRelativeResize="0"/>
          <p:nvPr/>
        </p:nvPicPr>
        <p:blipFill rotWithShape="1">
          <a:blip r:embed="rId3">
            <a:alphaModFix/>
          </a:blip>
          <a:srcRect b="0" l="35640" r="0" t="0"/>
          <a:stretch/>
        </p:blipFill>
        <p:spPr>
          <a:xfrm>
            <a:off x="0" y="2892347"/>
            <a:ext cx="1522412" cy="2365453"/>
          </a:xfrm>
          <a:prstGeom prst="rect">
            <a:avLst/>
          </a:prstGeom>
          <a:noFill/>
          <a:ln>
            <a:noFill/>
          </a:ln>
        </p:spPr>
      </p:pic>
      <p:sp>
        <p:nvSpPr>
          <p:cNvPr id="8" name="Google Shape;8;p13"/>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 name="Google Shape;9;p13"/>
          <p:cNvPicPr preferRelativeResize="0"/>
          <p:nvPr/>
        </p:nvPicPr>
        <p:blipFill rotWithShape="1">
          <a:blip r:embed="rId4">
            <a:alphaModFix/>
          </a:blip>
          <a:srcRect b="0" l="0" r="0" t="28812"/>
          <a:stretch/>
        </p:blipFill>
        <p:spPr>
          <a:xfrm>
            <a:off x="7999412" y="0"/>
            <a:ext cx="1603387" cy="1141407"/>
          </a:xfrm>
          <a:prstGeom prst="rect">
            <a:avLst/>
          </a:prstGeom>
          <a:noFill/>
          <a:ln>
            <a:noFill/>
          </a:ln>
        </p:spPr>
      </p:pic>
      <p:pic>
        <p:nvPicPr>
          <p:cNvPr id="10" name="Google Shape;10;p13"/>
          <p:cNvPicPr preferRelativeResize="0"/>
          <p:nvPr/>
        </p:nvPicPr>
        <p:blipFill rotWithShape="1">
          <a:blip r:embed="rId5">
            <a:alphaModFix/>
          </a:blip>
          <a:srcRect b="23320" l="0" r="0" t="0"/>
          <a:stretch/>
        </p:blipFill>
        <p:spPr>
          <a:xfrm>
            <a:off x="8605878" y="6096000"/>
            <a:ext cx="993734" cy="762000"/>
          </a:xfrm>
          <a:prstGeom prst="rect">
            <a:avLst/>
          </a:prstGeom>
          <a:noFill/>
          <a:ln>
            <a:noFill/>
          </a:ln>
        </p:spPr>
      </p:pic>
      <p:sp>
        <p:nvSpPr>
          <p:cNvPr id="11" name="Google Shape;11;p13"/>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3" name="Google Shape;13;p1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lvl1pPr indent="-330200" lvl="0" marL="457200" marR="0" rtl="0" algn="l">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p13"/>
          <p:cNvSpPr txBox="1"/>
          <p:nvPr>
            <p:ph idx="10" type="dt"/>
          </p:nvPr>
        </p:nvSpPr>
        <p:spPr>
          <a:xfrm rot="5400000">
            <a:off x="10155639" y="1790701"/>
            <a:ext cx="990599" cy="304799"/>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13"/>
          <p:cNvSpPr txBox="1"/>
          <p:nvPr>
            <p:ph idx="11" type="ftr"/>
          </p:nvPr>
        </p:nvSpPr>
        <p:spPr>
          <a:xfrm rot="5400000">
            <a:off x="8951573" y="3225297"/>
            <a:ext cx="3859795" cy="304801"/>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10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1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 id="2147483660" r:id="rId17"/>
    <p:sldLayoutId id="2147483661" r:id="rId18"/>
    <p:sldLayoutId id="2147483662" r:id="rId19"/>
    <p:sldLayoutId id="2147483663" r:id="rId20"/>
    <p:sldLayoutId id="2147483664" r:id="rId21"/>
    <p:sldLayoutId id="214748366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labor.ny.gov/careerservices/findajob/sampcovr.sht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154955" y="1447800"/>
            <a:ext cx="8825658" cy="3329581"/>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2"/>
              </a:buClr>
              <a:buSzPts val="7200"/>
              <a:buFont typeface="Century Gothic"/>
              <a:buNone/>
            </a:pPr>
            <a:r>
              <a:rPr lang="en-US"/>
              <a:t>Cover letter</a:t>
            </a:r>
            <a:endParaRPr/>
          </a:p>
        </p:txBody>
      </p:sp>
      <p:sp>
        <p:nvSpPr>
          <p:cNvPr id="148" name="Google Shape;148;p1"/>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Cover letter</a:t>
            </a:r>
            <a:endParaRPr/>
          </a:p>
        </p:txBody>
      </p:sp>
      <p:sp>
        <p:nvSpPr>
          <p:cNvPr id="154" name="Google Shape;154;p2"/>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A cover letter is a document you send with your CV (traditionally as the front cover).</a:t>
            </a:r>
            <a:endParaRPr/>
          </a:p>
          <a:p>
            <a:pPr indent="-342900" lvl="0" marL="342900" rtl="0" algn="l">
              <a:spcBef>
                <a:spcPts val="1000"/>
              </a:spcBef>
              <a:spcAft>
                <a:spcPts val="0"/>
              </a:spcAft>
              <a:buSzPts val="1600"/>
              <a:buChar char="►"/>
            </a:pPr>
            <a:r>
              <a:rPr lang="en-US"/>
              <a:t>However, it differs from a CV in that instead of being a written overview of your skills and experience, it’s specifically written with the job you’re applying for in mind – allowing you to highlight certain areas you think would make you right for the role.</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t/>
            </a:r>
            <a:endParaRPr/>
          </a:p>
        </p:txBody>
      </p:sp>
      <p:sp>
        <p:nvSpPr>
          <p:cNvPr id="160" name="Google Shape;160;p3"/>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b="1" lang="en-US"/>
              <a:t>Why is a cover letter important?</a:t>
            </a:r>
            <a:endParaRPr/>
          </a:p>
          <a:p>
            <a:pPr indent="-342900" lvl="0" marL="342900" rtl="0" algn="l">
              <a:spcBef>
                <a:spcPts val="1000"/>
              </a:spcBef>
              <a:spcAft>
                <a:spcPts val="0"/>
              </a:spcAft>
              <a:buSzPts val="1600"/>
              <a:buChar char="►"/>
            </a:pPr>
            <a:r>
              <a:rPr lang="en-US"/>
              <a:t>To put it simply, your cover letter is the easiest and most effective way to stand out from the crowd.</a:t>
            </a:r>
            <a:endParaRPr/>
          </a:p>
          <a:p>
            <a:pPr indent="-342900" lvl="0" marL="342900" rtl="0" algn="l">
              <a:spcBef>
                <a:spcPts val="1000"/>
              </a:spcBef>
              <a:spcAft>
                <a:spcPts val="0"/>
              </a:spcAft>
              <a:buSzPts val="1600"/>
              <a:buChar char="►"/>
            </a:pPr>
            <a:r>
              <a:rPr lang="en-US"/>
              <a:t>It brings a something extra to the table when you apply for a job – the employer will learn more about you, your personality, what you actually want from the job and gain insight as to why you’re applying.</a:t>
            </a:r>
            <a:endParaRPr/>
          </a:p>
          <a:p>
            <a:pPr indent="-342900" lvl="0" marL="342900" rtl="0" algn="l">
              <a:spcBef>
                <a:spcPts val="1000"/>
              </a:spcBef>
              <a:spcAft>
                <a:spcPts val="0"/>
              </a:spcAft>
              <a:buSzPts val="1600"/>
              <a:buChar char="►"/>
            </a:pPr>
            <a:r>
              <a:rPr lang="en-US"/>
              <a:t>And, as your CV is supposed to be short and sweet, your cover letter is the perfect way to elaborate on your achievements.</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lang="en-US"/>
              <a:t>Purpose of a cover letter</a:t>
            </a:r>
            <a:endParaRPr/>
          </a:p>
        </p:txBody>
      </p:sp>
      <p:sp>
        <p:nvSpPr>
          <p:cNvPr id="166" name="Google Shape;166;p4"/>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Each time you mail your resume/CV always include a </a:t>
            </a:r>
            <a:r>
              <a:rPr lang="en-US" u="sng">
                <a:solidFill>
                  <a:schemeClr val="hlink"/>
                </a:solidFill>
                <a:hlinkClick r:id="rId3"/>
              </a:rPr>
              <a:t>cover letter</a:t>
            </a:r>
            <a:r>
              <a:rPr lang="en-US"/>
              <a:t> stating your interest in the firm. </a:t>
            </a:r>
            <a:endParaRPr/>
          </a:p>
          <a:p>
            <a:pPr indent="-342900" lvl="0" marL="342900" rtl="0" algn="l">
              <a:spcBef>
                <a:spcPts val="1000"/>
              </a:spcBef>
              <a:spcAft>
                <a:spcPts val="0"/>
              </a:spcAft>
              <a:buSzPts val="1600"/>
              <a:buChar char="►"/>
            </a:pPr>
            <a:r>
              <a:rPr lang="en-US"/>
              <a:t>The letter, however, should not duplicate resume information. </a:t>
            </a:r>
            <a:endParaRPr/>
          </a:p>
          <a:p>
            <a:pPr indent="-342900" lvl="0" marL="342900" rtl="0" algn="l">
              <a:spcBef>
                <a:spcPts val="1000"/>
              </a:spcBef>
              <a:spcAft>
                <a:spcPts val="0"/>
              </a:spcAft>
              <a:buSzPts val="1600"/>
              <a:buChar char="►"/>
            </a:pPr>
            <a:r>
              <a:rPr lang="en-US"/>
              <a:t>It should briefly highlight the skills or positions you held previously that are appropriate to the position you seek. </a:t>
            </a:r>
            <a:endParaRPr/>
          </a:p>
          <a:p>
            <a:pPr indent="-342900" lvl="0" marL="342900" rtl="0" algn="l">
              <a:spcBef>
                <a:spcPts val="1000"/>
              </a:spcBef>
              <a:spcAft>
                <a:spcPts val="0"/>
              </a:spcAft>
              <a:buSzPts val="1600"/>
              <a:buChar char="►"/>
            </a:pPr>
            <a:r>
              <a:rPr lang="en-US"/>
              <a:t>It also can be used to add additional information that you think is important to the employer.</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400"/>
              <a:buFont typeface="Century Gothic"/>
              <a:buNone/>
            </a:pPr>
            <a:r>
              <a:rPr lang="en-US" sz="4400"/>
              <a:t>Your cover letter should:</a:t>
            </a:r>
            <a:br>
              <a:rPr lang="en-US" sz="4400"/>
            </a:br>
            <a:endParaRPr/>
          </a:p>
        </p:txBody>
      </p:sp>
      <p:sp>
        <p:nvSpPr>
          <p:cNvPr id="172" name="Google Shape;172;p5"/>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SzPct val="80000"/>
              <a:buChar char="►"/>
            </a:pPr>
            <a:r>
              <a:rPr b="1" lang="en-US"/>
              <a:t>Personalize Letter for Each Role</a:t>
            </a:r>
            <a:br>
              <a:rPr lang="en-US"/>
            </a:br>
            <a:r>
              <a:rPr lang="en-US"/>
              <a:t>For each role that you apply to, whether within the same company or with different companies, personalize your letter to the advertised role. Your cover letter should not be generic. Not only include your strengths and skills, but also explain why you’re the perfect candidate for the job position. This means that for each job that you apply to, you have to write a new cover letter. The company wants to believe that you took the time to read about and understand the role. It may be tedious and time consuming to write multiple letters, but it will be worth it in the end.</a:t>
            </a:r>
            <a:endParaRPr/>
          </a:p>
          <a:p>
            <a:pPr indent="-342900" lvl="0" marL="342900" rtl="0" algn="l">
              <a:spcBef>
                <a:spcPts val="1000"/>
              </a:spcBef>
              <a:spcAft>
                <a:spcPts val="0"/>
              </a:spcAft>
              <a:buSzPct val="80000"/>
              <a:buChar char="►"/>
            </a:pPr>
            <a:r>
              <a:rPr b="1" lang="en-US"/>
              <a:t>Include Contact Information</a:t>
            </a:r>
            <a:br>
              <a:rPr lang="en-US"/>
            </a:br>
            <a:r>
              <a:rPr lang="en-US"/>
              <a:t>Ensure that your cover letter has the name of the individual hiring a candidate for the role. It could be a department manager or the HR lead. In any case, make sure you have information on who the hiring manager is by either checking the company’s website or calling in. This way, you can open the letter with a proper greeting. Be sure to add your contact information on your cover letter, even though it may already be included in your resume.</a:t>
            </a:r>
            <a:endParaRPr/>
          </a:p>
          <a:p>
            <a:pPr indent="-248920" lvl="0" marL="342900" rtl="0" algn="l">
              <a:spcBef>
                <a:spcPts val="1000"/>
              </a:spcBef>
              <a:spcAft>
                <a:spcPts val="0"/>
              </a:spcAft>
              <a:buSzPct val="8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6"/>
          <p:cNvSpPr txBox="1"/>
          <p:nvPr>
            <p:ph idx="1" type="body"/>
          </p:nvPr>
        </p:nvSpPr>
        <p:spPr>
          <a:xfrm>
            <a:off x="1103312" y="759854"/>
            <a:ext cx="8946541" cy="5488545"/>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SzPct val="80000"/>
              <a:buChar char="►"/>
            </a:pPr>
            <a:r>
              <a:rPr b="1" lang="en-US"/>
              <a:t>Use Simple Words</a:t>
            </a:r>
            <a:br>
              <a:rPr lang="en-US"/>
            </a:br>
            <a:r>
              <a:rPr lang="en-US"/>
              <a:t>You want to clearly communicate your worth and why you should be considered for the job position that you’re applying to. Using complex words and sentences would most certainly fail to convey your intentions with the company. If the manager or HR representative reading the letter cannot decipher your ‘big’ words, s/he will probably not bother with the rest of your application.</a:t>
            </a:r>
            <a:endParaRPr/>
          </a:p>
          <a:p>
            <a:pPr indent="-342900" lvl="0" marL="342900" rtl="0" algn="l">
              <a:spcBef>
                <a:spcPts val="1000"/>
              </a:spcBef>
              <a:spcAft>
                <a:spcPts val="0"/>
              </a:spcAft>
              <a:buSzPct val="80000"/>
              <a:buChar char="►"/>
            </a:pPr>
            <a:r>
              <a:rPr b="1" lang="en-US"/>
              <a:t>Quantify Accomplishments</a:t>
            </a:r>
            <a:br>
              <a:rPr lang="en-US"/>
            </a:br>
            <a:r>
              <a:rPr lang="en-US"/>
              <a:t>Remember that the cover letter should not rehash your resume, rather it should provide more information on areas on your resume that are relevant to the job that you are applying for. For these areas, be sure to quantify your accomplishments. For example, while your resume may state that you used a marketing analytics tool to drive more clients to sign up for your employer’s services, a cover letter will expatiate on this by adding that your strategy brought in an additional 200 clients monthly and increased revenue to $10,000. This way you can set yourself apart from the other job candidates with vague accomplishments.</a:t>
            </a:r>
            <a:endParaRPr/>
          </a:p>
          <a:p>
            <a:pPr indent="-342900" lvl="0" marL="342900" rtl="0" algn="l">
              <a:spcBef>
                <a:spcPts val="1000"/>
              </a:spcBef>
              <a:spcAft>
                <a:spcPts val="0"/>
              </a:spcAft>
              <a:buSzPct val="80000"/>
              <a:buChar char="►"/>
            </a:pPr>
            <a:r>
              <a:rPr b="1" lang="en-US"/>
              <a:t>Proofread</a:t>
            </a:r>
            <a:br>
              <a:rPr lang="en-US"/>
            </a:br>
            <a:r>
              <a:rPr lang="en-US"/>
              <a:t>After you’ve written the letter, proofread it multiple times to ensure that there are no typos or grammatical errors. Also, ask a trustworthy person to proofread as well and recommend any areas that should be added or excluded from the letter.</a:t>
            </a:r>
            <a:endParaRPr/>
          </a:p>
          <a:p>
            <a:pPr indent="-256540" lvl="0" marL="342900" rtl="0" algn="l">
              <a:spcBef>
                <a:spcPts val="1000"/>
              </a:spcBef>
              <a:spcAft>
                <a:spcPts val="0"/>
              </a:spcAft>
              <a:buSzPct val="8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7"/>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b="1" lang="en-US"/>
              <a:t>Elements of a Cover Letter</a:t>
            </a:r>
            <a:br>
              <a:rPr b="1" lang="en-US"/>
            </a:br>
            <a:endParaRPr/>
          </a:p>
        </p:txBody>
      </p:sp>
      <p:sp>
        <p:nvSpPr>
          <p:cNvPr id="183" name="Google Shape;183;p7"/>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80000"/>
              <a:buChar char="►"/>
            </a:pPr>
            <a:r>
              <a:rPr b="1" lang="en-US"/>
              <a:t>Opening.</a:t>
            </a:r>
            <a:r>
              <a:rPr lang="en-US"/>
              <a:t> Explain why you are writing. State the position you are seeking and the source of the job opening (e.g., newspaper ad, professional organization, colleague).</a:t>
            </a:r>
            <a:endParaRPr/>
          </a:p>
          <a:p>
            <a:pPr indent="-342900" lvl="0" marL="342900" rtl="0" algn="l">
              <a:spcBef>
                <a:spcPts val="1000"/>
              </a:spcBef>
              <a:spcAft>
                <a:spcPts val="0"/>
              </a:spcAft>
              <a:buSzPct val="80000"/>
              <a:buChar char="►"/>
            </a:pPr>
            <a:r>
              <a:rPr b="1" lang="en-US"/>
              <a:t>Main body.</a:t>
            </a:r>
            <a:r>
              <a:rPr lang="en-US"/>
              <a:t> Highlight your job qualifications and link them to the firm's needs. Show that you know something about the firm and are interested in the firm's products or services. Explain why you chose this company. For example, you know someone who works there, you use their products or you heard about their good reputation.</a:t>
            </a:r>
            <a:endParaRPr/>
          </a:p>
          <a:p>
            <a:pPr indent="-342900" lvl="0" marL="342900" rtl="0" algn="l">
              <a:spcBef>
                <a:spcPts val="1000"/>
              </a:spcBef>
              <a:spcAft>
                <a:spcPts val="0"/>
              </a:spcAft>
              <a:buSzPct val="80000"/>
              <a:buChar char="►"/>
            </a:pPr>
            <a:r>
              <a:rPr b="1" lang="en-US"/>
              <a:t>Closing.</a:t>
            </a:r>
            <a:r>
              <a:rPr lang="en-US"/>
              <a:t> Request an interview. Suggest a specific date and time. For example: "I'll try to contact you on Monday morning to see when you might be able to meet with me."</a:t>
            </a:r>
            <a:endParaRPr/>
          </a:p>
          <a:p>
            <a:pPr indent="-342900" lvl="0" marL="342900" rtl="0" algn="l">
              <a:spcBef>
                <a:spcPts val="1000"/>
              </a:spcBef>
              <a:spcAft>
                <a:spcPts val="0"/>
              </a:spcAft>
              <a:buSzPct val="80000"/>
              <a:buChar char="►"/>
            </a:pPr>
            <a:r>
              <a:rPr lang="en-US"/>
              <a:t>Be sure to </a:t>
            </a:r>
            <a:r>
              <a:rPr b="1" lang="en-US"/>
              <a:t>include</a:t>
            </a:r>
            <a:r>
              <a:rPr lang="en-US"/>
              <a:t> your name, address and telephone number.</a:t>
            </a:r>
            <a:endParaRPr/>
          </a:p>
          <a:p>
            <a:pPr indent="-342900" lvl="0" marL="342900" rtl="0" algn="l">
              <a:spcBef>
                <a:spcPts val="1000"/>
              </a:spcBef>
              <a:spcAft>
                <a:spcPts val="0"/>
              </a:spcAft>
              <a:buSzPct val="80000"/>
              <a:buChar char="►"/>
            </a:pPr>
            <a:r>
              <a:rPr b="1" lang="en-US"/>
              <a:t>Thank</a:t>
            </a:r>
            <a:r>
              <a:rPr lang="en-US"/>
              <a:t> the employer for his or her time and effort.</a:t>
            </a:r>
            <a:endParaRPr/>
          </a:p>
          <a:p>
            <a:pPr indent="-248920" lvl="0" marL="342900" rtl="0" algn="l">
              <a:spcBef>
                <a:spcPts val="1000"/>
              </a:spcBef>
              <a:spcAft>
                <a:spcPts val="0"/>
              </a:spcAft>
              <a:buSzPct val="80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8"/>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rPr b="1" lang="en-US"/>
              <a:t>Tips on Preparing a Cover Letter</a:t>
            </a:r>
            <a:br>
              <a:rPr b="1" lang="en-US"/>
            </a:br>
            <a:endParaRPr/>
          </a:p>
        </p:txBody>
      </p:sp>
      <p:sp>
        <p:nvSpPr>
          <p:cNvPr id="189" name="Google Shape;189;p8"/>
          <p:cNvSpPr txBox="1"/>
          <p:nvPr>
            <p:ph idx="1" type="body"/>
          </p:nvPr>
        </p:nvSpPr>
        <p:spPr>
          <a:xfrm>
            <a:off x="1103312" y="2052918"/>
            <a:ext cx="8946541" cy="419548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Char char="►"/>
            </a:pPr>
            <a:r>
              <a:rPr lang="en-US"/>
              <a:t>Write an individualized cover letter for each job employer.</a:t>
            </a:r>
            <a:endParaRPr/>
          </a:p>
          <a:p>
            <a:pPr indent="-342900" lvl="0" marL="342900" rtl="0" algn="l">
              <a:spcBef>
                <a:spcPts val="1000"/>
              </a:spcBef>
              <a:spcAft>
                <a:spcPts val="0"/>
              </a:spcAft>
              <a:buSzPts val="1600"/>
              <a:buChar char="►"/>
            </a:pPr>
            <a:r>
              <a:rPr lang="en-US"/>
              <a:t>Address the letter to the person you want to contact, preferably the one doing the hiring.</a:t>
            </a:r>
            <a:endParaRPr/>
          </a:p>
          <a:p>
            <a:pPr indent="-342900" lvl="0" marL="342900" rtl="0" algn="l">
              <a:spcBef>
                <a:spcPts val="1000"/>
              </a:spcBef>
              <a:spcAft>
                <a:spcPts val="0"/>
              </a:spcAft>
              <a:buSzPts val="1600"/>
              <a:buChar char="►"/>
            </a:pPr>
            <a:r>
              <a:rPr lang="en-US"/>
              <a:t>Use correct grammar, spelling and punctuation.</a:t>
            </a:r>
            <a:endParaRPr/>
          </a:p>
          <a:p>
            <a:pPr indent="-342900" lvl="0" marL="342900" rtl="0" algn="l">
              <a:spcBef>
                <a:spcPts val="1000"/>
              </a:spcBef>
              <a:spcAft>
                <a:spcPts val="0"/>
              </a:spcAft>
              <a:buSzPts val="1600"/>
              <a:buChar char="►"/>
            </a:pPr>
            <a:r>
              <a:rPr lang="en-US"/>
              <a:t>Convey personal warmth and enthusiasm.</a:t>
            </a:r>
            <a:endParaRPr/>
          </a:p>
          <a:p>
            <a:pPr indent="-342900" lvl="0" marL="342900" rtl="0" algn="l">
              <a:spcBef>
                <a:spcPts val="1000"/>
              </a:spcBef>
              <a:spcAft>
                <a:spcPts val="0"/>
              </a:spcAft>
              <a:buSzPts val="1600"/>
              <a:buChar char="►"/>
            </a:pPr>
            <a:r>
              <a:rPr lang="en-US"/>
              <a:t>Keep your letter short and to the point.</a:t>
            </a:r>
            <a:endParaRPr/>
          </a:p>
          <a:p>
            <a:pPr indent="-241300" lvl="0" marL="342900" rtl="0" algn="l">
              <a:spcBef>
                <a:spcPts val="1000"/>
              </a:spcBef>
              <a:spcAft>
                <a:spcPts val="0"/>
              </a:spcAft>
              <a:buSzPts val="16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9"/>
          <p:cNvSpPr txBox="1"/>
          <p:nvPr>
            <p:ph idx="1" type="body"/>
          </p:nvPr>
        </p:nvSpPr>
        <p:spPr>
          <a:xfrm>
            <a:off x="1103299" y="198775"/>
            <a:ext cx="9837300" cy="65466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000"/>
              <a:buNone/>
            </a:pPr>
            <a:r>
              <a:rPr b="1" lang="en-US" sz="1450"/>
              <a:t>Joseph Q. Applicant</a:t>
            </a:r>
            <a:br>
              <a:rPr b="1" lang="en-US" sz="1450"/>
            </a:br>
            <a:r>
              <a:rPr b="1" lang="en-US" sz="1450"/>
              <a:t>123 Main Street</a:t>
            </a:r>
            <a:br>
              <a:rPr b="1" lang="en-US" sz="1450"/>
            </a:br>
            <a:r>
              <a:rPr b="1" lang="en-US" sz="1450"/>
              <a:t>Anytown, CA 12345</a:t>
            </a:r>
            <a:br>
              <a:rPr b="1" lang="en-US" sz="1450"/>
            </a:br>
            <a:r>
              <a:rPr b="1" lang="en-US" sz="1450"/>
              <a:t>555-212-1234</a:t>
            </a:r>
            <a:br>
              <a:rPr b="1" lang="en-US" sz="1450"/>
            </a:br>
            <a:r>
              <a:rPr b="1" lang="en-US" sz="1450"/>
              <a:t>josephq@email.com</a:t>
            </a:r>
            <a:endParaRPr b="1" sz="1450"/>
          </a:p>
          <a:p>
            <a:pPr indent="0" lvl="0" marL="0" rtl="0" algn="l">
              <a:lnSpc>
                <a:spcPct val="80000"/>
              </a:lnSpc>
              <a:spcBef>
                <a:spcPts val="1000"/>
              </a:spcBef>
              <a:spcAft>
                <a:spcPts val="0"/>
              </a:spcAft>
              <a:buSzPts val="1000"/>
              <a:buNone/>
            </a:pPr>
            <a:r>
              <a:rPr b="1" lang="en-US" sz="1450"/>
              <a:t>September 1, 2018</a:t>
            </a:r>
            <a:endParaRPr b="1" sz="1450"/>
          </a:p>
          <a:p>
            <a:pPr indent="0" lvl="0" marL="0" rtl="0" algn="l">
              <a:lnSpc>
                <a:spcPct val="80000"/>
              </a:lnSpc>
              <a:spcBef>
                <a:spcPts val="1000"/>
              </a:spcBef>
              <a:spcAft>
                <a:spcPts val="0"/>
              </a:spcAft>
              <a:buSzPts val="1000"/>
              <a:buNone/>
            </a:pPr>
            <a:r>
              <a:rPr b="1" lang="en-US" sz="1450"/>
              <a:t>Jane Smith</a:t>
            </a:r>
            <a:br>
              <a:rPr b="1" lang="en-US" sz="1450"/>
            </a:br>
            <a:r>
              <a:rPr b="1" lang="en-US" sz="1450"/>
              <a:t>Director, Human Resources</a:t>
            </a:r>
            <a:br>
              <a:rPr b="1" lang="en-US" sz="1450"/>
            </a:br>
            <a:r>
              <a:rPr b="1" lang="en-US" sz="1450"/>
              <a:t>Fit Living</a:t>
            </a:r>
            <a:br>
              <a:rPr b="1" lang="en-US" sz="1450"/>
            </a:br>
            <a:r>
              <a:rPr b="1" lang="en-US" sz="1450"/>
              <a:t>123 Business Rd.</a:t>
            </a:r>
            <a:br>
              <a:rPr b="1" lang="en-US" sz="1450"/>
            </a:br>
            <a:r>
              <a:rPr b="1" lang="en-US" sz="1450"/>
              <a:t>Business City, NY 54321</a:t>
            </a:r>
            <a:endParaRPr b="1" sz="1450"/>
          </a:p>
          <a:p>
            <a:pPr indent="0" lvl="0" marL="0" rtl="0" algn="l">
              <a:lnSpc>
                <a:spcPct val="80000"/>
              </a:lnSpc>
              <a:spcBef>
                <a:spcPts val="1000"/>
              </a:spcBef>
              <a:spcAft>
                <a:spcPts val="0"/>
              </a:spcAft>
              <a:buSzPts val="1000"/>
              <a:buNone/>
            </a:pPr>
            <a:r>
              <a:rPr b="1" lang="en-US" sz="1450"/>
              <a:t>Dear Ms. Smith:</a:t>
            </a:r>
            <a:endParaRPr b="1" sz="1450"/>
          </a:p>
          <a:p>
            <a:pPr indent="0" lvl="0" marL="0" rtl="0" algn="l">
              <a:lnSpc>
                <a:spcPct val="80000"/>
              </a:lnSpc>
              <a:spcBef>
                <a:spcPts val="1000"/>
              </a:spcBef>
              <a:spcAft>
                <a:spcPts val="0"/>
              </a:spcAft>
              <a:buSzPts val="1000"/>
              <a:buNone/>
            </a:pPr>
            <a:r>
              <a:rPr b="1" lang="en-US" sz="1450"/>
              <a:t>I’m writing to apply for the position of Social Media Manager for Fit Living, as advertised on your website careers page. I have three years of experience as a Social Media Assistant for Young Living, and I believe I am ready to move up to the manager position.</a:t>
            </a:r>
            <a:endParaRPr b="1" sz="1450"/>
          </a:p>
          <a:p>
            <a:pPr indent="0" lvl="0" marL="0" rtl="0" algn="l">
              <a:lnSpc>
                <a:spcPct val="80000"/>
              </a:lnSpc>
              <a:spcBef>
                <a:spcPts val="1000"/>
              </a:spcBef>
              <a:spcAft>
                <a:spcPts val="0"/>
              </a:spcAft>
              <a:buSzPts val="1000"/>
              <a:buNone/>
            </a:pPr>
            <a:r>
              <a:rPr b="1" lang="en-US" sz="1450"/>
              <a:t>In your job posting, you mention that you want to hire a Social Media Manager who understands Internet and social media trends. During my time at Young Living, I was given the responsibility of increasing follower numbers on Instagram. I explained to my manager that I would be happy to do so, and that I would also work hard to increase follower participation, because engagement has become an important metric.</a:t>
            </a:r>
            <a:endParaRPr b="1" sz="1450"/>
          </a:p>
          <a:p>
            <a:pPr indent="0" lvl="0" marL="0" rtl="0" algn="l">
              <a:lnSpc>
                <a:spcPct val="80000"/>
              </a:lnSpc>
              <a:spcBef>
                <a:spcPts val="1000"/>
              </a:spcBef>
              <a:spcAft>
                <a:spcPts val="0"/>
              </a:spcAft>
              <a:buSzPts val="1000"/>
              <a:buNone/>
            </a:pPr>
            <a:r>
              <a:rPr b="1" lang="en-US" sz="1450"/>
              <a:t>Within six months, I increased our followers by over 50 percent and increased engagement by 400 percent. I’m very proud of that accomplishment. Currently, I’m working to build a following with the best influencers in our niche.</a:t>
            </a:r>
            <a:endParaRPr b="1" sz="1450"/>
          </a:p>
          <a:p>
            <a:pPr indent="0" lvl="0" marL="0" rtl="0" algn="l">
              <a:lnSpc>
                <a:spcPct val="80000"/>
              </a:lnSpc>
              <a:spcBef>
                <a:spcPts val="1000"/>
              </a:spcBef>
              <a:spcAft>
                <a:spcPts val="0"/>
              </a:spcAft>
              <a:buSzPts val="1000"/>
              <a:buNone/>
            </a:pPr>
            <a:r>
              <a:rPr b="1" lang="en-US" sz="1450"/>
              <a:t>When I saw the job opening, I knew it was the perfect opportunity to offer you both my social media marketing skills and people skills. I’ve included my resume so you can learn more about my educational background and all of my work experience.Thank you for your time and consideration.</a:t>
            </a:r>
            <a:endParaRPr b="1" sz="1450"/>
          </a:p>
          <a:p>
            <a:pPr indent="0" lvl="0" marL="0" rtl="0" algn="l">
              <a:lnSpc>
                <a:spcPct val="80000"/>
              </a:lnSpc>
              <a:spcBef>
                <a:spcPts val="1000"/>
              </a:spcBef>
              <a:spcAft>
                <a:spcPts val="0"/>
              </a:spcAft>
              <a:buSzPts val="1000"/>
              <a:buNone/>
            </a:pPr>
            <a:r>
              <a:rPr b="1" lang="en-US" sz="1450"/>
              <a:t>Please feel free to email me or call my cell phone at 555-555-5555. I hope to hear from you soon.</a:t>
            </a:r>
            <a:endParaRPr b="1" sz="1450"/>
          </a:p>
          <a:p>
            <a:pPr indent="0" lvl="0" marL="0" rtl="0" algn="l">
              <a:lnSpc>
                <a:spcPct val="80000"/>
              </a:lnSpc>
              <a:spcBef>
                <a:spcPts val="1000"/>
              </a:spcBef>
              <a:spcAft>
                <a:spcPts val="0"/>
              </a:spcAft>
              <a:buSzPts val="1000"/>
              <a:buNone/>
            </a:pPr>
            <a:r>
              <a:rPr b="1" lang="en-US" sz="1450"/>
              <a:t>Sincerely,</a:t>
            </a:r>
            <a:endParaRPr b="1" sz="1450"/>
          </a:p>
          <a:p>
            <a:pPr indent="0" lvl="0" marL="0" rtl="0" algn="l">
              <a:lnSpc>
                <a:spcPct val="80000"/>
              </a:lnSpc>
              <a:spcBef>
                <a:spcPts val="1000"/>
              </a:spcBef>
              <a:spcAft>
                <a:spcPts val="0"/>
              </a:spcAft>
              <a:buSzPts val="1000"/>
              <a:buNone/>
            </a:pPr>
            <a:r>
              <a:rPr b="1" lang="en-US" sz="1450"/>
              <a:t>Your Signature </a:t>
            </a:r>
            <a:r>
              <a:rPr b="1" i="1" lang="en-US" sz="1450"/>
              <a:t>(hard copy letter)</a:t>
            </a:r>
            <a:endParaRPr b="1" sz="1450"/>
          </a:p>
          <a:p>
            <a:pPr indent="0" lvl="0" marL="0" rtl="0" algn="l">
              <a:lnSpc>
                <a:spcPct val="80000"/>
              </a:lnSpc>
              <a:spcBef>
                <a:spcPts val="1000"/>
              </a:spcBef>
              <a:spcAft>
                <a:spcPts val="0"/>
              </a:spcAft>
              <a:buSzPts val="1000"/>
              <a:buNone/>
            </a:pPr>
            <a:r>
              <a:rPr b="1" lang="en-US" sz="1450"/>
              <a:t>Joseph Q. Applicant</a:t>
            </a:r>
            <a:endParaRPr b="1" sz="1450"/>
          </a:p>
          <a:p>
            <a:pPr indent="-279400" lvl="0" marL="342900" rtl="0" algn="l">
              <a:lnSpc>
                <a:spcPct val="80000"/>
              </a:lnSpc>
              <a:spcBef>
                <a:spcPts val="1000"/>
              </a:spcBef>
              <a:spcAft>
                <a:spcPts val="0"/>
              </a:spcAft>
              <a:buSzPts val="1000"/>
              <a:buNone/>
            </a:pPr>
            <a:r>
              <a:t/>
            </a:r>
            <a:endParaRPr b="1" sz="145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10"/>
          <p:cNvPicPr preferRelativeResize="0"/>
          <p:nvPr>
            <p:ph idx="1" type="body"/>
          </p:nvPr>
        </p:nvPicPr>
        <p:blipFill rotWithShape="1">
          <a:blip r:embed="rId3">
            <a:alphaModFix/>
          </a:blip>
          <a:srcRect b="-5816" l="0" r="0" t="-1296"/>
          <a:stretch/>
        </p:blipFill>
        <p:spPr>
          <a:xfrm>
            <a:off x="2385400" y="125350"/>
            <a:ext cx="6245400" cy="6625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1"/>
          <p:cNvSpPr txBox="1"/>
          <p:nvPr>
            <p:ph idx="1" type="body"/>
          </p:nvPr>
        </p:nvSpPr>
        <p:spPr>
          <a:xfrm>
            <a:off x="1103312" y="278296"/>
            <a:ext cx="10306810" cy="597010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80000"/>
              <a:buNone/>
            </a:pPr>
            <a:r>
              <a:rPr b="1" lang="en-US"/>
              <a:t>Subject:</a:t>
            </a:r>
            <a:r>
              <a:rPr lang="en-US"/>
              <a:t> Editorial Assistant Position - Jane Jones</a:t>
            </a:r>
            <a:endParaRPr/>
          </a:p>
          <a:p>
            <a:pPr indent="0" lvl="0" marL="0" rtl="0" algn="l">
              <a:spcBef>
                <a:spcPts val="1000"/>
              </a:spcBef>
              <a:spcAft>
                <a:spcPts val="0"/>
              </a:spcAft>
              <a:buSzPct val="80000"/>
              <a:buNone/>
            </a:pPr>
            <a:r>
              <a:rPr lang="en-US"/>
              <a:t>Dear [Name of Hiring Manager or “Hiring Manager”]:</a:t>
            </a:r>
            <a:endParaRPr/>
          </a:p>
          <a:p>
            <a:pPr indent="0" lvl="0" marL="0" rtl="0" algn="l">
              <a:spcBef>
                <a:spcPts val="1000"/>
              </a:spcBef>
              <a:spcAft>
                <a:spcPts val="0"/>
              </a:spcAft>
              <a:buSzPct val="80000"/>
              <a:buNone/>
            </a:pPr>
            <a:r>
              <a:rPr lang="en-US"/>
              <a:t>I would like to express my deep interest in entering a position as an editorial assistant for your publishing company.</a:t>
            </a:r>
            <a:endParaRPr/>
          </a:p>
          <a:p>
            <a:pPr indent="0" lvl="0" marL="0" rtl="0" algn="l">
              <a:spcBef>
                <a:spcPts val="1000"/>
              </a:spcBef>
              <a:spcAft>
                <a:spcPts val="0"/>
              </a:spcAft>
              <a:buSzPct val="80000"/>
              <a:buNone/>
            </a:pPr>
            <a:r>
              <a:rPr lang="en-US"/>
              <a:t>As a recent graduate with writing, editing, and administrative experience, I believe I am a strong candidate for a position at the 123 Publishing Company.</a:t>
            </a:r>
            <a:endParaRPr/>
          </a:p>
          <a:p>
            <a:pPr indent="0" lvl="0" marL="0" rtl="0" algn="l">
              <a:spcBef>
                <a:spcPts val="1000"/>
              </a:spcBef>
              <a:spcAft>
                <a:spcPts val="0"/>
              </a:spcAft>
              <a:buSzPct val="80000"/>
              <a:buNone/>
            </a:pPr>
            <a:r>
              <a:rPr lang="en-US"/>
              <a:t>You specify that you are looking for someone with strong writing skills. As an English major at XYZ University, a writing tutor, and an editorial intern for both a government magazine and a college marketing office, I have become a skilled writer with a variety of publication experience.</a:t>
            </a:r>
            <a:endParaRPr/>
          </a:p>
          <a:p>
            <a:pPr indent="0" lvl="0" marL="0" rtl="0" algn="l">
              <a:spcBef>
                <a:spcPts val="1000"/>
              </a:spcBef>
              <a:spcAft>
                <a:spcPts val="0"/>
              </a:spcAft>
              <a:buSzPct val="80000"/>
              <a:buNone/>
            </a:pPr>
            <a:r>
              <a:rPr lang="en-US"/>
              <a:t>My maturity, practical experience, attention to detail, and eagerness to enter the publishing business will make me an excellent editorial assistant. I would love to begin my career with your company and am confident that I would be a beneficial addition to the 123 Publishing Company.</a:t>
            </a:r>
            <a:endParaRPr/>
          </a:p>
          <a:p>
            <a:pPr indent="0" lvl="0" marL="0" rtl="0" algn="l">
              <a:spcBef>
                <a:spcPts val="1000"/>
              </a:spcBef>
              <a:spcAft>
                <a:spcPts val="0"/>
              </a:spcAft>
              <a:buSzPct val="80000"/>
              <a:buNone/>
            </a:pPr>
            <a:r>
              <a:rPr lang="en-US"/>
              <a:t>I have attached my resume to this email and will call within the next week to see if we might arrange a time to speak together.</a:t>
            </a:r>
            <a:endParaRPr/>
          </a:p>
          <a:p>
            <a:pPr indent="0" lvl="0" marL="0" rtl="0" algn="l">
              <a:spcBef>
                <a:spcPts val="1000"/>
              </a:spcBef>
              <a:spcAft>
                <a:spcPts val="0"/>
              </a:spcAft>
              <a:buSzPct val="80000"/>
              <a:buNone/>
            </a:pPr>
            <a:r>
              <a:rPr lang="en-US"/>
              <a:t>Thank you so much for your time and consideration.</a:t>
            </a:r>
            <a:endParaRPr/>
          </a:p>
          <a:p>
            <a:pPr indent="0" lvl="0" marL="0" rtl="0" algn="l">
              <a:spcBef>
                <a:spcPts val="1000"/>
              </a:spcBef>
              <a:spcAft>
                <a:spcPts val="0"/>
              </a:spcAft>
              <a:buSzPct val="80000"/>
              <a:buNone/>
            </a:pPr>
            <a:r>
              <a:rPr lang="en-US"/>
              <a:t>Sincerely,</a:t>
            </a:r>
            <a:endParaRPr/>
          </a:p>
          <a:p>
            <a:pPr indent="0" lvl="0" marL="0" rtl="0" algn="l">
              <a:spcBef>
                <a:spcPts val="1000"/>
              </a:spcBef>
              <a:spcAft>
                <a:spcPts val="0"/>
              </a:spcAft>
              <a:buSzPct val="80000"/>
              <a:buNone/>
            </a:pPr>
            <a:r>
              <a:rPr lang="en-US"/>
              <a:t>Jane Jones</a:t>
            </a:r>
            <a:br>
              <a:rPr lang="en-US"/>
            </a:br>
            <a:r>
              <a:rPr lang="en-US"/>
              <a:t>111 Main Street</a:t>
            </a:r>
            <a:br>
              <a:rPr lang="en-US"/>
            </a:br>
            <a:r>
              <a:rPr lang="en-US"/>
              <a:t>Town, NY 11111</a:t>
            </a:r>
            <a:br>
              <a:rPr lang="en-US"/>
            </a:br>
            <a:r>
              <a:rPr lang="en-US"/>
              <a:t>Email: janejones@gmail.com</a:t>
            </a:r>
            <a:br>
              <a:rPr lang="en-US"/>
            </a:br>
            <a:r>
              <a:rPr lang="en-US"/>
              <a:t>Cell: (555) 555-5555</a:t>
            </a:r>
            <a:br>
              <a:rPr lang="en-US"/>
            </a:br>
            <a:r>
              <a:rPr lang="en-US"/>
              <a:t>LinkedIn: linkedin.com/in/janejones</a:t>
            </a:r>
            <a:endParaRPr/>
          </a:p>
          <a:p>
            <a:pPr indent="-264160" lvl="0" marL="342900" rtl="0" algn="l">
              <a:spcBef>
                <a:spcPts val="1000"/>
              </a:spcBef>
              <a:spcAft>
                <a:spcPts val="0"/>
              </a:spcAft>
              <a:buSzPct val="8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ph type="title"/>
          </p:nvPr>
        </p:nvSpPr>
        <p:spPr>
          <a:xfrm>
            <a:off x="646111" y="452718"/>
            <a:ext cx="9404723" cy="14005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2"/>
              </a:buClr>
              <a:buSzPts val="4200"/>
              <a:buFont typeface="Century Gothic"/>
              <a:buNone/>
            </a:pPr>
            <a:r>
              <a:t/>
            </a:r>
            <a:endParaRPr/>
          </a:p>
        </p:txBody>
      </p:sp>
      <p:pic>
        <p:nvPicPr>
          <p:cNvPr id="210" name="Google Shape;210;p12"/>
          <p:cNvPicPr preferRelativeResize="0"/>
          <p:nvPr>
            <p:ph idx="1" type="body"/>
          </p:nvPr>
        </p:nvPicPr>
        <p:blipFill rotWithShape="1">
          <a:blip r:embed="rId3">
            <a:alphaModFix/>
          </a:blip>
          <a:srcRect b="0" l="0" r="0" t="0"/>
          <a:stretch/>
        </p:blipFill>
        <p:spPr>
          <a:xfrm>
            <a:off x="2438400" y="89315"/>
            <a:ext cx="5685183" cy="73566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2017-12-25T18:58:56Z</dcterms:created>
  <dc:creator>Huma Navid</dc:creator>
</cp:coreProperties>
</file>