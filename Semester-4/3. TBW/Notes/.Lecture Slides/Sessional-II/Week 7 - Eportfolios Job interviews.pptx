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
      <p:font typeface="PT Sans Narrow"/>
      <p:regular r:id="rId25"/>
      <p:bold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TSansNarrow-bold.fntdata"/><Relationship Id="rId25" Type="http://schemas.openxmlformats.org/officeDocument/2006/relationships/font" Target="fonts/PTSansNarrow-regular.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65a5274fb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65a5274fb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65a5274fb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65a5274fb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65a5274fb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65a5274fb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65a5274fb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65a5274fb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65a5274fb2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65a5274fb2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65a5274fb2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65a5274fb2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65a5274fb2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65a5274fb2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65a5274fb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65a5274fb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65a5274fb2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65a5274fb2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65a5274fb2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65a5274fb2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65a5274fb2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65a5274fb2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65a5274fb2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65a5274fb2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65a5274fb2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65a5274fb2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65a5274fb2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65a5274fb2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3650" y="1681932"/>
            <a:ext cx="7136700" cy="1660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E-portfolios/ LinkedIn/ Job Interviews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11700" y="1370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E-portfolios</a:t>
            </a:r>
            <a:endParaRPr/>
          </a:p>
        </p:txBody>
      </p:sp>
      <p:sp>
        <p:nvSpPr>
          <p:cNvPr id="72" name="Google Shape;72;p14"/>
          <p:cNvSpPr txBox="1"/>
          <p:nvPr>
            <p:ph idx="1" type="body"/>
          </p:nvPr>
        </p:nvSpPr>
        <p:spPr>
          <a:xfrm>
            <a:off x="311700" y="920400"/>
            <a:ext cx="8520600" cy="3817500"/>
          </a:xfrm>
          <a:prstGeom prst="rect">
            <a:avLst/>
          </a:prstGeom>
        </p:spPr>
        <p:txBody>
          <a:bodyPr anchorCtr="0" anchor="t" bIns="91425" lIns="91425" spcFirstLastPara="1" rIns="91425" wrap="square" tIns="91425">
            <a:noAutofit/>
          </a:bodyPr>
          <a:lstStyle/>
          <a:p>
            <a:pPr indent="-336550" lvl="0" marL="457200" rtl="0" algn="just">
              <a:lnSpc>
                <a:spcPct val="95000"/>
              </a:lnSpc>
              <a:spcBef>
                <a:spcPts val="0"/>
              </a:spcBef>
              <a:spcAft>
                <a:spcPts val="0"/>
              </a:spcAft>
              <a:buClr>
                <a:srgbClr val="000000"/>
              </a:buClr>
              <a:buSzPts val="1700"/>
              <a:buFont typeface="Times New Roman"/>
              <a:buChar char="●"/>
            </a:pPr>
            <a:r>
              <a:rPr lang="en" sz="1700">
                <a:solidFill>
                  <a:srgbClr val="000000"/>
                </a:solidFill>
                <a:highlight>
                  <a:srgbClr val="FFFFFF"/>
                </a:highlight>
                <a:latin typeface="Times New Roman"/>
                <a:ea typeface="Times New Roman"/>
                <a:cs typeface="Times New Roman"/>
                <a:sym typeface="Times New Roman"/>
              </a:rPr>
              <a:t>a digitized collection of artifacts related to the owner's professional and academic accomplishments, including demonstrations, resources, and awards.</a:t>
            </a:r>
            <a:endParaRPr sz="1700">
              <a:solidFill>
                <a:srgbClr val="000000"/>
              </a:solidFill>
              <a:highlight>
                <a:srgbClr val="FFFFFF"/>
              </a:highlight>
              <a:latin typeface="Times New Roman"/>
              <a:ea typeface="Times New Roman"/>
              <a:cs typeface="Times New Roman"/>
              <a:sym typeface="Times New Roman"/>
            </a:endParaRPr>
          </a:p>
          <a:p>
            <a:pPr indent="0" lvl="0" marL="0" rtl="0" algn="just">
              <a:lnSpc>
                <a:spcPct val="95000"/>
              </a:lnSpc>
              <a:spcBef>
                <a:spcPts val="0"/>
              </a:spcBef>
              <a:spcAft>
                <a:spcPts val="0"/>
              </a:spcAft>
              <a:buSzPts val="935"/>
              <a:buNone/>
            </a:pPr>
            <a:r>
              <a:t/>
            </a:r>
            <a:endParaRPr sz="1700">
              <a:solidFill>
                <a:srgbClr val="000000"/>
              </a:solidFill>
              <a:highlight>
                <a:srgbClr val="FFFFFF"/>
              </a:highlight>
              <a:latin typeface="Times New Roman"/>
              <a:ea typeface="Times New Roman"/>
              <a:cs typeface="Times New Roman"/>
              <a:sym typeface="Times New Roman"/>
            </a:endParaRPr>
          </a:p>
          <a:p>
            <a:pPr indent="-336550" lvl="0" marL="457200" rtl="0" algn="just">
              <a:lnSpc>
                <a:spcPct val="95000"/>
              </a:lnSpc>
              <a:spcBef>
                <a:spcPts val="0"/>
              </a:spcBef>
              <a:spcAft>
                <a:spcPts val="0"/>
              </a:spcAft>
              <a:buClr>
                <a:srgbClr val="000000"/>
              </a:buClr>
              <a:buSzPts val="1700"/>
              <a:buFont typeface="Times New Roman"/>
              <a:buChar char="●"/>
            </a:pPr>
            <a:r>
              <a:rPr lang="en" sz="1700">
                <a:solidFill>
                  <a:srgbClr val="000000"/>
                </a:solidFill>
                <a:highlight>
                  <a:srgbClr val="FFFFFF"/>
                </a:highlight>
                <a:latin typeface="Times New Roman"/>
                <a:ea typeface="Times New Roman"/>
                <a:cs typeface="Times New Roman"/>
                <a:sym typeface="Times New Roman"/>
              </a:rPr>
              <a:t>a powerful tool for business students to gain self-awareness and take control of their learning experiences.</a:t>
            </a:r>
            <a:endParaRPr sz="17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95000"/>
              </a:lnSpc>
              <a:spcBef>
                <a:spcPts val="0"/>
              </a:spcBef>
              <a:spcAft>
                <a:spcPts val="0"/>
              </a:spcAft>
              <a:buSzPts val="935"/>
              <a:buNone/>
            </a:pPr>
            <a:r>
              <a:t/>
            </a:r>
            <a:endParaRPr sz="1700">
              <a:solidFill>
                <a:srgbClr val="000000"/>
              </a:solidFill>
              <a:highlight>
                <a:srgbClr val="FFFFFF"/>
              </a:highlight>
              <a:latin typeface="Times New Roman"/>
              <a:ea typeface="Times New Roman"/>
              <a:cs typeface="Times New Roman"/>
              <a:sym typeface="Times New Roman"/>
            </a:endParaRPr>
          </a:p>
          <a:p>
            <a:pPr indent="-336550" lvl="0" marL="457200" rtl="0" algn="just">
              <a:lnSpc>
                <a:spcPct val="95000"/>
              </a:lnSpc>
              <a:spcBef>
                <a:spcPts val="0"/>
              </a:spcBef>
              <a:spcAft>
                <a:spcPts val="0"/>
              </a:spcAft>
              <a:buClr>
                <a:srgbClr val="000000"/>
              </a:buClr>
              <a:buSzPts val="1700"/>
              <a:buFont typeface="Times New Roman"/>
              <a:buChar char="●"/>
            </a:pPr>
            <a:r>
              <a:rPr lang="en" sz="1700">
                <a:solidFill>
                  <a:srgbClr val="000000"/>
                </a:solidFill>
                <a:highlight>
                  <a:srgbClr val="FFFFFF"/>
                </a:highlight>
                <a:latin typeface="Times New Roman"/>
                <a:ea typeface="Times New Roman"/>
                <a:cs typeface="Times New Roman"/>
                <a:sym typeface="Times New Roman"/>
              </a:rPr>
              <a:t>It’s a compilation of experiential learning evidences. </a:t>
            </a:r>
            <a:endParaRPr sz="17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95000"/>
              </a:lnSpc>
              <a:spcBef>
                <a:spcPts val="0"/>
              </a:spcBef>
              <a:spcAft>
                <a:spcPts val="0"/>
              </a:spcAft>
              <a:buNone/>
            </a:pPr>
            <a:r>
              <a:t/>
            </a:r>
            <a:endParaRPr sz="1700">
              <a:solidFill>
                <a:srgbClr val="000000"/>
              </a:solidFill>
              <a:highlight>
                <a:srgbClr val="FFFFFF"/>
              </a:highlight>
              <a:latin typeface="Times New Roman"/>
              <a:ea typeface="Times New Roman"/>
              <a:cs typeface="Times New Roman"/>
              <a:sym typeface="Times New Roman"/>
            </a:endParaRPr>
          </a:p>
          <a:p>
            <a:pPr indent="-336550" lvl="0" marL="457200" rtl="0" algn="just">
              <a:lnSpc>
                <a:spcPct val="95000"/>
              </a:lnSpc>
              <a:spcBef>
                <a:spcPts val="0"/>
              </a:spcBef>
              <a:spcAft>
                <a:spcPts val="0"/>
              </a:spcAft>
              <a:buClr>
                <a:srgbClr val="000000"/>
              </a:buClr>
              <a:buSzPts val="1700"/>
              <a:buFont typeface="Times New Roman"/>
              <a:buChar char="●"/>
            </a:pPr>
            <a:r>
              <a:rPr lang="en" sz="1700">
                <a:solidFill>
                  <a:srgbClr val="000000"/>
                </a:solidFill>
                <a:highlight>
                  <a:srgbClr val="FFFFFF"/>
                </a:highlight>
                <a:latin typeface="Times New Roman"/>
                <a:ea typeface="Times New Roman"/>
                <a:cs typeface="Times New Roman"/>
                <a:sym typeface="Times New Roman"/>
              </a:rPr>
              <a:t>They allow students to reflect on their performance, receive feedback, and prepare their best work to show to future employers or clients.</a:t>
            </a:r>
            <a:endParaRPr sz="17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95000"/>
              </a:lnSpc>
              <a:spcBef>
                <a:spcPts val="0"/>
              </a:spcBef>
              <a:spcAft>
                <a:spcPts val="0"/>
              </a:spcAft>
              <a:buSzPts val="935"/>
              <a:buNone/>
            </a:pPr>
            <a:r>
              <a:t/>
            </a:r>
            <a:endParaRPr sz="1700">
              <a:solidFill>
                <a:srgbClr val="000000"/>
              </a:solidFill>
              <a:highlight>
                <a:srgbClr val="FFFFFF"/>
              </a:highlight>
              <a:latin typeface="Times New Roman"/>
              <a:ea typeface="Times New Roman"/>
              <a:cs typeface="Times New Roman"/>
              <a:sym typeface="Times New Roman"/>
            </a:endParaRPr>
          </a:p>
          <a:p>
            <a:pPr indent="-336550" lvl="0" marL="457200" rtl="0" algn="just">
              <a:lnSpc>
                <a:spcPct val="95000"/>
              </a:lnSpc>
              <a:spcBef>
                <a:spcPts val="0"/>
              </a:spcBef>
              <a:spcAft>
                <a:spcPts val="0"/>
              </a:spcAft>
              <a:buClr>
                <a:srgbClr val="000000"/>
              </a:buClr>
              <a:buSzPts val="1700"/>
              <a:buFont typeface="Times New Roman"/>
              <a:buChar char="●"/>
            </a:pPr>
            <a:r>
              <a:rPr lang="en" sz="1700">
                <a:solidFill>
                  <a:srgbClr val="000000"/>
                </a:solidFill>
                <a:highlight>
                  <a:srgbClr val="FFFFFF"/>
                </a:highlight>
                <a:latin typeface="Times New Roman"/>
                <a:ea typeface="Times New Roman"/>
                <a:cs typeface="Times New Roman"/>
                <a:sym typeface="Times New Roman"/>
              </a:rPr>
              <a:t>can be used as online profiles in the job application process, allowing more authenticity, personalization, and completeness than traditional résumés</a:t>
            </a:r>
            <a:endParaRPr sz="1700">
              <a:solidFill>
                <a:srgbClr val="000000"/>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to include in E-portfolio</a:t>
            </a:r>
            <a:endParaRPr/>
          </a:p>
        </p:txBody>
      </p:sp>
      <p:sp>
        <p:nvSpPr>
          <p:cNvPr id="78" name="Google Shape;78;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55000" lnSpcReduction="10000"/>
          </a:bodyPr>
          <a:lstStyle/>
          <a:p>
            <a:pPr indent="0" lvl="0" marL="0" rtl="0" algn="l">
              <a:lnSpc>
                <a:spcPct val="160000"/>
              </a:lnSpc>
              <a:spcBef>
                <a:spcPts val="0"/>
              </a:spcBef>
              <a:spcAft>
                <a:spcPts val="0"/>
              </a:spcAft>
              <a:buNone/>
            </a:pPr>
            <a:r>
              <a:rPr lang="en" sz="2500">
                <a:solidFill>
                  <a:srgbClr val="333333"/>
                </a:solidFill>
                <a:highlight>
                  <a:srgbClr val="FFFFFF"/>
                </a:highlight>
                <a:latin typeface="Times New Roman"/>
                <a:ea typeface="Times New Roman"/>
                <a:cs typeface="Times New Roman"/>
                <a:sym typeface="Times New Roman"/>
              </a:rPr>
              <a:t>An ePortfolio may contain all or some of the following:</a:t>
            </a:r>
            <a:endParaRPr sz="2500">
              <a:solidFill>
                <a:srgbClr val="333333"/>
              </a:solidFill>
              <a:highlight>
                <a:srgbClr val="FFFFFF"/>
              </a:highlight>
              <a:latin typeface="Times New Roman"/>
              <a:ea typeface="Times New Roman"/>
              <a:cs typeface="Times New Roman"/>
              <a:sym typeface="Times New Roman"/>
            </a:endParaRPr>
          </a:p>
          <a:p>
            <a:pPr indent="-315912" lvl="0" marL="457200" rtl="0" algn="l">
              <a:lnSpc>
                <a:spcPct val="160000"/>
              </a:lnSpc>
              <a:spcBef>
                <a:spcPts val="1500"/>
              </a:spcBef>
              <a:spcAft>
                <a:spcPts val="0"/>
              </a:spcAft>
              <a:buClr>
                <a:srgbClr val="333333"/>
              </a:buClr>
              <a:buSzPct val="100000"/>
              <a:buFont typeface="Times New Roman"/>
              <a:buChar char="●"/>
            </a:pPr>
            <a:r>
              <a:rPr lang="en" sz="2500">
                <a:solidFill>
                  <a:srgbClr val="333333"/>
                </a:solidFill>
                <a:highlight>
                  <a:srgbClr val="FFFFFF"/>
                </a:highlight>
                <a:latin typeface="Times New Roman"/>
                <a:ea typeface="Times New Roman"/>
                <a:cs typeface="Times New Roman"/>
                <a:sym typeface="Times New Roman"/>
              </a:rPr>
              <a:t>Files of various formats (text, pictures, video, etc.)</a:t>
            </a:r>
            <a:endParaRPr sz="2500">
              <a:solidFill>
                <a:srgbClr val="333333"/>
              </a:solidFill>
              <a:highlight>
                <a:srgbClr val="FFFFFF"/>
              </a:highlight>
              <a:latin typeface="Times New Roman"/>
              <a:ea typeface="Times New Roman"/>
              <a:cs typeface="Times New Roman"/>
              <a:sym typeface="Times New Roman"/>
            </a:endParaRPr>
          </a:p>
          <a:p>
            <a:pPr indent="-315912" lvl="0" marL="457200" rtl="0" algn="l">
              <a:lnSpc>
                <a:spcPct val="160000"/>
              </a:lnSpc>
              <a:spcBef>
                <a:spcPts val="0"/>
              </a:spcBef>
              <a:spcAft>
                <a:spcPts val="0"/>
              </a:spcAft>
              <a:buClr>
                <a:srgbClr val="333333"/>
              </a:buClr>
              <a:buSzPct val="100000"/>
              <a:buFont typeface="Times New Roman"/>
              <a:buChar char="●"/>
            </a:pPr>
            <a:r>
              <a:rPr lang="en" sz="2500">
                <a:solidFill>
                  <a:srgbClr val="333333"/>
                </a:solidFill>
                <a:highlight>
                  <a:srgbClr val="FFFFFF"/>
                </a:highlight>
                <a:latin typeface="Times New Roman"/>
                <a:ea typeface="Times New Roman"/>
                <a:cs typeface="Times New Roman"/>
                <a:sym typeface="Times New Roman"/>
              </a:rPr>
              <a:t>Evidence related to courses taken, programs of study, etc.</a:t>
            </a:r>
            <a:endParaRPr sz="2500">
              <a:solidFill>
                <a:srgbClr val="333333"/>
              </a:solidFill>
              <a:highlight>
                <a:srgbClr val="FFFFFF"/>
              </a:highlight>
              <a:latin typeface="Times New Roman"/>
              <a:ea typeface="Times New Roman"/>
              <a:cs typeface="Times New Roman"/>
              <a:sym typeface="Times New Roman"/>
            </a:endParaRPr>
          </a:p>
          <a:p>
            <a:pPr indent="-315912" lvl="0" marL="457200" rtl="0" algn="l">
              <a:lnSpc>
                <a:spcPct val="160000"/>
              </a:lnSpc>
              <a:spcBef>
                <a:spcPts val="0"/>
              </a:spcBef>
              <a:spcAft>
                <a:spcPts val="0"/>
              </a:spcAft>
              <a:buClr>
                <a:srgbClr val="333333"/>
              </a:buClr>
              <a:buSzPct val="100000"/>
              <a:buFont typeface="Times New Roman"/>
              <a:buChar char="●"/>
            </a:pPr>
            <a:r>
              <a:rPr lang="en" sz="2500">
                <a:solidFill>
                  <a:srgbClr val="333333"/>
                </a:solidFill>
                <a:highlight>
                  <a:srgbClr val="FFFFFF"/>
                </a:highlight>
                <a:latin typeface="Times New Roman"/>
                <a:ea typeface="Times New Roman"/>
                <a:cs typeface="Times New Roman"/>
                <a:sym typeface="Times New Roman"/>
              </a:rPr>
              <a:t>Writing samples (which might include several drafts to show development and improvement)</a:t>
            </a:r>
            <a:endParaRPr sz="2500">
              <a:solidFill>
                <a:srgbClr val="333333"/>
              </a:solidFill>
              <a:highlight>
                <a:srgbClr val="FFFFFF"/>
              </a:highlight>
              <a:latin typeface="Times New Roman"/>
              <a:ea typeface="Times New Roman"/>
              <a:cs typeface="Times New Roman"/>
              <a:sym typeface="Times New Roman"/>
            </a:endParaRPr>
          </a:p>
          <a:p>
            <a:pPr indent="-315912" lvl="0" marL="457200" rtl="0" algn="l">
              <a:lnSpc>
                <a:spcPct val="160000"/>
              </a:lnSpc>
              <a:spcBef>
                <a:spcPts val="0"/>
              </a:spcBef>
              <a:spcAft>
                <a:spcPts val="0"/>
              </a:spcAft>
              <a:buClr>
                <a:srgbClr val="333333"/>
              </a:buClr>
              <a:buSzPct val="100000"/>
              <a:buFont typeface="Times New Roman"/>
              <a:buChar char="●"/>
            </a:pPr>
            <a:r>
              <a:rPr lang="en" sz="2500">
                <a:solidFill>
                  <a:srgbClr val="333333"/>
                </a:solidFill>
                <a:highlight>
                  <a:srgbClr val="FFFFFF"/>
                </a:highlight>
                <a:latin typeface="Times New Roman"/>
                <a:ea typeface="Times New Roman"/>
                <a:cs typeface="Times New Roman"/>
                <a:sym typeface="Times New Roman"/>
              </a:rPr>
              <a:t>Projects prepared for class or extracurricular activities</a:t>
            </a:r>
            <a:endParaRPr sz="2500">
              <a:solidFill>
                <a:srgbClr val="333333"/>
              </a:solidFill>
              <a:highlight>
                <a:srgbClr val="FFFFFF"/>
              </a:highlight>
              <a:latin typeface="Times New Roman"/>
              <a:ea typeface="Times New Roman"/>
              <a:cs typeface="Times New Roman"/>
              <a:sym typeface="Times New Roman"/>
            </a:endParaRPr>
          </a:p>
          <a:p>
            <a:pPr indent="-315912" lvl="0" marL="457200" rtl="0" algn="l">
              <a:lnSpc>
                <a:spcPct val="160000"/>
              </a:lnSpc>
              <a:spcBef>
                <a:spcPts val="0"/>
              </a:spcBef>
              <a:spcAft>
                <a:spcPts val="0"/>
              </a:spcAft>
              <a:buClr>
                <a:srgbClr val="333333"/>
              </a:buClr>
              <a:buSzPct val="100000"/>
              <a:buFont typeface="Times New Roman"/>
              <a:buChar char="●"/>
            </a:pPr>
            <a:r>
              <a:rPr lang="en" sz="2500">
                <a:solidFill>
                  <a:srgbClr val="333333"/>
                </a:solidFill>
                <a:highlight>
                  <a:srgbClr val="FFFFFF"/>
                </a:highlight>
                <a:latin typeface="Times New Roman"/>
                <a:ea typeface="Times New Roman"/>
                <a:cs typeface="Times New Roman"/>
                <a:sym typeface="Times New Roman"/>
              </a:rPr>
              <a:t>Evidence of creativity and performance</a:t>
            </a:r>
            <a:endParaRPr sz="2500">
              <a:solidFill>
                <a:srgbClr val="333333"/>
              </a:solidFill>
              <a:highlight>
                <a:srgbClr val="FFFFFF"/>
              </a:highlight>
              <a:latin typeface="Times New Roman"/>
              <a:ea typeface="Times New Roman"/>
              <a:cs typeface="Times New Roman"/>
              <a:sym typeface="Times New Roman"/>
            </a:endParaRPr>
          </a:p>
          <a:p>
            <a:pPr indent="-315912" lvl="0" marL="457200" rtl="0" algn="l">
              <a:lnSpc>
                <a:spcPct val="160000"/>
              </a:lnSpc>
              <a:spcBef>
                <a:spcPts val="0"/>
              </a:spcBef>
              <a:spcAft>
                <a:spcPts val="0"/>
              </a:spcAft>
              <a:buClr>
                <a:srgbClr val="333333"/>
              </a:buClr>
              <a:buSzPct val="100000"/>
              <a:buFont typeface="Times New Roman"/>
              <a:buChar char="●"/>
            </a:pPr>
            <a:r>
              <a:rPr lang="en" sz="2500">
                <a:solidFill>
                  <a:srgbClr val="333333"/>
                </a:solidFill>
                <a:highlight>
                  <a:srgbClr val="FFFFFF"/>
                </a:highlight>
                <a:latin typeface="Times New Roman"/>
                <a:ea typeface="Times New Roman"/>
                <a:cs typeface="Times New Roman"/>
                <a:sym typeface="Times New Roman"/>
              </a:rPr>
              <a:t>Evidence of extracurricular or co-curricular activities, including examples of leadership</a:t>
            </a:r>
            <a:endParaRPr sz="2500">
              <a:solidFill>
                <a:srgbClr val="333333"/>
              </a:solidFill>
              <a:highlight>
                <a:srgbClr val="FFFFFF"/>
              </a:highlight>
              <a:latin typeface="Times New Roman"/>
              <a:ea typeface="Times New Roman"/>
              <a:cs typeface="Times New Roman"/>
              <a:sym typeface="Times New Roman"/>
            </a:endParaRPr>
          </a:p>
          <a:p>
            <a:pPr indent="-315912" lvl="0" marL="457200" rtl="0" algn="l">
              <a:lnSpc>
                <a:spcPct val="160000"/>
              </a:lnSpc>
              <a:spcBef>
                <a:spcPts val="0"/>
              </a:spcBef>
              <a:spcAft>
                <a:spcPts val="0"/>
              </a:spcAft>
              <a:buClr>
                <a:srgbClr val="333333"/>
              </a:buClr>
              <a:buSzPct val="100000"/>
              <a:buFont typeface="Times New Roman"/>
              <a:buChar char="●"/>
            </a:pPr>
            <a:r>
              <a:rPr lang="en" sz="2500">
                <a:solidFill>
                  <a:srgbClr val="333333"/>
                </a:solidFill>
                <a:highlight>
                  <a:srgbClr val="FFFFFF"/>
                </a:highlight>
                <a:latin typeface="Times New Roman"/>
                <a:ea typeface="Times New Roman"/>
                <a:cs typeface="Times New Roman"/>
                <a:sym typeface="Times New Roman"/>
              </a:rPr>
              <a:t>Evaluations, analysis and recommendations</a:t>
            </a:r>
            <a:endParaRPr sz="2500">
              <a:solidFill>
                <a:srgbClr val="333333"/>
              </a:solidFill>
              <a:highlight>
                <a:srgbClr val="FFFFFF"/>
              </a:highlight>
              <a:latin typeface="Times New Roman"/>
              <a:ea typeface="Times New Roman"/>
              <a:cs typeface="Times New Roman"/>
              <a:sym typeface="Times New Roman"/>
            </a:endParaRPr>
          </a:p>
          <a:p>
            <a:pPr indent="0" lvl="0" marL="0" rtl="0" algn="l">
              <a:spcBef>
                <a:spcPts val="15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are e-portfolios beneficial for your career?</a:t>
            </a:r>
            <a:endParaRPr/>
          </a:p>
        </p:txBody>
      </p:sp>
      <p:sp>
        <p:nvSpPr>
          <p:cNvPr id="84" name="Google Shape;84;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Clr>
                <a:srgbClr val="000000"/>
              </a:buClr>
              <a:buSzPts val="2100"/>
              <a:buFont typeface="Times New Roman"/>
              <a:buChar char="●"/>
            </a:pPr>
            <a:r>
              <a:rPr lang="en" sz="2100">
                <a:solidFill>
                  <a:srgbClr val="000000"/>
                </a:solidFill>
                <a:latin typeface="Times New Roman"/>
                <a:ea typeface="Times New Roman"/>
                <a:cs typeface="Times New Roman"/>
                <a:sym typeface="Times New Roman"/>
              </a:rPr>
              <a:t>a</a:t>
            </a:r>
            <a:r>
              <a:rPr lang="en" sz="2100">
                <a:solidFill>
                  <a:srgbClr val="000000"/>
                </a:solidFill>
                <a:latin typeface="Times New Roman"/>
                <a:ea typeface="Times New Roman"/>
                <a:cs typeface="Times New Roman"/>
                <a:sym typeface="Times New Roman"/>
              </a:rPr>
              <a:t>n avenue to show potential employers your abilities.</a:t>
            </a:r>
            <a:endParaRPr sz="2100">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2100">
              <a:solidFill>
                <a:srgbClr val="000000"/>
              </a:solidFill>
              <a:latin typeface="Times New Roman"/>
              <a:ea typeface="Times New Roman"/>
              <a:cs typeface="Times New Roman"/>
              <a:sym typeface="Times New Roman"/>
            </a:endParaRPr>
          </a:p>
          <a:p>
            <a:pPr indent="-361950" lvl="0" marL="457200" rtl="0" algn="l">
              <a:spcBef>
                <a:spcPts val="1200"/>
              </a:spcBef>
              <a:spcAft>
                <a:spcPts val="0"/>
              </a:spcAft>
              <a:buClr>
                <a:srgbClr val="000000"/>
              </a:buClr>
              <a:buSzPts val="2100"/>
              <a:buFont typeface="Times New Roman"/>
              <a:buChar char="●"/>
            </a:pPr>
            <a:r>
              <a:rPr lang="en" sz="2100">
                <a:solidFill>
                  <a:srgbClr val="000000"/>
                </a:solidFill>
                <a:latin typeface="Times New Roman"/>
                <a:ea typeface="Times New Roman"/>
                <a:cs typeface="Times New Roman"/>
                <a:sym typeface="Times New Roman"/>
              </a:rPr>
              <a:t>demonstrates soft </a:t>
            </a:r>
            <a:r>
              <a:rPr lang="en" sz="2100">
                <a:solidFill>
                  <a:srgbClr val="000000"/>
                </a:solidFill>
                <a:latin typeface="Times New Roman"/>
                <a:ea typeface="Times New Roman"/>
                <a:cs typeface="Times New Roman"/>
                <a:sym typeface="Times New Roman"/>
              </a:rPr>
              <a:t>skills that you can’t mention in your resume. </a:t>
            </a:r>
            <a:endParaRPr sz="2100">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2100">
              <a:solidFill>
                <a:srgbClr val="000000"/>
              </a:solidFill>
              <a:latin typeface="Times New Roman"/>
              <a:ea typeface="Times New Roman"/>
              <a:cs typeface="Times New Roman"/>
              <a:sym typeface="Times New Roman"/>
            </a:endParaRPr>
          </a:p>
          <a:p>
            <a:pPr indent="-361950" lvl="0" marL="457200" rtl="0" algn="l">
              <a:spcBef>
                <a:spcPts val="1200"/>
              </a:spcBef>
              <a:spcAft>
                <a:spcPts val="0"/>
              </a:spcAft>
              <a:buClr>
                <a:srgbClr val="000000"/>
              </a:buClr>
              <a:buSzPts val="2100"/>
              <a:buFont typeface="Times New Roman"/>
              <a:buChar char="●"/>
            </a:pPr>
            <a:r>
              <a:rPr lang="en" sz="2100">
                <a:solidFill>
                  <a:srgbClr val="000000"/>
                </a:solidFill>
                <a:highlight>
                  <a:srgbClr val="FFFFFF"/>
                </a:highlight>
                <a:latin typeface="Times New Roman"/>
                <a:ea typeface="Times New Roman"/>
                <a:cs typeface="Times New Roman"/>
                <a:sym typeface="Times New Roman"/>
              </a:rPr>
              <a:t>to enhance the reach and utility of digital badges</a:t>
            </a:r>
            <a:endParaRPr sz="21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100">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2555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to consider </a:t>
            </a:r>
            <a:endParaRPr/>
          </a:p>
        </p:txBody>
      </p:sp>
      <p:sp>
        <p:nvSpPr>
          <p:cNvPr id="90" name="Google Shape;90;p17"/>
          <p:cNvSpPr txBox="1"/>
          <p:nvPr>
            <p:ph idx="1" type="body"/>
          </p:nvPr>
        </p:nvSpPr>
        <p:spPr>
          <a:xfrm>
            <a:off x="311700" y="962925"/>
            <a:ext cx="8520600" cy="3763200"/>
          </a:xfrm>
          <a:prstGeom prst="rect">
            <a:avLst/>
          </a:prstGeom>
        </p:spPr>
        <p:txBody>
          <a:bodyPr anchorCtr="0" anchor="t" bIns="91425" lIns="91425" spcFirstLastPara="1" rIns="91425" wrap="square" tIns="91425">
            <a:noAutofit/>
          </a:bodyPr>
          <a:lstStyle/>
          <a:p>
            <a:pPr indent="-342582" lvl="0" marL="457200" rtl="0" algn="l">
              <a:lnSpc>
                <a:spcPct val="95000"/>
              </a:lnSpc>
              <a:spcBef>
                <a:spcPts val="0"/>
              </a:spcBef>
              <a:spcAft>
                <a:spcPts val="0"/>
              </a:spcAft>
              <a:buClr>
                <a:srgbClr val="000000"/>
              </a:buClr>
              <a:buSzPts val="1795"/>
              <a:buFont typeface="Times New Roman"/>
              <a:buChar char="●"/>
            </a:pPr>
            <a:r>
              <a:rPr b="1" lang="en" sz="1795">
                <a:solidFill>
                  <a:srgbClr val="000000"/>
                </a:solidFill>
                <a:latin typeface="Times New Roman"/>
                <a:ea typeface="Times New Roman"/>
                <a:cs typeface="Times New Roman"/>
                <a:sym typeface="Times New Roman"/>
              </a:rPr>
              <a:t>Setting standards</a:t>
            </a:r>
            <a:r>
              <a:rPr lang="en" sz="1795">
                <a:solidFill>
                  <a:srgbClr val="000000"/>
                </a:solidFill>
                <a:latin typeface="Times New Roman"/>
                <a:ea typeface="Times New Roman"/>
                <a:cs typeface="Times New Roman"/>
                <a:sym typeface="Times New Roman"/>
              </a:rPr>
              <a:t>: avoid gaps &amp; inconsistencies</a:t>
            </a:r>
            <a:endParaRPr sz="1795">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852"/>
              <a:buNone/>
            </a:pPr>
            <a:r>
              <a:t/>
            </a:r>
            <a:endParaRPr sz="1795">
              <a:solidFill>
                <a:srgbClr val="000000"/>
              </a:solidFill>
              <a:latin typeface="Times New Roman"/>
              <a:ea typeface="Times New Roman"/>
              <a:cs typeface="Times New Roman"/>
              <a:sym typeface="Times New Roman"/>
            </a:endParaRPr>
          </a:p>
          <a:p>
            <a:pPr indent="-342582" lvl="0" marL="457200" rtl="0" algn="l">
              <a:lnSpc>
                <a:spcPct val="95000"/>
              </a:lnSpc>
              <a:spcBef>
                <a:spcPts val="1200"/>
              </a:spcBef>
              <a:spcAft>
                <a:spcPts val="0"/>
              </a:spcAft>
              <a:buClr>
                <a:srgbClr val="000000"/>
              </a:buClr>
              <a:buSzPts val="1795"/>
              <a:buFont typeface="Times New Roman"/>
              <a:buChar char="●"/>
            </a:pPr>
            <a:r>
              <a:rPr b="1" lang="en" sz="1795">
                <a:solidFill>
                  <a:srgbClr val="000000"/>
                </a:solidFill>
                <a:latin typeface="Times New Roman"/>
                <a:ea typeface="Times New Roman"/>
                <a:cs typeface="Times New Roman"/>
                <a:sym typeface="Times New Roman"/>
              </a:rPr>
              <a:t>Timing:</a:t>
            </a:r>
            <a:r>
              <a:rPr lang="en" sz="1795">
                <a:solidFill>
                  <a:srgbClr val="000000"/>
                </a:solidFill>
                <a:latin typeface="Times New Roman"/>
                <a:ea typeface="Times New Roman"/>
                <a:cs typeface="Times New Roman"/>
                <a:sym typeface="Times New Roman"/>
              </a:rPr>
              <a:t> e</a:t>
            </a:r>
            <a:r>
              <a:rPr lang="en" sz="1795">
                <a:solidFill>
                  <a:srgbClr val="000000"/>
                </a:solidFill>
                <a:highlight>
                  <a:srgbClr val="FFFFFF"/>
                </a:highlight>
                <a:latin typeface="Times New Roman"/>
                <a:ea typeface="Times New Roman"/>
                <a:cs typeface="Times New Roman"/>
                <a:sym typeface="Times New Roman"/>
              </a:rPr>
              <a:t>arlier an individual begins building their portfolios, the more they’ll benefit from the records of long-term learning.</a:t>
            </a:r>
            <a:endParaRPr sz="1795">
              <a:solidFill>
                <a:srgbClr val="000000"/>
              </a:solidFill>
              <a:highlight>
                <a:srgbClr val="FFFFFF"/>
              </a:highlight>
              <a:latin typeface="Times New Roman"/>
              <a:ea typeface="Times New Roman"/>
              <a:cs typeface="Times New Roman"/>
              <a:sym typeface="Times New Roman"/>
            </a:endParaRPr>
          </a:p>
          <a:p>
            <a:pPr indent="0" lvl="0" marL="0" rtl="0" algn="l">
              <a:lnSpc>
                <a:spcPct val="95000"/>
              </a:lnSpc>
              <a:spcBef>
                <a:spcPts val="1200"/>
              </a:spcBef>
              <a:spcAft>
                <a:spcPts val="0"/>
              </a:spcAft>
              <a:buSzPts val="852"/>
              <a:buNone/>
            </a:pPr>
            <a:r>
              <a:t/>
            </a:r>
            <a:endParaRPr sz="1795">
              <a:solidFill>
                <a:srgbClr val="000000"/>
              </a:solidFill>
              <a:highlight>
                <a:srgbClr val="FFFFFF"/>
              </a:highlight>
              <a:latin typeface="Times New Roman"/>
              <a:ea typeface="Times New Roman"/>
              <a:cs typeface="Times New Roman"/>
              <a:sym typeface="Times New Roman"/>
            </a:endParaRPr>
          </a:p>
          <a:p>
            <a:pPr indent="-342582" lvl="0" marL="457200" rtl="0" algn="l">
              <a:lnSpc>
                <a:spcPct val="95000"/>
              </a:lnSpc>
              <a:spcBef>
                <a:spcPts val="1200"/>
              </a:spcBef>
              <a:spcAft>
                <a:spcPts val="0"/>
              </a:spcAft>
              <a:buClr>
                <a:srgbClr val="000000"/>
              </a:buClr>
              <a:buSzPts val="1795"/>
              <a:buFont typeface="Times New Roman"/>
              <a:buChar char="●"/>
            </a:pPr>
            <a:r>
              <a:rPr b="1" lang="en" sz="1795">
                <a:solidFill>
                  <a:srgbClr val="000000"/>
                </a:solidFill>
                <a:latin typeface="Times New Roman"/>
                <a:ea typeface="Times New Roman"/>
                <a:cs typeface="Times New Roman"/>
                <a:sym typeface="Times New Roman"/>
              </a:rPr>
              <a:t>Cost:</a:t>
            </a:r>
            <a:r>
              <a:rPr lang="en" sz="1795">
                <a:solidFill>
                  <a:srgbClr val="000000"/>
                </a:solidFill>
                <a:latin typeface="Times New Roman"/>
                <a:ea typeface="Times New Roman"/>
                <a:cs typeface="Times New Roman"/>
                <a:sym typeface="Times New Roman"/>
              </a:rPr>
              <a:t> </a:t>
            </a:r>
            <a:r>
              <a:rPr lang="en" sz="1795">
                <a:solidFill>
                  <a:srgbClr val="000000"/>
                </a:solidFill>
                <a:highlight>
                  <a:srgbClr val="FFFFFF"/>
                </a:highlight>
                <a:latin typeface="Times New Roman"/>
                <a:ea typeface="Times New Roman"/>
                <a:cs typeface="Times New Roman"/>
                <a:sym typeface="Times New Roman"/>
              </a:rPr>
              <a:t>Make sure you have a clear understanding of these costs before you pick a platform for your long-term needs.</a:t>
            </a:r>
            <a:endParaRPr sz="1795">
              <a:solidFill>
                <a:srgbClr val="000000"/>
              </a:solidFill>
              <a:highlight>
                <a:srgbClr val="FFFFFF"/>
              </a:highlight>
              <a:latin typeface="Times New Roman"/>
              <a:ea typeface="Times New Roman"/>
              <a:cs typeface="Times New Roman"/>
              <a:sym typeface="Times New Roman"/>
            </a:endParaRPr>
          </a:p>
          <a:p>
            <a:pPr indent="0" lvl="0" marL="0" rtl="0" algn="l">
              <a:lnSpc>
                <a:spcPct val="95000"/>
              </a:lnSpc>
              <a:spcBef>
                <a:spcPts val="1200"/>
              </a:spcBef>
              <a:spcAft>
                <a:spcPts val="0"/>
              </a:spcAft>
              <a:buSzPts val="852"/>
              <a:buNone/>
            </a:pPr>
            <a:r>
              <a:t/>
            </a:r>
            <a:endParaRPr sz="1795">
              <a:solidFill>
                <a:srgbClr val="000000"/>
              </a:solidFill>
              <a:highlight>
                <a:srgbClr val="FFFFFF"/>
              </a:highlight>
              <a:latin typeface="Times New Roman"/>
              <a:ea typeface="Times New Roman"/>
              <a:cs typeface="Times New Roman"/>
              <a:sym typeface="Times New Roman"/>
            </a:endParaRPr>
          </a:p>
          <a:p>
            <a:pPr indent="-342582" lvl="0" marL="457200" rtl="0" algn="l">
              <a:lnSpc>
                <a:spcPct val="95000"/>
              </a:lnSpc>
              <a:spcBef>
                <a:spcPts val="1200"/>
              </a:spcBef>
              <a:spcAft>
                <a:spcPts val="0"/>
              </a:spcAft>
              <a:buClr>
                <a:srgbClr val="000000"/>
              </a:buClr>
              <a:buSzPts val="1795"/>
              <a:buFont typeface="Times New Roman"/>
              <a:buChar char="●"/>
            </a:pPr>
            <a:r>
              <a:rPr b="1" lang="en" sz="1795">
                <a:solidFill>
                  <a:srgbClr val="000000"/>
                </a:solidFill>
                <a:latin typeface="Times New Roman"/>
                <a:ea typeface="Times New Roman"/>
                <a:cs typeface="Times New Roman"/>
                <a:sym typeface="Times New Roman"/>
              </a:rPr>
              <a:t>Technology:</a:t>
            </a:r>
            <a:r>
              <a:rPr lang="en" sz="1795">
                <a:solidFill>
                  <a:srgbClr val="000000"/>
                </a:solidFill>
                <a:latin typeface="Times New Roman"/>
                <a:ea typeface="Times New Roman"/>
                <a:cs typeface="Times New Roman"/>
                <a:sym typeface="Times New Roman"/>
              </a:rPr>
              <a:t> </a:t>
            </a:r>
            <a:r>
              <a:rPr lang="en" sz="1795">
                <a:solidFill>
                  <a:srgbClr val="000000"/>
                </a:solidFill>
                <a:highlight>
                  <a:srgbClr val="FFFFFF"/>
                </a:highlight>
                <a:latin typeface="Times New Roman"/>
                <a:ea typeface="Times New Roman"/>
                <a:cs typeface="Times New Roman"/>
                <a:sym typeface="Times New Roman"/>
              </a:rPr>
              <a:t>training for students, faculty members, or employees to understand how to use e-portfolios to their full potential</a:t>
            </a:r>
            <a:endParaRPr sz="1795">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2318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choose an effective e-portfolio platform</a:t>
            </a:r>
            <a:endParaRPr/>
          </a:p>
        </p:txBody>
      </p:sp>
      <p:sp>
        <p:nvSpPr>
          <p:cNvPr id="96" name="Google Shape;96;p18"/>
          <p:cNvSpPr txBox="1"/>
          <p:nvPr>
            <p:ph idx="1" type="body"/>
          </p:nvPr>
        </p:nvSpPr>
        <p:spPr>
          <a:xfrm>
            <a:off x="311700" y="1029425"/>
            <a:ext cx="8520600" cy="3601800"/>
          </a:xfrm>
          <a:prstGeom prst="rect">
            <a:avLst/>
          </a:prstGeom>
        </p:spPr>
        <p:txBody>
          <a:bodyPr anchorCtr="0" anchor="t" bIns="91425" lIns="91425" spcFirstLastPara="1" rIns="91425" wrap="square" tIns="91425">
            <a:noAutofit/>
          </a:bodyPr>
          <a:lstStyle/>
          <a:p>
            <a:pPr indent="-339090" lvl="0" marL="457200" rtl="0" algn="l">
              <a:lnSpc>
                <a:spcPct val="100000"/>
              </a:lnSpc>
              <a:spcBef>
                <a:spcPts val="1600"/>
              </a:spcBef>
              <a:spcAft>
                <a:spcPts val="0"/>
              </a:spcAft>
              <a:buClr>
                <a:srgbClr val="383838"/>
              </a:buClr>
              <a:buSzPts val="1740"/>
              <a:buChar char="●"/>
            </a:pPr>
            <a:r>
              <a:rPr b="1" lang="en" sz="1740">
                <a:solidFill>
                  <a:srgbClr val="383838"/>
                </a:solidFill>
                <a:highlight>
                  <a:srgbClr val="FFFFFF"/>
                </a:highlight>
                <a:latin typeface="Times New Roman"/>
                <a:ea typeface="Times New Roman"/>
                <a:cs typeface="Times New Roman"/>
                <a:sym typeface="Times New Roman"/>
              </a:rPr>
              <a:t>Ease of use</a:t>
            </a:r>
            <a:r>
              <a:rPr lang="en" sz="1740">
                <a:solidFill>
                  <a:srgbClr val="383838"/>
                </a:solidFill>
                <a:highlight>
                  <a:srgbClr val="FFFFFF"/>
                </a:highlight>
                <a:latin typeface="Times New Roman"/>
                <a:ea typeface="Times New Roman"/>
                <a:cs typeface="Times New Roman"/>
                <a:sym typeface="Times New Roman"/>
              </a:rPr>
              <a:t>: easy to access and intuitive to use.</a:t>
            </a:r>
            <a:endParaRPr sz="1740">
              <a:solidFill>
                <a:srgbClr val="383838"/>
              </a:solidFill>
              <a:highlight>
                <a:srgbClr val="FFFFFF"/>
              </a:highlight>
              <a:latin typeface="Times New Roman"/>
              <a:ea typeface="Times New Roman"/>
              <a:cs typeface="Times New Roman"/>
              <a:sym typeface="Times New Roman"/>
            </a:endParaRPr>
          </a:p>
          <a:p>
            <a:pPr indent="0" lvl="0" marL="457200" rtl="0" algn="l">
              <a:lnSpc>
                <a:spcPct val="100000"/>
              </a:lnSpc>
              <a:spcBef>
                <a:spcPts val="1600"/>
              </a:spcBef>
              <a:spcAft>
                <a:spcPts val="0"/>
              </a:spcAft>
              <a:buNone/>
            </a:pPr>
            <a:r>
              <a:t/>
            </a:r>
            <a:endParaRPr sz="1740">
              <a:solidFill>
                <a:srgbClr val="383838"/>
              </a:solidFill>
              <a:highlight>
                <a:srgbClr val="FFFFFF"/>
              </a:highlight>
              <a:latin typeface="Times New Roman"/>
              <a:ea typeface="Times New Roman"/>
              <a:cs typeface="Times New Roman"/>
              <a:sym typeface="Times New Roman"/>
            </a:endParaRPr>
          </a:p>
          <a:p>
            <a:pPr indent="-339090" lvl="0" marL="457200" rtl="0" algn="l">
              <a:lnSpc>
                <a:spcPct val="100000"/>
              </a:lnSpc>
              <a:spcBef>
                <a:spcPts val="1600"/>
              </a:spcBef>
              <a:spcAft>
                <a:spcPts val="0"/>
              </a:spcAft>
              <a:buClr>
                <a:srgbClr val="383838"/>
              </a:buClr>
              <a:buSzPts val="1740"/>
              <a:buChar char="●"/>
            </a:pPr>
            <a:r>
              <a:rPr b="1" lang="en" sz="1740">
                <a:solidFill>
                  <a:srgbClr val="383838"/>
                </a:solidFill>
                <a:highlight>
                  <a:srgbClr val="FFFFFF"/>
                </a:highlight>
                <a:latin typeface="Times New Roman"/>
                <a:ea typeface="Times New Roman"/>
                <a:cs typeface="Times New Roman"/>
                <a:sym typeface="Times New Roman"/>
              </a:rPr>
              <a:t>Shareability</a:t>
            </a:r>
            <a:r>
              <a:rPr lang="en" sz="1740">
                <a:solidFill>
                  <a:srgbClr val="383838"/>
                </a:solidFill>
                <a:highlight>
                  <a:srgbClr val="FFFFFF"/>
                </a:highlight>
                <a:latin typeface="Times New Roman"/>
                <a:ea typeface="Times New Roman"/>
                <a:cs typeface="Times New Roman"/>
                <a:sym typeface="Times New Roman"/>
              </a:rPr>
              <a:t>: opportunity to connect with others for feedback and interaction to build their professional networks.</a:t>
            </a:r>
            <a:endParaRPr sz="1740">
              <a:solidFill>
                <a:srgbClr val="383838"/>
              </a:solidFill>
              <a:highlight>
                <a:srgbClr val="FFFFFF"/>
              </a:highlight>
              <a:latin typeface="Times New Roman"/>
              <a:ea typeface="Times New Roman"/>
              <a:cs typeface="Times New Roman"/>
              <a:sym typeface="Times New Roman"/>
            </a:endParaRPr>
          </a:p>
          <a:p>
            <a:pPr indent="0" lvl="0" marL="457200" rtl="0" algn="l">
              <a:lnSpc>
                <a:spcPct val="100000"/>
              </a:lnSpc>
              <a:spcBef>
                <a:spcPts val="1600"/>
              </a:spcBef>
              <a:spcAft>
                <a:spcPts val="0"/>
              </a:spcAft>
              <a:buNone/>
            </a:pPr>
            <a:r>
              <a:t/>
            </a:r>
            <a:endParaRPr sz="1740">
              <a:solidFill>
                <a:srgbClr val="383838"/>
              </a:solidFill>
              <a:highlight>
                <a:srgbClr val="FFFFFF"/>
              </a:highlight>
              <a:latin typeface="Times New Roman"/>
              <a:ea typeface="Times New Roman"/>
              <a:cs typeface="Times New Roman"/>
              <a:sym typeface="Times New Roman"/>
            </a:endParaRPr>
          </a:p>
          <a:p>
            <a:pPr indent="-339090" lvl="0" marL="457200" rtl="0" algn="l">
              <a:lnSpc>
                <a:spcPct val="100000"/>
              </a:lnSpc>
              <a:spcBef>
                <a:spcPts val="1600"/>
              </a:spcBef>
              <a:spcAft>
                <a:spcPts val="0"/>
              </a:spcAft>
              <a:buClr>
                <a:srgbClr val="383838"/>
              </a:buClr>
              <a:buSzPts val="1740"/>
              <a:buChar char="●"/>
            </a:pPr>
            <a:r>
              <a:rPr b="1" lang="en" sz="1740">
                <a:solidFill>
                  <a:srgbClr val="383838"/>
                </a:solidFill>
                <a:highlight>
                  <a:srgbClr val="FFFFFF"/>
                </a:highlight>
                <a:latin typeface="Times New Roman"/>
                <a:ea typeface="Times New Roman"/>
                <a:cs typeface="Times New Roman"/>
                <a:sym typeface="Times New Roman"/>
              </a:rPr>
              <a:t>Permanence</a:t>
            </a:r>
            <a:r>
              <a:rPr lang="en" sz="1740">
                <a:solidFill>
                  <a:srgbClr val="383838"/>
                </a:solidFill>
                <a:highlight>
                  <a:srgbClr val="FFFFFF"/>
                </a:highlight>
                <a:latin typeface="Times New Roman"/>
                <a:ea typeface="Times New Roman"/>
                <a:cs typeface="Times New Roman"/>
                <a:sym typeface="Times New Roman"/>
              </a:rPr>
              <a:t>: users should be able to build a lifelong profile.</a:t>
            </a:r>
            <a:endParaRPr sz="1740">
              <a:solidFill>
                <a:srgbClr val="383838"/>
              </a:solidFill>
              <a:highlight>
                <a:srgbClr val="FFFFFF"/>
              </a:highlight>
              <a:latin typeface="Times New Roman"/>
              <a:ea typeface="Times New Roman"/>
              <a:cs typeface="Times New Roman"/>
              <a:sym typeface="Times New Roman"/>
            </a:endParaRPr>
          </a:p>
          <a:p>
            <a:pPr indent="0" lvl="0" marL="457200" rtl="0" algn="l">
              <a:lnSpc>
                <a:spcPct val="100000"/>
              </a:lnSpc>
              <a:spcBef>
                <a:spcPts val="1600"/>
              </a:spcBef>
              <a:spcAft>
                <a:spcPts val="0"/>
              </a:spcAft>
              <a:buNone/>
            </a:pPr>
            <a:r>
              <a:t/>
            </a:r>
            <a:endParaRPr sz="1740">
              <a:solidFill>
                <a:srgbClr val="383838"/>
              </a:solidFill>
              <a:highlight>
                <a:srgbClr val="FFFFFF"/>
              </a:highlight>
              <a:latin typeface="Times New Roman"/>
              <a:ea typeface="Times New Roman"/>
              <a:cs typeface="Times New Roman"/>
              <a:sym typeface="Times New Roman"/>
            </a:endParaRPr>
          </a:p>
          <a:p>
            <a:pPr indent="-339090" lvl="0" marL="457200" rtl="0" algn="l">
              <a:lnSpc>
                <a:spcPct val="100000"/>
              </a:lnSpc>
              <a:spcBef>
                <a:spcPts val="1600"/>
              </a:spcBef>
              <a:spcAft>
                <a:spcPts val="0"/>
              </a:spcAft>
              <a:buClr>
                <a:srgbClr val="383838"/>
              </a:buClr>
              <a:buSzPts val="1740"/>
              <a:buChar char="●"/>
            </a:pPr>
            <a:r>
              <a:rPr b="1" lang="en" sz="1740">
                <a:solidFill>
                  <a:srgbClr val="383838"/>
                </a:solidFill>
                <a:highlight>
                  <a:srgbClr val="FFFFFF"/>
                </a:highlight>
                <a:latin typeface="Times New Roman"/>
                <a:ea typeface="Times New Roman"/>
                <a:cs typeface="Times New Roman"/>
                <a:sym typeface="Times New Roman"/>
              </a:rPr>
              <a:t>Extra features</a:t>
            </a:r>
            <a:r>
              <a:rPr lang="en" sz="1740">
                <a:solidFill>
                  <a:srgbClr val="383838"/>
                </a:solidFill>
                <a:highlight>
                  <a:srgbClr val="FFFFFF"/>
                </a:highlight>
                <a:latin typeface="Times New Roman"/>
                <a:ea typeface="Times New Roman"/>
                <a:cs typeface="Times New Roman"/>
                <a:sym typeface="Times New Roman"/>
              </a:rPr>
              <a:t>: digital credentialing and learning pathways</a:t>
            </a:r>
            <a:endParaRPr sz="1740">
              <a:solidFill>
                <a:srgbClr val="383838"/>
              </a:solidFill>
              <a:highlight>
                <a:srgbClr val="FFFFFF"/>
              </a:highlight>
              <a:latin typeface="Times New Roman"/>
              <a:ea typeface="Times New Roman"/>
              <a:cs typeface="Times New Roman"/>
              <a:sym typeface="Times New Roman"/>
            </a:endParaRPr>
          </a:p>
          <a:p>
            <a:pPr indent="0" lvl="0" marL="0" rtl="0" algn="l">
              <a:lnSpc>
                <a:spcPct val="100000"/>
              </a:lnSpc>
              <a:spcBef>
                <a:spcPts val="1600"/>
              </a:spcBef>
              <a:spcAft>
                <a:spcPts val="1200"/>
              </a:spcAft>
              <a:buSzPts val="852"/>
              <a:buNone/>
            </a:pPr>
            <a:r>
              <a:t/>
            </a:r>
            <a:endParaRPr sz="1895">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LinkedIn Profile</a:t>
            </a:r>
            <a:endParaRPr/>
          </a:p>
        </p:txBody>
      </p:sp>
      <p:sp>
        <p:nvSpPr>
          <p:cNvPr id="102" name="Google Shape;102;p19"/>
          <p:cNvSpPr txBox="1"/>
          <p:nvPr>
            <p:ph idx="1" type="body"/>
          </p:nvPr>
        </p:nvSpPr>
        <p:spPr>
          <a:xfrm>
            <a:off x="311700" y="1266325"/>
            <a:ext cx="7705800" cy="33027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Clr>
                <a:srgbClr val="383838"/>
              </a:buClr>
              <a:buSzPts val="1900"/>
              <a:buFont typeface="Times New Roman"/>
              <a:buChar char="●"/>
            </a:pPr>
            <a:r>
              <a:rPr lang="en" sz="1900">
                <a:solidFill>
                  <a:srgbClr val="383838"/>
                </a:solidFill>
                <a:highlight>
                  <a:srgbClr val="FFFFFF"/>
                </a:highlight>
                <a:latin typeface="Times New Roman"/>
                <a:ea typeface="Times New Roman"/>
                <a:cs typeface="Times New Roman"/>
                <a:sym typeface="Times New Roman"/>
              </a:rPr>
              <a:t>well-recognized and widely used site that focuses on networking with professionals. </a:t>
            </a:r>
            <a:endParaRPr sz="1900">
              <a:solidFill>
                <a:srgbClr val="383838"/>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sz="1900">
              <a:solidFill>
                <a:srgbClr val="383838"/>
              </a:solidFill>
              <a:highlight>
                <a:srgbClr val="FFFFFF"/>
              </a:highlight>
              <a:latin typeface="Times New Roman"/>
              <a:ea typeface="Times New Roman"/>
              <a:cs typeface="Times New Roman"/>
              <a:sym typeface="Times New Roman"/>
            </a:endParaRPr>
          </a:p>
          <a:p>
            <a:pPr indent="-349250" lvl="0" marL="457200" rtl="0" algn="l">
              <a:spcBef>
                <a:spcPts val="1200"/>
              </a:spcBef>
              <a:spcAft>
                <a:spcPts val="0"/>
              </a:spcAft>
              <a:buClr>
                <a:srgbClr val="383838"/>
              </a:buClr>
              <a:buSzPts val="1900"/>
              <a:buFont typeface="Times New Roman"/>
              <a:buChar char="●"/>
            </a:pPr>
            <a:r>
              <a:rPr lang="en" sz="1900">
                <a:solidFill>
                  <a:srgbClr val="383838"/>
                </a:solidFill>
                <a:highlight>
                  <a:srgbClr val="FFFFFF"/>
                </a:highlight>
                <a:latin typeface="Times New Roman"/>
                <a:ea typeface="Times New Roman"/>
                <a:cs typeface="Times New Roman"/>
                <a:sym typeface="Times New Roman"/>
              </a:rPr>
              <a:t>A platform to  connect, share, and present oneself through an online portfolio.</a:t>
            </a:r>
            <a:endParaRPr sz="1900">
              <a:solidFill>
                <a:srgbClr val="383838"/>
              </a:solidFill>
              <a:highlight>
                <a:srgbClr val="FFFFFF"/>
              </a:highlight>
              <a:latin typeface="Times New Roman"/>
              <a:ea typeface="Times New Roman"/>
              <a:cs typeface="Times New Roman"/>
              <a:sym typeface="Times New Roman"/>
            </a:endParaRPr>
          </a:p>
          <a:p>
            <a:pPr indent="0" lvl="0" marL="457200" rtl="0" algn="l">
              <a:spcBef>
                <a:spcPts val="1200"/>
              </a:spcBef>
              <a:spcAft>
                <a:spcPts val="1200"/>
              </a:spcAft>
              <a:buNone/>
            </a:pPr>
            <a:r>
              <a:t/>
            </a:r>
            <a:endParaRPr sz="21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1018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None/>
            </a:pPr>
            <a:r>
              <a:rPr b="0" lang="en" sz="1800">
                <a:solidFill>
                  <a:srgbClr val="0061B0"/>
                </a:solidFill>
                <a:highlight>
                  <a:srgbClr val="FFFFFF"/>
                </a:highlight>
                <a:latin typeface="Roboto"/>
                <a:ea typeface="Roboto"/>
                <a:cs typeface="Roboto"/>
                <a:sym typeface="Roboto"/>
              </a:rPr>
              <a:t>Think of your LinkedIn profile as a rich (and graphical ) view of who you are and what you do. If you thoughtfully structure your career story, hiring managers will likely check out the details.</a:t>
            </a:r>
            <a:r>
              <a:rPr b="0" lang="en" sz="1600">
                <a:solidFill>
                  <a:srgbClr val="383838"/>
                </a:solidFill>
                <a:highlight>
                  <a:srgbClr val="FFFFFF"/>
                </a:highlight>
                <a:latin typeface="Open Sans"/>
                <a:ea typeface="Open Sans"/>
                <a:cs typeface="Open Sans"/>
                <a:sym typeface="Open Sans"/>
              </a:rPr>
              <a:t> </a:t>
            </a:r>
            <a:endParaRPr/>
          </a:p>
        </p:txBody>
      </p:sp>
      <p:pic>
        <p:nvPicPr>
          <p:cNvPr id="108" name="Google Shape;108;p20"/>
          <p:cNvPicPr preferRelativeResize="0"/>
          <p:nvPr/>
        </p:nvPicPr>
        <p:blipFill>
          <a:blip r:embed="rId3">
            <a:alphaModFix/>
          </a:blip>
          <a:stretch>
            <a:fillRect/>
          </a:stretch>
        </p:blipFill>
        <p:spPr>
          <a:xfrm>
            <a:off x="1007225" y="1627150"/>
            <a:ext cx="6795325" cy="2468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set up your LinkedIn profile</a:t>
            </a:r>
            <a:endParaRPr/>
          </a:p>
        </p:txBody>
      </p:sp>
      <p:sp>
        <p:nvSpPr>
          <p:cNvPr id="114" name="Google Shape;114;p2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200">
                <a:solidFill>
                  <a:srgbClr val="333333"/>
                </a:solidFill>
                <a:highlight>
                  <a:srgbClr val="FFFFFF"/>
                </a:highlight>
                <a:latin typeface="Arial"/>
                <a:ea typeface="Arial"/>
                <a:cs typeface="Arial"/>
                <a:sym typeface="Arial"/>
              </a:rPr>
              <a:t>There are a few core components to your profile that you can’t ignore.</a:t>
            </a:r>
            <a:endParaRPr sz="1200">
              <a:solidFill>
                <a:srgbClr val="333333"/>
              </a:solidFill>
              <a:highlight>
                <a:srgbClr val="FFFFFF"/>
              </a:highlight>
              <a:latin typeface="Arial"/>
              <a:ea typeface="Arial"/>
              <a:cs typeface="Arial"/>
              <a:sym typeface="Arial"/>
            </a:endParaRPr>
          </a:p>
          <a:p>
            <a:pPr indent="-304800" lvl="0" marL="457200" rtl="0" algn="l">
              <a:spcBef>
                <a:spcPts val="900"/>
              </a:spcBef>
              <a:spcAft>
                <a:spcPts val="0"/>
              </a:spcAft>
              <a:buClr>
                <a:srgbClr val="333333"/>
              </a:buClr>
              <a:buSzPts val="1200"/>
              <a:buFont typeface="Arial"/>
              <a:buAutoNum type="arabicPeriod"/>
            </a:pPr>
            <a:r>
              <a:rPr b="1" lang="en" sz="1200">
                <a:solidFill>
                  <a:srgbClr val="333333"/>
                </a:solidFill>
                <a:highlight>
                  <a:srgbClr val="FFFFFF"/>
                </a:highlight>
                <a:latin typeface="Arial"/>
                <a:ea typeface="Arial"/>
                <a:cs typeface="Arial"/>
                <a:sym typeface="Arial"/>
              </a:rPr>
              <a:t>Your Headshot</a:t>
            </a:r>
            <a:r>
              <a:rPr lang="en" sz="1200">
                <a:solidFill>
                  <a:srgbClr val="333333"/>
                </a:solidFill>
                <a:highlight>
                  <a:srgbClr val="FFFFFF"/>
                </a:highlight>
                <a:latin typeface="Arial"/>
                <a:ea typeface="Arial"/>
                <a:cs typeface="Arial"/>
                <a:sym typeface="Arial"/>
              </a:rPr>
              <a:t>. This should be a professional image that expresses you in the business world. </a:t>
            </a:r>
            <a:endParaRPr sz="1200">
              <a:solidFill>
                <a:srgbClr val="333333"/>
              </a:solidFill>
              <a:highlight>
                <a:srgbClr val="FFFFFF"/>
              </a:highlight>
              <a:latin typeface="Arial"/>
              <a:ea typeface="Arial"/>
              <a:cs typeface="Arial"/>
              <a:sym typeface="Arial"/>
            </a:endParaRPr>
          </a:p>
          <a:p>
            <a:pPr indent="0" lvl="0" marL="457200" rtl="0" algn="l">
              <a:spcBef>
                <a:spcPts val="1200"/>
              </a:spcBef>
              <a:spcAft>
                <a:spcPts val="0"/>
              </a:spcAft>
              <a:buNone/>
            </a:pPr>
            <a:r>
              <a:t/>
            </a:r>
            <a:endParaRPr sz="1200">
              <a:solidFill>
                <a:srgbClr val="333333"/>
              </a:solidFill>
              <a:highlight>
                <a:srgbClr val="FFFFFF"/>
              </a:highlight>
              <a:latin typeface="Arial"/>
              <a:ea typeface="Arial"/>
              <a:cs typeface="Arial"/>
              <a:sym typeface="Arial"/>
            </a:endParaRPr>
          </a:p>
          <a:p>
            <a:pPr indent="-304800" lvl="0" marL="457200" rtl="0" algn="l">
              <a:spcBef>
                <a:spcPts val="1200"/>
              </a:spcBef>
              <a:spcAft>
                <a:spcPts val="0"/>
              </a:spcAft>
              <a:buClr>
                <a:srgbClr val="333333"/>
              </a:buClr>
              <a:buSzPts val="1200"/>
              <a:buFont typeface="Arial"/>
              <a:buAutoNum type="arabicPeriod"/>
            </a:pPr>
            <a:r>
              <a:rPr b="1" lang="en" sz="1200">
                <a:solidFill>
                  <a:srgbClr val="333333"/>
                </a:solidFill>
                <a:highlight>
                  <a:srgbClr val="FFFFFF"/>
                </a:highlight>
                <a:latin typeface="Arial"/>
                <a:ea typeface="Arial"/>
                <a:cs typeface="Arial"/>
                <a:sym typeface="Arial"/>
              </a:rPr>
              <a:t>Your Headline. </a:t>
            </a:r>
            <a:r>
              <a:rPr lang="en" sz="1200">
                <a:solidFill>
                  <a:srgbClr val="333333"/>
                </a:solidFill>
                <a:highlight>
                  <a:srgbClr val="FFFFFF"/>
                </a:highlight>
                <a:latin typeface="Arial"/>
                <a:ea typeface="Arial"/>
                <a:cs typeface="Arial"/>
                <a:sym typeface="Arial"/>
              </a:rPr>
              <a:t>Your headline appears in search results and is the first thing that people see. It should include keywords to help you get found and attention grabbing verbiage to help you stand out. It’s a delicate balance but with some thought and creativity, you can make it happen.</a:t>
            </a:r>
            <a:endParaRPr sz="1200">
              <a:solidFill>
                <a:srgbClr val="333333"/>
              </a:solidFill>
              <a:highlight>
                <a:srgbClr val="FFFFFF"/>
              </a:highlight>
              <a:latin typeface="Arial"/>
              <a:ea typeface="Arial"/>
              <a:cs typeface="Arial"/>
              <a:sym typeface="Arial"/>
            </a:endParaRPr>
          </a:p>
          <a:p>
            <a:pPr indent="0" lvl="0" marL="457200" rtl="0" algn="l">
              <a:spcBef>
                <a:spcPts val="1200"/>
              </a:spcBef>
              <a:spcAft>
                <a:spcPts val="0"/>
              </a:spcAft>
              <a:buNone/>
            </a:pPr>
            <a:r>
              <a:t/>
            </a:r>
            <a:endParaRPr sz="1200">
              <a:solidFill>
                <a:srgbClr val="333333"/>
              </a:solidFill>
              <a:highlight>
                <a:srgbClr val="FFFFFF"/>
              </a:highlight>
              <a:latin typeface="Arial"/>
              <a:ea typeface="Arial"/>
              <a:cs typeface="Arial"/>
              <a:sym typeface="Arial"/>
            </a:endParaRPr>
          </a:p>
          <a:p>
            <a:pPr indent="-304800" lvl="0" marL="457200" rtl="0" algn="l">
              <a:spcBef>
                <a:spcPts val="1200"/>
              </a:spcBef>
              <a:spcAft>
                <a:spcPts val="0"/>
              </a:spcAft>
              <a:buClr>
                <a:srgbClr val="333333"/>
              </a:buClr>
              <a:buSzPts val="1200"/>
              <a:buFont typeface="Arial"/>
              <a:buAutoNum type="arabicPeriod"/>
            </a:pPr>
            <a:r>
              <a:rPr b="1" lang="en" sz="1200">
                <a:solidFill>
                  <a:srgbClr val="333333"/>
                </a:solidFill>
                <a:highlight>
                  <a:srgbClr val="FFFFFF"/>
                </a:highlight>
                <a:latin typeface="Arial"/>
                <a:ea typeface="Arial"/>
                <a:cs typeface="Arial"/>
                <a:sym typeface="Arial"/>
              </a:rPr>
              <a:t>Your Specialties.</a:t>
            </a:r>
            <a:r>
              <a:rPr lang="en" sz="1200">
                <a:solidFill>
                  <a:srgbClr val="333333"/>
                </a:solidFill>
                <a:highlight>
                  <a:srgbClr val="FFFFFF"/>
                </a:highlight>
                <a:latin typeface="Arial"/>
                <a:ea typeface="Arial"/>
                <a:cs typeface="Arial"/>
                <a:sym typeface="Arial"/>
              </a:rPr>
              <a:t> What makes you unique? What makes you stand out from other professionals in your niche? This is your time to shine so don’t be afraid to brag a little. And when you do, make sure to include a few more keywords so that LinkedIn’s search engine knows how to present you.</a:t>
            </a:r>
            <a:endParaRPr sz="1200">
              <a:solidFill>
                <a:srgbClr val="333333"/>
              </a:solidFill>
              <a:highlight>
                <a:srgbClr val="FFFFFF"/>
              </a:highlight>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2"/>
          <p:cNvPicPr preferRelativeResize="0"/>
          <p:nvPr/>
        </p:nvPicPr>
        <p:blipFill>
          <a:blip r:embed="rId3">
            <a:alphaModFix/>
          </a:blip>
          <a:stretch>
            <a:fillRect/>
          </a:stretch>
        </p:blipFill>
        <p:spPr>
          <a:xfrm>
            <a:off x="1273588" y="152400"/>
            <a:ext cx="6478369" cy="48386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3">
            <a:alphaModFix/>
          </a:blip>
          <a:stretch>
            <a:fillRect/>
          </a:stretch>
        </p:blipFill>
        <p:spPr>
          <a:xfrm>
            <a:off x="1230250" y="152400"/>
            <a:ext cx="5901884" cy="4838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Techniques for effective Job Interviews</a:t>
            </a:r>
            <a:endParaRPr/>
          </a:p>
        </p:txBody>
      </p:sp>
      <p:sp>
        <p:nvSpPr>
          <p:cNvPr id="130" name="Google Shape;130;p2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Dress professionally</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Be on time</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Watch your body </a:t>
            </a:r>
            <a:r>
              <a:rPr lang="en">
                <a:latin typeface="Times New Roman"/>
                <a:ea typeface="Times New Roman"/>
                <a:cs typeface="Times New Roman"/>
                <a:sym typeface="Times New Roman"/>
              </a:rPr>
              <a:t>language</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Don’t chew gum, smoke or drink beverages during the </a:t>
            </a:r>
            <a:r>
              <a:rPr lang="en">
                <a:latin typeface="Times New Roman"/>
                <a:ea typeface="Times New Roman"/>
                <a:cs typeface="Times New Roman"/>
                <a:sym typeface="Times New Roman"/>
              </a:rPr>
              <a:t>interview</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Turn off your cell phone</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Watch how you say and what you say</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Bring supporting documents to the interview</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Research the company</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Be familiar with typical interview questions</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When answering questions, focus on company’s specific needs</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5"/>
          <p:cNvPicPr preferRelativeResize="0"/>
          <p:nvPr/>
        </p:nvPicPr>
        <p:blipFill>
          <a:blip r:embed="rId3">
            <a:alphaModFix/>
          </a:blip>
          <a:stretch>
            <a:fillRect/>
          </a:stretch>
        </p:blipFill>
        <p:spPr>
          <a:xfrm>
            <a:off x="910450" y="152400"/>
            <a:ext cx="7760851" cy="48387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2318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Criteria for Effective Follow-up Interview</a:t>
            </a:r>
            <a:endParaRPr/>
          </a:p>
        </p:txBody>
      </p:sp>
      <p:sp>
        <p:nvSpPr>
          <p:cNvPr id="141" name="Google Shape;141;p26"/>
          <p:cNvSpPr txBox="1"/>
          <p:nvPr>
            <p:ph idx="1" type="body"/>
          </p:nvPr>
        </p:nvSpPr>
        <p:spPr>
          <a:xfrm>
            <a:off x="311700" y="1005750"/>
            <a:ext cx="8520600" cy="3732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latin typeface="Times New Roman"/>
                <a:ea typeface="Times New Roman"/>
                <a:cs typeface="Times New Roman"/>
                <a:sym typeface="Times New Roman"/>
              </a:rPr>
              <a:t>A follow-up letter or e-mail message contains an introduction, discussion, and conclusion. </a:t>
            </a:r>
            <a:endParaRPr>
              <a:latin typeface="Times New Roman"/>
              <a:ea typeface="Times New Roman"/>
              <a:cs typeface="Times New Roman"/>
              <a:sym typeface="Times New Roman"/>
            </a:endParaRPr>
          </a:p>
          <a:p>
            <a:pPr indent="0" lvl="0" marL="0" rtl="0" algn="l">
              <a:spcBef>
                <a:spcPts val="1200"/>
              </a:spcBef>
              <a:spcAft>
                <a:spcPts val="0"/>
              </a:spcAft>
              <a:buNone/>
            </a:pPr>
            <a:r>
              <a:rPr b="1" lang="en">
                <a:latin typeface="Times New Roman"/>
                <a:ea typeface="Times New Roman"/>
                <a:cs typeface="Times New Roman"/>
                <a:sym typeface="Times New Roman"/>
              </a:rPr>
              <a:t> Introduction. </a:t>
            </a:r>
            <a:r>
              <a:rPr lang="en">
                <a:latin typeface="Times New Roman"/>
                <a:ea typeface="Times New Roman"/>
                <a:cs typeface="Times New Roman"/>
                <a:sym typeface="Times New Roman"/>
              </a:rPr>
              <a:t>Tell the readers how much you appreciated meeting them. Be sure to state the date on which you met and the job for which you applied. </a:t>
            </a:r>
            <a:endParaRPr>
              <a:latin typeface="Times New Roman"/>
              <a:ea typeface="Times New Roman"/>
              <a:cs typeface="Times New Roman"/>
              <a:sym typeface="Times New Roman"/>
            </a:endParaRPr>
          </a:p>
          <a:p>
            <a:pPr indent="0" lvl="0" marL="0" rtl="0" algn="l">
              <a:spcBef>
                <a:spcPts val="1200"/>
              </a:spcBef>
              <a:spcAft>
                <a:spcPts val="0"/>
              </a:spcAft>
              <a:buNone/>
            </a:pPr>
            <a:r>
              <a:rPr b="1" lang="en">
                <a:latin typeface="Times New Roman"/>
                <a:ea typeface="Times New Roman"/>
                <a:cs typeface="Times New Roman"/>
                <a:sym typeface="Times New Roman"/>
              </a:rPr>
              <a:t>Discussion.</a:t>
            </a:r>
            <a:r>
              <a:rPr lang="en">
                <a:latin typeface="Times New Roman"/>
                <a:ea typeface="Times New Roman"/>
                <a:cs typeface="Times New Roman"/>
                <a:sym typeface="Times New Roman"/>
              </a:rPr>
              <a:t> In this paragraph, emphasize or add important information concerning your suitability for the job. Add details that you forgot to mention during the interview, clarify details that you covered insufficiently, and highlight your skills that match the job requirements. In any case, sell yourself one last time. </a:t>
            </a:r>
            <a:endParaRPr>
              <a:latin typeface="Times New Roman"/>
              <a:ea typeface="Times New Roman"/>
              <a:cs typeface="Times New Roman"/>
              <a:sym typeface="Times New Roman"/>
            </a:endParaRPr>
          </a:p>
          <a:p>
            <a:pPr indent="0" lvl="0" marL="0" rtl="0" algn="l">
              <a:spcBef>
                <a:spcPts val="1200"/>
              </a:spcBef>
              <a:spcAft>
                <a:spcPts val="1200"/>
              </a:spcAft>
              <a:buNone/>
            </a:pPr>
            <a:r>
              <a:rPr b="1" lang="en">
                <a:latin typeface="Times New Roman"/>
                <a:ea typeface="Times New Roman"/>
                <a:cs typeface="Times New Roman"/>
                <a:sym typeface="Times New Roman"/>
              </a:rPr>
              <a:t>Conclusion.</a:t>
            </a:r>
            <a:r>
              <a:rPr lang="en">
                <a:latin typeface="Times New Roman"/>
                <a:ea typeface="Times New Roman"/>
                <a:cs typeface="Times New Roman"/>
                <a:sym typeface="Times New Roman"/>
              </a:rPr>
              <a:t> Thank the readers for their consideration, or remind them how they can get in touch with you for further information. Don’t, however, give them any deadlines for making a decision.</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7"/>
          <p:cNvPicPr preferRelativeResize="0"/>
          <p:nvPr/>
        </p:nvPicPr>
        <p:blipFill>
          <a:blip r:embed="rId3">
            <a:alphaModFix/>
          </a:blip>
          <a:stretch>
            <a:fillRect/>
          </a:stretch>
        </p:blipFill>
        <p:spPr>
          <a:xfrm>
            <a:off x="103425" y="910450"/>
            <a:ext cx="8839199" cy="313672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