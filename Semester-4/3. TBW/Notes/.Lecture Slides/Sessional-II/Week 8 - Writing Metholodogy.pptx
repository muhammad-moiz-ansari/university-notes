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Lustria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7" roundtripDataSignature="AMtx7mg1DhYVXm/wocybbZsKPwajiui/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Lustri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5edd74862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5edd7486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edd74862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edd7486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5edd74862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5edd7486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37" name="Google Shape;3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7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64" name="Google Shape;6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1"/>
          <p:cNvSpPr txBox="1"/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/>
          <p:nvPr>
            <p:ph idx="2" type="pic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67" name="Google Shape;67;p21"/>
          <p:cNvSpPr txBox="1"/>
          <p:nvPr>
            <p:ph idx="1" type="body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72" name="Google Shape;7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2"/>
          <p:cNvSpPr txBox="1"/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/>
          <p:nvPr>
            <p:ph idx="2" type="pic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24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3" name="Google Shape;93;p24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7" name="Google Shape;97;p2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3" name="Google Shape;103;p26"/>
          <p:cNvSpPr txBox="1"/>
          <p:nvPr>
            <p:ph idx="2" type="body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4" name="Google Shape;104;p26"/>
          <p:cNvSpPr txBox="1"/>
          <p:nvPr>
            <p:ph idx="3" type="body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5" name="Google Shape;105;p26"/>
          <p:cNvSpPr txBox="1"/>
          <p:nvPr>
            <p:ph idx="4" type="body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6" name="Google Shape;106;p26"/>
          <p:cNvSpPr txBox="1"/>
          <p:nvPr>
            <p:ph idx="5" type="body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7" name="Google Shape;107;p26"/>
          <p:cNvSpPr txBox="1"/>
          <p:nvPr>
            <p:ph idx="6" type="body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12" name="Google Shape;11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4" name="Google Shape;1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17" name="Google Shape;117;p27"/>
          <p:cNvSpPr/>
          <p:nvPr>
            <p:ph idx="2" type="pic"/>
          </p:nvPr>
        </p:nvSpPr>
        <p:spPr>
          <a:xfrm>
            <a:off x="1018102" y="1938918"/>
            <a:ext cx="3092368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18" name="Google Shape;118;p27"/>
          <p:cNvSpPr txBox="1"/>
          <p:nvPr>
            <p:ph idx="3" type="body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9" name="Google Shape;119;p27"/>
          <p:cNvSpPr txBox="1"/>
          <p:nvPr>
            <p:ph idx="4" type="body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0" name="Google Shape;120;p27"/>
          <p:cNvSpPr/>
          <p:nvPr>
            <p:ph idx="5" type="pic"/>
          </p:nvPr>
        </p:nvSpPr>
        <p:spPr>
          <a:xfrm>
            <a:off x="4545743" y="1939094"/>
            <a:ext cx="3092368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1" name="Google Shape;121;p27"/>
          <p:cNvSpPr txBox="1"/>
          <p:nvPr>
            <p:ph idx="6" type="body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27"/>
          <p:cNvSpPr txBox="1"/>
          <p:nvPr>
            <p:ph idx="7" type="body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3" name="Google Shape;123;p27"/>
          <p:cNvSpPr/>
          <p:nvPr>
            <p:ph idx="8" type="pic"/>
          </p:nvPr>
        </p:nvSpPr>
        <p:spPr>
          <a:xfrm>
            <a:off x="8075698" y="1934432"/>
            <a:ext cx="3092368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4" name="Google Shape;124;p27"/>
          <p:cNvSpPr txBox="1"/>
          <p:nvPr>
            <p:ph idx="9" type="body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5" name="Google Shape;125;p2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9" name="Google Shape;149;p1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4" name="Google Shape;144;p1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cribbr.com/methodology/probability-sampling/" TargetMode="External"/><Relationship Id="rId4" Type="http://schemas.openxmlformats.org/officeDocument/2006/relationships/hyperlink" Target="https://www.scribbr.com/methodology/non-probability-samplin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7" name="Google Shape;157;p1"/>
          <p:cNvSpPr txBox="1"/>
          <p:nvPr>
            <p:ph type="ctrTitle"/>
          </p:nvPr>
        </p:nvSpPr>
        <p:spPr>
          <a:xfrm>
            <a:off x="5179157" y="1099456"/>
            <a:ext cx="6243636" cy="4625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ustria"/>
              <a:buNone/>
            </a:pPr>
            <a:r>
              <a:rPr lang="en-US">
                <a:solidFill>
                  <a:schemeClr val="lt1"/>
                </a:solidFill>
              </a:rPr>
              <a:t>How to write a research methodology?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5" name="Google Shape;165;p2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ustria"/>
              <a:buNone/>
            </a:pPr>
            <a:r>
              <a:t/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166" name="Google Shape;166;p2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just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In your thesis or dissertation, you will have to discuss the methods you used to do your research.</a:t>
            </a:r>
            <a:endParaRPr/>
          </a:p>
          <a:p>
            <a:pPr indent="-306000" lvl="0" marL="342900" rtl="0" algn="just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 The methodology or methods section explains what you did and how you did it, allowing readers to evaluate the reliability and validity of the research.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3" name="Google Shape;173;p3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ustria"/>
              <a:buNone/>
            </a:pPr>
            <a:r>
              <a:t/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174" name="Google Shape;174;p3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The type of research you did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How you collected your data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How you analyzed your data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Any tools or materials you used in the research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Your rationale for choosing these methods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1" name="Google Shape;181;p4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Lustria"/>
              <a:buNone/>
            </a:pPr>
            <a:r>
              <a:rPr lang="en-US" sz="4400">
                <a:solidFill>
                  <a:schemeClr val="lt2"/>
                </a:solidFill>
              </a:rPr>
              <a:t>Population and Sampling </a:t>
            </a:r>
            <a:endParaRPr sz="4400">
              <a:solidFill>
                <a:schemeClr val="lt2"/>
              </a:solidFill>
            </a:endParaRPr>
          </a:p>
        </p:txBody>
      </p:sp>
      <p:sp>
        <p:nvSpPr>
          <p:cNvPr id="182" name="Google Shape;182;p4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Define the population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Draw a representative sample from the population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Do the research on the sample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 Infer your results from the sample back to the population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9" name="Google Shape;189;p5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ustria"/>
              <a:buNone/>
            </a:pPr>
            <a:r>
              <a:t/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It all begins with a precise definition of the population.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The whole idea of inferential research (using a sample to represent the entire population) depends upon an accurate description of the population.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When you’ve finished your research and your make statements based on the results, who will that apply to ? Usually, just one sentence is necessary to define the population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edd74862b_0_5"/>
          <p:cNvSpPr txBox="1"/>
          <p:nvPr>
            <p:ph type="title"/>
          </p:nvPr>
        </p:nvSpPr>
        <p:spPr>
          <a:xfrm>
            <a:off x="627270" y="5314500"/>
            <a:ext cx="10353900" cy="97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research, a population doesn’t always refer to people. It can mean a group containing elements of anything you want to study, such as objects, events, organizations, countries, species, organisms, etc.</a:t>
            </a:r>
            <a:endParaRPr sz="4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g15edd74862b_0_5"/>
          <p:cNvSpPr txBox="1"/>
          <p:nvPr>
            <p:ph idx="1" type="body"/>
          </p:nvPr>
        </p:nvSpPr>
        <p:spPr>
          <a:xfrm>
            <a:off x="788448" y="693900"/>
            <a:ext cx="5622000" cy="405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population is the entire group that you want to draw conclusions about.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sample is the specific group that you will collect data from. The size of the sample is always less than the total size of the population.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g15edd74862b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8198" y="819300"/>
            <a:ext cx="47720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5edd74862b_0_13"/>
          <p:cNvSpPr txBox="1"/>
          <p:nvPr>
            <p:ph type="title"/>
          </p:nvPr>
        </p:nvSpPr>
        <p:spPr>
          <a:xfrm>
            <a:off x="913795" y="609600"/>
            <a:ext cx="10353900" cy="97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Reasons for Sampling</a:t>
            </a:r>
            <a:endParaRPr/>
          </a:p>
        </p:txBody>
      </p:sp>
      <p:sp>
        <p:nvSpPr>
          <p:cNvPr id="203" name="Google Shape;203;g15edd74862b_0_13"/>
          <p:cNvSpPr txBox="1"/>
          <p:nvPr>
            <p:ph idx="1" type="body"/>
          </p:nvPr>
        </p:nvSpPr>
        <p:spPr>
          <a:xfrm>
            <a:off x="913800" y="1732450"/>
            <a:ext cx="10353900" cy="458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just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rgbClr val="0D405F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rgbClr val="0D40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Necessity: Sometimes it’s simply not possible to study the whole population due to its size or inaccessibility.</a:t>
            </a:r>
            <a:endParaRPr b="1" sz="2300">
              <a:solidFill>
                <a:srgbClr val="0D40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rgbClr val="0D40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Practicality: It’s easier and more efficient to collect data from a sample.</a:t>
            </a:r>
            <a:endParaRPr b="1" sz="2300">
              <a:solidFill>
                <a:srgbClr val="0D40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rgbClr val="0D40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Cost-effectiveness: There are fewer participant, laboratory, equipment, and researcher costs involved.</a:t>
            </a:r>
            <a:endParaRPr b="1" sz="2300">
              <a:solidFill>
                <a:srgbClr val="0D40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2300"/>
              <a:buFont typeface="Times New Roman"/>
              <a:buChar char="●"/>
            </a:pPr>
            <a:r>
              <a:rPr b="1" lang="en-US" sz="2300">
                <a:solidFill>
                  <a:srgbClr val="0D40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Manageability: Storing and running statistical analyses on smaller datasets is easier and reliable.</a:t>
            </a:r>
            <a:endParaRPr b="1" sz="2300">
              <a:solidFill>
                <a:srgbClr val="0D405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60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5edd74862b_0_19"/>
          <p:cNvSpPr txBox="1"/>
          <p:nvPr>
            <p:ph type="title"/>
          </p:nvPr>
        </p:nvSpPr>
        <p:spPr>
          <a:xfrm>
            <a:off x="913795" y="609600"/>
            <a:ext cx="10353900" cy="97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sampling</a:t>
            </a:r>
            <a:endParaRPr/>
          </a:p>
        </p:txBody>
      </p:sp>
      <p:sp>
        <p:nvSpPr>
          <p:cNvPr id="209" name="Google Shape;209;g15edd74862b_0_19"/>
          <p:cNvSpPr txBox="1"/>
          <p:nvPr>
            <p:ph idx="1" type="body"/>
          </p:nvPr>
        </p:nvSpPr>
        <p:spPr>
          <a:xfrm>
            <a:off x="913795" y="1732449"/>
            <a:ext cx="10353900" cy="405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80E8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Probability sampling</a:t>
            </a:r>
            <a:r>
              <a:rPr lang="en-US" sz="2100">
                <a:solidFill>
                  <a:srgbClr val="0D405F"/>
                </a:solidFill>
                <a:latin typeface="Arial"/>
                <a:ea typeface="Arial"/>
                <a:cs typeface="Arial"/>
                <a:sym typeface="Arial"/>
              </a:rPr>
              <a:t> involves random selection, allowing you to make strong statistical inferences about the whole group.</a:t>
            </a:r>
            <a:endParaRPr sz="2100">
              <a:solidFill>
                <a:srgbClr val="0D40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D40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0D405F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80E8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Non-probability sampling</a:t>
            </a:r>
            <a:r>
              <a:rPr lang="en-US" sz="2100">
                <a:solidFill>
                  <a:srgbClr val="0D405F"/>
                </a:solidFill>
                <a:latin typeface="Arial"/>
                <a:ea typeface="Arial"/>
                <a:cs typeface="Arial"/>
                <a:sym typeface="Arial"/>
              </a:rPr>
              <a:t> involves non-random selection based on convenience or other criteria, allowing you to easily collect data.</a:t>
            </a:r>
            <a:endParaRPr sz="2100">
              <a:solidFill>
                <a:srgbClr val="0D40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16" name="Google Shape;216;p8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ustria"/>
              <a:buNone/>
            </a:pPr>
            <a:r>
              <a:t/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 If you are using a survey that was designed by someone else, state the source of the survey.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 Describe the theoretical constructs that the survey is attempting to measure.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Include a copy of the actual survey in the appendix and state that a copy of the survey design is in the appendix.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Other instruments, such as a questionnaire, pro-forma, schedule, consent form etc that were used in the survey to record information,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-1" y="0"/>
            <a:ext cx="4654287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4" name="Google Shape;224;p9"/>
          <p:cNvSpPr txBox="1"/>
          <p:nvPr>
            <p:ph type="title"/>
          </p:nvPr>
        </p:nvSpPr>
        <p:spPr>
          <a:xfrm>
            <a:off x="695916" y="1078264"/>
            <a:ext cx="3422930" cy="47014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ustria"/>
              <a:buNone/>
            </a:pPr>
            <a:r>
              <a:t/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225" name="Google Shape;225;p9"/>
          <p:cNvSpPr txBox="1"/>
          <p:nvPr>
            <p:ph idx="1" type="body"/>
          </p:nvPr>
        </p:nvSpPr>
        <p:spPr>
          <a:xfrm>
            <a:off x="5114167" y="1078263"/>
            <a:ext cx="6117578" cy="4701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State exactly when the research will begin and when it will end.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 Describe any special procedures that will be followed (e.g. instructions that will be read to participants, presentation of an informed consent form, etc.) </a:t>
            </a:r>
            <a:endParaRPr/>
          </a:p>
          <a:p>
            <a:pPr indent="0" lvl="0" marL="36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Analysis Plan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n-US"/>
              <a:t>The analysis plan should be described in detail. Each research question will usually require its own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2019-12-30T00:52:35Z</dcterms:created>
  <dc:creator>maria shafiq</dc:creator>
</cp:coreProperties>
</file>