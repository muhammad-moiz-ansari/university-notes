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19"/>
  </p:notesMasterIdLst>
  <p:sldIdLst>
    <p:sldId id="257"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EEC4BF-A2CC-4187-90C6-A7AEAAAD1B80}" type="datetimeFigureOut">
              <a:rPr lang="en-PK" smtClean="0"/>
              <a:t>19/01/2020</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9F544E-8A1B-4D16-BD1D-475B8695BC5B}" type="slidenum">
              <a:rPr lang="en-PK" smtClean="0"/>
              <a:t>‹#›</a:t>
            </a:fld>
            <a:endParaRPr lang="en-PK"/>
          </a:p>
        </p:txBody>
      </p:sp>
    </p:spTree>
    <p:extLst>
      <p:ext uri="{BB962C8B-B14F-4D97-AF65-F5344CB8AC3E}">
        <p14:creationId xmlns:p14="http://schemas.microsoft.com/office/powerpoint/2010/main" val="2892669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CACE733E-2320-4A56-A125-7C05E333A922}" type="datetime1">
              <a:rPr lang="en-US" smtClean="0"/>
              <a:t>1/19/2020</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7819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332668DE-60D4-4BAC-8AEB-9601BA45DB5F}" type="datetime1">
              <a:rPr lang="en-US" smtClean="0"/>
              <a:t>1/19/2020</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94931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A1B27152-C06F-40B7-972F-F45980F2370D}" type="datetime1">
              <a:rPr lang="en-US" smtClean="0"/>
              <a:t>1/19/2020</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12124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6B97C0EA-0CDD-4CEE-981A-3327620DF653}" type="datetime1">
              <a:rPr lang="en-US" smtClean="0"/>
              <a:t>1/19/2020</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789131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6D68CBDC-3420-49A6-BFD8-FBE26980C52D}" type="datetime1">
              <a:rPr lang="en-US" smtClean="0"/>
              <a:t>1/19/2020</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33908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5479367F-B488-4016-BBE0-A8B078B6D3E2}" type="datetime1">
              <a:rPr lang="en-US" smtClean="0"/>
              <a:t>1/19/2020</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27810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CA5FAC7F-9681-422D-AD76-321645A10281}" type="datetime1">
              <a:rPr lang="en-US" smtClean="0"/>
              <a:t>1/19/2020</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85110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EE432220-5EBC-4E64-AF2F-679DD2C83D55}" type="datetime1">
              <a:rPr lang="en-US" smtClean="0"/>
              <a:t>1/19/2020</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67512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F0CC7DD6-71F4-4CCD-B18B-13380118DCF3}" type="datetime1">
              <a:rPr lang="en-US" smtClean="0"/>
              <a:t>1/19/2020</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912470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754350D5-F59A-498E-9EBD-568E8C8689FC}" type="datetime1">
              <a:rPr lang="en-US" smtClean="0"/>
              <a:t>1/19/2020</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58992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A43EFFBD-DF3E-409D-AD6C-899A2BCAD268}" type="datetime1">
              <a:rPr lang="en-US" smtClean="0"/>
              <a:t>1/19/2020</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40241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270DE7-F892-4D72-9F48-0031F6C6CF0C}" type="datetime1">
              <a:rPr lang="en-US" smtClean="0"/>
              <a:t>1/19/2020</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950121728"/>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1" r:id="rId6"/>
    <p:sldLayoutId id="2147483707" r:id="rId7"/>
    <p:sldLayoutId id="2147483708" r:id="rId8"/>
    <p:sldLayoutId id="2147483709" r:id="rId9"/>
    <p:sldLayoutId id="2147483710" r:id="rId10"/>
    <p:sldLayoutId id="2147483712"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5282ADE-C397-4301-9013-4022359F53D7}"/>
              </a:ext>
            </a:extLst>
          </p:cNvPr>
          <p:cNvPicPr>
            <a:picLocks noChangeAspect="1"/>
          </p:cNvPicPr>
          <p:nvPr/>
        </p:nvPicPr>
        <p:blipFill rotWithShape="1">
          <a:blip r:embed="rId2"/>
          <a:srcRect l="26372" r="-1" b="-1"/>
          <a:stretch/>
        </p:blipFill>
        <p:spPr>
          <a:xfrm>
            <a:off x="20" y="10"/>
            <a:ext cx="8668492" cy="6857990"/>
          </a:xfrm>
          <a:prstGeom prst="rect">
            <a:avLst/>
          </a:prstGeom>
        </p:spPr>
      </p:pic>
      <p:sp>
        <p:nvSpPr>
          <p:cNvPr id="11" name="Rectangle 10">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7854CE2-A0B1-4DAF-BBD3-1F6A7E6090D6}"/>
              </a:ext>
            </a:extLst>
          </p:cNvPr>
          <p:cNvSpPr>
            <a:spLocks noGrp="1"/>
          </p:cNvSpPr>
          <p:nvPr>
            <p:ph type="ctrTitle"/>
          </p:nvPr>
        </p:nvSpPr>
        <p:spPr>
          <a:xfrm>
            <a:off x="7848600" y="1122363"/>
            <a:ext cx="4023360" cy="3204134"/>
          </a:xfrm>
        </p:spPr>
        <p:txBody>
          <a:bodyPr anchor="b">
            <a:normAutofit/>
          </a:bodyPr>
          <a:lstStyle/>
          <a:p>
            <a:r>
              <a:rPr lang="en-US" sz="4800" dirty="0"/>
              <a:t>CV writing </a:t>
            </a:r>
            <a:endParaRPr lang="en-PK" sz="4800" dirty="0"/>
          </a:p>
        </p:txBody>
      </p:sp>
      <p:sp>
        <p:nvSpPr>
          <p:cNvPr id="3" name="Subtitle 2">
            <a:extLst>
              <a:ext uri="{FF2B5EF4-FFF2-40B4-BE49-F238E27FC236}">
                <a16:creationId xmlns:a16="http://schemas.microsoft.com/office/drawing/2014/main" id="{2C907B29-3FD9-4474-8E4E-354C565658DC}"/>
              </a:ext>
            </a:extLst>
          </p:cNvPr>
          <p:cNvSpPr>
            <a:spLocks noGrp="1"/>
          </p:cNvSpPr>
          <p:nvPr>
            <p:ph type="subTitle" idx="1"/>
          </p:nvPr>
        </p:nvSpPr>
        <p:spPr>
          <a:xfrm>
            <a:off x="7848600" y="4872922"/>
            <a:ext cx="4023360" cy="1208141"/>
          </a:xfrm>
        </p:spPr>
        <p:txBody>
          <a:bodyPr>
            <a:normAutofit/>
          </a:bodyPr>
          <a:lstStyle/>
          <a:p>
            <a:endParaRPr lang="en-PK" sz="2000" dirty="0"/>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A43DA1F5-F40F-4146-84E9-F4A1D02797EF}"/>
              </a:ext>
            </a:extLst>
          </p:cNvPr>
          <p:cNvSpPr>
            <a:spLocks noGrp="1"/>
          </p:cNvSpPr>
          <p:nvPr>
            <p:ph type="dt" sz="half" idx="10"/>
          </p:nvPr>
        </p:nvSpPr>
        <p:spPr/>
        <p:txBody>
          <a:bodyPr/>
          <a:lstStyle/>
          <a:p>
            <a:fld id="{B878A188-866C-4FAB-A689-782D5F3466E9}" type="datetime1">
              <a:rPr lang="en-US" smtClean="0"/>
              <a:t>1/19/2020</a:t>
            </a:fld>
            <a:endParaRPr lang="en-US" dirty="0"/>
          </a:p>
        </p:txBody>
      </p:sp>
      <p:sp>
        <p:nvSpPr>
          <p:cNvPr id="6" name="Slide Number Placeholder 5">
            <a:extLst>
              <a:ext uri="{FF2B5EF4-FFF2-40B4-BE49-F238E27FC236}">
                <a16:creationId xmlns:a16="http://schemas.microsoft.com/office/drawing/2014/main" id="{4D132DB2-FEC9-4951-AA53-A0EF4BA5AE14}"/>
              </a:ext>
            </a:extLst>
          </p:cNvPr>
          <p:cNvSpPr>
            <a:spLocks noGrp="1"/>
          </p:cNvSpPr>
          <p:nvPr>
            <p:ph type="sldNum" sz="quarter" idx="12"/>
          </p:nvPr>
        </p:nvSpPr>
        <p:spPr/>
        <p:txBody>
          <a:bodyPr/>
          <a:lstStyle/>
          <a:p>
            <a:fld id="{B2DC25EE-239B-4C5F-AAD1-255A7D5F1EE2}" type="slidenum">
              <a:rPr lang="en-US" smtClean="0"/>
              <a:t>1</a:t>
            </a:fld>
            <a:endParaRPr lang="en-US" dirty="0"/>
          </a:p>
        </p:txBody>
      </p:sp>
    </p:spTree>
    <p:extLst>
      <p:ext uri="{BB962C8B-B14F-4D97-AF65-F5344CB8AC3E}">
        <p14:creationId xmlns:p14="http://schemas.microsoft.com/office/powerpoint/2010/main" val="1175114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5E139-B03B-4188-B204-4DAC0381736E}"/>
              </a:ext>
            </a:extLst>
          </p:cNvPr>
          <p:cNvSpPr>
            <a:spLocks noGrp="1"/>
          </p:cNvSpPr>
          <p:nvPr>
            <p:ph type="title"/>
          </p:nvPr>
        </p:nvSpPr>
        <p:spPr/>
        <p:txBody>
          <a:bodyPr/>
          <a:lstStyle/>
          <a:p>
            <a:r>
              <a:rPr lang="en-US" dirty="0"/>
              <a:t>CV </a:t>
            </a:r>
            <a:endParaRPr lang="en-PK" dirty="0"/>
          </a:p>
        </p:txBody>
      </p:sp>
      <p:sp>
        <p:nvSpPr>
          <p:cNvPr id="3" name="Content Placeholder 2">
            <a:extLst>
              <a:ext uri="{FF2B5EF4-FFF2-40B4-BE49-F238E27FC236}">
                <a16:creationId xmlns:a16="http://schemas.microsoft.com/office/drawing/2014/main" id="{0050F7D9-5AF6-4933-9BDA-80A9083611AF}"/>
              </a:ext>
            </a:extLst>
          </p:cNvPr>
          <p:cNvSpPr>
            <a:spLocks noGrp="1"/>
          </p:cNvSpPr>
          <p:nvPr>
            <p:ph idx="1"/>
          </p:nvPr>
        </p:nvSpPr>
        <p:spPr/>
        <p:txBody>
          <a:bodyPr>
            <a:normAutofit fontScale="70000" lnSpcReduction="20000"/>
          </a:bodyPr>
          <a:lstStyle/>
          <a:p>
            <a:pPr algn="just"/>
            <a:r>
              <a:rPr lang="en-US" dirty="0"/>
              <a:t>Your CV, short for curriculum vitae, is a personal marketing tool used to sell yourself to prospective employers. </a:t>
            </a:r>
          </a:p>
          <a:p>
            <a:pPr algn="just"/>
            <a:r>
              <a:rPr lang="en-US" dirty="0"/>
              <a:t>It should tell them about you, your professional history, and your skills; ultimately, it should show why you’re the best candidate for the job.</a:t>
            </a:r>
          </a:p>
          <a:p>
            <a:pPr algn="just"/>
            <a:r>
              <a:rPr lang="en-US" dirty="0"/>
              <a:t>A curriculum vitae, commonly referred to as CV, is a longer (two or more pages), more detailed synopsis than a resume. </a:t>
            </a:r>
          </a:p>
          <a:p>
            <a:pPr algn="just"/>
            <a:r>
              <a:rPr lang="en-US" dirty="0"/>
              <a:t>Your CV should be clear, concise, complete, and up-to-date with current employment and educational information.</a:t>
            </a:r>
          </a:p>
          <a:p>
            <a:pPr algn="just"/>
            <a:r>
              <a:rPr lang="en-US" dirty="0"/>
              <a:t> The elements that you include will depend on what you are applying for, so be sure to incorporate the most relevant information to support your candidacy in your CV.</a:t>
            </a:r>
          </a:p>
          <a:p>
            <a:endParaRPr lang="en-PK" dirty="0"/>
          </a:p>
        </p:txBody>
      </p:sp>
      <p:sp>
        <p:nvSpPr>
          <p:cNvPr id="4" name="Date Placeholder 3">
            <a:extLst>
              <a:ext uri="{FF2B5EF4-FFF2-40B4-BE49-F238E27FC236}">
                <a16:creationId xmlns:a16="http://schemas.microsoft.com/office/drawing/2014/main" id="{2AA6B6E0-3C61-4EF9-9BC9-C974CD428DD1}"/>
              </a:ext>
            </a:extLst>
          </p:cNvPr>
          <p:cNvSpPr>
            <a:spLocks noGrp="1"/>
          </p:cNvSpPr>
          <p:nvPr>
            <p:ph type="dt" sz="half" idx="10"/>
          </p:nvPr>
        </p:nvSpPr>
        <p:spPr/>
        <p:txBody>
          <a:bodyPr/>
          <a:lstStyle/>
          <a:p>
            <a:fld id="{F3AEC6ED-E474-428D-A100-68D5EB66E938}" type="datetime1">
              <a:rPr lang="en-US" smtClean="0"/>
              <a:t>1/19/2020</a:t>
            </a:fld>
            <a:endParaRPr lang="en-US"/>
          </a:p>
        </p:txBody>
      </p:sp>
      <p:sp>
        <p:nvSpPr>
          <p:cNvPr id="5" name="Slide Number Placeholder 4">
            <a:extLst>
              <a:ext uri="{FF2B5EF4-FFF2-40B4-BE49-F238E27FC236}">
                <a16:creationId xmlns:a16="http://schemas.microsoft.com/office/drawing/2014/main" id="{DC6BC976-A9BE-4F2F-9506-BAEAF8DD220A}"/>
              </a:ext>
            </a:extLst>
          </p:cNvPr>
          <p:cNvSpPr>
            <a:spLocks noGrp="1"/>
          </p:cNvSpPr>
          <p:nvPr>
            <p:ph type="sldNum" sz="quarter" idx="12"/>
          </p:nvPr>
        </p:nvSpPr>
        <p:spPr/>
        <p:txBody>
          <a:bodyPr/>
          <a:lstStyle/>
          <a:p>
            <a:fld id="{B2DC25EE-239B-4C5F-AAD1-255A7D5F1EE2}" type="slidenum">
              <a:rPr lang="en-US" smtClean="0"/>
              <a:t>2</a:t>
            </a:fld>
            <a:endParaRPr lang="en-US"/>
          </a:p>
        </p:txBody>
      </p:sp>
    </p:spTree>
    <p:extLst>
      <p:ext uri="{BB962C8B-B14F-4D97-AF65-F5344CB8AC3E}">
        <p14:creationId xmlns:p14="http://schemas.microsoft.com/office/powerpoint/2010/main" val="1649717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73E56-1585-421F-BFB1-BA94B01EAD63}"/>
              </a:ext>
            </a:extLst>
          </p:cNvPr>
          <p:cNvSpPr>
            <a:spLocks noGrp="1"/>
          </p:cNvSpPr>
          <p:nvPr>
            <p:ph type="title"/>
          </p:nvPr>
        </p:nvSpPr>
        <p:spPr/>
        <p:txBody>
          <a:bodyPr/>
          <a:lstStyle/>
          <a:p>
            <a:endParaRPr lang="en-PK" dirty="0"/>
          </a:p>
        </p:txBody>
      </p:sp>
      <p:sp>
        <p:nvSpPr>
          <p:cNvPr id="3" name="Content Placeholder 2">
            <a:extLst>
              <a:ext uri="{FF2B5EF4-FFF2-40B4-BE49-F238E27FC236}">
                <a16:creationId xmlns:a16="http://schemas.microsoft.com/office/drawing/2014/main" id="{C8D47627-6B40-4007-A23C-DDE0792BF2ED}"/>
              </a:ext>
            </a:extLst>
          </p:cNvPr>
          <p:cNvSpPr>
            <a:spLocks noGrp="1"/>
          </p:cNvSpPr>
          <p:nvPr>
            <p:ph idx="1"/>
          </p:nvPr>
        </p:nvSpPr>
        <p:spPr/>
        <p:txBody>
          <a:bodyPr>
            <a:normAutofit fontScale="92500" lnSpcReduction="10000"/>
          </a:bodyPr>
          <a:lstStyle/>
          <a:p>
            <a:r>
              <a:rPr lang="en-US" dirty="0"/>
              <a:t>Employers receive an average of 60 applicants for every advertisement for a low-skilled job, and 20 for every skilled job.</a:t>
            </a:r>
          </a:p>
          <a:p>
            <a:r>
              <a:rPr lang="en-US" dirty="0"/>
              <a:t>Significantly, almost half of these candidates are perfectly suitable for the role, according to research by the Chartered Institute of Personnel and Development (</a:t>
            </a:r>
            <a:r>
              <a:rPr lang="en-US" dirty="0" err="1"/>
              <a:t>CIPD</a:t>
            </a:r>
            <a:r>
              <a:rPr lang="en-US" dirty="0"/>
              <a:t>)</a:t>
            </a:r>
          </a:p>
          <a:p>
            <a:r>
              <a:rPr lang="en-US" dirty="0"/>
              <a:t>So that makes their CV - or curriculum vitae - all the more important when attempting to stand out from the crowd. (Kevin Peachey: Personal finance reporter, BBC News)</a:t>
            </a:r>
          </a:p>
          <a:p>
            <a:endParaRPr lang="en-PK" dirty="0"/>
          </a:p>
        </p:txBody>
      </p:sp>
      <p:sp>
        <p:nvSpPr>
          <p:cNvPr id="4" name="Date Placeholder 3">
            <a:extLst>
              <a:ext uri="{FF2B5EF4-FFF2-40B4-BE49-F238E27FC236}">
                <a16:creationId xmlns:a16="http://schemas.microsoft.com/office/drawing/2014/main" id="{D19B300D-8BB1-46F4-9324-6D80C639AC9C}"/>
              </a:ext>
            </a:extLst>
          </p:cNvPr>
          <p:cNvSpPr>
            <a:spLocks noGrp="1"/>
          </p:cNvSpPr>
          <p:nvPr>
            <p:ph type="dt" sz="half" idx="10"/>
          </p:nvPr>
        </p:nvSpPr>
        <p:spPr/>
        <p:txBody>
          <a:bodyPr/>
          <a:lstStyle/>
          <a:p>
            <a:fld id="{E9D8F71A-6A38-4344-9280-9B03819A485D}" type="datetime1">
              <a:rPr lang="en-US" smtClean="0"/>
              <a:t>1/19/2020</a:t>
            </a:fld>
            <a:endParaRPr lang="en-US"/>
          </a:p>
        </p:txBody>
      </p:sp>
      <p:sp>
        <p:nvSpPr>
          <p:cNvPr id="5" name="Slide Number Placeholder 4">
            <a:extLst>
              <a:ext uri="{FF2B5EF4-FFF2-40B4-BE49-F238E27FC236}">
                <a16:creationId xmlns:a16="http://schemas.microsoft.com/office/drawing/2014/main" id="{76F8F011-59CF-4097-9E84-881F0BA2C7B6}"/>
              </a:ext>
            </a:extLst>
          </p:cNvPr>
          <p:cNvSpPr>
            <a:spLocks noGrp="1"/>
          </p:cNvSpPr>
          <p:nvPr>
            <p:ph type="sldNum" sz="quarter" idx="12"/>
          </p:nvPr>
        </p:nvSpPr>
        <p:spPr/>
        <p:txBody>
          <a:bodyPr/>
          <a:lstStyle/>
          <a:p>
            <a:fld id="{B2DC25EE-239B-4C5F-AAD1-255A7D5F1EE2}" type="slidenum">
              <a:rPr lang="en-US" smtClean="0"/>
              <a:t>3</a:t>
            </a:fld>
            <a:endParaRPr lang="en-US"/>
          </a:p>
        </p:txBody>
      </p:sp>
    </p:spTree>
    <p:extLst>
      <p:ext uri="{BB962C8B-B14F-4D97-AF65-F5344CB8AC3E}">
        <p14:creationId xmlns:p14="http://schemas.microsoft.com/office/powerpoint/2010/main" val="2473700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0DFEA-D8AF-476B-9795-3D630997C6FC}"/>
              </a:ext>
            </a:extLst>
          </p:cNvPr>
          <p:cNvSpPr>
            <a:spLocks noGrp="1"/>
          </p:cNvSpPr>
          <p:nvPr>
            <p:ph type="title"/>
          </p:nvPr>
        </p:nvSpPr>
        <p:spPr/>
        <p:txBody>
          <a:bodyPr/>
          <a:lstStyle/>
          <a:p>
            <a:r>
              <a:rPr lang="en-US" dirty="0"/>
              <a:t>SECTIONS</a:t>
            </a:r>
            <a:endParaRPr lang="en-PK" dirty="0"/>
          </a:p>
        </p:txBody>
      </p:sp>
      <p:sp>
        <p:nvSpPr>
          <p:cNvPr id="3" name="Content Placeholder 2">
            <a:extLst>
              <a:ext uri="{FF2B5EF4-FFF2-40B4-BE49-F238E27FC236}">
                <a16:creationId xmlns:a16="http://schemas.microsoft.com/office/drawing/2014/main" id="{94A9244B-46DF-4AC6-9602-60C3098A2334}"/>
              </a:ext>
            </a:extLst>
          </p:cNvPr>
          <p:cNvSpPr>
            <a:spLocks noGrp="1"/>
          </p:cNvSpPr>
          <p:nvPr>
            <p:ph idx="1"/>
          </p:nvPr>
        </p:nvSpPr>
        <p:spPr/>
        <p:txBody>
          <a:bodyPr>
            <a:normAutofit fontScale="70000" lnSpcReduction="20000"/>
          </a:bodyPr>
          <a:lstStyle/>
          <a:p>
            <a:r>
              <a:rPr lang="en-US" dirty="0"/>
              <a:t>There are particular sections that employers expect to see on your CV regardless of industry or job role, so we recommend using the following structure:</a:t>
            </a:r>
          </a:p>
          <a:p>
            <a:r>
              <a:rPr lang="en-US" dirty="0"/>
              <a:t>Contact details</a:t>
            </a:r>
          </a:p>
          <a:p>
            <a:r>
              <a:rPr lang="en-US" dirty="0"/>
              <a:t>Personal statement</a:t>
            </a:r>
          </a:p>
          <a:p>
            <a:r>
              <a:rPr lang="en-US" dirty="0"/>
              <a:t>Experience</a:t>
            </a:r>
          </a:p>
          <a:p>
            <a:r>
              <a:rPr lang="en-US" dirty="0"/>
              <a:t>Education</a:t>
            </a:r>
          </a:p>
          <a:p>
            <a:r>
              <a:rPr lang="en-US" dirty="0"/>
              <a:t>Achievements</a:t>
            </a:r>
          </a:p>
          <a:p>
            <a:r>
              <a:rPr lang="en-US" dirty="0"/>
              <a:t>Hobbies and interests</a:t>
            </a:r>
          </a:p>
          <a:p>
            <a:r>
              <a:rPr lang="en-US" dirty="0"/>
              <a:t>References</a:t>
            </a:r>
          </a:p>
        </p:txBody>
      </p:sp>
      <p:sp>
        <p:nvSpPr>
          <p:cNvPr id="4" name="Date Placeholder 3">
            <a:extLst>
              <a:ext uri="{FF2B5EF4-FFF2-40B4-BE49-F238E27FC236}">
                <a16:creationId xmlns:a16="http://schemas.microsoft.com/office/drawing/2014/main" id="{C18DE029-4AA1-46EB-908E-A22B386C874C}"/>
              </a:ext>
            </a:extLst>
          </p:cNvPr>
          <p:cNvSpPr>
            <a:spLocks noGrp="1"/>
          </p:cNvSpPr>
          <p:nvPr>
            <p:ph type="dt" sz="half" idx="10"/>
          </p:nvPr>
        </p:nvSpPr>
        <p:spPr/>
        <p:txBody>
          <a:bodyPr/>
          <a:lstStyle/>
          <a:p>
            <a:fld id="{423448B8-2E01-446E-B6AC-F3DC37BBC44E}" type="datetime1">
              <a:rPr lang="en-US" smtClean="0"/>
              <a:t>1/19/2020</a:t>
            </a:fld>
            <a:endParaRPr lang="en-US"/>
          </a:p>
        </p:txBody>
      </p:sp>
      <p:sp>
        <p:nvSpPr>
          <p:cNvPr id="5" name="Slide Number Placeholder 4">
            <a:extLst>
              <a:ext uri="{FF2B5EF4-FFF2-40B4-BE49-F238E27FC236}">
                <a16:creationId xmlns:a16="http://schemas.microsoft.com/office/drawing/2014/main" id="{5A593EA3-DE20-43A9-A854-6CB946BC4993}"/>
              </a:ext>
            </a:extLst>
          </p:cNvPr>
          <p:cNvSpPr>
            <a:spLocks noGrp="1"/>
          </p:cNvSpPr>
          <p:nvPr>
            <p:ph type="sldNum" sz="quarter" idx="12"/>
          </p:nvPr>
        </p:nvSpPr>
        <p:spPr/>
        <p:txBody>
          <a:bodyPr/>
          <a:lstStyle/>
          <a:p>
            <a:fld id="{B2DC25EE-239B-4C5F-AAD1-255A7D5F1EE2}" type="slidenum">
              <a:rPr lang="en-US" smtClean="0"/>
              <a:t>4</a:t>
            </a:fld>
            <a:endParaRPr lang="en-US"/>
          </a:p>
        </p:txBody>
      </p:sp>
    </p:spTree>
    <p:extLst>
      <p:ext uri="{BB962C8B-B14F-4D97-AF65-F5344CB8AC3E}">
        <p14:creationId xmlns:p14="http://schemas.microsoft.com/office/powerpoint/2010/main" val="2663012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FABA2-89C8-4766-B55E-855BF33AB5E2}"/>
              </a:ext>
            </a:extLst>
          </p:cNvPr>
          <p:cNvSpPr>
            <a:spLocks noGrp="1"/>
          </p:cNvSpPr>
          <p:nvPr>
            <p:ph type="title"/>
          </p:nvPr>
        </p:nvSpPr>
        <p:spPr/>
        <p:txBody>
          <a:bodyPr>
            <a:normAutofit fontScale="90000"/>
          </a:bodyPr>
          <a:lstStyle/>
          <a:p>
            <a:pPr algn="ctr"/>
            <a:r>
              <a:rPr lang="en-US" dirty="0"/>
              <a:t>Contact details</a:t>
            </a:r>
            <a:br>
              <a:rPr lang="en-US" dirty="0"/>
            </a:br>
            <a:endParaRPr lang="en-PK" dirty="0"/>
          </a:p>
        </p:txBody>
      </p:sp>
      <p:sp>
        <p:nvSpPr>
          <p:cNvPr id="3" name="Content Placeholder 2">
            <a:extLst>
              <a:ext uri="{FF2B5EF4-FFF2-40B4-BE49-F238E27FC236}">
                <a16:creationId xmlns:a16="http://schemas.microsoft.com/office/drawing/2014/main" id="{C94F997F-DAB5-4EC3-8D98-749E1AB6ED9A}"/>
              </a:ext>
            </a:extLst>
          </p:cNvPr>
          <p:cNvSpPr>
            <a:spLocks noGrp="1"/>
          </p:cNvSpPr>
          <p:nvPr>
            <p:ph idx="1"/>
          </p:nvPr>
        </p:nvSpPr>
        <p:spPr/>
        <p:txBody>
          <a:bodyPr/>
          <a:lstStyle/>
          <a:p>
            <a:r>
              <a:rPr lang="en-US" dirty="0"/>
              <a:t>The first part of your CV, positioned at the top of the page, should contain your contact details. </a:t>
            </a:r>
          </a:p>
          <a:p>
            <a:r>
              <a:rPr lang="en-US" dirty="0"/>
              <a:t>The basic stuff: your name, physical address, email address, and phone number, although you might choose to include your LinkedIn URL, too.</a:t>
            </a:r>
          </a:p>
          <a:p>
            <a:r>
              <a:rPr lang="en-US" dirty="0"/>
              <a:t> It’s not necessary to include personal details such as your date of birth, marital status, or religion.</a:t>
            </a:r>
          </a:p>
          <a:p>
            <a:endParaRPr lang="en-PK" dirty="0"/>
          </a:p>
        </p:txBody>
      </p:sp>
      <p:sp>
        <p:nvSpPr>
          <p:cNvPr id="4" name="Date Placeholder 3">
            <a:extLst>
              <a:ext uri="{FF2B5EF4-FFF2-40B4-BE49-F238E27FC236}">
                <a16:creationId xmlns:a16="http://schemas.microsoft.com/office/drawing/2014/main" id="{4AECACB6-21D1-4F4B-8E13-870DCB826502}"/>
              </a:ext>
            </a:extLst>
          </p:cNvPr>
          <p:cNvSpPr>
            <a:spLocks noGrp="1"/>
          </p:cNvSpPr>
          <p:nvPr>
            <p:ph type="dt" sz="half" idx="10"/>
          </p:nvPr>
        </p:nvSpPr>
        <p:spPr/>
        <p:txBody>
          <a:bodyPr/>
          <a:lstStyle/>
          <a:p>
            <a:fld id="{BA1CFD58-256C-4CCB-9590-BF3C145A3802}" type="datetime1">
              <a:rPr lang="en-US" smtClean="0"/>
              <a:t>1/19/2020</a:t>
            </a:fld>
            <a:endParaRPr lang="en-US"/>
          </a:p>
        </p:txBody>
      </p:sp>
      <p:sp>
        <p:nvSpPr>
          <p:cNvPr id="5" name="Slide Number Placeholder 4">
            <a:extLst>
              <a:ext uri="{FF2B5EF4-FFF2-40B4-BE49-F238E27FC236}">
                <a16:creationId xmlns:a16="http://schemas.microsoft.com/office/drawing/2014/main" id="{B08CD34F-79BB-4D47-B003-A4D9E94F644D}"/>
              </a:ext>
            </a:extLst>
          </p:cNvPr>
          <p:cNvSpPr>
            <a:spLocks noGrp="1"/>
          </p:cNvSpPr>
          <p:nvPr>
            <p:ph type="sldNum" sz="quarter" idx="12"/>
          </p:nvPr>
        </p:nvSpPr>
        <p:spPr/>
        <p:txBody>
          <a:bodyPr/>
          <a:lstStyle/>
          <a:p>
            <a:fld id="{B2DC25EE-239B-4C5F-AAD1-255A7D5F1EE2}" type="slidenum">
              <a:rPr lang="en-US" smtClean="0"/>
              <a:t>5</a:t>
            </a:fld>
            <a:endParaRPr lang="en-US"/>
          </a:p>
        </p:txBody>
      </p:sp>
    </p:spTree>
    <p:extLst>
      <p:ext uri="{BB962C8B-B14F-4D97-AF65-F5344CB8AC3E}">
        <p14:creationId xmlns:p14="http://schemas.microsoft.com/office/powerpoint/2010/main" val="3376875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B2CEE-2706-4CF4-90DB-94538A36A797}"/>
              </a:ext>
            </a:extLst>
          </p:cNvPr>
          <p:cNvSpPr>
            <a:spLocks noGrp="1"/>
          </p:cNvSpPr>
          <p:nvPr>
            <p:ph type="title"/>
          </p:nvPr>
        </p:nvSpPr>
        <p:spPr/>
        <p:txBody>
          <a:bodyPr>
            <a:normAutofit fontScale="90000"/>
          </a:bodyPr>
          <a:lstStyle/>
          <a:p>
            <a:r>
              <a:rPr lang="en-US" dirty="0"/>
              <a:t>Profile picture</a:t>
            </a:r>
            <a:br>
              <a:rPr lang="en-US" dirty="0"/>
            </a:br>
            <a:endParaRPr lang="en-PK" dirty="0"/>
          </a:p>
        </p:txBody>
      </p:sp>
      <p:sp>
        <p:nvSpPr>
          <p:cNvPr id="3" name="Content Placeholder 2">
            <a:extLst>
              <a:ext uri="{FF2B5EF4-FFF2-40B4-BE49-F238E27FC236}">
                <a16:creationId xmlns:a16="http://schemas.microsoft.com/office/drawing/2014/main" id="{686D612C-28A2-4969-B365-AE2CB4530A99}"/>
              </a:ext>
            </a:extLst>
          </p:cNvPr>
          <p:cNvSpPr>
            <a:spLocks noGrp="1"/>
          </p:cNvSpPr>
          <p:nvPr>
            <p:ph idx="1"/>
          </p:nvPr>
        </p:nvSpPr>
        <p:spPr>
          <a:xfrm>
            <a:off x="1115568" y="2478023"/>
            <a:ext cx="10168128" cy="3979047"/>
          </a:xfrm>
        </p:spPr>
        <p:txBody>
          <a:bodyPr>
            <a:normAutofit fontScale="62500" lnSpcReduction="20000"/>
          </a:bodyPr>
          <a:lstStyle/>
          <a:p>
            <a:pPr algn="just"/>
            <a:r>
              <a:rPr lang="en-US" dirty="0"/>
              <a:t>We all know from Facebook and Twitter that it’s pretty much common sense to not trust a profile without a profile picture. The same concept applies to LinkedIn; if you don’t have a profile picture, professionals are less likely to view your profile or connect with you. Not only is it vital that you have a profile picture, but it needs to be an appropriate headshot. Here’s your mini checklist:</a:t>
            </a:r>
          </a:p>
          <a:p>
            <a:pPr algn="just"/>
            <a:r>
              <a:rPr lang="en-US" dirty="0"/>
              <a:t>It must be a recent photo of you</a:t>
            </a:r>
          </a:p>
          <a:p>
            <a:pPr algn="just"/>
            <a:r>
              <a:rPr lang="en-US" dirty="0"/>
              <a:t>You must be the only person in the photo</a:t>
            </a:r>
          </a:p>
          <a:p>
            <a:pPr algn="just"/>
            <a:r>
              <a:rPr lang="en-US" dirty="0"/>
              <a:t>It should be of your head and shoulders</a:t>
            </a:r>
          </a:p>
          <a:p>
            <a:pPr algn="just"/>
            <a:r>
              <a:rPr lang="en-US" dirty="0"/>
              <a:t>You must have a non-distracting background</a:t>
            </a:r>
          </a:p>
          <a:p>
            <a:pPr algn="just"/>
            <a:r>
              <a:rPr lang="en-US" dirty="0"/>
              <a:t>Wear smart clothes and have a general professional, polished appearance</a:t>
            </a:r>
          </a:p>
          <a:p>
            <a:pPr algn="just"/>
            <a:r>
              <a:rPr lang="en-US" dirty="0"/>
              <a:t>Smile! You don’t want anyone to think you’re weird and scary</a:t>
            </a:r>
          </a:p>
          <a:p>
            <a:pPr algn="just"/>
            <a:r>
              <a:rPr lang="en-US" dirty="0"/>
              <a:t>NO SELFIES</a:t>
            </a:r>
          </a:p>
          <a:p>
            <a:endParaRPr lang="en-PK" dirty="0"/>
          </a:p>
        </p:txBody>
      </p:sp>
      <p:sp>
        <p:nvSpPr>
          <p:cNvPr id="4" name="Date Placeholder 3">
            <a:extLst>
              <a:ext uri="{FF2B5EF4-FFF2-40B4-BE49-F238E27FC236}">
                <a16:creationId xmlns:a16="http://schemas.microsoft.com/office/drawing/2014/main" id="{B149436A-8744-4A16-88FF-E28BE772F949}"/>
              </a:ext>
            </a:extLst>
          </p:cNvPr>
          <p:cNvSpPr>
            <a:spLocks noGrp="1"/>
          </p:cNvSpPr>
          <p:nvPr>
            <p:ph type="dt" sz="half" idx="10"/>
          </p:nvPr>
        </p:nvSpPr>
        <p:spPr/>
        <p:txBody>
          <a:bodyPr/>
          <a:lstStyle/>
          <a:p>
            <a:fld id="{F5414096-9B6C-4BF4-8E09-14CBCB01CE43}" type="datetime1">
              <a:rPr lang="en-US" smtClean="0"/>
              <a:t>1/19/2020</a:t>
            </a:fld>
            <a:endParaRPr lang="en-US"/>
          </a:p>
        </p:txBody>
      </p:sp>
      <p:sp>
        <p:nvSpPr>
          <p:cNvPr id="5" name="Slide Number Placeholder 4">
            <a:extLst>
              <a:ext uri="{FF2B5EF4-FFF2-40B4-BE49-F238E27FC236}">
                <a16:creationId xmlns:a16="http://schemas.microsoft.com/office/drawing/2014/main" id="{08C8C7C8-0343-4C90-9B93-70C378976B63}"/>
              </a:ext>
            </a:extLst>
          </p:cNvPr>
          <p:cNvSpPr>
            <a:spLocks noGrp="1"/>
          </p:cNvSpPr>
          <p:nvPr>
            <p:ph type="sldNum" sz="quarter" idx="12"/>
          </p:nvPr>
        </p:nvSpPr>
        <p:spPr/>
        <p:txBody>
          <a:bodyPr/>
          <a:lstStyle/>
          <a:p>
            <a:fld id="{B2DC25EE-239B-4C5F-AAD1-255A7D5F1EE2}" type="slidenum">
              <a:rPr lang="en-US" smtClean="0"/>
              <a:t>6</a:t>
            </a:fld>
            <a:endParaRPr lang="en-US"/>
          </a:p>
        </p:txBody>
      </p:sp>
    </p:spTree>
    <p:extLst>
      <p:ext uri="{BB962C8B-B14F-4D97-AF65-F5344CB8AC3E}">
        <p14:creationId xmlns:p14="http://schemas.microsoft.com/office/powerpoint/2010/main" val="2935742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1A449-EB27-45C7-9C22-F1B8EE0DD3D8}"/>
              </a:ext>
            </a:extLst>
          </p:cNvPr>
          <p:cNvSpPr>
            <a:spLocks noGrp="1"/>
          </p:cNvSpPr>
          <p:nvPr>
            <p:ph type="title"/>
          </p:nvPr>
        </p:nvSpPr>
        <p:spPr/>
        <p:txBody>
          <a:bodyPr>
            <a:normAutofit fontScale="90000"/>
          </a:bodyPr>
          <a:lstStyle/>
          <a:p>
            <a:r>
              <a:rPr lang="en-US" dirty="0"/>
              <a:t>Personal statement</a:t>
            </a:r>
            <a:br>
              <a:rPr lang="en-US" dirty="0"/>
            </a:br>
            <a:endParaRPr lang="en-PK" dirty="0"/>
          </a:p>
        </p:txBody>
      </p:sp>
      <p:sp>
        <p:nvSpPr>
          <p:cNvPr id="3" name="Content Placeholder 2">
            <a:extLst>
              <a:ext uri="{FF2B5EF4-FFF2-40B4-BE49-F238E27FC236}">
                <a16:creationId xmlns:a16="http://schemas.microsoft.com/office/drawing/2014/main" id="{88579139-D7E2-4FC1-9973-ED9AC64511E7}"/>
              </a:ext>
            </a:extLst>
          </p:cNvPr>
          <p:cNvSpPr>
            <a:spLocks noGrp="1"/>
          </p:cNvSpPr>
          <p:nvPr>
            <p:ph idx="1"/>
          </p:nvPr>
        </p:nvSpPr>
        <p:spPr/>
        <p:txBody>
          <a:bodyPr>
            <a:normAutofit fontScale="62500" lnSpcReduction="20000"/>
          </a:bodyPr>
          <a:lstStyle/>
          <a:p>
            <a:pPr algn="just"/>
            <a:r>
              <a:rPr lang="en-US" dirty="0"/>
              <a:t>Your personal statement is one of the most important aspects of your CV. It’s where you give an overview of who you are and inject a touch of personality. You should tailor it to every job you apply for, highlighting specific qualities that match you to the role. Aim to keep your personal statement short and sweet, and no longer than a few sentences.</a:t>
            </a:r>
          </a:p>
          <a:p>
            <a:pPr algn="just"/>
            <a:r>
              <a:rPr lang="en-US" dirty="0"/>
              <a:t>To make the most of this section, you should try to address the following:</a:t>
            </a:r>
          </a:p>
          <a:p>
            <a:pPr marL="514350" indent="-514350" algn="just">
              <a:buFont typeface="+mj-lt"/>
              <a:buAutoNum type="arabicPeriod"/>
            </a:pPr>
            <a:r>
              <a:rPr lang="en-US" dirty="0"/>
              <a:t>Who are you?</a:t>
            </a:r>
          </a:p>
          <a:p>
            <a:pPr marL="514350" indent="-514350" algn="just">
              <a:buFont typeface="+mj-lt"/>
              <a:buAutoNum type="arabicPeriod"/>
            </a:pPr>
            <a:r>
              <a:rPr lang="en-US" dirty="0"/>
              <a:t>What can you offer the company?</a:t>
            </a:r>
          </a:p>
          <a:p>
            <a:pPr marL="514350" indent="-514350" algn="just">
              <a:buFont typeface="+mj-lt"/>
              <a:buAutoNum type="arabicPeriod"/>
            </a:pPr>
            <a:r>
              <a:rPr lang="en-US" dirty="0"/>
              <a:t>What are your career goals?</a:t>
            </a:r>
          </a:p>
          <a:p>
            <a:pPr algn="just"/>
            <a:r>
              <a:rPr lang="en-US" dirty="0"/>
              <a:t>If you’re applying for a specific job role and attaching a cover letter to your CV, then you may actively choose not to have a personal statement.</a:t>
            </a:r>
          </a:p>
        </p:txBody>
      </p:sp>
      <p:sp>
        <p:nvSpPr>
          <p:cNvPr id="4" name="Date Placeholder 3">
            <a:extLst>
              <a:ext uri="{FF2B5EF4-FFF2-40B4-BE49-F238E27FC236}">
                <a16:creationId xmlns:a16="http://schemas.microsoft.com/office/drawing/2014/main" id="{53D07C7D-8FE5-4735-9AA1-132F477F07CA}"/>
              </a:ext>
            </a:extLst>
          </p:cNvPr>
          <p:cNvSpPr>
            <a:spLocks noGrp="1"/>
          </p:cNvSpPr>
          <p:nvPr>
            <p:ph type="dt" sz="half" idx="10"/>
          </p:nvPr>
        </p:nvSpPr>
        <p:spPr/>
        <p:txBody>
          <a:bodyPr/>
          <a:lstStyle/>
          <a:p>
            <a:fld id="{73B0C290-AE8A-45AC-AEDC-B5A4C8B781D2}" type="datetime1">
              <a:rPr lang="en-US" smtClean="0"/>
              <a:t>1/19/2020</a:t>
            </a:fld>
            <a:endParaRPr lang="en-US"/>
          </a:p>
        </p:txBody>
      </p:sp>
      <p:sp>
        <p:nvSpPr>
          <p:cNvPr id="5" name="Slide Number Placeholder 4">
            <a:extLst>
              <a:ext uri="{FF2B5EF4-FFF2-40B4-BE49-F238E27FC236}">
                <a16:creationId xmlns:a16="http://schemas.microsoft.com/office/drawing/2014/main" id="{2F6F6E67-D1B3-4C99-8C1A-248FB6CD626F}"/>
              </a:ext>
            </a:extLst>
          </p:cNvPr>
          <p:cNvSpPr>
            <a:spLocks noGrp="1"/>
          </p:cNvSpPr>
          <p:nvPr>
            <p:ph type="sldNum" sz="quarter" idx="12"/>
          </p:nvPr>
        </p:nvSpPr>
        <p:spPr/>
        <p:txBody>
          <a:bodyPr/>
          <a:lstStyle/>
          <a:p>
            <a:fld id="{B2DC25EE-239B-4C5F-AAD1-255A7D5F1EE2}" type="slidenum">
              <a:rPr lang="en-US" smtClean="0"/>
              <a:t>7</a:t>
            </a:fld>
            <a:endParaRPr lang="en-US"/>
          </a:p>
        </p:txBody>
      </p:sp>
    </p:spTree>
    <p:extLst>
      <p:ext uri="{BB962C8B-B14F-4D97-AF65-F5344CB8AC3E}">
        <p14:creationId xmlns:p14="http://schemas.microsoft.com/office/powerpoint/2010/main" val="584716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AD2E-2E36-49DD-93EE-1F2F1CC6835E}"/>
              </a:ext>
            </a:extLst>
          </p:cNvPr>
          <p:cNvSpPr>
            <a:spLocks noGrp="1"/>
          </p:cNvSpPr>
          <p:nvPr>
            <p:ph type="title"/>
          </p:nvPr>
        </p:nvSpPr>
        <p:spPr/>
        <p:txBody>
          <a:bodyPr>
            <a:normAutofit fontScale="90000"/>
          </a:bodyPr>
          <a:lstStyle/>
          <a:p>
            <a:r>
              <a:rPr lang="en-US" dirty="0"/>
              <a:t>Experience and employment history</a:t>
            </a:r>
            <a:br>
              <a:rPr lang="en-US" dirty="0"/>
            </a:br>
            <a:endParaRPr lang="en-PK" dirty="0"/>
          </a:p>
        </p:txBody>
      </p:sp>
      <p:sp>
        <p:nvSpPr>
          <p:cNvPr id="3" name="Content Placeholder 2">
            <a:extLst>
              <a:ext uri="{FF2B5EF4-FFF2-40B4-BE49-F238E27FC236}">
                <a16:creationId xmlns:a16="http://schemas.microsoft.com/office/drawing/2014/main" id="{ECAAA2CE-8074-424E-8FD4-D4199A76DFEB}"/>
              </a:ext>
            </a:extLst>
          </p:cNvPr>
          <p:cNvSpPr>
            <a:spLocks noGrp="1"/>
          </p:cNvSpPr>
          <p:nvPr>
            <p:ph idx="1"/>
          </p:nvPr>
        </p:nvSpPr>
        <p:spPr>
          <a:xfrm>
            <a:off x="1115568" y="2478023"/>
            <a:ext cx="10168128" cy="4161927"/>
          </a:xfrm>
        </p:spPr>
        <p:txBody>
          <a:bodyPr>
            <a:normAutofit fontScale="55000" lnSpcReduction="20000"/>
          </a:bodyPr>
          <a:lstStyle/>
          <a:p>
            <a:r>
              <a:rPr lang="en-US" dirty="0"/>
              <a:t>This section gives you a chance to outline your previous jobs, internships, and work experience. Your experience should be listed in reverse chronological order. You should state your job title and the dates you worked, followed by your responsibilities. It helps to choose the duties most relevant to the job you’re applying for, especially if it’s a long list.</a:t>
            </a:r>
          </a:p>
          <a:p>
            <a:r>
              <a:rPr lang="en-US" dirty="0"/>
              <a:t>You can experiment with the format, but in this section, bullet points are useful for clarity and highlighting key skills.</a:t>
            </a:r>
          </a:p>
          <a:p>
            <a:r>
              <a:rPr lang="en-US" dirty="0"/>
              <a:t>Below is a basic example, but you should take this chance to showcase your strongest areas and your achievements in previous positions.</a:t>
            </a:r>
          </a:p>
          <a:p>
            <a:r>
              <a:rPr lang="en-US" dirty="0"/>
              <a:t>Administrative Assistant at Company Name</a:t>
            </a:r>
          </a:p>
          <a:p>
            <a:r>
              <a:rPr lang="en-US" dirty="0"/>
              <a:t>(April 2012 – January 2014)</a:t>
            </a:r>
          </a:p>
          <a:p>
            <a:r>
              <a:rPr lang="en-US" dirty="0"/>
              <a:t>Responsible for:</a:t>
            </a:r>
          </a:p>
          <a:p>
            <a:pPr marL="571500" indent="-571500">
              <a:buFont typeface="+mj-lt"/>
              <a:buAutoNum type="romanLcPeriod"/>
            </a:pPr>
            <a:r>
              <a:rPr lang="en-US" dirty="0"/>
              <a:t>Keeping records up-to-date;</a:t>
            </a:r>
          </a:p>
          <a:p>
            <a:pPr marL="571500" indent="-571500">
              <a:buFont typeface="+mj-lt"/>
              <a:buAutoNum type="romanLcPeriod"/>
            </a:pPr>
            <a:r>
              <a:rPr lang="en-US" dirty="0"/>
              <a:t>Implementing the new company filing system; and</a:t>
            </a:r>
          </a:p>
          <a:p>
            <a:pPr marL="571500" indent="-571500">
              <a:buFont typeface="+mj-lt"/>
              <a:buAutoNum type="romanLcPeriod"/>
            </a:pPr>
            <a:r>
              <a:rPr lang="en-US" dirty="0"/>
              <a:t>Answering phone calls/responding to emails.</a:t>
            </a:r>
          </a:p>
          <a:p>
            <a:endParaRPr lang="en-PK" dirty="0"/>
          </a:p>
        </p:txBody>
      </p:sp>
      <p:sp>
        <p:nvSpPr>
          <p:cNvPr id="4" name="Date Placeholder 3">
            <a:extLst>
              <a:ext uri="{FF2B5EF4-FFF2-40B4-BE49-F238E27FC236}">
                <a16:creationId xmlns:a16="http://schemas.microsoft.com/office/drawing/2014/main" id="{414D3521-9F7C-4984-BB32-0EBFF152991E}"/>
              </a:ext>
            </a:extLst>
          </p:cNvPr>
          <p:cNvSpPr>
            <a:spLocks noGrp="1"/>
          </p:cNvSpPr>
          <p:nvPr>
            <p:ph type="dt" sz="half" idx="10"/>
          </p:nvPr>
        </p:nvSpPr>
        <p:spPr/>
        <p:txBody>
          <a:bodyPr/>
          <a:lstStyle/>
          <a:p>
            <a:fld id="{281F9A19-DEC0-4F50-9A48-7097DB6C70EF}" type="datetime1">
              <a:rPr lang="en-US" smtClean="0"/>
              <a:t>1/19/2020</a:t>
            </a:fld>
            <a:endParaRPr lang="en-US"/>
          </a:p>
        </p:txBody>
      </p:sp>
      <p:sp>
        <p:nvSpPr>
          <p:cNvPr id="5" name="Slide Number Placeholder 4">
            <a:extLst>
              <a:ext uri="{FF2B5EF4-FFF2-40B4-BE49-F238E27FC236}">
                <a16:creationId xmlns:a16="http://schemas.microsoft.com/office/drawing/2014/main" id="{2F04366B-500B-404A-8699-D19D07C3D0D6}"/>
              </a:ext>
            </a:extLst>
          </p:cNvPr>
          <p:cNvSpPr>
            <a:spLocks noGrp="1"/>
          </p:cNvSpPr>
          <p:nvPr>
            <p:ph type="sldNum" sz="quarter" idx="12"/>
          </p:nvPr>
        </p:nvSpPr>
        <p:spPr/>
        <p:txBody>
          <a:bodyPr/>
          <a:lstStyle/>
          <a:p>
            <a:fld id="{B2DC25EE-239B-4C5F-AAD1-255A7D5F1EE2}" type="slidenum">
              <a:rPr lang="en-US" smtClean="0"/>
              <a:t>8</a:t>
            </a:fld>
            <a:endParaRPr lang="en-US"/>
          </a:p>
        </p:txBody>
      </p:sp>
    </p:spTree>
    <p:extLst>
      <p:ext uri="{BB962C8B-B14F-4D97-AF65-F5344CB8AC3E}">
        <p14:creationId xmlns:p14="http://schemas.microsoft.com/office/powerpoint/2010/main" val="698010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AB8C7-B4F3-454F-99B9-80CC16B2E2F7}"/>
              </a:ext>
            </a:extLst>
          </p:cNvPr>
          <p:cNvSpPr>
            <a:spLocks noGrp="1"/>
          </p:cNvSpPr>
          <p:nvPr>
            <p:ph type="title"/>
          </p:nvPr>
        </p:nvSpPr>
        <p:spPr/>
        <p:txBody>
          <a:bodyPr>
            <a:normAutofit fontScale="90000"/>
          </a:bodyPr>
          <a:lstStyle/>
          <a:p>
            <a:r>
              <a:rPr lang="en-US" dirty="0"/>
              <a:t>Education</a:t>
            </a:r>
            <a:br>
              <a:rPr lang="en-US" dirty="0"/>
            </a:br>
            <a:endParaRPr lang="en-PK" dirty="0"/>
          </a:p>
        </p:txBody>
      </p:sp>
      <p:sp>
        <p:nvSpPr>
          <p:cNvPr id="3" name="Content Placeholder 2">
            <a:extLst>
              <a:ext uri="{FF2B5EF4-FFF2-40B4-BE49-F238E27FC236}">
                <a16:creationId xmlns:a16="http://schemas.microsoft.com/office/drawing/2014/main" id="{7C08B0A3-072A-4C4F-AB2A-74C1208D60D6}"/>
              </a:ext>
            </a:extLst>
          </p:cNvPr>
          <p:cNvSpPr>
            <a:spLocks noGrp="1"/>
          </p:cNvSpPr>
          <p:nvPr>
            <p:ph idx="1"/>
          </p:nvPr>
        </p:nvSpPr>
        <p:spPr/>
        <p:txBody>
          <a:bodyPr>
            <a:normAutofit fontScale="62500" lnSpcReduction="20000"/>
          </a:bodyPr>
          <a:lstStyle/>
          <a:p>
            <a:pPr algn="just"/>
            <a:r>
              <a:rPr lang="en-US" dirty="0"/>
              <a:t>Like the Experience section, your education should be listed in reverse chronological order. Include the name of the institutions and the dates you were there, followed by the grades you achieved. If you have a lot of qualifications, there’s no need to list them all; just choose the most relevant. If you have a degree, you could list a few of the most relevant modules you took.</a:t>
            </a:r>
          </a:p>
          <a:p>
            <a:pPr algn="just"/>
            <a:r>
              <a:rPr lang="en-US" dirty="0"/>
              <a:t>Bullet points are useful in this section, too. For example:</a:t>
            </a:r>
          </a:p>
          <a:p>
            <a:pPr algn="just"/>
            <a:r>
              <a:rPr lang="en-US" dirty="0"/>
              <a:t>Name of Institution</a:t>
            </a:r>
          </a:p>
          <a:p>
            <a:pPr marL="0" indent="0" algn="just">
              <a:buNone/>
            </a:pPr>
            <a:r>
              <a:rPr lang="en-US" dirty="0"/>
              <a:t>     (September 2009 – July 2011)</a:t>
            </a:r>
          </a:p>
          <a:p>
            <a:pPr marL="0" indent="0" algn="just">
              <a:buNone/>
            </a:pPr>
            <a:r>
              <a:rPr lang="en-US" dirty="0"/>
              <a:t>A-Levels:</a:t>
            </a:r>
          </a:p>
          <a:p>
            <a:pPr marL="0" indent="0" algn="just">
              <a:buNone/>
            </a:pPr>
            <a:r>
              <a:rPr lang="en-US" dirty="0"/>
              <a:t>     History, Business, English Literature</a:t>
            </a:r>
          </a:p>
          <a:p>
            <a:pPr marL="0" indent="0" algn="just">
              <a:buNone/>
            </a:pPr>
            <a:r>
              <a:rPr lang="en-US" dirty="0"/>
              <a:t>     Achieved grades A-B</a:t>
            </a:r>
          </a:p>
        </p:txBody>
      </p:sp>
      <p:sp>
        <p:nvSpPr>
          <p:cNvPr id="4" name="Date Placeholder 3">
            <a:extLst>
              <a:ext uri="{FF2B5EF4-FFF2-40B4-BE49-F238E27FC236}">
                <a16:creationId xmlns:a16="http://schemas.microsoft.com/office/drawing/2014/main" id="{42E8B09A-0D0D-4F06-94F6-8C1803C88AFB}"/>
              </a:ext>
            </a:extLst>
          </p:cNvPr>
          <p:cNvSpPr>
            <a:spLocks noGrp="1"/>
          </p:cNvSpPr>
          <p:nvPr>
            <p:ph type="dt" sz="half" idx="10"/>
          </p:nvPr>
        </p:nvSpPr>
        <p:spPr/>
        <p:txBody>
          <a:bodyPr/>
          <a:lstStyle/>
          <a:p>
            <a:fld id="{F2CAD845-8E57-435F-9344-2CC67CE9CAA2}" type="datetime1">
              <a:rPr lang="en-US" smtClean="0"/>
              <a:t>1/19/2020</a:t>
            </a:fld>
            <a:endParaRPr lang="en-US"/>
          </a:p>
        </p:txBody>
      </p:sp>
      <p:sp>
        <p:nvSpPr>
          <p:cNvPr id="5" name="Slide Number Placeholder 4">
            <a:extLst>
              <a:ext uri="{FF2B5EF4-FFF2-40B4-BE49-F238E27FC236}">
                <a16:creationId xmlns:a16="http://schemas.microsoft.com/office/drawing/2014/main" id="{F4EAE235-6AFD-4D64-8DF6-FEC130D371DA}"/>
              </a:ext>
            </a:extLst>
          </p:cNvPr>
          <p:cNvSpPr>
            <a:spLocks noGrp="1"/>
          </p:cNvSpPr>
          <p:nvPr>
            <p:ph type="sldNum" sz="quarter" idx="12"/>
          </p:nvPr>
        </p:nvSpPr>
        <p:spPr/>
        <p:txBody>
          <a:bodyPr/>
          <a:lstStyle/>
          <a:p>
            <a:fld id="{B2DC25EE-239B-4C5F-AAD1-255A7D5F1EE2}" type="slidenum">
              <a:rPr lang="en-US" smtClean="0"/>
              <a:t>9</a:t>
            </a:fld>
            <a:endParaRPr lang="en-US"/>
          </a:p>
        </p:txBody>
      </p:sp>
    </p:spTree>
    <p:extLst>
      <p:ext uri="{BB962C8B-B14F-4D97-AF65-F5344CB8AC3E}">
        <p14:creationId xmlns:p14="http://schemas.microsoft.com/office/powerpoint/2010/main" val="475954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6CA04-16EC-47D9-A72B-F570EC74E21D}"/>
              </a:ext>
            </a:extLst>
          </p:cNvPr>
          <p:cNvSpPr>
            <a:spLocks noGrp="1"/>
          </p:cNvSpPr>
          <p:nvPr>
            <p:ph type="title"/>
          </p:nvPr>
        </p:nvSpPr>
        <p:spPr/>
        <p:txBody>
          <a:bodyPr>
            <a:normAutofit fontScale="90000"/>
          </a:bodyPr>
          <a:lstStyle/>
          <a:p>
            <a:r>
              <a:rPr lang="en-US" dirty="0"/>
              <a:t>Achievements</a:t>
            </a:r>
            <a:br>
              <a:rPr lang="en-US" dirty="0"/>
            </a:br>
            <a:endParaRPr lang="en-PK" dirty="0"/>
          </a:p>
        </p:txBody>
      </p:sp>
      <p:sp>
        <p:nvSpPr>
          <p:cNvPr id="3" name="Content Placeholder 2">
            <a:extLst>
              <a:ext uri="{FF2B5EF4-FFF2-40B4-BE49-F238E27FC236}">
                <a16:creationId xmlns:a16="http://schemas.microsoft.com/office/drawing/2014/main" id="{71B8FEC9-7A44-46A2-85B0-823BF7B66C80}"/>
              </a:ext>
            </a:extLst>
          </p:cNvPr>
          <p:cNvSpPr>
            <a:spLocks noGrp="1"/>
          </p:cNvSpPr>
          <p:nvPr>
            <p:ph idx="1"/>
          </p:nvPr>
        </p:nvSpPr>
        <p:spPr/>
        <p:txBody>
          <a:bodyPr>
            <a:normAutofit fontScale="92500" lnSpcReduction="10000"/>
          </a:bodyPr>
          <a:lstStyle/>
          <a:p>
            <a:pPr algn="just"/>
            <a:r>
              <a:rPr lang="en-US" dirty="0"/>
              <a:t>You might look at this section and think you have no achievements, but achievements don’t have to be formal awards. If you’ve done anything you’re particularly proud of, like completing a project or receiving a promotion, you can and should include it.</a:t>
            </a:r>
          </a:p>
          <a:p>
            <a:pPr algn="just"/>
            <a:r>
              <a:rPr lang="en-US" dirty="0"/>
              <a:t>It’s only going to help the recruiter build a picture of you and your successes, so don’t worry about what qualifies as an achievement — if you’re proud of it, let them know</a:t>
            </a:r>
          </a:p>
          <a:p>
            <a:endParaRPr lang="en-PK" dirty="0"/>
          </a:p>
        </p:txBody>
      </p:sp>
      <p:sp>
        <p:nvSpPr>
          <p:cNvPr id="4" name="Date Placeholder 3">
            <a:extLst>
              <a:ext uri="{FF2B5EF4-FFF2-40B4-BE49-F238E27FC236}">
                <a16:creationId xmlns:a16="http://schemas.microsoft.com/office/drawing/2014/main" id="{5D95C259-346B-4EF1-9714-5B1222A16461}"/>
              </a:ext>
            </a:extLst>
          </p:cNvPr>
          <p:cNvSpPr>
            <a:spLocks noGrp="1"/>
          </p:cNvSpPr>
          <p:nvPr>
            <p:ph type="dt" sz="half" idx="10"/>
          </p:nvPr>
        </p:nvSpPr>
        <p:spPr/>
        <p:txBody>
          <a:bodyPr/>
          <a:lstStyle/>
          <a:p>
            <a:fld id="{258F4AC5-4F78-469F-93DA-506A0D0F6E31}" type="datetime1">
              <a:rPr lang="en-US" smtClean="0"/>
              <a:t>1/19/2020</a:t>
            </a:fld>
            <a:endParaRPr lang="en-US"/>
          </a:p>
        </p:txBody>
      </p:sp>
      <p:sp>
        <p:nvSpPr>
          <p:cNvPr id="5" name="Slide Number Placeholder 4">
            <a:extLst>
              <a:ext uri="{FF2B5EF4-FFF2-40B4-BE49-F238E27FC236}">
                <a16:creationId xmlns:a16="http://schemas.microsoft.com/office/drawing/2014/main" id="{6131487F-B12E-43B5-AA59-8AC77413BBCC}"/>
              </a:ext>
            </a:extLst>
          </p:cNvPr>
          <p:cNvSpPr>
            <a:spLocks noGrp="1"/>
          </p:cNvSpPr>
          <p:nvPr>
            <p:ph type="sldNum" sz="quarter" idx="12"/>
          </p:nvPr>
        </p:nvSpPr>
        <p:spPr/>
        <p:txBody>
          <a:bodyPr/>
          <a:lstStyle/>
          <a:p>
            <a:fld id="{B2DC25EE-239B-4C5F-AAD1-255A7D5F1EE2}" type="slidenum">
              <a:rPr lang="en-US" smtClean="0"/>
              <a:t>10</a:t>
            </a:fld>
            <a:endParaRPr lang="en-US"/>
          </a:p>
        </p:txBody>
      </p:sp>
    </p:spTree>
    <p:extLst>
      <p:ext uri="{BB962C8B-B14F-4D97-AF65-F5344CB8AC3E}">
        <p14:creationId xmlns:p14="http://schemas.microsoft.com/office/powerpoint/2010/main" val="3602420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90141-9109-4A1F-8E4D-853200A4846B}"/>
              </a:ext>
            </a:extLst>
          </p:cNvPr>
          <p:cNvSpPr>
            <a:spLocks noGrp="1"/>
          </p:cNvSpPr>
          <p:nvPr>
            <p:ph type="title"/>
          </p:nvPr>
        </p:nvSpPr>
        <p:spPr/>
        <p:txBody>
          <a:bodyPr>
            <a:normAutofit fontScale="90000"/>
          </a:bodyPr>
          <a:lstStyle/>
          <a:p>
            <a:r>
              <a:rPr lang="en-US" dirty="0"/>
              <a:t>Hobbies and interests</a:t>
            </a:r>
            <a:br>
              <a:rPr lang="en-US" dirty="0"/>
            </a:br>
            <a:endParaRPr lang="en-PK" dirty="0"/>
          </a:p>
        </p:txBody>
      </p:sp>
      <p:sp>
        <p:nvSpPr>
          <p:cNvPr id="3" name="Content Placeholder 2">
            <a:extLst>
              <a:ext uri="{FF2B5EF4-FFF2-40B4-BE49-F238E27FC236}">
                <a16:creationId xmlns:a16="http://schemas.microsoft.com/office/drawing/2014/main" id="{DED931E3-3BE2-4E7C-AA34-4FB9229C404E}"/>
              </a:ext>
            </a:extLst>
          </p:cNvPr>
          <p:cNvSpPr>
            <a:spLocks noGrp="1"/>
          </p:cNvSpPr>
          <p:nvPr>
            <p:ph idx="1"/>
          </p:nvPr>
        </p:nvSpPr>
        <p:spPr/>
        <p:txBody>
          <a:bodyPr>
            <a:normAutofit fontScale="92500" lnSpcReduction="10000"/>
          </a:bodyPr>
          <a:lstStyle/>
          <a:p>
            <a:pPr algn="just"/>
            <a:r>
              <a:rPr lang="en-US" dirty="0"/>
              <a:t>You don’t need to state your hobbies and interests on your CV, but  they help recruiters know more about your personality. If you have any interesting hobbies that make you shine, or if your hobbies relate to the industry you’re going into, you can use this section to build a bigger picture of you as a person.</a:t>
            </a:r>
          </a:p>
          <a:p>
            <a:pPr algn="just"/>
            <a:r>
              <a:rPr lang="en-US" dirty="0"/>
              <a:t>If you’re running low on space, don’t worry too much; just remember that, if worded well, this section could really make you stand out.</a:t>
            </a:r>
          </a:p>
          <a:p>
            <a:endParaRPr lang="en-PK" dirty="0"/>
          </a:p>
        </p:txBody>
      </p:sp>
      <p:sp>
        <p:nvSpPr>
          <p:cNvPr id="4" name="Date Placeholder 3">
            <a:extLst>
              <a:ext uri="{FF2B5EF4-FFF2-40B4-BE49-F238E27FC236}">
                <a16:creationId xmlns:a16="http://schemas.microsoft.com/office/drawing/2014/main" id="{DD93193B-11AD-4E45-8679-B8CA732752CF}"/>
              </a:ext>
            </a:extLst>
          </p:cNvPr>
          <p:cNvSpPr>
            <a:spLocks noGrp="1"/>
          </p:cNvSpPr>
          <p:nvPr>
            <p:ph type="dt" sz="half" idx="10"/>
          </p:nvPr>
        </p:nvSpPr>
        <p:spPr/>
        <p:txBody>
          <a:bodyPr/>
          <a:lstStyle/>
          <a:p>
            <a:fld id="{2CA8CD25-EE77-4188-89A6-C2A41F4EB508}" type="datetime1">
              <a:rPr lang="en-US" smtClean="0"/>
              <a:t>1/19/2020</a:t>
            </a:fld>
            <a:endParaRPr lang="en-US"/>
          </a:p>
        </p:txBody>
      </p:sp>
      <p:sp>
        <p:nvSpPr>
          <p:cNvPr id="5" name="Slide Number Placeholder 4">
            <a:extLst>
              <a:ext uri="{FF2B5EF4-FFF2-40B4-BE49-F238E27FC236}">
                <a16:creationId xmlns:a16="http://schemas.microsoft.com/office/drawing/2014/main" id="{4D40120A-C02E-469C-89F2-B52C8F226888}"/>
              </a:ext>
            </a:extLst>
          </p:cNvPr>
          <p:cNvSpPr>
            <a:spLocks noGrp="1"/>
          </p:cNvSpPr>
          <p:nvPr>
            <p:ph type="sldNum" sz="quarter" idx="12"/>
          </p:nvPr>
        </p:nvSpPr>
        <p:spPr/>
        <p:txBody>
          <a:bodyPr/>
          <a:lstStyle/>
          <a:p>
            <a:fld id="{B2DC25EE-239B-4C5F-AAD1-255A7D5F1EE2}" type="slidenum">
              <a:rPr lang="en-US" smtClean="0"/>
              <a:t>11</a:t>
            </a:fld>
            <a:endParaRPr lang="en-US"/>
          </a:p>
        </p:txBody>
      </p:sp>
    </p:spTree>
    <p:extLst>
      <p:ext uri="{BB962C8B-B14F-4D97-AF65-F5344CB8AC3E}">
        <p14:creationId xmlns:p14="http://schemas.microsoft.com/office/powerpoint/2010/main" val="3674083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2C5398-B91E-4396-BABD-C61D5C388BA4}"/>
              </a:ext>
            </a:extLst>
          </p:cNvPr>
          <p:cNvSpPr>
            <a:spLocks noGrp="1"/>
          </p:cNvSpPr>
          <p:nvPr>
            <p:ph type="title"/>
          </p:nvPr>
        </p:nvSpPr>
        <p:spPr/>
        <p:txBody>
          <a:bodyPr>
            <a:normAutofit fontScale="90000"/>
          </a:bodyPr>
          <a:lstStyle/>
          <a:p>
            <a:r>
              <a:rPr lang="en-US" dirty="0"/>
              <a:t>References</a:t>
            </a:r>
            <a:br>
              <a:rPr lang="en-US" dirty="0"/>
            </a:br>
            <a:endParaRPr lang="en-PK" dirty="0"/>
          </a:p>
        </p:txBody>
      </p:sp>
      <p:sp>
        <p:nvSpPr>
          <p:cNvPr id="5" name="Content Placeholder 4">
            <a:extLst>
              <a:ext uri="{FF2B5EF4-FFF2-40B4-BE49-F238E27FC236}">
                <a16:creationId xmlns:a16="http://schemas.microsoft.com/office/drawing/2014/main" id="{AAE82A47-2AB6-4035-AECE-EF8822D308E8}"/>
              </a:ext>
            </a:extLst>
          </p:cNvPr>
          <p:cNvSpPr>
            <a:spLocks noGrp="1"/>
          </p:cNvSpPr>
          <p:nvPr>
            <p:ph idx="1"/>
          </p:nvPr>
        </p:nvSpPr>
        <p:spPr/>
        <p:txBody>
          <a:bodyPr>
            <a:normAutofit fontScale="70000" lnSpcReduction="20000"/>
          </a:bodyPr>
          <a:lstStyle/>
          <a:p>
            <a:r>
              <a:rPr lang="en-US" dirty="0"/>
              <a:t>Your referees should be your previous employers or your educational tutors, but there’s no need to list all their details in this section. A person’s name, physical address, contact number, and email address are common things to include. Something like the following is fine:</a:t>
            </a:r>
          </a:p>
          <a:p>
            <a:pPr marL="0" indent="0">
              <a:buNone/>
            </a:pPr>
            <a:r>
              <a:rPr lang="en-US" dirty="0"/>
              <a:t>John Smith (Head of Sales)</a:t>
            </a:r>
            <a:br>
              <a:rPr lang="en-US" dirty="0"/>
            </a:br>
            <a:r>
              <a:rPr lang="en-US" dirty="0"/>
              <a:t>Sales Company LTD</a:t>
            </a:r>
            <a:br>
              <a:rPr lang="en-US" dirty="0"/>
            </a:br>
            <a:r>
              <a:rPr lang="en-US" dirty="0"/>
              <a:t>1 Manchester Road</a:t>
            </a:r>
            <a:br>
              <a:rPr lang="en-US" dirty="0"/>
            </a:br>
            <a:r>
              <a:rPr lang="en-US" dirty="0"/>
              <a:t>MANCHESTER</a:t>
            </a:r>
            <a:br>
              <a:rPr lang="en-US" dirty="0"/>
            </a:br>
            <a:r>
              <a:rPr lang="en-US" dirty="0"/>
              <a:t>M50 3AH</a:t>
            </a:r>
          </a:p>
          <a:p>
            <a:r>
              <a:rPr lang="en-US" dirty="0"/>
              <a:t>Or, you can save space by simply stating:</a:t>
            </a:r>
          </a:p>
          <a:p>
            <a:pPr marL="0" indent="0">
              <a:buNone/>
            </a:pPr>
            <a:r>
              <a:rPr lang="en-US" dirty="0"/>
              <a:t>References available upon request.</a:t>
            </a:r>
          </a:p>
          <a:p>
            <a:endParaRPr lang="en-PK" dirty="0"/>
          </a:p>
        </p:txBody>
      </p:sp>
      <p:sp>
        <p:nvSpPr>
          <p:cNvPr id="6" name="Date Placeholder 5">
            <a:extLst>
              <a:ext uri="{FF2B5EF4-FFF2-40B4-BE49-F238E27FC236}">
                <a16:creationId xmlns:a16="http://schemas.microsoft.com/office/drawing/2014/main" id="{367AC07D-69C3-47F5-BEAF-476BD3673255}"/>
              </a:ext>
            </a:extLst>
          </p:cNvPr>
          <p:cNvSpPr>
            <a:spLocks noGrp="1"/>
          </p:cNvSpPr>
          <p:nvPr>
            <p:ph type="dt" sz="half" idx="10"/>
          </p:nvPr>
        </p:nvSpPr>
        <p:spPr/>
        <p:txBody>
          <a:bodyPr/>
          <a:lstStyle/>
          <a:p>
            <a:fld id="{781310BE-0010-4762-AA5A-B6820120102B}" type="datetime1">
              <a:rPr lang="en-US" smtClean="0"/>
              <a:t>1/19/2020</a:t>
            </a:fld>
            <a:endParaRPr lang="en-US"/>
          </a:p>
        </p:txBody>
      </p:sp>
      <p:sp>
        <p:nvSpPr>
          <p:cNvPr id="7" name="Slide Number Placeholder 6">
            <a:extLst>
              <a:ext uri="{FF2B5EF4-FFF2-40B4-BE49-F238E27FC236}">
                <a16:creationId xmlns:a16="http://schemas.microsoft.com/office/drawing/2014/main" id="{5ABCBE08-EF8D-47A3-9BC0-10C311F416F9}"/>
              </a:ext>
            </a:extLst>
          </p:cNvPr>
          <p:cNvSpPr>
            <a:spLocks noGrp="1"/>
          </p:cNvSpPr>
          <p:nvPr>
            <p:ph type="sldNum" sz="quarter" idx="12"/>
          </p:nvPr>
        </p:nvSpPr>
        <p:spPr/>
        <p:txBody>
          <a:bodyPr/>
          <a:lstStyle/>
          <a:p>
            <a:fld id="{B2DC25EE-239B-4C5F-AAD1-255A7D5F1EE2}" type="slidenum">
              <a:rPr lang="en-US" smtClean="0"/>
              <a:t>12</a:t>
            </a:fld>
            <a:endParaRPr lang="en-US"/>
          </a:p>
        </p:txBody>
      </p:sp>
    </p:spTree>
    <p:extLst>
      <p:ext uri="{BB962C8B-B14F-4D97-AF65-F5344CB8AC3E}">
        <p14:creationId xmlns:p14="http://schemas.microsoft.com/office/powerpoint/2010/main" val="1394139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34C60-E42E-4125-823D-382F24E5DA25}"/>
              </a:ext>
            </a:extLst>
          </p:cNvPr>
          <p:cNvSpPr>
            <a:spLocks noGrp="1"/>
          </p:cNvSpPr>
          <p:nvPr>
            <p:ph type="title"/>
          </p:nvPr>
        </p:nvSpPr>
        <p:spPr/>
        <p:txBody>
          <a:bodyPr/>
          <a:lstStyle/>
          <a:p>
            <a:r>
              <a:rPr lang="en-GB" dirty="0"/>
              <a:t>Optional components</a:t>
            </a:r>
            <a:endParaRPr lang="en-PK" dirty="0"/>
          </a:p>
        </p:txBody>
      </p:sp>
      <p:sp>
        <p:nvSpPr>
          <p:cNvPr id="3" name="Content Placeholder 2">
            <a:extLst>
              <a:ext uri="{FF2B5EF4-FFF2-40B4-BE49-F238E27FC236}">
                <a16:creationId xmlns:a16="http://schemas.microsoft.com/office/drawing/2014/main" id="{C25CCD17-4806-47C5-9C25-1705FEC7027C}"/>
              </a:ext>
            </a:extLst>
          </p:cNvPr>
          <p:cNvSpPr>
            <a:spLocks noGrp="1"/>
          </p:cNvSpPr>
          <p:nvPr>
            <p:ph idx="1"/>
          </p:nvPr>
        </p:nvSpPr>
        <p:spPr/>
        <p:txBody>
          <a:bodyPr>
            <a:normAutofit fontScale="92500" lnSpcReduction="20000"/>
          </a:bodyPr>
          <a:lstStyle/>
          <a:p>
            <a:pPr algn="just"/>
            <a:r>
              <a:rPr lang="en-US" dirty="0"/>
              <a:t>Thesis/Dissertation: Include your thesis or dissertation title. You may also include a brief sentence or two on your paper, and/or the name of your advisor.</a:t>
            </a:r>
          </a:p>
          <a:p>
            <a:pPr algn="just"/>
            <a:r>
              <a:rPr lang="en-US" dirty="0"/>
              <a:t>Research Experience: List any research experience you have, including where you worked, when, and with whom. Include any publications resulting from your research</a:t>
            </a:r>
          </a:p>
          <a:p>
            <a:pPr algn="just"/>
            <a:r>
              <a:rPr lang="en-US" dirty="0"/>
              <a:t>Skills: List any relevant skills you have not yet mentioned. This may include language skills, computer skills, administrative skills, etc.</a:t>
            </a:r>
          </a:p>
          <a:p>
            <a:endParaRPr lang="en-PK" dirty="0"/>
          </a:p>
        </p:txBody>
      </p:sp>
      <p:sp>
        <p:nvSpPr>
          <p:cNvPr id="4" name="Date Placeholder 3">
            <a:extLst>
              <a:ext uri="{FF2B5EF4-FFF2-40B4-BE49-F238E27FC236}">
                <a16:creationId xmlns:a16="http://schemas.microsoft.com/office/drawing/2014/main" id="{95C18ADA-FA86-4E27-8D80-F5B3DA20E62B}"/>
              </a:ext>
            </a:extLst>
          </p:cNvPr>
          <p:cNvSpPr>
            <a:spLocks noGrp="1"/>
          </p:cNvSpPr>
          <p:nvPr>
            <p:ph type="dt" sz="half" idx="10"/>
          </p:nvPr>
        </p:nvSpPr>
        <p:spPr/>
        <p:txBody>
          <a:bodyPr/>
          <a:lstStyle/>
          <a:p>
            <a:fld id="{A7A0F0D9-273B-4DAA-8B78-01E6B90B2A0E}" type="datetime1">
              <a:rPr lang="en-US" smtClean="0"/>
              <a:t>1/19/2020</a:t>
            </a:fld>
            <a:endParaRPr lang="en-US"/>
          </a:p>
        </p:txBody>
      </p:sp>
      <p:sp>
        <p:nvSpPr>
          <p:cNvPr id="5" name="Slide Number Placeholder 4">
            <a:extLst>
              <a:ext uri="{FF2B5EF4-FFF2-40B4-BE49-F238E27FC236}">
                <a16:creationId xmlns:a16="http://schemas.microsoft.com/office/drawing/2014/main" id="{948DB54C-53D5-499F-864F-271D4B579166}"/>
              </a:ext>
            </a:extLst>
          </p:cNvPr>
          <p:cNvSpPr>
            <a:spLocks noGrp="1"/>
          </p:cNvSpPr>
          <p:nvPr>
            <p:ph type="sldNum" sz="quarter" idx="12"/>
          </p:nvPr>
        </p:nvSpPr>
        <p:spPr/>
        <p:txBody>
          <a:bodyPr/>
          <a:lstStyle/>
          <a:p>
            <a:fld id="{B2DC25EE-239B-4C5F-AAD1-255A7D5F1EE2}" type="slidenum">
              <a:rPr lang="en-US" smtClean="0"/>
              <a:t>13</a:t>
            </a:fld>
            <a:endParaRPr lang="en-US"/>
          </a:p>
        </p:txBody>
      </p:sp>
    </p:spTree>
    <p:extLst>
      <p:ext uri="{BB962C8B-B14F-4D97-AF65-F5344CB8AC3E}">
        <p14:creationId xmlns:p14="http://schemas.microsoft.com/office/powerpoint/2010/main" val="3724762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37560-F9D9-4F7A-8024-F84AAE638BDA}"/>
              </a:ext>
            </a:extLst>
          </p:cNvPr>
          <p:cNvSpPr>
            <a:spLocks noGrp="1"/>
          </p:cNvSpPr>
          <p:nvPr>
            <p:ph type="title"/>
          </p:nvPr>
        </p:nvSpPr>
        <p:spPr/>
        <p:txBody>
          <a:bodyPr/>
          <a:lstStyle/>
          <a:p>
            <a:r>
              <a:rPr lang="en-US" dirty="0"/>
              <a:t>Conti..</a:t>
            </a:r>
            <a:endParaRPr lang="en-PK" dirty="0"/>
          </a:p>
        </p:txBody>
      </p:sp>
      <p:sp>
        <p:nvSpPr>
          <p:cNvPr id="3" name="Content Placeholder 2">
            <a:extLst>
              <a:ext uri="{FF2B5EF4-FFF2-40B4-BE49-F238E27FC236}">
                <a16:creationId xmlns:a16="http://schemas.microsoft.com/office/drawing/2014/main" id="{A89F7F8F-4D52-48B2-910D-3F09AA2B9901}"/>
              </a:ext>
            </a:extLst>
          </p:cNvPr>
          <p:cNvSpPr>
            <a:spLocks noGrp="1"/>
          </p:cNvSpPr>
          <p:nvPr>
            <p:ph idx="1"/>
          </p:nvPr>
        </p:nvSpPr>
        <p:spPr/>
        <p:txBody>
          <a:bodyPr>
            <a:normAutofit fontScale="77500" lnSpcReduction="20000"/>
          </a:bodyPr>
          <a:lstStyle/>
          <a:p>
            <a:r>
              <a:rPr lang="en-US" dirty="0"/>
              <a:t>Publications and Presentations: List any publications you have written, co-written, or contributed to. Include all necessary bibliographic information. You should also include any pieces you are currently working on. Include papers you presented at conferences and/or associations: list the name of the paper, the conference name and location, and the date.</a:t>
            </a:r>
          </a:p>
          <a:p>
            <a:r>
              <a:rPr lang="en-US" dirty="0"/>
              <a:t>Professional Memberships: List any professional associations to which you belong. If you are a board member of the association, list your title.</a:t>
            </a:r>
          </a:p>
          <a:p>
            <a:r>
              <a:rPr lang="en-US" dirty="0"/>
              <a:t>Extracurricular Activities: Include any volunteer or service work you have done, as well as any clubs or organizations to which you have belonged. You can also include any study abroad experiences here if you have not already mentioned them.</a:t>
            </a:r>
          </a:p>
          <a:p>
            <a:endParaRPr lang="en-PK" dirty="0"/>
          </a:p>
        </p:txBody>
      </p:sp>
      <p:sp>
        <p:nvSpPr>
          <p:cNvPr id="4" name="Date Placeholder 3">
            <a:extLst>
              <a:ext uri="{FF2B5EF4-FFF2-40B4-BE49-F238E27FC236}">
                <a16:creationId xmlns:a16="http://schemas.microsoft.com/office/drawing/2014/main" id="{BC5E566C-CBD6-4220-B0F0-A2497B197334}"/>
              </a:ext>
            </a:extLst>
          </p:cNvPr>
          <p:cNvSpPr>
            <a:spLocks noGrp="1"/>
          </p:cNvSpPr>
          <p:nvPr>
            <p:ph type="dt" sz="half" idx="10"/>
          </p:nvPr>
        </p:nvSpPr>
        <p:spPr/>
        <p:txBody>
          <a:bodyPr/>
          <a:lstStyle/>
          <a:p>
            <a:fld id="{B9EC2A9C-4442-42BB-BF60-245D460F872E}" type="datetime1">
              <a:rPr lang="en-US" smtClean="0"/>
              <a:t>1/19/2020</a:t>
            </a:fld>
            <a:endParaRPr lang="en-US"/>
          </a:p>
        </p:txBody>
      </p:sp>
      <p:sp>
        <p:nvSpPr>
          <p:cNvPr id="5" name="Slide Number Placeholder 4">
            <a:extLst>
              <a:ext uri="{FF2B5EF4-FFF2-40B4-BE49-F238E27FC236}">
                <a16:creationId xmlns:a16="http://schemas.microsoft.com/office/drawing/2014/main" id="{E6538FFB-1F5D-4BF1-ACB7-576744E68BD3}"/>
              </a:ext>
            </a:extLst>
          </p:cNvPr>
          <p:cNvSpPr>
            <a:spLocks noGrp="1"/>
          </p:cNvSpPr>
          <p:nvPr>
            <p:ph type="sldNum" sz="quarter" idx="12"/>
          </p:nvPr>
        </p:nvSpPr>
        <p:spPr/>
        <p:txBody>
          <a:bodyPr/>
          <a:lstStyle/>
          <a:p>
            <a:fld id="{B2DC25EE-239B-4C5F-AAD1-255A7D5F1EE2}" type="slidenum">
              <a:rPr lang="en-US" smtClean="0"/>
              <a:t>14</a:t>
            </a:fld>
            <a:endParaRPr lang="en-US"/>
          </a:p>
        </p:txBody>
      </p:sp>
    </p:spTree>
    <p:extLst>
      <p:ext uri="{BB962C8B-B14F-4D97-AF65-F5344CB8AC3E}">
        <p14:creationId xmlns:p14="http://schemas.microsoft.com/office/powerpoint/2010/main" val="1936237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51320-F451-4981-B4B0-BC892C86FCDA}"/>
              </a:ext>
            </a:extLst>
          </p:cNvPr>
          <p:cNvSpPr>
            <a:spLocks noGrp="1"/>
          </p:cNvSpPr>
          <p:nvPr>
            <p:ph type="title"/>
          </p:nvPr>
        </p:nvSpPr>
        <p:spPr/>
        <p:txBody>
          <a:bodyPr/>
          <a:lstStyle/>
          <a:p>
            <a:r>
              <a:rPr lang="en-US" dirty="0"/>
              <a:t>Explaining a gap in your CV</a:t>
            </a:r>
            <a:endParaRPr lang="en-PK" dirty="0"/>
          </a:p>
        </p:txBody>
      </p:sp>
      <p:sp>
        <p:nvSpPr>
          <p:cNvPr id="3" name="Content Placeholder 2">
            <a:extLst>
              <a:ext uri="{FF2B5EF4-FFF2-40B4-BE49-F238E27FC236}">
                <a16:creationId xmlns:a16="http://schemas.microsoft.com/office/drawing/2014/main" id="{B0D18B82-6E22-4B45-9870-7ED5230E55F2}"/>
              </a:ext>
            </a:extLst>
          </p:cNvPr>
          <p:cNvSpPr>
            <a:spLocks noGrp="1"/>
          </p:cNvSpPr>
          <p:nvPr>
            <p:ph idx="1"/>
          </p:nvPr>
        </p:nvSpPr>
        <p:spPr/>
        <p:txBody>
          <a:bodyPr>
            <a:normAutofit fontScale="92500" lnSpcReduction="20000"/>
          </a:bodyPr>
          <a:lstStyle/>
          <a:p>
            <a:r>
              <a:rPr lang="en-US" dirty="0"/>
              <a:t>Always be honest about gaps in your employment whatever the reason</a:t>
            </a:r>
          </a:p>
          <a:p>
            <a:r>
              <a:rPr lang="en-US" dirty="0"/>
              <a:t>Focus on what you gained through being unemployed</a:t>
            </a:r>
          </a:p>
          <a:p>
            <a:r>
              <a:rPr lang="en-US" dirty="0"/>
              <a:t>Mention the transferable skills you’ve improved during unemployment</a:t>
            </a:r>
          </a:p>
          <a:p>
            <a:r>
              <a:rPr lang="en-US" dirty="0"/>
              <a:t>Improve the interests section on your CV</a:t>
            </a:r>
          </a:p>
          <a:p>
            <a:r>
              <a:rPr lang="en-US" dirty="0"/>
              <a:t>Make sure your referees are well-briefed on your unemployment</a:t>
            </a:r>
          </a:p>
          <a:p>
            <a:r>
              <a:rPr lang="en-US" dirty="0"/>
              <a:t>Write about any travels you’ve had on your CV</a:t>
            </a:r>
          </a:p>
        </p:txBody>
      </p:sp>
      <p:sp>
        <p:nvSpPr>
          <p:cNvPr id="4" name="Date Placeholder 3">
            <a:extLst>
              <a:ext uri="{FF2B5EF4-FFF2-40B4-BE49-F238E27FC236}">
                <a16:creationId xmlns:a16="http://schemas.microsoft.com/office/drawing/2014/main" id="{E0CFC344-D6EB-4520-82C7-28B1594E254B}"/>
              </a:ext>
            </a:extLst>
          </p:cNvPr>
          <p:cNvSpPr>
            <a:spLocks noGrp="1"/>
          </p:cNvSpPr>
          <p:nvPr>
            <p:ph type="dt" sz="half" idx="10"/>
          </p:nvPr>
        </p:nvSpPr>
        <p:spPr/>
        <p:txBody>
          <a:bodyPr/>
          <a:lstStyle/>
          <a:p>
            <a:fld id="{1BE764C1-56D5-461B-833B-F97F20B20760}" type="datetime1">
              <a:rPr lang="en-US" smtClean="0"/>
              <a:t>1/19/2020</a:t>
            </a:fld>
            <a:endParaRPr lang="en-US"/>
          </a:p>
        </p:txBody>
      </p:sp>
      <p:sp>
        <p:nvSpPr>
          <p:cNvPr id="5" name="Slide Number Placeholder 4">
            <a:extLst>
              <a:ext uri="{FF2B5EF4-FFF2-40B4-BE49-F238E27FC236}">
                <a16:creationId xmlns:a16="http://schemas.microsoft.com/office/drawing/2014/main" id="{68775D0B-5946-493A-9544-F3CBC0B6756D}"/>
              </a:ext>
            </a:extLst>
          </p:cNvPr>
          <p:cNvSpPr>
            <a:spLocks noGrp="1"/>
          </p:cNvSpPr>
          <p:nvPr>
            <p:ph type="sldNum" sz="quarter" idx="12"/>
          </p:nvPr>
        </p:nvSpPr>
        <p:spPr/>
        <p:txBody>
          <a:bodyPr/>
          <a:lstStyle/>
          <a:p>
            <a:fld id="{B2DC25EE-239B-4C5F-AAD1-255A7D5F1EE2}" type="slidenum">
              <a:rPr lang="en-US" smtClean="0"/>
              <a:t>15</a:t>
            </a:fld>
            <a:endParaRPr lang="en-US"/>
          </a:p>
        </p:txBody>
      </p:sp>
    </p:spTree>
    <p:extLst>
      <p:ext uri="{BB962C8B-B14F-4D97-AF65-F5344CB8AC3E}">
        <p14:creationId xmlns:p14="http://schemas.microsoft.com/office/powerpoint/2010/main" val="2609894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D78A4-2C08-4DF9-908A-50C98F0C6EF7}"/>
              </a:ext>
            </a:extLst>
          </p:cNvPr>
          <p:cNvSpPr>
            <a:spLocks noGrp="1"/>
          </p:cNvSpPr>
          <p:nvPr>
            <p:ph type="title"/>
          </p:nvPr>
        </p:nvSpPr>
        <p:spPr/>
        <p:txBody>
          <a:bodyPr/>
          <a:lstStyle/>
          <a:p>
            <a:r>
              <a:rPr lang="en-US" dirty="0"/>
              <a:t>Tips </a:t>
            </a:r>
            <a:endParaRPr lang="en-PK" dirty="0"/>
          </a:p>
        </p:txBody>
      </p:sp>
      <p:sp>
        <p:nvSpPr>
          <p:cNvPr id="3" name="Content Placeholder 2">
            <a:extLst>
              <a:ext uri="{FF2B5EF4-FFF2-40B4-BE49-F238E27FC236}">
                <a16:creationId xmlns:a16="http://schemas.microsoft.com/office/drawing/2014/main" id="{4116A025-CA3B-4056-9461-B39255FB183D}"/>
              </a:ext>
            </a:extLst>
          </p:cNvPr>
          <p:cNvSpPr>
            <a:spLocks noGrp="1"/>
          </p:cNvSpPr>
          <p:nvPr>
            <p:ph idx="1"/>
          </p:nvPr>
        </p:nvSpPr>
        <p:spPr/>
        <p:txBody>
          <a:bodyPr>
            <a:normAutofit fontScale="55000" lnSpcReduction="20000"/>
          </a:bodyPr>
          <a:lstStyle/>
          <a:p>
            <a:pPr marL="0" indent="0">
              <a:buNone/>
            </a:pPr>
            <a:r>
              <a:rPr lang="en-US" dirty="0"/>
              <a:t>1. Be creative</a:t>
            </a:r>
          </a:p>
          <a:p>
            <a:r>
              <a:rPr lang="en-US" dirty="0"/>
              <a:t>Experiment with the format of your CV and try to add your personal flair to the layout. In recent years, candidates have even gone digital in the form of video CVs and games, but this is usually only worth it if you’re in a creative industry.</a:t>
            </a:r>
          </a:p>
          <a:p>
            <a:pPr marL="0" indent="0">
              <a:buNone/>
            </a:pPr>
            <a:r>
              <a:rPr lang="en-US" dirty="0"/>
              <a:t>2. Be careful</a:t>
            </a:r>
          </a:p>
          <a:p>
            <a:r>
              <a:rPr lang="en-US" dirty="0"/>
              <a:t>If you choose a more creative format for your CV, don’t let it be unfavorable — don’t choose anything too distracting or difficult to read from.</a:t>
            </a:r>
          </a:p>
          <a:p>
            <a:pPr marL="0" indent="0">
              <a:buNone/>
            </a:pPr>
            <a:r>
              <a:rPr lang="en-US" dirty="0"/>
              <a:t>3. Proofread</a:t>
            </a:r>
          </a:p>
          <a:p>
            <a:r>
              <a:rPr lang="en-US" dirty="0"/>
              <a:t>Make sure you triple check your CV; you don’t want avoidable errors to hinder your chances before you’re even through the door. Have someone else check it, too.</a:t>
            </a:r>
          </a:p>
          <a:p>
            <a:pPr marL="0" indent="0">
              <a:buNone/>
            </a:pPr>
            <a:r>
              <a:rPr lang="en-US" dirty="0"/>
              <a:t>4. Don’t make it too long</a:t>
            </a:r>
          </a:p>
          <a:p>
            <a:r>
              <a:rPr lang="en-US" dirty="0"/>
              <a:t>Generally, your CV should be no longer than one or two A4 pages. Recruiters aren’t likely to have the time to read five pages, no matter how talented you are.</a:t>
            </a:r>
          </a:p>
        </p:txBody>
      </p:sp>
      <p:sp>
        <p:nvSpPr>
          <p:cNvPr id="4" name="Date Placeholder 3">
            <a:extLst>
              <a:ext uri="{FF2B5EF4-FFF2-40B4-BE49-F238E27FC236}">
                <a16:creationId xmlns:a16="http://schemas.microsoft.com/office/drawing/2014/main" id="{2976C28A-4598-4AA1-9905-3F6059C1F125}"/>
              </a:ext>
            </a:extLst>
          </p:cNvPr>
          <p:cNvSpPr>
            <a:spLocks noGrp="1"/>
          </p:cNvSpPr>
          <p:nvPr>
            <p:ph type="dt" sz="half" idx="10"/>
          </p:nvPr>
        </p:nvSpPr>
        <p:spPr/>
        <p:txBody>
          <a:bodyPr/>
          <a:lstStyle/>
          <a:p>
            <a:fld id="{61FC6CE5-CA49-4709-BB20-CB0130C17A84}" type="datetime1">
              <a:rPr lang="en-US" smtClean="0"/>
              <a:t>1/19/2020</a:t>
            </a:fld>
            <a:endParaRPr lang="en-US"/>
          </a:p>
        </p:txBody>
      </p:sp>
      <p:sp>
        <p:nvSpPr>
          <p:cNvPr id="5" name="Slide Number Placeholder 4">
            <a:extLst>
              <a:ext uri="{FF2B5EF4-FFF2-40B4-BE49-F238E27FC236}">
                <a16:creationId xmlns:a16="http://schemas.microsoft.com/office/drawing/2014/main" id="{7C44E987-2930-4816-A2FC-3687A1BF6186}"/>
              </a:ext>
            </a:extLst>
          </p:cNvPr>
          <p:cNvSpPr>
            <a:spLocks noGrp="1"/>
          </p:cNvSpPr>
          <p:nvPr>
            <p:ph type="sldNum" sz="quarter" idx="12"/>
          </p:nvPr>
        </p:nvSpPr>
        <p:spPr/>
        <p:txBody>
          <a:bodyPr/>
          <a:lstStyle/>
          <a:p>
            <a:fld id="{B2DC25EE-239B-4C5F-AAD1-255A7D5F1EE2}" type="slidenum">
              <a:rPr lang="en-US" smtClean="0"/>
              <a:t>16</a:t>
            </a:fld>
            <a:endParaRPr lang="en-US"/>
          </a:p>
        </p:txBody>
      </p:sp>
    </p:spTree>
    <p:extLst>
      <p:ext uri="{BB962C8B-B14F-4D97-AF65-F5344CB8AC3E}">
        <p14:creationId xmlns:p14="http://schemas.microsoft.com/office/powerpoint/2010/main" val="117974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97438-57B5-4D49-AACA-90CB0D077932}"/>
              </a:ext>
            </a:extLst>
          </p:cNvPr>
          <p:cNvSpPr>
            <a:spLocks noGrp="1"/>
          </p:cNvSpPr>
          <p:nvPr>
            <p:ph type="title"/>
          </p:nvPr>
        </p:nvSpPr>
        <p:spPr/>
        <p:txBody>
          <a:bodyPr/>
          <a:lstStyle/>
          <a:p>
            <a:r>
              <a:rPr lang="en-US" dirty="0"/>
              <a:t>Conti..</a:t>
            </a:r>
            <a:endParaRPr lang="en-PK" dirty="0"/>
          </a:p>
        </p:txBody>
      </p:sp>
      <p:sp>
        <p:nvSpPr>
          <p:cNvPr id="3" name="Content Placeholder 2">
            <a:extLst>
              <a:ext uri="{FF2B5EF4-FFF2-40B4-BE49-F238E27FC236}">
                <a16:creationId xmlns:a16="http://schemas.microsoft.com/office/drawing/2014/main" id="{7A2EF3EC-91B0-4AC0-B074-A92E1E8EF25E}"/>
              </a:ext>
            </a:extLst>
          </p:cNvPr>
          <p:cNvSpPr>
            <a:spLocks noGrp="1"/>
          </p:cNvSpPr>
          <p:nvPr>
            <p:ph idx="1"/>
          </p:nvPr>
        </p:nvSpPr>
        <p:spPr/>
        <p:txBody>
          <a:bodyPr>
            <a:normAutofit fontScale="62500" lnSpcReduction="20000"/>
          </a:bodyPr>
          <a:lstStyle/>
          <a:p>
            <a:pPr marL="0" indent="0">
              <a:buNone/>
            </a:pPr>
            <a:r>
              <a:rPr lang="en-US" dirty="0"/>
              <a:t>5. Tailor each CV</a:t>
            </a:r>
          </a:p>
          <a:p>
            <a:r>
              <a:rPr lang="en-US" dirty="0"/>
              <a:t>Every CV you send out should be tailored to the role you’re applying for. Choose relevant examples and skills to demonstrate why you’re the best person for the job.</a:t>
            </a:r>
          </a:p>
          <a:p>
            <a:pPr marL="0" indent="0">
              <a:buNone/>
            </a:pPr>
            <a:r>
              <a:rPr lang="en-US" dirty="0"/>
              <a:t>6. Keep it up-to-date</a:t>
            </a:r>
          </a:p>
          <a:p>
            <a:r>
              <a:rPr lang="en-US" dirty="0"/>
              <a:t>Update your CV whenever you gain a new skill or qualification. Remember that your career goals may change over time and that your CV should reflect this. With the New Year just around the corner, now is the perfect time to get your CV up to scratch for 2017.</a:t>
            </a:r>
          </a:p>
          <a:p>
            <a:pPr marL="0" indent="0">
              <a:buNone/>
            </a:pPr>
            <a:r>
              <a:rPr lang="en-US" dirty="0"/>
              <a:t>7. Sending your CV online</a:t>
            </a:r>
          </a:p>
          <a:p>
            <a:r>
              <a:rPr lang="en-US" dirty="0"/>
              <a:t>In today’s digital world, it’s likely that you’ll be sending your CV via email or through a job board like CV-Library. Save your CV with the .PDF file extension to ensure that recruiters can open it on any device. A PDF will also maintain formatting, so you can be sure that employers are seeing your CV as you intended.</a:t>
            </a:r>
          </a:p>
          <a:p>
            <a:endParaRPr lang="en-PK" dirty="0"/>
          </a:p>
        </p:txBody>
      </p:sp>
      <p:sp>
        <p:nvSpPr>
          <p:cNvPr id="4" name="Date Placeholder 3">
            <a:extLst>
              <a:ext uri="{FF2B5EF4-FFF2-40B4-BE49-F238E27FC236}">
                <a16:creationId xmlns:a16="http://schemas.microsoft.com/office/drawing/2014/main" id="{274A08C4-5CC8-4F80-B8E2-A204C9E0D3E0}"/>
              </a:ext>
            </a:extLst>
          </p:cNvPr>
          <p:cNvSpPr>
            <a:spLocks noGrp="1"/>
          </p:cNvSpPr>
          <p:nvPr>
            <p:ph type="dt" sz="half" idx="10"/>
          </p:nvPr>
        </p:nvSpPr>
        <p:spPr/>
        <p:txBody>
          <a:bodyPr/>
          <a:lstStyle/>
          <a:p>
            <a:fld id="{88111888-CDA2-41FC-8286-C1500119E2F5}" type="datetime1">
              <a:rPr lang="en-US" smtClean="0"/>
              <a:t>1/19/2020</a:t>
            </a:fld>
            <a:endParaRPr lang="en-US"/>
          </a:p>
        </p:txBody>
      </p:sp>
      <p:sp>
        <p:nvSpPr>
          <p:cNvPr id="5" name="Slide Number Placeholder 4">
            <a:extLst>
              <a:ext uri="{FF2B5EF4-FFF2-40B4-BE49-F238E27FC236}">
                <a16:creationId xmlns:a16="http://schemas.microsoft.com/office/drawing/2014/main" id="{29BC3EF2-AA01-46D0-8F4E-AF549BF4BDEB}"/>
              </a:ext>
            </a:extLst>
          </p:cNvPr>
          <p:cNvSpPr>
            <a:spLocks noGrp="1"/>
          </p:cNvSpPr>
          <p:nvPr>
            <p:ph type="sldNum" sz="quarter" idx="12"/>
          </p:nvPr>
        </p:nvSpPr>
        <p:spPr/>
        <p:txBody>
          <a:bodyPr/>
          <a:lstStyle/>
          <a:p>
            <a:fld id="{B2DC25EE-239B-4C5F-AAD1-255A7D5F1EE2}" type="slidenum">
              <a:rPr lang="en-US" smtClean="0"/>
              <a:t>17</a:t>
            </a:fld>
            <a:endParaRPr lang="en-US"/>
          </a:p>
        </p:txBody>
      </p:sp>
    </p:spTree>
    <p:extLst>
      <p:ext uri="{BB962C8B-B14F-4D97-AF65-F5344CB8AC3E}">
        <p14:creationId xmlns:p14="http://schemas.microsoft.com/office/powerpoint/2010/main" val="1593983030"/>
      </p:ext>
    </p:extLst>
  </p:cSld>
  <p:clrMapOvr>
    <a:masterClrMapping/>
  </p:clrMapOvr>
</p:sld>
</file>

<file path=ppt/theme/theme1.xml><?xml version="1.0" encoding="utf-8"?>
<a:theme xmlns:a="http://schemas.openxmlformats.org/drawingml/2006/main" name="AccentBoxVTI">
  <a:themeElements>
    <a:clrScheme name="AnalogousFromDarkSeedLeftStep">
      <a:dk1>
        <a:srgbClr val="000000"/>
      </a:dk1>
      <a:lt1>
        <a:srgbClr val="FFFFFF"/>
      </a:lt1>
      <a:dk2>
        <a:srgbClr val="412524"/>
      </a:dk2>
      <a:lt2>
        <a:srgbClr val="E4E2E8"/>
      </a:lt2>
      <a:accent1>
        <a:srgbClr val="82AF1F"/>
      </a:accent1>
      <a:accent2>
        <a:srgbClr val="B3A213"/>
      </a:accent2>
      <a:accent3>
        <a:srgbClr val="E78429"/>
      </a:accent3>
      <a:accent4>
        <a:srgbClr val="D52317"/>
      </a:accent4>
      <a:accent5>
        <a:srgbClr val="E7296D"/>
      </a:accent5>
      <a:accent6>
        <a:srgbClr val="D517AA"/>
      </a:accent6>
      <a:hlink>
        <a:srgbClr val="C34D64"/>
      </a:hlink>
      <a:folHlink>
        <a:srgbClr val="7F7F7F"/>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1779</Words>
  <Application>Microsoft Office PowerPoint</Application>
  <PresentationFormat>Widescreen</PresentationFormat>
  <Paragraphs>133</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Avenir Next LT Pro</vt:lpstr>
      <vt:lpstr>Calibri</vt:lpstr>
      <vt:lpstr>AccentBoxVTI</vt:lpstr>
      <vt:lpstr>CV writing </vt:lpstr>
      <vt:lpstr>CV </vt:lpstr>
      <vt:lpstr>PowerPoint Presentation</vt:lpstr>
      <vt:lpstr>SECTIONS</vt:lpstr>
      <vt:lpstr>Contact details </vt:lpstr>
      <vt:lpstr>Profile picture </vt:lpstr>
      <vt:lpstr>Personal statement </vt:lpstr>
      <vt:lpstr>Experience and employment history </vt:lpstr>
      <vt:lpstr>Education </vt:lpstr>
      <vt:lpstr>Achievements </vt:lpstr>
      <vt:lpstr>Hobbies and interests </vt:lpstr>
      <vt:lpstr>References </vt:lpstr>
      <vt:lpstr>Optional components</vt:lpstr>
      <vt:lpstr>Conti..</vt:lpstr>
      <vt:lpstr>Explaining a gap in your CV</vt:lpstr>
      <vt:lpstr>Tips </vt:lpstr>
      <vt:lpstr>Conti..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Cvwriting </dc:title>
  <dc:creator>maria shafiq</dc:creator>
  <cp:lastModifiedBy>maria shafiq</cp:lastModifiedBy>
  <cp:revision>21</cp:revision>
  <dcterms:created xsi:type="dcterms:W3CDTF">2020-01-19T12:34:51Z</dcterms:created>
  <dcterms:modified xsi:type="dcterms:W3CDTF">2020-01-19T12:51:08Z</dcterms:modified>
</cp:coreProperties>
</file>