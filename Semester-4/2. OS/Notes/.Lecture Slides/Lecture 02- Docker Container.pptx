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38"/>
  </p:notesMasterIdLst>
  <p:sldIdLst>
    <p:sldId id="256" r:id="rId3"/>
    <p:sldId id="257" r:id="rId4"/>
    <p:sldId id="258" r:id="rId5"/>
    <p:sldId id="349" r:id="rId6"/>
    <p:sldId id="352" r:id="rId7"/>
    <p:sldId id="353" r:id="rId8"/>
    <p:sldId id="348" r:id="rId9"/>
    <p:sldId id="315" r:id="rId10"/>
    <p:sldId id="316" r:id="rId11"/>
    <p:sldId id="317" r:id="rId12"/>
    <p:sldId id="318" r:id="rId13"/>
    <p:sldId id="319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D32FD-2D7D-4E7E-AD64-9189E92D49F8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E1831-758B-4494-9BEE-0AC7A8C0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92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A225ACD2-91ED-C244-2C65-ABCBA1727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5CC1AB-1CDE-4B79-A822-239ED35EBCF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5314A94-E4FB-43DE-DDDB-9A0C68575D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7AC1AF4-F684-DBD2-4AE0-FCA07E57C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1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1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B76D75-01A5-DAE2-9297-8F77358F47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45E369-527B-BAD6-7774-1EA94E5C5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F5039F-4461-4D75-EC1B-3FB3A8990F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6F97C-7FB1-47FD-8C3A-D4EFB08C97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66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5770FF-7B09-5115-82FB-30AF23FB02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3DA20F-6D2D-7F07-C43A-12F9646859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C42A12-3E7A-9DFF-8B23-15EBCEB91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A4F4B-DCA2-4D04-9986-535BFDC2BB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76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7B810-B648-1754-352D-CEF7606F15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BA97B-B3AD-ED87-3225-3351A82EDA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1EDA52-0CB5-5F7A-5BA5-8B3E5576E0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81AAA-246F-41DC-B704-3DD9AFECD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426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23A1A-13AC-4D66-8760-230ADC3FB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1B4449-35DF-61AE-2F97-F237185281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BA612-5E4A-B19D-0042-96B3B7B229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75ADA-A49A-481A-BB78-A1D73C59E3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8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F283A49-24C7-1BC1-1FEE-AD3C74E94A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004FB13-631B-ED4D-1D63-317DB545D0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7DE83EB-23DA-FA91-A584-9C43A6BE4A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3F1FF-184A-4F20-BAAA-30633C74AA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61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5C0D46-AC62-4BD9-45CA-6F8FB4D3AA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19A28A-6628-CF89-340E-C39B6FFD60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BE0179-D137-0BE4-199F-C2347E24FA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2521D-53A0-49B5-B05E-BA06DC9164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6431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7468D11-61BE-81F9-7E02-BC90993E1D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A0ABB1B-003E-6CB3-E747-6D61C67086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C104C1-D82A-7EB9-707F-2D902B7F5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B7238-E7E0-44D8-B9F0-D13F32B480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2247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7A71A-50E4-FA91-6EF0-EEF0651972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60170-888D-D165-E88F-A56285A4DF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D70A0-C661-2C31-43CC-072982FF5C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33E1B-F520-49CE-8CD4-A0C2549C2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6926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924FE5-E7FE-1635-5953-B66EE97CB5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C8891F-C5FF-F9EC-9366-7F08569243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33E481-E759-7C26-B46C-98CA466FA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A41E3-67B7-4F2F-AFBF-489219EAA1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12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B66E7E-65D1-C430-037D-AC796C3C26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2A8DB7-0022-F4A8-1A97-03D53CA147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027749-4ABB-F1E0-8DEF-9E31BBF52C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EB7B9-E001-4851-97BF-A188279820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294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406665-4C0E-7C03-1184-0B5E131E57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8F5A6B-8689-04A5-69A5-463F9B439F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505F45-54B4-EF5E-B34C-402925E26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6D379-8291-482B-BBD0-7FABFDE845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9184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06400"/>
          </a:xfrm>
          <a:custGeom>
            <a:avLst/>
            <a:gdLst/>
            <a:ahLst/>
            <a:cxnLst/>
            <a:rect l="l" t="t" r="r" b="b"/>
            <a:pathLst>
              <a:path w="9144000" h="406400">
                <a:moveTo>
                  <a:pt x="9144000" y="0"/>
                </a:moveTo>
                <a:lnTo>
                  <a:pt x="0" y="0"/>
                </a:lnTo>
                <a:lnTo>
                  <a:pt x="0" y="406400"/>
                </a:lnTo>
                <a:lnTo>
                  <a:pt x="9144000" y="406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406400"/>
          </a:xfrm>
          <a:custGeom>
            <a:avLst/>
            <a:gdLst/>
            <a:ahLst/>
            <a:cxnLst/>
            <a:rect l="l" t="t" r="r" b="b"/>
            <a:pathLst>
              <a:path w="9144000" h="406400">
                <a:moveTo>
                  <a:pt x="0" y="0"/>
                </a:moveTo>
                <a:lnTo>
                  <a:pt x="9144000" y="0"/>
                </a:lnTo>
                <a:lnTo>
                  <a:pt x="9144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2F2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804164"/>
            <a:ext cx="666305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9339" y="1984907"/>
            <a:ext cx="5320030" cy="2609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1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96F8CF-8C31-D368-E127-B622EA523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822EF1-FD6B-5C5E-3417-ED1185FAA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797DB3C-AB67-BD54-4F3E-09DE0B1F26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E74C7958-7710-86DC-4E53-2F4893AA18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A150036-2D9F-96A6-C39C-0FE4654E39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3CB13A3-BC67-482F-AB30-FD5D77D8F9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78B16738-45B7-D05D-E605-4CF10D6AD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600" b="1">
                <a:solidFill>
                  <a:schemeClr val="accent2"/>
                </a:solidFill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>
            <a:extLst>
              <a:ext uri="{FF2B5EF4-FFF2-40B4-BE49-F238E27FC236}">
                <a16:creationId xmlns:a16="http://schemas.microsoft.com/office/drawing/2014/main" id="{15BAFF09-AEF1-532C-0BD7-6EF1033F9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2306300" imgH="7591425" progId="">
                  <p:embed/>
                </p:oleObj>
              </mc:Choice>
              <mc:Fallback>
                <p:oleObj r:id="rId13" imgW="12306300" imgH="7591425" progId="">
                  <p:embed/>
                  <p:pic>
                    <p:nvPicPr>
                      <p:cNvPr id="1032" name="Object 8">
                        <a:extLst>
                          <a:ext uri="{FF2B5EF4-FFF2-40B4-BE49-F238E27FC236}">
                            <a16:creationId xmlns:a16="http://schemas.microsoft.com/office/drawing/2014/main" id="{15BAFF09-AEF1-532C-0BD7-6EF1033F9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>
            <a:extLst>
              <a:ext uri="{FF2B5EF4-FFF2-40B4-BE49-F238E27FC236}">
                <a16:creationId xmlns:a16="http://schemas.microsoft.com/office/drawing/2014/main" id="{739B8068-DB88-BCF5-64D3-514B2551B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b="1" dirty="0">
                <a:solidFill>
                  <a:schemeClr val="accent2"/>
                </a:solidFill>
              </a:rPr>
              <a:t>Lecture 2: OS Overview</a:t>
            </a:r>
          </a:p>
        </p:txBody>
      </p:sp>
    </p:spTree>
    <p:extLst>
      <p:ext uri="{BB962C8B-B14F-4D97-AF65-F5344CB8AC3E}">
        <p14:creationId xmlns:p14="http://schemas.microsoft.com/office/powerpoint/2010/main" val="213853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600" y="3733800"/>
            <a:ext cx="4522470" cy="17030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97180" marR="289560" indent="-1270" algn="ctr">
              <a:lnSpc>
                <a:spcPts val="4300"/>
              </a:lnSpc>
              <a:spcBef>
                <a:spcPts val="260"/>
              </a:spcBef>
            </a:pPr>
            <a:r>
              <a:rPr sz="3600" b="1" dirty="0">
                <a:solidFill>
                  <a:srgbClr val="0000FF"/>
                </a:solidFill>
                <a:latin typeface="Trebuchet MS"/>
                <a:cs typeface="Trebuchet MS"/>
              </a:rPr>
              <a:t>Lecture</a:t>
            </a:r>
            <a:r>
              <a:rPr sz="3600" b="1" spc="-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3600" b="1" spc="-25" dirty="0">
                <a:solidFill>
                  <a:srgbClr val="0000FF"/>
                </a:solidFill>
                <a:latin typeface="Trebuchet MS"/>
                <a:cs typeface="Trebuchet MS"/>
              </a:rPr>
              <a:t>0</a:t>
            </a:r>
            <a:r>
              <a:rPr lang="en-US" sz="3600" b="1" spc="-25" dirty="0">
                <a:solidFill>
                  <a:srgbClr val="0000FF"/>
                </a:solidFill>
                <a:latin typeface="Trebuchet MS"/>
                <a:cs typeface="Trebuchet MS"/>
              </a:rPr>
              <a:t>2</a:t>
            </a:r>
            <a:r>
              <a:rPr sz="3600" b="1" spc="90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Docker</a:t>
            </a:r>
            <a:r>
              <a:rPr sz="3600" b="1" spc="-50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Containers</a:t>
            </a:r>
            <a:endParaRPr sz="3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3600" dirty="0">
              <a:latin typeface="Trebuchet MS"/>
              <a:cs typeface="Trebuchet M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AB8CA7-467E-C4E7-9A9E-2DEFF640F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"/>
            <a:ext cx="9144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 dirty="0">
                <a:solidFill>
                  <a:schemeClr val="accent2"/>
                </a:solidFill>
                <a:latin typeface="Trebuchet MS" panose="020B0603020202020204" pitchFamily="34" charset="0"/>
              </a:rPr>
              <a:t>National University of</a:t>
            </a:r>
            <a:br>
              <a:rPr lang="en-US" altLang="en-US" sz="4400" b="1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4400" b="1" dirty="0">
                <a:solidFill>
                  <a:schemeClr val="accent2"/>
                </a:solidFill>
                <a:latin typeface="Trebuchet MS" panose="020B0603020202020204" pitchFamily="34" charset="0"/>
              </a:rPr>
              <a:t>Computer &amp; Emerging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Virtualization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97228"/>
            <a:ext cx="8065770" cy="20040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71120" indent="-342900">
              <a:lnSpc>
                <a:spcPct val="100400"/>
              </a:lnSpc>
              <a:spcBef>
                <a:spcPts val="8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perspective,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might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already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virtualization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you’ve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partitioned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hard </a:t>
            </a:r>
            <a:r>
              <a:rPr sz="2400" dirty="0">
                <a:latin typeface="Arial MT"/>
                <a:cs typeface="Arial MT"/>
              </a:rPr>
              <a:t>disk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“virtual”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drive.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virtualized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resources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already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used?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791971"/>
            <a:ext cx="6898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Virtualization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Comes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Many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Forms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8023" y="1728216"/>
            <a:ext cx="4105655" cy="6766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55982" y="1807971"/>
            <a:ext cx="3839845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own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logical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910"/>
              </a:lnSpc>
            </a:pPr>
            <a:r>
              <a:rPr sz="1600" b="1" spc="-10" dirty="0">
                <a:latin typeface="Arial"/>
                <a:cs typeface="Arial"/>
              </a:rPr>
              <a:t>memory,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independent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physical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memory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2700" y="1371600"/>
            <a:ext cx="1214437" cy="13874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39862" y="1779523"/>
            <a:ext cx="90233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b="1" spc="-10" dirty="0">
                <a:latin typeface="Arial"/>
                <a:cs typeface="Arial"/>
              </a:rPr>
              <a:t>Virtual Memory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7623" y="2810255"/>
            <a:ext cx="4072128" cy="6766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59613" y="2893059"/>
            <a:ext cx="3819525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own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logical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910"/>
              </a:lnSpc>
            </a:pPr>
            <a:r>
              <a:rPr sz="1600" b="1" dirty="0">
                <a:latin typeface="Arial"/>
                <a:cs typeface="Arial"/>
              </a:rPr>
              <a:t>network,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independent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physical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network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9287" y="2463800"/>
            <a:ext cx="1214436" cy="13874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00250" y="2870708"/>
            <a:ext cx="105410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b="1" spc="-10" dirty="0">
                <a:latin typeface="Arial"/>
                <a:cs typeface="Arial"/>
              </a:rPr>
              <a:t>Virtual Networks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32304" y="3916679"/>
            <a:ext cx="3855720" cy="67665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611183" y="3996435"/>
            <a:ext cx="3594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own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logical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server,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independent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physical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servers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2700" y="3560762"/>
            <a:ext cx="1214437" cy="138747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58912" y="3967988"/>
            <a:ext cx="86423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b="1" spc="-10" dirty="0">
                <a:latin typeface="Arial"/>
                <a:cs typeface="Arial"/>
              </a:rPr>
              <a:t>Virtual Servers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87623" y="5007863"/>
            <a:ext cx="3992879" cy="67665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259613" y="5087620"/>
            <a:ext cx="3740785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own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logical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910"/>
              </a:lnSpc>
            </a:pPr>
            <a:r>
              <a:rPr sz="1600" b="1" dirty="0">
                <a:latin typeface="Arial"/>
                <a:cs typeface="Arial"/>
              </a:rPr>
              <a:t>storage,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independent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physical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storage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19287" y="4651375"/>
            <a:ext cx="1214436" cy="13874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089150" y="5059171"/>
            <a:ext cx="876300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b="1" spc="-10" dirty="0">
                <a:latin typeface="Arial"/>
                <a:cs typeface="Arial"/>
              </a:rPr>
              <a:t>Virtual Storage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>
            <a:extLst>
              <a:ext uri="{FF2B5EF4-FFF2-40B4-BE49-F238E27FC236}">
                <a16:creationId xmlns:a16="http://schemas.microsoft.com/office/drawing/2014/main" id="{163FED61-CB2C-141B-4993-8A2C62CF84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Virtual Machines</a:t>
            </a:r>
          </a:p>
        </p:txBody>
      </p:sp>
      <p:sp>
        <p:nvSpPr>
          <p:cNvPr id="47107" name="Rectangle 5">
            <a:extLst>
              <a:ext uri="{FF2B5EF4-FFF2-40B4-BE49-F238E27FC236}">
                <a16:creationId xmlns:a16="http://schemas.microsoft.com/office/drawing/2014/main" id="{057E6D8D-BAA4-5E7D-2BA0-16AB0B56B5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u pied de page 3">
            <a:extLst>
              <a:ext uri="{FF2B5EF4-FFF2-40B4-BE49-F238E27FC236}">
                <a16:creationId xmlns:a16="http://schemas.microsoft.com/office/drawing/2014/main" id="{42C5719D-8187-6841-1E1E-878A7B72D2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5E18C08-F44F-451E-DDA1-64B32D775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FAA6B64A-819E-45F8-32B4-019CB5906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Can a </a:t>
            </a:r>
            <a:r>
              <a:rPr lang="ja-JP" altLang="en-US" sz="2800"/>
              <a:t>“</a:t>
            </a:r>
            <a:r>
              <a:rPr lang="en-US" altLang="ja-JP" sz="2800"/>
              <a:t>small</a:t>
            </a:r>
            <a:r>
              <a:rPr lang="ja-JP" altLang="en-US" sz="2800"/>
              <a:t>”</a:t>
            </a:r>
            <a:r>
              <a:rPr lang="en-US" altLang="ja-JP" sz="2800"/>
              <a:t> operating system simulate the hardware of some machine so that</a:t>
            </a:r>
          </a:p>
          <a:p>
            <a:pPr lvl="1"/>
            <a:r>
              <a:rPr lang="en-US" altLang="en-US" sz="2400"/>
              <a:t>Another operating system can run in that simulated hardware?</a:t>
            </a:r>
          </a:p>
          <a:p>
            <a:pPr lvl="1"/>
            <a:r>
              <a:rPr lang="en-US" altLang="en-US" sz="2400"/>
              <a:t>More than one instance of that operating system run on the same hardware at the same time?</a:t>
            </a:r>
          </a:p>
          <a:p>
            <a:pPr lvl="1"/>
            <a:r>
              <a:rPr lang="en-US" altLang="en-US" sz="2400"/>
              <a:t>More than one </a:t>
            </a:r>
            <a:r>
              <a:rPr lang="en-US" altLang="en-US" sz="2400" i="1"/>
              <a:t>different</a:t>
            </a:r>
            <a:r>
              <a:rPr lang="en-US" altLang="en-US" sz="2400"/>
              <a:t> operating system can share the same hardware at the same time?</a:t>
            </a:r>
          </a:p>
          <a:p>
            <a:r>
              <a:rPr lang="en-US" altLang="en-US" sz="2800"/>
              <a:t>Answer: </a:t>
            </a:r>
            <a:r>
              <a:rPr lang="en-US" altLang="en-US" sz="2800" i="1"/>
              <a:t>Yes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u pied de page 3">
            <a:extLst>
              <a:ext uri="{FF2B5EF4-FFF2-40B4-BE49-F238E27FC236}">
                <a16:creationId xmlns:a16="http://schemas.microsoft.com/office/drawing/2014/main" id="{D934B86E-2DAA-018E-5E73-5ADEFC0FE4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C9C9EAA-C067-3C7A-2291-F370065E0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– </a:t>
            </a:r>
            <a:r>
              <a:rPr lang="en-US" altLang="en-US" i="1"/>
              <a:t>Virtual Machine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B4DD219-B4B3-4948-3543-B33A2A95C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368425"/>
            <a:ext cx="6872287" cy="45704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A virtual machine provides interface </a:t>
            </a:r>
            <a:r>
              <a:rPr lang="en-US" altLang="en-US" sz="2800" i="1"/>
              <a:t>identical</a:t>
            </a:r>
            <a:r>
              <a:rPr lang="en-US" altLang="en-US" sz="2800"/>
              <a:t> to underlying bare hardware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I.e., all devices, interrupts, memory, page tables, etc.</a:t>
            </a:r>
          </a:p>
          <a:p>
            <a:pPr>
              <a:lnSpc>
                <a:spcPct val="90000"/>
              </a:lnSpc>
            </a:pPr>
            <a:endParaRPr lang="en-US" altLang="en-US" sz="2800"/>
          </a:p>
          <a:p>
            <a:pPr>
              <a:lnSpc>
                <a:spcPct val="90000"/>
              </a:lnSpc>
            </a:pPr>
            <a:r>
              <a:rPr lang="en-US" altLang="en-US" sz="2800"/>
              <a:t>Virtual Machine Operating System creates illusion of multiple processors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Each capable of executing independently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No sharing, except via network protocols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F50BA14A-8B2E-DDC6-6F26-2EEB52A26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Virtual Machines (Cont)</a:t>
            </a: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64EC2455-EEAA-F682-2A15-CEFF4B326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277938"/>
            <a:ext cx="7351712" cy="4830762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Helvetica" panose="020B0604020202020204" pitchFamily="34" charset="0"/>
              </a:rPr>
              <a:t>                             (a) Nonvirtual machine (b) virtual machine</a:t>
            </a:r>
          </a:p>
        </p:txBody>
      </p:sp>
      <p:sp>
        <p:nvSpPr>
          <p:cNvPr id="50180" name="Text Box 3">
            <a:extLst>
              <a:ext uri="{FF2B5EF4-FFF2-40B4-BE49-F238E27FC236}">
                <a16:creationId xmlns:a16="http://schemas.microsoft.com/office/drawing/2014/main" id="{E42D77B8-872F-B76A-430C-740B2A930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4573588"/>
            <a:ext cx="2216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Non-virtual Machine</a:t>
            </a:r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id="{663ECAB0-8C3D-D1AA-D7AB-0D790809C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4600575"/>
            <a:ext cx="175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Virtual Machine</a:t>
            </a:r>
          </a:p>
        </p:txBody>
      </p:sp>
      <p:pic>
        <p:nvPicPr>
          <p:cNvPr id="50182" name="Picture 6">
            <a:extLst>
              <a:ext uri="{FF2B5EF4-FFF2-40B4-BE49-F238E27FC236}">
                <a16:creationId xmlns:a16="http://schemas.microsoft.com/office/drawing/2014/main" id="{414F6C36-F061-1BC8-4C3A-4C52DB863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" t="5991" r="1344" b="6357"/>
          <a:stretch>
            <a:fillRect/>
          </a:stretch>
        </p:blipFill>
        <p:spPr bwMode="auto">
          <a:xfrm>
            <a:off x="1506538" y="1362075"/>
            <a:ext cx="6026150" cy="4070350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3" name="Line 8">
            <a:extLst>
              <a:ext uri="{FF2B5EF4-FFF2-40B4-BE49-F238E27FC236}">
                <a16:creationId xmlns:a16="http://schemas.microsoft.com/office/drawing/2014/main" id="{5715EE9F-74D2-1F4F-1D98-870C53E68F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95425" y="1365250"/>
            <a:ext cx="1493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184" name="Line 9">
            <a:extLst>
              <a:ext uri="{FF2B5EF4-FFF2-40B4-BE49-F238E27FC236}">
                <a16:creationId xmlns:a16="http://schemas.microsoft.com/office/drawing/2014/main" id="{F446BEF4-679E-72D0-A22C-961DFF1402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95425" y="1392238"/>
            <a:ext cx="0" cy="3716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185" name="Line 12">
            <a:extLst>
              <a:ext uri="{FF2B5EF4-FFF2-40B4-BE49-F238E27FC236}">
                <a16:creationId xmlns:a16="http://schemas.microsoft.com/office/drawing/2014/main" id="{C60A7E78-A640-611D-9945-7DDC6ACA5C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6788" y="1374775"/>
            <a:ext cx="2741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186" name="Line 13">
            <a:extLst>
              <a:ext uri="{FF2B5EF4-FFF2-40B4-BE49-F238E27FC236}">
                <a16:creationId xmlns:a16="http://schemas.microsoft.com/office/drawing/2014/main" id="{C71DBFB1-C2EE-F951-B51E-D405F79FAC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6975" y="1377950"/>
            <a:ext cx="0" cy="3744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5" name="Rectangle 3">
            <a:extLst>
              <a:ext uri="{FF2B5EF4-FFF2-40B4-BE49-F238E27FC236}">
                <a16:creationId xmlns:a16="http://schemas.microsoft.com/office/drawing/2014/main" id="{6902EA71-0E35-4FCA-1162-E880C7D9C3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Compiled Java programs are platform-neutral byte-codes executed by a Java Virtual Machine (JVM)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JVM consists of</a:t>
            </a:r>
          </a:p>
          <a:p>
            <a:pPr lvl="1">
              <a:defRPr/>
            </a:pPr>
            <a:r>
              <a:rPr lang="en-US" dirty="0"/>
              <a:t>Class loader</a:t>
            </a:r>
          </a:p>
          <a:p>
            <a:pPr lvl="1">
              <a:defRPr/>
            </a:pPr>
            <a:r>
              <a:rPr lang="en-US" dirty="0"/>
              <a:t>Class verifier</a:t>
            </a:r>
          </a:p>
          <a:p>
            <a:pPr lvl="1">
              <a:defRPr/>
            </a:pPr>
            <a:r>
              <a:rPr lang="en-US" dirty="0"/>
              <a:t>Runtime interpreter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Just-In-Time (JIT) compilers increase performance</a:t>
            </a:r>
          </a:p>
        </p:txBody>
      </p:sp>
      <p:sp>
        <p:nvSpPr>
          <p:cNvPr id="52227" name="Date Placeholder 3">
            <a:extLst>
              <a:ext uri="{FF2B5EF4-FFF2-40B4-BE49-F238E27FC236}">
                <a16:creationId xmlns:a16="http://schemas.microsoft.com/office/drawing/2014/main" id="{2C71EF2B-5999-ED7B-B8D7-3C90D7C994D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228" name="Footer Placeholder 4">
            <a:extLst>
              <a:ext uri="{FF2B5EF4-FFF2-40B4-BE49-F238E27FC236}">
                <a16:creationId xmlns:a16="http://schemas.microsoft.com/office/drawing/2014/main" id="{2EA68933-1F6B-3C88-2696-5BCDC7C41C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229" name="Rectangle 2">
            <a:extLst>
              <a:ext uri="{FF2B5EF4-FFF2-40B4-BE49-F238E27FC236}">
                <a16:creationId xmlns:a16="http://schemas.microsoft.com/office/drawing/2014/main" id="{FA1EA7EA-1AF6-B6C9-48C2-B8E27B9AD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Virtual Machine</a:t>
            </a:r>
          </a:p>
        </p:txBody>
      </p:sp>
      <p:sp>
        <p:nvSpPr>
          <p:cNvPr id="52230" name="Slide Number Placeholder 1">
            <a:extLst>
              <a:ext uri="{FF2B5EF4-FFF2-40B4-BE49-F238E27FC236}">
                <a16:creationId xmlns:a16="http://schemas.microsoft.com/office/drawing/2014/main" id="{8947E261-3F8E-E496-A0F3-FD0430CE2D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E8A2DE-0066-4331-AB8F-966E2ECBC912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533376D-D308-8F59-E18F-9BC96312D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Java Virtual Machine</a:t>
            </a:r>
          </a:p>
        </p:txBody>
      </p:sp>
      <p:sp>
        <p:nvSpPr>
          <p:cNvPr id="53251" name="Date Placeholder 2">
            <a:extLst>
              <a:ext uri="{FF2B5EF4-FFF2-40B4-BE49-F238E27FC236}">
                <a16:creationId xmlns:a16="http://schemas.microsoft.com/office/drawing/2014/main" id="{22AE36CC-45FA-0F8F-FE53-89FB745390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52" name="Footer Placeholder 3">
            <a:extLst>
              <a:ext uri="{FF2B5EF4-FFF2-40B4-BE49-F238E27FC236}">
                <a16:creationId xmlns:a16="http://schemas.microsoft.com/office/drawing/2014/main" id="{A16AD552-EA0F-6B44-2DC8-FA178625EC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53253" name="Picture 3">
            <a:extLst>
              <a:ext uri="{FF2B5EF4-FFF2-40B4-BE49-F238E27FC236}">
                <a16:creationId xmlns:a16="http://schemas.microsoft.com/office/drawing/2014/main" id="{5EF3A734-20A6-D50A-D2F0-BBBD7F86F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" t="24522" r="543" b="24490"/>
          <a:stretch>
            <a:fillRect/>
          </a:stretch>
        </p:blipFill>
        <p:spPr bwMode="auto">
          <a:xfrm>
            <a:off x="1020763" y="1954213"/>
            <a:ext cx="7240587" cy="29860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254" name="Slide Number Placeholder 1">
            <a:extLst>
              <a:ext uri="{FF2B5EF4-FFF2-40B4-BE49-F238E27FC236}">
                <a16:creationId xmlns:a16="http://schemas.microsoft.com/office/drawing/2014/main" id="{A5740CDF-52A2-E356-0A20-8EBED10F4B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D1FB8B-EE2B-43CD-8C62-1ABF06424ECE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0DF3A2F-2021-2A4C-B13A-B84FD1493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Java Platform</a:t>
            </a:r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6207E0B5-AE09-3DB5-7AC4-09CED146B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" t="28392" r="633" b="28555"/>
          <a:stretch>
            <a:fillRect/>
          </a:stretch>
        </p:blipFill>
        <p:spPr bwMode="auto">
          <a:xfrm>
            <a:off x="1133475" y="2195513"/>
            <a:ext cx="7186613" cy="25034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93EA5A2-8229-B523-EF98-4DD8E569B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.class File on Cross Platforms</a:t>
            </a:r>
          </a:p>
        </p:txBody>
      </p:sp>
      <p:pic>
        <p:nvPicPr>
          <p:cNvPr id="55299" name="Picture 3">
            <a:extLst>
              <a:ext uri="{FF2B5EF4-FFF2-40B4-BE49-F238E27FC236}">
                <a16:creationId xmlns:a16="http://schemas.microsoft.com/office/drawing/2014/main" id="{15B7E264-E81C-C42F-ED9C-16328067A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" t="25970" r="595" b="25677"/>
          <a:stretch>
            <a:fillRect/>
          </a:stretch>
        </p:blipFill>
        <p:spPr bwMode="auto">
          <a:xfrm>
            <a:off x="887413" y="1882775"/>
            <a:ext cx="7366000" cy="28876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A4649ED-1006-609A-2721-80F735E2D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Development Environment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CFFEFBBE-0076-ECBB-BA6A-340CBE973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0" t="760" r="8717" b="562"/>
          <a:stretch>
            <a:fillRect/>
          </a:stretch>
        </p:blipFill>
        <p:spPr bwMode="auto">
          <a:xfrm>
            <a:off x="2051050" y="1276350"/>
            <a:ext cx="4951413" cy="474503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6713" y="1682750"/>
            <a:ext cx="4032250" cy="4489450"/>
          </a:xfrm>
          <a:custGeom>
            <a:avLst/>
            <a:gdLst/>
            <a:ahLst/>
            <a:cxnLst/>
            <a:rect l="l" t="t" r="r" b="b"/>
            <a:pathLst>
              <a:path w="4032250" h="4489450">
                <a:moveTo>
                  <a:pt x="0" y="156251"/>
                </a:moveTo>
                <a:lnTo>
                  <a:pt x="7965" y="106864"/>
                </a:lnTo>
                <a:lnTo>
                  <a:pt x="30147" y="63971"/>
                </a:lnTo>
                <a:lnTo>
                  <a:pt x="63971" y="30147"/>
                </a:lnTo>
                <a:lnTo>
                  <a:pt x="106864" y="7965"/>
                </a:lnTo>
                <a:lnTo>
                  <a:pt x="156252" y="0"/>
                </a:lnTo>
                <a:lnTo>
                  <a:pt x="3875998" y="0"/>
                </a:lnTo>
                <a:lnTo>
                  <a:pt x="3925385" y="7965"/>
                </a:lnTo>
                <a:lnTo>
                  <a:pt x="3968278" y="30147"/>
                </a:lnTo>
                <a:lnTo>
                  <a:pt x="4002102" y="63971"/>
                </a:lnTo>
                <a:lnTo>
                  <a:pt x="4024284" y="106864"/>
                </a:lnTo>
                <a:lnTo>
                  <a:pt x="4032250" y="156251"/>
                </a:lnTo>
                <a:lnTo>
                  <a:pt x="4032250" y="4333198"/>
                </a:lnTo>
                <a:lnTo>
                  <a:pt x="4024284" y="4382585"/>
                </a:lnTo>
                <a:lnTo>
                  <a:pt x="4002102" y="4425478"/>
                </a:lnTo>
                <a:lnTo>
                  <a:pt x="3968278" y="4459302"/>
                </a:lnTo>
                <a:lnTo>
                  <a:pt x="3925385" y="4481484"/>
                </a:lnTo>
                <a:lnTo>
                  <a:pt x="3875998" y="4489450"/>
                </a:lnTo>
                <a:lnTo>
                  <a:pt x="156252" y="4489450"/>
                </a:lnTo>
                <a:lnTo>
                  <a:pt x="106864" y="4481484"/>
                </a:lnTo>
                <a:lnTo>
                  <a:pt x="63971" y="4459302"/>
                </a:lnTo>
                <a:lnTo>
                  <a:pt x="30147" y="4425478"/>
                </a:lnTo>
                <a:lnTo>
                  <a:pt x="7965" y="4382585"/>
                </a:lnTo>
                <a:lnTo>
                  <a:pt x="0" y="4333198"/>
                </a:lnTo>
                <a:lnTo>
                  <a:pt x="0" y="156251"/>
                </a:lnTo>
                <a:close/>
              </a:path>
            </a:pathLst>
          </a:custGeom>
          <a:ln w="190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791971"/>
            <a:ext cx="3914775" cy="1240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Server</a:t>
            </a:r>
            <a:r>
              <a:rPr sz="3600" b="1" spc="-3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Virtualization</a:t>
            </a:r>
            <a:endParaRPr sz="36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2845"/>
              </a:spcBef>
            </a:pPr>
            <a:r>
              <a:rPr sz="2000" b="1" dirty="0">
                <a:latin typeface="Arial"/>
                <a:cs typeface="Arial"/>
              </a:rPr>
              <a:t>Before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Server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Virtualization: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3401" y="2195512"/>
            <a:ext cx="3698875" cy="1797050"/>
            <a:chOff x="533401" y="2195512"/>
            <a:chExt cx="3698875" cy="1797050"/>
          </a:xfrm>
        </p:grpSpPr>
        <p:sp>
          <p:nvSpPr>
            <p:cNvPr id="6" name="object 6"/>
            <p:cNvSpPr/>
            <p:nvPr/>
          </p:nvSpPr>
          <p:spPr>
            <a:xfrm>
              <a:off x="539751" y="2201862"/>
              <a:ext cx="3686175" cy="1784350"/>
            </a:xfrm>
            <a:custGeom>
              <a:avLst/>
              <a:gdLst/>
              <a:ahLst/>
              <a:cxnLst/>
              <a:rect l="l" t="t" r="r" b="b"/>
              <a:pathLst>
                <a:path w="3686175" h="1784350">
                  <a:moveTo>
                    <a:pt x="3597954" y="0"/>
                  </a:moveTo>
                  <a:lnTo>
                    <a:pt x="88219" y="0"/>
                  </a:lnTo>
                  <a:lnTo>
                    <a:pt x="53880" y="6932"/>
                  </a:lnTo>
                  <a:lnTo>
                    <a:pt x="25839" y="25839"/>
                  </a:lnTo>
                  <a:lnTo>
                    <a:pt x="6932" y="53881"/>
                  </a:lnTo>
                  <a:lnTo>
                    <a:pt x="0" y="88220"/>
                  </a:lnTo>
                  <a:lnTo>
                    <a:pt x="0" y="1696130"/>
                  </a:lnTo>
                  <a:lnTo>
                    <a:pt x="6932" y="1730469"/>
                  </a:lnTo>
                  <a:lnTo>
                    <a:pt x="25839" y="1758511"/>
                  </a:lnTo>
                  <a:lnTo>
                    <a:pt x="53880" y="1777417"/>
                  </a:lnTo>
                  <a:lnTo>
                    <a:pt x="88219" y="1784350"/>
                  </a:lnTo>
                  <a:lnTo>
                    <a:pt x="3597954" y="1784350"/>
                  </a:lnTo>
                  <a:lnTo>
                    <a:pt x="3632293" y="1777417"/>
                  </a:lnTo>
                  <a:lnTo>
                    <a:pt x="3660335" y="1758511"/>
                  </a:lnTo>
                  <a:lnTo>
                    <a:pt x="3679242" y="1730469"/>
                  </a:lnTo>
                  <a:lnTo>
                    <a:pt x="3686175" y="1696130"/>
                  </a:lnTo>
                  <a:lnTo>
                    <a:pt x="3686175" y="88220"/>
                  </a:lnTo>
                  <a:lnTo>
                    <a:pt x="3679242" y="53881"/>
                  </a:lnTo>
                  <a:lnTo>
                    <a:pt x="3660335" y="25839"/>
                  </a:lnTo>
                  <a:lnTo>
                    <a:pt x="3632293" y="6932"/>
                  </a:lnTo>
                  <a:lnTo>
                    <a:pt x="359795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751" y="2201862"/>
              <a:ext cx="3686175" cy="1784350"/>
            </a:xfrm>
            <a:custGeom>
              <a:avLst/>
              <a:gdLst/>
              <a:ahLst/>
              <a:cxnLst/>
              <a:rect l="l" t="t" r="r" b="b"/>
              <a:pathLst>
                <a:path w="3686175" h="1784350">
                  <a:moveTo>
                    <a:pt x="0" y="88219"/>
                  </a:moveTo>
                  <a:lnTo>
                    <a:pt x="6932" y="53880"/>
                  </a:lnTo>
                  <a:lnTo>
                    <a:pt x="25839" y="25839"/>
                  </a:lnTo>
                  <a:lnTo>
                    <a:pt x="53880" y="6932"/>
                  </a:lnTo>
                  <a:lnTo>
                    <a:pt x="88219" y="0"/>
                  </a:lnTo>
                  <a:lnTo>
                    <a:pt x="3597955" y="0"/>
                  </a:lnTo>
                  <a:lnTo>
                    <a:pt x="3632294" y="6932"/>
                  </a:lnTo>
                  <a:lnTo>
                    <a:pt x="3660336" y="25839"/>
                  </a:lnTo>
                  <a:lnTo>
                    <a:pt x="3679242" y="53880"/>
                  </a:lnTo>
                  <a:lnTo>
                    <a:pt x="3686175" y="88219"/>
                  </a:lnTo>
                  <a:lnTo>
                    <a:pt x="3686175" y="1696130"/>
                  </a:lnTo>
                  <a:lnTo>
                    <a:pt x="3679242" y="1730469"/>
                  </a:lnTo>
                  <a:lnTo>
                    <a:pt x="3660336" y="1758511"/>
                  </a:lnTo>
                  <a:lnTo>
                    <a:pt x="3632294" y="1777417"/>
                  </a:lnTo>
                  <a:lnTo>
                    <a:pt x="3597955" y="1784350"/>
                  </a:lnTo>
                  <a:lnTo>
                    <a:pt x="88219" y="1784350"/>
                  </a:lnTo>
                  <a:lnTo>
                    <a:pt x="53880" y="1777417"/>
                  </a:lnTo>
                  <a:lnTo>
                    <a:pt x="25839" y="1758511"/>
                  </a:lnTo>
                  <a:lnTo>
                    <a:pt x="6932" y="1730469"/>
                  </a:lnTo>
                  <a:lnTo>
                    <a:pt x="0" y="1696130"/>
                  </a:lnTo>
                  <a:lnTo>
                    <a:pt x="0" y="88219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4051" y="2316162"/>
              <a:ext cx="3457575" cy="1555750"/>
            </a:xfrm>
            <a:custGeom>
              <a:avLst/>
              <a:gdLst/>
              <a:ahLst/>
              <a:cxnLst/>
              <a:rect l="l" t="t" r="r" b="b"/>
              <a:pathLst>
                <a:path w="3457575" h="1555750">
                  <a:moveTo>
                    <a:pt x="3375975" y="0"/>
                  </a:moveTo>
                  <a:lnTo>
                    <a:pt x="81599" y="0"/>
                  </a:lnTo>
                  <a:lnTo>
                    <a:pt x="49837" y="6412"/>
                  </a:lnTo>
                  <a:lnTo>
                    <a:pt x="23899" y="23900"/>
                  </a:lnTo>
                  <a:lnTo>
                    <a:pt x="6412" y="49837"/>
                  </a:lnTo>
                  <a:lnTo>
                    <a:pt x="0" y="81600"/>
                  </a:lnTo>
                  <a:lnTo>
                    <a:pt x="0" y="1474151"/>
                  </a:lnTo>
                  <a:lnTo>
                    <a:pt x="6412" y="1505913"/>
                  </a:lnTo>
                  <a:lnTo>
                    <a:pt x="23899" y="1531850"/>
                  </a:lnTo>
                  <a:lnTo>
                    <a:pt x="49837" y="1549337"/>
                  </a:lnTo>
                  <a:lnTo>
                    <a:pt x="81599" y="1555750"/>
                  </a:lnTo>
                  <a:lnTo>
                    <a:pt x="3375975" y="1555750"/>
                  </a:lnTo>
                  <a:lnTo>
                    <a:pt x="3407737" y="1549337"/>
                  </a:lnTo>
                  <a:lnTo>
                    <a:pt x="3433674" y="1531850"/>
                  </a:lnTo>
                  <a:lnTo>
                    <a:pt x="3451162" y="1505913"/>
                  </a:lnTo>
                  <a:lnTo>
                    <a:pt x="3457575" y="1474151"/>
                  </a:lnTo>
                  <a:lnTo>
                    <a:pt x="3457575" y="81600"/>
                  </a:lnTo>
                  <a:lnTo>
                    <a:pt x="3451162" y="49837"/>
                  </a:lnTo>
                  <a:lnTo>
                    <a:pt x="3433674" y="23900"/>
                  </a:lnTo>
                  <a:lnTo>
                    <a:pt x="3407737" y="6412"/>
                  </a:lnTo>
                  <a:lnTo>
                    <a:pt x="3375975" y="0"/>
                  </a:lnTo>
                  <a:close/>
                </a:path>
              </a:pathLst>
            </a:custGeom>
            <a:solidFill>
              <a:srgbClr val="92A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4051" y="2316162"/>
              <a:ext cx="3457575" cy="1555750"/>
            </a:xfrm>
            <a:custGeom>
              <a:avLst/>
              <a:gdLst/>
              <a:ahLst/>
              <a:cxnLst/>
              <a:rect l="l" t="t" r="r" b="b"/>
              <a:pathLst>
                <a:path w="3457575" h="1555750">
                  <a:moveTo>
                    <a:pt x="0" y="81599"/>
                  </a:moveTo>
                  <a:lnTo>
                    <a:pt x="6412" y="49837"/>
                  </a:lnTo>
                  <a:lnTo>
                    <a:pt x="23899" y="23899"/>
                  </a:lnTo>
                  <a:lnTo>
                    <a:pt x="49837" y="6412"/>
                  </a:lnTo>
                  <a:lnTo>
                    <a:pt x="81599" y="0"/>
                  </a:lnTo>
                  <a:lnTo>
                    <a:pt x="3375976" y="0"/>
                  </a:lnTo>
                  <a:lnTo>
                    <a:pt x="3407738" y="6412"/>
                  </a:lnTo>
                  <a:lnTo>
                    <a:pt x="3433675" y="23899"/>
                  </a:lnTo>
                  <a:lnTo>
                    <a:pt x="3451162" y="49837"/>
                  </a:lnTo>
                  <a:lnTo>
                    <a:pt x="3457575" y="81599"/>
                  </a:lnTo>
                  <a:lnTo>
                    <a:pt x="3457575" y="1474151"/>
                  </a:lnTo>
                  <a:lnTo>
                    <a:pt x="3451162" y="1505913"/>
                  </a:lnTo>
                  <a:lnTo>
                    <a:pt x="3433675" y="1531850"/>
                  </a:lnTo>
                  <a:lnTo>
                    <a:pt x="3407738" y="1549337"/>
                  </a:lnTo>
                  <a:lnTo>
                    <a:pt x="3375976" y="1555750"/>
                  </a:lnTo>
                  <a:lnTo>
                    <a:pt x="81599" y="1555750"/>
                  </a:lnTo>
                  <a:lnTo>
                    <a:pt x="49837" y="1549337"/>
                  </a:lnTo>
                  <a:lnTo>
                    <a:pt x="23899" y="1531850"/>
                  </a:lnTo>
                  <a:lnTo>
                    <a:pt x="6412" y="1505913"/>
                  </a:lnTo>
                  <a:lnTo>
                    <a:pt x="0" y="1474151"/>
                  </a:lnTo>
                  <a:lnTo>
                    <a:pt x="0" y="8159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9938" y="2489200"/>
              <a:ext cx="3225800" cy="922655"/>
            </a:xfrm>
            <a:custGeom>
              <a:avLst/>
              <a:gdLst/>
              <a:ahLst/>
              <a:cxnLst/>
              <a:rect l="l" t="t" r="r" b="b"/>
              <a:pathLst>
                <a:path w="3225800" h="922654">
                  <a:moveTo>
                    <a:pt x="3144706" y="0"/>
                  </a:moveTo>
                  <a:lnTo>
                    <a:pt x="81092" y="0"/>
                  </a:lnTo>
                  <a:lnTo>
                    <a:pt x="49527" y="6372"/>
                  </a:lnTo>
                  <a:lnTo>
                    <a:pt x="23751" y="23751"/>
                  </a:lnTo>
                  <a:lnTo>
                    <a:pt x="6372" y="49528"/>
                  </a:lnTo>
                  <a:lnTo>
                    <a:pt x="0" y="81093"/>
                  </a:lnTo>
                  <a:lnTo>
                    <a:pt x="0" y="841245"/>
                  </a:lnTo>
                  <a:lnTo>
                    <a:pt x="6372" y="872809"/>
                  </a:lnTo>
                  <a:lnTo>
                    <a:pt x="23751" y="898585"/>
                  </a:lnTo>
                  <a:lnTo>
                    <a:pt x="49527" y="915964"/>
                  </a:lnTo>
                  <a:lnTo>
                    <a:pt x="81092" y="922337"/>
                  </a:lnTo>
                  <a:lnTo>
                    <a:pt x="3144706" y="922337"/>
                  </a:lnTo>
                  <a:lnTo>
                    <a:pt x="3176271" y="915964"/>
                  </a:lnTo>
                  <a:lnTo>
                    <a:pt x="3202047" y="898585"/>
                  </a:lnTo>
                  <a:lnTo>
                    <a:pt x="3219426" y="872809"/>
                  </a:lnTo>
                  <a:lnTo>
                    <a:pt x="3225799" y="841245"/>
                  </a:lnTo>
                  <a:lnTo>
                    <a:pt x="3225799" y="81093"/>
                  </a:lnTo>
                  <a:lnTo>
                    <a:pt x="3219426" y="49528"/>
                  </a:lnTo>
                  <a:lnTo>
                    <a:pt x="3202047" y="23751"/>
                  </a:lnTo>
                  <a:lnTo>
                    <a:pt x="3176271" y="6372"/>
                  </a:lnTo>
                  <a:lnTo>
                    <a:pt x="314470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9938" y="2489200"/>
              <a:ext cx="3225800" cy="922655"/>
            </a:xfrm>
            <a:custGeom>
              <a:avLst/>
              <a:gdLst/>
              <a:ahLst/>
              <a:cxnLst/>
              <a:rect l="l" t="t" r="r" b="b"/>
              <a:pathLst>
                <a:path w="3225800" h="922654">
                  <a:moveTo>
                    <a:pt x="0" y="81093"/>
                  </a:moveTo>
                  <a:lnTo>
                    <a:pt x="6372" y="49527"/>
                  </a:lnTo>
                  <a:lnTo>
                    <a:pt x="23751" y="23751"/>
                  </a:lnTo>
                  <a:lnTo>
                    <a:pt x="49527" y="6372"/>
                  </a:lnTo>
                  <a:lnTo>
                    <a:pt x="81093" y="0"/>
                  </a:lnTo>
                  <a:lnTo>
                    <a:pt x="3144707" y="0"/>
                  </a:lnTo>
                  <a:lnTo>
                    <a:pt x="3176271" y="6372"/>
                  </a:lnTo>
                  <a:lnTo>
                    <a:pt x="3202048" y="23751"/>
                  </a:lnTo>
                  <a:lnTo>
                    <a:pt x="3219427" y="49527"/>
                  </a:lnTo>
                  <a:lnTo>
                    <a:pt x="3225800" y="81093"/>
                  </a:lnTo>
                  <a:lnTo>
                    <a:pt x="3225800" y="841244"/>
                  </a:lnTo>
                  <a:lnTo>
                    <a:pt x="3219427" y="872810"/>
                  </a:lnTo>
                  <a:lnTo>
                    <a:pt x="3202048" y="898586"/>
                  </a:lnTo>
                  <a:lnTo>
                    <a:pt x="3176271" y="915965"/>
                  </a:lnTo>
                  <a:lnTo>
                    <a:pt x="3144707" y="922338"/>
                  </a:lnTo>
                  <a:lnTo>
                    <a:pt x="81093" y="922338"/>
                  </a:lnTo>
                  <a:lnTo>
                    <a:pt x="49527" y="915965"/>
                  </a:lnTo>
                  <a:lnTo>
                    <a:pt x="23751" y="898586"/>
                  </a:lnTo>
                  <a:lnTo>
                    <a:pt x="6372" y="872810"/>
                  </a:lnTo>
                  <a:lnTo>
                    <a:pt x="0" y="841244"/>
                  </a:lnTo>
                  <a:lnTo>
                    <a:pt x="0" y="8109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5251" y="2772155"/>
            <a:ext cx="1956435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051" y="4109211"/>
            <a:ext cx="3674110" cy="12966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7325" marR="351790" indent="-174625">
              <a:lnSpc>
                <a:spcPts val="1580"/>
              </a:lnSpc>
              <a:spcBef>
                <a:spcPts val="434"/>
              </a:spcBef>
              <a:buClr>
                <a:srgbClr val="333399"/>
              </a:buClr>
              <a:buFont typeface="Wingdings"/>
              <a:buChar char=""/>
              <a:tabLst>
                <a:tab pos="187325" algn="l"/>
              </a:tabLst>
            </a:pPr>
            <a:r>
              <a:rPr sz="1600" dirty="0">
                <a:latin typeface="Arial MT"/>
                <a:cs typeface="Arial MT"/>
              </a:rPr>
              <a:t>Single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operating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per </a:t>
            </a:r>
            <a:r>
              <a:rPr sz="1600" spc="-10" dirty="0">
                <a:latin typeface="Arial MT"/>
                <a:cs typeface="Arial MT"/>
              </a:rPr>
              <a:t>machine</a:t>
            </a:r>
            <a:endParaRPr sz="1600">
              <a:latin typeface="Arial MT"/>
              <a:cs typeface="Arial MT"/>
            </a:endParaRPr>
          </a:p>
          <a:p>
            <a:pPr marL="186690" indent="-173990">
              <a:lnSpc>
                <a:spcPts val="1510"/>
              </a:lnSpc>
              <a:buClr>
                <a:srgbClr val="333399"/>
              </a:buClr>
              <a:buFont typeface="Wingdings"/>
              <a:buChar char=""/>
              <a:tabLst>
                <a:tab pos="186690" algn="l"/>
              </a:tabLst>
            </a:pPr>
            <a:r>
              <a:rPr sz="1600" dirty="0">
                <a:latin typeface="Arial MT"/>
                <a:cs typeface="Arial MT"/>
              </a:rPr>
              <a:t>Software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hardware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tightly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coupled</a:t>
            </a:r>
            <a:endParaRPr sz="1600">
              <a:latin typeface="Arial MT"/>
              <a:cs typeface="Arial MT"/>
            </a:endParaRPr>
          </a:p>
          <a:p>
            <a:pPr marL="187325" marR="5080" indent="-174625">
              <a:lnSpc>
                <a:spcPts val="1610"/>
              </a:lnSpc>
              <a:spcBef>
                <a:spcPts val="204"/>
              </a:spcBef>
              <a:buClr>
                <a:srgbClr val="333399"/>
              </a:buClr>
              <a:buFont typeface="Wingdings"/>
              <a:buChar char=""/>
              <a:tabLst>
                <a:tab pos="187325" algn="l"/>
              </a:tabLst>
            </a:pP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multiple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same </a:t>
            </a:r>
            <a:r>
              <a:rPr sz="1600" dirty="0">
                <a:latin typeface="Arial MT"/>
                <a:cs typeface="Arial MT"/>
              </a:rPr>
              <a:t>machine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often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creates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conflict</a:t>
            </a:r>
            <a:endParaRPr sz="1600">
              <a:latin typeface="Arial MT"/>
              <a:cs typeface="Arial MT"/>
            </a:endParaRPr>
          </a:p>
          <a:p>
            <a:pPr marL="186690" indent="-173990">
              <a:lnSpc>
                <a:spcPts val="1580"/>
              </a:lnSpc>
              <a:buClr>
                <a:srgbClr val="333399"/>
              </a:buClr>
              <a:buFont typeface="Wingdings"/>
              <a:buChar char=""/>
              <a:tabLst>
                <a:tab pos="186690" algn="l"/>
              </a:tabLst>
            </a:pPr>
            <a:r>
              <a:rPr sz="1600" dirty="0">
                <a:latin typeface="Arial MT"/>
                <a:cs typeface="Arial MT"/>
              </a:rPr>
              <a:t>Underutilized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resources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35512" y="1690687"/>
            <a:ext cx="4051300" cy="4491355"/>
            <a:chOff x="4735512" y="1690687"/>
            <a:chExt cx="4051300" cy="4491355"/>
          </a:xfrm>
        </p:grpSpPr>
        <p:sp>
          <p:nvSpPr>
            <p:cNvPr id="15" name="object 15"/>
            <p:cNvSpPr/>
            <p:nvPr/>
          </p:nvSpPr>
          <p:spPr>
            <a:xfrm>
              <a:off x="4745037" y="1700212"/>
              <a:ext cx="4032250" cy="4472305"/>
            </a:xfrm>
            <a:custGeom>
              <a:avLst/>
              <a:gdLst/>
              <a:ahLst/>
              <a:cxnLst/>
              <a:rect l="l" t="t" r="r" b="b"/>
              <a:pathLst>
                <a:path w="4032250" h="4472305">
                  <a:moveTo>
                    <a:pt x="3875999" y="0"/>
                  </a:moveTo>
                  <a:lnTo>
                    <a:pt x="156250" y="0"/>
                  </a:lnTo>
                  <a:lnTo>
                    <a:pt x="106863" y="7965"/>
                  </a:lnTo>
                  <a:lnTo>
                    <a:pt x="63971" y="30147"/>
                  </a:lnTo>
                  <a:lnTo>
                    <a:pt x="30147" y="63971"/>
                  </a:lnTo>
                  <a:lnTo>
                    <a:pt x="7965" y="106863"/>
                  </a:lnTo>
                  <a:lnTo>
                    <a:pt x="0" y="156250"/>
                  </a:lnTo>
                  <a:lnTo>
                    <a:pt x="0" y="4315736"/>
                  </a:lnTo>
                  <a:lnTo>
                    <a:pt x="7965" y="4365124"/>
                  </a:lnTo>
                  <a:lnTo>
                    <a:pt x="30147" y="4408016"/>
                  </a:lnTo>
                  <a:lnTo>
                    <a:pt x="63971" y="4441840"/>
                  </a:lnTo>
                  <a:lnTo>
                    <a:pt x="106863" y="4464021"/>
                  </a:lnTo>
                  <a:lnTo>
                    <a:pt x="156250" y="4471987"/>
                  </a:lnTo>
                  <a:lnTo>
                    <a:pt x="3875999" y="4471987"/>
                  </a:lnTo>
                  <a:lnTo>
                    <a:pt x="3925386" y="4464021"/>
                  </a:lnTo>
                  <a:lnTo>
                    <a:pt x="3968279" y="4441840"/>
                  </a:lnTo>
                  <a:lnTo>
                    <a:pt x="4002102" y="4408016"/>
                  </a:lnTo>
                  <a:lnTo>
                    <a:pt x="4024284" y="4365124"/>
                  </a:lnTo>
                  <a:lnTo>
                    <a:pt x="4032250" y="4315736"/>
                  </a:lnTo>
                  <a:lnTo>
                    <a:pt x="4032250" y="156250"/>
                  </a:lnTo>
                  <a:lnTo>
                    <a:pt x="4024284" y="106863"/>
                  </a:lnTo>
                  <a:lnTo>
                    <a:pt x="4002102" y="63971"/>
                  </a:lnTo>
                  <a:lnTo>
                    <a:pt x="3968279" y="30147"/>
                  </a:lnTo>
                  <a:lnTo>
                    <a:pt x="3925386" y="7965"/>
                  </a:lnTo>
                  <a:lnTo>
                    <a:pt x="3875999" y="0"/>
                  </a:lnTo>
                  <a:close/>
                </a:path>
              </a:pathLst>
            </a:custGeom>
            <a:solidFill>
              <a:srgbClr val="EDE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45037" y="1700212"/>
              <a:ext cx="4032250" cy="4472305"/>
            </a:xfrm>
            <a:custGeom>
              <a:avLst/>
              <a:gdLst/>
              <a:ahLst/>
              <a:cxnLst/>
              <a:rect l="l" t="t" r="r" b="b"/>
              <a:pathLst>
                <a:path w="4032250" h="4472305">
                  <a:moveTo>
                    <a:pt x="0" y="156250"/>
                  </a:moveTo>
                  <a:lnTo>
                    <a:pt x="7965" y="106863"/>
                  </a:lnTo>
                  <a:lnTo>
                    <a:pt x="30147" y="63971"/>
                  </a:lnTo>
                  <a:lnTo>
                    <a:pt x="63971" y="30147"/>
                  </a:lnTo>
                  <a:lnTo>
                    <a:pt x="106863" y="7965"/>
                  </a:lnTo>
                  <a:lnTo>
                    <a:pt x="156250" y="0"/>
                  </a:lnTo>
                  <a:lnTo>
                    <a:pt x="3875999" y="0"/>
                  </a:lnTo>
                  <a:lnTo>
                    <a:pt x="3925386" y="7965"/>
                  </a:lnTo>
                  <a:lnTo>
                    <a:pt x="3968278" y="30147"/>
                  </a:lnTo>
                  <a:lnTo>
                    <a:pt x="4002102" y="63971"/>
                  </a:lnTo>
                  <a:lnTo>
                    <a:pt x="4024284" y="106863"/>
                  </a:lnTo>
                  <a:lnTo>
                    <a:pt x="4032250" y="156250"/>
                  </a:lnTo>
                  <a:lnTo>
                    <a:pt x="4032250" y="4315737"/>
                  </a:lnTo>
                  <a:lnTo>
                    <a:pt x="4024284" y="4365123"/>
                  </a:lnTo>
                  <a:lnTo>
                    <a:pt x="4002102" y="4408016"/>
                  </a:lnTo>
                  <a:lnTo>
                    <a:pt x="3968278" y="4441839"/>
                  </a:lnTo>
                  <a:lnTo>
                    <a:pt x="3925386" y="4464021"/>
                  </a:lnTo>
                  <a:lnTo>
                    <a:pt x="3875999" y="4471987"/>
                  </a:lnTo>
                  <a:lnTo>
                    <a:pt x="156250" y="4471987"/>
                  </a:lnTo>
                  <a:lnTo>
                    <a:pt x="106863" y="4464021"/>
                  </a:lnTo>
                  <a:lnTo>
                    <a:pt x="63971" y="4441839"/>
                  </a:lnTo>
                  <a:lnTo>
                    <a:pt x="30147" y="4408016"/>
                  </a:lnTo>
                  <a:lnTo>
                    <a:pt x="7965" y="4365123"/>
                  </a:lnTo>
                  <a:lnTo>
                    <a:pt x="0" y="4315737"/>
                  </a:lnTo>
                  <a:lnTo>
                    <a:pt x="0" y="156250"/>
                  </a:lnTo>
                  <a:close/>
                </a:path>
              </a:pathLst>
            </a:custGeom>
            <a:ln w="1905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78101" y="1720596"/>
            <a:ext cx="322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After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Server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Virtualization: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05376" y="3929379"/>
            <a:ext cx="3192780" cy="15163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87325" marR="7620" indent="-174625">
              <a:lnSpc>
                <a:spcPts val="1610"/>
              </a:lnSpc>
              <a:spcBef>
                <a:spcPts val="409"/>
              </a:spcBef>
              <a:buClr>
                <a:srgbClr val="333399"/>
              </a:buClr>
              <a:buFont typeface="Wingdings"/>
              <a:buChar char=""/>
              <a:tabLst>
                <a:tab pos="187325" algn="l"/>
              </a:tabLst>
            </a:pPr>
            <a:r>
              <a:rPr sz="1600" dirty="0">
                <a:latin typeface="Arial MT"/>
                <a:cs typeface="Arial MT"/>
              </a:rPr>
              <a:t>Virtual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Machines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(VMs)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break </a:t>
            </a:r>
            <a:r>
              <a:rPr sz="1600" dirty="0">
                <a:latin typeface="Arial MT"/>
                <a:cs typeface="Arial MT"/>
              </a:rPr>
              <a:t>dependencies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operating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hardware</a:t>
            </a:r>
            <a:endParaRPr sz="1600">
              <a:latin typeface="Arial MT"/>
              <a:cs typeface="Arial MT"/>
            </a:endParaRPr>
          </a:p>
          <a:p>
            <a:pPr marL="187325" marR="263525" indent="-174625">
              <a:lnSpc>
                <a:spcPts val="1610"/>
              </a:lnSpc>
              <a:spcBef>
                <a:spcPts val="65"/>
              </a:spcBef>
              <a:buClr>
                <a:srgbClr val="333399"/>
              </a:buClr>
              <a:buFont typeface="Wingdings"/>
              <a:buChar char=""/>
              <a:tabLst>
                <a:tab pos="187325" algn="l"/>
              </a:tabLst>
            </a:pPr>
            <a:r>
              <a:rPr sz="1600" dirty="0">
                <a:latin typeface="Arial MT"/>
                <a:cs typeface="Arial MT"/>
              </a:rPr>
              <a:t>Manage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operating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and 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single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by </a:t>
            </a:r>
            <a:r>
              <a:rPr sz="1600" dirty="0">
                <a:latin typeface="Arial MT"/>
                <a:cs typeface="Arial MT"/>
              </a:rPr>
              <a:t>encapsulating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VMs</a:t>
            </a:r>
            <a:endParaRPr sz="1600">
              <a:latin typeface="Arial MT"/>
              <a:cs typeface="Arial MT"/>
            </a:endParaRPr>
          </a:p>
          <a:p>
            <a:pPr marL="186690" indent="-173990">
              <a:lnSpc>
                <a:spcPts val="1700"/>
              </a:lnSpc>
              <a:buClr>
                <a:srgbClr val="333399"/>
              </a:buClr>
              <a:buFont typeface="Wingdings"/>
              <a:buChar char=""/>
              <a:tabLst>
                <a:tab pos="186690" algn="l"/>
              </a:tabLst>
            </a:pPr>
            <a:r>
              <a:rPr sz="1600" dirty="0">
                <a:latin typeface="Arial MT"/>
                <a:cs typeface="Arial MT"/>
              </a:rPr>
              <a:t>Strong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fault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security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isolation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11726" y="2159172"/>
            <a:ext cx="3698875" cy="1668145"/>
            <a:chOff x="4911726" y="2159172"/>
            <a:chExt cx="3698875" cy="1668145"/>
          </a:xfrm>
        </p:grpSpPr>
        <p:sp>
          <p:nvSpPr>
            <p:cNvPr id="20" name="object 20"/>
            <p:cNvSpPr/>
            <p:nvPr/>
          </p:nvSpPr>
          <p:spPr>
            <a:xfrm>
              <a:off x="4918076" y="2165522"/>
              <a:ext cx="3686175" cy="1655445"/>
            </a:xfrm>
            <a:custGeom>
              <a:avLst/>
              <a:gdLst/>
              <a:ahLst/>
              <a:cxnLst/>
              <a:rect l="l" t="t" r="r" b="b"/>
              <a:pathLst>
                <a:path w="3686175" h="1655445">
                  <a:moveTo>
                    <a:pt x="3604347" y="0"/>
                  </a:moveTo>
                  <a:lnTo>
                    <a:pt x="81826" y="0"/>
                  </a:lnTo>
                  <a:lnTo>
                    <a:pt x="49975" y="6430"/>
                  </a:lnTo>
                  <a:lnTo>
                    <a:pt x="23966" y="23966"/>
                  </a:lnTo>
                  <a:lnTo>
                    <a:pt x="6430" y="49976"/>
                  </a:lnTo>
                  <a:lnTo>
                    <a:pt x="0" y="81826"/>
                  </a:lnTo>
                  <a:lnTo>
                    <a:pt x="0" y="1573265"/>
                  </a:lnTo>
                  <a:lnTo>
                    <a:pt x="6430" y="1605116"/>
                  </a:lnTo>
                  <a:lnTo>
                    <a:pt x="23966" y="1631125"/>
                  </a:lnTo>
                  <a:lnTo>
                    <a:pt x="49975" y="1648661"/>
                  </a:lnTo>
                  <a:lnTo>
                    <a:pt x="81826" y="1655091"/>
                  </a:lnTo>
                  <a:lnTo>
                    <a:pt x="3604347" y="1655091"/>
                  </a:lnTo>
                  <a:lnTo>
                    <a:pt x="3636198" y="1648661"/>
                  </a:lnTo>
                  <a:lnTo>
                    <a:pt x="3662208" y="1631125"/>
                  </a:lnTo>
                  <a:lnTo>
                    <a:pt x="3679744" y="1605116"/>
                  </a:lnTo>
                  <a:lnTo>
                    <a:pt x="3686175" y="1573265"/>
                  </a:lnTo>
                  <a:lnTo>
                    <a:pt x="3686175" y="81826"/>
                  </a:lnTo>
                  <a:lnTo>
                    <a:pt x="3679744" y="49976"/>
                  </a:lnTo>
                  <a:lnTo>
                    <a:pt x="3662208" y="23966"/>
                  </a:lnTo>
                  <a:lnTo>
                    <a:pt x="3636198" y="6430"/>
                  </a:lnTo>
                  <a:lnTo>
                    <a:pt x="360434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18076" y="2165522"/>
              <a:ext cx="3686175" cy="1655445"/>
            </a:xfrm>
            <a:custGeom>
              <a:avLst/>
              <a:gdLst/>
              <a:ahLst/>
              <a:cxnLst/>
              <a:rect l="l" t="t" r="r" b="b"/>
              <a:pathLst>
                <a:path w="3686175" h="1655445">
                  <a:moveTo>
                    <a:pt x="0" y="81826"/>
                  </a:moveTo>
                  <a:lnTo>
                    <a:pt x="6430" y="49975"/>
                  </a:lnTo>
                  <a:lnTo>
                    <a:pt x="23966" y="23966"/>
                  </a:lnTo>
                  <a:lnTo>
                    <a:pt x="49975" y="6430"/>
                  </a:lnTo>
                  <a:lnTo>
                    <a:pt x="81826" y="0"/>
                  </a:lnTo>
                  <a:lnTo>
                    <a:pt x="3604349" y="0"/>
                  </a:lnTo>
                  <a:lnTo>
                    <a:pt x="3636199" y="6430"/>
                  </a:lnTo>
                  <a:lnTo>
                    <a:pt x="3662208" y="23966"/>
                  </a:lnTo>
                  <a:lnTo>
                    <a:pt x="3679744" y="49975"/>
                  </a:lnTo>
                  <a:lnTo>
                    <a:pt x="3686175" y="81826"/>
                  </a:lnTo>
                  <a:lnTo>
                    <a:pt x="3686175" y="1573266"/>
                  </a:lnTo>
                  <a:lnTo>
                    <a:pt x="3679744" y="1605116"/>
                  </a:lnTo>
                  <a:lnTo>
                    <a:pt x="3662208" y="1631125"/>
                  </a:lnTo>
                  <a:lnTo>
                    <a:pt x="3636199" y="1648661"/>
                  </a:lnTo>
                  <a:lnTo>
                    <a:pt x="3604349" y="1655092"/>
                  </a:lnTo>
                  <a:lnTo>
                    <a:pt x="81826" y="1655092"/>
                  </a:lnTo>
                  <a:lnTo>
                    <a:pt x="49975" y="1648661"/>
                  </a:lnTo>
                  <a:lnTo>
                    <a:pt x="23966" y="1631125"/>
                  </a:lnTo>
                  <a:lnTo>
                    <a:pt x="6430" y="1605116"/>
                  </a:lnTo>
                  <a:lnTo>
                    <a:pt x="0" y="1573266"/>
                  </a:lnTo>
                  <a:lnTo>
                    <a:pt x="0" y="81826"/>
                  </a:lnTo>
                  <a:close/>
                </a:path>
              </a:pathLst>
            </a:custGeom>
            <a:ln w="1270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32376" y="2271543"/>
              <a:ext cx="3457575" cy="1443355"/>
            </a:xfrm>
            <a:custGeom>
              <a:avLst/>
              <a:gdLst/>
              <a:ahLst/>
              <a:cxnLst/>
              <a:rect l="l" t="t" r="r" b="b"/>
              <a:pathLst>
                <a:path w="3457575" h="1443354">
                  <a:moveTo>
                    <a:pt x="3381885" y="0"/>
                  </a:moveTo>
                  <a:lnTo>
                    <a:pt x="75689" y="0"/>
                  </a:lnTo>
                  <a:lnTo>
                    <a:pt x="46227" y="5948"/>
                  </a:lnTo>
                  <a:lnTo>
                    <a:pt x="22168" y="22168"/>
                  </a:lnTo>
                  <a:lnTo>
                    <a:pt x="5948" y="46227"/>
                  </a:lnTo>
                  <a:lnTo>
                    <a:pt x="0" y="75689"/>
                  </a:lnTo>
                  <a:lnTo>
                    <a:pt x="0" y="1367362"/>
                  </a:lnTo>
                  <a:lnTo>
                    <a:pt x="5948" y="1396823"/>
                  </a:lnTo>
                  <a:lnTo>
                    <a:pt x="22168" y="1420882"/>
                  </a:lnTo>
                  <a:lnTo>
                    <a:pt x="46227" y="1437103"/>
                  </a:lnTo>
                  <a:lnTo>
                    <a:pt x="75689" y="1443051"/>
                  </a:lnTo>
                  <a:lnTo>
                    <a:pt x="3381885" y="1443051"/>
                  </a:lnTo>
                  <a:lnTo>
                    <a:pt x="3411347" y="1437103"/>
                  </a:lnTo>
                  <a:lnTo>
                    <a:pt x="3435406" y="1420882"/>
                  </a:lnTo>
                  <a:lnTo>
                    <a:pt x="3451626" y="1396823"/>
                  </a:lnTo>
                  <a:lnTo>
                    <a:pt x="3457575" y="1367362"/>
                  </a:lnTo>
                  <a:lnTo>
                    <a:pt x="3457575" y="75689"/>
                  </a:lnTo>
                  <a:lnTo>
                    <a:pt x="3451626" y="46227"/>
                  </a:lnTo>
                  <a:lnTo>
                    <a:pt x="3435406" y="22168"/>
                  </a:lnTo>
                  <a:lnTo>
                    <a:pt x="3411347" y="5948"/>
                  </a:lnTo>
                  <a:lnTo>
                    <a:pt x="3381885" y="0"/>
                  </a:lnTo>
                  <a:close/>
                </a:path>
              </a:pathLst>
            </a:custGeom>
            <a:solidFill>
              <a:srgbClr val="527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32376" y="2271543"/>
              <a:ext cx="3457575" cy="1443355"/>
            </a:xfrm>
            <a:custGeom>
              <a:avLst/>
              <a:gdLst/>
              <a:ahLst/>
              <a:cxnLst/>
              <a:rect l="l" t="t" r="r" b="b"/>
              <a:pathLst>
                <a:path w="3457575" h="1443354">
                  <a:moveTo>
                    <a:pt x="0" y="75689"/>
                  </a:moveTo>
                  <a:lnTo>
                    <a:pt x="5948" y="46227"/>
                  </a:lnTo>
                  <a:lnTo>
                    <a:pt x="22168" y="22168"/>
                  </a:lnTo>
                  <a:lnTo>
                    <a:pt x="46227" y="5948"/>
                  </a:lnTo>
                  <a:lnTo>
                    <a:pt x="75689" y="0"/>
                  </a:lnTo>
                  <a:lnTo>
                    <a:pt x="3381886" y="0"/>
                  </a:lnTo>
                  <a:lnTo>
                    <a:pt x="3411347" y="5948"/>
                  </a:lnTo>
                  <a:lnTo>
                    <a:pt x="3435406" y="22168"/>
                  </a:lnTo>
                  <a:lnTo>
                    <a:pt x="3451627" y="46227"/>
                  </a:lnTo>
                  <a:lnTo>
                    <a:pt x="3457575" y="75689"/>
                  </a:lnTo>
                  <a:lnTo>
                    <a:pt x="3457575" y="1367362"/>
                  </a:lnTo>
                  <a:lnTo>
                    <a:pt x="3451627" y="1396823"/>
                  </a:lnTo>
                  <a:lnTo>
                    <a:pt x="3435406" y="1420882"/>
                  </a:lnTo>
                  <a:lnTo>
                    <a:pt x="3411347" y="1437103"/>
                  </a:lnTo>
                  <a:lnTo>
                    <a:pt x="3381886" y="1443051"/>
                  </a:lnTo>
                  <a:lnTo>
                    <a:pt x="75689" y="1443051"/>
                  </a:lnTo>
                  <a:lnTo>
                    <a:pt x="46227" y="1437103"/>
                  </a:lnTo>
                  <a:lnTo>
                    <a:pt x="22168" y="1420882"/>
                  </a:lnTo>
                  <a:lnTo>
                    <a:pt x="5948" y="1396823"/>
                  </a:lnTo>
                  <a:lnTo>
                    <a:pt x="0" y="1367362"/>
                  </a:lnTo>
                  <a:lnTo>
                    <a:pt x="0" y="7568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041844" y="3340100"/>
            <a:ext cx="20535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Virtualization</a:t>
            </a:r>
            <a:r>
              <a:rPr sz="1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41912" y="2425696"/>
            <a:ext cx="1568450" cy="814069"/>
            <a:chOff x="5141912" y="2425696"/>
            <a:chExt cx="1568450" cy="814069"/>
          </a:xfrm>
        </p:grpSpPr>
        <p:sp>
          <p:nvSpPr>
            <p:cNvPr id="26" name="object 26"/>
            <p:cNvSpPr/>
            <p:nvPr/>
          </p:nvSpPr>
          <p:spPr>
            <a:xfrm>
              <a:off x="5148262" y="2432046"/>
              <a:ext cx="1555750" cy="801370"/>
            </a:xfrm>
            <a:custGeom>
              <a:avLst/>
              <a:gdLst/>
              <a:ahLst/>
              <a:cxnLst/>
              <a:rect l="l" t="t" r="r" b="b"/>
              <a:pathLst>
                <a:path w="1555750" h="801369">
                  <a:moveTo>
                    <a:pt x="1513735" y="0"/>
                  </a:moveTo>
                  <a:lnTo>
                    <a:pt x="42014" y="0"/>
                  </a:lnTo>
                  <a:lnTo>
                    <a:pt x="25660" y="3301"/>
                  </a:lnTo>
                  <a:lnTo>
                    <a:pt x="12305" y="12305"/>
                  </a:lnTo>
                  <a:lnTo>
                    <a:pt x="3301" y="25660"/>
                  </a:lnTo>
                  <a:lnTo>
                    <a:pt x="0" y="42014"/>
                  </a:lnTo>
                  <a:lnTo>
                    <a:pt x="0" y="759026"/>
                  </a:lnTo>
                  <a:lnTo>
                    <a:pt x="3301" y="775380"/>
                  </a:lnTo>
                  <a:lnTo>
                    <a:pt x="12305" y="788735"/>
                  </a:lnTo>
                  <a:lnTo>
                    <a:pt x="25660" y="797739"/>
                  </a:lnTo>
                  <a:lnTo>
                    <a:pt x="42014" y="801041"/>
                  </a:lnTo>
                  <a:lnTo>
                    <a:pt x="1513735" y="801041"/>
                  </a:lnTo>
                  <a:lnTo>
                    <a:pt x="1530089" y="797739"/>
                  </a:lnTo>
                  <a:lnTo>
                    <a:pt x="1543444" y="788735"/>
                  </a:lnTo>
                  <a:lnTo>
                    <a:pt x="1552448" y="775380"/>
                  </a:lnTo>
                  <a:lnTo>
                    <a:pt x="1555750" y="759026"/>
                  </a:lnTo>
                  <a:lnTo>
                    <a:pt x="1555750" y="42014"/>
                  </a:lnTo>
                  <a:lnTo>
                    <a:pt x="1552448" y="25660"/>
                  </a:lnTo>
                  <a:lnTo>
                    <a:pt x="1543444" y="12305"/>
                  </a:lnTo>
                  <a:lnTo>
                    <a:pt x="1530089" y="3301"/>
                  </a:lnTo>
                  <a:lnTo>
                    <a:pt x="1513735" y="0"/>
                  </a:lnTo>
                  <a:close/>
                </a:path>
              </a:pathLst>
            </a:custGeom>
            <a:solidFill>
              <a:srgbClr val="92A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48262" y="2432046"/>
              <a:ext cx="1555750" cy="801370"/>
            </a:xfrm>
            <a:custGeom>
              <a:avLst/>
              <a:gdLst/>
              <a:ahLst/>
              <a:cxnLst/>
              <a:rect l="l" t="t" r="r" b="b"/>
              <a:pathLst>
                <a:path w="1555750" h="801369">
                  <a:moveTo>
                    <a:pt x="0" y="42014"/>
                  </a:moveTo>
                  <a:lnTo>
                    <a:pt x="3301" y="25660"/>
                  </a:lnTo>
                  <a:lnTo>
                    <a:pt x="12305" y="12305"/>
                  </a:lnTo>
                  <a:lnTo>
                    <a:pt x="25660" y="3301"/>
                  </a:lnTo>
                  <a:lnTo>
                    <a:pt x="42014" y="0"/>
                  </a:lnTo>
                  <a:lnTo>
                    <a:pt x="1513736" y="0"/>
                  </a:lnTo>
                  <a:lnTo>
                    <a:pt x="1530089" y="3301"/>
                  </a:lnTo>
                  <a:lnTo>
                    <a:pt x="1543444" y="12305"/>
                  </a:lnTo>
                  <a:lnTo>
                    <a:pt x="1552448" y="25660"/>
                  </a:lnTo>
                  <a:lnTo>
                    <a:pt x="1555750" y="42014"/>
                  </a:lnTo>
                  <a:lnTo>
                    <a:pt x="1555750" y="759026"/>
                  </a:lnTo>
                  <a:lnTo>
                    <a:pt x="1552448" y="775380"/>
                  </a:lnTo>
                  <a:lnTo>
                    <a:pt x="1543444" y="788735"/>
                  </a:lnTo>
                  <a:lnTo>
                    <a:pt x="1530089" y="797739"/>
                  </a:lnTo>
                  <a:lnTo>
                    <a:pt x="1513736" y="801041"/>
                  </a:lnTo>
                  <a:lnTo>
                    <a:pt x="42014" y="801041"/>
                  </a:lnTo>
                  <a:lnTo>
                    <a:pt x="25660" y="797739"/>
                  </a:lnTo>
                  <a:lnTo>
                    <a:pt x="12305" y="788735"/>
                  </a:lnTo>
                  <a:lnTo>
                    <a:pt x="3301" y="775380"/>
                  </a:lnTo>
                  <a:lnTo>
                    <a:pt x="0" y="759026"/>
                  </a:lnTo>
                  <a:lnTo>
                    <a:pt x="0" y="420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6573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368754" y="0"/>
                  </a:moveTo>
                  <a:lnTo>
                    <a:pt x="32884" y="0"/>
                  </a:lnTo>
                  <a:lnTo>
                    <a:pt x="20084" y="2584"/>
                  </a:lnTo>
                  <a:lnTo>
                    <a:pt x="9631" y="9631"/>
                  </a:lnTo>
                  <a:lnTo>
                    <a:pt x="2584" y="20084"/>
                  </a:lnTo>
                  <a:lnTo>
                    <a:pt x="0" y="32884"/>
                  </a:lnTo>
                  <a:lnTo>
                    <a:pt x="0" y="341132"/>
                  </a:lnTo>
                  <a:lnTo>
                    <a:pt x="2584" y="353931"/>
                  </a:lnTo>
                  <a:lnTo>
                    <a:pt x="9631" y="364383"/>
                  </a:lnTo>
                  <a:lnTo>
                    <a:pt x="20084" y="371430"/>
                  </a:lnTo>
                  <a:lnTo>
                    <a:pt x="32884" y="374015"/>
                  </a:lnTo>
                  <a:lnTo>
                    <a:pt x="368754" y="374015"/>
                  </a:lnTo>
                  <a:lnTo>
                    <a:pt x="381554" y="371430"/>
                  </a:lnTo>
                  <a:lnTo>
                    <a:pt x="392007" y="364383"/>
                  </a:lnTo>
                  <a:lnTo>
                    <a:pt x="399054" y="353931"/>
                  </a:lnTo>
                  <a:lnTo>
                    <a:pt x="401638" y="341132"/>
                  </a:lnTo>
                  <a:lnTo>
                    <a:pt x="401638" y="32884"/>
                  </a:lnTo>
                  <a:lnTo>
                    <a:pt x="399054" y="20084"/>
                  </a:lnTo>
                  <a:lnTo>
                    <a:pt x="392007" y="9631"/>
                  </a:lnTo>
                  <a:lnTo>
                    <a:pt x="381554" y="2584"/>
                  </a:lnTo>
                  <a:lnTo>
                    <a:pt x="36875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6573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0" y="32883"/>
                  </a:moveTo>
                  <a:lnTo>
                    <a:pt x="2584" y="20083"/>
                  </a:lnTo>
                  <a:lnTo>
                    <a:pt x="9631" y="9631"/>
                  </a:lnTo>
                  <a:lnTo>
                    <a:pt x="20083" y="2584"/>
                  </a:lnTo>
                  <a:lnTo>
                    <a:pt x="32883" y="0"/>
                  </a:lnTo>
                  <a:lnTo>
                    <a:pt x="368754" y="0"/>
                  </a:lnTo>
                  <a:lnTo>
                    <a:pt x="381554" y="2584"/>
                  </a:lnTo>
                  <a:lnTo>
                    <a:pt x="392006" y="9631"/>
                  </a:lnTo>
                  <a:lnTo>
                    <a:pt x="399053" y="20083"/>
                  </a:lnTo>
                  <a:lnTo>
                    <a:pt x="401638" y="32883"/>
                  </a:lnTo>
                  <a:lnTo>
                    <a:pt x="401638" y="341131"/>
                  </a:lnTo>
                  <a:lnTo>
                    <a:pt x="399053" y="353931"/>
                  </a:lnTo>
                  <a:lnTo>
                    <a:pt x="392006" y="364383"/>
                  </a:lnTo>
                  <a:lnTo>
                    <a:pt x="381554" y="371430"/>
                  </a:lnTo>
                  <a:lnTo>
                    <a:pt x="368754" y="374015"/>
                  </a:lnTo>
                  <a:lnTo>
                    <a:pt x="32883" y="374015"/>
                  </a:lnTo>
                  <a:lnTo>
                    <a:pt x="20083" y="371430"/>
                  </a:lnTo>
                  <a:lnTo>
                    <a:pt x="9631" y="364383"/>
                  </a:lnTo>
                  <a:lnTo>
                    <a:pt x="2584" y="353931"/>
                  </a:lnTo>
                  <a:lnTo>
                    <a:pt x="0" y="341131"/>
                  </a:lnTo>
                  <a:lnTo>
                    <a:pt x="0" y="328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27701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368754" y="0"/>
                  </a:moveTo>
                  <a:lnTo>
                    <a:pt x="32882" y="0"/>
                  </a:lnTo>
                  <a:lnTo>
                    <a:pt x="20083" y="2584"/>
                  </a:lnTo>
                  <a:lnTo>
                    <a:pt x="9631" y="9631"/>
                  </a:lnTo>
                  <a:lnTo>
                    <a:pt x="2584" y="20084"/>
                  </a:lnTo>
                  <a:lnTo>
                    <a:pt x="0" y="32884"/>
                  </a:lnTo>
                  <a:lnTo>
                    <a:pt x="0" y="341132"/>
                  </a:lnTo>
                  <a:lnTo>
                    <a:pt x="2584" y="353931"/>
                  </a:lnTo>
                  <a:lnTo>
                    <a:pt x="9631" y="364383"/>
                  </a:lnTo>
                  <a:lnTo>
                    <a:pt x="20083" y="371430"/>
                  </a:lnTo>
                  <a:lnTo>
                    <a:pt x="32882" y="374015"/>
                  </a:lnTo>
                  <a:lnTo>
                    <a:pt x="368754" y="374015"/>
                  </a:lnTo>
                  <a:lnTo>
                    <a:pt x="381554" y="371430"/>
                  </a:lnTo>
                  <a:lnTo>
                    <a:pt x="392006" y="364383"/>
                  </a:lnTo>
                  <a:lnTo>
                    <a:pt x="399053" y="353931"/>
                  </a:lnTo>
                  <a:lnTo>
                    <a:pt x="401637" y="341132"/>
                  </a:lnTo>
                  <a:lnTo>
                    <a:pt x="401637" y="32884"/>
                  </a:lnTo>
                  <a:lnTo>
                    <a:pt x="399053" y="20084"/>
                  </a:lnTo>
                  <a:lnTo>
                    <a:pt x="392006" y="9631"/>
                  </a:lnTo>
                  <a:lnTo>
                    <a:pt x="381554" y="2584"/>
                  </a:lnTo>
                  <a:lnTo>
                    <a:pt x="36875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27701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0" y="32883"/>
                  </a:moveTo>
                  <a:lnTo>
                    <a:pt x="2584" y="20083"/>
                  </a:lnTo>
                  <a:lnTo>
                    <a:pt x="9631" y="9631"/>
                  </a:lnTo>
                  <a:lnTo>
                    <a:pt x="20083" y="2584"/>
                  </a:lnTo>
                  <a:lnTo>
                    <a:pt x="32883" y="0"/>
                  </a:lnTo>
                  <a:lnTo>
                    <a:pt x="368754" y="0"/>
                  </a:lnTo>
                  <a:lnTo>
                    <a:pt x="381554" y="2584"/>
                  </a:lnTo>
                  <a:lnTo>
                    <a:pt x="392006" y="9631"/>
                  </a:lnTo>
                  <a:lnTo>
                    <a:pt x="399053" y="20083"/>
                  </a:lnTo>
                  <a:lnTo>
                    <a:pt x="401638" y="32883"/>
                  </a:lnTo>
                  <a:lnTo>
                    <a:pt x="401638" y="341131"/>
                  </a:lnTo>
                  <a:lnTo>
                    <a:pt x="399053" y="353931"/>
                  </a:lnTo>
                  <a:lnTo>
                    <a:pt x="392006" y="364383"/>
                  </a:lnTo>
                  <a:lnTo>
                    <a:pt x="381554" y="371430"/>
                  </a:lnTo>
                  <a:lnTo>
                    <a:pt x="368754" y="374015"/>
                  </a:lnTo>
                  <a:lnTo>
                    <a:pt x="32883" y="374015"/>
                  </a:lnTo>
                  <a:lnTo>
                    <a:pt x="20083" y="371430"/>
                  </a:lnTo>
                  <a:lnTo>
                    <a:pt x="9631" y="364383"/>
                  </a:lnTo>
                  <a:lnTo>
                    <a:pt x="2584" y="353931"/>
                  </a:lnTo>
                  <a:lnTo>
                    <a:pt x="0" y="341131"/>
                  </a:lnTo>
                  <a:lnTo>
                    <a:pt x="0" y="328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8648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368754" y="0"/>
                  </a:moveTo>
                  <a:lnTo>
                    <a:pt x="32884" y="0"/>
                  </a:lnTo>
                  <a:lnTo>
                    <a:pt x="20084" y="2584"/>
                  </a:lnTo>
                  <a:lnTo>
                    <a:pt x="9631" y="9631"/>
                  </a:lnTo>
                  <a:lnTo>
                    <a:pt x="2584" y="20084"/>
                  </a:lnTo>
                  <a:lnTo>
                    <a:pt x="0" y="32884"/>
                  </a:lnTo>
                  <a:lnTo>
                    <a:pt x="0" y="341132"/>
                  </a:lnTo>
                  <a:lnTo>
                    <a:pt x="2584" y="353931"/>
                  </a:lnTo>
                  <a:lnTo>
                    <a:pt x="9631" y="364383"/>
                  </a:lnTo>
                  <a:lnTo>
                    <a:pt x="20084" y="371430"/>
                  </a:lnTo>
                  <a:lnTo>
                    <a:pt x="32884" y="374015"/>
                  </a:lnTo>
                  <a:lnTo>
                    <a:pt x="368754" y="374015"/>
                  </a:lnTo>
                  <a:lnTo>
                    <a:pt x="381554" y="371430"/>
                  </a:lnTo>
                  <a:lnTo>
                    <a:pt x="392007" y="364383"/>
                  </a:lnTo>
                  <a:lnTo>
                    <a:pt x="399054" y="353931"/>
                  </a:lnTo>
                  <a:lnTo>
                    <a:pt x="401638" y="341132"/>
                  </a:lnTo>
                  <a:lnTo>
                    <a:pt x="401638" y="32884"/>
                  </a:lnTo>
                  <a:lnTo>
                    <a:pt x="399054" y="20084"/>
                  </a:lnTo>
                  <a:lnTo>
                    <a:pt x="392007" y="9631"/>
                  </a:lnTo>
                  <a:lnTo>
                    <a:pt x="381554" y="2584"/>
                  </a:lnTo>
                  <a:lnTo>
                    <a:pt x="36875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8648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0" y="32883"/>
                  </a:moveTo>
                  <a:lnTo>
                    <a:pt x="2584" y="20083"/>
                  </a:lnTo>
                  <a:lnTo>
                    <a:pt x="9631" y="9631"/>
                  </a:lnTo>
                  <a:lnTo>
                    <a:pt x="20083" y="2584"/>
                  </a:lnTo>
                  <a:lnTo>
                    <a:pt x="32883" y="0"/>
                  </a:lnTo>
                  <a:lnTo>
                    <a:pt x="368754" y="0"/>
                  </a:lnTo>
                  <a:lnTo>
                    <a:pt x="381554" y="2584"/>
                  </a:lnTo>
                  <a:lnTo>
                    <a:pt x="392006" y="9631"/>
                  </a:lnTo>
                  <a:lnTo>
                    <a:pt x="399053" y="20083"/>
                  </a:lnTo>
                  <a:lnTo>
                    <a:pt x="401638" y="32883"/>
                  </a:lnTo>
                  <a:lnTo>
                    <a:pt x="401638" y="341131"/>
                  </a:lnTo>
                  <a:lnTo>
                    <a:pt x="399053" y="353931"/>
                  </a:lnTo>
                  <a:lnTo>
                    <a:pt x="392006" y="364383"/>
                  </a:lnTo>
                  <a:lnTo>
                    <a:pt x="381554" y="371430"/>
                  </a:lnTo>
                  <a:lnTo>
                    <a:pt x="368754" y="374015"/>
                  </a:lnTo>
                  <a:lnTo>
                    <a:pt x="32883" y="374015"/>
                  </a:lnTo>
                  <a:lnTo>
                    <a:pt x="20083" y="371430"/>
                  </a:lnTo>
                  <a:lnTo>
                    <a:pt x="9631" y="364383"/>
                  </a:lnTo>
                  <a:lnTo>
                    <a:pt x="2584" y="353931"/>
                  </a:lnTo>
                  <a:lnTo>
                    <a:pt x="0" y="341131"/>
                  </a:lnTo>
                  <a:lnTo>
                    <a:pt x="0" y="328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147868" y="2604515"/>
            <a:ext cx="152209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sz="1400" b="1" spc="6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sz="1400" b="1" spc="4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11962" y="2425696"/>
            <a:ext cx="1568450" cy="814069"/>
            <a:chOff x="6811962" y="2425696"/>
            <a:chExt cx="1568450" cy="814069"/>
          </a:xfrm>
        </p:grpSpPr>
        <p:sp>
          <p:nvSpPr>
            <p:cNvPr id="36" name="object 36"/>
            <p:cNvSpPr/>
            <p:nvPr/>
          </p:nvSpPr>
          <p:spPr>
            <a:xfrm>
              <a:off x="6818312" y="2432046"/>
              <a:ext cx="1555750" cy="801370"/>
            </a:xfrm>
            <a:custGeom>
              <a:avLst/>
              <a:gdLst/>
              <a:ahLst/>
              <a:cxnLst/>
              <a:rect l="l" t="t" r="r" b="b"/>
              <a:pathLst>
                <a:path w="1555750" h="801369">
                  <a:moveTo>
                    <a:pt x="1513735" y="0"/>
                  </a:moveTo>
                  <a:lnTo>
                    <a:pt x="42014" y="0"/>
                  </a:lnTo>
                  <a:lnTo>
                    <a:pt x="25660" y="3301"/>
                  </a:lnTo>
                  <a:lnTo>
                    <a:pt x="12305" y="12305"/>
                  </a:lnTo>
                  <a:lnTo>
                    <a:pt x="3301" y="25660"/>
                  </a:lnTo>
                  <a:lnTo>
                    <a:pt x="0" y="42014"/>
                  </a:lnTo>
                  <a:lnTo>
                    <a:pt x="0" y="759026"/>
                  </a:lnTo>
                  <a:lnTo>
                    <a:pt x="3301" y="775380"/>
                  </a:lnTo>
                  <a:lnTo>
                    <a:pt x="12305" y="788735"/>
                  </a:lnTo>
                  <a:lnTo>
                    <a:pt x="25660" y="797739"/>
                  </a:lnTo>
                  <a:lnTo>
                    <a:pt x="42014" y="801041"/>
                  </a:lnTo>
                  <a:lnTo>
                    <a:pt x="1513735" y="801041"/>
                  </a:lnTo>
                  <a:lnTo>
                    <a:pt x="1530089" y="797739"/>
                  </a:lnTo>
                  <a:lnTo>
                    <a:pt x="1543444" y="788735"/>
                  </a:lnTo>
                  <a:lnTo>
                    <a:pt x="1552448" y="775380"/>
                  </a:lnTo>
                  <a:lnTo>
                    <a:pt x="1555750" y="759026"/>
                  </a:lnTo>
                  <a:lnTo>
                    <a:pt x="1555750" y="42014"/>
                  </a:lnTo>
                  <a:lnTo>
                    <a:pt x="1552448" y="25660"/>
                  </a:lnTo>
                  <a:lnTo>
                    <a:pt x="1543444" y="12305"/>
                  </a:lnTo>
                  <a:lnTo>
                    <a:pt x="1530089" y="3301"/>
                  </a:lnTo>
                  <a:lnTo>
                    <a:pt x="1513735" y="0"/>
                  </a:lnTo>
                  <a:close/>
                </a:path>
              </a:pathLst>
            </a:custGeom>
            <a:solidFill>
              <a:srgbClr val="92A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18312" y="2432046"/>
              <a:ext cx="1555750" cy="801370"/>
            </a:xfrm>
            <a:custGeom>
              <a:avLst/>
              <a:gdLst/>
              <a:ahLst/>
              <a:cxnLst/>
              <a:rect l="l" t="t" r="r" b="b"/>
              <a:pathLst>
                <a:path w="1555750" h="801369">
                  <a:moveTo>
                    <a:pt x="0" y="42014"/>
                  </a:moveTo>
                  <a:lnTo>
                    <a:pt x="3301" y="25660"/>
                  </a:lnTo>
                  <a:lnTo>
                    <a:pt x="12305" y="12305"/>
                  </a:lnTo>
                  <a:lnTo>
                    <a:pt x="25660" y="3301"/>
                  </a:lnTo>
                  <a:lnTo>
                    <a:pt x="42014" y="0"/>
                  </a:lnTo>
                  <a:lnTo>
                    <a:pt x="1513736" y="0"/>
                  </a:lnTo>
                  <a:lnTo>
                    <a:pt x="1530089" y="3301"/>
                  </a:lnTo>
                  <a:lnTo>
                    <a:pt x="1543444" y="12305"/>
                  </a:lnTo>
                  <a:lnTo>
                    <a:pt x="1552448" y="25660"/>
                  </a:lnTo>
                  <a:lnTo>
                    <a:pt x="1555750" y="42014"/>
                  </a:lnTo>
                  <a:lnTo>
                    <a:pt x="1555750" y="759026"/>
                  </a:lnTo>
                  <a:lnTo>
                    <a:pt x="1552448" y="775380"/>
                  </a:lnTo>
                  <a:lnTo>
                    <a:pt x="1543444" y="788735"/>
                  </a:lnTo>
                  <a:lnTo>
                    <a:pt x="1530089" y="797739"/>
                  </a:lnTo>
                  <a:lnTo>
                    <a:pt x="1513736" y="801041"/>
                  </a:lnTo>
                  <a:lnTo>
                    <a:pt x="42014" y="801041"/>
                  </a:lnTo>
                  <a:lnTo>
                    <a:pt x="25660" y="797739"/>
                  </a:lnTo>
                  <a:lnTo>
                    <a:pt x="12305" y="788735"/>
                  </a:lnTo>
                  <a:lnTo>
                    <a:pt x="3301" y="775380"/>
                  </a:lnTo>
                  <a:lnTo>
                    <a:pt x="0" y="759026"/>
                  </a:lnTo>
                  <a:lnTo>
                    <a:pt x="0" y="420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3578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368754" y="0"/>
                  </a:moveTo>
                  <a:lnTo>
                    <a:pt x="32884" y="0"/>
                  </a:lnTo>
                  <a:lnTo>
                    <a:pt x="20084" y="2584"/>
                  </a:lnTo>
                  <a:lnTo>
                    <a:pt x="9631" y="9631"/>
                  </a:lnTo>
                  <a:lnTo>
                    <a:pt x="2584" y="20084"/>
                  </a:lnTo>
                  <a:lnTo>
                    <a:pt x="0" y="32884"/>
                  </a:lnTo>
                  <a:lnTo>
                    <a:pt x="0" y="341132"/>
                  </a:lnTo>
                  <a:lnTo>
                    <a:pt x="2584" y="353931"/>
                  </a:lnTo>
                  <a:lnTo>
                    <a:pt x="9631" y="364383"/>
                  </a:lnTo>
                  <a:lnTo>
                    <a:pt x="20084" y="371430"/>
                  </a:lnTo>
                  <a:lnTo>
                    <a:pt x="32884" y="374015"/>
                  </a:lnTo>
                  <a:lnTo>
                    <a:pt x="368754" y="374015"/>
                  </a:lnTo>
                  <a:lnTo>
                    <a:pt x="381554" y="371430"/>
                  </a:lnTo>
                  <a:lnTo>
                    <a:pt x="392007" y="364383"/>
                  </a:lnTo>
                  <a:lnTo>
                    <a:pt x="399054" y="353931"/>
                  </a:lnTo>
                  <a:lnTo>
                    <a:pt x="401638" y="341132"/>
                  </a:lnTo>
                  <a:lnTo>
                    <a:pt x="401638" y="32884"/>
                  </a:lnTo>
                  <a:lnTo>
                    <a:pt x="399054" y="20084"/>
                  </a:lnTo>
                  <a:lnTo>
                    <a:pt x="392007" y="9631"/>
                  </a:lnTo>
                  <a:lnTo>
                    <a:pt x="381554" y="2584"/>
                  </a:lnTo>
                  <a:lnTo>
                    <a:pt x="36875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3578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0" y="32883"/>
                  </a:moveTo>
                  <a:lnTo>
                    <a:pt x="2584" y="20083"/>
                  </a:lnTo>
                  <a:lnTo>
                    <a:pt x="9631" y="9631"/>
                  </a:lnTo>
                  <a:lnTo>
                    <a:pt x="20083" y="2584"/>
                  </a:lnTo>
                  <a:lnTo>
                    <a:pt x="32883" y="0"/>
                  </a:lnTo>
                  <a:lnTo>
                    <a:pt x="368754" y="0"/>
                  </a:lnTo>
                  <a:lnTo>
                    <a:pt x="381554" y="2584"/>
                  </a:lnTo>
                  <a:lnTo>
                    <a:pt x="392006" y="9631"/>
                  </a:lnTo>
                  <a:lnTo>
                    <a:pt x="399053" y="20083"/>
                  </a:lnTo>
                  <a:lnTo>
                    <a:pt x="401638" y="32883"/>
                  </a:lnTo>
                  <a:lnTo>
                    <a:pt x="401638" y="341131"/>
                  </a:lnTo>
                  <a:lnTo>
                    <a:pt x="399053" y="353931"/>
                  </a:lnTo>
                  <a:lnTo>
                    <a:pt x="392006" y="364383"/>
                  </a:lnTo>
                  <a:lnTo>
                    <a:pt x="381554" y="371430"/>
                  </a:lnTo>
                  <a:lnTo>
                    <a:pt x="368754" y="374015"/>
                  </a:lnTo>
                  <a:lnTo>
                    <a:pt x="32883" y="374015"/>
                  </a:lnTo>
                  <a:lnTo>
                    <a:pt x="20083" y="371430"/>
                  </a:lnTo>
                  <a:lnTo>
                    <a:pt x="9631" y="364383"/>
                  </a:lnTo>
                  <a:lnTo>
                    <a:pt x="2584" y="353931"/>
                  </a:lnTo>
                  <a:lnTo>
                    <a:pt x="0" y="341131"/>
                  </a:lnTo>
                  <a:lnTo>
                    <a:pt x="0" y="328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94576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368754" y="0"/>
                  </a:moveTo>
                  <a:lnTo>
                    <a:pt x="32882" y="0"/>
                  </a:lnTo>
                  <a:lnTo>
                    <a:pt x="20083" y="2584"/>
                  </a:lnTo>
                  <a:lnTo>
                    <a:pt x="9631" y="9631"/>
                  </a:lnTo>
                  <a:lnTo>
                    <a:pt x="2584" y="20084"/>
                  </a:lnTo>
                  <a:lnTo>
                    <a:pt x="0" y="32884"/>
                  </a:lnTo>
                  <a:lnTo>
                    <a:pt x="0" y="341132"/>
                  </a:lnTo>
                  <a:lnTo>
                    <a:pt x="2584" y="353931"/>
                  </a:lnTo>
                  <a:lnTo>
                    <a:pt x="9631" y="364383"/>
                  </a:lnTo>
                  <a:lnTo>
                    <a:pt x="20083" y="371430"/>
                  </a:lnTo>
                  <a:lnTo>
                    <a:pt x="32882" y="374015"/>
                  </a:lnTo>
                  <a:lnTo>
                    <a:pt x="368754" y="374015"/>
                  </a:lnTo>
                  <a:lnTo>
                    <a:pt x="381554" y="371430"/>
                  </a:lnTo>
                  <a:lnTo>
                    <a:pt x="392006" y="364383"/>
                  </a:lnTo>
                  <a:lnTo>
                    <a:pt x="399053" y="353931"/>
                  </a:lnTo>
                  <a:lnTo>
                    <a:pt x="401637" y="341132"/>
                  </a:lnTo>
                  <a:lnTo>
                    <a:pt x="401637" y="32884"/>
                  </a:lnTo>
                  <a:lnTo>
                    <a:pt x="399053" y="20084"/>
                  </a:lnTo>
                  <a:lnTo>
                    <a:pt x="392006" y="9631"/>
                  </a:lnTo>
                  <a:lnTo>
                    <a:pt x="381554" y="2584"/>
                  </a:lnTo>
                  <a:lnTo>
                    <a:pt x="36875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94576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0" y="32883"/>
                  </a:moveTo>
                  <a:lnTo>
                    <a:pt x="2584" y="20083"/>
                  </a:lnTo>
                  <a:lnTo>
                    <a:pt x="9631" y="9631"/>
                  </a:lnTo>
                  <a:lnTo>
                    <a:pt x="20083" y="2584"/>
                  </a:lnTo>
                  <a:lnTo>
                    <a:pt x="32883" y="0"/>
                  </a:lnTo>
                  <a:lnTo>
                    <a:pt x="368754" y="0"/>
                  </a:lnTo>
                  <a:lnTo>
                    <a:pt x="381554" y="2584"/>
                  </a:lnTo>
                  <a:lnTo>
                    <a:pt x="392006" y="9631"/>
                  </a:lnTo>
                  <a:lnTo>
                    <a:pt x="399053" y="20083"/>
                  </a:lnTo>
                  <a:lnTo>
                    <a:pt x="401638" y="32883"/>
                  </a:lnTo>
                  <a:lnTo>
                    <a:pt x="401638" y="341131"/>
                  </a:lnTo>
                  <a:lnTo>
                    <a:pt x="399053" y="353931"/>
                  </a:lnTo>
                  <a:lnTo>
                    <a:pt x="392006" y="364383"/>
                  </a:lnTo>
                  <a:lnTo>
                    <a:pt x="381554" y="371430"/>
                  </a:lnTo>
                  <a:lnTo>
                    <a:pt x="368754" y="374015"/>
                  </a:lnTo>
                  <a:lnTo>
                    <a:pt x="32883" y="374015"/>
                  </a:lnTo>
                  <a:lnTo>
                    <a:pt x="20083" y="371430"/>
                  </a:lnTo>
                  <a:lnTo>
                    <a:pt x="9631" y="364383"/>
                  </a:lnTo>
                  <a:lnTo>
                    <a:pt x="2584" y="353931"/>
                  </a:lnTo>
                  <a:lnTo>
                    <a:pt x="0" y="341131"/>
                  </a:lnTo>
                  <a:lnTo>
                    <a:pt x="0" y="328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85653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368754" y="0"/>
                  </a:moveTo>
                  <a:lnTo>
                    <a:pt x="32884" y="0"/>
                  </a:lnTo>
                  <a:lnTo>
                    <a:pt x="20084" y="2584"/>
                  </a:lnTo>
                  <a:lnTo>
                    <a:pt x="9631" y="9631"/>
                  </a:lnTo>
                  <a:lnTo>
                    <a:pt x="2584" y="20084"/>
                  </a:lnTo>
                  <a:lnTo>
                    <a:pt x="0" y="32884"/>
                  </a:lnTo>
                  <a:lnTo>
                    <a:pt x="0" y="341132"/>
                  </a:lnTo>
                  <a:lnTo>
                    <a:pt x="2584" y="353931"/>
                  </a:lnTo>
                  <a:lnTo>
                    <a:pt x="9631" y="364383"/>
                  </a:lnTo>
                  <a:lnTo>
                    <a:pt x="20084" y="371430"/>
                  </a:lnTo>
                  <a:lnTo>
                    <a:pt x="32884" y="374015"/>
                  </a:lnTo>
                  <a:lnTo>
                    <a:pt x="368754" y="374015"/>
                  </a:lnTo>
                  <a:lnTo>
                    <a:pt x="381554" y="371430"/>
                  </a:lnTo>
                  <a:lnTo>
                    <a:pt x="392006" y="364383"/>
                  </a:lnTo>
                  <a:lnTo>
                    <a:pt x="399053" y="353931"/>
                  </a:lnTo>
                  <a:lnTo>
                    <a:pt x="401637" y="341132"/>
                  </a:lnTo>
                  <a:lnTo>
                    <a:pt x="401637" y="32884"/>
                  </a:lnTo>
                  <a:lnTo>
                    <a:pt x="399053" y="20084"/>
                  </a:lnTo>
                  <a:lnTo>
                    <a:pt x="392006" y="9631"/>
                  </a:lnTo>
                  <a:lnTo>
                    <a:pt x="381554" y="2584"/>
                  </a:lnTo>
                  <a:lnTo>
                    <a:pt x="368754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56537" y="2538065"/>
              <a:ext cx="401955" cy="374015"/>
            </a:xfrm>
            <a:custGeom>
              <a:avLst/>
              <a:gdLst/>
              <a:ahLst/>
              <a:cxnLst/>
              <a:rect l="l" t="t" r="r" b="b"/>
              <a:pathLst>
                <a:path w="401954" h="374014">
                  <a:moveTo>
                    <a:pt x="0" y="32883"/>
                  </a:moveTo>
                  <a:lnTo>
                    <a:pt x="2584" y="20083"/>
                  </a:lnTo>
                  <a:lnTo>
                    <a:pt x="9631" y="9631"/>
                  </a:lnTo>
                  <a:lnTo>
                    <a:pt x="20083" y="2584"/>
                  </a:lnTo>
                  <a:lnTo>
                    <a:pt x="32883" y="0"/>
                  </a:lnTo>
                  <a:lnTo>
                    <a:pt x="368754" y="0"/>
                  </a:lnTo>
                  <a:lnTo>
                    <a:pt x="381554" y="2584"/>
                  </a:lnTo>
                  <a:lnTo>
                    <a:pt x="392006" y="9631"/>
                  </a:lnTo>
                  <a:lnTo>
                    <a:pt x="399053" y="20083"/>
                  </a:lnTo>
                  <a:lnTo>
                    <a:pt x="401638" y="32883"/>
                  </a:lnTo>
                  <a:lnTo>
                    <a:pt x="401638" y="341131"/>
                  </a:lnTo>
                  <a:lnTo>
                    <a:pt x="399053" y="353931"/>
                  </a:lnTo>
                  <a:lnTo>
                    <a:pt x="392006" y="364383"/>
                  </a:lnTo>
                  <a:lnTo>
                    <a:pt x="381554" y="371430"/>
                  </a:lnTo>
                  <a:lnTo>
                    <a:pt x="368754" y="374015"/>
                  </a:lnTo>
                  <a:lnTo>
                    <a:pt x="32883" y="374015"/>
                  </a:lnTo>
                  <a:lnTo>
                    <a:pt x="20083" y="371430"/>
                  </a:lnTo>
                  <a:lnTo>
                    <a:pt x="9631" y="364383"/>
                  </a:lnTo>
                  <a:lnTo>
                    <a:pt x="2584" y="353931"/>
                  </a:lnTo>
                  <a:lnTo>
                    <a:pt x="0" y="341131"/>
                  </a:lnTo>
                  <a:lnTo>
                    <a:pt x="0" y="328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817918" y="2604515"/>
            <a:ext cx="152209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sz="1400" b="1" spc="4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r>
              <a:rPr sz="1400" b="1" spc="6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App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Operating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75" dirty="0"/>
              <a:t> </a:t>
            </a:r>
            <a:r>
              <a:rPr dirty="0"/>
              <a:t>Machine</a:t>
            </a:r>
            <a:r>
              <a:rPr spc="-70" dirty="0"/>
              <a:t> </a:t>
            </a:r>
            <a:r>
              <a:rPr spc="-10" dirty="0"/>
              <a:t>Monitor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24169"/>
            <a:ext cx="8140700" cy="136334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4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What’s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Machine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Monitor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(VMM)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?</a:t>
            </a:r>
            <a:endParaRPr sz="2800">
              <a:latin typeface="Arial MT"/>
              <a:cs typeface="Arial MT"/>
            </a:endParaRPr>
          </a:p>
          <a:p>
            <a:pPr marL="755650" marR="5080" indent="-285750">
              <a:lnSpc>
                <a:spcPct val="100800"/>
              </a:lnSpc>
              <a:spcBef>
                <a:spcPts val="615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VMM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Hypervisor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software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layer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virtualization.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10635"/>
            <a:ext cx="37122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architecture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76750" y="3409950"/>
            <a:ext cx="3295650" cy="2990850"/>
            <a:chOff x="4476750" y="3409950"/>
            <a:chExt cx="3295650" cy="29908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0" y="3822700"/>
              <a:ext cx="3276600" cy="25780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95800" y="3429000"/>
              <a:ext cx="1066800" cy="1435100"/>
            </a:xfrm>
            <a:custGeom>
              <a:avLst/>
              <a:gdLst/>
              <a:ahLst/>
              <a:cxnLst/>
              <a:rect l="l" t="t" r="r" b="b"/>
              <a:pathLst>
                <a:path w="1066800" h="1435100">
                  <a:moveTo>
                    <a:pt x="0" y="108450"/>
                  </a:moveTo>
                  <a:lnTo>
                    <a:pt x="8522" y="66236"/>
                  </a:lnTo>
                  <a:lnTo>
                    <a:pt x="31764" y="31764"/>
                  </a:lnTo>
                  <a:lnTo>
                    <a:pt x="66236" y="8522"/>
                  </a:lnTo>
                  <a:lnTo>
                    <a:pt x="108450" y="0"/>
                  </a:lnTo>
                  <a:lnTo>
                    <a:pt x="958349" y="0"/>
                  </a:lnTo>
                  <a:lnTo>
                    <a:pt x="1000563" y="8522"/>
                  </a:lnTo>
                  <a:lnTo>
                    <a:pt x="1035035" y="31764"/>
                  </a:lnTo>
                  <a:lnTo>
                    <a:pt x="1058277" y="66236"/>
                  </a:lnTo>
                  <a:lnTo>
                    <a:pt x="1066800" y="108450"/>
                  </a:lnTo>
                  <a:lnTo>
                    <a:pt x="1066800" y="1326650"/>
                  </a:lnTo>
                  <a:lnTo>
                    <a:pt x="1058277" y="1368863"/>
                  </a:lnTo>
                  <a:lnTo>
                    <a:pt x="1035035" y="1403335"/>
                  </a:lnTo>
                  <a:lnTo>
                    <a:pt x="1000563" y="1426577"/>
                  </a:lnTo>
                  <a:lnTo>
                    <a:pt x="958349" y="1435100"/>
                  </a:lnTo>
                  <a:lnTo>
                    <a:pt x="108450" y="1435100"/>
                  </a:lnTo>
                  <a:lnTo>
                    <a:pt x="66236" y="1426577"/>
                  </a:lnTo>
                  <a:lnTo>
                    <a:pt x="31764" y="1403335"/>
                  </a:lnTo>
                  <a:lnTo>
                    <a:pt x="8522" y="1368863"/>
                  </a:lnTo>
                  <a:lnTo>
                    <a:pt x="0" y="1326650"/>
                  </a:lnTo>
                  <a:lnTo>
                    <a:pt x="0" y="10845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4356100"/>
            <a:ext cx="2925762" cy="203676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53768" y="3482340"/>
            <a:ext cx="5511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C00000"/>
                </a:solidFill>
                <a:latin typeface="Cambria"/>
                <a:cs typeface="Cambria"/>
              </a:rPr>
              <a:t>VM1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88000" y="3429000"/>
            <a:ext cx="1066800" cy="1435100"/>
          </a:xfrm>
          <a:custGeom>
            <a:avLst/>
            <a:gdLst/>
            <a:ahLst/>
            <a:cxnLst/>
            <a:rect l="l" t="t" r="r" b="b"/>
            <a:pathLst>
              <a:path w="1066800" h="1435100">
                <a:moveTo>
                  <a:pt x="0" y="108450"/>
                </a:moveTo>
                <a:lnTo>
                  <a:pt x="8522" y="66236"/>
                </a:lnTo>
                <a:lnTo>
                  <a:pt x="31764" y="31764"/>
                </a:lnTo>
                <a:lnTo>
                  <a:pt x="66236" y="8522"/>
                </a:lnTo>
                <a:lnTo>
                  <a:pt x="108450" y="0"/>
                </a:lnTo>
                <a:lnTo>
                  <a:pt x="958349" y="0"/>
                </a:lnTo>
                <a:lnTo>
                  <a:pt x="1000563" y="8522"/>
                </a:lnTo>
                <a:lnTo>
                  <a:pt x="1035035" y="31764"/>
                </a:lnTo>
                <a:lnTo>
                  <a:pt x="1058277" y="66236"/>
                </a:lnTo>
                <a:lnTo>
                  <a:pt x="1066800" y="108450"/>
                </a:lnTo>
                <a:lnTo>
                  <a:pt x="1066800" y="1326650"/>
                </a:lnTo>
                <a:lnTo>
                  <a:pt x="1058277" y="1368863"/>
                </a:lnTo>
                <a:lnTo>
                  <a:pt x="1035035" y="1403335"/>
                </a:lnTo>
                <a:lnTo>
                  <a:pt x="1000563" y="1426577"/>
                </a:lnTo>
                <a:lnTo>
                  <a:pt x="958349" y="1435100"/>
                </a:lnTo>
                <a:lnTo>
                  <a:pt x="108450" y="1435100"/>
                </a:lnTo>
                <a:lnTo>
                  <a:pt x="66236" y="1426577"/>
                </a:lnTo>
                <a:lnTo>
                  <a:pt x="31764" y="1403335"/>
                </a:lnTo>
                <a:lnTo>
                  <a:pt x="8522" y="1368863"/>
                </a:lnTo>
                <a:lnTo>
                  <a:pt x="0" y="1326650"/>
                </a:lnTo>
                <a:lnTo>
                  <a:pt x="0" y="10845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45968" y="3482340"/>
            <a:ext cx="5511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C00000"/>
                </a:solidFill>
                <a:latin typeface="Cambria"/>
                <a:cs typeface="Cambria"/>
              </a:rPr>
              <a:t>VM2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92900" y="3429000"/>
            <a:ext cx="1066800" cy="1435100"/>
          </a:xfrm>
          <a:custGeom>
            <a:avLst/>
            <a:gdLst/>
            <a:ahLst/>
            <a:cxnLst/>
            <a:rect l="l" t="t" r="r" b="b"/>
            <a:pathLst>
              <a:path w="1066800" h="1435100">
                <a:moveTo>
                  <a:pt x="0" y="108450"/>
                </a:moveTo>
                <a:lnTo>
                  <a:pt x="8522" y="66236"/>
                </a:lnTo>
                <a:lnTo>
                  <a:pt x="31764" y="31764"/>
                </a:lnTo>
                <a:lnTo>
                  <a:pt x="66236" y="8522"/>
                </a:lnTo>
                <a:lnTo>
                  <a:pt x="108450" y="0"/>
                </a:lnTo>
                <a:lnTo>
                  <a:pt x="958349" y="0"/>
                </a:lnTo>
                <a:lnTo>
                  <a:pt x="1000563" y="8522"/>
                </a:lnTo>
                <a:lnTo>
                  <a:pt x="1035035" y="31764"/>
                </a:lnTo>
                <a:lnTo>
                  <a:pt x="1058277" y="66236"/>
                </a:lnTo>
                <a:lnTo>
                  <a:pt x="1066800" y="108450"/>
                </a:lnTo>
                <a:lnTo>
                  <a:pt x="1066800" y="1326650"/>
                </a:lnTo>
                <a:lnTo>
                  <a:pt x="1058277" y="1368863"/>
                </a:lnTo>
                <a:lnTo>
                  <a:pt x="1035035" y="1403335"/>
                </a:lnTo>
                <a:lnTo>
                  <a:pt x="1000563" y="1426577"/>
                </a:lnTo>
                <a:lnTo>
                  <a:pt x="958349" y="1435100"/>
                </a:lnTo>
                <a:lnTo>
                  <a:pt x="108450" y="1435100"/>
                </a:lnTo>
                <a:lnTo>
                  <a:pt x="66236" y="1426577"/>
                </a:lnTo>
                <a:lnTo>
                  <a:pt x="31764" y="1403335"/>
                </a:lnTo>
                <a:lnTo>
                  <a:pt x="8522" y="1368863"/>
                </a:lnTo>
                <a:lnTo>
                  <a:pt x="0" y="1326650"/>
                </a:lnTo>
                <a:lnTo>
                  <a:pt x="0" y="10845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950867" y="3482340"/>
            <a:ext cx="5511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C00000"/>
                </a:solidFill>
                <a:latin typeface="Cambria"/>
                <a:cs typeface="Cambria"/>
              </a:rPr>
              <a:t>VM3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75" dirty="0"/>
              <a:t> </a:t>
            </a:r>
            <a:r>
              <a:rPr dirty="0"/>
              <a:t>machines</a:t>
            </a:r>
            <a:r>
              <a:rPr spc="-7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17980"/>
            <a:ext cx="8060690" cy="2527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VMs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resources.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400"/>
              </a:lnSpc>
              <a:spcBef>
                <a:spcPts val="61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copy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system,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virtual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copy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hardware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operating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run.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quickly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CPU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Number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VMs</a:t>
            </a:r>
            <a:r>
              <a:rPr spc="-30" dirty="0"/>
              <a:t> </a:t>
            </a:r>
            <a:r>
              <a:rPr dirty="0"/>
              <a:t>per</a:t>
            </a:r>
            <a:r>
              <a:rPr spc="-35" dirty="0"/>
              <a:t> </a:t>
            </a:r>
            <a:r>
              <a:rPr spc="-10" dirty="0"/>
              <a:t>Host?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17980"/>
            <a:ext cx="7842250" cy="28816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much?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400"/>
              </a:lnSpc>
              <a:spcBef>
                <a:spcPts val="615"/>
              </a:spcBef>
              <a:buChar char="•"/>
              <a:tabLst>
                <a:tab pos="355600" algn="l"/>
                <a:tab pos="6354445" algn="l"/>
              </a:tabLst>
            </a:pPr>
            <a:r>
              <a:rPr sz="2400" dirty="0">
                <a:latin typeface="Arial MT"/>
                <a:cs typeface="Arial MT"/>
              </a:rPr>
              <a:t>500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VMs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but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sometimes </a:t>
            </a:r>
            <a:r>
              <a:rPr sz="2400" dirty="0">
                <a:latin typeface="Arial MT"/>
                <a:cs typeface="Arial MT"/>
              </a:rPr>
              <a:t>less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more.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Risk,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utilization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factor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5600" marR="163195" indent="-342900">
              <a:lnSpc>
                <a:spcPts val="278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Virtualization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doesn't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consolidate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servers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actually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something.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6437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Do</a:t>
            </a:r>
            <a:r>
              <a:rPr sz="3600" b="1" spc="-60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we</a:t>
            </a:r>
            <a:r>
              <a:rPr sz="3600" b="1" spc="-50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have</a:t>
            </a:r>
            <a:r>
              <a:rPr sz="3600" b="1" spc="-50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some</a:t>
            </a:r>
            <a:r>
              <a:rPr sz="3600" b="1" spc="-50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alternative?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841500"/>
            <a:ext cx="3670300" cy="863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3067811"/>
            <a:ext cx="765937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Docker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containers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wrap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up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piece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software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complete </a:t>
            </a:r>
            <a:r>
              <a:rPr sz="2000" i="1" dirty="0">
                <a:latin typeface="Arial"/>
                <a:cs typeface="Arial"/>
              </a:rPr>
              <a:t>filesystem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that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contains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everything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needs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to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run: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code,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runtime, </a:t>
            </a:r>
            <a:r>
              <a:rPr sz="2000" i="1" dirty="0">
                <a:latin typeface="Arial"/>
                <a:cs typeface="Arial"/>
              </a:rPr>
              <a:t>system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tools,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system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libraries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–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anything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you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install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server. </a:t>
            </a:r>
            <a:r>
              <a:rPr sz="2000" i="1" dirty="0">
                <a:latin typeface="Arial"/>
                <a:cs typeface="Arial"/>
              </a:rPr>
              <a:t>This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guarantees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that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will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always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run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same,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regardless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the </a:t>
            </a:r>
            <a:r>
              <a:rPr sz="2000" i="1" dirty="0">
                <a:latin typeface="Arial"/>
                <a:cs typeface="Arial"/>
              </a:rPr>
              <a:t>environment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it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is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running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in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3971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Docker</a:t>
            </a:r>
            <a:r>
              <a:rPr sz="3600" b="1" spc="-3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on</a:t>
            </a:r>
            <a:r>
              <a:rPr sz="3600" b="1" spc="-30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the</a:t>
            </a:r>
            <a:r>
              <a:rPr sz="3600" b="1" spc="-30" dirty="0">
                <a:latin typeface="Trebuchet MS"/>
                <a:cs typeface="Trebuchet MS"/>
              </a:rPr>
              <a:t> </a:t>
            </a:r>
            <a:r>
              <a:rPr sz="3600" b="1" spc="-20" dirty="0">
                <a:latin typeface="Trebuchet MS"/>
                <a:cs typeface="Trebuchet MS"/>
              </a:rPr>
              <a:t>rise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98712"/>
            <a:ext cx="8229600" cy="2746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-50" dirty="0"/>
              <a:t> </a:t>
            </a:r>
            <a:r>
              <a:rPr spc="-10" dirty="0"/>
              <a:t>containers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97228"/>
            <a:ext cx="8026400" cy="23723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53975" indent="-342900">
              <a:lnSpc>
                <a:spcPct val="100400"/>
              </a:lnSpc>
              <a:spcBef>
                <a:spcPts val="8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Containers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running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kernel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instantly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RAM.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8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You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stuff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containers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than VMs.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spc="-10" dirty="0"/>
              <a:t>different?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589088"/>
            <a:ext cx="4038600" cy="44307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55540" y="2611628"/>
            <a:ext cx="3430904" cy="258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virtual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machine </a:t>
            </a:r>
            <a:r>
              <a:rPr sz="2400" dirty="0">
                <a:latin typeface="Arial MT"/>
                <a:cs typeface="Arial MT"/>
              </a:rPr>
              <a:t>includes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application,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necessary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binaries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libraries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 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guest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operating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may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GBs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size.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spc="-10" dirty="0"/>
              <a:t>different?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6540" y="2154428"/>
            <a:ext cx="3366770" cy="2954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Containers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application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 </a:t>
            </a:r>
            <a:r>
              <a:rPr sz="2400" dirty="0">
                <a:latin typeface="Arial MT"/>
                <a:cs typeface="Arial MT"/>
              </a:rPr>
              <a:t>dependencies,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share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kernel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other </a:t>
            </a:r>
            <a:r>
              <a:rPr sz="2400" dirty="0">
                <a:latin typeface="Arial MT"/>
                <a:cs typeface="Arial MT"/>
              </a:rPr>
              <a:t>containers.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as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isolated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userspace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host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981200"/>
            <a:ext cx="46609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7790815" cy="2265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rebuchet MS"/>
                <a:cs typeface="Trebuchet MS"/>
              </a:rPr>
              <a:t>Installation</a:t>
            </a:r>
            <a:endParaRPr sz="3600">
              <a:latin typeface="Trebuchet MS"/>
              <a:cs typeface="Trebuchet MS"/>
            </a:endParaRPr>
          </a:p>
          <a:p>
            <a:pPr marL="584200" marR="5080" indent="-342900">
              <a:lnSpc>
                <a:spcPct val="100000"/>
              </a:lnSpc>
              <a:spcBef>
                <a:spcPts val="2700"/>
              </a:spcBef>
              <a:buChar char="•"/>
              <a:tabLst>
                <a:tab pos="5842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getting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guide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Docker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detailed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setting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Docker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Linux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Windows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583565" indent="-342265">
              <a:lnSpc>
                <a:spcPct val="100000"/>
              </a:lnSpc>
              <a:buChar char="•"/>
              <a:tabLst>
                <a:tab pos="583565" algn="l"/>
              </a:tabLst>
            </a:pP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Mac/Windows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variants,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Native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Toolbox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00"/>
            <a:ext cx="8994775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4692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Docker’s</a:t>
            </a:r>
            <a:r>
              <a:rPr sz="3600" b="1" spc="-6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architecture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1600"/>
            <a:ext cx="9144000" cy="49799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000"/>
            <a:ext cx="9144000" cy="29019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82637"/>
            <a:ext cx="9144000" cy="60753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Deploying</a:t>
            </a:r>
            <a:r>
              <a:rPr spc="-95" dirty="0"/>
              <a:t> </a:t>
            </a:r>
            <a:r>
              <a:rPr dirty="0"/>
              <a:t>Webapp</a:t>
            </a:r>
            <a:r>
              <a:rPr spc="-95" dirty="0"/>
              <a:t> </a:t>
            </a:r>
            <a:r>
              <a:rPr dirty="0"/>
              <a:t>with</a:t>
            </a:r>
            <a:r>
              <a:rPr spc="-95" dirty="0"/>
              <a:t> </a:t>
            </a:r>
            <a:r>
              <a:rPr spc="-10" dirty="0"/>
              <a:t>docker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97228"/>
            <a:ext cx="7690484" cy="200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deploy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static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Website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docker.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Web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directory,</a:t>
            </a:r>
            <a:endParaRPr sz="2400">
              <a:latin typeface="Arial MT"/>
              <a:cs typeface="Arial MT"/>
            </a:endParaRPr>
          </a:p>
          <a:p>
            <a:pPr marL="355600" marR="5080">
              <a:lnSpc>
                <a:spcPct val="1008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/Users/ehteshamzahoor/docker/staticweb,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 </a:t>
            </a:r>
            <a:r>
              <a:rPr sz="2400" spc="-10" dirty="0">
                <a:latin typeface="Arial MT"/>
                <a:cs typeface="Arial MT"/>
              </a:rPr>
              <a:t>index.html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Deploying</a:t>
            </a:r>
            <a:r>
              <a:rPr spc="-95" dirty="0"/>
              <a:t> </a:t>
            </a:r>
            <a:r>
              <a:rPr dirty="0"/>
              <a:t>Webapp</a:t>
            </a:r>
            <a:r>
              <a:rPr spc="-95" dirty="0"/>
              <a:t> </a:t>
            </a:r>
            <a:r>
              <a:rPr dirty="0"/>
              <a:t>with</a:t>
            </a:r>
            <a:r>
              <a:rPr spc="-95" dirty="0"/>
              <a:t> </a:t>
            </a:r>
            <a:r>
              <a:rPr spc="-10" dirty="0"/>
              <a:t>docker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96212"/>
            <a:ext cx="7699375" cy="27628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55600" marR="5080" indent="-342900">
              <a:lnSpc>
                <a:spcPct val="101899"/>
              </a:lnSpc>
              <a:spcBef>
                <a:spcPts val="2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same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directory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create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file </a:t>
            </a:r>
            <a:r>
              <a:rPr sz="3200" dirty="0">
                <a:latin typeface="Arial MT"/>
                <a:cs typeface="Arial MT"/>
              </a:rPr>
              <a:t>named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Dockerfile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following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contents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3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nginx:alpine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COPY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32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/usr/share/nginx/html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666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Deploying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Webapp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with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docker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4800"/>
            <a:ext cx="914400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666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Deploying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Webapp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with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docker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4800"/>
            <a:ext cx="914400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666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Deploying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Webapp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with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docker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06488"/>
            <a:ext cx="9144000" cy="575151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04164"/>
            <a:ext cx="666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rebuchet MS"/>
                <a:cs typeface="Trebuchet MS"/>
              </a:rPr>
              <a:t>Deploying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Webapp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dirty="0">
                <a:latin typeface="Trebuchet MS"/>
                <a:cs typeface="Trebuchet MS"/>
              </a:rPr>
              <a:t>with</a:t>
            </a:r>
            <a:r>
              <a:rPr sz="3600" b="1" spc="-95" dirty="0">
                <a:latin typeface="Trebuchet MS"/>
                <a:cs typeface="Trebuchet MS"/>
              </a:rPr>
              <a:t> </a:t>
            </a:r>
            <a:r>
              <a:rPr sz="3600" b="1" spc="-10" dirty="0">
                <a:latin typeface="Trebuchet MS"/>
                <a:cs typeface="Trebuchet MS"/>
              </a:rPr>
              <a:t>docker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08088"/>
            <a:ext cx="6858000" cy="56292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Deploying</a:t>
            </a:r>
            <a:r>
              <a:rPr spc="-95" dirty="0"/>
              <a:t> </a:t>
            </a:r>
            <a:r>
              <a:rPr dirty="0"/>
              <a:t>Webapp</a:t>
            </a:r>
            <a:r>
              <a:rPr spc="-95" dirty="0"/>
              <a:t> </a:t>
            </a:r>
            <a:r>
              <a:rPr dirty="0"/>
              <a:t>with</a:t>
            </a:r>
            <a:r>
              <a:rPr spc="-95" dirty="0"/>
              <a:t> </a:t>
            </a:r>
            <a:r>
              <a:rPr spc="-10" dirty="0"/>
              <a:t>docker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96212"/>
            <a:ext cx="7836534" cy="10102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55600" marR="5080" indent="-342900">
              <a:lnSpc>
                <a:spcPct val="101899"/>
              </a:lnSpc>
              <a:spcBef>
                <a:spcPts val="2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We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AWS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BeansTalk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our </a:t>
            </a:r>
            <a:r>
              <a:rPr sz="3200" dirty="0">
                <a:latin typeface="Arial MT"/>
                <a:cs typeface="Arial MT"/>
              </a:rPr>
              <a:t>WebApp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public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!!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0</a:t>
            </a:r>
            <a:r>
              <a:rPr lang="en-US" sz="2000" b="1" dirty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40" dirty="0"/>
              <a:t> </a:t>
            </a:r>
            <a:r>
              <a:rPr dirty="0"/>
              <a:t>helloAOS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10" dirty="0"/>
              <a:t>Docker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3189" y="2062945"/>
            <a:ext cx="3836035" cy="27857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767080">
              <a:lnSpc>
                <a:spcPts val="2400"/>
              </a:lnSpc>
              <a:spcBef>
                <a:spcPts val="290"/>
              </a:spcBef>
            </a:pPr>
            <a:r>
              <a:rPr sz="2100" i="1" spc="-45" dirty="0">
                <a:solidFill>
                  <a:srgbClr val="8F5902"/>
                </a:solidFill>
                <a:latin typeface="Courier New"/>
                <a:cs typeface="Courier New"/>
              </a:rPr>
              <a:t>#include</a:t>
            </a:r>
            <a:r>
              <a:rPr sz="2100" i="1" spc="-245" dirty="0">
                <a:solidFill>
                  <a:srgbClr val="8F5902"/>
                </a:solidFill>
                <a:latin typeface="Courier New"/>
                <a:cs typeface="Courier New"/>
              </a:rPr>
              <a:t> </a:t>
            </a:r>
            <a:r>
              <a:rPr sz="2100" i="1" spc="-10" dirty="0">
                <a:solidFill>
                  <a:srgbClr val="8F5902"/>
                </a:solidFill>
                <a:latin typeface="Courier New"/>
                <a:cs typeface="Courier New"/>
              </a:rPr>
              <a:t>&lt;iostream&gt; </a:t>
            </a:r>
            <a:r>
              <a:rPr sz="2100" i="1" spc="-25" dirty="0">
                <a:solidFill>
                  <a:srgbClr val="204A87"/>
                </a:solidFill>
                <a:latin typeface="Courier New"/>
                <a:cs typeface="Courier New"/>
              </a:rPr>
              <a:t>using</a:t>
            </a:r>
            <a:r>
              <a:rPr sz="2100" i="1" spc="-275" dirty="0">
                <a:solidFill>
                  <a:srgbClr val="204A87"/>
                </a:solidFill>
                <a:latin typeface="Courier New"/>
                <a:cs typeface="Courier New"/>
              </a:rPr>
              <a:t> </a:t>
            </a:r>
            <a:r>
              <a:rPr sz="2100" i="1" spc="-45" dirty="0">
                <a:solidFill>
                  <a:srgbClr val="204A87"/>
                </a:solidFill>
                <a:latin typeface="Courier New"/>
                <a:cs typeface="Courier New"/>
              </a:rPr>
              <a:t>namespace</a:t>
            </a:r>
            <a:r>
              <a:rPr sz="2100" i="1" spc="-270" dirty="0">
                <a:solidFill>
                  <a:srgbClr val="204A87"/>
                </a:solidFill>
                <a:latin typeface="Courier New"/>
                <a:cs typeface="Courier New"/>
              </a:rPr>
              <a:t> </a:t>
            </a:r>
            <a:r>
              <a:rPr sz="2100" i="1" spc="-60" dirty="0">
                <a:latin typeface="Courier New"/>
                <a:cs typeface="Courier New"/>
              </a:rPr>
              <a:t>std;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40"/>
              </a:spcBef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ts val="2460"/>
              </a:lnSpc>
            </a:pPr>
            <a:r>
              <a:rPr sz="2100" i="1" dirty="0">
                <a:solidFill>
                  <a:srgbClr val="204A87"/>
                </a:solidFill>
                <a:latin typeface="Courier New"/>
                <a:cs typeface="Courier New"/>
              </a:rPr>
              <a:t>int</a:t>
            </a:r>
            <a:r>
              <a:rPr sz="2100" i="1" spc="-265" dirty="0">
                <a:solidFill>
                  <a:srgbClr val="204A87"/>
                </a:solidFill>
                <a:latin typeface="Courier New"/>
                <a:cs typeface="Courier New"/>
              </a:rPr>
              <a:t> </a:t>
            </a:r>
            <a:r>
              <a:rPr sz="2100" i="1" spc="-10" dirty="0">
                <a:latin typeface="Courier New"/>
                <a:cs typeface="Courier New"/>
              </a:rPr>
              <a:t>main()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ts val="2400"/>
              </a:lnSpc>
            </a:pPr>
            <a:r>
              <a:rPr sz="2100" i="1" spc="-50" dirty="0"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17500" marR="5080">
              <a:lnSpc>
                <a:spcPts val="2400"/>
              </a:lnSpc>
              <a:spcBef>
                <a:spcPts val="120"/>
              </a:spcBef>
            </a:pPr>
            <a:r>
              <a:rPr sz="2100" i="1" spc="-10" dirty="0">
                <a:latin typeface="Courier New"/>
                <a:cs typeface="Courier New"/>
              </a:rPr>
              <a:t>cout</a:t>
            </a:r>
            <a:r>
              <a:rPr sz="2100" i="1" spc="-254" dirty="0">
                <a:latin typeface="Courier New"/>
                <a:cs typeface="Courier New"/>
              </a:rPr>
              <a:t> </a:t>
            </a:r>
            <a:r>
              <a:rPr sz="2100" i="1" dirty="0">
                <a:solidFill>
                  <a:srgbClr val="CE5C00"/>
                </a:solidFill>
                <a:latin typeface="Courier New"/>
                <a:cs typeface="Courier New"/>
              </a:rPr>
              <a:t>&lt;&lt;</a:t>
            </a:r>
            <a:r>
              <a:rPr sz="2100" i="1" spc="-254" dirty="0">
                <a:solidFill>
                  <a:srgbClr val="CE5C00"/>
                </a:solidFill>
                <a:latin typeface="Courier New"/>
                <a:cs typeface="Courier New"/>
              </a:rPr>
              <a:t> </a:t>
            </a:r>
            <a:r>
              <a:rPr sz="2100" i="1" spc="-35" dirty="0">
                <a:solidFill>
                  <a:srgbClr val="4E9A06"/>
                </a:solidFill>
                <a:latin typeface="Courier New"/>
                <a:cs typeface="Courier New"/>
              </a:rPr>
              <a:t>"Hello</a:t>
            </a:r>
            <a:r>
              <a:rPr sz="2100" i="1" spc="-250" dirty="0">
                <a:solidFill>
                  <a:srgbClr val="4E9A06"/>
                </a:solidFill>
                <a:latin typeface="Courier New"/>
                <a:cs typeface="Courier New"/>
              </a:rPr>
              <a:t> </a:t>
            </a:r>
            <a:r>
              <a:rPr sz="2100" i="1" dirty="0">
                <a:solidFill>
                  <a:srgbClr val="4E9A06"/>
                </a:solidFill>
                <a:latin typeface="Courier New"/>
                <a:cs typeface="Courier New"/>
              </a:rPr>
              <a:t>AOS</a:t>
            </a:r>
            <a:r>
              <a:rPr sz="2100" i="1" spc="-254" dirty="0">
                <a:solidFill>
                  <a:srgbClr val="4E9A06"/>
                </a:solidFill>
                <a:latin typeface="Courier New"/>
                <a:cs typeface="Courier New"/>
              </a:rPr>
              <a:t> </a:t>
            </a:r>
            <a:r>
              <a:rPr sz="2100" i="1" spc="-60" dirty="0">
                <a:solidFill>
                  <a:srgbClr val="4E9A06"/>
                </a:solidFill>
                <a:latin typeface="Courier New"/>
                <a:cs typeface="Courier New"/>
              </a:rPr>
              <a:t>\n"</a:t>
            </a:r>
            <a:r>
              <a:rPr sz="2100" i="1" spc="-60" dirty="0">
                <a:latin typeface="Courier New"/>
                <a:cs typeface="Courier New"/>
              </a:rPr>
              <a:t>; </a:t>
            </a:r>
            <a:r>
              <a:rPr sz="2100" i="1" spc="-35" dirty="0">
                <a:solidFill>
                  <a:srgbClr val="204A87"/>
                </a:solidFill>
                <a:latin typeface="Courier New"/>
                <a:cs typeface="Courier New"/>
              </a:rPr>
              <a:t>return</a:t>
            </a:r>
            <a:r>
              <a:rPr sz="2100" i="1" spc="-260" dirty="0">
                <a:solidFill>
                  <a:srgbClr val="204A87"/>
                </a:solidFill>
                <a:latin typeface="Courier New"/>
                <a:cs typeface="Courier New"/>
              </a:rPr>
              <a:t> </a:t>
            </a:r>
            <a:r>
              <a:rPr sz="2100" i="1" spc="-25" dirty="0">
                <a:solidFill>
                  <a:srgbClr val="0000CF"/>
                </a:solidFill>
                <a:latin typeface="Courier New"/>
                <a:cs typeface="Courier New"/>
              </a:rPr>
              <a:t>0</a:t>
            </a:r>
            <a:r>
              <a:rPr sz="2100" i="1" spc="-25" dirty="0"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ts val="2340"/>
              </a:lnSpc>
            </a:pPr>
            <a:r>
              <a:rPr sz="2100" i="1" spc="-50" dirty="0"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811"/>
            <a:ext cx="3709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Lecture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lang="en-US" sz="2000" b="1" spc="-55" dirty="0">
                <a:solidFill>
                  <a:srgbClr val="0D0D0D"/>
                </a:solidFill>
                <a:latin typeface="Arial"/>
                <a:cs typeface="Arial"/>
              </a:rPr>
              <a:t>02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: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D0D0D"/>
                </a:solidFill>
                <a:latin typeface="Arial"/>
                <a:cs typeface="Arial"/>
              </a:rPr>
              <a:t>Docker</a:t>
            </a:r>
            <a:r>
              <a:rPr sz="2000" b="1" spc="-5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D0D0D"/>
                </a:solidFill>
                <a:latin typeface="Arial"/>
                <a:cs typeface="Arial"/>
              </a:rPr>
              <a:t>Containers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Dockerfile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950"/>
              </a:lnSpc>
              <a:spcBef>
                <a:spcPts val="135"/>
              </a:spcBef>
            </a:pPr>
            <a:r>
              <a:rPr dirty="0"/>
              <a:t>FROM</a:t>
            </a:r>
            <a:r>
              <a:rPr spc="-325" dirty="0"/>
              <a:t> </a:t>
            </a:r>
            <a:r>
              <a:rPr spc="-10" dirty="0">
                <a:solidFill>
                  <a:srgbClr val="F57900"/>
                </a:solidFill>
              </a:rPr>
              <a:t>gcc</a:t>
            </a:r>
            <a:r>
              <a:rPr spc="-10" dirty="0"/>
              <a:t>:</a:t>
            </a:r>
            <a:r>
              <a:rPr spc="-10" dirty="0">
                <a:solidFill>
                  <a:srgbClr val="0000CF"/>
                </a:solidFill>
              </a:rPr>
              <a:t>4.9</a:t>
            </a:r>
          </a:p>
          <a:p>
            <a:pPr marL="12700" marR="2195830">
              <a:lnSpc>
                <a:spcPct val="94800"/>
              </a:lnSpc>
              <a:spcBef>
                <a:spcPts val="105"/>
              </a:spcBef>
            </a:pPr>
            <a:r>
              <a:rPr dirty="0"/>
              <a:t>RUN</a:t>
            </a:r>
            <a:r>
              <a:rPr spc="-245" dirty="0"/>
              <a:t> </a:t>
            </a:r>
            <a:r>
              <a:rPr spc="-10" dirty="0"/>
              <a:t>mkdir</a:t>
            </a:r>
            <a:r>
              <a:rPr spc="-245" dirty="0"/>
              <a:t> </a:t>
            </a:r>
            <a:r>
              <a:rPr spc="-65" dirty="0">
                <a:solidFill>
                  <a:srgbClr val="CE5C00"/>
                </a:solidFill>
              </a:rPr>
              <a:t>-</a:t>
            </a:r>
            <a:r>
              <a:rPr dirty="0"/>
              <a:t>p</a:t>
            </a:r>
            <a:r>
              <a:rPr spc="-240" dirty="0"/>
              <a:t> </a:t>
            </a:r>
            <a:r>
              <a:rPr spc="-70" dirty="0">
                <a:solidFill>
                  <a:srgbClr val="CE5C00"/>
                </a:solidFill>
              </a:rPr>
              <a:t>/</a:t>
            </a:r>
            <a:r>
              <a:rPr spc="-70" dirty="0"/>
              <a:t>app </a:t>
            </a:r>
            <a:r>
              <a:rPr dirty="0"/>
              <a:t>COPY</a:t>
            </a:r>
            <a:r>
              <a:rPr spc="-240" dirty="0"/>
              <a:t> </a:t>
            </a:r>
            <a:r>
              <a:rPr dirty="0"/>
              <a:t>.</a:t>
            </a:r>
            <a:r>
              <a:rPr spc="-225" dirty="0"/>
              <a:t> </a:t>
            </a:r>
            <a:r>
              <a:rPr spc="-20" dirty="0">
                <a:solidFill>
                  <a:srgbClr val="CE5C00"/>
                </a:solidFill>
              </a:rPr>
              <a:t>/</a:t>
            </a:r>
            <a:r>
              <a:rPr spc="-20" dirty="0"/>
              <a:t>app </a:t>
            </a:r>
            <a:r>
              <a:rPr spc="-30" dirty="0"/>
              <a:t>WORKDIR</a:t>
            </a:r>
            <a:r>
              <a:rPr spc="-310" dirty="0"/>
              <a:t> </a:t>
            </a:r>
            <a:r>
              <a:rPr spc="-20" dirty="0">
                <a:solidFill>
                  <a:srgbClr val="CE5C00"/>
                </a:solidFill>
              </a:rPr>
              <a:t>/</a:t>
            </a:r>
            <a:r>
              <a:rPr spc="-20" dirty="0"/>
              <a:t>app</a:t>
            </a:r>
          </a:p>
          <a:p>
            <a:pPr marL="12700" marR="5080">
              <a:lnSpc>
                <a:spcPts val="2900"/>
              </a:lnSpc>
              <a:spcBef>
                <a:spcPts val="85"/>
              </a:spcBef>
            </a:pPr>
            <a:r>
              <a:rPr dirty="0"/>
              <a:t>RUN</a:t>
            </a:r>
            <a:r>
              <a:rPr spc="-250" dirty="0"/>
              <a:t> </a:t>
            </a:r>
            <a:r>
              <a:rPr dirty="0"/>
              <a:t>g</a:t>
            </a:r>
            <a:r>
              <a:rPr dirty="0">
                <a:solidFill>
                  <a:srgbClr val="CE5C00"/>
                </a:solidFill>
              </a:rPr>
              <a:t>++</a:t>
            </a:r>
            <a:r>
              <a:rPr spc="-240" dirty="0">
                <a:solidFill>
                  <a:srgbClr val="CE5C00"/>
                </a:solidFill>
              </a:rPr>
              <a:t> </a:t>
            </a:r>
            <a:r>
              <a:rPr spc="-45" dirty="0"/>
              <a:t>helloaos.cpp</a:t>
            </a:r>
            <a:r>
              <a:rPr spc="-240" dirty="0"/>
              <a:t> </a:t>
            </a:r>
            <a:r>
              <a:rPr spc="-65" dirty="0">
                <a:solidFill>
                  <a:srgbClr val="CE5C00"/>
                </a:solidFill>
              </a:rPr>
              <a:t>-</a:t>
            </a:r>
            <a:r>
              <a:rPr dirty="0"/>
              <a:t>o</a:t>
            </a:r>
            <a:r>
              <a:rPr spc="-235" dirty="0"/>
              <a:t> </a:t>
            </a:r>
            <a:r>
              <a:rPr spc="-65" dirty="0"/>
              <a:t>hello </a:t>
            </a:r>
            <a:r>
              <a:rPr dirty="0"/>
              <a:t>RUN</a:t>
            </a:r>
            <a:r>
              <a:rPr spc="-265" dirty="0"/>
              <a:t> </a:t>
            </a:r>
            <a:r>
              <a:rPr spc="-10" dirty="0"/>
              <a:t>chmod</a:t>
            </a:r>
            <a:r>
              <a:rPr spc="-265" dirty="0"/>
              <a:t> </a:t>
            </a:r>
            <a:r>
              <a:rPr dirty="0">
                <a:solidFill>
                  <a:srgbClr val="CE5C00"/>
                </a:solidFill>
              </a:rPr>
              <a:t>+</a:t>
            </a:r>
            <a:r>
              <a:rPr dirty="0"/>
              <a:t>x</a:t>
            </a:r>
            <a:r>
              <a:rPr spc="-265" dirty="0"/>
              <a:t> </a:t>
            </a:r>
            <a:r>
              <a:rPr spc="-10" dirty="0"/>
              <a:t>hello</a:t>
            </a:r>
          </a:p>
          <a:p>
            <a:pPr marL="12700">
              <a:lnSpc>
                <a:spcPts val="2830"/>
              </a:lnSpc>
            </a:pPr>
            <a:r>
              <a:rPr dirty="0"/>
              <a:t>CMD</a:t>
            </a:r>
            <a:r>
              <a:rPr spc="-260" dirty="0"/>
              <a:t> </a:t>
            </a:r>
            <a:r>
              <a:rPr spc="-10" dirty="0"/>
              <a:t>[</a:t>
            </a:r>
            <a:r>
              <a:rPr spc="-10" dirty="0">
                <a:solidFill>
                  <a:srgbClr val="4E9A06"/>
                </a:solidFill>
              </a:rPr>
              <a:t>"./hello"</a:t>
            </a:r>
            <a:r>
              <a:rPr spc="-10" dirty="0"/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1052</Words>
  <Application>Microsoft Office PowerPoint</Application>
  <PresentationFormat>On-screen Show (4:3)</PresentationFormat>
  <Paragraphs>169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ＭＳ Ｐゴシック</vt:lpstr>
      <vt:lpstr>Aptos</vt:lpstr>
      <vt:lpstr>Arial</vt:lpstr>
      <vt:lpstr>Arial MT</vt:lpstr>
      <vt:lpstr>Calibri</vt:lpstr>
      <vt:lpstr>Cambria</vt:lpstr>
      <vt:lpstr>Courier New</vt:lpstr>
      <vt:lpstr>Helvetica</vt:lpstr>
      <vt:lpstr>Monotype Sorts</vt:lpstr>
      <vt:lpstr>Times New Roman</vt:lpstr>
      <vt:lpstr>Trebuchet MS</vt:lpstr>
      <vt:lpstr>Wingdings</vt:lpstr>
      <vt:lpstr>Office Theme</vt:lpstr>
      <vt:lpstr>Lecture6 (Number System)</vt:lpstr>
      <vt:lpstr>Lecture 02: Docker Containers</vt:lpstr>
      <vt:lpstr>Virtualization</vt:lpstr>
      <vt:lpstr>Lecture 02: Docker Containers</vt:lpstr>
      <vt:lpstr>Virtual Machines</vt:lpstr>
      <vt:lpstr>Question</vt:lpstr>
      <vt:lpstr>Solution – Virtual Machine</vt:lpstr>
      <vt:lpstr>Virtual Machines (Cont)</vt:lpstr>
      <vt:lpstr>Java Virtual Machine</vt:lpstr>
      <vt:lpstr>The Java Virtual Machine</vt:lpstr>
      <vt:lpstr>The Java Platform</vt:lpstr>
      <vt:lpstr>Java .class File on Cross Platforms</vt:lpstr>
      <vt:lpstr>Java Development Environment</vt:lpstr>
      <vt:lpstr>Lecture 02: Docker Containers</vt:lpstr>
      <vt:lpstr>Virtual Machine Monitor</vt:lpstr>
      <vt:lpstr>Virtual machines limitations</vt:lpstr>
      <vt:lpstr>Number of VMs per Host?</vt:lpstr>
      <vt:lpstr>Lecture 02: Docker Containers</vt:lpstr>
      <vt:lpstr>Lecture 02: Docker Containers</vt:lpstr>
      <vt:lpstr>Docker containers</vt:lpstr>
      <vt:lpstr>How is this different?</vt:lpstr>
      <vt:lpstr>How is this different?</vt:lpstr>
      <vt:lpstr>Lecture 02: Docker Containers</vt:lpstr>
      <vt:lpstr>Lecture 02: Docker Containers</vt:lpstr>
      <vt:lpstr>Lecture 02: Docker Containers</vt:lpstr>
      <vt:lpstr>Lecture 02: Docker Containers</vt:lpstr>
      <vt:lpstr>Lecture 02: Docker Containers</vt:lpstr>
      <vt:lpstr>Deploying Webapp with docker</vt:lpstr>
      <vt:lpstr>Deploying Webapp with docker</vt:lpstr>
      <vt:lpstr>Lecture 02: Docker Containers</vt:lpstr>
      <vt:lpstr>Lecture 02: Docker Containers</vt:lpstr>
      <vt:lpstr>Lecture 02: Docker Containers</vt:lpstr>
      <vt:lpstr>Lecture 02: Docker Containers</vt:lpstr>
      <vt:lpstr>Deploying Webapp with docker</vt:lpstr>
      <vt:lpstr>Running helloAOS – on Docker</vt:lpstr>
      <vt:lpstr>Dockerfile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Shahid Anjum</cp:lastModifiedBy>
  <cp:revision>28</cp:revision>
  <dcterms:created xsi:type="dcterms:W3CDTF">2025-01-22T06:54:08Z</dcterms:created>
  <dcterms:modified xsi:type="dcterms:W3CDTF">2025-01-22T07:23:09Z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2025-01-22T00:00:00Z</vt:filetime>
  </property>
  <property fmtid="{D5CDD505-2E9C-101B-9397-08002B2CF9AE}" pid="3" name="LastSaved">
    <vt:filetime>2025-01-22T00:00:00Z</vt:filetime>
  </property>
  <property fmtid="{D5CDD505-2E9C-101B-9397-08002B2CF9AE}" pid="4" name="Producer">
    <vt:lpwstr>iLovePDF</vt:lpwstr>
  </property>
</Properties>
</file>