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  <p:sldMasterId id="2147483728" r:id="rId2"/>
    <p:sldMasterId id="2147483740" r:id="rId3"/>
    <p:sldMasterId id="2147483752" r:id="rId4"/>
    <p:sldMasterId id="2147483776" r:id="rId5"/>
    <p:sldMasterId id="2147483789" r:id="rId6"/>
    <p:sldMasterId id="2147483801" r:id="rId7"/>
    <p:sldMasterId id="2147483813" r:id="rId8"/>
    <p:sldMasterId id="2147483825" r:id="rId9"/>
  </p:sldMasterIdLst>
  <p:notesMasterIdLst>
    <p:notesMasterId r:id="rId57"/>
  </p:notesMasterIdLst>
  <p:handoutMasterIdLst>
    <p:handoutMasterId r:id="rId58"/>
  </p:handoutMasterIdLst>
  <p:sldIdLst>
    <p:sldId id="259" r:id="rId10"/>
    <p:sldId id="348" r:id="rId11"/>
    <p:sldId id="349" r:id="rId12"/>
    <p:sldId id="311" r:id="rId13"/>
    <p:sldId id="278" r:id="rId14"/>
    <p:sldId id="279" r:id="rId15"/>
    <p:sldId id="312" r:id="rId16"/>
    <p:sldId id="276" r:id="rId17"/>
    <p:sldId id="310" r:id="rId18"/>
    <p:sldId id="343" r:id="rId19"/>
    <p:sldId id="277" r:id="rId20"/>
    <p:sldId id="332" r:id="rId21"/>
    <p:sldId id="344" r:id="rId22"/>
    <p:sldId id="341" r:id="rId23"/>
    <p:sldId id="334" r:id="rId24"/>
    <p:sldId id="335" r:id="rId25"/>
    <p:sldId id="336" r:id="rId26"/>
    <p:sldId id="337" r:id="rId27"/>
    <p:sldId id="342" r:id="rId28"/>
    <p:sldId id="283" r:id="rId29"/>
    <p:sldId id="339" r:id="rId30"/>
    <p:sldId id="338" r:id="rId31"/>
    <p:sldId id="364" r:id="rId32"/>
    <p:sldId id="350" r:id="rId33"/>
    <p:sldId id="353" r:id="rId34"/>
    <p:sldId id="370" r:id="rId35"/>
    <p:sldId id="372" r:id="rId36"/>
    <p:sldId id="376" r:id="rId37"/>
    <p:sldId id="377" r:id="rId38"/>
    <p:sldId id="378" r:id="rId39"/>
    <p:sldId id="382" r:id="rId40"/>
    <p:sldId id="381" r:id="rId41"/>
    <p:sldId id="383" r:id="rId42"/>
    <p:sldId id="375" r:id="rId43"/>
    <p:sldId id="351" r:id="rId44"/>
    <p:sldId id="352" r:id="rId45"/>
    <p:sldId id="324" r:id="rId46"/>
    <p:sldId id="354" r:id="rId47"/>
    <p:sldId id="366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CCFF"/>
    <a:srgbClr val="9999FF"/>
    <a:srgbClr val="CCCCFF"/>
    <a:srgbClr val="CC99FF"/>
    <a:srgbClr val="9966FF"/>
    <a:srgbClr val="CCFF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94" y="6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BE4073C6-CF8E-47BB-9CFB-0D8808413AB3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</a:t>
            </a:r>
            <a:r>
              <a:rPr lang="en-US" altLang="ja-JP" smtClean="0"/>
              <a:t> </a:t>
            </a:r>
            <a:r>
              <a:rPr lang="ja-JP" altLang="en-US" smtClean="0"/>
              <a:t>テキストの書式設定</a:t>
            </a:r>
            <a:endParaRPr lang="en-US" altLang="ja-JP" smtClean="0"/>
          </a:p>
          <a:p>
            <a:pPr lvl="1"/>
            <a:r>
              <a:rPr lang="ja-JP" altLang="en-US" smtClean="0"/>
              <a:t>第</a:t>
            </a:r>
            <a:r>
              <a:rPr lang="en-US" altLang="ja-JP" smtClean="0"/>
              <a:t> 2 </a:t>
            </a:r>
            <a:r>
              <a:rPr lang="ja-JP" altLang="en-US" smtClean="0"/>
              <a:t>レベル</a:t>
            </a:r>
            <a:endParaRPr lang="en-US" altLang="ja-JP" smtClean="0"/>
          </a:p>
          <a:p>
            <a:pPr lvl="2"/>
            <a:r>
              <a:rPr lang="ja-JP" altLang="en-US" smtClean="0"/>
              <a:t>第</a:t>
            </a:r>
            <a:r>
              <a:rPr lang="en-US" altLang="ja-JP" smtClean="0"/>
              <a:t> 3 </a:t>
            </a:r>
            <a:r>
              <a:rPr lang="ja-JP" altLang="en-US" smtClean="0"/>
              <a:t>レベル</a:t>
            </a:r>
            <a:endParaRPr lang="en-US" altLang="ja-JP" smtClean="0"/>
          </a:p>
          <a:p>
            <a:pPr lvl="3"/>
            <a:r>
              <a:rPr lang="ja-JP" altLang="en-US" smtClean="0"/>
              <a:t>第</a:t>
            </a:r>
            <a:r>
              <a:rPr lang="en-US" altLang="ja-JP" smtClean="0"/>
              <a:t> 4 </a:t>
            </a:r>
            <a:r>
              <a:rPr lang="ja-JP" altLang="en-US" smtClean="0"/>
              <a:t>レベル</a:t>
            </a:r>
            <a:endParaRPr lang="en-US" altLang="ja-JP" smtClean="0"/>
          </a:p>
          <a:p>
            <a:pPr lvl="4"/>
            <a:r>
              <a:rPr lang="ja-JP" altLang="en-US" smtClean="0"/>
              <a:t>第</a:t>
            </a:r>
            <a:r>
              <a:rPr lang="en-US" altLang="ja-JP" smtClean="0"/>
              <a:t> 5 </a:t>
            </a:r>
            <a:r>
              <a:rPr lang="ja-JP" altLang="en-US" smtClean="0"/>
              <a:t>レベル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ja-JP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8E2287F6-F4CE-458D-881C-A942591B0FCA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ＭＳ Ｐ明朝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ＭＳ Ｐ明朝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ＭＳ Ｐ明朝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ＭＳ Ｐ明朝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ＭＳ Ｐ明朝" charset="-128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3793A84-1057-41E0-B5B4-2D980F6E1340}" type="slidenum">
              <a:rPr lang="en-US" altLang="ja-JP" sz="1200"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ja-JP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ja-JP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61923C0-4860-4FF6-9200-88ECE16CB9F7}" type="slidenum">
              <a:rPr lang="en-GB" altLang="en-US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 smtClean="0">
              <a:cs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38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4FC4525-3D04-4D82-BFFA-521B1F1E5373}" type="slidenum">
              <a:rPr lang="en-GB" altLang="en-US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 smtClean="0"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319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597C0A-1FEA-4454-99ED-AD78005EE1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cs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8580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895C0-8772-4F9A-8884-FF970B5AC80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cs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9677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12C652-839F-48B5-85C0-4E453DAB5C7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cs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516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FE71C4-5EC1-4407-A1CF-88625CFB50D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3069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4966FA-9BB7-4C75-A178-7880656FD4B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2325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67E7A4-1AFC-444A-96C9-44D60B783A6A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788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B08F91-4DB7-4395-95F4-A06A50AA5B4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585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A42490-9A58-4365-A579-C9F5A651AB87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440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613072-D941-41D5-8CD9-9A0267CA7F6F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3096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71B21A-3232-48C9-80D7-1531C2813F02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113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2CF355-A4E4-46D2-8A82-3644DE237D0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7854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3119E-CB87-4701-A92C-BE2ECD6B93F7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2426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B5FF8-B430-462B-9E79-56B0FF9B8EC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539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DFDCC1-5CE9-4A17-956C-36C9B4FE817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48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91926B-710B-4C05-A53C-0D10B07F9F3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97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D3AC6D-1C7A-4743-B73F-4BA23E4BB28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3027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1929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E69973-03E0-45A5-90C9-331E492C6300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0309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B7FBB-58A8-4F1B-84CC-6E57D8ED65E8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15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C9BED6-0AE6-47A4-966F-0329874E537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833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A9F856-2A94-4B57-817C-63C9FDB724F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003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0034EB-658D-42F0-B412-83A8220D8658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6827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D87C6A-82D8-49B9-9B34-A2EC5FD05029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605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27B408-CA65-4C07-AC30-AA6BD2B5E32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780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757477-6A6C-463A-BE37-AE4B9D4B3506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04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149F39-92EF-4A49-8661-5A4B5F201224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4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19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4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598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2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5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05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29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954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8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13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580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16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6403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27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20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2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98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4790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1300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770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8FE0D9-6FB5-40F8-A4E8-0EDC3461B4A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19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ADB786-E409-4ED1-A9B0-AB4F867741D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90317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EB872A-1B02-497D-8151-D445B19084A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227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B8F867-A1A1-4313-BE62-3BFF8A1E3B1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2999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7699D4-4F2A-4EEA-BD95-BFABF88640C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632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CAF1C7-37A2-4509-A018-80D798B5D38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3594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6834F3-9912-466F-B4DD-363CCA3AD2F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561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9F2337-BF57-4DC5-9E39-4CDF98706A3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362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7E02E4-613A-482F-A601-71643FCFE76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4350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A1AB08-E5B5-4FA2-81DA-838E6256677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0829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78727C-8B67-43C7-8330-045F7653340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9081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0DBD5D-28D4-4E2F-B1A5-13F96468575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6001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C65D7A-6C05-4A4B-8F41-4C7527D66D2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2887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0E08F9-2557-431F-925D-F43C52C5B31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9557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CFCB41-F03F-4DBC-B512-B6F47A25B14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3058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7FC576-E298-4D2B-96BC-8E22DCCE8C6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1972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C2166F-550B-4D7D-8B62-07DA6129C9A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0821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52D3B8-7BD7-462D-81F3-08BA4FD9F15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6066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B8C4C3-678F-40AC-85AA-0711217C14D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96418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5DE647-5770-46D7-A89E-25750A22297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0119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0DF607-9CB8-40C7-8FDE-3E9EFFA3ACA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3917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B54D1F-2441-46E2-AAE0-2824DFE0EB8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79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10A1A-3DB5-4D22-91C7-066548D044FB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668956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7AEA-CFF6-4AE3-BDB3-CFAD139104D7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36171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CE58B-92F2-4798-9686-3474C452397E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21808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0868A-8F65-4742-8557-0F3CCA7BA1E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899641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BD73-9638-45D8-B501-FC785118E102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62467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13AD9-014D-42CA-BE18-A698C8BC4537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644596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32E39-5E65-4F43-85C1-238F067E6C20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815046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0C92C-63F5-437F-BF71-4B96D4E9482A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69654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28F3B-57D8-4488-9DF1-C1A4B3D64097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500124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C2D7-660F-46A4-8343-FEDF09A5AA2D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509953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C12DC-8F8B-4886-9E19-A0666FD50285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78619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288" y="325438"/>
            <a:ext cx="7885112" cy="962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28700" y="1635125"/>
            <a:ext cx="3867150" cy="4460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5048250" y="1635125"/>
            <a:ext cx="3867150" cy="446087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14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400" y="6400800"/>
            <a:ext cx="3048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Chapter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642938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E28953-42AD-4DDE-A2F5-E8F69901675A}" type="slidenum">
              <a:rPr kumimoji="1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1701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E68C8-9953-4794-B3EF-E6CC6D565F4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3674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569E79-5A7F-4839-8E52-483E16F1000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0332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7A27A8-5C9A-47B1-BEA3-71507A4135E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9123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DEC056-B938-44C1-B969-6FCA0926D30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4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557198-2C82-409E-8170-97FDB7D0117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0373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55ADBF-7475-4E29-A761-1D407989B2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7542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1B6FB-D91B-4241-B6A5-02C4BF08E4D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420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3951CF-7C38-4BD2-B168-FF7C5B6B9F5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8437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A68D3C-26F5-4003-9F04-A43D55EA982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D55B89-3C96-4D5D-B35A-831B8523294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8430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8CA9DF-47FB-460C-B9C9-2BE98C587C2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4900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19669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441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33464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828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38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963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46786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845313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9042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57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7025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E68C8-9953-4794-B3EF-E6CC6D565F4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8327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569E79-5A7F-4839-8E52-483E16F1000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3329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7A27A8-5C9A-47B1-BEA3-71507A4135E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4646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DEC056-B938-44C1-B969-6FCA0926D30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26851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557198-2C82-409E-8170-97FDB7D0117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249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55ADBF-7475-4E29-A761-1D407989B2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0702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1B6FB-D91B-4241-B6A5-02C4BF08E4D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39588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3951CF-7C38-4BD2-B168-FF7C5B6B9F5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27282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A68D3C-26F5-4003-9F04-A43D55EA982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22049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D55B89-3C96-4D5D-B35A-831B8523294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53609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8CA9DF-47FB-460C-B9C9-2BE98C587C2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59916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E68C8-9953-4794-B3EF-E6CC6D565F42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8643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569E79-5A7F-4839-8E52-483E16F1000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1977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7A27A8-5C9A-47B1-BEA3-71507A4135E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19358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DEC056-B938-44C1-B969-6FCA0926D30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6583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557198-2C82-409E-8170-97FDB7D0117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31195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55ADBF-7475-4E29-A761-1D407989B2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56593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41B6FB-D91B-4241-B6A5-02C4BF08E4D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38978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3951CF-7C38-4BD2-B168-FF7C5B6B9F5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11256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A68D3C-26F5-4003-9F04-A43D55EA982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2838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D55B89-3C96-4D5D-B35A-831B8523294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25587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72250" y="533400"/>
            <a:ext cx="2114550" cy="5592763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8600" y="533400"/>
            <a:ext cx="6191250" cy="55927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8CA9DF-47FB-460C-B9C9-2BE98C587C2D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08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oleObject" Target="../embeddings/oleObject2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vmlDrawing" Target="../drawings/vmlDrawing3.v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oleObject" Target="../embeddings/oleObject3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image" Target="../media/image2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vmlDrawing" Target="../drawings/vmlDrawing4.v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oleObject" Target="../embeddings/oleObject3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vmlDrawing" Target="../drawings/vmlDrawing5.v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8.</a:t>
            </a:r>
            <a:fld id="{9203C660-E0F5-40C6-B198-8DB5BEF31D5A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377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panose="020B0600070205080204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8.</a:t>
            </a:r>
            <a:fld id="{72709371-0C37-4CD5-8CE3-DF7E07C37EA4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4108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25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panose="020B0600070205080204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62CCAD-ED54-4F00-BBFF-0435FE99429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6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Lecture 33 - Introduction to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423855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ＭＳ Ｐゴシック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12B8E3-59A7-4105-8D00-7242ABFFB96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Lecture 33 - Introduction to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48160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ja-JP" altLang="en-US" smtClean="0"/>
              <a:t>Spring, 2004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mtClean="0"/>
              <a:t>CSS430 Memory Management</a:t>
            </a:r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FA8F9-CBD1-425F-B28E-9ECCBD8D4D50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3576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837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2E39B8-2B1D-48EB-B81C-587B067A2B7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0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Lecture 33 - Introduction to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9938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t>8.</a:t>
            </a:r>
            <a:fld id="{4DFF8B2D-0010-4A98-903C-6CA758DEE97F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00" b="1" i="0" u="none" strike="noStrike" kern="1200" cap="none" spc="0" normalizeH="0" baseline="0" noProof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Operating System Concepts – 9</a:t>
            </a:r>
            <a:r>
              <a:rPr kumimoji="0" lang="en-US" altLang="en-US" sz="1000" b="1" i="0" u="none" strike="noStrike" kern="1200" cap="none" spc="0" normalizeH="0" baseline="3000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itchFamily="34" charset="-128"/>
                <a:cs typeface="+mn-cs"/>
              </a:rPr>
              <a:t> Edition</a:t>
            </a:r>
          </a:p>
        </p:txBody>
      </p:sp>
      <p:pic>
        <p:nvPicPr>
          <p:cNvPr id="4108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672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2E39B8-2B1D-48EB-B81C-587B067A2B7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Lecture 33 - Introduction to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75328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5334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2E39B8-2B1D-48EB-B81C-587B067A2B7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1925"/>
            <a:ext cx="9144000" cy="346075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FAST, National University of Computer and Emerging Sciences, Islamabad</a:t>
            </a:r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76200" y="6505575"/>
          <a:ext cx="4762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7" r:id="rId14" imgW="71848" imgH="44334" progId="">
                  <p:embed/>
                </p:oleObj>
              </mc:Choice>
              <mc:Fallback>
                <p:oleObj r:id="rId14" imgW="71848" imgH="44334" progId="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6505575"/>
                        <a:ext cx="4762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06400"/>
          </a:xfrm>
          <a:prstGeom prst="rect">
            <a:avLst/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Lecture 33 - Introduction to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360492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0" lang="en-US" altLang="ja-JP" sz="1400" dirty="0" smtClean="0"/>
              <a:t>m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A72AB90-3872-4B02-89FE-8849D2EA58BA}" type="slidenum">
              <a:rPr kumimoji="0" lang="en-US" altLang="ja-JP" sz="1400"/>
              <a:pPr eaLnBrk="1" hangingPunct="1"/>
              <a:t>1</a:t>
            </a:fld>
            <a:endParaRPr kumimoji="0" lang="en-US" altLang="ja-JP" sz="1400"/>
          </a:p>
        </p:txBody>
      </p:sp>
      <p:sp>
        <p:nvSpPr>
          <p:cNvPr id="13404" name="Rectangle 92"/>
          <p:cNvSpPr>
            <a:spLocks noChangeArrowheads="1"/>
          </p:cNvSpPr>
          <p:nvPr/>
        </p:nvSpPr>
        <p:spPr bwMode="auto">
          <a:xfrm>
            <a:off x="242888" y="1979613"/>
            <a:ext cx="89011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4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Memory Management</a:t>
            </a:r>
            <a:endParaRPr lang="en-US" altLang="ja-JP" sz="4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5365" name="Text Box 94"/>
          <p:cNvSpPr txBox="1">
            <a:spLocks noChangeArrowheads="1"/>
          </p:cNvSpPr>
          <p:nvPr/>
        </p:nvSpPr>
        <p:spPr bwMode="auto">
          <a:xfrm>
            <a:off x="287338" y="3792538"/>
            <a:ext cx="85883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ja-JP" sz="3200" dirty="0">
              <a:latin typeface="Times New Roman" panose="02020603050405020304" pitchFamily="18" charset="0"/>
            </a:endParaRPr>
          </a:p>
          <a:p>
            <a:pPr algn="ctr" eaLnBrk="1" hangingPunct="1"/>
            <a:endParaRPr lang="en-US" altLang="ja-JP" sz="3200" dirty="0">
              <a:latin typeface="Times New Roman" panose="02020603050405020304" pitchFamily="18" charset="0"/>
            </a:endParaRPr>
          </a:p>
          <a:p>
            <a:pPr algn="ctr" eaLnBrk="1" hangingPunct="1"/>
            <a:endParaRPr lang="en-US" altLang="ja-JP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smtClean="0"/>
              <a:t> 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0E3D69-4173-400E-B378-9487A5B96BF9}" type="slidenum">
              <a:rPr lang="en-GB" altLang="en-US" sz="1400" smtClean="0">
                <a:latin typeface="Garamond" panose="02020404030301010803" pitchFamily="18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 smtClean="0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106613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Helvetica" panose="020B0604020202020204" pitchFamily="34" charset="0"/>
              </a:rPr>
              <a:t>Program must be brought (from disk)  into memory and placed within a process for it to be run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>
                <a:cs typeface="Arial" panose="020B0604020202020204" pitchFamily="34" charset="0"/>
              </a:rPr>
              <a:t>A programmer will like to have memory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Infinitely large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Infinitely fast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Non volatile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>
                <a:cs typeface="Arial" panose="020B0604020202020204" pitchFamily="34" charset="0"/>
              </a:rPr>
              <a:t>However, we have Memory Hierarchy: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200" smtClean="0">
              <a:cs typeface="Arial" panose="020B0604020202020204" pitchFamily="34" charset="0"/>
            </a:endParaRPr>
          </a:p>
        </p:txBody>
      </p:sp>
      <p:sp>
        <p:nvSpPr>
          <p:cNvPr id="813060" name="Rectangle 4"/>
          <p:cNvSpPr>
            <a:spLocks noChangeArrowheads="1"/>
          </p:cNvSpPr>
          <p:nvPr/>
        </p:nvSpPr>
        <p:spPr bwMode="auto">
          <a:xfrm>
            <a:off x="6445250" y="3573463"/>
            <a:ext cx="17526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 dirty="0">
                <a:latin typeface="Arial" charset="0"/>
                <a:ea typeface="ＭＳ Ｐゴシック" charset="0"/>
                <a:cs typeface="ＭＳ Ｐゴシック" charset="0"/>
              </a:rPr>
              <a:t>Registers</a:t>
            </a:r>
          </a:p>
        </p:txBody>
      </p:sp>
      <p:sp>
        <p:nvSpPr>
          <p:cNvPr id="813061" name="Rectangle 5"/>
          <p:cNvSpPr>
            <a:spLocks noChangeArrowheads="1"/>
          </p:cNvSpPr>
          <p:nvPr/>
        </p:nvSpPr>
        <p:spPr bwMode="auto">
          <a:xfrm>
            <a:off x="6140450" y="4335463"/>
            <a:ext cx="22860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Arial" charset="0"/>
                <a:ea typeface="ＭＳ Ｐゴシック" charset="0"/>
                <a:cs typeface="ＭＳ Ｐゴシック" charset="0"/>
              </a:rPr>
              <a:t>Cache</a:t>
            </a:r>
          </a:p>
        </p:txBody>
      </p:sp>
      <p:sp>
        <p:nvSpPr>
          <p:cNvPr id="813062" name="Rectangle 6"/>
          <p:cNvSpPr>
            <a:spLocks noChangeArrowheads="1"/>
          </p:cNvSpPr>
          <p:nvPr/>
        </p:nvSpPr>
        <p:spPr bwMode="auto">
          <a:xfrm>
            <a:off x="5835650" y="5021263"/>
            <a:ext cx="28956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Arial" charset="0"/>
                <a:ea typeface="ＭＳ Ｐゴシック" charset="0"/>
                <a:cs typeface="ＭＳ Ｐゴシック" charset="0"/>
              </a:rPr>
              <a:t>Main Memory</a:t>
            </a:r>
          </a:p>
        </p:txBody>
      </p:sp>
      <p:sp>
        <p:nvSpPr>
          <p:cNvPr id="813063" name="Rectangle 7"/>
          <p:cNvSpPr>
            <a:spLocks noChangeArrowheads="1"/>
          </p:cNvSpPr>
          <p:nvPr/>
        </p:nvSpPr>
        <p:spPr bwMode="auto">
          <a:xfrm>
            <a:off x="5530850" y="5630863"/>
            <a:ext cx="35052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Arial" charset="0"/>
                <a:ea typeface="ＭＳ Ｐゴシック" charset="0"/>
                <a:cs typeface="ＭＳ Ｐゴシック" charset="0"/>
              </a:rPr>
              <a:t>Disk</a:t>
            </a:r>
          </a:p>
        </p:txBody>
      </p:sp>
    </p:spTree>
    <p:extLst>
      <p:ext uri="{BB962C8B-B14F-4D97-AF65-F5344CB8AC3E}">
        <p14:creationId xmlns:p14="http://schemas.microsoft.com/office/powerpoint/2010/main" val="242959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build="p"/>
      <p:bldP spid="813060" grpId="0" animBg="1"/>
      <p:bldP spid="813061" grpId="0" animBg="1"/>
      <p:bldP spid="813062" grpId="0" animBg="1"/>
      <p:bldP spid="8130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 smtClean="0"/>
              <a:t> 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2084B4-E932-4085-8434-AA2D00F89851}" type="slidenum">
              <a:rPr lang="en-GB" altLang="en-US" sz="1400" smtClean="0">
                <a:latin typeface="Garamond" panose="02020404030301010803" pitchFamily="18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 smtClean="0"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Garamond" panose="02020404030301010803" pitchFamily="18" charset="0"/>
                <a:cs typeface="Arial" panose="020B0604020202020204" pitchFamily="34" charset="0"/>
              </a:rPr>
              <a:t>Memory Manager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>
                <a:cs typeface="Arial" panose="020B0604020202020204" pitchFamily="34" charset="0"/>
              </a:rPr>
              <a:t>The part of the OS that manages the Memory Hierarchy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Which part of memory is in use and which is not in use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Allocate memory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De-allocate memory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Swapping between main memory and disks</a:t>
            </a:r>
          </a:p>
        </p:txBody>
      </p:sp>
      <p:sp>
        <p:nvSpPr>
          <p:cNvPr id="13318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US" sz="1400" smtClean="0"/>
          </a:p>
        </p:txBody>
      </p:sp>
    </p:spTree>
    <p:extLst>
      <p:ext uri="{BB962C8B-B14F-4D97-AF65-F5344CB8AC3E}">
        <p14:creationId xmlns:p14="http://schemas.microsoft.com/office/powerpoint/2010/main" val="205123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00013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cs typeface="ＭＳ Ｐゴシック" panose="020B0600070205080204" pitchFamily="34" charset="-128"/>
              </a:rPr>
              <a:t>Multistep Processing of a User Program </a:t>
            </a:r>
          </a:p>
        </p:txBody>
      </p:sp>
      <p:pic>
        <p:nvPicPr>
          <p:cNvPr id="19458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630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dirty="0" smtClean="0"/>
              <a:t>Dynamic Loading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5414963" y="1928813"/>
            <a:ext cx="3451225" cy="4635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2000" smtClean="0"/>
              <a:t>Unused routine is never loaded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smtClean="0"/>
              <a:t>Useful when the code size is large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2000" smtClean="0"/>
              <a:t>Unix execv can be categorized: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1800" smtClean="0"/>
              <a:t>Overloading a necessary program onto the current program.</a:t>
            </a:r>
          </a:p>
        </p:txBody>
      </p:sp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0" lang="en-US" altLang="ja-JP" sz="1400"/>
              <a:t>CSS430 Memory Management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61E7742-06FC-4817-A722-801E3BD623C9}" type="slidenum">
              <a:rPr kumimoji="0" lang="en-US" altLang="ja-JP" sz="1400"/>
              <a:pPr eaLnBrk="1" hangingPunct="1"/>
              <a:t>5</a:t>
            </a:fld>
            <a:endParaRPr kumimoji="0" lang="en-US" altLang="ja-JP" sz="1400"/>
          </a:p>
        </p:txBody>
      </p:sp>
      <p:sp>
        <p:nvSpPr>
          <p:cNvPr id="19462" name="AutoShape 5"/>
          <p:cNvSpPr>
            <a:spLocks noChangeArrowheads="1"/>
          </p:cNvSpPr>
          <p:nvPr/>
        </p:nvSpPr>
        <p:spPr bwMode="auto">
          <a:xfrm>
            <a:off x="285750" y="2116138"/>
            <a:ext cx="2224088" cy="4230687"/>
          </a:xfrm>
          <a:prstGeom prst="can">
            <a:avLst>
              <a:gd name="adj" fmla="val 4755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949325" y="3532188"/>
            <a:ext cx="1006475" cy="2401887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ja-JP" dirty="0"/>
              <a:t>main( ) {</a:t>
            </a:r>
          </a:p>
          <a:p>
            <a:pPr eaLnBrk="1" hangingPunct="1"/>
            <a:r>
              <a:rPr lang="en-US" altLang="ja-JP" dirty="0"/>
              <a:t>   f1( );</a:t>
            </a:r>
          </a:p>
          <a:p>
            <a:pPr eaLnBrk="1" hangingPunct="1"/>
            <a:r>
              <a:rPr lang="en-US" altLang="ja-JP" dirty="0"/>
              <a:t>}</a:t>
            </a:r>
          </a:p>
          <a:p>
            <a:pPr eaLnBrk="1" hangingPunct="1"/>
            <a:r>
              <a:rPr lang="en-US" altLang="ja-JP" dirty="0"/>
              <a:t>f1( ) {</a:t>
            </a:r>
          </a:p>
          <a:p>
            <a:pPr eaLnBrk="1" hangingPunct="1"/>
            <a:r>
              <a:rPr lang="en-US" altLang="ja-JP" dirty="0"/>
              <a:t>   f2( );</a:t>
            </a:r>
          </a:p>
          <a:p>
            <a:pPr eaLnBrk="1" hangingPunct="1"/>
            <a:r>
              <a:rPr lang="en-US" altLang="ja-JP" dirty="0"/>
              <a:t>}</a:t>
            </a:r>
          </a:p>
          <a:p>
            <a:pPr eaLnBrk="1" hangingPunct="1"/>
            <a:r>
              <a:rPr lang="en-US" altLang="ja-JP" dirty="0"/>
              <a:t>f2( ) {</a:t>
            </a:r>
          </a:p>
          <a:p>
            <a:pPr eaLnBrk="1" hangingPunct="1"/>
            <a:r>
              <a:rPr lang="en-US" altLang="ja-JP" dirty="0"/>
              <a:t>   f3( );</a:t>
            </a:r>
          </a:p>
          <a:p>
            <a:pPr eaLnBrk="1" hangingPunct="1"/>
            <a:r>
              <a:rPr lang="en-US" altLang="ja-JP" dirty="0"/>
              <a:t>}</a:t>
            </a: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4249738" y="3995738"/>
            <a:ext cx="1004887" cy="89693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1800"/>
              <a:t>memory</a:t>
            </a: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>
            <a:off x="949325" y="4303713"/>
            <a:ext cx="10223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>
            <a:off x="957263" y="5065713"/>
            <a:ext cx="102235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98650" y="3654425"/>
            <a:ext cx="2449513" cy="504825"/>
            <a:chOff x="1196" y="2302"/>
            <a:chExt cx="1543" cy="318"/>
          </a:xfrm>
        </p:grpSpPr>
        <p:sp>
          <p:nvSpPr>
            <p:cNvPr id="19474" name="Line 10"/>
            <p:cNvSpPr>
              <a:spLocks noChangeShapeType="1"/>
            </p:cNvSpPr>
            <p:nvPr/>
          </p:nvSpPr>
          <p:spPr bwMode="auto">
            <a:xfrm>
              <a:off x="1242" y="2473"/>
              <a:ext cx="131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475" name="Text Box 13"/>
            <p:cNvSpPr txBox="1">
              <a:spLocks noChangeArrowheads="1"/>
            </p:cNvSpPr>
            <p:nvPr/>
          </p:nvSpPr>
          <p:spPr bwMode="auto">
            <a:xfrm>
              <a:off x="1196" y="2302"/>
              <a:ext cx="15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/>
                <a:t>1. Loaded when called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890713" y="4237038"/>
            <a:ext cx="2449512" cy="477837"/>
            <a:chOff x="1191" y="2669"/>
            <a:chExt cx="1543" cy="301"/>
          </a:xfrm>
        </p:grpSpPr>
        <p:sp>
          <p:nvSpPr>
            <p:cNvPr id="19472" name="Line 11"/>
            <p:cNvSpPr>
              <a:spLocks noChangeShapeType="1"/>
            </p:cNvSpPr>
            <p:nvPr/>
          </p:nvSpPr>
          <p:spPr bwMode="auto">
            <a:xfrm flipV="1">
              <a:off x="1231" y="2801"/>
              <a:ext cx="1344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473" name="Text Box 14"/>
            <p:cNvSpPr txBox="1">
              <a:spLocks noChangeArrowheads="1"/>
            </p:cNvSpPr>
            <p:nvPr/>
          </p:nvSpPr>
          <p:spPr bwMode="auto">
            <a:xfrm>
              <a:off x="1191" y="2669"/>
              <a:ext cx="15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/>
                <a:t>2. Loaded when called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917700" y="4768850"/>
            <a:ext cx="2466975" cy="806450"/>
            <a:chOff x="1208" y="3004"/>
            <a:chExt cx="1554" cy="508"/>
          </a:xfrm>
        </p:grpSpPr>
        <p:sp>
          <p:nvSpPr>
            <p:cNvPr id="19470" name="Line 12"/>
            <p:cNvSpPr>
              <a:spLocks noChangeShapeType="1"/>
            </p:cNvSpPr>
            <p:nvPr/>
          </p:nvSpPr>
          <p:spPr bwMode="auto">
            <a:xfrm flipV="1">
              <a:off x="1208" y="3004"/>
              <a:ext cx="1344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471" name="Text Box 15"/>
            <p:cNvSpPr txBox="1">
              <a:spLocks noChangeArrowheads="1"/>
            </p:cNvSpPr>
            <p:nvPr/>
          </p:nvSpPr>
          <p:spPr bwMode="auto">
            <a:xfrm>
              <a:off x="1219" y="3103"/>
              <a:ext cx="15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/>
                <a:t>3. Loaded when called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Dynamic Linking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>
          <a:xfrm>
            <a:off x="5915025" y="2017713"/>
            <a:ext cx="3040063" cy="4114800"/>
          </a:xfrm>
        </p:spPr>
        <p:txBody>
          <a:bodyPr/>
          <a:lstStyle/>
          <a:p>
            <a:pPr eaLnBrk="1" hangingPunct="1"/>
            <a:r>
              <a:rPr lang="en-US" altLang="ja-JP" sz="1800" smtClean="0"/>
              <a:t>Linking postponed until execution time.</a:t>
            </a:r>
          </a:p>
          <a:p>
            <a:pPr eaLnBrk="1" hangingPunct="1"/>
            <a:r>
              <a:rPr lang="en-US" altLang="ja-JP" sz="1800" smtClean="0"/>
              <a:t>Small piece of code, </a:t>
            </a:r>
            <a:r>
              <a:rPr lang="en-US" altLang="ja-JP" sz="1800" i="1" smtClean="0"/>
              <a:t>stub</a:t>
            </a:r>
            <a:r>
              <a:rPr lang="en-US" altLang="ja-JP" sz="1800" smtClean="0"/>
              <a:t>, used to locate the appropriate memory-resident library routine.</a:t>
            </a:r>
          </a:p>
          <a:p>
            <a:pPr eaLnBrk="1" hangingPunct="1"/>
            <a:r>
              <a:rPr lang="en-US" altLang="ja-JP" sz="1800" smtClean="0"/>
              <a:t>Stub replaces itself with the address of the routine, and executes the routine.</a:t>
            </a:r>
          </a:p>
          <a:p>
            <a:pPr eaLnBrk="1" hangingPunct="1"/>
            <a:r>
              <a:rPr lang="en-US" altLang="ja-JP" sz="1800" smtClean="0"/>
              <a:t>Operating system needs to check if routine is in processes’ memory address</a:t>
            </a:r>
          </a:p>
        </p:txBody>
      </p:sp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0" lang="en-US" altLang="ja-JP" sz="1400"/>
              <a:t>CSS430 Memory Management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1674584-8F7E-4E40-B8C6-0B0ABC0F3137}" type="slidenum">
              <a:rPr kumimoji="0" lang="en-US" altLang="ja-JP" sz="1400"/>
              <a:pPr eaLnBrk="1" hangingPunct="1"/>
              <a:t>6</a:t>
            </a:fld>
            <a:endParaRPr kumimoji="0" lang="en-US" altLang="ja-JP" sz="1400"/>
          </a:p>
        </p:txBody>
      </p:sp>
      <p:sp>
        <p:nvSpPr>
          <p:cNvPr id="20486" name="AutoShape 4"/>
          <p:cNvSpPr>
            <a:spLocks noChangeArrowheads="1"/>
          </p:cNvSpPr>
          <p:nvPr/>
        </p:nvSpPr>
        <p:spPr bwMode="auto">
          <a:xfrm>
            <a:off x="285750" y="2116138"/>
            <a:ext cx="2366963" cy="4230687"/>
          </a:xfrm>
          <a:prstGeom prst="can">
            <a:avLst>
              <a:gd name="adj" fmla="val 4468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465138" y="3279775"/>
            <a:ext cx="1971675" cy="1290638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ja-JP" sz="1400"/>
              <a:t>int x;</a:t>
            </a:r>
          </a:p>
          <a:p>
            <a:pPr eaLnBrk="1" hangingPunct="1"/>
            <a:r>
              <a:rPr lang="en-US" altLang="ja-JP" sz="1400"/>
              <a:t>void main(){</a:t>
            </a:r>
          </a:p>
          <a:p>
            <a:pPr eaLnBrk="1" hangingPunct="1"/>
            <a:r>
              <a:rPr lang="en-US" altLang="ja-JP" sz="1400"/>
              <a:t>   stub = dlopen(“lib”):</a:t>
            </a:r>
          </a:p>
          <a:p>
            <a:pPr eaLnBrk="1" hangingPunct="1"/>
            <a:r>
              <a:rPr lang="en-US" altLang="ja-JP" sz="1400"/>
              <a:t>   f = dlsym(stub, “f1”);</a:t>
            </a:r>
          </a:p>
          <a:p>
            <a:pPr eaLnBrk="1" hangingPunct="1"/>
            <a:r>
              <a:rPr lang="en-US" altLang="ja-JP" sz="1400"/>
              <a:t>   f( );</a:t>
            </a:r>
          </a:p>
          <a:p>
            <a:pPr eaLnBrk="1" hangingPunct="1"/>
            <a:r>
              <a:rPr lang="en-US" altLang="ja-JP" sz="1400"/>
              <a:t>}</a:t>
            </a:r>
          </a:p>
        </p:txBody>
      </p:sp>
      <p:sp>
        <p:nvSpPr>
          <p:cNvPr id="20488" name="Rectangle 6"/>
          <p:cNvSpPr>
            <a:spLocks noChangeArrowheads="1"/>
          </p:cNvSpPr>
          <p:nvPr/>
        </p:nvSpPr>
        <p:spPr bwMode="auto">
          <a:xfrm>
            <a:off x="477838" y="4957763"/>
            <a:ext cx="1954212" cy="1039812"/>
          </a:xfrm>
          <a:prstGeom prst="rect">
            <a:avLst/>
          </a:prstGeom>
          <a:solidFill>
            <a:srgbClr val="99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ja-JP"/>
              <a:t>extern int x;</a:t>
            </a:r>
          </a:p>
          <a:p>
            <a:pPr eaLnBrk="1" hangingPunct="1"/>
            <a:r>
              <a:rPr lang="en-US" altLang="ja-JP"/>
              <a:t>f1( ) {</a:t>
            </a:r>
          </a:p>
          <a:p>
            <a:pPr eaLnBrk="1" hangingPunct="1"/>
            <a:r>
              <a:rPr lang="en-US" altLang="ja-JP"/>
              <a:t> x = 5;</a:t>
            </a:r>
          </a:p>
          <a:p>
            <a:pPr eaLnBrk="1" hangingPunct="1"/>
            <a:r>
              <a:rPr lang="en-US" altLang="ja-JP"/>
              <a:t>}</a:t>
            </a:r>
          </a:p>
        </p:txBody>
      </p:sp>
      <p:sp>
        <p:nvSpPr>
          <p:cNvPr id="20489" name="Text Box 7"/>
          <p:cNvSpPr txBox="1">
            <a:spLocks noChangeArrowheads="1"/>
          </p:cNvSpPr>
          <p:nvPr/>
        </p:nvSpPr>
        <p:spPr bwMode="auto">
          <a:xfrm>
            <a:off x="500063" y="4697413"/>
            <a:ext cx="820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ja-JP"/>
              <a:t>lib.so.a</a:t>
            </a:r>
          </a:p>
        </p:txBody>
      </p:sp>
      <p:sp>
        <p:nvSpPr>
          <p:cNvPr id="20490" name="Rectangle 8"/>
          <p:cNvSpPr>
            <a:spLocks noChangeArrowheads="1"/>
          </p:cNvSpPr>
          <p:nvPr/>
        </p:nvSpPr>
        <p:spPr bwMode="auto">
          <a:xfrm>
            <a:off x="3048000" y="3171825"/>
            <a:ext cx="2490788" cy="29416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ja-JP" sz="2400"/>
              <a:t>memory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401888" y="3287713"/>
            <a:ext cx="2894012" cy="1290637"/>
            <a:chOff x="1513" y="2071"/>
            <a:chExt cx="1823" cy="813"/>
          </a:xfrm>
        </p:grpSpPr>
        <p:sp>
          <p:nvSpPr>
            <p:cNvPr id="20497" name="Rectangle 9"/>
            <p:cNvSpPr>
              <a:spLocks noChangeArrowheads="1"/>
            </p:cNvSpPr>
            <p:nvPr/>
          </p:nvSpPr>
          <p:spPr bwMode="auto">
            <a:xfrm>
              <a:off x="2094" y="2071"/>
              <a:ext cx="1242" cy="813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400"/>
                <a:t>int x;</a:t>
              </a:r>
            </a:p>
            <a:p>
              <a:pPr eaLnBrk="1" hangingPunct="1"/>
              <a:r>
                <a:rPr lang="en-US" altLang="ja-JP" sz="1400"/>
                <a:t>void main(){</a:t>
              </a:r>
            </a:p>
            <a:p>
              <a:pPr eaLnBrk="1" hangingPunct="1"/>
              <a:r>
                <a:rPr lang="en-US" altLang="ja-JP" sz="1400"/>
                <a:t>   stub = dlopen(“lib”):</a:t>
              </a:r>
            </a:p>
            <a:p>
              <a:pPr eaLnBrk="1" hangingPunct="1"/>
              <a:r>
                <a:rPr lang="en-US" altLang="ja-JP" sz="1400"/>
                <a:t>   f = dlsym(stub, “f1”);</a:t>
              </a:r>
            </a:p>
            <a:p>
              <a:pPr eaLnBrk="1" hangingPunct="1"/>
              <a:r>
                <a:rPr lang="en-US" altLang="ja-JP" sz="1400"/>
                <a:t>   f( );</a:t>
              </a:r>
            </a:p>
            <a:p>
              <a:pPr eaLnBrk="1" hangingPunct="1"/>
              <a:r>
                <a:rPr lang="en-US" altLang="ja-JP" sz="1400"/>
                <a:t>}</a:t>
              </a:r>
            </a:p>
          </p:txBody>
        </p:sp>
        <p:sp>
          <p:nvSpPr>
            <p:cNvPr id="20498" name="Line 11"/>
            <p:cNvSpPr>
              <a:spLocks noChangeShapeType="1"/>
            </p:cNvSpPr>
            <p:nvPr/>
          </p:nvSpPr>
          <p:spPr bwMode="auto">
            <a:xfrm>
              <a:off x="1513" y="2428"/>
              <a:ext cx="5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420938" y="4911725"/>
            <a:ext cx="2870200" cy="1039813"/>
            <a:chOff x="1525" y="3094"/>
            <a:chExt cx="1808" cy="655"/>
          </a:xfrm>
        </p:grpSpPr>
        <p:sp>
          <p:nvSpPr>
            <p:cNvPr id="20495" name="Rectangle 10"/>
            <p:cNvSpPr>
              <a:spLocks noChangeArrowheads="1"/>
            </p:cNvSpPr>
            <p:nvPr/>
          </p:nvSpPr>
          <p:spPr bwMode="auto">
            <a:xfrm>
              <a:off x="2102" y="3094"/>
              <a:ext cx="1231" cy="655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eaLnBrk="0" hangingPunct="0"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/>
                <a:t>extern int x;</a:t>
              </a:r>
            </a:p>
            <a:p>
              <a:pPr eaLnBrk="1" hangingPunct="1"/>
              <a:r>
                <a:rPr lang="en-US" altLang="ja-JP"/>
                <a:t>f1( ) {</a:t>
              </a:r>
            </a:p>
            <a:p>
              <a:pPr eaLnBrk="1" hangingPunct="1"/>
              <a:r>
                <a:rPr lang="en-US" altLang="ja-JP"/>
                <a:t> x = 5;</a:t>
              </a:r>
            </a:p>
            <a:p>
              <a:pPr eaLnBrk="1" hangingPunct="1"/>
              <a:r>
                <a:rPr lang="en-US" altLang="ja-JP"/>
                <a:t>}</a:t>
              </a:r>
            </a:p>
          </p:txBody>
        </p:sp>
        <p:sp>
          <p:nvSpPr>
            <p:cNvPr id="20496" name="Line 12"/>
            <p:cNvSpPr>
              <a:spLocks noChangeShapeType="1"/>
            </p:cNvSpPr>
            <p:nvPr/>
          </p:nvSpPr>
          <p:spPr bwMode="auto">
            <a:xfrm>
              <a:off x="1525" y="3411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0957" name="Freeform 13"/>
          <p:cNvSpPr>
            <a:spLocks/>
          </p:cNvSpPr>
          <p:nvPr/>
        </p:nvSpPr>
        <p:spPr bwMode="auto">
          <a:xfrm>
            <a:off x="3854450" y="3424238"/>
            <a:ext cx="1169988" cy="1703387"/>
          </a:xfrm>
          <a:custGeom>
            <a:avLst/>
            <a:gdLst>
              <a:gd name="T0" fmla="*/ 1053425763 w 737"/>
              <a:gd name="T1" fmla="*/ 2147483647 h 1073"/>
              <a:gd name="T2" fmla="*/ 1680945731 w 737"/>
              <a:gd name="T3" fmla="*/ 1650701065 h 1073"/>
              <a:gd name="T4" fmla="*/ 0 w 737"/>
              <a:gd name="T5" fmla="*/ 0 h 1073"/>
              <a:gd name="T6" fmla="*/ 0 60000 65536"/>
              <a:gd name="T7" fmla="*/ 0 60000 65536"/>
              <a:gd name="T8" fmla="*/ 0 60000 65536"/>
              <a:gd name="T9" fmla="*/ 0 w 737"/>
              <a:gd name="T10" fmla="*/ 0 h 1073"/>
              <a:gd name="T11" fmla="*/ 737 w 737"/>
              <a:gd name="T12" fmla="*/ 1073 h 10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7" h="1073">
                <a:moveTo>
                  <a:pt x="418" y="1073"/>
                </a:moveTo>
                <a:cubicBezTo>
                  <a:pt x="577" y="953"/>
                  <a:pt x="737" y="834"/>
                  <a:pt x="667" y="655"/>
                </a:cubicBezTo>
                <a:cubicBezTo>
                  <a:pt x="597" y="476"/>
                  <a:pt x="111" y="109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  <p:sp>
        <p:nvSpPr>
          <p:cNvPr id="210958" name="Freeform 14"/>
          <p:cNvSpPr>
            <a:spLocks/>
          </p:cNvSpPr>
          <p:nvPr/>
        </p:nvSpPr>
        <p:spPr bwMode="auto">
          <a:xfrm>
            <a:off x="3000375" y="4159250"/>
            <a:ext cx="2019300" cy="1093788"/>
          </a:xfrm>
          <a:custGeom>
            <a:avLst/>
            <a:gdLst>
              <a:gd name="T0" fmla="*/ 2147483647 w 1272"/>
              <a:gd name="T1" fmla="*/ 0 h 689"/>
              <a:gd name="T2" fmla="*/ 418345938 w 1272"/>
              <a:gd name="T3" fmla="*/ 997982331 h 689"/>
              <a:gd name="T4" fmla="*/ 700603438 w 1272"/>
              <a:gd name="T5" fmla="*/ 1736389244 h 689"/>
              <a:gd name="T6" fmla="*/ 0 60000 65536"/>
              <a:gd name="T7" fmla="*/ 0 60000 65536"/>
              <a:gd name="T8" fmla="*/ 0 60000 65536"/>
              <a:gd name="T9" fmla="*/ 0 w 1272"/>
              <a:gd name="T10" fmla="*/ 0 h 689"/>
              <a:gd name="T11" fmla="*/ 1272 w 1272"/>
              <a:gd name="T12" fmla="*/ 689 h 6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2" h="689">
                <a:moveTo>
                  <a:pt x="1272" y="0"/>
                </a:moveTo>
                <a:cubicBezTo>
                  <a:pt x="802" y="140"/>
                  <a:pt x="332" y="281"/>
                  <a:pt x="166" y="396"/>
                </a:cubicBezTo>
                <a:cubicBezTo>
                  <a:pt x="0" y="511"/>
                  <a:pt x="259" y="640"/>
                  <a:pt x="278" y="689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57" grpId="0" animBg="1"/>
      <p:bldP spid="2109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290513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ＭＳ Ｐゴシック" panose="020B0600070205080204" pitchFamily="34" charset="-128"/>
              </a:rPr>
              <a:t>Binding of Instructions and Data to Memory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809625"/>
            <a:ext cx="7131050" cy="4114800"/>
          </a:xfrm>
        </p:spPr>
        <p:txBody>
          <a:bodyPr/>
          <a:lstStyle/>
          <a:p>
            <a:pPr marL="0" indent="0">
              <a:buNone/>
            </a:pPr>
            <a:endParaRPr kumimoji="0" lang="en-US" altLang="en-US" dirty="0" smtClean="0">
              <a:cs typeface="ＭＳ Ｐゴシック" panose="020B0600070205080204" pitchFamily="34" charset="-128"/>
            </a:endParaRPr>
          </a:p>
          <a:p>
            <a:r>
              <a:rPr lang="en-US" altLang="en-US" dirty="0">
                <a:cs typeface="ＭＳ Ｐゴシック" panose="020B0600070205080204" pitchFamily="34" charset="-128"/>
              </a:rPr>
              <a:t>Binding of Instructions and Data to </a:t>
            </a:r>
            <a:r>
              <a:rPr lang="en-US" altLang="en-US" dirty="0" smtClean="0">
                <a:cs typeface="ＭＳ Ｐゴシック" panose="020B0600070205080204" pitchFamily="34" charset="-128"/>
              </a:rPr>
              <a:t>Memory address is called Address binding</a:t>
            </a:r>
          </a:p>
          <a:p>
            <a:r>
              <a:rPr kumimoji="0" lang="en-US" altLang="en-US" dirty="0" smtClean="0">
                <a:cs typeface="ＭＳ Ｐゴシック" panose="020B0600070205080204" pitchFamily="34" charset="-128"/>
              </a:rPr>
              <a:t>Address </a:t>
            </a:r>
            <a:r>
              <a:rPr kumimoji="0" lang="en-US" altLang="en-US" dirty="0" smtClean="0">
                <a:cs typeface="ＭＳ Ｐゴシック" panose="020B0600070205080204" pitchFamily="34" charset="-128"/>
              </a:rPr>
              <a:t>binding of instructions and data to memory addresses can happen at three different stages</a:t>
            </a:r>
          </a:p>
          <a:p>
            <a:pPr lvl="1"/>
            <a:r>
              <a:rPr lang="en-US" altLang="en-US" b="1" dirty="0" smtClean="0"/>
              <a:t>Compile </a:t>
            </a:r>
            <a:r>
              <a:rPr lang="en-US" altLang="en-US" b="1" dirty="0" smtClean="0"/>
              <a:t>time</a:t>
            </a:r>
          </a:p>
          <a:p>
            <a:pPr lvl="1"/>
            <a:r>
              <a:rPr lang="en-US" altLang="en-US" b="1" dirty="0" smtClean="0"/>
              <a:t>Load time</a:t>
            </a:r>
          </a:p>
          <a:p>
            <a:pPr lvl="1"/>
            <a:r>
              <a:rPr lang="en-US" altLang="en-US" b="1" dirty="0" smtClean="0"/>
              <a:t>Execution </a:t>
            </a:r>
            <a:r>
              <a:rPr lang="en-US" altLang="en-US" b="1" dirty="0" smtClean="0"/>
              <a:t>time</a:t>
            </a:r>
            <a:r>
              <a:rPr lang="en-US" altLang="en-US" dirty="0" smtClean="0"/>
              <a:t>: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6517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Address Binding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3675063" y="2214563"/>
            <a:ext cx="4957762" cy="4114800"/>
          </a:xfrm>
        </p:spPr>
        <p:txBody>
          <a:bodyPr/>
          <a:lstStyle/>
          <a:p>
            <a:pPr eaLnBrk="1" hangingPunct="1"/>
            <a:r>
              <a:rPr lang="en-US" altLang="ja-JP" sz="2000" b="1" dirty="0" smtClean="0"/>
              <a:t>Compile time:</a:t>
            </a:r>
            <a:r>
              <a:rPr lang="en-US" altLang="ja-JP" sz="2000" dirty="0" smtClean="0"/>
              <a:t> Code is fixed to an absolute address. Recompilation is necessary if the starting location changes. (MS-DOS .COM format )</a:t>
            </a:r>
          </a:p>
          <a:p>
            <a:pPr eaLnBrk="1" hangingPunct="1"/>
            <a:endParaRPr lang="en-US" altLang="ja-JP" sz="2000" dirty="0" smtClean="0"/>
          </a:p>
          <a:p>
            <a:pPr eaLnBrk="1" hangingPunct="1"/>
            <a:endParaRPr lang="en-US" altLang="ja-JP" sz="2000" dirty="0" smtClean="0"/>
          </a:p>
          <a:p>
            <a:pPr eaLnBrk="1" hangingPunct="1"/>
            <a:r>
              <a:rPr lang="en-US" altLang="ja-JP" sz="2000" b="1" dirty="0" smtClean="0"/>
              <a:t>Load time:</a:t>
            </a:r>
            <a:r>
              <a:rPr lang="en-US" altLang="ja-JP" sz="2000" dirty="0" smtClean="0"/>
              <a:t> Code can be loaded to any portion of memory. (Relocatable code)</a:t>
            </a:r>
          </a:p>
          <a:p>
            <a:pPr eaLnBrk="1" hangingPunct="1"/>
            <a:endParaRPr lang="en-US" altLang="ja-JP" sz="2000" dirty="0" smtClean="0"/>
          </a:p>
          <a:p>
            <a:pPr eaLnBrk="1" hangingPunct="1"/>
            <a:endParaRPr lang="en-US" altLang="ja-JP" sz="2000" dirty="0" smtClean="0"/>
          </a:p>
          <a:p>
            <a:pPr eaLnBrk="1" hangingPunct="1"/>
            <a:r>
              <a:rPr lang="en-US" altLang="ja-JP" sz="2000" b="1" dirty="0" smtClean="0"/>
              <a:t>Run time:</a:t>
            </a:r>
            <a:r>
              <a:rPr lang="en-US" altLang="ja-JP" sz="2000" dirty="0" smtClean="0"/>
              <a:t> Code can be move to any portion of memory during its execution.</a:t>
            </a:r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0" lang="en-US" altLang="ja-JP" sz="1400"/>
              <a:t>CSS430 Memory Management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69D0095-3614-41FC-AC7F-41D265911A09}" type="slidenum">
              <a:rPr kumimoji="0" lang="en-US" altLang="ja-JP" sz="1400"/>
              <a:pPr eaLnBrk="1" hangingPunct="1"/>
              <a:t>8</a:t>
            </a:fld>
            <a:endParaRPr kumimoji="0" lang="en-US" altLang="ja-JP" sz="1400"/>
          </a:p>
        </p:txBody>
      </p:sp>
      <p:pic>
        <p:nvPicPr>
          <p:cNvPr id="174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1" t="859" r="29161" b="604"/>
          <a:stretch>
            <a:fillRect/>
          </a:stretch>
        </p:blipFill>
        <p:spPr bwMode="auto">
          <a:xfrm>
            <a:off x="1166813" y="1851025"/>
            <a:ext cx="2416175" cy="454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6363" y="198438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smtClean="0">
                <a:cs typeface="ＭＳ Ｐゴシック" panose="020B0600070205080204" pitchFamily="34" charset="-128"/>
              </a:rPr>
              <a:t>Logical vs. Physical Address Space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25" y="1236663"/>
            <a:ext cx="7127875" cy="4468812"/>
          </a:xfrm>
        </p:spPr>
        <p:txBody>
          <a:bodyPr/>
          <a:lstStyle/>
          <a:p>
            <a:r>
              <a:rPr lang="en-US" altLang="en-US" dirty="0" smtClean="0">
                <a:cs typeface="ＭＳ Ｐゴシック" panose="020B0600070205080204" pitchFamily="34" charset="-128"/>
              </a:rPr>
              <a:t>The concept of a logical address space that is bound to a separate </a:t>
            </a:r>
            <a:r>
              <a:rPr lang="en-US" altLang="en-US" b="1" dirty="0" smtClean="0">
                <a:solidFill>
                  <a:srgbClr val="3366FF"/>
                </a:solidFill>
                <a:cs typeface="ＭＳ Ｐゴシック" panose="020B0600070205080204" pitchFamily="34" charset="-128"/>
              </a:rPr>
              <a:t>physical address space</a:t>
            </a:r>
            <a:r>
              <a:rPr lang="en-US" altLang="en-US" dirty="0" smtClean="0">
                <a:solidFill>
                  <a:srgbClr val="3366FF"/>
                </a:solidFill>
                <a:cs typeface="ＭＳ Ｐゴシック" panose="020B0600070205080204" pitchFamily="34" charset="-128"/>
              </a:rPr>
              <a:t> </a:t>
            </a:r>
            <a:r>
              <a:rPr lang="en-US" altLang="en-US" dirty="0" smtClean="0">
                <a:cs typeface="ＭＳ Ｐゴシック" panose="020B0600070205080204" pitchFamily="34" charset="-128"/>
              </a:rPr>
              <a:t>is central to proper memory management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Logical address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 smtClean="0"/>
              <a:t>– generated by the CPU; also referred to as </a:t>
            </a:r>
            <a:r>
              <a:rPr lang="en-US" altLang="en-US" b="1" dirty="0" smtClean="0">
                <a:solidFill>
                  <a:srgbClr val="3366FF"/>
                </a:solidFill>
              </a:rPr>
              <a:t>virtual address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Physical address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 smtClean="0"/>
              <a:t>– address seen by the memory unit</a:t>
            </a:r>
          </a:p>
          <a:p>
            <a:r>
              <a:rPr lang="en-US" altLang="en-US" dirty="0" smtClean="0">
                <a:cs typeface="ＭＳ Ｐゴシック" panose="020B0600070205080204" pitchFamily="34" charset="-128"/>
              </a:rPr>
              <a:t>Logical and physical addresses are the same in compile-time and load-time address-binding schemes; </a:t>
            </a:r>
          </a:p>
          <a:p>
            <a:r>
              <a:rPr lang="en-US" altLang="en-US" dirty="0" smtClean="0">
                <a:cs typeface="ＭＳ Ｐゴシック" panose="020B0600070205080204" pitchFamily="34" charset="-128"/>
              </a:rPr>
              <a:t>logical (virtual) and physical addresses differ in execution-time address-binding scheme</a:t>
            </a:r>
          </a:p>
          <a:p>
            <a:r>
              <a:rPr lang="en-US" altLang="en-US" b="1" dirty="0" smtClean="0">
                <a:solidFill>
                  <a:srgbClr val="3366FF"/>
                </a:solidFill>
                <a:cs typeface="ＭＳ Ｐゴシック" panose="020B0600070205080204" pitchFamily="34" charset="-128"/>
              </a:rPr>
              <a:t>Logical address space </a:t>
            </a:r>
            <a:r>
              <a:rPr lang="en-US" altLang="en-US" dirty="0" smtClean="0">
                <a:cs typeface="ＭＳ Ｐゴシック" panose="020B0600070205080204" pitchFamily="34" charset="-128"/>
              </a:rPr>
              <a:t>is the set of all logical addresses generated by a program</a:t>
            </a:r>
          </a:p>
          <a:p>
            <a:r>
              <a:rPr lang="en-US" altLang="en-US" b="1" dirty="0" smtClean="0">
                <a:solidFill>
                  <a:srgbClr val="3366FF"/>
                </a:solidFill>
                <a:cs typeface="ＭＳ Ｐゴシック" panose="020B0600070205080204" pitchFamily="34" charset="-128"/>
              </a:rPr>
              <a:t>Physical address space </a:t>
            </a:r>
            <a:r>
              <a:rPr lang="en-US" altLang="en-US" dirty="0" smtClean="0">
                <a:cs typeface="ＭＳ Ｐゴシック" panose="020B0600070205080204" pitchFamily="34" charset="-128"/>
              </a:rPr>
              <a:t>is the set of all physical addresses generated by a program</a:t>
            </a:r>
          </a:p>
          <a:p>
            <a:endParaRPr lang="en-US" altLang="en-US" dirty="0" smtClean="0">
              <a:cs typeface="ＭＳ Ｐゴシック" panose="020B0600070205080204" pitchFamily="34" charset="-128"/>
            </a:endParaRPr>
          </a:p>
          <a:p>
            <a:endParaRPr lang="en-US" altLang="en-US" dirty="0" smtClean="0">
              <a:cs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735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165" y="291669"/>
            <a:ext cx="665520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6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Logical vs. Physical Address Space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0" y="2089150"/>
            <a:ext cx="35941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ja-JP" sz="1800" smtClean="0"/>
              <a:t>Physical address: The actual hardware memory address.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1800" smtClean="0"/>
              <a:t>32-bit CPU’s physical address 0 ~ 2</a:t>
            </a:r>
            <a:r>
              <a:rPr lang="en-US" altLang="ja-JP" sz="1800" baseline="30000" smtClean="0"/>
              <a:t>32</a:t>
            </a:r>
            <a:r>
              <a:rPr lang="en-US" altLang="ja-JP" sz="1800" smtClean="0"/>
              <a:t>-1 (00000000 – FFFFFFFF)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sz="1800" smtClean="0"/>
              <a:t>1GB’s memory address	0 ~ 2</a:t>
            </a:r>
            <a:r>
              <a:rPr lang="en-US" altLang="ja-JP" sz="1800" baseline="30000" smtClean="0"/>
              <a:t>30</a:t>
            </a:r>
            <a:r>
              <a:rPr lang="en-US" altLang="ja-JP" sz="1800" smtClean="0"/>
              <a:t>-1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ja-JP" sz="1800" smtClean="0"/>
              <a:t>   (00000000 – 4FFFFFFF)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1800" smtClean="0"/>
              <a:t>Logical address: Each (relocatable) program assumes the starting location is always 0 and the memory space is much larger than actual memory</a:t>
            </a:r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kumimoji="0" lang="en-US" altLang="ja-JP" sz="1400"/>
              <a:t>CSS430 Memory Management</a:t>
            </a: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44F124E-38C4-4DD3-9B9C-534F54BE6634}" type="slidenum">
              <a:rPr kumimoji="0" lang="en-US" altLang="ja-JP" sz="1400"/>
              <a:pPr eaLnBrk="1" hangingPunct="1"/>
              <a:t>11</a:t>
            </a:fld>
            <a:endParaRPr kumimoji="0" lang="en-US" altLang="ja-JP" sz="1400"/>
          </a:p>
        </p:txBody>
      </p:sp>
      <p:pic>
        <p:nvPicPr>
          <p:cNvPr id="1843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2154238"/>
            <a:ext cx="5357813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smtClean="0">
                <a:latin typeface="Arial" panose="020B0604020202020204" pitchFamily="34" charset="0"/>
              </a:rPr>
              <a:t>Memory Management Requirements</a:t>
            </a:r>
            <a:endParaRPr lang="fr-FR" altLang="en-US" smtClean="0"/>
          </a:p>
        </p:txBody>
      </p:sp>
      <p:sp>
        <p:nvSpPr>
          <p:cNvPr id="29699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dirty="0" smtClean="0"/>
              <a:t>Speed </a:t>
            </a:r>
            <a:r>
              <a:rPr lang="fr-FR" altLang="en-US" dirty="0" err="1" smtClean="0"/>
              <a:t>is</a:t>
            </a:r>
            <a:r>
              <a:rPr lang="fr-FR" altLang="en-US" dirty="0" smtClean="0"/>
              <a:t> not the </a:t>
            </a:r>
            <a:r>
              <a:rPr lang="fr-FR" altLang="en-US" dirty="0" err="1" smtClean="0"/>
              <a:t>only</a:t>
            </a:r>
            <a:r>
              <a:rPr lang="fr-FR" altLang="en-US" dirty="0" smtClean="0"/>
              <a:t> issue</a:t>
            </a:r>
          </a:p>
          <a:p>
            <a:pPr lvl="1"/>
            <a:r>
              <a:rPr lang="en-NZ" altLang="en-US" dirty="0" smtClean="0"/>
              <a:t>Relocation</a:t>
            </a:r>
          </a:p>
          <a:p>
            <a:pPr lvl="1"/>
            <a:r>
              <a:rPr lang="en-NZ" altLang="en-US" dirty="0" smtClean="0"/>
              <a:t>Protection</a:t>
            </a:r>
          </a:p>
          <a:p>
            <a:pPr lvl="1"/>
            <a:r>
              <a:rPr lang="en-NZ" altLang="en-US" dirty="0" smtClean="0"/>
              <a:t>Sharing</a:t>
            </a:r>
          </a:p>
          <a:p>
            <a:pPr lvl="1"/>
            <a:r>
              <a:rPr lang="en-NZ" altLang="en-US" dirty="0" smtClean="0"/>
              <a:t>Physical memory organisation</a:t>
            </a:r>
          </a:p>
          <a:p>
            <a:pPr lvl="1"/>
            <a:r>
              <a:rPr lang="fr-FR" altLang="en-US" dirty="0" smtClean="0"/>
              <a:t>….</a:t>
            </a:r>
            <a:endParaRPr lang="en-NZ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978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Relocation</a:t>
            </a:r>
            <a:r>
              <a:rPr lang="en-US" dirty="0"/>
              <a:t> : When a program is run it does not know in advance what location it will be loaded at. </a:t>
            </a:r>
            <a:endParaRPr lang="en-US" dirty="0" smtClean="0"/>
          </a:p>
          <a:p>
            <a:r>
              <a:rPr lang="en-US" dirty="0" smtClean="0"/>
              <a:t>Therefore</a:t>
            </a:r>
            <a:r>
              <a:rPr lang="en-US" dirty="0"/>
              <a:t>, the program cannot simply generate static addresses (e.g. from jump instructions). </a:t>
            </a:r>
            <a:endParaRPr lang="en-US" dirty="0" smtClean="0"/>
          </a:p>
          <a:p>
            <a:r>
              <a:rPr lang="en-US" dirty="0" smtClean="0"/>
              <a:t>Instead</a:t>
            </a:r>
            <a:r>
              <a:rPr lang="en-US" dirty="0"/>
              <a:t>, they must be made relative to where the program has been loaded.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87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Protection</a:t>
            </a:r>
            <a:r>
              <a:rPr lang="en-US" dirty="0" smtClean="0"/>
              <a:t> : Once you can have two programs in memory at the same time there is a danger that one program can write to the address space of another program. </a:t>
            </a:r>
          </a:p>
          <a:p>
            <a:r>
              <a:rPr lang="en-US" dirty="0" smtClean="0"/>
              <a:t>This is obviously dangerous and should be avoided.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719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C3A88AA-B187-4779-B3A2-F3894CC6C04D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Relocation and Protection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626225" cy="42751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 smtClean="0">
                <a:cs typeface="Arial" panose="020B0604020202020204" pitchFamily="34" charset="0"/>
              </a:rPr>
              <a:t>Different jobs will run at different addresses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smtClean="0">
                <a:cs typeface="Arial" panose="020B0604020202020204" pitchFamily="34" charset="0"/>
              </a:rPr>
              <a:t>Suppose, the first instruction is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cs typeface="Arial" panose="020B0604020202020204" pitchFamily="34" charset="0"/>
              </a:rPr>
              <a:t>call a procedure at absolute address 10 within the binary file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 smtClean="0">
                <a:cs typeface="Arial" panose="020B0604020202020204" pitchFamily="34" charset="0"/>
              </a:rPr>
              <a:t>If the process is loaded in 1</a:t>
            </a:r>
            <a:r>
              <a:rPr lang="en-US" altLang="en-US" sz="2200" baseline="30000" dirty="0" smtClean="0">
                <a:cs typeface="Arial" panose="020B0604020202020204" pitchFamily="34" charset="0"/>
              </a:rPr>
              <a:t>st</a:t>
            </a:r>
            <a:r>
              <a:rPr lang="en-US" altLang="en-US" sz="2200" dirty="0" smtClean="0">
                <a:cs typeface="Arial" panose="020B0604020202020204" pitchFamily="34" charset="0"/>
              </a:rPr>
              <a:t> partition</a:t>
            </a:r>
          </a:p>
        </p:txBody>
      </p:sp>
      <p:sp>
        <p:nvSpPr>
          <p:cNvPr id="825348" name="Rectangle 4"/>
          <p:cNvSpPr>
            <a:spLocks noChangeArrowheads="1"/>
          </p:cNvSpPr>
          <p:nvPr/>
        </p:nvSpPr>
        <p:spPr bwMode="auto">
          <a:xfrm>
            <a:off x="476250" y="5373688"/>
            <a:ext cx="79121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This call will jump inside the Operating system</a:t>
            </a:r>
          </a:p>
        </p:txBody>
      </p:sp>
      <p:grpSp>
        <p:nvGrpSpPr>
          <p:cNvPr id="32775" name="Group 5"/>
          <p:cNvGrpSpPr>
            <a:grpSpLocks/>
          </p:cNvGrpSpPr>
          <p:nvPr/>
        </p:nvGrpSpPr>
        <p:grpSpPr bwMode="auto">
          <a:xfrm>
            <a:off x="7086600" y="914400"/>
            <a:ext cx="2057400" cy="4038600"/>
            <a:chOff x="576" y="1296"/>
            <a:chExt cx="1296" cy="2544"/>
          </a:xfrm>
        </p:grpSpPr>
        <p:sp>
          <p:nvSpPr>
            <p:cNvPr id="32777" name="Rectangle 6"/>
            <p:cNvSpPr>
              <a:spLocks noChangeArrowheads="1"/>
            </p:cNvSpPr>
            <p:nvPr/>
          </p:nvSpPr>
          <p:spPr bwMode="auto">
            <a:xfrm>
              <a:off x="672" y="1392"/>
              <a:ext cx="720" cy="2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78" name="Line 7"/>
            <p:cNvSpPr>
              <a:spLocks noChangeShapeType="1"/>
            </p:cNvSpPr>
            <p:nvPr/>
          </p:nvSpPr>
          <p:spPr bwMode="auto">
            <a:xfrm>
              <a:off x="672" y="16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79" name="Line 8"/>
            <p:cNvSpPr>
              <a:spLocks noChangeShapeType="1"/>
            </p:cNvSpPr>
            <p:nvPr/>
          </p:nvSpPr>
          <p:spPr bwMode="auto">
            <a:xfrm>
              <a:off x="672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80" name="Line 9"/>
            <p:cNvSpPr>
              <a:spLocks noChangeShapeType="1"/>
            </p:cNvSpPr>
            <p:nvPr/>
          </p:nvSpPr>
          <p:spPr bwMode="auto">
            <a:xfrm>
              <a:off x="67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81" name="Line 10"/>
            <p:cNvSpPr>
              <a:spLocks noChangeShapeType="1"/>
            </p:cNvSpPr>
            <p:nvPr/>
          </p:nvSpPr>
          <p:spPr bwMode="auto">
            <a:xfrm>
              <a:off x="672" y="34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82" name="Text Box 11"/>
            <p:cNvSpPr txBox="1">
              <a:spLocks noChangeArrowheads="1"/>
            </p:cNvSpPr>
            <p:nvPr/>
          </p:nvSpPr>
          <p:spPr bwMode="auto">
            <a:xfrm>
              <a:off x="672" y="340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32783" name="Text Box 12"/>
            <p:cNvSpPr txBox="1">
              <a:spLocks noChangeArrowheads="1"/>
            </p:cNvSpPr>
            <p:nvPr/>
          </p:nvSpPr>
          <p:spPr bwMode="auto">
            <a:xfrm>
              <a:off x="576" y="321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1</a:t>
              </a:r>
            </a:p>
          </p:txBody>
        </p:sp>
        <p:sp>
          <p:nvSpPr>
            <p:cNvPr id="32784" name="Text Box 13"/>
            <p:cNvSpPr txBox="1">
              <a:spLocks noChangeArrowheads="1"/>
            </p:cNvSpPr>
            <p:nvPr/>
          </p:nvSpPr>
          <p:spPr bwMode="auto">
            <a:xfrm>
              <a:off x="576" y="2764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2</a:t>
              </a:r>
            </a:p>
          </p:txBody>
        </p:sp>
        <p:sp>
          <p:nvSpPr>
            <p:cNvPr id="32785" name="Text Box 14"/>
            <p:cNvSpPr txBox="1">
              <a:spLocks noChangeArrowheads="1"/>
            </p:cNvSpPr>
            <p:nvPr/>
          </p:nvSpPr>
          <p:spPr bwMode="auto">
            <a:xfrm>
              <a:off x="576" y="199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3</a:t>
              </a:r>
            </a:p>
          </p:txBody>
        </p:sp>
        <p:sp>
          <p:nvSpPr>
            <p:cNvPr id="32786" name="Text Box 15"/>
            <p:cNvSpPr txBox="1">
              <a:spLocks noChangeArrowheads="1"/>
            </p:cNvSpPr>
            <p:nvPr/>
          </p:nvSpPr>
          <p:spPr bwMode="auto">
            <a:xfrm>
              <a:off x="576" y="1440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4</a:t>
              </a:r>
            </a:p>
          </p:txBody>
        </p:sp>
        <p:sp>
          <p:nvSpPr>
            <p:cNvPr id="32787" name="Text Box 16"/>
            <p:cNvSpPr txBox="1">
              <a:spLocks noChangeArrowheads="1"/>
            </p:cNvSpPr>
            <p:nvPr/>
          </p:nvSpPr>
          <p:spPr bwMode="auto">
            <a:xfrm>
              <a:off x="1344" y="129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800K</a:t>
              </a:r>
            </a:p>
          </p:txBody>
        </p:sp>
        <p:sp>
          <p:nvSpPr>
            <p:cNvPr id="32788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700K</a:t>
              </a:r>
            </a:p>
          </p:txBody>
        </p:sp>
        <p:sp>
          <p:nvSpPr>
            <p:cNvPr id="32789" name="Text Box 18"/>
            <p:cNvSpPr txBox="1">
              <a:spLocks noChangeArrowheads="1"/>
            </p:cNvSpPr>
            <p:nvPr/>
          </p:nvSpPr>
          <p:spPr bwMode="auto">
            <a:xfrm>
              <a:off x="1344" y="247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400K</a:t>
              </a:r>
            </a:p>
          </p:txBody>
        </p:sp>
        <p:sp>
          <p:nvSpPr>
            <p:cNvPr id="32790" name="Text Box 19"/>
            <p:cNvSpPr txBox="1">
              <a:spLocks noChangeArrowheads="1"/>
            </p:cNvSpPr>
            <p:nvPr/>
          </p:nvSpPr>
          <p:spPr bwMode="auto">
            <a:xfrm>
              <a:off x="1344" y="3052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32791" name="Text Box 20"/>
            <p:cNvSpPr txBox="1">
              <a:spLocks noChangeArrowheads="1"/>
            </p:cNvSpPr>
            <p:nvPr/>
          </p:nvSpPr>
          <p:spPr bwMode="auto">
            <a:xfrm>
              <a:off x="1344" y="33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100K</a:t>
              </a:r>
            </a:p>
          </p:txBody>
        </p:sp>
        <p:sp>
          <p:nvSpPr>
            <p:cNvPr id="32792" name="Text Box 21"/>
            <p:cNvSpPr txBox="1">
              <a:spLocks noChangeArrowheads="1"/>
            </p:cNvSpPr>
            <p:nvPr/>
          </p:nvSpPr>
          <p:spPr bwMode="auto">
            <a:xfrm>
              <a:off x="120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32776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2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/>
      <p:bldP spid="8253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1D0B2F-0022-4E25-9CEB-488FBBEB7EB1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Relocation and Protection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626225" cy="4530725"/>
          </a:xfrm>
        </p:spPr>
        <p:txBody>
          <a:bodyPr/>
          <a:lstStyle/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Solution: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If the program is loaded in 1</a:t>
            </a:r>
            <a:r>
              <a:rPr lang="en-US" altLang="en-US" sz="2200" baseline="30000" dirty="0" smtClean="0">
                <a:cs typeface="Arial" panose="020B0604020202020204" pitchFamily="34" charset="0"/>
              </a:rPr>
              <a:t>st</a:t>
            </a:r>
            <a:r>
              <a:rPr lang="en-US" altLang="en-US" sz="2200" dirty="0" smtClean="0">
                <a:cs typeface="Arial" panose="020B0604020202020204" pitchFamily="34" charset="0"/>
              </a:rPr>
              <a:t> partition, then</a:t>
            </a:r>
          </a:p>
          <a:p>
            <a:pPr lvl="1" eaLnBrk="1" hangingPunct="1"/>
            <a:r>
              <a:rPr lang="en-US" altLang="en-US" sz="2000" dirty="0" smtClean="0">
                <a:cs typeface="Arial" panose="020B0604020202020204" pitchFamily="34" charset="0"/>
              </a:rPr>
              <a:t>Call 100k + 10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If the program is loaded in 2</a:t>
            </a:r>
            <a:r>
              <a:rPr lang="en-US" altLang="en-US" sz="2200" baseline="30000" dirty="0" smtClean="0">
                <a:cs typeface="Arial" panose="020B0604020202020204" pitchFamily="34" charset="0"/>
              </a:rPr>
              <a:t>nd</a:t>
            </a:r>
            <a:r>
              <a:rPr lang="en-US" altLang="en-US" sz="2200" dirty="0" smtClean="0">
                <a:cs typeface="Arial" panose="020B0604020202020204" pitchFamily="34" charset="0"/>
              </a:rPr>
              <a:t>  partition, then</a:t>
            </a:r>
          </a:p>
          <a:p>
            <a:pPr lvl="1" eaLnBrk="1" hangingPunct="1"/>
            <a:r>
              <a:rPr lang="en-US" altLang="en-US" sz="2000" dirty="0" smtClean="0">
                <a:cs typeface="Arial" panose="020B0604020202020204" pitchFamily="34" charset="0"/>
              </a:rPr>
              <a:t>Call 200k + 10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So on…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This is called </a:t>
            </a:r>
            <a:r>
              <a:rPr lang="en-US" altLang="en-US" sz="2200" b="1" i="1" dirty="0" smtClean="0">
                <a:solidFill>
                  <a:srgbClr val="CC3300"/>
                </a:solidFill>
                <a:cs typeface="Arial" panose="020B0604020202020204" pitchFamily="34" charset="0"/>
              </a:rPr>
              <a:t>Relocation</a:t>
            </a:r>
            <a:r>
              <a:rPr lang="en-US" altLang="en-US" sz="2200" dirty="0" smtClean="0">
                <a:cs typeface="Arial" panose="020B0604020202020204" pitchFamily="34" charset="0"/>
              </a:rPr>
              <a:t> problem</a:t>
            </a:r>
          </a:p>
          <a:p>
            <a:pPr eaLnBrk="1" hangingPunct="1"/>
            <a:endParaRPr lang="en-US" altLang="en-US" sz="2200" dirty="0" smtClean="0">
              <a:cs typeface="Arial" panose="020B0604020202020204" pitchFamily="34" charset="0"/>
            </a:endParaRPr>
          </a:p>
        </p:txBody>
      </p:sp>
      <p:grpSp>
        <p:nvGrpSpPr>
          <p:cNvPr id="34822" name="Group 4"/>
          <p:cNvGrpSpPr>
            <a:grpSpLocks/>
          </p:cNvGrpSpPr>
          <p:nvPr/>
        </p:nvGrpSpPr>
        <p:grpSpPr bwMode="auto">
          <a:xfrm>
            <a:off x="7086600" y="914400"/>
            <a:ext cx="2057400" cy="4038600"/>
            <a:chOff x="576" y="1296"/>
            <a:chExt cx="1296" cy="2544"/>
          </a:xfrm>
        </p:grpSpPr>
        <p:sp>
          <p:nvSpPr>
            <p:cNvPr id="34824" name="Rectangle 5"/>
            <p:cNvSpPr>
              <a:spLocks noChangeArrowheads="1"/>
            </p:cNvSpPr>
            <p:nvPr/>
          </p:nvSpPr>
          <p:spPr bwMode="auto">
            <a:xfrm>
              <a:off x="672" y="1392"/>
              <a:ext cx="720" cy="2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25" name="Line 6"/>
            <p:cNvSpPr>
              <a:spLocks noChangeShapeType="1"/>
            </p:cNvSpPr>
            <p:nvPr/>
          </p:nvSpPr>
          <p:spPr bwMode="auto">
            <a:xfrm>
              <a:off x="672" y="16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26" name="Line 7"/>
            <p:cNvSpPr>
              <a:spLocks noChangeShapeType="1"/>
            </p:cNvSpPr>
            <p:nvPr/>
          </p:nvSpPr>
          <p:spPr bwMode="auto">
            <a:xfrm>
              <a:off x="672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27" name="Line 8"/>
            <p:cNvSpPr>
              <a:spLocks noChangeShapeType="1"/>
            </p:cNvSpPr>
            <p:nvPr/>
          </p:nvSpPr>
          <p:spPr bwMode="auto">
            <a:xfrm>
              <a:off x="67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28" name="Line 9"/>
            <p:cNvSpPr>
              <a:spLocks noChangeShapeType="1"/>
            </p:cNvSpPr>
            <p:nvPr/>
          </p:nvSpPr>
          <p:spPr bwMode="auto">
            <a:xfrm>
              <a:off x="672" y="34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29" name="Text Box 10"/>
            <p:cNvSpPr txBox="1">
              <a:spLocks noChangeArrowheads="1"/>
            </p:cNvSpPr>
            <p:nvPr/>
          </p:nvSpPr>
          <p:spPr bwMode="auto">
            <a:xfrm>
              <a:off x="672" y="340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34830" name="Text Box 11"/>
            <p:cNvSpPr txBox="1">
              <a:spLocks noChangeArrowheads="1"/>
            </p:cNvSpPr>
            <p:nvPr/>
          </p:nvSpPr>
          <p:spPr bwMode="auto">
            <a:xfrm>
              <a:off x="576" y="321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1</a:t>
              </a:r>
            </a:p>
          </p:txBody>
        </p:sp>
        <p:sp>
          <p:nvSpPr>
            <p:cNvPr id="34831" name="Text Box 12"/>
            <p:cNvSpPr txBox="1">
              <a:spLocks noChangeArrowheads="1"/>
            </p:cNvSpPr>
            <p:nvPr/>
          </p:nvSpPr>
          <p:spPr bwMode="auto">
            <a:xfrm>
              <a:off x="576" y="2764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2</a:t>
              </a:r>
            </a:p>
          </p:txBody>
        </p:sp>
        <p:sp>
          <p:nvSpPr>
            <p:cNvPr id="34832" name="Text Box 13"/>
            <p:cNvSpPr txBox="1">
              <a:spLocks noChangeArrowheads="1"/>
            </p:cNvSpPr>
            <p:nvPr/>
          </p:nvSpPr>
          <p:spPr bwMode="auto">
            <a:xfrm>
              <a:off x="576" y="199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3</a:t>
              </a:r>
            </a:p>
          </p:txBody>
        </p:sp>
        <p:sp>
          <p:nvSpPr>
            <p:cNvPr id="34833" name="Text Box 14"/>
            <p:cNvSpPr txBox="1">
              <a:spLocks noChangeArrowheads="1"/>
            </p:cNvSpPr>
            <p:nvPr/>
          </p:nvSpPr>
          <p:spPr bwMode="auto">
            <a:xfrm>
              <a:off x="576" y="1440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4</a:t>
              </a:r>
            </a:p>
          </p:txBody>
        </p:sp>
        <p:sp>
          <p:nvSpPr>
            <p:cNvPr id="34834" name="Text Box 15"/>
            <p:cNvSpPr txBox="1">
              <a:spLocks noChangeArrowheads="1"/>
            </p:cNvSpPr>
            <p:nvPr/>
          </p:nvSpPr>
          <p:spPr bwMode="auto">
            <a:xfrm>
              <a:off x="1344" y="129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800K</a:t>
              </a:r>
            </a:p>
          </p:txBody>
        </p:sp>
        <p:sp>
          <p:nvSpPr>
            <p:cNvPr id="34835" name="Text Box 16"/>
            <p:cNvSpPr txBox="1">
              <a:spLocks noChangeArrowheads="1"/>
            </p:cNvSpPr>
            <p:nvPr/>
          </p:nvSpPr>
          <p:spPr bwMode="auto">
            <a:xfrm>
              <a:off x="1344" y="158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700K</a:t>
              </a:r>
            </a:p>
          </p:txBody>
        </p:sp>
        <p:sp>
          <p:nvSpPr>
            <p:cNvPr id="34836" name="Text Box 17"/>
            <p:cNvSpPr txBox="1">
              <a:spLocks noChangeArrowheads="1"/>
            </p:cNvSpPr>
            <p:nvPr/>
          </p:nvSpPr>
          <p:spPr bwMode="auto">
            <a:xfrm>
              <a:off x="1344" y="247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400K</a:t>
              </a:r>
            </a:p>
          </p:txBody>
        </p:sp>
        <p:sp>
          <p:nvSpPr>
            <p:cNvPr id="34837" name="Text Box 18"/>
            <p:cNvSpPr txBox="1">
              <a:spLocks noChangeArrowheads="1"/>
            </p:cNvSpPr>
            <p:nvPr/>
          </p:nvSpPr>
          <p:spPr bwMode="auto">
            <a:xfrm>
              <a:off x="1344" y="3052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34838" name="Text Box 19"/>
            <p:cNvSpPr txBox="1">
              <a:spLocks noChangeArrowheads="1"/>
            </p:cNvSpPr>
            <p:nvPr/>
          </p:nvSpPr>
          <p:spPr bwMode="auto">
            <a:xfrm>
              <a:off x="1344" y="33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100K</a:t>
              </a:r>
            </a:p>
          </p:txBody>
        </p:sp>
        <p:sp>
          <p:nvSpPr>
            <p:cNvPr id="34839" name="Text Box 20"/>
            <p:cNvSpPr txBox="1">
              <a:spLocks noChangeArrowheads="1"/>
            </p:cNvSpPr>
            <p:nvPr/>
          </p:nvSpPr>
          <p:spPr bwMode="auto">
            <a:xfrm>
              <a:off x="120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34823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27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33C389-3DD3-4E56-B131-97F5E500A4FB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Relocation and Protection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626225" cy="4530725"/>
          </a:xfrm>
        </p:spPr>
        <p:txBody>
          <a:bodyPr/>
          <a:lstStyle/>
          <a:p>
            <a:pPr eaLnBrk="1" hangingPunct="1"/>
            <a:r>
              <a:rPr lang="en-US" altLang="en-US" sz="2600" dirty="0" smtClean="0">
                <a:cs typeface="Arial" panose="020B0604020202020204" pitchFamily="34" charset="0"/>
              </a:rPr>
              <a:t>Solution:</a:t>
            </a:r>
          </a:p>
          <a:p>
            <a:pPr lvl="1" eaLnBrk="1" hangingPunct="1"/>
            <a:r>
              <a:rPr lang="en-US" altLang="en-US" sz="2200" dirty="0" smtClean="0">
                <a:cs typeface="Arial" panose="020B0604020202020204" pitchFamily="34" charset="0"/>
              </a:rPr>
              <a:t>Add an offset to each address in the program</a:t>
            </a:r>
          </a:p>
          <a:p>
            <a:pPr lvl="1" eaLnBrk="1" hangingPunct="1"/>
            <a:r>
              <a:rPr lang="en-US" altLang="en-US" sz="2200" dirty="0" smtClean="0">
                <a:cs typeface="Arial" panose="020B0604020202020204" pitchFamily="34" charset="0"/>
              </a:rPr>
              <a:t>The offset depends on the partition, e.g.,</a:t>
            </a:r>
          </a:p>
          <a:p>
            <a:pPr lvl="2" eaLnBrk="1" hangingPunct="1"/>
            <a:r>
              <a:rPr lang="en-US" altLang="en-US" sz="2000" dirty="0" smtClean="0">
                <a:cs typeface="Arial" panose="020B0604020202020204" pitchFamily="34" charset="0"/>
              </a:rPr>
              <a:t>if the Program is loaded in partition 1, add 100k to every address</a:t>
            </a:r>
          </a:p>
          <a:p>
            <a:pPr lvl="2" eaLnBrk="1" hangingPunct="1"/>
            <a:r>
              <a:rPr lang="en-US" altLang="en-US" sz="2000" dirty="0" smtClean="0">
                <a:cs typeface="Arial" panose="020B0604020202020204" pitchFamily="34" charset="0"/>
              </a:rPr>
              <a:t>if the Program is loaded in partition 2, add 200k to every address</a:t>
            </a:r>
          </a:p>
          <a:p>
            <a:pPr eaLnBrk="1" hangingPunct="1"/>
            <a:endParaRPr lang="en-US" altLang="en-US" sz="2600" dirty="0" smtClean="0">
              <a:cs typeface="Arial" panose="020B0604020202020204" pitchFamily="34" charset="0"/>
            </a:endParaRPr>
          </a:p>
        </p:txBody>
      </p:sp>
      <p:sp>
        <p:nvSpPr>
          <p:cNvPr id="829444" name="Rectangle 4"/>
          <p:cNvSpPr>
            <a:spLocks noChangeArrowheads="1"/>
          </p:cNvSpPr>
          <p:nvPr/>
        </p:nvSpPr>
        <p:spPr bwMode="auto">
          <a:xfrm>
            <a:off x="395288" y="4868863"/>
            <a:ext cx="744378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 program can still generate an address that jumps in the OS or other user</a:t>
            </a:r>
            <a:r>
              <a:rPr kumimoji="0" lang="en-US" alt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code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We need to </a:t>
            </a:r>
            <a:r>
              <a:rPr kumimoji="0" lang="en-US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Protect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the code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871" name="Group 5"/>
          <p:cNvGrpSpPr>
            <a:grpSpLocks/>
          </p:cNvGrpSpPr>
          <p:nvPr/>
        </p:nvGrpSpPr>
        <p:grpSpPr bwMode="auto">
          <a:xfrm>
            <a:off x="7086600" y="914400"/>
            <a:ext cx="2057400" cy="4038600"/>
            <a:chOff x="576" y="1296"/>
            <a:chExt cx="1296" cy="2544"/>
          </a:xfrm>
        </p:grpSpPr>
        <p:sp>
          <p:nvSpPr>
            <p:cNvPr id="36873" name="Rectangle 6"/>
            <p:cNvSpPr>
              <a:spLocks noChangeArrowheads="1"/>
            </p:cNvSpPr>
            <p:nvPr/>
          </p:nvSpPr>
          <p:spPr bwMode="auto">
            <a:xfrm>
              <a:off x="672" y="1392"/>
              <a:ext cx="720" cy="2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74" name="Line 7"/>
            <p:cNvSpPr>
              <a:spLocks noChangeShapeType="1"/>
            </p:cNvSpPr>
            <p:nvPr/>
          </p:nvSpPr>
          <p:spPr bwMode="auto">
            <a:xfrm>
              <a:off x="672" y="16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75" name="Line 8"/>
            <p:cNvSpPr>
              <a:spLocks noChangeShapeType="1"/>
            </p:cNvSpPr>
            <p:nvPr/>
          </p:nvSpPr>
          <p:spPr bwMode="auto">
            <a:xfrm>
              <a:off x="672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76" name="Line 9"/>
            <p:cNvSpPr>
              <a:spLocks noChangeShapeType="1"/>
            </p:cNvSpPr>
            <p:nvPr/>
          </p:nvSpPr>
          <p:spPr bwMode="auto">
            <a:xfrm>
              <a:off x="67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77" name="Line 10"/>
            <p:cNvSpPr>
              <a:spLocks noChangeShapeType="1"/>
            </p:cNvSpPr>
            <p:nvPr/>
          </p:nvSpPr>
          <p:spPr bwMode="auto">
            <a:xfrm>
              <a:off x="672" y="34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78" name="Text Box 11"/>
            <p:cNvSpPr txBox="1">
              <a:spLocks noChangeArrowheads="1"/>
            </p:cNvSpPr>
            <p:nvPr/>
          </p:nvSpPr>
          <p:spPr bwMode="auto">
            <a:xfrm>
              <a:off x="672" y="340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36879" name="Text Box 12"/>
            <p:cNvSpPr txBox="1">
              <a:spLocks noChangeArrowheads="1"/>
            </p:cNvSpPr>
            <p:nvPr/>
          </p:nvSpPr>
          <p:spPr bwMode="auto">
            <a:xfrm>
              <a:off x="576" y="321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1</a:t>
              </a:r>
            </a:p>
          </p:txBody>
        </p:sp>
        <p:sp>
          <p:nvSpPr>
            <p:cNvPr id="36880" name="Text Box 13"/>
            <p:cNvSpPr txBox="1">
              <a:spLocks noChangeArrowheads="1"/>
            </p:cNvSpPr>
            <p:nvPr/>
          </p:nvSpPr>
          <p:spPr bwMode="auto">
            <a:xfrm>
              <a:off x="576" y="2764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2</a:t>
              </a:r>
            </a:p>
          </p:txBody>
        </p:sp>
        <p:sp>
          <p:nvSpPr>
            <p:cNvPr id="36881" name="Text Box 14"/>
            <p:cNvSpPr txBox="1">
              <a:spLocks noChangeArrowheads="1"/>
            </p:cNvSpPr>
            <p:nvPr/>
          </p:nvSpPr>
          <p:spPr bwMode="auto">
            <a:xfrm>
              <a:off x="576" y="199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3</a:t>
              </a:r>
            </a:p>
          </p:txBody>
        </p:sp>
        <p:sp>
          <p:nvSpPr>
            <p:cNvPr id="36882" name="Text Box 15"/>
            <p:cNvSpPr txBox="1">
              <a:spLocks noChangeArrowheads="1"/>
            </p:cNvSpPr>
            <p:nvPr/>
          </p:nvSpPr>
          <p:spPr bwMode="auto">
            <a:xfrm>
              <a:off x="576" y="1440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4</a:t>
              </a:r>
            </a:p>
          </p:txBody>
        </p:sp>
        <p:sp>
          <p:nvSpPr>
            <p:cNvPr id="36883" name="Text Box 16"/>
            <p:cNvSpPr txBox="1">
              <a:spLocks noChangeArrowheads="1"/>
            </p:cNvSpPr>
            <p:nvPr/>
          </p:nvSpPr>
          <p:spPr bwMode="auto">
            <a:xfrm>
              <a:off x="1344" y="129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800K</a:t>
              </a:r>
            </a:p>
          </p:txBody>
        </p:sp>
        <p:sp>
          <p:nvSpPr>
            <p:cNvPr id="36884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700K</a:t>
              </a:r>
            </a:p>
          </p:txBody>
        </p:sp>
        <p:sp>
          <p:nvSpPr>
            <p:cNvPr id="36885" name="Text Box 18"/>
            <p:cNvSpPr txBox="1">
              <a:spLocks noChangeArrowheads="1"/>
            </p:cNvSpPr>
            <p:nvPr/>
          </p:nvSpPr>
          <p:spPr bwMode="auto">
            <a:xfrm>
              <a:off x="1344" y="247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400K</a:t>
              </a:r>
            </a:p>
          </p:txBody>
        </p:sp>
        <p:sp>
          <p:nvSpPr>
            <p:cNvPr id="36886" name="Text Box 19"/>
            <p:cNvSpPr txBox="1">
              <a:spLocks noChangeArrowheads="1"/>
            </p:cNvSpPr>
            <p:nvPr/>
          </p:nvSpPr>
          <p:spPr bwMode="auto">
            <a:xfrm>
              <a:off x="1344" y="3052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36887" name="Text Box 20"/>
            <p:cNvSpPr txBox="1">
              <a:spLocks noChangeArrowheads="1"/>
            </p:cNvSpPr>
            <p:nvPr/>
          </p:nvSpPr>
          <p:spPr bwMode="auto">
            <a:xfrm>
              <a:off x="1344" y="33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100K</a:t>
              </a:r>
            </a:p>
          </p:txBody>
        </p:sp>
        <p:sp>
          <p:nvSpPr>
            <p:cNvPr id="36888" name="Text Box 21"/>
            <p:cNvSpPr txBox="1">
              <a:spLocks noChangeArrowheads="1"/>
            </p:cNvSpPr>
            <p:nvPr/>
          </p:nvSpPr>
          <p:spPr bwMode="auto">
            <a:xfrm>
              <a:off x="120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36872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70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Requirements: Protection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Processes should not be able to reference memory locations in another process without permission</a:t>
            </a:r>
          </a:p>
          <a:p>
            <a:r>
              <a:rPr lang="en-US" altLang="en-US" dirty="0" smtClean="0"/>
              <a:t>Impossible to check absolute addresses at compile time</a:t>
            </a:r>
          </a:p>
          <a:p>
            <a:r>
              <a:rPr lang="en-US" altLang="en-US" dirty="0" smtClean="0"/>
              <a:t>Must be checked at run time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690169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Relocation and protection -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648200"/>
          </a:xfrm>
        </p:spPr>
        <p:txBody>
          <a:bodyPr/>
          <a:lstStyle/>
          <a:p>
            <a:r>
              <a:rPr lang="en-US" sz="2800" kern="1200" dirty="0">
                <a:latin typeface="Arial" charset="0"/>
              </a:rPr>
              <a:t>A solution, which solves </a:t>
            </a:r>
            <a:r>
              <a:rPr lang="en-US" sz="2800" kern="1200" dirty="0" smtClean="0">
                <a:latin typeface="Arial" charset="0"/>
              </a:rPr>
              <a:t>to equip </a:t>
            </a:r>
            <a:r>
              <a:rPr lang="en-US" sz="2800" kern="1200" dirty="0">
                <a:latin typeface="Arial" charset="0"/>
              </a:rPr>
              <a:t>the machine with two registers </a:t>
            </a:r>
            <a:r>
              <a:rPr lang="en-US" sz="2800" kern="1200" dirty="0" smtClean="0">
                <a:latin typeface="Arial" charset="0"/>
              </a:rPr>
              <a:t>called the</a:t>
            </a:r>
            <a:r>
              <a:rPr lang="en-US" sz="2800" kern="1200" dirty="0">
                <a:latin typeface="Arial" charset="0"/>
              </a:rPr>
              <a:t> </a:t>
            </a:r>
            <a:r>
              <a:rPr lang="en-US" sz="2800" b="1" i="1" kern="1200" dirty="0">
                <a:latin typeface="Arial" charset="0"/>
              </a:rPr>
              <a:t>base</a:t>
            </a:r>
            <a:r>
              <a:rPr lang="en-US" sz="2800" kern="1200" dirty="0">
                <a:latin typeface="Arial" charset="0"/>
              </a:rPr>
              <a:t> and </a:t>
            </a:r>
            <a:r>
              <a:rPr lang="en-US" sz="2800" b="1" i="1" kern="1200" dirty="0">
                <a:latin typeface="Arial" charset="0"/>
              </a:rPr>
              <a:t>limit</a:t>
            </a:r>
            <a:r>
              <a:rPr lang="en-US" sz="2800" kern="1200" dirty="0">
                <a:latin typeface="Arial" charset="0"/>
              </a:rPr>
              <a:t> registers</a:t>
            </a:r>
            <a:r>
              <a:rPr lang="en-US" sz="2800" kern="1200" dirty="0" smtClean="0">
                <a:latin typeface="Arial" charset="0"/>
              </a:rPr>
              <a:t>.</a:t>
            </a:r>
            <a:endParaRPr lang="en-US" sz="2800" kern="1200" dirty="0">
              <a:latin typeface="Arial" charset="0"/>
            </a:endParaRPr>
          </a:p>
          <a:p>
            <a:r>
              <a:rPr lang="en-US" sz="2800" kern="1200" dirty="0">
                <a:latin typeface="Arial" charset="0"/>
              </a:rPr>
              <a:t>B</a:t>
            </a:r>
            <a:r>
              <a:rPr lang="en-US" sz="2800" kern="1200" dirty="0" smtClean="0">
                <a:latin typeface="Arial" charset="0"/>
              </a:rPr>
              <a:t>ase </a:t>
            </a:r>
            <a:r>
              <a:rPr lang="en-US" sz="2800" kern="1200" dirty="0">
                <a:latin typeface="Arial" charset="0"/>
              </a:rPr>
              <a:t>register stores the </a:t>
            </a:r>
            <a:r>
              <a:rPr lang="en-US" sz="2800" kern="1200" dirty="0">
                <a:solidFill>
                  <a:srgbClr val="FF0000"/>
                </a:solidFill>
                <a:latin typeface="Arial" charset="0"/>
              </a:rPr>
              <a:t>start address of the partition </a:t>
            </a:r>
            <a:endParaRPr lang="en-US" sz="2800" kern="1200" dirty="0" smtClean="0">
              <a:solidFill>
                <a:srgbClr val="FF0000"/>
              </a:solidFill>
              <a:latin typeface="Arial" charset="0"/>
            </a:endParaRPr>
          </a:p>
          <a:p>
            <a:r>
              <a:rPr lang="en-US" sz="2800" kern="1200" dirty="0" smtClean="0">
                <a:latin typeface="Arial" charset="0"/>
              </a:rPr>
              <a:t> </a:t>
            </a:r>
            <a:r>
              <a:rPr lang="en-US" sz="2800" kern="1200" dirty="0">
                <a:latin typeface="Arial" charset="0"/>
              </a:rPr>
              <a:t>L</a:t>
            </a:r>
            <a:r>
              <a:rPr lang="en-US" sz="2800" kern="1200" dirty="0" smtClean="0">
                <a:latin typeface="Arial" charset="0"/>
              </a:rPr>
              <a:t>imit </a:t>
            </a:r>
            <a:r>
              <a:rPr lang="en-US" sz="2800" kern="1200" dirty="0">
                <a:latin typeface="Arial" charset="0"/>
              </a:rPr>
              <a:t>register holds the </a:t>
            </a:r>
            <a:r>
              <a:rPr lang="en-US" sz="2800" kern="1200" dirty="0">
                <a:solidFill>
                  <a:srgbClr val="FF0000"/>
                </a:solidFill>
                <a:latin typeface="Arial" charset="0"/>
              </a:rPr>
              <a:t>length of the </a:t>
            </a:r>
            <a:r>
              <a:rPr lang="en-US" sz="2800" kern="1200" dirty="0" smtClean="0">
                <a:solidFill>
                  <a:srgbClr val="FF0000"/>
                </a:solidFill>
                <a:latin typeface="Arial" charset="0"/>
              </a:rPr>
              <a:t>partition.</a:t>
            </a:r>
          </a:p>
          <a:p>
            <a:r>
              <a:rPr lang="en-US" sz="2800" kern="1200" dirty="0" smtClean="0">
                <a:solidFill>
                  <a:srgbClr val="FF0000"/>
                </a:solidFill>
                <a:latin typeface="Arial" charset="0"/>
              </a:rPr>
              <a:t>Any </a:t>
            </a:r>
            <a:r>
              <a:rPr lang="en-US" sz="2800" kern="1200" dirty="0">
                <a:solidFill>
                  <a:srgbClr val="FF0000"/>
                </a:solidFill>
                <a:latin typeface="Arial" charset="0"/>
              </a:rPr>
              <a:t>address </a:t>
            </a:r>
            <a:r>
              <a:rPr lang="en-US" sz="2800" kern="1200" dirty="0">
                <a:latin typeface="Arial" charset="0"/>
              </a:rPr>
              <a:t>that is generated by the program has the </a:t>
            </a:r>
            <a:r>
              <a:rPr lang="en-US" sz="2800" kern="1200" dirty="0">
                <a:solidFill>
                  <a:srgbClr val="FF0000"/>
                </a:solidFill>
                <a:latin typeface="Arial" charset="0"/>
              </a:rPr>
              <a:t>base register added to it</a:t>
            </a:r>
            <a:r>
              <a:rPr lang="en-US" sz="2800" kern="1200" dirty="0">
                <a:latin typeface="Arial" charset="0"/>
              </a:rPr>
              <a:t>. </a:t>
            </a:r>
            <a:endParaRPr lang="en-US" sz="2800" kern="1200" dirty="0" smtClean="0">
              <a:latin typeface="Arial" charset="0"/>
            </a:endParaRPr>
          </a:p>
          <a:p>
            <a:r>
              <a:rPr lang="en-US" sz="2800" kern="1200" dirty="0" smtClean="0">
                <a:latin typeface="Arial" charset="0"/>
              </a:rPr>
              <a:t>In </a:t>
            </a:r>
            <a:r>
              <a:rPr lang="en-US" sz="2800" kern="1200" dirty="0">
                <a:latin typeface="Arial" charset="0"/>
              </a:rPr>
              <a:t>addition, all addresses are checked to ensure they are within the range of the partition</a:t>
            </a:r>
            <a:r>
              <a:rPr lang="en-US" kern="1200" dirty="0">
                <a:latin typeface="Arial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39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1858963"/>
            <a:ext cx="6437312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Contiguous Memory Allocation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idx="1"/>
          </p:nvPr>
        </p:nvSpPr>
        <p:spPr>
          <a:xfrm>
            <a:off x="52388" y="4672013"/>
            <a:ext cx="9028112" cy="2160587"/>
          </a:xfrm>
        </p:spPr>
        <p:txBody>
          <a:bodyPr/>
          <a:lstStyle/>
          <a:p>
            <a:pPr eaLnBrk="1" hangingPunct="1"/>
            <a:r>
              <a:rPr lang="en-US" altLang="ja-JP" sz="2000" dirty="0" smtClean="0"/>
              <a:t>For each process</a:t>
            </a:r>
          </a:p>
          <a:p>
            <a:pPr lvl="1" eaLnBrk="1" hangingPunct="1"/>
            <a:r>
              <a:rPr lang="en-US" altLang="ja-JP" sz="2000" dirty="0" smtClean="0"/>
              <a:t>Logical space is mapped to a contiguous portion of physical space</a:t>
            </a:r>
          </a:p>
          <a:p>
            <a:pPr lvl="1" eaLnBrk="1" hangingPunct="1"/>
            <a:r>
              <a:rPr lang="en-US" altLang="ja-JP" sz="2000" dirty="0" smtClean="0"/>
              <a:t>A relocation and a limit register are prepared</a:t>
            </a:r>
          </a:p>
          <a:p>
            <a:pPr lvl="2" eaLnBrk="1" hangingPunct="1"/>
            <a:r>
              <a:rPr lang="en-US" altLang="ja-JP" sz="2000" dirty="0" smtClean="0"/>
              <a:t>Relocation register = the starting location</a:t>
            </a:r>
          </a:p>
          <a:p>
            <a:pPr lvl="2" eaLnBrk="1" hangingPunct="1"/>
            <a:r>
              <a:rPr lang="en-US" altLang="ja-JP" sz="2000" dirty="0" smtClean="0"/>
              <a:t>Limit register = the size of logical address space</a:t>
            </a:r>
          </a:p>
        </p:txBody>
      </p:sp>
      <p:sp>
        <p:nvSpPr>
          <p:cNvPr id="22535" name="Text Box 5"/>
          <p:cNvSpPr txBox="1">
            <a:spLocks noChangeArrowheads="1"/>
          </p:cNvSpPr>
          <p:nvPr/>
        </p:nvSpPr>
        <p:spPr bwMode="auto">
          <a:xfrm>
            <a:off x="4497388" y="4005263"/>
            <a:ext cx="3336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ja-JP" sz="2000"/>
              <a:t>MMU</a:t>
            </a:r>
          </a:p>
          <a:p>
            <a:pPr eaLnBrk="1" hangingPunct="1"/>
            <a:r>
              <a:rPr lang="en-US" altLang="ja-JP" sz="2000"/>
              <a:t>(Memory Management Unit)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AEBAEE-D5AE-4A4A-9A1C-7E320CE16C46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Relocation and Protection</a:t>
            </a:r>
          </a:p>
        </p:txBody>
      </p:sp>
      <p:sp>
        <p:nvSpPr>
          <p:cNvPr id="43013" name="Rectangle 3"/>
          <p:cNvSpPr>
            <a:spLocks noChangeArrowheads="1"/>
          </p:cNvSpPr>
          <p:nvPr/>
        </p:nvSpPr>
        <p:spPr bwMode="auto">
          <a:xfrm>
            <a:off x="6172200" y="2209800"/>
            <a:ext cx="1143000" cy="3733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4" name="Line 4"/>
          <p:cNvSpPr>
            <a:spLocks noChangeShapeType="1"/>
          </p:cNvSpPr>
          <p:nvPr/>
        </p:nvSpPr>
        <p:spPr bwMode="auto">
          <a:xfrm>
            <a:off x="6172200" y="2667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5" name="Line 5"/>
          <p:cNvSpPr>
            <a:spLocks noChangeShapeType="1"/>
          </p:cNvSpPr>
          <p:nvPr/>
        </p:nvSpPr>
        <p:spPr bwMode="auto">
          <a:xfrm>
            <a:off x="6172200" y="4343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6" name="Line 6"/>
          <p:cNvSpPr>
            <a:spLocks noChangeShapeType="1"/>
          </p:cNvSpPr>
          <p:nvPr/>
        </p:nvSpPr>
        <p:spPr bwMode="auto">
          <a:xfrm>
            <a:off x="6172200" y="5029200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7" name="Line 7"/>
          <p:cNvSpPr>
            <a:spLocks noChangeShapeType="1"/>
          </p:cNvSpPr>
          <p:nvPr/>
        </p:nvSpPr>
        <p:spPr bwMode="auto">
          <a:xfrm>
            <a:off x="6172200" y="5486400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018" name="Text Box 8"/>
          <p:cNvSpPr txBox="1">
            <a:spLocks noChangeArrowheads="1"/>
          </p:cNvSpPr>
          <p:nvPr/>
        </p:nvSpPr>
        <p:spPr bwMode="auto">
          <a:xfrm>
            <a:off x="6172200" y="5410200"/>
            <a:ext cx="11588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Operating System</a:t>
            </a:r>
          </a:p>
        </p:txBody>
      </p:sp>
      <p:sp>
        <p:nvSpPr>
          <p:cNvPr id="43019" name="Text Box 9"/>
          <p:cNvSpPr txBox="1">
            <a:spLocks noChangeArrowheads="1"/>
          </p:cNvSpPr>
          <p:nvPr/>
        </p:nvSpPr>
        <p:spPr bwMode="auto">
          <a:xfrm>
            <a:off x="6019800" y="5105400"/>
            <a:ext cx="1463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Partition 1</a:t>
            </a:r>
          </a:p>
        </p:txBody>
      </p:sp>
      <p:sp>
        <p:nvSpPr>
          <p:cNvPr id="43020" name="Text Box 10"/>
          <p:cNvSpPr txBox="1">
            <a:spLocks noChangeArrowheads="1"/>
          </p:cNvSpPr>
          <p:nvPr/>
        </p:nvSpPr>
        <p:spPr bwMode="auto">
          <a:xfrm>
            <a:off x="6019800" y="4387850"/>
            <a:ext cx="1463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Partition 2</a:t>
            </a:r>
          </a:p>
        </p:txBody>
      </p:sp>
      <p:sp>
        <p:nvSpPr>
          <p:cNvPr id="43021" name="Text Box 11"/>
          <p:cNvSpPr txBox="1">
            <a:spLocks noChangeArrowheads="1"/>
          </p:cNvSpPr>
          <p:nvPr/>
        </p:nvSpPr>
        <p:spPr bwMode="auto">
          <a:xfrm>
            <a:off x="6019800" y="3168650"/>
            <a:ext cx="1463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Partition 3</a:t>
            </a:r>
          </a:p>
        </p:txBody>
      </p:sp>
      <p:sp>
        <p:nvSpPr>
          <p:cNvPr id="43022" name="Text Box 12"/>
          <p:cNvSpPr txBox="1">
            <a:spLocks noChangeArrowheads="1"/>
          </p:cNvSpPr>
          <p:nvPr/>
        </p:nvSpPr>
        <p:spPr bwMode="auto">
          <a:xfrm>
            <a:off x="6019800" y="2286000"/>
            <a:ext cx="1463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Partition 4</a:t>
            </a:r>
          </a:p>
        </p:txBody>
      </p:sp>
      <p:sp>
        <p:nvSpPr>
          <p:cNvPr id="43023" name="Text Box 13"/>
          <p:cNvSpPr txBox="1">
            <a:spLocks noChangeArrowheads="1"/>
          </p:cNvSpPr>
          <p:nvPr/>
        </p:nvSpPr>
        <p:spPr bwMode="auto">
          <a:xfrm>
            <a:off x="7239000" y="20574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800K</a:t>
            </a:r>
          </a:p>
        </p:txBody>
      </p:sp>
      <p:sp>
        <p:nvSpPr>
          <p:cNvPr id="43024" name="Text Box 14"/>
          <p:cNvSpPr txBox="1">
            <a:spLocks noChangeArrowheads="1"/>
          </p:cNvSpPr>
          <p:nvPr/>
        </p:nvSpPr>
        <p:spPr bwMode="auto">
          <a:xfrm>
            <a:off x="7239000" y="25146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700K</a:t>
            </a:r>
          </a:p>
        </p:txBody>
      </p:sp>
      <p:sp>
        <p:nvSpPr>
          <p:cNvPr id="43025" name="Text Box 15"/>
          <p:cNvSpPr txBox="1">
            <a:spLocks noChangeArrowheads="1"/>
          </p:cNvSpPr>
          <p:nvPr/>
        </p:nvSpPr>
        <p:spPr bwMode="auto">
          <a:xfrm>
            <a:off x="7239000" y="415925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400K</a:t>
            </a:r>
          </a:p>
        </p:txBody>
      </p:sp>
      <p:sp>
        <p:nvSpPr>
          <p:cNvPr id="43026" name="Text Box 16"/>
          <p:cNvSpPr txBox="1">
            <a:spLocks noChangeArrowheads="1"/>
          </p:cNvSpPr>
          <p:nvPr/>
        </p:nvSpPr>
        <p:spPr bwMode="auto">
          <a:xfrm>
            <a:off x="7239000" y="484505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43027" name="Text Box 17"/>
          <p:cNvSpPr txBox="1">
            <a:spLocks noChangeArrowheads="1"/>
          </p:cNvSpPr>
          <p:nvPr/>
        </p:nvSpPr>
        <p:spPr bwMode="auto">
          <a:xfrm>
            <a:off x="7239000" y="53340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43028" name="Text Box 18"/>
          <p:cNvSpPr txBox="1">
            <a:spLocks noChangeArrowheads="1"/>
          </p:cNvSpPr>
          <p:nvPr/>
        </p:nvSpPr>
        <p:spPr bwMode="auto">
          <a:xfrm>
            <a:off x="7010400" y="575945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33555" name="Text Box 19"/>
          <p:cNvSpPr txBox="1">
            <a:spLocks noChangeArrowheads="1"/>
          </p:cNvSpPr>
          <p:nvPr/>
        </p:nvSpPr>
        <p:spPr bwMode="auto">
          <a:xfrm>
            <a:off x="1143000" y="4652963"/>
            <a:ext cx="1800225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Base Register</a:t>
            </a:r>
          </a:p>
        </p:txBody>
      </p:sp>
      <p:sp>
        <p:nvSpPr>
          <p:cNvPr id="833556" name="Text Box 20"/>
          <p:cNvSpPr txBox="1">
            <a:spLocks noChangeArrowheads="1"/>
          </p:cNvSpPr>
          <p:nvPr/>
        </p:nvSpPr>
        <p:spPr bwMode="auto">
          <a:xfrm>
            <a:off x="1143000" y="2976563"/>
            <a:ext cx="18224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Limit Register</a:t>
            </a:r>
          </a:p>
        </p:txBody>
      </p:sp>
      <p:sp>
        <p:nvSpPr>
          <p:cNvPr id="833557" name="Text Box 21"/>
          <p:cNvSpPr txBox="1">
            <a:spLocks noChangeArrowheads="1"/>
          </p:cNvSpPr>
          <p:nvPr/>
        </p:nvSpPr>
        <p:spPr bwMode="auto">
          <a:xfrm>
            <a:off x="3505200" y="4648200"/>
            <a:ext cx="13716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Adder</a:t>
            </a:r>
          </a:p>
        </p:txBody>
      </p:sp>
      <p:sp>
        <p:nvSpPr>
          <p:cNvPr id="833558" name="Text Box 22"/>
          <p:cNvSpPr txBox="1">
            <a:spLocks noChangeArrowheads="1"/>
          </p:cNvSpPr>
          <p:nvPr/>
        </p:nvSpPr>
        <p:spPr bwMode="auto">
          <a:xfrm>
            <a:off x="3505200" y="2971800"/>
            <a:ext cx="1544638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Comparator</a:t>
            </a:r>
          </a:p>
        </p:txBody>
      </p:sp>
      <p:cxnSp>
        <p:nvCxnSpPr>
          <p:cNvPr id="833559" name="AutoShape 23"/>
          <p:cNvCxnSpPr>
            <a:cxnSpLocks noChangeShapeType="1"/>
            <a:stCxn id="833555" idx="3"/>
            <a:endCxn id="833557" idx="1"/>
          </p:cNvCxnSpPr>
          <p:nvPr/>
        </p:nvCxnSpPr>
        <p:spPr bwMode="auto">
          <a:xfrm flipV="1">
            <a:off x="2943225" y="4848225"/>
            <a:ext cx="561975" cy="476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CC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3560" name="AutoShape 24"/>
          <p:cNvCxnSpPr>
            <a:cxnSpLocks noChangeShapeType="1"/>
            <a:stCxn id="833556" idx="3"/>
            <a:endCxn id="833558" idx="1"/>
          </p:cNvCxnSpPr>
          <p:nvPr/>
        </p:nvCxnSpPr>
        <p:spPr bwMode="auto">
          <a:xfrm flipV="1">
            <a:off x="2965450" y="3171825"/>
            <a:ext cx="539750" cy="4763"/>
          </a:xfrm>
          <a:prstGeom prst="straightConnector1">
            <a:avLst/>
          </a:prstGeom>
          <a:noFill/>
          <a:ln w="190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3561" name="AutoShape 25"/>
          <p:cNvCxnSpPr>
            <a:cxnSpLocks noChangeShapeType="1"/>
            <a:stCxn id="833556" idx="0"/>
            <a:endCxn id="43014" idx="0"/>
          </p:cNvCxnSpPr>
          <p:nvPr/>
        </p:nvCxnSpPr>
        <p:spPr bwMode="auto">
          <a:xfrm rot="5400000" flipH="1" flipV="1">
            <a:off x="3958431" y="762794"/>
            <a:ext cx="309563" cy="411797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3562" name="Line 26"/>
          <p:cNvSpPr>
            <a:spLocks noChangeShapeType="1"/>
          </p:cNvSpPr>
          <p:nvPr/>
        </p:nvSpPr>
        <p:spPr bwMode="auto">
          <a:xfrm>
            <a:off x="4191000" y="3352800"/>
            <a:ext cx="0" cy="129540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33563" name="AutoShape 27"/>
          <p:cNvCxnSpPr>
            <a:cxnSpLocks noChangeShapeType="1"/>
            <a:stCxn id="833558" idx="3"/>
            <a:endCxn id="43013" idx="1"/>
          </p:cNvCxnSpPr>
          <p:nvPr/>
        </p:nvCxnSpPr>
        <p:spPr bwMode="auto">
          <a:xfrm>
            <a:off x="5049838" y="3171825"/>
            <a:ext cx="1122362" cy="904875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rgbClr val="0099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3564" name="Line 28"/>
          <p:cNvSpPr>
            <a:spLocks noChangeShapeType="1"/>
          </p:cNvSpPr>
          <p:nvPr/>
        </p:nvSpPr>
        <p:spPr bwMode="auto">
          <a:xfrm>
            <a:off x="4191000" y="2286000"/>
            <a:ext cx="1588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3565" name="Text Box 29"/>
          <p:cNvSpPr txBox="1">
            <a:spLocks noChangeArrowheads="1"/>
          </p:cNvSpPr>
          <p:nvPr/>
        </p:nvSpPr>
        <p:spPr bwMode="auto">
          <a:xfrm>
            <a:off x="0" y="5715000"/>
            <a:ext cx="2490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Relative Address</a:t>
            </a:r>
          </a:p>
        </p:txBody>
      </p:sp>
      <p:cxnSp>
        <p:nvCxnSpPr>
          <p:cNvPr id="833566" name="AutoShape 30"/>
          <p:cNvCxnSpPr>
            <a:cxnSpLocks noChangeShapeType="1"/>
            <a:stCxn id="833565" idx="3"/>
            <a:endCxn id="833557" idx="2"/>
          </p:cNvCxnSpPr>
          <p:nvPr/>
        </p:nvCxnSpPr>
        <p:spPr bwMode="auto">
          <a:xfrm flipV="1">
            <a:off x="2490788" y="5048250"/>
            <a:ext cx="1700212" cy="895350"/>
          </a:xfrm>
          <a:prstGeom prst="bentConnector2">
            <a:avLst/>
          </a:prstGeom>
          <a:noFill/>
          <a:ln w="19050">
            <a:solidFill>
              <a:srgbClr val="CC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3567" name="Text Box 31"/>
          <p:cNvSpPr txBox="1">
            <a:spLocks noChangeArrowheads="1"/>
          </p:cNvSpPr>
          <p:nvPr/>
        </p:nvSpPr>
        <p:spPr bwMode="auto">
          <a:xfrm rot="5400000">
            <a:off x="4579937" y="2506663"/>
            <a:ext cx="257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Absolute Address</a:t>
            </a:r>
          </a:p>
        </p:txBody>
      </p:sp>
      <p:sp>
        <p:nvSpPr>
          <p:cNvPr id="833568" name="Text Box 32"/>
          <p:cNvSpPr txBox="1">
            <a:spLocks noChangeArrowheads="1"/>
          </p:cNvSpPr>
          <p:nvPr/>
        </p:nvSpPr>
        <p:spPr bwMode="auto">
          <a:xfrm>
            <a:off x="3613150" y="1831975"/>
            <a:ext cx="131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Interrupt</a:t>
            </a:r>
          </a:p>
        </p:txBody>
      </p:sp>
      <p:cxnSp>
        <p:nvCxnSpPr>
          <p:cNvPr id="833569" name="AutoShape 33"/>
          <p:cNvCxnSpPr>
            <a:cxnSpLocks noChangeShapeType="1"/>
            <a:stCxn id="833555" idx="0"/>
            <a:endCxn id="43015" idx="0"/>
          </p:cNvCxnSpPr>
          <p:nvPr/>
        </p:nvCxnSpPr>
        <p:spPr bwMode="auto">
          <a:xfrm rot="5400000" flipH="1" flipV="1">
            <a:off x="3952875" y="2433638"/>
            <a:ext cx="309563" cy="412908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3570" name="Text Box 34"/>
          <p:cNvSpPr txBox="1">
            <a:spLocks noChangeArrowheads="1"/>
          </p:cNvSpPr>
          <p:nvPr/>
        </p:nvSpPr>
        <p:spPr bwMode="auto">
          <a:xfrm>
            <a:off x="228600" y="914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Addition and comparison has to be performed on every address</a:t>
            </a:r>
          </a:p>
        </p:txBody>
      </p:sp>
      <p:sp>
        <p:nvSpPr>
          <p:cNvPr id="833571" name="Text Box 35"/>
          <p:cNvSpPr txBox="1">
            <a:spLocks noChangeArrowheads="1"/>
          </p:cNvSpPr>
          <p:nvPr/>
        </p:nvSpPr>
        <p:spPr bwMode="auto">
          <a:xfrm>
            <a:off x="2362200" y="12192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a hardware module</a:t>
            </a:r>
          </a:p>
        </p:txBody>
      </p:sp>
      <p:sp>
        <p:nvSpPr>
          <p:cNvPr id="833572" name="Rectangle 36"/>
          <p:cNvSpPr>
            <a:spLocks noChangeArrowheads="1"/>
          </p:cNvSpPr>
          <p:nvPr/>
        </p:nvSpPr>
        <p:spPr bwMode="auto">
          <a:xfrm>
            <a:off x="3200400" y="2895600"/>
            <a:ext cx="1905000" cy="2362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3573" name="Text Box 37"/>
          <p:cNvSpPr txBox="1">
            <a:spLocks noChangeArrowheads="1"/>
          </p:cNvSpPr>
          <p:nvPr/>
        </p:nvSpPr>
        <p:spPr bwMode="auto">
          <a:xfrm>
            <a:off x="2514600" y="5426075"/>
            <a:ext cx="335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Memory Management Unit (MMU)</a:t>
            </a:r>
          </a:p>
        </p:txBody>
      </p:sp>
      <p:sp>
        <p:nvSpPr>
          <p:cNvPr id="833574" name="Text Box 38"/>
          <p:cNvSpPr txBox="1">
            <a:spLocks noChangeArrowheads="1"/>
          </p:cNvSpPr>
          <p:nvPr/>
        </p:nvSpPr>
        <p:spPr bwMode="auto">
          <a:xfrm>
            <a:off x="76200" y="5715000"/>
            <a:ext cx="23622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Logical Address</a:t>
            </a:r>
          </a:p>
        </p:txBody>
      </p:sp>
      <p:sp>
        <p:nvSpPr>
          <p:cNvPr id="833575" name="Text Box 39"/>
          <p:cNvSpPr txBox="1">
            <a:spLocks noChangeArrowheads="1"/>
          </p:cNvSpPr>
          <p:nvPr/>
        </p:nvSpPr>
        <p:spPr bwMode="auto">
          <a:xfrm rot="5400000">
            <a:off x="4572000" y="2514600"/>
            <a:ext cx="25908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Physical Address</a:t>
            </a:r>
          </a:p>
        </p:txBody>
      </p:sp>
      <p:sp>
        <p:nvSpPr>
          <p:cNvPr id="43050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87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3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3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3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3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3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3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3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3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3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3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83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83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3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3555" grpId="0" animBg="1"/>
      <p:bldP spid="833556" grpId="0" animBg="1"/>
      <p:bldP spid="833557" grpId="0" animBg="1"/>
      <p:bldP spid="833558" grpId="0" animBg="1"/>
      <p:bldP spid="833565" grpId="0"/>
      <p:bldP spid="833567" grpId="0"/>
      <p:bldP spid="833568" grpId="0"/>
      <p:bldP spid="833570" grpId="0"/>
      <p:bldP spid="833571" grpId="0"/>
      <p:bldP spid="833572" grpId="0" animBg="1"/>
      <p:bldP spid="833573" grpId="0"/>
      <p:bldP spid="833574" grpId="0" animBg="1"/>
      <p:bldP spid="8335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9400" y="62452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096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484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EA3478-9C63-43AE-8026-7521CC5CD128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Relocation and Protection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1341438"/>
            <a:ext cx="5508625" cy="4530725"/>
          </a:xfrm>
        </p:spPr>
        <p:txBody>
          <a:bodyPr/>
          <a:lstStyle/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Solution: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Base and Limit Registers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When a process is scheduled</a:t>
            </a:r>
          </a:p>
          <a:p>
            <a:pPr lvl="1" eaLnBrk="1" hangingPunct="1"/>
            <a:r>
              <a:rPr lang="en-US" altLang="en-US" sz="1800" smtClean="0">
                <a:cs typeface="Arial" panose="020B0604020202020204" pitchFamily="34" charset="0"/>
              </a:rPr>
              <a:t>Base Register is </a:t>
            </a:r>
            <a:r>
              <a:rPr lang="en-US" altLang="en-US" sz="2000" smtClean="0">
                <a:cs typeface="Arial" panose="020B0604020202020204" pitchFamily="34" charset="0"/>
              </a:rPr>
              <a:t>loaded with the starting address of the Partition</a:t>
            </a:r>
          </a:p>
          <a:p>
            <a:pPr lvl="1" eaLnBrk="1" hangingPunct="1"/>
            <a:r>
              <a:rPr lang="en-US" altLang="en-US" sz="1800" smtClean="0">
                <a:cs typeface="Arial" panose="020B0604020202020204" pitchFamily="34" charset="0"/>
              </a:rPr>
              <a:t>Limit Register is </a:t>
            </a:r>
            <a:r>
              <a:rPr lang="en-US" altLang="en-US" sz="2000" smtClean="0">
                <a:cs typeface="Arial" panose="020B0604020202020204" pitchFamily="34" charset="0"/>
              </a:rPr>
              <a:t>loaded with the length of the Partition</a:t>
            </a:r>
          </a:p>
          <a:p>
            <a:pPr lvl="1" eaLnBrk="1" hangingPunct="1"/>
            <a:endParaRPr lang="en-US" altLang="en-US" sz="2000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Before referring to memory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Add the base register contents to generated memory address</a:t>
            </a:r>
          </a:p>
          <a:p>
            <a:pPr lvl="1" eaLnBrk="1" hangingPunct="1"/>
            <a:r>
              <a:rPr lang="en-US" altLang="en-US" sz="1800" smtClean="0">
                <a:cs typeface="Arial" panose="020B0604020202020204" pitchFamily="34" charset="0"/>
              </a:rPr>
              <a:t>Also check against the Limit register for protection</a:t>
            </a:r>
          </a:p>
        </p:txBody>
      </p:sp>
      <p:sp>
        <p:nvSpPr>
          <p:cNvPr id="40966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524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09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1517650"/>
            <a:ext cx="3463925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827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A47084-47C8-4542-98AD-35523185DC03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Uni-programming</a:t>
            </a: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319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cs typeface="Arial" panose="020B0604020202020204" pitchFamily="34" charset="0"/>
              </a:rPr>
              <a:t>Run just one program at a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cs typeface="Arial" panose="020B0604020202020204" pitchFamily="34" charset="0"/>
              </a:rPr>
              <a:t>Memory is shared between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 smtClean="0">
                <a:cs typeface="Arial" panose="020B0604020202020204" pitchFamily="34" charset="0"/>
              </a:rPr>
              <a:t>A User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 smtClean="0">
                <a:cs typeface="Arial" panose="020B0604020202020204" pitchFamily="34" charset="0"/>
              </a:rPr>
              <a:t>Operating system</a:t>
            </a:r>
          </a:p>
        </p:txBody>
      </p:sp>
      <p:sp>
        <p:nvSpPr>
          <p:cNvPr id="817156" name="Rectangle 4"/>
          <p:cNvSpPr>
            <a:spLocks noChangeArrowheads="1"/>
          </p:cNvSpPr>
          <p:nvPr/>
        </p:nvSpPr>
        <p:spPr bwMode="auto">
          <a:xfrm>
            <a:off x="6172200" y="990600"/>
            <a:ext cx="2514600" cy="3276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7157" name="Line 5"/>
          <p:cNvSpPr>
            <a:spLocks noChangeShapeType="1"/>
          </p:cNvSpPr>
          <p:nvPr/>
        </p:nvSpPr>
        <p:spPr bwMode="auto">
          <a:xfrm>
            <a:off x="6172200" y="3124200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7158" name="Text Box 6"/>
          <p:cNvSpPr txBox="1">
            <a:spLocks noChangeArrowheads="1"/>
          </p:cNvSpPr>
          <p:nvPr/>
        </p:nvSpPr>
        <p:spPr bwMode="auto">
          <a:xfrm>
            <a:off x="6705600" y="3276600"/>
            <a:ext cx="1676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Operating System</a:t>
            </a:r>
          </a:p>
        </p:txBody>
      </p:sp>
      <p:sp>
        <p:nvSpPr>
          <p:cNvPr id="817159" name="Text Box 7"/>
          <p:cNvSpPr txBox="1">
            <a:spLocks noChangeArrowheads="1"/>
          </p:cNvSpPr>
          <p:nvPr/>
        </p:nvSpPr>
        <p:spPr bwMode="auto">
          <a:xfrm>
            <a:off x="6705600" y="1600200"/>
            <a:ext cx="1539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User Program</a:t>
            </a:r>
          </a:p>
        </p:txBody>
      </p:sp>
      <p:sp>
        <p:nvSpPr>
          <p:cNvPr id="817160" name="Rectangle 8"/>
          <p:cNvSpPr>
            <a:spLocks noChangeArrowheads="1"/>
          </p:cNvSpPr>
          <p:nvPr/>
        </p:nvSpPr>
        <p:spPr bwMode="auto">
          <a:xfrm>
            <a:off x="638175" y="3832225"/>
            <a:ext cx="8181975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user types a command on the prompt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OS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Copies the program from the disk to memory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Executes the program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After execution, prompt is available again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new program is copied into RAM, overwriting the previous one</a:t>
            </a:r>
          </a:p>
        </p:txBody>
      </p:sp>
      <p:sp>
        <p:nvSpPr>
          <p:cNvPr id="49163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64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1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56" grpId="0" animBg="1"/>
      <p:bldP spid="817158" grpId="0"/>
      <p:bldP spid="817159" grpId="0"/>
      <p:bldP spid="817160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mtClean="0"/>
              <a:t>Multi-programming systems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mtClean="0"/>
              <a:t>Keep more than one process in memory</a:t>
            </a:r>
          </a:p>
          <a:p>
            <a:pPr lvl="1"/>
            <a:r>
              <a:rPr lang="fr-FR" altLang="en-US" smtClean="0"/>
              <a:t>Benefits? </a:t>
            </a:r>
          </a:p>
          <a:p>
            <a:pPr lvl="1"/>
            <a:endParaRPr lang="fr-FR" altLang="en-US" smtClean="0"/>
          </a:p>
          <a:p>
            <a:r>
              <a:rPr lang="fr-FR" altLang="en-US" smtClean="0"/>
              <a:t>How to organize memory to achieve this?</a:t>
            </a:r>
          </a:p>
          <a:p>
            <a:endParaRPr lang="fr-FR" altLang="en-US" smtClean="0"/>
          </a:p>
          <a:p>
            <a:r>
              <a:rPr lang="fr-FR" altLang="en-US" smtClean="0"/>
              <a:t>One basic approach is to divide </a:t>
            </a:r>
            <a:r>
              <a:rPr lang="en-US" altLang="en-US" smtClean="0">
                <a:cs typeface="Arial" panose="020B0604020202020204" pitchFamily="34" charset="0"/>
              </a:rPr>
              <a:t>memory into n (usually unequal partitions)</a:t>
            </a:r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095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mtClean="0"/>
              <a:t>Multi-programming systems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en-US" smtClean="0"/>
              <a:t>Keep more than one process in memory</a:t>
            </a:r>
          </a:p>
          <a:p>
            <a:pPr lvl="1"/>
            <a:r>
              <a:rPr lang="fr-FR" altLang="en-US" smtClean="0"/>
              <a:t>Benefits? </a:t>
            </a:r>
          </a:p>
          <a:p>
            <a:pPr lvl="1"/>
            <a:endParaRPr lang="fr-FR" altLang="en-US" smtClean="0"/>
          </a:p>
          <a:p>
            <a:r>
              <a:rPr lang="fr-FR" altLang="en-US" smtClean="0"/>
              <a:t>How to organize memory to achieve this?</a:t>
            </a:r>
          </a:p>
          <a:p>
            <a:endParaRPr lang="fr-FR" altLang="en-US" smtClean="0"/>
          </a:p>
          <a:p>
            <a:r>
              <a:rPr lang="fr-FR" altLang="en-US" smtClean="0"/>
              <a:t>One basic approach is to divide </a:t>
            </a:r>
            <a:r>
              <a:rPr lang="en-US" altLang="en-US" smtClean="0">
                <a:cs typeface="Arial" panose="020B0604020202020204" pitchFamily="34" charset="0"/>
              </a:rPr>
              <a:t>memory into n (usually unequal partitions)</a:t>
            </a:r>
            <a:endParaRPr lang="fr-FR" altLang="en-US" smtClean="0"/>
          </a:p>
        </p:txBody>
      </p:sp>
    </p:spTree>
    <p:extLst>
      <p:ext uri="{BB962C8B-B14F-4D97-AF65-F5344CB8AC3E}">
        <p14:creationId xmlns:p14="http://schemas.microsoft.com/office/powerpoint/2010/main" val="337896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We start with the case where a process image is projected in simple fashion on physical memory</a:t>
            </a:r>
          </a:p>
          <a:p>
            <a:pPr lvl="1"/>
            <a:r>
              <a:rPr lang="en-US" altLang="en-US" sz="2400" dirty="0"/>
              <a:t>normally, this implies that the process image is </a:t>
            </a:r>
            <a:r>
              <a:rPr lang="en-US" altLang="en-US" sz="2400" dirty="0">
                <a:solidFill>
                  <a:schemeClr val="hlink"/>
                </a:solidFill>
              </a:rPr>
              <a:t>smaller</a:t>
            </a:r>
            <a:r>
              <a:rPr lang="en-US" altLang="en-US" sz="2400" dirty="0"/>
              <a:t> than physical memory and the </a:t>
            </a:r>
            <a:r>
              <a:rPr lang="en-US" altLang="en-US" sz="2400" dirty="0">
                <a:solidFill>
                  <a:schemeClr val="hlink"/>
                </a:solidFill>
              </a:rPr>
              <a:t>program is fully loaded for execution</a:t>
            </a:r>
            <a:r>
              <a:rPr lang="en-US" altLang="en-US" sz="2400" dirty="0" smtClean="0"/>
              <a:t>.</a:t>
            </a:r>
            <a:endParaRPr lang="en-US" altLang="en-US" sz="2400" dirty="0">
              <a:solidFill>
                <a:schemeClr val="hlink"/>
              </a:solidFill>
            </a:endParaRPr>
          </a:p>
          <a:p>
            <a:r>
              <a:rPr lang="en-US" altLang="en-US" sz="2600" dirty="0"/>
              <a:t>We will look at the following simple memory management techniques : </a:t>
            </a:r>
          </a:p>
          <a:p>
            <a:pPr lvl="1"/>
            <a:r>
              <a:rPr lang="en-US" altLang="en-US" sz="2400" dirty="0"/>
              <a:t>fixed partitioning</a:t>
            </a:r>
          </a:p>
          <a:p>
            <a:pPr lvl="1"/>
            <a:r>
              <a:rPr lang="en-US" altLang="en-US" sz="2400" dirty="0"/>
              <a:t>dynamic partitioning</a:t>
            </a:r>
          </a:p>
          <a:p>
            <a:pPr lvl="1"/>
            <a:r>
              <a:rPr lang="en-US" altLang="en-US" sz="2400" dirty="0" smtClean="0"/>
              <a:t>paging</a:t>
            </a:r>
            <a:endParaRPr lang="en-US" alt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67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83" y="152400"/>
            <a:ext cx="4448464" cy="741363"/>
          </a:xfrm>
        </p:spPr>
        <p:txBody>
          <a:bodyPr>
            <a:noAutofit/>
          </a:bodyPr>
          <a:lstStyle/>
          <a:p>
            <a:r>
              <a:rPr lang="en-US" altLang="en-US" sz="3600" b="1" dirty="0" smtClean="0"/>
              <a:t/>
            </a:r>
            <a:br>
              <a:rPr lang="en-US" altLang="en-US" sz="3600" b="1" dirty="0" smtClean="0"/>
            </a:br>
            <a:r>
              <a:rPr lang="en-US" altLang="en-US" sz="3600" b="1" dirty="0" smtClean="0"/>
              <a:t>Fixed </a:t>
            </a:r>
            <a:r>
              <a:rPr lang="en-US" altLang="en-US" sz="3600" b="1" dirty="0"/>
              <a:t>Partitioning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1676400"/>
            <a:ext cx="3886200" cy="4419600"/>
          </a:xfrm>
        </p:spPr>
        <p:txBody>
          <a:bodyPr/>
          <a:lstStyle/>
          <a:p>
            <a:r>
              <a:rPr lang="en-US" altLang="en-US" sz="2400" dirty="0"/>
              <a:t>Partition main memory into a set of non overlapping regions called </a:t>
            </a:r>
            <a:r>
              <a:rPr lang="en-US" altLang="en-US" sz="2400" dirty="0">
                <a:solidFill>
                  <a:schemeClr val="hlink"/>
                </a:solidFill>
              </a:rPr>
              <a:t>partitions</a:t>
            </a:r>
          </a:p>
          <a:p>
            <a:endParaRPr lang="en-US" altLang="en-US" sz="2400" dirty="0"/>
          </a:p>
          <a:p>
            <a:r>
              <a:rPr lang="en-US" altLang="en-US" sz="2400" dirty="0"/>
              <a:t>Partitions can be of </a:t>
            </a:r>
            <a:r>
              <a:rPr lang="en-US" altLang="en-US" sz="2400" dirty="0">
                <a:solidFill>
                  <a:schemeClr val="hlink"/>
                </a:solidFill>
              </a:rPr>
              <a:t>equal</a:t>
            </a:r>
            <a:r>
              <a:rPr lang="en-US" altLang="en-US" sz="2400" dirty="0"/>
              <a:t> or </a:t>
            </a:r>
            <a:r>
              <a:rPr lang="en-US" altLang="en-US" sz="2400" dirty="0">
                <a:solidFill>
                  <a:schemeClr val="hlink"/>
                </a:solidFill>
              </a:rPr>
              <a:t>unequal</a:t>
            </a:r>
            <a:r>
              <a:rPr lang="en-US" altLang="en-US" sz="2400" dirty="0"/>
              <a:t> sizes</a:t>
            </a:r>
          </a:p>
          <a:p>
            <a:endParaRPr lang="en-US" altLang="en-US" sz="2400" dirty="0"/>
          </a:p>
          <a:p>
            <a:r>
              <a:rPr lang="en-US" altLang="en-US" sz="2400" dirty="0"/>
              <a:t>..both pictures show partitioning of 64 M main memory</a:t>
            </a:r>
            <a:endParaRPr lang="en-US" altLang="en-US" sz="2400" dirty="0">
              <a:solidFill>
                <a:schemeClr val="hlink"/>
              </a:solidFill>
            </a:endParaRPr>
          </a:p>
        </p:txBody>
      </p:sp>
      <p:graphicFrame>
        <p:nvGraphicFramePr>
          <p:cNvPr id="73732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086350" y="152400"/>
          <a:ext cx="3925888" cy="670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9" name="Artwork" r:id="rId3" imgW="4667902" imgH="7973538" progId="Adobe.Illustrator.7">
                  <p:embed/>
                </p:oleObj>
              </mc:Choice>
              <mc:Fallback>
                <p:oleObj name="Artwork" r:id="rId3" imgW="4667902" imgH="7973538" progId="Adobe.Illustrator.7">
                  <p:embed/>
                  <p:pic>
                    <p:nvPicPr>
                      <p:cNvPr id="73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152400"/>
                        <a:ext cx="3925888" cy="670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Chapter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FEEE27-6AB7-4BFB-89D5-BA40752FCD9E}" type="slidenum">
              <a:rPr kumimoji="1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62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532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88F34D-A614-4150-A218-2B8461C80D6B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Multiprogramming with Fixed Partitions</a:t>
            </a:r>
          </a:p>
        </p:txBody>
      </p:sp>
      <p:pic>
        <p:nvPicPr>
          <p:cNvPr id="8192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8" r="57414" b="4803"/>
          <a:stretch>
            <a:fillRect/>
          </a:stretch>
        </p:blipFill>
        <p:spPr bwMode="auto">
          <a:xfrm>
            <a:off x="6978650" y="1143000"/>
            <a:ext cx="2057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26" r="84302" b="4803"/>
          <a:stretch>
            <a:fillRect/>
          </a:stretch>
        </p:blipFill>
        <p:spPr bwMode="auto">
          <a:xfrm>
            <a:off x="5580063" y="1139825"/>
            <a:ext cx="1371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06" name="Rectangle 6"/>
          <p:cNvSpPr>
            <a:spLocks noChangeArrowheads="1"/>
          </p:cNvSpPr>
          <p:nvPr/>
        </p:nvSpPr>
        <p:spPr bwMode="auto">
          <a:xfrm>
            <a:off x="0" y="2438400"/>
            <a:ext cx="70104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If the job size &lt; Partition size, memory is wasted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When a job arrives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its put into the input queue of</a:t>
            </a:r>
          </a:p>
        </p:txBody>
      </p:sp>
      <p:sp>
        <p:nvSpPr>
          <p:cNvPr id="819207" name="Rectangle 7"/>
          <p:cNvSpPr>
            <a:spLocks noChangeArrowheads="1"/>
          </p:cNvSpPr>
          <p:nvPr/>
        </p:nvSpPr>
        <p:spPr bwMode="auto">
          <a:xfrm>
            <a:off x="34925" y="4495800"/>
            <a:ext cx="695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</a:t>
            </a:r>
            <a:r>
              <a:rPr kumimoji="0" lang="en-US" altLang="en-US" sz="2400" b="0" i="1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smallest partition</a:t>
            </a: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1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large enough </a:t>
            </a: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to hold the job</a:t>
            </a:r>
          </a:p>
        </p:txBody>
      </p:sp>
      <p:sp>
        <p:nvSpPr>
          <p:cNvPr id="53257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20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1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6" grpId="0" build="p" bldLvl="2"/>
      <p:bldP spid="8192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7756DB-F9DE-4EE5-966E-8E945B712201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395288" y="53975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t>Multiprogramming with Fixed Partitions</a:t>
            </a:r>
          </a:p>
        </p:txBody>
      </p:sp>
      <p:pic>
        <p:nvPicPr>
          <p:cNvPr id="5530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8" r="57414" b="4803"/>
          <a:stretch>
            <a:fillRect/>
          </a:stretch>
        </p:blipFill>
        <p:spPr bwMode="auto">
          <a:xfrm>
            <a:off x="6629400" y="1143000"/>
            <a:ext cx="2057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26" r="84302" b="4803"/>
          <a:stretch>
            <a:fillRect/>
          </a:stretch>
        </p:blipFill>
        <p:spPr bwMode="auto">
          <a:xfrm>
            <a:off x="5257800" y="1196975"/>
            <a:ext cx="1371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253" name="Rectangle 5"/>
          <p:cNvSpPr>
            <a:spLocks noChangeArrowheads="1"/>
          </p:cNvSpPr>
          <p:nvPr/>
        </p:nvSpPr>
        <p:spPr bwMode="auto">
          <a:xfrm>
            <a:off x="369888" y="1719263"/>
            <a:ext cx="4849812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Disadvantage of Multiple Queues: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When a large partition is empty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And queues for small partition is full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Small jobs have to wait, even though plenty of memory is free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Alternative: Maintain a single Queue</a:t>
            </a:r>
          </a:p>
        </p:txBody>
      </p:sp>
      <p:pic>
        <p:nvPicPr>
          <p:cNvPr id="8212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44" t="10252" r="18515" b="26772"/>
          <a:stretch>
            <a:fillRect/>
          </a:stretch>
        </p:blipFill>
        <p:spPr bwMode="auto">
          <a:xfrm>
            <a:off x="4953000" y="1752600"/>
            <a:ext cx="1676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5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5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2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3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508300-1BFE-41F2-91E5-D6EB5514C1B8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7348" name="Rectangle 2"/>
          <p:cNvSpPr>
            <a:spLocks noChangeArrowheads="1"/>
          </p:cNvSpPr>
          <p:nvPr/>
        </p:nvSpPr>
        <p:spPr bwMode="auto">
          <a:xfrm>
            <a:off x="457200" y="115888"/>
            <a:ext cx="868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t>Multiprogramming with Fixed Partitions</a:t>
            </a:r>
          </a:p>
        </p:txBody>
      </p:sp>
      <p:pic>
        <p:nvPicPr>
          <p:cNvPr id="5734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44" t="10252" r="18515" b="22379"/>
          <a:stretch>
            <a:fillRect/>
          </a:stretch>
        </p:blipFill>
        <p:spPr bwMode="auto">
          <a:xfrm>
            <a:off x="5219700" y="1524000"/>
            <a:ext cx="205422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300" name="Rectangle 4"/>
          <p:cNvSpPr>
            <a:spLocks noChangeArrowheads="1"/>
          </p:cNvSpPr>
          <p:nvPr/>
        </p:nvSpPr>
        <p:spPr bwMode="auto">
          <a:xfrm>
            <a:off x="395288" y="1412875"/>
            <a:ext cx="5140325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Whenever a partition becomes free, a job is selected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Closest to the front of the queue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Smaller than the partition size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Undesirable to waste a large partition for smaller job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Search the queue, find the largest job that fits 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Unfair for smaller jobs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 job may not be skipped more than </a:t>
            </a:r>
            <a:r>
              <a:rPr kumimoji="0" lang="en-US" altLang="en-US" sz="20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</a:t>
            </a: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times</a:t>
            </a:r>
            <a:endParaRPr kumimoji="0" lang="en-US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51" name="Group 5"/>
          <p:cNvGrpSpPr>
            <a:grpSpLocks/>
          </p:cNvGrpSpPr>
          <p:nvPr/>
        </p:nvGrpSpPr>
        <p:grpSpPr bwMode="auto">
          <a:xfrm>
            <a:off x="7124700" y="1335088"/>
            <a:ext cx="2057400" cy="4038600"/>
            <a:chOff x="576" y="1296"/>
            <a:chExt cx="1296" cy="2544"/>
          </a:xfrm>
        </p:grpSpPr>
        <p:sp>
          <p:nvSpPr>
            <p:cNvPr id="57353" name="Rectangle 6"/>
            <p:cNvSpPr>
              <a:spLocks noChangeArrowheads="1"/>
            </p:cNvSpPr>
            <p:nvPr/>
          </p:nvSpPr>
          <p:spPr bwMode="auto">
            <a:xfrm>
              <a:off x="672" y="1392"/>
              <a:ext cx="720" cy="235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354" name="Line 7"/>
            <p:cNvSpPr>
              <a:spLocks noChangeShapeType="1"/>
            </p:cNvSpPr>
            <p:nvPr/>
          </p:nvSpPr>
          <p:spPr bwMode="auto">
            <a:xfrm>
              <a:off x="672" y="16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355" name="Line 8"/>
            <p:cNvSpPr>
              <a:spLocks noChangeShapeType="1"/>
            </p:cNvSpPr>
            <p:nvPr/>
          </p:nvSpPr>
          <p:spPr bwMode="auto">
            <a:xfrm>
              <a:off x="672" y="259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356" name="Line 9"/>
            <p:cNvSpPr>
              <a:spLocks noChangeShapeType="1"/>
            </p:cNvSpPr>
            <p:nvPr/>
          </p:nvSpPr>
          <p:spPr bwMode="auto">
            <a:xfrm>
              <a:off x="672" y="31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357" name="Line 10"/>
            <p:cNvSpPr>
              <a:spLocks noChangeShapeType="1"/>
            </p:cNvSpPr>
            <p:nvPr/>
          </p:nvSpPr>
          <p:spPr bwMode="auto">
            <a:xfrm>
              <a:off x="672" y="34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358" name="Text Box 11"/>
            <p:cNvSpPr txBox="1">
              <a:spLocks noChangeArrowheads="1"/>
            </p:cNvSpPr>
            <p:nvPr/>
          </p:nvSpPr>
          <p:spPr bwMode="auto">
            <a:xfrm>
              <a:off x="672" y="3408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57359" name="Text Box 12"/>
            <p:cNvSpPr txBox="1">
              <a:spLocks noChangeArrowheads="1"/>
            </p:cNvSpPr>
            <p:nvPr/>
          </p:nvSpPr>
          <p:spPr bwMode="auto">
            <a:xfrm>
              <a:off x="576" y="321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1</a:t>
              </a:r>
            </a:p>
          </p:txBody>
        </p:sp>
        <p:sp>
          <p:nvSpPr>
            <p:cNvPr id="57360" name="Text Box 13"/>
            <p:cNvSpPr txBox="1">
              <a:spLocks noChangeArrowheads="1"/>
            </p:cNvSpPr>
            <p:nvPr/>
          </p:nvSpPr>
          <p:spPr bwMode="auto">
            <a:xfrm>
              <a:off x="576" y="2764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2</a:t>
              </a:r>
            </a:p>
          </p:txBody>
        </p:sp>
        <p:sp>
          <p:nvSpPr>
            <p:cNvPr id="57361" name="Text Box 14"/>
            <p:cNvSpPr txBox="1">
              <a:spLocks noChangeArrowheads="1"/>
            </p:cNvSpPr>
            <p:nvPr/>
          </p:nvSpPr>
          <p:spPr bwMode="auto">
            <a:xfrm>
              <a:off x="576" y="1996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3</a:t>
              </a:r>
            </a:p>
          </p:txBody>
        </p:sp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576" y="1440"/>
              <a:ext cx="9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Partition 4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1344" y="129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800K</a:t>
              </a:r>
            </a:p>
          </p:txBody>
        </p:sp>
        <p:sp>
          <p:nvSpPr>
            <p:cNvPr id="57364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700K</a:t>
              </a:r>
            </a:p>
          </p:txBody>
        </p:sp>
        <p:sp>
          <p:nvSpPr>
            <p:cNvPr id="57365" name="Text Box 18"/>
            <p:cNvSpPr txBox="1">
              <a:spLocks noChangeArrowheads="1"/>
            </p:cNvSpPr>
            <p:nvPr/>
          </p:nvSpPr>
          <p:spPr bwMode="auto">
            <a:xfrm>
              <a:off x="1344" y="2476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400K</a:t>
              </a:r>
            </a:p>
          </p:txBody>
        </p:sp>
        <p:sp>
          <p:nvSpPr>
            <p:cNvPr id="57366" name="Text Box 19"/>
            <p:cNvSpPr txBox="1">
              <a:spLocks noChangeArrowheads="1"/>
            </p:cNvSpPr>
            <p:nvPr/>
          </p:nvSpPr>
          <p:spPr bwMode="auto">
            <a:xfrm>
              <a:off x="1344" y="3052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200K</a:t>
              </a:r>
            </a:p>
          </p:txBody>
        </p:sp>
        <p:sp>
          <p:nvSpPr>
            <p:cNvPr id="57367" name="Text Box 20"/>
            <p:cNvSpPr txBox="1">
              <a:spLocks noChangeArrowheads="1"/>
            </p:cNvSpPr>
            <p:nvPr/>
          </p:nvSpPr>
          <p:spPr bwMode="auto">
            <a:xfrm>
              <a:off x="1344" y="3360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100K</a:t>
              </a:r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1200" y="3628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57352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18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300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>Overlays </a:t>
            </a:r>
            <a:r>
              <a:rPr lang="en-US" b="0" dirty="0"/>
              <a:t>in Memory Management</a:t>
            </a:r>
            <a:br>
              <a:rPr lang="en-US" b="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291"/>
          </a:xfrm>
        </p:spPr>
        <p:txBody>
          <a:bodyPr/>
          <a:lstStyle/>
          <a:p>
            <a:r>
              <a:rPr lang="en-US" altLang="en-US" sz="2400" dirty="0"/>
              <a:t>A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program may be too </a:t>
            </a:r>
            <a:r>
              <a:rPr lang="en-US" altLang="en-US" sz="2400" dirty="0">
                <a:solidFill>
                  <a:schemeClr val="hlink"/>
                </a:solidFill>
              </a:rPr>
              <a:t>large</a:t>
            </a:r>
            <a:r>
              <a:rPr lang="en-US" altLang="en-US" sz="2400" dirty="0"/>
              <a:t> to fit in a partition.  The programmer would then use </a:t>
            </a:r>
            <a:r>
              <a:rPr lang="en-US" altLang="en-US" sz="2400" i="1" dirty="0">
                <a:solidFill>
                  <a:schemeClr val="hlink"/>
                </a:solidFill>
              </a:rPr>
              <a:t>overlays</a:t>
            </a:r>
            <a:r>
              <a:rPr lang="en-US" altLang="en-US" sz="2400" i="1" dirty="0"/>
              <a:t>:</a:t>
            </a:r>
          </a:p>
          <a:p>
            <a:endParaRPr lang="en-US" altLang="en-US" sz="2400" dirty="0"/>
          </a:p>
          <a:p>
            <a:r>
              <a:rPr lang="en-US" sz="2400" dirty="0" smtClean="0"/>
              <a:t>whenever </a:t>
            </a:r>
            <a:r>
              <a:rPr lang="en-US" sz="2400" dirty="0"/>
              <a:t>a process is running it will not use the complete program at the same time, it will use only some part of </a:t>
            </a:r>
            <a:r>
              <a:rPr lang="en-US" sz="2400" dirty="0" smtClean="0"/>
              <a:t>it.</a:t>
            </a:r>
          </a:p>
          <a:p>
            <a:r>
              <a:rPr lang="en-US" sz="2400" dirty="0" smtClean="0"/>
              <a:t>whatever </a:t>
            </a:r>
            <a:r>
              <a:rPr lang="en-US" sz="2400" dirty="0"/>
              <a:t>part </a:t>
            </a:r>
            <a:r>
              <a:rPr lang="en-US" sz="2400" dirty="0" smtClean="0"/>
              <a:t>is </a:t>
            </a:r>
            <a:r>
              <a:rPr lang="en-US" sz="2400" dirty="0"/>
              <a:t>required, </a:t>
            </a:r>
            <a:endParaRPr lang="en-US" sz="2400" dirty="0"/>
          </a:p>
          <a:p>
            <a:r>
              <a:rPr lang="en-US" sz="2400" dirty="0" smtClean="0"/>
              <a:t> it is loaded </a:t>
            </a:r>
            <a:r>
              <a:rPr lang="en-US" sz="2400" dirty="0"/>
              <a:t>it an </a:t>
            </a:r>
            <a:r>
              <a:rPr lang="en-US" sz="2400" dirty="0" smtClean="0"/>
              <a:t>once and executed</a:t>
            </a:r>
          </a:p>
          <a:p>
            <a:r>
              <a:rPr lang="en-US" sz="2400" dirty="0" smtClean="0"/>
              <a:t>It is unloaded</a:t>
            </a:r>
          </a:p>
          <a:p>
            <a:r>
              <a:rPr lang="en-US" sz="2400" dirty="0" smtClean="0"/>
              <a:t>means </a:t>
            </a:r>
            <a:r>
              <a:rPr lang="en-US" sz="2400" dirty="0"/>
              <a:t>just pull it back and get the new part you required and run 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3979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Overlays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3090"/>
            <a:ext cx="8229600" cy="3563073"/>
          </a:xfrm>
        </p:spPr>
        <p:txBody>
          <a:bodyPr/>
          <a:lstStyle/>
          <a:p>
            <a:r>
              <a:rPr lang="en-US" sz="2400" dirty="0"/>
              <a:t>Let assume that available main memory size is </a:t>
            </a:r>
            <a:r>
              <a:rPr lang="en-US" sz="2400" dirty="0" smtClean="0"/>
              <a:t>150</a:t>
            </a:r>
            <a:r>
              <a:rPr lang="en-US" sz="2400" dirty="0"/>
              <a:t>As the total code size is 200KB and main memory size is 150KB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it is not possible to use 2 passes together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So</a:t>
            </a:r>
            <a:r>
              <a:rPr lang="en-US" sz="2400" dirty="0"/>
              <a:t>, in this case, we should go with the overlays technique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According </a:t>
            </a:r>
            <a:r>
              <a:rPr lang="en-US" sz="2400" dirty="0"/>
              <a:t>to the overlays concept at any time only one pass will be used and both the passes always need symbol table and common </a:t>
            </a:r>
            <a:r>
              <a:rPr lang="en-US" sz="2400" dirty="0" err="1"/>
              <a:t>routine.</a:t>
            </a:r>
            <a:r>
              <a:rPr lang="en-US" sz="2400" dirty="0" err="1" smtClean="0"/>
              <a:t>KB</a:t>
            </a:r>
            <a:r>
              <a:rPr lang="en-US" sz="2400" dirty="0" smtClean="0"/>
              <a:t> </a:t>
            </a:r>
            <a:r>
              <a:rPr lang="en-US" sz="2400" dirty="0"/>
              <a:t>and total code size is 200KB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19200"/>
            <a:ext cx="44386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65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Fixed </a:t>
            </a:r>
            <a:r>
              <a:rPr lang="en-US" altLang="en-US" dirty="0" smtClean="0"/>
              <a:t>Partitioning -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Main memory use is </a:t>
            </a:r>
            <a:r>
              <a:rPr lang="en-US" altLang="en-US" sz="2400" dirty="0">
                <a:solidFill>
                  <a:schemeClr val="hlink"/>
                </a:solidFill>
              </a:rPr>
              <a:t>inefficient</a:t>
            </a:r>
            <a:r>
              <a:rPr lang="en-US" altLang="en-US" sz="2400" dirty="0"/>
              <a:t>.  Any program, </a:t>
            </a:r>
            <a:r>
              <a:rPr lang="en-US" altLang="en-US" sz="2400" dirty="0">
                <a:solidFill>
                  <a:schemeClr val="hlink"/>
                </a:solidFill>
              </a:rPr>
              <a:t>no matter how small</a:t>
            </a:r>
            <a:r>
              <a:rPr lang="en-US" altLang="en-US" sz="2400" dirty="0"/>
              <a:t>, occupies an entire partition.</a:t>
            </a:r>
          </a:p>
          <a:p>
            <a:pPr lvl="1"/>
            <a:r>
              <a:rPr lang="en-US" altLang="en-US" sz="2200" dirty="0"/>
              <a:t>This leaves holes of unused memory inside the partitions: </a:t>
            </a:r>
            <a:r>
              <a:rPr lang="en-US" altLang="en-US" sz="2200" i="1" dirty="0">
                <a:solidFill>
                  <a:schemeClr val="hlink"/>
                </a:solidFill>
              </a:rPr>
              <a:t>internal fragmentation</a:t>
            </a:r>
            <a:r>
              <a:rPr lang="en-US" altLang="en-US" sz="2200" i="1" dirty="0"/>
              <a:t>.</a:t>
            </a:r>
          </a:p>
          <a:p>
            <a:r>
              <a:rPr lang="en-US" altLang="en-US" sz="2400" dirty="0"/>
              <a:t>Unequal-size partitions can help </a:t>
            </a:r>
          </a:p>
          <a:p>
            <a:pPr lvl="1"/>
            <a:r>
              <a:rPr lang="en-US" altLang="en-US" sz="2200" dirty="0"/>
              <a:t>put small programs in small partitions</a:t>
            </a:r>
          </a:p>
          <a:p>
            <a:pPr lvl="1"/>
            <a:r>
              <a:rPr lang="en-US" altLang="en-US" sz="2200" dirty="0"/>
              <a:t>but there will still be holes...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957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9526" y="1163782"/>
            <a:ext cx="4698423" cy="52690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F7AEA-CFF6-4AE3-BDB3-CFAD139104D7}" type="slidenum">
              <a:rPr lang="en-US" altLang="ja-JP" smtClean="0"/>
              <a:pPr/>
              <a:t>34</a:t>
            </a:fld>
            <a:endParaRPr lang="en-US" altLang="ja-JP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651164"/>
            <a:ext cx="7024789" cy="55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5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98488"/>
            <a:ext cx="7740650" cy="6159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Dynamic-partition </a:t>
            </a:r>
            <a:r>
              <a:rPr lang="en-US" altLang="en-US" dirty="0" smtClean="0"/>
              <a:t>allocation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04888"/>
            <a:ext cx="7770813" cy="3262312"/>
          </a:xfrm>
        </p:spPr>
        <p:txBody>
          <a:bodyPr/>
          <a:lstStyle/>
          <a:p>
            <a:r>
              <a:rPr lang="en-US" altLang="en-US" smtClean="0"/>
              <a:t>Multiple-partition allocation</a:t>
            </a:r>
          </a:p>
          <a:p>
            <a:pPr lvl="1"/>
            <a:r>
              <a:rPr lang="en-US" altLang="en-US" sz="1600" smtClean="0"/>
              <a:t>Degree of multiprogramming limited by number of partitions</a:t>
            </a:r>
          </a:p>
          <a:p>
            <a:pPr lvl="1"/>
            <a:r>
              <a:rPr lang="en-US" altLang="en-US" sz="1600" b="1" smtClean="0">
                <a:solidFill>
                  <a:srgbClr val="0000FF"/>
                </a:solidFill>
              </a:rPr>
              <a:t>Variable-partition </a:t>
            </a:r>
            <a:r>
              <a:rPr lang="en-US" altLang="en-US" sz="1600" smtClean="0"/>
              <a:t>sizes for efficiency (sized to a given process’ needs)</a:t>
            </a:r>
          </a:p>
          <a:p>
            <a:pPr lvl="1"/>
            <a:r>
              <a:rPr lang="en-US" altLang="en-US" sz="1600" b="1" smtClean="0">
                <a:solidFill>
                  <a:srgbClr val="0000FF"/>
                </a:solidFill>
              </a:rPr>
              <a:t>Hole</a:t>
            </a:r>
            <a:r>
              <a:rPr lang="en-US" altLang="en-US" sz="1600" smtClean="0"/>
              <a:t> – block of available memory; holes of various size are scattered throughout memory</a:t>
            </a:r>
          </a:p>
          <a:p>
            <a:pPr lvl="1"/>
            <a:r>
              <a:rPr lang="en-US" altLang="en-US" sz="1600" smtClean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smtClean="0"/>
              <a:t>Process exiting frees its partition, adjacent free partitions combined</a:t>
            </a:r>
          </a:p>
          <a:p>
            <a:pPr lvl="1"/>
            <a:r>
              <a:rPr lang="en-US" altLang="en-US" sz="1600" smtClean="0"/>
              <a:t>Operating system maintains information about:</a:t>
            </a:r>
            <a:br>
              <a:rPr lang="en-US" altLang="en-US" sz="1600" smtClean="0"/>
            </a:br>
            <a:r>
              <a:rPr lang="en-US" altLang="en-US" sz="1600" smtClean="0"/>
              <a:t>a) allocated partitions    b) free partitions (hole)</a:t>
            </a:r>
          </a:p>
        </p:txBody>
      </p:sp>
      <p:pic>
        <p:nvPicPr>
          <p:cNvPr id="522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4178300"/>
            <a:ext cx="6675437" cy="217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859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198438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Dynamic Storage-Allocation Problem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9513" y="1709738"/>
            <a:ext cx="7062787" cy="36242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3366FF"/>
                </a:solidFill>
              </a:rPr>
              <a:t>First-fit</a:t>
            </a:r>
            <a:r>
              <a:rPr lang="en-US" altLang="en-US" dirty="0" smtClean="0"/>
              <a:t>:  Allocate the </a:t>
            </a:r>
            <a:r>
              <a:rPr lang="en-US" altLang="en-US" b="1" i="1" dirty="0" smtClean="0"/>
              <a:t>first</a:t>
            </a:r>
            <a:r>
              <a:rPr lang="en-US" altLang="en-US" dirty="0" smtClean="0"/>
              <a:t> hole that is big enough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3366FF"/>
                </a:solidFill>
              </a:rPr>
              <a:t>Best-fit</a:t>
            </a:r>
            <a:r>
              <a:rPr lang="en-US" altLang="en-US" dirty="0" smtClean="0"/>
              <a:t>:  Allocate the </a:t>
            </a:r>
            <a:r>
              <a:rPr lang="en-US" altLang="en-US" b="1" i="1" dirty="0" smtClean="0"/>
              <a:t>smallest</a:t>
            </a:r>
            <a:r>
              <a:rPr lang="en-US" altLang="en-US" dirty="0" smtClean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Produces the smallest leftover hole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3366FF"/>
                </a:solidFill>
              </a:rPr>
              <a:t>Worst-fit</a:t>
            </a:r>
            <a:r>
              <a:rPr lang="en-US" altLang="en-US" dirty="0" smtClean="0"/>
              <a:t>:  Allocate the </a:t>
            </a:r>
            <a:r>
              <a:rPr lang="en-US" altLang="en-US" b="1" i="1" dirty="0" smtClean="0"/>
              <a:t>largest</a:t>
            </a:r>
            <a:r>
              <a:rPr lang="en-US" altLang="en-US" dirty="0" smtClean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Produces the largest leftover hole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919163" y="1169988"/>
            <a:ext cx="6108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How to satisfy a request of size </a:t>
            </a:r>
            <a:r>
              <a:rPr kumimoji="0" lang="en-US" alt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n</a:t>
            </a: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 from a list of free holes?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046163" y="4621213"/>
            <a:ext cx="7600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First-fit and best-fit better than worst-fit in terms of speed and storage utilization</a:t>
            </a:r>
          </a:p>
        </p:txBody>
      </p:sp>
    </p:spTree>
    <p:extLst>
      <p:ext uri="{BB962C8B-B14F-4D97-AF65-F5344CB8AC3E}">
        <p14:creationId xmlns:p14="http://schemas.microsoft.com/office/powerpoint/2010/main" val="7722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152400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smtClean="0"/>
              <a:t>Fragmentation</a:t>
            </a:r>
          </a:p>
        </p:txBody>
      </p:sp>
      <p:sp>
        <p:nvSpPr>
          <p:cNvPr id="593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50913" y="1114425"/>
            <a:ext cx="6770687" cy="4999038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3366FF"/>
                </a:solidFill>
              </a:rPr>
              <a:t>External Fragmentation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 smtClean="0"/>
              <a:t>– total memory space exists to satisfy a request, but it is not contiguous</a:t>
            </a:r>
            <a:endParaRPr lang="en-US" altLang="en-US" b="1" dirty="0" smtClean="0">
              <a:solidFill>
                <a:srgbClr val="3366FF"/>
              </a:solidFill>
            </a:endParaRPr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Internal Fragmentation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 smtClean="0"/>
              <a:t>– allocated memory may be slightly larger than requested memory; this size difference is memory internal to a partition, but not being </a:t>
            </a:r>
            <a:r>
              <a:rPr lang="en-US" altLang="en-US" dirty="0" smtClean="0"/>
              <a:t>used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774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016625"/>
            <a:ext cx="2895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645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0166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019A2E-4D0C-43B8-A53F-D716E5FC590A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Internal Fragmentation</a:t>
            </a:r>
          </a:p>
        </p:txBody>
      </p:sp>
      <p:sp>
        <p:nvSpPr>
          <p:cNvPr id="64517" name="Rectangle 3"/>
          <p:cNvSpPr>
            <a:spLocks noChangeArrowheads="1"/>
          </p:cNvSpPr>
          <p:nvPr/>
        </p:nvSpPr>
        <p:spPr bwMode="auto">
          <a:xfrm>
            <a:off x="4622800" y="1822450"/>
            <a:ext cx="1820863" cy="4578350"/>
          </a:xfrm>
          <a:prstGeom prst="rect">
            <a:avLst/>
          </a:prstGeom>
          <a:solidFill>
            <a:srgbClr val="B9D5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8" name="Line 4"/>
          <p:cNvSpPr>
            <a:spLocks noChangeShapeType="1"/>
          </p:cNvSpPr>
          <p:nvPr/>
        </p:nvSpPr>
        <p:spPr bwMode="auto">
          <a:xfrm>
            <a:off x="4622800" y="2271713"/>
            <a:ext cx="18542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9" name="Line 5"/>
          <p:cNvSpPr>
            <a:spLocks noChangeShapeType="1"/>
          </p:cNvSpPr>
          <p:nvPr/>
        </p:nvSpPr>
        <p:spPr bwMode="auto">
          <a:xfrm>
            <a:off x="4622800" y="4114800"/>
            <a:ext cx="1820863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20" name="Line 6"/>
          <p:cNvSpPr>
            <a:spLocks noChangeShapeType="1"/>
          </p:cNvSpPr>
          <p:nvPr/>
        </p:nvSpPr>
        <p:spPr bwMode="auto">
          <a:xfrm>
            <a:off x="4622800" y="5194300"/>
            <a:ext cx="1820863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21" name="Line 7"/>
          <p:cNvSpPr>
            <a:spLocks noChangeShapeType="1"/>
          </p:cNvSpPr>
          <p:nvPr/>
        </p:nvSpPr>
        <p:spPr bwMode="auto">
          <a:xfrm>
            <a:off x="4622800" y="5759450"/>
            <a:ext cx="1820863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22" name="Text Box 8"/>
          <p:cNvSpPr txBox="1">
            <a:spLocks noChangeArrowheads="1"/>
          </p:cNvSpPr>
          <p:nvPr/>
        </p:nvSpPr>
        <p:spPr bwMode="auto">
          <a:xfrm>
            <a:off x="4622800" y="5664200"/>
            <a:ext cx="1844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Operating System</a:t>
            </a:r>
          </a:p>
        </p:txBody>
      </p:sp>
      <p:sp>
        <p:nvSpPr>
          <p:cNvPr id="64523" name="Text Box 9"/>
          <p:cNvSpPr txBox="1">
            <a:spLocks noChangeArrowheads="1"/>
          </p:cNvSpPr>
          <p:nvPr/>
        </p:nvSpPr>
        <p:spPr bwMode="auto">
          <a:xfrm>
            <a:off x="4379913" y="5287963"/>
            <a:ext cx="233045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Partition 1</a:t>
            </a:r>
          </a:p>
        </p:txBody>
      </p:sp>
      <p:sp>
        <p:nvSpPr>
          <p:cNvPr id="64524" name="Text Box 10"/>
          <p:cNvSpPr txBox="1">
            <a:spLocks noChangeArrowheads="1"/>
          </p:cNvSpPr>
          <p:nvPr/>
        </p:nvSpPr>
        <p:spPr bwMode="auto">
          <a:xfrm>
            <a:off x="4379913" y="4400550"/>
            <a:ext cx="2330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Partition 2</a:t>
            </a:r>
          </a:p>
        </p:txBody>
      </p:sp>
      <p:sp>
        <p:nvSpPr>
          <p:cNvPr id="64525" name="Text Box 11"/>
          <p:cNvSpPr txBox="1">
            <a:spLocks noChangeArrowheads="1"/>
          </p:cNvSpPr>
          <p:nvPr/>
        </p:nvSpPr>
        <p:spPr bwMode="auto">
          <a:xfrm>
            <a:off x="4379913" y="2892425"/>
            <a:ext cx="2330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Partition 3</a:t>
            </a:r>
          </a:p>
        </p:txBody>
      </p:sp>
      <p:sp>
        <p:nvSpPr>
          <p:cNvPr id="64526" name="Text Box 12"/>
          <p:cNvSpPr txBox="1">
            <a:spLocks noChangeArrowheads="1"/>
          </p:cNvSpPr>
          <p:nvPr/>
        </p:nvSpPr>
        <p:spPr bwMode="auto">
          <a:xfrm>
            <a:off x="4379913" y="1800225"/>
            <a:ext cx="2330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Partition 4</a:t>
            </a:r>
          </a:p>
        </p:txBody>
      </p:sp>
      <p:sp>
        <p:nvSpPr>
          <p:cNvPr id="64527" name="Text Box 13"/>
          <p:cNvSpPr txBox="1">
            <a:spLocks noChangeArrowheads="1"/>
          </p:cNvSpPr>
          <p:nvPr/>
        </p:nvSpPr>
        <p:spPr bwMode="auto">
          <a:xfrm>
            <a:off x="6056313" y="1517650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800K</a:t>
            </a:r>
          </a:p>
        </p:txBody>
      </p:sp>
      <p:sp>
        <p:nvSpPr>
          <p:cNvPr id="64528" name="Text Box 14"/>
          <p:cNvSpPr txBox="1">
            <a:spLocks noChangeArrowheads="1"/>
          </p:cNvSpPr>
          <p:nvPr/>
        </p:nvSpPr>
        <p:spPr bwMode="auto">
          <a:xfrm>
            <a:off x="6056313" y="2082800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700K</a:t>
            </a:r>
          </a:p>
        </p:txBody>
      </p:sp>
      <p:sp>
        <p:nvSpPr>
          <p:cNvPr id="64529" name="Text Box 15"/>
          <p:cNvSpPr txBox="1">
            <a:spLocks noChangeArrowheads="1"/>
          </p:cNvSpPr>
          <p:nvPr/>
        </p:nvSpPr>
        <p:spPr bwMode="auto">
          <a:xfrm>
            <a:off x="6056313" y="3835400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400K</a:t>
            </a:r>
          </a:p>
        </p:txBody>
      </p:sp>
      <p:sp>
        <p:nvSpPr>
          <p:cNvPr id="64530" name="Text Box 16"/>
          <p:cNvSpPr txBox="1">
            <a:spLocks noChangeArrowheads="1"/>
          </p:cNvSpPr>
          <p:nvPr/>
        </p:nvSpPr>
        <p:spPr bwMode="auto">
          <a:xfrm>
            <a:off x="6056313" y="4965700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200K</a:t>
            </a:r>
          </a:p>
        </p:txBody>
      </p:sp>
      <p:sp>
        <p:nvSpPr>
          <p:cNvPr id="64531" name="Text Box 17"/>
          <p:cNvSpPr txBox="1">
            <a:spLocks noChangeArrowheads="1"/>
          </p:cNvSpPr>
          <p:nvPr/>
        </p:nvSpPr>
        <p:spPr bwMode="auto">
          <a:xfrm>
            <a:off x="6056313" y="5570538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64532" name="Text Box 18"/>
          <p:cNvSpPr txBox="1">
            <a:spLocks noChangeArrowheads="1"/>
          </p:cNvSpPr>
          <p:nvPr/>
        </p:nvSpPr>
        <p:spPr bwMode="auto">
          <a:xfrm>
            <a:off x="5957888" y="5873750"/>
            <a:ext cx="1335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35603" name="Rectangle 19"/>
          <p:cNvSpPr>
            <a:spLocks noChangeArrowheads="1"/>
          </p:cNvSpPr>
          <p:nvPr/>
        </p:nvSpPr>
        <p:spPr bwMode="auto">
          <a:xfrm>
            <a:off x="4608513" y="2286000"/>
            <a:ext cx="1828800" cy="1143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35604" name="Rectangle 20"/>
          <p:cNvSpPr>
            <a:spLocks noChangeArrowheads="1"/>
          </p:cNvSpPr>
          <p:nvPr/>
        </p:nvSpPr>
        <p:spPr bwMode="auto">
          <a:xfrm>
            <a:off x="4608513" y="1828800"/>
            <a:ext cx="1828800" cy="298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</a:t>
            </a:r>
          </a:p>
        </p:txBody>
      </p:sp>
      <p:sp>
        <p:nvSpPr>
          <p:cNvPr id="835605" name="Text Box 21"/>
          <p:cNvSpPr txBox="1">
            <a:spLocks noChangeArrowheads="1"/>
          </p:cNvSpPr>
          <p:nvPr/>
        </p:nvSpPr>
        <p:spPr bwMode="auto">
          <a:xfrm>
            <a:off x="508000" y="990600"/>
            <a:ext cx="809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Memory that is internal to a partition but not being used</a:t>
            </a:r>
          </a:p>
        </p:txBody>
      </p:sp>
      <p:sp>
        <p:nvSpPr>
          <p:cNvPr id="835606" name="AutoShape 22"/>
          <p:cNvSpPr>
            <a:spLocks/>
          </p:cNvSpPr>
          <p:nvPr/>
        </p:nvSpPr>
        <p:spPr bwMode="auto">
          <a:xfrm>
            <a:off x="4343400" y="2133600"/>
            <a:ext cx="228600" cy="15240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07" name="AutoShape 23"/>
          <p:cNvSpPr>
            <a:spLocks/>
          </p:cNvSpPr>
          <p:nvPr/>
        </p:nvSpPr>
        <p:spPr bwMode="auto">
          <a:xfrm>
            <a:off x="4343400" y="3429000"/>
            <a:ext cx="228600" cy="6858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08" name="Line 24"/>
          <p:cNvSpPr>
            <a:spLocks noChangeShapeType="1"/>
          </p:cNvSpPr>
          <p:nvPr/>
        </p:nvSpPr>
        <p:spPr bwMode="auto">
          <a:xfrm flipH="1">
            <a:off x="46482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09" name="Line 25"/>
          <p:cNvSpPr>
            <a:spLocks noChangeShapeType="1"/>
          </p:cNvSpPr>
          <p:nvPr/>
        </p:nvSpPr>
        <p:spPr bwMode="auto">
          <a:xfrm flipH="1">
            <a:off x="49530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0" name="Line 26"/>
          <p:cNvSpPr>
            <a:spLocks noChangeShapeType="1"/>
          </p:cNvSpPr>
          <p:nvPr/>
        </p:nvSpPr>
        <p:spPr bwMode="auto">
          <a:xfrm flipH="1">
            <a:off x="52578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1" name="Line 27"/>
          <p:cNvSpPr>
            <a:spLocks noChangeShapeType="1"/>
          </p:cNvSpPr>
          <p:nvPr/>
        </p:nvSpPr>
        <p:spPr bwMode="auto">
          <a:xfrm flipH="1">
            <a:off x="55626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2" name="Line 28"/>
          <p:cNvSpPr>
            <a:spLocks noChangeShapeType="1"/>
          </p:cNvSpPr>
          <p:nvPr/>
        </p:nvSpPr>
        <p:spPr bwMode="auto">
          <a:xfrm flipH="1">
            <a:off x="58674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3" name="Line 29"/>
          <p:cNvSpPr>
            <a:spLocks noChangeShapeType="1"/>
          </p:cNvSpPr>
          <p:nvPr/>
        </p:nvSpPr>
        <p:spPr bwMode="auto">
          <a:xfrm flipH="1">
            <a:off x="6172200" y="2133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4" name="Line 30"/>
          <p:cNvSpPr>
            <a:spLocks noChangeShapeType="1"/>
          </p:cNvSpPr>
          <p:nvPr/>
        </p:nvSpPr>
        <p:spPr bwMode="auto">
          <a:xfrm flipH="1">
            <a:off x="4648200" y="3429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5" name="Line 31"/>
          <p:cNvSpPr>
            <a:spLocks noChangeShapeType="1"/>
          </p:cNvSpPr>
          <p:nvPr/>
        </p:nvSpPr>
        <p:spPr bwMode="auto">
          <a:xfrm flipH="1">
            <a:off x="4648200" y="3429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6" name="Line 32"/>
          <p:cNvSpPr>
            <a:spLocks noChangeShapeType="1"/>
          </p:cNvSpPr>
          <p:nvPr/>
        </p:nvSpPr>
        <p:spPr bwMode="auto">
          <a:xfrm flipH="1">
            <a:off x="4724400" y="34290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7" name="Line 33"/>
          <p:cNvSpPr>
            <a:spLocks noChangeShapeType="1"/>
          </p:cNvSpPr>
          <p:nvPr/>
        </p:nvSpPr>
        <p:spPr bwMode="auto">
          <a:xfrm flipH="1">
            <a:off x="5029200" y="34290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8" name="Line 34"/>
          <p:cNvSpPr>
            <a:spLocks noChangeShapeType="1"/>
          </p:cNvSpPr>
          <p:nvPr/>
        </p:nvSpPr>
        <p:spPr bwMode="auto">
          <a:xfrm flipH="1">
            <a:off x="5334000" y="34290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19" name="Line 35"/>
          <p:cNvSpPr>
            <a:spLocks noChangeShapeType="1"/>
          </p:cNvSpPr>
          <p:nvPr/>
        </p:nvSpPr>
        <p:spPr bwMode="auto">
          <a:xfrm flipH="1">
            <a:off x="5638800" y="34290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20" name="Line 36"/>
          <p:cNvSpPr>
            <a:spLocks noChangeShapeType="1"/>
          </p:cNvSpPr>
          <p:nvPr/>
        </p:nvSpPr>
        <p:spPr bwMode="auto">
          <a:xfrm flipH="1">
            <a:off x="5943600" y="3581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21" name="Line 37"/>
          <p:cNvSpPr>
            <a:spLocks noChangeShapeType="1"/>
          </p:cNvSpPr>
          <p:nvPr/>
        </p:nvSpPr>
        <p:spPr bwMode="auto">
          <a:xfrm flipH="1">
            <a:off x="6248400" y="39624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5622" name="Rectangle 38"/>
          <p:cNvSpPr>
            <a:spLocks noChangeArrowheads="1"/>
          </p:cNvSpPr>
          <p:nvPr/>
        </p:nvSpPr>
        <p:spPr bwMode="auto">
          <a:xfrm>
            <a:off x="706438" y="1981200"/>
            <a:ext cx="3484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Internal Fragmentation</a:t>
            </a:r>
          </a:p>
        </p:txBody>
      </p:sp>
      <p:sp>
        <p:nvSpPr>
          <p:cNvPr id="835623" name="Rectangle 39"/>
          <p:cNvSpPr>
            <a:spLocks noChangeArrowheads="1"/>
          </p:cNvSpPr>
          <p:nvPr/>
        </p:nvSpPr>
        <p:spPr bwMode="auto">
          <a:xfrm>
            <a:off x="762000" y="3505200"/>
            <a:ext cx="3484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Internal Fragmentation</a:t>
            </a:r>
          </a:p>
        </p:txBody>
      </p:sp>
      <p:sp>
        <p:nvSpPr>
          <p:cNvPr id="64554" name="Date Placeholder 1"/>
          <p:cNvSpPr>
            <a:spLocks noGrp="1"/>
          </p:cNvSpPr>
          <p:nvPr>
            <p:ph type="dt" sz="quarter" idx="10"/>
          </p:nvPr>
        </p:nvSpPr>
        <p:spPr>
          <a:xfrm>
            <a:off x="457200" y="60166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68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3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603" grpId="0" animBg="1"/>
      <p:bldP spid="835604" grpId="0" animBg="1"/>
      <p:bldP spid="835605" grpId="0"/>
      <p:bldP spid="835606" grpId="0" animBg="1"/>
      <p:bldP spid="835607" grpId="0" animBg="1"/>
      <p:bldP spid="835622" grpId="0"/>
      <p:bldP spid="8356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FF"/>
                </a:solidFill>
              </a:rPr>
              <a:t>External Fragmentation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105" y="1836159"/>
            <a:ext cx="34766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8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665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302D7-7A6D-4869-9179-997E1BF8D161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Swapping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If </a:t>
            </a:r>
            <a:r>
              <a:rPr lang="en-US" altLang="en-US" sz="2200" b="1" i="1" smtClean="0">
                <a:solidFill>
                  <a:srgbClr val="CC3300"/>
                </a:solidFill>
                <a:cs typeface="Arial" panose="020B0604020202020204" pitchFamily="34" charset="0"/>
              </a:rPr>
              <a:t>not enough space </a:t>
            </a:r>
            <a:r>
              <a:rPr lang="en-US" altLang="en-US" sz="2200" smtClean="0">
                <a:cs typeface="Arial" panose="020B0604020202020204" pitchFamily="34" charset="0"/>
              </a:rPr>
              <a:t>in memory for all the currently active processes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Excess processes must be kept on disk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Fully </a:t>
            </a:r>
            <a:r>
              <a:rPr lang="en-US" altLang="en-US" sz="2000" smtClean="0">
                <a:cs typeface="Arial" panose="020B0604020202020204" pitchFamily="34" charset="0"/>
                <a:sym typeface="Wingdings" panose="05000000000000000000" pitchFamily="2" charset="2"/>
              </a:rPr>
              <a:t> Swapping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  <a:sym typeface="Wingdings" panose="05000000000000000000" pitchFamily="2" charset="2"/>
              </a:rPr>
              <a:t>Partially  Virtual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  <a:sym typeface="Wingdings" panose="05000000000000000000" pitchFamily="2" charset="2"/>
              </a:rPr>
              <a:t>Example of Swapping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Round Robin Scheduling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When the quantum expires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Swap out the currently running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Swap in another process to freed memory space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smtClean="0">
              <a:cs typeface="Arial" panose="020B0604020202020204" pitchFamily="34" charset="0"/>
            </a:endParaRPr>
          </a:p>
        </p:txBody>
      </p:sp>
      <p:sp>
        <p:nvSpPr>
          <p:cNvPr id="66566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58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686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7B1DE9-FB0C-4921-9AD2-DF62013BB918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Swapping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smtClean="0">
                <a:cs typeface="Arial" panose="020B0604020202020204" pitchFamily="34" charset="0"/>
              </a:rPr>
              <a:t>Another Example: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Priority based scheduling</a:t>
            </a:r>
          </a:p>
          <a:p>
            <a:pPr eaLnBrk="1" hangingPunct="1"/>
            <a:r>
              <a:rPr lang="en-US" altLang="en-US" sz="2600" smtClean="0">
                <a:cs typeface="Arial" panose="020B0604020202020204" pitchFamily="34" charset="0"/>
              </a:rPr>
              <a:t>If a higher priority process arrives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Swap out a lower priority process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Swap in the higher priority process</a:t>
            </a:r>
          </a:p>
          <a:p>
            <a:pPr eaLnBrk="1" hangingPunct="1"/>
            <a:r>
              <a:rPr lang="en-US" altLang="en-US" sz="2600" smtClean="0">
                <a:cs typeface="Arial" panose="020B0604020202020204" pitchFamily="34" charset="0"/>
              </a:rPr>
              <a:t>When the higher priority process exits</a:t>
            </a:r>
          </a:p>
          <a:p>
            <a:pPr lvl="1" eaLnBrk="1" hangingPunct="1"/>
            <a:r>
              <a:rPr lang="en-US" altLang="en-US" sz="2200" smtClean="0">
                <a:cs typeface="Arial" panose="020B0604020202020204" pitchFamily="34" charset="0"/>
              </a:rPr>
              <a:t>Swap in the lower priority process</a:t>
            </a:r>
          </a:p>
        </p:txBody>
      </p:sp>
      <p:sp>
        <p:nvSpPr>
          <p:cNvPr id="68614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65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53FA39-E72F-46F0-BC14-F906BEF5F9A6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Swapping</a:t>
            </a:r>
          </a:p>
        </p:txBody>
      </p:sp>
      <p:sp>
        <p:nvSpPr>
          <p:cNvPr id="70661" name="AutoShape 3"/>
          <p:cNvSpPr>
            <a:spLocks noChangeArrowheads="1"/>
          </p:cNvSpPr>
          <p:nvPr/>
        </p:nvSpPr>
        <p:spPr bwMode="auto">
          <a:xfrm>
            <a:off x="533400" y="1752600"/>
            <a:ext cx="3810000" cy="3352800"/>
          </a:xfrm>
          <a:prstGeom prst="flowChartMagneticDisk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1732" name="Rectangle 4"/>
          <p:cNvSpPr>
            <a:spLocks noChangeArrowheads="1"/>
          </p:cNvSpPr>
          <p:nvPr/>
        </p:nvSpPr>
        <p:spPr bwMode="auto">
          <a:xfrm>
            <a:off x="914400" y="36576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</a:t>
            </a:r>
          </a:p>
        </p:txBody>
      </p:sp>
      <p:grpSp>
        <p:nvGrpSpPr>
          <p:cNvPr id="70663" name="Group 5"/>
          <p:cNvGrpSpPr>
            <a:grpSpLocks/>
          </p:cNvGrpSpPr>
          <p:nvPr/>
        </p:nvGrpSpPr>
        <p:grpSpPr bwMode="auto">
          <a:xfrm>
            <a:off x="5165725" y="1476375"/>
            <a:ext cx="1158875" cy="3781425"/>
            <a:chOff x="3254" y="930"/>
            <a:chExt cx="730" cy="2382"/>
          </a:xfrm>
        </p:grpSpPr>
        <p:sp>
          <p:nvSpPr>
            <p:cNvPr id="70676" name="Rectangle 6"/>
            <p:cNvSpPr>
              <a:spLocks noChangeArrowheads="1"/>
            </p:cNvSpPr>
            <p:nvPr/>
          </p:nvSpPr>
          <p:spPr bwMode="auto">
            <a:xfrm>
              <a:off x="3254" y="930"/>
              <a:ext cx="720" cy="23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77" name="Line 7"/>
            <p:cNvSpPr>
              <a:spLocks noChangeShapeType="1"/>
            </p:cNvSpPr>
            <p:nvPr/>
          </p:nvSpPr>
          <p:spPr bwMode="auto">
            <a:xfrm>
              <a:off x="3254" y="2994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78" name="Text Box 8"/>
            <p:cNvSpPr txBox="1">
              <a:spLocks noChangeArrowheads="1"/>
            </p:cNvSpPr>
            <p:nvPr/>
          </p:nvSpPr>
          <p:spPr bwMode="auto">
            <a:xfrm>
              <a:off x="3254" y="294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70679" name="Line 9"/>
            <p:cNvSpPr>
              <a:spLocks noChangeShapeType="1"/>
            </p:cNvSpPr>
            <p:nvPr/>
          </p:nvSpPr>
          <p:spPr bwMode="auto">
            <a:xfrm flipH="1">
              <a:off x="3254" y="93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0" name="Line 10"/>
            <p:cNvSpPr>
              <a:spLocks noChangeShapeType="1"/>
            </p:cNvSpPr>
            <p:nvPr/>
          </p:nvSpPr>
          <p:spPr bwMode="auto">
            <a:xfrm flipH="1">
              <a:off x="3254" y="930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1" name="Line 11"/>
            <p:cNvSpPr>
              <a:spLocks noChangeShapeType="1"/>
            </p:cNvSpPr>
            <p:nvPr/>
          </p:nvSpPr>
          <p:spPr bwMode="auto">
            <a:xfrm flipH="1">
              <a:off x="3254" y="107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2" name="Line 12"/>
            <p:cNvSpPr>
              <a:spLocks noChangeShapeType="1"/>
            </p:cNvSpPr>
            <p:nvPr/>
          </p:nvSpPr>
          <p:spPr bwMode="auto">
            <a:xfrm flipH="1">
              <a:off x="3254" y="131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3" name="Line 13"/>
            <p:cNvSpPr>
              <a:spLocks noChangeShapeType="1"/>
            </p:cNvSpPr>
            <p:nvPr/>
          </p:nvSpPr>
          <p:spPr bwMode="auto">
            <a:xfrm flipH="1">
              <a:off x="3254" y="155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4" name="Line 14"/>
            <p:cNvSpPr>
              <a:spLocks noChangeShapeType="1"/>
            </p:cNvSpPr>
            <p:nvPr/>
          </p:nvSpPr>
          <p:spPr bwMode="auto">
            <a:xfrm flipH="1">
              <a:off x="3254" y="179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5" name="Line 15"/>
            <p:cNvSpPr>
              <a:spLocks noChangeShapeType="1"/>
            </p:cNvSpPr>
            <p:nvPr/>
          </p:nvSpPr>
          <p:spPr bwMode="auto">
            <a:xfrm flipH="1">
              <a:off x="3254" y="203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6" name="Line 16"/>
            <p:cNvSpPr>
              <a:spLocks noChangeShapeType="1"/>
            </p:cNvSpPr>
            <p:nvPr/>
          </p:nvSpPr>
          <p:spPr bwMode="auto">
            <a:xfrm flipH="1">
              <a:off x="3254" y="93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7" name="Line 17"/>
            <p:cNvSpPr>
              <a:spLocks noChangeShapeType="1"/>
            </p:cNvSpPr>
            <p:nvPr/>
          </p:nvSpPr>
          <p:spPr bwMode="auto">
            <a:xfrm flipH="1">
              <a:off x="3254" y="93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8" name="Line 18"/>
            <p:cNvSpPr>
              <a:spLocks noChangeShapeType="1"/>
            </p:cNvSpPr>
            <p:nvPr/>
          </p:nvSpPr>
          <p:spPr bwMode="auto">
            <a:xfrm flipH="1">
              <a:off x="3398" y="2274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9" name="Line 19"/>
            <p:cNvSpPr>
              <a:spLocks noChangeShapeType="1"/>
            </p:cNvSpPr>
            <p:nvPr/>
          </p:nvSpPr>
          <p:spPr bwMode="auto">
            <a:xfrm flipH="1">
              <a:off x="3590" y="251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90" name="Line 20"/>
            <p:cNvSpPr>
              <a:spLocks noChangeShapeType="1"/>
            </p:cNvSpPr>
            <p:nvPr/>
          </p:nvSpPr>
          <p:spPr bwMode="auto">
            <a:xfrm flipH="1">
              <a:off x="3782" y="275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41749" name="Rectangle 21"/>
          <p:cNvSpPr>
            <a:spLocks noChangeArrowheads="1"/>
          </p:cNvSpPr>
          <p:nvPr/>
        </p:nvSpPr>
        <p:spPr bwMode="auto">
          <a:xfrm>
            <a:off x="2743200" y="36576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41750" name="Rectangle 22"/>
          <p:cNvSpPr>
            <a:spLocks noChangeArrowheads="1"/>
          </p:cNvSpPr>
          <p:nvPr/>
        </p:nvSpPr>
        <p:spPr bwMode="auto">
          <a:xfrm>
            <a:off x="914400" y="2971800"/>
            <a:ext cx="11430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</a:t>
            </a:r>
          </a:p>
        </p:txBody>
      </p:sp>
      <p:sp>
        <p:nvSpPr>
          <p:cNvPr id="841751" name="Rectangle 23"/>
          <p:cNvSpPr>
            <a:spLocks noChangeArrowheads="1"/>
          </p:cNvSpPr>
          <p:nvPr/>
        </p:nvSpPr>
        <p:spPr bwMode="auto">
          <a:xfrm>
            <a:off x="5181600" y="36576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41752" name="Rectangle 24"/>
          <p:cNvSpPr>
            <a:spLocks noChangeArrowheads="1"/>
          </p:cNvSpPr>
          <p:nvPr/>
        </p:nvSpPr>
        <p:spPr bwMode="auto">
          <a:xfrm>
            <a:off x="5181600" y="3124200"/>
            <a:ext cx="11430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</a:t>
            </a:r>
          </a:p>
        </p:txBody>
      </p:sp>
      <p:sp>
        <p:nvSpPr>
          <p:cNvPr id="841753" name="Rectangle 25"/>
          <p:cNvSpPr>
            <a:spLocks noChangeArrowheads="1"/>
          </p:cNvSpPr>
          <p:nvPr/>
        </p:nvSpPr>
        <p:spPr bwMode="auto">
          <a:xfrm>
            <a:off x="5181600" y="19812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</a:t>
            </a:r>
          </a:p>
        </p:txBody>
      </p:sp>
      <p:sp>
        <p:nvSpPr>
          <p:cNvPr id="841754" name="Rectangle 26"/>
          <p:cNvSpPr>
            <a:spLocks noChangeArrowheads="1"/>
          </p:cNvSpPr>
          <p:nvPr/>
        </p:nvSpPr>
        <p:spPr bwMode="auto">
          <a:xfrm>
            <a:off x="2743200" y="2819400"/>
            <a:ext cx="11430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841755" name="Text Box 27"/>
          <p:cNvSpPr txBox="1">
            <a:spLocks noChangeArrowheads="1"/>
          </p:cNvSpPr>
          <p:nvPr/>
        </p:nvSpPr>
        <p:spPr bwMode="auto">
          <a:xfrm>
            <a:off x="1447800" y="5562600"/>
            <a:ext cx="6850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 is of Higher Priority, A is of Lower Priority!!!</a:t>
            </a:r>
          </a:p>
        </p:txBody>
      </p:sp>
      <p:sp>
        <p:nvSpPr>
          <p:cNvPr id="841756" name="Rectangle 28"/>
          <p:cNvSpPr>
            <a:spLocks noChangeArrowheads="1"/>
          </p:cNvSpPr>
          <p:nvPr/>
        </p:nvSpPr>
        <p:spPr bwMode="auto">
          <a:xfrm>
            <a:off x="5181600" y="4114800"/>
            <a:ext cx="11430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841757" name="Text Box 29"/>
          <p:cNvSpPr txBox="1">
            <a:spLocks noChangeArrowheads="1"/>
          </p:cNvSpPr>
          <p:nvPr/>
        </p:nvSpPr>
        <p:spPr bwMode="auto">
          <a:xfrm>
            <a:off x="2663825" y="6019800"/>
            <a:ext cx="349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 exits now, Swap in A</a:t>
            </a:r>
          </a:p>
        </p:txBody>
      </p:sp>
      <p:sp>
        <p:nvSpPr>
          <p:cNvPr id="841758" name="Rectangle 30"/>
          <p:cNvSpPr>
            <a:spLocks noChangeArrowheads="1"/>
          </p:cNvSpPr>
          <p:nvPr/>
        </p:nvSpPr>
        <p:spPr bwMode="auto">
          <a:xfrm>
            <a:off x="5181600" y="31242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41759" name="Rectangle 31"/>
          <p:cNvSpPr>
            <a:spLocks noChangeArrowheads="1"/>
          </p:cNvSpPr>
          <p:nvPr/>
        </p:nvSpPr>
        <p:spPr bwMode="auto">
          <a:xfrm>
            <a:off x="6248400" y="1963738"/>
            <a:ext cx="2971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number, size and location of the partition is decided dynamically.</a:t>
            </a:r>
          </a:p>
        </p:txBody>
      </p:sp>
      <p:sp>
        <p:nvSpPr>
          <p:cNvPr id="70675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04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841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4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41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4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841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841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4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4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841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4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4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841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732" grpId="0" animBg="1"/>
      <p:bldP spid="841732" grpId="1" animBg="1"/>
      <p:bldP spid="841749" grpId="0" animBg="1"/>
      <p:bldP spid="841749" grpId="1" animBg="1"/>
      <p:bldP spid="841749" grpId="2" animBg="1"/>
      <p:bldP spid="841749" grpId="3" animBg="1"/>
      <p:bldP spid="841750" grpId="0" animBg="1"/>
      <p:bldP spid="841750" grpId="1" animBg="1"/>
      <p:bldP spid="841751" grpId="0" animBg="1"/>
      <p:bldP spid="841751" grpId="1" animBg="1"/>
      <p:bldP spid="841752" grpId="0" animBg="1"/>
      <p:bldP spid="841753" grpId="0" animBg="1"/>
      <p:bldP spid="841754" grpId="0" animBg="1"/>
      <p:bldP spid="841754" grpId="1" animBg="1"/>
      <p:bldP spid="841755" grpId="0"/>
      <p:bldP spid="841755" grpId="1"/>
      <p:bldP spid="841756" grpId="0" animBg="1"/>
      <p:bldP spid="841757" grpId="0"/>
      <p:bldP spid="841757" grpId="1"/>
      <p:bldP spid="841758" grpId="0" animBg="1"/>
      <p:bldP spid="84175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8B056B-837D-4583-B70B-5E46BB721BBA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43778" name="Text Box 2"/>
          <p:cNvSpPr txBox="1">
            <a:spLocks noChangeArrowheads="1"/>
          </p:cNvSpPr>
          <p:nvPr/>
        </p:nvSpPr>
        <p:spPr bwMode="auto">
          <a:xfrm>
            <a:off x="5867400" y="1490663"/>
            <a:ext cx="35052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EXTERNAL FRAGMENTATION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Memory External to all partitions is Fragmented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Enough total memory</a:t>
            </a: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exists to satisfy the request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But is </a:t>
            </a:r>
            <a:r>
              <a:rPr kumimoji="0" lang="en-US" altLang="en-US" sz="2000" b="0" i="1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not Contiguous</a:t>
            </a:r>
          </a:p>
        </p:txBody>
      </p:sp>
      <p:sp>
        <p:nvSpPr>
          <p:cNvPr id="72709" name="Rectangle 3"/>
          <p:cNvSpPr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+mn-cs"/>
              </a:rPr>
              <a:t>Swapping</a:t>
            </a:r>
          </a:p>
        </p:txBody>
      </p:sp>
      <p:sp>
        <p:nvSpPr>
          <p:cNvPr id="72710" name="AutoShape 4"/>
          <p:cNvSpPr>
            <a:spLocks noChangeArrowheads="1"/>
          </p:cNvSpPr>
          <p:nvPr/>
        </p:nvSpPr>
        <p:spPr bwMode="auto">
          <a:xfrm>
            <a:off x="533400" y="1752600"/>
            <a:ext cx="3810000" cy="3352800"/>
          </a:xfrm>
          <a:prstGeom prst="flowChartMagneticDisk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3781" name="Rectangle 5"/>
          <p:cNvSpPr>
            <a:spLocks noChangeArrowheads="1"/>
          </p:cNvSpPr>
          <p:nvPr/>
        </p:nvSpPr>
        <p:spPr bwMode="auto">
          <a:xfrm>
            <a:off x="1219200" y="3733800"/>
            <a:ext cx="1143000" cy="1066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</a:t>
            </a:r>
          </a:p>
        </p:txBody>
      </p:sp>
      <p:grpSp>
        <p:nvGrpSpPr>
          <p:cNvPr id="72712" name="Group 6"/>
          <p:cNvGrpSpPr>
            <a:grpSpLocks/>
          </p:cNvGrpSpPr>
          <p:nvPr/>
        </p:nvGrpSpPr>
        <p:grpSpPr bwMode="auto">
          <a:xfrm>
            <a:off x="4572000" y="1628775"/>
            <a:ext cx="1158875" cy="3781425"/>
            <a:chOff x="3254" y="930"/>
            <a:chExt cx="730" cy="2382"/>
          </a:xfrm>
        </p:grpSpPr>
        <p:sp>
          <p:nvSpPr>
            <p:cNvPr id="72726" name="Rectangle 7"/>
            <p:cNvSpPr>
              <a:spLocks noChangeArrowheads="1"/>
            </p:cNvSpPr>
            <p:nvPr/>
          </p:nvSpPr>
          <p:spPr bwMode="auto">
            <a:xfrm>
              <a:off x="3254" y="930"/>
              <a:ext cx="720" cy="23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27" name="Line 8"/>
            <p:cNvSpPr>
              <a:spLocks noChangeShapeType="1"/>
            </p:cNvSpPr>
            <p:nvPr/>
          </p:nvSpPr>
          <p:spPr bwMode="auto">
            <a:xfrm>
              <a:off x="3254" y="2994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28" name="Text Box 9"/>
            <p:cNvSpPr txBox="1">
              <a:spLocks noChangeArrowheads="1"/>
            </p:cNvSpPr>
            <p:nvPr/>
          </p:nvSpPr>
          <p:spPr bwMode="auto">
            <a:xfrm>
              <a:off x="3254" y="294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72729" name="Line 10"/>
            <p:cNvSpPr>
              <a:spLocks noChangeShapeType="1"/>
            </p:cNvSpPr>
            <p:nvPr/>
          </p:nvSpPr>
          <p:spPr bwMode="auto">
            <a:xfrm flipH="1">
              <a:off x="3254" y="93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0" name="Line 11"/>
            <p:cNvSpPr>
              <a:spLocks noChangeShapeType="1"/>
            </p:cNvSpPr>
            <p:nvPr/>
          </p:nvSpPr>
          <p:spPr bwMode="auto">
            <a:xfrm flipH="1">
              <a:off x="3254" y="930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1" name="Line 12"/>
            <p:cNvSpPr>
              <a:spLocks noChangeShapeType="1"/>
            </p:cNvSpPr>
            <p:nvPr/>
          </p:nvSpPr>
          <p:spPr bwMode="auto">
            <a:xfrm flipH="1">
              <a:off x="3254" y="107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2" name="Line 13"/>
            <p:cNvSpPr>
              <a:spLocks noChangeShapeType="1"/>
            </p:cNvSpPr>
            <p:nvPr/>
          </p:nvSpPr>
          <p:spPr bwMode="auto">
            <a:xfrm flipH="1">
              <a:off x="3254" y="131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3" name="Line 14"/>
            <p:cNvSpPr>
              <a:spLocks noChangeShapeType="1"/>
            </p:cNvSpPr>
            <p:nvPr/>
          </p:nvSpPr>
          <p:spPr bwMode="auto">
            <a:xfrm flipH="1">
              <a:off x="3254" y="155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4" name="Line 15"/>
            <p:cNvSpPr>
              <a:spLocks noChangeShapeType="1"/>
            </p:cNvSpPr>
            <p:nvPr/>
          </p:nvSpPr>
          <p:spPr bwMode="auto">
            <a:xfrm flipH="1">
              <a:off x="3254" y="179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5" name="Line 16"/>
            <p:cNvSpPr>
              <a:spLocks noChangeShapeType="1"/>
            </p:cNvSpPr>
            <p:nvPr/>
          </p:nvSpPr>
          <p:spPr bwMode="auto">
            <a:xfrm flipH="1">
              <a:off x="3254" y="203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6" name="Line 17"/>
            <p:cNvSpPr>
              <a:spLocks noChangeShapeType="1"/>
            </p:cNvSpPr>
            <p:nvPr/>
          </p:nvSpPr>
          <p:spPr bwMode="auto">
            <a:xfrm flipH="1">
              <a:off x="3254" y="93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7" name="Line 18"/>
            <p:cNvSpPr>
              <a:spLocks noChangeShapeType="1"/>
            </p:cNvSpPr>
            <p:nvPr/>
          </p:nvSpPr>
          <p:spPr bwMode="auto">
            <a:xfrm flipH="1">
              <a:off x="3254" y="93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8" name="Line 19"/>
            <p:cNvSpPr>
              <a:spLocks noChangeShapeType="1"/>
            </p:cNvSpPr>
            <p:nvPr/>
          </p:nvSpPr>
          <p:spPr bwMode="auto">
            <a:xfrm flipH="1">
              <a:off x="3398" y="2274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9" name="Line 20"/>
            <p:cNvSpPr>
              <a:spLocks noChangeShapeType="1"/>
            </p:cNvSpPr>
            <p:nvPr/>
          </p:nvSpPr>
          <p:spPr bwMode="auto">
            <a:xfrm flipH="1">
              <a:off x="3590" y="251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40" name="Line 21"/>
            <p:cNvSpPr>
              <a:spLocks noChangeShapeType="1"/>
            </p:cNvSpPr>
            <p:nvPr/>
          </p:nvSpPr>
          <p:spPr bwMode="auto">
            <a:xfrm flipH="1">
              <a:off x="3782" y="275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43798" name="Rectangle 22"/>
          <p:cNvSpPr>
            <a:spLocks noChangeArrowheads="1"/>
          </p:cNvSpPr>
          <p:nvPr/>
        </p:nvSpPr>
        <p:spPr bwMode="auto">
          <a:xfrm>
            <a:off x="4572000" y="2492375"/>
            <a:ext cx="1143000" cy="78422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</a:t>
            </a:r>
          </a:p>
        </p:txBody>
      </p:sp>
      <p:sp>
        <p:nvSpPr>
          <p:cNvPr id="843799" name="Rectangle 23"/>
          <p:cNvSpPr>
            <a:spLocks noChangeArrowheads="1"/>
          </p:cNvSpPr>
          <p:nvPr/>
        </p:nvSpPr>
        <p:spPr bwMode="auto">
          <a:xfrm>
            <a:off x="4572000" y="4365625"/>
            <a:ext cx="11430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D</a:t>
            </a:r>
          </a:p>
        </p:txBody>
      </p:sp>
      <p:sp>
        <p:nvSpPr>
          <p:cNvPr id="843800" name="Text Box 24"/>
          <p:cNvSpPr txBox="1">
            <a:spLocks noChangeArrowheads="1"/>
          </p:cNvSpPr>
          <p:nvPr/>
        </p:nvSpPr>
        <p:spPr bwMode="auto">
          <a:xfrm>
            <a:off x="3429000" y="5257800"/>
            <a:ext cx="187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 exits now</a:t>
            </a:r>
          </a:p>
        </p:txBody>
      </p:sp>
      <p:sp>
        <p:nvSpPr>
          <p:cNvPr id="843801" name="Rectangle 25"/>
          <p:cNvSpPr>
            <a:spLocks noChangeArrowheads="1"/>
          </p:cNvSpPr>
          <p:nvPr/>
        </p:nvSpPr>
        <p:spPr bwMode="auto">
          <a:xfrm>
            <a:off x="4572000" y="32766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43802" name="Text Box 26"/>
          <p:cNvSpPr txBox="1">
            <a:spLocks noChangeArrowheads="1"/>
          </p:cNvSpPr>
          <p:nvPr/>
        </p:nvSpPr>
        <p:spPr bwMode="auto">
          <a:xfrm>
            <a:off x="6267450" y="4054475"/>
            <a:ext cx="2495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Swapping has created Holes</a:t>
            </a:r>
          </a:p>
        </p:txBody>
      </p:sp>
      <p:sp>
        <p:nvSpPr>
          <p:cNvPr id="843803" name="Line 27"/>
          <p:cNvSpPr>
            <a:spLocks noChangeShapeType="1"/>
          </p:cNvSpPr>
          <p:nvPr/>
        </p:nvSpPr>
        <p:spPr bwMode="auto">
          <a:xfrm flipH="1" flipV="1">
            <a:off x="5654675" y="1905000"/>
            <a:ext cx="1050925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3804" name="Line 28"/>
          <p:cNvSpPr>
            <a:spLocks noChangeShapeType="1"/>
          </p:cNvSpPr>
          <p:nvPr/>
        </p:nvSpPr>
        <p:spPr bwMode="auto">
          <a:xfrm flipH="1">
            <a:off x="5578475" y="4572000"/>
            <a:ext cx="898525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3805" name="Text Box 29"/>
          <p:cNvSpPr txBox="1">
            <a:spLocks noChangeArrowheads="1"/>
          </p:cNvSpPr>
          <p:nvPr/>
        </p:nvSpPr>
        <p:spPr bwMode="auto">
          <a:xfrm>
            <a:off x="3048000" y="5715000"/>
            <a:ext cx="274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No Space for E !!!</a:t>
            </a:r>
          </a:p>
        </p:txBody>
      </p:sp>
      <p:sp>
        <p:nvSpPr>
          <p:cNvPr id="843806" name="Text Box 30"/>
          <p:cNvSpPr txBox="1">
            <a:spLocks noChangeArrowheads="1"/>
          </p:cNvSpPr>
          <p:nvPr/>
        </p:nvSpPr>
        <p:spPr bwMode="auto">
          <a:xfrm>
            <a:off x="247650" y="885825"/>
            <a:ext cx="6124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Its possible to combine all the holes into one big hole</a:t>
            </a:r>
          </a:p>
        </p:txBody>
      </p:sp>
      <p:sp>
        <p:nvSpPr>
          <p:cNvPr id="843807" name="Text Box 31"/>
          <p:cNvSpPr txBox="1">
            <a:spLocks noChangeArrowheads="1"/>
          </p:cNvSpPr>
          <p:nvPr/>
        </p:nvSpPr>
        <p:spPr bwMode="auto">
          <a:xfrm>
            <a:off x="255588" y="1190625"/>
            <a:ext cx="3582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This is called </a:t>
            </a:r>
            <a:r>
              <a:rPr kumimoji="0" lang="en-US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COMPACTION</a:t>
            </a:r>
          </a:p>
        </p:txBody>
      </p:sp>
      <p:sp>
        <p:nvSpPr>
          <p:cNvPr id="843808" name="Rectangle 32"/>
          <p:cNvSpPr>
            <a:spLocks noChangeArrowheads="1"/>
          </p:cNvSpPr>
          <p:nvPr/>
        </p:nvSpPr>
        <p:spPr bwMode="auto">
          <a:xfrm>
            <a:off x="4587875" y="1600200"/>
            <a:ext cx="1143000" cy="892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843809" name="Text Box 33"/>
          <p:cNvSpPr txBox="1">
            <a:spLocks noChangeArrowheads="1"/>
          </p:cNvSpPr>
          <p:nvPr/>
        </p:nvSpPr>
        <p:spPr bwMode="auto">
          <a:xfrm>
            <a:off x="2468563" y="6172200"/>
            <a:ext cx="385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Now E has enough space</a:t>
            </a:r>
          </a:p>
        </p:txBody>
      </p:sp>
      <p:sp>
        <p:nvSpPr>
          <p:cNvPr id="72725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43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8438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843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11307E-6 L -3.33333E-6 0.07785 " pathEditMode="relative" ptsTypes="AA">
                                      <p:cBhvr>
                                        <p:cTn id="88" dur="2000" fill="hold"/>
                                        <p:tgtEl>
                                          <p:spTgt spid="8438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4.93049E-6 L -6.66667E-6 0.07785 " pathEditMode="relative" ptsTypes="AA">
                                      <p:cBhvr>
                                        <p:cTn id="92" dur="2000" fill="hold"/>
                                        <p:tgtEl>
                                          <p:spTgt spid="8437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84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1" dur="500"/>
                                        <p:tgtEl>
                                          <p:spTgt spid="8437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778" grpId="0" build="p"/>
      <p:bldP spid="843778" grpId="1" build="allAtOnce"/>
      <p:bldP spid="843781" grpId="0" animBg="1"/>
      <p:bldP spid="843781" grpId="1" animBg="1"/>
      <p:bldP spid="843798" grpId="0" animBg="1"/>
      <p:bldP spid="843799" grpId="0" animBg="1"/>
      <p:bldP spid="843800" grpId="0"/>
      <p:bldP spid="843800" grpId="1"/>
      <p:bldP spid="843801" grpId="0" animBg="1"/>
      <p:bldP spid="843802" grpId="0"/>
      <p:bldP spid="843802" grpId="1"/>
      <p:bldP spid="843805" grpId="0"/>
      <p:bldP spid="843805" grpId="1"/>
      <p:bldP spid="843806" grpId="0"/>
      <p:bldP spid="843806" grpId="1"/>
      <p:bldP spid="843807" grpId="0"/>
      <p:bldP spid="843807" grpId="1"/>
      <p:bldP spid="843808" grpId="0" animBg="1"/>
      <p:bldP spid="843809" grpId="0"/>
      <p:bldP spid="843809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2DABF1-8C35-4E8C-AB50-2AF09A20DD5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Compaction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325" y="1628775"/>
            <a:ext cx="8451850" cy="4310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Compaction involves CPU overhead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If addresses are not generated relative to the partition location: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Then Compaction is not possible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How much memory should be allocated for a process?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If all the memory is allocated statically in a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>
                <a:cs typeface="Arial" panose="020B0604020202020204" pitchFamily="34" charset="0"/>
              </a:rPr>
              <a:t>Then, OS knows exactly the amount of memory to be allocated: </a:t>
            </a:r>
            <a:r>
              <a:rPr lang="en-US" altLang="en-US" sz="2000" b="1" smtClean="0">
                <a:latin typeface="Courier New" panose="02070309020205020404" pitchFamily="49" charset="0"/>
                <a:cs typeface="Arial" panose="020B0604020202020204" pitchFamily="34" charset="0"/>
              </a:rPr>
              <a:t>executable code +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cs typeface="Arial" panose="020B0604020202020204" pitchFamily="34" charset="0"/>
              </a:rPr>
              <a:t>However, if memory is allocated dynamically (say using </a:t>
            </a:r>
            <a:r>
              <a:rPr lang="en-US" altLang="en-US" sz="2200" b="1" smtClean="0">
                <a:latin typeface="Courier New" panose="02070309020205020404" pitchFamily="49" charset="0"/>
                <a:cs typeface="Arial" panose="020B0604020202020204" pitchFamily="34" charset="0"/>
              </a:rPr>
              <a:t>new</a:t>
            </a:r>
            <a:r>
              <a:rPr lang="en-US" altLang="en-US" sz="2200" smtClean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74758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72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112C54-59E6-4D4D-961D-B4C25260FE1C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Memory allocation for Processes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6200"/>
            <a:ext cx="8497887" cy="4530725"/>
          </a:xfrm>
        </p:spPr>
        <p:txBody>
          <a:bodyPr/>
          <a:lstStyle/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Problem may occur whenever a process tries to grow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If a </a:t>
            </a:r>
            <a:r>
              <a:rPr lang="en-US" altLang="en-US" sz="2200" dirty="0" smtClean="0">
                <a:solidFill>
                  <a:srgbClr val="CC3300"/>
                </a:solidFill>
                <a:cs typeface="Arial" panose="020B0604020202020204" pitchFamily="34" charset="0"/>
              </a:rPr>
              <a:t>hole </a:t>
            </a:r>
            <a:r>
              <a:rPr lang="en-US" altLang="en-US" sz="2200" dirty="0" smtClean="0">
                <a:cs typeface="Arial" panose="020B0604020202020204" pitchFamily="34" charset="0"/>
              </a:rPr>
              <a:t>is adjacent to the growing process then it can be allowed to grow</a:t>
            </a:r>
          </a:p>
          <a:p>
            <a:pPr eaLnBrk="1" hangingPunct="1"/>
            <a:r>
              <a:rPr lang="en-US" altLang="en-US" sz="2200" dirty="0" smtClean="0">
                <a:cs typeface="Arial" panose="020B0604020202020204" pitchFamily="34" charset="0"/>
              </a:rPr>
              <a:t>If </a:t>
            </a:r>
            <a:r>
              <a:rPr lang="en-US" altLang="en-US" sz="2200" dirty="0" smtClean="0">
                <a:solidFill>
                  <a:srgbClr val="CC3300"/>
                </a:solidFill>
                <a:cs typeface="Arial" panose="020B0604020202020204" pitchFamily="34" charset="0"/>
              </a:rPr>
              <a:t>another process </a:t>
            </a:r>
            <a:r>
              <a:rPr lang="en-US" altLang="en-US" sz="2200" dirty="0" smtClean="0">
                <a:cs typeface="Arial" panose="020B0604020202020204" pitchFamily="34" charset="0"/>
              </a:rPr>
              <a:t>is adjacent to the growing process, then</a:t>
            </a:r>
          </a:p>
          <a:p>
            <a:pPr lvl="1" eaLnBrk="1" hangingPunct="1"/>
            <a:r>
              <a:rPr lang="en-US" altLang="en-US" sz="2000" dirty="0" smtClean="0">
                <a:cs typeface="Arial" panose="020B0604020202020204" pitchFamily="34" charset="0"/>
              </a:rPr>
              <a:t>The growing process should be </a:t>
            </a:r>
            <a:r>
              <a:rPr lang="en-US" altLang="en-US" sz="2000" dirty="0" smtClean="0">
                <a:solidFill>
                  <a:srgbClr val="009900"/>
                </a:solidFill>
                <a:cs typeface="Arial" panose="020B0604020202020204" pitchFamily="34" charset="0"/>
              </a:rPr>
              <a:t>moved to a larger hole</a:t>
            </a:r>
          </a:p>
          <a:p>
            <a:pPr lvl="1" eaLnBrk="1" hangingPunct="1"/>
            <a:r>
              <a:rPr lang="en-US" altLang="en-US" sz="2000" dirty="0" smtClean="0">
                <a:cs typeface="Arial" panose="020B0604020202020204" pitchFamily="34" charset="0"/>
              </a:rPr>
              <a:t>If a larger hole is </a:t>
            </a:r>
            <a:r>
              <a:rPr lang="en-US" altLang="en-US" sz="2000" dirty="0" smtClean="0">
                <a:solidFill>
                  <a:srgbClr val="CC3300"/>
                </a:solidFill>
                <a:cs typeface="Arial" panose="020B0604020202020204" pitchFamily="34" charset="0"/>
              </a:rPr>
              <a:t>not</a:t>
            </a:r>
            <a:r>
              <a:rPr lang="en-US" altLang="en-US" sz="2000" dirty="0" smtClean="0">
                <a:cs typeface="Arial" panose="020B0604020202020204" pitchFamily="34" charset="0"/>
              </a:rPr>
              <a:t> available, then, one or more processes should be </a:t>
            </a:r>
            <a:r>
              <a:rPr lang="en-US" altLang="en-US" sz="2000" dirty="0" smtClean="0">
                <a:solidFill>
                  <a:srgbClr val="009900"/>
                </a:solidFill>
                <a:cs typeface="Arial" panose="020B0604020202020204" pitchFamily="34" charset="0"/>
              </a:rPr>
              <a:t>swapped out </a:t>
            </a:r>
          </a:p>
          <a:p>
            <a:pPr lvl="1" eaLnBrk="1" hangingPunct="1"/>
            <a:r>
              <a:rPr lang="en-US" altLang="en-US" sz="2000" dirty="0" smtClean="0">
                <a:cs typeface="Arial" panose="020B0604020202020204" pitchFamily="34" charset="0"/>
              </a:rPr>
              <a:t>If a process </a:t>
            </a:r>
            <a:r>
              <a:rPr lang="en-US" altLang="en-US" sz="2000" dirty="0" smtClean="0">
                <a:solidFill>
                  <a:srgbClr val="CC3300"/>
                </a:solidFill>
                <a:cs typeface="Arial" panose="020B0604020202020204" pitchFamily="34" charset="0"/>
              </a:rPr>
              <a:t>cannot</a:t>
            </a:r>
            <a:r>
              <a:rPr lang="en-US" altLang="en-US" sz="2000" dirty="0" smtClean="0">
                <a:cs typeface="Arial" panose="020B0604020202020204" pitchFamily="34" charset="0"/>
              </a:rPr>
              <a:t> be swapped out (say, there is not enough space on disk</a:t>
            </a:r>
          </a:p>
          <a:p>
            <a:pPr lvl="2" eaLnBrk="1" hangingPunct="1"/>
            <a:r>
              <a:rPr lang="en-US" altLang="en-US" sz="2000" dirty="0" smtClean="0">
                <a:cs typeface="Arial" panose="020B0604020202020204" pitchFamily="34" charset="0"/>
              </a:rPr>
              <a:t>The growing process has to </a:t>
            </a:r>
            <a:r>
              <a:rPr lang="en-US" altLang="en-US" sz="2000" dirty="0" smtClean="0">
                <a:solidFill>
                  <a:srgbClr val="009900"/>
                </a:solidFill>
                <a:cs typeface="Arial" panose="020B0604020202020204" pitchFamily="34" charset="0"/>
              </a:rPr>
              <a:t>wait</a:t>
            </a:r>
          </a:p>
          <a:p>
            <a:pPr lvl="2" eaLnBrk="1" hangingPunct="1"/>
            <a:r>
              <a:rPr lang="en-US" altLang="en-US" sz="2000" dirty="0" smtClean="0">
                <a:cs typeface="Arial" panose="020B0604020202020204" pitchFamily="34" charset="0"/>
              </a:rPr>
              <a:t>Or should be </a:t>
            </a:r>
            <a:r>
              <a:rPr lang="en-US" altLang="en-US" sz="2000" dirty="0" smtClean="0">
                <a:solidFill>
                  <a:srgbClr val="CC3300"/>
                </a:solidFill>
                <a:cs typeface="Arial" panose="020B0604020202020204" pitchFamily="34" charset="0"/>
              </a:rPr>
              <a:t>killed!!!</a:t>
            </a:r>
          </a:p>
        </p:txBody>
      </p:sp>
      <p:sp>
        <p:nvSpPr>
          <p:cNvPr id="76806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00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B0F91F-0B2B-405F-B9FD-FAFD3FF8A3AF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Garamond" panose="02020404030301010803" pitchFamily="18" charset="0"/>
                <a:cs typeface="Arial" panose="020B0604020202020204" pitchFamily="34" charset="0"/>
              </a:rPr>
              <a:t>Memory allocation for Processes</a:t>
            </a:r>
          </a:p>
        </p:txBody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03350"/>
          </a:xfrm>
        </p:spPr>
        <p:txBody>
          <a:bodyPr/>
          <a:lstStyle/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If most of the processes grow as they run,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It is better to allocate a little extra memory for a process</a:t>
            </a:r>
          </a:p>
        </p:txBody>
      </p:sp>
      <p:grpSp>
        <p:nvGrpSpPr>
          <p:cNvPr id="849924" name="Group 4"/>
          <p:cNvGrpSpPr>
            <a:grpSpLocks/>
          </p:cNvGrpSpPr>
          <p:nvPr/>
        </p:nvGrpSpPr>
        <p:grpSpPr bwMode="auto">
          <a:xfrm>
            <a:off x="4114800" y="2619375"/>
            <a:ext cx="1158875" cy="3781425"/>
            <a:chOff x="3254" y="930"/>
            <a:chExt cx="730" cy="2382"/>
          </a:xfrm>
        </p:grpSpPr>
        <p:sp>
          <p:nvSpPr>
            <p:cNvPr id="78870" name="Rectangle 5"/>
            <p:cNvSpPr>
              <a:spLocks noChangeArrowheads="1"/>
            </p:cNvSpPr>
            <p:nvPr/>
          </p:nvSpPr>
          <p:spPr bwMode="auto">
            <a:xfrm>
              <a:off x="3254" y="930"/>
              <a:ext cx="720" cy="23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1" name="Line 6"/>
            <p:cNvSpPr>
              <a:spLocks noChangeShapeType="1"/>
            </p:cNvSpPr>
            <p:nvPr/>
          </p:nvSpPr>
          <p:spPr bwMode="auto">
            <a:xfrm>
              <a:off x="3254" y="2994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2" name="Text Box 7"/>
            <p:cNvSpPr txBox="1">
              <a:spLocks noChangeArrowheads="1"/>
            </p:cNvSpPr>
            <p:nvPr/>
          </p:nvSpPr>
          <p:spPr bwMode="auto">
            <a:xfrm>
              <a:off x="3254" y="294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78873" name="Line 8"/>
            <p:cNvSpPr>
              <a:spLocks noChangeShapeType="1"/>
            </p:cNvSpPr>
            <p:nvPr/>
          </p:nvSpPr>
          <p:spPr bwMode="auto">
            <a:xfrm flipH="1">
              <a:off x="3254" y="93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4" name="Line 9"/>
            <p:cNvSpPr>
              <a:spLocks noChangeShapeType="1"/>
            </p:cNvSpPr>
            <p:nvPr/>
          </p:nvSpPr>
          <p:spPr bwMode="auto">
            <a:xfrm flipH="1">
              <a:off x="3254" y="930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5" name="Line 10"/>
            <p:cNvSpPr>
              <a:spLocks noChangeShapeType="1"/>
            </p:cNvSpPr>
            <p:nvPr/>
          </p:nvSpPr>
          <p:spPr bwMode="auto">
            <a:xfrm flipH="1">
              <a:off x="3254" y="107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6" name="Line 11"/>
            <p:cNvSpPr>
              <a:spLocks noChangeShapeType="1"/>
            </p:cNvSpPr>
            <p:nvPr/>
          </p:nvSpPr>
          <p:spPr bwMode="auto">
            <a:xfrm flipH="1">
              <a:off x="3254" y="131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7" name="Line 12"/>
            <p:cNvSpPr>
              <a:spLocks noChangeShapeType="1"/>
            </p:cNvSpPr>
            <p:nvPr/>
          </p:nvSpPr>
          <p:spPr bwMode="auto">
            <a:xfrm flipH="1">
              <a:off x="3254" y="155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8" name="Line 13"/>
            <p:cNvSpPr>
              <a:spLocks noChangeShapeType="1"/>
            </p:cNvSpPr>
            <p:nvPr/>
          </p:nvSpPr>
          <p:spPr bwMode="auto">
            <a:xfrm flipH="1">
              <a:off x="3254" y="179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79" name="Line 14"/>
            <p:cNvSpPr>
              <a:spLocks noChangeShapeType="1"/>
            </p:cNvSpPr>
            <p:nvPr/>
          </p:nvSpPr>
          <p:spPr bwMode="auto">
            <a:xfrm flipH="1">
              <a:off x="3254" y="203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0" name="Line 15"/>
            <p:cNvSpPr>
              <a:spLocks noChangeShapeType="1"/>
            </p:cNvSpPr>
            <p:nvPr/>
          </p:nvSpPr>
          <p:spPr bwMode="auto">
            <a:xfrm flipH="1">
              <a:off x="3254" y="93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1" name="Line 16"/>
            <p:cNvSpPr>
              <a:spLocks noChangeShapeType="1"/>
            </p:cNvSpPr>
            <p:nvPr/>
          </p:nvSpPr>
          <p:spPr bwMode="auto">
            <a:xfrm flipH="1">
              <a:off x="3254" y="93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2" name="Line 17"/>
            <p:cNvSpPr>
              <a:spLocks noChangeShapeType="1"/>
            </p:cNvSpPr>
            <p:nvPr/>
          </p:nvSpPr>
          <p:spPr bwMode="auto">
            <a:xfrm flipH="1">
              <a:off x="3398" y="2274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3" name="Line 18"/>
            <p:cNvSpPr>
              <a:spLocks noChangeShapeType="1"/>
            </p:cNvSpPr>
            <p:nvPr/>
          </p:nvSpPr>
          <p:spPr bwMode="auto">
            <a:xfrm flipH="1">
              <a:off x="3590" y="2514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4" name="Line 19"/>
            <p:cNvSpPr>
              <a:spLocks noChangeShapeType="1"/>
            </p:cNvSpPr>
            <p:nvPr/>
          </p:nvSpPr>
          <p:spPr bwMode="auto">
            <a:xfrm flipH="1">
              <a:off x="3782" y="275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49940" name="Rectangle 20"/>
          <p:cNvSpPr>
            <a:spLocks noChangeArrowheads="1"/>
          </p:cNvSpPr>
          <p:nvPr/>
        </p:nvSpPr>
        <p:spPr bwMode="auto">
          <a:xfrm>
            <a:off x="4114800" y="4872038"/>
            <a:ext cx="1143000" cy="100488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849941" name="Rectangle 21"/>
          <p:cNvSpPr>
            <a:spLocks noChangeArrowheads="1"/>
          </p:cNvSpPr>
          <p:nvPr/>
        </p:nvSpPr>
        <p:spPr bwMode="auto">
          <a:xfrm>
            <a:off x="4114800" y="2590800"/>
            <a:ext cx="1143000" cy="1143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</a:t>
            </a:r>
          </a:p>
        </p:txBody>
      </p:sp>
      <p:sp>
        <p:nvSpPr>
          <p:cNvPr id="849942" name="Line 22"/>
          <p:cNvSpPr>
            <a:spLocks noChangeShapeType="1"/>
          </p:cNvSpPr>
          <p:nvPr/>
        </p:nvSpPr>
        <p:spPr bwMode="auto">
          <a:xfrm>
            <a:off x="4114800" y="53340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43" name="Line 23"/>
          <p:cNvSpPr>
            <a:spLocks noChangeShapeType="1"/>
          </p:cNvSpPr>
          <p:nvPr/>
        </p:nvSpPr>
        <p:spPr bwMode="auto">
          <a:xfrm>
            <a:off x="4114800" y="3124200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44" name="Line 24"/>
          <p:cNvSpPr>
            <a:spLocks noChangeShapeType="1"/>
          </p:cNvSpPr>
          <p:nvPr/>
        </p:nvSpPr>
        <p:spPr bwMode="auto">
          <a:xfrm flipV="1">
            <a:off x="46482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45" name="Line 25"/>
          <p:cNvSpPr>
            <a:spLocks noChangeShapeType="1"/>
          </p:cNvSpPr>
          <p:nvPr/>
        </p:nvSpPr>
        <p:spPr bwMode="auto">
          <a:xfrm flipV="1">
            <a:off x="4648200" y="2895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46" name="Text Box 26"/>
          <p:cNvSpPr txBox="1">
            <a:spLocks noChangeArrowheads="1"/>
          </p:cNvSpPr>
          <p:nvPr/>
        </p:nvSpPr>
        <p:spPr bwMode="auto">
          <a:xfrm>
            <a:off x="5410200" y="5334000"/>
            <a:ext cx="193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Actual in use</a:t>
            </a:r>
          </a:p>
        </p:txBody>
      </p:sp>
      <p:sp>
        <p:nvSpPr>
          <p:cNvPr id="849947" name="AutoShape 27"/>
          <p:cNvSpPr>
            <a:spLocks/>
          </p:cNvSpPr>
          <p:nvPr/>
        </p:nvSpPr>
        <p:spPr bwMode="auto">
          <a:xfrm>
            <a:off x="5334000" y="5334000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48" name="Text Box 28"/>
          <p:cNvSpPr txBox="1">
            <a:spLocks noChangeArrowheads="1"/>
          </p:cNvSpPr>
          <p:nvPr/>
        </p:nvSpPr>
        <p:spPr bwMode="auto">
          <a:xfrm>
            <a:off x="5410200" y="48006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Room for growth</a:t>
            </a:r>
          </a:p>
        </p:txBody>
      </p:sp>
      <p:sp>
        <p:nvSpPr>
          <p:cNvPr id="849949" name="AutoShape 29"/>
          <p:cNvSpPr>
            <a:spLocks/>
          </p:cNvSpPr>
          <p:nvPr/>
        </p:nvSpPr>
        <p:spPr bwMode="auto">
          <a:xfrm>
            <a:off x="5334000" y="4800600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50" name="Text Box 30"/>
          <p:cNvSpPr txBox="1">
            <a:spLocks noChangeArrowheads="1"/>
          </p:cNvSpPr>
          <p:nvPr/>
        </p:nvSpPr>
        <p:spPr bwMode="auto">
          <a:xfrm>
            <a:off x="5410200" y="3200400"/>
            <a:ext cx="193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Actual in use</a:t>
            </a:r>
          </a:p>
        </p:txBody>
      </p:sp>
      <p:sp>
        <p:nvSpPr>
          <p:cNvPr id="849951" name="AutoShape 31"/>
          <p:cNvSpPr>
            <a:spLocks/>
          </p:cNvSpPr>
          <p:nvPr/>
        </p:nvSpPr>
        <p:spPr bwMode="auto">
          <a:xfrm>
            <a:off x="5334000" y="3200400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52" name="Text Box 32"/>
          <p:cNvSpPr txBox="1">
            <a:spLocks noChangeArrowheads="1"/>
          </p:cNvSpPr>
          <p:nvPr/>
        </p:nvSpPr>
        <p:spPr bwMode="auto">
          <a:xfrm>
            <a:off x="5410200" y="26670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Room for growth</a:t>
            </a:r>
          </a:p>
        </p:txBody>
      </p:sp>
      <p:sp>
        <p:nvSpPr>
          <p:cNvPr id="849953" name="AutoShape 33"/>
          <p:cNvSpPr>
            <a:spLocks/>
          </p:cNvSpPr>
          <p:nvPr/>
        </p:nvSpPr>
        <p:spPr bwMode="auto">
          <a:xfrm>
            <a:off x="5334000" y="2667000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69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1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4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4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4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4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4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4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4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4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4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4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0" grpId="0" animBg="1"/>
      <p:bldP spid="849941" grpId="0" animBg="1"/>
      <p:bldP spid="849946" grpId="0"/>
      <p:bldP spid="849947" grpId="0" animBg="1"/>
      <p:bldP spid="849948" grpId="0"/>
      <p:bldP spid="849949" grpId="0" animBg="1"/>
      <p:bldP spid="849950" grpId="0"/>
      <p:bldP spid="849951" grpId="0" animBg="1"/>
      <p:bldP spid="849952" grpId="0"/>
      <p:bldP spid="84995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8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E3CB11-22D0-4A98-A81C-F9163EE65538}" type="slidenum">
              <a:rPr kumimoji="0" lang="en-GB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GB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latin typeface="Garamond" panose="02020404030301010803" pitchFamily="18" charset="0"/>
                <a:cs typeface="Arial" panose="020B0604020202020204" pitchFamily="34" charset="0"/>
              </a:rPr>
              <a:t>Memory allocation for Processes</a:t>
            </a: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049338"/>
            <a:ext cx="8272463" cy="168275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If processes have two growing segments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Data </a:t>
            </a:r>
          </a:p>
          <a:p>
            <a:pPr lvl="2" eaLnBrk="1" hangingPunct="1"/>
            <a:r>
              <a:rPr lang="en-US" altLang="en-US" sz="1800" smtClean="0">
                <a:cs typeface="Arial" panose="020B0604020202020204" pitchFamily="34" charset="0"/>
              </a:rPr>
              <a:t>(as heap for dynamically allocated variables)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851972" name="Text Box 4"/>
          <p:cNvSpPr txBox="1">
            <a:spLocks noChangeArrowheads="1"/>
          </p:cNvSpPr>
          <p:nvPr/>
        </p:nvSpPr>
        <p:spPr bwMode="auto">
          <a:xfrm>
            <a:off x="7086600" y="5102225"/>
            <a:ext cx="1701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Room for growth</a:t>
            </a:r>
          </a:p>
        </p:txBody>
      </p:sp>
      <p:sp>
        <p:nvSpPr>
          <p:cNvPr id="851973" name="Text Box 5"/>
          <p:cNvSpPr txBox="1">
            <a:spLocks noChangeArrowheads="1"/>
          </p:cNvSpPr>
          <p:nvPr/>
        </p:nvSpPr>
        <p:spPr bwMode="auto">
          <a:xfrm>
            <a:off x="7086600" y="2587625"/>
            <a:ext cx="1701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Room for growth</a:t>
            </a:r>
          </a:p>
        </p:txBody>
      </p:sp>
      <p:grpSp>
        <p:nvGrpSpPr>
          <p:cNvPr id="851974" name="Group 6"/>
          <p:cNvGrpSpPr>
            <a:grpSpLocks/>
          </p:cNvGrpSpPr>
          <p:nvPr/>
        </p:nvGrpSpPr>
        <p:grpSpPr bwMode="auto">
          <a:xfrm>
            <a:off x="5410200" y="2413000"/>
            <a:ext cx="1568450" cy="4184650"/>
            <a:chOff x="3254" y="930"/>
            <a:chExt cx="730" cy="2352"/>
          </a:xfrm>
        </p:grpSpPr>
        <p:sp>
          <p:nvSpPr>
            <p:cNvPr id="80921" name="Rectangle 7"/>
            <p:cNvSpPr>
              <a:spLocks noChangeArrowheads="1"/>
            </p:cNvSpPr>
            <p:nvPr/>
          </p:nvSpPr>
          <p:spPr bwMode="auto">
            <a:xfrm>
              <a:off x="3254" y="930"/>
              <a:ext cx="720" cy="23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2" name="Line 8"/>
            <p:cNvSpPr>
              <a:spLocks noChangeShapeType="1"/>
            </p:cNvSpPr>
            <p:nvPr/>
          </p:nvSpPr>
          <p:spPr bwMode="auto">
            <a:xfrm>
              <a:off x="3254" y="2994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3" name="Text Box 9"/>
            <p:cNvSpPr txBox="1">
              <a:spLocks noChangeArrowheads="1"/>
            </p:cNvSpPr>
            <p:nvPr/>
          </p:nvSpPr>
          <p:spPr bwMode="auto">
            <a:xfrm>
              <a:off x="3254" y="2946"/>
              <a:ext cx="730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Operating System</a:t>
              </a:r>
            </a:p>
          </p:txBody>
        </p:sp>
        <p:sp>
          <p:nvSpPr>
            <p:cNvPr id="80924" name="Line 10"/>
            <p:cNvSpPr>
              <a:spLocks noChangeShapeType="1"/>
            </p:cNvSpPr>
            <p:nvPr/>
          </p:nvSpPr>
          <p:spPr bwMode="auto">
            <a:xfrm flipH="1">
              <a:off x="3254" y="930"/>
              <a:ext cx="43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5" name="Line 11"/>
            <p:cNvSpPr>
              <a:spLocks noChangeShapeType="1"/>
            </p:cNvSpPr>
            <p:nvPr/>
          </p:nvSpPr>
          <p:spPr bwMode="auto">
            <a:xfrm flipH="1">
              <a:off x="3254" y="930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6" name="Line 12"/>
            <p:cNvSpPr>
              <a:spLocks noChangeShapeType="1"/>
            </p:cNvSpPr>
            <p:nvPr/>
          </p:nvSpPr>
          <p:spPr bwMode="auto">
            <a:xfrm flipH="1">
              <a:off x="3254" y="1074"/>
              <a:ext cx="720" cy="9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7" name="Line 13"/>
            <p:cNvSpPr>
              <a:spLocks noChangeShapeType="1"/>
            </p:cNvSpPr>
            <p:nvPr/>
          </p:nvSpPr>
          <p:spPr bwMode="auto">
            <a:xfrm flipH="1">
              <a:off x="3254" y="131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8" name="Line 14"/>
            <p:cNvSpPr>
              <a:spLocks noChangeShapeType="1"/>
            </p:cNvSpPr>
            <p:nvPr/>
          </p:nvSpPr>
          <p:spPr bwMode="auto">
            <a:xfrm flipH="1">
              <a:off x="3254" y="155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9" name="Line 15"/>
            <p:cNvSpPr>
              <a:spLocks noChangeShapeType="1"/>
            </p:cNvSpPr>
            <p:nvPr/>
          </p:nvSpPr>
          <p:spPr bwMode="auto">
            <a:xfrm flipH="1">
              <a:off x="3254" y="179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0" name="Line 16"/>
            <p:cNvSpPr>
              <a:spLocks noChangeShapeType="1"/>
            </p:cNvSpPr>
            <p:nvPr/>
          </p:nvSpPr>
          <p:spPr bwMode="auto">
            <a:xfrm flipH="1">
              <a:off x="3254" y="2034"/>
              <a:ext cx="72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1" name="Line 17"/>
            <p:cNvSpPr>
              <a:spLocks noChangeShapeType="1"/>
            </p:cNvSpPr>
            <p:nvPr/>
          </p:nvSpPr>
          <p:spPr bwMode="auto">
            <a:xfrm flipH="1">
              <a:off x="3254" y="930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2" name="Line 18"/>
            <p:cNvSpPr>
              <a:spLocks noChangeShapeType="1"/>
            </p:cNvSpPr>
            <p:nvPr/>
          </p:nvSpPr>
          <p:spPr bwMode="auto">
            <a:xfrm flipH="1">
              <a:off x="3254" y="930"/>
              <a:ext cx="4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3" name="Line 19"/>
            <p:cNvSpPr>
              <a:spLocks noChangeShapeType="1"/>
            </p:cNvSpPr>
            <p:nvPr/>
          </p:nvSpPr>
          <p:spPr bwMode="auto">
            <a:xfrm flipH="1">
              <a:off x="3398" y="2274"/>
              <a:ext cx="57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4" name="Line 20"/>
            <p:cNvSpPr>
              <a:spLocks noChangeShapeType="1"/>
            </p:cNvSpPr>
            <p:nvPr/>
          </p:nvSpPr>
          <p:spPr bwMode="auto">
            <a:xfrm flipH="1">
              <a:off x="3590" y="2514"/>
              <a:ext cx="383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35" name="Line 21"/>
            <p:cNvSpPr>
              <a:spLocks noChangeShapeType="1"/>
            </p:cNvSpPr>
            <p:nvPr/>
          </p:nvSpPr>
          <p:spPr bwMode="auto">
            <a:xfrm flipH="1">
              <a:off x="3782" y="2754"/>
              <a:ext cx="191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51990" name="Rectangle 22"/>
          <p:cNvSpPr>
            <a:spLocks noChangeArrowheads="1"/>
          </p:cNvSpPr>
          <p:nvPr/>
        </p:nvSpPr>
        <p:spPr bwMode="auto">
          <a:xfrm>
            <a:off x="5410200" y="4762500"/>
            <a:ext cx="1546225" cy="12811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A-Stack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A-Data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A-Program</a:t>
            </a:r>
            <a:endParaRPr kumimoji="0" lang="en-US" altLang="en-US" sz="16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1" name="Rectangle 23"/>
          <p:cNvSpPr>
            <a:spLocks noChangeArrowheads="1"/>
          </p:cNvSpPr>
          <p:nvPr/>
        </p:nvSpPr>
        <p:spPr bwMode="auto">
          <a:xfrm>
            <a:off x="5410200" y="2286000"/>
            <a:ext cx="1546225" cy="12811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B-Stack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B-Data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B-Program</a:t>
            </a:r>
          </a:p>
        </p:txBody>
      </p:sp>
      <p:sp>
        <p:nvSpPr>
          <p:cNvPr id="851992" name="Line 24"/>
          <p:cNvSpPr>
            <a:spLocks noChangeShapeType="1"/>
          </p:cNvSpPr>
          <p:nvPr/>
        </p:nvSpPr>
        <p:spPr bwMode="auto">
          <a:xfrm>
            <a:off x="5410200" y="2968625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3" name="AutoShape 25"/>
          <p:cNvSpPr>
            <a:spLocks/>
          </p:cNvSpPr>
          <p:nvPr/>
        </p:nvSpPr>
        <p:spPr bwMode="auto">
          <a:xfrm>
            <a:off x="7059613" y="2627313"/>
            <a:ext cx="103187" cy="341312"/>
          </a:xfrm>
          <a:prstGeom prst="rightBrace">
            <a:avLst>
              <a:gd name="adj1" fmla="val 2756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4" name="Line 26"/>
          <p:cNvSpPr>
            <a:spLocks noChangeShapeType="1"/>
          </p:cNvSpPr>
          <p:nvPr/>
        </p:nvSpPr>
        <p:spPr bwMode="auto">
          <a:xfrm>
            <a:off x="5410200" y="2627313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5" name="Line 27"/>
          <p:cNvSpPr>
            <a:spLocks noChangeShapeType="1"/>
          </p:cNvSpPr>
          <p:nvPr/>
        </p:nvSpPr>
        <p:spPr bwMode="auto">
          <a:xfrm>
            <a:off x="5410200" y="3225800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6" name="Line 28"/>
          <p:cNvSpPr>
            <a:spLocks noChangeShapeType="1"/>
          </p:cNvSpPr>
          <p:nvPr/>
        </p:nvSpPr>
        <p:spPr bwMode="auto">
          <a:xfrm>
            <a:off x="5410200" y="5445125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7" name="Line 29"/>
          <p:cNvSpPr>
            <a:spLocks noChangeShapeType="1"/>
          </p:cNvSpPr>
          <p:nvPr/>
        </p:nvSpPr>
        <p:spPr bwMode="auto">
          <a:xfrm>
            <a:off x="5410200" y="5103813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8" name="Line 30"/>
          <p:cNvSpPr>
            <a:spLocks noChangeShapeType="1"/>
          </p:cNvSpPr>
          <p:nvPr/>
        </p:nvSpPr>
        <p:spPr bwMode="auto">
          <a:xfrm>
            <a:off x="5410200" y="5702300"/>
            <a:ext cx="1546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1999" name="AutoShape 31"/>
          <p:cNvSpPr>
            <a:spLocks/>
          </p:cNvSpPr>
          <p:nvPr/>
        </p:nvSpPr>
        <p:spPr bwMode="auto">
          <a:xfrm>
            <a:off x="7059613" y="5103813"/>
            <a:ext cx="103187" cy="341312"/>
          </a:xfrm>
          <a:prstGeom prst="rightBrace">
            <a:avLst>
              <a:gd name="adj1" fmla="val 2756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en-US" sz="2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2000" name="Line 32"/>
          <p:cNvSpPr>
            <a:spLocks noChangeShapeType="1"/>
          </p:cNvSpPr>
          <p:nvPr/>
        </p:nvSpPr>
        <p:spPr bwMode="auto">
          <a:xfrm>
            <a:off x="6172200" y="2616200"/>
            <a:ext cx="0" cy="152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2001" name="Line 33"/>
          <p:cNvSpPr>
            <a:spLocks noChangeShapeType="1"/>
          </p:cNvSpPr>
          <p:nvPr/>
        </p:nvSpPr>
        <p:spPr bwMode="auto">
          <a:xfrm>
            <a:off x="6172200" y="2844800"/>
            <a:ext cx="0" cy="152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2002" name="Line 34"/>
          <p:cNvSpPr>
            <a:spLocks noChangeShapeType="1"/>
          </p:cNvSpPr>
          <p:nvPr/>
        </p:nvSpPr>
        <p:spPr bwMode="auto">
          <a:xfrm>
            <a:off x="6172200" y="5054600"/>
            <a:ext cx="0" cy="152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2003" name="Line 35"/>
          <p:cNvSpPr>
            <a:spLocks noChangeShapeType="1"/>
          </p:cNvSpPr>
          <p:nvPr/>
        </p:nvSpPr>
        <p:spPr bwMode="auto">
          <a:xfrm>
            <a:off x="6172200" y="5283200"/>
            <a:ext cx="0" cy="152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2004" name="Rectangle 36"/>
          <p:cNvSpPr>
            <a:spLocks noChangeArrowheads="1"/>
          </p:cNvSpPr>
          <p:nvPr/>
        </p:nvSpPr>
        <p:spPr bwMode="auto">
          <a:xfrm>
            <a:off x="393700" y="3113088"/>
            <a:ext cx="48260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The memory can be used by either of the two segments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If it runs out the process either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Has to be moved to a larger hole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Or swapped out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Or Killed</a:t>
            </a:r>
          </a:p>
        </p:txBody>
      </p:sp>
      <p:sp>
        <p:nvSpPr>
          <p:cNvPr id="80920" name="Date Placeholder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11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65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5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5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5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5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2" grpId="0"/>
      <p:bldP spid="851973" grpId="0"/>
      <p:bldP spid="851990" grpId="0" animBg="1"/>
      <p:bldP spid="851991" grpId="0" animBg="1"/>
      <p:bldP spid="851993" grpId="0" animBg="1"/>
      <p:bldP spid="851999" grpId="0" animBg="1"/>
      <p:bldP spid="852004" grpId="0" build="p" bldLvl="2"/>
    </p:bld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4_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Lecture6 (Number System)">
  <a:themeElements>
    <a:clrScheme name="Lecture6 (Number System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cture6 (Number System)">
      <a:majorFont>
        <a:latin typeface="Trebuchet MS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Lecture6 (Number System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6 (Number System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6 (Number System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23046</TotalTime>
  <Words>2331</Words>
  <Application>Microsoft Office PowerPoint</Application>
  <PresentationFormat>On-screen Show (4:3)</PresentationFormat>
  <Paragraphs>523</Paragraphs>
  <Slides>47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75" baseType="lpstr">
      <vt:lpstr>MS PGothic</vt:lpstr>
      <vt:lpstr>MS PGothic</vt:lpstr>
      <vt:lpstr>Yu Gothic</vt:lpstr>
      <vt:lpstr>Yu Gothic Light</vt:lpstr>
      <vt:lpstr>Arial</vt:lpstr>
      <vt:lpstr>Calibri</vt:lpstr>
      <vt:lpstr>Calibri Light</vt:lpstr>
      <vt:lpstr>Courier New</vt:lpstr>
      <vt:lpstr>Garamond</vt:lpstr>
      <vt:lpstr>Helvetica</vt:lpstr>
      <vt:lpstr>Monotype Sorts</vt:lpstr>
      <vt:lpstr>ＭＳ Ｐ明朝</vt:lpstr>
      <vt:lpstr>Tahoma</vt:lpstr>
      <vt:lpstr>Times New Roman</vt:lpstr>
      <vt:lpstr>Trebuchet MS</vt:lpstr>
      <vt:lpstr>Verdana</vt:lpstr>
      <vt:lpstr>Webdings</vt:lpstr>
      <vt:lpstr>Wingdings</vt:lpstr>
      <vt:lpstr>os-8</vt:lpstr>
      <vt:lpstr>2_os-8</vt:lpstr>
      <vt:lpstr>1_Lecture6 (Number System)</vt:lpstr>
      <vt:lpstr>2_Lecture6 (Number System)</vt:lpstr>
      <vt:lpstr>Office Theme</vt:lpstr>
      <vt:lpstr>3_Lecture6 (Number System)</vt:lpstr>
      <vt:lpstr>3_os-8</vt:lpstr>
      <vt:lpstr>4_Lecture6 (Number System)</vt:lpstr>
      <vt:lpstr>5_Lecture6 (Number System)</vt:lpstr>
      <vt:lpstr>Artwork</vt:lpstr>
      <vt:lpstr>PowerPoint Presentation</vt:lpstr>
      <vt:lpstr>Background</vt:lpstr>
      <vt:lpstr>Memory Manager</vt:lpstr>
      <vt:lpstr>Multistep Processing of a User Program </vt:lpstr>
      <vt:lpstr>Dynamic Loading</vt:lpstr>
      <vt:lpstr>Dynamic Linking</vt:lpstr>
      <vt:lpstr>Binding of Instructions and Data to Memory</vt:lpstr>
      <vt:lpstr>Address Binding</vt:lpstr>
      <vt:lpstr>Logical vs. Physical Address Space</vt:lpstr>
      <vt:lpstr>PowerPoint Presentation</vt:lpstr>
      <vt:lpstr>Logical vs. Physical Address Space</vt:lpstr>
      <vt:lpstr>Memory Management Requirements</vt:lpstr>
      <vt:lpstr>PowerPoint Presentation</vt:lpstr>
      <vt:lpstr>PowerPoint Presentation</vt:lpstr>
      <vt:lpstr>Relocation and Protection</vt:lpstr>
      <vt:lpstr>Relocation and Protection</vt:lpstr>
      <vt:lpstr>Relocation and Protection</vt:lpstr>
      <vt:lpstr>Requirements: Protection</vt:lpstr>
      <vt:lpstr>Relocation and protection - Solution</vt:lpstr>
      <vt:lpstr>Contiguous Memory Allocation</vt:lpstr>
      <vt:lpstr>Relocation and Protection</vt:lpstr>
      <vt:lpstr>Relocation and Protection</vt:lpstr>
      <vt:lpstr>Uni-programming</vt:lpstr>
      <vt:lpstr>Multi-programming systems</vt:lpstr>
      <vt:lpstr>Multi-programming systems</vt:lpstr>
      <vt:lpstr>Memory Management</vt:lpstr>
      <vt:lpstr> Fixed Partitioning</vt:lpstr>
      <vt:lpstr>Multiprogramming with Fixed Partitions</vt:lpstr>
      <vt:lpstr>PowerPoint Presentation</vt:lpstr>
      <vt:lpstr>PowerPoint Presentation</vt:lpstr>
      <vt:lpstr> Overlays in Memory Management </vt:lpstr>
      <vt:lpstr>Overlays Example</vt:lpstr>
      <vt:lpstr>Fixed Partitioning - Problem</vt:lpstr>
      <vt:lpstr>PowerPoint Presentation</vt:lpstr>
      <vt:lpstr>Dynamic-partition allocation </vt:lpstr>
      <vt:lpstr>Dynamic Storage-Allocation Problem</vt:lpstr>
      <vt:lpstr>Fragmentation</vt:lpstr>
      <vt:lpstr>Internal Fragmentation</vt:lpstr>
      <vt:lpstr>External Fragmentation</vt:lpstr>
      <vt:lpstr>Swapping</vt:lpstr>
      <vt:lpstr>Swapping</vt:lpstr>
      <vt:lpstr>Swapping</vt:lpstr>
      <vt:lpstr>PowerPoint Presentation</vt:lpstr>
      <vt:lpstr>Compaction</vt:lpstr>
      <vt:lpstr>Memory allocation for Processes</vt:lpstr>
      <vt:lpstr>Memory allocation for Processes</vt:lpstr>
      <vt:lpstr>Memory allocation for Processes</vt:lpstr>
    </vt:vector>
  </TitlesOfParts>
  <Company>University of Washington, Bothell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CSS430: Memory Management</dc:title>
  <dc:creator>Munehiro Fukuda</dc:creator>
  <cp:lastModifiedBy>BPL IT</cp:lastModifiedBy>
  <cp:revision>705</cp:revision>
  <cp:lastPrinted>1999-11-27T07:19:44Z</cp:lastPrinted>
  <dcterms:created xsi:type="dcterms:W3CDTF">2010-02-09T23:32:15Z</dcterms:created>
  <dcterms:modified xsi:type="dcterms:W3CDTF">2020-04-29T02:43:35Z</dcterms:modified>
</cp:coreProperties>
</file>