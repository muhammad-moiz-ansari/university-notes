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55"/>
  </p:notesMasterIdLst>
  <p:handoutMasterIdLst>
    <p:handoutMasterId r:id="rId56"/>
  </p:handoutMasterIdLst>
  <p:sldIdLst>
    <p:sldId id="282" r:id="rId2"/>
    <p:sldId id="324" r:id="rId3"/>
    <p:sldId id="322" r:id="rId4"/>
    <p:sldId id="325" r:id="rId5"/>
    <p:sldId id="368" r:id="rId6"/>
    <p:sldId id="326" r:id="rId7"/>
    <p:sldId id="331" r:id="rId8"/>
    <p:sldId id="361" r:id="rId9"/>
    <p:sldId id="332" r:id="rId10"/>
    <p:sldId id="362" r:id="rId11"/>
    <p:sldId id="378" r:id="rId12"/>
    <p:sldId id="379" r:id="rId13"/>
    <p:sldId id="333" r:id="rId14"/>
    <p:sldId id="334" r:id="rId15"/>
    <p:sldId id="391" r:id="rId16"/>
    <p:sldId id="335" r:id="rId17"/>
    <p:sldId id="336" r:id="rId18"/>
    <p:sldId id="337" r:id="rId19"/>
    <p:sldId id="363" r:id="rId20"/>
    <p:sldId id="338" r:id="rId21"/>
    <p:sldId id="339" r:id="rId22"/>
    <p:sldId id="340" r:id="rId23"/>
    <p:sldId id="341" r:id="rId24"/>
    <p:sldId id="364" r:id="rId25"/>
    <p:sldId id="365" r:id="rId26"/>
    <p:sldId id="342" r:id="rId27"/>
    <p:sldId id="343" r:id="rId28"/>
    <p:sldId id="344" r:id="rId29"/>
    <p:sldId id="366" r:id="rId30"/>
    <p:sldId id="389" r:id="rId31"/>
    <p:sldId id="345" r:id="rId32"/>
    <p:sldId id="380" r:id="rId33"/>
    <p:sldId id="346" r:id="rId34"/>
    <p:sldId id="381" r:id="rId35"/>
    <p:sldId id="348" r:id="rId36"/>
    <p:sldId id="349" r:id="rId37"/>
    <p:sldId id="351" r:id="rId38"/>
    <p:sldId id="352" r:id="rId39"/>
    <p:sldId id="382" r:id="rId40"/>
    <p:sldId id="353" r:id="rId41"/>
    <p:sldId id="390" r:id="rId42"/>
    <p:sldId id="383" r:id="rId43"/>
    <p:sldId id="369" r:id="rId44"/>
    <p:sldId id="371" r:id="rId45"/>
    <p:sldId id="388" r:id="rId46"/>
    <p:sldId id="387" r:id="rId47"/>
    <p:sldId id="386" r:id="rId48"/>
    <p:sldId id="372" r:id="rId49"/>
    <p:sldId id="385" r:id="rId50"/>
    <p:sldId id="384" r:id="rId51"/>
    <p:sldId id="373" r:id="rId52"/>
    <p:sldId id="374" r:id="rId53"/>
    <p:sldId id="367" r:id="rId54"/>
  </p:sldIdLst>
  <p:sldSz cx="9144000" cy="6858000" type="letter"/>
  <p:notesSz cx="6858000" cy="9144000"/>
  <p:defaultTextStyle>
    <a:defPPr>
      <a:defRPr lang="en-CA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677228"/>
    <a:srgbClr val="6E792B"/>
    <a:srgbClr val="76822E"/>
    <a:srgbClr val="4F571F"/>
    <a:srgbClr val="6F6A07"/>
    <a:srgbClr val="827C08"/>
    <a:srgbClr val="A29B0A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66" autoAdjust="0"/>
    <p:restoredTop sz="94660"/>
  </p:normalViewPr>
  <p:slideViewPr>
    <p:cSldViewPr snapToObjects="1">
      <p:cViewPr>
        <p:scale>
          <a:sx n="81" d="100"/>
          <a:sy n="81" d="100"/>
        </p:scale>
        <p:origin x="1026" y="-78"/>
      </p:cViewPr>
      <p:guideLst>
        <p:guide orient="horz" pos="19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12"/>
    </p:cViewPr>
  </p:sorterViewPr>
  <p:notesViewPr>
    <p:cSldViewPr snapToObjects="1">
      <p:cViewPr>
        <p:scale>
          <a:sx n="100" d="100"/>
          <a:sy n="100" d="100"/>
        </p:scale>
        <p:origin x="-780" y="21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anose="020B0604030504040204" pitchFamily="34" charset="0"/>
              </a:defRPr>
            </a:lvl1pPr>
          </a:lstStyle>
          <a:p>
            <a:endParaRPr lang="en-CA" altLang="en-US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endParaRPr lang="en-CA" altLang="en-US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anose="020B0604030504040204" pitchFamily="34" charset="0"/>
              </a:defRPr>
            </a:lvl1pPr>
          </a:lstStyle>
          <a:p>
            <a:endParaRPr lang="en-CA" altLang="en-US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fld id="{CDC292DF-4EF4-450C-890D-8BB72C253173}" type="slidenum">
              <a:rPr lang="en-CA" altLang="en-US"/>
              <a:pPr/>
              <a:t>‹#›</a:t>
            </a:fld>
            <a:endParaRPr lang="en-CA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anose="020B0604030504040204" pitchFamily="34" charset="0"/>
              </a:defRPr>
            </a:lvl1pPr>
          </a:lstStyle>
          <a:p>
            <a:endParaRPr lang="en-CA" altLang="en-US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endParaRPr lang="en-CA" altLang="en-US"/>
          </a:p>
        </p:txBody>
      </p:sp>
      <p:sp>
        <p:nvSpPr>
          <p:cNvPr id="61444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CA" altLang="en-US" smtClean="0"/>
              <a:t>Click to edit Master text styles</a:t>
            </a:r>
          </a:p>
          <a:p>
            <a:pPr lvl="1"/>
            <a:r>
              <a:rPr lang="en-CA" altLang="en-US" smtClean="0"/>
              <a:t>Second level</a:t>
            </a:r>
          </a:p>
          <a:p>
            <a:pPr lvl="2"/>
            <a:r>
              <a:rPr lang="en-CA" altLang="en-US" smtClean="0"/>
              <a:t>Third level</a:t>
            </a:r>
          </a:p>
          <a:p>
            <a:pPr lvl="3"/>
            <a:r>
              <a:rPr lang="en-CA" altLang="en-US" smtClean="0"/>
              <a:t>Fourth level</a:t>
            </a:r>
          </a:p>
          <a:p>
            <a:pPr lvl="4"/>
            <a:r>
              <a:rPr lang="en-CA" altLang="en-US" smtClean="0"/>
              <a:t>Fifth level</a:t>
            </a:r>
          </a:p>
        </p:txBody>
      </p:sp>
      <p:sp>
        <p:nvSpPr>
          <p:cNvPr id="614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ahoma" panose="020B0604030504040204" pitchFamily="34" charset="0"/>
              </a:defRPr>
            </a:lvl1pPr>
          </a:lstStyle>
          <a:p>
            <a:endParaRPr lang="en-CA" altLang="en-US"/>
          </a:p>
        </p:txBody>
      </p:sp>
      <p:sp>
        <p:nvSpPr>
          <p:cNvPr id="614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fld id="{244C4B9B-324F-4223-9CC5-6220D473AF0B}" type="slidenum">
              <a:rPr lang="en-CA" altLang="en-US"/>
              <a:pPr/>
              <a:t>‹#›</a:t>
            </a:fld>
            <a:endParaRPr lang="en-CA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2917FD0-781A-461D-ADB3-8618BD378BBA}" type="slidenum">
              <a:rPr lang="en-CA" altLang="en-US"/>
              <a:pPr/>
              <a:t>1</a:t>
            </a:fld>
            <a:endParaRPr lang="en-CA" altLang="en-US"/>
          </a:p>
        </p:txBody>
      </p:sp>
      <p:sp>
        <p:nvSpPr>
          <p:cNvPr id="51200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F69921F-32DC-4AC1-B616-BCDFAAD5F9F1}" type="slidenum">
              <a:rPr lang="en-CA" altLang="en-US"/>
              <a:pPr/>
              <a:t>2</a:t>
            </a:fld>
            <a:endParaRPr lang="en-CA" altLang="en-US"/>
          </a:p>
        </p:txBody>
      </p:sp>
      <p:sp>
        <p:nvSpPr>
          <p:cNvPr id="57446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4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115AD9-2AD9-42AB-83FD-F915FA27FCE3}" type="slidenum">
              <a:rPr lang="en-CA" altLang="en-US"/>
              <a:pPr/>
              <a:t>3</a:t>
            </a:fld>
            <a:endParaRPr lang="en-CA" altLang="en-US"/>
          </a:p>
        </p:txBody>
      </p:sp>
      <p:sp>
        <p:nvSpPr>
          <p:cNvPr id="56934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93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AC150D-732F-440B-8711-521FE227C9C9}" type="slidenum">
              <a:rPr lang="en-CA" altLang="en-US"/>
              <a:pPr/>
              <a:t>4</a:t>
            </a:fld>
            <a:endParaRPr lang="en-CA" altLang="en-US"/>
          </a:p>
        </p:txBody>
      </p:sp>
      <p:sp>
        <p:nvSpPr>
          <p:cNvPr id="57651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6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BBCF018-83A3-4944-AFF9-829BFAA6E80D}" type="slidenum">
              <a:rPr lang="en-CA" altLang="en-US"/>
              <a:pPr/>
              <a:t>5</a:t>
            </a:fld>
            <a:endParaRPr lang="en-CA" altLang="en-US"/>
          </a:p>
        </p:txBody>
      </p:sp>
      <p:sp>
        <p:nvSpPr>
          <p:cNvPr id="666626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662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0E0B92B-A50A-4A84-B646-3AF2778012E5}" type="slidenum">
              <a:rPr lang="en-CA" altLang="en-US"/>
              <a:pPr/>
              <a:t>6</a:t>
            </a:fld>
            <a:endParaRPr lang="en-CA" altLang="en-US"/>
          </a:p>
        </p:txBody>
      </p:sp>
      <p:sp>
        <p:nvSpPr>
          <p:cNvPr id="57856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85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561434-5F2C-417E-B64C-CB37CD3262CA}" type="slidenum">
              <a:rPr lang="en-CA" altLang="en-US"/>
              <a:pPr/>
              <a:t>7</a:t>
            </a:fld>
            <a:endParaRPr lang="en-CA" altLang="en-US"/>
          </a:p>
        </p:txBody>
      </p:sp>
      <p:sp>
        <p:nvSpPr>
          <p:cNvPr id="588802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880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C19D74-D08D-4EB7-9341-04347FD19F8E}" type="slidenum">
              <a:rPr lang="en-CA" altLang="en-US"/>
              <a:pPr/>
              <a:t>8</a:t>
            </a:fld>
            <a:endParaRPr lang="en-CA" altLang="en-US"/>
          </a:p>
        </p:txBody>
      </p:sp>
      <p:sp>
        <p:nvSpPr>
          <p:cNvPr id="65229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D18C30-6292-44B1-B266-9A3670E97A0A}" type="slidenum">
              <a:rPr lang="en-CA" altLang="en-US"/>
              <a:pPr/>
              <a:t>9</a:t>
            </a:fld>
            <a:endParaRPr lang="en-CA" altLang="en-US"/>
          </a:p>
        </p:txBody>
      </p:sp>
      <p:sp>
        <p:nvSpPr>
          <p:cNvPr id="590850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085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25BE57-936F-41D4-AC20-4A36DD721946}" type="slidenum">
              <a:rPr lang="en-CA" altLang="en-US"/>
              <a:pPr/>
              <a:t>10</a:t>
            </a:fld>
            <a:endParaRPr lang="en-CA" altLang="en-US"/>
          </a:p>
        </p:txBody>
      </p:sp>
      <p:sp>
        <p:nvSpPr>
          <p:cNvPr id="65433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E079D8-A8BD-41C2-A35A-9C04CBF92613}" type="slidenum">
              <a:rPr lang="en-CA" altLang="en-US"/>
              <a:pPr/>
              <a:t>13</a:t>
            </a:fld>
            <a:endParaRPr lang="en-CA" altLang="en-US"/>
          </a:p>
        </p:txBody>
      </p:sp>
      <p:sp>
        <p:nvSpPr>
          <p:cNvPr id="592898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289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247A50-A1E7-4DF5-8F14-647B6CAB0D13}" type="slidenum">
              <a:rPr lang="en-CA" altLang="en-US"/>
              <a:pPr/>
              <a:t>14</a:t>
            </a:fld>
            <a:endParaRPr lang="en-CA" altLang="en-US"/>
          </a:p>
        </p:txBody>
      </p:sp>
      <p:sp>
        <p:nvSpPr>
          <p:cNvPr id="59494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49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7BDDEE-9BDE-418B-B82B-9D9FA7E0D6D7}" type="slidenum">
              <a:rPr lang="en-CA" altLang="en-US"/>
              <a:pPr/>
              <a:t>16</a:t>
            </a:fld>
            <a:endParaRPr lang="en-CA" altLang="en-US"/>
          </a:p>
        </p:txBody>
      </p:sp>
      <p:sp>
        <p:nvSpPr>
          <p:cNvPr id="596994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6995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A4B1D85-26D4-42EA-AB6C-4E7CCB472EC5}" type="slidenum">
              <a:rPr lang="en-CA" altLang="en-US"/>
              <a:pPr/>
              <a:t>17</a:t>
            </a:fld>
            <a:endParaRPr lang="en-CA" altLang="en-US"/>
          </a:p>
        </p:txBody>
      </p:sp>
      <p:sp>
        <p:nvSpPr>
          <p:cNvPr id="59904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90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34CBF1-E56C-48FA-9A5E-3E0F9FBC4D79}" type="slidenum">
              <a:rPr lang="en-CA" altLang="en-US"/>
              <a:pPr/>
              <a:t>18</a:t>
            </a:fld>
            <a:endParaRPr lang="en-CA" altLang="en-US"/>
          </a:p>
        </p:txBody>
      </p:sp>
      <p:sp>
        <p:nvSpPr>
          <p:cNvPr id="601090" name="Rectangle 1026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1091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140FE81-9FC8-49AB-80B9-30E972DA4428}" type="slidenum">
              <a:rPr lang="en-CA" altLang="en-US"/>
              <a:pPr/>
              <a:t>19</a:t>
            </a:fld>
            <a:endParaRPr lang="en-CA" altLang="en-US"/>
          </a:p>
        </p:txBody>
      </p:sp>
      <p:sp>
        <p:nvSpPr>
          <p:cNvPr id="65638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34083CB-3C6E-455D-ABF8-2A3756768384}" type="slidenum">
              <a:rPr lang="en-CA" altLang="en-US"/>
              <a:pPr/>
              <a:t>20</a:t>
            </a:fld>
            <a:endParaRPr lang="en-CA" altLang="en-US"/>
          </a:p>
        </p:txBody>
      </p:sp>
      <p:sp>
        <p:nvSpPr>
          <p:cNvPr id="60313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31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2791830-7C93-4E70-9114-DCDDF0C2D457}" type="slidenum">
              <a:rPr lang="en-CA" altLang="en-US"/>
              <a:pPr/>
              <a:t>21</a:t>
            </a:fld>
            <a:endParaRPr lang="en-CA" altLang="en-US"/>
          </a:p>
        </p:txBody>
      </p:sp>
      <p:sp>
        <p:nvSpPr>
          <p:cNvPr id="60518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51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087A2F8-A8EA-4702-934D-F2AE16482C16}" type="slidenum">
              <a:rPr lang="en-CA" altLang="en-US"/>
              <a:pPr/>
              <a:t>22</a:t>
            </a:fld>
            <a:endParaRPr lang="en-CA" altLang="en-US"/>
          </a:p>
        </p:txBody>
      </p:sp>
      <p:sp>
        <p:nvSpPr>
          <p:cNvPr id="60723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72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CE02463-E612-45D8-836A-414DA185AD24}" type="slidenum">
              <a:rPr lang="en-CA" altLang="en-US"/>
              <a:pPr/>
              <a:t>23</a:t>
            </a:fld>
            <a:endParaRPr lang="en-CA" altLang="en-US"/>
          </a:p>
        </p:txBody>
      </p:sp>
      <p:sp>
        <p:nvSpPr>
          <p:cNvPr id="60928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92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495C084-435D-45E6-A37A-8F6858D1DD5F}" type="slidenum">
              <a:rPr lang="en-CA" altLang="en-US"/>
              <a:pPr/>
              <a:t>24</a:t>
            </a:fld>
            <a:endParaRPr lang="en-CA" altLang="en-US"/>
          </a:p>
        </p:txBody>
      </p:sp>
      <p:sp>
        <p:nvSpPr>
          <p:cNvPr id="65843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84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8E48AE-1DD1-440E-BEDB-3EA4AAA219BE}" type="slidenum">
              <a:rPr lang="en-CA" altLang="en-US"/>
              <a:pPr/>
              <a:t>25</a:t>
            </a:fld>
            <a:endParaRPr lang="en-CA" altLang="en-US"/>
          </a:p>
        </p:txBody>
      </p:sp>
      <p:sp>
        <p:nvSpPr>
          <p:cNvPr id="66048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BE704C-C250-449C-9199-74B11BE3C418}" type="slidenum">
              <a:rPr lang="en-CA" altLang="en-US"/>
              <a:pPr/>
              <a:t>26</a:t>
            </a:fld>
            <a:endParaRPr lang="en-CA" altLang="en-US"/>
          </a:p>
        </p:txBody>
      </p:sp>
      <p:sp>
        <p:nvSpPr>
          <p:cNvPr id="61133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13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9D73347-A6B9-4610-8097-43016C90A750}" type="slidenum">
              <a:rPr lang="en-CA" altLang="en-US"/>
              <a:pPr/>
              <a:t>27</a:t>
            </a:fld>
            <a:endParaRPr lang="en-CA" altLang="en-US"/>
          </a:p>
        </p:txBody>
      </p:sp>
      <p:sp>
        <p:nvSpPr>
          <p:cNvPr id="61337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3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5B5722-A691-4E03-B4FC-F2614AD9B199}" type="slidenum">
              <a:rPr lang="en-CA" altLang="en-US"/>
              <a:pPr/>
              <a:t>28</a:t>
            </a:fld>
            <a:endParaRPr lang="en-CA" altLang="en-US"/>
          </a:p>
        </p:txBody>
      </p:sp>
      <p:sp>
        <p:nvSpPr>
          <p:cNvPr id="61542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5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737D7B-B6A0-4CF8-A27A-D30C44F93283}" type="slidenum">
              <a:rPr lang="en-CA" altLang="en-US"/>
              <a:pPr/>
              <a:t>29</a:t>
            </a:fld>
            <a:endParaRPr lang="en-CA" altLang="en-US"/>
          </a:p>
        </p:txBody>
      </p:sp>
      <p:sp>
        <p:nvSpPr>
          <p:cNvPr id="66253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389CC0-E758-41D1-ADAE-D393FB8B53BD}" type="slidenum">
              <a:rPr lang="en-CA" altLang="en-US"/>
              <a:pPr/>
              <a:t>31</a:t>
            </a:fld>
            <a:endParaRPr lang="en-CA" altLang="en-US"/>
          </a:p>
        </p:txBody>
      </p:sp>
      <p:sp>
        <p:nvSpPr>
          <p:cNvPr id="61747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74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69FECD6-A5CA-43F4-A4CD-1F7D7C255BE1}" type="slidenum">
              <a:rPr lang="en-CA" altLang="en-US"/>
              <a:pPr/>
              <a:t>33</a:t>
            </a:fld>
            <a:endParaRPr lang="en-CA" altLang="en-US"/>
          </a:p>
        </p:txBody>
      </p:sp>
      <p:sp>
        <p:nvSpPr>
          <p:cNvPr id="61952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9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B4891BF-D3A7-4BA6-9FBE-C848FD49D66F}" type="slidenum">
              <a:rPr lang="en-CA" altLang="en-US"/>
              <a:pPr/>
              <a:t>35</a:t>
            </a:fld>
            <a:endParaRPr lang="en-CA" altLang="en-US"/>
          </a:p>
        </p:txBody>
      </p:sp>
      <p:sp>
        <p:nvSpPr>
          <p:cNvPr id="62361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3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49D4BC5-533D-47F7-9A80-AC3853E8FA40}" type="slidenum">
              <a:rPr lang="en-CA" altLang="en-US"/>
              <a:pPr/>
              <a:t>36</a:t>
            </a:fld>
            <a:endParaRPr lang="en-CA" altLang="en-US"/>
          </a:p>
        </p:txBody>
      </p:sp>
      <p:sp>
        <p:nvSpPr>
          <p:cNvPr id="62566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5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D8DE5D-A3D0-4D67-9957-EE05C746D852}" type="slidenum">
              <a:rPr lang="en-CA" altLang="en-US"/>
              <a:pPr/>
              <a:t>37</a:t>
            </a:fld>
            <a:endParaRPr lang="en-CA" altLang="en-US"/>
          </a:p>
        </p:txBody>
      </p:sp>
      <p:sp>
        <p:nvSpPr>
          <p:cNvPr id="62976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97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F3694A-8EB5-41FA-BDDF-683CDF81C177}" type="slidenum">
              <a:rPr lang="en-CA" altLang="en-US"/>
              <a:pPr/>
              <a:t>38</a:t>
            </a:fld>
            <a:endParaRPr lang="en-CA" altLang="en-US"/>
          </a:p>
        </p:txBody>
      </p:sp>
      <p:sp>
        <p:nvSpPr>
          <p:cNvPr id="63181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18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FD765AE-AB89-4F06-BDE2-57F939A36DBD}" type="slidenum">
              <a:rPr lang="en-CA" altLang="en-US"/>
              <a:pPr/>
              <a:t>40</a:t>
            </a:fld>
            <a:endParaRPr lang="en-CA" altLang="en-US"/>
          </a:p>
        </p:txBody>
      </p:sp>
      <p:sp>
        <p:nvSpPr>
          <p:cNvPr id="63385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3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8863639-DE23-44B8-B0FE-850CED1A1358}" type="slidenum">
              <a:rPr lang="en-CA" altLang="en-US"/>
              <a:pPr/>
              <a:t>41</a:t>
            </a:fld>
            <a:endParaRPr lang="en-CA" altLang="en-US"/>
          </a:p>
        </p:txBody>
      </p:sp>
      <p:sp>
        <p:nvSpPr>
          <p:cNvPr id="70451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45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8CCACA4-1986-4370-A254-5B35230D5853}" type="slidenum">
              <a:rPr lang="en-CA" altLang="en-US"/>
              <a:pPr/>
              <a:t>42</a:t>
            </a:fld>
            <a:endParaRPr lang="en-CA" altLang="en-US"/>
          </a:p>
        </p:txBody>
      </p:sp>
      <p:sp>
        <p:nvSpPr>
          <p:cNvPr id="69222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22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1C54D5-6380-4A75-809F-F464D702DAAE}" type="slidenum">
              <a:rPr lang="en-CA" altLang="en-US"/>
              <a:pPr/>
              <a:t>43</a:t>
            </a:fld>
            <a:endParaRPr lang="en-CA" altLang="en-US"/>
          </a:p>
        </p:txBody>
      </p:sp>
      <p:sp>
        <p:nvSpPr>
          <p:cNvPr id="66867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880769-2E1C-42AA-A5FF-D9D3FBC8F1DD}" type="slidenum">
              <a:rPr lang="en-CA" altLang="en-US"/>
              <a:pPr/>
              <a:t>44</a:t>
            </a:fld>
            <a:endParaRPr lang="en-CA" altLang="en-US"/>
          </a:p>
        </p:txBody>
      </p:sp>
      <p:sp>
        <p:nvSpPr>
          <p:cNvPr id="67277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22A914C-EA74-4D82-A6C4-2A9660681E88}" type="slidenum">
              <a:rPr lang="en-CA" altLang="en-US"/>
              <a:pPr/>
              <a:t>46</a:t>
            </a:fld>
            <a:endParaRPr lang="en-CA" altLang="en-US"/>
          </a:p>
        </p:txBody>
      </p:sp>
      <p:sp>
        <p:nvSpPr>
          <p:cNvPr id="70041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41A3791-B99C-407E-AA12-B88B0BB8664F}" type="slidenum">
              <a:rPr lang="en-CA" altLang="en-US"/>
              <a:pPr/>
              <a:t>47</a:t>
            </a:fld>
            <a:endParaRPr lang="en-CA" altLang="en-US"/>
          </a:p>
        </p:txBody>
      </p:sp>
      <p:sp>
        <p:nvSpPr>
          <p:cNvPr id="698370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83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D9058C8-C11E-443C-AD16-4BFEE5870B7C}" type="slidenum">
              <a:rPr lang="en-CA" altLang="en-US"/>
              <a:pPr/>
              <a:t>48</a:t>
            </a:fld>
            <a:endParaRPr lang="en-CA" altLang="en-US"/>
          </a:p>
        </p:txBody>
      </p:sp>
      <p:sp>
        <p:nvSpPr>
          <p:cNvPr id="67481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ECBAD28-90B0-4B23-9D98-19D32E312536}" type="slidenum">
              <a:rPr lang="en-CA" altLang="en-US"/>
              <a:pPr/>
              <a:t>49</a:t>
            </a:fld>
            <a:endParaRPr lang="en-CA" altLang="en-US"/>
          </a:p>
        </p:txBody>
      </p:sp>
      <p:sp>
        <p:nvSpPr>
          <p:cNvPr id="696322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A5A66D1-CB0C-4D0E-BC81-E00CC0A30D38}" type="slidenum">
              <a:rPr lang="en-CA" altLang="en-US"/>
              <a:pPr/>
              <a:t>50</a:t>
            </a:fld>
            <a:endParaRPr lang="en-CA" altLang="en-US"/>
          </a:p>
        </p:txBody>
      </p:sp>
      <p:sp>
        <p:nvSpPr>
          <p:cNvPr id="69427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42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C6EEA5-9897-4041-91FE-32CBECAE0D9E}" type="slidenum">
              <a:rPr lang="en-CA" altLang="en-US"/>
              <a:pPr/>
              <a:t>51</a:t>
            </a:fld>
            <a:endParaRPr lang="en-CA" altLang="en-US"/>
          </a:p>
        </p:txBody>
      </p:sp>
      <p:sp>
        <p:nvSpPr>
          <p:cNvPr id="676866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68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9DDCABC-4607-4321-8E80-493E524B2ABE}" type="slidenum">
              <a:rPr lang="en-CA" altLang="en-US"/>
              <a:pPr/>
              <a:t>52</a:t>
            </a:fld>
            <a:endParaRPr lang="en-CA" altLang="en-US"/>
          </a:p>
        </p:txBody>
      </p:sp>
      <p:sp>
        <p:nvSpPr>
          <p:cNvPr id="678914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89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DF6AF4-EB1D-41F9-A88D-9A95BD67910C}" type="slidenum">
              <a:rPr lang="en-CA" altLang="en-US"/>
              <a:pPr/>
              <a:t>53</a:t>
            </a:fld>
            <a:endParaRPr lang="en-CA" altLang="en-US"/>
          </a:p>
        </p:txBody>
      </p:sp>
      <p:sp>
        <p:nvSpPr>
          <p:cNvPr id="664578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0" name="Rectangle 44"/>
          <p:cNvSpPr>
            <a:spLocks noChangeArrowheads="1"/>
          </p:cNvSpPr>
          <p:nvPr/>
        </p:nvSpPr>
        <p:spPr bwMode="auto">
          <a:xfrm>
            <a:off x="8305800" y="0"/>
            <a:ext cx="609600" cy="6858000"/>
          </a:xfrm>
          <a:prstGeom prst="rect">
            <a:avLst/>
          </a:prstGeom>
          <a:gradFill rotWithShape="1">
            <a:gsLst>
              <a:gs pos="0">
                <a:srgbClr val="677228">
                  <a:alpha val="44000"/>
                </a:srgbClr>
              </a:gs>
              <a:gs pos="100000">
                <a:srgbClr val="677228">
                  <a:gamma/>
                  <a:shade val="87843"/>
                  <a:invGamma/>
                </a:srgb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43" name="Rectangle 47"/>
          <p:cNvSpPr>
            <a:spLocks noChangeArrowheads="1"/>
          </p:cNvSpPr>
          <p:nvPr userDrawn="1"/>
        </p:nvSpPr>
        <p:spPr bwMode="auto">
          <a:xfrm rot="-5400000">
            <a:off x="3500437" y="-985837"/>
            <a:ext cx="2143125" cy="9144000"/>
          </a:xfrm>
          <a:prstGeom prst="rect">
            <a:avLst/>
          </a:prstGeom>
          <a:solidFill>
            <a:srgbClr val="677228">
              <a:alpha val="44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44" name="Rectangle 48"/>
          <p:cNvSpPr>
            <a:spLocks noChangeArrowheads="1"/>
          </p:cNvSpPr>
          <p:nvPr userDrawn="1"/>
        </p:nvSpPr>
        <p:spPr bwMode="auto">
          <a:xfrm>
            <a:off x="7315200" y="2438400"/>
            <a:ext cx="1828800" cy="2290763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125" name="Rectangle 2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838200" y="6397625"/>
            <a:ext cx="44958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900"/>
            </a:lvl1pPr>
          </a:lstStyle>
          <a:p>
            <a:r>
              <a:rPr lang="en-US" altLang="en-US"/>
              <a:t>Copyright © 2007 Ramez Elmasri and Shamkant B. Navathe</a:t>
            </a:r>
          </a:p>
        </p:txBody>
      </p:sp>
      <p:sp>
        <p:nvSpPr>
          <p:cNvPr id="4126" name="Rectangle 30" descr="Pink tissue paper"/>
          <p:cNvSpPr>
            <a:spLocks noGrp="1" noChangeArrowheads="1"/>
          </p:cNvSpPr>
          <p:nvPr>
            <p:ph type="ctrTitle" sz="quarter"/>
          </p:nvPr>
        </p:nvSpPr>
        <p:spPr>
          <a:xfrm>
            <a:off x="228600" y="152400"/>
            <a:ext cx="7086600" cy="2286000"/>
          </a:xfrm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</a:extLst>
        </p:spPr>
        <p:txBody>
          <a:bodyPr wrap="none" anchor="ctr"/>
          <a:lstStyle>
            <a:lvl1pPr>
              <a:defRPr sz="6600">
                <a:solidFill>
                  <a:srgbClr val="990033"/>
                </a:solidFill>
              </a:defRPr>
            </a:lvl1pPr>
          </a:lstStyle>
          <a:p>
            <a:pPr lvl="0"/>
            <a:r>
              <a:rPr lang="en-US" altLang="en-US" noProof="0" smtClean="0"/>
              <a:t>Click to edit Master title style</a:t>
            </a:r>
          </a:p>
        </p:txBody>
      </p:sp>
      <p:pic>
        <p:nvPicPr>
          <p:cNvPr id="4131" name="Picture 35" descr="awtri_4c UPDATE_color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5949950"/>
            <a:ext cx="684213" cy="831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34" name="Rectangle 38" descr="Pink tissue paper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304800" y="2590800"/>
            <a:ext cx="6629400" cy="1905000"/>
          </a:xfrm>
          <a:extLst>
            <a:ext uri="{909E8E84-426E-40DD-AFC4-6F175D3DCCD1}">
              <a14:hiddenFill xmlns:a14="http://schemas.microsoft.com/office/drawing/2010/main">
                <a:blipFill dpi="0" rotWithShape="0">
                  <a:blip r:embed="rId2"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200"/>
            </a:lvl1pPr>
          </a:lstStyle>
          <a:p>
            <a:pPr lvl="0"/>
            <a:r>
              <a:rPr lang="en-US" altLang="en-US" noProof="0" smtClean="0"/>
              <a:t>Click to edit Master subtitle style</a:t>
            </a:r>
          </a:p>
        </p:txBody>
      </p:sp>
      <p:pic>
        <p:nvPicPr>
          <p:cNvPr id="4142" name="Picture 46" descr="elmasri_thumb"/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9975" y="2514600"/>
            <a:ext cx="17240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2- </a:t>
            </a:r>
            <a:fld id="{1E7A6AE0-2105-4F97-B622-3079EAF6A373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02525133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2- </a:t>
            </a:r>
            <a:fld id="{DD14864D-8779-4595-ADB6-9B0D2EC69947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466337443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9713" y="1600200"/>
            <a:ext cx="4070350" cy="45720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62463" y="1600200"/>
            <a:ext cx="4071937" cy="45720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2- </a:t>
            </a:r>
            <a:fld id="{B4C342D4-7337-49BC-B87F-4BA2505933A6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88069372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2- </a:t>
            </a:r>
            <a:fld id="{ABC162DF-DB46-4AC7-8AFE-D33F810EF519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49565258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2- </a:t>
            </a:r>
            <a:fld id="{503B5A5C-2917-4B11-8807-4ABD9AF30398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659579700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2- </a:t>
            </a:r>
            <a:fld id="{06A15D50-C059-45FC-A5FA-50DE52DCB2E3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231196924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2- </a:t>
            </a:r>
            <a:fld id="{20D4AA8F-2B56-40A1-91B2-425DAC5F1F06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4273057075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2- </a:t>
            </a:r>
            <a:fld id="{B9CD02AB-4B90-4846-8BF6-456B33DA6755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96541240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2- </a:t>
            </a:r>
            <a:fld id="{2D1776E3-A564-41DE-8380-8D32A28A27CD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428923244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57950" y="303213"/>
            <a:ext cx="2076450" cy="58689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303213"/>
            <a:ext cx="6076950" cy="586898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Slide 2- </a:t>
            </a:r>
            <a:fld id="{893D5C7C-5379-47C6-AD85-B8DCCDBC1F31}" type="slidenum">
              <a:rPr lang="en-US" altLang="en-US"/>
              <a:pPr/>
              <a:t>‹#›</a:t>
            </a:fld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41863610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7" name="Group 45"/>
          <p:cNvGrpSpPr>
            <a:grpSpLocks/>
          </p:cNvGrpSpPr>
          <p:nvPr userDrawn="1"/>
        </p:nvGrpSpPr>
        <p:grpSpPr bwMode="auto">
          <a:xfrm>
            <a:off x="8936038" y="1449388"/>
            <a:ext cx="207962" cy="5408612"/>
            <a:chOff x="5606" y="889"/>
            <a:chExt cx="154" cy="3431"/>
          </a:xfrm>
        </p:grpSpPr>
        <p:sp>
          <p:nvSpPr>
            <p:cNvPr id="3110" name="Rectangle 38"/>
            <p:cNvSpPr>
              <a:spLocks noChangeArrowheads="1"/>
            </p:cNvSpPr>
            <p:nvPr userDrawn="1"/>
          </p:nvSpPr>
          <p:spPr bwMode="gray"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FF9966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kumimoji="1" lang="en-US" altLang="en-US" sz="3200">
                <a:latin typeface="Tahoma" panose="020B0604030504040204" pitchFamily="34" charset="0"/>
              </a:endParaRPr>
            </a:p>
          </p:txBody>
        </p:sp>
        <p:grpSp>
          <p:nvGrpSpPr>
            <p:cNvPr id="3116" name="Group 44"/>
            <p:cNvGrpSpPr>
              <a:grpSpLocks/>
            </p:cNvGrpSpPr>
            <p:nvPr userDrawn="1"/>
          </p:nvGrpSpPr>
          <p:grpSpPr bwMode="auto"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3115" name="Rectangle 43"/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06" y="889"/>
                <a:ext cx="58" cy="343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/>
              <a:p>
                <a:pPr algn="ctr"/>
                <a:endParaRPr kumimoji="1" lang="en-US" altLang="en-US" sz="3200">
                  <a:latin typeface="Tahoma" panose="020B0604030504040204" pitchFamily="34" charset="0"/>
                </a:endParaRPr>
              </a:p>
            </p:txBody>
          </p:sp>
          <p:sp>
            <p:nvSpPr>
              <p:cNvPr id="3104" name="Rectangle 32"/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FF9966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rot="10800000" wrap="none" anchor="ctr"/>
              <a:lstStyle/>
              <a:p>
                <a:pPr algn="ctr"/>
                <a:endParaRPr kumimoji="1" lang="en-US" altLang="en-US" sz="3200">
                  <a:latin typeface="Tahoma" panose="020B0604030504040204" pitchFamily="34" charset="0"/>
                </a:endParaRPr>
              </a:p>
            </p:txBody>
          </p:sp>
        </p:grpSp>
      </p:grpSp>
      <p:sp>
        <p:nvSpPr>
          <p:cNvPr id="3109" name="Rectangle 37"/>
          <p:cNvSpPr>
            <a:spLocks noChangeArrowheads="1"/>
          </p:cNvSpPr>
          <p:nvPr userDrawn="1"/>
        </p:nvSpPr>
        <p:spPr bwMode="gray">
          <a:xfrm rot="16200000">
            <a:off x="3845719" y="-3845719"/>
            <a:ext cx="1449388" cy="9140825"/>
          </a:xfrm>
          <a:prstGeom prst="rect">
            <a:avLst/>
          </a:prstGeom>
          <a:solidFill>
            <a:srgbClr val="677228">
              <a:alpha val="36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FF99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/>
          <a:p>
            <a:pPr algn="ctr"/>
            <a:endParaRPr kumimoji="1" lang="en-US" altLang="en-US" sz="3200">
              <a:latin typeface="Tahoma" panose="020B0604030504040204" pitchFamily="34" charset="0"/>
            </a:endParaRPr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228600" y="303213"/>
            <a:ext cx="7796213" cy="992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308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 b="1">
                <a:solidFill>
                  <a:srgbClr val="990033"/>
                </a:solidFill>
              </a:defRPr>
            </a:lvl1pPr>
          </a:lstStyle>
          <a:p>
            <a:r>
              <a:rPr lang="en-US" altLang="en-US"/>
              <a:t>Slide 2- </a:t>
            </a:r>
            <a:fld id="{88B39E4B-9D2C-4094-BA85-E6438E75D09E}" type="slidenum">
              <a:rPr lang="en-US" altLang="en-US"/>
              <a:pPr/>
              <a:t>‹#›</a:t>
            </a:fld>
            <a:endParaRPr lang="en-CA" altLang="en-US"/>
          </a:p>
        </p:txBody>
      </p:sp>
      <p:sp>
        <p:nvSpPr>
          <p:cNvPr id="3093" name="Rectangle 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239713" y="1600200"/>
            <a:ext cx="8294687" cy="457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CC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3102" name="Rectangle 30"/>
          <p:cNvSpPr>
            <a:spLocks noChangeArrowheads="1"/>
          </p:cNvSpPr>
          <p:nvPr/>
        </p:nvSpPr>
        <p:spPr bwMode="auto">
          <a:xfrm>
            <a:off x="838200" y="6397625"/>
            <a:ext cx="4495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r>
              <a:rPr lang="en-US" altLang="en-US" sz="900"/>
              <a:t>Copyright © 2007 Ramez Elmasri and Shamkant B. Navathe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 spd="med"/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rgbClr val="800000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rgbClr val="990033"/>
        </a:buClr>
        <a:buSzPct val="60000"/>
        <a:buFont typeface="Wingdings" panose="05000000000000000000" pitchFamily="2" charset="2"/>
        <a:buChar char="n"/>
        <a:defRPr sz="2800" kern="1200">
          <a:solidFill>
            <a:schemeClr val="tx2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600" kern="1200">
          <a:solidFill>
            <a:srgbClr val="800000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000" kern="1200">
          <a:solidFill>
            <a:srgbClr val="800000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1CD12EA1-D59A-4C75-AD07-1734BE737F20}" type="slidenum">
              <a:rPr lang="en-US" altLang="en-US"/>
              <a:pPr/>
              <a:t>1</a:t>
            </a:fld>
            <a:endParaRPr lang="en-CA" altLang="en-US"/>
          </a:p>
        </p:txBody>
      </p:sp>
      <p:sp>
        <p:nvSpPr>
          <p:cNvPr id="412675" name="Rectangle 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412683" name="Picture 11" descr="Elmasri_cov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9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altLang="en-US"/>
              <a:t>Copyright © 2007 Ramez Elmasri and Shamkant B. Navathe</a:t>
            </a:r>
          </a:p>
        </p:txBody>
      </p:sp>
      <p:sp>
        <p:nvSpPr>
          <p:cNvPr id="573442" name="Rectangle 2" descr="Pink tissue paper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Chapter 2</a:t>
            </a:r>
          </a:p>
        </p:txBody>
      </p:sp>
      <p:sp>
        <p:nvSpPr>
          <p:cNvPr id="573443" name="Rectangle 3" descr="Pink tissue paper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Database System Concepts and Architecture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814880AB-C58F-41D5-83C7-6D20FE263A52}" type="slidenum">
              <a:rPr lang="en-US" altLang="en-US"/>
              <a:pPr/>
              <a:t>3</a:t>
            </a:fld>
            <a:endParaRPr lang="en-CA" altLang="en-US"/>
          </a:p>
        </p:txBody>
      </p:sp>
      <p:sp>
        <p:nvSpPr>
          <p:cNvPr id="56730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Outline</a:t>
            </a:r>
          </a:p>
        </p:txBody>
      </p:sp>
      <p:sp>
        <p:nvSpPr>
          <p:cNvPr id="56730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Data Models and Their Categories</a:t>
            </a:r>
          </a:p>
          <a:p>
            <a:pPr>
              <a:lnSpc>
                <a:spcPct val="90000"/>
              </a:lnSpc>
            </a:pPr>
            <a:r>
              <a:rPr lang="en-US" altLang="en-US"/>
              <a:t>History of Data Models</a:t>
            </a:r>
          </a:p>
          <a:p>
            <a:pPr>
              <a:lnSpc>
                <a:spcPct val="90000"/>
              </a:lnSpc>
            </a:pPr>
            <a:r>
              <a:rPr lang="en-US" altLang="en-US"/>
              <a:t>Schemas, Instances, and States</a:t>
            </a:r>
          </a:p>
          <a:p>
            <a:pPr>
              <a:lnSpc>
                <a:spcPct val="90000"/>
              </a:lnSpc>
            </a:pPr>
            <a:r>
              <a:rPr lang="en-US" altLang="en-US"/>
              <a:t>Three-Schema Architecture</a:t>
            </a:r>
          </a:p>
          <a:p>
            <a:pPr>
              <a:lnSpc>
                <a:spcPct val="90000"/>
              </a:lnSpc>
            </a:pPr>
            <a:r>
              <a:rPr lang="en-US" altLang="en-US"/>
              <a:t>Data Independence</a:t>
            </a:r>
          </a:p>
          <a:p>
            <a:pPr>
              <a:lnSpc>
                <a:spcPct val="90000"/>
              </a:lnSpc>
            </a:pPr>
            <a:r>
              <a:rPr lang="en-US" altLang="en-US"/>
              <a:t>DBMS Languages and Interfaces</a:t>
            </a:r>
          </a:p>
          <a:p>
            <a:pPr>
              <a:lnSpc>
                <a:spcPct val="90000"/>
              </a:lnSpc>
            </a:pPr>
            <a:r>
              <a:rPr lang="en-US" altLang="en-US"/>
              <a:t>Database System Utilities and Tools</a:t>
            </a:r>
          </a:p>
          <a:p>
            <a:pPr>
              <a:lnSpc>
                <a:spcPct val="90000"/>
              </a:lnSpc>
            </a:pPr>
            <a:r>
              <a:rPr lang="en-US" altLang="en-US"/>
              <a:t>Centralized and Client-Server Architectures</a:t>
            </a:r>
          </a:p>
          <a:p>
            <a:pPr>
              <a:lnSpc>
                <a:spcPct val="90000"/>
              </a:lnSpc>
            </a:pPr>
            <a:r>
              <a:rPr lang="en-US" altLang="en-US"/>
              <a:t>Classification of DBMSs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153456E5-0F45-4262-88E3-DE682584F519}" type="slidenum">
              <a:rPr lang="en-US" altLang="en-US"/>
              <a:pPr/>
              <a:t>4</a:t>
            </a:fld>
            <a:endParaRPr lang="en-CA" altLang="en-US"/>
          </a:p>
        </p:txBody>
      </p:sp>
      <p:sp>
        <p:nvSpPr>
          <p:cNvPr id="57549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Models</a:t>
            </a:r>
          </a:p>
        </p:txBody>
      </p:sp>
      <p:sp>
        <p:nvSpPr>
          <p:cNvPr id="57549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b="1" dirty="0"/>
              <a:t>Data Model:</a:t>
            </a:r>
          </a:p>
          <a:p>
            <a:pPr lvl="1"/>
            <a:r>
              <a:rPr lang="en-US" altLang="en-US" sz="2200" dirty="0"/>
              <a:t>A set of concepts to describe the </a:t>
            </a:r>
            <a:r>
              <a:rPr lang="en-US" altLang="en-US" sz="2200" b="1" i="1" dirty="0"/>
              <a:t>structure</a:t>
            </a:r>
            <a:r>
              <a:rPr lang="en-US" altLang="en-US" sz="2200" dirty="0"/>
              <a:t> of a database, the </a:t>
            </a:r>
            <a:r>
              <a:rPr lang="en-US" altLang="en-US" sz="2200" b="1" i="1" dirty="0"/>
              <a:t>operations </a:t>
            </a:r>
            <a:r>
              <a:rPr lang="en-US" altLang="en-US" sz="2200" dirty="0"/>
              <a:t>for manipulating these structures, and certain </a:t>
            </a:r>
            <a:r>
              <a:rPr lang="en-US" altLang="en-US" sz="2200" b="1" i="1" dirty="0"/>
              <a:t>constraints</a:t>
            </a:r>
            <a:r>
              <a:rPr lang="en-US" altLang="en-US" sz="2200" dirty="0"/>
              <a:t> that the database should obey.</a:t>
            </a:r>
          </a:p>
          <a:p>
            <a:r>
              <a:rPr lang="en-US" altLang="en-US" sz="2400" b="1" dirty="0"/>
              <a:t>Data Model Structure and Constraints:</a:t>
            </a:r>
          </a:p>
          <a:p>
            <a:pPr lvl="1"/>
            <a:r>
              <a:rPr lang="en-US" altLang="en-US" sz="2200" dirty="0"/>
              <a:t>Constructs are used to define the database structure</a:t>
            </a:r>
          </a:p>
          <a:p>
            <a:pPr lvl="1"/>
            <a:r>
              <a:rPr lang="en-US" altLang="en-US" sz="2200" b="1" dirty="0">
                <a:solidFill>
                  <a:srgbClr val="FF0000"/>
                </a:solidFill>
              </a:rPr>
              <a:t>Constructs</a:t>
            </a:r>
            <a:r>
              <a:rPr lang="en-US" altLang="en-US" sz="2200" dirty="0"/>
              <a:t> typically include </a:t>
            </a:r>
            <a:r>
              <a:rPr lang="en-US" altLang="en-US" sz="2200" b="1" i="1" dirty="0"/>
              <a:t>elements </a:t>
            </a:r>
            <a:r>
              <a:rPr lang="en-US" altLang="en-US" sz="2200" dirty="0"/>
              <a:t>(and their </a:t>
            </a:r>
            <a:r>
              <a:rPr lang="en-US" altLang="en-US" sz="2200" b="1" i="1" dirty="0"/>
              <a:t>data types</a:t>
            </a:r>
            <a:r>
              <a:rPr lang="en-US" altLang="en-US" sz="2200" dirty="0"/>
              <a:t>) as well as groups of elements (e.g. </a:t>
            </a:r>
            <a:r>
              <a:rPr lang="en-US" altLang="en-US" sz="2200" b="1" i="1" dirty="0"/>
              <a:t>entity, record, table</a:t>
            </a:r>
            <a:r>
              <a:rPr lang="en-US" altLang="en-US" sz="2200" dirty="0"/>
              <a:t>), and </a:t>
            </a:r>
            <a:r>
              <a:rPr lang="en-US" altLang="en-US" sz="2200" b="1" i="1" dirty="0"/>
              <a:t>relationships</a:t>
            </a:r>
            <a:r>
              <a:rPr lang="en-US" altLang="en-US" sz="2200" dirty="0"/>
              <a:t> among such groups</a:t>
            </a:r>
          </a:p>
          <a:p>
            <a:pPr lvl="1"/>
            <a:r>
              <a:rPr lang="en-US" altLang="en-US" sz="2200" b="1" dirty="0">
                <a:solidFill>
                  <a:srgbClr val="FF0000"/>
                </a:solidFill>
              </a:rPr>
              <a:t>Constraints</a:t>
            </a:r>
            <a:r>
              <a:rPr lang="en-US" altLang="en-US" sz="2200" dirty="0"/>
              <a:t> specify some restrictions on valid data; these constraints must be enforced at all times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58D995ED-5616-4B09-9AFF-68AD99291C9B}" type="slidenum">
              <a:rPr lang="en-US" altLang="en-US"/>
              <a:pPr/>
              <a:t>5</a:t>
            </a:fld>
            <a:endParaRPr lang="en-CA" altLang="en-US"/>
          </a:p>
        </p:txBody>
      </p:sp>
      <p:sp>
        <p:nvSpPr>
          <p:cNvPr id="66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Models (continued)</a:t>
            </a:r>
          </a:p>
        </p:txBody>
      </p:sp>
      <p:sp>
        <p:nvSpPr>
          <p:cNvPr id="66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 dirty="0"/>
              <a:t>Data Model Operations:</a:t>
            </a:r>
          </a:p>
          <a:p>
            <a:pPr lvl="1"/>
            <a:r>
              <a:rPr lang="en-US" altLang="en-US" dirty="0"/>
              <a:t>These operations are used for specifying database </a:t>
            </a:r>
            <a:r>
              <a:rPr lang="en-US" altLang="en-US" b="1" i="1" dirty="0">
                <a:solidFill>
                  <a:srgbClr val="FF0000"/>
                </a:solidFill>
              </a:rPr>
              <a:t>retrievals</a:t>
            </a:r>
            <a:r>
              <a:rPr lang="en-US" altLang="en-US" b="1" dirty="0">
                <a:solidFill>
                  <a:srgbClr val="FF0000"/>
                </a:solidFill>
              </a:rPr>
              <a:t> and </a:t>
            </a:r>
            <a:r>
              <a:rPr lang="en-US" altLang="en-US" b="1" i="1" dirty="0">
                <a:solidFill>
                  <a:srgbClr val="FF0000"/>
                </a:solidFill>
              </a:rPr>
              <a:t>updates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by referring to the constructs of the data model.</a:t>
            </a:r>
          </a:p>
          <a:p>
            <a:pPr lvl="1"/>
            <a:r>
              <a:rPr lang="en-US" altLang="en-US" dirty="0"/>
              <a:t>Operations on the data model may include </a:t>
            </a:r>
            <a:r>
              <a:rPr lang="en-US" altLang="en-US" b="1" i="1" dirty="0">
                <a:solidFill>
                  <a:srgbClr val="FF0000"/>
                </a:solidFill>
              </a:rPr>
              <a:t>basic model operations</a:t>
            </a:r>
            <a:r>
              <a:rPr lang="en-US" altLang="en-US" b="1" i="1" dirty="0"/>
              <a:t> </a:t>
            </a:r>
            <a:r>
              <a:rPr lang="en-US" altLang="en-US" dirty="0"/>
              <a:t>(e.g. generic insert, delete, update) and</a:t>
            </a:r>
            <a:r>
              <a:rPr lang="en-US" altLang="en-US" b="1" i="1" dirty="0"/>
              <a:t> </a:t>
            </a:r>
            <a:r>
              <a:rPr lang="en-US" altLang="en-US" b="1" i="1" dirty="0">
                <a:solidFill>
                  <a:srgbClr val="FF0000"/>
                </a:solidFill>
              </a:rPr>
              <a:t>user-defined operations</a:t>
            </a:r>
            <a:r>
              <a:rPr lang="en-US" altLang="en-US" b="1" i="1" dirty="0"/>
              <a:t> </a:t>
            </a:r>
            <a:r>
              <a:rPr lang="en-US" altLang="en-US" dirty="0"/>
              <a:t>(e.g. </a:t>
            </a:r>
            <a:r>
              <a:rPr lang="en-US" altLang="en-US" dirty="0" err="1"/>
              <a:t>compute_student_gpa</a:t>
            </a:r>
            <a:r>
              <a:rPr lang="en-US" altLang="en-US" dirty="0"/>
              <a:t>, </a:t>
            </a:r>
            <a:r>
              <a:rPr lang="en-US" altLang="en-US" dirty="0" err="1"/>
              <a:t>update_inventory</a:t>
            </a:r>
            <a:r>
              <a:rPr lang="en-US" altLang="en-US" dirty="0"/>
              <a:t>)</a:t>
            </a:r>
            <a:endParaRPr lang="en-US" altLang="en-US" b="1" i="1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F09B8893-1FC3-424D-A1B8-565F70D3E862}" type="slidenum">
              <a:rPr lang="en-US" altLang="en-US"/>
              <a:pPr/>
              <a:t>6</a:t>
            </a:fld>
            <a:endParaRPr lang="en-CA" altLang="en-US"/>
          </a:p>
        </p:txBody>
      </p:sp>
      <p:sp>
        <p:nvSpPr>
          <p:cNvPr id="57754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Categories of Data Models</a:t>
            </a:r>
          </a:p>
        </p:txBody>
      </p:sp>
      <p:sp>
        <p:nvSpPr>
          <p:cNvPr id="57754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 b="1"/>
              <a:t>Conceptual (high-level, semantic) data models:</a:t>
            </a:r>
          </a:p>
          <a:p>
            <a:pPr lvl="1">
              <a:lnSpc>
                <a:spcPct val="90000"/>
              </a:lnSpc>
            </a:pPr>
            <a:r>
              <a:rPr lang="en-US" altLang="en-US" sz="2200"/>
              <a:t>Provide concepts that are close to the way many users perceive data. </a:t>
            </a:r>
          </a:p>
          <a:p>
            <a:pPr lvl="2">
              <a:lnSpc>
                <a:spcPct val="90000"/>
              </a:lnSpc>
            </a:pPr>
            <a:r>
              <a:rPr lang="en-US" altLang="en-US" sz="2000"/>
              <a:t>(Also called </a:t>
            </a:r>
            <a:r>
              <a:rPr lang="en-US" altLang="en-US" sz="2000" b="1" i="1"/>
              <a:t>entity-based</a:t>
            </a:r>
            <a:r>
              <a:rPr lang="en-US" altLang="en-US" sz="2000" i="1"/>
              <a:t> </a:t>
            </a:r>
            <a:r>
              <a:rPr lang="en-US" altLang="en-US" sz="2000"/>
              <a:t>or</a:t>
            </a:r>
            <a:r>
              <a:rPr lang="en-US" altLang="en-US" sz="2000" i="1"/>
              <a:t> </a:t>
            </a:r>
            <a:r>
              <a:rPr lang="en-US" altLang="en-US" sz="2000" b="1" i="1"/>
              <a:t>object-based</a:t>
            </a:r>
            <a:r>
              <a:rPr lang="en-US" altLang="en-US" sz="2000"/>
              <a:t> data models.)</a:t>
            </a:r>
          </a:p>
          <a:p>
            <a:pPr>
              <a:lnSpc>
                <a:spcPct val="90000"/>
              </a:lnSpc>
            </a:pPr>
            <a:r>
              <a:rPr lang="en-US" altLang="en-US" sz="2400" b="1"/>
              <a:t>Physical (low-level, internal) data models:</a:t>
            </a:r>
          </a:p>
          <a:p>
            <a:pPr lvl="1">
              <a:lnSpc>
                <a:spcPct val="90000"/>
              </a:lnSpc>
            </a:pPr>
            <a:r>
              <a:rPr lang="en-US" altLang="en-US" sz="2200"/>
              <a:t>Provide concepts that describe details of how data is stored in the computer. These are usually specified in an ad-hoc manner through DBMS design and administration manuals</a:t>
            </a:r>
          </a:p>
          <a:p>
            <a:pPr>
              <a:lnSpc>
                <a:spcPct val="90000"/>
              </a:lnSpc>
            </a:pPr>
            <a:r>
              <a:rPr lang="en-US" altLang="en-US" sz="2400" b="1"/>
              <a:t>Implementation (representational) data models:</a:t>
            </a:r>
          </a:p>
          <a:p>
            <a:pPr lvl="1">
              <a:lnSpc>
                <a:spcPct val="90000"/>
              </a:lnSpc>
            </a:pPr>
            <a:r>
              <a:rPr lang="en-US" altLang="en-US" sz="2200"/>
              <a:t>Provide concepts that fall between the above two, used by many commercial DBMS implementations (e.g. relational data models used in many commercial systems).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B1252626-8844-40D7-9260-8B5BA5784A93}" type="slidenum">
              <a:rPr lang="en-US" altLang="en-US"/>
              <a:pPr/>
              <a:t>7</a:t>
            </a:fld>
            <a:endParaRPr lang="en-CA" altLang="en-US"/>
          </a:p>
        </p:txBody>
      </p:sp>
      <p:sp>
        <p:nvSpPr>
          <p:cNvPr id="5877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Schemas versus Instances</a:t>
            </a:r>
          </a:p>
        </p:txBody>
      </p:sp>
      <p:sp>
        <p:nvSpPr>
          <p:cNvPr id="58778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Database Schema: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The </a:t>
            </a:r>
            <a:r>
              <a:rPr lang="en-US" altLang="en-US" b="1" i="1" dirty="0">
                <a:solidFill>
                  <a:srgbClr val="FF0000"/>
                </a:solidFill>
              </a:rPr>
              <a:t>description</a:t>
            </a:r>
            <a:r>
              <a:rPr lang="en-US" altLang="en-US" dirty="0"/>
              <a:t> of a database.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Includes descriptions of the database structure, data types, and the constraints on the database.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Schema Diagram: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An </a:t>
            </a:r>
            <a:r>
              <a:rPr lang="en-US" altLang="en-US" b="1" i="1" dirty="0">
                <a:solidFill>
                  <a:srgbClr val="FF0000"/>
                </a:solidFill>
              </a:rPr>
              <a:t>illustrative</a:t>
            </a:r>
            <a:r>
              <a:rPr lang="en-US" altLang="en-US" dirty="0"/>
              <a:t> display of (most aspects of) a database schema.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Schema Construct: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A </a:t>
            </a:r>
            <a:r>
              <a:rPr lang="en-US" altLang="en-US" b="1" i="1" dirty="0">
                <a:solidFill>
                  <a:srgbClr val="FF0000"/>
                </a:solidFill>
              </a:rPr>
              <a:t>component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of the schema or an object within the schema, e.g., STUDENT, COURSE.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2B45EE4E-6403-4332-9EBB-7E0EEB86A07B}" type="slidenum">
              <a:rPr lang="en-US" altLang="en-US"/>
              <a:pPr/>
              <a:t>8</a:t>
            </a:fld>
            <a:endParaRPr lang="en-CA" altLang="en-US"/>
          </a:p>
        </p:txBody>
      </p:sp>
      <p:sp>
        <p:nvSpPr>
          <p:cNvPr id="65126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Schemas versus Instances</a:t>
            </a:r>
          </a:p>
        </p:txBody>
      </p:sp>
      <p:sp>
        <p:nvSpPr>
          <p:cNvPr id="65126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Database State:</a:t>
            </a:r>
          </a:p>
          <a:p>
            <a:pPr lvl="1"/>
            <a:r>
              <a:rPr lang="en-US" altLang="en-US" dirty="0"/>
              <a:t>The actual data stored in a database at a </a:t>
            </a:r>
            <a:r>
              <a:rPr lang="en-US" altLang="en-US" b="1" i="1" dirty="0">
                <a:solidFill>
                  <a:srgbClr val="FF0000"/>
                </a:solidFill>
              </a:rPr>
              <a:t>particular moment in time</a:t>
            </a:r>
            <a:r>
              <a:rPr lang="en-US" altLang="en-US" dirty="0"/>
              <a:t>. This includes the collection of all the data in the database.</a:t>
            </a:r>
          </a:p>
          <a:p>
            <a:pPr lvl="1"/>
            <a:r>
              <a:rPr lang="en-US" altLang="en-US" dirty="0"/>
              <a:t>Also called database instance (or occurrence or snapshot).</a:t>
            </a:r>
          </a:p>
          <a:p>
            <a:pPr lvl="2"/>
            <a:r>
              <a:rPr lang="en-US" altLang="en-US" dirty="0"/>
              <a:t>The term </a:t>
            </a:r>
            <a:r>
              <a:rPr lang="en-US" altLang="en-US" i="1" dirty="0"/>
              <a:t>instance </a:t>
            </a:r>
            <a:r>
              <a:rPr lang="en-US" altLang="en-US" dirty="0"/>
              <a:t> is also applied to individual database components, e.g. </a:t>
            </a:r>
            <a:r>
              <a:rPr lang="en-US" altLang="en-US" i="1" dirty="0"/>
              <a:t>record instance, table instance, entity instance</a:t>
            </a:r>
            <a:endParaRPr lang="en-US" altLang="en-US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1AAE54AC-0122-4AE8-83A8-001000935C93}" type="slidenum">
              <a:rPr lang="en-US" altLang="en-US"/>
              <a:pPr/>
              <a:t>9</a:t>
            </a:fld>
            <a:endParaRPr lang="en-CA" altLang="en-US"/>
          </a:p>
        </p:txBody>
      </p:sp>
      <p:sp>
        <p:nvSpPr>
          <p:cNvPr id="58982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Database Schema </a:t>
            </a:r>
            <a:br>
              <a:rPr lang="en-US" altLang="en-US"/>
            </a:br>
            <a:r>
              <a:rPr lang="en-US" altLang="en-US"/>
              <a:t>vs. Database State</a:t>
            </a:r>
          </a:p>
        </p:txBody>
      </p:sp>
      <p:sp>
        <p:nvSpPr>
          <p:cNvPr id="58982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Database State: </a:t>
            </a:r>
          </a:p>
          <a:p>
            <a:pPr lvl="1"/>
            <a:r>
              <a:rPr lang="en-US" altLang="en-US" dirty="0"/>
              <a:t>Refers to the </a:t>
            </a:r>
            <a:r>
              <a:rPr lang="en-US" altLang="en-US" b="1" i="1" dirty="0">
                <a:solidFill>
                  <a:srgbClr val="FF0000"/>
                </a:solidFill>
              </a:rPr>
              <a:t>content</a:t>
            </a:r>
            <a:r>
              <a:rPr lang="en-US" altLang="en-US" dirty="0"/>
              <a:t> of a database at a moment in time.</a:t>
            </a:r>
          </a:p>
          <a:p>
            <a:r>
              <a:rPr lang="en-US" altLang="en-US" dirty="0"/>
              <a:t>Initial Database State:</a:t>
            </a:r>
          </a:p>
          <a:p>
            <a:pPr lvl="1"/>
            <a:r>
              <a:rPr lang="en-US" altLang="en-US" dirty="0"/>
              <a:t>Refers to the database state when it is initially loaded into the system.</a:t>
            </a:r>
          </a:p>
          <a:p>
            <a:r>
              <a:rPr lang="en-US" altLang="en-US" dirty="0"/>
              <a:t>Valid State:</a:t>
            </a:r>
          </a:p>
          <a:p>
            <a:pPr lvl="1"/>
            <a:r>
              <a:rPr lang="en-US" altLang="en-US" dirty="0"/>
              <a:t>A state that satisfies the structure and constraints of the database.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85BE38BE-FDC3-43DD-A62D-668A083C0BD9}" type="slidenum">
              <a:rPr lang="en-US" altLang="en-US"/>
              <a:pPr/>
              <a:t>10</a:t>
            </a:fld>
            <a:endParaRPr lang="en-CA" altLang="en-US"/>
          </a:p>
        </p:txBody>
      </p:sp>
      <p:sp>
        <p:nvSpPr>
          <p:cNvPr id="6533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Database Schema </a:t>
            </a:r>
            <a:br>
              <a:rPr lang="en-US" altLang="en-US"/>
            </a:br>
            <a:r>
              <a:rPr lang="en-US" altLang="en-US"/>
              <a:t>vs. Database State (continued)</a:t>
            </a:r>
          </a:p>
        </p:txBody>
      </p:sp>
      <p:sp>
        <p:nvSpPr>
          <p:cNvPr id="65331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Distinction</a:t>
            </a:r>
          </a:p>
          <a:p>
            <a:pPr lvl="1"/>
            <a:r>
              <a:rPr lang="en-US" altLang="en-US" dirty="0"/>
              <a:t>The </a:t>
            </a:r>
            <a:r>
              <a:rPr lang="en-US" altLang="en-US" b="1" i="1" dirty="0">
                <a:solidFill>
                  <a:srgbClr val="FF0000"/>
                </a:solidFill>
              </a:rPr>
              <a:t>database schema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changes very </a:t>
            </a:r>
            <a:r>
              <a:rPr lang="en-US" altLang="en-US" dirty="0">
                <a:solidFill>
                  <a:srgbClr val="FF33CC"/>
                </a:solidFill>
              </a:rPr>
              <a:t>infrequently</a:t>
            </a:r>
            <a:r>
              <a:rPr lang="en-US" altLang="en-US" dirty="0"/>
              <a:t>. </a:t>
            </a:r>
          </a:p>
          <a:p>
            <a:pPr lvl="1"/>
            <a:r>
              <a:rPr lang="en-US" altLang="en-US" dirty="0"/>
              <a:t>The </a:t>
            </a:r>
            <a:r>
              <a:rPr lang="en-US" altLang="en-US" b="1" i="1" dirty="0">
                <a:solidFill>
                  <a:srgbClr val="FF0000"/>
                </a:solidFill>
              </a:rPr>
              <a:t>database state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/>
              <a:t>changes </a:t>
            </a:r>
            <a:r>
              <a:rPr lang="en-US" altLang="en-US" dirty="0">
                <a:solidFill>
                  <a:srgbClr val="FF33CC"/>
                </a:solidFill>
              </a:rPr>
              <a:t>every time </a:t>
            </a:r>
            <a:r>
              <a:rPr lang="en-US" altLang="en-US" dirty="0"/>
              <a:t>the database is updated. </a:t>
            </a:r>
          </a:p>
          <a:p>
            <a:pPr lvl="1"/>
            <a:endParaRPr lang="en-US" altLang="en-US" dirty="0"/>
          </a:p>
          <a:p>
            <a:r>
              <a:rPr lang="en-US" altLang="en-US" b="1" dirty="0"/>
              <a:t>Schema</a:t>
            </a:r>
            <a:r>
              <a:rPr lang="en-US" altLang="en-US" dirty="0"/>
              <a:t> is also called </a:t>
            </a: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</a:rPr>
              <a:t>intension</a:t>
            </a:r>
            <a:r>
              <a:rPr lang="en-US" altLang="en-US" dirty="0"/>
              <a:t>.</a:t>
            </a:r>
          </a:p>
          <a:p>
            <a:r>
              <a:rPr lang="en-US" altLang="en-US" b="1" dirty="0"/>
              <a:t>State</a:t>
            </a:r>
            <a:r>
              <a:rPr lang="en-US" altLang="en-US" dirty="0"/>
              <a:t> is also called </a:t>
            </a:r>
            <a:r>
              <a:rPr lang="en-US" altLang="en-US" b="1" dirty="0">
                <a:solidFill>
                  <a:srgbClr val="00B050"/>
                </a:solidFill>
              </a:rPr>
              <a:t>extension</a:t>
            </a:r>
            <a:r>
              <a:rPr lang="en-US" altLang="en-US" dirty="0"/>
              <a:t>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7B97DD48-A7F3-4E4B-984F-E148CF843DF8}" type="slidenum">
              <a:rPr lang="en-US" altLang="en-US"/>
              <a:pPr/>
              <a:t>11</a:t>
            </a:fld>
            <a:endParaRPr lang="en-CA" altLang="en-US"/>
          </a:p>
        </p:txBody>
      </p:sp>
      <p:sp>
        <p:nvSpPr>
          <p:cNvPr id="68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a Database Schema</a:t>
            </a:r>
          </a:p>
        </p:txBody>
      </p:sp>
      <p:pic>
        <p:nvPicPr>
          <p:cNvPr id="686086" name="Picture 6" descr="fig02_0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05000"/>
            <a:ext cx="7772400" cy="4203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0D5E4C0E-8FA6-41D5-BB91-E29E70FB7FD3}" type="slidenum">
              <a:rPr lang="en-US" altLang="en-US"/>
              <a:pPr/>
              <a:t>12</a:t>
            </a:fld>
            <a:endParaRPr lang="en-CA" altLang="en-US"/>
          </a:p>
        </p:txBody>
      </p:sp>
      <p:sp>
        <p:nvSpPr>
          <p:cNvPr id="68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a database state</a:t>
            </a:r>
          </a:p>
        </p:txBody>
      </p:sp>
      <p:pic>
        <p:nvPicPr>
          <p:cNvPr id="687108" name="Picture 4" descr="fig01_0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3425" y="1492250"/>
            <a:ext cx="4397375" cy="5060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8C877697-CAFF-4D19-B843-0C15C5D6DF68}" type="slidenum">
              <a:rPr lang="en-US" altLang="en-US"/>
              <a:pPr/>
              <a:t>13</a:t>
            </a:fld>
            <a:endParaRPr lang="en-CA" altLang="en-US"/>
          </a:p>
        </p:txBody>
      </p:sp>
      <p:sp>
        <p:nvSpPr>
          <p:cNvPr id="59187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Three-Schema Architecture</a:t>
            </a:r>
          </a:p>
        </p:txBody>
      </p:sp>
      <p:sp>
        <p:nvSpPr>
          <p:cNvPr id="59187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Proposed to support DBMS characteristics of:</a:t>
            </a:r>
          </a:p>
          <a:p>
            <a:pPr lvl="1"/>
            <a:r>
              <a:rPr lang="en-US" altLang="en-US" b="1"/>
              <a:t>Program-data independence.</a:t>
            </a:r>
          </a:p>
          <a:p>
            <a:pPr lvl="1"/>
            <a:r>
              <a:rPr lang="en-US" altLang="en-US"/>
              <a:t>Support of </a:t>
            </a:r>
            <a:r>
              <a:rPr lang="en-US" altLang="en-US" b="1"/>
              <a:t>multiple views</a:t>
            </a:r>
            <a:r>
              <a:rPr lang="en-US" altLang="en-US"/>
              <a:t> of the data.</a:t>
            </a:r>
          </a:p>
          <a:p>
            <a:r>
              <a:rPr lang="en-US" altLang="en-US"/>
              <a:t>Not explicitly used in commercial DBMS products, but has been useful in explaining database system organization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78FD8E92-6125-4634-819F-3FF8DAFBE175}" type="slidenum">
              <a:rPr lang="en-US" altLang="en-US"/>
              <a:pPr/>
              <a:t>14</a:t>
            </a:fld>
            <a:endParaRPr lang="en-CA" altLang="en-US"/>
          </a:p>
        </p:txBody>
      </p:sp>
      <p:sp>
        <p:nvSpPr>
          <p:cNvPr id="59392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Three-Schema Architecture</a:t>
            </a:r>
          </a:p>
        </p:txBody>
      </p:sp>
      <p:sp>
        <p:nvSpPr>
          <p:cNvPr id="59392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/>
              <a:t>Defines DBMS schemas at </a:t>
            </a:r>
            <a:r>
              <a:rPr lang="en-US" altLang="en-US" sz="2400" b="1" i="1" dirty="0"/>
              <a:t>three</a:t>
            </a:r>
            <a:r>
              <a:rPr lang="en-US" altLang="en-US" sz="2400" dirty="0"/>
              <a:t> levels:</a:t>
            </a:r>
          </a:p>
          <a:p>
            <a:pPr lvl="1"/>
            <a:r>
              <a:rPr lang="en-US" altLang="en-US" sz="2200" b="1" dirty="0">
                <a:solidFill>
                  <a:srgbClr val="FF0000"/>
                </a:solidFill>
              </a:rPr>
              <a:t>Internal schema</a:t>
            </a:r>
            <a:r>
              <a:rPr lang="en-US" altLang="en-US" sz="2200" dirty="0">
                <a:solidFill>
                  <a:srgbClr val="FF0000"/>
                </a:solidFill>
              </a:rPr>
              <a:t> </a:t>
            </a:r>
            <a:r>
              <a:rPr lang="en-US" altLang="en-US" sz="2200" dirty="0"/>
              <a:t>at the internal level to describe physical storage structures and access paths (</a:t>
            </a:r>
            <a:r>
              <a:rPr lang="en-US" altLang="en-US" sz="2200" dirty="0" err="1"/>
              <a:t>e.g</a:t>
            </a:r>
            <a:r>
              <a:rPr lang="en-US" altLang="en-US" sz="2200" dirty="0"/>
              <a:t> indexes). </a:t>
            </a:r>
          </a:p>
          <a:p>
            <a:pPr lvl="2"/>
            <a:r>
              <a:rPr lang="en-US" altLang="en-US" sz="2000" dirty="0"/>
              <a:t>Typically uses a </a:t>
            </a:r>
            <a:r>
              <a:rPr lang="en-US" altLang="en-US" sz="2000" b="1" dirty="0"/>
              <a:t>physical</a:t>
            </a:r>
            <a:r>
              <a:rPr lang="en-US" altLang="en-US" sz="2000" dirty="0"/>
              <a:t> data model.</a:t>
            </a:r>
          </a:p>
          <a:p>
            <a:pPr lvl="1"/>
            <a:r>
              <a:rPr lang="en-US" altLang="en-US" sz="2200" b="1" dirty="0">
                <a:solidFill>
                  <a:srgbClr val="FF0000"/>
                </a:solidFill>
              </a:rPr>
              <a:t>Conceptual schema</a:t>
            </a:r>
            <a:r>
              <a:rPr lang="en-US" altLang="en-US" sz="2200" dirty="0">
                <a:solidFill>
                  <a:srgbClr val="FF0000"/>
                </a:solidFill>
              </a:rPr>
              <a:t> </a:t>
            </a:r>
            <a:r>
              <a:rPr lang="en-US" altLang="en-US" sz="2200" dirty="0"/>
              <a:t>at the conceptual level to describe the structure and constraints for the whole database for a community of users. </a:t>
            </a:r>
          </a:p>
          <a:p>
            <a:pPr lvl="2"/>
            <a:r>
              <a:rPr lang="en-US" altLang="en-US" sz="2000" dirty="0"/>
              <a:t>Uses a </a:t>
            </a:r>
            <a:r>
              <a:rPr lang="en-US" altLang="en-US" sz="2000" b="1" dirty="0"/>
              <a:t>conceptual</a:t>
            </a:r>
            <a:r>
              <a:rPr lang="en-US" altLang="en-US" sz="2000" dirty="0"/>
              <a:t> or an </a:t>
            </a:r>
            <a:r>
              <a:rPr lang="en-US" altLang="en-US" sz="2000" b="1" dirty="0"/>
              <a:t>implementation</a:t>
            </a:r>
            <a:r>
              <a:rPr lang="en-US" altLang="en-US" sz="2000" dirty="0"/>
              <a:t> data model.</a:t>
            </a:r>
          </a:p>
          <a:p>
            <a:pPr lvl="1"/>
            <a:r>
              <a:rPr lang="en-US" altLang="en-US" sz="2200" b="1" dirty="0">
                <a:solidFill>
                  <a:srgbClr val="FF0000"/>
                </a:solidFill>
              </a:rPr>
              <a:t>External schemas</a:t>
            </a:r>
            <a:r>
              <a:rPr lang="en-US" altLang="en-US" sz="2200" dirty="0">
                <a:solidFill>
                  <a:srgbClr val="FF0000"/>
                </a:solidFill>
              </a:rPr>
              <a:t> </a:t>
            </a:r>
            <a:r>
              <a:rPr lang="en-US" altLang="en-US" sz="2200" dirty="0"/>
              <a:t>at the external level to describe the various user views. </a:t>
            </a:r>
          </a:p>
          <a:p>
            <a:pPr lvl="2"/>
            <a:r>
              <a:rPr lang="en-US" altLang="en-US" sz="2000" dirty="0"/>
              <a:t>Usually uses the same data model as the conceptual schema.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859C8FAF-D03D-4B4E-989C-FAD2EFBD49AE}" type="slidenum">
              <a:rPr lang="en-US" altLang="en-US"/>
              <a:pPr/>
              <a:t>15</a:t>
            </a:fld>
            <a:endParaRPr lang="en-CA" altLang="en-US"/>
          </a:p>
        </p:txBody>
      </p:sp>
      <p:sp>
        <p:nvSpPr>
          <p:cNvPr id="70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The three-schema architecture</a:t>
            </a:r>
          </a:p>
        </p:txBody>
      </p:sp>
      <p:pic>
        <p:nvPicPr>
          <p:cNvPr id="705540" name="Picture 4" descr="fig02_0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13" y="1762125"/>
            <a:ext cx="7010400" cy="448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D33AD5AB-DB09-40D6-99FB-33523D99AFFB}" type="slidenum">
              <a:rPr lang="en-US" altLang="en-US"/>
              <a:pPr/>
              <a:t>16</a:t>
            </a:fld>
            <a:endParaRPr lang="en-CA" altLang="en-US"/>
          </a:p>
        </p:txBody>
      </p:sp>
      <p:sp>
        <p:nvSpPr>
          <p:cNvPr id="59597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Three-Schema Architecture</a:t>
            </a:r>
          </a:p>
        </p:txBody>
      </p:sp>
      <p:sp>
        <p:nvSpPr>
          <p:cNvPr id="59597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Mappings among schema levels are needed to transform requests and data. 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</a:rPr>
              <a:t>Programs refer to an external schema</a:t>
            </a:r>
            <a:r>
              <a:rPr lang="en-US" altLang="en-US" dirty="0"/>
              <a:t>, </a:t>
            </a:r>
            <a:r>
              <a:rPr lang="en-US" altLang="en-US" dirty="0">
                <a:solidFill>
                  <a:schemeClr val="accent5">
                    <a:lumMod val="50000"/>
                  </a:schemeClr>
                </a:solidFill>
              </a:rPr>
              <a:t>and are mapped by the DBMS to the internal schema for execution.</a:t>
            </a:r>
          </a:p>
          <a:p>
            <a:pPr lvl="1"/>
            <a:r>
              <a:rPr lang="en-US" altLang="en-US" dirty="0">
                <a:solidFill>
                  <a:srgbClr val="7030A0"/>
                </a:solidFill>
              </a:rPr>
              <a:t>Data extracted from the internal DBMS level is reformatted to match the user’s external view </a:t>
            </a:r>
            <a:r>
              <a:rPr lang="en-US" altLang="en-US" dirty="0"/>
              <a:t>(e.g. formatting the results of an SQL query for display in a Web page)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F0670B2E-323B-4E1D-B7C6-912E31A1B71D}" type="slidenum">
              <a:rPr lang="en-US" altLang="en-US"/>
              <a:pPr/>
              <a:t>17</a:t>
            </a:fld>
            <a:endParaRPr lang="en-CA" altLang="en-US"/>
          </a:p>
        </p:txBody>
      </p:sp>
      <p:sp>
        <p:nvSpPr>
          <p:cNvPr id="59802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Independence</a:t>
            </a:r>
          </a:p>
        </p:txBody>
      </p:sp>
      <p:sp>
        <p:nvSpPr>
          <p:cNvPr id="59802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/>
              <a:t>Logical Data Independence: 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The capacity to change the conceptual schema </a:t>
            </a:r>
            <a:r>
              <a:rPr lang="en-US" altLang="en-US" dirty="0"/>
              <a:t>without having to change the external schemas and their associated application programs.</a:t>
            </a:r>
          </a:p>
          <a:p>
            <a:pPr>
              <a:lnSpc>
                <a:spcPct val="90000"/>
              </a:lnSpc>
            </a:pPr>
            <a:r>
              <a:rPr lang="en-US" altLang="en-US" b="1" dirty="0"/>
              <a:t>Physical Data Independence: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olidFill>
                  <a:srgbClr val="FF0000"/>
                </a:solidFill>
              </a:rPr>
              <a:t>The capacity to change the internal schema </a:t>
            </a:r>
            <a:r>
              <a:rPr lang="en-US" altLang="en-US" dirty="0"/>
              <a:t>without having to change the conceptual schema.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For example, the internal schema may be changed when certain file structures are reorganized or new indexes are created to improve database performance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3750C33E-8FF3-4286-A1B5-40CC06B2C263}" type="slidenum">
              <a:rPr lang="en-US" altLang="en-US"/>
              <a:pPr/>
              <a:t>18</a:t>
            </a:fld>
            <a:endParaRPr lang="en-CA" altLang="en-US"/>
          </a:p>
        </p:txBody>
      </p:sp>
      <p:sp>
        <p:nvSpPr>
          <p:cNvPr id="60006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 Independence (continued)</a:t>
            </a:r>
          </a:p>
        </p:txBody>
      </p:sp>
      <p:sp>
        <p:nvSpPr>
          <p:cNvPr id="60006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When a schema at a lower level is changed, only the </a:t>
            </a:r>
            <a:r>
              <a:rPr lang="en-US" altLang="en-US" b="1"/>
              <a:t>mappings</a:t>
            </a:r>
            <a:r>
              <a:rPr lang="en-US" altLang="en-US"/>
              <a:t> between this schema and higher-level schemas need to be changed in a DBMS that fully supports data independence.</a:t>
            </a:r>
          </a:p>
          <a:p>
            <a:r>
              <a:rPr lang="en-US" altLang="en-US"/>
              <a:t>The higher-level schemas themselves are </a:t>
            </a:r>
            <a:r>
              <a:rPr lang="en-US" altLang="en-US" b="1"/>
              <a:t>unchanged</a:t>
            </a:r>
            <a:r>
              <a:rPr lang="en-US" altLang="en-US"/>
              <a:t>.</a:t>
            </a:r>
          </a:p>
          <a:p>
            <a:pPr lvl="1"/>
            <a:r>
              <a:rPr lang="en-US" altLang="en-US"/>
              <a:t>Hence, the application programs need not be changed since they refer to the external schemas.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B735B388-895F-4812-9E17-513A9EBC3A8C}" type="slidenum">
              <a:rPr lang="en-US" altLang="en-US"/>
              <a:pPr/>
              <a:t>19</a:t>
            </a:fld>
            <a:endParaRPr lang="en-CA" altLang="en-US"/>
          </a:p>
        </p:txBody>
      </p:sp>
      <p:sp>
        <p:nvSpPr>
          <p:cNvPr id="65536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DBMS Languages</a:t>
            </a:r>
          </a:p>
        </p:txBody>
      </p:sp>
      <p:sp>
        <p:nvSpPr>
          <p:cNvPr id="65536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Data Definition Language (DDL)</a:t>
            </a:r>
          </a:p>
          <a:p>
            <a:r>
              <a:rPr lang="en-US" altLang="en-US"/>
              <a:t>Data Manipulation Language (DML)</a:t>
            </a:r>
          </a:p>
          <a:p>
            <a:pPr lvl="1"/>
            <a:r>
              <a:rPr lang="en-US" altLang="en-US"/>
              <a:t>High-Level or Non-procedural Languages: These include the relational language SQL</a:t>
            </a:r>
          </a:p>
          <a:p>
            <a:pPr lvl="2"/>
            <a:r>
              <a:rPr lang="en-US" altLang="en-US"/>
              <a:t>May be used in a standalone way or may be embedded in a programming language</a:t>
            </a:r>
          </a:p>
          <a:p>
            <a:pPr lvl="1"/>
            <a:r>
              <a:rPr lang="en-US" altLang="en-US"/>
              <a:t>Low Level or Procedural Languages:</a:t>
            </a:r>
          </a:p>
          <a:p>
            <a:pPr lvl="2"/>
            <a:r>
              <a:rPr lang="en-US" altLang="en-US"/>
              <a:t>These must be embedded in a programming language</a:t>
            </a:r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4690F827-FFE9-47B7-BDB8-BA7E99C0DB0B}" type="slidenum">
              <a:rPr lang="en-US" altLang="en-US"/>
              <a:pPr/>
              <a:t>20</a:t>
            </a:fld>
            <a:endParaRPr lang="en-CA" altLang="en-US"/>
          </a:p>
        </p:txBody>
      </p:sp>
      <p:sp>
        <p:nvSpPr>
          <p:cNvPr id="60211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DBMS Languages</a:t>
            </a:r>
          </a:p>
        </p:txBody>
      </p:sp>
      <p:sp>
        <p:nvSpPr>
          <p:cNvPr id="60211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/>
              <a:t>Data Definition Language (DDL): 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Used by the DBA and database designers to specify the conceptual schema of a database.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In many DBMSs, the DDL is also used to define internal and external schemas (views).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In some DBMSs, separate </a:t>
            </a:r>
            <a:r>
              <a:rPr lang="en-US" altLang="en-US" b="1"/>
              <a:t>storage definition language (SDL) </a:t>
            </a:r>
            <a:r>
              <a:rPr lang="en-US" altLang="en-US"/>
              <a:t>and</a:t>
            </a:r>
            <a:r>
              <a:rPr lang="en-US" altLang="en-US" b="1"/>
              <a:t> view definition language (VDL)</a:t>
            </a:r>
            <a:r>
              <a:rPr lang="en-US" altLang="en-US"/>
              <a:t> are used to define internal and external schemas.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SDL is typically realized via DBMS commands provided to the DBA and database designers</a:t>
            </a:r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A0EFF380-CB9F-4A1A-A337-E347AF0EDD71}" type="slidenum">
              <a:rPr lang="en-US" altLang="en-US"/>
              <a:pPr/>
              <a:t>21</a:t>
            </a:fld>
            <a:endParaRPr lang="en-CA" altLang="en-US"/>
          </a:p>
        </p:txBody>
      </p:sp>
      <p:sp>
        <p:nvSpPr>
          <p:cNvPr id="60416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DBMS Languages</a:t>
            </a:r>
          </a:p>
        </p:txBody>
      </p:sp>
      <p:sp>
        <p:nvSpPr>
          <p:cNvPr id="60416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Data Manipulation Language (DML):</a:t>
            </a:r>
            <a:endParaRPr lang="en-US" altLang="en-US"/>
          </a:p>
          <a:p>
            <a:pPr lvl="1"/>
            <a:r>
              <a:rPr lang="en-US" altLang="en-US"/>
              <a:t>Used to specify database retrievals and updates</a:t>
            </a:r>
          </a:p>
          <a:p>
            <a:pPr lvl="1"/>
            <a:r>
              <a:rPr lang="en-US" altLang="en-US"/>
              <a:t>DML commands (data sublanguage) can be </a:t>
            </a:r>
            <a:r>
              <a:rPr lang="en-US" altLang="en-US" i="1"/>
              <a:t>embedded</a:t>
            </a:r>
            <a:r>
              <a:rPr lang="en-US" altLang="en-US"/>
              <a:t> in a general-purpose programming language (host language), such as COBOL, C, C++, or Java.</a:t>
            </a:r>
          </a:p>
          <a:p>
            <a:pPr lvl="2"/>
            <a:r>
              <a:rPr lang="en-US" altLang="en-US"/>
              <a:t>A library of functions can also be provided to access the DBMS from a programming language</a:t>
            </a:r>
          </a:p>
          <a:p>
            <a:pPr lvl="1"/>
            <a:r>
              <a:rPr lang="en-US" altLang="en-US"/>
              <a:t>Alternatively, stand-alone DML commands can be applied directly (called a </a:t>
            </a:r>
            <a:r>
              <a:rPr lang="en-US" altLang="en-US" i="1"/>
              <a:t>query language</a:t>
            </a:r>
            <a:r>
              <a:rPr lang="en-US" altLang="en-US"/>
              <a:t>).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813764D9-EA86-403C-B309-AA39C57ADB0E}" type="slidenum">
              <a:rPr lang="en-US" altLang="en-US"/>
              <a:pPr/>
              <a:t>22</a:t>
            </a:fld>
            <a:endParaRPr lang="en-CA" altLang="en-US"/>
          </a:p>
        </p:txBody>
      </p:sp>
      <p:sp>
        <p:nvSpPr>
          <p:cNvPr id="60621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Types of DML</a:t>
            </a:r>
          </a:p>
        </p:txBody>
      </p:sp>
      <p:sp>
        <p:nvSpPr>
          <p:cNvPr id="60621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High Level or Non-procedural Language:</a:t>
            </a:r>
          </a:p>
          <a:p>
            <a:pPr lvl="1"/>
            <a:r>
              <a:rPr lang="en-US" altLang="en-US"/>
              <a:t>For example, the SQL relational language</a:t>
            </a:r>
          </a:p>
          <a:p>
            <a:pPr lvl="1"/>
            <a:r>
              <a:rPr lang="en-US" altLang="en-US"/>
              <a:t>Are “set”-oriented and specify what data to retrieve rather than how to retrieve it. </a:t>
            </a:r>
          </a:p>
          <a:p>
            <a:pPr lvl="1"/>
            <a:r>
              <a:rPr lang="en-US" altLang="en-US"/>
              <a:t>Also called </a:t>
            </a:r>
            <a:r>
              <a:rPr lang="en-US" altLang="en-US" b="1"/>
              <a:t>declarative</a:t>
            </a:r>
            <a:r>
              <a:rPr lang="en-US" altLang="en-US"/>
              <a:t> languages.</a:t>
            </a:r>
          </a:p>
          <a:p>
            <a:r>
              <a:rPr lang="en-US" altLang="en-US" b="1"/>
              <a:t>Low Level or Procedural Language:</a:t>
            </a:r>
          </a:p>
          <a:p>
            <a:pPr lvl="1"/>
            <a:r>
              <a:rPr lang="en-US" altLang="en-US"/>
              <a:t>Retrieve data one record-at-a-time; </a:t>
            </a:r>
          </a:p>
          <a:p>
            <a:pPr lvl="1"/>
            <a:r>
              <a:rPr lang="en-US" altLang="en-US"/>
              <a:t>Constructs such as looping are needed to retrieve multiple records, along with positioning pointers.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CD437143-A04A-41F2-8B77-11A0C0F6E43B}" type="slidenum">
              <a:rPr lang="en-US" altLang="en-US"/>
              <a:pPr/>
              <a:t>23</a:t>
            </a:fld>
            <a:endParaRPr lang="en-CA" altLang="en-US"/>
          </a:p>
        </p:txBody>
      </p:sp>
      <p:sp>
        <p:nvSpPr>
          <p:cNvPr id="6082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DBMS Interfaces</a:t>
            </a:r>
          </a:p>
        </p:txBody>
      </p:sp>
      <p:sp>
        <p:nvSpPr>
          <p:cNvPr id="60826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Stand-alone query language interfaces</a:t>
            </a:r>
          </a:p>
          <a:p>
            <a:pPr lvl="1"/>
            <a:r>
              <a:rPr lang="en-US" altLang="en-US"/>
              <a:t>Example: Entering SQL queries at the DBMS interactive SQL interface (e.g. SQL*Plus in ORACLE)</a:t>
            </a:r>
          </a:p>
          <a:p>
            <a:r>
              <a:rPr lang="en-US" altLang="en-US"/>
              <a:t>Programmer interfaces for embedding DML in programming languages</a:t>
            </a:r>
          </a:p>
          <a:p>
            <a:r>
              <a:rPr lang="en-US" altLang="en-US"/>
              <a:t>User-friendly interfaces</a:t>
            </a:r>
          </a:p>
          <a:p>
            <a:pPr lvl="1"/>
            <a:r>
              <a:rPr lang="en-US" altLang="en-US"/>
              <a:t>Menu-based, forms-based, graphics-based, etc.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C2D5A9D0-3C53-4491-AF2B-A6D7CF744832}" type="slidenum">
              <a:rPr lang="en-US" altLang="en-US"/>
              <a:pPr/>
              <a:t>24</a:t>
            </a:fld>
            <a:endParaRPr lang="en-CA" altLang="en-US"/>
          </a:p>
        </p:txBody>
      </p:sp>
      <p:sp>
        <p:nvSpPr>
          <p:cNvPr id="65741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DBMS Programming Language Interfaces</a:t>
            </a:r>
          </a:p>
        </p:txBody>
      </p:sp>
      <p:sp>
        <p:nvSpPr>
          <p:cNvPr id="65741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Programmer interfaces for embedding DML in a programming languages:</a:t>
            </a:r>
          </a:p>
          <a:p>
            <a:pPr lvl="1"/>
            <a:r>
              <a:rPr lang="en-US" altLang="en-US" b="1"/>
              <a:t>Embedded Approach</a:t>
            </a:r>
            <a:r>
              <a:rPr lang="en-US" altLang="en-US"/>
              <a:t>: e.g embedded SQL (for C, C++, etc.), SQLJ (for Java)</a:t>
            </a:r>
          </a:p>
          <a:p>
            <a:pPr lvl="1"/>
            <a:r>
              <a:rPr lang="en-US" altLang="en-US" b="1"/>
              <a:t>Procedure Call Approach</a:t>
            </a:r>
            <a:r>
              <a:rPr lang="en-US" altLang="en-US"/>
              <a:t>: e.g. JDBC for Java, ODBC for other programming languages</a:t>
            </a:r>
          </a:p>
          <a:p>
            <a:pPr lvl="1"/>
            <a:r>
              <a:rPr lang="en-US" altLang="en-US" b="1"/>
              <a:t>Database Programming Language Approach</a:t>
            </a:r>
            <a:r>
              <a:rPr lang="en-US" altLang="en-US"/>
              <a:t>: e.g. ORACLE has PL/SQL, a programming language based on SQL; language incorporates SQL and its data types as integral components</a:t>
            </a:r>
          </a:p>
          <a:p>
            <a:endParaRPr lang="en-US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EA61D99A-136D-475E-933A-D3E871F773D5}" type="slidenum">
              <a:rPr lang="en-US" altLang="en-US"/>
              <a:pPr/>
              <a:t>25</a:t>
            </a:fld>
            <a:endParaRPr lang="en-CA" altLang="en-US"/>
          </a:p>
        </p:txBody>
      </p:sp>
      <p:sp>
        <p:nvSpPr>
          <p:cNvPr id="65946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User-Friendly DBMS Interfaces</a:t>
            </a:r>
          </a:p>
        </p:txBody>
      </p:sp>
      <p:sp>
        <p:nvSpPr>
          <p:cNvPr id="659461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None/>
            </a:pPr>
            <a:endParaRPr lang="en-US" altLang="en-US"/>
          </a:p>
          <a:p>
            <a:pPr lvl="1"/>
            <a:r>
              <a:rPr lang="en-US" altLang="en-US"/>
              <a:t>Menu-based, popular for browsing on the web</a:t>
            </a:r>
          </a:p>
          <a:p>
            <a:pPr lvl="1"/>
            <a:r>
              <a:rPr lang="en-US" altLang="en-US"/>
              <a:t>Forms-based, designed for naïve users</a:t>
            </a:r>
          </a:p>
          <a:p>
            <a:pPr lvl="1"/>
            <a:r>
              <a:rPr lang="en-US" altLang="en-US"/>
              <a:t>Graphics-based </a:t>
            </a:r>
          </a:p>
          <a:p>
            <a:pPr lvl="2"/>
            <a:r>
              <a:rPr lang="en-US" altLang="en-US"/>
              <a:t>(Point and Click, Drag and Drop, etc.)</a:t>
            </a:r>
          </a:p>
          <a:p>
            <a:pPr lvl="1"/>
            <a:r>
              <a:rPr lang="en-US" altLang="en-US"/>
              <a:t>Natural language: requests in written English</a:t>
            </a:r>
          </a:p>
          <a:p>
            <a:pPr lvl="1"/>
            <a:r>
              <a:rPr lang="en-US" altLang="en-US"/>
              <a:t>Combinations of the above:</a:t>
            </a:r>
          </a:p>
          <a:p>
            <a:pPr lvl="2"/>
            <a:r>
              <a:rPr lang="en-US" altLang="en-US"/>
              <a:t>For example, both menus and forms used extensively in Web database interfaces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EB2A079E-195F-491B-97FB-4649277E7AE9}" type="slidenum">
              <a:rPr lang="en-US" altLang="en-US"/>
              <a:pPr/>
              <a:t>26</a:t>
            </a:fld>
            <a:endParaRPr lang="en-CA" altLang="en-US"/>
          </a:p>
        </p:txBody>
      </p:sp>
      <p:sp>
        <p:nvSpPr>
          <p:cNvPr id="6103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Other DBMS Interfaces</a:t>
            </a:r>
          </a:p>
        </p:txBody>
      </p:sp>
      <p:sp>
        <p:nvSpPr>
          <p:cNvPr id="61030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en-US"/>
              <a:t>Speech as Input and Output</a:t>
            </a:r>
          </a:p>
          <a:p>
            <a:pPr lvl="1"/>
            <a:r>
              <a:rPr lang="en-US" altLang="en-US"/>
              <a:t>Web Browser as an interface</a:t>
            </a:r>
          </a:p>
          <a:p>
            <a:pPr lvl="1"/>
            <a:r>
              <a:rPr lang="en-US" altLang="en-US"/>
              <a:t>Parametric interfaces, e.g., bank tellers using function keys.</a:t>
            </a:r>
          </a:p>
          <a:p>
            <a:pPr lvl="1"/>
            <a:r>
              <a:rPr lang="en-US" altLang="en-US"/>
              <a:t>Interfaces for the DBA:</a:t>
            </a:r>
          </a:p>
          <a:p>
            <a:pPr lvl="2"/>
            <a:r>
              <a:rPr lang="en-US" altLang="en-US"/>
              <a:t>Creating user accounts, granting authorizations</a:t>
            </a:r>
          </a:p>
          <a:p>
            <a:pPr lvl="2"/>
            <a:r>
              <a:rPr lang="en-US" altLang="en-US"/>
              <a:t>Setting system parameters</a:t>
            </a:r>
          </a:p>
          <a:p>
            <a:pPr lvl="2"/>
            <a:r>
              <a:rPr lang="en-US" altLang="en-US"/>
              <a:t>Changing schemas or access paths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87A47C4B-39E3-490F-9124-6E75CD21CF3E}" type="slidenum">
              <a:rPr lang="en-US" altLang="en-US"/>
              <a:pPr/>
              <a:t>27</a:t>
            </a:fld>
            <a:endParaRPr lang="en-CA" altLang="en-US"/>
          </a:p>
        </p:txBody>
      </p:sp>
      <p:sp>
        <p:nvSpPr>
          <p:cNvPr id="6123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Database System Utilities</a:t>
            </a:r>
          </a:p>
        </p:txBody>
      </p:sp>
      <p:sp>
        <p:nvSpPr>
          <p:cNvPr id="612357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To perform certain functions such as:</a:t>
            </a:r>
          </a:p>
          <a:p>
            <a:pPr lvl="1"/>
            <a:r>
              <a:rPr lang="en-US" altLang="en-US"/>
              <a:t>Loading data stored in files into a database. Includes data conversion tools.</a:t>
            </a:r>
          </a:p>
          <a:p>
            <a:pPr lvl="1"/>
            <a:r>
              <a:rPr lang="en-US" altLang="en-US"/>
              <a:t>Backing up the database periodically on tape.</a:t>
            </a:r>
          </a:p>
          <a:p>
            <a:pPr lvl="1"/>
            <a:r>
              <a:rPr lang="en-US" altLang="en-US"/>
              <a:t>Reorganizing database file structures.</a:t>
            </a:r>
          </a:p>
          <a:p>
            <a:pPr lvl="1"/>
            <a:r>
              <a:rPr lang="en-US" altLang="en-US"/>
              <a:t>Report generation utilities.</a:t>
            </a:r>
          </a:p>
          <a:p>
            <a:pPr lvl="1"/>
            <a:r>
              <a:rPr lang="en-US" altLang="en-US"/>
              <a:t>Performance monitoring utilities.</a:t>
            </a:r>
          </a:p>
          <a:p>
            <a:pPr lvl="1"/>
            <a:r>
              <a:rPr lang="en-US" altLang="en-US"/>
              <a:t>Other functions, such as sorting, user monitoring, data compression, etc.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AFEA1FC8-6F30-4BF4-A19D-D60EC56E8FF2}" type="slidenum">
              <a:rPr lang="en-US" altLang="en-US"/>
              <a:pPr/>
              <a:t>28</a:t>
            </a:fld>
            <a:endParaRPr lang="en-CA" altLang="en-US"/>
          </a:p>
        </p:txBody>
      </p:sp>
      <p:sp>
        <p:nvSpPr>
          <p:cNvPr id="61440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Other Tools</a:t>
            </a:r>
          </a:p>
        </p:txBody>
      </p:sp>
      <p:sp>
        <p:nvSpPr>
          <p:cNvPr id="61440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Data dictionary / repository:</a:t>
            </a:r>
          </a:p>
          <a:p>
            <a:pPr lvl="1"/>
            <a:r>
              <a:rPr lang="en-US" altLang="en-US"/>
              <a:t>Used to store schema descriptions and other information such as design decisions, application program descriptions, user information, usage standards, etc.</a:t>
            </a:r>
          </a:p>
          <a:p>
            <a:pPr lvl="1"/>
            <a:r>
              <a:rPr lang="en-US" altLang="en-US" b="1"/>
              <a:t>Active data dictionary</a:t>
            </a:r>
            <a:r>
              <a:rPr lang="en-US" altLang="en-US"/>
              <a:t> is accessed by DBMS software and users/DBA.</a:t>
            </a:r>
          </a:p>
          <a:p>
            <a:pPr lvl="1"/>
            <a:r>
              <a:rPr lang="en-US" altLang="en-US" b="1"/>
              <a:t>Passive data dictionary</a:t>
            </a:r>
            <a:r>
              <a:rPr lang="en-US" altLang="en-US"/>
              <a:t> is accessed by users/DBA only.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4F2437E6-089F-44AE-8658-3D8677FAB6B4}" type="slidenum">
              <a:rPr lang="en-US" altLang="en-US"/>
              <a:pPr/>
              <a:t>29</a:t>
            </a:fld>
            <a:endParaRPr lang="en-CA" altLang="en-US"/>
          </a:p>
        </p:txBody>
      </p:sp>
      <p:sp>
        <p:nvSpPr>
          <p:cNvPr id="66150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Other Tools</a:t>
            </a:r>
          </a:p>
        </p:txBody>
      </p:sp>
      <p:sp>
        <p:nvSpPr>
          <p:cNvPr id="66150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Application Development Environments and CASE (computer-aided software engineering) tools:</a:t>
            </a:r>
          </a:p>
          <a:p>
            <a:r>
              <a:rPr lang="en-US" altLang="en-US"/>
              <a:t>Examples:</a:t>
            </a:r>
          </a:p>
          <a:p>
            <a:pPr lvl="1"/>
            <a:r>
              <a:rPr lang="en-US" altLang="en-US"/>
              <a:t>PowerBuilder (Sybase)</a:t>
            </a:r>
          </a:p>
          <a:p>
            <a:pPr lvl="1"/>
            <a:r>
              <a:rPr lang="en-US" altLang="en-US"/>
              <a:t>JBuilder (Borland)</a:t>
            </a:r>
          </a:p>
          <a:p>
            <a:pPr lvl="1"/>
            <a:r>
              <a:rPr lang="en-US" altLang="en-US"/>
              <a:t>JDeveloper 10G (Oracle)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643AF8DE-C7EC-413C-8B3C-F80415C808E7}" type="slidenum">
              <a:rPr lang="en-US" altLang="en-US"/>
              <a:pPr/>
              <a:t>30</a:t>
            </a:fld>
            <a:endParaRPr lang="en-CA" altLang="en-US"/>
          </a:p>
        </p:txBody>
      </p:sp>
      <p:sp>
        <p:nvSpPr>
          <p:cNvPr id="7024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Typical DBMS Component Modules</a:t>
            </a:r>
          </a:p>
        </p:txBody>
      </p:sp>
      <p:pic>
        <p:nvPicPr>
          <p:cNvPr id="702468" name="Picture 4" descr="fig02_0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600200"/>
            <a:ext cx="4860925" cy="4868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FD3281D2-C817-4D00-B56B-E71D36698E74}" type="slidenum">
              <a:rPr lang="en-US" altLang="en-US"/>
              <a:pPr/>
              <a:t>31</a:t>
            </a:fld>
            <a:endParaRPr lang="en-CA" altLang="en-US"/>
          </a:p>
        </p:txBody>
      </p:sp>
      <p:sp>
        <p:nvSpPr>
          <p:cNvPr id="616452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Centralized and </a:t>
            </a:r>
            <a:br>
              <a:rPr lang="en-US" altLang="en-US"/>
            </a:br>
            <a:r>
              <a:rPr lang="en-US" altLang="en-US"/>
              <a:t>Client-Server DBMS Architectures </a:t>
            </a:r>
          </a:p>
        </p:txBody>
      </p:sp>
      <p:sp>
        <p:nvSpPr>
          <p:cNvPr id="616453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Centralized DBMS:</a:t>
            </a:r>
          </a:p>
          <a:p>
            <a:pPr lvl="1"/>
            <a:r>
              <a:rPr lang="en-US" altLang="en-US"/>
              <a:t>Combines everything into single system including- DBMS software, hardware, application programs, and user interface processing software.</a:t>
            </a:r>
          </a:p>
          <a:p>
            <a:pPr lvl="1"/>
            <a:r>
              <a:rPr lang="en-US" altLang="en-US"/>
              <a:t>User can still connect through a remote terminal – however, all processing is done at centralized site.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C1C50CCC-22C1-4BD4-B89A-7673895A8F64}" type="slidenum">
              <a:rPr lang="en-US" altLang="en-US"/>
              <a:pPr/>
              <a:t>32</a:t>
            </a:fld>
            <a:endParaRPr lang="en-CA" altLang="en-US"/>
          </a:p>
        </p:txBody>
      </p:sp>
      <p:sp>
        <p:nvSpPr>
          <p:cNvPr id="68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 Physical Centralized Architecture</a:t>
            </a:r>
          </a:p>
        </p:txBody>
      </p:sp>
      <p:pic>
        <p:nvPicPr>
          <p:cNvPr id="688132" name="Picture 4" descr="fig02_0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1697038"/>
            <a:ext cx="6477000" cy="44751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C9A624D9-588B-463D-8C19-99AAEB688362}" type="slidenum">
              <a:rPr lang="en-US" altLang="en-US"/>
              <a:pPr/>
              <a:t>33</a:t>
            </a:fld>
            <a:endParaRPr lang="en-CA" altLang="en-US"/>
          </a:p>
        </p:txBody>
      </p:sp>
      <p:sp>
        <p:nvSpPr>
          <p:cNvPr id="618500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Basic 2-tier Client-Server Architectures</a:t>
            </a:r>
          </a:p>
        </p:txBody>
      </p:sp>
      <p:sp>
        <p:nvSpPr>
          <p:cNvPr id="618501" name="Rectangle 102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Specialized Servers with Specialized functions</a:t>
            </a:r>
          </a:p>
          <a:p>
            <a:pPr lvl="1"/>
            <a:r>
              <a:rPr lang="en-US" altLang="en-US"/>
              <a:t>Print server</a:t>
            </a:r>
          </a:p>
          <a:p>
            <a:pPr lvl="1"/>
            <a:r>
              <a:rPr lang="en-US" altLang="en-US"/>
              <a:t>File server</a:t>
            </a:r>
          </a:p>
          <a:p>
            <a:pPr lvl="1"/>
            <a:r>
              <a:rPr lang="en-US" altLang="en-US"/>
              <a:t>DBMS server</a:t>
            </a:r>
          </a:p>
          <a:p>
            <a:pPr lvl="1"/>
            <a:r>
              <a:rPr lang="en-US" altLang="en-US"/>
              <a:t>Web server</a:t>
            </a:r>
          </a:p>
          <a:p>
            <a:pPr lvl="1"/>
            <a:r>
              <a:rPr lang="en-US" altLang="en-US"/>
              <a:t>Email server</a:t>
            </a:r>
          </a:p>
          <a:p>
            <a:r>
              <a:rPr lang="en-US" altLang="en-US"/>
              <a:t>Clients can access the specialized servers as needed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0EDD2D31-2FD5-414E-B5D9-1384EF775FAC}" type="slidenum">
              <a:rPr lang="en-US" altLang="en-US"/>
              <a:pPr/>
              <a:t>34</a:t>
            </a:fld>
            <a:endParaRPr lang="en-CA" altLang="en-US"/>
          </a:p>
        </p:txBody>
      </p:sp>
      <p:sp>
        <p:nvSpPr>
          <p:cNvPr id="68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200"/>
              <a:t>Logical two-tier client server architecture</a:t>
            </a:r>
          </a:p>
        </p:txBody>
      </p:sp>
      <p:pic>
        <p:nvPicPr>
          <p:cNvPr id="689156" name="Picture 4" descr="fig02_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563813"/>
            <a:ext cx="7810500" cy="1730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7D7CD034-7499-4E19-81E0-1B46D7A2BF53}" type="slidenum">
              <a:rPr lang="en-US" altLang="en-US"/>
              <a:pPr/>
              <a:t>35</a:t>
            </a:fld>
            <a:endParaRPr lang="en-CA" altLang="en-US"/>
          </a:p>
        </p:txBody>
      </p:sp>
      <p:sp>
        <p:nvSpPr>
          <p:cNvPr id="622596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Clients</a:t>
            </a:r>
          </a:p>
        </p:txBody>
      </p:sp>
      <p:sp>
        <p:nvSpPr>
          <p:cNvPr id="622597" name="Rectangle 102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Provide appropriate interfaces through a client software module to access and utilize the various server resources. </a:t>
            </a:r>
          </a:p>
          <a:p>
            <a:r>
              <a:rPr lang="en-US" altLang="en-US"/>
              <a:t>Clients may be diskless machines or PCs or Workstations with disks with only the client software installed.</a:t>
            </a:r>
          </a:p>
          <a:p>
            <a:r>
              <a:rPr lang="en-US" altLang="en-US"/>
              <a:t>Connected to the servers via some form of a network.</a:t>
            </a:r>
          </a:p>
          <a:p>
            <a:pPr lvl="1"/>
            <a:r>
              <a:rPr lang="en-US" altLang="en-US"/>
              <a:t>(LAN: local area network, wireless network, etc.)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9C03A256-2698-4B69-A525-A9F354BF60A8}" type="slidenum">
              <a:rPr lang="en-US" altLang="en-US"/>
              <a:pPr/>
              <a:t>36</a:t>
            </a:fld>
            <a:endParaRPr lang="en-CA" altLang="en-US"/>
          </a:p>
        </p:txBody>
      </p:sp>
      <p:sp>
        <p:nvSpPr>
          <p:cNvPr id="624644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DBMS Server</a:t>
            </a:r>
          </a:p>
        </p:txBody>
      </p:sp>
      <p:sp>
        <p:nvSpPr>
          <p:cNvPr id="624645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Provides database query and transaction services to the clients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Relational DBMS servers are often called SQL servers, query servers, or transaction servers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Applications running on clients utilize an Application Program Interface (</a:t>
            </a:r>
            <a:r>
              <a:rPr lang="en-US" altLang="en-US" sz="2400" b="1"/>
              <a:t>API</a:t>
            </a:r>
            <a:r>
              <a:rPr lang="en-US" altLang="en-US" sz="2400"/>
              <a:t>) to access server databases via standard interface such as:</a:t>
            </a:r>
          </a:p>
          <a:p>
            <a:pPr lvl="1">
              <a:lnSpc>
                <a:spcPct val="90000"/>
              </a:lnSpc>
            </a:pPr>
            <a:r>
              <a:rPr lang="en-US" altLang="en-US" sz="2200"/>
              <a:t>ODBC: Open Database Connectivity standard</a:t>
            </a:r>
          </a:p>
          <a:p>
            <a:pPr lvl="1">
              <a:lnSpc>
                <a:spcPct val="90000"/>
              </a:lnSpc>
            </a:pPr>
            <a:r>
              <a:rPr lang="en-US" altLang="en-US" sz="2200"/>
              <a:t>JDBC: for Java programming access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Client and server must install appropriate client module and server module software for ODBC or JDBC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See Chapter 9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F1F0C59A-451F-4401-BEB3-299C1DB30F66}" type="slidenum">
              <a:rPr lang="en-US" altLang="en-US"/>
              <a:pPr/>
              <a:t>37</a:t>
            </a:fld>
            <a:endParaRPr lang="en-CA" altLang="en-US"/>
          </a:p>
        </p:txBody>
      </p:sp>
      <p:sp>
        <p:nvSpPr>
          <p:cNvPr id="628740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Two Tier Client-Server Architecture</a:t>
            </a:r>
          </a:p>
        </p:txBody>
      </p:sp>
      <p:sp>
        <p:nvSpPr>
          <p:cNvPr id="628741" name="Rectangle 102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A client program may connect to several DBMSs, sometimes called the data sources.</a:t>
            </a:r>
          </a:p>
          <a:p>
            <a:r>
              <a:rPr lang="en-US" altLang="en-US"/>
              <a:t>In general, data sources can be files or other non-DBMS software that manages data.</a:t>
            </a:r>
          </a:p>
          <a:p>
            <a:r>
              <a:rPr lang="en-US" altLang="en-US"/>
              <a:t>Other variations of clients are possible: e.g., in some object DBMSs, more functionality is transferred to clients including data dictionary functions, optimization and recovery across multiple servers, etc.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AAEA6A53-B6DD-40F4-B1B9-C5DC30FAD0AD}" type="slidenum">
              <a:rPr lang="en-US" altLang="en-US"/>
              <a:pPr/>
              <a:t>38</a:t>
            </a:fld>
            <a:endParaRPr lang="en-CA" altLang="en-US"/>
          </a:p>
        </p:txBody>
      </p:sp>
      <p:sp>
        <p:nvSpPr>
          <p:cNvPr id="630788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Three Tier Client-Server Architecture</a:t>
            </a:r>
          </a:p>
        </p:txBody>
      </p:sp>
      <p:sp>
        <p:nvSpPr>
          <p:cNvPr id="630789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Common for Web applications</a:t>
            </a:r>
          </a:p>
          <a:p>
            <a:r>
              <a:rPr lang="en-US" altLang="en-US" sz="2400"/>
              <a:t>Intermediate Layer called Application Server or Web Server: </a:t>
            </a:r>
          </a:p>
          <a:p>
            <a:pPr lvl="1"/>
            <a:r>
              <a:rPr lang="en-US" altLang="en-US" sz="2200"/>
              <a:t>Stores the web connectivity software and the business logic part of the application used to access the corresponding data from the database server</a:t>
            </a:r>
          </a:p>
          <a:p>
            <a:pPr lvl="1"/>
            <a:r>
              <a:rPr lang="en-US" altLang="en-US" sz="2200"/>
              <a:t>Acts like a conduit for sending partially processed data between the database server and the client.</a:t>
            </a:r>
          </a:p>
          <a:p>
            <a:r>
              <a:rPr lang="en-US" altLang="en-US" sz="2400"/>
              <a:t>Three-tier Architecture Can Enhance Security: </a:t>
            </a:r>
          </a:p>
          <a:p>
            <a:pPr lvl="1"/>
            <a:r>
              <a:rPr lang="en-US" altLang="en-US" sz="2200"/>
              <a:t>Database server only accessible via middle tier</a:t>
            </a:r>
          </a:p>
          <a:p>
            <a:pPr lvl="1"/>
            <a:r>
              <a:rPr lang="en-US" altLang="en-US" sz="2200"/>
              <a:t>Clients cannot directly access database server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FCE9A344-3A94-4ED0-8EAB-B3431F652442}" type="slidenum">
              <a:rPr lang="en-US" altLang="en-US"/>
              <a:pPr/>
              <a:t>39</a:t>
            </a:fld>
            <a:endParaRPr lang="en-CA" altLang="en-US"/>
          </a:p>
        </p:txBody>
      </p:sp>
      <p:sp>
        <p:nvSpPr>
          <p:cNvPr id="69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Three-tier client-server architecture</a:t>
            </a:r>
          </a:p>
        </p:txBody>
      </p:sp>
      <p:pic>
        <p:nvPicPr>
          <p:cNvPr id="690180" name="Picture 4" descr="fig02_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725" y="1847850"/>
            <a:ext cx="8194675" cy="440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1D28BBBD-7A23-4000-8681-742478E3C4A7}" type="slidenum">
              <a:rPr lang="en-US" altLang="en-US"/>
              <a:pPr/>
              <a:t>40</a:t>
            </a:fld>
            <a:endParaRPr lang="en-CA" altLang="en-US"/>
          </a:p>
        </p:txBody>
      </p:sp>
      <p:sp>
        <p:nvSpPr>
          <p:cNvPr id="632836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Classification of DBMSs</a:t>
            </a:r>
          </a:p>
        </p:txBody>
      </p:sp>
      <p:sp>
        <p:nvSpPr>
          <p:cNvPr id="632837" name="Rectangle 102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Based on the data model used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Traditional: Relational, Network, Hierarchical.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Emerging: Object-oriented, Object-relational.</a:t>
            </a:r>
          </a:p>
          <a:p>
            <a:pPr>
              <a:lnSpc>
                <a:spcPct val="90000"/>
              </a:lnSpc>
            </a:pPr>
            <a:r>
              <a:rPr lang="en-US" altLang="en-US"/>
              <a:t>Other classifications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Single-user (typically used with personal computers)</a:t>
            </a:r>
            <a:br>
              <a:rPr lang="en-US" altLang="en-US"/>
            </a:br>
            <a:r>
              <a:rPr lang="en-US" altLang="en-US"/>
              <a:t>vs. multi-user (most DBMSs).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Centralized (uses a single computer with one database) </a:t>
            </a:r>
            <a:br>
              <a:rPr lang="en-US" altLang="en-US"/>
            </a:br>
            <a:r>
              <a:rPr lang="en-US" altLang="en-US"/>
              <a:t>vs. distributed (uses multiple computers, multiple databases)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3FC0A6BC-58D8-4B51-8E88-00C027113CC2}" type="slidenum">
              <a:rPr lang="en-US" altLang="en-US"/>
              <a:pPr/>
              <a:t>41</a:t>
            </a:fld>
            <a:endParaRPr lang="en-CA" altLang="en-US"/>
          </a:p>
        </p:txBody>
      </p:sp>
      <p:sp>
        <p:nvSpPr>
          <p:cNvPr id="703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Variations of Distributed DBMSs (DDBMSs)</a:t>
            </a:r>
          </a:p>
        </p:txBody>
      </p:sp>
      <p:sp>
        <p:nvSpPr>
          <p:cNvPr id="70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Homogeneous DDBMS</a:t>
            </a:r>
          </a:p>
          <a:p>
            <a:r>
              <a:rPr lang="en-US" altLang="en-US"/>
              <a:t>Heterogeneous DDBMS</a:t>
            </a:r>
          </a:p>
          <a:p>
            <a:r>
              <a:rPr lang="en-US" altLang="en-US"/>
              <a:t>Federated or Multidatabase Systems</a:t>
            </a:r>
          </a:p>
          <a:p>
            <a:r>
              <a:rPr lang="en-US" altLang="en-US"/>
              <a:t>Distributed Database Systems have now come to be known as client-server based database systems because:</a:t>
            </a:r>
          </a:p>
          <a:p>
            <a:pPr lvl="1"/>
            <a:r>
              <a:rPr lang="en-US" altLang="en-US"/>
              <a:t>They do not support a totally distributed environment, but rather a set of database servers supporting a set of clients.</a:t>
            </a:r>
          </a:p>
          <a:p>
            <a:endParaRPr lang="en-US" altLang="en-US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8B255F60-74DF-4C92-AB8B-4ED4AA42AFED}" type="slidenum">
              <a:rPr lang="en-US" altLang="en-US"/>
              <a:pPr/>
              <a:t>42</a:t>
            </a:fld>
            <a:endParaRPr lang="en-CA" altLang="en-US"/>
          </a:p>
        </p:txBody>
      </p:sp>
      <p:sp>
        <p:nvSpPr>
          <p:cNvPr id="69120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Cost considerations for DBMSs</a:t>
            </a:r>
          </a:p>
        </p:txBody>
      </p:sp>
      <p:sp>
        <p:nvSpPr>
          <p:cNvPr id="69120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/>
              <a:t>Cost Range: from free open-source systems to configurations costing millions of dollars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Examples of free relational DBMSs: MySQL, PostgreSQL, others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Commercial DBMS offer additional specialized modules, e.g. time-series module, spatial data module, document module, XML module</a:t>
            </a:r>
          </a:p>
          <a:p>
            <a:pPr lvl="1">
              <a:lnSpc>
                <a:spcPct val="90000"/>
              </a:lnSpc>
            </a:pPr>
            <a:r>
              <a:rPr lang="en-US" altLang="en-US" sz="2200"/>
              <a:t>These offer additional specialized functionality when purchased separately</a:t>
            </a:r>
          </a:p>
          <a:p>
            <a:pPr lvl="1">
              <a:lnSpc>
                <a:spcPct val="90000"/>
              </a:lnSpc>
            </a:pPr>
            <a:r>
              <a:rPr lang="en-US" altLang="en-US" sz="2200"/>
              <a:t>Sometimes called cartridges (e.g., in Oracle) or blades</a:t>
            </a:r>
          </a:p>
          <a:p>
            <a:pPr>
              <a:lnSpc>
                <a:spcPct val="90000"/>
              </a:lnSpc>
            </a:pPr>
            <a:r>
              <a:rPr lang="en-US" altLang="en-US" sz="2400"/>
              <a:t>Different licensing options: site license, maximum number of concurrent users (seat license), single user, etc.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EB811F5F-A0EF-4CDC-BA6F-7537FA59BD40}" type="slidenum">
              <a:rPr lang="en-US" altLang="en-US"/>
              <a:pPr/>
              <a:t>43</a:t>
            </a:fld>
            <a:endParaRPr lang="en-CA" altLang="en-US"/>
          </a:p>
        </p:txBody>
      </p:sp>
      <p:sp>
        <p:nvSpPr>
          <p:cNvPr id="66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History of Data Models </a:t>
            </a:r>
          </a:p>
        </p:txBody>
      </p:sp>
      <p:sp>
        <p:nvSpPr>
          <p:cNvPr id="66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Network Model</a:t>
            </a:r>
          </a:p>
          <a:p>
            <a:r>
              <a:rPr lang="en-US" altLang="en-US"/>
              <a:t>Hierarchical Model</a:t>
            </a:r>
          </a:p>
          <a:p>
            <a:r>
              <a:rPr lang="en-US" altLang="en-US"/>
              <a:t>Relational Model</a:t>
            </a:r>
          </a:p>
          <a:p>
            <a:r>
              <a:rPr lang="en-US" altLang="en-US"/>
              <a:t>Object-oriented Data Models</a:t>
            </a:r>
          </a:p>
          <a:p>
            <a:r>
              <a:rPr lang="en-US" altLang="en-US"/>
              <a:t>Object-Relational Models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6D428193-5A78-4AEC-8C51-FC7199F0EEE1}" type="slidenum">
              <a:rPr lang="en-US" altLang="en-US"/>
              <a:pPr/>
              <a:t>44</a:t>
            </a:fld>
            <a:endParaRPr lang="en-CA" altLang="en-US"/>
          </a:p>
        </p:txBody>
      </p:sp>
      <p:sp>
        <p:nvSpPr>
          <p:cNvPr id="6717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History of Data Models </a:t>
            </a:r>
          </a:p>
        </p:txBody>
      </p:sp>
      <p:sp>
        <p:nvSpPr>
          <p:cNvPr id="67174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/>
              <a:t>Network Model: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The first network DBMS was implemented by Honeywell in 1964-65 (IDS System).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Adopted heavily due to the support by CODASYL (Conference on Data Systems Languages) (CODASYL - DBTG report of 1971).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Later implemented in a large variety of systems - IDMS (Cullinet - now Computer Associates), DMS 1100 (Unisys), IMAGE (H.P. (Hewlett-Packard)), VAX -DBMS (Digital Equipment Corp., next COMPAQ, now H.P.).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D5AAB068-BC4E-444B-B55D-3D0AEFA23FFF}" type="slidenum">
              <a:rPr lang="en-US" altLang="en-US"/>
              <a:pPr/>
              <a:t>45</a:t>
            </a:fld>
            <a:endParaRPr lang="en-CA" altLang="en-US"/>
          </a:p>
        </p:txBody>
      </p:sp>
      <p:sp>
        <p:nvSpPr>
          <p:cNvPr id="7014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Example of Network Model Schema</a:t>
            </a:r>
          </a:p>
        </p:txBody>
      </p:sp>
      <p:pic>
        <p:nvPicPr>
          <p:cNvPr id="701444" name="Picture 4" descr="fig02_0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3" y="2224088"/>
            <a:ext cx="8294687" cy="3065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118E934A-2037-4A8A-9CF6-BAE7427B91C6}" type="slidenum">
              <a:rPr lang="en-US" altLang="en-US"/>
              <a:pPr/>
              <a:t>46</a:t>
            </a:fld>
            <a:endParaRPr lang="en-CA" altLang="en-US"/>
          </a:p>
        </p:txBody>
      </p:sp>
      <p:sp>
        <p:nvSpPr>
          <p:cNvPr id="6993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Network Model</a:t>
            </a:r>
          </a:p>
        </p:txBody>
      </p:sp>
      <p:sp>
        <p:nvSpPr>
          <p:cNvPr id="6993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Advantages: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Network Model is able to model complex relationships and represents semantics of add/delete on the relationships.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Can handle most situations for modeling using record types and relationship types.</a:t>
            </a:r>
          </a:p>
          <a:p>
            <a:pPr lvl="1">
              <a:lnSpc>
                <a:spcPct val="90000"/>
              </a:lnSpc>
            </a:pPr>
            <a:r>
              <a:rPr lang="en-US" altLang="en-US"/>
              <a:t>Language is navigational; uses constructs like FIND, FIND member, FIND owner, FIND NEXT within set, GET, etc. </a:t>
            </a:r>
          </a:p>
          <a:p>
            <a:pPr lvl="2">
              <a:lnSpc>
                <a:spcPct val="90000"/>
              </a:lnSpc>
            </a:pPr>
            <a:r>
              <a:rPr lang="en-US" altLang="en-US"/>
              <a:t>Programmers can do optimal navigation through the database.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AF1B69EB-653F-48BE-A98C-6B48CC0BE161}" type="slidenum">
              <a:rPr lang="en-US" altLang="en-US"/>
              <a:pPr/>
              <a:t>47</a:t>
            </a:fld>
            <a:endParaRPr lang="en-CA" altLang="en-US"/>
          </a:p>
        </p:txBody>
      </p:sp>
      <p:sp>
        <p:nvSpPr>
          <p:cNvPr id="697346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Network Model</a:t>
            </a:r>
          </a:p>
        </p:txBody>
      </p:sp>
      <p:sp>
        <p:nvSpPr>
          <p:cNvPr id="697347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Disadvantages:</a:t>
            </a:r>
          </a:p>
          <a:p>
            <a:pPr lvl="1"/>
            <a:r>
              <a:rPr lang="en-US" altLang="en-US"/>
              <a:t>Navigational and procedural nature of processing</a:t>
            </a:r>
          </a:p>
          <a:p>
            <a:pPr lvl="1"/>
            <a:r>
              <a:rPr lang="en-US" altLang="en-US"/>
              <a:t>Database contains a complex array of pointers that thread through a set of records.</a:t>
            </a:r>
          </a:p>
          <a:p>
            <a:pPr lvl="2"/>
            <a:r>
              <a:rPr lang="en-US" altLang="en-US"/>
              <a:t>Little scope for automated “query optimization”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F107901B-418F-4D9F-A63D-4D02EE1CA11D}" type="slidenum">
              <a:rPr lang="en-US" altLang="en-US"/>
              <a:pPr/>
              <a:t>48</a:t>
            </a:fld>
            <a:endParaRPr lang="en-CA" altLang="en-US"/>
          </a:p>
        </p:txBody>
      </p:sp>
      <p:sp>
        <p:nvSpPr>
          <p:cNvPr id="67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History of Data Models </a:t>
            </a:r>
          </a:p>
        </p:txBody>
      </p:sp>
      <p:sp>
        <p:nvSpPr>
          <p:cNvPr id="67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Hierarchical Data Model:</a:t>
            </a:r>
          </a:p>
          <a:p>
            <a:pPr lvl="1"/>
            <a:r>
              <a:rPr lang="en-US" altLang="en-US"/>
              <a:t>Initially implemented in a joint effort by IBM and North American Rockwell around 1965. Resulted in the IMS family of systems.</a:t>
            </a:r>
          </a:p>
          <a:p>
            <a:pPr lvl="1"/>
            <a:r>
              <a:rPr lang="en-US" altLang="en-US"/>
              <a:t>IBM’s IMS product had (and still has) a very large customer base worldwide</a:t>
            </a:r>
          </a:p>
          <a:p>
            <a:pPr lvl="1"/>
            <a:r>
              <a:rPr lang="en-US" altLang="en-US"/>
              <a:t>Hierarchical model was formalized based on the IMS system</a:t>
            </a:r>
          </a:p>
          <a:p>
            <a:pPr lvl="1"/>
            <a:r>
              <a:rPr lang="en-US" altLang="en-US"/>
              <a:t>Other systems based on this model: System 2k (SAS inc.)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C8B98CA7-B1C2-4C30-848C-7C03BA03955A}" type="slidenum">
              <a:rPr lang="en-US" altLang="en-US"/>
              <a:pPr/>
              <a:t>49</a:t>
            </a:fld>
            <a:endParaRPr lang="en-CA" altLang="en-US"/>
          </a:p>
        </p:txBody>
      </p:sp>
      <p:sp>
        <p:nvSpPr>
          <p:cNvPr id="695298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Hierarchical Model</a:t>
            </a:r>
          </a:p>
        </p:txBody>
      </p:sp>
      <p:sp>
        <p:nvSpPr>
          <p:cNvPr id="695299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/>
              <a:t>Advantages:</a:t>
            </a:r>
          </a:p>
          <a:p>
            <a:pPr lvl="1"/>
            <a:r>
              <a:rPr lang="en-US" altLang="en-US" sz="2200"/>
              <a:t>Simple to construct and operate</a:t>
            </a:r>
          </a:p>
          <a:p>
            <a:pPr lvl="1"/>
            <a:r>
              <a:rPr lang="en-US" altLang="en-US" sz="2200"/>
              <a:t>Corresponds to a number of natural hierarchically organized domains, e.g., organization (“org”) chart</a:t>
            </a:r>
          </a:p>
          <a:p>
            <a:pPr lvl="1"/>
            <a:r>
              <a:rPr lang="en-US" altLang="en-US" sz="2200"/>
              <a:t>Language is simple: </a:t>
            </a:r>
          </a:p>
          <a:p>
            <a:pPr lvl="2"/>
            <a:r>
              <a:rPr lang="en-US" altLang="en-US" sz="2000"/>
              <a:t>Uses constructs like GET, GET UNIQUE, GET NEXT, GET NEXT WITHIN PARENT, etc.</a:t>
            </a:r>
          </a:p>
          <a:p>
            <a:r>
              <a:rPr lang="en-US" altLang="en-US" sz="2400"/>
              <a:t>Disadvantages:</a:t>
            </a:r>
          </a:p>
          <a:p>
            <a:pPr lvl="1"/>
            <a:r>
              <a:rPr lang="en-US" altLang="en-US" sz="2200"/>
              <a:t>Navigational and procedural nature of processing</a:t>
            </a:r>
          </a:p>
          <a:p>
            <a:pPr lvl="1"/>
            <a:r>
              <a:rPr lang="en-US" altLang="en-US" sz="2200"/>
              <a:t>Database is visualized as a linear arrangement of records</a:t>
            </a:r>
          </a:p>
          <a:p>
            <a:pPr lvl="1"/>
            <a:r>
              <a:rPr lang="en-US" altLang="en-US" sz="2200"/>
              <a:t>Little scope for "query optimization"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A8787A11-DF01-44FE-8BDF-D11922DBA01D}" type="slidenum">
              <a:rPr lang="en-US" altLang="en-US"/>
              <a:pPr/>
              <a:t>50</a:t>
            </a:fld>
            <a:endParaRPr lang="en-CA" altLang="en-US"/>
          </a:p>
        </p:txBody>
      </p:sp>
      <p:sp>
        <p:nvSpPr>
          <p:cNvPr id="69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History of Data Models </a:t>
            </a:r>
          </a:p>
        </p:txBody>
      </p:sp>
      <p:sp>
        <p:nvSpPr>
          <p:cNvPr id="6932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b="1"/>
              <a:t>Relational Model: </a:t>
            </a:r>
          </a:p>
          <a:p>
            <a:pPr lvl="1"/>
            <a:r>
              <a:rPr lang="en-US" altLang="en-US" sz="2200"/>
              <a:t>Proposed in 1970 by E.F. Codd (IBM), first commercial system in 1981-82.</a:t>
            </a:r>
          </a:p>
          <a:p>
            <a:pPr lvl="1"/>
            <a:r>
              <a:rPr lang="en-US" altLang="en-US" sz="2200"/>
              <a:t>Now in several commercial products (e.g. DB2, ORACLE, MS SQL Server, SYBASE, INFORMIX).</a:t>
            </a:r>
          </a:p>
          <a:p>
            <a:pPr lvl="1"/>
            <a:r>
              <a:rPr lang="en-US" altLang="en-US" sz="2200"/>
              <a:t>Several free open source implementations, e.g. MySQL, PostgreSQL</a:t>
            </a:r>
          </a:p>
          <a:p>
            <a:pPr lvl="1"/>
            <a:r>
              <a:rPr lang="en-US" altLang="en-US" sz="2200"/>
              <a:t>Currently most dominant for developing database applications.</a:t>
            </a:r>
          </a:p>
          <a:p>
            <a:pPr lvl="1"/>
            <a:r>
              <a:rPr lang="en-US" altLang="en-US" sz="2200"/>
              <a:t>SQL relational standards: SQL-89 (SQL1), SQL-92 (SQL2), SQL-99, SQL3, …</a:t>
            </a:r>
          </a:p>
          <a:p>
            <a:pPr lvl="1"/>
            <a:r>
              <a:rPr lang="en-US" altLang="en-US" sz="2200"/>
              <a:t>Chapters 5 through 11 describe this model in detail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D4113C9E-AC62-4A1B-8BF5-97A0F40FD253}" type="slidenum">
              <a:rPr lang="en-US" altLang="en-US"/>
              <a:pPr/>
              <a:t>51</a:t>
            </a:fld>
            <a:endParaRPr lang="en-CA" altLang="en-US"/>
          </a:p>
        </p:txBody>
      </p:sp>
      <p:sp>
        <p:nvSpPr>
          <p:cNvPr id="67584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History of Data Models</a:t>
            </a:r>
          </a:p>
        </p:txBody>
      </p:sp>
      <p:sp>
        <p:nvSpPr>
          <p:cNvPr id="675843" name="Rectangle 102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b="1"/>
              <a:t>Object-oriented Data Models:</a:t>
            </a:r>
          </a:p>
          <a:p>
            <a:pPr lvl="1"/>
            <a:r>
              <a:rPr lang="en-US" altLang="en-US" sz="2200"/>
              <a:t>Several models have been proposed for implementing in a database system. </a:t>
            </a:r>
          </a:p>
          <a:p>
            <a:pPr lvl="1"/>
            <a:r>
              <a:rPr lang="en-US" altLang="en-US" sz="2200"/>
              <a:t>One set comprises models of persistent O-O Programming Languages such as C++ (e.g., in OBJECTSTORE or VERSANT), and Smalltalk (e.g., in GEMSTONE).</a:t>
            </a:r>
          </a:p>
          <a:p>
            <a:pPr lvl="1"/>
            <a:r>
              <a:rPr lang="en-US" altLang="en-US" sz="2200"/>
              <a:t>Additionally, systems like O2, ORION (at MCC - then ITASCA), IRIS (at H.P.- used in Open OODB).</a:t>
            </a:r>
          </a:p>
          <a:p>
            <a:pPr lvl="1"/>
            <a:r>
              <a:rPr lang="en-US" altLang="en-US" sz="2200"/>
              <a:t>Object Database Standard: ODMG-93, ODMG-version 2.0, ODMG-version 3.0.</a:t>
            </a:r>
          </a:p>
          <a:p>
            <a:pPr lvl="1"/>
            <a:r>
              <a:rPr lang="en-US" altLang="en-US" sz="2200"/>
              <a:t>Chapters 20 and 21 describe this model.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C7F0FD40-1C58-4619-9F45-2EDB7FE22FA4}" type="slidenum">
              <a:rPr lang="en-US" altLang="en-US"/>
              <a:pPr/>
              <a:t>52</a:t>
            </a:fld>
            <a:endParaRPr lang="en-CA" altLang="en-US"/>
          </a:p>
        </p:txBody>
      </p:sp>
      <p:sp>
        <p:nvSpPr>
          <p:cNvPr id="6778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History of Data Models</a:t>
            </a:r>
          </a:p>
        </p:txBody>
      </p:sp>
      <p:sp>
        <p:nvSpPr>
          <p:cNvPr id="6778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b="1"/>
              <a:t>Object-Relational Models: </a:t>
            </a:r>
          </a:p>
          <a:p>
            <a:pPr lvl="1"/>
            <a:r>
              <a:rPr lang="en-US" altLang="en-US"/>
              <a:t>Most Recent Trend. Started with Informix Universal Server.</a:t>
            </a:r>
          </a:p>
          <a:p>
            <a:pPr lvl="1"/>
            <a:r>
              <a:rPr lang="en-US" altLang="en-US"/>
              <a:t>Relational systems incorporate concepts from object databases leading to object-relational.</a:t>
            </a:r>
          </a:p>
          <a:p>
            <a:pPr lvl="1"/>
            <a:r>
              <a:rPr lang="en-US" altLang="en-US"/>
              <a:t>Exemplified in the latest versions of Oracle-10i, DB2, and SQL Server and other DBMSs.</a:t>
            </a:r>
          </a:p>
          <a:p>
            <a:pPr lvl="1"/>
            <a:r>
              <a:rPr lang="en-US" altLang="en-US"/>
              <a:t>Standards included in SQL-99 and expected to be enhanced in future SQL standards.</a:t>
            </a:r>
          </a:p>
          <a:p>
            <a:pPr lvl="1"/>
            <a:r>
              <a:rPr lang="en-US" altLang="en-US"/>
              <a:t>Chapter 22 describes this model.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r>
              <a:rPr lang="en-US" altLang="en-US"/>
              <a:t>Slide 2- </a:t>
            </a:r>
            <a:fld id="{D1E976FF-4FFE-4606-BCCB-89270413FBA0}" type="slidenum">
              <a:rPr lang="en-US" altLang="en-US"/>
              <a:pPr/>
              <a:t>53</a:t>
            </a:fld>
            <a:endParaRPr lang="en-CA" altLang="en-US"/>
          </a:p>
        </p:txBody>
      </p:sp>
      <p:sp>
        <p:nvSpPr>
          <p:cNvPr id="663556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Summary</a:t>
            </a:r>
          </a:p>
        </p:txBody>
      </p:sp>
      <p:sp>
        <p:nvSpPr>
          <p:cNvPr id="663557" name="Rectangle 1029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Data Models and Their Categories</a:t>
            </a:r>
          </a:p>
          <a:p>
            <a:pPr>
              <a:lnSpc>
                <a:spcPct val="90000"/>
              </a:lnSpc>
            </a:pPr>
            <a:r>
              <a:rPr lang="en-US" altLang="en-US"/>
              <a:t>History of Data Models</a:t>
            </a:r>
          </a:p>
          <a:p>
            <a:pPr>
              <a:lnSpc>
                <a:spcPct val="90000"/>
              </a:lnSpc>
            </a:pPr>
            <a:r>
              <a:rPr lang="en-US" altLang="en-US"/>
              <a:t>Schemas, Instances, and States</a:t>
            </a:r>
          </a:p>
          <a:p>
            <a:pPr>
              <a:lnSpc>
                <a:spcPct val="90000"/>
              </a:lnSpc>
            </a:pPr>
            <a:r>
              <a:rPr lang="en-US" altLang="en-US"/>
              <a:t>Three-Schema Architecture</a:t>
            </a:r>
          </a:p>
          <a:p>
            <a:pPr>
              <a:lnSpc>
                <a:spcPct val="90000"/>
              </a:lnSpc>
            </a:pPr>
            <a:r>
              <a:rPr lang="en-US" altLang="en-US"/>
              <a:t>Data Independence</a:t>
            </a:r>
          </a:p>
          <a:p>
            <a:pPr>
              <a:lnSpc>
                <a:spcPct val="90000"/>
              </a:lnSpc>
            </a:pPr>
            <a:r>
              <a:rPr lang="en-US" altLang="en-US"/>
              <a:t>DBMS Languages and Interfaces</a:t>
            </a:r>
          </a:p>
          <a:p>
            <a:pPr>
              <a:lnSpc>
                <a:spcPct val="90000"/>
              </a:lnSpc>
            </a:pPr>
            <a:r>
              <a:rPr lang="en-US" altLang="en-US"/>
              <a:t>Database System Utilities and Tools</a:t>
            </a:r>
          </a:p>
          <a:p>
            <a:pPr>
              <a:lnSpc>
                <a:spcPct val="90000"/>
              </a:lnSpc>
            </a:pPr>
            <a:r>
              <a:rPr lang="en-US" altLang="en-US"/>
              <a:t>Centralized and Client-Server Architectures</a:t>
            </a:r>
          </a:p>
          <a:p>
            <a:pPr>
              <a:lnSpc>
                <a:spcPct val="90000"/>
              </a:lnSpc>
            </a:pPr>
            <a:r>
              <a:rPr lang="en-US" altLang="en-US"/>
              <a:t>Classification of DBMSs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1127</TotalTime>
  <Words>2868</Words>
  <Application>Microsoft Office PowerPoint</Application>
  <PresentationFormat>Letter Paper (8.5x11 in)</PresentationFormat>
  <Paragraphs>392</Paragraphs>
  <Slides>53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Arial</vt:lpstr>
      <vt:lpstr>Tahoma</vt:lpstr>
      <vt:lpstr>Wingdings</vt:lpstr>
      <vt:lpstr>Blends</vt:lpstr>
      <vt:lpstr>PowerPoint Presentation</vt:lpstr>
      <vt:lpstr>Chapter 2</vt:lpstr>
      <vt:lpstr>Outline</vt:lpstr>
      <vt:lpstr>Data Models</vt:lpstr>
      <vt:lpstr>Data Models (continued)</vt:lpstr>
      <vt:lpstr>Categories of Data Models</vt:lpstr>
      <vt:lpstr>Schemas versus Instances</vt:lpstr>
      <vt:lpstr>Schemas versus Instances</vt:lpstr>
      <vt:lpstr>Database Schema  vs. Database State</vt:lpstr>
      <vt:lpstr>Database Schema  vs. Database State (continued)</vt:lpstr>
      <vt:lpstr>Example of a Database Schema</vt:lpstr>
      <vt:lpstr>Example of a database state</vt:lpstr>
      <vt:lpstr>Three-Schema Architecture</vt:lpstr>
      <vt:lpstr>Three-Schema Architecture</vt:lpstr>
      <vt:lpstr>The three-schema architecture</vt:lpstr>
      <vt:lpstr>Three-Schema Architecture</vt:lpstr>
      <vt:lpstr>Data Independence</vt:lpstr>
      <vt:lpstr>Data Independence (continued)</vt:lpstr>
      <vt:lpstr>DBMS Languages</vt:lpstr>
      <vt:lpstr>DBMS Languages</vt:lpstr>
      <vt:lpstr>DBMS Languages</vt:lpstr>
      <vt:lpstr>Types of DML</vt:lpstr>
      <vt:lpstr>DBMS Interfaces</vt:lpstr>
      <vt:lpstr>DBMS Programming Language Interfaces</vt:lpstr>
      <vt:lpstr>User-Friendly DBMS Interfaces</vt:lpstr>
      <vt:lpstr>Other DBMS Interfaces</vt:lpstr>
      <vt:lpstr>Database System Utilities</vt:lpstr>
      <vt:lpstr>Other Tools</vt:lpstr>
      <vt:lpstr>Other Tools</vt:lpstr>
      <vt:lpstr>Typical DBMS Component Modules</vt:lpstr>
      <vt:lpstr>Centralized and  Client-Server DBMS Architectures </vt:lpstr>
      <vt:lpstr>A Physical Centralized Architecture</vt:lpstr>
      <vt:lpstr>Basic 2-tier Client-Server Architectures</vt:lpstr>
      <vt:lpstr>Logical two-tier client server architecture</vt:lpstr>
      <vt:lpstr>Clients</vt:lpstr>
      <vt:lpstr>DBMS Server</vt:lpstr>
      <vt:lpstr>Two Tier Client-Server Architecture</vt:lpstr>
      <vt:lpstr>Three Tier Client-Server Architecture</vt:lpstr>
      <vt:lpstr>Three-tier client-server architecture</vt:lpstr>
      <vt:lpstr>Classification of DBMSs</vt:lpstr>
      <vt:lpstr>Variations of Distributed DBMSs (DDBMSs)</vt:lpstr>
      <vt:lpstr>Cost considerations for DBMSs</vt:lpstr>
      <vt:lpstr>History of Data Models </vt:lpstr>
      <vt:lpstr>History of Data Models </vt:lpstr>
      <vt:lpstr>Example of Network Model Schema</vt:lpstr>
      <vt:lpstr>Network Model</vt:lpstr>
      <vt:lpstr>Network Model</vt:lpstr>
      <vt:lpstr>History of Data Models </vt:lpstr>
      <vt:lpstr>Hierarchical Model</vt:lpstr>
      <vt:lpstr>History of Data Models </vt:lpstr>
      <vt:lpstr>History of Data Models</vt:lpstr>
      <vt:lpstr>History of Data Models</vt:lpstr>
      <vt:lpstr>Summary</vt:lpstr>
    </vt:vector>
  </TitlesOfParts>
  <Manager/>
  <Company>©2007 Pearson Addison-Wesley. All rights reserved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</dc:title>
  <dc:subject>Database System Concepts and Architecture</dc:subject>
  <dc:creator>Elmasri/Navathe</dc:creator>
  <cp:keywords/>
  <dc:description/>
  <cp:lastModifiedBy>Windows User</cp:lastModifiedBy>
  <cp:revision>57</cp:revision>
  <cp:lastPrinted>2001-11-04T00:51:13Z</cp:lastPrinted>
  <dcterms:created xsi:type="dcterms:W3CDTF">2005-02-25T19:46:41Z</dcterms:created>
  <dcterms:modified xsi:type="dcterms:W3CDTF">2022-02-11T06:00:29Z</dcterms:modified>
  <cp:category/>
</cp:coreProperties>
</file>