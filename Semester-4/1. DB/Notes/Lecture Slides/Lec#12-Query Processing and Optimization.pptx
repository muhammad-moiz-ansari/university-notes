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5"/>
  </p:notesMasterIdLst>
  <p:handoutMasterIdLst>
    <p:handoutMasterId r:id="rId36"/>
  </p:handoutMasterIdLst>
  <p:sldIdLst>
    <p:sldId id="256" r:id="rId2"/>
    <p:sldId id="257" r:id="rId3"/>
    <p:sldId id="258" r:id="rId4"/>
    <p:sldId id="259" r:id="rId5"/>
    <p:sldId id="686" r:id="rId6"/>
    <p:sldId id="687" r:id="rId7"/>
    <p:sldId id="260" r:id="rId8"/>
    <p:sldId id="679" r:id="rId9"/>
    <p:sldId id="680" r:id="rId10"/>
    <p:sldId id="261" r:id="rId11"/>
    <p:sldId id="262" r:id="rId12"/>
    <p:sldId id="681" r:id="rId13"/>
    <p:sldId id="683" r:id="rId14"/>
    <p:sldId id="682" r:id="rId15"/>
    <p:sldId id="265" r:id="rId16"/>
    <p:sldId id="266" r:id="rId17"/>
    <p:sldId id="267" r:id="rId18"/>
    <p:sldId id="268" r:id="rId19"/>
    <p:sldId id="269" r:id="rId20"/>
    <p:sldId id="684" r:id="rId21"/>
    <p:sldId id="685" r:id="rId22"/>
    <p:sldId id="270" r:id="rId23"/>
    <p:sldId id="678" r:id="rId24"/>
    <p:sldId id="674" r:id="rId25"/>
    <p:sldId id="675" r:id="rId26"/>
    <p:sldId id="676" r:id="rId27"/>
    <p:sldId id="677" r:id="rId28"/>
    <p:sldId id="271" r:id="rId29"/>
    <p:sldId id="272" r:id="rId30"/>
    <p:sldId id="273" r:id="rId31"/>
    <p:sldId id="274" r:id="rId32"/>
    <p:sldId id="275" r:id="rId33"/>
    <p:sldId id="276" r:id="rId3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6"/>
    <p:restoredTop sz="68364" autoAdjust="0"/>
  </p:normalViewPr>
  <p:slideViewPr>
    <p:cSldViewPr>
      <p:cViewPr varScale="1">
        <p:scale>
          <a:sx n="50" d="100"/>
          <a:sy n="50" d="100"/>
        </p:scale>
        <p:origin x="190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FC0CE643-5E24-48D2-9716-089B7C807D10}" type="datetimeFigureOut">
              <a:rPr lang="en-US" smtClean="0"/>
              <a:t>12/16/2021</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634BB7A6-3AF8-42A0-A4BF-BCAB680FB551}" type="slidenum">
              <a:rPr lang="en-US" smtClean="0"/>
              <a:t>‹#›</a:t>
            </a:fld>
            <a:endParaRPr lang="en-US"/>
          </a:p>
        </p:txBody>
      </p:sp>
    </p:spTree>
    <p:extLst>
      <p:ext uri="{BB962C8B-B14F-4D97-AF65-F5344CB8AC3E}">
        <p14:creationId xmlns:p14="http://schemas.microsoft.com/office/powerpoint/2010/main" val="42437684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8AC1BAE5-4C81-4A63-AD59-50D968DCB802}" type="datetimeFigureOut">
              <a:rPr lang="en-US" smtClean="0"/>
              <a:pPr/>
              <a:t>12/16/2021</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BD3BFAD4-84E1-4A06-B3FB-C24082B2CAE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a:t>
            </a:r>
            <a:r>
              <a:rPr lang="en-US" sz="1200" b="1" i="0" u="none" strike="noStrike" kern="1200" baseline="0" dirty="0" smtClean="0">
                <a:solidFill>
                  <a:schemeClr val="tx1"/>
                </a:solidFill>
                <a:latin typeface="+mn-lt"/>
                <a:ea typeface="+mn-ea"/>
                <a:cs typeface="+mn-cs"/>
              </a:rPr>
              <a:t>scanner </a:t>
            </a:r>
            <a:r>
              <a:rPr lang="en-US" sz="1200" b="0" i="0" u="none" strike="noStrike" kern="1200" baseline="0" dirty="0" smtClean="0">
                <a:solidFill>
                  <a:schemeClr val="tx1"/>
                </a:solidFill>
                <a:latin typeface="+mn-lt"/>
                <a:ea typeface="+mn-ea"/>
                <a:cs typeface="+mn-cs"/>
              </a:rPr>
              <a:t>identifies the query tokens—such as SQL keywords, attribute names, and relation names—that appear in the text of the query,</a:t>
            </a:r>
          </a:p>
          <a:p>
            <a:r>
              <a:rPr lang="en-US" sz="1200" b="0" i="0" u="none" strike="noStrike" kern="1200" baseline="0" dirty="0" smtClean="0">
                <a:solidFill>
                  <a:schemeClr val="tx1"/>
                </a:solidFill>
                <a:latin typeface="+mn-lt"/>
                <a:ea typeface="+mn-ea"/>
                <a:cs typeface="+mn-cs"/>
              </a:rPr>
              <a:t>whereas the </a:t>
            </a:r>
            <a:r>
              <a:rPr lang="en-US" sz="1200" b="1" i="0" u="none" strike="noStrike" kern="1200" baseline="0" dirty="0" smtClean="0">
                <a:solidFill>
                  <a:schemeClr val="tx1"/>
                </a:solidFill>
                <a:latin typeface="+mn-lt"/>
                <a:ea typeface="+mn-ea"/>
                <a:cs typeface="+mn-cs"/>
              </a:rPr>
              <a:t>parser </a:t>
            </a:r>
            <a:r>
              <a:rPr lang="en-US" sz="1200" b="0" i="0" u="none" strike="noStrike" kern="1200" baseline="0" dirty="0" smtClean="0">
                <a:solidFill>
                  <a:schemeClr val="tx1"/>
                </a:solidFill>
                <a:latin typeface="+mn-lt"/>
                <a:ea typeface="+mn-ea"/>
                <a:cs typeface="+mn-cs"/>
              </a:rPr>
              <a:t>checks the query syntax to determine whether it is formulated according to the syntax rules (rules of grammar) of the query language. The query</a:t>
            </a:r>
          </a:p>
          <a:p>
            <a:r>
              <a:rPr lang="en-US" sz="1200" b="0" i="0" u="none" strike="noStrike" kern="1200" baseline="0" dirty="0" smtClean="0">
                <a:solidFill>
                  <a:schemeClr val="tx1"/>
                </a:solidFill>
                <a:latin typeface="+mn-lt"/>
                <a:ea typeface="+mn-ea"/>
                <a:cs typeface="+mn-cs"/>
              </a:rPr>
              <a:t>must also be </a:t>
            </a:r>
            <a:r>
              <a:rPr lang="en-US" sz="1200" b="1" i="0" u="none" strike="noStrike" kern="1200" baseline="0" dirty="0" smtClean="0">
                <a:solidFill>
                  <a:schemeClr val="tx1"/>
                </a:solidFill>
                <a:latin typeface="+mn-lt"/>
                <a:ea typeface="+mn-ea"/>
                <a:cs typeface="+mn-cs"/>
              </a:rPr>
              <a:t>validated </a:t>
            </a:r>
            <a:r>
              <a:rPr lang="en-US" sz="1200" b="0" i="0" u="none" strike="noStrike" kern="1200" baseline="0" dirty="0" smtClean="0">
                <a:solidFill>
                  <a:schemeClr val="tx1"/>
                </a:solidFill>
                <a:latin typeface="+mn-lt"/>
                <a:ea typeface="+mn-ea"/>
                <a:cs typeface="+mn-cs"/>
              </a:rPr>
              <a:t>by checking that all attribute and relation names are valid and semantically meaningful names in the schema of the particular database being</a:t>
            </a:r>
          </a:p>
          <a:p>
            <a:r>
              <a:rPr lang="en-US" sz="1200" b="0" i="0" u="none" strike="noStrike" kern="1200" baseline="0" dirty="0" smtClean="0">
                <a:solidFill>
                  <a:schemeClr val="tx1"/>
                </a:solidFill>
                <a:latin typeface="+mn-lt"/>
                <a:ea typeface="+mn-ea"/>
                <a:cs typeface="+mn-cs"/>
              </a:rPr>
              <a:t>queried. An internal representation of the query is then created, usually as a tree data structure called a </a:t>
            </a:r>
            <a:r>
              <a:rPr lang="en-US" sz="1200" b="1" i="0" u="none" strike="noStrike" kern="1200" baseline="0" dirty="0" smtClean="0">
                <a:solidFill>
                  <a:schemeClr val="tx1"/>
                </a:solidFill>
                <a:latin typeface="+mn-lt"/>
                <a:ea typeface="+mn-ea"/>
                <a:cs typeface="+mn-cs"/>
              </a:rPr>
              <a:t>query tree</a:t>
            </a:r>
            <a:r>
              <a:rPr lang="en-US" sz="1200" b="0" i="0" u="none" strike="noStrike" kern="1200" baseline="0" dirty="0" smtClean="0">
                <a:solidFill>
                  <a:schemeClr val="tx1"/>
                </a:solidFill>
                <a:latin typeface="+mn-lt"/>
                <a:ea typeface="+mn-ea"/>
                <a:cs typeface="+mn-cs"/>
              </a:rPr>
              <a:t>. It is also possible to represent the query using a</a:t>
            </a:r>
          </a:p>
          <a:p>
            <a:r>
              <a:rPr lang="en-US" sz="1200" b="0" i="0" u="none" strike="noStrike" kern="1200" baseline="0" dirty="0" smtClean="0">
                <a:solidFill>
                  <a:schemeClr val="tx1"/>
                </a:solidFill>
                <a:latin typeface="+mn-lt"/>
                <a:ea typeface="+mn-ea"/>
                <a:cs typeface="+mn-cs"/>
              </a:rPr>
              <a:t>graph data structure called a </a:t>
            </a:r>
            <a:r>
              <a:rPr lang="en-US" sz="1200" b="1" i="0" u="none" strike="noStrike" kern="1200" baseline="0" dirty="0" smtClean="0">
                <a:solidFill>
                  <a:schemeClr val="tx1"/>
                </a:solidFill>
                <a:latin typeface="+mn-lt"/>
                <a:ea typeface="+mn-ea"/>
                <a:cs typeface="+mn-cs"/>
              </a:rPr>
              <a:t>query graph</a:t>
            </a:r>
            <a:r>
              <a:rPr lang="en-US" sz="1200" b="0" i="0" u="none" strike="noStrike" kern="1200" baseline="0" dirty="0" smtClean="0">
                <a:solidFill>
                  <a:schemeClr val="tx1"/>
                </a:solidFill>
                <a:latin typeface="+mn-lt"/>
                <a:ea typeface="+mn-ea"/>
                <a:cs typeface="+mn-cs"/>
              </a:rPr>
              <a:t>, which is generally a </a:t>
            </a:r>
            <a:r>
              <a:rPr lang="en-US" sz="1200" b="1" i="0" u="none" strike="noStrike" kern="1200" baseline="0" dirty="0" smtClean="0">
                <a:solidFill>
                  <a:schemeClr val="tx1"/>
                </a:solidFill>
                <a:latin typeface="+mn-lt"/>
                <a:ea typeface="+mn-ea"/>
                <a:cs typeface="+mn-cs"/>
              </a:rPr>
              <a:t>directed acyclic graph (DAG)</a:t>
            </a:r>
            <a:r>
              <a:rPr lang="en-US" sz="1200" b="0" i="0" u="none" strike="noStrike" kern="1200" baseline="0" dirty="0" smtClean="0">
                <a:solidFill>
                  <a:schemeClr val="tx1"/>
                </a:solidFill>
                <a:latin typeface="+mn-lt"/>
                <a:ea typeface="+mn-ea"/>
                <a:cs typeface="+mn-cs"/>
              </a:rPr>
              <a:t>. The DBMS must then devise an </a:t>
            </a:r>
            <a:r>
              <a:rPr lang="en-US" sz="1200" b="1" i="0" u="none" strike="noStrike" kern="1200" baseline="0" dirty="0" smtClean="0">
                <a:solidFill>
                  <a:schemeClr val="tx1"/>
                </a:solidFill>
                <a:latin typeface="+mn-lt"/>
                <a:ea typeface="+mn-ea"/>
                <a:cs typeface="+mn-cs"/>
              </a:rPr>
              <a:t>execution strategy </a:t>
            </a:r>
            <a:r>
              <a:rPr lang="en-US" sz="1200" b="0" i="0" u="none" strike="noStrike" kern="1200" baseline="0" dirty="0" smtClean="0">
                <a:solidFill>
                  <a:schemeClr val="tx1"/>
                </a:solidFill>
                <a:latin typeface="+mn-lt"/>
                <a:ea typeface="+mn-ea"/>
                <a:cs typeface="+mn-cs"/>
              </a:rPr>
              <a:t>or </a:t>
            </a:r>
            <a:r>
              <a:rPr lang="en-US" sz="1200" b="1" i="0" u="none" strike="noStrike" kern="1200" baseline="0" dirty="0" smtClean="0">
                <a:solidFill>
                  <a:schemeClr val="tx1"/>
                </a:solidFill>
                <a:latin typeface="+mn-lt"/>
                <a:ea typeface="+mn-ea"/>
                <a:cs typeface="+mn-cs"/>
              </a:rPr>
              <a:t>query plan</a:t>
            </a:r>
          </a:p>
          <a:p>
            <a:r>
              <a:rPr lang="en-US" sz="1200" b="0" i="0" u="none" strike="noStrike" kern="1200" baseline="0" dirty="0" smtClean="0">
                <a:solidFill>
                  <a:schemeClr val="tx1"/>
                </a:solidFill>
                <a:latin typeface="+mn-lt"/>
                <a:ea typeface="+mn-ea"/>
                <a:cs typeface="+mn-cs"/>
              </a:rPr>
              <a:t>for retrieving the results of the query from the database files. A query has many possible execution strategies, and the process</a:t>
            </a:r>
            <a:endParaRPr lang="en-US" dirty="0"/>
          </a:p>
        </p:txBody>
      </p:sp>
      <p:sp>
        <p:nvSpPr>
          <p:cNvPr id="4" name="Slide Number Placeholder 3"/>
          <p:cNvSpPr>
            <a:spLocks noGrp="1"/>
          </p:cNvSpPr>
          <p:nvPr>
            <p:ph type="sldNum" sz="quarter" idx="10"/>
          </p:nvPr>
        </p:nvSpPr>
        <p:spPr/>
        <p:txBody>
          <a:bodyPr/>
          <a:lstStyle/>
          <a:p>
            <a:fld id="{BD3BFAD4-84E1-4A06-B3FB-C24082B2CAEB}" type="slidenum">
              <a:rPr lang="en-US" smtClean="0"/>
              <a:pPr/>
              <a:t>4</a:t>
            </a:fld>
            <a:endParaRPr lang="en-US"/>
          </a:p>
        </p:txBody>
      </p:sp>
    </p:spTree>
    <p:extLst>
      <p:ext uri="{BB962C8B-B14F-4D97-AF65-F5344CB8AC3E}">
        <p14:creationId xmlns:p14="http://schemas.microsoft.com/office/powerpoint/2010/main" val="490736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3BFAD4-84E1-4A06-B3FB-C24082B2CAEB}" type="slidenum">
              <a:rPr lang="en-US" smtClean="0"/>
              <a:pPr/>
              <a:t>12</a:t>
            </a:fld>
            <a:endParaRPr lang="en-US"/>
          </a:p>
        </p:txBody>
      </p:sp>
    </p:spTree>
    <p:extLst>
      <p:ext uri="{BB962C8B-B14F-4D97-AF65-F5344CB8AC3E}">
        <p14:creationId xmlns:p14="http://schemas.microsoft.com/office/powerpoint/2010/main" val="4144475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sec 1566 on 12</a:t>
            </a:r>
            <a:r>
              <a:rPr lang="en-US" baseline="30000" dirty="0"/>
              <a:t>th</a:t>
            </a:r>
            <a:r>
              <a:rPr lang="en-US" dirty="0"/>
              <a:t> March, 2019</a:t>
            </a:r>
          </a:p>
        </p:txBody>
      </p:sp>
      <p:sp>
        <p:nvSpPr>
          <p:cNvPr id="4" name="Slide Number Placeholder 3"/>
          <p:cNvSpPr>
            <a:spLocks noGrp="1"/>
          </p:cNvSpPr>
          <p:nvPr>
            <p:ph type="sldNum" sz="quarter" idx="10"/>
          </p:nvPr>
        </p:nvSpPr>
        <p:spPr/>
        <p:txBody>
          <a:bodyPr/>
          <a:lstStyle/>
          <a:p>
            <a:fld id="{38255563-1B15-4201-A150-EECF0BBBD012}" type="slidenum">
              <a:rPr lang="en-US" smtClean="0"/>
              <a:t>23</a:t>
            </a:fld>
            <a:endParaRPr lang="en-US"/>
          </a:p>
        </p:txBody>
      </p:sp>
    </p:spTree>
    <p:extLst>
      <p:ext uri="{BB962C8B-B14F-4D97-AF65-F5344CB8AC3E}">
        <p14:creationId xmlns:p14="http://schemas.microsoft.com/office/powerpoint/2010/main" val="3083011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255563-1B15-4201-A150-EECF0BBBD012}" type="slidenum">
              <a:rPr lang="en-US" smtClean="0"/>
              <a:t>27</a:t>
            </a:fld>
            <a:endParaRPr lang="en-US"/>
          </a:p>
        </p:txBody>
      </p:sp>
    </p:spTree>
    <p:extLst>
      <p:ext uri="{BB962C8B-B14F-4D97-AF65-F5344CB8AC3E}">
        <p14:creationId xmlns:p14="http://schemas.microsoft.com/office/powerpoint/2010/main" val="1438564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A77B5E-8D61-4AE1-84E3-D65F7E187FA0}" type="datetime4">
              <a:rPr lang="en-US" smtClean="0"/>
              <a:pPr/>
              <a:t>December 16, 2021</a:t>
            </a:fld>
            <a:endParaRPr lang="en-US"/>
          </a:p>
        </p:txBody>
      </p:sp>
      <p:sp>
        <p:nvSpPr>
          <p:cNvPr id="5" name="Footer Placeholder 4"/>
          <p:cNvSpPr>
            <a:spLocks noGrp="1"/>
          </p:cNvSpPr>
          <p:nvPr>
            <p:ph type="ftr" sz="quarter" idx="11"/>
          </p:nvPr>
        </p:nvSpPr>
        <p:spPr/>
        <p:txBody>
          <a:bodyPr/>
          <a:lstStyle/>
          <a:p>
            <a:r>
              <a:rPr lang="en-US"/>
              <a:t>Databases: Query Proc. &amp; Opt.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44013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C33146-C563-482C-821F-D78540E7D1A3}" type="datetime4">
              <a:rPr lang="en-US" smtClean="0"/>
              <a:pPr/>
              <a:t>December 16, 2021</a:t>
            </a:fld>
            <a:endParaRPr lang="en-US"/>
          </a:p>
        </p:txBody>
      </p:sp>
      <p:sp>
        <p:nvSpPr>
          <p:cNvPr id="5" name="Footer Placeholder 4"/>
          <p:cNvSpPr>
            <a:spLocks noGrp="1"/>
          </p:cNvSpPr>
          <p:nvPr>
            <p:ph type="ftr" sz="quarter" idx="11"/>
          </p:nvPr>
        </p:nvSpPr>
        <p:spPr/>
        <p:txBody>
          <a:bodyPr/>
          <a:lstStyle/>
          <a:p>
            <a:r>
              <a:rPr lang="en-US"/>
              <a:t>Databases: Query Proc. &amp; Opt.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5230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BAFE872-5D38-44B2-AB3D-BCDA891BB4D2}" type="datetime4">
              <a:rPr lang="en-US" smtClean="0"/>
              <a:pPr/>
              <a:t>December 16, 2021</a:t>
            </a:fld>
            <a:endParaRPr lang="en-US"/>
          </a:p>
        </p:txBody>
      </p:sp>
      <p:sp>
        <p:nvSpPr>
          <p:cNvPr id="5" name="Footer Placeholder 4"/>
          <p:cNvSpPr>
            <a:spLocks noGrp="1"/>
          </p:cNvSpPr>
          <p:nvPr>
            <p:ph type="ftr" sz="quarter" idx="11"/>
          </p:nvPr>
        </p:nvSpPr>
        <p:spPr/>
        <p:txBody>
          <a:bodyPr/>
          <a:lstStyle/>
          <a:p>
            <a:r>
              <a:rPr lang="en-US"/>
              <a:t>Databases: Query Proc. &amp; Opt.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8072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C634E3-B761-47FF-87E4-90927F86D04E}" type="datetime4">
              <a:rPr lang="en-US" smtClean="0"/>
              <a:pPr/>
              <a:t>December 16, 2021</a:t>
            </a:fld>
            <a:endParaRPr lang="en-US"/>
          </a:p>
        </p:txBody>
      </p:sp>
      <p:sp>
        <p:nvSpPr>
          <p:cNvPr id="6" name="Footer Placeholder 5"/>
          <p:cNvSpPr>
            <a:spLocks noGrp="1"/>
          </p:cNvSpPr>
          <p:nvPr>
            <p:ph type="ftr" sz="quarter" idx="11"/>
          </p:nvPr>
        </p:nvSpPr>
        <p:spPr/>
        <p:txBody>
          <a:bodyPr/>
          <a:lstStyle/>
          <a:p>
            <a:r>
              <a:rPr lang="en-US"/>
              <a:t>Databases: Query Proc. &amp; Opt.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3526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CE49EB-04E2-414C-815E-E16B1A463422}" type="datetime4">
              <a:rPr lang="en-US" smtClean="0"/>
              <a:pPr/>
              <a:t>December 16, 2021</a:t>
            </a:fld>
            <a:endParaRPr lang="en-US"/>
          </a:p>
        </p:txBody>
      </p:sp>
      <p:sp>
        <p:nvSpPr>
          <p:cNvPr id="8" name="Footer Placeholder 7"/>
          <p:cNvSpPr>
            <a:spLocks noGrp="1"/>
          </p:cNvSpPr>
          <p:nvPr>
            <p:ph type="ftr" sz="quarter" idx="11"/>
          </p:nvPr>
        </p:nvSpPr>
        <p:spPr/>
        <p:txBody>
          <a:bodyPr/>
          <a:lstStyle/>
          <a:p>
            <a:r>
              <a:rPr lang="en-US"/>
              <a:t>Databases: Query Proc. &amp; Opt.</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8415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3EC87A-4C1D-4FE8-88FD-1605B9F82242}" type="datetime4">
              <a:rPr lang="en-US" smtClean="0"/>
              <a:pPr/>
              <a:t>December 16, 2021</a:t>
            </a:fld>
            <a:endParaRPr lang="en-US"/>
          </a:p>
        </p:txBody>
      </p:sp>
      <p:sp>
        <p:nvSpPr>
          <p:cNvPr id="4" name="Footer Placeholder 3"/>
          <p:cNvSpPr>
            <a:spLocks noGrp="1"/>
          </p:cNvSpPr>
          <p:nvPr>
            <p:ph type="ftr" sz="quarter" idx="11"/>
          </p:nvPr>
        </p:nvSpPr>
        <p:spPr/>
        <p:txBody>
          <a:bodyPr/>
          <a:lstStyle/>
          <a:p>
            <a:r>
              <a:rPr lang="en-US"/>
              <a:t>Databases: Query Proc. &amp; Opt.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46952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2CCB96-C85C-4C85-8063-9A0E1C442DEF}" type="datetime4">
              <a:rPr lang="en-US" smtClean="0"/>
              <a:pPr/>
              <a:t>December 16, 2021</a:t>
            </a:fld>
            <a:endParaRPr lang="en-US"/>
          </a:p>
        </p:txBody>
      </p:sp>
      <p:sp>
        <p:nvSpPr>
          <p:cNvPr id="3" name="Footer Placeholder 2"/>
          <p:cNvSpPr>
            <a:spLocks noGrp="1"/>
          </p:cNvSpPr>
          <p:nvPr>
            <p:ph type="ftr" sz="quarter" idx="11"/>
          </p:nvPr>
        </p:nvSpPr>
        <p:spPr/>
        <p:txBody>
          <a:bodyPr/>
          <a:lstStyle/>
          <a:p>
            <a:r>
              <a:rPr lang="en-US"/>
              <a:t>Databases: Query Proc. &amp; Opt.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453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B134BE4-C557-4581-A186-B87F46A0F6AF}" type="datetime4">
              <a:rPr lang="en-US" smtClean="0"/>
              <a:pPr/>
              <a:t>December 16, 2021</a:t>
            </a:fld>
            <a:endParaRPr lang="en-US"/>
          </a:p>
        </p:txBody>
      </p:sp>
      <p:sp>
        <p:nvSpPr>
          <p:cNvPr id="6" name="Footer Placeholder 5"/>
          <p:cNvSpPr>
            <a:spLocks noGrp="1"/>
          </p:cNvSpPr>
          <p:nvPr>
            <p:ph type="ftr" sz="quarter" idx="11"/>
          </p:nvPr>
        </p:nvSpPr>
        <p:spPr/>
        <p:txBody>
          <a:bodyPr/>
          <a:lstStyle/>
          <a:p>
            <a:r>
              <a:rPr lang="en-US"/>
              <a:t>Databases: Query Proc. &amp; Opt.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7611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332D4E3-366B-4304-9DE5-376B244865B6}" type="datetime4">
              <a:rPr lang="en-US" smtClean="0"/>
              <a:pPr/>
              <a:t>December 16, 2021</a:t>
            </a:fld>
            <a:endParaRPr lang="en-US"/>
          </a:p>
        </p:txBody>
      </p:sp>
      <p:sp>
        <p:nvSpPr>
          <p:cNvPr id="6" name="Footer Placeholder 5"/>
          <p:cNvSpPr>
            <a:spLocks noGrp="1"/>
          </p:cNvSpPr>
          <p:nvPr>
            <p:ph type="ftr" sz="quarter" idx="11"/>
          </p:nvPr>
        </p:nvSpPr>
        <p:spPr/>
        <p:txBody>
          <a:bodyPr/>
          <a:lstStyle/>
          <a:p>
            <a:r>
              <a:rPr lang="en-US"/>
              <a:t>Databases: Query Proc. &amp; Opt.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616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9EBE59-EF03-44F0-A065-BA4F2572B5B5}" type="datetime4">
              <a:rPr lang="en-US" smtClean="0"/>
              <a:pPr/>
              <a:t>December 16, 2021</a:t>
            </a:fld>
            <a:endParaRPr lang="en-US"/>
          </a:p>
        </p:txBody>
      </p:sp>
      <p:sp>
        <p:nvSpPr>
          <p:cNvPr id="5" name="Footer Placeholder 4"/>
          <p:cNvSpPr>
            <a:spLocks noGrp="1"/>
          </p:cNvSpPr>
          <p:nvPr>
            <p:ph type="ftr" sz="quarter" idx="11"/>
          </p:nvPr>
        </p:nvSpPr>
        <p:spPr/>
        <p:txBody>
          <a:bodyPr/>
          <a:lstStyle/>
          <a:p>
            <a:r>
              <a:rPr lang="en-US"/>
              <a:t>Databases: Query Proc. &amp; Opt.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3555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1034F5-56F7-4294-B962-45F00A9CE5D7}" type="datetime4">
              <a:rPr lang="en-US" smtClean="0"/>
              <a:pPr/>
              <a:t>December 16, 2021</a:t>
            </a:fld>
            <a:endParaRPr lang="en-US"/>
          </a:p>
        </p:txBody>
      </p:sp>
      <p:sp>
        <p:nvSpPr>
          <p:cNvPr id="5" name="Footer Placeholder 4"/>
          <p:cNvSpPr>
            <a:spLocks noGrp="1"/>
          </p:cNvSpPr>
          <p:nvPr>
            <p:ph type="ftr" sz="quarter" idx="11"/>
          </p:nvPr>
        </p:nvSpPr>
        <p:spPr/>
        <p:txBody>
          <a:bodyPr/>
          <a:lstStyle/>
          <a:p>
            <a:r>
              <a:rPr lang="en-US"/>
              <a:t>Databases: Query Proc. &amp; Opt.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787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EBEBF-D43D-4D8C-B590-BB8BDEFD7DF5}" type="datetime4">
              <a:rPr lang="en-US" smtClean="0"/>
              <a:pPr/>
              <a:t>December 16, 2021</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Databases: Query Proc. &amp; Opt.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7262269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Grp="1" noChangeArrowheads="1"/>
          </p:cNvSpPr>
          <p:nvPr>
            <p:ph type="ctrTitle"/>
          </p:nvPr>
        </p:nvSpPr>
        <p:spPr/>
        <p:txBody>
          <a:bodyPr/>
          <a:lstStyle/>
          <a:p>
            <a:r>
              <a:rPr lang="en-US" sz="3600" b="1" dirty="0"/>
              <a:t>Query Processing and Optimization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6" name="Rectangle 2"/>
          <p:cNvSpPr>
            <a:spLocks noGrp="1" noChangeArrowheads="1"/>
          </p:cNvSpPr>
          <p:nvPr>
            <p:ph type="title"/>
          </p:nvPr>
        </p:nvSpPr>
        <p:spPr/>
        <p:txBody>
          <a:bodyPr/>
          <a:lstStyle/>
          <a:p>
            <a:r>
              <a:rPr lang="en-US"/>
              <a:t>Objectives</a:t>
            </a:r>
          </a:p>
        </p:txBody>
      </p:sp>
      <p:sp>
        <p:nvSpPr>
          <p:cNvPr id="1025027" name="Rectangle 3"/>
          <p:cNvSpPr>
            <a:spLocks noGrp="1" noChangeArrowheads="1"/>
          </p:cNvSpPr>
          <p:nvPr>
            <p:ph idx="1"/>
          </p:nvPr>
        </p:nvSpPr>
        <p:spPr>
          <a:xfrm>
            <a:off x="762000" y="2286000"/>
            <a:ext cx="7772400" cy="4114800"/>
          </a:xfrm>
        </p:spPr>
        <p:txBody>
          <a:bodyPr/>
          <a:lstStyle/>
          <a:p>
            <a:r>
              <a:rPr lang="en-US" dirty="0"/>
              <a:t>Introduction</a:t>
            </a:r>
          </a:p>
          <a:p>
            <a:r>
              <a:rPr lang="en-US" dirty="0"/>
              <a:t>Major Phases in Query Processing</a:t>
            </a:r>
          </a:p>
          <a:p>
            <a:r>
              <a:rPr lang="en-US" dirty="0"/>
              <a:t>Optimizing Queries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p:txBody>
          <a:bodyPr/>
          <a:lstStyle/>
          <a:p>
            <a:r>
              <a:rPr lang="en-US" dirty="0"/>
              <a:t>Introduction</a:t>
            </a:r>
          </a:p>
        </p:txBody>
      </p:sp>
      <p:sp>
        <p:nvSpPr>
          <p:cNvPr id="1026051" name="Rectangle 3"/>
          <p:cNvSpPr>
            <a:spLocks noGrp="1" noChangeArrowheads="1"/>
          </p:cNvSpPr>
          <p:nvPr>
            <p:ph idx="1"/>
          </p:nvPr>
        </p:nvSpPr>
        <p:spPr>
          <a:xfrm>
            <a:off x="762000" y="2133600"/>
            <a:ext cx="7772400" cy="4114800"/>
          </a:xfrm>
        </p:spPr>
        <p:txBody>
          <a:bodyPr/>
          <a:lstStyle/>
          <a:p>
            <a:r>
              <a:rPr lang="en-US"/>
              <a:t>With declarative languages such as SQL, the user specifies what data is required rather than how it is retrieved </a:t>
            </a:r>
          </a:p>
          <a:p>
            <a:endParaRPr lang="en-US" sz="1000"/>
          </a:p>
          <a:p>
            <a:r>
              <a:rPr lang="en-US"/>
              <a:t>Relieves user of knowing what constitutes a good execution strategy</a:t>
            </a:r>
          </a:p>
          <a:p>
            <a:endParaRPr lang="en-US" sz="1000"/>
          </a:p>
          <a:p>
            <a:r>
              <a:rPr lang="en-US"/>
              <a:t>Also gives the DBMS more control over system performance.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r>
              <a:rPr lang="en-US" dirty="0"/>
              <a:t>Processing a High-Level Query</a:t>
            </a:r>
          </a:p>
        </p:txBody>
      </p:sp>
      <p:sp>
        <p:nvSpPr>
          <p:cNvPr id="1027075" name="Rectangle 3"/>
          <p:cNvSpPr>
            <a:spLocks noChangeArrowheads="1"/>
          </p:cNvSpPr>
          <p:nvPr/>
        </p:nvSpPr>
        <p:spPr bwMode="auto">
          <a:xfrm>
            <a:off x="3505200" y="3429000"/>
            <a:ext cx="1981200" cy="304800"/>
          </a:xfrm>
          <a:prstGeom prst="rect">
            <a:avLst/>
          </a:prstGeom>
          <a:noFill/>
          <a:ln w="9525">
            <a:solidFill>
              <a:schemeClr val="tx1"/>
            </a:solidFill>
            <a:miter lim="800000"/>
            <a:headEnd/>
            <a:tailEnd/>
          </a:ln>
          <a:effectLst/>
        </p:spPr>
        <p:txBody>
          <a:bodyPr wrap="none" anchor="ctr"/>
          <a:lstStyle/>
          <a:p>
            <a:endParaRPr lang="en-US"/>
          </a:p>
        </p:txBody>
      </p:sp>
      <p:sp>
        <p:nvSpPr>
          <p:cNvPr id="1027076" name="Rectangle 4"/>
          <p:cNvSpPr>
            <a:spLocks noChangeArrowheads="1"/>
          </p:cNvSpPr>
          <p:nvPr/>
        </p:nvSpPr>
        <p:spPr bwMode="auto">
          <a:xfrm>
            <a:off x="2819400" y="2362200"/>
            <a:ext cx="3429000" cy="304800"/>
          </a:xfrm>
          <a:prstGeom prst="rect">
            <a:avLst/>
          </a:prstGeom>
          <a:noFill/>
          <a:ln w="9525">
            <a:solidFill>
              <a:schemeClr val="tx1"/>
            </a:solidFill>
            <a:miter lim="800000"/>
            <a:headEnd/>
            <a:tailEnd/>
          </a:ln>
          <a:effectLst/>
        </p:spPr>
        <p:txBody>
          <a:bodyPr wrap="none" anchor="ctr"/>
          <a:lstStyle/>
          <a:p>
            <a:endParaRPr lang="en-US"/>
          </a:p>
        </p:txBody>
      </p:sp>
      <p:sp>
        <p:nvSpPr>
          <p:cNvPr id="1027077" name="Rectangle 5"/>
          <p:cNvSpPr>
            <a:spLocks noChangeArrowheads="1"/>
          </p:cNvSpPr>
          <p:nvPr/>
        </p:nvSpPr>
        <p:spPr bwMode="auto">
          <a:xfrm>
            <a:off x="3368675" y="4433888"/>
            <a:ext cx="2362200" cy="304800"/>
          </a:xfrm>
          <a:prstGeom prst="rect">
            <a:avLst/>
          </a:prstGeom>
          <a:noFill/>
          <a:ln w="9525">
            <a:solidFill>
              <a:schemeClr val="tx1"/>
            </a:solidFill>
            <a:miter lim="800000"/>
            <a:headEnd/>
            <a:tailEnd/>
          </a:ln>
          <a:effectLst/>
        </p:spPr>
        <p:txBody>
          <a:bodyPr wrap="none" anchor="ctr"/>
          <a:lstStyle/>
          <a:p>
            <a:endParaRPr lang="en-US"/>
          </a:p>
        </p:txBody>
      </p:sp>
      <p:sp>
        <p:nvSpPr>
          <p:cNvPr id="1027078" name="Rectangle 6"/>
          <p:cNvSpPr>
            <a:spLocks noChangeArrowheads="1"/>
          </p:cNvSpPr>
          <p:nvPr/>
        </p:nvSpPr>
        <p:spPr bwMode="auto">
          <a:xfrm>
            <a:off x="3455988" y="5518150"/>
            <a:ext cx="2286000" cy="304800"/>
          </a:xfrm>
          <a:prstGeom prst="rect">
            <a:avLst/>
          </a:prstGeom>
          <a:noFill/>
          <a:ln w="9525">
            <a:solidFill>
              <a:schemeClr val="tx1"/>
            </a:solidFill>
            <a:miter lim="800000"/>
            <a:headEnd/>
            <a:tailEnd/>
          </a:ln>
          <a:effectLst/>
        </p:spPr>
        <p:txBody>
          <a:bodyPr wrap="none" anchor="ctr"/>
          <a:lstStyle/>
          <a:p>
            <a:endParaRPr lang="en-US"/>
          </a:p>
        </p:txBody>
      </p:sp>
      <p:sp>
        <p:nvSpPr>
          <p:cNvPr id="1027079" name="Text Box 7"/>
          <p:cNvSpPr txBox="1">
            <a:spLocks noChangeArrowheads="1"/>
          </p:cNvSpPr>
          <p:nvPr/>
        </p:nvSpPr>
        <p:spPr bwMode="auto">
          <a:xfrm>
            <a:off x="3048000" y="1797050"/>
            <a:ext cx="2741613" cy="336550"/>
          </a:xfrm>
          <a:prstGeom prst="rect">
            <a:avLst/>
          </a:prstGeom>
          <a:noFill/>
          <a:ln w="9525">
            <a:noFill/>
            <a:miter lim="800000"/>
            <a:headEnd/>
            <a:tailEnd/>
          </a:ln>
          <a:effectLst/>
        </p:spPr>
        <p:txBody>
          <a:bodyPr wrap="none">
            <a:spAutoFit/>
          </a:bodyPr>
          <a:lstStyle/>
          <a:p>
            <a:r>
              <a:rPr lang="en-US" sz="1600">
                <a:cs typeface="Arial" charset="0"/>
              </a:rPr>
              <a:t>Query in high level language</a:t>
            </a:r>
          </a:p>
        </p:txBody>
      </p:sp>
      <p:sp>
        <p:nvSpPr>
          <p:cNvPr id="1027080" name="Text Box 8"/>
          <p:cNvSpPr txBox="1">
            <a:spLocks noChangeArrowheads="1"/>
          </p:cNvSpPr>
          <p:nvPr/>
        </p:nvSpPr>
        <p:spPr bwMode="auto">
          <a:xfrm>
            <a:off x="2971800" y="2330450"/>
            <a:ext cx="3429000" cy="336550"/>
          </a:xfrm>
          <a:prstGeom prst="rect">
            <a:avLst/>
          </a:prstGeom>
          <a:noFill/>
          <a:ln w="9525">
            <a:noFill/>
            <a:miter lim="800000"/>
            <a:headEnd/>
            <a:tailEnd/>
          </a:ln>
          <a:effectLst/>
        </p:spPr>
        <p:txBody>
          <a:bodyPr>
            <a:spAutoFit/>
          </a:bodyPr>
          <a:lstStyle/>
          <a:p>
            <a:r>
              <a:rPr lang="en-US" sz="1600">
                <a:cs typeface="Arial" charset="0"/>
              </a:rPr>
              <a:t>Scanning, parsing And Validating</a:t>
            </a:r>
          </a:p>
        </p:txBody>
      </p:sp>
      <p:sp>
        <p:nvSpPr>
          <p:cNvPr id="1027081" name="Text Box 9"/>
          <p:cNvSpPr txBox="1">
            <a:spLocks noChangeArrowheads="1"/>
          </p:cNvSpPr>
          <p:nvPr/>
        </p:nvSpPr>
        <p:spPr bwMode="auto">
          <a:xfrm>
            <a:off x="3657600" y="3381375"/>
            <a:ext cx="1644650" cy="336550"/>
          </a:xfrm>
          <a:prstGeom prst="rect">
            <a:avLst/>
          </a:prstGeom>
          <a:noFill/>
          <a:ln w="9525">
            <a:noFill/>
            <a:miter lim="800000"/>
            <a:headEnd/>
            <a:tailEnd/>
          </a:ln>
          <a:effectLst/>
        </p:spPr>
        <p:txBody>
          <a:bodyPr wrap="none">
            <a:spAutoFit/>
          </a:bodyPr>
          <a:lstStyle/>
          <a:p>
            <a:r>
              <a:rPr lang="en-US" sz="1600">
                <a:cs typeface="Arial" charset="0"/>
              </a:rPr>
              <a:t>Query Optimizer</a:t>
            </a:r>
          </a:p>
        </p:txBody>
      </p:sp>
      <p:sp>
        <p:nvSpPr>
          <p:cNvPr id="1027082" name="Text Box 10"/>
          <p:cNvSpPr txBox="1">
            <a:spLocks noChangeArrowheads="1"/>
          </p:cNvSpPr>
          <p:nvPr/>
        </p:nvSpPr>
        <p:spPr bwMode="auto">
          <a:xfrm>
            <a:off x="3352800" y="4433888"/>
            <a:ext cx="2530475" cy="366712"/>
          </a:xfrm>
          <a:prstGeom prst="rect">
            <a:avLst/>
          </a:prstGeom>
          <a:noFill/>
          <a:ln w="9525">
            <a:noFill/>
            <a:miter lim="800000"/>
            <a:headEnd/>
            <a:tailEnd/>
          </a:ln>
          <a:effectLst/>
        </p:spPr>
        <p:txBody>
          <a:bodyPr>
            <a:spAutoFit/>
          </a:bodyPr>
          <a:lstStyle/>
          <a:p>
            <a:r>
              <a:rPr lang="en-US" sz="1800">
                <a:cs typeface="Arial" charset="0"/>
              </a:rPr>
              <a:t>Query code Generator</a:t>
            </a:r>
          </a:p>
        </p:txBody>
      </p:sp>
      <p:sp>
        <p:nvSpPr>
          <p:cNvPr id="1027083" name="Text Box 11"/>
          <p:cNvSpPr txBox="1">
            <a:spLocks noChangeArrowheads="1"/>
          </p:cNvSpPr>
          <p:nvPr/>
        </p:nvSpPr>
        <p:spPr bwMode="auto">
          <a:xfrm>
            <a:off x="3429000" y="5486400"/>
            <a:ext cx="2236788" cy="336550"/>
          </a:xfrm>
          <a:prstGeom prst="rect">
            <a:avLst/>
          </a:prstGeom>
          <a:noFill/>
          <a:ln w="9525">
            <a:noFill/>
            <a:miter lim="800000"/>
            <a:headEnd/>
            <a:tailEnd/>
          </a:ln>
          <a:effectLst/>
        </p:spPr>
        <p:txBody>
          <a:bodyPr wrap="none">
            <a:spAutoFit/>
          </a:bodyPr>
          <a:lstStyle/>
          <a:p>
            <a:r>
              <a:rPr lang="en-US" sz="1600">
                <a:cs typeface="Arial" charset="0"/>
              </a:rPr>
              <a:t>Run time DB Processor</a:t>
            </a:r>
          </a:p>
        </p:txBody>
      </p:sp>
      <p:sp>
        <p:nvSpPr>
          <p:cNvPr id="1027084" name="Text Box 12"/>
          <p:cNvSpPr txBox="1">
            <a:spLocks noChangeArrowheads="1"/>
          </p:cNvSpPr>
          <p:nvPr/>
        </p:nvSpPr>
        <p:spPr bwMode="auto">
          <a:xfrm>
            <a:off x="3898900" y="5988050"/>
            <a:ext cx="1282700" cy="336550"/>
          </a:xfrm>
          <a:prstGeom prst="rect">
            <a:avLst/>
          </a:prstGeom>
          <a:noFill/>
          <a:ln w="9525">
            <a:noFill/>
            <a:miter lim="800000"/>
            <a:headEnd/>
            <a:tailEnd/>
          </a:ln>
          <a:effectLst/>
        </p:spPr>
        <p:txBody>
          <a:bodyPr wrap="none">
            <a:spAutoFit/>
          </a:bodyPr>
          <a:lstStyle/>
          <a:p>
            <a:r>
              <a:rPr lang="en-US" sz="1600">
                <a:cs typeface="Arial" charset="0"/>
              </a:rPr>
              <a:t>Query result</a:t>
            </a:r>
          </a:p>
        </p:txBody>
      </p:sp>
      <p:sp>
        <p:nvSpPr>
          <p:cNvPr id="1027085" name="Text Box 13"/>
          <p:cNvSpPr txBox="1">
            <a:spLocks noChangeArrowheads="1"/>
          </p:cNvSpPr>
          <p:nvPr/>
        </p:nvSpPr>
        <p:spPr bwMode="auto">
          <a:xfrm>
            <a:off x="3276600" y="4921250"/>
            <a:ext cx="2557463" cy="336550"/>
          </a:xfrm>
          <a:prstGeom prst="rect">
            <a:avLst/>
          </a:prstGeom>
          <a:noFill/>
          <a:ln w="9525">
            <a:noFill/>
            <a:miter lim="800000"/>
            <a:headEnd/>
            <a:tailEnd/>
          </a:ln>
          <a:effectLst/>
        </p:spPr>
        <p:txBody>
          <a:bodyPr wrap="none">
            <a:spAutoFit/>
          </a:bodyPr>
          <a:lstStyle/>
          <a:p>
            <a:r>
              <a:rPr lang="en-US" sz="1600">
                <a:cs typeface="Arial" charset="0"/>
              </a:rPr>
              <a:t>Code to execute the query</a:t>
            </a:r>
          </a:p>
        </p:txBody>
      </p:sp>
      <p:sp>
        <p:nvSpPr>
          <p:cNvPr id="1027086" name="Text Box 14"/>
          <p:cNvSpPr txBox="1">
            <a:spLocks noChangeArrowheads="1"/>
          </p:cNvSpPr>
          <p:nvPr/>
        </p:nvSpPr>
        <p:spPr bwMode="auto">
          <a:xfrm>
            <a:off x="3717925" y="3865563"/>
            <a:ext cx="1490663" cy="336550"/>
          </a:xfrm>
          <a:prstGeom prst="rect">
            <a:avLst/>
          </a:prstGeom>
          <a:noFill/>
          <a:ln w="9525">
            <a:noFill/>
            <a:miter lim="800000"/>
            <a:headEnd/>
            <a:tailEnd/>
          </a:ln>
          <a:effectLst/>
        </p:spPr>
        <p:txBody>
          <a:bodyPr wrap="none">
            <a:spAutoFit/>
          </a:bodyPr>
          <a:lstStyle/>
          <a:p>
            <a:r>
              <a:rPr lang="en-US" sz="1600">
                <a:cs typeface="Arial" charset="0"/>
              </a:rPr>
              <a:t>Execution plan</a:t>
            </a:r>
          </a:p>
        </p:txBody>
      </p:sp>
      <p:sp>
        <p:nvSpPr>
          <p:cNvPr id="1027087" name="Text Box 15"/>
          <p:cNvSpPr txBox="1">
            <a:spLocks noChangeArrowheads="1"/>
          </p:cNvSpPr>
          <p:nvPr/>
        </p:nvSpPr>
        <p:spPr bwMode="auto">
          <a:xfrm>
            <a:off x="3124200" y="2940050"/>
            <a:ext cx="2632075" cy="336550"/>
          </a:xfrm>
          <a:prstGeom prst="rect">
            <a:avLst/>
          </a:prstGeom>
          <a:noFill/>
          <a:ln w="9525">
            <a:noFill/>
            <a:miter lim="800000"/>
            <a:headEnd/>
            <a:tailEnd/>
          </a:ln>
          <a:effectLst/>
        </p:spPr>
        <p:txBody>
          <a:bodyPr wrap="none">
            <a:spAutoFit/>
          </a:bodyPr>
          <a:lstStyle/>
          <a:p>
            <a:r>
              <a:rPr lang="en-US" sz="1600">
                <a:cs typeface="Arial" charset="0"/>
              </a:rPr>
              <a:t>Intermediate form of query</a:t>
            </a:r>
          </a:p>
        </p:txBody>
      </p:sp>
      <p:sp>
        <p:nvSpPr>
          <p:cNvPr id="1027088" name="Line 16"/>
          <p:cNvSpPr>
            <a:spLocks noChangeShapeType="1"/>
          </p:cNvSpPr>
          <p:nvPr/>
        </p:nvSpPr>
        <p:spPr bwMode="auto">
          <a:xfrm>
            <a:off x="4419600" y="21336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89" name="Line 17"/>
          <p:cNvSpPr>
            <a:spLocks noChangeShapeType="1"/>
          </p:cNvSpPr>
          <p:nvPr/>
        </p:nvSpPr>
        <p:spPr bwMode="auto">
          <a:xfrm>
            <a:off x="4419600" y="27432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90" name="Line 18"/>
          <p:cNvSpPr>
            <a:spLocks noChangeShapeType="1"/>
          </p:cNvSpPr>
          <p:nvPr/>
        </p:nvSpPr>
        <p:spPr bwMode="auto">
          <a:xfrm>
            <a:off x="4419600" y="32004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91" name="Line 19"/>
          <p:cNvSpPr>
            <a:spLocks noChangeShapeType="1"/>
          </p:cNvSpPr>
          <p:nvPr/>
        </p:nvSpPr>
        <p:spPr bwMode="auto">
          <a:xfrm>
            <a:off x="4419600" y="37338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92" name="Line 20"/>
          <p:cNvSpPr>
            <a:spLocks noChangeShapeType="1"/>
          </p:cNvSpPr>
          <p:nvPr/>
        </p:nvSpPr>
        <p:spPr bwMode="auto">
          <a:xfrm>
            <a:off x="4419600" y="41910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93" name="Line 21"/>
          <p:cNvSpPr>
            <a:spLocks noChangeShapeType="1"/>
          </p:cNvSpPr>
          <p:nvPr/>
        </p:nvSpPr>
        <p:spPr bwMode="auto">
          <a:xfrm>
            <a:off x="4419600" y="48006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94" name="Line 22"/>
          <p:cNvSpPr>
            <a:spLocks noChangeShapeType="1"/>
          </p:cNvSpPr>
          <p:nvPr/>
        </p:nvSpPr>
        <p:spPr bwMode="auto">
          <a:xfrm>
            <a:off x="4419600" y="5257800"/>
            <a:ext cx="0" cy="228600"/>
          </a:xfrm>
          <a:prstGeom prst="line">
            <a:avLst/>
          </a:prstGeom>
          <a:noFill/>
          <a:ln w="9525">
            <a:solidFill>
              <a:schemeClr val="tx1"/>
            </a:solidFill>
            <a:round/>
            <a:headEnd/>
            <a:tailEnd type="triangle" w="med" len="med"/>
          </a:ln>
          <a:effectLst/>
        </p:spPr>
        <p:txBody>
          <a:bodyPr/>
          <a:lstStyle/>
          <a:p>
            <a:endParaRPr lang="en-US"/>
          </a:p>
        </p:txBody>
      </p:sp>
      <p:sp>
        <p:nvSpPr>
          <p:cNvPr id="1027095" name="Line 23"/>
          <p:cNvSpPr>
            <a:spLocks noChangeShapeType="1"/>
          </p:cNvSpPr>
          <p:nvPr/>
        </p:nvSpPr>
        <p:spPr bwMode="auto">
          <a:xfrm>
            <a:off x="4419600" y="5867400"/>
            <a:ext cx="0" cy="228600"/>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Processing a High-Level Query</a:t>
            </a:r>
          </a:p>
        </p:txBody>
      </p:sp>
      <p:sp>
        <p:nvSpPr>
          <p:cNvPr id="3" name="Content Placeholder 2"/>
          <p:cNvSpPr>
            <a:spLocks noGrp="1"/>
          </p:cNvSpPr>
          <p:nvPr>
            <p:ph idx="1"/>
          </p:nvPr>
        </p:nvSpPr>
        <p:spPr>
          <a:xfrm>
            <a:off x="228600" y="1825625"/>
            <a:ext cx="8763000" cy="4351338"/>
          </a:xfrm>
        </p:spPr>
        <p:txBody>
          <a:bodyPr>
            <a:normAutofit/>
          </a:bodyPr>
          <a:lstStyle/>
          <a:p>
            <a:r>
              <a:rPr lang="en-US" dirty="0"/>
              <a:t>The </a:t>
            </a:r>
            <a:r>
              <a:rPr lang="en-US" b="1" dirty="0">
                <a:solidFill>
                  <a:srgbClr val="FF0000"/>
                </a:solidFill>
              </a:rPr>
              <a:t>scanner</a:t>
            </a:r>
            <a:r>
              <a:rPr lang="en-US" b="1" dirty="0"/>
              <a:t> </a:t>
            </a:r>
            <a:r>
              <a:rPr lang="en-US" dirty="0"/>
              <a:t>identifies the query tokens—such as SQL keywords</a:t>
            </a:r>
            <a:r>
              <a:rPr lang="en-US" dirty="0" smtClean="0"/>
              <a:t>, attribute </a:t>
            </a:r>
            <a:r>
              <a:rPr lang="en-US" dirty="0"/>
              <a:t>names, and relation names—that appear in the text of the query</a:t>
            </a:r>
            <a:r>
              <a:rPr lang="en-US" dirty="0" smtClean="0"/>
              <a:t>, whereas the</a:t>
            </a:r>
          </a:p>
          <a:p>
            <a:r>
              <a:rPr lang="en-US" dirty="0" smtClean="0"/>
              <a:t> </a:t>
            </a:r>
            <a:r>
              <a:rPr lang="en-US" b="1" dirty="0">
                <a:solidFill>
                  <a:srgbClr val="FF0000"/>
                </a:solidFill>
              </a:rPr>
              <a:t>parser</a:t>
            </a:r>
            <a:r>
              <a:rPr lang="en-US" b="1" dirty="0"/>
              <a:t> </a:t>
            </a:r>
            <a:r>
              <a:rPr lang="en-US" dirty="0"/>
              <a:t>checks the query syntax to determine whether it is </a:t>
            </a:r>
            <a:r>
              <a:rPr lang="en-US" dirty="0" smtClean="0"/>
              <a:t>formulated according </a:t>
            </a:r>
            <a:r>
              <a:rPr lang="en-US" dirty="0"/>
              <a:t>to the syntax rules (rules of grammar) of the query language. The </a:t>
            </a:r>
            <a:r>
              <a:rPr lang="en-US" dirty="0" smtClean="0"/>
              <a:t>query must </a:t>
            </a:r>
            <a:r>
              <a:rPr lang="en-US" dirty="0"/>
              <a:t>also be </a:t>
            </a:r>
            <a:endParaRPr lang="en-US" dirty="0" smtClean="0"/>
          </a:p>
          <a:p>
            <a:r>
              <a:rPr lang="en-US" b="1" dirty="0" smtClean="0">
                <a:solidFill>
                  <a:srgbClr val="FF0000"/>
                </a:solidFill>
              </a:rPr>
              <a:t>validated</a:t>
            </a:r>
            <a:r>
              <a:rPr lang="en-US" b="1" dirty="0" smtClean="0"/>
              <a:t> </a:t>
            </a:r>
            <a:r>
              <a:rPr lang="en-US" dirty="0"/>
              <a:t>by checking that all attribute and relation names are </a:t>
            </a:r>
            <a:r>
              <a:rPr lang="en-US" dirty="0" smtClean="0"/>
              <a:t>valid and </a:t>
            </a:r>
            <a:r>
              <a:rPr lang="en-US" dirty="0"/>
              <a:t>semantically meaningful names in the schema of the particular database being</a:t>
            </a:r>
          </a:p>
          <a:p>
            <a:r>
              <a:rPr lang="en-US" dirty="0"/>
              <a:t>queried. </a:t>
            </a:r>
            <a:endParaRPr lang="en-US" dirty="0"/>
          </a:p>
        </p:txBody>
      </p:sp>
    </p:spTree>
    <p:extLst>
      <p:ext uri="{BB962C8B-B14F-4D97-AF65-F5344CB8AC3E}">
        <p14:creationId xmlns:p14="http://schemas.microsoft.com/office/powerpoint/2010/main" val="364974057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Processing a High-Level Query</a:t>
            </a:r>
            <a:endParaRPr lang="en-US" dirty="0"/>
          </a:p>
        </p:txBody>
      </p:sp>
      <p:sp>
        <p:nvSpPr>
          <p:cNvPr id="3" name="Content Placeholder 2"/>
          <p:cNvSpPr>
            <a:spLocks noGrp="1"/>
          </p:cNvSpPr>
          <p:nvPr>
            <p:ph idx="1"/>
          </p:nvPr>
        </p:nvSpPr>
        <p:spPr/>
        <p:txBody>
          <a:bodyPr>
            <a:normAutofit lnSpcReduction="10000"/>
          </a:bodyPr>
          <a:lstStyle/>
          <a:p>
            <a:r>
              <a:rPr lang="en-US" dirty="0"/>
              <a:t>An internal representation of the query is then created, usually as a tree data structure called a </a:t>
            </a:r>
            <a:r>
              <a:rPr lang="en-US" b="1" dirty="0"/>
              <a:t>query tree</a:t>
            </a:r>
            <a:r>
              <a:rPr lang="en-US" dirty="0"/>
              <a:t>.</a:t>
            </a:r>
          </a:p>
          <a:p>
            <a:r>
              <a:rPr lang="en-US" dirty="0"/>
              <a:t> It is also possible to represent the query using a graph data structure called a </a:t>
            </a:r>
            <a:r>
              <a:rPr lang="en-US" b="1" dirty="0"/>
              <a:t>query graph</a:t>
            </a:r>
            <a:r>
              <a:rPr lang="en-US" dirty="0"/>
              <a:t>, which is generally a </a:t>
            </a:r>
            <a:r>
              <a:rPr lang="en-US" b="1" dirty="0"/>
              <a:t>directed </a:t>
            </a:r>
            <a:r>
              <a:rPr lang="en-US" b="1" dirty="0" smtClean="0"/>
              <a:t>acyclic graph </a:t>
            </a:r>
            <a:r>
              <a:rPr lang="en-US" b="1" dirty="0"/>
              <a:t>(DAG)</a:t>
            </a:r>
            <a:r>
              <a:rPr lang="en-US" dirty="0"/>
              <a:t>. </a:t>
            </a:r>
            <a:endParaRPr lang="en-US" dirty="0" smtClean="0"/>
          </a:p>
          <a:p>
            <a:r>
              <a:rPr lang="en-US" dirty="0" smtClean="0"/>
              <a:t>The </a:t>
            </a:r>
            <a:r>
              <a:rPr lang="en-US" dirty="0"/>
              <a:t>DBMS must then devise an </a:t>
            </a:r>
            <a:r>
              <a:rPr lang="en-US" b="1" dirty="0"/>
              <a:t>execution strategy </a:t>
            </a:r>
            <a:r>
              <a:rPr lang="en-US" dirty="0"/>
              <a:t>or </a:t>
            </a:r>
            <a:r>
              <a:rPr lang="en-US" b="1" dirty="0"/>
              <a:t>query </a:t>
            </a:r>
            <a:r>
              <a:rPr lang="en-US" b="1" dirty="0" smtClean="0"/>
              <a:t>plan </a:t>
            </a:r>
            <a:r>
              <a:rPr lang="en-US" dirty="0" smtClean="0"/>
              <a:t>for </a:t>
            </a:r>
            <a:r>
              <a:rPr lang="en-US" dirty="0"/>
              <a:t>retrieving the results of the query from the database files. </a:t>
            </a:r>
            <a:endParaRPr lang="en-US" dirty="0" smtClean="0"/>
          </a:p>
          <a:p>
            <a:r>
              <a:rPr lang="en-US" dirty="0" smtClean="0"/>
              <a:t>A </a:t>
            </a:r>
            <a:r>
              <a:rPr lang="en-US" dirty="0"/>
              <a:t>query has many </a:t>
            </a:r>
            <a:r>
              <a:rPr lang="en-US" dirty="0" smtClean="0"/>
              <a:t>possible execution </a:t>
            </a:r>
            <a:r>
              <a:rPr lang="en-US" dirty="0"/>
              <a:t>strategies, and the process</a:t>
            </a:r>
          </a:p>
          <a:p>
            <a:endParaRPr lang="en-US" dirty="0"/>
          </a:p>
        </p:txBody>
      </p:sp>
    </p:spTree>
    <p:extLst>
      <p:ext uri="{BB962C8B-B14F-4D97-AF65-F5344CB8AC3E}">
        <p14:creationId xmlns:p14="http://schemas.microsoft.com/office/powerpoint/2010/main" val="12055377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8" name="Rectangle 2"/>
          <p:cNvSpPr>
            <a:spLocks noGrp="1" noChangeArrowheads="1"/>
          </p:cNvSpPr>
          <p:nvPr>
            <p:ph type="title"/>
          </p:nvPr>
        </p:nvSpPr>
        <p:spPr/>
        <p:txBody>
          <a:bodyPr/>
          <a:lstStyle/>
          <a:p>
            <a:r>
              <a:rPr lang="en-US" b="1" dirty="0"/>
              <a:t>Major Phases in Query Processing</a:t>
            </a:r>
          </a:p>
        </p:txBody>
      </p:sp>
      <p:sp>
        <p:nvSpPr>
          <p:cNvPr id="1028099" name="Rectangle 3"/>
          <p:cNvSpPr>
            <a:spLocks noGrp="1" noChangeArrowheads="1"/>
          </p:cNvSpPr>
          <p:nvPr>
            <p:ph idx="1"/>
          </p:nvPr>
        </p:nvSpPr>
        <p:spPr>
          <a:xfrm>
            <a:off x="762000" y="2057400"/>
            <a:ext cx="8077200" cy="4114800"/>
          </a:xfrm>
        </p:spPr>
        <p:txBody>
          <a:bodyPr>
            <a:normAutofit/>
          </a:bodyPr>
          <a:lstStyle/>
          <a:p>
            <a:r>
              <a:rPr lang="en-US" sz="2400" b="1" dirty="0">
                <a:solidFill>
                  <a:srgbClr val="7030A0"/>
                </a:solidFill>
              </a:rPr>
              <a:t>Scan, Parse, and Validate Query: </a:t>
            </a:r>
            <a:r>
              <a:rPr lang="en-US" sz="2400" dirty="0">
                <a:solidFill>
                  <a:srgbClr val="FF0000"/>
                </a:solidFill>
              </a:rPr>
              <a:t>Transform query written in high level language (e g. SQL), into correct efficient execution strategy expressed in low-level language (e. g. Relational Algebra)</a:t>
            </a:r>
          </a:p>
          <a:p>
            <a:endParaRPr lang="en-US" sz="2400" dirty="0"/>
          </a:p>
          <a:p>
            <a:r>
              <a:rPr lang="en-US" sz="2400" b="1" dirty="0">
                <a:solidFill>
                  <a:srgbClr val="7030A0"/>
                </a:solidFill>
              </a:rPr>
              <a:t>Optimize query and generate code: </a:t>
            </a:r>
            <a:r>
              <a:rPr lang="en-US" sz="2400" dirty="0">
                <a:solidFill>
                  <a:srgbClr val="FF0000"/>
                </a:solidFill>
              </a:rPr>
              <a:t>produce an execution strategy or plan and run-time code.</a:t>
            </a:r>
          </a:p>
          <a:p>
            <a:endParaRPr lang="en-US" sz="2400" dirty="0"/>
          </a:p>
          <a:p>
            <a:r>
              <a:rPr lang="en-US" sz="2400" b="1" dirty="0">
                <a:solidFill>
                  <a:srgbClr val="7030A0"/>
                </a:solidFill>
              </a:rPr>
              <a:t>Execute query: </a:t>
            </a:r>
            <a:r>
              <a:rPr lang="en-US" sz="2400" dirty="0">
                <a:solidFill>
                  <a:srgbClr val="FF0000"/>
                </a:solidFill>
              </a:rPr>
              <a:t>Implement the plan to retrieve required data.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3391-CE70-0B4E-9E3A-63264AB02215}"/>
              </a:ext>
            </a:extLst>
          </p:cNvPr>
          <p:cNvSpPr>
            <a:spLocks noGrp="1"/>
          </p:cNvSpPr>
          <p:nvPr>
            <p:ph type="title"/>
          </p:nvPr>
        </p:nvSpPr>
        <p:spPr/>
        <p:txBody>
          <a:bodyPr/>
          <a:lstStyle/>
          <a:p>
            <a:r>
              <a:rPr lang="en-US" altLang="en-US" sz="2800" b="1" dirty="0"/>
              <a:t>Example: Translating SQL Queries into Relational Algebra</a:t>
            </a:r>
            <a:endParaRPr lang="en-US" b="1" dirty="0"/>
          </a:p>
        </p:txBody>
      </p:sp>
      <p:sp>
        <p:nvSpPr>
          <p:cNvPr id="16" name="Rectangle 18">
            <a:extLst>
              <a:ext uri="{FF2B5EF4-FFF2-40B4-BE49-F238E27FC236}">
                <a16:creationId xmlns:a16="http://schemas.microsoft.com/office/drawing/2014/main" id="{CA34798A-3F12-DF4D-AE14-FDCF3E3C71B0}"/>
              </a:ext>
            </a:extLst>
          </p:cNvPr>
          <p:cNvSpPr txBox="1">
            <a:spLocks noChangeArrowheads="1"/>
          </p:cNvSpPr>
          <p:nvPr/>
        </p:nvSpPr>
        <p:spPr bwMode="auto">
          <a:xfrm>
            <a:off x="762000" y="1676400"/>
            <a:ext cx="7912100" cy="1676400"/>
          </a:xfrm>
          <a:prstGeom prst="rect">
            <a:avLst/>
          </a:prstGeom>
          <a:noFill/>
          <a:ln>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marL="342900" indent="-342900" algn="l" rtl="0" fontAlgn="base">
              <a:spcBef>
                <a:spcPct val="20000"/>
              </a:spcBef>
              <a:spcAft>
                <a:spcPct val="0"/>
              </a:spcAft>
              <a:buClr>
                <a:srgbClr val="990033"/>
              </a:buClr>
              <a:buSzPct val="60000"/>
              <a:buFont typeface="Wingdings" pitchFamily="2" charset="2"/>
              <a:buChar char="n"/>
              <a:defRPr sz="2800" kern="1200">
                <a:solidFill>
                  <a:schemeClr val="tx2"/>
                </a:solidFill>
                <a:latin typeface="+mn-lt"/>
                <a:ea typeface="+mn-ea"/>
                <a:cs typeface="+mn-cs"/>
              </a:defRPr>
            </a:lvl1pPr>
            <a:lvl2pPr marL="742950" indent="-285750" algn="l" rtl="0" fontAlgn="base">
              <a:spcBef>
                <a:spcPct val="20000"/>
              </a:spcBef>
              <a:spcAft>
                <a:spcPct val="0"/>
              </a:spcAft>
              <a:buClr>
                <a:schemeClr val="tx2"/>
              </a:buClr>
              <a:buSzPct val="55000"/>
              <a:buFont typeface="Wingdings" pitchFamily="2" charset="2"/>
              <a:buChar char="n"/>
              <a:defRPr sz="2600" kern="1200">
                <a:solidFill>
                  <a:srgbClr val="800000"/>
                </a:solidFill>
                <a:latin typeface="+mn-lt"/>
                <a:ea typeface="+mn-ea"/>
                <a:cs typeface="+mn-cs"/>
              </a:defRPr>
            </a:lvl2pPr>
            <a:lvl3pPr marL="1143000" indent="-228600" algn="l" rtl="0" fontAlgn="base">
              <a:spcBef>
                <a:spcPct val="20000"/>
              </a:spcBef>
              <a:spcAft>
                <a:spcPct val="0"/>
              </a:spcAft>
              <a:buClr>
                <a:srgbClr val="990033"/>
              </a:buClr>
              <a:buSzPct val="50000"/>
              <a:buFont typeface="Wingdings" pitchFamily="2" charset="2"/>
              <a:buChar char="n"/>
              <a:defRPr sz="2400" kern="1200">
                <a:solidFill>
                  <a:schemeClr val="tx2"/>
                </a:solidFill>
                <a:latin typeface="+mn-lt"/>
                <a:ea typeface="+mn-ea"/>
                <a:cs typeface="+mn-cs"/>
              </a:defRPr>
            </a:lvl3pPr>
            <a:lvl4pPr marL="1600200" indent="-228600" algn="l" rtl="0" fontAlgn="base">
              <a:spcBef>
                <a:spcPct val="20000"/>
              </a:spcBef>
              <a:spcAft>
                <a:spcPct val="0"/>
              </a:spcAft>
              <a:buClr>
                <a:schemeClr val="tx2"/>
              </a:buClr>
              <a:buSzPct val="55000"/>
              <a:buFont typeface="Wingdings" pitchFamily="2" charset="2"/>
              <a:buChar char="n"/>
              <a:defRPr sz="2000" kern="1200">
                <a:solidFill>
                  <a:srgbClr val="800000"/>
                </a:solidFill>
                <a:latin typeface="+mn-lt"/>
                <a:ea typeface="+mn-ea"/>
                <a:cs typeface="+mn-cs"/>
              </a:defRPr>
            </a:lvl4pPr>
            <a:lvl5pPr marL="2057400" indent="-228600" algn="l" rtl="0" fontAlgn="base">
              <a:spcBef>
                <a:spcPct val="20000"/>
              </a:spcBef>
              <a:spcAft>
                <a:spcPct val="0"/>
              </a:spcAft>
              <a:buClr>
                <a:srgbClr val="990033"/>
              </a:buClr>
              <a:buSzPct val="50000"/>
              <a:buFont typeface="Wingdings"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SELECT</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LNAME, FNAME</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FROM</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EMPLOYEE</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WHERE</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SALARY &gt; (	</a:t>
            </a: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SELECT</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MAX (SALARY)</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a:t>
            </a: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FROM</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EMPLOYEE</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a:t>
            </a: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WHERE</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DNO = 5);</a:t>
            </a:r>
          </a:p>
        </p:txBody>
      </p:sp>
      <p:sp>
        <p:nvSpPr>
          <p:cNvPr id="17" name="Text Box 4">
            <a:extLst>
              <a:ext uri="{FF2B5EF4-FFF2-40B4-BE49-F238E27FC236}">
                <a16:creationId xmlns:a16="http://schemas.microsoft.com/office/drawing/2014/main" id="{146A0BE8-E7B5-6B42-A1C3-F1C1F7E655B6}"/>
              </a:ext>
            </a:extLst>
          </p:cNvPr>
          <p:cNvSpPr txBox="1">
            <a:spLocks noChangeArrowheads="1"/>
          </p:cNvSpPr>
          <p:nvPr/>
        </p:nvSpPr>
        <p:spPr bwMode="auto">
          <a:xfrm>
            <a:off x="4813300" y="4292600"/>
            <a:ext cx="4025900" cy="1046163"/>
          </a:xfrm>
          <a:prstGeom prst="rect">
            <a:avLst/>
          </a:prstGeom>
          <a:noFill/>
          <a:ln w="9525">
            <a:solidFill>
              <a:srgbClr val="1C1C1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SELECT</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MAX (SALARY)</a:t>
            </a:r>
          </a:p>
          <a:p>
            <a:pPr marL="0" marR="0" lvl="0" indent="0" defTabSz="91440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FROM</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EMPLOYEE</a:t>
            </a:r>
          </a:p>
          <a:p>
            <a:pPr marL="0" marR="0" lvl="0" indent="0" defTabSz="91440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WHERE</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DNO = 5</a:t>
            </a:r>
          </a:p>
        </p:txBody>
      </p:sp>
      <p:sp>
        <p:nvSpPr>
          <p:cNvPr id="18" name="Text Box 5">
            <a:extLst>
              <a:ext uri="{FF2B5EF4-FFF2-40B4-BE49-F238E27FC236}">
                <a16:creationId xmlns:a16="http://schemas.microsoft.com/office/drawing/2014/main" id="{3755AB3E-6D97-FF4C-B2AA-A809CB8B43AE}"/>
              </a:ext>
            </a:extLst>
          </p:cNvPr>
          <p:cNvSpPr txBox="1">
            <a:spLocks noChangeArrowheads="1"/>
          </p:cNvSpPr>
          <p:nvPr/>
        </p:nvSpPr>
        <p:spPr bwMode="auto">
          <a:xfrm>
            <a:off x="520700" y="4140200"/>
            <a:ext cx="4140200" cy="1136650"/>
          </a:xfrm>
          <a:prstGeom prst="rect">
            <a:avLst/>
          </a:prstGeom>
          <a:noFill/>
          <a:ln w="9525">
            <a:solidFill>
              <a:srgbClr val="1C1C1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SELECT</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LNAME, FNAME</a:t>
            </a:r>
          </a:p>
          <a:p>
            <a:pPr marL="0" marR="0" lvl="0" indent="0" defTabSz="914400" eaLnBrk="1" fontAlgn="base" latinLnBrk="0" hangingPunct="1">
              <a:lnSpc>
                <a:spcPct val="10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FROM</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EMPLOYEE</a:t>
            </a:r>
          </a:p>
          <a:p>
            <a:pPr marL="0" marR="0" lvl="0" indent="0" defTabSz="914400" eaLnBrk="1" fontAlgn="base" latinLnBrk="0" hangingPunct="1">
              <a:lnSpc>
                <a:spcPct val="10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WHERE</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SALARY &gt; C</a:t>
            </a:r>
          </a:p>
        </p:txBody>
      </p:sp>
      <p:sp>
        <p:nvSpPr>
          <p:cNvPr id="19" name="Line 6">
            <a:extLst>
              <a:ext uri="{FF2B5EF4-FFF2-40B4-BE49-F238E27FC236}">
                <a16:creationId xmlns:a16="http://schemas.microsoft.com/office/drawing/2014/main" id="{8D52232E-581F-854B-A954-94D91D3CCB08}"/>
              </a:ext>
            </a:extLst>
          </p:cNvPr>
          <p:cNvSpPr>
            <a:spLocks noChangeShapeType="1"/>
          </p:cNvSpPr>
          <p:nvPr/>
        </p:nvSpPr>
        <p:spPr bwMode="auto">
          <a:xfrm>
            <a:off x="4660900" y="3492500"/>
            <a:ext cx="1588" cy="241300"/>
          </a:xfrm>
          <a:prstGeom prst="line">
            <a:avLst/>
          </a:prstGeom>
          <a:noFill/>
          <a:ln w="952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 name="Line 7">
            <a:extLst>
              <a:ext uri="{FF2B5EF4-FFF2-40B4-BE49-F238E27FC236}">
                <a16:creationId xmlns:a16="http://schemas.microsoft.com/office/drawing/2014/main" id="{30B89906-B5AE-0C4C-82ED-8E35282D8FF7}"/>
              </a:ext>
            </a:extLst>
          </p:cNvPr>
          <p:cNvSpPr>
            <a:spLocks noChangeShapeType="1"/>
          </p:cNvSpPr>
          <p:nvPr/>
        </p:nvSpPr>
        <p:spPr bwMode="auto">
          <a:xfrm>
            <a:off x="2501900" y="3733800"/>
            <a:ext cx="4191000" cy="1588"/>
          </a:xfrm>
          <a:prstGeom prst="line">
            <a:avLst/>
          </a:prstGeom>
          <a:noFill/>
          <a:ln w="9525">
            <a:solidFill>
              <a:srgbClr val="1C1C1C"/>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 name="Line 8">
            <a:extLst>
              <a:ext uri="{FF2B5EF4-FFF2-40B4-BE49-F238E27FC236}">
                <a16:creationId xmlns:a16="http://schemas.microsoft.com/office/drawing/2014/main" id="{ECD5009B-6988-AC48-BA6F-FF1E052D0B82}"/>
              </a:ext>
            </a:extLst>
          </p:cNvPr>
          <p:cNvSpPr>
            <a:spLocks noChangeShapeType="1"/>
          </p:cNvSpPr>
          <p:nvPr/>
        </p:nvSpPr>
        <p:spPr bwMode="auto">
          <a:xfrm>
            <a:off x="4660900" y="3492500"/>
            <a:ext cx="1588" cy="241300"/>
          </a:xfrm>
          <a:prstGeom prst="line">
            <a:avLst/>
          </a:prstGeom>
          <a:noFill/>
          <a:ln w="9525">
            <a:solidFill>
              <a:srgbClr val="1C1C1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 name="Line 9">
            <a:extLst>
              <a:ext uri="{FF2B5EF4-FFF2-40B4-BE49-F238E27FC236}">
                <a16:creationId xmlns:a16="http://schemas.microsoft.com/office/drawing/2014/main" id="{C0E4547E-56B5-C043-8C03-9BEA70523FC9}"/>
              </a:ext>
            </a:extLst>
          </p:cNvPr>
          <p:cNvSpPr>
            <a:spLocks noChangeShapeType="1"/>
          </p:cNvSpPr>
          <p:nvPr/>
        </p:nvSpPr>
        <p:spPr bwMode="auto">
          <a:xfrm>
            <a:off x="2501900" y="3733800"/>
            <a:ext cx="1588" cy="406400"/>
          </a:xfrm>
          <a:prstGeom prst="line">
            <a:avLst/>
          </a:prstGeom>
          <a:noFill/>
          <a:ln w="9525">
            <a:solidFill>
              <a:srgbClr val="1C1C1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Line 10">
            <a:extLst>
              <a:ext uri="{FF2B5EF4-FFF2-40B4-BE49-F238E27FC236}">
                <a16:creationId xmlns:a16="http://schemas.microsoft.com/office/drawing/2014/main" id="{73A26992-7020-2144-A118-26D8EAF589B8}"/>
              </a:ext>
            </a:extLst>
          </p:cNvPr>
          <p:cNvSpPr>
            <a:spLocks noChangeShapeType="1"/>
          </p:cNvSpPr>
          <p:nvPr/>
        </p:nvSpPr>
        <p:spPr bwMode="auto">
          <a:xfrm>
            <a:off x="6692900" y="3733800"/>
            <a:ext cx="1588" cy="406400"/>
          </a:xfrm>
          <a:prstGeom prst="line">
            <a:avLst/>
          </a:prstGeom>
          <a:noFill/>
          <a:ln w="9525">
            <a:solidFill>
              <a:srgbClr val="1C1C1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6" name="AutoShape 13">
            <a:extLst>
              <a:ext uri="{FF2B5EF4-FFF2-40B4-BE49-F238E27FC236}">
                <a16:creationId xmlns:a16="http://schemas.microsoft.com/office/drawing/2014/main" id="{B09A297F-C43A-4547-AA12-264BC33FADEE}"/>
              </a:ext>
            </a:extLst>
          </p:cNvPr>
          <p:cNvSpPr>
            <a:spLocks noChangeArrowheads="1"/>
          </p:cNvSpPr>
          <p:nvPr/>
        </p:nvSpPr>
        <p:spPr bwMode="auto">
          <a:xfrm>
            <a:off x="2330450" y="5276850"/>
            <a:ext cx="342900" cy="412750"/>
          </a:xfrm>
          <a:prstGeom prst="downArrow">
            <a:avLst>
              <a:gd name="adj1" fmla="val 50000"/>
              <a:gd name="adj2" fmla="val 30093"/>
            </a:avLst>
          </a:prstGeom>
          <a:noFill/>
          <a:ln w="9525">
            <a:solidFill>
              <a:srgbClr val="1C1C1C"/>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1C1C1C"/>
              </a:solidFill>
              <a:effectLst/>
              <a:uLnTx/>
              <a:uFillTx/>
              <a:latin typeface="Times New Roman" panose="02020603050405020304" pitchFamily="18" charset="0"/>
            </a:endParaRPr>
          </a:p>
        </p:txBody>
      </p:sp>
      <p:sp>
        <p:nvSpPr>
          <p:cNvPr id="27" name="AutoShape 14">
            <a:extLst>
              <a:ext uri="{FF2B5EF4-FFF2-40B4-BE49-F238E27FC236}">
                <a16:creationId xmlns:a16="http://schemas.microsoft.com/office/drawing/2014/main" id="{B64A53C2-784D-AB4E-A0FD-3C26E5972CBE}"/>
              </a:ext>
            </a:extLst>
          </p:cNvPr>
          <p:cNvSpPr>
            <a:spLocks noChangeArrowheads="1"/>
          </p:cNvSpPr>
          <p:nvPr/>
        </p:nvSpPr>
        <p:spPr bwMode="auto">
          <a:xfrm>
            <a:off x="6521450" y="5222875"/>
            <a:ext cx="342900" cy="466725"/>
          </a:xfrm>
          <a:prstGeom prst="downArrow">
            <a:avLst>
              <a:gd name="adj1" fmla="val 50000"/>
              <a:gd name="adj2" fmla="val 34028"/>
            </a:avLst>
          </a:prstGeom>
          <a:noFill/>
          <a:ln w="9525">
            <a:solidFill>
              <a:srgbClr val="1C1C1C"/>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1C1C1C"/>
              </a:solidFill>
              <a:effectLst/>
              <a:uLnTx/>
              <a:uFillTx/>
              <a:latin typeface="Times New Roman" panose="02020603050405020304" pitchFamily="18" charset="0"/>
            </a:endParaRPr>
          </a:p>
        </p:txBody>
      </p:sp>
    </p:spTree>
    <p:extLst>
      <p:ext uri="{BB962C8B-B14F-4D97-AF65-F5344CB8AC3E}">
        <p14:creationId xmlns:p14="http://schemas.microsoft.com/office/powerpoint/2010/main" val="399377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23391-CE70-0B4E-9E3A-63264AB02215}"/>
              </a:ext>
            </a:extLst>
          </p:cNvPr>
          <p:cNvSpPr>
            <a:spLocks noGrp="1"/>
          </p:cNvSpPr>
          <p:nvPr>
            <p:ph type="title"/>
          </p:nvPr>
        </p:nvSpPr>
        <p:spPr/>
        <p:txBody>
          <a:bodyPr/>
          <a:lstStyle/>
          <a:p>
            <a:r>
              <a:rPr lang="en-US" altLang="en-US" sz="2800" b="1" dirty="0"/>
              <a:t>Example: Translating SQL Queries into Relational Algebra</a:t>
            </a:r>
            <a:endParaRPr lang="en-US" b="1" dirty="0"/>
          </a:p>
        </p:txBody>
      </p:sp>
      <p:sp>
        <p:nvSpPr>
          <p:cNvPr id="16" name="Rectangle 18">
            <a:extLst>
              <a:ext uri="{FF2B5EF4-FFF2-40B4-BE49-F238E27FC236}">
                <a16:creationId xmlns:a16="http://schemas.microsoft.com/office/drawing/2014/main" id="{CA34798A-3F12-DF4D-AE14-FDCF3E3C71B0}"/>
              </a:ext>
            </a:extLst>
          </p:cNvPr>
          <p:cNvSpPr txBox="1">
            <a:spLocks noChangeArrowheads="1"/>
          </p:cNvSpPr>
          <p:nvPr/>
        </p:nvSpPr>
        <p:spPr bwMode="auto">
          <a:xfrm>
            <a:off x="762000" y="1676400"/>
            <a:ext cx="7912100" cy="1676400"/>
          </a:xfrm>
          <a:prstGeom prst="rect">
            <a:avLst/>
          </a:prstGeom>
          <a:noFill/>
          <a:ln>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lvl1pPr marL="342900" indent="-342900" algn="l" rtl="0" fontAlgn="base">
              <a:spcBef>
                <a:spcPct val="20000"/>
              </a:spcBef>
              <a:spcAft>
                <a:spcPct val="0"/>
              </a:spcAft>
              <a:buClr>
                <a:srgbClr val="990033"/>
              </a:buClr>
              <a:buSzPct val="60000"/>
              <a:buFont typeface="Wingdings" pitchFamily="2" charset="2"/>
              <a:buChar char="n"/>
              <a:defRPr sz="2800" kern="1200">
                <a:solidFill>
                  <a:schemeClr val="tx2"/>
                </a:solidFill>
                <a:latin typeface="+mn-lt"/>
                <a:ea typeface="+mn-ea"/>
                <a:cs typeface="+mn-cs"/>
              </a:defRPr>
            </a:lvl1pPr>
            <a:lvl2pPr marL="742950" indent="-285750" algn="l" rtl="0" fontAlgn="base">
              <a:spcBef>
                <a:spcPct val="20000"/>
              </a:spcBef>
              <a:spcAft>
                <a:spcPct val="0"/>
              </a:spcAft>
              <a:buClr>
                <a:schemeClr val="tx2"/>
              </a:buClr>
              <a:buSzPct val="55000"/>
              <a:buFont typeface="Wingdings" pitchFamily="2" charset="2"/>
              <a:buChar char="n"/>
              <a:defRPr sz="2600" kern="1200">
                <a:solidFill>
                  <a:srgbClr val="800000"/>
                </a:solidFill>
                <a:latin typeface="+mn-lt"/>
                <a:ea typeface="+mn-ea"/>
                <a:cs typeface="+mn-cs"/>
              </a:defRPr>
            </a:lvl2pPr>
            <a:lvl3pPr marL="1143000" indent="-228600" algn="l" rtl="0" fontAlgn="base">
              <a:spcBef>
                <a:spcPct val="20000"/>
              </a:spcBef>
              <a:spcAft>
                <a:spcPct val="0"/>
              </a:spcAft>
              <a:buClr>
                <a:srgbClr val="990033"/>
              </a:buClr>
              <a:buSzPct val="50000"/>
              <a:buFont typeface="Wingdings" pitchFamily="2" charset="2"/>
              <a:buChar char="n"/>
              <a:defRPr sz="2400" kern="1200">
                <a:solidFill>
                  <a:schemeClr val="tx2"/>
                </a:solidFill>
                <a:latin typeface="+mn-lt"/>
                <a:ea typeface="+mn-ea"/>
                <a:cs typeface="+mn-cs"/>
              </a:defRPr>
            </a:lvl3pPr>
            <a:lvl4pPr marL="1600200" indent="-228600" algn="l" rtl="0" fontAlgn="base">
              <a:spcBef>
                <a:spcPct val="20000"/>
              </a:spcBef>
              <a:spcAft>
                <a:spcPct val="0"/>
              </a:spcAft>
              <a:buClr>
                <a:schemeClr val="tx2"/>
              </a:buClr>
              <a:buSzPct val="55000"/>
              <a:buFont typeface="Wingdings" pitchFamily="2" charset="2"/>
              <a:buChar char="n"/>
              <a:defRPr sz="2000" kern="1200">
                <a:solidFill>
                  <a:srgbClr val="800000"/>
                </a:solidFill>
                <a:latin typeface="+mn-lt"/>
                <a:ea typeface="+mn-ea"/>
                <a:cs typeface="+mn-cs"/>
              </a:defRPr>
            </a:lvl4pPr>
            <a:lvl5pPr marL="2057400" indent="-228600" algn="l" rtl="0" fontAlgn="base">
              <a:spcBef>
                <a:spcPct val="20000"/>
              </a:spcBef>
              <a:spcAft>
                <a:spcPct val="0"/>
              </a:spcAft>
              <a:buClr>
                <a:srgbClr val="990033"/>
              </a:buClr>
              <a:buSzPct val="50000"/>
              <a:buFont typeface="Wingdings"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SELECT</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LNAME, FNAME</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FROM</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EMPLOYEE</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WHERE</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SALARY &gt; (	</a:t>
            </a: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SELECT</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MAX (SALARY)</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a:t>
            </a: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FROM</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EMPLOYEE</a:t>
            </a:r>
          </a:p>
          <a:p>
            <a:pPr marL="0" marR="0" lvl="0" indent="0" algn="l" defTabSz="914400" rtl="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a:t>
            </a:r>
            <a:r>
              <a:rPr kumimoji="0" lang="en-US" altLang="en-US" sz="2000" b="1"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WHERE</a:t>
            </a:r>
            <a:r>
              <a:rPr kumimoji="0" lang="en-US" altLang="en-US" sz="2000" b="0" i="0" u="none" strike="noStrike" kern="1200" cap="none" spc="0" normalizeH="0" baseline="0" noProof="0">
                <a:ln>
                  <a:noFill/>
                </a:ln>
                <a:solidFill>
                  <a:srgbClr val="1C1C1C"/>
                </a:solidFill>
                <a:effectLst/>
                <a:uLnTx/>
                <a:uFillTx/>
                <a:latin typeface="Times New Roman" panose="02020603050405020304" pitchFamily="18" charset="0"/>
                <a:ea typeface="+mn-ea"/>
                <a:cs typeface="+mn-cs"/>
              </a:rPr>
              <a:t> 	DNO = 5);</a:t>
            </a:r>
          </a:p>
        </p:txBody>
      </p:sp>
      <p:sp>
        <p:nvSpPr>
          <p:cNvPr id="17" name="Text Box 4">
            <a:extLst>
              <a:ext uri="{FF2B5EF4-FFF2-40B4-BE49-F238E27FC236}">
                <a16:creationId xmlns:a16="http://schemas.microsoft.com/office/drawing/2014/main" id="{146A0BE8-E7B5-6B42-A1C3-F1C1F7E655B6}"/>
              </a:ext>
            </a:extLst>
          </p:cNvPr>
          <p:cNvSpPr txBox="1">
            <a:spLocks noChangeArrowheads="1"/>
          </p:cNvSpPr>
          <p:nvPr/>
        </p:nvSpPr>
        <p:spPr bwMode="auto">
          <a:xfrm>
            <a:off x="4813300" y="4292600"/>
            <a:ext cx="4025900" cy="1046163"/>
          </a:xfrm>
          <a:prstGeom prst="rect">
            <a:avLst/>
          </a:prstGeom>
          <a:noFill/>
          <a:ln w="9525">
            <a:solidFill>
              <a:srgbClr val="1C1C1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SELECT</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MAX (SALARY)</a:t>
            </a:r>
          </a:p>
          <a:p>
            <a:pPr marL="0" marR="0" lvl="0" indent="0" defTabSz="91440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FROM</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EMPLOYEE</a:t>
            </a:r>
          </a:p>
          <a:p>
            <a:pPr marL="0" marR="0" lvl="0" indent="0" defTabSz="914400" eaLnBrk="1" fontAlgn="base" latinLnBrk="0" hangingPunct="1">
              <a:lnSpc>
                <a:spcPct val="9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WHERE</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DNO = 5</a:t>
            </a:r>
          </a:p>
        </p:txBody>
      </p:sp>
      <p:sp>
        <p:nvSpPr>
          <p:cNvPr id="18" name="Text Box 5">
            <a:extLst>
              <a:ext uri="{FF2B5EF4-FFF2-40B4-BE49-F238E27FC236}">
                <a16:creationId xmlns:a16="http://schemas.microsoft.com/office/drawing/2014/main" id="{3755AB3E-6D97-FF4C-B2AA-A809CB8B43AE}"/>
              </a:ext>
            </a:extLst>
          </p:cNvPr>
          <p:cNvSpPr txBox="1">
            <a:spLocks noChangeArrowheads="1"/>
          </p:cNvSpPr>
          <p:nvPr/>
        </p:nvSpPr>
        <p:spPr bwMode="auto">
          <a:xfrm>
            <a:off x="520700" y="4140200"/>
            <a:ext cx="4140200" cy="1136650"/>
          </a:xfrm>
          <a:prstGeom prst="rect">
            <a:avLst/>
          </a:prstGeom>
          <a:noFill/>
          <a:ln w="9525">
            <a:solidFill>
              <a:srgbClr val="1C1C1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SELECT</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LNAME, FNAME</a:t>
            </a:r>
          </a:p>
          <a:p>
            <a:pPr marL="0" marR="0" lvl="0" indent="0" defTabSz="914400" eaLnBrk="1" fontAlgn="base" latinLnBrk="0" hangingPunct="1">
              <a:lnSpc>
                <a:spcPct val="10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FROM</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EMPLOYEE</a:t>
            </a:r>
          </a:p>
          <a:p>
            <a:pPr marL="0" marR="0" lvl="0" indent="0" defTabSz="914400" eaLnBrk="1" fontAlgn="base" latinLnBrk="0" hangingPunct="1">
              <a:lnSpc>
                <a:spcPct val="100000"/>
              </a:lnSpc>
              <a:spcBef>
                <a:spcPct val="20000"/>
              </a:spcBef>
              <a:spcAft>
                <a:spcPct val="0"/>
              </a:spcAft>
              <a:buClr>
                <a:srgbClr val="FF0000"/>
              </a:buClr>
              <a:buSzTx/>
              <a:buFont typeface="Wingdings" pitchFamily="2" charset="2"/>
              <a:buNone/>
              <a:tabLst/>
              <a:defRPr/>
            </a:pPr>
            <a:r>
              <a:rPr kumimoji="0" lang="en-US" altLang="en-US" sz="2000" b="1" i="0" u="none" strike="noStrike" kern="0" cap="none" spc="0" normalizeH="0" baseline="0" noProof="0">
                <a:ln>
                  <a:noFill/>
                </a:ln>
                <a:solidFill>
                  <a:srgbClr val="1C1C1C"/>
                </a:solidFill>
                <a:effectLst/>
                <a:uLnTx/>
                <a:uFillTx/>
                <a:latin typeface="Times New Roman" panose="02020603050405020304" pitchFamily="18" charset="0"/>
              </a:rPr>
              <a:t>WHERE</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 	SALARY &gt; C</a:t>
            </a:r>
          </a:p>
        </p:txBody>
      </p:sp>
      <p:sp>
        <p:nvSpPr>
          <p:cNvPr id="19" name="Line 6">
            <a:extLst>
              <a:ext uri="{FF2B5EF4-FFF2-40B4-BE49-F238E27FC236}">
                <a16:creationId xmlns:a16="http://schemas.microsoft.com/office/drawing/2014/main" id="{8D52232E-581F-854B-A954-94D91D3CCB08}"/>
              </a:ext>
            </a:extLst>
          </p:cNvPr>
          <p:cNvSpPr>
            <a:spLocks noChangeShapeType="1"/>
          </p:cNvSpPr>
          <p:nvPr/>
        </p:nvSpPr>
        <p:spPr bwMode="auto">
          <a:xfrm>
            <a:off x="4660900" y="3492500"/>
            <a:ext cx="1588" cy="241300"/>
          </a:xfrm>
          <a:prstGeom prst="line">
            <a:avLst/>
          </a:prstGeom>
          <a:noFill/>
          <a:ln w="9525">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0" name="Line 7">
            <a:extLst>
              <a:ext uri="{FF2B5EF4-FFF2-40B4-BE49-F238E27FC236}">
                <a16:creationId xmlns:a16="http://schemas.microsoft.com/office/drawing/2014/main" id="{30B89906-B5AE-0C4C-82ED-8E35282D8FF7}"/>
              </a:ext>
            </a:extLst>
          </p:cNvPr>
          <p:cNvSpPr>
            <a:spLocks noChangeShapeType="1"/>
          </p:cNvSpPr>
          <p:nvPr/>
        </p:nvSpPr>
        <p:spPr bwMode="auto">
          <a:xfrm>
            <a:off x="2501900" y="3733800"/>
            <a:ext cx="4191000" cy="1588"/>
          </a:xfrm>
          <a:prstGeom prst="line">
            <a:avLst/>
          </a:prstGeom>
          <a:noFill/>
          <a:ln w="9525">
            <a:solidFill>
              <a:srgbClr val="1C1C1C"/>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1" name="Line 8">
            <a:extLst>
              <a:ext uri="{FF2B5EF4-FFF2-40B4-BE49-F238E27FC236}">
                <a16:creationId xmlns:a16="http://schemas.microsoft.com/office/drawing/2014/main" id="{ECD5009B-6988-AC48-BA6F-FF1E052D0B82}"/>
              </a:ext>
            </a:extLst>
          </p:cNvPr>
          <p:cNvSpPr>
            <a:spLocks noChangeShapeType="1"/>
          </p:cNvSpPr>
          <p:nvPr/>
        </p:nvSpPr>
        <p:spPr bwMode="auto">
          <a:xfrm>
            <a:off x="4660900" y="3492500"/>
            <a:ext cx="1588" cy="241300"/>
          </a:xfrm>
          <a:prstGeom prst="line">
            <a:avLst/>
          </a:prstGeom>
          <a:noFill/>
          <a:ln w="9525">
            <a:solidFill>
              <a:srgbClr val="1C1C1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2" name="Line 9">
            <a:extLst>
              <a:ext uri="{FF2B5EF4-FFF2-40B4-BE49-F238E27FC236}">
                <a16:creationId xmlns:a16="http://schemas.microsoft.com/office/drawing/2014/main" id="{C0E4547E-56B5-C043-8C03-9BEA70523FC9}"/>
              </a:ext>
            </a:extLst>
          </p:cNvPr>
          <p:cNvSpPr>
            <a:spLocks noChangeShapeType="1"/>
          </p:cNvSpPr>
          <p:nvPr/>
        </p:nvSpPr>
        <p:spPr bwMode="auto">
          <a:xfrm>
            <a:off x="2501900" y="3733800"/>
            <a:ext cx="1588" cy="406400"/>
          </a:xfrm>
          <a:prstGeom prst="line">
            <a:avLst/>
          </a:prstGeom>
          <a:noFill/>
          <a:ln w="9525">
            <a:solidFill>
              <a:srgbClr val="1C1C1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3" name="Line 10">
            <a:extLst>
              <a:ext uri="{FF2B5EF4-FFF2-40B4-BE49-F238E27FC236}">
                <a16:creationId xmlns:a16="http://schemas.microsoft.com/office/drawing/2014/main" id="{73A26992-7020-2144-A118-26D8EAF589B8}"/>
              </a:ext>
            </a:extLst>
          </p:cNvPr>
          <p:cNvSpPr>
            <a:spLocks noChangeShapeType="1"/>
          </p:cNvSpPr>
          <p:nvPr/>
        </p:nvSpPr>
        <p:spPr bwMode="auto">
          <a:xfrm>
            <a:off x="6692900" y="3733800"/>
            <a:ext cx="1588" cy="406400"/>
          </a:xfrm>
          <a:prstGeom prst="line">
            <a:avLst/>
          </a:prstGeom>
          <a:noFill/>
          <a:ln w="9525">
            <a:solidFill>
              <a:srgbClr val="1C1C1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ndParaRPr>
          </a:p>
        </p:txBody>
      </p:sp>
      <p:sp>
        <p:nvSpPr>
          <p:cNvPr id="24" name="Text Box 11">
            <a:extLst>
              <a:ext uri="{FF2B5EF4-FFF2-40B4-BE49-F238E27FC236}">
                <a16:creationId xmlns:a16="http://schemas.microsoft.com/office/drawing/2014/main" id="{4DDEFC88-201F-9342-A9E1-CF57EF1EAD60}"/>
              </a:ext>
            </a:extLst>
          </p:cNvPr>
          <p:cNvSpPr txBox="1">
            <a:spLocks noChangeArrowheads="1"/>
          </p:cNvSpPr>
          <p:nvPr/>
        </p:nvSpPr>
        <p:spPr bwMode="auto">
          <a:xfrm>
            <a:off x="368300" y="5689600"/>
            <a:ext cx="4292600" cy="831850"/>
          </a:xfrm>
          <a:prstGeom prst="rect">
            <a:avLst/>
          </a:prstGeom>
          <a:noFill/>
          <a:ln w="9525">
            <a:solidFill>
              <a:srgbClr val="1C1C1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1C1C1C"/>
                </a:solidFill>
                <a:effectLst/>
                <a:uLnTx/>
                <a:uFillTx/>
                <a:latin typeface="Lucida Grande" panose="020B0600040502020204" pitchFamily="34" charset="0"/>
                <a:cs typeface="Times New Roman" panose="02020603050405020304" pitchFamily="18" charset="0"/>
              </a:rPr>
              <a:t>π</a:t>
            </a:r>
            <a:r>
              <a:rPr kumimoji="0" lang="en-US" altLang="en-US" sz="1800" b="0" i="0" u="none" strike="noStrike" kern="0" cap="none" spc="0" normalizeH="0" baseline="-25000" noProof="0">
                <a:ln>
                  <a:noFill/>
                </a:ln>
                <a:solidFill>
                  <a:srgbClr val="1C1C1C"/>
                </a:solidFill>
                <a:effectLst/>
                <a:uLnTx/>
                <a:uFillTx/>
                <a:latin typeface="Times New Roman" panose="02020603050405020304" pitchFamily="18" charset="0"/>
              </a:rPr>
              <a:t>LNAME, FNAME</a:t>
            </a:r>
            <a:r>
              <a:rPr kumimoji="0" lang="en-US" altLang="en-US" sz="2000" b="0" i="0" u="none" strike="noStrike" kern="0" cap="none" spc="0" normalizeH="0" baseline="-25000" noProof="0">
                <a:ln>
                  <a:noFill/>
                </a:ln>
                <a:solidFill>
                  <a:srgbClr val="1C1C1C"/>
                </a:solidFill>
                <a:effectLst/>
                <a:uLnTx/>
                <a:uFillTx/>
                <a:latin typeface="Times New Roman" panose="02020603050405020304" pitchFamily="18" charset="0"/>
              </a:rPr>
              <a:t> </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a:t>
            </a:r>
            <a:r>
              <a:rPr kumimoji="0" lang="en-US" altLang="en-US" sz="2400" b="0" i="0" u="none" strike="noStrike" kern="0" cap="none" spc="0" normalizeH="0" baseline="0" noProof="0">
                <a:ln>
                  <a:noFill/>
                </a:ln>
                <a:solidFill>
                  <a:srgbClr val="1C1C1C"/>
                </a:solidFill>
                <a:effectLst/>
                <a:uLnTx/>
                <a:uFillTx/>
                <a:latin typeface="Lucida Grande" panose="020B0600040502020204" pitchFamily="34" charset="0"/>
                <a:cs typeface="Times New Roman" panose="02020603050405020304" pitchFamily="18" charset="0"/>
              </a:rPr>
              <a:t>σ</a:t>
            </a:r>
            <a:r>
              <a:rPr kumimoji="0" lang="en-US" altLang="en-US" sz="1800" b="0" i="0" u="none" strike="noStrike" kern="0" cap="none" spc="0" normalizeH="0" baseline="-25000" noProof="0">
                <a:ln>
                  <a:noFill/>
                </a:ln>
                <a:solidFill>
                  <a:srgbClr val="1C1C1C"/>
                </a:solidFill>
                <a:effectLst/>
                <a:uLnTx/>
                <a:uFillTx/>
                <a:latin typeface="Times New Roman" panose="02020603050405020304" pitchFamily="18" charset="0"/>
                <a:cs typeface="Times New Roman" panose="02020603050405020304" pitchFamily="18" charset="0"/>
              </a:rPr>
              <a:t>SALARY&gt;C</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cs typeface="Times New Roman" panose="02020603050405020304" pitchFamily="18" charset="0"/>
              </a:rPr>
              <a:t>(EMPLOYEE))</a:t>
            </a:r>
            <a:endParaRPr kumimoji="0" lang="en-US" altLang="en-US" sz="2000" b="0" i="0" u="none" strike="noStrike" kern="0" cap="none" spc="0" normalizeH="0" baseline="-25000" noProof="0">
              <a:ln>
                <a:noFill/>
              </a:ln>
              <a:solidFill>
                <a:srgbClr val="1C1C1C"/>
              </a:solidFill>
              <a:effectLst/>
              <a:uLnTx/>
              <a:uFillTx/>
              <a:latin typeface="Times New Roman" panose="02020603050405020304" pitchFamily="18" charset="0"/>
            </a:endParaRPr>
          </a:p>
        </p:txBody>
      </p:sp>
      <p:sp>
        <p:nvSpPr>
          <p:cNvPr id="25" name="Text Box 12">
            <a:extLst>
              <a:ext uri="{FF2B5EF4-FFF2-40B4-BE49-F238E27FC236}">
                <a16:creationId xmlns:a16="http://schemas.microsoft.com/office/drawing/2014/main" id="{6C46D6A3-0779-1A4D-B68C-8AF4E19C9437}"/>
              </a:ext>
            </a:extLst>
          </p:cNvPr>
          <p:cNvSpPr txBox="1">
            <a:spLocks noChangeArrowheads="1"/>
          </p:cNvSpPr>
          <p:nvPr/>
        </p:nvSpPr>
        <p:spPr bwMode="auto">
          <a:xfrm>
            <a:off x="4813300" y="5689600"/>
            <a:ext cx="3860800" cy="466725"/>
          </a:xfrm>
          <a:prstGeom prst="rect">
            <a:avLst/>
          </a:prstGeom>
          <a:noFill/>
          <a:ln w="9525">
            <a:solidFill>
              <a:srgbClr val="1C1C1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000" b="0" i="0" u="none" strike="noStrike" kern="0" cap="none" spc="0" normalizeH="0" baseline="0" noProof="0">
                <a:ln>
                  <a:noFill/>
                </a:ln>
                <a:solidFill>
                  <a:srgbClr val="1C1C1C"/>
                </a:solidFill>
                <a:effectLst/>
                <a:uLnTx/>
                <a:uFillTx/>
                <a:latin typeface="Arial" panose="020B0604020202020204" pitchFamily="34" charset="0"/>
                <a:ea typeface="Symbol" pitchFamily="2" charset="2"/>
                <a:cs typeface="Symbol" pitchFamily="2" charset="2"/>
              </a:rPr>
              <a:t>ℱ</a:t>
            </a:r>
            <a:r>
              <a:rPr kumimoji="0" lang="en-US" altLang="en-US" sz="1800" b="0" i="0" u="none" strike="noStrike" kern="0" cap="none" spc="0" normalizeH="0" baseline="-25000" noProof="0">
                <a:ln>
                  <a:noFill/>
                </a:ln>
                <a:solidFill>
                  <a:srgbClr val="1C1C1C"/>
                </a:solidFill>
                <a:effectLst/>
                <a:uLnTx/>
                <a:uFillTx/>
                <a:latin typeface="Times New Roman" panose="02020603050405020304" pitchFamily="18" charset="0"/>
              </a:rPr>
              <a:t>MAX SALARY</a:t>
            </a:r>
            <a:r>
              <a:rPr kumimoji="0" lang="en-US" altLang="en-US" sz="2000" b="0" i="0" u="none" strike="noStrike" kern="0" cap="none" spc="0" normalizeH="0" baseline="-25000" noProof="0">
                <a:ln>
                  <a:noFill/>
                </a:ln>
                <a:solidFill>
                  <a:srgbClr val="1C1C1C"/>
                </a:solidFill>
                <a:effectLst/>
                <a:uLnTx/>
                <a:uFillTx/>
                <a:latin typeface="Times New Roman" panose="02020603050405020304" pitchFamily="18" charset="0"/>
              </a:rPr>
              <a:t> </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rPr>
              <a:t>(</a:t>
            </a:r>
            <a:r>
              <a:rPr kumimoji="0" lang="en-US" altLang="en-US" sz="2400" b="0" i="0" u="none" strike="noStrike" kern="0" cap="none" spc="0" normalizeH="0" baseline="0" noProof="0">
                <a:ln>
                  <a:noFill/>
                </a:ln>
                <a:solidFill>
                  <a:srgbClr val="1C1C1C"/>
                </a:solidFill>
                <a:effectLst/>
                <a:uLnTx/>
                <a:uFillTx/>
                <a:latin typeface="Lucida Grande" panose="020B0600040502020204" pitchFamily="34" charset="0"/>
                <a:cs typeface="Times New Roman" panose="02020603050405020304" pitchFamily="18" charset="0"/>
              </a:rPr>
              <a:t>σ</a:t>
            </a:r>
            <a:r>
              <a:rPr kumimoji="0" lang="en-US" altLang="en-US" sz="1800" b="0" i="0" u="none" strike="noStrike" kern="0" cap="none" spc="0" normalizeH="0" baseline="-25000" noProof="0">
                <a:ln>
                  <a:noFill/>
                </a:ln>
                <a:solidFill>
                  <a:srgbClr val="1C1C1C"/>
                </a:solidFill>
                <a:effectLst/>
                <a:uLnTx/>
                <a:uFillTx/>
                <a:latin typeface="Times New Roman" panose="02020603050405020304" pitchFamily="18" charset="0"/>
                <a:cs typeface="Times New Roman" panose="02020603050405020304" pitchFamily="18" charset="0"/>
              </a:rPr>
              <a:t>DNO=5 </a:t>
            </a:r>
            <a:r>
              <a:rPr kumimoji="0" lang="en-US" altLang="en-US" sz="2000" b="0" i="0" u="none" strike="noStrike" kern="0" cap="none" spc="0" normalizeH="0" baseline="0" noProof="0">
                <a:ln>
                  <a:noFill/>
                </a:ln>
                <a:solidFill>
                  <a:srgbClr val="1C1C1C"/>
                </a:solidFill>
                <a:effectLst/>
                <a:uLnTx/>
                <a:uFillTx/>
                <a:latin typeface="Times New Roman" panose="02020603050405020304" pitchFamily="18" charset="0"/>
                <a:cs typeface="Times New Roman" panose="02020603050405020304" pitchFamily="18" charset="0"/>
              </a:rPr>
              <a:t>(EMPLOYEE))</a:t>
            </a:r>
          </a:p>
        </p:txBody>
      </p:sp>
      <p:sp>
        <p:nvSpPr>
          <p:cNvPr id="26" name="AutoShape 13">
            <a:extLst>
              <a:ext uri="{FF2B5EF4-FFF2-40B4-BE49-F238E27FC236}">
                <a16:creationId xmlns:a16="http://schemas.microsoft.com/office/drawing/2014/main" id="{B09A297F-C43A-4547-AA12-264BC33FADEE}"/>
              </a:ext>
            </a:extLst>
          </p:cNvPr>
          <p:cNvSpPr>
            <a:spLocks noChangeArrowheads="1"/>
          </p:cNvSpPr>
          <p:nvPr/>
        </p:nvSpPr>
        <p:spPr bwMode="auto">
          <a:xfrm>
            <a:off x="2330450" y="5276850"/>
            <a:ext cx="342900" cy="412750"/>
          </a:xfrm>
          <a:prstGeom prst="downArrow">
            <a:avLst>
              <a:gd name="adj1" fmla="val 50000"/>
              <a:gd name="adj2" fmla="val 30093"/>
            </a:avLst>
          </a:prstGeom>
          <a:noFill/>
          <a:ln w="9525">
            <a:solidFill>
              <a:srgbClr val="1C1C1C"/>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1C1C1C"/>
              </a:solidFill>
              <a:effectLst/>
              <a:uLnTx/>
              <a:uFillTx/>
              <a:latin typeface="Times New Roman" panose="02020603050405020304" pitchFamily="18" charset="0"/>
            </a:endParaRPr>
          </a:p>
        </p:txBody>
      </p:sp>
      <p:sp>
        <p:nvSpPr>
          <p:cNvPr id="27" name="AutoShape 14">
            <a:extLst>
              <a:ext uri="{FF2B5EF4-FFF2-40B4-BE49-F238E27FC236}">
                <a16:creationId xmlns:a16="http://schemas.microsoft.com/office/drawing/2014/main" id="{B64A53C2-784D-AB4E-A0FD-3C26E5972CBE}"/>
              </a:ext>
            </a:extLst>
          </p:cNvPr>
          <p:cNvSpPr>
            <a:spLocks noChangeArrowheads="1"/>
          </p:cNvSpPr>
          <p:nvPr/>
        </p:nvSpPr>
        <p:spPr bwMode="auto">
          <a:xfrm>
            <a:off x="6521450" y="5222875"/>
            <a:ext cx="342900" cy="466725"/>
          </a:xfrm>
          <a:prstGeom prst="downArrow">
            <a:avLst>
              <a:gd name="adj1" fmla="val 50000"/>
              <a:gd name="adj2" fmla="val 34028"/>
            </a:avLst>
          </a:prstGeom>
          <a:noFill/>
          <a:ln w="9525">
            <a:solidFill>
              <a:srgbClr val="1C1C1C"/>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1C1C1C"/>
              </a:solidFill>
              <a:effectLst/>
              <a:uLnTx/>
              <a:uFillTx/>
              <a:latin typeface="Times New Roman" panose="02020603050405020304" pitchFamily="18" charset="0"/>
            </a:endParaRPr>
          </a:p>
        </p:txBody>
      </p:sp>
    </p:spTree>
    <p:extLst>
      <p:ext uri="{BB962C8B-B14F-4D97-AF65-F5344CB8AC3E}">
        <p14:creationId xmlns:p14="http://schemas.microsoft.com/office/powerpoint/2010/main" val="23253455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a:xfrm>
            <a:off x="419100" y="-30163"/>
            <a:ext cx="7886700" cy="1325563"/>
          </a:xfrm>
        </p:spPr>
        <p:txBody>
          <a:bodyPr/>
          <a:lstStyle/>
          <a:p>
            <a:r>
              <a:rPr lang="en-US" b="1" dirty="0"/>
              <a:t>Optimizing Queries</a:t>
            </a:r>
          </a:p>
        </p:txBody>
      </p:sp>
      <p:sp>
        <p:nvSpPr>
          <p:cNvPr id="1029123" name="Rectangle 3"/>
          <p:cNvSpPr>
            <a:spLocks noGrp="1" noChangeArrowheads="1"/>
          </p:cNvSpPr>
          <p:nvPr>
            <p:ph idx="1"/>
          </p:nvPr>
        </p:nvSpPr>
        <p:spPr>
          <a:xfrm>
            <a:off x="209550" y="1295400"/>
            <a:ext cx="8705850" cy="4572000"/>
          </a:xfrm>
        </p:spPr>
        <p:txBody>
          <a:bodyPr>
            <a:noAutofit/>
          </a:bodyPr>
          <a:lstStyle/>
          <a:p>
            <a:r>
              <a:rPr lang="en-US" altLang="en-US" sz="2400" dirty="0"/>
              <a:t>The process of choosing a suitable execution strategy for processing a query</a:t>
            </a:r>
          </a:p>
          <a:p>
            <a:r>
              <a:rPr lang="en-US" sz="2400" dirty="0"/>
              <a:t> As there are many equivalent transformations from same high-level query, aim is to choose the one that minimizes resource usage</a:t>
            </a:r>
          </a:p>
          <a:p>
            <a:r>
              <a:rPr lang="en-US" sz="2400" dirty="0"/>
              <a:t>Generally, an efficient execution plan reduces the total execution time of a query; thereby reducing the response time of a query</a:t>
            </a:r>
          </a:p>
          <a:p>
            <a:r>
              <a:rPr lang="en-US" sz="2400" dirty="0"/>
              <a:t>The problem is computationally intractable with large number of relations, so the strategy adopted is reduced to finding a near optimum solution</a:t>
            </a:r>
          </a:p>
          <a:p>
            <a:r>
              <a:rPr lang="en-US" sz="2400" dirty="0"/>
              <a:t>Two main techniques for query optimization are:</a:t>
            </a:r>
          </a:p>
          <a:p>
            <a:pPr lvl="1"/>
            <a:r>
              <a:rPr lang="en-US" b="1" dirty="0">
                <a:solidFill>
                  <a:srgbClr val="FF0000"/>
                </a:solidFill>
              </a:rPr>
              <a:t>Heuristic rules that order operations in a query</a:t>
            </a:r>
          </a:p>
          <a:p>
            <a:pPr lvl="1"/>
            <a:r>
              <a:rPr lang="en-US" b="1" dirty="0">
                <a:solidFill>
                  <a:srgbClr val="FF0000"/>
                </a:solidFill>
              </a:rPr>
              <a:t>Comparing different strategies based on relative cost, and selecting one that minimizes resource usage.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6" name="Rectangle 2"/>
          <p:cNvSpPr>
            <a:spLocks noGrp="1" noChangeArrowheads="1"/>
          </p:cNvSpPr>
          <p:nvPr>
            <p:ph type="title"/>
          </p:nvPr>
        </p:nvSpPr>
        <p:spPr>
          <a:xfrm>
            <a:off x="247650" y="0"/>
            <a:ext cx="7886700" cy="1325563"/>
          </a:xfrm>
        </p:spPr>
        <p:txBody>
          <a:bodyPr/>
          <a:lstStyle/>
          <a:p>
            <a:r>
              <a:rPr lang="en-US" b="1" dirty="0"/>
              <a:t>Steps in Query Optimization</a:t>
            </a:r>
          </a:p>
        </p:txBody>
      </p:sp>
      <p:sp>
        <p:nvSpPr>
          <p:cNvPr id="1030147" name="Rectangle 3"/>
          <p:cNvSpPr>
            <a:spLocks noGrp="1" noChangeArrowheads="1"/>
          </p:cNvSpPr>
          <p:nvPr>
            <p:ph idx="1"/>
          </p:nvPr>
        </p:nvSpPr>
        <p:spPr>
          <a:xfrm>
            <a:off x="0" y="1143000"/>
            <a:ext cx="8991600" cy="4495800"/>
          </a:xfrm>
        </p:spPr>
        <p:txBody>
          <a:bodyPr>
            <a:noAutofit/>
          </a:bodyPr>
          <a:lstStyle/>
          <a:p>
            <a:pPr marL="457200" indent="-457200"/>
            <a:r>
              <a:rPr lang="en-US" altLang="en-US" b="1" dirty="0">
                <a:solidFill>
                  <a:srgbClr val="FF0000"/>
                </a:solidFill>
              </a:rPr>
              <a:t>Process for heuristics optimization</a:t>
            </a:r>
          </a:p>
          <a:p>
            <a:pPr marL="876300" lvl="1" indent="-419100">
              <a:buFont typeface="Wingdings" pitchFamily="2" charset="2"/>
              <a:buAutoNum type="arabicPeriod"/>
            </a:pPr>
            <a:r>
              <a:rPr lang="en-US" altLang="en-US" sz="2800" dirty="0"/>
              <a:t>The parser of a high-level query generates an initial internal representation;</a:t>
            </a:r>
          </a:p>
          <a:p>
            <a:pPr marL="876300" lvl="1" indent="-419100">
              <a:buFont typeface="Wingdings" pitchFamily="2" charset="2"/>
              <a:buAutoNum type="arabicPeriod"/>
            </a:pPr>
            <a:r>
              <a:rPr lang="en-US" altLang="en-US" sz="2800" dirty="0"/>
              <a:t>Apply heuristics rules to optimize the internal representation.</a:t>
            </a:r>
          </a:p>
          <a:p>
            <a:pPr marL="876300" lvl="1" indent="-419100">
              <a:buFont typeface="Wingdings" pitchFamily="2" charset="2"/>
              <a:buAutoNum type="arabicPeriod"/>
            </a:pPr>
            <a:r>
              <a:rPr lang="en-US" altLang="en-US" sz="2800" dirty="0"/>
              <a:t>A query execution plan is generated to execute groups of operations based on the access paths available on the files involved in the query.</a:t>
            </a:r>
          </a:p>
          <a:p>
            <a:pPr marL="457200" indent="-457200"/>
            <a:endParaRPr lang="en-US" altLang="en-US" dirty="0"/>
          </a:p>
          <a:p>
            <a:pPr marL="457200" indent="-457200"/>
            <a:r>
              <a:rPr lang="en-US" altLang="en-US" b="1" dirty="0">
                <a:solidFill>
                  <a:schemeClr val="accent1">
                    <a:lumMod val="75000"/>
                  </a:schemeClr>
                </a:solidFill>
              </a:rPr>
              <a:t>The main heuristic is to apply first the operations that reduce the size of intermediate results. </a:t>
            </a:r>
          </a:p>
          <a:p>
            <a:pPr marL="876300" lvl="1" indent="-419100"/>
            <a:r>
              <a:rPr lang="en-US" altLang="en-US" sz="2800" b="1" dirty="0">
                <a:solidFill>
                  <a:srgbClr val="7030A0"/>
                </a:solidFill>
              </a:rPr>
              <a:t>E.g., Apply  SELECT and PROJECT operations before applying the JOIN or other binary operations.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1BFCA-BEC8-A648-831F-3542D9755CF6}"/>
              </a:ext>
            </a:extLst>
          </p:cNvPr>
          <p:cNvSpPr>
            <a:spLocks noGrp="1"/>
          </p:cNvSpPr>
          <p:nvPr>
            <p:ph type="title"/>
          </p:nvPr>
        </p:nvSpPr>
        <p:spPr>
          <a:xfrm>
            <a:off x="304800" y="152400"/>
            <a:ext cx="7886700" cy="1325563"/>
          </a:xfrm>
        </p:spPr>
        <p:txBody>
          <a:bodyPr/>
          <a:lstStyle/>
          <a:p>
            <a:r>
              <a:rPr lang="en-US" b="1" dirty="0"/>
              <a:t>Query </a:t>
            </a:r>
            <a:r>
              <a:rPr lang="en-US" b="1" dirty="0" smtClean="0"/>
              <a:t>Trees</a:t>
            </a:r>
            <a:endParaRPr lang="en-US" b="1" dirty="0"/>
          </a:p>
        </p:txBody>
      </p:sp>
      <p:sp>
        <p:nvSpPr>
          <p:cNvPr id="3" name="Content Placeholder 2">
            <a:extLst>
              <a:ext uri="{FF2B5EF4-FFF2-40B4-BE49-F238E27FC236}">
                <a16:creationId xmlns:a16="http://schemas.microsoft.com/office/drawing/2014/main" id="{5E242315-6480-6D4C-9E9A-A9C6B015048B}"/>
              </a:ext>
            </a:extLst>
          </p:cNvPr>
          <p:cNvSpPr>
            <a:spLocks noGrp="1"/>
          </p:cNvSpPr>
          <p:nvPr>
            <p:ph idx="1"/>
          </p:nvPr>
        </p:nvSpPr>
        <p:spPr>
          <a:xfrm>
            <a:off x="-19050" y="1477963"/>
            <a:ext cx="8991600" cy="5075237"/>
          </a:xfrm>
        </p:spPr>
        <p:txBody>
          <a:bodyPr>
            <a:normAutofit/>
          </a:bodyPr>
          <a:lstStyle/>
          <a:p>
            <a:pPr>
              <a:lnSpc>
                <a:spcPct val="80000"/>
              </a:lnSpc>
            </a:pPr>
            <a:r>
              <a:rPr lang="en-US" altLang="en-US" sz="2600" dirty="0" smtClean="0">
                <a:solidFill>
                  <a:srgbClr val="0070C0"/>
                </a:solidFill>
              </a:rPr>
              <a:t>A tree data structure that corresponds to a relational algebra expression. </a:t>
            </a:r>
          </a:p>
          <a:p>
            <a:pPr>
              <a:lnSpc>
                <a:spcPct val="80000"/>
              </a:lnSpc>
            </a:pPr>
            <a:r>
              <a:rPr lang="en-US" altLang="en-US" sz="2600" dirty="0" smtClean="0">
                <a:solidFill>
                  <a:srgbClr val="0070C0"/>
                </a:solidFill>
              </a:rPr>
              <a:t>It represents the input relations of the query as </a:t>
            </a:r>
            <a:r>
              <a:rPr lang="en-US" altLang="en-US" sz="2600" b="1" dirty="0" smtClean="0">
                <a:solidFill>
                  <a:srgbClr val="0070C0"/>
                </a:solidFill>
              </a:rPr>
              <a:t>leaf nodes</a:t>
            </a:r>
            <a:r>
              <a:rPr lang="en-US" altLang="en-US" sz="2600" dirty="0" smtClean="0">
                <a:solidFill>
                  <a:srgbClr val="0070C0"/>
                </a:solidFill>
              </a:rPr>
              <a:t> of the </a:t>
            </a:r>
            <a:r>
              <a:rPr lang="en-US" altLang="en-US" sz="2600" b="1" dirty="0" smtClean="0">
                <a:solidFill>
                  <a:srgbClr val="0070C0"/>
                </a:solidFill>
              </a:rPr>
              <a:t>tree</a:t>
            </a:r>
            <a:r>
              <a:rPr lang="en-US" altLang="en-US" sz="2600" dirty="0" smtClean="0">
                <a:solidFill>
                  <a:srgbClr val="0070C0"/>
                </a:solidFill>
              </a:rPr>
              <a:t>, and represents the relational </a:t>
            </a:r>
            <a:r>
              <a:rPr lang="en-US" altLang="en-US" sz="2600" dirty="0" smtClean="0">
                <a:solidFill>
                  <a:srgbClr val="7030A0"/>
                </a:solidFill>
              </a:rPr>
              <a:t>algebra operations as internal nodes</a:t>
            </a:r>
            <a:r>
              <a:rPr lang="en-US" altLang="en-US" sz="2600" dirty="0" smtClean="0"/>
              <a:t>.  </a:t>
            </a:r>
          </a:p>
          <a:p>
            <a:pPr>
              <a:lnSpc>
                <a:spcPct val="80000"/>
              </a:lnSpc>
            </a:pPr>
            <a:r>
              <a:rPr lang="en-US" altLang="en-US" sz="2400" dirty="0" smtClean="0"/>
              <a:t>An </a:t>
            </a:r>
            <a:r>
              <a:rPr lang="en-US" altLang="en-US" sz="2400" dirty="0"/>
              <a:t>execution of the query tree consists of executing an internal node operation whenever its operands are available and then replacing that internal node by the relation that results from executing the operation</a:t>
            </a:r>
            <a:r>
              <a:rPr lang="en-US" altLang="en-US" sz="2400" dirty="0" smtClean="0"/>
              <a:t>.</a:t>
            </a:r>
          </a:p>
          <a:p>
            <a:r>
              <a:rPr lang="en-US" sz="2400" dirty="0">
                <a:solidFill>
                  <a:srgbClr val="FF0000"/>
                </a:solidFill>
              </a:rPr>
              <a:t>The order of execution of operations </a:t>
            </a:r>
            <a:r>
              <a:rPr lang="en-US" sz="2400" i="1" dirty="0">
                <a:solidFill>
                  <a:srgbClr val="FF0000"/>
                </a:solidFill>
              </a:rPr>
              <a:t>starts at the leaf nodes</a:t>
            </a:r>
            <a:r>
              <a:rPr lang="en-US" sz="2400" dirty="0" smtClean="0"/>
              <a:t>, which </a:t>
            </a:r>
            <a:r>
              <a:rPr lang="en-US" sz="2400" dirty="0"/>
              <a:t>represents the input database relations for the query, and </a:t>
            </a:r>
            <a:r>
              <a:rPr lang="en-US" sz="2400" i="1" dirty="0"/>
              <a:t>ends at the root node</a:t>
            </a:r>
            <a:r>
              <a:rPr lang="en-US" sz="2400" dirty="0" smtClean="0"/>
              <a:t>, which </a:t>
            </a:r>
            <a:r>
              <a:rPr lang="en-US" sz="2400" dirty="0"/>
              <a:t>represents the final operation of the query. </a:t>
            </a:r>
            <a:r>
              <a:rPr lang="en-US" sz="2400" dirty="0">
                <a:solidFill>
                  <a:srgbClr val="C00000"/>
                </a:solidFill>
              </a:rPr>
              <a:t>The execution terminates when </a:t>
            </a:r>
            <a:r>
              <a:rPr lang="en-US" sz="2400" dirty="0" smtClean="0">
                <a:solidFill>
                  <a:srgbClr val="C00000"/>
                </a:solidFill>
              </a:rPr>
              <a:t>the root </a:t>
            </a:r>
            <a:r>
              <a:rPr lang="en-US" sz="2400" dirty="0">
                <a:solidFill>
                  <a:srgbClr val="C00000"/>
                </a:solidFill>
              </a:rPr>
              <a:t>node operation is executed and produces the result relation for the query.</a:t>
            </a:r>
          </a:p>
          <a:p>
            <a:pPr>
              <a:lnSpc>
                <a:spcPct val="80000"/>
              </a:lnSpc>
            </a:pPr>
            <a:endParaRPr lang="en-US" altLang="en-US" sz="2400" dirty="0"/>
          </a:p>
          <a:p>
            <a:endParaRPr lang="en-US" dirty="0"/>
          </a:p>
        </p:txBody>
      </p:sp>
    </p:spTree>
    <p:extLst>
      <p:ext uri="{BB962C8B-B14F-4D97-AF65-F5344CB8AC3E}">
        <p14:creationId xmlns:p14="http://schemas.microsoft.com/office/powerpoint/2010/main" val="11164832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Query graph</a:t>
            </a:r>
            <a:r>
              <a:rPr lang="en-US" altLang="en-US" dirty="0"/>
              <a:t>:</a:t>
            </a:r>
            <a:br>
              <a:rPr lang="en-US" altLang="en-US" dirty="0"/>
            </a:br>
            <a:endParaRPr lang="en-US" dirty="0"/>
          </a:p>
        </p:txBody>
      </p:sp>
      <p:sp>
        <p:nvSpPr>
          <p:cNvPr id="3" name="Content Placeholder 2"/>
          <p:cNvSpPr>
            <a:spLocks noGrp="1"/>
          </p:cNvSpPr>
          <p:nvPr>
            <p:ph idx="1"/>
          </p:nvPr>
        </p:nvSpPr>
        <p:spPr/>
        <p:txBody>
          <a:bodyPr/>
          <a:lstStyle/>
          <a:p>
            <a:pPr marL="228600" lvl="1">
              <a:spcBef>
                <a:spcPts val="1000"/>
              </a:spcBef>
            </a:pPr>
            <a:r>
              <a:rPr lang="en-US" altLang="en-US" dirty="0"/>
              <a:t>A graph data structure that corresponds to a relational calculus expression. </a:t>
            </a:r>
            <a:endParaRPr lang="en-US" altLang="en-US" dirty="0" smtClean="0"/>
          </a:p>
          <a:p>
            <a:pPr marL="228600" lvl="1">
              <a:spcBef>
                <a:spcPts val="1000"/>
              </a:spcBef>
            </a:pPr>
            <a:r>
              <a:rPr lang="en-US" altLang="en-US" dirty="0" smtClean="0"/>
              <a:t>It </a:t>
            </a:r>
            <a:r>
              <a:rPr lang="en-US" altLang="en-US" dirty="0"/>
              <a:t>does </a:t>
            </a:r>
            <a:r>
              <a:rPr lang="en-US" altLang="en-US" i="1" dirty="0"/>
              <a:t>not</a:t>
            </a:r>
            <a:r>
              <a:rPr lang="en-US" altLang="en-US" dirty="0"/>
              <a:t> indicate an order on which operations to perform first. </a:t>
            </a:r>
            <a:endParaRPr lang="en-US" altLang="en-US" dirty="0" smtClean="0"/>
          </a:p>
          <a:p>
            <a:pPr marL="228600" lvl="1">
              <a:spcBef>
                <a:spcPts val="1000"/>
              </a:spcBef>
            </a:pPr>
            <a:r>
              <a:rPr lang="en-US" altLang="en-US" dirty="0" smtClean="0"/>
              <a:t>There </a:t>
            </a:r>
            <a:r>
              <a:rPr lang="en-US" altLang="en-US" dirty="0"/>
              <a:t>is only a </a:t>
            </a:r>
            <a:r>
              <a:rPr lang="en-US" altLang="en-US" i="1" dirty="0"/>
              <a:t>single</a:t>
            </a:r>
            <a:r>
              <a:rPr lang="en-US" altLang="en-US" dirty="0"/>
              <a:t> graph corresponding to each query. </a:t>
            </a:r>
          </a:p>
          <a:p>
            <a:endParaRPr lang="en-US" dirty="0"/>
          </a:p>
        </p:txBody>
      </p:sp>
    </p:spTree>
    <p:extLst>
      <p:ext uri="{BB962C8B-B14F-4D97-AF65-F5344CB8AC3E}">
        <p14:creationId xmlns:p14="http://schemas.microsoft.com/office/powerpoint/2010/main" val="28664921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r>
              <a:rPr lang="en-US" dirty="0"/>
              <a:t>Query Tree Example</a:t>
            </a:r>
          </a:p>
        </p:txBody>
      </p:sp>
      <p:sp>
        <p:nvSpPr>
          <p:cNvPr id="1032195" name="Rectangle 3"/>
          <p:cNvSpPr>
            <a:spLocks noGrp="1" noChangeArrowheads="1"/>
          </p:cNvSpPr>
          <p:nvPr>
            <p:ph idx="1"/>
          </p:nvPr>
        </p:nvSpPr>
        <p:spPr>
          <a:xfrm>
            <a:off x="762000" y="1447800"/>
            <a:ext cx="8001000" cy="5029200"/>
          </a:xfrm>
        </p:spPr>
        <p:txBody>
          <a:bodyPr>
            <a:normAutofit/>
          </a:bodyPr>
          <a:lstStyle/>
          <a:p>
            <a:pPr>
              <a:lnSpc>
                <a:spcPct val="90000"/>
              </a:lnSpc>
            </a:pPr>
            <a:r>
              <a:rPr lang="en-US" sz="2400" dirty="0">
                <a:solidFill>
                  <a:srgbClr val="FF0000"/>
                </a:solidFill>
              </a:rPr>
              <a:t>For every project located in ‘ISB’, list the project number, the controlling department number and the department manager’s last name, address, and birth date. </a:t>
            </a:r>
          </a:p>
          <a:p>
            <a:pPr>
              <a:lnSpc>
                <a:spcPct val="90000"/>
              </a:lnSpc>
              <a:buFont typeface="Wingdings" pitchFamily="2" charset="2"/>
              <a:buNone/>
            </a:pPr>
            <a:r>
              <a:rPr lang="en-US" sz="2000" dirty="0"/>
              <a:t>		</a:t>
            </a:r>
            <a:r>
              <a:rPr lang="en-US" sz="2000" b="1" dirty="0">
                <a:latin typeface="Comic Sans MS" pitchFamily="66" charset="0"/>
              </a:rPr>
              <a:t>SELECT </a:t>
            </a:r>
            <a:r>
              <a:rPr lang="en-US" sz="2000" b="1" dirty="0" err="1">
                <a:latin typeface="Comic Sans MS" pitchFamily="66" charset="0"/>
              </a:rPr>
              <a:t>Pnumber</a:t>
            </a:r>
            <a:r>
              <a:rPr lang="en-US" sz="2000" b="1" dirty="0">
                <a:latin typeface="Comic Sans MS" pitchFamily="66" charset="0"/>
              </a:rPr>
              <a:t>, </a:t>
            </a:r>
            <a:r>
              <a:rPr lang="en-US" sz="2000" b="1" dirty="0" err="1">
                <a:latin typeface="Comic Sans MS" pitchFamily="66" charset="0"/>
              </a:rPr>
              <a:t>Dnum</a:t>
            </a:r>
            <a:r>
              <a:rPr lang="en-US" sz="2000" b="1" dirty="0">
                <a:latin typeface="Comic Sans MS" pitchFamily="66" charset="0"/>
              </a:rPr>
              <a:t>, </a:t>
            </a:r>
            <a:r>
              <a:rPr lang="en-US" sz="2000" b="1" dirty="0" err="1">
                <a:latin typeface="Comic Sans MS" pitchFamily="66" charset="0"/>
              </a:rPr>
              <a:t>Lname</a:t>
            </a:r>
            <a:r>
              <a:rPr lang="en-US" sz="2000" b="1" dirty="0">
                <a:latin typeface="Comic Sans MS" pitchFamily="66" charset="0"/>
              </a:rPr>
              <a:t>, Address, </a:t>
            </a:r>
            <a:r>
              <a:rPr lang="en-US" sz="2000" b="1" dirty="0" err="1">
                <a:latin typeface="Comic Sans MS" pitchFamily="66" charset="0"/>
              </a:rPr>
              <a:t>Bdate</a:t>
            </a:r>
            <a:endParaRPr lang="en-US" sz="2000" b="1" dirty="0">
              <a:latin typeface="Comic Sans MS" pitchFamily="66" charset="0"/>
            </a:endParaRPr>
          </a:p>
          <a:p>
            <a:pPr>
              <a:lnSpc>
                <a:spcPct val="90000"/>
              </a:lnSpc>
              <a:buFont typeface="Wingdings" pitchFamily="2" charset="2"/>
              <a:buNone/>
            </a:pPr>
            <a:r>
              <a:rPr lang="en-US" sz="2000" b="1" dirty="0">
                <a:latin typeface="Comic Sans MS" pitchFamily="66" charset="0"/>
              </a:rPr>
              <a:t>		FROM Project, Department, Employee</a:t>
            </a:r>
          </a:p>
          <a:p>
            <a:pPr>
              <a:lnSpc>
                <a:spcPct val="90000"/>
              </a:lnSpc>
              <a:buFont typeface="Wingdings" pitchFamily="2" charset="2"/>
              <a:buNone/>
            </a:pPr>
            <a:r>
              <a:rPr lang="en-US" sz="2000" b="1" dirty="0">
                <a:latin typeface="Comic Sans MS" pitchFamily="66" charset="0"/>
              </a:rPr>
              <a:t>		WHERE </a:t>
            </a:r>
            <a:r>
              <a:rPr lang="en-US" sz="2000" b="1" dirty="0" err="1">
                <a:latin typeface="Comic Sans MS" pitchFamily="66" charset="0"/>
              </a:rPr>
              <a:t>Dnum</a:t>
            </a:r>
            <a:r>
              <a:rPr lang="en-US" sz="2000" b="1" dirty="0">
                <a:latin typeface="Comic Sans MS" pitchFamily="66" charset="0"/>
              </a:rPr>
              <a:t>=</a:t>
            </a:r>
            <a:r>
              <a:rPr lang="en-US" sz="2000" b="1" dirty="0" err="1">
                <a:latin typeface="Comic Sans MS" pitchFamily="66" charset="0"/>
              </a:rPr>
              <a:t>Dnumber</a:t>
            </a:r>
            <a:endParaRPr lang="en-US" sz="2000" b="1" dirty="0">
              <a:latin typeface="Comic Sans MS" pitchFamily="66" charset="0"/>
            </a:endParaRPr>
          </a:p>
          <a:p>
            <a:pPr>
              <a:lnSpc>
                <a:spcPct val="90000"/>
              </a:lnSpc>
              <a:buFont typeface="Wingdings" pitchFamily="2" charset="2"/>
              <a:buNone/>
            </a:pPr>
            <a:r>
              <a:rPr lang="en-US" sz="2000" b="1" dirty="0">
                <a:latin typeface="Comic Sans MS" pitchFamily="66" charset="0"/>
              </a:rPr>
              <a:t>		AND </a:t>
            </a:r>
            <a:r>
              <a:rPr lang="en-US" sz="2000" b="1" dirty="0" err="1">
                <a:latin typeface="Comic Sans MS" pitchFamily="66" charset="0"/>
              </a:rPr>
              <a:t>MgrSSN</a:t>
            </a:r>
            <a:r>
              <a:rPr lang="en-US" sz="2000" b="1" dirty="0">
                <a:latin typeface="Comic Sans MS" pitchFamily="66" charset="0"/>
              </a:rPr>
              <a:t> = SSN</a:t>
            </a:r>
          </a:p>
          <a:p>
            <a:pPr>
              <a:lnSpc>
                <a:spcPct val="90000"/>
              </a:lnSpc>
              <a:buFont typeface="Wingdings" pitchFamily="2" charset="2"/>
              <a:buNone/>
            </a:pPr>
            <a:r>
              <a:rPr lang="en-US" sz="2000" b="1" dirty="0">
                <a:latin typeface="Comic Sans MS" pitchFamily="66" charset="0"/>
              </a:rPr>
              <a:t>		AND </a:t>
            </a:r>
            <a:r>
              <a:rPr lang="en-US" sz="2000" b="1" dirty="0" err="1">
                <a:latin typeface="Comic Sans MS" pitchFamily="66" charset="0"/>
              </a:rPr>
              <a:t>Plocation</a:t>
            </a:r>
            <a:r>
              <a:rPr lang="en-US" sz="2000" b="1" dirty="0">
                <a:latin typeface="Comic Sans MS" pitchFamily="66" charset="0"/>
              </a:rPr>
              <a:t> = ‘ISB’</a:t>
            </a:r>
          </a:p>
        </p:txBody>
      </p:sp>
    </p:spTree>
    <p:extLst>
      <p:ext uri="{BB962C8B-B14F-4D97-AF65-F5344CB8AC3E}">
        <p14:creationId xmlns:p14="http://schemas.microsoft.com/office/powerpoint/2010/main" val="10714554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26" name="Rectangle 18"/>
          <p:cNvSpPr>
            <a:spLocks noGrp="1" noChangeArrowheads="1"/>
          </p:cNvSpPr>
          <p:nvPr>
            <p:ph type="title"/>
          </p:nvPr>
        </p:nvSpPr>
        <p:spPr/>
        <p:txBody>
          <a:bodyPr/>
          <a:lstStyle/>
          <a:p>
            <a:r>
              <a:rPr lang="en-US" dirty="0"/>
              <a:t>Query Tree: Example</a:t>
            </a:r>
          </a:p>
        </p:txBody>
      </p:sp>
      <p:sp>
        <p:nvSpPr>
          <p:cNvPr id="1041410" name="Oval 2"/>
          <p:cNvSpPr>
            <a:spLocks noChangeArrowheads="1"/>
          </p:cNvSpPr>
          <p:nvPr/>
        </p:nvSpPr>
        <p:spPr bwMode="auto">
          <a:xfrm>
            <a:off x="2209800" y="5605463"/>
            <a:ext cx="685800" cy="455612"/>
          </a:xfrm>
          <a:prstGeom prst="ellipse">
            <a:avLst/>
          </a:prstGeom>
          <a:noFill/>
          <a:ln w="9525">
            <a:solidFill>
              <a:schemeClr val="tx1"/>
            </a:solidFill>
            <a:round/>
            <a:headEnd/>
            <a:tailEnd/>
          </a:ln>
          <a:effectLst/>
        </p:spPr>
        <p:txBody>
          <a:bodyPr wrap="none" anchor="ctr"/>
          <a:lstStyle/>
          <a:p>
            <a:endParaRPr lang="en-US"/>
          </a:p>
        </p:txBody>
      </p:sp>
      <p:sp>
        <p:nvSpPr>
          <p:cNvPr id="1041411" name="Text Box 3"/>
          <p:cNvSpPr txBox="1">
            <a:spLocks noChangeArrowheads="1"/>
          </p:cNvSpPr>
          <p:nvPr/>
        </p:nvSpPr>
        <p:spPr bwMode="auto">
          <a:xfrm>
            <a:off x="2362200" y="5681663"/>
            <a:ext cx="309563" cy="366712"/>
          </a:xfrm>
          <a:prstGeom prst="rect">
            <a:avLst/>
          </a:prstGeom>
          <a:noFill/>
          <a:ln w="9525">
            <a:noFill/>
            <a:miter lim="800000"/>
            <a:headEnd/>
            <a:tailEnd/>
          </a:ln>
          <a:effectLst/>
        </p:spPr>
        <p:txBody>
          <a:bodyPr wrap="none">
            <a:spAutoFit/>
          </a:bodyPr>
          <a:lstStyle/>
          <a:p>
            <a:r>
              <a:rPr lang="en-US" sz="1800">
                <a:cs typeface="Arial" charset="0"/>
              </a:rPr>
              <a:t>P</a:t>
            </a:r>
          </a:p>
        </p:txBody>
      </p:sp>
      <p:sp>
        <p:nvSpPr>
          <p:cNvPr id="1041412" name="Oval 4"/>
          <p:cNvSpPr>
            <a:spLocks noChangeArrowheads="1"/>
          </p:cNvSpPr>
          <p:nvPr/>
        </p:nvSpPr>
        <p:spPr bwMode="auto">
          <a:xfrm>
            <a:off x="5410200" y="3471863"/>
            <a:ext cx="762000" cy="533400"/>
          </a:xfrm>
          <a:prstGeom prst="ellipse">
            <a:avLst/>
          </a:prstGeom>
          <a:noFill/>
          <a:ln w="9525">
            <a:solidFill>
              <a:schemeClr val="tx1"/>
            </a:solidFill>
            <a:round/>
            <a:headEnd/>
            <a:tailEnd/>
          </a:ln>
          <a:effectLst/>
        </p:spPr>
        <p:txBody>
          <a:bodyPr wrap="none" anchor="ctr"/>
          <a:lstStyle/>
          <a:p>
            <a:endParaRPr lang="en-US"/>
          </a:p>
        </p:txBody>
      </p:sp>
      <p:sp>
        <p:nvSpPr>
          <p:cNvPr id="1041413" name="Text Box 5"/>
          <p:cNvSpPr txBox="1">
            <a:spLocks noChangeArrowheads="1"/>
          </p:cNvSpPr>
          <p:nvPr/>
        </p:nvSpPr>
        <p:spPr bwMode="auto">
          <a:xfrm>
            <a:off x="5630863" y="3546475"/>
            <a:ext cx="312737" cy="366713"/>
          </a:xfrm>
          <a:prstGeom prst="rect">
            <a:avLst/>
          </a:prstGeom>
          <a:noFill/>
          <a:ln w="9525">
            <a:noFill/>
            <a:miter lim="800000"/>
            <a:headEnd/>
            <a:tailEnd/>
          </a:ln>
          <a:effectLst/>
        </p:spPr>
        <p:txBody>
          <a:bodyPr wrap="none">
            <a:spAutoFit/>
          </a:bodyPr>
          <a:lstStyle/>
          <a:p>
            <a:r>
              <a:rPr lang="en-US" sz="1800">
                <a:cs typeface="Arial" charset="0"/>
              </a:rPr>
              <a:t>E</a:t>
            </a:r>
          </a:p>
        </p:txBody>
      </p:sp>
      <p:sp>
        <p:nvSpPr>
          <p:cNvPr id="1041414" name="Oval 6"/>
          <p:cNvSpPr>
            <a:spLocks noChangeArrowheads="1"/>
          </p:cNvSpPr>
          <p:nvPr/>
        </p:nvSpPr>
        <p:spPr bwMode="auto">
          <a:xfrm>
            <a:off x="4724400" y="4614863"/>
            <a:ext cx="685800" cy="457200"/>
          </a:xfrm>
          <a:prstGeom prst="ellipse">
            <a:avLst/>
          </a:prstGeom>
          <a:noFill/>
          <a:ln w="9525">
            <a:solidFill>
              <a:schemeClr val="tx1"/>
            </a:solidFill>
            <a:round/>
            <a:headEnd/>
            <a:tailEnd/>
          </a:ln>
          <a:effectLst/>
        </p:spPr>
        <p:txBody>
          <a:bodyPr wrap="none" anchor="ctr"/>
          <a:lstStyle/>
          <a:p>
            <a:endParaRPr lang="en-US"/>
          </a:p>
        </p:txBody>
      </p:sp>
      <p:sp>
        <p:nvSpPr>
          <p:cNvPr id="1041415" name="Text Box 7"/>
          <p:cNvSpPr txBox="1">
            <a:spLocks noChangeArrowheads="1"/>
          </p:cNvSpPr>
          <p:nvPr/>
        </p:nvSpPr>
        <p:spPr bwMode="auto">
          <a:xfrm>
            <a:off x="4918075" y="4627563"/>
            <a:ext cx="339725" cy="366712"/>
          </a:xfrm>
          <a:prstGeom prst="rect">
            <a:avLst/>
          </a:prstGeom>
          <a:noFill/>
          <a:ln w="9525">
            <a:noFill/>
            <a:miter lim="800000"/>
            <a:headEnd/>
            <a:tailEnd/>
          </a:ln>
          <a:effectLst/>
        </p:spPr>
        <p:txBody>
          <a:bodyPr wrap="none">
            <a:spAutoFit/>
          </a:bodyPr>
          <a:lstStyle/>
          <a:p>
            <a:r>
              <a:rPr lang="en-US" sz="1800">
                <a:cs typeface="Arial" charset="0"/>
              </a:rPr>
              <a:t>D</a:t>
            </a:r>
          </a:p>
        </p:txBody>
      </p:sp>
      <p:sp>
        <p:nvSpPr>
          <p:cNvPr id="1041419" name="Text Box 11"/>
          <p:cNvSpPr txBox="1">
            <a:spLocks noChangeArrowheads="1"/>
          </p:cNvSpPr>
          <p:nvPr/>
        </p:nvSpPr>
        <p:spPr bwMode="auto">
          <a:xfrm>
            <a:off x="3527425" y="2354263"/>
            <a:ext cx="2419350" cy="519112"/>
          </a:xfrm>
          <a:prstGeom prst="rect">
            <a:avLst/>
          </a:prstGeom>
          <a:noFill/>
          <a:ln w="9525">
            <a:noFill/>
            <a:miter lim="800000"/>
            <a:headEnd/>
            <a:tailEnd/>
          </a:ln>
          <a:effectLst/>
        </p:spPr>
        <p:txBody>
          <a:bodyPr wrap="none">
            <a:spAutoFit/>
          </a:bodyPr>
          <a:lstStyle/>
          <a:p>
            <a:r>
              <a:rPr lang="el-GR">
                <a:latin typeface="Comic Sans MS" pitchFamily="66" charset="0"/>
              </a:rPr>
              <a:t>θ</a:t>
            </a:r>
            <a:r>
              <a:rPr lang="en-US" sz="1800">
                <a:latin typeface="Comic Sans MS" pitchFamily="66" charset="0"/>
                <a:cs typeface="Arial" charset="0"/>
              </a:rPr>
              <a:t>D.MGRSSN=E.SSN</a:t>
            </a:r>
          </a:p>
        </p:txBody>
      </p:sp>
      <p:sp>
        <p:nvSpPr>
          <p:cNvPr id="1041424" name="Line 16"/>
          <p:cNvSpPr>
            <a:spLocks noChangeShapeType="1"/>
          </p:cNvSpPr>
          <p:nvPr/>
        </p:nvSpPr>
        <p:spPr bwMode="auto">
          <a:xfrm>
            <a:off x="4648200" y="2176463"/>
            <a:ext cx="0" cy="304800"/>
          </a:xfrm>
          <a:prstGeom prst="line">
            <a:avLst/>
          </a:prstGeom>
          <a:noFill/>
          <a:ln w="9525">
            <a:solidFill>
              <a:schemeClr val="tx1"/>
            </a:solidFill>
            <a:round/>
            <a:headEnd/>
            <a:tailEnd/>
          </a:ln>
          <a:effectLst/>
        </p:spPr>
        <p:txBody>
          <a:bodyPr/>
          <a:lstStyle/>
          <a:p>
            <a:endParaRPr lang="en-US"/>
          </a:p>
        </p:txBody>
      </p:sp>
      <p:sp>
        <p:nvSpPr>
          <p:cNvPr id="1041425" name="Text Box 17"/>
          <p:cNvSpPr txBox="1">
            <a:spLocks noChangeArrowheads="1"/>
          </p:cNvSpPr>
          <p:nvPr/>
        </p:nvSpPr>
        <p:spPr bwMode="auto">
          <a:xfrm>
            <a:off x="2133600" y="1676400"/>
            <a:ext cx="5630863" cy="793750"/>
          </a:xfrm>
          <a:prstGeom prst="rect">
            <a:avLst/>
          </a:prstGeom>
          <a:noFill/>
          <a:ln w="9525">
            <a:noFill/>
            <a:miter lim="800000"/>
            <a:headEnd/>
            <a:tailEnd/>
          </a:ln>
          <a:effectLst/>
        </p:spPr>
        <p:txBody>
          <a:bodyPr wrap="none">
            <a:spAutoFit/>
          </a:bodyPr>
          <a:lstStyle/>
          <a:p>
            <a:r>
              <a:rPr lang="en-US">
                <a:latin typeface="Comic Sans MS" pitchFamily="66" charset="0"/>
                <a:cs typeface="Arial" charset="0"/>
              </a:rPr>
              <a:t>∏</a:t>
            </a:r>
            <a:r>
              <a:rPr lang="en-US" sz="1800">
                <a:latin typeface="Comic Sans MS" pitchFamily="66" charset="0"/>
              </a:rPr>
              <a:t>P.Pnumber, P.Dnum, E.Lname, E.Address, E.Bdate</a:t>
            </a:r>
          </a:p>
          <a:p>
            <a:endParaRPr lang="en-US" sz="1800">
              <a:latin typeface="Comic Sans MS" pitchFamily="66" charset="0"/>
              <a:cs typeface="Arial" charset="0"/>
            </a:endParaRPr>
          </a:p>
        </p:txBody>
      </p:sp>
      <p:sp>
        <p:nvSpPr>
          <p:cNvPr id="1041427" name="Line 19"/>
          <p:cNvSpPr>
            <a:spLocks noChangeShapeType="1"/>
          </p:cNvSpPr>
          <p:nvPr/>
        </p:nvSpPr>
        <p:spPr bwMode="auto">
          <a:xfrm>
            <a:off x="4648200" y="2862263"/>
            <a:ext cx="914400" cy="685800"/>
          </a:xfrm>
          <a:prstGeom prst="line">
            <a:avLst/>
          </a:prstGeom>
          <a:noFill/>
          <a:ln w="9525">
            <a:solidFill>
              <a:schemeClr val="tx1"/>
            </a:solidFill>
            <a:miter lim="800000"/>
            <a:headEnd/>
            <a:tailEnd/>
          </a:ln>
          <a:effectLst/>
        </p:spPr>
        <p:txBody>
          <a:bodyPr wrap="none"/>
          <a:lstStyle/>
          <a:p>
            <a:endParaRPr lang="en-US"/>
          </a:p>
        </p:txBody>
      </p:sp>
      <p:sp>
        <p:nvSpPr>
          <p:cNvPr id="1041428" name="Line 20"/>
          <p:cNvSpPr>
            <a:spLocks noChangeShapeType="1"/>
          </p:cNvSpPr>
          <p:nvPr/>
        </p:nvSpPr>
        <p:spPr bwMode="auto">
          <a:xfrm flipH="1">
            <a:off x="3733800" y="2862263"/>
            <a:ext cx="914400" cy="762000"/>
          </a:xfrm>
          <a:prstGeom prst="line">
            <a:avLst/>
          </a:prstGeom>
          <a:noFill/>
          <a:ln w="9525">
            <a:solidFill>
              <a:schemeClr val="tx1"/>
            </a:solidFill>
            <a:miter lim="800000"/>
            <a:headEnd/>
            <a:tailEnd/>
          </a:ln>
          <a:effectLst/>
        </p:spPr>
        <p:txBody>
          <a:bodyPr wrap="none"/>
          <a:lstStyle/>
          <a:p>
            <a:endParaRPr lang="en-US"/>
          </a:p>
        </p:txBody>
      </p:sp>
      <p:sp>
        <p:nvSpPr>
          <p:cNvPr id="1041429" name="Text Box 21"/>
          <p:cNvSpPr txBox="1">
            <a:spLocks noChangeArrowheads="1"/>
          </p:cNvSpPr>
          <p:nvPr/>
        </p:nvSpPr>
        <p:spPr bwMode="auto">
          <a:xfrm>
            <a:off x="2438400" y="3486150"/>
            <a:ext cx="2427288" cy="519113"/>
          </a:xfrm>
          <a:prstGeom prst="rect">
            <a:avLst/>
          </a:prstGeom>
          <a:noFill/>
          <a:ln w="9525">
            <a:noFill/>
            <a:miter lim="800000"/>
            <a:headEnd/>
            <a:tailEnd/>
          </a:ln>
          <a:effectLst/>
        </p:spPr>
        <p:txBody>
          <a:bodyPr wrap="none">
            <a:spAutoFit/>
          </a:bodyPr>
          <a:lstStyle/>
          <a:p>
            <a:r>
              <a:rPr lang="el-GR">
                <a:latin typeface="Comic Sans MS" pitchFamily="66" charset="0"/>
              </a:rPr>
              <a:t>θ</a:t>
            </a:r>
            <a:r>
              <a:rPr lang="en-US" sz="1800">
                <a:latin typeface="Comic Sans MS" pitchFamily="66" charset="0"/>
                <a:cs typeface="Arial" charset="0"/>
              </a:rPr>
              <a:t>P.Dnum=D.Dnumber</a:t>
            </a:r>
          </a:p>
        </p:txBody>
      </p:sp>
      <p:sp>
        <p:nvSpPr>
          <p:cNvPr id="1041430" name="Line 22"/>
          <p:cNvSpPr>
            <a:spLocks noChangeShapeType="1"/>
          </p:cNvSpPr>
          <p:nvPr/>
        </p:nvSpPr>
        <p:spPr bwMode="auto">
          <a:xfrm>
            <a:off x="3733800" y="4081463"/>
            <a:ext cx="1143000" cy="533400"/>
          </a:xfrm>
          <a:prstGeom prst="line">
            <a:avLst/>
          </a:prstGeom>
          <a:noFill/>
          <a:ln w="9525">
            <a:solidFill>
              <a:schemeClr val="tx1"/>
            </a:solidFill>
            <a:miter lim="800000"/>
            <a:headEnd/>
            <a:tailEnd/>
          </a:ln>
          <a:effectLst/>
        </p:spPr>
        <p:txBody>
          <a:bodyPr wrap="none"/>
          <a:lstStyle/>
          <a:p>
            <a:endParaRPr lang="en-US"/>
          </a:p>
        </p:txBody>
      </p:sp>
      <p:sp>
        <p:nvSpPr>
          <p:cNvPr id="1041431" name="Line 23"/>
          <p:cNvSpPr>
            <a:spLocks noChangeShapeType="1"/>
          </p:cNvSpPr>
          <p:nvPr/>
        </p:nvSpPr>
        <p:spPr bwMode="auto">
          <a:xfrm flipH="1">
            <a:off x="2590800" y="4081463"/>
            <a:ext cx="1143000" cy="609600"/>
          </a:xfrm>
          <a:prstGeom prst="line">
            <a:avLst/>
          </a:prstGeom>
          <a:noFill/>
          <a:ln w="9525">
            <a:solidFill>
              <a:schemeClr val="tx1"/>
            </a:solidFill>
            <a:miter lim="800000"/>
            <a:headEnd/>
            <a:tailEnd/>
          </a:ln>
          <a:effectLst/>
        </p:spPr>
        <p:txBody>
          <a:bodyPr wrap="none"/>
          <a:lstStyle/>
          <a:p>
            <a:endParaRPr lang="en-US"/>
          </a:p>
        </p:txBody>
      </p:sp>
      <p:sp>
        <p:nvSpPr>
          <p:cNvPr id="1041432" name="Text Box 24"/>
          <p:cNvSpPr txBox="1">
            <a:spLocks noChangeArrowheads="1"/>
          </p:cNvSpPr>
          <p:nvPr/>
        </p:nvSpPr>
        <p:spPr bwMode="auto">
          <a:xfrm>
            <a:off x="1371600" y="4476750"/>
            <a:ext cx="2018501" cy="369332"/>
          </a:xfrm>
          <a:prstGeom prst="rect">
            <a:avLst/>
          </a:prstGeom>
          <a:noFill/>
          <a:ln w="9525">
            <a:noFill/>
            <a:miter lim="800000"/>
            <a:headEnd/>
            <a:tailEnd/>
          </a:ln>
          <a:effectLst/>
        </p:spPr>
        <p:txBody>
          <a:bodyPr wrap="none">
            <a:spAutoFit/>
          </a:bodyPr>
          <a:lstStyle/>
          <a:p>
            <a:r>
              <a:rPr lang="el-GR" dirty="0">
                <a:latin typeface="Comic Sans MS" pitchFamily="66" charset="0"/>
              </a:rPr>
              <a:t>σ</a:t>
            </a:r>
            <a:r>
              <a:rPr lang="en-US" sz="1800" dirty="0" err="1">
                <a:latin typeface="Comic Sans MS" pitchFamily="66" charset="0"/>
                <a:cs typeface="Arial" charset="0"/>
              </a:rPr>
              <a:t>P.Location</a:t>
            </a:r>
            <a:r>
              <a:rPr lang="en-US" sz="1800" dirty="0">
                <a:latin typeface="Comic Sans MS" pitchFamily="66" charset="0"/>
                <a:cs typeface="Arial" charset="0"/>
              </a:rPr>
              <a:t>=‘ISB’</a:t>
            </a:r>
          </a:p>
        </p:txBody>
      </p:sp>
      <p:sp>
        <p:nvSpPr>
          <p:cNvPr id="1041433" name="Line 25"/>
          <p:cNvSpPr>
            <a:spLocks noChangeShapeType="1"/>
          </p:cNvSpPr>
          <p:nvPr/>
        </p:nvSpPr>
        <p:spPr bwMode="auto">
          <a:xfrm>
            <a:off x="2514600" y="4995863"/>
            <a:ext cx="0" cy="609600"/>
          </a:xfrm>
          <a:prstGeom prst="line">
            <a:avLst/>
          </a:prstGeom>
          <a:noFill/>
          <a:ln w="9525">
            <a:solidFill>
              <a:schemeClr val="tx1"/>
            </a:solidFill>
            <a:miter lim="800000"/>
            <a:headEnd/>
            <a:tailEnd/>
          </a:ln>
          <a:effectLst/>
        </p:spPr>
        <p:txBody>
          <a:bodyPr wrap="none"/>
          <a:lstStyle/>
          <a:p>
            <a:endParaRPr lang="en-US"/>
          </a:p>
        </p:txBody>
      </p:sp>
      <p:sp>
        <p:nvSpPr>
          <p:cNvPr id="1041434" name="Text Box 26"/>
          <p:cNvSpPr txBox="1">
            <a:spLocks noChangeArrowheads="1"/>
          </p:cNvSpPr>
          <p:nvPr/>
        </p:nvSpPr>
        <p:spPr bwMode="auto">
          <a:xfrm>
            <a:off x="4500563" y="5772150"/>
            <a:ext cx="4446587" cy="519113"/>
          </a:xfrm>
          <a:prstGeom prst="rect">
            <a:avLst/>
          </a:prstGeom>
          <a:noFill/>
          <a:ln w="9525">
            <a:noFill/>
            <a:miter lim="800000"/>
            <a:headEnd/>
            <a:tailEnd/>
          </a:ln>
          <a:effectLst/>
        </p:spPr>
        <p:txBody>
          <a:bodyPr wrap="none">
            <a:spAutoFit/>
          </a:bodyPr>
          <a:lstStyle/>
          <a:p>
            <a:r>
              <a:rPr lang="en-US" sz="2000" b="1" u="sng"/>
              <a:t>Note</a:t>
            </a:r>
            <a:r>
              <a:rPr lang="en-US" sz="2000"/>
              <a:t>: The symbol </a:t>
            </a:r>
            <a:r>
              <a:rPr lang="el-GR"/>
              <a:t>θ</a:t>
            </a:r>
            <a:r>
              <a:rPr lang="en-US"/>
              <a:t> </a:t>
            </a:r>
            <a:r>
              <a:rPr lang="en-US" sz="2000"/>
              <a:t>represents JOIN</a:t>
            </a:r>
            <a:endParaRPr lang="el-GR" sz="20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50" name="Rectangle 18"/>
          <p:cNvSpPr>
            <a:spLocks noGrp="1" noChangeArrowheads="1"/>
          </p:cNvSpPr>
          <p:nvPr>
            <p:ph type="title"/>
          </p:nvPr>
        </p:nvSpPr>
        <p:spPr/>
        <p:txBody>
          <a:bodyPr/>
          <a:lstStyle/>
          <a:p>
            <a:r>
              <a:rPr lang="en-US"/>
              <a:t>… --- Query Tree: Example</a:t>
            </a:r>
          </a:p>
        </p:txBody>
      </p:sp>
      <p:sp>
        <p:nvSpPr>
          <p:cNvPr id="1042434" name="Oval 2"/>
          <p:cNvSpPr>
            <a:spLocks noChangeArrowheads="1"/>
          </p:cNvSpPr>
          <p:nvPr/>
        </p:nvSpPr>
        <p:spPr bwMode="auto">
          <a:xfrm>
            <a:off x="2514600" y="5681663"/>
            <a:ext cx="685800" cy="455612"/>
          </a:xfrm>
          <a:prstGeom prst="ellipse">
            <a:avLst/>
          </a:prstGeom>
          <a:noFill/>
          <a:ln w="9525">
            <a:solidFill>
              <a:schemeClr val="tx1"/>
            </a:solidFill>
            <a:round/>
            <a:headEnd/>
            <a:tailEnd/>
          </a:ln>
          <a:effectLst/>
        </p:spPr>
        <p:txBody>
          <a:bodyPr wrap="none" anchor="ctr"/>
          <a:lstStyle/>
          <a:p>
            <a:endParaRPr lang="en-US"/>
          </a:p>
        </p:txBody>
      </p:sp>
      <p:sp>
        <p:nvSpPr>
          <p:cNvPr id="1042435" name="Text Box 3"/>
          <p:cNvSpPr txBox="1">
            <a:spLocks noChangeArrowheads="1"/>
          </p:cNvSpPr>
          <p:nvPr/>
        </p:nvSpPr>
        <p:spPr bwMode="auto">
          <a:xfrm>
            <a:off x="2667000" y="5757863"/>
            <a:ext cx="309563" cy="366712"/>
          </a:xfrm>
          <a:prstGeom prst="rect">
            <a:avLst/>
          </a:prstGeom>
          <a:noFill/>
          <a:ln w="9525">
            <a:noFill/>
            <a:miter lim="800000"/>
            <a:headEnd/>
            <a:tailEnd/>
          </a:ln>
          <a:effectLst/>
        </p:spPr>
        <p:txBody>
          <a:bodyPr wrap="none">
            <a:spAutoFit/>
          </a:bodyPr>
          <a:lstStyle/>
          <a:p>
            <a:r>
              <a:rPr lang="en-US" sz="1800">
                <a:cs typeface="Arial" charset="0"/>
              </a:rPr>
              <a:t>P</a:t>
            </a:r>
          </a:p>
        </p:txBody>
      </p:sp>
      <p:sp>
        <p:nvSpPr>
          <p:cNvPr id="1042436" name="Oval 4"/>
          <p:cNvSpPr>
            <a:spLocks noChangeArrowheads="1"/>
          </p:cNvSpPr>
          <p:nvPr/>
        </p:nvSpPr>
        <p:spPr bwMode="auto">
          <a:xfrm>
            <a:off x="5105400" y="4386263"/>
            <a:ext cx="762000" cy="533400"/>
          </a:xfrm>
          <a:prstGeom prst="ellipse">
            <a:avLst/>
          </a:prstGeom>
          <a:noFill/>
          <a:ln w="9525">
            <a:solidFill>
              <a:schemeClr val="tx1"/>
            </a:solidFill>
            <a:round/>
            <a:headEnd/>
            <a:tailEnd/>
          </a:ln>
          <a:effectLst/>
        </p:spPr>
        <p:txBody>
          <a:bodyPr wrap="none" anchor="ctr"/>
          <a:lstStyle/>
          <a:p>
            <a:endParaRPr lang="en-US"/>
          </a:p>
        </p:txBody>
      </p:sp>
      <p:sp>
        <p:nvSpPr>
          <p:cNvPr id="1042437" name="Text Box 5"/>
          <p:cNvSpPr txBox="1">
            <a:spLocks noChangeArrowheads="1"/>
          </p:cNvSpPr>
          <p:nvPr/>
        </p:nvSpPr>
        <p:spPr bwMode="auto">
          <a:xfrm>
            <a:off x="5326063" y="4460875"/>
            <a:ext cx="312737" cy="366713"/>
          </a:xfrm>
          <a:prstGeom prst="rect">
            <a:avLst/>
          </a:prstGeom>
          <a:noFill/>
          <a:ln w="9525">
            <a:noFill/>
            <a:miter lim="800000"/>
            <a:headEnd/>
            <a:tailEnd/>
          </a:ln>
          <a:effectLst/>
        </p:spPr>
        <p:txBody>
          <a:bodyPr wrap="none">
            <a:spAutoFit/>
          </a:bodyPr>
          <a:lstStyle/>
          <a:p>
            <a:r>
              <a:rPr lang="en-US" sz="1800">
                <a:cs typeface="Arial" charset="0"/>
              </a:rPr>
              <a:t>E</a:t>
            </a:r>
          </a:p>
        </p:txBody>
      </p:sp>
      <p:sp>
        <p:nvSpPr>
          <p:cNvPr id="1042438" name="Oval 6"/>
          <p:cNvSpPr>
            <a:spLocks noChangeArrowheads="1"/>
          </p:cNvSpPr>
          <p:nvPr/>
        </p:nvSpPr>
        <p:spPr bwMode="auto">
          <a:xfrm>
            <a:off x="4343400" y="5605463"/>
            <a:ext cx="685800" cy="457200"/>
          </a:xfrm>
          <a:prstGeom prst="ellipse">
            <a:avLst/>
          </a:prstGeom>
          <a:noFill/>
          <a:ln w="9525">
            <a:solidFill>
              <a:schemeClr val="tx1"/>
            </a:solidFill>
            <a:round/>
            <a:headEnd/>
            <a:tailEnd/>
          </a:ln>
          <a:effectLst/>
        </p:spPr>
        <p:txBody>
          <a:bodyPr wrap="none" anchor="ctr"/>
          <a:lstStyle/>
          <a:p>
            <a:endParaRPr lang="en-US"/>
          </a:p>
        </p:txBody>
      </p:sp>
      <p:sp>
        <p:nvSpPr>
          <p:cNvPr id="1042439" name="Text Box 7"/>
          <p:cNvSpPr txBox="1">
            <a:spLocks noChangeArrowheads="1"/>
          </p:cNvSpPr>
          <p:nvPr/>
        </p:nvSpPr>
        <p:spPr bwMode="auto">
          <a:xfrm>
            <a:off x="4537075" y="5618163"/>
            <a:ext cx="339725" cy="366712"/>
          </a:xfrm>
          <a:prstGeom prst="rect">
            <a:avLst/>
          </a:prstGeom>
          <a:noFill/>
          <a:ln w="9525">
            <a:noFill/>
            <a:miter lim="800000"/>
            <a:headEnd/>
            <a:tailEnd/>
          </a:ln>
          <a:effectLst/>
        </p:spPr>
        <p:txBody>
          <a:bodyPr wrap="none">
            <a:spAutoFit/>
          </a:bodyPr>
          <a:lstStyle/>
          <a:p>
            <a:r>
              <a:rPr lang="en-US" sz="1800">
                <a:cs typeface="Arial" charset="0"/>
              </a:rPr>
              <a:t>D</a:t>
            </a:r>
          </a:p>
        </p:txBody>
      </p:sp>
      <p:sp>
        <p:nvSpPr>
          <p:cNvPr id="1042440" name="Line 8"/>
          <p:cNvSpPr>
            <a:spLocks noChangeShapeType="1"/>
          </p:cNvSpPr>
          <p:nvPr/>
        </p:nvSpPr>
        <p:spPr bwMode="auto">
          <a:xfrm flipH="1">
            <a:off x="2895600" y="4919663"/>
            <a:ext cx="838200" cy="762000"/>
          </a:xfrm>
          <a:prstGeom prst="line">
            <a:avLst/>
          </a:prstGeom>
          <a:noFill/>
          <a:ln w="9525">
            <a:solidFill>
              <a:schemeClr val="tx1"/>
            </a:solidFill>
            <a:round/>
            <a:headEnd/>
            <a:tailEnd/>
          </a:ln>
          <a:effectLst/>
        </p:spPr>
        <p:txBody>
          <a:bodyPr/>
          <a:lstStyle/>
          <a:p>
            <a:endParaRPr lang="en-US"/>
          </a:p>
        </p:txBody>
      </p:sp>
      <p:sp>
        <p:nvSpPr>
          <p:cNvPr id="1042441" name="Line 9"/>
          <p:cNvSpPr>
            <a:spLocks noChangeShapeType="1"/>
          </p:cNvSpPr>
          <p:nvPr/>
        </p:nvSpPr>
        <p:spPr bwMode="auto">
          <a:xfrm>
            <a:off x="3886200" y="4919663"/>
            <a:ext cx="685800" cy="685800"/>
          </a:xfrm>
          <a:prstGeom prst="line">
            <a:avLst/>
          </a:prstGeom>
          <a:noFill/>
          <a:ln w="9525">
            <a:solidFill>
              <a:schemeClr val="tx1"/>
            </a:solidFill>
            <a:round/>
            <a:headEnd/>
            <a:tailEnd/>
          </a:ln>
          <a:effectLst/>
        </p:spPr>
        <p:txBody>
          <a:bodyPr/>
          <a:lstStyle/>
          <a:p>
            <a:endParaRPr lang="en-US"/>
          </a:p>
        </p:txBody>
      </p:sp>
      <p:sp>
        <p:nvSpPr>
          <p:cNvPr id="1042442" name="Text Box 10"/>
          <p:cNvSpPr txBox="1">
            <a:spLocks noChangeArrowheads="1"/>
          </p:cNvSpPr>
          <p:nvPr/>
        </p:nvSpPr>
        <p:spPr bwMode="auto">
          <a:xfrm>
            <a:off x="3602038" y="4386263"/>
            <a:ext cx="360362" cy="457200"/>
          </a:xfrm>
          <a:prstGeom prst="rect">
            <a:avLst/>
          </a:prstGeom>
          <a:noFill/>
          <a:ln w="9525">
            <a:noFill/>
            <a:miter lim="800000"/>
            <a:headEnd/>
            <a:tailEnd/>
          </a:ln>
          <a:effectLst/>
        </p:spPr>
        <p:txBody>
          <a:bodyPr wrap="none">
            <a:spAutoFit/>
          </a:bodyPr>
          <a:lstStyle/>
          <a:p>
            <a:r>
              <a:rPr lang="en-US" sz="2400">
                <a:cs typeface="Arial" charset="0"/>
              </a:rPr>
              <a:t>X</a:t>
            </a:r>
          </a:p>
        </p:txBody>
      </p:sp>
      <p:sp>
        <p:nvSpPr>
          <p:cNvPr id="1042443" name="Text Box 11"/>
          <p:cNvSpPr txBox="1">
            <a:spLocks noChangeArrowheads="1"/>
          </p:cNvSpPr>
          <p:nvPr/>
        </p:nvSpPr>
        <p:spPr bwMode="auto">
          <a:xfrm>
            <a:off x="609600" y="2506663"/>
            <a:ext cx="6415795" cy="369332"/>
          </a:xfrm>
          <a:prstGeom prst="rect">
            <a:avLst/>
          </a:prstGeom>
          <a:noFill/>
          <a:ln w="9525">
            <a:noFill/>
            <a:miter lim="800000"/>
            <a:headEnd/>
            <a:tailEnd/>
          </a:ln>
          <a:effectLst/>
        </p:spPr>
        <p:txBody>
          <a:bodyPr wrap="none">
            <a:spAutoFit/>
          </a:bodyPr>
          <a:lstStyle/>
          <a:p>
            <a:r>
              <a:rPr lang="el-GR" dirty="0"/>
              <a:t>σ</a:t>
            </a:r>
            <a:r>
              <a:rPr lang="en-US" sz="1800" dirty="0" err="1">
                <a:cs typeface="Arial" charset="0"/>
              </a:rPr>
              <a:t>P.Dnum</a:t>
            </a:r>
            <a:r>
              <a:rPr lang="en-US" sz="1800" dirty="0">
                <a:cs typeface="Arial" charset="0"/>
              </a:rPr>
              <a:t>=</a:t>
            </a:r>
            <a:r>
              <a:rPr lang="en-US" sz="1800" dirty="0" err="1">
                <a:cs typeface="Arial" charset="0"/>
              </a:rPr>
              <a:t>D.Dnumber</a:t>
            </a:r>
            <a:r>
              <a:rPr lang="en-US" sz="1800" dirty="0">
                <a:cs typeface="Arial" charset="0"/>
              </a:rPr>
              <a:t> AND D.MGRSSN=E.SSN AND </a:t>
            </a:r>
            <a:r>
              <a:rPr lang="en-US" sz="1800" dirty="0" err="1">
                <a:cs typeface="Arial" charset="0"/>
              </a:rPr>
              <a:t>P.Location</a:t>
            </a:r>
            <a:r>
              <a:rPr lang="en-US" sz="1800" dirty="0">
                <a:cs typeface="Arial" charset="0"/>
              </a:rPr>
              <a:t>=‘ISB’</a:t>
            </a:r>
          </a:p>
        </p:txBody>
      </p:sp>
      <p:sp>
        <p:nvSpPr>
          <p:cNvPr id="1042444" name="Text Box 12"/>
          <p:cNvSpPr txBox="1">
            <a:spLocks noChangeArrowheads="1"/>
          </p:cNvSpPr>
          <p:nvPr/>
        </p:nvSpPr>
        <p:spPr bwMode="auto">
          <a:xfrm>
            <a:off x="4419600" y="3471863"/>
            <a:ext cx="496888" cy="457200"/>
          </a:xfrm>
          <a:prstGeom prst="rect">
            <a:avLst/>
          </a:prstGeom>
          <a:noFill/>
          <a:ln w="9525">
            <a:noFill/>
            <a:miter lim="800000"/>
            <a:headEnd/>
            <a:tailEnd/>
          </a:ln>
          <a:effectLst/>
        </p:spPr>
        <p:txBody>
          <a:bodyPr>
            <a:spAutoFit/>
          </a:bodyPr>
          <a:lstStyle/>
          <a:p>
            <a:r>
              <a:rPr lang="el-GR" sz="2400"/>
              <a:t>Χ</a:t>
            </a:r>
          </a:p>
        </p:txBody>
      </p:sp>
      <p:sp>
        <p:nvSpPr>
          <p:cNvPr id="1042445" name="Line 13"/>
          <p:cNvSpPr>
            <a:spLocks noChangeShapeType="1"/>
          </p:cNvSpPr>
          <p:nvPr/>
        </p:nvSpPr>
        <p:spPr bwMode="auto">
          <a:xfrm flipH="1">
            <a:off x="3810000" y="3852863"/>
            <a:ext cx="609600" cy="609600"/>
          </a:xfrm>
          <a:prstGeom prst="line">
            <a:avLst/>
          </a:prstGeom>
          <a:noFill/>
          <a:ln w="9525">
            <a:solidFill>
              <a:schemeClr val="tx1"/>
            </a:solidFill>
            <a:round/>
            <a:headEnd/>
            <a:tailEnd/>
          </a:ln>
          <a:effectLst/>
        </p:spPr>
        <p:txBody>
          <a:bodyPr/>
          <a:lstStyle/>
          <a:p>
            <a:endParaRPr lang="en-US"/>
          </a:p>
        </p:txBody>
      </p:sp>
      <p:sp>
        <p:nvSpPr>
          <p:cNvPr id="1042446" name="Line 14"/>
          <p:cNvSpPr>
            <a:spLocks noChangeShapeType="1"/>
          </p:cNvSpPr>
          <p:nvPr/>
        </p:nvSpPr>
        <p:spPr bwMode="auto">
          <a:xfrm>
            <a:off x="4724400" y="3852863"/>
            <a:ext cx="609600" cy="533400"/>
          </a:xfrm>
          <a:prstGeom prst="line">
            <a:avLst/>
          </a:prstGeom>
          <a:noFill/>
          <a:ln w="9525">
            <a:solidFill>
              <a:schemeClr val="tx1"/>
            </a:solidFill>
            <a:round/>
            <a:headEnd/>
            <a:tailEnd/>
          </a:ln>
          <a:effectLst/>
        </p:spPr>
        <p:txBody>
          <a:bodyPr/>
          <a:lstStyle/>
          <a:p>
            <a:endParaRPr lang="en-US"/>
          </a:p>
        </p:txBody>
      </p:sp>
      <p:sp>
        <p:nvSpPr>
          <p:cNvPr id="1042447" name="Line 15"/>
          <p:cNvSpPr>
            <a:spLocks noChangeShapeType="1"/>
          </p:cNvSpPr>
          <p:nvPr/>
        </p:nvSpPr>
        <p:spPr bwMode="auto">
          <a:xfrm>
            <a:off x="4572000" y="3014663"/>
            <a:ext cx="0" cy="457200"/>
          </a:xfrm>
          <a:prstGeom prst="line">
            <a:avLst/>
          </a:prstGeom>
          <a:noFill/>
          <a:ln w="9525">
            <a:solidFill>
              <a:schemeClr val="tx1"/>
            </a:solidFill>
            <a:round/>
            <a:headEnd/>
            <a:tailEnd/>
          </a:ln>
          <a:effectLst/>
        </p:spPr>
        <p:txBody>
          <a:bodyPr/>
          <a:lstStyle/>
          <a:p>
            <a:endParaRPr lang="en-US"/>
          </a:p>
        </p:txBody>
      </p:sp>
      <p:sp>
        <p:nvSpPr>
          <p:cNvPr id="1042448" name="Line 16"/>
          <p:cNvSpPr>
            <a:spLocks noChangeShapeType="1"/>
          </p:cNvSpPr>
          <p:nvPr/>
        </p:nvSpPr>
        <p:spPr bwMode="auto">
          <a:xfrm>
            <a:off x="4572000" y="2133600"/>
            <a:ext cx="0" cy="500063"/>
          </a:xfrm>
          <a:prstGeom prst="line">
            <a:avLst/>
          </a:prstGeom>
          <a:noFill/>
          <a:ln w="9525">
            <a:solidFill>
              <a:schemeClr val="tx1"/>
            </a:solidFill>
            <a:round/>
            <a:headEnd/>
            <a:tailEnd/>
          </a:ln>
          <a:effectLst/>
        </p:spPr>
        <p:txBody>
          <a:bodyPr/>
          <a:lstStyle/>
          <a:p>
            <a:endParaRPr lang="en-US"/>
          </a:p>
        </p:txBody>
      </p:sp>
      <p:sp>
        <p:nvSpPr>
          <p:cNvPr id="1042449" name="Text Box 17"/>
          <p:cNvSpPr txBox="1">
            <a:spLocks noChangeArrowheads="1"/>
          </p:cNvSpPr>
          <p:nvPr/>
        </p:nvSpPr>
        <p:spPr bwMode="auto">
          <a:xfrm>
            <a:off x="2057400" y="1644650"/>
            <a:ext cx="5581650" cy="793750"/>
          </a:xfrm>
          <a:prstGeom prst="rect">
            <a:avLst/>
          </a:prstGeom>
          <a:noFill/>
          <a:ln w="9525">
            <a:noFill/>
            <a:miter lim="800000"/>
            <a:headEnd/>
            <a:tailEnd/>
          </a:ln>
          <a:effectLst/>
        </p:spPr>
        <p:txBody>
          <a:bodyPr wrap="none">
            <a:spAutoFit/>
          </a:bodyPr>
          <a:lstStyle/>
          <a:p>
            <a:r>
              <a:rPr lang="en-US">
                <a:cs typeface="Arial" charset="0"/>
              </a:rPr>
              <a:t>∏</a:t>
            </a:r>
            <a:r>
              <a:rPr lang="en-US" sz="1800"/>
              <a:t>P.Pnumber, P.Dnum, E.Lname, E.Address, E.Bdate</a:t>
            </a:r>
          </a:p>
          <a:p>
            <a:endParaRPr lang="en-US" sz="1800">
              <a:cs typeface="Arial"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lstStyle/>
          <a:p>
            <a:r>
              <a:rPr lang="en-US"/>
              <a:t>--- Query Graph Example …</a:t>
            </a:r>
          </a:p>
        </p:txBody>
      </p:sp>
      <p:sp>
        <p:nvSpPr>
          <p:cNvPr id="1033219" name="Rectangle 3"/>
          <p:cNvSpPr>
            <a:spLocks noGrp="1" noChangeArrowheads="1"/>
          </p:cNvSpPr>
          <p:nvPr>
            <p:ph idx="1"/>
          </p:nvPr>
        </p:nvSpPr>
        <p:spPr>
          <a:xfrm>
            <a:off x="685800" y="2286000"/>
            <a:ext cx="7772400" cy="4114800"/>
          </a:xfrm>
        </p:spPr>
        <p:txBody>
          <a:bodyPr>
            <a:normAutofit lnSpcReduction="10000"/>
          </a:bodyPr>
          <a:lstStyle/>
          <a:p>
            <a:r>
              <a:rPr lang="en-US" dirty="0"/>
              <a:t>For every project located in ‘ISB’, list the project number, the controlling department number, and the department manager’s last name, address, and birth date.</a:t>
            </a:r>
          </a:p>
          <a:p>
            <a:endParaRPr lang="en-US" sz="1200" dirty="0"/>
          </a:p>
          <a:p>
            <a:pPr lvl="1">
              <a:buFont typeface="Wingdings" pitchFamily="2" charset="2"/>
              <a:buNone/>
            </a:pPr>
            <a:r>
              <a:rPr lang="en-US" b="1" dirty="0">
                <a:latin typeface="Comic Sans MS" pitchFamily="66" charset="0"/>
              </a:rPr>
              <a:t>SELECT </a:t>
            </a:r>
            <a:r>
              <a:rPr lang="en-US" b="1" dirty="0" err="1">
                <a:latin typeface="Comic Sans MS" pitchFamily="66" charset="0"/>
              </a:rPr>
              <a:t>Pnumber</a:t>
            </a:r>
            <a:r>
              <a:rPr lang="en-US" b="1" dirty="0">
                <a:latin typeface="Comic Sans MS" pitchFamily="66" charset="0"/>
              </a:rPr>
              <a:t>, </a:t>
            </a:r>
            <a:r>
              <a:rPr lang="en-US" b="1" dirty="0" err="1">
                <a:latin typeface="Comic Sans MS" pitchFamily="66" charset="0"/>
              </a:rPr>
              <a:t>Dnum</a:t>
            </a:r>
            <a:r>
              <a:rPr lang="en-US" b="1" dirty="0">
                <a:latin typeface="Comic Sans MS" pitchFamily="66" charset="0"/>
              </a:rPr>
              <a:t>, </a:t>
            </a:r>
            <a:r>
              <a:rPr lang="en-US" b="1" dirty="0" err="1">
                <a:latin typeface="Comic Sans MS" pitchFamily="66" charset="0"/>
              </a:rPr>
              <a:t>Lname</a:t>
            </a:r>
            <a:r>
              <a:rPr lang="en-US" b="1" dirty="0">
                <a:latin typeface="Comic Sans MS" pitchFamily="66" charset="0"/>
              </a:rPr>
              <a:t>, Address, </a:t>
            </a:r>
            <a:r>
              <a:rPr lang="en-US" b="1" dirty="0" err="1">
                <a:latin typeface="Comic Sans MS" pitchFamily="66" charset="0"/>
              </a:rPr>
              <a:t>Bdate</a:t>
            </a:r>
            <a:endParaRPr lang="en-US" b="1" dirty="0">
              <a:latin typeface="Comic Sans MS" pitchFamily="66" charset="0"/>
            </a:endParaRPr>
          </a:p>
          <a:p>
            <a:pPr lvl="1">
              <a:buFont typeface="Wingdings" pitchFamily="2" charset="2"/>
              <a:buNone/>
            </a:pPr>
            <a:r>
              <a:rPr lang="en-US" b="1" dirty="0">
                <a:latin typeface="Comic Sans MS" pitchFamily="66" charset="0"/>
              </a:rPr>
              <a:t>FROM Project, Department, Employee</a:t>
            </a:r>
          </a:p>
          <a:p>
            <a:pPr lvl="1">
              <a:buFont typeface="Wingdings" pitchFamily="2" charset="2"/>
              <a:buNone/>
            </a:pPr>
            <a:r>
              <a:rPr lang="en-US" b="1" dirty="0">
                <a:latin typeface="Comic Sans MS" pitchFamily="66" charset="0"/>
              </a:rPr>
              <a:t>WHERE </a:t>
            </a:r>
            <a:r>
              <a:rPr lang="en-US" b="1" dirty="0" err="1">
                <a:latin typeface="Comic Sans MS" pitchFamily="66" charset="0"/>
              </a:rPr>
              <a:t>Dnum</a:t>
            </a:r>
            <a:r>
              <a:rPr lang="en-US" b="1" dirty="0">
                <a:latin typeface="Comic Sans MS" pitchFamily="66" charset="0"/>
              </a:rPr>
              <a:t> = </a:t>
            </a:r>
            <a:r>
              <a:rPr lang="en-US" b="1" dirty="0" err="1">
                <a:latin typeface="Comic Sans MS" pitchFamily="66" charset="0"/>
              </a:rPr>
              <a:t>Dnumber</a:t>
            </a:r>
            <a:endParaRPr lang="en-US" b="1" dirty="0">
              <a:latin typeface="Comic Sans MS" pitchFamily="66" charset="0"/>
            </a:endParaRPr>
          </a:p>
          <a:p>
            <a:pPr lvl="1">
              <a:buFont typeface="Wingdings" pitchFamily="2" charset="2"/>
              <a:buNone/>
            </a:pPr>
            <a:r>
              <a:rPr lang="en-US" b="1" dirty="0">
                <a:latin typeface="Comic Sans MS" pitchFamily="66" charset="0"/>
              </a:rPr>
              <a:t>AND </a:t>
            </a:r>
            <a:r>
              <a:rPr lang="en-US" b="1" dirty="0" err="1">
                <a:latin typeface="Comic Sans MS" pitchFamily="66" charset="0"/>
              </a:rPr>
              <a:t>MgrSSN</a:t>
            </a:r>
            <a:r>
              <a:rPr lang="en-US" b="1" dirty="0">
                <a:latin typeface="Comic Sans MS" pitchFamily="66" charset="0"/>
              </a:rPr>
              <a:t> = SSN</a:t>
            </a:r>
          </a:p>
          <a:p>
            <a:pPr lvl="1">
              <a:buFont typeface="Wingdings" pitchFamily="2" charset="2"/>
              <a:buNone/>
            </a:pPr>
            <a:r>
              <a:rPr lang="en-US" b="1" dirty="0">
                <a:latin typeface="Comic Sans MS" pitchFamily="66" charset="0"/>
              </a:rPr>
              <a:t>AND </a:t>
            </a:r>
            <a:r>
              <a:rPr lang="en-US" b="1" dirty="0" err="1">
                <a:latin typeface="Comic Sans MS" pitchFamily="66" charset="0"/>
              </a:rPr>
              <a:t>Plocation</a:t>
            </a:r>
            <a:r>
              <a:rPr lang="en-US" b="1" dirty="0">
                <a:latin typeface="Comic Sans MS" pitchFamily="66" charset="0"/>
              </a:rPr>
              <a:t> = ‘ISB’</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r>
              <a:rPr lang="en-US"/>
              <a:t>… --- Query Graph Example</a:t>
            </a:r>
          </a:p>
        </p:txBody>
      </p:sp>
      <p:sp>
        <p:nvSpPr>
          <p:cNvPr id="1034243" name="Oval 3"/>
          <p:cNvSpPr>
            <a:spLocks noChangeArrowheads="1"/>
          </p:cNvSpPr>
          <p:nvPr/>
        </p:nvSpPr>
        <p:spPr bwMode="auto">
          <a:xfrm>
            <a:off x="914400" y="5029200"/>
            <a:ext cx="2133600" cy="1219200"/>
          </a:xfrm>
          <a:prstGeom prst="ellipse">
            <a:avLst/>
          </a:prstGeom>
          <a:noFill/>
          <a:ln w="9525">
            <a:solidFill>
              <a:schemeClr val="tx1"/>
            </a:solidFill>
            <a:round/>
            <a:headEnd/>
            <a:tailEnd/>
          </a:ln>
          <a:effectLst/>
        </p:spPr>
        <p:txBody>
          <a:bodyPr wrap="none" anchor="ctr"/>
          <a:lstStyle/>
          <a:p>
            <a:endParaRPr lang="en-US"/>
          </a:p>
        </p:txBody>
      </p:sp>
      <p:sp>
        <p:nvSpPr>
          <p:cNvPr id="1034244" name="Oval 4"/>
          <p:cNvSpPr>
            <a:spLocks noChangeArrowheads="1"/>
          </p:cNvSpPr>
          <p:nvPr/>
        </p:nvSpPr>
        <p:spPr bwMode="auto">
          <a:xfrm>
            <a:off x="685800" y="4876800"/>
            <a:ext cx="2590800" cy="1524000"/>
          </a:xfrm>
          <a:prstGeom prst="ellipse">
            <a:avLst/>
          </a:prstGeom>
          <a:noFill/>
          <a:ln w="9525">
            <a:solidFill>
              <a:schemeClr val="tx1"/>
            </a:solidFill>
            <a:round/>
            <a:headEnd/>
            <a:tailEnd/>
          </a:ln>
          <a:effectLst/>
        </p:spPr>
        <p:txBody>
          <a:bodyPr wrap="none" anchor="ctr"/>
          <a:lstStyle/>
          <a:p>
            <a:endParaRPr lang="en-US"/>
          </a:p>
        </p:txBody>
      </p:sp>
      <p:sp>
        <p:nvSpPr>
          <p:cNvPr id="1034245" name="Oval 5"/>
          <p:cNvSpPr>
            <a:spLocks noChangeArrowheads="1"/>
          </p:cNvSpPr>
          <p:nvPr/>
        </p:nvSpPr>
        <p:spPr bwMode="auto">
          <a:xfrm>
            <a:off x="1371600" y="2743200"/>
            <a:ext cx="1066800" cy="990600"/>
          </a:xfrm>
          <a:prstGeom prst="ellipse">
            <a:avLst/>
          </a:prstGeom>
          <a:noFill/>
          <a:ln w="9525">
            <a:solidFill>
              <a:schemeClr val="tx1"/>
            </a:solidFill>
            <a:round/>
            <a:headEnd/>
            <a:tailEnd/>
          </a:ln>
          <a:effectLst/>
        </p:spPr>
        <p:txBody>
          <a:bodyPr wrap="none" anchor="ctr"/>
          <a:lstStyle/>
          <a:p>
            <a:endParaRPr lang="en-US"/>
          </a:p>
        </p:txBody>
      </p:sp>
      <p:sp>
        <p:nvSpPr>
          <p:cNvPr id="1034246" name="Oval 6"/>
          <p:cNvSpPr>
            <a:spLocks noChangeArrowheads="1"/>
          </p:cNvSpPr>
          <p:nvPr/>
        </p:nvSpPr>
        <p:spPr bwMode="auto">
          <a:xfrm>
            <a:off x="4495800" y="2743200"/>
            <a:ext cx="1066800" cy="990600"/>
          </a:xfrm>
          <a:prstGeom prst="ellipse">
            <a:avLst/>
          </a:prstGeom>
          <a:noFill/>
          <a:ln w="9525">
            <a:solidFill>
              <a:schemeClr val="tx1"/>
            </a:solidFill>
            <a:round/>
            <a:headEnd/>
            <a:tailEnd/>
          </a:ln>
          <a:effectLst/>
        </p:spPr>
        <p:txBody>
          <a:bodyPr wrap="none" anchor="ctr"/>
          <a:lstStyle/>
          <a:p>
            <a:endParaRPr lang="en-US"/>
          </a:p>
        </p:txBody>
      </p:sp>
      <p:sp>
        <p:nvSpPr>
          <p:cNvPr id="1034247" name="Oval 7"/>
          <p:cNvSpPr>
            <a:spLocks noChangeArrowheads="1"/>
          </p:cNvSpPr>
          <p:nvPr/>
        </p:nvSpPr>
        <p:spPr bwMode="auto">
          <a:xfrm>
            <a:off x="7772400" y="2743200"/>
            <a:ext cx="1066800" cy="990600"/>
          </a:xfrm>
          <a:prstGeom prst="ellipse">
            <a:avLst/>
          </a:prstGeom>
          <a:noFill/>
          <a:ln w="9525">
            <a:solidFill>
              <a:schemeClr val="tx1"/>
            </a:solidFill>
            <a:round/>
            <a:headEnd/>
            <a:tailEnd/>
          </a:ln>
          <a:effectLst/>
        </p:spPr>
        <p:txBody>
          <a:bodyPr wrap="none" anchor="ctr"/>
          <a:lstStyle/>
          <a:p>
            <a:endParaRPr lang="en-US"/>
          </a:p>
        </p:txBody>
      </p:sp>
      <p:sp>
        <p:nvSpPr>
          <p:cNvPr id="1034248" name="Text Box 8"/>
          <p:cNvSpPr txBox="1">
            <a:spLocks noChangeArrowheads="1"/>
          </p:cNvSpPr>
          <p:nvPr/>
        </p:nvSpPr>
        <p:spPr bwMode="auto">
          <a:xfrm>
            <a:off x="1752600" y="3048000"/>
            <a:ext cx="352425" cy="457200"/>
          </a:xfrm>
          <a:prstGeom prst="rect">
            <a:avLst/>
          </a:prstGeom>
          <a:noFill/>
          <a:ln w="9525">
            <a:noFill/>
            <a:miter lim="800000"/>
            <a:headEnd/>
            <a:tailEnd/>
          </a:ln>
          <a:effectLst/>
        </p:spPr>
        <p:txBody>
          <a:bodyPr wrap="none">
            <a:spAutoFit/>
          </a:bodyPr>
          <a:lstStyle/>
          <a:p>
            <a:r>
              <a:rPr lang="en-US" sz="2400">
                <a:cs typeface="Arial" charset="0"/>
              </a:rPr>
              <a:t>P</a:t>
            </a:r>
          </a:p>
        </p:txBody>
      </p:sp>
      <p:sp>
        <p:nvSpPr>
          <p:cNvPr id="1034249" name="Text Box 9"/>
          <p:cNvSpPr txBox="1">
            <a:spLocks noChangeArrowheads="1"/>
          </p:cNvSpPr>
          <p:nvPr/>
        </p:nvSpPr>
        <p:spPr bwMode="auto">
          <a:xfrm>
            <a:off x="4876800" y="3048000"/>
            <a:ext cx="390525" cy="457200"/>
          </a:xfrm>
          <a:prstGeom prst="rect">
            <a:avLst/>
          </a:prstGeom>
          <a:noFill/>
          <a:ln w="9525">
            <a:noFill/>
            <a:miter lim="800000"/>
            <a:headEnd/>
            <a:tailEnd/>
          </a:ln>
          <a:effectLst/>
        </p:spPr>
        <p:txBody>
          <a:bodyPr wrap="none">
            <a:spAutoFit/>
          </a:bodyPr>
          <a:lstStyle/>
          <a:p>
            <a:r>
              <a:rPr lang="en-US" sz="2400">
                <a:cs typeface="Arial" charset="0"/>
              </a:rPr>
              <a:t>D</a:t>
            </a:r>
          </a:p>
        </p:txBody>
      </p:sp>
      <p:sp>
        <p:nvSpPr>
          <p:cNvPr id="1034250" name="Text Box 10"/>
          <p:cNvSpPr txBox="1">
            <a:spLocks noChangeArrowheads="1"/>
          </p:cNvSpPr>
          <p:nvPr/>
        </p:nvSpPr>
        <p:spPr bwMode="auto">
          <a:xfrm>
            <a:off x="8143875" y="3048000"/>
            <a:ext cx="355600" cy="457200"/>
          </a:xfrm>
          <a:prstGeom prst="rect">
            <a:avLst/>
          </a:prstGeom>
          <a:noFill/>
          <a:ln w="9525">
            <a:noFill/>
            <a:miter lim="800000"/>
            <a:headEnd/>
            <a:tailEnd/>
          </a:ln>
          <a:effectLst/>
        </p:spPr>
        <p:txBody>
          <a:bodyPr wrap="none">
            <a:spAutoFit/>
          </a:bodyPr>
          <a:lstStyle/>
          <a:p>
            <a:r>
              <a:rPr lang="en-US" sz="2400">
                <a:cs typeface="Arial" charset="0"/>
              </a:rPr>
              <a:t>E</a:t>
            </a:r>
          </a:p>
        </p:txBody>
      </p:sp>
      <p:sp>
        <p:nvSpPr>
          <p:cNvPr id="1034251" name="Line 11"/>
          <p:cNvSpPr>
            <a:spLocks noChangeShapeType="1"/>
          </p:cNvSpPr>
          <p:nvPr/>
        </p:nvSpPr>
        <p:spPr bwMode="auto">
          <a:xfrm>
            <a:off x="2438400" y="3200400"/>
            <a:ext cx="2057400" cy="0"/>
          </a:xfrm>
          <a:prstGeom prst="line">
            <a:avLst/>
          </a:prstGeom>
          <a:noFill/>
          <a:ln w="9525">
            <a:solidFill>
              <a:schemeClr val="tx1"/>
            </a:solidFill>
            <a:round/>
            <a:headEnd/>
            <a:tailEnd/>
          </a:ln>
          <a:effectLst/>
        </p:spPr>
        <p:txBody>
          <a:bodyPr/>
          <a:lstStyle/>
          <a:p>
            <a:endParaRPr lang="en-US"/>
          </a:p>
        </p:txBody>
      </p:sp>
      <p:sp>
        <p:nvSpPr>
          <p:cNvPr id="1034252" name="Line 12"/>
          <p:cNvSpPr>
            <a:spLocks noChangeShapeType="1"/>
          </p:cNvSpPr>
          <p:nvPr/>
        </p:nvSpPr>
        <p:spPr bwMode="auto">
          <a:xfrm>
            <a:off x="5562600" y="3200400"/>
            <a:ext cx="2209800" cy="0"/>
          </a:xfrm>
          <a:prstGeom prst="line">
            <a:avLst/>
          </a:prstGeom>
          <a:noFill/>
          <a:ln w="9525">
            <a:solidFill>
              <a:schemeClr val="tx1"/>
            </a:solidFill>
            <a:round/>
            <a:headEnd/>
            <a:tailEnd/>
          </a:ln>
          <a:effectLst/>
        </p:spPr>
        <p:txBody>
          <a:bodyPr/>
          <a:lstStyle/>
          <a:p>
            <a:endParaRPr lang="en-US"/>
          </a:p>
        </p:txBody>
      </p:sp>
      <p:sp>
        <p:nvSpPr>
          <p:cNvPr id="1034253" name="Line 13"/>
          <p:cNvSpPr>
            <a:spLocks noChangeShapeType="1"/>
          </p:cNvSpPr>
          <p:nvPr/>
        </p:nvSpPr>
        <p:spPr bwMode="auto">
          <a:xfrm flipV="1">
            <a:off x="1905000" y="3657600"/>
            <a:ext cx="0" cy="1219200"/>
          </a:xfrm>
          <a:prstGeom prst="line">
            <a:avLst/>
          </a:prstGeom>
          <a:noFill/>
          <a:ln w="9525">
            <a:solidFill>
              <a:schemeClr val="tx1"/>
            </a:solidFill>
            <a:round/>
            <a:headEnd/>
            <a:tailEnd/>
          </a:ln>
          <a:effectLst/>
        </p:spPr>
        <p:txBody>
          <a:bodyPr/>
          <a:lstStyle/>
          <a:p>
            <a:endParaRPr lang="en-US"/>
          </a:p>
        </p:txBody>
      </p:sp>
      <p:sp>
        <p:nvSpPr>
          <p:cNvPr id="1034254" name="Text Box 14"/>
          <p:cNvSpPr txBox="1">
            <a:spLocks noChangeArrowheads="1"/>
          </p:cNvSpPr>
          <p:nvPr/>
        </p:nvSpPr>
        <p:spPr bwMode="auto">
          <a:xfrm>
            <a:off x="1905000" y="4038600"/>
            <a:ext cx="1827936" cy="369332"/>
          </a:xfrm>
          <a:prstGeom prst="rect">
            <a:avLst/>
          </a:prstGeom>
          <a:noFill/>
          <a:ln w="9525">
            <a:noFill/>
            <a:miter lim="800000"/>
            <a:headEnd/>
            <a:tailEnd/>
          </a:ln>
          <a:effectLst/>
        </p:spPr>
        <p:txBody>
          <a:bodyPr wrap="none">
            <a:spAutoFit/>
          </a:bodyPr>
          <a:lstStyle/>
          <a:p>
            <a:r>
              <a:rPr lang="en-US" sz="1800" dirty="0" err="1">
                <a:cs typeface="Arial" charset="0"/>
              </a:rPr>
              <a:t>P.Plocation</a:t>
            </a:r>
            <a:r>
              <a:rPr lang="en-US" sz="1800" dirty="0">
                <a:cs typeface="Arial" charset="0"/>
              </a:rPr>
              <a:t> = ‘ISB’</a:t>
            </a:r>
          </a:p>
        </p:txBody>
      </p:sp>
      <p:sp>
        <p:nvSpPr>
          <p:cNvPr id="1034255" name="Text Box 15"/>
          <p:cNvSpPr txBox="1">
            <a:spLocks noChangeArrowheads="1"/>
          </p:cNvSpPr>
          <p:nvPr/>
        </p:nvSpPr>
        <p:spPr bwMode="auto">
          <a:xfrm>
            <a:off x="2514600" y="2819400"/>
            <a:ext cx="1927225" cy="366713"/>
          </a:xfrm>
          <a:prstGeom prst="rect">
            <a:avLst/>
          </a:prstGeom>
          <a:noFill/>
          <a:ln w="9525">
            <a:noFill/>
            <a:miter lim="800000"/>
            <a:headEnd/>
            <a:tailEnd/>
          </a:ln>
          <a:effectLst/>
        </p:spPr>
        <p:txBody>
          <a:bodyPr wrap="none">
            <a:spAutoFit/>
          </a:bodyPr>
          <a:lstStyle/>
          <a:p>
            <a:r>
              <a:rPr lang="en-US" sz="1800">
                <a:cs typeface="Arial" charset="0"/>
              </a:rPr>
              <a:t>P.Dum=D.Numbr</a:t>
            </a:r>
          </a:p>
        </p:txBody>
      </p:sp>
      <p:sp>
        <p:nvSpPr>
          <p:cNvPr id="1034256" name="Text Box 16"/>
          <p:cNvSpPr txBox="1">
            <a:spLocks noChangeArrowheads="1"/>
          </p:cNvSpPr>
          <p:nvPr/>
        </p:nvSpPr>
        <p:spPr bwMode="auto">
          <a:xfrm>
            <a:off x="781050" y="2241550"/>
            <a:ext cx="2266950" cy="366713"/>
          </a:xfrm>
          <a:prstGeom prst="rect">
            <a:avLst/>
          </a:prstGeom>
          <a:noFill/>
          <a:ln w="9525">
            <a:noFill/>
            <a:miter lim="800000"/>
            <a:headEnd/>
            <a:tailEnd/>
          </a:ln>
          <a:effectLst/>
        </p:spPr>
        <p:txBody>
          <a:bodyPr wrap="none">
            <a:spAutoFit/>
          </a:bodyPr>
          <a:lstStyle/>
          <a:p>
            <a:r>
              <a:rPr lang="en-US" sz="1800">
                <a:cs typeface="Arial" charset="0"/>
              </a:rPr>
              <a:t>[P.Pnumber, P.Dum]</a:t>
            </a:r>
          </a:p>
        </p:txBody>
      </p:sp>
      <p:sp>
        <p:nvSpPr>
          <p:cNvPr id="1034257" name="Text Box 17"/>
          <p:cNvSpPr txBox="1">
            <a:spLocks noChangeArrowheads="1"/>
          </p:cNvSpPr>
          <p:nvPr/>
        </p:nvSpPr>
        <p:spPr bwMode="auto">
          <a:xfrm>
            <a:off x="5715000" y="2833688"/>
            <a:ext cx="1973263" cy="366712"/>
          </a:xfrm>
          <a:prstGeom prst="rect">
            <a:avLst/>
          </a:prstGeom>
          <a:noFill/>
          <a:ln w="9525">
            <a:noFill/>
            <a:miter lim="800000"/>
            <a:headEnd/>
            <a:tailEnd/>
          </a:ln>
          <a:effectLst/>
        </p:spPr>
        <p:txBody>
          <a:bodyPr wrap="none">
            <a:spAutoFit/>
          </a:bodyPr>
          <a:lstStyle/>
          <a:p>
            <a:r>
              <a:rPr lang="en-US" sz="1800">
                <a:cs typeface="Arial" charset="0"/>
              </a:rPr>
              <a:t>D.MgrSSN=E.SSN</a:t>
            </a:r>
          </a:p>
        </p:txBody>
      </p:sp>
      <p:sp>
        <p:nvSpPr>
          <p:cNvPr id="1034258" name="Text Box 18"/>
          <p:cNvSpPr txBox="1">
            <a:spLocks noChangeArrowheads="1"/>
          </p:cNvSpPr>
          <p:nvPr/>
        </p:nvSpPr>
        <p:spPr bwMode="auto">
          <a:xfrm>
            <a:off x="5867400" y="2165350"/>
            <a:ext cx="3275013" cy="366713"/>
          </a:xfrm>
          <a:prstGeom prst="rect">
            <a:avLst/>
          </a:prstGeom>
          <a:noFill/>
          <a:ln w="9525">
            <a:noFill/>
            <a:miter lim="800000"/>
            <a:headEnd/>
            <a:tailEnd/>
          </a:ln>
          <a:effectLst/>
        </p:spPr>
        <p:txBody>
          <a:bodyPr wrap="none">
            <a:spAutoFit/>
          </a:bodyPr>
          <a:lstStyle/>
          <a:p>
            <a:r>
              <a:rPr lang="en-US" sz="1800">
                <a:cs typeface="Arial" charset="0"/>
              </a:rPr>
              <a:t>[E.lname,E.aAddress, E.Bdate]</a:t>
            </a:r>
          </a:p>
        </p:txBody>
      </p:sp>
      <p:sp>
        <p:nvSpPr>
          <p:cNvPr id="1034259" name="Text Box 19"/>
          <p:cNvSpPr txBox="1">
            <a:spLocks noChangeArrowheads="1"/>
          </p:cNvSpPr>
          <p:nvPr/>
        </p:nvSpPr>
        <p:spPr bwMode="auto">
          <a:xfrm>
            <a:off x="1406525" y="5416550"/>
            <a:ext cx="1184275" cy="396875"/>
          </a:xfrm>
          <a:prstGeom prst="rect">
            <a:avLst/>
          </a:prstGeom>
          <a:noFill/>
          <a:ln w="9525">
            <a:noFill/>
            <a:miter lim="800000"/>
            <a:headEnd/>
            <a:tailEnd/>
          </a:ln>
          <a:effectLst/>
        </p:spPr>
        <p:txBody>
          <a:bodyPr wrap="none">
            <a:spAutoFit/>
          </a:bodyPr>
          <a:lstStyle/>
          <a:p>
            <a:r>
              <a:rPr lang="en-US" sz="2000">
                <a:cs typeface="Arial" charset="0"/>
              </a:rPr>
              <a:t>‘Stafford’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ChangeArrowheads="1"/>
          </p:cNvSpPr>
          <p:nvPr>
            <p:ph type="title"/>
          </p:nvPr>
        </p:nvSpPr>
        <p:spPr>
          <a:xfrm>
            <a:off x="152400" y="365126"/>
            <a:ext cx="8991600" cy="1325563"/>
          </a:xfrm>
        </p:spPr>
        <p:txBody>
          <a:bodyPr/>
          <a:lstStyle/>
          <a:p>
            <a:r>
              <a:rPr lang="en-US" dirty="0"/>
              <a:t>- Relational Algebra </a:t>
            </a:r>
            <a:r>
              <a:rPr lang="en-US" dirty="0" smtClean="0"/>
              <a:t>Transformation</a:t>
            </a:r>
            <a:endParaRPr lang="en-US" dirty="0"/>
          </a:p>
        </p:txBody>
      </p:sp>
      <p:sp>
        <p:nvSpPr>
          <p:cNvPr id="1048579" name="Rectangle 3"/>
          <p:cNvSpPr>
            <a:spLocks noGrp="1" noChangeArrowheads="1"/>
          </p:cNvSpPr>
          <p:nvPr>
            <p:ph idx="1"/>
          </p:nvPr>
        </p:nvSpPr>
        <p:spPr>
          <a:xfrm>
            <a:off x="0" y="1752600"/>
            <a:ext cx="8686800" cy="4572000"/>
          </a:xfrm>
        </p:spPr>
        <p:txBody>
          <a:bodyPr>
            <a:normAutofit/>
          </a:bodyPr>
          <a:lstStyle/>
          <a:p>
            <a:pPr>
              <a:lnSpc>
                <a:spcPct val="80000"/>
              </a:lnSpc>
            </a:pPr>
            <a:r>
              <a:rPr lang="en-US" dirty="0"/>
              <a:t>The following list gives a basic selection of relational algebra transformation:</a:t>
            </a:r>
          </a:p>
          <a:p>
            <a:pPr lvl="1">
              <a:lnSpc>
                <a:spcPct val="80000"/>
              </a:lnSpc>
            </a:pPr>
            <a:r>
              <a:rPr lang="en-US" sz="2800" b="1" dirty="0">
                <a:solidFill>
                  <a:srgbClr val="FF0000"/>
                </a:solidFill>
              </a:rPr>
              <a:t>Cascade of  selection</a:t>
            </a:r>
            <a:r>
              <a:rPr lang="en-US" sz="2800" dirty="0">
                <a:solidFill>
                  <a:srgbClr val="FF0000"/>
                </a:solidFill>
              </a:rPr>
              <a:t>: </a:t>
            </a:r>
            <a:r>
              <a:rPr lang="en-US" sz="2800" dirty="0"/>
              <a:t>Conjunctive selection operations can cascade into individual selection operations</a:t>
            </a:r>
          </a:p>
          <a:p>
            <a:pPr lvl="1">
              <a:lnSpc>
                <a:spcPct val="80000"/>
              </a:lnSpc>
              <a:buFont typeface="Wingdings" pitchFamily="2" charset="2"/>
              <a:buNone/>
            </a:pPr>
            <a:r>
              <a:rPr lang="en-US" sz="2800" dirty="0">
                <a:sym typeface="Symbol" pitchFamily="18" charset="2"/>
              </a:rPr>
              <a:t>           	</a:t>
            </a:r>
            <a:r>
              <a:rPr lang="en-US" sz="2800" dirty="0">
                <a:latin typeface="Comic Sans MS" pitchFamily="66" charset="0"/>
                <a:sym typeface="Symbol" pitchFamily="18" charset="2"/>
              </a:rPr>
              <a:t> p AND q AND r (R) = </a:t>
            </a:r>
            <a:r>
              <a:rPr lang="en-US" sz="2800" dirty="0">
                <a:solidFill>
                  <a:srgbClr val="FF0000"/>
                </a:solidFill>
                <a:latin typeface="Comic Sans MS" pitchFamily="66" charset="0"/>
                <a:sym typeface="Symbol" pitchFamily="18" charset="2"/>
              </a:rPr>
              <a:t>p (q (r (R)))</a:t>
            </a:r>
          </a:p>
          <a:p>
            <a:pPr lvl="1">
              <a:lnSpc>
                <a:spcPct val="80000"/>
              </a:lnSpc>
            </a:pPr>
            <a:r>
              <a:rPr lang="en-US" sz="2800" b="1" dirty="0">
                <a:solidFill>
                  <a:srgbClr val="FF0000"/>
                </a:solidFill>
              </a:rPr>
              <a:t>Cascade of  projection</a:t>
            </a:r>
            <a:r>
              <a:rPr lang="en-US" sz="2800" dirty="0"/>
              <a:t>: In a sequence of projection operations, only the last in sequence is required.</a:t>
            </a:r>
          </a:p>
          <a:p>
            <a:pPr lvl="1">
              <a:lnSpc>
                <a:spcPct val="80000"/>
              </a:lnSpc>
              <a:buFont typeface="Wingdings" pitchFamily="2" charset="2"/>
              <a:buNone/>
            </a:pPr>
            <a:r>
              <a:rPr lang="en-US" sz="2800" dirty="0">
                <a:sym typeface="Symbol" pitchFamily="18" charset="2"/>
              </a:rPr>
              <a:t>			</a:t>
            </a:r>
            <a:r>
              <a:rPr lang="en-US" sz="2800" dirty="0">
                <a:latin typeface="Comic Sans MS" pitchFamily="66" charset="0"/>
                <a:sym typeface="Symbol" pitchFamily="18" charset="2"/>
              </a:rPr>
              <a:t>L(M(…(N(R) = </a:t>
            </a:r>
            <a:r>
              <a:rPr lang="en-US" sz="2800" dirty="0">
                <a:solidFill>
                  <a:srgbClr val="FF0000"/>
                </a:solidFill>
                <a:latin typeface="Comic Sans MS" pitchFamily="66" charset="0"/>
                <a:sym typeface="Symbol" pitchFamily="18" charset="2"/>
              </a:rPr>
              <a:t> L(R</a:t>
            </a:r>
            <a:r>
              <a:rPr lang="en-US" sz="2800" dirty="0" smtClean="0">
                <a:solidFill>
                  <a:srgbClr val="FF0000"/>
                </a:solidFill>
                <a:latin typeface="Comic Sans MS" pitchFamily="66" charset="0"/>
                <a:sym typeface="Symbol" pitchFamily="18" charset="2"/>
              </a:rPr>
              <a:t>)</a:t>
            </a:r>
            <a:endParaRPr lang="en-US" sz="2800" dirty="0">
              <a:solidFill>
                <a:srgbClr val="FF0000"/>
              </a:solidFill>
              <a:latin typeface="Comic Sans MS" pitchFamily="66" charset="0"/>
              <a:sym typeface="Symbol" pitchFamily="18" charset="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ChangeArrowheads="1"/>
          </p:cNvSpPr>
          <p:nvPr>
            <p:ph type="title"/>
          </p:nvPr>
        </p:nvSpPr>
        <p:spPr>
          <a:xfrm>
            <a:off x="152400" y="365126"/>
            <a:ext cx="8991600" cy="1325563"/>
          </a:xfrm>
        </p:spPr>
        <p:txBody>
          <a:bodyPr/>
          <a:lstStyle/>
          <a:p>
            <a:r>
              <a:rPr lang="en-US" dirty="0"/>
              <a:t>- Relational Algebra </a:t>
            </a:r>
            <a:r>
              <a:rPr lang="en-US" dirty="0" smtClean="0"/>
              <a:t>Transformation</a:t>
            </a:r>
            <a:endParaRPr lang="en-US" dirty="0"/>
          </a:p>
        </p:txBody>
      </p:sp>
      <p:sp>
        <p:nvSpPr>
          <p:cNvPr id="1048579" name="Rectangle 3"/>
          <p:cNvSpPr>
            <a:spLocks noGrp="1" noChangeArrowheads="1"/>
          </p:cNvSpPr>
          <p:nvPr>
            <p:ph idx="1"/>
          </p:nvPr>
        </p:nvSpPr>
        <p:spPr>
          <a:xfrm>
            <a:off x="438150" y="1690689"/>
            <a:ext cx="8686800" cy="4572000"/>
          </a:xfrm>
        </p:spPr>
        <p:txBody>
          <a:bodyPr>
            <a:normAutofit/>
          </a:bodyPr>
          <a:lstStyle/>
          <a:p>
            <a:pPr>
              <a:lnSpc>
                <a:spcPct val="80000"/>
              </a:lnSpc>
            </a:pPr>
            <a:r>
              <a:rPr lang="en-US" dirty="0"/>
              <a:t>The following list gives a basic selection of relational algebra transformation:</a:t>
            </a:r>
          </a:p>
          <a:p>
            <a:pPr lvl="1">
              <a:lnSpc>
                <a:spcPct val="80000"/>
              </a:lnSpc>
            </a:pPr>
            <a:r>
              <a:rPr lang="en-US" sz="2800" b="1" dirty="0" smtClean="0">
                <a:solidFill>
                  <a:srgbClr val="FF0000"/>
                </a:solidFill>
              </a:rPr>
              <a:t>Commutatively </a:t>
            </a:r>
            <a:r>
              <a:rPr lang="en-US" sz="2800" b="1" dirty="0">
                <a:solidFill>
                  <a:srgbClr val="FF0000"/>
                </a:solidFill>
              </a:rPr>
              <a:t>of selection</a:t>
            </a:r>
            <a:r>
              <a:rPr lang="en-US" sz="2800" dirty="0">
                <a:solidFill>
                  <a:srgbClr val="FF0000"/>
                </a:solidFill>
              </a:rPr>
              <a:t>: </a:t>
            </a:r>
            <a:r>
              <a:rPr lang="en-US" sz="2800" dirty="0"/>
              <a:t>A sequence of selection operations are commutative </a:t>
            </a:r>
          </a:p>
          <a:p>
            <a:pPr lvl="1">
              <a:lnSpc>
                <a:spcPct val="80000"/>
              </a:lnSpc>
              <a:buFont typeface="Wingdings" pitchFamily="2" charset="2"/>
              <a:buNone/>
            </a:pPr>
            <a:r>
              <a:rPr lang="en-US" sz="2800" dirty="0"/>
              <a:t>		 	</a:t>
            </a:r>
            <a:r>
              <a:rPr lang="en-US" sz="2800" dirty="0">
                <a:latin typeface="Comic Sans MS" pitchFamily="66" charset="0"/>
                <a:sym typeface="Symbol" pitchFamily="18" charset="2"/>
              </a:rPr>
              <a:t>q(p(R)) = </a:t>
            </a:r>
            <a:r>
              <a:rPr lang="en-US" sz="2800" dirty="0">
                <a:solidFill>
                  <a:srgbClr val="FF0000"/>
                </a:solidFill>
                <a:latin typeface="Comic Sans MS" pitchFamily="66" charset="0"/>
                <a:sym typeface="Symbol" pitchFamily="18" charset="2"/>
              </a:rPr>
              <a:t>p(q(R))</a:t>
            </a:r>
            <a:endParaRPr lang="en-US" sz="2800" dirty="0">
              <a:solidFill>
                <a:srgbClr val="FF0000"/>
              </a:solidFill>
              <a:latin typeface="Comic Sans MS" pitchFamily="66" charset="0"/>
            </a:endParaRPr>
          </a:p>
          <a:p>
            <a:pPr lvl="1">
              <a:lnSpc>
                <a:spcPct val="80000"/>
              </a:lnSpc>
            </a:pPr>
            <a:r>
              <a:rPr lang="en-US" sz="2800" b="1" dirty="0">
                <a:solidFill>
                  <a:srgbClr val="FF0000"/>
                </a:solidFill>
              </a:rPr>
              <a:t>Associativity of Natural Join and Cross Product</a:t>
            </a:r>
            <a:r>
              <a:rPr lang="en-US" sz="2800" dirty="0">
                <a:solidFill>
                  <a:srgbClr val="FF0000"/>
                </a:solidFill>
              </a:rPr>
              <a:t>: </a:t>
            </a:r>
            <a:r>
              <a:rPr lang="en-US" sz="2800" dirty="0"/>
              <a:t>Natural join (*) and Cross Product (X) are associative:</a:t>
            </a:r>
          </a:p>
          <a:p>
            <a:pPr lvl="1">
              <a:lnSpc>
                <a:spcPct val="80000"/>
              </a:lnSpc>
              <a:buFont typeface="Wingdings" pitchFamily="2" charset="2"/>
              <a:buNone/>
            </a:pPr>
            <a:r>
              <a:rPr lang="en-US" sz="2800" dirty="0"/>
              <a:t>			</a:t>
            </a:r>
            <a:r>
              <a:rPr lang="en-US" sz="2800" dirty="0">
                <a:latin typeface="Comic Sans MS" pitchFamily="66" charset="0"/>
              </a:rPr>
              <a:t>(R * S) * T = </a:t>
            </a:r>
            <a:r>
              <a:rPr lang="en-US" sz="2800" dirty="0">
                <a:solidFill>
                  <a:srgbClr val="FF0000"/>
                </a:solidFill>
                <a:latin typeface="Comic Sans MS" pitchFamily="66" charset="0"/>
              </a:rPr>
              <a:t>R * (S * T)</a:t>
            </a:r>
          </a:p>
          <a:p>
            <a:pPr lvl="1">
              <a:lnSpc>
                <a:spcPct val="80000"/>
              </a:lnSpc>
              <a:buFont typeface="Wingdings" pitchFamily="2" charset="2"/>
              <a:buNone/>
            </a:pPr>
            <a:r>
              <a:rPr lang="en-US" sz="2800" dirty="0">
                <a:latin typeface="Comic Sans MS" pitchFamily="66" charset="0"/>
              </a:rPr>
              <a:t>			(R X S) X T = </a:t>
            </a:r>
            <a:r>
              <a:rPr lang="en-US" sz="2800" dirty="0">
                <a:solidFill>
                  <a:srgbClr val="FF0000"/>
                </a:solidFill>
                <a:latin typeface="Comic Sans MS" pitchFamily="66" charset="0"/>
              </a:rPr>
              <a:t>R X (S X T)</a:t>
            </a:r>
          </a:p>
        </p:txBody>
      </p:sp>
    </p:spTree>
    <p:extLst>
      <p:ext uri="{BB962C8B-B14F-4D97-AF65-F5344CB8AC3E}">
        <p14:creationId xmlns:p14="http://schemas.microsoft.com/office/powerpoint/2010/main" val="39840246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Rectangle 2"/>
          <p:cNvSpPr>
            <a:spLocks noGrp="1" noChangeArrowheads="1"/>
          </p:cNvSpPr>
          <p:nvPr>
            <p:ph type="title"/>
          </p:nvPr>
        </p:nvSpPr>
        <p:spPr>
          <a:xfrm>
            <a:off x="152400" y="365126"/>
            <a:ext cx="8991600" cy="1325563"/>
          </a:xfrm>
        </p:spPr>
        <p:txBody>
          <a:bodyPr/>
          <a:lstStyle/>
          <a:p>
            <a:r>
              <a:rPr lang="en-US" dirty="0"/>
              <a:t>- Relational Algebra </a:t>
            </a:r>
            <a:r>
              <a:rPr lang="en-US" dirty="0" smtClean="0"/>
              <a:t>Transformation</a:t>
            </a:r>
            <a:endParaRPr lang="en-US" dirty="0"/>
          </a:p>
        </p:txBody>
      </p:sp>
      <p:sp>
        <p:nvSpPr>
          <p:cNvPr id="1048579" name="Rectangle 3"/>
          <p:cNvSpPr>
            <a:spLocks noGrp="1" noChangeArrowheads="1"/>
          </p:cNvSpPr>
          <p:nvPr>
            <p:ph idx="1"/>
          </p:nvPr>
        </p:nvSpPr>
        <p:spPr>
          <a:xfrm>
            <a:off x="457200" y="1752600"/>
            <a:ext cx="8229600" cy="4572000"/>
          </a:xfrm>
        </p:spPr>
        <p:txBody>
          <a:bodyPr/>
          <a:lstStyle/>
          <a:p>
            <a:pPr>
              <a:lnSpc>
                <a:spcPct val="80000"/>
              </a:lnSpc>
            </a:pPr>
            <a:r>
              <a:rPr lang="en-US" sz="2000" dirty="0"/>
              <a:t>The following list gives a basic selection of relational algebra transformation:</a:t>
            </a:r>
          </a:p>
          <a:p>
            <a:pPr lvl="1">
              <a:lnSpc>
                <a:spcPct val="80000"/>
              </a:lnSpc>
            </a:pPr>
            <a:r>
              <a:rPr lang="en-US" sz="1800" b="1" dirty="0"/>
              <a:t>Cascade of  selection</a:t>
            </a:r>
            <a:r>
              <a:rPr lang="en-US" sz="1800" dirty="0"/>
              <a:t>: Conjunctive selection operations can cascade into individual selection operations</a:t>
            </a:r>
          </a:p>
          <a:p>
            <a:pPr lvl="1">
              <a:lnSpc>
                <a:spcPct val="80000"/>
              </a:lnSpc>
              <a:buFont typeface="Wingdings" pitchFamily="2" charset="2"/>
              <a:buNone/>
            </a:pPr>
            <a:r>
              <a:rPr lang="en-US" sz="2800" dirty="0">
                <a:sym typeface="Symbol" pitchFamily="18" charset="2"/>
              </a:rPr>
              <a:t>           	</a:t>
            </a:r>
            <a:r>
              <a:rPr lang="en-US" sz="2800" dirty="0">
                <a:latin typeface="Comic Sans MS" pitchFamily="66" charset="0"/>
                <a:sym typeface="Symbol" pitchFamily="18" charset="2"/>
              </a:rPr>
              <a:t> </a:t>
            </a:r>
            <a:r>
              <a:rPr lang="en-US" sz="1800" dirty="0">
                <a:latin typeface="Comic Sans MS" pitchFamily="66" charset="0"/>
                <a:sym typeface="Symbol" pitchFamily="18" charset="2"/>
              </a:rPr>
              <a:t>p </a:t>
            </a:r>
            <a:r>
              <a:rPr lang="en-US" sz="1600" dirty="0">
                <a:latin typeface="Comic Sans MS" pitchFamily="66" charset="0"/>
                <a:sym typeface="Symbol" pitchFamily="18" charset="2"/>
              </a:rPr>
              <a:t>AND</a:t>
            </a:r>
            <a:r>
              <a:rPr lang="en-US" sz="1800" dirty="0">
                <a:latin typeface="Comic Sans MS" pitchFamily="66" charset="0"/>
                <a:sym typeface="Symbol" pitchFamily="18" charset="2"/>
              </a:rPr>
              <a:t> q </a:t>
            </a:r>
            <a:r>
              <a:rPr lang="en-US" sz="1600" dirty="0">
                <a:latin typeface="Comic Sans MS" pitchFamily="66" charset="0"/>
                <a:sym typeface="Symbol" pitchFamily="18" charset="2"/>
              </a:rPr>
              <a:t>AND</a:t>
            </a:r>
            <a:r>
              <a:rPr lang="en-US" sz="1800" dirty="0">
                <a:latin typeface="Comic Sans MS" pitchFamily="66" charset="0"/>
                <a:sym typeface="Symbol" pitchFamily="18" charset="2"/>
              </a:rPr>
              <a:t> r (</a:t>
            </a:r>
            <a:r>
              <a:rPr lang="en-US" sz="2400" dirty="0">
                <a:latin typeface="Comic Sans MS" pitchFamily="66" charset="0"/>
                <a:sym typeface="Symbol" pitchFamily="18" charset="2"/>
              </a:rPr>
              <a:t>R</a:t>
            </a:r>
            <a:r>
              <a:rPr lang="en-US" sz="1800" dirty="0">
                <a:latin typeface="Comic Sans MS" pitchFamily="66" charset="0"/>
                <a:sym typeface="Symbol" pitchFamily="18" charset="2"/>
              </a:rPr>
              <a:t>) = </a:t>
            </a:r>
            <a:r>
              <a:rPr lang="en-US" sz="2800" dirty="0">
                <a:latin typeface="Comic Sans MS" pitchFamily="66" charset="0"/>
                <a:sym typeface="Symbol" pitchFamily="18" charset="2"/>
              </a:rPr>
              <a:t></a:t>
            </a:r>
            <a:r>
              <a:rPr lang="en-US" sz="1800" dirty="0">
                <a:latin typeface="Comic Sans MS" pitchFamily="66" charset="0"/>
                <a:sym typeface="Symbol" pitchFamily="18" charset="2"/>
              </a:rPr>
              <a:t>p (</a:t>
            </a:r>
            <a:r>
              <a:rPr lang="en-US" sz="2800" dirty="0">
                <a:latin typeface="Comic Sans MS" pitchFamily="66" charset="0"/>
                <a:sym typeface="Symbol" pitchFamily="18" charset="2"/>
              </a:rPr>
              <a:t></a:t>
            </a:r>
            <a:r>
              <a:rPr lang="en-US" sz="1800" dirty="0">
                <a:latin typeface="Comic Sans MS" pitchFamily="66" charset="0"/>
                <a:sym typeface="Symbol" pitchFamily="18" charset="2"/>
              </a:rPr>
              <a:t>q (</a:t>
            </a:r>
            <a:r>
              <a:rPr lang="en-US" sz="2800" dirty="0">
                <a:latin typeface="Comic Sans MS" pitchFamily="66" charset="0"/>
                <a:sym typeface="Symbol" pitchFamily="18" charset="2"/>
              </a:rPr>
              <a:t></a:t>
            </a:r>
            <a:r>
              <a:rPr lang="en-US" sz="1800" dirty="0">
                <a:latin typeface="Comic Sans MS" pitchFamily="66" charset="0"/>
                <a:sym typeface="Symbol" pitchFamily="18" charset="2"/>
              </a:rPr>
              <a:t>r (</a:t>
            </a:r>
            <a:r>
              <a:rPr lang="en-US" sz="2400" dirty="0">
                <a:latin typeface="Comic Sans MS" pitchFamily="66" charset="0"/>
                <a:sym typeface="Symbol" pitchFamily="18" charset="2"/>
              </a:rPr>
              <a:t>R</a:t>
            </a:r>
            <a:r>
              <a:rPr lang="en-US" sz="1800" dirty="0">
                <a:latin typeface="Comic Sans MS" pitchFamily="66" charset="0"/>
                <a:sym typeface="Symbol" pitchFamily="18" charset="2"/>
              </a:rPr>
              <a:t>)))</a:t>
            </a:r>
          </a:p>
          <a:p>
            <a:pPr lvl="1">
              <a:lnSpc>
                <a:spcPct val="80000"/>
              </a:lnSpc>
            </a:pPr>
            <a:r>
              <a:rPr lang="en-US" sz="1800" b="1" dirty="0"/>
              <a:t>Cascade of  projection</a:t>
            </a:r>
            <a:r>
              <a:rPr lang="en-US" sz="1800" dirty="0"/>
              <a:t>: In a sequence of projection operations, only the last in sequence is required.</a:t>
            </a:r>
          </a:p>
          <a:p>
            <a:pPr lvl="1">
              <a:lnSpc>
                <a:spcPct val="80000"/>
              </a:lnSpc>
              <a:buFont typeface="Wingdings" pitchFamily="2" charset="2"/>
              <a:buNone/>
            </a:pPr>
            <a:r>
              <a:rPr lang="en-US" sz="2800" dirty="0">
                <a:sym typeface="Symbol" pitchFamily="18" charset="2"/>
              </a:rPr>
              <a:t>			</a:t>
            </a:r>
            <a:r>
              <a:rPr lang="en-US" sz="2800" dirty="0">
                <a:latin typeface="Comic Sans MS" pitchFamily="66" charset="0"/>
                <a:sym typeface="Symbol" pitchFamily="18" charset="2"/>
              </a:rPr>
              <a:t></a:t>
            </a:r>
            <a:r>
              <a:rPr lang="en-US" sz="1400" dirty="0">
                <a:latin typeface="Comic Sans MS" pitchFamily="66" charset="0"/>
                <a:sym typeface="Symbol" pitchFamily="18" charset="2"/>
              </a:rPr>
              <a:t>L(</a:t>
            </a:r>
            <a:r>
              <a:rPr lang="en-US" sz="2800" dirty="0">
                <a:latin typeface="Comic Sans MS" pitchFamily="66" charset="0"/>
                <a:sym typeface="Symbol" pitchFamily="18" charset="2"/>
              </a:rPr>
              <a:t></a:t>
            </a:r>
            <a:r>
              <a:rPr lang="en-US" sz="1400" dirty="0">
                <a:latin typeface="Comic Sans MS" pitchFamily="66" charset="0"/>
                <a:sym typeface="Symbol" pitchFamily="18" charset="2"/>
              </a:rPr>
              <a:t>M(…(</a:t>
            </a:r>
            <a:r>
              <a:rPr lang="en-US" sz="2800" dirty="0">
                <a:latin typeface="Comic Sans MS" pitchFamily="66" charset="0"/>
                <a:sym typeface="Symbol" pitchFamily="18" charset="2"/>
              </a:rPr>
              <a:t></a:t>
            </a:r>
            <a:r>
              <a:rPr lang="en-US" sz="1400" dirty="0">
                <a:latin typeface="Comic Sans MS" pitchFamily="66" charset="0"/>
                <a:sym typeface="Symbol" pitchFamily="18" charset="2"/>
              </a:rPr>
              <a:t>N</a:t>
            </a:r>
            <a:r>
              <a:rPr lang="en-US" sz="1800" dirty="0">
                <a:latin typeface="Comic Sans MS" pitchFamily="66" charset="0"/>
                <a:sym typeface="Symbol" pitchFamily="18" charset="2"/>
              </a:rPr>
              <a:t>(</a:t>
            </a:r>
            <a:r>
              <a:rPr lang="en-US" sz="2400" dirty="0">
                <a:latin typeface="Comic Sans MS" pitchFamily="66" charset="0"/>
                <a:sym typeface="Symbol" pitchFamily="18" charset="2"/>
              </a:rPr>
              <a:t>R</a:t>
            </a:r>
            <a:r>
              <a:rPr lang="en-US" sz="1800" dirty="0">
                <a:latin typeface="Comic Sans MS" pitchFamily="66" charset="0"/>
                <a:sym typeface="Symbol" pitchFamily="18" charset="2"/>
              </a:rPr>
              <a:t>) = </a:t>
            </a:r>
            <a:r>
              <a:rPr lang="en-US" sz="2800" dirty="0">
                <a:latin typeface="Comic Sans MS" pitchFamily="66" charset="0"/>
                <a:sym typeface="Symbol" pitchFamily="18" charset="2"/>
              </a:rPr>
              <a:t></a:t>
            </a:r>
            <a:r>
              <a:rPr lang="en-US" sz="1800" dirty="0">
                <a:latin typeface="Comic Sans MS" pitchFamily="66" charset="0"/>
                <a:sym typeface="Symbol" pitchFamily="18" charset="2"/>
              </a:rPr>
              <a:t> </a:t>
            </a:r>
            <a:r>
              <a:rPr lang="en-US" sz="1400" dirty="0">
                <a:latin typeface="Comic Sans MS" pitchFamily="66" charset="0"/>
                <a:sym typeface="Symbol" pitchFamily="18" charset="2"/>
              </a:rPr>
              <a:t>L</a:t>
            </a:r>
            <a:r>
              <a:rPr lang="en-US" sz="2400" dirty="0">
                <a:latin typeface="Comic Sans MS" pitchFamily="66" charset="0"/>
                <a:sym typeface="Symbol" pitchFamily="18" charset="2"/>
              </a:rPr>
              <a:t>(R)</a:t>
            </a:r>
          </a:p>
          <a:p>
            <a:pPr lvl="1">
              <a:lnSpc>
                <a:spcPct val="80000"/>
              </a:lnSpc>
            </a:pPr>
            <a:r>
              <a:rPr lang="en-US" sz="1800" b="1" dirty="0"/>
              <a:t>Commutatively of selection</a:t>
            </a:r>
            <a:r>
              <a:rPr lang="en-US" sz="1800" dirty="0"/>
              <a:t>: A sequence of selection operations are commutative </a:t>
            </a:r>
          </a:p>
          <a:p>
            <a:pPr lvl="1">
              <a:lnSpc>
                <a:spcPct val="80000"/>
              </a:lnSpc>
              <a:buFont typeface="Wingdings" pitchFamily="2" charset="2"/>
              <a:buNone/>
            </a:pPr>
            <a:r>
              <a:rPr lang="en-US" sz="1800" dirty="0"/>
              <a:t>		 	</a:t>
            </a:r>
            <a:r>
              <a:rPr lang="en-US" sz="2800" dirty="0">
                <a:latin typeface="Comic Sans MS" pitchFamily="66" charset="0"/>
                <a:sym typeface="Symbol" pitchFamily="18" charset="2"/>
              </a:rPr>
              <a:t></a:t>
            </a:r>
            <a:r>
              <a:rPr lang="en-US" sz="1600" dirty="0">
                <a:latin typeface="Comic Sans MS" pitchFamily="66" charset="0"/>
                <a:sym typeface="Symbol" pitchFamily="18" charset="2"/>
              </a:rPr>
              <a:t>q</a:t>
            </a:r>
            <a:r>
              <a:rPr lang="en-US" sz="1800" dirty="0">
                <a:latin typeface="Comic Sans MS" pitchFamily="66" charset="0"/>
                <a:sym typeface="Symbol" pitchFamily="18" charset="2"/>
              </a:rPr>
              <a:t>(</a:t>
            </a:r>
            <a:r>
              <a:rPr lang="en-US" sz="2800" dirty="0">
                <a:latin typeface="Comic Sans MS" pitchFamily="66" charset="0"/>
                <a:sym typeface="Symbol" pitchFamily="18" charset="2"/>
              </a:rPr>
              <a:t></a:t>
            </a:r>
            <a:r>
              <a:rPr lang="en-US" sz="1600" dirty="0">
                <a:latin typeface="Comic Sans MS" pitchFamily="66" charset="0"/>
                <a:sym typeface="Symbol" pitchFamily="18" charset="2"/>
              </a:rPr>
              <a:t>p</a:t>
            </a:r>
            <a:r>
              <a:rPr lang="en-US" sz="1800" dirty="0">
                <a:latin typeface="Comic Sans MS" pitchFamily="66" charset="0"/>
                <a:sym typeface="Symbol" pitchFamily="18" charset="2"/>
              </a:rPr>
              <a:t>(</a:t>
            </a:r>
            <a:r>
              <a:rPr lang="en-US" sz="2400" dirty="0">
                <a:latin typeface="Comic Sans MS" pitchFamily="66" charset="0"/>
                <a:sym typeface="Symbol" pitchFamily="18" charset="2"/>
              </a:rPr>
              <a:t>R</a:t>
            </a:r>
            <a:r>
              <a:rPr lang="en-US" sz="1800" dirty="0">
                <a:latin typeface="Comic Sans MS" pitchFamily="66" charset="0"/>
                <a:sym typeface="Symbol" pitchFamily="18" charset="2"/>
              </a:rPr>
              <a:t>)) = </a:t>
            </a:r>
            <a:r>
              <a:rPr lang="en-US" sz="2800" dirty="0">
                <a:latin typeface="Comic Sans MS" pitchFamily="66" charset="0"/>
                <a:sym typeface="Symbol" pitchFamily="18" charset="2"/>
              </a:rPr>
              <a:t></a:t>
            </a:r>
            <a:r>
              <a:rPr lang="en-US" sz="1600" dirty="0">
                <a:latin typeface="Comic Sans MS" pitchFamily="66" charset="0"/>
                <a:sym typeface="Symbol" pitchFamily="18" charset="2"/>
              </a:rPr>
              <a:t>p</a:t>
            </a:r>
            <a:r>
              <a:rPr lang="en-US" sz="1800" dirty="0">
                <a:latin typeface="Comic Sans MS" pitchFamily="66" charset="0"/>
                <a:sym typeface="Symbol" pitchFamily="18" charset="2"/>
              </a:rPr>
              <a:t>(</a:t>
            </a:r>
            <a:r>
              <a:rPr lang="en-US" sz="2800" dirty="0">
                <a:latin typeface="Comic Sans MS" pitchFamily="66" charset="0"/>
                <a:sym typeface="Symbol" pitchFamily="18" charset="2"/>
              </a:rPr>
              <a:t></a:t>
            </a:r>
            <a:r>
              <a:rPr lang="en-US" sz="1600" dirty="0">
                <a:latin typeface="Comic Sans MS" pitchFamily="66" charset="0"/>
                <a:sym typeface="Symbol" pitchFamily="18" charset="2"/>
              </a:rPr>
              <a:t>q</a:t>
            </a:r>
            <a:r>
              <a:rPr lang="en-US" sz="1800" dirty="0">
                <a:latin typeface="Comic Sans MS" pitchFamily="66" charset="0"/>
                <a:sym typeface="Symbol" pitchFamily="18" charset="2"/>
              </a:rPr>
              <a:t>(</a:t>
            </a:r>
            <a:r>
              <a:rPr lang="en-US" sz="2400" dirty="0">
                <a:latin typeface="Comic Sans MS" pitchFamily="66" charset="0"/>
                <a:sym typeface="Symbol" pitchFamily="18" charset="2"/>
              </a:rPr>
              <a:t>R</a:t>
            </a:r>
            <a:r>
              <a:rPr lang="en-US" sz="1800" dirty="0">
                <a:latin typeface="Comic Sans MS" pitchFamily="66" charset="0"/>
                <a:sym typeface="Symbol" pitchFamily="18" charset="2"/>
              </a:rPr>
              <a:t>))</a:t>
            </a:r>
            <a:endParaRPr lang="en-US" sz="1800" dirty="0">
              <a:latin typeface="Comic Sans MS" pitchFamily="66" charset="0"/>
            </a:endParaRPr>
          </a:p>
          <a:p>
            <a:pPr lvl="1">
              <a:lnSpc>
                <a:spcPct val="80000"/>
              </a:lnSpc>
            </a:pPr>
            <a:r>
              <a:rPr lang="en-US" sz="1800" b="1" dirty="0"/>
              <a:t>Associativity of Natural Join and Cross Product</a:t>
            </a:r>
            <a:r>
              <a:rPr lang="en-US" sz="1800" dirty="0"/>
              <a:t>: Natural join (*) and Cross Product (X) are associative:</a:t>
            </a:r>
          </a:p>
          <a:p>
            <a:pPr lvl="1">
              <a:lnSpc>
                <a:spcPct val="80000"/>
              </a:lnSpc>
              <a:buFont typeface="Wingdings" pitchFamily="2" charset="2"/>
              <a:buNone/>
            </a:pPr>
            <a:r>
              <a:rPr lang="en-US" sz="1800" dirty="0"/>
              <a:t>			</a:t>
            </a:r>
            <a:r>
              <a:rPr lang="en-US" sz="1800" dirty="0">
                <a:latin typeface="Comic Sans MS" pitchFamily="66" charset="0"/>
              </a:rPr>
              <a:t>(R * S) * T = R * (S * T)</a:t>
            </a:r>
          </a:p>
          <a:p>
            <a:pPr lvl="1">
              <a:lnSpc>
                <a:spcPct val="80000"/>
              </a:lnSpc>
              <a:buFont typeface="Wingdings" pitchFamily="2" charset="2"/>
              <a:buNone/>
            </a:pPr>
            <a:r>
              <a:rPr lang="en-US" sz="1800" dirty="0">
                <a:latin typeface="Comic Sans MS" pitchFamily="66" charset="0"/>
              </a:rPr>
              <a:t>			(R X S) X T = R X (S X T)</a:t>
            </a:r>
          </a:p>
        </p:txBody>
      </p:sp>
    </p:spTree>
    <p:extLst>
      <p:ext uri="{BB962C8B-B14F-4D97-AF65-F5344CB8AC3E}">
        <p14:creationId xmlns:p14="http://schemas.microsoft.com/office/powerpoint/2010/main" val="636736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r>
              <a:rPr lang="en-US" dirty="0"/>
              <a:t>Heuristic Optimization- Further Details </a:t>
            </a:r>
          </a:p>
        </p:txBody>
      </p:sp>
      <p:sp>
        <p:nvSpPr>
          <p:cNvPr id="1036291" name="Rectangle 3"/>
          <p:cNvSpPr>
            <a:spLocks noGrp="1" noChangeArrowheads="1"/>
          </p:cNvSpPr>
          <p:nvPr>
            <p:ph idx="1"/>
          </p:nvPr>
        </p:nvSpPr>
        <p:spPr>
          <a:xfrm>
            <a:off x="685800" y="1905000"/>
            <a:ext cx="7772400" cy="4419600"/>
          </a:xfrm>
        </p:spPr>
        <p:txBody>
          <a:bodyPr/>
          <a:lstStyle/>
          <a:p>
            <a:r>
              <a:rPr lang="en-US" sz="2000" b="1" dirty="0">
                <a:solidFill>
                  <a:srgbClr val="FF0000"/>
                </a:solidFill>
              </a:rPr>
              <a:t>Perform selection operations as early as possible</a:t>
            </a:r>
          </a:p>
          <a:p>
            <a:pPr lvl="1"/>
            <a:r>
              <a:rPr lang="en-US" sz="1800" dirty="0"/>
              <a:t>Keep predicates on same relation together</a:t>
            </a:r>
          </a:p>
          <a:p>
            <a:r>
              <a:rPr lang="en-US" sz="2000" b="1" dirty="0">
                <a:solidFill>
                  <a:srgbClr val="7030A0"/>
                </a:solidFill>
              </a:rPr>
              <a:t>Combine Cartesian product with subsequent selection whose predicate represents join condition into a join operation.</a:t>
            </a:r>
          </a:p>
          <a:p>
            <a:r>
              <a:rPr lang="en-US" sz="2000" b="1" dirty="0">
                <a:solidFill>
                  <a:srgbClr val="FF0000"/>
                </a:solidFill>
              </a:rPr>
              <a:t>Use associative of binary operations to rearrange leaf nodes with most restrictive selection operations first.</a:t>
            </a:r>
          </a:p>
          <a:p>
            <a:r>
              <a:rPr lang="en-US" sz="2000" b="1" dirty="0">
                <a:solidFill>
                  <a:srgbClr val="0070C0"/>
                </a:solidFill>
              </a:rPr>
              <a:t>Perform projection as early as possible</a:t>
            </a:r>
          </a:p>
          <a:p>
            <a:pPr lvl="1"/>
            <a:r>
              <a:rPr lang="en-US" sz="1800" b="1" dirty="0">
                <a:solidFill>
                  <a:srgbClr val="0070C0"/>
                </a:solidFill>
              </a:rPr>
              <a:t>Keep projection attributes on same relations together.</a:t>
            </a:r>
          </a:p>
          <a:p>
            <a:r>
              <a:rPr lang="en-US" sz="2000" b="1" dirty="0">
                <a:solidFill>
                  <a:schemeClr val="accent1">
                    <a:lumMod val="50000"/>
                  </a:schemeClr>
                </a:solidFill>
              </a:rPr>
              <a:t>Compute common expressions once.</a:t>
            </a:r>
          </a:p>
          <a:p>
            <a:pPr lvl="1"/>
            <a:r>
              <a:rPr lang="en-US" sz="1800" b="1" dirty="0">
                <a:solidFill>
                  <a:schemeClr val="accent1">
                    <a:lumMod val="50000"/>
                  </a:schemeClr>
                </a:solidFill>
              </a:rPr>
              <a:t>If common expression appears more than once, and result not too large, store result and reuse it when required.</a:t>
            </a:r>
          </a:p>
          <a:p>
            <a:pPr lvl="1"/>
            <a:r>
              <a:rPr lang="en-US" sz="1800" b="1" dirty="0">
                <a:solidFill>
                  <a:schemeClr val="accent1">
                    <a:lumMod val="50000"/>
                  </a:schemeClr>
                </a:solidFill>
              </a:rPr>
              <a:t>Useful when querying views, as same expression is used to construct view each time.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5474465" y="1905000"/>
            <a:ext cx="2602735" cy="2696603"/>
            <a:chOff x="7700382" y="1690688"/>
            <a:chExt cx="3425516" cy="3822938"/>
          </a:xfrm>
        </p:grpSpPr>
        <p:sp>
          <p:nvSpPr>
            <p:cNvPr id="5" name="AutoShape 9"/>
            <p:cNvSpPr>
              <a:spLocks noChangeAspect="1" noChangeArrowheads="1"/>
            </p:cNvSpPr>
            <p:nvPr/>
          </p:nvSpPr>
          <p:spPr bwMode="auto">
            <a:xfrm rot="16200000">
              <a:off x="9524378" y="2941294"/>
              <a:ext cx="320961" cy="63929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6" name="TextBox 5"/>
                <p:cNvSpPr txBox="1"/>
                <p:nvPr/>
              </p:nvSpPr>
              <p:spPr>
                <a:xfrm>
                  <a:off x="9131134" y="1690688"/>
                  <a:ext cx="1131093" cy="61395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1575" i="1">
                                <a:latin typeface="Cambria Math" panose="02040503050406030204" pitchFamily="18" charset="0"/>
                                <a:ea typeface="Cambria Math" charset="0"/>
                                <a:cs typeface="Cambria Math" charset="0"/>
                              </a:rPr>
                            </m:ctrlPr>
                          </m:sSubPr>
                          <m:e>
                            <m:r>
                              <m:rPr>
                                <m:sty m:val="p"/>
                              </m:rPr>
                              <a:rPr lang="el-GR" sz="1575" i="1">
                                <a:latin typeface="Cambria Math" charset="0"/>
                                <a:ea typeface="Cambria Math" charset="0"/>
                                <a:cs typeface="Cambria Math" charset="0"/>
                              </a:rPr>
                              <m:t>Π</m:t>
                            </m:r>
                          </m:e>
                          <m:sub>
                            <m:r>
                              <a:rPr lang="en-US" sz="1575" i="1">
                                <a:latin typeface="Cambria Math" charset="0"/>
                                <a:ea typeface="Cambria Math" charset="0"/>
                                <a:cs typeface="Cambria Math" charset="0"/>
                              </a:rPr>
                              <m:t>𝐴</m:t>
                            </m:r>
                            <m:r>
                              <a:rPr lang="en-US" sz="1575" i="1">
                                <a:latin typeface="Cambria Math" charset="0"/>
                                <a:ea typeface="Cambria Math" charset="0"/>
                                <a:cs typeface="Cambria Math" charset="0"/>
                              </a:rPr>
                              <m:t>,</m:t>
                            </m:r>
                            <m:r>
                              <a:rPr lang="en-US" sz="1575" i="1">
                                <a:latin typeface="Cambria Math" charset="0"/>
                                <a:ea typeface="Cambria Math" charset="0"/>
                                <a:cs typeface="Cambria Math" charset="0"/>
                              </a:rPr>
                              <m:t>𝐷</m:t>
                            </m:r>
                          </m:sub>
                        </m:sSub>
                      </m:oMath>
                    </m:oMathPara>
                  </a14:m>
                  <a:endParaRPr lang="en-US" sz="1519" dirty="0">
                    <a:solidFill>
                      <a:prstClr val="black"/>
                    </a:solidFill>
                    <a:latin typeface="Calibri" panose="020F0502020204030204"/>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131134" y="1690688"/>
                  <a:ext cx="1131093" cy="613957"/>
                </a:xfrm>
                <a:prstGeom prst="rect">
                  <a:avLst/>
                </a:prstGeom>
                <a:blipFill>
                  <a:blip r:embed="rId3"/>
                  <a:stretch>
                    <a:fillRect/>
                  </a:stretch>
                </a:blipFill>
              </p:spPr>
              <p:txBody>
                <a:bodyPr/>
                <a:lstStyle/>
                <a:p>
                  <a:r>
                    <a:rPr lang="en-US">
                      <a:noFill/>
                    </a:rPr>
                    <a:t> </a:t>
                  </a:r>
                </a:p>
              </p:txBody>
            </p:sp>
          </mc:Fallback>
        </mc:AlternateContent>
        <p:sp>
          <p:nvSpPr>
            <p:cNvPr id="7" name="TextBox 6"/>
            <p:cNvSpPr txBox="1"/>
            <p:nvPr/>
          </p:nvSpPr>
          <p:spPr>
            <a:xfrm>
              <a:off x="7700382" y="4933866"/>
              <a:ext cx="1200149" cy="579760"/>
            </a:xfrm>
            <a:prstGeom prst="rect">
              <a:avLst/>
            </a:prstGeom>
            <a:noFill/>
          </p:spPr>
          <p:txBody>
            <a:bodyPr wrap="square" rtlCol="0">
              <a:spAutoFit/>
            </a:bodyPr>
            <a:lstStyle/>
            <a:p>
              <a:pPr algn="ctr"/>
              <a:r>
                <a:rPr lang="en-US" sz="1519" dirty="0">
                  <a:solidFill>
                    <a:prstClr val="black"/>
                  </a:solidFill>
                  <a:latin typeface="Calibri" panose="020F0502020204030204"/>
                </a:rPr>
                <a:t>R(A,B)</a:t>
              </a:r>
            </a:p>
          </p:txBody>
        </p:sp>
        <p:sp>
          <p:nvSpPr>
            <p:cNvPr id="8" name="TextBox 7"/>
            <p:cNvSpPr txBox="1"/>
            <p:nvPr/>
          </p:nvSpPr>
          <p:spPr>
            <a:xfrm>
              <a:off x="9152560" y="4933866"/>
              <a:ext cx="1509564" cy="579760"/>
            </a:xfrm>
            <a:prstGeom prst="rect">
              <a:avLst/>
            </a:prstGeom>
            <a:noFill/>
          </p:spPr>
          <p:txBody>
            <a:bodyPr wrap="square" rtlCol="0">
              <a:spAutoFit/>
            </a:bodyPr>
            <a:lstStyle/>
            <a:p>
              <a:pPr algn="ctr"/>
              <a:r>
                <a:rPr lang="en-US" sz="1519" dirty="0">
                  <a:solidFill>
                    <a:prstClr val="black"/>
                  </a:solidFill>
                  <a:latin typeface="Calibri" panose="020F0502020204030204"/>
                </a:rPr>
                <a:t>S(B,C)</a:t>
              </a:r>
            </a:p>
          </p:txBody>
        </p:sp>
        <p:cxnSp>
          <p:nvCxnSpPr>
            <p:cNvPr id="9" name="Straight Connector 8"/>
            <p:cNvCxnSpPr/>
            <p:nvPr/>
          </p:nvCxnSpPr>
          <p:spPr>
            <a:xfrm rot="5400000" flipH="1" flipV="1">
              <a:off x="8297250" y="4489320"/>
              <a:ext cx="519998" cy="36909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16200000" flipV="1">
              <a:off x="9072218" y="4547221"/>
              <a:ext cx="519998" cy="25329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16" idx="1"/>
            </p:cNvCxnSpPr>
            <p:nvPr/>
          </p:nvCxnSpPr>
          <p:spPr>
            <a:xfrm flipV="1">
              <a:off x="8996111" y="3501469"/>
              <a:ext cx="462752" cy="69668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763902" y="3958135"/>
              <a:ext cx="1361996" cy="579760"/>
            </a:xfrm>
            <a:prstGeom prst="rect">
              <a:avLst/>
            </a:prstGeom>
            <a:noFill/>
          </p:spPr>
          <p:txBody>
            <a:bodyPr wrap="square" rtlCol="0">
              <a:spAutoFit/>
            </a:bodyPr>
            <a:lstStyle/>
            <a:p>
              <a:pPr algn="ctr"/>
              <a:r>
                <a:rPr lang="en-US" sz="1519" dirty="0">
                  <a:solidFill>
                    <a:prstClr val="black"/>
                  </a:solidFill>
                  <a:latin typeface="Calibri" panose="020F0502020204030204"/>
                </a:rPr>
                <a:t>T(C,D)</a:t>
              </a:r>
            </a:p>
          </p:txBody>
        </p:sp>
        <p:cxnSp>
          <p:nvCxnSpPr>
            <p:cNvPr id="14" name="Straight Connector 13"/>
            <p:cNvCxnSpPr/>
            <p:nvPr/>
          </p:nvCxnSpPr>
          <p:spPr>
            <a:xfrm flipH="1" flipV="1">
              <a:off x="9966868" y="3501470"/>
              <a:ext cx="304881" cy="423845"/>
            </a:xfrm>
            <a:prstGeom prst="line">
              <a:avLst/>
            </a:prstGeom>
          </p:spPr>
          <p:style>
            <a:lnRef idx="2">
              <a:schemeClr val="accent1"/>
            </a:lnRef>
            <a:fillRef idx="0">
              <a:schemeClr val="accent1"/>
            </a:fillRef>
            <a:effectRef idx="1">
              <a:schemeClr val="accent1"/>
            </a:effectRef>
            <a:fontRef idx="minor">
              <a:schemeClr val="tx1"/>
            </a:fontRef>
          </p:style>
        </p:cxnSp>
        <p:sp>
          <p:nvSpPr>
            <p:cNvPr id="16" name="AutoShape 9"/>
            <p:cNvSpPr>
              <a:spLocks noChangeAspect="1" noChangeArrowheads="1"/>
            </p:cNvSpPr>
            <p:nvPr/>
          </p:nvSpPr>
          <p:spPr bwMode="auto">
            <a:xfrm rot="16200000">
              <a:off x="8835630" y="3878509"/>
              <a:ext cx="320961" cy="63929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p:sp>
          <p:nvSpPr>
            <p:cNvPr id="18" name="TextBox 17"/>
            <p:cNvSpPr txBox="1"/>
            <p:nvPr/>
          </p:nvSpPr>
          <p:spPr>
            <a:xfrm>
              <a:off x="8996110" y="2340519"/>
              <a:ext cx="1401139" cy="579760"/>
            </a:xfrm>
            <a:prstGeom prst="rect">
              <a:avLst/>
            </a:prstGeom>
            <a:noFill/>
          </p:spPr>
          <p:txBody>
            <a:bodyPr wrap="square" rtlCol="0">
              <a:spAutoFit/>
            </a:bodyPr>
            <a:lstStyle/>
            <a:p>
              <a:pPr algn="ctr"/>
              <a:r>
                <a:rPr lang="en-US" sz="1519" dirty="0" err="1">
                  <a:solidFill>
                    <a:prstClr val="black"/>
                  </a:solidFill>
                  <a:latin typeface="Symbol"/>
                </a:rPr>
                <a:t>s</a:t>
              </a:r>
              <a:r>
                <a:rPr lang="en-US" sz="1519" baseline="-25000" dirty="0" err="1">
                  <a:solidFill>
                    <a:prstClr val="black"/>
                  </a:solidFill>
                  <a:latin typeface="Symbol"/>
                </a:rPr>
                <a:t>A</a:t>
              </a:r>
              <a:r>
                <a:rPr lang="en-US" sz="1519" baseline="-25000" dirty="0">
                  <a:solidFill>
                    <a:prstClr val="black"/>
                  </a:solidFill>
                  <a:latin typeface="Symbol"/>
                </a:rPr>
                <a:t>&lt;10</a:t>
              </a:r>
              <a:endParaRPr lang="en-US" sz="1519" baseline="-25000" dirty="0">
                <a:solidFill>
                  <a:prstClr val="black"/>
                </a:solidFill>
                <a:latin typeface="Calibri" panose="020F0502020204030204"/>
              </a:endParaRPr>
            </a:p>
          </p:txBody>
        </p:sp>
        <p:cxnSp>
          <p:nvCxnSpPr>
            <p:cNvPr id="19" name="Straight Connector 18"/>
            <p:cNvCxnSpPr>
              <a:endCxn id="18" idx="2"/>
            </p:cNvCxnSpPr>
            <p:nvPr/>
          </p:nvCxnSpPr>
          <p:spPr>
            <a:xfrm flipV="1">
              <a:off x="9696680" y="2920279"/>
              <a:ext cx="0" cy="180183"/>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9712156" y="2216566"/>
              <a:ext cx="1" cy="275192"/>
            </a:xfrm>
            <a:prstGeom prst="line">
              <a:avLst/>
            </a:prstGeom>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4" name="TextBox 23"/>
              <p:cNvSpPr txBox="1"/>
              <p:nvPr/>
            </p:nvSpPr>
            <p:spPr>
              <a:xfrm>
                <a:off x="1722958" y="4410061"/>
                <a:ext cx="3024674" cy="351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025" i="1">
                              <a:latin typeface="Cambria Math" panose="02040503050406030204" pitchFamily="18" charset="0"/>
                              <a:ea typeface="Cambria Math" charset="0"/>
                              <a:cs typeface="Cambria Math" charset="0"/>
                            </a:rPr>
                          </m:ctrlPr>
                        </m:sSubPr>
                        <m:e>
                          <m:r>
                            <m:rPr>
                              <m:sty m:val="p"/>
                            </m:rPr>
                            <a:rPr lang="el-GR" sz="2025" i="1">
                              <a:latin typeface="Cambria Math" charset="0"/>
                              <a:ea typeface="Cambria Math" charset="0"/>
                              <a:cs typeface="Cambria Math" charset="0"/>
                            </a:rPr>
                            <m:t>Π</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𝐷</m:t>
                          </m:r>
                        </m:sub>
                      </m:sSub>
                      <m:r>
                        <a:rPr lang="en-US" sz="2025" i="1">
                          <a:latin typeface="Cambria Math" charset="0"/>
                          <a:ea typeface="Cambria Math" charset="0"/>
                          <a:cs typeface="Cambria Math" charset="0"/>
                        </a:rPr>
                        <m:t>(</m:t>
                      </m:r>
                      <m:sSub>
                        <m:sSubPr>
                          <m:ctrlPr>
                            <a:rPr lang="en-US" sz="2025" i="1">
                              <a:latin typeface="Cambria Math" panose="02040503050406030204" pitchFamily="18" charset="0"/>
                              <a:ea typeface="Cambria Math" charset="0"/>
                              <a:cs typeface="Cambria Math" charset="0"/>
                            </a:rPr>
                          </m:ctrlPr>
                        </m:sSubPr>
                        <m:e>
                          <m:r>
                            <a:rPr lang="en-US" sz="2025" i="1">
                              <a:latin typeface="Cambria Math" charset="0"/>
                              <a:ea typeface="Cambria Math" charset="0"/>
                              <a:cs typeface="Cambria Math" charset="0"/>
                            </a:rPr>
                            <m:t>𝜎</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&lt;10</m:t>
                          </m:r>
                        </m:sub>
                      </m:sSub>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𝑇</m:t>
                          </m:r>
                          <m:r>
                            <a:rPr lang="en-US" sz="2025" i="1">
                              <a:latin typeface="Cambria Math" charset="0"/>
                              <a:ea typeface="Cambria Math" charset="0"/>
                              <a:cs typeface="Cambria Math" charset="0"/>
                            </a:rPr>
                            <m:t>⋈</m:t>
                          </m:r>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𝑅</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𝑆</m:t>
                              </m:r>
                            </m:e>
                          </m:d>
                        </m:e>
                      </m:d>
                      <m:r>
                        <a:rPr lang="en-US" sz="2025" i="1">
                          <a:latin typeface="Cambria Math" charset="0"/>
                          <a:ea typeface="Cambria Math" charset="0"/>
                          <a:cs typeface="Cambria Math" charset="0"/>
                        </a:rPr>
                        <m:t>)</m:t>
                      </m:r>
                    </m:oMath>
                  </m:oMathPara>
                </a14:m>
                <a:endParaRPr lang="en-US" sz="2025" dirty="0"/>
              </a:p>
            </p:txBody>
          </p:sp>
        </mc:Choice>
        <mc:Fallback xmlns="">
          <p:sp>
            <p:nvSpPr>
              <p:cNvPr id="24" name="TextBox 23"/>
              <p:cNvSpPr txBox="1">
                <a:spLocks noRot="1" noChangeAspect="1" noMove="1" noResize="1" noEditPoints="1" noAdjustHandles="1" noChangeArrowheads="1" noChangeShapeType="1" noTextEdit="1"/>
              </p:cNvSpPr>
              <p:nvPr/>
            </p:nvSpPr>
            <p:spPr>
              <a:xfrm>
                <a:off x="1722958" y="4410061"/>
                <a:ext cx="3024674" cy="351699"/>
              </a:xfrm>
              <a:prstGeom prst="rect">
                <a:avLst/>
              </a:prstGeom>
              <a:blipFill>
                <a:blip r:embed="rId4"/>
                <a:stretch>
                  <a:fillRect l="-1255" r="-2092" b="-20690"/>
                </a:stretch>
              </a:blipFill>
            </p:spPr>
            <p:txBody>
              <a:bodyPr/>
              <a:lstStyle/>
              <a:p>
                <a:r>
                  <a:rPr lang="en-US">
                    <a:noFill/>
                  </a:rPr>
                  <a:t> </a:t>
                </a:r>
              </a:p>
            </p:txBody>
          </p:sp>
        </mc:Fallback>
      </mc:AlternateContent>
      <p:sp>
        <p:nvSpPr>
          <p:cNvPr id="25" name="Rectangle 35"/>
          <p:cNvSpPr>
            <a:spLocks noChangeArrowheads="1"/>
          </p:cNvSpPr>
          <p:nvPr/>
        </p:nvSpPr>
        <p:spPr bwMode="auto">
          <a:xfrm>
            <a:off x="389407" y="2186906"/>
            <a:ext cx="3378829" cy="1754326"/>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SELECT</a:t>
            </a:r>
            <a:r>
              <a:rPr lang="en-US" sz="2400" dirty="0">
                <a:latin typeface="Times New Roman" panose="02020603050405020304" pitchFamily="18" charset="0"/>
                <a:ea typeface="Menlo" charset="0"/>
                <a:cs typeface="Times New Roman" panose="02020603050405020304" pitchFamily="18" charset="0"/>
              </a:rPr>
              <a:t> R.A,T.D</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FROM</a:t>
            </a:r>
            <a:r>
              <a:rPr lang="en-US" sz="2400" dirty="0">
                <a:solidFill>
                  <a:schemeClr val="accent2"/>
                </a:solidFill>
                <a:latin typeface="Times New Roman" panose="02020603050405020304" pitchFamily="18" charset="0"/>
                <a:ea typeface="Menlo" charset="0"/>
                <a:cs typeface="Times New Roman" panose="02020603050405020304" pitchFamily="18" charset="0"/>
              </a:rPr>
              <a:t> </a:t>
            </a:r>
            <a:r>
              <a:rPr lang="en-US" sz="2400" dirty="0">
                <a:latin typeface="Times New Roman" panose="02020603050405020304" pitchFamily="18" charset="0"/>
                <a:ea typeface="Menlo" charset="0"/>
                <a:cs typeface="Times New Roman" panose="02020603050405020304" pitchFamily="18" charset="0"/>
              </a:rPr>
              <a:t>R,S,T</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WHERE</a:t>
            </a:r>
            <a:r>
              <a:rPr lang="en-US" sz="2400" dirty="0">
                <a:latin typeface="Times New Roman" panose="02020603050405020304" pitchFamily="18" charset="0"/>
                <a:ea typeface="Menlo" charset="0"/>
                <a:cs typeface="Times New Roman" panose="02020603050405020304" pitchFamily="18" charset="0"/>
              </a:rPr>
              <a:t> R.B = S.B</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S.C = T.C</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R.A &lt; 10;</a:t>
            </a:r>
          </a:p>
        </p:txBody>
      </p:sp>
      <p:sp>
        <p:nvSpPr>
          <p:cNvPr id="26" name="Rectangle 35"/>
          <p:cNvSpPr>
            <a:spLocks noChangeArrowheads="1"/>
          </p:cNvSpPr>
          <p:nvPr/>
        </p:nvSpPr>
        <p:spPr bwMode="auto">
          <a:xfrm>
            <a:off x="390753" y="1701612"/>
            <a:ext cx="3045247" cy="369332"/>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000" b="1" dirty="0">
                <a:solidFill>
                  <a:srgbClr val="C00000"/>
                </a:solidFill>
                <a:latin typeface="Times New Roman" panose="02020603050405020304" pitchFamily="18" charset="0"/>
                <a:ea typeface="Menlo" charset="0"/>
                <a:cs typeface="Times New Roman" panose="02020603050405020304" pitchFamily="18" charset="0"/>
              </a:rPr>
              <a:t>R(A,B)  S(B,C)  T(C,D)</a:t>
            </a:r>
          </a:p>
        </p:txBody>
      </p:sp>
      <p:sp>
        <p:nvSpPr>
          <p:cNvPr id="27" name="Title 1"/>
          <p:cNvSpPr>
            <a:spLocks noGrp="1"/>
          </p:cNvSpPr>
          <p:nvPr>
            <p:ph type="title"/>
          </p:nvPr>
        </p:nvSpPr>
        <p:spPr>
          <a:xfrm>
            <a:off x="152400" y="365126"/>
            <a:ext cx="8362950" cy="1325563"/>
          </a:xfrm>
        </p:spPr>
        <p:txBody>
          <a:bodyPr>
            <a:normAutofit fontScale="90000"/>
          </a:bodyPr>
          <a:lstStyle/>
          <a:p>
            <a:r>
              <a:rPr lang="en-US" dirty="0"/>
              <a:t>Given an SQL Query, Let we Translate it into its Relational Algebra Expression</a:t>
            </a:r>
          </a:p>
        </p:txBody>
      </p:sp>
      <p:sp>
        <p:nvSpPr>
          <p:cNvPr id="13" name="Slide Number Placeholder 12"/>
          <p:cNvSpPr>
            <a:spLocks noGrp="1"/>
          </p:cNvSpPr>
          <p:nvPr>
            <p:ph type="sldNum" sz="quarter" idx="12"/>
          </p:nvPr>
        </p:nvSpPr>
        <p:spPr/>
        <p:txBody>
          <a:bodyPr/>
          <a:lstStyle/>
          <a:p>
            <a:fld id="{D9689D17-8382-4C64-A239-6A881ADCA618}" type="slidenum">
              <a:rPr lang="en-US" smtClean="0"/>
              <a:t>23</a:t>
            </a:fld>
            <a:endParaRPr lang="en-US"/>
          </a:p>
        </p:txBody>
      </p:sp>
      <p:sp>
        <p:nvSpPr>
          <p:cNvPr id="2" name="Down Arrow 1"/>
          <p:cNvSpPr/>
          <p:nvPr/>
        </p:nvSpPr>
        <p:spPr>
          <a:xfrm>
            <a:off x="2916538" y="3861211"/>
            <a:ext cx="287754" cy="37385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9" name="Down Arrow 28"/>
          <p:cNvSpPr/>
          <p:nvPr/>
        </p:nvSpPr>
        <p:spPr>
          <a:xfrm rot="13977226">
            <a:off x="5010904" y="3936255"/>
            <a:ext cx="287754" cy="656549"/>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4" name="Rectangle 3">
            <a:extLst>
              <a:ext uri="{FF2B5EF4-FFF2-40B4-BE49-F238E27FC236}">
                <a16:creationId xmlns:a16="http://schemas.microsoft.com/office/drawing/2014/main" id="{75BA0BB4-6045-5345-8C92-F93B69C54B2D}"/>
              </a:ext>
            </a:extLst>
          </p:cNvPr>
          <p:cNvSpPr/>
          <p:nvPr/>
        </p:nvSpPr>
        <p:spPr>
          <a:xfrm>
            <a:off x="1540142" y="5288474"/>
            <a:ext cx="7473521" cy="461665"/>
          </a:xfrm>
          <a:prstGeom prst="rect">
            <a:avLst/>
          </a:prstGeom>
        </p:spPr>
        <p:txBody>
          <a:bodyPr wrap="none">
            <a:spAutoFit/>
          </a:bodyPr>
          <a:lstStyle/>
          <a:p>
            <a:r>
              <a:rPr lang="en-US" sz="2400" b="1" dirty="0">
                <a:solidFill>
                  <a:srgbClr val="FF0000"/>
                </a:solidFill>
              </a:rPr>
              <a:t>Can we Optimize this Query Execution Plan ?</a:t>
            </a:r>
          </a:p>
        </p:txBody>
      </p:sp>
    </p:spTree>
    <p:extLst>
      <p:ext uri="{BB962C8B-B14F-4D97-AF65-F5344CB8AC3E}">
        <p14:creationId xmlns:p14="http://schemas.microsoft.com/office/powerpoint/2010/main" val="332951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animBg="1"/>
      <p:bldP spid="26" grpId="0" animBg="1"/>
      <p:bldP spid="2" grpId="0" animBg="1"/>
      <p:bldP spid="29"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9"/>
          <p:cNvSpPr>
            <a:spLocks noChangeAspect="1" noChangeArrowheads="1"/>
          </p:cNvSpPr>
          <p:nvPr/>
        </p:nvSpPr>
        <p:spPr bwMode="auto">
          <a:xfrm rot="16200000">
            <a:off x="6542541" y="3505542"/>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6" name="TextBox 5"/>
              <p:cNvSpPr txBox="1"/>
              <p:nvPr/>
            </p:nvSpPr>
            <p:spPr>
              <a:xfrm>
                <a:off x="6321341" y="2802076"/>
                <a:ext cx="636241" cy="3453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1575" i="1">
                              <a:latin typeface="Cambria Math" panose="02040503050406030204" pitchFamily="18" charset="0"/>
                              <a:ea typeface="Cambria Math" charset="0"/>
                              <a:cs typeface="Cambria Math" charset="0"/>
                            </a:rPr>
                          </m:ctrlPr>
                        </m:sSubPr>
                        <m:e>
                          <m:r>
                            <m:rPr>
                              <m:sty m:val="p"/>
                            </m:rPr>
                            <a:rPr lang="el-GR" sz="1575" i="1">
                              <a:latin typeface="Cambria Math" charset="0"/>
                              <a:ea typeface="Cambria Math" charset="0"/>
                              <a:cs typeface="Cambria Math" charset="0"/>
                            </a:rPr>
                            <m:t>Π</m:t>
                          </m:r>
                        </m:e>
                        <m:sub>
                          <m:r>
                            <a:rPr lang="en-US" sz="1575" i="1">
                              <a:latin typeface="Cambria Math" charset="0"/>
                              <a:ea typeface="Cambria Math" charset="0"/>
                              <a:cs typeface="Cambria Math" charset="0"/>
                            </a:rPr>
                            <m:t>𝐴</m:t>
                          </m:r>
                          <m:r>
                            <a:rPr lang="en-US" sz="1575" i="1">
                              <a:latin typeface="Cambria Math" charset="0"/>
                              <a:ea typeface="Cambria Math" charset="0"/>
                              <a:cs typeface="Cambria Math" charset="0"/>
                            </a:rPr>
                            <m:t>,</m:t>
                          </m:r>
                          <m:r>
                            <a:rPr lang="en-US" sz="1575" i="1">
                              <a:latin typeface="Cambria Math" charset="0"/>
                              <a:ea typeface="Cambria Math" charset="0"/>
                              <a:cs typeface="Cambria Math" charset="0"/>
                            </a:rPr>
                            <m:t>𝐷</m:t>
                          </m:r>
                        </m:sub>
                      </m:sSub>
                    </m:oMath>
                  </m:oMathPara>
                </a14:m>
                <a:endParaRPr lang="en-US" sz="1519" dirty="0">
                  <a:solidFill>
                    <a:prstClr val="black"/>
                  </a:solidFill>
                  <a:latin typeface="Calibri" panose="020F0502020204030204"/>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21341" y="2802076"/>
                <a:ext cx="636241" cy="345351"/>
              </a:xfrm>
              <a:prstGeom prst="rect">
                <a:avLst/>
              </a:prstGeom>
              <a:blipFill>
                <a:blip r:embed="rId2"/>
                <a:stretch>
                  <a:fillRect/>
                </a:stretch>
              </a:blipFill>
            </p:spPr>
            <p:txBody>
              <a:bodyPr/>
              <a:lstStyle/>
              <a:p>
                <a:r>
                  <a:rPr lang="en-US">
                    <a:noFill/>
                  </a:rPr>
                  <a:t> </a:t>
                </a:r>
              </a:p>
            </p:txBody>
          </p:sp>
        </mc:Fallback>
      </mc:AlternateContent>
      <p:sp>
        <p:nvSpPr>
          <p:cNvPr id="7" name="TextBox 6"/>
          <p:cNvSpPr txBox="1"/>
          <p:nvPr/>
        </p:nvSpPr>
        <p:spPr>
          <a:xfrm>
            <a:off x="5516543" y="4626364"/>
            <a:ext cx="675085" cy="326115"/>
          </a:xfrm>
          <a:prstGeom prst="rect">
            <a:avLst/>
          </a:prstGeom>
          <a:noFill/>
        </p:spPr>
        <p:txBody>
          <a:bodyPr wrap="square" rtlCol="0">
            <a:spAutoFit/>
          </a:bodyPr>
          <a:lstStyle/>
          <a:p>
            <a:pPr algn="ctr"/>
            <a:r>
              <a:rPr lang="en-US" sz="1519" dirty="0">
                <a:solidFill>
                  <a:prstClr val="black"/>
                </a:solidFill>
                <a:latin typeface="Calibri" panose="020F0502020204030204"/>
              </a:rPr>
              <a:t>R(A,B)</a:t>
            </a:r>
          </a:p>
        </p:txBody>
      </p:sp>
      <p:sp>
        <p:nvSpPr>
          <p:cNvPr id="8" name="TextBox 7"/>
          <p:cNvSpPr txBox="1"/>
          <p:nvPr/>
        </p:nvSpPr>
        <p:spPr>
          <a:xfrm>
            <a:off x="6333394" y="4626364"/>
            <a:ext cx="761482" cy="326115"/>
          </a:xfrm>
          <a:prstGeom prst="rect">
            <a:avLst/>
          </a:prstGeom>
          <a:noFill/>
        </p:spPr>
        <p:txBody>
          <a:bodyPr wrap="square" rtlCol="0">
            <a:spAutoFit/>
          </a:bodyPr>
          <a:lstStyle/>
          <a:p>
            <a:pPr algn="ctr"/>
            <a:r>
              <a:rPr lang="en-US" sz="1519" dirty="0">
                <a:solidFill>
                  <a:prstClr val="black"/>
                </a:solidFill>
                <a:latin typeface="Calibri" panose="020F0502020204030204"/>
              </a:rPr>
              <a:t>S(B,C)</a:t>
            </a:r>
          </a:p>
        </p:txBody>
      </p:sp>
      <p:cxnSp>
        <p:nvCxnSpPr>
          <p:cNvPr id="9" name="Straight Connector 8"/>
          <p:cNvCxnSpPr/>
          <p:nvPr/>
        </p:nvCxnSpPr>
        <p:spPr>
          <a:xfrm rot="5400000" flipH="1" flipV="1">
            <a:off x="5852281" y="4376307"/>
            <a:ext cx="292499" cy="2076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16200000" flipV="1">
            <a:off x="6288201" y="4408875"/>
            <a:ext cx="292499" cy="14247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16" idx="1"/>
          </p:cNvCxnSpPr>
          <p:nvPr/>
        </p:nvCxnSpPr>
        <p:spPr>
          <a:xfrm flipV="1">
            <a:off x="6245390" y="3820640"/>
            <a:ext cx="260298" cy="39188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77273" y="4077514"/>
            <a:ext cx="850591" cy="326115"/>
          </a:xfrm>
          <a:prstGeom prst="rect">
            <a:avLst/>
          </a:prstGeom>
          <a:noFill/>
        </p:spPr>
        <p:txBody>
          <a:bodyPr wrap="square" rtlCol="0">
            <a:spAutoFit/>
          </a:bodyPr>
          <a:lstStyle/>
          <a:p>
            <a:pPr algn="ctr"/>
            <a:r>
              <a:rPr lang="en-US" sz="1519" dirty="0">
                <a:solidFill>
                  <a:prstClr val="black"/>
                </a:solidFill>
                <a:latin typeface="Calibri" panose="020F0502020204030204"/>
              </a:rPr>
              <a:t>T(C,D)</a:t>
            </a:r>
          </a:p>
        </p:txBody>
      </p:sp>
      <p:cxnSp>
        <p:nvCxnSpPr>
          <p:cNvPr id="14" name="Straight Connector 13"/>
          <p:cNvCxnSpPr/>
          <p:nvPr/>
        </p:nvCxnSpPr>
        <p:spPr>
          <a:xfrm flipH="1" flipV="1">
            <a:off x="6791442" y="3820640"/>
            <a:ext cx="171496" cy="238413"/>
          </a:xfrm>
          <a:prstGeom prst="line">
            <a:avLst/>
          </a:prstGeom>
        </p:spPr>
        <p:style>
          <a:lnRef idx="2">
            <a:schemeClr val="accent1"/>
          </a:lnRef>
          <a:fillRef idx="0">
            <a:schemeClr val="accent1"/>
          </a:fillRef>
          <a:effectRef idx="1">
            <a:schemeClr val="accent1"/>
          </a:effectRef>
          <a:fontRef idx="minor">
            <a:schemeClr val="tx1"/>
          </a:fontRef>
        </p:style>
      </p:cxnSp>
      <p:sp>
        <p:nvSpPr>
          <p:cNvPr id="16" name="AutoShape 9"/>
          <p:cNvSpPr>
            <a:spLocks noChangeAspect="1" noChangeArrowheads="1"/>
          </p:cNvSpPr>
          <p:nvPr/>
        </p:nvSpPr>
        <p:spPr bwMode="auto">
          <a:xfrm rot="16200000">
            <a:off x="6155121" y="4032725"/>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p:sp>
        <p:nvSpPr>
          <p:cNvPr id="18" name="TextBox 17"/>
          <p:cNvSpPr txBox="1"/>
          <p:nvPr/>
        </p:nvSpPr>
        <p:spPr>
          <a:xfrm>
            <a:off x="6245391" y="3167606"/>
            <a:ext cx="788141" cy="326115"/>
          </a:xfrm>
          <a:prstGeom prst="rect">
            <a:avLst/>
          </a:prstGeom>
          <a:noFill/>
        </p:spPr>
        <p:txBody>
          <a:bodyPr wrap="square" rtlCol="0">
            <a:spAutoFit/>
          </a:bodyPr>
          <a:lstStyle/>
          <a:p>
            <a:pPr algn="ctr"/>
            <a:r>
              <a:rPr lang="en-US" sz="1519" dirty="0" err="1">
                <a:solidFill>
                  <a:prstClr val="black"/>
                </a:solidFill>
                <a:latin typeface="Symbol"/>
              </a:rPr>
              <a:t>s</a:t>
            </a:r>
            <a:r>
              <a:rPr lang="en-US" sz="1519" baseline="-25000" dirty="0" err="1">
                <a:solidFill>
                  <a:prstClr val="black"/>
                </a:solidFill>
                <a:latin typeface="Symbol"/>
              </a:rPr>
              <a:t>A</a:t>
            </a:r>
            <a:r>
              <a:rPr lang="en-US" sz="1519" baseline="-25000" dirty="0">
                <a:solidFill>
                  <a:prstClr val="black"/>
                </a:solidFill>
                <a:latin typeface="Symbol"/>
              </a:rPr>
              <a:t>&lt;10</a:t>
            </a:r>
            <a:endParaRPr lang="en-US" sz="1519" baseline="-25000" dirty="0">
              <a:solidFill>
                <a:prstClr val="black"/>
              </a:solidFill>
              <a:latin typeface="Calibri" panose="020F0502020204030204"/>
            </a:endParaRPr>
          </a:p>
        </p:txBody>
      </p:sp>
      <p:cxnSp>
        <p:nvCxnSpPr>
          <p:cNvPr id="19" name="Straight Connector 18"/>
          <p:cNvCxnSpPr>
            <a:endCxn id="18" idx="2"/>
          </p:cNvCxnSpPr>
          <p:nvPr/>
        </p:nvCxnSpPr>
        <p:spPr>
          <a:xfrm flipV="1">
            <a:off x="6639461" y="3493721"/>
            <a:ext cx="1" cy="101353"/>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V="1">
            <a:off x="6648166" y="3097881"/>
            <a:ext cx="1" cy="154796"/>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p:cNvSpPr txBox="1"/>
              <p:nvPr/>
            </p:nvSpPr>
            <p:spPr>
              <a:xfrm>
                <a:off x="1765035" y="4760935"/>
                <a:ext cx="3024674" cy="351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025" i="1">
                              <a:latin typeface="Cambria Math" panose="02040503050406030204" pitchFamily="18" charset="0"/>
                              <a:ea typeface="Cambria Math" charset="0"/>
                              <a:cs typeface="Cambria Math" charset="0"/>
                            </a:rPr>
                          </m:ctrlPr>
                        </m:sSubPr>
                        <m:e>
                          <m:r>
                            <m:rPr>
                              <m:sty m:val="p"/>
                            </m:rPr>
                            <a:rPr lang="el-GR" sz="2025" i="1">
                              <a:latin typeface="Cambria Math" charset="0"/>
                              <a:ea typeface="Cambria Math" charset="0"/>
                              <a:cs typeface="Cambria Math" charset="0"/>
                            </a:rPr>
                            <m:t>Π</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𝐷</m:t>
                          </m:r>
                        </m:sub>
                      </m:sSub>
                      <m:r>
                        <a:rPr lang="en-US" sz="2025" i="1">
                          <a:latin typeface="Cambria Math" charset="0"/>
                          <a:ea typeface="Cambria Math" charset="0"/>
                          <a:cs typeface="Cambria Math" charset="0"/>
                        </a:rPr>
                        <m:t>(</m:t>
                      </m:r>
                      <m:sSub>
                        <m:sSubPr>
                          <m:ctrlPr>
                            <a:rPr lang="en-US" sz="2025" i="1">
                              <a:latin typeface="Cambria Math" panose="02040503050406030204" pitchFamily="18" charset="0"/>
                              <a:ea typeface="Cambria Math" charset="0"/>
                              <a:cs typeface="Cambria Math" charset="0"/>
                            </a:rPr>
                          </m:ctrlPr>
                        </m:sSubPr>
                        <m:e>
                          <m:r>
                            <a:rPr lang="en-US" sz="2025" i="1">
                              <a:latin typeface="Cambria Math" charset="0"/>
                              <a:ea typeface="Cambria Math" charset="0"/>
                              <a:cs typeface="Cambria Math" charset="0"/>
                            </a:rPr>
                            <m:t>𝜎</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&lt;10</m:t>
                          </m:r>
                        </m:sub>
                      </m:sSub>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𝑇</m:t>
                          </m:r>
                          <m:r>
                            <a:rPr lang="en-US" sz="2025" i="1">
                              <a:latin typeface="Cambria Math" charset="0"/>
                              <a:ea typeface="Cambria Math" charset="0"/>
                              <a:cs typeface="Cambria Math" charset="0"/>
                            </a:rPr>
                            <m:t>⋈</m:t>
                          </m:r>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𝑅</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𝑆</m:t>
                              </m:r>
                            </m:e>
                          </m:d>
                        </m:e>
                      </m:d>
                      <m:r>
                        <a:rPr lang="en-US" sz="2025" i="1">
                          <a:latin typeface="Cambria Math" charset="0"/>
                          <a:ea typeface="Cambria Math" charset="0"/>
                          <a:cs typeface="Cambria Math" charset="0"/>
                        </a:rPr>
                        <m:t>)</m:t>
                      </m:r>
                    </m:oMath>
                  </m:oMathPara>
                </a14:m>
                <a:endParaRPr lang="en-US" sz="2025" dirty="0"/>
              </a:p>
            </p:txBody>
          </p:sp>
        </mc:Choice>
        <mc:Fallback xmlns="">
          <p:sp>
            <p:nvSpPr>
              <p:cNvPr id="24" name="TextBox 23"/>
              <p:cNvSpPr txBox="1">
                <a:spLocks noRot="1" noChangeAspect="1" noMove="1" noResize="1" noEditPoints="1" noAdjustHandles="1" noChangeArrowheads="1" noChangeShapeType="1" noTextEdit="1"/>
              </p:cNvSpPr>
              <p:nvPr/>
            </p:nvSpPr>
            <p:spPr>
              <a:xfrm>
                <a:off x="1765035" y="4760935"/>
                <a:ext cx="3024674" cy="351699"/>
              </a:xfrm>
              <a:prstGeom prst="rect">
                <a:avLst/>
              </a:prstGeom>
              <a:blipFill>
                <a:blip r:embed="rId3"/>
                <a:stretch>
                  <a:fillRect l="-837" r="-2092" b="-17241"/>
                </a:stretch>
              </a:blipFill>
            </p:spPr>
            <p:txBody>
              <a:bodyPr/>
              <a:lstStyle/>
              <a:p>
                <a:r>
                  <a:rPr lang="en-US">
                    <a:noFill/>
                  </a:rPr>
                  <a:t> </a:t>
                </a:r>
              </a:p>
            </p:txBody>
          </p:sp>
        </mc:Fallback>
      </mc:AlternateContent>
      <p:sp>
        <p:nvSpPr>
          <p:cNvPr id="27" name="Title 1"/>
          <p:cNvSpPr>
            <a:spLocks noGrp="1"/>
          </p:cNvSpPr>
          <p:nvPr>
            <p:ph type="title"/>
          </p:nvPr>
        </p:nvSpPr>
        <p:spPr/>
        <p:txBody>
          <a:bodyPr/>
          <a:lstStyle/>
          <a:p>
            <a:r>
              <a:rPr lang="en-US" dirty="0"/>
              <a:t>Optimizing RA Plan</a:t>
            </a:r>
          </a:p>
        </p:txBody>
      </p:sp>
      <p:sp>
        <p:nvSpPr>
          <p:cNvPr id="13" name="Slide Number Placeholder 12"/>
          <p:cNvSpPr>
            <a:spLocks noGrp="1"/>
          </p:cNvSpPr>
          <p:nvPr>
            <p:ph type="sldNum" sz="quarter" idx="12"/>
          </p:nvPr>
        </p:nvSpPr>
        <p:spPr/>
        <p:txBody>
          <a:bodyPr/>
          <a:lstStyle/>
          <a:p>
            <a:fld id="{D9689D17-8382-4C64-A239-6A881ADCA618}" type="slidenum">
              <a:rPr lang="en-US" smtClean="0"/>
              <a:t>24</a:t>
            </a:fld>
            <a:endParaRPr lang="en-US"/>
          </a:p>
        </p:txBody>
      </p:sp>
      <p:sp>
        <p:nvSpPr>
          <p:cNvPr id="2" name="Down Arrow 1"/>
          <p:cNvSpPr/>
          <p:nvPr/>
        </p:nvSpPr>
        <p:spPr>
          <a:xfrm>
            <a:off x="2958615" y="4212085"/>
            <a:ext cx="287754" cy="37385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9" name="Down Arrow 28"/>
          <p:cNvSpPr/>
          <p:nvPr/>
        </p:nvSpPr>
        <p:spPr>
          <a:xfrm rot="13977226">
            <a:off x="5052981" y="4287130"/>
            <a:ext cx="287754" cy="656549"/>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8" name="TextBox 27"/>
          <p:cNvSpPr txBox="1"/>
          <p:nvPr/>
        </p:nvSpPr>
        <p:spPr>
          <a:xfrm>
            <a:off x="4414714" y="1735911"/>
            <a:ext cx="2680162" cy="646331"/>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dirty="0">
                <a:latin typeface="+mj-lt"/>
              </a:rPr>
              <a:t>Push down selection on A so it occurs earlier </a:t>
            </a:r>
            <a:endParaRPr lang="en-US" b="1" dirty="0">
              <a:latin typeface="+mj-lt"/>
            </a:endParaRPr>
          </a:p>
        </p:txBody>
      </p:sp>
      <p:sp>
        <p:nvSpPr>
          <p:cNvPr id="3" name="Down Arrow 2"/>
          <p:cNvSpPr/>
          <p:nvPr/>
        </p:nvSpPr>
        <p:spPr>
          <a:xfrm rot="2186508">
            <a:off x="5971017" y="3501251"/>
            <a:ext cx="205168" cy="751998"/>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013"/>
          </a:p>
        </p:txBody>
      </p:sp>
      <p:sp>
        <p:nvSpPr>
          <p:cNvPr id="30" name="Rectangle 35"/>
          <p:cNvSpPr>
            <a:spLocks noChangeArrowheads="1"/>
          </p:cNvSpPr>
          <p:nvPr/>
        </p:nvSpPr>
        <p:spPr bwMode="auto">
          <a:xfrm>
            <a:off x="389407" y="2186906"/>
            <a:ext cx="3378829" cy="1754326"/>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SELECT</a:t>
            </a:r>
            <a:r>
              <a:rPr lang="en-US" sz="2400" dirty="0">
                <a:latin typeface="Times New Roman" panose="02020603050405020304" pitchFamily="18" charset="0"/>
                <a:ea typeface="Menlo" charset="0"/>
                <a:cs typeface="Times New Roman" panose="02020603050405020304" pitchFamily="18" charset="0"/>
              </a:rPr>
              <a:t> R.A,T.D</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FROM</a:t>
            </a:r>
            <a:r>
              <a:rPr lang="en-US" sz="2400" dirty="0">
                <a:solidFill>
                  <a:schemeClr val="accent2"/>
                </a:solidFill>
                <a:latin typeface="Times New Roman" panose="02020603050405020304" pitchFamily="18" charset="0"/>
                <a:ea typeface="Menlo" charset="0"/>
                <a:cs typeface="Times New Roman" panose="02020603050405020304" pitchFamily="18" charset="0"/>
              </a:rPr>
              <a:t> </a:t>
            </a:r>
            <a:r>
              <a:rPr lang="en-US" sz="2400" dirty="0">
                <a:latin typeface="Times New Roman" panose="02020603050405020304" pitchFamily="18" charset="0"/>
                <a:ea typeface="Menlo" charset="0"/>
                <a:cs typeface="Times New Roman" panose="02020603050405020304" pitchFamily="18" charset="0"/>
              </a:rPr>
              <a:t>R,S,T</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WHERE</a:t>
            </a:r>
            <a:r>
              <a:rPr lang="en-US" sz="2400" dirty="0">
                <a:latin typeface="Times New Roman" panose="02020603050405020304" pitchFamily="18" charset="0"/>
                <a:ea typeface="Menlo" charset="0"/>
                <a:cs typeface="Times New Roman" panose="02020603050405020304" pitchFamily="18" charset="0"/>
              </a:rPr>
              <a:t> R.B = S.B</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S.C = T.C</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R.A &lt; 10;</a:t>
            </a:r>
          </a:p>
        </p:txBody>
      </p:sp>
      <p:sp>
        <p:nvSpPr>
          <p:cNvPr id="31" name="Rectangle 35"/>
          <p:cNvSpPr>
            <a:spLocks noChangeArrowheads="1"/>
          </p:cNvSpPr>
          <p:nvPr/>
        </p:nvSpPr>
        <p:spPr bwMode="auto">
          <a:xfrm>
            <a:off x="390753" y="1701612"/>
            <a:ext cx="3045247" cy="369332"/>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000" b="1" dirty="0">
                <a:solidFill>
                  <a:srgbClr val="C00000"/>
                </a:solidFill>
                <a:latin typeface="Times New Roman" panose="02020603050405020304" pitchFamily="18" charset="0"/>
                <a:ea typeface="Menlo" charset="0"/>
                <a:cs typeface="Times New Roman" panose="02020603050405020304" pitchFamily="18" charset="0"/>
              </a:rPr>
              <a:t>R(A,B)  S(B,C)  T(C,D)</a:t>
            </a:r>
          </a:p>
        </p:txBody>
      </p:sp>
    </p:spTree>
    <p:extLst>
      <p:ext uri="{BB962C8B-B14F-4D97-AF65-F5344CB8AC3E}">
        <p14:creationId xmlns:p14="http://schemas.microsoft.com/office/powerpoint/2010/main" val="74636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P spid="30" grpId="0" animBg="1"/>
      <p:bldP spid="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9"/>
          <p:cNvSpPr>
            <a:spLocks noChangeAspect="1" noChangeArrowheads="1"/>
          </p:cNvSpPr>
          <p:nvPr/>
        </p:nvSpPr>
        <p:spPr bwMode="auto">
          <a:xfrm rot="16200000">
            <a:off x="6542541" y="3457695"/>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6" name="TextBox 5"/>
              <p:cNvSpPr txBox="1"/>
              <p:nvPr/>
            </p:nvSpPr>
            <p:spPr>
              <a:xfrm>
                <a:off x="6321803" y="3075615"/>
                <a:ext cx="636241" cy="3453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1575" i="1">
                              <a:latin typeface="Cambria Math" panose="02040503050406030204" pitchFamily="18" charset="0"/>
                              <a:ea typeface="Cambria Math" charset="0"/>
                              <a:cs typeface="Cambria Math" charset="0"/>
                            </a:rPr>
                          </m:ctrlPr>
                        </m:sSubPr>
                        <m:e>
                          <m:r>
                            <m:rPr>
                              <m:sty m:val="p"/>
                            </m:rPr>
                            <a:rPr lang="el-GR" sz="1575" i="1">
                              <a:latin typeface="Cambria Math" charset="0"/>
                              <a:ea typeface="Cambria Math" charset="0"/>
                              <a:cs typeface="Cambria Math" charset="0"/>
                            </a:rPr>
                            <m:t>Π</m:t>
                          </m:r>
                        </m:e>
                        <m:sub>
                          <m:r>
                            <a:rPr lang="en-US" sz="1575" i="1">
                              <a:latin typeface="Cambria Math" charset="0"/>
                              <a:ea typeface="Cambria Math" charset="0"/>
                              <a:cs typeface="Cambria Math" charset="0"/>
                            </a:rPr>
                            <m:t>𝐴</m:t>
                          </m:r>
                          <m:r>
                            <a:rPr lang="en-US" sz="1575" i="1">
                              <a:latin typeface="Cambria Math" charset="0"/>
                              <a:ea typeface="Cambria Math" charset="0"/>
                              <a:cs typeface="Cambria Math" charset="0"/>
                            </a:rPr>
                            <m:t>,</m:t>
                          </m:r>
                          <m:r>
                            <a:rPr lang="en-US" sz="1575" i="1">
                              <a:latin typeface="Cambria Math" charset="0"/>
                              <a:ea typeface="Cambria Math" charset="0"/>
                              <a:cs typeface="Cambria Math" charset="0"/>
                            </a:rPr>
                            <m:t>𝐷</m:t>
                          </m:r>
                        </m:sub>
                      </m:sSub>
                    </m:oMath>
                  </m:oMathPara>
                </a14:m>
                <a:endParaRPr lang="en-US" sz="1519" dirty="0">
                  <a:solidFill>
                    <a:prstClr val="black"/>
                  </a:solidFill>
                  <a:latin typeface="Calibri" panose="020F0502020204030204"/>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21803" y="3075615"/>
                <a:ext cx="636241" cy="345351"/>
              </a:xfrm>
              <a:prstGeom prst="rect">
                <a:avLst/>
              </a:prstGeom>
              <a:blipFill>
                <a:blip r:embed="rId2"/>
                <a:stretch>
                  <a:fillRect/>
                </a:stretch>
              </a:blipFill>
            </p:spPr>
            <p:txBody>
              <a:bodyPr/>
              <a:lstStyle/>
              <a:p>
                <a:r>
                  <a:rPr lang="en-US">
                    <a:noFill/>
                  </a:rPr>
                  <a:t> </a:t>
                </a:r>
              </a:p>
            </p:txBody>
          </p:sp>
        </mc:Fallback>
      </mc:AlternateContent>
      <p:sp>
        <p:nvSpPr>
          <p:cNvPr id="7" name="TextBox 6"/>
          <p:cNvSpPr txBox="1"/>
          <p:nvPr/>
        </p:nvSpPr>
        <p:spPr>
          <a:xfrm>
            <a:off x="5538603" y="4911232"/>
            <a:ext cx="675085" cy="326115"/>
          </a:xfrm>
          <a:prstGeom prst="rect">
            <a:avLst/>
          </a:prstGeom>
          <a:noFill/>
        </p:spPr>
        <p:txBody>
          <a:bodyPr wrap="square" rtlCol="0">
            <a:spAutoFit/>
          </a:bodyPr>
          <a:lstStyle/>
          <a:p>
            <a:pPr algn="ctr"/>
            <a:r>
              <a:rPr lang="en-US" sz="1519" dirty="0">
                <a:solidFill>
                  <a:prstClr val="black"/>
                </a:solidFill>
                <a:latin typeface="Calibri" panose="020F0502020204030204"/>
              </a:rPr>
              <a:t>R(A,B)</a:t>
            </a:r>
          </a:p>
        </p:txBody>
      </p:sp>
      <p:sp>
        <p:nvSpPr>
          <p:cNvPr id="8" name="TextBox 7"/>
          <p:cNvSpPr txBox="1"/>
          <p:nvPr/>
        </p:nvSpPr>
        <p:spPr>
          <a:xfrm>
            <a:off x="6333394" y="4578517"/>
            <a:ext cx="813953" cy="326115"/>
          </a:xfrm>
          <a:prstGeom prst="rect">
            <a:avLst/>
          </a:prstGeom>
          <a:noFill/>
        </p:spPr>
        <p:txBody>
          <a:bodyPr wrap="square" rtlCol="0">
            <a:spAutoFit/>
          </a:bodyPr>
          <a:lstStyle/>
          <a:p>
            <a:pPr algn="ctr"/>
            <a:r>
              <a:rPr lang="en-US" sz="1519" dirty="0">
                <a:solidFill>
                  <a:prstClr val="black"/>
                </a:solidFill>
                <a:latin typeface="Calibri" panose="020F0502020204030204"/>
              </a:rPr>
              <a:t>S(B,C)</a:t>
            </a:r>
          </a:p>
        </p:txBody>
      </p:sp>
      <p:cxnSp>
        <p:nvCxnSpPr>
          <p:cNvPr id="9" name="Straight Connector 8"/>
          <p:cNvCxnSpPr/>
          <p:nvPr/>
        </p:nvCxnSpPr>
        <p:spPr>
          <a:xfrm rot="5400000" flipH="1" flipV="1">
            <a:off x="5852281" y="4328460"/>
            <a:ext cx="292499" cy="2076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16200000" flipV="1">
            <a:off x="6288201" y="4361028"/>
            <a:ext cx="292499" cy="14247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16" idx="1"/>
          </p:cNvCxnSpPr>
          <p:nvPr/>
        </p:nvCxnSpPr>
        <p:spPr>
          <a:xfrm flipV="1">
            <a:off x="6245390" y="3772793"/>
            <a:ext cx="260298" cy="39188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77273" y="4029667"/>
            <a:ext cx="869634" cy="326115"/>
          </a:xfrm>
          <a:prstGeom prst="rect">
            <a:avLst/>
          </a:prstGeom>
          <a:noFill/>
        </p:spPr>
        <p:txBody>
          <a:bodyPr wrap="square" rtlCol="0">
            <a:spAutoFit/>
          </a:bodyPr>
          <a:lstStyle/>
          <a:p>
            <a:pPr algn="ctr"/>
            <a:r>
              <a:rPr lang="en-US" sz="1519" dirty="0">
                <a:solidFill>
                  <a:prstClr val="black"/>
                </a:solidFill>
                <a:latin typeface="Calibri" panose="020F0502020204030204"/>
              </a:rPr>
              <a:t>T(C,D)</a:t>
            </a:r>
          </a:p>
        </p:txBody>
      </p:sp>
      <p:cxnSp>
        <p:nvCxnSpPr>
          <p:cNvPr id="14" name="Straight Connector 13"/>
          <p:cNvCxnSpPr/>
          <p:nvPr/>
        </p:nvCxnSpPr>
        <p:spPr>
          <a:xfrm flipH="1" flipV="1">
            <a:off x="6791442" y="3772793"/>
            <a:ext cx="171496" cy="238413"/>
          </a:xfrm>
          <a:prstGeom prst="line">
            <a:avLst/>
          </a:prstGeom>
        </p:spPr>
        <p:style>
          <a:lnRef idx="2">
            <a:schemeClr val="accent1"/>
          </a:lnRef>
          <a:fillRef idx="0">
            <a:schemeClr val="accent1"/>
          </a:fillRef>
          <a:effectRef idx="1">
            <a:schemeClr val="accent1"/>
          </a:effectRef>
          <a:fontRef idx="minor">
            <a:schemeClr val="tx1"/>
          </a:fontRef>
        </p:style>
      </p:cxnSp>
      <p:sp>
        <p:nvSpPr>
          <p:cNvPr id="16" name="AutoShape 9"/>
          <p:cNvSpPr>
            <a:spLocks noChangeAspect="1" noChangeArrowheads="1"/>
          </p:cNvSpPr>
          <p:nvPr/>
        </p:nvSpPr>
        <p:spPr bwMode="auto">
          <a:xfrm rot="16200000">
            <a:off x="6155121" y="3984878"/>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p:cxnSp>
        <p:nvCxnSpPr>
          <p:cNvPr id="22" name="Straight Connector 21"/>
          <p:cNvCxnSpPr/>
          <p:nvPr/>
        </p:nvCxnSpPr>
        <p:spPr>
          <a:xfrm flipV="1">
            <a:off x="6648629" y="3371419"/>
            <a:ext cx="1" cy="154796"/>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p:cNvSpPr txBox="1"/>
              <p:nvPr/>
            </p:nvSpPr>
            <p:spPr>
              <a:xfrm>
                <a:off x="1765035" y="4713088"/>
                <a:ext cx="3024674" cy="351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025" i="1">
                              <a:latin typeface="Cambria Math" panose="02040503050406030204" pitchFamily="18" charset="0"/>
                              <a:ea typeface="Cambria Math" charset="0"/>
                              <a:cs typeface="Cambria Math" charset="0"/>
                            </a:rPr>
                          </m:ctrlPr>
                        </m:sSubPr>
                        <m:e>
                          <m:r>
                            <m:rPr>
                              <m:sty m:val="p"/>
                            </m:rPr>
                            <a:rPr lang="el-GR" sz="2025" i="1">
                              <a:latin typeface="Cambria Math" charset="0"/>
                              <a:ea typeface="Cambria Math" charset="0"/>
                              <a:cs typeface="Cambria Math" charset="0"/>
                            </a:rPr>
                            <m:t>Π</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𝐷</m:t>
                          </m:r>
                        </m:sub>
                      </m:sSub>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𝑇</m:t>
                          </m:r>
                          <m:r>
                            <a:rPr lang="en-US" sz="2025" i="1">
                              <a:latin typeface="Cambria Math" charset="0"/>
                              <a:ea typeface="Cambria Math" charset="0"/>
                              <a:cs typeface="Cambria Math" charset="0"/>
                            </a:rPr>
                            <m:t>⋈</m:t>
                          </m:r>
                          <m:d>
                            <m:dPr>
                              <m:ctrlPr>
                                <a:rPr lang="en-US" sz="2025" i="1">
                                  <a:latin typeface="Cambria Math" panose="02040503050406030204" pitchFamily="18" charset="0"/>
                                  <a:ea typeface="Cambria Math" charset="0"/>
                                  <a:cs typeface="Cambria Math" charset="0"/>
                                </a:rPr>
                              </m:ctrlPr>
                            </m:dPr>
                            <m:e>
                              <m:sSub>
                                <m:sSubPr>
                                  <m:ctrlPr>
                                    <a:rPr lang="en-US" sz="2025" i="1">
                                      <a:latin typeface="Cambria Math" panose="02040503050406030204" pitchFamily="18" charset="0"/>
                                      <a:ea typeface="Cambria Math" charset="0"/>
                                      <a:cs typeface="Cambria Math" charset="0"/>
                                    </a:rPr>
                                  </m:ctrlPr>
                                </m:sSubPr>
                                <m:e>
                                  <m:r>
                                    <a:rPr lang="en-US" sz="2025" i="1">
                                      <a:latin typeface="Cambria Math" charset="0"/>
                                      <a:ea typeface="Cambria Math" charset="0"/>
                                      <a:cs typeface="Cambria Math" charset="0"/>
                                    </a:rPr>
                                    <m:t>𝜎</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&lt;10</m:t>
                                  </m:r>
                                </m:sub>
                              </m:sSub>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𝑅</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𝑆</m:t>
                              </m:r>
                            </m:e>
                          </m:d>
                        </m:e>
                      </m:d>
                    </m:oMath>
                  </m:oMathPara>
                </a14:m>
                <a:endParaRPr lang="en-US" sz="2025" dirty="0"/>
              </a:p>
            </p:txBody>
          </p:sp>
        </mc:Choice>
        <mc:Fallback xmlns="">
          <p:sp>
            <p:nvSpPr>
              <p:cNvPr id="24" name="TextBox 23"/>
              <p:cNvSpPr txBox="1">
                <a:spLocks noRot="1" noChangeAspect="1" noMove="1" noResize="1" noEditPoints="1" noAdjustHandles="1" noChangeArrowheads="1" noChangeShapeType="1" noTextEdit="1"/>
              </p:cNvSpPr>
              <p:nvPr/>
            </p:nvSpPr>
            <p:spPr>
              <a:xfrm>
                <a:off x="1765035" y="4713088"/>
                <a:ext cx="3024674" cy="351699"/>
              </a:xfrm>
              <a:prstGeom prst="rect">
                <a:avLst/>
              </a:prstGeom>
              <a:blipFill>
                <a:blip r:embed="rId3"/>
                <a:stretch>
                  <a:fillRect l="-837" b="-20690"/>
                </a:stretch>
              </a:blipFill>
            </p:spPr>
            <p:txBody>
              <a:bodyPr/>
              <a:lstStyle/>
              <a:p>
                <a:r>
                  <a:rPr lang="en-US">
                    <a:noFill/>
                  </a:rPr>
                  <a:t> </a:t>
                </a:r>
              </a:p>
            </p:txBody>
          </p:sp>
        </mc:Fallback>
      </mc:AlternateContent>
      <p:sp>
        <p:nvSpPr>
          <p:cNvPr id="27" name="Title 1"/>
          <p:cNvSpPr>
            <a:spLocks noGrp="1"/>
          </p:cNvSpPr>
          <p:nvPr>
            <p:ph type="title"/>
          </p:nvPr>
        </p:nvSpPr>
        <p:spPr/>
        <p:txBody>
          <a:bodyPr/>
          <a:lstStyle/>
          <a:p>
            <a:r>
              <a:rPr lang="en-US" dirty="0"/>
              <a:t>Optimizing RA Plan (</a:t>
            </a:r>
            <a:r>
              <a:rPr lang="en-US" dirty="0" err="1"/>
              <a:t>cont</a:t>
            </a:r>
            <a:r>
              <a:rPr lang="en-US" dirty="0"/>
              <a:t>…)</a:t>
            </a:r>
          </a:p>
        </p:txBody>
      </p:sp>
      <p:sp>
        <p:nvSpPr>
          <p:cNvPr id="4" name="Slide Number Placeholder 3"/>
          <p:cNvSpPr>
            <a:spLocks noGrp="1"/>
          </p:cNvSpPr>
          <p:nvPr>
            <p:ph type="sldNum" sz="quarter" idx="12"/>
          </p:nvPr>
        </p:nvSpPr>
        <p:spPr/>
        <p:txBody>
          <a:bodyPr/>
          <a:lstStyle/>
          <a:p>
            <a:fld id="{D9689D17-8382-4C64-A239-6A881ADCA618}" type="slidenum">
              <a:rPr lang="en-US" smtClean="0"/>
              <a:t>25</a:t>
            </a:fld>
            <a:endParaRPr lang="en-US"/>
          </a:p>
        </p:txBody>
      </p:sp>
      <p:sp>
        <p:nvSpPr>
          <p:cNvPr id="2" name="Down Arrow 1"/>
          <p:cNvSpPr/>
          <p:nvPr/>
        </p:nvSpPr>
        <p:spPr>
          <a:xfrm>
            <a:off x="2958615" y="4164238"/>
            <a:ext cx="287754" cy="37385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9" name="Down Arrow 28"/>
          <p:cNvSpPr/>
          <p:nvPr/>
        </p:nvSpPr>
        <p:spPr>
          <a:xfrm rot="13977226">
            <a:off x="5052981" y="4239283"/>
            <a:ext cx="287754" cy="656549"/>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8" name="TextBox 27"/>
          <p:cNvSpPr txBox="1"/>
          <p:nvPr/>
        </p:nvSpPr>
        <p:spPr>
          <a:xfrm>
            <a:off x="4579110" y="2313201"/>
            <a:ext cx="1564288" cy="1061829"/>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1575" dirty="0">
                <a:latin typeface="+mj-lt"/>
              </a:rPr>
              <a:t>Push down selection on A so </a:t>
            </a:r>
            <a:r>
              <a:rPr lang="en-US" sz="1575">
                <a:latin typeface="+mj-lt"/>
              </a:rPr>
              <a:t>it occurs earlier </a:t>
            </a:r>
            <a:endParaRPr lang="en-US" sz="1575" b="1" dirty="0">
              <a:latin typeface="+mj-lt"/>
            </a:endParaRPr>
          </a:p>
        </p:txBody>
      </p:sp>
      <p:sp>
        <p:nvSpPr>
          <p:cNvPr id="30" name="TextBox 29"/>
          <p:cNvSpPr txBox="1"/>
          <p:nvPr/>
        </p:nvSpPr>
        <p:spPr>
          <a:xfrm>
            <a:off x="5482075" y="4451926"/>
            <a:ext cx="788141" cy="326115"/>
          </a:xfrm>
          <a:prstGeom prst="rect">
            <a:avLst/>
          </a:prstGeom>
          <a:noFill/>
        </p:spPr>
        <p:txBody>
          <a:bodyPr wrap="square" rtlCol="0">
            <a:spAutoFit/>
          </a:bodyPr>
          <a:lstStyle/>
          <a:p>
            <a:pPr algn="ctr"/>
            <a:r>
              <a:rPr lang="en-US" sz="1519" dirty="0" err="1">
                <a:solidFill>
                  <a:prstClr val="black"/>
                </a:solidFill>
                <a:latin typeface="Symbol"/>
              </a:rPr>
              <a:t>s</a:t>
            </a:r>
            <a:r>
              <a:rPr lang="en-US" sz="1519" baseline="-25000" dirty="0" err="1">
                <a:solidFill>
                  <a:prstClr val="black"/>
                </a:solidFill>
                <a:latin typeface="Symbol"/>
              </a:rPr>
              <a:t>A</a:t>
            </a:r>
            <a:r>
              <a:rPr lang="en-US" sz="1519" baseline="-25000" dirty="0">
                <a:solidFill>
                  <a:prstClr val="black"/>
                </a:solidFill>
                <a:latin typeface="Symbol"/>
              </a:rPr>
              <a:t>&lt;10</a:t>
            </a:r>
            <a:endParaRPr lang="en-US" sz="1519" baseline="-25000" dirty="0">
              <a:solidFill>
                <a:prstClr val="black"/>
              </a:solidFill>
              <a:latin typeface="Calibri" panose="020F0502020204030204"/>
            </a:endParaRPr>
          </a:p>
        </p:txBody>
      </p:sp>
      <p:cxnSp>
        <p:nvCxnSpPr>
          <p:cNvPr id="31" name="Straight Connector 30"/>
          <p:cNvCxnSpPr/>
          <p:nvPr/>
        </p:nvCxnSpPr>
        <p:spPr>
          <a:xfrm flipV="1">
            <a:off x="5876146" y="4737580"/>
            <a:ext cx="1" cy="141812"/>
          </a:xfrm>
          <a:prstGeom prst="line">
            <a:avLst/>
          </a:prstGeom>
        </p:spPr>
        <p:style>
          <a:lnRef idx="2">
            <a:schemeClr val="accent1"/>
          </a:lnRef>
          <a:fillRef idx="0">
            <a:schemeClr val="accent1"/>
          </a:fillRef>
          <a:effectRef idx="1">
            <a:schemeClr val="accent1"/>
          </a:effectRef>
          <a:fontRef idx="minor">
            <a:schemeClr val="tx1"/>
          </a:fontRef>
        </p:style>
      </p:cxnSp>
      <p:sp>
        <p:nvSpPr>
          <p:cNvPr id="23" name="Rectangle 35"/>
          <p:cNvSpPr>
            <a:spLocks noChangeArrowheads="1"/>
          </p:cNvSpPr>
          <p:nvPr/>
        </p:nvSpPr>
        <p:spPr bwMode="auto">
          <a:xfrm>
            <a:off x="389407" y="2186906"/>
            <a:ext cx="3378829" cy="1754326"/>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SELECT</a:t>
            </a:r>
            <a:r>
              <a:rPr lang="en-US" sz="2400" dirty="0">
                <a:latin typeface="Times New Roman" panose="02020603050405020304" pitchFamily="18" charset="0"/>
                <a:ea typeface="Menlo" charset="0"/>
                <a:cs typeface="Times New Roman" panose="02020603050405020304" pitchFamily="18" charset="0"/>
              </a:rPr>
              <a:t> R.A,T.D</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FROM</a:t>
            </a:r>
            <a:r>
              <a:rPr lang="en-US" sz="2400" dirty="0">
                <a:solidFill>
                  <a:schemeClr val="accent2"/>
                </a:solidFill>
                <a:latin typeface="Times New Roman" panose="02020603050405020304" pitchFamily="18" charset="0"/>
                <a:ea typeface="Menlo" charset="0"/>
                <a:cs typeface="Times New Roman" panose="02020603050405020304" pitchFamily="18" charset="0"/>
              </a:rPr>
              <a:t> </a:t>
            </a:r>
            <a:r>
              <a:rPr lang="en-US" sz="2400" dirty="0">
                <a:latin typeface="Times New Roman" panose="02020603050405020304" pitchFamily="18" charset="0"/>
                <a:ea typeface="Menlo" charset="0"/>
                <a:cs typeface="Times New Roman" panose="02020603050405020304" pitchFamily="18" charset="0"/>
              </a:rPr>
              <a:t>R,S,T</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WHERE</a:t>
            </a:r>
            <a:r>
              <a:rPr lang="en-US" sz="2400" dirty="0">
                <a:latin typeface="Times New Roman" panose="02020603050405020304" pitchFamily="18" charset="0"/>
                <a:ea typeface="Menlo" charset="0"/>
                <a:cs typeface="Times New Roman" panose="02020603050405020304" pitchFamily="18" charset="0"/>
              </a:rPr>
              <a:t> R.B = S.B</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S.C = T.C</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R.A &lt; 10;</a:t>
            </a:r>
          </a:p>
        </p:txBody>
      </p:sp>
      <p:sp>
        <p:nvSpPr>
          <p:cNvPr id="32" name="Rectangle 35"/>
          <p:cNvSpPr>
            <a:spLocks noChangeArrowheads="1"/>
          </p:cNvSpPr>
          <p:nvPr/>
        </p:nvSpPr>
        <p:spPr bwMode="auto">
          <a:xfrm>
            <a:off x="390753" y="1701612"/>
            <a:ext cx="3045247" cy="369332"/>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000" b="1" dirty="0">
                <a:solidFill>
                  <a:srgbClr val="C00000"/>
                </a:solidFill>
                <a:latin typeface="Times New Roman" panose="02020603050405020304" pitchFamily="18" charset="0"/>
                <a:ea typeface="Menlo" charset="0"/>
                <a:cs typeface="Times New Roman" panose="02020603050405020304" pitchFamily="18" charset="0"/>
              </a:rPr>
              <a:t>R(A,B)  S(B,C)  T(C,D)</a:t>
            </a:r>
          </a:p>
        </p:txBody>
      </p:sp>
    </p:spTree>
    <p:extLst>
      <p:ext uri="{BB962C8B-B14F-4D97-AF65-F5344CB8AC3E}">
        <p14:creationId xmlns:p14="http://schemas.microsoft.com/office/powerpoint/2010/main" val="1008582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9"/>
          <p:cNvSpPr>
            <a:spLocks noChangeAspect="1" noChangeArrowheads="1"/>
          </p:cNvSpPr>
          <p:nvPr/>
        </p:nvSpPr>
        <p:spPr bwMode="auto">
          <a:xfrm rot="16200000">
            <a:off x="6542541" y="3441747"/>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6" name="TextBox 5"/>
              <p:cNvSpPr txBox="1"/>
              <p:nvPr/>
            </p:nvSpPr>
            <p:spPr>
              <a:xfrm>
                <a:off x="6321803" y="3059667"/>
                <a:ext cx="636241" cy="3453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1575" i="1">
                              <a:latin typeface="Cambria Math" panose="02040503050406030204" pitchFamily="18" charset="0"/>
                              <a:ea typeface="Cambria Math" charset="0"/>
                              <a:cs typeface="Cambria Math" charset="0"/>
                            </a:rPr>
                          </m:ctrlPr>
                        </m:sSubPr>
                        <m:e>
                          <m:r>
                            <m:rPr>
                              <m:sty m:val="p"/>
                            </m:rPr>
                            <a:rPr lang="el-GR" sz="1575" i="1">
                              <a:latin typeface="Cambria Math" charset="0"/>
                              <a:ea typeface="Cambria Math" charset="0"/>
                              <a:cs typeface="Cambria Math" charset="0"/>
                            </a:rPr>
                            <m:t>Π</m:t>
                          </m:r>
                        </m:e>
                        <m:sub>
                          <m:r>
                            <a:rPr lang="en-US" sz="1575" i="1">
                              <a:latin typeface="Cambria Math" charset="0"/>
                              <a:ea typeface="Cambria Math" charset="0"/>
                              <a:cs typeface="Cambria Math" charset="0"/>
                            </a:rPr>
                            <m:t>𝐴</m:t>
                          </m:r>
                          <m:r>
                            <a:rPr lang="en-US" sz="1575" i="1">
                              <a:latin typeface="Cambria Math" charset="0"/>
                              <a:ea typeface="Cambria Math" charset="0"/>
                              <a:cs typeface="Cambria Math" charset="0"/>
                            </a:rPr>
                            <m:t>,</m:t>
                          </m:r>
                          <m:r>
                            <a:rPr lang="en-US" sz="1575" i="1">
                              <a:latin typeface="Cambria Math" charset="0"/>
                              <a:ea typeface="Cambria Math" charset="0"/>
                              <a:cs typeface="Cambria Math" charset="0"/>
                            </a:rPr>
                            <m:t>𝐷</m:t>
                          </m:r>
                        </m:sub>
                      </m:sSub>
                    </m:oMath>
                  </m:oMathPara>
                </a14:m>
                <a:endParaRPr lang="en-US" sz="1519" dirty="0">
                  <a:solidFill>
                    <a:prstClr val="black"/>
                  </a:solidFill>
                  <a:latin typeface="Calibri" panose="020F0502020204030204"/>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321803" y="3059667"/>
                <a:ext cx="636241" cy="345351"/>
              </a:xfrm>
              <a:prstGeom prst="rect">
                <a:avLst/>
              </a:prstGeom>
              <a:blipFill>
                <a:blip r:embed="rId2"/>
                <a:stretch>
                  <a:fillRect/>
                </a:stretch>
              </a:blipFill>
            </p:spPr>
            <p:txBody>
              <a:bodyPr/>
              <a:lstStyle/>
              <a:p>
                <a:r>
                  <a:rPr lang="en-US">
                    <a:noFill/>
                  </a:rPr>
                  <a:t> </a:t>
                </a:r>
              </a:p>
            </p:txBody>
          </p:sp>
        </mc:Fallback>
      </mc:AlternateContent>
      <p:sp>
        <p:nvSpPr>
          <p:cNvPr id="7" name="TextBox 6"/>
          <p:cNvSpPr txBox="1"/>
          <p:nvPr/>
        </p:nvSpPr>
        <p:spPr>
          <a:xfrm>
            <a:off x="5538603" y="4895284"/>
            <a:ext cx="675085" cy="326115"/>
          </a:xfrm>
          <a:prstGeom prst="rect">
            <a:avLst/>
          </a:prstGeom>
          <a:noFill/>
        </p:spPr>
        <p:txBody>
          <a:bodyPr wrap="square" rtlCol="0">
            <a:spAutoFit/>
          </a:bodyPr>
          <a:lstStyle/>
          <a:p>
            <a:pPr algn="ctr"/>
            <a:r>
              <a:rPr lang="en-US" sz="1519" dirty="0">
                <a:solidFill>
                  <a:prstClr val="black"/>
                </a:solidFill>
                <a:latin typeface="Calibri" panose="020F0502020204030204"/>
              </a:rPr>
              <a:t>R(A,B)</a:t>
            </a:r>
          </a:p>
        </p:txBody>
      </p:sp>
      <p:sp>
        <p:nvSpPr>
          <p:cNvPr id="8" name="TextBox 7"/>
          <p:cNvSpPr txBox="1"/>
          <p:nvPr/>
        </p:nvSpPr>
        <p:spPr>
          <a:xfrm>
            <a:off x="6333394" y="4562569"/>
            <a:ext cx="971033" cy="326115"/>
          </a:xfrm>
          <a:prstGeom prst="rect">
            <a:avLst/>
          </a:prstGeom>
          <a:noFill/>
        </p:spPr>
        <p:txBody>
          <a:bodyPr wrap="square" rtlCol="0">
            <a:spAutoFit/>
          </a:bodyPr>
          <a:lstStyle/>
          <a:p>
            <a:pPr algn="ctr"/>
            <a:r>
              <a:rPr lang="en-US" sz="1519" dirty="0">
                <a:solidFill>
                  <a:prstClr val="black"/>
                </a:solidFill>
                <a:latin typeface="Calibri" panose="020F0502020204030204"/>
              </a:rPr>
              <a:t>S(B,C)</a:t>
            </a:r>
          </a:p>
        </p:txBody>
      </p:sp>
      <p:cxnSp>
        <p:nvCxnSpPr>
          <p:cNvPr id="9" name="Straight Connector 8"/>
          <p:cNvCxnSpPr/>
          <p:nvPr/>
        </p:nvCxnSpPr>
        <p:spPr>
          <a:xfrm rot="5400000" flipH="1" flipV="1">
            <a:off x="5852281" y="4312512"/>
            <a:ext cx="292499" cy="2076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16200000" flipV="1">
            <a:off x="6288201" y="4345080"/>
            <a:ext cx="292499" cy="14247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16" idx="1"/>
          </p:cNvCxnSpPr>
          <p:nvPr/>
        </p:nvCxnSpPr>
        <p:spPr>
          <a:xfrm flipV="1">
            <a:off x="6245390" y="3756845"/>
            <a:ext cx="260298" cy="39188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77273" y="4013719"/>
            <a:ext cx="850591" cy="326115"/>
          </a:xfrm>
          <a:prstGeom prst="rect">
            <a:avLst/>
          </a:prstGeom>
          <a:noFill/>
        </p:spPr>
        <p:txBody>
          <a:bodyPr wrap="square" rtlCol="0">
            <a:spAutoFit/>
          </a:bodyPr>
          <a:lstStyle/>
          <a:p>
            <a:pPr algn="ctr"/>
            <a:r>
              <a:rPr lang="en-US" sz="1519" dirty="0">
                <a:solidFill>
                  <a:prstClr val="black"/>
                </a:solidFill>
                <a:latin typeface="Calibri" panose="020F0502020204030204"/>
              </a:rPr>
              <a:t>T(C,D)</a:t>
            </a:r>
          </a:p>
        </p:txBody>
      </p:sp>
      <p:cxnSp>
        <p:nvCxnSpPr>
          <p:cNvPr id="14" name="Straight Connector 13"/>
          <p:cNvCxnSpPr/>
          <p:nvPr/>
        </p:nvCxnSpPr>
        <p:spPr>
          <a:xfrm flipH="1" flipV="1">
            <a:off x="6791442" y="3756845"/>
            <a:ext cx="171496" cy="238413"/>
          </a:xfrm>
          <a:prstGeom prst="line">
            <a:avLst/>
          </a:prstGeom>
        </p:spPr>
        <p:style>
          <a:lnRef idx="2">
            <a:schemeClr val="accent1"/>
          </a:lnRef>
          <a:fillRef idx="0">
            <a:schemeClr val="accent1"/>
          </a:fillRef>
          <a:effectRef idx="1">
            <a:schemeClr val="accent1"/>
          </a:effectRef>
          <a:fontRef idx="minor">
            <a:schemeClr val="tx1"/>
          </a:fontRef>
        </p:style>
      </p:cxnSp>
      <p:sp>
        <p:nvSpPr>
          <p:cNvPr id="16" name="AutoShape 9"/>
          <p:cNvSpPr>
            <a:spLocks noChangeAspect="1" noChangeArrowheads="1"/>
          </p:cNvSpPr>
          <p:nvPr/>
        </p:nvSpPr>
        <p:spPr bwMode="auto">
          <a:xfrm rot="16200000">
            <a:off x="6155121" y="3968930"/>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p:cxnSp>
        <p:nvCxnSpPr>
          <p:cNvPr id="22" name="Straight Connector 21"/>
          <p:cNvCxnSpPr/>
          <p:nvPr/>
        </p:nvCxnSpPr>
        <p:spPr>
          <a:xfrm flipV="1">
            <a:off x="6648629" y="3355471"/>
            <a:ext cx="1" cy="154796"/>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p:cNvSpPr txBox="1"/>
              <p:nvPr/>
            </p:nvSpPr>
            <p:spPr>
              <a:xfrm>
                <a:off x="1765035" y="4697140"/>
                <a:ext cx="3024674" cy="3516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025" i="1">
                              <a:latin typeface="Cambria Math" panose="02040503050406030204" pitchFamily="18" charset="0"/>
                              <a:ea typeface="Cambria Math" charset="0"/>
                              <a:cs typeface="Cambria Math" charset="0"/>
                            </a:rPr>
                          </m:ctrlPr>
                        </m:sSubPr>
                        <m:e>
                          <m:r>
                            <m:rPr>
                              <m:sty m:val="p"/>
                            </m:rPr>
                            <a:rPr lang="el-GR" sz="2025" i="1">
                              <a:latin typeface="Cambria Math" charset="0"/>
                              <a:ea typeface="Cambria Math" charset="0"/>
                              <a:cs typeface="Cambria Math" charset="0"/>
                            </a:rPr>
                            <m:t>Π</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𝐷</m:t>
                          </m:r>
                        </m:sub>
                      </m:sSub>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𝑇</m:t>
                          </m:r>
                          <m:r>
                            <a:rPr lang="en-US" sz="2025" i="1">
                              <a:latin typeface="Cambria Math" charset="0"/>
                              <a:ea typeface="Cambria Math" charset="0"/>
                              <a:cs typeface="Cambria Math" charset="0"/>
                            </a:rPr>
                            <m:t>⋈</m:t>
                          </m:r>
                          <m:d>
                            <m:dPr>
                              <m:ctrlPr>
                                <a:rPr lang="en-US" sz="2025" i="1">
                                  <a:latin typeface="Cambria Math" panose="02040503050406030204" pitchFamily="18" charset="0"/>
                                  <a:ea typeface="Cambria Math" charset="0"/>
                                  <a:cs typeface="Cambria Math" charset="0"/>
                                </a:rPr>
                              </m:ctrlPr>
                            </m:dPr>
                            <m:e>
                              <m:sSub>
                                <m:sSubPr>
                                  <m:ctrlPr>
                                    <a:rPr lang="en-US" sz="2025" i="1">
                                      <a:latin typeface="Cambria Math" panose="02040503050406030204" pitchFamily="18" charset="0"/>
                                      <a:ea typeface="Cambria Math" charset="0"/>
                                      <a:cs typeface="Cambria Math" charset="0"/>
                                    </a:rPr>
                                  </m:ctrlPr>
                                </m:sSubPr>
                                <m:e>
                                  <m:r>
                                    <a:rPr lang="en-US" sz="2025" i="1">
                                      <a:latin typeface="Cambria Math" charset="0"/>
                                      <a:ea typeface="Cambria Math" charset="0"/>
                                      <a:cs typeface="Cambria Math" charset="0"/>
                                    </a:rPr>
                                    <m:t>𝜎</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&lt;10</m:t>
                                  </m:r>
                                </m:sub>
                              </m:sSub>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𝑅</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𝑆</m:t>
                              </m:r>
                            </m:e>
                          </m:d>
                        </m:e>
                      </m:d>
                    </m:oMath>
                  </m:oMathPara>
                </a14:m>
                <a:endParaRPr lang="en-US" sz="2025" dirty="0"/>
              </a:p>
            </p:txBody>
          </p:sp>
        </mc:Choice>
        <mc:Fallback xmlns="">
          <p:sp>
            <p:nvSpPr>
              <p:cNvPr id="24" name="TextBox 23"/>
              <p:cNvSpPr txBox="1">
                <a:spLocks noRot="1" noChangeAspect="1" noMove="1" noResize="1" noEditPoints="1" noAdjustHandles="1" noChangeArrowheads="1" noChangeShapeType="1" noTextEdit="1"/>
              </p:cNvSpPr>
              <p:nvPr/>
            </p:nvSpPr>
            <p:spPr>
              <a:xfrm>
                <a:off x="1765035" y="4697140"/>
                <a:ext cx="3024674" cy="351699"/>
              </a:xfrm>
              <a:prstGeom prst="rect">
                <a:avLst/>
              </a:prstGeom>
              <a:blipFill>
                <a:blip r:embed="rId3"/>
                <a:stretch>
                  <a:fillRect l="-837" b="-20690"/>
                </a:stretch>
              </a:blipFill>
            </p:spPr>
            <p:txBody>
              <a:bodyPr/>
              <a:lstStyle/>
              <a:p>
                <a:r>
                  <a:rPr lang="en-US">
                    <a:noFill/>
                  </a:rPr>
                  <a:t> </a:t>
                </a:r>
              </a:p>
            </p:txBody>
          </p:sp>
        </mc:Fallback>
      </mc:AlternateContent>
      <p:sp>
        <p:nvSpPr>
          <p:cNvPr id="27" name="Title 1"/>
          <p:cNvSpPr>
            <a:spLocks noGrp="1"/>
          </p:cNvSpPr>
          <p:nvPr>
            <p:ph type="title"/>
          </p:nvPr>
        </p:nvSpPr>
        <p:spPr/>
        <p:txBody>
          <a:bodyPr/>
          <a:lstStyle/>
          <a:p>
            <a:r>
              <a:rPr lang="en-US" dirty="0"/>
              <a:t>Optimizing RA Plan (</a:t>
            </a:r>
            <a:r>
              <a:rPr lang="en-US" dirty="0" err="1"/>
              <a:t>cont</a:t>
            </a:r>
            <a:r>
              <a:rPr lang="en-US" dirty="0"/>
              <a:t>…)</a:t>
            </a:r>
          </a:p>
        </p:txBody>
      </p:sp>
      <p:sp>
        <p:nvSpPr>
          <p:cNvPr id="13" name="Slide Number Placeholder 12"/>
          <p:cNvSpPr>
            <a:spLocks noGrp="1"/>
          </p:cNvSpPr>
          <p:nvPr>
            <p:ph type="sldNum" sz="quarter" idx="12"/>
          </p:nvPr>
        </p:nvSpPr>
        <p:spPr/>
        <p:txBody>
          <a:bodyPr/>
          <a:lstStyle/>
          <a:p>
            <a:fld id="{D9689D17-8382-4C64-A239-6A881ADCA618}" type="slidenum">
              <a:rPr lang="en-US" smtClean="0"/>
              <a:t>26</a:t>
            </a:fld>
            <a:endParaRPr lang="en-US"/>
          </a:p>
        </p:txBody>
      </p:sp>
      <p:sp>
        <p:nvSpPr>
          <p:cNvPr id="2" name="Down Arrow 1"/>
          <p:cNvSpPr/>
          <p:nvPr/>
        </p:nvSpPr>
        <p:spPr>
          <a:xfrm>
            <a:off x="2958615" y="4148290"/>
            <a:ext cx="287754" cy="37385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9" name="Down Arrow 28"/>
          <p:cNvSpPr/>
          <p:nvPr/>
        </p:nvSpPr>
        <p:spPr>
          <a:xfrm rot="13977226">
            <a:off x="5052981" y="4223335"/>
            <a:ext cx="287754" cy="656549"/>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8" name="TextBox 27"/>
          <p:cNvSpPr txBox="1"/>
          <p:nvPr/>
        </p:nvSpPr>
        <p:spPr>
          <a:xfrm>
            <a:off x="4579110" y="2297253"/>
            <a:ext cx="1564288" cy="830997"/>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1600" dirty="0">
                <a:latin typeface="+mj-lt"/>
              </a:rPr>
              <a:t>Push down projection so it occurs earlier </a:t>
            </a:r>
            <a:endParaRPr lang="en-US" sz="1600" b="1" dirty="0">
              <a:latin typeface="+mj-lt"/>
            </a:endParaRPr>
          </a:p>
        </p:txBody>
      </p:sp>
      <p:sp>
        <p:nvSpPr>
          <p:cNvPr id="3" name="Down Arrow 2"/>
          <p:cNvSpPr/>
          <p:nvPr/>
        </p:nvSpPr>
        <p:spPr>
          <a:xfrm rot="2045029">
            <a:off x="6071286" y="3290234"/>
            <a:ext cx="205168" cy="751998"/>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013"/>
          </a:p>
        </p:txBody>
      </p:sp>
      <p:sp>
        <p:nvSpPr>
          <p:cNvPr id="30" name="TextBox 29"/>
          <p:cNvSpPr txBox="1"/>
          <p:nvPr/>
        </p:nvSpPr>
        <p:spPr>
          <a:xfrm>
            <a:off x="5482075" y="4435978"/>
            <a:ext cx="788141" cy="326115"/>
          </a:xfrm>
          <a:prstGeom prst="rect">
            <a:avLst/>
          </a:prstGeom>
          <a:noFill/>
        </p:spPr>
        <p:txBody>
          <a:bodyPr wrap="square" rtlCol="0">
            <a:spAutoFit/>
          </a:bodyPr>
          <a:lstStyle/>
          <a:p>
            <a:pPr algn="ctr"/>
            <a:r>
              <a:rPr lang="en-US" sz="1519" dirty="0" err="1">
                <a:solidFill>
                  <a:prstClr val="black"/>
                </a:solidFill>
                <a:latin typeface="Symbol"/>
              </a:rPr>
              <a:t>s</a:t>
            </a:r>
            <a:r>
              <a:rPr lang="en-US" sz="1519" baseline="-25000" dirty="0" err="1">
                <a:solidFill>
                  <a:prstClr val="black"/>
                </a:solidFill>
                <a:latin typeface="Symbol"/>
              </a:rPr>
              <a:t>A</a:t>
            </a:r>
            <a:r>
              <a:rPr lang="en-US" sz="1519" baseline="-25000" dirty="0">
                <a:solidFill>
                  <a:prstClr val="black"/>
                </a:solidFill>
                <a:latin typeface="Symbol"/>
              </a:rPr>
              <a:t>&lt;10</a:t>
            </a:r>
            <a:endParaRPr lang="en-US" sz="1519" baseline="-25000" dirty="0">
              <a:solidFill>
                <a:prstClr val="black"/>
              </a:solidFill>
              <a:latin typeface="Calibri" panose="020F0502020204030204"/>
            </a:endParaRPr>
          </a:p>
        </p:txBody>
      </p:sp>
      <p:cxnSp>
        <p:nvCxnSpPr>
          <p:cNvPr id="31" name="Straight Connector 30"/>
          <p:cNvCxnSpPr/>
          <p:nvPr/>
        </p:nvCxnSpPr>
        <p:spPr>
          <a:xfrm flipV="1">
            <a:off x="5876146" y="4721632"/>
            <a:ext cx="1" cy="141812"/>
          </a:xfrm>
          <a:prstGeom prst="line">
            <a:avLst/>
          </a:prstGeom>
        </p:spPr>
        <p:style>
          <a:lnRef idx="2">
            <a:schemeClr val="accent1"/>
          </a:lnRef>
          <a:fillRef idx="0">
            <a:schemeClr val="accent1"/>
          </a:fillRef>
          <a:effectRef idx="1">
            <a:schemeClr val="accent1"/>
          </a:effectRef>
          <a:fontRef idx="minor">
            <a:schemeClr val="tx1"/>
          </a:fontRef>
        </p:style>
      </p:cxnSp>
      <p:sp>
        <p:nvSpPr>
          <p:cNvPr id="32" name="Rectangle 35"/>
          <p:cNvSpPr>
            <a:spLocks noChangeArrowheads="1"/>
          </p:cNvSpPr>
          <p:nvPr/>
        </p:nvSpPr>
        <p:spPr bwMode="auto">
          <a:xfrm>
            <a:off x="389407" y="2186906"/>
            <a:ext cx="3378829" cy="1754326"/>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SELECT</a:t>
            </a:r>
            <a:r>
              <a:rPr lang="en-US" sz="2400" dirty="0">
                <a:latin typeface="Times New Roman" panose="02020603050405020304" pitchFamily="18" charset="0"/>
                <a:ea typeface="Menlo" charset="0"/>
                <a:cs typeface="Times New Roman" panose="02020603050405020304" pitchFamily="18" charset="0"/>
              </a:rPr>
              <a:t> R.A,T.D</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FROM</a:t>
            </a:r>
            <a:r>
              <a:rPr lang="en-US" sz="2400" dirty="0">
                <a:solidFill>
                  <a:schemeClr val="accent2"/>
                </a:solidFill>
                <a:latin typeface="Times New Roman" panose="02020603050405020304" pitchFamily="18" charset="0"/>
                <a:ea typeface="Menlo" charset="0"/>
                <a:cs typeface="Times New Roman" panose="02020603050405020304" pitchFamily="18" charset="0"/>
              </a:rPr>
              <a:t> </a:t>
            </a:r>
            <a:r>
              <a:rPr lang="en-US" sz="2400" dirty="0">
                <a:latin typeface="Times New Roman" panose="02020603050405020304" pitchFamily="18" charset="0"/>
                <a:ea typeface="Menlo" charset="0"/>
                <a:cs typeface="Times New Roman" panose="02020603050405020304" pitchFamily="18" charset="0"/>
              </a:rPr>
              <a:t>R,S,T</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WHERE</a:t>
            </a:r>
            <a:r>
              <a:rPr lang="en-US" sz="2400" dirty="0">
                <a:latin typeface="Times New Roman" panose="02020603050405020304" pitchFamily="18" charset="0"/>
                <a:ea typeface="Menlo" charset="0"/>
                <a:cs typeface="Times New Roman" panose="02020603050405020304" pitchFamily="18" charset="0"/>
              </a:rPr>
              <a:t> R.B = S.B</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S.C = T.C</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R.A &lt; 10;</a:t>
            </a:r>
          </a:p>
        </p:txBody>
      </p:sp>
      <p:sp>
        <p:nvSpPr>
          <p:cNvPr id="33" name="Rectangle 35"/>
          <p:cNvSpPr>
            <a:spLocks noChangeArrowheads="1"/>
          </p:cNvSpPr>
          <p:nvPr/>
        </p:nvSpPr>
        <p:spPr bwMode="auto">
          <a:xfrm>
            <a:off x="390753" y="1701612"/>
            <a:ext cx="3045247" cy="369332"/>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000" b="1" dirty="0">
                <a:solidFill>
                  <a:srgbClr val="C00000"/>
                </a:solidFill>
                <a:latin typeface="Times New Roman" panose="02020603050405020304" pitchFamily="18" charset="0"/>
                <a:ea typeface="Menlo" charset="0"/>
                <a:cs typeface="Times New Roman" panose="02020603050405020304" pitchFamily="18" charset="0"/>
              </a:rPr>
              <a:t>R(A,B)  S(B,C)  T(C,D)</a:t>
            </a:r>
          </a:p>
        </p:txBody>
      </p:sp>
    </p:spTree>
    <p:extLst>
      <p:ext uri="{BB962C8B-B14F-4D97-AF65-F5344CB8AC3E}">
        <p14:creationId xmlns:p14="http://schemas.microsoft.com/office/powerpoint/2010/main" val="383600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P spid="32" grpId="0" animBg="1"/>
      <p:bldP spid="3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9"/>
          <p:cNvSpPr>
            <a:spLocks noChangeAspect="1" noChangeArrowheads="1"/>
          </p:cNvSpPr>
          <p:nvPr/>
        </p:nvSpPr>
        <p:spPr bwMode="auto">
          <a:xfrm rot="16200000">
            <a:off x="6722343" y="3282156"/>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mc:AlternateContent xmlns:mc="http://schemas.openxmlformats.org/markup-compatibility/2006" xmlns:a14="http://schemas.microsoft.com/office/drawing/2010/main">
        <mc:Choice Requires="a14">
          <p:sp>
            <p:nvSpPr>
              <p:cNvPr id="6" name="TextBox 5"/>
              <p:cNvSpPr txBox="1"/>
              <p:nvPr/>
            </p:nvSpPr>
            <p:spPr>
              <a:xfrm>
                <a:off x="6501604" y="2900077"/>
                <a:ext cx="636241" cy="3453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1575" i="1">
                              <a:latin typeface="Cambria Math" panose="02040503050406030204" pitchFamily="18" charset="0"/>
                              <a:ea typeface="Cambria Math" charset="0"/>
                              <a:cs typeface="Cambria Math" charset="0"/>
                            </a:rPr>
                          </m:ctrlPr>
                        </m:sSubPr>
                        <m:e>
                          <m:r>
                            <m:rPr>
                              <m:sty m:val="p"/>
                            </m:rPr>
                            <a:rPr lang="el-GR" sz="1575" i="1">
                              <a:latin typeface="Cambria Math" charset="0"/>
                              <a:ea typeface="Cambria Math" charset="0"/>
                              <a:cs typeface="Cambria Math" charset="0"/>
                            </a:rPr>
                            <m:t>Π</m:t>
                          </m:r>
                        </m:e>
                        <m:sub>
                          <m:r>
                            <a:rPr lang="en-US" sz="1575" i="1">
                              <a:latin typeface="Cambria Math" charset="0"/>
                              <a:ea typeface="Cambria Math" charset="0"/>
                              <a:cs typeface="Cambria Math" charset="0"/>
                            </a:rPr>
                            <m:t>𝐴</m:t>
                          </m:r>
                          <m:r>
                            <a:rPr lang="en-US" sz="1575" i="1">
                              <a:latin typeface="Cambria Math" charset="0"/>
                              <a:ea typeface="Cambria Math" charset="0"/>
                              <a:cs typeface="Cambria Math" charset="0"/>
                            </a:rPr>
                            <m:t>,</m:t>
                          </m:r>
                          <m:r>
                            <a:rPr lang="en-US" sz="1575" i="1">
                              <a:latin typeface="Cambria Math" charset="0"/>
                              <a:ea typeface="Cambria Math" charset="0"/>
                              <a:cs typeface="Cambria Math" charset="0"/>
                            </a:rPr>
                            <m:t>𝐷</m:t>
                          </m:r>
                        </m:sub>
                      </m:sSub>
                    </m:oMath>
                  </m:oMathPara>
                </a14:m>
                <a:endParaRPr lang="en-US" sz="1519" dirty="0">
                  <a:solidFill>
                    <a:prstClr val="black"/>
                  </a:solidFill>
                  <a:latin typeface="Calibri" panose="020F0502020204030204"/>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501604" y="2900077"/>
                <a:ext cx="636241" cy="345351"/>
              </a:xfrm>
              <a:prstGeom prst="rect">
                <a:avLst/>
              </a:prstGeom>
              <a:blipFill>
                <a:blip r:embed="rId3"/>
                <a:stretch>
                  <a:fillRect/>
                </a:stretch>
              </a:blipFill>
            </p:spPr>
            <p:txBody>
              <a:bodyPr/>
              <a:lstStyle/>
              <a:p>
                <a:r>
                  <a:rPr lang="en-US">
                    <a:noFill/>
                  </a:rPr>
                  <a:t> </a:t>
                </a:r>
              </a:p>
            </p:txBody>
          </p:sp>
        </mc:Fallback>
      </mc:AlternateContent>
      <p:sp>
        <p:nvSpPr>
          <p:cNvPr id="7" name="TextBox 6"/>
          <p:cNvSpPr txBox="1"/>
          <p:nvPr/>
        </p:nvSpPr>
        <p:spPr>
          <a:xfrm>
            <a:off x="5669907" y="5161365"/>
            <a:ext cx="675085" cy="326115"/>
          </a:xfrm>
          <a:prstGeom prst="rect">
            <a:avLst/>
          </a:prstGeom>
          <a:noFill/>
        </p:spPr>
        <p:txBody>
          <a:bodyPr wrap="square" rtlCol="0">
            <a:spAutoFit/>
          </a:bodyPr>
          <a:lstStyle/>
          <a:p>
            <a:pPr algn="ctr"/>
            <a:r>
              <a:rPr lang="en-US" sz="1519" dirty="0">
                <a:solidFill>
                  <a:prstClr val="black"/>
                </a:solidFill>
                <a:latin typeface="Calibri" panose="020F0502020204030204"/>
              </a:rPr>
              <a:t>R(A,B)</a:t>
            </a:r>
          </a:p>
        </p:txBody>
      </p:sp>
      <p:sp>
        <p:nvSpPr>
          <p:cNvPr id="8" name="TextBox 7"/>
          <p:cNvSpPr txBox="1"/>
          <p:nvPr/>
        </p:nvSpPr>
        <p:spPr>
          <a:xfrm>
            <a:off x="6464698" y="4828649"/>
            <a:ext cx="807519" cy="326115"/>
          </a:xfrm>
          <a:prstGeom prst="rect">
            <a:avLst/>
          </a:prstGeom>
          <a:noFill/>
        </p:spPr>
        <p:txBody>
          <a:bodyPr wrap="square" rtlCol="0">
            <a:spAutoFit/>
          </a:bodyPr>
          <a:lstStyle/>
          <a:p>
            <a:pPr algn="ctr"/>
            <a:r>
              <a:rPr lang="en-US" sz="1519" dirty="0">
                <a:solidFill>
                  <a:prstClr val="black"/>
                </a:solidFill>
                <a:latin typeface="Calibri" panose="020F0502020204030204"/>
              </a:rPr>
              <a:t>S(B,C)</a:t>
            </a:r>
          </a:p>
        </p:txBody>
      </p:sp>
      <p:cxnSp>
        <p:nvCxnSpPr>
          <p:cNvPr id="9" name="Straight Connector 8"/>
          <p:cNvCxnSpPr/>
          <p:nvPr/>
        </p:nvCxnSpPr>
        <p:spPr>
          <a:xfrm rot="5400000" flipH="1" flipV="1">
            <a:off x="5983586" y="4578592"/>
            <a:ext cx="292499" cy="2076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rot="16200000" flipV="1">
            <a:off x="6419506" y="4611161"/>
            <a:ext cx="292499" cy="14247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6425192" y="3597254"/>
            <a:ext cx="260298" cy="391886"/>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7074" y="3854128"/>
            <a:ext cx="846999" cy="326115"/>
          </a:xfrm>
          <a:prstGeom prst="rect">
            <a:avLst/>
          </a:prstGeom>
          <a:noFill/>
        </p:spPr>
        <p:txBody>
          <a:bodyPr wrap="square" rtlCol="0">
            <a:spAutoFit/>
          </a:bodyPr>
          <a:lstStyle/>
          <a:p>
            <a:pPr algn="ctr"/>
            <a:r>
              <a:rPr lang="en-US" sz="1519" dirty="0">
                <a:solidFill>
                  <a:prstClr val="black"/>
                </a:solidFill>
                <a:latin typeface="Calibri" panose="020F0502020204030204"/>
              </a:rPr>
              <a:t>T(C,D)</a:t>
            </a:r>
          </a:p>
        </p:txBody>
      </p:sp>
      <p:cxnSp>
        <p:nvCxnSpPr>
          <p:cNvPr id="14" name="Straight Connector 13"/>
          <p:cNvCxnSpPr/>
          <p:nvPr/>
        </p:nvCxnSpPr>
        <p:spPr>
          <a:xfrm flipH="1" flipV="1">
            <a:off x="6971244" y="3597254"/>
            <a:ext cx="171496" cy="238413"/>
          </a:xfrm>
          <a:prstGeom prst="line">
            <a:avLst/>
          </a:prstGeom>
        </p:spPr>
        <p:style>
          <a:lnRef idx="2">
            <a:schemeClr val="accent1"/>
          </a:lnRef>
          <a:fillRef idx="0">
            <a:schemeClr val="accent1"/>
          </a:fillRef>
          <a:effectRef idx="1">
            <a:schemeClr val="accent1"/>
          </a:effectRef>
          <a:fontRef idx="minor">
            <a:schemeClr val="tx1"/>
          </a:fontRef>
        </p:style>
      </p:cxnSp>
      <p:sp>
        <p:nvSpPr>
          <p:cNvPr id="16" name="AutoShape 9"/>
          <p:cNvSpPr>
            <a:spLocks noChangeAspect="1" noChangeArrowheads="1"/>
          </p:cNvSpPr>
          <p:nvPr/>
        </p:nvSpPr>
        <p:spPr bwMode="auto">
          <a:xfrm rot="16200000">
            <a:off x="6286425" y="4235010"/>
            <a:ext cx="180541" cy="359602"/>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760">
              <a:solidFill>
                <a:prstClr val="black"/>
              </a:solidFill>
              <a:latin typeface="Calibri" panose="020F0502020204030204"/>
            </a:endParaRPr>
          </a:p>
        </p:txBody>
      </p:sp>
      <p:cxnSp>
        <p:nvCxnSpPr>
          <p:cNvPr id="22" name="Straight Connector 21"/>
          <p:cNvCxnSpPr/>
          <p:nvPr/>
        </p:nvCxnSpPr>
        <p:spPr>
          <a:xfrm flipV="1">
            <a:off x="6828430" y="3195881"/>
            <a:ext cx="1" cy="154796"/>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p:cNvSpPr txBox="1"/>
              <p:nvPr/>
            </p:nvSpPr>
            <p:spPr>
              <a:xfrm>
                <a:off x="1765036" y="4760934"/>
                <a:ext cx="3529364" cy="4663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025" i="1">
                              <a:latin typeface="Cambria Math" panose="02040503050406030204" pitchFamily="18" charset="0"/>
                              <a:ea typeface="Cambria Math" charset="0"/>
                              <a:cs typeface="Cambria Math" charset="0"/>
                            </a:rPr>
                          </m:ctrlPr>
                        </m:sSubPr>
                        <m:e>
                          <m:r>
                            <m:rPr>
                              <m:sty m:val="p"/>
                            </m:rPr>
                            <a:rPr lang="el-GR" sz="2025" i="1">
                              <a:latin typeface="Cambria Math" charset="0"/>
                              <a:ea typeface="Cambria Math" charset="0"/>
                              <a:cs typeface="Cambria Math" charset="0"/>
                            </a:rPr>
                            <m:t>Π</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𝐷</m:t>
                          </m:r>
                        </m:sub>
                      </m:sSub>
                      <m:d>
                        <m:dPr>
                          <m:ctrlPr>
                            <a:rPr lang="en-US" sz="2025" i="1">
                              <a:latin typeface="Cambria Math" panose="02040503050406030204" pitchFamily="18" charset="0"/>
                              <a:ea typeface="Cambria Math" charset="0"/>
                              <a:cs typeface="Cambria Math" charset="0"/>
                            </a:rPr>
                          </m:ctrlPr>
                        </m:dPr>
                        <m:e>
                          <m:r>
                            <a:rPr lang="en-US" sz="2025" i="1">
                              <a:latin typeface="Cambria Math" charset="0"/>
                              <a:ea typeface="Cambria Math" charset="0"/>
                              <a:cs typeface="Cambria Math" charset="0"/>
                            </a:rPr>
                            <m:t>𝑇</m:t>
                          </m:r>
                          <m:r>
                            <a:rPr lang="en-US" sz="2025" i="1">
                              <a:latin typeface="Cambria Math" charset="0"/>
                              <a:ea typeface="Cambria Math" charset="0"/>
                              <a:cs typeface="Cambria Math" charset="0"/>
                            </a:rPr>
                            <m:t>⋈</m:t>
                          </m:r>
                          <m:sSub>
                            <m:sSubPr>
                              <m:ctrlPr>
                                <a:rPr lang="el-GR" sz="2025" i="1">
                                  <a:latin typeface="Cambria Math" panose="02040503050406030204" pitchFamily="18" charset="0"/>
                                  <a:ea typeface="Cambria Math" charset="0"/>
                                  <a:cs typeface="Cambria Math" charset="0"/>
                                </a:rPr>
                              </m:ctrlPr>
                            </m:sSubPr>
                            <m:e>
                              <m:r>
                                <m:rPr>
                                  <m:sty m:val="p"/>
                                </m:rPr>
                                <a:rPr lang="el-GR" sz="2025" i="1">
                                  <a:latin typeface="Cambria Math" charset="0"/>
                                  <a:ea typeface="Cambria Math" charset="0"/>
                                  <a:cs typeface="Cambria Math" charset="0"/>
                                </a:rPr>
                                <m:t>Π</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𝑐</m:t>
                              </m:r>
                            </m:sub>
                          </m:sSub>
                          <m:d>
                            <m:dPr>
                              <m:ctrlPr>
                                <a:rPr lang="en-US" sz="2025" i="1">
                                  <a:latin typeface="Cambria Math" panose="02040503050406030204" pitchFamily="18" charset="0"/>
                                  <a:ea typeface="Cambria Math" charset="0"/>
                                  <a:cs typeface="Cambria Math" charset="0"/>
                                </a:rPr>
                              </m:ctrlPr>
                            </m:dPr>
                            <m:e>
                              <m:sSub>
                                <m:sSubPr>
                                  <m:ctrlPr>
                                    <a:rPr lang="en-US" sz="2025" i="1">
                                      <a:latin typeface="Cambria Math" panose="02040503050406030204" pitchFamily="18" charset="0"/>
                                      <a:ea typeface="Cambria Math" charset="0"/>
                                      <a:cs typeface="Cambria Math" charset="0"/>
                                    </a:rPr>
                                  </m:ctrlPr>
                                </m:sSubPr>
                                <m:e>
                                  <m:r>
                                    <a:rPr lang="en-US" sz="2025" i="1">
                                      <a:latin typeface="Cambria Math" charset="0"/>
                                      <a:ea typeface="Cambria Math" charset="0"/>
                                      <a:cs typeface="Cambria Math" charset="0"/>
                                    </a:rPr>
                                    <m:t>𝜎</m:t>
                                  </m:r>
                                </m:e>
                                <m:sub>
                                  <m:r>
                                    <a:rPr lang="en-US" sz="2025" i="1">
                                      <a:latin typeface="Cambria Math" charset="0"/>
                                      <a:ea typeface="Cambria Math" charset="0"/>
                                      <a:cs typeface="Cambria Math" charset="0"/>
                                    </a:rPr>
                                    <m:t>𝐴</m:t>
                                  </m:r>
                                  <m:r>
                                    <a:rPr lang="en-US" sz="2025" i="1">
                                      <a:latin typeface="Cambria Math" charset="0"/>
                                      <a:ea typeface="Cambria Math" charset="0"/>
                                      <a:cs typeface="Cambria Math" charset="0"/>
                                    </a:rPr>
                                    <m:t>&lt;10</m:t>
                                  </m:r>
                                </m:sub>
                              </m:sSub>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𝑅</m:t>
                              </m:r>
                              <m:r>
                                <a:rPr lang="en-US" sz="2025" i="1">
                                  <a:latin typeface="Cambria Math" charset="0"/>
                                  <a:ea typeface="Cambria Math" charset="0"/>
                                  <a:cs typeface="Cambria Math" charset="0"/>
                                </a:rPr>
                                <m:t>)⋈</m:t>
                              </m:r>
                              <m:r>
                                <a:rPr lang="en-US" sz="2025" i="1">
                                  <a:latin typeface="Cambria Math" charset="0"/>
                                  <a:ea typeface="Cambria Math" charset="0"/>
                                  <a:cs typeface="Cambria Math" charset="0"/>
                                </a:rPr>
                                <m:t>𝑆</m:t>
                              </m:r>
                            </m:e>
                          </m:d>
                        </m:e>
                      </m:d>
                    </m:oMath>
                  </m:oMathPara>
                </a14:m>
                <a:endParaRPr lang="en-US" sz="2025" dirty="0"/>
              </a:p>
            </p:txBody>
          </p:sp>
        </mc:Choice>
        <mc:Fallback xmlns="">
          <p:sp>
            <p:nvSpPr>
              <p:cNvPr id="24" name="TextBox 23"/>
              <p:cNvSpPr txBox="1">
                <a:spLocks noRot="1" noChangeAspect="1" noMove="1" noResize="1" noEditPoints="1" noAdjustHandles="1" noChangeArrowheads="1" noChangeShapeType="1" noTextEdit="1"/>
              </p:cNvSpPr>
              <p:nvPr/>
            </p:nvSpPr>
            <p:spPr>
              <a:xfrm>
                <a:off x="1765036" y="4760934"/>
                <a:ext cx="3529364" cy="466346"/>
              </a:xfrm>
              <a:prstGeom prst="rect">
                <a:avLst/>
              </a:prstGeom>
              <a:blipFill>
                <a:blip r:embed="rId4"/>
                <a:stretch>
                  <a:fillRect l="-717" b="-2632"/>
                </a:stretch>
              </a:blipFill>
            </p:spPr>
            <p:txBody>
              <a:bodyPr/>
              <a:lstStyle/>
              <a:p>
                <a:r>
                  <a:rPr lang="en-US">
                    <a:noFill/>
                  </a:rPr>
                  <a:t> </a:t>
                </a:r>
              </a:p>
            </p:txBody>
          </p:sp>
        </mc:Fallback>
      </mc:AlternateContent>
      <p:sp>
        <p:nvSpPr>
          <p:cNvPr id="27" name="Title 1"/>
          <p:cNvSpPr>
            <a:spLocks noGrp="1"/>
          </p:cNvSpPr>
          <p:nvPr>
            <p:ph type="title"/>
          </p:nvPr>
        </p:nvSpPr>
        <p:spPr/>
        <p:txBody>
          <a:bodyPr/>
          <a:lstStyle/>
          <a:p>
            <a:r>
              <a:rPr lang="en-US" dirty="0"/>
              <a:t>Optimizing RA Plan (</a:t>
            </a:r>
            <a:r>
              <a:rPr lang="en-US" dirty="0" err="1"/>
              <a:t>cont</a:t>
            </a:r>
            <a:r>
              <a:rPr lang="en-US" dirty="0"/>
              <a:t>…)</a:t>
            </a:r>
          </a:p>
        </p:txBody>
      </p:sp>
      <p:sp>
        <p:nvSpPr>
          <p:cNvPr id="4" name="Slide Number Placeholder 3"/>
          <p:cNvSpPr>
            <a:spLocks noGrp="1"/>
          </p:cNvSpPr>
          <p:nvPr>
            <p:ph type="sldNum" sz="quarter" idx="12"/>
          </p:nvPr>
        </p:nvSpPr>
        <p:spPr/>
        <p:txBody>
          <a:bodyPr/>
          <a:lstStyle/>
          <a:p>
            <a:fld id="{D9689D17-8382-4C64-A239-6A881ADCA618}" type="slidenum">
              <a:rPr lang="en-US" smtClean="0"/>
              <a:t>27</a:t>
            </a:fld>
            <a:endParaRPr lang="en-US"/>
          </a:p>
        </p:txBody>
      </p:sp>
      <p:sp>
        <p:nvSpPr>
          <p:cNvPr id="2" name="Down Arrow 1"/>
          <p:cNvSpPr/>
          <p:nvPr/>
        </p:nvSpPr>
        <p:spPr>
          <a:xfrm>
            <a:off x="2958615" y="4212085"/>
            <a:ext cx="287754" cy="37385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9" name="Down Arrow 28"/>
          <p:cNvSpPr/>
          <p:nvPr/>
        </p:nvSpPr>
        <p:spPr>
          <a:xfrm rot="14635620">
            <a:off x="5431580" y="4143223"/>
            <a:ext cx="287754" cy="656549"/>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013"/>
          </a:p>
        </p:txBody>
      </p:sp>
      <p:sp>
        <p:nvSpPr>
          <p:cNvPr id="28" name="TextBox 27"/>
          <p:cNvSpPr txBox="1"/>
          <p:nvPr/>
        </p:nvSpPr>
        <p:spPr>
          <a:xfrm>
            <a:off x="4688634" y="2296458"/>
            <a:ext cx="1564288" cy="577081"/>
          </a:xfrm>
          <a:prstGeom prst="rect">
            <a:avLst/>
          </a:prstGeom>
          <a:solidFill>
            <a:schemeClr val="accent4">
              <a:lumMod val="20000"/>
              <a:lumOff val="80000"/>
            </a:schemeClr>
          </a:solidFill>
          <a:effectLst>
            <a:outerShdw blurRad="50800" dist="12700" dir="2700000" algn="tl" rotWithShape="0">
              <a:prstClr val="black">
                <a:alpha val="40000"/>
              </a:prstClr>
            </a:outerShdw>
          </a:effectLst>
        </p:spPr>
        <p:txBody>
          <a:bodyPr wrap="square" rtlCol="0">
            <a:spAutoFit/>
          </a:bodyPr>
          <a:lstStyle/>
          <a:p>
            <a:r>
              <a:rPr lang="en-US" sz="1575">
                <a:latin typeface="+mj-lt"/>
              </a:rPr>
              <a:t>We eliminate B earlier!</a:t>
            </a:r>
            <a:endParaRPr lang="en-US" sz="1575" b="1" dirty="0">
              <a:latin typeface="+mj-lt"/>
            </a:endParaRPr>
          </a:p>
        </p:txBody>
      </p:sp>
      <p:sp>
        <p:nvSpPr>
          <p:cNvPr id="30" name="TextBox 29"/>
          <p:cNvSpPr txBox="1"/>
          <p:nvPr/>
        </p:nvSpPr>
        <p:spPr>
          <a:xfrm>
            <a:off x="5613379" y="4702059"/>
            <a:ext cx="788141" cy="326115"/>
          </a:xfrm>
          <a:prstGeom prst="rect">
            <a:avLst/>
          </a:prstGeom>
          <a:noFill/>
        </p:spPr>
        <p:txBody>
          <a:bodyPr wrap="square" rtlCol="0">
            <a:spAutoFit/>
          </a:bodyPr>
          <a:lstStyle/>
          <a:p>
            <a:pPr algn="ctr"/>
            <a:r>
              <a:rPr lang="en-US" sz="1519" dirty="0" err="1">
                <a:solidFill>
                  <a:prstClr val="black"/>
                </a:solidFill>
                <a:latin typeface="Symbol"/>
              </a:rPr>
              <a:t>s</a:t>
            </a:r>
            <a:r>
              <a:rPr lang="en-US" sz="1519" baseline="-25000" dirty="0" err="1">
                <a:solidFill>
                  <a:prstClr val="black"/>
                </a:solidFill>
                <a:latin typeface="Symbol"/>
              </a:rPr>
              <a:t>A</a:t>
            </a:r>
            <a:r>
              <a:rPr lang="en-US" sz="1519" baseline="-25000" dirty="0">
                <a:solidFill>
                  <a:prstClr val="black"/>
                </a:solidFill>
                <a:latin typeface="Symbol"/>
              </a:rPr>
              <a:t>&lt;10</a:t>
            </a:r>
            <a:endParaRPr lang="en-US" sz="1519" baseline="-25000" dirty="0">
              <a:solidFill>
                <a:prstClr val="black"/>
              </a:solidFill>
              <a:latin typeface="Calibri" panose="020F0502020204030204"/>
            </a:endParaRPr>
          </a:p>
        </p:txBody>
      </p:sp>
      <p:cxnSp>
        <p:nvCxnSpPr>
          <p:cNvPr id="31" name="Straight Connector 30"/>
          <p:cNvCxnSpPr/>
          <p:nvPr/>
        </p:nvCxnSpPr>
        <p:spPr>
          <a:xfrm flipV="1">
            <a:off x="6007450" y="4987713"/>
            <a:ext cx="1" cy="141812"/>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p:cNvSpPr txBox="1"/>
              <p:nvPr/>
            </p:nvSpPr>
            <p:spPr>
              <a:xfrm>
                <a:off x="6030852" y="3922944"/>
                <a:ext cx="636241" cy="34535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1575" i="1">
                              <a:latin typeface="Cambria Math" panose="02040503050406030204" pitchFamily="18" charset="0"/>
                              <a:ea typeface="Cambria Math" charset="0"/>
                              <a:cs typeface="Cambria Math" charset="0"/>
                            </a:rPr>
                          </m:ctrlPr>
                        </m:sSubPr>
                        <m:e>
                          <m:r>
                            <m:rPr>
                              <m:sty m:val="p"/>
                            </m:rPr>
                            <a:rPr lang="el-GR" sz="1575" i="1">
                              <a:latin typeface="Cambria Math" charset="0"/>
                              <a:ea typeface="Cambria Math" charset="0"/>
                              <a:cs typeface="Cambria Math" charset="0"/>
                            </a:rPr>
                            <m:t>Π</m:t>
                          </m:r>
                        </m:e>
                        <m:sub>
                          <m:r>
                            <a:rPr lang="en-US" sz="1575" i="1">
                              <a:latin typeface="Cambria Math" charset="0"/>
                              <a:ea typeface="Cambria Math" charset="0"/>
                              <a:cs typeface="Cambria Math" charset="0"/>
                            </a:rPr>
                            <m:t>𝐴</m:t>
                          </m:r>
                          <m:r>
                            <a:rPr lang="en-US" sz="1575" i="1">
                              <a:latin typeface="Cambria Math" charset="0"/>
                              <a:ea typeface="Cambria Math" charset="0"/>
                              <a:cs typeface="Cambria Math" charset="0"/>
                            </a:rPr>
                            <m:t>,</m:t>
                          </m:r>
                          <m:r>
                            <a:rPr lang="en-US" sz="1575" i="1">
                              <a:latin typeface="Cambria Math" charset="0"/>
                              <a:ea typeface="Cambria Math" charset="0"/>
                              <a:cs typeface="Cambria Math" charset="0"/>
                            </a:rPr>
                            <m:t>𝐶</m:t>
                          </m:r>
                        </m:sub>
                      </m:sSub>
                    </m:oMath>
                  </m:oMathPara>
                </a14:m>
                <a:endParaRPr lang="en-US" sz="1519" dirty="0">
                  <a:solidFill>
                    <a:prstClr val="black"/>
                  </a:solidFill>
                  <a:latin typeface="Calibri" panose="020F0502020204030204"/>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6030852" y="3922944"/>
                <a:ext cx="636241" cy="345351"/>
              </a:xfrm>
              <a:prstGeom prst="rect">
                <a:avLst/>
              </a:prstGeom>
              <a:blipFill>
                <a:blip r:embed="rId5"/>
                <a:stretch>
                  <a:fillRect/>
                </a:stretch>
              </a:blipFill>
            </p:spPr>
            <p:txBody>
              <a:bodyPr/>
              <a:lstStyle/>
              <a:p>
                <a:r>
                  <a:rPr lang="en-US">
                    <a:noFill/>
                  </a:rPr>
                  <a:t> </a:t>
                </a:r>
              </a:p>
            </p:txBody>
          </p:sp>
        </mc:Fallback>
      </mc:AlternateContent>
      <p:cxnSp>
        <p:nvCxnSpPr>
          <p:cNvPr id="33" name="Straight Connector 32"/>
          <p:cNvCxnSpPr/>
          <p:nvPr/>
        </p:nvCxnSpPr>
        <p:spPr>
          <a:xfrm flipV="1">
            <a:off x="6357678" y="4218748"/>
            <a:ext cx="1" cy="154796"/>
          </a:xfrm>
          <a:prstGeom prst="line">
            <a:avLst/>
          </a:prstGeom>
        </p:spPr>
        <p:style>
          <a:lnRef idx="2">
            <a:schemeClr val="accent1"/>
          </a:lnRef>
          <a:fillRef idx="0">
            <a:schemeClr val="accent1"/>
          </a:fillRef>
          <a:effectRef idx="1">
            <a:schemeClr val="accent1"/>
          </a:effectRef>
          <a:fontRef idx="minor">
            <a:schemeClr val="tx1"/>
          </a:fontRef>
        </p:style>
      </p:cxnSp>
      <p:sp>
        <p:nvSpPr>
          <p:cNvPr id="34" name="Rectangle 35"/>
          <p:cNvSpPr>
            <a:spLocks noChangeArrowheads="1"/>
          </p:cNvSpPr>
          <p:nvPr/>
        </p:nvSpPr>
        <p:spPr bwMode="auto">
          <a:xfrm>
            <a:off x="389407" y="2186906"/>
            <a:ext cx="3378829" cy="1754326"/>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SELECT</a:t>
            </a:r>
            <a:r>
              <a:rPr lang="en-US" sz="2400" dirty="0">
                <a:latin typeface="Times New Roman" panose="02020603050405020304" pitchFamily="18" charset="0"/>
                <a:ea typeface="Menlo" charset="0"/>
                <a:cs typeface="Times New Roman" panose="02020603050405020304" pitchFamily="18" charset="0"/>
              </a:rPr>
              <a:t> R.A,T.D</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FROM</a:t>
            </a:r>
            <a:r>
              <a:rPr lang="en-US" sz="2400" dirty="0">
                <a:solidFill>
                  <a:schemeClr val="accent2"/>
                </a:solidFill>
                <a:latin typeface="Times New Roman" panose="02020603050405020304" pitchFamily="18" charset="0"/>
                <a:ea typeface="Menlo" charset="0"/>
                <a:cs typeface="Times New Roman" panose="02020603050405020304" pitchFamily="18" charset="0"/>
              </a:rPr>
              <a:t> </a:t>
            </a:r>
            <a:r>
              <a:rPr lang="en-US" sz="2400" dirty="0">
                <a:latin typeface="Times New Roman" panose="02020603050405020304" pitchFamily="18" charset="0"/>
                <a:ea typeface="Menlo" charset="0"/>
                <a:cs typeface="Times New Roman" panose="02020603050405020304" pitchFamily="18" charset="0"/>
              </a:rPr>
              <a:t>R,S,T</a:t>
            </a:r>
          </a:p>
          <a:p>
            <a:pPr>
              <a:lnSpc>
                <a:spcPct val="90000"/>
              </a:lnSpc>
              <a:buFontTx/>
              <a:buNone/>
            </a:pPr>
            <a:r>
              <a:rPr lang="en-US" sz="2400" b="1" dirty="0">
                <a:solidFill>
                  <a:srgbClr val="C00000"/>
                </a:solidFill>
                <a:latin typeface="Times New Roman" panose="02020603050405020304" pitchFamily="18" charset="0"/>
                <a:ea typeface="Menlo" charset="0"/>
                <a:cs typeface="Times New Roman" panose="02020603050405020304" pitchFamily="18" charset="0"/>
              </a:rPr>
              <a:t>WHERE</a:t>
            </a:r>
            <a:r>
              <a:rPr lang="en-US" sz="2400" dirty="0">
                <a:latin typeface="Times New Roman" panose="02020603050405020304" pitchFamily="18" charset="0"/>
                <a:ea typeface="Menlo" charset="0"/>
                <a:cs typeface="Times New Roman" panose="02020603050405020304" pitchFamily="18" charset="0"/>
              </a:rPr>
              <a:t> R.B = S.B</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S.C = T.C</a:t>
            </a:r>
          </a:p>
          <a:p>
            <a:pPr>
              <a:lnSpc>
                <a:spcPct val="90000"/>
              </a:lnSpc>
              <a:buFontTx/>
              <a:buNone/>
            </a:pPr>
            <a:r>
              <a:rPr lang="en-US" sz="2400" dirty="0">
                <a:latin typeface="Times New Roman" panose="02020603050405020304" pitchFamily="18" charset="0"/>
                <a:ea typeface="Menlo" charset="0"/>
                <a:cs typeface="Times New Roman" panose="02020603050405020304" pitchFamily="18" charset="0"/>
              </a:rPr>
              <a:t>  AND R.A &lt; 10;</a:t>
            </a:r>
          </a:p>
        </p:txBody>
      </p:sp>
      <p:sp>
        <p:nvSpPr>
          <p:cNvPr id="35" name="Rectangle 35"/>
          <p:cNvSpPr>
            <a:spLocks noChangeArrowheads="1"/>
          </p:cNvSpPr>
          <p:nvPr/>
        </p:nvSpPr>
        <p:spPr bwMode="auto">
          <a:xfrm>
            <a:off x="390753" y="1701612"/>
            <a:ext cx="3045247" cy="369332"/>
          </a:xfrm>
          <a:prstGeom prst="rect">
            <a:avLst/>
          </a:prstGeom>
          <a:solidFill>
            <a:schemeClr val="bg1"/>
          </a:solidFill>
          <a:ln w="9525">
            <a:solidFill>
              <a:schemeClr val="tx1"/>
            </a:solidFill>
            <a:miter lim="800000"/>
            <a:headEnd/>
            <a:tailEnd/>
          </a:ln>
          <a:effectLst>
            <a:outerShdw blurRad="50800" dist="12700" dir="2700000" algn="tl" rotWithShape="0">
              <a:prstClr val="black">
                <a:alpha val="40000"/>
              </a:prstClr>
            </a:outerShdw>
          </a:effectLst>
        </p:spPr>
        <p:txBody>
          <a:bodyPr wrap="square">
            <a:spAutoFit/>
          </a:bodyPr>
          <a:lstStyle/>
          <a:p>
            <a:pPr>
              <a:lnSpc>
                <a:spcPct val="90000"/>
              </a:lnSpc>
              <a:buFontTx/>
              <a:buNone/>
            </a:pPr>
            <a:r>
              <a:rPr lang="en-US" sz="2000" b="1" dirty="0">
                <a:solidFill>
                  <a:srgbClr val="C00000"/>
                </a:solidFill>
                <a:latin typeface="Times New Roman" panose="02020603050405020304" pitchFamily="18" charset="0"/>
                <a:ea typeface="Menlo" charset="0"/>
                <a:cs typeface="Times New Roman" panose="02020603050405020304" pitchFamily="18" charset="0"/>
              </a:rPr>
              <a:t>R(A,B)  S(B,C)  T(C,D)</a:t>
            </a:r>
          </a:p>
        </p:txBody>
      </p:sp>
    </p:spTree>
    <p:extLst>
      <p:ext uri="{BB962C8B-B14F-4D97-AF65-F5344CB8AC3E}">
        <p14:creationId xmlns:p14="http://schemas.microsoft.com/office/powerpoint/2010/main" val="378241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animBg="1"/>
      <p:bldP spid="3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ChangeArrowheads="1"/>
          </p:cNvSpPr>
          <p:nvPr>
            <p:ph type="title"/>
          </p:nvPr>
        </p:nvSpPr>
        <p:spPr/>
        <p:txBody>
          <a:bodyPr/>
          <a:lstStyle/>
          <a:p>
            <a:r>
              <a:rPr lang="en-US"/>
              <a:t>-- Query Optimization: Example …</a:t>
            </a:r>
          </a:p>
        </p:txBody>
      </p:sp>
      <p:sp>
        <p:nvSpPr>
          <p:cNvPr id="1037315" name="Rectangle 3"/>
          <p:cNvSpPr>
            <a:spLocks noGrp="1" noChangeArrowheads="1"/>
          </p:cNvSpPr>
          <p:nvPr>
            <p:ph idx="1"/>
          </p:nvPr>
        </p:nvSpPr>
        <p:spPr>
          <a:xfrm>
            <a:off x="685800" y="2286000"/>
            <a:ext cx="7772400" cy="4114800"/>
          </a:xfrm>
        </p:spPr>
        <p:txBody>
          <a:bodyPr/>
          <a:lstStyle/>
          <a:p>
            <a:r>
              <a:rPr lang="en-US"/>
              <a:t>Query: Find the last name of employees born after 1975 who work on a project named ‘Aquarius’</a:t>
            </a:r>
          </a:p>
          <a:p>
            <a:pPr>
              <a:buFont typeface="Wingdings" pitchFamily="2" charset="2"/>
              <a:buNone/>
            </a:pPr>
            <a:endParaRPr lang="en-US"/>
          </a:p>
          <a:p>
            <a:pPr lvl="1">
              <a:buFont typeface="Wingdings" pitchFamily="2" charset="2"/>
              <a:buNone/>
            </a:pPr>
            <a:r>
              <a:rPr lang="en-US"/>
              <a:t>	</a:t>
            </a:r>
            <a:r>
              <a:rPr lang="en-US" b="1">
                <a:latin typeface="Comic Sans MS" pitchFamily="66" charset="0"/>
              </a:rPr>
              <a:t>SELECT Lname</a:t>
            </a:r>
          </a:p>
          <a:p>
            <a:pPr lvl="1">
              <a:buFont typeface="Wingdings" pitchFamily="2" charset="2"/>
              <a:buNone/>
            </a:pPr>
            <a:r>
              <a:rPr lang="en-US" b="1">
                <a:latin typeface="Comic Sans MS" pitchFamily="66" charset="0"/>
              </a:rPr>
              <a:t>	FROM Employee, Works_on, Project</a:t>
            </a:r>
          </a:p>
          <a:p>
            <a:pPr lvl="1">
              <a:buFont typeface="Wingdings" pitchFamily="2" charset="2"/>
              <a:buNone/>
            </a:pPr>
            <a:r>
              <a:rPr lang="en-US" b="1">
                <a:latin typeface="Comic Sans MS" pitchFamily="66" charset="0"/>
              </a:rPr>
              <a:t>	WHERE Pname = ‘Aquarius’</a:t>
            </a:r>
          </a:p>
          <a:p>
            <a:pPr lvl="1">
              <a:buFont typeface="Wingdings" pitchFamily="2" charset="2"/>
              <a:buNone/>
            </a:pPr>
            <a:r>
              <a:rPr lang="en-US" b="1">
                <a:latin typeface="Comic Sans MS" pitchFamily="66" charset="0"/>
              </a:rPr>
              <a:t>	AND ESSN = SSN</a:t>
            </a:r>
          </a:p>
          <a:p>
            <a:pPr lvl="1">
              <a:buFont typeface="Wingdings" pitchFamily="2" charset="2"/>
              <a:buNone/>
            </a:pPr>
            <a:r>
              <a:rPr lang="en-US" b="1">
                <a:latin typeface="Comic Sans MS" pitchFamily="66" charset="0"/>
              </a:rPr>
              <a:t>	AND Pnumber = PNO</a:t>
            </a:r>
          </a:p>
          <a:p>
            <a:pPr lvl="1">
              <a:buFont typeface="Wingdings" pitchFamily="2" charset="2"/>
              <a:buNone/>
            </a:pPr>
            <a:r>
              <a:rPr lang="en-US" b="1">
                <a:latin typeface="Comic Sans MS" pitchFamily="66" charset="0"/>
              </a:rPr>
              <a:t>	AND Bdate &gt; ‘1975-12-31’</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a:xfrm>
            <a:off x="1143000" y="812800"/>
            <a:ext cx="7793038" cy="419100"/>
          </a:xfrm>
        </p:spPr>
        <p:txBody>
          <a:bodyPr>
            <a:normAutofit fontScale="90000"/>
          </a:bodyPr>
          <a:lstStyle/>
          <a:p>
            <a:r>
              <a:rPr lang="en-US"/>
              <a:t>… -- Query Optimization: Example …</a:t>
            </a:r>
          </a:p>
        </p:txBody>
      </p:sp>
      <p:sp>
        <p:nvSpPr>
          <p:cNvPr id="1038339" name="Oval 3"/>
          <p:cNvSpPr>
            <a:spLocks noChangeArrowheads="1"/>
          </p:cNvSpPr>
          <p:nvPr/>
        </p:nvSpPr>
        <p:spPr bwMode="auto">
          <a:xfrm>
            <a:off x="1676400" y="5943600"/>
            <a:ext cx="1752600" cy="381000"/>
          </a:xfrm>
          <a:prstGeom prst="ellipse">
            <a:avLst/>
          </a:prstGeom>
          <a:noFill/>
          <a:ln w="9525">
            <a:solidFill>
              <a:schemeClr val="tx1"/>
            </a:solidFill>
            <a:round/>
            <a:headEnd/>
            <a:tailEnd/>
          </a:ln>
          <a:effectLst/>
        </p:spPr>
        <p:txBody>
          <a:bodyPr wrap="none" anchor="ctr"/>
          <a:lstStyle/>
          <a:p>
            <a:endParaRPr lang="en-US"/>
          </a:p>
        </p:txBody>
      </p:sp>
      <p:sp>
        <p:nvSpPr>
          <p:cNvPr id="1038340" name="Text Box 4"/>
          <p:cNvSpPr txBox="1">
            <a:spLocks noChangeArrowheads="1"/>
          </p:cNvSpPr>
          <p:nvPr/>
        </p:nvSpPr>
        <p:spPr bwMode="auto">
          <a:xfrm>
            <a:off x="1965325" y="5942013"/>
            <a:ext cx="1163638" cy="366712"/>
          </a:xfrm>
          <a:prstGeom prst="rect">
            <a:avLst/>
          </a:prstGeom>
          <a:noFill/>
          <a:ln w="9525">
            <a:noFill/>
            <a:miter lim="800000"/>
            <a:headEnd/>
            <a:tailEnd/>
          </a:ln>
          <a:effectLst/>
        </p:spPr>
        <p:txBody>
          <a:bodyPr wrap="none">
            <a:spAutoFit/>
          </a:bodyPr>
          <a:lstStyle/>
          <a:p>
            <a:r>
              <a:rPr lang="en-US" sz="1800">
                <a:cs typeface="Arial" charset="0"/>
              </a:rPr>
              <a:t>Employee</a:t>
            </a:r>
          </a:p>
        </p:txBody>
      </p:sp>
      <p:sp>
        <p:nvSpPr>
          <p:cNvPr id="1038341" name="Oval 5"/>
          <p:cNvSpPr>
            <a:spLocks noChangeArrowheads="1"/>
          </p:cNvSpPr>
          <p:nvPr/>
        </p:nvSpPr>
        <p:spPr bwMode="auto">
          <a:xfrm>
            <a:off x="5334000" y="4267200"/>
            <a:ext cx="1524000" cy="533400"/>
          </a:xfrm>
          <a:prstGeom prst="ellipse">
            <a:avLst/>
          </a:prstGeom>
          <a:noFill/>
          <a:ln w="9525">
            <a:solidFill>
              <a:schemeClr val="tx1"/>
            </a:solidFill>
            <a:round/>
            <a:headEnd/>
            <a:tailEnd/>
          </a:ln>
          <a:effectLst/>
        </p:spPr>
        <p:txBody>
          <a:bodyPr wrap="none" anchor="ctr"/>
          <a:lstStyle/>
          <a:p>
            <a:endParaRPr lang="en-US"/>
          </a:p>
        </p:txBody>
      </p:sp>
      <p:sp>
        <p:nvSpPr>
          <p:cNvPr id="1038342" name="Text Box 6"/>
          <p:cNvSpPr txBox="1">
            <a:spLocks noChangeArrowheads="1"/>
          </p:cNvSpPr>
          <p:nvPr/>
        </p:nvSpPr>
        <p:spPr bwMode="auto">
          <a:xfrm>
            <a:off x="5622925" y="4341813"/>
            <a:ext cx="882650" cy="366712"/>
          </a:xfrm>
          <a:prstGeom prst="rect">
            <a:avLst/>
          </a:prstGeom>
          <a:noFill/>
          <a:ln w="9525">
            <a:noFill/>
            <a:miter lim="800000"/>
            <a:headEnd/>
            <a:tailEnd/>
          </a:ln>
          <a:effectLst/>
        </p:spPr>
        <p:txBody>
          <a:bodyPr wrap="none">
            <a:spAutoFit/>
          </a:bodyPr>
          <a:lstStyle/>
          <a:p>
            <a:r>
              <a:rPr lang="en-US" sz="1800">
                <a:cs typeface="Arial" charset="0"/>
              </a:rPr>
              <a:t>Project</a:t>
            </a:r>
          </a:p>
        </p:txBody>
      </p:sp>
      <p:sp>
        <p:nvSpPr>
          <p:cNvPr id="1038343" name="Oval 7"/>
          <p:cNvSpPr>
            <a:spLocks noChangeArrowheads="1"/>
          </p:cNvSpPr>
          <p:nvPr/>
        </p:nvSpPr>
        <p:spPr bwMode="auto">
          <a:xfrm>
            <a:off x="4114800" y="5868988"/>
            <a:ext cx="1752600" cy="457200"/>
          </a:xfrm>
          <a:prstGeom prst="ellipse">
            <a:avLst/>
          </a:prstGeom>
          <a:noFill/>
          <a:ln w="9525">
            <a:solidFill>
              <a:schemeClr val="tx1"/>
            </a:solidFill>
            <a:round/>
            <a:headEnd/>
            <a:tailEnd/>
          </a:ln>
          <a:effectLst/>
        </p:spPr>
        <p:txBody>
          <a:bodyPr wrap="none" anchor="ctr"/>
          <a:lstStyle/>
          <a:p>
            <a:endParaRPr lang="en-US"/>
          </a:p>
        </p:txBody>
      </p:sp>
      <p:sp>
        <p:nvSpPr>
          <p:cNvPr id="1038344" name="Text Box 8"/>
          <p:cNvSpPr txBox="1">
            <a:spLocks noChangeArrowheads="1"/>
          </p:cNvSpPr>
          <p:nvPr/>
        </p:nvSpPr>
        <p:spPr bwMode="auto">
          <a:xfrm>
            <a:off x="4403725" y="5867400"/>
            <a:ext cx="1227138" cy="366713"/>
          </a:xfrm>
          <a:prstGeom prst="rect">
            <a:avLst/>
          </a:prstGeom>
          <a:noFill/>
          <a:ln w="9525">
            <a:noFill/>
            <a:miter lim="800000"/>
            <a:headEnd/>
            <a:tailEnd/>
          </a:ln>
          <a:effectLst/>
        </p:spPr>
        <p:txBody>
          <a:bodyPr wrap="none">
            <a:spAutoFit/>
          </a:bodyPr>
          <a:lstStyle/>
          <a:p>
            <a:r>
              <a:rPr lang="en-US" sz="1800">
                <a:cs typeface="Arial" charset="0"/>
              </a:rPr>
              <a:t>Works_On</a:t>
            </a:r>
          </a:p>
        </p:txBody>
      </p:sp>
      <p:sp>
        <p:nvSpPr>
          <p:cNvPr id="1038345" name="Line 9"/>
          <p:cNvSpPr>
            <a:spLocks noChangeShapeType="1"/>
          </p:cNvSpPr>
          <p:nvPr/>
        </p:nvSpPr>
        <p:spPr bwMode="auto">
          <a:xfrm flipH="1">
            <a:off x="2667000" y="4724400"/>
            <a:ext cx="1143000" cy="1143000"/>
          </a:xfrm>
          <a:prstGeom prst="line">
            <a:avLst/>
          </a:prstGeom>
          <a:noFill/>
          <a:ln w="9525">
            <a:solidFill>
              <a:schemeClr val="tx1"/>
            </a:solidFill>
            <a:round/>
            <a:headEnd/>
            <a:tailEnd/>
          </a:ln>
          <a:effectLst/>
        </p:spPr>
        <p:txBody>
          <a:bodyPr/>
          <a:lstStyle/>
          <a:p>
            <a:endParaRPr lang="en-US"/>
          </a:p>
        </p:txBody>
      </p:sp>
      <p:sp>
        <p:nvSpPr>
          <p:cNvPr id="1038346" name="Line 10"/>
          <p:cNvSpPr>
            <a:spLocks noChangeShapeType="1"/>
          </p:cNvSpPr>
          <p:nvPr/>
        </p:nvSpPr>
        <p:spPr bwMode="auto">
          <a:xfrm>
            <a:off x="3962400" y="4724400"/>
            <a:ext cx="1066800" cy="1143000"/>
          </a:xfrm>
          <a:prstGeom prst="line">
            <a:avLst/>
          </a:prstGeom>
          <a:noFill/>
          <a:ln w="9525">
            <a:solidFill>
              <a:schemeClr val="tx1"/>
            </a:solidFill>
            <a:round/>
            <a:headEnd/>
            <a:tailEnd/>
          </a:ln>
          <a:effectLst/>
        </p:spPr>
        <p:txBody>
          <a:bodyPr/>
          <a:lstStyle/>
          <a:p>
            <a:endParaRPr lang="en-US"/>
          </a:p>
        </p:txBody>
      </p:sp>
      <p:sp>
        <p:nvSpPr>
          <p:cNvPr id="1038347" name="Text Box 11"/>
          <p:cNvSpPr txBox="1">
            <a:spLocks noChangeArrowheads="1"/>
          </p:cNvSpPr>
          <p:nvPr/>
        </p:nvSpPr>
        <p:spPr bwMode="auto">
          <a:xfrm>
            <a:off x="3678238" y="4191000"/>
            <a:ext cx="360362" cy="457200"/>
          </a:xfrm>
          <a:prstGeom prst="rect">
            <a:avLst/>
          </a:prstGeom>
          <a:noFill/>
          <a:ln w="9525">
            <a:noFill/>
            <a:miter lim="800000"/>
            <a:headEnd/>
            <a:tailEnd/>
          </a:ln>
          <a:effectLst/>
        </p:spPr>
        <p:txBody>
          <a:bodyPr wrap="none">
            <a:spAutoFit/>
          </a:bodyPr>
          <a:lstStyle/>
          <a:p>
            <a:r>
              <a:rPr lang="en-US" sz="2400">
                <a:cs typeface="Arial" charset="0"/>
              </a:rPr>
              <a:t>X</a:t>
            </a:r>
          </a:p>
        </p:txBody>
      </p:sp>
      <p:sp>
        <p:nvSpPr>
          <p:cNvPr id="1038348" name="Text Box 12"/>
          <p:cNvSpPr txBox="1">
            <a:spLocks noChangeArrowheads="1"/>
          </p:cNvSpPr>
          <p:nvPr/>
        </p:nvSpPr>
        <p:spPr bwMode="auto">
          <a:xfrm>
            <a:off x="152400" y="2082800"/>
            <a:ext cx="9148763" cy="519113"/>
          </a:xfrm>
          <a:prstGeom prst="rect">
            <a:avLst/>
          </a:prstGeom>
          <a:noFill/>
          <a:ln w="9525">
            <a:noFill/>
            <a:miter lim="800000"/>
            <a:headEnd/>
            <a:tailEnd/>
          </a:ln>
          <a:effectLst/>
        </p:spPr>
        <p:txBody>
          <a:bodyPr wrap="none">
            <a:spAutoFit/>
          </a:bodyPr>
          <a:lstStyle/>
          <a:p>
            <a:r>
              <a:rPr lang="el-GR">
                <a:latin typeface="Comic Sans MS" pitchFamily="66" charset="0"/>
              </a:rPr>
              <a:t>σ</a:t>
            </a:r>
            <a:r>
              <a:rPr lang="en-US" sz="1800">
                <a:latin typeface="Comic Sans MS" pitchFamily="66" charset="0"/>
                <a:cs typeface="Arial" charset="0"/>
              </a:rPr>
              <a:t>Pname=‘Aquirius’ AND P.Number=PNO AND ESSN=SSN AND Bdate=‘Dec-31-1957’</a:t>
            </a:r>
          </a:p>
        </p:txBody>
      </p:sp>
      <p:sp>
        <p:nvSpPr>
          <p:cNvPr id="1038349" name="Text Box 13"/>
          <p:cNvSpPr txBox="1">
            <a:spLocks noChangeArrowheads="1"/>
          </p:cNvSpPr>
          <p:nvPr/>
        </p:nvSpPr>
        <p:spPr bwMode="auto">
          <a:xfrm>
            <a:off x="4800600" y="3048000"/>
            <a:ext cx="496888" cy="457200"/>
          </a:xfrm>
          <a:prstGeom prst="rect">
            <a:avLst/>
          </a:prstGeom>
          <a:noFill/>
          <a:ln w="9525">
            <a:noFill/>
            <a:miter lim="800000"/>
            <a:headEnd/>
            <a:tailEnd/>
          </a:ln>
          <a:effectLst/>
        </p:spPr>
        <p:txBody>
          <a:bodyPr>
            <a:spAutoFit/>
          </a:bodyPr>
          <a:lstStyle/>
          <a:p>
            <a:r>
              <a:rPr lang="el-GR" sz="2400"/>
              <a:t>Χ</a:t>
            </a:r>
          </a:p>
        </p:txBody>
      </p:sp>
      <p:sp>
        <p:nvSpPr>
          <p:cNvPr id="1038350" name="Line 14"/>
          <p:cNvSpPr>
            <a:spLocks noChangeShapeType="1"/>
          </p:cNvSpPr>
          <p:nvPr/>
        </p:nvSpPr>
        <p:spPr bwMode="auto">
          <a:xfrm flipH="1">
            <a:off x="4038600" y="3429000"/>
            <a:ext cx="762000" cy="762000"/>
          </a:xfrm>
          <a:prstGeom prst="line">
            <a:avLst/>
          </a:prstGeom>
          <a:noFill/>
          <a:ln w="9525">
            <a:solidFill>
              <a:schemeClr val="tx1"/>
            </a:solidFill>
            <a:round/>
            <a:headEnd/>
            <a:tailEnd/>
          </a:ln>
          <a:effectLst/>
        </p:spPr>
        <p:txBody>
          <a:bodyPr/>
          <a:lstStyle/>
          <a:p>
            <a:endParaRPr lang="en-US"/>
          </a:p>
        </p:txBody>
      </p:sp>
      <p:sp>
        <p:nvSpPr>
          <p:cNvPr id="1038351" name="Line 15"/>
          <p:cNvSpPr>
            <a:spLocks noChangeShapeType="1"/>
          </p:cNvSpPr>
          <p:nvPr/>
        </p:nvSpPr>
        <p:spPr bwMode="auto">
          <a:xfrm>
            <a:off x="5181600" y="3429000"/>
            <a:ext cx="914400" cy="838200"/>
          </a:xfrm>
          <a:prstGeom prst="line">
            <a:avLst/>
          </a:prstGeom>
          <a:noFill/>
          <a:ln w="9525">
            <a:solidFill>
              <a:schemeClr val="tx1"/>
            </a:solidFill>
            <a:round/>
            <a:headEnd/>
            <a:tailEnd/>
          </a:ln>
          <a:effectLst/>
        </p:spPr>
        <p:txBody>
          <a:bodyPr/>
          <a:lstStyle/>
          <a:p>
            <a:endParaRPr lang="en-US"/>
          </a:p>
        </p:txBody>
      </p:sp>
      <p:sp>
        <p:nvSpPr>
          <p:cNvPr id="1038352" name="Line 16"/>
          <p:cNvSpPr>
            <a:spLocks noChangeShapeType="1"/>
          </p:cNvSpPr>
          <p:nvPr/>
        </p:nvSpPr>
        <p:spPr bwMode="auto">
          <a:xfrm>
            <a:off x="4953000" y="2590800"/>
            <a:ext cx="0" cy="457200"/>
          </a:xfrm>
          <a:prstGeom prst="line">
            <a:avLst/>
          </a:prstGeom>
          <a:noFill/>
          <a:ln w="9525">
            <a:solidFill>
              <a:schemeClr val="tx1"/>
            </a:solidFill>
            <a:round/>
            <a:headEnd/>
            <a:tailEnd/>
          </a:ln>
          <a:effectLst/>
        </p:spPr>
        <p:txBody>
          <a:bodyPr/>
          <a:lstStyle/>
          <a:p>
            <a:endParaRPr lang="en-US"/>
          </a:p>
        </p:txBody>
      </p:sp>
      <p:sp>
        <p:nvSpPr>
          <p:cNvPr id="1038353" name="Line 17"/>
          <p:cNvSpPr>
            <a:spLocks noChangeShapeType="1"/>
          </p:cNvSpPr>
          <p:nvPr/>
        </p:nvSpPr>
        <p:spPr bwMode="auto">
          <a:xfrm>
            <a:off x="4953000" y="1905000"/>
            <a:ext cx="0" cy="304800"/>
          </a:xfrm>
          <a:prstGeom prst="line">
            <a:avLst/>
          </a:prstGeom>
          <a:noFill/>
          <a:ln w="9525">
            <a:solidFill>
              <a:schemeClr val="tx1"/>
            </a:solidFill>
            <a:round/>
            <a:headEnd/>
            <a:tailEnd/>
          </a:ln>
          <a:effectLst/>
        </p:spPr>
        <p:txBody>
          <a:bodyPr/>
          <a:lstStyle/>
          <a:p>
            <a:endParaRPr lang="en-US"/>
          </a:p>
        </p:txBody>
      </p:sp>
      <p:sp>
        <p:nvSpPr>
          <p:cNvPr id="1038354" name="Text Box 18"/>
          <p:cNvSpPr txBox="1">
            <a:spLocks noChangeArrowheads="1"/>
          </p:cNvSpPr>
          <p:nvPr/>
        </p:nvSpPr>
        <p:spPr bwMode="auto">
          <a:xfrm>
            <a:off x="4572000" y="1404938"/>
            <a:ext cx="1150938" cy="519112"/>
          </a:xfrm>
          <a:prstGeom prst="rect">
            <a:avLst/>
          </a:prstGeom>
          <a:noFill/>
          <a:ln w="9525">
            <a:noFill/>
            <a:miter lim="800000"/>
            <a:headEnd/>
            <a:tailEnd/>
          </a:ln>
          <a:effectLst/>
        </p:spPr>
        <p:txBody>
          <a:bodyPr wrap="none">
            <a:spAutoFit/>
          </a:bodyPr>
          <a:lstStyle/>
          <a:p>
            <a:r>
              <a:rPr lang="en-US">
                <a:cs typeface="Arial" charset="0"/>
              </a:rPr>
              <a:t>∏</a:t>
            </a:r>
            <a:r>
              <a:rPr lang="en-US" sz="1800">
                <a:cs typeface="Arial" charset="0"/>
              </a:rPr>
              <a:t>Lname</a:t>
            </a:r>
          </a:p>
        </p:txBody>
      </p:sp>
      <p:sp>
        <p:nvSpPr>
          <p:cNvPr id="1038355" name="Text Box 19"/>
          <p:cNvSpPr txBox="1">
            <a:spLocks noChangeArrowheads="1"/>
          </p:cNvSpPr>
          <p:nvPr/>
        </p:nvSpPr>
        <p:spPr bwMode="auto">
          <a:xfrm>
            <a:off x="355600" y="3917950"/>
            <a:ext cx="1930400" cy="641350"/>
          </a:xfrm>
          <a:prstGeom prst="rect">
            <a:avLst/>
          </a:prstGeom>
          <a:noFill/>
          <a:ln w="9525">
            <a:noFill/>
            <a:miter lim="800000"/>
            <a:headEnd/>
            <a:tailEnd/>
          </a:ln>
          <a:effectLst/>
        </p:spPr>
        <p:txBody>
          <a:bodyPr wrap="none">
            <a:spAutoFit/>
          </a:bodyPr>
          <a:lstStyle/>
          <a:p>
            <a:r>
              <a:rPr lang="en-US" sz="1800">
                <a:cs typeface="Arial" charset="0"/>
              </a:rPr>
              <a:t> Initial Canonical </a:t>
            </a:r>
          </a:p>
          <a:p>
            <a:r>
              <a:rPr lang="en-US" sz="1800">
                <a:cs typeface="Arial" charset="0"/>
              </a:rPr>
              <a:t>Query Tree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8" name="Rectangle 2"/>
          <p:cNvSpPr>
            <a:spLocks noGrp="1" noChangeArrowheads="1"/>
          </p:cNvSpPr>
          <p:nvPr>
            <p:ph type="title"/>
          </p:nvPr>
        </p:nvSpPr>
        <p:spPr>
          <a:xfrm>
            <a:off x="1143000" y="812800"/>
            <a:ext cx="7793038" cy="419100"/>
          </a:xfrm>
        </p:spPr>
        <p:txBody>
          <a:bodyPr>
            <a:normAutofit fontScale="90000"/>
          </a:bodyPr>
          <a:lstStyle/>
          <a:p>
            <a:r>
              <a:rPr lang="en-US"/>
              <a:t>… -- Query Optimization: Example …</a:t>
            </a:r>
          </a:p>
        </p:txBody>
      </p:sp>
      <p:sp>
        <p:nvSpPr>
          <p:cNvPr id="1043459" name="Oval 3"/>
          <p:cNvSpPr>
            <a:spLocks noChangeArrowheads="1"/>
          </p:cNvSpPr>
          <p:nvPr/>
        </p:nvSpPr>
        <p:spPr bwMode="auto">
          <a:xfrm>
            <a:off x="1676400" y="5943600"/>
            <a:ext cx="1752600" cy="381000"/>
          </a:xfrm>
          <a:prstGeom prst="ellipse">
            <a:avLst/>
          </a:prstGeom>
          <a:noFill/>
          <a:ln w="9525">
            <a:solidFill>
              <a:schemeClr val="tx1"/>
            </a:solidFill>
            <a:round/>
            <a:headEnd/>
            <a:tailEnd/>
          </a:ln>
          <a:effectLst/>
        </p:spPr>
        <p:txBody>
          <a:bodyPr wrap="none" anchor="ctr"/>
          <a:lstStyle/>
          <a:p>
            <a:endParaRPr lang="en-US"/>
          </a:p>
        </p:txBody>
      </p:sp>
      <p:sp>
        <p:nvSpPr>
          <p:cNvPr id="1043460" name="Text Box 4"/>
          <p:cNvSpPr txBox="1">
            <a:spLocks noChangeArrowheads="1"/>
          </p:cNvSpPr>
          <p:nvPr/>
        </p:nvSpPr>
        <p:spPr bwMode="auto">
          <a:xfrm>
            <a:off x="1965325" y="5942013"/>
            <a:ext cx="1163638" cy="366712"/>
          </a:xfrm>
          <a:prstGeom prst="rect">
            <a:avLst/>
          </a:prstGeom>
          <a:noFill/>
          <a:ln w="9525">
            <a:noFill/>
            <a:miter lim="800000"/>
            <a:headEnd/>
            <a:tailEnd/>
          </a:ln>
          <a:effectLst/>
        </p:spPr>
        <p:txBody>
          <a:bodyPr wrap="none">
            <a:spAutoFit/>
          </a:bodyPr>
          <a:lstStyle/>
          <a:p>
            <a:r>
              <a:rPr lang="en-US" sz="1800">
                <a:cs typeface="Arial" charset="0"/>
              </a:rPr>
              <a:t>Employee</a:t>
            </a:r>
          </a:p>
        </p:txBody>
      </p:sp>
      <p:sp>
        <p:nvSpPr>
          <p:cNvPr id="1043461" name="Oval 5"/>
          <p:cNvSpPr>
            <a:spLocks noChangeArrowheads="1"/>
          </p:cNvSpPr>
          <p:nvPr/>
        </p:nvSpPr>
        <p:spPr bwMode="auto">
          <a:xfrm>
            <a:off x="5867400" y="4419600"/>
            <a:ext cx="1524000" cy="533400"/>
          </a:xfrm>
          <a:prstGeom prst="ellipse">
            <a:avLst/>
          </a:prstGeom>
          <a:noFill/>
          <a:ln w="9525">
            <a:solidFill>
              <a:schemeClr val="tx1"/>
            </a:solidFill>
            <a:round/>
            <a:headEnd/>
            <a:tailEnd/>
          </a:ln>
          <a:effectLst/>
        </p:spPr>
        <p:txBody>
          <a:bodyPr wrap="none" anchor="ctr"/>
          <a:lstStyle/>
          <a:p>
            <a:endParaRPr lang="en-US"/>
          </a:p>
        </p:txBody>
      </p:sp>
      <p:sp>
        <p:nvSpPr>
          <p:cNvPr id="1043462" name="Text Box 6"/>
          <p:cNvSpPr txBox="1">
            <a:spLocks noChangeArrowheads="1"/>
          </p:cNvSpPr>
          <p:nvPr/>
        </p:nvSpPr>
        <p:spPr bwMode="auto">
          <a:xfrm>
            <a:off x="6156325" y="4494213"/>
            <a:ext cx="882650" cy="366712"/>
          </a:xfrm>
          <a:prstGeom prst="rect">
            <a:avLst/>
          </a:prstGeom>
          <a:noFill/>
          <a:ln w="9525">
            <a:noFill/>
            <a:miter lim="800000"/>
            <a:headEnd/>
            <a:tailEnd/>
          </a:ln>
          <a:effectLst/>
        </p:spPr>
        <p:txBody>
          <a:bodyPr wrap="none">
            <a:spAutoFit/>
          </a:bodyPr>
          <a:lstStyle/>
          <a:p>
            <a:r>
              <a:rPr lang="en-US" sz="1800">
                <a:cs typeface="Arial" charset="0"/>
              </a:rPr>
              <a:t>Project</a:t>
            </a:r>
          </a:p>
        </p:txBody>
      </p:sp>
      <p:sp>
        <p:nvSpPr>
          <p:cNvPr id="1043463" name="Oval 7"/>
          <p:cNvSpPr>
            <a:spLocks noChangeArrowheads="1"/>
          </p:cNvSpPr>
          <p:nvPr/>
        </p:nvSpPr>
        <p:spPr bwMode="auto">
          <a:xfrm>
            <a:off x="4267200" y="5181600"/>
            <a:ext cx="1752600" cy="457200"/>
          </a:xfrm>
          <a:prstGeom prst="ellipse">
            <a:avLst/>
          </a:prstGeom>
          <a:noFill/>
          <a:ln w="9525">
            <a:solidFill>
              <a:schemeClr val="tx1"/>
            </a:solidFill>
            <a:round/>
            <a:headEnd/>
            <a:tailEnd/>
          </a:ln>
          <a:effectLst/>
        </p:spPr>
        <p:txBody>
          <a:bodyPr wrap="none" anchor="ctr"/>
          <a:lstStyle/>
          <a:p>
            <a:endParaRPr lang="en-US"/>
          </a:p>
        </p:txBody>
      </p:sp>
      <p:sp>
        <p:nvSpPr>
          <p:cNvPr id="1043464" name="Text Box 8"/>
          <p:cNvSpPr txBox="1">
            <a:spLocks noChangeArrowheads="1"/>
          </p:cNvSpPr>
          <p:nvPr/>
        </p:nvSpPr>
        <p:spPr bwMode="auto">
          <a:xfrm>
            <a:off x="4556125" y="5194300"/>
            <a:ext cx="1227138" cy="366713"/>
          </a:xfrm>
          <a:prstGeom prst="rect">
            <a:avLst/>
          </a:prstGeom>
          <a:noFill/>
          <a:ln w="9525">
            <a:noFill/>
            <a:miter lim="800000"/>
            <a:headEnd/>
            <a:tailEnd/>
          </a:ln>
          <a:effectLst/>
        </p:spPr>
        <p:txBody>
          <a:bodyPr wrap="none">
            <a:spAutoFit/>
          </a:bodyPr>
          <a:lstStyle/>
          <a:p>
            <a:r>
              <a:rPr lang="en-US" sz="1800">
                <a:cs typeface="Arial" charset="0"/>
              </a:rPr>
              <a:t>Works_On</a:t>
            </a:r>
          </a:p>
        </p:txBody>
      </p:sp>
      <p:sp>
        <p:nvSpPr>
          <p:cNvPr id="1043465" name="Line 9"/>
          <p:cNvSpPr>
            <a:spLocks noChangeShapeType="1"/>
          </p:cNvSpPr>
          <p:nvPr/>
        </p:nvSpPr>
        <p:spPr bwMode="auto">
          <a:xfrm flipH="1">
            <a:off x="2743200" y="4724400"/>
            <a:ext cx="1066800" cy="381000"/>
          </a:xfrm>
          <a:prstGeom prst="line">
            <a:avLst/>
          </a:prstGeom>
          <a:noFill/>
          <a:ln w="9525">
            <a:solidFill>
              <a:schemeClr val="tx1"/>
            </a:solidFill>
            <a:round/>
            <a:headEnd/>
            <a:tailEnd/>
          </a:ln>
          <a:effectLst/>
        </p:spPr>
        <p:txBody>
          <a:bodyPr/>
          <a:lstStyle/>
          <a:p>
            <a:endParaRPr lang="en-US"/>
          </a:p>
        </p:txBody>
      </p:sp>
      <p:sp>
        <p:nvSpPr>
          <p:cNvPr id="1043466" name="Line 10"/>
          <p:cNvSpPr>
            <a:spLocks noChangeShapeType="1"/>
          </p:cNvSpPr>
          <p:nvPr/>
        </p:nvSpPr>
        <p:spPr bwMode="auto">
          <a:xfrm>
            <a:off x="3962400" y="4724400"/>
            <a:ext cx="1066800" cy="457200"/>
          </a:xfrm>
          <a:prstGeom prst="line">
            <a:avLst/>
          </a:prstGeom>
          <a:noFill/>
          <a:ln w="9525">
            <a:solidFill>
              <a:schemeClr val="tx1"/>
            </a:solidFill>
            <a:round/>
            <a:headEnd/>
            <a:tailEnd/>
          </a:ln>
          <a:effectLst/>
        </p:spPr>
        <p:txBody>
          <a:bodyPr/>
          <a:lstStyle/>
          <a:p>
            <a:endParaRPr lang="en-US"/>
          </a:p>
        </p:txBody>
      </p:sp>
      <p:sp>
        <p:nvSpPr>
          <p:cNvPr id="1043467" name="Text Box 11"/>
          <p:cNvSpPr txBox="1">
            <a:spLocks noChangeArrowheads="1"/>
          </p:cNvSpPr>
          <p:nvPr/>
        </p:nvSpPr>
        <p:spPr bwMode="auto">
          <a:xfrm>
            <a:off x="3678238" y="4343400"/>
            <a:ext cx="360362" cy="457200"/>
          </a:xfrm>
          <a:prstGeom prst="rect">
            <a:avLst/>
          </a:prstGeom>
          <a:noFill/>
          <a:ln w="9525">
            <a:noFill/>
            <a:miter lim="800000"/>
            <a:headEnd/>
            <a:tailEnd/>
          </a:ln>
          <a:effectLst/>
        </p:spPr>
        <p:txBody>
          <a:bodyPr wrap="none">
            <a:spAutoFit/>
          </a:bodyPr>
          <a:lstStyle/>
          <a:p>
            <a:r>
              <a:rPr lang="en-US" sz="2400">
                <a:cs typeface="Arial" charset="0"/>
              </a:rPr>
              <a:t>X</a:t>
            </a:r>
          </a:p>
        </p:txBody>
      </p:sp>
      <p:sp>
        <p:nvSpPr>
          <p:cNvPr id="1043468" name="Text Box 12"/>
          <p:cNvSpPr txBox="1">
            <a:spLocks noChangeArrowheads="1"/>
          </p:cNvSpPr>
          <p:nvPr/>
        </p:nvSpPr>
        <p:spPr bwMode="auto">
          <a:xfrm>
            <a:off x="4175125" y="2082800"/>
            <a:ext cx="1898650" cy="519113"/>
          </a:xfrm>
          <a:prstGeom prst="rect">
            <a:avLst/>
          </a:prstGeom>
          <a:noFill/>
          <a:ln w="9525">
            <a:noFill/>
            <a:miter lim="800000"/>
            <a:headEnd/>
            <a:tailEnd/>
          </a:ln>
          <a:effectLst/>
        </p:spPr>
        <p:txBody>
          <a:bodyPr wrap="none">
            <a:spAutoFit/>
          </a:bodyPr>
          <a:lstStyle/>
          <a:p>
            <a:r>
              <a:rPr lang="el-GR"/>
              <a:t>σ</a:t>
            </a:r>
            <a:r>
              <a:rPr lang="en-US" sz="1800">
                <a:cs typeface="Arial" charset="0"/>
              </a:rPr>
              <a:t>Pnumber=PNO</a:t>
            </a:r>
          </a:p>
        </p:txBody>
      </p:sp>
      <p:sp>
        <p:nvSpPr>
          <p:cNvPr id="1043469" name="Text Box 13"/>
          <p:cNvSpPr txBox="1">
            <a:spLocks noChangeArrowheads="1"/>
          </p:cNvSpPr>
          <p:nvPr/>
        </p:nvSpPr>
        <p:spPr bwMode="auto">
          <a:xfrm>
            <a:off x="4800600" y="2819400"/>
            <a:ext cx="496888" cy="457200"/>
          </a:xfrm>
          <a:prstGeom prst="rect">
            <a:avLst/>
          </a:prstGeom>
          <a:noFill/>
          <a:ln w="9525">
            <a:noFill/>
            <a:miter lim="800000"/>
            <a:headEnd/>
            <a:tailEnd/>
          </a:ln>
          <a:effectLst/>
        </p:spPr>
        <p:txBody>
          <a:bodyPr>
            <a:spAutoFit/>
          </a:bodyPr>
          <a:lstStyle/>
          <a:p>
            <a:r>
              <a:rPr lang="el-GR" sz="2400"/>
              <a:t>Χ</a:t>
            </a:r>
          </a:p>
        </p:txBody>
      </p:sp>
      <p:sp>
        <p:nvSpPr>
          <p:cNvPr id="1043470" name="Line 14"/>
          <p:cNvSpPr>
            <a:spLocks noChangeShapeType="1"/>
          </p:cNvSpPr>
          <p:nvPr/>
        </p:nvSpPr>
        <p:spPr bwMode="auto">
          <a:xfrm flipH="1">
            <a:off x="3886200" y="3200400"/>
            <a:ext cx="914400" cy="457200"/>
          </a:xfrm>
          <a:prstGeom prst="line">
            <a:avLst/>
          </a:prstGeom>
          <a:noFill/>
          <a:ln w="9525">
            <a:solidFill>
              <a:schemeClr val="tx1"/>
            </a:solidFill>
            <a:round/>
            <a:headEnd/>
            <a:tailEnd/>
          </a:ln>
          <a:effectLst/>
        </p:spPr>
        <p:txBody>
          <a:bodyPr/>
          <a:lstStyle/>
          <a:p>
            <a:endParaRPr lang="en-US"/>
          </a:p>
        </p:txBody>
      </p:sp>
      <p:sp>
        <p:nvSpPr>
          <p:cNvPr id="1043471" name="Line 15"/>
          <p:cNvSpPr>
            <a:spLocks noChangeShapeType="1"/>
          </p:cNvSpPr>
          <p:nvPr/>
        </p:nvSpPr>
        <p:spPr bwMode="auto">
          <a:xfrm>
            <a:off x="5105400" y="3200400"/>
            <a:ext cx="914400" cy="381000"/>
          </a:xfrm>
          <a:prstGeom prst="line">
            <a:avLst/>
          </a:prstGeom>
          <a:noFill/>
          <a:ln w="9525">
            <a:solidFill>
              <a:schemeClr val="tx1"/>
            </a:solidFill>
            <a:round/>
            <a:headEnd/>
            <a:tailEnd/>
          </a:ln>
          <a:effectLst/>
        </p:spPr>
        <p:txBody>
          <a:bodyPr/>
          <a:lstStyle/>
          <a:p>
            <a:endParaRPr lang="en-US"/>
          </a:p>
        </p:txBody>
      </p:sp>
      <p:sp>
        <p:nvSpPr>
          <p:cNvPr id="1043472" name="Line 16"/>
          <p:cNvSpPr>
            <a:spLocks noChangeShapeType="1"/>
          </p:cNvSpPr>
          <p:nvPr/>
        </p:nvSpPr>
        <p:spPr bwMode="auto">
          <a:xfrm>
            <a:off x="4953000" y="2590800"/>
            <a:ext cx="0" cy="304800"/>
          </a:xfrm>
          <a:prstGeom prst="line">
            <a:avLst/>
          </a:prstGeom>
          <a:noFill/>
          <a:ln w="9525">
            <a:solidFill>
              <a:schemeClr val="tx1"/>
            </a:solidFill>
            <a:round/>
            <a:headEnd/>
            <a:tailEnd/>
          </a:ln>
          <a:effectLst/>
        </p:spPr>
        <p:txBody>
          <a:bodyPr/>
          <a:lstStyle/>
          <a:p>
            <a:endParaRPr lang="en-US"/>
          </a:p>
        </p:txBody>
      </p:sp>
      <p:sp>
        <p:nvSpPr>
          <p:cNvPr id="1043473" name="Line 17"/>
          <p:cNvSpPr>
            <a:spLocks noChangeShapeType="1"/>
          </p:cNvSpPr>
          <p:nvPr/>
        </p:nvSpPr>
        <p:spPr bwMode="auto">
          <a:xfrm>
            <a:off x="4953000" y="1905000"/>
            <a:ext cx="0" cy="304800"/>
          </a:xfrm>
          <a:prstGeom prst="line">
            <a:avLst/>
          </a:prstGeom>
          <a:noFill/>
          <a:ln w="9525">
            <a:solidFill>
              <a:schemeClr val="tx1"/>
            </a:solidFill>
            <a:round/>
            <a:headEnd/>
            <a:tailEnd/>
          </a:ln>
          <a:effectLst/>
        </p:spPr>
        <p:txBody>
          <a:bodyPr/>
          <a:lstStyle/>
          <a:p>
            <a:endParaRPr lang="en-US"/>
          </a:p>
        </p:txBody>
      </p:sp>
      <p:sp>
        <p:nvSpPr>
          <p:cNvPr id="1043474" name="Text Box 18"/>
          <p:cNvSpPr txBox="1">
            <a:spLocks noChangeArrowheads="1"/>
          </p:cNvSpPr>
          <p:nvPr/>
        </p:nvSpPr>
        <p:spPr bwMode="auto">
          <a:xfrm>
            <a:off x="4572000" y="1404938"/>
            <a:ext cx="1150938" cy="519112"/>
          </a:xfrm>
          <a:prstGeom prst="rect">
            <a:avLst/>
          </a:prstGeom>
          <a:noFill/>
          <a:ln w="9525">
            <a:noFill/>
            <a:miter lim="800000"/>
            <a:headEnd/>
            <a:tailEnd/>
          </a:ln>
          <a:effectLst/>
        </p:spPr>
        <p:txBody>
          <a:bodyPr wrap="none">
            <a:spAutoFit/>
          </a:bodyPr>
          <a:lstStyle/>
          <a:p>
            <a:r>
              <a:rPr lang="en-US">
                <a:cs typeface="Arial" charset="0"/>
              </a:rPr>
              <a:t>∏</a:t>
            </a:r>
            <a:r>
              <a:rPr lang="en-US" sz="1800">
                <a:cs typeface="Arial" charset="0"/>
              </a:rPr>
              <a:t>Lname</a:t>
            </a:r>
          </a:p>
        </p:txBody>
      </p:sp>
      <p:sp>
        <p:nvSpPr>
          <p:cNvPr id="1043476" name="Text Box 20"/>
          <p:cNvSpPr txBox="1">
            <a:spLocks noChangeArrowheads="1"/>
          </p:cNvSpPr>
          <p:nvPr/>
        </p:nvSpPr>
        <p:spPr bwMode="auto">
          <a:xfrm>
            <a:off x="2997200" y="3505200"/>
            <a:ext cx="1498600" cy="519113"/>
          </a:xfrm>
          <a:prstGeom prst="rect">
            <a:avLst/>
          </a:prstGeom>
          <a:noFill/>
          <a:ln w="9525">
            <a:noFill/>
            <a:miter lim="800000"/>
            <a:headEnd/>
            <a:tailEnd/>
          </a:ln>
          <a:effectLst/>
        </p:spPr>
        <p:txBody>
          <a:bodyPr wrap="none">
            <a:spAutoFit/>
          </a:bodyPr>
          <a:lstStyle/>
          <a:p>
            <a:r>
              <a:rPr lang="el-GR"/>
              <a:t>σ</a:t>
            </a:r>
            <a:r>
              <a:rPr lang="en-US" sz="1800">
                <a:cs typeface="Arial" charset="0"/>
              </a:rPr>
              <a:t>ESSN=SSN</a:t>
            </a:r>
          </a:p>
        </p:txBody>
      </p:sp>
      <p:sp>
        <p:nvSpPr>
          <p:cNvPr id="1043477" name="Line 21"/>
          <p:cNvSpPr>
            <a:spLocks noChangeShapeType="1"/>
          </p:cNvSpPr>
          <p:nvPr/>
        </p:nvSpPr>
        <p:spPr bwMode="auto">
          <a:xfrm>
            <a:off x="3810000" y="3962400"/>
            <a:ext cx="0" cy="457200"/>
          </a:xfrm>
          <a:prstGeom prst="line">
            <a:avLst/>
          </a:prstGeom>
          <a:noFill/>
          <a:ln w="9525">
            <a:solidFill>
              <a:schemeClr val="tx1"/>
            </a:solidFill>
            <a:miter lim="800000"/>
            <a:headEnd/>
            <a:tailEnd/>
          </a:ln>
          <a:effectLst/>
        </p:spPr>
        <p:txBody>
          <a:bodyPr wrap="none"/>
          <a:lstStyle/>
          <a:p>
            <a:endParaRPr lang="en-US"/>
          </a:p>
        </p:txBody>
      </p:sp>
      <p:sp>
        <p:nvSpPr>
          <p:cNvPr id="1043478" name="Text Box 22"/>
          <p:cNvSpPr txBox="1">
            <a:spLocks noChangeArrowheads="1"/>
          </p:cNvSpPr>
          <p:nvPr/>
        </p:nvSpPr>
        <p:spPr bwMode="auto">
          <a:xfrm>
            <a:off x="1371600" y="4953000"/>
            <a:ext cx="2428875" cy="519113"/>
          </a:xfrm>
          <a:prstGeom prst="rect">
            <a:avLst/>
          </a:prstGeom>
          <a:noFill/>
          <a:ln w="9525">
            <a:noFill/>
            <a:miter lim="800000"/>
            <a:headEnd/>
            <a:tailEnd/>
          </a:ln>
          <a:effectLst/>
        </p:spPr>
        <p:txBody>
          <a:bodyPr wrap="none">
            <a:spAutoFit/>
          </a:bodyPr>
          <a:lstStyle/>
          <a:p>
            <a:r>
              <a:rPr lang="el-GR"/>
              <a:t>σ</a:t>
            </a:r>
            <a:r>
              <a:rPr lang="en-US" sz="1800">
                <a:cs typeface="Arial" charset="0"/>
              </a:rPr>
              <a:t>BDate&gt;‘1957-12-13’</a:t>
            </a:r>
          </a:p>
        </p:txBody>
      </p:sp>
      <p:sp>
        <p:nvSpPr>
          <p:cNvPr id="1043479" name="Line 23"/>
          <p:cNvSpPr>
            <a:spLocks noChangeShapeType="1"/>
          </p:cNvSpPr>
          <p:nvPr/>
        </p:nvSpPr>
        <p:spPr bwMode="auto">
          <a:xfrm>
            <a:off x="2590800" y="5486400"/>
            <a:ext cx="0" cy="457200"/>
          </a:xfrm>
          <a:prstGeom prst="line">
            <a:avLst/>
          </a:prstGeom>
          <a:noFill/>
          <a:ln w="9525">
            <a:solidFill>
              <a:schemeClr val="tx1"/>
            </a:solidFill>
            <a:miter lim="800000"/>
            <a:headEnd/>
            <a:tailEnd/>
          </a:ln>
          <a:effectLst/>
        </p:spPr>
        <p:txBody>
          <a:bodyPr wrap="none"/>
          <a:lstStyle/>
          <a:p>
            <a:endParaRPr lang="en-US"/>
          </a:p>
        </p:txBody>
      </p:sp>
      <p:sp>
        <p:nvSpPr>
          <p:cNvPr id="1043480" name="Text Box 24"/>
          <p:cNvSpPr txBox="1">
            <a:spLocks noChangeArrowheads="1"/>
          </p:cNvSpPr>
          <p:nvPr/>
        </p:nvSpPr>
        <p:spPr bwMode="auto">
          <a:xfrm>
            <a:off x="5588000" y="3443288"/>
            <a:ext cx="2212975" cy="519112"/>
          </a:xfrm>
          <a:prstGeom prst="rect">
            <a:avLst/>
          </a:prstGeom>
          <a:noFill/>
          <a:ln w="9525">
            <a:noFill/>
            <a:miter lim="800000"/>
            <a:headEnd/>
            <a:tailEnd/>
          </a:ln>
          <a:effectLst/>
        </p:spPr>
        <p:txBody>
          <a:bodyPr wrap="none">
            <a:spAutoFit/>
          </a:bodyPr>
          <a:lstStyle/>
          <a:p>
            <a:r>
              <a:rPr lang="el-GR"/>
              <a:t>σ</a:t>
            </a:r>
            <a:r>
              <a:rPr lang="en-US" sz="1800">
                <a:cs typeface="Arial" charset="0"/>
              </a:rPr>
              <a:t>Pname=‘Aquarius’</a:t>
            </a:r>
          </a:p>
        </p:txBody>
      </p:sp>
      <p:sp>
        <p:nvSpPr>
          <p:cNvPr id="1043481" name="Line 25"/>
          <p:cNvSpPr>
            <a:spLocks noChangeShapeType="1"/>
          </p:cNvSpPr>
          <p:nvPr/>
        </p:nvSpPr>
        <p:spPr bwMode="auto">
          <a:xfrm>
            <a:off x="6629400" y="3886200"/>
            <a:ext cx="0" cy="533400"/>
          </a:xfrm>
          <a:prstGeom prst="line">
            <a:avLst/>
          </a:prstGeom>
          <a:noFill/>
          <a:ln w="9525">
            <a:solidFill>
              <a:schemeClr val="tx1"/>
            </a:solidFill>
            <a:miter lim="800000"/>
            <a:headEnd/>
            <a:tailEnd/>
          </a:ln>
          <a:effectLst/>
        </p:spPr>
        <p:txBody>
          <a:bodyPr wrap="none"/>
          <a:lstStyle/>
          <a:p>
            <a:endParaRPr lang="en-US"/>
          </a:p>
        </p:txBody>
      </p:sp>
      <p:sp>
        <p:nvSpPr>
          <p:cNvPr id="1043482" name="Text Box 26"/>
          <p:cNvSpPr txBox="1">
            <a:spLocks noChangeArrowheads="1"/>
          </p:cNvSpPr>
          <p:nvPr/>
        </p:nvSpPr>
        <p:spPr bwMode="auto">
          <a:xfrm>
            <a:off x="517525" y="2165350"/>
            <a:ext cx="2363788" cy="366713"/>
          </a:xfrm>
          <a:prstGeom prst="rect">
            <a:avLst/>
          </a:prstGeom>
          <a:noFill/>
          <a:ln w="9525">
            <a:noFill/>
            <a:miter lim="800000"/>
            <a:headEnd/>
            <a:tailEnd/>
          </a:ln>
          <a:effectLst/>
        </p:spPr>
        <p:txBody>
          <a:bodyPr wrap="none">
            <a:spAutoFit/>
          </a:bodyPr>
          <a:lstStyle/>
          <a:p>
            <a:r>
              <a:rPr lang="en-US" sz="1800">
                <a:solidFill>
                  <a:schemeClr val="hlink"/>
                </a:solidFill>
              </a:rPr>
              <a:t>Moving SELECT down</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6" name="Rectangle 2"/>
          <p:cNvSpPr>
            <a:spLocks noGrp="1" noChangeArrowheads="1"/>
          </p:cNvSpPr>
          <p:nvPr>
            <p:ph type="title"/>
          </p:nvPr>
        </p:nvSpPr>
        <p:spPr>
          <a:xfrm>
            <a:off x="1143000" y="812800"/>
            <a:ext cx="7793038" cy="419100"/>
          </a:xfrm>
        </p:spPr>
        <p:txBody>
          <a:bodyPr>
            <a:normAutofit fontScale="90000"/>
          </a:bodyPr>
          <a:lstStyle/>
          <a:p>
            <a:r>
              <a:rPr lang="en-US"/>
              <a:t>… -- Query Optimization: Example …</a:t>
            </a:r>
          </a:p>
        </p:txBody>
      </p:sp>
      <p:sp>
        <p:nvSpPr>
          <p:cNvPr id="1045507" name="Oval 3"/>
          <p:cNvSpPr>
            <a:spLocks noChangeArrowheads="1"/>
          </p:cNvSpPr>
          <p:nvPr/>
        </p:nvSpPr>
        <p:spPr bwMode="auto">
          <a:xfrm>
            <a:off x="5562600" y="4419600"/>
            <a:ext cx="1752600" cy="381000"/>
          </a:xfrm>
          <a:prstGeom prst="ellipse">
            <a:avLst/>
          </a:prstGeom>
          <a:noFill/>
          <a:ln w="9525">
            <a:solidFill>
              <a:schemeClr val="tx1"/>
            </a:solidFill>
            <a:round/>
            <a:headEnd/>
            <a:tailEnd/>
          </a:ln>
          <a:effectLst/>
        </p:spPr>
        <p:txBody>
          <a:bodyPr wrap="none" anchor="ctr"/>
          <a:lstStyle/>
          <a:p>
            <a:endParaRPr lang="en-US"/>
          </a:p>
        </p:txBody>
      </p:sp>
      <p:sp>
        <p:nvSpPr>
          <p:cNvPr id="1045508" name="Text Box 4"/>
          <p:cNvSpPr txBox="1">
            <a:spLocks noChangeArrowheads="1"/>
          </p:cNvSpPr>
          <p:nvPr/>
        </p:nvSpPr>
        <p:spPr bwMode="auto">
          <a:xfrm>
            <a:off x="5851525" y="4418013"/>
            <a:ext cx="1163638" cy="366712"/>
          </a:xfrm>
          <a:prstGeom prst="rect">
            <a:avLst/>
          </a:prstGeom>
          <a:noFill/>
          <a:ln w="9525">
            <a:noFill/>
            <a:miter lim="800000"/>
            <a:headEnd/>
            <a:tailEnd/>
          </a:ln>
          <a:effectLst/>
        </p:spPr>
        <p:txBody>
          <a:bodyPr wrap="none">
            <a:spAutoFit/>
          </a:bodyPr>
          <a:lstStyle/>
          <a:p>
            <a:r>
              <a:rPr lang="en-US" sz="1800">
                <a:cs typeface="Arial" charset="0"/>
              </a:rPr>
              <a:t>Employee</a:t>
            </a:r>
          </a:p>
        </p:txBody>
      </p:sp>
      <p:sp>
        <p:nvSpPr>
          <p:cNvPr id="1045509" name="Oval 5"/>
          <p:cNvSpPr>
            <a:spLocks noChangeArrowheads="1"/>
          </p:cNvSpPr>
          <p:nvPr/>
        </p:nvSpPr>
        <p:spPr bwMode="auto">
          <a:xfrm>
            <a:off x="1981200" y="5791200"/>
            <a:ext cx="1524000" cy="533400"/>
          </a:xfrm>
          <a:prstGeom prst="ellipse">
            <a:avLst/>
          </a:prstGeom>
          <a:noFill/>
          <a:ln w="9525">
            <a:solidFill>
              <a:schemeClr val="tx1"/>
            </a:solidFill>
            <a:round/>
            <a:headEnd/>
            <a:tailEnd/>
          </a:ln>
          <a:effectLst/>
        </p:spPr>
        <p:txBody>
          <a:bodyPr wrap="none" anchor="ctr"/>
          <a:lstStyle/>
          <a:p>
            <a:endParaRPr lang="en-US"/>
          </a:p>
        </p:txBody>
      </p:sp>
      <p:sp>
        <p:nvSpPr>
          <p:cNvPr id="1045510" name="Text Box 6"/>
          <p:cNvSpPr txBox="1">
            <a:spLocks noChangeArrowheads="1"/>
          </p:cNvSpPr>
          <p:nvPr/>
        </p:nvSpPr>
        <p:spPr bwMode="auto">
          <a:xfrm>
            <a:off x="2270125" y="5865813"/>
            <a:ext cx="882650" cy="366712"/>
          </a:xfrm>
          <a:prstGeom prst="rect">
            <a:avLst/>
          </a:prstGeom>
          <a:noFill/>
          <a:ln w="9525">
            <a:noFill/>
            <a:miter lim="800000"/>
            <a:headEnd/>
            <a:tailEnd/>
          </a:ln>
          <a:effectLst/>
        </p:spPr>
        <p:txBody>
          <a:bodyPr wrap="none">
            <a:spAutoFit/>
          </a:bodyPr>
          <a:lstStyle/>
          <a:p>
            <a:r>
              <a:rPr lang="en-US" sz="1800">
                <a:cs typeface="Arial" charset="0"/>
              </a:rPr>
              <a:t>Project</a:t>
            </a:r>
          </a:p>
        </p:txBody>
      </p:sp>
      <p:sp>
        <p:nvSpPr>
          <p:cNvPr id="1045511" name="Oval 7"/>
          <p:cNvSpPr>
            <a:spLocks noChangeArrowheads="1"/>
          </p:cNvSpPr>
          <p:nvPr/>
        </p:nvSpPr>
        <p:spPr bwMode="auto">
          <a:xfrm>
            <a:off x="4267200" y="5181600"/>
            <a:ext cx="1752600" cy="457200"/>
          </a:xfrm>
          <a:prstGeom prst="ellipse">
            <a:avLst/>
          </a:prstGeom>
          <a:noFill/>
          <a:ln w="9525">
            <a:solidFill>
              <a:schemeClr val="tx1"/>
            </a:solidFill>
            <a:round/>
            <a:headEnd/>
            <a:tailEnd/>
          </a:ln>
          <a:effectLst/>
        </p:spPr>
        <p:txBody>
          <a:bodyPr wrap="none" anchor="ctr"/>
          <a:lstStyle/>
          <a:p>
            <a:endParaRPr lang="en-US"/>
          </a:p>
        </p:txBody>
      </p:sp>
      <p:sp>
        <p:nvSpPr>
          <p:cNvPr id="1045512" name="Text Box 8"/>
          <p:cNvSpPr txBox="1">
            <a:spLocks noChangeArrowheads="1"/>
          </p:cNvSpPr>
          <p:nvPr/>
        </p:nvSpPr>
        <p:spPr bwMode="auto">
          <a:xfrm>
            <a:off x="4556125" y="5194300"/>
            <a:ext cx="1227138" cy="366713"/>
          </a:xfrm>
          <a:prstGeom prst="rect">
            <a:avLst/>
          </a:prstGeom>
          <a:noFill/>
          <a:ln w="9525">
            <a:noFill/>
            <a:miter lim="800000"/>
            <a:headEnd/>
            <a:tailEnd/>
          </a:ln>
          <a:effectLst/>
        </p:spPr>
        <p:txBody>
          <a:bodyPr wrap="none">
            <a:spAutoFit/>
          </a:bodyPr>
          <a:lstStyle/>
          <a:p>
            <a:r>
              <a:rPr lang="en-US" sz="1800">
                <a:cs typeface="Arial" charset="0"/>
              </a:rPr>
              <a:t>Works_On</a:t>
            </a:r>
          </a:p>
        </p:txBody>
      </p:sp>
      <p:sp>
        <p:nvSpPr>
          <p:cNvPr id="1045513" name="Line 9"/>
          <p:cNvSpPr>
            <a:spLocks noChangeShapeType="1"/>
          </p:cNvSpPr>
          <p:nvPr/>
        </p:nvSpPr>
        <p:spPr bwMode="auto">
          <a:xfrm flipH="1">
            <a:off x="2743200" y="4724400"/>
            <a:ext cx="1066800" cy="381000"/>
          </a:xfrm>
          <a:prstGeom prst="line">
            <a:avLst/>
          </a:prstGeom>
          <a:noFill/>
          <a:ln w="9525">
            <a:solidFill>
              <a:schemeClr val="tx1"/>
            </a:solidFill>
            <a:round/>
            <a:headEnd/>
            <a:tailEnd/>
          </a:ln>
          <a:effectLst/>
        </p:spPr>
        <p:txBody>
          <a:bodyPr/>
          <a:lstStyle/>
          <a:p>
            <a:endParaRPr lang="en-US"/>
          </a:p>
        </p:txBody>
      </p:sp>
      <p:sp>
        <p:nvSpPr>
          <p:cNvPr id="1045514" name="Line 10"/>
          <p:cNvSpPr>
            <a:spLocks noChangeShapeType="1"/>
          </p:cNvSpPr>
          <p:nvPr/>
        </p:nvSpPr>
        <p:spPr bwMode="auto">
          <a:xfrm>
            <a:off x="3962400" y="4724400"/>
            <a:ext cx="1066800" cy="457200"/>
          </a:xfrm>
          <a:prstGeom prst="line">
            <a:avLst/>
          </a:prstGeom>
          <a:noFill/>
          <a:ln w="9525">
            <a:solidFill>
              <a:schemeClr val="tx1"/>
            </a:solidFill>
            <a:round/>
            <a:headEnd/>
            <a:tailEnd/>
          </a:ln>
          <a:effectLst/>
        </p:spPr>
        <p:txBody>
          <a:bodyPr/>
          <a:lstStyle/>
          <a:p>
            <a:endParaRPr lang="en-US"/>
          </a:p>
        </p:txBody>
      </p:sp>
      <p:sp>
        <p:nvSpPr>
          <p:cNvPr id="1045515" name="Text Box 11"/>
          <p:cNvSpPr txBox="1">
            <a:spLocks noChangeArrowheads="1"/>
          </p:cNvSpPr>
          <p:nvPr/>
        </p:nvSpPr>
        <p:spPr bwMode="auto">
          <a:xfrm>
            <a:off x="3678238" y="4343400"/>
            <a:ext cx="360362" cy="457200"/>
          </a:xfrm>
          <a:prstGeom prst="rect">
            <a:avLst/>
          </a:prstGeom>
          <a:noFill/>
          <a:ln w="9525">
            <a:noFill/>
            <a:miter lim="800000"/>
            <a:headEnd/>
            <a:tailEnd/>
          </a:ln>
          <a:effectLst/>
        </p:spPr>
        <p:txBody>
          <a:bodyPr wrap="none">
            <a:spAutoFit/>
          </a:bodyPr>
          <a:lstStyle/>
          <a:p>
            <a:r>
              <a:rPr lang="en-US" sz="2400">
                <a:cs typeface="Arial" charset="0"/>
              </a:rPr>
              <a:t>X</a:t>
            </a:r>
          </a:p>
        </p:txBody>
      </p:sp>
      <p:sp>
        <p:nvSpPr>
          <p:cNvPr id="1045516" name="Text Box 12"/>
          <p:cNvSpPr txBox="1">
            <a:spLocks noChangeArrowheads="1"/>
          </p:cNvSpPr>
          <p:nvPr/>
        </p:nvSpPr>
        <p:spPr bwMode="auto">
          <a:xfrm>
            <a:off x="2819400" y="3443288"/>
            <a:ext cx="1898650" cy="519112"/>
          </a:xfrm>
          <a:prstGeom prst="rect">
            <a:avLst/>
          </a:prstGeom>
          <a:noFill/>
          <a:ln w="9525">
            <a:noFill/>
            <a:miter lim="800000"/>
            <a:headEnd/>
            <a:tailEnd/>
          </a:ln>
          <a:effectLst/>
        </p:spPr>
        <p:txBody>
          <a:bodyPr wrap="none">
            <a:spAutoFit/>
          </a:bodyPr>
          <a:lstStyle/>
          <a:p>
            <a:r>
              <a:rPr lang="el-GR"/>
              <a:t>σ</a:t>
            </a:r>
            <a:r>
              <a:rPr lang="en-US" sz="1800">
                <a:cs typeface="Arial" charset="0"/>
              </a:rPr>
              <a:t>Pnumber=PNO</a:t>
            </a:r>
          </a:p>
        </p:txBody>
      </p:sp>
      <p:sp>
        <p:nvSpPr>
          <p:cNvPr id="1045517" name="Text Box 13"/>
          <p:cNvSpPr txBox="1">
            <a:spLocks noChangeArrowheads="1"/>
          </p:cNvSpPr>
          <p:nvPr/>
        </p:nvSpPr>
        <p:spPr bwMode="auto">
          <a:xfrm>
            <a:off x="4800600" y="2819400"/>
            <a:ext cx="496888" cy="457200"/>
          </a:xfrm>
          <a:prstGeom prst="rect">
            <a:avLst/>
          </a:prstGeom>
          <a:noFill/>
          <a:ln w="9525">
            <a:noFill/>
            <a:miter lim="800000"/>
            <a:headEnd/>
            <a:tailEnd/>
          </a:ln>
          <a:effectLst/>
        </p:spPr>
        <p:txBody>
          <a:bodyPr>
            <a:spAutoFit/>
          </a:bodyPr>
          <a:lstStyle/>
          <a:p>
            <a:r>
              <a:rPr lang="el-GR" sz="2400"/>
              <a:t>Χ</a:t>
            </a:r>
          </a:p>
        </p:txBody>
      </p:sp>
      <p:sp>
        <p:nvSpPr>
          <p:cNvPr id="1045518" name="Line 14"/>
          <p:cNvSpPr>
            <a:spLocks noChangeShapeType="1"/>
          </p:cNvSpPr>
          <p:nvPr/>
        </p:nvSpPr>
        <p:spPr bwMode="auto">
          <a:xfrm flipH="1">
            <a:off x="3886200" y="3200400"/>
            <a:ext cx="914400" cy="457200"/>
          </a:xfrm>
          <a:prstGeom prst="line">
            <a:avLst/>
          </a:prstGeom>
          <a:noFill/>
          <a:ln w="9525">
            <a:solidFill>
              <a:schemeClr val="tx1"/>
            </a:solidFill>
            <a:round/>
            <a:headEnd/>
            <a:tailEnd/>
          </a:ln>
          <a:effectLst/>
        </p:spPr>
        <p:txBody>
          <a:bodyPr/>
          <a:lstStyle/>
          <a:p>
            <a:endParaRPr lang="en-US"/>
          </a:p>
        </p:txBody>
      </p:sp>
      <p:sp>
        <p:nvSpPr>
          <p:cNvPr id="1045519" name="Line 15"/>
          <p:cNvSpPr>
            <a:spLocks noChangeShapeType="1"/>
          </p:cNvSpPr>
          <p:nvPr/>
        </p:nvSpPr>
        <p:spPr bwMode="auto">
          <a:xfrm>
            <a:off x="5105400" y="3200400"/>
            <a:ext cx="1219200" cy="381000"/>
          </a:xfrm>
          <a:prstGeom prst="line">
            <a:avLst/>
          </a:prstGeom>
          <a:noFill/>
          <a:ln w="9525">
            <a:solidFill>
              <a:schemeClr val="tx1"/>
            </a:solidFill>
            <a:round/>
            <a:headEnd/>
            <a:tailEnd/>
          </a:ln>
          <a:effectLst/>
        </p:spPr>
        <p:txBody>
          <a:bodyPr/>
          <a:lstStyle/>
          <a:p>
            <a:endParaRPr lang="en-US"/>
          </a:p>
        </p:txBody>
      </p:sp>
      <p:sp>
        <p:nvSpPr>
          <p:cNvPr id="1045520" name="Line 16"/>
          <p:cNvSpPr>
            <a:spLocks noChangeShapeType="1"/>
          </p:cNvSpPr>
          <p:nvPr/>
        </p:nvSpPr>
        <p:spPr bwMode="auto">
          <a:xfrm>
            <a:off x="4953000" y="2590800"/>
            <a:ext cx="0" cy="304800"/>
          </a:xfrm>
          <a:prstGeom prst="line">
            <a:avLst/>
          </a:prstGeom>
          <a:noFill/>
          <a:ln w="9525">
            <a:solidFill>
              <a:schemeClr val="tx1"/>
            </a:solidFill>
            <a:round/>
            <a:headEnd/>
            <a:tailEnd/>
          </a:ln>
          <a:effectLst/>
        </p:spPr>
        <p:txBody>
          <a:bodyPr/>
          <a:lstStyle/>
          <a:p>
            <a:endParaRPr lang="en-US"/>
          </a:p>
        </p:txBody>
      </p:sp>
      <p:sp>
        <p:nvSpPr>
          <p:cNvPr id="1045521" name="Line 17"/>
          <p:cNvSpPr>
            <a:spLocks noChangeShapeType="1"/>
          </p:cNvSpPr>
          <p:nvPr/>
        </p:nvSpPr>
        <p:spPr bwMode="auto">
          <a:xfrm>
            <a:off x="4953000" y="1905000"/>
            <a:ext cx="0" cy="304800"/>
          </a:xfrm>
          <a:prstGeom prst="line">
            <a:avLst/>
          </a:prstGeom>
          <a:noFill/>
          <a:ln w="9525">
            <a:solidFill>
              <a:schemeClr val="tx1"/>
            </a:solidFill>
            <a:round/>
            <a:headEnd/>
            <a:tailEnd/>
          </a:ln>
          <a:effectLst/>
        </p:spPr>
        <p:txBody>
          <a:bodyPr/>
          <a:lstStyle/>
          <a:p>
            <a:endParaRPr lang="en-US"/>
          </a:p>
        </p:txBody>
      </p:sp>
      <p:sp>
        <p:nvSpPr>
          <p:cNvPr id="1045522" name="Text Box 18"/>
          <p:cNvSpPr txBox="1">
            <a:spLocks noChangeArrowheads="1"/>
          </p:cNvSpPr>
          <p:nvPr/>
        </p:nvSpPr>
        <p:spPr bwMode="auto">
          <a:xfrm>
            <a:off x="4572000" y="1404938"/>
            <a:ext cx="1150938" cy="519112"/>
          </a:xfrm>
          <a:prstGeom prst="rect">
            <a:avLst/>
          </a:prstGeom>
          <a:noFill/>
          <a:ln w="9525">
            <a:noFill/>
            <a:miter lim="800000"/>
            <a:headEnd/>
            <a:tailEnd/>
          </a:ln>
          <a:effectLst/>
        </p:spPr>
        <p:txBody>
          <a:bodyPr wrap="none">
            <a:spAutoFit/>
          </a:bodyPr>
          <a:lstStyle/>
          <a:p>
            <a:r>
              <a:rPr lang="en-US">
                <a:cs typeface="Arial" charset="0"/>
              </a:rPr>
              <a:t>∏</a:t>
            </a:r>
            <a:r>
              <a:rPr lang="en-US" sz="1800">
                <a:cs typeface="Arial" charset="0"/>
              </a:rPr>
              <a:t>Lname</a:t>
            </a:r>
          </a:p>
        </p:txBody>
      </p:sp>
      <p:sp>
        <p:nvSpPr>
          <p:cNvPr id="1045523" name="Text Box 19"/>
          <p:cNvSpPr txBox="1">
            <a:spLocks noChangeArrowheads="1"/>
          </p:cNvSpPr>
          <p:nvPr/>
        </p:nvSpPr>
        <p:spPr bwMode="auto">
          <a:xfrm>
            <a:off x="4216400" y="2057400"/>
            <a:ext cx="1498600" cy="519113"/>
          </a:xfrm>
          <a:prstGeom prst="rect">
            <a:avLst/>
          </a:prstGeom>
          <a:noFill/>
          <a:ln w="9525">
            <a:noFill/>
            <a:miter lim="800000"/>
            <a:headEnd/>
            <a:tailEnd/>
          </a:ln>
          <a:effectLst/>
        </p:spPr>
        <p:txBody>
          <a:bodyPr wrap="none">
            <a:spAutoFit/>
          </a:bodyPr>
          <a:lstStyle/>
          <a:p>
            <a:r>
              <a:rPr lang="el-GR"/>
              <a:t>σ</a:t>
            </a:r>
            <a:r>
              <a:rPr lang="en-US" sz="1800">
                <a:cs typeface="Arial" charset="0"/>
              </a:rPr>
              <a:t>ESSN=SSN</a:t>
            </a:r>
          </a:p>
        </p:txBody>
      </p:sp>
      <p:sp>
        <p:nvSpPr>
          <p:cNvPr id="1045524" name="Line 20"/>
          <p:cNvSpPr>
            <a:spLocks noChangeShapeType="1"/>
          </p:cNvSpPr>
          <p:nvPr/>
        </p:nvSpPr>
        <p:spPr bwMode="auto">
          <a:xfrm>
            <a:off x="3810000" y="3962400"/>
            <a:ext cx="0" cy="457200"/>
          </a:xfrm>
          <a:prstGeom prst="line">
            <a:avLst/>
          </a:prstGeom>
          <a:noFill/>
          <a:ln w="9525">
            <a:solidFill>
              <a:schemeClr val="tx1"/>
            </a:solidFill>
            <a:miter lim="800000"/>
            <a:headEnd/>
            <a:tailEnd/>
          </a:ln>
          <a:effectLst/>
        </p:spPr>
        <p:txBody>
          <a:bodyPr wrap="none"/>
          <a:lstStyle/>
          <a:p>
            <a:endParaRPr lang="en-US"/>
          </a:p>
        </p:txBody>
      </p:sp>
      <p:sp>
        <p:nvSpPr>
          <p:cNvPr id="1045525" name="Text Box 21"/>
          <p:cNvSpPr txBox="1">
            <a:spLocks noChangeArrowheads="1"/>
          </p:cNvSpPr>
          <p:nvPr/>
        </p:nvSpPr>
        <p:spPr bwMode="auto">
          <a:xfrm>
            <a:off x="5248275" y="3429000"/>
            <a:ext cx="2428875" cy="519113"/>
          </a:xfrm>
          <a:prstGeom prst="rect">
            <a:avLst/>
          </a:prstGeom>
          <a:noFill/>
          <a:ln w="9525">
            <a:noFill/>
            <a:miter lim="800000"/>
            <a:headEnd/>
            <a:tailEnd/>
          </a:ln>
          <a:effectLst/>
        </p:spPr>
        <p:txBody>
          <a:bodyPr wrap="none">
            <a:spAutoFit/>
          </a:bodyPr>
          <a:lstStyle/>
          <a:p>
            <a:r>
              <a:rPr lang="el-GR"/>
              <a:t>σ</a:t>
            </a:r>
            <a:r>
              <a:rPr lang="en-US" sz="1800">
                <a:cs typeface="Arial" charset="0"/>
              </a:rPr>
              <a:t>BDate&gt;‘1957-12-13’</a:t>
            </a:r>
          </a:p>
        </p:txBody>
      </p:sp>
      <p:sp>
        <p:nvSpPr>
          <p:cNvPr id="1045526" name="Line 22"/>
          <p:cNvSpPr>
            <a:spLocks noChangeShapeType="1"/>
          </p:cNvSpPr>
          <p:nvPr/>
        </p:nvSpPr>
        <p:spPr bwMode="auto">
          <a:xfrm>
            <a:off x="6477000" y="3962400"/>
            <a:ext cx="0" cy="457200"/>
          </a:xfrm>
          <a:prstGeom prst="line">
            <a:avLst/>
          </a:prstGeom>
          <a:noFill/>
          <a:ln w="9525">
            <a:solidFill>
              <a:schemeClr val="tx1"/>
            </a:solidFill>
            <a:miter lim="800000"/>
            <a:headEnd/>
            <a:tailEnd/>
          </a:ln>
          <a:effectLst/>
        </p:spPr>
        <p:txBody>
          <a:bodyPr wrap="none"/>
          <a:lstStyle/>
          <a:p>
            <a:endParaRPr lang="en-US"/>
          </a:p>
        </p:txBody>
      </p:sp>
      <p:sp>
        <p:nvSpPr>
          <p:cNvPr id="1045527" name="Text Box 23"/>
          <p:cNvSpPr txBox="1">
            <a:spLocks noChangeArrowheads="1"/>
          </p:cNvSpPr>
          <p:nvPr/>
        </p:nvSpPr>
        <p:spPr bwMode="auto">
          <a:xfrm>
            <a:off x="1752600" y="4891088"/>
            <a:ext cx="2144713" cy="519112"/>
          </a:xfrm>
          <a:prstGeom prst="rect">
            <a:avLst/>
          </a:prstGeom>
          <a:noFill/>
          <a:ln w="9525">
            <a:noFill/>
            <a:miter lim="800000"/>
            <a:headEnd/>
            <a:tailEnd/>
          </a:ln>
          <a:effectLst/>
        </p:spPr>
        <p:txBody>
          <a:bodyPr wrap="none">
            <a:spAutoFit/>
          </a:bodyPr>
          <a:lstStyle/>
          <a:p>
            <a:r>
              <a:rPr lang="el-GR"/>
              <a:t>σ</a:t>
            </a:r>
            <a:r>
              <a:rPr lang="en-US" sz="1800">
                <a:cs typeface="Arial" charset="0"/>
              </a:rPr>
              <a:t>Pname=‘Aquirius’</a:t>
            </a:r>
          </a:p>
        </p:txBody>
      </p:sp>
      <p:sp>
        <p:nvSpPr>
          <p:cNvPr id="1045528" name="Line 24"/>
          <p:cNvSpPr>
            <a:spLocks noChangeShapeType="1"/>
          </p:cNvSpPr>
          <p:nvPr/>
        </p:nvSpPr>
        <p:spPr bwMode="auto">
          <a:xfrm>
            <a:off x="2819400" y="5410200"/>
            <a:ext cx="0" cy="381000"/>
          </a:xfrm>
          <a:prstGeom prst="line">
            <a:avLst/>
          </a:prstGeom>
          <a:noFill/>
          <a:ln w="9525">
            <a:solidFill>
              <a:schemeClr val="tx1"/>
            </a:solidFill>
            <a:miter lim="800000"/>
            <a:headEnd/>
            <a:tailEnd/>
          </a:ln>
          <a:effectLst/>
        </p:spPr>
        <p:txBody>
          <a:bodyPr wrap="none"/>
          <a:lstStyle/>
          <a:p>
            <a:endParaRPr lang="en-US"/>
          </a:p>
        </p:txBody>
      </p:sp>
      <p:sp>
        <p:nvSpPr>
          <p:cNvPr id="1045529" name="Text Box 25"/>
          <p:cNvSpPr txBox="1">
            <a:spLocks noChangeArrowheads="1"/>
          </p:cNvSpPr>
          <p:nvPr/>
        </p:nvSpPr>
        <p:spPr bwMode="auto">
          <a:xfrm>
            <a:off x="288925" y="2393950"/>
            <a:ext cx="3227388" cy="366713"/>
          </a:xfrm>
          <a:prstGeom prst="rect">
            <a:avLst/>
          </a:prstGeom>
          <a:noFill/>
          <a:ln w="9525">
            <a:noFill/>
            <a:miter lim="800000"/>
            <a:headEnd/>
            <a:tailEnd/>
          </a:ln>
          <a:effectLst/>
        </p:spPr>
        <p:txBody>
          <a:bodyPr wrap="none">
            <a:spAutoFit/>
          </a:bodyPr>
          <a:lstStyle/>
          <a:p>
            <a:r>
              <a:rPr lang="en-US" sz="1800">
                <a:solidFill>
                  <a:schemeClr val="hlink"/>
                </a:solidFill>
              </a:rPr>
              <a:t>Apply more restrictive SELECT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0" name="Rectangle 2"/>
          <p:cNvSpPr>
            <a:spLocks noGrp="1" noChangeArrowheads="1"/>
          </p:cNvSpPr>
          <p:nvPr>
            <p:ph type="title"/>
          </p:nvPr>
        </p:nvSpPr>
        <p:spPr>
          <a:xfrm>
            <a:off x="1143000" y="812800"/>
            <a:ext cx="7793038" cy="419100"/>
          </a:xfrm>
        </p:spPr>
        <p:txBody>
          <a:bodyPr>
            <a:normAutofit fontScale="90000"/>
          </a:bodyPr>
          <a:lstStyle/>
          <a:p>
            <a:r>
              <a:rPr lang="en-US"/>
              <a:t>… -- Query Optimization: Example …</a:t>
            </a:r>
          </a:p>
        </p:txBody>
      </p:sp>
      <p:sp>
        <p:nvSpPr>
          <p:cNvPr id="1046531" name="Oval 3"/>
          <p:cNvSpPr>
            <a:spLocks noChangeArrowheads="1"/>
          </p:cNvSpPr>
          <p:nvPr/>
        </p:nvSpPr>
        <p:spPr bwMode="auto">
          <a:xfrm>
            <a:off x="6096000" y="4495800"/>
            <a:ext cx="1752600" cy="381000"/>
          </a:xfrm>
          <a:prstGeom prst="ellipse">
            <a:avLst/>
          </a:prstGeom>
          <a:noFill/>
          <a:ln w="9525">
            <a:solidFill>
              <a:schemeClr val="tx1"/>
            </a:solidFill>
            <a:round/>
            <a:headEnd/>
            <a:tailEnd/>
          </a:ln>
          <a:effectLst/>
        </p:spPr>
        <p:txBody>
          <a:bodyPr wrap="none" anchor="ctr"/>
          <a:lstStyle/>
          <a:p>
            <a:endParaRPr lang="en-US"/>
          </a:p>
        </p:txBody>
      </p:sp>
      <p:sp>
        <p:nvSpPr>
          <p:cNvPr id="1046532" name="Text Box 4"/>
          <p:cNvSpPr txBox="1">
            <a:spLocks noChangeArrowheads="1"/>
          </p:cNvSpPr>
          <p:nvPr/>
        </p:nvSpPr>
        <p:spPr bwMode="auto">
          <a:xfrm>
            <a:off x="6384925" y="4494213"/>
            <a:ext cx="1163638" cy="366712"/>
          </a:xfrm>
          <a:prstGeom prst="rect">
            <a:avLst/>
          </a:prstGeom>
          <a:noFill/>
          <a:ln w="9525">
            <a:noFill/>
            <a:miter lim="800000"/>
            <a:headEnd/>
            <a:tailEnd/>
          </a:ln>
          <a:effectLst/>
        </p:spPr>
        <p:txBody>
          <a:bodyPr wrap="none">
            <a:spAutoFit/>
          </a:bodyPr>
          <a:lstStyle/>
          <a:p>
            <a:r>
              <a:rPr lang="en-US" sz="1800">
                <a:cs typeface="Arial" charset="0"/>
              </a:rPr>
              <a:t>Employee</a:t>
            </a:r>
          </a:p>
        </p:txBody>
      </p:sp>
      <p:sp>
        <p:nvSpPr>
          <p:cNvPr id="1046533" name="Oval 5"/>
          <p:cNvSpPr>
            <a:spLocks noChangeArrowheads="1"/>
          </p:cNvSpPr>
          <p:nvPr/>
        </p:nvSpPr>
        <p:spPr bwMode="auto">
          <a:xfrm>
            <a:off x="1219200" y="5257800"/>
            <a:ext cx="1524000" cy="533400"/>
          </a:xfrm>
          <a:prstGeom prst="ellipse">
            <a:avLst/>
          </a:prstGeom>
          <a:noFill/>
          <a:ln w="9525">
            <a:solidFill>
              <a:schemeClr val="tx1"/>
            </a:solidFill>
            <a:round/>
            <a:headEnd/>
            <a:tailEnd/>
          </a:ln>
          <a:effectLst/>
        </p:spPr>
        <p:txBody>
          <a:bodyPr wrap="none" anchor="ctr"/>
          <a:lstStyle/>
          <a:p>
            <a:endParaRPr lang="en-US"/>
          </a:p>
        </p:txBody>
      </p:sp>
      <p:sp>
        <p:nvSpPr>
          <p:cNvPr id="1046534" name="Text Box 6"/>
          <p:cNvSpPr txBox="1">
            <a:spLocks noChangeArrowheads="1"/>
          </p:cNvSpPr>
          <p:nvPr/>
        </p:nvSpPr>
        <p:spPr bwMode="auto">
          <a:xfrm>
            <a:off x="1508125" y="5332413"/>
            <a:ext cx="882650" cy="366712"/>
          </a:xfrm>
          <a:prstGeom prst="rect">
            <a:avLst/>
          </a:prstGeom>
          <a:noFill/>
          <a:ln w="9525">
            <a:noFill/>
            <a:miter lim="800000"/>
            <a:headEnd/>
            <a:tailEnd/>
          </a:ln>
          <a:effectLst/>
        </p:spPr>
        <p:txBody>
          <a:bodyPr wrap="none">
            <a:spAutoFit/>
          </a:bodyPr>
          <a:lstStyle/>
          <a:p>
            <a:r>
              <a:rPr lang="en-US" sz="1800">
                <a:cs typeface="Arial" charset="0"/>
              </a:rPr>
              <a:t>Project</a:t>
            </a:r>
          </a:p>
        </p:txBody>
      </p:sp>
      <p:sp>
        <p:nvSpPr>
          <p:cNvPr id="1046535" name="Oval 7"/>
          <p:cNvSpPr>
            <a:spLocks noChangeArrowheads="1"/>
          </p:cNvSpPr>
          <p:nvPr/>
        </p:nvSpPr>
        <p:spPr bwMode="auto">
          <a:xfrm>
            <a:off x="3505200" y="4648200"/>
            <a:ext cx="1752600" cy="457200"/>
          </a:xfrm>
          <a:prstGeom prst="ellipse">
            <a:avLst/>
          </a:prstGeom>
          <a:noFill/>
          <a:ln w="9525">
            <a:solidFill>
              <a:schemeClr val="tx1"/>
            </a:solidFill>
            <a:round/>
            <a:headEnd/>
            <a:tailEnd/>
          </a:ln>
          <a:effectLst/>
        </p:spPr>
        <p:txBody>
          <a:bodyPr wrap="none" anchor="ctr"/>
          <a:lstStyle/>
          <a:p>
            <a:endParaRPr lang="en-US"/>
          </a:p>
        </p:txBody>
      </p:sp>
      <p:sp>
        <p:nvSpPr>
          <p:cNvPr id="1046536" name="Text Box 8"/>
          <p:cNvSpPr txBox="1">
            <a:spLocks noChangeArrowheads="1"/>
          </p:cNvSpPr>
          <p:nvPr/>
        </p:nvSpPr>
        <p:spPr bwMode="auto">
          <a:xfrm>
            <a:off x="3794125" y="4660900"/>
            <a:ext cx="1227138" cy="366713"/>
          </a:xfrm>
          <a:prstGeom prst="rect">
            <a:avLst/>
          </a:prstGeom>
          <a:noFill/>
          <a:ln w="9525">
            <a:noFill/>
            <a:miter lim="800000"/>
            <a:headEnd/>
            <a:tailEnd/>
          </a:ln>
          <a:effectLst/>
        </p:spPr>
        <p:txBody>
          <a:bodyPr wrap="none">
            <a:spAutoFit/>
          </a:bodyPr>
          <a:lstStyle/>
          <a:p>
            <a:r>
              <a:rPr lang="en-US" sz="1800">
                <a:cs typeface="Arial" charset="0"/>
              </a:rPr>
              <a:t>Works_On</a:t>
            </a:r>
          </a:p>
        </p:txBody>
      </p:sp>
      <p:sp>
        <p:nvSpPr>
          <p:cNvPr id="1046537" name="Line 9"/>
          <p:cNvSpPr>
            <a:spLocks noChangeShapeType="1"/>
          </p:cNvSpPr>
          <p:nvPr/>
        </p:nvSpPr>
        <p:spPr bwMode="auto">
          <a:xfrm flipH="1">
            <a:off x="1981200" y="4191000"/>
            <a:ext cx="1066800" cy="381000"/>
          </a:xfrm>
          <a:prstGeom prst="line">
            <a:avLst/>
          </a:prstGeom>
          <a:noFill/>
          <a:ln w="9525">
            <a:solidFill>
              <a:schemeClr val="tx1"/>
            </a:solidFill>
            <a:round/>
            <a:headEnd/>
            <a:tailEnd/>
          </a:ln>
          <a:effectLst/>
        </p:spPr>
        <p:txBody>
          <a:bodyPr/>
          <a:lstStyle/>
          <a:p>
            <a:endParaRPr lang="en-US"/>
          </a:p>
        </p:txBody>
      </p:sp>
      <p:sp>
        <p:nvSpPr>
          <p:cNvPr id="1046538" name="Line 10"/>
          <p:cNvSpPr>
            <a:spLocks noChangeShapeType="1"/>
          </p:cNvSpPr>
          <p:nvPr/>
        </p:nvSpPr>
        <p:spPr bwMode="auto">
          <a:xfrm>
            <a:off x="3200400" y="4191000"/>
            <a:ext cx="1066800" cy="457200"/>
          </a:xfrm>
          <a:prstGeom prst="line">
            <a:avLst/>
          </a:prstGeom>
          <a:noFill/>
          <a:ln w="9525">
            <a:solidFill>
              <a:schemeClr val="tx1"/>
            </a:solidFill>
            <a:round/>
            <a:headEnd/>
            <a:tailEnd/>
          </a:ln>
          <a:effectLst/>
        </p:spPr>
        <p:txBody>
          <a:bodyPr/>
          <a:lstStyle/>
          <a:p>
            <a:endParaRPr lang="en-US"/>
          </a:p>
        </p:txBody>
      </p:sp>
      <p:sp>
        <p:nvSpPr>
          <p:cNvPr id="1046539" name="Text Box 11"/>
          <p:cNvSpPr txBox="1">
            <a:spLocks noChangeArrowheads="1"/>
          </p:cNvSpPr>
          <p:nvPr/>
        </p:nvSpPr>
        <p:spPr bwMode="auto">
          <a:xfrm>
            <a:off x="2286000" y="3657600"/>
            <a:ext cx="1798638" cy="457200"/>
          </a:xfrm>
          <a:prstGeom prst="rect">
            <a:avLst/>
          </a:prstGeom>
          <a:noFill/>
          <a:ln w="9525">
            <a:noFill/>
            <a:miter lim="800000"/>
            <a:headEnd/>
            <a:tailEnd/>
          </a:ln>
          <a:effectLst/>
        </p:spPr>
        <p:txBody>
          <a:bodyPr wrap="none">
            <a:spAutoFit/>
          </a:bodyPr>
          <a:lstStyle/>
          <a:p>
            <a:r>
              <a:rPr lang="el-GR" sz="2400"/>
              <a:t>θ</a:t>
            </a:r>
            <a:r>
              <a:rPr lang="en-US" sz="1800"/>
              <a:t>Pnumber=Pno</a:t>
            </a:r>
            <a:endParaRPr lang="el-GR" sz="2400"/>
          </a:p>
        </p:txBody>
      </p:sp>
      <p:sp>
        <p:nvSpPr>
          <p:cNvPr id="1046542" name="Line 14"/>
          <p:cNvSpPr>
            <a:spLocks noChangeShapeType="1"/>
          </p:cNvSpPr>
          <p:nvPr/>
        </p:nvSpPr>
        <p:spPr bwMode="auto">
          <a:xfrm flipH="1">
            <a:off x="3200400" y="3352800"/>
            <a:ext cx="1371600" cy="381000"/>
          </a:xfrm>
          <a:prstGeom prst="line">
            <a:avLst/>
          </a:prstGeom>
          <a:noFill/>
          <a:ln w="9525">
            <a:solidFill>
              <a:schemeClr val="tx1"/>
            </a:solidFill>
            <a:round/>
            <a:headEnd/>
            <a:tailEnd/>
          </a:ln>
          <a:effectLst/>
        </p:spPr>
        <p:txBody>
          <a:bodyPr/>
          <a:lstStyle/>
          <a:p>
            <a:endParaRPr lang="en-US"/>
          </a:p>
        </p:txBody>
      </p:sp>
      <p:sp>
        <p:nvSpPr>
          <p:cNvPr id="1046543" name="Line 15"/>
          <p:cNvSpPr>
            <a:spLocks noChangeShapeType="1"/>
          </p:cNvSpPr>
          <p:nvPr/>
        </p:nvSpPr>
        <p:spPr bwMode="auto">
          <a:xfrm>
            <a:off x="4876800" y="3352800"/>
            <a:ext cx="1219200" cy="381000"/>
          </a:xfrm>
          <a:prstGeom prst="line">
            <a:avLst/>
          </a:prstGeom>
          <a:noFill/>
          <a:ln w="9525">
            <a:solidFill>
              <a:schemeClr val="tx1"/>
            </a:solidFill>
            <a:round/>
            <a:headEnd/>
            <a:tailEnd/>
          </a:ln>
          <a:effectLst/>
        </p:spPr>
        <p:txBody>
          <a:bodyPr/>
          <a:lstStyle/>
          <a:p>
            <a:endParaRPr lang="en-US"/>
          </a:p>
        </p:txBody>
      </p:sp>
      <p:sp>
        <p:nvSpPr>
          <p:cNvPr id="1046545" name="Line 17"/>
          <p:cNvSpPr>
            <a:spLocks noChangeShapeType="1"/>
          </p:cNvSpPr>
          <p:nvPr/>
        </p:nvSpPr>
        <p:spPr bwMode="auto">
          <a:xfrm>
            <a:off x="4724400" y="2590800"/>
            <a:ext cx="0" cy="304800"/>
          </a:xfrm>
          <a:prstGeom prst="line">
            <a:avLst/>
          </a:prstGeom>
          <a:noFill/>
          <a:ln w="9525">
            <a:solidFill>
              <a:schemeClr val="tx1"/>
            </a:solidFill>
            <a:round/>
            <a:headEnd/>
            <a:tailEnd/>
          </a:ln>
          <a:effectLst/>
        </p:spPr>
        <p:txBody>
          <a:bodyPr/>
          <a:lstStyle/>
          <a:p>
            <a:endParaRPr lang="en-US"/>
          </a:p>
        </p:txBody>
      </p:sp>
      <p:sp>
        <p:nvSpPr>
          <p:cNvPr id="1046546" name="Text Box 18"/>
          <p:cNvSpPr txBox="1">
            <a:spLocks noChangeArrowheads="1"/>
          </p:cNvSpPr>
          <p:nvPr/>
        </p:nvSpPr>
        <p:spPr bwMode="auto">
          <a:xfrm>
            <a:off x="4343400" y="2090738"/>
            <a:ext cx="1150938" cy="519112"/>
          </a:xfrm>
          <a:prstGeom prst="rect">
            <a:avLst/>
          </a:prstGeom>
          <a:noFill/>
          <a:ln w="9525">
            <a:noFill/>
            <a:miter lim="800000"/>
            <a:headEnd/>
            <a:tailEnd/>
          </a:ln>
          <a:effectLst/>
        </p:spPr>
        <p:txBody>
          <a:bodyPr wrap="none">
            <a:spAutoFit/>
          </a:bodyPr>
          <a:lstStyle/>
          <a:p>
            <a:r>
              <a:rPr lang="en-US">
                <a:cs typeface="Arial" charset="0"/>
              </a:rPr>
              <a:t>∏</a:t>
            </a:r>
            <a:r>
              <a:rPr lang="en-US" sz="1800">
                <a:cs typeface="Arial" charset="0"/>
              </a:rPr>
              <a:t>Lname</a:t>
            </a:r>
          </a:p>
        </p:txBody>
      </p:sp>
      <p:sp>
        <p:nvSpPr>
          <p:cNvPr id="1046547" name="Text Box 19"/>
          <p:cNvSpPr txBox="1">
            <a:spLocks noChangeArrowheads="1"/>
          </p:cNvSpPr>
          <p:nvPr/>
        </p:nvSpPr>
        <p:spPr bwMode="auto">
          <a:xfrm>
            <a:off x="3987800" y="2743200"/>
            <a:ext cx="1489075" cy="519113"/>
          </a:xfrm>
          <a:prstGeom prst="rect">
            <a:avLst/>
          </a:prstGeom>
          <a:noFill/>
          <a:ln w="9525">
            <a:noFill/>
            <a:miter lim="800000"/>
            <a:headEnd/>
            <a:tailEnd/>
          </a:ln>
          <a:effectLst/>
        </p:spPr>
        <p:txBody>
          <a:bodyPr wrap="none">
            <a:spAutoFit/>
          </a:bodyPr>
          <a:lstStyle/>
          <a:p>
            <a:r>
              <a:rPr lang="el-GR"/>
              <a:t>θ</a:t>
            </a:r>
            <a:r>
              <a:rPr lang="en-US" sz="1800">
                <a:cs typeface="Arial" charset="0"/>
              </a:rPr>
              <a:t>ESSN=SSN</a:t>
            </a:r>
          </a:p>
        </p:txBody>
      </p:sp>
      <p:sp>
        <p:nvSpPr>
          <p:cNvPr id="1046549" name="Text Box 21"/>
          <p:cNvSpPr txBox="1">
            <a:spLocks noChangeArrowheads="1"/>
          </p:cNvSpPr>
          <p:nvPr/>
        </p:nvSpPr>
        <p:spPr bwMode="auto">
          <a:xfrm>
            <a:off x="5019675" y="3581400"/>
            <a:ext cx="2428875" cy="519113"/>
          </a:xfrm>
          <a:prstGeom prst="rect">
            <a:avLst/>
          </a:prstGeom>
          <a:noFill/>
          <a:ln w="9525">
            <a:noFill/>
            <a:miter lim="800000"/>
            <a:headEnd/>
            <a:tailEnd/>
          </a:ln>
          <a:effectLst/>
        </p:spPr>
        <p:txBody>
          <a:bodyPr wrap="none">
            <a:spAutoFit/>
          </a:bodyPr>
          <a:lstStyle/>
          <a:p>
            <a:r>
              <a:rPr lang="el-GR"/>
              <a:t>σ</a:t>
            </a:r>
            <a:r>
              <a:rPr lang="en-US" sz="1800">
                <a:cs typeface="Arial" charset="0"/>
              </a:rPr>
              <a:t>BDate&gt;‘1957-12-13’</a:t>
            </a:r>
          </a:p>
        </p:txBody>
      </p:sp>
      <p:sp>
        <p:nvSpPr>
          <p:cNvPr id="1046550" name="Line 22"/>
          <p:cNvSpPr>
            <a:spLocks noChangeShapeType="1"/>
          </p:cNvSpPr>
          <p:nvPr/>
        </p:nvSpPr>
        <p:spPr bwMode="auto">
          <a:xfrm>
            <a:off x="6781800" y="4038600"/>
            <a:ext cx="0" cy="457200"/>
          </a:xfrm>
          <a:prstGeom prst="line">
            <a:avLst/>
          </a:prstGeom>
          <a:noFill/>
          <a:ln w="9525">
            <a:solidFill>
              <a:schemeClr val="tx1"/>
            </a:solidFill>
            <a:miter lim="800000"/>
            <a:headEnd/>
            <a:tailEnd/>
          </a:ln>
          <a:effectLst/>
        </p:spPr>
        <p:txBody>
          <a:bodyPr wrap="none"/>
          <a:lstStyle/>
          <a:p>
            <a:endParaRPr lang="en-US"/>
          </a:p>
        </p:txBody>
      </p:sp>
      <p:sp>
        <p:nvSpPr>
          <p:cNvPr id="1046551" name="Text Box 23"/>
          <p:cNvSpPr txBox="1">
            <a:spLocks noChangeArrowheads="1"/>
          </p:cNvSpPr>
          <p:nvPr/>
        </p:nvSpPr>
        <p:spPr bwMode="auto">
          <a:xfrm>
            <a:off x="990600" y="4357688"/>
            <a:ext cx="2144713" cy="519112"/>
          </a:xfrm>
          <a:prstGeom prst="rect">
            <a:avLst/>
          </a:prstGeom>
          <a:noFill/>
          <a:ln w="9525">
            <a:noFill/>
            <a:miter lim="800000"/>
            <a:headEnd/>
            <a:tailEnd/>
          </a:ln>
          <a:effectLst/>
        </p:spPr>
        <p:txBody>
          <a:bodyPr wrap="none">
            <a:spAutoFit/>
          </a:bodyPr>
          <a:lstStyle/>
          <a:p>
            <a:r>
              <a:rPr lang="el-GR"/>
              <a:t>σ</a:t>
            </a:r>
            <a:r>
              <a:rPr lang="en-US" sz="1800">
                <a:cs typeface="Arial" charset="0"/>
              </a:rPr>
              <a:t>Pname=‘Aquirius’</a:t>
            </a:r>
          </a:p>
        </p:txBody>
      </p:sp>
      <p:sp>
        <p:nvSpPr>
          <p:cNvPr id="1046552" name="Line 24"/>
          <p:cNvSpPr>
            <a:spLocks noChangeShapeType="1"/>
          </p:cNvSpPr>
          <p:nvPr/>
        </p:nvSpPr>
        <p:spPr bwMode="auto">
          <a:xfrm>
            <a:off x="2057400" y="4876800"/>
            <a:ext cx="0" cy="381000"/>
          </a:xfrm>
          <a:prstGeom prst="line">
            <a:avLst/>
          </a:prstGeom>
          <a:noFill/>
          <a:ln w="9525">
            <a:solidFill>
              <a:schemeClr val="tx1"/>
            </a:solidFill>
            <a:miter lim="800000"/>
            <a:headEnd/>
            <a:tailEnd/>
          </a:ln>
          <a:effectLst/>
        </p:spPr>
        <p:txBody>
          <a:bodyPr wrap="none"/>
          <a:lstStyle/>
          <a:p>
            <a:endParaRPr lang="en-US"/>
          </a:p>
        </p:txBody>
      </p:sp>
      <p:sp>
        <p:nvSpPr>
          <p:cNvPr id="1046553" name="Text Box 25"/>
          <p:cNvSpPr txBox="1">
            <a:spLocks noChangeArrowheads="1"/>
          </p:cNvSpPr>
          <p:nvPr/>
        </p:nvSpPr>
        <p:spPr bwMode="auto">
          <a:xfrm>
            <a:off x="288925" y="2393950"/>
            <a:ext cx="3133725" cy="641350"/>
          </a:xfrm>
          <a:prstGeom prst="rect">
            <a:avLst/>
          </a:prstGeom>
          <a:noFill/>
          <a:ln w="9525">
            <a:noFill/>
            <a:miter lim="800000"/>
            <a:headEnd/>
            <a:tailEnd/>
          </a:ln>
          <a:effectLst/>
        </p:spPr>
        <p:txBody>
          <a:bodyPr wrap="none">
            <a:spAutoFit/>
          </a:bodyPr>
          <a:lstStyle/>
          <a:p>
            <a:r>
              <a:rPr lang="en-US" sz="1800">
                <a:solidFill>
                  <a:schemeClr val="hlink"/>
                </a:solidFill>
              </a:rPr>
              <a:t>Replace CARTESIAN PRDUCT</a:t>
            </a:r>
          </a:p>
          <a:p>
            <a:r>
              <a:rPr lang="en-US" sz="1800">
                <a:solidFill>
                  <a:schemeClr val="hlink"/>
                </a:solidFill>
              </a:rPr>
              <a:t>And SELECT with JOIN</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554" name="Rectangle 2"/>
          <p:cNvSpPr>
            <a:spLocks noGrp="1" noChangeArrowheads="1"/>
          </p:cNvSpPr>
          <p:nvPr>
            <p:ph type="title"/>
          </p:nvPr>
        </p:nvSpPr>
        <p:spPr>
          <a:xfrm>
            <a:off x="1143000" y="812800"/>
            <a:ext cx="7793038" cy="419100"/>
          </a:xfrm>
        </p:spPr>
        <p:txBody>
          <a:bodyPr>
            <a:normAutofit fontScale="90000"/>
          </a:bodyPr>
          <a:lstStyle/>
          <a:p>
            <a:r>
              <a:rPr lang="en-US"/>
              <a:t>… -- Query Optimization: Example</a:t>
            </a:r>
          </a:p>
        </p:txBody>
      </p:sp>
      <p:sp>
        <p:nvSpPr>
          <p:cNvPr id="1047555" name="Oval 3"/>
          <p:cNvSpPr>
            <a:spLocks noChangeArrowheads="1"/>
          </p:cNvSpPr>
          <p:nvPr/>
        </p:nvSpPr>
        <p:spPr bwMode="auto">
          <a:xfrm>
            <a:off x="6019800" y="4800600"/>
            <a:ext cx="1752600" cy="381000"/>
          </a:xfrm>
          <a:prstGeom prst="ellipse">
            <a:avLst/>
          </a:prstGeom>
          <a:noFill/>
          <a:ln w="9525">
            <a:solidFill>
              <a:schemeClr val="tx1"/>
            </a:solidFill>
            <a:round/>
            <a:headEnd/>
            <a:tailEnd/>
          </a:ln>
          <a:effectLst/>
        </p:spPr>
        <p:txBody>
          <a:bodyPr wrap="none" anchor="ctr"/>
          <a:lstStyle/>
          <a:p>
            <a:endParaRPr lang="en-US"/>
          </a:p>
        </p:txBody>
      </p:sp>
      <p:sp>
        <p:nvSpPr>
          <p:cNvPr id="1047556" name="Text Box 4"/>
          <p:cNvSpPr txBox="1">
            <a:spLocks noChangeArrowheads="1"/>
          </p:cNvSpPr>
          <p:nvPr/>
        </p:nvSpPr>
        <p:spPr bwMode="auto">
          <a:xfrm>
            <a:off x="6308725" y="4799013"/>
            <a:ext cx="1163638" cy="366712"/>
          </a:xfrm>
          <a:prstGeom prst="rect">
            <a:avLst/>
          </a:prstGeom>
          <a:noFill/>
          <a:ln w="9525">
            <a:noFill/>
            <a:miter lim="800000"/>
            <a:headEnd/>
            <a:tailEnd/>
          </a:ln>
          <a:effectLst/>
        </p:spPr>
        <p:txBody>
          <a:bodyPr wrap="none">
            <a:spAutoFit/>
          </a:bodyPr>
          <a:lstStyle/>
          <a:p>
            <a:r>
              <a:rPr lang="en-US" sz="1800">
                <a:cs typeface="Arial" charset="0"/>
              </a:rPr>
              <a:t>Employee</a:t>
            </a:r>
          </a:p>
        </p:txBody>
      </p:sp>
      <p:sp>
        <p:nvSpPr>
          <p:cNvPr id="1047557" name="Oval 5"/>
          <p:cNvSpPr>
            <a:spLocks noChangeArrowheads="1"/>
          </p:cNvSpPr>
          <p:nvPr/>
        </p:nvSpPr>
        <p:spPr bwMode="auto">
          <a:xfrm>
            <a:off x="1219200" y="5791200"/>
            <a:ext cx="1524000" cy="533400"/>
          </a:xfrm>
          <a:prstGeom prst="ellipse">
            <a:avLst/>
          </a:prstGeom>
          <a:noFill/>
          <a:ln w="9525">
            <a:solidFill>
              <a:schemeClr val="tx1"/>
            </a:solidFill>
            <a:round/>
            <a:headEnd/>
            <a:tailEnd/>
          </a:ln>
          <a:effectLst/>
        </p:spPr>
        <p:txBody>
          <a:bodyPr wrap="none" anchor="ctr"/>
          <a:lstStyle/>
          <a:p>
            <a:endParaRPr lang="en-US"/>
          </a:p>
        </p:txBody>
      </p:sp>
      <p:sp>
        <p:nvSpPr>
          <p:cNvPr id="1047558" name="Text Box 6"/>
          <p:cNvSpPr txBox="1">
            <a:spLocks noChangeArrowheads="1"/>
          </p:cNvSpPr>
          <p:nvPr/>
        </p:nvSpPr>
        <p:spPr bwMode="auto">
          <a:xfrm>
            <a:off x="1508125" y="5865813"/>
            <a:ext cx="882650" cy="366712"/>
          </a:xfrm>
          <a:prstGeom prst="rect">
            <a:avLst/>
          </a:prstGeom>
          <a:noFill/>
          <a:ln w="9525">
            <a:noFill/>
            <a:miter lim="800000"/>
            <a:headEnd/>
            <a:tailEnd/>
          </a:ln>
          <a:effectLst/>
        </p:spPr>
        <p:txBody>
          <a:bodyPr wrap="none">
            <a:spAutoFit/>
          </a:bodyPr>
          <a:lstStyle/>
          <a:p>
            <a:r>
              <a:rPr lang="en-US" sz="1800">
                <a:cs typeface="Arial" charset="0"/>
              </a:rPr>
              <a:t>Project</a:t>
            </a:r>
          </a:p>
        </p:txBody>
      </p:sp>
      <p:sp>
        <p:nvSpPr>
          <p:cNvPr id="1047559" name="Oval 7"/>
          <p:cNvSpPr>
            <a:spLocks noChangeArrowheads="1"/>
          </p:cNvSpPr>
          <p:nvPr/>
        </p:nvSpPr>
        <p:spPr bwMode="auto">
          <a:xfrm>
            <a:off x="3505200" y="5105400"/>
            <a:ext cx="1752600" cy="457200"/>
          </a:xfrm>
          <a:prstGeom prst="ellipse">
            <a:avLst/>
          </a:prstGeom>
          <a:noFill/>
          <a:ln w="9525">
            <a:solidFill>
              <a:schemeClr val="tx1"/>
            </a:solidFill>
            <a:round/>
            <a:headEnd/>
            <a:tailEnd/>
          </a:ln>
          <a:effectLst/>
        </p:spPr>
        <p:txBody>
          <a:bodyPr wrap="none" anchor="ctr"/>
          <a:lstStyle/>
          <a:p>
            <a:endParaRPr lang="en-US"/>
          </a:p>
        </p:txBody>
      </p:sp>
      <p:sp>
        <p:nvSpPr>
          <p:cNvPr id="1047560" name="Text Box 8"/>
          <p:cNvSpPr txBox="1">
            <a:spLocks noChangeArrowheads="1"/>
          </p:cNvSpPr>
          <p:nvPr/>
        </p:nvSpPr>
        <p:spPr bwMode="auto">
          <a:xfrm>
            <a:off x="3794125" y="5118100"/>
            <a:ext cx="1227138" cy="366713"/>
          </a:xfrm>
          <a:prstGeom prst="rect">
            <a:avLst/>
          </a:prstGeom>
          <a:noFill/>
          <a:ln w="9525">
            <a:noFill/>
            <a:miter lim="800000"/>
            <a:headEnd/>
            <a:tailEnd/>
          </a:ln>
          <a:effectLst/>
        </p:spPr>
        <p:txBody>
          <a:bodyPr wrap="none">
            <a:spAutoFit/>
          </a:bodyPr>
          <a:lstStyle/>
          <a:p>
            <a:r>
              <a:rPr lang="en-US" sz="1800">
                <a:cs typeface="Arial" charset="0"/>
              </a:rPr>
              <a:t>Works_On</a:t>
            </a:r>
          </a:p>
        </p:txBody>
      </p:sp>
      <p:sp>
        <p:nvSpPr>
          <p:cNvPr id="1047561" name="Line 9"/>
          <p:cNvSpPr>
            <a:spLocks noChangeShapeType="1"/>
          </p:cNvSpPr>
          <p:nvPr/>
        </p:nvSpPr>
        <p:spPr bwMode="auto">
          <a:xfrm flipH="1">
            <a:off x="2057400" y="4343400"/>
            <a:ext cx="990600" cy="228600"/>
          </a:xfrm>
          <a:prstGeom prst="line">
            <a:avLst/>
          </a:prstGeom>
          <a:noFill/>
          <a:ln w="9525">
            <a:solidFill>
              <a:schemeClr val="tx1"/>
            </a:solidFill>
            <a:round/>
            <a:headEnd/>
            <a:tailEnd/>
          </a:ln>
          <a:effectLst/>
        </p:spPr>
        <p:txBody>
          <a:bodyPr/>
          <a:lstStyle/>
          <a:p>
            <a:endParaRPr lang="en-US"/>
          </a:p>
        </p:txBody>
      </p:sp>
      <p:sp>
        <p:nvSpPr>
          <p:cNvPr id="1047562" name="Line 10"/>
          <p:cNvSpPr>
            <a:spLocks noChangeShapeType="1"/>
          </p:cNvSpPr>
          <p:nvPr/>
        </p:nvSpPr>
        <p:spPr bwMode="auto">
          <a:xfrm>
            <a:off x="3200400" y="4343400"/>
            <a:ext cx="990600" cy="152400"/>
          </a:xfrm>
          <a:prstGeom prst="line">
            <a:avLst/>
          </a:prstGeom>
          <a:noFill/>
          <a:ln w="9525">
            <a:solidFill>
              <a:schemeClr val="tx1"/>
            </a:solidFill>
            <a:round/>
            <a:headEnd/>
            <a:tailEnd/>
          </a:ln>
          <a:effectLst/>
        </p:spPr>
        <p:txBody>
          <a:bodyPr/>
          <a:lstStyle/>
          <a:p>
            <a:endParaRPr lang="en-US"/>
          </a:p>
        </p:txBody>
      </p:sp>
      <p:sp>
        <p:nvSpPr>
          <p:cNvPr id="1047563" name="Text Box 11"/>
          <p:cNvSpPr txBox="1">
            <a:spLocks noChangeArrowheads="1"/>
          </p:cNvSpPr>
          <p:nvPr/>
        </p:nvSpPr>
        <p:spPr bwMode="auto">
          <a:xfrm>
            <a:off x="2286000" y="3810000"/>
            <a:ext cx="1798638" cy="457200"/>
          </a:xfrm>
          <a:prstGeom prst="rect">
            <a:avLst/>
          </a:prstGeom>
          <a:noFill/>
          <a:ln w="9525">
            <a:noFill/>
            <a:miter lim="800000"/>
            <a:headEnd/>
            <a:tailEnd/>
          </a:ln>
          <a:effectLst/>
        </p:spPr>
        <p:txBody>
          <a:bodyPr wrap="none">
            <a:spAutoFit/>
          </a:bodyPr>
          <a:lstStyle/>
          <a:p>
            <a:r>
              <a:rPr lang="el-GR" sz="2400"/>
              <a:t>θ</a:t>
            </a:r>
            <a:r>
              <a:rPr lang="en-US" sz="1800"/>
              <a:t>Pnumber=Pno</a:t>
            </a:r>
            <a:endParaRPr lang="el-GR" sz="2400"/>
          </a:p>
        </p:txBody>
      </p:sp>
      <p:sp>
        <p:nvSpPr>
          <p:cNvPr id="1047565" name="Line 13"/>
          <p:cNvSpPr>
            <a:spLocks noChangeShapeType="1"/>
          </p:cNvSpPr>
          <p:nvPr/>
        </p:nvSpPr>
        <p:spPr bwMode="auto">
          <a:xfrm flipH="1">
            <a:off x="3200400" y="2895600"/>
            <a:ext cx="1371600" cy="381000"/>
          </a:xfrm>
          <a:prstGeom prst="line">
            <a:avLst/>
          </a:prstGeom>
          <a:noFill/>
          <a:ln w="9525">
            <a:solidFill>
              <a:schemeClr val="tx1"/>
            </a:solidFill>
            <a:round/>
            <a:headEnd/>
            <a:tailEnd/>
          </a:ln>
          <a:effectLst/>
        </p:spPr>
        <p:txBody>
          <a:bodyPr/>
          <a:lstStyle/>
          <a:p>
            <a:endParaRPr lang="en-US"/>
          </a:p>
        </p:txBody>
      </p:sp>
      <p:sp>
        <p:nvSpPr>
          <p:cNvPr id="1047566" name="Line 14"/>
          <p:cNvSpPr>
            <a:spLocks noChangeShapeType="1"/>
          </p:cNvSpPr>
          <p:nvPr/>
        </p:nvSpPr>
        <p:spPr bwMode="auto">
          <a:xfrm>
            <a:off x="4800600" y="2895600"/>
            <a:ext cx="1600200" cy="381000"/>
          </a:xfrm>
          <a:prstGeom prst="line">
            <a:avLst/>
          </a:prstGeom>
          <a:noFill/>
          <a:ln w="9525">
            <a:solidFill>
              <a:schemeClr val="tx1"/>
            </a:solidFill>
            <a:round/>
            <a:headEnd/>
            <a:tailEnd/>
          </a:ln>
          <a:effectLst/>
        </p:spPr>
        <p:txBody>
          <a:bodyPr/>
          <a:lstStyle/>
          <a:p>
            <a:endParaRPr lang="en-US"/>
          </a:p>
        </p:txBody>
      </p:sp>
      <p:sp>
        <p:nvSpPr>
          <p:cNvPr id="1047568" name="Line 16"/>
          <p:cNvSpPr>
            <a:spLocks noChangeShapeType="1"/>
          </p:cNvSpPr>
          <p:nvPr/>
        </p:nvSpPr>
        <p:spPr bwMode="auto">
          <a:xfrm>
            <a:off x="4724400" y="2209800"/>
            <a:ext cx="0" cy="304800"/>
          </a:xfrm>
          <a:prstGeom prst="line">
            <a:avLst/>
          </a:prstGeom>
          <a:noFill/>
          <a:ln w="9525">
            <a:solidFill>
              <a:schemeClr val="tx1"/>
            </a:solidFill>
            <a:round/>
            <a:headEnd/>
            <a:tailEnd/>
          </a:ln>
          <a:effectLst/>
        </p:spPr>
        <p:txBody>
          <a:bodyPr/>
          <a:lstStyle/>
          <a:p>
            <a:endParaRPr lang="en-US"/>
          </a:p>
        </p:txBody>
      </p:sp>
      <p:sp>
        <p:nvSpPr>
          <p:cNvPr id="1047569" name="Text Box 17"/>
          <p:cNvSpPr txBox="1">
            <a:spLocks noChangeArrowheads="1"/>
          </p:cNvSpPr>
          <p:nvPr/>
        </p:nvSpPr>
        <p:spPr bwMode="auto">
          <a:xfrm>
            <a:off x="4343400" y="1709738"/>
            <a:ext cx="1150938" cy="519112"/>
          </a:xfrm>
          <a:prstGeom prst="rect">
            <a:avLst/>
          </a:prstGeom>
          <a:noFill/>
          <a:ln w="9525">
            <a:noFill/>
            <a:miter lim="800000"/>
            <a:headEnd/>
            <a:tailEnd/>
          </a:ln>
          <a:effectLst/>
        </p:spPr>
        <p:txBody>
          <a:bodyPr wrap="none">
            <a:spAutoFit/>
          </a:bodyPr>
          <a:lstStyle/>
          <a:p>
            <a:r>
              <a:rPr lang="en-US">
                <a:cs typeface="Arial" charset="0"/>
              </a:rPr>
              <a:t>∏</a:t>
            </a:r>
            <a:r>
              <a:rPr lang="en-US" sz="1800">
                <a:cs typeface="Arial" charset="0"/>
              </a:rPr>
              <a:t>Lname</a:t>
            </a:r>
          </a:p>
        </p:txBody>
      </p:sp>
      <p:sp>
        <p:nvSpPr>
          <p:cNvPr id="1047570" name="Text Box 18"/>
          <p:cNvSpPr txBox="1">
            <a:spLocks noChangeArrowheads="1"/>
          </p:cNvSpPr>
          <p:nvPr/>
        </p:nvSpPr>
        <p:spPr bwMode="auto">
          <a:xfrm>
            <a:off x="3987800" y="2362200"/>
            <a:ext cx="1489075" cy="519113"/>
          </a:xfrm>
          <a:prstGeom prst="rect">
            <a:avLst/>
          </a:prstGeom>
          <a:noFill/>
          <a:ln w="9525">
            <a:noFill/>
            <a:miter lim="800000"/>
            <a:headEnd/>
            <a:tailEnd/>
          </a:ln>
          <a:effectLst/>
        </p:spPr>
        <p:txBody>
          <a:bodyPr wrap="none">
            <a:spAutoFit/>
          </a:bodyPr>
          <a:lstStyle/>
          <a:p>
            <a:r>
              <a:rPr lang="el-GR"/>
              <a:t>θ</a:t>
            </a:r>
            <a:r>
              <a:rPr lang="en-US" sz="1800">
                <a:cs typeface="Arial" charset="0"/>
              </a:rPr>
              <a:t>ESSN=SSN</a:t>
            </a:r>
          </a:p>
        </p:txBody>
      </p:sp>
      <p:sp>
        <p:nvSpPr>
          <p:cNvPr id="1047571" name="Text Box 19"/>
          <p:cNvSpPr txBox="1">
            <a:spLocks noChangeArrowheads="1"/>
          </p:cNvSpPr>
          <p:nvPr/>
        </p:nvSpPr>
        <p:spPr bwMode="auto">
          <a:xfrm>
            <a:off x="5172075" y="3886200"/>
            <a:ext cx="2428875" cy="519113"/>
          </a:xfrm>
          <a:prstGeom prst="rect">
            <a:avLst/>
          </a:prstGeom>
          <a:noFill/>
          <a:ln w="9525">
            <a:noFill/>
            <a:miter lim="800000"/>
            <a:headEnd/>
            <a:tailEnd/>
          </a:ln>
          <a:effectLst/>
        </p:spPr>
        <p:txBody>
          <a:bodyPr wrap="none">
            <a:spAutoFit/>
          </a:bodyPr>
          <a:lstStyle/>
          <a:p>
            <a:r>
              <a:rPr lang="el-GR"/>
              <a:t>σ</a:t>
            </a:r>
            <a:r>
              <a:rPr lang="en-US" sz="1800">
                <a:cs typeface="Arial" charset="0"/>
              </a:rPr>
              <a:t>BDate&gt;‘1957-12-13’</a:t>
            </a:r>
          </a:p>
        </p:txBody>
      </p:sp>
      <p:sp>
        <p:nvSpPr>
          <p:cNvPr id="1047572" name="Line 20"/>
          <p:cNvSpPr>
            <a:spLocks noChangeShapeType="1"/>
          </p:cNvSpPr>
          <p:nvPr/>
        </p:nvSpPr>
        <p:spPr bwMode="auto">
          <a:xfrm>
            <a:off x="6781800" y="4343400"/>
            <a:ext cx="0" cy="457200"/>
          </a:xfrm>
          <a:prstGeom prst="line">
            <a:avLst/>
          </a:prstGeom>
          <a:noFill/>
          <a:ln w="9525">
            <a:solidFill>
              <a:schemeClr val="tx1"/>
            </a:solidFill>
            <a:miter lim="800000"/>
            <a:headEnd/>
            <a:tailEnd/>
          </a:ln>
          <a:effectLst/>
        </p:spPr>
        <p:txBody>
          <a:bodyPr wrap="none"/>
          <a:lstStyle/>
          <a:p>
            <a:endParaRPr lang="en-US"/>
          </a:p>
        </p:txBody>
      </p:sp>
      <p:sp>
        <p:nvSpPr>
          <p:cNvPr id="1047573" name="Text Box 21"/>
          <p:cNvSpPr txBox="1">
            <a:spLocks noChangeArrowheads="1"/>
          </p:cNvSpPr>
          <p:nvPr/>
        </p:nvSpPr>
        <p:spPr bwMode="auto">
          <a:xfrm>
            <a:off x="990600" y="4967288"/>
            <a:ext cx="2144713" cy="519112"/>
          </a:xfrm>
          <a:prstGeom prst="rect">
            <a:avLst/>
          </a:prstGeom>
          <a:noFill/>
          <a:ln w="9525">
            <a:noFill/>
            <a:miter lim="800000"/>
            <a:headEnd/>
            <a:tailEnd/>
          </a:ln>
          <a:effectLst/>
        </p:spPr>
        <p:txBody>
          <a:bodyPr wrap="none">
            <a:spAutoFit/>
          </a:bodyPr>
          <a:lstStyle/>
          <a:p>
            <a:r>
              <a:rPr lang="el-GR"/>
              <a:t>σ</a:t>
            </a:r>
            <a:r>
              <a:rPr lang="en-US" sz="1800">
                <a:cs typeface="Arial" charset="0"/>
              </a:rPr>
              <a:t>Pname=‘Aquirius’</a:t>
            </a:r>
          </a:p>
        </p:txBody>
      </p:sp>
      <p:sp>
        <p:nvSpPr>
          <p:cNvPr id="1047574" name="Line 22"/>
          <p:cNvSpPr>
            <a:spLocks noChangeShapeType="1"/>
          </p:cNvSpPr>
          <p:nvPr/>
        </p:nvSpPr>
        <p:spPr bwMode="auto">
          <a:xfrm>
            <a:off x="2057400" y="5410200"/>
            <a:ext cx="0" cy="381000"/>
          </a:xfrm>
          <a:prstGeom prst="line">
            <a:avLst/>
          </a:prstGeom>
          <a:noFill/>
          <a:ln w="9525">
            <a:solidFill>
              <a:schemeClr val="tx1"/>
            </a:solidFill>
            <a:miter lim="800000"/>
            <a:headEnd/>
            <a:tailEnd/>
          </a:ln>
          <a:effectLst/>
        </p:spPr>
        <p:txBody>
          <a:bodyPr wrap="none"/>
          <a:lstStyle/>
          <a:p>
            <a:endParaRPr lang="en-US"/>
          </a:p>
        </p:txBody>
      </p:sp>
      <p:sp>
        <p:nvSpPr>
          <p:cNvPr id="1047575" name="Text Box 23"/>
          <p:cNvSpPr txBox="1">
            <a:spLocks noChangeArrowheads="1"/>
          </p:cNvSpPr>
          <p:nvPr/>
        </p:nvSpPr>
        <p:spPr bwMode="auto">
          <a:xfrm>
            <a:off x="2667000" y="3138488"/>
            <a:ext cx="960438" cy="519112"/>
          </a:xfrm>
          <a:prstGeom prst="rect">
            <a:avLst/>
          </a:prstGeom>
          <a:noFill/>
          <a:ln w="9525">
            <a:noFill/>
            <a:miter lim="800000"/>
            <a:headEnd/>
            <a:tailEnd/>
          </a:ln>
          <a:effectLst/>
        </p:spPr>
        <p:txBody>
          <a:bodyPr wrap="none">
            <a:spAutoFit/>
          </a:bodyPr>
          <a:lstStyle/>
          <a:p>
            <a:r>
              <a:rPr lang="en-US"/>
              <a:t>∏</a:t>
            </a:r>
            <a:r>
              <a:rPr lang="en-US" sz="1800"/>
              <a:t>ESSN</a:t>
            </a:r>
          </a:p>
        </p:txBody>
      </p:sp>
      <p:sp>
        <p:nvSpPr>
          <p:cNvPr id="1047576" name="Text Box 24"/>
          <p:cNvSpPr txBox="1">
            <a:spLocks noChangeArrowheads="1"/>
          </p:cNvSpPr>
          <p:nvPr/>
        </p:nvSpPr>
        <p:spPr bwMode="auto">
          <a:xfrm>
            <a:off x="5738813" y="3124200"/>
            <a:ext cx="1576387" cy="519113"/>
          </a:xfrm>
          <a:prstGeom prst="rect">
            <a:avLst/>
          </a:prstGeom>
          <a:noFill/>
          <a:ln w="9525">
            <a:noFill/>
            <a:miter lim="800000"/>
            <a:headEnd/>
            <a:tailEnd/>
          </a:ln>
          <a:effectLst/>
        </p:spPr>
        <p:txBody>
          <a:bodyPr wrap="none">
            <a:spAutoFit/>
          </a:bodyPr>
          <a:lstStyle/>
          <a:p>
            <a:r>
              <a:rPr lang="en-US"/>
              <a:t>∏</a:t>
            </a:r>
            <a:r>
              <a:rPr lang="en-US" sz="1800"/>
              <a:t>SSN,Lname</a:t>
            </a:r>
          </a:p>
        </p:txBody>
      </p:sp>
      <p:sp>
        <p:nvSpPr>
          <p:cNvPr id="1047577" name="Line 25"/>
          <p:cNvSpPr>
            <a:spLocks noChangeShapeType="1"/>
          </p:cNvSpPr>
          <p:nvPr/>
        </p:nvSpPr>
        <p:spPr bwMode="auto">
          <a:xfrm>
            <a:off x="6781800" y="3657600"/>
            <a:ext cx="0" cy="304800"/>
          </a:xfrm>
          <a:prstGeom prst="line">
            <a:avLst/>
          </a:prstGeom>
          <a:noFill/>
          <a:ln w="9525">
            <a:solidFill>
              <a:schemeClr val="tx1"/>
            </a:solidFill>
            <a:miter lim="800000"/>
            <a:headEnd/>
            <a:tailEnd/>
          </a:ln>
          <a:effectLst/>
        </p:spPr>
        <p:txBody>
          <a:bodyPr wrap="none"/>
          <a:lstStyle/>
          <a:p>
            <a:endParaRPr lang="en-US"/>
          </a:p>
        </p:txBody>
      </p:sp>
      <p:sp>
        <p:nvSpPr>
          <p:cNvPr id="1047578" name="Line 26"/>
          <p:cNvSpPr>
            <a:spLocks noChangeShapeType="1"/>
          </p:cNvSpPr>
          <p:nvPr/>
        </p:nvSpPr>
        <p:spPr bwMode="auto">
          <a:xfrm>
            <a:off x="3124200" y="3581400"/>
            <a:ext cx="0" cy="304800"/>
          </a:xfrm>
          <a:prstGeom prst="line">
            <a:avLst/>
          </a:prstGeom>
          <a:noFill/>
          <a:ln w="9525">
            <a:solidFill>
              <a:schemeClr val="tx1"/>
            </a:solidFill>
            <a:miter lim="800000"/>
            <a:headEnd/>
            <a:tailEnd/>
          </a:ln>
          <a:effectLst/>
        </p:spPr>
        <p:txBody>
          <a:bodyPr wrap="none"/>
          <a:lstStyle/>
          <a:p>
            <a:endParaRPr lang="en-US"/>
          </a:p>
        </p:txBody>
      </p:sp>
      <p:sp>
        <p:nvSpPr>
          <p:cNvPr id="1047579" name="Text Box 27"/>
          <p:cNvSpPr txBox="1">
            <a:spLocks noChangeArrowheads="1"/>
          </p:cNvSpPr>
          <p:nvPr/>
        </p:nvSpPr>
        <p:spPr bwMode="auto">
          <a:xfrm>
            <a:off x="1339850" y="4357688"/>
            <a:ext cx="1327150" cy="519112"/>
          </a:xfrm>
          <a:prstGeom prst="rect">
            <a:avLst/>
          </a:prstGeom>
          <a:noFill/>
          <a:ln w="9525">
            <a:noFill/>
            <a:miter lim="800000"/>
            <a:headEnd/>
            <a:tailEnd/>
          </a:ln>
          <a:effectLst/>
        </p:spPr>
        <p:txBody>
          <a:bodyPr wrap="none">
            <a:spAutoFit/>
          </a:bodyPr>
          <a:lstStyle/>
          <a:p>
            <a:r>
              <a:rPr lang="en-US"/>
              <a:t>∏</a:t>
            </a:r>
            <a:r>
              <a:rPr lang="en-US" sz="1800"/>
              <a:t>Pnumber</a:t>
            </a:r>
          </a:p>
        </p:txBody>
      </p:sp>
      <p:sp>
        <p:nvSpPr>
          <p:cNvPr id="1047580" name="Line 28"/>
          <p:cNvSpPr>
            <a:spLocks noChangeShapeType="1"/>
          </p:cNvSpPr>
          <p:nvPr/>
        </p:nvSpPr>
        <p:spPr bwMode="auto">
          <a:xfrm>
            <a:off x="2057400" y="4876800"/>
            <a:ext cx="0" cy="304800"/>
          </a:xfrm>
          <a:prstGeom prst="line">
            <a:avLst/>
          </a:prstGeom>
          <a:noFill/>
          <a:ln w="9525">
            <a:solidFill>
              <a:schemeClr val="tx1"/>
            </a:solidFill>
            <a:miter lim="800000"/>
            <a:headEnd/>
            <a:tailEnd/>
          </a:ln>
          <a:effectLst/>
        </p:spPr>
        <p:txBody>
          <a:bodyPr wrap="none"/>
          <a:lstStyle/>
          <a:p>
            <a:endParaRPr lang="en-US"/>
          </a:p>
        </p:txBody>
      </p:sp>
      <p:sp>
        <p:nvSpPr>
          <p:cNvPr id="1047581" name="Text Box 29"/>
          <p:cNvSpPr txBox="1">
            <a:spLocks noChangeArrowheads="1"/>
          </p:cNvSpPr>
          <p:nvPr/>
        </p:nvSpPr>
        <p:spPr bwMode="auto">
          <a:xfrm>
            <a:off x="3473450" y="4343400"/>
            <a:ext cx="1470025" cy="519113"/>
          </a:xfrm>
          <a:prstGeom prst="rect">
            <a:avLst/>
          </a:prstGeom>
          <a:noFill/>
          <a:ln w="9525">
            <a:noFill/>
            <a:miter lim="800000"/>
            <a:headEnd/>
            <a:tailEnd/>
          </a:ln>
          <a:effectLst/>
        </p:spPr>
        <p:txBody>
          <a:bodyPr wrap="none">
            <a:spAutoFit/>
          </a:bodyPr>
          <a:lstStyle/>
          <a:p>
            <a:r>
              <a:rPr lang="en-US"/>
              <a:t>∏</a:t>
            </a:r>
            <a:r>
              <a:rPr lang="en-US" sz="1800"/>
              <a:t>ESSN,PNO</a:t>
            </a:r>
          </a:p>
        </p:txBody>
      </p:sp>
      <p:sp>
        <p:nvSpPr>
          <p:cNvPr id="1047582" name="Line 30"/>
          <p:cNvSpPr>
            <a:spLocks noChangeShapeType="1"/>
          </p:cNvSpPr>
          <p:nvPr/>
        </p:nvSpPr>
        <p:spPr bwMode="auto">
          <a:xfrm>
            <a:off x="4267200" y="4800600"/>
            <a:ext cx="0" cy="304800"/>
          </a:xfrm>
          <a:prstGeom prst="line">
            <a:avLst/>
          </a:prstGeom>
          <a:noFill/>
          <a:ln w="9525">
            <a:solidFill>
              <a:schemeClr val="tx1"/>
            </a:solidFill>
            <a:miter lim="800000"/>
            <a:headEnd/>
            <a:tailEnd/>
          </a:ln>
          <a:effectLst/>
        </p:spPr>
        <p:txBody>
          <a:bodyPr wrap="none"/>
          <a:lstStyle/>
          <a:p>
            <a:endParaRPr lang="en-US"/>
          </a:p>
        </p:txBody>
      </p:sp>
      <p:sp>
        <p:nvSpPr>
          <p:cNvPr id="1047583" name="Text Box 31"/>
          <p:cNvSpPr txBox="1">
            <a:spLocks noChangeArrowheads="1"/>
          </p:cNvSpPr>
          <p:nvPr/>
        </p:nvSpPr>
        <p:spPr bwMode="auto">
          <a:xfrm>
            <a:off x="441325" y="2012950"/>
            <a:ext cx="2732088" cy="366713"/>
          </a:xfrm>
          <a:prstGeom prst="rect">
            <a:avLst/>
          </a:prstGeom>
          <a:noFill/>
          <a:ln w="9525">
            <a:noFill/>
            <a:miter lim="800000"/>
            <a:headEnd/>
            <a:tailEnd/>
          </a:ln>
          <a:effectLst/>
        </p:spPr>
        <p:txBody>
          <a:bodyPr wrap="none">
            <a:spAutoFit/>
          </a:bodyPr>
          <a:lstStyle/>
          <a:p>
            <a:r>
              <a:rPr lang="en-US" sz="1800">
                <a:solidFill>
                  <a:schemeClr val="hlink"/>
                </a:solidFill>
              </a:rPr>
              <a:t>Move PROJECTION down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{FA5C0642-0FED-5E47-970C-33D245EFEE84}tf10001070</Template>
  <TotalTime>826</TotalTime>
  <Words>1729</Words>
  <Application>Microsoft Office PowerPoint</Application>
  <PresentationFormat>On-screen Show (4:3)</PresentationFormat>
  <Paragraphs>319</Paragraphs>
  <Slides>33</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33</vt:i4>
      </vt:variant>
    </vt:vector>
  </HeadingPairs>
  <TitlesOfParts>
    <vt:vector size="44" baseType="lpstr">
      <vt:lpstr>Arial</vt:lpstr>
      <vt:lpstr>Calibri</vt:lpstr>
      <vt:lpstr>Calibri Light</vt:lpstr>
      <vt:lpstr>Cambria Math</vt:lpstr>
      <vt:lpstr>Comic Sans MS</vt:lpstr>
      <vt:lpstr>Lucida Grande</vt:lpstr>
      <vt:lpstr>Menlo</vt:lpstr>
      <vt:lpstr>Symbol</vt:lpstr>
      <vt:lpstr>Times New Roman</vt:lpstr>
      <vt:lpstr>Wingdings</vt:lpstr>
      <vt:lpstr>Office Theme</vt:lpstr>
      <vt:lpstr>Query Processing and Optimization</vt:lpstr>
      <vt:lpstr>Objectives</vt:lpstr>
      <vt:lpstr>Introduction</vt:lpstr>
      <vt:lpstr>Processing a High-Level Query</vt:lpstr>
      <vt:lpstr>Processing a High-Level Query</vt:lpstr>
      <vt:lpstr>Processing a High-Level Query</vt:lpstr>
      <vt:lpstr>Major Phases in Query Processing</vt:lpstr>
      <vt:lpstr>Example: Translating SQL Queries into Relational Algebra</vt:lpstr>
      <vt:lpstr>Example: Translating SQL Queries into Relational Algebra</vt:lpstr>
      <vt:lpstr>Optimizing Queries</vt:lpstr>
      <vt:lpstr>Steps in Query Optimization</vt:lpstr>
      <vt:lpstr>Query Trees</vt:lpstr>
      <vt:lpstr>Query graph: </vt:lpstr>
      <vt:lpstr>Query Tree Example</vt:lpstr>
      <vt:lpstr>Query Tree: Example</vt:lpstr>
      <vt:lpstr>… --- Query Tree: Example</vt:lpstr>
      <vt:lpstr>--- Query Graph Example …</vt:lpstr>
      <vt:lpstr>… --- Query Graph Example</vt:lpstr>
      <vt:lpstr>- Relational Algebra Transformation</vt:lpstr>
      <vt:lpstr>- Relational Algebra Transformation</vt:lpstr>
      <vt:lpstr>- Relational Algebra Transformation</vt:lpstr>
      <vt:lpstr>Heuristic Optimization- Further Details </vt:lpstr>
      <vt:lpstr>Given an SQL Query, Let we Translate it into its Relational Algebra Expression</vt:lpstr>
      <vt:lpstr>Optimizing RA Plan</vt:lpstr>
      <vt:lpstr>Optimizing RA Plan (cont…)</vt:lpstr>
      <vt:lpstr>Optimizing RA Plan (cont…)</vt:lpstr>
      <vt:lpstr>Optimizing RA Plan (cont…)</vt:lpstr>
      <vt:lpstr>-- Query Optimization: Example …</vt:lpstr>
      <vt:lpstr>… -- Query Optimization: Example …</vt:lpstr>
      <vt:lpstr>… -- Query Optimization: Example …</vt:lpstr>
      <vt:lpstr>… -- Query Optimization: Example …</vt:lpstr>
      <vt:lpstr>… -- Query Optimization: Example …</vt:lpstr>
      <vt:lpstr>… -- Query Optimization: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Query Processing and Optimization</dc:title>
  <dc:creator>Salman</dc:creator>
  <cp:lastModifiedBy>Windows User</cp:lastModifiedBy>
  <cp:revision>29</cp:revision>
  <cp:lastPrinted>2021-12-16T06:14:52Z</cp:lastPrinted>
  <dcterms:created xsi:type="dcterms:W3CDTF">2006-08-16T00:00:00Z</dcterms:created>
  <dcterms:modified xsi:type="dcterms:W3CDTF">2021-12-16T12:14:00Z</dcterms:modified>
</cp:coreProperties>
</file>