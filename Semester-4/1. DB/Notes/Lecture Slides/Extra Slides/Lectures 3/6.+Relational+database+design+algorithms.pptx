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1" r:id="rId1"/>
  </p:sldMasterIdLst>
  <p:notesMasterIdLst>
    <p:notesMasterId r:id="rId42"/>
  </p:notesMasterIdLst>
  <p:handoutMasterIdLst>
    <p:handoutMasterId r:id="rId43"/>
  </p:handoutMasterIdLst>
  <p:sldIdLst>
    <p:sldId id="523" r:id="rId2"/>
    <p:sldId id="430" r:id="rId3"/>
    <p:sldId id="471" r:id="rId4"/>
    <p:sldId id="472" r:id="rId5"/>
    <p:sldId id="476" r:id="rId6"/>
    <p:sldId id="545" r:id="rId7"/>
    <p:sldId id="546" r:id="rId8"/>
    <p:sldId id="547" r:id="rId9"/>
    <p:sldId id="548" r:id="rId10"/>
    <p:sldId id="527" r:id="rId11"/>
    <p:sldId id="526" r:id="rId12"/>
    <p:sldId id="479" r:id="rId13"/>
    <p:sldId id="483" r:id="rId14"/>
    <p:sldId id="532" r:id="rId15"/>
    <p:sldId id="533" r:id="rId16"/>
    <p:sldId id="482" r:id="rId17"/>
    <p:sldId id="534" r:id="rId18"/>
    <p:sldId id="535" r:id="rId19"/>
    <p:sldId id="549" r:id="rId20"/>
    <p:sldId id="550" r:id="rId21"/>
    <p:sldId id="541" r:id="rId22"/>
    <p:sldId id="551" r:id="rId23"/>
    <p:sldId id="542" r:id="rId24"/>
    <p:sldId id="544" r:id="rId25"/>
    <p:sldId id="485" r:id="rId26"/>
    <p:sldId id="520" r:id="rId27"/>
    <p:sldId id="536" r:id="rId28"/>
    <p:sldId id="486" r:id="rId29"/>
    <p:sldId id="521" r:id="rId30"/>
    <p:sldId id="489" r:id="rId31"/>
    <p:sldId id="504" r:id="rId32"/>
    <p:sldId id="539" r:id="rId33"/>
    <p:sldId id="540" r:id="rId34"/>
    <p:sldId id="506" r:id="rId35"/>
    <p:sldId id="507" r:id="rId36"/>
    <p:sldId id="508" r:id="rId37"/>
    <p:sldId id="509" r:id="rId38"/>
    <p:sldId id="537" r:id="rId39"/>
    <p:sldId id="510" r:id="rId40"/>
    <p:sldId id="511" r:id="rId4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1872">
          <p15:clr>
            <a:srgbClr val="A4A3A4"/>
          </p15:clr>
        </p15:guide>
        <p15:guide id="2" orient="horz" pos="4185">
          <p15:clr>
            <a:srgbClr val="A4A3A4"/>
          </p15:clr>
        </p15:guide>
        <p15:guide id="3" pos="289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33"/>
    <a:srgbClr val="00CC00"/>
    <a:srgbClr val="FF0066"/>
    <a:srgbClr val="FFFF99"/>
    <a:srgbClr val="FF9933"/>
    <a:srgbClr val="0099FF"/>
    <a:srgbClr val="80808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3913" autoAdjust="0"/>
  </p:normalViewPr>
  <p:slideViewPr>
    <p:cSldViewPr snapToGrid="0" snapToObjects="1">
      <p:cViewPr varScale="1">
        <p:scale>
          <a:sx n="66" d="100"/>
          <a:sy n="66" d="100"/>
        </p:scale>
        <p:origin x="1958" y="38"/>
      </p:cViewPr>
      <p:guideLst>
        <p:guide orient="horz" pos="1872"/>
        <p:guide orient="horz" pos="4185"/>
        <p:guide pos="2898"/>
      </p:guideLst>
    </p:cSldViewPr>
  </p:slideViewPr>
  <p:outlineViewPr>
    <p:cViewPr>
      <p:scale>
        <a:sx n="33" d="100"/>
        <a:sy n="33" d="100"/>
      </p:scale>
      <p:origin x="0" y="-16608"/>
    </p:cViewPr>
  </p:outlineViewPr>
  <p:notesTextViewPr>
    <p:cViewPr>
      <p:scale>
        <a:sx n="100" d="100"/>
        <a:sy n="100" d="100"/>
      </p:scale>
      <p:origin x="0" y="0"/>
    </p:cViewPr>
  </p:notesTextViewPr>
  <p:sorterViewPr>
    <p:cViewPr>
      <p:scale>
        <a:sx n="33" d="100"/>
        <a:sy n="33" d="100"/>
      </p:scale>
      <p:origin x="0" y="0"/>
    </p:cViewPr>
  </p:sorterViewPr>
  <p:notesViewPr>
    <p:cSldViewPr snapToGrid="0" snapToObjects="1">
      <p:cViewPr varScale="1">
        <p:scale>
          <a:sx n="68" d="100"/>
          <a:sy n="68" d="100"/>
        </p:scale>
        <p:origin x="3101" y="5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endParaRPr lang="en-US"/>
          </a:p>
        </p:txBody>
      </p:sp>
      <p:sp>
        <p:nvSpPr>
          <p:cNvPr id="1515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5D5B49D7-CFB7-4420-AB07-9D4D1C41DCB9}" type="datetime1">
              <a:rPr lang="en-US"/>
              <a:pPr/>
              <a:t>4/24/2015</a:t>
            </a:fld>
            <a:endParaRPr lang="en-US"/>
          </a:p>
        </p:txBody>
      </p:sp>
      <p:sp>
        <p:nvSpPr>
          <p:cNvPr id="1515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endParaRPr lang="en-US"/>
          </a:p>
        </p:txBody>
      </p:sp>
      <p:sp>
        <p:nvSpPr>
          <p:cNvPr id="1515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8452DE79-6B7C-470B-8432-A9051B41182D}" type="slidenum">
              <a:rPr lang="en-US"/>
              <a:pPr/>
              <a:t>‹#›</a:t>
            </a:fld>
            <a:endParaRPr lang="en-US"/>
          </a:p>
        </p:txBody>
      </p:sp>
    </p:spTree>
    <p:extLst>
      <p:ext uri="{BB962C8B-B14F-4D97-AF65-F5344CB8AC3E}">
        <p14:creationId xmlns:p14="http://schemas.microsoft.com/office/powerpoint/2010/main" val="207974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endParaRPr lang="en-US"/>
          </a:p>
        </p:txBody>
      </p:sp>
      <p:sp>
        <p:nvSpPr>
          <p:cNvPr id="92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D6FFC425-D752-4C81-BAA9-8FE302451F01}" type="datetime1">
              <a:rPr lang="en-US"/>
              <a:pPr/>
              <a:t>4/24/2015</a:t>
            </a:fld>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922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2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endParaRPr lang="en-US"/>
          </a:p>
        </p:txBody>
      </p:sp>
      <p:sp>
        <p:nvSpPr>
          <p:cNvPr id="922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11956CED-6D67-449F-B0BA-15441F497BA9}" type="slidenum">
              <a:rPr lang="en-US"/>
              <a:pPr/>
              <a:t>‹#›</a:t>
            </a:fld>
            <a:endParaRPr lang="en-US"/>
          </a:p>
        </p:txBody>
      </p:sp>
    </p:spTree>
    <p:extLst>
      <p:ext uri="{BB962C8B-B14F-4D97-AF65-F5344CB8AC3E}">
        <p14:creationId xmlns:p14="http://schemas.microsoft.com/office/powerpoint/2010/main" val="2209698422"/>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dirty="0" smtClean="0">
                <a:cs typeface="Times New Roman" pitchFamily="18" charset="0"/>
              </a:rPr>
              <a:t>Universal relation assumption</a:t>
            </a:r>
            <a:r>
              <a:rPr lang="en-US" sz="1200" dirty="0" smtClean="0">
                <a:cs typeface="Times New Roman" pitchFamily="18" charset="0"/>
              </a:rPr>
              <a:t>: every attribute name is unique.</a:t>
            </a:r>
            <a:endParaRPr lang="en-US" sz="1200" dirty="0">
              <a:cs typeface="Times New Roman" pitchFamily="18" charset="0"/>
            </a:endParaRPr>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3</a:t>
            </a:fld>
            <a:endParaRPr lang="en-US"/>
          </a:p>
        </p:txBody>
      </p:sp>
    </p:spTree>
    <p:extLst>
      <p:ext uri="{BB962C8B-B14F-4D97-AF65-F5344CB8AC3E}">
        <p14:creationId xmlns:p14="http://schemas.microsoft.com/office/powerpoint/2010/main" val="3043667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b="1" dirty="0" smtClean="0">
                <a:cs typeface="Times New Roman" pitchFamily="18" charset="0"/>
              </a:rPr>
              <a:t>Note</a:t>
            </a:r>
            <a:r>
              <a:rPr lang="en-US" sz="1200" dirty="0" smtClean="0">
                <a:cs typeface="Times New Roman" pitchFamily="18" charset="0"/>
              </a:rPr>
              <a:t>: The word loss in </a:t>
            </a:r>
            <a:r>
              <a:rPr lang="en-US" sz="1200" i="1" dirty="0" smtClean="0">
                <a:cs typeface="Times New Roman" pitchFamily="18" charset="0"/>
              </a:rPr>
              <a:t>lossless</a:t>
            </a:r>
            <a:r>
              <a:rPr lang="en-US" sz="1200" dirty="0" smtClean="0">
                <a:cs typeface="Times New Roman" pitchFamily="18" charset="0"/>
              </a:rPr>
              <a:t> refers to </a:t>
            </a:r>
            <a:r>
              <a:rPr lang="en-US" sz="1200" i="1" dirty="0" smtClean="0">
                <a:cs typeface="Times New Roman" pitchFamily="18" charset="0"/>
              </a:rPr>
              <a:t>loss of information,</a:t>
            </a:r>
            <a:r>
              <a:rPr lang="en-US" sz="1200" dirty="0" smtClean="0">
                <a:cs typeface="Times New Roman" pitchFamily="18" charset="0"/>
              </a:rPr>
              <a:t> not to loss of tuples. In fact, for “loss of information” a  better term is “</a:t>
            </a:r>
            <a:r>
              <a:rPr lang="en-US" sz="1200" u="sng" dirty="0" smtClean="0">
                <a:cs typeface="Times New Roman" pitchFamily="18" charset="0"/>
              </a:rPr>
              <a:t>addition of spurious information</a:t>
            </a:r>
            <a:r>
              <a:rPr lang="en-US" sz="1200" dirty="0" smtClean="0">
                <a:cs typeface="Times New Roman" pitchFamily="18" charset="0"/>
              </a:rPr>
              <a:t>”</a:t>
            </a:r>
          </a:p>
          <a:p>
            <a:endParaRPr lang="en-US" sz="1200" dirty="0" smtClean="0">
              <a:cs typeface="Times New Roman" pitchFamily="18" charset="0"/>
            </a:endParaRPr>
          </a:p>
          <a:p>
            <a:r>
              <a:rPr lang="en-GB" sz="1200" b="0" i="0" u="none" strike="noStrike" kern="1200" baseline="0" dirty="0" smtClean="0">
                <a:solidFill>
                  <a:schemeClr val="tx1"/>
                </a:solidFill>
                <a:latin typeface="Times New Roman" pitchFamily="18" charset="0"/>
                <a:ea typeface="+mn-ea"/>
                <a:cs typeface="+mn-cs"/>
              </a:rPr>
              <a:t>It is not necessary that the exact dependencies specified in </a:t>
            </a:r>
            <a:r>
              <a:rPr lang="en-GB" sz="1200" b="0" i="1" u="none" strike="noStrike" kern="1200" baseline="0" dirty="0" smtClean="0">
                <a:solidFill>
                  <a:schemeClr val="tx1"/>
                </a:solidFill>
                <a:latin typeface="Times New Roman" pitchFamily="18" charset="0"/>
                <a:ea typeface="+mn-ea"/>
                <a:cs typeface="+mn-cs"/>
              </a:rPr>
              <a:t>F </a:t>
            </a:r>
            <a:r>
              <a:rPr lang="en-GB" sz="1200" b="0" i="0" u="none" strike="noStrike" kern="1200" baseline="0" dirty="0" smtClean="0">
                <a:solidFill>
                  <a:schemeClr val="tx1"/>
                </a:solidFill>
                <a:latin typeface="Times New Roman" pitchFamily="18" charset="0"/>
                <a:ea typeface="+mn-ea"/>
                <a:cs typeface="+mn-cs"/>
              </a:rPr>
              <a:t>appear themselves in</a:t>
            </a:r>
          </a:p>
          <a:p>
            <a:r>
              <a:rPr lang="en-GB" sz="1200" b="0" i="0" u="none" strike="noStrike" kern="1200" baseline="0" dirty="0" smtClean="0">
                <a:solidFill>
                  <a:schemeClr val="tx1"/>
                </a:solidFill>
                <a:latin typeface="Times New Roman" pitchFamily="18" charset="0"/>
                <a:ea typeface="+mn-ea"/>
                <a:cs typeface="+mn-cs"/>
              </a:rPr>
              <a:t>individual relations of the decomposition </a:t>
            </a:r>
            <a:r>
              <a:rPr lang="en-GB" sz="1200" b="0" i="1" u="none" strike="noStrike" kern="1200" baseline="0" dirty="0" smtClean="0">
                <a:solidFill>
                  <a:schemeClr val="tx1"/>
                </a:solidFill>
                <a:latin typeface="Times New Roman" pitchFamily="18" charset="0"/>
                <a:ea typeface="+mn-ea"/>
                <a:cs typeface="+mn-cs"/>
              </a:rPr>
              <a:t>D</a:t>
            </a:r>
            <a:r>
              <a:rPr lang="en-GB" sz="1200" b="0" i="0" u="none" strike="noStrike" kern="1200" baseline="0" dirty="0" smtClean="0">
                <a:solidFill>
                  <a:schemeClr val="tx1"/>
                </a:solidFill>
                <a:latin typeface="Times New Roman" pitchFamily="18" charset="0"/>
                <a:ea typeface="+mn-ea"/>
                <a:cs typeface="+mn-cs"/>
              </a:rPr>
              <a:t>. It is sufficient that the union of the</a:t>
            </a:r>
          </a:p>
          <a:p>
            <a:r>
              <a:rPr lang="en-GB" sz="1200" b="0" i="0" u="none" strike="noStrike" kern="1200" baseline="0" dirty="0" smtClean="0">
                <a:solidFill>
                  <a:schemeClr val="tx1"/>
                </a:solidFill>
                <a:latin typeface="Times New Roman" pitchFamily="18" charset="0"/>
                <a:ea typeface="+mn-ea"/>
                <a:cs typeface="+mn-cs"/>
              </a:rPr>
              <a:t>dependencies that hold on the individual relations in </a:t>
            </a:r>
            <a:r>
              <a:rPr lang="en-GB" sz="1200" b="0" i="1" u="none" strike="noStrike" kern="1200" baseline="0" dirty="0" smtClean="0">
                <a:solidFill>
                  <a:schemeClr val="tx1"/>
                </a:solidFill>
                <a:latin typeface="Times New Roman" pitchFamily="18" charset="0"/>
                <a:ea typeface="+mn-ea"/>
                <a:cs typeface="+mn-cs"/>
              </a:rPr>
              <a:t>D </a:t>
            </a:r>
            <a:r>
              <a:rPr lang="en-GB" sz="1200" b="0" i="0" u="none" strike="noStrike" kern="1200" baseline="0" dirty="0" smtClean="0">
                <a:solidFill>
                  <a:schemeClr val="tx1"/>
                </a:solidFill>
                <a:latin typeface="Times New Roman" pitchFamily="18" charset="0"/>
                <a:ea typeface="+mn-ea"/>
                <a:cs typeface="+mn-cs"/>
              </a:rPr>
              <a:t>be equivalent to </a:t>
            </a:r>
            <a:r>
              <a:rPr lang="en-GB" sz="1200" b="0" i="1" u="none" strike="noStrike" kern="1200" baseline="0" dirty="0" smtClean="0">
                <a:solidFill>
                  <a:schemeClr val="tx1"/>
                </a:solidFill>
                <a:latin typeface="Times New Roman" pitchFamily="18" charset="0"/>
                <a:ea typeface="+mn-ea"/>
                <a:cs typeface="+mn-cs"/>
              </a:rPr>
              <a:t>F</a:t>
            </a:r>
            <a:r>
              <a:rPr lang="en-GB" sz="1200" b="0" i="0" u="none" strike="noStrike" kern="1200" baseline="0" dirty="0" smtClean="0">
                <a:solidFill>
                  <a:schemeClr val="tx1"/>
                </a:solidFill>
                <a:latin typeface="Times New Roman" pitchFamily="18" charset="0"/>
                <a:ea typeface="+mn-ea"/>
                <a:cs typeface="+mn-cs"/>
              </a:rPr>
              <a:t>. We now</a:t>
            </a:r>
          </a:p>
          <a:p>
            <a:r>
              <a:rPr lang="en-GB" sz="1200" b="0" i="0" u="none" strike="noStrike" kern="1200" baseline="0" dirty="0" smtClean="0">
                <a:solidFill>
                  <a:schemeClr val="tx1"/>
                </a:solidFill>
                <a:latin typeface="Times New Roman" pitchFamily="18" charset="0"/>
                <a:ea typeface="+mn-ea"/>
                <a:cs typeface="+mn-cs"/>
              </a:rPr>
              <a:t>define these concepts more formally.</a:t>
            </a:r>
          </a:p>
          <a:p>
            <a:r>
              <a:rPr lang="en-GB" sz="1200" b="1" i="0" u="none" strike="noStrike" kern="1200" baseline="0" dirty="0" smtClean="0">
                <a:solidFill>
                  <a:schemeClr val="tx1"/>
                </a:solidFill>
                <a:latin typeface="Times New Roman" pitchFamily="18" charset="0"/>
                <a:ea typeface="+mn-ea"/>
                <a:cs typeface="+mn-cs"/>
              </a:rPr>
              <a:t>Definition. </a:t>
            </a:r>
            <a:r>
              <a:rPr lang="en-GB" sz="1200" b="0" i="0" u="none" strike="noStrike" kern="1200" baseline="0" dirty="0" smtClean="0">
                <a:solidFill>
                  <a:schemeClr val="tx1"/>
                </a:solidFill>
                <a:latin typeface="Times New Roman" pitchFamily="18" charset="0"/>
                <a:ea typeface="+mn-ea"/>
                <a:cs typeface="+mn-cs"/>
              </a:rPr>
              <a:t>Given a set of dependencies </a:t>
            </a:r>
            <a:r>
              <a:rPr lang="en-GB" sz="1200" b="0" i="1" u="none" strike="noStrike" kern="1200" baseline="0" dirty="0" smtClean="0">
                <a:solidFill>
                  <a:schemeClr val="tx1"/>
                </a:solidFill>
                <a:latin typeface="Times New Roman" pitchFamily="18" charset="0"/>
                <a:ea typeface="+mn-ea"/>
                <a:cs typeface="+mn-cs"/>
              </a:rPr>
              <a:t>F </a:t>
            </a:r>
            <a:r>
              <a:rPr lang="en-GB" sz="1200" b="0" i="0" u="none" strike="noStrike" kern="1200" baseline="0" dirty="0" smtClean="0">
                <a:solidFill>
                  <a:schemeClr val="tx1"/>
                </a:solidFill>
                <a:latin typeface="Times New Roman" pitchFamily="18" charset="0"/>
                <a:ea typeface="+mn-ea"/>
                <a:cs typeface="+mn-cs"/>
              </a:rPr>
              <a:t>on </a:t>
            </a:r>
            <a:r>
              <a:rPr lang="en-GB" sz="1200" b="0" i="1" u="none" strike="noStrike" kern="1200" baseline="0" dirty="0" smtClean="0">
                <a:solidFill>
                  <a:schemeClr val="tx1"/>
                </a:solidFill>
                <a:latin typeface="Times New Roman" pitchFamily="18" charset="0"/>
                <a:ea typeface="+mn-ea"/>
                <a:cs typeface="+mn-cs"/>
              </a:rPr>
              <a:t>R</a:t>
            </a:r>
            <a:r>
              <a:rPr lang="en-GB" sz="1200" b="0" i="0" u="none" strike="noStrike" kern="1200" baseline="0" dirty="0" smtClean="0">
                <a:solidFill>
                  <a:schemeClr val="tx1"/>
                </a:solidFill>
                <a:latin typeface="Times New Roman" pitchFamily="18" charset="0"/>
                <a:ea typeface="+mn-ea"/>
                <a:cs typeface="+mn-cs"/>
              </a:rPr>
              <a:t>, the </a:t>
            </a:r>
            <a:r>
              <a:rPr lang="en-GB" sz="1200" b="1" i="0" u="none" strike="noStrike" kern="1200" baseline="0" dirty="0" smtClean="0">
                <a:solidFill>
                  <a:schemeClr val="tx1"/>
                </a:solidFill>
                <a:latin typeface="Times New Roman" pitchFamily="18" charset="0"/>
                <a:ea typeface="+mn-ea"/>
                <a:cs typeface="+mn-cs"/>
              </a:rPr>
              <a:t>projection </a:t>
            </a:r>
            <a:r>
              <a:rPr lang="en-GB" sz="1200" b="0" i="0" u="none" strike="noStrike" kern="1200" baseline="0" dirty="0" smtClean="0">
                <a:solidFill>
                  <a:schemeClr val="tx1"/>
                </a:solidFill>
                <a:latin typeface="Times New Roman" pitchFamily="18" charset="0"/>
                <a:ea typeface="+mn-ea"/>
                <a:cs typeface="+mn-cs"/>
              </a:rPr>
              <a:t>of </a:t>
            </a:r>
            <a:r>
              <a:rPr lang="en-GB" sz="1200" b="0" i="1" u="none" strike="noStrike" kern="1200" baseline="0" dirty="0" smtClean="0">
                <a:solidFill>
                  <a:schemeClr val="tx1"/>
                </a:solidFill>
                <a:latin typeface="Times New Roman" pitchFamily="18" charset="0"/>
                <a:ea typeface="+mn-ea"/>
                <a:cs typeface="+mn-cs"/>
              </a:rPr>
              <a:t>F </a:t>
            </a:r>
            <a:r>
              <a:rPr lang="en-GB" sz="1200" b="0" i="0" u="none" strike="noStrike" kern="1200" baseline="0" dirty="0" smtClean="0">
                <a:solidFill>
                  <a:schemeClr val="tx1"/>
                </a:solidFill>
                <a:latin typeface="Times New Roman" pitchFamily="18" charset="0"/>
                <a:ea typeface="+mn-ea"/>
                <a:cs typeface="+mn-cs"/>
              </a:rPr>
              <a:t>on </a:t>
            </a:r>
            <a:r>
              <a:rPr lang="en-GB" sz="1200" b="0" i="1" u="none" strike="noStrike" kern="1200" baseline="0" dirty="0" err="1" smtClean="0">
                <a:solidFill>
                  <a:schemeClr val="tx1"/>
                </a:solidFill>
                <a:latin typeface="Times New Roman" pitchFamily="18" charset="0"/>
                <a:ea typeface="+mn-ea"/>
                <a:cs typeface="+mn-cs"/>
              </a:rPr>
              <a:t>Ri</a:t>
            </a:r>
            <a:r>
              <a:rPr lang="en-GB" sz="1200" b="0" i="0" u="none" strike="noStrike" kern="1200" baseline="0" dirty="0" smtClean="0">
                <a:solidFill>
                  <a:schemeClr val="tx1"/>
                </a:solidFill>
                <a:latin typeface="Times New Roman" pitchFamily="18" charset="0"/>
                <a:ea typeface="+mn-ea"/>
                <a:cs typeface="+mn-cs"/>
              </a:rPr>
              <a:t>,</a:t>
            </a:r>
          </a:p>
          <a:p>
            <a:r>
              <a:rPr lang="en-GB" sz="1200" b="0" i="0" u="none" strike="noStrike" kern="1200" baseline="0" dirty="0" smtClean="0">
                <a:solidFill>
                  <a:schemeClr val="tx1"/>
                </a:solidFill>
                <a:latin typeface="Times New Roman" pitchFamily="18" charset="0"/>
                <a:ea typeface="+mn-ea"/>
                <a:cs typeface="+mn-cs"/>
              </a:rPr>
              <a:t>denoted by π</a:t>
            </a:r>
            <a:r>
              <a:rPr lang="en-GB" sz="1200" b="0" i="1" u="none" strike="noStrike" kern="1200" baseline="0" dirty="0" err="1" smtClean="0">
                <a:solidFill>
                  <a:schemeClr val="tx1"/>
                </a:solidFill>
                <a:latin typeface="Times New Roman" pitchFamily="18" charset="0"/>
                <a:ea typeface="+mn-ea"/>
                <a:cs typeface="+mn-cs"/>
              </a:rPr>
              <a:t>Ri</a:t>
            </a:r>
            <a:r>
              <a:rPr lang="en-GB" sz="1200" b="0" i="0" u="none" strike="noStrike" kern="1200" baseline="0" dirty="0" smtClean="0">
                <a:solidFill>
                  <a:schemeClr val="tx1"/>
                </a:solidFill>
                <a:latin typeface="Times New Roman" pitchFamily="18" charset="0"/>
                <a:ea typeface="+mn-ea"/>
                <a:cs typeface="+mn-cs"/>
              </a:rPr>
              <a:t>(</a:t>
            </a:r>
            <a:r>
              <a:rPr lang="en-GB" sz="1200" b="0" i="1" u="none" strike="noStrike" kern="1200" baseline="0" dirty="0" smtClean="0">
                <a:solidFill>
                  <a:schemeClr val="tx1"/>
                </a:solidFill>
                <a:latin typeface="Times New Roman" pitchFamily="18" charset="0"/>
                <a:ea typeface="+mn-ea"/>
                <a:cs typeface="+mn-cs"/>
              </a:rPr>
              <a:t>F</a:t>
            </a:r>
            <a:r>
              <a:rPr lang="en-GB" sz="1200" b="0" i="0" u="none" strike="noStrike" kern="1200" baseline="0" dirty="0" smtClean="0">
                <a:solidFill>
                  <a:schemeClr val="tx1"/>
                </a:solidFill>
                <a:latin typeface="Times New Roman" pitchFamily="18" charset="0"/>
                <a:ea typeface="+mn-ea"/>
                <a:cs typeface="+mn-cs"/>
              </a:rPr>
              <a:t>) where </a:t>
            </a:r>
            <a:r>
              <a:rPr lang="en-GB" sz="1200" b="0" i="1" u="none" strike="noStrike" kern="1200" baseline="0" dirty="0" err="1" smtClean="0">
                <a:solidFill>
                  <a:schemeClr val="tx1"/>
                </a:solidFill>
                <a:latin typeface="Times New Roman" pitchFamily="18" charset="0"/>
                <a:ea typeface="+mn-ea"/>
                <a:cs typeface="+mn-cs"/>
              </a:rPr>
              <a:t>Ri</a:t>
            </a:r>
            <a:r>
              <a:rPr lang="en-GB" sz="1200" b="0" i="1" u="none" strike="noStrike" kern="1200" baseline="0" dirty="0" smtClean="0">
                <a:solidFill>
                  <a:schemeClr val="tx1"/>
                </a:solidFill>
                <a:latin typeface="Times New Roman" pitchFamily="18" charset="0"/>
                <a:ea typeface="+mn-ea"/>
                <a:cs typeface="+mn-cs"/>
              </a:rPr>
              <a:t> </a:t>
            </a:r>
            <a:r>
              <a:rPr lang="en-GB" sz="1200" b="0" i="0" u="none" strike="noStrike" kern="1200" baseline="0" dirty="0" smtClean="0">
                <a:solidFill>
                  <a:schemeClr val="tx1"/>
                </a:solidFill>
                <a:latin typeface="Times New Roman" pitchFamily="18" charset="0"/>
                <a:ea typeface="+mn-ea"/>
                <a:cs typeface="+mn-cs"/>
              </a:rPr>
              <a:t>is a subset of </a:t>
            </a:r>
            <a:r>
              <a:rPr lang="en-GB" sz="1200" b="0" i="1" u="none" strike="noStrike" kern="1200" baseline="0" dirty="0" smtClean="0">
                <a:solidFill>
                  <a:schemeClr val="tx1"/>
                </a:solidFill>
                <a:latin typeface="Times New Roman" pitchFamily="18" charset="0"/>
                <a:ea typeface="+mn-ea"/>
                <a:cs typeface="+mn-cs"/>
              </a:rPr>
              <a:t>R</a:t>
            </a:r>
            <a:r>
              <a:rPr lang="en-GB" sz="1200" b="0" i="0" u="none" strike="noStrike" kern="1200" baseline="0" dirty="0" smtClean="0">
                <a:solidFill>
                  <a:schemeClr val="tx1"/>
                </a:solidFill>
                <a:latin typeface="Times New Roman" pitchFamily="18" charset="0"/>
                <a:ea typeface="+mn-ea"/>
                <a:cs typeface="+mn-cs"/>
              </a:rPr>
              <a:t>, is the set of dependencies </a:t>
            </a:r>
            <a:r>
              <a:rPr lang="en-GB" sz="1200" b="0" i="1" u="none" strike="noStrike" kern="1200" baseline="0" dirty="0" smtClean="0">
                <a:solidFill>
                  <a:schemeClr val="tx1"/>
                </a:solidFill>
                <a:latin typeface="Times New Roman" pitchFamily="18" charset="0"/>
                <a:ea typeface="+mn-ea"/>
                <a:cs typeface="+mn-cs"/>
              </a:rPr>
              <a:t>X</a:t>
            </a:r>
            <a:r>
              <a:rPr lang="en-GB" sz="1200" b="0" i="0" u="none" strike="noStrike" kern="1200" baseline="0" dirty="0" smtClean="0">
                <a:solidFill>
                  <a:schemeClr val="tx1"/>
                </a:solidFill>
                <a:latin typeface="Times New Roman" pitchFamily="18" charset="0"/>
                <a:ea typeface="+mn-ea"/>
                <a:cs typeface="+mn-cs"/>
              </a:rPr>
              <a:t>→</a:t>
            </a:r>
            <a:r>
              <a:rPr lang="en-GB" sz="1200" b="0" i="1" u="none" strike="noStrike" kern="1200" baseline="0" dirty="0" smtClean="0">
                <a:solidFill>
                  <a:schemeClr val="tx1"/>
                </a:solidFill>
                <a:latin typeface="Times New Roman" pitchFamily="18" charset="0"/>
                <a:ea typeface="+mn-ea"/>
                <a:cs typeface="+mn-cs"/>
              </a:rPr>
              <a:t>Y </a:t>
            </a:r>
            <a:r>
              <a:rPr lang="en-GB" sz="1200" b="0" i="0" u="none" strike="noStrike" kern="1200" baseline="0" dirty="0" smtClean="0">
                <a:solidFill>
                  <a:schemeClr val="tx1"/>
                </a:solidFill>
                <a:latin typeface="Times New Roman" pitchFamily="18" charset="0"/>
                <a:ea typeface="+mn-ea"/>
                <a:cs typeface="+mn-cs"/>
              </a:rPr>
              <a:t>in</a:t>
            </a:r>
          </a:p>
          <a:p>
            <a:r>
              <a:rPr lang="en-GB" sz="1200" b="0" i="1" u="none" strike="noStrike" kern="1200" baseline="0" dirty="0" smtClean="0">
                <a:solidFill>
                  <a:schemeClr val="tx1"/>
                </a:solidFill>
                <a:latin typeface="Times New Roman" pitchFamily="18" charset="0"/>
                <a:ea typeface="+mn-ea"/>
                <a:cs typeface="+mn-cs"/>
              </a:rPr>
              <a:t>F</a:t>
            </a:r>
            <a:r>
              <a:rPr lang="en-GB" sz="1200" b="0" i="0" u="none" strike="noStrike" kern="1200" baseline="0" dirty="0" smtClean="0">
                <a:solidFill>
                  <a:schemeClr val="tx1"/>
                </a:solidFill>
                <a:latin typeface="Times New Roman" pitchFamily="18" charset="0"/>
                <a:ea typeface="+mn-ea"/>
                <a:cs typeface="+mn-cs"/>
              </a:rPr>
              <a:t>+ such that the attributes in </a:t>
            </a:r>
            <a:r>
              <a:rPr lang="en-GB" sz="1200" b="0" i="1" u="none" strike="noStrike" kern="1200" baseline="0" dirty="0" smtClean="0">
                <a:solidFill>
                  <a:schemeClr val="tx1"/>
                </a:solidFill>
                <a:latin typeface="Times New Roman" pitchFamily="18" charset="0"/>
                <a:ea typeface="+mn-ea"/>
                <a:cs typeface="+mn-cs"/>
              </a:rPr>
              <a:t>X </a:t>
            </a:r>
            <a:r>
              <a:rPr lang="en-GB" sz="1200" b="0" i="0" u="none" strike="noStrike" kern="1200" baseline="0" dirty="0" smtClean="0">
                <a:solidFill>
                  <a:schemeClr val="tx1"/>
                </a:solidFill>
                <a:latin typeface="Times New Roman" pitchFamily="18" charset="0"/>
                <a:ea typeface="+mn-ea"/>
                <a:cs typeface="+mn-cs"/>
              </a:rPr>
              <a:t>∪ </a:t>
            </a:r>
            <a:r>
              <a:rPr lang="en-GB" sz="1200" b="0" i="1" u="none" strike="noStrike" kern="1200" baseline="0" dirty="0" smtClean="0">
                <a:solidFill>
                  <a:schemeClr val="tx1"/>
                </a:solidFill>
                <a:latin typeface="Times New Roman" pitchFamily="18" charset="0"/>
                <a:ea typeface="+mn-ea"/>
                <a:cs typeface="+mn-cs"/>
              </a:rPr>
              <a:t>Y </a:t>
            </a:r>
            <a:r>
              <a:rPr lang="en-GB" sz="1200" b="0" i="0" u="none" strike="noStrike" kern="1200" baseline="0" dirty="0" smtClean="0">
                <a:solidFill>
                  <a:schemeClr val="tx1"/>
                </a:solidFill>
                <a:latin typeface="Times New Roman" pitchFamily="18" charset="0"/>
                <a:ea typeface="+mn-ea"/>
                <a:cs typeface="+mn-cs"/>
              </a:rPr>
              <a:t>are all contained in </a:t>
            </a:r>
            <a:r>
              <a:rPr lang="en-GB" sz="1200" b="0" i="1" u="none" strike="noStrike" kern="1200" baseline="0" dirty="0" err="1" smtClean="0">
                <a:solidFill>
                  <a:schemeClr val="tx1"/>
                </a:solidFill>
                <a:latin typeface="Times New Roman" pitchFamily="18" charset="0"/>
                <a:ea typeface="+mn-ea"/>
                <a:cs typeface="+mn-cs"/>
              </a:rPr>
              <a:t>Ri</a:t>
            </a:r>
            <a:r>
              <a:rPr lang="en-GB" sz="1200" b="0" i="0" u="none" strike="noStrike" kern="1200" baseline="0" dirty="0" smtClean="0">
                <a:solidFill>
                  <a:schemeClr val="tx1"/>
                </a:solidFill>
                <a:latin typeface="Times New Roman" pitchFamily="18" charset="0"/>
                <a:ea typeface="+mn-ea"/>
                <a:cs typeface="+mn-cs"/>
              </a:rPr>
              <a:t>. Hence, the projection</a:t>
            </a:r>
          </a:p>
          <a:p>
            <a:r>
              <a:rPr lang="en-GB" sz="1200" b="0" i="0" u="none" strike="noStrike" kern="1200" baseline="0" dirty="0" smtClean="0">
                <a:solidFill>
                  <a:schemeClr val="tx1"/>
                </a:solidFill>
                <a:latin typeface="Times New Roman" pitchFamily="18" charset="0"/>
                <a:ea typeface="+mn-ea"/>
                <a:cs typeface="+mn-cs"/>
              </a:rPr>
              <a:t>of </a:t>
            </a:r>
            <a:r>
              <a:rPr lang="en-GB" sz="1200" b="0" i="1" u="none" strike="noStrike" kern="1200" baseline="0" dirty="0" smtClean="0">
                <a:solidFill>
                  <a:schemeClr val="tx1"/>
                </a:solidFill>
                <a:latin typeface="Times New Roman" pitchFamily="18" charset="0"/>
                <a:ea typeface="+mn-ea"/>
                <a:cs typeface="+mn-cs"/>
              </a:rPr>
              <a:t>F </a:t>
            </a:r>
            <a:r>
              <a:rPr lang="en-GB" sz="1200" b="0" i="0" u="none" strike="noStrike" kern="1200" baseline="0" dirty="0" smtClean="0">
                <a:solidFill>
                  <a:schemeClr val="tx1"/>
                </a:solidFill>
                <a:latin typeface="Times New Roman" pitchFamily="18" charset="0"/>
                <a:ea typeface="+mn-ea"/>
                <a:cs typeface="+mn-cs"/>
              </a:rPr>
              <a:t>on each relation schema </a:t>
            </a:r>
            <a:r>
              <a:rPr lang="en-GB" sz="1200" b="0" i="1" u="none" strike="noStrike" kern="1200" baseline="0" dirty="0" err="1" smtClean="0">
                <a:solidFill>
                  <a:schemeClr val="tx1"/>
                </a:solidFill>
                <a:latin typeface="Times New Roman" pitchFamily="18" charset="0"/>
                <a:ea typeface="+mn-ea"/>
                <a:cs typeface="+mn-cs"/>
              </a:rPr>
              <a:t>Ri</a:t>
            </a:r>
            <a:r>
              <a:rPr lang="en-GB" sz="1200" b="0" i="1" u="none" strike="noStrike" kern="1200" baseline="0" dirty="0" smtClean="0">
                <a:solidFill>
                  <a:schemeClr val="tx1"/>
                </a:solidFill>
                <a:latin typeface="Times New Roman" pitchFamily="18" charset="0"/>
                <a:ea typeface="+mn-ea"/>
                <a:cs typeface="+mn-cs"/>
              </a:rPr>
              <a:t> </a:t>
            </a:r>
            <a:r>
              <a:rPr lang="en-GB" sz="1200" b="0" i="0" u="none" strike="noStrike" kern="1200" baseline="0" dirty="0" smtClean="0">
                <a:solidFill>
                  <a:schemeClr val="tx1"/>
                </a:solidFill>
                <a:latin typeface="Times New Roman" pitchFamily="18" charset="0"/>
                <a:ea typeface="+mn-ea"/>
                <a:cs typeface="+mn-cs"/>
              </a:rPr>
              <a:t>in the decomposition </a:t>
            </a:r>
            <a:r>
              <a:rPr lang="en-GB" sz="1200" b="0" i="1" u="none" strike="noStrike" kern="1200" baseline="0" dirty="0" smtClean="0">
                <a:solidFill>
                  <a:schemeClr val="tx1"/>
                </a:solidFill>
                <a:latin typeface="Times New Roman" pitchFamily="18" charset="0"/>
                <a:ea typeface="+mn-ea"/>
                <a:cs typeface="+mn-cs"/>
              </a:rPr>
              <a:t>D </a:t>
            </a:r>
            <a:r>
              <a:rPr lang="en-GB" sz="1200" b="0" i="0" u="none" strike="noStrike" kern="1200" baseline="0" dirty="0" smtClean="0">
                <a:solidFill>
                  <a:schemeClr val="tx1"/>
                </a:solidFill>
                <a:latin typeface="Times New Roman" pitchFamily="18" charset="0"/>
                <a:ea typeface="+mn-ea"/>
                <a:cs typeface="+mn-cs"/>
              </a:rPr>
              <a:t>is the set of functional</a:t>
            </a:r>
          </a:p>
          <a:p>
            <a:r>
              <a:rPr lang="en-GB" sz="1200" b="0" i="0" u="none" strike="noStrike" kern="1200" baseline="0" dirty="0" smtClean="0">
                <a:solidFill>
                  <a:schemeClr val="tx1"/>
                </a:solidFill>
                <a:latin typeface="Times New Roman" pitchFamily="18" charset="0"/>
                <a:ea typeface="+mn-ea"/>
                <a:cs typeface="+mn-cs"/>
              </a:rPr>
              <a:t>dependencies in </a:t>
            </a:r>
            <a:r>
              <a:rPr lang="en-GB" sz="1200" b="0" i="1" u="none" strike="noStrike" kern="1200" baseline="0" dirty="0" smtClean="0">
                <a:solidFill>
                  <a:schemeClr val="tx1"/>
                </a:solidFill>
                <a:latin typeface="Times New Roman" pitchFamily="18" charset="0"/>
                <a:ea typeface="+mn-ea"/>
                <a:cs typeface="+mn-cs"/>
              </a:rPr>
              <a:t>F</a:t>
            </a:r>
            <a:r>
              <a:rPr lang="en-GB" sz="1200" b="0" i="0" u="none" strike="noStrike" kern="1200" baseline="0" dirty="0" smtClean="0">
                <a:solidFill>
                  <a:schemeClr val="tx1"/>
                </a:solidFill>
                <a:latin typeface="Times New Roman" pitchFamily="18" charset="0"/>
                <a:ea typeface="+mn-ea"/>
                <a:cs typeface="+mn-cs"/>
              </a:rPr>
              <a:t>+, the closure of </a:t>
            </a:r>
            <a:r>
              <a:rPr lang="en-GB" sz="1200" b="0" i="1" u="none" strike="noStrike" kern="1200" baseline="0" dirty="0" smtClean="0">
                <a:solidFill>
                  <a:schemeClr val="tx1"/>
                </a:solidFill>
                <a:latin typeface="Times New Roman" pitchFamily="18" charset="0"/>
                <a:ea typeface="+mn-ea"/>
                <a:cs typeface="+mn-cs"/>
              </a:rPr>
              <a:t>F</a:t>
            </a:r>
            <a:r>
              <a:rPr lang="en-GB" sz="1200" b="0" i="0" u="none" strike="noStrike" kern="1200" baseline="0" dirty="0" smtClean="0">
                <a:solidFill>
                  <a:schemeClr val="tx1"/>
                </a:solidFill>
                <a:latin typeface="Times New Roman" pitchFamily="18" charset="0"/>
                <a:ea typeface="+mn-ea"/>
                <a:cs typeface="+mn-cs"/>
              </a:rPr>
              <a:t>, such that all their left- and</a:t>
            </a:r>
          </a:p>
          <a:p>
            <a:r>
              <a:rPr lang="en-GB" sz="1200" b="0" i="0" u="none" strike="noStrike" kern="1200" baseline="0" dirty="0" smtClean="0">
                <a:solidFill>
                  <a:schemeClr val="tx1"/>
                </a:solidFill>
                <a:latin typeface="Times New Roman" pitchFamily="18" charset="0"/>
                <a:ea typeface="+mn-ea"/>
                <a:cs typeface="+mn-cs"/>
              </a:rPr>
              <a:t>right-hand-side attributes are in </a:t>
            </a:r>
            <a:r>
              <a:rPr lang="en-GB" sz="1200" b="0" i="1" u="none" strike="noStrike" kern="1200" baseline="0" dirty="0" err="1" smtClean="0">
                <a:solidFill>
                  <a:schemeClr val="tx1"/>
                </a:solidFill>
                <a:latin typeface="Times New Roman" pitchFamily="18" charset="0"/>
                <a:ea typeface="+mn-ea"/>
                <a:cs typeface="+mn-cs"/>
              </a:rPr>
              <a:t>Ri</a:t>
            </a:r>
            <a:r>
              <a:rPr lang="en-GB" sz="1200" b="0" i="0" u="none" strike="noStrike" kern="1200" baseline="0" dirty="0" smtClean="0">
                <a:solidFill>
                  <a:schemeClr val="tx1"/>
                </a:solidFill>
                <a:latin typeface="Times New Roman" pitchFamily="18" charset="0"/>
                <a:ea typeface="+mn-ea"/>
                <a:cs typeface="+mn-cs"/>
              </a:rPr>
              <a:t>. We say that a decomposition </a:t>
            </a:r>
            <a:r>
              <a:rPr lang="en-GB" sz="1200" b="0" i="1" u="none" strike="noStrike" kern="1200" baseline="0" dirty="0" smtClean="0">
                <a:solidFill>
                  <a:schemeClr val="tx1"/>
                </a:solidFill>
                <a:latin typeface="Times New Roman" pitchFamily="18" charset="0"/>
                <a:ea typeface="+mn-ea"/>
                <a:cs typeface="+mn-cs"/>
              </a:rPr>
              <a:t>D </a:t>
            </a:r>
            <a:r>
              <a:rPr lang="en-GB" sz="1200" b="0" i="0" u="none" strike="noStrike" kern="1200" baseline="0" dirty="0" smtClean="0">
                <a:solidFill>
                  <a:schemeClr val="tx1"/>
                </a:solidFill>
                <a:latin typeface="Times New Roman" pitchFamily="18" charset="0"/>
                <a:ea typeface="+mn-ea"/>
                <a:cs typeface="+mn-cs"/>
              </a:rPr>
              <a:t>= {</a:t>
            </a:r>
            <a:r>
              <a:rPr lang="en-GB" sz="1200" b="0" i="1" u="none" strike="noStrike" kern="1200" baseline="0" dirty="0" smtClean="0">
                <a:solidFill>
                  <a:schemeClr val="tx1"/>
                </a:solidFill>
                <a:latin typeface="Times New Roman" pitchFamily="18" charset="0"/>
                <a:ea typeface="+mn-ea"/>
                <a:cs typeface="+mn-cs"/>
              </a:rPr>
              <a:t>R</a:t>
            </a:r>
            <a:r>
              <a:rPr lang="en-GB" sz="1200" b="0" i="0" u="none" strike="noStrike" kern="1200" baseline="0" dirty="0" smtClean="0">
                <a:solidFill>
                  <a:schemeClr val="tx1"/>
                </a:solidFill>
                <a:latin typeface="Times New Roman" pitchFamily="18" charset="0"/>
                <a:ea typeface="+mn-ea"/>
                <a:cs typeface="+mn-cs"/>
              </a:rPr>
              <a:t>1,</a:t>
            </a:r>
          </a:p>
          <a:p>
            <a:r>
              <a:rPr lang="en-GB" sz="1200" b="0" i="1" u="none" strike="noStrike" kern="1200" baseline="0" dirty="0" smtClean="0">
                <a:solidFill>
                  <a:schemeClr val="tx1"/>
                </a:solidFill>
                <a:latin typeface="Times New Roman" pitchFamily="18" charset="0"/>
                <a:ea typeface="+mn-ea"/>
                <a:cs typeface="+mn-cs"/>
              </a:rPr>
              <a:t>R</a:t>
            </a:r>
            <a:r>
              <a:rPr lang="en-GB" sz="1200" b="0" i="0" u="none" strike="noStrike" kern="1200" baseline="0" dirty="0" smtClean="0">
                <a:solidFill>
                  <a:schemeClr val="tx1"/>
                </a:solidFill>
                <a:latin typeface="Times New Roman" pitchFamily="18" charset="0"/>
                <a:ea typeface="+mn-ea"/>
                <a:cs typeface="+mn-cs"/>
              </a:rPr>
              <a:t>2, ..., </a:t>
            </a:r>
            <a:r>
              <a:rPr lang="en-GB" sz="1200" b="0" i="1" u="none" strike="noStrike" kern="1200" baseline="0" dirty="0" err="1" smtClean="0">
                <a:solidFill>
                  <a:schemeClr val="tx1"/>
                </a:solidFill>
                <a:latin typeface="Times New Roman" pitchFamily="18" charset="0"/>
                <a:ea typeface="+mn-ea"/>
                <a:cs typeface="+mn-cs"/>
              </a:rPr>
              <a:t>Rm</a:t>
            </a:r>
            <a:r>
              <a:rPr lang="en-GB" sz="1200" b="0" i="0" u="none" strike="noStrike" kern="1200" baseline="0" dirty="0" smtClean="0">
                <a:solidFill>
                  <a:schemeClr val="tx1"/>
                </a:solidFill>
                <a:latin typeface="Times New Roman" pitchFamily="18" charset="0"/>
                <a:ea typeface="+mn-ea"/>
                <a:cs typeface="+mn-cs"/>
              </a:rPr>
              <a:t>} of </a:t>
            </a:r>
            <a:r>
              <a:rPr lang="en-GB" sz="1200" b="0" i="1" u="none" strike="noStrike" kern="1200" baseline="0" dirty="0" smtClean="0">
                <a:solidFill>
                  <a:schemeClr val="tx1"/>
                </a:solidFill>
                <a:latin typeface="Times New Roman" pitchFamily="18" charset="0"/>
                <a:ea typeface="+mn-ea"/>
                <a:cs typeface="+mn-cs"/>
              </a:rPr>
              <a:t>R </a:t>
            </a:r>
            <a:r>
              <a:rPr lang="en-GB" sz="1200" b="0" i="0" u="none" strike="noStrike" kern="1200" baseline="0" dirty="0" smtClean="0">
                <a:solidFill>
                  <a:schemeClr val="tx1"/>
                </a:solidFill>
                <a:latin typeface="Times New Roman" pitchFamily="18" charset="0"/>
                <a:ea typeface="+mn-ea"/>
                <a:cs typeface="+mn-cs"/>
              </a:rPr>
              <a:t>is </a:t>
            </a:r>
            <a:r>
              <a:rPr lang="en-GB" sz="1200" b="1" i="0" u="none" strike="noStrike" kern="1200" baseline="0" dirty="0" smtClean="0">
                <a:solidFill>
                  <a:schemeClr val="tx1"/>
                </a:solidFill>
                <a:latin typeface="Times New Roman" pitchFamily="18" charset="0"/>
                <a:ea typeface="+mn-ea"/>
                <a:cs typeface="+mn-cs"/>
              </a:rPr>
              <a:t>dependency-preserving </a:t>
            </a:r>
            <a:r>
              <a:rPr lang="en-GB" sz="1200" b="0" i="0" u="none" strike="noStrike" kern="1200" baseline="0" dirty="0" smtClean="0">
                <a:solidFill>
                  <a:schemeClr val="tx1"/>
                </a:solidFill>
                <a:latin typeface="Times New Roman" pitchFamily="18" charset="0"/>
                <a:ea typeface="+mn-ea"/>
                <a:cs typeface="+mn-cs"/>
              </a:rPr>
              <a:t>with respect to </a:t>
            </a:r>
            <a:r>
              <a:rPr lang="en-GB" sz="1200" b="0" i="1" u="none" strike="noStrike" kern="1200" baseline="0" dirty="0" smtClean="0">
                <a:solidFill>
                  <a:schemeClr val="tx1"/>
                </a:solidFill>
                <a:latin typeface="Times New Roman" pitchFamily="18" charset="0"/>
                <a:ea typeface="+mn-ea"/>
                <a:cs typeface="+mn-cs"/>
              </a:rPr>
              <a:t>F </a:t>
            </a:r>
            <a:r>
              <a:rPr lang="en-GB" sz="1200" b="0" i="0" u="none" strike="noStrike" kern="1200" baseline="0" dirty="0" smtClean="0">
                <a:solidFill>
                  <a:schemeClr val="tx1"/>
                </a:solidFill>
                <a:latin typeface="Times New Roman" pitchFamily="18" charset="0"/>
                <a:ea typeface="+mn-ea"/>
                <a:cs typeface="+mn-cs"/>
              </a:rPr>
              <a:t>if the union of the</a:t>
            </a:r>
          </a:p>
          <a:p>
            <a:r>
              <a:rPr lang="en-GB" sz="1200" b="0" i="0" u="none" strike="noStrike" kern="1200" baseline="0" dirty="0" smtClean="0">
                <a:solidFill>
                  <a:schemeClr val="tx1"/>
                </a:solidFill>
                <a:latin typeface="Times New Roman" pitchFamily="18" charset="0"/>
                <a:ea typeface="+mn-ea"/>
                <a:cs typeface="+mn-cs"/>
              </a:rPr>
              <a:t>projections of </a:t>
            </a:r>
            <a:r>
              <a:rPr lang="en-GB" sz="1200" b="0" i="1" u="none" strike="noStrike" kern="1200" baseline="0" dirty="0" smtClean="0">
                <a:solidFill>
                  <a:schemeClr val="tx1"/>
                </a:solidFill>
                <a:latin typeface="Times New Roman" pitchFamily="18" charset="0"/>
                <a:ea typeface="+mn-ea"/>
                <a:cs typeface="+mn-cs"/>
              </a:rPr>
              <a:t>F </a:t>
            </a:r>
            <a:r>
              <a:rPr lang="en-GB" sz="1200" b="0" i="0" u="none" strike="noStrike" kern="1200" baseline="0" dirty="0" smtClean="0">
                <a:solidFill>
                  <a:schemeClr val="tx1"/>
                </a:solidFill>
                <a:latin typeface="Times New Roman" pitchFamily="18" charset="0"/>
                <a:ea typeface="+mn-ea"/>
                <a:cs typeface="+mn-cs"/>
              </a:rPr>
              <a:t>on each </a:t>
            </a:r>
            <a:r>
              <a:rPr lang="en-GB" sz="1200" b="0" i="1" u="none" strike="noStrike" kern="1200" baseline="0" dirty="0" err="1" smtClean="0">
                <a:solidFill>
                  <a:schemeClr val="tx1"/>
                </a:solidFill>
                <a:latin typeface="Times New Roman" pitchFamily="18" charset="0"/>
                <a:ea typeface="+mn-ea"/>
                <a:cs typeface="+mn-cs"/>
              </a:rPr>
              <a:t>Ri</a:t>
            </a:r>
            <a:r>
              <a:rPr lang="en-GB" sz="1200" b="0" i="1" u="none" strike="noStrike" kern="1200" baseline="0" dirty="0" smtClean="0">
                <a:solidFill>
                  <a:schemeClr val="tx1"/>
                </a:solidFill>
                <a:latin typeface="Times New Roman" pitchFamily="18" charset="0"/>
                <a:ea typeface="+mn-ea"/>
                <a:cs typeface="+mn-cs"/>
              </a:rPr>
              <a:t> </a:t>
            </a:r>
            <a:r>
              <a:rPr lang="en-GB" sz="1200" b="0" i="0" u="none" strike="noStrike" kern="1200" baseline="0" dirty="0" smtClean="0">
                <a:solidFill>
                  <a:schemeClr val="tx1"/>
                </a:solidFill>
                <a:latin typeface="Times New Roman" pitchFamily="18" charset="0"/>
                <a:ea typeface="+mn-ea"/>
                <a:cs typeface="+mn-cs"/>
              </a:rPr>
              <a:t>in </a:t>
            </a:r>
            <a:r>
              <a:rPr lang="en-GB" sz="1200" b="0" i="1" u="none" strike="noStrike" kern="1200" baseline="0" dirty="0" smtClean="0">
                <a:solidFill>
                  <a:schemeClr val="tx1"/>
                </a:solidFill>
                <a:latin typeface="Times New Roman" pitchFamily="18" charset="0"/>
                <a:ea typeface="+mn-ea"/>
                <a:cs typeface="+mn-cs"/>
              </a:rPr>
              <a:t>D </a:t>
            </a:r>
            <a:r>
              <a:rPr lang="en-GB" sz="1200" b="0" i="0" u="none" strike="noStrike" kern="1200" baseline="0" dirty="0" smtClean="0">
                <a:solidFill>
                  <a:schemeClr val="tx1"/>
                </a:solidFill>
                <a:latin typeface="Times New Roman" pitchFamily="18" charset="0"/>
                <a:ea typeface="+mn-ea"/>
                <a:cs typeface="+mn-cs"/>
              </a:rPr>
              <a:t>is equivalent to </a:t>
            </a:r>
            <a:r>
              <a:rPr lang="en-GB" sz="1200" b="0" i="1" u="none" strike="noStrike" kern="1200" baseline="0" dirty="0" smtClean="0">
                <a:solidFill>
                  <a:schemeClr val="tx1"/>
                </a:solidFill>
                <a:latin typeface="Times New Roman" pitchFamily="18" charset="0"/>
                <a:ea typeface="+mn-ea"/>
                <a:cs typeface="+mn-cs"/>
              </a:rPr>
              <a:t>F</a:t>
            </a:r>
            <a:r>
              <a:rPr lang="en-GB" sz="1200" b="0" i="0" u="none" strike="noStrike" kern="1200" baseline="0" dirty="0" smtClean="0">
                <a:solidFill>
                  <a:schemeClr val="tx1"/>
                </a:solidFill>
                <a:latin typeface="Times New Roman" pitchFamily="18" charset="0"/>
                <a:ea typeface="+mn-ea"/>
                <a:cs typeface="+mn-cs"/>
              </a:rPr>
              <a:t>; that is, ((π</a:t>
            </a:r>
            <a:r>
              <a:rPr lang="en-GB" sz="1200" b="0" i="1" u="none" strike="noStrike" kern="1200" baseline="0" dirty="0" smtClean="0">
                <a:solidFill>
                  <a:schemeClr val="tx1"/>
                </a:solidFill>
                <a:latin typeface="Times New Roman" pitchFamily="18" charset="0"/>
                <a:ea typeface="+mn-ea"/>
                <a:cs typeface="+mn-cs"/>
              </a:rPr>
              <a:t>R</a:t>
            </a:r>
            <a:r>
              <a:rPr lang="en-GB" sz="1200" b="0" i="0" u="none" strike="noStrike" kern="1200" baseline="0" dirty="0" smtClean="0">
                <a:solidFill>
                  <a:schemeClr val="tx1"/>
                </a:solidFill>
                <a:latin typeface="Times New Roman" pitchFamily="18" charset="0"/>
                <a:ea typeface="+mn-ea"/>
                <a:cs typeface="+mn-cs"/>
              </a:rPr>
              <a:t>1(</a:t>
            </a:r>
            <a:r>
              <a:rPr lang="en-GB" sz="1200" b="0" i="1" u="none" strike="noStrike" kern="1200" baseline="0" dirty="0" smtClean="0">
                <a:solidFill>
                  <a:schemeClr val="tx1"/>
                </a:solidFill>
                <a:latin typeface="Times New Roman" pitchFamily="18" charset="0"/>
                <a:ea typeface="+mn-ea"/>
                <a:cs typeface="+mn-cs"/>
              </a:rPr>
              <a:t>F</a:t>
            </a:r>
            <a:r>
              <a:rPr lang="en-GB" sz="1200" b="0" i="0" u="none" strike="noStrike" kern="1200" baseline="0" dirty="0" smtClean="0">
                <a:solidFill>
                  <a:schemeClr val="tx1"/>
                </a:solidFill>
                <a:latin typeface="Times New Roman" pitchFamily="18" charset="0"/>
                <a:ea typeface="+mn-ea"/>
                <a:cs typeface="+mn-cs"/>
              </a:rPr>
              <a:t>)) ∪ ... ∪</a:t>
            </a:r>
          </a:p>
          <a:p>
            <a:r>
              <a:rPr lang="el-GR" sz="1200" b="0" i="0" u="none" strike="noStrike" kern="1200" baseline="0" dirty="0" smtClean="0">
                <a:solidFill>
                  <a:schemeClr val="tx1"/>
                </a:solidFill>
                <a:latin typeface="Times New Roman" pitchFamily="18" charset="0"/>
                <a:ea typeface="+mn-ea"/>
                <a:cs typeface="+mn-cs"/>
              </a:rPr>
              <a:t>(π</a:t>
            </a:r>
            <a:r>
              <a:rPr lang="en-US" sz="1200" b="0" i="1" u="none" strike="noStrike" kern="1200" baseline="0" dirty="0" err="1" smtClean="0">
                <a:solidFill>
                  <a:schemeClr val="tx1"/>
                </a:solidFill>
                <a:latin typeface="Times New Roman" pitchFamily="18" charset="0"/>
                <a:ea typeface="+mn-ea"/>
                <a:cs typeface="+mn-cs"/>
              </a:rPr>
              <a:t>Rm</a:t>
            </a:r>
            <a:r>
              <a:rPr lang="en-US" sz="1200" b="0" i="0" u="none" strike="noStrike" kern="1200" baseline="0" dirty="0" smtClean="0">
                <a:solidFill>
                  <a:schemeClr val="tx1"/>
                </a:solidFill>
                <a:latin typeface="Times New Roman" pitchFamily="18" charset="0"/>
                <a:ea typeface="+mn-ea"/>
                <a:cs typeface="+mn-cs"/>
              </a:rPr>
              <a:t>(</a:t>
            </a:r>
            <a:r>
              <a:rPr lang="en-US" sz="1200" b="0" i="1" u="none" strike="noStrike" kern="1200" baseline="0" dirty="0" smtClean="0">
                <a:solidFill>
                  <a:schemeClr val="tx1"/>
                </a:solidFill>
                <a:latin typeface="Times New Roman" pitchFamily="18" charset="0"/>
                <a:ea typeface="+mn-ea"/>
                <a:cs typeface="+mn-cs"/>
              </a:rPr>
              <a:t>F</a:t>
            </a:r>
            <a:r>
              <a:rPr lang="en-US" sz="1200" b="0" i="0" u="none" strike="noStrike" kern="1200" baseline="0" dirty="0" smtClean="0">
                <a:solidFill>
                  <a:schemeClr val="tx1"/>
                </a:solidFill>
                <a:latin typeface="Times New Roman" pitchFamily="18" charset="0"/>
                <a:ea typeface="+mn-ea"/>
                <a:cs typeface="+mn-cs"/>
              </a:rPr>
              <a:t>)))+ = </a:t>
            </a:r>
            <a:r>
              <a:rPr lang="en-US" sz="1200" b="0" i="1" u="none" strike="noStrike" kern="1200" baseline="0" dirty="0" smtClean="0">
                <a:solidFill>
                  <a:schemeClr val="tx1"/>
                </a:solidFill>
                <a:latin typeface="Times New Roman" pitchFamily="18" charset="0"/>
                <a:ea typeface="+mn-ea"/>
                <a:cs typeface="+mn-cs"/>
              </a:rPr>
              <a:t>F+</a:t>
            </a:r>
            <a:r>
              <a:rPr lang="en-US" sz="1200" b="0" i="0" u="none" strike="noStrike" kern="1200" baseline="0" dirty="0" smtClean="0">
                <a:solidFill>
                  <a:schemeClr val="tx1"/>
                </a:solidFill>
                <a:latin typeface="Times New Roman" pitchFamily="18" charset="0"/>
                <a:ea typeface="+mn-ea"/>
                <a:cs typeface="+mn-cs"/>
              </a:rPr>
              <a:t>.</a:t>
            </a:r>
          </a:p>
          <a:p>
            <a:r>
              <a:rPr lang="en-GB" sz="1200" b="0" i="0" u="none" strike="noStrike" kern="1200" baseline="0" dirty="0" smtClean="0">
                <a:solidFill>
                  <a:schemeClr val="tx1"/>
                </a:solidFill>
                <a:latin typeface="Times New Roman" pitchFamily="18" charset="0"/>
                <a:ea typeface="+mn-ea"/>
                <a:cs typeface="+mn-cs"/>
              </a:rPr>
              <a:t>If a decomposition is not dependency-preserving, some dependency is </a:t>
            </a:r>
            <a:r>
              <a:rPr lang="en-GB" sz="1200" b="1" i="0" u="none" strike="noStrike" kern="1200" baseline="0" dirty="0" smtClean="0">
                <a:solidFill>
                  <a:schemeClr val="tx1"/>
                </a:solidFill>
                <a:latin typeface="Times New Roman" pitchFamily="18" charset="0"/>
                <a:ea typeface="+mn-ea"/>
                <a:cs typeface="+mn-cs"/>
              </a:rPr>
              <a:t>lost </a:t>
            </a:r>
            <a:r>
              <a:rPr lang="en-GB" sz="1200" b="0" i="0" u="none" strike="noStrike" kern="1200" baseline="0" dirty="0" smtClean="0">
                <a:solidFill>
                  <a:schemeClr val="tx1"/>
                </a:solidFill>
                <a:latin typeface="Times New Roman" pitchFamily="18" charset="0"/>
                <a:ea typeface="+mn-ea"/>
                <a:cs typeface="+mn-cs"/>
              </a:rPr>
              <a:t>in the</a:t>
            </a:r>
          </a:p>
          <a:p>
            <a:r>
              <a:rPr lang="en-GB" sz="1200" b="0" i="0" u="none" strike="noStrike" kern="1200" baseline="0" dirty="0" smtClean="0">
                <a:solidFill>
                  <a:schemeClr val="tx1"/>
                </a:solidFill>
                <a:latin typeface="Times New Roman" pitchFamily="18" charset="0"/>
                <a:ea typeface="+mn-ea"/>
                <a:cs typeface="+mn-cs"/>
              </a:rPr>
              <a:t>decomposition. To check that a lost dependency holds, we must take the JOIN of</a:t>
            </a:r>
          </a:p>
          <a:p>
            <a:r>
              <a:rPr lang="en-GB" sz="1200" b="0" i="0" u="none" strike="noStrike" kern="1200" baseline="0" dirty="0" smtClean="0">
                <a:solidFill>
                  <a:schemeClr val="tx1"/>
                </a:solidFill>
                <a:latin typeface="Times New Roman" pitchFamily="18" charset="0"/>
                <a:ea typeface="+mn-ea"/>
                <a:cs typeface="+mn-cs"/>
              </a:rPr>
              <a:t>two or more relations in the decomposition to get a relation that includes all </a:t>
            </a:r>
            <a:r>
              <a:rPr lang="en-GB" sz="1200" b="0" i="0" u="none" strike="noStrike" kern="1200" baseline="0" dirty="0" err="1" smtClean="0">
                <a:solidFill>
                  <a:schemeClr val="tx1"/>
                </a:solidFill>
                <a:latin typeface="Times New Roman" pitchFamily="18" charset="0"/>
                <a:ea typeface="+mn-ea"/>
                <a:cs typeface="+mn-cs"/>
              </a:rPr>
              <a:t>leftand</a:t>
            </a:r>
            <a:endParaRPr lang="en-GB" sz="1200" b="0" i="0" u="none" strike="noStrike" kern="1200" baseline="0" dirty="0" smtClean="0">
              <a:solidFill>
                <a:schemeClr val="tx1"/>
              </a:solidFill>
              <a:latin typeface="Times New Roman" pitchFamily="18" charset="0"/>
              <a:ea typeface="+mn-ea"/>
              <a:cs typeface="+mn-cs"/>
            </a:endParaRPr>
          </a:p>
          <a:p>
            <a:r>
              <a:rPr lang="en-GB" sz="1200" b="0" i="0" u="none" strike="noStrike" kern="1200" baseline="0" dirty="0" smtClean="0">
                <a:solidFill>
                  <a:schemeClr val="tx1"/>
                </a:solidFill>
                <a:latin typeface="Times New Roman" pitchFamily="18" charset="0"/>
                <a:ea typeface="+mn-ea"/>
                <a:cs typeface="+mn-cs"/>
              </a:rPr>
              <a:t>right-hand-side attributes of the lost dependency, and then check that the</a:t>
            </a:r>
          </a:p>
          <a:p>
            <a:r>
              <a:rPr lang="en-GB" sz="1200" b="0" i="0" u="none" strike="noStrike" kern="1200" baseline="0" dirty="0" smtClean="0">
                <a:solidFill>
                  <a:schemeClr val="tx1"/>
                </a:solidFill>
                <a:latin typeface="Times New Roman" pitchFamily="18" charset="0"/>
                <a:ea typeface="+mn-ea"/>
                <a:cs typeface="+mn-cs"/>
              </a:rPr>
              <a:t>dependency holds on the result of the JOIN—an option that is not practical.</a:t>
            </a:r>
          </a:p>
          <a:p>
            <a:r>
              <a:rPr lang="en-GB" sz="1200" b="0" i="0" u="none" strike="noStrike" kern="1200" baseline="0" dirty="0" smtClean="0">
                <a:solidFill>
                  <a:schemeClr val="tx1"/>
                </a:solidFill>
                <a:latin typeface="Times New Roman" pitchFamily="18" charset="0"/>
                <a:ea typeface="+mn-ea"/>
                <a:cs typeface="+mn-cs"/>
              </a:rPr>
              <a:t>An example of a decomposition that does not preserve dependencies is shown in</a:t>
            </a:r>
          </a:p>
          <a:p>
            <a:r>
              <a:rPr lang="en-GB" sz="1200" b="0" i="0" u="none" strike="noStrike" kern="1200" baseline="0" dirty="0" smtClean="0">
                <a:solidFill>
                  <a:schemeClr val="tx1"/>
                </a:solidFill>
                <a:latin typeface="Times New Roman" pitchFamily="18" charset="0"/>
                <a:ea typeface="+mn-ea"/>
                <a:cs typeface="+mn-cs"/>
              </a:rPr>
              <a:t>Figure 15.13(a), in which the functional dependency FD2 is lost when LOTS1A is</a:t>
            </a:r>
          </a:p>
          <a:p>
            <a:r>
              <a:rPr lang="en-GB" sz="1200" b="0" i="0" u="none" strike="noStrike" kern="1200" baseline="0" dirty="0" smtClean="0">
                <a:solidFill>
                  <a:schemeClr val="tx1"/>
                </a:solidFill>
                <a:latin typeface="Times New Roman" pitchFamily="18" charset="0"/>
                <a:ea typeface="+mn-ea"/>
                <a:cs typeface="+mn-cs"/>
              </a:rPr>
              <a:t>decomposed into {LOTS1AX, LOTS1AY}. The</a:t>
            </a:r>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4</a:t>
            </a:fld>
            <a:endParaRPr lang="en-US"/>
          </a:p>
        </p:txBody>
      </p:sp>
    </p:spTree>
    <p:extLst>
      <p:ext uri="{BB962C8B-B14F-4D97-AF65-F5344CB8AC3E}">
        <p14:creationId xmlns:p14="http://schemas.microsoft.com/office/powerpoint/2010/main" val="1521354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MC 2 == P-&gt; LA, LC-&gt;P and A-&gt;C</a:t>
            </a:r>
          </a:p>
          <a:p>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15</a:t>
            </a:fld>
            <a:endParaRPr lang="en-US"/>
          </a:p>
        </p:txBody>
      </p:sp>
    </p:spTree>
    <p:extLst>
      <p:ext uri="{BB962C8B-B14F-4D97-AF65-F5344CB8AC3E}">
        <p14:creationId xmlns:p14="http://schemas.microsoft.com/office/powerpoint/2010/main" val="855555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smtClean="0">
                <a:solidFill>
                  <a:schemeClr val="tx1"/>
                </a:solidFill>
                <a:effectLst/>
                <a:latin typeface="Times New Roman" pitchFamily="18" charset="0"/>
                <a:ea typeface="+mn-ea"/>
                <a:cs typeface="+mn-cs"/>
              </a:rPr>
              <a:t>The best way to understand BCNF intuitively is that each attribute of a record can be determined only by a key, and not by any non-key attribute or set of attributes. In other words, the left-hand side of every functional dependency is a candidate key. (When I say "determined", I mean by a FD in a provided set F or by a FD in the closure of F. Always be careful that the determination is based on FDs that have been provided, and not based on the data or on intuition.)3NF allows some attributes to be determined by some non-key values, but only if those non-key values are part of a candidate key. This can introduce redundancy.</a:t>
            </a:r>
          </a:p>
          <a:p>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19</a:t>
            </a:fld>
            <a:endParaRPr lang="en-US"/>
          </a:p>
        </p:txBody>
      </p:sp>
    </p:spTree>
    <p:extLst>
      <p:ext uri="{BB962C8B-B14F-4D97-AF65-F5344CB8AC3E}">
        <p14:creationId xmlns:p14="http://schemas.microsoft.com/office/powerpoint/2010/main" val="2831332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Times New Roman" pitchFamily="18" charset="0"/>
                <a:ea typeface="+mn-ea"/>
                <a:cs typeface="+mn-cs"/>
              </a:rPr>
              <a:t>This is in 3NF, but it is not in BCNF, because office alone is not a candidate key (the second FD </a:t>
            </a:r>
            <a:r>
              <a:rPr lang="en-US" sz="1200" b="0" i="0" kern="1200" dirty="0" err="1" smtClean="0">
                <a:solidFill>
                  <a:schemeClr val="tx1"/>
                </a:solidFill>
                <a:effectLst/>
                <a:latin typeface="Times New Roman" pitchFamily="18" charset="0"/>
                <a:ea typeface="+mn-ea"/>
                <a:cs typeface="+mn-cs"/>
              </a:rPr>
              <a:t>vioaltes</a:t>
            </a:r>
            <a:r>
              <a:rPr lang="en-US" sz="1200" b="0" i="0" kern="1200" dirty="0" smtClean="0">
                <a:solidFill>
                  <a:schemeClr val="tx1"/>
                </a:solidFill>
                <a:effectLst/>
                <a:latin typeface="Times New Roman" pitchFamily="18" charset="0"/>
                <a:ea typeface="+mn-ea"/>
                <a:cs typeface="+mn-cs"/>
              </a:rPr>
              <a:t> BCNF). There is non-essential redundancy between department and office: if we know the office, we automatically know the department.</a:t>
            </a:r>
          </a:p>
          <a:p>
            <a:endParaRPr lang="en-US" sz="1200" b="0" i="0" kern="1200" dirty="0" smtClean="0">
              <a:solidFill>
                <a:schemeClr val="tx1"/>
              </a:solidFill>
              <a:effectLst/>
              <a:latin typeface="Times New Roman" pitchFamily="18" charset="0"/>
              <a:ea typeface="+mn-ea"/>
              <a:cs typeface="+mn-cs"/>
            </a:endParaRPr>
          </a:p>
          <a:p>
            <a:r>
              <a:rPr lang="en-US" sz="1200" b="0" i="0" kern="1200" dirty="0" smtClean="0">
                <a:solidFill>
                  <a:schemeClr val="tx1"/>
                </a:solidFill>
                <a:effectLst/>
                <a:latin typeface="Times New Roman" pitchFamily="18" charset="0"/>
                <a:ea typeface="+mn-ea"/>
                <a:cs typeface="+mn-cs"/>
              </a:rPr>
              <a:t>We can put it in BCNF by replacing it with two new tables based on the FD office → department. One table contains (name, office, title, salary), with (name, office) as primary key. The second table contains (office, </a:t>
            </a:r>
            <a:r>
              <a:rPr lang="en-US" sz="1200" b="0" i="0" kern="1200" dirty="0" err="1" smtClean="0">
                <a:solidFill>
                  <a:schemeClr val="tx1"/>
                </a:solidFill>
                <a:effectLst/>
                <a:latin typeface="Times New Roman" pitchFamily="18" charset="0"/>
                <a:ea typeface="+mn-ea"/>
                <a:cs typeface="+mn-cs"/>
              </a:rPr>
              <a:t>dept</a:t>
            </a:r>
            <a:r>
              <a:rPr lang="en-US" sz="1200" b="0" i="0" kern="1200" dirty="0" smtClean="0">
                <a:solidFill>
                  <a:schemeClr val="tx1"/>
                </a:solidFill>
                <a:effectLst/>
                <a:latin typeface="Times New Roman" pitchFamily="18" charset="0"/>
                <a:ea typeface="+mn-ea"/>
                <a:cs typeface="+mn-cs"/>
              </a:rPr>
              <a:t>), with office as primary key.</a:t>
            </a:r>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20</a:t>
            </a:fld>
            <a:endParaRPr lang="en-US"/>
          </a:p>
        </p:txBody>
      </p:sp>
    </p:spTree>
    <p:extLst>
      <p:ext uri="{BB962C8B-B14F-4D97-AF65-F5344CB8AC3E}">
        <p14:creationId xmlns:p14="http://schemas.microsoft.com/office/powerpoint/2010/main" val="2969732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Key AB</a:t>
            </a:r>
          </a:p>
          <a:p>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21</a:t>
            </a:fld>
            <a:endParaRPr lang="en-US"/>
          </a:p>
        </p:txBody>
      </p:sp>
    </p:spTree>
    <p:extLst>
      <p:ext uri="{BB962C8B-B14F-4D97-AF65-F5344CB8AC3E}">
        <p14:creationId xmlns:p14="http://schemas.microsoft.com/office/powerpoint/2010/main" val="4266809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normalize R intuitively into 2NF then 3NF, we take the following steps (alternatively, we can apply the algorithms discussed in Chapter 15):</a:t>
            </a:r>
          </a:p>
          <a:p>
            <a:endParaRPr lang="en-US" dirty="0" smtClean="0"/>
          </a:p>
          <a:p>
            <a:r>
              <a:rPr lang="en-US" dirty="0" smtClean="0"/>
              <a:t> First, identify partial dependencies that violate 2NF. These are attributes that are functionally dependent on either parts of the key, {A} or {B}, alone. </a:t>
            </a:r>
          </a:p>
          <a:p>
            <a:r>
              <a:rPr lang="en-US" dirty="0" smtClean="0"/>
              <a:t>We can calculate the closures {A}+ and {B}+ to determine partially dependent attributes: {A}+ = {A, D, E, I, J}. Hence {A} -&gt; {D, E, I, J} ({A} -&gt; {A} is a trivial dependency) {B}+ = {B, F, G, H}, hence {A} -&gt; {F, G, H} ({B} -&gt; {B} is a trivial dependency) </a:t>
            </a:r>
          </a:p>
          <a:p>
            <a:endParaRPr lang="en-US" smtClean="0"/>
          </a:p>
          <a:p>
            <a:r>
              <a:rPr lang="en-US" smtClean="0"/>
              <a:t>To </a:t>
            </a:r>
            <a:r>
              <a:rPr lang="en-US" dirty="0" smtClean="0"/>
              <a:t>normalize into 2NF, we remove the attributes that are functionally dependent on part of the key (A or B) from R and place them in separate relations R1 and R2, along with the part of the key they depend on (A or B), which are copied into each of these relations but also remains in the original relation, which we call R3 below: R1 = {A, D, E, I, J}, R2 = {B, F, G, H}, R3 = {A, B, C} The new keys for R1, R2, R3 are underlined. Next, we look for transitive dependencies in R1, R2, R3. The relation R1 has the transitive dependency {A} -&gt; {D} -&gt; {I, J}, so we remove the transitively dependent attributes {I, J} from R1 into a relation R11 and copy the attribute D they are dependent on into R11. The remaining attributes are kept in a relation R12. Hence, R1 is decomposed into R11 and R12 as follows: R11 = {D, I, J}, R12 = {A, D, E} </a:t>
            </a:r>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22</a:t>
            </a:fld>
            <a:endParaRPr lang="en-US"/>
          </a:p>
        </p:txBody>
      </p:sp>
    </p:spTree>
    <p:extLst>
      <p:ext uri="{BB962C8B-B14F-4D97-AF65-F5344CB8AC3E}">
        <p14:creationId xmlns:p14="http://schemas.microsoft.com/office/powerpoint/2010/main" val="1389547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D1 is lossless and BCNF, dependencies preserved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D2 is lossless and 1NF , dependencies preserved</a:t>
            </a:r>
          </a:p>
          <a:p>
            <a:r>
              <a:rPr lang="en-US" dirty="0" smtClean="0"/>
              <a:t>D3</a:t>
            </a:r>
            <a:r>
              <a:rPr lang="en-US" baseline="0" dirty="0" smtClean="0"/>
              <a:t> is </a:t>
            </a:r>
            <a:r>
              <a:rPr lang="en-US" baseline="0" dirty="0" err="1" smtClean="0"/>
              <a:t>lossy</a:t>
            </a:r>
            <a:r>
              <a:rPr lang="en-US" baseline="0" dirty="0" smtClean="0"/>
              <a:t> and 1NF, dependencies </a:t>
            </a:r>
            <a:r>
              <a:rPr lang="en-US" baseline="0" smtClean="0"/>
              <a:t>not preserved</a:t>
            </a:r>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23</a:t>
            </a:fld>
            <a:endParaRPr lang="en-US"/>
          </a:p>
        </p:txBody>
      </p:sp>
    </p:spTree>
    <p:extLst>
      <p:ext uri="{BB962C8B-B14F-4D97-AF65-F5344CB8AC3E}">
        <p14:creationId xmlns:p14="http://schemas.microsoft.com/office/powerpoint/2010/main" val="797979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Times New Roman" pitchFamily="18" charset="0"/>
                <a:ea typeface="+mn-ea"/>
                <a:cs typeface="+mn-cs"/>
              </a:rPr>
              <a:t>For example, the </a:t>
            </a:r>
            <a:r>
              <a:rPr lang="en-US" sz="1200" b="0" i="1" u="none" strike="noStrike" kern="1200" baseline="0" dirty="0" smtClean="0">
                <a:solidFill>
                  <a:schemeClr val="tx1"/>
                </a:solidFill>
                <a:latin typeface="Times New Roman" pitchFamily="18" charset="0"/>
                <a:ea typeface="+mn-ea"/>
                <a:cs typeface="+mn-cs"/>
              </a:rPr>
              <a:t>synthesis algorithms </a:t>
            </a:r>
            <a:r>
              <a:rPr lang="en-US" sz="1200" b="0" i="0" u="none" strike="noStrike" kern="1200" baseline="0" dirty="0" smtClean="0">
                <a:solidFill>
                  <a:schemeClr val="tx1"/>
                </a:solidFill>
                <a:latin typeface="Times New Roman" pitchFamily="18" charset="0"/>
                <a:ea typeface="+mn-ea"/>
                <a:cs typeface="+mn-cs"/>
              </a:rPr>
              <a:t>(Algorithms 16.4 and 16.6) require</a:t>
            </a:r>
          </a:p>
          <a:p>
            <a:r>
              <a:rPr lang="en-US" sz="1200" b="0" i="0" u="none" strike="noStrike" kern="1200" baseline="0" dirty="0" smtClean="0">
                <a:solidFill>
                  <a:schemeClr val="tx1"/>
                </a:solidFill>
                <a:latin typeface="Times New Roman" pitchFamily="18" charset="0"/>
                <a:ea typeface="+mn-ea"/>
                <a:cs typeface="+mn-cs"/>
              </a:rPr>
              <a:t>the specification of a minimal cover </a:t>
            </a:r>
            <a:r>
              <a:rPr lang="en-US" sz="1200" b="0" i="1" u="none" strike="noStrike" kern="1200" baseline="0" dirty="0" smtClean="0">
                <a:solidFill>
                  <a:schemeClr val="tx1"/>
                </a:solidFill>
                <a:latin typeface="Times New Roman" pitchFamily="18" charset="0"/>
                <a:ea typeface="+mn-ea"/>
                <a:cs typeface="+mn-cs"/>
              </a:rPr>
              <a:t>G </a:t>
            </a:r>
            <a:r>
              <a:rPr lang="en-US" sz="1200" b="0" i="0" u="none" strike="noStrike" kern="1200" baseline="0" dirty="0" smtClean="0">
                <a:solidFill>
                  <a:schemeClr val="tx1"/>
                </a:solidFill>
                <a:latin typeface="Times New Roman" pitchFamily="18" charset="0"/>
                <a:ea typeface="+mn-ea"/>
                <a:cs typeface="+mn-cs"/>
              </a:rPr>
              <a:t>for the set of functional dependencies </a:t>
            </a:r>
            <a:r>
              <a:rPr lang="en-US" sz="1200" b="0" i="1" u="none" strike="noStrike" kern="1200" baseline="0" dirty="0" smtClean="0">
                <a:solidFill>
                  <a:schemeClr val="tx1"/>
                </a:solidFill>
                <a:latin typeface="Times New Roman" pitchFamily="18" charset="0"/>
                <a:ea typeface="+mn-ea"/>
                <a:cs typeface="+mn-cs"/>
              </a:rPr>
              <a:t>F</a:t>
            </a:r>
            <a:r>
              <a:rPr lang="en-US" sz="1200" b="0" i="0" u="none" strike="noStrike" kern="1200" baseline="0" dirty="0" smtClean="0">
                <a:solidFill>
                  <a:schemeClr val="tx1"/>
                </a:solidFill>
                <a:latin typeface="Times New Roman" pitchFamily="18" charset="0"/>
                <a:ea typeface="+mn-ea"/>
                <a:cs typeface="+mn-cs"/>
              </a:rPr>
              <a:t>.</a:t>
            </a:r>
          </a:p>
          <a:p>
            <a:r>
              <a:rPr lang="en-US" sz="1200" b="0" i="0" u="none" strike="noStrike" kern="1200" baseline="0" dirty="0" smtClean="0">
                <a:solidFill>
                  <a:schemeClr val="tx1"/>
                </a:solidFill>
                <a:latin typeface="Times New Roman" pitchFamily="18" charset="0"/>
                <a:ea typeface="+mn-ea"/>
                <a:cs typeface="+mn-cs"/>
              </a:rPr>
              <a:t>Because there may be in general many minimal covers corresponding to </a:t>
            </a:r>
            <a:r>
              <a:rPr lang="en-US" sz="1200" b="0" i="1" u="none" strike="noStrike" kern="1200" baseline="0" dirty="0" smtClean="0">
                <a:solidFill>
                  <a:schemeClr val="tx1"/>
                </a:solidFill>
                <a:latin typeface="Times New Roman" pitchFamily="18" charset="0"/>
                <a:ea typeface="+mn-ea"/>
                <a:cs typeface="+mn-cs"/>
              </a:rPr>
              <a:t>F</a:t>
            </a:r>
            <a:r>
              <a:rPr lang="en-US" sz="1200" b="0" i="0" u="none" strike="noStrike" kern="1200" baseline="0" dirty="0" smtClean="0">
                <a:solidFill>
                  <a:schemeClr val="tx1"/>
                </a:solidFill>
                <a:latin typeface="Times New Roman" pitchFamily="18" charset="0"/>
                <a:ea typeface="+mn-ea"/>
                <a:cs typeface="+mn-cs"/>
              </a:rPr>
              <a:t>, as we</a:t>
            </a:r>
          </a:p>
          <a:p>
            <a:r>
              <a:rPr lang="en-US" sz="1200" b="0" i="0" u="none" strike="noStrike" kern="1200" baseline="0" dirty="0" smtClean="0">
                <a:solidFill>
                  <a:schemeClr val="tx1"/>
                </a:solidFill>
                <a:latin typeface="Times New Roman" pitchFamily="18" charset="0"/>
                <a:ea typeface="+mn-ea"/>
                <a:cs typeface="+mn-cs"/>
              </a:rPr>
              <a:t>illustrated in Example 2 of Algorithm 16.6 above, the algorithm can give different</a:t>
            </a:r>
          </a:p>
          <a:p>
            <a:r>
              <a:rPr lang="en-US" sz="1200" b="0" i="0" u="none" strike="noStrike" kern="1200" baseline="0" dirty="0" smtClean="0">
                <a:solidFill>
                  <a:schemeClr val="tx1"/>
                </a:solidFill>
                <a:latin typeface="Times New Roman" pitchFamily="18" charset="0"/>
                <a:ea typeface="+mn-ea"/>
                <a:cs typeface="+mn-cs"/>
              </a:rPr>
              <a:t>designs depending on the particular minimal cover used. Some of these designs may</a:t>
            </a:r>
          </a:p>
          <a:p>
            <a:r>
              <a:rPr lang="en-US" sz="1200" b="0" i="0" u="none" strike="noStrike" kern="1200" baseline="0" dirty="0" smtClean="0">
                <a:solidFill>
                  <a:schemeClr val="tx1"/>
                </a:solidFill>
                <a:latin typeface="Times New Roman" pitchFamily="18" charset="0"/>
                <a:ea typeface="+mn-ea"/>
                <a:cs typeface="+mn-cs"/>
              </a:rPr>
              <a:t>not be desirable. The decomposition algorithm to achieve BCNF (Algorithm 16.5)</a:t>
            </a:r>
          </a:p>
          <a:p>
            <a:r>
              <a:rPr lang="en-US" sz="1200" b="0" i="0" u="none" strike="noStrike" kern="1200" baseline="0" dirty="0" smtClean="0">
                <a:solidFill>
                  <a:schemeClr val="tx1"/>
                </a:solidFill>
                <a:latin typeface="Times New Roman" pitchFamily="18" charset="0"/>
                <a:ea typeface="+mn-ea"/>
                <a:cs typeface="+mn-cs"/>
              </a:rPr>
              <a:t>depends on the order in which the functional dependencies are supplied to the algorithm</a:t>
            </a:r>
          </a:p>
          <a:p>
            <a:r>
              <a:rPr lang="en-US" sz="1200" b="0" i="0" u="none" strike="noStrike" kern="1200" baseline="0" dirty="0" smtClean="0">
                <a:solidFill>
                  <a:schemeClr val="tx1"/>
                </a:solidFill>
                <a:latin typeface="Times New Roman" pitchFamily="18" charset="0"/>
                <a:ea typeface="+mn-ea"/>
                <a:cs typeface="+mn-cs"/>
              </a:rPr>
              <a:t>to check for BCNF violation. Again, it is possible that many different designs</a:t>
            </a:r>
          </a:p>
          <a:p>
            <a:r>
              <a:rPr lang="en-US" sz="1200" b="0" i="0" u="none" strike="noStrike" kern="1200" baseline="0" dirty="0" smtClean="0">
                <a:solidFill>
                  <a:schemeClr val="tx1"/>
                </a:solidFill>
                <a:latin typeface="Times New Roman" pitchFamily="18" charset="0"/>
                <a:ea typeface="+mn-ea"/>
                <a:cs typeface="+mn-cs"/>
              </a:rPr>
              <a:t>may arise corresponding to the same set of functional dependencies, depending on</a:t>
            </a:r>
          </a:p>
          <a:p>
            <a:r>
              <a:rPr lang="en-US" sz="1200" b="0" i="0" u="none" strike="noStrike" kern="1200" baseline="0" dirty="0" smtClean="0">
                <a:solidFill>
                  <a:schemeClr val="tx1"/>
                </a:solidFill>
                <a:latin typeface="Times New Roman" pitchFamily="18" charset="0"/>
                <a:ea typeface="+mn-ea"/>
                <a:cs typeface="+mn-cs"/>
              </a:rPr>
              <a:t>the order in which such dependencies are considered for violation of BCNF. Some</a:t>
            </a:r>
          </a:p>
          <a:p>
            <a:r>
              <a:rPr lang="en-US" sz="1200" b="0" i="0" u="none" strike="noStrike" kern="1200" baseline="0" dirty="0" smtClean="0">
                <a:solidFill>
                  <a:schemeClr val="tx1"/>
                </a:solidFill>
                <a:latin typeface="Times New Roman" pitchFamily="18" charset="0"/>
                <a:ea typeface="+mn-ea"/>
                <a:cs typeface="+mn-cs"/>
              </a:rPr>
              <a:t>of the designs may be preferred, whereas others may be undesirable.</a:t>
            </a:r>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24</a:t>
            </a:fld>
            <a:endParaRPr lang="en-US"/>
          </a:p>
        </p:txBody>
      </p:sp>
    </p:spTree>
    <p:extLst>
      <p:ext uri="{BB962C8B-B14F-4D97-AF65-F5344CB8AC3E}">
        <p14:creationId xmlns:p14="http://schemas.microsoft.com/office/powerpoint/2010/main" val="1639138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Times New Roman" pitchFamily="18" charset="0"/>
                <a:ea typeface="+mn-ea"/>
                <a:cs typeface="+mn-cs"/>
              </a:rPr>
              <a:t>In general, whenever a relational database schema is designed in which two or more</a:t>
            </a:r>
          </a:p>
          <a:p>
            <a:r>
              <a:rPr lang="en-US" sz="1200" b="0" i="0" u="none" strike="noStrike" kern="1200" baseline="0" dirty="0" smtClean="0">
                <a:solidFill>
                  <a:schemeClr val="tx1"/>
                </a:solidFill>
                <a:latin typeface="Times New Roman" pitchFamily="18" charset="0"/>
                <a:ea typeface="+mn-ea"/>
                <a:cs typeface="+mn-cs"/>
              </a:rPr>
              <a:t>relations are interrelated via foreign keys, particular care must be devoted to watching</a:t>
            </a:r>
          </a:p>
          <a:p>
            <a:r>
              <a:rPr lang="en-US" sz="1200" b="0" i="0" u="none" strike="noStrike" kern="1200" baseline="0" dirty="0" smtClean="0">
                <a:solidFill>
                  <a:schemeClr val="tx1"/>
                </a:solidFill>
                <a:latin typeface="Times New Roman" pitchFamily="18" charset="0"/>
                <a:ea typeface="+mn-ea"/>
                <a:cs typeface="+mn-cs"/>
              </a:rPr>
              <a:t>for potential NULL values in foreign keys. This can cause unexpected loss of</a:t>
            </a:r>
          </a:p>
          <a:p>
            <a:r>
              <a:rPr lang="en-US" sz="1200" b="0" i="0" u="none" strike="noStrike" kern="1200" baseline="0" dirty="0" smtClean="0">
                <a:solidFill>
                  <a:schemeClr val="tx1"/>
                </a:solidFill>
                <a:latin typeface="Times New Roman" pitchFamily="18" charset="0"/>
                <a:ea typeface="+mn-ea"/>
                <a:cs typeface="+mn-cs"/>
              </a:rPr>
              <a:t>information in queries that involve joins on that foreign key. Moreover, if NULLs</a:t>
            </a:r>
          </a:p>
          <a:p>
            <a:r>
              <a:rPr lang="en-US" sz="1200" b="0" i="0" u="none" strike="noStrike" kern="1200" baseline="0" dirty="0" smtClean="0">
                <a:solidFill>
                  <a:schemeClr val="tx1"/>
                </a:solidFill>
                <a:latin typeface="Times New Roman" pitchFamily="18" charset="0"/>
                <a:ea typeface="+mn-ea"/>
                <a:cs typeface="+mn-cs"/>
              </a:rPr>
              <a:t>occur in other attributes, such as Salary, their effect on built-in functions such as</a:t>
            </a:r>
          </a:p>
          <a:p>
            <a:r>
              <a:rPr lang="en-US" sz="1200" b="0" i="0" u="none" strike="noStrike" kern="1200" baseline="0" dirty="0" smtClean="0">
                <a:solidFill>
                  <a:schemeClr val="tx1"/>
                </a:solidFill>
                <a:latin typeface="Times New Roman" pitchFamily="18" charset="0"/>
                <a:ea typeface="+mn-ea"/>
                <a:cs typeface="+mn-cs"/>
              </a:rPr>
              <a:t>SUM and AVERAGE must be carefully evaluated.</a:t>
            </a:r>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25</a:t>
            </a:fld>
            <a:endParaRPr lang="en-US"/>
          </a:p>
        </p:txBody>
      </p:sp>
    </p:spTree>
    <p:extLst>
      <p:ext uri="{BB962C8B-B14F-4D97-AF65-F5344CB8AC3E}">
        <p14:creationId xmlns:p14="http://schemas.microsoft.com/office/powerpoint/2010/main" val="295378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28</a:t>
            </a:fld>
            <a:endParaRPr lang="en-US"/>
          </a:p>
        </p:txBody>
      </p:sp>
    </p:spTree>
    <p:extLst>
      <p:ext uri="{BB962C8B-B14F-4D97-AF65-F5344CB8AC3E}">
        <p14:creationId xmlns:p14="http://schemas.microsoft.com/office/powerpoint/2010/main" val="654196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Times New Roman" pitchFamily="18" charset="0"/>
                <a:ea typeface="+mn-ea"/>
                <a:cs typeface="+mn-cs"/>
              </a:rPr>
              <a:t>in EMPLOYEE_3 if the employee has not been assigned a department (instead of</a:t>
            </a:r>
          </a:p>
          <a:p>
            <a:r>
              <a:rPr lang="en-US" sz="1200" b="0" i="0" u="none" strike="noStrike" kern="1200" baseline="0" dirty="0" smtClean="0">
                <a:solidFill>
                  <a:schemeClr val="tx1"/>
                </a:solidFill>
                <a:latin typeface="Times New Roman" pitchFamily="18" charset="0"/>
                <a:ea typeface="+mn-ea"/>
                <a:cs typeface="+mn-cs"/>
              </a:rPr>
              <a:t>including a tuple with NULL for </a:t>
            </a:r>
            <a:r>
              <a:rPr lang="en-US" sz="1200" b="0" i="0" u="none" strike="noStrike" kern="1200" baseline="0" dirty="0" err="1" smtClean="0">
                <a:solidFill>
                  <a:schemeClr val="tx1"/>
                </a:solidFill>
                <a:latin typeface="Times New Roman" pitchFamily="18" charset="0"/>
                <a:ea typeface="+mn-ea"/>
                <a:cs typeface="+mn-cs"/>
              </a:rPr>
              <a:t>Dnum</a:t>
            </a:r>
            <a:r>
              <a:rPr lang="en-US" sz="1200" b="0" i="0" u="none" strike="noStrike" kern="1200" baseline="0" dirty="0" smtClean="0">
                <a:solidFill>
                  <a:schemeClr val="tx1"/>
                </a:solidFill>
                <a:latin typeface="Times New Roman" pitchFamily="18" charset="0"/>
                <a:ea typeface="+mn-ea"/>
                <a:cs typeface="+mn-cs"/>
              </a:rPr>
              <a:t> as in EMPLOYEE_2). If we use EMPLOYEE_3</a:t>
            </a:r>
          </a:p>
          <a:p>
            <a:r>
              <a:rPr lang="en-US" sz="1200" b="0" i="0" u="none" strike="noStrike" kern="1200" baseline="0" dirty="0" smtClean="0">
                <a:solidFill>
                  <a:schemeClr val="tx1"/>
                </a:solidFill>
                <a:latin typeface="Times New Roman" pitchFamily="18" charset="0"/>
                <a:ea typeface="+mn-ea"/>
                <a:cs typeface="+mn-cs"/>
              </a:rPr>
              <a:t>instead of EMPLOYEE_2 and apply a NATURAL JOIN on EMPLOYEE_1 and</a:t>
            </a:r>
          </a:p>
          <a:p>
            <a:r>
              <a:rPr lang="en-US" sz="1200" b="0" i="0" u="none" strike="noStrike" kern="1200" baseline="0" dirty="0" smtClean="0">
                <a:solidFill>
                  <a:schemeClr val="tx1"/>
                </a:solidFill>
                <a:latin typeface="Times New Roman" pitchFamily="18" charset="0"/>
                <a:ea typeface="+mn-ea"/>
                <a:cs typeface="+mn-cs"/>
              </a:rPr>
              <a:t>EMPLOYEE_3, the tuples for Berger and Benitez will not appear in the result; these</a:t>
            </a:r>
          </a:p>
          <a:p>
            <a:r>
              <a:rPr lang="en-US" sz="1200" b="0" i="0" u="none" strike="noStrike" kern="1200" baseline="0" dirty="0" smtClean="0">
                <a:solidFill>
                  <a:schemeClr val="tx1"/>
                </a:solidFill>
                <a:latin typeface="Times New Roman" pitchFamily="18" charset="0"/>
                <a:ea typeface="+mn-ea"/>
                <a:cs typeface="+mn-cs"/>
              </a:rPr>
              <a:t>are called </a:t>
            </a:r>
            <a:r>
              <a:rPr lang="en-US" sz="1200" b="1" i="0" u="none" strike="noStrike" kern="1200" baseline="0" dirty="0" smtClean="0">
                <a:solidFill>
                  <a:schemeClr val="tx1"/>
                </a:solidFill>
                <a:latin typeface="Times New Roman" pitchFamily="18" charset="0"/>
                <a:ea typeface="+mn-ea"/>
                <a:cs typeface="+mn-cs"/>
              </a:rPr>
              <a:t>dangling tuples </a:t>
            </a:r>
            <a:r>
              <a:rPr lang="en-US" sz="1200" b="0" i="0" u="none" strike="noStrike" kern="1200" baseline="0" dirty="0" smtClean="0">
                <a:solidFill>
                  <a:schemeClr val="tx1"/>
                </a:solidFill>
                <a:latin typeface="Times New Roman" pitchFamily="18" charset="0"/>
                <a:ea typeface="+mn-ea"/>
                <a:cs typeface="+mn-cs"/>
              </a:rPr>
              <a:t>in EMPLOYEE_1 because they are represented in only one</a:t>
            </a:r>
          </a:p>
          <a:p>
            <a:r>
              <a:rPr lang="en-US" sz="1200" b="0" i="0" u="none" strike="noStrike" kern="1200" baseline="0" dirty="0" smtClean="0">
                <a:solidFill>
                  <a:schemeClr val="tx1"/>
                </a:solidFill>
                <a:latin typeface="Times New Roman" pitchFamily="18" charset="0"/>
                <a:ea typeface="+mn-ea"/>
                <a:cs typeface="+mn-cs"/>
              </a:rPr>
              <a:t>of the two relations that represent employees, and hence are lost if we apply an</a:t>
            </a:r>
          </a:p>
          <a:p>
            <a:r>
              <a:rPr lang="en-US" sz="1200" b="0" i="0" u="none" strike="noStrike" kern="1200" baseline="0" dirty="0" smtClean="0">
                <a:solidFill>
                  <a:schemeClr val="tx1"/>
                </a:solidFill>
                <a:latin typeface="Times New Roman" pitchFamily="18" charset="0"/>
                <a:ea typeface="+mn-ea"/>
                <a:cs typeface="+mn-cs"/>
              </a:rPr>
              <a:t>(INNER) JOIN operation.</a:t>
            </a:r>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29</a:t>
            </a:fld>
            <a:endParaRPr lang="en-US"/>
          </a:p>
        </p:txBody>
      </p:sp>
    </p:spTree>
    <p:extLst>
      <p:ext uri="{BB962C8B-B14F-4D97-AF65-F5344CB8AC3E}">
        <p14:creationId xmlns:p14="http://schemas.microsoft.com/office/powerpoint/2010/main" val="33005519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i="1" dirty="0" smtClean="0"/>
              <a:t>multivalued dependency</a:t>
            </a:r>
            <a:r>
              <a:rPr lang="en-US" dirty="0" smtClean="0"/>
              <a:t>  (MVD) on </a:t>
            </a:r>
            <a:r>
              <a:rPr lang="en-US" i="1" dirty="0" smtClean="0"/>
              <a:t>R</a:t>
            </a:r>
            <a:r>
              <a:rPr lang="en-US" dirty="0" smtClean="0"/>
              <a:t>, </a:t>
            </a:r>
            <a:r>
              <a:rPr lang="en-US" i="1" dirty="0" smtClean="0">
                <a:solidFill>
                  <a:schemeClr val="accent2"/>
                </a:solidFill>
              </a:rPr>
              <a:t>X</a:t>
            </a:r>
            <a:r>
              <a:rPr lang="en-US" dirty="0" smtClean="0">
                <a:solidFill>
                  <a:schemeClr val="accent2"/>
                </a:solidFill>
              </a:rPr>
              <a:t> -&gt;&gt;</a:t>
            </a:r>
            <a:r>
              <a:rPr lang="en-US" i="1" dirty="0" smtClean="0">
                <a:solidFill>
                  <a:schemeClr val="accent2"/>
                </a:solidFill>
              </a:rPr>
              <a:t>Y</a:t>
            </a:r>
            <a:r>
              <a:rPr lang="en-US" i="1" dirty="0" smtClean="0"/>
              <a:t> </a:t>
            </a:r>
            <a:r>
              <a:rPr lang="en-US" dirty="0" smtClean="0"/>
              <a:t>, says that if two tuples of </a:t>
            </a:r>
            <a:r>
              <a:rPr lang="en-US" i="1" dirty="0" smtClean="0"/>
              <a:t>R</a:t>
            </a:r>
            <a:r>
              <a:rPr lang="en-US" dirty="0" smtClean="0"/>
              <a:t>  agree on all the attributes of </a:t>
            </a:r>
            <a:r>
              <a:rPr lang="en-US" i="1" dirty="0" smtClean="0"/>
              <a:t>X</a:t>
            </a:r>
            <a:r>
              <a:rPr lang="en-US" dirty="0" smtClean="0"/>
              <a:t>, then their components in </a:t>
            </a:r>
            <a:r>
              <a:rPr lang="en-US" i="1" dirty="0" smtClean="0"/>
              <a:t>Y</a:t>
            </a:r>
            <a:r>
              <a:rPr lang="en-US" dirty="0" smtClean="0"/>
              <a:t>  may be swapped, and the result will be two tuples that are also in the relation.</a:t>
            </a:r>
          </a:p>
          <a:p>
            <a:r>
              <a:rPr lang="en-US" dirty="0" smtClean="0"/>
              <a:t>i.e., for each value of </a:t>
            </a:r>
            <a:r>
              <a:rPr lang="en-US" i="1" dirty="0" smtClean="0"/>
              <a:t>X</a:t>
            </a:r>
            <a:r>
              <a:rPr lang="en-US" dirty="0" smtClean="0"/>
              <a:t>, the values of </a:t>
            </a:r>
            <a:r>
              <a:rPr lang="en-US" i="1" dirty="0" smtClean="0"/>
              <a:t>Y</a:t>
            </a:r>
            <a:r>
              <a:rPr lang="en-US" dirty="0" smtClean="0"/>
              <a:t>  are independent of the values of </a:t>
            </a:r>
            <a:r>
              <a:rPr lang="en-US" i="1" dirty="0" smtClean="0"/>
              <a:t>R</a:t>
            </a:r>
            <a:r>
              <a:rPr lang="en-US" dirty="0" smtClean="0"/>
              <a:t>-</a:t>
            </a:r>
            <a:r>
              <a:rPr lang="en-US" i="1" dirty="0" smtClean="0"/>
              <a:t>X</a:t>
            </a:r>
            <a:r>
              <a:rPr lang="en-US" dirty="0" smtClean="0"/>
              <a:t>-</a:t>
            </a:r>
            <a:r>
              <a:rPr lang="en-US" i="1" dirty="0" smtClean="0"/>
              <a:t>Y</a:t>
            </a:r>
            <a:r>
              <a:rPr lang="en-US" dirty="0" smtClean="0"/>
              <a:t>.</a:t>
            </a:r>
          </a:p>
          <a:p>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31</a:t>
            </a:fld>
            <a:endParaRPr lang="en-US"/>
          </a:p>
        </p:txBody>
      </p:sp>
    </p:spTree>
    <p:extLst>
      <p:ext uri="{BB962C8B-B14F-4D97-AF65-F5344CB8AC3E}">
        <p14:creationId xmlns:p14="http://schemas.microsoft.com/office/powerpoint/2010/main" val="3933197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solidFill>
                  <a:srgbClr val="000000"/>
                </a:solidFill>
                <a:cs typeface="Times New Roman" pitchFamily="18" charset="0"/>
              </a:rPr>
              <a:t>Note: </a:t>
            </a:r>
            <a:r>
              <a:rPr lang="en-US" sz="1200" i="1" dirty="0" smtClean="0">
                <a:solidFill>
                  <a:srgbClr val="000000"/>
                </a:solidFill>
                <a:cs typeface="Times New Roman" pitchFamily="18" charset="0"/>
              </a:rPr>
              <a:t>F</a:t>
            </a:r>
            <a:r>
              <a:rPr lang="en-US" sz="1200" baseline="30000" dirty="0" smtClean="0">
                <a:solidFill>
                  <a:srgbClr val="000000"/>
                </a:solidFill>
                <a:cs typeface="Times New Roman" pitchFamily="18" charset="0"/>
              </a:rPr>
              <a:t>+ </a:t>
            </a:r>
            <a:r>
              <a:rPr lang="en-US" sz="1200" dirty="0" smtClean="0">
                <a:solidFill>
                  <a:srgbClr val="000000"/>
                </a:solidFill>
                <a:cs typeface="Times New Roman" pitchFamily="18" charset="0"/>
              </a:rPr>
              <a:t>is the (complete) set of all dependencies (functional or </a:t>
            </a:r>
            <a:r>
              <a:rPr lang="en-US" sz="1200" dirty="0" err="1" smtClean="0">
                <a:solidFill>
                  <a:srgbClr val="000000"/>
                </a:solidFill>
                <a:cs typeface="Times New Roman" pitchFamily="18" charset="0"/>
              </a:rPr>
              <a:t>multivalued</a:t>
            </a:r>
            <a:r>
              <a:rPr lang="en-US" sz="1200" dirty="0" smtClean="0">
                <a:solidFill>
                  <a:srgbClr val="000000"/>
                </a:solidFill>
                <a:cs typeface="Times New Roman" pitchFamily="18" charset="0"/>
              </a:rPr>
              <a:t>) that will hold in every relation state </a:t>
            </a:r>
            <a:r>
              <a:rPr lang="en-US" sz="1200" i="1" dirty="0" smtClean="0">
                <a:solidFill>
                  <a:srgbClr val="000000"/>
                </a:solidFill>
                <a:cs typeface="Times New Roman" pitchFamily="18" charset="0"/>
              </a:rPr>
              <a:t>r</a:t>
            </a:r>
            <a:r>
              <a:rPr lang="en-US" sz="1200" dirty="0" smtClean="0">
                <a:solidFill>
                  <a:srgbClr val="000000"/>
                </a:solidFill>
                <a:cs typeface="Times New Roman" pitchFamily="18" charset="0"/>
              </a:rPr>
              <a:t> of </a:t>
            </a:r>
            <a:r>
              <a:rPr lang="en-US" sz="1200" i="1" dirty="0" smtClean="0">
                <a:solidFill>
                  <a:srgbClr val="000000"/>
                </a:solidFill>
                <a:cs typeface="Times New Roman" pitchFamily="18" charset="0"/>
              </a:rPr>
              <a:t>R</a:t>
            </a:r>
            <a:r>
              <a:rPr lang="en-US" sz="1200" dirty="0" smtClean="0">
                <a:solidFill>
                  <a:srgbClr val="000000"/>
                </a:solidFill>
                <a:cs typeface="Times New Roman" pitchFamily="18" charset="0"/>
              </a:rPr>
              <a:t> that satisfies </a:t>
            </a:r>
            <a:r>
              <a:rPr lang="en-US" sz="1200" i="1" dirty="0" smtClean="0">
                <a:solidFill>
                  <a:srgbClr val="000000"/>
                </a:solidFill>
                <a:cs typeface="Times New Roman" pitchFamily="18" charset="0"/>
              </a:rPr>
              <a:t>F</a:t>
            </a:r>
            <a:r>
              <a:rPr lang="en-US" sz="1200" dirty="0" smtClean="0">
                <a:solidFill>
                  <a:srgbClr val="000000"/>
                </a:solidFill>
                <a:cs typeface="Times New Roman" pitchFamily="18" charset="0"/>
              </a:rPr>
              <a:t>. It is also called the </a:t>
            </a:r>
            <a:r>
              <a:rPr lang="en-US" sz="1200" b="1" dirty="0" smtClean="0">
                <a:solidFill>
                  <a:srgbClr val="000000"/>
                </a:solidFill>
                <a:cs typeface="Times New Roman" pitchFamily="18" charset="0"/>
              </a:rPr>
              <a:t>closure</a:t>
            </a:r>
            <a:r>
              <a:rPr lang="en-US" sz="1200" dirty="0" smtClean="0">
                <a:solidFill>
                  <a:srgbClr val="000000"/>
                </a:solidFill>
                <a:cs typeface="Times New Roman" pitchFamily="18" charset="0"/>
              </a:rPr>
              <a:t> of </a:t>
            </a:r>
            <a:r>
              <a:rPr lang="en-US" sz="1200" i="1" dirty="0" smtClean="0">
                <a:solidFill>
                  <a:srgbClr val="000000"/>
                </a:solidFill>
                <a:cs typeface="Times New Roman" pitchFamily="18" charset="0"/>
              </a:rPr>
              <a:t>F</a:t>
            </a:r>
            <a:r>
              <a:rPr lang="en-US" sz="1200" dirty="0" smtClean="0">
                <a:solidFill>
                  <a:srgbClr val="000000"/>
                </a:solidFill>
                <a:cs typeface="Times New Roman" pitchFamily="18" charset="0"/>
              </a:rPr>
              <a:t>.</a:t>
            </a:r>
            <a:endParaRPr lang="en-US" dirty="0"/>
          </a:p>
        </p:txBody>
      </p:sp>
      <p:sp>
        <p:nvSpPr>
          <p:cNvPr id="4" name="Date Placeholder 3"/>
          <p:cNvSpPr>
            <a:spLocks noGrp="1"/>
          </p:cNvSpPr>
          <p:nvPr>
            <p:ph type="dt" idx="10"/>
          </p:nvPr>
        </p:nvSpPr>
        <p:spPr/>
        <p:txBody>
          <a:bodyPr/>
          <a:lstStyle/>
          <a:p>
            <a:fld id="{D6FFC425-D752-4C81-BAA9-8FE302451F01}" type="datetime1">
              <a:rPr lang="en-US" smtClean="0"/>
              <a:pPr/>
              <a:t>4/24/2015</a:t>
            </a:fld>
            <a:endParaRPr lang="en-US"/>
          </a:p>
        </p:txBody>
      </p:sp>
      <p:sp>
        <p:nvSpPr>
          <p:cNvPr id="5" name="Slide Number Placeholder 4"/>
          <p:cNvSpPr>
            <a:spLocks noGrp="1"/>
          </p:cNvSpPr>
          <p:nvPr>
            <p:ph type="sldNum" sz="quarter" idx="11"/>
          </p:nvPr>
        </p:nvSpPr>
        <p:spPr/>
        <p:txBody>
          <a:bodyPr/>
          <a:lstStyle/>
          <a:p>
            <a:fld id="{11956CED-6D67-449F-B0BA-15441F497BA9}" type="slidenum">
              <a:rPr lang="en-US" smtClean="0"/>
              <a:pPr/>
              <a:t>34</a:t>
            </a:fld>
            <a:endParaRPr lang="en-US"/>
          </a:p>
        </p:txBody>
      </p:sp>
    </p:spTree>
    <p:extLst>
      <p:ext uri="{BB962C8B-B14F-4D97-AF65-F5344CB8AC3E}">
        <p14:creationId xmlns:p14="http://schemas.microsoft.com/office/powerpoint/2010/main" val="2630801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a:prstGeom prst="rect">
            <a:avLst/>
          </a:prstGeom>
        </p:spPr>
        <p:txBody>
          <a:bodyPr/>
          <a:lstStyle/>
          <a:p>
            <a:endParaRPr lang="en-US" dirty="0"/>
          </a:p>
        </p:txBody>
      </p:sp>
      <p:sp>
        <p:nvSpPr>
          <p:cNvPr id="17" name="Footer Placeholder 16"/>
          <p:cNvSpPr>
            <a:spLocks noGrp="1"/>
          </p:cNvSpPr>
          <p:nvPr>
            <p:ph type="ftr" sz="quarter" idx="11"/>
          </p:nvPr>
        </p:nvSpPr>
        <p:spPr bwMode="auto">
          <a:xfrm rot="5400000">
            <a:off x="7077269" y="4181669"/>
            <a:ext cx="3657600" cy="384048"/>
          </a:xfrm>
          <a:prstGeom prst="rect">
            <a:avLst/>
          </a:prstGeom>
        </p:spPr>
        <p:txBody>
          <a:bodyPr/>
          <a:lstStyle/>
          <a:p>
            <a:r>
              <a:rPr lang="en-US" sz="1200" smtClean="0"/>
              <a:t>© Shamkant B. Navathe</a:t>
            </a:r>
          </a:p>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a:prstGeom prst="rect">
            <a:avLst/>
          </a:prstGeom>
        </p:spPr>
        <p:txBody>
          <a:bodyPr/>
          <a:lstStyle/>
          <a:p>
            <a:fld id="{40CB225C-221C-4946-A2AB-922EFD548B49}" type="slidenum">
              <a:rPr lang="en-US" smtClean="0"/>
              <a:pPr/>
              <a:t>‹#›</a:t>
            </a:fld>
            <a:endParaRPr lang="en-US"/>
          </a:p>
        </p:txBody>
      </p:sp>
      <p:sp>
        <p:nvSpPr>
          <p:cNvPr id="30" name="Line 10"/>
          <p:cNvSpPr>
            <a:spLocks noChangeShapeType="1"/>
          </p:cNvSpPr>
          <p:nvPr userDrawn="1"/>
        </p:nvSpPr>
        <p:spPr bwMode="auto">
          <a:xfrm>
            <a:off x="369888" y="6370638"/>
            <a:ext cx="8351837" cy="0"/>
          </a:xfrm>
          <a:prstGeom prst="line">
            <a:avLst/>
          </a:prstGeom>
          <a:noFill/>
          <a:ln w="9525">
            <a:solidFill>
              <a:schemeClr val="bg2"/>
            </a:solidFill>
            <a:round/>
            <a:headEnd/>
            <a:tailEnd/>
          </a:ln>
          <a:effectLst/>
        </p:spPr>
        <p:txBody>
          <a:bodyPr wrap="none"/>
          <a:lstStyle/>
          <a:p>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a:xfrm rot="5400000">
            <a:off x="7589520" y="1081851"/>
            <a:ext cx="2011680" cy="384048"/>
          </a:xfrm>
          <a:prstGeom prst="rect">
            <a:avLst/>
          </a:prstGeom>
        </p:spPr>
        <p:txBody>
          <a:bodyPr rtlCol="0"/>
          <a:lstStyle/>
          <a:p>
            <a:pPr algn="r" eaLnBrk="1" latinLnBrk="0" hangingPunct="1"/>
            <a:fld id="{E6F9B8CD-342D-4579-98EC-A8FD6B7370E1}" type="datetimeFigureOut">
              <a:rPr lang="en-US" smtClean="0"/>
              <a:pPr algn="r" eaLnBrk="1" latinLnBrk="0" hangingPunct="1"/>
              <a:t>4/24/2015</a:t>
            </a:fld>
            <a:endParaRPr lang="en-US"/>
          </a:p>
        </p:txBody>
      </p:sp>
      <p:sp>
        <p:nvSpPr>
          <p:cNvPr id="10" name="Footer Placeholder 9"/>
          <p:cNvSpPr>
            <a:spLocks noGrp="1"/>
          </p:cNvSpPr>
          <p:nvPr>
            <p:ph type="ftr" sz="quarter" idx="16"/>
          </p:nvPr>
        </p:nvSpPr>
        <p:spPr>
          <a:xfrm rot="5400000">
            <a:off x="6990186" y="3737240"/>
            <a:ext cx="3200400" cy="365760"/>
          </a:xfrm>
          <a:prstGeom prst="rect">
            <a:avLst/>
          </a:prstGeom>
        </p:spPr>
        <p:txBody>
          <a:bodyPr rtlCol="0"/>
          <a:lstStyle/>
          <a:p>
            <a:endParaRPr kumimoji="0"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a:prstGeom prst="rect">
            <a:avLst/>
          </a:prstGeom>
        </p:spPr>
        <p:txBody>
          <a:bodyPr/>
          <a:lstStyle/>
          <a:p>
            <a:fld id="{E6F9B8CD-342D-4579-98EC-A8FD6B7370E1}" type="datetimeFigureOut">
              <a:rPr lang="en-US" smtClean="0"/>
              <a:pPr/>
              <a:t>4/24/2015</a:t>
            </a:fld>
            <a:endParaRPr lang="en-US"/>
          </a:p>
        </p:txBody>
      </p:sp>
      <p:sp>
        <p:nvSpPr>
          <p:cNvPr id="5" name="Footer Placeholder 4"/>
          <p:cNvSpPr>
            <a:spLocks noGrp="1"/>
          </p:cNvSpPr>
          <p:nvPr>
            <p:ph type="ftr" sz="quarter" idx="11"/>
          </p:nvPr>
        </p:nvSpPr>
        <p:spPr bwMode="auto">
          <a:xfrm rot="5400000">
            <a:off x="7077456" y="4178808"/>
            <a:ext cx="3657600" cy="384048"/>
          </a:xfrm>
          <a:prstGeom prst="rect">
            <a:avLst/>
          </a:prstGeom>
        </p:spPr>
        <p:txBody>
          <a:bodyPr/>
          <a:lstStyle/>
          <a:p>
            <a:endParaRPr kumimoji="0"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rot="5400000">
            <a:off x="7589520" y="1081851"/>
            <a:ext cx="2011680" cy="384048"/>
          </a:xfrm>
          <a:prstGeom prst="rect">
            <a:avLst/>
          </a:prstGeom>
        </p:spPr>
        <p:txBody>
          <a:bodyPr/>
          <a:lstStyle/>
          <a:p>
            <a:fld id="{E6F9B8CD-342D-4579-98EC-A8FD6B7370E1}" type="datetimeFigureOut">
              <a:rPr lang="en-US" smtClean="0"/>
              <a:pPr/>
              <a:t>4/24/2015</a:t>
            </a:fld>
            <a:endParaRPr lang="en-US"/>
          </a:p>
        </p:txBody>
      </p:sp>
      <p:sp>
        <p:nvSpPr>
          <p:cNvPr id="6" name="Footer Placeholder 5"/>
          <p:cNvSpPr>
            <a:spLocks noGrp="1"/>
          </p:cNvSpPr>
          <p:nvPr>
            <p:ph type="ftr" sz="quarter" idx="11"/>
          </p:nvPr>
        </p:nvSpPr>
        <p:spPr>
          <a:xfrm rot="5400000">
            <a:off x="6990186" y="3737240"/>
            <a:ext cx="3200400" cy="365760"/>
          </a:xfrm>
          <a:prstGeom prst="rect">
            <a:avLst/>
          </a:prstGeom>
        </p:spPr>
        <p:txBody>
          <a:bodyPr/>
          <a:lstStyle/>
          <a:p>
            <a:endParaRPr kumimoji="0"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a:xfrm rot="5400000">
            <a:off x="7589520" y="1081851"/>
            <a:ext cx="2011680" cy="384048"/>
          </a:xfrm>
          <a:prstGeom prst="rect">
            <a:avLst/>
          </a:prstGeom>
        </p:spPr>
        <p:txBody>
          <a:bodyPr/>
          <a:lstStyle/>
          <a:p>
            <a:fld id="{E6F9B8CD-342D-4579-98EC-A8FD6B7370E1}" type="datetimeFigureOut">
              <a:rPr lang="en-US" smtClean="0"/>
              <a:pPr/>
              <a:t>4/24/2015</a:t>
            </a:fld>
            <a:endParaRPr lang="en-US"/>
          </a:p>
        </p:txBody>
      </p:sp>
      <p:sp>
        <p:nvSpPr>
          <p:cNvPr id="8" name="Footer Placeholder 7"/>
          <p:cNvSpPr>
            <a:spLocks noGrp="1"/>
          </p:cNvSpPr>
          <p:nvPr>
            <p:ph type="ftr" sz="quarter" idx="11"/>
          </p:nvPr>
        </p:nvSpPr>
        <p:spPr>
          <a:xfrm rot="5400000">
            <a:off x="6990186" y="3737240"/>
            <a:ext cx="3200400" cy="365760"/>
          </a:xfrm>
          <a:prstGeom prst="rect">
            <a:avLst/>
          </a:prstGeom>
        </p:spPr>
        <p:txBody>
          <a:bodyPr/>
          <a:lstStyle/>
          <a:p>
            <a:endParaRPr kumimoji="0"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a:xfrm rot="5400000">
            <a:off x="7589520" y="1081851"/>
            <a:ext cx="2011680" cy="384048"/>
          </a:xfrm>
          <a:prstGeom prst="rect">
            <a:avLst/>
          </a:prstGeom>
        </p:spPr>
        <p:txBody>
          <a:bodyPr rtlCol="0"/>
          <a:lstStyle/>
          <a:p>
            <a:pPr algn="r" eaLnBrk="1" latinLnBrk="0" hangingPunct="1"/>
            <a:fld id="{E6F9B8CD-342D-4579-98EC-A8FD6B7370E1}" type="datetimeFigureOut">
              <a:rPr lang="en-US" smtClean="0"/>
              <a:pPr algn="r" eaLnBrk="1" latinLnBrk="0" hangingPunct="1"/>
              <a:t>4/24/2015</a:t>
            </a:fld>
            <a:endParaRPr lang="en-US"/>
          </a:p>
        </p:txBody>
      </p:sp>
      <p:sp>
        <p:nvSpPr>
          <p:cNvPr id="8" name="Footer Placeholder 7"/>
          <p:cNvSpPr>
            <a:spLocks noGrp="1"/>
          </p:cNvSpPr>
          <p:nvPr>
            <p:ph type="ftr" sz="quarter" idx="12"/>
          </p:nvPr>
        </p:nvSpPr>
        <p:spPr>
          <a:xfrm rot="5400000">
            <a:off x="6990186" y="3737240"/>
            <a:ext cx="3200400" cy="365760"/>
          </a:xfrm>
          <a:prstGeom prst="rect">
            <a:avLst/>
          </a:prstGeom>
        </p:spPr>
        <p:txBody>
          <a:bodyPr rtlCol="0"/>
          <a:lstStyle/>
          <a:p>
            <a:endParaRPr kumimoji="0"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rot="5400000">
            <a:off x="7589520" y="1081851"/>
            <a:ext cx="2011680" cy="384048"/>
          </a:xfrm>
          <a:prstGeom prst="rect">
            <a:avLst/>
          </a:prstGeom>
        </p:spPr>
        <p:txBody>
          <a:bodyPr/>
          <a:lstStyle/>
          <a:p>
            <a:fld id="{E6F9B8CD-342D-4579-98EC-A8FD6B7370E1}" type="datetimeFigureOut">
              <a:rPr lang="en-US" smtClean="0"/>
              <a:pPr/>
              <a:t>4/24/2015</a:t>
            </a:fld>
            <a:endParaRPr lang="en-US"/>
          </a:p>
        </p:txBody>
      </p:sp>
      <p:sp>
        <p:nvSpPr>
          <p:cNvPr id="3" name="Footer Placeholder 2"/>
          <p:cNvSpPr>
            <a:spLocks noGrp="1"/>
          </p:cNvSpPr>
          <p:nvPr>
            <p:ph type="ftr" sz="quarter" idx="11"/>
          </p:nvPr>
        </p:nvSpPr>
        <p:spPr>
          <a:xfrm rot="5400000">
            <a:off x="6990186" y="3737240"/>
            <a:ext cx="3200400" cy="365760"/>
          </a:xfrm>
          <a:prstGeom prst="rect">
            <a:avLst/>
          </a:prstGeom>
        </p:spPr>
        <p:txBody>
          <a:bodyPr/>
          <a:lstStyle/>
          <a:p>
            <a:endParaRPr kumimoji="0"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a:xfrm rot="5400000">
            <a:off x="7589520" y="1081851"/>
            <a:ext cx="2011680" cy="384048"/>
          </a:xfrm>
          <a:prstGeom prst="rect">
            <a:avLst/>
          </a:prstGeom>
        </p:spPr>
        <p:txBody>
          <a:bodyPr rtlCol="0"/>
          <a:lstStyle/>
          <a:p>
            <a:pPr algn="r" eaLnBrk="1" latinLnBrk="0" hangingPunct="1"/>
            <a:fld id="{E6F9B8CD-342D-4579-98EC-A8FD6B7370E1}" type="datetimeFigureOut">
              <a:rPr lang="en-US" smtClean="0"/>
              <a:pPr algn="r" eaLnBrk="1" latinLnBrk="0" hangingPunct="1"/>
              <a:t>4/24/2015</a:t>
            </a:fld>
            <a:endParaRPr lang="en-US" dirty="0"/>
          </a:p>
        </p:txBody>
      </p:sp>
      <p:sp>
        <p:nvSpPr>
          <p:cNvPr id="23" name="Footer Placeholder 22"/>
          <p:cNvSpPr>
            <a:spLocks noGrp="1"/>
          </p:cNvSpPr>
          <p:nvPr>
            <p:ph type="ftr" sz="quarter" idx="16"/>
          </p:nvPr>
        </p:nvSpPr>
        <p:spPr>
          <a:xfrm rot="5400000">
            <a:off x="6990186" y="3737240"/>
            <a:ext cx="3200400" cy="365760"/>
          </a:xfrm>
          <a:prstGeom prst="rect">
            <a:avLst/>
          </a:prstGeom>
        </p:spPr>
        <p:txBody>
          <a:bodyPr rtlCol="0"/>
          <a:lstStyle/>
          <a:p>
            <a:endParaRPr kumimoji="0"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a:xfrm rot="5400000">
            <a:off x="7589520" y="1081851"/>
            <a:ext cx="2011680" cy="384048"/>
          </a:xfrm>
          <a:prstGeom prst="rect">
            <a:avLst/>
          </a:prstGeom>
        </p:spPr>
        <p:txBody>
          <a:bodyPr rtlCol="0"/>
          <a:lstStyle/>
          <a:p>
            <a:pPr algn="r" eaLnBrk="1" latinLnBrk="0" hangingPunct="1"/>
            <a:fld id="{E6F9B8CD-342D-4579-98EC-A8FD6B7370E1}" type="datetimeFigureOut">
              <a:rPr lang="en-US" smtClean="0"/>
              <a:pPr algn="r" eaLnBrk="1" latinLnBrk="0" hangingPunct="1"/>
              <a:t>4/24/2015</a:t>
            </a:fld>
            <a:endParaRPr lang="en-US"/>
          </a:p>
        </p:txBody>
      </p:sp>
      <p:sp>
        <p:nvSpPr>
          <p:cNvPr id="21" name="Footer Placeholder 20"/>
          <p:cNvSpPr>
            <a:spLocks noGrp="1"/>
          </p:cNvSpPr>
          <p:nvPr>
            <p:ph type="ftr" sz="quarter" idx="12"/>
          </p:nvPr>
        </p:nvSpPr>
        <p:spPr>
          <a:xfrm rot="5400000">
            <a:off x="6990186" y="3737240"/>
            <a:ext cx="3200400" cy="365760"/>
          </a:xfrm>
          <a:prstGeom prst="rect">
            <a:avLst/>
          </a:prstGeom>
        </p:spPr>
        <p:txBody>
          <a:bodyPr rtlCol="0"/>
          <a:lstStyle/>
          <a:p>
            <a:endParaRPr kumimoji="0"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rot="5400000">
            <a:off x="7589520" y="1081851"/>
            <a:ext cx="2011680" cy="384048"/>
          </a:xfrm>
          <a:prstGeom prst="rect">
            <a:avLst/>
          </a:prstGeom>
        </p:spPr>
        <p:txBody>
          <a:bodyPr/>
          <a:lstStyle/>
          <a:p>
            <a:fld id="{E6F9B8CD-342D-4579-98EC-A8FD6B7370E1}" type="datetimeFigureOut">
              <a:rPr lang="en-US" smtClean="0"/>
              <a:pPr/>
              <a:t>4/24/2015</a:t>
            </a:fld>
            <a:endParaRPr lang="en-US"/>
          </a:p>
        </p:txBody>
      </p:sp>
      <p:sp>
        <p:nvSpPr>
          <p:cNvPr id="5" name="Footer Placeholder 4"/>
          <p:cNvSpPr>
            <a:spLocks noGrp="1"/>
          </p:cNvSpPr>
          <p:nvPr>
            <p:ph type="ftr" sz="quarter" idx="11"/>
          </p:nvPr>
        </p:nvSpPr>
        <p:spPr>
          <a:xfrm rot="5400000">
            <a:off x="6990186" y="3737240"/>
            <a:ext cx="3200400" cy="365760"/>
          </a:xfrm>
          <a:prstGeom prst="rect">
            <a:avLst/>
          </a:prstGeom>
        </p:spPr>
        <p:txBody>
          <a:bodyPr/>
          <a:lstStyle/>
          <a:p>
            <a:endParaRPr kumimoji="0"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rot="5400000">
            <a:off x="7589520" y="1081851"/>
            <a:ext cx="2011680" cy="384048"/>
          </a:xfrm>
          <a:prstGeom prst="rect">
            <a:avLst/>
          </a:prstGeom>
        </p:spPr>
        <p:txBody>
          <a:bodyPr/>
          <a:lstStyle/>
          <a:p>
            <a:fld id="{E6F9B8CD-342D-4579-98EC-A8FD6B7370E1}" type="datetimeFigureOut">
              <a:rPr lang="en-US" smtClean="0"/>
              <a:pPr/>
              <a:t>4/24/2015</a:t>
            </a:fld>
            <a:endParaRPr lang="en-US"/>
          </a:p>
        </p:txBody>
      </p:sp>
      <p:sp>
        <p:nvSpPr>
          <p:cNvPr id="5" name="Footer Placeholder 4"/>
          <p:cNvSpPr>
            <a:spLocks noGrp="1"/>
          </p:cNvSpPr>
          <p:nvPr>
            <p:ph type="ftr" sz="quarter" idx="11"/>
          </p:nvPr>
        </p:nvSpPr>
        <p:spPr>
          <a:xfrm rot="5400000">
            <a:off x="6990186" y="3737240"/>
            <a:ext cx="3200400" cy="365760"/>
          </a:xfrm>
          <a:prstGeom prst="rect">
            <a:avLst/>
          </a:prstGeom>
        </p:spPr>
        <p:txBody>
          <a:bodyPr/>
          <a:lstStyle/>
          <a:p>
            <a:endParaRPr kumimoji="0"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8"/>
          <p:cNvSpPr>
            <a:spLocks noChangeArrowheads="1"/>
          </p:cNvSpPr>
          <p:nvPr userDrawn="1"/>
        </p:nvSpPr>
        <p:spPr bwMode="auto">
          <a:xfrm>
            <a:off x="825500" y="6280150"/>
            <a:ext cx="7577138" cy="457200"/>
          </a:xfrm>
          <a:prstGeom prst="rect">
            <a:avLst/>
          </a:prstGeom>
          <a:noFill/>
          <a:ln w="9525">
            <a:noFill/>
            <a:miter lim="800000"/>
            <a:headEnd/>
            <a:tailEnd/>
          </a:ln>
          <a:effectLst/>
        </p:spPr>
        <p:txBody>
          <a:bodyPr anchor="b"/>
          <a:lstStyle/>
          <a:p>
            <a:pPr algn="ctr"/>
            <a:endParaRPr lang="en-US" sz="1400" b="1" dirty="0">
              <a:solidFill>
                <a:srgbClr val="666699"/>
              </a:solidFill>
              <a:latin typeface="Arial" pitchFamily="34" charset="0"/>
            </a:endParaRPr>
          </a:p>
        </p:txBody>
      </p:sp>
      <p:sp>
        <p:nvSpPr>
          <p:cNvPr id="19" name="Line 23"/>
          <p:cNvSpPr>
            <a:spLocks noChangeShapeType="1"/>
          </p:cNvSpPr>
          <p:nvPr userDrawn="1"/>
        </p:nvSpPr>
        <p:spPr bwMode="auto">
          <a:xfrm flipH="1">
            <a:off x="304800" y="6443663"/>
            <a:ext cx="8853488" cy="0"/>
          </a:xfrm>
          <a:prstGeom prst="line">
            <a:avLst/>
          </a:prstGeom>
          <a:noFill/>
          <a:ln w="9525">
            <a:solidFill>
              <a:schemeClr val="bg2"/>
            </a:solidFill>
            <a:miter lim="800000"/>
            <a:headEnd/>
            <a:tailEnd/>
          </a:ln>
          <a:effectLst/>
        </p:spPr>
        <p:txBody>
          <a:bodyPr wrap="none"/>
          <a:lstStyle/>
          <a:p>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par>
    </p:tnLst>
  </p:timing>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smtClean="0">
                <a:cs typeface="Times New Roman" pitchFamily="18" charset="0"/>
              </a:rPr>
              <a:t>Relational Database Design Algorithms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457200" y="286603"/>
            <a:ext cx="8001000" cy="1143000"/>
          </a:xfrm>
        </p:spPr>
        <p:txBody>
          <a:bodyPr/>
          <a:lstStyle/>
          <a:p>
            <a:r>
              <a:rPr lang="en-US" sz="3200" b="1" dirty="0">
                <a:cs typeface="Times New Roman" pitchFamily="18" charset="0"/>
              </a:rPr>
              <a:t> DESIGNING A SET OF RELATIONS </a:t>
            </a:r>
            <a:endParaRPr lang="en-US" dirty="0"/>
          </a:p>
        </p:txBody>
      </p:sp>
      <p:sp>
        <p:nvSpPr>
          <p:cNvPr id="253955" name="Rectangle 3"/>
          <p:cNvSpPr>
            <a:spLocks noGrp="1" noChangeArrowheads="1"/>
          </p:cNvSpPr>
          <p:nvPr>
            <p:ph sz="quarter" idx="1"/>
          </p:nvPr>
        </p:nvSpPr>
        <p:spPr>
          <a:xfrm>
            <a:off x="457200" y="1600200"/>
            <a:ext cx="8001000" cy="4873752"/>
          </a:xfrm>
        </p:spPr>
        <p:txBody>
          <a:bodyPr>
            <a:normAutofit/>
          </a:bodyPr>
          <a:lstStyle/>
          <a:p>
            <a:pPr>
              <a:lnSpc>
                <a:spcPct val="90000"/>
              </a:lnSpc>
              <a:buFont typeface="Wingdings" pitchFamily="2" charset="2"/>
              <a:buNone/>
            </a:pPr>
            <a:endParaRPr lang="en-US" b="1" dirty="0" smtClean="0">
              <a:cs typeface="Times New Roman" pitchFamily="18" charset="0"/>
            </a:endParaRPr>
          </a:p>
          <a:p>
            <a:pPr>
              <a:lnSpc>
                <a:spcPct val="90000"/>
              </a:lnSpc>
              <a:buFont typeface="Wingdings" pitchFamily="2" charset="2"/>
              <a:buNone/>
            </a:pPr>
            <a:r>
              <a:rPr lang="en-US" b="1" dirty="0" smtClean="0">
                <a:cs typeface="Times New Roman" pitchFamily="18" charset="0"/>
              </a:rPr>
              <a:t>Bottom-up Design Approach:</a:t>
            </a:r>
            <a:endParaRPr lang="en-US" dirty="0">
              <a:cs typeface="Times New Roman" pitchFamily="18" charset="0"/>
            </a:endParaRPr>
          </a:p>
          <a:p>
            <a:pPr>
              <a:lnSpc>
                <a:spcPct val="90000"/>
              </a:lnSpc>
            </a:pPr>
            <a:r>
              <a:rPr lang="en-US" sz="2000" dirty="0" smtClean="0">
                <a:cs typeface="Times New Roman" pitchFamily="18" charset="0"/>
              </a:rPr>
              <a:t>Find all FD’s from the mini-world.</a:t>
            </a:r>
          </a:p>
          <a:p>
            <a:pPr>
              <a:lnSpc>
                <a:spcPct val="90000"/>
              </a:lnSpc>
            </a:pPr>
            <a:r>
              <a:rPr lang="en-US" sz="2000" dirty="0" smtClean="0">
                <a:cs typeface="Times New Roman" pitchFamily="18" charset="0"/>
              </a:rPr>
              <a:t>Constructs </a:t>
            </a:r>
            <a:r>
              <a:rPr lang="en-US" sz="2000" dirty="0">
                <a:cs typeface="Times New Roman" pitchFamily="18" charset="0"/>
              </a:rPr>
              <a:t>a minimal set of FDs</a:t>
            </a:r>
          </a:p>
          <a:p>
            <a:pPr>
              <a:lnSpc>
                <a:spcPct val="90000"/>
              </a:lnSpc>
            </a:pPr>
            <a:r>
              <a:rPr lang="en-US" sz="2000" dirty="0" smtClean="0">
                <a:cs typeface="Times New Roman" pitchFamily="18" charset="0"/>
              </a:rPr>
              <a:t>Construct a Universal Relation Schema R</a:t>
            </a:r>
          </a:p>
          <a:p>
            <a:pPr>
              <a:lnSpc>
                <a:spcPct val="90000"/>
              </a:lnSpc>
            </a:pPr>
            <a:r>
              <a:rPr lang="en-US" sz="2000" dirty="0" smtClean="0">
                <a:cs typeface="Times New Roman" pitchFamily="18" charset="0"/>
              </a:rPr>
              <a:t>Decompose R into a </a:t>
            </a:r>
            <a:r>
              <a:rPr lang="en-US" sz="2000" dirty="0">
                <a:cs typeface="Times New Roman" pitchFamily="18" charset="0"/>
              </a:rPr>
              <a:t>target set of 3NF or BCNF relations</a:t>
            </a:r>
            <a:r>
              <a:rPr lang="en-US" sz="2000" dirty="0" smtClean="0">
                <a:cs typeface="Times New Roman" pitchFamily="18" charset="0"/>
              </a:rPr>
              <a:t>.</a:t>
            </a:r>
          </a:p>
          <a:p>
            <a:pPr>
              <a:lnSpc>
                <a:spcPct val="90000"/>
              </a:lnSpc>
            </a:pPr>
            <a:r>
              <a:rPr lang="en-US" sz="2000" dirty="0" smtClean="0">
                <a:cs typeface="Times New Roman" pitchFamily="18" charset="0"/>
              </a:rPr>
              <a:t>Additional Criteria </a:t>
            </a:r>
          </a:p>
          <a:p>
            <a:pPr lvl="1"/>
            <a:r>
              <a:rPr lang="en-US" sz="1800" b="1" dirty="0" smtClean="0">
                <a:cs typeface="Times New Roman" pitchFamily="18" charset="0"/>
              </a:rPr>
              <a:t>Attribute preservation </a:t>
            </a:r>
            <a:endParaRPr lang="en-US" sz="1800" dirty="0" smtClean="0">
              <a:cs typeface="Times New Roman" pitchFamily="18" charset="0"/>
            </a:endParaRPr>
          </a:p>
          <a:p>
            <a:pPr lvl="1"/>
            <a:r>
              <a:rPr lang="en-US" sz="1800" b="1" dirty="0" smtClean="0">
                <a:cs typeface="Times New Roman" pitchFamily="18" charset="0"/>
              </a:rPr>
              <a:t>Dependency Preservation</a:t>
            </a:r>
          </a:p>
          <a:p>
            <a:pPr lvl="1"/>
            <a:r>
              <a:rPr lang="en-US" sz="1800" b="1" dirty="0" smtClean="0">
                <a:cs typeface="Times New Roman" pitchFamily="18" charset="0"/>
              </a:rPr>
              <a:t>Lossless (Non-additive) Join</a:t>
            </a:r>
            <a:endParaRPr lang="en-US" sz="1800" dirty="0" smtClean="0">
              <a:cs typeface="Times New Roman" pitchFamily="18" charset="0"/>
            </a:endParaRPr>
          </a:p>
          <a:p>
            <a:pPr lvl="1">
              <a:lnSpc>
                <a:spcPct val="90000"/>
              </a:lnSpc>
            </a:pPr>
            <a:endParaRPr lang="en-US" sz="2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53955">
                                            <p:txEl>
                                              <p:pRg st="2" end="2"/>
                                            </p:txEl>
                                          </p:spTgt>
                                        </p:tgtEl>
                                        <p:attrNameLst>
                                          <p:attrName>style.visibility</p:attrName>
                                        </p:attrNameLst>
                                      </p:cBhvr>
                                      <p:to>
                                        <p:strVal val="visible"/>
                                      </p:to>
                                    </p:set>
                                    <p:animEffect transition="in" filter="box(in)">
                                      <p:cBhvr>
                                        <p:cTn id="7" dur="500"/>
                                        <p:tgtEl>
                                          <p:spTgt spid="25395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53955">
                                            <p:txEl>
                                              <p:pRg st="3" end="3"/>
                                            </p:txEl>
                                          </p:spTgt>
                                        </p:tgtEl>
                                        <p:attrNameLst>
                                          <p:attrName>style.visibility</p:attrName>
                                        </p:attrNameLst>
                                      </p:cBhvr>
                                      <p:to>
                                        <p:strVal val="visible"/>
                                      </p:to>
                                    </p:set>
                                    <p:animEffect transition="in" filter="box(in)">
                                      <p:cBhvr>
                                        <p:cTn id="12" dur="500"/>
                                        <p:tgtEl>
                                          <p:spTgt spid="25395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53955">
                                            <p:txEl>
                                              <p:pRg st="4" end="4"/>
                                            </p:txEl>
                                          </p:spTgt>
                                        </p:tgtEl>
                                        <p:attrNameLst>
                                          <p:attrName>style.visibility</p:attrName>
                                        </p:attrNameLst>
                                      </p:cBhvr>
                                      <p:to>
                                        <p:strVal val="visible"/>
                                      </p:to>
                                    </p:set>
                                    <p:animEffect transition="in" filter="box(in)">
                                      <p:cBhvr>
                                        <p:cTn id="17" dur="500"/>
                                        <p:tgtEl>
                                          <p:spTgt spid="25395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53955">
                                            <p:txEl>
                                              <p:pRg st="5" end="5"/>
                                            </p:txEl>
                                          </p:spTgt>
                                        </p:tgtEl>
                                        <p:attrNameLst>
                                          <p:attrName>style.visibility</p:attrName>
                                        </p:attrNameLst>
                                      </p:cBhvr>
                                      <p:to>
                                        <p:strVal val="visible"/>
                                      </p:to>
                                    </p:set>
                                    <p:animEffect transition="in" filter="box(in)">
                                      <p:cBhvr>
                                        <p:cTn id="22" dur="500"/>
                                        <p:tgtEl>
                                          <p:spTgt spid="25395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53955">
                                            <p:txEl>
                                              <p:pRg st="6" end="6"/>
                                            </p:txEl>
                                          </p:spTgt>
                                        </p:tgtEl>
                                        <p:attrNameLst>
                                          <p:attrName>style.visibility</p:attrName>
                                        </p:attrNameLst>
                                      </p:cBhvr>
                                      <p:to>
                                        <p:strVal val="visible"/>
                                      </p:to>
                                    </p:set>
                                    <p:animEffect transition="in" filter="box(in)">
                                      <p:cBhvr>
                                        <p:cTn id="27" dur="500"/>
                                        <p:tgtEl>
                                          <p:spTgt spid="25395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53955">
                                            <p:txEl>
                                              <p:pRg st="7" end="7"/>
                                            </p:txEl>
                                          </p:spTgt>
                                        </p:tgtEl>
                                        <p:attrNameLst>
                                          <p:attrName>style.visibility</p:attrName>
                                        </p:attrNameLst>
                                      </p:cBhvr>
                                      <p:to>
                                        <p:strVal val="visible"/>
                                      </p:to>
                                    </p:set>
                                    <p:animEffect transition="in" filter="box(in)">
                                      <p:cBhvr>
                                        <p:cTn id="32" dur="500"/>
                                        <p:tgtEl>
                                          <p:spTgt spid="25395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53955">
                                            <p:txEl>
                                              <p:pRg st="8" end="8"/>
                                            </p:txEl>
                                          </p:spTgt>
                                        </p:tgtEl>
                                        <p:attrNameLst>
                                          <p:attrName>style.visibility</p:attrName>
                                        </p:attrNameLst>
                                      </p:cBhvr>
                                      <p:to>
                                        <p:strVal val="visible"/>
                                      </p:to>
                                    </p:set>
                                    <p:animEffect transition="in" filter="box(in)">
                                      <p:cBhvr>
                                        <p:cTn id="37" dur="500"/>
                                        <p:tgtEl>
                                          <p:spTgt spid="25395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253955">
                                            <p:txEl>
                                              <p:pRg st="9" end="9"/>
                                            </p:txEl>
                                          </p:spTgt>
                                        </p:tgtEl>
                                        <p:attrNameLst>
                                          <p:attrName>style.visibility</p:attrName>
                                        </p:attrNameLst>
                                      </p:cBhvr>
                                      <p:to>
                                        <p:strVal val="visible"/>
                                      </p:to>
                                    </p:set>
                                    <p:animEffect transition="in" filter="box(in)">
                                      <p:cBhvr>
                                        <p:cTn id="42" dur="500"/>
                                        <p:tgtEl>
                                          <p:spTgt spid="25395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a:xfrm>
            <a:off x="131167" y="381000"/>
            <a:ext cx="9067421" cy="1143000"/>
          </a:xfrm>
        </p:spPr>
        <p:txBody>
          <a:bodyPr/>
          <a:lstStyle/>
          <a:p>
            <a:r>
              <a:rPr lang="en-US" sz="3200" dirty="0" smtClean="0">
                <a:cs typeface="Times New Roman" pitchFamily="18" charset="0"/>
              </a:rPr>
              <a:t>Properties </a:t>
            </a:r>
            <a:r>
              <a:rPr lang="en-US" sz="3200" dirty="0">
                <a:cs typeface="Times New Roman" pitchFamily="18" charset="0"/>
              </a:rPr>
              <a:t>of </a:t>
            </a:r>
            <a:r>
              <a:rPr lang="en-US" sz="3200" dirty="0" smtClean="0">
                <a:cs typeface="Times New Roman" pitchFamily="18" charset="0"/>
              </a:rPr>
              <a:t>Relational Decompositions</a:t>
            </a:r>
            <a:endParaRPr lang="en-US" sz="3200" dirty="0">
              <a:cs typeface="Times New Roman" pitchFamily="18" charset="0"/>
            </a:endParaRPr>
          </a:p>
        </p:txBody>
      </p:sp>
      <p:sp>
        <p:nvSpPr>
          <p:cNvPr id="296963" name="Rectangle 3"/>
          <p:cNvSpPr>
            <a:spLocks noGrp="1" noChangeArrowheads="1"/>
          </p:cNvSpPr>
          <p:nvPr>
            <p:ph sz="quarter" idx="1"/>
          </p:nvPr>
        </p:nvSpPr>
        <p:spPr>
          <a:xfrm>
            <a:off x="685800" y="1524000"/>
            <a:ext cx="7940040" cy="4813300"/>
          </a:xfrm>
        </p:spPr>
        <p:txBody>
          <a:bodyPr>
            <a:normAutofit/>
          </a:bodyPr>
          <a:lstStyle/>
          <a:p>
            <a:endParaRPr lang="en-US" sz="2400" b="1" dirty="0" smtClean="0">
              <a:cs typeface="Times New Roman" pitchFamily="18" charset="0"/>
            </a:endParaRPr>
          </a:p>
          <a:p>
            <a:r>
              <a:rPr lang="en-US" sz="2400" b="1" dirty="0" smtClean="0">
                <a:cs typeface="Times New Roman" pitchFamily="18" charset="0"/>
              </a:rPr>
              <a:t>Universal </a:t>
            </a:r>
            <a:r>
              <a:rPr lang="en-US" sz="2400" b="1" dirty="0">
                <a:cs typeface="Times New Roman" pitchFamily="18" charset="0"/>
              </a:rPr>
              <a:t>Relation Schema</a:t>
            </a:r>
            <a:r>
              <a:rPr lang="en-US" sz="2400" dirty="0">
                <a:cs typeface="Times New Roman" pitchFamily="18" charset="0"/>
              </a:rPr>
              <a:t>: a relation schema R={A</a:t>
            </a:r>
            <a:r>
              <a:rPr lang="en-US" sz="2400" baseline="-25000" dirty="0">
                <a:cs typeface="Times New Roman" pitchFamily="18" charset="0"/>
              </a:rPr>
              <a:t>1</a:t>
            </a:r>
            <a:r>
              <a:rPr lang="en-US" sz="2400" dirty="0">
                <a:cs typeface="Times New Roman" pitchFamily="18" charset="0"/>
              </a:rPr>
              <a:t>, A</a:t>
            </a:r>
            <a:r>
              <a:rPr lang="en-US" sz="2400" baseline="-25000" dirty="0">
                <a:cs typeface="Times New Roman" pitchFamily="18" charset="0"/>
              </a:rPr>
              <a:t>2, </a:t>
            </a:r>
            <a:r>
              <a:rPr lang="en-US" sz="2400" dirty="0">
                <a:cs typeface="Times New Roman" pitchFamily="18" charset="0"/>
              </a:rPr>
              <a:t>…, A</a:t>
            </a:r>
            <a:r>
              <a:rPr lang="en-US" sz="2400" baseline="-25000" dirty="0">
                <a:cs typeface="Times New Roman" pitchFamily="18" charset="0"/>
              </a:rPr>
              <a:t>n</a:t>
            </a:r>
            <a:r>
              <a:rPr lang="en-US" sz="2400" dirty="0">
                <a:cs typeface="Times New Roman" pitchFamily="18" charset="0"/>
              </a:rPr>
              <a:t>} that includes all the attributes of the database.</a:t>
            </a:r>
          </a:p>
          <a:p>
            <a:r>
              <a:rPr lang="en-US" sz="2400" b="1" dirty="0" smtClean="0">
                <a:cs typeface="Times New Roman" pitchFamily="18" charset="0"/>
              </a:rPr>
              <a:t>Decomposition</a:t>
            </a:r>
            <a:r>
              <a:rPr lang="en-US" sz="2400" dirty="0">
                <a:cs typeface="Times New Roman" pitchFamily="18" charset="0"/>
              </a:rPr>
              <a:t>: </a:t>
            </a:r>
            <a:r>
              <a:rPr lang="en-US" sz="2400" dirty="0" smtClean="0">
                <a:cs typeface="Times New Roman" pitchFamily="18" charset="0"/>
              </a:rPr>
              <a:t>Decompose R into </a:t>
            </a:r>
            <a:r>
              <a:rPr lang="en-US" sz="2400" dirty="0">
                <a:cs typeface="Times New Roman" pitchFamily="18" charset="0"/>
              </a:rPr>
              <a:t>a set of relation schemas D = {R</a:t>
            </a:r>
            <a:r>
              <a:rPr lang="en-US" sz="2400" baseline="-25000" dirty="0">
                <a:cs typeface="Times New Roman" pitchFamily="18" charset="0"/>
              </a:rPr>
              <a:t>1</a:t>
            </a:r>
            <a:r>
              <a:rPr lang="en-US" sz="2400" dirty="0">
                <a:cs typeface="Times New Roman" pitchFamily="18" charset="0"/>
              </a:rPr>
              <a:t>,R</a:t>
            </a:r>
            <a:r>
              <a:rPr lang="en-US" sz="2400" baseline="-25000" dirty="0">
                <a:cs typeface="Times New Roman" pitchFamily="18" charset="0"/>
              </a:rPr>
              <a:t>2</a:t>
            </a:r>
            <a:r>
              <a:rPr lang="en-US" sz="2400" dirty="0">
                <a:cs typeface="Times New Roman" pitchFamily="18" charset="0"/>
              </a:rPr>
              <a:t>, …, </a:t>
            </a:r>
            <a:r>
              <a:rPr lang="en-US" sz="2400" dirty="0" err="1">
                <a:cs typeface="Times New Roman" pitchFamily="18" charset="0"/>
              </a:rPr>
              <a:t>R</a:t>
            </a:r>
            <a:r>
              <a:rPr lang="en-US" sz="2400" baseline="-25000" dirty="0" err="1">
                <a:cs typeface="Times New Roman" pitchFamily="18" charset="0"/>
              </a:rPr>
              <a:t>m</a:t>
            </a:r>
            <a:r>
              <a:rPr lang="en-US" sz="2400" dirty="0">
                <a:cs typeface="Times New Roman" pitchFamily="18" charset="0"/>
              </a:rPr>
              <a:t>} </a:t>
            </a:r>
            <a:r>
              <a:rPr lang="en-US" sz="2400" dirty="0" smtClean="0">
                <a:cs typeface="Times New Roman" pitchFamily="18" charset="0"/>
              </a:rPr>
              <a:t>by </a:t>
            </a:r>
            <a:r>
              <a:rPr lang="en-US" sz="2400" dirty="0">
                <a:cs typeface="Times New Roman" pitchFamily="18" charset="0"/>
              </a:rPr>
              <a:t>using the </a:t>
            </a:r>
            <a:r>
              <a:rPr lang="en-US" sz="2400" dirty="0" smtClean="0">
                <a:cs typeface="Times New Roman" pitchFamily="18" charset="0"/>
              </a:rPr>
              <a:t>FD’s into 3NF or BCNF.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a:xfrm>
            <a:off x="254000" y="381000"/>
            <a:ext cx="8712200" cy="1143000"/>
          </a:xfrm>
        </p:spPr>
        <p:txBody>
          <a:bodyPr/>
          <a:lstStyle/>
          <a:p>
            <a:r>
              <a:rPr lang="en-US" sz="3200" dirty="0">
                <a:cs typeface="Times New Roman" pitchFamily="18" charset="0"/>
              </a:rPr>
              <a:t>Properties of Relational </a:t>
            </a:r>
            <a:r>
              <a:rPr lang="en-US" sz="3200" dirty="0" smtClean="0">
                <a:cs typeface="Times New Roman" pitchFamily="18" charset="0"/>
              </a:rPr>
              <a:t>Decompositions</a:t>
            </a:r>
            <a:endParaRPr lang="en-US" sz="3200" dirty="0">
              <a:cs typeface="Times New Roman" pitchFamily="18" charset="0"/>
            </a:endParaRPr>
          </a:p>
        </p:txBody>
      </p:sp>
      <p:sp>
        <p:nvSpPr>
          <p:cNvPr id="297987" name="Rectangle 3"/>
          <p:cNvSpPr>
            <a:spLocks noGrp="1" noChangeArrowheads="1"/>
          </p:cNvSpPr>
          <p:nvPr>
            <p:ph sz="quarter" idx="1"/>
          </p:nvPr>
        </p:nvSpPr>
        <p:spPr>
          <a:xfrm>
            <a:off x="685800" y="1524000"/>
            <a:ext cx="7229901" cy="4813300"/>
          </a:xfrm>
        </p:spPr>
        <p:txBody>
          <a:bodyPr>
            <a:normAutofit/>
          </a:bodyPr>
          <a:lstStyle/>
          <a:p>
            <a:r>
              <a:rPr lang="en-US" sz="2000" b="1" dirty="0" smtClean="0">
                <a:cs typeface="Times New Roman" pitchFamily="18" charset="0"/>
              </a:rPr>
              <a:t>Attribute </a:t>
            </a:r>
            <a:r>
              <a:rPr lang="en-US" sz="2000" b="1" dirty="0">
                <a:cs typeface="Times New Roman" pitchFamily="18" charset="0"/>
              </a:rPr>
              <a:t>preservation condition</a:t>
            </a:r>
            <a:r>
              <a:rPr lang="en-US" sz="2000" dirty="0">
                <a:cs typeface="Times New Roman" pitchFamily="18" charset="0"/>
              </a:rPr>
              <a:t>: </a:t>
            </a:r>
            <a:endParaRPr lang="en-US" sz="2000" dirty="0" smtClean="0">
              <a:cs typeface="Times New Roman" pitchFamily="18" charset="0"/>
            </a:endParaRPr>
          </a:p>
          <a:p>
            <a:pPr lvl="1"/>
            <a:r>
              <a:rPr lang="en-US" sz="1800" dirty="0" smtClean="0">
                <a:cs typeface="Times New Roman" pitchFamily="18" charset="0"/>
              </a:rPr>
              <a:t>Each </a:t>
            </a:r>
            <a:r>
              <a:rPr lang="en-US" sz="1800" dirty="0">
                <a:cs typeface="Times New Roman" pitchFamily="18" charset="0"/>
              </a:rPr>
              <a:t>attribute in R will appear in at least one relation schema </a:t>
            </a:r>
            <a:r>
              <a:rPr lang="en-US" sz="1800" dirty="0" err="1">
                <a:cs typeface="Times New Roman" pitchFamily="18" charset="0"/>
              </a:rPr>
              <a:t>R</a:t>
            </a:r>
            <a:r>
              <a:rPr lang="en-US" sz="1800" baseline="-25000" dirty="0" err="1">
                <a:cs typeface="Times New Roman" pitchFamily="18" charset="0"/>
              </a:rPr>
              <a:t>i</a:t>
            </a:r>
            <a:r>
              <a:rPr lang="en-US" sz="1800" dirty="0">
                <a:cs typeface="Times New Roman" pitchFamily="18" charset="0"/>
              </a:rPr>
              <a:t> in the decomposition so that no attributes are “lost</a:t>
            </a:r>
            <a:r>
              <a:rPr lang="en-US" sz="1800" dirty="0" smtClean="0">
                <a:cs typeface="Times New Roman" pitchFamily="18" charset="0"/>
              </a:rPr>
              <a:t>”.</a:t>
            </a:r>
          </a:p>
          <a:p>
            <a:r>
              <a:rPr lang="en-US" sz="2000" b="1" dirty="0" smtClean="0">
                <a:cs typeface="Times New Roman" pitchFamily="18" charset="0"/>
              </a:rPr>
              <a:t>Dependency Preservation Property</a:t>
            </a:r>
          </a:p>
          <a:p>
            <a:pPr lvl="1"/>
            <a:r>
              <a:rPr lang="en-US" sz="1800" dirty="0" smtClean="0">
                <a:cs typeface="Times New Roman" pitchFamily="18" charset="0"/>
              </a:rPr>
              <a:t>It is always possible to find a dependency-preserving decomposition </a:t>
            </a:r>
            <a:r>
              <a:rPr lang="en-US" sz="1800" i="1" dirty="0" smtClean="0">
                <a:cs typeface="Times New Roman" pitchFamily="18" charset="0"/>
              </a:rPr>
              <a:t>D</a:t>
            </a:r>
            <a:r>
              <a:rPr lang="en-US" sz="1800" dirty="0" smtClean="0">
                <a:cs typeface="Times New Roman" pitchFamily="18" charset="0"/>
              </a:rPr>
              <a:t> with respect to </a:t>
            </a:r>
            <a:r>
              <a:rPr lang="en-US" sz="1800" i="1" dirty="0" smtClean="0">
                <a:cs typeface="Times New Roman" pitchFamily="18" charset="0"/>
              </a:rPr>
              <a:t>F</a:t>
            </a:r>
            <a:r>
              <a:rPr lang="en-US" sz="1800" dirty="0" smtClean="0">
                <a:cs typeface="Times New Roman" pitchFamily="18" charset="0"/>
              </a:rPr>
              <a:t> such that each relation </a:t>
            </a:r>
            <a:r>
              <a:rPr lang="en-US" sz="1800" i="1" dirty="0" err="1" smtClean="0">
                <a:cs typeface="Times New Roman" pitchFamily="18" charset="0"/>
              </a:rPr>
              <a:t>R</a:t>
            </a:r>
            <a:r>
              <a:rPr lang="en-US" sz="1800" baseline="-30000" dirty="0" err="1" smtClean="0">
                <a:cs typeface="Times New Roman" pitchFamily="18" charset="0"/>
              </a:rPr>
              <a:t>i</a:t>
            </a:r>
            <a:r>
              <a:rPr lang="en-US" sz="1800" dirty="0" smtClean="0">
                <a:cs typeface="Times New Roman" pitchFamily="18" charset="0"/>
              </a:rPr>
              <a:t> in </a:t>
            </a:r>
            <a:r>
              <a:rPr lang="en-US" sz="1800" i="1" dirty="0" smtClean="0">
                <a:cs typeface="Times New Roman" pitchFamily="18" charset="0"/>
              </a:rPr>
              <a:t>D</a:t>
            </a:r>
            <a:r>
              <a:rPr lang="en-US" sz="1800" dirty="0" smtClean="0">
                <a:cs typeface="Times New Roman" pitchFamily="18" charset="0"/>
              </a:rPr>
              <a:t> is in 3NF. </a:t>
            </a:r>
          </a:p>
          <a:p>
            <a:r>
              <a:rPr lang="en-US" sz="2000" b="1" dirty="0" smtClean="0">
                <a:cs typeface="Times New Roman" pitchFamily="18" charset="0"/>
              </a:rPr>
              <a:t>Lossless (Non-additive) Join Property</a:t>
            </a:r>
            <a:endParaRPr lang="en-US" sz="2000" dirty="0" smtClean="0">
              <a:cs typeface="Times New Roman" pitchFamily="18" charset="0"/>
            </a:endParaRPr>
          </a:p>
          <a:p>
            <a:pPr lvl="1"/>
            <a:r>
              <a:rPr lang="en-US" sz="1800" dirty="0" smtClean="0">
                <a:solidFill>
                  <a:srgbClr val="000000"/>
                </a:solidFill>
                <a:cs typeface="Times New Roman" pitchFamily="18" charset="0"/>
              </a:rPr>
              <a:t>* (</a:t>
            </a:r>
            <a:r>
              <a:rPr lang="en-US" sz="1800" dirty="0" smtClean="0">
                <a:latin typeface="Symbol" pitchFamily="18" charset="2"/>
              </a:rPr>
              <a:t></a:t>
            </a:r>
            <a:r>
              <a:rPr lang="en-US" sz="1800" i="1" baseline="-30000" dirty="0" smtClean="0">
                <a:solidFill>
                  <a:srgbClr val="000000"/>
                </a:solidFill>
                <a:cs typeface="Times New Roman" pitchFamily="18" charset="0"/>
              </a:rPr>
              <a:t>R1</a:t>
            </a:r>
            <a:r>
              <a:rPr lang="en-US" sz="1800" dirty="0" smtClean="0">
                <a:solidFill>
                  <a:srgbClr val="000000"/>
                </a:solidFill>
                <a:cs typeface="Times New Roman" pitchFamily="18" charset="0"/>
              </a:rPr>
              <a:t>(</a:t>
            </a:r>
            <a:r>
              <a:rPr lang="en-US" sz="1800" i="1" dirty="0" smtClean="0">
                <a:solidFill>
                  <a:srgbClr val="000000"/>
                </a:solidFill>
                <a:cs typeface="Times New Roman" pitchFamily="18" charset="0"/>
              </a:rPr>
              <a:t>r</a:t>
            </a:r>
            <a:r>
              <a:rPr lang="en-US" sz="1800" dirty="0" smtClean="0">
                <a:solidFill>
                  <a:srgbClr val="000000"/>
                </a:solidFill>
                <a:cs typeface="Times New Roman" pitchFamily="18" charset="0"/>
              </a:rPr>
              <a:t>), ..., </a:t>
            </a:r>
            <a:r>
              <a:rPr lang="en-US" sz="1800" dirty="0" smtClean="0">
                <a:latin typeface="Symbol" pitchFamily="18" charset="2"/>
              </a:rPr>
              <a:t></a:t>
            </a:r>
            <a:r>
              <a:rPr lang="en-US" sz="1800" i="1" baseline="-30000" dirty="0" err="1" smtClean="0">
                <a:solidFill>
                  <a:srgbClr val="000000"/>
                </a:solidFill>
                <a:cs typeface="Times New Roman" pitchFamily="18" charset="0"/>
              </a:rPr>
              <a:t>Rm</a:t>
            </a:r>
            <a:r>
              <a:rPr lang="en-US" sz="1800" dirty="0" smtClean="0">
                <a:solidFill>
                  <a:srgbClr val="000000"/>
                </a:solidFill>
                <a:cs typeface="Times New Roman" pitchFamily="18" charset="0"/>
              </a:rPr>
              <a:t>(</a:t>
            </a:r>
            <a:r>
              <a:rPr lang="en-US" sz="1800" i="1" dirty="0" smtClean="0">
                <a:solidFill>
                  <a:srgbClr val="000000"/>
                </a:solidFill>
                <a:cs typeface="Times New Roman" pitchFamily="18" charset="0"/>
              </a:rPr>
              <a:t>r</a:t>
            </a:r>
            <a:r>
              <a:rPr lang="en-US" sz="1800" dirty="0" smtClean="0">
                <a:solidFill>
                  <a:srgbClr val="000000"/>
                </a:solidFill>
                <a:cs typeface="Times New Roman" pitchFamily="18" charset="0"/>
              </a:rPr>
              <a:t>)) = </a:t>
            </a:r>
            <a:r>
              <a:rPr lang="en-US" sz="1800" i="1" dirty="0" smtClean="0">
                <a:solidFill>
                  <a:srgbClr val="000000"/>
                </a:solidFill>
                <a:cs typeface="Times New Roman" pitchFamily="18" charset="0"/>
              </a:rPr>
              <a:t>r</a:t>
            </a:r>
          </a:p>
          <a:p>
            <a:pPr lvl="1"/>
            <a:r>
              <a:rPr lang="en-US" sz="1800" i="1" dirty="0" smtClean="0">
                <a:cs typeface="Times New Roman" pitchFamily="18" charset="0"/>
              </a:rPr>
              <a:t>lossless</a:t>
            </a:r>
            <a:r>
              <a:rPr lang="en-US" sz="1800" dirty="0" smtClean="0">
                <a:cs typeface="Times New Roman" pitchFamily="18" charset="0"/>
              </a:rPr>
              <a:t> refers to </a:t>
            </a:r>
            <a:r>
              <a:rPr lang="en-US" sz="1800" i="1" dirty="0" smtClean="0">
                <a:cs typeface="Times New Roman" pitchFamily="18" charset="0"/>
              </a:rPr>
              <a:t>loss of information,</a:t>
            </a:r>
            <a:r>
              <a:rPr lang="en-US" sz="1800" dirty="0" smtClean="0">
                <a:cs typeface="Times New Roman" pitchFamily="18" charset="0"/>
              </a:rPr>
              <a:t> not to loss of </a:t>
            </a:r>
            <a:r>
              <a:rPr lang="en-US" sz="1800" dirty="0" err="1" smtClean="0">
                <a:cs typeface="Times New Roman" pitchFamily="18" charset="0"/>
              </a:rPr>
              <a:t>tuples</a:t>
            </a:r>
            <a:r>
              <a:rPr lang="en-US" sz="1800" dirty="0" smtClean="0">
                <a:cs typeface="Times New Roman" pitchFamily="18" charset="0"/>
              </a:rPr>
              <a:t>. In fact, for “loss of information” a  better term is “</a:t>
            </a:r>
            <a:r>
              <a:rPr lang="en-US" sz="1800" u="sng" dirty="0" smtClean="0">
                <a:cs typeface="Times New Roman" pitchFamily="18" charset="0"/>
              </a:rPr>
              <a:t>addition of spurious </a:t>
            </a:r>
            <a:r>
              <a:rPr lang="en-US" u="sng" dirty="0" smtClean="0">
                <a:cs typeface="Times New Roman" pitchFamily="18" charset="0"/>
              </a:rPr>
              <a:t>information</a:t>
            </a:r>
            <a:r>
              <a:rPr lang="en-US" dirty="0" smtClean="0">
                <a:cs typeface="Times New Roman" pitchFamily="18" charset="0"/>
              </a:rPr>
              <a:t>”</a:t>
            </a:r>
            <a:endParaRPr lang="en-US" dirty="0" smtClean="0"/>
          </a:p>
          <a:p>
            <a:pPr lvl="2"/>
            <a:endParaRPr lang="en-US" sz="2200" dirty="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9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9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98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98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798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7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a:xfrm>
            <a:off x="254000" y="215900"/>
            <a:ext cx="8712200" cy="1143000"/>
          </a:xfrm>
        </p:spPr>
        <p:txBody>
          <a:bodyPr>
            <a:normAutofit/>
          </a:bodyPr>
          <a:lstStyle/>
          <a:p>
            <a:r>
              <a:rPr lang="en-US" sz="3200" b="1" u="sng" dirty="0" smtClean="0">
                <a:cs typeface="Times New Roman" pitchFamily="18" charset="0"/>
              </a:rPr>
              <a:t>Algorithm : for Testing Lossless Join Property</a:t>
            </a:r>
            <a:r>
              <a:rPr lang="en-US" sz="3200" dirty="0" smtClean="0">
                <a:cs typeface="Times New Roman" pitchFamily="18" charset="0"/>
              </a:rPr>
              <a:t> </a:t>
            </a:r>
            <a:endParaRPr lang="en-US" sz="3200" dirty="0">
              <a:cs typeface="Times New Roman" pitchFamily="18" charset="0"/>
            </a:endParaRPr>
          </a:p>
        </p:txBody>
      </p:sp>
      <p:sp>
        <p:nvSpPr>
          <p:cNvPr id="302083" name="Rectangle 3"/>
          <p:cNvSpPr>
            <a:spLocks noGrp="1" noChangeArrowheads="1"/>
          </p:cNvSpPr>
          <p:nvPr>
            <p:ph sz="quarter" idx="1"/>
          </p:nvPr>
        </p:nvSpPr>
        <p:spPr>
          <a:xfrm>
            <a:off x="254000" y="1358900"/>
            <a:ext cx="8712200" cy="4978400"/>
          </a:xfrm>
        </p:spPr>
        <p:txBody>
          <a:bodyPr>
            <a:normAutofit/>
          </a:bodyPr>
          <a:lstStyle/>
          <a:p>
            <a:pPr marL="609600" indent="-609600">
              <a:lnSpc>
                <a:spcPct val="90000"/>
              </a:lnSpc>
              <a:buFont typeface="Wingdings" pitchFamily="2" charset="2"/>
              <a:buNone/>
            </a:pPr>
            <a:endParaRPr lang="en-US" sz="2400" dirty="0">
              <a:cs typeface="Times New Roman" pitchFamily="18" charset="0"/>
            </a:endParaRPr>
          </a:p>
          <a:p>
            <a:pPr marL="609600" indent="-609600">
              <a:lnSpc>
                <a:spcPct val="90000"/>
              </a:lnSpc>
              <a:buFont typeface="Wingdings" pitchFamily="2" charset="2"/>
              <a:buNone/>
            </a:pPr>
            <a:r>
              <a:rPr lang="en-US" sz="2400" b="1" dirty="0">
                <a:cs typeface="Times New Roman" pitchFamily="18" charset="0"/>
              </a:rPr>
              <a:t>Input:</a:t>
            </a:r>
            <a:r>
              <a:rPr lang="en-US" sz="2400" dirty="0">
                <a:cs typeface="Times New Roman" pitchFamily="18" charset="0"/>
              </a:rPr>
              <a:t> A universal relation </a:t>
            </a:r>
            <a:r>
              <a:rPr lang="en-US" sz="2400" i="1" dirty="0">
                <a:cs typeface="Times New Roman" pitchFamily="18" charset="0"/>
              </a:rPr>
              <a:t>R</a:t>
            </a:r>
            <a:r>
              <a:rPr lang="en-US" sz="2400" dirty="0">
                <a:cs typeface="Times New Roman" pitchFamily="18" charset="0"/>
              </a:rPr>
              <a:t>, </a:t>
            </a:r>
            <a:endParaRPr lang="en-US" sz="2400" dirty="0" smtClean="0">
              <a:cs typeface="Times New Roman" pitchFamily="18" charset="0"/>
            </a:endParaRPr>
          </a:p>
          <a:p>
            <a:pPr marL="609600" indent="-609600">
              <a:lnSpc>
                <a:spcPct val="90000"/>
              </a:lnSpc>
              <a:buFont typeface="Wingdings" pitchFamily="2" charset="2"/>
              <a:buNone/>
            </a:pPr>
            <a:r>
              <a:rPr lang="en-US" dirty="0" smtClean="0">
                <a:cs typeface="Times New Roman" pitchFamily="18" charset="0"/>
              </a:rPr>
              <a:t>	</a:t>
            </a:r>
            <a:r>
              <a:rPr lang="en-US" sz="2400" dirty="0" smtClean="0">
                <a:cs typeface="Times New Roman" pitchFamily="18" charset="0"/>
              </a:rPr>
              <a:t>a </a:t>
            </a:r>
            <a:r>
              <a:rPr lang="en-US" sz="2400" dirty="0">
                <a:cs typeface="Times New Roman" pitchFamily="18" charset="0"/>
              </a:rPr>
              <a:t>decomposition </a:t>
            </a:r>
            <a:r>
              <a:rPr lang="en-US" sz="2400" i="1" dirty="0">
                <a:cs typeface="Times New Roman" pitchFamily="18" charset="0"/>
              </a:rPr>
              <a:t>D</a:t>
            </a:r>
            <a:r>
              <a:rPr lang="en-US" sz="2400" dirty="0">
                <a:cs typeface="Times New Roman" pitchFamily="18" charset="0"/>
              </a:rPr>
              <a:t> = {</a:t>
            </a:r>
            <a:r>
              <a:rPr lang="en-US" sz="2400" i="1" dirty="0">
                <a:cs typeface="Times New Roman" pitchFamily="18" charset="0"/>
              </a:rPr>
              <a:t>R</a:t>
            </a:r>
            <a:r>
              <a:rPr lang="en-US" sz="2400" baseline="-30000" dirty="0">
                <a:cs typeface="Times New Roman" pitchFamily="18" charset="0"/>
              </a:rPr>
              <a:t>1</a:t>
            </a:r>
            <a:r>
              <a:rPr lang="en-US" sz="2400" dirty="0">
                <a:cs typeface="Times New Roman" pitchFamily="18" charset="0"/>
              </a:rPr>
              <a:t>, </a:t>
            </a:r>
            <a:r>
              <a:rPr lang="en-US" sz="2400" i="1" dirty="0">
                <a:cs typeface="Times New Roman" pitchFamily="18" charset="0"/>
              </a:rPr>
              <a:t>R</a:t>
            </a:r>
            <a:r>
              <a:rPr lang="en-US" sz="2400" baseline="-30000" dirty="0">
                <a:cs typeface="Times New Roman" pitchFamily="18" charset="0"/>
              </a:rPr>
              <a:t>2</a:t>
            </a:r>
            <a:r>
              <a:rPr lang="en-US" sz="2400" dirty="0">
                <a:cs typeface="Times New Roman" pitchFamily="18" charset="0"/>
              </a:rPr>
              <a:t>, ..., </a:t>
            </a:r>
            <a:r>
              <a:rPr lang="en-US" sz="2400" i="1" dirty="0" err="1">
                <a:cs typeface="Times New Roman" pitchFamily="18" charset="0"/>
              </a:rPr>
              <a:t>R</a:t>
            </a:r>
            <a:r>
              <a:rPr lang="en-US" sz="2400" baseline="-30000" dirty="0" err="1">
                <a:cs typeface="Times New Roman" pitchFamily="18" charset="0"/>
              </a:rPr>
              <a:t>m</a:t>
            </a:r>
            <a:r>
              <a:rPr lang="en-US" sz="2400" dirty="0">
                <a:cs typeface="Times New Roman" pitchFamily="18" charset="0"/>
              </a:rPr>
              <a:t>} of </a:t>
            </a:r>
            <a:r>
              <a:rPr lang="en-US" sz="2400" i="1" dirty="0">
                <a:cs typeface="Times New Roman" pitchFamily="18" charset="0"/>
              </a:rPr>
              <a:t>R</a:t>
            </a:r>
            <a:r>
              <a:rPr lang="en-US" sz="2400" dirty="0">
                <a:cs typeface="Times New Roman" pitchFamily="18" charset="0"/>
              </a:rPr>
              <a:t>, </a:t>
            </a:r>
            <a:r>
              <a:rPr lang="en-US" sz="2400" dirty="0" smtClean="0">
                <a:cs typeface="Times New Roman" pitchFamily="18" charset="0"/>
              </a:rPr>
              <a:t>and</a:t>
            </a:r>
          </a:p>
          <a:p>
            <a:pPr marL="609600" indent="-609600">
              <a:lnSpc>
                <a:spcPct val="90000"/>
              </a:lnSpc>
              <a:buFont typeface="Wingdings" pitchFamily="2" charset="2"/>
              <a:buNone/>
            </a:pPr>
            <a:r>
              <a:rPr lang="en-US" dirty="0" smtClean="0">
                <a:cs typeface="Times New Roman" pitchFamily="18" charset="0"/>
              </a:rPr>
              <a:t>	</a:t>
            </a:r>
            <a:r>
              <a:rPr lang="en-US" sz="2400" dirty="0" smtClean="0">
                <a:cs typeface="Times New Roman" pitchFamily="18" charset="0"/>
              </a:rPr>
              <a:t> </a:t>
            </a:r>
            <a:r>
              <a:rPr lang="en-US" sz="2400" dirty="0">
                <a:cs typeface="Times New Roman" pitchFamily="18" charset="0"/>
              </a:rPr>
              <a:t>a set </a:t>
            </a:r>
            <a:r>
              <a:rPr lang="en-US" sz="2400" i="1" dirty="0">
                <a:cs typeface="Times New Roman" pitchFamily="18" charset="0"/>
              </a:rPr>
              <a:t>F</a:t>
            </a:r>
            <a:r>
              <a:rPr lang="en-US" sz="2400" dirty="0">
                <a:cs typeface="Times New Roman" pitchFamily="18" charset="0"/>
              </a:rPr>
              <a:t> of functional dependencies.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a:xfrm>
            <a:off x="254000" y="584200"/>
            <a:ext cx="8712200" cy="1143000"/>
          </a:xfrm>
        </p:spPr>
        <p:txBody>
          <a:bodyPr>
            <a:normAutofit fontScale="90000"/>
          </a:bodyPr>
          <a:lstStyle/>
          <a:p>
            <a:r>
              <a:rPr lang="en-US" sz="3200" dirty="0">
                <a:cs typeface="Times New Roman" pitchFamily="18" charset="0"/>
              </a:rPr>
              <a:t>Properties of Relational Decompositions (8)</a:t>
            </a:r>
            <a:br>
              <a:rPr lang="en-US" sz="3200" dirty="0">
                <a:cs typeface="Times New Roman" pitchFamily="18" charset="0"/>
              </a:rPr>
            </a:br>
            <a:r>
              <a:rPr lang="en-US" sz="3200" dirty="0">
                <a:cs typeface="Times New Roman" pitchFamily="18" charset="0"/>
              </a:rPr>
              <a:t> </a:t>
            </a:r>
            <a:r>
              <a:rPr lang="en-US" sz="1600" dirty="0"/>
              <a:t>Lossless (</a:t>
            </a:r>
            <a:r>
              <a:rPr lang="en-US" sz="1600" dirty="0" err="1"/>
              <a:t>nonadditive</a:t>
            </a:r>
            <a:r>
              <a:rPr lang="en-US" sz="1600" dirty="0"/>
              <a:t>) join test for </a:t>
            </a:r>
            <a:r>
              <a:rPr lang="en-US" sz="1600" i="1" dirty="0"/>
              <a:t>n</a:t>
            </a:r>
            <a:r>
              <a:rPr lang="en-US" sz="1600" dirty="0"/>
              <a:t>-</a:t>
            </a:r>
            <a:r>
              <a:rPr lang="en-US" sz="1600" dirty="0" err="1"/>
              <a:t>ary</a:t>
            </a:r>
            <a:r>
              <a:rPr lang="en-US" sz="1600" dirty="0"/>
              <a:t> decompositions. </a:t>
            </a:r>
            <a:br>
              <a:rPr lang="en-US" sz="1600" dirty="0"/>
            </a:br>
            <a:endParaRPr lang="en-US" sz="3600" dirty="0"/>
          </a:p>
        </p:txBody>
      </p:sp>
      <p:pic>
        <p:nvPicPr>
          <p:cNvPr id="304136" name="Picture 8" descr="31755_FIG1501ab.gif                                            0001035BEeyore                         B91DCF3B:"/>
          <p:cNvPicPr>
            <a:picLocks noChangeAspect="1" noChangeArrowheads="1"/>
          </p:cNvPicPr>
          <p:nvPr/>
        </p:nvPicPr>
        <p:blipFill>
          <a:blip r:embed="rId2" cstate="print"/>
          <a:srcRect t="67046"/>
          <a:stretch>
            <a:fillRect/>
          </a:stretch>
        </p:blipFill>
        <p:spPr bwMode="auto">
          <a:xfrm>
            <a:off x="622087" y="3275819"/>
            <a:ext cx="7772400" cy="1350773"/>
          </a:xfrm>
          <a:prstGeom prst="rect">
            <a:avLst/>
          </a:prstGeom>
          <a:noFill/>
          <a:ln w="9525">
            <a:noFill/>
            <a:miter lim="800000"/>
            <a:headEnd/>
            <a:tailEnd/>
          </a:ln>
          <a:effectLst/>
        </p:spPr>
      </p:pic>
    </p:spTree>
    <p:extLst>
      <p:ext uri="{BB962C8B-B14F-4D97-AF65-F5344CB8AC3E}">
        <p14:creationId xmlns:p14="http://schemas.microsoft.com/office/powerpoint/2010/main" val="17154077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a:xfrm>
            <a:off x="254000" y="346075"/>
            <a:ext cx="8712200" cy="922338"/>
          </a:xfrm>
        </p:spPr>
        <p:txBody>
          <a:bodyPr>
            <a:normAutofit fontScale="90000"/>
          </a:bodyPr>
          <a:lstStyle/>
          <a:p>
            <a:r>
              <a:rPr lang="en-US" sz="3200">
                <a:cs typeface="Times New Roman" pitchFamily="18" charset="0"/>
              </a:rPr>
              <a:t>Properties of Relational Decompositions (8)</a:t>
            </a:r>
            <a:br>
              <a:rPr lang="en-US" sz="3200">
                <a:cs typeface="Times New Roman" pitchFamily="18" charset="0"/>
              </a:rPr>
            </a:br>
            <a:endParaRPr lang="en-US" sz="3600"/>
          </a:p>
        </p:txBody>
      </p:sp>
      <p:pic>
        <p:nvPicPr>
          <p:cNvPr id="346116" name="Picture 4" descr="31755_FIG1501c.gif                                             0001035BEeyore                         B91DCF3B:"/>
          <p:cNvPicPr>
            <a:picLocks noChangeAspect="1" noChangeArrowheads="1"/>
          </p:cNvPicPr>
          <p:nvPr/>
        </p:nvPicPr>
        <p:blipFill>
          <a:blip r:embed="rId2" cstate="print"/>
          <a:srcRect b="38759"/>
          <a:stretch>
            <a:fillRect/>
          </a:stretch>
        </p:blipFill>
        <p:spPr bwMode="auto">
          <a:xfrm>
            <a:off x="1204984" y="2601070"/>
            <a:ext cx="5562600" cy="2939921"/>
          </a:xfrm>
          <a:prstGeom prst="rect">
            <a:avLst/>
          </a:prstGeom>
          <a:noFill/>
          <a:ln w="9525">
            <a:noFill/>
            <a:miter lim="800000"/>
            <a:headEnd/>
            <a:tailEnd/>
          </a:ln>
          <a:effectLst/>
        </p:spPr>
      </p:pic>
      <p:sp>
        <p:nvSpPr>
          <p:cNvPr id="6" name="Rectangle 5"/>
          <p:cNvSpPr/>
          <p:nvPr/>
        </p:nvSpPr>
        <p:spPr>
          <a:xfrm>
            <a:off x="1951630" y="4107976"/>
            <a:ext cx="4299045" cy="9826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73344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a:xfrm>
            <a:off x="254000" y="346075"/>
            <a:ext cx="8712200" cy="922338"/>
          </a:xfrm>
        </p:spPr>
        <p:txBody>
          <a:bodyPr>
            <a:normAutofit fontScale="90000"/>
          </a:bodyPr>
          <a:lstStyle/>
          <a:p>
            <a:r>
              <a:rPr lang="en-US" sz="3200">
                <a:cs typeface="Times New Roman" pitchFamily="18" charset="0"/>
              </a:rPr>
              <a:t>Properties of Relational Decompositions (8)</a:t>
            </a:r>
            <a:br>
              <a:rPr lang="en-US" sz="3200">
                <a:cs typeface="Times New Roman" pitchFamily="18" charset="0"/>
              </a:rPr>
            </a:br>
            <a:endParaRPr lang="en-US" sz="3600"/>
          </a:p>
        </p:txBody>
      </p:sp>
      <p:pic>
        <p:nvPicPr>
          <p:cNvPr id="346116" name="Picture 4" descr="31755_FIG1501c.gif                                             0001035BEeyore                         B91DCF3B:"/>
          <p:cNvPicPr>
            <a:picLocks noChangeAspect="1" noChangeArrowheads="1"/>
          </p:cNvPicPr>
          <p:nvPr/>
        </p:nvPicPr>
        <p:blipFill>
          <a:blip r:embed="rId2" cstate="print"/>
          <a:srcRect b="38759"/>
          <a:stretch>
            <a:fillRect/>
          </a:stretch>
        </p:blipFill>
        <p:spPr bwMode="auto">
          <a:xfrm>
            <a:off x="1204984" y="2601070"/>
            <a:ext cx="5562600" cy="2939921"/>
          </a:xfrm>
          <a:prstGeom prst="rect">
            <a:avLst/>
          </a:prstGeom>
          <a:noFill/>
          <a:ln w="9525">
            <a:noFill/>
            <a:miter lim="800000"/>
            <a:headEnd/>
            <a:tailEnd/>
          </a:ln>
          <a:effectLst/>
        </p:spPr>
      </p:pic>
    </p:spTree>
    <p:extLst>
      <p:ext uri="{BB962C8B-B14F-4D97-AF65-F5344CB8AC3E}">
        <p14:creationId xmlns:p14="http://schemas.microsoft.com/office/powerpoint/2010/main" val="7592082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a:xfrm>
            <a:off x="254000" y="346075"/>
            <a:ext cx="8712200" cy="922338"/>
          </a:xfrm>
        </p:spPr>
        <p:txBody>
          <a:bodyPr>
            <a:normAutofit fontScale="90000"/>
          </a:bodyPr>
          <a:lstStyle/>
          <a:p>
            <a:r>
              <a:rPr lang="en-US" sz="3200">
                <a:cs typeface="Times New Roman" pitchFamily="18" charset="0"/>
              </a:rPr>
              <a:t>Properties of Relational Decompositions (8)</a:t>
            </a:r>
            <a:br>
              <a:rPr lang="en-US" sz="3200">
                <a:cs typeface="Times New Roman" pitchFamily="18" charset="0"/>
              </a:rPr>
            </a:br>
            <a:endParaRPr lang="en-US" sz="3600"/>
          </a:p>
        </p:txBody>
      </p:sp>
      <p:pic>
        <p:nvPicPr>
          <p:cNvPr id="346116" name="Picture 4" descr="31755_FIG1501c.gif                                             0001035BEeyore                         B91DCF3B:"/>
          <p:cNvPicPr>
            <a:picLocks noChangeAspect="1" noChangeArrowheads="1"/>
          </p:cNvPicPr>
          <p:nvPr/>
        </p:nvPicPr>
        <p:blipFill>
          <a:blip r:embed="rId2" cstate="print"/>
          <a:srcRect b="76570"/>
          <a:stretch>
            <a:fillRect/>
          </a:stretch>
        </p:blipFill>
        <p:spPr bwMode="auto">
          <a:xfrm>
            <a:off x="1204984" y="2751192"/>
            <a:ext cx="5562600" cy="1124769"/>
          </a:xfrm>
          <a:prstGeom prst="rect">
            <a:avLst/>
          </a:prstGeom>
          <a:noFill/>
          <a:ln w="9525">
            <a:noFill/>
            <a:miter lim="800000"/>
            <a:headEnd/>
            <a:tailEnd/>
          </a:ln>
          <a:effectLst/>
        </p:spPr>
      </p:pic>
      <p:pic>
        <p:nvPicPr>
          <p:cNvPr id="6" name="Picture 4" descr="31755_FIG1501c.gif                                             0001035BEeyore                         B91DCF3B:"/>
          <p:cNvPicPr>
            <a:picLocks noChangeAspect="1" noChangeArrowheads="1"/>
          </p:cNvPicPr>
          <p:nvPr/>
        </p:nvPicPr>
        <p:blipFill>
          <a:blip r:embed="rId2" cstate="print"/>
          <a:srcRect t="58350"/>
          <a:stretch>
            <a:fillRect/>
          </a:stretch>
        </p:blipFill>
        <p:spPr bwMode="auto">
          <a:xfrm>
            <a:off x="932029" y="3914627"/>
            <a:ext cx="5562600" cy="1999431"/>
          </a:xfrm>
          <a:prstGeom prst="rect">
            <a:avLst/>
          </a:prstGeom>
          <a:noFill/>
          <a:ln w="9525">
            <a:noFill/>
            <a:miter lim="800000"/>
            <a:headEnd/>
            <a:tailEnd/>
          </a:ln>
          <a:effectLst/>
        </p:spPr>
      </p:pic>
    </p:spTree>
    <p:extLst>
      <p:ext uri="{BB962C8B-B14F-4D97-AF65-F5344CB8AC3E}">
        <p14:creationId xmlns:p14="http://schemas.microsoft.com/office/powerpoint/2010/main" val="34092332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a:xfrm>
            <a:off x="254000" y="584200"/>
            <a:ext cx="8712200" cy="1143000"/>
          </a:xfrm>
        </p:spPr>
        <p:txBody>
          <a:bodyPr>
            <a:normAutofit fontScale="90000"/>
          </a:bodyPr>
          <a:lstStyle/>
          <a:p>
            <a:r>
              <a:rPr lang="en-US" sz="3200" dirty="0">
                <a:cs typeface="Times New Roman" pitchFamily="18" charset="0"/>
              </a:rPr>
              <a:t>Properties of Relational Decompositions (8)</a:t>
            </a:r>
            <a:br>
              <a:rPr lang="en-US" sz="3200" dirty="0">
                <a:cs typeface="Times New Roman" pitchFamily="18" charset="0"/>
              </a:rPr>
            </a:br>
            <a:r>
              <a:rPr lang="en-US" sz="3200" dirty="0">
                <a:cs typeface="Times New Roman" pitchFamily="18" charset="0"/>
              </a:rPr>
              <a:t> </a:t>
            </a:r>
            <a:r>
              <a:rPr lang="en-US" sz="1600" dirty="0"/>
              <a:t>Lossless (</a:t>
            </a:r>
            <a:r>
              <a:rPr lang="en-US" sz="1600" dirty="0" err="1"/>
              <a:t>nonadditive</a:t>
            </a:r>
            <a:r>
              <a:rPr lang="en-US" sz="1600" dirty="0"/>
              <a:t>) join test for </a:t>
            </a:r>
            <a:r>
              <a:rPr lang="en-US" sz="1600" i="1" dirty="0"/>
              <a:t>n</a:t>
            </a:r>
            <a:r>
              <a:rPr lang="en-US" sz="1600" dirty="0"/>
              <a:t>-</a:t>
            </a:r>
            <a:r>
              <a:rPr lang="en-US" sz="1600" dirty="0" err="1"/>
              <a:t>ary</a:t>
            </a:r>
            <a:r>
              <a:rPr lang="en-US" sz="1600" dirty="0"/>
              <a:t> decompositions. </a:t>
            </a:r>
            <a:br>
              <a:rPr lang="en-US" sz="1600" dirty="0"/>
            </a:br>
            <a:r>
              <a:rPr lang="en-US" sz="1600" dirty="0"/>
              <a:t>(a) Case 1: Decomposition of EMP_PROJ into EMP_PROJ1 and </a:t>
            </a:r>
            <a:r>
              <a:rPr lang="en-US" sz="1600" dirty="0" smtClean="0"/>
              <a:t>EMP_LOCS</a:t>
            </a:r>
            <a:endParaRPr lang="en-US" sz="3600" dirty="0"/>
          </a:p>
        </p:txBody>
      </p:sp>
      <p:grpSp>
        <p:nvGrpSpPr>
          <p:cNvPr id="8" name="Group 7"/>
          <p:cNvGrpSpPr/>
          <p:nvPr/>
        </p:nvGrpSpPr>
        <p:grpSpPr>
          <a:xfrm>
            <a:off x="567496" y="3075095"/>
            <a:ext cx="7772400" cy="2939220"/>
            <a:chOff x="922338" y="2192338"/>
            <a:chExt cx="7772400" cy="2939220"/>
          </a:xfrm>
        </p:grpSpPr>
        <p:pic>
          <p:nvPicPr>
            <p:cNvPr id="304136" name="Picture 8" descr="31755_FIG1501ab.gif                                            0001035BEeyore                         B91DCF3B:"/>
            <p:cNvPicPr>
              <a:picLocks noChangeAspect="1" noChangeArrowheads="1"/>
            </p:cNvPicPr>
            <p:nvPr/>
          </p:nvPicPr>
          <p:blipFill>
            <a:blip r:embed="rId2" cstate="print"/>
            <a:srcRect b="28293"/>
            <a:stretch>
              <a:fillRect/>
            </a:stretch>
          </p:blipFill>
          <p:spPr bwMode="auto">
            <a:xfrm>
              <a:off x="922338" y="2192338"/>
              <a:ext cx="7772400" cy="2939220"/>
            </a:xfrm>
            <a:prstGeom prst="rect">
              <a:avLst/>
            </a:prstGeom>
            <a:noFill/>
            <a:ln w="9525">
              <a:noFill/>
              <a:miter lim="800000"/>
              <a:headEnd/>
              <a:tailEnd/>
            </a:ln>
            <a:effectLst/>
          </p:spPr>
        </p:pic>
        <p:sp>
          <p:nvSpPr>
            <p:cNvPr id="6" name="Rectangle 5"/>
            <p:cNvSpPr/>
            <p:nvPr/>
          </p:nvSpPr>
          <p:spPr>
            <a:xfrm>
              <a:off x="1856096" y="3848669"/>
              <a:ext cx="5145205" cy="6823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692322" y="4708478"/>
              <a:ext cx="4189863" cy="2593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a:xfrm>
            <a:off x="254000" y="584200"/>
            <a:ext cx="8712200" cy="1143000"/>
          </a:xfrm>
        </p:spPr>
        <p:txBody>
          <a:bodyPr>
            <a:normAutofit fontScale="90000"/>
          </a:bodyPr>
          <a:lstStyle/>
          <a:p>
            <a:r>
              <a:rPr lang="en-US" sz="3200" dirty="0">
                <a:cs typeface="Times New Roman" pitchFamily="18" charset="0"/>
              </a:rPr>
              <a:t>Properties of Relational Decompositions (8)</a:t>
            </a:r>
            <a:br>
              <a:rPr lang="en-US" sz="3200" dirty="0">
                <a:cs typeface="Times New Roman" pitchFamily="18" charset="0"/>
              </a:rPr>
            </a:br>
            <a:r>
              <a:rPr lang="en-US" sz="3200" dirty="0">
                <a:cs typeface="Times New Roman" pitchFamily="18" charset="0"/>
              </a:rPr>
              <a:t> </a:t>
            </a:r>
            <a:r>
              <a:rPr lang="en-US" sz="1600" dirty="0"/>
              <a:t>Lossless (</a:t>
            </a:r>
            <a:r>
              <a:rPr lang="en-US" sz="1600" dirty="0" err="1"/>
              <a:t>nonadditive</a:t>
            </a:r>
            <a:r>
              <a:rPr lang="en-US" sz="1600" dirty="0"/>
              <a:t>) join test for </a:t>
            </a:r>
            <a:r>
              <a:rPr lang="en-US" sz="1600" i="1" dirty="0"/>
              <a:t>n</a:t>
            </a:r>
            <a:r>
              <a:rPr lang="en-US" sz="1600" dirty="0"/>
              <a:t>-</a:t>
            </a:r>
            <a:r>
              <a:rPr lang="en-US" sz="1600" dirty="0" err="1"/>
              <a:t>ary</a:t>
            </a:r>
            <a:r>
              <a:rPr lang="en-US" sz="1600" dirty="0"/>
              <a:t> decompositions. </a:t>
            </a:r>
            <a:br>
              <a:rPr lang="en-US" sz="1600" dirty="0"/>
            </a:br>
            <a:r>
              <a:rPr lang="en-US" sz="1600" dirty="0"/>
              <a:t>(a) Case 1: Decomposition of EMP_PROJ into EMP_PROJ1 and </a:t>
            </a:r>
            <a:r>
              <a:rPr lang="en-US" sz="1600" dirty="0" smtClean="0"/>
              <a:t>EMP_LOCS</a:t>
            </a:r>
            <a:endParaRPr lang="en-US" sz="3600" dirty="0"/>
          </a:p>
        </p:txBody>
      </p:sp>
      <p:pic>
        <p:nvPicPr>
          <p:cNvPr id="304136" name="Picture 8" descr="31755_FIG1501ab.gif                                            0001035BEeyore                         B91DCF3B:"/>
          <p:cNvPicPr>
            <a:picLocks noChangeAspect="1" noChangeArrowheads="1"/>
          </p:cNvPicPr>
          <p:nvPr/>
        </p:nvPicPr>
        <p:blipFill>
          <a:blip r:embed="rId2" cstate="print"/>
          <a:srcRect b="28293"/>
          <a:stretch>
            <a:fillRect/>
          </a:stretch>
        </p:blipFill>
        <p:spPr bwMode="auto">
          <a:xfrm>
            <a:off x="622087" y="3134033"/>
            <a:ext cx="7772400" cy="29392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a:xfrm>
            <a:off x="254000" y="215900"/>
            <a:ext cx="8712200" cy="1143000"/>
          </a:xfrm>
        </p:spPr>
        <p:txBody>
          <a:bodyPr/>
          <a:lstStyle/>
          <a:p>
            <a:pPr marL="609600" indent="-609600"/>
            <a:r>
              <a:rPr lang="en-US" sz="3200" b="1" dirty="0" smtClean="0">
                <a:cs typeface="Times New Roman" pitchFamily="18" charset="0"/>
              </a:rPr>
              <a:t>Testing Binary Decompositions for Lossless Join Property</a:t>
            </a:r>
            <a:r>
              <a:rPr lang="en-US" sz="3200" dirty="0" smtClean="0">
                <a:cs typeface="Times New Roman" pitchFamily="18" charset="0"/>
              </a:rPr>
              <a:t>: </a:t>
            </a:r>
            <a:endParaRPr lang="en-US" sz="3200" dirty="0">
              <a:cs typeface="Times New Roman" pitchFamily="18" charset="0"/>
            </a:endParaRPr>
          </a:p>
        </p:txBody>
      </p:sp>
      <p:sp>
        <p:nvSpPr>
          <p:cNvPr id="305155" name="Rectangle 3"/>
          <p:cNvSpPr>
            <a:spLocks noGrp="1" noChangeArrowheads="1"/>
          </p:cNvSpPr>
          <p:nvPr>
            <p:ph sz="quarter" idx="1"/>
          </p:nvPr>
        </p:nvSpPr>
        <p:spPr>
          <a:xfrm>
            <a:off x="254000" y="1358900"/>
            <a:ext cx="7914640" cy="4978400"/>
          </a:xfrm>
        </p:spPr>
        <p:txBody>
          <a:bodyPr>
            <a:normAutofit/>
          </a:bodyPr>
          <a:lstStyle/>
          <a:p>
            <a:pPr marL="609600" indent="-609600"/>
            <a:endParaRPr lang="en-US" b="1" dirty="0" smtClean="0">
              <a:cs typeface="Times New Roman" pitchFamily="18" charset="0"/>
            </a:endParaRPr>
          </a:p>
          <a:p>
            <a:pPr marL="609600" indent="-609600"/>
            <a:r>
              <a:rPr lang="en-US" b="1" dirty="0" smtClean="0">
                <a:cs typeface="Times New Roman" pitchFamily="18" charset="0"/>
              </a:rPr>
              <a:t>Binary </a:t>
            </a:r>
            <a:r>
              <a:rPr lang="en-US" b="1" dirty="0">
                <a:cs typeface="Times New Roman" pitchFamily="18" charset="0"/>
              </a:rPr>
              <a:t>Decomposition</a:t>
            </a:r>
            <a:r>
              <a:rPr lang="en-US" dirty="0">
                <a:cs typeface="Times New Roman" pitchFamily="18" charset="0"/>
              </a:rPr>
              <a:t>: decomposition of a relation </a:t>
            </a:r>
            <a:r>
              <a:rPr lang="en-US" i="1" dirty="0">
                <a:cs typeface="Times New Roman" pitchFamily="18" charset="0"/>
              </a:rPr>
              <a:t>R</a:t>
            </a:r>
            <a:r>
              <a:rPr lang="en-US" dirty="0">
                <a:cs typeface="Times New Roman" pitchFamily="18" charset="0"/>
              </a:rPr>
              <a:t> into two relations. </a:t>
            </a:r>
          </a:p>
          <a:p>
            <a:pPr marL="609600" indent="-609600"/>
            <a:r>
              <a:rPr lang="en-US" b="1" dirty="0" smtClean="0">
                <a:solidFill>
                  <a:srgbClr val="000000"/>
                </a:solidFill>
                <a:cs typeface="Times New Roman" pitchFamily="18" charset="0"/>
              </a:rPr>
              <a:t>Lossless </a:t>
            </a:r>
            <a:r>
              <a:rPr lang="en-US" b="1" dirty="0">
                <a:solidFill>
                  <a:srgbClr val="000000"/>
                </a:solidFill>
                <a:cs typeface="Times New Roman" pitchFamily="18" charset="0"/>
              </a:rPr>
              <a:t>join test for binary </a:t>
            </a:r>
            <a:r>
              <a:rPr lang="en-US" b="1" dirty="0" smtClean="0">
                <a:solidFill>
                  <a:srgbClr val="000000"/>
                </a:solidFill>
                <a:cs typeface="Times New Roman" pitchFamily="18" charset="0"/>
              </a:rPr>
              <a:t>decompositions: </a:t>
            </a:r>
            <a:r>
              <a:rPr lang="en-US" dirty="0">
                <a:solidFill>
                  <a:srgbClr val="000000"/>
                </a:solidFill>
                <a:cs typeface="Times New Roman" pitchFamily="18" charset="0"/>
              </a:rPr>
              <a:t>A decomposition </a:t>
            </a:r>
            <a:r>
              <a:rPr lang="en-US" i="1" dirty="0">
                <a:solidFill>
                  <a:srgbClr val="000000"/>
                </a:solidFill>
                <a:cs typeface="Times New Roman" pitchFamily="18" charset="0"/>
              </a:rPr>
              <a:t>D</a:t>
            </a:r>
            <a:r>
              <a:rPr lang="en-US" dirty="0">
                <a:solidFill>
                  <a:srgbClr val="000000"/>
                </a:solidFill>
                <a:cs typeface="Times New Roman" pitchFamily="18" charset="0"/>
              </a:rPr>
              <a:t> = {</a:t>
            </a:r>
            <a:r>
              <a:rPr lang="en-US" i="1" dirty="0">
                <a:solidFill>
                  <a:srgbClr val="000000"/>
                </a:solidFill>
                <a:cs typeface="Times New Roman" pitchFamily="18" charset="0"/>
              </a:rPr>
              <a:t>R</a:t>
            </a:r>
            <a:r>
              <a:rPr lang="en-US" baseline="-30000" dirty="0">
                <a:solidFill>
                  <a:srgbClr val="000000"/>
                </a:solidFill>
                <a:cs typeface="Times New Roman" pitchFamily="18" charset="0"/>
              </a:rPr>
              <a:t>1</a:t>
            </a:r>
            <a:r>
              <a:rPr lang="en-US" dirty="0">
                <a:solidFill>
                  <a:srgbClr val="000000"/>
                </a:solidFill>
                <a:cs typeface="Times New Roman" pitchFamily="18" charset="0"/>
              </a:rPr>
              <a:t>, </a:t>
            </a:r>
            <a:r>
              <a:rPr lang="en-US" i="1" dirty="0">
                <a:solidFill>
                  <a:srgbClr val="000000"/>
                </a:solidFill>
                <a:cs typeface="Times New Roman" pitchFamily="18" charset="0"/>
              </a:rPr>
              <a:t>R</a:t>
            </a:r>
            <a:r>
              <a:rPr lang="en-US" baseline="-30000" dirty="0">
                <a:solidFill>
                  <a:srgbClr val="000000"/>
                </a:solidFill>
                <a:cs typeface="Times New Roman" pitchFamily="18" charset="0"/>
              </a:rPr>
              <a:t>2</a:t>
            </a:r>
            <a:r>
              <a:rPr lang="en-US" dirty="0">
                <a:solidFill>
                  <a:srgbClr val="000000"/>
                </a:solidFill>
                <a:cs typeface="Times New Roman" pitchFamily="18" charset="0"/>
              </a:rPr>
              <a:t>} of </a:t>
            </a:r>
            <a:r>
              <a:rPr lang="en-US" i="1" dirty="0">
                <a:solidFill>
                  <a:srgbClr val="000000"/>
                </a:solidFill>
                <a:cs typeface="Times New Roman" pitchFamily="18" charset="0"/>
              </a:rPr>
              <a:t>R</a:t>
            </a:r>
            <a:r>
              <a:rPr lang="en-US" dirty="0">
                <a:solidFill>
                  <a:srgbClr val="000000"/>
                </a:solidFill>
                <a:cs typeface="Times New Roman" pitchFamily="18" charset="0"/>
              </a:rPr>
              <a:t> has the lossless join property with respect to a set of functional dependencies </a:t>
            </a:r>
            <a:r>
              <a:rPr lang="en-US" i="1" dirty="0">
                <a:solidFill>
                  <a:srgbClr val="000000"/>
                </a:solidFill>
                <a:cs typeface="Times New Roman" pitchFamily="18" charset="0"/>
              </a:rPr>
              <a:t>F</a:t>
            </a:r>
            <a:r>
              <a:rPr lang="en-US" dirty="0">
                <a:solidFill>
                  <a:srgbClr val="000000"/>
                </a:solidFill>
                <a:cs typeface="Times New Roman" pitchFamily="18" charset="0"/>
              </a:rPr>
              <a:t> on </a:t>
            </a:r>
            <a:r>
              <a:rPr lang="en-US" i="1" dirty="0">
                <a:solidFill>
                  <a:srgbClr val="000000"/>
                </a:solidFill>
                <a:cs typeface="Times New Roman" pitchFamily="18" charset="0"/>
              </a:rPr>
              <a:t>R if and only if</a:t>
            </a:r>
            <a:r>
              <a:rPr lang="en-US" dirty="0">
                <a:solidFill>
                  <a:srgbClr val="000000"/>
                </a:solidFill>
                <a:cs typeface="Times New Roman" pitchFamily="18" charset="0"/>
              </a:rPr>
              <a:t> either</a:t>
            </a:r>
          </a:p>
          <a:p>
            <a:pPr marL="990600" lvl="1" indent="-533400">
              <a:lnSpc>
                <a:spcPct val="120000"/>
              </a:lnSpc>
            </a:pPr>
            <a:r>
              <a:rPr lang="en-US" sz="2000" dirty="0">
                <a:solidFill>
                  <a:srgbClr val="000000"/>
                </a:solidFill>
                <a:cs typeface="Times New Roman" pitchFamily="18" charset="0"/>
              </a:rPr>
              <a:t>The </a:t>
            </a:r>
            <a:r>
              <a:rPr lang="en-US" sz="2000" dirty="0" smtClean="0">
                <a:solidFill>
                  <a:srgbClr val="000000"/>
                </a:solidFill>
                <a:cs typeface="Times New Roman" pitchFamily="18" charset="0"/>
              </a:rPr>
              <a:t>FD </a:t>
            </a:r>
            <a:r>
              <a:rPr lang="en-US" sz="2000" dirty="0">
                <a:solidFill>
                  <a:srgbClr val="000000"/>
                </a:solidFill>
                <a:cs typeface="Times New Roman" pitchFamily="18" charset="0"/>
              </a:rPr>
              <a:t>((</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1</a:t>
            </a:r>
            <a:r>
              <a:rPr lang="en-US" sz="2000" dirty="0">
                <a:solidFill>
                  <a:srgbClr val="000000"/>
                </a:solidFill>
                <a:cs typeface="Times New Roman" pitchFamily="18" charset="0"/>
              </a:rPr>
              <a:t> </a:t>
            </a:r>
            <a:r>
              <a:rPr lang="en-US" sz="1800" dirty="0">
                <a:solidFill>
                  <a:srgbClr val="000000"/>
                </a:solidFill>
                <a:cs typeface="Tahoma" pitchFamily="34" charset="0"/>
              </a:rPr>
              <a:t>∩ </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2</a:t>
            </a:r>
            <a:r>
              <a:rPr lang="en-US" sz="2000" dirty="0">
                <a:solidFill>
                  <a:srgbClr val="000000"/>
                </a:solidFill>
                <a:cs typeface="Times New Roman" pitchFamily="18" charset="0"/>
              </a:rPr>
              <a:t>) </a:t>
            </a:r>
            <a:r>
              <a:rPr lang="en-US" sz="2000" dirty="0">
                <a:solidFill>
                  <a:srgbClr val="000000"/>
                </a:solidFill>
                <a:cs typeface="Tahoma" pitchFamily="34" charset="0"/>
                <a:sym typeface="Wingdings 3" pitchFamily="18" charset="2"/>
              </a:rPr>
              <a:t></a:t>
            </a:r>
            <a:r>
              <a:rPr lang="en-US" sz="2000" dirty="0">
                <a:solidFill>
                  <a:srgbClr val="000000"/>
                </a:solidFill>
                <a:cs typeface="Times New Roman" pitchFamily="18" charset="0"/>
              </a:rPr>
              <a:t> (</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1</a:t>
            </a:r>
            <a:r>
              <a:rPr lang="en-US" sz="2000" dirty="0">
                <a:solidFill>
                  <a:srgbClr val="000000"/>
                </a:solidFill>
                <a:cs typeface="Times New Roman" pitchFamily="18" charset="0"/>
              </a:rPr>
              <a:t>- </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2</a:t>
            </a:r>
            <a:r>
              <a:rPr lang="en-US" sz="2000" dirty="0">
                <a:solidFill>
                  <a:srgbClr val="000000"/>
                </a:solidFill>
                <a:cs typeface="Times New Roman" pitchFamily="18" charset="0"/>
              </a:rPr>
              <a:t>)) is in </a:t>
            </a:r>
            <a:r>
              <a:rPr lang="en-US" sz="2000" i="1" dirty="0">
                <a:solidFill>
                  <a:srgbClr val="000000"/>
                </a:solidFill>
                <a:cs typeface="Times New Roman" pitchFamily="18" charset="0"/>
              </a:rPr>
              <a:t>F</a:t>
            </a:r>
            <a:r>
              <a:rPr lang="en-US" sz="2000" baseline="30000" dirty="0">
                <a:solidFill>
                  <a:srgbClr val="000000"/>
                </a:solidFill>
                <a:cs typeface="Times New Roman" pitchFamily="18" charset="0"/>
              </a:rPr>
              <a:t>+</a:t>
            </a:r>
            <a:r>
              <a:rPr lang="en-US" sz="2000" dirty="0">
                <a:solidFill>
                  <a:srgbClr val="000000"/>
                </a:solidFill>
                <a:cs typeface="Times New Roman" pitchFamily="18" charset="0"/>
              </a:rPr>
              <a:t>, or</a:t>
            </a:r>
          </a:p>
          <a:p>
            <a:pPr marL="990600" lvl="1" indent="-533400">
              <a:lnSpc>
                <a:spcPct val="120000"/>
              </a:lnSpc>
            </a:pPr>
            <a:r>
              <a:rPr lang="en-US" sz="2000" dirty="0">
                <a:cs typeface="Times New Roman" pitchFamily="18" charset="0"/>
              </a:rPr>
              <a:t>The </a:t>
            </a:r>
            <a:r>
              <a:rPr lang="en-US" sz="2000" dirty="0" smtClean="0">
                <a:cs typeface="Times New Roman" pitchFamily="18" charset="0"/>
              </a:rPr>
              <a:t>FD </a:t>
            </a:r>
            <a:r>
              <a:rPr lang="en-US" sz="2000" dirty="0">
                <a:cs typeface="Times New Roman" pitchFamily="18" charset="0"/>
              </a:rPr>
              <a:t>((</a:t>
            </a:r>
            <a:r>
              <a:rPr lang="en-US" sz="2000" i="1" dirty="0">
                <a:cs typeface="Times New Roman" pitchFamily="18" charset="0"/>
              </a:rPr>
              <a:t>R</a:t>
            </a:r>
            <a:r>
              <a:rPr lang="en-US" sz="2000" baseline="-30000" dirty="0">
                <a:cs typeface="Times New Roman" pitchFamily="18" charset="0"/>
              </a:rPr>
              <a:t>1</a:t>
            </a:r>
            <a:r>
              <a:rPr lang="en-US" sz="2000" dirty="0">
                <a:cs typeface="Times New Roman" pitchFamily="18" charset="0"/>
              </a:rPr>
              <a:t> </a:t>
            </a:r>
            <a:r>
              <a:rPr lang="en-US" sz="1800" dirty="0">
                <a:solidFill>
                  <a:srgbClr val="000000"/>
                </a:solidFill>
                <a:cs typeface="Tahoma" pitchFamily="34" charset="0"/>
              </a:rPr>
              <a:t>∩ </a:t>
            </a:r>
            <a:r>
              <a:rPr lang="en-US" sz="2000" i="1" dirty="0">
                <a:cs typeface="Times New Roman" pitchFamily="18" charset="0"/>
              </a:rPr>
              <a:t>R</a:t>
            </a:r>
            <a:r>
              <a:rPr lang="en-US" sz="2000" baseline="-30000" dirty="0">
                <a:cs typeface="Times New Roman" pitchFamily="18" charset="0"/>
              </a:rPr>
              <a:t>2</a:t>
            </a:r>
            <a:r>
              <a:rPr lang="en-US" sz="2000" dirty="0">
                <a:cs typeface="Times New Roman" pitchFamily="18" charset="0"/>
              </a:rPr>
              <a:t>) </a:t>
            </a:r>
            <a:r>
              <a:rPr lang="en-US" sz="2000" dirty="0">
                <a:solidFill>
                  <a:srgbClr val="000000"/>
                </a:solidFill>
                <a:cs typeface="Tahoma" pitchFamily="34" charset="0"/>
                <a:sym typeface="Wingdings 3" pitchFamily="18" charset="2"/>
              </a:rPr>
              <a:t></a:t>
            </a:r>
            <a:r>
              <a:rPr lang="en-US" sz="2000" dirty="0">
                <a:cs typeface="Times New Roman" pitchFamily="18" charset="0"/>
              </a:rPr>
              <a:t> (</a:t>
            </a:r>
            <a:r>
              <a:rPr lang="en-US" sz="2000" i="1" dirty="0">
                <a:cs typeface="Times New Roman" pitchFamily="18" charset="0"/>
              </a:rPr>
              <a:t>R</a:t>
            </a:r>
            <a:r>
              <a:rPr lang="en-US" sz="2000" baseline="-30000" dirty="0">
                <a:cs typeface="Times New Roman" pitchFamily="18" charset="0"/>
              </a:rPr>
              <a:t>2 </a:t>
            </a:r>
            <a:r>
              <a:rPr lang="en-US" sz="2000" dirty="0">
                <a:solidFill>
                  <a:srgbClr val="000000"/>
                </a:solidFill>
                <a:cs typeface="Times New Roman" pitchFamily="18" charset="0"/>
              </a:rPr>
              <a:t>-</a:t>
            </a:r>
            <a:r>
              <a:rPr lang="en-US" sz="2000" dirty="0">
                <a:cs typeface="Times New Roman" pitchFamily="18" charset="0"/>
              </a:rPr>
              <a:t> </a:t>
            </a:r>
            <a:r>
              <a:rPr lang="en-US" sz="2000" i="1" dirty="0">
                <a:cs typeface="Times New Roman" pitchFamily="18" charset="0"/>
              </a:rPr>
              <a:t>R</a:t>
            </a:r>
            <a:r>
              <a:rPr lang="en-US" sz="2000" baseline="-30000" dirty="0">
                <a:cs typeface="Times New Roman" pitchFamily="18" charset="0"/>
              </a:rPr>
              <a:t>1</a:t>
            </a:r>
            <a:r>
              <a:rPr lang="en-US" sz="2000" dirty="0">
                <a:cs typeface="Times New Roman" pitchFamily="18" charset="0"/>
              </a:rPr>
              <a:t>)) is in </a:t>
            </a:r>
            <a:r>
              <a:rPr lang="en-US" sz="2000" i="1" dirty="0">
                <a:cs typeface="Times New Roman" pitchFamily="18" charset="0"/>
              </a:rPr>
              <a:t>F</a:t>
            </a:r>
            <a:r>
              <a:rPr lang="en-US" sz="2000" baseline="30000" dirty="0">
                <a:cs typeface="Times New Roman" pitchFamily="18" charset="0"/>
              </a:rPr>
              <a:t>+</a:t>
            </a:r>
            <a:r>
              <a:rPr lang="en-US" sz="2000" dirty="0">
                <a:cs typeface="Times New Roman" pitchFamily="18" charset="0"/>
              </a:rPr>
              <a:t>.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a:xfrm>
            <a:off x="254000" y="215900"/>
            <a:ext cx="8712200" cy="1143000"/>
          </a:xfrm>
        </p:spPr>
        <p:txBody>
          <a:bodyPr>
            <a:normAutofit fontScale="90000"/>
          </a:bodyPr>
          <a:lstStyle/>
          <a:p>
            <a:r>
              <a:rPr lang="en-US" sz="3200" b="1" dirty="0" smtClean="0">
                <a:solidFill>
                  <a:srgbClr val="000000"/>
                </a:solidFill>
                <a:cs typeface="Courier New" pitchFamily="49" charset="0"/>
              </a:rPr>
              <a:t>Algorithm: Decomposition </a:t>
            </a:r>
            <a:r>
              <a:rPr lang="en-US" sz="3200" b="1" dirty="0" smtClean="0">
                <a:solidFill>
                  <a:srgbClr val="000000"/>
                </a:solidFill>
                <a:cs typeface="Times New Roman" pitchFamily="18" charset="0"/>
              </a:rPr>
              <a:t>into 3NF with Dependency Preservation &amp;Lossless Join</a:t>
            </a:r>
            <a:endParaRPr lang="en-US" sz="3200" dirty="0">
              <a:cs typeface="Times New Roman" pitchFamily="18" charset="0"/>
            </a:endParaRPr>
          </a:p>
        </p:txBody>
      </p:sp>
      <p:sp>
        <p:nvSpPr>
          <p:cNvPr id="309251" name="Rectangle 3"/>
          <p:cNvSpPr>
            <a:spLocks noGrp="1" noChangeArrowheads="1"/>
          </p:cNvSpPr>
          <p:nvPr>
            <p:ph sz="quarter" idx="1"/>
          </p:nvPr>
        </p:nvSpPr>
        <p:spPr>
          <a:xfrm>
            <a:off x="254000" y="1358900"/>
            <a:ext cx="8357737" cy="4978400"/>
          </a:xfrm>
        </p:spPr>
        <p:txBody>
          <a:bodyPr>
            <a:normAutofit/>
          </a:bodyPr>
          <a:lstStyle/>
          <a:p>
            <a:pPr marL="609600" indent="-609600" algn="just">
              <a:lnSpc>
                <a:spcPct val="90000"/>
              </a:lnSpc>
              <a:buFont typeface="Wingdings" pitchFamily="2" charset="2"/>
              <a:buNone/>
            </a:pPr>
            <a:endParaRPr lang="en-US" sz="2400" b="1" dirty="0" smtClean="0">
              <a:solidFill>
                <a:srgbClr val="000000"/>
              </a:solidFill>
              <a:cs typeface="Times New Roman" pitchFamily="18" charset="0"/>
            </a:endParaRPr>
          </a:p>
          <a:p>
            <a:pPr marL="609600" indent="-609600" algn="just">
              <a:lnSpc>
                <a:spcPct val="90000"/>
              </a:lnSpc>
              <a:buFont typeface="Wingdings" pitchFamily="2" charset="2"/>
              <a:buNone/>
            </a:pPr>
            <a:r>
              <a:rPr lang="en-US" sz="2400" b="1" dirty="0" smtClean="0">
                <a:solidFill>
                  <a:srgbClr val="000000"/>
                </a:solidFill>
                <a:cs typeface="Times New Roman" pitchFamily="18" charset="0"/>
              </a:rPr>
              <a:t>Input</a:t>
            </a:r>
            <a:r>
              <a:rPr lang="en-US" sz="2400" b="1" dirty="0">
                <a:solidFill>
                  <a:srgbClr val="000000"/>
                </a:solidFill>
                <a:cs typeface="Times New Roman" pitchFamily="18" charset="0"/>
              </a:rPr>
              <a:t>: </a:t>
            </a:r>
            <a:r>
              <a:rPr lang="en-US" sz="2400" dirty="0">
                <a:solidFill>
                  <a:srgbClr val="000000"/>
                </a:solidFill>
                <a:cs typeface="Times New Roman" pitchFamily="18" charset="0"/>
              </a:rPr>
              <a:t>A universal relation </a:t>
            </a:r>
            <a:r>
              <a:rPr lang="en-US" sz="2400" i="1" dirty="0">
                <a:solidFill>
                  <a:srgbClr val="000000"/>
                </a:solidFill>
                <a:cs typeface="Times New Roman" pitchFamily="18" charset="0"/>
              </a:rPr>
              <a:t>R</a:t>
            </a:r>
            <a:r>
              <a:rPr lang="en-US" sz="2400" dirty="0">
                <a:solidFill>
                  <a:srgbClr val="000000"/>
                </a:solidFill>
                <a:cs typeface="Times New Roman" pitchFamily="18" charset="0"/>
              </a:rPr>
              <a:t> and a set of functional dependencies </a:t>
            </a:r>
            <a:r>
              <a:rPr lang="en-US" sz="2400" i="1" dirty="0">
                <a:solidFill>
                  <a:srgbClr val="000000"/>
                </a:solidFill>
                <a:cs typeface="Times New Roman" pitchFamily="18" charset="0"/>
              </a:rPr>
              <a:t>F</a:t>
            </a:r>
            <a:r>
              <a:rPr lang="en-US" sz="2400" dirty="0">
                <a:solidFill>
                  <a:srgbClr val="000000"/>
                </a:solidFill>
                <a:cs typeface="Times New Roman" pitchFamily="18" charset="0"/>
              </a:rPr>
              <a:t> on the attributes of </a:t>
            </a:r>
            <a:r>
              <a:rPr lang="en-US" sz="2400" i="1" dirty="0">
                <a:solidFill>
                  <a:srgbClr val="000000"/>
                </a:solidFill>
                <a:cs typeface="Times New Roman" pitchFamily="18" charset="0"/>
              </a:rPr>
              <a:t>R</a:t>
            </a:r>
            <a:r>
              <a:rPr lang="en-US" sz="2400" dirty="0" smtClean="0">
                <a:solidFill>
                  <a:srgbClr val="000000"/>
                </a:solidFill>
                <a:cs typeface="Times New Roman" pitchFamily="18" charset="0"/>
              </a:rPr>
              <a:t>.</a:t>
            </a:r>
          </a:p>
          <a:p>
            <a:pPr marL="609600" indent="-609600" algn="just">
              <a:lnSpc>
                <a:spcPct val="90000"/>
              </a:lnSpc>
              <a:buFont typeface="Wingdings" pitchFamily="2" charset="2"/>
              <a:buNone/>
            </a:pPr>
            <a:endParaRPr lang="en-US" sz="2400" dirty="0">
              <a:solidFill>
                <a:srgbClr val="000000"/>
              </a:solidFill>
              <a:cs typeface="Times New Roman" pitchFamily="18" charset="0"/>
            </a:endParaRPr>
          </a:p>
          <a:p>
            <a:pPr marL="975360" lvl="1" indent="-609600" algn="just">
              <a:lnSpc>
                <a:spcPct val="90000"/>
              </a:lnSpc>
              <a:buFont typeface="Wingdings" pitchFamily="2" charset="2"/>
              <a:buAutoNum type="arabicPeriod"/>
            </a:pPr>
            <a:r>
              <a:rPr lang="en-US" sz="2100" dirty="0">
                <a:solidFill>
                  <a:srgbClr val="000000"/>
                </a:solidFill>
                <a:cs typeface="Times New Roman" pitchFamily="18" charset="0"/>
              </a:rPr>
              <a:t>Find a minimal cover </a:t>
            </a:r>
            <a:r>
              <a:rPr lang="en-US" sz="2100" i="1" dirty="0">
                <a:solidFill>
                  <a:srgbClr val="000000"/>
                </a:solidFill>
                <a:cs typeface="Times New Roman" pitchFamily="18" charset="0"/>
              </a:rPr>
              <a:t>G</a:t>
            </a:r>
            <a:r>
              <a:rPr lang="en-US" sz="2100" dirty="0">
                <a:solidFill>
                  <a:srgbClr val="000000"/>
                </a:solidFill>
                <a:cs typeface="Times New Roman" pitchFamily="18" charset="0"/>
              </a:rPr>
              <a:t> for </a:t>
            </a:r>
            <a:r>
              <a:rPr lang="en-US" sz="2100" i="1" dirty="0">
                <a:solidFill>
                  <a:srgbClr val="000000"/>
                </a:solidFill>
                <a:cs typeface="Times New Roman" pitchFamily="18" charset="0"/>
              </a:rPr>
              <a:t>F</a:t>
            </a:r>
            <a:r>
              <a:rPr lang="en-US" sz="2100" dirty="0">
                <a:solidFill>
                  <a:srgbClr val="000000"/>
                </a:solidFill>
                <a:cs typeface="Times New Roman" pitchFamily="18" charset="0"/>
              </a:rPr>
              <a:t> </a:t>
            </a:r>
          </a:p>
          <a:p>
            <a:pPr marL="975360" lvl="1" indent="-609600" algn="just">
              <a:lnSpc>
                <a:spcPct val="90000"/>
              </a:lnSpc>
              <a:buFont typeface="Wingdings" pitchFamily="2" charset="2"/>
              <a:buAutoNum type="arabicPeriod"/>
            </a:pPr>
            <a:r>
              <a:rPr lang="en-US" sz="2100" dirty="0">
                <a:solidFill>
                  <a:srgbClr val="000000"/>
                </a:solidFill>
                <a:cs typeface="Times New Roman" pitchFamily="18" charset="0"/>
              </a:rPr>
              <a:t>For each </a:t>
            </a:r>
            <a:r>
              <a:rPr lang="en-US" sz="2100" i="1" dirty="0" smtClean="0">
                <a:solidFill>
                  <a:srgbClr val="000000"/>
                </a:solidFill>
                <a:cs typeface="Times New Roman" pitchFamily="18" charset="0"/>
              </a:rPr>
              <a:t>X</a:t>
            </a:r>
            <a:r>
              <a:rPr lang="en-US" sz="2100" dirty="0" smtClean="0">
                <a:solidFill>
                  <a:srgbClr val="000000"/>
                </a:solidFill>
                <a:cs typeface="Times New Roman" pitchFamily="18" charset="0"/>
              </a:rPr>
              <a:t> </a:t>
            </a:r>
            <a:r>
              <a:rPr lang="en-US" sz="2100" dirty="0">
                <a:solidFill>
                  <a:srgbClr val="000000"/>
                </a:solidFill>
                <a:cs typeface="Times New Roman" pitchFamily="18" charset="0"/>
              </a:rPr>
              <a:t>of a </a:t>
            </a:r>
            <a:r>
              <a:rPr lang="en-US" sz="2100" dirty="0" smtClean="0">
                <a:solidFill>
                  <a:srgbClr val="000000"/>
                </a:solidFill>
                <a:cs typeface="Times New Roman" pitchFamily="18" charset="0"/>
              </a:rPr>
              <a:t>FD in </a:t>
            </a:r>
            <a:r>
              <a:rPr lang="en-US" sz="2100" i="1" dirty="0">
                <a:solidFill>
                  <a:srgbClr val="000000"/>
                </a:solidFill>
                <a:cs typeface="Times New Roman" pitchFamily="18" charset="0"/>
              </a:rPr>
              <a:t>G,</a:t>
            </a:r>
            <a:r>
              <a:rPr lang="en-US" sz="2100" dirty="0">
                <a:solidFill>
                  <a:srgbClr val="000000"/>
                </a:solidFill>
                <a:cs typeface="Times New Roman" pitchFamily="18" charset="0"/>
              </a:rPr>
              <a:t> create a relation </a:t>
            </a:r>
            <a:r>
              <a:rPr lang="en-US" sz="2100" dirty="0" smtClean="0">
                <a:solidFill>
                  <a:srgbClr val="000000"/>
                </a:solidFill>
                <a:cs typeface="Times New Roman" pitchFamily="18" charset="0"/>
              </a:rPr>
              <a:t>in </a:t>
            </a:r>
            <a:r>
              <a:rPr lang="en-US" sz="2100" i="1" dirty="0">
                <a:solidFill>
                  <a:srgbClr val="000000"/>
                </a:solidFill>
                <a:cs typeface="Times New Roman" pitchFamily="18" charset="0"/>
              </a:rPr>
              <a:t>D</a:t>
            </a:r>
            <a:r>
              <a:rPr lang="en-US" sz="2100" dirty="0">
                <a:solidFill>
                  <a:srgbClr val="000000"/>
                </a:solidFill>
                <a:cs typeface="Times New Roman" pitchFamily="18" charset="0"/>
              </a:rPr>
              <a:t> with attributes {</a:t>
            </a:r>
            <a:r>
              <a:rPr lang="en-US" sz="2100" i="1" dirty="0">
                <a:solidFill>
                  <a:srgbClr val="000000"/>
                </a:solidFill>
                <a:cs typeface="Times New Roman" pitchFamily="18" charset="0"/>
              </a:rPr>
              <a:t>X</a:t>
            </a:r>
            <a:r>
              <a:rPr lang="en-US" sz="2100" dirty="0">
                <a:solidFill>
                  <a:srgbClr val="000000"/>
                </a:solidFill>
                <a:cs typeface="Times New Roman" pitchFamily="18" charset="0"/>
              </a:rPr>
              <a:t> </a:t>
            </a:r>
            <a:r>
              <a:rPr lang="en-US" sz="2100" dirty="0">
                <a:cs typeface="Arial" pitchFamily="34" charset="0"/>
              </a:rPr>
              <a:t>υ</a:t>
            </a:r>
            <a:r>
              <a:rPr lang="en-US" sz="2100" dirty="0">
                <a:solidFill>
                  <a:srgbClr val="000000"/>
                </a:solidFill>
                <a:cs typeface="Times New Roman" pitchFamily="18" charset="0"/>
              </a:rPr>
              <a:t> {</a:t>
            </a:r>
            <a:r>
              <a:rPr lang="en-US" sz="2100" i="1" dirty="0">
                <a:solidFill>
                  <a:srgbClr val="000000"/>
                </a:solidFill>
                <a:cs typeface="Times New Roman" pitchFamily="18" charset="0"/>
              </a:rPr>
              <a:t>A</a:t>
            </a:r>
            <a:r>
              <a:rPr lang="en-US" sz="2100" baseline="-30000" dirty="0">
                <a:solidFill>
                  <a:srgbClr val="000000"/>
                </a:solidFill>
                <a:cs typeface="Times New Roman" pitchFamily="18" charset="0"/>
              </a:rPr>
              <a:t>1</a:t>
            </a:r>
            <a:r>
              <a:rPr lang="en-US" sz="2100" dirty="0">
                <a:solidFill>
                  <a:srgbClr val="000000"/>
                </a:solidFill>
                <a:cs typeface="Times New Roman" pitchFamily="18" charset="0"/>
              </a:rPr>
              <a:t>} </a:t>
            </a:r>
            <a:r>
              <a:rPr lang="en-US" sz="2100" dirty="0">
                <a:cs typeface="Arial" pitchFamily="34" charset="0"/>
              </a:rPr>
              <a:t>υ</a:t>
            </a:r>
            <a:r>
              <a:rPr lang="en-US" sz="2100" dirty="0">
                <a:solidFill>
                  <a:srgbClr val="000000"/>
                </a:solidFill>
                <a:cs typeface="Times New Roman" pitchFamily="18" charset="0"/>
              </a:rPr>
              <a:t> {</a:t>
            </a:r>
            <a:r>
              <a:rPr lang="en-US" sz="2100" i="1" dirty="0">
                <a:solidFill>
                  <a:srgbClr val="000000"/>
                </a:solidFill>
                <a:cs typeface="Times New Roman" pitchFamily="18" charset="0"/>
              </a:rPr>
              <a:t>A</a:t>
            </a:r>
            <a:r>
              <a:rPr lang="en-US" sz="2100" baseline="-30000" dirty="0">
                <a:solidFill>
                  <a:srgbClr val="000000"/>
                </a:solidFill>
                <a:cs typeface="Times New Roman" pitchFamily="18" charset="0"/>
              </a:rPr>
              <a:t>2</a:t>
            </a:r>
            <a:r>
              <a:rPr lang="en-US" sz="2100" dirty="0">
                <a:solidFill>
                  <a:srgbClr val="000000"/>
                </a:solidFill>
                <a:cs typeface="Times New Roman" pitchFamily="18" charset="0"/>
              </a:rPr>
              <a:t>} ... </a:t>
            </a:r>
            <a:r>
              <a:rPr lang="en-US" sz="2100" dirty="0">
                <a:cs typeface="Arial" pitchFamily="34" charset="0"/>
              </a:rPr>
              <a:t>υ</a:t>
            </a:r>
            <a:r>
              <a:rPr lang="en-US" sz="2100" dirty="0">
                <a:solidFill>
                  <a:srgbClr val="000000"/>
                </a:solidFill>
                <a:cs typeface="Times New Roman" pitchFamily="18" charset="0"/>
              </a:rPr>
              <a:t> {</a:t>
            </a:r>
            <a:r>
              <a:rPr lang="en-US" sz="2100" i="1" dirty="0" err="1">
                <a:solidFill>
                  <a:srgbClr val="000000"/>
                </a:solidFill>
                <a:cs typeface="Times New Roman" pitchFamily="18" charset="0"/>
              </a:rPr>
              <a:t>A</a:t>
            </a:r>
            <a:r>
              <a:rPr lang="en-US" sz="2100" baseline="-30000" dirty="0" err="1">
                <a:solidFill>
                  <a:srgbClr val="000000"/>
                </a:solidFill>
                <a:cs typeface="Times New Roman" pitchFamily="18" charset="0"/>
              </a:rPr>
              <a:t>k</a:t>
            </a:r>
            <a:r>
              <a:rPr lang="en-US" sz="2100" dirty="0">
                <a:solidFill>
                  <a:srgbClr val="000000"/>
                </a:solidFill>
                <a:cs typeface="Times New Roman" pitchFamily="18" charset="0"/>
              </a:rPr>
              <a:t>}}, </a:t>
            </a:r>
            <a:endParaRPr lang="en-US" sz="2100" dirty="0" smtClean="0">
              <a:solidFill>
                <a:srgbClr val="000000"/>
              </a:solidFill>
              <a:cs typeface="Times New Roman" pitchFamily="18" charset="0"/>
            </a:endParaRPr>
          </a:p>
          <a:p>
            <a:pPr marL="1249680" lvl="2" indent="-609600" algn="just">
              <a:lnSpc>
                <a:spcPct val="90000"/>
              </a:lnSpc>
              <a:buNone/>
            </a:pPr>
            <a:r>
              <a:rPr lang="en-US" sz="1800" dirty="0" smtClean="0">
                <a:solidFill>
                  <a:srgbClr val="000000"/>
                </a:solidFill>
                <a:cs typeface="Times New Roman" pitchFamily="18" charset="0"/>
              </a:rPr>
              <a:t>	where </a:t>
            </a:r>
            <a:r>
              <a:rPr lang="en-US" sz="1800" i="1" dirty="0">
                <a:solidFill>
                  <a:srgbClr val="000000"/>
                </a:solidFill>
                <a:cs typeface="Times New Roman" pitchFamily="18" charset="0"/>
              </a:rPr>
              <a:t>X</a:t>
            </a:r>
            <a:r>
              <a:rPr lang="en-US" sz="1800" dirty="0">
                <a:solidFill>
                  <a:srgbClr val="000000"/>
                </a:solidFill>
                <a:cs typeface="Times New Roman" pitchFamily="18" charset="0"/>
              </a:rPr>
              <a:t> </a:t>
            </a:r>
            <a:r>
              <a:rPr lang="en-US" sz="1800" dirty="0">
                <a:solidFill>
                  <a:srgbClr val="000000"/>
                </a:solidFill>
                <a:cs typeface="Tahoma" pitchFamily="34" charset="0"/>
                <a:sym typeface="Wingdings 3" pitchFamily="18" charset="2"/>
              </a:rPr>
              <a:t></a:t>
            </a:r>
            <a:r>
              <a:rPr lang="en-US" sz="1800" dirty="0">
                <a:solidFill>
                  <a:srgbClr val="000000"/>
                </a:solidFill>
                <a:cs typeface="Times New Roman" pitchFamily="18" charset="0"/>
              </a:rPr>
              <a:t> </a:t>
            </a:r>
            <a:r>
              <a:rPr lang="en-US" sz="1800" i="1" dirty="0">
                <a:solidFill>
                  <a:srgbClr val="000000"/>
                </a:solidFill>
                <a:cs typeface="Times New Roman" pitchFamily="18" charset="0"/>
              </a:rPr>
              <a:t>A</a:t>
            </a:r>
            <a:r>
              <a:rPr lang="en-US" sz="1800" baseline="-30000" dirty="0">
                <a:solidFill>
                  <a:srgbClr val="000000"/>
                </a:solidFill>
                <a:cs typeface="Times New Roman" pitchFamily="18" charset="0"/>
              </a:rPr>
              <a:t>1</a:t>
            </a:r>
            <a:r>
              <a:rPr lang="en-US" sz="1800" dirty="0">
                <a:solidFill>
                  <a:srgbClr val="000000"/>
                </a:solidFill>
                <a:cs typeface="Times New Roman" pitchFamily="18" charset="0"/>
              </a:rPr>
              <a:t>, </a:t>
            </a:r>
            <a:r>
              <a:rPr lang="en-US" sz="1800" i="1" dirty="0">
                <a:solidFill>
                  <a:srgbClr val="000000"/>
                </a:solidFill>
                <a:cs typeface="Times New Roman" pitchFamily="18" charset="0"/>
              </a:rPr>
              <a:t>X</a:t>
            </a:r>
            <a:r>
              <a:rPr lang="en-US" sz="1800" dirty="0">
                <a:solidFill>
                  <a:srgbClr val="000000"/>
                </a:solidFill>
                <a:cs typeface="Times New Roman" pitchFamily="18" charset="0"/>
              </a:rPr>
              <a:t> </a:t>
            </a:r>
            <a:r>
              <a:rPr lang="en-US" sz="1800" dirty="0">
                <a:solidFill>
                  <a:srgbClr val="000000"/>
                </a:solidFill>
                <a:cs typeface="Tahoma" pitchFamily="34" charset="0"/>
                <a:sym typeface="Wingdings 3" pitchFamily="18" charset="2"/>
              </a:rPr>
              <a:t></a:t>
            </a:r>
            <a:r>
              <a:rPr lang="en-US" sz="1800" dirty="0">
                <a:solidFill>
                  <a:srgbClr val="000000"/>
                </a:solidFill>
                <a:cs typeface="Times New Roman" pitchFamily="18" charset="0"/>
              </a:rPr>
              <a:t> </a:t>
            </a:r>
            <a:r>
              <a:rPr lang="en-US" sz="1800" i="1" dirty="0">
                <a:solidFill>
                  <a:srgbClr val="000000"/>
                </a:solidFill>
                <a:cs typeface="Times New Roman" pitchFamily="18" charset="0"/>
              </a:rPr>
              <a:t>A</a:t>
            </a:r>
            <a:r>
              <a:rPr lang="en-US" sz="1800" baseline="-30000" dirty="0">
                <a:solidFill>
                  <a:srgbClr val="000000"/>
                </a:solidFill>
                <a:cs typeface="Times New Roman" pitchFamily="18" charset="0"/>
              </a:rPr>
              <a:t>2</a:t>
            </a:r>
            <a:r>
              <a:rPr lang="en-US" sz="1800" dirty="0">
                <a:solidFill>
                  <a:srgbClr val="000000"/>
                </a:solidFill>
                <a:cs typeface="Times New Roman" pitchFamily="18" charset="0"/>
              </a:rPr>
              <a:t>, ..., </a:t>
            </a:r>
            <a:r>
              <a:rPr lang="en-US" sz="1800" i="1" dirty="0">
                <a:solidFill>
                  <a:srgbClr val="000000"/>
                </a:solidFill>
                <a:cs typeface="Times New Roman" pitchFamily="18" charset="0"/>
              </a:rPr>
              <a:t>X</a:t>
            </a:r>
            <a:r>
              <a:rPr lang="en-US" sz="1800" dirty="0">
                <a:solidFill>
                  <a:srgbClr val="000000"/>
                </a:solidFill>
                <a:cs typeface="Times New Roman" pitchFamily="18" charset="0"/>
              </a:rPr>
              <a:t> </a:t>
            </a:r>
            <a:r>
              <a:rPr lang="en-US" sz="1800" dirty="0">
                <a:solidFill>
                  <a:srgbClr val="000000"/>
                </a:solidFill>
                <a:cs typeface="Tahoma" pitchFamily="34" charset="0"/>
                <a:sym typeface="Wingdings 3" pitchFamily="18" charset="2"/>
              </a:rPr>
              <a:t>–&gt;</a:t>
            </a:r>
            <a:r>
              <a:rPr lang="en-US" sz="1800" i="1" dirty="0" err="1">
                <a:solidFill>
                  <a:srgbClr val="000000"/>
                </a:solidFill>
                <a:cs typeface="Times New Roman" pitchFamily="18" charset="0"/>
              </a:rPr>
              <a:t>A</a:t>
            </a:r>
            <a:r>
              <a:rPr lang="en-US" sz="1800" baseline="-30000" dirty="0" err="1">
                <a:solidFill>
                  <a:srgbClr val="000000"/>
                </a:solidFill>
                <a:cs typeface="Times New Roman" pitchFamily="18" charset="0"/>
              </a:rPr>
              <a:t>k</a:t>
            </a:r>
            <a:r>
              <a:rPr lang="en-US" sz="1800" dirty="0">
                <a:solidFill>
                  <a:srgbClr val="000000"/>
                </a:solidFill>
                <a:cs typeface="Times New Roman" pitchFamily="18" charset="0"/>
              </a:rPr>
              <a:t> are the only </a:t>
            </a:r>
            <a:r>
              <a:rPr lang="en-US" sz="1800" dirty="0" smtClean="0">
                <a:solidFill>
                  <a:srgbClr val="000000"/>
                </a:solidFill>
                <a:cs typeface="Times New Roman" pitchFamily="18" charset="0"/>
              </a:rPr>
              <a:t>FD’s </a:t>
            </a:r>
            <a:r>
              <a:rPr lang="en-US" sz="1800" dirty="0">
                <a:solidFill>
                  <a:srgbClr val="000000"/>
                </a:solidFill>
                <a:cs typeface="Times New Roman" pitchFamily="18" charset="0"/>
              </a:rPr>
              <a:t>in </a:t>
            </a:r>
            <a:r>
              <a:rPr lang="en-US" sz="1800" i="1" dirty="0">
                <a:solidFill>
                  <a:srgbClr val="000000"/>
                </a:solidFill>
                <a:cs typeface="Times New Roman" pitchFamily="18" charset="0"/>
              </a:rPr>
              <a:t>G</a:t>
            </a:r>
            <a:r>
              <a:rPr lang="en-US" sz="1800" dirty="0">
                <a:solidFill>
                  <a:srgbClr val="000000"/>
                </a:solidFill>
                <a:cs typeface="Times New Roman" pitchFamily="18" charset="0"/>
              </a:rPr>
              <a:t> with </a:t>
            </a:r>
            <a:r>
              <a:rPr lang="en-US" sz="1800" i="1" dirty="0">
                <a:solidFill>
                  <a:srgbClr val="000000"/>
                </a:solidFill>
                <a:cs typeface="Times New Roman" pitchFamily="18" charset="0"/>
              </a:rPr>
              <a:t>X</a:t>
            </a:r>
            <a:r>
              <a:rPr lang="en-US" sz="1800" dirty="0">
                <a:solidFill>
                  <a:srgbClr val="000000"/>
                </a:solidFill>
                <a:cs typeface="Times New Roman" pitchFamily="18" charset="0"/>
              </a:rPr>
              <a:t> as </a:t>
            </a:r>
            <a:r>
              <a:rPr lang="en-US" sz="1800" dirty="0" smtClean="0">
                <a:solidFill>
                  <a:srgbClr val="000000"/>
                </a:solidFill>
                <a:cs typeface="Times New Roman" pitchFamily="18" charset="0"/>
              </a:rPr>
              <a:t>LHS </a:t>
            </a:r>
            <a:r>
              <a:rPr lang="en-US" sz="1800" dirty="0">
                <a:solidFill>
                  <a:srgbClr val="000000"/>
                </a:solidFill>
                <a:cs typeface="Times New Roman" pitchFamily="18" charset="0"/>
              </a:rPr>
              <a:t>(</a:t>
            </a:r>
            <a:r>
              <a:rPr lang="en-US" sz="1800" i="1" dirty="0">
                <a:solidFill>
                  <a:srgbClr val="000000"/>
                </a:solidFill>
                <a:cs typeface="Times New Roman" pitchFamily="18" charset="0"/>
              </a:rPr>
              <a:t>X</a:t>
            </a:r>
            <a:r>
              <a:rPr lang="en-US" sz="1800" dirty="0">
                <a:solidFill>
                  <a:srgbClr val="000000"/>
                </a:solidFill>
                <a:cs typeface="Times New Roman" pitchFamily="18" charset="0"/>
              </a:rPr>
              <a:t> is the </a:t>
            </a:r>
            <a:r>
              <a:rPr lang="en-US" sz="1800" i="1" dirty="0">
                <a:solidFill>
                  <a:srgbClr val="000000"/>
                </a:solidFill>
                <a:cs typeface="Times New Roman" pitchFamily="18" charset="0"/>
              </a:rPr>
              <a:t>key</a:t>
            </a:r>
            <a:r>
              <a:rPr lang="en-US" sz="1800" dirty="0">
                <a:solidFill>
                  <a:srgbClr val="000000"/>
                </a:solidFill>
                <a:cs typeface="Times New Roman" pitchFamily="18" charset="0"/>
              </a:rPr>
              <a:t> of this relation).</a:t>
            </a:r>
          </a:p>
          <a:p>
            <a:pPr marL="975360" lvl="1" indent="-609600" algn="just">
              <a:lnSpc>
                <a:spcPct val="90000"/>
              </a:lnSpc>
              <a:buFont typeface="Wingdings" pitchFamily="2" charset="2"/>
              <a:buAutoNum type="arabicPeriod"/>
            </a:pPr>
            <a:r>
              <a:rPr lang="en-US" sz="2100" dirty="0">
                <a:solidFill>
                  <a:srgbClr val="000000"/>
                </a:solidFill>
                <a:cs typeface="Times New Roman" pitchFamily="18" charset="0"/>
              </a:rPr>
              <a:t>If none of the relation </a:t>
            </a:r>
            <a:r>
              <a:rPr lang="en-US" sz="2100" dirty="0" smtClean="0">
                <a:solidFill>
                  <a:srgbClr val="000000"/>
                </a:solidFill>
                <a:cs typeface="Times New Roman" pitchFamily="18" charset="0"/>
              </a:rPr>
              <a:t>in </a:t>
            </a:r>
            <a:r>
              <a:rPr lang="en-US" sz="2100" i="1" dirty="0">
                <a:solidFill>
                  <a:srgbClr val="000000"/>
                </a:solidFill>
                <a:cs typeface="Times New Roman" pitchFamily="18" charset="0"/>
              </a:rPr>
              <a:t>D</a:t>
            </a:r>
            <a:r>
              <a:rPr lang="en-US" sz="2100" dirty="0">
                <a:solidFill>
                  <a:srgbClr val="000000"/>
                </a:solidFill>
                <a:cs typeface="Times New Roman" pitchFamily="18" charset="0"/>
              </a:rPr>
              <a:t> contains a key of </a:t>
            </a:r>
            <a:r>
              <a:rPr lang="en-US" sz="2100" i="1" dirty="0">
                <a:solidFill>
                  <a:srgbClr val="000000"/>
                </a:solidFill>
                <a:cs typeface="Times New Roman" pitchFamily="18" charset="0"/>
              </a:rPr>
              <a:t>R</a:t>
            </a:r>
            <a:r>
              <a:rPr lang="en-US" sz="2100" dirty="0">
                <a:solidFill>
                  <a:srgbClr val="000000"/>
                </a:solidFill>
                <a:cs typeface="Times New Roman" pitchFamily="18" charset="0"/>
              </a:rPr>
              <a:t>, then create one more relation </a:t>
            </a:r>
            <a:r>
              <a:rPr lang="en-US" sz="2100" dirty="0" smtClean="0">
                <a:solidFill>
                  <a:srgbClr val="000000"/>
                </a:solidFill>
                <a:cs typeface="Times New Roman" pitchFamily="18" charset="0"/>
              </a:rPr>
              <a:t>in </a:t>
            </a:r>
            <a:r>
              <a:rPr lang="en-US" sz="2100" i="1" dirty="0">
                <a:solidFill>
                  <a:srgbClr val="000000"/>
                </a:solidFill>
                <a:cs typeface="Times New Roman" pitchFamily="18" charset="0"/>
              </a:rPr>
              <a:t>D</a:t>
            </a:r>
            <a:r>
              <a:rPr lang="en-US" sz="2100" dirty="0">
                <a:solidFill>
                  <a:srgbClr val="000000"/>
                </a:solidFill>
                <a:cs typeface="Times New Roman" pitchFamily="18" charset="0"/>
              </a:rPr>
              <a:t> that contains </a:t>
            </a:r>
            <a:r>
              <a:rPr lang="en-US" sz="2100" dirty="0" smtClean="0">
                <a:solidFill>
                  <a:srgbClr val="000000"/>
                </a:solidFill>
                <a:cs typeface="Times New Roman" pitchFamily="18" charset="0"/>
              </a:rPr>
              <a:t>key </a:t>
            </a:r>
            <a:r>
              <a:rPr lang="en-US" sz="2100" dirty="0">
                <a:solidFill>
                  <a:srgbClr val="000000"/>
                </a:solidFill>
                <a:cs typeface="Times New Roman" pitchFamily="18" charset="0"/>
              </a:rPr>
              <a:t>of </a:t>
            </a:r>
            <a:r>
              <a:rPr lang="en-US" sz="2100" i="1" dirty="0">
                <a:solidFill>
                  <a:srgbClr val="000000"/>
                </a:solidFill>
                <a:cs typeface="Times New Roman" pitchFamily="18" charset="0"/>
              </a:rPr>
              <a:t>R</a:t>
            </a:r>
            <a:r>
              <a:rPr lang="en-US" sz="2100" dirty="0">
                <a:solidFill>
                  <a:srgbClr val="000000"/>
                </a:solidFill>
                <a:cs typeface="Times New Roman" pitchFamily="18" charset="0"/>
              </a:rPr>
              <a:t>. </a:t>
            </a:r>
            <a:endParaRPr lang="en-US" sz="2100" dirty="0" smtClean="0">
              <a:solidFill>
                <a:srgbClr val="000000"/>
              </a:solidFill>
              <a:cs typeface="Times New Roman" pitchFamily="18" charset="0"/>
            </a:endParaRPr>
          </a:p>
          <a:p>
            <a:pPr marL="975360" lvl="1" indent="-609600" algn="just">
              <a:lnSpc>
                <a:spcPct val="90000"/>
              </a:lnSpc>
              <a:buFont typeface="Wingdings" pitchFamily="2" charset="2"/>
              <a:buAutoNum type="arabicPeriod"/>
            </a:pPr>
            <a:r>
              <a:rPr lang="en-US" dirty="0" smtClean="0">
                <a:solidFill>
                  <a:srgbClr val="000000"/>
                </a:solidFill>
                <a:cs typeface="Times New Roman" pitchFamily="18" charset="0"/>
              </a:rPr>
              <a:t>Eliminate Redundant relations from D</a:t>
            </a:r>
            <a:endParaRPr lang="en-US" sz="2100" dirty="0" smtClean="0">
              <a:solidFill>
                <a:srgbClr val="000000"/>
              </a:solidFill>
              <a:cs typeface="Times New Roman" pitchFamily="18" charset="0"/>
            </a:endParaRPr>
          </a:p>
          <a:p>
            <a:pPr marL="609600" indent="-609600" algn="just">
              <a:lnSpc>
                <a:spcPct val="90000"/>
              </a:lnSpc>
              <a:buFont typeface="Wingdings" pitchFamily="2" charset="2"/>
              <a:buNone/>
            </a:pPr>
            <a:endParaRPr lang="en-US" sz="2400" dirty="0">
              <a:solidFill>
                <a:srgbClr val="000000"/>
              </a:solidFill>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smtClean="0"/>
              <a:t>Consider U(</a:t>
            </a:r>
            <a:r>
              <a:rPr lang="en-US" dirty="0" err="1" smtClean="0"/>
              <a:t>ssn,pno,sal,phone,dno,pname,ploc</a:t>
            </a:r>
            <a:r>
              <a:rPr lang="en-US" dirty="0" smtClean="0"/>
              <a:t>)</a:t>
            </a:r>
          </a:p>
          <a:p>
            <a:r>
              <a:rPr lang="en-US" dirty="0" smtClean="0"/>
              <a:t>Consider following FDs</a:t>
            </a:r>
          </a:p>
          <a:p>
            <a:pPr lvl="1"/>
            <a:r>
              <a:rPr lang="en-US" dirty="0" smtClean="0"/>
              <a:t>FD1: </a:t>
            </a:r>
            <a:r>
              <a:rPr lang="en-US" dirty="0" err="1" smtClean="0"/>
              <a:t>ssn</a:t>
            </a:r>
            <a:r>
              <a:rPr lang="en-US" dirty="0" smtClean="0"/>
              <a:t> -&gt;</a:t>
            </a:r>
            <a:r>
              <a:rPr lang="en-US" dirty="0" err="1" smtClean="0"/>
              <a:t>sal,phone,dno</a:t>
            </a:r>
            <a:endParaRPr lang="en-US" dirty="0" smtClean="0"/>
          </a:p>
          <a:p>
            <a:pPr lvl="1"/>
            <a:r>
              <a:rPr lang="en-US" dirty="0" smtClean="0"/>
              <a:t>FD2: </a:t>
            </a:r>
            <a:r>
              <a:rPr lang="en-US" dirty="0" err="1" smtClean="0"/>
              <a:t>pno</a:t>
            </a:r>
            <a:r>
              <a:rPr lang="en-US" dirty="0" smtClean="0"/>
              <a:t>-&gt; </a:t>
            </a:r>
            <a:r>
              <a:rPr lang="en-US" dirty="0" err="1" smtClean="0"/>
              <a:t>pname,ploc</a:t>
            </a:r>
            <a:endParaRPr lang="en-US" dirty="0" smtClean="0"/>
          </a:p>
          <a:p>
            <a:pPr lvl="1"/>
            <a:r>
              <a:rPr lang="en-US" dirty="0" smtClean="0"/>
              <a:t>FD3: {</a:t>
            </a:r>
            <a:r>
              <a:rPr lang="en-US" dirty="0" err="1" smtClean="0"/>
              <a:t>ssn,pno</a:t>
            </a:r>
            <a:r>
              <a:rPr lang="en-US" dirty="0" smtClean="0"/>
              <a:t> }-&gt;</a:t>
            </a:r>
            <a:r>
              <a:rPr lang="en-US" dirty="0" err="1" smtClean="0"/>
              <a:t>sal,ephone,dno,pname,ploc</a:t>
            </a:r>
            <a:endParaRPr lang="en-US" dirty="0" smtClean="0"/>
          </a:p>
          <a:p>
            <a:r>
              <a:rPr lang="en-US" dirty="0" smtClean="0"/>
              <a:t>Key: {</a:t>
            </a:r>
            <a:r>
              <a:rPr lang="en-US" dirty="0" err="1" smtClean="0"/>
              <a:t>ssn,pno</a:t>
            </a:r>
            <a:r>
              <a:rPr lang="en-US" dirty="0" smtClean="0"/>
              <a:t>}</a:t>
            </a:r>
          </a:p>
          <a:p>
            <a:r>
              <a:rPr lang="en-US" dirty="0" smtClean="0"/>
              <a:t>Step1: minimal cover</a:t>
            </a:r>
          </a:p>
          <a:p>
            <a:pPr lvl="1"/>
            <a:r>
              <a:rPr lang="en-US" dirty="0" smtClean="0"/>
              <a:t>G: {</a:t>
            </a:r>
            <a:r>
              <a:rPr lang="en-US" dirty="0" err="1" smtClean="0"/>
              <a:t>ssn</a:t>
            </a:r>
            <a:r>
              <a:rPr lang="en-US" dirty="0" smtClean="0"/>
              <a:t>-&gt;</a:t>
            </a:r>
            <a:r>
              <a:rPr lang="en-US" dirty="0" err="1" smtClean="0"/>
              <a:t>sal,phone,dno</a:t>
            </a:r>
            <a:r>
              <a:rPr lang="en-US" dirty="0" smtClean="0"/>
              <a:t>; </a:t>
            </a:r>
            <a:r>
              <a:rPr lang="en-US" dirty="0" err="1" smtClean="0"/>
              <a:t>pno</a:t>
            </a:r>
            <a:r>
              <a:rPr lang="en-US" dirty="0" smtClean="0"/>
              <a:t>-&gt;</a:t>
            </a:r>
            <a:r>
              <a:rPr lang="en-US" dirty="0" err="1" smtClean="0"/>
              <a:t>pname,ploc</a:t>
            </a:r>
            <a:r>
              <a:rPr lang="en-US" dirty="0" smtClean="0"/>
              <a:t>}</a:t>
            </a:r>
          </a:p>
          <a:p>
            <a:r>
              <a:rPr lang="en-US" dirty="0" smtClean="0"/>
              <a:t>Step2: </a:t>
            </a:r>
          </a:p>
          <a:p>
            <a:pPr lvl="1"/>
            <a:r>
              <a:rPr lang="en-US" dirty="0" smtClean="0"/>
              <a:t>R1(</a:t>
            </a:r>
            <a:r>
              <a:rPr lang="en-US" dirty="0" err="1" smtClean="0"/>
              <a:t>ssn,sal,phone,dno</a:t>
            </a:r>
            <a:r>
              <a:rPr lang="en-US" dirty="0" smtClean="0"/>
              <a:t>)</a:t>
            </a:r>
          </a:p>
          <a:p>
            <a:pPr lvl="1"/>
            <a:r>
              <a:rPr lang="en-US" dirty="0" smtClean="0"/>
              <a:t>R2(</a:t>
            </a:r>
            <a:r>
              <a:rPr lang="en-US" dirty="0" err="1" smtClean="0"/>
              <a:t>pno,pname,ploc</a:t>
            </a:r>
            <a:r>
              <a:rPr lang="en-US" dirty="0" smtClean="0"/>
              <a:t>)</a:t>
            </a:r>
          </a:p>
          <a:p>
            <a:r>
              <a:rPr lang="en-US" b="1" dirty="0" smtClean="0"/>
              <a:t>Step3: </a:t>
            </a:r>
          </a:p>
          <a:p>
            <a:pPr lvl="1"/>
            <a:r>
              <a:rPr lang="en-US" b="1" dirty="0" smtClean="0"/>
              <a:t>R3(</a:t>
            </a:r>
            <a:r>
              <a:rPr lang="en-US" b="1" dirty="0" err="1" smtClean="0"/>
              <a:t>ssn,pno</a:t>
            </a:r>
            <a:r>
              <a:rPr lang="en-US" b="1"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animEffect transition="in" filter="box(in)">
                                      <p:cBhvr>
                                        <p:cTn id="7" dur="500"/>
                                        <p:tgtEl>
                                          <p:spTgt spid="3">
                                            <p:txEl>
                                              <p:pRg st="11" end="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12" end="12"/>
                                            </p:txEl>
                                          </p:spTgt>
                                        </p:tgtEl>
                                        <p:attrNameLst>
                                          <p:attrName>style.visibility</p:attrName>
                                        </p:attrNameLst>
                                      </p:cBhvr>
                                      <p:to>
                                        <p:strVal val="visible"/>
                                      </p:to>
                                    </p:set>
                                    <p:animEffect transition="in" filter="box(in)">
                                      <p:cBhvr>
                                        <p:cTn id="1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property </a:t>
            </a:r>
            <a:r>
              <a:rPr lang="en-US" dirty="0" err="1" smtClean="0"/>
              <a:t>LoT</a:t>
            </a:r>
            <a:endParaRPr lang="en-US" dirty="0"/>
          </a:p>
        </p:txBody>
      </p:sp>
      <p:sp>
        <p:nvSpPr>
          <p:cNvPr id="3" name="Content Placeholder 2"/>
          <p:cNvSpPr>
            <a:spLocks noGrp="1"/>
          </p:cNvSpPr>
          <p:nvPr>
            <p:ph sz="quarter" idx="1"/>
          </p:nvPr>
        </p:nvSpPr>
        <p:spPr>
          <a:xfrm>
            <a:off x="457200" y="3029803"/>
            <a:ext cx="7467600" cy="3174787"/>
          </a:xfrm>
        </p:spPr>
        <p:txBody>
          <a:bodyPr>
            <a:normAutofit fontScale="92500"/>
          </a:bodyPr>
          <a:lstStyle/>
          <a:p>
            <a:r>
              <a:rPr lang="en-US" dirty="0" smtClean="0"/>
              <a:t>Consider LOTS1A is a Universal Relation with FD’s</a:t>
            </a:r>
          </a:p>
          <a:p>
            <a:pPr lvl="1"/>
            <a:r>
              <a:rPr lang="en-US" dirty="0" smtClean="0"/>
              <a:t> F:  {P-&gt;LCA, LC-&gt;AP, A-&gt;C}</a:t>
            </a:r>
          </a:p>
          <a:p>
            <a:r>
              <a:rPr lang="en-US" dirty="0" smtClean="0"/>
              <a:t>Step1: Minimal cover</a:t>
            </a:r>
          </a:p>
          <a:p>
            <a:pPr lvl="1"/>
            <a:r>
              <a:rPr lang="en-US" dirty="0" smtClean="0"/>
              <a:t>GX:{P-&gt;LC, LC-&gt;AP,A-&gt;C}</a:t>
            </a:r>
          </a:p>
          <a:p>
            <a:r>
              <a:rPr lang="en-US" dirty="0" smtClean="0"/>
              <a:t>Step2: </a:t>
            </a:r>
          </a:p>
          <a:p>
            <a:pPr lvl="1"/>
            <a:r>
              <a:rPr lang="en-US" dirty="0" smtClean="0"/>
              <a:t>Design X: R1(</a:t>
            </a:r>
            <a:r>
              <a:rPr lang="en-US" u="sng" dirty="0" smtClean="0"/>
              <a:t>P</a:t>
            </a:r>
            <a:r>
              <a:rPr lang="en-US" dirty="0" smtClean="0"/>
              <a:t>,L,C), R2(</a:t>
            </a:r>
            <a:r>
              <a:rPr lang="en-US" u="sng" dirty="0" smtClean="0"/>
              <a:t>L,C</a:t>
            </a:r>
            <a:r>
              <a:rPr lang="en-US" dirty="0" smtClean="0"/>
              <a:t>,A,P), R3(</a:t>
            </a:r>
            <a:r>
              <a:rPr lang="en-US" u="sng" dirty="0" smtClean="0"/>
              <a:t>A,</a:t>
            </a:r>
            <a:r>
              <a:rPr lang="en-US" dirty="0" smtClean="0"/>
              <a:t>C)</a:t>
            </a:r>
          </a:p>
          <a:p>
            <a:r>
              <a:rPr lang="en-US" dirty="0" smtClean="0"/>
              <a:t>Step4: Remove redundant relations</a:t>
            </a:r>
          </a:p>
          <a:p>
            <a:pPr lvl="1"/>
            <a:r>
              <a:rPr lang="en-US" dirty="0" smtClean="0"/>
              <a:t>Design X: R2(</a:t>
            </a:r>
            <a:r>
              <a:rPr lang="en-US" u="sng" dirty="0" smtClean="0"/>
              <a:t>L,C</a:t>
            </a:r>
            <a:r>
              <a:rPr lang="en-US" dirty="0" smtClean="0"/>
              <a:t>,A,P)</a:t>
            </a:r>
          </a:p>
          <a:p>
            <a:endParaRPr lang="en-US" dirty="0"/>
          </a:p>
        </p:txBody>
      </p:sp>
      <p:pic>
        <p:nvPicPr>
          <p:cNvPr id="5" name="Picture 2" descr="fig10_12"/>
          <p:cNvPicPr>
            <a:picLocks noChangeAspect="1" noChangeArrowheads="1"/>
          </p:cNvPicPr>
          <p:nvPr/>
        </p:nvPicPr>
        <p:blipFill>
          <a:blip r:embed="rId3" cstate="print"/>
          <a:srcRect l="5224" b="69066"/>
          <a:stretch>
            <a:fillRect/>
          </a:stretch>
        </p:blipFill>
        <p:spPr bwMode="auto">
          <a:xfrm>
            <a:off x="1105469" y="1417638"/>
            <a:ext cx="7366379" cy="1396621"/>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ox(i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ox(i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ox(in)">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ox(in)">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ox(in)">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a:xfrm>
            <a:off x="254000" y="215900"/>
            <a:ext cx="8890000" cy="1143000"/>
          </a:xfrm>
        </p:spPr>
        <p:txBody>
          <a:bodyPr>
            <a:normAutofit fontScale="90000"/>
          </a:bodyPr>
          <a:lstStyle/>
          <a:p>
            <a:r>
              <a:rPr lang="en-US" sz="3200" b="1" dirty="0" smtClean="0">
                <a:solidFill>
                  <a:srgbClr val="000000"/>
                </a:solidFill>
                <a:cs typeface="Courier New" pitchFamily="49" charset="0"/>
              </a:rPr>
              <a:t>Algorithm : For </a:t>
            </a:r>
            <a:r>
              <a:rPr lang="en-US" sz="3200" b="1" dirty="0" smtClean="0">
                <a:solidFill>
                  <a:srgbClr val="000000"/>
                </a:solidFill>
                <a:cs typeface="Times New Roman" pitchFamily="18" charset="0"/>
              </a:rPr>
              <a:t>Relational Decomposition into BCNF with Lossless join property</a:t>
            </a:r>
            <a:endParaRPr lang="en-US" sz="3200" dirty="0">
              <a:cs typeface="Times New Roman" pitchFamily="18" charset="0"/>
            </a:endParaRPr>
          </a:p>
        </p:txBody>
      </p:sp>
      <p:sp>
        <p:nvSpPr>
          <p:cNvPr id="308227" name="Rectangle 3"/>
          <p:cNvSpPr>
            <a:spLocks noGrp="1" noChangeArrowheads="1"/>
          </p:cNvSpPr>
          <p:nvPr>
            <p:ph sz="quarter" idx="1"/>
          </p:nvPr>
        </p:nvSpPr>
        <p:spPr>
          <a:xfrm>
            <a:off x="253999" y="1358900"/>
            <a:ext cx="8234907" cy="5181600"/>
          </a:xfrm>
        </p:spPr>
        <p:txBody>
          <a:bodyPr>
            <a:normAutofit fontScale="92500" lnSpcReduction="10000"/>
          </a:bodyPr>
          <a:lstStyle/>
          <a:p>
            <a:pPr marL="609600" indent="-609600" algn="just">
              <a:buFont typeface="Wingdings" pitchFamily="2" charset="2"/>
              <a:buNone/>
            </a:pPr>
            <a:endParaRPr lang="en-US" sz="2400" b="1" dirty="0" smtClean="0">
              <a:solidFill>
                <a:srgbClr val="000000"/>
              </a:solidFill>
              <a:cs typeface="Times New Roman" pitchFamily="18" charset="0"/>
            </a:endParaRPr>
          </a:p>
          <a:p>
            <a:pPr marL="609600" indent="-609600" algn="just">
              <a:buFont typeface="Wingdings" pitchFamily="2" charset="2"/>
              <a:buNone/>
            </a:pPr>
            <a:r>
              <a:rPr lang="en-US" sz="2400" b="1" dirty="0" smtClean="0">
                <a:solidFill>
                  <a:srgbClr val="000000"/>
                </a:solidFill>
                <a:cs typeface="Times New Roman" pitchFamily="18" charset="0"/>
              </a:rPr>
              <a:t>Input</a:t>
            </a:r>
            <a:r>
              <a:rPr lang="en-US" sz="2400" b="1" dirty="0">
                <a:solidFill>
                  <a:srgbClr val="000000"/>
                </a:solidFill>
                <a:cs typeface="Times New Roman" pitchFamily="18" charset="0"/>
              </a:rPr>
              <a:t>: </a:t>
            </a:r>
            <a:r>
              <a:rPr lang="en-US" sz="2400" dirty="0">
                <a:solidFill>
                  <a:srgbClr val="000000"/>
                </a:solidFill>
                <a:cs typeface="Times New Roman" pitchFamily="18" charset="0"/>
              </a:rPr>
              <a:t>A universal relation </a:t>
            </a:r>
            <a:r>
              <a:rPr lang="en-US" sz="2400" i="1" dirty="0">
                <a:solidFill>
                  <a:srgbClr val="000000"/>
                </a:solidFill>
                <a:cs typeface="Times New Roman" pitchFamily="18" charset="0"/>
              </a:rPr>
              <a:t>R</a:t>
            </a:r>
            <a:r>
              <a:rPr lang="en-US" sz="2400" dirty="0">
                <a:solidFill>
                  <a:srgbClr val="000000"/>
                </a:solidFill>
                <a:cs typeface="Times New Roman" pitchFamily="18" charset="0"/>
              </a:rPr>
              <a:t> and a set of functional dependencies </a:t>
            </a:r>
            <a:r>
              <a:rPr lang="en-US" sz="2400" i="1" dirty="0">
                <a:solidFill>
                  <a:srgbClr val="000000"/>
                </a:solidFill>
                <a:cs typeface="Times New Roman" pitchFamily="18" charset="0"/>
              </a:rPr>
              <a:t>F</a:t>
            </a:r>
            <a:r>
              <a:rPr lang="en-US" sz="2400" dirty="0">
                <a:solidFill>
                  <a:srgbClr val="000000"/>
                </a:solidFill>
                <a:cs typeface="Times New Roman" pitchFamily="18" charset="0"/>
              </a:rPr>
              <a:t> on the attributes of </a:t>
            </a:r>
            <a:r>
              <a:rPr lang="en-US" sz="2400" i="1" dirty="0">
                <a:solidFill>
                  <a:srgbClr val="000000"/>
                </a:solidFill>
                <a:cs typeface="Times New Roman" pitchFamily="18" charset="0"/>
              </a:rPr>
              <a:t>R</a:t>
            </a:r>
            <a:r>
              <a:rPr lang="en-US" sz="2400" dirty="0">
                <a:solidFill>
                  <a:srgbClr val="000000"/>
                </a:solidFill>
                <a:cs typeface="Times New Roman" pitchFamily="18" charset="0"/>
              </a:rPr>
              <a:t>.</a:t>
            </a:r>
          </a:p>
          <a:p>
            <a:pPr marL="609600" indent="-609600" algn="just">
              <a:buFont typeface="Wingdings" pitchFamily="2" charset="2"/>
              <a:buAutoNum type="arabicPeriod"/>
            </a:pPr>
            <a:endParaRPr lang="en-US" sz="2400" dirty="0" smtClean="0">
              <a:solidFill>
                <a:srgbClr val="000000"/>
              </a:solidFill>
              <a:cs typeface="Times New Roman" pitchFamily="18" charset="0"/>
            </a:endParaRPr>
          </a:p>
          <a:p>
            <a:pPr marL="609600" indent="-609600" algn="just">
              <a:buFont typeface="Wingdings" pitchFamily="2" charset="2"/>
              <a:buAutoNum type="arabicPeriod"/>
            </a:pPr>
            <a:r>
              <a:rPr lang="en-US" sz="2400" dirty="0" smtClean="0">
                <a:solidFill>
                  <a:srgbClr val="000000"/>
                </a:solidFill>
                <a:cs typeface="Times New Roman" pitchFamily="18" charset="0"/>
              </a:rPr>
              <a:t>Set </a:t>
            </a:r>
            <a:r>
              <a:rPr lang="en-US" sz="2400" dirty="0">
                <a:solidFill>
                  <a:srgbClr val="000000"/>
                </a:solidFill>
                <a:cs typeface="Times New Roman" pitchFamily="18" charset="0"/>
              </a:rPr>
              <a:t>D := {R};</a:t>
            </a:r>
          </a:p>
          <a:p>
            <a:pPr marL="609600" indent="-609600" algn="just">
              <a:buFont typeface="Wingdings" pitchFamily="2" charset="2"/>
              <a:buAutoNum type="arabicPeriod"/>
            </a:pPr>
            <a:r>
              <a:rPr lang="en-US" sz="2400" dirty="0">
                <a:solidFill>
                  <a:srgbClr val="000000"/>
                </a:solidFill>
                <a:cs typeface="Times New Roman" pitchFamily="18" charset="0"/>
              </a:rPr>
              <a:t>While there is a relation schema </a:t>
            </a:r>
            <a:r>
              <a:rPr lang="en-US" sz="2400" i="1" dirty="0">
                <a:solidFill>
                  <a:srgbClr val="000000"/>
                </a:solidFill>
                <a:cs typeface="Times New Roman" pitchFamily="18" charset="0"/>
              </a:rPr>
              <a:t>Q</a:t>
            </a:r>
            <a:r>
              <a:rPr lang="en-US" sz="2400" dirty="0">
                <a:solidFill>
                  <a:srgbClr val="000000"/>
                </a:solidFill>
                <a:cs typeface="Times New Roman" pitchFamily="18" charset="0"/>
              </a:rPr>
              <a:t> in </a:t>
            </a:r>
            <a:r>
              <a:rPr lang="en-US" sz="2400" i="1" dirty="0">
                <a:solidFill>
                  <a:srgbClr val="000000"/>
                </a:solidFill>
                <a:cs typeface="Times New Roman" pitchFamily="18" charset="0"/>
              </a:rPr>
              <a:t>D</a:t>
            </a:r>
            <a:r>
              <a:rPr lang="en-US" sz="2400" dirty="0">
                <a:solidFill>
                  <a:srgbClr val="000000"/>
                </a:solidFill>
                <a:cs typeface="Times New Roman" pitchFamily="18" charset="0"/>
              </a:rPr>
              <a:t> that is not in BCNF </a:t>
            </a:r>
          </a:p>
          <a:p>
            <a:pPr marL="609600" indent="-609600" algn="just">
              <a:buFont typeface="Wingdings" pitchFamily="2" charset="2"/>
              <a:buNone/>
            </a:pPr>
            <a:r>
              <a:rPr lang="en-US" sz="2400" dirty="0">
                <a:solidFill>
                  <a:srgbClr val="000000"/>
                </a:solidFill>
                <a:cs typeface="Times New Roman" pitchFamily="18" charset="0"/>
              </a:rPr>
              <a:t>	do {</a:t>
            </a:r>
          </a:p>
          <a:p>
            <a:pPr marL="609600" indent="-609600" algn="just">
              <a:buFont typeface="Wingdings" pitchFamily="2" charset="2"/>
              <a:buNone/>
            </a:pPr>
            <a:r>
              <a:rPr lang="en-US" sz="2400" dirty="0">
                <a:solidFill>
                  <a:srgbClr val="000000"/>
                </a:solidFill>
                <a:cs typeface="Times New Roman" pitchFamily="18" charset="0"/>
              </a:rPr>
              <a:t>		choose a </a:t>
            </a:r>
            <a:r>
              <a:rPr lang="en-US" sz="2400" i="1" dirty="0" smtClean="0">
                <a:solidFill>
                  <a:srgbClr val="000000"/>
                </a:solidFill>
                <a:cs typeface="Times New Roman" pitchFamily="18" charset="0"/>
              </a:rPr>
              <a:t>Q</a:t>
            </a:r>
            <a:r>
              <a:rPr lang="en-US" sz="2400" dirty="0" smtClean="0">
                <a:solidFill>
                  <a:srgbClr val="000000"/>
                </a:solidFill>
                <a:cs typeface="Times New Roman" pitchFamily="18" charset="0"/>
              </a:rPr>
              <a:t> </a:t>
            </a:r>
            <a:r>
              <a:rPr lang="en-US" sz="2400" dirty="0">
                <a:solidFill>
                  <a:srgbClr val="000000"/>
                </a:solidFill>
                <a:cs typeface="Times New Roman" pitchFamily="18" charset="0"/>
              </a:rPr>
              <a:t>in </a:t>
            </a:r>
            <a:r>
              <a:rPr lang="en-US" sz="2400" i="1" dirty="0">
                <a:solidFill>
                  <a:srgbClr val="000000"/>
                </a:solidFill>
                <a:cs typeface="Times New Roman" pitchFamily="18" charset="0"/>
              </a:rPr>
              <a:t>D</a:t>
            </a:r>
            <a:r>
              <a:rPr lang="en-US" sz="2400" dirty="0">
                <a:solidFill>
                  <a:srgbClr val="000000"/>
                </a:solidFill>
                <a:cs typeface="Times New Roman" pitchFamily="18" charset="0"/>
              </a:rPr>
              <a:t> that is not in BCNF;</a:t>
            </a:r>
          </a:p>
          <a:p>
            <a:pPr marL="609600" indent="-609600" algn="just">
              <a:buFont typeface="Wingdings" pitchFamily="2" charset="2"/>
              <a:buNone/>
            </a:pPr>
            <a:r>
              <a:rPr lang="en-US" sz="2400" dirty="0">
                <a:solidFill>
                  <a:srgbClr val="000000"/>
                </a:solidFill>
                <a:cs typeface="Times New Roman" pitchFamily="18" charset="0"/>
              </a:rPr>
              <a:t>            find a </a:t>
            </a:r>
            <a:r>
              <a:rPr lang="en-US" sz="2400" dirty="0" smtClean="0">
                <a:solidFill>
                  <a:srgbClr val="000000"/>
                </a:solidFill>
                <a:cs typeface="Times New Roman" pitchFamily="18" charset="0"/>
              </a:rPr>
              <a:t>FD </a:t>
            </a:r>
            <a:r>
              <a:rPr lang="en-US" sz="2400" i="1" dirty="0" smtClean="0">
                <a:solidFill>
                  <a:srgbClr val="000000"/>
                </a:solidFill>
                <a:cs typeface="Times New Roman" pitchFamily="18" charset="0"/>
              </a:rPr>
              <a:t>X</a:t>
            </a:r>
            <a:r>
              <a:rPr lang="en-US" sz="2400" dirty="0" smtClean="0">
                <a:solidFill>
                  <a:srgbClr val="000000"/>
                </a:solidFill>
                <a:cs typeface="Times New Roman" pitchFamily="18" charset="0"/>
              </a:rPr>
              <a:t> </a:t>
            </a:r>
            <a:r>
              <a:rPr lang="en-US" sz="2400" dirty="0">
                <a:solidFill>
                  <a:srgbClr val="000000"/>
                </a:solidFill>
                <a:cs typeface="Tahoma" pitchFamily="34" charset="0"/>
                <a:sym typeface="Wingdings 3" pitchFamily="18" charset="2"/>
              </a:rPr>
              <a:t></a:t>
            </a:r>
            <a:r>
              <a:rPr lang="en-US" sz="2400" dirty="0">
                <a:solidFill>
                  <a:srgbClr val="000000"/>
                </a:solidFill>
                <a:cs typeface="Times New Roman" pitchFamily="18" charset="0"/>
              </a:rPr>
              <a:t> </a:t>
            </a:r>
            <a:r>
              <a:rPr lang="en-US" sz="2400" i="1" dirty="0">
                <a:solidFill>
                  <a:srgbClr val="000000"/>
                </a:solidFill>
                <a:cs typeface="Times New Roman" pitchFamily="18" charset="0"/>
              </a:rPr>
              <a:t>Y</a:t>
            </a:r>
            <a:r>
              <a:rPr lang="en-US" sz="2400" dirty="0">
                <a:solidFill>
                  <a:srgbClr val="000000"/>
                </a:solidFill>
                <a:cs typeface="Times New Roman" pitchFamily="18" charset="0"/>
              </a:rPr>
              <a:t> in </a:t>
            </a:r>
            <a:r>
              <a:rPr lang="en-US" sz="2400" i="1" dirty="0">
                <a:solidFill>
                  <a:srgbClr val="000000"/>
                </a:solidFill>
                <a:cs typeface="Times New Roman" pitchFamily="18" charset="0"/>
              </a:rPr>
              <a:t>Q</a:t>
            </a:r>
            <a:r>
              <a:rPr lang="en-US" sz="2400" dirty="0">
                <a:solidFill>
                  <a:srgbClr val="000000"/>
                </a:solidFill>
                <a:cs typeface="Times New Roman" pitchFamily="18" charset="0"/>
              </a:rPr>
              <a:t> that violates BCNF;</a:t>
            </a:r>
          </a:p>
          <a:p>
            <a:pPr marL="609600" indent="-609600" algn="just">
              <a:buFont typeface="Wingdings" pitchFamily="2" charset="2"/>
              <a:buNone/>
            </a:pPr>
            <a:r>
              <a:rPr lang="en-US" sz="2400" dirty="0">
                <a:solidFill>
                  <a:srgbClr val="000000"/>
                </a:solidFill>
                <a:cs typeface="Times New Roman" pitchFamily="18" charset="0"/>
              </a:rPr>
              <a:t>           </a:t>
            </a:r>
            <a:r>
              <a:rPr lang="en-US" sz="2400" dirty="0" smtClean="0">
                <a:solidFill>
                  <a:srgbClr val="000000"/>
                </a:solidFill>
                <a:cs typeface="Times New Roman" pitchFamily="18" charset="0"/>
              </a:rPr>
              <a:t>replace </a:t>
            </a:r>
            <a:r>
              <a:rPr lang="en-US" sz="2400" i="1" dirty="0">
                <a:solidFill>
                  <a:srgbClr val="000000"/>
                </a:solidFill>
                <a:cs typeface="Times New Roman" pitchFamily="18" charset="0"/>
              </a:rPr>
              <a:t>Q</a:t>
            </a:r>
            <a:r>
              <a:rPr lang="en-US" sz="2400" dirty="0">
                <a:solidFill>
                  <a:srgbClr val="000000"/>
                </a:solidFill>
                <a:cs typeface="Times New Roman" pitchFamily="18" charset="0"/>
              </a:rPr>
              <a:t> in </a:t>
            </a:r>
            <a:r>
              <a:rPr lang="en-US" sz="2400" i="1" dirty="0">
                <a:solidFill>
                  <a:srgbClr val="000000"/>
                </a:solidFill>
                <a:cs typeface="Times New Roman" pitchFamily="18" charset="0"/>
              </a:rPr>
              <a:t>D</a:t>
            </a:r>
            <a:r>
              <a:rPr lang="en-US" sz="2400" dirty="0">
                <a:solidFill>
                  <a:srgbClr val="000000"/>
                </a:solidFill>
                <a:cs typeface="Times New Roman" pitchFamily="18" charset="0"/>
              </a:rPr>
              <a:t> by two </a:t>
            </a:r>
            <a:r>
              <a:rPr lang="en-US" sz="2400" dirty="0" smtClean="0">
                <a:solidFill>
                  <a:srgbClr val="000000"/>
                </a:solidFill>
                <a:cs typeface="Times New Roman" pitchFamily="18" charset="0"/>
              </a:rPr>
              <a:t>relations (</a:t>
            </a:r>
            <a:r>
              <a:rPr lang="en-US" sz="2400" i="1" dirty="0">
                <a:solidFill>
                  <a:srgbClr val="000000"/>
                </a:solidFill>
                <a:cs typeface="Times New Roman" pitchFamily="18" charset="0"/>
              </a:rPr>
              <a:t>Q</a:t>
            </a:r>
            <a:r>
              <a:rPr lang="en-US" sz="2400" dirty="0">
                <a:solidFill>
                  <a:srgbClr val="000000"/>
                </a:solidFill>
                <a:cs typeface="Times New Roman" pitchFamily="18" charset="0"/>
              </a:rPr>
              <a:t> - </a:t>
            </a:r>
            <a:r>
              <a:rPr lang="en-US" sz="2400" i="1" dirty="0">
                <a:solidFill>
                  <a:srgbClr val="000000"/>
                </a:solidFill>
                <a:cs typeface="Times New Roman" pitchFamily="18" charset="0"/>
              </a:rPr>
              <a:t>Y</a:t>
            </a:r>
            <a:r>
              <a:rPr lang="en-US" sz="2400" dirty="0">
                <a:solidFill>
                  <a:srgbClr val="000000"/>
                </a:solidFill>
                <a:cs typeface="Times New Roman" pitchFamily="18" charset="0"/>
              </a:rPr>
              <a:t>) and (</a:t>
            </a:r>
            <a:r>
              <a:rPr lang="en-US" sz="2400" i="1" dirty="0">
                <a:solidFill>
                  <a:srgbClr val="000000"/>
                </a:solidFill>
                <a:cs typeface="Times New Roman" pitchFamily="18" charset="0"/>
              </a:rPr>
              <a:t>X</a:t>
            </a:r>
            <a:r>
              <a:rPr lang="en-US" sz="2400" dirty="0">
                <a:solidFill>
                  <a:srgbClr val="000000"/>
                </a:solidFill>
                <a:cs typeface="Times New Roman" pitchFamily="18" charset="0"/>
              </a:rPr>
              <a:t> </a:t>
            </a:r>
            <a:r>
              <a:rPr lang="en-US" sz="2400" dirty="0">
                <a:cs typeface="Arial" pitchFamily="34" charset="0"/>
              </a:rPr>
              <a:t>υ</a:t>
            </a:r>
            <a:r>
              <a:rPr lang="en-US" sz="2400" dirty="0">
                <a:solidFill>
                  <a:srgbClr val="000000"/>
                </a:solidFill>
                <a:cs typeface="Times New Roman" pitchFamily="18" charset="0"/>
              </a:rPr>
              <a:t> </a:t>
            </a:r>
            <a:r>
              <a:rPr lang="en-US" sz="2400" i="1" dirty="0">
                <a:solidFill>
                  <a:srgbClr val="000000"/>
                </a:solidFill>
                <a:cs typeface="Times New Roman" pitchFamily="18" charset="0"/>
              </a:rPr>
              <a:t>Y</a:t>
            </a:r>
            <a:r>
              <a:rPr lang="en-US" sz="2400" dirty="0">
                <a:solidFill>
                  <a:srgbClr val="000000"/>
                </a:solidFill>
                <a:cs typeface="Times New Roman" pitchFamily="18" charset="0"/>
              </a:rPr>
              <a:t>);</a:t>
            </a:r>
          </a:p>
          <a:p>
            <a:pPr marL="609600" indent="-609600">
              <a:buFont typeface="Wingdings" pitchFamily="2" charset="2"/>
              <a:buNone/>
            </a:pPr>
            <a:r>
              <a:rPr lang="en-US" sz="2400" dirty="0">
                <a:cs typeface="Times New Roman" pitchFamily="18" charset="0"/>
              </a:rPr>
              <a:t>	}; </a:t>
            </a:r>
          </a:p>
          <a:p>
            <a:pPr marL="609600" indent="-609600">
              <a:buFont typeface="Wingdings" pitchFamily="2" charset="2"/>
              <a:buNone/>
            </a:pPr>
            <a:r>
              <a:rPr lang="en-US" sz="2400" b="1" dirty="0">
                <a:solidFill>
                  <a:srgbClr val="000000"/>
                </a:solidFill>
                <a:cs typeface="Times New Roman" pitchFamily="18" charset="0"/>
              </a:rPr>
              <a:t>Assumption</a:t>
            </a:r>
            <a:r>
              <a:rPr lang="en-US" sz="2400" dirty="0">
                <a:solidFill>
                  <a:srgbClr val="000000"/>
                </a:solidFill>
                <a:cs typeface="Times New Roman" pitchFamily="18" charset="0"/>
              </a:rPr>
              <a:t>: </a:t>
            </a:r>
            <a:r>
              <a:rPr lang="en-US" sz="2400" i="1" dirty="0">
                <a:solidFill>
                  <a:srgbClr val="000000"/>
                </a:solidFill>
                <a:cs typeface="Times New Roman" pitchFamily="18" charset="0"/>
              </a:rPr>
              <a:t>No null values are allowed for the join attributes.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Teach Relation</a:t>
            </a:r>
            <a:endParaRPr lang="en-US" dirty="0"/>
          </a:p>
        </p:txBody>
      </p:sp>
      <p:sp>
        <p:nvSpPr>
          <p:cNvPr id="3" name="Content Placeholder 2"/>
          <p:cNvSpPr>
            <a:spLocks noGrp="1"/>
          </p:cNvSpPr>
          <p:nvPr>
            <p:ph sz="quarter" idx="1"/>
          </p:nvPr>
        </p:nvSpPr>
        <p:spPr>
          <a:xfrm>
            <a:off x="457199" y="1600200"/>
            <a:ext cx="8277368" cy="4873752"/>
          </a:xfrm>
        </p:spPr>
        <p:txBody>
          <a:bodyPr/>
          <a:lstStyle/>
          <a:p>
            <a:pPr>
              <a:lnSpc>
                <a:spcPct val="90000"/>
              </a:lnSpc>
            </a:pPr>
            <a:r>
              <a:rPr lang="en-US" dirty="0" smtClean="0"/>
              <a:t>Two FDs exist in the relation TEACH:</a:t>
            </a:r>
          </a:p>
          <a:p>
            <a:pPr lvl="1">
              <a:lnSpc>
                <a:spcPct val="90000"/>
              </a:lnSpc>
            </a:pPr>
            <a:r>
              <a:rPr lang="en-US" dirty="0" smtClean="0"/>
              <a:t>       FD1: { student, course} </a:t>
            </a:r>
            <a:r>
              <a:rPr lang="en-US" dirty="0" smtClean="0">
                <a:sym typeface="Symbol" pitchFamily="18" charset="2"/>
              </a:rPr>
              <a:t>-&gt;</a:t>
            </a:r>
            <a:r>
              <a:rPr lang="en-US" dirty="0" smtClean="0"/>
              <a:t> instructor</a:t>
            </a:r>
          </a:p>
          <a:p>
            <a:pPr lvl="1">
              <a:lnSpc>
                <a:spcPct val="90000"/>
              </a:lnSpc>
            </a:pPr>
            <a:r>
              <a:rPr lang="en-US" dirty="0" smtClean="0"/>
              <a:t>       FD2: instructor </a:t>
            </a:r>
            <a:r>
              <a:rPr lang="en-US" dirty="0" smtClean="0">
                <a:sym typeface="Symbol" pitchFamily="18" charset="2"/>
              </a:rPr>
              <a:t> -&gt;</a:t>
            </a:r>
            <a:r>
              <a:rPr lang="en-US" dirty="0" smtClean="0"/>
              <a:t> course</a:t>
            </a:r>
          </a:p>
          <a:p>
            <a:endParaRPr lang="en-US" dirty="0" smtClean="0"/>
          </a:p>
          <a:p>
            <a:r>
              <a:rPr lang="en-US" dirty="0" smtClean="0"/>
              <a:t>{student, course, instructor} not in BCNF</a:t>
            </a:r>
          </a:p>
          <a:p>
            <a:r>
              <a:rPr lang="en-US" dirty="0" smtClean="0"/>
              <a:t>FD2 violates BCNF</a:t>
            </a:r>
          </a:p>
          <a:p>
            <a:r>
              <a:rPr lang="en-US" i="1" dirty="0" smtClean="0">
                <a:solidFill>
                  <a:srgbClr val="000000"/>
                </a:solidFill>
                <a:cs typeface="Times New Roman" pitchFamily="18" charset="0"/>
              </a:rPr>
              <a:t>Replace relation Q by two relations (Q - Y) and (X </a:t>
            </a:r>
            <a:r>
              <a:rPr lang="en-US" i="1" dirty="0" smtClean="0">
                <a:cs typeface="Arial" pitchFamily="34" charset="0"/>
              </a:rPr>
              <a:t>υ</a:t>
            </a:r>
            <a:r>
              <a:rPr lang="en-US" i="1" dirty="0" smtClean="0">
                <a:solidFill>
                  <a:srgbClr val="000000"/>
                </a:solidFill>
                <a:cs typeface="Times New Roman" pitchFamily="18" charset="0"/>
              </a:rPr>
              <a:t> Y);</a:t>
            </a:r>
            <a:endParaRPr lang="en-US" i="1" dirty="0" smtClean="0"/>
          </a:p>
          <a:p>
            <a:endParaRPr lang="en-US" dirty="0" smtClean="0"/>
          </a:p>
          <a:p>
            <a:r>
              <a:rPr lang="en-US" dirty="0" smtClean="0"/>
              <a:t>R1(student, instructor}</a:t>
            </a:r>
          </a:p>
          <a:p>
            <a:r>
              <a:rPr lang="en-US" dirty="0" smtClean="0"/>
              <a:t>R2(instructor, course}</a:t>
            </a:r>
          </a:p>
          <a:p>
            <a:endParaRPr lang="en-US" dirty="0" smtClean="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find Relation is in BCNF?</a:t>
            </a:r>
            <a:endParaRPr lang="en-US" dirty="0"/>
          </a:p>
        </p:txBody>
      </p:sp>
      <p:sp>
        <p:nvSpPr>
          <p:cNvPr id="3" name="Content Placeholder 2"/>
          <p:cNvSpPr>
            <a:spLocks noGrp="1"/>
          </p:cNvSpPr>
          <p:nvPr>
            <p:ph sz="quarter" idx="1"/>
          </p:nvPr>
        </p:nvSpPr>
        <p:spPr/>
        <p:txBody>
          <a:bodyPr/>
          <a:lstStyle/>
          <a:p>
            <a:pPr marL="457200" indent="-457200"/>
            <a:r>
              <a:rPr lang="en-US" dirty="0" smtClean="0"/>
              <a:t>For each FD X-&gt; Y in Q, find whether X+ fails to include all attributes in Q,</a:t>
            </a:r>
          </a:p>
          <a:p>
            <a:pPr marL="822960" lvl="1" indent="-457200"/>
            <a:r>
              <a:rPr lang="en-US" dirty="0" smtClean="0"/>
              <a:t>This helps to determine X is </a:t>
            </a:r>
            <a:r>
              <a:rPr lang="en-US" dirty="0" err="1" smtClean="0"/>
              <a:t>superkey</a:t>
            </a:r>
            <a:r>
              <a:rPr lang="en-US" dirty="0" smtClean="0"/>
              <a:t> or not </a:t>
            </a:r>
          </a:p>
          <a:p>
            <a:pPr marL="457200" indent="-457200"/>
            <a:endParaRPr lang="en-US" dirty="0" smtClean="0"/>
          </a:p>
          <a:p>
            <a:pPr marL="457200" indent="-457200"/>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80736"/>
          </a:xfrm>
        </p:spPr>
        <p:txBody>
          <a:bodyPr>
            <a:normAutofit fontScale="90000"/>
          </a:bodyPr>
          <a:lstStyle/>
          <a:p>
            <a:r>
              <a:rPr lang="en-US" dirty="0" smtClean="0"/>
              <a:t>BCNF Example</a:t>
            </a:r>
            <a:endParaRPr lang="en-US" dirty="0"/>
          </a:p>
        </p:txBody>
      </p:sp>
      <p:graphicFrame>
        <p:nvGraphicFramePr>
          <p:cNvPr id="4" name="Content Placeholder 3"/>
          <p:cNvGraphicFramePr>
            <a:graphicFrameLocks noGrp="1"/>
          </p:cNvGraphicFramePr>
          <p:nvPr>
            <p:ph sz="quarter" idx="1"/>
          </p:nvPr>
        </p:nvGraphicFramePr>
        <p:xfrm>
          <a:off x="1218817" y="2541269"/>
          <a:ext cx="5837965" cy="4116598"/>
        </p:xfrm>
        <a:graphic>
          <a:graphicData uri="http://schemas.openxmlformats.org/drawingml/2006/table">
            <a:tbl>
              <a:tblPr/>
              <a:tblGrid>
                <a:gridCol w="1167593"/>
                <a:gridCol w="1167593"/>
                <a:gridCol w="1167593"/>
                <a:gridCol w="1167593"/>
                <a:gridCol w="1167593"/>
              </a:tblGrid>
              <a:tr h="193818">
                <a:tc>
                  <a:txBody>
                    <a:bodyPr/>
                    <a:lstStyle/>
                    <a:p>
                      <a:r>
                        <a:rPr lang="en-US" sz="1200" dirty="0">
                          <a:solidFill>
                            <a:srgbClr val="FFFFFF"/>
                          </a:solidFill>
                          <a:effectLst/>
                        </a:rPr>
                        <a:t>name</a:t>
                      </a:r>
                    </a:p>
                  </a:txBody>
                  <a:tcPr marL="74979" marR="74979" marT="37489" marB="37489" anchor="ctr">
                    <a:lnL>
                      <a:noFill/>
                    </a:lnL>
                    <a:lnR>
                      <a:noFill/>
                    </a:lnR>
                    <a:lnT>
                      <a:noFill/>
                    </a:lnT>
                    <a:lnB>
                      <a:noFill/>
                    </a:lnB>
                    <a:solidFill>
                      <a:srgbClr val="000080"/>
                    </a:solidFill>
                  </a:tcPr>
                </a:tc>
                <a:tc>
                  <a:txBody>
                    <a:bodyPr/>
                    <a:lstStyle/>
                    <a:p>
                      <a:r>
                        <a:rPr lang="en-US" sz="1200" dirty="0">
                          <a:solidFill>
                            <a:srgbClr val="FFFFFF"/>
                          </a:solidFill>
                          <a:effectLst/>
                        </a:rPr>
                        <a:t>department</a:t>
                      </a:r>
                    </a:p>
                  </a:txBody>
                  <a:tcPr marL="74979" marR="74979" marT="37489" marB="37489" anchor="ctr">
                    <a:lnL>
                      <a:noFill/>
                    </a:lnL>
                    <a:lnR>
                      <a:noFill/>
                    </a:lnR>
                    <a:lnT>
                      <a:noFill/>
                    </a:lnT>
                    <a:lnB>
                      <a:noFill/>
                    </a:lnB>
                    <a:solidFill>
                      <a:srgbClr val="000080"/>
                    </a:solidFill>
                  </a:tcPr>
                </a:tc>
                <a:tc>
                  <a:txBody>
                    <a:bodyPr/>
                    <a:lstStyle/>
                    <a:p>
                      <a:r>
                        <a:rPr lang="en-US" sz="1200">
                          <a:solidFill>
                            <a:srgbClr val="FFFFFF"/>
                          </a:solidFill>
                          <a:effectLst/>
                        </a:rPr>
                        <a:t>office</a:t>
                      </a:r>
                    </a:p>
                  </a:txBody>
                  <a:tcPr marL="74979" marR="74979" marT="37489" marB="37489" anchor="ctr">
                    <a:lnL>
                      <a:noFill/>
                    </a:lnL>
                    <a:lnR>
                      <a:noFill/>
                    </a:lnR>
                    <a:lnT>
                      <a:noFill/>
                    </a:lnT>
                    <a:lnB>
                      <a:noFill/>
                    </a:lnB>
                    <a:solidFill>
                      <a:srgbClr val="000080"/>
                    </a:solidFill>
                  </a:tcPr>
                </a:tc>
                <a:tc>
                  <a:txBody>
                    <a:bodyPr/>
                    <a:lstStyle/>
                    <a:p>
                      <a:r>
                        <a:rPr lang="en-US" sz="1200">
                          <a:solidFill>
                            <a:srgbClr val="FFFFFF"/>
                          </a:solidFill>
                          <a:effectLst/>
                        </a:rPr>
                        <a:t>title</a:t>
                      </a:r>
                    </a:p>
                  </a:txBody>
                  <a:tcPr marL="74979" marR="74979" marT="37489" marB="37489" anchor="ctr">
                    <a:lnL>
                      <a:noFill/>
                    </a:lnL>
                    <a:lnR>
                      <a:noFill/>
                    </a:lnR>
                    <a:lnT>
                      <a:noFill/>
                    </a:lnT>
                    <a:lnB>
                      <a:noFill/>
                    </a:lnB>
                    <a:solidFill>
                      <a:srgbClr val="000080"/>
                    </a:solidFill>
                  </a:tcPr>
                </a:tc>
                <a:tc>
                  <a:txBody>
                    <a:bodyPr/>
                    <a:lstStyle/>
                    <a:p>
                      <a:r>
                        <a:rPr lang="en-US" sz="1200">
                          <a:solidFill>
                            <a:srgbClr val="FFFFFF"/>
                          </a:solidFill>
                          <a:effectLst/>
                        </a:rPr>
                        <a:t>salary</a:t>
                      </a:r>
                    </a:p>
                  </a:txBody>
                  <a:tcPr marL="74979" marR="74979" marT="37489" marB="37489" anchor="ctr">
                    <a:lnL>
                      <a:noFill/>
                    </a:lnL>
                    <a:lnR>
                      <a:noFill/>
                    </a:lnR>
                    <a:lnT>
                      <a:noFill/>
                    </a:lnT>
                    <a:lnB>
                      <a:noFill/>
                    </a:lnB>
                    <a:solidFill>
                      <a:srgbClr val="000080"/>
                    </a:solidFill>
                  </a:tcPr>
                </a:tc>
              </a:tr>
              <a:tr h="193818">
                <a:tc>
                  <a:txBody>
                    <a:bodyPr/>
                    <a:lstStyle/>
                    <a:p>
                      <a:r>
                        <a:rPr lang="en-US" sz="1200"/>
                        <a:t>Alice</a:t>
                      </a:r>
                    </a:p>
                  </a:txBody>
                  <a:tcPr marL="74979" marR="74979" marT="37489" marB="37489" anchor="ctr">
                    <a:lnL>
                      <a:noFill/>
                    </a:lnL>
                    <a:lnR>
                      <a:noFill/>
                    </a:lnR>
                    <a:lnT>
                      <a:noFill/>
                    </a:lnT>
                    <a:lnB>
                      <a:noFill/>
                    </a:lnB>
                  </a:tcPr>
                </a:tc>
                <a:tc>
                  <a:txBody>
                    <a:bodyPr/>
                    <a:lstStyle/>
                    <a:p>
                      <a:r>
                        <a:rPr lang="en-US" sz="1200"/>
                        <a:t>Math</a:t>
                      </a:r>
                    </a:p>
                  </a:txBody>
                  <a:tcPr marL="74979" marR="74979" marT="37489" marB="37489" anchor="ctr">
                    <a:lnL>
                      <a:noFill/>
                    </a:lnL>
                    <a:lnR>
                      <a:noFill/>
                    </a:lnR>
                    <a:lnT>
                      <a:noFill/>
                    </a:lnT>
                    <a:lnB>
                      <a:noFill/>
                    </a:lnB>
                  </a:tcPr>
                </a:tc>
                <a:tc>
                  <a:txBody>
                    <a:bodyPr/>
                    <a:lstStyle/>
                    <a:p>
                      <a:r>
                        <a:rPr lang="en-US" sz="1200"/>
                        <a:t>Math 101</a:t>
                      </a:r>
                    </a:p>
                  </a:txBody>
                  <a:tcPr marL="74979" marR="74979" marT="37489" marB="37489" anchor="ctr">
                    <a:lnL>
                      <a:noFill/>
                    </a:lnL>
                    <a:lnR>
                      <a:noFill/>
                    </a:lnR>
                    <a:lnT>
                      <a:noFill/>
                    </a:lnT>
                    <a:lnB>
                      <a:noFill/>
                    </a:lnB>
                  </a:tcPr>
                </a:tc>
                <a:tc>
                  <a:txBody>
                    <a:bodyPr/>
                    <a:lstStyle/>
                    <a:p>
                      <a:r>
                        <a:rPr lang="en-US" sz="1200"/>
                        <a:t>Professor</a:t>
                      </a:r>
                    </a:p>
                  </a:txBody>
                  <a:tcPr marL="74979" marR="74979" marT="37489" marB="37489" anchor="ctr">
                    <a:lnL>
                      <a:noFill/>
                    </a:lnL>
                    <a:lnR>
                      <a:noFill/>
                    </a:lnR>
                    <a:lnT>
                      <a:noFill/>
                    </a:lnT>
                    <a:lnB>
                      <a:noFill/>
                    </a:lnB>
                  </a:tcPr>
                </a:tc>
                <a:tc>
                  <a:txBody>
                    <a:bodyPr/>
                    <a:lstStyle/>
                    <a:p>
                      <a:r>
                        <a:rPr lang="en-US" sz="1200"/>
                        <a:t>90,000</a:t>
                      </a:r>
                    </a:p>
                  </a:txBody>
                  <a:tcPr marL="74979" marR="74979" marT="37489" marB="37489" anchor="ctr">
                    <a:lnL>
                      <a:noFill/>
                    </a:lnL>
                    <a:lnR>
                      <a:noFill/>
                    </a:lnR>
                    <a:lnT>
                      <a:noFill/>
                    </a:lnT>
                    <a:lnB>
                      <a:noFill/>
                    </a:lnB>
                  </a:tcPr>
                </a:tc>
              </a:tr>
              <a:tr h="331278">
                <a:tc>
                  <a:txBody>
                    <a:bodyPr/>
                    <a:lstStyle/>
                    <a:p>
                      <a:r>
                        <a:rPr lang="en-US" sz="1200"/>
                        <a:t>Bob</a:t>
                      </a:r>
                    </a:p>
                  </a:txBody>
                  <a:tcPr marL="74979" marR="74979" marT="37489" marB="37489" anchor="ctr">
                    <a:lnL>
                      <a:noFill/>
                    </a:lnL>
                    <a:lnR>
                      <a:noFill/>
                    </a:lnR>
                    <a:lnT>
                      <a:noFill/>
                    </a:lnT>
                    <a:lnB>
                      <a:noFill/>
                    </a:lnB>
                  </a:tcPr>
                </a:tc>
                <a:tc>
                  <a:txBody>
                    <a:bodyPr/>
                    <a:lstStyle/>
                    <a:p>
                      <a:r>
                        <a:rPr lang="en-US" sz="1200"/>
                        <a:t>Physics</a:t>
                      </a:r>
                    </a:p>
                  </a:txBody>
                  <a:tcPr marL="74979" marR="74979" marT="37489" marB="37489" anchor="ctr">
                    <a:lnL>
                      <a:noFill/>
                    </a:lnL>
                    <a:lnR>
                      <a:noFill/>
                    </a:lnR>
                    <a:lnT>
                      <a:noFill/>
                    </a:lnT>
                    <a:lnB>
                      <a:noFill/>
                    </a:lnB>
                  </a:tcPr>
                </a:tc>
                <a:tc>
                  <a:txBody>
                    <a:bodyPr/>
                    <a:lstStyle/>
                    <a:p>
                      <a:r>
                        <a:rPr lang="en-US" sz="1200"/>
                        <a:t>Physics 202</a:t>
                      </a:r>
                    </a:p>
                  </a:txBody>
                  <a:tcPr marL="74979" marR="74979" marT="37489" marB="37489" anchor="ctr">
                    <a:lnL>
                      <a:noFill/>
                    </a:lnL>
                    <a:lnR>
                      <a:noFill/>
                    </a:lnR>
                    <a:lnT>
                      <a:noFill/>
                    </a:lnT>
                    <a:lnB>
                      <a:noFill/>
                    </a:lnB>
                  </a:tcPr>
                </a:tc>
                <a:tc>
                  <a:txBody>
                    <a:bodyPr/>
                    <a:lstStyle/>
                    <a:p>
                      <a:r>
                        <a:rPr lang="en-US" sz="1200"/>
                        <a:t>Asst. Professor</a:t>
                      </a:r>
                    </a:p>
                  </a:txBody>
                  <a:tcPr marL="74979" marR="74979" marT="37489" marB="37489" anchor="ctr">
                    <a:lnL>
                      <a:noFill/>
                    </a:lnL>
                    <a:lnR>
                      <a:noFill/>
                    </a:lnR>
                    <a:lnT>
                      <a:noFill/>
                    </a:lnT>
                    <a:lnB>
                      <a:noFill/>
                    </a:lnB>
                  </a:tcPr>
                </a:tc>
                <a:tc>
                  <a:txBody>
                    <a:bodyPr/>
                    <a:lstStyle/>
                    <a:p>
                      <a:r>
                        <a:rPr lang="en-US" sz="1200"/>
                        <a:t>80,000</a:t>
                      </a:r>
                    </a:p>
                  </a:txBody>
                  <a:tcPr marL="74979" marR="74979" marT="37489" marB="37489" anchor="ctr">
                    <a:lnL>
                      <a:noFill/>
                    </a:lnL>
                    <a:lnR>
                      <a:noFill/>
                    </a:lnR>
                    <a:lnT>
                      <a:noFill/>
                    </a:lnT>
                    <a:lnB>
                      <a:noFill/>
                    </a:lnB>
                  </a:tcPr>
                </a:tc>
              </a:tr>
              <a:tr h="331278">
                <a:tc>
                  <a:txBody>
                    <a:bodyPr/>
                    <a:lstStyle/>
                    <a:p>
                      <a:r>
                        <a:rPr lang="en-US" sz="1200"/>
                        <a:t>Charlie</a:t>
                      </a:r>
                    </a:p>
                  </a:txBody>
                  <a:tcPr marL="74979" marR="74979" marT="37489" marB="37489" anchor="ctr">
                    <a:lnL>
                      <a:noFill/>
                    </a:lnL>
                    <a:lnR>
                      <a:noFill/>
                    </a:lnR>
                    <a:lnT>
                      <a:noFill/>
                    </a:lnT>
                    <a:lnB>
                      <a:noFill/>
                    </a:lnB>
                  </a:tcPr>
                </a:tc>
                <a:tc>
                  <a:txBody>
                    <a:bodyPr/>
                    <a:lstStyle/>
                    <a:p>
                      <a:r>
                        <a:rPr lang="en-US" sz="1200" dirty="0"/>
                        <a:t>Math</a:t>
                      </a:r>
                    </a:p>
                  </a:txBody>
                  <a:tcPr marL="74979" marR="74979" marT="37489" marB="37489" anchor="ctr">
                    <a:lnL>
                      <a:noFill/>
                    </a:lnL>
                    <a:lnR>
                      <a:noFill/>
                    </a:lnR>
                    <a:lnT>
                      <a:noFill/>
                    </a:lnT>
                    <a:lnB>
                      <a:noFill/>
                    </a:lnB>
                  </a:tcPr>
                </a:tc>
                <a:tc>
                  <a:txBody>
                    <a:bodyPr/>
                    <a:lstStyle/>
                    <a:p>
                      <a:r>
                        <a:rPr lang="en-US" sz="1200"/>
                        <a:t>Math 101</a:t>
                      </a:r>
                    </a:p>
                  </a:txBody>
                  <a:tcPr marL="74979" marR="74979" marT="37489" marB="37489" anchor="ctr">
                    <a:lnL>
                      <a:noFill/>
                    </a:lnL>
                    <a:lnR>
                      <a:noFill/>
                    </a:lnR>
                    <a:lnT>
                      <a:noFill/>
                    </a:lnT>
                    <a:lnB>
                      <a:noFill/>
                    </a:lnB>
                  </a:tcPr>
                </a:tc>
                <a:tc>
                  <a:txBody>
                    <a:bodyPr/>
                    <a:lstStyle/>
                    <a:p>
                      <a:r>
                        <a:rPr lang="en-US" sz="1200"/>
                        <a:t>Assoc. Professor</a:t>
                      </a:r>
                    </a:p>
                  </a:txBody>
                  <a:tcPr marL="74979" marR="74979" marT="37489" marB="37489" anchor="ctr">
                    <a:lnL>
                      <a:noFill/>
                    </a:lnL>
                    <a:lnR>
                      <a:noFill/>
                    </a:lnR>
                    <a:lnT>
                      <a:noFill/>
                    </a:lnT>
                    <a:lnB>
                      <a:noFill/>
                    </a:lnB>
                  </a:tcPr>
                </a:tc>
                <a:tc>
                  <a:txBody>
                    <a:bodyPr/>
                    <a:lstStyle/>
                    <a:p>
                      <a:r>
                        <a:rPr lang="en-US" sz="1200"/>
                        <a:t>80,000</a:t>
                      </a:r>
                    </a:p>
                  </a:txBody>
                  <a:tcPr marL="74979" marR="74979" marT="37489" marB="37489" anchor="ctr">
                    <a:lnL>
                      <a:noFill/>
                    </a:lnL>
                    <a:lnR>
                      <a:noFill/>
                    </a:lnR>
                    <a:lnT>
                      <a:noFill/>
                    </a:lnT>
                    <a:lnB>
                      <a:noFill/>
                    </a:lnB>
                  </a:tcPr>
                </a:tc>
              </a:tr>
              <a:tr h="193818">
                <a:tc>
                  <a:txBody>
                    <a:bodyPr/>
                    <a:lstStyle/>
                    <a:p>
                      <a:r>
                        <a:rPr lang="en-US" sz="1200"/>
                        <a:t>Denise</a:t>
                      </a:r>
                    </a:p>
                  </a:txBody>
                  <a:tcPr marL="74979" marR="74979" marT="37489" marB="37489" anchor="ctr">
                    <a:lnL>
                      <a:noFill/>
                    </a:lnL>
                    <a:lnR>
                      <a:noFill/>
                    </a:lnR>
                    <a:lnT>
                      <a:noFill/>
                    </a:lnT>
                    <a:lnB>
                      <a:noFill/>
                    </a:lnB>
                  </a:tcPr>
                </a:tc>
                <a:tc>
                  <a:txBody>
                    <a:bodyPr/>
                    <a:lstStyle/>
                    <a:p>
                      <a:r>
                        <a:rPr lang="en-US" sz="1200"/>
                        <a:t>Physics</a:t>
                      </a:r>
                    </a:p>
                  </a:txBody>
                  <a:tcPr marL="74979" marR="74979" marT="37489" marB="37489" anchor="ctr">
                    <a:lnL>
                      <a:noFill/>
                    </a:lnL>
                    <a:lnR>
                      <a:noFill/>
                    </a:lnR>
                    <a:lnT>
                      <a:noFill/>
                    </a:lnT>
                    <a:lnB>
                      <a:noFill/>
                    </a:lnB>
                  </a:tcPr>
                </a:tc>
                <a:tc>
                  <a:txBody>
                    <a:bodyPr/>
                    <a:lstStyle/>
                    <a:p>
                      <a:r>
                        <a:rPr lang="en-US" sz="1200"/>
                        <a:t>Physics 204</a:t>
                      </a:r>
                    </a:p>
                  </a:txBody>
                  <a:tcPr marL="74979" marR="74979" marT="37489" marB="37489" anchor="ctr">
                    <a:lnL>
                      <a:noFill/>
                    </a:lnL>
                    <a:lnR>
                      <a:noFill/>
                    </a:lnR>
                    <a:lnT>
                      <a:noFill/>
                    </a:lnT>
                    <a:lnB>
                      <a:noFill/>
                    </a:lnB>
                  </a:tcPr>
                </a:tc>
                <a:tc>
                  <a:txBody>
                    <a:bodyPr/>
                    <a:lstStyle/>
                    <a:p>
                      <a:r>
                        <a:rPr lang="en-US" sz="1200"/>
                        <a:t>Professor</a:t>
                      </a:r>
                    </a:p>
                  </a:txBody>
                  <a:tcPr marL="74979" marR="74979" marT="37489" marB="37489" anchor="ctr">
                    <a:lnL>
                      <a:noFill/>
                    </a:lnL>
                    <a:lnR>
                      <a:noFill/>
                    </a:lnR>
                    <a:lnT>
                      <a:noFill/>
                    </a:lnT>
                    <a:lnB>
                      <a:noFill/>
                    </a:lnB>
                  </a:tcPr>
                </a:tc>
                <a:tc>
                  <a:txBody>
                    <a:bodyPr/>
                    <a:lstStyle/>
                    <a:p>
                      <a:r>
                        <a:rPr lang="en-US" sz="1200"/>
                        <a:t>92,000</a:t>
                      </a:r>
                    </a:p>
                  </a:txBody>
                  <a:tcPr marL="74979" marR="74979" marT="37489" marB="37489" anchor="ctr">
                    <a:lnL>
                      <a:noFill/>
                    </a:lnL>
                    <a:lnR>
                      <a:noFill/>
                    </a:lnR>
                    <a:lnT>
                      <a:noFill/>
                    </a:lnT>
                    <a:lnB>
                      <a:noFill/>
                    </a:lnB>
                  </a:tcPr>
                </a:tc>
              </a:tr>
              <a:tr h="331278">
                <a:tc>
                  <a:txBody>
                    <a:bodyPr/>
                    <a:lstStyle/>
                    <a:p>
                      <a:r>
                        <a:rPr lang="en-US" sz="1200"/>
                        <a:t>Jane</a:t>
                      </a:r>
                    </a:p>
                  </a:txBody>
                  <a:tcPr marL="74979" marR="74979" marT="37489" marB="37489" anchor="ctr">
                    <a:lnL>
                      <a:noFill/>
                    </a:lnL>
                    <a:lnR>
                      <a:noFill/>
                    </a:lnR>
                    <a:lnT>
                      <a:noFill/>
                    </a:lnT>
                    <a:lnB>
                      <a:noFill/>
                    </a:lnB>
                  </a:tcPr>
                </a:tc>
                <a:tc>
                  <a:txBody>
                    <a:bodyPr/>
                    <a:lstStyle/>
                    <a:p>
                      <a:r>
                        <a:rPr lang="en-US" sz="1200"/>
                        <a:t>Physics</a:t>
                      </a:r>
                    </a:p>
                  </a:txBody>
                  <a:tcPr marL="74979" marR="74979" marT="37489" marB="37489" anchor="ctr">
                    <a:lnL>
                      <a:noFill/>
                    </a:lnL>
                    <a:lnR>
                      <a:noFill/>
                    </a:lnR>
                    <a:lnT>
                      <a:noFill/>
                    </a:lnT>
                    <a:lnB>
                      <a:noFill/>
                    </a:lnB>
                  </a:tcPr>
                </a:tc>
                <a:tc>
                  <a:txBody>
                    <a:bodyPr/>
                    <a:lstStyle/>
                    <a:p>
                      <a:r>
                        <a:rPr lang="en-US" sz="1200"/>
                        <a:t>Physics 203</a:t>
                      </a:r>
                    </a:p>
                  </a:txBody>
                  <a:tcPr marL="74979" marR="74979" marT="37489" marB="37489" anchor="ctr">
                    <a:lnL>
                      <a:noFill/>
                    </a:lnL>
                    <a:lnR>
                      <a:noFill/>
                    </a:lnR>
                    <a:lnT>
                      <a:noFill/>
                    </a:lnT>
                    <a:lnB>
                      <a:noFill/>
                    </a:lnB>
                  </a:tcPr>
                </a:tc>
                <a:tc>
                  <a:txBody>
                    <a:bodyPr/>
                    <a:lstStyle/>
                    <a:p>
                      <a:r>
                        <a:rPr lang="en-US" sz="1200"/>
                        <a:t>Asst. Professor</a:t>
                      </a:r>
                    </a:p>
                  </a:txBody>
                  <a:tcPr marL="74979" marR="74979" marT="37489" marB="37489" anchor="ctr">
                    <a:lnL>
                      <a:noFill/>
                    </a:lnL>
                    <a:lnR>
                      <a:noFill/>
                    </a:lnR>
                    <a:lnT>
                      <a:noFill/>
                    </a:lnT>
                    <a:lnB>
                      <a:noFill/>
                    </a:lnB>
                  </a:tcPr>
                </a:tc>
                <a:tc>
                  <a:txBody>
                    <a:bodyPr/>
                    <a:lstStyle/>
                    <a:p>
                      <a:r>
                        <a:rPr lang="en-US" sz="1200"/>
                        <a:t>85,000</a:t>
                      </a:r>
                    </a:p>
                  </a:txBody>
                  <a:tcPr marL="74979" marR="74979" marT="37489" marB="37489" anchor="ctr">
                    <a:lnL>
                      <a:noFill/>
                    </a:lnL>
                    <a:lnR>
                      <a:noFill/>
                    </a:lnR>
                    <a:lnT>
                      <a:noFill/>
                    </a:lnT>
                    <a:lnB>
                      <a:noFill/>
                    </a:lnB>
                  </a:tcPr>
                </a:tc>
              </a:tr>
              <a:tr h="331278">
                <a:tc>
                  <a:txBody>
                    <a:bodyPr/>
                    <a:lstStyle/>
                    <a:p>
                      <a:r>
                        <a:rPr lang="en-US" sz="1200"/>
                        <a:t>Mark</a:t>
                      </a:r>
                    </a:p>
                  </a:txBody>
                  <a:tcPr marL="74979" marR="74979" marT="37489" marB="37489" anchor="ctr">
                    <a:lnL>
                      <a:noFill/>
                    </a:lnL>
                    <a:lnR>
                      <a:noFill/>
                    </a:lnR>
                    <a:lnT>
                      <a:noFill/>
                    </a:lnT>
                    <a:lnB>
                      <a:noFill/>
                    </a:lnB>
                  </a:tcPr>
                </a:tc>
                <a:tc>
                  <a:txBody>
                    <a:bodyPr/>
                    <a:lstStyle/>
                    <a:p>
                      <a:r>
                        <a:rPr lang="en-US" sz="1200"/>
                        <a:t>CS</a:t>
                      </a:r>
                    </a:p>
                  </a:txBody>
                  <a:tcPr marL="74979" marR="74979" marT="37489" marB="37489" anchor="ctr">
                    <a:lnL>
                      <a:noFill/>
                    </a:lnL>
                    <a:lnR>
                      <a:noFill/>
                    </a:lnR>
                    <a:lnT>
                      <a:noFill/>
                    </a:lnT>
                    <a:lnB>
                      <a:noFill/>
                    </a:lnB>
                  </a:tcPr>
                </a:tc>
                <a:tc>
                  <a:txBody>
                    <a:bodyPr/>
                    <a:lstStyle/>
                    <a:p>
                      <a:r>
                        <a:rPr lang="en-US" sz="1200"/>
                        <a:t>CS 190</a:t>
                      </a:r>
                    </a:p>
                  </a:txBody>
                  <a:tcPr marL="74979" marR="74979" marT="37489" marB="37489" anchor="ctr">
                    <a:lnL>
                      <a:noFill/>
                    </a:lnL>
                    <a:lnR>
                      <a:noFill/>
                    </a:lnR>
                    <a:lnT>
                      <a:noFill/>
                    </a:lnT>
                    <a:lnB>
                      <a:noFill/>
                    </a:lnB>
                  </a:tcPr>
                </a:tc>
                <a:tc>
                  <a:txBody>
                    <a:bodyPr/>
                    <a:lstStyle/>
                    <a:p>
                      <a:r>
                        <a:rPr lang="en-US" sz="1200"/>
                        <a:t>Asst. Professor</a:t>
                      </a:r>
                    </a:p>
                  </a:txBody>
                  <a:tcPr marL="74979" marR="74979" marT="37489" marB="37489" anchor="ctr">
                    <a:lnL>
                      <a:noFill/>
                    </a:lnL>
                    <a:lnR>
                      <a:noFill/>
                    </a:lnR>
                    <a:lnT>
                      <a:noFill/>
                    </a:lnT>
                    <a:lnB>
                      <a:noFill/>
                    </a:lnB>
                  </a:tcPr>
                </a:tc>
                <a:tc>
                  <a:txBody>
                    <a:bodyPr/>
                    <a:lstStyle/>
                    <a:p>
                      <a:r>
                        <a:rPr lang="en-US" sz="1200"/>
                        <a:t>86,000</a:t>
                      </a:r>
                    </a:p>
                  </a:txBody>
                  <a:tcPr marL="74979" marR="74979" marT="37489" marB="37489" anchor="ctr">
                    <a:lnL>
                      <a:noFill/>
                    </a:lnL>
                    <a:lnR>
                      <a:noFill/>
                    </a:lnR>
                    <a:lnT>
                      <a:noFill/>
                    </a:lnT>
                    <a:lnB>
                      <a:noFill/>
                    </a:lnB>
                  </a:tcPr>
                </a:tc>
              </a:tr>
              <a:tr h="331278">
                <a:tc>
                  <a:txBody>
                    <a:bodyPr/>
                    <a:lstStyle/>
                    <a:p>
                      <a:r>
                        <a:rPr lang="en-US" sz="1200"/>
                        <a:t>Mark</a:t>
                      </a:r>
                    </a:p>
                  </a:txBody>
                  <a:tcPr marL="74979" marR="74979" marT="37489" marB="37489" anchor="ctr">
                    <a:lnL>
                      <a:noFill/>
                    </a:lnL>
                    <a:lnR>
                      <a:noFill/>
                    </a:lnR>
                    <a:lnT>
                      <a:noFill/>
                    </a:lnT>
                    <a:lnB>
                      <a:noFill/>
                    </a:lnB>
                  </a:tcPr>
                </a:tc>
                <a:tc>
                  <a:txBody>
                    <a:bodyPr/>
                    <a:lstStyle/>
                    <a:p>
                      <a:r>
                        <a:rPr lang="en-US" sz="1200"/>
                        <a:t>History</a:t>
                      </a:r>
                    </a:p>
                  </a:txBody>
                  <a:tcPr marL="74979" marR="74979" marT="37489" marB="37489" anchor="ctr">
                    <a:lnL>
                      <a:noFill/>
                    </a:lnL>
                    <a:lnR>
                      <a:noFill/>
                    </a:lnR>
                    <a:lnT>
                      <a:noFill/>
                    </a:lnT>
                    <a:lnB>
                      <a:noFill/>
                    </a:lnB>
                  </a:tcPr>
                </a:tc>
                <a:tc>
                  <a:txBody>
                    <a:bodyPr/>
                    <a:lstStyle/>
                    <a:p>
                      <a:r>
                        <a:rPr lang="en-US" sz="1200"/>
                        <a:t>Hist 100</a:t>
                      </a:r>
                    </a:p>
                  </a:txBody>
                  <a:tcPr marL="74979" marR="74979" marT="37489" marB="37489" anchor="ctr">
                    <a:lnL>
                      <a:noFill/>
                    </a:lnL>
                    <a:lnR>
                      <a:noFill/>
                    </a:lnR>
                    <a:lnT>
                      <a:noFill/>
                    </a:lnT>
                    <a:lnB>
                      <a:noFill/>
                    </a:lnB>
                  </a:tcPr>
                </a:tc>
                <a:tc>
                  <a:txBody>
                    <a:bodyPr/>
                    <a:lstStyle/>
                    <a:p>
                      <a:r>
                        <a:rPr lang="en-US" sz="1200"/>
                        <a:t>Assoc. Professor</a:t>
                      </a:r>
                    </a:p>
                  </a:txBody>
                  <a:tcPr marL="74979" marR="74979" marT="37489" marB="37489" anchor="ctr">
                    <a:lnL>
                      <a:noFill/>
                    </a:lnL>
                    <a:lnR>
                      <a:noFill/>
                    </a:lnR>
                    <a:lnT>
                      <a:noFill/>
                    </a:lnT>
                    <a:lnB>
                      <a:noFill/>
                    </a:lnB>
                  </a:tcPr>
                </a:tc>
                <a:tc>
                  <a:txBody>
                    <a:bodyPr/>
                    <a:lstStyle/>
                    <a:p>
                      <a:r>
                        <a:rPr lang="en-US" sz="1200"/>
                        <a:t>70,000</a:t>
                      </a:r>
                    </a:p>
                  </a:txBody>
                  <a:tcPr marL="74979" marR="74979" marT="37489" marB="37489" anchor="ctr">
                    <a:lnL>
                      <a:noFill/>
                    </a:lnL>
                    <a:lnR>
                      <a:noFill/>
                    </a:lnR>
                    <a:lnT>
                      <a:noFill/>
                    </a:lnT>
                    <a:lnB>
                      <a:noFill/>
                    </a:lnB>
                  </a:tcPr>
                </a:tc>
              </a:tr>
              <a:tr h="193818">
                <a:tc>
                  <a:txBody>
                    <a:bodyPr/>
                    <a:lstStyle/>
                    <a:p>
                      <a:r>
                        <a:rPr lang="en-US" sz="1200"/>
                        <a:t>Ned</a:t>
                      </a:r>
                    </a:p>
                  </a:txBody>
                  <a:tcPr marL="74979" marR="74979" marT="37489" marB="37489" anchor="ctr">
                    <a:lnL>
                      <a:noFill/>
                    </a:lnL>
                    <a:lnR>
                      <a:noFill/>
                    </a:lnR>
                    <a:lnT>
                      <a:noFill/>
                    </a:lnT>
                    <a:lnB>
                      <a:noFill/>
                    </a:lnB>
                  </a:tcPr>
                </a:tc>
                <a:tc>
                  <a:txBody>
                    <a:bodyPr/>
                    <a:lstStyle/>
                    <a:p>
                      <a:r>
                        <a:rPr lang="en-US" sz="1200"/>
                        <a:t>CS</a:t>
                      </a:r>
                    </a:p>
                  </a:txBody>
                  <a:tcPr marL="74979" marR="74979" marT="37489" marB="37489" anchor="ctr">
                    <a:lnL>
                      <a:noFill/>
                    </a:lnL>
                    <a:lnR>
                      <a:noFill/>
                    </a:lnR>
                    <a:lnT>
                      <a:noFill/>
                    </a:lnT>
                    <a:lnB>
                      <a:noFill/>
                    </a:lnB>
                  </a:tcPr>
                </a:tc>
                <a:tc>
                  <a:txBody>
                    <a:bodyPr/>
                    <a:lstStyle/>
                    <a:p>
                      <a:r>
                        <a:rPr lang="en-US" sz="1200"/>
                        <a:t>CS 195</a:t>
                      </a:r>
                    </a:p>
                  </a:txBody>
                  <a:tcPr marL="74979" marR="74979" marT="37489" marB="37489" anchor="ctr">
                    <a:lnL>
                      <a:noFill/>
                    </a:lnL>
                    <a:lnR>
                      <a:noFill/>
                    </a:lnR>
                    <a:lnT>
                      <a:noFill/>
                    </a:lnT>
                    <a:lnB>
                      <a:noFill/>
                    </a:lnB>
                  </a:tcPr>
                </a:tc>
                <a:tc>
                  <a:txBody>
                    <a:bodyPr/>
                    <a:lstStyle/>
                    <a:p>
                      <a:r>
                        <a:rPr lang="en-US" sz="1200"/>
                        <a:t>Professor</a:t>
                      </a:r>
                    </a:p>
                  </a:txBody>
                  <a:tcPr marL="74979" marR="74979" marT="37489" marB="37489" anchor="ctr">
                    <a:lnL>
                      <a:noFill/>
                    </a:lnL>
                    <a:lnR>
                      <a:noFill/>
                    </a:lnR>
                    <a:lnT>
                      <a:noFill/>
                    </a:lnT>
                    <a:lnB>
                      <a:noFill/>
                    </a:lnB>
                  </a:tcPr>
                </a:tc>
                <a:tc>
                  <a:txBody>
                    <a:bodyPr/>
                    <a:lstStyle/>
                    <a:p>
                      <a:r>
                        <a:rPr lang="en-US" sz="1200"/>
                        <a:t>90,000</a:t>
                      </a:r>
                    </a:p>
                  </a:txBody>
                  <a:tcPr marL="74979" marR="74979" marT="37489" marB="37489" anchor="ctr">
                    <a:lnL>
                      <a:noFill/>
                    </a:lnL>
                    <a:lnR>
                      <a:noFill/>
                    </a:lnR>
                    <a:lnT>
                      <a:noFill/>
                    </a:lnT>
                    <a:lnB>
                      <a:noFill/>
                    </a:lnB>
                  </a:tcPr>
                </a:tc>
              </a:tr>
              <a:tr h="331278">
                <a:tc>
                  <a:txBody>
                    <a:bodyPr/>
                    <a:lstStyle/>
                    <a:p>
                      <a:r>
                        <a:rPr lang="en-US" sz="1200"/>
                        <a:t>Sarah</a:t>
                      </a:r>
                    </a:p>
                  </a:txBody>
                  <a:tcPr marL="74979" marR="74979" marT="37489" marB="37489" anchor="ctr">
                    <a:lnL>
                      <a:noFill/>
                    </a:lnL>
                    <a:lnR>
                      <a:noFill/>
                    </a:lnR>
                    <a:lnT>
                      <a:noFill/>
                    </a:lnT>
                    <a:lnB>
                      <a:noFill/>
                    </a:lnB>
                  </a:tcPr>
                </a:tc>
                <a:tc>
                  <a:txBody>
                    <a:bodyPr/>
                    <a:lstStyle/>
                    <a:p>
                      <a:r>
                        <a:rPr lang="en-US" sz="1200"/>
                        <a:t>CS</a:t>
                      </a:r>
                    </a:p>
                  </a:txBody>
                  <a:tcPr marL="74979" marR="74979" marT="37489" marB="37489" anchor="ctr">
                    <a:lnL>
                      <a:noFill/>
                    </a:lnL>
                    <a:lnR>
                      <a:noFill/>
                    </a:lnR>
                    <a:lnT>
                      <a:noFill/>
                    </a:lnT>
                    <a:lnB>
                      <a:noFill/>
                    </a:lnB>
                  </a:tcPr>
                </a:tc>
                <a:tc>
                  <a:txBody>
                    <a:bodyPr/>
                    <a:lstStyle/>
                    <a:p>
                      <a:r>
                        <a:rPr lang="en-US" sz="1200"/>
                        <a:t>CS 177</a:t>
                      </a:r>
                    </a:p>
                  </a:txBody>
                  <a:tcPr marL="74979" marR="74979" marT="37489" marB="37489" anchor="ctr">
                    <a:lnL>
                      <a:noFill/>
                    </a:lnL>
                    <a:lnR>
                      <a:noFill/>
                    </a:lnR>
                    <a:lnT>
                      <a:noFill/>
                    </a:lnT>
                    <a:lnB>
                      <a:noFill/>
                    </a:lnB>
                  </a:tcPr>
                </a:tc>
                <a:tc>
                  <a:txBody>
                    <a:bodyPr/>
                    <a:lstStyle/>
                    <a:p>
                      <a:r>
                        <a:rPr lang="en-US" sz="1200"/>
                        <a:t>Asst. Professor</a:t>
                      </a:r>
                    </a:p>
                  </a:txBody>
                  <a:tcPr marL="74979" marR="74979" marT="37489" marB="37489" anchor="ctr">
                    <a:lnL>
                      <a:noFill/>
                    </a:lnL>
                    <a:lnR>
                      <a:noFill/>
                    </a:lnR>
                    <a:lnT>
                      <a:noFill/>
                    </a:lnT>
                    <a:lnB>
                      <a:noFill/>
                    </a:lnB>
                  </a:tcPr>
                </a:tc>
                <a:tc>
                  <a:txBody>
                    <a:bodyPr/>
                    <a:lstStyle/>
                    <a:p>
                      <a:r>
                        <a:rPr lang="en-US" sz="1200"/>
                        <a:t>98,000</a:t>
                      </a:r>
                    </a:p>
                  </a:txBody>
                  <a:tcPr marL="74979" marR="74979" marT="37489" marB="37489" anchor="ctr">
                    <a:lnL>
                      <a:noFill/>
                    </a:lnL>
                    <a:lnR>
                      <a:noFill/>
                    </a:lnR>
                    <a:lnT>
                      <a:noFill/>
                    </a:lnT>
                    <a:lnB>
                      <a:noFill/>
                    </a:lnB>
                  </a:tcPr>
                </a:tc>
              </a:tr>
              <a:tr h="331278">
                <a:tc>
                  <a:txBody>
                    <a:bodyPr/>
                    <a:lstStyle/>
                    <a:p>
                      <a:r>
                        <a:rPr lang="en-US" sz="1200"/>
                        <a:t>Vanessa</a:t>
                      </a:r>
                    </a:p>
                  </a:txBody>
                  <a:tcPr marL="74979" marR="74979" marT="37489" marB="37489" anchor="ctr">
                    <a:lnL>
                      <a:noFill/>
                    </a:lnL>
                    <a:lnR>
                      <a:noFill/>
                    </a:lnR>
                    <a:lnT>
                      <a:noFill/>
                    </a:lnT>
                    <a:lnB>
                      <a:noFill/>
                    </a:lnB>
                  </a:tcPr>
                </a:tc>
                <a:tc>
                  <a:txBody>
                    <a:bodyPr/>
                    <a:lstStyle/>
                    <a:p>
                      <a:r>
                        <a:rPr lang="en-US" sz="1200"/>
                        <a:t>History</a:t>
                      </a:r>
                    </a:p>
                  </a:txBody>
                  <a:tcPr marL="74979" marR="74979" marT="37489" marB="37489" anchor="ctr">
                    <a:lnL>
                      <a:noFill/>
                    </a:lnL>
                    <a:lnR>
                      <a:noFill/>
                    </a:lnR>
                    <a:lnT>
                      <a:noFill/>
                    </a:lnT>
                    <a:lnB>
                      <a:noFill/>
                    </a:lnB>
                  </a:tcPr>
                </a:tc>
                <a:tc>
                  <a:txBody>
                    <a:bodyPr/>
                    <a:lstStyle/>
                    <a:p>
                      <a:r>
                        <a:rPr lang="en-US" sz="1200"/>
                        <a:t>Hist 100</a:t>
                      </a:r>
                    </a:p>
                  </a:txBody>
                  <a:tcPr marL="74979" marR="74979" marT="37489" marB="37489" anchor="ctr">
                    <a:lnL>
                      <a:noFill/>
                    </a:lnL>
                    <a:lnR>
                      <a:noFill/>
                    </a:lnR>
                    <a:lnT>
                      <a:noFill/>
                    </a:lnT>
                    <a:lnB>
                      <a:noFill/>
                    </a:lnB>
                  </a:tcPr>
                </a:tc>
                <a:tc>
                  <a:txBody>
                    <a:bodyPr/>
                    <a:lstStyle/>
                    <a:p>
                      <a:r>
                        <a:rPr lang="en-US" sz="1200"/>
                        <a:t>Asst. Professor</a:t>
                      </a:r>
                    </a:p>
                  </a:txBody>
                  <a:tcPr marL="74979" marR="74979" marT="37489" marB="37489" anchor="ctr">
                    <a:lnL>
                      <a:noFill/>
                    </a:lnL>
                    <a:lnR>
                      <a:noFill/>
                    </a:lnR>
                    <a:lnT>
                      <a:noFill/>
                    </a:lnT>
                    <a:lnB>
                      <a:noFill/>
                    </a:lnB>
                  </a:tcPr>
                </a:tc>
                <a:tc>
                  <a:txBody>
                    <a:bodyPr/>
                    <a:lstStyle/>
                    <a:p>
                      <a:r>
                        <a:rPr lang="en-US" sz="1200" dirty="0"/>
                        <a:t>40,000</a:t>
                      </a:r>
                    </a:p>
                  </a:txBody>
                  <a:tcPr marL="74979" marR="74979" marT="37489" marB="37489" anchor="ctr">
                    <a:lnL>
                      <a:noFill/>
                    </a:lnL>
                    <a:lnR>
                      <a:noFill/>
                    </a:lnR>
                    <a:lnT>
                      <a:noFill/>
                    </a:lnT>
                    <a:lnB>
                      <a:noFill/>
                    </a:lnB>
                  </a:tcPr>
                </a:tc>
              </a:tr>
            </a:tbl>
          </a:graphicData>
        </a:graphic>
      </p:graphicFrame>
      <p:sp>
        <p:nvSpPr>
          <p:cNvPr id="6" name="Rectangle 5"/>
          <p:cNvSpPr/>
          <p:nvPr/>
        </p:nvSpPr>
        <p:spPr>
          <a:xfrm>
            <a:off x="308113" y="780800"/>
            <a:ext cx="8269357" cy="1569660"/>
          </a:xfrm>
          <a:prstGeom prst="rect">
            <a:avLst/>
          </a:prstGeom>
        </p:spPr>
        <p:txBody>
          <a:bodyPr wrap="square">
            <a:spAutoFit/>
          </a:bodyPr>
          <a:lstStyle/>
          <a:p>
            <a:r>
              <a:rPr lang="en-US" dirty="0">
                <a:solidFill>
                  <a:srgbClr val="000000"/>
                </a:solidFill>
              </a:rPr>
              <a:t>Example: </a:t>
            </a:r>
            <a:r>
              <a:rPr lang="en-US" dirty="0" smtClean="0">
                <a:solidFill>
                  <a:srgbClr val="000000"/>
                </a:solidFill>
              </a:rPr>
              <a:t>University </a:t>
            </a:r>
            <a:r>
              <a:rPr lang="en-US" dirty="0">
                <a:solidFill>
                  <a:srgbClr val="000000"/>
                </a:solidFill>
              </a:rPr>
              <a:t>faculty. </a:t>
            </a:r>
            <a:endParaRPr lang="en-US" dirty="0" smtClean="0">
              <a:solidFill>
                <a:srgbClr val="000000"/>
              </a:solidFill>
            </a:endParaRPr>
          </a:p>
          <a:p>
            <a:pPr marL="285750" indent="-285750">
              <a:buFont typeface="Arial" panose="020B0604020202020204" pitchFamily="34" charset="0"/>
              <a:buChar char="•"/>
            </a:pPr>
            <a:r>
              <a:rPr lang="en-US" sz="1800" dirty="0" smtClean="0">
                <a:solidFill>
                  <a:srgbClr val="000000"/>
                </a:solidFill>
              </a:rPr>
              <a:t>Two </a:t>
            </a:r>
            <a:r>
              <a:rPr lang="en-US" sz="1800" dirty="0">
                <a:solidFill>
                  <a:srgbClr val="000000"/>
                </a:solidFill>
              </a:rPr>
              <a:t>professors can have the same name, but only if they are in different departments (names must be unique within departments). </a:t>
            </a:r>
            <a:endParaRPr lang="en-US" sz="1800" dirty="0" smtClean="0">
              <a:solidFill>
                <a:srgbClr val="000000"/>
              </a:solidFill>
            </a:endParaRPr>
          </a:p>
          <a:p>
            <a:pPr marL="285750" indent="-285750">
              <a:buFont typeface="Arial" panose="020B0604020202020204" pitchFamily="34" charset="0"/>
              <a:buChar char="•"/>
            </a:pPr>
            <a:r>
              <a:rPr lang="en-US" sz="1800" dirty="0" smtClean="0">
                <a:solidFill>
                  <a:srgbClr val="000000"/>
                </a:solidFill>
              </a:rPr>
              <a:t>A </a:t>
            </a:r>
            <a:r>
              <a:rPr lang="en-US" sz="1800" dirty="0">
                <a:solidFill>
                  <a:srgbClr val="000000"/>
                </a:solidFill>
              </a:rPr>
              <a:t>professor has one office. Each department has its own building in which it has multiple offices. Professors can share offices.</a:t>
            </a:r>
            <a:endParaRPr lang="en-US" sz="1800" dirty="0"/>
          </a:p>
        </p:txBody>
      </p:sp>
    </p:spTree>
    <p:extLst>
      <p:ext uri="{BB962C8B-B14F-4D97-AF65-F5344CB8AC3E}">
        <p14:creationId xmlns:p14="http://schemas.microsoft.com/office/powerpoint/2010/main" val="335080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2082"/>
            <a:ext cx="7467600" cy="480736"/>
          </a:xfrm>
        </p:spPr>
        <p:txBody>
          <a:bodyPr>
            <a:normAutofit fontScale="90000"/>
          </a:bodyPr>
          <a:lstStyle/>
          <a:p>
            <a:r>
              <a:rPr lang="en-US" dirty="0" smtClean="0"/>
              <a:t>BCNF</a:t>
            </a:r>
            <a:endParaRPr lang="en-US" dirty="0"/>
          </a:p>
        </p:txBody>
      </p:sp>
      <p:sp>
        <p:nvSpPr>
          <p:cNvPr id="3" name="Content Placeholder 2"/>
          <p:cNvSpPr>
            <a:spLocks noGrp="1"/>
          </p:cNvSpPr>
          <p:nvPr>
            <p:ph sz="quarter" idx="1"/>
          </p:nvPr>
        </p:nvSpPr>
        <p:spPr>
          <a:xfrm>
            <a:off x="457200" y="1172818"/>
            <a:ext cx="7467600" cy="4873752"/>
          </a:xfrm>
        </p:spPr>
        <p:txBody>
          <a:bodyPr>
            <a:normAutofit/>
          </a:bodyPr>
          <a:lstStyle/>
          <a:p>
            <a:r>
              <a:rPr lang="en-US" dirty="0" smtClean="0"/>
              <a:t>Faculty(name, department, office, title, salary)</a:t>
            </a:r>
          </a:p>
          <a:p>
            <a:endParaRPr lang="en-US" dirty="0"/>
          </a:p>
          <a:p>
            <a:r>
              <a:rPr lang="en-US" dirty="0" smtClean="0"/>
              <a:t>Primary Key is (name</a:t>
            </a:r>
            <a:r>
              <a:rPr lang="en-US" dirty="0"/>
              <a:t>, department) </a:t>
            </a:r>
            <a:endParaRPr lang="en-US" dirty="0" smtClean="0"/>
          </a:p>
          <a:p>
            <a:r>
              <a:rPr lang="en-US" dirty="0" smtClean="0"/>
              <a:t>Candidate key is (name</a:t>
            </a:r>
            <a:r>
              <a:rPr lang="en-US" dirty="0"/>
              <a:t>, office) </a:t>
            </a:r>
            <a:endParaRPr lang="en-US" dirty="0" smtClean="0"/>
          </a:p>
          <a:p>
            <a:r>
              <a:rPr lang="en-US" dirty="0" smtClean="0"/>
              <a:t>FDs </a:t>
            </a:r>
            <a:r>
              <a:rPr lang="en-US" dirty="0"/>
              <a:t>implied by requirements are:</a:t>
            </a:r>
          </a:p>
          <a:p>
            <a:pPr lvl="1"/>
            <a:r>
              <a:rPr lang="en-US" sz="1800" dirty="0" smtClean="0"/>
              <a:t>name</a:t>
            </a:r>
            <a:r>
              <a:rPr lang="en-US" sz="1800" dirty="0"/>
              <a:t>, </a:t>
            </a:r>
            <a:r>
              <a:rPr lang="en-US" sz="1800" dirty="0" smtClean="0"/>
              <a:t>department </a:t>
            </a:r>
            <a:r>
              <a:rPr lang="en-US" sz="1800" dirty="0"/>
              <a:t>→ </a:t>
            </a:r>
            <a:r>
              <a:rPr lang="en-US" sz="1800" dirty="0" smtClean="0"/>
              <a:t>name</a:t>
            </a:r>
            <a:r>
              <a:rPr lang="en-US" sz="1800" dirty="0"/>
              <a:t>, department, office, title, </a:t>
            </a:r>
            <a:r>
              <a:rPr lang="en-US" sz="1800" dirty="0" smtClean="0"/>
              <a:t>salary</a:t>
            </a:r>
            <a:endParaRPr lang="en-US" sz="1800" dirty="0"/>
          </a:p>
          <a:p>
            <a:pPr lvl="1"/>
            <a:r>
              <a:rPr lang="en-US" sz="1800" dirty="0"/>
              <a:t>office → department</a:t>
            </a:r>
          </a:p>
          <a:p>
            <a:pPr lvl="1"/>
            <a:r>
              <a:rPr lang="en-US" sz="1800" dirty="0" smtClean="0"/>
              <a:t>name</a:t>
            </a:r>
            <a:r>
              <a:rPr lang="en-US" sz="1800" dirty="0"/>
              <a:t>, </a:t>
            </a:r>
            <a:r>
              <a:rPr lang="en-US" sz="1800" dirty="0" smtClean="0"/>
              <a:t>office </a:t>
            </a:r>
            <a:r>
              <a:rPr lang="en-US" sz="1800" dirty="0"/>
              <a:t>→ </a:t>
            </a:r>
            <a:r>
              <a:rPr lang="en-US" sz="1800" dirty="0" smtClean="0"/>
              <a:t>name</a:t>
            </a:r>
            <a:r>
              <a:rPr lang="en-US" sz="1800" dirty="0"/>
              <a:t>, department, office, title, </a:t>
            </a:r>
            <a:r>
              <a:rPr lang="en-US" sz="1800" dirty="0" smtClean="0"/>
              <a:t>salary</a:t>
            </a:r>
          </a:p>
          <a:p>
            <a:r>
              <a:rPr lang="en-US" dirty="0" smtClean="0"/>
              <a:t>BCNF Relations</a:t>
            </a:r>
          </a:p>
          <a:p>
            <a:pPr lvl="1"/>
            <a:r>
              <a:rPr lang="en-US" sz="2400" dirty="0" smtClean="0">
                <a:latin typeface="Times New Roman" pitchFamily="18" charset="0"/>
              </a:rPr>
              <a:t>R1(</a:t>
            </a:r>
            <a:r>
              <a:rPr lang="en-US" sz="2400" u="sng" dirty="0" smtClean="0">
                <a:latin typeface="Times New Roman" pitchFamily="18" charset="0"/>
              </a:rPr>
              <a:t>name</a:t>
            </a:r>
            <a:r>
              <a:rPr lang="en-US" sz="2400" u="sng" dirty="0">
                <a:latin typeface="Times New Roman" pitchFamily="18" charset="0"/>
              </a:rPr>
              <a:t>, office</a:t>
            </a:r>
            <a:r>
              <a:rPr lang="en-US" sz="2400" dirty="0">
                <a:latin typeface="Times New Roman" pitchFamily="18" charset="0"/>
              </a:rPr>
              <a:t>, title, </a:t>
            </a:r>
            <a:r>
              <a:rPr lang="en-US" sz="2400" dirty="0" smtClean="0">
                <a:latin typeface="Times New Roman" pitchFamily="18" charset="0"/>
              </a:rPr>
              <a:t>salary)</a:t>
            </a:r>
          </a:p>
          <a:p>
            <a:pPr lvl="1"/>
            <a:r>
              <a:rPr lang="en-US" sz="2400" dirty="0" smtClean="0">
                <a:latin typeface="Times New Roman" pitchFamily="18" charset="0"/>
              </a:rPr>
              <a:t>R2(</a:t>
            </a:r>
            <a:r>
              <a:rPr lang="en-US" sz="2400" u="sng" dirty="0" smtClean="0">
                <a:latin typeface="Times New Roman" pitchFamily="18" charset="0"/>
              </a:rPr>
              <a:t>office</a:t>
            </a:r>
            <a:r>
              <a:rPr lang="en-US" sz="2400" dirty="0">
                <a:latin typeface="Times New Roman" pitchFamily="18" charset="0"/>
              </a:rPr>
              <a:t>, </a:t>
            </a:r>
            <a:r>
              <a:rPr lang="en-US" sz="2400" dirty="0" err="1" smtClean="0">
                <a:latin typeface="Times New Roman" pitchFamily="18" charset="0"/>
              </a:rPr>
              <a:t>dept</a:t>
            </a:r>
            <a:r>
              <a:rPr lang="en-US" sz="2400" dirty="0" smtClean="0">
                <a:latin typeface="Times New Roman" pitchFamily="18" charset="0"/>
              </a:rPr>
              <a:t>).</a:t>
            </a:r>
            <a:endParaRPr lang="en-US" dirty="0"/>
          </a:p>
          <a:p>
            <a:endParaRPr lang="en-US" dirty="0"/>
          </a:p>
        </p:txBody>
      </p:sp>
    </p:spTree>
    <p:extLst>
      <p:ext uri="{BB962C8B-B14F-4D97-AF65-F5344CB8AC3E}">
        <p14:creationId xmlns:p14="http://schemas.microsoft.com/office/powerpoint/2010/main" val="4156133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Problem</a:t>
            </a:r>
            <a:endParaRPr lang="en-US" dirty="0"/>
          </a:p>
        </p:txBody>
      </p:sp>
      <p:sp>
        <p:nvSpPr>
          <p:cNvPr id="3" name="Content Placeholder 2"/>
          <p:cNvSpPr>
            <a:spLocks noGrp="1"/>
          </p:cNvSpPr>
          <p:nvPr>
            <p:ph sz="quarter" idx="1"/>
          </p:nvPr>
        </p:nvSpPr>
        <p:spPr>
          <a:xfrm>
            <a:off x="457199" y="1600200"/>
            <a:ext cx="8058151" cy="4873752"/>
          </a:xfrm>
        </p:spPr>
        <p:txBody>
          <a:bodyPr>
            <a:normAutofit/>
          </a:bodyPr>
          <a:lstStyle/>
          <a:p>
            <a:r>
              <a:rPr lang="en-US" dirty="0"/>
              <a:t>Consider the universal relation </a:t>
            </a:r>
            <a:r>
              <a:rPr lang="en-US" i="1" dirty="0"/>
              <a:t>R </a:t>
            </a:r>
            <a:r>
              <a:rPr lang="en-US" dirty="0"/>
              <a:t>= {</a:t>
            </a:r>
            <a:r>
              <a:rPr lang="en-US" i="1" dirty="0"/>
              <a:t>A</a:t>
            </a:r>
            <a:r>
              <a:rPr lang="en-US" dirty="0"/>
              <a:t>, </a:t>
            </a:r>
            <a:r>
              <a:rPr lang="en-US" i="1" dirty="0"/>
              <a:t>B</a:t>
            </a:r>
            <a:r>
              <a:rPr lang="en-US" dirty="0"/>
              <a:t>, </a:t>
            </a:r>
            <a:r>
              <a:rPr lang="en-US" i="1" dirty="0"/>
              <a:t>C</a:t>
            </a:r>
            <a:r>
              <a:rPr lang="en-US" dirty="0"/>
              <a:t>, </a:t>
            </a:r>
            <a:r>
              <a:rPr lang="en-US" i="1" dirty="0"/>
              <a:t>D</a:t>
            </a:r>
            <a:r>
              <a:rPr lang="en-US" dirty="0"/>
              <a:t>, </a:t>
            </a:r>
            <a:r>
              <a:rPr lang="en-US" i="1" dirty="0"/>
              <a:t>E</a:t>
            </a:r>
            <a:r>
              <a:rPr lang="en-US" dirty="0"/>
              <a:t>, </a:t>
            </a:r>
            <a:r>
              <a:rPr lang="en-US" i="1" dirty="0"/>
              <a:t>F</a:t>
            </a:r>
            <a:r>
              <a:rPr lang="en-US" dirty="0"/>
              <a:t>, </a:t>
            </a:r>
            <a:r>
              <a:rPr lang="en-US" i="1" dirty="0"/>
              <a:t>G</a:t>
            </a:r>
            <a:r>
              <a:rPr lang="en-US" dirty="0"/>
              <a:t>, </a:t>
            </a:r>
            <a:r>
              <a:rPr lang="en-US" i="1" dirty="0"/>
              <a:t>H</a:t>
            </a:r>
            <a:r>
              <a:rPr lang="en-US" dirty="0"/>
              <a:t>, </a:t>
            </a:r>
            <a:r>
              <a:rPr lang="en-US" i="1" dirty="0"/>
              <a:t>I</a:t>
            </a:r>
            <a:r>
              <a:rPr lang="en-US" dirty="0"/>
              <a:t>, </a:t>
            </a:r>
            <a:r>
              <a:rPr lang="en-US" i="1" dirty="0"/>
              <a:t>J</a:t>
            </a:r>
            <a:r>
              <a:rPr lang="en-US" dirty="0"/>
              <a:t>} and the set </a:t>
            </a:r>
            <a:r>
              <a:rPr lang="en-US" dirty="0" smtClean="0"/>
              <a:t>of functional </a:t>
            </a:r>
            <a:r>
              <a:rPr lang="en-US" dirty="0"/>
              <a:t>dependencies </a:t>
            </a:r>
            <a:endParaRPr lang="en-US" dirty="0" smtClean="0"/>
          </a:p>
          <a:p>
            <a:endParaRPr lang="en-US" i="1" dirty="0" smtClean="0"/>
          </a:p>
          <a:p>
            <a:r>
              <a:rPr lang="en-US" i="1" dirty="0" smtClean="0"/>
              <a:t>F </a:t>
            </a:r>
            <a:r>
              <a:rPr lang="en-US" dirty="0"/>
              <a:t>= { {</a:t>
            </a:r>
            <a:r>
              <a:rPr lang="en-US" i="1" dirty="0"/>
              <a:t>A</a:t>
            </a:r>
            <a:r>
              <a:rPr lang="en-US" dirty="0"/>
              <a:t>, </a:t>
            </a:r>
            <a:r>
              <a:rPr lang="en-US" i="1" dirty="0"/>
              <a:t>B</a:t>
            </a:r>
            <a:r>
              <a:rPr lang="en-US" dirty="0"/>
              <a:t>}→{</a:t>
            </a:r>
            <a:r>
              <a:rPr lang="en-US" i="1" dirty="0"/>
              <a:t>C</a:t>
            </a:r>
            <a:r>
              <a:rPr lang="en-US" dirty="0"/>
              <a:t>}, {</a:t>
            </a:r>
            <a:r>
              <a:rPr lang="en-US" i="1" dirty="0"/>
              <a:t>A</a:t>
            </a:r>
            <a:r>
              <a:rPr lang="en-US" dirty="0"/>
              <a:t>}→{</a:t>
            </a:r>
            <a:r>
              <a:rPr lang="en-US" i="1" dirty="0"/>
              <a:t>D</a:t>
            </a:r>
            <a:r>
              <a:rPr lang="en-US" dirty="0"/>
              <a:t>, </a:t>
            </a:r>
            <a:r>
              <a:rPr lang="en-US" i="1" dirty="0"/>
              <a:t>E</a:t>
            </a:r>
            <a:r>
              <a:rPr lang="en-US" dirty="0"/>
              <a:t>}, {</a:t>
            </a:r>
            <a:r>
              <a:rPr lang="en-US" i="1" dirty="0"/>
              <a:t>B</a:t>
            </a:r>
            <a:r>
              <a:rPr lang="en-US" dirty="0"/>
              <a:t>}→{</a:t>
            </a:r>
            <a:r>
              <a:rPr lang="en-US" i="1" dirty="0"/>
              <a:t>F</a:t>
            </a:r>
            <a:r>
              <a:rPr lang="en-US" dirty="0"/>
              <a:t>}, {</a:t>
            </a:r>
            <a:r>
              <a:rPr lang="en-US" i="1" dirty="0"/>
              <a:t>F</a:t>
            </a:r>
            <a:r>
              <a:rPr lang="en-US" dirty="0"/>
              <a:t>}→{</a:t>
            </a:r>
            <a:r>
              <a:rPr lang="en-US" i="1" dirty="0" smtClean="0"/>
              <a:t>G</a:t>
            </a:r>
            <a:r>
              <a:rPr lang="en-US" dirty="0" smtClean="0"/>
              <a:t>,</a:t>
            </a:r>
            <a:r>
              <a:rPr lang="en-US" i="1" dirty="0" smtClean="0"/>
              <a:t>H</a:t>
            </a:r>
            <a:r>
              <a:rPr lang="en-US" dirty="0"/>
              <a:t>}, {</a:t>
            </a:r>
            <a:r>
              <a:rPr lang="en-US" i="1" dirty="0"/>
              <a:t>D</a:t>
            </a:r>
            <a:r>
              <a:rPr lang="en-US" dirty="0"/>
              <a:t>}→{</a:t>
            </a:r>
            <a:r>
              <a:rPr lang="en-US" i="1" dirty="0"/>
              <a:t>I</a:t>
            </a:r>
            <a:r>
              <a:rPr lang="en-US" dirty="0"/>
              <a:t>, </a:t>
            </a:r>
            <a:r>
              <a:rPr lang="en-US" i="1" dirty="0"/>
              <a:t>J</a:t>
            </a:r>
            <a:r>
              <a:rPr lang="en-US" dirty="0"/>
              <a:t>} }. </a:t>
            </a:r>
            <a:endParaRPr lang="en-US" dirty="0" smtClean="0"/>
          </a:p>
          <a:p>
            <a:endParaRPr lang="en-US" dirty="0" smtClean="0"/>
          </a:p>
          <a:p>
            <a:r>
              <a:rPr lang="en-US" sz="2000" dirty="0" smtClean="0"/>
              <a:t>What </a:t>
            </a:r>
            <a:r>
              <a:rPr lang="en-US" sz="2000" dirty="0"/>
              <a:t>is the key for </a:t>
            </a:r>
            <a:r>
              <a:rPr lang="en-US" sz="2000" i="1" dirty="0"/>
              <a:t>R</a:t>
            </a:r>
            <a:r>
              <a:rPr lang="en-US" sz="2000"/>
              <a:t>? </a:t>
            </a:r>
            <a:r>
              <a:rPr lang="en-US" sz="2000" smtClean="0"/>
              <a:t> </a:t>
            </a:r>
          </a:p>
          <a:p>
            <a:r>
              <a:rPr lang="en-US" sz="2000" smtClean="0"/>
              <a:t>Decompose </a:t>
            </a:r>
            <a:r>
              <a:rPr lang="en-US" sz="2000" i="1"/>
              <a:t>R </a:t>
            </a:r>
            <a:r>
              <a:rPr lang="en-US" sz="2000"/>
              <a:t>into 3NF relations</a:t>
            </a:r>
          </a:p>
          <a:p>
            <a:r>
              <a:rPr lang="en-US" sz="2000" smtClean="0"/>
              <a:t>Apply </a:t>
            </a:r>
            <a:r>
              <a:rPr lang="en-US" sz="2000" dirty="0"/>
              <a:t>the synthesis </a:t>
            </a:r>
            <a:r>
              <a:rPr lang="en-US" sz="2000"/>
              <a:t>algorithm </a:t>
            </a:r>
            <a:r>
              <a:rPr lang="en-US" sz="2000" smtClean="0"/>
              <a:t>to </a:t>
            </a:r>
            <a:r>
              <a:rPr lang="en-US" sz="2000" dirty="0" smtClean="0"/>
              <a:t>decompose </a:t>
            </a:r>
            <a:r>
              <a:rPr lang="en-US" sz="2000" i="1" dirty="0"/>
              <a:t>R </a:t>
            </a:r>
            <a:r>
              <a:rPr lang="en-US" sz="2000" dirty="0"/>
              <a:t>into 3NF </a:t>
            </a:r>
            <a:r>
              <a:rPr lang="en-US" sz="2000" dirty="0" smtClean="0"/>
              <a:t>relations</a:t>
            </a:r>
          </a:p>
          <a:p>
            <a:r>
              <a:rPr lang="en-US" sz="2000" smtClean="0"/>
              <a:t>Decompose </a:t>
            </a:r>
            <a:r>
              <a:rPr lang="en-US" sz="2000" i="1" dirty="0"/>
              <a:t>R </a:t>
            </a:r>
            <a:r>
              <a:rPr lang="en-US" sz="2000" dirty="0"/>
              <a:t>into BCNF relations.</a:t>
            </a:r>
            <a:endParaRPr lang="en-US" sz="2000" dirty="0" smtClean="0"/>
          </a:p>
        </p:txBody>
      </p:sp>
    </p:spTree>
    <p:extLst>
      <p:ext uri="{BB962C8B-B14F-4D97-AF65-F5344CB8AC3E}">
        <p14:creationId xmlns:p14="http://schemas.microsoft.com/office/powerpoint/2010/main" val="1592604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AB </a:t>
            </a:r>
            <a:r>
              <a:rPr lang="en-US" dirty="0"/>
              <a:t>is a key. </a:t>
            </a:r>
            <a:endParaRPr lang="en-US" dirty="0" smtClean="0"/>
          </a:p>
          <a:p>
            <a:pPr lvl="1"/>
            <a:r>
              <a:rPr lang="en-US" dirty="0" smtClean="0"/>
              <a:t>This </a:t>
            </a:r>
            <a:r>
              <a:rPr lang="en-US" dirty="0"/>
              <a:t>can </a:t>
            </a:r>
            <a:r>
              <a:rPr lang="en-US" dirty="0" smtClean="0"/>
              <a:t>be </a:t>
            </a:r>
            <a:r>
              <a:rPr lang="en-US" dirty="0"/>
              <a:t>determined by calculating AB+ with respect to the set F. </a:t>
            </a:r>
            <a:endParaRPr lang="en-US" dirty="0" smtClean="0"/>
          </a:p>
          <a:p>
            <a:r>
              <a:rPr lang="en-US" dirty="0" smtClean="0"/>
              <a:t>2NF </a:t>
            </a:r>
          </a:p>
          <a:p>
            <a:pPr lvl="1"/>
            <a:r>
              <a:rPr lang="en-US" dirty="0"/>
              <a:t>R1 (A, B, C) </a:t>
            </a:r>
            <a:endParaRPr lang="en-US" dirty="0" smtClean="0"/>
          </a:p>
          <a:p>
            <a:pPr lvl="1"/>
            <a:r>
              <a:rPr lang="en-US" dirty="0" smtClean="0"/>
              <a:t>R2 </a:t>
            </a:r>
            <a:r>
              <a:rPr lang="en-US" dirty="0"/>
              <a:t>(A,D,E,I,J) </a:t>
            </a:r>
            <a:endParaRPr lang="en-US" dirty="0" smtClean="0"/>
          </a:p>
          <a:p>
            <a:pPr lvl="1"/>
            <a:r>
              <a:rPr lang="en-US" dirty="0" smtClean="0"/>
              <a:t>R3 </a:t>
            </a:r>
            <a:r>
              <a:rPr lang="en-US" dirty="0"/>
              <a:t>(B, F, G, H)</a:t>
            </a:r>
          </a:p>
          <a:p>
            <a:r>
              <a:rPr lang="en-US" dirty="0" smtClean="0"/>
              <a:t>3NF </a:t>
            </a:r>
          </a:p>
          <a:p>
            <a:pPr lvl="1"/>
            <a:r>
              <a:rPr lang="en-US" dirty="0" smtClean="0"/>
              <a:t>R1 </a:t>
            </a:r>
            <a:r>
              <a:rPr lang="en-US" dirty="0"/>
              <a:t>(A, B, C</a:t>
            </a:r>
            <a:r>
              <a:rPr lang="en-US" dirty="0" smtClean="0"/>
              <a:t>)</a:t>
            </a:r>
          </a:p>
          <a:p>
            <a:pPr lvl="1"/>
            <a:r>
              <a:rPr lang="en-US" dirty="0" smtClean="0"/>
              <a:t>R2.1 </a:t>
            </a:r>
            <a:r>
              <a:rPr lang="en-US" dirty="0"/>
              <a:t>(A,D,E) </a:t>
            </a:r>
            <a:endParaRPr lang="en-US" dirty="0" smtClean="0"/>
          </a:p>
          <a:p>
            <a:pPr lvl="1"/>
            <a:r>
              <a:rPr lang="en-US" dirty="0" smtClean="0"/>
              <a:t>R2.2 </a:t>
            </a:r>
            <a:r>
              <a:rPr lang="en-US" dirty="0"/>
              <a:t>(D, I, J) </a:t>
            </a:r>
            <a:endParaRPr lang="en-US" dirty="0" smtClean="0"/>
          </a:p>
          <a:p>
            <a:pPr lvl="1"/>
            <a:r>
              <a:rPr lang="en-US" dirty="0" smtClean="0"/>
              <a:t>R3.1 </a:t>
            </a:r>
            <a:r>
              <a:rPr lang="en-US" dirty="0"/>
              <a:t>(B, F) </a:t>
            </a:r>
            <a:endParaRPr lang="en-US" dirty="0" smtClean="0"/>
          </a:p>
          <a:p>
            <a:pPr lvl="1"/>
            <a:r>
              <a:rPr lang="en-US" dirty="0" smtClean="0"/>
              <a:t>R3.2 </a:t>
            </a:r>
            <a:r>
              <a:rPr lang="en-US" dirty="0"/>
              <a:t>(F, G, H)</a:t>
            </a:r>
          </a:p>
        </p:txBody>
      </p:sp>
    </p:spTree>
    <p:extLst>
      <p:ext uri="{BB962C8B-B14F-4D97-AF65-F5344CB8AC3E}">
        <p14:creationId xmlns:p14="http://schemas.microsoft.com/office/powerpoint/2010/main" val="73253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Decompositions of previous question</a:t>
            </a:r>
            <a:endParaRPr lang="en-US" dirty="0"/>
          </a:p>
        </p:txBody>
      </p:sp>
      <p:sp>
        <p:nvSpPr>
          <p:cNvPr id="3" name="Content Placeholder 2"/>
          <p:cNvSpPr>
            <a:spLocks noGrp="1"/>
          </p:cNvSpPr>
          <p:nvPr>
            <p:ph sz="quarter" idx="1"/>
          </p:nvPr>
        </p:nvSpPr>
        <p:spPr>
          <a:xfrm>
            <a:off x="457199" y="1600200"/>
            <a:ext cx="8203721" cy="4873752"/>
          </a:xfrm>
        </p:spPr>
        <p:txBody>
          <a:bodyPr>
            <a:normAutofit/>
          </a:bodyPr>
          <a:lstStyle/>
          <a:p>
            <a:r>
              <a:rPr lang="en-US" sz="1800" dirty="0" smtClean="0"/>
              <a:t>Determine </a:t>
            </a:r>
            <a:r>
              <a:rPr lang="en-US" sz="1800" dirty="0"/>
              <a:t>whether each decomposition has </a:t>
            </a:r>
            <a:endParaRPr lang="en-US" sz="1800" dirty="0" smtClean="0"/>
          </a:p>
          <a:p>
            <a:pPr lvl="1"/>
            <a:r>
              <a:rPr lang="en-US" sz="1600" dirty="0" smtClean="0"/>
              <a:t>(</a:t>
            </a:r>
            <a:r>
              <a:rPr lang="en-US" sz="1600" dirty="0"/>
              <a:t>1) the </a:t>
            </a:r>
            <a:r>
              <a:rPr lang="en-US" sz="1600" dirty="0" smtClean="0"/>
              <a:t>dependency preservation </a:t>
            </a:r>
            <a:r>
              <a:rPr lang="en-US" sz="1600" dirty="0"/>
              <a:t>property, and </a:t>
            </a:r>
            <a:endParaRPr lang="en-US" sz="1600" dirty="0" smtClean="0"/>
          </a:p>
          <a:p>
            <a:pPr lvl="1"/>
            <a:r>
              <a:rPr lang="en-US" sz="1600" dirty="0" smtClean="0"/>
              <a:t>(</a:t>
            </a:r>
            <a:r>
              <a:rPr lang="en-US" sz="1600" dirty="0"/>
              <a:t>2) the lossless join property, with respect to </a:t>
            </a:r>
            <a:r>
              <a:rPr lang="en-US" sz="1600" i="1" dirty="0" smtClean="0"/>
              <a:t>F</a:t>
            </a:r>
            <a:r>
              <a:rPr lang="en-US" sz="1600" dirty="0" smtClean="0"/>
              <a:t>.</a:t>
            </a:r>
          </a:p>
          <a:p>
            <a:r>
              <a:rPr lang="en-US" sz="1800" dirty="0" smtClean="0"/>
              <a:t>Also </a:t>
            </a:r>
            <a:r>
              <a:rPr lang="en-US" sz="1800"/>
              <a:t>determine </a:t>
            </a:r>
            <a:r>
              <a:rPr lang="en-US" sz="1800" smtClean="0"/>
              <a:t>the </a:t>
            </a:r>
            <a:r>
              <a:rPr lang="en-US" sz="1800" dirty="0"/>
              <a:t>normal </a:t>
            </a:r>
            <a:r>
              <a:rPr lang="en-US" sz="1800"/>
              <a:t>form </a:t>
            </a:r>
            <a:r>
              <a:rPr lang="en-US" sz="1800" smtClean="0"/>
              <a:t>of each </a:t>
            </a:r>
            <a:r>
              <a:rPr lang="en-US" sz="1800" dirty="0"/>
              <a:t>relation in </a:t>
            </a:r>
            <a:r>
              <a:rPr lang="en-US" sz="1800"/>
              <a:t>the </a:t>
            </a:r>
            <a:r>
              <a:rPr lang="en-US" sz="1800" smtClean="0"/>
              <a:t>decomposition</a:t>
            </a:r>
            <a:endParaRPr lang="en-US" sz="1800" dirty="0" smtClean="0"/>
          </a:p>
          <a:p>
            <a:r>
              <a:rPr lang="en-US" sz="1800" b="1" i="1" dirty="0"/>
              <a:t>R </a:t>
            </a:r>
            <a:r>
              <a:rPr lang="en-US" sz="1800" b="1" dirty="0"/>
              <a:t>= {</a:t>
            </a:r>
            <a:r>
              <a:rPr lang="en-US" sz="1800" b="1" i="1" dirty="0"/>
              <a:t>A</a:t>
            </a:r>
            <a:r>
              <a:rPr lang="en-US" sz="1800" b="1" dirty="0"/>
              <a:t>, </a:t>
            </a:r>
            <a:r>
              <a:rPr lang="en-US" sz="1800" b="1" i="1" dirty="0"/>
              <a:t>B</a:t>
            </a:r>
            <a:r>
              <a:rPr lang="en-US" sz="1800" b="1" dirty="0"/>
              <a:t>, </a:t>
            </a:r>
            <a:r>
              <a:rPr lang="en-US" sz="1800" b="1" i="1" dirty="0"/>
              <a:t>C</a:t>
            </a:r>
            <a:r>
              <a:rPr lang="en-US" sz="1800" b="1" dirty="0"/>
              <a:t>, </a:t>
            </a:r>
            <a:r>
              <a:rPr lang="en-US" sz="1800" b="1" i="1" dirty="0"/>
              <a:t>D</a:t>
            </a:r>
            <a:r>
              <a:rPr lang="en-US" sz="1800" b="1" dirty="0"/>
              <a:t>, </a:t>
            </a:r>
            <a:r>
              <a:rPr lang="en-US" sz="1800" b="1" i="1" dirty="0"/>
              <a:t>E</a:t>
            </a:r>
            <a:r>
              <a:rPr lang="en-US" sz="1800" b="1" dirty="0"/>
              <a:t>, </a:t>
            </a:r>
            <a:r>
              <a:rPr lang="en-US" sz="1800" b="1" i="1" dirty="0"/>
              <a:t>F</a:t>
            </a:r>
            <a:r>
              <a:rPr lang="en-US" sz="1800" b="1" dirty="0"/>
              <a:t>, </a:t>
            </a:r>
            <a:r>
              <a:rPr lang="en-US" sz="1800" b="1" i="1" dirty="0"/>
              <a:t>G</a:t>
            </a:r>
            <a:r>
              <a:rPr lang="en-US" sz="1800" b="1" dirty="0"/>
              <a:t>, </a:t>
            </a:r>
            <a:r>
              <a:rPr lang="en-US" sz="1800" b="1" i="1" dirty="0"/>
              <a:t>H</a:t>
            </a:r>
            <a:r>
              <a:rPr lang="en-US" sz="1800" b="1" dirty="0"/>
              <a:t>, </a:t>
            </a:r>
            <a:r>
              <a:rPr lang="en-US" sz="1800" b="1" i="1" dirty="0"/>
              <a:t>I</a:t>
            </a:r>
            <a:r>
              <a:rPr lang="en-US" sz="1800" b="1" dirty="0"/>
              <a:t>, </a:t>
            </a:r>
            <a:r>
              <a:rPr lang="en-US" sz="1800" b="1" i="1" dirty="0"/>
              <a:t>J</a:t>
            </a:r>
            <a:r>
              <a:rPr lang="en-US" sz="1800" b="1" dirty="0" smtClean="0"/>
              <a:t>}</a:t>
            </a:r>
            <a:endParaRPr lang="en-US" sz="1800" b="1" i="1" dirty="0"/>
          </a:p>
          <a:p>
            <a:r>
              <a:rPr lang="en-US" sz="1800" b="1" i="1" dirty="0"/>
              <a:t>F </a:t>
            </a:r>
            <a:r>
              <a:rPr lang="en-US" sz="1800" b="1" dirty="0"/>
              <a:t>= { {</a:t>
            </a:r>
            <a:r>
              <a:rPr lang="en-US" sz="1800" b="1" i="1" dirty="0"/>
              <a:t>A</a:t>
            </a:r>
            <a:r>
              <a:rPr lang="en-US" sz="1800" b="1" dirty="0"/>
              <a:t>, </a:t>
            </a:r>
            <a:r>
              <a:rPr lang="en-US" sz="1800" b="1" i="1" dirty="0"/>
              <a:t>B</a:t>
            </a:r>
            <a:r>
              <a:rPr lang="en-US" sz="1800" b="1" dirty="0"/>
              <a:t>}→{</a:t>
            </a:r>
            <a:r>
              <a:rPr lang="en-US" sz="1800" b="1" i="1" dirty="0"/>
              <a:t>C</a:t>
            </a:r>
            <a:r>
              <a:rPr lang="en-US" sz="1800" b="1" dirty="0"/>
              <a:t>}, {</a:t>
            </a:r>
            <a:r>
              <a:rPr lang="en-US" sz="1800" b="1" i="1" dirty="0"/>
              <a:t>A</a:t>
            </a:r>
            <a:r>
              <a:rPr lang="en-US" sz="1800" b="1" dirty="0"/>
              <a:t>}→{</a:t>
            </a:r>
            <a:r>
              <a:rPr lang="en-US" sz="1800" b="1" i="1" dirty="0"/>
              <a:t>D</a:t>
            </a:r>
            <a:r>
              <a:rPr lang="en-US" sz="1800" b="1" dirty="0"/>
              <a:t>, </a:t>
            </a:r>
            <a:r>
              <a:rPr lang="en-US" sz="1800" b="1" i="1" dirty="0"/>
              <a:t>E</a:t>
            </a:r>
            <a:r>
              <a:rPr lang="en-US" sz="1800" b="1" dirty="0"/>
              <a:t>}, {</a:t>
            </a:r>
            <a:r>
              <a:rPr lang="en-US" sz="1800" b="1" i="1" dirty="0"/>
              <a:t>B</a:t>
            </a:r>
            <a:r>
              <a:rPr lang="en-US" sz="1800" b="1" dirty="0"/>
              <a:t>}→{</a:t>
            </a:r>
            <a:r>
              <a:rPr lang="en-US" sz="1800" b="1" i="1" dirty="0"/>
              <a:t>F</a:t>
            </a:r>
            <a:r>
              <a:rPr lang="en-US" sz="1800" b="1" dirty="0"/>
              <a:t>}, {</a:t>
            </a:r>
            <a:r>
              <a:rPr lang="en-US" sz="1800" b="1" i="1" dirty="0"/>
              <a:t>F</a:t>
            </a:r>
            <a:r>
              <a:rPr lang="en-US" sz="1800" b="1" dirty="0"/>
              <a:t>}→{</a:t>
            </a:r>
            <a:r>
              <a:rPr lang="en-US" sz="1800" b="1" i="1" dirty="0"/>
              <a:t>G</a:t>
            </a:r>
            <a:r>
              <a:rPr lang="en-US" sz="1800" b="1" dirty="0"/>
              <a:t>,</a:t>
            </a:r>
            <a:r>
              <a:rPr lang="en-US" sz="1800" b="1" i="1" dirty="0"/>
              <a:t>H</a:t>
            </a:r>
            <a:r>
              <a:rPr lang="en-US" sz="1800" b="1" dirty="0"/>
              <a:t>}, {</a:t>
            </a:r>
            <a:r>
              <a:rPr lang="en-US" sz="1800" b="1" i="1" dirty="0"/>
              <a:t>D</a:t>
            </a:r>
            <a:r>
              <a:rPr lang="en-US" sz="1800" b="1" dirty="0"/>
              <a:t>}→{</a:t>
            </a:r>
            <a:r>
              <a:rPr lang="en-US" sz="1800" b="1" i="1" dirty="0"/>
              <a:t>I</a:t>
            </a:r>
            <a:r>
              <a:rPr lang="en-US" sz="1800" b="1" dirty="0"/>
              <a:t>, </a:t>
            </a:r>
            <a:r>
              <a:rPr lang="en-US" sz="1800" b="1" i="1" dirty="0"/>
              <a:t>J</a:t>
            </a:r>
            <a:r>
              <a:rPr lang="en-US" sz="1800" b="1" dirty="0"/>
              <a:t>} }. </a:t>
            </a:r>
          </a:p>
          <a:p>
            <a:endParaRPr lang="en-US" sz="2000" dirty="0"/>
          </a:p>
          <a:p>
            <a:r>
              <a:rPr lang="pt-BR" sz="2000" b="1" i="1" dirty="0" smtClean="0"/>
              <a:t>D</a:t>
            </a:r>
            <a:r>
              <a:rPr lang="pt-BR" sz="2000" b="1" dirty="0" smtClean="0"/>
              <a:t>1 </a:t>
            </a:r>
            <a:r>
              <a:rPr lang="pt-BR" sz="2000" b="1" dirty="0"/>
              <a:t>=</a:t>
            </a:r>
            <a:r>
              <a:rPr lang="pt-BR" sz="2000" dirty="0"/>
              <a:t> {</a:t>
            </a:r>
            <a:r>
              <a:rPr lang="pt-BR" sz="2000" i="1" dirty="0"/>
              <a:t>R</a:t>
            </a:r>
            <a:r>
              <a:rPr lang="pt-BR" sz="2000" dirty="0"/>
              <a:t>1, </a:t>
            </a:r>
            <a:r>
              <a:rPr lang="pt-BR" sz="2000" i="1" dirty="0"/>
              <a:t>R</a:t>
            </a:r>
            <a:r>
              <a:rPr lang="pt-BR" sz="2000" dirty="0"/>
              <a:t>2, </a:t>
            </a:r>
            <a:r>
              <a:rPr lang="pt-BR" sz="2000" i="1" dirty="0"/>
              <a:t>R</a:t>
            </a:r>
            <a:r>
              <a:rPr lang="pt-BR" sz="2000" dirty="0"/>
              <a:t>3, </a:t>
            </a:r>
            <a:r>
              <a:rPr lang="pt-BR" sz="2000" i="1" dirty="0"/>
              <a:t>R</a:t>
            </a:r>
            <a:r>
              <a:rPr lang="pt-BR" sz="2000" dirty="0"/>
              <a:t>4, </a:t>
            </a:r>
            <a:r>
              <a:rPr lang="pt-BR" sz="2000" i="1" dirty="0"/>
              <a:t>R</a:t>
            </a:r>
            <a:r>
              <a:rPr lang="pt-BR" sz="2000" dirty="0"/>
              <a:t>5} </a:t>
            </a:r>
            <a:r>
              <a:rPr lang="pt-BR" sz="2000"/>
              <a:t>; </a:t>
            </a:r>
            <a:endParaRPr lang="pt-BR" sz="2000" smtClean="0"/>
          </a:p>
          <a:p>
            <a:pPr lvl="1"/>
            <a:r>
              <a:rPr lang="pt-BR" sz="1700" i="1" smtClean="0"/>
              <a:t>R</a:t>
            </a:r>
            <a:r>
              <a:rPr lang="pt-BR" sz="1700" smtClean="0"/>
              <a:t>1 </a:t>
            </a:r>
            <a:r>
              <a:rPr lang="pt-BR" sz="1700" dirty="0"/>
              <a:t>= {</a:t>
            </a:r>
            <a:r>
              <a:rPr lang="pt-BR" sz="1700" i="1" dirty="0"/>
              <a:t>A</a:t>
            </a:r>
            <a:r>
              <a:rPr lang="pt-BR" sz="1700" dirty="0"/>
              <a:t>, </a:t>
            </a:r>
            <a:r>
              <a:rPr lang="pt-BR" sz="1700" i="1" dirty="0"/>
              <a:t>B</a:t>
            </a:r>
            <a:r>
              <a:rPr lang="pt-BR" sz="1700" dirty="0"/>
              <a:t>, </a:t>
            </a:r>
            <a:r>
              <a:rPr lang="pt-BR" sz="1700" i="1" dirty="0"/>
              <a:t>C</a:t>
            </a:r>
            <a:r>
              <a:rPr lang="pt-BR" sz="1700" dirty="0"/>
              <a:t>} , </a:t>
            </a:r>
            <a:r>
              <a:rPr lang="pt-BR" sz="1700" i="1" dirty="0"/>
              <a:t>R</a:t>
            </a:r>
            <a:r>
              <a:rPr lang="pt-BR" sz="1700" dirty="0"/>
              <a:t>2 = {</a:t>
            </a:r>
            <a:r>
              <a:rPr lang="pt-BR" sz="1700" i="1" dirty="0"/>
              <a:t>A</a:t>
            </a:r>
            <a:r>
              <a:rPr lang="pt-BR" sz="1700" dirty="0"/>
              <a:t>, </a:t>
            </a:r>
            <a:r>
              <a:rPr lang="pt-BR" sz="1700" i="1" dirty="0"/>
              <a:t>D</a:t>
            </a:r>
            <a:r>
              <a:rPr lang="pt-BR" sz="1700" dirty="0"/>
              <a:t>, </a:t>
            </a:r>
            <a:r>
              <a:rPr lang="pt-BR" sz="1700" i="1" dirty="0"/>
              <a:t>E</a:t>
            </a:r>
            <a:r>
              <a:rPr lang="pt-BR" sz="1700" dirty="0"/>
              <a:t>} , </a:t>
            </a:r>
            <a:r>
              <a:rPr lang="pt-BR" sz="1700" i="1" dirty="0"/>
              <a:t>R</a:t>
            </a:r>
            <a:r>
              <a:rPr lang="pt-BR" sz="1700" dirty="0"/>
              <a:t>3 = {</a:t>
            </a:r>
            <a:r>
              <a:rPr lang="pt-BR" sz="1700" i="1" dirty="0"/>
              <a:t>B</a:t>
            </a:r>
            <a:r>
              <a:rPr lang="pt-BR" sz="1700" dirty="0"/>
              <a:t>, </a:t>
            </a:r>
            <a:r>
              <a:rPr lang="pt-BR" sz="1700" i="1" dirty="0"/>
              <a:t>F</a:t>
            </a:r>
            <a:r>
              <a:rPr lang="pt-BR" sz="1700" dirty="0"/>
              <a:t>} , </a:t>
            </a:r>
            <a:r>
              <a:rPr lang="pt-BR" sz="1700" i="1" dirty="0"/>
              <a:t>R</a:t>
            </a:r>
            <a:r>
              <a:rPr lang="pt-BR" sz="1700" dirty="0"/>
              <a:t>4 </a:t>
            </a:r>
            <a:r>
              <a:rPr lang="pt-BR" sz="1700" dirty="0" smtClean="0"/>
              <a:t>= {</a:t>
            </a:r>
            <a:r>
              <a:rPr lang="pt-BR" sz="1700" i="1" dirty="0"/>
              <a:t>F</a:t>
            </a:r>
            <a:r>
              <a:rPr lang="pt-BR" sz="1700" dirty="0"/>
              <a:t>, </a:t>
            </a:r>
            <a:r>
              <a:rPr lang="pt-BR" sz="1700" i="1" dirty="0"/>
              <a:t>G</a:t>
            </a:r>
            <a:r>
              <a:rPr lang="pt-BR" sz="1700" dirty="0"/>
              <a:t>, </a:t>
            </a:r>
            <a:r>
              <a:rPr lang="pt-BR" sz="1700" i="1" dirty="0"/>
              <a:t>H</a:t>
            </a:r>
            <a:r>
              <a:rPr lang="pt-BR" sz="1700" dirty="0"/>
              <a:t>} , </a:t>
            </a:r>
            <a:r>
              <a:rPr lang="pt-BR" sz="1700" i="1" dirty="0"/>
              <a:t>R</a:t>
            </a:r>
            <a:r>
              <a:rPr lang="pt-BR" sz="1700" dirty="0"/>
              <a:t>5 = {</a:t>
            </a:r>
            <a:r>
              <a:rPr lang="pt-BR" sz="1700" i="1" dirty="0"/>
              <a:t>D</a:t>
            </a:r>
            <a:r>
              <a:rPr lang="pt-BR" sz="1700" dirty="0"/>
              <a:t>, </a:t>
            </a:r>
            <a:r>
              <a:rPr lang="pt-BR" sz="1700" i="1" dirty="0"/>
              <a:t>I</a:t>
            </a:r>
            <a:r>
              <a:rPr lang="pt-BR" sz="1700" dirty="0"/>
              <a:t>, </a:t>
            </a:r>
            <a:r>
              <a:rPr lang="pt-BR" sz="1700" i="1" dirty="0"/>
              <a:t>J</a:t>
            </a:r>
            <a:r>
              <a:rPr lang="pt-BR" sz="1700" dirty="0" smtClean="0"/>
              <a:t>}</a:t>
            </a:r>
          </a:p>
          <a:p>
            <a:r>
              <a:rPr lang="pt-BR" sz="2000" b="1" i="1" dirty="0" smtClean="0"/>
              <a:t>D</a:t>
            </a:r>
            <a:r>
              <a:rPr lang="pt-BR" sz="2000" b="1" dirty="0" smtClean="0"/>
              <a:t>2 </a:t>
            </a:r>
            <a:r>
              <a:rPr lang="pt-BR" sz="2000" b="1" dirty="0"/>
              <a:t>= </a:t>
            </a:r>
            <a:r>
              <a:rPr lang="pt-BR" sz="2000" dirty="0"/>
              <a:t>{</a:t>
            </a:r>
            <a:r>
              <a:rPr lang="pt-BR" sz="2000" i="1" dirty="0"/>
              <a:t>R</a:t>
            </a:r>
            <a:r>
              <a:rPr lang="pt-BR" sz="2000" dirty="0"/>
              <a:t>1, </a:t>
            </a:r>
            <a:r>
              <a:rPr lang="pt-BR" sz="2000" i="1" dirty="0"/>
              <a:t>R</a:t>
            </a:r>
            <a:r>
              <a:rPr lang="pt-BR" sz="2000" dirty="0"/>
              <a:t>2, </a:t>
            </a:r>
            <a:r>
              <a:rPr lang="pt-BR" sz="2000" i="1" dirty="0"/>
              <a:t>R</a:t>
            </a:r>
            <a:r>
              <a:rPr lang="pt-BR" sz="2000" dirty="0"/>
              <a:t>3} </a:t>
            </a:r>
            <a:r>
              <a:rPr lang="pt-BR" sz="2000"/>
              <a:t>; </a:t>
            </a:r>
            <a:endParaRPr lang="pt-BR" sz="2000" smtClean="0"/>
          </a:p>
          <a:p>
            <a:pPr lvl="1"/>
            <a:r>
              <a:rPr lang="pt-BR" sz="1700" i="1" smtClean="0"/>
              <a:t>R</a:t>
            </a:r>
            <a:r>
              <a:rPr lang="pt-BR" sz="1700" smtClean="0"/>
              <a:t>1 </a:t>
            </a:r>
            <a:r>
              <a:rPr lang="pt-BR" sz="1700" dirty="0"/>
              <a:t>= {</a:t>
            </a:r>
            <a:r>
              <a:rPr lang="pt-BR" sz="1700" i="1" dirty="0"/>
              <a:t>A</a:t>
            </a:r>
            <a:r>
              <a:rPr lang="pt-BR" sz="1700" dirty="0"/>
              <a:t>, </a:t>
            </a:r>
            <a:r>
              <a:rPr lang="pt-BR" sz="1700" i="1" dirty="0"/>
              <a:t>B</a:t>
            </a:r>
            <a:r>
              <a:rPr lang="pt-BR" sz="1700" dirty="0"/>
              <a:t>, </a:t>
            </a:r>
            <a:r>
              <a:rPr lang="pt-BR" sz="1700" i="1" dirty="0"/>
              <a:t>C</a:t>
            </a:r>
            <a:r>
              <a:rPr lang="pt-BR" sz="1700" dirty="0"/>
              <a:t>, </a:t>
            </a:r>
            <a:r>
              <a:rPr lang="pt-BR" sz="1700" i="1" dirty="0"/>
              <a:t>D</a:t>
            </a:r>
            <a:r>
              <a:rPr lang="pt-BR" sz="1700" dirty="0"/>
              <a:t>, </a:t>
            </a:r>
            <a:r>
              <a:rPr lang="pt-BR" sz="1700" i="1" dirty="0"/>
              <a:t>E</a:t>
            </a:r>
            <a:r>
              <a:rPr lang="pt-BR" sz="1700" dirty="0"/>
              <a:t>} , </a:t>
            </a:r>
            <a:r>
              <a:rPr lang="pt-BR" sz="1700" i="1" dirty="0"/>
              <a:t>R</a:t>
            </a:r>
            <a:r>
              <a:rPr lang="pt-BR" sz="1700" dirty="0"/>
              <a:t>2 = {</a:t>
            </a:r>
            <a:r>
              <a:rPr lang="pt-BR" sz="1700" i="1" dirty="0"/>
              <a:t>B</a:t>
            </a:r>
            <a:r>
              <a:rPr lang="pt-BR" sz="1700" dirty="0"/>
              <a:t>, </a:t>
            </a:r>
            <a:r>
              <a:rPr lang="pt-BR" sz="1700" i="1" dirty="0"/>
              <a:t>F</a:t>
            </a:r>
            <a:r>
              <a:rPr lang="pt-BR" sz="1700" dirty="0"/>
              <a:t>, </a:t>
            </a:r>
            <a:r>
              <a:rPr lang="pt-BR" sz="1700" i="1" dirty="0"/>
              <a:t>G</a:t>
            </a:r>
            <a:r>
              <a:rPr lang="pt-BR" sz="1700" dirty="0"/>
              <a:t>, </a:t>
            </a:r>
            <a:r>
              <a:rPr lang="pt-BR" sz="1700" i="1" dirty="0"/>
              <a:t>H</a:t>
            </a:r>
            <a:r>
              <a:rPr lang="pt-BR" sz="1700" dirty="0"/>
              <a:t>} , </a:t>
            </a:r>
            <a:r>
              <a:rPr lang="pt-BR" sz="1700" i="1" dirty="0"/>
              <a:t>R</a:t>
            </a:r>
            <a:r>
              <a:rPr lang="pt-BR" sz="1700" dirty="0"/>
              <a:t>3 = {</a:t>
            </a:r>
            <a:r>
              <a:rPr lang="pt-BR" sz="1700" i="1" dirty="0"/>
              <a:t>D</a:t>
            </a:r>
            <a:r>
              <a:rPr lang="pt-BR" sz="1700" dirty="0"/>
              <a:t>, </a:t>
            </a:r>
            <a:r>
              <a:rPr lang="pt-BR" sz="1700" i="1" dirty="0"/>
              <a:t>I</a:t>
            </a:r>
            <a:r>
              <a:rPr lang="pt-BR" sz="1700" dirty="0"/>
              <a:t>, </a:t>
            </a:r>
            <a:r>
              <a:rPr lang="pt-BR" sz="1700" i="1" dirty="0"/>
              <a:t>J</a:t>
            </a:r>
            <a:r>
              <a:rPr lang="pt-BR" sz="1700" dirty="0"/>
              <a:t>}</a:t>
            </a:r>
          </a:p>
          <a:p>
            <a:r>
              <a:rPr lang="pt-BR" sz="2000" b="1" i="1" dirty="0" smtClean="0"/>
              <a:t>D</a:t>
            </a:r>
            <a:r>
              <a:rPr lang="pt-BR" sz="2000" b="1" dirty="0" smtClean="0"/>
              <a:t>3 </a:t>
            </a:r>
            <a:r>
              <a:rPr lang="pt-BR" sz="2000" b="1" dirty="0"/>
              <a:t>=</a:t>
            </a:r>
            <a:r>
              <a:rPr lang="pt-BR" sz="2000" dirty="0"/>
              <a:t> {</a:t>
            </a:r>
            <a:r>
              <a:rPr lang="pt-BR" sz="2000" i="1" dirty="0"/>
              <a:t>R</a:t>
            </a:r>
            <a:r>
              <a:rPr lang="pt-BR" sz="2000" dirty="0"/>
              <a:t>1, </a:t>
            </a:r>
            <a:r>
              <a:rPr lang="pt-BR" sz="2000" i="1" dirty="0"/>
              <a:t>R</a:t>
            </a:r>
            <a:r>
              <a:rPr lang="pt-BR" sz="2000" dirty="0"/>
              <a:t>2, </a:t>
            </a:r>
            <a:r>
              <a:rPr lang="pt-BR" sz="2000" i="1" dirty="0"/>
              <a:t>R</a:t>
            </a:r>
            <a:r>
              <a:rPr lang="pt-BR" sz="2000" dirty="0"/>
              <a:t>3, </a:t>
            </a:r>
            <a:r>
              <a:rPr lang="pt-BR" sz="2000" i="1" dirty="0"/>
              <a:t>R</a:t>
            </a:r>
            <a:r>
              <a:rPr lang="pt-BR" sz="2000" dirty="0"/>
              <a:t>4, </a:t>
            </a:r>
            <a:r>
              <a:rPr lang="pt-BR" sz="2000" i="1" dirty="0"/>
              <a:t>R</a:t>
            </a:r>
            <a:r>
              <a:rPr lang="pt-BR" sz="2000" dirty="0"/>
              <a:t>5} </a:t>
            </a:r>
            <a:r>
              <a:rPr lang="pt-BR" sz="2000"/>
              <a:t>; </a:t>
            </a:r>
            <a:endParaRPr lang="pt-BR" sz="2000" smtClean="0"/>
          </a:p>
          <a:p>
            <a:pPr lvl="1"/>
            <a:r>
              <a:rPr lang="pt-BR" sz="1700" i="1" smtClean="0"/>
              <a:t>R</a:t>
            </a:r>
            <a:r>
              <a:rPr lang="pt-BR" sz="1700" smtClean="0"/>
              <a:t>1 </a:t>
            </a:r>
            <a:r>
              <a:rPr lang="pt-BR" sz="1700" dirty="0"/>
              <a:t>= {</a:t>
            </a:r>
            <a:r>
              <a:rPr lang="pt-BR" sz="1700" i="1" dirty="0"/>
              <a:t>A</a:t>
            </a:r>
            <a:r>
              <a:rPr lang="pt-BR" sz="1700" dirty="0"/>
              <a:t>, </a:t>
            </a:r>
            <a:r>
              <a:rPr lang="pt-BR" sz="1700" i="1" dirty="0"/>
              <a:t>B</a:t>
            </a:r>
            <a:r>
              <a:rPr lang="pt-BR" sz="1700" dirty="0"/>
              <a:t>, </a:t>
            </a:r>
            <a:r>
              <a:rPr lang="pt-BR" sz="1700" i="1" dirty="0"/>
              <a:t>C</a:t>
            </a:r>
            <a:r>
              <a:rPr lang="pt-BR" sz="1700" dirty="0"/>
              <a:t>, </a:t>
            </a:r>
            <a:r>
              <a:rPr lang="pt-BR" sz="1700" i="1" dirty="0"/>
              <a:t>D</a:t>
            </a:r>
            <a:r>
              <a:rPr lang="pt-BR" sz="1700" dirty="0"/>
              <a:t>} , </a:t>
            </a:r>
            <a:r>
              <a:rPr lang="pt-BR" sz="1700" i="1" dirty="0"/>
              <a:t>R</a:t>
            </a:r>
            <a:r>
              <a:rPr lang="pt-BR" sz="1700" dirty="0"/>
              <a:t>2 = {</a:t>
            </a:r>
            <a:r>
              <a:rPr lang="pt-BR" sz="1700" i="1" dirty="0"/>
              <a:t>D</a:t>
            </a:r>
            <a:r>
              <a:rPr lang="pt-BR" sz="1700" dirty="0"/>
              <a:t>, </a:t>
            </a:r>
            <a:r>
              <a:rPr lang="pt-BR" sz="1700" i="1" dirty="0"/>
              <a:t>E</a:t>
            </a:r>
            <a:r>
              <a:rPr lang="pt-BR" sz="1700" dirty="0"/>
              <a:t>} , </a:t>
            </a:r>
            <a:r>
              <a:rPr lang="pt-BR" sz="1700" i="1" dirty="0"/>
              <a:t>R</a:t>
            </a:r>
            <a:r>
              <a:rPr lang="pt-BR" sz="1700" dirty="0"/>
              <a:t>3 = {</a:t>
            </a:r>
            <a:r>
              <a:rPr lang="pt-BR" sz="1700" i="1" dirty="0"/>
              <a:t>B</a:t>
            </a:r>
            <a:r>
              <a:rPr lang="pt-BR" sz="1700" dirty="0"/>
              <a:t>, </a:t>
            </a:r>
            <a:r>
              <a:rPr lang="pt-BR" sz="1700" i="1" dirty="0"/>
              <a:t>F</a:t>
            </a:r>
            <a:r>
              <a:rPr lang="pt-BR" sz="1700" dirty="0"/>
              <a:t>} , </a:t>
            </a:r>
            <a:r>
              <a:rPr lang="pt-BR" sz="1700" i="1" dirty="0"/>
              <a:t>R</a:t>
            </a:r>
            <a:r>
              <a:rPr lang="pt-BR" sz="1700" dirty="0"/>
              <a:t>4 </a:t>
            </a:r>
            <a:r>
              <a:rPr lang="pt-BR" sz="1700" dirty="0" smtClean="0"/>
              <a:t>= {</a:t>
            </a:r>
            <a:r>
              <a:rPr lang="pt-BR" sz="1700" i="1" dirty="0"/>
              <a:t>F</a:t>
            </a:r>
            <a:r>
              <a:rPr lang="pt-BR" sz="1700" dirty="0"/>
              <a:t>, </a:t>
            </a:r>
            <a:r>
              <a:rPr lang="pt-BR" sz="1700" i="1" dirty="0"/>
              <a:t>G</a:t>
            </a:r>
            <a:r>
              <a:rPr lang="pt-BR" sz="1700" dirty="0"/>
              <a:t>, </a:t>
            </a:r>
            <a:r>
              <a:rPr lang="pt-BR" sz="1700" i="1" dirty="0"/>
              <a:t>H</a:t>
            </a:r>
            <a:r>
              <a:rPr lang="pt-BR" sz="1700" dirty="0"/>
              <a:t>} , </a:t>
            </a:r>
            <a:r>
              <a:rPr lang="pt-BR" sz="1700" i="1" dirty="0"/>
              <a:t>R</a:t>
            </a:r>
            <a:r>
              <a:rPr lang="pt-BR" sz="1700" dirty="0"/>
              <a:t>5 = {</a:t>
            </a:r>
            <a:r>
              <a:rPr lang="pt-BR" sz="1700" i="1" dirty="0"/>
              <a:t>D</a:t>
            </a:r>
            <a:r>
              <a:rPr lang="pt-BR" sz="1700" dirty="0"/>
              <a:t>, </a:t>
            </a:r>
            <a:r>
              <a:rPr lang="pt-BR" sz="1700" i="1" dirty="0"/>
              <a:t>I</a:t>
            </a:r>
            <a:r>
              <a:rPr lang="pt-BR" sz="1700" dirty="0"/>
              <a:t>, </a:t>
            </a:r>
            <a:r>
              <a:rPr lang="pt-BR" sz="1700" i="1" dirty="0"/>
              <a:t>J</a:t>
            </a:r>
            <a:r>
              <a:rPr lang="pt-BR" dirty="0"/>
              <a:t>}</a:t>
            </a:r>
            <a:endParaRPr lang="en-US" dirty="0"/>
          </a:p>
        </p:txBody>
      </p:sp>
    </p:spTree>
    <p:extLst>
      <p:ext uri="{BB962C8B-B14F-4D97-AF65-F5344CB8AC3E}">
        <p14:creationId xmlns:p14="http://schemas.microsoft.com/office/powerpoint/2010/main" val="4144256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xfrm>
            <a:off x="254000" y="215900"/>
            <a:ext cx="8712200" cy="1143000"/>
          </a:xfrm>
        </p:spPr>
        <p:txBody>
          <a:bodyPr>
            <a:normAutofit fontScale="90000"/>
          </a:bodyPr>
          <a:lstStyle/>
          <a:p>
            <a:pPr marL="609600" indent="-609600"/>
            <a:r>
              <a:rPr lang="en-US" sz="3200" b="1" dirty="0" smtClean="0">
                <a:solidFill>
                  <a:srgbClr val="000000"/>
                </a:solidFill>
                <a:cs typeface="Courier New" pitchFamily="49" charset="0"/>
              </a:rPr>
              <a:t>Discussion of Normalization Algorithms:</a:t>
            </a:r>
            <a:br>
              <a:rPr lang="en-US" sz="3200" b="1" dirty="0" smtClean="0">
                <a:solidFill>
                  <a:srgbClr val="000000"/>
                </a:solidFill>
                <a:cs typeface="Courier New" pitchFamily="49" charset="0"/>
              </a:rPr>
            </a:br>
            <a:r>
              <a:rPr lang="en-US" sz="3200" b="1" dirty="0" smtClean="0">
                <a:solidFill>
                  <a:srgbClr val="000000"/>
                </a:solidFill>
                <a:cs typeface="Courier New" pitchFamily="49" charset="0"/>
              </a:rPr>
              <a:t>Problems:</a:t>
            </a:r>
            <a:endParaRPr lang="en-US" sz="3200" b="1" dirty="0">
              <a:solidFill>
                <a:srgbClr val="000000"/>
              </a:solidFill>
              <a:cs typeface="Courier New" pitchFamily="49" charset="0"/>
            </a:endParaRPr>
          </a:p>
        </p:txBody>
      </p:sp>
      <p:sp>
        <p:nvSpPr>
          <p:cNvPr id="313347" name="Rectangle 3"/>
          <p:cNvSpPr>
            <a:spLocks noGrp="1" noChangeArrowheads="1"/>
          </p:cNvSpPr>
          <p:nvPr>
            <p:ph sz="quarter" idx="1"/>
          </p:nvPr>
        </p:nvSpPr>
        <p:spPr>
          <a:xfrm>
            <a:off x="254000" y="1358900"/>
            <a:ext cx="8071134" cy="4978400"/>
          </a:xfrm>
        </p:spPr>
        <p:txBody>
          <a:bodyPr/>
          <a:lstStyle/>
          <a:p>
            <a:pPr marL="609600" indent="-609600" algn="just"/>
            <a:endParaRPr lang="en-US" sz="2400" dirty="0" smtClean="0">
              <a:solidFill>
                <a:srgbClr val="000000"/>
              </a:solidFill>
              <a:cs typeface="Times New Roman" pitchFamily="18" charset="0"/>
            </a:endParaRPr>
          </a:p>
          <a:p>
            <a:pPr marL="609600" indent="-609600" algn="just"/>
            <a:r>
              <a:rPr lang="en-US" sz="2400" dirty="0" smtClean="0">
                <a:solidFill>
                  <a:srgbClr val="000000"/>
                </a:solidFill>
                <a:cs typeface="Times New Roman" pitchFamily="18" charset="0"/>
              </a:rPr>
              <a:t>We have to specify </a:t>
            </a:r>
            <a:r>
              <a:rPr lang="en-US" sz="2400" i="1" dirty="0">
                <a:solidFill>
                  <a:srgbClr val="000000"/>
                </a:solidFill>
                <a:cs typeface="Times New Roman" pitchFamily="18" charset="0"/>
              </a:rPr>
              <a:t>all</a:t>
            </a:r>
            <a:r>
              <a:rPr lang="en-US" sz="2400" dirty="0">
                <a:solidFill>
                  <a:srgbClr val="000000"/>
                </a:solidFill>
                <a:cs typeface="Times New Roman" pitchFamily="18" charset="0"/>
              </a:rPr>
              <a:t> the relevant functional dependencies among the database attributes. </a:t>
            </a:r>
          </a:p>
          <a:p>
            <a:pPr marL="609600" indent="-609600" algn="just"/>
            <a:r>
              <a:rPr lang="en-US" sz="2400" dirty="0">
                <a:solidFill>
                  <a:srgbClr val="000000"/>
                </a:solidFill>
                <a:cs typeface="Times New Roman" pitchFamily="18" charset="0"/>
              </a:rPr>
              <a:t>These algorithms are </a:t>
            </a:r>
            <a:r>
              <a:rPr lang="en-US" sz="2400" i="1" dirty="0">
                <a:solidFill>
                  <a:srgbClr val="000000"/>
                </a:solidFill>
                <a:cs typeface="Times New Roman" pitchFamily="18" charset="0"/>
              </a:rPr>
              <a:t>not deterministic</a:t>
            </a:r>
            <a:r>
              <a:rPr lang="en-US" sz="2400" dirty="0">
                <a:solidFill>
                  <a:srgbClr val="000000"/>
                </a:solidFill>
                <a:cs typeface="Times New Roman" pitchFamily="18" charset="0"/>
              </a:rPr>
              <a:t> in general. </a:t>
            </a:r>
          </a:p>
          <a:p>
            <a:pPr marL="609600" indent="-609600" algn="just"/>
            <a:r>
              <a:rPr lang="en-US" sz="2400" dirty="0">
                <a:solidFill>
                  <a:srgbClr val="000000"/>
                </a:solidFill>
                <a:cs typeface="Times New Roman" pitchFamily="18" charset="0"/>
              </a:rPr>
              <a:t>It is not always possible to find a decomposition </a:t>
            </a:r>
            <a:r>
              <a:rPr lang="en-US" sz="2400" dirty="0" smtClean="0">
                <a:solidFill>
                  <a:srgbClr val="000000"/>
                </a:solidFill>
                <a:cs typeface="Times New Roman" pitchFamily="18" charset="0"/>
              </a:rPr>
              <a:t>into BCNF </a:t>
            </a:r>
            <a:r>
              <a:rPr lang="en-US" sz="2400" dirty="0">
                <a:solidFill>
                  <a:srgbClr val="000000"/>
                </a:solidFill>
                <a:cs typeface="Times New Roman" pitchFamily="18" charset="0"/>
              </a:rPr>
              <a:t>relation schemas that </a:t>
            </a:r>
            <a:r>
              <a:rPr lang="en-US" sz="2100" dirty="0" smtClean="0">
                <a:solidFill>
                  <a:srgbClr val="000000"/>
                </a:solidFill>
                <a:cs typeface="Times New Roman" pitchFamily="18" charset="0"/>
              </a:rPr>
              <a:t>preserves dependencies.</a:t>
            </a:r>
            <a:endParaRPr lang="en-US" sz="2100" dirty="0">
              <a:solidFill>
                <a:srgbClr val="000000"/>
              </a:solidFill>
              <a:cs typeface="Times New Roman" pitchFamily="18" charset="0"/>
            </a:endParaRPr>
          </a:p>
        </p:txBody>
      </p:sp>
    </p:spTree>
    <p:extLst>
      <p:ext uri="{BB962C8B-B14F-4D97-AF65-F5344CB8AC3E}">
        <p14:creationId xmlns:p14="http://schemas.microsoft.com/office/powerpoint/2010/main" val="210372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13347">
                                            <p:txEl>
                                              <p:pRg st="1" end="1"/>
                                            </p:txEl>
                                          </p:spTgt>
                                        </p:tgtEl>
                                        <p:attrNameLst>
                                          <p:attrName>style.visibility</p:attrName>
                                        </p:attrNameLst>
                                      </p:cBhvr>
                                      <p:to>
                                        <p:strVal val="visible"/>
                                      </p:to>
                                    </p:set>
                                    <p:animEffect transition="in" filter="box(in)">
                                      <p:cBhvr>
                                        <p:cTn id="7" dur="500"/>
                                        <p:tgtEl>
                                          <p:spTgt spid="3133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13347">
                                            <p:txEl>
                                              <p:pRg st="2" end="2"/>
                                            </p:txEl>
                                          </p:spTgt>
                                        </p:tgtEl>
                                        <p:attrNameLst>
                                          <p:attrName>style.visibility</p:attrName>
                                        </p:attrNameLst>
                                      </p:cBhvr>
                                      <p:to>
                                        <p:strVal val="visible"/>
                                      </p:to>
                                    </p:set>
                                    <p:animEffect transition="in" filter="box(in)">
                                      <p:cBhvr>
                                        <p:cTn id="12" dur="500"/>
                                        <p:tgtEl>
                                          <p:spTgt spid="3133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13347">
                                            <p:txEl>
                                              <p:pRg st="3" end="3"/>
                                            </p:txEl>
                                          </p:spTgt>
                                        </p:tgtEl>
                                        <p:attrNameLst>
                                          <p:attrName>style.visibility</p:attrName>
                                        </p:attrNameLst>
                                      </p:cBhvr>
                                      <p:to>
                                        <p:strVal val="visible"/>
                                      </p:to>
                                    </p:set>
                                    <p:animEffect transition="in" filter="box(in)">
                                      <p:cBhvr>
                                        <p:cTn id="17" dur="500"/>
                                        <p:tgtEl>
                                          <p:spTgt spid="3133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a:xfrm>
            <a:off x="254000" y="434975"/>
            <a:ext cx="8712200" cy="847915"/>
          </a:xfrm>
        </p:spPr>
        <p:txBody>
          <a:bodyPr>
            <a:normAutofit/>
          </a:bodyPr>
          <a:lstStyle/>
          <a:p>
            <a:r>
              <a:rPr lang="en-US" sz="2800" b="1" dirty="0" smtClean="0"/>
              <a:t>Issues </a:t>
            </a:r>
            <a:r>
              <a:rPr lang="en-US" sz="2800" b="1" dirty="0"/>
              <a:t>with null-value </a:t>
            </a:r>
            <a:r>
              <a:rPr lang="en-US" sz="2800" b="1" dirty="0" smtClean="0"/>
              <a:t>joins</a:t>
            </a:r>
            <a:endParaRPr lang="en-US" sz="5400" b="1" dirty="0"/>
          </a:p>
        </p:txBody>
      </p:sp>
      <p:pic>
        <p:nvPicPr>
          <p:cNvPr id="311302" name="Picture 6" descr="31755_FIG1502a.gif                                             0001035BEeyore                         B91DCF3B:"/>
          <p:cNvPicPr>
            <a:picLocks noChangeAspect="1" noChangeArrowheads="1"/>
          </p:cNvPicPr>
          <p:nvPr/>
        </p:nvPicPr>
        <p:blipFill>
          <a:blip r:embed="rId3" cstate="print"/>
          <a:srcRect/>
          <a:stretch>
            <a:fillRect/>
          </a:stretch>
        </p:blipFill>
        <p:spPr bwMode="auto">
          <a:xfrm>
            <a:off x="685800" y="1855788"/>
            <a:ext cx="8064500" cy="39989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a:xfrm>
            <a:off x="254000" y="1282890"/>
            <a:ext cx="8712200" cy="1143000"/>
          </a:xfrm>
        </p:spPr>
        <p:txBody>
          <a:bodyPr>
            <a:normAutofit/>
          </a:bodyPr>
          <a:lstStyle/>
          <a:p>
            <a:r>
              <a:rPr lang="en-US" sz="1600" dirty="0">
                <a:cs typeface="Times New Roman" pitchFamily="18" charset="0"/>
              </a:rPr>
              <a:t/>
            </a:r>
            <a:br>
              <a:rPr lang="en-US" sz="1600" dirty="0">
                <a:cs typeface="Times New Roman" pitchFamily="18" charset="0"/>
              </a:rPr>
            </a:br>
            <a:r>
              <a:rPr lang="en-US" sz="1600" dirty="0" smtClean="0"/>
              <a:t/>
            </a:r>
            <a:br>
              <a:rPr lang="en-US" sz="1600" dirty="0" smtClean="0"/>
            </a:br>
            <a:r>
              <a:rPr lang="en-US" sz="1600" dirty="0" smtClean="0"/>
              <a:t>Result </a:t>
            </a:r>
            <a:r>
              <a:rPr lang="en-US" sz="1600" dirty="0"/>
              <a:t>of applying NATURAL JOIN to the EMPLOYEE and DEPARTMENT </a:t>
            </a:r>
            <a:r>
              <a:rPr lang="en-US" sz="1600" dirty="0" smtClean="0"/>
              <a:t>relations</a:t>
            </a:r>
            <a:endParaRPr lang="en-US" sz="3200" dirty="0"/>
          </a:p>
        </p:txBody>
      </p:sp>
      <p:pic>
        <p:nvPicPr>
          <p:cNvPr id="347141" name="Picture 5" descr="31755_FIG1502bc.gif                                            0001035BEeyore                         B91DCF3B:"/>
          <p:cNvPicPr>
            <a:picLocks noChangeAspect="1" noChangeArrowheads="1"/>
          </p:cNvPicPr>
          <p:nvPr/>
        </p:nvPicPr>
        <p:blipFill>
          <a:blip r:embed="rId2" cstate="print"/>
          <a:srcRect b="55186"/>
          <a:stretch>
            <a:fillRect/>
          </a:stretch>
        </p:blipFill>
        <p:spPr bwMode="auto">
          <a:xfrm>
            <a:off x="504968" y="2511188"/>
            <a:ext cx="7653338" cy="2006221"/>
          </a:xfrm>
          <a:prstGeom prst="rect">
            <a:avLst/>
          </a:prstGeom>
          <a:noFill/>
          <a:ln w="9525">
            <a:noFill/>
            <a:miter lim="800000"/>
            <a:headEnd/>
            <a:tailEnd/>
          </a:ln>
          <a:effectLst/>
        </p:spPr>
      </p:pic>
      <p:sp>
        <p:nvSpPr>
          <p:cNvPr id="7" name="Rectangle 2"/>
          <p:cNvSpPr txBox="1">
            <a:spLocks noChangeArrowheads="1"/>
          </p:cNvSpPr>
          <p:nvPr/>
        </p:nvSpPr>
        <p:spPr>
          <a:xfrm>
            <a:off x="254000" y="434975"/>
            <a:ext cx="8712200" cy="847915"/>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small" spc="0" normalizeH="0" baseline="0" noProof="0" smtClean="0">
                <a:ln>
                  <a:noFill/>
                </a:ln>
                <a:solidFill>
                  <a:schemeClr val="tx2"/>
                </a:solidFill>
                <a:effectLst/>
                <a:uLnTx/>
                <a:uFillTx/>
                <a:latin typeface="+mj-lt"/>
                <a:ea typeface="+mj-ea"/>
                <a:cs typeface="+mj-cs"/>
              </a:rPr>
              <a:t>Issues with null-value joins</a:t>
            </a:r>
            <a:endParaRPr kumimoji="0" lang="en-US" sz="54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a:xfrm>
            <a:off x="254000" y="1372169"/>
            <a:ext cx="8712200" cy="456631"/>
          </a:xfrm>
        </p:spPr>
        <p:txBody>
          <a:bodyPr>
            <a:normAutofit fontScale="90000"/>
          </a:bodyPr>
          <a:lstStyle/>
          <a:p>
            <a:r>
              <a:rPr lang="en-US" sz="1600" dirty="0">
                <a:cs typeface="Times New Roman" pitchFamily="18" charset="0"/>
              </a:rPr>
              <a:t/>
            </a:r>
            <a:br>
              <a:rPr lang="en-US" sz="1600" dirty="0">
                <a:cs typeface="Times New Roman" pitchFamily="18" charset="0"/>
              </a:rPr>
            </a:br>
            <a:r>
              <a:rPr lang="en-US" sz="1600" dirty="0">
                <a:cs typeface="Times New Roman" pitchFamily="18" charset="0"/>
              </a:rPr>
              <a:t> </a:t>
            </a:r>
            <a:r>
              <a:rPr lang="en-US" sz="1600" dirty="0" smtClean="0"/>
              <a:t>Result </a:t>
            </a:r>
            <a:r>
              <a:rPr lang="en-US" sz="1600" dirty="0"/>
              <a:t>of applying LEFT OUTER JOIN to EMPLOYEE and DEPARTMENT.</a:t>
            </a:r>
            <a:endParaRPr lang="en-US" sz="3200" dirty="0"/>
          </a:p>
        </p:txBody>
      </p:sp>
      <p:pic>
        <p:nvPicPr>
          <p:cNvPr id="347140" name="Picture 4" descr="31755_FIG1502bc.gif                                            0001035BEeyore                         B91DCF3B:"/>
          <p:cNvPicPr>
            <a:picLocks noChangeAspect="1" noChangeArrowheads="1"/>
          </p:cNvPicPr>
          <p:nvPr/>
        </p:nvPicPr>
        <p:blipFill>
          <a:blip r:embed="rId2" cstate="print"/>
          <a:srcRect/>
          <a:stretch>
            <a:fillRect/>
          </a:stretch>
        </p:blipFill>
        <p:spPr bwMode="auto">
          <a:xfrm>
            <a:off x="874713" y="2005013"/>
            <a:ext cx="7653337" cy="4476750"/>
          </a:xfrm>
          <a:prstGeom prst="rect">
            <a:avLst/>
          </a:prstGeom>
          <a:noFill/>
          <a:ln w="9525">
            <a:noFill/>
            <a:miter lim="800000"/>
            <a:headEnd/>
            <a:tailEnd/>
          </a:ln>
          <a:effectLst/>
        </p:spPr>
      </p:pic>
      <p:pic>
        <p:nvPicPr>
          <p:cNvPr id="347141" name="Picture 5" descr="31755_FIG1502bc.gif                                            0001035BEeyore                         B91DCF3B:"/>
          <p:cNvPicPr>
            <a:picLocks noChangeAspect="1" noChangeArrowheads="1"/>
          </p:cNvPicPr>
          <p:nvPr/>
        </p:nvPicPr>
        <p:blipFill>
          <a:blip r:embed="rId2" cstate="print"/>
          <a:srcRect/>
          <a:stretch>
            <a:fillRect/>
          </a:stretch>
        </p:blipFill>
        <p:spPr bwMode="auto">
          <a:xfrm>
            <a:off x="914400" y="1828800"/>
            <a:ext cx="7653338" cy="4476750"/>
          </a:xfrm>
          <a:prstGeom prst="rect">
            <a:avLst/>
          </a:prstGeom>
          <a:noFill/>
          <a:ln w="9525">
            <a:noFill/>
            <a:miter lim="800000"/>
            <a:headEnd/>
            <a:tailEnd/>
          </a:ln>
          <a:effectLst/>
        </p:spPr>
      </p:pic>
      <p:sp>
        <p:nvSpPr>
          <p:cNvPr id="5" name="Rectangle 2"/>
          <p:cNvSpPr txBox="1">
            <a:spLocks noChangeArrowheads="1"/>
          </p:cNvSpPr>
          <p:nvPr/>
        </p:nvSpPr>
        <p:spPr>
          <a:xfrm>
            <a:off x="254000" y="434975"/>
            <a:ext cx="8712200" cy="847915"/>
          </a:xfrm>
          <a:prstGeom prst="rect">
            <a:avLst/>
          </a:prstGeom>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small" spc="0" normalizeH="0" baseline="0" noProof="0" smtClean="0">
                <a:ln>
                  <a:noFill/>
                </a:ln>
                <a:solidFill>
                  <a:schemeClr val="tx2"/>
                </a:solidFill>
                <a:effectLst/>
                <a:uLnTx/>
                <a:uFillTx/>
                <a:latin typeface="+mj-lt"/>
                <a:ea typeface="+mj-ea"/>
                <a:cs typeface="+mj-cs"/>
              </a:rPr>
              <a:t>Issues with null-value joins</a:t>
            </a:r>
            <a:endParaRPr kumimoji="0" lang="en-US" sz="5400" b="1"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a:xfrm>
            <a:off x="254000" y="517525"/>
            <a:ext cx="8712200" cy="1143000"/>
          </a:xfrm>
        </p:spPr>
        <p:txBody>
          <a:bodyPr>
            <a:normAutofit fontScale="90000"/>
          </a:bodyPr>
          <a:lstStyle/>
          <a:p>
            <a:r>
              <a:rPr lang="en-US" sz="4000" b="1" dirty="0">
                <a:cs typeface="Times New Roman" pitchFamily="18" charset="0"/>
              </a:rPr>
              <a:t/>
            </a:r>
            <a:br>
              <a:rPr lang="en-US" sz="4000" b="1" dirty="0">
                <a:cs typeface="Times New Roman" pitchFamily="18" charset="0"/>
              </a:rPr>
            </a:br>
            <a:r>
              <a:rPr lang="en-US" sz="4000" b="1" dirty="0">
                <a:cs typeface="Times New Roman" pitchFamily="18" charset="0"/>
              </a:rPr>
              <a:t> </a:t>
            </a:r>
            <a:r>
              <a:rPr lang="en-US" sz="2700" b="1" dirty="0"/>
              <a:t>The “dangling </a:t>
            </a:r>
            <a:r>
              <a:rPr lang="en-US" sz="2700" b="1" dirty="0" err="1"/>
              <a:t>tuple</a:t>
            </a:r>
            <a:r>
              <a:rPr lang="en-US" sz="2700" b="1" dirty="0"/>
              <a:t>” </a:t>
            </a:r>
            <a:r>
              <a:rPr lang="en-US" sz="2700" b="1" dirty="0" smtClean="0"/>
              <a:t>problem</a:t>
            </a:r>
            <a:br>
              <a:rPr lang="en-US" sz="2700" b="1" dirty="0" smtClean="0"/>
            </a:br>
            <a:r>
              <a:rPr lang="en-US" sz="1600" dirty="0" smtClean="0"/>
              <a:t/>
            </a:r>
            <a:br>
              <a:rPr lang="en-US" sz="1600" dirty="0" smtClean="0"/>
            </a:br>
            <a:r>
              <a:rPr lang="en-US" sz="1600" dirty="0" smtClean="0"/>
              <a:t>The relation EMPLOYEE_1</a:t>
            </a:r>
            <a:endParaRPr lang="en-US" sz="3600" dirty="0"/>
          </a:p>
        </p:txBody>
      </p:sp>
      <p:pic>
        <p:nvPicPr>
          <p:cNvPr id="312326" name="Picture 6" descr="31755_FIG1503a.gif                                             0001035BEeyore                         B91DCF3B:"/>
          <p:cNvPicPr>
            <a:picLocks noChangeAspect="1" noChangeArrowheads="1"/>
          </p:cNvPicPr>
          <p:nvPr/>
        </p:nvPicPr>
        <p:blipFill>
          <a:blip r:embed="rId3" cstate="print"/>
          <a:srcRect/>
          <a:stretch>
            <a:fillRect/>
          </a:stretch>
        </p:blipFill>
        <p:spPr bwMode="auto">
          <a:xfrm>
            <a:off x="685800" y="2093913"/>
            <a:ext cx="7772400" cy="29733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ChangeArrowheads="1"/>
          </p:cNvSpPr>
          <p:nvPr>
            <p:ph type="title"/>
          </p:nvPr>
        </p:nvSpPr>
        <p:spPr>
          <a:xfrm>
            <a:off x="254000" y="549274"/>
            <a:ext cx="8712200" cy="1620719"/>
          </a:xfrm>
        </p:spPr>
        <p:txBody>
          <a:bodyPr>
            <a:normAutofit fontScale="90000"/>
          </a:bodyPr>
          <a:lstStyle/>
          <a:p>
            <a:r>
              <a:rPr lang="en-US" sz="1600" dirty="0">
                <a:cs typeface="Times New Roman" pitchFamily="18" charset="0"/>
              </a:rPr>
              <a:t/>
            </a:r>
            <a:br>
              <a:rPr lang="en-US" sz="1600" dirty="0">
                <a:cs typeface="Times New Roman" pitchFamily="18" charset="0"/>
              </a:rPr>
            </a:br>
            <a:r>
              <a:rPr lang="en-US" sz="2400" b="1" dirty="0">
                <a:cs typeface="Times New Roman" pitchFamily="18" charset="0"/>
              </a:rPr>
              <a:t> </a:t>
            </a:r>
            <a:r>
              <a:rPr lang="en-US" sz="2400" b="1" dirty="0"/>
              <a:t>The “dangling </a:t>
            </a:r>
            <a:r>
              <a:rPr lang="en-US" sz="2400" b="1" dirty="0" err="1"/>
              <a:t>tuple</a:t>
            </a:r>
            <a:r>
              <a:rPr lang="en-US" sz="2400" b="1" dirty="0"/>
              <a:t>” </a:t>
            </a:r>
            <a:r>
              <a:rPr lang="en-US" sz="2400" b="1" dirty="0" smtClean="0"/>
              <a:t>problem</a:t>
            </a:r>
            <a:r>
              <a:rPr lang="en-US" sz="1600" dirty="0" smtClean="0"/>
              <a:t/>
            </a:r>
            <a:br>
              <a:rPr lang="en-US" sz="1600" dirty="0" smtClean="0"/>
            </a:br>
            <a:r>
              <a:rPr lang="en-US" sz="1600" dirty="0" smtClean="0"/>
              <a:t/>
            </a:r>
            <a:br>
              <a:rPr lang="en-US" sz="1600" dirty="0" smtClean="0"/>
            </a:br>
            <a:r>
              <a:rPr lang="en-US" sz="1600" dirty="0" smtClean="0"/>
              <a:t> </a:t>
            </a:r>
            <a:r>
              <a:rPr lang="en-US" sz="1600" dirty="0"/>
              <a:t>(b) The relation EMPLOYEE_2 (includes DNUM attribute with null values</a:t>
            </a:r>
            <a:r>
              <a:rPr lang="en-US" sz="1600" dirty="0" smtClean="0"/>
              <a:t>).</a:t>
            </a:r>
            <a:br>
              <a:rPr lang="en-US" sz="1600" dirty="0" smtClean="0"/>
            </a:br>
            <a:r>
              <a:rPr lang="en-US" sz="1600" dirty="0" smtClean="0"/>
              <a:t> </a:t>
            </a:r>
            <a:r>
              <a:rPr lang="en-US" sz="1600" dirty="0"/>
              <a:t>(c) The relation EMPLOYEE_3 (includes DNUM attribute but does not include </a:t>
            </a:r>
            <a:r>
              <a:rPr lang="en-US" sz="1600" dirty="0" err="1"/>
              <a:t>tuples</a:t>
            </a:r>
            <a:r>
              <a:rPr lang="en-US" sz="1600" dirty="0"/>
              <a:t> for which DNUM has null values).</a:t>
            </a:r>
            <a:endParaRPr lang="en-US" sz="3600" dirty="0"/>
          </a:p>
        </p:txBody>
      </p:sp>
      <p:pic>
        <p:nvPicPr>
          <p:cNvPr id="348164" name="Picture 4" descr="31755_FIG1503bc.gif                                            0001035BEeyore                         B91DCF3B:"/>
          <p:cNvPicPr>
            <a:picLocks noChangeAspect="1" noChangeArrowheads="1"/>
          </p:cNvPicPr>
          <p:nvPr/>
        </p:nvPicPr>
        <p:blipFill>
          <a:blip r:embed="rId3" cstate="print"/>
          <a:srcRect/>
          <a:stretch>
            <a:fillRect/>
          </a:stretch>
        </p:blipFill>
        <p:spPr bwMode="auto">
          <a:xfrm>
            <a:off x="685800" y="2617788"/>
            <a:ext cx="7772400" cy="28400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a:xfrm>
            <a:off x="254000" y="1054100"/>
            <a:ext cx="8712200" cy="1143000"/>
          </a:xfrm>
        </p:spPr>
        <p:txBody>
          <a:bodyPr>
            <a:normAutofit fontScale="90000"/>
          </a:bodyPr>
          <a:lstStyle/>
          <a:p>
            <a:r>
              <a:rPr lang="en-US" sz="3200" dirty="0" err="1" smtClean="0">
                <a:cs typeface="Times New Roman" pitchFamily="18" charset="0"/>
              </a:rPr>
              <a:t>Multivalued</a:t>
            </a:r>
            <a:r>
              <a:rPr lang="en-US" sz="3200" dirty="0" smtClean="0">
                <a:cs typeface="Times New Roman" pitchFamily="18" charset="0"/>
              </a:rPr>
              <a:t> </a:t>
            </a:r>
            <a:r>
              <a:rPr lang="en-US" sz="3200" dirty="0">
                <a:cs typeface="Times New Roman" pitchFamily="18" charset="0"/>
              </a:rPr>
              <a:t>Dependencies and Fourth Normal Form </a:t>
            </a:r>
            <a:br>
              <a:rPr lang="en-US" sz="3200" dirty="0">
                <a:cs typeface="Times New Roman" pitchFamily="18" charset="0"/>
              </a:rPr>
            </a:br>
            <a:r>
              <a:rPr lang="en-US" sz="3200" dirty="0">
                <a:cs typeface="Times New Roman" pitchFamily="18" charset="0"/>
              </a:rPr>
              <a:t> </a:t>
            </a:r>
            <a:r>
              <a:rPr lang="en-US" sz="1600" dirty="0"/>
              <a:t>(a) The EMP relation with two MVDs: ENAME </a:t>
            </a:r>
            <a:r>
              <a:rPr lang="en-US" sz="1600" dirty="0">
                <a:sym typeface="Symbol" pitchFamily="18" charset="2"/>
              </a:rPr>
              <a:t>—&gt;&gt; PNAME and ENAME —&gt;&gt; DNAME</a:t>
            </a:r>
            <a:r>
              <a:rPr lang="en-US" sz="1600" dirty="0" smtClean="0">
                <a:sym typeface="Symbol" pitchFamily="18" charset="2"/>
              </a:rPr>
              <a:t>.</a:t>
            </a:r>
            <a:br>
              <a:rPr lang="en-US" sz="1600" dirty="0" smtClean="0">
                <a:sym typeface="Symbol" pitchFamily="18" charset="2"/>
              </a:rPr>
            </a:br>
            <a:r>
              <a:rPr lang="en-US" sz="1600" dirty="0" smtClean="0">
                <a:sym typeface="Symbol" pitchFamily="18" charset="2"/>
              </a:rPr>
              <a:t> </a:t>
            </a:r>
            <a:r>
              <a:rPr lang="en-US" sz="1600" dirty="0">
                <a:sym typeface="Symbol" pitchFamily="18" charset="2"/>
              </a:rPr>
              <a:t>(b) Decomposing the EMP relation into two 4NF </a:t>
            </a:r>
            <a:r>
              <a:rPr lang="en-US" sz="1600" dirty="0" smtClean="0">
                <a:sym typeface="Symbol" pitchFamily="18" charset="2"/>
              </a:rPr>
              <a:t>relations</a:t>
            </a:r>
            <a:endParaRPr lang="en-US" sz="3600" dirty="0">
              <a:sym typeface="Symbol" pitchFamily="18" charset="2"/>
            </a:endParaRPr>
          </a:p>
        </p:txBody>
      </p:sp>
      <p:pic>
        <p:nvPicPr>
          <p:cNvPr id="315398" name="Picture 6" descr="31755_FIG1504bc.gif                                            0001035BEeyore                         B91DCF3B:"/>
          <p:cNvPicPr>
            <a:picLocks noChangeAspect="1" noChangeArrowheads="1"/>
          </p:cNvPicPr>
          <p:nvPr/>
        </p:nvPicPr>
        <p:blipFill>
          <a:blip r:embed="rId2" cstate="print"/>
          <a:srcRect/>
          <a:stretch>
            <a:fillRect/>
          </a:stretch>
        </p:blipFill>
        <p:spPr bwMode="auto">
          <a:xfrm>
            <a:off x="1317625" y="2348508"/>
            <a:ext cx="6508750" cy="4114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a:xfrm>
            <a:off x="254000" y="215900"/>
            <a:ext cx="8712200" cy="1143000"/>
          </a:xfrm>
        </p:spPr>
        <p:txBody>
          <a:bodyPr/>
          <a:lstStyle/>
          <a:p>
            <a:r>
              <a:rPr lang="en-US" sz="3200" dirty="0">
                <a:cs typeface="Times New Roman" pitchFamily="18" charset="0"/>
              </a:rPr>
              <a:t>Multivalued </a:t>
            </a:r>
            <a:r>
              <a:rPr lang="en-US" sz="3200" dirty="0" smtClean="0">
                <a:cs typeface="Times New Roman" pitchFamily="18" charset="0"/>
              </a:rPr>
              <a:t>Dependencies (MVD)</a:t>
            </a:r>
            <a:endParaRPr lang="en-US" sz="3200" dirty="0">
              <a:cs typeface="Times New Roman" pitchFamily="18" charset="0"/>
            </a:endParaRPr>
          </a:p>
        </p:txBody>
      </p:sp>
      <p:sp>
        <p:nvSpPr>
          <p:cNvPr id="330755" name="Rectangle 3"/>
          <p:cNvSpPr>
            <a:spLocks noGrp="1" noChangeArrowheads="1"/>
          </p:cNvSpPr>
          <p:nvPr>
            <p:ph sz="quarter" idx="1"/>
          </p:nvPr>
        </p:nvSpPr>
        <p:spPr>
          <a:xfrm>
            <a:off x="254000" y="1373188"/>
            <a:ext cx="8218488" cy="4978400"/>
          </a:xfrm>
        </p:spPr>
        <p:txBody>
          <a:bodyPr>
            <a:normAutofit lnSpcReduction="10000"/>
          </a:bodyPr>
          <a:lstStyle/>
          <a:p>
            <a:pPr marL="609600" indent="-609600" algn="just">
              <a:lnSpc>
                <a:spcPct val="120000"/>
              </a:lnSpc>
            </a:pPr>
            <a:r>
              <a:rPr lang="en-US" sz="2400" b="1" dirty="0" smtClean="0">
                <a:solidFill>
                  <a:srgbClr val="000000"/>
                </a:solidFill>
                <a:cs typeface="Times New Roman" pitchFamily="18" charset="0"/>
              </a:rPr>
              <a:t>MVD</a:t>
            </a:r>
            <a:r>
              <a:rPr lang="en-US" sz="2400" dirty="0" smtClean="0">
                <a:solidFill>
                  <a:srgbClr val="000000"/>
                </a:solidFill>
                <a:cs typeface="Times New Roman" pitchFamily="18" charset="0"/>
              </a:rPr>
              <a:t> </a:t>
            </a:r>
            <a:r>
              <a:rPr lang="en-US" sz="2400" i="1" dirty="0">
                <a:solidFill>
                  <a:srgbClr val="000000"/>
                </a:solidFill>
                <a:cs typeface="Times New Roman" pitchFamily="18" charset="0"/>
              </a:rPr>
              <a:t>X</a:t>
            </a:r>
            <a:r>
              <a:rPr lang="en-US" sz="2400" dirty="0">
                <a:solidFill>
                  <a:srgbClr val="000000"/>
                </a:solidFill>
                <a:cs typeface="Times New Roman" pitchFamily="18" charset="0"/>
              </a:rPr>
              <a:t> —&gt;&gt;</a:t>
            </a:r>
            <a:r>
              <a:rPr lang="en-US" sz="2400" i="1" dirty="0">
                <a:solidFill>
                  <a:srgbClr val="000000"/>
                </a:solidFill>
                <a:cs typeface="Times New Roman" pitchFamily="18" charset="0"/>
              </a:rPr>
              <a:t> Y</a:t>
            </a:r>
            <a:r>
              <a:rPr lang="en-US" sz="2400" dirty="0">
                <a:solidFill>
                  <a:srgbClr val="000000"/>
                </a:solidFill>
                <a:cs typeface="Times New Roman" pitchFamily="18" charset="0"/>
              </a:rPr>
              <a:t> </a:t>
            </a:r>
            <a:r>
              <a:rPr lang="en-US" sz="2400" dirty="0" smtClean="0">
                <a:solidFill>
                  <a:srgbClr val="000000"/>
                </a:solidFill>
                <a:cs typeface="Times New Roman" pitchFamily="18" charset="0"/>
              </a:rPr>
              <a:t>specifies </a:t>
            </a:r>
            <a:r>
              <a:rPr lang="en-US" sz="2400" dirty="0">
                <a:solidFill>
                  <a:srgbClr val="000000"/>
                </a:solidFill>
                <a:cs typeface="Times New Roman" pitchFamily="18" charset="0"/>
              </a:rPr>
              <a:t>the following constraint on any </a:t>
            </a:r>
            <a:r>
              <a:rPr lang="en-US" sz="2400" dirty="0" smtClean="0">
                <a:solidFill>
                  <a:srgbClr val="000000"/>
                </a:solidFill>
                <a:cs typeface="Times New Roman" pitchFamily="18" charset="0"/>
              </a:rPr>
              <a:t>state </a:t>
            </a:r>
            <a:r>
              <a:rPr lang="en-US" sz="2400" i="1" dirty="0">
                <a:solidFill>
                  <a:srgbClr val="000000"/>
                </a:solidFill>
                <a:cs typeface="Times New Roman" pitchFamily="18" charset="0"/>
              </a:rPr>
              <a:t>r</a:t>
            </a:r>
            <a:r>
              <a:rPr lang="en-US" sz="2400" dirty="0">
                <a:solidFill>
                  <a:srgbClr val="000000"/>
                </a:solidFill>
                <a:cs typeface="Times New Roman" pitchFamily="18" charset="0"/>
              </a:rPr>
              <a:t> of </a:t>
            </a:r>
            <a:r>
              <a:rPr lang="en-US" sz="2400" i="1" dirty="0">
                <a:solidFill>
                  <a:srgbClr val="000000"/>
                </a:solidFill>
                <a:cs typeface="Times New Roman" pitchFamily="18" charset="0"/>
              </a:rPr>
              <a:t>R</a:t>
            </a:r>
            <a:r>
              <a:rPr lang="en-US" sz="2400" dirty="0">
                <a:solidFill>
                  <a:srgbClr val="000000"/>
                </a:solidFill>
                <a:cs typeface="Times New Roman" pitchFamily="18" charset="0"/>
              </a:rPr>
              <a:t>: </a:t>
            </a:r>
            <a:endParaRPr lang="en-US" sz="2400" dirty="0" smtClean="0">
              <a:solidFill>
                <a:srgbClr val="000000"/>
              </a:solidFill>
              <a:cs typeface="Times New Roman" pitchFamily="18" charset="0"/>
            </a:endParaRPr>
          </a:p>
          <a:p>
            <a:pPr marL="609600" indent="-609600" algn="just">
              <a:lnSpc>
                <a:spcPct val="120000"/>
              </a:lnSpc>
              <a:buNone/>
            </a:pPr>
            <a:r>
              <a:rPr lang="en-US" dirty="0" smtClean="0">
                <a:solidFill>
                  <a:srgbClr val="000000"/>
                </a:solidFill>
                <a:cs typeface="Times New Roman" pitchFamily="18" charset="0"/>
              </a:rPr>
              <a:t>	</a:t>
            </a:r>
            <a:r>
              <a:rPr lang="en-US" sz="2400" dirty="0" smtClean="0">
                <a:solidFill>
                  <a:srgbClr val="000000"/>
                </a:solidFill>
                <a:cs typeface="Times New Roman" pitchFamily="18" charset="0"/>
              </a:rPr>
              <a:t>If </a:t>
            </a:r>
            <a:r>
              <a:rPr lang="en-US" sz="2400" dirty="0">
                <a:solidFill>
                  <a:srgbClr val="000000"/>
                </a:solidFill>
                <a:cs typeface="Times New Roman" pitchFamily="18" charset="0"/>
              </a:rPr>
              <a:t>two </a:t>
            </a:r>
            <a:r>
              <a:rPr lang="en-US" sz="2400" dirty="0" err="1">
                <a:solidFill>
                  <a:srgbClr val="000000"/>
                </a:solidFill>
                <a:cs typeface="Times New Roman" pitchFamily="18" charset="0"/>
              </a:rPr>
              <a:t>tuples</a:t>
            </a:r>
            <a:r>
              <a:rPr lang="en-US" sz="2400" dirty="0">
                <a:solidFill>
                  <a:srgbClr val="000000"/>
                </a:solidFill>
                <a:cs typeface="Times New Roman" pitchFamily="18" charset="0"/>
              </a:rPr>
              <a:t>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1</a:t>
            </a:r>
            <a:r>
              <a:rPr lang="en-US" sz="2400" dirty="0">
                <a:solidFill>
                  <a:srgbClr val="000000"/>
                </a:solidFill>
                <a:cs typeface="Times New Roman" pitchFamily="18" charset="0"/>
              </a:rPr>
              <a:t> and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2</a:t>
            </a:r>
            <a:r>
              <a:rPr lang="en-US" sz="2400" dirty="0">
                <a:solidFill>
                  <a:srgbClr val="000000"/>
                </a:solidFill>
                <a:cs typeface="Times New Roman" pitchFamily="18" charset="0"/>
              </a:rPr>
              <a:t> exist in </a:t>
            </a:r>
            <a:r>
              <a:rPr lang="en-US" sz="2400" i="1" dirty="0">
                <a:solidFill>
                  <a:srgbClr val="000000"/>
                </a:solidFill>
                <a:cs typeface="Times New Roman" pitchFamily="18" charset="0"/>
              </a:rPr>
              <a:t>r</a:t>
            </a:r>
            <a:r>
              <a:rPr lang="en-US" sz="2400" dirty="0">
                <a:solidFill>
                  <a:srgbClr val="000000"/>
                </a:solidFill>
                <a:cs typeface="Times New Roman" pitchFamily="18" charset="0"/>
              </a:rPr>
              <a:t> such that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1</a:t>
            </a:r>
            <a:r>
              <a:rPr lang="en-US" sz="2400" dirty="0">
                <a:solidFill>
                  <a:srgbClr val="000000"/>
                </a:solidFill>
                <a:cs typeface="Times New Roman" pitchFamily="18" charset="0"/>
              </a:rPr>
              <a:t>[</a:t>
            </a:r>
            <a:r>
              <a:rPr lang="en-US" sz="2400" i="1" dirty="0">
                <a:solidFill>
                  <a:srgbClr val="000000"/>
                </a:solidFill>
                <a:cs typeface="Times New Roman" pitchFamily="18" charset="0"/>
              </a:rPr>
              <a:t>X</a:t>
            </a:r>
            <a:r>
              <a:rPr lang="en-US" sz="2400" dirty="0">
                <a:solidFill>
                  <a:srgbClr val="000000"/>
                </a:solidFill>
                <a:cs typeface="Times New Roman" pitchFamily="18" charset="0"/>
              </a:rPr>
              <a:t>] =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2</a:t>
            </a:r>
            <a:r>
              <a:rPr lang="en-US" sz="2400" dirty="0">
                <a:solidFill>
                  <a:srgbClr val="000000"/>
                </a:solidFill>
                <a:cs typeface="Times New Roman" pitchFamily="18" charset="0"/>
              </a:rPr>
              <a:t>[</a:t>
            </a:r>
            <a:r>
              <a:rPr lang="en-US" sz="2400" i="1" dirty="0">
                <a:solidFill>
                  <a:srgbClr val="000000"/>
                </a:solidFill>
                <a:cs typeface="Times New Roman" pitchFamily="18" charset="0"/>
              </a:rPr>
              <a:t>X</a:t>
            </a:r>
            <a:r>
              <a:rPr lang="en-US" sz="2400" dirty="0">
                <a:solidFill>
                  <a:srgbClr val="000000"/>
                </a:solidFill>
                <a:cs typeface="Times New Roman" pitchFamily="18" charset="0"/>
              </a:rPr>
              <a:t>], then two </a:t>
            </a:r>
            <a:r>
              <a:rPr lang="en-US" sz="2400" dirty="0" err="1">
                <a:solidFill>
                  <a:srgbClr val="000000"/>
                </a:solidFill>
                <a:cs typeface="Times New Roman" pitchFamily="18" charset="0"/>
              </a:rPr>
              <a:t>tuples</a:t>
            </a:r>
            <a:r>
              <a:rPr lang="en-US" sz="2400" dirty="0">
                <a:solidFill>
                  <a:srgbClr val="000000"/>
                </a:solidFill>
                <a:cs typeface="Times New Roman" pitchFamily="18" charset="0"/>
              </a:rPr>
              <a:t>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3</a:t>
            </a:r>
            <a:r>
              <a:rPr lang="en-US" sz="2400" dirty="0">
                <a:solidFill>
                  <a:srgbClr val="000000"/>
                </a:solidFill>
                <a:cs typeface="Times New Roman" pitchFamily="18" charset="0"/>
              </a:rPr>
              <a:t> and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4</a:t>
            </a:r>
            <a:r>
              <a:rPr lang="en-US" sz="2400" dirty="0">
                <a:solidFill>
                  <a:srgbClr val="000000"/>
                </a:solidFill>
                <a:cs typeface="Times New Roman" pitchFamily="18" charset="0"/>
              </a:rPr>
              <a:t> should also exist in </a:t>
            </a:r>
            <a:r>
              <a:rPr lang="en-US" sz="2400" i="1" dirty="0">
                <a:solidFill>
                  <a:srgbClr val="000000"/>
                </a:solidFill>
                <a:cs typeface="Times New Roman" pitchFamily="18" charset="0"/>
              </a:rPr>
              <a:t>r</a:t>
            </a:r>
            <a:r>
              <a:rPr lang="en-US" sz="2400" dirty="0">
                <a:solidFill>
                  <a:srgbClr val="000000"/>
                </a:solidFill>
                <a:cs typeface="Times New Roman" pitchFamily="18" charset="0"/>
              </a:rPr>
              <a:t> </a:t>
            </a:r>
            <a:r>
              <a:rPr lang="en-US" sz="2400" dirty="0" smtClean="0">
                <a:solidFill>
                  <a:srgbClr val="000000"/>
                </a:solidFill>
                <a:cs typeface="Times New Roman" pitchFamily="18" charset="0"/>
              </a:rPr>
              <a:t>with  the following </a:t>
            </a:r>
            <a:r>
              <a:rPr lang="en-US" sz="2400" dirty="0">
                <a:solidFill>
                  <a:srgbClr val="000000"/>
                </a:solidFill>
                <a:cs typeface="Times New Roman" pitchFamily="18" charset="0"/>
              </a:rPr>
              <a:t>properties, where we use </a:t>
            </a:r>
            <a:r>
              <a:rPr lang="en-US" sz="2400" i="1" dirty="0">
                <a:solidFill>
                  <a:srgbClr val="000000"/>
                </a:solidFill>
                <a:cs typeface="Times New Roman" pitchFamily="18" charset="0"/>
              </a:rPr>
              <a:t>Z</a:t>
            </a:r>
            <a:r>
              <a:rPr lang="en-US" sz="2400" dirty="0">
                <a:solidFill>
                  <a:srgbClr val="000000"/>
                </a:solidFill>
                <a:cs typeface="Times New Roman" pitchFamily="18" charset="0"/>
              </a:rPr>
              <a:t> to denote (</a:t>
            </a:r>
            <a:r>
              <a:rPr lang="en-US" sz="2400" i="1" dirty="0">
                <a:solidFill>
                  <a:srgbClr val="000000"/>
                </a:solidFill>
                <a:cs typeface="Times New Roman" pitchFamily="18" charset="0"/>
              </a:rPr>
              <a:t>R </a:t>
            </a:r>
            <a:r>
              <a:rPr lang="en-US" sz="2800" dirty="0">
                <a:solidFill>
                  <a:srgbClr val="000000"/>
                </a:solidFill>
                <a:latin typeface="MathematicalPi 1" pitchFamily="82" charset="0"/>
                <a:cs typeface="Times New Roman" pitchFamily="18" charset="0"/>
              </a:rPr>
              <a:t>-</a:t>
            </a:r>
            <a:r>
              <a:rPr lang="en-US" sz="3200" dirty="0" smtClean="0">
                <a:solidFill>
                  <a:srgbClr val="000000"/>
                </a:solidFill>
                <a:cs typeface="Times New Roman" pitchFamily="18" charset="0"/>
              </a:rPr>
              <a:t> </a:t>
            </a:r>
            <a:r>
              <a:rPr lang="en-US" sz="2400" dirty="0">
                <a:solidFill>
                  <a:srgbClr val="000000"/>
                </a:solidFill>
                <a:cs typeface="Times New Roman" pitchFamily="18" charset="0"/>
              </a:rPr>
              <a:t>(</a:t>
            </a:r>
            <a:r>
              <a:rPr lang="en-US" sz="2400" i="1" dirty="0">
                <a:solidFill>
                  <a:srgbClr val="000000"/>
                </a:solidFill>
                <a:cs typeface="Times New Roman" pitchFamily="18" charset="0"/>
              </a:rPr>
              <a:t>X</a:t>
            </a:r>
            <a:r>
              <a:rPr lang="en-US" sz="2400" dirty="0">
                <a:solidFill>
                  <a:srgbClr val="000000"/>
                </a:solidFill>
                <a:cs typeface="Times New Roman" pitchFamily="18" charset="0"/>
              </a:rPr>
              <a:t> </a:t>
            </a:r>
            <a:r>
              <a:rPr lang="en-US" sz="2400" dirty="0">
                <a:cs typeface="Arial" pitchFamily="34" charset="0"/>
              </a:rPr>
              <a:t>υ</a:t>
            </a:r>
            <a:r>
              <a:rPr lang="en-US" sz="2400" dirty="0">
                <a:solidFill>
                  <a:srgbClr val="000000"/>
                </a:solidFill>
                <a:cs typeface="Times New Roman" pitchFamily="18" charset="0"/>
              </a:rPr>
              <a:t> </a:t>
            </a:r>
            <a:r>
              <a:rPr lang="en-US" sz="2400" i="1" dirty="0">
                <a:solidFill>
                  <a:srgbClr val="000000"/>
                </a:solidFill>
                <a:cs typeface="Times New Roman" pitchFamily="18" charset="0"/>
              </a:rPr>
              <a:t>Y</a:t>
            </a:r>
            <a:r>
              <a:rPr lang="en-US" sz="2400" dirty="0">
                <a:solidFill>
                  <a:srgbClr val="000000"/>
                </a:solidFill>
                <a:cs typeface="Times New Roman" pitchFamily="18" charset="0"/>
              </a:rPr>
              <a:t>)):</a:t>
            </a:r>
          </a:p>
          <a:p>
            <a:pPr marL="609600" indent="-609600" algn="just">
              <a:lnSpc>
                <a:spcPct val="90000"/>
              </a:lnSpc>
              <a:buFont typeface="Wingdings" pitchFamily="2" charset="2"/>
              <a:buNone/>
            </a:pPr>
            <a:r>
              <a:rPr lang="en-US" sz="2400" dirty="0">
                <a:solidFill>
                  <a:srgbClr val="000000"/>
                </a:solidFill>
                <a:latin typeface="Times New Roman"/>
                <a:cs typeface="Times New Roman" pitchFamily="18" charset="0"/>
              </a:rPr>
              <a:t>·</a:t>
            </a:r>
            <a:r>
              <a:rPr lang="en-US" sz="2400" dirty="0">
                <a:solidFill>
                  <a:srgbClr val="000000"/>
                </a:solidFill>
                <a:cs typeface="Times New Roman" pitchFamily="18" charset="0"/>
              </a:rPr>
              <a:t>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3</a:t>
            </a:r>
            <a:r>
              <a:rPr lang="en-US" sz="2400" dirty="0">
                <a:solidFill>
                  <a:srgbClr val="000000"/>
                </a:solidFill>
                <a:cs typeface="Times New Roman" pitchFamily="18" charset="0"/>
              </a:rPr>
              <a:t>[</a:t>
            </a:r>
            <a:r>
              <a:rPr lang="en-US" sz="2400" i="1" dirty="0">
                <a:solidFill>
                  <a:srgbClr val="000000"/>
                </a:solidFill>
                <a:cs typeface="Times New Roman" pitchFamily="18" charset="0"/>
              </a:rPr>
              <a:t>X</a:t>
            </a:r>
            <a:r>
              <a:rPr lang="en-US" sz="2400" dirty="0">
                <a:solidFill>
                  <a:srgbClr val="000000"/>
                </a:solidFill>
                <a:cs typeface="Times New Roman" pitchFamily="18" charset="0"/>
              </a:rPr>
              <a:t>] =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4</a:t>
            </a:r>
            <a:r>
              <a:rPr lang="en-US" sz="2400" dirty="0">
                <a:solidFill>
                  <a:srgbClr val="000000"/>
                </a:solidFill>
                <a:cs typeface="Times New Roman" pitchFamily="18" charset="0"/>
              </a:rPr>
              <a:t>[</a:t>
            </a:r>
            <a:r>
              <a:rPr lang="en-US" sz="2400" i="1" dirty="0">
                <a:solidFill>
                  <a:srgbClr val="000000"/>
                </a:solidFill>
                <a:cs typeface="Times New Roman" pitchFamily="18" charset="0"/>
              </a:rPr>
              <a:t>X</a:t>
            </a:r>
            <a:r>
              <a:rPr lang="en-US" sz="2400" dirty="0">
                <a:solidFill>
                  <a:srgbClr val="000000"/>
                </a:solidFill>
                <a:cs typeface="Times New Roman" pitchFamily="18" charset="0"/>
              </a:rPr>
              <a:t>] =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1</a:t>
            </a:r>
            <a:r>
              <a:rPr lang="en-US" sz="2400" dirty="0">
                <a:solidFill>
                  <a:srgbClr val="000000"/>
                </a:solidFill>
                <a:cs typeface="Times New Roman" pitchFamily="18" charset="0"/>
              </a:rPr>
              <a:t>[</a:t>
            </a:r>
            <a:r>
              <a:rPr lang="en-US" sz="2400" i="1" dirty="0">
                <a:solidFill>
                  <a:srgbClr val="000000"/>
                </a:solidFill>
                <a:cs typeface="Times New Roman" pitchFamily="18" charset="0"/>
              </a:rPr>
              <a:t>X</a:t>
            </a:r>
            <a:r>
              <a:rPr lang="en-US" sz="2400" dirty="0">
                <a:solidFill>
                  <a:srgbClr val="000000"/>
                </a:solidFill>
                <a:cs typeface="Times New Roman" pitchFamily="18" charset="0"/>
              </a:rPr>
              <a:t>] =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2</a:t>
            </a:r>
            <a:r>
              <a:rPr lang="en-US" sz="2400" dirty="0">
                <a:solidFill>
                  <a:srgbClr val="000000"/>
                </a:solidFill>
                <a:cs typeface="Times New Roman" pitchFamily="18" charset="0"/>
              </a:rPr>
              <a:t>[</a:t>
            </a:r>
            <a:r>
              <a:rPr lang="en-US" sz="2400" i="1" dirty="0">
                <a:solidFill>
                  <a:srgbClr val="000000"/>
                </a:solidFill>
                <a:cs typeface="Times New Roman" pitchFamily="18" charset="0"/>
              </a:rPr>
              <a:t>X</a:t>
            </a:r>
            <a:r>
              <a:rPr lang="en-US" sz="2400" dirty="0">
                <a:solidFill>
                  <a:srgbClr val="000000"/>
                </a:solidFill>
                <a:cs typeface="Times New Roman" pitchFamily="18" charset="0"/>
              </a:rPr>
              <a:t>].</a:t>
            </a:r>
          </a:p>
          <a:p>
            <a:pPr marL="609600" indent="-609600" algn="just">
              <a:lnSpc>
                <a:spcPct val="90000"/>
              </a:lnSpc>
              <a:buFont typeface="Wingdings" pitchFamily="2" charset="2"/>
              <a:buNone/>
            </a:pPr>
            <a:r>
              <a:rPr lang="en-US" sz="2400" dirty="0">
                <a:solidFill>
                  <a:srgbClr val="000000"/>
                </a:solidFill>
                <a:latin typeface="Times New Roman"/>
                <a:cs typeface="Times New Roman" pitchFamily="18" charset="0"/>
              </a:rPr>
              <a:t>·</a:t>
            </a:r>
            <a:r>
              <a:rPr lang="en-US" sz="2400" dirty="0">
                <a:solidFill>
                  <a:srgbClr val="000000"/>
                </a:solidFill>
                <a:cs typeface="Times New Roman" pitchFamily="18" charset="0"/>
              </a:rPr>
              <a:t>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3</a:t>
            </a:r>
            <a:r>
              <a:rPr lang="en-US" sz="2400" dirty="0">
                <a:solidFill>
                  <a:srgbClr val="000000"/>
                </a:solidFill>
                <a:cs typeface="Times New Roman" pitchFamily="18" charset="0"/>
              </a:rPr>
              <a:t>[</a:t>
            </a:r>
            <a:r>
              <a:rPr lang="en-US" sz="2400" i="1" dirty="0">
                <a:solidFill>
                  <a:srgbClr val="000000"/>
                </a:solidFill>
                <a:cs typeface="Times New Roman" pitchFamily="18" charset="0"/>
              </a:rPr>
              <a:t>Y</a:t>
            </a:r>
            <a:r>
              <a:rPr lang="en-US" sz="2400" dirty="0">
                <a:solidFill>
                  <a:srgbClr val="000000"/>
                </a:solidFill>
                <a:cs typeface="Times New Roman" pitchFamily="18" charset="0"/>
              </a:rPr>
              <a:t>] =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1</a:t>
            </a:r>
            <a:r>
              <a:rPr lang="en-US" sz="2400" dirty="0">
                <a:solidFill>
                  <a:srgbClr val="000000"/>
                </a:solidFill>
                <a:cs typeface="Times New Roman" pitchFamily="18" charset="0"/>
              </a:rPr>
              <a:t>[</a:t>
            </a:r>
            <a:r>
              <a:rPr lang="en-US" sz="2400" i="1" dirty="0">
                <a:solidFill>
                  <a:srgbClr val="000000"/>
                </a:solidFill>
                <a:cs typeface="Times New Roman" pitchFamily="18" charset="0"/>
              </a:rPr>
              <a:t>Y</a:t>
            </a:r>
            <a:r>
              <a:rPr lang="en-US" sz="2400" dirty="0">
                <a:solidFill>
                  <a:srgbClr val="000000"/>
                </a:solidFill>
                <a:cs typeface="Times New Roman" pitchFamily="18" charset="0"/>
              </a:rPr>
              <a:t>] and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4</a:t>
            </a:r>
            <a:r>
              <a:rPr lang="en-US" sz="2400" dirty="0">
                <a:solidFill>
                  <a:srgbClr val="000000"/>
                </a:solidFill>
                <a:cs typeface="Times New Roman" pitchFamily="18" charset="0"/>
              </a:rPr>
              <a:t>[</a:t>
            </a:r>
            <a:r>
              <a:rPr lang="en-US" sz="2400" i="1" dirty="0">
                <a:solidFill>
                  <a:srgbClr val="000000"/>
                </a:solidFill>
                <a:cs typeface="Times New Roman" pitchFamily="18" charset="0"/>
              </a:rPr>
              <a:t>Y</a:t>
            </a:r>
            <a:r>
              <a:rPr lang="en-US" sz="2400" dirty="0">
                <a:solidFill>
                  <a:srgbClr val="000000"/>
                </a:solidFill>
                <a:cs typeface="Times New Roman" pitchFamily="18" charset="0"/>
              </a:rPr>
              <a:t>] =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2</a:t>
            </a:r>
            <a:r>
              <a:rPr lang="en-US" sz="2400" dirty="0">
                <a:solidFill>
                  <a:srgbClr val="000000"/>
                </a:solidFill>
                <a:cs typeface="Times New Roman" pitchFamily="18" charset="0"/>
              </a:rPr>
              <a:t>[</a:t>
            </a:r>
            <a:r>
              <a:rPr lang="en-US" sz="2400" i="1" dirty="0">
                <a:solidFill>
                  <a:srgbClr val="000000"/>
                </a:solidFill>
                <a:cs typeface="Times New Roman" pitchFamily="18" charset="0"/>
              </a:rPr>
              <a:t>Y</a:t>
            </a:r>
            <a:r>
              <a:rPr lang="en-US" sz="2400" dirty="0">
                <a:solidFill>
                  <a:srgbClr val="000000"/>
                </a:solidFill>
                <a:cs typeface="Times New Roman" pitchFamily="18" charset="0"/>
              </a:rPr>
              <a:t>].</a:t>
            </a:r>
          </a:p>
          <a:p>
            <a:pPr marL="609600" indent="-609600" algn="just">
              <a:lnSpc>
                <a:spcPct val="90000"/>
              </a:lnSpc>
              <a:buFont typeface="Wingdings" pitchFamily="2" charset="2"/>
              <a:buNone/>
            </a:pPr>
            <a:r>
              <a:rPr lang="en-US" sz="2400" dirty="0">
                <a:solidFill>
                  <a:srgbClr val="000000"/>
                </a:solidFill>
                <a:latin typeface="Times New Roman"/>
                <a:cs typeface="Times New Roman" pitchFamily="18" charset="0"/>
              </a:rPr>
              <a:t>·</a:t>
            </a:r>
            <a:r>
              <a:rPr lang="en-US" sz="2400" dirty="0">
                <a:solidFill>
                  <a:srgbClr val="000000"/>
                </a:solidFill>
                <a:cs typeface="Times New Roman" pitchFamily="18" charset="0"/>
              </a:rPr>
              <a:t>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3</a:t>
            </a:r>
            <a:r>
              <a:rPr lang="en-US" sz="2400" dirty="0">
                <a:solidFill>
                  <a:srgbClr val="000000"/>
                </a:solidFill>
                <a:cs typeface="Times New Roman" pitchFamily="18" charset="0"/>
              </a:rPr>
              <a:t>[</a:t>
            </a:r>
            <a:r>
              <a:rPr lang="en-US" sz="2400" i="1" dirty="0">
                <a:solidFill>
                  <a:srgbClr val="000000"/>
                </a:solidFill>
                <a:cs typeface="Times New Roman" pitchFamily="18" charset="0"/>
              </a:rPr>
              <a:t>Z</a:t>
            </a:r>
            <a:r>
              <a:rPr lang="en-US" sz="2400" dirty="0">
                <a:solidFill>
                  <a:srgbClr val="000000"/>
                </a:solidFill>
                <a:cs typeface="Times New Roman" pitchFamily="18" charset="0"/>
              </a:rPr>
              <a:t>] =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2</a:t>
            </a:r>
            <a:r>
              <a:rPr lang="en-US" sz="2400" dirty="0">
                <a:solidFill>
                  <a:srgbClr val="000000"/>
                </a:solidFill>
                <a:cs typeface="Times New Roman" pitchFamily="18" charset="0"/>
              </a:rPr>
              <a:t>[</a:t>
            </a:r>
            <a:r>
              <a:rPr lang="en-US" sz="2400" i="1" dirty="0">
                <a:solidFill>
                  <a:srgbClr val="000000"/>
                </a:solidFill>
                <a:cs typeface="Times New Roman" pitchFamily="18" charset="0"/>
              </a:rPr>
              <a:t>Z</a:t>
            </a:r>
            <a:r>
              <a:rPr lang="en-US" sz="2400" dirty="0">
                <a:solidFill>
                  <a:srgbClr val="000000"/>
                </a:solidFill>
                <a:cs typeface="Times New Roman" pitchFamily="18" charset="0"/>
              </a:rPr>
              <a:t>] and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4</a:t>
            </a:r>
            <a:r>
              <a:rPr lang="en-US" sz="2400" dirty="0">
                <a:solidFill>
                  <a:srgbClr val="000000"/>
                </a:solidFill>
                <a:cs typeface="Times New Roman" pitchFamily="18" charset="0"/>
              </a:rPr>
              <a:t>[</a:t>
            </a:r>
            <a:r>
              <a:rPr lang="en-US" sz="2400" i="1" dirty="0">
                <a:solidFill>
                  <a:srgbClr val="000000"/>
                </a:solidFill>
                <a:cs typeface="Times New Roman" pitchFamily="18" charset="0"/>
              </a:rPr>
              <a:t>Z</a:t>
            </a:r>
            <a:r>
              <a:rPr lang="en-US" sz="2400" dirty="0">
                <a:solidFill>
                  <a:srgbClr val="000000"/>
                </a:solidFill>
                <a:cs typeface="Times New Roman" pitchFamily="18" charset="0"/>
              </a:rPr>
              <a:t>] = </a:t>
            </a:r>
            <a:r>
              <a:rPr lang="en-US" sz="2400" i="1" dirty="0">
                <a:solidFill>
                  <a:srgbClr val="000000"/>
                </a:solidFill>
                <a:cs typeface="Times New Roman" pitchFamily="18" charset="0"/>
              </a:rPr>
              <a:t>t</a:t>
            </a:r>
            <a:r>
              <a:rPr lang="en-US" sz="2400" baseline="-30000" dirty="0">
                <a:solidFill>
                  <a:srgbClr val="000000"/>
                </a:solidFill>
                <a:cs typeface="Times New Roman" pitchFamily="18" charset="0"/>
              </a:rPr>
              <a:t>1</a:t>
            </a:r>
            <a:r>
              <a:rPr lang="en-US" sz="2400" dirty="0">
                <a:solidFill>
                  <a:srgbClr val="000000"/>
                </a:solidFill>
                <a:cs typeface="Times New Roman" pitchFamily="18" charset="0"/>
              </a:rPr>
              <a:t>[</a:t>
            </a:r>
            <a:r>
              <a:rPr lang="en-US" sz="2400" i="1" dirty="0">
                <a:solidFill>
                  <a:srgbClr val="000000"/>
                </a:solidFill>
                <a:cs typeface="Times New Roman" pitchFamily="18" charset="0"/>
              </a:rPr>
              <a:t>Z</a:t>
            </a:r>
            <a:r>
              <a:rPr lang="en-US" sz="2400" dirty="0">
                <a:solidFill>
                  <a:srgbClr val="000000"/>
                </a:solidFill>
                <a:cs typeface="Times New Roman" pitchFamily="18" charset="0"/>
              </a:rPr>
              <a:t>].</a:t>
            </a:r>
          </a:p>
          <a:p>
            <a:pPr marL="609600" indent="-609600" algn="just">
              <a:lnSpc>
                <a:spcPct val="90000"/>
              </a:lnSpc>
            </a:pPr>
            <a:endParaRPr lang="en-US" sz="2400" dirty="0" smtClean="0">
              <a:solidFill>
                <a:srgbClr val="000000"/>
              </a:solidFill>
              <a:cs typeface="Times New Roman" pitchFamily="18" charset="0"/>
            </a:endParaRPr>
          </a:p>
          <a:p>
            <a:pPr marL="609600" indent="-609600" algn="just">
              <a:lnSpc>
                <a:spcPct val="90000"/>
              </a:lnSpc>
            </a:pPr>
            <a:r>
              <a:rPr lang="en-US" sz="2400" dirty="0" smtClean="0">
                <a:solidFill>
                  <a:srgbClr val="000000"/>
                </a:solidFill>
                <a:cs typeface="Times New Roman" pitchFamily="18" charset="0"/>
              </a:rPr>
              <a:t>An </a:t>
            </a:r>
            <a:r>
              <a:rPr lang="en-US" sz="2400" dirty="0">
                <a:solidFill>
                  <a:srgbClr val="000000"/>
                </a:solidFill>
                <a:cs typeface="Times New Roman" pitchFamily="18" charset="0"/>
              </a:rPr>
              <a:t>MVD </a:t>
            </a:r>
            <a:r>
              <a:rPr lang="en-US" sz="2400" i="1" dirty="0">
                <a:solidFill>
                  <a:srgbClr val="000000"/>
                </a:solidFill>
                <a:cs typeface="Times New Roman" pitchFamily="18" charset="0"/>
              </a:rPr>
              <a:t>X</a:t>
            </a:r>
            <a:r>
              <a:rPr lang="en-US" sz="2400" dirty="0">
                <a:solidFill>
                  <a:srgbClr val="000000"/>
                </a:solidFill>
                <a:cs typeface="Times New Roman" pitchFamily="18" charset="0"/>
              </a:rPr>
              <a:t> </a:t>
            </a:r>
            <a:r>
              <a:rPr lang="en-US" sz="2000" dirty="0">
                <a:solidFill>
                  <a:srgbClr val="000000"/>
                </a:solidFill>
                <a:cs typeface="Times New Roman" pitchFamily="18" charset="0"/>
              </a:rPr>
              <a:t>—&gt;&gt;</a:t>
            </a:r>
            <a:r>
              <a:rPr lang="en-US" sz="2400" dirty="0">
                <a:solidFill>
                  <a:srgbClr val="000000"/>
                </a:solidFill>
                <a:cs typeface="Times New Roman" pitchFamily="18" charset="0"/>
              </a:rPr>
              <a:t> </a:t>
            </a:r>
            <a:r>
              <a:rPr lang="en-US" sz="2400" i="1" dirty="0">
                <a:solidFill>
                  <a:srgbClr val="000000"/>
                </a:solidFill>
                <a:cs typeface="Times New Roman" pitchFamily="18" charset="0"/>
              </a:rPr>
              <a:t>Y</a:t>
            </a:r>
            <a:r>
              <a:rPr lang="en-US" sz="2400" dirty="0">
                <a:solidFill>
                  <a:srgbClr val="000000"/>
                </a:solidFill>
                <a:cs typeface="Times New Roman" pitchFamily="18" charset="0"/>
              </a:rPr>
              <a:t> in </a:t>
            </a:r>
            <a:r>
              <a:rPr lang="en-US" sz="2400" i="1" dirty="0">
                <a:solidFill>
                  <a:srgbClr val="000000"/>
                </a:solidFill>
                <a:cs typeface="Times New Roman" pitchFamily="18" charset="0"/>
              </a:rPr>
              <a:t>R</a:t>
            </a:r>
            <a:r>
              <a:rPr lang="en-US" sz="2400" dirty="0">
                <a:solidFill>
                  <a:srgbClr val="000000"/>
                </a:solidFill>
                <a:cs typeface="Times New Roman" pitchFamily="18" charset="0"/>
              </a:rPr>
              <a:t> is called a </a:t>
            </a:r>
            <a:r>
              <a:rPr lang="en-US" sz="2400" b="1" dirty="0">
                <a:solidFill>
                  <a:srgbClr val="000000"/>
                </a:solidFill>
                <a:cs typeface="Times New Roman" pitchFamily="18" charset="0"/>
              </a:rPr>
              <a:t>trivial MVD</a:t>
            </a:r>
            <a:r>
              <a:rPr lang="en-US" sz="2400" dirty="0">
                <a:solidFill>
                  <a:srgbClr val="000000"/>
                </a:solidFill>
                <a:cs typeface="Times New Roman" pitchFamily="18" charset="0"/>
              </a:rPr>
              <a:t> if (a) </a:t>
            </a:r>
            <a:r>
              <a:rPr lang="en-US" sz="2400" i="1" dirty="0">
                <a:solidFill>
                  <a:srgbClr val="000000"/>
                </a:solidFill>
                <a:cs typeface="Times New Roman" pitchFamily="18" charset="0"/>
              </a:rPr>
              <a:t>Y</a:t>
            </a:r>
            <a:r>
              <a:rPr lang="en-US" sz="2400" dirty="0">
                <a:solidFill>
                  <a:srgbClr val="000000"/>
                </a:solidFill>
                <a:cs typeface="Times New Roman" pitchFamily="18" charset="0"/>
              </a:rPr>
              <a:t> is a subset of </a:t>
            </a:r>
            <a:r>
              <a:rPr lang="en-US" sz="2400" i="1" dirty="0">
                <a:solidFill>
                  <a:srgbClr val="000000"/>
                </a:solidFill>
                <a:cs typeface="Times New Roman" pitchFamily="18" charset="0"/>
              </a:rPr>
              <a:t>X</a:t>
            </a:r>
            <a:r>
              <a:rPr lang="en-US" sz="2400" dirty="0">
                <a:solidFill>
                  <a:srgbClr val="000000"/>
                </a:solidFill>
                <a:cs typeface="Times New Roman" pitchFamily="18" charset="0"/>
              </a:rPr>
              <a:t>, or (b) </a:t>
            </a:r>
            <a:r>
              <a:rPr lang="en-US" sz="2400" i="1" dirty="0">
                <a:solidFill>
                  <a:srgbClr val="000000"/>
                </a:solidFill>
                <a:cs typeface="Times New Roman" pitchFamily="18" charset="0"/>
              </a:rPr>
              <a:t>X</a:t>
            </a:r>
            <a:r>
              <a:rPr lang="en-US" sz="2400" dirty="0">
                <a:solidFill>
                  <a:srgbClr val="000000"/>
                </a:solidFill>
                <a:cs typeface="Times New Roman" pitchFamily="18" charset="0"/>
              </a:rPr>
              <a:t> </a:t>
            </a:r>
            <a:r>
              <a:rPr lang="en-US" sz="2400" dirty="0">
                <a:cs typeface="Arial" pitchFamily="34" charset="0"/>
              </a:rPr>
              <a:t>υ</a:t>
            </a:r>
            <a:r>
              <a:rPr lang="en-US" sz="2400" dirty="0">
                <a:solidFill>
                  <a:srgbClr val="000000"/>
                </a:solidFill>
                <a:cs typeface="Times New Roman" pitchFamily="18" charset="0"/>
              </a:rPr>
              <a:t> </a:t>
            </a:r>
            <a:r>
              <a:rPr lang="en-US" sz="2400" i="1" dirty="0">
                <a:solidFill>
                  <a:srgbClr val="000000"/>
                </a:solidFill>
                <a:cs typeface="Times New Roman" pitchFamily="18" charset="0"/>
              </a:rPr>
              <a:t>Y</a:t>
            </a:r>
            <a:r>
              <a:rPr lang="en-US" sz="2400" dirty="0">
                <a:solidFill>
                  <a:srgbClr val="000000"/>
                </a:solidFill>
                <a:cs typeface="Times New Roman" pitchFamily="18" charset="0"/>
              </a:rPr>
              <a:t> = </a:t>
            </a:r>
            <a:r>
              <a:rPr lang="en-US" sz="2400" i="1" dirty="0">
                <a:solidFill>
                  <a:srgbClr val="000000"/>
                </a:solidFill>
                <a:cs typeface="Times New Roman" pitchFamily="18" charset="0"/>
              </a:rPr>
              <a:t>R</a:t>
            </a:r>
            <a:r>
              <a:rPr lang="en-US" sz="2400" dirty="0">
                <a:solidFill>
                  <a:srgbClr val="000000"/>
                </a:solidFill>
                <a:cs typeface="Times New Roman" pitchFamily="18" charset="0"/>
              </a:rPr>
              <a:t>.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6553200" y="6248400"/>
            <a:ext cx="1905000" cy="457200"/>
          </a:xfrm>
          <a:prstGeom prst="rect">
            <a:avLst/>
          </a:prstGeom>
        </p:spPr>
        <p:txBody>
          <a:bodyPr/>
          <a:lstStyle/>
          <a:p>
            <a:fld id="{7145BCDB-80DB-41FF-8C27-28E54E78C19A}" type="slidenum">
              <a:rPr lang="en-US"/>
              <a:pPr/>
              <a:t>32</a:t>
            </a:fld>
            <a:endParaRPr lang="en-US"/>
          </a:p>
        </p:txBody>
      </p:sp>
      <p:sp>
        <p:nvSpPr>
          <p:cNvPr id="10242" name="Rectangle 2"/>
          <p:cNvSpPr>
            <a:spLocks noGrp="1" noChangeArrowheads="1"/>
          </p:cNvSpPr>
          <p:nvPr>
            <p:ph type="title"/>
          </p:nvPr>
        </p:nvSpPr>
        <p:spPr>
          <a:xfrm>
            <a:off x="685800" y="381000"/>
            <a:ext cx="7772400" cy="1143000"/>
          </a:xfrm>
        </p:spPr>
        <p:txBody>
          <a:bodyPr/>
          <a:lstStyle/>
          <a:p>
            <a:r>
              <a:rPr lang="en-US" dirty="0">
                <a:solidFill>
                  <a:schemeClr val="tx1"/>
                </a:solidFill>
              </a:rPr>
              <a:t>Example: </a:t>
            </a:r>
            <a:r>
              <a:rPr lang="en-US" dirty="0"/>
              <a:t>MVD</a:t>
            </a:r>
          </a:p>
        </p:txBody>
      </p:sp>
      <p:sp>
        <p:nvSpPr>
          <p:cNvPr id="10243" name="Rectangle 3"/>
          <p:cNvSpPr>
            <a:spLocks noGrp="1" noChangeArrowheads="1"/>
          </p:cNvSpPr>
          <p:nvPr>
            <p:ph type="body" idx="1"/>
          </p:nvPr>
        </p:nvSpPr>
        <p:spPr>
          <a:xfrm>
            <a:off x="533400" y="1676400"/>
            <a:ext cx="8077200" cy="4648200"/>
          </a:xfrm>
        </p:spPr>
        <p:txBody>
          <a:bodyPr/>
          <a:lstStyle/>
          <a:p>
            <a:pPr>
              <a:lnSpc>
                <a:spcPct val="90000"/>
              </a:lnSpc>
              <a:buFont typeface="Monotype Sorts" pitchFamily="2" charset="2"/>
              <a:buNone/>
            </a:pPr>
            <a:r>
              <a:rPr lang="en-US" dirty="0" smtClean="0">
                <a:solidFill>
                  <a:srgbClr val="CC00CC"/>
                </a:solidFill>
              </a:rPr>
              <a:t>Customer(name</a:t>
            </a:r>
            <a:r>
              <a:rPr lang="en-US" dirty="0">
                <a:solidFill>
                  <a:srgbClr val="CC00CC"/>
                </a:solidFill>
              </a:rPr>
              <a:t>, </a:t>
            </a:r>
            <a:r>
              <a:rPr lang="en-US" dirty="0" err="1">
                <a:solidFill>
                  <a:srgbClr val="CC00CC"/>
                </a:solidFill>
              </a:rPr>
              <a:t>addr</a:t>
            </a:r>
            <a:r>
              <a:rPr lang="en-US" dirty="0">
                <a:solidFill>
                  <a:srgbClr val="CC00CC"/>
                </a:solidFill>
              </a:rPr>
              <a:t>, phones, </a:t>
            </a:r>
            <a:r>
              <a:rPr lang="en-US" dirty="0" err="1" smtClean="0">
                <a:solidFill>
                  <a:srgbClr val="CC00CC"/>
                </a:solidFill>
              </a:rPr>
              <a:t>itemsLiked</a:t>
            </a:r>
            <a:r>
              <a:rPr lang="en-US" dirty="0">
                <a:solidFill>
                  <a:srgbClr val="CC00CC"/>
                </a:solidFill>
              </a:rPr>
              <a:t>)</a:t>
            </a:r>
          </a:p>
          <a:p>
            <a:pPr>
              <a:lnSpc>
                <a:spcPct val="90000"/>
              </a:lnSpc>
            </a:pPr>
            <a:r>
              <a:rPr lang="en-US" dirty="0"/>
              <a:t>A </a:t>
            </a:r>
            <a:r>
              <a:rPr lang="en-US" dirty="0" smtClean="0"/>
              <a:t>customer’s </a:t>
            </a:r>
            <a:r>
              <a:rPr lang="en-US" dirty="0"/>
              <a:t>phones are independent of the </a:t>
            </a:r>
            <a:r>
              <a:rPr lang="en-US" dirty="0" smtClean="0"/>
              <a:t>items they </a:t>
            </a:r>
            <a:r>
              <a:rPr lang="en-US" dirty="0"/>
              <a:t>like.</a:t>
            </a:r>
          </a:p>
          <a:p>
            <a:pPr lvl="1">
              <a:lnSpc>
                <a:spcPct val="90000"/>
              </a:lnSpc>
            </a:pPr>
            <a:r>
              <a:rPr lang="en-US" dirty="0">
                <a:solidFill>
                  <a:srgbClr val="3366FF"/>
                </a:solidFill>
              </a:rPr>
              <a:t>name-</a:t>
            </a:r>
            <a:r>
              <a:rPr lang="en-US" dirty="0" smtClean="0">
                <a:solidFill>
                  <a:srgbClr val="3366FF"/>
                </a:solidFill>
              </a:rPr>
              <a:t>&gt;&gt;</a:t>
            </a:r>
            <a:r>
              <a:rPr lang="en-US" dirty="0">
                <a:solidFill>
                  <a:srgbClr val="3366FF"/>
                </a:solidFill>
              </a:rPr>
              <a:t>phones </a:t>
            </a:r>
            <a:r>
              <a:rPr lang="en-US" dirty="0"/>
              <a:t>and</a:t>
            </a:r>
            <a:r>
              <a:rPr lang="en-US" dirty="0">
                <a:solidFill>
                  <a:srgbClr val="3366FF"/>
                </a:solidFill>
              </a:rPr>
              <a:t> name </a:t>
            </a:r>
            <a:r>
              <a:rPr lang="en-US" dirty="0" smtClean="0">
                <a:solidFill>
                  <a:srgbClr val="3366FF"/>
                </a:solidFill>
              </a:rPr>
              <a:t>-&gt;&gt;</a:t>
            </a:r>
            <a:r>
              <a:rPr lang="en-US" dirty="0" err="1" smtClean="0">
                <a:solidFill>
                  <a:srgbClr val="3366FF"/>
                </a:solidFill>
              </a:rPr>
              <a:t>itemsLiked</a:t>
            </a:r>
            <a:r>
              <a:rPr lang="en-US" dirty="0"/>
              <a:t>.</a:t>
            </a:r>
          </a:p>
          <a:p>
            <a:pPr>
              <a:lnSpc>
                <a:spcPct val="90000"/>
              </a:lnSpc>
            </a:pPr>
            <a:r>
              <a:rPr lang="en-US" dirty="0"/>
              <a:t>Thus, each of a </a:t>
            </a:r>
            <a:r>
              <a:rPr lang="en-US" dirty="0" smtClean="0"/>
              <a:t>customer’s </a:t>
            </a:r>
            <a:r>
              <a:rPr lang="en-US" dirty="0"/>
              <a:t>phones appears with each of the </a:t>
            </a:r>
            <a:r>
              <a:rPr lang="en-US" dirty="0" smtClean="0"/>
              <a:t>item </a:t>
            </a:r>
            <a:r>
              <a:rPr lang="en-US" dirty="0"/>
              <a:t>they like in all combinations.</a:t>
            </a:r>
          </a:p>
          <a:p>
            <a:pPr>
              <a:lnSpc>
                <a:spcPct val="90000"/>
              </a:lnSpc>
            </a:pPr>
            <a:r>
              <a:rPr lang="en-US" dirty="0"/>
              <a:t>This repetition is unlike FD redundancy.</a:t>
            </a:r>
          </a:p>
          <a:p>
            <a:pPr lvl="1">
              <a:lnSpc>
                <a:spcPct val="90000"/>
              </a:lnSpc>
            </a:pPr>
            <a:r>
              <a:rPr lang="en-US" dirty="0">
                <a:solidFill>
                  <a:schemeClr val="accent1"/>
                </a:solidFill>
              </a:rPr>
              <a:t>name-&gt;</a:t>
            </a:r>
            <a:r>
              <a:rPr lang="en-US" dirty="0" err="1">
                <a:solidFill>
                  <a:schemeClr val="accent1"/>
                </a:solidFill>
              </a:rPr>
              <a:t>addr</a:t>
            </a:r>
            <a:r>
              <a:rPr lang="en-US" dirty="0"/>
              <a:t> is the only FD.</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609600"/>
            <a:ext cx="9144000" cy="1143000"/>
          </a:xfrm>
        </p:spPr>
        <p:txBody>
          <a:bodyPr/>
          <a:lstStyle/>
          <a:p>
            <a:r>
              <a:rPr lang="en-US" sz="4000" dirty="0" err="1"/>
              <a:t>Tuples</a:t>
            </a:r>
            <a:r>
              <a:rPr lang="en-US" sz="4000" dirty="0"/>
              <a:t> Implied by </a:t>
            </a:r>
            <a:r>
              <a:rPr lang="en-US" sz="4000" dirty="0">
                <a:solidFill>
                  <a:srgbClr val="3366FF"/>
                </a:solidFill>
              </a:rPr>
              <a:t>name-</a:t>
            </a:r>
            <a:r>
              <a:rPr lang="en-US" sz="4000" dirty="0" smtClean="0">
                <a:solidFill>
                  <a:srgbClr val="3366FF"/>
                </a:solidFill>
              </a:rPr>
              <a:t>&gt;&gt;</a:t>
            </a:r>
            <a:r>
              <a:rPr lang="en-US" sz="4000" dirty="0">
                <a:solidFill>
                  <a:srgbClr val="3366FF"/>
                </a:solidFill>
              </a:rPr>
              <a:t>phones</a:t>
            </a:r>
          </a:p>
        </p:txBody>
      </p:sp>
      <p:sp>
        <p:nvSpPr>
          <p:cNvPr id="11267" name="Text Box 3"/>
          <p:cNvSpPr txBox="1">
            <a:spLocks noChangeArrowheads="1"/>
          </p:cNvSpPr>
          <p:nvPr/>
        </p:nvSpPr>
        <p:spPr bwMode="auto">
          <a:xfrm>
            <a:off x="669925" y="2014538"/>
            <a:ext cx="2625725" cy="457200"/>
          </a:xfrm>
          <a:prstGeom prst="rect">
            <a:avLst/>
          </a:prstGeom>
          <a:noFill/>
          <a:ln w="9525">
            <a:noFill/>
            <a:miter lim="800000"/>
            <a:headEnd/>
            <a:tailEnd/>
          </a:ln>
          <a:effectLst/>
        </p:spPr>
        <p:txBody>
          <a:bodyPr wrap="none">
            <a:spAutoFit/>
          </a:bodyPr>
          <a:lstStyle/>
          <a:p>
            <a:r>
              <a:rPr lang="en-US"/>
              <a:t>If we have tuples:</a:t>
            </a:r>
          </a:p>
        </p:txBody>
      </p:sp>
      <p:sp>
        <p:nvSpPr>
          <p:cNvPr id="11269" name="Text Box 5"/>
          <p:cNvSpPr txBox="1">
            <a:spLocks noChangeArrowheads="1"/>
          </p:cNvSpPr>
          <p:nvPr/>
        </p:nvSpPr>
        <p:spPr bwMode="auto">
          <a:xfrm>
            <a:off x="1371600" y="2887663"/>
            <a:ext cx="4592924" cy="1200329"/>
          </a:xfrm>
          <a:prstGeom prst="rect">
            <a:avLst/>
          </a:prstGeom>
          <a:noFill/>
          <a:ln w="9525">
            <a:noFill/>
            <a:miter lim="800000"/>
            <a:headEnd/>
            <a:tailEnd/>
          </a:ln>
          <a:effectLst/>
        </p:spPr>
        <p:txBody>
          <a:bodyPr wrap="none">
            <a:spAutoFit/>
          </a:bodyPr>
          <a:lstStyle/>
          <a:p>
            <a:r>
              <a:rPr lang="en-US" dirty="0"/>
              <a:t>name	</a:t>
            </a:r>
            <a:r>
              <a:rPr lang="en-US" dirty="0" err="1"/>
              <a:t>addr</a:t>
            </a:r>
            <a:r>
              <a:rPr lang="en-US" dirty="0"/>
              <a:t>	phones  </a:t>
            </a:r>
            <a:r>
              <a:rPr lang="en-US" dirty="0" smtClean="0"/>
              <a:t>  </a:t>
            </a:r>
            <a:r>
              <a:rPr lang="en-US" dirty="0" err="1" smtClean="0"/>
              <a:t>itemsLiked</a:t>
            </a:r>
            <a:endParaRPr lang="en-US" dirty="0"/>
          </a:p>
          <a:p>
            <a:r>
              <a:rPr lang="en-US" dirty="0"/>
              <a:t>sue	a	p1	   b1</a:t>
            </a:r>
          </a:p>
          <a:p>
            <a:r>
              <a:rPr lang="en-US" dirty="0"/>
              <a:t>sue	a	p2	   b2</a:t>
            </a:r>
          </a:p>
        </p:txBody>
      </p:sp>
      <p:grpSp>
        <p:nvGrpSpPr>
          <p:cNvPr id="2" name="Group 13"/>
          <p:cNvGrpSpPr>
            <a:grpSpLocks/>
          </p:cNvGrpSpPr>
          <p:nvPr/>
        </p:nvGrpSpPr>
        <p:grpSpPr bwMode="auto">
          <a:xfrm>
            <a:off x="746125" y="4038600"/>
            <a:ext cx="6437313" cy="1406525"/>
            <a:chOff x="470" y="2544"/>
            <a:chExt cx="4055" cy="886"/>
          </a:xfrm>
        </p:grpSpPr>
        <p:sp>
          <p:nvSpPr>
            <p:cNvPr id="11270" name="Text Box 6"/>
            <p:cNvSpPr txBox="1">
              <a:spLocks noChangeArrowheads="1"/>
            </p:cNvSpPr>
            <p:nvPr/>
          </p:nvSpPr>
          <p:spPr bwMode="auto">
            <a:xfrm>
              <a:off x="864" y="2544"/>
              <a:ext cx="2235" cy="518"/>
            </a:xfrm>
            <a:prstGeom prst="rect">
              <a:avLst/>
            </a:prstGeom>
            <a:noFill/>
            <a:ln w="9525">
              <a:noFill/>
              <a:miter lim="800000"/>
              <a:headEnd/>
              <a:tailEnd/>
            </a:ln>
            <a:effectLst/>
          </p:spPr>
          <p:txBody>
            <a:bodyPr wrap="none">
              <a:spAutoFit/>
            </a:bodyPr>
            <a:lstStyle/>
            <a:p>
              <a:r>
                <a:rPr lang="en-US">
                  <a:solidFill>
                    <a:srgbClr val="CC00CC"/>
                  </a:solidFill>
                </a:rPr>
                <a:t>sue	a	p2	   b1</a:t>
              </a:r>
            </a:p>
            <a:p>
              <a:r>
                <a:rPr lang="en-US">
                  <a:solidFill>
                    <a:srgbClr val="CC00CC"/>
                  </a:solidFill>
                </a:rPr>
                <a:t>sue	a	p1	   b2</a:t>
              </a:r>
            </a:p>
          </p:txBody>
        </p:sp>
        <p:sp>
          <p:nvSpPr>
            <p:cNvPr id="11272" name="Text Box 8"/>
            <p:cNvSpPr txBox="1">
              <a:spLocks noChangeArrowheads="1"/>
            </p:cNvSpPr>
            <p:nvPr/>
          </p:nvSpPr>
          <p:spPr bwMode="auto">
            <a:xfrm>
              <a:off x="470" y="3142"/>
              <a:ext cx="4055" cy="288"/>
            </a:xfrm>
            <a:prstGeom prst="rect">
              <a:avLst/>
            </a:prstGeom>
            <a:noFill/>
            <a:ln w="9525">
              <a:noFill/>
              <a:miter lim="800000"/>
              <a:headEnd/>
              <a:tailEnd/>
            </a:ln>
            <a:effectLst/>
          </p:spPr>
          <p:txBody>
            <a:bodyPr wrap="none">
              <a:spAutoFit/>
            </a:bodyPr>
            <a:lstStyle/>
            <a:p>
              <a:r>
                <a:rPr lang="en-US"/>
                <a:t>Then these tuples must also be in the relation</a:t>
              </a:r>
              <a:r>
                <a:rPr lang="en-US">
                  <a:latin typeface="Times New Roman" pitchFamily="18" charset="0"/>
                </a:rPr>
                <a:t>.</a:t>
              </a:r>
            </a:p>
          </p:txBody>
        </p:sp>
      </p:grpSp>
      <p:sp>
        <p:nvSpPr>
          <p:cNvPr id="11273" name="Line 9"/>
          <p:cNvSpPr>
            <a:spLocks noChangeShapeType="1"/>
          </p:cNvSpPr>
          <p:nvPr/>
        </p:nvSpPr>
        <p:spPr bwMode="auto">
          <a:xfrm>
            <a:off x="1295400" y="3276600"/>
            <a:ext cx="4724400" cy="0"/>
          </a:xfrm>
          <a:prstGeom prst="line">
            <a:avLst/>
          </a:prstGeom>
          <a:noFill/>
          <a:ln w="9525">
            <a:solidFill>
              <a:schemeClr val="tx1"/>
            </a:solidFill>
            <a:round/>
            <a:headEnd/>
            <a:tailEnd/>
          </a:ln>
          <a:effectLst/>
        </p:spPr>
        <p:txBody>
          <a:bodyPr/>
          <a:lstStyle/>
          <a:p>
            <a:endParaRPr lang="en-US"/>
          </a:p>
        </p:txBody>
      </p:sp>
      <p:sp>
        <p:nvSpPr>
          <p:cNvPr id="11274" name="Line 10"/>
          <p:cNvSpPr>
            <a:spLocks noChangeShapeType="1"/>
          </p:cNvSpPr>
          <p:nvPr/>
        </p:nvSpPr>
        <p:spPr bwMode="auto">
          <a:xfrm>
            <a:off x="2286000" y="2895600"/>
            <a:ext cx="0" cy="1981200"/>
          </a:xfrm>
          <a:prstGeom prst="line">
            <a:avLst/>
          </a:prstGeom>
          <a:noFill/>
          <a:ln w="9525">
            <a:solidFill>
              <a:schemeClr val="tx1"/>
            </a:solidFill>
            <a:round/>
            <a:headEnd/>
            <a:tailEnd/>
          </a:ln>
          <a:effectLst/>
        </p:spPr>
        <p:txBody>
          <a:bodyPr/>
          <a:lstStyle/>
          <a:p>
            <a:endParaRPr lang="en-US"/>
          </a:p>
        </p:txBody>
      </p:sp>
      <p:sp>
        <p:nvSpPr>
          <p:cNvPr id="11275" name="Line 11"/>
          <p:cNvSpPr>
            <a:spLocks noChangeShapeType="1"/>
          </p:cNvSpPr>
          <p:nvPr/>
        </p:nvSpPr>
        <p:spPr bwMode="auto">
          <a:xfrm>
            <a:off x="3124200" y="2895600"/>
            <a:ext cx="0" cy="1981200"/>
          </a:xfrm>
          <a:prstGeom prst="line">
            <a:avLst/>
          </a:prstGeom>
          <a:noFill/>
          <a:ln w="9525">
            <a:solidFill>
              <a:schemeClr val="tx1"/>
            </a:solidFill>
            <a:round/>
            <a:headEnd/>
            <a:tailEnd/>
          </a:ln>
          <a:effectLst/>
        </p:spPr>
        <p:txBody>
          <a:bodyPr/>
          <a:lstStyle/>
          <a:p>
            <a:endParaRPr lang="en-US"/>
          </a:p>
        </p:txBody>
      </p:sp>
      <p:sp>
        <p:nvSpPr>
          <p:cNvPr id="11276" name="Line 12"/>
          <p:cNvSpPr>
            <a:spLocks noChangeShapeType="1"/>
          </p:cNvSpPr>
          <p:nvPr/>
        </p:nvSpPr>
        <p:spPr bwMode="auto">
          <a:xfrm>
            <a:off x="4343400" y="2895600"/>
            <a:ext cx="0" cy="1981200"/>
          </a:xfrm>
          <a:prstGeom prst="line">
            <a:avLst/>
          </a:prstGeom>
          <a:noFill/>
          <a:ln w="9525">
            <a:solidFill>
              <a:schemeClr val="tx1"/>
            </a:solidFill>
            <a:round/>
            <a:headEnd/>
            <a:tailEn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a:xfrm>
            <a:off x="254000" y="215900"/>
            <a:ext cx="8712200" cy="1143000"/>
          </a:xfrm>
        </p:spPr>
        <p:txBody>
          <a:bodyPr/>
          <a:lstStyle/>
          <a:p>
            <a:r>
              <a:rPr lang="en-US" sz="3200" dirty="0" smtClean="0">
                <a:cs typeface="Times New Roman" pitchFamily="18" charset="0"/>
              </a:rPr>
              <a:t>Fourth </a:t>
            </a:r>
            <a:r>
              <a:rPr lang="en-US" sz="3200" dirty="0">
                <a:cs typeface="Times New Roman" pitchFamily="18" charset="0"/>
              </a:rPr>
              <a:t>Normal Form </a:t>
            </a:r>
          </a:p>
        </p:txBody>
      </p:sp>
      <p:sp>
        <p:nvSpPr>
          <p:cNvPr id="332803" name="Rectangle 3"/>
          <p:cNvSpPr>
            <a:spLocks noGrp="1" noChangeArrowheads="1"/>
          </p:cNvSpPr>
          <p:nvPr>
            <p:ph sz="quarter" idx="1"/>
          </p:nvPr>
        </p:nvSpPr>
        <p:spPr>
          <a:xfrm>
            <a:off x="254000" y="1358900"/>
            <a:ext cx="8139373" cy="4978400"/>
          </a:xfrm>
        </p:spPr>
        <p:txBody>
          <a:bodyPr>
            <a:normAutofit fontScale="70000" lnSpcReduction="20000"/>
          </a:bodyPr>
          <a:lstStyle/>
          <a:p>
            <a:pPr marL="609600" indent="-609600" algn="just">
              <a:lnSpc>
                <a:spcPct val="90000"/>
              </a:lnSpc>
            </a:pPr>
            <a:endParaRPr lang="en-US" sz="2800" dirty="0" smtClean="0">
              <a:solidFill>
                <a:srgbClr val="000000"/>
              </a:solidFill>
              <a:cs typeface="Times New Roman" pitchFamily="18" charset="0"/>
            </a:endParaRPr>
          </a:p>
          <a:p>
            <a:pPr algn="just">
              <a:lnSpc>
                <a:spcPct val="90000"/>
              </a:lnSpc>
              <a:buFont typeface="Courier New" pitchFamily="49" charset="0"/>
              <a:buChar char="o"/>
            </a:pPr>
            <a:r>
              <a:rPr lang="en-US" sz="3200" dirty="0" smtClean="0">
                <a:solidFill>
                  <a:srgbClr val="000000"/>
                </a:solidFill>
                <a:cs typeface="Times New Roman" pitchFamily="18" charset="0"/>
              </a:rPr>
              <a:t>Relation R </a:t>
            </a:r>
            <a:r>
              <a:rPr lang="en-US" sz="3200" dirty="0">
                <a:solidFill>
                  <a:srgbClr val="000000"/>
                </a:solidFill>
                <a:cs typeface="Times New Roman" pitchFamily="18" charset="0"/>
              </a:rPr>
              <a:t>is in </a:t>
            </a:r>
            <a:r>
              <a:rPr lang="en-US" sz="3200" b="1" dirty="0">
                <a:solidFill>
                  <a:srgbClr val="000000"/>
                </a:solidFill>
                <a:cs typeface="Times New Roman" pitchFamily="18" charset="0"/>
              </a:rPr>
              <a:t>4NF</a:t>
            </a:r>
            <a:r>
              <a:rPr lang="en-US" sz="3200" dirty="0">
                <a:solidFill>
                  <a:srgbClr val="000000"/>
                </a:solidFill>
                <a:cs typeface="Times New Roman" pitchFamily="18" charset="0"/>
              </a:rPr>
              <a:t> with respect to a set of dependencies </a:t>
            </a:r>
            <a:r>
              <a:rPr lang="en-US" sz="3200" i="1" dirty="0">
                <a:solidFill>
                  <a:srgbClr val="000000"/>
                </a:solidFill>
                <a:cs typeface="Times New Roman" pitchFamily="18" charset="0"/>
              </a:rPr>
              <a:t>F</a:t>
            </a:r>
            <a:r>
              <a:rPr lang="en-US" sz="3200" dirty="0">
                <a:solidFill>
                  <a:srgbClr val="000000"/>
                </a:solidFill>
                <a:cs typeface="Times New Roman" pitchFamily="18" charset="0"/>
              </a:rPr>
              <a:t> </a:t>
            </a:r>
            <a:r>
              <a:rPr lang="en-US" sz="3200" dirty="0" smtClean="0">
                <a:solidFill>
                  <a:srgbClr val="000000"/>
                </a:solidFill>
                <a:cs typeface="Times New Roman" pitchFamily="18" charset="0"/>
              </a:rPr>
              <a:t>if</a:t>
            </a:r>
            <a:r>
              <a:rPr lang="en-US" sz="3200" dirty="0">
                <a:solidFill>
                  <a:srgbClr val="000000"/>
                </a:solidFill>
                <a:cs typeface="Times New Roman" pitchFamily="18" charset="0"/>
              </a:rPr>
              <a:t>, for every </a:t>
            </a:r>
            <a:r>
              <a:rPr lang="en-US" sz="3200" i="1" dirty="0">
                <a:solidFill>
                  <a:srgbClr val="000000"/>
                </a:solidFill>
                <a:cs typeface="Times New Roman" pitchFamily="18" charset="0"/>
              </a:rPr>
              <a:t>nontrivial</a:t>
            </a:r>
            <a:r>
              <a:rPr lang="en-US" sz="3200" dirty="0">
                <a:solidFill>
                  <a:srgbClr val="000000"/>
                </a:solidFill>
                <a:cs typeface="Times New Roman" pitchFamily="18" charset="0"/>
              </a:rPr>
              <a:t> multivalued dependency </a:t>
            </a:r>
            <a:r>
              <a:rPr lang="en-US" sz="3200" i="1" dirty="0">
                <a:solidFill>
                  <a:srgbClr val="000000"/>
                </a:solidFill>
                <a:cs typeface="Times New Roman" pitchFamily="18" charset="0"/>
              </a:rPr>
              <a:t>X</a:t>
            </a:r>
            <a:r>
              <a:rPr lang="en-US" sz="3200" dirty="0">
                <a:solidFill>
                  <a:srgbClr val="000000"/>
                </a:solidFill>
                <a:cs typeface="Times New Roman" pitchFamily="18" charset="0"/>
              </a:rPr>
              <a:t> —&gt;&gt;</a:t>
            </a:r>
            <a:r>
              <a:rPr lang="en-US" sz="3200" i="1" dirty="0">
                <a:solidFill>
                  <a:srgbClr val="000000"/>
                </a:solidFill>
                <a:cs typeface="Times New Roman" pitchFamily="18" charset="0"/>
              </a:rPr>
              <a:t> Y</a:t>
            </a:r>
            <a:r>
              <a:rPr lang="en-US" sz="3200" dirty="0">
                <a:solidFill>
                  <a:srgbClr val="000000"/>
                </a:solidFill>
                <a:cs typeface="Times New Roman" pitchFamily="18" charset="0"/>
              </a:rPr>
              <a:t> in </a:t>
            </a:r>
            <a:r>
              <a:rPr lang="en-US" sz="3200" i="1" dirty="0">
                <a:solidFill>
                  <a:srgbClr val="000000"/>
                </a:solidFill>
                <a:cs typeface="Times New Roman" pitchFamily="18" charset="0"/>
              </a:rPr>
              <a:t>F</a:t>
            </a:r>
            <a:r>
              <a:rPr lang="en-US" sz="3200" baseline="30000" dirty="0">
                <a:solidFill>
                  <a:srgbClr val="000000"/>
                </a:solidFill>
                <a:cs typeface="Times New Roman" pitchFamily="18" charset="0"/>
              </a:rPr>
              <a:t>+</a:t>
            </a:r>
            <a:r>
              <a:rPr lang="en-US" sz="3200" dirty="0">
                <a:solidFill>
                  <a:srgbClr val="000000"/>
                </a:solidFill>
                <a:cs typeface="Times New Roman" pitchFamily="18" charset="0"/>
              </a:rPr>
              <a:t>, </a:t>
            </a:r>
            <a:r>
              <a:rPr lang="en-US" sz="3200" i="1" dirty="0">
                <a:solidFill>
                  <a:srgbClr val="000000"/>
                </a:solidFill>
                <a:cs typeface="Times New Roman" pitchFamily="18" charset="0"/>
              </a:rPr>
              <a:t>X</a:t>
            </a:r>
            <a:r>
              <a:rPr lang="en-US" sz="3200" dirty="0">
                <a:solidFill>
                  <a:srgbClr val="000000"/>
                </a:solidFill>
                <a:cs typeface="Times New Roman" pitchFamily="18" charset="0"/>
              </a:rPr>
              <a:t> is a </a:t>
            </a:r>
            <a:r>
              <a:rPr lang="en-US" sz="3200" dirty="0" err="1">
                <a:solidFill>
                  <a:srgbClr val="000000"/>
                </a:solidFill>
                <a:cs typeface="Times New Roman" pitchFamily="18" charset="0"/>
              </a:rPr>
              <a:t>superkey</a:t>
            </a:r>
            <a:r>
              <a:rPr lang="en-US" sz="3200" dirty="0">
                <a:solidFill>
                  <a:srgbClr val="000000"/>
                </a:solidFill>
                <a:cs typeface="Times New Roman" pitchFamily="18" charset="0"/>
              </a:rPr>
              <a:t> for R. </a:t>
            </a:r>
          </a:p>
          <a:p>
            <a:pPr lvl="1" algn="just">
              <a:lnSpc>
                <a:spcPct val="90000"/>
              </a:lnSpc>
              <a:buFont typeface="Courier New" pitchFamily="49" charset="0"/>
              <a:buChar char="o"/>
            </a:pPr>
            <a:r>
              <a:rPr lang="en-US" sz="2900" i="1" dirty="0" smtClean="0">
                <a:solidFill>
                  <a:srgbClr val="000000"/>
                </a:solidFill>
                <a:cs typeface="Times New Roman" pitchFamily="18" charset="0"/>
              </a:rPr>
              <a:t>F</a:t>
            </a:r>
            <a:r>
              <a:rPr lang="en-US" sz="2900" baseline="30000" dirty="0">
                <a:solidFill>
                  <a:srgbClr val="000000"/>
                </a:solidFill>
                <a:cs typeface="Times New Roman" pitchFamily="18" charset="0"/>
              </a:rPr>
              <a:t>+</a:t>
            </a:r>
            <a:r>
              <a:rPr lang="en-US" sz="2900" dirty="0" smtClean="0">
                <a:solidFill>
                  <a:srgbClr val="000000"/>
                </a:solidFill>
                <a:cs typeface="Times New Roman" pitchFamily="18" charset="0"/>
              </a:rPr>
              <a:t> includes </a:t>
            </a:r>
            <a:r>
              <a:rPr lang="en-US" sz="2900" dirty="0">
                <a:solidFill>
                  <a:srgbClr val="000000"/>
                </a:solidFill>
                <a:cs typeface="Times New Roman" pitchFamily="18" charset="0"/>
              </a:rPr>
              <a:t>functional dependencies and multivalued </a:t>
            </a:r>
            <a:r>
              <a:rPr lang="en-US" sz="2900" dirty="0" smtClean="0">
                <a:solidFill>
                  <a:srgbClr val="000000"/>
                </a:solidFill>
                <a:cs typeface="Times New Roman" pitchFamily="18" charset="0"/>
              </a:rPr>
              <a:t>dependencies</a:t>
            </a:r>
          </a:p>
          <a:p>
            <a:pPr algn="just">
              <a:lnSpc>
                <a:spcPct val="90000"/>
              </a:lnSpc>
              <a:buFont typeface="Courier New" pitchFamily="49" charset="0"/>
              <a:buChar char="o"/>
            </a:pPr>
            <a:endParaRPr lang="en-US" sz="3500" dirty="0">
              <a:solidFill>
                <a:srgbClr val="000000"/>
              </a:solidFill>
              <a:cs typeface="Times New Roman" pitchFamily="18" charset="0"/>
            </a:endParaRPr>
          </a:p>
          <a:p>
            <a:pPr algn="just">
              <a:lnSpc>
                <a:spcPct val="90000"/>
              </a:lnSpc>
              <a:buFont typeface="Courier New" pitchFamily="49" charset="0"/>
              <a:buChar char="o"/>
            </a:pPr>
            <a:r>
              <a:rPr lang="en-US" sz="3100" dirty="0" smtClean="0"/>
              <a:t>An </a:t>
            </a:r>
            <a:r>
              <a:rPr lang="en-US" sz="3100" dirty="0"/>
              <a:t>MVD X </a:t>
            </a:r>
            <a:r>
              <a:rPr lang="en-US" sz="3100" dirty="0">
                <a:solidFill>
                  <a:srgbClr val="000000"/>
                </a:solidFill>
                <a:cs typeface="Times New Roman" pitchFamily="18" charset="0"/>
              </a:rPr>
              <a:t>—&gt;&gt; </a:t>
            </a:r>
            <a:r>
              <a:rPr lang="en-US" sz="3100" dirty="0" smtClean="0"/>
              <a:t>Y </a:t>
            </a:r>
            <a:r>
              <a:rPr lang="en-US" sz="3100" dirty="0"/>
              <a:t>in R is called a </a:t>
            </a:r>
            <a:r>
              <a:rPr lang="en-US" sz="3100" b="1" dirty="0"/>
              <a:t>trivial MVD </a:t>
            </a:r>
            <a:r>
              <a:rPr lang="en-US" sz="3100" dirty="0"/>
              <a:t>if </a:t>
            </a:r>
            <a:endParaRPr lang="en-US" sz="3100" dirty="0" smtClean="0"/>
          </a:p>
          <a:p>
            <a:pPr marL="880110" lvl="1" indent="-514350">
              <a:buFont typeface="+mj-lt"/>
              <a:buAutoNum type="alphaLcParenR"/>
            </a:pPr>
            <a:r>
              <a:rPr lang="en-US" sz="3100" i="1" dirty="0" smtClean="0"/>
              <a:t>Y </a:t>
            </a:r>
            <a:r>
              <a:rPr lang="en-US" sz="3100" dirty="0"/>
              <a:t>is a subset of </a:t>
            </a:r>
            <a:r>
              <a:rPr lang="en-US" sz="3100" i="1" dirty="0"/>
              <a:t>X</a:t>
            </a:r>
            <a:r>
              <a:rPr lang="en-US" sz="3100" dirty="0"/>
              <a:t>, or </a:t>
            </a:r>
            <a:endParaRPr lang="en-US" sz="3100" dirty="0" smtClean="0"/>
          </a:p>
          <a:p>
            <a:pPr marL="880110" lvl="1" indent="-514350">
              <a:buFont typeface="+mj-lt"/>
              <a:buAutoNum type="alphaLcParenR"/>
            </a:pPr>
            <a:r>
              <a:rPr lang="en-US" sz="3100" i="1" dirty="0" smtClean="0"/>
              <a:t>X </a:t>
            </a:r>
            <a:r>
              <a:rPr lang="en-US" sz="3100" dirty="0"/>
              <a:t>∪ </a:t>
            </a:r>
            <a:r>
              <a:rPr lang="en-US" sz="3100" dirty="0" smtClean="0"/>
              <a:t>Y= </a:t>
            </a:r>
            <a:r>
              <a:rPr lang="en-US" sz="3100" i="1" dirty="0"/>
              <a:t>R</a:t>
            </a:r>
            <a:r>
              <a:rPr lang="en-US" sz="3100" dirty="0"/>
              <a:t>. </a:t>
            </a:r>
            <a:endParaRPr lang="en-US" sz="3100" dirty="0" smtClean="0"/>
          </a:p>
          <a:p>
            <a:pPr>
              <a:buFont typeface="Courier New" pitchFamily="49" charset="0"/>
              <a:buChar char="o"/>
            </a:pPr>
            <a:r>
              <a:rPr lang="en-US" sz="3100" b="1" dirty="0" smtClean="0"/>
              <a:t>Example: </a:t>
            </a:r>
            <a:r>
              <a:rPr lang="en-US" sz="3100" dirty="0" smtClean="0"/>
              <a:t>EMP_PROJECTS has </a:t>
            </a:r>
            <a:r>
              <a:rPr lang="en-US" sz="3100" dirty="0"/>
              <a:t>the </a:t>
            </a:r>
            <a:r>
              <a:rPr lang="en-US" sz="3100" dirty="0" smtClean="0"/>
              <a:t>trivial MVD       </a:t>
            </a:r>
            <a:r>
              <a:rPr lang="en-US" sz="3100" dirty="0" err="1" smtClean="0"/>
              <a:t>Ename</a:t>
            </a:r>
            <a:r>
              <a:rPr lang="en-US" sz="3100" dirty="0" smtClean="0"/>
              <a:t> </a:t>
            </a:r>
            <a:r>
              <a:rPr lang="en-US" sz="3100" dirty="0">
                <a:solidFill>
                  <a:srgbClr val="000000"/>
                </a:solidFill>
                <a:cs typeface="Times New Roman" pitchFamily="18" charset="0"/>
              </a:rPr>
              <a:t>—&gt;&gt;</a:t>
            </a:r>
            <a:r>
              <a:rPr lang="en-US" sz="3100" dirty="0" smtClean="0"/>
              <a:t> </a:t>
            </a:r>
            <a:r>
              <a:rPr lang="en-US" sz="3100" dirty="0" err="1"/>
              <a:t>Pname</a:t>
            </a:r>
            <a:r>
              <a:rPr lang="en-US" sz="3100" dirty="0"/>
              <a:t>. </a:t>
            </a:r>
            <a:endParaRPr lang="en-US" sz="3100" dirty="0" smtClean="0"/>
          </a:p>
          <a:p>
            <a:pPr>
              <a:buFont typeface="Courier New" pitchFamily="49" charset="0"/>
              <a:buChar char="o"/>
            </a:pPr>
            <a:r>
              <a:rPr lang="en-US" sz="3100" dirty="0" smtClean="0"/>
              <a:t>An </a:t>
            </a:r>
            <a:r>
              <a:rPr lang="en-US" sz="3100" dirty="0"/>
              <a:t>MVD that satisfies neither (a) nor (b) is called </a:t>
            </a:r>
            <a:r>
              <a:rPr lang="en-US" sz="3100" dirty="0" smtClean="0"/>
              <a:t>a </a:t>
            </a:r>
            <a:r>
              <a:rPr lang="en-US" sz="3100" b="1" dirty="0" smtClean="0"/>
              <a:t>nontrivial </a:t>
            </a:r>
            <a:r>
              <a:rPr lang="en-US" sz="3100" b="1" dirty="0"/>
              <a:t>MVD</a:t>
            </a:r>
            <a:r>
              <a:rPr lang="en-US" sz="3100" dirty="0"/>
              <a:t>.</a:t>
            </a:r>
            <a:endParaRPr lang="en-US" sz="3100" dirty="0">
              <a:solidFill>
                <a:srgbClr val="000000"/>
              </a:solidFill>
              <a:cs typeface="Times New Roman" pitchFamily="18" charset="0"/>
            </a:endParaRPr>
          </a:p>
          <a:p>
            <a:pPr marL="0" indent="0" algn="just">
              <a:lnSpc>
                <a:spcPct val="90000"/>
              </a:lnSpc>
              <a:buNone/>
            </a:pPr>
            <a:r>
              <a:rPr lang="en-US" sz="3100" dirty="0">
                <a:solidFill>
                  <a:srgbClr val="000000"/>
                </a:solidFill>
                <a:cs typeface="Times New Roman" pitchFamily="18" charset="0"/>
              </a:rPr>
              <a:t>	</a:t>
            </a:r>
          </a:p>
          <a:p>
            <a:pPr marL="609600" indent="-609600" algn="just">
              <a:lnSpc>
                <a:spcPct val="90000"/>
              </a:lnSpc>
              <a:buFont typeface="Wingdings" pitchFamily="2" charset="2"/>
              <a:buNone/>
            </a:pPr>
            <a:r>
              <a:rPr lang="en-US" sz="2800" dirty="0">
                <a:solidFill>
                  <a:srgbClr val="000000"/>
                </a:solidFill>
                <a:cs typeface="Times New Roman" pitchFamily="18" charset="0"/>
              </a:rPr>
              <a:t>	</a:t>
            </a:r>
          </a:p>
        </p:txBody>
      </p:sp>
      <p:pic>
        <p:nvPicPr>
          <p:cNvPr id="4" name="Picture 6" descr="31755_FIG1504bc.gif                                            0001035BEeyore                         B91DCF3B:"/>
          <p:cNvPicPr>
            <a:picLocks noChangeAspect="1" noChangeArrowheads="1"/>
          </p:cNvPicPr>
          <p:nvPr/>
        </p:nvPicPr>
        <p:blipFill rotWithShape="1">
          <a:blip r:embed="rId3" cstate="print"/>
          <a:srcRect l="7854" t="60634" r="50000" b="-1"/>
          <a:stretch/>
        </p:blipFill>
        <p:spPr bwMode="auto">
          <a:xfrm>
            <a:off x="5650173" y="5101641"/>
            <a:ext cx="2743200" cy="161984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a:xfrm>
            <a:off x="254000" y="436563"/>
            <a:ext cx="8712200" cy="1143000"/>
          </a:xfrm>
        </p:spPr>
        <p:txBody>
          <a:bodyPr>
            <a:normAutofit fontScale="90000"/>
          </a:bodyPr>
          <a:lstStyle/>
          <a:p>
            <a:r>
              <a:rPr lang="en-US" sz="3200" dirty="0" smtClean="0">
                <a:cs typeface="Times New Roman" pitchFamily="18" charset="0"/>
              </a:rPr>
              <a:t>Fourth </a:t>
            </a:r>
            <a:r>
              <a:rPr lang="en-US" sz="3200" dirty="0">
                <a:cs typeface="Times New Roman" pitchFamily="18" charset="0"/>
              </a:rPr>
              <a:t>Normal Form </a:t>
            </a:r>
            <a:br>
              <a:rPr lang="en-US" sz="3200" dirty="0">
                <a:cs typeface="Times New Roman" pitchFamily="18" charset="0"/>
              </a:rPr>
            </a:br>
            <a:r>
              <a:rPr lang="en-US" sz="3200" dirty="0">
                <a:cs typeface="Times New Roman" pitchFamily="18" charset="0"/>
              </a:rPr>
              <a:t> </a:t>
            </a:r>
            <a:r>
              <a:rPr lang="en-US" sz="1600" dirty="0"/>
              <a:t>Decomposing a relation state of EMP that is not in 4NF. (a) EMP relation with additional </a:t>
            </a:r>
            <a:r>
              <a:rPr lang="en-US" sz="1600" dirty="0" err="1"/>
              <a:t>tuples</a:t>
            </a:r>
            <a:r>
              <a:rPr lang="en-US" sz="1600" dirty="0"/>
              <a:t>. (b) Two corresponding 4NF relations EMP_PROJECTS and EMP_DEPENDENTS.</a:t>
            </a:r>
            <a:endParaRPr lang="en-US" sz="3600" dirty="0"/>
          </a:p>
        </p:txBody>
      </p:sp>
      <p:pic>
        <p:nvPicPr>
          <p:cNvPr id="333829" name="Picture 5" descr="31755_FIG1505.gif                                              0001035BEeyore                         B91DCF3B:"/>
          <p:cNvPicPr>
            <a:picLocks noChangeAspect="1" noChangeArrowheads="1"/>
          </p:cNvPicPr>
          <p:nvPr/>
        </p:nvPicPr>
        <p:blipFill>
          <a:blip r:embed="rId2" cstate="print"/>
          <a:srcRect/>
          <a:stretch>
            <a:fillRect/>
          </a:stretch>
        </p:blipFill>
        <p:spPr bwMode="auto">
          <a:xfrm>
            <a:off x="889000" y="2184400"/>
            <a:ext cx="7366000" cy="4114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a:xfrm>
            <a:off x="254000" y="215900"/>
            <a:ext cx="8712200" cy="1143000"/>
          </a:xfrm>
        </p:spPr>
        <p:txBody>
          <a:bodyPr>
            <a:normAutofit/>
          </a:bodyPr>
          <a:lstStyle/>
          <a:p>
            <a:pPr marL="609600" indent="-609600"/>
            <a:r>
              <a:rPr lang="en-US" sz="3200" b="1" dirty="0" smtClean="0">
                <a:solidFill>
                  <a:srgbClr val="000000"/>
                </a:solidFill>
                <a:cs typeface="Times New Roman" pitchFamily="18" charset="0"/>
              </a:rPr>
              <a:t>Lossless (Non-additive) Join Decomposition into 4NF Relations:</a:t>
            </a:r>
            <a:endParaRPr lang="en-US" sz="3200" b="1" dirty="0">
              <a:solidFill>
                <a:srgbClr val="000000"/>
              </a:solidFill>
              <a:cs typeface="Times New Roman" pitchFamily="18" charset="0"/>
            </a:endParaRPr>
          </a:p>
        </p:txBody>
      </p:sp>
      <p:sp>
        <p:nvSpPr>
          <p:cNvPr id="334851" name="Rectangle 3"/>
          <p:cNvSpPr>
            <a:spLocks noGrp="1" noChangeArrowheads="1"/>
          </p:cNvSpPr>
          <p:nvPr>
            <p:ph sz="quarter" idx="1"/>
          </p:nvPr>
        </p:nvSpPr>
        <p:spPr>
          <a:xfrm>
            <a:off x="254000" y="1358900"/>
            <a:ext cx="8484616" cy="4978400"/>
          </a:xfrm>
        </p:spPr>
        <p:txBody>
          <a:bodyPr/>
          <a:lstStyle/>
          <a:p>
            <a:pPr marL="609600" indent="-609600" algn="just">
              <a:buFont typeface="Wingdings" pitchFamily="2" charset="2"/>
              <a:buNone/>
            </a:pPr>
            <a:r>
              <a:rPr lang="en-US" sz="2800" dirty="0">
                <a:solidFill>
                  <a:srgbClr val="000000"/>
                </a:solidFill>
                <a:cs typeface="Times New Roman" pitchFamily="18" charset="0"/>
              </a:rPr>
              <a:t>	</a:t>
            </a:r>
            <a:r>
              <a:rPr lang="en-US" sz="2400" dirty="0" smtClean="0">
                <a:solidFill>
                  <a:srgbClr val="000000"/>
                </a:solidFill>
                <a:cs typeface="Times New Roman" pitchFamily="18" charset="0"/>
              </a:rPr>
              <a:t>The </a:t>
            </a:r>
            <a:r>
              <a:rPr lang="en-US" sz="2400" dirty="0">
                <a:solidFill>
                  <a:srgbClr val="000000"/>
                </a:solidFill>
                <a:cs typeface="Times New Roman" pitchFamily="18" charset="0"/>
              </a:rPr>
              <a:t>relation schemas </a:t>
            </a:r>
            <a:r>
              <a:rPr lang="en-US" sz="2400" i="1" dirty="0">
                <a:solidFill>
                  <a:srgbClr val="000000"/>
                </a:solidFill>
                <a:cs typeface="Times New Roman" pitchFamily="18" charset="0"/>
              </a:rPr>
              <a:t>R</a:t>
            </a:r>
            <a:r>
              <a:rPr lang="en-US" sz="2400" baseline="-30000" dirty="0">
                <a:solidFill>
                  <a:srgbClr val="000000"/>
                </a:solidFill>
                <a:cs typeface="Times New Roman" pitchFamily="18" charset="0"/>
              </a:rPr>
              <a:t>1</a:t>
            </a:r>
            <a:r>
              <a:rPr lang="en-US" sz="2400" dirty="0">
                <a:solidFill>
                  <a:srgbClr val="000000"/>
                </a:solidFill>
                <a:cs typeface="Times New Roman" pitchFamily="18" charset="0"/>
              </a:rPr>
              <a:t> and </a:t>
            </a:r>
            <a:r>
              <a:rPr lang="en-US" sz="2400" i="1" dirty="0">
                <a:solidFill>
                  <a:srgbClr val="000000"/>
                </a:solidFill>
                <a:cs typeface="Times New Roman" pitchFamily="18" charset="0"/>
              </a:rPr>
              <a:t>R</a:t>
            </a:r>
            <a:r>
              <a:rPr lang="en-US" sz="2400" baseline="-30000" dirty="0">
                <a:solidFill>
                  <a:srgbClr val="000000"/>
                </a:solidFill>
                <a:cs typeface="Times New Roman" pitchFamily="18" charset="0"/>
              </a:rPr>
              <a:t>2</a:t>
            </a:r>
            <a:r>
              <a:rPr lang="en-US" sz="2400" dirty="0">
                <a:solidFill>
                  <a:srgbClr val="000000"/>
                </a:solidFill>
                <a:cs typeface="Times New Roman" pitchFamily="18" charset="0"/>
              </a:rPr>
              <a:t> form a lossless (non-additive) join decomposition of </a:t>
            </a:r>
            <a:r>
              <a:rPr lang="en-US" sz="2400" i="1" dirty="0">
                <a:solidFill>
                  <a:srgbClr val="000000"/>
                </a:solidFill>
                <a:cs typeface="Times New Roman" pitchFamily="18" charset="0"/>
              </a:rPr>
              <a:t>R</a:t>
            </a:r>
            <a:r>
              <a:rPr lang="en-US" sz="2400" dirty="0">
                <a:solidFill>
                  <a:srgbClr val="000000"/>
                </a:solidFill>
                <a:cs typeface="Times New Roman" pitchFamily="18" charset="0"/>
              </a:rPr>
              <a:t> with respect to a set F of functional </a:t>
            </a:r>
            <a:r>
              <a:rPr lang="en-US" sz="2400" i="1" dirty="0">
                <a:solidFill>
                  <a:srgbClr val="000000"/>
                </a:solidFill>
                <a:cs typeface="Times New Roman" pitchFamily="18" charset="0"/>
              </a:rPr>
              <a:t>and </a:t>
            </a:r>
            <a:r>
              <a:rPr lang="en-US" sz="2400" dirty="0" err="1">
                <a:solidFill>
                  <a:srgbClr val="000000"/>
                </a:solidFill>
                <a:cs typeface="Times New Roman" pitchFamily="18" charset="0"/>
              </a:rPr>
              <a:t>multivalued</a:t>
            </a:r>
            <a:r>
              <a:rPr lang="en-US" sz="2400" dirty="0">
                <a:solidFill>
                  <a:srgbClr val="000000"/>
                </a:solidFill>
                <a:cs typeface="Times New Roman" pitchFamily="18" charset="0"/>
              </a:rPr>
              <a:t> dependencies if and only if </a:t>
            </a:r>
          </a:p>
          <a:p>
            <a:pPr marL="609600" indent="-609600" algn="just">
              <a:buFont typeface="Wingdings" pitchFamily="2" charset="2"/>
              <a:buNone/>
            </a:pPr>
            <a:r>
              <a:rPr lang="en-US" sz="2400" dirty="0">
                <a:solidFill>
                  <a:srgbClr val="000000"/>
                </a:solidFill>
                <a:cs typeface="Times New Roman" pitchFamily="18" charset="0"/>
              </a:rPr>
              <a:t>			(</a:t>
            </a:r>
            <a:r>
              <a:rPr lang="en-US" sz="2400" i="1" dirty="0">
                <a:solidFill>
                  <a:srgbClr val="000000"/>
                </a:solidFill>
                <a:cs typeface="Times New Roman" pitchFamily="18" charset="0"/>
              </a:rPr>
              <a:t>R</a:t>
            </a:r>
            <a:r>
              <a:rPr lang="en-US" sz="2400" baseline="-30000" dirty="0">
                <a:solidFill>
                  <a:srgbClr val="000000"/>
                </a:solidFill>
                <a:cs typeface="Times New Roman" pitchFamily="18" charset="0"/>
              </a:rPr>
              <a:t>1 </a:t>
            </a:r>
            <a:r>
              <a:rPr lang="en-US" sz="2000" dirty="0">
                <a:solidFill>
                  <a:srgbClr val="000000"/>
                </a:solidFill>
                <a:cs typeface="Tahoma" pitchFamily="34" charset="0"/>
              </a:rPr>
              <a:t>∩</a:t>
            </a:r>
            <a:r>
              <a:rPr lang="en-US" sz="2400" dirty="0">
                <a:solidFill>
                  <a:srgbClr val="000000"/>
                </a:solidFill>
                <a:cs typeface="Times New Roman" pitchFamily="18" charset="0"/>
              </a:rPr>
              <a:t>  </a:t>
            </a:r>
            <a:r>
              <a:rPr lang="en-US" sz="2400" i="1" dirty="0">
                <a:solidFill>
                  <a:srgbClr val="000000"/>
                </a:solidFill>
                <a:cs typeface="Times New Roman" pitchFamily="18" charset="0"/>
              </a:rPr>
              <a:t>R</a:t>
            </a:r>
            <a:r>
              <a:rPr lang="en-US" sz="2400" baseline="-30000" dirty="0">
                <a:solidFill>
                  <a:srgbClr val="000000"/>
                </a:solidFill>
                <a:cs typeface="Times New Roman" pitchFamily="18" charset="0"/>
              </a:rPr>
              <a:t>2</a:t>
            </a:r>
            <a:r>
              <a:rPr lang="en-US" sz="2400" dirty="0">
                <a:solidFill>
                  <a:srgbClr val="000000"/>
                </a:solidFill>
                <a:cs typeface="Times New Roman" pitchFamily="18" charset="0"/>
              </a:rPr>
              <a:t>) —&gt;&gt; (</a:t>
            </a:r>
            <a:r>
              <a:rPr lang="en-US" sz="2400" i="1" dirty="0">
                <a:solidFill>
                  <a:srgbClr val="000000"/>
                </a:solidFill>
                <a:cs typeface="Times New Roman" pitchFamily="18" charset="0"/>
              </a:rPr>
              <a:t>R</a:t>
            </a:r>
            <a:r>
              <a:rPr lang="en-US" sz="2400" baseline="-30000" dirty="0">
                <a:solidFill>
                  <a:srgbClr val="000000"/>
                </a:solidFill>
                <a:cs typeface="Times New Roman" pitchFamily="18" charset="0"/>
              </a:rPr>
              <a:t>1</a:t>
            </a:r>
            <a:r>
              <a:rPr lang="en-US" sz="2400" dirty="0">
                <a:solidFill>
                  <a:srgbClr val="000000"/>
                </a:solidFill>
                <a:cs typeface="Times New Roman" pitchFamily="18" charset="0"/>
              </a:rPr>
              <a:t> - </a:t>
            </a:r>
            <a:r>
              <a:rPr lang="en-US" sz="2400" i="1" dirty="0">
                <a:solidFill>
                  <a:srgbClr val="000000"/>
                </a:solidFill>
                <a:cs typeface="Times New Roman" pitchFamily="18" charset="0"/>
              </a:rPr>
              <a:t>R</a:t>
            </a:r>
            <a:r>
              <a:rPr lang="en-US" sz="2400" baseline="-30000" dirty="0">
                <a:solidFill>
                  <a:srgbClr val="000000"/>
                </a:solidFill>
                <a:cs typeface="Times New Roman" pitchFamily="18" charset="0"/>
              </a:rPr>
              <a:t>2</a:t>
            </a:r>
            <a:r>
              <a:rPr lang="en-US" sz="2400" dirty="0">
                <a:solidFill>
                  <a:srgbClr val="000000"/>
                </a:solidFill>
                <a:cs typeface="Times New Roman" pitchFamily="18" charset="0"/>
              </a:rPr>
              <a:t>) </a:t>
            </a:r>
          </a:p>
          <a:p>
            <a:pPr marL="609600" indent="-609600" algn="just">
              <a:buFont typeface="Wingdings" pitchFamily="2" charset="2"/>
              <a:buNone/>
            </a:pPr>
            <a:r>
              <a:rPr lang="en-US" sz="2400" dirty="0">
                <a:solidFill>
                  <a:srgbClr val="000000"/>
                </a:solidFill>
                <a:cs typeface="Times New Roman" pitchFamily="18" charset="0"/>
              </a:rPr>
              <a:t>	or by symmetry, if and only if </a:t>
            </a:r>
          </a:p>
          <a:p>
            <a:pPr marL="609600" indent="-609600" algn="just">
              <a:buFont typeface="Wingdings" pitchFamily="2" charset="2"/>
              <a:buNone/>
            </a:pPr>
            <a:r>
              <a:rPr lang="en-US" sz="2400" dirty="0">
                <a:solidFill>
                  <a:srgbClr val="000000"/>
                </a:solidFill>
                <a:cs typeface="Times New Roman" pitchFamily="18" charset="0"/>
              </a:rPr>
              <a:t>			(</a:t>
            </a:r>
            <a:r>
              <a:rPr lang="en-US" sz="2400" i="1" dirty="0">
                <a:solidFill>
                  <a:srgbClr val="000000"/>
                </a:solidFill>
                <a:cs typeface="Times New Roman" pitchFamily="18" charset="0"/>
              </a:rPr>
              <a:t>R</a:t>
            </a:r>
            <a:r>
              <a:rPr lang="en-US" sz="2400" baseline="-30000" dirty="0">
                <a:solidFill>
                  <a:srgbClr val="000000"/>
                </a:solidFill>
                <a:cs typeface="Times New Roman" pitchFamily="18" charset="0"/>
              </a:rPr>
              <a:t>1</a:t>
            </a:r>
            <a:r>
              <a:rPr lang="en-US" sz="2400" dirty="0">
                <a:solidFill>
                  <a:srgbClr val="000000"/>
                </a:solidFill>
                <a:cs typeface="Times New Roman" pitchFamily="18" charset="0"/>
              </a:rPr>
              <a:t> </a:t>
            </a:r>
            <a:r>
              <a:rPr lang="en-US" sz="2000" dirty="0">
                <a:solidFill>
                  <a:srgbClr val="000000"/>
                </a:solidFill>
                <a:cs typeface="Tahoma" pitchFamily="34" charset="0"/>
              </a:rPr>
              <a:t>∩</a:t>
            </a:r>
            <a:r>
              <a:rPr lang="en-US" sz="2400" dirty="0">
                <a:solidFill>
                  <a:srgbClr val="000000"/>
                </a:solidFill>
                <a:cs typeface="Times New Roman" pitchFamily="18" charset="0"/>
              </a:rPr>
              <a:t> </a:t>
            </a:r>
            <a:r>
              <a:rPr lang="en-US" sz="2400" i="1" dirty="0">
                <a:solidFill>
                  <a:srgbClr val="000000"/>
                </a:solidFill>
                <a:cs typeface="Times New Roman" pitchFamily="18" charset="0"/>
              </a:rPr>
              <a:t>R</a:t>
            </a:r>
            <a:r>
              <a:rPr lang="en-US" sz="2400" baseline="-30000" dirty="0">
                <a:solidFill>
                  <a:srgbClr val="000000"/>
                </a:solidFill>
                <a:cs typeface="Times New Roman" pitchFamily="18" charset="0"/>
              </a:rPr>
              <a:t>2</a:t>
            </a:r>
            <a:r>
              <a:rPr lang="en-US" sz="2400" dirty="0">
                <a:solidFill>
                  <a:srgbClr val="000000"/>
                </a:solidFill>
                <a:cs typeface="Times New Roman" pitchFamily="18" charset="0"/>
              </a:rPr>
              <a:t>) —&gt;&gt; (</a:t>
            </a:r>
            <a:r>
              <a:rPr lang="en-US" sz="2400" i="1" dirty="0">
                <a:solidFill>
                  <a:srgbClr val="000000"/>
                </a:solidFill>
                <a:cs typeface="Times New Roman" pitchFamily="18" charset="0"/>
              </a:rPr>
              <a:t>R</a:t>
            </a:r>
            <a:r>
              <a:rPr lang="en-US" sz="2400" baseline="-30000" dirty="0">
                <a:solidFill>
                  <a:srgbClr val="000000"/>
                </a:solidFill>
                <a:cs typeface="Times New Roman" pitchFamily="18" charset="0"/>
              </a:rPr>
              <a:t>2</a:t>
            </a:r>
            <a:r>
              <a:rPr lang="en-US" sz="2400" dirty="0">
                <a:solidFill>
                  <a:srgbClr val="000000"/>
                </a:solidFill>
                <a:cs typeface="Times New Roman" pitchFamily="18" charset="0"/>
              </a:rPr>
              <a:t> - </a:t>
            </a:r>
            <a:r>
              <a:rPr lang="en-US" sz="2400" i="1" dirty="0">
                <a:solidFill>
                  <a:srgbClr val="000000"/>
                </a:solidFill>
                <a:cs typeface="Times New Roman" pitchFamily="18" charset="0"/>
              </a:rPr>
              <a:t>R</a:t>
            </a:r>
            <a:r>
              <a:rPr lang="en-US" sz="2400" baseline="-30000" dirty="0">
                <a:solidFill>
                  <a:srgbClr val="000000"/>
                </a:solidFill>
                <a:cs typeface="Times New Roman" pitchFamily="18" charset="0"/>
              </a:rPr>
              <a:t>1</a:t>
            </a:r>
            <a:r>
              <a:rPr lang="en-US" sz="2400" dirty="0">
                <a:solidFill>
                  <a:srgbClr val="000000"/>
                </a:solidFill>
                <a:cs typeface="Times New Roman" pitchFamily="18" charset="0"/>
              </a:rPr>
              <a:t>)).</a:t>
            </a:r>
            <a:r>
              <a:rPr lang="en-US" sz="2800" dirty="0">
                <a:solidFill>
                  <a:srgbClr val="000000"/>
                </a:solidFill>
                <a:cs typeface="Times New Roman" pitchFamily="18" charset="0"/>
              </a:rPr>
              <a:t> </a:t>
            </a:r>
            <a:r>
              <a:rPr lang="en-US" sz="2800" b="1" dirty="0">
                <a:solidFill>
                  <a:srgbClr val="000000"/>
                </a:solidFill>
                <a:cs typeface="Times New Roman" pitchFamily="18" charset="0"/>
              </a:rPr>
              <a:t>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254000" y="215900"/>
            <a:ext cx="8712200" cy="1143000"/>
          </a:xfrm>
        </p:spPr>
        <p:txBody>
          <a:bodyPr/>
          <a:lstStyle/>
          <a:p>
            <a:r>
              <a:rPr lang="en-US" sz="3200" dirty="0" smtClean="0">
                <a:cs typeface="Times New Roman" pitchFamily="18" charset="0"/>
              </a:rPr>
              <a:t>Fourth </a:t>
            </a:r>
            <a:r>
              <a:rPr lang="en-US" sz="3200" dirty="0">
                <a:cs typeface="Times New Roman" pitchFamily="18" charset="0"/>
              </a:rPr>
              <a:t>Normal </a:t>
            </a:r>
            <a:r>
              <a:rPr lang="en-US" sz="3200" dirty="0" smtClean="0">
                <a:cs typeface="Times New Roman" pitchFamily="18" charset="0"/>
              </a:rPr>
              <a:t>Form</a:t>
            </a:r>
            <a:endParaRPr lang="en-US" sz="3200" dirty="0">
              <a:cs typeface="Times New Roman" pitchFamily="18" charset="0"/>
            </a:endParaRPr>
          </a:p>
        </p:txBody>
      </p:sp>
      <p:sp>
        <p:nvSpPr>
          <p:cNvPr id="335875" name="Rectangle 3"/>
          <p:cNvSpPr>
            <a:spLocks noGrp="1" noChangeArrowheads="1"/>
          </p:cNvSpPr>
          <p:nvPr>
            <p:ph sz="quarter" idx="1"/>
          </p:nvPr>
        </p:nvSpPr>
        <p:spPr>
          <a:xfrm>
            <a:off x="254000" y="1358900"/>
            <a:ext cx="8712200" cy="4978400"/>
          </a:xfrm>
          <a:noFill/>
          <a:ln/>
        </p:spPr>
        <p:txBody>
          <a:bodyPr>
            <a:normAutofit fontScale="92500"/>
          </a:bodyPr>
          <a:lstStyle/>
          <a:p>
            <a:pPr marL="609600" indent="-609600" algn="just">
              <a:buFont typeface="Wingdings" pitchFamily="2" charset="2"/>
              <a:buNone/>
            </a:pPr>
            <a:r>
              <a:rPr lang="en-US" sz="2800" b="1" dirty="0" smtClean="0">
                <a:solidFill>
                  <a:srgbClr val="000000"/>
                </a:solidFill>
                <a:cs typeface="Courier New" pitchFamily="49" charset="0"/>
              </a:rPr>
              <a:t>Algorithm: </a:t>
            </a:r>
            <a:r>
              <a:rPr lang="en-US" sz="2800" b="1" dirty="0">
                <a:solidFill>
                  <a:srgbClr val="000000"/>
                </a:solidFill>
                <a:cs typeface="Times New Roman" pitchFamily="18" charset="0"/>
              </a:rPr>
              <a:t>Relational decomposition into 4NF relations with non-additive join </a:t>
            </a:r>
            <a:r>
              <a:rPr lang="en-US" sz="2800" b="1" dirty="0" smtClean="0">
                <a:solidFill>
                  <a:srgbClr val="000000"/>
                </a:solidFill>
                <a:cs typeface="Times New Roman" pitchFamily="18" charset="0"/>
              </a:rPr>
              <a:t>property</a:t>
            </a:r>
          </a:p>
          <a:p>
            <a:pPr marL="609600" indent="-609600" algn="just">
              <a:buFont typeface="Wingdings" pitchFamily="2" charset="2"/>
              <a:buNone/>
            </a:pPr>
            <a:endParaRPr lang="en-US" sz="2800" b="1" dirty="0">
              <a:solidFill>
                <a:srgbClr val="000000"/>
              </a:solidFill>
              <a:cs typeface="Times New Roman" pitchFamily="18" charset="0"/>
            </a:endParaRPr>
          </a:p>
          <a:p>
            <a:pPr marL="609600" indent="-609600" algn="just">
              <a:buFont typeface="Wingdings" pitchFamily="2" charset="2"/>
              <a:buNone/>
            </a:pPr>
            <a:r>
              <a:rPr lang="en-US" sz="2400" b="1" dirty="0">
                <a:solidFill>
                  <a:srgbClr val="000000"/>
                </a:solidFill>
                <a:cs typeface="Times New Roman" pitchFamily="18" charset="0"/>
              </a:rPr>
              <a:t>Input: </a:t>
            </a:r>
            <a:r>
              <a:rPr lang="en-US" sz="2400" dirty="0">
                <a:solidFill>
                  <a:srgbClr val="000000"/>
                </a:solidFill>
                <a:cs typeface="Times New Roman" pitchFamily="18" charset="0"/>
              </a:rPr>
              <a:t>A universal relation R and a set of functional and </a:t>
            </a:r>
            <a:r>
              <a:rPr lang="en-US" sz="2400" dirty="0" err="1">
                <a:solidFill>
                  <a:srgbClr val="000000"/>
                </a:solidFill>
                <a:cs typeface="Times New Roman" pitchFamily="18" charset="0"/>
              </a:rPr>
              <a:t>multivalued</a:t>
            </a:r>
            <a:r>
              <a:rPr lang="en-US" sz="2400" dirty="0">
                <a:solidFill>
                  <a:srgbClr val="000000"/>
                </a:solidFill>
                <a:cs typeface="Times New Roman" pitchFamily="18" charset="0"/>
              </a:rPr>
              <a:t> dependencies F.</a:t>
            </a:r>
          </a:p>
          <a:p>
            <a:pPr marL="609600" indent="-609600" algn="just">
              <a:buFont typeface="Wingdings" pitchFamily="2" charset="2"/>
              <a:buAutoNum type="arabicPeriod"/>
            </a:pPr>
            <a:r>
              <a:rPr lang="en-US" sz="2400" dirty="0">
                <a:solidFill>
                  <a:srgbClr val="000000"/>
                </a:solidFill>
                <a:cs typeface="Times New Roman" pitchFamily="18" charset="0"/>
              </a:rPr>
              <a:t>Set D := { R };</a:t>
            </a:r>
          </a:p>
          <a:p>
            <a:pPr marL="609600" indent="-609600" algn="just">
              <a:buFont typeface="Wingdings" pitchFamily="2" charset="2"/>
              <a:buAutoNum type="arabicPeriod"/>
            </a:pPr>
            <a:r>
              <a:rPr lang="en-US" sz="2400" dirty="0">
                <a:solidFill>
                  <a:srgbClr val="000000"/>
                </a:solidFill>
                <a:cs typeface="Times New Roman" pitchFamily="18" charset="0"/>
              </a:rPr>
              <a:t>While there is a relation schema </a:t>
            </a:r>
            <a:r>
              <a:rPr lang="en-US" sz="2400" i="1" dirty="0">
                <a:solidFill>
                  <a:srgbClr val="000000"/>
                </a:solidFill>
                <a:cs typeface="Times New Roman" pitchFamily="18" charset="0"/>
              </a:rPr>
              <a:t>Q</a:t>
            </a:r>
            <a:r>
              <a:rPr lang="en-US" sz="2400" dirty="0">
                <a:solidFill>
                  <a:srgbClr val="000000"/>
                </a:solidFill>
                <a:cs typeface="Times New Roman" pitchFamily="18" charset="0"/>
              </a:rPr>
              <a:t> in </a:t>
            </a:r>
            <a:r>
              <a:rPr lang="en-US" sz="2400" i="1" dirty="0">
                <a:solidFill>
                  <a:srgbClr val="000000"/>
                </a:solidFill>
                <a:cs typeface="Times New Roman" pitchFamily="18" charset="0"/>
              </a:rPr>
              <a:t>D</a:t>
            </a:r>
            <a:r>
              <a:rPr lang="en-US" sz="2400" dirty="0">
                <a:solidFill>
                  <a:srgbClr val="000000"/>
                </a:solidFill>
                <a:cs typeface="Times New Roman" pitchFamily="18" charset="0"/>
              </a:rPr>
              <a:t> that is not in 4NF do</a:t>
            </a:r>
          </a:p>
          <a:p>
            <a:pPr marL="609600" indent="-609600" algn="just">
              <a:buFont typeface="Wingdings" pitchFamily="2" charset="2"/>
              <a:buNone/>
            </a:pPr>
            <a:r>
              <a:rPr lang="en-US" sz="2400" dirty="0">
                <a:solidFill>
                  <a:srgbClr val="000000"/>
                </a:solidFill>
                <a:cs typeface="Times New Roman" pitchFamily="18" charset="0"/>
              </a:rPr>
              <a:t>	{	choose a relation schema </a:t>
            </a:r>
            <a:r>
              <a:rPr lang="en-US" sz="2400" i="1" dirty="0">
                <a:solidFill>
                  <a:srgbClr val="000000"/>
                </a:solidFill>
                <a:cs typeface="Times New Roman" pitchFamily="18" charset="0"/>
              </a:rPr>
              <a:t>Q</a:t>
            </a:r>
            <a:r>
              <a:rPr lang="en-US" sz="2400" dirty="0">
                <a:solidFill>
                  <a:srgbClr val="000000"/>
                </a:solidFill>
                <a:cs typeface="Times New Roman" pitchFamily="18" charset="0"/>
              </a:rPr>
              <a:t> in </a:t>
            </a:r>
            <a:r>
              <a:rPr lang="en-US" sz="2400" i="1" dirty="0">
                <a:solidFill>
                  <a:srgbClr val="000000"/>
                </a:solidFill>
                <a:cs typeface="Times New Roman" pitchFamily="18" charset="0"/>
              </a:rPr>
              <a:t>D</a:t>
            </a:r>
            <a:r>
              <a:rPr lang="en-US" sz="2400" dirty="0">
                <a:solidFill>
                  <a:srgbClr val="000000"/>
                </a:solidFill>
                <a:cs typeface="Times New Roman" pitchFamily="18" charset="0"/>
              </a:rPr>
              <a:t> that is not in 4NF;</a:t>
            </a:r>
          </a:p>
          <a:p>
            <a:pPr marL="609600" indent="-609600" algn="just">
              <a:buFont typeface="Wingdings" pitchFamily="2" charset="2"/>
              <a:buNone/>
            </a:pPr>
            <a:r>
              <a:rPr lang="en-US" sz="2400" dirty="0">
                <a:solidFill>
                  <a:srgbClr val="000000"/>
                </a:solidFill>
                <a:cs typeface="Times New Roman" pitchFamily="18" charset="0"/>
              </a:rPr>
              <a:t>		find a nontrivial MVD </a:t>
            </a:r>
            <a:r>
              <a:rPr lang="en-US" sz="2400" i="1" dirty="0">
                <a:solidFill>
                  <a:srgbClr val="000000"/>
                </a:solidFill>
                <a:cs typeface="Times New Roman" pitchFamily="18" charset="0"/>
              </a:rPr>
              <a:t>X</a:t>
            </a:r>
            <a:r>
              <a:rPr lang="en-US" sz="2400" dirty="0">
                <a:solidFill>
                  <a:srgbClr val="000000"/>
                </a:solidFill>
                <a:cs typeface="Times New Roman" pitchFamily="18" charset="0"/>
              </a:rPr>
              <a:t> </a:t>
            </a:r>
            <a:r>
              <a:rPr lang="en-US" sz="2000" dirty="0">
                <a:solidFill>
                  <a:srgbClr val="000000"/>
                </a:solidFill>
                <a:cs typeface="Times New Roman" pitchFamily="18" charset="0"/>
              </a:rPr>
              <a:t>—&gt;&gt;</a:t>
            </a:r>
            <a:r>
              <a:rPr lang="en-US" sz="2400" i="1" dirty="0">
                <a:solidFill>
                  <a:srgbClr val="000000"/>
                </a:solidFill>
                <a:cs typeface="Times New Roman" pitchFamily="18" charset="0"/>
              </a:rPr>
              <a:t> Y</a:t>
            </a:r>
            <a:r>
              <a:rPr lang="en-US" sz="2400" dirty="0">
                <a:solidFill>
                  <a:srgbClr val="000000"/>
                </a:solidFill>
                <a:cs typeface="Times New Roman" pitchFamily="18" charset="0"/>
              </a:rPr>
              <a:t> in </a:t>
            </a:r>
            <a:r>
              <a:rPr lang="en-US" sz="2400" i="1" dirty="0">
                <a:solidFill>
                  <a:srgbClr val="000000"/>
                </a:solidFill>
                <a:cs typeface="Times New Roman" pitchFamily="18" charset="0"/>
              </a:rPr>
              <a:t>Q</a:t>
            </a:r>
            <a:r>
              <a:rPr lang="en-US" sz="2400" dirty="0">
                <a:solidFill>
                  <a:srgbClr val="000000"/>
                </a:solidFill>
                <a:cs typeface="Times New Roman" pitchFamily="18" charset="0"/>
              </a:rPr>
              <a:t> that violates 4NF;</a:t>
            </a:r>
          </a:p>
          <a:p>
            <a:pPr marL="609600" indent="-609600">
              <a:buFont typeface="Wingdings" pitchFamily="2" charset="2"/>
              <a:buNone/>
            </a:pPr>
            <a:r>
              <a:rPr lang="en-US" sz="2400" dirty="0">
                <a:solidFill>
                  <a:srgbClr val="000000"/>
                </a:solidFill>
                <a:cs typeface="Times New Roman" pitchFamily="18" charset="0"/>
              </a:rPr>
              <a:t>		replace </a:t>
            </a:r>
            <a:r>
              <a:rPr lang="en-US" sz="2400" i="1" dirty="0">
                <a:solidFill>
                  <a:srgbClr val="000000"/>
                </a:solidFill>
                <a:cs typeface="Times New Roman" pitchFamily="18" charset="0"/>
              </a:rPr>
              <a:t>Q</a:t>
            </a:r>
            <a:r>
              <a:rPr lang="en-US" sz="2400" dirty="0">
                <a:solidFill>
                  <a:srgbClr val="000000"/>
                </a:solidFill>
                <a:cs typeface="Times New Roman" pitchFamily="18" charset="0"/>
              </a:rPr>
              <a:t> in </a:t>
            </a:r>
            <a:r>
              <a:rPr lang="en-US" sz="2400" i="1" dirty="0">
                <a:solidFill>
                  <a:srgbClr val="000000"/>
                </a:solidFill>
                <a:cs typeface="Times New Roman" pitchFamily="18" charset="0"/>
              </a:rPr>
              <a:t>D</a:t>
            </a:r>
            <a:r>
              <a:rPr lang="en-US" sz="2400" dirty="0">
                <a:solidFill>
                  <a:srgbClr val="000000"/>
                </a:solidFill>
                <a:cs typeface="Times New Roman" pitchFamily="18" charset="0"/>
              </a:rPr>
              <a:t> by two relation schemas (</a:t>
            </a:r>
            <a:r>
              <a:rPr lang="en-US" sz="2400" i="1" dirty="0">
                <a:solidFill>
                  <a:srgbClr val="000000"/>
                </a:solidFill>
                <a:cs typeface="Times New Roman" pitchFamily="18" charset="0"/>
              </a:rPr>
              <a:t>Q</a:t>
            </a:r>
            <a:r>
              <a:rPr lang="en-US" sz="2400" dirty="0">
                <a:solidFill>
                  <a:srgbClr val="000000"/>
                </a:solidFill>
                <a:cs typeface="Times New Roman" pitchFamily="18" charset="0"/>
              </a:rPr>
              <a:t> - </a:t>
            </a:r>
            <a:r>
              <a:rPr lang="en-US" sz="2400" i="1" dirty="0">
                <a:solidFill>
                  <a:srgbClr val="000000"/>
                </a:solidFill>
                <a:cs typeface="Times New Roman" pitchFamily="18" charset="0"/>
              </a:rPr>
              <a:t>Y</a:t>
            </a:r>
            <a:r>
              <a:rPr lang="en-US" sz="2400" dirty="0">
                <a:solidFill>
                  <a:srgbClr val="000000"/>
                </a:solidFill>
                <a:cs typeface="Times New Roman" pitchFamily="18" charset="0"/>
              </a:rPr>
              <a:t>) and (</a:t>
            </a:r>
            <a:r>
              <a:rPr lang="en-US" sz="2400" i="1" dirty="0">
                <a:solidFill>
                  <a:srgbClr val="000000"/>
                </a:solidFill>
                <a:cs typeface="Times New Roman" pitchFamily="18" charset="0"/>
              </a:rPr>
              <a:t>X</a:t>
            </a:r>
            <a:r>
              <a:rPr lang="en-US" sz="2400" dirty="0">
                <a:solidFill>
                  <a:srgbClr val="000000"/>
                </a:solidFill>
                <a:cs typeface="Times New Roman" pitchFamily="18" charset="0"/>
              </a:rPr>
              <a:t> </a:t>
            </a:r>
            <a:r>
              <a:rPr lang="en-US" sz="2400" dirty="0">
                <a:cs typeface="Arial" pitchFamily="34" charset="0"/>
              </a:rPr>
              <a:t>υ</a:t>
            </a:r>
            <a:r>
              <a:rPr lang="en-US" sz="2400" dirty="0">
                <a:solidFill>
                  <a:srgbClr val="000000"/>
                </a:solidFill>
                <a:cs typeface="Times New Roman" pitchFamily="18" charset="0"/>
              </a:rPr>
              <a:t> </a:t>
            </a:r>
            <a:r>
              <a:rPr lang="en-US" sz="2400" i="1" dirty="0">
                <a:solidFill>
                  <a:srgbClr val="000000"/>
                </a:solidFill>
                <a:cs typeface="Times New Roman" pitchFamily="18" charset="0"/>
              </a:rPr>
              <a:t>Y</a:t>
            </a:r>
            <a:r>
              <a:rPr lang="en-US" sz="2400" dirty="0">
                <a:solidFill>
                  <a:srgbClr val="000000"/>
                </a:solidFill>
                <a:cs typeface="Times New Roman" pitchFamily="18" charset="0"/>
              </a:rPr>
              <a:t>);</a:t>
            </a:r>
          </a:p>
          <a:p>
            <a:pPr marL="609600" indent="-609600" algn="just">
              <a:buFont typeface="Wingdings" pitchFamily="2" charset="2"/>
              <a:buNone/>
            </a:pPr>
            <a:r>
              <a:rPr lang="en-US" sz="2400" dirty="0">
                <a:solidFill>
                  <a:srgbClr val="000000"/>
                </a:solidFill>
                <a:cs typeface="Times New Roman" pitchFamily="18" charset="0"/>
              </a:rPr>
              <a:t>	};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a:xfrm>
            <a:off x="254000" y="500943"/>
            <a:ext cx="8712200" cy="1143000"/>
          </a:xfrm>
        </p:spPr>
        <p:txBody>
          <a:bodyPr>
            <a:normAutofit/>
          </a:bodyPr>
          <a:lstStyle/>
          <a:p>
            <a:r>
              <a:rPr lang="en-US" sz="3200" dirty="0" smtClean="0">
                <a:cs typeface="Times New Roman" pitchFamily="18" charset="0"/>
              </a:rPr>
              <a:t>MVD and JD</a:t>
            </a:r>
            <a:r>
              <a:rPr lang="en-US" sz="3200" dirty="0">
                <a:cs typeface="Times New Roman" pitchFamily="18" charset="0"/>
              </a:rPr>
              <a:t/>
            </a:r>
            <a:br>
              <a:rPr lang="en-US" sz="3200" dirty="0">
                <a:cs typeface="Times New Roman" pitchFamily="18" charset="0"/>
              </a:rPr>
            </a:br>
            <a:endParaRPr lang="en-US" sz="3600" dirty="0">
              <a:sym typeface="Symbol" pitchFamily="18" charset="2"/>
            </a:endParaRPr>
          </a:p>
        </p:txBody>
      </p:sp>
      <p:pic>
        <p:nvPicPr>
          <p:cNvPr id="349188" name="Picture 4" descr="31755_FIG1504cd.gif                                            0001035BEeyore                         B91DCF3B:"/>
          <p:cNvPicPr>
            <a:picLocks noChangeAspect="1" noChangeArrowheads="1"/>
          </p:cNvPicPr>
          <p:nvPr/>
        </p:nvPicPr>
        <p:blipFill>
          <a:blip r:embed="rId2" cstate="print"/>
          <a:srcRect/>
          <a:stretch>
            <a:fillRect/>
          </a:stretch>
        </p:blipFill>
        <p:spPr bwMode="auto">
          <a:xfrm>
            <a:off x="101601" y="2584699"/>
            <a:ext cx="6845787" cy="3882775"/>
          </a:xfrm>
          <a:prstGeom prst="rect">
            <a:avLst/>
          </a:prstGeom>
          <a:noFill/>
          <a:ln w="9525">
            <a:noFill/>
            <a:miter lim="800000"/>
            <a:headEnd/>
            <a:tailEnd/>
          </a:ln>
          <a:effectLst/>
        </p:spPr>
      </p:pic>
      <p:sp>
        <p:nvSpPr>
          <p:cNvPr id="2" name="Rectangle 1"/>
          <p:cNvSpPr/>
          <p:nvPr/>
        </p:nvSpPr>
        <p:spPr>
          <a:xfrm>
            <a:off x="449507" y="1200940"/>
            <a:ext cx="5675312" cy="1200329"/>
          </a:xfrm>
          <a:prstGeom prst="rect">
            <a:avLst/>
          </a:prstGeom>
        </p:spPr>
        <p:txBody>
          <a:bodyPr wrap="square">
            <a:spAutoFit/>
          </a:bodyPr>
          <a:lstStyle/>
          <a:p>
            <a:r>
              <a:rPr lang="en-US" sz="1800" dirty="0" smtClean="0"/>
              <a:t>Supplier </a:t>
            </a:r>
            <a:r>
              <a:rPr lang="en-US" sz="1800" i="1" dirty="0"/>
              <a:t>s </a:t>
            </a:r>
            <a:r>
              <a:rPr lang="en-US" sz="1800" dirty="0"/>
              <a:t>supplies part </a:t>
            </a:r>
            <a:r>
              <a:rPr lang="en-US" sz="1800" i="1" dirty="0"/>
              <a:t>p</a:t>
            </a:r>
            <a:r>
              <a:rPr lang="en-US" sz="1800" dirty="0"/>
              <a:t>, </a:t>
            </a:r>
            <a:r>
              <a:rPr lang="en-US" sz="1800" i="1" dirty="0"/>
              <a:t>and </a:t>
            </a:r>
            <a:endParaRPr lang="en-US" sz="1800" i="1" dirty="0" smtClean="0"/>
          </a:p>
          <a:p>
            <a:r>
              <a:rPr lang="en-US" sz="1800" dirty="0" smtClean="0"/>
              <a:t>a </a:t>
            </a:r>
            <a:r>
              <a:rPr lang="en-US" sz="1800" dirty="0"/>
              <a:t>project </a:t>
            </a:r>
            <a:r>
              <a:rPr lang="en-US" sz="1800" i="1" dirty="0"/>
              <a:t>j </a:t>
            </a:r>
            <a:r>
              <a:rPr lang="en-US" sz="1800" dirty="0"/>
              <a:t>uses part </a:t>
            </a:r>
            <a:r>
              <a:rPr lang="en-US" sz="1800" i="1" dirty="0"/>
              <a:t>p</a:t>
            </a:r>
            <a:r>
              <a:rPr lang="en-US" sz="1800" dirty="0"/>
              <a:t>, </a:t>
            </a:r>
            <a:r>
              <a:rPr lang="en-US" sz="1800" i="1" dirty="0"/>
              <a:t>and </a:t>
            </a:r>
            <a:endParaRPr lang="en-US" sz="1800" i="1" dirty="0" smtClean="0"/>
          </a:p>
          <a:p>
            <a:r>
              <a:rPr lang="en-US" sz="1800" dirty="0" smtClean="0"/>
              <a:t>the </a:t>
            </a:r>
            <a:r>
              <a:rPr lang="en-US" sz="1800" dirty="0"/>
              <a:t>supplier </a:t>
            </a:r>
            <a:r>
              <a:rPr lang="en-US" sz="1800" i="1" dirty="0"/>
              <a:t>s </a:t>
            </a:r>
            <a:r>
              <a:rPr lang="en-US" sz="1800" dirty="0"/>
              <a:t>supplies </a:t>
            </a:r>
            <a:r>
              <a:rPr lang="en-US" sz="1800" i="1" dirty="0" smtClean="0"/>
              <a:t>at least </a:t>
            </a:r>
            <a:r>
              <a:rPr lang="en-US" sz="1800" i="1" dirty="0"/>
              <a:t>one </a:t>
            </a:r>
            <a:r>
              <a:rPr lang="en-US" sz="1800" dirty="0"/>
              <a:t>part to project </a:t>
            </a:r>
            <a:r>
              <a:rPr lang="en-US" sz="1800" i="1" dirty="0"/>
              <a:t>j</a:t>
            </a:r>
            <a:r>
              <a:rPr lang="en-US" sz="1800" dirty="0"/>
              <a:t>, </a:t>
            </a:r>
            <a:r>
              <a:rPr lang="en-US" sz="1800" i="1" dirty="0"/>
              <a:t>then </a:t>
            </a:r>
            <a:r>
              <a:rPr lang="en-US" sz="1800" dirty="0"/>
              <a:t>supplier </a:t>
            </a:r>
            <a:r>
              <a:rPr lang="en-US" sz="1800" i="1" dirty="0"/>
              <a:t>s </a:t>
            </a:r>
            <a:r>
              <a:rPr lang="en-US" sz="1800" dirty="0"/>
              <a:t>will also be supplying part </a:t>
            </a:r>
            <a:r>
              <a:rPr lang="en-US" sz="1800" i="1" dirty="0"/>
              <a:t>p </a:t>
            </a:r>
            <a:r>
              <a:rPr lang="en-US" sz="1800" dirty="0"/>
              <a:t>to project </a:t>
            </a:r>
            <a:r>
              <a:rPr lang="en-US" sz="1800" i="1" dirty="0"/>
              <a:t>j</a:t>
            </a:r>
            <a:r>
              <a:rPr lang="en-US" sz="1800" dirty="0" smtClean="0"/>
              <a:t>.</a:t>
            </a:r>
            <a:endParaRPr lang="en-US" sz="1800" dirty="0"/>
          </a:p>
        </p:txBody>
      </p:sp>
      <p:sp>
        <p:nvSpPr>
          <p:cNvPr id="3" name="Rectangle 2"/>
          <p:cNvSpPr/>
          <p:nvPr/>
        </p:nvSpPr>
        <p:spPr>
          <a:xfrm>
            <a:off x="4043362" y="3077081"/>
            <a:ext cx="4714876" cy="1754326"/>
          </a:xfrm>
          <a:prstGeom prst="rect">
            <a:avLst/>
          </a:prstGeom>
        </p:spPr>
        <p:txBody>
          <a:bodyPr wrap="square">
            <a:spAutoFit/>
          </a:bodyPr>
          <a:lstStyle/>
          <a:p>
            <a:r>
              <a:rPr lang="en-US" sz="1800" dirty="0"/>
              <a:t>This constraint </a:t>
            </a:r>
            <a:r>
              <a:rPr lang="en-US" sz="1800" dirty="0" smtClean="0"/>
              <a:t>specifies </a:t>
            </a:r>
            <a:r>
              <a:rPr lang="en-US" sz="1800" dirty="0"/>
              <a:t>a join dependency JD(</a:t>
            </a:r>
            <a:r>
              <a:rPr lang="en-US" sz="1800" i="1" dirty="0"/>
              <a:t>R</a:t>
            </a:r>
            <a:r>
              <a:rPr lang="en-US" sz="1800" dirty="0"/>
              <a:t>1</a:t>
            </a:r>
            <a:r>
              <a:rPr lang="en-US" sz="1800" dirty="0" smtClean="0"/>
              <a:t>, </a:t>
            </a:r>
            <a:r>
              <a:rPr lang="en-US" sz="1800" i="1" dirty="0" smtClean="0"/>
              <a:t>R</a:t>
            </a:r>
            <a:r>
              <a:rPr lang="en-US" sz="1800" dirty="0" smtClean="0"/>
              <a:t>2</a:t>
            </a:r>
            <a:r>
              <a:rPr lang="en-US" sz="1800" dirty="0"/>
              <a:t>, </a:t>
            </a:r>
            <a:r>
              <a:rPr lang="en-US" sz="1800" i="1" dirty="0"/>
              <a:t>R</a:t>
            </a:r>
            <a:r>
              <a:rPr lang="en-US" sz="1800" dirty="0"/>
              <a:t>3) among the three projections </a:t>
            </a:r>
            <a:endParaRPr lang="en-US" sz="1800" dirty="0" smtClean="0"/>
          </a:p>
          <a:p>
            <a:r>
              <a:rPr lang="en-US" sz="1800" i="1" dirty="0"/>
              <a:t/>
            </a:r>
            <a:br>
              <a:rPr lang="en-US" sz="1800" i="1" dirty="0"/>
            </a:br>
            <a:r>
              <a:rPr lang="en-US" sz="1800" i="1" dirty="0" smtClean="0"/>
              <a:t>R</a:t>
            </a:r>
            <a:r>
              <a:rPr lang="en-US" sz="1800" dirty="0" smtClean="0"/>
              <a:t>1(</a:t>
            </a:r>
            <a:r>
              <a:rPr lang="en-US" sz="1800" dirty="0" err="1" smtClean="0"/>
              <a:t>Sname</a:t>
            </a:r>
            <a:r>
              <a:rPr lang="en-US" sz="1800" dirty="0"/>
              <a:t>, </a:t>
            </a:r>
            <a:r>
              <a:rPr lang="en-US" sz="1800" dirty="0" err="1"/>
              <a:t>Part_name</a:t>
            </a:r>
            <a:r>
              <a:rPr lang="en-US" sz="1800" dirty="0"/>
              <a:t>), </a:t>
            </a:r>
            <a:endParaRPr lang="en-US" sz="1800" dirty="0" smtClean="0"/>
          </a:p>
          <a:p>
            <a:r>
              <a:rPr lang="en-US" sz="1800" i="1" dirty="0" smtClean="0"/>
              <a:t>R</a:t>
            </a:r>
            <a:r>
              <a:rPr lang="en-US" sz="1800" dirty="0" smtClean="0"/>
              <a:t>2(</a:t>
            </a:r>
            <a:r>
              <a:rPr lang="en-US" sz="1800" dirty="0" err="1" smtClean="0"/>
              <a:t>Sname</a:t>
            </a:r>
            <a:r>
              <a:rPr lang="en-US" sz="1800" dirty="0"/>
              <a:t>, </a:t>
            </a:r>
            <a:r>
              <a:rPr lang="en-US" sz="1800" dirty="0" err="1"/>
              <a:t>Proj_name</a:t>
            </a:r>
            <a:r>
              <a:rPr lang="en-US" sz="1800" dirty="0"/>
              <a:t>),</a:t>
            </a:r>
          </a:p>
          <a:p>
            <a:r>
              <a:rPr lang="en-US" sz="1800" i="1" dirty="0" smtClean="0"/>
              <a:t>R</a:t>
            </a:r>
            <a:r>
              <a:rPr lang="en-US" sz="1800" dirty="0" smtClean="0"/>
              <a:t>3(</a:t>
            </a:r>
            <a:r>
              <a:rPr lang="en-US" sz="1800" dirty="0" err="1" smtClean="0"/>
              <a:t>Part_name</a:t>
            </a:r>
            <a:r>
              <a:rPr lang="en-US" sz="1800" dirty="0"/>
              <a:t>, </a:t>
            </a:r>
            <a:r>
              <a:rPr lang="en-US" sz="1800" dirty="0" err="1"/>
              <a:t>Proj_name</a:t>
            </a:r>
            <a:r>
              <a:rPr lang="en-US" sz="1800" dirty="0"/>
              <a:t>) of SUPPLY.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a:xfrm>
            <a:off x="254000" y="215900"/>
            <a:ext cx="8712200" cy="1143000"/>
          </a:xfrm>
        </p:spPr>
        <p:txBody>
          <a:bodyPr/>
          <a:lstStyle/>
          <a:p>
            <a:r>
              <a:rPr lang="en-US" sz="3200" dirty="0" smtClean="0">
                <a:cs typeface="Times New Roman" pitchFamily="18" charset="0"/>
              </a:rPr>
              <a:t>Join </a:t>
            </a:r>
            <a:r>
              <a:rPr lang="en-US" sz="3200" dirty="0" err="1" smtClean="0">
                <a:cs typeface="Times New Roman" pitchFamily="18" charset="0"/>
              </a:rPr>
              <a:t>DependencY</a:t>
            </a:r>
            <a:r>
              <a:rPr lang="en-US" sz="3200" dirty="0" smtClean="0">
                <a:cs typeface="Times New Roman" pitchFamily="18" charset="0"/>
              </a:rPr>
              <a:t> (JD)</a:t>
            </a:r>
            <a:endParaRPr lang="en-US" sz="3200" dirty="0">
              <a:cs typeface="Times New Roman" pitchFamily="18" charset="0"/>
            </a:endParaRPr>
          </a:p>
        </p:txBody>
      </p:sp>
      <p:sp>
        <p:nvSpPr>
          <p:cNvPr id="336899" name="Rectangle 3"/>
          <p:cNvSpPr>
            <a:spLocks noGrp="1" noChangeArrowheads="1"/>
          </p:cNvSpPr>
          <p:nvPr>
            <p:ph sz="quarter" idx="1"/>
          </p:nvPr>
        </p:nvSpPr>
        <p:spPr>
          <a:xfrm>
            <a:off x="254000" y="1358900"/>
            <a:ext cx="8018463" cy="4978400"/>
          </a:xfrm>
        </p:spPr>
        <p:txBody>
          <a:bodyPr>
            <a:normAutofit/>
          </a:bodyPr>
          <a:lstStyle/>
          <a:p>
            <a:pPr marL="609600" indent="-609600" algn="just"/>
            <a:r>
              <a:rPr lang="en-US" sz="2000" b="1" dirty="0" smtClean="0">
                <a:solidFill>
                  <a:srgbClr val="000000"/>
                </a:solidFill>
                <a:cs typeface="Times New Roman" pitchFamily="18" charset="0"/>
              </a:rPr>
              <a:t>Join Dependency</a:t>
            </a:r>
            <a:r>
              <a:rPr lang="en-US" sz="2000" dirty="0" smtClean="0">
                <a:solidFill>
                  <a:srgbClr val="000000"/>
                </a:solidFill>
                <a:cs typeface="Times New Roman" pitchFamily="18" charset="0"/>
              </a:rPr>
              <a:t>, </a:t>
            </a:r>
            <a:r>
              <a:rPr lang="en-US" sz="2000" dirty="0">
                <a:solidFill>
                  <a:srgbClr val="000000"/>
                </a:solidFill>
                <a:cs typeface="Times New Roman" pitchFamily="18" charset="0"/>
              </a:rPr>
              <a:t>denoted by JD(</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1</a:t>
            </a:r>
            <a:r>
              <a:rPr lang="en-US" sz="2000" dirty="0">
                <a:solidFill>
                  <a:srgbClr val="000000"/>
                </a:solidFill>
                <a:cs typeface="Times New Roman" pitchFamily="18" charset="0"/>
              </a:rPr>
              <a:t>, </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2</a:t>
            </a:r>
            <a:r>
              <a:rPr lang="en-US" sz="2000" dirty="0">
                <a:solidFill>
                  <a:srgbClr val="000000"/>
                </a:solidFill>
                <a:cs typeface="Times New Roman" pitchFamily="18" charset="0"/>
              </a:rPr>
              <a:t>, ..., </a:t>
            </a:r>
            <a:r>
              <a:rPr lang="en-US" sz="2000" i="1" dirty="0" err="1">
                <a:solidFill>
                  <a:srgbClr val="000000"/>
                </a:solidFill>
                <a:cs typeface="Times New Roman" pitchFamily="18" charset="0"/>
              </a:rPr>
              <a:t>R</a:t>
            </a:r>
            <a:r>
              <a:rPr lang="en-US" sz="2000" baseline="-30000" dirty="0" err="1">
                <a:solidFill>
                  <a:srgbClr val="000000"/>
                </a:solidFill>
                <a:cs typeface="Times New Roman" pitchFamily="18" charset="0"/>
              </a:rPr>
              <a:t>n</a:t>
            </a:r>
            <a:r>
              <a:rPr lang="en-US" sz="2000" dirty="0">
                <a:solidFill>
                  <a:srgbClr val="000000"/>
                </a:solidFill>
                <a:cs typeface="Times New Roman" pitchFamily="18" charset="0"/>
              </a:rPr>
              <a:t>), specified on </a:t>
            </a:r>
            <a:r>
              <a:rPr lang="en-US" sz="2000" i="1" dirty="0" smtClean="0">
                <a:solidFill>
                  <a:srgbClr val="000000"/>
                </a:solidFill>
                <a:cs typeface="Times New Roman" pitchFamily="18" charset="0"/>
              </a:rPr>
              <a:t>R</a:t>
            </a:r>
            <a:r>
              <a:rPr lang="en-US" sz="2000" dirty="0">
                <a:solidFill>
                  <a:srgbClr val="000000"/>
                </a:solidFill>
                <a:cs typeface="Times New Roman" pitchFamily="18" charset="0"/>
              </a:rPr>
              <a:t>, specifies a constraint on the states </a:t>
            </a:r>
            <a:r>
              <a:rPr lang="en-US" sz="2000" i="1" dirty="0">
                <a:solidFill>
                  <a:srgbClr val="000000"/>
                </a:solidFill>
                <a:cs typeface="Times New Roman" pitchFamily="18" charset="0"/>
              </a:rPr>
              <a:t>r</a:t>
            </a:r>
            <a:r>
              <a:rPr lang="en-US" sz="2000" dirty="0">
                <a:solidFill>
                  <a:srgbClr val="000000"/>
                </a:solidFill>
                <a:cs typeface="Times New Roman" pitchFamily="18" charset="0"/>
              </a:rPr>
              <a:t> of </a:t>
            </a:r>
            <a:r>
              <a:rPr lang="en-US" sz="2000" i="1" dirty="0">
                <a:solidFill>
                  <a:srgbClr val="000000"/>
                </a:solidFill>
                <a:cs typeface="Times New Roman" pitchFamily="18" charset="0"/>
              </a:rPr>
              <a:t>R</a:t>
            </a:r>
            <a:r>
              <a:rPr lang="en-US" sz="2000" dirty="0">
                <a:solidFill>
                  <a:srgbClr val="000000"/>
                </a:solidFill>
                <a:cs typeface="Times New Roman" pitchFamily="18" charset="0"/>
              </a:rPr>
              <a:t>. The constraint states that every legal state </a:t>
            </a:r>
            <a:r>
              <a:rPr lang="en-US" sz="2000" i="1" dirty="0">
                <a:solidFill>
                  <a:srgbClr val="000000"/>
                </a:solidFill>
                <a:cs typeface="Times New Roman" pitchFamily="18" charset="0"/>
              </a:rPr>
              <a:t>r</a:t>
            </a:r>
            <a:r>
              <a:rPr lang="en-US" sz="2000" dirty="0">
                <a:solidFill>
                  <a:srgbClr val="000000"/>
                </a:solidFill>
                <a:cs typeface="Times New Roman" pitchFamily="18" charset="0"/>
              </a:rPr>
              <a:t> of </a:t>
            </a:r>
            <a:r>
              <a:rPr lang="en-US" sz="2000" i="1" dirty="0">
                <a:solidFill>
                  <a:srgbClr val="000000"/>
                </a:solidFill>
                <a:cs typeface="Times New Roman" pitchFamily="18" charset="0"/>
              </a:rPr>
              <a:t>R</a:t>
            </a:r>
            <a:r>
              <a:rPr lang="en-US" sz="2000" dirty="0">
                <a:solidFill>
                  <a:srgbClr val="000000"/>
                </a:solidFill>
                <a:cs typeface="Times New Roman" pitchFamily="18" charset="0"/>
              </a:rPr>
              <a:t> should have a non-additive join decomposition into </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1</a:t>
            </a:r>
            <a:r>
              <a:rPr lang="en-US" sz="2000" dirty="0">
                <a:solidFill>
                  <a:srgbClr val="000000"/>
                </a:solidFill>
                <a:cs typeface="Times New Roman" pitchFamily="18" charset="0"/>
              </a:rPr>
              <a:t>, </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2</a:t>
            </a:r>
            <a:r>
              <a:rPr lang="en-US" sz="2000" dirty="0">
                <a:solidFill>
                  <a:srgbClr val="000000"/>
                </a:solidFill>
                <a:cs typeface="Times New Roman" pitchFamily="18" charset="0"/>
              </a:rPr>
              <a:t>, ..., </a:t>
            </a:r>
            <a:r>
              <a:rPr lang="en-US" sz="2000" i="1" dirty="0" err="1">
                <a:solidFill>
                  <a:srgbClr val="000000"/>
                </a:solidFill>
                <a:cs typeface="Times New Roman" pitchFamily="18" charset="0"/>
              </a:rPr>
              <a:t>R</a:t>
            </a:r>
            <a:r>
              <a:rPr lang="en-US" sz="2000" baseline="-30000" dirty="0" err="1">
                <a:solidFill>
                  <a:srgbClr val="000000"/>
                </a:solidFill>
                <a:cs typeface="Times New Roman" pitchFamily="18" charset="0"/>
              </a:rPr>
              <a:t>n</a:t>
            </a:r>
            <a:r>
              <a:rPr lang="en-US" sz="2000" dirty="0">
                <a:solidFill>
                  <a:srgbClr val="000000"/>
                </a:solidFill>
                <a:cs typeface="Times New Roman" pitchFamily="18" charset="0"/>
              </a:rPr>
              <a:t>; that is, for every such </a:t>
            </a:r>
            <a:r>
              <a:rPr lang="en-US" sz="2000" i="1" dirty="0">
                <a:solidFill>
                  <a:srgbClr val="000000"/>
                </a:solidFill>
                <a:cs typeface="Times New Roman" pitchFamily="18" charset="0"/>
              </a:rPr>
              <a:t>r</a:t>
            </a:r>
            <a:r>
              <a:rPr lang="en-US" sz="2000" dirty="0">
                <a:solidFill>
                  <a:srgbClr val="000000"/>
                </a:solidFill>
                <a:cs typeface="Times New Roman" pitchFamily="18" charset="0"/>
              </a:rPr>
              <a:t> we have</a:t>
            </a:r>
          </a:p>
          <a:p>
            <a:pPr marL="609600" indent="-609600" algn="just">
              <a:buFont typeface="Wingdings" pitchFamily="2" charset="2"/>
              <a:buNone/>
            </a:pPr>
            <a:r>
              <a:rPr lang="en-US" sz="2000" dirty="0">
                <a:solidFill>
                  <a:srgbClr val="000000"/>
                </a:solidFill>
                <a:cs typeface="Times New Roman" pitchFamily="18" charset="0"/>
              </a:rPr>
              <a:t>		* (</a:t>
            </a:r>
            <a:r>
              <a:rPr lang="en-US" sz="2000" dirty="0">
                <a:latin typeface="Symbol" pitchFamily="18" charset="2"/>
              </a:rPr>
              <a:t></a:t>
            </a:r>
            <a:r>
              <a:rPr lang="en-US" sz="2000" i="1" baseline="-30000" dirty="0">
                <a:solidFill>
                  <a:srgbClr val="000000"/>
                </a:solidFill>
                <a:cs typeface="Times New Roman" pitchFamily="18" charset="0"/>
              </a:rPr>
              <a:t>R1</a:t>
            </a:r>
            <a:r>
              <a:rPr lang="en-US" sz="2000" dirty="0">
                <a:solidFill>
                  <a:srgbClr val="000000"/>
                </a:solidFill>
                <a:cs typeface="Times New Roman" pitchFamily="18" charset="0"/>
              </a:rPr>
              <a:t>(</a:t>
            </a:r>
            <a:r>
              <a:rPr lang="en-US" sz="2000" i="1" dirty="0">
                <a:solidFill>
                  <a:srgbClr val="000000"/>
                </a:solidFill>
                <a:cs typeface="Times New Roman" pitchFamily="18" charset="0"/>
              </a:rPr>
              <a:t>r</a:t>
            </a:r>
            <a:r>
              <a:rPr lang="en-US" sz="2000" dirty="0">
                <a:solidFill>
                  <a:srgbClr val="000000"/>
                </a:solidFill>
                <a:cs typeface="Times New Roman" pitchFamily="18" charset="0"/>
              </a:rPr>
              <a:t>), </a:t>
            </a:r>
            <a:r>
              <a:rPr lang="en-US" sz="2000" dirty="0">
                <a:latin typeface="Symbol" pitchFamily="18" charset="2"/>
              </a:rPr>
              <a:t></a:t>
            </a:r>
            <a:r>
              <a:rPr lang="en-US" sz="2000" i="1" baseline="-30000" dirty="0">
                <a:solidFill>
                  <a:srgbClr val="000000"/>
                </a:solidFill>
                <a:cs typeface="Times New Roman" pitchFamily="18" charset="0"/>
              </a:rPr>
              <a:t>R2</a:t>
            </a:r>
            <a:r>
              <a:rPr lang="en-US" sz="2000" dirty="0">
                <a:solidFill>
                  <a:srgbClr val="000000"/>
                </a:solidFill>
                <a:cs typeface="Times New Roman" pitchFamily="18" charset="0"/>
              </a:rPr>
              <a:t>(</a:t>
            </a:r>
            <a:r>
              <a:rPr lang="en-US" sz="2000" i="1" dirty="0">
                <a:solidFill>
                  <a:srgbClr val="000000"/>
                </a:solidFill>
                <a:cs typeface="Times New Roman" pitchFamily="18" charset="0"/>
              </a:rPr>
              <a:t>r</a:t>
            </a:r>
            <a:r>
              <a:rPr lang="en-US" sz="2000" dirty="0">
                <a:solidFill>
                  <a:srgbClr val="000000"/>
                </a:solidFill>
                <a:cs typeface="Times New Roman" pitchFamily="18" charset="0"/>
              </a:rPr>
              <a:t>), ..., </a:t>
            </a:r>
            <a:r>
              <a:rPr lang="en-US" sz="2000" dirty="0">
                <a:latin typeface="Symbol" pitchFamily="18" charset="2"/>
              </a:rPr>
              <a:t></a:t>
            </a:r>
            <a:r>
              <a:rPr lang="en-US" sz="2000" i="1" baseline="-30000" dirty="0" err="1">
                <a:solidFill>
                  <a:srgbClr val="000000"/>
                </a:solidFill>
                <a:cs typeface="Times New Roman" pitchFamily="18" charset="0"/>
              </a:rPr>
              <a:t>Rn</a:t>
            </a:r>
            <a:r>
              <a:rPr lang="en-US" sz="2000" dirty="0">
                <a:solidFill>
                  <a:srgbClr val="000000"/>
                </a:solidFill>
                <a:cs typeface="Times New Roman" pitchFamily="18" charset="0"/>
              </a:rPr>
              <a:t>(</a:t>
            </a:r>
            <a:r>
              <a:rPr lang="en-US" sz="2000" i="1" dirty="0">
                <a:solidFill>
                  <a:srgbClr val="000000"/>
                </a:solidFill>
                <a:cs typeface="Times New Roman" pitchFamily="18" charset="0"/>
              </a:rPr>
              <a:t>r</a:t>
            </a:r>
            <a:r>
              <a:rPr lang="en-US" sz="2000" dirty="0">
                <a:solidFill>
                  <a:srgbClr val="000000"/>
                </a:solidFill>
                <a:cs typeface="Times New Roman" pitchFamily="18" charset="0"/>
              </a:rPr>
              <a:t>)) = </a:t>
            </a:r>
            <a:r>
              <a:rPr lang="en-US" sz="2000" i="1" dirty="0">
                <a:solidFill>
                  <a:srgbClr val="000000"/>
                </a:solidFill>
                <a:cs typeface="Times New Roman" pitchFamily="18" charset="0"/>
              </a:rPr>
              <a:t>r</a:t>
            </a:r>
          </a:p>
          <a:p>
            <a:pPr marL="609600" indent="-609600" algn="just">
              <a:buFont typeface="Wingdings" pitchFamily="2" charset="2"/>
              <a:buNone/>
            </a:pPr>
            <a:r>
              <a:rPr lang="en-US" sz="2000" i="1" dirty="0">
                <a:solidFill>
                  <a:srgbClr val="000000"/>
                </a:solidFill>
                <a:cs typeface="Times New Roman" pitchFamily="18" charset="0"/>
              </a:rPr>
              <a:t>	</a:t>
            </a:r>
            <a:endParaRPr lang="en-US" sz="2000" i="1" dirty="0" smtClean="0">
              <a:solidFill>
                <a:srgbClr val="000000"/>
              </a:solidFill>
              <a:cs typeface="Times New Roman" pitchFamily="18" charset="0"/>
            </a:endParaRPr>
          </a:p>
          <a:p>
            <a:pPr marL="609600" indent="-609600" algn="just">
              <a:buFont typeface="Wingdings" pitchFamily="2" charset="2"/>
              <a:buNone/>
            </a:pPr>
            <a:r>
              <a:rPr lang="en-US" sz="2000" b="1" i="1" dirty="0" smtClean="0">
                <a:solidFill>
                  <a:srgbClr val="000000"/>
                </a:solidFill>
                <a:cs typeface="Times New Roman" pitchFamily="18" charset="0"/>
              </a:rPr>
              <a:t>	Note</a:t>
            </a:r>
            <a:r>
              <a:rPr lang="en-US" sz="2000" i="1" dirty="0">
                <a:solidFill>
                  <a:srgbClr val="000000"/>
                </a:solidFill>
                <a:cs typeface="Times New Roman" pitchFamily="18" charset="0"/>
              </a:rPr>
              <a:t>: an MVD is a special case of a JD where n = 2. </a:t>
            </a:r>
          </a:p>
          <a:p>
            <a:pPr marL="609600" indent="-609600" algn="just">
              <a:buFont typeface="Wingdings" pitchFamily="2" charset="2"/>
              <a:buNone/>
            </a:pPr>
            <a:endParaRPr lang="en-US" sz="2000" dirty="0">
              <a:solidFill>
                <a:srgbClr val="000000"/>
              </a:solidFill>
              <a:cs typeface="Times New Roman" pitchFamily="18" charset="0"/>
            </a:endParaRPr>
          </a:p>
          <a:p>
            <a:pPr marL="609600" indent="-609600" algn="just"/>
            <a:r>
              <a:rPr lang="en-US" sz="2000" dirty="0">
                <a:solidFill>
                  <a:srgbClr val="000000"/>
                </a:solidFill>
                <a:cs typeface="Times New Roman" pitchFamily="18" charset="0"/>
              </a:rPr>
              <a:t>A join dependency JD(</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1</a:t>
            </a:r>
            <a:r>
              <a:rPr lang="en-US" sz="2000" dirty="0">
                <a:solidFill>
                  <a:srgbClr val="000000"/>
                </a:solidFill>
                <a:cs typeface="Times New Roman" pitchFamily="18" charset="0"/>
              </a:rPr>
              <a:t>, </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2</a:t>
            </a:r>
            <a:r>
              <a:rPr lang="en-US" sz="2000" dirty="0">
                <a:solidFill>
                  <a:srgbClr val="000000"/>
                </a:solidFill>
                <a:cs typeface="Times New Roman" pitchFamily="18" charset="0"/>
              </a:rPr>
              <a:t>, ..., </a:t>
            </a:r>
            <a:r>
              <a:rPr lang="en-US" sz="2000" i="1" dirty="0" err="1">
                <a:solidFill>
                  <a:srgbClr val="000000"/>
                </a:solidFill>
                <a:cs typeface="Times New Roman" pitchFamily="18" charset="0"/>
              </a:rPr>
              <a:t>R</a:t>
            </a:r>
            <a:r>
              <a:rPr lang="en-US" sz="2000" baseline="-30000" dirty="0" err="1">
                <a:solidFill>
                  <a:srgbClr val="000000"/>
                </a:solidFill>
                <a:cs typeface="Times New Roman" pitchFamily="18" charset="0"/>
              </a:rPr>
              <a:t>n</a:t>
            </a:r>
            <a:r>
              <a:rPr lang="en-US" sz="2000" dirty="0">
                <a:solidFill>
                  <a:srgbClr val="000000"/>
                </a:solidFill>
                <a:cs typeface="Times New Roman" pitchFamily="18" charset="0"/>
              </a:rPr>
              <a:t>), specified on relation schema </a:t>
            </a:r>
            <a:r>
              <a:rPr lang="en-US" sz="2000" i="1" dirty="0">
                <a:solidFill>
                  <a:srgbClr val="000000"/>
                </a:solidFill>
                <a:cs typeface="Times New Roman" pitchFamily="18" charset="0"/>
              </a:rPr>
              <a:t>R</a:t>
            </a:r>
            <a:r>
              <a:rPr lang="en-US" sz="2000" dirty="0">
                <a:solidFill>
                  <a:srgbClr val="000000"/>
                </a:solidFill>
                <a:cs typeface="Times New Roman" pitchFamily="18" charset="0"/>
              </a:rPr>
              <a:t>, is a </a:t>
            </a:r>
            <a:r>
              <a:rPr lang="en-US" sz="2000" b="1" dirty="0">
                <a:solidFill>
                  <a:srgbClr val="000000"/>
                </a:solidFill>
                <a:cs typeface="Times New Roman" pitchFamily="18" charset="0"/>
              </a:rPr>
              <a:t>trivial JD</a:t>
            </a:r>
            <a:r>
              <a:rPr lang="en-US" sz="2000" dirty="0">
                <a:solidFill>
                  <a:srgbClr val="000000"/>
                </a:solidFill>
                <a:cs typeface="Times New Roman" pitchFamily="18" charset="0"/>
              </a:rPr>
              <a:t> if one of the relation schemas </a:t>
            </a:r>
            <a:r>
              <a:rPr lang="en-US" sz="2000" i="1" dirty="0" err="1">
                <a:solidFill>
                  <a:srgbClr val="000000"/>
                </a:solidFill>
                <a:cs typeface="Times New Roman" pitchFamily="18" charset="0"/>
              </a:rPr>
              <a:t>R</a:t>
            </a:r>
            <a:r>
              <a:rPr lang="en-US" sz="2000" baseline="-30000" dirty="0" err="1">
                <a:solidFill>
                  <a:srgbClr val="000000"/>
                </a:solidFill>
                <a:cs typeface="Times New Roman" pitchFamily="18" charset="0"/>
              </a:rPr>
              <a:t>i</a:t>
            </a:r>
            <a:r>
              <a:rPr lang="en-US" sz="2000" dirty="0">
                <a:solidFill>
                  <a:srgbClr val="000000"/>
                </a:solidFill>
                <a:cs typeface="Times New Roman" pitchFamily="18" charset="0"/>
              </a:rPr>
              <a:t> in JD(</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1</a:t>
            </a:r>
            <a:r>
              <a:rPr lang="en-US" sz="2000" dirty="0">
                <a:solidFill>
                  <a:srgbClr val="000000"/>
                </a:solidFill>
                <a:cs typeface="Times New Roman" pitchFamily="18" charset="0"/>
              </a:rPr>
              <a:t>, </a:t>
            </a:r>
            <a:r>
              <a:rPr lang="en-US" sz="2000" i="1" dirty="0">
                <a:solidFill>
                  <a:srgbClr val="000000"/>
                </a:solidFill>
                <a:cs typeface="Times New Roman" pitchFamily="18" charset="0"/>
              </a:rPr>
              <a:t>R</a:t>
            </a:r>
            <a:r>
              <a:rPr lang="en-US" sz="2000" baseline="-30000" dirty="0">
                <a:solidFill>
                  <a:srgbClr val="000000"/>
                </a:solidFill>
                <a:cs typeface="Times New Roman" pitchFamily="18" charset="0"/>
              </a:rPr>
              <a:t>2</a:t>
            </a:r>
            <a:r>
              <a:rPr lang="en-US" sz="2000" dirty="0">
                <a:solidFill>
                  <a:srgbClr val="000000"/>
                </a:solidFill>
                <a:cs typeface="Times New Roman" pitchFamily="18" charset="0"/>
              </a:rPr>
              <a:t>, ..., </a:t>
            </a:r>
            <a:r>
              <a:rPr lang="en-US" sz="2000" i="1" dirty="0" err="1">
                <a:solidFill>
                  <a:srgbClr val="000000"/>
                </a:solidFill>
                <a:cs typeface="Times New Roman" pitchFamily="18" charset="0"/>
              </a:rPr>
              <a:t>R</a:t>
            </a:r>
            <a:r>
              <a:rPr lang="en-US" sz="2000" baseline="-30000" dirty="0" err="1">
                <a:solidFill>
                  <a:srgbClr val="000000"/>
                </a:solidFill>
                <a:cs typeface="Times New Roman" pitchFamily="18" charset="0"/>
              </a:rPr>
              <a:t>n</a:t>
            </a:r>
            <a:r>
              <a:rPr lang="en-US" sz="2000" dirty="0">
                <a:solidFill>
                  <a:srgbClr val="000000"/>
                </a:solidFill>
                <a:cs typeface="Times New Roman" pitchFamily="18" charset="0"/>
              </a:rPr>
              <a:t>) is equal to </a:t>
            </a:r>
            <a:r>
              <a:rPr lang="en-US" sz="2000" i="1" dirty="0">
                <a:solidFill>
                  <a:srgbClr val="000000"/>
                </a:solidFill>
                <a:cs typeface="Times New Roman" pitchFamily="18" charset="0"/>
              </a:rPr>
              <a:t>R</a:t>
            </a:r>
            <a:r>
              <a:rPr lang="en-US" sz="2000" dirty="0">
                <a:solidFill>
                  <a:srgbClr val="000000"/>
                </a:solidFill>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689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68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a:xfrm>
            <a:off x="254000" y="215900"/>
            <a:ext cx="8712200" cy="1143000"/>
          </a:xfrm>
        </p:spPr>
        <p:txBody>
          <a:bodyPr/>
          <a:lstStyle/>
          <a:p>
            <a:r>
              <a:rPr lang="en-US" sz="3200" dirty="0" smtClean="0">
                <a:cs typeface="Times New Roman" pitchFamily="18" charset="0"/>
              </a:rPr>
              <a:t>Fifth </a:t>
            </a:r>
            <a:r>
              <a:rPr lang="en-US" sz="3200" dirty="0">
                <a:cs typeface="Times New Roman" pitchFamily="18" charset="0"/>
              </a:rPr>
              <a:t>Normal </a:t>
            </a:r>
            <a:r>
              <a:rPr lang="en-US" sz="3200" dirty="0" smtClean="0">
                <a:cs typeface="Times New Roman" pitchFamily="18" charset="0"/>
              </a:rPr>
              <a:t>Form</a:t>
            </a:r>
            <a:endParaRPr lang="en-US" sz="3200" dirty="0">
              <a:cs typeface="Times New Roman" pitchFamily="18" charset="0"/>
            </a:endParaRPr>
          </a:p>
        </p:txBody>
      </p:sp>
      <p:sp>
        <p:nvSpPr>
          <p:cNvPr id="337923" name="Rectangle 3"/>
          <p:cNvSpPr>
            <a:spLocks noGrp="1" noChangeArrowheads="1"/>
          </p:cNvSpPr>
          <p:nvPr>
            <p:ph sz="quarter" idx="1"/>
          </p:nvPr>
        </p:nvSpPr>
        <p:spPr>
          <a:xfrm>
            <a:off x="254000" y="1358900"/>
            <a:ext cx="7811827" cy="4978400"/>
          </a:xfrm>
        </p:spPr>
        <p:txBody>
          <a:bodyPr>
            <a:normAutofit/>
          </a:bodyPr>
          <a:lstStyle/>
          <a:p>
            <a:pPr marL="609600" indent="-609600" algn="just"/>
            <a:endParaRPr lang="en-US" dirty="0" smtClean="0">
              <a:solidFill>
                <a:srgbClr val="000000"/>
              </a:solidFill>
              <a:cs typeface="Times New Roman" pitchFamily="18" charset="0"/>
            </a:endParaRPr>
          </a:p>
          <a:p>
            <a:pPr marL="609600" indent="-609600" algn="just"/>
            <a:r>
              <a:rPr lang="en-US" dirty="0" smtClean="0">
                <a:solidFill>
                  <a:srgbClr val="000000"/>
                </a:solidFill>
                <a:cs typeface="Times New Roman" pitchFamily="18" charset="0"/>
              </a:rPr>
              <a:t>A </a:t>
            </a:r>
            <a:r>
              <a:rPr lang="en-US" dirty="0">
                <a:solidFill>
                  <a:srgbClr val="000000"/>
                </a:solidFill>
                <a:cs typeface="Times New Roman" pitchFamily="18" charset="0"/>
              </a:rPr>
              <a:t>relation schema </a:t>
            </a:r>
            <a:r>
              <a:rPr lang="en-US" i="1" dirty="0">
                <a:solidFill>
                  <a:srgbClr val="000000"/>
                </a:solidFill>
                <a:cs typeface="Times New Roman" pitchFamily="18" charset="0"/>
              </a:rPr>
              <a:t>R</a:t>
            </a:r>
            <a:r>
              <a:rPr lang="en-US" dirty="0">
                <a:solidFill>
                  <a:srgbClr val="000000"/>
                </a:solidFill>
                <a:cs typeface="Times New Roman" pitchFamily="18" charset="0"/>
              </a:rPr>
              <a:t> is in </a:t>
            </a:r>
            <a:r>
              <a:rPr lang="en-US" b="1" dirty="0">
                <a:solidFill>
                  <a:srgbClr val="000000"/>
                </a:solidFill>
                <a:cs typeface="Times New Roman" pitchFamily="18" charset="0"/>
              </a:rPr>
              <a:t>fifth normal form </a:t>
            </a:r>
            <a:r>
              <a:rPr lang="en-US" dirty="0">
                <a:solidFill>
                  <a:srgbClr val="000000"/>
                </a:solidFill>
                <a:cs typeface="Times New Roman" pitchFamily="18" charset="0"/>
              </a:rPr>
              <a:t>(</a:t>
            </a:r>
            <a:r>
              <a:rPr lang="en-US" b="1" dirty="0">
                <a:solidFill>
                  <a:srgbClr val="000000"/>
                </a:solidFill>
                <a:cs typeface="Times New Roman" pitchFamily="18" charset="0"/>
              </a:rPr>
              <a:t>5NF</a:t>
            </a:r>
            <a:r>
              <a:rPr lang="en-US" dirty="0">
                <a:solidFill>
                  <a:srgbClr val="000000"/>
                </a:solidFill>
                <a:cs typeface="Times New Roman" pitchFamily="18" charset="0"/>
              </a:rPr>
              <a:t>) (or </a:t>
            </a:r>
            <a:r>
              <a:rPr lang="en-US" b="1" dirty="0">
                <a:solidFill>
                  <a:srgbClr val="000000"/>
                </a:solidFill>
                <a:cs typeface="Times New Roman" pitchFamily="18" charset="0"/>
              </a:rPr>
              <a:t>Project-Join Normal Form </a:t>
            </a:r>
            <a:r>
              <a:rPr lang="en-US" dirty="0">
                <a:solidFill>
                  <a:srgbClr val="000000"/>
                </a:solidFill>
                <a:cs typeface="Times New Roman" pitchFamily="18" charset="0"/>
              </a:rPr>
              <a:t>(</a:t>
            </a:r>
            <a:r>
              <a:rPr lang="en-US" b="1" dirty="0">
                <a:solidFill>
                  <a:srgbClr val="000000"/>
                </a:solidFill>
                <a:cs typeface="Times New Roman" pitchFamily="18" charset="0"/>
              </a:rPr>
              <a:t>PJNF</a:t>
            </a:r>
            <a:r>
              <a:rPr lang="en-US" dirty="0">
                <a:solidFill>
                  <a:srgbClr val="000000"/>
                </a:solidFill>
                <a:cs typeface="Times New Roman" pitchFamily="18" charset="0"/>
              </a:rPr>
              <a:t>)) with respect to a set </a:t>
            </a:r>
            <a:r>
              <a:rPr lang="en-US" i="1" dirty="0">
                <a:solidFill>
                  <a:srgbClr val="000000"/>
                </a:solidFill>
                <a:cs typeface="Times New Roman" pitchFamily="18" charset="0"/>
              </a:rPr>
              <a:t>F</a:t>
            </a:r>
            <a:r>
              <a:rPr lang="en-US" dirty="0">
                <a:solidFill>
                  <a:srgbClr val="000000"/>
                </a:solidFill>
                <a:cs typeface="Times New Roman" pitchFamily="18" charset="0"/>
              </a:rPr>
              <a:t> of functional, </a:t>
            </a:r>
            <a:r>
              <a:rPr lang="en-US" dirty="0" err="1">
                <a:solidFill>
                  <a:srgbClr val="000000"/>
                </a:solidFill>
                <a:cs typeface="Times New Roman" pitchFamily="18" charset="0"/>
              </a:rPr>
              <a:t>multivalued</a:t>
            </a:r>
            <a:r>
              <a:rPr lang="en-US" dirty="0">
                <a:solidFill>
                  <a:srgbClr val="000000"/>
                </a:solidFill>
                <a:cs typeface="Times New Roman" pitchFamily="18" charset="0"/>
              </a:rPr>
              <a:t>, and join dependencies if, for every nontrivial join dependency JD(</a:t>
            </a:r>
            <a:r>
              <a:rPr lang="en-US" i="1" dirty="0">
                <a:solidFill>
                  <a:srgbClr val="000000"/>
                </a:solidFill>
                <a:cs typeface="Times New Roman" pitchFamily="18" charset="0"/>
              </a:rPr>
              <a:t>R</a:t>
            </a:r>
            <a:r>
              <a:rPr lang="en-US" baseline="-30000" dirty="0">
                <a:solidFill>
                  <a:srgbClr val="000000"/>
                </a:solidFill>
                <a:cs typeface="Times New Roman" pitchFamily="18" charset="0"/>
              </a:rPr>
              <a:t>1</a:t>
            </a:r>
            <a:r>
              <a:rPr lang="en-US" dirty="0">
                <a:solidFill>
                  <a:srgbClr val="000000"/>
                </a:solidFill>
                <a:cs typeface="Times New Roman" pitchFamily="18" charset="0"/>
              </a:rPr>
              <a:t>, </a:t>
            </a:r>
            <a:r>
              <a:rPr lang="en-US" i="1" dirty="0">
                <a:solidFill>
                  <a:srgbClr val="000000"/>
                </a:solidFill>
                <a:cs typeface="Times New Roman" pitchFamily="18" charset="0"/>
              </a:rPr>
              <a:t>R</a:t>
            </a:r>
            <a:r>
              <a:rPr lang="en-US" baseline="-30000" dirty="0">
                <a:solidFill>
                  <a:srgbClr val="000000"/>
                </a:solidFill>
                <a:cs typeface="Times New Roman" pitchFamily="18" charset="0"/>
              </a:rPr>
              <a:t>2</a:t>
            </a:r>
            <a:r>
              <a:rPr lang="en-US" dirty="0">
                <a:solidFill>
                  <a:srgbClr val="000000"/>
                </a:solidFill>
                <a:cs typeface="Times New Roman" pitchFamily="18" charset="0"/>
              </a:rPr>
              <a:t>, ..., </a:t>
            </a:r>
            <a:r>
              <a:rPr lang="en-US" i="1" dirty="0" err="1">
                <a:solidFill>
                  <a:srgbClr val="000000"/>
                </a:solidFill>
                <a:cs typeface="Times New Roman" pitchFamily="18" charset="0"/>
              </a:rPr>
              <a:t>R</a:t>
            </a:r>
            <a:r>
              <a:rPr lang="en-US" baseline="-30000" dirty="0" err="1">
                <a:solidFill>
                  <a:srgbClr val="000000"/>
                </a:solidFill>
                <a:cs typeface="Times New Roman" pitchFamily="18" charset="0"/>
              </a:rPr>
              <a:t>n</a:t>
            </a:r>
            <a:r>
              <a:rPr lang="en-US" dirty="0">
                <a:solidFill>
                  <a:srgbClr val="000000"/>
                </a:solidFill>
                <a:cs typeface="Times New Roman" pitchFamily="18" charset="0"/>
              </a:rPr>
              <a:t>) in </a:t>
            </a:r>
            <a:r>
              <a:rPr lang="en-US" i="1" dirty="0">
                <a:solidFill>
                  <a:srgbClr val="000000"/>
                </a:solidFill>
                <a:cs typeface="Times New Roman" pitchFamily="18" charset="0"/>
              </a:rPr>
              <a:t>F</a:t>
            </a:r>
            <a:r>
              <a:rPr lang="en-US" baseline="30000" dirty="0">
                <a:solidFill>
                  <a:srgbClr val="000000"/>
                </a:solidFill>
                <a:cs typeface="Times New Roman" pitchFamily="18" charset="0"/>
              </a:rPr>
              <a:t>+</a:t>
            </a:r>
            <a:r>
              <a:rPr lang="en-US" dirty="0">
                <a:solidFill>
                  <a:srgbClr val="000000"/>
                </a:solidFill>
                <a:cs typeface="Times New Roman" pitchFamily="18" charset="0"/>
              </a:rPr>
              <a:t> (that is, implied by </a:t>
            </a:r>
            <a:r>
              <a:rPr lang="en-US" i="1" dirty="0">
                <a:solidFill>
                  <a:srgbClr val="000000"/>
                </a:solidFill>
                <a:cs typeface="Times New Roman" pitchFamily="18" charset="0"/>
              </a:rPr>
              <a:t>F</a:t>
            </a:r>
            <a:r>
              <a:rPr lang="en-US" dirty="0">
                <a:solidFill>
                  <a:srgbClr val="000000"/>
                </a:solidFill>
                <a:cs typeface="Times New Roman" pitchFamily="18" charset="0"/>
              </a:rPr>
              <a:t>), every </a:t>
            </a:r>
            <a:r>
              <a:rPr lang="en-US" i="1" dirty="0" err="1">
                <a:solidFill>
                  <a:srgbClr val="000000"/>
                </a:solidFill>
                <a:cs typeface="Times New Roman" pitchFamily="18" charset="0"/>
              </a:rPr>
              <a:t>R</a:t>
            </a:r>
            <a:r>
              <a:rPr lang="en-US" baseline="-30000" dirty="0" err="1">
                <a:solidFill>
                  <a:srgbClr val="000000"/>
                </a:solidFill>
                <a:cs typeface="Times New Roman" pitchFamily="18" charset="0"/>
              </a:rPr>
              <a:t>i</a:t>
            </a:r>
            <a:r>
              <a:rPr lang="en-US" dirty="0">
                <a:solidFill>
                  <a:srgbClr val="000000"/>
                </a:solidFill>
                <a:cs typeface="Times New Roman" pitchFamily="18" charset="0"/>
              </a:rPr>
              <a:t> is a </a:t>
            </a:r>
            <a:r>
              <a:rPr lang="en-US" dirty="0" err="1">
                <a:solidFill>
                  <a:srgbClr val="000000"/>
                </a:solidFill>
                <a:cs typeface="Times New Roman" pitchFamily="18" charset="0"/>
              </a:rPr>
              <a:t>superkey</a:t>
            </a:r>
            <a:r>
              <a:rPr lang="en-US" dirty="0">
                <a:solidFill>
                  <a:srgbClr val="000000"/>
                </a:solidFill>
                <a:cs typeface="Times New Roman" pitchFamily="18" charset="0"/>
              </a:rPr>
              <a:t> of </a:t>
            </a:r>
            <a:r>
              <a:rPr lang="en-US" i="1" dirty="0">
                <a:solidFill>
                  <a:srgbClr val="000000"/>
                </a:solidFill>
                <a:cs typeface="Times New Roman" pitchFamily="18" charset="0"/>
              </a:rPr>
              <a:t>R</a:t>
            </a:r>
            <a:r>
              <a:rPr lang="en-US" dirty="0">
                <a:solidFill>
                  <a:srgbClr val="000000"/>
                </a:solidFill>
                <a:cs typeface="Times New Roman" pitchFamily="18" charset="0"/>
              </a:rPr>
              <a:t>.</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17781</TotalTime>
  <Words>3390</Words>
  <Application>Microsoft Office PowerPoint</Application>
  <PresentationFormat>On-screen Show (4:3)</PresentationFormat>
  <Paragraphs>383</Paragraphs>
  <Slides>40</Slides>
  <Notes>14</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Arial</vt:lpstr>
      <vt:lpstr>Century Schoolbook</vt:lpstr>
      <vt:lpstr>Courier New</vt:lpstr>
      <vt:lpstr>MathematicalPi 1</vt:lpstr>
      <vt:lpstr>Monotype Sorts</vt:lpstr>
      <vt:lpstr>Symbol</vt:lpstr>
      <vt:lpstr>Tahoma</vt:lpstr>
      <vt:lpstr>Times New Roman</vt:lpstr>
      <vt:lpstr>Wingdings</vt:lpstr>
      <vt:lpstr>Wingdings 2</vt:lpstr>
      <vt:lpstr>Wingdings 3</vt:lpstr>
      <vt:lpstr>Oriel</vt:lpstr>
      <vt:lpstr>Relational Database Design Algorithms</vt:lpstr>
      <vt:lpstr> DESIGNING A SET OF RELATIONS </vt:lpstr>
      <vt:lpstr>Properties of Relational Decompositions</vt:lpstr>
      <vt:lpstr>Properties of Relational Decompositions</vt:lpstr>
      <vt:lpstr>Algorithm : for Testing Lossless Join Property </vt:lpstr>
      <vt:lpstr>Properties of Relational Decompositions (8)  Lossless (nonadditive) join test for n-ary decompositions.  </vt:lpstr>
      <vt:lpstr>Properties of Relational Decompositions (8) </vt:lpstr>
      <vt:lpstr>Properties of Relational Decompositions (8) </vt:lpstr>
      <vt:lpstr>Properties of Relational Decompositions (8) </vt:lpstr>
      <vt:lpstr>Properties of Relational Decompositions (8)  Lossless (nonadditive) join test for n-ary decompositions.  (a) Case 1: Decomposition of EMP_PROJ into EMP_PROJ1 and EMP_LOCS</vt:lpstr>
      <vt:lpstr>Properties of Relational Decompositions (8)  Lossless (nonadditive) join test for n-ary decompositions.  (a) Case 1: Decomposition of EMP_PROJ into EMP_PROJ1 and EMP_LOCS</vt:lpstr>
      <vt:lpstr>Testing Binary Decompositions for Lossless Join Property: </vt:lpstr>
      <vt:lpstr>Algorithm: Decomposition into 3NF with Dependency Preservation &amp;Lossless Join</vt:lpstr>
      <vt:lpstr>Example</vt:lpstr>
      <vt:lpstr>Example: property LoT</vt:lpstr>
      <vt:lpstr>Algorithm : For Relational Decomposition into BCNF with Lossless join property</vt:lpstr>
      <vt:lpstr>Example: Teach Relation</vt:lpstr>
      <vt:lpstr>How to find Relation is in BCNF?</vt:lpstr>
      <vt:lpstr>BCNF Example</vt:lpstr>
      <vt:lpstr>BCNF</vt:lpstr>
      <vt:lpstr>Exercise Problem</vt:lpstr>
      <vt:lpstr>Solution</vt:lpstr>
      <vt:lpstr>Decompositions of previous question</vt:lpstr>
      <vt:lpstr>Discussion of Normalization Algorithms: Problems:</vt:lpstr>
      <vt:lpstr>Issues with null-value joins</vt:lpstr>
      <vt:lpstr>  Result of applying NATURAL JOIN to the EMPLOYEE and DEPARTMENT relations</vt:lpstr>
      <vt:lpstr>  Result of applying LEFT OUTER JOIN to EMPLOYEE and DEPARTMENT.</vt:lpstr>
      <vt:lpstr>  The “dangling tuple” problem  The relation EMPLOYEE_1</vt:lpstr>
      <vt:lpstr>  The “dangling tuple” problem   (b) The relation EMPLOYEE_2 (includes DNUM attribute with null values).  (c) The relation EMPLOYEE_3 (includes DNUM attribute but does not include tuples for which DNUM has null values).</vt:lpstr>
      <vt:lpstr>Multivalued Dependencies and Fourth Normal Form   (a) The EMP relation with two MVDs: ENAME —&gt;&gt; PNAME and ENAME —&gt;&gt; DNAME.  (b) Decomposing the EMP relation into two 4NF relations</vt:lpstr>
      <vt:lpstr>Multivalued Dependencies (MVD)</vt:lpstr>
      <vt:lpstr>Example: MVD</vt:lpstr>
      <vt:lpstr>Tuples Implied by name-&gt;&gt;phones</vt:lpstr>
      <vt:lpstr>Fourth Normal Form </vt:lpstr>
      <vt:lpstr>Fourth Normal Form   Decomposing a relation state of EMP that is not in 4NF. (a) EMP relation with additional tuples. (b) Two corresponding 4NF relations EMP_PROJECTS and EMP_DEPENDENTS.</vt:lpstr>
      <vt:lpstr>Lossless (Non-additive) Join Decomposition into 4NF Relations:</vt:lpstr>
      <vt:lpstr>Fourth Normal Form</vt:lpstr>
      <vt:lpstr>MVD and JD </vt:lpstr>
      <vt:lpstr>Join DependencY (JD)</vt:lpstr>
      <vt:lpstr>Fifth Normal Form</vt:lpstr>
    </vt:vector>
  </TitlesOfParts>
  <Company>Addsion-Wesley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Database Systems</dc:title>
  <dc:creator>Shamkant B. Navathe</dc:creator>
  <cp:lastModifiedBy>zareen alamgir</cp:lastModifiedBy>
  <cp:revision>597</cp:revision>
  <cp:lastPrinted>2001-05-28T10:10:18Z</cp:lastPrinted>
  <dcterms:created xsi:type="dcterms:W3CDTF">1998-07-18T17:10:54Z</dcterms:created>
  <dcterms:modified xsi:type="dcterms:W3CDTF">2015-04-24T03:30:32Z</dcterms:modified>
</cp:coreProperties>
</file>