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94.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http://customooxmlschemas.google.com/">
      <go:slidesCustomData xmlns:go="http://customooxmlschemas.google.com/" r:id="rId100" roundtripDataSignature="AMtx7mixSxvr4dAC3AUla4dpDhmkh5JU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0" Type="http://customschemas.google.com/relationships/presentationmetadata" Target="meta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9" name="Google Shape;13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5" name="Google Shape;14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3" name="Google Shape;153;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CREATE SCHEMA</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solidFill>
                  <a:srgbClr val="000000"/>
                </a:solidFill>
              </a:rPr>
              <a:t>Specifies a new database schema by giving it a name</a:t>
            </a:r>
            <a:endParaRPr/>
          </a:p>
          <a:p>
            <a:pPr indent="0" lvl="0" marL="0" rtl="0" algn="l">
              <a:spcBef>
                <a:spcPts val="360"/>
              </a:spcBef>
              <a:spcAft>
                <a:spcPts val="0"/>
              </a:spcAft>
              <a:buNone/>
            </a:pPr>
            <a:r>
              <a:t/>
            </a:r>
            <a:endParaRPr>
              <a:solidFill>
                <a:srgbClr val="000000"/>
              </a:solidFill>
            </a:endParaRPr>
          </a:p>
          <a:p>
            <a:pPr indent="0" lvl="0" marL="0" rtl="0" algn="l">
              <a:spcBef>
                <a:spcPts val="360"/>
              </a:spcBef>
              <a:spcAft>
                <a:spcPts val="0"/>
              </a:spcAft>
              <a:buNone/>
            </a:pPr>
            <a:r>
              <a:rPr lang="en-US">
                <a:solidFill>
                  <a:srgbClr val="000000"/>
                </a:solidFill>
              </a:rPr>
              <a:t>Example:</a:t>
            </a:r>
            <a:br>
              <a:rPr lang="en-US" u="sng">
                <a:solidFill>
                  <a:srgbClr val="000000"/>
                </a:solidFill>
              </a:rPr>
            </a:br>
            <a:br>
              <a:rPr lang="en-US" u="sng">
                <a:solidFill>
                  <a:srgbClr val="000000"/>
                </a:solidFill>
              </a:rPr>
            </a:br>
            <a:r>
              <a:rPr b="1" lang="en-US">
                <a:solidFill>
                  <a:srgbClr val="000000"/>
                </a:solidFill>
              </a:rPr>
              <a:t>CREATE SCHEMA </a:t>
            </a:r>
            <a:r>
              <a:rPr lang="en-US">
                <a:solidFill>
                  <a:srgbClr val="000000"/>
                </a:solidFill>
              </a:rPr>
              <a:t>COMPANY</a:t>
            </a:r>
            <a:r>
              <a:rPr b="1" lang="en-US">
                <a:solidFill>
                  <a:srgbClr val="000000"/>
                </a:solidFill>
              </a:rPr>
              <a:t> AUTHORIZATION </a:t>
            </a:r>
            <a:r>
              <a:rPr lang="en-US">
                <a:solidFill>
                  <a:srgbClr val="000000"/>
                </a:solidFill>
              </a:rPr>
              <a:t>Zareen</a:t>
            </a:r>
            <a:r>
              <a:rPr b="1" lang="en-US">
                <a:solidFill>
                  <a:srgbClr val="000000"/>
                </a:solidFill>
              </a:rPr>
              <a:t>; </a:t>
            </a:r>
            <a:endParaRPr>
              <a:solidFill>
                <a:srgbClr val="000000"/>
              </a:solidFill>
            </a:endParaRPr>
          </a:p>
          <a:p>
            <a:pPr indent="0" lvl="0" marL="0" rtl="0" algn="l">
              <a:spcBef>
                <a:spcPts val="360"/>
              </a:spcBef>
              <a:spcAft>
                <a:spcPts val="0"/>
              </a:spcAft>
              <a:buNone/>
            </a:pPr>
            <a:r>
              <a:t/>
            </a:r>
            <a:endParaRPr/>
          </a:p>
        </p:txBody>
      </p:sp>
      <p:sp>
        <p:nvSpPr>
          <p:cNvPr id="154" name="Google Shape;154;p3: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155" name="Google Shape;155;p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2" name="Google Shape;162;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can declare a domain in SQL</a:t>
            </a:r>
            <a:endParaRPr/>
          </a:p>
          <a:p>
            <a:pPr indent="0" lvl="0" marL="0" rtl="0" algn="l">
              <a:spcBef>
                <a:spcPts val="360"/>
              </a:spcBef>
              <a:spcAft>
                <a:spcPts val="0"/>
              </a:spcAft>
              <a:buNone/>
            </a:pPr>
            <a:r>
              <a:rPr lang="en-US"/>
              <a:t>This makes it easier to change the data type of numerous attributes in a schema</a:t>
            </a:r>
            <a:endParaRPr/>
          </a:p>
          <a:p>
            <a:pPr indent="0" lvl="0" marL="0" rtl="0" algn="l">
              <a:spcBef>
                <a:spcPts val="360"/>
              </a:spcBef>
              <a:spcAft>
                <a:spcPts val="0"/>
              </a:spcAft>
              <a:buNone/>
            </a:pPr>
            <a:r>
              <a:rPr lang="en-US"/>
              <a:t>Improves Schema readability</a:t>
            </a:r>
            <a:endParaRPr/>
          </a:p>
          <a:p>
            <a:pPr indent="0" lvl="0" marL="0" rtl="0" algn="l">
              <a:spcBef>
                <a:spcPts val="360"/>
              </a:spcBef>
              <a:spcAft>
                <a:spcPts val="0"/>
              </a:spcAft>
              <a:buNone/>
            </a:pPr>
            <a:r>
              <a:rPr lang="en-US"/>
              <a:t>Not available in many SQL implementation like (T-SQL)</a:t>
            </a:r>
            <a:endParaRPr/>
          </a:p>
          <a:p>
            <a:pPr indent="0" lvl="0" marL="0" rtl="0" algn="l">
              <a:spcBef>
                <a:spcPts val="360"/>
              </a:spcBef>
              <a:spcAft>
                <a:spcPts val="0"/>
              </a:spcAft>
              <a:buNone/>
            </a:pPr>
            <a:r>
              <a:t/>
            </a:r>
            <a:endParaRPr/>
          </a:p>
          <a:p>
            <a:pPr indent="0" lvl="0" marL="0" rtl="0" algn="l">
              <a:spcBef>
                <a:spcPts val="360"/>
              </a:spcBef>
              <a:spcAft>
                <a:spcPts val="0"/>
              </a:spcAft>
              <a:buClr>
                <a:srgbClr val="000000"/>
              </a:buClr>
              <a:buSzPts val="1200"/>
              <a:buFont typeface="Times New Roman"/>
              <a:buNone/>
            </a:pPr>
            <a:r>
              <a:rPr b="1" lang="en-US">
                <a:solidFill>
                  <a:srgbClr val="000000"/>
                </a:solidFill>
              </a:rPr>
              <a:t>      CREATE DOMAIN SSN_TYPE AS CHAR(9);</a:t>
            </a:r>
            <a:endParaRPr/>
          </a:p>
          <a:p>
            <a:pPr indent="0" lvl="0" marL="0" rtl="0" algn="l">
              <a:spcBef>
                <a:spcPts val="360"/>
              </a:spcBef>
              <a:spcAft>
                <a:spcPts val="0"/>
              </a:spcAft>
              <a:buNone/>
            </a:pPr>
            <a:r>
              <a:t/>
            </a:r>
            <a:endParaRPr/>
          </a:p>
        </p:txBody>
      </p:sp>
      <p:sp>
        <p:nvSpPr>
          <p:cNvPr id="163" name="Google Shape;163;p4: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164" name="Google Shape;164;p4: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1" name="Google Shape;171;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can create table in SQL-server without specifying Primary Key. But in this case the table will have duplicate value and will not fulfill the constraint of the relational DB</a:t>
            </a:r>
            <a:endParaRPr/>
          </a:p>
        </p:txBody>
      </p:sp>
      <p:sp>
        <p:nvSpPr>
          <p:cNvPr id="172" name="Google Shape;172;p5: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173" name="Google Shape;173;p5: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0" name="Google Shape;180;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Set Default you should have assigned some default value to the foreign key Mgrssn in department table and that default value should be present in PK SSN in Employee table otherwise you can get an error when u delete a tuple. (because when tuple is deleted it will try to assign default value and if the default is not present then we get foreign key error)</a:t>
            </a:r>
            <a:endParaRPr/>
          </a:p>
          <a:p>
            <a:pPr indent="0" lvl="0" marL="0" rtl="0" algn="l">
              <a:spcBef>
                <a:spcPts val="360"/>
              </a:spcBef>
              <a:spcAft>
                <a:spcPts val="0"/>
              </a:spcAft>
              <a:buNone/>
            </a:pPr>
            <a:r>
              <a:t/>
            </a:r>
            <a:endParaRPr/>
          </a:p>
          <a:p>
            <a:pPr indent="0" lvl="0" marL="0" marR="0" rtl="0" algn="l">
              <a:lnSpc>
                <a:spcPct val="100000"/>
              </a:lnSpc>
              <a:spcBef>
                <a:spcPts val="360"/>
              </a:spcBef>
              <a:spcAft>
                <a:spcPts val="0"/>
              </a:spcAft>
              <a:buClr>
                <a:schemeClr val="dk1"/>
              </a:buClr>
              <a:buSzPts val="1200"/>
              <a:buFont typeface="Times New Roman"/>
              <a:buNone/>
            </a:pPr>
            <a:r>
              <a:rPr b="1" lang="en-US" sz="1200"/>
              <a:t>On Delete CASCADE : </a:t>
            </a:r>
            <a:r>
              <a:rPr lang="en-US" sz="1200"/>
              <a:t> to delete a row with a key referenced by foreign keys  in existing rows in other tables, all rows that contain those foreign keys are also deleted. </a:t>
            </a:r>
            <a:endParaRPr/>
          </a:p>
          <a:p>
            <a:pPr indent="0" lvl="0" marL="0" rtl="0" algn="l">
              <a:spcBef>
                <a:spcPts val="360"/>
              </a:spcBef>
              <a:spcAft>
                <a:spcPts val="0"/>
              </a:spcAft>
              <a:buNone/>
            </a:pPr>
            <a:r>
              <a:t/>
            </a:r>
            <a:endParaRPr/>
          </a:p>
        </p:txBody>
      </p:sp>
      <p:sp>
        <p:nvSpPr>
          <p:cNvPr id="181" name="Google Shape;181;p6: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182" name="Google Shape;182;p6: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9" name="Google Shape;189;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u="none" strike="noStrike">
                <a:solidFill>
                  <a:schemeClr val="dk1"/>
                </a:solidFill>
                <a:latin typeface="Times New Roman"/>
                <a:ea typeface="Times New Roman"/>
                <a:cs typeface="Times New Roman"/>
                <a:sym typeface="Times New Roman"/>
              </a:rPr>
              <a:t>In general, the action taken by the DBMS for SET NULL or SET DEFAULT is the same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for both ON DELETE and ON UPDATE: The value of the affected referencing attributes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is changed to NULL for SET NULL and to the specified default value of the referencing</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attribute for SET DEFAULT. The action for CASCADE ON DELETE is to delete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all the referencing tuples, whereas the action for CASCADE ON UPDATE is to change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value of the referencing foreign key attribute(s) to the updated (new) primary</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key value for all the referencing tuples. It is the responsibility of the database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designer to choose the appropriate action and to specify it in the database schema.</a:t>
            </a:r>
            <a:endParaRPr/>
          </a:p>
        </p:txBody>
      </p:sp>
      <p:sp>
        <p:nvSpPr>
          <p:cNvPr id="190" name="Google Shape;190;p7: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191" name="Google Shape;191;p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8" name="Google Shape;19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5" name="Google Shape;20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2" name="Google Shape;212;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0: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214" name="Google Shape;214;p1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1" name="Google Shape;22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9" name="Google Shape;22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6" name="Google Shape;236;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3" name="Google Shape;243;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1200"/>
              <a:buFont typeface="Times New Roman"/>
              <a:buNone/>
            </a:pPr>
            <a:r>
              <a:rPr lang="en-US" sz="1200">
                <a:solidFill>
                  <a:srgbClr val="000000"/>
                </a:solidFill>
              </a:rPr>
              <a:t>SQL relations can be constrained to be sets by specifying PRIMARY KEY or UNIQUE attributes, or by using the DISTINCT option in a query</a:t>
            </a:r>
            <a:endParaRPr sz="1400">
              <a:solidFill>
                <a:srgbClr val="000000"/>
              </a:solidFill>
            </a:endParaRPr>
          </a:p>
          <a:p>
            <a:pPr indent="0" lvl="0" marL="0" rtl="0" algn="l">
              <a:spcBef>
                <a:spcPts val="360"/>
              </a:spcBef>
              <a:spcAft>
                <a:spcPts val="0"/>
              </a:spcAft>
              <a:buNone/>
            </a:pPr>
            <a:r>
              <a:t/>
            </a:r>
            <a:endParaRPr/>
          </a:p>
        </p:txBody>
      </p:sp>
      <p:sp>
        <p:nvSpPr>
          <p:cNvPr id="244" name="Google Shape;244;p14: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245" name="Google Shape;245;p14: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4" name="Google Shape;25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1" name="Google Shape;261;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rmAutofit/>
          </a:bodyPr>
          <a:lstStyle/>
          <a:p>
            <a:pPr indent="0" lvl="1" marL="0" marR="0" rtl="0" algn="l">
              <a:lnSpc>
                <a:spcPct val="100000"/>
              </a:lnSpc>
              <a:spcBef>
                <a:spcPts val="0"/>
              </a:spcBef>
              <a:spcAft>
                <a:spcPts val="0"/>
              </a:spcAft>
              <a:buClr>
                <a:srgbClr val="000000"/>
              </a:buClr>
              <a:buSzPts val="1800"/>
              <a:buFont typeface="Times New Roman"/>
              <a:buNone/>
            </a:pPr>
            <a:r>
              <a:rPr lang="en-US" sz="1800">
                <a:solidFill>
                  <a:srgbClr val="000000"/>
                </a:solidFill>
              </a:rPr>
              <a:t>Basic SQL queries correspond to using the SELECT, PROJECT, and JOIN operations of the relational algebra</a:t>
            </a:r>
            <a:endParaRPr/>
          </a:p>
          <a:p>
            <a:pPr indent="0" lvl="1" marL="0" marR="0" rtl="0" algn="l">
              <a:lnSpc>
                <a:spcPct val="100000"/>
              </a:lnSpc>
              <a:spcBef>
                <a:spcPts val="540"/>
              </a:spcBef>
              <a:spcAft>
                <a:spcPts val="0"/>
              </a:spcAft>
              <a:buClr>
                <a:schemeClr val="dk1"/>
              </a:buClr>
              <a:buSzPts val="1800"/>
              <a:buFont typeface="Times New Roman"/>
              <a:buNone/>
            </a:pPr>
            <a:r>
              <a:t/>
            </a:r>
            <a:endParaRPr sz="1800">
              <a:solidFill>
                <a:srgbClr val="000000"/>
              </a:solidFill>
            </a:endParaRPr>
          </a:p>
          <a:p>
            <a:pPr indent="0" lvl="1" marL="0" marR="0" rtl="0" algn="l">
              <a:lnSpc>
                <a:spcPct val="100000"/>
              </a:lnSpc>
              <a:spcBef>
                <a:spcPts val="540"/>
              </a:spcBef>
              <a:spcAft>
                <a:spcPts val="0"/>
              </a:spcAft>
              <a:buClr>
                <a:srgbClr val="000000"/>
              </a:buClr>
              <a:buSzPts val="1800"/>
              <a:buFont typeface="Times New Roman"/>
              <a:buNone/>
            </a:pPr>
            <a:r>
              <a:rPr lang="en-US" sz="1800">
                <a:solidFill>
                  <a:srgbClr val="000000"/>
                </a:solidFill>
              </a:rPr>
              <a:t>SELECT-clause specifies the </a:t>
            </a:r>
            <a:r>
              <a:rPr i="1" lang="en-US" sz="1800">
                <a:solidFill>
                  <a:srgbClr val="000000"/>
                </a:solidFill>
              </a:rPr>
              <a:t>projection attributes</a:t>
            </a:r>
            <a:r>
              <a:rPr lang="en-US" sz="1800">
                <a:solidFill>
                  <a:srgbClr val="000000"/>
                </a:solidFill>
              </a:rPr>
              <a:t> and the WHERE-clause specifies the </a:t>
            </a:r>
            <a:r>
              <a:rPr i="1" lang="en-US" sz="1800">
                <a:solidFill>
                  <a:srgbClr val="000000"/>
                </a:solidFill>
              </a:rPr>
              <a:t>selection condition</a:t>
            </a:r>
            <a:endParaRPr/>
          </a:p>
          <a:p>
            <a:pPr indent="0" lvl="0" marL="0" rtl="0" algn="l">
              <a:spcBef>
                <a:spcPts val="360"/>
              </a:spcBef>
              <a:spcAft>
                <a:spcPts val="0"/>
              </a:spcAft>
              <a:buNone/>
            </a:pPr>
            <a:r>
              <a:t/>
            </a:r>
            <a:endParaRPr/>
          </a:p>
        </p:txBody>
      </p:sp>
      <p:sp>
        <p:nvSpPr>
          <p:cNvPr id="262" name="Google Shape;262;p16: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263" name="Google Shape;263;p16: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2" name="Google Shape;272;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rmAutofit/>
          </a:bodyPr>
          <a:lstStyle/>
          <a:p>
            <a:pPr indent="0" lvl="1" marL="0" marR="0" rtl="0" algn="l">
              <a:lnSpc>
                <a:spcPct val="100000"/>
              </a:lnSpc>
              <a:spcBef>
                <a:spcPts val="0"/>
              </a:spcBef>
              <a:spcAft>
                <a:spcPts val="0"/>
              </a:spcAft>
              <a:buClr>
                <a:srgbClr val="000000"/>
              </a:buClr>
              <a:buSzPts val="1800"/>
              <a:buFont typeface="Times New Roman"/>
              <a:buNone/>
            </a:pPr>
            <a:r>
              <a:rPr lang="en-US" sz="1800">
                <a:solidFill>
                  <a:srgbClr val="000000"/>
                </a:solidFill>
              </a:rPr>
              <a:t>Basic SQL queries correspond to using the SELECT, PROJECT, and JOIN operations of the relational algebra</a:t>
            </a:r>
            <a:endParaRPr/>
          </a:p>
          <a:p>
            <a:pPr indent="0" lvl="1" marL="0" marR="0" rtl="0" algn="l">
              <a:lnSpc>
                <a:spcPct val="100000"/>
              </a:lnSpc>
              <a:spcBef>
                <a:spcPts val="540"/>
              </a:spcBef>
              <a:spcAft>
                <a:spcPts val="0"/>
              </a:spcAft>
              <a:buClr>
                <a:schemeClr val="dk1"/>
              </a:buClr>
              <a:buSzPts val="1800"/>
              <a:buFont typeface="Times New Roman"/>
              <a:buNone/>
            </a:pPr>
            <a:r>
              <a:t/>
            </a:r>
            <a:endParaRPr sz="1800">
              <a:solidFill>
                <a:srgbClr val="000000"/>
              </a:solidFill>
            </a:endParaRPr>
          </a:p>
          <a:p>
            <a:pPr indent="0" lvl="1" marL="0" marR="0" rtl="0" algn="l">
              <a:lnSpc>
                <a:spcPct val="100000"/>
              </a:lnSpc>
              <a:spcBef>
                <a:spcPts val="540"/>
              </a:spcBef>
              <a:spcAft>
                <a:spcPts val="0"/>
              </a:spcAft>
              <a:buClr>
                <a:srgbClr val="000000"/>
              </a:buClr>
              <a:buSzPts val="1800"/>
              <a:buFont typeface="Times New Roman"/>
              <a:buNone/>
            </a:pPr>
            <a:r>
              <a:rPr lang="en-US" sz="1800">
                <a:solidFill>
                  <a:srgbClr val="000000"/>
                </a:solidFill>
              </a:rPr>
              <a:t>SELECT-clause specifies the </a:t>
            </a:r>
            <a:r>
              <a:rPr i="1" lang="en-US" sz="1800">
                <a:solidFill>
                  <a:srgbClr val="000000"/>
                </a:solidFill>
              </a:rPr>
              <a:t>projection attributes</a:t>
            </a:r>
            <a:r>
              <a:rPr lang="en-US" sz="1800">
                <a:solidFill>
                  <a:srgbClr val="000000"/>
                </a:solidFill>
              </a:rPr>
              <a:t> and the WHERE-clause specifies the </a:t>
            </a:r>
            <a:r>
              <a:rPr i="1" lang="en-US" sz="1800">
                <a:solidFill>
                  <a:srgbClr val="000000"/>
                </a:solidFill>
              </a:rPr>
              <a:t>selection condition</a:t>
            </a:r>
            <a:endParaRPr/>
          </a:p>
          <a:p>
            <a:pPr indent="0" lvl="0" marL="0" rtl="0" algn="l">
              <a:spcBef>
                <a:spcPts val="360"/>
              </a:spcBef>
              <a:spcAft>
                <a:spcPts val="0"/>
              </a:spcAft>
              <a:buNone/>
            </a:pPr>
            <a:r>
              <a:t/>
            </a:r>
            <a:endParaRPr/>
          </a:p>
        </p:txBody>
      </p:sp>
      <p:sp>
        <p:nvSpPr>
          <p:cNvPr id="273" name="Google Shape;273;p17: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274" name="Google Shape;274;p1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8: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3" name="Google Shape;28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84" name="Google Shape;284;p18:notes"/>
          <p:cNvSpPr txBox="1"/>
          <p:nvPr>
            <p:ph idx="1" type="body"/>
          </p:nvPr>
        </p:nvSpPr>
        <p:spPr>
          <a:xfrm>
            <a:off x="913772" y="4343401"/>
            <a:ext cx="5030456"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rPr lang="en-US"/>
              <a:t>You can use </a:t>
            </a:r>
            <a:endParaRPr/>
          </a:p>
          <a:p>
            <a:pPr indent="0" lvl="0" marL="0" rtl="0" algn="l">
              <a:spcBef>
                <a:spcPts val="360"/>
              </a:spcBef>
              <a:spcAft>
                <a:spcPts val="0"/>
              </a:spcAft>
              <a:buNone/>
            </a:pPr>
            <a:r>
              <a:rPr lang="en-US"/>
              <a:t>Select  distinct * from Product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4" name="Google Shape;29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4" name="Google Shape;304;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rmAutofit/>
          </a:bodyPr>
          <a:lstStyle/>
          <a:p>
            <a:pPr indent="0" lvl="1" marL="457200" rtl="0" algn="l">
              <a:lnSpc>
                <a:spcPct val="90000"/>
              </a:lnSpc>
              <a:spcBef>
                <a:spcPts val="0"/>
              </a:spcBef>
              <a:spcAft>
                <a:spcPts val="0"/>
              </a:spcAft>
              <a:buNone/>
            </a:pPr>
            <a:r>
              <a:rPr lang="en-US" sz="2000">
                <a:solidFill>
                  <a:srgbClr val="000000"/>
                </a:solidFill>
              </a:rPr>
              <a:t>In above example, there are </a:t>
            </a:r>
            <a:r>
              <a:rPr i="1" lang="en-US" sz="2000">
                <a:solidFill>
                  <a:srgbClr val="000000"/>
                </a:solidFill>
              </a:rPr>
              <a:t>two</a:t>
            </a:r>
            <a:r>
              <a:rPr lang="en-US" sz="2000">
                <a:solidFill>
                  <a:srgbClr val="000000"/>
                </a:solidFill>
              </a:rPr>
              <a:t>  join conditions</a:t>
            </a:r>
            <a:endParaRPr/>
          </a:p>
          <a:p>
            <a:pPr indent="0" lvl="1" marL="457200" rtl="0" algn="l">
              <a:lnSpc>
                <a:spcPct val="90000"/>
              </a:lnSpc>
              <a:spcBef>
                <a:spcPts val="600"/>
              </a:spcBef>
              <a:spcAft>
                <a:spcPts val="0"/>
              </a:spcAft>
              <a:buNone/>
            </a:pPr>
            <a:r>
              <a:rPr lang="en-US" sz="2000">
                <a:solidFill>
                  <a:srgbClr val="000000"/>
                </a:solidFill>
              </a:rPr>
              <a:t>The join condition DNUM=DNUMBER relates a project to its controlling department</a:t>
            </a:r>
            <a:endParaRPr/>
          </a:p>
          <a:p>
            <a:pPr indent="0" lvl="1" marL="457200" rtl="0" algn="l">
              <a:lnSpc>
                <a:spcPct val="90000"/>
              </a:lnSpc>
              <a:spcBef>
                <a:spcPts val="600"/>
              </a:spcBef>
              <a:spcAft>
                <a:spcPts val="0"/>
              </a:spcAft>
              <a:buNone/>
            </a:pPr>
            <a:r>
              <a:rPr lang="en-US" sz="2000">
                <a:solidFill>
                  <a:srgbClr val="000000"/>
                </a:solidFill>
              </a:rPr>
              <a:t>The join condition MGRSSN=SSN relates the controlling department to the employee who manages that department</a:t>
            </a:r>
            <a:endParaRPr/>
          </a:p>
          <a:p>
            <a:pPr indent="0" lvl="0" marL="0" rtl="0" algn="l">
              <a:spcBef>
                <a:spcPts val="360"/>
              </a:spcBef>
              <a:spcAft>
                <a:spcPts val="0"/>
              </a:spcAft>
              <a:buNone/>
            </a:pPr>
            <a:r>
              <a:t/>
            </a:r>
            <a:endParaRPr/>
          </a:p>
        </p:txBody>
      </p:sp>
      <p:sp>
        <p:nvSpPr>
          <p:cNvPr id="305" name="Google Shape;305;p20: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306" name="Google Shape;306;p2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7" name="Google Shape;31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5" name="Google Shape;325;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2" name="Google Shape;332;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39" name="Google Shape;339;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rmAutofit/>
          </a:bodyPr>
          <a:lstStyle/>
          <a:p>
            <a:pPr indent="0" lvl="1" marL="0" marR="0" rtl="0" algn="l">
              <a:lnSpc>
                <a:spcPct val="100000"/>
              </a:lnSpc>
              <a:spcBef>
                <a:spcPts val="0"/>
              </a:spcBef>
              <a:spcAft>
                <a:spcPts val="0"/>
              </a:spcAft>
              <a:buClr>
                <a:srgbClr val="000000"/>
              </a:buClr>
              <a:buSzPts val="2000"/>
              <a:buFont typeface="Times New Roman"/>
              <a:buNone/>
            </a:pPr>
            <a:r>
              <a:rPr lang="en-US" sz="2000">
                <a:solidFill>
                  <a:srgbClr val="000000"/>
                </a:solidFill>
              </a:rPr>
              <a:t>The alternate relation names E and S are called </a:t>
            </a:r>
            <a:r>
              <a:rPr i="1" lang="en-US" sz="2000">
                <a:solidFill>
                  <a:srgbClr val="000000"/>
                </a:solidFill>
              </a:rPr>
              <a:t>aliases</a:t>
            </a:r>
            <a:r>
              <a:rPr lang="en-US" sz="2000">
                <a:solidFill>
                  <a:srgbClr val="000000"/>
                </a:solidFill>
              </a:rPr>
              <a:t>  or </a:t>
            </a:r>
            <a:r>
              <a:rPr i="1" lang="en-US" sz="2000">
                <a:solidFill>
                  <a:srgbClr val="000000"/>
                </a:solidFill>
              </a:rPr>
              <a:t>tuple variables</a:t>
            </a:r>
            <a:r>
              <a:rPr lang="en-US" sz="2000">
                <a:solidFill>
                  <a:srgbClr val="000000"/>
                </a:solidFill>
              </a:rPr>
              <a:t> for the EMPLOYEE relation</a:t>
            </a:r>
            <a:endParaRPr/>
          </a:p>
          <a:p>
            <a:pPr indent="0" lvl="1" marL="0" marR="0" rtl="0" algn="l">
              <a:lnSpc>
                <a:spcPct val="100000"/>
              </a:lnSpc>
              <a:spcBef>
                <a:spcPts val="600"/>
              </a:spcBef>
              <a:spcAft>
                <a:spcPts val="0"/>
              </a:spcAft>
              <a:buClr>
                <a:schemeClr val="dk1"/>
              </a:buClr>
              <a:buSzPts val="2000"/>
              <a:buFont typeface="Times New Roman"/>
              <a:buNone/>
            </a:pPr>
            <a:r>
              <a:t/>
            </a:r>
            <a:endParaRPr sz="2000">
              <a:solidFill>
                <a:srgbClr val="000000"/>
              </a:solidFill>
            </a:endParaRPr>
          </a:p>
          <a:p>
            <a:pPr indent="0" lvl="1" marL="0" marR="0" rtl="0" algn="l">
              <a:lnSpc>
                <a:spcPct val="100000"/>
              </a:lnSpc>
              <a:spcBef>
                <a:spcPts val="600"/>
              </a:spcBef>
              <a:spcAft>
                <a:spcPts val="0"/>
              </a:spcAft>
              <a:buClr>
                <a:srgbClr val="000000"/>
              </a:buClr>
              <a:buSzPts val="2000"/>
              <a:buFont typeface="Times New Roman"/>
              <a:buNone/>
            </a:pPr>
            <a:r>
              <a:rPr lang="en-US" sz="2000">
                <a:solidFill>
                  <a:srgbClr val="000000"/>
                </a:solidFill>
              </a:rPr>
              <a:t>We can think of E and S as two </a:t>
            </a:r>
            <a:r>
              <a:rPr i="1" lang="en-US" sz="2000">
                <a:solidFill>
                  <a:srgbClr val="000000"/>
                </a:solidFill>
              </a:rPr>
              <a:t>different copies</a:t>
            </a:r>
            <a:r>
              <a:rPr lang="en-US" sz="2000">
                <a:solidFill>
                  <a:srgbClr val="000000"/>
                </a:solidFill>
              </a:rPr>
              <a:t>  of EMPLOYEE; E represents employees in role of </a:t>
            </a:r>
            <a:r>
              <a:rPr i="1" lang="en-US" sz="2000">
                <a:solidFill>
                  <a:srgbClr val="000000"/>
                </a:solidFill>
              </a:rPr>
              <a:t>supervisees</a:t>
            </a:r>
            <a:r>
              <a:rPr lang="en-US" sz="2000">
                <a:solidFill>
                  <a:srgbClr val="000000"/>
                </a:solidFill>
              </a:rPr>
              <a:t>  and S represents employees in role of </a:t>
            </a:r>
            <a:r>
              <a:rPr i="1" lang="en-US" sz="2000">
                <a:solidFill>
                  <a:srgbClr val="000000"/>
                </a:solidFill>
              </a:rPr>
              <a:t>supervisors</a:t>
            </a:r>
            <a:endParaRPr/>
          </a:p>
          <a:p>
            <a:pPr indent="0" lvl="0" marL="0" rtl="0" algn="l">
              <a:spcBef>
                <a:spcPts val="360"/>
              </a:spcBef>
              <a:spcAft>
                <a:spcPts val="0"/>
              </a:spcAft>
              <a:buNone/>
            </a:pPr>
            <a:r>
              <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Of course, in reality there is </a:t>
            </a:r>
            <a:r>
              <a:rPr b="0" i="1" lang="en-US" sz="1200" u="none" strike="noStrike">
                <a:solidFill>
                  <a:schemeClr val="dk1"/>
                </a:solidFill>
                <a:latin typeface="Times New Roman"/>
                <a:ea typeface="Times New Roman"/>
                <a:cs typeface="Times New Roman"/>
                <a:sym typeface="Times New Roman"/>
              </a:rPr>
              <a:t>only one </a:t>
            </a:r>
            <a:r>
              <a:rPr b="0" i="0" lang="en-US" sz="1200" u="none" strike="noStrike">
                <a:solidFill>
                  <a:schemeClr val="dk1"/>
                </a:solidFill>
                <a:latin typeface="Times New Roman"/>
                <a:ea typeface="Times New Roman"/>
                <a:cs typeface="Times New Roman"/>
                <a:sym typeface="Times New Roman"/>
              </a:rPr>
              <a:t>EMPLOYEE relation, and the join condition is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meant to join the relation with itself by matching the tuples that satisfy the join condition</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E.Super_ssn = S.Ssn.</a:t>
            </a:r>
            <a:endParaRPr/>
          </a:p>
        </p:txBody>
      </p:sp>
      <p:sp>
        <p:nvSpPr>
          <p:cNvPr id="340" name="Google Shape;340;p24: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341" name="Google Shape;341;p24: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50" name="Google Shape;350;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25: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352" name="Google Shape;352;p25: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61" name="Google Shape;361;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u="none" strike="noStrike">
                <a:solidFill>
                  <a:schemeClr val="dk1"/>
                </a:solidFill>
                <a:latin typeface="Times New Roman"/>
                <a:ea typeface="Times New Roman"/>
                <a:cs typeface="Times New Roman"/>
                <a:sym typeface="Times New Roman"/>
              </a:rPr>
              <a:t>ORDER BY </a:t>
            </a:r>
            <a:r>
              <a:rPr b="0" i="0" lang="en-US" sz="1200" u="none" strike="noStrike">
                <a:solidFill>
                  <a:schemeClr val="dk1"/>
                </a:solidFill>
                <a:latin typeface="Times New Roman"/>
                <a:ea typeface="Times New Roman"/>
                <a:cs typeface="Times New Roman"/>
                <a:sym typeface="Times New Roman"/>
              </a:rPr>
              <a:t>D.Dname </a:t>
            </a:r>
            <a:r>
              <a:rPr b="1" i="0" lang="en-US" sz="1200" u="none" strike="noStrike">
                <a:solidFill>
                  <a:schemeClr val="dk1"/>
                </a:solidFill>
                <a:latin typeface="Times New Roman"/>
                <a:ea typeface="Times New Roman"/>
                <a:cs typeface="Times New Roman"/>
                <a:sym typeface="Times New Roman"/>
              </a:rPr>
              <a:t>DESC</a:t>
            </a:r>
            <a:r>
              <a:rPr b="0" i="0" lang="en-US" sz="1200" u="none" strike="noStrike">
                <a:solidFill>
                  <a:schemeClr val="dk1"/>
                </a:solidFill>
                <a:latin typeface="Times New Roman"/>
                <a:ea typeface="Times New Roman"/>
                <a:cs typeface="Times New Roman"/>
                <a:sym typeface="Times New Roman"/>
              </a:rPr>
              <a:t>, E.Lname </a:t>
            </a:r>
            <a:r>
              <a:rPr b="1" i="0" lang="en-US" sz="1200" u="none" strike="noStrike">
                <a:solidFill>
                  <a:schemeClr val="dk1"/>
                </a:solidFill>
                <a:latin typeface="Times New Roman"/>
                <a:ea typeface="Times New Roman"/>
                <a:cs typeface="Times New Roman"/>
                <a:sym typeface="Times New Roman"/>
              </a:rPr>
              <a:t>ASC</a:t>
            </a:r>
            <a:r>
              <a:rPr b="0" i="0" lang="en-US" sz="1200" u="none" strike="noStrike">
                <a:solidFill>
                  <a:schemeClr val="dk1"/>
                </a:solidFill>
                <a:latin typeface="Times New Roman"/>
                <a:ea typeface="Times New Roman"/>
                <a:cs typeface="Times New Roman"/>
                <a:sym typeface="Times New Roman"/>
              </a:rPr>
              <a:t>, E.Fname </a:t>
            </a:r>
            <a:r>
              <a:rPr b="1" i="0" lang="en-US" sz="1200" u="none" strike="noStrike">
                <a:solidFill>
                  <a:schemeClr val="dk1"/>
                </a:solidFill>
                <a:latin typeface="Times New Roman"/>
                <a:ea typeface="Times New Roman"/>
                <a:cs typeface="Times New Roman"/>
                <a:sym typeface="Times New Roman"/>
              </a:rPr>
              <a:t>ASC</a:t>
            </a:r>
            <a:endParaRPr/>
          </a:p>
        </p:txBody>
      </p:sp>
      <p:sp>
        <p:nvSpPr>
          <p:cNvPr id="362" name="Google Shape;362;p26: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363" name="Google Shape;363;p26: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70" name="Google Shape;370;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u="none" strike="noStrike">
                <a:solidFill>
                  <a:schemeClr val="dk1"/>
                </a:solidFill>
                <a:latin typeface="Times New Roman"/>
                <a:ea typeface="Times New Roman"/>
                <a:cs typeface="Times New Roman"/>
                <a:sym typeface="Times New Roman"/>
              </a:rPr>
              <a:t>ORDER BY </a:t>
            </a:r>
            <a:r>
              <a:rPr b="0" i="0" lang="en-US" sz="1200" u="none" strike="noStrike">
                <a:solidFill>
                  <a:schemeClr val="dk1"/>
                </a:solidFill>
                <a:latin typeface="Times New Roman"/>
                <a:ea typeface="Times New Roman"/>
                <a:cs typeface="Times New Roman"/>
                <a:sym typeface="Times New Roman"/>
              </a:rPr>
              <a:t>D.Dname </a:t>
            </a:r>
            <a:r>
              <a:rPr b="1" i="0" lang="en-US" sz="1200" u="none" strike="noStrike">
                <a:solidFill>
                  <a:schemeClr val="dk1"/>
                </a:solidFill>
                <a:latin typeface="Times New Roman"/>
                <a:ea typeface="Times New Roman"/>
                <a:cs typeface="Times New Roman"/>
                <a:sym typeface="Times New Roman"/>
              </a:rPr>
              <a:t>DESC</a:t>
            </a:r>
            <a:r>
              <a:rPr b="0" i="0" lang="en-US" sz="1200" u="none" strike="noStrike">
                <a:solidFill>
                  <a:schemeClr val="dk1"/>
                </a:solidFill>
                <a:latin typeface="Times New Roman"/>
                <a:ea typeface="Times New Roman"/>
                <a:cs typeface="Times New Roman"/>
                <a:sym typeface="Times New Roman"/>
              </a:rPr>
              <a:t>, E.Lname </a:t>
            </a:r>
            <a:r>
              <a:rPr b="1" i="0" lang="en-US" sz="1200" u="none" strike="noStrike">
                <a:solidFill>
                  <a:schemeClr val="dk1"/>
                </a:solidFill>
                <a:latin typeface="Times New Roman"/>
                <a:ea typeface="Times New Roman"/>
                <a:cs typeface="Times New Roman"/>
                <a:sym typeface="Times New Roman"/>
              </a:rPr>
              <a:t>ASC</a:t>
            </a:r>
            <a:r>
              <a:rPr b="0" i="0" lang="en-US" sz="1200" u="none" strike="noStrike">
                <a:solidFill>
                  <a:schemeClr val="dk1"/>
                </a:solidFill>
                <a:latin typeface="Times New Roman"/>
                <a:ea typeface="Times New Roman"/>
                <a:cs typeface="Times New Roman"/>
                <a:sym typeface="Times New Roman"/>
              </a:rPr>
              <a:t>, E.Fname </a:t>
            </a:r>
            <a:r>
              <a:rPr b="1" i="0" lang="en-US" sz="1200" u="none" strike="noStrike">
                <a:solidFill>
                  <a:schemeClr val="dk1"/>
                </a:solidFill>
                <a:latin typeface="Times New Roman"/>
                <a:ea typeface="Times New Roman"/>
                <a:cs typeface="Times New Roman"/>
                <a:sym typeface="Times New Roman"/>
              </a:rPr>
              <a:t>ASC</a:t>
            </a:r>
            <a:endParaRPr/>
          </a:p>
        </p:txBody>
      </p:sp>
      <p:sp>
        <p:nvSpPr>
          <p:cNvPr id="371" name="Google Shape;371;p27: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372" name="Google Shape;372;p2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79" name="Google Shape;379;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1" marL="0" marR="0" rtl="0" algn="l">
              <a:lnSpc>
                <a:spcPct val="100000"/>
              </a:lnSpc>
              <a:spcBef>
                <a:spcPts val="0"/>
              </a:spcBef>
              <a:spcAft>
                <a:spcPts val="0"/>
              </a:spcAft>
              <a:buClr>
                <a:srgbClr val="000000"/>
              </a:buClr>
              <a:buSzPts val="2100"/>
              <a:buFont typeface="Times New Roman"/>
              <a:buNone/>
            </a:pPr>
            <a:r>
              <a:rPr lang="en-US" sz="2100">
                <a:solidFill>
                  <a:srgbClr val="000000"/>
                </a:solidFill>
              </a:rPr>
              <a:t>As it considers each NULL value distinct from other NULL values, so </a:t>
            </a:r>
            <a:r>
              <a:rPr lang="en-US" sz="2100" u="sng">
                <a:solidFill>
                  <a:srgbClr val="000000"/>
                </a:solidFill>
              </a:rPr>
              <a:t>equality comparison is not appropriate</a:t>
            </a:r>
            <a:r>
              <a:rPr lang="en-US" sz="2100">
                <a:solidFill>
                  <a:srgbClr val="000000"/>
                </a:solidFill>
              </a:rPr>
              <a:t> .</a:t>
            </a:r>
            <a:endParaRPr/>
          </a:p>
          <a:p>
            <a:pPr indent="0" lvl="0" marL="0" rtl="0" algn="l">
              <a:spcBef>
                <a:spcPts val="360"/>
              </a:spcBef>
              <a:spcAft>
                <a:spcPts val="0"/>
              </a:spcAft>
              <a:buNone/>
            </a:pPr>
            <a:r>
              <a:t/>
            </a:r>
            <a:endParaRPr/>
          </a:p>
        </p:txBody>
      </p:sp>
      <p:sp>
        <p:nvSpPr>
          <p:cNvPr id="380" name="Google Shape;380;p28: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381" name="Google Shape;381;p28: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8" name="Google Shape;388;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5" name="Google Shape;395;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2" name="Google Shape;40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9" name="Google Shape;40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6" name="Google Shape;416;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3" name="Google Shape;423;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0" name="Google Shape;430;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7" name="Google Shape;437;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4" name="Google Shape;444;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51" name="Google Shape;451;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58" name="Google Shape;458;p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u="none" strike="noStrike">
                <a:solidFill>
                  <a:schemeClr val="dk1"/>
                </a:solidFill>
                <a:latin typeface="Times New Roman"/>
                <a:ea typeface="Times New Roman"/>
                <a:cs typeface="Times New Roman"/>
                <a:sym typeface="Times New Roman"/>
              </a:rPr>
              <a:t>If we write COUNT(SALARY) instead of COUNT(DISTINCT SALARY) in Q23, then</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duplicate values will not be eliminated. However, any tuples with NULL for SALARY</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will not be counted. In general, NULL values are </a:t>
            </a:r>
            <a:r>
              <a:rPr b="1" i="0" lang="en-US" sz="1200" u="none" strike="noStrike">
                <a:solidFill>
                  <a:schemeClr val="dk1"/>
                </a:solidFill>
                <a:latin typeface="Times New Roman"/>
                <a:ea typeface="Times New Roman"/>
                <a:cs typeface="Times New Roman"/>
                <a:sym typeface="Times New Roman"/>
              </a:rPr>
              <a:t>discarded </a:t>
            </a:r>
            <a:r>
              <a:rPr b="0" i="0" lang="en-US" sz="1200" u="none" strike="noStrike">
                <a:solidFill>
                  <a:schemeClr val="dk1"/>
                </a:solidFill>
                <a:latin typeface="Times New Roman"/>
                <a:ea typeface="Times New Roman"/>
                <a:cs typeface="Times New Roman"/>
                <a:sym typeface="Times New Roman"/>
              </a:rPr>
              <a:t>when aggregate functions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are applied to a particular column (attribute).</a:t>
            </a:r>
            <a:endParaRPr/>
          </a:p>
        </p:txBody>
      </p:sp>
      <p:sp>
        <p:nvSpPr>
          <p:cNvPr id="459" name="Google Shape;459;p39: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460" name="Google Shape;460;p3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67" name="Google Shape;467;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1200"/>
              <a:buFont typeface="Times New Roman"/>
              <a:buNone/>
            </a:pPr>
            <a:r>
              <a:rPr lang="en-US" sz="1200">
                <a:solidFill>
                  <a:srgbClr val="000000"/>
                </a:solidFill>
              </a:rPr>
              <a:t>Each subgroup of tuples consists of the set of tuples that have </a:t>
            </a:r>
            <a:r>
              <a:rPr i="1" lang="en-US" sz="1200">
                <a:solidFill>
                  <a:srgbClr val="000000"/>
                </a:solidFill>
              </a:rPr>
              <a:t>the same value</a:t>
            </a:r>
            <a:r>
              <a:rPr lang="en-US" sz="1200">
                <a:solidFill>
                  <a:srgbClr val="000000"/>
                </a:solidFill>
              </a:rPr>
              <a:t>  for the </a:t>
            </a:r>
            <a:r>
              <a:rPr i="1" lang="en-US" sz="1200">
                <a:solidFill>
                  <a:srgbClr val="000000"/>
                </a:solidFill>
              </a:rPr>
              <a:t>grouping attribute(s)</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Cannot include employee name in the select because not contained in group by</a:t>
            </a:r>
            <a:endParaRPr/>
          </a:p>
        </p:txBody>
      </p:sp>
      <p:sp>
        <p:nvSpPr>
          <p:cNvPr id="468" name="Google Shape;468;p40: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469" name="Google Shape;469;p4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77" name="Google Shape;477;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VALID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select DNo,COUNT(*)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from Employee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group by dno,salary</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INVALID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select DNo, salary, COUNT(*)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from Employee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group by dno</a:t>
            </a:r>
            <a:endParaRPr/>
          </a:p>
        </p:txBody>
      </p:sp>
      <p:sp>
        <p:nvSpPr>
          <p:cNvPr id="478" name="Google Shape;478;p41: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479" name="Google Shape;479;p4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4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87" name="Google Shape;487;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4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94" name="Google Shape;494;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4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02" name="Google Shape;502;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45: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09" name="Google Shape;509;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510" name="Google Shape;510;p45:notes"/>
          <p:cNvSpPr txBox="1"/>
          <p:nvPr>
            <p:ph idx="1" type="body"/>
          </p:nvPr>
        </p:nvSpPr>
        <p:spPr>
          <a:xfrm>
            <a:off x="913772" y="4343401"/>
            <a:ext cx="5030456"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17" name="Google Shape;517;p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Times New Roman"/>
              <a:buAutoNum type="arabicPeriod"/>
            </a:pPr>
            <a:r>
              <a:rPr lang="en-US"/>
              <a:t>Select dno from department except select dno </a:t>
            </a:r>
            <a:r>
              <a:rPr b="1" lang="en-US"/>
              <a:t>FROM</a:t>
            </a:r>
            <a:r>
              <a:rPr lang="en-US"/>
              <a:t> employee</a:t>
            </a:r>
            <a:endParaRPr/>
          </a:p>
          <a:p>
            <a:pPr indent="-228600" lvl="0" marL="228600" rtl="0" algn="l">
              <a:spcBef>
                <a:spcPts val="360"/>
              </a:spcBef>
              <a:spcAft>
                <a:spcPts val="0"/>
              </a:spcAft>
              <a:buClr>
                <a:schemeClr val="dk1"/>
              </a:buClr>
              <a:buSzPts val="1200"/>
              <a:buFont typeface="Times New Roman"/>
              <a:buAutoNum type="arabicPeriod"/>
            </a:pPr>
            <a:r>
              <a:rPr lang="en-US"/>
              <a:t>Select E.SSN, E.Fname, E.Lname, M.Fname, M.Lname </a:t>
            </a:r>
            <a:r>
              <a:rPr b="1" lang="en-US"/>
              <a:t>FROM</a:t>
            </a:r>
            <a:r>
              <a:rPr lang="en-US"/>
              <a:t> (Employee as E join Department as D on E.dno=D.dnumber) join Employee as M on mgr_ssn=ssn</a:t>
            </a:r>
            <a:endParaRPr/>
          </a:p>
          <a:p>
            <a:pPr indent="-228600" lvl="0" marL="228600" rtl="0" algn="l">
              <a:spcBef>
                <a:spcPts val="360"/>
              </a:spcBef>
              <a:spcAft>
                <a:spcPts val="0"/>
              </a:spcAft>
              <a:buClr>
                <a:schemeClr val="dk1"/>
              </a:buClr>
              <a:buSzPts val="1200"/>
              <a:buFont typeface="Times New Roman"/>
              <a:buAutoNum type="arabicPeriod"/>
            </a:pPr>
            <a:r>
              <a:rPr lang="en-US"/>
              <a:t>Select ssn </a:t>
            </a:r>
            <a:r>
              <a:rPr b="1" lang="en-US"/>
              <a:t>from</a:t>
            </a:r>
            <a:r>
              <a:rPr lang="en-US"/>
              <a:t> (Employee as E join Department as D on E.dno=D.dnumber) join Employee as M on mgr_ssn=ssn WHERE E.birthdate &lt; M.birthdate</a:t>
            </a:r>
            <a:endParaRPr/>
          </a:p>
          <a:p>
            <a:pPr indent="-228600" lvl="0" marL="228600" rtl="0" algn="l">
              <a:spcBef>
                <a:spcPts val="360"/>
              </a:spcBef>
              <a:spcAft>
                <a:spcPts val="0"/>
              </a:spcAft>
              <a:buClr>
                <a:schemeClr val="dk1"/>
              </a:buClr>
              <a:buSzPts val="1200"/>
              <a:buFont typeface="Times New Roman"/>
              <a:buAutoNum type="arabicPeriod"/>
            </a:pPr>
            <a:r>
              <a:rPr lang="en-US"/>
              <a:t>Select ssn from Employee E S WHERE E.Super_ssn=S.ssn and S.Fname=‘John’</a:t>
            </a:r>
            <a:endParaRPr/>
          </a:p>
          <a:p>
            <a:pPr indent="-228600" lvl="0" marL="228600" rtl="0" algn="l">
              <a:spcBef>
                <a:spcPts val="360"/>
              </a:spcBef>
              <a:spcAft>
                <a:spcPts val="0"/>
              </a:spcAft>
              <a:buClr>
                <a:schemeClr val="dk1"/>
              </a:buClr>
              <a:buSzPts val="1200"/>
              <a:buFont typeface="Times New Roman"/>
              <a:buAutoNum type="arabicPeriod"/>
            </a:pPr>
            <a:r>
              <a:rPr lang="en-US"/>
              <a:t>Select count(distinct mgr_ssn) from department </a:t>
            </a:r>
            <a:endParaRPr/>
          </a:p>
          <a:p>
            <a:pPr indent="-228600" lvl="0" marL="228600" rtl="0" algn="l">
              <a:spcBef>
                <a:spcPts val="360"/>
              </a:spcBef>
              <a:spcAft>
                <a:spcPts val="0"/>
              </a:spcAft>
              <a:buClr>
                <a:schemeClr val="dk1"/>
              </a:buClr>
              <a:buSzPts val="1200"/>
              <a:buFont typeface="Times New Roman"/>
              <a:buAutoNum type="arabicPeriod"/>
            </a:pPr>
            <a:r>
              <a:rPr lang="en-US"/>
              <a:t>Select max(salary)- min(salary) from department</a:t>
            </a:r>
            <a:endParaRPr/>
          </a:p>
          <a:p>
            <a:pPr indent="-228600" lvl="0" marL="228600" rtl="0" algn="l">
              <a:spcBef>
                <a:spcPts val="360"/>
              </a:spcBef>
              <a:spcAft>
                <a:spcPts val="0"/>
              </a:spcAft>
              <a:buClr>
                <a:schemeClr val="dk1"/>
              </a:buClr>
              <a:buSzPts val="1200"/>
              <a:buFont typeface="Times New Roman"/>
              <a:buAutoNum type="arabicPeriod"/>
            </a:pPr>
            <a:r>
              <a:rPr lang="en-US"/>
              <a:t>Select ssn from employee join dependent on ssn=essn group by essn having count(ssn)&gt; 2</a:t>
            </a:r>
            <a:endParaRPr/>
          </a:p>
        </p:txBody>
      </p:sp>
      <p:sp>
        <p:nvSpPr>
          <p:cNvPr id="518" name="Google Shape;518;p46: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519" name="Google Shape;519;p46: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26" name="Google Shape;526;p4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Select fname, lname, address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from Employee,Department</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where Dno=Dnumber and Dname='Research‘</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rgbClr val="000000"/>
                </a:solidFill>
              </a:rPr>
              <a:t>The nested query selects the number of the 'Research' department</a:t>
            </a:r>
            <a:endParaRPr/>
          </a:p>
          <a:p>
            <a:pPr indent="0" lvl="0" marL="0" rtl="0" algn="l">
              <a:lnSpc>
                <a:spcPct val="90000"/>
              </a:lnSpc>
              <a:spcBef>
                <a:spcPts val="360"/>
              </a:spcBef>
              <a:spcAft>
                <a:spcPts val="0"/>
              </a:spcAft>
              <a:buNone/>
            </a:pPr>
            <a:r>
              <a:rPr lang="en-US" sz="1200">
                <a:solidFill>
                  <a:srgbClr val="000000"/>
                </a:solidFill>
              </a:rPr>
              <a:t>The outer query select an EMPLOYEE tuple if its DNO value is in the result of nested query</a:t>
            </a:r>
            <a:endParaRPr/>
          </a:p>
          <a:p>
            <a:pPr indent="0" lvl="0" marL="0" rtl="0" algn="l">
              <a:lnSpc>
                <a:spcPct val="90000"/>
              </a:lnSpc>
              <a:spcBef>
                <a:spcPts val="360"/>
              </a:spcBef>
              <a:spcAft>
                <a:spcPts val="0"/>
              </a:spcAft>
              <a:buNone/>
            </a:pPr>
            <a:r>
              <a:rPr lang="en-US" sz="1200">
                <a:solidFill>
                  <a:srgbClr val="000000"/>
                </a:solidFill>
              </a:rPr>
              <a:t>The comparison operator </a:t>
            </a:r>
            <a:r>
              <a:rPr b="1" lang="en-US" sz="1200">
                <a:solidFill>
                  <a:srgbClr val="000000"/>
                </a:solidFill>
              </a:rPr>
              <a:t>IN</a:t>
            </a:r>
            <a:r>
              <a:rPr lang="en-US" sz="1200">
                <a:solidFill>
                  <a:srgbClr val="000000"/>
                </a:solidFill>
              </a:rPr>
              <a:t> compares a value v with a set (or multi-set) of values V, and evaluates to </a:t>
            </a:r>
            <a:r>
              <a:rPr b="1" lang="en-US" sz="1200">
                <a:solidFill>
                  <a:srgbClr val="000000"/>
                </a:solidFill>
              </a:rPr>
              <a:t>TRUE</a:t>
            </a:r>
            <a:r>
              <a:rPr lang="en-US" sz="1200">
                <a:solidFill>
                  <a:srgbClr val="000000"/>
                </a:solidFill>
              </a:rPr>
              <a:t> if v is one of the elements in V</a:t>
            </a:r>
            <a:endParaRPr/>
          </a:p>
          <a:p>
            <a:pPr indent="0" lvl="0" marL="0" rtl="0" algn="l">
              <a:spcBef>
                <a:spcPts val="360"/>
              </a:spcBef>
              <a:spcAft>
                <a:spcPts val="0"/>
              </a:spcAft>
              <a:buNone/>
            </a:pPr>
            <a:r>
              <a:t/>
            </a:r>
            <a:endParaRPr/>
          </a:p>
        </p:txBody>
      </p:sp>
      <p:sp>
        <p:nvSpPr>
          <p:cNvPr id="527" name="Google Shape;527;p47: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528" name="Google Shape;528;p4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36" name="Google Shape;536;p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select fname </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from Employee, Dependent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where fname=dependent_name and ssn=essn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marR="0" rtl="0" algn="l">
              <a:lnSpc>
                <a:spcPct val="100000"/>
              </a:lnSpc>
              <a:spcBef>
                <a:spcPts val="360"/>
              </a:spcBef>
              <a:spcAft>
                <a:spcPts val="0"/>
              </a:spcAft>
              <a:buClr>
                <a:srgbClr val="000000"/>
              </a:buClr>
              <a:buSzPts val="1200"/>
              <a:buFont typeface="Times New Roman"/>
              <a:buNone/>
            </a:pPr>
            <a:r>
              <a:rPr lang="en-US" sz="1200">
                <a:solidFill>
                  <a:srgbClr val="000000"/>
                </a:solidFill>
              </a:rPr>
              <a:t>The result of a correlated nested query is </a:t>
            </a:r>
            <a:r>
              <a:rPr i="1" lang="en-US" sz="1200">
                <a:solidFill>
                  <a:srgbClr val="000000"/>
                </a:solidFill>
              </a:rPr>
              <a:t>different for each tuple (or combination of tuples) of the relation(s) in the outer query</a:t>
            </a:r>
            <a:endParaRPr/>
          </a:p>
          <a:p>
            <a:pPr indent="0" lvl="0" marL="0" rtl="0" algn="l">
              <a:spcBef>
                <a:spcPts val="360"/>
              </a:spcBef>
              <a:spcAft>
                <a:spcPts val="0"/>
              </a:spcAft>
              <a:buNone/>
            </a:pPr>
            <a:r>
              <a:t/>
            </a:r>
            <a:endParaRPr/>
          </a:p>
        </p:txBody>
      </p:sp>
      <p:sp>
        <p:nvSpPr>
          <p:cNvPr id="537" name="Google Shape;537;p48: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538" name="Google Shape;538;p48: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48" name="Google Shape;548;p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Times New Roman"/>
                <a:ea typeface="Times New Roman"/>
                <a:cs typeface="Times New Roman"/>
                <a:sym typeface="Times New Roman"/>
              </a:rPr>
              <a:t>A DML statement that includes a subquery is referred to as the </a:t>
            </a:r>
            <a:r>
              <a:rPr b="0" i="1" lang="en-US" sz="1200">
                <a:solidFill>
                  <a:schemeClr val="dk1"/>
                </a:solidFill>
                <a:latin typeface="Times New Roman"/>
                <a:ea typeface="Times New Roman"/>
                <a:cs typeface="Times New Roman"/>
                <a:sym typeface="Times New Roman"/>
              </a:rPr>
              <a:t>outer query</a:t>
            </a:r>
            <a:r>
              <a:rPr b="0" i="0" lang="en-US" sz="1200">
                <a:solidFill>
                  <a:schemeClr val="dk1"/>
                </a:solidFill>
                <a:latin typeface="Times New Roman"/>
                <a:ea typeface="Times New Roman"/>
                <a:cs typeface="Times New Roman"/>
                <a:sym typeface="Times New Roman"/>
              </a:rPr>
              <a:t>. The following guidelines provide details about how to implement subqueries in your outer queries or in other subqueries:</a:t>
            </a:r>
            <a:endParaRPr/>
          </a:p>
          <a:p>
            <a:pPr indent="0" lvl="0" marL="0" rtl="0" algn="l">
              <a:spcBef>
                <a:spcPts val="360"/>
              </a:spcBef>
              <a:spcAft>
                <a:spcPts val="0"/>
              </a:spcAft>
              <a:buNone/>
            </a:pPr>
            <a:r>
              <a:rPr b="0" i="0" lang="en-US" sz="1200">
                <a:solidFill>
                  <a:schemeClr val="dk1"/>
                </a:solidFill>
                <a:latin typeface="Times New Roman"/>
                <a:ea typeface="Times New Roman"/>
                <a:cs typeface="Times New Roman"/>
                <a:sym typeface="Times New Roman"/>
              </a:rPr>
              <a:t>You must enclose a subquery in parenthesis.</a:t>
            </a:r>
            <a:endParaRPr/>
          </a:p>
          <a:p>
            <a:pPr indent="0" lvl="0" marL="0" rtl="0" algn="l">
              <a:spcBef>
                <a:spcPts val="360"/>
              </a:spcBef>
              <a:spcAft>
                <a:spcPts val="0"/>
              </a:spcAft>
              <a:buNone/>
            </a:pPr>
            <a:r>
              <a:rPr b="0" i="0" lang="en-US" sz="1200">
                <a:solidFill>
                  <a:schemeClr val="dk1"/>
                </a:solidFill>
                <a:latin typeface="Times New Roman"/>
                <a:ea typeface="Times New Roman"/>
                <a:cs typeface="Times New Roman"/>
                <a:sym typeface="Times New Roman"/>
              </a:rPr>
              <a:t>A subquery must include a SELECT clause and a FROM clause.</a:t>
            </a:r>
            <a:endParaRPr/>
          </a:p>
          <a:p>
            <a:pPr indent="0" lvl="0" marL="0" rtl="0" algn="l">
              <a:spcBef>
                <a:spcPts val="360"/>
              </a:spcBef>
              <a:spcAft>
                <a:spcPts val="0"/>
              </a:spcAft>
              <a:buNone/>
            </a:pPr>
            <a:r>
              <a:rPr b="0" i="0" lang="en-US" sz="1200">
                <a:solidFill>
                  <a:schemeClr val="dk1"/>
                </a:solidFill>
                <a:latin typeface="Times New Roman"/>
                <a:ea typeface="Times New Roman"/>
                <a:cs typeface="Times New Roman"/>
                <a:sym typeface="Times New Roman"/>
              </a:rPr>
              <a:t>A subquery can include optional WHERE, GROUP BY, and HAVING clauses.</a:t>
            </a:r>
            <a:endParaRPr/>
          </a:p>
          <a:p>
            <a:pPr indent="0" lvl="0" marL="0" rtl="0" algn="l">
              <a:spcBef>
                <a:spcPts val="360"/>
              </a:spcBef>
              <a:spcAft>
                <a:spcPts val="0"/>
              </a:spcAft>
              <a:buNone/>
            </a:pPr>
            <a:r>
              <a:rPr b="0" i="0" lang="en-US" sz="1200">
                <a:solidFill>
                  <a:schemeClr val="dk1"/>
                </a:solidFill>
                <a:latin typeface="Times New Roman"/>
                <a:ea typeface="Times New Roman"/>
                <a:cs typeface="Times New Roman"/>
                <a:sym typeface="Times New Roman"/>
              </a:rPr>
              <a:t>A subquery cannot include COMPUTE or FOR BROWSE clauses.</a:t>
            </a:r>
            <a:endParaRPr/>
          </a:p>
          <a:p>
            <a:pPr indent="0" lvl="0" marL="0" rtl="0" algn="l">
              <a:spcBef>
                <a:spcPts val="360"/>
              </a:spcBef>
              <a:spcAft>
                <a:spcPts val="0"/>
              </a:spcAft>
              <a:buNone/>
            </a:pPr>
            <a:r>
              <a:rPr b="0" i="0" lang="en-US" sz="1200">
                <a:solidFill>
                  <a:schemeClr val="dk1"/>
                </a:solidFill>
                <a:latin typeface="Times New Roman"/>
                <a:ea typeface="Times New Roman"/>
                <a:cs typeface="Times New Roman"/>
                <a:sym typeface="Times New Roman"/>
              </a:rPr>
              <a:t>You can include an ORDER BY clause only when a TOP clause is included.</a:t>
            </a:r>
            <a:endParaRPr/>
          </a:p>
          <a:p>
            <a:pPr indent="0" lvl="0" marL="0" rtl="0" algn="l">
              <a:spcBef>
                <a:spcPts val="360"/>
              </a:spcBef>
              <a:spcAft>
                <a:spcPts val="0"/>
              </a:spcAft>
              <a:buNone/>
            </a:pPr>
            <a:r>
              <a:rPr b="0" i="0" lang="en-US" sz="1200">
                <a:solidFill>
                  <a:schemeClr val="dk1"/>
                </a:solidFill>
                <a:latin typeface="Times New Roman"/>
                <a:ea typeface="Times New Roman"/>
                <a:cs typeface="Times New Roman"/>
                <a:sym typeface="Times New Roman"/>
              </a:rPr>
              <a:t>You can nest subqueries up to 32 levels.</a:t>
            </a:r>
            <a:endParaRPr/>
          </a:p>
          <a:p>
            <a:pPr indent="0" lvl="0" marL="0" rtl="0" algn="l">
              <a:spcBef>
                <a:spcPts val="360"/>
              </a:spcBef>
              <a:spcAft>
                <a:spcPts val="0"/>
              </a:spcAft>
              <a:buNone/>
            </a:pPr>
            <a:r>
              <a:t/>
            </a:r>
            <a:endParaRPr/>
          </a:p>
        </p:txBody>
      </p:sp>
      <p:sp>
        <p:nvSpPr>
          <p:cNvPr id="549" name="Google Shape;549;p49: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550" name="Google Shape;550;p4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57" name="Google Shape;557;p5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Times New Roman"/>
                <a:ea typeface="Times New Roman"/>
                <a:cs typeface="Times New Roman"/>
                <a:sym typeface="Times New Roman"/>
              </a:rPr>
              <a:t>A subquery can be written in FROM clause. However, using subquery in FROM clause should generally be avoided if you can rewrite your query in a different way, the reason being that no indexes can be used on a temporary table in memory. Also, A subquery in the FROM clause can't be correlated subquery as it can't be evaluated per row of the outer query.</a:t>
            </a:r>
            <a:endParaRPr/>
          </a:p>
        </p:txBody>
      </p:sp>
      <p:sp>
        <p:nvSpPr>
          <p:cNvPr id="558" name="Google Shape;558;p50: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559" name="Google Shape;559;p5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5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68" name="Google Shape;568;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5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75" name="Google Shape;575;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5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82" name="Google Shape;582;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5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89" name="Google Shape;589;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5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01" name="Google Shape;601;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56: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21" name="Google Shape;621;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22" name="Google Shape;622;p56:notes"/>
          <p:cNvSpPr txBox="1"/>
          <p:nvPr>
            <p:ph idx="1" type="body"/>
          </p:nvPr>
        </p:nvSpPr>
        <p:spPr>
          <a:xfrm>
            <a:off x="913772" y="4343401"/>
            <a:ext cx="5030456"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rPr lang="en-US"/>
              <a:t>VALID </a:t>
            </a:r>
            <a:endParaRPr/>
          </a:p>
          <a:p>
            <a:pPr indent="0" lvl="0" marL="0" rtl="0" algn="l">
              <a:spcBef>
                <a:spcPts val="360"/>
              </a:spcBef>
              <a:spcAft>
                <a:spcPts val="0"/>
              </a:spcAft>
              <a:buNone/>
            </a:pPr>
            <a:r>
              <a:rPr lang="en-US"/>
              <a:t>SELECT  Fname  FROM     Employee</a:t>
            </a:r>
            <a:endParaRPr/>
          </a:p>
          <a:p>
            <a:pPr indent="0" lvl="0" marL="0" rtl="0" algn="l">
              <a:spcBef>
                <a:spcPts val="360"/>
              </a:spcBef>
              <a:spcAft>
                <a:spcPts val="0"/>
              </a:spcAft>
              <a:buNone/>
            </a:pPr>
            <a:r>
              <a:rPr lang="en-US"/>
              <a:t>WHERE  Salary &gt; (SELECT max(Salary)  FROM    Employee  where Dno=5)</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solidFill>
                  <a:schemeClr val="accent2"/>
                </a:solidFill>
              </a:rPr>
              <a:t>&gt;&gt;&gt;&gt;INVALID</a:t>
            </a:r>
            <a:endParaRPr/>
          </a:p>
          <a:p>
            <a:pPr indent="0" lvl="0" marL="0" rtl="0" algn="l">
              <a:spcBef>
                <a:spcPts val="360"/>
              </a:spcBef>
              <a:spcAft>
                <a:spcPts val="0"/>
              </a:spcAft>
              <a:buNone/>
            </a:pPr>
            <a:r>
              <a:rPr lang="en-US">
                <a:solidFill>
                  <a:schemeClr val="accent2"/>
                </a:solidFill>
              </a:rPr>
              <a:t>&gt;&gt;&gt;&gt;&gt;&gt;SELECT  Fname  FROM     Employee</a:t>
            </a:r>
            <a:endParaRPr/>
          </a:p>
          <a:p>
            <a:pPr indent="0" lvl="0" marL="0" rtl="0" algn="l">
              <a:spcBef>
                <a:spcPts val="360"/>
              </a:spcBef>
              <a:spcAft>
                <a:spcPts val="0"/>
              </a:spcAft>
              <a:buNone/>
            </a:pPr>
            <a:r>
              <a:rPr lang="en-US">
                <a:solidFill>
                  <a:schemeClr val="accent2"/>
                </a:solidFill>
              </a:rPr>
              <a:t>&gt;&gt;&gt;&gt;&gt;&gt;WHERE  Salary &gt; max (SELECT Salary  FROM    Employee  where Dno=5)</a:t>
            </a:r>
            <a:endParaRPr/>
          </a:p>
          <a:p>
            <a:pPr indent="0" lvl="0" marL="0" rtl="0" algn="l">
              <a:spcBef>
                <a:spcPts val="360"/>
              </a:spcBef>
              <a:spcAft>
                <a:spcPts val="0"/>
              </a:spcAft>
              <a:buNone/>
            </a:pPr>
            <a:r>
              <a:t/>
            </a:r>
            <a:endParaRPr>
              <a:solidFill>
                <a:schemeClr val="accent2"/>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5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31" name="Google Shape;631;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32" name="Google Shape;632;p57:notes"/>
          <p:cNvSpPr txBox="1"/>
          <p:nvPr>
            <p:ph idx="1" type="body"/>
          </p:nvPr>
        </p:nvSpPr>
        <p:spPr>
          <a:xfrm>
            <a:off x="913772" y="4343401"/>
            <a:ext cx="5030456"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VALID </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SELECT   Fname, Salary, Dno</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FROM     Employee as 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WHERE  Salary &gt;=  (SELECT max(Salary)</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FROM    Employee as 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WHERE   E.dno=S.dno  )</a:t>
            </a:r>
            <a:endParaRPr/>
          </a:p>
          <a:p>
            <a:pPr indent="0" lvl="0" marL="0" rtl="0" algn="l">
              <a:spcBef>
                <a:spcPts val="36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58: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40" name="Google Shape;640;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41" name="Google Shape;641;p58:notes"/>
          <p:cNvSpPr txBox="1"/>
          <p:nvPr>
            <p:ph idx="1" type="body"/>
          </p:nvPr>
        </p:nvSpPr>
        <p:spPr>
          <a:xfrm>
            <a:off x="913772" y="4343401"/>
            <a:ext cx="5030456"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5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49" name="Google Shape;649;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50" name="Google Shape;650;p59:notes"/>
          <p:cNvSpPr txBox="1"/>
          <p:nvPr>
            <p:ph idx="1" type="body"/>
          </p:nvPr>
        </p:nvSpPr>
        <p:spPr>
          <a:xfrm>
            <a:off x="913772" y="4343401"/>
            <a:ext cx="5030456"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6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57" name="Google Shape;657;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58" name="Google Shape;658;p60:notes"/>
          <p:cNvSpPr txBox="1"/>
          <p:nvPr>
            <p:ph idx="1" type="body"/>
          </p:nvPr>
        </p:nvSpPr>
        <p:spPr>
          <a:xfrm>
            <a:off x="913772" y="4343401"/>
            <a:ext cx="5030456"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6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65" name="Google Shape;665;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66" name="Google Shape;666;p61:notes"/>
          <p:cNvSpPr txBox="1"/>
          <p:nvPr>
            <p:ph idx="1" type="body"/>
          </p:nvPr>
        </p:nvSpPr>
        <p:spPr>
          <a:xfrm>
            <a:off x="913772" y="4343401"/>
            <a:ext cx="5030456"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75" name="Google Shape;675;p6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u="none" strike="noStrike">
                <a:solidFill>
                  <a:schemeClr val="dk1"/>
                </a:solidFill>
                <a:latin typeface="Times New Roman"/>
                <a:ea typeface="Times New Roman"/>
                <a:cs typeface="Times New Roman"/>
                <a:sym typeface="Times New Roman"/>
              </a:rPr>
              <a:t>This is incorrect because it will select only departments that have more than five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employees </a:t>
            </a:r>
            <a:r>
              <a:rPr b="0" i="1" lang="en-US" sz="1200" u="none" strike="noStrike">
                <a:solidFill>
                  <a:schemeClr val="dk1"/>
                </a:solidFill>
                <a:latin typeface="Times New Roman"/>
                <a:ea typeface="Times New Roman"/>
                <a:cs typeface="Times New Roman"/>
                <a:sym typeface="Times New Roman"/>
              </a:rPr>
              <a:t>who each earn more than $30,000. </a:t>
            </a:r>
            <a:r>
              <a:rPr b="0" i="0" lang="en-US" sz="1200" u="none" strike="noStrike">
                <a:solidFill>
                  <a:schemeClr val="dk1"/>
                </a:solidFill>
                <a:latin typeface="Times New Roman"/>
                <a:ea typeface="Times New Roman"/>
                <a:cs typeface="Times New Roman"/>
                <a:sym typeface="Times New Roman"/>
              </a:rPr>
              <a:t>The rule is that the WHERE clause is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executed first, to select individual tuples or joined tuples; the HAVING clause is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applied later, to select individual groups of tuples. Hence, the tuples are already</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restricted to employees who earn more than $30,000 </a:t>
            </a:r>
            <a:r>
              <a:rPr b="0" i="1" lang="en-US" sz="1200" u="none" strike="noStrike">
                <a:solidFill>
                  <a:schemeClr val="dk1"/>
                </a:solidFill>
                <a:latin typeface="Times New Roman"/>
                <a:ea typeface="Times New Roman"/>
                <a:cs typeface="Times New Roman"/>
                <a:sym typeface="Times New Roman"/>
              </a:rPr>
              <a:t>before </a:t>
            </a:r>
            <a:r>
              <a:rPr b="0" i="0" lang="en-US" sz="1200" u="none" strike="noStrike">
                <a:solidFill>
                  <a:schemeClr val="dk1"/>
                </a:solidFill>
                <a:latin typeface="Times New Roman"/>
                <a:ea typeface="Times New Roman"/>
                <a:cs typeface="Times New Roman"/>
                <a:sym typeface="Times New Roman"/>
              </a:rPr>
              <a:t>the function in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HAVING clause is applied. One way to write this query correctly is to use a nested</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query, as shown in Query 28.</a:t>
            </a:r>
            <a:endParaRPr/>
          </a:p>
        </p:txBody>
      </p:sp>
      <p:sp>
        <p:nvSpPr>
          <p:cNvPr id="676" name="Google Shape;676;p62: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677" name="Google Shape;677;p6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84" name="Google Shape;684;p6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5" name="Google Shape;685;p63: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686" name="Google Shape;686;p6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6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94" name="Google Shape;694;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6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01" name="Google Shape;701;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6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08" name="Google Shape;708;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6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15" name="Google Shape;715;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6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22" name="Google Shape;722;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29" name="Google Shape;729;p6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lang="en-US">
                <a:solidFill>
                  <a:srgbClr val="000000"/>
                </a:solidFill>
              </a:rPr>
              <a:t>An alternate form of INSERT specifies explicitly the attribute names that correspond to the values in the new tuple</a:t>
            </a:r>
            <a:endParaRPr/>
          </a:p>
          <a:p>
            <a:pPr indent="0" lvl="0" marL="0" rtl="0" algn="l">
              <a:spcBef>
                <a:spcPts val="360"/>
              </a:spcBef>
              <a:spcAft>
                <a:spcPts val="0"/>
              </a:spcAft>
              <a:buNone/>
            </a:pPr>
            <a:r>
              <a:t/>
            </a:r>
            <a:endParaRPr/>
          </a:p>
        </p:txBody>
      </p:sp>
      <p:sp>
        <p:nvSpPr>
          <p:cNvPr id="730" name="Google Shape;730;p69: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731" name="Google Shape;731;p6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38" name="Google Shape;738;p7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1200"/>
              <a:buFont typeface="Times New Roman"/>
              <a:buNone/>
            </a:pPr>
            <a:r>
              <a:rPr lang="en-US" sz="1200" u="sng">
                <a:solidFill>
                  <a:srgbClr val="000000"/>
                </a:solidFill>
              </a:rPr>
              <a:t>Note:</a:t>
            </a:r>
            <a:r>
              <a:rPr lang="en-US" sz="1200">
                <a:solidFill>
                  <a:srgbClr val="000000"/>
                </a:solidFill>
              </a:rPr>
              <a:t> The DEPTS_INFO table may not be up-to-date if we change the tuples in either the DEPARTMENT or the EMPLOYEE relations </a:t>
            </a:r>
            <a:r>
              <a:rPr i="1" lang="en-US" sz="1200">
                <a:solidFill>
                  <a:srgbClr val="000000"/>
                </a:solidFill>
              </a:rPr>
              <a:t>after</a:t>
            </a:r>
            <a:r>
              <a:rPr lang="en-US" sz="1200">
                <a:solidFill>
                  <a:srgbClr val="000000"/>
                </a:solidFill>
              </a:rPr>
              <a:t>  issuing U3B. We have to create a view (see later) to keep such a table up to date.</a:t>
            </a:r>
            <a:endParaRPr/>
          </a:p>
          <a:p>
            <a:pPr indent="0" lvl="0" marL="0" rtl="0" algn="l">
              <a:spcBef>
                <a:spcPts val="360"/>
              </a:spcBef>
              <a:spcAft>
                <a:spcPts val="0"/>
              </a:spcAft>
              <a:buNone/>
            </a:pPr>
            <a:r>
              <a:t/>
            </a:r>
            <a:endParaRPr/>
          </a:p>
        </p:txBody>
      </p:sp>
      <p:sp>
        <p:nvSpPr>
          <p:cNvPr id="739" name="Google Shape;739;p70: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740" name="Google Shape;740;p7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47" name="Google Shape;747;p7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1200">
                <a:solidFill>
                  <a:srgbClr val="000000"/>
                </a:solidFill>
              </a:rPr>
              <a:t>A missing WHERE-clause specifies that </a:t>
            </a:r>
            <a:r>
              <a:rPr i="1" lang="en-US" sz="1200">
                <a:solidFill>
                  <a:srgbClr val="000000"/>
                </a:solidFill>
              </a:rPr>
              <a:t>all tuples</a:t>
            </a:r>
            <a:r>
              <a:rPr lang="en-US" sz="1200">
                <a:solidFill>
                  <a:srgbClr val="000000"/>
                </a:solidFill>
              </a:rPr>
              <a:t>  in the relation are to be deleted; the table then becomes an empty table</a:t>
            </a:r>
            <a:endParaRPr/>
          </a:p>
          <a:p>
            <a:pPr indent="0" lvl="0" marL="0" marR="0" rtl="0" algn="l">
              <a:lnSpc>
                <a:spcPct val="90000"/>
              </a:lnSpc>
              <a:spcBef>
                <a:spcPts val="360"/>
              </a:spcBef>
              <a:spcAft>
                <a:spcPts val="0"/>
              </a:spcAft>
              <a:buClr>
                <a:srgbClr val="000000"/>
              </a:buClr>
              <a:buSzPts val="1200"/>
              <a:buFont typeface="Times New Roman"/>
              <a:buNone/>
            </a:pPr>
            <a:r>
              <a:rPr lang="en-US" sz="1200">
                <a:solidFill>
                  <a:srgbClr val="000000"/>
                </a:solidFill>
              </a:rPr>
              <a:t>Includes a WHERE-clause to select the tuples to be deleted</a:t>
            </a:r>
            <a:endParaRPr/>
          </a:p>
          <a:p>
            <a:pPr indent="0" lvl="0" marL="0" rtl="0" algn="l">
              <a:lnSpc>
                <a:spcPct val="90000"/>
              </a:lnSpc>
              <a:spcBef>
                <a:spcPts val="360"/>
              </a:spcBef>
              <a:spcAft>
                <a:spcPts val="0"/>
              </a:spcAft>
              <a:buNone/>
            </a:pPr>
            <a:r>
              <a:t/>
            </a:r>
            <a:endParaRPr sz="1200">
              <a:solidFill>
                <a:srgbClr val="000000"/>
              </a:solidFill>
            </a:endParaRPr>
          </a:p>
        </p:txBody>
      </p:sp>
      <p:sp>
        <p:nvSpPr>
          <p:cNvPr id="748" name="Google Shape;748;p71: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749" name="Google Shape;749;p7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56" name="Google Shape;756;p7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rgbClr val="000000"/>
                </a:solidFill>
              </a:rPr>
              <a:t>A WHERE-clause selects the tuples to be modified</a:t>
            </a:r>
            <a:endParaRPr/>
          </a:p>
          <a:p>
            <a:pPr indent="0" lvl="0" marL="0" rtl="0" algn="l">
              <a:spcBef>
                <a:spcPts val="360"/>
              </a:spcBef>
              <a:spcAft>
                <a:spcPts val="0"/>
              </a:spcAft>
              <a:buNone/>
            </a:pPr>
            <a:r>
              <a:rPr lang="en-US" sz="1200">
                <a:solidFill>
                  <a:srgbClr val="000000"/>
                </a:solidFill>
              </a:rPr>
              <a:t>An additional SET-clause specifies the attributes to be modified and their new values</a:t>
            </a:r>
            <a:endParaRPr/>
          </a:p>
          <a:p>
            <a:pPr indent="0" lvl="0" marL="0" rtl="0" algn="l">
              <a:spcBef>
                <a:spcPts val="360"/>
              </a:spcBef>
              <a:spcAft>
                <a:spcPts val="0"/>
              </a:spcAft>
              <a:buNone/>
            </a:pPr>
            <a:r>
              <a:rPr lang="en-US" sz="1200">
                <a:solidFill>
                  <a:srgbClr val="000000"/>
                </a:solidFill>
              </a:rPr>
              <a:t>Each command modifies tuples </a:t>
            </a:r>
            <a:r>
              <a:rPr i="1" lang="en-US" sz="1200">
                <a:solidFill>
                  <a:srgbClr val="000000"/>
                </a:solidFill>
              </a:rPr>
              <a:t>in the same relation</a:t>
            </a:r>
            <a:endParaRPr/>
          </a:p>
          <a:p>
            <a:pPr indent="0" lvl="0" marL="0" rtl="0" algn="l">
              <a:spcBef>
                <a:spcPts val="360"/>
              </a:spcBef>
              <a:spcAft>
                <a:spcPts val="0"/>
              </a:spcAft>
              <a:buNone/>
            </a:pPr>
            <a:r>
              <a:rPr lang="en-US" sz="1200">
                <a:solidFill>
                  <a:srgbClr val="000000"/>
                </a:solidFill>
              </a:rPr>
              <a:t>Referential integrity should be enforced</a:t>
            </a:r>
            <a:endParaRPr i="1" sz="1200">
              <a:solidFill>
                <a:srgbClr val="000000"/>
              </a:solidFill>
            </a:endParaRPr>
          </a:p>
          <a:p>
            <a:pPr indent="0" lvl="0" marL="0" rtl="0" algn="l">
              <a:spcBef>
                <a:spcPts val="360"/>
              </a:spcBef>
              <a:spcAft>
                <a:spcPts val="0"/>
              </a:spcAft>
              <a:buNone/>
            </a:pPr>
            <a:r>
              <a:t/>
            </a:r>
            <a:endParaRPr/>
          </a:p>
        </p:txBody>
      </p:sp>
      <p:sp>
        <p:nvSpPr>
          <p:cNvPr id="757" name="Google Shape;757;p72: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758" name="Google Shape;758;p7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65" name="Google Shape;765;p7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1200">
                <a:solidFill>
                  <a:srgbClr val="000000"/>
                </a:solidFill>
              </a:rPr>
              <a:t>In this request, the modified SALARY value depends on the original SALARY value in each tuple</a:t>
            </a:r>
            <a:endParaRPr sz="1200">
              <a:solidFill>
                <a:srgbClr val="000000"/>
              </a:solidFill>
            </a:endParaRPr>
          </a:p>
          <a:p>
            <a:pPr indent="0" lvl="0" marL="0" rtl="0" algn="l">
              <a:lnSpc>
                <a:spcPct val="90000"/>
              </a:lnSpc>
              <a:spcBef>
                <a:spcPts val="360"/>
              </a:spcBef>
              <a:spcAft>
                <a:spcPts val="0"/>
              </a:spcAft>
              <a:buNone/>
            </a:pPr>
            <a:r>
              <a:rPr lang="en-US" sz="1200">
                <a:solidFill>
                  <a:srgbClr val="000000"/>
                </a:solidFill>
              </a:rPr>
              <a:t>The reference to the SALARY attribute on the right of = refers to the old SALARY value before modification</a:t>
            </a:r>
            <a:endParaRPr/>
          </a:p>
          <a:p>
            <a:pPr indent="0" lvl="0" marL="0" rtl="0" algn="l">
              <a:lnSpc>
                <a:spcPct val="90000"/>
              </a:lnSpc>
              <a:spcBef>
                <a:spcPts val="360"/>
              </a:spcBef>
              <a:spcAft>
                <a:spcPts val="0"/>
              </a:spcAft>
              <a:buNone/>
            </a:pPr>
            <a:r>
              <a:rPr lang="en-US" sz="1200">
                <a:solidFill>
                  <a:srgbClr val="000000"/>
                </a:solidFill>
              </a:rPr>
              <a:t>The reference to the SALARY attribute on the left of = refers to the new SALARY value after modificatio</a:t>
            </a:r>
            <a:endParaRPr/>
          </a:p>
        </p:txBody>
      </p:sp>
      <p:sp>
        <p:nvSpPr>
          <p:cNvPr id="766" name="Google Shape;766;p73: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767" name="Google Shape;767;p7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7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74" name="Google Shape;774;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7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81" name="Google Shape;781;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7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89" name="Google Shape;789;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7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97" name="Google Shape;797;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7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04" name="Google Shape;804;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7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12" name="Google Shape;812;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8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19" name="Google Shape;819;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8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26" name="Google Shape;826;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8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36" name="Google Shape;836;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43" name="Google Shape;843;p8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lang="en-US">
                <a:latin typeface="Courier New"/>
                <a:ea typeface="Courier New"/>
                <a:cs typeface="Courier New"/>
                <a:sym typeface="Courier New"/>
              </a:rPr>
              <a:t>WITH CHECK OPTION</a:t>
            </a:r>
            <a:r>
              <a:rPr lang="en-US" sz="2000"/>
              <a:t>: must be added to the definition of a view if the view is to be updated</a:t>
            </a:r>
            <a:endParaRPr/>
          </a:p>
          <a:p>
            <a:pPr indent="0" lvl="1" marL="457200" rtl="0" algn="l">
              <a:lnSpc>
                <a:spcPct val="90000"/>
              </a:lnSpc>
              <a:spcBef>
                <a:spcPts val="600"/>
              </a:spcBef>
              <a:spcAft>
                <a:spcPts val="0"/>
              </a:spcAft>
              <a:buNone/>
            </a:pPr>
            <a:r>
              <a:rPr lang="en-US" sz="2000"/>
              <a:t>to allow check for updatability and to plan for an execution strategy</a:t>
            </a:r>
            <a:endParaRPr/>
          </a:p>
          <a:p>
            <a:pPr indent="0" lvl="0" marL="0" rtl="0" algn="l">
              <a:spcBef>
                <a:spcPts val="360"/>
              </a:spcBef>
              <a:spcAft>
                <a:spcPts val="0"/>
              </a:spcAft>
              <a:buNone/>
            </a:pPr>
            <a:r>
              <a:t/>
            </a:r>
            <a:endParaRPr/>
          </a:p>
        </p:txBody>
      </p:sp>
      <p:sp>
        <p:nvSpPr>
          <p:cNvPr id="844" name="Google Shape;844;p83: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845" name="Google Shape;845;p8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53" name="Google Shape;853;p8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u="none" strike="noStrike">
                <a:solidFill>
                  <a:schemeClr val="dk1"/>
                </a:solidFill>
                <a:latin typeface="Times New Roman"/>
                <a:ea typeface="Times New Roman"/>
                <a:cs typeface="Times New Roman"/>
                <a:sym typeface="Times New Roman"/>
              </a:rPr>
              <a:t>A manager may</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want to be informed if an employee’s travel expenses exceed a certain limit by</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receiving a message whenever this occurs. The action that the DBMS must take in</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this case is to send an appropriate message to that user.</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a:solidFill>
                  <a:schemeClr val="dk1"/>
                </a:solidFill>
                <a:latin typeface="Times New Roman"/>
                <a:ea typeface="Times New Roman"/>
                <a:cs typeface="Times New Roman"/>
                <a:sym typeface="Times New Roman"/>
              </a:rPr>
              <a:t>A </a:t>
            </a:r>
            <a:r>
              <a:rPr b="1" i="0" lang="en-US" sz="1200">
                <a:solidFill>
                  <a:schemeClr val="dk1"/>
                </a:solidFill>
                <a:latin typeface="Times New Roman"/>
                <a:ea typeface="Times New Roman"/>
                <a:cs typeface="Times New Roman"/>
                <a:sym typeface="Times New Roman"/>
              </a:rPr>
              <a:t>trigger</a:t>
            </a:r>
            <a:r>
              <a:rPr b="0" i="0" lang="en-US" sz="1200">
                <a:solidFill>
                  <a:schemeClr val="dk1"/>
                </a:solidFill>
                <a:latin typeface="Times New Roman"/>
                <a:ea typeface="Times New Roman"/>
                <a:cs typeface="Times New Roman"/>
                <a:sym typeface="Times New Roman"/>
              </a:rPr>
              <a:t> is a special kind of a store procedure that executes in response to certain action on the table like insertion, deletion or updation of data. It is a database object which is bound to a table and is executed automatically. You can’t explicitly invoke </a:t>
            </a:r>
            <a:r>
              <a:rPr b="1" i="0" lang="en-US" sz="1200">
                <a:solidFill>
                  <a:schemeClr val="dk1"/>
                </a:solidFill>
                <a:latin typeface="Times New Roman"/>
                <a:ea typeface="Times New Roman"/>
                <a:cs typeface="Times New Roman"/>
                <a:sym typeface="Times New Roman"/>
              </a:rPr>
              <a:t>trigger</a:t>
            </a:r>
            <a:r>
              <a:rPr b="0" i="0" lang="en-US" sz="1200">
                <a:solidFill>
                  <a:schemeClr val="dk1"/>
                </a:solidFill>
                <a:latin typeface="Times New Roman"/>
                <a:ea typeface="Times New Roman"/>
                <a:cs typeface="Times New Roman"/>
                <a:sym typeface="Times New Roman"/>
              </a:rPr>
              <a:t>s. The only way to do this is by performing the required action on the table that they are assigned to.</a:t>
            </a:r>
            <a:endParaRPr/>
          </a:p>
        </p:txBody>
      </p:sp>
      <p:sp>
        <p:nvSpPr>
          <p:cNvPr id="854" name="Google Shape;854;p84: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855" name="Google Shape;855;p84: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62" name="Google Shape;862;p8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assertion on multiple table create triggers as sql server do not provide create assertion </a:t>
            </a:r>
            <a:endParaRPr/>
          </a:p>
          <a:p>
            <a:pPr indent="0" lvl="0" marL="0" rtl="0" algn="l">
              <a:spcBef>
                <a:spcPts val="360"/>
              </a:spcBef>
              <a:spcAft>
                <a:spcPts val="0"/>
              </a:spcAft>
              <a:buNone/>
            </a:pPr>
            <a:r>
              <a:rPr b="0" i="0" lang="en-US" sz="1200">
                <a:solidFill>
                  <a:schemeClr val="dk1"/>
                </a:solidFill>
                <a:latin typeface="Times New Roman"/>
                <a:ea typeface="Times New Roman"/>
                <a:cs typeface="Times New Roman"/>
                <a:sym typeface="Times New Roman"/>
              </a:rPr>
              <a:t>CREATE TRIGGER trg ON tbl </a:t>
            </a:r>
            <a:endParaRPr/>
          </a:p>
          <a:p>
            <a:pPr indent="0" lvl="0" marL="0" rtl="0" algn="l">
              <a:spcBef>
                <a:spcPts val="360"/>
              </a:spcBef>
              <a:spcAft>
                <a:spcPts val="0"/>
              </a:spcAft>
              <a:buNone/>
            </a:pPr>
            <a:r>
              <a:rPr b="0" i="0" lang="en-US" sz="1200">
                <a:solidFill>
                  <a:schemeClr val="dk1"/>
                </a:solidFill>
                <a:latin typeface="Times New Roman"/>
                <a:ea typeface="Times New Roman"/>
                <a:cs typeface="Times New Roman"/>
                <a:sym typeface="Times New Roman"/>
              </a:rPr>
              <a:t>Before INSERT, UPDATE</a:t>
            </a:r>
            <a:br>
              <a:rPr lang="en-US"/>
            </a:br>
            <a:r>
              <a:rPr b="0" i="0" lang="en-US" sz="1200">
                <a:solidFill>
                  <a:schemeClr val="dk1"/>
                </a:solidFill>
                <a:latin typeface="Times New Roman"/>
                <a:ea typeface="Times New Roman"/>
                <a:cs typeface="Times New Roman"/>
                <a:sym typeface="Times New Roman"/>
              </a:rPr>
              <a:t>AS</a:t>
            </a:r>
            <a:br>
              <a:rPr lang="en-US"/>
            </a:br>
            <a:r>
              <a:rPr b="0" i="0" lang="en-US" sz="1200">
                <a:solidFill>
                  <a:schemeClr val="dk1"/>
                </a:solidFill>
                <a:latin typeface="Times New Roman"/>
                <a:ea typeface="Times New Roman"/>
                <a:cs typeface="Times New Roman"/>
                <a:sym typeface="Times New Roman"/>
              </a:rPr>
              <a:t>...</a:t>
            </a:r>
            <a:br>
              <a:rPr lang="en-US"/>
            </a:br>
            <a:r>
              <a:rPr b="0" i="0" lang="en-US" sz="1200">
                <a:solidFill>
                  <a:schemeClr val="dk1"/>
                </a:solidFill>
                <a:latin typeface="Times New Roman"/>
                <a:ea typeface="Times New Roman"/>
                <a:cs typeface="Times New Roman"/>
                <a:sym typeface="Times New Roman"/>
              </a:rPr>
              <a:t>IF EXISTS( SELECT * FROM ...)</a:t>
            </a:r>
            <a:br>
              <a:rPr lang="en-US"/>
            </a:br>
            <a:r>
              <a:rPr b="0" i="0" lang="en-US" sz="1200">
                <a:solidFill>
                  <a:schemeClr val="dk1"/>
                </a:solidFill>
                <a:latin typeface="Times New Roman"/>
                <a:ea typeface="Times New Roman"/>
                <a:cs typeface="Times New Roman"/>
                <a:sym typeface="Times New Roman"/>
              </a:rPr>
              <a:t>ROLLBACK</a:t>
            </a:r>
            <a:endParaRPr/>
          </a:p>
        </p:txBody>
      </p:sp>
      <p:sp>
        <p:nvSpPr>
          <p:cNvPr id="863" name="Google Shape;863;p85: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864" name="Google Shape;864;p85: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71" name="Google Shape;871;p8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imes New Roman"/>
              <a:buNone/>
            </a:pPr>
            <a:r>
              <a:rPr lang="en-US"/>
              <a:t>List the names of the most boats that are expensive then all boats owned by a Pakistani</a:t>
            </a:r>
            <a:endParaRPr/>
          </a:p>
          <a:p>
            <a:pPr indent="0" lvl="0" marL="0" rtl="0" algn="l">
              <a:spcBef>
                <a:spcPts val="360"/>
              </a:spcBef>
              <a:spcAft>
                <a:spcPts val="0"/>
              </a:spcAft>
              <a:buNone/>
            </a:pPr>
            <a:r>
              <a:t/>
            </a:r>
            <a:endParaRPr/>
          </a:p>
        </p:txBody>
      </p:sp>
      <p:sp>
        <p:nvSpPr>
          <p:cNvPr id="872" name="Google Shape;872;p86: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873" name="Google Shape;873;p86: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79" name="Google Shape;879;p8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List the names of the boats that are owned by a Pakistani and were reserved by at least five sailors.  </a:t>
            </a:r>
            <a:endParaRPr sz="1200">
              <a:solidFill>
                <a:schemeClr val="dk1"/>
              </a:solidFill>
              <a:latin typeface="Times New Roman"/>
              <a:ea typeface="Times New Roman"/>
              <a:cs typeface="Times New Roman"/>
              <a:sym typeface="Times New Roman"/>
            </a:endParaRPr>
          </a:p>
        </p:txBody>
      </p:sp>
      <p:sp>
        <p:nvSpPr>
          <p:cNvPr id="880" name="Google Shape;880;p87: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881" name="Google Shape;881;p8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8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87" name="Google Shape;887;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94" name="Google Shape;894;p8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Select</a:t>
            </a:r>
            <a:r>
              <a:rPr lang="en-US"/>
              <a:t> distinct b.bname, b.price, o.oname </a:t>
            </a:r>
            <a:endParaRPr/>
          </a:p>
          <a:p>
            <a:pPr indent="0" lvl="0" marL="0" rtl="0" algn="l">
              <a:spcBef>
                <a:spcPts val="360"/>
              </a:spcBef>
              <a:spcAft>
                <a:spcPts val="0"/>
              </a:spcAft>
              <a:buClr>
                <a:schemeClr val="dk1"/>
              </a:buClr>
              <a:buSzPts val="1200"/>
              <a:buFont typeface="Times New Roman"/>
              <a:buNone/>
            </a:pPr>
            <a:r>
              <a:rPr b="1" lang="en-US"/>
              <a:t>From</a:t>
            </a:r>
            <a:r>
              <a:rPr lang="en-US"/>
              <a:t> reservation r, boat b, owner o</a:t>
            </a:r>
            <a:endParaRPr/>
          </a:p>
          <a:p>
            <a:pPr indent="0" lvl="0" marL="0" rtl="0" algn="l">
              <a:spcBef>
                <a:spcPts val="360"/>
              </a:spcBef>
              <a:spcAft>
                <a:spcPts val="0"/>
              </a:spcAft>
              <a:buClr>
                <a:schemeClr val="dk1"/>
              </a:buClr>
              <a:buSzPts val="1200"/>
              <a:buFont typeface="Times New Roman"/>
              <a:buNone/>
            </a:pPr>
            <a:r>
              <a:rPr b="1" lang="en-US"/>
              <a:t>Where</a:t>
            </a:r>
            <a:r>
              <a:rPr lang="en-US"/>
              <a:t> r.bname = b.bname and b.oid=o.oid and r.date LIKE '%2007%‘</a:t>
            </a:r>
            <a:endParaRPr/>
          </a:p>
          <a:p>
            <a:pPr indent="0" lvl="0" marL="0" rtl="0" algn="l">
              <a:spcBef>
                <a:spcPts val="360"/>
              </a:spcBef>
              <a:spcAft>
                <a:spcPts val="0"/>
              </a:spcAft>
              <a:buClr>
                <a:schemeClr val="dk1"/>
              </a:buClr>
              <a:buSzPts val="1200"/>
              <a:buFont typeface="Times New Roman"/>
              <a:buNone/>
            </a:pPr>
            <a:r>
              <a:rPr lang="en-US"/>
              <a:t>EXCEPT</a:t>
            </a:r>
            <a:endParaRPr/>
          </a:p>
          <a:p>
            <a:pPr indent="0" lvl="0" marL="0" rtl="0" algn="l">
              <a:spcBef>
                <a:spcPts val="360"/>
              </a:spcBef>
              <a:spcAft>
                <a:spcPts val="0"/>
              </a:spcAft>
              <a:buNone/>
            </a:pPr>
            <a:r>
              <a:rPr b="1" lang="en-US"/>
              <a:t>Select</a:t>
            </a:r>
            <a:r>
              <a:rPr lang="en-US"/>
              <a:t> distinct b.bname, b.price, o.oname </a:t>
            </a:r>
            <a:endParaRPr/>
          </a:p>
          <a:p>
            <a:pPr indent="0" lvl="0" marL="0" rtl="0" algn="l">
              <a:spcBef>
                <a:spcPts val="360"/>
              </a:spcBef>
              <a:spcAft>
                <a:spcPts val="0"/>
              </a:spcAft>
              <a:buClr>
                <a:schemeClr val="dk1"/>
              </a:buClr>
              <a:buSzPts val="1200"/>
              <a:buFont typeface="Times New Roman"/>
              <a:buNone/>
            </a:pPr>
            <a:r>
              <a:rPr b="1" lang="en-US"/>
              <a:t>From</a:t>
            </a:r>
            <a:r>
              <a:rPr lang="en-US"/>
              <a:t> reservation r, boat b, owner o</a:t>
            </a:r>
            <a:endParaRPr/>
          </a:p>
          <a:p>
            <a:pPr indent="0" lvl="0" marL="0" rtl="0" algn="l">
              <a:spcBef>
                <a:spcPts val="360"/>
              </a:spcBef>
              <a:spcAft>
                <a:spcPts val="0"/>
              </a:spcAft>
              <a:buClr>
                <a:schemeClr val="dk1"/>
              </a:buClr>
              <a:buSzPts val="1200"/>
              <a:buFont typeface="Times New Roman"/>
              <a:buNone/>
            </a:pPr>
            <a:r>
              <a:rPr b="1" lang="en-US"/>
              <a:t>Where</a:t>
            </a:r>
            <a:r>
              <a:rPr lang="en-US"/>
              <a:t> r.bname = b.bname and b.oid=o.oid and r.date LIKE '%2008%‘</a:t>
            </a:r>
            <a:endParaRPr/>
          </a:p>
          <a:p>
            <a:pPr indent="0" lvl="0" marL="0" rtl="0" algn="l">
              <a:spcBef>
                <a:spcPts val="360"/>
              </a:spcBef>
              <a:spcAft>
                <a:spcPts val="0"/>
              </a:spcAft>
              <a:buClr>
                <a:schemeClr val="dk1"/>
              </a:buClr>
              <a:buSzPts val="1200"/>
              <a:buFont typeface="Times New Roman"/>
              <a:buNone/>
            </a:pPr>
            <a:r>
              <a:t/>
            </a:r>
            <a:endParaRPr/>
          </a:p>
          <a:p>
            <a:pPr indent="0" lvl="0" marL="0" rtl="0" algn="l">
              <a:spcBef>
                <a:spcPts val="360"/>
              </a:spcBef>
              <a:spcAft>
                <a:spcPts val="0"/>
              </a:spcAft>
              <a:buClr>
                <a:schemeClr val="dk1"/>
              </a:buClr>
              <a:buSzPts val="1200"/>
              <a:buFont typeface="Times New Roman"/>
              <a:buNone/>
            </a:pPr>
            <a:r>
              <a:t/>
            </a:r>
            <a:endParaRPr/>
          </a:p>
          <a:p>
            <a:pPr indent="0" lvl="0" marL="0" rtl="0" algn="l">
              <a:spcBef>
                <a:spcPts val="360"/>
              </a:spcBef>
              <a:spcAft>
                <a:spcPts val="0"/>
              </a:spcAft>
              <a:buNone/>
            </a:pPr>
            <a:r>
              <a:rPr b="1" lang="en-US"/>
              <a:t>Select</a:t>
            </a:r>
            <a:r>
              <a:rPr lang="en-US"/>
              <a:t> distinct b.bname, b.price, o.oname </a:t>
            </a:r>
            <a:endParaRPr/>
          </a:p>
          <a:p>
            <a:pPr indent="0" lvl="0" marL="0" rtl="0" algn="l">
              <a:spcBef>
                <a:spcPts val="360"/>
              </a:spcBef>
              <a:spcAft>
                <a:spcPts val="0"/>
              </a:spcAft>
              <a:buClr>
                <a:schemeClr val="dk1"/>
              </a:buClr>
              <a:buSzPts val="1200"/>
              <a:buFont typeface="Times New Roman"/>
              <a:buNone/>
            </a:pPr>
            <a:r>
              <a:rPr lang="en-US"/>
              <a:t>     </a:t>
            </a:r>
            <a:r>
              <a:rPr b="1" lang="en-US"/>
              <a:t>From</a:t>
            </a:r>
            <a:r>
              <a:rPr lang="en-US"/>
              <a:t> reservation r, boat b, owner o</a:t>
            </a:r>
            <a:endParaRPr/>
          </a:p>
          <a:p>
            <a:pPr indent="0" lvl="0" marL="0" rtl="0" algn="l">
              <a:spcBef>
                <a:spcPts val="360"/>
              </a:spcBef>
              <a:spcAft>
                <a:spcPts val="0"/>
              </a:spcAft>
              <a:buClr>
                <a:schemeClr val="dk1"/>
              </a:buClr>
              <a:buSzPts val="1200"/>
              <a:buFont typeface="Times New Roman"/>
              <a:buNone/>
            </a:pPr>
            <a:r>
              <a:rPr lang="en-US"/>
              <a:t>     </a:t>
            </a:r>
            <a:r>
              <a:rPr b="1" lang="en-US"/>
              <a:t>Where</a:t>
            </a:r>
            <a:r>
              <a:rPr lang="en-US"/>
              <a:t> r.bname = b.bname and b.oid=o.oid and r.date LIKE 	'%2007%'  and r.sid not in </a:t>
            </a:r>
            <a:endParaRPr/>
          </a:p>
          <a:p>
            <a:pPr indent="0" lvl="0" marL="0" rtl="0" algn="l">
              <a:spcBef>
                <a:spcPts val="360"/>
              </a:spcBef>
              <a:spcAft>
                <a:spcPts val="0"/>
              </a:spcAft>
              <a:buClr>
                <a:schemeClr val="dk1"/>
              </a:buClr>
              <a:buSzPts val="1200"/>
              <a:buFont typeface="Times New Roman"/>
              <a:buNone/>
            </a:pPr>
            <a:r>
              <a:rPr lang="en-US"/>
              <a:t>			(Select ic.sid </a:t>
            </a:r>
            <a:endParaRPr/>
          </a:p>
          <a:p>
            <a:pPr indent="0" lvl="0" marL="0" rtl="0" algn="l">
              <a:spcBef>
                <a:spcPts val="360"/>
              </a:spcBef>
              <a:spcAft>
                <a:spcPts val="0"/>
              </a:spcAft>
              <a:buClr>
                <a:schemeClr val="dk1"/>
              </a:buClr>
              <a:buSzPts val="1200"/>
              <a:buFont typeface="Times New Roman"/>
              <a:buNone/>
            </a:pPr>
            <a:r>
              <a:rPr lang="en-US"/>
              <a:t>			  From reservation ic, boat ip </a:t>
            </a:r>
            <a:endParaRPr/>
          </a:p>
          <a:p>
            <a:pPr indent="0" lvl="0" marL="0" rtl="0" algn="l">
              <a:spcBef>
                <a:spcPts val="360"/>
              </a:spcBef>
              <a:spcAft>
                <a:spcPts val="0"/>
              </a:spcAft>
              <a:buClr>
                <a:schemeClr val="dk1"/>
              </a:buClr>
              <a:buSzPts val="1200"/>
              <a:buFont typeface="Times New Roman"/>
              <a:buNone/>
            </a:pPr>
            <a:r>
              <a:rPr lang="en-US"/>
              <a:t>			  Where ic.bname = ip.bname and ip.date LIKE '%2008%' )</a:t>
            </a:r>
            <a:endParaRPr/>
          </a:p>
          <a:p>
            <a:pPr indent="0" lvl="0" marL="0" rtl="0" algn="l">
              <a:spcBef>
                <a:spcPts val="360"/>
              </a:spcBef>
              <a:spcAft>
                <a:spcPts val="0"/>
              </a:spcAft>
              <a:buClr>
                <a:schemeClr val="dk1"/>
              </a:buClr>
              <a:buSzPts val="1200"/>
              <a:buFont typeface="Times New Roman"/>
              <a:buNone/>
            </a:pPr>
            <a:r>
              <a:t/>
            </a:r>
            <a:endParaRPr/>
          </a:p>
          <a:p>
            <a:pPr indent="0" lvl="0" marL="0" rtl="0" algn="l">
              <a:spcBef>
                <a:spcPts val="360"/>
              </a:spcBef>
              <a:spcAft>
                <a:spcPts val="0"/>
              </a:spcAft>
              <a:buClr>
                <a:schemeClr val="dk1"/>
              </a:buClr>
              <a:buSzPts val="1200"/>
              <a:buFont typeface="Times New Roman"/>
              <a:buNone/>
            </a:pPr>
            <a:r>
              <a:t/>
            </a:r>
            <a:endParaRPr/>
          </a:p>
        </p:txBody>
      </p:sp>
      <p:sp>
        <p:nvSpPr>
          <p:cNvPr id="895" name="Google Shape;895;p89: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896" name="Google Shape;896;p8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9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03" name="Google Shape;903;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10" name="Google Shape;910;p9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although the conditional expression in the CHECK clause can refer to other tables. Table constraints are required to hold only if the associated table is nonempty. Thus, when a constraint involves two or more tables, the table constraint mechanism is sometimes cumbersome and not quite what is desired.</a:t>
            </a:r>
            <a:endParaRPr/>
          </a:p>
        </p:txBody>
      </p:sp>
      <p:sp>
        <p:nvSpPr>
          <p:cNvPr id="911" name="Google Shape;911;p91: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912" name="Google Shape;912;p9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9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19" name="Google Shape;919;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26" name="Google Shape;926;p9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1" marL="457200" rtl="0" algn="l">
              <a:spcBef>
                <a:spcPts val="0"/>
              </a:spcBef>
              <a:spcAft>
                <a:spcPts val="0"/>
              </a:spcAft>
              <a:buClr>
                <a:schemeClr val="dk1"/>
              </a:buClr>
              <a:buSzPts val="1200"/>
              <a:buFont typeface="Noto Sans Symbols"/>
              <a:buNone/>
            </a:pPr>
            <a:r>
              <a:rPr lang="en-US"/>
              <a:t>CREATE ASSERTION DEPT_EMPs</a:t>
            </a:r>
            <a:endParaRPr/>
          </a:p>
          <a:p>
            <a:pPr indent="0" lvl="1" marL="457200" rtl="0" algn="l">
              <a:spcBef>
                <a:spcPts val="360"/>
              </a:spcBef>
              <a:spcAft>
                <a:spcPts val="0"/>
              </a:spcAft>
              <a:buClr>
                <a:schemeClr val="dk1"/>
              </a:buClr>
              <a:buSzPts val="1200"/>
              <a:buFont typeface="Noto Sans Symbols"/>
              <a:buNone/>
            </a:pPr>
            <a:r>
              <a:rPr lang="en-US"/>
              <a:t>CHECK( Not Exists (SELECT Dno</a:t>
            </a:r>
            <a:endParaRPr/>
          </a:p>
          <a:p>
            <a:pPr indent="0" lvl="1" marL="457200" rtl="0" algn="l">
              <a:spcBef>
                <a:spcPts val="360"/>
              </a:spcBef>
              <a:spcAft>
                <a:spcPts val="0"/>
              </a:spcAft>
              <a:buClr>
                <a:schemeClr val="dk1"/>
              </a:buClr>
              <a:buSzPts val="1200"/>
              <a:buFont typeface="Noto Sans Symbols"/>
              <a:buNone/>
            </a:pPr>
            <a:r>
              <a:rPr lang="en-US"/>
              <a:t>              FROM Employee</a:t>
            </a:r>
            <a:endParaRPr/>
          </a:p>
          <a:p>
            <a:pPr indent="0" lvl="1" marL="457200" rtl="0" algn="l">
              <a:spcBef>
                <a:spcPts val="360"/>
              </a:spcBef>
              <a:spcAft>
                <a:spcPts val="0"/>
              </a:spcAft>
              <a:buClr>
                <a:schemeClr val="dk1"/>
              </a:buClr>
              <a:buSzPts val="1200"/>
              <a:buFont typeface="Noto Sans Symbols"/>
              <a:buNone/>
            </a:pPr>
            <a:r>
              <a:rPr lang="en-US"/>
              <a:t>	     Group By Dno</a:t>
            </a:r>
            <a:endParaRPr/>
          </a:p>
          <a:p>
            <a:pPr indent="0" lvl="1" marL="457200" rtl="0" algn="l">
              <a:spcBef>
                <a:spcPts val="360"/>
              </a:spcBef>
              <a:spcAft>
                <a:spcPts val="0"/>
              </a:spcAft>
              <a:buClr>
                <a:schemeClr val="dk1"/>
              </a:buClr>
              <a:buSzPts val="1200"/>
              <a:buFont typeface="Noto Sans Symbols"/>
              <a:buNone/>
            </a:pPr>
            <a:r>
              <a:rPr lang="en-US"/>
              <a:t>               Having count(ssn) &gt; 100))</a:t>
            </a:r>
            <a:endParaRPr/>
          </a:p>
          <a:p>
            <a:pPr indent="0" lvl="0" marL="0" rtl="0" algn="l">
              <a:spcBef>
                <a:spcPts val="360"/>
              </a:spcBef>
              <a:spcAft>
                <a:spcPts val="0"/>
              </a:spcAft>
              <a:buNone/>
            </a:pPr>
            <a:r>
              <a:rPr lang="en-US"/>
              <a:t>*** Use table constarints in sql –server*****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ALTER TABLE Employee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ADD CONSTRAINT no_of_emp</a:t>
            </a:r>
            <a:endParaRPr sz="1200">
              <a:solidFill>
                <a:schemeClr val="dk1"/>
              </a:solidFill>
              <a:latin typeface="Times New Roman"/>
              <a:ea typeface="Times New Roman"/>
              <a:cs typeface="Times New Roman"/>
              <a:sym typeface="Times New Roman"/>
            </a:endParaRPr>
          </a:p>
          <a:p>
            <a:pPr indent="0" lvl="1" marL="457200" rtl="0" algn="l">
              <a:spcBef>
                <a:spcPts val="360"/>
              </a:spcBef>
              <a:spcAft>
                <a:spcPts val="0"/>
              </a:spcAft>
              <a:buClr>
                <a:schemeClr val="dk1"/>
              </a:buClr>
              <a:buSzPts val="1200"/>
              <a:buFont typeface="Noto Sans Symbols"/>
              <a:buNone/>
            </a:pPr>
            <a:r>
              <a:rPr lang="en-US"/>
              <a:t>CHECK( Not Exists (SELECT Dno</a:t>
            </a:r>
            <a:endParaRPr/>
          </a:p>
          <a:p>
            <a:pPr indent="0" lvl="1" marL="457200" rtl="0" algn="l">
              <a:spcBef>
                <a:spcPts val="360"/>
              </a:spcBef>
              <a:spcAft>
                <a:spcPts val="0"/>
              </a:spcAft>
              <a:buClr>
                <a:schemeClr val="dk1"/>
              </a:buClr>
              <a:buSzPts val="1200"/>
              <a:buFont typeface="Noto Sans Symbols"/>
              <a:buNone/>
            </a:pPr>
            <a:r>
              <a:rPr lang="en-US"/>
              <a:t>              FROM Employee</a:t>
            </a:r>
            <a:endParaRPr/>
          </a:p>
          <a:p>
            <a:pPr indent="0" lvl="1" marL="457200" rtl="0" algn="l">
              <a:spcBef>
                <a:spcPts val="360"/>
              </a:spcBef>
              <a:spcAft>
                <a:spcPts val="0"/>
              </a:spcAft>
              <a:buClr>
                <a:schemeClr val="dk1"/>
              </a:buClr>
              <a:buSzPts val="1200"/>
              <a:buFont typeface="Noto Sans Symbols"/>
              <a:buNone/>
            </a:pPr>
            <a:r>
              <a:rPr lang="en-US"/>
              <a:t>	     Group By Dno</a:t>
            </a:r>
            <a:endParaRPr/>
          </a:p>
          <a:p>
            <a:pPr indent="0" lvl="1" marL="457200" rtl="0" algn="l">
              <a:spcBef>
                <a:spcPts val="360"/>
              </a:spcBef>
              <a:spcAft>
                <a:spcPts val="0"/>
              </a:spcAft>
              <a:buClr>
                <a:schemeClr val="dk1"/>
              </a:buClr>
              <a:buSzPts val="1200"/>
              <a:buFont typeface="Noto Sans Symbols"/>
              <a:buNone/>
            </a:pPr>
            <a:r>
              <a:rPr lang="en-US"/>
              <a:t>               Having count(ssn) &gt; 100))</a:t>
            </a:r>
            <a:endParaRPr/>
          </a:p>
        </p:txBody>
      </p:sp>
      <p:sp>
        <p:nvSpPr>
          <p:cNvPr id="927" name="Google Shape;927;p93: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3/24/2015</a:t>
            </a:r>
            <a:endParaRPr/>
          </a:p>
        </p:txBody>
      </p:sp>
      <p:sp>
        <p:nvSpPr>
          <p:cNvPr id="928" name="Google Shape;928;p9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9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35" name="Google Shape;935;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1"/>
        </a:solidFill>
      </p:bgPr>
    </p:bg>
    <p:spTree>
      <p:nvGrpSpPr>
        <p:cNvPr id="21" name="Shape 21"/>
        <p:cNvGrpSpPr/>
        <p:nvPr/>
      </p:nvGrpSpPr>
      <p:grpSpPr>
        <a:xfrm>
          <a:off x="0" y="0"/>
          <a:ext cx="0" cy="0"/>
          <a:chOff x="0" y="0"/>
          <a:chExt cx="0" cy="0"/>
        </a:xfrm>
      </p:grpSpPr>
      <p:sp>
        <p:nvSpPr>
          <p:cNvPr id="22" name="Google Shape;22;p96"/>
          <p:cNvSpPr txBox="1"/>
          <p:nvPr>
            <p:ph type="ctrTitle"/>
          </p:nvPr>
        </p:nvSpPr>
        <p:spPr>
          <a:xfrm>
            <a:off x="2286000" y="3124200"/>
            <a:ext cx="6172200" cy="189436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Calibri"/>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96"/>
          <p:cNvSpPr txBox="1"/>
          <p:nvPr>
            <p:ph idx="1" type="subTitle"/>
          </p:nvPr>
        </p:nvSpPr>
        <p:spPr>
          <a:xfrm>
            <a:off x="2286000" y="5003322"/>
            <a:ext cx="6172200" cy="1371600"/>
          </a:xfrm>
          <a:prstGeom prst="rect">
            <a:avLst/>
          </a:prstGeom>
          <a:noFill/>
          <a:ln>
            <a:noFill/>
          </a:ln>
        </p:spPr>
        <p:txBody>
          <a:bodyPr anchorCtr="0" anchor="t" bIns="45700" lIns="91425" spcFirstLastPara="1" rIns="91425" wrap="square" tIns="45700">
            <a:normAutofit/>
          </a:bodyPr>
          <a:lstStyle>
            <a:lvl1pPr lvl="0" algn="l">
              <a:spcBef>
                <a:spcPts val="600"/>
              </a:spcBef>
              <a:spcAft>
                <a:spcPts val="0"/>
              </a:spcAft>
              <a:buSzPts val="1260"/>
              <a:buNone/>
              <a:defRPr b="1" sz="1800">
                <a:solidFill>
                  <a:schemeClr val="dk2"/>
                </a:solidFill>
              </a:defRPr>
            </a:lvl1pPr>
            <a:lvl2pPr lvl="1" algn="ctr">
              <a:spcBef>
                <a:spcPts val="360"/>
              </a:spcBef>
              <a:spcAft>
                <a:spcPts val="0"/>
              </a:spcAft>
              <a:buSzPts val="1440"/>
              <a:buNone/>
              <a:defRPr/>
            </a:lvl2pPr>
            <a:lvl3pPr lvl="2" algn="ctr">
              <a:spcBef>
                <a:spcPts val="360"/>
              </a:spcBef>
              <a:spcAft>
                <a:spcPts val="0"/>
              </a:spcAft>
              <a:buSzPts val="1080"/>
              <a:buNone/>
              <a:defRPr/>
            </a:lvl3pPr>
            <a:lvl4pPr lvl="3" algn="ctr">
              <a:spcBef>
                <a:spcPts val="360"/>
              </a:spcBef>
              <a:spcAft>
                <a:spcPts val="0"/>
              </a:spcAft>
              <a:buSzPts val="1080"/>
              <a:buNone/>
              <a:defRPr/>
            </a:lvl4pPr>
            <a:lvl5pPr lvl="4" algn="ctr">
              <a:spcBef>
                <a:spcPts val="360"/>
              </a:spcBef>
              <a:spcAft>
                <a:spcPts val="0"/>
              </a:spcAft>
              <a:buSzPts val="1224"/>
              <a:buNone/>
              <a:defRPr/>
            </a:lvl5pPr>
            <a:lvl6pPr lvl="5" algn="ctr">
              <a:spcBef>
                <a:spcPts val="360"/>
              </a:spcBef>
              <a:spcAft>
                <a:spcPts val="0"/>
              </a:spcAft>
              <a:buSzPts val="1800"/>
              <a:buNone/>
              <a:defRPr/>
            </a:lvl6pPr>
            <a:lvl7pPr lvl="6" algn="ctr">
              <a:spcBef>
                <a:spcPts val="360"/>
              </a:spcBef>
              <a:spcAft>
                <a:spcPts val="0"/>
              </a:spcAft>
              <a:buSzPts val="108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4" name="Google Shape;24;p96"/>
          <p:cNvSpPr txBox="1"/>
          <p:nvPr>
            <p:ph idx="10" type="dt"/>
          </p:nvPr>
        </p:nvSpPr>
        <p:spPr>
          <a:xfrm rot="5400000">
            <a:off x="7764621" y="1174097"/>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96"/>
          <p:cNvSpPr txBox="1"/>
          <p:nvPr>
            <p:ph idx="11" type="ftr"/>
          </p:nvPr>
        </p:nvSpPr>
        <p:spPr>
          <a:xfrm rot="5400000">
            <a:off x="7077269" y="4181669"/>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96"/>
          <p:cNvSpPr/>
          <p:nvPr/>
        </p:nvSpPr>
        <p:spPr>
          <a:xfrm>
            <a:off x="381000" y="0"/>
            <a:ext cx="609600" cy="6858000"/>
          </a:xfrm>
          <a:prstGeom prst="rect">
            <a:avLst/>
          </a:prstGeom>
          <a:solidFill>
            <a:srgbClr val="ABCDDB">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27" name="Google Shape;27;p96"/>
          <p:cNvSpPr/>
          <p:nvPr/>
        </p:nvSpPr>
        <p:spPr>
          <a:xfrm>
            <a:off x="276336" y="0"/>
            <a:ext cx="104664" cy="6858000"/>
          </a:xfrm>
          <a:prstGeom prst="rect">
            <a:avLst/>
          </a:prstGeom>
          <a:solidFill>
            <a:srgbClr val="CCDFE8">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28" name="Google Shape;28;p96"/>
          <p:cNvSpPr/>
          <p:nvPr/>
        </p:nvSpPr>
        <p:spPr>
          <a:xfrm>
            <a:off x="990600" y="0"/>
            <a:ext cx="181872" cy="6858000"/>
          </a:xfrm>
          <a:prstGeom prst="rect">
            <a:avLst/>
          </a:prstGeom>
          <a:solidFill>
            <a:srgbClr val="CCDFE8">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29" name="Google Shape;29;p96"/>
          <p:cNvSpPr/>
          <p:nvPr/>
        </p:nvSpPr>
        <p:spPr>
          <a:xfrm>
            <a:off x="1141320" y="0"/>
            <a:ext cx="230280" cy="6858000"/>
          </a:xfrm>
          <a:prstGeom prst="rect">
            <a:avLst/>
          </a:prstGeom>
          <a:solidFill>
            <a:srgbClr val="E7F0F4">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cxnSp>
        <p:nvCxnSpPr>
          <p:cNvPr id="30" name="Google Shape;30;p96"/>
          <p:cNvCxnSpPr/>
          <p:nvPr/>
        </p:nvCxnSpPr>
        <p:spPr>
          <a:xfrm>
            <a:off x="106344" y="0"/>
            <a:ext cx="0" cy="6858000"/>
          </a:xfrm>
          <a:prstGeom prst="straightConnector1">
            <a:avLst/>
          </a:prstGeom>
          <a:noFill/>
          <a:ln cap="flat" cmpd="sng" w="57150">
            <a:solidFill>
              <a:srgbClr val="ABCDDB">
                <a:alpha val="72941"/>
              </a:srgbClr>
            </a:solidFill>
            <a:prstDash val="solid"/>
            <a:round/>
            <a:headEnd len="sm" w="sm" type="none"/>
            <a:tailEnd len="sm" w="sm" type="none"/>
          </a:ln>
        </p:spPr>
      </p:cxnSp>
      <p:cxnSp>
        <p:nvCxnSpPr>
          <p:cNvPr id="31" name="Google Shape;31;p96"/>
          <p:cNvCxnSpPr/>
          <p:nvPr/>
        </p:nvCxnSpPr>
        <p:spPr>
          <a:xfrm>
            <a:off x="914400" y="0"/>
            <a:ext cx="0" cy="6858000"/>
          </a:xfrm>
          <a:prstGeom prst="straightConnector1">
            <a:avLst/>
          </a:prstGeom>
          <a:noFill/>
          <a:ln cap="flat" cmpd="sng" w="57150">
            <a:solidFill>
              <a:srgbClr val="E7F0F4">
                <a:alpha val="82745"/>
              </a:srgbClr>
            </a:solidFill>
            <a:prstDash val="solid"/>
            <a:round/>
            <a:headEnd len="sm" w="sm" type="none"/>
            <a:tailEnd len="sm" w="sm" type="none"/>
          </a:ln>
        </p:spPr>
      </p:cxnSp>
      <p:cxnSp>
        <p:nvCxnSpPr>
          <p:cNvPr id="32" name="Google Shape;32;p96"/>
          <p:cNvCxnSpPr/>
          <p:nvPr/>
        </p:nvCxnSpPr>
        <p:spPr>
          <a:xfrm>
            <a:off x="854112" y="0"/>
            <a:ext cx="0" cy="6858000"/>
          </a:xfrm>
          <a:prstGeom prst="straightConnector1">
            <a:avLst/>
          </a:prstGeom>
          <a:noFill/>
          <a:ln cap="flat" cmpd="sng" w="57150">
            <a:solidFill>
              <a:srgbClr val="ABCDDB"/>
            </a:solidFill>
            <a:prstDash val="solid"/>
            <a:round/>
            <a:headEnd len="sm" w="sm" type="none"/>
            <a:tailEnd len="sm" w="sm" type="none"/>
          </a:ln>
        </p:spPr>
      </p:cxnSp>
      <p:cxnSp>
        <p:nvCxnSpPr>
          <p:cNvPr id="33" name="Google Shape;33;p96"/>
          <p:cNvCxnSpPr/>
          <p:nvPr/>
        </p:nvCxnSpPr>
        <p:spPr>
          <a:xfrm>
            <a:off x="1726640" y="0"/>
            <a:ext cx="0" cy="6858000"/>
          </a:xfrm>
          <a:prstGeom prst="straightConnector1">
            <a:avLst/>
          </a:prstGeom>
          <a:noFill/>
          <a:ln cap="flat" cmpd="sng" w="28575">
            <a:solidFill>
              <a:srgbClr val="ABCDDB">
                <a:alpha val="81960"/>
              </a:srgbClr>
            </a:solidFill>
            <a:prstDash val="solid"/>
            <a:round/>
            <a:headEnd len="sm" w="sm" type="none"/>
            <a:tailEnd len="sm" w="sm" type="none"/>
          </a:ln>
        </p:spPr>
      </p:cxnSp>
      <p:cxnSp>
        <p:nvCxnSpPr>
          <p:cNvPr id="34" name="Google Shape;34;p96"/>
          <p:cNvCxnSpPr/>
          <p:nvPr/>
        </p:nvCxnSpPr>
        <p:spPr>
          <a:xfrm>
            <a:off x="1066800" y="0"/>
            <a:ext cx="0" cy="6858000"/>
          </a:xfrm>
          <a:prstGeom prst="straightConnector1">
            <a:avLst/>
          </a:prstGeom>
          <a:noFill/>
          <a:ln cap="flat" cmpd="sng" w="9525">
            <a:solidFill>
              <a:srgbClr val="ABCDDB"/>
            </a:solidFill>
            <a:prstDash val="solid"/>
            <a:round/>
            <a:headEnd len="sm" w="sm" type="none"/>
            <a:tailEnd len="sm" w="sm" type="none"/>
          </a:ln>
        </p:spPr>
      </p:cxnSp>
      <p:cxnSp>
        <p:nvCxnSpPr>
          <p:cNvPr id="35" name="Google Shape;35;p96"/>
          <p:cNvCxnSpPr/>
          <p:nvPr/>
        </p:nvCxnSpPr>
        <p:spPr>
          <a:xfrm>
            <a:off x="9113856" y="0"/>
            <a:ext cx="0" cy="6858000"/>
          </a:xfrm>
          <a:prstGeom prst="straightConnector1">
            <a:avLst/>
          </a:prstGeom>
          <a:noFill/>
          <a:ln cap="flat" cmpd="thickThin" w="57150">
            <a:solidFill>
              <a:srgbClr val="ABCDDB"/>
            </a:solidFill>
            <a:prstDash val="solid"/>
            <a:round/>
            <a:headEnd len="sm" w="sm" type="none"/>
            <a:tailEnd len="sm" w="sm" type="none"/>
          </a:ln>
        </p:spPr>
      </p:cxnSp>
      <p:sp>
        <p:nvSpPr>
          <p:cNvPr id="36" name="Google Shape;36;p96"/>
          <p:cNvSpPr/>
          <p:nvPr/>
        </p:nvSpPr>
        <p:spPr>
          <a:xfrm>
            <a:off x="1219200" y="0"/>
            <a:ext cx="76200" cy="6858000"/>
          </a:xfrm>
          <a:prstGeom prst="rect">
            <a:avLst/>
          </a:prstGeom>
          <a:solidFill>
            <a:srgbClr val="ABCDDB">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37" name="Google Shape;37;p96"/>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38" name="Google Shape;38;p96"/>
          <p:cNvSpPr/>
          <p:nvPr/>
        </p:nvSpPr>
        <p:spPr>
          <a:xfrm>
            <a:off x="1309632"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39" name="Google Shape;39;p96"/>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40" name="Google Shape;40;p96"/>
          <p:cNvSpPr/>
          <p:nvPr/>
        </p:nvSpPr>
        <p:spPr>
          <a:xfrm>
            <a:off x="1664208" y="5788152"/>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41" name="Google Shape;41;p96"/>
          <p:cNvSpPr/>
          <p:nvPr/>
        </p:nvSpPr>
        <p:spPr>
          <a:xfrm>
            <a:off x="1905000" y="4495800"/>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42" name="Google Shape;42;p96"/>
          <p:cNvSpPr txBox="1"/>
          <p:nvPr>
            <p:ph idx="12" type="sldNum"/>
          </p:nvPr>
        </p:nvSpPr>
        <p:spPr>
          <a:xfrm>
            <a:off x="1325544"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None/>
              <a:defRPr/>
            </a:lvl1pPr>
            <a:lvl2pPr indent="0" lvl="1" marL="0" algn="ctr">
              <a:spcBef>
                <a:spcPts val="0"/>
              </a:spcBef>
              <a:spcAft>
                <a:spcPts val="0"/>
              </a:spcAft>
              <a:buNone/>
              <a:defRPr/>
            </a:lvl2pPr>
            <a:lvl3pPr indent="0" lvl="2" marL="0" algn="ctr">
              <a:spcBef>
                <a:spcPts val="0"/>
              </a:spcBef>
              <a:spcAft>
                <a:spcPts val="0"/>
              </a:spcAft>
              <a:buNone/>
              <a:defRPr/>
            </a:lvl3pPr>
            <a:lvl4pPr indent="0" lvl="3" marL="0" algn="ctr">
              <a:spcBef>
                <a:spcPts val="0"/>
              </a:spcBef>
              <a:spcAft>
                <a:spcPts val="0"/>
              </a:spcAft>
              <a:buNone/>
              <a:defRPr/>
            </a:lvl4pPr>
            <a:lvl5pPr indent="0" lvl="4" marL="0" algn="ctr">
              <a:spcBef>
                <a:spcPts val="0"/>
              </a:spcBef>
              <a:spcAft>
                <a:spcPts val="0"/>
              </a:spcAft>
              <a:buNone/>
              <a:defRPr/>
            </a:lvl5pPr>
            <a:lvl6pPr indent="0" lvl="5" marL="0" algn="ctr">
              <a:spcBef>
                <a:spcPts val="0"/>
              </a:spcBef>
              <a:spcAft>
                <a:spcPts val="0"/>
              </a:spcAft>
              <a:buNone/>
              <a:defRPr/>
            </a:lvl6pPr>
            <a:lvl7pPr indent="0" lvl="6" marL="0" algn="ctr">
              <a:spcBef>
                <a:spcPts val="0"/>
              </a:spcBef>
              <a:spcAft>
                <a:spcPts val="0"/>
              </a:spcAft>
              <a:buNone/>
              <a:defRPr/>
            </a:lvl7pPr>
            <a:lvl8pPr indent="0" lvl="7" marL="0" algn="ctr">
              <a:spcBef>
                <a:spcPts val="0"/>
              </a:spcBef>
              <a:spcAft>
                <a:spcPts val="0"/>
              </a:spcAft>
              <a:buNone/>
              <a:defRPr/>
            </a:lvl8pPr>
            <a:lvl9pPr indent="0" lvl="8" marL="0" algn="ctr">
              <a:spcBef>
                <a:spcPts val="0"/>
              </a:spcBef>
              <a:spcAft>
                <a:spcPts val="0"/>
              </a:spcAft>
              <a:buNone/>
              <a:defRPr/>
            </a:lvl9pPr>
          </a:lstStyle>
          <a:p>
            <a:pPr indent="0" lvl="0" marL="0" rtl="0" algn="ctr">
              <a:spcBef>
                <a:spcPts val="0"/>
              </a:spcBef>
              <a:spcAft>
                <a:spcPts val="0"/>
              </a:spcAft>
              <a:buNone/>
            </a:pPr>
            <a:fld id="{00000000-1234-1234-1234-123412341234}" type="slidenum">
              <a:rPr lang="en-US"/>
              <a:t>‹#›</a:t>
            </a:fld>
            <a:endParaRPr/>
          </a:p>
        </p:txBody>
      </p:sp>
      <p:sp>
        <p:nvSpPr>
          <p:cNvPr id="43" name="Google Shape;43;p96"/>
          <p:cNvSpPr/>
          <p:nvPr/>
        </p:nvSpPr>
        <p:spPr>
          <a:xfrm>
            <a:off x="2635250" y="6408738"/>
            <a:ext cx="4064000" cy="274637"/>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b="0" i="0" sz="1000" u="none" cap="none" strike="noStrike">
              <a:solidFill>
                <a:srgbClr val="808080"/>
              </a:solidFill>
              <a:latin typeface="Times New Roman"/>
              <a:ea typeface="Times New Roman"/>
              <a:cs typeface="Times New Roman"/>
              <a:sym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4" name="Shape 44"/>
        <p:cNvGrpSpPr/>
        <p:nvPr/>
      </p:nvGrpSpPr>
      <p:grpSpPr>
        <a:xfrm>
          <a:off x="0" y="0"/>
          <a:ext cx="0" cy="0"/>
          <a:chOff x="0" y="0"/>
          <a:chExt cx="0" cy="0"/>
        </a:xfrm>
      </p:grpSpPr>
      <p:sp>
        <p:nvSpPr>
          <p:cNvPr id="45" name="Google Shape;45;p9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97"/>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7" name="Google Shape;47;p97"/>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9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None/>
              <a:defRPr/>
            </a:lvl1pPr>
            <a:lvl2pPr indent="0" lvl="1" marL="0" algn="ctr">
              <a:spcBef>
                <a:spcPts val="0"/>
              </a:spcBef>
              <a:spcAft>
                <a:spcPts val="0"/>
              </a:spcAft>
              <a:buNone/>
              <a:defRPr/>
            </a:lvl2pPr>
            <a:lvl3pPr indent="0" lvl="2" marL="0" algn="ctr">
              <a:spcBef>
                <a:spcPts val="0"/>
              </a:spcBef>
              <a:spcAft>
                <a:spcPts val="0"/>
              </a:spcAft>
              <a:buNone/>
              <a:defRPr/>
            </a:lvl3pPr>
            <a:lvl4pPr indent="0" lvl="3" marL="0" algn="ctr">
              <a:spcBef>
                <a:spcPts val="0"/>
              </a:spcBef>
              <a:spcAft>
                <a:spcPts val="0"/>
              </a:spcAft>
              <a:buNone/>
              <a:defRPr/>
            </a:lvl4pPr>
            <a:lvl5pPr indent="0" lvl="4" marL="0" algn="ctr">
              <a:spcBef>
                <a:spcPts val="0"/>
              </a:spcBef>
              <a:spcAft>
                <a:spcPts val="0"/>
              </a:spcAft>
              <a:buNone/>
              <a:defRPr/>
            </a:lvl5pPr>
            <a:lvl6pPr indent="0" lvl="5" marL="0" algn="ctr">
              <a:spcBef>
                <a:spcPts val="0"/>
              </a:spcBef>
              <a:spcAft>
                <a:spcPts val="0"/>
              </a:spcAft>
              <a:buNone/>
              <a:defRPr/>
            </a:lvl6pPr>
            <a:lvl7pPr indent="0" lvl="6" marL="0" algn="ctr">
              <a:spcBef>
                <a:spcPts val="0"/>
              </a:spcBef>
              <a:spcAft>
                <a:spcPts val="0"/>
              </a:spcAft>
              <a:buNone/>
              <a:defRPr/>
            </a:lvl7pPr>
            <a:lvl8pPr indent="0" lvl="7" marL="0" algn="ctr">
              <a:spcBef>
                <a:spcPts val="0"/>
              </a:spcBef>
              <a:spcAft>
                <a:spcPts val="0"/>
              </a:spcAft>
              <a:buNone/>
              <a:defRPr/>
            </a:lvl8pPr>
            <a:lvl9pPr indent="0" lvl="8" marL="0" algn="ctr">
              <a:spcBef>
                <a:spcPts val="0"/>
              </a:spcBef>
              <a:spcAft>
                <a:spcPts val="0"/>
              </a:spcAft>
              <a:buNone/>
              <a:defRPr/>
            </a:lvl9pPr>
          </a:lstStyle>
          <a:p>
            <a:pPr indent="0" lvl="0" marL="0" rtl="0" algn="ctr">
              <a:spcBef>
                <a:spcPts val="0"/>
              </a:spcBef>
              <a:spcAft>
                <a:spcPts val="0"/>
              </a:spcAft>
              <a:buNone/>
            </a:pPr>
            <a:r>
              <a:rPr lang="en-US"/>
              <a:t>Slide 8-</a:t>
            </a:r>
            <a:fld id="{00000000-1234-1234-1234-123412341234}" type="slidenum">
              <a:rPr lang="en-US"/>
              <a:t>‹#›</a:t>
            </a:fld>
            <a:endParaRPr/>
          </a:p>
        </p:txBody>
      </p:sp>
      <p:sp>
        <p:nvSpPr>
          <p:cNvPr id="49" name="Google Shape;49;p97"/>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9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98"/>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9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None/>
              <a:defRPr/>
            </a:lvl1pPr>
            <a:lvl2pPr indent="0" lvl="1" marL="0" algn="ctr">
              <a:spcBef>
                <a:spcPts val="0"/>
              </a:spcBef>
              <a:spcAft>
                <a:spcPts val="0"/>
              </a:spcAft>
              <a:buNone/>
              <a:defRPr/>
            </a:lvl2pPr>
            <a:lvl3pPr indent="0" lvl="2" marL="0" algn="ctr">
              <a:spcBef>
                <a:spcPts val="0"/>
              </a:spcBef>
              <a:spcAft>
                <a:spcPts val="0"/>
              </a:spcAft>
              <a:buNone/>
              <a:defRPr/>
            </a:lvl3pPr>
            <a:lvl4pPr indent="0" lvl="3" marL="0" algn="ctr">
              <a:spcBef>
                <a:spcPts val="0"/>
              </a:spcBef>
              <a:spcAft>
                <a:spcPts val="0"/>
              </a:spcAft>
              <a:buNone/>
              <a:defRPr/>
            </a:lvl4pPr>
            <a:lvl5pPr indent="0" lvl="4" marL="0" algn="ctr">
              <a:spcBef>
                <a:spcPts val="0"/>
              </a:spcBef>
              <a:spcAft>
                <a:spcPts val="0"/>
              </a:spcAft>
              <a:buNone/>
              <a:defRPr/>
            </a:lvl5pPr>
            <a:lvl6pPr indent="0" lvl="5" marL="0" algn="ctr">
              <a:spcBef>
                <a:spcPts val="0"/>
              </a:spcBef>
              <a:spcAft>
                <a:spcPts val="0"/>
              </a:spcAft>
              <a:buNone/>
              <a:defRPr/>
            </a:lvl6pPr>
            <a:lvl7pPr indent="0" lvl="6" marL="0" algn="ctr">
              <a:spcBef>
                <a:spcPts val="0"/>
              </a:spcBef>
              <a:spcAft>
                <a:spcPts val="0"/>
              </a:spcAft>
              <a:buNone/>
              <a:defRPr/>
            </a:lvl7pPr>
            <a:lvl8pPr indent="0" lvl="7" marL="0" algn="ctr">
              <a:spcBef>
                <a:spcPts val="0"/>
              </a:spcBef>
              <a:spcAft>
                <a:spcPts val="0"/>
              </a:spcAft>
              <a:buNone/>
              <a:defRPr/>
            </a:lvl8pPr>
            <a:lvl9pPr indent="0" lvl="8" marL="0" algn="ctr">
              <a:spcBef>
                <a:spcPts val="0"/>
              </a:spcBef>
              <a:spcAft>
                <a:spcPts val="0"/>
              </a:spcAft>
              <a:buNone/>
              <a:defRPr/>
            </a:lvl9pPr>
          </a:lstStyle>
          <a:p>
            <a:pPr indent="0" lvl="0" marL="0" rtl="0" algn="ctr">
              <a:spcBef>
                <a:spcPts val="0"/>
              </a:spcBef>
              <a:spcAft>
                <a:spcPts val="0"/>
              </a:spcAft>
              <a:buNone/>
            </a:pPr>
            <a:r>
              <a:rPr lang="en-US"/>
              <a:t>Slide 8-</a:t>
            </a:r>
            <a:fld id="{00000000-1234-1234-1234-123412341234}" type="slidenum">
              <a:rPr lang="en-US"/>
              <a:t>‹#›</a:t>
            </a:fld>
            <a:endParaRPr/>
          </a:p>
        </p:txBody>
      </p:sp>
      <p:sp>
        <p:nvSpPr>
          <p:cNvPr id="54" name="Google Shape;54;p98"/>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99"/>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9"/>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9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None/>
              <a:defRPr/>
            </a:lvl1pPr>
            <a:lvl2pPr indent="0" lvl="1" marL="0" algn="ctr">
              <a:spcBef>
                <a:spcPts val="0"/>
              </a:spcBef>
              <a:spcAft>
                <a:spcPts val="0"/>
              </a:spcAft>
              <a:buNone/>
              <a:defRPr/>
            </a:lvl2pPr>
            <a:lvl3pPr indent="0" lvl="2" marL="0" algn="ctr">
              <a:spcBef>
                <a:spcPts val="0"/>
              </a:spcBef>
              <a:spcAft>
                <a:spcPts val="0"/>
              </a:spcAft>
              <a:buNone/>
              <a:defRPr/>
            </a:lvl3pPr>
            <a:lvl4pPr indent="0" lvl="3" marL="0" algn="ctr">
              <a:spcBef>
                <a:spcPts val="0"/>
              </a:spcBef>
              <a:spcAft>
                <a:spcPts val="0"/>
              </a:spcAft>
              <a:buNone/>
              <a:defRPr/>
            </a:lvl4pPr>
            <a:lvl5pPr indent="0" lvl="4" marL="0" algn="ctr">
              <a:spcBef>
                <a:spcPts val="0"/>
              </a:spcBef>
              <a:spcAft>
                <a:spcPts val="0"/>
              </a:spcAft>
              <a:buNone/>
              <a:defRPr/>
            </a:lvl5pPr>
            <a:lvl6pPr indent="0" lvl="5" marL="0" algn="ctr">
              <a:spcBef>
                <a:spcPts val="0"/>
              </a:spcBef>
              <a:spcAft>
                <a:spcPts val="0"/>
              </a:spcAft>
              <a:buNone/>
              <a:defRPr/>
            </a:lvl6pPr>
            <a:lvl7pPr indent="0" lvl="6" marL="0" algn="ctr">
              <a:spcBef>
                <a:spcPts val="0"/>
              </a:spcBef>
              <a:spcAft>
                <a:spcPts val="0"/>
              </a:spcAft>
              <a:buNone/>
              <a:defRPr/>
            </a:lvl7pPr>
            <a:lvl8pPr indent="0" lvl="7" marL="0" algn="ctr">
              <a:spcBef>
                <a:spcPts val="0"/>
              </a:spcBef>
              <a:spcAft>
                <a:spcPts val="0"/>
              </a:spcAft>
              <a:buNone/>
              <a:defRPr/>
            </a:lvl8pPr>
            <a:lvl9pPr indent="0" lvl="8" marL="0" algn="ctr">
              <a:spcBef>
                <a:spcPts val="0"/>
              </a:spcBef>
              <a:spcAft>
                <a:spcPts val="0"/>
              </a:spcAft>
              <a:buNone/>
              <a:defRPr/>
            </a:lvl9p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dk2"/>
        </a:solidFill>
      </p:bgPr>
    </p:bg>
    <p:spTree>
      <p:nvGrpSpPr>
        <p:cNvPr id="59" name="Shape 59"/>
        <p:cNvGrpSpPr/>
        <p:nvPr/>
      </p:nvGrpSpPr>
      <p:grpSpPr>
        <a:xfrm>
          <a:off x="0" y="0"/>
          <a:ext cx="0" cy="0"/>
          <a:chOff x="0" y="0"/>
          <a:chExt cx="0" cy="0"/>
        </a:xfrm>
      </p:grpSpPr>
      <p:sp>
        <p:nvSpPr>
          <p:cNvPr id="60" name="Google Shape;60;p100"/>
          <p:cNvSpPr txBox="1"/>
          <p:nvPr>
            <p:ph type="title"/>
          </p:nvPr>
        </p:nvSpPr>
        <p:spPr>
          <a:xfrm>
            <a:off x="2286000" y="2895600"/>
            <a:ext cx="6172200" cy="205359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000"/>
              <a:buFont typeface="Calibri"/>
              <a:buNone/>
              <a:defRPr b="1" sz="3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00"/>
          <p:cNvSpPr txBox="1"/>
          <p:nvPr>
            <p:ph idx="1" type="body"/>
          </p:nvPr>
        </p:nvSpPr>
        <p:spPr>
          <a:xfrm>
            <a:off x="2286000" y="5010150"/>
            <a:ext cx="6172200"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600"/>
              </a:spcBef>
              <a:spcAft>
                <a:spcPts val="0"/>
              </a:spcAft>
              <a:buSzPts val="1260"/>
              <a:buNone/>
              <a:defRPr b="1" sz="1800">
                <a:solidFill>
                  <a:schemeClr val="lt2"/>
                </a:solidFill>
              </a:defRPr>
            </a:lvl1pPr>
            <a:lvl2pPr indent="-228600" lvl="1" marL="914400" algn="l">
              <a:spcBef>
                <a:spcPts val="360"/>
              </a:spcBef>
              <a:spcAft>
                <a:spcPts val="0"/>
              </a:spcAft>
              <a:buSzPts val="1440"/>
              <a:buNone/>
              <a:defRPr sz="1800">
                <a:solidFill>
                  <a:schemeClr val="lt1"/>
                </a:solidFill>
              </a:defRPr>
            </a:lvl2pPr>
            <a:lvl3pPr indent="-228600" lvl="2" marL="1371600" algn="l">
              <a:spcBef>
                <a:spcPts val="320"/>
              </a:spcBef>
              <a:spcAft>
                <a:spcPts val="0"/>
              </a:spcAft>
              <a:buSzPts val="960"/>
              <a:buNone/>
              <a:defRPr sz="1600">
                <a:solidFill>
                  <a:schemeClr val="lt1"/>
                </a:solidFill>
              </a:defRPr>
            </a:lvl3pPr>
            <a:lvl4pPr indent="-228600" lvl="3" marL="1828800" algn="l">
              <a:spcBef>
                <a:spcPts val="280"/>
              </a:spcBef>
              <a:spcAft>
                <a:spcPts val="0"/>
              </a:spcAft>
              <a:buSzPts val="840"/>
              <a:buNone/>
              <a:defRPr sz="1400">
                <a:solidFill>
                  <a:schemeClr val="lt1"/>
                </a:solidFill>
              </a:defRPr>
            </a:lvl4pPr>
            <a:lvl5pPr indent="-228600" lvl="4" marL="2286000" algn="l">
              <a:spcBef>
                <a:spcPts val="280"/>
              </a:spcBef>
              <a:spcAft>
                <a:spcPts val="0"/>
              </a:spcAft>
              <a:buSzPts val="952"/>
              <a:buNone/>
              <a:defRPr sz="1400">
                <a:solidFill>
                  <a:schemeClr val="lt1"/>
                </a:solidFill>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2" name="Google Shape;62;p100"/>
          <p:cNvSpPr txBox="1"/>
          <p:nvPr>
            <p:ph idx="10" type="dt"/>
          </p:nvPr>
        </p:nvSpPr>
        <p:spPr>
          <a:xfrm rot="5400000">
            <a:off x="7763256" y="1170432"/>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0"/>
          <p:cNvSpPr txBox="1"/>
          <p:nvPr>
            <p:ph idx="11" type="ftr"/>
          </p:nvPr>
        </p:nvSpPr>
        <p:spPr>
          <a:xfrm rot="5400000">
            <a:off x="7077456" y="4178808"/>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0"/>
          <p:cNvSpPr/>
          <p:nvPr/>
        </p:nvSpPr>
        <p:spPr>
          <a:xfrm>
            <a:off x="381000" y="0"/>
            <a:ext cx="609600" cy="6858000"/>
          </a:xfrm>
          <a:prstGeom prst="rect">
            <a:avLst/>
          </a:prstGeom>
          <a:solidFill>
            <a:srgbClr val="ABCDDB">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65" name="Google Shape;65;p100"/>
          <p:cNvSpPr/>
          <p:nvPr/>
        </p:nvSpPr>
        <p:spPr>
          <a:xfrm>
            <a:off x="276336" y="0"/>
            <a:ext cx="104664" cy="6858000"/>
          </a:xfrm>
          <a:prstGeom prst="rect">
            <a:avLst/>
          </a:prstGeom>
          <a:solidFill>
            <a:srgbClr val="CCDFE8">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66" name="Google Shape;66;p100"/>
          <p:cNvSpPr/>
          <p:nvPr/>
        </p:nvSpPr>
        <p:spPr>
          <a:xfrm>
            <a:off x="990600" y="0"/>
            <a:ext cx="181872" cy="6858000"/>
          </a:xfrm>
          <a:prstGeom prst="rect">
            <a:avLst/>
          </a:prstGeom>
          <a:solidFill>
            <a:srgbClr val="CCDFE8">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67" name="Google Shape;67;p100"/>
          <p:cNvSpPr/>
          <p:nvPr/>
        </p:nvSpPr>
        <p:spPr>
          <a:xfrm>
            <a:off x="1141320" y="0"/>
            <a:ext cx="230280" cy="6858000"/>
          </a:xfrm>
          <a:prstGeom prst="rect">
            <a:avLst/>
          </a:prstGeom>
          <a:solidFill>
            <a:srgbClr val="E7F0F4">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cxnSp>
        <p:nvCxnSpPr>
          <p:cNvPr id="68" name="Google Shape;68;p100"/>
          <p:cNvCxnSpPr/>
          <p:nvPr/>
        </p:nvCxnSpPr>
        <p:spPr>
          <a:xfrm>
            <a:off x="106344" y="0"/>
            <a:ext cx="0" cy="6858000"/>
          </a:xfrm>
          <a:prstGeom prst="straightConnector1">
            <a:avLst/>
          </a:prstGeom>
          <a:noFill/>
          <a:ln cap="flat" cmpd="sng" w="57150">
            <a:solidFill>
              <a:srgbClr val="ABCDDB">
                <a:alpha val="72941"/>
              </a:srgbClr>
            </a:solidFill>
            <a:prstDash val="solid"/>
            <a:round/>
            <a:headEnd len="sm" w="sm" type="none"/>
            <a:tailEnd len="sm" w="sm" type="none"/>
          </a:ln>
        </p:spPr>
      </p:cxnSp>
      <p:cxnSp>
        <p:nvCxnSpPr>
          <p:cNvPr id="69" name="Google Shape;69;p100"/>
          <p:cNvCxnSpPr/>
          <p:nvPr/>
        </p:nvCxnSpPr>
        <p:spPr>
          <a:xfrm>
            <a:off x="914400" y="0"/>
            <a:ext cx="0" cy="6858000"/>
          </a:xfrm>
          <a:prstGeom prst="straightConnector1">
            <a:avLst/>
          </a:prstGeom>
          <a:noFill/>
          <a:ln cap="flat" cmpd="sng" w="57150">
            <a:solidFill>
              <a:srgbClr val="E7F0F4">
                <a:alpha val="82745"/>
              </a:srgbClr>
            </a:solidFill>
            <a:prstDash val="solid"/>
            <a:round/>
            <a:headEnd len="sm" w="sm" type="none"/>
            <a:tailEnd len="sm" w="sm" type="none"/>
          </a:ln>
        </p:spPr>
      </p:cxnSp>
      <p:cxnSp>
        <p:nvCxnSpPr>
          <p:cNvPr id="70" name="Google Shape;70;p100"/>
          <p:cNvCxnSpPr/>
          <p:nvPr/>
        </p:nvCxnSpPr>
        <p:spPr>
          <a:xfrm>
            <a:off x="854112" y="0"/>
            <a:ext cx="0" cy="6858000"/>
          </a:xfrm>
          <a:prstGeom prst="straightConnector1">
            <a:avLst/>
          </a:prstGeom>
          <a:noFill/>
          <a:ln cap="flat" cmpd="sng" w="57150">
            <a:solidFill>
              <a:srgbClr val="ABCDDB"/>
            </a:solidFill>
            <a:prstDash val="solid"/>
            <a:round/>
            <a:headEnd len="sm" w="sm" type="none"/>
            <a:tailEnd len="sm" w="sm" type="none"/>
          </a:ln>
        </p:spPr>
      </p:cxnSp>
      <p:cxnSp>
        <p:nvCxnSpPr>
          <p:cNvPr id="71" name="Google Shape;71;p100"/>
          <p:cNvCxnSpPr/>
          <p:nvPr/>
        </p:nvCxnSpPr>
        <p:spPr>
          <a:xfrm>
            <a:off x="1726640" y="0"/>
            <a:ext cx="0" cy="6858000"/>
          </a:xfrm>
          <a:prstGeom prst="straightConnector1">
            <a:avLst/>
          </a:prstGeom>
          <a:noFill/>
          <a:ln cap="flat" cmpd="sng" w="28575">
            <a:solidFill>
              <a:srgbClr val="ABCDDB">
                <a:alpha val="81960"/>
              </a:srgbClr>
            </a:solidFill>
            <a:prstDash val="solid"/>
            <a:round/>
            <a:headEnd len="sm" w="sm" type="none"/>
            <a:tailEnd len="sm" w="sm" type="none"/>
          </a:ln>
        </p:spPr>
      </p:cxnSp>
      <p:cxnSp>
        <p:nvCxnSpPr>
          <p:cNvPr id="72" name="Google Shape;72;p100"/>
          <p:cNvCxnSpPr/>
          <p:nvPr/>
        </p:nvCxnSpPr>
        <p:spPr>
          <a:xfrm>
            <a:off x="1066800" y="0"/>
            <a:ext cx="0" cy="6858000"/>
          </a:xfrm>
          <a:prstGeom prst="straightConnector1">
            <a:avLst/>
          </a:prstGeom>
          <a:noFill/>
          <a:ln cap="flat" cmpd="sng" w="9525">
            <a:solidFill>
              <a:srgbClr val="ABCDDB"/>
            </a:solidFill>
            <a:prstDash val="solid"/>
            <a:round/>
            <a:headEnd len="sm" w="sm" type="none"/>
            <a:tailEnd len="sm" w="sm" type="none"/>
          </a:ln>
        </p:spPr>
      </p:cxnSp>
      <p:sp>
        <p:nvSpPr>
          <p:cNvPr id="73" name="Google Shape;73;p100"/>
          <p:cNvSpPr/>
          <p:nvPr/>
        </p:nvSpPr>
        <p:spPr>
          <a:xfrm>
            <a:off x="1219200" y="0"/>
            <a:ext cx="76200" cy="6858000"/>
          </a:xfrm>
          <a:prstGeom prst="rect">
            <a:avLst/>
          </a:prstGeom>
          <a:solidFill>
            <a:srgbClr val="ABCDDB">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74" name="Google Shape;74;p100"/>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75" name="Google Shape;75;p100"/>
          <p:cNvSpPr/>
          <p:nvPr/>
        </p:nvSpPr>
        <p:spPr>
          <a:xfrm>
            <a:off x="1324704"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76" name="Google Shape;76;p100"/>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77" name="Google Shape;77;p100"/>
          <p:cNvSpPr/>
          <p:nvPr/>
        </p:nvSpPr>
        <p:spPr>
          <a:xfrm>
            <a:off x="1664208" y="5791200"/>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78" name="Google Shape;78;p100"/>
          <p:cNvSpPr/>
          <p:nvPr/>
        </p:nvSpPr>
        <p:spPr>
          <a:xfrm>
            <a:off x="1879040" y="4479888"/>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cxnSp>
        <p:nvCxnSpPr>
          <p:cNvPr id="79" name="Google Shape;79;p100"/>
          <p:cNvCxnSpPr/>
          <p:nvPr/>
        </p:nvCxnSpPr>
        <p:spPr>
          <a:xfrm>
            <a:off x="9097944" y="0"/>
            <a:ext cx="0" cy="6858000"/>
          </a:xfrm>
          <a:prstGeom prst="straightConnector1">
            <a:avLst/>
          </a:prstGeom>
          <a:noFill/>
          <a:ln cap="flat" cmpd="thickThin" w="57150">
            <a:solidFill>
              <a:srgbClr val="ABCDDB"/>
            </a:solidFill>
            <a:prstDash val="solid"/>
            <a:round/>
            <a:headEnd len="sm" w="sm" type="none"/>
            <a:tailEnd len="sm" w="sm" type="none"/>
          </a:ln>
        </p:spPr>
      </p:cxnSp>
      <p:sp>
        <p:nvSpPr>
          <p:cNvPr id="80" name="Google Shape;80;p100"/>
          <p:cNvSpPr txBox="1"/>
          <p:nvPr>
            <p:ph idx="12" type="sldNum"/>
          </p:nvPr>
        </p:nvSpPr>
        <p:spPr>
          <a:xfrm>
            <a:off x="1340616"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None/>
              <a:defRPr/>
            </a:lvl1pPr>
            <a:lvl2pPr indent="0" lvl="1" marL="0" algn="ctr">
              <a:spcBef>
                <a:spcPts val="0"/>
              </a:spcBef>
              <a:spcAft>
                <a:spcPts val="0"/>
              </a:spcAft>
              <a:buNone/>
              <a:defRPr/>
            </a:lvl2pPr>
            <a:lvl3pPr indent="0" lvl="2" marL="0" algn="ctr">
              <a:spcBef>
                <a:spcPts val="0"/>
              </a:spcBef>
              <a:spcAft>
                <a:spcPts val="0"/>
              </a:spcAft>
              <a:buNone/>
              <a:defRPr/>
            </a:lvl3pPr>
            <a:lvl4pPr indent="0" lvl="3" marL="0" algn="ctr">
              <a:spcBef>
                <a:spcPts val="0"/>
              </a:spcBef>
              <a:spcAft>
                <a:spcPts val="0"/>
              </a:spcAft>
              <a:buNone/>
              <a:defRPr/>
            </a:lvl4pPr>
            <a:lvl5pPr indent="0" lvl="4" marL="0" algn="ctr">
              <a:spcBef>
                <a:spcPts val="0"/>
              </a:spcBef>
              <a:spcAft>
                <a:spcPts val="0"/>
              </a:spcAft>
              <a:buNone/>
              <a:defRPr/>
            </a:lvl5pPr>
            <a:lvl6pPr indent="0" lvl="5" marL="0" algn="ctr">
              <a:spcBef>
                <a:spcPts val="0"/>
              </a:spcBef>
              <a:spcAft>
                <a:spcPts val="0"/>
              </a:spcAft>
              <a:buNone/>
              <a:defRPr/>
            </a:lvl6pPr>
            <a:lvl7pPr indent="0" lvl="6" marL="0" algn="ctr">
              <a:spcBef>
                <a:spcPts val="0"/>
              </a:spcBef>
              <a:spcAft>
                <a:spcPts val="0"/>
              </a:spcAft>
              <a:buNone/>
              <a:defRPr/>
            </a:lvl7pPr>
            <a:lvl8pPr indent="0" lvl="7" marL="0" algn="ctr">
              <a:spcBef>
                <a:spcPts val="0"/>
              </a:spcBef>
              <a:spcAft>
                <a:spcPts val="0"/>
              </a:spcAft>
              <a:buNone/>
              <a:defRPr/>
            </a:lvl8pPr>
            <a:lvl9pPr indent="0" lvl="8" marL="0" algn="ctr">
              <a:spcBef>
                <a:spcPts val="0"/>
              </a:spcBef>
              <a:spcAft>
                <a:spcPts val="0"/>
              </a:spcAft>
              <a:buNone/>
              <a:defRPr/>
            </a:lvl9p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1" name="Shape 81"/>
        <p:cNvGrpSpPr/>
        <p:nvPr/>
      </p:nvGrpSpPr>
      <p:grpSpPr>
        <a:xfrm>
          <a:off x="0" y="0"/>
          <a:ext cx="0" cy="0"/>
          <a:chOff x="0" y="0"/>
          <a:chExt cx="0" cy="0"/>
        </a:xfrm>
      </p:grpSpPr>
      <p:sp>
        <p:nvSpPr>
          <p:cNvPr id="82" name="Google Shape;82;p10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01"/>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01"/>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0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None/>
              <a:defRPr/>
            </a:lvl1pPr>
            <a:lvl2pPr indent="0" lvl="1" marL="0" algn="ctr">
              <a:spcBef>
                <a:spcPts val="0"/>
              </a:spcBef>
              <a:spcAft>
                <a:spcPts val="0"/>
              </a:spcAft>
              <a:buNone/>
              <a:defRPr/>
            </a:lvl2pPr>
            <a:lvl3pPr indent="0" lvl="2" marL="0" algn="ctr">
              <a:spcBef>
                <a:spcPts val="0"/>
              </a:spcBef>
              <a:spcAft>
                <a:spcPts val="0"/>
              </a:spcAft>
              <a:buNone/>
              <a:defRPr/>
            </a:lvl3pPr>
            <a:lvl4pPr indent="0" lvl="3" marL="0" algn="ctr">
              <a:spcBef>
                <a:spcPts val="0"/>
              </a:spcBef>
              <a:spcAft>
                <a:spcPts val="0"/>
              </a:spcAft>
              <a:buNone/>
              <a:defRPr/>
            </a:lvl4pPr>
            <a:lvl5pPr indent="0" lvl="4" marL="0" algn="ctr">
              <a:spcBef>
                <a:spcPts val="0"/>
              </a:spcBef>
              <a:spcAft>
                <a:spcPts val="0"/>
              </a:spcAft>
              <a:buNone/>
              <a:defRPr/>
            </a:lvl5pPr>
            <a:lvl6pPr indent="0" lvl="5" marL="0" algn="ctr">
              <a:spcBef>
                <a:spcPts val="0"/>
              </a:spcBef>
              <a:spcAft>
                <a:spcPts val="0"/>
              </a:spcAft>
              <a:buNone/>
              <a:defRPr/>
            </a:lvl6pPr>
            <a:lvl7pPr indent="0" lvl="6" marL="0" algn="ctr">
              <a:spcBef>
                <a:spcPts val="0"/>
              </a:spcBef>
              <a:spcAft>
                <a:spcPts val="0"/>
              </a:spcAft>
              <a:buNone/>
              <a:defRPr/>
            </a:lvl7pPr>
            <a:lvl8pPr indent="0" lvl="7" marL="0" algn="ctr">
              <a:spcBef>
                <a:spcPts val="0"/>
              </a:spcBef>
              <a:spcAft>
                <a:spcPts val="0"/>
              </a:spcAft>
              <a:buNone/>
              <a:defRPr/>
            </a:lvl8pPr>
            <a:lvl9pPr indent="0" lvl="8" marL="0" algn="ctr">
              <a:spcBef>
                <a:spcPts val="0"/>
              </a:spcBef>
              <a:spcAft>
                <a:spcPts val="0"/>
              </a:spcAft>
              <a:buNone/>
              <a:defRPr/>
            </a:lvl9pPr>
          </a:lstStyle>
          <a:p>
            <a:pPr indent="0" lvl="0" marL="0" rtl="0" algn="ctr">
              <a:spcBef>
                <a:spcPts val="0"/>
              </a:spcBef>
              <a:spcAft>
                <a:spcPts val="0"/>
              </a:spcAft>
              <a:buNone/>
            </a:pPr>
            <a:r>
              <a:rPr lang="en-US"/>
              <a:t>Slide 8-</a:t>
            </a:r>
            <a:fld id="{00000000-1234-1234-1234-123412341234}" type="slidenum">
              <a:rPr lang="en-US"/>
              <a:t>‹#›</a:t>
            </a:fld>
            <a:endParaRPr/>
          </a:p>
        </p:txBody>
      </p:sp>
      <p:sp>
        <p:nvSpPr>
          <p:cNvPr id="86" name="Google Shape;86;p101"/>
          <p:cNvSpPr txBox="1"/>
          <p:nvPr>
            <p:ph idx="1" type="body"/>
          </p:nvPr>
        </p:nvSpPr>
        <p:spPr>
          <a:xfrm>
            <a:off x="457200"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7" name="Google Shape;87;p101"/>
          <p:cNvSpPr txBox="1"/>
          <p:nvPr>
            <p:ph idx="2" type="body"/>
          </p:nvPr>
        </p:nvSpPr>
        <p:spPr>
          <a:xfrm>
            <a:off x="4270248"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8" name="Shape 88"/>
        <p:cNvGrpSpPr/>
        <p:nvPr/>
      </p:nvGrpSpPr>
      <p:grpSpPr>
        <a:xfrm>
          <a:off x="0" y="0"/>
          <a:ext cx="0" cy="0"/>
          <a:chOff x="0" y="0"/>
          <a:chExt cx="0" cy="0"/>
        </a:xfrm>
      </p:grpSpPr>
      <p:sp>
        <p:nvSpPr>
          <p:cNvPr id="89" name="Google Shape;89;p102"/>
          <p:cNvSpPr txBox="1"/>
          <p:nvPr>
            <p:ph type="title"/>
          </p:nvPr>
        </p:nvSpPr>
        <p:spPr>
          <a:xfrm>
            <a:off x="457200" y="273050"/>
            <a:ext cx="75438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02"/>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2"/>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0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None/>
              <a:defRPr/>
            </a:lvl1pPr>
            <a:lvl2pPr indent="0" lvl="1" marL="0" algn="ctr">
              <a:spcBef>
                <a:spcPts val="0"/>
              </a:spcBef>
              <a:spcAft>
                <a:spcPts val="0"/>
              </a:spcAft>
              <a:buNone/>
              <a:defRPr/>
            </a:lvl2pPr>
            <a:lvl3pPr indent="0" lvl="2" marL="0" algn="ctr">
              <a:spcBef>
                <a:spcPts val="0"/>
              </a:spcBef>
              <a:spcAft>
                <a:spcPts val="0"/>
              </a:spcAft>
              <a:buNone/>
              <a:defRPr/>
            </a:lvl3pPr>
            <a:lvl4pPr indent="0" lvl="3" marL="0" algn="ctr">
              <a:spcBef>
                <a:spcPts val="0"/>
              </a:spcBef>
              <a:spcAft>
                <a:spcPts val="0"/>
              </a:spcAft>
              <a:buNone/>
              <a:defRPr/>
            </a:lvl4pPr>
            <a:lvl5pPr indent="0" lvl="4" marL="0" algn="ctr">
              <a:spcBef>
                <a:spcPts val="0"/>
              </a:spcBef>
              <a:spcAft>
                <a:spcPts val="0"/>
              </a:spcAft>
              <a:buNone/>
              <a:defRPr/>
            </a:lvl5pPr>
            <a:lvl6pPr indent="0" lvl="5" marL="0" algn="ctr">
              <a:spcBef>
                <a:spcPts val="0"/>
              </a:spcBef>
              <a:spcAft>
                <a:spcPts val="0"/>
              </a:spcAft>
              <a:buNone/>
              <a:defRPr/>
            </a:lvl6pPr>
            <a:lvl7pPr indent="0" lvl="6" marL="0" algn="ctr">
              <a:spcBef>
                <a:spcPts val="0"/>
              </a:spcBef>
              <a:spcAft>
                <a:spcPts val="0"/>
              </a:spcAft>
              <a:buNone/>
              <a:defRPr/>
            </a:lvl7pPr>
            <a:lvl8pPr indent="0" lvl="7" marL="0" algn="ctr">
              <a:spcBef>
                <a:spcPts val="0"/>
              </a:spcBef>
              <a:spcAft>
                <a:spcPts val="0"/>
              </a:spcAft>
              <a:buNone/>
              <a:defRPr/>
            </a:lvl8pPr>
            <a:lvl9pPr indent="0" lvl="8" marL="0" algn="ctr">
              <a:spcBef>
                <a:spcPts val="0"/>
              </a:spcBef>
              <a:spcAft>
                <a:spcPts val="0"/>
              </a:spcAft>
              <a:buNone/>
              <a:defRPr/>
            </a:lvl9pPr>
          </a:lstStyle>
          <a:p>
            <a:pPr indent="0" lvl="0" marL="0" rtl="0" algn="ctr">
              <a:spcBef>
                <a:spcPts val="0"/>
              </a:spcBef>
              <a:spcAft>
                <a:spcPts val="0"/>
              </a:spcAft>
              <a:buNone/>
            </a:pPr>
            <a:r>
              <a:rPr lang="en-US"/>
              <a:t>Slide 8-</a:t>
            </a:r>
            <a:fld id="{00000000-1234-1234-1234-123412341234}" type="slidenum">
              <a:rPr lang="en-US"/>
              <a:t>‹#›</a:t>
            </a:fld>
            <a:endParaRPr/>
          </a:p>
        </p:txBody>
      </p:sp>
      <p:sp>
        <p:nvSpPr>
          <p:cNvPr id="93" name="Google Shape;93;p102"/>
          <p:cNvSpPr txBox="1"/>
          <p:nvPr>
            <p:ph idx="1" type="body"/>
          </p:nvPr>
        </p:nvSpPr>
        <p:spPr>
          <a:xfrm>
            <a:off x="457200"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4" name="Google Shape;94;p102"/>
          <p:cNvSpPr txBox="1"/>
          <p:nvPr>
            <p:ph idx="2" type="body"/>
          </p:nvPr>
        </p:nvSpPr>
        <p:spPr>
          <a:xfrm>
            <a:off x="4371975"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5" name="Google Shape;95;p102"/>
          <p:cNvSpPr/>
          <p:nvPr>
            <p:ph idx="3" type="body"/>
          </p:nvPr>
        </p:nvSpPr>
        <p:spPr>
          <a:xfrm>
            <a:off x="4572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Calibri"/>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6" name="Google Shape;96;p102"/>
          <p:cNvSpPr/>
          <p:nvPr>
            <p:ph idx="4" type="body"/>
          </p:nvPr>
        </p:nvSpPr>
        <p:spPr>
          <a:xfrm>
            <a:off x="43434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Calibri"/>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solidFill>
          <a:schemeClr val="lt1"/>
        </a:solidFill>
      </p:bgPr>
    </p:bg>
    <p:spTree>
      <p:nvGrpSpPr>
        <p:cNvPr id="97" name="Shape 97"/>
        <p:cNvGrpSpPr/>
        <p:nvPr/>
      </p:nvGrpSpPr>
      <p:grpSpPr>
        <a:xfrm>
          <a:off x="0" y="0"/>
          <a:ext cx="0" cy="0"/>
          <a:chOff x="0" y="0"/>
          <a:chExt cx="0" cy="0"/>
        </a:xfrm>
      </p:grpSpPr>
      <p:cxnSp>
        <p:nvCxnSpPr>
          <p:cNvPr id="98" name="Google Shape;98;p103"/>
          <p:cNvCxnSpPr/>
          <p:nvPr/>
        </p:nvCxnSpPr>
        <p:spPr>
          <a:xfrm>
            <a:off x="8763000" y="0"/>
            <a:ext cx="0" cy="6858000"/>
          </a:xfrm>
          <a:prstGeom prst="straightConnector1">
            <a:avLst/>
          </a:prstGeom>
          <a:noFill/>
          <a:ln cap="flat" cmpd="sng" w="38100">
            <a:solidFill>
              <a:srgbClr val="ABCDDB">
                <a:alpha val="92941"/>
              </a:srgbClr>
            </a:solidFill>
            <a:prstDash val="solid"/>
            <a:round/>
            <a:headEnd len="sm" w="sm" type="none"/>
            <a:tailEnd len="sm" w="sm" type="none"/>
          </a:ln>
        </p:spPr>
      </p:cxnSp>
      <p:sp>
        <p:nvSpPr>
          <p:cNvPr id="99" name="Google Shape;99;p103"/>
          <p:cNvSpPr txBox="1"/>
          <p:nvPr>
            <p:ph type="title"/>
          </p:nvPr>
        </p:nvSpPr>
        <p:spPr>
          <a:xfrm rot="5400000">
            <a:off x="3371850"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Calibri"/>
              <a:buNone/>
              <a:defRPr b="1" sz="2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103"/>
          <p:cNvSpPr txBox="1"/>
          <p:nvPr>
            <p:ph idx="1" type="body"/>
          </p:nvPr>
        </p:nvSpPr>
        <p:spPr>
          <a:xfrm>
            <a:off x="6812280" y="274320"/>
            <a:ext cx="1527048" cy="498348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840"/>
              <a:buNone/>
              <a:defRPr sz="1200"/>
            </a:lvl1pPr>
            <a:lvl2pPr indent="-228600" lvl="1" marL="914400" algn="l">
              <a:spcBef>
                <a:spcPts val="1000"/>
              </a:spcBef>
              <a:spcAft>
                <a:spcPts val="0"/>
              </a:spcAft>
              <a:buSzPts val="960"/>
              <a:buNone/>
              <a:defRPr sz="1200"/>
            </a:lvl2pPr>
            <a:lvl3pPr indent="-228600" lvl="2" marL="1371600" algn="l">
              <a:spcBef>
                <a:spcPts val="200"/>
              </a:spcBef>
              <a:spcAft>
                <a:spcPts val="0"/>
              </a:spcAft>
              <a:buSzPts val="600"/>
              <a:buNone/>
              <a:defRPr sz="1000"/>
            </a:lvl3pPr>
            <a:lvl4pPr indent="-228600" lvl="3" marL="1828800" algn="l">
              <a:spcBef>
                <a:spcPts val="180"/>
              </a:spcBef>
              <a:spcAft>
                <a:spcPts val="0"/>
              </a:spcAft>
              <a:buSzPts val="540"/>
              <a:buNone/>
              <a:defRPr sz="900"/>
            </a:lvl4pPr>
            <a:lvl5pPr indent="-228600" lvl="4" marL="2286000" algn="l">
              <a:spcBef>
                <a:spcPts val="180"/>
              </a:spcBef>
              <a:spcAft>
                <a:spcPts val="0"/>
              </a:spcAft>
              <a:buSzPts val="612"/>
              <a:buNone/>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101" name="Google Shape;101;p103"/>
          <p:cNvCxnSpPr/>
          <p:nvPr/>
        </p:nvCxnSpPr>
        <p:spPr>
          <a:xfrm>
            <a:off x="6248400" y="0"/>
            <a:ext cx="0" cy="6858000"/>
          </a:xfrm>
          <a:prstGeom prst="straightConnector1">
            <a:avLst/>
          </a:prstGeom>
          <a:noFill/>
          <a:ln cap="flat" cmpd="sng" w="38100">
            <a:solidFill>
              <a:srgbClr val="ABCDDB"/>
            </a:solidFill>
            <a:prstDash val="solid"/>
            <a:round/>
            <a:headEnd len="sm" w="sm" type="none"/>
            <a:tailEnd len="sm" w="sm" type="none"/>
          </a:ln>
        </p:spPr>
      </p:cxnSp>
      <p:cxnSp>
        <p:nvCxnSpPr>
          <p:cNvPr id="102" name="Google Shape;102;p103"/>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cxnSp>
        <p:nvCxnSpPr>
          <p:cNvPr id="103" name="Google Shape;103;p103"/>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104" name="Google Shape;104;p103"/>
          <p:cNvSpPr/>
          <p:nvPr/>
        </p:nvSpPr>
        <p:spPr>
          <a:xfrm>
            <a:off x="8839200" y="0"/>
            <a:ext cx="304800" cy="6858000"/>
          </a:xfrm>
          <a:prstGeom prst="rect">
            <a:avLst/>
          </a:prstGeom>
          <a:solidFill>
            <a:srgbClr val="ABCDDB">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cxnSp>
        <p:nvCxnSpPr>
          <p:cNvPr id="105" name="Google Shape;105;p103"/>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106" name="Google Shape;106;p103"/>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107" name="Google Shape;107;p103"/>
          <p:cNvSpPr txBox="1"/>
          <p:nvPr>
            <p:ph idx="2" type="body"/>
          </p:nvPr>
        </p:nvSpPr>
        <p:spPr>
          <a:xfrm>
            <a:off x="304800" y="274320"/>
            <a:ext cx="5638800" cy="6327648"/>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8" name="Google Shape;108;p103"/>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0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None/>
              <a:defRPr/>
            </a:lvl1pPr>
            <a:lvl2pPr indent="0" lvl="1" marL="0" algn="ctr">
              <a:spcBef>
                <a:spcPts val="0"/>
              </a:spcBef>
              <a:spcAft>
                <a:spcPts val="0"/>
              </a:spcAft>
              <a:buNone/>
              <a:defRPr/>
            </a:lvl2pPr>
            <a:lvl3pPr indent="0" lvl="2" marL="0" algn="ctr">
              <a:spcBef>
                <a:spcPts val="0"/>
              </a:spcBef>
              <a:spcAft>
                <a:spcPts val="0"/>
              </a:spcAft>
              <a:buNone/>
              <a:defRPr/>
            </a:lvl3pPr>
            <a:lvl4pPr indent="0" lvl="3" marL="0" algn="ctr">
              <a:spcBef>
                <a:spcPts val="0"/>
              </a:spcBef>
              <a:spcAft>
                <a:spcPts val="0"/>
              </a:spcAft>
              <a:buNone/>
              <a:defRPr/>
            </a:lvl4pPr>
            <a:lvl5pPr indent="0" lvl="4" marL="0" algn="ctr">
              <a:spcBef>
                <a:spcPts val="0"/>
              </a:spcBef>
              <a:spcAft>
                <a:spcPts val="0"/>
              </a:spcAft>
              <a:buNone/>
              <a:defRPr/>
            </a:lvl5pPr>
            <a:lvl6pPr indent="0" lvl="5" marL="0" algn="ctr">
              <a:spcBef>
                <a:spcPts val="0"/>
              </a:spcBef>
              <a:spcAft>
                <a:spcPts val="0"/>
              </a:spcAft>
              <a:buNone/>
              <a:defRPr/>
            </a:lvl6pPr>
            <a:lvl7pPr indent="0" lvl="6" marL="0" algn="ctr">
              <a:spcBef>
                <a:spcPts val="0"/>
              </a:spcBef>
              <a:spcAft>
                <a:spcPts val="0"/>
              </a:spcAft>
              <a:buNone/>
              <a:defRPr/>
            </a:lvl7pPr>
            <a:lvl8pPr indent="0" lvl="7" marL="0" algn="ctr">
              <a:spcBef>
                <a:spcPts val="0"/>
              </a:spcBef>
              <a:spcAft>
                <a:spcPts val="0"/>
              </a:spcAft>
              <a:buNone/>
              <a:defRPr/>
            </a:lvl8pPr>
            <a:lvl9pPr indent="0" lvl="8" marL="0" algn="ctr">
              <a:spcBef>
                <a:spcPts val="0"/>
              </a:spcBef>
              <a:spcAft>
                <a:spcPts val="0"/>
              </a:spcAft>
              <a:buNone/>
              <a:defRPr/>
            </a:lvl9pPr>
          </a:lstStyle>
          <a:p>
            <a:pPr indent="0" lvl="0" marL="0" rtl="0" algn="ctr">
              <a:spcBef>
                <a:spcPts val="0"/>
              </a:spcBef>
              <a:spcAft>
                <a:spcPts val="0"/>
              </a:spcAft>
              <a:buNone/>
            </a:pPr>
            <a:r>
              <a:rPr lang="en-US"/>
              <a:t>Slide 8-</a:t>
            </a:r>
            <a:fld id="{00000000-1234-1234-1234-123412341234}" type="slidenum">
              <a:rPr lang="en-US"/>
              <a:t>‹#›</a:t>
            </a:fld>
            <a:endParaRPr/>
          </a:p>
        </p:txBody>
      </p:sp>
      <p:sp>
        <p:nvSpPr>
          <p:cNvPr id="110" name="Google Shape;110;p103"/>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11" name="Shape 111"/>
        <p:cNvGrpSpPr/>
        <p:nvPr/>
      </p:nvGrpSpPr>
      <p:grpSpPr>
        <a:xfrm>
          <a:off x="0" y="0"/>
          <a:ext cx="0" cy="0"/>
          <a:chOff x="0" y="0"/>
          <a:chExt cx="0" cy="0"/>
        </a:xfrm>
      </p:grpSpPr>
      <p:cxnSp>
        <p:nvCxnSpPr>
          <p:cNvPr id="112" name="Google Shape;112;p104"/>
          <p:cNvCxnSpPr/>
          <p:nvPr/>
        </p:nvCxnSpPr>
        <p:spPr>
          <a:xfrm>
            <a:off x="8763000" y="0"/>
            <a:ext cx="0" cy="6858000"/>
          </a:xfrm>
          <a:prstGeom prst="straightConnector1">
            <a:avLst/>
          </a:prstGeom>
          <a:noFill/>
          <a:ln cap="flat" cmpd="sng" w="38100">
            <a:solidFill>
              <a:srgbClr val="ABCDDB"/>
            </a:solidFill>
            <a:prstDash val="solid"/>
            <a:round/>
            <a:headEnd len="sm" w="sm" type="none"/>
            <a:tailEnd len="sm" w="sm" type="none"/>
          </a:ln>
        </p:spPr>
      </p:cxnSp>
      <p:sp>
        <p:nvSpPr>
          <p:cNvPr id="113" name="Google Shape;113;p104"/>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114" name="Google Shape;114;p104"/>
          <p:cNvSpPr txBox="1"/>
          <p:nvPr>
            <p:ph type="title"/>
          </p:nvPr>
        </p:nvSpPr>
        <p:spPr>
          <a:xfrm rot="5400000">
            <a:off x="3350133"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104"/>
          <p:cNvSpPr/>
          <p:nvPr>
            <p:ph idx="2" type="pic"/>
          </p:nvPr>
        </p:nvSpPr>
        <p:spPr>
          <a:xfrm>
            <a:off x="0" y="0"/>
            <a:ext cx="6172200" cy="6858000"/>
          </a:xfrm>
          <a:prstGeom prst="rect">
            <a:avLst/>
          </a:prstGeom>
          <a:solidFill>
            <a:schemeClr val="lt2"/>
          </a:solidFill>
          <a:ln>
            <a:noFill/>
          </a:ln>
        </p:spPr>
      </p:sp>
      <p:sp>
        <p:nvSpPr>
          <p:cNvPr id="116" name="Google Shape;116;p104"/>
          <p:cNvSpPr txBox="1"/>
          <p:nvPr>
            <p:ph idx="1" type="body"/>
          </p:nvPr>
        </p:nvSpPr>
        <p:spPr>
          <a:xfrm>
            <a:off x="6765798" y="264795"/>
            <a:ext cx="1524000" cy="4956048"/>
          </a:xfrm>
          <a:prstGeom prst="rect">
            <a:avLst/>
          </a:prstGeom>
          <a:noFill/>
          <a:ln>
            <a:noFill/>
          </a:ln>
        </p:spPr>
        <p:txBody>
          <a:bodyPr anchorCtr="0" anchor="t" bIns="45700" lIns="91425" spcFirstLastPara="1" rIns="91425" wrap="square" tIns="45700">
            <a:normAutofit/>
          </a:bodyPr>
          <a:lstStyle>
            <a:lvl1pPr indent="-228600" lvl="0" marL="457200" algn="l">
              <a:spcBef>
                <a:spcPts val="100"/>
              </a:spcBef>
              <a:spcAft>
                <a:spcPts val="0"/>
              </a:spcAft>
              <a:buSzPts val="840"/>
              <a:buFont typeface="Calibri"/>
              <a:buNone/>
              <a:defRPr sz="1200"/>
            </a:lvl1pPr>
            <a:lvl2pPr indent="-289560" lvl="1" marL="914400" algn="l">
              <a:spcBef>
                <a:spcPts val="400"/>
              </a:spcBef>
              <a:spcAft>
                <a:spcPts val="0"/>
              </a:spcAft>
              <a:buSzPts val="960"/>
              <a:buChar char="⚫"/>
              <a:defRPr sz="1200"/>
            </a:lvl2pPr>
            <a:lvl3pPr indent="-266700" lvl="2" marL="1371600" algn="l">
              <a:spcBef>
                <a:spcPts val="200"/>
              </a:spcBef>
              <a:spcAft>
                <a:spcPts val="0"/>
              </a:spcAft>
              <a:buSzPts val="600"/>
              <a:buChar char="🞆"/>
              <a:defRPr sz="1000"/>
            </a:lvl3pPr>
            <a:lvl4pPr indent="-262889" lvl="3" marL="1828800" algn="l">
              <a:spcBef>
                <a:spcPts val="180"/>
              </a:spcBef>
              <a:spcAft>
                <a:spcPts val="0"/>
              </a:spcAft>
              <a:buSzPts val="540"/>
              <a:buChar char="🞆"/>
              <a:defRPr sz="900"/>
            </a:lvl4pPr>
            <a:lvl5pPr indent="-267461" lvl="4" marL="2286000" algn="l">
              <a:spcBef>
                <a:spcPts val="180"/>
              </a:spcBef>
              <a:spcAft>
                <a:spcPts val="0"/>
              </a:spcAft>
              <a:buSzPts val="612"/>
              <a:buChar char="⚫"/>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117" name="Google Shape;117;p104"/>
          <p:cNvCxnSpPr/>
          <p:nvPr/>
        </p:nvCxnSpPr>
        <p:spPr>
          <a:xfrm>
            <a:off x="8991600" y="0"/>
            <a:ext cx="0" cy="6858000"/>
          </a:xfrm>
          <a:prstGeom prst="straightConnector1">
            <a:avLst/>
          </a:prstGeom>
          <a:noFill/>
          <a:ln cap="flat" cmpd="sng" w="9525">
            <a:solidFill>
              <a:schemeClr val="dk1"/>
            </a:solidFill>
            <a:prstDash val="solid"/>
            <a:round/>
            <a:headEnd len="sm" w="sm" type="none"/>
            <a:tailEnd len="sm" w="sm" type="none"/>
          </a:ln>
        </p:spPr>
      </p:cxnSp>
      <p:sp>
        <p:nvSpPr>
          <p:cNvPr id="118" name="Google Shape;118;p104"/>
          <p:cNvSpPr/>
          <p:nvPr/>
        </p:nvSpPr>
        <p:spPr>
          <a:xfrm>
            <a:off x="8839200" y="0"/>
            <a:ext cx="304800" cy="6858000"/>
          </a:xfrm>
          <a:prstGeom prst="rect">
            <a:avLst/>
          </a:prstGeom>
          <a:solidFill>
            <a:srgbClr val="ABCD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cxnSp>
        <p:nvCxnSpPr>
          <p:cNvPr id="119" name="Google Shape;119;p104"/>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cxnSp>
        <p:nvCxnSpPr>
          <p:cNvPr id="120" name="Google Shape;120;p104"/>
          <p:cNvCxnSpPr/>
          <p:nvPr/>
        </p:nvCxnSpPr>
        <p:spPr>
          <a:xfrm>
            <a:off x="6248400" y="0"/>
            <a:ext cx="0" cy="6858000"/>
          </a:xfrm>
          <a:prstGeom prst="straightConnector1">
            <a:avLst/>
          </a:prstGeom>
          <a:noFill/>
          <a:ln cap="flat" cmpd="sng" w="38100">
            <a:solidFill>
              <a:srgbClr val="ABCDDB"/>
            </a:solidFill>
            <a:prstDash val="solid"/>
            <a:round/>
            <a:headEnd len="sm" w="sm" type="none"/>
            <a:tailEnd len="sm" w="sm" type="none"/>
          </a:ln>
        </p:spPr>
      </p:cxnSp>
      <p:cxnSp>
        <p:nvCxnSpPr>
          <p:cNvPr id="121" name="Google Shape;121;p104"/>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sp>
        <p:nvSpPr>
          <p:cNvPr id="122" name="Google Shape;122;p104"/>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0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None/>
              <a:defRPr/>
            </a:lvl1pPr>
            <a:lvl2pPr indent="0" lvl="1" marL="0" algn="ctr">
              <a:spcBef>
                <a:spcPts val="0"/>
              </a:spcBef>
              <a:spcAft>
                <a:spcPts val="0"/>
              </a:spcAft>
              <a:buNone/>
              <a:defRPr/>
            </a:lvl2pPr>
            <a:lvl3pPr indent="0" lvl="2" marL="0" algn="ctr">
              <a:spcBef>
                <a:spcPts val="0"/>
              </a:spcBef>
              <a:spcAft>
                <a:spcPts val="0"/>
              </a:spcAft>
              <a:buNone/>
              <a:defRPr/>
            </a:lvl3pPr>
            <a:lvl4pPr indent="0" lvl="3" marL="0" algn="ctr">
              <a:spcBef>
                <a:spcPts val="0"/>
              </a:spcBef>
              <a:spcAft>
                <a:spcPts val="0"/>
              </a:spcAft>
              <a:buNone/>
              <a:defRPr/>
            </a:lvl4pPr>
            <a:lvl5pPr indent="0" lvl="4" marL="0" algn="ctr">
              <a:spcBef>
                <a:spcPts val="0"/>
              </a:spcBef>
              <a:spcAft>
                <a:spcPts val="0"/>
              </a:spcAft>
              <a:buNone/>
              <a:defRPr/>
            </a:lvl5pPr>
            <a:lvl6pPr indent="0" lvl="5" marL="0" algn="ctr">
              <a:spcBef>
                <a:spcPts val="0"/>
              </a:spcBef>
              <a:spcAft>
                <a:spcPts val="0"/>
              </a:spcAft>
              <a:buNone/>
              <a:defRPr/>
            </a:lvl6pPr>
            <a:lvl7pPr indent="0" lvl="6" marL="0" algn="ctr">
              <a:spcBef>
                <a:spcPts val="0"/>
              </a:spcBef>
              <a:spcAft>
                <a:spcPts val="0"/>
              </a:spcAft>
              <a:buNone/>
              <a:defRPr/>
            </a:lvl7pPr>
            <a:lvl8pPr indent="0" lvl="7" marL="0" algn="ctr">
              <a:spcBef>
                <a:spcPts val="0"/>
              </a:spcBef>
              <a:spcAft>
                <a:spcPts val="0"/>
              </a:spcAft>
              <a:buNone/>
              <a:defRPr/>
            </a:lvl8pPr>
            <a:lvl9pPr indent="0" lvl="8" marL="0" algn="ctr">
              <a:spcBef>
                <a:spcPts val="0"/>
              </a:spcBef>
              <a:spcAft>
                <a:spcPts val="0"/>
              </a:spcAft>
              <a:buNone/>
              <a:defRPr/>
            </a:lvl9pPr>
          </a:lstStyle>
          <a:p>
            <a:pPr indent="0" lvl="0" marL="0" rtl="0" algn="ctr">
              <a:spcBef>
                <a:spcPts val="0"/>
              </a:spcBef>
              <a:spcAft>
                <a:spcPts val="0"/>
              </a:spcAft>
              <a:buNone/>
            </a:pPr>
            <a:r>
              <a:rPr lang="en-US"/>
              <a:t>Slide 8-</a:t>
            </a:r>
            <a:fld id="{00000000-1234-1234-1234-123412341234}" type="slidenum">
              <a:rPr lang="en-US"/>
              <a:t>‹#›</a:t>
            </a:fld>
            <a:endParaRPr/>
          </a:p>
        </p:txBody>
      </p:sp>
      <p:sp>
        <p:nvSpPr>
          <p:cNvPr id="124" name="Google Shape;124;p104"/>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5" name="Shape 125"/>
        <p:cNvGrpSpPr/>
        <p:nvPr/>
      </p:nvGrpSpPr>
      <p:grpSpPr>
        <a:xfrm>
          <a:off x="0" y="0"/>
          <a:ext cx="0" cy="0"/>
          <a:chOff x="0" y="0"/>
          <a:chExt cx="0" cy="0"/>
        </a:xfrm>
      </p:grpSpPr>
      <p:sp>
        <p:nvSpPr>
          <p:cNvPr id="126" name="Google Shape;126;p10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105"/>
          <p:cNvSpPr txBox="1"/>
          <p:nvPr>
            <p:ph idx="1" type="body"/>
          </p:nvPr>
        </p:nvSpPr>
        <p:spPr>
          <a:xfrm rot="5400000">
            <a:off x="1754124" y="303276"/>
            <a:ext cx="4873752" cy="74676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28" name="Google Shape;128;p105"/>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105"/>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0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None/>
              <a:defRPr/>
            </a:lvl1pPr>
            <a:lvl2pPr indent="0" lvl="1" marL="0" algn="ctr">
              <a:spcBef>
                <a:spcPts val="0"/>
              </a:spcBef>
              <a:spcAft>
                <a:spcPts val="0"/>
              </a:spcAft>
              <a:buNone/>
              <a:defRPr/>
            </a:lvl2pPr>
            <a:lvl3pPr indent="0" lvl="2" marL="0" algn="ctr">
              <a:spcBef>
                <a:spcPts val="0"/>
              </a:spcBef>
              <a:spcAft>
                <a:spcPts val="0"/>
              </a:spcAft>
              <a:buNone/>
              <a:defRPr/>
            </a:lvl3pPr>
            <a:lvl4pPr indent="0" lvl="3" marL="0" algn="ctr">
              <a:spcBef>
                <a:spcPts val="0"/>
              </a:spcBef>
              <a:spcAft>
                <a:spcPts val="0"/>
              </a:spcAft>
              <a:buNone/>
              <a:defRPr/>
            </a:lvl4pPr>
            <a:lvl5pPr indent="0" lvl="4" marL="0" algn="ctr">
              <a:spcBef>
                <a:spcPts val="0"/>
              </a:spcBef>
              <a:spcAft>
                <a:spcPts val="0"/>
              </a:spcAft>
              <a:buNone/>
              <a:defRPr/>
            </a:lvl5pPr>
            <a:lvl6pPr indent="0" lvl="5" marL="0" algn="ctr">
              <a:spcBef>
                <a:spcPts val="0"/>
              </a:spcBef>
              <a:spcAft>
                <a:spcPts val="0"/>
              </a:spcAft>
              <a:buNone/>
              <a:defRPr/>
            </a:lvl6pPr>
            <a:lvl7pPr indent="0" lvl="6" marL="0" algn="ctr">
              <a:spcBef>
                <a:spcPts val="0"/>
              </a:spcBef>
              <a:spcAft>
                <a:spcPts val="0"/>
              </a:spcAft>
              <a:buNone/>
              <a:defRPr/>
            </a:lvl7pPr>
            <a:lvl8pPr indent="0" lvl="7" marL="0" algn="ctr">
              <a:spcBef>
                <a:spcPts val="0"/>
              </a:spcBef>
              <a:spcAft>
                <a:spcPts val="0"/>
              </a:spcAft>
              <a:buNone/>
              <a:defRPr/>
            </a:lvl8pPr>
            <a:lvl9pPr indent="0" lvl="8" marL="0" algn="ctr">
              <a:spcBef>
                <a:spcPts val="0"/>
              </a:spcBef>
              <a:spcAft>
                <a:spcPts val="0"/>
              </a:spcAft>
              <a:buNone/>
              <a:defRPr/>
            </a:lvl9p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1" name="Shape 131"/>
        <p:cNvGrpSpPr/>
        <p:nvPr/>
      </p:nvGrpSpPr>
      <p:grpSpPr>
        <a:xfrm>
          <a:off x="0" y="0"/>
          <a:ext cx="0" cy="0"/>
          <a:chOff x="0" y="0"/>
          <a:chExt cx="0" cy="0"/>
        </a:xfrm>
      </p:grpSpPr>
      <p:sp>
        <p:nvSpPr>
          <p:cNvPr id="132" name="Google Shape;132;p106"/>
          <p:cNvSpPr txBox="1"/>
          <p:nvPr>
            <p:ph type="title"/>
          </p:nvPr>
        </p:nvSpPr>
        <p:spPr>
          <a:xfrm rot="5400000">
            <a:off x="4541838" y="2362202"/>
            <a:ext cx="5851525" cy="1676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10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34" name="Google Shape;134;p106"/>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106"/>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10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None/>
              <a:defRPr/>
            </a:lvl1pPr>
            <a:lvl2pPr indent="0" lvl="1" marL="0" algn="ctr">
              <a:spcBef>
                <a:spcPts val="0"/>
              </a:spcBef>
              <a:spcAft>
                <a:spcPts val="0"/>
              </a:spcAft>
              <a:buNone/>
              <a:defRPr/>
            </a:lvl2pPr>
            <a:lvl3pPr indent="0" lvl="2" marL="0" algn="ctr">
              <a:spcBef>
                <a:spcPts val="0"/>
              </a:spcBef>
              <a:spcAft>
                <a:spcPts val="0"/>
              </a:spcAft>
              <a:buNone/>
              <a:defRPr/>
            </a:lvl3pPr>
            <a:lvl4pPr indent="0" lvl="3" marL="0" algn="ctr">
              <a:spcBef>
                <a:spcPts val="0"/>
              </a:spcBef>
              <a:spcAft>
                <a:spcPts val="0"/>
              </a:spcAft>
              <a:buNone/>
              <a:defRPr/>
            </a:lvl4pPr>
            <a:lvl5pPr indent="0" lvl="4" marL="0" algn="ctr">
              <a:spcBef>
                <a:spcPts val="0"/>
              </a:spcBef>
              <a:spcAft>
                <a:spcPts val="0"/>
              </a:spcAft>
              <a:buNone/>
              <a:defRPr/>
            </a:lvl5pPr>
            <a:lvl6pPr indent="0" lvl="5" marL="0" algn="ctr">
              <a:spcBef>
                <a:spcPts val="0"/>
              </a:spcBef>
              <a:spcAft>
                <a:spcPts val="0"/>
              </a:spcAft>
              <a:buNone/>
              <a:defRPr/>
            </a:lvl6pPr>
            <a:lvl7pPr indent="0" lvl="6" marL="0" algn="ctr">
              <a:spcBef>
                <a:spcPts val="0"/>
              </a:spcBef>
              <a:spcAft>
                <a:spcPts val="0"/>
              </a:spcAft>
              <a:buNone/>
              <a:defRPr/>
            </a:lvl7pPr>
            <a:lvl8pPr indent="0" lvl="7" marL="0" algn="ctr">
              <a:spcBef>
                <a:spcPts val="0"/>
              </a:spcBef>
              <a:spcAft>
                <a:spcPts val="0"/>
              </a:spcAft>
              <a:buNone/>
              <a:defRPr/>
            </a:lvl8pPr>
            <a:lvl9pPr indent="0" lvl="8" marL="0" algn="ctr">
              <a:spcBef>
                <a:spcPts val="0"/>
              </a:spcBef>
              <a:spcAft>
                <a:spcPts val="0"/>
              </a:spcAft>
              <a:buNone/>
              <a:defRPr/>
            </a:lvl9p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cxnSp>
        <p:nvCxnSpPr>
          <p:cNvPr id="10" name="Google Shape;10;p95"/>
          <p:cNvCxnSpPr/>
          <p:nvPr/>
        </p:nvCxnSpPr>
        <p:spPr>
          <a:xfrm>
            <a:off x="8763000" y="0"/>
            <a:ext cx="0" cy="6858000"/>
          </a:xfrm>
          <a:prstGeom prst="straightConnector1">
            <a:avLst/>
          </a:prstGeom>
          <a:noFill/>
          <a:ln cap="flat" cmpd="sng" w="38100">
            <a:solidFill>
              <a:srgbClr val="ABCDDB">
                <a:alpha val="92941"/>
              </a:srgbClr>
            </a:solidFill>
            <a:prstDash val="solid"/>
            <a:round/>
            <a:headEnd len="sm" w="sm" type="none"/>
            <a:tailEnd len="sm" w="sm" type="none"/>
          </a:ln>
        </p:spPr>
      </p:cxnSp>
      <p:sp>
        <p:nvSpPr>
          <p:cNvPr id="11" name="Google Shape;11;p9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000"/>
              <a:buFont typeface="Calibri"/>
              <a:buNone/>
              <a:defRPr b="0" i="0" sz="3000" u="none" cap="small"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95"/>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35280" lvl="0" marL="457200" marR="0" rtl="0" algn="l">
              <a:spcBef>
                <a:spcPts val="600"/>
              </a:spcBef>
              <a:spcAft>
                <a:spcPts val="0"/>
              </a:spcAft>
              <a:buClr>
                <a:schemeClr val="accent1"/>
              </a:buClr>
              <a:buSzPts val="1680"/>
              <a:buFont typeface="Noto Sans Symbols"/>
              <a:buChar char="🞆"/>
              <a:defRPr b="0" i="0" sz="2400" u="none" cap="none" strike="noStrike">
                <a:solidFill>
                  <a:schemeClr val="dk1"/>
                </a:solidFill>
                <a:latin typeface="Calibri"/>
                <a:ea typeface="Calibri"/>
                <a:cs typeface="Calibri"/>
                <a:sym typeface="Calibri"/>
              </a:defRPr>
            </a:lvl1pPr>
            <a:lvl2pPr indent="-335280" lvl="1" marL="914400" marR="0" rtl="0" algn="l">
              <a:spcBef>
                <a:spcPts val="420"/>
              </a:spcBef>
              <a:spcAft>
                <a:spcPts val="0"/>
              </a:spcAft>
              <a:buClr>
                <a:schemeClr val="accent1"/>
              </a:buClr>
              <a:buSzPts val="1680"/>
              <a:buFont typeface="Noto Sans Symbols"/>
              <a:buChar char="⚫"/>
              <a:defRPr b="0" i="0" sz="2100" u="none" cap="none" strike="noStrike">
                <a:solidFill>
                  <a:schemeClr val="dk1"/>
                </a:solidFill>
                <a:latin typeface="Calibri"/>
                <a:ea typeface="Calibri"/>
                <a:cs typeface="Calibri"/>
                <a:sym typeface="Calibri"/>
              </a:defRPr>
            </a:lvl2pPr>
            <a:lvl3pPr indent="-297180" lvl="2" marL="1371600" marR="0" rtl="0" algn="l">
              <a:spcBef>
                <a:spcPts val="360"/>
              </a:spcBef>
              <a:spcAft>
                <a:spcPts val="0"/>
              </a:spcAft>
              <a:buClr>
                <a:srgbClr val="278EA7"/>
              </a:buClr>
              <a:buSzPts val="1080"/>
              <a:buFont typeface="Noto Sans Symbols"/>
              <a:buChar char="🞆"/>
              <a:defRPr b="0" i="0" sz="1800" u="none" cap="none" strike="noStrike">
                <a:solidFill>
                  <a:schemeClr val="dk1"/>
                </a:solidFill>
                <a:latin typeface="Calibri"/>
                <a:ea typeface="Calibri"/>
                <a:cs typeface="Calibri"/>
                <a:sym typeface="Calibri"/>
              </a:defRPr>
            </a:lvl3pPr>
            <a:lvl4pPr indent="-297180" lvl="3" marL="1828800" marR="0" rtl="0" algn="l">
              <a:spcBef>
                <a:spcPts val="360"/>
              </a:spcBef>
              <a:spcAft>
                <a:spcPts val="0"/>
              </a:spcAft>
              <a:buClr>
                <a:srgbClr val="ABCDDB"/>
              </a:buClr>
              <a:buSzPts val="1080"/>
              <a:buFont typeface="Noto Sans Symbols"/>
              <a:buChar char="🞆"/>
              <a:defRPr b="0" i="0" sz="1800" u="none" cap="none" strike="noStrike">
                <a:solidFill>
                  <a:schemeClr val="dk1"/>
                </a:solidFill>
                <a:latin typeface="Calibri"/>
                <a:ea typeface="Calibri"/>
                <a:cs typeface="Calibri"/>
                <a:sym typeface="Calibri"/>
              </a:defRPr>
            </a:lvl4pPr>
            <a:lvl5pPr indent="-297688" lvl="4" marL="2286000" marR="0" rtl="0" algn="l">
              <a:spcBef>
                <a:spcPts val="320"/>
              </a:spcBef>
              <a:spcAft>
                <a:spcPts val="0"/>
              </a:spcAft>
              <a:buClr>
                <a:srgbClr val="EAA9AA"/>
              </a:buClr>
              <a:buSzPts val="1088"/>
              <a:buFont typeface="Noto Sans Symbols"/>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accent1"/>
              </a:buClr>
              <a:buSzPts val="1600"/>
              <a:buFont typeface="Calibri"/>
              <a:buChar char="•"/>
              <a:defRPr b="0" i="0" sz="1600" u="none" cap="none" strike="noStrike">
                <a:solidFill>
                  <a:schemeClr val="dk2"/>
                </a:solidFill>
                <a:latin typeface="Calibri"/>
                <a:ea typeface="Calibri"/>
                <a:cs typeface="Calibri"/>
                <a:sym typeface="Calibri"/>
              </a:defRPr>
            </a:lvl6pPr>
            <a:lvl7pPr indent="-281939" lvl="6" marL="3200400" marR="0" rtl="0" algn="l">
              <a:spcBef>
                <a:spcPts val="280"/>
              </a:spcBef>
              <a:spcAft>
                <a:spcPts val="0"/>
              </a:spcAft>
              <a:buClr>
                <a:srgbClr val="ABCDDB"/>
              </a:buClr>
              <a:buSzPts val="840"/>
              <a:buFont typeface="Noto Sans Symbols"/>
              <a:buChar char="⚪"/>
              <a:defRPr b="0" i="0" sz="1400" u="none" cap="none" strike="noStrike">
                <a:solidFill>
                  <a:schemeClr val="dk2"/>
                </a:solidFill>
                <a:latin typeface="Calibri"/>
                <a:ea typeface="Calibri"/>
                <a:cs typeface="Calibri"/>
                <a:sym typeface="Calibri"/>
              </a:defRPr>
            </a:lvl7pPr>
            <a:lvl8pPr indent="-317500" lvl="7" marL="3657600" marR="0" rtl="0" algn="l">
              <a:spcBef>
                <a:spcPts val="280"/>
              </a:spcBef>
              <a:spcAft>
                <a:spcPts val="0"/>
              </a:spcAft>
              <a:buClr>
                <a:schemeClr val="accent2"/>
              </a:buClr>
              <a:buSzPts val="1400"/>
              <a:buFont typeface="Calibri"/>
              <a:buChar char="•"/>
              <a:defRPr b="0" i="0" sz="1400" u="none" cap="small" strike="noStrike">
                <a:solidFill>
                  <a:schemeClr val="dk2"/>
                </a:solidFill>
                <a:latin typeface="Calibri"/>
                <a:ea typeface="Calibri"/>
                <a:cs typeface="Calibri"/>
                <a:sym typeface="Calibri"/>
              </a:defRPr>
            </a:lvl8pPr>
            <a:lvl9pPr indent="-317500" lvl="8" marL="4114800" marR="0" rtl="0" algn="l">
              <a:spcBef>
                <a:spcPts val="280"/>
              </a:spcBef>
              <a:spcAft>
                <a:spcPts val="0"/>
              </a:spcAft>
              <a:buClr>
                <a:srgbClr val="278EA7"/>
              </a:buClr>
              <a:buSzPts val="1400"/>
              <a:buFont typeface="Calibri"/>
              <a:buChar char="•"/>
              <a:defRPr b="0" i="0" sz="1400" u="none" cap="none" strike="noStrike">
                <a:solidFill>
                  <a:schemeClr val="dk2"/>
                </a:solidFill>
                <a:latin typeface="Calibri"/>
                <a:ea typeface="Calibri"/>
                <a:cs typeface="Calibri"/>
                <a:sym typeface="Calibri"/>
              </a:defRPr>
            </a:lvl9pPr>
          </a:lstStyle>
          <a:p/>
        </p:txBody>
      </p:sp>
      <p:sp>
        <p:nvSpPr>
          <p:cNvPr id="13" name="Google Shape;13;p95"/>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2"/>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 name="Google Shape;14;p95"/>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cxnSp>
        <p:nvCxnSpPr>
          <p:cNvPr id="15" name="Google Shape;15;p95"/>
          <p:cNvCxnSpPr/>
          <p:nvPr/>
        </p:nvCxnSpPr>
        <p:spPr>
          <a:xfrm>
            <a:off x="76200" y="0"/>
            <a:ext cx="0" cy="6858000"/>
          </a:xfrm>
          <a:prstGeom prst="straightConnector1">
            <a:avLst/>
          </a:prstGeom>
          <a:noFill/>
          <a:ln cap="flat" cmpd="thickThin" w="57150">
            <a:solidFill>
              <a:srgbClr val="ABCDDB"/>
            </a:solidFill>
            <a:prstDash val="solid"/>
            <a:round/>
            <a:headEnd len="sm" w="sm" type="none"/>
            <a:tailEnd len="sm" w="sm" type="none"/>
          </a:ln>
        </p:spPr>
      </p:cxnSp>
      <p:cxnSp>
        <p:nvCxnSpPr>
          <p:cNvPr id="16" name="Google Shape;16;p95"/>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17" name="Google Shape;17;p95"/>
          <p:cNvSpPr/>
          <p:nvPr/>
        </p:nvSpPr>
        <p:spPr>
          <a:xfrm>
            <a:off x="8839200" y="0"/>
            <a:ext cx="304800" cy="6858000"/>
          </a:xfrm>
          <a:prstGeom prst="rect">
            <a:avLst/>
          </a:prstGeom>
          <a:solidFill>
            <a:srgbClr val="ABCDDB">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cxnSp>
        <p:nvCxnSpPr>
          <p:cNvPr id="18" name="Google Shape;18;p95"/>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19" name="Google Shape;19;p95"/>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20" name="Google Shape;20;p9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spcAft>
                <a:spcPts val="0"/>
              </a:spcAft>
              <a:buNone/>
              <a:defRPr b="1" i="0" sz="1400" u="none" cap="none" strike="noStrike">
                <a:solidFill>
                  <a:srgbClr val="FFFFFF"/>
                </a:solidFill>
                <a:latin typeface="Times New Roman"/>
                <a:ea typeface="Times New Roman"/>
                <a:cs typeface="Times New Roman"/>
                <a:sym typeface="Times New Roman"/>
              </a:defRPr>
            </a:lvl1pPr>
            <a:lvl2pPr indent="0" lvl="1" marL="0" marR="0" rtl="0" algn="ctr">
              <a:spcBef>
                <a:spcPts val="0"/>
              </a:spcBef>
              <a:spcAft>
                <a:spcPts val="0"/>
              </a:spcAft>
              <a:buNone/>
              <a:defRPr b="1" i="0" sz="1400" u="none" cap="none" strike="noStrike">
                <a:solidFill>
                  <a:srgbClr val="FFFFFF"/>
                </a:solidFill>
                <a:latin typeface="Times New Roman"/>
                <a:ea typeface="Times New Roman"/>
                <a:cs typeface="Times New Roman"/>
                <a:sym typeface="Times New Roman"/>
              </a:defRPr>
            </a:lvl2pPr>
            <a:lvl3pPr indent="0" lvl="2" marL="0" marR="0" rtl="0" algn="ctr">
              <a:spcBef>
                <a:spcPts val="0"/>
              </a:spcBef>
              <a:spcAft>
                <a:spcPts val="0"/>
              </a:spcAft>
              <a:buNone/>
              <a:defRPr b="1" i="0" sz="1400" u="none" cap="none" strike="noStrike">
                <a:solidFill>
                  <a:srgbClr val="FFFFFF"/>
                </a:solidFill>
                <a:latin typeface="Times New Roman"/>
                <a:ea typeface="Times New Roman"/>
                <a:cs typeface="Times New Roman"/>
                <a:sym typeface="Times New Roman"/>
              </a:defRPr>
            </a:lvl3pPr>
            <a:lvl4pPr indent="0" lvl="3" marL="0" marR="0" rtl="0" algn="ctr">
              <a:spcBef>
                <a:spcPts val="0"/>
              </a:spcBef>
              <a:spcAft>
                <a:spcPts val="0"/>
              </a:spcAft>
              <a:buNone/>
              <a:defRPr b="1" i="0" sz="1400" u="none" cap="none" strike="noStrike">
                <a:solidFill>
                  <a:srgbClr val="FFFFFF"/>
                </a:solidFill>
                <a:latin typeface="Times New Roman"/>
                <a:ea typeface="Times New Roman"/>
                <a:cs typeface="Times New Roman"/>
                <a:sym typeface="Times New Roman"/>
              </a:defRPr>
            </a:lvl4pPr>
            <a:lvl5pPr indent="0" lvl="4" marL="0" marR="0" rtl="0" algn="ctr">
              <a:spcBef>
                <a:spcPts val="0"/>
              </a:spcBef>
              <a:spcAft>
                <a:spcPts val="0"/>
              </a:spcAft>
              <a:buNone/>
              <a:defRPr b="1" i="0" sz="1400" u="none" cap="none" strike="noStrike">
                <a:solidFill>
                  <a:srgbClr val="FFFFFF"/>
                </a:solidFill>
                <a:latin typeface="Times New Roman"/>
                <a:ea typeface="Times New Roman"/>
                <a:cs typeface="Times New Roman"/>
                <a:sym typeface="Times New Roman"/>
              </a:defRPr>
            </a:lvl5pPr>
            <a:lvl6pPr indent="0" lvl="5" marL="0" marR="0" rtl="0" algn="ctr">
              <a:spcBef>
                <a:spcPts val="0"/>
              </a:spcBef>
              <a:spcAft>
                <a:spcPts val="0"/>
              </a:spcAft>
              <a:buNone/>
              <a:defRPr b="1" i="0" sz="1400" u="none" cap="none" strike="noStrike">
                <a:solidFill>
                  <a:srgbClr val="FFFFFF"/>
                </a:solidFill>
                <a:latin typeface="Times New Roman"/>
                <a:ea typeface="Times New Roman"/>
                <a:cs typeface="Times New Roman"/>
                <a:sym typeface="Times New Roman"/>
              </a:defRPr>
            </a:lvl6pPr>
            <a:lvl7pPr indent="0" lvl="6" marL="0" marR="0" rtl="0" algn="ctr">
              <a:spcBef>
                <a:spcPts val="0"/>
              </a:spcBef>
              <a:spcAft>
                <a:spcPts val="0"/>
              </a:spcAft>
              <a:buNone/>
              <a:defRPr b="1" i="0" sz="1400" u="none" cap="none" strike="noStrike">
                <a:solidFill>
                  <a:srgbClr val="FFFFFF"/>
                </a:solidFill>
                <a:latin typeface="Times New Roman"/>
                <a:ea typeface="Times New Roman"/>
                <a:cs typeface="Times New Roman"/>
                <a:sym typeface="Times New Roman"/>
              </a:defRPr>
            </a:lvl7pPr>
            <a:lvl8pPr indent="0" lvl="7" marL="0" marR="0" rtl="0" algn="ctr">
              <a:spcBef>
                <a:spcPts val="0"/>
              </a:spcBef>
              <a:spcAft>
                <a:spcPts val="0"/>
              </a:spcAft>
              <a:buNone/>
              <a:defRPr b="1" i="0" sz="1400" u="none" cap="none" strike="noStrike">
                <a:solidFill>
                  <a:srgbClr val="FFFFFF"/>
                </a:solidFill>
                <a:latin typeface="Times New Roman"/>
                <a:ea typeface="Times New Roman"/>
                <a:cs typeface="Times New Roman"/>
                <a:sym typeface="Times New Roman"/>
              </a:defRPr>
            </a:lvl8pPr>
            <a:lvl9pPr indent="0" lvl="8" marL="0" marR="0" rtl="0" algn="ctr">
              <a:spcBef>
                <a:spcPts val="0"/>
              </a:spcBef>
              <a:spcAft>
                <a:spcPts val="0"/>
              </a:spcAft>
              <a:buNone/>
              <a:defRPr b="1" i="0" sz="1400" u="none" cap="none" strike="noStrik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5.png"/><Relationship Id="rId4" Type="http://schemas.openxmlformats.org/officeDocument/2006/relationships/image" Target="../media/image1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1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1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2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27.png"/><Relationship Id="rId4" Type="http://schemas.openxmlformats.org/officeDocument/2006/relationships/image" Target="../media/image1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2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6.png"/><Relationship Id="rId4" Type="http://schemas.openxmlformats.org/officeDocument/2006/relationships/image" Target="../media/image2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2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
          <p:cNvSpPr txBox="1"/>
          <p:nvPr>
            <p:ph type="ctrTitle"/>
          </p:nvPr>
        </p:nvSpPr>
        <p:spPr>
          <a:xfrm>
            <a:off x="2286000" y="3124200"/>
            <a:ext cx="6172200" cy="18943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SQL: Schema Definition, Basic Constraints, and Queries</a:t>
            </a:r>
            <a:br>
              <a:rPr lang="en-US"/>
            </a:br>
            <a:endParaRPr/>
          </a:p>
        </p:txBody>
      </p:sp>
      <p:sp>
        <p:nvSpPr>
          <p:cNvPr id="142" name="Google Shape;142;p1"/>
          <p:cNvSpPr txBox="1"/>
          <p:nvPr>
            <p:ph idx="1" type="subTitle"/>
          </p:nvPr>
        </p:nvSpPr>
        <p:spPr>
          <a:xfrm>
            <a:off x="2286000" y="5003322"/>
            <a:ext cx="6172200" cy="1371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26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SQL Introduction</a:t>
            </a:r>
            <a:endParaRPr>
              <a:solidFill>
                <a:srgbClr val="000000"/>
              </a:solidFill>
            </a:endParaRPr>
          </a:p>
        </p:txBody>
      </p:sp>
      <p:sp>
        <p:nvSpPr>
          <p:cNvPr id="148" name="Google Shape;148;p2"/>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SQL stands for  </a:t>
            </a:r>
            <a:r>
              <a:rPr b="1" lang="en-US"/>
              <a:t>S</a:t>
            </a:r>
            <a:r>
              <a:rPr lang="en-US"/>
              <a:t>tructured   </a:t>
            </a:r>
            <a:r>
              <a:rPr b="1" lang="en-US"/>
              <a:t>Q</a:t>
            </a:r>
            <a:r>
              <a:rPr lang="en-US"/>
              <a:t>uery   </a:t>
            </a:r>
            <a:r>
              <a:rPr b="1" lang="en-US"/>
              <a:t>L</a:t>
            </a:r>
            <a:r>
              <a:rPr lang="en-US"/>
              <a:t>anguage</a:t>
            </a:r>
            <a:endParaRPr/>
          </a:p>
          <a:p>
            <a:pPr indent="-274320" lvl="0" marL="274320" rtl="0" algn="l">
              <a:spcBef>
                <a:spcPts val="600"/>
              </a:spcBef>
              <a:spcAft>
                <a:spcPts val="0"/>
              </a:spcAft>
              <a:buSzPts val="1680"/>
              <a:buChar char="🞆"/>
            </a:pPr>
            <a:r>
              <a:rPr lang="en-US"/>
              <a:t>Standard language for querying and manipulating data</a:t>
            </a:r>
            <a:endParaRPr/>
          </a:p>
          <a:p>
            <a:pPr indent="-274320" lvl="0" marL="274320" rtl="0" algn="l">
              <a:spcBef>
                <a:spcPts val="600"/>
              </a:spcBef>
              <a:spcAft>
                <a:spcPts val="0"/>
              </a:spcAft>
              <a:buSzPts val="1680"/>
              <a:buChar char="🞆"/>
            </a:pPr>
            <a:r>
              <a:rPr lang="en-US"/>
              <a:t>Data Definition Language (DDL)</a:t>
            </a:r>
            <a:endParaRPr/>
          </a:p>
          <a:p>
            <a:pPr indent="-274320" lvl="1" marL="640080" rtl="0" algn="l">
              <a:spcBef>
                <a:spcPts val="420"/>
              </a:spcBef>
              <a:spcAft>
                <a:spcPts val="0"/>
              </a:spcAft>
              <a:buSzPts val="1680"/>
              <a:buChar char="⚫"/>
            </a:pPr>
            <a:r>
              <a:rPr lang="en-US"/>
              <a:t>Create/alter/delete tables and their attributes</a:t>
            </a:r>
            <a:endParaRPr/>
          </a:p>
          <a:p>
            <a:pPr indent="-274320" lvl="0" marL="274320" rtl="0" algn="l">
              <a:spcBef>
                <a:spcPts val="600"/>
              </a:spcBef>
              <a:spcAft>
                <a:spcPts val="0"/>
              </a:spcAft>
              <a:buSzPts val="1680"/>
              <a:buChar char="🞆"/>
            </a:pPr>
            <a:r>
              <a:rPr lang="en-US"/>
              <a:t>Data Manipulation Language (DML)</a:t>
            </a:r>
            <a:endParaRPr/>
          </a:p>
          <a:p>
            <a:pPr indent="-274320" lvl="1" marL="640080" rtl="0" algn="l">
              <a:spcBef>
                <a:spcPts val="420"/>
              </a:spcBef>
              <a:spcAft>
                <a:spcPts val="0"/>
              </a:spcAft>
              <a:buSzPts val="1680"/>
              <a:buChar char="⚫"/>
            </a:pPr>
            <a:r>
              <a:rPr lang="en-US"/>
              <a:t>Query one or more tables</a:t>
            </a:r>
            <a:endParaRPr/>
          </a:p>
          <a:p>
            <a:pPr indent="-274320" lvl="1" marL="640080" rtl="0" algn="l">
              <a:spcBef>
                <a:spcPts val="420"/>
              </a:spcBef>
              <a:spcAft>
                <a:spcPts val="0"/>
              </a:spcAft>
              <a:buSzPts val="1680"/>
              <a:buChar char="⚫"/>
            </a:pPr>
            <a:r>
              <a:rPr lang="en-US"/>
              <a:t>Insert/delete/modify tuples in tables</a:t>
            </a:r>
            <a:endParaRPr/>
          </a:p>
          <a:p>
            <a:pPr indent="-167640" lvl="0" marL="274320" rtl="0" algn="l">
              <a:spcBef>
                <a:spcPts val="600"/>
              </a:spcBef>
              <a:spcAft>
                <a:spcPts val="0"/>
              </a:spcAft>
              <a:buSzPts val="1680"/>
              <a:buNone/>
            </a:pPr>
            <a:r>
              <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None/>
            </a:pPr>
            <a:r>
              <a:t/>
            </a:r>
            <a:endParaRPr>
              <a:solidFill>
                <a:srgbClr val="000000"/>
              </a:solidFill>
            </a:endParaRPr>
          </a:p>
        </p:txBody>
      </p:sp>
      <p:sp>
        <p:nvSpPr>
          <p:cNvPr id="149" name="Google Shape;149;p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sp>
        <p:nvSpPr>
          <p:cNvPr id="150" name="Google Shape;150;p2"/>
          <p:cNvSpPr txBox="1"/>
          <p:nvPr/>
        </p:nvSpPr>
        <p:spPr>
          <a:xfrm>
            <a:off x="212354" y="5272385"/>
            <a:ext cx="8398518" cy="461665"/>
          </a:xfrm>
          <a:prstGeom prst="rect">
            <a:avLst/>
          </a:prstGeom>
          <a:gradFill>
            <a:gsLst>
              <a:gs pos="0">
                <a:srgbClr val="8ECFE7"/>
              </a:gs>
              <a:gs pos="50000">
                <a:srgbClr val="BBDEEE"/>
              </a:gs>
              <a:gs pos="100000">
                <a:srgbClr val="DDEEF6"/>
              </a:gs>
            </a:gsLst>
            <a:lin ang="5400000" scaled="0"/>
          </a:gra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Many standards out there: ANSI SQL,  SQL92 (a.k.a. SQL2),  SQL99 (a.k.a. SQL3), </a:t>
            </a:r>
            <a:r>
              <a:rPr b="0" i="0" lang="en-US" sz="2400" u="none" cap="none" strike="noStrike">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CREATE TABLE</a:t>
            </a:r>
            <a:endParaRPr b="1">
              <a:solidFill>
                <a:srgbClr val="000000"/>
              </a:solidFill>
            </a:endParaRPr>
          </a:p>
        </p:txBody>
      </p:sp>
      <p:sp>
        <p:nvSpPr>
          <p:cNvPr id="158" name="Google Shape;158;p3"/>
          <p:cNvSpPr txBox="1"/>
          <p:nvPr>
            <p:ph idx="1" type="body"/>
          </p:nvPr>
        </p:nvSpPr>
        <p:spPr>
          <a:xfrm>
            <a:off x="457200" y="1600200"/>
            <a:ext cx="8503920" cy="4873752"/>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960"/>
              <a:buChar char="🞆"/>
            </a:pPr>
            <a:r>
              <a:rPr lang="en-US" sz="2800">
                <a:solidFill>
                  <a:srgbClr val="000000"/>
                </a:solidFill>
              </a:rPr>
              <a:t>Creates a new relation(table) in the database</a:t>
            </a:r>
            <a:endParaRPr/>
          </a:p>
          <a:p>
            <a:pPr indent="-274320" lvl="1" marL="640080" rtl="0" algn="l">
              <a:lnSpc>
                <a:spcPct val="90000"/>
              </a:lnSpc>
              <a:spcBef>
                <a:spcPts val="440"/>
              </a:spcBef>
              <a:spcAft>
                <a:spcPts val="0"/>
              </a:spcAft>
              <a:buSzPts val="1760"/>
              <a:buChar char="⚫"/>
            </a:pPr>
            <a:r>
              <a:rPr lang="en-US" sz="2200">
                <a:solidFill>
                  <a:srgbClr val="000000"/>
                </a:solidFill>
              </a:rPr>
              <a:t>Specifies relation’s attributes and their data types</a:t>
            </a:r>
            <a:endParaRPr/>
          </a:p>
          <a:p>
            <a:pPr indent="-274320" lvl="1" marL="640080" rtl="0" algn="l">
              <a:lnSpc>
                <a:spcPct val="90000"/>
              </a:lnSpc>
              <a:spcBef>
                <a:spcPts val="480"/>
              </a:spcBef>
              <a:spcAft>
                <a:spcPts val="0"/>
              </a:spcAft>
              <a:buSzPts val="1760"/>
              <a:buChar char="⚫"/>
            </a:pPr>
            <a:r>
              <a:rPr lang="en-US" sz="2200">
                <a:solidFill>
                  <a:srgbClr val="000000"/>
                </a:solidFill>
              </a:rPr>
              <a:t>Specifies </a:t>
            </a:r>
            <a:r>
              <a:rPr lang="en-US" sz="2400">
                <a:solidFill>
                  <a:srgbClr val="000000"/>
                </a:solidFill>
              </a:rPr>
              <a:t>constraints such as  </a:t>
            </a:r>
            <a:r>
              <a:rPr lang="en-US" sz="2000">
                <a:solidFill>
                  <a:srgbClr val="000000"/>
                </a:solidFill>
              </a:rPr>
              <a:t>NOT NULL , UNIQUE ,CHECK etc…</a:t>
            </a:r>
            <a:endParaRPr sz="2400">
              <a:solidFill>
                <a:srgbClr val="000000"/>
              </a:solidFill>
            </a:endParaRPr>
          </a:p>
          <a:p>
            <a:pPr indent="-274320" lvl="0" marL="274320" rtl="0" algn="l">
              <a:lnSpc>
                <a:spcPct val="90000"/>
              </a:lnSpc>
              <a:spcBef>
                <a:spcPts val="600"/>
              </a:spcBef>
              <a:spcAft>
                <a:spcPts val="0"/>
              </a:spcAft>
              <a:buSzPts val="1610"/>
              <a:buNone/>
            </a:pPr>
            <a:r>
              <a:t/>
            </a:r>
            <a:endParaRPr sz="2300">
              <a:solidFill>
                <a:srgbClr val="000000"/>
              </a:solidFill>
            </a:endParaRPr>
          </a:p>
          <a:p>
            <a:pPr indent="-274320" lvl="0" marL="274320" rtl="0" algn="l">
              <a:lnSpc>
                <a:spcPct val="90000"/>
              </a:lnSpc>
              <a:spcBef>
                <a:spcPts val="600"/>
              </a:spcBef>
              <a:spcAft>
                <a:spcPts val="0"/>
              </a:spcAft>
              <a:buSzPts val="1610"/>
              <a:buNone/>
            </a:pPr>
            <a:r>
              <a:rPr lang="en-US" sz="2300">
                <a:solidFill>
                  <a:srgbClr val="000000"/>
                </a:solidFill>
              </a:rPr>
              <a:t>CREATE TABLE   DEPARTMENT</a:t>
            </a:r>
            <a:br>
              <a:rPr lang="en-US" sz="2300">
                <a:solidFill>
                  <a:srgbClr val="000000"/>
                </a:solidFill>
              </a:rPr>
            </a:br>
            <a:r>
              <a:rPr lang="en-US" sz="2300">
                <a:solidFill>
                  <a:srgbClr val="000000"/>
                </a:solidFill>
              </a:rPr>
              <a:t>	</a:t>
            </a:r>
            <a:r>
              <a:rPr lang="en-US" sz="2000">
                <a:solidFill>
                  <a:srgbClr val="000000"/>
                </a:solidFill>
              </a:rPr>
              <a:t>(DNAME	 	VARCHAR(10)	NOT NULL  ,</a:t>
            </a:r>
            <a:br>
              <a:rPr lang="en-US" sz="2000">
                <a:solidFill>
                  <a:srgbClr val="000000"/>
                </a:solidFill>
              </a:rPr>
            </a:br>
            <a:r>
              <a:rPr lang="en-US" sz="2000">
                <a:solidFill>
                  <a:srgbClr val="000000"/>
                </a:solidFill>
              </a:rPr>
              <a:t>	DNUMBER	INTEGER  CHECK(DNUMBER &gt;0 AND DNUMBER &lt;25),</a:t>
            </a:r>
            <a:br>
              <a:rPr lang="en-US" sz="2000">
                <a:solidFill>
                  <a:srgbClr val="000000"/>
                </a:solidFill>
              </a:rPr>
            </a:br>
            <a:r>
              <a:rPr lang="en-US" sz="2000">
                <a:solidFill>
                  <a:srgbClr val="000000"/>
                </a:solidFill>
              </a:rPr>
              <a:t>	MGRSSN		CHAR(9),</a:t>
            </a:r>
            <a:br>
              <a:rPr lang="en-US" sz="2000">
                <a:solidFill>
                  <a:srgbClr val="000000"/>
                </a:solidFill>
              </a:rPr>
            </a:br>
            <a:r>
              <a:rPr lang="en-US" sz="2000">
                <a:solidFill>
                  <a:srgbClr val="000000"/>
                </a:solidFill>
              </a:rPr>
              <a:t>	MGRSTARTDATE     DATE</a:t>
            </a:r>
            <a:endParaRPr/>
          </a:p>
          <a:p>
            <a:pPr indent="-274320" lvl="1" marL="640080" rtl="0" algn="l">
              <a:lnSpc>
                <a:spcPct val="90000"/>
              </a:lnSpc>
              <a:spcBef>
                <a:spcPts val="400"/>
              </a:spcBef>
              <a:spcAft>
                <a:spcPts val="0"/>
              </a:spcAft>
              <a:buSzPts val="1440"/>
              <a:buNone/>
            </a:pPr>
            <a:r>
              <a:rPr lang="en-US" sz="1800">
                <a:solidFill>
                  <a:srgbClr val="000000"/>
                </a:solidFill>
              </a:rPr>
              <a:t>          );</a:t>
            </a:r>
            <a:br>
              <a:rPr lang="en-US" sz="2000">
                <a:solidFill>
                  <a:srgbClr val="000000"/>
                </a:solidFill>
              </a:rPr>
            </a:br>
            <a:endParaRPr sz="2800">
              <a:solidFill>
                <a:srgbClr val="000000"/>
              </a:solidFill>
            </a:endParaRPr>
          </a:p>
        </p:txBody>
      </p:sp>
      <p:sp>
        <p:nvSpPr>
          <p:cNvPr id="159" name="Google Shape;159;p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Additional Data Types</a:t>
            </a:r>
            <a:endParaRPr b="1">
              <a:solidFill>
                <a:srgbClr val="000000"/>
              </a:solidFill>
            </a:endParaRPr>
          </a:p>
        </p:txBody>
      </p:sp>
      <p:sp>
        <p:nvSpPr>
          <p:cNvPr id="167" name="Google Shape;167;p4"/>
          <p:cNvSpPr txBox="1"/>
          <p:nvPr>
            <p:ph idx="1" type="body"/>
          </p:nvPr>
        </p:nvSpPr>
        <p:spPr>
          <a:xfrm>
            <a:off x="457200" y="1600200"/>
            <a:ext cx="8101584" cy="4873752"/>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960"/>
              <a:buChar char="🞆"/>
            </a:pPr>
            <a:r>
              <a:rPr b="1" lang="en-US" sz="2800">
                <a:solidFill>
                  <a:srgbClr val="000000"/>
                </a:solidFill>
              </a:rPr>
              <a:t>DATE:</a:t>
            </a:r>
            <a:endParaRPr sz="2800">
              <a:solidFill>
                <a:srgbClr val="000000"/>
              </a:solidFill>
            </a:endParaRPr>
          </a:p>
          <a:p>
            <a:pPr indent="-274320" lvl="1" marL="640080" rtl="0" algn="l">
              <a:lnSpc>
                <a:spcPct val="90000"/>
              </a:lnSpc>
              <a:spcBef>
                <a:spcPts val="480"/>
              </a:spcBef>
              <a:spcAft>
                <a:spcPts val="0"/>
              </a:spcAft>
              <a:buSzPts val="1920"/>
              <a:buChar char="⚫"/>
            </a:pPr>
            <a:r>
              <a:rPr lang="en-US" sz="2400">
                <a:solidFill>
                  <a:srgbClr val="000000"/>
                </a:solidFill>
              </a:rPr>
              <a:t>Made up of year-month-day in the format yyyy-mm-dd</a:t>
            </a:r>
            <a:endParaRPr sz="2400">
              <a:solidFill>
                <a:srgbClr val="000000"/>
              </a:solidFill>
            </a:endParaRPr>
          </a:p>
          <a:p>
            <a:pPr indent="-274320" lvl="0" marL="274320" rtl="0" algn="l">
              <a:lnSpc>
                <a:spcPct val="90000"/>
              </a:lnSpc>
              <a:spcBef>
                <a:spcPts val="600"/>
              </a:spcBef>
              <a:spcAft>
                <a:spcPts val="0"/>
              </a:spcAft>
              <a:buSzPts val="1960"/>
              <a:buChar char="🞆"/>
            </a:pPr>
            <a:r>
              <a:rPr b="1" lang="en-US" sz="2800">
                <a:solidFill>
                  <a:srgbClr val="000000"/>
                </a:solidFill>
              </a:rPr>
              <a:t>TIME:</a:t>
            </a:r>
            <a:endParaRPr sz="2800">
              <a:solidFill>
                <a:srgbClr val="000000"/>
              </a:solidFill>
            </a:endParaRPr>
          </a:p>
          <a:p>
            <a:pPr indent="-274320" lvl="1" marL="640080" rtl="0" algn="l">
              <a:lnSpc>
                <a:spcPct val="90000"/>
              </a:lnSpc>
              <a:spcBef>
                <a:spcPts val="480"/>
              </a:spcBef>
              <a:spcAft>
                <a:spcPts val="0"/>
              </a:spcAft>
              <a:buSzPts val="1920"/>
              <a:buChar char="⚫"/>
            </a:pPr>
            <a:r>
              <a:rPr lang="en-US" sz="2400">
                <a:solidFill>
                  <a:srgbClr val="000000"/>
                </a:solidFill>
              </a:rPr>
              <a:t>Made up of hour:minute:second in the format hh:mm:ss</a:t>
            </a:r>
            <a:endParaRPr sz="2400">
              <a:solidFill>
                <a:srgbClr val="000000"/>
              </a:solidFill>
            </a:endParaRPr>
          </a:p>
          <a:p>
            <a:pPr indent="-274320" lvl="0" marL="274320" rtl="0" algn="l">
              <a:lnSpc>
                <a:spcPct val="90000"/>
              </a:lnSpc>
              <a:spcBef>
                <a:spcPts val="600"/>
              </a:spcBef>
              <a:spcAft>
                <a:spcPts val="0"/>
              </a:spcAft>
              <a:buSzPts val="1960"/>
              <a:buChar char="🞆"/>
            </a:pPr>
            <a:r>
              <a:rPr b="1" lang="en-US" sz="2800">
                <a:solidFill>
                  <a:srgbClr val="000000"/>
                </a:solidFill>
              </a:rPr>
              <a:t>TIME(i):</a:t>
            </a:r>
            <a:endParaRPr sz="2800">
              <a:solidFill>
                <a:srgbClr val="000000"/>
              </a:solidFill>
            </a:endParaRPr>
          </a:p>
          <a:p>
            <a:pPr indent="-274320" lvl="1" marL="640080" rtl="0" algn="l">
              <a:lnSpc>
                <a:spcPct val="90000"/>
              </a:lnSpc>
              <a:spcBef>
                <a:spcPts val="480"/>
              </a:spcBef>
              <a:spcAft>
                <a:spcPts val="0"/>
              </a:spcAft>
              <a:buSzPts val="1920"/>
              <a:buChar char="⚫"/>
            </a:pPr>
            <a:r>
              <a:rPr lang="en-US" sz="2400">
                <a:solidFill>
                  <a:srgbClr val="000000"/>
                </a:solidFill>
              </a:rPr>
              <a:t>Made up of hour:minute:second plus i additional digits specifying fractions of a second</a:t>
            </a:r>
            <a:endParaRPr/>
          </a:p>
          <a:p>
            <a:pPr indent="-274320" lvl="1" marL="640080" rtl="0" algn="l">
              <a:lnSpc>
                <a:spcPct val="90000"/>
              </a:lnSpc>
              <a:spcBef>
                <a:spcPts val="480"/>
              </a:spcBef>
              <a:spcAft>
                <a:spcPts val="0"/>
              </a:spcAft>
              <a:buSzPts val="1920"/>
              <a:buChar char="⚫"/>
            </a:pPr>
            <a:r>
              <a:rPr lang="en-US" sz="2400">
                <a:solidFill>
                  <a:srgbClr val="000000"/>
                </a:solidFill>
              </a:rPr>
              <a:t>format is hh:mm:ss:ii...i</a:t>
            </a:r>
            <a:endParaRPr sz="2400" u="sng">
              <a:solidFill>
                <a:srgbClr val="000000"/>
              </a:solidFill>
            </a:endParaRPr>
          </a:p>
          <a:p>
            <a:pPr indent="-274320" lvl="0" marL="274320" rtl="0" algn="l">
              <a:lnSpc>
                <a:spcPct val="90000"/>
              </a:lnSpc>
              <a:spcBef>
                <a:spcPts val="600"/>
              </a:spcBef>
              <a:spcAft>
                <a:spcPts val="0"/>
              </a:spcAft>
              <a:buSzPts val="1960"/>
              <a:buChar char="🞆"/>
            </a:pPr>
            <a:r>
              <a:rPr b="1" lang="en-US" sz="2800">
                <a:solidFill>
                  <a:srgbClr val="000000"/>
                </a:solidFill>
              </a:rPr>
              <a:t>TIMESTAMP:</a:t>
            </a:r>
            <a:endParaRPr sz="2800">
              <a:solidFill>
                <a:srgbClr val="000000"/>
              </a:solidFill>
            </a:endParaRPr>
          </a:p>
          <a:p>
            <a:pPr indent="-274320" lvl="1" marL="640080" rtl="0" algn="l">
              <a:lnSpc>
                <a:spcPct val="90000"/>
              </a:lnSpc>
              <a:spcBef>
                <a:spcPts val="480"/>
              </a:spcBef>
              <a:spcAft>
                <a:spcPts val="0"/>
              </a:spcAft>
              <a:buSzPts val="1920"/>
              <a:buChar char="⚫"/>
            </a:pPr>
            <a:r>
              <a:rPr lang="en-US" sz="2400">
                <a:solidFill>
                  <a:srgbClr val="000000"/>
                </a:solidFill>
              </a:rPr>
              <a:t>Has both DATE and TIME components</a:t>
            </a:r>
            <a:endParaRPr sz="2400" u="sng">
              <a:solidFill>
                <a:srgbClr val="000000"/>
              </a:solidFill>
            </a:endParaRPr>
          </a:p>
        </p:txBody>
      </p:sp>
      <p:sp>
        <p:nvSpPr>
          <p:cNvPr id="168" name="Google Shape;168;p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b="1" lang="en-US"/>
              <a:t>Constraints in SQL</a:t>
            </a:r>
            <a:endParaRPr b="1">
              <a:solidFill>
                <a:srgbClr val="000000"/>
              </a:solidFill>
            </a:endParaRPr>
          </a:p>
        </p:txBody>
      </p:sp>
      <p:sp>
        <p:nvSpPr>
          <p:cNvPr id="176" name="Google Shape;176;p5"/>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680"/>
              <a:buChar char="🞆"/>
            </a:pPr>
            <a:r>
              <a:rPr lang="en-US" sz="2400">
                <a:solidFill>
                  <a:srgbClr val="000000"/>
                </a:solidFill>
              </a:rPr>
              <a:t>CREATE TABLE command allows us to specify the primary key, secondary keys, and foreign keys.</a:t>
            </a:r>
            <a:r>
              <a:rPr lang="en-US" sz="2800">
                <a:solidFill>
                  <a:srgbClr val="000000"/>
                </a:solidFill>
              </a:rPr>
              <a:t> </a:t>
            </a:r>
            <a:endParaRPr sz="2800">
              <a:solidFill>
                <a:srgbClr val="000000"/>
              </a:solidFill>
            </a:endParaRPr>
          </a:p>
          <a:p>
            <a:pPr indent="-274320" lvl="0" marL="274320" rtl="0" algn="l">
              <a:lnSpc>
                <a:spcPct val="90000"/>
              </a:lnSpc>
              <a:spcBef>
                <a:spcPts val="600"/>
              </a:spcBef>
              <a:spcAft>
                <a:spcPts val="0"/>
              </a:spcAft>
              <a:buSzPts val="1680"/>
              <a:buChar char="🞆"/>
            </a:pPr>
            <a:r>
              <a:rPr lang="en-US" sz="2400">
                <a:solidFill>
                  <a:srgbClr val="000000"/>
                </a:solidFill>
              </a:rPr>
              <a:t>Key attributes can be specified via the PRIMARY KEY and UNIQUE phrases</a:t>
            </a:r>
            <a:br>
              <a:rPr lang="en-US" sz="2400">
                <a:solidFill>
                  <a:srgbClr val="000000"/>
                </a:solidFill>
              </a:rPr>
            </a:br>
            <a:endParaRPr sz="2400">
              <a:solidFill>
                <a:srgbClr val="000000"/>
              </a:solidFill>
            </a:endParaRPr>
          </a:p>
          <a:p>
            <a:pPr indent="-274320" lvl="1" marL="640080" rtl="0" algn="l">
              <a:lnSpc>
                <a:spcPct val="90000"/>
              </a:lnSpc>
              <a:spcBef>
                <a:spcPts val="400"/>
              </a:spcBef>
              <a:spcAft>
                <a:spcPts val="0"/>
              </a:spcAft>
              <a:buSzPts val="1600"/>
              <a:buFont typeface="Calibri"/>
              <a:buNone/>
            </a:pPr>
            <a:r>
              <a:rPr lang="en-US" sz="2000">
                <a:solidFill>
                  <a:srgbClr val="000000"/>
                </a:solidFill>
              </a:rPr>
              <a:t>CREATE TABLE   DEPARTMENT</a:t>
            </a:r>
            <a:endParaRPr sz="2000">
              <a:solidFill>
                <a:srgbClr val="000000"/>
              </a:solidFill>
            </a:endParaRPr>
          </a:p>
          <a:p>
            <a:pPr indent="-274320" lvl="1" marL="640080" rtl="0" algn="l">
              <a:lnSpc>
                <a:spcPct val="90000"/>
              </a:lnSpc>
              <a:spcBef>
                <a:spcPts val="400"/>
              </a:spcBef>
              <a:spcAft>
                <a:spcPts val="0"/>
              </a:spcAft>
              <a:buSzPts val="1600"/>
              <a:buFont typeface="Calibri"/>
              <a:buNone/>
            </a:pPr>
            <a:r>
              <a:rPr lang="en-US" sz="2000">
                <a:solidFill>
                  <a:srgbClr val="000000"/>
                </a:solidFill>
              </a:rPr>
              <a:t>(	     DNAME		VARCHAR(10)	NOT NULL,</a:t>
            </a:r>
            <a:br>
              <a:rPr lang="en-US" sz="2000">
                <a:solidFill>
                  <a:srgbClr val="000000"/>
                </a:solidFill>
              </a:rPr>
            </a:br>
            <a:r>
              <a:rPr lang="en-US" sz="2000">
                <a:solidFill>
                  <a:srgbClr val="000000"/>
                </a:solidFill>
              </a:rPr>
              <a:t>	DNUMBER	INTEGER		NOT NULL,</a:t>
            </a:r>
            <a:br>
              <a:rPr lang="en-US" sz="2000">
                <a:solidFill>
                  <a:srgbClr val="000000"/>
                </a:solidFill>
              </a:rPr>
            </a:br>
            <a:r>
              <a:rPr lang="en-US" sz="2000">
                <a:solidFill>
                  <a:srgbClr val="000000"/>
                </a:solidFill>
              </a:rPr>
              <a:t>	MGRSSN		CHAR(9),</a:t>
            </a:r>
            <a:br>
              <a:rPr lang="en-US" sz="2000">
                <a:solidFill>
                  <a:srgbClr val="000000"/>
                </a:solidFill>
              </a:rPr>
            </a:br>
            <a:r>
              <a:rPr lang="en-US" sz="2000">
                <a:solidFill>
                  <a:srgbClr val="000000"/>
                </a:solidFill>
              </a:rPr>
              <a:t>	MGRSTARTDATE	CHAR(9),</a:t>
            </a:r>
            <a:br>
              <a:rPr lang="en-US" sz="2000">
                <a:solidFill>
                  <a:srgbClr val="000000"/>
                </a:solidFill>
              </a:rPr>
            </a:br>
            <a:r>
              <a:rPr lang="en-US" sz="2000">
                <a:solidFill>
                  <a:srgbClr val="000000"/>
                </a:solidFill>
              </a:rPr>
              <a:t>	</a:t>
            </a:r>
            <a:r>
              <a:rPr b="1" lang="en-US" sz="2000">
                <a:solidFill>
                  <a:srgbClr val="000000"/>
                </a:solidFill>
              </a:rPr>
              <a:t>PRIMARY KEY</a:t>
            </a:r>
            <a:r>
              <a:rPr lang="en-US" sz="2000">
                <a:solidFill>
                  <a:srgbClr val="000000"/>
                </a:solidFill>
              </a:rPr>
              <a:t> (DNUMBER)</a:t>
            </a:r>
            <a:r>
              <a:rPr b="1" lang="en-US" sz="2000">
                <a:solidFill>
                  <a:srgbClr val="000000"/>
                </a:solidFill>
              </a:rPr>
              <a:t>,</a:t>
            </a:r>
            <a:br>
              <a:rPr b="1" lang="en-US" sz="2000">
                <a:solidFill>
                  <a:srgbClr val="000000"/>
                </a:solidFill>
              </a:rPr>
            </a:br>
            <a:r>
              <a:rPr b="1" lang="en-US" sz="2000">
                <a:solidFill>
                  <a:srgbClr val="000000"/>
                </a:solidFill>
              </a:rPr>
              <a:t>	UNIQUE </a:t>
            </a:r>
            <a:r>
              <a:rPr lang="en-US" sz="2000">
                <a:solidFill>
                  <a:srgbClr val="000000"/>
                </a:solidFill>
              </a:rPr>
              <a:t>(DNAME),</a:t>
            </a:r>
            <a:br>
              <a:rPr b="1" lang="en-US" sz="2000">
                <a:solidFill>
                  <a:srgbClr val="000000"/>
                </a:solidFill>
              </a:rPr>
            </a:br>
            <a:r>
              <a:rPr b="1" lang="en-US" sz="2000">
                <a:solidFill>
                  <a:srgbClr val="000000"/>
                </a:solidFill>
              </a:rPr>
              <a:t>	FOREIGN KEY </a:t>
            </a:r>
            <a:r>
              <a:rPr lang="en-US" sz="2000">
                <a:solidFill>
                  <a:srgbClr val="000000"/>
                </a:solidFill>
              </a:rPr>
              <a:t>(MGRSSN) </a:t>
            </a:r>
            <a:r>
              <a:rPr b="1" lang="en-US" sz="2000">
                <a:solidFill>
                  <a:srgbClr val="000000"/>
                </a:solidFill>
              </a:rPr>
              <a:t>REFERENCES</a:t>
            </a:r>
            <a:r>
              <a:rPr lang="en-US" sz="2000">
                <a:solidFill>
                  <a:srgbClr val="000000"/>
                </a:solidFill>
              </a:rPr>
              <a:t> EMPLOYEE</a:t>
            </a:r>
            <a:r>
              <a:rPr b="1" lang="en-US" sz="2000">
                <a:solidFill>
                  <a:srgbClr val="000000"/>
                </a:solidFill>
              </a:rPr>
              <a:t> </a:t>
            </a:r>
            <a:endParaRPr/>
          </a:p>
          <a:p>
            <a:pPr indent="-274320" lvl="1" marL="640080" rtl="0" algn="l">
              <a:lnSpc>
                <a:spcPct val="90000"/>
              </a:lnSpc>
              <a:spcBef>
                <a:spcPts val="400"/>
              </a:spcBef>
              <a:spcAft>
                <a:spcPts val="0"/>
              </a:spcAft>
              <a:buSzPts val="1600"/>
              <a:buFont typeface="Calibri"/>
              <a:buNone/>
            </a:pPr>
            <a:r>
              <a:rPr lang="en-US" sz="2000">
                <a:solidFill>
                  <a:srgbClr val="000000"/>
                </a:solidFill>
              </a:rPr>
              <a:t> );</a:t>
            </a:r>
            <a:br>
              <a:rPr b="1" lang="en-US" sz="2000">
                <a:solidFill>
                  <a:srgbClr val="000000"/>
                </a:solidFill>
              </a:rPr>
            </a:br>
            <a:endParaRPr b="1" sz="2000">
              <a:solidFill>
                <a:srgbClr val="000000"/>
              </a:solidFill>
            </a:endParaRPr>
          </a:p>
        </p:txBody>
      </p:sp>
      <p:sp>
        <p:nvSpPr>
          <p:cNvPr id="177" name="Google Shape;177;p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000"/>
              <a:buFont typeface="Calibri"/>
              <a:buNone/>
            </a:pPr>
            <a:r>
              <a:rPr lang="en-US"/>
              <a:t>REFERENTIAL INTEGRITY OPTIONS</a:t>
            </a:r>
            <a:endParaRPr b="1" sz="4000">
              <a:solidFill>
                <a:srgbClr val="000000"/>
              </a:solidFill>
            </a:endParaRPr>
          </a:p>
        </p:txBody>
      </p:sp>
      <p:sp>
        <p:nvSpPr>
          <p:cNvPr id="185" name="Google Shape;185;p6"/>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680"/>
              <a:buChar char="🞆"/>
            </a:pPr>
            <a:r>
              <a:rPr lang="en-US" sz="2400">
                <a:solidFill>
                  <a:srgbClr val="000000"/>
                </a:solidFill>
              </a:rPr>
              <a:t>We can specify RESTRICT, CASCADE, SET NULL or SET DEFAULT on foreign keys.</a:t>
            </a:r>
            <a:endParaRPr/>
          </a:p>
          <a:p>
            <a:pPr indent="-274320" lvl="0" marL="274320" rtl="0" algn="l">
              <a:lnSpc>
                <a:spcPct val="90000"/>
              </a:lnSpc>
              <a:spcBef>
                <a:spcPts val="600"/>
              </a:spcBef>
              <a:spcAft>
                <a:spcPts val="0"/>
              </a:spcAft>
              <a:buSzPts val="1680"/>
              <a:buNone/>
            </a:pPr>
            <a:br>
              <a:rPr lang="en-US" sz="2400">
                <a:solidFill>
                  <a:srgbClr val="000000"/>
                </a:solidFill>
              </a:rPr>
            </a:br>
            <a:r>
              <a:rPr lang="en-US" sz="2000">
                <a:solidFill>
                  <a:srgbClr val="000000"/>
                </a:solidFill>
              </a:rPr>
              <a:t>CREATE TABLE   DEPARTMENT</a:t>
            </a:r>
            <a:br>
              <a:rPr lang="en-US" sz="2000">
                <a:solidFill>
                  <a:srgbClr val="000000"/>
                </a:solidFill>
              </a:rPr>
            </a:br>
            <a:r>
              <a:rPr lang="en-US" sz="2000">
                <a:solidFill>
                  <a:srgbClr val="000000"/>
                </a:solidFill>
              </a:rPr>
              <a:t> (	DNAME		VARCHAR(10)	NOT NULL,</a:t>
            </a:r>
            <a:br>
              <a:rPr lang="en-US" sz="2000">
                <a:solidFill>
                  <a:srgbClr val="000000"/>
                </a:solidFill>
              </a:rPr>
            </a:br>
            <a:r>
              <a:rPr lang="en-US" sz="2000">
                <a:solidFill>
                  <a:srgbClr val="000000"/>
                </a:solidFill>
              </a:rPr>
              <a:t>	DNUMBER	INTEGER		NOT NULL,</a:t>
            </a:r>
            <a:br>
              <a:rPr lang="en-US" sz="2000">
                <a:solidFill>
                  <a:srgbClr val="000000"/>
                </a:solidFill>
              </a:rPr>
            </a:br>
            <a:r>
              <a:rPr lang="en-US" sz="2000">
                <a:solidFill>
                  <a:srgbClr val="000000"/>
                </a:solidFill>
              </a:rPr>
              <a:t>	MGRSSN		CHAR(9) ,</a:t>
            </a:r>
            <a:br>
              <a:rPr lang="en-US" sz="2000">
                <a:solidFill>
                  <a:srgbClr val="000000"/>
                </a:solidFill>
              </a:rPr>
            </a:br>
            <a:r>
              <a:rPr lang="en-US" sz="2000">
                <a:solidFill>
                  <a:srgbClr val="000000"/>
                </a:solidFill>
              </a:rPr>
              <a:t>	MGRSTARTDATE	CHAR(9),</a:t>
            </a:r>
            <a:br>
              <a:rPr lang="en-US" sz="2000">
                <a:solidFill>
                  <a:srgbClr val="000000"/>
                </a:solidFill>
              </a:rPr>
            </a:br>
            <a:r>
              <a:rPr lang="en-US" sz="2000">
                <a:solidFill>
                  <a:srgbClr val="000000"/>
                </a:solidFill>
              </a:rPr>
              <a:t>	PRIMARY KEY (DNUMBER),</a:t>
            </a:r>
            <a:br>
              <a:rPr lang="en-US" sz="2000">
                <a:solidFill>
                  <a:srgbClr val="000000"/>
                </a:solidFill>
              </a:rPr>
            </a:br>
            <a:r>
              <a:rPr lang="en-US" sz="2000">
                <a:solidFill>
                  <a:srgbClr val="000000"/>
                </a:solidFill>
              </a:rPr>
              <a:t>	UNIQUE (DNAME),</a:t>
            </a:r>
            <a:br>
              <a:rPr lang="en-US" sz="2000">
                <a:solidFill>
                  <a:srgbClr val="000000"/>
                </a:solidFill>
              </a:rPr>
            </a:br>
            <a:r>
              <a:rPr lang="en-US" sz="2000">
                <a:solidFill>
                  <a:srgbClr val="000000"/>
                </a:solidFill>
              </a:rPr>
              <a:t>	</a:t>
            </a:r>
            <a:r>
              <a:rPr b="1" lang="en-US" sz="2000">
                <a:solidFill>
                  <a:srgbClr val="000000"/>
                </a:solidFill>
              </a:rPr>
              <a:t>FOREIGN KEY </a:t>
            </a:r>
            <a:r>
              <a:rPr lang="en-US" sz="2000">
                <a:solidFill>
                  <a:srgbClr val="000000"/>
                </a:solidFill>
              </a:rPr>
              <a:t>(MGRSSN) </a:t>
            </a:r>
            <a:r>
              <a:rPr b="1" lang="en-US" sz="2000">
                <a:solidFill>
                  <a:srgbClr val="000000"/>
                </a:solidFill>
              </a:rPr>
              <a:t>REFERENCES </a:t>
            </a:r>
            <a:r>
              <a:rPr lang="en-US" sz="2000">
                <a:solidFill>
                  <a:srgbClr val="000000"/>
                </a:solidFill>
              </a:rPr>
              <a:t>EMPLOYEE</a:t>
            </a:r>
            <a:br>
              <a:rPr b="1" lang="en-US" sz="2000">
                <a:solidFill>
                  <a:srgbClr val="000000"/>
                </a:solidFill>
              </a:rPr>
            </a:br>
            <a:r>
              <a:rPr b="1" lang="en-US" sz="2000">
                <a:solidFill>
                  <a:srgbClr val="000000"/>
                </a:solidFill>
              </a:rPr>
              <a:t>           ON DELETE SET DEFAULT ON UPDATE CASCADE</a:t>
            </a:r>
            <a:endParaRPr/>
          </a:p>
          <a:p>
            <a:pPr indent="-274320" lvl="0" marL="274320" rtl="0" algn="l">
              <a:lnSpc>
                <a:spcPct val="90000"/>
              </a:lnSpc>
              <a:spcBef>
                <a:spcPts val="600"/>
              </a:spcBef>
              <a:spcAft>
                <a:spcPts val="0"/>
              </a:spcAft>
              <a:buSzPts val="1400"/>
              <a:buNone/>
            </a:pPr>
            <a:r>
              <a:rPr lang="en-US" sz="2000">
                <a:solidFill>
                  <a:srgbClr val="000000"/>
                </a:solidFill>
              </a:rPr>
              <a:t>  );</a:t>
            </a:r>
            <a:br>
              <a:rPr b="1" lang="en-US" sz="2400">
                <a:solidFill>
                  <a:srgbClr val="000000"/>
                </a:solidFill>
              </a:rPr>
            </a:br>
            <a:endParaRPr b="1" sz="2400">
              <a:solidFill>
                <a:srgbClr val="000000"/>
              </a:solidFill>
            </a:endParaRPr>
          </a:p>
        </p:txBody>
      </p:sp>
      <p:sp>
        <p:nvSpPr>
          <p:cNvPr id="186" name="Google Shape;186;p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REFERENTIAL INTEGRITY OPTIONS</a:t>
            </a:r>
            <a:endParaRPr/>
          </a:p>
        </p:txBody>
      </p:sp>
      <p:sp>
        <p:nvSpPr>
          <p:cNvPr id="194" name="Google Shape;194;p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pic>
        <p:nvPicPr>
          <p:cNvPr id="195" name="Google Shape;195;p7"/>
          <p:cNvPicPr preferRelativeResize="0"/>
          <p:nvPr/>
        </p:nvPicPr>
        <p:blipFill rotWithShape="1">
          <a:blip r:embed="rId3">
            <a:alphaModFix/>
          </a:blip>
          <a:srcRect b="0" l="0" r="0" t="0"/>
          <a:stretch/>
        </p:blipFill>
        <p:spPr>
          <a:xfrm>
            <a:off x="1214438" y="1949958"/>
            <a:ext cx="6715125" cy="4305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REFERENTIAL INTEGRITY OPTIONS</a:t>
            </a:r>
            <a:endParaRPr/>
          </a:p>
        </p:txBody>
      </p:sp>
      <p:sp>
        <p:nvSpPr>
          <p:cNvPr id="201" name="Google Shape;201;p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pic>
        <p:nvPicPr>
          <p:cNvPr id="202" name="Google Shape;202;p8"/>
          <p:cNvPicPr preferRelativeResize="0"/>
          <p:nvPr/>
        </p:nvPicPr>
        <p:blipFill rotWithShape="1">
          <a:blip r:embed="rId3">
            <a:alphaModFix/>
          </a:blip>
          <a:srcRect b="0" l="0" r="0" t="14491"/>
          <a:stretch/>
        </p:blipFill>
        <p:spPr>
          <a:xfrm>
            <a:off x="1373124" y="1975104"/>
            <a:ext cx="6324600" cy="431673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000"/>
              <a:buFont typeface="Calibri"/>
              <a:buNone/>
            </a:pPr>
            <a:r>
              <a:rPr lang="en-US"/>
              <a:t>REFERENTIAL INTEGRITY OPTIONS</a:t>
            </a:r>
            <a:endParaRPr b="1" sz="4000">
              <a:solidFill>
                <a:srgbClr val="000000"/>
              </a:solidFill>
            </a:endParaRPr>
          </a:p>
        </p:txBody>
      </p:sp>
      <p:sp>
        <p:nvSpPr>
          <p:cNvPr id="208" name="Google Shape;208;p9"/>
          <p:cNvSpPr txBox="1"/>
          <p:nvPr>
            <p:ph idx="1" type="body"/>
          </p:nvPr>
        </p:nvSpPr>
        <p:spPr>
          <a:xfrm>
            <a:off x="685800" y="1782763"/>
            <a:ext cx="8077200" cy="4802187"/>
          </a:xfrm>
          <a:prstGeom prst="rect">
            <a:avLst/>
          </a:prstGeom>
          <a:noFill/>
          <a:ln>
            <a:noFill/>
          </a:ln>
        </p:spPr>
        <p:txBody>
          <a:bodyPr anchorCtr="0" anchor="t" bIns="45700" lIns="91425" spcFirstLastPara="1" rIns="91425" wrap="square" tIns="45700">
            <a:normAutofit/>
          </a:bodyPr>
          <a:lstStyle/>
          <a:p>
            <a:pPr indent="-274320" lvl="1" marL="640080" rtl="0" algn="l">
              <a:lnSpc>
                <a:spcPct val="90000"/>
              </a:lnSpc>
              <a:spcBef>
                <a:spcPts val="0"/>
              </a:spcBef>
              <a:spcAft>
                <a:spcPts val="0"/>
              </a:spcAft>
              <a:buSzPts val="1600"/>
              <a:buFont typeface="Calibri"/>
              <a:buNone/>
            </a:pPr>
            <a:r>
              <a:rPr lang="en-US" sz="2000">
                <a:solidFill>
                  <a:srgbClr val="000000"/>
                </a:solidFill>
              </a:rPr>
              <a:t>CREATE TABLE   EMPLOYEE</a:t>
            </a:r>
            <a:br>
              <a:rPr lang="en-US" sz="2000">
                <a:solidFill>
                  <a:srgbClr val="000000"/>
                </a:solidFill>
              </a:rPr>
            </a:br>
            <a:r>
              <a:rPr lang="en-US" sz="2000">
                <a:solidFill>
                  <a:srgbClr val="000000"/>
                </a:solidFill>
              </a:rPr>
              <a:t>	(	ENAME	VARCHAR(30)	NOT NULL,</a:t>
            </a:r>
            <a:br>
              <a:rPr lang="en-US" sz="2000">
                <a:solidFill>
                  <a:srgbClr val="000000"/>
                </a:solidFill>
              </a:rPr>
            </a:br>
            <a:r>
              <a:rPr lang="en-US" sz="2000">
                <a:solidFill>
                  <a:srgbClr val="000000"/>
                </a:solidFill>
              </a:rPr>
              <a:t>		ESSN	CHAR(9),</a:t>
            </a:r>
            <a:br>
              <a:rPr lang="en-US" sz="2000">
                <a:solidFill>
                  <a:srgbClr val="000000"/>
                </a:solidFill>
              </a:rPr>
            </a:br>
            <a:r>
              <a:rPr lang="en-US" sz="2000">
                <a:solidFill>
                  <a:srgbClr val="000000"/>
                </a:solidFill>
              </a:rPr>
              <a:t>		BDATE	DATE,</a:t>
            </a:r>
            <a:br>
              <a:rPr lang="en-US" sz="2000">
                <a:solidFill>
                  <a:srgbClr val="000000"/>
                </a:solidFill>
              </a:rPr>
            </a:br>
            <a:r>
              <a:rPr lang="en-US" sz="2000">
                <a:solidFill>
                  <a:srgbClr val="000000"/>
                </a:solidFill>
              </a:rPr>
              <a:t>		DNO	INTEGER  </a:t>
            </a:r>
            <a:r>
              <a:rPr b="1" lang="en-US" sz="2000">
                <a:solidFill>
                  <a:srgbClr val="000000"/>
                </a:solidFill>
              </a:rPr>
              <a:t>DEFAULT 1,</a:t>
            </a:r>
            <a:br>
              <a:rPr lang="en-US" sz="2000">
                <a:solidFill>
                  <a:srgbClr val="000000"/>
                </a:solidFill>
              </a:rPr>
            </a:br>
            <a:r>
              <a:rPr lang="en-US" sz="2000">
                <a:solidFill>
                  <a:srgbClr val="000000"/>
                </a:solidFill>
              </a:rPr>
              <a:t>		SUPERSSN	CHAR(9),</a:t>
            </a:r>
            <a:br>
              <a:rPr lang="en-US" sz="2000">
                <a:solidFill>
                  <a:srgbClr val="000000"/>
                </a:solidFill>
              </a:rPr>
            </a:br>
            <a:r>
              <a:rPr lang="en-US" sz="2000">
                <a:solidFill>
                  <a:srgbClr val="000000"/>
                </a:solidFill>
              </a:rPr>
              <a:t>		PRIMARY KEY (ESSN),</a:t>
            </a:r>
            <a:br>
              <a:rPr lang="en-US" sz="2000">
                <a:solidFill>
                  <a:srgbClr val="000000"/>
                </a:solidFill>
              </a:rPr>
            </a:br>
            <a:r>
              <a:rPr lang="en-US" sz="2000">
                <a:solidFill>
                  <a:srgbClr val="000000"/>
                </a:solidFill>
              </a:rPr>
              <a:t>		</a:t>
            </a:r>
            <a:r>
              <a:rPr b="1" lang="en-US" sz="2000">
                <a:solidFill>
                  <a:srgbClr val="000000"/>
                </a:solidFill>
              </a:rPr>
              <a:t>FOREIGN KEY (DNO) REFERENCES DEPARTMENT</a:t>
            </a:r>
            <a:br>
              <a:rPr b="1" lang="en-US" sz="2000">
                <a:solidFill>
                  <a:srgbClr val="000000"/>
                </a:solidFill>
              </a:rPr>
            </a:br>
            <a:r>
              <a:rPr b="1" lang="en-US" sz="2000">
                <a:solidFill>
                  <a:srgbClr val="000000"/>
                </a:solidFill>
              </a:rPr>
              <a:t>          ON DELETE SET DEFAULT ON UPDATE CASCADE,</a:t>
            </a:r>
            <a:br>
              <a:rPr b="1" lang="en-US" sz="2000">
                <a:solidFill>
                  <a:srgbClr val="000000"/>
                </a:solidFill>
              </a:rPr>
            </a:br>
            <a:r>
              <a:rPr b="1" lang="en-US" sz="2000">
                <a:solidFill>
                  <a:srgbClr val="000000"/>
                </a:solidFill>
              </a:rPr>
              <a:t>		FOREIGN KEY (SUPERSSN) REFERENCES EMPLOYEE</a:t>
            </a:r>
            <a:br>
              <a:rPr b="1" lang="en-US" sz="2000">
                <a:solidFill>
                  <a:srgbClr val="000000"/>
                </a:solidFill>
              </a:rPr>
            </a:br>
            <a:r>
              <a:rPr b="1" lang="en-US" sz="2000">
                <a:solidFill>
                  <a:srgbClr val="000000"/>
                </a:solidFill>
              </a:rPr>
              <a:t>          ON DELETE SET NULL ON UPDATE CASCADE </a:t>
            </a:r>
            <a:endParaRPr/>
          </a:p>
          <a:p>
            <a:pPr indent="-274320" lvl="1" marL="640080" rtl="0" algn="l">
              <a:lnSpc>
                <a:spcPct val="90000"/>
              </a:lnSpc>
              <a:spcBef>
                <a:spcPts val="400"/>
              </a:spcBef>
              <a:spcAft>
                <a:spcPts val="0"/>
              </a:spcAft>
              <a:buSzPts val="1600"/>
              <a:buFont typeface="Calibri"/>
              <a:buNone/>
            </a:pPr>
            <a:r>
              <a:rPr lang="en-US" sz="2000">
                <a:solidFill>
                  <a:srgbClr val="000000"/>
                </a:solidFill>
              </a:rPr>
              <a:t> );</a:t>
            </a:r>
            <a:br>
              <a:rPr lang="en-US" sz="2000">
                <a:solidFill>
                  <a:srgbClr val="000000"/>
                </a:solidFill>
              </a:rPr>
            </a:br>
            <a:endParaRPr sz="2000">
              <a:solidFill>
                <a:srgbClr val="000000"/>
              </a:solidFill>
            </a:endParaRPr>
          </a:p>
        </p:txBody>
      </p:sp>
      <p:sp>
        <p:nvSpPr>
          <p:cNvPr id="209" name="Google Shape;209;p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0"/>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SQL CONSTRAINTS</a:t>
            </a:r>
            <a:endParaRPr/>
          </a:p>
        </p:txBody>
      </p:sp>
      <p:sp>
        <p:nvSpPr>
          <p:cNvPr id="217" name="Google Shape;217;p10"/>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Assigning Names to Constraints</a:t>
            </a:r>
            <a:endParaRPr/>
          </a:p>
          <a:p>
            <a:pPr indent="-274320" lvl="1" marL="640080" rtl="0" algn="l">
              <a:spcBef>
                <a:spcPts val="420"/>
              </a:spcBef>
              <a:spcAft>
                <a:spcPts val="0"/>
              </a:spcAft>
              <a:buSzPts val="1680"/>
              <a:buNone/>
            </a:pPr>
            <a:r>
              <a:t/>
            </a:r>
            <a:endParaRPr b="1"/>
          </a:p>
          <a:p>
            <a:pPr indent="-274320" lvl="1" marL="640080" rtl="0" algn="l">
              <a:spcBef>
                <a:spcPts val="420"/>
              </a:spcBef>
              <a:spcAft>
                <a:spcPts val="0"/>
              </a:spcAft>
              <a:buSzPts val="1680"/>
              <a:buNone/>
            </a:pPr>
            <a:r>
              <a:rPr b="1" lang="en-US"/>
              <a:t>CONSTRAINT deptPK PRIMARY KEY(Dnumber)</a:t>
            </a:r>
            <a:endParaRPr/>
          </a:p>
          <a:p>
            <a:pPr indent="-274320" lvl="1" marL="640080" rtl="0" algn="l">
              <a:spcBef>
                <a:spcPts val="420"/>
              </a:spcBef>
              <a:spcAft>
                <a:spcPts val="0"/>
              </a:spcAft>
              <a:buSzPts val="1680"/>
              <a:buNone/>
            </a:pPr>
            <a:r>
              <a:rPr b="1" lang="en-US"/>
              <a:t>CONSTRAINT deptSK UNIQUE(Dname)</a:t>
            </a:r>
            <a:endParaRPr/>
          </a:p>
          <a:p>
            <a:pPr indent="-167640" lvl="1" marL="640080" rtl="0" algn="l">
              <a:spcBef>
                <a:spcPts val="420"/>
              </a:spcBef>
              <a:spcAft>
                <a:spcPts val="0"/>
              </a:spcAft>
              <a:buSzPts val="1680"/>
              <a:buNone/>
            </a:pPr>
            <a:r>
              <a:t/>
            </a:r>
            <a:endParaRPr/>
          </a:p>
          <a:p>
            <a:pPr indent="-274320" lvl="0" marL="274320" rtl="0" algn="l">
              <a:spcBef>
                <a:spcPts val="600"/>
              </a:spcBef>
              <a:spcAft>
                <a:spcPts val="0"/>
              </a:spcAft>
              <a:buSzPts val="1680"/>
              <a:buChar char="🞆"/>
            </a:pPr>
            <a:r>
              <a:rPr lang="en-US"/>
              <a:t>CHECK Constraint</a:t>
            </a:r>
            <a:endParaRPr/>
          </a:p>
          <a:p>
            <a:pPr indent="-167640" lvl="0" marL="274320" rtl="0" algn="l">
              <a:spcBef>
                <a:spcPts val="600"/>
              </a:spcBef>
              <a:spcAft>
                <a:spcPts val="0"/>
              </a:spcAft>
              <a:buSzPts val="1680"/>
              <a:buNone/>
            </a:pPr>
            <a:r>
              <a:t/>
            </a:r>
            <a:endParaRPr/>
          </a:p>
          <a:p>
            <a:pPr indent="-274320" lvl="1" marL="640080" rtl="0" algn="l">
              <a:spcBef>
                <a:spcPts val="420"/>
              </a:spcBef>
              <a:spcAft>
                <a:spcPts val="0"/>
              </a:spcAft>
              <a:buSzPts val="1680"/>
              <a:buNone/>
            </a:pPr>
            <a:r>
              <a:rPr b="1" lang="en-US"/>
              <a:t>CHECK (Dept_create_date &lt;= Mgr_start_date)</a:t>
            </a:r>
            <a:endParaRPr b="1"/>
          </a:p>
        </p:txBody>
      </p:sp>
      <p:sp>
        <p:nvSpPr>
          <p:cNvPr id="218" name="Google Shape;218;p1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DROP COMMAND</a:t>
            </a:r>
            <a:endParaRPr b="1">
              <a:solidFill>
                <a:srgbClr val="000000"/>
              </a:solidFill>
            </a:endParaRPr>
          </a:p>
        </p:txBody>
      </p:sp>
      <p:sp>
        <p:nvSpPr>
          <p:cNvPr id="224" name="Google Shape;224;p11"/>
          <p:cNvSpPr txBox="1"/>
          <p:nvPr>
            <p:ph idx="1" type="body"/>
          </p:nvPr>
        </p:nvSpPr>
        <p:spPr>
          <a:xfrm>
            <a:off x="457200" y="1600200"/>
            <a:ext cx="7467600" cy="413385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solidFill>
                  <a:srgbClr val="000000"/>
                </a:solidFill>
              </a:rPr>
              <a:t>Drop Command is used to delete schema or named schema elements such as table, domains, or constraints</a:t>
            </a:r>
            <a:endParaRPr i="1">
              <a:solidFill>
                <a:srgbClr val="000000"/>
              </a:solidFill>
            </a:endParaRPr>
          </a:p>
          <a:p>
            <a:pPr indent="-274320" lvl="0" marL="274320" rtl="0" algn="l">
              <a:spcBef>
                <a:spcPts val="600"/>
              </a:spcBef>
              <a:spcAft>
                <a:spcPts val="0"/>
              </a:spcAft>
              <a:buSzPts val="1680"/>
              <a:buChar char="🞆"/>
            </a:pPr>
            <a:r>
              <a:rPr lang="en-US">
                <a:solidFill>
                  <a:srgbClr val="000000"/>
                </a:solidFill>
              </a:rPr>
              <a:t>Example:</a:t>
            </a:r>
            <a:br>
              <a:rPr lang="en-US" u="sng">
                <a:solidFill>
                  <a:srgbClr val="000000"/>
                </a:solidFill>
              </a:rPr>
            </a:br>
            <a:br>
              <a:rPr lang="en-US" u="sng">
                <a:solidFill>
                  <a:srgbClr val="000000"/>
                </a:solidFill>
              </a:rPr>
            </a:br>
            <a:r>
              <a:rPr b="1" lang="en-US">
                <a:solidFill>
                  <a:srgbClr val="000000"/>
                </a:solidFill>
              </a:rPr>
              <a:t>DROP TABLE  DEPENDENT;</a:t>
            </a:r>
            <a:endParaRPr/>
          </a:p>
          <a:p>
            <a:pPr indent="-274320" lvl="0" marL="274320" rtl="0" algn="l">
              <a:spcBef>
                <a:spcPts val="600"/>
              </a:spcBef>
              <a:spcAft>
                <a:spcPts val="0"/>
              </a:spcAft>
              <a:buSzPts val="1680"/>
              <a:buNone/>
            </a:pPr>
            <a:r>
              <a:rPr b="1" lang="en-US"/>
              <a:t>    DROP TABLE EMPLOYEE CASCADE;</a:t>
            </a:r>
            <a:endParaRPr/>
          </a:p>
          <a:p>
            <a:pPr indent="-274320" lvl="0" marL="274320" rtl="0" algn="l">
              <a:spcBef>
                <a:spcPts val="600"/>
              </a:spcBef>
              <a:spcAft>
                <a:spcPts val="0"/>
              </a:spcAft>
              <a:buSzPts val="1680"/>
              <a:buNone/>
            </a:pPr>
            <a:r>
              <a:rPr b="1" lang="en-US">
                <a:solidFill>
                  <a:srgbClr val="000000"/>
                </a:solidFill>
              </a:rPr>
              <a:t>    DROP SCHEMA COMPANY;</a:t>
            </a:r>
            <a:endParaRPr/>
          </a:p>
          <a:p>
            <a:pPr indent="-167640" lvl="0" marL="274320" rtl="0" algn="l">
              <a:spcBef>
                <a:spcPts val="600"/>
              </a:spcBef>
              <a:spcAft>
                <a:spcPts val="0"/>
              </a:spcAft>
              <a:buSzPts val="1680"/>
              <a:buNone/>
            </a:pPr>
            <a:r>
              <a:t/>
            </a:r>
            <a:endParaRPr b="1">
              <a:solidFill>
                <a:srgbClr val="000000"/>
              </a:solidFill>
            </a:endParaRPr>
          </a:p>
          <a:p>
            <a:pPr indent="-274320" lvl="0" marL="274320" rtl="0" algn="l">
              <a:spcBef>
                <a:spcPts val="600"/>
              </a:spcBef>
              <a:spcAft>
                <a:spcPts val="0"/>
              </a:spcAft>
              <a:buSzPts val="1680"/>
              <a:buNone/>
            </a:pPr>
            <a:br>
              <a:rPr b="1" lang="en-US">
                <a:solidFill>
                  <a:srgbClr val="000000"/>
                </a:solidFill>
              </a:rPr>
            </a:br>
            <a:endParaRPr>
              <a:solidFill>
                <a:srgbClr val="000000"/>
              </a:solidFill>
            </a:endParaRPr>
          </a:p>
        </p:txBody>
      </p:sp>
      <p:sp>
        <p:nvSpPr>
          <p:cNvPr id="225" name="Google Shape;225;p1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sp>
        <p:nvSpPr>
          <p:cNvPr id="226" name="Google Shape;226;p11"/>
          <p:cNvSpPr txBox="1"/>
          <p:nvPr/>
        </p:nvSpPr>
        <p:spPr>
          <a:xfrm>
            <a:off x="196797" y="6014466"/>
            <a:ext cx="8541819" cy="584775"/>
          </a:xfrm>
          <a:prstGeom prst="rect">
            <a:avLst/>
          </a:prstGeom>
          <a:gradFill>
            <a:gsLst>
              <a:gs pos="0">
                <a:srgbClr val="5E9EFF">
                  <a:alpha val="0"/>
                </a:srgbClr>
              </a:gs>
              <a:gs pos="39999">
                <a:srgbClr val="85C2FF"/>
              </a:gs>
              <a:gs pos="70000">
                <a:srgbClr val="C4D6EB"/>
              </a:gs>
              <a:gs pos="100000">
                <a:srgbClr val="FFEBFA"/>
              </a:gs>
            </a:gsLst>
            <a:lin ang="5400000" scaled="0"/>
          </a:gra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0000"/>
                </a:solidFill>
                <a:latin typeface="Times New Roman"/>
                <a:ea typeface="Times New Roman"/>
                <a:cs typeface="Times New Roman"/>
                <a:sym typeface="Times New Roman"/>
              </a:rPr>
              <a:t>In SQL-Server (T-SQL), </a:t>
            </a:r>
            <a:r>
              <a:rPr lang="en-US" sz="1600">
                <a:solidFill>
                  <a:schemeClr val="dk1"/>
                </a:solidFill>
                <a:latin typeface="Times New Roman"/>
                <a:ea typeface="Times New Roman"/>
                <a:cs typeface="Times New Roman"/>
                <a:sym typeface="Times New Roman"/>
              </a:rPr>
              <a:t>DROP TABLE cannot be used to drop a table that is referenced by a FOREIGN KEY.  The referencing FOREIGN KEY or the referencing table must first be dropped.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ALTER COMMAND</a:t>
            </a:r>
            <a:endParaRPr b="1">
              <a:solidFill>
                <a:srgbClr val="000000"/>
              </a:solidFill>
            </a:endParaRPr>
          </a:p>
        </p:txBody>
      </p:sp>
      <p:sp>
        <p:nvSpPr>
          <p:cNvPr id="232" name="Google Shape;232;p12"/>
          <p:cNvSpPr txBox="1"/>
          <p:nvPr>
            <p:ph idx="1" type="body"/>
          </p:nvPr>
        </p:nvSpPr>
        <p:spPr>
          <a:xfrm>
            <a:off x="457200" y="1600200"/>
            <a:ext cx="8281416"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sz="2400">
                <a:solidFill>
                  <a:srgbClr val="000000"/>
                </a:solidFill>
              </a:rPr>
              <a:t>The definition of table can be changed using ALTER command </a:t>
            </a:r>
            <a:endParaRPr/>
          </a:p>
          <a:p>
            <a:pPr indent="-274320" lvl="0" marL="274320" rtl="0" algn="l">
              <a:spcBef>
                <a:spcPts val="600"/>
              </a:spcBef>
              <a:spcAft>
                <a:spcPts val="0"/>
              </a:spcAft>
              <a:buSzPts val="1680"/>
              <a:buChar char="🞆"/>
            </a:pPr>
            <a:r>
              <a:rPr lang="en-US">
                <a:solidFill>
                  <a:srgbClr val="000000"/>
                </a:solidFill>
              </a:rPr>
              <a:t>ALTER can be used to </a:t>
            </a:r>
            <a:r>
              <a:rPr lang="en-US" sz="2400">
                <a:solidFill>
                  <a:srgbClr val="000000"/>
                </a:solidFill>
              </a:rPr>
              <a:t>add an attribute to the relation</a:t>
            </a:r>
            <a:endParaRPr sz="2400">
              <a:solidFill>
                <a:srgbClr val="000000"/>
              </a:solidFill>
            </a:endParaRPr>
          </a:p>
          <a:p>
            <a:pPr indent="-274320" lvl="1" marL="640080" rtl="0" algn="l">
              <a:spcBef>
                <a:spcPts val="380"/>
              </a:spcBef>
              <a:spcAft>
                <a:spcPts val="0"/>
              </a:spcAft>
              <a:buSzPts val="1520"/>
              <a:buChar char="⚫"/>
            </a:pPr>
            <a:r>
              <a:rPr lang="en-US" sz="1900">
                <a:solidFill>
                  <a:srgbClr val="000000"/>
                </a:solidFill>
              </a:rPr>
              <a:t>Initially, the new attribute will have NULLs in all the tuples of the relation </a:t>
            </a:r>
            <a:endParaRPr sz="1900">
              <a:solidFill>
                <a:srgbClr val="000000"/>
              </a:solidFill>
            </a:endParaRPr>
          </a:p>
          <a:p>
            <a:pPr indent="-274320" lvl="1" marL="640080" rtl="0" algn="l">
              <a:spcBef>
                <a:spcPts val="380"/>
              </a:spcBef>
              <a:spcAft>
                <a:spcPts val="0"/>
              </a:spcAft>
              <a:buSzPts val="1520"/>
              <a:buChar char="⚫"/>
            </a:pPr>
            <a:r>
              <a:rPr lang="en-US" sz="1900">
                <a:solidFill>
                  <a:srgbClr val="000000"/>
                </a:solidFill>
              </a:rPr>
              <a:t>NOT NULL constraint is </a:t>
            </a:r>
            <a:r>
              <a:rPr i="1" lang="en-US" sz="1900">
                <a:solidFill>
                  <a:srgbClr val="000000"/>
                </a:solidFill>
              </a:rPr>
              <a:t>not allowed</a:t>
            </a:r>
            <a:r>
              <a:rPr lang="en-US" sz="1900">
                <a:solidFill>
                  <a:srgbClr val="000000"/>
                </a:solidFill>
              </a:rPr>
              <a:t>  for such an attribute</a:t>
            </a:r>
            <a:endParaRPr/>
          </a:p>
          <a:p>
            <a:pPr indent="-274320" lvl="0" marL="274320" rtl="0" algn="l">
              <a:spcBef>
                <a:spcPts val="600"/>
              </a:spcBef>
              <a:spcAft>
                <a:spcPts val="0"/>
              </a:spcAft>
              <a:buSzPts val="1680"/>
              <a:buChar char="🞆"/>
            </a:pPr>
            <a:r>
              <a:rPr b="1" lang="en-US" sz="2400">
                <a:solidFill>
                  <a:srgbClr val="000000"/>
                </a:solidFill>
              </a:rPr>
              <a:t>Example :</a:t>
            </a:r>
            <a:br>
              <a:rPr lang="en-US" sz="2400" u="sng">
                <a:solidFill>
                  <a:srgbClr val="000000"/>
                </a:solidFill>
              </a:rPr>
            </a:br>
            <a:r>
              <a:rPr b="1" lang="en-US" sz="2000">
                <a:solidFill>
                  <a:srgbClr val="000000"/>
                </a:solidFill>
              </a:rPr>
              <a:t>ALTER TABLE  EMPLOYEE  ADD COLUMN  JOB   VARCHAR(12);</a:t>
            </a:r>
            <a:br>
              <a:rPr b="1" lang="en-US" sz="2000">
                <a:solidFill>
                  <a:srgbClr val="000000"/>
                </a:solidFill>
              </a:rPr>
            </a:br>
            <a:r>
              <a:rPr lang="en-US" sz="1800">
                <a:solidFill>
                  <a:srgbClr val="000000"/>
                </a:solidFill>
              </a:rPr>
              <a:t>T-SQL syntax</a:t>
            </a:r>
            <a:endParaRPr sz="2000">
              <a:solidFill>
                <a:srgbClr val="000000"/>
              </a:solidFill>
            </a:endParaRPr>
          </a:p>
          <a:p>
            <a:pPr indent="-274320" lvl="0" marL="274320" rtl="0" algn="l">
              <a:spcBef>
                <a:spcPts val="600"/>
              </a:spcBef>
              <a:spcAft>
                <a:spcPts val="0"/>
              </a:spcAft>
              <a:buSzPts val="1400"/>
              <a:buNone/>
            </a:pPr>
            <a:r>
              <a:rPr b="1" lang="en-US" sz="2000">
                <a:solidFill>
                  <a:srgbClr val="000000"/>
                </a:solidFill>
              </a:rPr>
              <a:t>	ALTER TABLE  EMPLOYEE  ADD JOB   VARCHAR(12);</a:t>
            </a:r>
            <a:endParaRPr/>
          </a:p>
          <a:p>
            <a:pPr indent="-274320" lvl="1" marL="640080" rtl="0" algn="l">
              <a:spcBef>
                <a:spcPts val="500"/>
              </a:spcBef>
              <a:spcAft>
                <a:spcPts val="0"/>
              </a:spcAft>
              <a:buSzPts val="2000"/>
              <a:buChar char="⚫"/>
            </a:pPr>
            <a:r>
              <a:rPr lang="en-US" sz="2500">
                <a:solidFill>
                  <a:srgbClr val="000000"/>
                </a:solidFill>
              </a:rPr>
              <a:t> </a:t>
            </a:r>
            <a:r>
              <a:rPr lang="en-US">
                <a:solidFill>
                  <a:srgbClr val="000000"/>
                </a:solidFill>
              </a:rPr>
              <a:t>The database user have to enter a value for the new attribute JOB for each EMPLOYEE tuple.</a:t>
            </a:r>
            <a:r>
              <a:rPr lang="en-US" sz="2500">
                <a:solidFill>
                  <a:srgbClr val="000000"/>
                </a:solidFill>
              </a:rPr>
              <a:t> </a:t>
            </a:r>
            <a:endParaRPr sz="2500">
              <a:solidFill>
                <a:srgbClr val="000000"/>
              </a:solidFill>
            </a:endParaRPr>
          </a:p>
          <a:p>
            <a:pPr indent="-274320" lvl="0" marL="274320" rtl="0" algn="l">
              <a:spcBef>
                <a:spcPts val="600"/>
              </a:spcBef>
              <a:spcAft>
                <a:spcPts val="0"/>
              </a:spcAft>
              <a:buSzPts val="1960"/>
              <a:buNone/>
            </a:pPr>
            <a:r>
              <a:rPr lang="en-US" sz="2800"/>
              <a:t>   </a:t>
            </a:r>
            <a:endParaRPr b="1" sz="2800">
              <a:solidFill>
                <a:srgbClr val="000000"/>
              </a:solidFill>
            </a:endParaRPr>
          </a:p>
        </p:txBody>
      </p:sp>
      <p:sp>
        <p:nvSpPr>
          <p:cNvPr id="233" name="Google Shape;233;p1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ALTER TABLE</a:t>
            </a:r>
            <a:endParaRPr b="1">
              <a:solidFill>
                <a:srgbClr val="000000"/>
              </a:solidFill>
            </a:endParaRPr>
          </a:p>
        </p:txBody>
      </p:sp>
      <p:sp>
        <p:nvSpPr>
          <p:cNvPr id="239" name="Google Shape;239;p13"/>
          <p:cNvSpPr txBox="1"/>
          <p:nvPr>
            <p:ph idx="1" type="body"/>
          </p:nvPr>
        </p:nvSpPr>
        <p:spPr>
          <a:xfrm>
            <a:off x="457200" y="1600200"/>
            <a:ext cx="8281416"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sz="2400">
                <a:solidFill>
                  <a:srgbClr val="000000"/>
                </a:solidFill>
              </a:rPr>
              <a:t>ALTER command can be use to add or drop constraints </a:t>
            </a:r>
            <a:endParaRPr/>
          </a:p>
          <a:p>
            <a:pPr indent="-274320" lvl="0" marL="274320" rtl="0" algn="l">
              <a:spcBef>
                <a:spcPts val="600"/>
              </a:spcBef>
              <a:spcAft>
                <a:spcPts val="0"/>
              </a:spcAft>
              <a:buSzPts val="1680"/>
              <a:buChar char="🞆"/>
            </a:pPr>
            <a:r>
              <a:rPr b="1" lang="en-US" sz="2400">
                <a:solidFill>
                  <a:srgbClr val="000000"/>
                </a:solidFill>
              </a:rPr>
              <a:t>Example :</a:t>
            </a:r>
            <a:br>
              <a:rPr lang="en-US" sz="2400" u="sng">
                <a:solidFill>
                  <a:srgbClr val="000000"/>
                </a:solidFill>
              </a:rPr>
            </a:br>
            <a:r>
              <a:rPr lang="en-US" sz="2800"/>
              <a:t>   </a:t>
            </a:r>
            <a:r>
              <a:rPr b="1" lang="en-US" sz="2000"/>
              <a:t>ALTER TABLE  </a:t>
            </a:r>
            <a:r>
              <a:rPr lang="en-US" sz="2000"/>
              <a:t>EMPLOYEE</a:t>
            </a:r>
            <a:r>
              <a:rPr b="1" lang="en-US" sz="2000"/>
              <a:t>  add constraint </a:t>
            </a:r>
            <a:r>
              <a:rPr lang="en-US" sz="2000"/>
              <a:t>unEmp</a:t>
            </a:r>
            <a:r>
              <a:rPr b="1" lang="en-US" sz="2000"/>
              <a:t> UNIQUE(</a:t>
            </a:r>
            <a:r>
              <a:rPr lang="en-US" sz="2000"/>
              <a:t>NAME</a:t>
            </a:r>
            <a:r>
              <a:rPr b="1" lang="en-US" sz="2000"/>
              <a:t>)   ;</a:t>
            </a:r>
            <a:endParaRPr/>
          </a:p>
          <a:p>
            <a:pPr indent="-274320" lvl="1" marL="640080" rtl="0" algn="l">
              <a:spcBef>
                <a:spcPts val="500"/>
              </a:spcBef>
              <a:spcAft>
                <a:spcPts val="0"/>
              </a:spcAft>
              <a:buSzPts val="2000"/>
              <a:buNone/>
            </a:pPr>
            <a:r>
              <a:rPr b="1" lang="en-US" sz="2500">
                <a:solidFill>
                  <a:srgbClr val="000000"/>
                </a:solidFill>
              </a:rPr>
              <a:t>  </a:t>
            </a:r>
            <a:r>
              <a:rPr b="1" lang="en-US" sz="2000"/>
              <a:t>ALTER TABLE  </a:t>
            </a:r>
            <a:r>
              <a:rPr lang="en-US" sz="2000"/>
              <a:t>EMPLOYEE</a:t>
            </a:r>
            <a:r>
              <a:rPr b="1" lang="en-US" sz="2000"/>
              <a:t>  drop constraint </a:t>
            </a:r>
            <a:r>
              <a:rPr lang="en-US" sz="2000"/>
              <a:t>unEmp</a:t>
            </a:r>
            <a:r>
              <a:rPr b="1" lang="en-US" sz="2000"/>
              <a:t> ;</a:t>
            </a:r>
            <a:endParaRPr b="1" sz="3600">
              <a:solidFill>
                <a:srgbClr val="000000"/>
              </a:solidFill>
            </a:endParaRPr>
          </a:p>
          <a:p>
            <a:pPr indent="-274320" lvl="1" marL="640080" rtl="0" algn="l">
              <a:spcBef>
                <a:spcPts val="500"/>
              </a:spcBef>
              <a:spcAft>
                <a:spcPts val="0"/>
              </a:spcAft>
              <a:buSzPts val="2000"/>
              <a:buNone/>
            </a:pPr>
            <a:r>
              <a:t/>
            </a:r>
            <a:endParaRPr b="1" sz="2500">
              <a:solidFill>
                <a:srgbClr val="000000"/>
              </a:solidFill>
            </a:endParaRPr>
          </a:p>
        </p:txBody>
      </p:sp>
      <p:sp>
        <p:nvSpPr>
          <p:cNvPr id="240" name="Google Shape;240;p1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SQL Queries</a:t>
            </a:r>
            <a:endParaRPr b="1">
              <a:solidFill>
                <a:srgbClr val="000000"/>
              </a:solidFill>
            </a:endParaRPr>
          </a:p>
        </p:txBody>
      </p:sp>
      <p:sp>
        <p:nvSpPr>
          <p:cNvPr id="248" name="Google Shape;248;p14"/>
          <p:cNvSpPr txBox="1"/>
          <p:nvPr>
            <p:ph idx="1" type="body"/>
          </p:nvPr>
        </p:nvSpPr>
        <p:spPr>
          <a:xfrm>
            <a:off x="457200" y="3681984"/>
            <a:ext cx="7467600" cy="2791968"/>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400"/>
              <a:buChar char="🞆"/>
            </a:pPr>
            <a:r>
              <a:rPr i="1" lang="en-US" sz="2000">
                <a:solidFill>
                  <a:srgbClr val="000000"/>
                </a:solidFill>
              </a:rPr>
              <a:t>Not  same as</a:t>
            </a:r>
            <a:r>
              <a:rPr lang="en-US" sz="2000">
                <a:solidFill>
                  <a:srgbClr val="000000"/>
                </a:solidFill>
              </a:rPr>
              <a:t>  the SELECT operation of the relational algebra</a:t>
            </a:r>
            <a:endParaRPr/>
          </a:p>
          <a:p>
            <a:pPr indent="-274320" lvl="0" marL="274320" rtl="0" algn="l">
              <a:spcBef>
                <a:spcPts val="600"/>
              </a:spcBef>
              <a:spcAft>
                <a:spcPts val="0"/>
              </a:spcAft>
              <a:buSzPts val="1400"/>
              <a:buChar char="🞆"/>
            </a:pPr>
            <a:r>
              <a:rPr lang="en-US" sz="2000">
                <a:solidFill>
                  <a:srgbClr val="000000"/>
                </a:solidFill>
              </a:rPr>
              <a:t>The result can have  duplicate tuples</a:t>
            </a:r>
            <a:endParaRPr sz="2800">
              <a:solidFill>
                <a:srgbClr val="000000"/>
              </a:solidFill>
            </a:endParaRPr>
          </a:p>
          <a:p>
            <a:pPr indent="-274320" lvl="0" marL="274320" rtl="0" algn="l">
              <a:lnSpc>
                <a:spcPct val="90000"/>
              </a:lnSpc>
              <a:spcBef>
                <a:spcPts val="600"/>
              </a:spcBef>
              <a:spcAft>
                <a:spcPts val="0"/>
              </a:spcAft>
              <a:buSzPts val="1400"/>
              <a:buChar char="🞆"/>
            </a:pPr>
            <a:r>
              <a:rPr lang="en-US" sz="2000">
                <a:solidFill>
                  <a:srgbClr val="000000"/>
                </a:solidFill>
              </a:rPr>
              <a:t>SQL relation is  a </a:t>
            </a:r>
            <a:r>
              <a:rPr i="1" lang="en-US" sz="2000">
                <a:solidFill>
                  <a:srgbClr val="000000"/>
                </a:solidFill>
              </a:rPr>
              <a:t>multi-set</a:t>
            </a:r>
            <a:r>
              <a:rPr lang="en-US" sz="2000">
                <a:solidFill>
                  <a:srgbClr val="000000"/>
                </a:solidFill>
              </a:rPr>
              <a:t>  (bag) of tuples; </a:t>
            </a:r>
            <a:r>
              <a:rPr i="1" lang="en-US" sz="2000">
                <a:solidFill>
                  <a:srgbClr val="000000"/>
                </a:solidFill>
              </a:rPr>
              <a:t>not</a:t>
            </a:r>
            <a:r>
              <a:rPr lang="en-US" sz="2000">
                <a:solidFill>
                  <a:srgbClr val="000000"/>
                </a:solidFill>
              </a:rPr>
              <a:t>  a set of tuples</a:t>
            </a:r>
            <a:endParaRPr sz="2000">
              <a:solidFill>
                <a:srgbClr val="000000"/>
              </a:solidFill>
            </a:endParaRPr>
          </a:p>
          <a:p>
            <a:pPr indent="-274320" lvl="0" marL="274320" rtl="0" algn="l">
              <a:spcBef>
                <a:spcPts val="600"/>
              </a:spcBef>
              <a:spcAft>
                <a:spcPts val="0"/>
              </a:spcAft>
              <a:buSzPts val="1960"/>
              <a:buFont typeface="Noto Sans Symbols"/>
              <a:buNone/>
            </a:pPr>
            <a:r>
              <a:t/>
            </a:r>
            <a:endParaRPr sz="2800">
              <a:solidFill>
                <a:srgbClr val="000000"/>
              </a:solidFill>
            </a:endParaRPr>
          </a:p>
        </p:txBody>
      </p:sp>
      <p:sp>
        <p:nvSpPr>
          <p:cNvPr id="249" name="Google Shape;249;p1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sp>
        <p:nvSpPr>
          <p:cNvPr id="250" name="Google Shape;250;p14"/>
          <p:cNvSpPr/>
          <p:nvPr/>
        </p:nvSpPr>
        <p:spPr>
          <a:xfrm>
            <a:off x="2296732" y="2060448"/>
            <a:ext cx="4457700" cy="1196975"/>
          </a:xfrm>
          <a:prstGeom prst="rect">
            <a:avLst/>
          </a:prstGeom>
          <a:solidFill>
            <a:schemeClr val="lt1"/>
          </a:solidFill>
          <a:ln cap="flat" cmpd="sng" w="9525">
            <a:solidFill>
              <a:schemeClr val="dk1"/>
            </a:solidFill>
            <a:prstDash val="solid"/>
            <a:miter lim="800000"/>
            <a:headEnd len="sm" w="sm" type="none"/>
            <a:tailEnd len="sm" w="sm" type="none"/>
          </a:ln>
          <a:effectLst>
            <a:outerShdw rotWithShape="0" algn="ctr" dir="2700000" dist="107763">
              <a:schemeClr val="lt2"/>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a:t>
            </a:r>
            <a:r>
              <a:rPr lang="en-US" sz="2400">
                <a:solidFill>
                  <a:schemeClr val="accent2"/>
                </a:solidFill>
                <a:latin typeface="Times New Roman"/>
                <a:ea typeface="Times New Roman"/>
                <a:cs typeface="Times New Roman"/>
                <a:sym typeface="Times New Roman"/>
              </a:rPr>
              <a:t>SELECT </a:t>
            </a:r>
            <a:r>
              <a:rPr lang="en-US" sz="2400">
                <a:solidFill>
                  <a:schemeClr val="dk1"/>
                </a:solidFill>
                <a:latin typeface="Times New Roman"/>
                <a:ea typeface="Times New Roman"/>
                <a:cs typeface="Times New Roman"/>
                <a:sym typeface="Times New Roman"/>
              </a:rPr>
              <a:t> &lt;attributes&gt;</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a:t>
            </a:r>
            <a:r>
              <a:rPr lang="en-US" sz="2400">
                <a:solidFill>
                  <a:schemeClr val="accent2"/>
                </a:solidFill>
                <a:latin typeface="Times New Roman"/>
                <a:ea typeface="Times New Roman"/>
                <a:cs typeface="Times New Roman"/>
                <a:sym typeface="Times New Roman"/>
              </a:rPr>
              <a:t>FROM</a:t>
            </a:r>
            <a:r>
              <a:rPr lang="en-US" sz="2400">
                <a:solidFill>
                  <a:schemeClr val="dk1"/>
                </a:solidFill>
                <a:latin typeface="Times New Roman"/>
                <a:ea typeface="Times New Roman"/>
                <a:cs typeface="Times New Roman"/>
                <a:sym typeface="Times New Roman"/>
              </a:rPr>
              <a:t>     &lt;one or more relations&gt;</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a:t>
            </a:r>
            <a:r>
              <a:rPr lang="en-US" sz="2400">
                <a:solidFill>
                  <a:schemeClr val="accent2"/>
                </a:solidFill>
                <a:latin typeface="Times New Roman"/>
                <a:ea typeface="Times New Roman"/>
                <a:cs typeface="Times New Roman"/>
                <a:sym typeface="Times New Roman"/>
              </a:rPr>
              <a:t>WHERE</a:t>
            </a:r>
            <a:r>
              <a:rPr lang="en-US" sz="2400">
                <a:solidFill>
                  <a:schemeClr val="dk1"/>
                </a:solidFill>
                <a:latin typeface="Times New Roman"/>
                <a:ea typeface="Times New Roman"/>
                <a:cs typeface="Times New Roman"/>
                <a:sym typeface="Times New Roman"/>
              </a:rPr>
              <a:t>  &lt;conditions&gt;</a:t>
            </a:r>
            <a:endParaRPr/>
          </a:p>
        </p:txBody>
      </p:sp>
      <p:sp>
        <p:nvSpPr>
          <p:cNvPr id="251" name="Google Shape;251;p14"/>
          <p:cNvSpPr/>
          <p:nvPr/>
        </p:nvSpPr>
        <p:spPr>
          <a:xfrm>
            <a:off x="1444575" y="1500431"/>
            <a:ext cx="170431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Basic form: </a:t>
            </a:r>
            <a:endParaRPr sz="24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2000"/>
              <a:buFont typeface="Calibri"/>
              <a:buNone/>
            </a:pPr>
            <a:r>
              <a:rPr lang="en-US" sz="2000"/>
              <a:t>Relational Database Schema</a:t>
            </a:r>
            <a:r>
              <a:rPr lang="en-US" sz="4000"/>
              <a:t>  </a:t>
            </a:r>
            <a:endParaRPr/>
          </a:p>
        </p:txBody>
      </p:sp>
      <p:pic>
        <p:nvPicPr>
          <p:cNvPr descr="31755_FIG0705.gif                                              0001035BEeyore                         B91DCF3B:" id="257" name="Google Shape;257;p15"/>
          <p:cNvPicPr preferRelativeResize="0"/>
          <p:nvPr>
            <p:ph idx="1" type="body"/>
          </p:nvPr>
        </p:nvPicPr>
        <p:blipFill rotWithShape="1">
          <a:blip r:embed="rId3">
            <a:alphaModFix/>
          </a:blip>
          <a:srcRect b="0" l="0" r="0" t="0"/>
          <a:stretch/>
        </p:blipFill>
        <p:spPr>
          <a:xfrm>
            <a:off x="784225" y="1371854"/>
            <a:ext cx="7575550" cy="4802188"/>
          </a:xfrm>
          <a:prstGeom prst="rect">
            <a:avLst/>
          </a:prstGeom>
          <a:noFill/>
          <a:ln>
            <a:noFill/>
          </a:ln>
        </p:spPr>
      </p:pic>
      <p:sp>
        <p:nvSpPr>
          <p:cNvPr id="258" name="Google Shape;258;p1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Simple SQL Queries</a:t>
            </a:r>
            <a:endParaRPr b="1">
              <a:solidFill>
                <a:srgbClr val="000000"/>
              </a:solidFill>
            </a:endParaRPr>
          </a:p>
        </p:txBody>
      </p:sp>
      <p:sp>
        <p:nvSpPr>
          <p:cNvPr id="266" name="Google Shape;266;p16"/>
          <p:cNvSpPr txBox="1"/>
          <p:nvPr>
            <p:ph idx="1" type="body"/>
          </p:nvPr>
        </p:nvSpPr>
        <p:spPr>
          <a:xfrm>
            <a:off x="457200" y="1592072"/>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400"/>
              <a:buChar char="🞆"/>
            </a:pPr>
            <a:r>
              <a:rPr lang="en-US" sz="2000">
                <a:solidFill>
                  <a:srgbClr val="000000"/>
                </a:solidFill>
              </a:rPr>
              <a:t>Retrieve the details of all employees who work in department no 4.</a:t>
            </a:r>
            <a:br>
              <a:rPr b="1" lang="en-US" sz="2000">
                <a:solidFill>
                  <a:srgbClr val="000000"/>
                </a:solidFill>
              </a:rPr>
            </a:br>
            <a:endParaRPr b="1" sz="2000">
              <a:solidFill>
                <a:srgbClr val="000000"/>
              </a:solidFill>
            </a:endParaRPr>
          </a:p>
          <a:p>
            <a:pPr indent="-274320" lvl="1" marL="640080" rtl="0" algn="l">
              <a:lnSpc>
                <a:spcPct val="90000"/>
              </a:lnSpc>
              <a:spcBef>
                <a:spcPts val="360"/>
              </a:spcBef>
              <a:spcAft>
                <a:spcPts val="0"/>
              </a:spcAft>
              <a:buSzPts val="1440"/>
              <a:buFont typeface="Calibri"/>
              <a:buNone/>
            </a:pPr>
            <a:r>
              <a:rPr b="1" lang="en-US" sz="1800">
                <a:solidFill>
                  <a:srgbClr val="000000"/>
                </a:solidFill>
              </a:rPr>
              <a:t>      	SELECT 	*</a:t>
            </a:r>
            <a:br>
              <a:rPr b="1" lang="en-US" sz="1800">
                <a:solidFill>
                  <a:srgbClr val="000000"/>
                </a:solidFill>
              </a:rPr>
            </a:br>
            <a:r>
              <a:rPr b="1" lang="en-US" sz="1800">
                <a:solidFill>
                  <a:srgbClr val="000000"/>
                </a:solidFill>
              </a:rPr>
              <a:t>	FROM 	EMPLOYEE</a:t>
            </a:r>
            <a:br>
              <a:rPr b="1" lang="en-US" sz="1800">
                <a:solidFill>
                  <a:srgbClr val="000000"/>
                </a:solidFill>
              </a:rPr>
            </a:br>
            <a:r>
              <a:rPr b="1" lang="en-US" sz="1800">
                <a:solidFill>
                  <a:srgbClr val="000000"/>
                </a:solidFill>
              </a:rPr>
              <a:t>	WHERE	Dno = 4</a:t>
            </a:r>
            <a:br>
              <a:rPr b="1" lang="en-US" sz="1800">
                <a:solidFill>
                  <a:srgbClr val="000000"/>
                </a:solidFill>
              </a:rPr>
            </a:br>
            <a:endParaRPr sz="1800">
              <a:solidFill>
                <a:srgbClr val="000000"/>
              </a:solidFill>
            </a:endParaRPr>
          </a:p>
        </p:txBody>
      </p:sp>
      <p:sp>
        <p:nvSpPr>
          <p:cNvPr id="267" name="Google Shape;267;p1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pic>
        <p:nvPicPr>
          <p:cNvPr descr="fig05_06" id="268" name="Google Shape;268;p16"/>
          <p:cNvPicPr preferRelativeResize="0"/>
          <p:nvPr/>
        </p:nvPicPr>
        <p:blipFill rotWithShape="1">
          <a:blip r:embed="rId3">
            <a:alphaModFix/>
          </a:blip>
          <a:srcRect b="67960" l="0" r="0" t="4191"/>
          <a:stretch/>
        </p:blipFill>
        <p:spPr>
          <a:xfrm>
            <a:off x="988397" y="3535680"/>
            <a:ext cx="7387243" cy="2621280"/>
          </a:xfrm>
          <a:prstGeom prst="rect">
            <a:avLst/>
          </a:prstGeom>
          <a:noFill/>
          <a:ln>
            <a:noFill/>
          </a:ln>
        </p:spPr>
      </p:pic>
      <p:sp>
        <p:nvSpPr>
          <p:cNvPr id="269" name="Google Shape;269;p16"/>
          <p:cNvSpPr/>
          <p:nvPr/>
        </p:nvSpPr>
        <p:spPr>
          <a:xfrm>
            <a:off x="6380480" y="2545080"/>
            <a:ext cx="2109788" cy="619125"/>
          </a:xfrm>
          <a:prstGeom prst="ellipse">
            <a:avLst/>
          </a:prstGeom>
          <a:solidFill>
            <a:srgbClr val="C0C0C0">
              <a:alpha val="49803"/>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“selection”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Simple SQL Queries</a:t>
            </a:r>
            <a:endParaRPr b="1">
              <a:solidFill>
                <a:srgbClr val="000000"/>
              </a:solidFill>
            </a:endParaRPr>
          </a:p>
        </p:txBody>
      </p:sp>
      <p:sp>
        <p:nvSpPr>
          <p:cNvPr id="277" name="Google Shape;277;p17"/>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400"/>
              <a:buChar char="🞆"/>
            </a:pPr>
            <a:r>
              <a:rPr lang="en-US" sz="2000">
                <a:solidFill>
                  <a:srgbClr val="000000"/>
                </a:solidFill>
              </a:rPr>
              <a:t>Retrieve the birthdate and address of the employee whose name is 'John B. Smith'.</a:t>
            </a:r>
            <a:br>
              <a:rPr b="1" lang="en-US" sz="2000">
                <a:solidFill>
                  <a:srgbClr val="000000"/>
                </a:solidFill>
              </a:rPr>
            </a:br>
            <a:endParaRPr b="1" sz="2000">
              <a:solidFill>
                <a:srgbClr val="000000"/>
              </a:solidFill>
            </a:endParaRPr>
          </a:p>
          <a:p>
            <a:pPr indent="-274320" lvl="1" marL="640080" rtl="0" algn="l">
              <a:lnSpc>
                <a:spcPct val="90000"/>
              </a:lnSpc>
              <a:spcBef>
                <a:spcPts val="360"/>
              </a:spcBef>
              <a:spcAft>
                <a:spcPts val="0"/>
              </a:spcAft>
              <a:buSzPts val="1440"/>
              <a:buFont typeface="Calibri"/>
              <a:buNone/>
            </a:pPr>
            <a:r>
              <a:rPr b="1" lang="en-US" sz="1800">
                <a:solidFill>
                  <a:srgbClr val="000000"/>
                </a:solidFill>
              </a:rPr>
              <a:t>      	SELECT 	BDATE, ADDRESS</a:t>
            </a:r>
            <a:br>
              <a:rPr b="1" lang="en-US" sz="1800">
                <a:solidFill>
                  <a:srgbClr val="000000"/>
                </a:solidFill>
              </a:rPr>
            </a:br>
            <a:r>
              <a:rPr b="1" lang="en-US" sz="1800">
                <a:solidFill>
                  <a:srgbClr val="000000"/>
                </a:solidFill>
              </a:rPr>
              <a:t>	FROM 	EMPLOYEE</a:t>
            </a:r>
            <a:br>
              <a:rPr b="1" lang="en-US" sz="1800">
                <a:solidFill>
                  <a:srgbClr val="000000"/>
                </a:solidFill>
              </a:rPr>
            </a:br>
            <a:r>
              <a:rPr b="1" lang="en-US" sz="1800">
                <a:solidFill>
                  <a:srgbClr val="000000"/>
                </a:solidFill>
              </a:rPr>
              <a:t>	WHERE	FNAME='John' AND MINIT='B’</a:t>
            </a:r>
            <a:br>
              <a:rPr b="1" lang="en-US" sz="1800">
                <a:solidFill>
                  <a:srgbClr val="000000"/>
                </a:solidFill>
              </a:rPr>
            </a:br>
            <a:r>
              <a:rPr b="1" lang="en-US" sz="1800">
                <a:solidFill>
                  <a:srgbClr val="000000"/>
                </a:solidFill>
              </a:rPr>
              <a:t>  		AND  LNAME='Smith’</a:t>
            </a:r>
            <a:br>
              <a:rPr b="1" lang="en-US" sz="1800">
                <a:solidFill>
                  <a:srgbClr val="000000"/>
                </a:solidFill>
              </a:rPr>
            </a:br>
            <a:endParaRPr sz="1800">
              <a:solidFill>
                <a:srgbClr val="000000"/>
              </a:solidFill>
            </a:endParaRPr>
          </a:p>
          <a:p>
            <a:pPr indent="-274320" lvl="1" marL="640080" rtl="0" algn="l">
              <a:lnSpc>
                <a:spcPct val="90000"/>
              </a:lnSpc>
              <a:spcBef>
                <a:spcPts val="360"/>
              </a:spcBef>
              <a:spcAft>
                <a:spcPts val="0"/>
              </a:spcAft>
              <a:buSzPts val="1440"/>
              <a:buChar char="⚫"/>
            </a:pPr>
            <a:r>
              <a:rPr lang="en-US" sz="1800">
                <a:solidFill>
                  <a:srgbClr val="000000"/>
                </a:solidFill>
              </a:rPr>
              <a:t>Similar to a SELECT-PROJECT pair of relational algebra operations</a:t>
            </a:r>
            <a:endParaRPr/>
          </a:p>
        </p:txBody>
      </p:sp>
      <p:sp>
        <p:nvSpPr>
          <p:cNvPr id="278" name="Google Shape;278;p1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pic>
        <p:nvPicPr>
          <p:cNvPr descr="fig05_06" id="279" name="Google Shape;279;p17"/>
          <p:cNvPicPr preferRelativeResize="0"/>
          <p:nvPr/>
        </p:nvPicPr>
        <p:blipFill rotWithShape="1">
          <a:blip r:embed="rId3">
            <a:alphaModFix/>
          </a:blip>
          <a:srcRect b="67960" l="0" r="0" t="4191"/>
          <a:stretch/>
        </p:blipFill>
        <p:spPr>
          <a:xfrm>
            <a:off x="973663" y="4297680"/>
            <a:ext cx="6345728" cy="2251710"/>
          </a:xfrm>
          <a:prstGeom prst="rect">
            <a:avLst/>
          </a:prstGeom>
          <a:noFill/>
          <a:ln>
            <a:noFill/>
          </a:ln>
        </p:spPr>
      </p:pic>
      <p:sp>
        <p:nvSpPr>
          <p:cNvPr id="280" name="Google Shape;280;p17"/>
          <p:cNvSpPr/>
          <p:nvPr/>
        </p:nvSpPr>
        <p:spPr>
          <a:xfrm>
            <a:off x="5900166" y="2265680"/>
            <a:ext cx="2838450" cy="1136650"/>
          </a:xfrm>
          <a:prstGeom prst="ellipse">
            <a:avLst/>
          </a:prstGeom>
          <a:solidFill>
            <a:srgbClr val="C0C0C0">
              <a:alpha val="49803"/>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“selection” and</a:t>
            </a:r>
            <a:endParaRPr/>
          </a:p>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“projection”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Eliminating Duplicates</a:t>
            </a:r>
            <a:endParaRPr/>
          </a:p>
        </p:txBody>
      </p:sp>
      <p:sp>
        <p:nvSpPr>
          <p:cNvPr id="287" name="Google Shape;287;p18"/>
          <p:cNvSpPr/>
          <p:nvPr/>
        </p:nvSpPr>
        <p:spPr>
          <a:xfrm>
            <a:off x="4819629" y="1666240"/>
            <a:ext cx="2621936" cy="707886"/>
          </a:xfrm>
          <a:prstGeom prst="rect">
            <a:avLst/>
          </a:prstGeom>
          <a:solidFill>
            <a:schemeClr val="lt1"/>
          </a:solidFill>
          <a:ln cap="flat" cmpd="sng" w="9525">
            <a:solidFill>
              <a:schemeClr val="dk1"/>
            </a:solidFill>
            <a:prstDash val="solid"/>
            <a:miter lim="800000"/>
            <a:headEnd len="sm" w="sm" type="none"/>
            <a:tailEnd len="sm" w="sm" type="none"/>
          </a:ln>
          <a:effectLst>
            <a:outerShdw rotWithShape="0" algn="ctr" dir="2700000" dist="107763">
              <a:schemeClr val="lt2"/>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SELECT DISTINCT Salary</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FROM     Employee</a:t>
            </a:r>
            <a:endParaRPr sz="2000">
              <a:solidFill>
                <a:schemeClr val="dk1"/>
              </a:solidFill>
              <a:latin typeface="Calibri"/>
              <a:ea typeface="Calibri"/>
              <a:cs typeface="Calibri"/>
              <a:sym typeface="Calibri"/>
            </a:endParaRPr>
          </a:p>
        </p:txBody>
      </p:sp>
      <p:sp>
        <p:nvSpPr>
          <p:cNvPr id="288" name="Google Shape;288;p18"/>
          <p:cNvSpPr/>
          <p:nvPr/>
        </p:nvSpPr>
        <p:spPr>
          <a:xfrm>
            <a:off x="691702" y="1686560"/>
            <a:ext cx="2144561" cy="707886"/>
          </a:xfrm>
          <a:prstGeom prst="rect">
            <a:avLst/>
          </a:prstGeom>
          <a:solidFill>
            <a:schemeClr val="lt1"/>
          </a:solidFill>
          <a:ln cap="flat" cmpd="sng" w="9525">
            <a:solidFill>
              <a:schemeClr val="dk1"/>
            </a:solidFill>
            <a:prstDash val="solid"/>
            <a:miter lim="800000"/>
            <a:headEnd len="sm" w="sm" type="none"/>
            <a:tailEnd len="sm" w="sm" type="none"/>
          </a:ln>
          <a:effectLst>
            <a:outerShdw rotWithShape="0" algn="ctr" dir="2700000" dist="107763">
              <a:schemeClr val="lt2"/>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SELECT   Salary</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FROM     Employee</a:t>
            </a:r>
            <a:endParaRPr sz="2000">
              <a:solidFill>
                <a:schemeClr val="dk1"/>
              </a:solidFill>
              <a:latin typeface="Calibri"/>
              <a:ea typeface="Calibri"/>
              <a:cs typeface="Calibri"/>
              <a:sym typeface="Calibri"/>
            </a:endParaRPr>
          </a:p>
        </p:txBody>
      </p:sp>
      <p:pic>
        <p:nvPicPr>
          <p:cNvPr descr="fig05_06" id="289" name="Google Shape;289;p18"/>
          <p:cNvPicPr preferRelativeResize="0"/>
          <p:nvPr/>
        </p:nvPicPr>
        <p:blipFill rotWithShape="1">
          <a:blip r:embed="rId3">
            <a:alphaModFix/>
          </a:blip>
          <a:srcRect b="67960" l="0" r="0" t="4191"/>
          <a:stretch/>
        </p:blipFill>
        <p:spPr>
          <a:xfrm>
            <a:off x="457200" y="4277359"/>
            <a:ext cx="6410960" cy="2274857"/>
          </a:xfrm>
          <a:prstGeom prst="rect">
            <a:avLst/>
          </a:prstGeom>
          <a:noFill/>
          <a:ln>
            <a:noFill/>
          </a:ln>
        </p:spPr>
      </p:pic>
      <p:pic>
        <p:nvPicPr>
          <p:cNvPr id="290" name="Google Shape;290;p18"/>
          <p:cNvPicPr preferRelativeResize="0"/>
          <p:nvPr/>
        </p:nvPicPr>
        <p:blipFill rotWithShape="1">
          <a:blip r:embed="rId4">
            <a:alphaModFix/>
          </a:blip>
          <a:srcRect b="0" l="0" r="0" t="0"/>
          <a:stretch/>
        </p:blipFill>
        <p:spPr>
          <a:xfrm>
            <a:off x="3362008" y="1501775"/>
            <a:ext cx="1149032" cy="2775584"/>
          </a:xfrm>
          <a:prstGeom prst="rect">
            <a:avLst/>
          </a:prstGeom>
          <a:noFill/>
          <a:ln>
            <a:noFill/>
          </a:ln>
        </p:spPr>
      </p:pic>
      <p:pic>
        <p:nvPicPr>
          <p:cNvPr id="291" name="Google Shape;291;p18"/>
          <p:cNvPicPr preferRelativeResize="0"/>
          <p:nvPr/>
        </p:nvPicPr>
        <p:blipFill rotWithShape="1">
          <a:blip r:embed="rId5">
            <a:alphaModFix/>
          </a:blip>
          <a:srcRect b="0" l="0" r="0" t="0"/>
          <a:stretch/>
        </p:blipFill>
        <p:spPr>
          <a:xfrm>
            <a:off x="6475095" y="2394446"/>
            <a:ext cx="966470" cy="20520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Join Operation </a:t>
            </a:r>
            <a:endParaRPr b="1">
              <a:solidFill>
                <a:srgbClr val="000000"/>
              </a:solidFill>
            </a:endParaRPr>
          </a:p>
        </p:txBody>
      </p:sp>
      <p:sp>
        <p:nvSpPr>
          <p:cNvPr id="297" name="Google Shape;297;p19"/>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400"/>
              <a:buChar char="🞆"/>
            </a:pPr>
            <a:r>
              <a:rPr lang="en-US" sz="2000">
                <a:solidFill>
                  <a:srgbClr val="000000"/>
                </a:solidFill>
              </a:rPr>
              <a:t>Retrieve the name and address of all employees who work for the 'Research' department.</a:t>
            </a:r>
            <a:br>
              <a:rPr lang="en-US" sz="2000">
                <a:solidFill>
                  <a:srgbClr val="000000"/>
                </a:solidFill>
              </a:rPr>
            </a:br>
            <a:endParaRPr sz="2000">
              <a:solidFill>
                <a:srgbClr val="000000"/>
              </a:solidFill>
            </a:endParaRPr>
          </a:p>
          <a:p>
            <a:pPr indent="-274320" lvl="1" marL="640080" rtl="0" algn="l">
              <a:lnSpc>
                <a:spcPct val="90000"/>
              </a:lnSpc>
              <a:spcBef>
                <a:spcPts val="400"/>
              </a:spcBef>
              <a:spcAft>
                <a:spcPts val="0"/>
              </a:spcAft>
              <a:buSzPts val="1600"/>
              <a:buFont typeface="Calibri"/>
              <a:buNone/>
            </a:pPr>
            <a:r>
              <a:rPr b="1" lang="en-US" sz="2000">
                <a:solidFill>
                  <a:srgbClr val="000000"/>
                </a:solidFill>
              </a:rPr>
              <a:t>	SELECT	FNAME, LNAME, ADDRESS</a:t>
            </a:r>
            <a:br>
              <a:rPr b="1" lang="en-US" sz="2000">
                <a:solidFill>
                  <a:srgbClr val="000000"/>
                </a:solidFill>
              </a:rPr>
            </a:br>
            <a:r>
              <a:rPr b="1" lang="en-US" sz="2000">
                <a:solidFill>
                  <a:srgbClr val="000000"/>
                </a:solidFill>
              </a:rPr>
              <a:t>FROM 	EMPLOYEE, DEPARTMENT</a:t>
            </a:r>
            <a:br>
              <a:rPr b="1" lang="en-US" sz="2000">
                <a:solidFill>
                  <a:srgbClr val="000000"/>
                </a:solidFill>
              </a:rPr>
            </a:br>
            <a:r>
              <a:rPr b="1" lang="en-US" sz="2000">
                <a:solidFill>
                  <a:srgbClr val="000000"/>
                </a:solidFill>
              </a:rPr>
              <a:t>WHERE	DNAME='Research' AND DNUMBER=DNO</a:t>
            </a:r>
            <a:br>
              <a:rPr b="1" lang="en-US" sz="2000">
                <a:solidFill>
                  <a:srgbClr val="000000"/>
                </a:solidFill>
              </a:rPr>
            </a:br>
            <a:endParaRPr b="1" sz="2000">
              <a:solidFill>
                <a:srgbClr val="000000"/>
              </a:solidFill>
            </a:endParaRPr>
          </a:p>
          <a:p>
            <a:pPr indent="-274320" lvl="1" marL="640080" rtl="0" algn="l">
              <a:lnSpc>
                <a:spcPct val="90000"/>
              </a:lnSpc>
              <a:spcBef>
                <a:spcPts val="400"/>
              </a:spcBef>
              <a:spcAft>
                <a:spcPts val="0"/>
              </a:spcAft>
              <a:buSzPts val="1600"/>
              <a:buChar char="⚫"/>
            </a:pPr>
            <a:r>
              <a:rPr lang="en-US" sz="2000">
                <a:solidFill>
                  <a:srgbClr val="000000"/>
                </a:solidFill>
              </a:rPr>
              <a:t>DNAME='Research’ is a </a:t>
            </a:r>
            <a:r>
              <a:rPr i="1" lang="en-US" sz="2000">
                <a:solidFill>
                  <a:srgbClr val="000000"/>
                </a:solidFill>
              </a:rPr>
              <a:t>selection condition</a:t>
            </a:r>
            <a:endParaRPr sz="2000">
              <a:solidFill>
                <a:srgbClr val="000000"/>
              </a:solidFill>
            </a:endParaRPr>
          </a:p>
          <a:p>
            <a:pPr indent="-274320" lvl="1" marL="640080" rtl="0" algn="l">
              <a:lnSpc>
                <a:spcPct val="90000"/>
              </a:lnSpc>
              <a:spcBef>
                <a:spcPts val="400"/>
              </a:spcBef>
              <a:spcAft>
                <a:spcPts val="0"/>
              </a:spcAft>
              <a:buSzPts val="1600"/>
              <a:buChar char="⚫"/>
            </a:pPr>
            <a:r>
              <a:rPr lang="en-US" sz="2000">
                <a:solidFill>
                  <a:srgbClr val="000000"/>
                </a:solidFill>
              </a:rPr>
              <a:t>DNUMBER=DNO is a </a:t>
            </a:r>
            <a:r>
              <a:rPr i="1" lang="en-US" sz="2000">
                <a:solidFill>
                  <a:srgbClr val="000000"/>
                </a:solidFill>
              </a:rPr>
              <a:t>join condition</a:t>
            </a:r>
            <a:endParaRPr sz="2000">
              <a:solidFill>
                <a:srgbClr val="000000"/>
              </a:solidFill>
            </a:endParaRPr>
          </a:p>
        </p:txBody>
      </p:sp>
      <p:sp>
        <p:nvSpPr>
          <p:cNvPr id="298" name="Google Shape;298;p1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pic>
        <p:nvPicPr>
          <p:cNvPr descr="fig05_06" id="299" name="Google Shape;299;p19"/>
          <p:cNvPicPr preferRelativeResize="0"/>
          <p:nvPr/>
        </p:nvPicPr>
        <p:blipFill rotWithShape="1">
          <a:blip r:embed="rId3">
            <a:alphaModFix/>
          </a:blip>
          <a:srcRect b="67960" l="0" r="0" t="4191"/>
          <a:stretch/>
        </p:blipFill>
        <p:spPr>
          <a:xfrm>
            <a:off x="104833" y="4677696"/>
            <a:ext cx="5798127" cy="2057400"/>
          </a:xfrm>
          <a:prstGeom prst="rect">
            <a:avLst/>
          </a:prstGeom>
          <a:noFill/>
          <a:ln>
            <a:noFill/>
          </a:ln>
        </p:spPr>
      </p:pic>
      <p:pic>
        <p:nvPicPr>
          <p:cNvPr descr="fig05_06" id="300" name="Google Shape;300;p19"/>
          <p:cNvPicPr preferRelativeResize="0"/>
          <p:nvPr/>
        </p:nvPicPr>
        <p:blipFill rotWithShape="1">
          <a:blip r:embed="rId3">
            <a:alphaModFix/>
          </a:blip>
          <a:srcRect b="54193" l="0" r="41047" t="32781"/>
          <a:stretch/>
        </p:blipFill>
        <p:spPr>
          <a:xfrm>
            <a:off x="5638986" y="3805083"/>
            <a:ext cx="3099629" cy="872613"/>
          </a:xfrm>
          <a:prstGeom prst="rect">
            <a:avLst/>
          </a:prstGeom>
          <a:noFill/>
          <a:ln>
            <a:noFill/>
          </a:ln>
        </p:spPr>
      </p:pic>
      <p:pic>
        <p:nvPicPr>
          <p:cNvPr id="301" name="Google Shape;301;p19"/>
          <p:cNvPicPr preferRelativeResize="0"/>
          <p:nvPr/>
        </p:nvPicPr>
        <p:blipFill rotWithShape="1">
          <a:blip r:embed="rId4">
            <a:alphaModFix/>
          </a:blip>
          <a:srcRect b="0" l="0" r="0" t="0"/>
          <a:stretch/>
        </p:blipFill>
        <p:spPr>
          <a:xfrm>
            <a:off x="6055459" y="5150961"/>
            <a:ext cx="2875815" cy="116617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0"/>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JOIN(cont.)</a:t>
            </a:r>
            <a:endParaRPr b="1">
              <a:solidFill>
                <a:srgbClr val="000000"/>
              </a:solidFill>
            </a:endParaRPr>
          </a:p>
        </p:txBody>
      </p:sp>
      <p:sp>
        <p:nvSpPr>
          <p:cNvPr id="309" name="Google Shape;309;p20"/>
          <p:cNvSpPr txBox="1"/>
          <p:nvPr>
            <p:ph idx="1" type="body"/>
          </p:nvPr>
        </p:nvSpPr>
        <p:spPr>
          <a:xfrm>
            <a:off x="385763" y="1641475"/>
            <a:ext cx="8551862" cy="4802188"/>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400"/>
              <a:buChar char="🞆"/>
            </a:pPr>
            <a:r>
              <a:rPr lang="en-US" sz="2000">
                <a:solidFill>
                  <a:srgbClr val="000000"/>
                </a:solidFill>
              </a:rPr>
              <a:t>For every project located in 'Stafford', list the project number, the controlling department number, and the department manager's last name, address, and birthdate.</a:t>
            </a:r>
            <a:br>
              <a:rPr lang="en-US" sz="2000">
                <a:solidFill>
                  <a:srgbClr val="000000"/>
                </a:solidFill>
              </a:rPr>
            </a:br>
            <a:endParaRPr sz="2000">
              <a:solidFill>
                <a:srgbClr val="000000"/>
              </a:solidFill>
            </a:endParaRPr>
          </a:p>
          <a:p>
            <a:pPr indent="-274320" lvl="1" marL="640080" rtl="0" algn="l">
              <a:lnSpc>
                <a:spcPct val="90000"/>
              </a:lnSpc>
              <a:spcBef>
                <a:spcPts val="400"/>
              </a:spcBef>
              <a:spcAft>
                <a:spcPts val="0"/>
              </a:spcAft>
              <a:buSzPts val="1600"/>
              <a:buFont typeface="Calibri"/>
              <a:buNone/>
            </a:pPr>
            <a:r>
              <a:rPr b="1" lang="en-US" sz="2000">
                <a:solidFill>
                  <a:srgbClr val="000000"/>
                </a:solidFill>
              </a:rPr>
              <a:t>	     SELECT 	PNUMBER, DNUM, LNAME, ADDRESS, BDATE </a:t>
            </a:r>
            <a:br>
              <a:rPr b="1" lang="en-US" sz="2000">
                <a:solidFill>
                  <a:srgbClr val="000000"/>
                </a:solidFill>
              </a:rPr>
            </a:br>
            <a:r>
              <a:rPr b="1" lang="en-US" sz="2000">
                <a:solidFill>
                  <a:srgbClr val="000000"/>
                </a:solidFill>
              </a:rPr>
              <a:t>	FROM	PROJECT, DEPARTMENT, EMPLOYEE</a:t>
            </a:r>
            <a:br>
              <a:rPr b="1" lang="en-US" sz="2000">
                <a:solidFill>
                  <a:srgbClr val="000000"/>
                </a:solidFill>
              </a:rPr>
            </a:br>
            <a:r>
              <a:rPr b="1" lang="en-US" sz="2000">
                <a:solidFill>
                  <a:srgbClr val="000000"/>
                </a:solidFill>
              </a:rPr>
              <a:t>	WHERE 	DNUM=DNUMBER AND MGRSSN=SSN  AND				PLOCATION='Stafford'</a:t>
            </a:r>
            <a:br>
              <a:rPr b="1" lang="en-US" sz="2000">
                <a:solidFill>
                  <a:srgbClr val="000000"/>
                </a:solidFill>
              </a:rPr>
            </a:br>
            <a:endParaRPr b="1" sz="2000">
              <a:solidFill>
                <a:srgbClr val="000000"/>
              </a:solidFill>
            </a:endParaRPr>
          </a:p>
        </p:txBody>
      </p:sp>
      <p:sp>
        <p:nvSpPr>
          <p:cNvPr id="310" name="Google Shape;310;p2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pic>
        <p:nvPicPr>
          <p:cNvPr descr="fig05_06" id="311" name="Google Shape;311;p20"/>
          <p:cNvPicPr preferRelativeResize="0"/>
          <p:nvPr/>
        </p:nvPicPr>
        <p:blipFill rotWithShape="1">
          <a:blip r:embed="rId3">
            <a:alphaModFix/>
          </a:blip>
          <a:srcRect b="67960" l="0" r="0" t="4191"/>
          <a:stretch/>
        </p:blipFill>
        <p:spPr>
          <a:xfrm>
            <a:off x="155633" y="3937815"/>
            <a:ext cx="5798127" cy="2057400"/>
          </a:xfrm>
          <a:prstGeom prst="rect">
            <a:avLst/>
          </a:prstGeom>
          <a:noFill/>
          <a:ln>
            <a:noFill/>
          </a:ln>
        </p:spPr>
      </p:pic>
      <p:pic>
        <p:nvPicPr>
          <p:cNvPr descr="fig05_06" id="312" name="Google Shape;312;p20"/>
          <p:cNvPicPr preferRelativeResize="0"/>
          <p:nvPr/>
        </p:nvPicPr>
        <p:blipFill rotWithShape="1">
          <a:blip r:embed="rId3">
            <a:alphaModFix/>
          </a:blip>
          <a:srcRect b="54193" l="0" r="41047" t="32781"/>
          <a:stretch/>
        </p:blipFill>
        <p:spPr>
          <a:xfrm>
            <a:off x="741867" y="5869751"/>
            <a:ext cx="3099629" cy="872613"/>
          </a:xfrm>
          <a:prstGeom prst="rect">
            <a:avLst/>
          </a:prstGeom>
          <a:noFill/>
          <a:ln cap="flat" cmpd="sng" w="9525">
            <a:solidFill>
              <a:schemeClr val="accent1"/>
            </a:solidFill>
            <a:prstDash val="solid"/>
            <a:round/>
            <a:headEnd len="sm" w="sm" type="none"/>
            <a:tailEnd len="sm" w="sm" type="none"/>
          </a:ln>
        </p:spPr>
      </p:pic>
      <p:pic>
        <p:nvPicPr>
          <p:cNvPr descr="fig05_06" id="313" name="Google Shape;313;p20"/>
          <p:cNvPicPr preferRelativeResize="0"/>
          <p:nvPr/>
        </p:nvPicPr>
        <p:blipFill rotWithShape="1">
          <a:blip r:embed="rId3">
            <a:alphaModFix/>
          </a:blip>
          <a:srcRect b="27151" l="50538" r="0" t="51714"/>
          <a:stretch/>
        </p:blipFill>
        <p:spPr>
          <a:xfrm>
            <a:off x="5953760" y="3798458"/>
            <a:ext cx="2600632" cy="1415845"/>
          </a:xfrm>
          <a:prstGeom prst="rect">
            <a:avLst/>
          </a:prstGeom>
          <a:noFill/>
          <a:ln>
            <a:noFill/>
          </a:ln>
        </p:spPr>
      </p:pic>
      <p:pic>
        <p:nvPicPr>
          <p:cNvPr id="314" name="Google Shape;314;p20"/>
          <p:cNvPicPr preferRelativeResize="0"/>
          <p:nvPr/>
        </p:nvPicPr>
        <p:blipFill rotWithShape="1">
          <a:blip r:embed="rId4">
            <a:alphaModFix/>
          </a:blip>
          <a:srcRect b="0" l="0" r="0" t="0"/>
          <a:stretch/>
        </p:blipFill>
        <p:spPr>
          <a:xfrm>
            <a:off x="5547741" y="5939089"/>
            <a:ext cx="3190875" cy="752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UNSPECIFIED WHERE-clause</a:t>
            </a:r>
            <a:endParaRPr b="1">
              <a:solidFill>
                <a:srgbClr val="000000"/>
              </a:solidFill>
            </a:endParaRPr>
          </a:p>
        </p:txBody>
      </p:sp>
      <p:sp>
        <p:nvSpPr>
          <p:cNvPr id="320" name="Google Shape;320;p21"/>
          <p:cNvSpPr txBox="1"/>
          <p:nvPr>
            <p:ph idx="1" type="body"/>
          </p:nvPr>
        </p:nvSpPr>
        <p:spPr>
          <a:xfrm>
            <a:off x="457200" y="1541208"/>
            <a:ext cx="601472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i="1" lang="en-US" sz="2400">
                <a:solidFill>
                  <a:srgbClr val="000000"/>
                </a:solidFill>
              </a:rPr>
              <a:t>Missing WHERE-clause </a:t>
            </a:r>
            <a:endParaRPr/>
          </a:p>
          <a:p>
            <a:pPr indent="-274320" lvl="1" marL="640080" rtl="0" algn="l">
              <a:spcBef>
                <a:spcPts val="420"/>
              </a:spcBef>
              <a:spcAft>
                <a:spcPts val="0"/>
              </a:spcAft>
              <a:buSzPts val="1680"/>
              <a:buChar char="⚫"/>
            </a:pPr>
            <a:r>
              <a:rPr lang="en-US" sz="2100">
                <a:solidFill>
                  <a:srgbClr val="000000"/>
                </a:solidFill>
              </a:rPr>
              <a:t> indicates there is no condition and is same as  WHERE TRUE</a:t>
            </a:r>
            <a:endParaRPr/>
          </a:p>
          <a:p>
            <a:pPr indent="-274320" lvl="0" marL="274320" rtl="0" algn="l">
              <a:spcBef>
                <a:spcPts val="600"/>
              </a:spcBef>
              <a:spcAft>
                <a:spcPts val="0"/>
              </a:spcAft>
              <a:buSzPts val="1680"/>
              <a:buChar char="🞆"/>
            </a:pPr>
            <a:r>
              <a:rPr lang="en-US" sz="2400">
                <a:solidFill>
                  <a:srgbClr val="000000"/>
                </a:solidFill>
              </a:rPr>
              <a:t>Retrieve the SSN values for all employees.</a:t>
            </a:r>
            <a:endParaRPr/>
          </a:p>
          <a:p>
            <a:pPr indent="-274320" lvl="1" marL="640080" rtl="0" algn="l">
              <a:spcBef>
                <a:spcPts val="480"/>
              </a:spcBef>
              <a:spcAft>
                <a:spcPts val="0"/>
              </a:spcAft>
              <a:buSzPts val="1920"/>
              <a:buFont typeface="Calibri"/>
              <a:buNone/>
            </a:pPr>
            <a:r>
              <a:rPr b="1" lang="en-US" sz="2400">
                <a:solidFill>
                  <a:srgbClr val="000000"/>
                </a:solidFill>
              </a:rPr>
              <a:t>		</a:t>
            </a:r>
            <a:r>
              <a:rPr b="1" lang="en-US" sz="2000">
                <a:solidFill>
                  <a:srgbClr val="000000"/>
                </a:solidFill>
              </a:rPr>
              <a:t>SELECT  	SSN</a:t>
            </a:r>
            <a:br>
              <a:rPr b="1" lang="en-US" sz="2000">
                <a:solidFill>
                  <a:srgbClr val="000000"/>
                </a:solidFill>
              </a:rPr>
            </a:br>
            <a:r>
              <a:rPr b="1" lang="en-US" sz="2000">
                <a:solidFill>
                  <a:srgbClr val="000000"/>
                </a:solidFill>
              </a:rPr>
              <a:t>	FROM	EMPLOYEE</a:t>
            </a:r>
            <a:endParaRPr b="1" sz="2400">
              <a:solidFill>
                <a:srgbClr val="000000"/>
              </a:solidFill>
            </a:endParaRPr>
          </a:p>
          <a:p>
            <a:pPr indent="-274320" lvl="0" marL="274320" rtl="0" algn="l">
              <a:spcBef>
                <a:spcPts val="600"/>
              </a:spcBef>
              <a:spcAft>
                <a:spcPts val="0"/>
              </a:spcAft>
              <a:buSzPts val="1680"/>
              <a:buChar char="🞆"/>
            </a:pPr>
            <a:r>
              <a:rPr lang="en-US" sz="2400">
                <a:solidFill>
                  <a:srgbClr val="000000"/>
                </a:solidFill>
              </a:rPr>
              <a:t>If there is no join condition, then we get </a:t>
            </a:r>
            <a:r>
              <a:rPr i="1" lang="en-US" sz="2400">
                <a:solidFill>
                  <a:srgbClr val="000000"/>
                </a:solidFill>
              </a:rPr>
              <a:t>CARTESIAN PRODUCT</a:t>
            </a:r>
            <a:endParaRPr sz="2400">
              <a:solidFill>
                <a:srgbClr val="000000"/>
              </a:solidFill>
            </a:endParaRPr>
          </a:p>
          <a:p>
            <a:pPr indent="-274320" lvl="1" marL="640080" rtl="0" algn="l">
              <a:spcBef>
                <a:spcPts val="500"/>
              </a:spcBef>
              <a:spcAft>
                <a:spcPts val="0"/>
              </a:spcAft>
              <a:buSzPts val="2000"/>
              <a:buNone/>
            </a:pPr>
            <a:r>
              <a:rPr b="1" lang="en-US" sz="2500">
                <a:solidFill>
                  <a:srgbClr val="000000"/>
                </a:solidFill>
              </a:rPr>
              <a:t>		</a:t>
            </a:r>
            <a:r>
              <a:rPr b="1" lang="en-US" sz="2000">
                <a:solidFill>
                  <a:srgbClr val="000000"/>
                </a:solidFill>
              </a:rPr>
              <a:t>SELECT	SSN, DNAME</a:t>
            </a:r>
            <a:br>
              <a:rPr b="1" lang="en-US" sz="2000">
                <a:solidFill>
                  <a:srgbClr val="000000"/>
                </a:solidFill>
              </a:rPr>
            </a:br>
            <a:r>
              <a:rPr b="1" lang="en-US" sz="2000">
                <a:solidFill>
                  <a:srgbClr val="000000"/>
                </a:solidFill>
              </a:rPr>
              <a:t>	FROM	EMPLOYEE, DEPARTMENT</a:t>
            </a:r>
            <a:endParaRPr sz="2500">
              <a:solidFill>
                <a:srgbClr val="000000"/>
              </a:solidFill>
            </a:endParaRPr>
          </a:p>
        </p:txBody>
      </p:sp>
      <p:sp>
        <p:nvSpPr>
          <p:cNvPr id="321" name="Google Shape;321;p2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pic>
        <p:nvPicPr>
          <p:cNvPr id="322" name="Google Shape;322;p21"/>
          <p:cNvPicPr preferRelativeResize="0"/>
          <p:nvPr/>
        </p:nvPicPr>
        <p:blipFill rotWithShape="1">
          <a:blip r:embed="rId3">
            <a:alphaModFix/>
          </a:blip>
          <a:srcRect b="0" l="0" r="0" t="0"/>
          <a:stretch/>
        </p:blipFill>
        <p:spPr>
          <a:xfrm>
            <a:off x="6593840" y="1106045"/>
            <a:ext cx="2024063" cy="56290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USE OF *</a:t>
            </a:r>
            <a:endParaRPr b="1">
              <a:solidFill>
                <a:srgbClr val="000000"/>
              </a:solidFill>
            </a:endParaRPr>
          </a:p>
        </p:txBody>
      </p:sp>
      <p:sp>
        <p:nvSpPr>
          <p:cNvPr id="328" name="Google Shape;328;p22"/>
          <p:cNvSpPr txBox="1"/>
          <p:nvPr>
            <p:ph idx="1" type="body"/>
          </p:nvPr>
        </p:nvSpPr>
        <p:spPr>
          <a:xfrm>
            <a:off x="685800" y="1641475"/>
            <a:ext cx="8228013" cy="4802188"/>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sz="2400">
                <a:solidFill>
                  <a:srgbClr val="000000"/>
                </a:solidFill>
              </a:rPr>
              <a:t>To retrieve all the attribute values of the selected tuples, a * is used, which stands for </a:t>
            </a:r>
            <a:r>
              <a:rPr i="1" lang="en-US" sz="2400">
                <a:solidFill>
                  <a:srgbClr val="000000"/>
                </a:solidFill>
              </a:rPr>
              <a:t>all the attributes</a:t>
            </a:r>
            <a:br>
              <a:rPr i="1" lang="en-US" sz="2400">
                <a:solidFill>
                  <a:srgbClr val="000000"/>
                </a:solidFill>
              </a:rPr>
            </a:br>
            <a:r>
              <a:rPr lang="en-US" sz="2400" u="sng">
                <a:solidFill>
                  <a:srgbClr val="000000"/>
                </a:solidFill>
              </a:rPr>
              <a:t>Examples:</a:t>
            </a:r>
            <a:endParaRPr/>
          </a:p>
          <a:p>
            <a:pPr indent="-274320" lvl="0" marL="274320" rtl="0" algn="l">
              <a:spcBef>
                <a:spcPts val="600"/>
              </a:spcBef>
              <a:spcAft>
                <a:spcPts val="0"/>
              </a:spcAft>
              <a:buSzPts val="1680"/>
              <a:buFont typeface="Noto Sans Symbols"/>
              <a:buNone/>
            </a:pPr>
            <a:r>
              <a:rPr b="1" lang="en-US" sz="2400">
                <a:solidFill>
                  <a:srgbClr val="000000"/>
                </a:solidFill>
              </a:rPr>
              <a:t>			</a:t>
            </a:r>
            <a:r>
              <a:rPr b="1" lang="en-US" sz="2000">
                <a:solidFill>
                  <a:srgbClr val="000000"/>
                </a:solidFill>
              </a:rPr>
              <a:t>SELECT 	*</a:t>
            </a:r>
            <a:br>
              <a:rPr b="1" lang="en-US" sz="2000">
                <a:solidFill>
                  <a:srgbClr val="000000"/>
                </a:solidFill>
              </a:rPr>
            </a:br>
            <a:r>
              <a:rPr b="1" lang="en-US" sz="2000">
                <a:solidFill>
                  <a:srgbClr val="000000"/>
                </a:solidFill>
              </a:rPr>
              <a:t>		FROM	EMPLOYEE</a:t>
            </a:r>
            <a:br>
              <a:rPr b="1" lang="en-US" sz="2000">
                <a:solidFill>
                  <a:srgbClr val="000000"/>
                </a:solidFill>
              </a:rPr>
            </a:br>
            <a:r>
              <a:rPr b="1" lang="en-US" sz="2000">
                <a:solidFill>
                  <a:srgbClr val="000000"/>
                </a:solidFill>
              </a:rPr>
              <a:t>		WHERE	DNO=5</a:t>
            </a:r>
            <a:br>
              <a:rPr b="1" lang="en-US" sz="2000">
                <a:solidFill>
                  <a:srgbClr val="000000"/>
                </a:solidFill>
              </a:rPr>
            </a:br>
            <a:br>
              <a:rPr b="1" lang="en-US" sz="2000">
                <a:solidFill>
                  <a:srgbClr val="000000"/>
                </a:solidFill>
              </a:rPr>
            </a:br>
            <a:r>
              <a:rPr b="1" lang="en-US" sz="2000">
                <a:solidFill>
                  <a:srgbClr val="000000"/>
                </a:solidFill>
              </a:rPr>
              <a:t>		SELECT  	*</a:t>
            </a:r>
            <a:br>
              <a:rPr b="1" lang="en-US" sz="2000">
                <a:solidFill>
                  <a:srgbClr val="000000"/>
                </a:solidFill>
              </a:rPr>
            </a:br>
            <a:r>
              <a:rPr b="1" lang="en-US" sz="2000">
                <a:solidFill>
                  <a:srgbClr val="000000"/>
                </a:solidFill>
              </a:rPr>
              <a:t>		FROM	EMPLOYEE, DEPARTMENT</a:t>
            </a:r>
            <a:br>
              <a:rPr b="1" lang="en-US" sz="2000">
                <a:solidFill>
                  <a:srgbClr val="000000"/>
                </a:solidFill>
              </a:rPr>
            </a:br>
            <a:r>
              <a:rPr b="1" lang="en-US" sz="2000">
                <a:solidFill>
                  <a:srgbClr val="000000"/>
                </a:solidFill>
              </a:rPr>
              <a:t>		WHERE	DNAME='Research' AND 	DNO=DNUMBER</a:t>
            </a:r>
            <a:endParaRPr sz="2000">
              <a:solidFill>
                <a:srgbClr val="000000"/>
              </a:solidFill>
            </a:endParaRPr>
          </a:p>
        </p:txBody>
      </p:sp>
      <p:sp>
        <p:nvSpPr>
          <p:cNvPr id="329" name="Google Shape;329;p2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b="1" lang="en-US"/>
              <a:t>Aliases</a:t>
            </a:r>
            <a:endParaRPr b="1">
              <a:solidFill>
                <a:srgbClr val="000000"/>
              </a:solidFill>
            </a:endParaRPr>
          </a:p>
        </p:txBody>
      </p:sp>
      <p:sp>
        <p:nvSpPr>
          <p:cNvPr id="335" name="Google Shape;335;p23"/>
          <p:cNvSpPr txBox="1"/>
          <p:nvPr>
            <p:ph idx="1" type="body"/>
          </p:nvPr>
        </p:nvSpPr>
        <p:spPr>
          <a:xfrm>
            <a:off x="685800" y="1776413"/>
            <a:ext cx="7772400" cy="4549775"/>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sz="2400">
                <a:solidFill>
                  <a:srgbClr val="000000"/>
                </a:solidFill>
              </a:rPr>
              <a:t>In SQL, we can use the same name for two (or more) attributes as long as the attributes are in </a:t>
            </a:r>
            <a:r>
              <a:rPr i="1" lang="en-US" sz="2400">
                <a:solidFill>
                  <a:srgbClr val="000000"/>
                </a:solidFill>
              </a:rPr>
              <a:t>different relations</a:t>
            </a:r>
            <a:endParaRPr/>
          </a:p>
          <a:p>
            <a:pPr indent="-274320" lvl="0" marL="274320" rtl="0" algn="l">
              <a:spcBef>
                <a:spcPts val="600"/>
              </a:spcBef>
              <a:spcAft>
                <a:spcPts val="0"/>
              </a:spcAft>
              <a:buSzPts val="1680"/>
              <a:buChar char="🞆"/>
            </a:pPr>
            <a:r>
              <a:rPr lang="en-US" sz="2400">
                <a:solidFill>
                  <a:srgbClr val="000000"/>
                </a:solidFill>
              </a:rPr>
              <a:t>A query that refers to two attributes with the same name must </a:t>
            </a:r>
            <a:r>
              <a:rPr i="1" lang="en-US" sz="2400">
                <a:solidFill>
                  <a:srgbClr val="000000"/>
                </a:solidFill>
              </a:rPr>
              <a:t>prefix</a:t>
            </a:r>
            <a:r>
              <a:rPr lang="en-US" sz="2400">
                <a:solidFill>
                  <a:srgbClr val="000000"/>
                </a:solidFill>
              </a:rPr>
              <a:t> the relation name to the attribute name</a:t>
            </a:r>
            <a:endParaRPr/>
          </a:p>
          <a:p>
            <a:pPr indent="-274320" lvl="0" marL="274320" rtl="0" algn="l">
              <a:spcBef>
                <a:spcPts val="600"/>
              </a:spcBef>
              <a:spcAft>
                <a:spcPts val="0"/>
              </a:spcAft>
              <a:buSzPts val="1680"/>
              <a:buFont typeface="Noto Sans Symbols"/>
              <a:buNone/>
            </a:pPr>
            <a:r>
              <a:t/>
            </a:r>
            <a:endParaRPr b="1" sz="2400">
              <a:solidFill>
                <a:srgbClr val="000000"/>
              </a:solidFill>
            </a:endParaRPr>
          </a:p>
          <a:p>
            <a:pPr indent="-274320" lvl="0" marL="274320" rtl="0" algn="l">
              <a:spcBef>
                <a:spcPts val="600"/>
              </a:spcBef>
              <a:spcAft>
                <a:spcPts val="0"/>
              </a:spcAft>
              <a:buSzPts val="1680"/>
              <a:buFont typeface="Noto Sans Symbols"/>
              <a:buNone/>
            </a:pPr>
            <a:r>
              <a:rPr b="1" lang="en-US" sz="2400">
                <a:solidFill>
                  <a:srgbClr val="000000"/>
                </a:solidFill>
              </a:rPr>
              <a:t>Example: </a:t>
            </a:r>
            <a:endParaRPr sz="2400">
              <a:solidFill>
                <a:srgbClr val="000000"/>
              </a:solidFill>
            </a:endParaRPr>
          </a:p>
          <a:p>
            <a:pPr indent="-274320" lvl="0" marL="274320" rtl="0" algn="l">
              <a:spcBef>
                <a:spcPts val="600"/>
              </a:spcBef>
              <a:spcAft>
                <a:spcPts val="0"/>
              </a:spcAft>
              <a:buSzPts val="1680"/>
              <a:buNone/>
            </a:pPr>
            <a:r>
              <a:rPr lang="en-US" sz="2400">
                <a:solidFill>
                  <a:srgbClr val="000000"/>
                </a:solidFill>
              </a:rPr>
              <a:t>		EMPLOYEE.DNO, DEPARTMENT.DNUMBER</a:t>
            </a:r>
            <a:endParaRPr b="1">
              <a:solidFill>
                <a:srgbClr val="000000"/>
              </a:solidFill>
            </a:endParaRPr>
          </a:p>
        </p:txBody>
      </p:sp>
      <p:sp>
        <p:nvSpPr>
          <p:cNvPr id="336" name="Google Shape;336;p2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ALIASES</a:t>
            </a:r>
            <a:endParaRPr b="1">
              <a:solidFill>
                <a:srgbClr val="000000"/>
              </a:solidFill>
            </a:endParaRPr>
          </a:p>
        </p:txBody>
      </p:sp>
      <p:sp>
        <p:nvSpPr>
          <p:cNvPr id="344" name="Google Shape;344;p24"/>
          <p:cNvSpPr txBox="1"/>
          <p:nvPr>
            <p:ph idx="1" type="body"/>
          </p:nvPr>
        </p:nvSpPr>
        <p:spPr>
          <a:xfrm>
            <a:off x="685800" y="1641475"/>
            <a:ext cx="8037513" cy="4802188"/>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400"/>
              <a:buChar char="🞆"/>
            </a:pPr>
            <a:r>
              <a:rPr lang="en-US" sz="2000">
                <a:solidFill>
                  <a:srgbClr val="000000"/>
                </a:solidFill>
              </a:rPr>
              <a:t>For each employee, retrieve the employee's name, and the name of his or her immediate supervisor.</a:t>
            </a:r>
            <a:endParaRPr/>
          </a:p>
          <a:p>
            <a:pPr indent="-274320" lvl="1" marL="640080" rtl="0" algn="l">
              <a:lnSpc>
                <a:spcPct val="90000"/>
              </a:lnSpc>
              <a:spcBef>
                <a:spcPts val="400"/>
              </a:spcBef>
              <a:spcAft>
                <a:spcPts val="0"/>
              </a:spcAft>
              <a:buSzPts val="1360"/>
              <a:buChar char="⚫"/>
            </a:pPr>
            <a:r>
              <a:rPr b="1" lang="en-US" sz="1700">
                <a:solidFill>
                  <a:srgbClr val="000000"/>
                </a:solidFill>
              </a:rPr>
              <a:t>	</a:t>
            </a:r>
            <a:r>
              <a:rPr b="1" lang="en-US" sz="2000">
                <a:solidFill>
                  <a:srgbClr val="000000"/>
                </a:solidFill>
              </a:rPr>
              <a:t>SELECT	E.FNAME, E.LNAME, S.FNAME, S.LNAME</a:t>
            </a:r>
            <a:br>
              <a:rPr b="1" lang="en-US" sz="2000">
                <a:solidFill>
                  <a:srgbClr val="000000"/>
                </a:solidFill>
              </a:rPr>
            </a:br>
            <a:r>
              <a:rPr b="1" lang="en-US" sz="2000">
                <a:solidFill>
                  <a:srgbClr val="000000"/>
                </a:solidFill>
              </a:rPr>
              <a:t>	FROM 	EMPLOYEE E S</a:t>
            </a:r>
            <a:br>
              <a:rPr b="1" lang="en-US" sz="2000">
                <a:solidFill>
                  <a:srgbClr val="000000"/>
                </a:solidFill>
              </a:rPr>
            </a:br>
            <a:r>
              <a:rPr b="1" lang="en-US" sz="2000">
                <a:solidFill>
                  <a:srgbClr val="000000"/>
                </a:solidFill>
              </a:rPr>
              <a:t>	WHERE	E.SUPERSSN=S.SSN</a:t>
            </a:r>
            <a:br>
              <a:rPr b="1" lang="en-US" sz="2000">
                <a:solidFill>
                  <a:srgbClr val="000000"/>
                </a:solidFill>
              </a:rPr>
            </a:br>
            <a:endParaRPr b="1" sz="2000">
              <a:solidFill>
                <a:srgbClr val="000000"/>
              </a:solidFill>
            </a:endParaRPr>
          </a:p>
          <a:p>
            <a:pPr indent="-274320" lvl="0" marL="274320" rtl="0" algn="l">
              <a:lnSpc>
                <a:spcPct val="90000"/>
              </a:lnSpc>
              <a:spcBef>
                <a:spcPts val="600"/>
              </a:spcBef>
              <a:spcAft>
                <a:spcPts val="0"/>
              </a:spcAft>
              <a:buSzPts val="1400"/>
              <a:buChar char="🞆"/>
            </a:pPr>
            <a:r>
              <a:rPr lang="en-US" sz="2000">
                <a:solidFill>
                  <a:srgbClr val="000000"/>
                </a:solidFill>
              </a:rPr>
              <a:t>Can also use the AS keyword to specify aliases</a:t>
            </a:r>
            <a:endParaRPr/>
          </a:p>
          <a:p>
            <a:pPr indent="-274320" lvl="1" marL="640080" rtl="0" algn="l">
              <a:lnSpc>
                <a:spcPct val="90000"/>
              </a:lnSpc>
              <a:spcBef>
                <a:spcPts val="400"/>
              </a:spcBef>
              <a:spcAft>
                <a:spcPts val="0"/>
              </a:spcAft>
              <a:buSzPts val="1360"/>
              <a:buChar char="⚫"/>
            </a:pPr>
            <a:r>
              <a:rPr b="1" lang="en-US" sz="1700">
                <a:solidFill>
                  <a:srgbClr val="000000"/>
                </a:solidFill>
              </a:rPr>
              <a:t>	</a:t>
            </a:r>
            <a:r>
              <a:rPr b="1" lang="en-US" sz="2000">
                <a:solidFill>
                  <a:srgbClr val="000000"/>
                </a:solidFill>
              </a:rPr>
              <a:t>SELECT	E.FNAME, E.LNAME, S.FNAME, S.LNAME</a:t>
            </a:r>
            <a:br>
              <a:rPr b="1" lang="en-US" sz="2000">
                <a:solidFill>
                  <a:srgbClr val="000000"/>
                </a:solidFill>
              </a:rPr>
            </a:br>
            <a:r>
              <a:rPr b="1" lang="en-US" sz="2000">
                <a:solidFill>
                  <a:srgbClr val="000000"/>
                </a:solidFill>
              </a:rPr>
              <a:t>	FROM 	EMPLOYEE AS E, EMPLOYEE AS S</a:t>
            </a:r>
            <a:br>
              <a:rPr b="1" lang="en-US" sz="2000">
                <a:solidFill>
                  <a:srgbClr val="000000"/>
                </a:solidFill>
              </a:rPr>
            </a:br>
            <a:r>
              <a:rPr b="1" lang="en-US" sz="2000">
                <a:solidFill>
                  <a:srgbClr val="000000"/>
                </a:solidFill>
              </a:rPr>
              <a:t>	WHERE	E.SUPERSSN=S.SSN</a:t>
            </a:r>
            <a:endParaRPr sz="2000">
              <a:solidFill>
                <a:srgbClr val="000000"/>
              </a:solidFill>
            </a:endParaRPr>
          </a:p>
        </p:txBody>
      </p:sp>
      <p:sp>
        <p:nvSpPr>
          <p:cNvPr id="345" name="Google Shape;345;p2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pic>
        <p:nvPicPr>
          <p:cNvPr descr="fig05_06" id="346" name="Google Shape;346;p24"/>
          <p:cNvPicPr preferRelativeResize="0"/>
          <p:nvPr/>
        </p:nvPicPr>
        <p:blipFill rotWithShape="1">
          <a:blip r:embed="rId3">
            <a:alphaModFix/>
          </a:blip>
          <a:srcRect b="67960" l="0" r="0" t="4191"/>
          <a:stretch/>
        </p:blipFill>
        <p:spPr>
          <a:xfrm>
            <a:off x="325828" y="4693761"/>
            <a:ext cx="5863443" cy="2080577"/>
          </a:xfrm>
          <a:prstGeom prst="rect">
            <a:avLst/>
          </a:prstGeom>
          <a:noFill/>
          <a:ln>
            <a:noFill/>
          </a:ln>
        </p:spPr>
      </p:pic>
      <p:pic>
        <p:nvPicPr>
          <p:cNvPr id="347" name="Google Shape;347;p24"/>
          <p:cNvPicPr preferRelativeResize="0"/>
          <p:nvPr/>
        </p:nvPicPr>
        <p:blipFill rotWithShape="1">
          <a:blip r:embed="rId4">
            <a:alphaModFix/>
          </a:blip>
          <a:srcRect b="0" l="0" r="0" t="0"/>
          <a:stretch/>
        </p:blipFill>
        <p:spPr>
          <a:xfrm>
            <a:off x="6189271" y="4693761"/>
            <a:ext cx="2628900" cy="1457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ARITHMETIC OPERATIONS</a:t>
            </a:r>
            <a:endParaRPr b="1">
              <a:solidFill>
                <a:srgbClr val="000000"/>
              </a:solidFill>
            </a:endParaRPr>
          </a:p>
        </p:txBody>
      </p:sp>
      <p:sp>
        <p:nvSpPr>
          <p:cNvPr id="355" name="Google Shape;355;p25"/>
          <p:cNvSpPr txBox="1"/>
          <p:nvPr>
            <p:ph idx="1" type="body"/>
          </p:nvPr>
        </p:nvSpPr>
        <p:spPr>
          <a:xfrm>
            <a:off x="685800" y="1641475"/>
            <a:ext cx="8345488" cy="4802188"/>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sz="2400">
                <a:solidFill>
                  <a:srgbClr val="000000"/>
                </a:solidFill>
              </a:rPr>
              <a:t>Arithmetic operators '+', '-'. '*', and '/’) can be applied to numeric values in an SQL query result</a:t>
            </a:r>
            <a:endParaRPr/>
          </a:p>
          <a:p>
            <a:pPr indent="-274320" lvl="0" marL="274320" rtl="0" algn="l">
              <a:spcBef>
                <a:spcPts val="600"/>
              </a:spcBef>
              <a:spcAft>
                <a:spcPts val="0"/>
              </a:spcAft>
              <a:buSzPts val="1680"/>
              <a:buChar char="🞆"/>
            </a:pPr>
            <a:r>
              <a:rPr lang="en-US" sz="2400">
                <a:solidFill>
                  <a:srgbClr val="000000"/>
                </a:solidFill>
              </a:rPr>
              <a:t>Give all employees who work on the 'ProductX' project a 10% raise.</a:t>
            </a:r>
            <a:endParaRPr/>
          </a:p>
          <a:p>
            <a:pPr indent="-274320" lvl="1" marL="640080" rtl="0" algn="l">
              <a:spcBef>
                <a:spcPts val="400"/>
              </a:spcBef>
              <a:spcAft>
                <a:spcPts val="0"/>
              </a:spcAft>
              <a:buSzPts val="1360"/>
              <a:buChar char="⚫"/>
            </a:pPr>
            <a:r>
              <a:rPr b="1" lang="en-US" sz="1700">
                <a:solidFill>
                  <a:srgbClr val="000000"/>
                </a:solidFill>
              </a:rPr>
              <a:t>	</a:t>
            </a:r>
            <a:r>
              <a:rPr b="1" lang="en-US" sz="2000">
                <a:solidFill>
                  <a:srgbClr val="000000"/>
                </a:solidFill>
              </a:rPr>
              <a:t>SELECT 	FNAME, LNAME, 1.1*SALARY</a:t>
            </a:r>
            <a:br>
              <a:rPr b="1" lang="en-US" sz="2000">
                <a:solidFill>
                  <a:srgbClr val="000000"/>
                </a:solidFill>
              </a:rPr>
            </a:br>
            <a:r>
              <a:rPr b="1" lang="en-US" sz="2000">
                <a:solidFill>
                  <a:srgbClr val="000000"/>
                </a:solidFill>
              </a:rPr>
              <a:t>	FROM	EMPLOYEE, WORKS_ON, PROJECT</a:t>
            </a:r>
            <a:br>
              <a:rPr b="1" lang="en-US" sz="2000">
                <a:solidFill>
                  <a:srgbClr val="000000"/>
                </a:solidFill>
              </a:rPr>
            </a:br>
            <a:r>
              <a:rPr b="1" lang="en-US" sz="2000">
                <a:solidFill>
                  <a:srgbClr val="000000"/>
                </a:solidFill>
              </a:rPr>
              <a:t>	WHERE	SSN=ESSN AND PNO=PNUMBER AND				PNAME='ProductX’</a:t>
            </a:r>
            <a:endParaRPr b="1" sz="2800">
              <a:solidFill>
                <a:srgbClr val="000000"/>
              </a:solidFill>
            </a:endParaRPr>
          </a:p>
        </p:txBody>
      </p:sp>
      <p:sp>
        <p:nvSpPr>
          <p:cNvPr id="356" name="Google Shape;356;p2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pic>
        <p:nvPicPr>
          <p:cNvPr descr="31755_FIG0705.gif                                              0001035BEeyore                         B91DCF3B:" id="357" name="Google Shape;357;p25"/>
          <p:cNvPicPr preferRelativeResize="0"/>
          <p:nvPr/>
        </p:nvPicPr>
        <p:blipFill rotWithShape="1">
          <a:blip r:embed="rId3">
            <a:alphaModFix/>
          </a:blip>
          <a:srcRect b="85943" l="0" r="0" t="0"/>
          <a:stretch/>
        </p:blipFill>
        <p:spPr>
          <a:xfrm>
            <a:off x="685800" y="4606412"/>
            <a:ext cx="7575550" cy="675036"/>
          </a:xfrm>
          <a:prstGeom prst="rect">
            <a:avLst/>
          </a:prstGeom>
          <a:noFill/>
          <a:ln>
            <a:noFill/>
          </a:ln>
        </p:spPr>
      </p:pic>
      <p:pic>
        <p:nvPicPr>
          <p:cNvPr descr="31755_FIG0705.gif                                              0001035BEeyore                         B91DCF3B:" id="358" name="Google Shape;358;p25"/>
          <p:cNvPicPr preferRelativeResize="0"/>
          <p:nvPr/>
        </p:nvPicPr>
        <p:blipFill rotWithShape="1">
          <a:blip r:embed="rId3">
            <a:alphaModFix/>
          </a:blip>
          <a:srcRect b="15884" l="21017" r="23000" t="52927"/>
          <a:stretch/>
        </p:blipFill>
        <p:spPr>
          <a:xfrm>
            <a:off x="2353113" y="5242033"/>
            <a:ext cx="4240924" cy="14977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ORDER BY</a:t>
            </a:r>
            <a:endParaRPr b="1">
              <a:solidFill>
                <a:srgbClr val="000000"/>
              </a:solidFill>
            </a:endParaRPr>
          </a:p>
        </p:txBody>
      </p:sp>
      <p:sp>
        <p:nvSpPr>
          <p:cNvPr id="366" name="Google Shape;366;p26"/>
          <p:cNvSpPr txBox="1"/>
          <p:nvPr>
            <p:ph idx="1" type="body"/>
          </p:nvPr>
        </p:nvSpPr>
        <p:spPr>
          <a:xfrm>
            <a:off x="685800" y="1641475"/>
            <a:ext cx="8297863" cy="4802188"/>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680"/>
              <a:buChar char="🞆"/>
            </a:pPr>
            <a:r>
              <a:rPr lang="en-US">
                <a:solidFill>
                  <a:srgbClr val="000000"/>
                </a:solidFill>
              </a:rPr>
              <a:t>The </a:t>
            </a:r>
            <a:r>
              <a:rPr b="1" lang="en-US">
                <a:solidFill>
                  <a:srgbClr val="000000"/>
                </a:solidFill>
              </a:rPr>
              <a:t>ORDER BY</a:t>
            </a:r>
            <a:r>
              <a:rPr lang="en-US">
                <a:solidFill>
                  <a:srgbClr val="000000"/>
                </a:solidFill>
              </a:rPr>
              <a:t> clause sort the tuples in a query result</a:t>
            </a:r>
            <a:endParaRPr/>
          </a:p>
          <a:p>
            <a:pPr indent="-274320" lvl="0" marL="274320" rtl="0" algn="l">
              <a:lnSpc>
                <a:spcPct val="90000"/>
              </a:lnSpc>
              <a:spcBef>
                <a:spcPts val="600"/>
              </a:spcBef>
              <a:spcAft>
                <a:spcPts val="0"/>
              </a:spcAft>
              <a:buSzPts val="1680"/>
              <a:buNone/>
            </a:pPr>
            <a:r>
              <a:t/>
            </a:r>
            <a:endParaRPr>
              <a:solidFill>
                <a:srgbClr val="000000"/>
              </a:solidFill>
            </a:endParaRPr>
          </a:p>
          <a:p>
            <a:pPr indent="-274320" lvl="0" marL="274320" rtl="0" algn="l">
              <a:lnSpc>
                <a:spcPct val="90000"/>
              </a:lnSpc>
              <a:spcBef>
                <a:spcPts val="600"/>
              </a:spcBef>
              <a:spcAft>
                <a:spcPts val="0"/>
              </a:spcAft>
              <a:buSzPts val="1680"/>
              <a:buChar char="🞆"/>
            </a:pPr>
            <a:r>
              <a:rPr lang="en-US">
                <a:solidFill>
                  <a:srgbClr val="000000"/>
                </a:solidFill>
              </a:rPr>
              <a:t>Retrieve a list of employees and the projects each works in, ordered by the employee's department</a:t>
            </a:r>
            <a:endParaRPr/>
          </a:p>
          <a:p>
            <a:pPr indent="-274320" lvl="0" marL="274320" rtl="0" algn="l">
              <a:lnSpc>
                <a:spcPct val="90000"/>
              </a:lnSpc>
              <a:spcBef>
                <a:spcPts val="600"/>
              </a:spcBef>
              <a:spcAft>
                <a:spcPts val="0"/>
              </a:spcAft>
              <a:buSzPts val="1400"/>
              <a:buNone/>
            </a:pPr>
            <a:r>
              <a:rPr b="1" lang="en-US" sz="2000">
                <a:solidFill>
                  <a:srgbClr val="000000"/>
                </a:solidFill>
              </a:rPr>
              <a:t>		SELECT 	       DNAME, LNAME, FNAME, PNAME</a:t>
            </a:r>
            <a:br>
              <a:rPr b="1" lang="en-US" sz="2000">
                <a:solidFill>
                  <a:srgbClr val="000000"/>
                </a:solidFill>
              </a:rPr>
            </a:br>
            <a:r>
              <a:rPr b="1" lang="en-US" sz="2000">
                <a:solidFill>
                  <a:srgbClr val="000000"/>
                </a:solidFill>
              </a:rPr>
              <a:t>      	FROM 	       DEPARTMENT, EMPLOYEE, WORKS_ON, PROJECT</a:t>
            </a:r>
            <a:br>
              <a:rPr b="1" lang="en-US" sz="2000">
                <a:solidFill>
                  <a:srgbClr val="000000"/>
                </a:solidFill>
              </a:rPr>
            </a:br>
            <a:r>
              <a:rPr b="1" lang="en-US" sz="2000">
                <a:solidFill>
                  <a:srgbClr val="000000"/>
                </a:solidFill>
              </a:rPr>
              <a:t>	WHERE         DNUMBER=DNO AND SSN=ESSN AND PNO=PNUMBER</a:t>
            </a:r>
            <a:br>
              <a:rPr b="1" lang="en-US" sz="2000">
                <a:solidFill>
                  <a:srgbClr val="000000"/>
                </a:solidFill>
              </a:rPr>
            </a:br>
            <a:r>
              <a:rPr b="1" lang="en-US" sz="2000">
                <a:solidFill>
                  <a:srgbClr val="000000"/>
                </a:solidFill>
              </a:rPr>
              <a:t>	ORDER BY    DNAME</a:t>
            </a:r>
            <a:endParaRPr/>
          </a:p>
          <a:p>
            <a:pPr indent="-185420" lvl="0" marL="274320" rtl="0" algn="l">
              <a:lnSpc>
                <a:spcPct val="90000"/>
              </a:lnSpc>
              <a:spcBef>
                <a:spcPts val="600"/>
              </a:spcBef>
              <a:spcAft>
                <a:spcPts val="0"/>
              </a:spcAft>
              <a:buSzPts val="1400"/>
              <a:buNone/>
            </a:pPr>
            <a:r>
              <a:t/>
            </a:r>
            <a:endParaRPr sz="2000">
              <a:solidFill>
                <a:srgbClr val="000000"/>
              </a:solidFill>
            </a:endParaRPr>
          </a:p>
          <a:p>
            <a:pPr indent="-274320" lvl="0" marL="274320" rtl="0" algn="l">
              <a:lnSpc>
                <a:spcPct val="90000"/>
              </a:lnSpc>
              <a:spcBef>
                <a:spcPts val="600"/>
              </a:spcBef>
              <a:spcAft>
                <a:spcPts val="0"/>
              </a:spcAft>
              <a:buSzPts val="1400"/>
              <a:buChar char="🞆"/>
            </a:pPr>
            <a:r>
              <a:rPr lang="en-US" sz="2000">
                <a:solidFill>
                  <a:srgbClr val="000000"/>
                </a:solidFill>
              </a:rPr>
              <a:t>The default order is in ascending order of values</a:t>
            </a:r>
            <a:endParaRPr/>
          </a:p>
          <a:p>
            <a:pPr indent="-274320" lvl="0" marL="274320" rtl="0" algn="l">
              <a:lnSpc>
                <a:spcPct val="90000"/>
              </a:lnSpc>
              <a:spcBef>
                <a:spcPts val="600"/>
              </a:spcBef>
              <a:spcAft>
                <a:spcPts val="0"/>
              </a:spcAft>
              <a:buSzPts val="1400"/>
              <a:buChar char="🞆"/>
            </a:pPr>
            <a:r>
              <a:rPr lang="en-US" sz="2000">
                <a:solidFill>
                  <a:srgbClr val="000000"/>
                </a:solidFill>
              </a:rPr>
              <a:t>We can specify the keyword </a:t>
            </a:r>
            <a:r>
              <a:rPr b="1" lang="en-US" sz="2000">
                <a:solidFill>
                  <a:srgbClr val="000000"/>
                </a:solidFill>
              </a:rPr>
              <a:t>DESC</a:t>
            </a:r>
            <a:r>
              <a:rPr lang="en-US" sz="2000">
                <a:solidFill>
                  <a:srgbClr val="000000"/>
                </a:solidFill>
              </a:rPr>
              <a:t> if we want a descending order</a:t>
            </a:r>
            <a:endParaRPr/>
          </a:p>
          <a:p>
            <a:pPr indent="-274320" lvl="1" marL="640080" rtl="0" algn="l">
              <a:lnSpc>
                <a:spcPct val="90000"/>
              </a:lnSpc>
              <a:spcBef>
                <a:spcPts val="360"/>
              </a:spcBef>
              <a:spcAft>
                <a:spcPts val="0"/>
              </a:spcAft>
              <a:buSzPts val="1440"/>
              <a:buChar char="⚫"/>
            </a:pPr>
            <a:r>
              <a:rPr b="1" lang="en-US" sz="1800">
                <a:latin typeface="Times New Roman"/>
                <a:ea typeface="Times New Roman"/>
                <a:cs typeface="Times New Roman"/>
                <a:sym typeface="Times New Roman"/>
              </a:rPr>
              <a:t>ORDER BY </a:t>
            </a:r>
            <a:r>
              <a:rPr lang="en-US" sz="1800">
                <a:latin typeface="Times New Roman"/>
                <a:ea typeface="Times New Roman"/>
                <a:cs typeface="Times New Roman"/>
                <a:sym typeface="Times New Roman"/>
              </a:rPr>
              <a:t>Dname </a:t>
            </a:r>
            <a:r>
              <a:rPr b="1" lang="en-US" sz="1800">
                <a:latin typeface="Times New Roman"/>
                <a:ea typeface="Times New Roman"/>
                <a:cs typeface="Times New Roman"/>
                <a:sym typeface="Times New Roman"/>
              </a:rPr>
              <a:t>DESC,</a:t>
            </a:r>
            <a:r>
              <a:rPr lang="en-US" sz="1800">
                <a:latin typeface="Times New Roman"/>
                <a:ea typeface="Times New Roman"/>
                <a:cs typeface="Times New Roman"/>
                <a:sym typeface="Times New Roman"/>
              </a:rPr>
              <a:t> Lname </a:t>
            </a:r>
            <a:r>
              <a:rPr b="1" lang="en-US" sz="1800">
                <a:latin typeface="Times New Roman"/>
                <a:ea typeface="Times New Roman"/>
                <a:cs typeface="Times New Roman"/>
                <a:sym typeface="Times New Roman"/>
              </a:rPr>
              <a:t>ASC</a:t>
            </a:r>
            <a:endParaRPr sz="1700">
              <a:solidFill>
                <a:srgbClr val="000000"/>
              </a:solidFill>
            </a:endParaRPr>
          </a:p>
        </p:txBody>
      </p:sp>
      <p:sp>
        <p:nvSpPr>
          <p:cNvPr id="367" name="Google Shape;367;p2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ORDER BY</a:t>
            </a:r>
            <a:endParaRPr b="1">
              <a:solidFill>
                <a:srgbClr val="000000"/>
              </a:solidFill>
            </a:endParaRPr>
          </a:p>
        </p:txBody>
      </p:sp>
      <p:sp>
        <p:nvSpPr>
          <p:cNvPr id="375" name="Google Shape;375;p27"/>
          <p:cNvSpPr txBox="1"/>
          <p:nvPr>
            <p:ph idx="1" type="body"/>
          </p:nvPr>
        </p:nvSpPr>
        <p:spPr>
          <a:xfrm>
            <a:off x="685800" y="1641475"/>
            <a:ext cx="8297863" cy="4802188"/>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680"/>
              <a:buChar char="🞆"/>
            </a:pPr>
            <a:r>
              <a:rPr lang="en-US">
                <a:solidFill>
                  <a:srgbClr val="000000"/>
                </a:solidFill>
              </a:rPr>
              <a:t>Retrieve a list of employees and the projects each works in, ordered by the employee's department, and within each department ordered alphabetically by employee last name, then first name.</a:t>
            </a:r>
            <a:br>
              <a:rPr lang="en-US" sz="2800">
                <a:solidFill>
                  <a:srgbClr val="000000"/>
                </a:solidFill>
              </a:rPr>
            </a:br>
            <a:endParaRPr sz="2800">
              <a:solidFill>
                <a:srgbClr val="000000"/>
              </a:solidFill>
            </a:endParaRPr>
          </a:p>
          <a:p>
            <a:pPr indent="-274320" lvl="0" marL="274320" rtl="0" algn="l">
              <a:lnSpc>
                <a:spcPct val="90000"/>
              </a:lnSpc>
              <a:spcBef>
                <a:spcPts val="600"/>
              </a:spcBef>
              <a:spcAft>
                <a:spcPts val="0"/>
              </a:spcAft>
              <a:buSzPts val="1400"/>
              <a:buNone/>
            </a:pPr>
            <a:r>
              <a:rPr b="1" lang="en-US" sz="2000">
                <a:solidFill>
                  <a:srgbClr val="000000"/>
                </a:solidFill>
              </a:rPr>
              <a:t>		SELECT 	       DNAME, LNAME, FNAME, PNAME</a:t>
            </a:r>
            <a:br>
              <a:rPr b="1" lang="en-US" sz="2000">
                <a:solidFill>
                  <a:srgbClr val="000000"/>
                </a:solidFill>
              </a:rPr>
            </a:br>
            <a:r>
              <a:rPr b="1" lang="en-US" sz="2000">
                <a:solidFill>
                  <a:srgbClr val="000000"/>
                </a:solidFill>
              </a:rPr>
              <a:t>      	FROM 	       DEPARTMENT, EMPLOYEE, WORKS_ON, PROJECT</a:t>
            </a:r>
            <a:br>
              <a:rPr b="1" lang="en-US" sz="2000">
                <a:solidFill>
                  <a:srgbClr val="000000"/>
                </a:solidFill>
              </a:rPr>
            </a:br>
            <a:r>
              <a:rPr b="1" lang="en-US" sz="2000">
                <a:solidFill>
                  <a:srgbClr val="000000"/>
                </a:solidFill>
              </a:rPr>
              <a:t>	WHERE         DNUMBER=DNO AND SSN=ESSN AND PNO=PNUMBER</a:t>
            </a:r>
            <a:br>
              <a:rPr b="1" lang="en-US" sz="2000">
                <a:solidFill>
                  <a:srgbClr val="000000"/>
                </a:solidFill>
              </a:rPr>
            </a:br>
            <a:r>
              <a:rPr b="1" lang="en-US" sz="2000">
                <a:solidFill>
                  <a:srgbClr val="000000"/>
                </a:solidFill>
              </a:rPr>
              <a:t>	ORDER BY    DNAME, LNAME,FNAME</a:t>
            </a:r>
            <a:endParaRPr/>
          </a:p>
          <a:p>
            <a:pPr indent="-185420" lvl="0" marL="274320" rtl="0" algn="l">
              <a:lnSpc>
                <a:spcPct val="90000"/>
              </a:lnSpc>
              <a:spcBef>
                <a:spcPts val="600"/>
              </a:spcBef>
              <a:spcAft>
                <a:spcPts val="0"/>
              </a:spcAft>
              <a:buSzPts val="1400"/>
              <a:buNone/>
            </a:pPr>
            <a:r>
              <a:t/>
            </a:r>
            <a:endParaRPr sz="2000">
              <a:solidFill>
                <a:srgbClr val="000000"/>
              </a:solidFill>
            </a:endParaRPr>
          </a:p>
        </p:txBody>
      </p:sp>
      <p:sp>
        <p:nvSpPr>
          <p:cNvPr id="376" name="Google Shape;376;p2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b="1" lang="en-US"/>
              <a:t>NULLS IN SQL QUERIES</a:t>
            </a:r>
            <a:endParaRPr b="1">
              <a:solidFill>
                <a:srgbClr val="000000"/>
              </a:solidFill>
            </a:endParaRPr>
          </a:p>
        </p:txBody>
      </p:sp>
      <p:sp>
        <p:nvSpPr>
          <p:cNvPr id="384" name="Google Shape;384;p28"/>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sz="2400">
                <a:solidFill>
                  <a:srgbClr val="000000"/>
                </a:solidFill>
              </a:rPr>
              <a:t>SQL allows queries that check if a value is NULL</a:t>
            </a:r>
            <a:endParaRPr sz="2400">
              <a:solidFill>
                <a:srgbClr val="000000"/>
              </a:solidFill>
            </a:endParaRPr>
          </a:p>
          <a:p>
            <a:pPr indent="-274320" lvl="0" marL="274320" rtl="0" algn="l">
              <a:spcBef>
                <a:spcPts val="600"/>
              </a:spcBef>
              <a:spcAft>
                <a:spcPts val="0"/>
              </a:spcAft>
              <a:buSzPts val="1680"/>
              <a:buChar char="🞆"/>
            </a:pPr>
            <a:r>
              <a:rPr lang="en-US" sz="2400">
                <a:solidFill>
                  <a:srgbClr val="000000"/>
                </a:solidFill>
              </a:rPr>
              <a:t>SQL uses </a:t>
            </a:r>
            <a:r>
              <a:rPr b="1" lang="en-US" sz="2400">
                <a:solidFill>
                  <a:srgbClr val="000000"/>
                </a:solidFill>
              </a:rPr>
              <a:t>IS</a:t>
            </a:r>
            <a:r>
              <a:rPr lang="en-US" sz="2400">
                <a:solidFill>
                  <a:srgbClr val="000000"/>
                </a:solidFill>
              </a:rPr>
              <a:t> or </a:t>
            </a:r>
            <a:r>
              <a:rPr b="1" lang="en-US" sz="2400">
                <a:solidFill>
                  <a:srgbClr val="000000"/>
                </a:solidFill>
              </a:rPr>
              <a:t>IS NOT</a:t>
            </a:r>
            <a:r>
              <a:rPr lang="en-US" sz="2400">
                <a:solidFill>
                  <a:srgbClr val="000000"/>
                </a:solidFill>
              </a:rPr>
              <a:t> to compare NULLs </a:t>
            </a:r>
            <a:endParaRPr sz="2400">
              <a:solidFill>
                <a:srgbClr val="000000"/>
              </a:solidFill>
            </a:endParaRPr>
          </a:p>
          <a:p>
            <a:pPr indent="-274320" lvl="0" marL="274320" rtl="0" algn="l">
              <a:spcBef>
                <a:spcPts val="600"/>
              </a:spcBef>
              <a:spcAft>
                <a:spcPts val="0"/>
              </a:spcAft>
              <a:buSzPts val="1680"/>
              <a:buChar char="🞆"/>
            </a:pPr>
            <a:r>
              <a:rPr lang="en-US" sz="2400">
                <a:solidFill>
                  <a:srgbClr val="000000"/>
                </a:solidFill>
              </a:rPr>
              <a:t>Retrieve the names of all employees who do not have supervisors.</a:t>
            </a:r>
            <a:endParaRPr/>
          </a:p>
          <a:p>
            <a:pPr indent="-274320" lvl="0" marL="274320" rtl="0" algn="l">
              <a:spcBef>
                <a:spcPts val="600"/>
              </a:spcBef>
              <a:spcAft>
                <a:spcPts val="0"/>
              </a:spcAft>
              <a:buSzPts val="1680"/>
              <a:buChar char="🞆"/>
            </a:pPr>
            <a:r>
              <a:rPr b="1" lang="en-US" sz="2400">
                <a:solidFill>
                  <a:srgbClr val="000000"/>
                </a:solidFill>
              </a:rPr>
              <a:t>		SELECT  	FNAME, LNAME</a:t>
            </a:r>
            <a:br>
              <a:rPr b="1" lang="en-US" sz="2400">
                <a:solidFill>
                  <a:srgbClr val="000000"/>
                </a:solidFill>
              </a:rPr>
            </a:br>
            <a:r>
              <a:rPr b="1" lang="en-US" sz="2400">
                <a:solidFill>
                  <a:srgbClr val="000000"/>
                </a:solidFill>
              </a:rPr>
              <a:t>		FROM		EMPLOYEE</a:t>
            </a:r>
            <a:br>
              <a:rPr b="1" lang="en-US" sz="2400">
                <a:solidFill>
                  <a:srgbClr val="000000"/>
                </a:solidFill>
              </a:rPr>
            </a:br>
            <a:r>
              <a:rPr b="1" lang="en-US" sz="2400">
                <a:solidFill>
                  <a:srgbClr val="000000"/>
                </a:solidFill>
              </a:rPr>
              <a:t>		WHERE	SUPERSSN  IS  NULL</a:t>
            </a:r>
            <a:br>
              <a:rPr lang="en-US" sz="2400" u="sng">
                <a:solidFill>
                  <a:srgbClr val="000000"/>
                </a:solidFill>
              </a:rPr>
            </a:br>
            <a:endParaRPr sz="2400" u="sng">
              <a:solidFill>
                <a:srgbClr val="000000"/>
              </a:solidFill>
            </a:endParaRPr>
          </a:p>
          <a:p>
            <a:pPr indent="-274320" lvl="0" marL="274320" rtl="0" algn="l">
              <a:spcBef>
                <a:spcPts val="600"/>
              </a:spcBef>
              <a:spcAft>
                <a:spcPts val="0"/>
              </a:spcAft>
              <a:buSzPts val="1400"/>
              <a:buChar char="🞆"/>
            </a:pPr>
            <a:r>
              <a:rPr lang="en-US" sz="2000" u="sng">
                <a:solidFill>
                  <a:srgbClr val="000000"/>
                </a:solidFill>
              </a:rPr>
              <a:t>Note:</a:t>
            </a:r>
            <a:r>
              <a:rPr lang="en-US" sz="2000">
                <a:solidFill>
                  <a:srgbClr val="000000"/>
                </a:solidFill>
              </a:rPr>
              <a:t> If a join condition is specified, tuples with NULL values for the join attributes are not included in the result</a:t>
            </a:r>
            <a:endParaRPr sz="2400">
              <a:solidFill>
                <a:srgbClr val="000000"/>
              </a:solidFill>
            </a:endParaRPr>
          </a:p>
        </p:txBody>
      </p:sp>
      <p:sp>
        <p:nvSpPr>
          <p:cNvPr id="385" name="Google Shape;385;p2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9"/>
          <p:cNvSpPr txBox="1"/>
          <p:nvPr>
            <p:ph type="title"/>
          </p:nvPr>
        </p:nvSpPr>
        <p:spPr>
          <a:xfrm>
            <a:off x="568325" y="269875"/>
            <a:ext cx="8237538"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600"/>
              <a:buFont typeface="Calibri"/>
              <a:buNone/>
            </a:pPr>
            <a:r>
              <a:rPr b="1" lang="en-US" sz="3600"/>
              <a:t>Joined Relations in SQL</a:t>
            </a:r>
            <a:endParaRPr b="1" sz="3600">
              <a:solidFill>
                <a:srgbClr val="000000"/>
              </a:solidFill>
            </a:endParaRPr>
          </a:p>
        </p:txBody>
      </p:sp>
      <p:sp>
        <p:nvSpPr>
          <p:cNvPr id="391" name="Google Shape;391;p29"/>
          <p:cNvSpPr txBox="1"/>
          <p:nvPr>
            <p:ph idx="1" type="body"/>
          </p:nvPr>
        </p:nvSpPr>
        <p:spPr>
          <a:xfrm>
            <a:off x="685800" y="1814513"/>
            <a:ext cx="8052816" cy="4763268"/>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lnSpc>
                <a:spcPct val="90000"/>
              </a:lnSpc>
              <a:spcBef>
                <a:spcPts val="0"/>
              </a:spcBef>
              <a:spcAft>
                <a:spcPts val="0"/>
              </a:spcAft>
              <a:buSzPct val="70000"/>
              <a:buChar char="🞆"/>
            </a:pPr>
            <a:r>
              <a:rPr lang="en-US" sz="2400">
                <a:solidFill>
                  <a:srgbClr val="000000"/>
                </a:solidFill>
              </a:rPr>
              <a:t>Allows the user to specify different types of joins (r</a:t>
            </a:r>
            <a:r>
              <a:rPr lang="en-US" sz="2100">
                <a:solidFill>
                  <a:srgbClr val="000000"/>
                </a:solidFill>
              </a:rPr>
              <a:t>egular "theta" JOIN, NATURAL JOIN, LEFT OUTER JOIN, RIGHT OUTER JOIN, CROSS JOIN, etc )</a:t>
            </a:r>
            <a:endParaRPr/>
          </a:p>
          <a:p>
            <a:pPr indent="-274342" lvl="0" marL="274320" rtl="0" algn="l">
              <a:lnSpc>
                <a:spcPct val="90000"/>
              </a:lnSpc>
              <a:spcBef>
                <a:spcPts val="600"/>
              </a:spcBef>
              <a:spcAft>
                <a:spcPts val="0"/>
              </a:spcAft>
              <a:buSzPct val="70000"/>
              <a:buChar char="🞆"/>
            </a:pPr>
            <a:r>
              <a:rPr b="1" lang="en-US" sz="2700">
                <a:solidFill>
                  <a:srgbClr val="000000"/>
                </a:solidFill>
              </a:rPr>
              <a:t>Example:</a:t>
            </a:r>
            <a:endParaRPr/>
          </a:p>
          <a:p>
            <a:pPr indent="-274345" lvl="1" marL="640080" rtl="0" algn="l">
              <a:lnSpc>
                <a:spcPct val="90000"/>
              </a:lnSpc>
              <a:spcBef>
                <a:spcPts val="444"/>
              </a:spcBef>
              <a:spcAft>
                <a:spcPts val="0"/>
              </a:spcAft>
              <a:buSzPct val="79999"/>
              <a:buChar char="⚫"/>
            </a:pPr>
            <a:r>
              <a:rPr b="1" lang="en-US">
                <a:solidFill>
                  <a:srgbClr val="000000"/>
                </a:solidFill>
              </a:rPr>
              <a:t>	</a:t>
            </a:r>
            <a:r>
              <a:rPr lang="en-US" sz="2400">
                <a:solidFill>
                  <a:srgbClr val="000000"/>
                </a:solidFill>
              </a:rPr>
              <a:t>SELECT	E.FNAME, E.LNAME, S.FNAME, S.LNAME</a:t>
            </a:r>
            <a:br>
              <a:rPr lang="en-US" sz="2400">
                <a:solidFill>
                  <a:srgbClr val="000000"/>
                </a:solidFill>
              </a:rPr>
            </a:br>
            <a:r>
              <a:rPr lang="en-US" sz="2400">
                <a:solidFill>
                  <a:srgbClr val="000000"/>
                </a:solidFill>
              </a:rPr>
              <a:t>	FROM 	EMPLOYEE AS E , EMPLOYEE AS S</a:t>
            </a:r>
            <a:br>
              <a:rPr lang="en-US" sz="2400">
                <a:solidFill>
                  <a:srgbClr val="000000"/>
                </a:solidFill>
              </a:rPr>
            </a:br>
            <a:r>
              <a:rPr lang="en-US" sz="2400">
                <a:solidFill>
                  <a:srgbClr val="000000"/>
                </a:solidFill>
              </a:rPr>
              <a:t>	WHERE	E.SUPERSSN=S.SSN</a:t>
            </a:r>
            <a:endParaRPr/>
          </a:p>
          <a:p>
            <a:pPr indent="-175666" lvl="1" marL="640080" rtl="0" algn="l">
              <a:lnSpc>
                <a:spcPct val="90000"/>
              </a:lnSpc>
              <a:spcBef>
                <a:spcPts val="388"/>
              </a:spcBef>
              <a:spcAft>
                <a:spcPts val="0"/>
              </a:spcAft>
              <a:buSzPct val="79999"/>
              <a:buNone/>
            </a:pPr>
            <a:r>
              <a:t/>
            </a:r>
            <a:endParaRPr>
              <a:solidFill>
                <a:srgbClr val="000000"/>
              </a:solidFill>
            </a:endParaRPr>
          </a:p>
          <a:p>
            <a:pPr indent="-274320" lvl="1" marL="640080" rtl="0" algn="l">
              <a:lnSpc>
                <a:spcPct val="90000"/>
              </a:lnSpc>
              <a:spcBef>
                <a:spcPts val="444"/>
              </a:spcBef>
              <a:spcAft>
                <a:spcPts val="0"/>
              </a:spcAft>
              <a:buSzPct val="80000"/>
              <a:buChar char="⚫"/>
            </a:pPr>
            <a:r>
              <a:rPr lang="en-US" sz="2400">
                <a:solidFill>
                  <a:srgbClr val="000000"/>
                </a:solidFill>
              </a:rPr>
              <a:t>    SELECT	E.FNAME, E.LNAME, S.FNAME, S.LNAME</a:t>
            </a:r>
            <a:br>
              <a:rPr lang="en-US" sz="2400">
                <a:solidFill>
                  <a:srgbClr val="000000"/>
                </a:solidFill>
              </a:rPr>
            </a:br>
            <a:r>
              <a:rPr lang="en-US" sz="2400">
                <a:solidFill>
                  <a:srgbClr val="000000"/>
                </a:solidFill>
              </a:rPr>
              <a:t>	FROM 	(EMPLOYEE  E </a:t>
            </a:r>
            <a:r>
              <a:rPr b="1" lang="en-US" sz="2400">
                <a:solidFill>
                  <a:srgbClr val="000000"/>
                </a:solidFill>
              </a:rPr>
              <a:t> JOIN </a:t>
            </a:r>
            <a:r>
              <a:rPr lang="en-US" sz="2400">
                <a:solidFill>
                  <a:srgbClr val="000000"/>
                </a:solidFill>
              </a:rPr>
              <a:t>EMPLOYEE  S</a:t>
            </a:r>
            <a:br>
              <a:rPr lang="en-US" sz="2400">
                <a:solidFill>
                  <a:srgbClr val="000000"/>
                </a:solidFill>
              </a:rPr>
            </a:br>
            <a:r>
              <a:rPr lang="en-US" sz="2400">
                <a:solidFill>
                  <a:srgbClr val="000000"/>
                </a:solidFill>
              </a:rPr>
              <a:t>		</a:t>
            </a:r>
            <a:r>
              <a:rPr b="1" lang="en-US" sz="2400">
                <a:solidFill>
                  <a:srgbClr val="000000"/>
                </a:solidFill>
              </a:rPr>
              <a:t>ON</a:t>
            </a:r>
            <a:r>
              <a:rPr lang="en-US" sz="2400">
                <a:solidFill>
                  <a:srgbClr val="000000"/>
                </a:solidFill>
              </a:rPr>
              <a:t>  E.SUPERSSN=S.SSN </a:t>
            </a:r>
            <a:endParaRPr/>
          </a:p>
          <a:p>
            <a:pPr indent="-161544" lvl="1" marL="640080" rtl="0" algn="l">
              <a:lnSpc>
                <a:spcPct val="90000"/>
              </a:lnSpc>
              <a:spcBef>
                <a:spcPts val="444"/>
              </a:spcBef>
              <a:spcAft>
                <a:spcPts val="0"/>
              </a:spcAft>
              <a:buSzPct val="80000"/>
              <a:buNone/>
            </a:pPr>
            <a:r>
              <a:t/>
            </a:r>
            <a:endParaRPr b="1" sz="2400">
              <a:solidFill>
                <a:srgbClr val="000000"/>
              </a:solidFill>
            </a:endParaRPr>
          </a:p>
          <a:p>
            <a:pPr indent="-274320" lvl="1" marL="640080" rtl="0" algn="l">
              <a:lnSpc>
                <a:spcPct val="90000"/>
              </a:lnSpc>
              <a:spcBef>
                <a:spcPts val="444"/>
              </a:spcBef>
              <a:spcAft>
                <a:spcPts val="0"/>
              </a:spcAft>
              <a:buSzPct val="80000"/>
              <a:buChar char="⚫"/>
            </a:pPr>
            <a:r>
              <a:rPr b="1" lang="en-US" sz="2400">
                <a:solidFill>
                  <a:srgbClr val="000000"/>
                </a:solidFill>
              </a:rPr>
              <a:t>	</a:t>
            </a:r>
            <a:r>
              <a:rPr lang="en-US" sz="2400">
                <a:solidFill>
                  <a:srgbClr val="000000"/>
                </a:solidFill>
              </a:rPr>
              <a:t>SELECT	E.FNAME, E.LNAME, S.FNAME, S.LNAME</a:t>
            </a:r>
            <a:br>
              <a:rPr lang="en-US" sz="2400">
                <a:solidFill>
                  <a:srgbClr val="000000"/>
                </a:solidFill>
              </a:rPr>
            </a:br>
            <a:r>
              <a:rPr lang="en-US" sz="2400">
                <a:solidFill>
                  <a:srgbClr val="000000"/>
                </a:solidFill>
              </a:rPr>
              <a:t>	FROM 	(EMPLOYEE  E </a:t>
            </a:r>
            <a:r>
              <a:rPr b="1" lang="en-US" sz="2400">
                <a:solidFill>
                  <a:srgbClr val="000000"/>
                </a:solidFill>
              </a:rPr>
              <a:t>LEFT OUTER JOIN </a:t>
            </a:r>
            <a:r>
              <a:rPr lang="en-US" sz="2400">
                <a:solidFill>
                  <a:srgbClr val="000000"/>
                </a:solidFill>
              </a:rPr>
              <a:t>EMPLOYEE  S</a:t>
            </a:r>
            <a:br>
              <a:rPr lang="en-US" sz="2400">
                <a:solidFill>
                  <a:srgbClr val="000000"/>
                </a:solidFill>
              </a:rPr>
            </a:br>
            <a:r>
              <a:rPr lang="en-US" sz="2400">
                <a:solidFill>
                  <a:srgbClr val="000000"/>
                </a:solidFill>
              </a:rPr>
              <a:t>		</a:t>
            </a:r>
            <a:r>
              <a:rPr b="1" lang="en-US" sz="2400">
                <a:solidFill>
                  <a:srgbClr val="000000"/>
                </a:solidFill>
              </a:rPr>
              <a:t>ON</a:t>
            </a:r>
            <a:r>
              <a:rPr lang="en-US" sz="2400">
                <a:solidFill>
                  <a:srgbClr val="000000"/>
                </a:solidFill>
              </a:rPr>
              <a:t>  E.SUPERSSN=S.SSN) </a:t>
            </a:r>
            <a:br>
              <a:rPr lang="en-US" sz="2400">
                <a:solidFill>
                  <a:srgbClr val="000000"/>
                </a:solidFill>
              </a:rPr>
            </a:br>
            <a:endParaRPr sz="2400">
              <a:solidFill>
                <a:srgbClr val="000000"/>
              </a:solidFill>
            </a:endParaRPr>
          </a:p>
        </p:txBody>
      </p:sp>
      <p:sp>
        <p:nvSpPr>
          <p:cNvPr id="392" name="Google Shape;392;p2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0"/>
          <p:cNvSpPr txBox="1"/>
          <p:nvPr>
            <p:ph type="title"/>
          </p:nvPr>
        </p:nvSpPr>
        <p:spPr>
          <a:xfrm>
            <a:off x="568325" y="269875"/>
            <a:ext cx="8237538"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Calibri"/>
              <a:buNone/>
            </a:pPr>
            <a:r>
              <a:rPr b="1" lang="en-US" sz="3200"/>
              <a:t>Joined Relations Feature in SQL</a:t>
            </a:r>
            <a:endParaRPr/>
          </a:p>
        </p:txBody>
      </p:sp>
      <p:sp>
        <p:nvSpPr>
          <p:cNvPr id="398" name="Google Shape;398;p30"/>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lnSpcReduction="10000"/>
          </a:bodyPr>
          <a:lstStyle/>
          <a:p>
            <a:pPr indent="-185420" lvl="0" marL="274320" rtl="0" algn="l">
              <a:lnSpc>
                <a:spcPct val="90000"/>
              </a:lnSpc>
              <a:spcBef>
                <a:spcPts val="0"/>
              </a:spcBef>
              <a:spcAft>
                <a:spcPts val="0"/>
              </a:spcAft>
              <a:buSzPts val="1400"/>
              <a:buNone/>
            </a:pPr>
            <a:r>
              <a:t/>
            </a:r>
            <a:endParaRPr sz="2000">
              <a:solidFill>
                <a:srgbClr val="000000"/>
              </a:solidFill>
            </a:endParaRPr>
          </a:p>
          <a:p>
            <a:pPr indent="-274320" lvl="0" marL="274320" rtl="0" algn="l">
              <a:lnSpc>
                <a:spcPct val="90000"/>
              </a:lnSpc>
              <a:spcBef>
                <a:spcPts val="600"/>
              </a:spcBef>
              <a:spcAft>
                <a:spcPts val="0"/>
              </a:spcAft>
              <a:buSzPts val="1400"/>
              <a:buNone/>
            </a:pPr>
            <a:r>
              <a:rPr b="1" lang="en-US" sz="2000">
                <a:solidFill>
                  <a:srgbClr val="000000"/>
                </a:solidFill>
              </a:rPr>
              <a:t>		SELECT	FNAME, LNAME, ADDRESS</a:t>
            </a:r>
            <a:br>
              <a:rPr b="1" lang="en-US" sz="2000">
                <a:solidFill>
                  <a:srgbClr val="000000"/>
                </a:solidFill>
              </a:rPr>
            </a:br>
            <a:r>
              <a:rPr b="1" lang="en-US" sz="2000">
                <a:solidFill>
                  <a:srgbClr val="000000"/>
                </a:solidFill>
              </a:rPr>
              <a:t>	FROM 	EMPLOYEE, DEPARTMENT</a:t>
            </a:r>
            <a:br>
              <a:rPr b="1" lang="en-US" sz="2000">
                <a:solidFill>
                  <a:srgbClr val="000000"/>
                </a:solidFill>
              </a:rPr>
            </a:br>
            <a:r>
              <a:rPr b="1" lang="en-US" sz="2000">
                <a:solidFill>
                  <a:srgbClr val="000000"/>
                </a:solidFill>
              </a:rPr>
              <a:t>	WHERE	DNAME='Research' AND DNUMBER=DNO </a:t>
            </a:r>
            <a:endParaRPr/>
          </a:p>
          <a:p>
            <a:pPr indent="-274320" lvl="0" marL="274320" rtl="0" algn="l">
              <a:lnSpc>
                <a:spcPct val="90000"/>
              </a:lnSpc>
              <a:spcBef>
                <a:spcPts val="600"/>
              </a:spcBef>
              <a:spcAft>
                <a:spcPts val="0"/>
              </a:spcAft>
              <a:buSzPts val="1400"/>
              <a:buNone/>
            </a:pPr>
            <a:r>
              <a:rPr lang="en-US" sz="2000">
                <a:solidFill>
                  <a:srgbClr val="000000"/>
                </a:solidFill>
              </a:rPr>
              <a:t>could be written as:</a:t>
            </a:r>
            <a:br>
              <a:rPr lang="en-US" sz="2000">
                <a:solidFill>
                  <a:srgbClr val="000000"/>
                </a:solidFill>
              </a:rPr>
            </a:br>
            <a:br>
              <a:rPr lang="en-US" sz="2000">
                <a:solidFill>
                  <a:srgbClr val="000000"/>
                </a:solidFill>
              </a:rPr>
            </a:br>
            <a:r>
              <a:rPr b="1" lang="en-US" sz="2000">
                <a:solidFill>
                  <a:srgbClr val="000000"/>
                </a:solidFill>
              </a:rPr>
              <a:t>	</a:t>
            </a:r>
            <a:r>
              <a:rPr lang="en-US" sz="2000">
                <a:solidFill>
                  <a:srgbClr val="000000"/>
                </a:solidFill>
              </a:rPr>
              <a:t>SELECT	FNAME, LNAME, ADDRESS</a:t>
            </a:r>
            <a:br>
              <a:rPr lang="en-US" sz="2000">
                <a:solidFill>
                  <a:srgbClr val="000000"/>
                </a:solidFill>
              </a:rPr>
            </a:br>
            <a:r>
              <a:rPr lang="en-US" sz="2000">
                <a:solidFill>
                  <a:srgbClr val="000000"/>
                </a:solidFill>
              </a:rPr>
              <a:t>	FROM 	(EMPLOYEE </a:t>
            </a:r>
            <a:r>
              <a:rPr b="1" lang="en-US" sz="2000">
                <a:solidFill>
                  <a:srgbClr val="000000"/>
                </a:solidFill>
              </a:rPr>
              <a:t>JOIN</a:t>
            </a:r>
            <a:r>
              <a:rPr lang="en-US" sz="2000">
                <a:solidFill>
                  <a:srgbClr val="000000"/>
                </a:solidFill>
              </a:rPr>
              <a:t> DEPARTMENT</a:t>
            </a:r>
            <a:br>
              <a:rPr lang="en-US" sz="2000">
                <a:solidFill>
                  <a:srgbClr val="000000"/>
                </a:solidFill>
              </a:rPr>
            </a:br>
            <a:r>
              <a:rPr lang="en-US" sz="2000">
                <a:solidFill>
                  <a:srgbClr val="000000"/>
                </a:solidFill>
              </a:rPr>
              <a:t>		 </a:t>
            </a:r>
            <a:r>
              <a:rPr b="1" lang="en-US" sz="2000">
                <a:solidFill>
                  <a:srgbClr val="000000"/>
                </a:solidFill>
              </a:rPr>
              <a:t>ON</a:t>
            </a:r>
            <a:r>
              <a:rPr lang="en-US" sz="2000">
                <a:solidFill>
                  <a:srgbClr val="000000"/>
                </a:solidFill>
              </a:rPr>
              <a:t> DNUMBER=DNO)</a:t>
            </a:r>
            <a:br>
              <a:rPr lang="en-US" sz="2000">
                <a:solidFill>
                  <a:srgbClr val="000000"/>
                </a:solidFill>
              </a:rPr>
            </a:br>
            <a:r>
              <a:rPr lang="en-US" sz="2000">
                <a:solidFill>
                  <a:srgbClr val="000000"/>
                </a:solidFill>
              </a:rPr>
              <a:t>	WHERE	DNAME='Research’</a:t>
            </a:r>
            <a:br>
              <a:rPr lang="en-US" sz="2000">
                <a:solidFill>
                  <a:srgbClr val="000000"/>
                </a:solidFill>
              </a:rPr>
            </a:br>
            <a:br>
              <a:rPr b="1" lang="en-US" sz="2000">
                <a:solidFill>
                  <a:srgbClr val="000000"/>
                </a:solidFill>
              </a:rPr>
            </a:br>
            <a:r>
              <a:rPr lang="en-US" sz="2000">
                <a:solidFill>
                  <a:srgbClr val="000000"/>
                </a:solidFill>
              </a:rPr>
              <a:t>or as:</a:t>
            </a:r>
            <a:br>
              <a:rPr lang="en-US" sz="2000">
                <a:solidFill>
                  <a:srgbClr val="000000"/>
                </a:solidFill>
              </a:rPr>
            </a:br>
            <a:br>
              <a:rPr lang="en-US" sz="2000">
                <a:solidFill>
                  <a:srgbClr val="000000"/>
                </a:solidFill>
              </a:rPr>
            </a:br>
            <a:r>
              <a:rPr b="1" lang="en-US" sz="2000">
                <a:solidFill>
                  <a:srgbClr val="000000"/>
                </a:solidFill>
              </a:rPr>
              <a:t>	</a:t>
            </a:r>
            <a:r>
              <a:rPr lang="en-US" sz="2000">
                <a:solidFill>
                  <a:srgbClr val="000000"/>
                </a:solidFill>
              </a:rPr>
              <a:t>SELECT	FNAME, LNAME, ADDRESS</a:t>
            </a:r>
            <a:br>
              <a:rPr lang="en-US" sz="2000">
                <a:solidFill>
                  <a:srgbClr val="000000"/>
                </a:solidFill>
              </a:rPr>
            </a:br>
            <a:r>
              <a:rPr lang="en-US" sz="2000">
                <a:solidFill>
                  <a:srgbClr val="000000"/>
                </a:solidFill>
              </a:rPr>
              <a:t>	FROM 	(EMPLOYEE </a:t>
            </a:r>
            <a:r>
              <a:rPr b="1" lang="en-US" sz="2000">
                <a:solidFill>
                  <a:srgbClr val="000000"/>
                </a:solidFill>
              </a:rPr>
              <a:t>NATURAL JOIN </a:t>
            </a:r>
            <a:r>
              <a:rPr lang="en-US" sz="2000">
                <a:solidFill>
                  <a:srgbClr val="000000"/>
                </a:solidFill>
              </a:rPr>
              <a:t>DEPARTMENT</a:t>
            </a:r>
            <a:br>
              <a:rPr lang="en-US" sz="2000">
                <a:solidFill>
                  <a:srgbClr val="000000"/>
                </a:solidFill>
              </a:rPr>
            </a:br>
            <a:r>
              <a:rPr lang="en-US" sz="2000">
                <a:solidFill>
                  <a:srgbClr val="000000"/>
                </a:solidFill>
              </a:rPr>
              <a:t>		 </a:t>
            </a:r>
            <a:r>
              <a:rPr b="1" lang="en-US" sz="2000">
                <a:solidFill>
                  <a:srgbClr val="000000"/>
                </a:solidFill>
              </a:rPr>
              <a:t>AS DEPT(DNAME, DNO, MSSN, MSDATE)</a:t>
            </a:r>
            <a:br>
              <a:rPr lang="en-US" sz="2000">
                <a:solidFill>
                  <a:srgbClr val="000000"/>
                </a:solidFill>
              </a:rPr>
            </a:br>
            <a:r>
              <a:rPr lang="en-US" sz="2000">
                <a:solidFill>
                  <a:srgbClr val="000000"/>
                </a:solidFill>
              </a:rPr>
              <a:t>	WHERE	DNAME='Research’</a:t>
            </a:r>
            <a:endParaRPr sz="2400">
              <a:solidFill>
                <a:srgbClr val="000000"/>
              </a:solidFill>
            </a:endParaRPr>
          </a:p>
        </p:txBody>
      </p:sp>
      <p:sp>
        <p:nvSpPr>
          <p:cNvPr id="399" name="Google Shape;399;p3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1"/>
          <p:cNvSpPr txBox="1"/>
          <p:nvPr>
            <p:ph type="title"/>
          </p:nvPr>
        </p:nvSpPr>
        <p:spPr>
          <a:xfrm>
            <a:off x="568325" y="269875"/>
            <a:ext cx="8237538"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Calibri"/>
              <a:buNone/>
            </a:pPr>
            <a:r>
              <a:rPr b="1" lang="en-US" sz="3200"/>
              <a:t>Joined Relations Feature in SQL</a:t>
            </a:r>
            <a:endParaRPr b="1">
              <a:solidFill>
                <a:srgbClr val="000000"/>
              </a:solidFill>
            </a:endParaRPr>
          </a:p>
        </p:txBody>
      </p:sp>
      <p:sp>
        <p:nvSpPr>
          <p:cNvPr id="405" name="Google Shape;405;p31"/>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680"/>
              <a:buChar char="🞆"/>
            </a:pPr>
            <a:r>
              <a:rPr lang="en-US" sz="2400">
                <a:solidFill>
                  <a:srgbClr val="000000"/>
                </a:solidFill>
              </a:rPr>
              <a:t>Example</a:t>
            </a:r>
            <a:r>
              <a:rPr lang="en-US">
                <a:solidFill>
                  <a:srgbClr val="000000"/>
                </a:solidFill>
              </a:rPr>
              <a:t> that</a:t>
            </a:r>
            <a:r>
              <a:rPr lang="en-US" sz="2400">
                <a:solidFill>
                  <a:srgbClr val="000000"/>
                </a:solidFill>
              </a:rPr>
              <a:t> illustrates multiple joins </a:t>
            </a:r>
            <a:br>
              <a:rPr lang="en-US" sz="2400">
                <a:solidFill>
                  <a:srgbClr val="000000"/>
                </a:solidFill>
              </a:rPr>
            </a:br>
            <a:br>
              <a:rPr lang="en-US" sz="2400">
                <a:solidFill>
                  <a:srgbClr val="000000"/>
                </a:solidFill>
              </a:rPr>
            </a:br>
            <a:r>
              <a:rPr b="1" lang="en-US" sz="2400">
                <a:solidFill>
                  <a:srgbClr val="000000"/>
                </a:solidFill>
              </a:rPr>
              <a:t>	</a:t>
            </a:r>
            <a:r>
              <a:rPr lang="en-US" sz="2400">
                <a:solidFill>
                  <a:srgbClr val="000000"/>
                </a:solidFill>
              </a:rPr>
              <a:t>SELECT      PNUMBER, DNUM, LNAME, 		FROM	      (PROJECT </a:t>
            </a:r>
            <a:r>
              <a:rPr b="1" lang="en-US" sz="2400">
                <a:solidFill>
                  <a:srgbClr val="000000"/>
                </a:solidFill>
              </a:rPr>
              <a:t>JOIN</a:t>
            </a:r>
            <a:r>
              <a:rPr lang="en-US" sz="2400">
                <a:solidFill>
                  <a:srgbClr val="000000"/>
                </a:solidFill>
              </a:rPr>
              <a:t> DEPARTMENT </a:t>
            </a:r>
            <a:endParaRPr/>
          </a:p>
          <a:p>
            <a:pPr indent="-274320" lvl="0" marL="274320" rtl="0" algn="l">
              <a:lnSpc>
                <a:spcPct val="90000"/>
              </a:lnSpc>
              <a:spcBef>
                <a:spcPts val="600"/>
              </a:spcBef>
              <a:spcAft>
                <a:spcPts val="0"/>
              </a:spcAft>
              <a:buSzPts val="1680"/>
              <a:buNone/>
            </a:pPr>
            <a:r>
              <a:rPr lang="en-US">
                <a:solidFill>
                  <a:srgbClr val="000000"/>
                </a:solidFill>
              </a:rPr>
              <a:t>			</a:t>
            </a:r>
            <a:r>
              <a:rPr b="1" lang="en-US">
                <a:solidFill>
                  <a:srgbClr val="000000"/>
                </a:solidFill>
              </a:rPr>
              <a:t>       </a:t>
            </a:r>
            <a:r>
              <a:rPr b="1" lang="en-US" sz="2400">
                <a:solidFill>
                  <a:srgbClr val="000000"/>
                </a:solidFill>
              </a:rPr>
              <a:t>ON</a:t>
            </a:r>
            <a:r>
              <a:rPr lang="en-US" sz="2400">
                <a:solidFill>
                  <a:srgbClr val="000000"/>
                </a:solidFill>
              </a:rPr>
              <a:t>  DNUM=DNUMBER)</a:t>
            </a:r>
            <a:endParaRPr/>
          </a:p>
          <a:p>
            <a:pPr indent="-274320" lvl="0" marL="274320" rtl="0" algn="l">
              <a:lnSpc>
                <a:spcPct val="90000"/>
              </a:lnSpc>
              <a:spcBef>
                <a:spcPts val="600"/>
              </a:spcBef>
              <a:spcAft>
                <a:spcPts val="0"/>
              </a:spcAft>
              <a:buSzPts val="1680"/>
              <a:buNone/>
            </a:pPr>
            <a:r>
              <a:rPr lang="en-US">
                <a:solidFill>
                  <a:srgbClr val="000000"/>
                </a:solidFill>
              </a:rPr>
              <a:t>			</a:t>
            </a:r>
            <a:r>
              <a:rPr lang="en-US" sz="2400">
                <a:solidFill>
                  <a:srgbClr val="000000"/>
                </a:solidFill>
              </a:rPr>
              <a:t>      </a:t>
            </a:r>
            <a:r>
              <a:rPr b="1" lang="en-US" sz="2400">
                <a:solidFill>
                  <a:srgbClr val="000000"/>
                </a:solidFill>
              </a:rPr>
              <a:t>JOIN</a:t>
            </a:r>
            <a:r>
              <a:rPr lang="en-US" sz="2400">
                <a:solidFill>
                  <a:srgbClr val="000000"/>
                </a:solidFill>
              </a:rPr>
              <a:t> EMPLOYEE </a:t>
            </a:r>
            <a:r>
              <a:rPr b="1" lang="en-US" sz="2400">
                <a:solidFill>
                  <a:srgbClr val="000000"/>
                </a:solidFill>
              </a:rPr>
              <a:t>ON </a:t>
            </a:r>
            <a:r>
              <a:rPr lang="en-US" sz="2400">
                <a:solidFill>
                  <a:srgbClr val="000000"/>
                </a:solidFill>
              </a:rPr>
              <a:t>MGRSSN=SSN) )</a:t>
            </a:r>
            <a:br>
              <a:rPr lang="en-US" sz="2400">
                <a:solidFill>
                  <a:srgbClr val="000000"/>
                </a:solidFill>
              </a:rPr>
            </a:br>
            <a:r>
              <a:rPr lang="en-US" sz="2400">
                <a:solidFill>
                  <a:srgbClr val="000000"/>
                </a:solidFill>
              </a:rPr>
              <a:t>	WHERE      PLOCATION='Stafford’</a:t>
            </a:r>
            <a:endParaRPr/>
          </a:p>
        </p:txBody>
      </p:sp>
      <p:sp>
        <p:nvSpPr>
          <p:cNvPr id="406" name="Google Shape;406;p3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SET OPERATIONS</a:t>
            </a:r>
            <a:endParaRPr b="1">
              <a:solidFill>
                <a:srgbClr val="000000"/>
              </a:solidFill>
            </a:endParaRPr>
          </a:p>
        </p:txBody>
      </p:sp>
      <p:sp>
        <p:nvSpPr>
          <p:cNvPr id="412" name="Google Shape;412;p32"/>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680"/>
              <a:buChar char="🞆"/>
            </a:pPr>
            <a:r>
              <a:rPr lang="en-US">
                <a:solidFill>
                  <a:srgbClr val="000000"/>
                </a:solidFill>
              </a:rPr>
              <a:t>SQL has incorporated some set operations like</a:t>
            </a:r>
            <a:endParaRPr>
              <a:solidFill>
                <a:srgbClr val="000000"/>
              </a:solidFill>
            </a:endParaRPr>
          </a:p>
          <a:p>
            <a:pPr indent="-274320" lvl="1" marL="640080" rtl="0" algn="l">
              <a:lnSpc>
                <a:spcPct val="90000"/>
              </a:lnSpc>
              <a:spcBef>
                <a:spcPts val="420"/>
              </a:spcBef>
              <a:spcAft>
                <a:spcPts val="0"/>
              </a:spcAft>
              <a:buSzPts val="1680"/>
              <a:buChar char="⚫"/>
            </a:pPr>
            <a:r>
              <a:rPr lang="en-US">
                <a:solidFill>
                  <a:srgbClr val="000000"/>
                </a:solidFill>
              </a:rPr>
              <a:t>Union operation (</a:t>
            </a:r>
            <a:r>
              <a:rPr b="1" lang="en-US">
                <a:solidFill>
                  <a:srgbClr val="000000"/>
                </a:solidFill>
              </a:rPr>
              <a:t>UNION)</a:t>
            </a:r>
            <a:r>
              <a:rPr lang="en-US">
                <a:solidFill>
                  <a:srgbClr val="000000"/>
                </a:solidFill>
              </a:rPr>
              <a:t>, </a:t>
            </a:r>
            <a:endParaRPr>
              <a:solidFill>
                <a:srgbClr val="000000"/>
              </a:solidFill>
            </a:endParaRPr>
          </a:p>
          <a:p>
            <a:pPr indent="-274320" lvl="1" marL="640080" rtl="0" algn="l">
              <a:lnSpc>
                <a:spcPct val="90000"/>
              </a:lnSpc>
              <a:spcBef>
                <a:spcPts val="420"/>
              </a:spcBef>
              <a:spcAft>
                <a:spcPts val="0"/>
              </a:spcAft>
              <a:buSzPts val="1680"/>
              <a:buChar char="⚫"/>
            </a:pPr>
            <a:r>
              <a:rPr lang="en-US">
                <a:solidFill>
                  <a:srgbClr val="000000"/>
                </a:solidFill>
              </a:rPr>
              <a:t>Set difference (</a:t>
            </a:r>
            <a:r>
              <a:rPr b="1" lang="en-US">
                <a:solidFill>
                  <a:srgbClr val="000000"/>
                </a:solidFill>
              </a:rPr>
              <a:t>EXCEPT)</a:t>
            </a:r>
            <a:r>
              <a:rPr lang="en-US">
                <a:solidFill>
                  <a:srgbClr val="000000"/>
                </a:solidFill>
              </a:rPr>
              <a:t> and</a:t>
            </a:r>
            <a:endParaRPr/>
          </a:p>
          <a:p>
            <a:pPr indent="-274320" lvl="1" marL="640080" rtl="0" algn="l">
              <a:lnSpc>
                <a:spcPct val="90000"/>
              </a:lnSpc>
              <a:spcBef>
                <a:spcPts val="420"/>
              </a:spcBef>
              <a:spcAft>
                <a:spcPts val="0"/>
              </a:spcAft>
              <a:buSzPts val="1680"/>
              <a:buChar char="⚫"/>
            </a:pPr>
            <a:r>
              <a:rPr lang="en-US">
                <a:solidFill>
                  <a:srgbClr val="000000"/>
                </a:solidFill>
              </a:rPr>
              <a:t>Intersection operation (</a:t>
            </a:r>
            <a:r>
              <a:rPr b="1" lang="en-US">
                <a:solidFill>
                  <a:srgbClr val="000000"/>
                </a:solidFill>
              </a:rPr>
              <a:t>INTERSECT)</a:t>
            </a:r>
            <a:endParaRPr>
              <a:solidFill>
                <a:srgbClr val="000000"/>
              </a:solidFill>
            </a:endParaRPr>
          </a:p>
          <a:p>
            <a:pPr indent="-274320" lvl="0" marL="274320" rtl="0" algn="l">
              <a:lnSpc>
                <a:spcPct val="90000"/>
              </a:lnSpc>
              <a:spcBef>
                <a:spcPts val="600"/>
              </a:spcBef>
              <a:spcAft>
                <a:spcPts val="0"/>
              </a:spcAft>
              <a:buSzPts val="1680"/>
              <a:buChar char="🞆"/>
            </a:pPr>
            <a:r>
              <a:rPr i="1" lang="en-US">
                <a:solidFill>
                  <a:srgbClr val="000000"/>
                </a:solidFill>
              </a:rPr>
              <a:t>Duplicate tuples are eliminated from the result</a:t>
            </a:r>
            <a:endParaRPr/>
          </a:p>
          <a:p>
            <a:pPr indent="-274320" lvl="0" marL="274320" rtl="0" algn="l">
              <a:lnSpc>
                <a:spcPct val="90000"/>
              </a:lnSpc>
              <a:spcBef>
                <a:spcPts val="600"/>
              </a:spcBef>
              <a:spcAft>
                <a:spcPts val="0"/>
              </a:spcAft>
              <a:buSzPts val="1680"/>
              <a:buChar char="🞆"/>
            </a:pPr>
            <a:r>
              <a:rPr lang="en-US">
                <a:solidFill>
                  <a:srgbClr val="000000"/>
                </a:solidFill>
              </a:rPr>
              <a:t>Requires </a:t>
            </a:r>
            <a:r>
              <a:rPr i="1" lang="en-US">
                <a:solidFill>
                  <a:srgbClr val="000000"/>
                </a:solidFill>
              </a:rPr>
              <a:t>union compatible relations</a:t>
            </a:r>
            <a:endParaRPr>
              <a:solidFill>
                <a:srgbClr val="000000"/>
              </a:solidFill>
            </a:endParaRPr>
          </a:p>
        </p:txBody>
      </p:sp>
      <p:sp>
        <p:nvSpPr>
          <p:cNvPr id="413" name="Google Shape;413;p3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3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SET OPERATIONS (cont.)</a:t>
            </a:r>
            <a:r>
              <a:rPr lang="en-US" u="sng">
                <a:solidFill>
                  <a:srgbClr val="000000"/>
                </a:solidFill>
              </a:rPr>
              <a:t> </a:t>
            </a:r>
            <a:endParaRPr/>
          </a:p>
        </p:txBody>
      </p:sp>
      <p:sp>
        <p:nvSpPr>
          <p:cNvPr id="419" name="Google Shape;419;p33"/>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400"/>
              <a:buChar char="🞆"/>
            </a:pPr>
            <a:r>
              <a:rPr lang="en-US" sz="2000">
                <a:solidFill>
                  <a:srgbClr val="000000"/>
                </a:solidFill>
              </a:rPr>
              <a:t>Make a list of all project numbers for projects that involve an employee whose last name is 'Smith' as a worker or as a manager of the department that controls the project.</a:t>
            </a:r>
            <a:endParaRPr sz="2000">
              <a:solidFill>
                <a:srgbClr val="000000"/>
              </a:solidFill>
            </a:endParaRPr>
          </a:p>
          <a:p>
            <a:pPr indent="0" lvl="0" marL="0" rtl="0" algn="l">
              <a:spcBef>
                <a:spcPts val="600"/>
              </a:spcBef>
              <a:spcAft>
                <a:spcPts val="0"/>
              </a:spcAft>
              <a:buSzPts val="1400"/>
              <a:buNone/>
            </a:pPr>
            <a:r>
              <a:rPr b="1" lang="en-US" sz="2000">
                <a:solidFill>
                  <a:srgbClr val="000000"/>
                </a:solidFill>
              </a:rPr>
              <a:t>       </a:t>
            </a:r>
            <a:endParaRPr/>
          </a:p>
          <a:p>
            <a:pPr indent="-274320" lvl="0" marL="274320" rtl="0" algn="l">
              <a:spcBef>
                <a:spcPts val="600"/>
              </a:spcBef>
              <a:spcAft>
                <a:spcPts val="0"/>
              </a:spcAft>
              <a:buSzPts val="1400"/>
              <a:buChar char="🞆"/>
            </a:pPr>
            <a:r>
              <a:rPr b="1" lang="en-US" sz="2000">
                <a:solidFill>
                  <a:srgbClr val="000000"/>
                </a:solidFill>
              </a:rPr>
              <a:t>          (SELECT  PNAME</a:t>
            </a:r>
            <a:br>
              <a:rPr b="1" lang="en-US" sz="2000">
                <a:solidFill>
                  <a:srgbClr val="000000"/>
                </a:solidFill>
              </a:rPr>
            </a:br>
            <a:r>
              <a:rPr b="1" lang="en-US" sz="2000">
                <a:solidFill>
                  <a:srgbClr val="000000"/>
                </a:solidFill>
              </a:rPr>
              <a:t>	FROM	PROJECT, DEPARTMENT, EMPLOYEE</a:t>
            </a:r>
            <a:br>
              <a:rPr b="1" lang="en-US" sz="2000">
                <a:solidFill>
                  <a:srgbClr val="000000"/>
                </a:solidFill>
              </a:rPr>
            </a:br>
            <a:r>
              <a:rPr b="1" lang="en-US" sz="2000">
                <a:solidFill>
                  <a:srgbClr val="000000"/>
                </a:solidFill>
              </a:rPr>
              <a:t>	WHERE	DNUM=DNUMBER AND MGRSSN=SSN AND				LNAME='Smith')</a:t>
            </a:r>
            <a:br>
              <a:rPr b="1" lang="en-US" sz="2000">
                <a:solidFill>
                  <a:srgbClr val="000000"/>
                </a:solidFill>
              </a:rPr>
            </a:br>
            <a:r>
              <a:rPr b="1" lang="en-US" sz="2000">
                <a:solidFill>
                  <a:srgbClr val="000000"/>
                </a:solidFill>
              </a:rPr>
              <a:t>	UNION	</a:t>
            </a:r>
            <a:endParaRPr b="1" sz="2000">
              <a:solidFill>
                <a:srgbClr val="000000"/>
              </a:solidFill>
            </a:endParaRPr>
          </a:p>
          <a:p>
            <a:pPr indent="-274320" lvl="0" marL="274320" rtl="0" algn="l">
              <a:spcBef>
                <a:spcPts val="600"/>
              </a:spcBef>
              <a:spcAft>
                <a:spcPts val="0"/>
              </a:spcAft>
              <a:buSzPts val="1400"/>
              <a:buNone/>
            </a:pPr>
            <a:r>
              <a:rPr b="1" lang="en-US" sz="2000">
                <a:solidFill>
                  <a:srgbClr val="000000"/>
                </a:solidFill>
              </a:rPr>
              <a:t>		(SELECT  PNAME</a:t>
            </a:r>
            <a:br>
              <a:rPr b="1" lang="en-US" sz="2000">
                <a:solidFill>
                  <a:srgbClr val="000000"/>
                </a:solidFill>
              </a:rPr>
            </a:br>
            <a:r>
              <a:rPr b="1" lang="en-US" sz="2000">
                <a:solidFill>
                  <a:srgbClr val="000000"/>
                </a:solidFill>
              </a:rPr>
              <a:t>	FROM	PROJECT, WORKS_ON, EMPLOYEE</a:t>
            </a:r>
            <a:br>
              <a:rPr b="1" lang="en-US" sz="2000">
                <a:solidFill>
                  <a:srgbClr val="000000"/>
                </a:solidFill>
              </a:rPr>
            </a:br>
            <a:r>
              <a:rPr b="1" lang="en-US" sz="2000">
                <a:solidFill>
                  <a:srgbClr val="000000"/>
                </a:solidFill>
              </a:rPr>
              <a:t>	WHERE	PNUMBER=PNO AND ESSN=SSN AND				LNAME='Smith')</a:t>
            </a:r>
            <a:endParaRPr b="1" sz="2800">
              <a:solidFill>
                <a:srgbClr val="000000"/>
              </a:solidFill>
            </a:endParaRPr>
          </a:p>
        </p:txBody>
      </p:sp>
      <p:sp>
        <p:nvSpPr>
          <p:cNvPr id="420" name="Google Shape;420;p3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SUBSTRING COMPARISON</a:t>
            </a:r>
            <a:endParaRPr b="1">
              <a:solidFill>
                <a:srgbClr val="000000"/>
              </a:solidFill>
            </a:endParaRPr>
          </a:p>
        </p:txBody>
      </p:sp>
      <p:sp>
        <p:nvSpPr>
          <p:cNvPr id="426" name="Google Shape;426;p34"/>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b="1" lang="en-US">
                <a:solidFill>
                  <a:srgbClr val="000000"/>
                </a:solidFill>
              </a:rPr>
              <a:t>LIKE</a:t>
            </a:r>
            <a:r>
              <a:rPr lang="en-US">
                <a:solidFill>
                  <a:srgbClr val="000000"/>
                </a:solidFill>
              </a:rPr>
              <a:t> operator is used to compare partial strings</a:t>
            </a:r>
            <a:endParaRPr/>
          </a:p>
          <a:p>
            <a:pPr indent="-274320" lvl="0" marL="274320" rtl="0" algn="l">
              <a:spcBef>
                <a:spcPts val="600"/>
              </a:spcBef>
              <a:spcAft>
                <a:spcPts val="0"/>
              </a:spcAft>
              <a:buSzPts val="1680"/>
              <a:buChar char="🞆"/>
            </a:pPr>
            <a:r>
              <a:rPr lang="en-US">
                <a:solidFill>
                  <a:srgbClr val="000000"/>
                </a:solidFill>
              </a:rPr>
              <a:t>Two reserved characters are used:</a:t>
            </a:r>
            <a:endParaRPr/>
          </a:p>
          <a:p>
            <a:pPr indent="-274320" lvl="1" marL="640080" rtl="0" algn="l">
              <a:spcBef>
                <a:spcPts val="420"/>
              </a:spcBef>
              <a:spcAft>
                <a:spcPts val="0"/>
              </a:spcAft>
              <a:buSzPts val="1680"/>
              <a:buChar char="⚫"/>
            </a:pPr>
            <a:r>
              <a:rPr lang="en-US">
                <a:solidFill>
                  <a:srgbClr val="000000"/>
                </a:solidFill>
              </a:rPr>
              <a:t> '%' (or '*' in some implementations) replaces an arbitrary number of characters, and</a:t>
            </a:r>
            <a:endParaRPr/>
          </a:p>
          <a:p>
            <a:pPr indent="-274320" lvl="1" marL="640080" rtl="0" algn="l">
              <a:spcBef>
                <a:spcPts val="420"/>
              </a:spcBef>
              <a:spcAft>
                <a:spcPts val="0"/>
              </a:spcAft>
              <a:buSzPts val="1680"/>
              <a:buChar char="⚫"/>
            </a:pPr>
            <a:r>
              <a:rPr lang="en-US">
                <a:solidFill>
                  <a:srgbClr val="000000"/>
                </a:solidFill>
              </a:rPr>
              <a:t> '_' replaces a single arbitrary character</a:t>
            </a:r>
            <a:endParaRPr/>
          </a:p>
          <a:p>
            <a:pPr indent="-274320" lvl="0" marL="274320" rtl="0" algn="l">
              <a:spcBef>
                <a:spcPts val="600"/>
              </a:spcBef>
              <a:spcAft>
                <a:spcPts val="0"/>
              </a:spcAft>
              <a:buSzPts val="1680"/>
              <a:buChar char="🞆"/>
            </a:pPr>
            <a:r>
              <a:rPr lang="en-US">
                <a:solidFill>
                  <a:srgbClr val="000000"/>
                </a:solidFill>
              </a:rPr>
              <a:t>Retrieve all employees whose address is in Houston, Texas. </a:t>
            </a:r>
            <a:endParaRPr/>
          </a:p>
          <a:p>
            <a:pPr indent="-274320" lvl="0" marL="274320" rtl="0" algn="l">
              <a:spcBef>
                <a:spcPts val="600"/>
              </a:spcBef>
              <a:spcAft>
                <a:spcPts val="0"/>
              </a:spcAft>
              <a:buSzPts val="1680"/>
              <a:buChar char="🞆"/>
            </a:pPr>
            <a:r>
              <a:rPr b="1" lang="en-US">
                <a:solidFill>
                  <a:srgbClr val="000000"/>
                </a:solidFill>
              </a:rPr>
              <a:t>	SELECT 	FNAME, LNAME</a:t>
            </a:r>
            <a:br>
              <a:rPr b="1" lang="en-US">
                <a:solidFill>
                  <a:srgbClr val="000000"/>
                </a:solidFill>
              </a:rPr>
            </a:br>
            <a:r>
              <a:rPr b="1" lang="en-US">
                <a:solidFill>
                  <a:srgbClr val="000000"/>
                </a:solidFill>
              </a:rPr>
              <a:t>	FROM		EMPLOYEE</a:t>
            </a:r>
            <a:br>
              <a:rPr b="1" lang="en-US">
                <a:solidFill>
                  <a:srgbClr val="000000"/>
                </a:solidFill>
              </a:rPr>
            </a:br>
            <a:r>
              <a:rPr b="1" lang="en-US">
                <a:solidFill>
                  <a:srgbClr val="000000"/>
                </a:solidFill>
              </a:rPr>
              <a:t>	WHERE	ADDRESS LIKE '%Houston,TX%’</a:t>
            </a:r>
            <a:endParaRPr>
              <a:solidFill>
                <a:srgbClr val="000000"/>
              </a:solidFill>
            </a:endParaRPr>
          </a:p>
          <a:p>
            <a:pPr indent="-167640" lvl="0" marL="274320" rtl="0" algn="l">
              <a:spcBef>
                <a:spcPts val="600"/>
              </a:spcBef>
              <a:spcAft>
                <a:spcPts val="0"/>
              </a:spcAft>
              <a:buSzPts val="1680"/>
              <a:buNone/>
            </a:pPr>
            <a:r>
              <a:t/>
            </a:r>
            <a:endParaRPr>
              <a:solidFill>
                <a:srgbClr val="000000"/>
              </a:solidFill>
            </a:endParaRPr>
          </a:p>
        </p:txBody>
      </p:sp>
      <p:sp>
        <p:nvSpPr>
          <p:cNvPr id="427" name="Google Shape;427;p3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3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SUBSTRING COMPARISON (cont.)</a:t>
            </a:r>
            <a:endParaRPr b="1">
              <a:solidFill>
                <a:srgbClr val="000000"/>
              </a:solidFill>
            </a:endParaRPr>
          </a:p>
        </p:txBody>
      </p:sp>
      <p:sp>
        <p:nvSpPr>
          <p:cNvPr id="433" name="Google Shape;433;p35"/>
          <p:cNvSpPr txBox="1"/>
          <p:nvPr>
            <p:ph idx="1" type="body"/>
          </p:nvPr>
        </p:nvSpPr>
        <p:spPr>
          <a:xfrm>
            <a:off x="512763" y="1822450"/>
            <a:ext cx="8289925" cy="4621213"/>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680"/>
              <a:buChar char="🞆"/>
            </a:pPr>
            <a:r>
              <a:rPr lang="en-US" sz="2400">
                <a:solidFill>
                  <a:srgbClr val="000000"/>
                </a:solidFill>
              </a:rPr>
              <a:t>Retrieve all employees who were born during the 1950s. </a:t>
            </a:r>
            <a:endParaRPr sz="2400">
              <a:solidFill>
                <a:srgbClr val="000000"/>
              </a:solidFill>
            </a:endParaRPr>
          </a:p>
          <a:p>
            <a:pPr indent="-274320" lvl="0" marL="274320" rtl="0" algn="l">
              <a:lnSpc>
                <a:spcPct val="90000"/>
              </a:lnSpc>
              <a:spcBef>
                <a:spcPts val="600"/>
              </a:spcBef>
              <a:spcAft>
                <a:spcPts val="0"/>
              </a:spcAft>
              <a:buSzPts val="1680"/>
              <a:buChar char="🞆"/>
            </a:pPr>
            <a:r>
              <a:rPr lang="en-US" sz="2400">
                <a:solidFill>
                  <a:srgbClr val="000000"/>
                </a:solidFill>
              </a:rPr>
              <a:t>Here, '5' must be the third character of the string , so the BDATE value is ‘__5_______',.</a:t>
            </a:r>
            <a:br>
              <a:rPr lang="en-US" sz="2400">
                <a:solidFill>
                  <a:srgbClr val="000000"/>
                </a:solidFill>
              </a:rPr>
            </a:br>
            <a:br>
              <a:rPr lang="en-US" sz="2400">
                <a:solidFill>
                  <a:srgbClr val="000000"/>
                </a:solidFill>
              </a:rPr>
            </a:br>
            <a:r>
              <a:rPr b="1" lang="en-US" sz="2400">
                <a:solidFill>
                  <a:srgbClr val="000000"/>
                </a:solidFill>
              </a:rPr>
              <a:t>	SELECT 	FNAME, LNAME</a:t>
            </a:r>
            <a:br>
              <a:rPr b="1" lang="en-US" sz="2400">
                <a:solidFill>
                  <a:srgbClr val="000000"/>
                </a:solidFill>
              </a:rPr>
            </a:br>
            <a:r>
              <a:rPr b="1" lang="en-US" sz="2400">
                <a:solidFill>
                  <a:srgbClr val="000000"/>
                </a:solidFill>
              </a:rPr>
              <a:t>	FROM		EMPLOYEE</a:t>
            </a:r>
            <a:br>
              <a:rPr b="1" lang="en-US" sz="2400">
                <a:solidFill>
                  <a:srgbClr val="000000"/>
                </a:solidFill>
              </a:rPr>
            </a:br>
            <a:r>
              <a:rPr b="1" lang="en-US" sz="2400">
                <a:solidFill>
                  <a:srgbClr val="000000"/>
                </a:solidFill>
              </a:rPr>
              <a:t>	WHERE	BDATE LIKE	</a:t>
            </a:r>
            <a:r>
              <a:rPr lang="en-US">
                <a:solidFill>
                  <a:srgbClr val="000000"/>
                </a:solidFill>
              </a:rPr>
              <a:t> ‘__5_______',.</a:t>
            </a:r>
            <a:endParaRPr b="1" sz="2400">
              <a:solidFill>
                <a:srgbClr val="000000"/>
              </a:solidFill>
            </a:endParaRPr>
          </a:p>
          <a:p>
            <a:pPr indent="-274320" lvl="0" marL="274320" rtl="0" algn="l">
              <a:lnSpc>
                <a:spcPct val="90000"/>
              </a:lnSpc>
              <a:spcBef>
                <a:spcPts val="600"/>
              </a:spcBef>
              <a:spcAft>
                <a:spcPts val="0"/>
              </a:spcAft>
              <a:buSzPts val="1680"/>
              <a:buChar char="🞆"/>
            </a:pPr>
            <a:r>
              <a:rPr lang="en-US" sz="2400">
                <a:solidFill>
                  <a:srgbClr val="000000"/>
                </a:solidFill>
              </a:rPr>
              <a:t>LIKE operator allows us to get around the fact that each value is considered atomic and indivisible; </a:t>
            </a:r>
            <a:endParaRPr sz="2400">
              <a:solidFill>
                <a:srgbClr val="000000"/>
              </a:solidFill>
            </a:endParaRPr>
          </a:p>
          <a:p>
            <a:pPr indent="-274320" lvl="1" marL="640080" rtl="0" algn="l">
              <a:lnSpc>
                <a:spcPct val="90000"/>
              </a:lnSpc>
              <a:spcBef>
                <a:spcPts val="420"/>
              </a:spcBef>
              <a:spcAft>
                <a:spcPts val="0"/>
              </a:spcAft>
              <a:buSzPts val="1680"/>
              <a:buChar char="⚫"/>
            </a:pPr>
            <a:r>
              <a:rPr lang="en-US" sz="2100">
                <a:solidFill>
                  <a:srgbClr val="000000"/>
                </a:solidFill>
              </a:rPr>
              <a:t>hence, in SQL, character string attribute values are not atomic</a:t>
            </a:r>
            <a:endParaRPr/>
          </a:p>
        </p:txBody>
      </p:sp>
      <p:sp>
        <p:nvSpPr>
          <p:cNvPr id="434" name="Google Shape;434;p3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b="1" lang="en-US"/>
              <a:t>EXPLICIT SETS</a:t>
            </a:r>
            <a:endParaRPr b="1">
              <a:solidFill>
                <a:srgbClr val="000000"/>
              </a:solidFill>
            </a:endParaRPr>
          </a:p>
        </p:txBody>
      </p:sp>
      <p:sp>
        <p:nvSpPr>
          <p:cNvPr id="440" name="Google Shape;440;p36"/>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sz="2400">
                <a:solidFill>
                  <a:srgbClr val="000000"/>
                </a:solidFill>
              </a:rPr>
              <a:t>It is also possible to use an </a:t>
            </a:r>
            <a:r>
              <a:rPr b="1" lang="en-US" sz="2400">
                <a:solidFill>
                  <a:srgbClr val="000000"/>
                </a:solidFill>
              </a:rPr>
              <a:t>explicit (enumerated) set of values</a:t>
            </a:r>
            <a:r>
              <a:rPr lang="en-US" sz="2400">
                <a:solidFill>
                  <a:srgbClr val="000000"/>
                </a:solidFill>
              </a:rPr>
              <a:t> in the WHERE-clause rather than a nested query</a:t>
            </a:r>
            <a:endParaRPr/>
          </a:p>
          <a:p>
            <a:pPr indent="-274320" lvl="0" marL="274320" rtl="0" algn="l">
              <a:spcBef>
                <a:spcPts val="600"/>
              </a:spcBef>
              <a:spcAft>
                <a:spcPts val="0"/>
              </a:spcAft>
              <a:buSzPts val="1680"/>
              <a:buChar char="🞆"/>
            </a:pPr>
            <a:r>
              <a:rPr lang="en-US" sz="2400">
                <a:solidFill>
                  <a:srgbClr val="000000"/>
                </a:solidFill>
              </a:rPr>
              <a:t>Retrieve the social security numbers of all employees who work on project number 1, 2, or 3.</a:t>
            </a:r>
            <a:endParaRPr/>
          </a:p>
          <a:p>
            <a:pPr indent="-274320" lvl="0" marL="274320" rtl="0" algn="l">
              <a:spcBef>
                <a:spcPts val="600"/>
              </a:spcBef>
              <a:spcAft>
                <a:spcPts val="0"/>
              </a:spcAft>
              <a:buSzPts val="1680"/>
              <a:buFont typeface="Noto Sans Symbols"/>
              <a:buNone/>
            </a:pPr>
            <a:r>
              <a:t/>
            </a:r>
            <a:endParaRPr sz="2400">
              <a:solidFill>
                <a:srgbClr val="000000"/>
              </a:solidFill>
            </a:endParaRPr>
          </a:p>
          <a:p>
            <a:pPr indent="-274320" lvl="1" marL="640080" rtl="0" algn="l">
              <a:spcBef>
                <a:spcPts val="480"/>
              </a:spcBef>
              <a:spcAft>
                <a:spcPts val="0"/>
              </a:spcAft>
              <a:buSzPts val="1920"/>
              <a:buFont typeface="Calibri"/>
              <a:buNone/>
            </a:pPr>
            <a:r>
              <a:rPr b="1" lang="en-US" sz="2400">
                <a:solidFill>
                  <a:srgbClr val="000000"/>
                </a:solidFill>
              </a:rPr>
              <a:t>			SELECT  	DISTINCT  ESSN</a:t>
            </a:r>
            <a:br>
              <a:rPr b="1" lang="en-US" sz="2400">
                <a:solidFill>
                  <a:srgbClr val="000000"/>
                </a:solidFill>
              </a:rPr>
            </a:br>
            <a:r>
              <a:rPr b="1" lang="en-US" sz="2400">
                <a:solidFill>
                  <a:srgbClr val="000000"/>
                </a:solidFill>
              </a:rPr>
              <a:t>		FROM		WORKS_ON</a:t>
            </a:r>
            <a:br>
              <a:rPr b="1" lang="en-US" sz="2400">
                <a:solidFill>
                  <a:srgbClr val="000000"/>
                </a:solidFill>
              </a:rPr>
            </a:br>
            <a:r>
              <a:rPr b="1" lang="en-US" sz="2400">
                <a:solidFill>
                  <a:srgbClr val="000000"/>
                </a:solidFill>
              </a:rPr>
              <a:t>		WHERE	PNO IN  (1, 2, 3)</a:t>
            </a:r>
            <a:endParaRPr>
              <a:solidFill>
                <a:srgbClr val="000000"/>
              </a:solidFill>
            </a:endParaRPr>
          </a:p>
        </p:txBody>
      </p:sp>
      <p:sp>
        <p:nvSpPr>
          <p:cNvPr id="441" name="Google Shape;441;p3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AGGREGATE FUNCTIONS</a:t>
            </a:r>
            <a:endParaRPr b="1">
              <a:solidFill>
                <a:srgbClr val="000000"/>
              </a:solidFill>
            </a:endParaRPr>
          </a:p>
        </p:txBody>
      </p:sp>
      <p:sp>
        <p:nvSpPr>
          <p:cNvPr id="447" name="Google Shape;447;p37"/>
          <p:cNvSpPr txBox="1"/>
          <p:nvPr>
            <p:ph idx="1" type="body"/>
          </p:nvPr>
        </p:nvSpPr>
        <p:spPr>
          <a:xfrm>
            <a:off x="685800" y="1641475"/>
            <a:ext cx="8313738" cy="4802188"/>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sz="2400">
                <a:solidFill>
                  <a:srgbClr val="000000"/>
                </a:solidFill>
              </a:rPr>
              <a:t>Include </a:t>
            </a:r>
            <a:r>
              <a:rPr b="1" lang="en-US" sz="2400">
                <a:solidFill>
                  <a:srgbClr val="000000"/>
                </a:solidFill>
              </a:rPr>
              <a:t>COUNT</a:t>
            </a:r>
            <a:r>
              <a:rPr lang="en-US" sz="2400">
                <a:solidFill>
                  <a:srgbClr val="000000"/>
                </a:solidFill>
              </a:rPr>
              <a:t>, </a:t>
            </a:r>
            <a:r>
              <a:rPr b="1" lang="en-US" sz="2400">
                <a:solidFill>
                  <a:srgbClr val="000000"/>
                </a:solidFill>
              </a:rPr>
              <a:t>SUM</a:t>
            </a:r>
            <a:r>
              <a:rPr lang="en-US" sz="2400">
                <a:solidFill>
                  <a:srgbClr val="000000"/>
                </a:solidFill>
              </a:rPr>
              <a:t>, </a:t>
            </a:r>
            <a:r>
              <a:rPr b="1" lang="en-US" sz="2400">
                <a:solidFill>
                  <a:srgbClr val="000000"/>
                </a:solidFill>
              </a:rPr>
              <a:t>MAX</a:t>
            </a:r>
            <a:r>
              <a:rPr lang="en-US" sz="2400">
                <a:solidFill>
                  <a:srgbClr val="000000"/>
                </a:solidFill>
              </a:rPr>
              <a:t>, </a:t>
            </a:r>
            <a:r>
              <a:rPr b="1" lang="en-US" sz="2400">
                <a:solidFill>
                  <a:srgbClr val="000000"/>
                </a:solidFill>
              </a:rPr>
              <a:t>MIN</a:t>
            </a:r>
            <a:r>
              <a:rPr lang="en-US" sz="2400">
                <a:solidFill>
                  <a:srgbClr val="000000"/>
                </a:solidFill>
              </a:rPr>
              <a:t>, and </a:t>
            </a:r>
            <a:r>
              <a:rPr b="1" lang="en-US" sz="2400">
                <a:solidFill>
                  <a:srgbClr val="000000"/>
                </a:solidFill>
              </a:rPr>
              <a:t>AVG</a:t>
            </a:r>
            <a:endParaRPr/>
          </a:p>
          <a:p>
            <a:pPr indent="-274320" lvl="0" marL="274320" rtl="0" algn="l">
              <a:spcBef>
                <a:spcPts val="600"/>
              </a:spcBef>
              <a:spcAft>
                <a:spcPts val="0"/>
              </a:spcAft>
              <a:buSzPts val="1680"/>
              <a:buChar char="🞆"/>
            </a:pPr>
            <a:r>
              <a:rPr lang="en-US" sz="2400">
                <a:solidFill>
                  <a:srgbClr val="000000"/>
                </a:solidFill>
              </a:rPr>
              <a:t>Find the maximum salary, the minimum salary, and the average salary among all employees.</a:t>
            </a:r>
            <a:br>
              <a:rPr lang="en-US" sz="2400">
                <a:solidFill>
                  <a:srgbClr val="000000"/>
                </a:solidFill>
              </a:rPr>
            </a:br>
            <a:br>
              <a:rPr lang="en-US" sz="2400">
                <a:solidFill>
                  <a:srgbClr val="000000"/>
                </a:solidFill>
              </a:rPr>
            </a:br>
            <a:r>
              <a:rPr b="1" lang="en-US" sz="2400">
                <a:solidFill>
                  <a:srgbClr val="000000"/>
                </a:solidFill>
              </a:rPr>
              <a:t>SELECT 	 MAX(SALARY), MIN(SALARY), AVG(SALARY)</a:t>
            </a:r>
            <a:br>
              <a:rPr b="1" lang="en-US" sz="2400">
                <a:solidFill>
                  <a:srgbClr val="000000"/>
                </a:solidFill>
              </a:rPr>
            </a:br>
            <a:r>
              <a:rPr b="1" lang="en-US" sz="2400">
                <a:solidFill>
                  <a:srgbClr val="000000"/>
                </a:solidFill>
              </a:rPr>
              <a:t>FROM	 EMPLOYEE</a:t>
            </a:r>
            <a:br>
              <a:rPr b="1" lang="en-US" sz="2400">
                <a:solidFill>
                  <a:srgbClr val="000000"/>
                </a:solidFill>
              </a:rPr>
            </a:br>
            <a:endParaRPr b="1" sz="2400">
              <a:solidFill>
                <a:srgbClr val="000000"/>
              </a:solidFill>
            </a:endParaRPr>
          </a:p>
          <a:p>
            <a:pPr indent="-274320" lvl="1" marL="640080" rtl="0" algn="l">
              <a:spcBef>
                <a:spcPts val="400"/>
              </a:spcBef>
              <a:spcAft>
                <a:spcPts val="0"/>
              </a:spcAft>
              <a:buSzPts val="1600"/>
              <a:buChar char="⚫"/>
            </a:pPr>
            <a:r>
              <a:rPr lang="en-US" sz="2000">
                <a:solidFill>
                  <a:srgbClr val="000000"/>
                </a:solidFill>
              </a:rPr>
              <a:t>Some SQL implementations </a:t>
            </a:r>
            <a:r>
              <a:rPr i="1" lang="en-US" sz="2000">
                <a:solidFill>
                  <a:srgbClr val="000000"/>
                </a:solidFill>
              </a:rPr>
              <a:t>may not allow more than one function</a:t>
            </a:r>
            <a:r>
              <a:rPr lang="en-US" sz="2000">
                <a:solidFill>
                  <a:srgbClr val="000000"/>
                </a:solidFill>
              </a:rPr>
              <a:t>  in the SELECT-clause</a:t>
            </a:r>
            <a:endParaRPr b="1" sz="2000">
              <a:solidFill>
                <a:srgbClr val="000000"/>
              </a:solidFill>
            </a:endParaRPr>
          </a:p>
        </p:txBody>
      </p:sp>
      <p:sp>
        <p:nvSpPr>
          <p:cNvPr id="448" name="Google Shape;448;p3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AGGREGATE FUNCTIONS (cont.)</a:t>
            </a:r>
            <a:endParaRPr b="1">
              <a:solidFill>
                <a:srgbClr val="000000"/>
              </a:solidFill>
            </a:endParaRPr>
          </a:p>
        </p:txBody>
      </p:sp>
      <p:sp>
        <p:nvSpPr>
          <p:cNvPr id="454" name="Google Shape;454;p38"/>
          <p:cNvSpPr txBox="1"/>
          <p:nvPr>
            <p:ph idx="1" type="body"/>
          </p:nvPr>
        </p:nvSpPr>
        <p:spPr>
          <a:xfrm>
            <a:off x="685800" y="1814513"/>
            <a:ext cx="7772400" cy="4511675"/>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680"/>
              <a:buChar char="🞆"/>
            </a:pPr>
            <a:r>
              <a:rPr lang="en-US" sz="2400">
                <a:solidFill>
                  <a:srgbClr val="000000"/>
                </a:solidFill>
              </a:rPr>
              <a:t>Retrieve the number of employees in the 'Research' department </a:t>
            </a:r>
            <a:br>
              <a:rPr lang="en-US" sz="2400">
                <a:solidFill>
                  <a:srgbClr val="000000"/>
                </a:solidFill>
              </a:rPr>
            </a:br>
            <a:br>
              <a:rPr lang="en-US" sz="2400">
                <a:solidFill>
                  <a:srgbClr val="000000"/>
                </a:solidFill>
              </a:rPr>
            </a:br>
            <a:r>
              <a:rPr b="1" lang="en-US" sz="2400">
                <a:solidFill>
                  <a:srgbClr val="000000"/>
                </a:solidFill>
              </a:rPr>
              <a:t>SELECT  	COUNT (*)</a:t>
            </a:r>
            <a:br>
              <a:rPr b="1" lang="en-US" sz="2400">
                <a:solidFill>
                  <a:srgbClr val="000000"/>
                </a:solidFill>
              </a:rPr>
            </a:br>
            <a:r>
              <a:rPr b="1" lang="en-US" sz="2400">
                <a:solidFill>
                  <a:srgbClr val="000000"/>
                </a:solidFill>
              </a:rPr>
              <a:t>FROM	EMPLOYEE, DEPARTMENT</a:t>
            </a:r>
            <a:br>
              <a:rPr b="1" lang="en-US" sz="2400">
                <a:solidFill>
                  <a:srgbClr val="000000"/>
                </a:solidFill>
              </a:rPr>
            </a:br>
            <a:r>
              <a:rPr b="1" lang="en-US" sz="2400">
                <a:solidFill>
                  <a:srgbClr val="000000"/>
                </a:solidFill>
              </a:rPr>
              <a:t>WHERE	DNO=DNUMBER AND 					DNAME='Research’</a:t>
            </a:r>
            <a:endParaRPr b="1" sz="2800">
              <a:solidFill>
                <a:srgbClr val="000000"/>
              </a:solidFill>
            </a:endParaRPr>
          </a:p>
        </p:txBody>
      </p:sp>
      <p:sp>
        <p:nvSpPr>
          <p:cNvPr id="455" name="Google Shape;455;p3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Aggregate Example </a:t>
            </a:r>
            <a:endParaRPr/>
          </a:p>
        </p:txBody>
      </p:sp>
      <p:sp>
        <p:nvSpPr>
          <p:cNvPr id="463" name="Google Shape;463;p39"/>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b="1" lang="en-US"/>
              <a:t>Example: </a:t>
            </a:r>
            <a:r>
              <a:rPr lang="en-US"/>
              <a:t>Count the number of distinct salary values in the database.</a:t>
            </a:r>
            <a:endParaRPr/>
          </a:p>
          <a:p>
            <a:pPr indent="-167640" lvl="0" marL="274320" rtl="0" algn="l">
              <a:spcBef>
                <a:spcPts val="600"/>
              </a:spcBef>
              <a:spcAft>
                <a:spcPts val="0"/>
              </a:spcAft>
              <a:buSzPts val="1680"/>
              <a:buNone/>
            </a:pPr>
            <a:r>
              <a:t/>
            </a:r>
            <a:endParaRPr b="1"/>
          </a:p>
          <a:p>
            <a:pPr indent="-274320" lvl="1" marL="640080" rtl="0" algn="l">
              <a:spcBef>
                <a:spcPts val="420"/>
              </a:spcBef>
              <a:spcAft>
                <a:spcPts val="0"/>
              </a:spcAft>
              <a:buSzPts val="1680"/>
              <a:buChar char="⚫"/>
            </a:pPr>
            <a:r>
              <a:rPr b="1" lang="en-US"/>
              <a:t>SELECT COUNT </a:t>
            </a:r>
            <a:r>
              <a:rPr lang="en-US"/>
              <a:t>(</a:t>
            </a:r>
            <a:r>
              <a:rPr b="1" lang="en-US"/>
              <a:t>DISTINCT </a:t>
            </a:r>
            <a:r>
              <a:rPr lang="en-US"/>
              <a:t>Salary)</a:t>
            </a:r>
            <a:endParaRPr/>
          </a:p>
          <a:p>
            <a:pPr indent="-274320" lvl="1" marL="640080" rtl="0" algn="l">
              <a:spcBef>
                <a:spcPts val="420"/>
              </a:spcBef>
              <a:spcAft>
                <a:spcPts val="0"/>
              </a:spcAft>
              <a:buSzPts val="1680"/>
              <a:buChar char="⚫"/>
            </a:pPr>
            <a:r>
              <a:rPr b="1" lang="en-US"/>
              <a:t>FROM </a:t>
            </a:r>
            <a:r>
              <a:rPr lang="en-US"/>
              <a:t>EMPLOYEE;</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latin typeface="Times New Roman"/>
                <a:ea typeface="Times New Roman"/>
                <a:cs typeface="Times New Roman"/>
                <a:sym typeface="Times New Roman"/>
              </a:rPr>
              <a:t>NULL values are </a:t>
            </a:r>
            <a:r>
              <a:rPr b="1" lang="en-US">
                <a:latin typeface="Times New Roman"/>
                <a:ea typeface="Times New Roman"/>
                <a:cs typeface="Times New Roman"/>
                <a:sym typeface="Times New Roman"/>
              </a:rPr>
              <a:t>discarded </a:t>
            </a:r>
            <a:r>
              <a:rPr lang="en-US">
                <a:latin typeface="Times New Roman"/>
                <a:ea typeface="Times New Roman"/>
                <a:cs typeface="Times New Roman"/>
                <a:sym typeface="Times New Roman"/>
              </a:rPr>
              <a:t>when aggregate functions are applied to a particular attribute.</a:t>
            </a:r>
            <a:endParaRPr/>
          </a:p>
          <a:p>
            <a:pPr indent="-167640" lvl="0" marL="274320" rtl="0" algn="l">
              <a:spcBef>
                <a:spcPts val="600"/>
              </a:spcBef>
              <a:spcAft>
                <a:spcPts val="0"/>
              </a:spcAft>
              <a:buSzPts val="1680"/>
              <a:buNone/>
            </a:pPr>
            <a:r>
              <a:t/>
            </a:r>
            <a:endParaRPr/>
          </a:p>
        </p:txBody>
      </p:sp>
      <p:sp>
        <p:nvSpPr>
          <p:cNvPr id="464" name="Google Shape;464;p3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0"/>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GROUPING</a:t>
            </a:r>
            <a:endParaRPr>
              <a:solidFill>
                <a:srgbClr val="000000"/>
              </a:solidFill>
            </a:endParaRPr>
          </a:p>
        </p:txBody>
      </p:sp>
      <p:sp>
        <p:nvSpPr>
          <p:cNvPr id="472" name="Google Shape;472;p40"/>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680"/>
              <a:buChar char="🞆"/>
            </a:pPr>
            <a:r>
              <a:rPr b="1" lang="en-US">
                <a:solidFill>
                  <a:srgbClr val="000000"/>
                </a:solidFill>
              </a:rPr>
              <a:t>GROUP BY</a:t>
            </a:r>
            <a:r>
              <a:rPr lang="en-US">
                <a:solidFill>
                  <a:srgbClr val="000000"/>
                </a:solidFill>
              </a:rPr>
              <a:t>-clause specifies the grouping attributes</a:t>
            </a:r>
            <a:endParaRPr/>
          </a:p>
          <a:p>
            <a:pPr indent="-274320" lvl="0" marL="274320" rtl="0" algn="l">
              <a:lnSpc>
                <a:spcPct val="90000"/>
              </a:lnSpc>
              <a:spcBef>
                <a:spcPts val="600"/>
              </a:spcBef>
              <a:spcAft>
                <a:spcPts val="0"/>
              </a:spcAft>
              <a:buSzPts val="1680"/>
              <a:buChar char="🞆"/>
            </a:pPr>
            <a:r>
              <a:rPr lang="en-US">
                <a:solidFill>
                  <a:srgbClr val="000000"/>
                </a:solidFill>
              </a:rPr>
              <a:t>For each department, retrieve the department number, the number of employees in the department, and their average salary.</a:t>
            </a:r>
            <a:endParaRPr>
              <a:solidFill>
                <a:srgbClr val="000000"/>
              </a:solidFill>
            </a:endParaRPr>
          </a:p>
          <a:p>
            <a:pPr indent="-274320" lvl="0" marL="274320" rtl="0" algn="l">
              <a:lnSpc>
                <a:spcPct val="90000"/>
              </a:lnSpc>
              <a:spcBef>
                <a:spcPts val="600"/>
              </a:spcBef>
              <a:spcAft>
                <a:spcPts val="0"/>
              </a:spcAft>
              <a:buSzPts val="1680"/>
              <a:buChar char="🞆"/>
            </a:pPr>
            <a:r>
              <a:rPr b="1" lang="en-US">
                <a:solidFill>
                  <a:srgbClr val="000000"/>
                </a:solidFill>
              </a:rPr>
              <a:t>	SELECT 	DNO, COUNT (*), AVG (SALARY)</a:t>
            </a:r>
            <a:br>
              <a:rPr b="1" lang="en-US">
                <a:solidFill>
                  <a:srgbClr val="000000"/>
                </a:solidFill>
              </a:rPr>
            </a:br>
            <a:r>
              <a:rPr b="1" lang="en-US">
                <a:solidFill>
                  <a:srgbClr val="000000"/>
                </a:solidFill>
              </a:rPr>
              <a:t>	FROM		EMPLOYEE</a:t>
            </a:r>
            <a:br>
              <a:rPr b="1" lang="en-US">
                <a:solidFill>
                  <a:srgbClr val="000000"/>
                </a:solidFill>
              </a:rPr>
            </a:br>
            <a:r>
              <a:rPr b="1" lang="en-US">
                <a:solidFill>
                  <a:srgbClr val="000000"/>
                </a:solidFill>
              </a:rPr>
              <a:t>	GROUP BY	DNO</a:t>
            </a:r>
            <a:endParaRPr i="1">
              <a:solidFill>
                <a:srgbClr val="000000"/>
              </a:solidFill>
            </a:endParaRPr>
          </a:p>
          <a:p>
            <a:pPr indent="-274320" lvl="0" marL="274320" rtl="0" algn="l">
              <a:lnSpc>
                <a:spcPct val="90000"/>
              </a:lnSpc>
              <a:spcBef>
                <a:spcPts val="600"/>
              </a:spcBef>
              <a:spcAft>
                <a:spcPts val="0"/>
              </a:spcAft>
              <a:buSzPts val="1960"/>
              <a:buFont typeface="Noto Sans Symbols"/>
              <a:buNone/>
            </a:pPr>
            <a:r>
              <a:t/>
            </a:r>
            <a:endParaRPr sz="2800">
              <a:solidFill>
                <a:srgbClr val="000000"/>
              </a:solidFill>
            </a:endParaRPr>
          </a:p>
        </p:txBody>
      </p:sp>
      <p:sp>
        <p:nvSpPr>
          <p:cNvPr id="473" name="Google Shape;473;p4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pic>
        <p:nvPicPr>
          <p:cNvPr id="474" name="Google Shape;474;p40"/>
          <p:cNvPicPr preferRelativeResize="0"/>
          <p:nvPr/>
        </p:nvPicPr>
        <p:blipFill rotWithShape="1">
          <a:blip r:embed="rId3">
            <a:alphaModFix/>
          </a:blip>
          <a:srcRect b="0" l="0" r="0" t="0"/>
          <a:stretch/>
        </p:blipFill>
        <p:spPr>
          <a:xfrm>
            <a:off x="244153" y="4209426"/>
            <a:ext cx="8253831" cy="2400173"/>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4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GROUPING (cont.)</a:t>
            </a:r>
            <a:endParaRPr>
              <a:solidFill>
                <a:srgbClr val="000000"/>
              </a:solidFill>
            </a:endParaRPr>
          </a:p>
        </p:txBody>
      </p:sp>
      <p:sp>
        <p:nvSpPr>
          <p:cNvPr id="482" name="Google Shape;482;p41"/>
          <p:cNvSpPr txBox="1"/>
          <p:nvPr>
            <p:ph idx="1" type="body"/>
          </p:nvPr>
        </p:nvSpPr>
        <p:spPr>
          <a:xfrm>
            <a:off x="528638" y="1498433"/>
            <a:ext cx="7877425" cy="4929188"/>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680"/>
              <a:buChar char="🞆"/>
            </a:pPr>
            <a:r>
              <a:rPr lang="en-US" sz="2400">
                <a:solidFill>
                  <a:srgbClr val="000000"/>
                </a:solidFill>
              </a:rPr>
              <a:t>For each project, retrieve the project number, project name, and the number of employees who work on that project.</a:t>
            </a:r>
            <a:endParaRPr/>
          </a:p>
          <a:p>
            <a:pPr indent="-274320" lvl="0" marL="274320" rtl="0" algn="l">
              <a:lnSpc>
                <a:spcPct val="90000"/>
              </a:lnSpc>
              <a:spcBef>
                <a:spcPts val="600"/>
              </a:spcBef>
              <a:spcAft>
                <a:spcPts val="0"/>
              </a:spcAft>
              <a:buSzPts val="1680"/>
              <a:buChar char="🞆"/>
            </a:pPr>
            <a:br>
              <a:rPr lang="en-US" sz="2400">
                <a:solidFill>
                  <a:srgbClr val="000000"/>
                </a:solidFill>
              </a:rPr>
            </a:br>
            <a:r>
              <a:rPr lang="en-US" sz="2400">
                <a:solidFill>
                  <a:srgbClr val="000000"/>
                </a:solidFill>
              </a:rPr>
              <a:t>	</a:t>
            </a:r>
            <a:r>
              <a:rPr b="1" lang="en-US" sz="2000">
                <a:solidFill>
                  <a:srgbClr val="000000"/>
                </a:solidFill>
              </a:rPr>
              <a:t>SELECT 	PNUMBER, PNAME, COUNT (*)</a:t>
            </a:r>
            <a:br>
              <a:rPr b="1" lang="en-US" sz="2000">
                <a:solidFill>
                  <a:srgbClr val="000000"/>
                </a:solidFill>
              </a:rPr>
            </a:br>
            <a:r>
              <a:rPr b="1" lang="en-US" sz="2000">
                <a:solidFill>
                  <a:srgbClr val="000000"/>
                </a:solidFill>
              </a:rPr>
              <a:t>	FROM	PROJECT, WORKS_ON</a:t>
            </a:r>
            <a:br>
              <a:rPr b="1" lang="en-US" sz="2000">
                <a:solidFill>
                  <a:srgbClr val="000000"/>
                </a:solidFill>
              </a:rPr>
            </a:br>
            <a:r>
              <a:rPr b="1" lang="en-US" sz="2000">
                <a:solidFill>
                  <a:srgbClr val="000000"/>
                </a:solidFill>
              </a:rPr>
              <a:t>	WHERE	PNUMBER=PNO</a:t>
            </a:r>
            <a:br>
              <a:rPr b="1" lang="en-US" sz="2000">
                <a:solidFill>
                  <a:srgbClr val="000000"/>
                </a:solidFill>
              </a:rPr>
            </a:br>
            <a:r>
              <a:rPr b="1" lang="en-US" sz="2000">
                <a:solidFill>
                  <a:srgbClr val="000000"/>
                </a:solidFill>
              </a:rPr>
              <a:t>	GROUP BY PNUMBER, PNAME</a:t>
            </a:r>
            <a:br>
              <a:rPr b="1" lang="en-US" sz="2400">
                <a:solidFill>
                  <a:srgbClr val="000000"/>
                </a:solidFill>
              </a:rPr>
            </a:br>
            <a:endParaRPr b="1" sz="2400">
              <a:solidFill>
                <a:srgbClr val="000000"/>
              </a:solidFill>
            </a:endParaRPr>
          </a:p>
          <a:p>
            <a:pPr indent="-274320" lvl="1" marL="640080" rtl="0" algn="l">
              <a:lnSpc>
                <a:spcPct val="90000"/>
              </a:lnSpc>
              <a:spcBef>
                <a:spcPts val="400"/>
              </a:spcBef>
              <a:spcAft>
                <a:spcPts val="0"/>
              </a:spcAft>
              <a:buSzPts val="1600"/>
              <a:buChar char="⚫"/>
            </a:pPr>
            <a:r>
              <a:rPr lang="en-US" sz="2000">
                <a:solidFill>
                  <a:srgbClr val="000000"/>
                </a:solidFill>
              </a:rPr>
              <a:t>The grouping and functions are applied </a:t>
            </a:r>
            <a:r>
              <a:rPr i="1" lang="en-US" sz="2000">
                <a:solidFill>
                  <a:srgbClr val="000000"/>
                </a:solidFill>
              </a:rPr>
              <a:t>after</a:t>
            </a:r>
            <a:r>
              <a:rPr lang="en-US" sz="2000">
                <a:solidFill>
                  <a:srgbClr val="000000"/>
                </a:solidFill>
              </a:rPr>
              <a:t> the joining of the two relations</a:t>
            </a:r>
            <a:endParaRPr/>
          </a:p>
          <a:p>
            <a:pPr indent="-274320" lvl="1" marL="640080" rtl="0" algn="l">
              <a:lnSpc>
                <a:spcPct val="90000"/>
              </a:lnSpc>
              <a:spcBef>
                <a:spcPts val="400"/>
              </a:spcBef>
              <a:spcAft>
                <a:spcPts val="0"/>
              </a:spcAft>
              <a:buSzPts val="1600"/>
              <a:buChar char="⚫"/>
            </a:pPr>
            <a:r>
              <a:rPr lang="en-US" sz="2000">
                <a:solidFill>
                  <a:srgbClr val="000000"/>
                </a:solidFill>
              </a:rPr>
              <a:t>Select clause can only include the grouping attributes and aggregate functions</a:t>
            </a:r>
            <a:endParaRPr sz="2400">
              <a:solidFill>
                <a:srgbClr val="000000"/>
              </a:solidFill>
            </a:endParaRPr>
          </a:p>
        </p:txBody>
      </p:sp>
      <p:sp>
        <p:nvSpPr>
          <p:cNvPr id="483" name="Google Shape;483;p4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pic>
        <p:nvPicPr>
          <p:cNvPr id="484" name="Google Shape;484;p41"/>
          <p:cNvPicPr preferRelativeResize="0"/>
          <p:nvPr/>
        </p:nvPicPr>
        <p:blipFill rotWithShape="1">
          <a:blip r:embed="rId3">
            <a:alphaModFix/>
          </a:blip>
          <a:srcRect b="0" l="0" r="0" t="0"/>
          <a:stretch/>
        </p:blipFill>
        <p:spPr>
          <a:xfrm>
            <a:off x="5933230" y="2517289"/>
            <a:ext cx="3123224" cy="194041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HAVING-CLAUSE</a:t>
            </a:r>
            <a:endParaRPr b="1">
              <a:solidFill>
                <a:srgbClr val="000000"/>
              </a:solidFill>
            </a:endParaRPr>
          </a:p>
        </p:txBody>
      </p:sp>
      <p:sp>
        <p:nvSpPr>
          <p:cNvPr id="490" name="Google Shape;490;p42"/>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solidFill>
                  <a:srgbClr val="000000"/>
                </a:solidFill>
              </a:rPr>
              <a:t>HAVING-clause specify a selection condition on groups</a:t>
            </a:r>
            <a:endParaRPr/>
          </a:p>
          <a:p>
            <a:pPr indent="-274320" lvl="0" marL="274320" rtl="0" algn="l">
              <a:spcBef>
                <a:spcPts val="600"/>
              </a:spcBef>
              <a:spcAft>
                <a:spcPts val="0"/>
              </a:spcAft>
              <a:buSzPts val="1680"/>
              <a:buChar char="🞆"/>
            </a:pPr>
            <a:r>
              <a:rPr lang="en-US">
                <a:solidFill>
                  <a:srgbClr val="000000"/>
                </a:solidFill>
              </a:rPr>
              <a:t>For each project </a:t>
            </a:r>
            <a:r>
              <a:rPr i="1" lang="en-US">
                <a:solidFill>
                  <a:srgbClr val="000000"/>
                </a:solidFill>
              </a:rPr>
              <a:t>on which more than two employees work</a:t>
            </a:r>
            <a:r>
              <a:rPr lang="en-US">
                <a:solidFill>
                  <a:srgbClr val="000000"/>
                </a:solidFill>
              </a:rPr>
              <a:t> , retrieve the project number, project name, and the number of employees who work on that project.</a:t>
            </a:r>
            <a:endParaRPr/>
          </a:p>
          <a:p>
            <a:pPr indent="-274320" lvl="0" marL="274320" rtl="0" algn="l">
              <a:spcBef>
                <a:spcPts val="600"/>
              </a:spcBef>
              <a:spcAft>
                <a:spcPts val="0"/>
              </a:spcAft>
              <a:buSzPts val="1680"/>
              <a:buChar char="🞆"/>
            </a:pPr>
            <a:br>
              <a:rPr lang="en-US">
                <a:solidFill>
                  <a:srgbClr val="000000"/>
                </a:solidFill>
              </a:rPr>
            </a:br>
            <a:r>
              <a:rPr b="1" lang="en-US" sz="2000">
                <a:solidFill>
                  <a:srgbClr val="000000"/>
                </a:solidFill>
              </a:rPr>
              <a:t>     	SELECT 		PNUMBER, PNAME, COUNT (*)</a:t>
            </a:r>
            <a:br>
              <a:rPr b="1" lang="en-US" sz="2000">
                <a:solidFill>
                  <a:srgbClr val="000000"/>
                </a:solidFill>
              </a:rPr>
            </a:br>
            <a:r>
              <a:rPr b="1" lang="en-US" sz="2000">
                <a:solidFill>
                  <a:srgbClr val="000000"/>
                </a:solidFill>
              </a:rPr>
              <a:t>	FROM		PROJECT, WORKS_ON</a:t>
            </a:r>
            <a:br>
              <a:rPr b="1" lang="en-US" sz="2000">
                <a:solidFill>
                  <a:srgbClr val="000000"/>
                </a:solidFill>
              </a:rPr>
            </a:br>
            <a:r>
              <a:rPr b="1" lang="en-US" sz="2000">
                <a:solidFill>
                  <a:srgbClr val="000000"/>
                </a:solidFill>
              </a:rPr>
              <a:t>	WHERE		PNUMBER=PNO</a:t>
            </a:r>
            <a:br>
              <a:rPr b="1" lang="en-US" sz="2000">
                <a:solidFill>
                  <a:srgbClr val="000000"/>
                </a:solidFill>
              </a:rPr>
            </a:br>
            <a:r>
              <a:rPr b="1" lang="en-US" sz="2000">
                <a:solidFill>
                  <a:srgbClr val="000000"/>
                </a:solidFill>
              </a:rPr>
              <a:t>	GROUP BY	PNUMBER, PNAME</a:t>
            </a:r>
            <a:br>
              <a:rPr b="1" lang="en-US" sz="2000">
                <a:solidFill>
                  <a:srgbClr val="000000"/>
                </a:solidFill>
              </a:rPr>
            </a:br>
            <a:r>
              <a:rPr b="1" lang="en-US" sz="2000">
                <a:solidFill>
                  <a:srgbClr val="000000"/>
                </a:solidFill>
              </a:rPr>
              <a:t>	HAVING		COUNT (*) &gt; 2 </a:t>
            </a:r>
            <a:br>
              <a:rPr lang="en-US">
                <a:solidFill>
                  <a:srgbClr val="000000"/>
                </a:solidFill>
              </a:rPr>
            </a:br>
            <a:endParaRPr>
              <a:solidFill>
                <a:srgbClr val="000000"/>
              </a:solidFill>
            </a:endParaRPr>
          </a:p>
        </p:txBody>
      </p:sp>
      <p:sp>
        <p:nvSpPr>
          <p:cNvPr id="491" name="Google Shape;491;p4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4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HAVING-CLAUSE</a:t>
            </a:r>
            <a:endParaRPr/>
          </a:p>
        </p:txBody>
      </p:sp>
      <p:sp>
        <p:nvSpPr>
          <p:cNvPr id="497" name="Google Shape;497;p4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pic>
        <p:nvPicPr>
          <p:cNvPr id="498" name="Google Shape;498;p43"/>
          <p:cNvPicPr preferRelativeResize="0"/>
          <p:nvPr/>
        </p:nvPicPr>
        <p:blipFill rotWithShape="1">
          <a:blip r:embed="rId3">
            <a:alphaModFix/>
          </a:blip>
          <a:srcRect b="0" l="0" r="0" t="0"/>
          <a:stretch/>
        </p:blipFill>
        <p:spPr>
          <a:xfrm>
            <a:off x="280736" y="1844341"/>
            <a:ext cx="8468960" cy="4410917"/>
          </a:xfrm>
          <a:prstGeom prst="rect">
            <a:avLst/>
          </a:prstGeom>
          <a:noFill/>
          <a:ln>
            <a:noFill/>
          </a:ln>
        </p:spPr>
      </p:pic>
      <p:pic>
        <p:nvPicPr>
          <p:cNvPr id="499" name="Google Shape;499;p43"/>
          <p:cNvPicPr preferRelativeResize="0"/>
          <p:nvPr/>
        </p:nvPicPr>
        <p:blipFill rotWithShape="1">
          <a:blip r:embed="rId4">
            <a:alphaModFix/>
          </a:blip>
          <a:srcRect b="0" l="13620" r="0" t="0"/>
          <a:stretch/>
        </p:blipFill>
        <p:spPr>
          <a:xfrm>
            <a:off x="5874713" y="4173968"/>
            <a:ext cx="3094404" cy="139177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4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HAVING-CLAUSE</a:t>
            </a:r>
            <a:endParaRPr/>
          </a:p>
        </p:txBody>
      </p:sp>
      <p:sp>
        <p:nvSpPr>
          <p:cNvPr id="505" name="Google Shape;505;p4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pic>
        <p:nvPicPr>
          <p:cNvPr id="506" name="Google Shape;506;p44"/>
          <p:cNvPicPr preferRelativeResize="0"/>
          <p:nvPr/>
        </p:nvPicPr>
        <p:blipFill rotWithShape="1">
          <a:blip r:embed="rId3">
            <a:alphaModFix/>
          </a:blip>
          <a:srcRect b="0" l="0" r="0" t="0"/>
          <a:stretch/>
        </p:blipFill>
        <p:spPr>
          <a:xfrm>
            <a:off x="229927" y="2010526"/>
            <a:ext cx="8167730" cy="372352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4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General form of Grouping and Aggregation</a:t>
            </a:r>
            <a:endParaRPr/>
          </a:p>
        </p:txBody>
      </p:sp>
      <p:sp>
        <p:nvSpPr>
          <p:cNvPr id="513" name="Google Shape;513;p45"/>
          <p:cNvSpPr txBox="1"/>
          <p:nvPr>
            <p:ph idx="4294967295" type="body"/>
          </p:nvPr>
        </p:nvSpPr>
        <p:spPr>
          <a:xfrm>
            <a:off x="609600" y="4114800"/>
            <a:ext cx="7785100" cy="2209800"/>
          </a:xfrm>
          <a:prstGeom prst="rect">
            <a:avLst/>
          </a:prstGeom>
          <a:noFill/>
          <a:ln>
            <a:noFill/>
          </a:ln>
        </p:spPr>
        <p:txBody>
          <a:bodyPr anchorCtr="0" anchor="t" bIns="45700" lIns="91425" spcFirstLastPara="1" rIns="91425" wrap="square" tIns="45700">
            <a:spAutoFit/>
          </a:bodyPr>
          <a:lstStyle/>
          <a:p>
            <a:pPr indent="-609600" lvl="0" marL="609600" rtl="0" algn="l">
              <a:spcBef>
                <a:spcPts val="0"/>
              </a:spcBef>
              <a:spcAft>
                <a:spcPts val="0"/>
              </a:spcAft>
              <a:buSzPts val="1680"/>
              <a:buFont typeface="Calibri"/>
              <a:buNone/>
            </a:pPr>
            <a:r>
              <a:rPr lang="en-US" sz="2400"/>
              <a:t>Evaluation steps:</a:t>
            </a:r>
            <a:endParaRPr/>
          </a:p>
          <a:p>
            <a:pPr indent="-609600" lvl="0" marL="609600" rtl="0" algn="l">
              <a:spcBef>
                <a:spcPts val="600"/>
              </a:spcBef>
              <a:spcAft>
                <a:spcPts val="0"/>
              </a:spcAft>
              <a:buSzPts val="1680"/>
              <a:buFont typeface="Calibri"/>
              <a:buAutoNum type="arabicPeriod"/>
            </a:pPr>
            <a:r>
              <a:rPr lang="en-US" sz="2400"/>
              <a:t>Evaluate FROM-WHERE, apply condition C1</a:t>
            </a:r>
            <a:endParaRPr/>
          </a:p>
          <a:p>
            <a:pPr indent="-609600" lvl="0" marL="609600" rtl="0" algn="l">
              <a:spcBef>
                <a:spcPts val="600"/>
              </a:spcBef>
              <a:spcAft>
                <a:spcPts val="0"/>
              </a:spcAft>
              <a:buSzPts val="1680"/>
              <a:buFont typeface="Calibri"/>
              <a:buAutoNum type="arabicPeriod"/>
            </a:pPr>
            <a:r>
              <a:rPr lang="en-US" sz="2400"/>
              <a:t>Group by the attributes a</a:t>
            </a:r>
            <a:r>
              <a:rPr baseline="-25000" lang="en-US" sz="2400"/>
              <a:t>1</a:t>
            </a:r>
            <a:r>
              <a:rPr lang="en-US" sz="2400"/>
              <a:t>,…,a</a:t>
            </a:r>
            <a:r>
              <a:rPr baseline="-25000" lang="en-US" sz="2400"/>
              <a:t>k</a:t>
            </a:r>
            <a:r>
              <a:rPr baseline="-25000" lang="en-US"/>
              <a:t> </a:t>
            </a:r>
            <a:endParaRPr sz="2400"/>
          </a:p>
          <a:p>
            <a:pPr indent="-609600" lvl="0" marL="609600" rtl="0" algn="l">
              <a:spcBef>
                <a:spcPts val="600"/>
              </a:spcBef>
              <a:spcAft>
                <a:spcPts val="0"/>
              </a:spcAft>
              <a:buSzPts val="1680"/>
              <a:buFont typeface="Calibri"/>
              <a:buAutoNum type="arabicPeriod"/>
            </a:pPr>
            <a:r>
              <a:rPr lang="en-US" sz="2400"/>
              <a:t>Apply condition C2 to each group (may have aggregates)</a:t>
            </a:r>
            <a:endParaRPr/>
          </a:p>
          <a:p>
            <a:pPr indent="-609600" lvl="0" marL="609600" rtl="0" algn="l">
              <a:spcBef>
                <a:spcPts val="600"/>
              </a:spcBef>
              <a:spcAft>
                <a:spcPts val="0"/>
              </a:spcAft>
              <a:buSzPts val="1680"/>
              <a:buFont typeface="Calibri"/>
              <a:buAutoNum type="arabicPeriod"/>
            </a:pPr>
            <a:r>
              <a:rPr lang="en-US" sz="2400"/>
              <a:t>Compute aggregates in S and return the result</a:t>
            </a:r>
            <a:endParaRPr/>
          </a:p>
        </p:txBody>
      </p:sp>
      <p:sp>
        <p:nvSpPr>
          <p:cNvPr id="514" name="Google Shape;514;p45"/>
          <p:cNvSpPr/>
          <p:nvPr/>
        </p:nvSpPr>
        <p:spPr>
          <a:xfrm>
            <a:off x="1066800" y="1981200"/>
            <a:ext cx="2733675" cy="2036763"/>
          </a:xfrm>
          <a:prstGeom prst="rect">
            <a:avLst/>
          </a:prstGeom>
          <a:solidFill>
            <a:schemeClr val="lt1"/>
          </a:solidFill>
          <a:ln cap="flat" cmpd="sng" w="9525">
            <a:solidFill>
              <a:schemeClr val="dk1"/>
            </a:solidFill>
            <a:prstDash val="solid"/>
            <a:miter lim="800000"/>
            <a:headEnd len="sm" w="sm" type="none"/>
            <a:tailEnd len="sm" w="sm" type="none"/>
          </a:ln>
          <a:effectLst>
            <a:outerShdw rotWithShape="0" algn="ctr" dir="2700000" dist="107763">
              <a:schemeClr val="lt2"/>
            </a:outerShdw>
          </a:effectLst>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2400">
                <a:solidFill>
                  <a:schemeClr val="dk1"/>
                </a:solidFill>
                <a:latin typeface="Times New Roman"/>
                <a:ea typeface="Times New Roman"/>
                <a:cs typeface="Times New Roman"/>
                <a:sym typeface="Times New Roman"/>
              </a:rPr>
              <a:t>SELECT    S</a:t>
            </a:r>
            <a:endParaRPr/>
          </a:p>
          <a:p>
            <a:pPr indent="0" lvl="0" marL="0" marR="0" rtl="0" algn="l">
              <a:lnSpc>
                <a:spcPct val="90000"/>
              </a:lnSpc>
              <a:spcBef>
                <a:spcPts val="480"/>
              </a:spcBef>
              <a:spcAft>
                <a:spcPts val="0"/>
              </a:spcAft>
              <a:buNone/>
            </a:pPr>
            <a:r>
              <a:rPr lang="en-US" sz="2400">
                <a:solidFill>
                  <a:schemeClr val="dk1"/>
                </a:solidFill>
                <a:latin typeface="Times New Roman"/>
                <a:ea typeface="Times New Roman"/>
                <a:cs typeface="Times New Roman"/>
                <a:sym typeface="Times New Roman"/>
              </a:rPr>
              <a:t>FROM       R</a:t>
            </a:r>
            <a:r>
              <a:rPr baseline="-25000" lang="en-US" sz="2400">
                <a:solidFill>
                  <a:schemeClr val="dk1"/>
                </a:solidFill>
                <a:latin typeface="Times New Roman"/>
                <a:ea typeface="Times New Roman"/>
                <a:cs typeface="Times New Roman"/>
                <a:sym typeface="Times New Roman"/>
              </a:rPr>
              <a:t>1</a:t>
            </a:r>
            <a:r>
              <a:rPr lang="en-US" sz="2400">
                <a:solidFill>
                  <a:schemeClr val="dk1"/>
                </a:solidFill>
                <a:latin typeface="Times New Roman"/>
                <a:ea typeface="Times New Roman"/>
                <a:cs typeface="Times New Roman"/>
                <a:sym typeface="Times New Roman"/>
              </a:rPr>
              <a:t>,…,R</a:t>
            </a:r>
            <a:r>
              <a:rPr baseline="-25000" lang="en-US" sz="2400">
                <a:solidFill>
                  <a:schemeClr val="dk1"/>
                </a:solidFill>
                <a:latin typeface="Times New Roman"/>
                <a:ea typeface="Times New Roman"/>
                <a:cs typeface="Times New Roman"/>
                <a:sym typeface="Times New Roman"/>
              </a:rPr>
              <a:t>n</a:t>
            </a:r>
            <a:endParaRPr baseline="-25000" sz="2400">
              <a:solidFill>
                <a:schemeClr val="dk1"/>
              </a:solidFill>
              <a:latin typeface="Times New Roman"/>
              <a:ea typeface="Times New Roman"/>
              <a:cs typeface="Times New Roman"/>
              <a:sym typeface="Times New Roman"/>
            </a:endParaRPr>
          </a:p>
          <a:p>
            <a:pPr indent="0" lvl="0" marL="0" marR="0" rtl="0" algn="l">
              <a:lnSpc>
                <a:spcPct val="90000"/>
              </a:lnSpc>
              <a:spcBef>
                <a:spcPts val="480"/>
              </a:spcBef>
              <a:spcAft>
                <a:spcPts val="0"/>
              </a:spcAft>
              <a:buNone/>
            </a:pPr>
            <a:r>
              <a:rPr lang="en-US" sz="2400">
                <a:solidFill>
                  <a:schemeClr val="dk1"/>
                </a:solidFill>
                <a:latin typeface="Times New Roman"/>
                <a:ea typeface="Times New Roman"/>
                <a:cs typeface="Times New Roman"/>
                <a:sym typeface="Times New Roman"/>
              </a:rPr>
              <a:t>WHERE    C1</a:t>
            </a:r>
            <a:endParaRPr/>
          </a:p>
          <a:p>
            <a:pPr indent="0" lvl="0" marL="0" marR="0" rtl="0" algn="l">
              <a:lnSpc>
                <a:spcPct val="90000"/>
              </a:lnSpc>
              <a:spcBef>
                <a:spcPts val="480"/>
              </a:spcBef>
              <a:spcAft>
                <a:spcPts val="0"/>
              </a:spcAft>
              <a:buNone/>
            </a:pPr>
            <a:r>
              <a:rPr lang="en-US" sz="2400">
                <a:solidFill>
                  <a:schemeClr val="dk1"/>
                </a:solidFill>
                <a:latin typeface="Times New Roman"/>
                <a:ea typeface="Times New Roman"/>
                <a:cs typeface="Times New Roman"/>
                <a:sym typeface="Times New Roman"/>
              </a:rPr>
              <a:t>GROUP BY a</a:t>
            </a:r>
            <a:r>
              <a:rPr baseline="-25000" lang="en-US" sz="2400">
                <a:solidFill>
                  <a:schemeClr val="dk1"/>
                </a:solidFill>
                <a:latin typeface="Times New Roman"/>
                <a:ea typeface="Times New Roman"/>
                <a:cs typeface="Times New Roman"/>
                <a:sym typeface="Times New Roman"/>
              </a:rPr>
              <a:t>1</a:t>
            </a:r>
            <a:r>
              <a:rPr lang="en-US" sz="2400">
                <a:solidFill>
                  <a:schemeClr val="dk1"/>
                </a:solidFill>
                <a:latin typeface="Times New Roman"/>
                <a:ea typeface="Times New Roman"/>
                <a:cs typeface="Times New Roman"/>
                <a:sym typeface="Times New Roman"/>
              </a:rPr>
              <a:t>,…,a</a:t>
            </a:r>
            <a:r>
              <a:rPr baseline="-25000" lang="en-US" sz="2400">
                <a:solidFill>
                  <a:schemeClr val="dk1"/>
                </a:solidFill>
                <a:latin typeface="Times New Roman"/>
                <a:ea typeface="Times New Roman"/>
                <a:cs typeface="Times New Roman"/>
                <a:sym typeface="Times New Roman"/>
              </a:rPr>
              <a:t>k</a:t>
            </a:r>
            <a:endParaRPr baseline="-25000" sz="2400">
              <a:solidFill>
                <a:schemeClr val="dk1"/>
              </a:solidFill>
              <a:latin typeface="Times New Roman"/>
              <a:ea typeface="Times New Roman"/>
              <a:cs typeface="Times New Roman"/>
              <a:sym typeface="Times New Roman"/>
            </a:endParaRPr>
          </a:p>
          <a:p>
            <a:pPr indent="0" lvl="0" marL="0" marR="0" rtl="0" algn="l">
              <a:lnSpc>
                <a:spcPct val="90000"/>
              </a:lnSpc>
              <a:spcBef>
                <a:spcPts val="480"/>
              </a:spcBef>
              <a:spcAft>
                <a:spcPts val="0"/>
              </a:spcAft>
              <a:buNone/>
            </a:pPr>
            <a:r>
              <a:rPr lang="en-US" sz="2400">
                <a:solidFill>
                  <a:schemeClr val="dk1"/>
                </a:solidFill>
                <a:latin typeface="Times New Roman"/>
                <a:ea typeface="Times New Roman"/>
                <a:cs typeface="Times New Roman"/>
                <a:sym typeface="Times New Roman"/>
              </a:rPr>
              <a:t>HAVING     C2</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4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Practice</a:t>
            </a:r>
            <a:endParaRPr/>
          </a:p>
        </p:txBody>
      </p:sp>
      <p:sp>
        <p:nvSpPr>
          <p:cNvPr id="522" name="Google Shape;522;p46"/>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457200" lvl="0" marL="457200" rtl="0" algn="l">
              <a:spcBef>
                <a:spcPts val="0"/>
              </a:spcBef>
              <a:spcAft>
                <a:spcPts val="0"/>
              </a:spcAft>
              <a:buSzPts val="1680"/>
              <a:buFont typeface="Calibri"/>
              <a:buAutoNum type="arabicPeriod"/>
            </a:pPr>
            <a:r>
              <a:rPr lang="en-US"/>
              <a:t>Display the department that has no employees.</a:t>
            </a:r>
            <a:endParaRPr/>
          </a:p>
          <a:p>
            <a:pPr indent="-457200" lvl="0" marL="457200" rtl="0" algn="l">
              <a:spcBef>
                <a:spcPts val="600"/>
              </a:spcBef>
              <a:spcAft>
                <a:spcPts val="0"/>
              </a:spcAft>
              <a:buSzPts val="1680"/>
              <a:buFont typeface="Calibri"/>
              <a:buAutoNum type="arabicPeriod"/>
            </a:pPr>
            <a:r>
              <a:rPr lang="en-US"/>
              <a:t>List all employees by name and SSN along with their manager’s name.</a:t>
            </a:r>
            <a:endParaRPr/>
          </a:p>
          <a:p>
            <a:pPr indent="-457200" lvl="0" marL="457200" rtl="0" algn="l">
              <a:spcBef>
                <a:spcPts val="600"/>
              </a:spcBef>
              <a:spcAft>
                <a:spcPts val="0"/>
              </a:spcAft>
              <a:buSzPts val="1680"/>
              <a:buFont typeface="Calibri"/>
              <a:buAutoNum type="arabicPeriod"/>
            </a:pPr>
            <a:r>
              <a:rPr lang="en-US"/>
              <a:t>Find all employees who are older than their manager.</a:t>
            </a:r>
            <a:endParaRPr/>
          </a:p>
          <a:p>
            <a:pPr indent="-457200" lvl="0" marL="457200" rtl="0" algn="l">
              <a:spcBef>
                <a:spcPts val="600"/>
              </a:spcBef>
              <a:spcAft>
                <a:spcPts val="0"/>
              </a:spcAft>
              <a:buSzPts val="1680"/>
              <a:buFont typeface="Calibri"/>
              <a:buAutoNum type="arabicPeriod"/>
            </a:pPr>
            <a:r>
              <a:rPr lang="en-US"/>
              <a:t>Display the ssn  of all employees who report to John.</a:t>
            </a:r>
            <a:endParaRPr/>
          </a:p>
          <a:p>
            <a:pPr indent="-457200" lvl="0" marL="457200" rtl="0" algn="l">
              <a:spcBef>
                <a:spcPts val="600"/>
              </a:spcBef>
              <a:spcAft>
                <a:spcPts val="0"/>
              </a:spcAft>
              <a:buSzPts val="1680"/>
              <a:buFont typeface="Calibri"/>
              <a:buAutoNum type="arabicPeriod"/>
            </a:pPr>
            <a:r>
              <a:rPr lang="en-US"/>
              <a:t>Find out how many managers there are without listing them.</a:t>
            </a:r>
            <a:endParaRPr/>
          </a:p>
          <a:p>
            <a:pPr indent="-457200" lvl="0" marL="457200" rtl="0" algn="l">
              <a:spcBef>
                <a:spcPts val="600"/>
              </a:spcBef>
              <a:spcAft>
                <a:spcPts val="0"/>
              </a:spcAft>
              <a:buSzPts val="1680"/>
              <a:buFont typeface="Calibri"/>
              <a:buAutoNum type="arabicPeriod"/>
            </a:pPr>
            <a:r>
              <a:rPr lang="en-US"/>
              <a:t>Find out the difference between highest and lowest salaries.</a:t>
            </a:r>
            <a:endParaRPr/>
          </a:p>
          <a:p>
            <a:pPr indent="-457200" lvl="0" marL="457200" rtl="0" algn="l">
              <a:spcBef>
                <a:spcPts val="600"/>
              </a:spcBef>
              <a:spcAft>
                <a:spcPts val="0"/>
              </a:spcAft>
              <a:buSzPts val="1680"/>
              <a:buFont typeface="Calibri"/>
              <a:buAutoNum type="arabicPeriod"/>
            </a:pPr>
            <a:r>
              <a:rPr lang="en-US"/>
              <a:t>List ssn of all employees with more than 2 dependents</a:t>
            </a:r>
            <a:endParaRPr/>
          </a:p>
          <a:p>
            <a:pPr indent="-167640" lvl="0" marL="274320" rtl="0" algn="l">
              <a:spcBef>
                <a:spcPts val="600"/>
              </a:spcBef>
              <a:spcAft>
                <a:spcPts val="0"/>
              </a:spcAft>
              <a:buSzPts val="1680"/>
              <a:buNone/>
            </a:pPr>
            <a:r>
              <a:t/>
            </a:r>
            <a:endParaRPr/>
          </a:p>
        </p:txBody>
      </p:sp>
      <p:sp>
        <p:nvSpPr>
          <p:cNvPr id="523" name="Google Shape;523;p4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4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Calibri"/>
              <a:buNone/>
            </a:pPr>
            <a:r>
              <a:rPr b="1" lang="en-US" sz="3200"/>
              <a:t>NESTING OF QUERIES</a:t>
            </a:r>
            <a:endParaRPr b="1" sz="3200">
              <a:solidFill>
                <a:srgbClr val="000000"/>
              </a:solidFill>
            </a:endParaRPr>
          </a:p>
        </p:txBody>
      </p:sp>
      <p:sp>
        <p:nvSpPr>
          <p:cNvPr id="531" name="Google Shape;531;p47"/>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400"/>
              <a:buChar char="🞆"/>
            </a:pPr>
            <a:r>
              <a:rPr lang="en-US" sz="2000">
                <a:solidFill>
                  <a:srgbClr val="000000"/>
                </a:solidFill>
              </a:rPr>
              <a:t>A complete SELECT query, called a </a:t>
            </a:r>
            <a:r>
              <a:rPr i="1" lang="en-US" sz="2000">
                <a:solidFill>
                  <a:srgbClr val="000000"/>
                </a:solidFill>
              </a:rPr>
              <a:t>nested query</a:t>
            </a:r>
            <a:r>
              <a:rPr lang="en-US" sz="2000">
                <a:solidFill>
                  <a:srgbClr val="000000"/>
                </a:solidFill>
              </a:rPr>
              <a:t> , can be specified within the WHERE-clause of another query, called the </a:t>
            </a:r>
            <a:r>
              <a:rPr i="1" lang="en-US" sz="2000">
                <a:solidFill>
                  <a:srgbClr val="000000"/>
                </a:solidFill>
              </a:rPr>
              <a:t>outer query</a:t>
            </a:r>
            <a:endParaRPr/>
          </a:p>
          <a:p>
            <a:pPr indent="-274320" lvl="0" marL="274320" rtl="0" algn="l">
              <a:spcBef>
                <a:spcPts val="600"/>
              </a:spcBef>
              <a:spcAft>
                <a:spcPts val="0"/>
              </a:spcAft>
              <a:buSzPts val="1400"/>
              <a:buChar char="🞆"/>
            </a:pPr>
            <a:r>
              <a:rPr lang="en-US" sz="2000">
                <a:solidFill>
                  <a:srgbClr val="000000"/>
                </a:solidFill>
              </a:rPr>
              <a:t>Retrieve the name and address of all employees who work for the 'Research' department.</a:t>
            </a:r>
            <a:br>
              <a:rPr lang="en-US" sz="2000">
                <a:solidFill>
                  <a:srgbClr val="000000"/>
                </a:solidFill>
              </a:rPr>
            </a:br>
            <a:endParaRPr sz="2000">
              <a:solidFill>
                <a:srgbClr val="000000"/>
              </a:solidFill>
            </a:endParaRPr>
          </a:p>
          <a:p>
            <a:pPr indent="-274320" lvl="0" marL="274320" rtl="0" algn="l">
              <a:spcBef>
                <a:spcPts val="600"/>
              </a:spcBef>
              <a:spcAft>
                <a:spcPts val="0"/>
              </a:spcAft>
              <a:buSzPts val="1400"/>
              <a:buNone/>
            </a:pPr>
            <a:r>
              <a:rPr b="1" lang="en-US" sz="2000">
                <a:solidFill>
                  <a:srgbClr val="000000"/>
                </a:solidFill>
              </a:rPr>
              <a:t>		SELECT	</a:t>
            </a:r>
            <a:r>
              <a:rPr lang="en-US" sz="2000">
                <a:solidFill>
                  <a:srgbClr val="000000"/>
                </a:solidFill>
              </a:rPr>
              <a:t>FNAME, LNAME, ADDRESS</a:t>
            </a:r>
            <a:br>
              <a:rPr b="1" lang="en-US" sz="2000">
                <a:solidFill>
                  <a:srgbClr val="000000"/>
                </a:solidFill>
              </a:rPr>
            </a:br>
            <a:r>
              <a:rPr b="1" lang="en-US" sz="2000">
                <a:solidFill>
                  <a:srgbClr val="000000"/>
                </a:solidFill>
              </a:rPr>
              <a:t>	FROM 	</a:t>
            </a:r>
            <a:r>
              <a:rPr lang="en-US" sz="2000">
                <a:solidFill>
                  <a:srgbClr val="000000"/>
                </a:solidFill>
              </a:rPr>
              <a:t>EMPLOYEE</a:t>
            </a:r>
            <a:br>
              <a:rPr b="1" lang="en-US" sz="2000">
                <a:solidFill>
                  <a:srgbClr val="000000"/>
                </a:solidFill>
              </a:rPr>
            </a:br>
            <a:r>
              <a:rPr b="1" lang="en-US" sz="2000">
                <a:solidFill>
                  <a:srgbClr val="000000"/>
                </a:solidFill>
              </a:rPr>
              <a:t>	WHERE	</a:t>
            </a:r>
            <a:r>
              <a:rPr lang="en-US" sz="2000">
                <a:solidFill>
                  <a:srgbClr val="000000"/>
                </a:solidFill>
              </a:rPr>
              <a:t>DNO </a:t>
            </a:r>
            <a:r>
              <a:rPr b="1" lang="en-US" sz="2000">
                <a:solidFill>
                  <a:srgbClr val="000000"/>
                </a:solidFill>
              </a:rPr>
              <a:t>IN  </a:t>
            </a:r>
            <a:r>
              <a:rPr lang="en-US" sz="2000">
                <a:solidFill>
                  <a:srgbClr val="000000"/>
                </a:solidFill>
              </a:rPr>
              <a:t>(</a:t>
            </a:r>
            <a:r>
              <a:rPr b="1" lang="en-US" sz="2000">
                <a:solidFill>
                  <a:srgbClr val="000000"/>
                </a:solidFill>
              </a:rPr>
              <a:t>SELECT  </a:t>
            </a:r>
            <a:r>
              <a:rPr lang="en-US" sz="2000">
                <a:solidFill>
                  <a:srgbClr val="000000"/>
                </a:solidFill>
              </a:rPr>
              <a:t>DNUMBER</a:t>
            </a:r>
            <a:br>
              <a:rPr b="1" lang="en-US" sz="2000">
                <a:solidFill>
                  <a:srgbClr val="000000"/>
                </a:solidFill>
              </a:rPr>
            </a:br>
            <a:r>
              <a:rPr b="1" lang="en-US" sz="2000">
                <a:solidFill>
                  <a:srgbClr val="000000"/>
                </a:solidFill>
              </a:rPr>
              <a:t>		FROM	</a:t>
            </a:r>
            <a:r>
              <a:rPr lang="en-US" sz="2000">
                <a:solidFill>
                  <a:srgbClr val="000000"/>
                </a:solidFill>
              </a:rPr>
              <a:t>DEPARTMENT</a:t>
            </a:r>
            <a:br>
              <a:rPr b="1" lang="en-US" sz="2000">
                <a:solidFill>
                  <a:srgbClr val="000000"/>
                </a:solidFill>
              </a:rPr>
            </a:br>
            <a:r>
              <a:rPr b="1" lang="en-US" sz="2000">
                <a:solidFill>
                  <a:srgbClr val="000000"/>
                </a:solidFill>
              </a:rPr>
              <a:t>		WHERE	</a:t>
            </a:r>
            <a:r>
              <a:rPr lang="en-US" sz="2000">
                <a:solidFill>
                  <a:srgbClr val="000000"/>
                </a:solidFill>
              </a:rPr>
              <a:t>DNAME='Research' )</a:t>
            </a:r>
            <a:br>
              <a:rPr lang="en-US" sz="2000">
                <a:solidFill>
                  <a:srgbClr val="000000"/>
                </a:solidFill>
              </a:rPr>
            </a:br>
            <a:endParaRPr sz="2800">
              <a:solidFill>
                <a:srgbClr val="000000"/>
              </a:solidFill>
            </a:endParaRPr>
          </a:p>
        </p:txBody>
      </p:sp>
      <p:sp>
        <p:nvSpPr>
          <p:cNvPr id="532" name="Google Shape;532;p4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pic>
        <p:nvPicPr>
          <p:cNvPr id="533" name="Google Shape;533;p47"/>
          <p:cNvPicPr preferRelativeResize="0"/>
          <p:nvPr/>
        </p:nvPicPr>
        <p:blipFill rotWithShape="1">
          <a:blip r:embed="rId3">
            <a:alphaModFix/>
          </a:blip>
          <a:srcRect b="0" l="0" r="0" t="0"/>
          <a:stretch/>
        </p:blipFill>
        <p:spPr>
          <a:xfrm>
            <a:off x="4898923" y="4848929"/>
            <a:ext cx="3025877" cy="177024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
                                        </p:tgtEl>
                                        <p:attrNameLst>
                                          <p:attrName>style.visibility</p:attrName>
                                        </p:attrNameLst>
                                      </p:cBhvr>
                                      <p:to>
                                        <p:strVal val="visible"/>
                                      </p:to>
                                    </p:set>
                                    <p:animEffect filter="fade" transition="in">
                                      <p:cBhvr>
                                        <p:cTn dur="500"/>
                                        <p:tgtEl>
                                          <p:spTgt spid="5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b="1" lang="en-US"/>
              <a:t>CORRELATED NESTED QUERIES</a:t>
            </a:r>
            <a:endParaRPr b="1">
              <a:solidFill>
                <a:srgbClr val="000000"/>
              </a:solidFill>
            </a:endParaRPr>
          </a:p>
        </p:txBody>
      </p:sp>
      <p:sp>
        <p:nvSpPr>
          <p:cNvPr id="541" name="Google Shape;541;p48"/>
          <p:cNvSpPr txBox="1"/>
          <p:nvPr>
            <p:ph idx="1" type="body"/>
          </p:nvPr>
        </p:nvSpPr>
        <p:spPr>
          <a:xfrm>
            <a:off x="457200" y="1600200"/>
            <a:ext cx="8465574"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400"/>
              <a:buChar char="🞆"/>
            </a:pPr>
            <a:r>
              <a:rPr lang="en-US" sz="2000">
                <a:solidFill>
                  <a:srgbClr val="000000"/>
                </a:solidFill>
              </a:rPr>
              <a:t>If a condition in the </a:t>
            </a:r>
            <a:r>
              <a:rPr i="1" lang="en-US" sz="2000">
                <a:solidFill>
                  <a:srgbClr val="000000"/>
                </a:solidFill>
              </a:rPr>
              <a:t>nested query</a:t>
            </a:r>
            <a:r>
              <a:rPr lang="en-US" sz="2000">
                <a:solidFill>
                  <a:srgbClr val="000000"/>
                </a:solidFill>
              </a:rPr>
              <a:t>  references an attribute of a relation declared in the </a:t>
            </a:r>
            <a:r>
              <a:rPr i="1" lang="en-US" sz="2000">
                <a:solidFill>
                  <a:srgbClr val="000000"/>
                </a:solidFill>
              </a:rPr>
              <a:t>outer query</a:t>
            </a:r>
            <a:r>
              <a:rPr lang="en-US" sz="2000">
                <a:solidFill>
                  <a:srgbClr val="000000"/>
                </a:solidFill>
              </a:rPr>
              <a:t> , then two queries are said to be </a:t>
            </a:r>
            <a:r>
              <a:rPr i="1" lang="en-US" sz="2000">
                <a:solidFill>
                  <a:srgbClr val="000000"/>
                </a:solidFill>
              </a:rPr>
              <a:t>correlated</a:t>
            </a:r>
            <a:endParaRPr/>
          </a:p>
          <a:p>
            <a:pPr indent="-274320" lvl="0" marL="274320" rtl="0" algn="l">
              <a:spcBef>
                <a:spcPts val="600"/>
              </a:spcBef>
              <a:spcAft>
                <a:spcPts val="0"/>
              </a:spcAft>
              <a:buSzPts val="1400"/>
              <a:buChar char="🞆"/>
            </a:pPr>
            <a:r>
              <a:rPr lang="en-US" sz="2000">
                <a:solidFill>
                  <a:srgbClr val="000000"/>
                </a:solidFill>
              </a:rPr>
              <a:t>Retrieve the name of each employee who has a dependent with the same first name as the employee.</a:t>
            </a:r>
            <a:endParaRPr/>
          </a:p>
          <a:p>
            <a:pPr indent="-274320" lvl="0" marL="274320" rtl="0" algn="l">
              <a:spcBef>
                <a:spcPts val="600"/>
              </a:spcBef>
              <a:spcAft>
                <a:spcPts val="0"/>
              </a:spcAft>
              <a:buSzPts val="1400"/>
              <a:buNone/>
            </a:pPr>
            <a:r>
              <a:rPr lang="en-US" sz="2000">
                <a:solidFill>
                  <a:srgbClr val="000000"/>
                </a:solidFill>
              </a:rPr>
              <a:t>	</a:t>
            </a:r>
            <a:r>
              <a:rPr b="1" lang="en-US" sz="2000">
                <a:solidFill>
                  <a:srgbClr val="000000"/>
                </a:solidFill>
              </a:rPr>
              <a:t>SELECT  E.FNAME, E.LNAME</a:t>
            </a:r>
            <a:br>
              <a:rPr b="1" lang="en-US" sz="2000">
                <a:solidFill>
                  <a:srgbClr val="000000"/>
                </a:solidFill>
              </a:rPr>
            </a:br>
            <a:r>
              <a:rPr b="1" lang="en-US" sz="2000">
                <a:solidFill>
                  <a:srgbClr val="000000"/>
                </a:solidFill>
              </a:rPr>
              <a:t>FROM    EMPLOYEE AS E</a:t>
            </a:r>
            <a:br>
              <a:rPr b="1" lang="en-US" sz="2000">
                <a:solidFill>
                  <a:srgbClr val="000000"/>
                </a:solidFill>
              </a:rPr>
            </a:br>
            <a:r>
              <a:rPr b="1" lang="en-US" sz="2000">
                <a:solidFill>
                  <a:srgbClr val="000000"/>
                </a:solidFill>
              </a:rPr>
              <a:t>WHERE  E.SSN IN (SELECT ESSN 	FROM	DEPENDENT AS D</a:t>
            </a:r>
            <a:br>
              <a:rPr b="1" lang="en-US" sz="2000">
                <a:solidFill>
                  <a:srgbClr val="000000"/>
                </a:solidFill>
              </a:rPr>
            </a:br>
            <a:r>
              <a:rPr b="1" lang="en-US" sz="2000">
                <a:solidFill>
                  <a:srgbClr val="000000"/>
                </a:solidFill>
              </a:rPr>
              <a:t>		   WHERE E.SSN = D.ESSN AND FNAME=DEPENDENT_NAME)</a:t>
            </a:r>
            <a:endParaRPr b="1" sz="2400">
              <a:solidFill>
                <a:srgbClr val="000000"/>
              </a:solidFill>
            </a:endParaRPr>
          </a:p>
        </p:txBody>
      </p:sp>
      <p:sp>
        <p:nvSpPr>
          <p:cNvPr id="542" name="Google Shape;542;p4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pic>
        <p:nvPicPr>
          <p:cNvPr descr="fig05_06" id="543" name="Google Shape;543;p48"/>
          <p:cNvPicPr preferRelativeResize="0"/>
          <p:nvPr/>
        </p:nvPicPr>
        <p:blipFill rotWithShape="1">
          <a:blip r:embed="rId3">
            <a:alphaModFix/>
          </a:blip>
          <a:srcRect b="67960" l="0" r="0" t="4191"/>
          <a:stretch/>
        </p:blipFill>
        <p:spPr>
          <a:xfrm>
            <a:off x="443235" y="4535791"/>
            <a:ext cx="4864062" cy="1725958"/>
          </a:xfrm>
          <a:prstGeom prst="rect">
            <a:avLst/>
          </a:prstGeom>
          <a:noFill/>
          <a:ln>
            <a:noFill/>
          </a:ln>
        </p:spPr>
      </p:pic>
      <p:sp>
        <p:nvSpPr>
          <p:cNvPr id="544" name="Google Shape;544;p48"/>
          <p:cNvSpPr txBox="1"/>
          <p:nvPr/>
        </p:nvSpPr>
        <p:spPr>
          <a:xfrm>
            <a:off x="457200" y="6255258"/>
            <a:ext cx="6738127"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Nested query is evaluated once for each tuple in outer query</a:t>
            </a:r>
            <a:endParaRPr b="1" sz="2000">
              <a:solidFill>
                <a:schemeClr val="dk1"/>
              </a:solidFill>
              <a:latin typeface="Times New Roman"/>
              <a:ea typeface="Times New Roman"/>
              <a:cs typeface="Times New Roman"/>
              <a:sym typeface="Times New Roman"/>
            </a:endParaRPr>
          </a:p>
        </p:txBody>
      </p:sp>
      <p:pic>
        <p:nvPicPr>
          <p:cNvPr descr="fig05_06" id="545" name="Google Shape;545;p48"/>
          <p:cNvPicPr preferRelativeResize="0"/>
          <p:nvPr/>
        </p:nvPicPr>
        <p:blipFill rotWithShape="1">
          <a:blip r:embed="rId3">
            <a:alphaModFix/>
          </a:blip>
          <a:srcRect b="0" l="32585" r="0" t="75270"/>
          <a:stretch/>
        </p:blipFill>
        <p:spPr>
          <a:xfrm>
            <a:off x="5307297" y="4621810"/>
            <a:ext cx="3357579" cy="156934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4"/>
                                        </p:tgtEl>
                                        <p:attrNameLst>
                                          <p:attrName>style.visibility</p:attrName>
                                        </p:attrNameLst>
                                      </p:cBhvr>
                                      <p:to>
                                        <p:strVal val="visible"/>
                                      </p:to>
                                    </p:set>
                                    <p:animEffect filter="fade" transition="in">
                                      <p:cBhvr>
                                        <p:cTn dur="500"/>
                                        <p:tgtEl>
                                          <p:spTgt spid="5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4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b="1" lang="en-US"/>
              <a:t>CORRELATED NESTED QUERIES </a:t>
            </a:r>
            <a:r>
              <a:rPr lang="en-US"/>
              <a:t>(cont.)</a:t>
            </a:r>
            <a:endParaRPr b="1">
              <a:solidFill>
                <a:srgbClr val="000000"/>
              </a:solidFill>
            </a:endParaRPr>
          </a:p>
        </p:txBody>
      </p:sp>
      <p:sp>
        <p:nvSpPr>
          <p:cNvPr id="553" name="Google Shape;553;p49"/>
          <p:cNvSpPr txBox="1"/>
          <p:nvPr>
            <p:ph idx="1" type="body"/>
          </p:nvPr>
        </p:nvSpPr>
        <p:spPr>
          <a:xfrm>
            <a:off x="685800" y="1806575"/>
            <a:ext cx="7772400" cy="4519613"/>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400"/>
              <a:buChar char="🞆"/>
            </a:pPr>
            <a:r>
              <a:rPr lang="en-US" sz="2000">
                <a:solidFill>
                  <a:srgbClr val="000000"/>
                </a:solidFill>
              </a:rPr>
              <a:t>A query written with nested SELECT... FROM... WHERE... blocks and using the = or IN comparison operators can </a:t>
            </a:r>
            <a:r>
              <a:rPr b="1" i="1" lang="en-US" sz="2000">
                <a:solidFill>
                  <a:srgbClr val="000000"/>
                </a:solidFill>
              </a:rPr>
              <a:t>always</a:t>
            </a:r>
            <a:r>
              <a:rPr b="1" lang="en-US" sz="2000">
                <a:solidFill>
                  <a:srgbClr val="000000"/>
                </a:solidFill>
              </a:rPr>
              <a:t>  </a:t>
            </a:r>
            <a:r>
              <a:rPr lang="en-US" sz="2000">
                <a:solidFill>
                  <a:srgbClr val="000000"/>
                </a:solidFill>
              </a:rPr>
              <a:t>be expressed as a single block query. </a:t>
            </a:r>
            <a:endParaRPr sz="2000">
              <a:solidFill>
                <a:srgbClr val="000000"/>
              </a:solidFill>
            </a:endParaRPr>
          </a:p>
          <a:p>
            <a:pPr indent="0" lvl="0" marL="0" rtl="0" algn="l">
              <a:lnSpc>
                <a:spcPct val="90000"/>
              </a:lnSpc>
              <a:spcBef>
                <a:spcPts val="600"/>
              </a:spcBef>
              <a:spcAft>
                <a:spcPts val="0"/>
              </a:spcAft>
              <a:buSzPts val="1400"/>
              <a:buNone/>
            </a:pPr>
            <a:r>
              <a:t/>
            </a:r>
            <a:endParaRPr sz="2000">
              <a:solidFill>
                <a:srgbClr val="000000"/>
              </a:solidFill>
            </a:endParaRPr>
          </a:p>
          <a:p>
            <a:pPr indent="0" lvl="0" marL="0" rtl="0" algn="l">
              <a:lnSpc>
                <a:spcPct val="90000"/>
              </a:lnSpc>
              <a:spcBef>
                <a:spcPts val="600"/>
              </a:spcBef>
              <a:spcAft>
                <a:spcPts val="0"/>
              </a:spcAft>
              <a:buSzPts val="1400"/>
              <a:buNone/>
            </a:pPr>
            <a:r>
              <a:rPr b="1" lang="en-US" sz="2000">
                <a:solidFill>
                  <a:srgbClr val="000000"/>
                </a:solidFill>
              </a:rPr>
              <a:t>Retrieve the name of each employee who has a dependent with the same first name as the employee.</a:t>
            </a:r>
            <a:endParaRPr/>
          </a:p>
          <a:p>
            <a:pPr indent="0" lvl="0" marL="0" rtl="0" algn="l">
              <a:lnSpc>
                <a:spcPct val="90000"/>
              </a:lnSpc>
              <a:spcBef>
                <a:spcPts val="600"/>
              </a:spcBef>
              <a:spcAft>
                <a:spcPts val="0"/>
              </a:spcAft>
              <a:buSzPts val="1400"/>
              <a:buNone/>
            </a:pPr>
            <a:br>
              <a:rPr lang="en-US" sz="2000">
                <a:solidFill>
                  <a:srgbClr val="000000"/>
                </a:solidFill>
              </a:rPr>
            </a:br>
            <a:r>
              <a:rPr b="1" lang="en-US" sz="2000">
                <a:solidFill>
                  <a:srgbClr val="000000"/>
                </a:solidFill>
              </a:rPr>
              <a:t>	</a:t>
            </a:r>
            <a:r>
              <a:rPr b="1" lang="en-US">
                <a:solidFill>
                  <a:srgbClr val="000000"/>
                </a:solidFill>
              </a:rPr>
              <a:t>SELECT 	E.FNAME, E.LNAME</a:t>
            </a:r>
            <a:br>
              <a:rPr b="1" lang="en-US">
                <a:solidFill>
                  <a:srgbClr val="000000"/>
                </a:solidFill>
              </a:rPr>
            </a:br>
            <a:r>
              <a:rPr b="1" lang="en-US">
                <a:solidFill>
                  <a:srgbClr val="000000"/>
                </a:solidFill>
              </a:rPr>
              <a:t>	FROM		EMPLOYEE E, DEPENDENT D</a:t>
            </a:r>
            <a:br>
              <a:rPr b="1" lang="en-US">
                <a:solidFill>
                  <a:srgbClr val="000000"/>
                </a:solidFill>
              </a:rPr>
            </a:br>
            <a:r>
              <a:rPr b="1" lang="en-US">
                <a:solidFill>
                  <a:srgbClr val="000000"/>
                </a:solidFill>
              </a:rPr>
              <a:t>	WHERE	E.SSN=D.ESSN AND						E.FNAME=D.DEPENDENT_NAME</a:t>
            </a:r>
            <a:br>
              <a:rPr b="1" lang="en-US" sz="2800">
                <a:solidFill>
                  <a:srgbClr val="000000"/>
                </a:solidFill>
              </a:rPr>
            </a:br>
            <a:endParaRPr b="1" sz="2800">
              <a:solidFill>
                <a:srgbClr val="000000"/>
              </a:solidFill>
            </a:endParaRPr>
          </a:p>
          <a:p>
            <a:pPr indent="-182880" lvl="1" marL="640080" rtl="0" algn="l">
              <a:lnSpc>
                <a:spcPct val="90000"/>
              </a:lnSpc>
              <a:spcBef>
                <a:spcPts val="360"/>
              </a:spcBef>
              <a:spcAft>
                <a:spcPts val="0"/>
              </a:spcAft>
              <a:buSzPts val="1440"/>
              <a:buNone/>
            </a:pPr>
            <a:r>
              <a:t/>
            </a:r>
            <a:endParaRPr sz="1800">
              <a:solidFill>
                <a:srgbClr val="000000"/>
              </a:solidFill>
            </a:endParaRPr>
          </a:p>
          <a:p>
            <a:pPr indent="-274320" lvl="1" marL="640080" rtl="0" algn="l">
              <a:lnSpc>
                <a:spcPct val="90000"/>
              </a:lnSpc>
              <a:spcBef>
                <a:spcPts val="360"/>
              </a:spcBef>
              <a:spcAft>
                <a:spcPts val="0"/>
              </a:spcAft>
              <a:buSzPts val="1440"/>
              <a:buFont typeface="Calibri"/>
              <a:buNone/>
            </a:pPr>
            <a:r>
              <a:t/>
            </a:r>
            <a:endParaRPr sz="1800">
              <a:solidFill>
                <a:srgbClr val="000000"/>
              </a:solidFill>
            </a:endParaRPr>
          </a:p>
        </p:txBody>
      </p:sp>
      <p:sp>
        <p:nvSpPr>
          <p:cNvPr id="554" name="Google Shape;554;p4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50"/>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Nested queries</a:t>
            </a:r>
            <a:endParaRPr/>
          </a:p>
        </p:txBody>
      </p:sp>
      <p:sp>
        <p:nvSpPr>
          <p:cNvPr id="562" name="Google Shape;562;p50"/>
          <p:cNvSpPr txBox="1"/>
          <p:nvPr>
            <p:ph idx="1" type="body"/>
          </p:nvPr>
        </p:nvSpPr>
        <p:spPr>
          <a:xfrm>
            <a:off x="457199" y="2274034"/>
            <a:ext cx="7467600" cy="3752267"/>
          </a:xfrm>
          <a:prstGeom prst="rect">
            <a:avLst/>
          </a:prstGeom>
          <a:noFill/>
          <a:ln>
            <a:noFill/>
          </a:ln>
        </p:spPr>
        <p:txBody>
          <a:bodyPr anchorCtr="0" anchor="t" bIns="45700" lIns="91425" spcFirstLastPara="1" rIns="91425" wrap="square" tIns="45700">
            <a:normAutofit lnSpcReduction="10000"/>
          </a:bodyPr>
          <a:lstStyle/>
          <a:p>
            <a:pPr indent="-167640" lvl="0" marL="274320" rtl="0" algn="l">
              <a:spcBef>
                <a:spcPts val="0"/>
              </a:spcBef>
              <a:spcAft>
                <a:spcPts val="0"/>
              </a:spcAft>
              <a:buSzPts val="1680"/>
              <a:buNone/>
            </a:pPr>
            <a:r>
              <a:t/>
            </a:r>
            <a:endParaRPr/>
          </a:p>
          <a:p>
            <a:pPr indent="-274320" lvl="0" marL="274320" rtl="0" algn="l">
              <a:spcBef>
                <a:spcPts val="600"/>
              </a:spcBef>
              <a:spcAft>
                <a:spcPts val="0"/>
              </a:spcAft>
              <a:buSzPts val="1540"/>
              <a:buChar char="🞆"/>
            </a:pPr>
            <a:r>
              <a:rPr lang="en-US" sz="2200"/>
              <a:t>Select the SSN of all employees who work the same (project, hours) combination that  ‘John Smith’ (whose Ssn = ‘123456789’) works on.</a:t>
            </a:r>
            <a:endParaRPr b="1" sz="2200"/>
          </a:p>
          <a:p>
            <a:pPr indent="-185420" lvl="0" marL="274320" rtl="0" algn="l">
              <a:spcBef>
                <a:spcPts val="600"/>
              </a:spcBef>
              <a:spcAft>
                <a:spcPts val="0"/>
              </a:spcAft>
              <a:buSzPts val="1400"/>
              <a:buNone/>
            </a:pPr>
            <a:r>
              <a:t/>
            </a:r>
            <a:endParaRPr b="1" sz="2000"/>
          </a:p>
          <a:p>
            <a:pPr indent="-274320" lvl="0" marL="274320" rtl="0" algn="l">
              <a:spcBef>
                <a:spcPts val="600"/>
              </a:spcBef>
              <a:spcAft>
                <a:spcPts val="0"/>
              </a:spcAft>
              <a:buSzPts val="1400"/>
              <a:buChar char="🞆"/>
            </a:pPr>
            <a:r>
              <a:rPr b="1" lang="en-US" sz="2000"/>
              <a:t>SELECT DISTINCT </a:t>
            </a:r>
            <a:r>
              <a:rPr lang="en-US" sz="2000"/>
              <a:t>Essn</a:t>
            </a:r>
            <a:endParaRPr sz="2000"/>
          </a:p>
          <a:p>
            <a:pPr indent="0" lvl="0" marL="0" rtl="0" algn="l">
              <a:spcBef>
                <a:spcPts val="600"/>
              </a:spcBef>
              <a:spcAft>
                <a:spcPts val="0"/>
              </a:spcAft>
              <a:buSzPts val="1400"/>
              <a:buNone/>
            </a:pPr>
            <a:r>
              <a:rPr b="1" lang="en-US" sz="2000"/>
              <a:t>    FROM </a:t>
            </a:r>
            <a:r>
              <a:rPr lang="en-US" sz="2000"/>
              <a:t>WORKS_ON</a:t>
            </a:r>
            <a:endParaRPr/>
          </a:p>
          <a:p>
            <a:pPr indent="0" lvl="0" marL="0" rtl="0" algn="l">
              <a:spcBef>
                <a:spcPts val="600"/>
              </a:spcBef>
              <a:spcAft>
                <a:spcPts val="0"/>
              </a:spcAft>
              <a:buSzPts val="1400"/>
              <a:buNone/>
            </a:pPr>
            <a:r>
              <a:rPr b="1" lang="en-US" sz="2000"/>
              <a:t>    WHERE </a:t>
            </a:r>
            <a:r>
              <a:rPr lang="en-US" sz="2000"/>
              <a:t>(Pno, Hours) </a:t>
            </a:r>
            <a:r>
              <a:rPr b="1" lang="en-US" sz="2000"/>
              <a:t>IN </a:t>
            </a:r>
            <a:r>
              <a:rPr lang="en-US" sz="2000"/>
              <a:t>( </a:t>
            </a:r>
            <a:r>
              <a:rPr b="1" lang="en-US" sz="2000"/>
              <a:t>SELECT </a:t>
            </a:r>
            <a:r>
              <a:rPr lang="en-US" sz="2000"/>
              <a:t>Pno, Hours</a:t>
            </a:r>
            <a:endParaRPr/>
          </a:p>
          <a:p>
            <a:pPr indent="0" lvl="0" marL="0" rtl="0" algn="l">
              <a:spcBef>
                <a:spcPts val="600"/>
              </a:spcBef>
              <a:spcAft>
                <a:spcPts val="0"/>
              </a:spcAft>
              <a:buSzPts val="1400"/>
              <a:buNone/>
            </a:pPr>
            <a:r>
              <a:rPr b="1" lang="en-US" sz="2000"/>
              <a:t>			         FROM </a:t>
            </a:r>
            <a:r>
              <a:rPr lang="en-US" sz="2000"/>
              <a:t>WORKS_ON</a:t>
            </a:r>
            <a:endParaRPr/>
          </a:p>
          <a:p>
            <a:pPr indent="0" lvl="0" marL="0" rtl="0" algn="l">
              <a:spcBef>
                <a:spcPts val="600"/>
              </a:spcBef>
              <a:spcAft>
                <a:spcPts val="0"/>
              </a:spcAft>
              <a:buSzPts val="1400"/>
              <a:buNone/>
            </a:pPr>
            <a:r>
              <a:rPr b="1" lang="en-US" sz="2000"/>
              <a:t>			         WHERE </a:t>
            </a:r>
            <a:r>
              <a:rPr lang="en-US" sz="2000"/>
              <a:t>Essn=‘123456789’ );</a:t>
            </a:r>
            <a:endParaRPr/>
          </a:p>
        </p:txBody>
      </p:sp>
      <p:sp>
        <p:nvSpPr>
          <p:cNvPr id="563" name="Google Shape;563;p5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
        <p:nvSpPr>
          <p:cNvPr id="564" name="Google Shape;564;p50"/>
          <p:cNvSpPr/>
          <p:nvPr/>
        </p:nvSpPr>
        <p:spPr>
          <a:xfrm>
            <a:off x="457199" y="1595459"/>
            <a:ext cx="873041" cy="523825"/>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None/>
            </a:pPr>
            <a:r>
              <a:rPr lang="en-US" sz="2400">
                <a:solidFill>
                  <a:schemeClr val="dk1"/>
                </a:solidFill>
                <a:latin typeface="Times New Roman"/>
                <a:ea typeface="Times New Roman"/>
                <a:cs typeface="Times New Roman"/>
                <a:sym typeface="Times New Roman"/>
              </a:rPr>
              <a:t>SQL allows use of </a:t>
            </a:r>
            <a:r>
              <a:rPr b="1" lang="en-US" sz="2400">
                <a:solidFill>
                  <a:schemeClr val="dk1"/>
                </a:solidFill>
                <a:latin typeface="Times New Roman"/>
                <a:ea typeface="Times New Roman"/>
                <a:cs typeface="Times New Roman"/>
                <a:sym typeface="Times New Roman"/>
              </a:rPr>
              <a:t>tuples </a:t>
            </a:r>
            <a:r>
              <a:rPr lang="en-US" sz="2400">
                <a:solidFill>
                  <a:schemeClr val="dk1"/>
                </a:solidFill>
                <a:latin typeface="Times New Roman"/>
                <a:ea typeface="Times New Roman"/>
                <a:cs typeface="Times New Roman"/>
                <a:sym typeface="Times New Roman"/>
              </a:rPr>
              <a:t>of values in comparisons</a:t>
            </a:r>
            <a:endParaRPr sz="2400">
              <a:solidFill>
                <a:schemeClr val="dk1"/>
              </a:solidFill>
              <a:latin typeface="Times New Roman"/>
              <a:ea typeface="Times New Roman"/>
              <a:cs typeface="Times New Roman"/>
              <a:sym typeface="Times New Roman"/>
            </a:endParaRPr>
          </a:p>
        </p:txBody>
      </p:sp>
      <p:sp>
        <p:nvSpPr>
          <p:cNvPr id="565" name="Google Shape;565;p50"/>
          <p:cNvSpPr/>
          <p:nvPr/>
        </p:nvSpPr>
        <p:spPr>
          <a:xfrm>
            <a:off x="457199" y="2285731"/>
            <a:ext cx="873041" cy="348076"/>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5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EXISTS FUNCTION</a:t>
            </a:r>
            <a:endParaRPr b="1">
              <a:solidFill>
                <a:srgbClr val="000000"/>
              </a:solidFill>
            </a:endParaRPr>
          </a:p>
        </p:txBody>
      </p:sp>
      <p:sp>
        <p:nvSpPr>
          <p:cNvPr id="571" name="Google Shape;571;p51"/>
          <p:cNvSpPr txBox="1"/>
          <p:nvPr>
            <p:ph idx="1" type="body"/>
          </p:nvPr>
        </p:nvSpPr>
        <p:spPr>
          <a:xfrm>
            <a:off x="457200" y="1600200"/>
            <a:ext cx="8281416"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540"/>
              <a:buChar char="🞆"/>
            </a:pPr>
            <a:r>
              <a:rPr lang="en-US" sz="2200">
                <a:solidFill>
                  <a:srgbClr val="000000"/>
                </a:solidFill>
              </a:rPr>
              <a:t>EXISTS Function checks whether the result of a nested query is empty or not</a:t>
            </a:r>
            <a:endParaRPr/>
          </a:p>
          <a:p>
            <a:pPr indent="-274320" lvl="0" marL="274320" rtl="0" algn="l">
              <a:spcBef>
                <a:spcPts val="600"/>
              </a:spcBef>
              <a:spcAft>
                <a:spcPts val="0"/>
              </a:spcAft>
              <a:buSzPts val="1540"/>
              <a:buChar char="🞆"/>
            </a:pPr>
            <a:r>
              <a:rPr lang="en-US" sz="2200">
                <a:solidFill>
                  <a:srgbClr val="000000"/>
                </a:solidFill>
              </a:rPr>
              <a:t>Retrieve the name of each employee who has a dependent with the same first name as the employee.</a:t>
            </a:r>
            <a:br>
              <a:rPr lang="en-US" sz="2200">
                <a:solidFill>
                  <a:srgbClr val="000000"/>
                </a:solidFill>
              </a:rPr>
            </a:br>
            <a:endParaRPr sz="2200">
              <a:solidFill>
                <a:srgbClr val="000000"/>
              </a:solidFill>
            </a:endParaRPr>
          </a:p>
          <a:p>
            <a:pPr indent="-274320" lvl="0" marL="274320" rtl="0" algn="l">
              <a:spcBef>
                <a:spcPts val="600"/>
              </a:spcBef>
              <a:spcAft>
                <a:spcPts val="0"/>
              </a:spcAft>
              <a:buSzPts val="1540"/>
              <a:buNone/>
            </a:pPr>
            <a:r>
              <a:rPr b="1" lang="en-US" sz="2200">
                <a:solidFill>
                  <a:srgbClr val="000000"/>
                </a:solidFill>
              </a:rPr>
              <a:t>	 	SELECT  	FNAME, LNAME</a:t>
            </a:r>
            <a:br>
              <a:rPr b="1" lang="en-US" sz="2200">
                <a:solidFill>
                  <a:srgbClr val="000000"/>
                </a:solidFill>
              </a:rPr>
            </a:br>
            <a:r>
              <a:rPr b="1" lang="en-US" sz="2200">
                <a:solidFill>
                  <a:srgbClr val="000000"/>
                </a:solidFill>
              </a:rPr>
              <a:t>	FROM	 	EMPLOYEE</a:t>
            </a:r>
            <a:br>
              <a:rPr b="1" lang="en-US" sz="2200">
                <a:solidFill>
                  <a:srgbClr val="000000"/>
                </a:solidFill>
              </a:rPr>
            </a:br>
            <a:r>
              <a:rPr b="1" lang="en-US" sz="2200">
                <a:solidFill>
                  <a:srgbClr val="000000"/>
                </a:solidFill>
              </a:rPr>
              <a:t>	WHERE		EXISTS  </a:t>
            </a:r>
            <a:r>
              <a:rPr lang="en-US" sz="2200">
                <a:solidFill>
                  <a:srgbClr val="000000"/>
                </a:solidFill>
              </a:rPr>
              <a:t>(SELECT	*</a:t>
            </a:r>
            <a:br>
              <a:rPr lang="en-US" sz="2200">
                <a:solidFill>
                  <a:srgbClr val="000000"/>
                </a:solidFill>
              </a:rPr>
            </a:br>
            <a:r>
              <a:rPr lang="en-US" sz="2200">
                <a:solidFill>
                  <a:srgbClr val="000000"/>
                </a:solidFill>
              </a:rPr>
              <a:t>				 FROM	        DEPENDENT</a:t>
            </a:r>
            <a:br>
              <a:rPr lang="en-US" sz="2200">
                <a:solidFill>
                  <a:srgbClr val="000000"/>
                </a:solidFill>
              </a:rPr>
            </a:br>
            <a:r>
              <a:rPr lang="en-US" sz="2200">
                <a:solidFill>
                  <a:srgbClr val="000000"/>
                </a:solidFill>
              </a:rPr>
              <a:t>			               WHERE	        SSN=ESSN AND 					  FNAME=DEPENDENT_NAME)</a:t>
            </a:r>
            <a:endParaRPr/>
          </a:p>
          <a:p>
            <a:pPr indent="-167640" lvl="0" marL="274320" rtl="0" algn="l">
              <a:spcBef>
                <a:spcPts val="600"/>
              </a:spcBef>
              <a:spcAft>
                <a:spcPts val="0"/>
              </a:spcAft>
              <a:buSzPts val="1680"/>
              <a:buNone/>
            </a:pPr>
            <a:r>
              <a:t/>
            </a:r>
            <a:endParaRPr>
              <a:solidFill>
                <a:srgbClr val="000000"/>
              </a:solidFill>
            </a:endParaRPr>
          </a:p>
          <a:p>
            <a:pPr indent="-274320" lvl="0" marL="274320" rtl="0" algn="l">
              <a:spcBef>
                <a:spcPts val="600"/>
              </a:spcBef>
              <a:spcAft>
                <a:spcPts val="0"/>
              </a:spcAft>
              <a:buSzPts val="1680"/>
              <a:buFont typeface="Noto Sans Symbols"/>
              <a:buNone/>
            </a:pPr>
            <a:r>
              <a:t/>
            </a:r>
            <a:endParaRPr b="1">
              <a:solidFill>
                <a:srgbClr val="000000"/>
              </a:solidFill>
            </a:endParaRPr>
          </a:p>
        </p:txBody>
      </p:sp>
      <p:sp>
        <p:nvSpPr>
          <p:cNvPr id="572" name="Google Shape;572;p5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52"/>
          <p:cNvSpPr txBox="1"/>
          <p:nvPr>
            <p:ph type="title"/>
          </p:nvPr>
        </p:nvSpPr>
        <p:spPr>
          <a:xfrm>
            <a:off x="496888" y="269875"/>
            <a:ext cx="8313737"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EXISTS FUNCTION (cont.)</a:t>
            </a:r>
            <a:endParaRPr b="1">
              <a:solidFill>
                <a:srgbClr val="000000"/>
              </a:solidFill>
            </a:endParaRPr>
          </a:p>
        </p:txBody>
      </p:sp>
      <p:sp>
        <p:nvSpPr>
          <p:cNvPr id="578" name="Google Shape;578;p52"/>
          <p:cNvSpPr txBox="1"/>
          <p:nvPr>
            <p:ph idx="1" type="body"/>
          </p:nvPr>
        </p:nvSpPr>
        <p:spPr>
          <a:xfrm>
            <a:off x="685800" y="1254125"/>
            <a:ext cx="8124825" cy="5189538"/>
          </a:xfrm>
          <a:prstGeom prst="rect">
            <a:avLst/>
          </a:prstGeom>
          <a:noFill/>
          <a:ln>
            <a:noFill/>
          </a:ln>
        </p:spPr>
        <p:txBody>
          <a:bodyPr anchorCtr="0" anchor="t" bIns="45700" lIns="91425" spcFirstLastPara="1" rIns="91425" wrap="square" tIns="45700">
            <a:normAutofit/>
          </a:bodyPr>
          <a:lstStyle/>
          <a:p>
            <a:pPr indent="-167640" lvl="0" marL="274320" rtl="0" algn="l">
              <a:lnSpc>
                <a:spcPct val="90000"/>
              </a:lnSpc>
              <a:spcBef>
                <a:spcPts val="0"/>
              </a:spcBef>
              <a:spcAft>
                <a:spcPts val="0"/>
              </a:spcAft>
              <a:buSzPts val="1680"/>
              <a:buNone/>
            </a:pPr>
            <a:r>
              <a:t/>
            </a:r>
            <a:endParaRPr sz="2400">
              <a:solidFill>
                <a:srgbClr val="000000"/>
              </a:solidFill>
            </a:endParaRPr>
          </a:p>
          <a:p>
            <a:pPr indent="-274320" lvl="0" marL="274320" rtl="0" algn="l">
              <a:lnSpc>
                <a:spcPct val="90000"/>
              </a:lnSpc>
              <a:spcBef>
                <a:spcPts val="600"/>
              </a:spcBef>
              <a:spcAft>
                <a:spcPts val="0"/>
              </a:spcAft>
              <a:buSzPts val="1680"/>
              <a:buChar char="🞆"/>
            </a:pPr>
            <a:r>
              <a:rPr lang="en-US" sz="2400">
                <a:solidFill>
                  <a:srgbClr val="000000"/>
                </a:solidFill>
              </a:rPr>
              <a:t>Retrieve the names of employees who have no dependents.</a:t>
            </a:r>
            <a:endParaRPr/>
          </a:p>
          <a:p>
            <a:pPr indent="-274320" lvl="0" marL="274320" rtl="0" algn="l">
              <a:lnSpc>
                <a:spcPct val="90000"/>
              </a:lnSpc>
              <a:spcBef>
                <a:spcPts val="600"/>
              </a:spcBef>
              <a:spcAft>
                <a:spcPts val="0"/>
              </a:spcAft>
              <a:buSzPts val="1680"/>
              <a:buNone/>
            </a:pPr>
            <a:r>
              <a:rPr b="1" lang="en-US" sz="2400">
                <a:solidFill>
                  <a:srgbClr val="000000"/>
                </a:solidFill>
              </a:rPr>
              <a:t>   		SELECT  	FNAME, LNAME</a:t>
            </a:r>
            <a:br>
              <a:rPr b="1" lang="en-US" sz="2400">
                <a:solidFill>
                  <a:srgbClr val="000000"/>
                </a:solidFill>
              </a:rPr>
            </a:br>
            <a:r>
              <a:rPr b="1" lang="en-US" sz="2400">
                <a:solidFill>
                  <a:srgbClr val="000000"/>
                </a:solidFill>
              </a:rPr>
              <a:t>	FROM		EMPLOYEE</a:t>
            </a:r>
            <a:br>
              <a:rPr b="1" lang="en-US" sz="2400">
                <a:solidFill>
                  <a:srgbClr val="000000"/>
                </a:solidFill>
              </a:rPr>
            </a:br>
            <a:r>
              <a:rPr b="1" lang="en-US" sz="2400">
                <a:solidFill>
                  <a:srgbClr val="000000"/>
                </a:solidFill>
              </a:rPr>
              <a:t>	WHERE	NOT EXISTS   (SELECT	*</a:t>
            </a:r>
            <a:br>
              <a:rPr b="1" lang="en-US" sz="2400">
                <a:solidFill>
                  <a:srgbClr val="000000"/>
                </a:solidFill>
              </a:rPr>
            </a:br>
            <a:r>
              <a:rPr b="1" lang="en-US" sz="2400">
                <a:solidFill>
                  <a:srgbClr val="000000"/>
                </a:solidFill>
              </a:rPr>
              <a:t>				            FROM  DEPENDENT</a:t>
            </a:r>
            <a:br>
              <a:rPr b="1" lang="en-US" sz="2400">
                <a:solidFill>
                  <a:srgbClr val="000000"/>
                </a:solidFill>
              </a:rPr>
            </a:br>
            <a:r>
              <a:rPr b="1" lang="en-US" sz="2400">
                <a:solidFill>
                  <a:srgbClr val="000000"/>
                </a:solidFill>
              </a:rPr>
              <a:t>				             WHERE SSN=ESSN)</a:t>
            </a:r>
            <a:br>
              <a:rPr b="1" lang="en-US" sz="2400">
                <a:solidFill>
                  <a:srgbClr val="000000"/>
                </a:solidFill>
              </a:rPr>
            </a:br>
            <a:endParaRPr b="1" sz="2400">
              <a:solidFill>
                <a:srgbClr val="000000"/>
              </a:solidFill>
            </a:endParaRPr>
          </a:p>
          <a:p>
            <a:pPr indent="-274320" lvl="1" marL="640080" rtl="0" algn="l">
              <a:lnSpc>
                <a:spcPct val="90000"/>
              </a:lnSpc>
              <a:spcBef>
                <a:spcPts val="400"/>
              </a:spcBef>
              <a:spcAft>
                <a:spcPts val="0"/>
              </a:spcAft>
              <a:buSzPts val="1600"/>
              <a:buChar char="⚫"/>
            </a:pPr>
            <a:r>
              <a:rPr lang="en-US" sz="2000">
                <a:solidFill>
                  <a:srgbClr val="000000"/>
                </a:solidFill>
              </a:rPr>
              <a:t>The above correlated nested query retrieves all DEPENDENT tuples related to an EMPLOYEE tuple. </a:t>
            </a:r>
            <a:endParaRPr sz="2000">
              <a:solidFill>
                <a:srgbClr val="000000"/>
              </a:solidFill>
            </a:endParaRPr>
          </a:p>
          <a:p>
            <a:pPr indent="-182880" lvl="2" marL="914400" rtl="0" algn="l">
              <a:lnSpc>
                <a:spcPct val="90000"/>
              </a:lnSpc>
              <a:spcBef>
                <a:spcPts val="340"/>
              </a:spcBef>
              <a:spcAft>
                <a:spcPts val="0"/>
              </a:spcAft>
              <a:buSzPts val="1020"/>
              <a:buChar char="🞆"/>
            </a:pPr>
            <a:r>
              <a:rPr lang="en-US" sz="1700">
                <a:solidFill>
                  <a:srgbClr val="000000"/>
                </a:solidFill>
              </a:rPr>
              <a:t>If </a:t>
            </a:r>
            <a:r>
              <a:rPr i="1" lang="en-US" sz="1700">
                <a:solidFill>
                  <a:srgbClr val="000000"/>
                </a:solidFill>
              </a:rPr>
              <a:t>none exist</a:t>
            </a:r>
            <a:r>
              <a:rPr lang="en-US" sz="1700">
                <a:solidFill>
                  <a:srgbClr val="000000"/>
                </a:solidFill>
              </a:rPr>
              <a:t> , the EMPLOYEE tuple is selected</a:t>
            </a:r>
            <a:endParaRPr/>
          </a:p>
          <a:p>
            <a:pPr indent="-274320" lvl="1" marL="640080" rtl="0" algn="l">
              <a:lnSpc>
                <a:spcPct val="90000"/>
              </a:lnSpc>
              <a:spcBef>
                <a:spcPts val="400"/>
              </a:spcBef>
              <a:spcAft>
                <a:spcPts val="0"/>
              </a:spcAft>
              <a:buSzPts val="1600"/>
              <a:buChar char="⚫"/>
            </a:pPr>
            <a:r>
              <a:rPr lang="en-US" sz="2000">
                <a:solidFill>
                  <a:srgbClr val="000000"/>
                </a:solidFill>
              </a:rPr>
              <a:t>EXISTS is necessary for the expressive power of SQL</a:t>
            </a:r>
            <a:endParaRPr b="1" sz="2000">
              <a:solidFill>
                <a:srgbClr val="000000"/>
              </a:solidFill>
            </a:endParaRPr>
          </a:p>
        </p:txBody>
      </p:sp>
      <p:sp>
        <p:nvSpPr>
          <p:cNvPr id="579" name="Google Shape;579;p5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53"/>
          <p:cNvSpPr txBox="1"/>
          <p:nvPr>
            <p:ph type="title"/>
          </p:nvPr>
        </p:nvSpPr>
        <p:spPr>
          <a:xfrm>
            <a:off x="496888" y="269875"/>
            <a:ext cx="8313737"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EXISTS FUNCTION (cont.)</a:t>
            </a:r>
            <a:endParaRPr b="1">
              <a:solidFill>
                <a:srgbClr val="000000"/>
              </a:solidFill>
            </a:endParaRPr>
          </a:p>
        </p:txBody>
      </p:sp>
      <p:sp>
        <p:nvSpPr>
          <p:cNvPr id="585" name="Google Shape;585;p53"/>
          <p:cNvSpPr txBox="1"/>
          <p:nvPr>
            <p:ph idx="1" type="body"/>
          </p:nvPr>
        </p:nvSpPr>
        <p:spPr>
          <a:xfrm>
            <a:off x="685800" y="1254125"/>
            <a:ext cx="8124825" cy="5189538"/>
          </a:xfrm>
          <a:prstGeom prst="rect">
            <a:avLst/>
          </a:prstGeom>
          <a:noFill/>
          <a:ln>
            <a:noFill/>
          </a:ln>
        </p:spPr>
        <p:txBody>
          <a:bodyPr anchorCtr="0" anchor="t" bIns="45700" lIns="91425" spcFirstLastPara="1" rIns="91425" wrap="square" tIns="45700">
            <a:normAutofit/>
          </a:bodyPr>
          <a:lstStyle/>
          <a:p>
            <a:pPr indent="-167640" lvl="0" marL="274320" rtl="0" algn="l">
              <a:lnSpc>
                <a:spcPct val="90000"/>
              </a:lnSpc>
              <a:spcBef>
                <a:spcPts val="0"/>
              </a:spcBef>
              <a:spcAft>
                <a:spcPts val="0"/>
              </a:spcAft>
              <a:buSzPts val="1680"/>
              <a:buNone/>
            </a:pPr>
            <a:r>
              <a:t/>
            </a:r>
            <a:endParaRPr sz="2400">
              <a:solidFill>
                <a:srgbClr val="000000"/>
              </a:solidFill>
            </a:endParaRPr>
          </a:p>
          <a:p>
            <a:pPr indent="-274320" lvl="0" marL="274320" rtl="0" algn="l">
              <a:lnSpc>
                <a:spcPct val="90000"/>
              </a:lnSpc>
              <a:spcBef>
                <a:spcPts val="600"/>
              </a:spcBef>
              <a:spcAft>
                <a:spcPts val="0"/>
              </a:spcAft>
              <a:buSzPts val="1680"/>
              <a:buChar char="🞆"/>
            </a:pPr>
            <a:r>
              <a:rPr lang="en-US" sz="2400">
                <a:solidFill>
                  <a:srgbClr val="000000"/>
                </a:solidFill>
              </a:rPr>
              <a:t>Find the names of managers who have at least one  dependents.</a:t>
            </a:r>
            <a:endParaRPr/>
          </a:p>
          <a:p>
            <a:pPr indent="-274320" lvl="0" marL="274320" rtl="0" algn="l">
              <a:lnSpc>
                <a:spcPct val="90000"/>
              </a:lnSpc>
              <a:spcBef>
                <a:spcPts val="600"/>
              </a:spcBef>
              <a:spcAft>
                <a:spcPts val="0"/>
              </a:spcAft>
              <a:buSzPts val="1680"/>
              <a:buNone/>
            </a:pPr>
            <a:r>
              <a:rPr b="1" lang="en-US" sz="2400">
                <a:solidFill>
                  <a:srgbClr val="000000"/>
                </a:solidFill>
              </a:rPr>
              <a:t>   		</a:t>
            </a:r>
            <a:r>
              <a:rPr b="1" lang="en-US" sz="2000">
                <a:solidFill>
                  <a:srgbClr val="000000"/>
                </a:solidFill>
              </a:rPr>
              <a:t>SELECT  	FNAME, LNAME</a:t>
            </a:r>
            <a:br>
              <a:rPr b="1" lang="en-US" sz="2000">
                <a:solidFill>
                  <a:srgbClr val="000000"/>
                </a:solidFill>
              </a:rPr>
            </a:br>
            <a:r>
              <a:rPr b="1" lang="en-US" sz="2000">
                <a:solidFill>
                  <a:srgbClr val="000000"/>
                </a:solidFill>
              </a:rPr>
              <a:t>	FROM	EMPLOYEE</a:t>
            </a:r>
            <a:br>
              <a:rPr b="1" lang="en-US" sz="2000">
                <a:solidFill>
                  <a:srgbClr val="000000"/>
                </a:solidFill>
              </a:rPr>
            </a:br>
            <a:r>
              <a:rPr b="1" lang="en-US" sz="2000">
                <a:solidFill>
                  <a:srgbClr val="000000"/>
                </a:solidFill>
              </a:rPr>
              <a:t>	WHERE	EXISTS   (SELECT	*</a:t>
            </a:r>
            <a:br>
              <a:rPr b="1" lang="en-US" sz="2000">
                <a:solidFill>
                  <a:srgbClr val="000000"/>
                </a:solidFill>
              </a:rPr>
            </a:br>
            <a:r>
              <a:rPr b="1" lang="en-US" sz="2000">
                <a:solidFill>
                  <a:srgbClr val="000000"/>
                </a:solidFill>
              </a:rPr>
              <a:t>			   FROM  DEPENDENT</a:t>
            </a:r>
            <a:br>
              <a:rPr b="1" lang="en-US" sz="2000">
                <a:solidFill>
                  <a:srgbClr val="000000"/>
                </a:solidFill>
              </a:rPr>
            </a:br>
            <a:r>
              <a:rPr b="1" lang="en-US" sz="2000">
                <a:solidFill>
                  <a:srgbClr val="000000"/>
                </a:solidFill>
              </a:rPr>
              <a:t>			   WHERE SSN=ESSN)</a:t>
            </a:r>
            <a:endParaRPr/>
          </a:p>
          <a:p>
            <a:pPr indent="-274320" lvl="0" marL="274320" rtl="0" algn="l">
              <a:lnSpc>
                <a:spcPct val="90000"/>
              </a:lnSpc>
              <a:spcBef>
                <a:spcPts val="600"/>
              </a:spcBef>
              <a:spcAft>
                <a:spcPts val="0"/>
              </a:spcAft>
              <a:buSzPts val="1400"/>
              <a:buNone/>
            </a:pPr>
            <a:r>
              <a:rPr b="1" lang="en-US" sz="2000">
                <a:solidFill>
                  <a:srgbClr val="000000"/>
                </a:solidFill>
              </a:rPr>
              <a:t>			AND</a:t>
            </a:r>
            <a:endParaRPr/>
          </a:p>
          <a:p>
            <a:pPr indent="-274320" lvl="0" marL="274320" rtl="0" algn="l">
              <a:lnSpc>
                <a:spcPct val="90000"/>
              </a:lnSpc>
              <a:spcBef>
                <a:spcPts val="600"/>
              </a:spcBef>
              <a:spcAft>
                <a:spcPts val="0"/>
              </a:spcAft>
              <a:buSzPts val="1400"/>
              <a:buNone/>
            </a:pPr>
            <a:r>
              <a:rPr b="1" lang="en-US" sz="2000">
                <a:solidFill>
                  <a:srgbClr val="000000"/>
                </a:solidFill>
              </a:rPr>
              <a:t>			EXISTS   (SELECT	*</a:t>
            </a:r>
            <a:br>
              <a:rPr b="1" lang="en-US" sz="2000">
                <a:solidFill>
                  <a:srgbClr val="000000"/>
                </a:solidFill>
              </a:rPr>
            </a:br>
            <a:r>
              <a:rPr b="1" lang="en-US" sz="2000">
                <a:solidFill>
                  <a:srgbClr val="000000"/>
                </a:solidFill>
              </a:rPr>
              <a:t>			   FROM  DEPARTMENT</a:t>
            </a:r>
            <a:br>
              <a:rPr b="1" lang="en-US" sz="2000">
                <a:solidFill>
                  <a:srgbClr val="000000"/>
                </a:solidFill>
              </a:rPr>
            </a:br>
            <a:r>
              <a:rPr b="1" lang="en-US" sz="2000">
                <a:solidFill>
                  <a:srgbClr val="000000"/>
                </a:solidFill>
              </a:rPr>
              <a:t>			   WHERE SSN=Mgr_SSN)</a:t>
            </a:r>
            <a:br>
              <a:rPr b="1" lang="en-US" sz="2000">
                <a:solidFill>
                  <a:srgbClr val="000000"/>
                </a:solidFill>
              </a:rPr>
            </a:br>
            <a:endParaRPr b="1" sz="2000">
              <a:solidFill>
                <a:srgbClr val="000000"/>
              </a:solidFill>
            </a:endParaRPr>
          </a:p>
        </p:txBody>
      </p:sp>
      <p:sp>
        <p:nvSpPr>
          <p:cNvPr id="586" name="Google Shape;586;p5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54"/>
          <p:cNvSpPr/>
          <p:nvPr/>
        </p:nvSpPr>
        <p:spPr>
          <a:xfrm>
            <a:off x="666974" y="3046790"/>
            <a:ext cx="3775934" cy="3208468"/>
          </a:xfrm>
          <a:prstGeom prst="rect">
            <a:avLst/>
          </a:prstGeom>
          <a:solidFill>
            <a:srgbClr val="D0EDF5"/>
          </a:solidFill>
          <a:ln cap="flat" cmpd="sng" w="25400">
            <a:solidFill>
              <a:srgbClr val="2076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592" name="Google Shape;592;p5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EXISTS FUNCTION (cont.)</a:t>
            </a:r>
            <a:endParaRPr/>
          </a:p>
        </p:txBody>
      </p:sp>
      <p:sp>
        <p:nvSpPr>
          <p:cNvPr id="593" name="Google Shape;593;p54"/>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solidFill>
                  <a:srgbClr val="000000"/>
                </a:solidFill>
              </a:rPr>
              <a:t>Retrieve the name of each employee who works on </a:t>
            </a:r>
            <a:r>
              <a:rPr i="1" lang="en-US">
                <a:solidFill>
                  <a:srgbClr val="000000"/>
                </a:solidFill>
              </a:rPr>
              <a:t>all</a:t>
            </a:r>
            <a:r>
              <a:rPr lang="en-US">
                <a:solidFill>
                  <a:srgbClr val="000000"/>
                </a:solidFill>
              </a:rPr>
              <a:t>  the projects controlled by department number 4.</a:t>
            </a:r>
            <a:endParaRPr/>
          </a:p>
          <a:p>
            <a:pPr indent="-274320" lvl="0" marL="274320" rtl="0" algn="l">
              <a:spcBef>
                <a:spcPts val="600"/>
              </a:spcBef>
              <a:spcAft>
                <a:spcPts val="0"/>
              </a:spcAft>
              <a:buSzPts val="1680"/>
              <a:buChar char="🞆"/>
            </a:pPr>
            <a:r>
              <a:rPr lang="en-US">
                <a:solidFill>
                  <a:srgbClr val="000000"/>
                </a:solidFill>
              </a:rPr>
              <a:t>Set theory: S1 contains S2  if (S2 – S1 = 0)</a:t>
            </a:r>
            <a:endParaRPr/>
          </a:p>
          <a:p>
            <a:pPr indent="0" lvl="0" marL="0" rtl="0" algn="l">
              <a:spcBef>
                <a:spcPts val="600"/>
              </a:spcBef>
              <a:spcAft>
                <a:spcPts val="0"/>
              </a:spcAft>
              <a:buSzPts val="1680"/>
              <a:buNone/>
            </a:pPr>
            <a:br>
              <a:rPr lang="en-US">
                <a:solidFill>
                  <a:srgbClr val="000000"/>
                </a:solidFill>
              </a:rPr>
            </a:br>
            <a:endParaRPr/>
          </a:p>
        </p:txBody>
      </p:sp>
      <p:sp>
        <p:nvSpPr>
          <p:cNvPr id="594" name="Google Shape;594;p5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pic>
        <p:nvPicPr>
          <p:cNvPr descr="fig05_06" id="595" name="Google Shape;595;p54"/>
          <p:cNvPicPr preferRelativeResize="0"/>
          <p:nvPr/>
        </p:nvPicPr>
        <p:blipFill rotWithShape="1">
          <a:blip r:embed="rId3">
            <a:alphaModFix/>
          </a:blip>
          <a:srcRect b="27151" l="50538" r="0" t="51714"/>
          <a:stretch/>
        </p:blipFill>
        <p:spPr>
          <a:xfrm>
            <a:off x="4645944" y="5217851"/>
            <a:ext cx="2600632" cy="1415845"/>
          </a:xfrm>
          <a:prstGeom prst="rect">
            <a:avLst/>
          </a:prstGeom>
          <a:noFill/>
          <a:ln>
            <a:noFill/>
          </a:ln>
        </p:spPr>
      </p:pic>
      <p:pic>
        <p:nvPicPr>
          <p:cNvPr descr="fig05_06" id="596" name="Google Shape;596;p54"/>
          <p:cNvPicPr preferRelativeResize="0"/>
          <p:nvPr/>
        </p:nvPicPr>
        <p:blipFill rotWithShape="1">
          <a:blip r:embed="rId3">
            <a:alphaModFix/>
          </a:blip>
          <a:srcRect b="0" l="0" r="66854" t="49997"/>
          <a:stretch/>
        </p:blipFill>
        <p:spPr>
          <a:xfrm>
            <a:off x="7143340" y="2384224"/>
            <a:ext cx="1742767" cy="3349826"/>
          </a:xfrm>
          <a:prstGeom prst="rect">
            <a:avLst/>
          </a:prstGeom>
          <a:noFill/>
          <a:ln>
            <a:noFill/>
          </a:ln>
        </p:spPr>
      </p:pic>
      <p:sp>
        <p:nvSpPr>
          <p:cNvPr id="597" name="Google Shape;597;p54"/>
          <p:cNvSpPr/>
          <p:nvPr/>
        </p:nvSpPr>
        <p:spPr>
          <a:xfrm>
            <a:off x="769171" y="3068389"/>
            <a:ext cx="3758439"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00"/>
                </a:solidFill>
                <a:latin typeface="Times New Roman"/>
                <a:ea typeface="Times New Roman"/>
                <a:cs typeface="Times New Roman"/>
                <a:sym typeface="Times New Roman"/>
              </a:rPr>
              <a:t>SELECT    FNAME, LNAME</a:t>
            </a:r>
            <a:br>
              <a:rPr b="1" lang="en-US" sz="1800">
                <a:solidFill>
                  <a:srgbClr val="000000"/>
                </a:solidFill>
                <a:latin typeface="Times New Roman"/>
                <a:ea typeface="Times New Roman"/>
                <a:cs typeface="Times New Roman"/>
                <a:sym typeface="Times New Roman"/>
              </a:rPr>
            </a:br>
            <a:r>
              <a:rPr b="1" lang="en-US" sz="1800">
                <a:solidFill>
                  <a:srgbClr val="000000"/>
                </a:solidFill>
                <a:latin typeface="Times New Roman"/>
                <a:ea typeface="Times New Roman"/>
                <a:cs typeface="Times New Roman"/>
                <a:sym typeface="Times New Roman"/>
              </a:rPr>
              <a:t>FROM     EMPLOYEE</a:t>
            </a:r>
            <a:br>
              <a:rPr b="1" lang="en-US" sz="1800">
                <a:solidFill>
                  <a:srgbClr val="000000"/>
                </a:solidFill>
                <a:latin typeface="Times New Roman"/>
                <a:ea typeface="Times New Roman"/>
                <a:cs typeface="Times New Roman"/>
                <a:sym typeface="Times New Roman"/>
              </a:rPr>
            </a:br>
            <a:r>
              <a:rPr b="1" lang="en-US" sz="1800">
                <a:solidFill>
                  <a:srgbClr val="000000"/>
                </a:solidFill>
                <a:latin typeface="Times New Roman"/>
                <a:ea typeface="Times New Roman"/>
                <a:cs typeface="Times New Roman"/>
                <a:sym typeface="Times New Roman"/>
              </a:rPr>
              <a:t>WHERE   NOT EXISTS </a:t>
            </a:r>
            <a:r>
              <a:rPr lang="en-US" sz="1800">
                <a:solidFill>
                  <a:srgbClr val="000000"/>
                </a:solidFill>
                <a:latin typeface="Times New Roman"/>
                <a:ea typeface="Times New Roman"/>
                <a:cs typeface="Times New Roman"/>
                <a:sym typeface="Times New Roman"/>
              </a:rPr>
              <a:t>(</a:t>
            </a:r>
            <a:endParaRPr/>
          </a:p>
          <a:p>
            <a:pPr indent="0" lvl="0" marL="0" marR="0" rtl="0" algn="l">
              <a:spcBef>
                <a:spcPts val="0"/>
              </a:spcBef>
              <a:spcAft>
                <a:spcPts val="0"/>
              </a:spcAft>
              <a:buClr>
                <a:srgbClr val="000000"/>
              </a:buClr>
              <a:buSzPts val="1800"/>
              <a:buFont typeface="Times New Roman"/>
              <a:buNone/>
            </a:pPr>
            <a:r>
              <a:rPr lang="en-US" sz="1800">
                <a:solidFill>
                  <a:srgbClr val="000000"/>
                </a:solidFill>
                <a:latin typeface="Times New Roman"/>
                <a:ea typeface="Times New Roman"/>
                <a:cs typeface="Times New Roman"/>
                <a:sym typeface="Times New Roman"/>
              </a:rPr>
              <a:t>                  (SELECT  PNUMBER	   FROM PROJECT</a:t>
            </a:r>
            <a:br>
              <a:rPr lang="en-US" sz="1800">
                <a:solidFill>
                  <a:srgbClr val="000000"/>
                </a:solidFill>
                <a:latin typeface="Times New Roman"/>
                <a:ea typeface="Times New Roman"/>
                <a:cs typeface="Times New Roman"/>
                <a:sym typeface="Times New Roman"/>
              </a:rPr>
            </a:br>
            <a:r>
              <a:rPr lang="en-US" sz="1800">
                <a:solidFill>
                  <a:srgbClr val="000000"/>
                </a:solidFill>
                <a:latin typeface="Times New Roman"/>
                <a:ea typeface="Times New Roman"/>
                <a:cs typeface="Times New Roman"/>
                <a:sym typeface="Times New Roman"/>
              </a:rPr>
              <a:t>	   WHERE     DNUM=4)</a:t>
            </a:r>
            <a:br>
              <a:rPr b="1" lang="en-US" sz="1800">
                <a:solidFill>
                  <a:srgbClr val="000000"/>
                </a:solidFill>
                <a:latin typeface="Times New Roman"/>
                <a:ea typeface="Times New Roman"/>
                <a:cs typeface="Times New Roman"/>
                <a:sym typeface="Times New Roman"/>
              </a:rPr>
            </a:br>
            <a:r>
              <a:rPr b="1" lang="en-US" sz="1800">
                <a:solidFill>
                  <a:srgbClr val="000000"/>
                </a:solidFill>
                <a:latin typeface="Times New Roman"/>
                <a:ea typeface="Times New Roman"/>
                <a:cs typeface="Times New Roman"/>
                <a:sym typeface="Times New Roman"/>
              </a:rPr>
              <a:t>	   EXCEPT</a:t>
            </a:r>
            <a:br>
              <a:rPr b="1" lang="en-US" sz="1800">
                <a:solidFill>
                  <a:srgbClr val="000000"/>
                </a:solidFill>
                <a:latin typeface="Times New Roman"/>
                <a:ea typeface="Times New Roman"/>
                <a:cs typeface="Times New Roman"/>
                <a:sym typeface="Times New Roman"/>
              </a:rPr>
            </a:br>
            <a:r>
              <a:rPr b="1" lang="en-US" sz="1800">
                <a:solidFill>
                  <a:srgbClr val="000000"/>
                </a:solidFill>
                <a:latin typeface="Times New Roman"/>
                <a:ea typeface="Times New Roman"/>
                <a:cs typeface="Times New Roman"/>
                <a:sym typeface="Times New Roman"/>
              </a:rPr>
              <a:t>	</a:t>
            </a:r>
            <a:r>
              <a:rPr lang="en-US" sz="1800">
                <a:solidFill>
                  <a:srgbClr val="000000"/>
                </a:solidFill>
                <a:latin typeface="Times New Roman"/>
                <a:ea typeface="Times New Roman"/>
                <a:cs typeface="Times New Roman"/>
                <a:sym typeface="Times New Roman"/>
              </a:rPr>
              <a:t>  (SELECT       PNO</a:t>
            </a:r>
            <a:br>
              <a:rPr lang="en-US" sz="1800">
                <a:solidFill>
                  <a:srgbClr val="000000"/>
                </a:solidFill>
                <a:latin typeface="Times New Roman"/>
                <a:ea typeface="Times New Roman"/>
                <a:cs typeface="Times New Roman"/>
                <a:sym typeface="Times New Roman"/>
              </a:rPr>
            </a:br>
            <a:r>
              <a:rPr lang="en-US" sz="1800">
                <a:solidFill>
                  <a:srgbClr val="000000"/>
                </a:solidFill>
                <a:latin typeface="Times New Roman"/>
                <a:ea typeface="Times New Roman"/>
                <a:cs typeface="Times New Roman"/>
                <a:sym typeface="Times New Roman"/>
              </a:rPr>
              <a:t>	   FROM         WORKS_ON</a:t>
            </a:r>
            <a:br>
              <a:rPr lang="en-US" sz="1800">
                <a:solidFill>
                  <a:srgbClr val="000000"/>
                </a:solidFill>
                <a:latin typeface="Times New Roman"/>
                <a:ea typeface="Times New Roman"/>
                <a:cs typeface="Times New Roman"/>
                <a:sym typeface="Times New Roman"/>
              </a:rPr>
            </a:br>
            <a:r>
              <a:rPr lang="en-US" sz="1800">
                <a:solidFill>
                  <a:srgbClr val="000000"/>
                </a:solidFill>
                <a:latin typeface="Times New Roman"/>
                <a:ea typeface="Times New Roman"/>
                <a:cs typeface="Times New Roman"/>
                <a:sym typeface="Times New Roman"/>
              </a:rPr>
              <a:t>	   WHERE       SSN=ESSN)       )</a:t>
            </a:r>
            <a:endParaRPr sz="1800">
              <a:solidFill>
                <a:srgbClr val="000000"/>
              </a:solidFill>
              <a:latin typeface="Times New Roman"/>
              <a:ea typeface="Times New Roman"/>
              <a:cs typeface="Times New Roman"/>
              <a:sym typeface="Times New Roman"/>
            </a:endParaRPr>
          </a:p>
        </p:txBody>
      </p:sp>
      <p:sp>
        <p:nvSpPr>
          <p:cNvPr id="598" name="Google Shape;598;p54"/>
          <p:cNvSpPr txBox="1"/>
          <p:nvPr/>
        </p:nvSpPr>
        <p:spPr>
          <a:xfrm>
            <a:off x="4645944" y="3046790"/>
            <a:ext cx="236445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S1 = set of projects of each employee</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S2=  set of dept 4 projects</a:t>
            </a:r>
            <a:endParaRPr sz="18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7">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7">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5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NESTED QUERIES</a:t>
            </a:r>
            <a:endParaRPr b="1">
              <a:solidFill>
                <a:srgbClr val="000000"/>
              </a:solidFill>
            </a:endParaRPr>
          </a:p>
        </p:txBody>
      </p:sp>
      <p:sp>
        <p:nvSpPr>
          <p:cNvPr id="604" name="Google Shape;604;p55"/>
          <p:cNvSpPr txBox="1"/>
          <p:nvPr>
            <p:ph idx="1" type="body"/>
          </p:nvPr>
        </p:nvSpPr>
        <p:spPr>
          <a:xfrm>
            <a:off x="685800" y="2850777"/>
            <a:ext cx="7772400" cy="3206470"/>
          </a:xfrm>
          <a:prstGeom prst="rect">
            <a:avLst/>
          </a:prstGeom>
          <a:noFill/>
          <a:ln>
            <a:noFill/>
          </a:ln>
        </p:spPr>
        <p:txBody>
          <a:bodyPr anchorCtr="0" anchor="t" bIns="45700" lIns="91425" spcFirstLastPara="1" rIns="91425" wrap="square" tIns="45700">
            <a:noAutofit/>
          </a:bodyPr>
          <a:lstStyle/>
          <a:p>
            <a:pPr indent="-274320" lvl="0" marL="274320" rtl="0" algn="l">
              <a:lnSpc>
                <a:spcPct val="90000"/>
              </a:lnSpc>
              <a:spcBef>
                <a:spcPts val="0"/>
              </a:spcBef>
              <a:spcAft>
                <a:spcPts val="0"/>
              </a:spcAft>
              <a:buSzPts val="1540"/>
              <a:buChar char="🞆"/>
            </a:pPr>
            <a:r>
              <a:rPr lang="en-US" sz="2200">
                <a:solidFill>
                  <a:srgbClr val="000000"/>
                </a:solidFill>
              </a:rPr>
              <a:t>Retrieve the name of each employee who works on </a:t>
            </a:r>
            <a:r>
              <a:rPr i="1" lang="en-US" sz="2200">
                <a:solidFill>
                  <a:srgbClr val="000000"/>
                </a:solidFill>
              </a:rPr>
              <a:t>all</a:t>
            </a:r>
            <a:r>
              <a:rPr lang="en-US" sz="2200">
                <a:solidFill>
                  <a:srgbClr val="000000"/>
                </a:solidFill>
              </a:rPr>
              <a:t>  the projects controlled by department number 5.</a:t>
            </a:r>
            <a:endParaRPr/>
          </a:p>
          <a:p>
            <a:pPr indent="-274320" lvl="0" marL="274320" rtl="0" algn="l">
              <a:lnSpc>
                <a:spcPct val="90000"/>
              </a:lnSpc>
              <a:spcBef>
                <a:spcPts val="600"/>
              </a:spcBef>
              <a:spcAft>
                <a:spcPts val="0"/>
              </a:spcAft>
              <a:buSzPts val="1540"/>
              <a:buChar char="🞆"/>
            </a:pPr>
            <a:r>
              <a:rPr b="1" lang="en-US" sz="2200">
                <a:solidFill>
                  <a:srgbClr val="000000"/>
                </a:solidFill>
              </a:rPr>
              <a:t>	</a:t>
            </a:r>
            <a:r>
              <a:rPr b="1" lang="en-US" sz="2000">
                <a:solidFill>
                  <a:srgbClr val="000000"/>
                </a:solidFill>
              </a:rPr>
              <a:t>SELECT 	FNAME, LNAME</a:t>
            </a:r>
            <a:br>
              <a:rPr b="1" lang="en-US" sz="2000">
                <a:solidFill>
                  <a:srgbClr val="000000"/>
                </a:solidFill>
              </a:rPr>
            </a:br>
            <a:r>
              <a:rPr b="1" lang="en-US" sz="2000">
                <a:solidFill>
                  <a:srgbClr val="000000"/>
                </a:solidFill>
              </a:rPr>
              <a:t>	FROM	EMPLOYEE</a:t>
            </a:r>
            <a:br>
              <a:rPr b="1" lang="en-US" sz="2000">
                <a:solidFill>
                  <a:srgbClr val="000000"/>
                </a:solidFill>
              </a:rPr>
            </a:br>
            <a:r>
              <a:rPr b="1" lang="en-US" sz="2000">
                <a:solidFill>
                  <a:srgbClr val="000000"/>
                </a:solidFill>
              </a:rPr>
              <a:t>	WHERE  </a:t>
            </a:r>
            <a:r>
              <a:rPr lang="en-US" sz="2000">
                <a:solidFill>
                  <a:srgbClr val="000000"/>
                </a:solidFill>
              </a:rPr>
              <a:t>( (SELECT     PNO</a:t>
            </a:r>
            <a:br>
              <a:rPr lang="en-US" sz="2000">
                <a:solidFill>
                  <a:srgbClr val="000000"/>
                </a:solidFill>
              </a:rPr>
            </a:br>
            <a:r>
              <a:rPr lang="en-US" sz="2000">
                <a:solidFill>
                  <a:srgbClr val="000000"/>
                </a:solidFill>
              </a:rPr>
              <a:t>		   FROM	     WORKS_ON</a:t>
            </a:r>
            <a:br>
              <a:rPr lang="en-US" sz="2000">
                <a:solidFill>
                  <a:srgbClr val="000000"/>
                </a:solidFill>
              </a:rPr>
            </a:br>
            <a:r>
              <a:rPr lang="en-US" sz="2000">
                <a:solidFill>
                  <a:srgbClr val="000000"/>
                </a:solidFill>
              </a:rPr>
              <a:t>		   WHERE     SSN=ESSN)</a:t>
            </a:r>
            <a:br>
              <a:rPr b="1" lang="en-US" sz="2000">
                <a:solidFill>
                  <a:srgbClr val="000000"/>
                </a:solidFill>
              </a:rPr>
            </a:br>
            <a:r>
              <a:rPr b="1" lang="en-US" sz="2000">
                <a:solidFill>
                  <a:srgbClr val="000000"/>
                </a:solidFill>
              </a:rPr>
              <a:t>		   CONTAINS</a:t>
            </a:r>
            <a:br>
              <a:rPr b="1" lang="en-US" sz="2000">
                <a:solidFill>
                  <a:srgbClr val="000000"/>
                </a:solidFill>
              </a:rPr>
            </a:br>
            <a:r>
              <a:rPr b="1" lang="en-US" sz="2000">
                <a:solidFill>
                  <a:srgbClr val="000000"/>
                </a:solidFill>
              </a:rPr>
              <a:t>		</a:t>
            </a:r>
            <a:r>
              <a:rPr lang="en-US" sz="2000">
                <a:solidFill>
                  <a:srgbClr val="000000"/>
                </a:solidFill>
              </a:rPr>
              <a:t>  (SELECT       PNUMBER</a:t>
            </a:r>
            <a:br>
              <a:rPr lang="en-US" sz="2000">
                <a:solidFill>
                  <a:srgbClr val="000000"/>
                </a:solidFill>
              </a:rPr>
            </a:br>
            <a:r>
              <a:rPr lang="en-US" sz="2000">
                <a:solidFill>
                  <a:srgbClr val="000000"/>
                </a:solidFill>
              </a:rPr>
              <a:t>		   FROM	       PROJECT</a:t>
            </a:r>
            <a:br>
              <a:rPr lang="en-US" sz="2000">
                <a:solidFill>
                  <a:srgbClr val="000000"/>
                </a:solidFill>
              </a:rPr>
            </a:br>
            <a:r>
              <a:rPr lang="en-US" sz="2000">
                <a:solidFill>
                  <a:srgbClr val="000000"/>
                </a:solidFill>
              </a:rPr>
              <a:t>		   WHERE       DNUM=5) )</a:t>
            </a:r>
            <a:endParaRPr/>
          </a:p>
          <a:p>
            <a:pPr indent="-106680" lvl="3" marL="1188720" rtl="0" algn="l">
              <a:lnSpc>
                <a:spcPct val="90000"/>
              </a:lnSpc>
              <a:spcBef>
                <a:spcPts val="400"/>
              </a:spcBef>
              <a:spcAft>
                <a:spcPts val="0"/>
              </a:spcAft>
              <a:buSzPts val="1200"/>
              <a:buNone/>
            </a:pPr>
            <a:r>
              <a:t/>
            </a:r>
            <a:endParaRPr sz="2000">
              <a:solidFill>
                <a:srgbClr val="000000"/>
              </a:solidFill>
            </a:endParaRPr>
          </a:p>
        </p:txBody>
      </p:sp>
      <p:sp>
        <p:nvSpPr>
          <p:cNvPr id="605" name="Google Shape;605;p5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grpSp>
        <p:nvGrpSpPr>
          <p:cNvPr id="606" name="Google Shape;606;p55"/>
          <p:cNvGrpSpPr/>
          <p:nvPr/>
        </p:nvGrpSpPr>
        <p:grpSpPr>
          <a:xfrm>
            <a:off x="301214" y="1503719"/>
            <a:ext cx="8437402" cy="1841888"/>
            <a:chOff x="0" y="20"/>
            <a:chExt cx="8437402" cy="1841888"/>
          </a:xfrm>
        </p:grpSpPr>
        <p:cxnSp>
          <p:nvCxnSpPr>
            <p:cNvPr id="607" name="Google Shape;607;p55"/>
            <p:cNvCxnSpPr/>
            <p:nvPr/>
          </p:nvCxnSpPr>
          <p:spPr>
            <a:xfrm>
              <a:off x="0" y="20"/>
              <a:ext cx="8437402" cy="0"/>
            </a:xfrm>
            <a:prstGeom prst="straightConnector1">
              <a:avLst/>
            </a:prstGeom>
            <a:solidFill>
              <a:srgbClr val="2AA2BF"/>
            </a:solidFill>
            <a:ln cap="flat" cmpd="sng" w="25400">
              <a:solidFill>
                <a:srgbClr val="2AA2BF"/>
              </a:solidFill>
              <a:prstDash val="solid"/>
              <a:round/>
              <a:headEnd len="sm" w="sm" type="none"/>
              <a:tailEnd len="sm" w="sm" type="none"/>
            </a:ln>
          </p:spPr>
        </p:cxnSp>
        <p:sp>
          <p:nvSpPr>
            <p:cNvPr id="608" name="Google Shape;608;p55"/>
            <p:cNvSpPr/>
            <p:nvPr/>
          </p:nvSpPr>
          <p:spPr>
            <a:xfrm>
              <a:off x="0" y="20"/>
              <a:ext cx="8437402" cy="69432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55"/>
            <p:cNvSpPr txBox="1"/>
            <p:nvPr/>
          </p:nvSpPr>
          <p:spPr>
            <a:xfrm>
              <a:off x="0" y="20"/>
              <a:ext cx="8437402" cy="694321"/>
            </a:xfrm>
            <a:prstGeom prst="rect">
              <a:avLst/>
            </a:prstGeom>
            <a:noFill/>
            <a:ln>
              <a:noFill/>
            </a:ln>
          </p:spPr>
          <p:txBody>
            <a:bodyPr anchorCtr="0" anchor="t" bIns="76200" lIns="76200" spcFirstLastPara="1" rIns="76200" wrap="square" tIns="76200">
              <a:noAutofit/>
            </a:bodyPr>
            <a:lstStyle/>
            <a:p>
              <a:pPr indent="0" lvl="0" marL="0" marR="0" rtl="0" algn="l">
                <a:lnSpc>
                  <a:spcPct val="90000"/>
                </a:lnSpc>
                <a:spcBef>
                  <a:spcPts val="0"/>
                </a:spcBef>
                <a:spcAft>
                  <a:spcPts val="0"/>
                </a:spcAft>
                <a:buNone/>
              </a:pPr>
              <a:r>
                <a:rPr lang="en-US" sz="2000">
                  <a:solidFill>
                    <a:schemeClr val="dk1"/>
                  </a:solidFill>
                  <a:latin typeface="Times New Roman"/>
                  <a:ea typeface="Times New Roman"/>
                  <a:cs typeface="Times New Roman"/>
                  <a:sym typeface="Times New Roman"/>
                </a:rPr>
                <a:t>CONTAINS compares two </a:t>
              </a:r>
              <a:r>
                <a:rPr i="1" lang="en-US" sz="2000">
                  <a:solidFill>
                    <a:schemeClr val="dk1"/>
                  </a:solidFill>
                  <a:latin typeface="Times New Roman"/>
                  <a:ea typeface="Times New Roman"/>
                  <a:cs typeface="Times New Roman"/>
                  <a:sym typeface="Times New Roman"/>
                </a:rPr>
                <a:t>sets </a:t>
              </a:r>
              <a:r>
                <a:rPr lang="en-US" sz="2000">
                  <a:solidFill>
                    <a:schemeClr val="dk1"/>
                  </a:solidFill>
                  <a:latin typeface="Times New Roman"/>
                  <a:ea typeface="Times New Roman"/>
                  <a:cs typeface="Times New Roman"/>
                  <a:sym typeface="Times New Roman"/>
                </a:rPr>
                <a:t>, and returns TRUE if one set contains all values in the other set. </a:t>
              </a:r>
              <a:endParaRPr sz="2000">
                <a:solidFill>
                  <a:schemeClr val="dk1"/>
                </a:solidFill>
                <a:latin typeface="Times New Roman"/>
                <a:ea typeface="Times New Roman"/>
                <a:cs typeface="Times New Roman"/>
                <a:sym typeface="Times New Roman"/>
              </a:endParaRPr>
            </a:p>
          </p:txBody>
        </p:sp>
        <p:cxnSp>
          <p:nvCxnSpPr>
            <p:cNvPr id="610" name="Google Shape;610;p55"/>
            <p:cNvCxnSpPr/>
            <p:nvPr/>
          </p:nvCxnSpPr>
          <p:spPr>
            <a:xfrm>
              <a:off x="0" y="694342"/>
              <a:ext cx="8437402" cy="0"/>
            </a:xfrm>
            <a:prstGeom prst="straightConnector1">
              <a:avLst/>
            </a:prstGeom>
            <a:solidFill>
              <a:srgbClr val="2AA2BF"/>
            </a:solidFill>
            <a:ln cap="flat" cmpd="sng" w="25400">
              <a:solidFill>
                <a:srgbClr val="2AA2BF"/>
              </a:solidFill>
              <a:prstDash val="solid"/>
              <a:round/>
              <a:headEnd len="sm" w="sm" type="none"/>
              <a:tailEnd len="sm" w="sm" type="none"/>
            </a:ln>
          </p:spPr>
        </p:cxnSp>
        <p:sp>
          <p:nvSpPr>
            <p:cNvPr id="611" name="Google Shape;611;p55"/>
            <p:cNvSpPr/>
            <p:nvPr/>
          </p:nvSpPr>
          <p:spPr>
            <a:xfrm>
              <a:off x="0" y="694342"/>
              <a:ext cx="8437402" cy="45324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55"/>
            <p:cNvSpPr txBox="1"/>
            <p:nvPr/>
          </p:nvSpPr>
          <p:spPr>
            <a:xfrm>
              <a:off x="0" y="694342"/>
              <a:ext cx="8437402" cy="453245"/>
            </a:xfrm>
            <a:prstGeom prst="rect">
              <a:avLst/>
            </a:prstGeom>
            <a:noFill/>
            <a:ln>
              <a:noFill/>
            </a:ln>
          </p:spPr>
          <p:txBody>
            <a:bodyPr anchorCtr="0" anchor="t" bIns="76200" lIns="76200" spcFirstLastPara="1" rIns="76200" wrap="square" tIns="76200">
              <a:noAutofit/>
            </a:bodyPr>
            <a:lstStyle/>
            <a:p>
              <a:pPr indent="0" lvl="0" marL="0" marR="0" rtl="0" algn="l">
                <a:lnSpc>
                  <a:spcPct val="90000"/>
                </a:lnSpc>
                <a:spcBef>
                  <a:spcPts val="0"/>
                </a:spcBef>
                <a:spcAft>
                  <a:spcPts val="0"/>
                </a:spcAft>
                <a:buNone/>
              </a:pPr>
              <a:r>
                <a:rPr lang="en-US" sz="2000">
                  <a:solidFill>
                    <a:schemeClr val="dk1"/>
                  </a:solidFill>
                  <a:latin typeface="Times New Roman"/>
                  <a:ea typeface="Times New Roman"/>
                  <a:cs typeface="Times New Roman"/>
                  <a:sym typeface="Times New Roman"/>
                </a:rPr>
                <a:t>Same as </a:t>
              </a:r>
              <a:r>
                <a:rPr i="1" lang="en-US" sz="2000">
                  <a:solidFill>
                    <a:schemeClr val="dk1"/>
                  </a:solidFill>
                  <a:latin typeface="Times New Roman"/>
                  <a:ea typeface="Times New Roman"/>
                  <a:cs typeface="Times New Roman"/>
                  <a:sym typeface="Times New Roman"/>
                </a:rPr>
                <a:t>division </a:t>
              </a:r>
              <a:r>
                <a:rPr lang="en-US" sz="2000">
                  <a:solidFill>
                    <a:schemeClr val="dk1"/>
                  </a:solidFill>
                  <a:latin typeface="Times New Roman"/>
                  <a:ea typeface="Times New Roman"/>
                  <a:cs typeface="Times New Roman"/>
                  <a:sym typeface="Times New Roman"/>
                </a:rPr>
                <a:t>operation of relational algebra</a:t>
              </a:r>
              <a:endParaRPr sz="2000">
                <a:solidFill>
                  <a:schemeClr val="dk1"/>
                </a:solidFill>
                <a:latin typeface="Times New Roman"/>
                <a:ea typeface="Times New Roman"/>
                <a:cs typeface="Times New Roman"/>
                <a:sym typeface="Times New Roman"/>
              </a:endParaRPr>
            </a:p>
          </p:txBody>
        </p:sp>
        <p:cxnSp>
          <p:nvCxnSpPr>
            <p:cNvPr id="613" name="Google Shape;613;p55"/>
            <p:cNvCxnSpPr/>
            <p:nvPr/>
          </p:nvCxnSpPr>
          <p:spPr>
            <a:xfrm>
              <a:off x="0" y="1147587"/>
              <a:ext cx="8437402" cy="0"/>
            </a:xfrm>
            <a:prstGeom prst="straightConnector1">
              <a:avLst/>
            </a:prstGeom>
            <a:solidFill>
              <a:srgbClr val="2AA2BF"/>
            </a:solidFill>
            <a:ln cap="flat" cmpd="sng" w="25400">
              <a:solidFill>
                <a:srgbClr val="2AA2BF"/>
              </a:solidFill>
              <a:prstDash val="solid"/>
              <a:round/>
              <a:headEnd len="sm" w="sm" type="none"/>
              <a:tailEnd len="sm" w="sm" type="none"/>
            </a:ln>
          </p:spPr>
        </p:cxnSp>
        <p:sp>
          <p:nvSpPr>
            <p:cNvPr id="614" name="Google Shape;614;p55"/>
            <p:cNvSpPr/>
            <p:nvPr/>
          </p:nvSpPr>
          <p:spPr>
            <a:xfrm>
              <a:off x="0" y="1147587"/>
              <a:ext cx="8437402" cy="69432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55"/>
            <p:cNvSpPr txBox="1"/>
            <p:nvPr/>
          </p:nvSpPr>
          <p:spPr>
            <a:xfrm>
              <a:off x="0" y="1147587"/>
              <a:ext cx="8437402" cy="694321"/>
            </a:xfrm>
            <a:prstGeom prst="rect">
              <a:avLst/>
            </a:prstGeom>
            <a:noFill/>
            <a:ln>
              <a:noFill/>
            </a:ln>
          </p:spPr>
          <p:txBody>
            <a:bodyPr anchorCtr="0" anchor="t" bIns="121900" lIns="121900" spcFirstLastPara="1" rIns="121900" wrap="square" tIns="121900">
              <a:noAutofit/>
            </a:bodyPr>
            <a:lstStyle/>
            <a:p>
              <a:pPr indent="0" lvl="0" marL="0" marR="0" rtl="0" algn="l">
                <a:lnSpc>
                  <a:spcPct val="90000"/>
                </a:lnSpc>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grpSp>
      <p:grpSp>
        <p:nvGrpSpPr>
          <p:cNvPr id="616" name="Google Shape;616;p55"/>
          <p:cNvGrpSpPr/>
          <p:nvPr/>
        </p:nvGrpSpPr>
        <p:grpSpPr>
          <a:xfrm>
            <a:off x="193638" y="6168467"/>
            <a:ext cx="8437402" cy="455715"/>
            <a:chOff x="0" y="2975"/>
            <a:chExt cx="8437402" cy="455715"/>
          </a:xfrm>
        </p:grpSpPr>
        <p:sp>
          <p:nvSpPr>
            <p:cNvPr id="617" name="Google Shape;617;p55"/>
            <p:cNvSpPr/>
            <p:nvPr/>
          </p:nvSpPr>
          <p:spPr>
            <a:xfrm>
              <a:off x="0" y="2975"/>
              <a:ext cx="8437402" cy="455715"/>
            </a:xfrm>
            <a:prstGeom prst="roundRect">
              <a:avLst>
                <a:gd fmla="val 16667" name="adj"/>
              </a:avLst>
            </a:prstGeom>
            <a:solidFill>
              <a:srgbClr val="2AA2B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55"/>
            <p:cNvSpPr txBox="1"/>
            <p:nvPr/>
          </p:nvSpPr>
          <p:spPr>
            <a:xfrm>
              <a:off x="22246" y="25221"/>
              <a:ext cx="8392910" cy="411223"/>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None/>
              </a:pPr>
              <a:r>
                <a:rPr lang="en-US" sz="1900">
                  <a:solidFill>
                    <a:schemeClr val="lt1"/>
                  </a:solidFill>
                  <a:latin typeface="Times New Roman"/>
                  <a:ea typeface="Times New Roman"/>
                  <a:cs typeface="Times New Roman"/>
                  <a:sym typeface="Times New Roman"/>
                </a:rPr>
                <a:t>Most implementations of SQL </a:t>
              </a:r>
              <a:r>
                <a:rPr i="1" lang="en-US" sz="1900">
                  <a:solidFill>
                    <a:schemeClr val="lt1"/>
                  </a:solidFill>
                  <a:latin typeface="Times New Roman"/>
                  <a:ea typeface="Times New Roman"/>
                  <a:cs typeface="Times New Roman"/>
                  <a:sym typeface="Times New Roman"/>
                </a:rPr>
                <a:t>do not </a:t>
              </a:r>
              <a:r>
                <a:rPr lang="en-US" sz="1900">
                  <a:solidFill>
                    <a:schemeClr val="lt1"/>
                  </a:solidFill>
                  <a:latin typeface="Times New Roman"/>
                  <a:ea typeface="Times New Roman"/>
                  <a:cs typeface="Times New Roman"/>
                  <a:sym typeface="Times New Roman"/>
                </a:rPr>
                <a:t>have this operator</a:t>
              </a:r>
              <a:endParaRPr sz="1900">
                <a:solidFill>
                  <a:schemeClr val="lt1"/>
                </a:solidFill>
                <a:latin typeface="Times New Roman"/>
                <a:ea typeface="Times New Roman"/>
                <a:cs typeface="Times New Roman"/>
                <a:sym typeface="Times New Roman"/>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xEl>
                                              <p:pRg end="0" st="0"/>
                                            </p:txEl>
                                          </p:spTgt>
                                        </p:tgtEl>
                                        <p:attrNameLst>
                                          <p:attrName>style.visibility</p:attrName>
                                        </p:attrNameLst>
                                      </p:cBhvr>
                                      <p:to>
                                        <p:strVal val="visible"/>
                                      </p:to>
                                    </p:set>
                                    <p:animEffect filter="fade" transition="in">
                                      <p:cBhvr>
                                        <p:cTn dur="500"/>
                                        <p:tgtEl>
                                          <p:spTgt spid="6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xEl>
                                              <p:pRg end="1" st="1"/>
                                            </p:txEl>
                                          </p:spTgt>
                                        </p:tgtEl>
                                        <p:attrNameLst>
                                          <p:attrName>style.visibility</p:attrName>
                                        </p:attrNameLst>
                                      </p:cBhvr>
                                      <p:to>
                                        <p:strVal val="visible"/>
                                      </p:to>
                                    </p:set>
                                    <p:animEffect filter="fade" transition="in">
                                      <p:cBhvr>
                                        <p:cTn dur="500"/>
                                        <p:tgtEl>
                                          <p:spTgt spid="6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xEl>
                                              <p:pRg end="2" st="2"/>
                                            </p:txEl>
                                          </p:spTgt>
                                        </p:tgtEl>
                                        <p:attrNameLst>
                                          <p:attrName>style.visibility</p:attrName>
                                        </p:attrNameLst>
                                      </p:cBhvr>
                                      <p:to>
                                        <p:strVal val="visible"/>
                                      </p:to>
                                    </p:set>
                                    <p:animEffect filter="fade" transition="in">
                                      <p:cBhvr>
                                        <p:cTn dur="500"/>
                                        <p:tgtEl>
                                          <p:spTgt spid="604">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5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NESTED CORRELATED QUERIES (contd)</a:t>
            </a:r>
            <a:endParaRPr/>
          </a:p>
        </p:txBody>
      </p:sp>
      <p:sp>
        <p:nvSpPr>
          <p:cNvPr id="625" name="Google Shape;625;p56"/>
          <p:cNvSpPr txBox="1"/>
          <p:nvPr/>
        </p:nvSpPr>
        <p:spPr>
          <a:xfrm>
            <a:off x="762000" y="4572000"/>
            <a:ext cx="5425396" cy="1938992"/>
          </a:xfrm>
          <a:prstGeom prst="rect">
            <a:avLst/>
          </a:prstGeom>
          <a:solidFill>
            <a:schemeClr val="lt1"/>
          </a:solidFill>
          <a:ln cap="flat" cmpd="sng" w="9525">
            <a:solidFill>
              <a:schemeClr val="dk1"/>
            </a:solidFill>
            <a:prstDash val="solid"/>
            <a:miter lim="800000"/>
            <a:headEnd len="sm" w="sm" type="none"/>
            <a:tailEnd len="sm" w="sm" type="none"/>
          </a:ln>
          <a:effectLst>
            <a:outerShdw rotWithShape="0" algn="ctr" dir="2700000" dist="107763">
              <a:schemeClr val="lt2"/>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SELECT  Fname</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FROM     Employee</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WHERE  Salary &gt;  ALL (SELECT Salary</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FROM    Employee</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where Dno=5)</a:t>
            </a:r>
            <a:endParaRPr/>
          </a:p>
        </p:txBody>
      </p:sp>
      <p:sp>
        <p:nvSpPr>
          <p:cNvPr id="626" name="Google Shape;626;p56"/>
          <p:cNvSpPr txBox="1"/>
          <p:nvPr/>
        </p:nvSpPr>
        <p:spPr>
          <a:xfrm>
            <a:off x="609600" y="3124200"/>
            <a:ext cx="736137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Find Employee whose salary is greater than the salary </a:t>
            </a:r>
            <a:endParaRPr/>
          </a:p>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of all employee in  department 5</a:t>
            </a:r>
            <a:endParaRPr b="1" sz="2400">
              <a:solidFill>
                <a:schemeClr val="dk1"/>
              </a:solidFill>
              <a:latin typeface="Times New Roman"/>
              <a:ea typeface="Times New Roman"/>
              <a:cs typeface="Times New Roman"/>
              <a:sym typeface="Times New Roman"/>
            </a:endParaRPr>
          </a:p>
        </p:txBody>
      </p:sp>
      <p:sp>
        <p:nvSpPr>
          <p:cNvPr id="627" name="Google Shape;627;p56"/>
          <p:cNvSpPr txBox="1"/>
          <p:nvPr/>
        </p:nvSpPr>
        <p:spPr>
          <a:xfrm>
            <a:off x="838200" y="1905000"/>
            <a:ext cx="3929063" cy="11874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You can also use:   s &gt; ALL R</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s &gt; ANY R</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EXISTS R</a:t>
            </a:r>
            <a:endParaRPr/>
          </a:p>
        </p:txBody>
      </p:sp>
      <p:pic>
        <p:nvPicPr>
          <p:cNvPr id="628" name="Google Shape;628;p56"/>
          <p:cNvPicPr preferRelativeResize="0"/>
          <p:nvPr/>
        </p:nvPicPr>
        <p:blipFill rotWithShape="1">
          <a:blip r:embed="rId3">
            <a:alphaModFix/>
          </a:blip>
          <a:srcRect b="0" l="0" r="0" t="0"/>
          <a:stretch/>
        </p:blipFill>
        <p:spPr>
          <a:xfrm>
            <a:off x="6301648" y="5043752"/>
            <a:ext cx="2384460" cy="9954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5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3600"/>
              <a:buFont typeface="Calibri"/>
              <a:buNone/>
            </a:pPr>
            <a:r>
              <a:rPr b="1" lang="en-US" sz="3600">
                <a:solidFill>
                  <a:schemeClr val="dk1"/>
                </a:solidFill>
              </a:rPr>
              <a:t>Complex Correlated Query</a:t>
            </a:r>
            <a:endParaRPr/>
          </a:p>
        </p:txBody>
      </p:sp>
      <p:sp>
        <p:nvSpPr>
          <p:cNvPr id="635" name="Google Shape;635;p57"/>
          <p:cNvSpPr txBox="1"/>
          <p:nvPr>
            <p:ph idx="1" type="body"/>
          </p:nvPr>
        </p:nvSpPr>
        <p:spPr>
          <a:xfrm>
            <a:off x="228600" y="1981200"/>
            <a:ext cx="8686800" cy="411480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680"/>
              <a:buChar char="🞆"/>
            </a:pPr>
            <a:r>
              <a:rPr b="1" lang="en-US" sz="2400"/>
              <a:t>Find </a:t>
            </a:r>
            <a:r>
              <a:rPr b="1" lang="en-US"/>
              <a:t>Employee (his dno and salary) </a:t>
            </a:r>
            <a:r>
              <a:rPr b="1" lang="en-US" sz="2400"/>
              <a:t>whose salary is greater than all employees in the same department</a:t>
            </a:r>
            <a:endParaRPr b="1" sz="2400"/>
          </a:p>
          <a:p>
            <a:pPr indent="-274320" lvl="0" marL="274320" rtl="0" algn="l">
              <a:lnSpc>
                <a:spcPct val="90000"/>
              </a:lnSpc>
              <a:spcBef>
                <a:spcPts val="0"/>
              </a:spcBef>
              <a:spcAft>
                <a:spcPts val="0"/>
              </a:spcAft>
              <a:buSzPts val="1680"/>
              <a:buFont typeface="Calibri"/>
              <a:buNone/>
            </a:pPr>
            <a:r>
              <a:t/>
            </a:r>
            <a:endParaRPr sz="2400"/>
          </a:p>
          <a:p>
            <a:pPr indent="-274320" lvl="0" marL="274320" rtl="0" algn="l">
              <a:lnSpc>
                <a:spcPct val="90000"/>
              </a:lnSpc>
              <a:spcBef>
                <a:spcPts val="0"/>
              </a:spcBef>
              <a:spcAft>
                <a:spcPts val="0"/>
              </a:spcAft>
              <a:buSzPts val="1680"/>
              <a:buFont typeface="Calibri"/>
              <a:buNone/>
            </a:pPr>
            <a:r>
              <a:t/>
            </a:r>
            <a:endParaRPr sz="2400"/>
          </a:p>
          <a:p>
            <a:pPr indent="-274320" lvl="0" marL="274320" rtl="0" algn="l">
              <a:lnSpc>
                <a:spcPct val="90000"/>
              </a:lnSpc>
              <a:spcBef>
                <a:spcPts val="0"/>
              </a:spcBef>
              <a:spcAft>
                <a:spcPts val="0"/>
              </a:spcAft>
              <a:buSzPts val="1680"/>
              <a:buFont typeface="Calibri"/>
              <a:buNone/>
            </a:pPr>
            <a:r>
              <a:t/>
            </a:r>
            <a:endParaRPr sz="2400"/>
          </a:p>
          <a:p>
            <a:pPr indent="-274320" lvl="0" marL="274320" rtl="0" algn="l">
              <a:lnSpc>
                <a:spcPct val="90000"/>
              </a:lnSpc>
              <a:spcBef>
                <a:spcPts val="0"/>
              </a:spcBef>
              <a:spcAft>
                <a:spcPts val="0"/>
              </a:spcAft>
              <a:buSzPts val="1680"/>
              <a:buFont typeface="Calibri"/>
              <a:buNone/>
            </a:pPr>
            <a:r>
              <a:t/>
            </a:r>
            <a:endParaRPr sz="2400"/>
          </a:p>
          <a:p>
            <a:pPr indent="-274320" lvl="0" marL="274320" rtl="0" algn="l">
              <a:lnSpc>
                <a:spcPct val="90000"/>
              </a:lnSpc>
              <a:spcBef>
                <a:spcPts val="0"/>
              </a:spcBef>
              <a:spcAft>
                <a:spcPts val="0"/>
              </a:spcAft>
              <a:buSzPts val="1680"/>
              <a:buFont typeface="Calibri"/>
              <a:buNone/>
            </a:pPr>
            <a:r>
              <a:t/>
            </a:r>
            <a:endParaRPr sz="2400"/>
          </a:p>
          <a:p>
            <a:pPr indent="-274320" lvl="0" marL="274320" rtl="0" algn="l">
              <a:lnSpc>
                <a:spcPct val="90000"/>
              </a:lnSpc>
              <a:spcBef>
                <a:spcPts val="0"/>
              </a:spcBef>
              <a:spcAft>
                <a:spcPts val="0"/>
              </a:spcAft>
              <a:buSzPts val="1680"/>
              <a:buFont typeface="Calibri"/>
              <a:buNone/>
            </a:pPr>
            <a:r>
              <a:t/>
            </a:r>
            <a:endParaRPr sz="2400"/>
          </a:p>
          <a:p>
            <a:pPr indent="-274320" lvl="0" marL="274320" rtl="0" algn="l">
              <a:lnSpc>
                <a:spcPct val="90000"/>
              </a:lnSpc>
              <a:spcBef>
                <a:spcPts val="0"/>
              </a:spcBef>
              <a:spcAft>
                <a:spcPts val="0"/>
              </a:spcAft>
              <a:buSzPts val="1680"/>
              <a:buFont typeface="Calibri"/>
              <a:buNone/>
            </a:pPr>
            <a:r>
              <a:t/>
            </a:r>
            <a:endParaRPr sz="2400"/>
          </a:p>
        </p:txBody>
      </p:sp>
      <p:sp>
        <p:nvSpPr>
          <p:cNvPr id="636" name="Google Shape;636;p57"/>
          <p:cNvSpPr/>
          <p:nvPr/>
        </p:nvSpPr>
        <p:spPr>
          <a:xfrm>
            <a:off x="304798" y="3182470"/>
            <a:ext cx="7849497" cy="1631216"/>
          </a:xfrm>
          <a:prstGeom prst="rect">
            <a:avLst/>
          </a:prstGeom>
          <a:solidFill>
            <a:schemeClr val="lt1"/>
          </a:solidFill>
          <a:ln cap="flat" cmpd="sng" w="9525">
            <a:solidFill>
              <a:schemeClr val="dk1"/>
            </a:solidFill>
            <a:prstDash val="solid"/>
            <a:miter lim="800000"/>
            <a:headEnd len="sm" w="sm" type="none"/>
            <a:tailEnd len="sm" w="sm" type="none"/>
          </a:ln>
          <a:effectLst>
            <a:outerShdw rotWithShape="0" algn="ctr" dir="2700000" dist="107763">
              <a:schemeClr val="lt2"/>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SELECT   Fname, Salary, Dno</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FROM     Employee as E</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WHERE  Salary &gt;  ALL (SELECT Salary</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FROM    Employee as S</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WHERE   E.dno=S.dno and E.ssn !=S.ssn )</a:t>
            </a:r>
            <a:endParaRPr/>
          </a:p>
        </p:txBody>
      </p:sp>
      <p:pic>
        <p:nvPicPr>
          <p:cNvPr id="637" name="Google Shape;637;p57"/>
          <p:cNvPicPr preferRelativeResize="0"/>
          <p:nvPr/>
        </p:nvPicPr>
        <p:blipFill rotWithShape="1">
          <a:blip r:embed="rId3">
            <a:alphaModFix/>
          </a:blip>
          <a:srcRect b="0" l="0" r="0" t="0"/>
          <a:stretch/>
        </p:blipFill>
        <p:spPr>
          <a:xfrm>
            <a:off x="457200" y="5071594"/>
            <a:ext cx="4415592" cy="159276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5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NESTED CORRELATED QUERIES (contd)</a:t>
            </a:r>
            <a:endParaRPr/>
          </a:p>
        </p:txBody>
      </p:sp>
      <p:sp>
        <p:nvSpPr>
          <p:cNvPr id="644" name="Google Shape;644;p58"/>
          <p:cNvSpPr txBox="1"/>
          <p:nvPr/>
        </p:nvSpPr>
        <p:spPr>
          <a:xfrm>
            <a:off x="762000" y="4572000"/>
            <a:ext cx="6454844" cy="1938992"/>
          </a:xfrm>
          <a:prstGeom prst="rect">
            <a:avLst/>
          </a:prstGeom>
          <a:solidFill>
            <a:schemeClr val="lt1"/>
          </a:solidFill>
          <a:ln cap="flat" cmpd="sng" w="9525">
            <a:solidFill>
              <a:schemeClr val="dk1"/>
            </a:solidFill>
            <a:prstDash val="solid"/>
            <a:miter lim="800000"/>
            <a:headEnd len="sm" w="sm" type="none"/>
            <a:tailEnd len="sm" w="sm" type="none"/>
          </a:ln>
          <a:effectLst>
            <a:outerShdw rotWithShape="0" algn="ctr" dir="2700000" dist="107763">
              <a:schemeClr val="lt2"/>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SELECT  name</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FROM     Product</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WHERE  price &gt;  ALL (SELECT price</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FROM     Purchase</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WHERE  maker=‘IBM’)</a:t>
            </a:r>
            <a:endParaRPr sz="2400">
              <a:solidFill>
                <a:schemeClr val="dk1"/>
              </a:solidFill>
              <a:latin typeface="Times New Roman"/>
              <a:ea typeface="Times New Roman"/>
              <a:cs typeface="Times New Roman"/>
              <a:sym typeface="Times New Roman"/>
            </a:endParaRPr>
          </a:p>
        </p:txBody>
      </p:sp>
      <p:sp>
        <p:nvSpPr>
          <p:cNvPr id="645" name="Google Shape;645;p58"/>
          <p:cNvSpPr txBox="1"/>
          <p:nvPr/>
        </p:nvSpPr>
        <p:spPr>
          <a:xfrm>
            <a:off x="609600" y="3124200"/>
            <a:ext cx="7826181"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Product ( pid, pname,  price, maker, year)</a:t>
            </a:r>
            <a:endParaRPr b="1"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Find products that are more expensive than all those produced</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By “IBM”</a:t>
            </a:r>
            <a:endParaRPr sz="2400">
              <a:solidFill>
                <a:schemeClr val="dk1"/>
              </a:solidFill>
              <a:latin typeface="Times New Roman"/>
              <a:ea typeface="Times New Roman"/>
              <a:cs typeface="Times New Roman"/>
              <a:sym typeface="Times New Roman"/>
            </a:endParaRPr>
          </a:p>
        </p:txBody>
      </p:sp>
      <p:sp>
        <p:nvSpPr>
          <p:cNvPr id="646" name="Google Shape;646;p58"/>
          <p:cNvSpPr txBox="1"/>
          <p:nvPr/>
        </p:nvSpPr>
        <p:spPr>
          <a:xfrm>
            <a:off x="838200" y="1905000"/>
            <a:ext cx="3929063" cy="11874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You can also use:   s &gt; ALL R</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s &gt; ANY R</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EXISTS 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5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3600"/>
              <a:buFont typeface="Calibri"/>
              <a:buNone/>
            </a:pPr>
            <a:r>
              <a:rPr b="1" lang="en-US" sz="3600">
                <a:solidFill>
                  <a:schemeClr val="dk1"/>
                </a:solidFill>
              </a:rPr>
              <a:t>Complex Correlated Query</a:t>
            </a:r>
            <a:endParaRPr/>
          </a:p>
        </p:txBody>
      </p:sp>
      <p:sp>
        <p:nvSpPr>
          <p:cNvPr id="653" name="Google Shape;653;p59"/>
          <p:cNvSpPr txBox="1"/>
          <p:nvPr>
            <p:ph idx="1" type="body"/>
          </p:nvPr>
        </p:nvSpPr>
        <p:spPr>
          <a:xfrm>
            <a:off x="228600" y="1981200"/>
            <a:ext cx="8686800" cy="441960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680"/>
              <a:buFont typeface="Calibri"/>
              <a:buNone/>
            </a:pPr>
            <a:r>
              <a:rPr b="1" lang="en-US" sz="2400"/>
              <a:t>Product ( pid, pname,  price, maker, year)</a:t>
            </a:r>
            <a:endParaRPr/>
          </a:p>
          <a:p>
            <a:pPr indent="-274320" lvl="0" marL="274320" rtl="0" algn="l">
              <a:lnSpc>
                <a:spcPct val="90000"/>
              </a:lnSpc>
              <a:spcBef>
                <a:spcPts val="600"/>
              </a:spcBef>
              <a:spcAft>
                <a:spcPts val="0"/>
              </a:spcAft>
              <a:buSzPts val="1680"/>
              <a:buChar char="🞆"/>
            </a:pPr>
            <a:r>
              <a:rPr lang="en-US" sz="2400"/>
              <a:t>Find products (and their manufacturers) that are more expensive than all products made by the same manufacturer before 1972</a:t>
            </a:r>
            <a:endParaRPr/>
          </a:p>
          <a:p>
            <a:pPr indent="-274320" lvl="0" marL="274320" rtl="0" algn="l">
              <a:lnSpc>
                <a:spcPct val="90000"/>
              </a:lnSpc>
              <a:spcBef>
                <a:spcPts val="0"/>
              </a:spcBef>
              <a:spcAft>
                <a:spcPts val="0"/>
              </a:spcAft>
              <a:buSzPts val="1680"/>
              <a:buFont typeface="Calibri"/>
              <a:buNone/>
            </a:pPr>
            <a:r>
              <a:t/>
            </a:r>
            <a:endParaRPr sz="2400"/>
          </a:p>
          <a:p>
            <a:pPr indent="-274320" lvl="0" marL="274320" rtl="0" algn="l">
              <a:lnSpc>
                <a:spcPct val="90000"/>
              </a:lnSpc>
              <a:spcBef>
                <a:spcPts val="0"/>
              </a:spcBef>
              <a:spcAft>
                <a:spcPts val="0"/>
              </a:spcAft>
              <a:buSzPts val="1680"/>
              <a:buFont typeface="Calibri"/>
              <a:buNone/>
            </a:pPr>
            <a:r>
              <a:t/>
            </a:r>
            <a:endParaRPr sz="2400"/>
          </a:p>
          <a:p>
            <a:pPr indent="-274320" lvl="0" marL="274320" rtl="0" algn="l">
              <a:lnSpc>
                <a:spcPct val="90000"/>
              </a:lnSpc>
              <a:spcBef>
                <a:spcPts val="0"/>
              </a:spcBef>
              <a:spcAft>
                <a:spcPts val="0"/>
              </a:spcAft>
              <a:buSzPts val="1680"/>
              <a:buFont typeface="Calibri"/>
              <a:buNone/>
            </a:pPr>
            <a:r>
              <a:t/>
            </a:r>
            <a:endParaRPr sz="2400"/>
          </a:p>
          <a:p>
            <a:pPr indent="-274320" lvl="0" marL="274320" rtl="0" algn="l">
              <a:lnSpc>
                <a:spcPct val="90000"/>
              </a:lnSpc>
              <a:spcBef>
                <a:spcPts val="0"/>
              </a:spcBef>
              <a:spcAft>
                <a:spcPts val="0"/>
              </a:spcAft>
              <a:buSzPts val="1680"/>
              <a:buFont typeface="Calibri"/>
              <a:buNone/>
            </a:pPr>
            <a:r>
              <a:t/>
            </a:r>
            <a:endParaRPr sz="2400"/>
          </a:p>
          <a:p>
            <a:pPr indent="-274320" lvl="0" marL="274320" rtl="0" algn="l">
              <a:lnSpc>
                <a:spcPct val="90000"/>
              </a:lnSpc>
              <a:spcBef>
                <a:spcPts val="0"/>
              </a:spcBef>
              <a:spcAft>
                <a:spcPts val="0"/>
              </a:spcAft>
              <a:buSzPts val="1680"/>
              <a:buFont typeface="Calibri"/>
              <a:buNone/>
            </a:pPr>
            <a:r>
              <a:t/>
            </a:r>
            <a:endParaRPr sz="2400"/>
          </a:p>
          <a:p>
            <a:pPr indent="-274320" lvl="0" marL="274320" rtl="0" algn="l">
              <a:lnSpc>
                <a:spcPct val="90000"/>
              </a:lnSpc>
              <a:spcBef>
                <a:spcPts val="0"/>
              </a:spcBef>
              <a:spcAft>
                <a:spcPts val="0"/>
              </a:spcAft>
              <a:buSzPts val="1680"/>
              <a:buFont typeface="Calibri"/>
              <a:buNone/>
            </a:pPr>
            <a:r>
              <a:t/>
            </a:r>
            <a:endParaRPr sz="2400"/>
          </a:p>
          <a:p>
            <a:pPr indent="-274320" lvl="0" marL="274320" rtl="0" algn="l">
              <a:lnSpc>
                <a:spcPct val="90000"/>
              </a:lnSpc>
              <a:spcBef>
                <a:spcPts val="0"/>
              </a:spcBef>
              <a:spcAft>
                <a:spcPts val="0"/>
              </a:spcAft>
              <a:buSzPts val="1680"/>
              <a:buFont typeface="Calibri"/>
              <a:buNone/>
            </a:pPr>
            <a:r>
              <a:t/>
            </a:r>
            <a:endParaRPr sz="2400"/>
          </a:p>
          <a:p>
            <a:pPr indent="-274320" lvl="0" marL="274320" rtl="0" algn="l">
              <a:lnSpc>
                <a:spcPct val="90000"/>
              </a:lnSpc>
              <a:spcBef>
                <a:spcPts val="0"/>
              </a:spcBef>
              <a:spcAft>
                <a:spcPts val="0"/>
              </a:spcAft>
              <a:buSzPts val="1680"/>
              <a:buFont typeface="Calibri"/>
              <a:buNone/>
            </a:pPr>
            <a:r>
              <a:rPr lang="en-US" sz="2400"/>
              <a:t>Very powerful ! Also much harder to optimize.</a:t>
            </a:r>
            <a:endParaRPr/>
          </a:p>
        </p:txBody>
      </p:sp>
      <p:sp>
        <p:nvSpPr>
          <p:cNvPr id="654" name="Google Shape;654;p59"/>
          <p:cNvSpPr/>
          <p:nvPr/>
        </p:nvSpPr>
        <p:spPr>
          <a:xfrm>
            <a:off x="131778" y="3322320"/>
            <a:ext cx="8610600" cy="2031325"/>
          </a:xfrm>
          <a:prstGeom prst="rect">
            <a:avLst/>
          </a:prstGeom>
          <a:solidFill>
            <a:schemeClr val="lt1"/>
          </a:solidFill>
          <a:ln cap="flat" cmpd="sng" w="9525">
            <a:solidFill>
              <a:schemeClr val="dk1"/>
            </a:solidFill>
            <a:prstDash val="solid"/>
            <a:miter lim="800000"/>
            <a:headEnd len="sm" w="sm" type="none"/>
            <a:tailEnd len="sm" w="sm" type="none"/>
          </a:ln>
          <a:effectLst>
            <a:outerShdw rotWithShape="0" algn="ctr" dir="2700000" dist="107763">
              <a:schemeClr val="lt2"/>
            </a:outerShdw>
          </a:effectLst>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2000">
                <a:solidFill>
                  <a:schemeClr val="dk1"/>
                </a:solidFill>
                <a:latin typeface="Times New Roman"/>
                <a:ea typeface="Times New Roman"/>
                <a:cs typeface="Times New Roman"/>
                <a:sym typeface="Times New Roman"/>
              </a:rPr>
              <a:t>SELECT DISTINCT  pname, maker</a:t>
            </a:r>
            <a:endParaRPr/>
          </a:p>
          <a:p>
            <a:pPr indent="0" lvl="0" marL="0" marR="0" rtl="0" algn="l">
              <a:lnSpc>
                <a:spcPct val="90000"/>
              </a:lnSpc>
              <a:spcBef>
                <a:spcPts val="0"/>
              </a:spcBef>
              <a:spcAft>
                <a:spcPts val="0"/>
              </a:spcAft>
              <a:buNone/>
            </a:pPr>
            <a:r>
              <a:rPr lang="en-US" sz="2000">
                <a:solidFill>
                  <a:schemeClr val="dk1"/>
                </a:solidFill>
                <a:latin typeface="Times New Roman"/>
                <a:ea typeface="Times New Roman"/>
                <a:cs typeface="Times New Roman"/>
                <a:sym typeface="Times New Roman"/>
              </a:rPr>
              <a:t>FROM     Product AS x</a:t>
            </a:r>
            <a:endParaRPr/>
          </a:p>
          <a:p>
            <a:pPr indent="0" lvl="0" marL="0" marR="0" rtl="0" algn="l">
              <a:lnSpc>
                <a:spcPct val="90000"/>
              </a:lnSpc>
              <a:spcBef>
                <a:spcPts val="0"/>
              </a:spcBef>
              <a:spcAft>
                <a:spcPts val="0"/>
              </a:spcAft>
              <a:buNone/>
            </a:pPr>
            <a:r>
              <a:rPr lang="en-US" sz="2000">
                <a:solidFill>
                  <a:schemeClr val="dk1"/>
                </a:solidFill>
                <a:latin typeface="Times New Roman"/>
                <a:ea typeface="Times New Roman"/>
                <a:cs typeface="Times New Roman"/>
                <a:sym typeface="Times New Roman"/>
              </a:rPr>
              <a:t>WHERE  price &gt; ALL  (SELECT  price</a:t>
            </a:r>
            <a:endParaRPr/>
          </a:p>
          <a:p>
            <a:pPr indent="0" lvl="0" marL="0" marR="0" rtl="0" algn="l">
              <a:lnSpc>
                <a:spcPct val="90000"/>
              </a:lnSpc>
              <a:spcBef>
                <a:spcPts val="0"/>
              </a:spcBef>
              <a:spcAft>
                <a:spcPts val="0"/>
              </a:spcAft>
              <a:buNone/>
            </a:pPr>
            <a:r>
              <a:rPr lang="en-US" sz="2000">
                <a:solidFill>
                  <a:schemeClr val="dk1"/>
                </a:solidFill>
                <a:latin typeface="Times New Roman"/>
                <a:ea typeface="Times New Roman"/>
                <a:cs typeface="Times New Roman"/>
                <a:sym typeface="Times New Roman"/>
              </a:rPr>
              <a:t>                                        FROM    Product AS y</a:t>
            </a:r>
            <a:endParaRPr/>
          </a:p>
          <a:p>
            <a:pPr indent="0" lvl="0" marL="0" marR="0" rtl="0" algn="l">
              <a:lnSpc>
                <a:spcPct val="90000"/>
              </a:lnSpc>
              <a:spcBef>
                <a:spcPts val="0"/>
              </a:spcBef>
              <a:spcAft>
                <a:spcPts val="0"/>
              </a:spcAft>
              <a:buNone/>
            </a:pPr>
            <a:r>
              <a:rPr lang="en-US" sz="2000">
                <a:solidFill>
                  <a:schemeClr val="dk1"/>
                </a:solidFill>
                <a:latin typeface="Times New Roman"/>
                <a:ea typeface="Times New Roman"/>
                <a:cs typeface="Times New Roman"/>
                <a:sym typeface="Times New Roman"/>
              </a:rPr>
              <a:t>                                        WHERE  x.maker = y.maker AND x.pname!=y.pname 					and </a:t>
            </a:r>
            <a:endParaRPr/>
          </a:p>
          <a:p>
            <a:pPr indent="0" lvl="0" marL="0" marR="0" rtl="0" algn="l">
              <a:lnSpc>
                <a:spcPct val="90000"/>
              </a:lnSpc>
              <a:spcBef>
                <a:spcPts val="0"/>
              </a:spcBef>
              <a:spcAft>
                <a:spcPts val="0"/>
              </a:spcAft>
              <a:buNone/>
            </a:pPr>
            <a:r>
              <a:rPr lang="en-US" sz="2000">
                <a:solidFill>
                  <a:schemeClr val="dk1"/>
                </a:solidFill>
                <a:latin typeface="Times New Roman"/>
                <a:ea typeface="Times New Roman"/>
                <a:cs typeface="Times New Roman"/>
                <a:sym typeface="Times New Roman"/>
              </a:rPr>
              <a:t>				y.year &lt; 1972)</a:t>
            </a:r>
            <a:endParaRPr sz="20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60"/>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Two Examples</a:t>
            </a:r>
            <a:endParaRPr/>
          </a:p>
        </p:txBody>
      </p:sp>
      <p:sp>
        <p:nvSpPr>
          <p:cNvPr id="661" name="Google Shape;661;p60"/>
          <p:cNvSpPr/>
          <p:nvPr/>
        </p:nvSpPr>
        <p:spPr>
          <a:xfrm>
            <a:off x="685800" y="2187575"/>
            <a:ext cx="7031669"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Store(sid, sname)</a:t>
            </a:r>
            <a:endParaRPr/>
          </a:p>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Product(pid, pname, price, maker, year , sid)</a:t>
            </a:r>
            <a:endParaRPr/>
          </a:p>
        </p:txBody>
      </p:sp>
      <p:sp>
        <p:nvSpPr>
          <p:cNvPr id="662" name="Google Shape;662;p60"/>
          <p:cNvSpPr txBox="1"/>
          <p:nvPr/>
        </p:nvSpPr>
        <p:spPr>
          <a:xfrm>
            <a:off x="457200" y="3886199"/>
            <a:ext cx="7500771"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Find stores that sell </a:t>
            </a:r>
            <a:r>
              <a:rPr i="1" lang="en-US" sz="2800">
                <a:solidFill>
                  <a:schemeClr val="dk1"/>
                </a:solidFill>
                <a:latin typeface="Times New Roman"/>
                <a:ea typeface="Times New Roman"/>
                <a:cs typeface="Times New Roman"/>
                <a:sym typeface="Times New Roman"/>
              </a:rPr>
              <a:t>only </a:t>
            </a:r>
            <a:r>
              <a:rPr lang="en-US" sz="2800">
                <a:solidFill>
                  <a:schemeClr val="dk1"/>
                </a:solidFill>
                <a:latin typeface="Times New Roman"/>
                <a:ea typeface="Times New Roman"/>
                <a:cs typeface="Times New Roman"/>
                <a:sym typeface="Times New Roman"/>
              </a:rPr>
              <a:t>products with price &gt; 100</a:t>
            </a:r>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same as:</a:t>
            </a:r>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Find stores s.t. all their products have price &gt; 100)</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61"/>
          <p:cNvSpPr/>
          <p:nvPr/>
        </p:nvSpPr>
        <p:spPr>
          <a:xfrm>
            <a:off x="152400" y="130175"/>
            <a:ext cx="4564063" cy="1927225"/>
          </a:xfrm>
          <a:prstGeom prst="rect">
            <a:avLst/>
          </a:prstGeom>
          <a:solidFill>
            <a:schemeClr val="lt1"/>
          </a:solidFill>
          <a:ln cap="flat" cmpd="sng" w="9525">
            <a:solidFill>
              <a:schemeClr val="dk1"/>
            </a:solidFill>
            <a:prstDash val="solid"/>
            <a:miter lim="800000"/>
            <a:headEnd len="sm" w="sm" type="none"/>
            <a:tailEnd len="sm" w="sm" type="none"/>
          </a:ln>
          <a:effectLst>
            <a:outerShdw rotWithShape="0" algn="ctr" dir="2700000" dist="107763">
              <a:schemeClr val="lt2"/>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Times New Roman"/>
                <a:ea typeface="Times New Roman"/>
                <a:cs typeface="Times New Roman"/>
                <a:sym typeface="Times New Roman"/>
              </a:rPr>
              <a:t>SELECT</a:t>
            </a:r>
            <a:r>
              <a:rPr lang="en-US" sz="2400">
                <a:solidFill>
                  <a:schemeClr val="dk1"/>
                </a:solidFill>
                <a:latin typeface="Times New Roman"/>
                <a:ea typeface="Times New Roman"/>
                <a:cs typeface="Times New Roman"/>
                <a:sym typeface="Times New Roman"/>
              </a:rPr>
              <a:t> Store.name</a:t>
            </a:r>
            <a:endParaRPr/>
          </a:p>
          <a:p>
            <a:pPr indent="0" lvl="0" marL="0" marR="0" rtl="0" algn="l">
              <a:spcBef>
                <a:spcPts val="0"/>
              </a:spcBef>
              <a:spcAft>
                <a:spcPts val="0"/>
              </a:spcAft>
              <a:buNone/>
            </a:pPr>
            <a:r>
              <a:rPr lang="en-US" sz="2400">
                <a:solidFill>
                  <a:schemeClr val="accent2"/>
                </a:solidFill>
                <a:latin typeface="Times New Roman"/>
                <a:ea typeface="Times New Roman"/>
                <a:cs typeface="Times New Roman"/>
                <a:sym typeface="Times New Roman"/>
              </a:rPr>
              <a:t>FROM</a:t>
            </a:r>
            <a:r>
              <a:rPr lang="en-US" sz="2400">
                <a:solidFill>
                  <a:schemeClr val="dk1"/>
                </a:solidFill>
                <a:latin typeface="Times New Roman"/>
                <a:ea typeface="Times New Roman"/>
                <a:cs typeface="Times New Roman"/>
                <a:sym typeface="Times New Roman"/>
              </a:rPr>
              <a:t>    Store, Product</a:t>
            </a:r>
            <a:endParaRPr/>
          </a:p>
          <a:p>
            <a:pPr indent="0" lvl="0" marL="0" marR="0" rtl="0" algn="l">
              <a:spcBef>
                <a:spcPts val="0"/>
              </a:spcBef>
              <a:spcAft>
                <a:spcPts val="0"/>
              </a:spcAft>
              <a:buNone/>
            </a:pPr>
            <a:r>
              <a:rPr lang="en-US" sz="2400">
                <a:solidFill>
                  <a:schemeClr val="accent2"/>
                </a:solidFill>
                <a:latin typeface="Times New Roman"/>
                <a:ea typeface="Times New Roman"/>
                <a:cs typeface="Times New Roman"/>
                <a:sym typeface="Times New Roman"/>
              </a:rPr>
              <a:t>WHERE</a:t>
            </a:r>
            <a:r>
              <a:rPr lang="en-US" sz="2400">
                <a:solidFill>
                  <a:schemeClr val="dk1"/>
                </a:solidFill>
                <a:latin typeface="Times New Roman"/>
                <a:ea typeface="Times New Roman"/>
                <a:cs typeface="Times New Roman"/>
                <a:sym typeface="Times New Roman"/>
              </a:rPr>
              <a:t>  Store.sid = Product.sid</a:t>
            </a:r>
            <a:endParaRPr/>
          </a:p>
          <a:p>
            <a:pPr indent="0" lvl="0" marL="0" marR="0" rtl="0" algn="l">
              <a:spcBef>
                <a:spcPts val="0"/>
              </a:spcBef>
              <a:spcAft>
                <a:spcPts val="0"/>
              </a:spcAft>
              <a:buNone/>
            </a:pPr>
            <a:r>
              <a:rPr lang="en-US" sz="2400">
                <a:solidFill>
                  <a:schemeClr val="accent2"/>
                </a:solidFill>
                <a:latin typeface="Times New Roman"/>
                <a:ea typeface="Times New Roman"/>
                <a:cs typeface="Times New Roman"/>
                <a:sym typeface="Times New Roman"/>
              </a:rPr>
              <a:t>GROUP BY</a:t>
            </a:r>
            <a:r>
              <a:rPr lang="en-US" sz="2400">
                <a:solidFill>
                  <a:schemeClr val="dk1"/>
                </a:solidFill>
                <a:latin typeface="Times New Roman"/>
                <a:ea typeface="Times New Roman"/>
                <a:cs typeface="Times New Roman"/>
                <a:sym typeface="Times New Roman"/>
              </a:rPr>
              <a:t>  Store.sid, Store.name</a:t>
            </a:r>
            <a:endParaRPr/>
          </a:p>
          <a:p>
            <a:pPr indent="0" lvl="0" marL="0" marR="0" rtl="0" algn="l">
              <a:spcBef>
                <a:spcPts val="0"/>
              </a:spcBef>
              <a:spcAft>
                <a:spcPts val="0"/>
              </a:spcAft>
              <a:buNone/>
            </a:pPr>
            <a:r>
              <a:rPr lang="en-US" sz="2400">
                <a:solidFill>
                  <a:schemeClr val="accent2"/>
                </a:solidFill>
                <a:latin typeface="Times New Roman"/>
                <a:ea typeface="Times New Roman"/>
                <a:cs typeface="Times New Roman"/>
                <a:sym typeface="Times New Roman"/>
              </a:rPr>
              <a:t>HAVING </a:t>
            </a:r>
            <a:r>
              <a:rPr lang="en-US" sz="2400">
                <a:solidFill>
                  <a:schemeClr val="dk1"/>
                </a:solidFill>
                <a:latin typeface="Times New Roman"/>
                <a:ea typeface="Times New Roman"/>
                <a:cs typeface="Times New Roman"/>
                <a:sym typeface="Times New Roman"/>
              </a:rPr>
              <a:t>100 &lt; min(Product.price)</a:t>
            </a:r>
            <a:endParaRPr/>
          </a:p>
        </p:txBody>
      </p:sp>
      <p:sp>
        <p:nvSpPr>
          <p:cNvPr id="669" name="Google Shape;669;p61"/>
          <p:cNvSpPr/>
          <p:nvPr/>
        </p:nvSpPr>
        <p:spPr>
          <a:xfrm>
            <a:off x="1447800" y="4494213"/>
            <a:ext cx="5794375" cy="2292350"/>
          </a:xfrm>
          <a:prstGeom prst="rect">
            <a:avLst/>
          </a:prstGeom>
          <a:solidFill>
            <a:schemeClr val="lt1"/>
          </a:solidFill>
          <a:ln cap="flat" cmpd="sng" w="9525">
            <a:solidFill>
              <a:schemeClr val="dk1"/>
            </a:solidFill>
            <a:prstDash val="solid"/>
            <a:miter lim="800000"/>
            <a:headEnd len="sm" w="sm" type="none"/>
            <a:tailEnd len="sm" w="sm" type="none"/>
          </a:ln>
          <a:effectLst>
            <a:outerShdw rotWithShape="0" algn="ctr" dir="2700000" dist="107763">
              <a:schemeClr val="lt2"/>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Times New Roman"/>
                <a:ea typeface="Times New Roman"/>
                <a:cs typeface="Times New Roman"/>
                <a:sym typeface="Times New Roman"/>
              </a:rPr>
              <a:t>SELECT</a:t>
            </a:r>
            <a:r>
              <a:rPr lang="en-US" sz="2400">
                <a:solidFill>
                  <a:schemeClr val="dk1"/>
                </a:solidFill>
                <a:latin typeface="Times New Roman"/>
                <a:ea typeface="Times New Roman"/>
                <a:cs typeface="Times New Roman"/>
                <a:sym typeface="Times New Roman"/>
              </a:rPr>
              <a:t> Store.name</a:t>
            </a:r>
            <a:endParaRPr/>
          </a:p>
          <a:p>
            <a:pPr indent="0" lvl="0" marL="0" marR="0" rtl="0" algn="l">
              <a:spcBef>
                <a:spcPts val="0"/>
              </a:spcBef>
              <a:spcAft>
                <a:spcPts val="0"/>
              </a:spcAft>
              <a:buNone/>
            </a:pPr>
            <a:r>
              <a:rPr lang="en-US" sz="2400">
                <a:solidFill>
                  <a:schemeClr val="accent2"/>
                </a:solidFill>
                <a:latin typeface="Times New Roman"/>
                <a:ea typeface="Times New Roman"/>
                <a:cs typeface="Times New Roman"/>
                <a:sym typeface="Times New Roman"/>
              </a:rPr>
              <a:t>FROM</a:t>
            </a:r>
            <a:r>
              <a:rPr lang="en-US" sz="2400">
                <a:solidFill>
                  <a:schemeClr val="dk1"/>
                </a:solidFill>
                <a:latin typeface="Times New Roman"/>
                <a:ea typeface="Times New Roman"/>
                <a:cs typeface="Times New Roman"/>
                <a:sym typeface="Times New Roman"/>
              </a:rPr>
              <a:t>    Store</a:t>
            </a:r>
            <a:endParaRPr/>
          </a:p>
          <a:p>
            <a:pPr indent="0" lvl="0" marL="0" marR="0" rtl="0" algn="l">
              <a:spcBef>
                <a:spcPts val="0"/>
              </a:spcBef>
              <a:spcAft>
                <a:spcPts val="0"/>
              </a:spcAft>
              <a:buNone/>
            </a:pPr>
            <a:r>
              <a:rPr lang="en-US" sz="2400">
                <a:solidFill>
                  <a:schemeClr val="accent2"/>
                </a:solidFill>
                <a:latin typeface="Times New Roman"/>
                <a:ea typeface="Times New Roman"/>
                <a:cs typeface="Times New Roman"/>
                <a:sym typeface="Times New Roman"/>
              </a:rPr>
              <a:t>WHERE</a:t>
            </a:r>
            <a:r>
              <a:rPr lang="en-US" sz="2400">
                <a:solidFill>
                  <a:schemeClr val="dk1"/>
                </a:solidFill>
                <a:latin typeface="Times New Roman"/>
                <a:ea typeface="Times New Roman"/>
                <a:cs typeface="Times New Roman"/>
                <a:sym typeface="Times New Roman"/>
              </a:rPr>
              <a:t>  Store.sid </a:t>
            </a:r>
            <a:r>
              <a:rPr lang="en-US" sz="2400">
                <a:solidFill>
                  <a:schemeClr val="accent2"/>
                </a:solidFill>
                <a:latin typeface="Times New Roman"/>
                <a:ea typeface="Times New Roman"/>
                <a:cs typeface="Times New Roman"/>
                <a:sym typeface="Times New Roman"/>
              </a:rPr>
              <a:t>NOT</a:t>
            </a:r>
            <a:r>
              <a:rPr lang="en-US" sz="2400">
                <a:solidFill>
                  <a:schemeClr val="dk1"/>
                </a:solidFill>
                <a:latin typeface="Times New Roman"/>
                <a:ea typeface="Times New Roman"/>
                <a:cs typeface="Times New Roman"/>
                <a:sym typeface="Times New Roman"/>
              </a:rPr>
              <a:t> </a:t>
            </a:r>
            <a:r>
              <a:rPr lang="en-US" sz="2400">
                <a:solidFill>
                  <a:schemeClr val="accent2"/>
                </a:solidFill>
                <a:latin typeface="Times New Roman"/>
                <a:ea typeface="Times New Roman"/>
                <a:cs typeface="Times New Roman"/>
                <a:sym typeface="Times New Roman"/>
              </a:rPr>
              <a:t>IN</a:t>
            </a:r>
            <a:r>
              <a:rPr lang="en-US" sz="2400">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a:t>
            </a:r>
            <a:r>
              <a:rPr lang="en-US" sz="2400">
                <a:solidFill>
                  <a:schemeClr val="accent2"/>
                </a:solidFill>
                <a:latin typeface="Times New Roman"/>
                <a:ea typeface="Times New Roman"/>
                <a:cs typeface="Times New Roman"/>
                <a:sym typeface="Times New Roman"/>
              </a:rPr>
              <a:t>SELECT</a:t>
            </a:r>
            <a:r>
              <a:rPr lang="en-US" sz="2400">
                <a:solidFill>
                  <a:schemeClr val="dk1"/>
                </a:solidFill>
                <a:latin typeface="Times New Roman"/>
                <a:ea typeface="Times New Roman"/>
                <a:cs typeface="Times New Roman"/>
                <a:sym typeface="Times New Roman"/>
              </a:rPr>
              <a:t> Product.sid</a:t>
            </a:r>
            <a:endParaRPr/>
          </a:p>
          <a:p>
            <a:pPr indent="0" lvl="0" marL="0" marR="0" rtl="0" algn="l">
              <a:spcBef>
                <a:spcPts val="0"/>
              </a:spcBef>
              <a:spcAft>
                <a:spcPts val="0"/>
              </a:spcAft>
              <a:buNone/>
            </a:pPr>
            <a:r>
              <a:rPr lang="en-US" sz="2400">
                <a:solidFill>
                  <a:schemeClr val="accent2"/>
                </a:solidFill>
                <a:latin typeface="Times New Roman"/>
                <a:ea typeface="Times New Roman"/>
                <a:cs typeface="Times New Roman"/>
                <a:sym typeface="Times New Roman"/>
              </a:rPr>
              <a:t>                      FROM </a:t>
            </a:r>
            <a:r>
              <a:rPr lang="en-US" sz="2400">
                <a:solidFill>
                  <a:schemeClr val="dk1"/>
                </a:solidFill>
                <a:latin typeface="Times New Roman"/>
                <a:ea typeface="Times New Roman"/>
                <a:cs typeface="Times New Roman"/>
                <a:sym typeface="Times New Roman"/>
              </a:rPr>
              <a:t>Product</a:t>
            </a:r>
            <a:endParaRPr/>
          </a:p>
          <a:p>
            <a:pPr indent="0" lvl="0" marL="0" marR="0" rtl="0" algn="l">
              <a:spcBef>
                <a:spcPts val="0"/>
              </a:spcBef>
              <a:spcAft>
                <a:spcPts val="0"/>
              </a:spcAft>
              <a:buNone/>
            </a:pPr>
            <a:r>
              <a:rPr lang="en-US" sz="2400">
                <a:solidFill>
                  <a:schemeClr val="accent2"/>
                </a:solidFill>
                <a:latin typeface="Times New Roman"/>
                <a:ea typeface="Times New Roman"/>
                <a:cs typeface="Times New Roman"/>
                <a:sym typeface="Times New Roman"/>
              </a:rPr>
              <a:t>                      WHERE</a:t>
            </a:r>
            <a:r>
              <a:rPr lang="en-US" sz="2400">
                <a:solidFill>
                  <a:schemeClr val="dk1"/>
                </a:solidFill>
                <a:latin typeface="Times New Roman"/>
                <a:ea typeface="Times New Roman"/>
                <a:cs typeface="Times New Roman"/>
                <a:sym typeface="Times New Roman"/>
              </a:rPr>
              <a:t>  Product.price &lt;= 100)</a:t>
            </a:r>
            <a:endParaRPr/>
          </a:p>
        </p:txBody>
      </p:sp>
      <p:sp>
        <p:nvSpPr>
          <p:cNvPr id="670" name="Google Shape;670;p61"/>
          <p:cNvSpPr/>
          <p:nvPr/>
        </p:nvSpPr>
        <p:spPr>
          <a:xfrm>
            <a:off x="2895600" y="2133600"/>
            <a:ext cx="5986463" cy="2292350"/>
          </a:xfrm>
          <a:prstGeom prst="rect">
            <a:avLst/>
          </a:prstGeom>
          <a:solidFill>
            <a:schemeClr val="lt1"/>
          </a:solidFill>
          <a:ln cap="flat" cmpd="sng" w="9525">
            <a:solidFill>
              <a:schemeClr val="dk1"/>
            </a:solidFill>
            <a:prstDash val="solid"/>
            <a:miter lim="800000"/>
            <a:headEnd len="sm" w="sm" type="none"/>
            <a:tailEnd len="sm" w="sm" type="none"/>
          </a:ln>
          <a:effectLst>
            <a:outerShdw rotWithShape="0" algn="ctr" dir="2700000" dist="107763">
              <a:schemeClr val="lt2"/>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Times New Roman"/>
                <a:ea typeface="Times New Roman"/>
                <a:cs typeface="Times New Roman"/>
                <a:sym typeface="Times New Roman"/>
              </a:rPr>
              <a:t>SELECT</a:t>
            </a:r>
            <a:r>
              <a:rPr lang="en-US" sz="2400">
                <a:solidFill>
                  <a:schemeClr val="dk1"/>
                </a:solidFill>
                <a:latin typeface="Times New Roman"/>
                <a:ea typeface="Times New Roman"/>
                <a:cs typeface="Times New Roman"/>
                <a:sym typeface="Times New Roman"/>
              </a:rPr>
              <a:t> Store.name</a:t>
            </a:r>
            <a:endParaRPr/>
          </a:p>
          <a:p>
            <a:pPr indent="0" lvl="0" marL="0" marR="0" rtl="0" algn="l">
              <a:spcBef>
                <a:spcPts val="0"/>
              </a:spcBef>
              <a:spcAft>
                <a:spcPts val="0"/>
              </a:spcAft>
              <a:buNone/>
            </a:pPr>
            <a:r>
              <a:rPr lang="en-US" sz="2400">
                <a:solidFill>
                  <a:schemeClr val="accent2"/>
                </a:solidFill>
                <a:latin typeface="Times New Roman"/>
                <a:ea typeface="Times New Roman"/>
                <a:cs typeface="Times New Roman"/>
                <a:sym typeface="Times New Roman"/>
              </a:rPr>
              <a:t>FROM</a:t>
            </a:r>
            <a:r>
              <a:rPr lang="en-US" sz="2400">
                <a:solidFill>
                  <a:schemeClr val="dk1"/>
                </a:solidFill>
                <a:latin typeface="Times New Roman"/>
                <a:ea typeface="Times New Roman"/>
                <a:cs typeface="Times New Roman"/>
                <a:sym typeface="Times New Roman"/>
              </a:rPr>
              <a:t>    Store</a:t>
            </a:r>
            <a:endParaRPr/>
          </a:p>
          <a:p>
            <a:pPr indent="0" lvl="0" marL="0" marR="0" rtl="0" algn="l">
              <a:spcBef>
                <a:spcPts val="0"/>
              </a:spcBef>
              <a:spcAft>
                <a:spcPts val="0"/>
              </a:spcAft>
              <a:buNone/>
            </a:pPr>
            <a:r>
              <a:rPr lang="en-US" sz="2400">
                <a:solidFill>
                  <a:schemeClr val="accent2"/>
                </a:solidFill>
                <a:latin typeface="Times New Roman"/>
                <a:ea typeface="Times New Roman"/>
                <a:cs typeface="Times New Roman"/>
                <a:sym typeface="Times New Roman"/>
              </a:rPr>
              <a:t>WHERE</a:t>
            </a:r>
            <a:r>
              <a:rPr lang="en-US" sz="2400">
                <a:solidFill>
                  <a:schemeClr val="dk1"/>
                </a:solidFill>
                <a:latin typeface="Times New Roman"/>
                <a:ea typeface="Times New Roman"/>
                <a:cs typeface="Times New Roman"/>
                <a:sym typeface="Times New Roman"/>
              </a:rPr>
              <a:t>  </a:t>
            </a:r>
            <a:br>
              <a:rPr lang="en-US" sz="2400">
                <a:solidFill>
                  <a:schemeClr val="dk1"/>
                </a:solidFill>
                <a:latin typeface="Times New Roman"/>
                <a:ea typeface="Times New Roman"/>
                <a:cs typeface="Times New Roman"/>
                <a:sym typeface="Times New Roman"/>
              </a:rPr>
            </a:br>
            <a:r>
              <a:rPr lang="en-US" sz="2400">
                <a:solidFill>
                  <a:schemeClr val="dk1"/>
                </a:solidFill>
                <a:latin typeface="Times New Roman"/>
                <a:ea typeface="Times New Roman"/>
                <a:cs typeface="Times New Roman"/>
                <a:sym typeface="Times New Roman"/>
              </a:rPr>
              <a:t>   100 &lt; </a:t>
            </a:r>
            <a:r>
              <a:rPr lang="en-US" sz="2400">
                <a:solidFill>
                  <a:schemeClr val="accent2"/>
                </a:solidFill>
                <a:latin typeface="Times New Roman"/>
                <a:ea typeface="Times New Roman"/>
                <a:cs typeface="Times New Roman"/>
                <a:sym typeface="Times New Roman"/>
              </a:rPr>
              <a:t>ALL</a:t>
            </a:r>
            <a:r>
              <a:rPr lang="en-US" sz="2400">
                <a:solidFill>
                  <a:schemeClr val="dk1"/>
                </a:solidFill>
                <a:latin typeface="Times New Roman"/>
                <a:ea typeface="Times New Roman"/>
                <a:cs typeface="Times New Roman"/>
                <a:sym typeface="Times New Roman"/>
              </a:rPr>
              <a:t> (</a:t>
            </a:r>
            <a:r>
              <a:rPr lang="en-US" sz="2400">
                <a:solidFill>
                  <a:schemeClr val="accent2"/>
                </a:solidFill>
                <a:latin typeface="Times New Roman"/>
                <a:ea typeface="Times New Roman"/>
                <a:cs typeface="Times New Roman"/>
                <a:sym typeface="Times New Roman"/>
              </a:rPr>
              <a:t>SELECT</a:t>
            </a:r>
            <a:r>
              <a:rPr lang="en-US" sz="2400">
                <a:solidFill>
                  <a:schemeClr val="dk1"/>
                </a:solidFill>
                <a:latin typeface="Times New Roman"/>
                <a:ea typeface="Times New Roman"/>
                <a:cs typeface="Times New Roman"/>
                <a:sym typeface="Times New Roman"/>
              </a:rPr>
              <a:t> Product.price</a:t>
            </a:r>
            <a:br>
              <a:rPr lang="en-US" sz="2400">
                <a:solidFill>
                  <a:schemeClr val="dk1"/>
                </a:solidFill>
                <a:latin typeface="Times New Roman"/>
                <a:ea typeface="Times New Roman"/>
                <a:cs typeface="Times New Roman"/>
                <a:sym typeface="Times New Roman"/>
              </a:rPr>
            </a:br>
            <a:r>
              <a:rPr lang="en-US" sz="2400">
                <a:solidFill>
                  <a:schemeClr val="dk1"/>
                </a:solidFill>
                <a:latin typeface="Times New Roman"/>
                <a:ea typeface="Times New Roman"/>
                <a:cs typeface="Times New Roman"/>
                <a:sym typeface="Times New Roman"/>
              </a:rPr>
              <a:t>                       </a:t>
            </a:r>
            <a:r>
              <a:rPr lang="en-US" sz="2400">
                <a:solidFill>
                  <a:schemeClr val="accent2"/>
                </a:solidFill>
                <a:latin typeface="Times New Roman"/>
                <a:ea typeface="Times New Roman"/>
                <a:cs typeface="Times New Roman"/>
                <a:sym typeface="Times New Roman"/>
              </a:rPr>
              <a:t>FROM</a:t>
            </a:r>
            <a:r>
              <a:rPr lang="en-US" sz="2400">
                <a:solidFill>
                  <a:schemeClr val="dk1"/>
                </a:solidFill>
                <a:latin typeface="Times New Roman"/>
                <a:ea typeface="Times New Roman"/>
                <a:cs typeface="Times New Roman"/>
                <a:sym typeface="Times New Roman"/>
              </a:rPr>
              <a:t> product</a:t>
            </a:r>
            <a:br>
              <a:rPr lang="en-US" sz="2400">
                <a:solidFill>
                  <a:schemeClr val="dk1"/>
                </a:solidFill>
                <a:latin typeface="Times New Roman"/>
                <a:ea typeface="Times New Roman"/>
                <a:cs typeface="Times New Roman"/>
                <a:sym typeface="Times New Roman"/>
              </a:rPr>
            </a:br>
            <a:r>
              <a:rPr lang="en-US" sz="2400">
                <a:solidFill>
                  <a:schemeClr val="dk1"/>
                </a:solidFill>
                <a:latin typeface="Times New Roman"/>
                <a:ea typeface="Times New Roman"/>
                <a:cs typeface="Times New Roman"/>
                <a:sym typeface="Times New Roman"/>
              </a:rPr>
              <a:t>                       </a:t>
            </a:r>
            <a:r>
              <a:rPr lang="en-US" sz="2400">
                <a:solidFill>
                  <a:schemeClr val="accent2"/>
                </a:solidFill>
                <a:latin typeface="Times New Roman"/>
                <a:ea typeface="Times New Roman"/>
                <a:cs typeface="Times New Roman"/>
                <a:sym typeface="Times New Roman"/>
              </a:rPr>
              <a:t>WHERE</a:t>
            </a:r>
            <a:r>
              <a:rPr lang="en-US" sz="2400">
                <a:solidFill>
                  <a:schemeClr val="dk1"/>
                </a:solidFill>
                <a:latin typeface="Times New Roman"/>
                <a:ea typeface="Times New Roman"/>
                <a:cs typeface="Times New Roman"/>
                <a:sym typeface="Times New Roman"/>
              </a:rPr>
              <a:t> Store.sid = Product.sid)</a:t>
            </a:r>
            <a:endParaRPr/>
          </a:p>
        </p:txBody>
      </p:sp>
      <p:sp>
        <p:nvSpPr>
          <p:cNvPr id="671" name="Google Shape;671;p61"/>
          <p:cNvSpPr txBox="1"/>
          <p:nvPr/>
        </p:nvSpPr>
        <p:spPr>
          <a:xfrm>
            <a:off x="188913" y="2895600"/>
            <a:ext cx="2732087"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Almost equivalent…</a:t>
            </a:r>
            <a:endParaRPr/>
          </a:p>
        </p:txBody>
      </p:sp>
      <p:sp>
        <p:nvSpPr>
          <p:cNvPr id="672" name="Google Shape;672;p61"/>
          <p:cNvSpPr/>
          <p:nvPr/>
        </p:nvSpPr>
        <p:spPr>
          <a:xfrm>
            <a:off x="4956175" y="531469"/>
            <a:ext cx="3514057"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Find stores s.t. all their products have price &gt; 100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6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600"/>
              <a:buFont typeface="Calibri"/>
              <a:buNone/>
            </a:pPr>
            <a:r>
              <a:rPr b="1" lang="en-US" sz="3600"/>
              <a:t>Group By and Having</a:t>
            </a:r>
            <a:endParaRPr b="1" sz="3600"/>
          </a:p>
        </p:txBody>
      </p:sp>
      <p:sp>
        <p:nvSpPr>
          <p:cNvPr id="680" name="Google Shape;680;p62"/>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Count the </a:t>
            </a:r>
            <a:r>
              <a:rPr i="1" lang="en-US"/>
              <a:t>total </a:t>
            </a:r>
            <a:r>
              <a:rPr lang="en-US"/>
              <a:t>number of employees whose salaries exceed $30,000 in each department, but only for departments where more than five employees work</a:t>
            </a:r>
            <a:endParaRPr/>
          </a:p>
          <a:p>
            <a:pPr indent="-167640" lvl="0" marL="274320" rtl="0" algn="l">
              <a:spcBef>
                <a:spcPts val="600"/>
              </a:spcBef>
              <a:spcAft>
                <a:spcPts val="0"/>
              </a:spcAft>
              <a:buSzPts val="1680"/>
              <a:buNone/>
            </a:pPr>
            <a:r>
              <a:t/>
            </a:r>
            <a:endParaRPr b="1"/>
          </a:p>
          <a:p>
            <a:pPr indent="-274320" lvl="0" marL="274320" rtl="0" algn="l">
              <a:spcBef>
                <a:spcPts val="600"/>
              </a:spcBef>
              <a:spcAft>
                <a:spcPts val="0"/>
              </a:spcAft>
              <a:buSzPts val="1680"/>
              <a:buChar char="🞆"/>
            </a:pPr>
            <a:r>
              <a:rPr b="1" lang="en-US"/>
              <a:t>          </a:t>
            </a:r>
            <a:r>
              <a:rPr b="1" lang="en-US">
                <a:solidFill>
                  <a:srgbClr val="FF0000"/>
                </a:solidFill>
              </a:rPr>
              <a:t>SELECT </a:t>
            </a:r>
            <a:r>
              <a:rPr lang="en-US">
                <a:solidFill>
                  <a:srgbClr val="FF0000"/>
                </a:solidFill>
              </a:rPr>
              <a:t>Dname, </a:t>
            </a:r>
            <a:r>
              <a:rPr b="1" lang="en-US">
                <a:solidFill>
                  <a:srgbClr val="FF0000"/>
                </a:solidFill>
              </a:rPr>
              <a:t>COUNT </a:t>
            </a:r>
            <a:r>
              <a:rPr lang="en-US">
                <a:solidFill>
                  <a:srgbClr val="FF0000"/>
                </a:solidFill>
              </a:rPr>
              <a:t>(*)</a:t>
            </a:r>
            <a:endParaRPr/>
          </a:p>
          <a:p>
            <a:pPr indent="0" lvl="0" marL="0" rtl="0" algn="l">
              <a:spcBef>
                <a:spcPts val="600"/>
              </a:spcBef>
              <a:spcAft>
                <a:spcPts val="0"/>
              </a:spcAft>
              <a:buSzPts val="1680"/>
              <a:buNone/>
            </a:pPr>
            <a:r>
              <a:rPr b="1" lang="en-US">
                <a:solidFill>
                  <a:srgbClr val="FF0000"/>
                </a:solidFill>
              </a:rPr>
              <a:t>	FROM </a:t>
            </a:r>
            <a:r>
              <a:rPr lang="en-US">
                <a:solidFill>
                  <a:srgbClr val="FF0000"/>
                </a:solidFill>
              </a:rPr>
              <a:t>DEPARTMENT, EMPLOYEE</a:t>
            </a:r>
            <a:endParaRPr/>
          </a:p>
          <a:p>
            <a:pPr indent="0" lvl="0" marL="0" rtl="0" algn="l">
              <a:spcBef>
                <a:spcPts val="600"/>
              </a:spcBef>
              <a:spcAft>
                <a:spcPts val="0"/>
              </a:spcAft>
              <a:buSzPts val="1680"/>
              <a:buNone/>
            </a:pPr>
            <a:r>
              <a:rPr b="1" lang="en-US">
                <a:solidFill>
                  <a:srgbClr val="FF0000"/>
                </a:solidFill>
              </a:rPr>
              <a:t>	WHERE </a:t>
            </a:r>
            <a:r>
              <a:rPr lang="en-US">
                <a:solidFill>
                  <a:srgbClr val="FF0000"/>
                </a:solidFill>
              </a:rPr>
              <a:t>Dnumber=Dno </a:t>
            </a:r>
            <a:r>
              <a:rPr b="1" lang="en-US">
                <a:solidFill>
                  <a:srgbClr val="FF0000"/>
                </a:solidFill>
              </a:rPr>
              <a:t>AND </a:t>
            </a:r>
            <a:r>
              <a:rPr lang="en-US">
                <a:solidFill>
                  <a:srgbClr val="FF0000"/>
                </a:solidFill>
              </a:rPr>
              <a:t>Salary&gt;30000</a:t>
            </a:r>
            <a:endParaRPr>
              <a:solidFill>
                <a:srgbClr val="FF0000"/>
              </a:solidFill>
            </a:endParaRPr>
          </a:p>
          <a:p>
            <a:pPr indent="0" lvl="0" marL="0" rtl="0" algn="l">
              <a:spcBef>
                <a:spcPts val="600"/>
              </a:spcBef>
              <a:spcAft>
                <a:spcPts val="0"/>
              </a:spcAft>
              <a:buSzPts val="1680"/>
              <a:buNone/>
            </a:pPr>
            <a:r>
              <a:rPr b="1" lang="en-US">
                <a:solidFill>
                  <a:srgbClr val="FF0000"/>
                </a:solidFill>
              </a:rPr>
              <a:t>	GROUP BY </a:t>
            </a:r>
            <a:r>
              <a:rPr lang="en-US">
                <a:solidFill>
                  <a:srgbClr val="FF0000"/>
                </a:solidFill>
              </a:rPr>
              <a:t>Dname</a:t>
            </a:r>
            <a:endParaRPr>
              <a:solidFill>
                <a:srgbClr val="FF0000"/>
              </a:solidFill>
            </a:endParaRPr>
          </a:p>
          <a:p>
            <a:pPr indent="0" lvl="0" marL="0" rtl="0" algn="l">
              <a:spcBef>
                <a:spcPts val="600"/>
              </a:spcBef>
              <a:spcAft>
                <a:spcPts val="0"/>
              </a:spcAft>
              <a:buSzPts val="1680"/>
              <a:buNone/>
            </a:pPr>
            <a:r>
              <a:rPr b="1" lang="en-US">
                <a:solidFill>
                  <a:srgbClr val="FF0000"/>
                </a:solidFill>
              </a:rPr>
              <a:t>	HAVING COUNT </a:t>
            </a:r>
            <a:r>
              <a:rPr lang="en-US">
                <a:solidFill>
                  <a:srgbClr val="FF0000"/>
                </a:solidFill>
              </a:rPr>
              <a:t>(*) &gt; 5;</a:t>
            </a:r>
            <a:endParaRPr/>
          </a:p>
        </p:txBody>
      </p:sp>
      <p:sp>
        <p:nvSpPr>
          <p:cNvPr id="681" name="Google Shape;681;p6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6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600"/>
              <a:buFont typeface="Calibri"/>
              <a:buNone/>
            </a:pPr>
            <a:r>
              <a:rPr b="1" lang="en-US" sz="3600"/>
              <a:t>Group By and Having</a:t>
            </a:r>
            <a:endParaRPr b="1" sz="3600"/>
          </a:p>
        </p:txBody>
      </p:sp>
      <p:sp>
        <p:nvSpPr>
          <p:cNvPr id="689" name="Google Shape;689;p63"/>
          <p:cNvSpPr txBox="1"/>
          <p:nvPr>
            <p:ph idx="1" type="body"/>
          </p:nvPr>
        </p:nvSpPr>
        <p:spPr>
          <a:xfrm>
            <a:off x="223520" y="1600200"/>
            <a:ext cx="7467600" cy="4873752"/>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1680"/>
              <a:buChar char="🞆"/>
            </a:pPr>
            <a:r>
              <a:rPr lang="en-US"/>
              <a:t>Count the </a:t>
            </a:r>
            <a:r>
              <a:rPr i="1" lang="en-US"/>
              <a:t>total </a:t>
            </a:r>
            <a:r>
              <a:rPr lang="en-US"/>
              <a:t>number of employees whose salaries exceed $30,000 in each department, but only for departments where more than five employees work</a:t>
            </a:r>
            <a:endParaRPr/>
          </a:p>
          <a:p>
            <a:pPr indent="-167640" lvl="0" marL="274320" rtl="0" algn="l">
              <a:spcBef>
                <a:spcPts val="600"/>
              </a:spcBef>
              <a:spcAft>
                <a:spcPts val="0"/>
              </a:spcAft>
              <a:buSzPts val="1680"/>
              <a:buNone/>
            </a:pPr>
            <a:r>
              <a:t/>
            </a:r>
            <a:endParaRPr b="1"/>
          </a:p>
          <a:p>
            <a:pPr indent="-274320" lvl="0" marL="274320" rtl="0" algn="l">
              <a:spcBef>
                <a:spcPts val="600"/>
              </a:spcBef>
              <a:spcAft>
                <a:spcPts val="0"/>
              </a:spcAft>
              <a:buSzPts val="1680"/>
              <a:buChar char="🞆"/>
            </a:pPr>
            <a:r>
              <a:rPr b="1" lang="en-US"/>
              <a:t>          </a:t>
            </a:r>
            <a:r>
              <a:rPr lang="en-US"/>
              <a:t>SELECT Dno, COUNT (*) No_of_Employees</a:t>
            </a:r>
            <a:endParaRPr/>
          </a:p>
          <a:p>
            <a:pPr indent="0" lvl="0" marL="0" rtl="0" algn="l">
              <a:spcBef>
                <a:spcPts val="600"/>
              </a:spcBef>
              <a:spcAft>
                <a:spcPts val="0"/>
              </a:spcAft>
              <a:buSzPts val="1680"/>
              <a:buNone/>
            </a:pPr>
            <a:r>
              <a:rPr lang="en-US"/>
              <a:t>	FROM EMPLOYEE </a:t>
            </a:r>
            <a:endParaRPr/>
          </a:p>
          <a:p>
            <a:pPr indent="0" lvl="0" marL="0" rtl="0" algn="l">
              <a:spcBef>
                <a:spcPts val="600"/>
              </a:spcBef>
              <a:spcAft>
                <a:spcPts val="0"/>
              </a:spcAft>
              <a:buSzPts val="1680"/>
              <a:buNone/>
            </a:pPr>
            <a:r>
              <a:rPr lang="en-US"/>
              <a:t>	WHERE salary &gt; 30000 and DNO IN</a:t>
            </a:r>
            <a:endParaRPr/>
          </a:p>
          <a:p>
            <a:pPr indent="0" lvl="0" marL="0" rtl="0" algn="l">
              <a:spcBef>
                <a:spcPts val="600"/>
              </a:spcBef>
              <a:spcAft>
                <a:spcPts val="0"/>
              </a:spcAft>
              <a:buSzPts val="1680"/>
              <a:buNone/>
            </a:pPr>
            <a:r>
              <a:rPr lang="en-US"/>
              <a:t>			(SELECT Dno</a:t>
            </a:r>
            <a:endParaRPr/>
          </a:p>
          <a:p>
            <a:pPr indent="0" lvl="0" marL="0" rtl="0" algn="l">
              <a:spcBef>
                <a:spcPts val="600"/>
              </a:spcBef>
              <a:spcAft>
                <a:spcPts val="0"/>
              </a:spcAft>
              <a:buSzPts val="1680"/>
              <a:buNone/>
            </a:pPr>
            <a:r>
              <a:rPr lang="en-US"/>
              <a:t>			FROM EMPLOYEE</a:t>
            </a:r>
            <a:endParaRPr/>
          </a:p>
          <a:p>
            <a:pPr indent="0" lvl="0" marL="0" rtl="0" algn="l">
              <a:spcBef>
                <a:spcPts val="600"/>
              </a:spcBef>
              <a:spcAft>
                <a:spcPts val="0"/>
              </a:spcAft>
              <a:buSzPts val="1680"/>
              <a:buNone/>
            </a:pPr>
            <a:r>
              <a:rPr lang="en-US"/>
              <a:t>			GROUP BY Dno</a:t>
            </a:r>
            <a:endParaRPr/>
          </a:p>
          <a:p>
            <a:pPr indent="0" lvl="0" marL="0" rtl="0" algn="l">
              <a:spcBef>
                <a:spcPts val="600"/>
              </a:spcBef>
              <a:spcAft>
                <a:spcPts val="0"/>
              </a:spcAft>
              <a:buSzPts val="1680"/>
              <a:buNone/>
            </a:pPr>
            <a:r>
              <a:rPr lang="en-US"/>
              <a:t>			HAVING COUNT (*) &gt; 5)</a:t>
            </a:r>
            <a:endParaRPr/>
          </a:p>
          <a:p>
            <a:pPr indent="0" lvl="0" marL="0" rtl="0" algn="l">
              <a:spcBef>
                <a:spcPts val="600"/>
              </a:spcBef>
              <a:spcAft>
                <a:spcPts val="0"/>
              </a:spcAft>
              <a:buSzPts val="1680"/>
              <a:buNone/>
            </a:pPr>
            <a:r>
              <a:rPr lang="en-US"/>
              <a:t>	Group by DNO</a:t>
            </a:r>
            <a:endParaRPr>
              <a:solidFill>
                <a:srgbClr val="FF0000"/>
              </a:solidFill>
            </a:endParaRPr>
          </a:p>
        </p:txBody>
      </p:sp>
      <p:sp>
        <p:nvSpPr>
          <p:cNvPr id="690" name="Google Shape;690;p6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pic>
        <p:nvPicPr>
          <p:cNvPr id="691" name="Google Shape;691;p63"/>
          <p:cNvPicPr preferRelativeResize="0"/>
          <p:nvPr/>
        </p:nvPicPr>
        <p:blipFill rotWithShape="1">
          <a:blip r:embed="rId3">
            <a:alphaModFix/>
          </a:blip>
          <a:srcRect b="0" l="0" r="0" t="0"/>
          <a:stretch/>
        </p:blipFill>
        <p:spPr>
          <a:xfrm>
            <a:off x="5608955" y="4265930"/>
            <a:ext cx="3231357" cy="82423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6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Summary of SQL Queries</a:t>
            </a:r>
            <a:endParaRPr>
              <a:solidFill>
                <a:srgbClr val="000000"/>
              </a:solidFill>
            </a:endParaRPr>
          </a:p>
        </p:txBody>
      </p:sp>
      <p:sp>
        <p:nvSpPr>
          <p:cNvPr id="697" name="Google Shape;697;p64"/>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1680"/>
              <a:buChar char="🞆"/>
            </a:pPr>
            <a:r>
              <a:rPr lang="en-US" sz="2400">
                <a:solidFill>
                  <a:srgbClr val="000000"/>
                </a:solidFill>
              </a:rPr>
              <a:t>A query in SQL can consist of up to six clauses, but only the first two, SELECT and FROM, are mandatory. The clauses are specified in the following order:</a:t>
            </a:r>
            <a:br>
              <a:rPr b="1" lang="en-US" sz="2400">
                <a:solidFill>
                  <a:srgbClr val="000000"/>
                </a:solidFill>
              </a:rPr>
            </a:br>
            <a:br>
              <a:rPr b="1" lang="en-US" sz="2400">
                <a:solidFill>
                  <a:srgbClr val="000000"/>
                </a:solidFill>
              </a:rPr>
            </a:br>
            <a:r>
              <a:rPr b="1" lang="en-US" sz="2400">
                <a:solidFill>
                  <a:srgbClr val="000000"/>
                </a:solidFill>
              </a:rPr>
              <a:t>SELECT	&lt;attribute list&gt;</a:t>
            </a:r>
            <a:br>
              <a:rPr b="1" lang="en-US" sz="2400">
                <a:solidFill>
                  <a:srgbClr val="000000"/>
                </a:solidFill>
              </a:rPr>
            </a:br>
            <a:r>
              <a:rPr b="1" lang="en-US" sz="2400">
                <a:solidFill>
                  <a:srgbClr val="000000"/>
                </a:solidFill>
              </a:rPr>
              <a:t>FROM	&lt;table list&gt;</a:t>
            </a:r>
            <a:br>
              <a:rPr b="1" lang="en-US" sz="2400">
                <a:solidFill>
                  <a:srgbClr val="000000"/>
                </a:solidFill>
              </a:rPr>
            </a:br>
            <a:r>
              <a:rPr b="1" lang="en-US" sz="2400">
                <a:solidFill>
                  <a:srgbClr val="000000"/>
                </a:solidFill>
              </a:rPr>
              <a:t>[WHERE	&lt;condition&gt;]</a:t>
            </a:r>
            <a:br>
              <a:rPr b="1" lang="en-US" sz="2400">
                <a:solidFill>
                  <a:srgbClr val="000000"/>
                </a:solidFill>
              </a:rPr>
            </a:br>
            <a:r>
              <a:rPr b="1" lang="en-US" sz="2400">
                <a:solidFill>
                  <a:srgbClr val="000000"/>
                </a:solidFill>
              </a:rPr>
              <a:t>[GROUP BY &lt;grouping attribute(s)&gt;]</a:t>
            </a:r>
            <a:br>
              <a:rPr b="1" lang="en-US" sz="2400">
                <a:solidFill>
                  <a:srgbClr val="000000"/>
                </a:solidFill>
              </a:rPr>
            </a:br>
            <a:r>
              <a:rPr b="1" lang="en-US" sz="2400">
                <a:solidFill>
                  <a:srgbClr val="000000"/>
                </a:solidFill>
              </a:rPr>
              <a:t>[HAVING	&lt;group condition&gt;]</a:t>
            </a:r>
            <a:br>
              <a:rPr b="1" lang="en-US" sz="2400">
                <a:solidFill>
                  <a:srgbClr val="000000"/>
                </a:solidFill>
              </a:rPr>
            </a:br>
            <a:r>
              <a:rPr b="1" lang="en-US" sz="2400">
                <a:solidFill>
                  <a:srgbClr val="000000"/>
                </a:solidFill>
              </a:rPr>
              <a:t>[ORDER BY &lt;attribute list&gt;]</a:t>
            </a:r>
            <a:endParaRPr/>
          </a:p>
          <a:p>
            <a:pPr indent="-167640" lvl="0" marL="274320" rtl="0" algn="l">
              <a:spcBef>
                <a:spcPts val="600"/>
              </a:spcBef>
              <a:spcAft>
                <a:spcPts val="0"/>
              </a:spcAft>
              <a:buSzPts val="1680"/>
              <a:buNone/>
            </a:pPr>
            <a:r>
              <a:t/>
            </a:r>
            <a:endParaRPr b="1" sz="2400">
              <a:solidFill>
                <a:srgbClr val="000000"/>
              </a:solidFill>
            </a:endParaRPr>
          </a:p>
          <a:p>
            <a:pPr indent="-274320" lvl="0" marL="274320" rtl="0" algn="l">
              <a:spcBef>
                <a:spcPts val="600"/>
              </a:spcBef>
              <a:spcAft>
                <a:spcPts val="0"/>
              </a:spcAft>
              <a:buSzPts val="1680"/>
              <a:buChar char="🞆"/>
            </a:pPr>
            <a:r>
              <a:rPr lang="en-US">
                <a:solidFill>
                  <a:srgbClr val="000000"/>
                </a:solidFill>
              </a:rPr>
              <a:t>A query is evaluated by first applying the WHERE-clause, then GROUP BY and HAVING, and finally the SELECT-clause</a:t>
            </a:r>
            <a:endParaRPr sz="2800">
              <a:solidFill>
                <a:srgbClr val="000000"/>
              </a:solidFill>
            </a:endParaRPr>
          </a:p>
          <a:p>
            <a:pPr indent="-167640" lvl="0" marL="274320" rtl="0" algn="l">
              <a:spcBef>
                <a:spcPts val="600"/>
              </a:spcBef>
              <a:spcAft>
                <a:spcPts val="0"/>
              </a:spcAft>
              <a:buSzPts val="1680"/>
              <a:buNone/>
            </a:pPr>
            <a:r>
              <a:t/>
            </a:r>
            <a:endParaRPr>
              <a:solidFill>
                <a:srgbClr val="000000"/>
              </a:solidFill>
            </a:endParaRPr>
          </a:p>
        </p:txBody>
      </p:sp>
      <p:sp>
        <p:nvSpPr>
          <p:cNvPr id="698" name="Google Shape;698;p6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6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Summary of SQL Queries (cont.)</a:t>
            </a:r>
            <a:endParaRPr>
              <a:solidFill>
                <a:srgbClr val="000000"/>
              </a:solidFill>
            </a:endParaRPr>
          </a:p>
        </p:txBody>
      </p:sp>
      <p:sp>
        <p:nvSpPr>
          <p:cNvPr id="704" name="Google Shape;704;p65"/>
          <p:cNvSpPr txBox="1"/>
          <p:nvPr>
            <p:ph idx="1" type="body"/>
          </p:nvPr>
        </p:nvSpPr>
        <p:spPr>
          <a:xfrm>
            <a:off x="685800" y="1784350"/>
            <a:ext cx="7772400" cy="4541838"/>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540"/>
              <a:buChar char="🞆"/>
            </a:pPr>
            <a:r>
              <a:rPr lang="en-US" sz="2200">
                <a:solidFill>
                  <a:srgbClr val="000000"/>
                </a:solidFill>
              </a:rPr>
              <a:t>The SELECT-clause lists the attributes or functions to be retrieved</a:t>
            </a:r>
            <a:endParaRPr/>
          </a:p>
          <a:p>
            <a:pPr indent="-274320" lvl="0" marL="274320" rtl="0" algn="l">
              <a:lnSpc>
                <a:spcPct val="90000"/>
              </a:lnSpc>
              <a:spcBef>
                <a:spcPts val="600"/>
              </a:spcBef>
              <a:spcAft>
                <a:spcPts val="0"/>
              </a:spcAft>
              <a:buSzPts val="1540"/>
              <a:buChar char="🞆"/>
            </a:pPr>
            <a:r>
              <a:rPr lang="en-US" sz="2200">
                <a:solidFill>
                  <a:srgbClr val="000000"/>
                </a:solidFill>
              </a:rPr>
              <a:t>The FROM-clause specifies all relations (or aliases) needed in the query but not those needed in nested queries</a:t>
            </a:r>
            <a:endParaRPr/>
          </a:p>
          <a:p>
            <a:pPr indent="-274320" lvl="0" marL="274320" rtl="0" algn="l">
              <a:lnSpc>
                <a:spcPct val="90000"/>
              </a:lnSpc>
              <a:spcBef>
                <a:spcPts val="600"/>
              </a:spcBef>
              <a:spcAft>
                <a:spcPts val="0"/>
              </a:spcAft>
              <a:buSzPts val="1540"/>
              <a:buChar char="🞆"/>
            </a:pPr>
            <a:r>
              <a:rPr lang="en-US" sz="2200">
                <a:solidFill>
                  <a:srgbClr val="000000"/>
                </a:solidFill>
              </a:rPr>
              <a:t>The WHERE-clause specifies the conditions for selection and join of tuples from the relations specified in the FROM-clause</a:t>
            </a:r>
            <a:endParaRPr/>
          </a:p>
          <a:p>
            <a:pPr indent="-274320" lvl="0" marL="274320" rtl="0" algn="l">
              <a:lnSpc>
                <a:spcPct val="90000"/>
              </a:lnSpc>
              <a:spcBef>
                <a:spcPts val="600"/>
              </a:spcBef>
              <a:spcAft>
                <a:spcPts val="0"/>
              </a:spcAft>
              <a:buSzPts val="1540"/>
              <a:buChar char="🞆"/>
            </a:pPr>
            <a:r>
              <a:rPr lang="en-US" sz="2200">
                <a:solidFill>
                  <a:srgbClr val="000000"/>
                </a:solidFill>
              </a:rPr>
              <a:t>GROUP BY specifies grouping attributes</a:t>
            </a:r>
            <a:endParaRPr/>
          </a:p>
          <a:p>
            <a:pPr indent="-274320" lvl="0" marL="274320" rtl="0" algn="l">
              <a:lnSpc>
                <a:spcPct val="90000"/>
              </a:lnSpc>
              <a:spcBef>
                <a:spcPts val="600"/>
              </a:spcBef>
              <a:spcAft>
                <a:spcPts val="0"/>
              </a:spcAft>
              <a:buSzPts val="1540"/>
              <a:buChar char="🞆"/>
            </a:pPr>
            <a:r>
              <a:rPr lang="en-US" sz="2200">
                <a:solidFill>
                  <a:srgbClr val="000000"/>
                </a:solidFill>
              </a:rPr>
              <a:t>HAVING specifies a condition for selection of groups</a:t>
            </a:r>
            <a:endParaRPr/>
          </a:p>
          <a:p>
            <a:pPr indent="-274320" lvl="0" marL="274320" rtl="0" algn="l">
              <a:lnSpc>
                <a:spcPct val="90000"/>
              </a:lnSpc>
              <a:spcBef>
                <a:spcPts val="600"/>
              </a:spcBef>
              <a:spcAft>
                <a:spcPts val="0"/>
              </a:spcAft>
              <a:buSzPts val="1540"/>
              <a:buChar char="🞆"/>
            </a:pPr>
            <a:r>
              <a:rPr lang="en-US" sz="2200">
                <a:solidFill>
                  <a:srgbClr val="000000"/>
                </a:solidFill>
              </a:rPr>
              <a:t>ORDER BY specifies an order for displaying the result of a query</a:t>
            </a:r>
            <a:endParaRPr sz="2200">
              <a:solidFill>
                <a:srgbClr val="000000"/>
              </a:solidFill>
            </a:endParaRPr>
          </a:p>
        </p:txBody>
      </p:sp>
      <p:sp>
        <p:nvSpPr>
          <p:cNvPr id="705" name="Google Shape;705;p6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6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4000"/>
              <a:buFont typeface="Calibri"/>
              <a:buNone/>
            </a:pPr>
            <a:r>
              <a:rPr b="1" lang="en-US" sz="4000"/>
              <a:t>SQL Queries</a:t>
            </a:r>
            <a:endParaRPr/>
          </a:p>
        </p:txBody>
      </p:sp>
      <p:sp>
        <p:nvSpPr>
          <p:cNvPr id="711" name="Google Shape;711;p66"/>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There are various ways to specify the same query in SQL</a:t>
            </a:r>
            <a:endParaRPr/>
          </a:p>
          <a:p>
            <a:pPr indent="-274320" lvl="1" marL="640080" rtl="0" algn="l">
              <a:spcBef>
                <a:spcPts val="420"/>
              </a:spcBef>
              <a:spcAft>
                <a:spcPts val="0"/>
              </a:spcAft>
              <a:buSzPts val="1680"/>
              <a:buChar char="⚫"/>
            </a:pPr>
            <a:r>
              <a:rPr lang="en-US"/>
              <a:t>This is to give flexibility to user to specify queries</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For query  optimization, it is preferable to write a query with as little nesting and implied ordering as possible.</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Ideally,  DBMS should process the same query in the same way regardless of how the query is specified.</a:t>
            </a:r>
            <a:endParaRPr/>
          </a:p>
          <a:p>
            <a:pPr indent="-274320" lvl="1" marL="640080" rtl="0" algn="l">
              <a:spcBef>
                <a:spcPts val="420"/>
              </a:spcBef>
              <a:spcAft>
                <a:spcPts val="0"/>
              </a:spcAft>
              <a:buSzPts val="1680"/>
              <a:buChar char="⚫"/>
            </a:pPr>
            <a:r>
              <a:rPr lang="en-US"/>
              <a:t> But this is quite difficult in practice, (chapter 19,20)</a:t>
            </a:r>
            <a:endParaRPr/>
          </a:p>
        </p:txBody>
      </p:sp>
      <p:sp>
        <p:nvSpPr>
          <p:cNvPr id="712" name="Google Shape;712;p6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6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Specifying Updates in SQL</a:t>
            </a:r>
            <a:endParaRPr>
              <a:solidFill>
                <a:srgbClr val="000000"/>
              </a:solidFill>
            </a:endParaRPr>
          </a:p>
        </p:txBody>
      </p:sp>
      <p:sp>
        <p:nvSpPr>
          <p:cNvPr id="718" name="Google Shape;718;p67"/>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solidFill>
                  <a:srgbClr val="000000"/>
                </a:solidFill>
              </a:rPr>
              <a:t>There are three SQL commands to modify the database; </a:t>
            </a:r>
            <a:endParaRPr>
              <a:solidFill>
                <a:srgbClr val="000000"/>
              </a:solidFill>
            </a:endParaRPr>
          </a:p>
          <a:p>
            <a:pPr indent="-274320" lvl="1" marL="640080" rtl="0" algn="l">
              <a:spcBef>
                <a:spcPts val="420"/>
              </a:spcBef>
              <a:spcAft>
                <a:spcPts val="0"/>
              </a:spcAft>
              <a:buSzPts val="1680"/>
              <a:buChar char="⚫"/>
            </a:pPr>
            <a:r>
              <a:rPr lang="en-US">
                <a:solidFill>
                  <a:srgbClr val="000000"/>
                </a:solidFill>
              </a:rPr>
              <a:t>INSERT, </a:t>
            </a:r>
            <a:endParaRPr>
              <a:solidFill>
                <a:srgbClr val="000000"/>
              </a:solidFill>
            </a:endParaRPr>
          </a:p>
          <a:p>
            <a:pPr indent="-274320" lvl="1" marL="640080" rtl="0" algn="l">
              <a:spcBef>
                <a:spcPts val="420"/>
              </a:spcBef>
              <a:spcAft>
                <a:spcPts val="0"/>
              </a:spcAft>
              <a:buSzPts val="1680"/>
              <a:buChar char="⚫"/>
            </a:pPr>
            <a:r>
              <a:rPr lang="en-US">
                <a:solidFill>
                  <a:srgbClr val="000000"/>
                </a:solidFill>
              </a:rPr>
              <a:t>DELETE, and</a:t>
            </a:r>
            <a:endParaRPr/>
          </a:p>
          <a:p>
            <a:pPr indent="-274320" lvl="1" marL="640080" rtl="0" algn="l">
              <a:spcBef>
                <a:spcPts val="420"/>
              </a:spcBef>
              <a:spcAft>
                <a:spcPts val="0"/>
              </a:spcAft>
              <a:buSzPts val="1680"/>
              <a:buChar char="⚫"/>
            </a:pPr>
            <a:r>
              <a:rPr lang="en-US">
                <a:solidFill>
                  <a:srgbClr val="000000"/>
                </a:solidFill>
              </a:rPr>
              <a:t>UPDATE</a:t>
            </a:r>
            <a:endParaRPr>
              <a:solidFill>
                <a:srgbClr val="000000"/>
              </a:solidFill>
            </a:endParaRPr>
          </a:p>
        </p:txBody>
      </p:sp>
      <p:sp>
        <p:nvSpPr>
          <p:cNvPr id="719" name="Google Shape;719;p6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6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INSERT</a:t>
            </a:r>
            <a:endParaRPr b="1">
              <a:solidFill>
                <a:srgbClr val="000000"/>
              </a:solidFill>
            </a:endParaRPr>
          </a:p>
        </p:txBody>
      </p:sp>
      <p:sp>
        <p:nvSpPr>
          <p:cNvPr id="725" name="Google Shape;725;p68"/>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solidFill>
                  <a:srgbClr val="000000"/>
                </a:solidFill>
              </a:rPr>
              <a:t>It is used to add one or more tuples to a relation</a:t>
            </a:r>
            <a:endParaRPr/>
          </a:p>
          <a:p>
            <a:pPr indent="-167640" lvl="0" marL="274320" rtl="0" algn="l">
              <a:spcBef>
                <a:spcPts val="600"/>
              </a:spcBef>
              <a:spcAft>
                <a:spcPts val="0"/>
              </a:spcAft>
              <a:buSzPts val="1680"/>
              <a:buNone/>
            </a:pPr>
            <a:r>
              <a:t/>
            </a:r>
            <a:endParaRPr b="1">
              <a:solidFill>
                <a:srgbClr val="000000"/>
              </a:solidFill>
            </a:endParaRPr>
          </a:p>
          <a:p>
            <a:pPr indent="-274320" lvl="0" marL="274320" rtl="0" algn="l">
              <a:spcBef>
                <a:spcPts val="600"/>
              </a:spcBef>
              <a:spcAft>
                <a:spcPts val="0"/>
              </a:spcAft>
              <a:buSzPts val="1680"/>
              <a:buChar char="🞆"/>
            </a:pPr>
            <a:r>
              <a:rPr b="1" lang="en-US">
                <a:solidFill>
                  <a:srgbClr val="000000"/>
                </a:solidFill>
              </a:rPr>
              <a:t>Example:</a:t>
            </a:r>
            <a:br>
              <a:rPr lang="en-US" u="sng">
                <a:solidFill>
                  <a:srgbClr val="000000"/>
                </a:solidFill>
              </a:rPr>
            </a:br>
            <a:br>
              <a:rPr lang="en-US" u="sng">
                <a:solidFill>
                  <a:srgbClr val="000000"/>
                </a:solidFill>
              </a:rPr>
            </a:br>
            <a:r>
              <a:rPr b="1" lang="en-US">
                <a:solidFill>
                  <a:srgbClr val="000000"/>
                </a:solidFill>
              </a:rPr>
              <a:t>	</a:t>
            </a:r>
            <a:r>
              <a:rPr b="1" lang="en-US" sz="2000">
                <a:solidFill>
                  <a:srgbClr val="000000"/>
                </a:solidFill>
              </a:rPr>
              <a:t>INSERT INTO  EMPLOYEE</a:t>
            </a:r>
            <a:br>
              <a:rPr b="1" lang="en-US" sz="2000">
                <a:solidFill>
                  <a:srgbClr val="000000"/>
                </a:solidFill>
              </a:rPr>
            </a:br>
            <a:r>
              <a:rPr b="1" lang="en-US" sz="2000">
                <a:solidFill>
                  <a:srgbClr val="000000"/>
                </a:solidFill>
              </a:rPr>
              <a:t>	VALUES ('Richard','K','Marini', '653298653', '30-DEC-52',</a:t>
            </a:r>
            <a:br>
              <a:rPr b="1" lang="en-US" sz="2000">
                <a:solidFill>
                  <a:srgbClr val="000000"/>
                </a:solidFill>
              </a:rPr>
            </a:br>
            <a:r>
              <a:rPr b="1" lang="en-US" sz="2000">
                <a:solidFill>
                  <a:srgbClr val="000000"/>
                </a:solidFill>
              </a:rPr>
              <a:t>	'98 Oak Forest,Katy,TX', 'M', 37000,'987654321', 4 )</a:t>
            </a:r>
            <a:endParaRPr/>
          </a:p>
          <a:p>
            <a:pPr indent="-185420" lvl="0" marL="274320" rtl="0" algn="l">
              <a:spcBef>
                <a:spcPts val="600"/>
              </a:spcBef>
              <a:spcAft>
                <a:spcPts val="0"/>
              </a:spcAft>
              <a:buSzPts val="1400"/>
              <a:buNone/>
            </a:pPr>
            <a:r>
              <a:t/>
            </a:r>
            <a:endParaRPr b="1" sz="2000">
              <a:solidFill>
                <a:srgbClr val="000000"/>
              </a:solidFill>
            </a:endParaRPr>
          </a:p>
          <a:p>
            <a:pPr indent="-274320" lvl="0" marL="274320" rtl="0" algn="l">
              <a:spcBef>
                <a:spcPts val="600"/>
              </a:spcBef>
              <a:spcAft>
                <a:spcPts val="0"/>
              </a:spcAft>
              <a:buSzPts val="1680"/>
              <a:buChar char="🞆"/>
            </a:pPr>
            <a:r>
              <a:rPr lang="en-US">
                <a:solidFill>
                  <a:srgbClr val="000000"/>
                </a:solidFill>
              </a:rPr>
              <a:t>Attribute values should be listed in the same order as the attributes were specified in the CREATE TABLE command</a:t>
            </a:r>
            <a:br>
              <a:rPr b="1" lang="en-US">
                <a:solidFill>
                  <a:srgbClr val="000000"/>
                </a:solidFill>
              </a:rPr>
            </a:br>
            <a:endParaRPr>
              <a:solidFill>
                <a:srgbClr val="000000"/>
              </a:solidFill>
            </a:endParaRPr>
          </a:p>
          <a:p>
            <a:pPr indent="-167640" lvl="0" marL="274320" rtl="0" algn="l">
              <a:spcBef>
                <a:spcPts val="600"/>
              </a:spcBef>
              <a:spcAft>
                <a:spcPts val="0"/>
              </a:spcAft>
              <a:buSzPts val="1680"/>
              <a:buNone/>
            </a:pPr>
            <a:r>
              <a:t/>
            </a:r>
            <a:endParaRPr>
              <a:solidFill>
                <a:srgbClr val="000000"/>
              </a:solidFill>
            </a:endParaRPr>
          </a:p>
        </p:txBody>
      </p:sp>
      <p:sp>
        <p:nvSpPr>
          <p:cNvPr id="726" name="Google Shape;726;p6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6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INSERT (cont.)</a:t>
            </a:r>
            <a:endParaRPr b="1">
              <a:solidFill>
                <a:srgbClr val="000000"/>
              </a:solidFill>
            </a:endParaRPr>
          </a:p>
        </p:txBody>
      </p:sp>
      <p:sp>
        <p:nvSpPr>
          <p:cNvPr id="734" name="Google Shape;734;p69"/>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167640" lvl="0" marL="274320" rtl="0" algn="l">
              <a:lnSpc>
                <a:spcPct val="90000"/>
              </a:lnSpc>
              <a:spcBef>
                <a:spcPts val="0"/>
              </a:spcBef>
              <a:spcAft>
                <a:spcPts val="0"/>
              </a:spcAft>
              <a:buSzPts val="1680"/>
              <a:buNone/>
            </a:pPr>
            <a:r>
              <a:t/>
            </a:r>
            <a:endParaRPr b="1">
              <a:solidFill>
                <a:srgbClr val="000000"/>
              </a:solidFill>
            </a:endParaRPr>
          </a:p>
          <a:p>
            <a:pPr indent="-274320" lvl="0" marL="274320" rtl="0" algn="l">
              <a:lnSpc>
                <a:spcPct val="90000"/>
              </a:lnSpc>
              <a:spcBef>
                <a:spcPts val="600"/>
              </a:spcBef>
              <a:spcAft>
                <a:spcPts val="0"/>
              </a:spcAft>
              <a:buSzPts val="1680"/>
              <a:buChar char="🞆"/>
            </a:pPr>
            <a:r>
              <a:rPr b="1" lang="en-US">
                <a:solidFill>
                  <a:srgbClr val="000000"/>
                </a:solidFill>
              </a:rPr>
              <a:t>Example: </a:t>
            </a:r>
            <a:r>
              <a:rPr lang="en-US">
                <a:solidFill>
                  <a:srgbClr val="000000"/>
                </a:solidFill>
              </a:rPr>
              <a:t>Insert a tuple for a new EMPLOYEE for whom we only know the FNAME, LNAME, and SSN attributes.</a:t>
            </a:r>
            <a:br>
              <a:rPr lang="en-US" sz="2000">
                <a:solidFill>
                  <a:srgbClr val="000000"/>
                </a:solidFill>
              </a:rPr>
            </a:br>
            <a:br>
              <a:rPr lang="en-US" sz="2000">
                <a:solidFill>
                  <a:srgbClr val="000000"/>
                </a:solidFill>
              </a:rPr>
            </a:br>
            <a:r>
              <a:rPr b="1" lang="en-US" sz="2000">
                <a:solidFill>
                  <a:srgbClr val="000000"/>
                </a:solidFill>
              </a:rPr>
              <a:t>   INSERT INTO EMPLOYEE (FNAME, LNAME, SSN)</a:t>
            </a:r>
            <a:br>
              <a:rPr b="1" lang="en-US" sz="2000">
                <a:solidFill>
                  <a:srgbClr val="000000"/>
                </a:solidFill>
              </a:rPr>
            </a:br>
            <a:r>
              <a:rPr b="1" lang="en-US" sz="2000">
                <a:solidFill>
                  <a:srgbClr val="000000"/>
                </a:solidFill>
              </a:rPr>
              <a:t>	   VALUES ('Richard', 'Marini', '653298653')</a:t>
            </a:r>
            <a:endParaRPr/>
          </a:p>
          <a:p>
            <a:pPr indent="-185420" lvl="0" marL="274320" rtl="0" algn="l">
              <a:lnSpc>
                <a:spcPct val="90000"/>
              </a:lnSpc>
              <a:spcBef>
                <a:spcPts val="600"/>
              </a:spcBef>
              <a:spcAft>
                <a:spcPts val="0"/>
              </a:spcAft>
              <a:buSzPts val="1400"/>
              <a:buNone/>
            </a:pPr>
            <a:r>
              <a:t/>
            </a:r>
            <a:endParaRPr b="1" sz="2000">
              <a:solidFill>
                <a:srgbClr val="000000"/>
              </a:solidFill>
            </a:endParaRPr>
          </a:p>
          <a:p>
            <a:pPr indent="-274320" lvl="0" marL="274320" rtl="0" algn="l">
              <a:lnSpc>
                <a:spcPct val="90000"/>
              </a:lnSpc>
              <a:spcBef>
                <a:spcPts val="600"/>
              </a:spcBef>
              <a:spcAft>
                <a:spcPts val="0"/>
              </a:spcAft>
              <a:buSzPts val="1680"/>
              <a:buChar char="🞆"/>
            </a:pPr>
            <a:r>
              <a:rPr lang="en-US">
                <a:solidFill>
                  <a:srgbClr val="000000"/>
                </a:solidFill>
              </a:rPr>
              <a:t>Attributes with NULL values can be left out</a:t>
            </a:r>
            <a:endParaRPr/>
          </a:p>
          <a:p>
            <a:pPr indent="-167640" lvl="0" marL="274320" rtl="0" algn="l">
              <a:lnSpc>
                <a:spcPct val="90000"/>
              </a:lnSpc>
              <a:spcBef>
                <a:spcPts val="600"/>
              </a:spcBef>
              <a:spcAft>
                <a:spcPts val="0"/>
              </a:spcAft>
              <a:buSzPts val="1680"/>
              <a:buNone/>
            </a:pPr>
            <a:r>
              <a:t/>
            </a:r>
            <a:endParaRPr sz="2400">
              <a:solidFill>
                <a:srgbClr val="000000"/>
              </a:solidFill>
            </a:endParaRPr>
          </a:p>
        </p:txBody>
      </p:sp>
      <p:sp>
        <p:nvSpPr>
          <p:cNvPr id="735" name="Google Shape;735;p6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70"/>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INSERT (cont.)</a:t>
            </a:r>
            <a:endParaRPr b="1">
              <a:solidFill>
                <a:srgbClr val="000000"/>
              </a:solidFill>
            </a:endParaRPr>
          </a:p>
        </p:txBody>
      </p:sp>
      <p:sp>
        <p:nvSpPr>
          <p:cNvPr id="743" name="Google Shape;743;p70"/>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1" marL="640080" rtl="0" algn="l">
              <a:lnSpc>
                <a:spcPct val="90000"/>
              </a:lnSpc>
              <a:spcBef>
                <a:spcPts val="0"/>
              </a:spcBef>
              <a:spcAft>
                <a:spcPts val="0"/>
              </a:spcAft>
              <a:buSzPts val="1600"/>
              <a:buChar char="⚫"/>
            </a:pPr>
            <a:r>
              <a:rPr lang="en-US" sz="2000">
                <a:solidFill>
                  <a:srgbClr val="000000"/>
                </a:solidFill>
              </a:rPr>
              <a:t>Suppose we want to create a temporary table that has the name, number of employees, and total salaries for each department. </a:t>
            </a:r>
            <a:endParaRPr sz="2000">
              <a:solidFill>
                <a:srgbClr val="000000"/>
              </a:solidFill>
            </a:endParaRPr>
          </a:p>
          <a:p>
            <a:pPr indent="-274320" lvl="1" marL="640080" rtl="0" algn="l">
              <a:lnSpc>
                <a:spcPct val="90000"/>
              </a:lnSpc>
              <a:spcBef>
                <a:spcPts val="400"/>
              </a:spcBef>
              <a:spcAft>
                <a:spcPts val="0"/>
              </a:spcAft>
              <a:buSzPts val="1600"/>
              <a:buChar char="⚫"/>
            </a:pPr>
            <a:r>
              <a:rPr lang="en-US" sz="2000">
                <a:solidFill>
                  <a:srgbClr val="000000"/>
                </a:solidFill>
              </a:rPr>
              <a:t>A table DEPTS_INFO is created by Q1, and is loaded with the information retrieved from the database by the query Q2.</a:t>
            </a:r>
            <a:br>
              <a:rPr lang="en-US" sz="1800">
                <a:solidFill>
                  <a:srgbClr val="000000"/>
                </a:solidFill>
              </a:rPr>
            </a:br>
            <a:br>
              <a:rPr lang="en-US" sz="1800">
                <a:solidFill>
                  <a:srgbClr val="000000"/>
                </a:solidFill>
              </a:rPr>
            </a:br>
            <a:r>
              <a:rPr b="1" lang="en-US" sz="1800">
                <a:solidFill>
                  <a:srgbClr val="000000"/>
                </a:solidFill>
              </a:rPr>
              <a:t>Q1:	CREATE TABLE  DEPTS_INFO</a:t>
            </a:r>
            <a:br>
              <a:rPr b="1" lang="en-US" sz="1800">
                <a:solidFill>
                  <a:srgbClr val="000000"/>
                </a:solidFill>
              </a:rPr>
            </a:br>
            <a:r>
              <a:rPr b="1" lang="en-US" sz="1800">
                <a:solidFill>
                  <a:srgbClr val="000000"/>
                </a:solidFill>
              </a:rPr>
              <a:t>			(DEPT_NAME	VARCHAR(10),</a:t>
            </a:r>
            <a:br>
              <a:rPr b="1" lang="en-US" sz="1800">
                <a:solidFill>
                  <a:srgbClr val="000000"/>
                </a:solidFill>
              </a:rPr>
            </a:br>
            <a:r>
              <a:rPr b="1" lang="en-US" sz="1800">
                <a:solidFill>
                  <a:srgbClr val="000000"/>
                </a:solidFill>
              </a:rPr>
              <a:t>			 NO_OF_EMPS	INTEGER,</a:t>
            </a:r>
            <a:br>
              <a:rPr b="1" lang="en-US" sz="1800">
                <a:solidFill>
                  <a:srgbClr val="000000"/>
                </a:solidFill>
              </a:rPr>
            </a:br>
            <a:r>
              <a:rPr b="1" lang="en-US" sz="1800">
                <a:solidFill>
                  <a:srgbClr val="000000"/>
                </a:solidFill>
              </a:rPr>
              <a:t>			 TOTAL_SAL	INTEGER);</a:t>
            </a:r>
            <a:br>
              <a:rPr b="1" lang="en-US" sz="1800">
                <a:solidFill>
                  <a:srgbClr val="000000"/>
                </a:solidFill>
              </a:rPr>
            </a:br>
            <a:br>
              <a:rPr b="1" lang="en-US" sz="1800">
                <a:solidFill>
                  <a:srgbClr val="000000"/>
                </a:solidFill>
              </a:rPr>
            </a:br>
            <a:r>
              <a:rPr b="1" lang="en-US" sz="1800">
                <a:solidFill>
                  <a:srgbClr val="000000"/>
                </a:solidFill>
              </a:rPr>
              <a:t>Q2:	INSERT INTO	DEPTS_INFO (DEPT_NAME, 					NO_OF_EMPS, TOTAL_SAL)</a:t>
            </a:r>
            <a:br>
              <a:rPr b="1" lang="en-US" sz="1800">
                <a:solidFill>
                  <a:srgbClr val="000000"/>
                </a:solidFill>
              </a:rPr>
            </a:br>
            <a:r>
              <a:rPr b="1" lang="en-US" sz="1800">
                <a:solidFill>
                  <a:srgbClr val="000000"/>
                </a:solidFill>
              </a:rPr>
              <a:t>		SELECT		DNAME, COUNT (*), SUM (SALARY)</a:t>
            </a:r>
            <a:br>
              <a:rPr b="1" lang="en-US" sz="1800">
                <a:solidFill>
                  <a:srgbClr val="000000"/>
                </a:solidFill>
              </a:rPr>
            </a:br>
            <a:r>
              <a:rPr b="1" lang="en-US" sz="1800">
                <a:solidFill>
                  <a:srgbClr val="000000"/>
                </a:solidFill>
              </a:rPr>
              <a:t>		FROM		DEPARTMENT, EMPLOYEE</a:t>
            </a:r>
            <a:br>
              <a:rPr b="1" lang="en-US" sz="1800">
                <a:solidFill>
                  <a:srgbClr val="000000"/>
                </a:solidFill>
              </a:rPr>
            </a:br>
            <a:r>
              <a:rPr b="1" lang="en-US" sz="1800">
                <a:solidFill>
                  <a:srgbClr val="000000"/>
                </a:solidFill>
              </a:rPr>
              <a:t>		WHERE		DNUMBER=DNO</a:t>
            </a:r>
            <a:br>
              <a:rPr b="1" lang="en-US" sz="1800">
                <a:solidFill>
                  <a:srgbClr val="000000"/>
                </a:solidFill>
              </a:rPr>
            </a:br>
            <a:r>
              <a:rPr b="1" lang="en-US" sz="1800">
                <a:solidFill>
                  <a:srgbClr val="000000"/>
                </a:solidFill>
              </a:rPr>
              <a:t>		GROUP BY	DNAME ;</a:t>
            </a:r>
            <a:endParaRPr sz="1800">
              <a:solidFill>
                <a:srgbClr val="000000"/>
              </a:solidFill>
            </a:endParaRPr>
          </a:p>
        </p:txBody>
      </p:sp>
      <p:sp>
        <p:nvSpPr>
          <p:cNvPr id="744" name="Google Shape;744;p7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7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DELETE</a:t>
            </a:r>
            <a:endParaRPr b="1">
              <a:solidFill>
                <a:srgbClr val="000000"/>
              </a:solidFill>
            </a:endParaRPr>
          </a:p>
        </p:txBody>
      </p:sp>
      <p:sp>
        <p:nvSpPr>
          <p:cNvPr id="752" name="Google Shape;752;p71"/>
          <p:cNvSpPr txBox="1"/>
          <p:nvPr>
            <p:ph idx="1" type="body"/>
          </p:nvPr>
        </p:nvSpPr>
        <p:spPr>
          <a:xfrm>
            <a:off x="457200" y="1600200"/>
            <a:ext cx="8281416" cy="4873752"/>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680"/>
              <a:buChar char="🞆"/>
            </a:pPr>
            <a:r>
              <a:rPr lang="en-US" sz="2400">
                <a:solidFill>
                  <a:srgbClr val="000000"/>
                </a:solidFill>
              </a:rPr>
              <a:t>Removes tuples from a relation</a:t>
            </a:r>
            <a:endParaRPr/>
          </a:p>
          <a:p>
            <a:pPr indent="-274320" lvl="0" marL="274320" rtl="0" algn="l">
              <a:lnSpc>
                <a:spcPct val="90000"/>
              </a:lnSpc>
              <a:spcBef>
                <a:spcPts val="600"/>
              </a:spcBef>
              <a:spcAft>
                <a:spcPts val="0"/>
              </a:spcAft>
              <a:buSzPts val="1680"/>
              <a:buChar char="🞆"/>
            </a:pPr>
            <a:r>
              <a:rPr lang="en-US" sz="2400">
                <a:solidFill>
                  <a:srgbClr val="000000"/>
                </a:solidFill>
              </a:rPr>
              <a:t>Tuples are deleted from only </a:t>
            </a:r>
            <a:r>
              <a:rPr i="1" lang="en-US" sz="2400">
                <a:solidFill>
                  <a:srgbClr val="000000"/>
                </a:solidFill>
              </a:rPr>
              <a:t>one table</a:t>
            </a:r>
            <a:r>
              <a:rPr lang="en-US" sz="2400">
                <a:solidFill>
                  <a:srgbClr val="000000"/>
                </a:solidFill>
              </a:rPr>
              <a:t>  at a time (unless CASCADE is specified on a referential integrity constraint)</a:t>
            </a:r>
            <a:endParaRPr/>
          </a:p>
          <a:p>
            <a:pPr indent="-274320" lvl="0" marL="274320" rtl="0" algn="l">
              <a:lnSpc>
                <a:spcPct val="90000"/>
              </a:lnSpc>
              <a:spcBef>
                <a:spcPts val="600"/>
              </a:spcBef>
              <a:spcAft>
                <a:spcPts val="0"/>
              </a:spcAft>
              <a:buSzPts val="1680"/>
              <a:buChar char="🞆"/>
            </a:pPr>
            <a:r>
              <a:rPr lang="en-US" u="sng">
                <a:solidFill>
                  <a:srgbClr val="000000"/>
                </a:solidFill>
              </a:rPr>
              <a:t>Examples:</a:t>
            </a:r>
            <a:br>
              <a:rPr lang="en-US" u="sng">
                <a:solidFill>
                  <a:srgbClr val="000000"/>
                </a:solidFill>
              </a:rPr>
            </a:br>
            <a:r>
              <a:rPr lang="en-US">
                <a:solidFill>
                  <a:srgbClr val="000000"/>
                </a:solidFill>
              </a:rPr>
              <a:t>	</a:t>
            </a:r>
            <a:r>
              <a:rPr b="1" lang="en-US" sz="2000">
                <a:solidFill>
                  <a:srgbClr val="000000"/>
                </a:solidFill>
              </a:rPr>
              <a:t>DELETE FROM 	EMPLOYEE</a:t>
            </a:r>
            <a:br>
              <a:rPr b="1" lang="en-US" sz="2000">
                <a:solidFill>
                  <a:srgbClr val="000000"/>
                </a:solidFill>
              </a:rPr>
            </a:br>
            <a:r>
              <a:rPr b="1" lang="en-US" sz="2000">
                <a:solidFill>
                  <a:srgbClr val="000000"/>
                </a:solidFill>
              </a:rPr>
              <a:t>	WHERE		LNAME='Brown’</a:t>
            </a:r>
            <a:br>
              <a:rPr b="1" lang="en-US" sz="2000">
                <a:solidFill>
                  <a:srgbClr val="000000"/>
                </a:solidFill>
              </a:rPr>
            </a:br>
            <a:br>
              <a:rPr b="1" lang="en-US" sz="2000">
                <a:solidFill>
                  <a:srgbClr val="000000"/>
                </a:solidFill>
              </a:rPr>
            </a:br>
            <a:br>
              <a:rPr b="1" lang="en-US" sz="2000">
                <a:solidFill>
                  <a:srgbClr val="000000"/>
                </a:solidFill>
              </a:rPr>
            </a:br>
            <a:r>
              <a:rPr b="1" lang="en-US" sz="2000">
                <a:solidFill>
                  <a:srgbClr val="000000"/>
                </a:solidFill>
              </a:rPr>
              <a:t>	DELETE FROM 	EMPLOYEE</a:t>
            </a:r>
            <a:br>
              <a:rPr b="1" lang="en-US" sz="2000">
                <a:solidFill>
                  <a:srgbClr val="000000"/>
                </a:solidFill>
              </a:rPr>
            </a:br>
            <a:r>
              <a:rPr b="1" lang="en-US" sz="2000">
                <a:solidFill>
                  <a:srgbClr val="000000"/>
                </a:solidFill>
              </a:rPr>
              <a:t>	WHERE		DNO        IN (SELECT  DNUMBER</a:t>
            </a:r>
            <a:br>
              <a:rPr b="1" lang="en-US" sz="2000">
                <a:solidFill>
                  <a:srgbClr val="000000"/>
                </a:solidFill>
              </a:rPr>
            </a:br>
            <a:r>
              <a:rPr b="1" lang="en-US" sz="2000">
                <a:solidFill>
                  <a:srgbClr val="000000"/>
                </a:solidFill>
              </a:rPr>
              <a:t>			FROM	DEPARTMENT</a:t>
            </a:r>
            <a:br>
              <a:rPr b="1" lang="en-US" sz="2000">
                <a:solidFill>
                  <a:srgbClr val="000000"/>
                </a:solidFill>
              </a:rPr>
            </a:br>
            <a:r>
              <a:rPr b="1" lang="en-US" sz="2000">
                <a:solidFill>
                  <a:srgbClr val="000000"/>
                </a:solidFill>
              </a:rPr>
              <a:t>			WHERE DNAME='Research')</a:t>
            </a:r>
            <a:br>
              <a:rPr b="1" lang="en-US" sz="2000">
                <a:solidFill>
                  <a:srgbClr val="000000"/>
                </a:solidFill>
              </a:rPr>
            </a:br>
            <a:endParaRPr b="1" sz="2000">
              <a:solidFill>
                <a:srgbClr val="000000"/>
              </a:solidFill>
            </a:endParaRPr>
          </a:p>
          <a:p>
            <a:pPr indent="-274320" lvl="0" marL="274320" rtl="0" algn="l">
              <a:lnSpc>
                <a:spcPct val="90000"/>
              </a:lnSpc>
              <a:spcBef>
                <a:spcPts val="600"/>
              </a:spcBef>
              <a:spcAft>
                <a:spcPts val="0"/>
              </a:spcAft>
              <a:buSzPts val="1400"/>
              <a:buNone/>
            </a:pPr>
            <a:r>
              <a:rPr b="1" lang="en-US" sz="2000">
                <a:solidFill>
                  <a:srgbClr val="000000"/>
                </a:solidFill>
              </a:rPr>
              <a:t>		DELETE FROM 	EMPLOYEE</a:t>
            </a:r>
            <a:endParaRPr b="1">
              <a:solidFill>
                <a:srgbClr val="000000"/>
              </a:solidFill>
            </a:endParaRPr>
          </a:p>
          <a:p>
            <a:pPr indent="-185420" lvl="0" marL="274320" rtl="0" algn="l">
              <a:lnSpc>
                <a:spcPct val="90000"/>
              </a:lnSpc>
              <a:spcBef>
                <a:spcPts val="600"/>
              </a:spcBef>
              <a:spcAft>
                <a:spcPts val="0"/>
              </a:spcAft>
              <a:buSzPts val="1400"/>
              <a:buNone/>
            </a:pPr>
            <a:r>
              <a:t/>
            </a:r>
            <a:endParaRPr sz="2000">
              <a:solidFill>
                <a:srgbClr val="000000"/>
              </a:solidFill>
            </a:endParaRPr>
          </a:p>
          <a:p>
            <a:pPr indent="-274320" lvl="0" marL="274320" rtl="0" algn="l">
              <a:lnSpc>
                <a:spcPct val="90000"/>
              </a:lnSpc>
              <a:spcBef>
                <a:spcPts val="600"/>
              </a:spcBef>
              <a:spcAft>
                <a:spcPts val="0"/>
              </a:spcAft>
              <a:buSzPts val="1960"/>
              <a:buFont typeface="Noto Sans Symbols"/>
              <a:buNone/>
            </a:pPr>
            <a:r>
              <a:t/>
            </a:r>
            <a:endParaRPr b="1" sz="2800">
              <a:solidFill>
                <a:srgbClr val="000000"/>
              </a:solidFill>
            </a:endParaRPr>
          </a:p>
        </p:txBody>
      </p:sp>
      <p:sp>
        <p:nvSpPr>
          <p:cNvPr id="753" name="Google Shape;753;p7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7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UPDATE</a:t>
            </a:r>
            <a:endParaRPr b="1">
              <a:solidFill>
                <a:srgbClr val="000000"/>
              </a:solidFill>
            </a:endParaRPr>
          </a:p>
        </p:txBody>
      </p:sp>
      <p:sp>
        <p:nvSpPr>
          <p:cNvPr id="761" name="Google Shape;761;p72"/>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solidFill>
                  <a:srgbClr val="000000"/>
                </a:solidFill>
              </a:rPr>
              <a:t>Used to modify attribute values of selected tuples</a:t>
            </a:r>
            <a:endParaRPr>
              <a:solidFill>
                <a:srgbClr val="000000"/>
              </a:solidFill>
            </a:endParaRPr>
          </a:p>
          <a:p>
            <a:pPr indent="-274320" lvl="0" marL="274320" rtl="0" algn="l">
              <a:spcBef>
                <a:spcPts val="600"/>
              </a:spcBef>
              <a:spcAft>
                <a:spcPts val="0"/>
              </a:spcAft>
              <a:buSzPts val="1680"/>
              <a:buChar char="🞆"/>
            </a:pPr>
            <a:r>
              <a:rPr b="1" lang="en-US">
                <a:solidFill>
                  <a:srgbClr val="000000"/>
                </a:solidFill>
              </a:rPr>
              <a:t>Example: </a:t>
            </a:r>
            <a:r>
              <a:rPr lang="en-US">
                <a:solidFill>
                  <a:srgbClr val="000000"/>
                </a:solidFill>
              </a:rPr>
              <a:t>Change the location and controlling department number of project number 10 to 'Bellaire' and 5, respectively.</a:t>
            </a:r>
            <a:br>
              <a:rPr lang="en-US" sz="2000">
                <a:solidFill>
                  <a:srgbClr val="000000"/>
                </a:solidFill>
              </a:rPr>
            </a:br>
            <a:br>
              <a:rPr lang="en-US" sz="2000">
                <a:solidFill>
                  <a:srgbClr val="000000"/>
                </a:solidFill>
              </a:rPr>
            </a:br>
            <a:r>
              <a:rPr b="1" lang="en-US" sz="2000">
                <a:solidFill>
                  <a:srgbClr val="000000"/>
                </a:solidFill>
              </a:rPr>
              <a:t>	UPDATE 	PROJECT</a:t>
            </a:r>
            <a:br>
              <a:rPr b="1" lang="en-US" sz="2000">
                <a:solidFill>
                  <a:srgbClr val="000000"/>
                </a:solidFill>
              </a:rPr>
            </a:br>
            <a:r>
              <a:rPr b="1" lang="en-US" sz="2000">
                <a:solidFill>
                  <a:srgbClr val="000000"/>
                </a:solidFill>
              </a:rPr>
              <a:t>	SET	PLOCATION = 'Bellaire', DNUM = 5</a:t>
            </a:r>
            <a:br>
              <a:rPr b="1" lang="en-US" sz="2000">
                <a:solidFill>
                  <a:srgbClr val="000000"/>
                </a:solidFill>
              </a:rPr>
            </a:br>
            <a:r>
              <a:rPr b="1" lang="en-US" sz="2000">
                <a:solidFill>
                  <a:srgbClr val="000000"/>
                </a:solidFill>
              </a:rPr>
              <a:t>	WHERE	PNUMBER=10</a:t>
            </a:r>
            <a:br>
              <a:rPr b="1" lang="en-US">
                <a:solidFill>
                  <a:srgbClr val="000000"/>
                </a:solidFill>
              </a:rPr>
            </a:br>
            <a:endParaRPr b="1">
              <a:solidFill>
                <a:srgbClr val="000000"/>
              </a:solidFill>
            </a:endParaRPr>
          </a:p>
          <a:p>
            <a:pPr indent="-149860" lvl="0" marL="274320" rtl="0" algn="l">
              <a:spcBef>
                <a:spcPts val="600"/>
              </a:spcBef>
              <a:spcAft>
                <a:spcPts val="0"/>
              </a:spcAft>
              <a:buSzPts val="1960"/>
              <a:buNone/>
            </a:pPr>
            <a:r>
              <a:t/>
            </a:r>
            <a:endParaRPr sz="2800">
              <a:solidFill>
                <a:srgbClr val="000000"/>
              </a:solidFill>
            </a:endParaRPr>
          </a:p>
        </p:txBody>
      </p:sp>
      <p:sp>
        <p:nvSpPr>
          <p:cNvPr id="762" name="Google Shape;762;p7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7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UPDATE (cont.)</a:t>
            </a:r>
            <a:endParaRPr b="1">
              <a:solidFill>
                <a:srgbClr val="000000"/>
              </a:solidFill>
            </a:endParaRPr>
          </a:p>
        </p:txBody>
      </p:sp>
      <p:sp>
        <p:nvSpPr>
          <p:cNvPr id="770" name="Google Shape;770;p73"/>
          <p:cNvSpPr txBox="1"/>
          <p:nvPr>
            <p:ph idx="1" type="body"/>
          </p:nvPr>
        </p:nvSpPr>
        <p:spPr>
          <a:xfrm>
            <a:off x="512763" y="1641475"/>
            <a:ext cx="7945437" cy="4802188"/>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680"/>
              <a:buChar char="🞆"/>
            </a:pPr>
            <a:r>
              <a:rPr b="1" lang="en-US">
                <a:solidFill>
                  <a:srgbClr val="000000"/>
                </a:solidFill>
              </a:rPr>
              <a:t>Example:</a:t>
            </a:r>
            <a:r>
              <a:rPr lang="en-US">
                <a:solidFill>
                  <a:srgbClr val="000000"/>
                </a:solidFill>
              </a:rPr>
              <a:t> Give all employees in the 'Research' department a 10% raise in salary.</a:t>
            </a:r>
            <a:br>
              <a:rPr lang="en-US">
                <a:solidFill>
                  <a:srgbClr val="000000"/>
                </a:solidFill>
              </a:rPr>
            </a:br>
            <a:br>
              <a:rPr lang="en-US" sz="2000">
                <a:solidFill>
                  <a:srgbClr val="000000"/>
                </a:solidFill>
              </a:rPr>
            </a:br>
            <a:r>
              <a:rPr b="1" lang="en-US" sz="2000">
                <a:solidFill>
                  <a:srgbClr val="000000"/>
                </a:solidFill>
              </a:rPr>
              <a:t>	UPDATE 	EMPLOYEE</a:t>
            </a:r>
            <a:br>
              <a:rPr b="1" lang="en-US" sz="2000">
                <a:solidFill>
                  <a:srgbClr val="000000"/>
                </a:solidFill>
              </a:rPr>
            </a:br>
            <a:r>
              <a:rPr b="1" lang="en-US" sz="2000">
                <a:solidFill>
                  <a:srgbClr val="000000"/>
                </a:solidFill>
              </a:rPr>
              <a:t>	SET	SALARY = SALARY *1.1</a:t>
            </a:r>
            <a:br>
              <a:rPr b="1" lang="en-US" sz="2000">
                <a:solidFill>
                  <a:srgbClr val="000000"/>
                </a:solidFill>
              </a:rPr>
            </a:br>
            <a:r>
              <a:rPr b="1" lang="en-US" sz="2000">
                <a:solidFill>
                  <a:srgbClr val="000000"/>
                </a:solidFill>
              </a:rPr>
              <a:t>	WHERE	DNO  IN (SELECT	DNUMBER</a:t>
            </a:r>
            <a:br>
              <a:rPr b="1" lang="en-US" sz="2000">
                <a:solidFill>
                  <a:srgbClr val="000000"/>
                </a:solidFill>
              </a:rPr>
            </a:br>
            <a:r>
              <a:rPr b="1" lang="en-US" sz="2000">
                <a:solidFill>
                  <a:srgbClr val="000000"/>
                </a:solidFill>
              </a:rPr>
              <a:t>			    FROM	DEPARTMENT</a:t>
            </a:r>
            <a:br>
              <a:rPr b="1" lang="en-US" sz="2000">
                <a:solidFill>
                  <a:srgbClr val="000000"/>
                </a:solidFill>
              </a:rPr>
            </a:br>
            <a:r>
              <a:rPr b="1" lang="en-US" sz="2000">
                <a:solidFill>
                  <a:srgbClr val="000000"/>
                </a:solidFill>
              </a:rPr>
              <a:t>			    WHERE DNAME='Research')</a:t>
            </a:r>
            <a:br>
              <a:rPr b="1" lang="en-US" sz="2000">
                <a:solidFill>
                  <a:srgbClr val="000000"/>
                </a:solidFill>
              </a:rPr>
            </a:br>
            <a:endParaRPr b="1" sz="2000">
              <a:solidFill>
                <a:srgbClr val="000000"/>
              </a:solidFill>
            </a:endParaRPr>
          </a:p>
          <a:p>
            <a:pPr indent="-274320" lvl="0" marL="274320" rtl="0" algn="l">
              <a:lnSpc>
                <a:spcPct val="90000"/>
              </a:lnSpc>
              <a:spcBef>
                <a:spcPts val="600"/>
              </a:spcBef>
              <a:spcAft>
                <a:spcPts val="0"/>
              </a:spcAft>
              <a:buSzPts val="1400"/>
              <a:buNone/>
            </a:pPr>
            <a:br>
              <a:rPr b="1" lang="en-US" sz="2000">
                <a:solidFill>
                  <a:srgbClr val="000000"/>
                </a:solidFill>
              </a:rPr>
            </a:br>
            <a:endParaRPr b="1" sz="2400">
              <a:solidFill>
                <a:srgbClr val="000000"/>
              </a:solidFill>
            </a:endParaRPr>
          </a:p>
        </p:txBody>
      </p:sp>
      <p:sp>
        <p:nvSpPr>
          <p:cNvPr id="771" name="Google Shape;771;p7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74"/>
          <p:cNvSpPr txBox="1"/>
          <p:nvPr>
            <p:ph idx="4294967295" type="sldNum"/>
          </p:nvPr>
        </p:nvSpPr>
        <p:spPr>
          <a:xfrm>
            <a:off x="7153275" y="6386513"/>
            <a:ext cx="1905000" cy="3873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9-</a:t>
            </a:r>
            <a:fld id="{00000000-1234-1234-1234-123412341234}" type="slidenum">
              <a:rPr lang="en-US"/>
              <a:t>‹#›</a:t>
            </a:fld>
            <a:endParaRPr/>
          </a:p>
        </p:txBody>
      </p:sp>
      <p:sp>
        <p:nvSpPr>
          <p:cNvPr id="777" name="Google Shape;777;p7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Views in SQL</a:t>
            </a:r>
            <a:endParaRPr/>
          </a:p>
        </p:txBody>
      </p:sp>
      <p:sp>
        <p:nvSpPr>
          <p:cNvPr id="778" name="Google Shape;778;p74"/>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A view is a “virtual” table that is derived from other tables</a:t>
            </a:r>
            <a:endParaRPr/>
          </a:p>
          <a:p>
            <a:pPr indent="-274320" lvl="0" marL="274320" rtl="0" algn="l">
              <a:spcBef>
                <a:spcPts val="600"/>
              </a:spcBef>
              <a:spcAft>
                <a:spcPts val="0"/>
              </a:spcAft>
              <a:buSzPts val="1680"/>
              <a:buChar char="🞆"/>
            </a:pPr>
            <a:r>
              <a:rPr lang="en-US"/>
              <a:t>Allows for limited update operations (since the table may not physically be stored)</a:t>
            </a:r>
            <a:endParaRPr/>
          </a:p>
          <a:p>
            <a:pPr indent="-274320" lvl="0" marL="274320" rtl="0" algn="l">
              <a:spcBef>
                <a:spcPts val="600"/>
              </a:spcBef>
              <a:spcAft>
                <a:spcPts val="0"/>
              </a:spcAft>
              <a:buSzPts val="1680"/>
              <a:buChar char="🞆"/>
            </a:pPr>
            <a:r>
              <a:rPr lang="en-US"/>
              <a:t>Allows full query operations</a:t>
            </a:r>
            <a:endParaRPr/>
          </a:p>
          <a:p>
            <a:pPr indent="-274320" lvl="0" marL="274320" rtl="0" algn="l">
              <a:spcBef>
                <a:spcPts val="600"/>
              </a:spcBef>
              <a:spcAft>
                <a:spcPts val="0"/>
              </a:spcAft>
              <a:buSzPts val="1680"/>
              <a:buChar char="🞆"/>
            </a:pPr>
            <a:r>
              <a:rPr lang="en-US"/>
              <a:t>A convenience for expressing certain operations</a:t>
            </a:r>
            <a:endParaRPr/>
          </a:p>
          <a:p>
            <a:pPr indent="-274320" lvl="0" marL="274320" rtl="0" algn="l">
              <a:spcBef>
                <a:spcPts val="600"/>
              </a:spcBef>
              <a:spcAft>
                <a:spcPts val="0"/>
              </a:spcAft>
              <a:buSzPts val="1680"/>
              <a:buChar char="🞆"/>
            </a:pPr>
            <a:r>
              <a:rPr lang="en-US"/>
              <a:t>They are used to:</a:t>
            </a:r>
            <a:endParaRPr/>
          </a:p>
          <a:p>
            <a:pPr indent="-274320" lvl="1" marL="640080" rtl="0" algn="l">
              <a:spcBef>
                <a:spcPts val="420"/>
              </a:spcBef>
              <a:spcAft>
                <a:spcPts val="0"/>
              </a:spcAft>
              <a:buSzPts val="1680"/>
              <a:buFont typeface="Calibri"/>
              <a:buChar char="•"/>
            </a:pPr>
            <a:r>
              <a:rPr lang="en-US"/>
              <a:t> simplify complex queries, and</a:t>
            </a:r>
            <a:endParaRPr/>
          </a:p>
          <a:p>
            <a:pPr indent="-274320" lvl="1" marL="640080" rtl="0" algn="l">
              <a:spcBef>
                <a:spcPts val="420"/>
              </a:spcBef>
              <a:spcAft>
                <a:spcPts val="0"/>
              </a:spcAft>
              <a:buSzPts val="1680"/>
              <a:buFont typeface="Calibri"/>
              <a:buChar char="•"/>
            </a:pPr>
            <a:r>
              <a:rPr lang="en-US"/>
              <a:t> define distinct conceptual interfaces for different users. </a:t>
            </a:r>
            <a:endParaRPr/>
          </a:p>
          <a:p>
            <a:pPr indent="-167640" lvl="0" marL="274320" rtl="0" algn="l">
              <a:spcBef>
                <a:spcPts val="600"/>
              </a:spcBef>
              <a:spcAft>
                <a:spcPts val="0"/>
              </a:spcAft>
              <a:buSzPts val="1680"/>
              <a:buNone/>
            </a:pPr>
            <a:r>
              <a:t/>
            </a:r>
            <a:endParaRPr/>
          </a:p>
          <a:p>
            <a:pPr indent="-167640" lvl="0" marL="274320" rtl="0" algn="l">
              <a:spcBef>
                <a:spcPts val="600"/>
              </a:spcBef>
              <a:spcAft>
                <a:spcPts val="0"/>
              </a:spcAft>
              <a:buSzPts val="1680"/>
              <a:buNone/>
            </a:pPr>
            <a:r>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75"/>
          <p:cNvSpPr txBox="1"/>
          <p:nvPr>
            <p:ph idx="4294967295" type="sldNum"/>
          </p:nvPr>
        </p:nvSpPr>
        <p:spPr>
          <a:xfrm>
            <a:off x="7153275" y="6386513"/>
            <a:ext cx="1905000" cy="3873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9-</a:t>
            </a:r>
            <a:fld id="{00000000-1234-1234-1234-123412341234}" type="slidenum">
              <a:rPr lang="en-US"/>
              <a:t>‹#›</a:t>
            </a:fld>
            <a:endParaRPr/>
          </a:p>
        </p:txBody>
      </p:sp>
      <p:sp>
        <p:nvSpPr>
          <p:cNvPr id="784" name="Google Shape;784;p7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SQL Views: An Example</a:t>
            </a:r>
            <a:endParaRPr/>
          </a:p>
        </p:txBody>
      </p:sp>
      <p:sp>
        <p:nvSpPr>
          <p:cNvPr id="785" name="Google Shape;785;p75"/>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latin typeface="Calibri"/>
                <a:ea typeface="Calibri"/>
                <a:cs typeface="Calibri"/>
                <a:sym typeface="Calibri"/>
              </a:rPr>
              <a:t>Specify a different WORKS_ON table</a:t>
            </a:r>
            <a:endParaRPr/>
          </a:p>
          <a:p>
            <a:pPr indent="-274320" lvl="0" marL="274320" rtl="0" algn="l">
              <a:spcBef>
                <a:spcPts val="600"/>
              </a:spcBef>
              <a:spcAft>
                <a:spcPts val="0"/>
              </a:spcAft>
              <a:buSzPts val="1680"/>
              <a:buFont typeface="Noto Sans Symbols"/>
              <a:buNone/>
            </a:pPr>
            <a:r>
              <a:t/>
            </a:r>
            <a:endParaRPr sz="2400">
              <a:latin typeface="Calibri"/>
              <a:ea typeface="Calibri"/>
              <a:cs typeface="Calibri"/>
              <a:sym typeface="Calibri"/>
            </a:endParaRPr>
          </a:p>
          <a:p>
            <a:pPr indent="-274320" lvl="0" marL="274320" rtl="0" algn="l">
              <a:spcBef>
                <a:spcPts val="600"/>
              </a:spcBef>
              <a:spcAft>
                <a:spcPts val="0"/>
              </a:spcAft>
              <a:buSzPts val="1680"/>
              <a:buFont typeface="Noto Sans Symbols"/>
              <a:buNone/>
            </a:pPr>
            <a:r>
              <a:rPr lang="en-US" sz="2400">
                <a:latin typeface="Calibri"/>
                <a:ea typeface="Calibri"/>
                <a:cs typeface="Calibri"/>
                <a:sym typeface="Calibri"/>
              </a:rPr>
              <a:t>	</a:t>
            </a:r>
            <a:r>
              <a:rPr b="1" lang="en-US" sz="2400">
                <a:latin typeface="Calibri"/>
                <a:ea typeface="Calibri"/>
                <a:cs typeface="Calibri"/>
                <a:sym typeface="Calibri"/>
              </a:rPr>
              <a:t>CREATE VIEW </a:t>
            </a:r>
            <a:r>
              <a:rPr lang="en-US" sz="2400">
                <a:latin typeface="Calibri"/>
                <a:ea typeface="Calibri"/>
                <a:cs typeface="Calibri"/>
                <a:sym typeface="Calibri"/>
              </a:rPr>
              <a:t>WORKS_ON1 </a:t>
            </a:r>
            <a:r>
              <a:rPr b="1" lang="en-US" sz="2400">
                <a:latin typeface="Calibri"/>
                <a:ea typeface="Calibri"/>
                <a:cs typeface="Calibri"/>
                <a:sym typeface="Calibri"/>
              </a:rPr>
              <a:t>AS</a:t>
            </a:r>
            <a:endParaRPr/>
          </a:p>
          <a:p>
            <a:pPr indent="-274320" lvl="0" marL="274320" rtl="0" algn="l">
              <a:spcBef>
                <a:spcPts val="600"/>
              </a:spcBef>
              <a:spcAft>
                <a:spcPts val="0"/>
              </a:spcAft>
              <a:buSzPts val="1680"/>
              <a:buFont typeface="Noto Sans Symbols"/>
              <a:buNone/>
            </a:pPr>
            <a:r>
              <a:rPr lang="en-US" sz="2400">
                <a:latin typeface="Calibri"/>
                <a:ea typeface="Calibri"/>
                <a:cs typeface="Calibri"/>
                <a:sym typeface="Calibri"/>
              </a:rPr>
              <a:t>	   	SELECT FNAME, LNAME, PNAME, HOURS</a:t>
            </a:r>
            <a:endParaRPr/>
          </a:p>
          <a:p>
            <a:pPr indent="-274320" lvl="0" marL="274320" rtl="0" algn="l">
              <a:spcBef>
                <a:spcPts val="600"/>
              </a:spcBef>
              <a:spcAft>
                <a:spcPts val="0"/>
              </a:spcAft>
              <a:buSzPts val="1680"/>
              <a:buFont typeface="Noto Sans Symbols"/>
              <a:buNone/>
            </a:pPr>
            <a:r>
              <a:rPr lang="en-US" sz="2400">
                <a:latin typeface="Calibri"/>
                <a:ea typeface="Calibri"/>
                <a:cs typeface="Calibri"/>
                <a:sym typeface="Calibri"/>
              </a:rPr>
              <a:t>		FROM EMPLOYEE, PROJECT, WORKS_ON</a:t>
            </a:r>
            <a:endParaRPr/>
          </a:p>
          <a:p>
            <a:pPr indent="-274320" lvl="0" marL="274320" rtl="0" algn="l">
              <a:spcBef>
                <a:spcPts val="600"/>
              </a:spcBef>
              <a:spcAft>
                <a:spcPts val="0"/>
              </a:spcAft>
              <a:buSzPts val="1680"/>
              <a:buFont typeface="Noto Sans Symbols"/>
              <a:buNone/>
            </a:pPr>
            <a:r>
              <a:rPr lang="en-US" sz="2400">
                <a:latin typeface="Calibri"/>
                <a:ea typeface="Calibri"/>
                <a:cs typeface="Calibri"/>
                <a:sym typeface="Calibri"/>
              </a:rPr>
              <a:t>  		WHERE SSN=ESSN AND PNO=PNUMBER</a:t>
            </a:r>
            <a:endParaRPr/>
          </a:p>
          <a:p>
            <a:pPr indent="-274320" lvl="0" marL="274320" rtl="0" algn="l">
              <a:spcBef>
                <a:spcPts val="600"/>
              </a:spcBef>
              <a:spcAft>
                <a:spcPts val="0"/>
              </a:spcAft>
              <a:buSzPts val="1680"/>
              <a:buFont typeface="Noto Sans Symbols"/>
              <a:buNone/>
            </a:pPr>
            <a:r>
              <a:rPr lang="en-US" sz="2400">
                <a:latin typeface="Calibri"/>
                <a:ea typeface="Calibri"/>
                <a:cs typeface="Calibri"/>
                <a:sym typeface="Calibri"/>
              </a:rPr>
              <a:t>		</a:t>
            </a:r>
            <a:endParaRPr/>
          </a:p>
          <a:p>
            <a:pPr indent="-274320" lvl="0" marL="274320" rtl="0" algn="l">
              <a:spcBef>
                <a:spcPts val="600"/>
              </a:spcBef>
              <a:spcAft>
                <a:spcPts val="0"/>
              </a:spcAft>
              <a:buSzPts val="1680"/>
              <a:buFont typeface="Noto Sans Symbols"/>
              <a:buNone/>
            </a:pPr>
            <a:r>
              <a:t/>
            </a:r>
            <a:endParaRPr sz="2400">
              <a:latin typeface="Calibri"/>
              <a:ea typeface="Calibri"/>
              <a:cs typeface="Calibri"/>
              <a:sym typeface="Calibri"/>
            </a:endParaRPr>
          </a:p>
        </p:txBody>
      </p:sp>
      <p:pic>
        <p:nvPicPr>
          <p:cNvPr id="786" name="Google Shape;786;p75"/>
          <p:cNvPicPr preferRelativeResize="0"/>
          <p:nvPr/>
        </p:nvPicPr>
        <p:blipFill rotWithShape="1">
          <a:blip r:embed="rId3">
            <a:alphaModFix/>
          </a:blip>
          <a:srcRect b="0" l="0" r="0" t="0"/>
          <a:stretch/>
        </p:blipFill>
        <p:spPr>
          <a:xfrm>
            <a:off x="1600199" y="4808620"/>
            <a:ext cx="4790073" cy="982579"/>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7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SQL Views: An Example2</a:t>
            </a:r>
            <a:endParaRPr/>
          </a:p>
        </p:txBody>
      </p:sp>
      <p:sp>
        <p:nvSpPr>
          <p:cNvPr id="792" name="Google Shape;792;p7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pic>
        <p:nvPicPr>
          <p:cNvPr id="793" name="Google Shape;793;p76"/>
          <p:cNvPicPr preferRelativeResize="0"/>
          <p:nvPr/>
        </p:nvPicPr>
        <p:blipFill rotWithShape="1">
          <a:blip r:embed="rId3">
            <a:alphaModFix/>
          </a:blip>
          <a:srcRect b="0" l="0" r="0" t="0"/>
          <a:stretch/>
        </p:blipFill>
        <p:spPr>
          <a:xfrm>
            <a:off x="457200" y="1600199"/>
            <a:ext cx="8179688" cy="1864895"/>
          </a:xfrm>
          <a:prstGeom prst="rect">
            <a:avLst/>
          </a:prstGeom>
          <a:noFill/>
          <a:ln>
            <a:noFill/>
          </a:ln>
        </p:spPr>
      </p:pic>
      <p:pic>
        <p:nvPicPr>
          <p:cNvPr id="794" name="Google Shape;794;p76"/>
          <p:cNvPicPr preferRelativeResize="0"/>
          <p:nvPr/>
        </p:nvPicPr>
        <p:blipFill rotWithShape="1">
          <a:blip r:embed="rId4">
            <a:alphaModFix/>
          </a:blip>
          <a:srcRect b="0" l="0" r="0" t="0"/>
          <a:stretch/>
        </p:blipFill>
        <p:spPr>
          <a:xfrm>
            <a:off x="457200" y="4048376"/>
            <a:ext cx="7420841" cy="16856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77"/>
          <p:cNvSpPr txBox="1"/>
          <p:nvPr>
            <p:ph idx="4294967295" type="sldNum"/>
          </p:nvPr>
        </p:nvSpPr>
        <p:spPr>
          <a:xfrm>
            <a:off x="7153275" y="6386513"/>
            <a:ext cx="1905000" cy="3873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9-</a:t>
            </a:r>
            <a:fld id="{00000000-1234-1234-1234-123412341234}" type="slidenum">
              <a:rPr lang="en-US"/>
              <a:t>‹#›</a:t>
            </a:fld>
            <a:endParaRPr/>
          </a:p>
        </p:txBody>
      </p:sp>
      <p:sp>
        <p:nvSpPr>
          <p:cNvPr id="800" name="Google Shape;800;p7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Using a Virtual Table</a:t>
            </a:r>
            <a:endParaRPr/>
          </a:p>
        </p:txBody>
      </p:sp>
      <p:sp>
        <p:nvSpPr>
          <p:cNvPr id="801" name="Google Shape;801;p77"/>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latin typeface="Calibri"/>
                <a:ea typeface="Calibri"/>
                <a:cs typeface="Calibri"/>
                <a:sym typeface="Calibri"/>
              </a:rPr>
              <a:t>We can specify SQL queries on a newly created view:</a:t>
            </a:r>
            <a:endParaRPr>
              <a:latin typeface="Calibri"/>
              <a:ea typeface="Calibri"/>
              <a:cs typeface="Calibri"/>
              <a:sym typeface="Calibri"/>
            </a:endParaRPr>
          </a:p>
          <a:p>
            <a:pPr indent="-274320" lvl="0" marL="274320" rtl="0" algn="l">
              <a:spcBef>
                <a:spcPts val="600"/>
              </a:spcBef>
              <a:spcAft>
                <a:spcPts val="0"/>
              </a:spcAft>
              <a:buSzPts val="1680"/>
              <a:buFont typeface="Noto Sans Symbols"/>
              <a:buNone/>
            </a:pPr>
            <a:r>
              <a:rPr lang="en-US" sz="2400">
                <a:latin typeface="Calibri"/>
                <a:ea typeface="Calibri"/>
                <a:cs typeface="Calibri"/>
                <a:sym typeface="Calibri"/>
              </a:rPr>
              <a:t>	</a:t>
            </a:r>
            <a:r>
              <a:rPr lang="en-US" sz="2000">
                <a:latin typeface="Calibri"/>
                <a:ea typeface="Calibri"/>
                <a:cs typeface="Calibri"/>
                <a:sym typeface="Calibri"/>
              </a:rPr>
              <a:t>  	</a:t>
            </a:r>
            <a:r>
              <a:rPr b="1" lang="en-US" sz="2000">
                <a:latin typeface="Calibri"/>
                <a:ea typeface="Calibri"/>
                <a:cs typeface="Calibri"/>
                <a:sym typeface="Calibri"/>
              </a:rPr>
              <a:t>SELECT</a:t>
            </a:r>
            <a:r>
              <a:rPr lang="en-US" sz="2000">
                <a:latin typeface="Calibri"/>
                <a:ea typeface="Calibri"/>
                <a:cs typeface="Calibri"/>
                <a:sym typeface="Calibri"/>
              </a:rPr>
              <a:t> FNAME, LNAME </a:t>
            </a:r>
            <a:endParaRPr sz="2000">
              <a:latin typeface="Calibri"/>
              <a:ea typeface="Calibri"/>
              <a:cs typeface="Calibri"/>
              <a:sym typeface="Calibri"/>
            </a:endParaRPr>
          </a:p>
          <a:p>
            <a:pPr indent="-274320" lvl="0" marL="274320" rtl="0" algn="l">
              <a:spcBef>
                <a:spcPts val="600"/>
              </a:spcBef>
              <a:spcAft>
                <a:spcPts val="0"/>
              </a:spcAft>
              <a:buSzPts val="1400"/>
              <a:buFont typeface="Noto Sans Symbols"/>
              <a:buNone/>
            </a:pPr>
            <a:r>
              <a:rPr lang="en-US" sz="2000">
                <a:latin typeface="Calibri"/>
                <a:ea typeface="Calibri"/>
                <a:cs typeface="Calibri"/>
                <a:sym typeface="Calibri"/>
              </a:rPr>
              <a:t>  		</a:t>
            </a:r>
            <a:r>
              <a:rPr b="1" lang="en-US" sz="2000">
                <a:latin typeface="Calibri"/>
                <a:ea typeface="Calibri"/>
                <a:cs typeface="Calibri"/>
                <a:sym typeface="Calibri"/>
              </a:rPr>
              <a:t>FROM</a:t>
            </a:r>
            <a:r>
              <a:rPr lang="en-US" sz="2000">
                <a:latin typeface="Calibri"/>
                <a:ea typeface="Calibri"/>
                <a:cs typeface="Calibri"/>
                <a:sym typeface="Calibri"/>
              </a:rPr>
              <a:t> WORKS_ON1</a:t>
            </a:r>
            <a:endParaRPr sz="2000">
              <a:latin typeface="Calibri"/>
              <a:ea typeface="Calibri"/>
              <a:cs typeface="Calibri"/>
              <a:sym typeface="Calibri"/>
            </a:endParaRPr>
          </a:p>
          <a:p>
            <a:pPr indent="-274320" lvl="0" marL="274320" rtl="0" algn="l">
              <a:spcBef>
                <a:spcPts val="600"/>
              </a:spcBef>
              <a:spcAft>
                <a:spcPts val="0"/>
              </a:spcAft>
              <a:buSzPts val="1400"/>
              <a:buFont typeface="Noto Sans Symbols"/>
              <a:buNone/>
            </a:pPr>
            <a:r>
              <a:rPr lang="en-US" sz="2000">
                <a:latin typeface="Calibri"/>
                <a:ea typeface="Calibri"/>
                <a:cs typeface="Calibri"/>
                <a:sym typeface="Calibri"/>
              </a:rPr>
              <a:t>	 	</a:t>
            </a:r>
            <a:r>
              <a:rPr b="1" lang="en-US" sz="2000">
                <a:latin typeface="Calibri"/>
                <a:ea typeface="Calibri"/>
                <a:cs typeface="Calibri"/>
                <a:sym typeface="Calibri"/>
              </a:rPr>
              <a:t>WHERE</a:t>
            </a:r>
            <a:r>
              <a:rPr lang="en-US" sz="2000">
                <a:latin typeface="Calibri"/>
                <a:ea typeface="Calibri"/>
                <a:cs typeface="Calibri"/>
                <a:sym typeface="Calibri"/>
              </a:rPr>
              <a:t> PNAME=‘ProductX’;</a:t>
            </a:r>
            <a:endParaRPr/>
          </a:p>
          <a:p>
            <a:pPr indent="-274320" lvl="0" marL="274320" rtl="0" algn="l">
              <a:spcBef>
                <a:spcPts val="600"/>
              </a:spcBef>
              <a:spcAft>
                <a:spcPts val="0"/>
              </a:spcAft>
              <a:buSzPts val="1400"/>
              <a:buFont typeface="Noto Sans Symbols"/>
              <a:buNone/>
            </a:pPr>
            <a:r>
              <a:t/>
            </a:r>
            <a:endParaRPr sz="2000">
              <a:latin typeface="Calibri"/>
              <a:ea typeface="Calibri"/>
              <a:cs typeface="Calibri"/>
              <a:sym typeface="Calibri"/>
            </a:endParaRPr>
          </a:p>
          <a:p>
            <a:pPr indent="-274320" lvl="0" marL="274320" rtl="0" algn="l">
              <a:spcBef>
                <a:spcPts val="600"/>
              </a:spcBef>
              <a:spcAft>
                <a:spcPts val="0"/>
              </a:spcAft>
              <a:buSzPts val="1680"/>
              <a:buChar char="🞆"/>
            </a:pPr>
            <a:r>
              <a:rPr lang="en-US">
                <a:latin typeface="Calibri"/>
                <a:ea typeface="Calibri"/>
                <a:cs typeface="Calibri"/>
                <a:sym typeface="Calibri"/>
              </a:rPr>
              <a:t>DBMS is responsible to keep view always up-to-date</a:t>
            </a:r>
            <a:endParaRPr/>
          </a:p>
          <a:p>
            <a:pPr indent="-274320" lvl="0" marL="274320" rtl="0" algn="l">
              <a:spcBef>
                <a:spcPts val="600"/>
              </a:spcBef>
              <a:spcAft>
                <a:spcPts val="0"/>
              </a:spcAft>
              <a:buSzPts val="1680"/>
              <a:buChar char="🞆"/>
            </a:pPr>
            <a:r>
              <a:rPr lang="en-US">
                <a:latin typeface="Calibri"/>
                <a:ea typeface="Calibri"/>
                <a:cs typeface="Calibri"/>
                <a:sym typeface="Calibri"/>
              </a:rPr>
              <a:t>When no longer needed, a view can be dropped:</a:t>
            </a:r>
            <a:endParaRPr/>
          </a:p>
          <a:p>
            <a:pPr indent="-274320" lvl="0" marL="274320" rtl="0" algn="l">
              <a:spcBef>
                <a:spcPts val="600"/>
              </a:spcBef>
              <a:spcAft>
                <a:spcPts val="0"/>
              </a:spcAft>
              <a:buSzPts val="1680"/>
              <a:buFont typeface="Noto Sans Symbols"/>
              <a:buNone/>
            </a:pPr>
            <a:r>
              <a:rPr lang="en-US" sz="2400">
                <a:latin typeface="Calibri"/>
                <a:ea typeface="Calibri"/>
                <a:cs typeface="Calibri"/>
                <a:sym typeface="Calibri"/>
              </a:rPr>
              <a:t>	</a:t>
            </a:r>
            <a:endParaRPr sz="2400">
              <a:latin typeface="Calibri"/>
              <a:ea typeface="Calibri"/>
              <a:cs typeface="Calibri"/>
              <a:sym typeface="Calibri"/>
            </a:endParaRPr>
          </a:p>
          <a:p>
            <a:pPr indent="-274320" lvl="0" marL="274320" rtl="0" algn="l">
              <a:spcBef>
                <a:spcPts val="600"/>
              </a:spcBef>
              <a:spcAft>
                <a:spcPts val="0"/>
              </a:spcAft>
              <a:buSzPts val="1680"/>
              <a:buFont typeface="Noto Sans Symbols"/>
              <a:buNone/>
            </a:pPr>
            <a:r>
              <a:rPr lang="en-US">
                <a:latin typeface="Calibri"/>
                <a:ea typeface="Calibri"/>
                <a:cs typeface="Calibri"/>
                <a:sym typeface="Calibri"/>
              </a:rPr>
              <a:t>			</a:t>
            </a:r>
            <a:r>
              <a:rPr lang="en-US" sz="2400">
                <a:latin typeface="Calibri"/>
                <a:ea typeface="Calibri"/>
                <a:cs typeface="Calibri"/>
                <a:sym typeface="Calibri"/>
              </a:rPr>
              <a:t>DROP WORKS_ON1;</a:t>
            </a:r>
            <a:endParaRPr sz="2400">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78"/>
          <p:cNvSpPr txBox="1"/>
          <p:nvPr>
            <p:ph idx="4294967295" type="sldNum"/>
          </p:nvPr>
        </p:nvSpPr>
        <p:spPr>
          <a:xfrm>
            <a:off x="7153275" y="6386513"/>
            <a:ext cx="1905000" cy="3873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9-</a:t>
            </a:r>
            <a:fld id="{00000000-1234-1234-1234-123412341234}" type="slidenum">
              <a:rPr lang="en-US"/>
              <a:t>‹#›</a:t>
            </a:fld>
            <a:endParaRPr/>
          </a:p>
        </p:txBody>
      </p:sp>
      <p:sp>
        <p:nvSpPr>
          <p:cNvPr id="807" name="Google Shape;807;p7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Efficient View Implementation</a:t>
            </a:r>
            <a:endParaRPr/>
          </a:p>
        </p:txBody>
      </p:sp>
      <p:sp>
        <p:nvSpPr>
          <p:cNvPr id="808" name="Google Shape;808;p78"/>
          <p:cNvSpPr txBox="1"/>
          <p:nvPr>
            <p:ph idx="1" type="body"/>
          </p:nvPr>
        </p:nvSpPr>
        <p:spPr>
          <a:xfrm>
            <a:off x="457199" y="1600200"/>
            <a:ext cx="8253663"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b="1" lang="en-US">
                <a:latin typeface="Calibri"/>
                <a:ea typeface="Calibri"/>
                <a:cs typeface="Calibri"/>
                <a:sym typeface="Calibri"/>
              </a:rPr>
              <a:t>Query modification: </a:t>
            </a:r>
            <a:r>
              <a:rPr lang="en-US">
                <a:latin typeface="Calibri"/>
                <a:ea typeface="Calibri"/>
                <a:cs typeface="Calibri"/>
                <a:sym typeface="Calibri"/>
              </a:rPr>
              <a:t>present the view query in terms of a query on the underlying base tables</a:t>
            </a:r>
            <a:endParaRPr/>
          </a:p>
          <a:p>
            <a:pPr indent="-274320" lvl="0" marL="274320" rtl="0" algn="l">
              <a:spcBef>
                <a:spcPts val="600"/>
              </a:spcBef>
              <a:spcAft>
                <a:spcPts val="0"/>
              </a:spcAft>
              <a:buSzPts val="1680"/>
              <a:buFont typeface="Noto Sans Symbols"/>
              <a:buNone/>
            </a:pPr>
            <a:r>
              <a:rPr lang="en-US">
                <a:latin typeface="Calibri"/>
                <a:ea typeface="Calibri"/>
                <a:cs typeface="Calibri"/>
                <a:sym typeface="Calibri"/>
              </a:rPr>
              <a:t>		</a:t>
            </a:r>
            <a:endParaRPr/>
          </a:p>
          <a:p>
            <a:pPr indent="-274320" lvl="0" marL="274320" rtl="0" algn="l">
              <a:spcBef>
                <a:spcPts val="600"/>
              </a:spcBef>
              <a:spcAft>
                <a:spcPts val="0"/>
              </a:spcAft>
              <a:buSzPts val="1680"/>
              <a:buFont typeface="Noto Sans Symbols"/>
              <a:buNone/>
            </a:pPr>
            <a:r>
              <a:t/>
            </a:r>
            <a:endParaRPr>
              <a:latin typeface="Calibri"/>
              <a:ea typeface="Calibri"/>
              <a:cs typeface="Calibri"/>
              <a:sym typeface="Calibri"/>
            </a:endParaRPr>
          </a:p>
          <a:p>
            <a:pPr indent="-274320" lvl="0" marL="274320" rtl="0" algn="l">
              <a:spcBef>
                <a:spcPts val="600"/>
              </a:spcBef>
              <a:spcAft>
                <a:spcPts val="0"/>
              </a:spcAft>
              <a:buSzPts val="1680"/>
              <a:buFont typeface="Noto Sans Symbols"/>
              <a:buNone/>
            </a:pPr>
            <a:r>
              <a:t/>
            </a:r>
            <a:endParaRPr>
              <a:latin typeface="Calibri"/>
              <a:ea typeface="Calibri"/>
              <a:cs typeface="Calibri"/>
              <a:sym typeface="Calibri"/>
            </a:endParaRPr>
          </a:p>
          <a:p>
            <a:pPr indent="-274320" lvl="0" marL="274320" rtl="0" algn="l">
              <a:spcBef>
                <a:spcPts val="600"/>
              </a:spcBef>
              <a:spcAft>
                <a:spcPts val="0"/>
              </a:spcAft>
              <a:buSzPts val="1400"/>
              <a:buFont typeface="Noto Sans Symbols"/>
              <a:buNone/>
            </a:pPr>
            <a:r>
              <a:rPr b="1" lang="en-US" sz="2000">
                <a:latin typeface="Calibri"/>
                <a:ea typeface="Calibri"/>
                <a:cs typeface="Calibri"/>
                <a:sym typeface="Calibri"/>
              </a:rPr>
              <a:t>		SELECT FNAME, LNAME</a:t>
            </a:r>
            <a:endParaRPr/>
          </a:p>
          <a:p>
            <a:pPr indent="-274320" lvl="0" marL="274320" rtl="0" algn="l">
              <a:spcBef>
                <a:spcPts val="600"/>
              </a:spcBef>
              <a:spcAft>
                <a:spcPts val="0"/>
              </a:spcAft>
              <a:buSzPts val="1400"/>
              <a:buFont typeface="Noto Sans Symbols"/>
              <a:buNone/>
            </a:pPr>
            <a:r>
              <a:rPr b="1" lang="en-US" sz="2000">
                <a:latin typeface="Calibri"/>
                <a:ea typeface="Calibri"/>
                <a:cs typeface="Calibri"/>
                <a:sym typeface="Calibri"/>
              </a:rPr>
              <a:t>		FROM EMPLOYEE, PROJECT, WORKS_ON</a:t>
            </a:r>
            <a:endParaRPr/>
          </a:p>
          <a:p>
            <a:pPr indent="-274320" lvl="0" marL="274320" rtl="0" algn="l">
              <a:spcBef>
                <a:spcPts val="600"/>
              </a:spcBef>
              <a:spcAft>
                <a:spcPts val="0"/>
              </a:spcAft>
              <a:buSzPts val="1400"/>
              <a:buFont typeface="Noto Sans Symbols"/>
              <a:buNone/>
            </a:pPr>
            <a:r>
              <a:rPr b="1" lang="en-US" sz="2000">
                <a:latin typeface="Calibri"/>
                <a:ea typeface="Calibri"/>
                <a:cs typeface="Calibri"/>
                <a:sym typeface="Calibri"/>
              </a:rPr>
              <a:t>  		WHERE SSN=ESSN AND PNO=PNUMBER AND PNAME=‘PRODUCTX’</a:t>
            </a:r>
            <a:endParaRPr/>
          </a:p>
          <a:p>
            <a:pPr indent="-274320" lvl="0" marL="274320" rtl="0" algn="l">
              <a:spcBef>
                <a:spcPts val="600"/>
              </a:spcBef>
              <a:spcAft>
                <a:spcPts val="0"/>
              </a:spcAft>
              <a:buSzPts val="1400"/>
              <a:buFont typeface="Noto Sans Symbols"/>
              <a:buNone/>
            </a:pPr>
            <a:r>
              <a:t/>
            </a:r>
            <a:endParaRPr b="1" sz="2000">
              <a:latin typeface="Calibri"/>
              <a:ea typeface="Calibri"/>
              <a:cs typeface="Calibri"/>
              <a:sym typeface="Calibri"/>
            </a:endParaRPr>
          </a:p>
          <a:p>
            <a:pPr indent="0" lvl="0" marL="0" rtl="0" algn="l">
              <a:spcBef>
                <a:spcPts val="600"/>
              </a:spcBef>
              <a:spcAft>
                <a:spcPts val="0"/>
              </a:spcAft>
              <a:buSzPts val="1680"/>
              <a:buChar char="🞆"/>
            </a:pPr>
            <a:r>
              <a:rPr lang="en-US"/>
              <a:t>Disadvantage: </a:t>
            </a:r>
            <a:endParaRPr/>
          </a:p>
          <a:p>
            <a:pPr indent="-365760" lvl="1" marL="365760" rtl="0" algn="l">
              <a:spcBef>
                <a:spcPts val="420"/>
              </a:spcBef>
              <a:spcAft>
                <a:spcPts val="0"/>
              </a:spcAft>
              <a:buSzPts val="1680"/>
              <a:buChar char="⚫"/>
            </a:pPr>
            <a:r>
              <a:rPr lang="en-US"/>
              <a:t>Inefficient for views defined via complex queries (esp  if additional queries are to be applied within a short time period )</a:t>
            </a:r>
            <a:endParaRPr/>
          </a:p>
          <a:p>
            <a:pPr indent="-274320" lvl="0" marL="274320" rtl="0" algn="l">
              <a:spcBef>
                <a:spcPts val="600"/>
              </a:spcBef>
              <a:spcAft>
                <a:spcPts val="0"/>
              </a:spcAft>
              <a:buSzPts val="1400"/>
              <a:buFont typeface="Noto Sans Symbols"/>
              <a:buNone/>
            </a:pPr>
            <a:r>
              <a:t/>
            </a:r>
            <a:endParaRPr b="1" sz="2000">
              <a:latin typeface="Calibri"/>
              <a:ea typeface="Calibri"/>
              <a:cs typeface="Calibri"/>
              <a:sym typeface="Calibri"/>
            </a:endParaRPr>
          </a:p>
          <a:p>
            <a:pPr indent="-274320" lvl="0" marL="274320" rtl="0" algn="l">
              <a:spcBef>
                <a:spcPts val="600"/>
              </a:spcBef>
              <a:spcAft>
                <a:spcPts val="0"/>
              </a:spcAft>
              <a:buSzPts val="1400"/>
              <a:buFont typeface="Noto Sans Symbols"/>
              <a:buNone/>
            </a:pPr>
            <a:r>
              <a:t/>
            </a:r>
            <a:endParaRPr b="1" sz="2000">
              <a:latin typeface="Calibri"/>
              <a:ea typeface="Calibri"/>
              <a:cs typeface="Calibri"/>
              <a:sym typeface="Calibri"/>
            </a:endParaRPr>
          </a:p>
          <a:p>
            <a:pPr indent="-167640" lvl="1" marL="640080" rtl="0" algn="l">
              <a:spcBef>
                <a:spcPts val="420"/>
              </a:spcBef>
              <a:spcAft>
                <a:spcPts val="0"/>
              </a:spcAft>
              <a:buSzPts val="1680"/>
              <a:buNone/>
            </a:pPr>
            <a:r>
              <a:t/>
            </a:r>
            <a:endParaRPr>
              <a:latin typeface="Calibri"/>
              <a:ea typeface="Calibri"/>
              <a:cs typeface="Calibri"/>
              <a:sym typeface="Calibri"/>
            </a:endParaRPr>
          </a:p>
        </p:txBody>
      </p:sp>
      <p:pic>
        <p:nvPicPr>
          <p:cNvPr id="809" name="Google Shape;809;p78"/>
          <p:cNvPicPr preferRelativeResize="0"/>
          <p:nvPr/>
        </p:nvPicPr>
        <p:blipFill rotWithShape="1">
          <a:blip r:embed="rId3">
            <a:alphaModFix/>
          </a:blip>
          <a:srcRect b="0" l="0" r="0" t="0"/>
          <a:stretch/>
        </p:blipFill>
        <p:spPr>
          <a:xfrm>
            <a:off x="830680" y="2546684"/>
            <a:ext cx="3754802" cy="934453"/>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79"/>
          <p:cNvSpPr txBox="1"/>
          <p:nvPr>
            <p:ph idx="4294967295" type="sldNum"/>
          </p:nvPr>
        </p:nvSpPr>
        <p:spPr>
          <a:xfrm>
            <a:off x="7153275" y="6386513"/>
            <a:ext cx="1905000" cy="3873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9-</a:t>
            </a:r>
            <a:fld id="{00000000-1234-1234-1234-123412341234}" type="slidenum">
              <a:rPr lang="en-US"/>
              <a:t>‹#›</a:t>
            </a:fld>
            <a:endParaRPr/>
          </a:p>
        </p:txBody>
      </p:sp>
      <p:sp>
        <p:nvSpPr>
          <p:cNvPr id="815" name="Google Shape;815;p7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Efficient View Implementation</a:t>
            </a:r>
            <a:endParaRPr/>
          </a:p>
        </p:txBody>
      </p:sp>
      <p:sp>
        <p:nvSpPr>
          <p:cNvPr id="816" name="Google Shape;816;p79"/>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b="1" lang="en-US"/>
              <a:t>View materialization</a:t>
            </a:r>
            <a:r>
              <a:rPr lang="en-US"/>
              <a:t>: involves physically creating and keeping a temporary table</a:t>
            </a:r>
            <a:endParaRPr/>
          </a:p>
          <a:p>
            <a:pPr indent="-167640" lvl="1" marL="640080" rtl="0" algn="l">
              <a:spcBef>
                <a:spcPts val="420"/>
              </a:spcBef>
              <a:spcAft>
                <a:spcPts val="0"/>
              </a:spcAft>
              <a:buSzPts val="1680"/>
              <a:buNone/>
            </a:pPr>
            <a:r>
              <a:t/>
            </a:r>
            <a:endParaRPr/>
          </a:p>
          <a:p>
            <a:pPr indent="-274320" lvl="1" marL="640080" rtl="0" algn="l">
              <a:spcBef>
                <a:spcPts val="420"/>
              </a:spcBef>
              <a:spcAft>
                <a:spcPts val="0"/>
              </a:spcAft>
              <a:buSzPts val="1680"/>
              <a:buChar char="⚫"/>
            </a:pPr>
            <a:r>
              <a:rPr lang="en-US"/>
              <a:t>assumption: other queries on the view will follow</a:t>
            </a:r>
            <a:endParaRPr/>
          </a:p>
          <a:p>
            <a:pPr indent="-274320" lvl="1" marL="640080" rtl="0" algn="l">
              <a:spcBef>
                <a:spcPts val="420"/>
              </a:spcBef>
              <a:spcAft>
                <a:spcPts val="0"/>
              </a:spcAft>
              <a:buSzPts val="1680"/>
              <a:buChar char="⚫"/>
            </a:pPr>
            <a:r>
              <a:rPr lang="en-US"/>
              <a:t>concerns: maintaining correspondence between the base table and the view when the base table is updated</a:t>
            </a:r>
            <a:endParaRPr/>
          </a:p>
          <a:p>
            <a:pPr indent="-274320" lvl="1" marL="640080" rtl="0" algn="l">
              <a:spcBef>
                <a:spcPts val="420"/>
              </a:spcBef>
              <a:spcAft>
                <a:spcPts val="0"/>
              </a:spcAft>
              <a:buSzPts val="1680"/>
              <a:buChar char="⚫"/>
            </a:pPr>
            <a:r>
              <a:rPr lang="en-US"/>
              <a:t>strategy: incremental update</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80"/>
          <p:cNvSpPr txBox="1"/>
          <p:nvPr>
            <p:ph idx="4294967295" type="sldNum"/>
          </p:nvPr>
        </p:nvSpPr>
        <p:spPr>
          <a:xfrm>
            <a:off x="7153275" y="6386513"/>
            <a:ext cx="1905000" cy="3873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9-</a:t>
            </a:r>
            <a:fld id="{00000000-1234-1234-1234-123412341234}" type="slidenum">
              <a:rPr lang="en-US"/>
              <a:t>‹#›</a:t>
            </a:fld>
            <a:endParaRPr/>
          </a:p>
        </p:txBody>
      </p:sp>
      <p:sp>
        <p:nvSpPr>
          <p:cNvPr id="822" name="Google Shape;822;p80"/>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View Update</a:t>
            </a:r>
            <a:endParaRPr/>
          </a:p>
        </p:txBody>
      </p:sp>
      <p:sp>
        <p:nvSpPr>
          <p:cNvPr id="823" name="Google Shape;823;p80"/>
          <p:cNvSpPr txBox="1"/>
          <p:nvPr>
            <p:ph idx="1" type="body"/>
          </p:nvPr>
        </p:nvSpPr>
        <p:spPr>
          <a:xfrm>
            <a:off x="457200" y="1600200"/>
            <a:ext cx="693928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b="1" lang="en-US"/>
              <a:t>Single view without aggregate operations</a:t>
            </a:r>
            <a:r>
              <a:rPr lang="en-US"/>
              <a:t>: </a:t>
            </a:r>
            <a:endParaRPr/>
          </a:p>
          <a:p>
            <a:pPr indent="-274320" lvl="1" marL="640080" rtl="0" algn="l">
              <a:spcBef>
                <a:spcPts val="420"/>
              </a:spcBef>
              <a:spcAft>
                <a:spcPts val="0"/>
              </a:spcAft>
              <a:buSzPts val="1680"/>
              <a:buChar char="⚫"/>
            </a:pPr>
            <a:r>
              <a:rPr lang="en-US"/>
              <a:t>update may map to an update on the underlying base table</a:t>
            </a:r>
            <a:endParaRPr/>
          </a:p>
          <a:p>
            <a:pPr indent="-274320" lvl="0" marL="274320" rtl="0" algn="l">
              <a:spcBef>
                <a:spcPts val="600"/>
              </a:spcBef>
              <a:spcAft>
                <a:spcPts val="0"/>
              </a:spcAft>
              <a:buSzPts val="1680"/>
              <a:buChar char="🞆"/>
            </a:pPr>
            <a:r>
              <a:rPr b="1" lang="en-US"/>
              <a:t>Views involving joins</a:t>
            </a:r>
            <a:r>
              <a:rPr lang="en-US"/>
              <a:t>: </a:t>
            </a:r>
            <a:endParaRPr/>
          </a:p>
          <a:p>
            <a:pPr indent="-274320" lvl="1" marL="640080" rtl="0" algn="l">
              <a:spcBef>
                <a:spcPts val="420"/>
              </a:spcBef>
              <a:spcAft>
                <a:spcPts val="0"/>
              </a:spcAft>
              <a:buSzPts val="1680"/>
              <a:buChar char="⚫"/>
            </a:pPr>
            <a:r>
              <a:rPr lang="en-US"/>
              <a:t>an update </a:t>
            </a:r>
            <a:r>
              <a:rPr i="1" lang="en-US"/>
              <a:t>may</a:t>
            </a:r>
            <a:r>
              <a:rPr lang="en-US"/>
              <a:t> map to an update on the underlying base relations </a:t>
            </a:r>
            <a:endParaRPr/>
          </a:p>
          <a:p>
            <a:pPr indent="-274320" lvl="1" marL="640080" rtl="0" algn="l">
              <a:spcBef>
                <a:spcPts val="420"/>
              </a:spcBef>
              <a:spcAft>
                <a:spcPts val="0"/>
              </a:spcAft>
              <a:buSzPts val="1680"/>
              <a:buChar char="⚫"/>
            </a:pPr>
            <a:r>
              <a:rPr lang="en-US"/>
              <a:t>not always possible</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81"/>
          <p:cNvSpPr txBox="1"/>
          <p:nvPr>
            <p:ph idx="4294967295" type="sldNum"/>
          </p:nvPr>
        </p:nvSpPr>
        <p:spPr>
          <a:xfrm>
            <a:off x="7153275" y="6386513"/>
            <a:ext cx="1905000" cy="3873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9-</a:t>
            </a:r>
            <a:fld id="{00000000-1234-1234-1234-123412341234}" type="slidenum">
              <a:rPr lang="en-US"/>
              <a:t>‹#›</a:t>
            </a:fld>
            <a:endParaRPr/>
          </a:p>
        </p:txBody>
      </p:sp>
      <p:sp>
        <p:nvSpPr>
          <p:cNvPr id="829" name="Google Shape;829;p8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View Update</a:t>
            </a:r>
            <a:endParaRPr/>
          </a:p>
        </p:txBody>
      </p:sp>
      <p:sp>
        <p:nvSpPr>
          <p:cNvPr id="830" name="Google Shape;830;p81"/>
          <p:cNvSpPr txBox="1"/>
          <p:nvPr>
            <p:ph idx="1" type="body"/>
          </p:nvPr>
        </p:nvSpPr>
        <p:spPr>
          <a:xfrm>
            <a:off x="457200" y="1600200"/>
            <a:ext cx="620776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b="1" lang="en-US"/>
              <a:t>Example:</a:t>
            </a:r>
            <a:endParaRPr/>
          </a:p>
          <a:p>
            <a:pPr indent="-274320" lvl="0" marL="274320" rtl="0" algn="l">
              <a:spcBef>
                <a:spcPts val="600"/>
              </a:spcBef>
              <a:spcAft>
                <a:spcPts val="0"/>
              </a:spcAft>
              <a:buSzPts val="1680"/>
              <a:buNone/>
            </a:pPr>
            <a:r>
              <a:rPr lang="en-US"/>
              <a:t>	</a:t>
            </a:r>
            <a:r>
              <a:rPr lang="en-US" sz="2000" cap="none">
                <a:latin typeface="Calibri"/>
                <a:ea typeface="Calibri"/>
                <a:cs typeface="Calibri"/>
                <a:sym typeface="Calibri"/>
              </a:rPr>
              <a:t>UPDATE WORKS_ON1 </a:t>
            </a:r>
            <a:endParaRPr/>
          </a:p>
          <a:p>
            <a:pPr indent="-274320" lvl="0" marL="274320" rtl="0" algn="l">
              <a:spcBef>
                <a:spcPts val="600"/>
              </a:spcBef>
              <a:spcAft>
                <a:spcPts val="0"/>
              </a:spcAft>
              <a:buSzPts val="1400"/>
              <a:buNone/>
            </a:pPr>
            <a:r>
              <a:rPr lang="en-US" sz="2000" cap="none">
                <a:latin typeface="Calibri"/>
                <a:ea typeface="Calibri"/>
                <a:cs typeface="Calibri"/>
                <a:sym typeface="Calibri"/>
              </a:rPr>
              <a:t>	SET PNAME=XYZ' </a:t>
            </a:r>
            <a:endParaRPr/>
          </a:p>
          <a:p>
            <a:pPr indent="-274320" lvl="0" marL="274320" rtl="0" algn="l">
              <a:spcBef>
                <a:spcPts val="600"/>
              </a:spcBef>
              <a:spcAft>
                <a:spcPts val="0"/>
              </a:spcAft>
              <a:buSzPts val="1400"/>
              <a:buNone/>
            </a:pPr>
            <a:r>
              <a:rPr lang="en-US" sz="2000" cap="none">
                <a:latin typeface="Calibri"/>
                <a:ea typeface="Calibri"/>
                <a:cs typeface="Calibri"/>
                <a:sym typeface="Calibri"/>
              </a:rPr>
              <a:t>	WHERE  FNAME=‘JOHN       AND </a:t>
            </a:r>
            <a:endParaRPr/>
          </a:p>
          <a:p>
            <a:pPr indent="-274320" lvl="0" marL="274320" rtl="0" algn="l">
              <a:spcBef>
                <a:spcPts val="600"/>
              </a:spcBef>
              <a:spcAft>
                <a:spcPts val="0"/>
              </a:spcAft>
              <a:buSzPts val="1400"/>
              <a:buNone/>
            </a:pPr>
            <a:r>
              <a:rPr lang="en-US" sz="2000" cap="none">
                <a:latin typeface="Calibri"/>
                <a:ea typeface="Calibri"/>
                <a:cs typeface="Calibri"/>
                <a:sym typeface="Calibri"/>
              </a:rPr>
              <a:t>		      LNAME='SMITH' 	AND 	   		      PNAME=‘PRODUCTX’ </a:t>
            </a:r>
            <a:endParaRPr sz="2000" cap="none">
              <a:latin typeface="Calibri"/>
              <a:ea typeface="Calibri"/>
              <a:cs typeface="Calibri"/>
              <a:sym typeface="Calibri"/>
            </a:endParaRPr>
          </a:p>
        </p:txBody>
      </p:sp>
      <p:pic>
        <p:nvPicPr>
          <p:cNvPr descr="fig05_06" id="831" name="Google Shape;831;p81"/>
          <p:cNvPicPr preferRelativeResize="0"/>
          <p:nvPr/>
        </p:nvPicPr>
        <p:blipFill rotWithShape="1">
          <a:blip r:embed="rId3">
            <a:alphaModFix/>
          </a:blip>
          <a:srcRect b="27151" l="50538" r="0" t="51714"/>
          <a:stretch/>
        </p:blipFill>
        <p:spPr>
          <a:xfrm>
            <a:off x="693704" y="4498877"/>
            <a:ext cx="3091972" cy="1683342"/>
          </a:xfrm>
          <a:prstGeom prst="rect">
            <a:avLst/>
          </a:prstGeom>
          <a:noFill/>
          <a:ln>
            <a:noFill/>
          </a:ln>
        </p:spPr>
      </p:pic>
      <p:pic>
        <p:nvPicPr>
          <p:cNvPr descr="fig05_06" id="832" name="Google Shape;832;p81"/>
          <p:cNvPicPr preferRelativeResize="0"/>
          <p:nvPr/>
        </p:nvPicPr>
        <p:blipFill rotWithShape="1">
          <a:blip r:embed="rId3">
            <a:alphaModFix/>
          </a:blip>
          <a:srcRect b="0" l="0" r="66854" t="49997"/>
          <a:stretch/>
        </p:blipFill>
        <p:spPr>
          <a:xfrm>
            <a:off x="5825082" y="2427475"/>
            <a:ext cx="2059713" cy="3959038"/>
          </a:xfrm>
          <a:prstGeom prst="rect">
            <a:avLst/>
          </a:prstGeom>
          <a:noFill/>
          <a:ln>
            <a:noFill/>
          </a:ln>
        </p:spPr>
      </p:pic>
      <p:pic>
        <p:nvPicPr>
          <p:cNvPr id="833" name="Google Shape;833;p81"/>
          <p:cNvPicPr preferRelativeResize="0"/>
          <p:nvPr/>
        </p:nvPicPr>
        <p:blipFill rotWithShape="1">
          <a:blip r:embed="rId4">
            <a:alphaModFix/>
          </a:blip>
          <a:srcRect b="0" l="0" r="0" t="0"/>
          <a:stretch/>
        </p:blipFill>
        <p:spPr>
          <a:xfrm>
            <a:off x="3995235" y="1232300"/>
            <a:ext cx="4790073" cy="982579"/>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8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t/>
            </a:r>
            <a:endParaRPr/>
          </a:p>
        </p:txBody>
      </p:sp>
      <p:sp>
        <p:nvSpPr>
          <p:cNvPr id="839" name="Google Shape;839;p82"/>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400"/>
              <a:buNone/>
            </a:pPr>
            <a:r>
              <a:rPr b="1" lang="en-US" sz="2000" cap="none"/>
              <a:t>A)</a:t>
            </a:r>
            <a:r>
              <a:rPr lang="en-US" sz="2000" cap="none"/>
              <a:t> UPDATE WORKS_ON1</a:t>
            </a:r>
            <a:endParaRPr/>
          </a:p>
          <a:p>
            <a:pPr indent="-274320" lvl="0" marL="274320" rtl="0" algn="l">
              <a:spcBef>
                <a:spcPts val="600"/>
              </a:spcBef>
              <a:spcAft>
                <a:spcPts val="0"/>
              </a:spcAft>
              <a:buSzPts val="1400"/>
              <a:buNone/>
            </a:pPr>
            <a:r>
              <a:rPr lang="en-US" sz="2000" cap="none"/>
              <a:t>	SET PNO = 	(SELECT PNUMBER FROM PROJECT </a:t>
            </a:r>
            <a:endParaRPr/>
          </a:p>
          <a:p>
            <a:pPr indent="-274320" lvl="0" marL="274320" rtl="0" algn="l">
              <a:spcBef>
                <a:spcPts val="600"/>
              </a:spcBef>
              <a:spcAft>
                <a:spcPts val="0"/>
              </a:spcAft>
              <a:buSzPts val="1400"/>
              <a:buNone/>
            </a:pPr>
            <a:r>
              <a:rPr lang="en-US" sz="2000" cap="none"/>
              <a:t>			WHERE PNAME=‘XYZ’)</a:t>
            </a:r>
            <a:endParaRPr/>
          </a:p>
          <a:p>
            <a:pPr indent="-274320" lvl="0" marL="274320" rtl="0" algn="l">
              <a:spcBef>
                <a:spcPts val="600"/>
              </a:spcBef>
              <a:spcAft>
                <a:spcPts val="0"/>
              </a:spcAft>
              <a:buSzPts val="1400"/>
              <a:buNone/>
            </a:pPr>
            <a:r>
              <a:rPr lang="en-US" sz="2000" cap="none"/>
              <a:t> 	WHERE ESSN IN (SELECT SSN FROM EMPLOYEE </a:t>
            </a:r>
            <a:endParaRPr/>
          </a:p>
          <a:p>
            <a:pPr indent="-274320" lvl="0" marL="274320" rtl="0" algn="l">
              <a:spcBef>
                <a:spcPts val="600"/>
              </a:spcBef>
              <a:spcAft>
                <a:spcPts val="0"/>
              </a:spcAft>
              <a:buSzPts val="1400"/>
              <a:buNone/>
            </a:pPr>
            <a:r>
              <a:rPr lang="en-US" sz="2000" cap="none"/>
              <a:t>			WHERE 	LNAME=‘SMITH’ AND FNAME=‘JOHN’)</a:t>
            </a:r>
            <a:endParaRPr/>
          </a:p>
          <a:p>
            <a:pPr indent="-274320" lvl="0" marL="274320" rtl="0" algn="l">
              <a:spcBef>
                <a:spcPts val="600"/>
              </a:spcBef>
              <a:spcAft>
                <a:spcPts val="0"/>
              </a:spcAft>
              <a:buSzPts val="1400"/>
              <a:buNone/>
            </a:pPr>
            <a:r>
              <a:rPr lang="en-US" sz="2000" cap="none"/>
              <a:t>		AND</a:t>
            </a:r>
            <a:endParaRPr/>
          </a:p>
          <a:p>
            <a:pPr indent="-274320" lvl="0" marL="274320" rtl="0" algn="l">
              <a:spcBef>
                <a:spcPts val="600"/>
              </a:spcBef>
              <a:spcAft>
                <a:spcPts val="0"/>
              </a:spcAft>
              <a:buSzPts val="1400"/>
              <a:buNone/>
            </a:pPr>
            <a:r>
              <a:rPr lang="en-US" sz="2000" cap="none"/>
              <a:t>		PNO = 	(SELECT PNUMBER FROM PROJECT</a:t>
            </a:r>
            <a:endParaRPr/>
          </a:p>
          <a:p>
            <a:pPr indent="-274320" lvl="0" marL="274320" rtl="0" algn="l">
              <a:spcBef>
                <a:spcPts val="600"/>
              </a:spcBef>
              <a:spcAft>
                <a:spcPts val="0"/>
              </a:spcAft>
              <a:buSzPts val="1400"/>
              <a:buNone/>
            </a:pPr>
            <a:r>
              <a:rPr lang="en-US" sz="2000" cap="none"/>
              <a:t>			WHERE PNAME=‘PRODUCTX’)</a:t>
            </a:r>
            <a:endParaRPr/>
          </a:p>
          <a:p>
            <a:pPr indent="-274320" lvl="0" marL="274320" rtl="0" algn="l">
              <a:spcBef>
                <a:spcPts val="600"/>
              </a:spcBef>
              <a:spcAft>
                <a:spcPts val="0"/>
              </a:spcAft>
              <a:buSzPts val="1400"/>
              <a:buNone/>
            </a:pPr>
            <a:r>
              <a:t/>
            </a:r>
            <a:endParaRPr sz="2000" cap="none"/>
          </a:p>
          <a:p>
            <a:pPr indent="-274320" lvl="0" marL="274320" rtl="0" algn="l">
              <a:spcBef>
                <a:spcPts val="600"/>
              </a:spcBef>
              <a:spcAft>
                <a:spcPts val="0"/>
              </a:spcAft>
              <a:buSzPts val="1400"/>
              <a:buNone/>
            </a:pPr>
            <a:r>
              <a:rPr b="1" lang="en-US" sz="2000" cap="none"/>
              <a:t>B)</a:t>
            </a:r>
            <a:r>
              <a:rPr lang="en-US" sz="2000" cap="none"/>
              <a:t>UPDATE PROJECT SET PNAME=‘XYZ’ </a:t>
            </a:r>
            <a:endParaRPr/>
          </a:p>
          <a:p>
            <a:pPr indent="-274320" lvl="0" marL="274320" rtl="0" algn="l">
              <a:spcBef>
                <a:spcPts val="600"/>
              </a:spcBef>
              <a:spcAft>
                <a:spcPts val="0"/>
              </a:spcAft>
              <a:buSzPts val="1400"/>
              <a:buNone/>
            </a:pPr>
            <a:r>
              <a:rPr lang="en-US" sz="2000" cap="none"/>
              <a:t>	WHERE PNAME=‘PRODUCTX’</a:t>
            </a:r>
            <a:endParaRPr sz="2000" cap="none"/>
          </a:p>
        </p:txBody>
      </p:sp>
      <p:sp>
        <p:nvSpPr>
          <p:cNvPr id="840" name="Google Shape;840;p8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83"/>
          <p:cNvSpPr txBox="1"/>
          <p:nvPr>
            <p:ph idx="4294967295" type="sldNum"/>
          </p:nvPr>
        </p:nvSpPr>
        <p:spPr>
          <a:xfrm>
            <a:off x="7153275" y="6386513"/>
            <a:ext cx="1905000" cy="3873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9-</a:t>
            </a:r>
            <a:fld id="{00000000-1234-1234-1234-123412341234}" type="slidenum">
              <a:rPr lang="en-US"/>
              <a:t>‹#›</a:t>
            </a:fld>
            <a:endParaRPr/>
          </a:p>
        </p:txBody>
      </p:sp>
      <p:sp>
        <p:nvSpPr>
          <p:cNvPr id="848" name="Google Shape;848;p8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Un-updatable Views</a:t>
            </a:r>
            <a:endParaRPr/>
          </a:p>
        </p:txBody>
      </p:sp>
      <p:sp>
        <p:nvSpPr>
          <p:cNvPr id="849" name="Google Shape;849;p83"/>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680"/>
              <a:buChar char="🞆"/>
            </a:pPr>
            <a:r>
              <a:rPr lang="en-US"/>
              <a:t>Views defined using groups and aggregate functions are not updateable</a:t>
            </a:r>
            <a:endParaRPr/>
          </a:p>
          <a:p>
            <a:pPr indent="-167640" lvl="0" marL="274320" rtl="0" algn="l">
              <a:lnSpc>
                <a:spcPct val="90000"/>
              </a:lnSpc>
              <a:spcBef>
                <a:spcPts val="600"/>
              </a:spcBef>
              <a:spcAft>
                <a:spcPts val="0"/>
              </a:spcAft>
              <a:buSzPts val="1680"/>
              <a:buNone/>
            </a:pPr>
            <a:r>
              <a:t/>
            </a:r>
            <a:endParaRPr/>
          </a:p>
          <a:p>
            <a:pPr indent="-167640" lvl="0" marL="274320" rtl="0" algn="l">
              <a:lnSpc>
                <a:spcPct val="90000"/>
              </a:lnSpc>
              <a:spcBef>
                <a:spcPts val="600"/>
              </a:spcBef>
              <a:spcAft>
                <a:spcPts val="0"/>
              </a:spcAft>
              <a:buSzPts val="1680"/>
              <a:buNone/>
            </a:pPr>
            <a:r>
              <a:t/>
            </a:r>
            <a:endParaRPr/>
          </a:p>
          <a:p>
            <a:pPr indent="-167640" lvl="0" marL="274320" rtl="0" algn="l">
              <a:lnSpc>
                <a:spcPct val="90000"/>
              </a:lnSpc>
              <a:spcBef>
                <a:spcPts val="600"/>
              </a:spcBef>
              <a:spcAft>
                <a:spcPts val="0"/>
              </a:spcAft>
              <a:buSzPts val="1680"/>
              <a:buNone/>
            </a:pPr>
            <a:r>
              <a:t/>
            </a:r>
            <a:endParaRPr/>
          </a:p>
          <a:p>
            <a:pPr indent="-167640" lvl="0" marL="274320" rtl="0" algn="l">
              <a:lnSpc>
                <a:spcPct val="90000"/>
              </a:lnSpc>
              <a:spcBef>
                <a:spcPts val="600"/>
              </a:spcBef>
              <a:spcAft>
                <a:spcPts val="0"/>
              </a:spcAft>
              <a:buSzPts val="1680"/>
              <a:buNone/>
            </a:pPr>
            <a:r>
              <a:t/>
            </a:r>
            <a:endParaRPr/>
          </a:p>
          <a:p>
            <a:pPr indent="-274320" lvl="0" marL="274320" rtl="0" algn="l">
              <a:lnSpc>
                <a:spcPct val="90000"/>
              </a:lnSpc>
              <a:spcBef>
                <a:spcPts val="600"/>
              </a:spcBef>
              <a:spcAft>
                <a:spcPts val="0"/>
              </a:spcAft>
              <a:buSzPts val="1400"/>
              <a:buChar char="🞆"/>
            </a:pPr>
            <a:r>
              <a:rPr lang="en-US" sz="2000"/>
              <a:t>Views defined on multiple tables using joins are generally not updateable</a:t>
            </a:r>
            <a:endParaRPr sz="2000"/>
          </a:p>
        </p:txBody>
      </p:sp>
      <p:pic>
        <p:nvPicPr>
          <p:cNvPr id="850" name="Google Shape;850;p83"/>
          <p:cNvPicPr preferRelativeResize="0"/>
          <p:nvPr/>
        </p:nvPicPr>
        <p:blipFill rotWithShape="1">
          <a:blip r:embed="rId3">
            <a:alphaModFix/>
          </a:blip>
          <a:srcRect b="0" l="0" r="0" t="0"/>
          <a:stretch/>
        </p:blipFill>
        <p:spPr>
          <a:xfrm>
            <a:off x="2506531" y="2390950"/>
            <a:ext cx="3539884" cy="1022399"/>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84"/>
          <p:cNvSpPr txBox="1"/>
          <p:nvPr>
            <p:ph idx="4294967295" type="sldNum"/>
          </p:nvPr>
        </p:nvSpPr>
        <p:spPr>
          <a:xfrm>
            <a:off x="7153275" y="6386513"/>
            <a:ext cx="1905000" cy="3873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9-</a:t>
            </a:r>
            <a:fld id="{00000000-1234-1234-1234-123412341234}" type="slidenum">
              <a:rPr lang="en-US"/>
              <a:t>‹#›</a:t>
            </a:fld>
            <a:endParaRPr/>
          </a:p>
        </p:txBody>
      </p:sp>
      <p:sp>
        <p:nvSpPr>
          <p:cNvPr id="858" name="Google Shape;858;p8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SQL Triggers</a:t>
            </a:r>
            <a:endParaRPr/>
          </a:p>
        </p:txBody>
      </p:sp>
      <p:sp>
        <p:nvSpPr>
          <p:cNvPr id="859" name="Google Shape;859;p84"/>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680"/>
              <a:buChar char="🞆"/>
            </a:pPr>
            <a:r>
              <a:rPr lang="en-US"/>
              <a:t>Objective: to monitor a database and take action when a condition occurs</a:t>
            </a:r>
            <a:endParaRPr/>
          </a:p>
          <a:p>
            <a:pPr indent="-167640" lvl="0" marL="274320" rtl="0" algn="l">
              <a:lnSpc>
                <a:spcPct val="90000"/>
              </a:lnSpc>
              <a:spcBef>
                <a:spcPts val="600"/>
              </a:spcBef>
              <a:spcAft>
                <a:spcPts val="0"/>
              </a:spcAft>
              <a:buSzPts val="1680"/>
              <a:buNone/>
            </a:pPr>
            <a:r>
              <a:t/>
            </a:r>
            <a:endParaRPr/>
          </a:p>
          <a:p>
            <a:pPr indent="-274320" lvl="0" marL="274320" rtl="0" algn="l">
              <a:lnSpc>
                <a:spcPct val="90000"/>
              </a:lnSpc>
              <a:spcBef>
                <a:spcPts val="600"/>
              </a:spcBef>
              <a:spcAft>
                <a:spcPts val="0"/>
              </a:spcAft>
              <a:buSzPts val="1680"/>
              <a:buChar char="🞆"/>
            </a:pPr>
            <a:r>
              <a:rPr lang="en-US"/>
              <a:t>Triggers include the following:</a:t>
            </a:r>
            <a:endParaRPr/>
          </a:p>
          <a:p>
            <a:pPr indent="-274320" lvl="1" marL="640080" rtl="0" algn="l">
              <a:lnSpc>
                <a:spcPct val="90000"/>
              </a:lnSpc>
              <a:spcBef>
                <a:spcPts val="420"/>
              </a:spcBef>
              <a:spcAft>
                <a:spcPts val="0"/>
              </a:spcAft>
              <a:buSzPts val="1680"/>
              <a:buChar char="⚫"/>
            </a:pPr>
            <a:r>
              <a:rPr lang="en-US"/>
              <a:t>event (e.g., an update operation)</a:t>
            </a:r>
            <a:endParaRPr/>
          </a:p>
          <a:p>
            <a:pPr indent="-274320" lvl="1" marL="640080" rtl="0" algn="l">
              <a:lnSpc>
                <a:spcPct val="90000"/>
              </a:lnSpc>
              <a:spcBef>
                <a:spcPts val="420"/>
              </a:spcBef>
              <a:spcAft>
                <a:spcPts val="0"/>
              </a:spcAft>
              <a:buSzPts val="1680"/>
              <a:buChar char="⚫"/>
            </a:pPr>
            <a:r>
              <a:rPr lang="en-US"/>
              <a:t>condition</a:t>
            </a:r>
            <a:endParaRPr/>
          </a:p>
          <a:p>
            <a:pPr indent="-274320" lvl="1" marL="640080" rtl="0" algn="l">
              <a:lnSpc>
                <a:spcPct val="90000"/>
              </a:lnSpc>
              <a:spcBef>
                <a:spcPts val="420"/>
              </a:spcBef>
              <a:spcAft>
                <a:spcPts val="0"/>
              </a:spcAft>
              <a:buSzPts val="1680"/>
              <a:buChar char="⚫"/>
            </a:pPr>
            <a:r>
              <a:rPr lang="en-US"/>
              <a:t>action (to be taken when the condition is satisfied)</a:t>
            </a:r>
            <a:endParaRPr/>
          </a:p>
          <a:p>
            <a:pPr indent="-167640" lvl="0" marL="274320" rtl="0" algn="l">
              <a:lnSpc>
                <a:spcPct val="90000"/>
              </a:lnSpc>
              <a:spcBef>
                <a:spcPts val="600"/>
              </a:spcBef>
              <a:spcAft>
                <a:spcPts val="0"/>
              </a:spcAft>
              <a:buSzPts val="1680"/>
              <a:buNone/>
            </a:pPr>
            <a:r>
              <a:t/>
            </a:r>
            <a:endParaRPr/>
          </a:p>
          <a:p>
            <a:pPr indent="-274320" lvl="0" marL="274320" rtl="0" algn="l">
              <a:spcBef>
                <a:spcPts val="600"/>
              </a:spcBef>
              <a:spcAft>
                <a:spcPts val="0"/>
              </a:spcAft>
              <a:buSzPts val="1680"/>
              <a:buChar char="🞆"/>
            </a:pPr>
            <a:r>
              <a:rPr lang="en-US"/>
              <a:t>Triggers are classified into two main types:</a:t>
            </a:r>
            <a:endParaRPr/>
          </a:p>
          <a:p>
            <a:pPr indent="-274320" lvl="1" marL="640080" rtl="0" algn="l">
              <a:spcBef>
                <a:spcPts val="420"/>
              </a:spcBef>
              <a:spcAft>
                <a:spcPts val="0"/>
              </a:spcAft>
              <a:buSzPts val="1680"/>
              <a:buChar char="⚫"/>
            </a:pPr>
            <a:r>
              <a:rPr lang="en-US"/>
              <a:t>After Triggers (For Triggers)</a:t>
            </a:r>
            <a:endParaRPr/>
          </a:p>
          <a:p>
            <a:pPr indent="-274320" lvl="1" marL="640080" rtl="0" algn="l">
              <a:spcBef>
                <a:spcPts val="420"/>
              </a:spcBef>
              <a:spcAft>
                <a:spcPts val="0"/>
              </a:spcAft>
              <a:buSzPts val="1680"/>
              <a:buChar char="⚫"/>
            </a:pPr>
            <a:r>
              <a:rPr lang="en-US"/>
              <a:t>Instead Of Triggers</a:t>
            </a:r>
            <a:endParaRPr/>
          </a:p>
          <a:p>
            <a:pPr indent="-167640" lvl="1" marL="640080" rtl="0" algn="l">
              <a:lnSpc>
                <a:spcPct val="90000"/>
              </a:lnSpc>
              <a:spcBef>
                <a:spcPts val="420"/>
              </a:spcBef>
              <a:spcAft>
                <a:spcPts val="0"/>
              </a:spcAft>
              <a:buSzPts val="1680"/>
              <a:buNone/>
            </a:pPr>
            <a:r>
              <a:t/>
            </a:r>
            <a:endParaRPr/>
          </a:p>
          <a:p>
            <a:pPr indent="-167640" lvl="0" marL="274320" rtl="0" algn="l">
              <a:lnSpc>
                <a:spcPct val="90000"/>
              </a:lnSpc>
              <a:spcBef>
                <a:spcPts val="600"/>
              </a:spcBef>
              <a:spcAft>
                <a:spcPts val="0"/>
              </a:spcAft>
              <a:buSzPts val="1680"/>
              <a:buNone/>
            </a:pPr>
            <a:r>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85"/>
          <p:cNvSpPr txBox="1"/>
          <p:nvPr>
            <p:ph idx="4294967295" type="sldNum"/>
          </p:nvPr>
        </p:nvSpPr>
        <p:spPr>
          <a:xfrm>
            <a:off x="7153275" y="6386513"/>
            <a:ext cx="1905000" cy="3873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9-</a:t>
            </a:r>
            <a:fld id="{00000000-1234-1234-1234-123412341234}" type="slidenum">
              <a:rPr lang="en-US"/>
              <a:t>‹#›</a:t>
            </a:fld>
            <a:endParaRPr/>
          </a:p>
        </p:txBody>
      </p:sp>
      <p:sp>
        <p:nvSpPr>
          <p:cNvPr id="867" name="Google Shape;867;p8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SQL Triggers: An Example</a:t>
            </a:r>
            <a:endParaRPr/>
          </a:p>
        </p:txBody>
      </p:sp>
      <p:sp>
        <p:nvSpPr>
          <p:cNvPr id="868" name="Google Shape;868;p85"/>
          <p:cNvSpPr txBox="1"/>
          <p:nvPr>
            <p:ph idx="1" type="body"/>
          </p:nvPr>
        </p:nvSpPr>
        <p:spPr>
          <a:xfrm>
            <a:off x="457200" y="1600200"/>
            <a:ext cx="8432800" cy="4873752"/>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680"/>
              <a:buChar char="🞆"/>
            </a:pPr>
            <a:r>
              <a:rPr lang="en-US" sz="2400"/>
              <a:t>A trigger to compare an employee’s salary to his/her supervisor after insert or update operations:</a:t>
            </a:r>
            <a:endParaRPr/>
          </a:p>
          <a:p>
            <a:pPr indent="-274320" lvl="0" marL="274320" rtl="0" algn="l">
              <a:lnSpc>
                <a:spcPct val="90000"/>
              </a:lnSpc>
              <a:spcBef>
                <a:spcPts val="600"/>
              </a:spcBef>
              <a:spcAft>
                <a:spcPts val="0"/>
              </a:spcAft>
              <a:buSzPts val="1400"/>
              <a:buFont typeface="Noto Sans Symbols"/>
              <a:buNone/>
            </a:pPr>
            <a:r>
              <a:t/>
            </a:r>
            <a:endParaRPr sz="2000">
              <a:latin typeface="Courier New"/>
              <a:ea typeface="Courier New"/>
              <a:cs typeface="Courier New"/>
              <a:sym typeface="Courier New"/>
            </a:endParaRPr>
          </a:p>
          <a:p>
            <a:pPr indent="-274320" lvl="0" marL="274320" rtl="0" algn="l">
              <a:spcBef>
                <a:spcPts val="600"/>
              </a:spcBef>
              <a:spcAft>
                <a:spcPts val="0"/>
              </a:spcAft>
              <a:buSzPts val="1260"/>
              <a:buChar char="🞆"/>
            </a:pPr>
            <a:r>
              <a:rPr b="1" lang="en-US" sz="1800"/>
              <a:t>CREATE TRIGGER </a:t>
            </a:r>
            <a:r>
              <a:rPr lang="en-US" sz="1800"/>
              <a:t>Emp_Salary </a:t>
            </a:r>
            <a:r>
              <a:rPr b="1" lang="en-US" sz="1800"/>
              <a:t>ON</a:t>
            </a:r>
            <a:r>
              <a:rPr lang="en-US" sz="1800"/>
              <a:t> Employee</a:t>
            </a:r>
            <a:endParaRPr/>
          </a:p>
          <a:p>
            <a:pPr indent="0" lvl="0" marL="0" rtl="0" algn="l">
              <a:spcBef>
                <a:spcPts val="600"/>
              </a:spcBef>
              <a:spcAft>
                <a:spcPts val="0"/>
              </a:spcAft>
              <a:buSzPts val="1260"/>
              <a:buNone/>
            </a:pPr>
            <a:r>
              <a:rPr b="1" lang="en-US" sz="1800"/>
              <a:t>     FOR INSERT, UPDATE AS </a:t>
            </a:r>
            <a:endParaRPr/>
          </a:p>
          <a:p>
            <a:pPr indent="0" lvl="0" marL="0" rtl="0" algn="l">
              <a:spcBef>
                <a:spcPts val="600"/>
              </a:spcBef>
              <a:spcAft>
                <a:spcPts val="0"/>
              </a:spcAft>
              <a:buSzPts val="1260"/>
              <a:buNone/>
            </a:pPr>
            <a:r>
              <a:rPr lang="en-US" sz="1800"/>
              <a:t>     IF Exists (select * from inserted as i join employee as e on i.super_SSN= e.SSN </a:t>
            </a:r>
            <a:endParaRPr/>
          </a:p>
          <a:p>
            <a:pPr indent="0" lvl="0" marL="0" rtl="0" algn="l">
              <a:spcBef>
                <a:spcPts val="600"/>
              </a:spcBef>
              <a:spcAft>
                <a:spcPts val="0"/>
              </a:spcAft>
              <a:buSzPts val="1260"/>
              <a:buNone/>
            </a:pPr>
            <a:r>
              <a:rPr lang="en-US" sz="1800"/>
              <a:t>		where i.salary &gt; e.salary)</a:t>
            </a:r>
            <a:endParaRPr/>
          </a:p>
          <a:p>
            <a:pPr indent="0" lvl="0" marL="0" rtl="0" algn="l">
              <a:spcBef>
                <a:spcPts val="600"/>
              </a:spcBef>
              <a:spcAft>
                <a:spcPts val="0"/>
              </a:spcAft>
              <a:buSzPts val="1260"/>
              <a:buNone/>
            </a:pPr>
            <a:r>
              <a:rPr b="1" lang="en-US" sz="1800"/>
              <a:t>     BEGIN </a:t>
            </a:r>
            <a:r>
              <a:rPr lang="en-US" sz="1800"/>
              <a:t>PRINT ‘Employee salary is greater than the Supervisor Salary' </a:t>
            </a:r>
            <a:endParaRPr sz="1800"/>
          </a:p>
          <a:p>
            <a:pPr indent="0" lvl="0" marL="0" rtl="0" algn="l">
              <a:spcBef>
                <a:spcPts val="600"/>
              </a:spcBef>
              <a:spcAft>
                <a:spcPts val="0"/>
              </a:spcAft>
              <a:buSzPts val="1260"/>
              <a:buNone/>
            </a:pPr>
            <a:r>
              <a:rPr b="1" lang="en-US" sz="1800"/>
              <a:t>     END</a:t>
            </a:r>
            <a:r>
              <a:rPr lang="en-US" sz="1800"/>
              <a:t> </a:t>
            </a:r>
            <a:endParaRPr sz="1800"/>
          </a:p>
          <a:p>
            <a:pPr indent="0" lvl="0" marL="0" rtl="0" algn="l">
              <a:spcBef>
                <a:spcPts val="600"/>
              </a:spcBef>
              <a:spcAft>
                <a:spcPts val="0"/>
              </a:spcAft>
              <a:buSzPts val="1260"/>
              <a:buNone/>
            </a:pPr>
            <a:r>
              <a:rPr lang="en-US" sz="1800"/>
              <a:t> </a:t>
            </a:r>
            <a:endParaRPr sz="1800"/>
          </a:p>
          <a:p>
            <a:pPr indent="0" lvl="0" marL="0" rtl="0" algn="l">
              <a:spcBef>
                <a:spcPts val="600"/>
              </a:spcBef>
              <a:spcAft>
                <a:spcPts val="0"/>
              </a:spcAft>
              <a:buSzPts val="1260"/>
              <a:buNone/>
            </a:pPr>
            <a:r>
              <a:rPr lang="en-US" sz="1800"/>
              <a:t>INSERT INTO EMPLOYEE (FNAME, LNAME, SSN, Super_SSN, Salary)  VALUES ('Richard', 'Marini', '653298653','123456789',500000)</a:t>
            </a:r>
            <a:endParaRPr sz="1800">
              <a:latin typeface="Courier New"/>
              <a:ea typeface="Courier New"/>
              <a:cs typeface="Courier New"/>
              <a:sym typeface="Courier New"/>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8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600"/>
              <a:buFont typeface="Calibri"/>
              <a:buNone/>
            </a:pPr>
            <a:r>
              <a:rPr b="1" lang="en-US" sz="3600"/>
              <a:t>Example: Boat Rental database </a:t>
            </a:r>
            <a:endParaRPr/>
          </a:p>
        </p:txBody>
      </p:sp>
      <p:sp>
        <p:nvSpPr>
          <p:cNvPr id="876" name="Google Shape;876;p86"/>
          <p:cNvSpPr txBox="1"/>
          <p:nvPr>
            <p:ph idx="1" type="body"/>
          </p:nvPr>
        </p:nvSpPr>
        <p:spPr>
          <a:xfrm>
            <a:off x="457199" y="1600200"/>
            <a:ext cx="8281417" cy="4873752"/>
          </a:xfrm>
          <a:prstGeom prst="rect">
            <a:avLst/>
          </a:prstGeom>
          <a:noFill/>
          <a:ln>
            <a:noFill/>
          </a:ln>
        </p:spPr>
        <p:txBody>
          <a:bodyPr anchorCtr="0" anchor="t" bIns="45700" lIns="91425" spcFirstLastPara="1" rIns="91425" wrap="square" tIns="45700">
            <a:normAutofit fontScale="92500" lnSpcReduction="10000"/>
          </a:bodyPr>
          <a:lstStyle/>
          <a:p>
            <a:pPr indent="-175641" lvl="0" marL="274320" rtl="0" algn="l">
              <a:lnSpc>
                <a:spcPct val="90000"/>
              </a:lnSpc>
              <a:spcBef>
                <a:spcPts val="0"/>
              </a:spcBef>
              <a:spcAft>
                <a:spcPts val="0"/>
              </a:spcAft>
              <a:buSzPct val="70000"/>
              <a:buNone/>
            </a:pPr>
            <a:r>
              <a:t/>
            </a:r>
            <a:endParaRPr/>
          </a:p>
          <a:p>
            <a:pPr indent="-274320" lvl="0" marL="274320" rtl="0" algn="l">
              <a:spcBef>
                <a:spcPts val="600"/>
              </a:spcBef>
              <a:spcAft>
                <a:spcPts val="0"/>
              </a:spcAft>
              <a:buSzPct val="70000"/>
              <a:buChar char="🞆"/>
            </a:pPr>
            <a:r>
              <a:rPr b="1" lang="en-US"/>
              <a:t>Consider the following Boat Rental database schema:</a:t>
            </a:r>
            <a:endParaRPr/>
          </a:p>
          <a:p>
            <a:pPr indent="-274320" lvl="1" marL="640080" rtl="0" algn="l">
              <a:spcBef>
                <a:spcPts val="407"/>
              </a:spcBef>
              <a:spcAft>
                <a:spcPts val="0"/>
              </a:spcAft>
              <a:buSzPct val="80000"/>
              <a:buChar char="⚫"/>
            </a:pPr>
            <a:r>
              <a:rPr lang="en-US" sz="2200"/>
              <a:t>SAILOR (</a:t>
            </a:r>
            <a:r>
              <a:rPr lang="en-US" sz="2200" u="sng"/>
              <a:t>SID</a:t>
            </a:r>
            <a:r>
              <a:rPr lang="en-US" sz="2200"/>
              <a:t>, SName, Phone, City)</a:t>
            </a:r>
            <a:endParaRPr/>
          </a:p>
          <a:p>
            <a:pPr indent="-274320" lvl="1" marL="640080" rtl="0" algn="l">
              <a:spcBef>
                <a:spcPts val="407"/>
              </a:spcBef>
              <a:spcAft>
                <a:spcPts val="0"/>
              </a:spcAft>
              <a:buSzPct val="80000"/>
              <a:buChar char="⚫"/>
            </a:pPr>
            <a:r>
              <a:rPr lang="en-US" sz="2200"/>
              <a:t>BOAT (</a:t>
            </a:r>
            <a:r>
              <a:rPr lang="en-US" sz="2200" u="sng"/>
              <a:t>BName</a:t>
            </a:r>
            <a:r>
              <a:rPr lang="en-US" sz="2200"/>
              <a:t>, BType, Price, OID) </a:t>
            </a:r>
            <a:endParaRPr/>
          </a:p>
          <a:p>
            <a:pPr indent="-274320" lvl="1" marL="640080" rtl="0" algn="l">
              <a:spcBef>
                <a:spcPts val="407"/>
              </a:spcBef>
              <a:spcAft>
                <a:spcPts val="0"/>
              </a:spcAft>
              <a:buSzPct val="80000"/>
              <a:buChar char="⚫"/>
            </a:pPr>
            <a:r>
              <a:rPr lang="en-US" sz="2200"/>
              <a:t>RESERVATION (</a:t>
            </a:r>
            <a:r>
              <a:rPr lang="en-US" sz="2200" u="sng"/>
              <a:t>SID, BName</a:t>
            </a:r>
            <a:r>
              <a:rPr lang="en-US" sz="2200"/>
              <a:t>, Date, Duration)</a:t>
            </a:r>
            <a:endParaRPr/>
          </a:p>
          <a:p>
            <a:pPr indent="-274320" lvl="1" marL="640080" rtl="0" algn="l">
              <a:spcBef>
                <a:spcPts val="407"/>
              </a:spcBef>
              <a:spcAft>
                <a:spcPts val="0"/>
              </a:spcAft>
              <a:buSzPct val="80000"/>
              <a:buChar char="⚫"/>
            </a:pPr>
            <a:r>
              <a:rPr lang="en-US" sz="2200"/>
              <a:t>OWNER (</a:t>
            </a:r>
            <a:r>
              <a:rPr lang="en-US" sz="2200" u="sng"/>
              <a:t>OID</a:t>
            </a:r>
            <a:r>
              <a:rPr lang="en-US" sz="2200"/>
              <a:t>, OName, Phone, Street, City, Country)</a:t>
            </a:r>
            <a:endParaRPr/>
          </a:p>
          <a:p>
            <a:pPr indent="-175641" lvl="0" marL="274320" rtl="0" algn="l">
              <a:lnSpc>
                <a:spcPct val="90000"/>
              </a:lnSpc>
              <a:spcBef>
                <a:spcPts val="600"/>
              </a:spcBef>
              <a:spcAft>
                <a:spcPts val="0"/>
              </a:spcAft>
              <a:buSzPct val="70000"/>
              <a:buNone/>
            </a:pPr>
            <a:r>
              <a:t/>
            </a:r>
            <a:endParaRPr/>
          </a:p>
          <a:p>
            <a:pPr indent="-274320" lvl="0" marL="274320" rtl="0" algn="l">
              <a:lnSpc>
                <a:spcPct val="90000"/>
              </a:lnSpc>
              <a:spcBef>
                <a:spcPts val="600"/>
              </a:spcBef>
              <a:spcAft>
                <a:spcPts val="0"/>
              </a:spcAft>
              <a:buSzPct val="70000"/>
              <a:buChar char="🞆"/>
            </a:pPr>
            <a:r>
              <a:rPr lang="en-US"/>
              <a:t>SELECT DISTINCT  Bname</a:t>
            </a:r>
            <a:endParaRPr/>
          </a:p>
          <a:p>
            <a:pPr indent="-274320" lvl="0" marL="274320" rtl="0" algn="l">
              <a:lnSpc>
                <a:spcPct val="90000"/>
              </a:lnSpc>
              <a:spcBef>
                <a:spcPts val="600"/>
              </a:spcBef>
              <a:spcAft>
                <a:spcPts val="0"/>
              </a:spcAft>
              <a:buSzPct val="70000"/>
              <a:buChar char="🞆"/>
            </a:pPr>
            <a:r>
              <a:rPr lang="en-US"/>
              <a:t>FROM     BOAT </a:t>
            </a:r>
            <a:endParaRPr/>
          </a:p>
          <a:p>
            <a:pPr indent="-274320" lvl="0" marL="274320" rtl="0" algn="l">
              <a:lnSpc>
                <a:spcPct val="90000"/>
              </a:lnSpc>
              <a:spcBef>
                <a:spcPts val="600"/>
              </a:spcBef>
              <a:spcAft>
                <a:spcPts val="0"/>
              </a:spcAft>
              <a:buSzPct val="70000"/>
              <a:buChar char="🞆"/>
            </a:pPr>
            <a:r>
              <a:rPr lang="en-US"/>
              <a:t>WHERE  Price &gt; ALL  (SELECT  price</a:t>
            </a:r>
            <a:endParaRPr/>
          </a:p>
          <a:p>
            <a:pPr indent="0" lvl="0" marL="0" rtl="0" algn="l">
              <a:lnSpc>
                <a:spcPct val="90000"/>
              </a:lnSpc>
              <a:spcBef>
                <a:spcPts val="600"/>
              </a:spcBef>
              <a:spcAft>
                <a:spcPts val="0"/>
              </a:spcAft>
              <a:buSzPct val="70000"/>
              <a:buNone/>
            </a:pPr>
            <a:r>
              <a:rPr lang="en-US"/>
              <a:t>                                           FROM    BOAT b , OWNER o</a:t>
            </a:r>
            <a:endParaRPr/>
          </a:p>
          <a:p>
            <a:pPr indent="0" lvl="0" marL="0" rtl="0" algn="l">
              <a:lnSpc>
                <a:spcPct val="90000"/>
              </a:lnSpc>
              <a:spcBef>
                <a:spcPts val="600"/>
              </a:spcBef>
              <a:spcAft>
                <a:spcPts val="0"/>
              </a:spcAft>
              <a:buSzPct val="70000"/>
              <a:buNone/>
            </a:pPr>
            <a:r>
              <a:rPr lang="en-US"/>
              <a:t>	                              WHERE b.oid=o.oid and 							Country=‘Pakistan’ )</a:t>
            </a:r>
            <a:endParaRPr/>
          </a:p>
          <a:p>
            <a:pPr indent="0" lvl="0" marL="0" rtl="0" algn="l">
              <a:lnSpc>
                <a:spcPct val="90000"/>
              </a:lnSpc>
              <a:spcBef>
                <a:spcPts val="600"/>
              </a:spcBef>
              <a:spcAft>
                <a:spcPts val="0"/>
              </a:spcAft>
              <a:buSzPct val="70000"/>
              <a:buNone/>
            </a:pPr>
            <a:r>
              <a:rPr b="1" lang="en-US"/>
              <a:t>What does the query do?</a:t>
            </a:r>
            <a:endParaRPr b="1"/>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8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600"/>
              <a:buFont typeface="Calibri"/>
              <a:buNone/>
            </a:pPr>
            <a:r>
              <a:rPr b="1" lang="en-US" sz="3600"/>
              <a:t>Example: Boat Rental database </a:t>
            </a:r>
            <a:endParaRPr/>
          </a:p>
        </p:txBody>
      </p:sp>
      <p:sp>
        <p:nvSpPr>
          <p:cNvPr id="884" name="Google Shape;884;p87"/>
          <p:cNvSpPr txBox="1"/>
          <p:nvPr>
            <p:ph idx="1" type="body"/>
          </p:nvPr>
        </p:nvSpPr>
        <p:spPr>
          <a:xfrm>
            <a:off x="457199" y="1600200"/>
            <a:ext cx="8281417" cy="4873752"/>
          </a:xfrm>
          <a:prstGeom prst="rect">
            <a:avLst/>
          </a:prstGeom>
          <a:noFill/>
          <a:ln>
            <a:noFill/>
          </a:ln>
        </p:spPr>
        <p:txBody>
          <a:bodyPr anchorCtr="0" anchor="t" bIns="45700" lIns="91425" spcFirstLastPara="1" rIns="91425" wrap="square" tIns="45700">
            <a:normAutofit fontScale="92500" lnSpcReduction="20000"/>
          </a:bodyPr>
          <a:lstStyle/>
          <a:p>
            <a:pPr indent="-175641" lvl="0" marL="274320" rtl="0" algn="l">
              <a:lnSpc>
                <a:spcPct val="90000"/>
              </a:lnSpc>
              <a:spcBef>
                <a:spcPts val="0"/>
              </a:spcBef>
              <a:spcAft>
                <a:spcPts val="0"/>
              </a:spcAft>
              <a:buSzPct val="70000"/>
              <a:buNone/>
            </a:pPr>
            <a:r>
              <a:t/>
            </a:r>
            <a:endParaRPr/>
          </a:p>
          <a:p>
            <a:pPr indent="-274320" lvl="0" marL="274320" rtl="0" algn="l">
              <a:spcBef>
                <a:spcPts val="600"/>
              </a:spcBef>
              <a:spcAft>
                <a:spcPts val="0"/>
              </a:spcAft>
              <a:buSzPct val="70000"/>
              <a:buChar char="🞆"/>
            </a:pPr>
            <a:r>
              <a:rPr b="1" lang="en-US"/>
              <a:t>Consider the following Boat Rental database schema:</a:t>
            </a:r>
            <a:endParaRPr/>
          </a:p>
          <a:p>
            <a:pPr indent="-274320" lvl="1" marL="640080" rtl="0" algn="l">
              <a:spcBef>
                <a:spcPts val="407"/>
              </a:spcBef>
              <a:spcAft>
                <a:spcPts val="0"/>
              </a:spcAft>
              <a:buSzPct val="80000"/>
              <a:buChar char="⚫"/>
            </a:pPr>
            <a:r>
              <a:rPr lang="en-US" sz="2200"/>
              <a:t>SAILOR (</a:t>
            </a:r>
            <a:r>
              <a:rPr lang="en-US" sz="2200" u="sng"/>
              <a:t>SID</a:t>
            </a:r>
            <a:r>
              <a:rPr lang="en-US" sz="2200"/>
              <a:t>, SName, Phone, City)</a:t>
            </a:r>
            <a:endParaRPr/>
          </a:p>
          <a:p>
            <a:pPr indent="-274320" lvl="1" marL="640080" rtl="0" algn="l">
              <a:spcBef>
                <a:spcPts val="407"/>
              </a:spcBef>
              <a:spcAft>
                <a:spcPts val="0"/>
              </a:spcAft>
              <a:buSzPct val="80000"/>
              <a:buChar char="⚫"/>
            </a:pPr>
            <a:r>
              <a:rPr lang="en-US" sz="2200"/>
              <a:t>BOAT (</a:t>
            </a:r>
            <a:r>
              <a:rPr lang="en-US" sz="2200" u="sng"/>
              <a:t>BName</a:t>
            </a:r>
            <a:r>
              <a:rPr lang="en-US" sz="2200"/>
              <a:t>, BType, Price, OID) </a:t>
            </a:r>
            <a:endParaRPr/>
          </a:p>
          <a:p>
            <a:pPr indent="-274320" lvl="1" marL="640080" rtl="0" algn="l">
              <a:spcBef>
                <a:spcPts val="407"/>
              </a:spcBef>
              <a:spcAft>
                <a:spcPts val="0"/>
              </a:spcAft>
              <a:buSzPct val="80000"/>
              <a:buChar char="⚫"/>
            </a:pPr>
            <a:r>
              <a:rPr lang="en-US" sz="2200"/>
              <a:t>RESERVATION (</a:t>
            </a:r>
            <a:r>
              <a:rPr lang="en-US" sz="2200" u="sng"/>
              <a:t>SID, BName</a:t>
            </a:r>
            <a:r>
              <a:rPr lang="en-US" sz="2200"/>
              <a:t>, Date, Duration)</a:t>
            </a:r>
            <a:endParaRPr/>
          </a:p>
          <a:p>
            <a:pPr indent="-274320" lvl="1" marL="640080" rtl="0" algn="l">
              <a:spcBef>
                <a:spcPts val="407"/>
              </a:spcBef>
              <a:spcAft>
                <a:spcPts val="0"/>
              </a:spcAft>
              <a:buSzPct val="80000"/>
              <a:buChar char="⚫"/>
            </a:pPr>
            <a:r>
              <a:rPr lang="en-US" sz="2200"/>
              <a:t>OWNER (</a:t>
            </a:r>
            <a:r>
              <a:rPr lang="en-US" sz="2200" u="sng"/>
              <a:t>OID</a:t>
            </a:r>
            <a:r>
              <a:rPr lang="en-US" sz="2200"/>
              <a:t>, OName, Phone, Street, City, Country)</a:t>
            </a:r>
            <a:endParaRPr/>
          </a:p>
          <a:p>
            <a:pPr indent="-175641" lvl="0" marL="274320" rtl="0" algn="l">
              <a:lnSpc>
                <a:spcPct val="90000"/>
              </a:lnSpc>
              <a:spcBef>
                <a:spcPts val="600"/>
              </a:spcBef>
              <a:spcAft>
                <a:spcPts val="0"/>
              </a:spcAft>
              <a:buSzPct val="70000"/>
              <a:buNone/>
            </a:pPr>
            <a:r>
              <a:t/>
            </a:r>
            <a:endParaRPr/>
          </a:p>
          <a:p>
            <a:pPr indent="-274320" lvl="0" marL="274320" rtl="0" algn="l">
              <a:spcBef>
                <a:spcPts val="600"/>
              </a:spcBef>
              <a:spcAft>
                <a:spcPts val="0"/>
              </a:spcAft>
              <a:buSzPct val="70000"/>
              <a:buChar char="🞆"/>
            </a:pPr>
            <a:r>
              <a:rPr lang="en-US"/>
              <a:t>Select bname,count(*) </a:t>
            </a:r>
            <a:endParaRPr/>
          </a:p>
          <a:p>
            <a:pPr indent="-274320" lvl="0" marL="274320" rtl="0" algn="l">
              <a:spcBef>
                <a:spcPts val="600"/>
              </a:spcBef>
              <a:spcAft>
                <a:spcPts val="0"/>
              </a:spcAft>
              <a:buSzPct val="70000"/>
              <a:buChar char="🞆"/>
            </a:pPr>
            <a:r>
              <a:rPr lang="en-US"/>
              <a:t>From reservation r ,boat b,owner o</a:t>
            </a:r>
            <a:endParaRPr/>
          </a:p>
          <a:p>
            <a:pPr indent="-274320" lvl="0" marL="274320" rtl="0" algn="l">
              <a:spcBef>
                <a:spcPts val="600"/>
              </a:spcBef>
              <a:spcAft>
                <a:spcPts val="0"/>
              </a:spcAft>
              <a:buSzPct val="70000"/>
              <a:buChar char="🞆"/>
            </a:pPr>
            <a:r>
              <a:rPr lang="en-US"/>
              <a:t>Where b.bname=r.bname and b. oid=o.oid and country=‘Pakistan’</a:t>
            </a:r>
            <a:endParaRPr/>
          </a:p>
          <a:p>
            <a:pPr indent="-274320" lvl="0" marL="274320" rtl="0" algn="l">
              <a:spcBef>
                <a:spcPts val="600"/>
              </a:spcBef>
              <a:spcAft>
                <a:spcPts val="0"/>
              </a:spcAft>
              <a:buSzPct val="70000"/>
              <a:buChar char="🞆"/>
            </a:pPr>
            <a:r>
              <a:rPr lang="en-US"/>
              <a:t>Group by bname</a:t>
            </a:r>
            <a:endParaRPr/>
          </a:p>
          <a:p>
            <a:pPr indent="-274320" lvl="0" marL="274320" rtl="0" algn="l">
              <a:spcBef>
                <a:spcPts val="600"/>
              </a:spcBef>
              <a:spcAft>
                <a:spcPts val="0"/>
              </a:spcAft>
              <a:buSzPct val="70000"/>
              <a:buChar char="🞆"/>
            </a:pPr>
            <a:r>
              <a:rPr lang="en-US"/>
              <a:t>Having count(*) &gt; 5</a:t>
            </a:r>
            <a:endParaRPr/>
          </a:p>
          <a:p>
            <a:pPr indent="-175641" lvl="0" marL="274320" rtl="0" algn="l">
              <a:lnSpc>
                <a:spcPct val="90000"/>
              </a:lnSpc>
              <a:spcBef>
                <a:spcPts val="600"/>
              </a:spcBef>
              <a:spcAft>
                <a:spcPts val="0"/>
              </a:spcAft>
              <a:buSzPct val="70000"/>
              <a:buNone/>
            </a:pPr>
            <a:r>
              <a:t/>
            </a:r>
            <a:endParaRPr/>
          </a:p>
          <a:p>
            <a:pPr indent="0" lvl="0" marL="0" rtl="0" algn="l">
              <a:lnSpc>
                <a:spcPct val="90000"/>
              </a:lnSpc>
              <a:spcBef>
                <a:spcPts val="600"/>
              </a:spcBef>
              <a:spcAft>
                <a:spcPts val="0"/>
              </a:spcAft>
              <a:buSzPct val="70000"/>
              <a:buNone/>
            </a:pPr>
            <a:r>
              <a:rPr b="1" lang="en-US"/>
              <a:t>What does the query do?</a:t>
            </a:r>
            <a:endParaRPr b="1"/>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8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4000"/>
              <a:buFont typeface="Calibri"/>
              <a:buNone/>
            </a:pPr>
            <a:r>
              <a:rPr b="1" lang="en-US" sz="4000"/>
              <a:t>Example: Boat Rental database </a:t>
            </a:r>
            <a:endParaRPr/>
          </a:p>
        </p:txBody>
      </p:sp>
      <p:sp>
        <p:nvSpPr>
          <p:cNvPr id="890" name="Google Shape;890;p88"/>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1680"/>
              <a:buChar char="🞆"/>
            </a:pPr>
            <a:r>
              <a:rPr lang="en-US"/>
              <a:t>Consider the following schema</a:t>
            </a:r>
            <a:endParaRPr/>
          </a:p>
          <a:p>
            <a:pPr indent="-274320" lvl="1" marL="640080" rtl="0" algn="l">
              <a:spcBef>
                <a:spcPts val="420"/>
              </a:spcBef>
              <a:spcAft>
                <a:spcPts val="0"/>
              </a:spcAft>
              <a:buSzPts val="1680"/>
              <a:buChar char="⚫"/>
            </a:pPr>
            <a:r>
              <a:rPr lang="en-US"/>
              <a:t>SAILOR (</a:t>
            </a:r>
            <a:r>
              <a:rPr lang="en-US" u="sng"/>
              <a:t>SID</a:t>
            </a:r>
            <a:r>
              <a:rPr lang="en-US"/>
              <a:t>, SName, Phone, City)</a:t>
            </a:r>
            <a:endParaRPr/>
          </a:p>
          <a:p>
            <a:pPr indent="-274320" lvl="1" marL="640080" rtl="0" algn="l">
              <a:spcBef>
                <a:spcPts val="420"/>
              </a:spcBef>
              <a:spcAft>
                <a:spcPts val="0"/>
              </a:spcAft>
              <a:buSzPts val="1680"/>
              <a:buChar char="⚫"/>
            </a:pPr>
            <a:r>
              <a:rPr lang="en-US"/>
              <a:t>BOAT (</a:t>
            </a:r>
            <a:r>
              <a:rPr lang="en-US" u="sng"/>
              <a:t>BName</a:t>
            </a:r>
            <a:r>
              <a:rPr lang="en-US"/>
              <a:t>, BType, Price, OID) </a:t>
            </a:r>
            <a:endParaRPr/>
          </a:p>
          <a:p>
            <a:pPr indent="-274320" lvl="1" marL="640080" rtl="0" algn="l">
              <a:spcBef>
                <a:spcPts val="420"/>
              </a:spcBef>
              <a:spcAft>
                <a:spcPts val="0"/>
              </a:spcAft>
              <a:buSzPts val="1680"/>
              <a:buChar char="⚫"/>
            </a:pPr>
            <a:r>
              <a:rPr lang="en-US"/>
              <a:t>RESERVATION (</a:t>
            </a:r>
            <a:r>
              <a:rPr lang="en-US" u="sng"/>
              <a:t>SID, BName</a:t>
            </a:r>
            <a:r>
              <a:rPr lang="en-US"/>
              <a:t>, Date, Duration)</a:t>
            </a:r>
            <a:endParaRPr/>
          </a:p>
          <a:p>
            <a:pPr indent="-274320" lvl="1" marL="640080" rtl="0" algn="l">
              <a:spcBef>
                <a:spcPts val="420"/>
              </a:spcBef>
              <a:spcAft>
                <a:spcPts val="0"/>
              </a:spcAft>
              <a:buSzPts val="1680"/>
              <a:buChar char="⚫"/>
            </a:pPr>
            <a:r>
              <a:rPr lang="en-US"/>
              <a:t>OWNER (</a:t>
            </a:r>
            <a:r>
              <a:rPr lang="en-US" u="sng"/>
              <a:t>OID</a:t>
            </a:r>
            <a:r>
              <a:rPr lang="en-US"/>
              <a:t>, OName, Phone, Street, City, Country)</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b="1" lang="en-US"/>
              <a:t>Find the names of boats that are reserved by at least ten different sailors.</a:t>
            </a:r>
            <a:endParaRPr/>
          </a:p>
          <a:p>
            <a:pPr indent="-274320" lvl="0" marL="274320" rtl="0" algn="l">
              <a:spcBef>
                <a:spcPts val="600"/>
              </a:spcBef>
              <a:spcAft>
                <a:spcPts val="0"/>
              </a:spcAft>
              <a:buSzPts val="1680"/>
              <a:buChar char="🞆"/>
            </a:pPr>
            <a:r>
              <a:rPr lang="en-US"/>
              <a:t>         Select bname</a:t>
            </a:r>
            <a:endParaRPr/>
          </a:p>
          <a:p>
            <a:pPr indent="0" lvl="0" marL="0" rtl="0" algn="l">
              <a:spcBef>
                <a:spcPts val="600"/>
              </a:spcBef>
              <a:spcAft>
                <a:spcPts val="0"/>
              </a:spcAft>
              <a:buSzPts val="1680"/>
              <a:buNone/>
            </a:pPr>
            <a:r>
              <a:rPr lang="en-US"/>
              <a:t>    	From reservation r  </a:t>
            </a:r>
            <a:endParaRPr/>
          </a:p>
          <a:p>
            <a:pPr indent="0" lvl="0" marL="0" rtl="0" algn="l">
              <a:spcBef>
                <a:spcPts val="600"/>
              </a:spcBef>
              <a:spcAft>
                <a:spcPts val="0"/>
              </a:spcAft>
              <a:buSzPts val="1680"/>
              <a:buNone/>
            </a:pPr>
            <a:r>
              <a:rPr lang="en-US"/>
              <a:t>	Group by bname</a:t>
            </a:r>
            <a:endParaRPr/>
          </a:p>
          <a:p>
            <a:pPr indent="0" lvl="0" marL="0" rtl="0" algn="l">
              <a:spcBef>
                <a:spcPts val="600"/>
              </a:spcBef>
              <a:spcAft>
                <a:spcPts val="0"/>
              </a:spcAft>
              <a:buSzPts val="1680"/>
              <a:buNone/>
            </a:pPr>
            <a:r>
              <a:rPr lang="en-US"/>
              <a:t>	Having count(DISTINCT SID) &gt;9</a:t>
            </a:r>
            <a:endParaRPr/>
          </a:p>
          <a:p>
            <a:pPr indent="0" lvl="0" marL="0" rtl="0" algn="l">
              <a:spcBef>
                <a:spcPts val="600"/>
              </a:spcBef>
              <a:spcAft>
                <a:spcPts val="0"/>
              </a:spcAft>
              <a:buSzPts val="1680"/>
              <a:buNone/>
            </a:pPr>
            <a:r>
              <a:t/>
            </a:r>
            <a:endParaRPr/>
          </a:p>
          <a:p>
            <a:pPr indent="-167640" lvl="0" marL="274320" rtl="0" algn="l">
              <a:spcBef>
                <a:spcPts val="600"/>
              </a:spcBef>
              <a:spcAft>
                <a:spcPts val="0"/>
              </a:spcAft>
              <a:buSzPts val="1680"/>
              <a:buNone/>
            </a:pPr>
            <a:r>
              <a:t/>
            </a:r>
            <a:endParaRPr/>
          </a:p>
        </p:txBody>
      </p:sp>
      <p:sp>
        <p:nvSpPr>
          <p:cNvPr id="891" name="Google Shape;891;p8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8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4000"/>
              <a:buFont typeface="Calibri"/>
              <a:buNone/>
            </a:pPr>
            <a:r>
              <a:rPr b="1" lang="en-US" sz="4000"/>
              <a:t>Example: Boat Rental database </a:t>
            </a:r>
            <a:endParaRPr/>
          </a:p>
        </p:txBody>
      </p:sp>
      <p:sp>
        <p:nvSpPr>
          <p:cNvPr id="899" name="Google Shape;899;p89"/>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Consider the following schema</a:t>
            </a:r>
            <a:endParaRPr/>
          </a:p>
          <a:p>
            <a:pPr indent="-274320" lvl="1" marL="640080" rtl="0" algn="l">
              <a:spcBef>
                <a:spcPts val="480"/>
              </a:spcBef>
              <a:spcAft>
                <a:spcPts val="0"/>
              </a:spcAft>
              <a:buSzPts val="1920"/>
              <a:buChar char="⚫"/>
            </a:pPr>
            <a:r>
              <a:rPr lang="en-US" sz="2400"/>
              <a:t>SAILOR (</a:t>
            </a:r>
            <a:r>
              <a:rPr lang="en-US" sz="2400" u="sng"/>
              <a:t>SID</a:t>
            </a:r>
            <a:r>
              <a:rPr lang="en-US" sz="2400"/>
              <a:t>, SName, Phone, City)</a:t>
            </a:r>
            <a:endParaRPr/>
          </a:p>
          <a:p>
            <a:pPr indent="-274320" lvl="1" marL="640080" rtl="0" algn="l">
              <a:spcBef>
                <a:spcPts val="480"/>
              </a:spcBef>
              <a:spcAft>
                <a:spcPts val="0"/>
              </a:spcAft>
              <a:buSzPts val="1920"/>
              <a:buChar char="⚫"/>
            </a:pPr>
            <a:r>
              <a:rPr lang="en-US" sz="2400"/>
              <a:t>BOAT (</a:t>
            </a:r>
            <a:r>
              <a:rPr lang="en-US" sz="2400" u="sng"/>
              <a:t>BName</a:t>
            </a:r>
            <a:r>
              <a:rPr lang="en-US" sz="2400"/>
              <a:t>, BType, Price, OID) </a:t>
            </a:r>
            <a:endParaRPr/>
          </a:p>
          <a:p>
            <a:pPr indent="-274320" lvl="1" marL="640080" rtl="0" algn="l">
              <a:spcBef>
                <a:spcPts val="480"/>
              </a:spcBef>
              <a:spcAft>
                <a:spcPts val="0"/>
              </a:spcAft>
              <a:buSzPts val="1920"/>
              <a:buChar char="⚫"/>
            </a:pPr>
            <a:r>
              <a:rPr lang="en-US" sz="2400"/>
              <a:t>RESERVATION (</a:t>
            </a:r>
            <a:r>
              <a:rPr lang="en-US" sz="2400" u="sng"/>
              <a:t>SID, BName</a:t>
            </a:r>
            <a:r>
              <a:rPr lang="en-US" sz="2400"/>
              <a:t>, Date, Duration)</a:t>
            </a:r>
            <a:endParaRPr/>
          </a:p>
          <a:p>
            <a:pPr indent="-274320" lvl="1" marL="640080" rtl="0" algn="l">
              <a:spcBef>
                <a:spcPts val="480"/>
              </a:spcBef>
              <a:spcAft>
                <a:spcPts val="0"/>
              </a:spcAft>
              <a:buSzPts val="1920"/>
              <a:buChar char="⚫"/>
            </a:pPr>
            <a:r>
              <a:rPr lang="en-US" sz="2400"/>
              <a:t>OWNER (</a:t>
            </a:r>
            <a:r>
              <a:rPr lang="en-US" sz="2400" u="sng"/>
              <a:t>OID</a:t>
            </a:r>
            <a:r>
              <a:rPr lang="en-US" sz="2400"/>
              <a:t>, OName, Phone, Street, City, Country)</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b="1" lang="en-US"/>
              <a:t>List name, owner name, and price of the boats which were reserved in 2007 but not in 2008.</a:t>
            </a:r>
            <a:endParaRPr/>
          </a:p>
          <a:p>
            <a:pPr indent="-167640" lvl="0" marL="274320" rtl="0" algn="l">
              <a:spcBef>
                <a:spcPts val="600"/>
              </a:spcBef>
              <a:spcAft>
                <a:spcPts val="0"/>
              </a:spcAft>
              <a:buSzPts val="1680"/>
              <a:buNone/>
            </a:pPr>
            <a:r>
              <a:t/>
            </a:r>
            <a:endParaRPr/>
          </a:p>
          <a:p>
            <a:pPr indent="-167640" lvl="0" marL="274320" rtl="0" algn="l">
              <a:spcBef>
                <a:spcPts val="600"/>
              </a:spcBef>
              <a:spcAft>
                <a:spcPts val="0"/>
              </a:spcAft>
              <a:buSzPts val="1680"/>
              <a:buNone/>
            </a:pPr>
            <a:r>
              <a:t/>
            </a:r>
            <a:endParaRPr/>
          </a:p>
        </p:txBody>
      </p:sp>
      <p:sp>
        <p:nvSpPr>
          <p:cNvPr id="900" name="Google Shape;900;p8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90"/>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4000"/>
              <a:buFont typeface="Calibri"/>
              <a:buNone/>
            </a:pPr>
            <a:r>
              <a:rPr b="1" lang="en-US" sz="4000"/>
              <a:t>Example: Boat Rental database </a:t>
            </a:r>
            <a:endParaRPr/>
          </a:p>
        </p:txBody>
      </p:sp>
      <p:sp>
        <p:nvSpPr>
          <p:cNvPr id="906" name="Google Shape;906;p90"/>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l">
              <a:spcBef>
                <a:spcPts val="0"/>
              </a:spcBef>
              <a:spcAft>
                <a:spcPts val="0"/>
              </a:spcAft>
              <a:buSzPct val="70000"/>
              <a:buChar char="🞆"/>
            </a:pPr>
            <a:r>
              <a:rPr lang="en-US"/>
              <a:t>Consider the following schema</a:t>
            </a:r>
            <a:endParaRPr/>
          </a:p>
          <a:p>
            <a:pPr indent="-274320" lvl="1" marL="640080" rtl="0" algn="l">
              <a:spcBef>
                <a:spcPts val="408"/>
              </a:spcBef>
              <a:spcAft>
                <a:spcPts val="0"/>
              </a:spcAft>
              <a:buSzPct val="80000"/>
              <a:buChar char="⚫"/>
            </a:pPr>
            <a:r>
              <a:rPr lang="en-US" sz="2400"/>
              <a:t>SAILOR (</a:t>
            </a:r>
            <a:r>
              <a:rPr lang="en-US" sz="2400" u="sng"/>
              <a:t>SID</a:t>
            </a:r>
            <a:r>
              <a:rPr lang="en-US" sz="2400"/>
              <a:t>, SName, Phone, City)</a:t>
            </a:r>
            <a:endParaRPr/>
          </a:p>
          <a:p>
            <a:pPr indent="-274320" lvl="1" marL="640080" rtl="0" algn="l">
              <a:spcBef>
                <a:spcPts val="408"/>
              </a:spcBef>
              <a:spcAft>
                <a:spcPts val="0"/>
              </a:spcAft>
              <a:buSzPct val="80000"/>
              <a:buChar char="⚫"/>
            </a:pPr>
            <a:r>
              <a:rPr lang="en-US" sz="2400"/>
              <a:t>BOAT (</a:t>
            </a:r>
            <a:r>
              <a:rPr lang="en-US" sz="2400" u="sng"/>
              <a:t>BName</a:t>
            </a:r>
            <a:r>
              <a:rPr lang="en-US" sz="2400"/>
              <a:t>, BType, Price, OID) </a:t>
            </a:r>
            <a:endParaRPr/>
          </a:p>
          <a:p>
            <a:pPr indent="-274320" lvl="1" marL="640080" rtl="0" algn="l">
              <a:spcBef>
                <a:spcPts val="408"/>
              </a:spcBef>
              <a:spcAft>
                <a:spcPts val="0"/>
              </a:spcAft>
              <a:buSzPct val="80000"/>
              <a:buChar char="⚫"/>
            </a:pPr>
            <a:r>
              <a:rPr lang="en-US" sz="2400"/>
              <a:t>RESERVATION (</a:t>
            </a:r>
            <a:r>
              <a:rPr lang="en-US" sz="2400" u="sng"/>
              <a:t>SID, BName</a:t>
            </a:r>
            <a:r>
              <a:rPr lang="en-US" sz="2400"/>
              <a:t>, Date, Duration)</a:t>
            </a:r>
            <a:endParaRPr/>
          </a:p>
          <a:p>
            <a:pPr indent="-274320" lvl="1" marL="640080" rtl="0" algn="l">
              <a:spcBef>
                <a:spcPts val="408"/>
              </a:spcBef>
              <a:spcAft>
                <a:spcPts val="0"/>
              </a:spcAft>
              <a:buSzPct val="80000"/>
              <a:buChar char="⚫"/>
            </a:pPr>
            <a:r>
              <a:rPr lang="en-US" sz="2400"/>
              <a:t>OWNER (</a:t>
            </a:r>
            <a:r>
              <a:rPr lang="en-US" sz="2400" u="sng"/>
              <a:t>OID</a:t>
            </a:r>
            <a:r>
              <a:rPr lang="en-US" sz="2400"/>
              <a:t>, OName, Phone, Street, City, Country)</a:t>
            </a:r>
            <a:endParaRPr/>
          </a:p>
          <a:p>
            <a:pPr indent="-183642" lvl="0" marL="274320" rtl="0" algn="l">
              <a:spcBef>
                <a:spcPts val="600"/>
              </a:spcBef>
              <a:spcAft>
                <a:spcPts val="0"/>
              </a:spcAft>
              <a:buSzPct val="70000"/>
              <a:buNone/>
            </a:pPr>
            <a:r>
              <a:t/>
            </a:r>
            <a:endParaRPr/>
          </a:p>
          <a:p>
            <a:pPr indent="-274320" lvl="0" marL="274320" rtl="0" algn="l">
              <a:spcBef>
                <a:spcPts val="600"/>
              </a:spcBef>
              <a:spcAft>
                <a:spcPts val="0"/>
              </a:spcAft>
              <a:buSzPct val="70000"/>
              <a:buChar char="🞆"/>
            </a:pPr>
            <a:r>
              <a:rPr b="1" lang="en-US"/>
              <a:t>Find the name and city of sailors who reserve every ‘Fishing’ boat.</a:t>
            </a:r>
            <a:endParaRPr/>
          </a:p>
          <a:p>
            <a:pPr indent="-274320" lvl="0" marL="274320" rtl="0" algn="l">
              <a:spcBef>
                <a:spcPts val="600"/>
              </a:spcBef>
              <a:spcAft>
                <a:spcPts val="0"/>
              </a:spcAft>
              <a:buSzPct val="70000"/>
              <a:buChar char="🞆"/>
            </a:pPr>
            <a:r>
              <a:rPr b="1" lang="en-US"/>
              <a:t>SELECT SNAME, CITY</a:t>
            </a:r>
            <a:br>
              <a:rPr b="1" lang="en-US"/>
            </a:br>
            <a:r>
              <a:rPr b="1" lang="en-US"/>
              <a:t>FROM     SAILOR s</a:t>
            </a:r>
            <a:br>
              <a:rPr b="1" lang="en-US"/>
            </a:br>
            <a:r>
              <a:rPr b="1" lang="en-US"/>
              <a:t>WHERE   NOT EXISTS  </a:t>
            </a:r>
            <a:r>
              <a:rPr lang="en-US"/>
              <a:t>( (SELECT  BNAME    </a:t>
            </a:r>
            <a:endParaRPr/>
          </a:p>
          <a:p>
            <a:pPr indent="0" lvl="0" marL="0" rtl="0" algn="l">
              <a:spcBef>
                <a:spcPts val="600"/>
              </a:spcBef>
              <a:spcAft>
                <a:spcPts val="0"/>
              </a:spcAft>
              <a:buSzPct val="70000"/>
              <a:buNone/>
            </a:pPr>
            <a:r>
              <a:rPr lang="en-US"/>
              <a:t>			 FROM       BOAT</a:t>
            </a:r>
            <a:br>
              <a:rPr lang="en-US"/>
            </a:br>
            <a:r>
              <a:rPr lang="en-US"/>
              <a:t>	   		 WHERE     BTYPE=’Fishing’)</a:t>
            </a:r>
            <a:br>
              <a:rPr b="1" lang="en-US"/>
            </a:br>
            <a:r>
              <a:rPr b="1" lang="en-US"/>
              <a:t>	   	EXCEPT</a:t>
            </a:r>
            <a:br>
              <a:rPr b="1" lang="en-US"/>
            </a:br>
            <a:r>
              <a:rPr b="1" lang="en-US"/>
              <a:t>	</a:t>
            </a:r>
            <a:r>
              <a:rPr lang="en-US"/>
              <a:t>  		(SELECT       BNAME</a:t>
            </a:r>
            <a:br>
              <a:rPr lang="en-US"/>
            </a:br>
            <a:r>
              <a:rPr lang="en-US"/>
              <a:t>	   		FROM         reservation r</a:t>
            </a:r>
            <a:endParaRPr/>
          </a:p>
          <a:p>
            <a:pPr indent="0" lvl="0" marL="0" rtl="0" algn="l">
              <a:spcBef>
                <a:spcPts val="600"/>
              </a:spcBef>
              <a:spcAft>
                <a:spcPts val="0"/>
              </a:spcAft>
              <a:buSzPct val="70000"/>
              <a:buNone/>
            </a:pPr>
            <a:r>
              <a:rPr lang="en-US"/>
              <a:t>			WHERE       r.SID=s.SID) )</a:t>
            </a:r>
            <a:endParaRPr/>
          </a:p>
          <a:p>
            <a:pPr indent="-183642" lvl="0" marL="274320" rtl="0" algn="l">
              <a:spcBef>
                <a:spcPts val="600"/>
              </a:spcBef>
              <a:spcAft>
                <a:spcPts val="0"/>
              </a:spcAft>
              <a:buSzPct val="70000"/>
              <a:buNone/>
            </a:pPr>
            <a:r>
              <a:t/>
            </a:r>
            <a:endParaRPr/>
          </a:p>
          <a:p>
            <a:pPr indent="-183642" lvl="0" marL="274320" rtl="0" algn="l">
              <a:spcBef>
                <a:spcPts val="600"/>
              </a:spcBef>
              <a:spcAft>
                <a:spcPts val="0"/>
              </a:spcAft>
              <a:buSzPct val="70000"/>
              <a:buNone/>
            </a:pPr>
            <a:r>
              <a:t/>
            </a:r>
            <a:endParaRPr/>
          </a:p>
          <a:p>
            <a:pPr indent="-183642" lvl="0" marL="274320" rtl="0" algn="l">
              <a:spcBef>
                <a:spcPts val="600"/>
              </a:spcBef>
              <a:spcAft>
                <a:spcPts val="0"/>
              </a:spcAft>
              <a:buSzPct val="70000"/>
              <a:buNone/>
            </a:pPr>
            <a:r>
              <a:t/>
            </a:r>
            <a:endParaRPr/>
          </a:p>
        </p:txBody>
      </p:sp>
      <p:sp>
        <p:nvSpPr>
          <p:cNvPr id="907" name="Google Shape;907;p9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9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Assertion</a:t>
            </a:r>
            <a:endParaRPr/>
          </a:p>
        </p:txBody>
      </p:sp>
      <p:sp>
        <p:nvSpPr>
          <p:cNvPr id="915" name="Google Shape;915;p91"/>
          <p:cNvSpPr txBox="1"/>
          <p:nvPr>
            <p:ph idx="1" type="body"/>
          </p:nvPr>
        </p:nvSpPr>
        <p:spPr>
          <a:xfrm>
            <a:off x="457200" y="1600200"/>
            <a:ext cx="803656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400"/>
              <a:buChar char="🞆"/>
            </a:pPr>
            <a:r>
              <a:rPr lang="en-US" sz="2000"/>
              <a:t>In SQL, table constraints are associated with a single table.</a:t>
            </a:r>
            <a:endParaRPr/>
          </a:p>
          <a:p>
            <a:pPr indent="-274320" lvl="1" marL="640080" rtl="0" algn="l">
              <a:spcBef>
                <a:spcPts val="400"/>
              </a:spcBef>
              <a:spcAft>
                <a:spcPts val="0"/>
              </a:spcAft>
              <a:buSzPts val="1600"/>
              <a:buChar char="⚫"/>
            </a:pPr>
            <a:r>
              <a:rPr b="1" lang="en-US" sz="2000">
                <a:solidFill>
                  <a:srgbClr val="000000"/>
                </a:solidFill>
              </a:rPr>
              <a:t>CHECK(DNUMBER &gt;0 AND DNUMBER &lt;25)</a:t>
            </a:r>
            <a:endParaRPr/>
          </a:p>
          <a:p>
            <a:pPr indent="-274320" lvl="1" marL="640080" rtl="0" algn="l">
              <a:spcBef>
                <a:spcPts val="400"/>
              </a:spcBef>
              <a:spcAft>
                <a:spcPts val="0"/>
              </a:spcAft>
              <a:buSzPts val="1600"/>
              <a:buChar char="⚫"/>
            </a:pPr>
            <a:r>
              <a:rPr b="1" lang="en-US" sz="2000"/>
              <a:t>CHECK (Dept_create_date &lt;= Mgr_start_date)</a:t>
            </a:r>
            <a:endParaRPr sz="2000"/>
          </a:p>
          <a:p>
            <a:pPr indent="-185420" lvl="0" marL="274320" rtl="0" algn="l">
              <a:spcBef>
                <a:spcPts val="600"/>
              </a:spcBef>
              <a:spcAft>
                <a:spcPts val="0"/>
              </a:spcAft>
              <a:buSzPts val="1400"/>
              <a:buNone/>
            </a:pPr>
            <a:r>
              <a:t/>
            </a:r>
            <a:endParaRPr sz="2000"/>
          </a:p>
          <a:p>
            <a:pPr indent="-274320" lvl="0" marL="274320" rtl="0" algn="l">
              <a:spcBef>
                <a:spcPts val="600"/>
              </a:spcBef>
              <a:spcAft>
                <a:spcPts val="0"/>
              </a:spcAft>
              <a:buSzPts val="1400"/>
              <a:buChar char="🞆"/>
            </a:pPr>
            <a:r>
              <a:rPr lang="en-US" sz="2000"/>
              <a:t>Expression in the </a:t>
            </a:r>
            <a:r>
              <a:rPr b="1" lang="en-US" sz="2000"/>
              <a:t>CHECK</a:t>
            </a:r>
            <a:r>
              <a:rPr lang="en-US" sz="2000"/>
              <a:t> clause can refer to other tables but when a constraint involves many tables, it becomes cumbersome </a:t>
            </a:r>
            <a:endParaRPr/>
          </a:p>
          <a:p>
            <a:pPr indent="-185420" lvl="0" marL="274320" rtl="0" algn="l">
              <a:spcBef>
                <a:spcPts val="600"/>
              </a:spcBef>
              <a:spcAft>
                <a:spcPts val="0"/>
              </a:spcAft>
              <a:buSzPts val="1400"/>
              <a:buNone/>
            </a:pPr>
            <a:r>
              <a:t/>
            </a:r>
            <a:endParaRPr sz="2000"/>
          </a:p>
          <a:p>
            <a:pPr indent="-274320" lvl="0" marL="274320" rtl="0" algn="l">
              <a:spcBef>
                <a:spcPts val="600"/>
              </a:spcBef>
              <a:spcAft>
                <a:spcPts val="0"/>
              </a:spcAft>
              <a:buSzPts val="1400"/>
              <a:buChar char="🞆"/>
            </a:pPr>
            <a:r>
              <a:rPr lang="en-US" sz="2000"/>
              <a:t>Assertions are constraints that are not associated with any one table.</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SQL-server do not support assertion, however it do support trigger and check constraint</a:t>
            </a:r>
            <a:endParaRPr/>
          </a:p>
        </p:txBody>
      </p:sp>
      <p:sp>
        <p:nvSpPr>
          <p:cNvPr id="916" name="Google Shape;916;p9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92"/>
          <p:cNvSpPr txBox="1"/>
          <p:nvPr>
            <p:ph idx="4294967295" type="sldNum"/>
          </p:nvPr>
        </p:nvSpPr>
        <p:spPr>
          <a:xfrm>
            <a:off x="7153275" y="6386513"/>
            <a:ext cx="1905000" cy="3873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9-</a:t>
            </a:r>
            <a:fld id="{00000000-1234-1234-1234-123412341234}" type="slidenum">
              <a:rPr lang="en-US"/>
              <a:t>‹#›</a:t>
            </a:fld>
            <a:endParaRPr/>
          </a:p>
        </p:txBody>
      </p:sp>
      <p:sp>
        <p:nvSpPr>
          <p:cNvPr id="922" name="Google Shape;922;p9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Assertions: An Example</a:t>
            </a:r>
            <a:endParaRPr/>
          </a:p>
        </p:txBody>
      </p:sp>
      <p:sp>
        <p:nvSpPr>
          <p:cNvPr id="923" name="Google Shape;923;p92"/>
          <p:cNvSpPr txBox="1"/>
          <p:nvPr>
            <p:ph idx="1" type="body"/>
          </p:nvPr>
        </p:nvSpPr>
        <p:spPr>
          <a:xfrm>
            <a:off x="457200" y="1600200"/>
            <a:ext cx="8093242"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latin typeface="Calibri"/>
                <a:ea typeface="Calibri"/>
                <a:cs typeface="Calibri"/>
                <a:sym typeface="Calibri"/>
              </a:rPr>
              <a:t>“The salary of an employee must not be greater than the salary of the manager of the department that the employee works for’’</a:t>
            </a:r>
            <a:endParaRPr/>
          </a:p>
          <a:p>
            <a:pPr indent="-167640" lvl="0" marL="274320" rtl="0" algn="l">
              <a:spcBef>
                <a:spcPts val="600"/>
              </a:spcBef>
              <a:spcAft>
                <a:spcPts val="0"/>
              </a:spcAft>
              <a:buSzPts val="1680"/>
              <a:buNone/>
            </a:pPr>
            <a:r>
              <a:t/>
            </a:r>
            <a:endParaRPr>
              <a:latin typeface="Calibri"/>
              <a:ea typeface="Calibri"/>
              <a:cs typeface="Calibri"/>
              <a:sym typeface="Calibri"/>
            </a:endParaRPr>
          </a:p>
          <a:p>
            <a:pPr indent="-274320" lvl="1" marL="640080" rtl="0" algn="l">
              <a:spcBef>
                <a:spcPts val="420"/>
              </a:spcBef>
              <a:spcAft>
                <a:spcPts val="0"/>
              </a:spcAft>
              <a:buSzPts val="1680"/>
              <a:buFont typeface="Noto Sans Symbols"/>
              <a:buNone/>
            </a:pPr>
            <a:r>
              <a:rPr lang="en-US" sz="2100">
                <a:latin typeface="Calibri"/>
                <a:ea typeface="Calibri"/>
                <a:cs typeface="Calibri"/>
                <a:sym typeface="Calibri"/>
              </a:rPr>
              <a:t>CREATE ASSERTION SALARY_CONSTRAINT</a:t>
            </a:r>
            <a:endParaRPr/>
          </a:p>
          <a:p>
            <a:pPr indent="-274320" lvl="1" marL="640080" rtl="0" algn="l">
              <a:spcBef>
                <a:spcPts val="420"/>
              </a:spcBef>
              <a:spcAft>
                <a:spcPts val="0"/>
              </a:spcAft>
              <a:buSzPts val="1680"/>
              <a:buFont typeface="Noto Sans Symbols"/>
              <a:buNone/>
            </a:pPr>
            <a:r>
              <a:rPr lang="en-US" sz="2100">
                <a:latin typeface="Calibri"/>
                <a:ea typeface="Calibri"/>
                <a:cs typeface="Calibri"/>
                <a:sym typeface="Calibri"/>
              </a:rPr>
              <a:t>CHECK (NOT EXISTS (SELECT *</a:t>
            </a:r>
            <a:endParaRPr/>
          </a:p>
          <a:p>
            <a:pPr indent="-274320" lvl="1" marL="640080" rtl="0" algn="l">
              <a:spcBef>
                <a:spcPts val="420"/>
              </a:spcBef>
              <a:spcAft>
                <a:spcPts val="0"/>
              </a:spcAft>
              <a:buSzPts val="1680"/>
              <a:buFont typeface="Noto Sans Symbols"/>
              <a:buNone/>
            </a:pPr>
            <a:r>
              <a:rPr lang="en-US" sz="2100">
                <a:latin typeface="Calibri"/>
                <a:ea typeface="Calibri"/>
                <a:cs typeface="Calibri"/>
                <a:sym typeface="Calibri"/>
              </a:rPr>
              <a:t> 			FROM EMPLOYEE E, EMPLOYEE M, DEPARTMENT D</a:t>
            </a:r>
            <a:endParaRPr/>
          </a:p>
          <a:p>
            <a:pPr indent="-274320" lvl="1" marL="640080" rtl="0" algn="l">
              <a:spcBef>
                <a:spcPts val="420"/>
              </a:spcBef>
              <a:spcAft>
                <a:spcPts val="0"/>
              </a:spcAft>
              <a:buSzPts val="1680"/>
              <a:buFont typeface="Noto Sans Symbols"/>
              <a:buNone/>
            </a:pPr>
            <a:r>
              <a:rPr lang="en-US" sz="2100">
                <a:latin typeface="Calibri"/>
                <a:ea typeface="Calibri"/>
                <a:cs typeface="Calibri"/>
                <a:sym typeface="Calibri"/>
              </a:rPr>
              <a:t> 			WHERE E.SALARY &gt; M.SALARY AND</a:t>
            </a:r>
            <a:endParaRPr/>
          </a:p>
          <a:p>
            <a:pPr indent="-274320" lvl="1" marL="640080" rtl="0" algn="l">
              <a:spcBef>
                <a:spcPts val="420"/>
              </a:spcBef>
              <a:spcAft>
                <a:spcPts val="0"/>
              </a:spcAft>
              <a:buSzPts val="1680"/>
              <a:buFont typeface="Noto Sans Symbols"/>
              <a:buNone/>
            </a:pPr>
            <a:r>
              <a:rPr lang="en-US" sz="2100">
                <a:latin typeface="Calibri"/>
                <a:ea typeface="Calibri"/>
                <a:cs typeface="Calibri"/>
                <a:sym typeface="Calibri"/>
              </a:rPr>
              <a:t>       		E.DNO=D.NUMBER AND D.MGRSSN=M.SSN))</a:t>
            </a:r>
            <a:endParaRPr/>
          </a:p>
          <a:p>
            <a:pPr indent="-274320" lvl="0" marL="274320" rtl="0" algn="l">
              <a:spcBef>
                <a:spcPts val="600"/>
              </a:spcBef>
              <a:spcAft>
                <a:spcPts val="0"/>
              </a:spcAft>
              <a:buSzPts val="1680"/>
              <a:buFont typeface="Noto Sans Symbols"/>
              <a:buNone/>
            </a:pPr>
            <a:r>
              <a:t/>
            </a:r>
            <a:endParaRPr sz="2400">
              <a:latin typeface="Calibri"/>
              <a:ea typeface="Calibri"/>
              <a:cs typeface="Calibri"/>
              <a:sym typeface="Calibri"/>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93"/>
          <p:cNvSpPr txBox="1"/>
          <p:nvPr>
            <p:ph idx="4294967295" type="sldNum"/>
          </p:nvPr>
        </p:nvSpPr>
        <p:spPr>
          <a:xfrm>
            <a:off x="7153275" y="6386513"/>
            <a:ext cx="1905000" cy="3873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9-</a:t>
            </a:r>
            <a:fld id="{00000000-1234-1234-1234-123412341234}" type="slidenum">
              <a:rPr lang="en-US"/>
              <a:t>‹#›</a:t>
            </a:fld>
            <a:endParaRPr/>
          </a:p>
        </p:txBody>
      </p:sp>
      <p:sp>
        <p:nvSpPr>
          <p:cNvPr id="931" name="Google Shape;931;p9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rPr lang="en-US"/>
              <a:t>Using General Assertions</a:t>
            </a:r>
            <a:endParaRPr/>
          </a:p>
        </p:txBody>
      </p:sp>
      <p:sp>
        <p:nvSpPr>
          <p:cNvPr id="932" name="Google Shape;932;p93"/>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Specify a query that violates the condition; include inside a </a:t>
            </a:r>
            <a:r>
              <a:rPr lang="en-US">
                <a:latin typeface="Courier New"/>
                <a:ea typeface="Courier New"/>
                <a:cs typeface="Courier New"/>
                <a:sym typeface="Courier New"/>
              </a:rPr>
              <a:t>NOT EXISTS </a:t>
            </a:r>
            <a:r>
              <a:rPr lang="en-US"/>
              <a:t>clause</a:t>
            </a:r>
            <a:endParaRPr/>
          </a:p>
          <a:p>
            <a:pPr indent="-274320" lvl="0" marL="274320" rtl="0" algn="l">
              <a:spcBef>
                <a:spcPts val="600"/>
              </a:spcBef>
              <a:spcAft>
                <a:spcPts val="0"/>
              </a:spcAft>
              <a:buSzPts val="1680"/>
              <a:buChar char="🞆"/>
            </a:pPr>
            <a:r>
              <a:rPr lang="en-US"/>
              <a:t>Query result must be empty</a:t>
            </a:r>
            <a:endParaRPr/>
          </a:p>
          <a:p>
            <a:pPr indent="-274320" lvl="1" marL="640080" rtl="0" algn="l">
              <a:spcBef>
                <a:spcPts val="420"/>
              </a:spcBef>
              <a:spcAft>
                <a:spcPts val="0"/>
              </a:spcAft>
              <a:buSzPts val="1680"/>
              <a:buChar char="⚫"/>
            </a:pPr>
            <a:r>
              <a:rPr lang="en-US"/>
              <a:t>if the query result is not empty, the assertion has been violated</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400"/>
              <a:buChar char="🞆"/>
            </a:pPr>
            <a:r>
              <a:rPr b="1" lang="en-US" sz="2000"/>
              <a:t>Create Assertion to enforce the </a:t>
            </a:r>
            <a:r>
              <a:rPr lang="en-US" sz="2000"/>
              <a:t>constraint that </a:t>
            </a:r>
            <a:endParaRPr sz="2000"/>
          </a:p>
          <a:p>
            <a:pPr indent="-274320" lvl="1" marL="640080" rtl="0" algn="l">
              <a:spcBef>
                <a:spcPts val="340"/>
              </a:spcBef>
              <a:spcAft>
                <a:spcPts val="0"/>
              </a:spcAft>
              <a:buSzPts val="1360"/>
              <a:buChar char="⚫"/>
            </a:pPr>
            <a:r>
              <a:rPr lang="en-US" sz="1700"/>
              <a:t>The number of Employees in each department should be less than 20.</a:t>
            </a:r>
            <a:endParaRPr/>
          </a:p>
          <a:p>
            <a:pPr indent="-274320" lvl="1" marL="640080" rtl="0" algn="l">
              <a:spcBef>
                <a:spcPts val="340"/>
              </a:spcBef>
              <a:spcAft>
                <a:spcPts val="0"/>
              </a:spcAft>
              <a:buSzPts val="1360"/>
              <a:buChar char="⚫"/>
            </a:pPr>
            <a:r>
              <a:rPr lang="en-US" sz="1700"/>
              <a:t>An employee should be assign a project of his\her department only.</a:t>
            </a:r>
            <a:endParaRPr/>
          </a:p>
          <a:p>
            <a:pPr indent="-274320" lvl="1" marL="640080" rtl="0" algn="l">
              <a:spcBef>
                <a:spcPts val="340"/>
              </a:spcBef>
              <a:spcAft>
                <a:spcPts val="0"/>
              </a:spcAft>
              <a:buSzPts val="1360"/>
              <a:buChar char="⚫"/>
            </a:pPr>
            <a:r>
              <a:rPr lang="en-US" sz="1700"/>
              <a:t>The total working hours of all the employees in a department should be less than 180.</a:t>
            </a:r>
            <a:endParaRPr/>
          </a:p>
          <a:p>
            <a:pPr indent="-185420" lvl="0" marL="274320" rtl="0" algn="l">
              <a:spcBef>
                <a:spcPts val="600"/>
              </a:spcBef>
              <a:spcAft>
                <a:spcPts val="0"/>
              </a:spcAft>
              <a:buSzPts val="1400"/>
              <a:buNone/>
            </a:pPr>
            <a:r>
              <a:t/>
            </a:r>
            <a:endParaRPr sz="2000"/>
          </a:p>
          <a:p>
            <a:pPr indent="-167640" lvl="0" marL="274320" rtl="0" algn="l">
              <a:spcBef>
                <a:spcPts val="600"/>
              </a:spcBef>
              <a:spcAft>
                <a:spcPts val="0"/>
              </a:spcAft>
              <a:buSzPts val="1680"/>
              <a:buNone/>
            </a:pPr>
            <a:r>
              <a:t/>
            </a:r>
            <a:endParaRPr/>
          </a:p>
          <a:p>
            <a:pPr indent="-167640" lvl="0" marL="274320" rtl="0" algn="l">
              <a:spcBef>
                <a:spcPts val="600"/>
              </a:spcBef>
              <a:spcAft>
                <a:spcPts val="0"/>
              </a:spcAft>
              <a:buSzPts val="1680"/>
              <a:buNone/>
            </a:pPr>
            <a:r>
              <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9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alibri"/>
              <a:buNone/>
            </a:pPr>
            <a:r>
              <a:t/>
            </a:r>
            <a:endParaRPr/>
          </a:p>
        </p:txBody>
      </p:sp>
      <p:sp>
        <p:nvSpPr>
          <p:cNvPr id="938" name="Google Shape;938;p94"/>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CHECK clause can also be used to specify constraints on </a:t>
            </a:r>
            <a:r>
              <a:rPr i="1" lang="en-US"/>
              <a:t>individual </a:t>
            </a:r>
            <a:r>
              <a:rPr lang="en-US"/>
              <a:t>attributes, domains and </a:t>
            </a:r>
            <a:r>
              <a:rPr i="1" lang="en-US"/>
              <a:t>individual </a:t>
            </a:r>
            <a:r>
              <a:rPr lang="en-US"/>
              <a:t>tuples </a:t>
            </a:r>
            <a:endParaRPr/>
          </a:p>
          <a:p>
            <a:pPr indent="-274320" lvl="1" marL="640080" rtl="0" algn="l">
              <a:spcBef>
                <a:spcPts val="420"/>
              </a:spcBef>
              <a:spcAft>
                <a:spcPts val="0"/>
              </a:spcAft>
              <a:buSzPts val="1680"/>
              <a:buNone/>
            </a:pPr>
            <a:r>
              <a:t/>
            </a:r>
            <a:endParaRPr b="1"/>
          </a:p>
          <a:p>
            <a:pPr indent="-274320" lvl="1" marL="640080" rtl="0" algn="l">
              <a:spcBef>
                <a:spcPts val="420"/>
              </a:spcBef>
              <a:spcAft>
                <a:spcPts val="0"/>
              </a:spcAft>
              <a:buSzPts val="1680"/>
              <a:buNone/>
            </a:pPr>
            <a:r>
              <a:rPr b="1" lang="en-US"/>
              <a:t>CONSTRAINT deptPK PRIMARY KEY(Dnumber)</a:t>
            </a:r>
            <a:endParaRPr/>
          </a:p>
          <a:p>
            <a:pPr indent="-274320" lvl="1" marL="640080" rtl="0" algn="l">
              <a:spcBef>
                <a:spcPts val="420"/>
              </a:spcBef>
              <a:spcAft>
                <a:spcPts val="0"/>
              </a:spcAft>
              <a:buSzPts val="1680"/>
              <a:buNone/>
            </a:pPr>
            <a:r>
              <a:rPr b="1" lang="en-US"/>
              <a:t>CONSTRAINT deptSK UNIQUE(Dname)</a:t>
            </a:r>
            <a:endParaRPr/>
          </a:p>
          <a:p>
            <a:pPr indent="-274320" lvl="1" marL="640080" rtl="0" algn="l">
              <a:spcBef>
                <a:spcPts val="420"/>
              </a:spcBef>
              <a:spcAft>
                <a:spcPts val="0"/>
              </a:spcAft>
              <a:buSzPts val="1680"/>
              <a:buNone/>
            </a:pPr>
            <a:r>
              <a:rPr b="1" lang="en-US"/>
              <a:t>CHECK (Dept_create_date &lt;= Mgr_start_date)</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Difference between CREATE ASSERTION and the individual domain and tuple constraints is</a:t>
            </a:r>
            <a:endParaRPr/>
          </a:p>
          <a:p>
            <a:pPr indent="-274320" lvl="1" marL="640080" rtl="0" algn="l">
              <a:spcBef>
                <a:spcPts val="420"/>
              </a:spcBef>
              <a:spcAft>
                <a:spcPts val="0"/>
              </a:spcAft>
              <a:buSzPts val="1680"/>
              <a:buChar char="⚫"/>
            </a:pPr>
            <a:r>
              <a:rPr lang="en-US"/>
              <a:t>CHECK on individual attributes, domains, and tuples are checked </a:t>
            </a:r>
            <a:r>
              <a:rPr i="1" lang="en-US"/>
              <a:t>only when tuples are inserted or updated</a:t>
            </a:r>
            <a:r>
              <a:rPr lang="en-US"/>
              <a:t>.</a:t>
            </a:r>
            <a:endParaRPr/>
          </a:p>
        </p:txBody>
      </p:sp>
      <p:sp>
        <p:nvSpPr>
          <p:cNvPr id="939" name="Google Shape;939;p9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Slide 8-</a:t>
            </a: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riel">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2003-08-26T05:13:59Z</dcterms:created>
  <dc:creator>Gillian Hall</dc:creator>
</cp:coreProperties>
</file>