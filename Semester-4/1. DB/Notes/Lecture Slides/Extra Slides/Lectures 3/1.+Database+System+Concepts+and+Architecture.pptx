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50"/>
  </p:notesMasterIdLst>
  <p:sldIdLst>
    <p:sldId id="303" r:id="rId2"/>
    <p:sldId id="304" r:id="rId3"/>
    <p:sldId id="305" r:id="rId4"/>
    <p:sldId id="306" r:id="rId5"/>
    <p:sldId id="319" r:id="rId6"/>
    <p:sldId id="320" r:id="rId7"/>
    <p:sldId id="321" r:id="rId8"/>
    <p:sldId id="330" r:id="rId9"/>
    <p:sldId id="331" r:id="rId10"/>
    <p:sldId id="310" r:id="rId11"/>
    <p:sldId id="322" r:id="rId12"/>
    <p:sldId id="311" r:id="rId13"/>
    <p:sldId id="313" r:id="rId14"/>
    <p:sldId id="314" r:id="rId15"/>
    <p:sldId id="315" r:id="rId16"/>
    <p:sldId id="328" r:id="rId17"/>
    <p:sldId id="256" r:id="rId18"/>
    <p:sldId id="257" r:id="rId19"/>
    <p:sldId id="323" r:id="rId20"/>
    <p:sldId id="324" r:id="rId21"/>
    <p:sldId id="325" r:id="rId22"/>
    <p:sldId id="260" r:id="rId23"/>
    <p:sldId id="261" r:id="rId24"/>
    <p:sldId id="263" r:id="rId25"/>
    <p:sldId id="293" r:id="rId26"/>
    <p:sldId id="264" r:id="rId27"/>
    <p:sldId id="266" r:id="rId28"/>
    <p:sldId id="267" r:id="rId29"/>
    <p:sldId id="268" r:id="rId30"/>
    <p:sldId id="327" r:id="rId31"/>
    <p:sldId id="270" r:id="rId32"/>
    <p:sldId id="271" r:id="rId33"/>
    <p:sldId id="272" r:id="rId34"/>
    <p:sldId id="279" r:id="rId35"/>
    <p:sldId id="329" r:id="rId36"/>
    <p:sldId id="280" r:id="rId37"/>
    <p:sldId id="282" r:id="rId38"/>
    <p:sldId id="285" r:id="rId39"/>
    <p:sldId id="287" r:id="rId40"/>
    <p:sldId id="289" r:id="rId41"/>
    <p:sldId id="290" r:id="rId42"/>
    <p:sldId id="297" r:id="rId43"/>
    <p:sldId id="300" r:id="rId44"/>
    <p:sldId id="299" r:id="rId45"/>
    <p:sldId id="298" r:id="rId46"/>
    <p:sldId id="301" r:id="rId47"/>
    <p:sldId id="316" r:id="rId48"/>
    <p:sldId id="317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8" autoAdjust="0"/>
    <p:restoredTop sz="65259" autoAdjust="0"/>
  </p:normalViewPr>
  <p:slideViewPr>
    <p:cSldViewPr>
      <p:cViewPr varScale="1">
        <p:scale>
          <a:sx n="58" d="100"/>
          <a:sy n="58" d="100"/>
        </p:scale>
        <p:origin x="217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3106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652D13-F056-43C2-9E4D-832C56AA921F}" type="datetimeFigureOut">
              <a:rPr lang="en-US" smtClean="0"/>
              <a:pPr/>
              <a:t>2/10/2015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41B461-9498-4E58-A978-F4DA8C0F56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8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b="1" dirty="0" smtClean="0"/>
              <a:t>Data: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Facts that can be recorded and have an implicit meaning.</a:t>
            </a:r>
          </a:p>
          <a:p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 err="1" smtClean="0"/>
              <a:t>vs</a:t>
            </a:r>
            <a:r>
              <a:rPr lang="en-US" dirty="0" smtClean="0"/>
              <a:t> Information :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unprocessed information </a:t>
            </a:r>
            <a:r>
              <a:rPr lang="en-US" sz="1200" dirty="0" err="1" smtClean="0"/>
              <a:t>vs</a:t>
            </a:r>
            <a:r>
              <a:rPr lang="en-US" sz="1200" dirty="0" smtClean="0"/>
              <a:t> </a:t>
            </a:r>
            <a:r>
              <a:rPr lang="en-US" sz="2000" dirty="0" smtClean="0"/>
              <a:t>Information is data that have been organized and communicated in a coherent and meaningful manner. 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03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79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Banking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For customer information, accounts, and loans, and banking transactions.</a:t>
            </a:r>
          </a:p>
          <a:p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Airlines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For reservations and schedule information. Airlines were among the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 to use databases in a geographically distributed manner—terminals situated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around the world accessed the central database system through phone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lines and other data networks.</a:t>
            </a:r>
          </a:p>
          <a:p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Universities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For student information, course registrations, and grades.</a:t>
            </a:r>
          </a:p>
          <a:p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Credit card transactions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For purchases on credit cards and generation of monthly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statements.</a:t>
            </a:r>
          </a:p>
          <a:p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Telecommunication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For keeping records of calls made, generating monthly bills,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maintaining balances on prepaid calling cards, and storing information about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communication networks.</a:t>
            </a:r>
          </a:p>
          <a:p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Sales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For customer, product, and purchase information.</a:t>
            </a:r>
          </a:p>
          <a:p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Manufacturing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For management of supply chain and for tracking production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items in factories, inventories of items in warehouses/stores, and orders for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items.</a:t>
            </a:r>
          </a:p>
          <a:p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Human resources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For information about employees, salaries, payroll taxes and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benefits, and for generation of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paychecks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1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isolation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Because data are scattered in various files, and files may be in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 formats, writing new application programs to retrieve the appropriate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is difficult.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65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b="1" dirty="0" smtClean="0"/>
              <a:t>Mini-world: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Some part of the real world about which data is stored in a database. For example, University.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819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Drawbacks of using file systems to store data:</a:t>
            </a:r>
          </a:p>
          <a:p>
            <a:pPr lvl="1"/>
            <a:r>
              <a:rPr lang="en-US" dirty="0" smtClean="0"/>
              <a:t>Data redundancy and inconsistency</a:t>
            </a:r>
          </a:p>
          <a:p>
            <a:pPr lvl="2"/>
            <a:r>
              <a:rPr lang="en-US" dirty="0" smtClean="0"/>
              <a:t>Multiple file formats, duplication of information in different files</a:t>
            </a:r>
          </a:p>
          <a:p>
            <a:pPr lvl="1"/>
            <a:r>
              <a:rPr lang="en-US" dirty="0" smtClean="0"/>
              <a:t>Difficulty in accessing data </a:t>
            </a:r>
          </a:p>
          <a:p>
            <a:pPr lvl="2"/>
            <a:r>
              <a:rPr lang="en-US" dirty="0" smtClean="0"/>
              <a:t>Need to write a new program to carry out each new task</a:t>
            </a:r>
          </a:p>
          <a:p>
            <a:pPr lvl="1"/>
            <a:r>
              <a:rPr lang="en-US" dirty="0" smtClean="0"/>
              <a:t>Data isolation — multiple files and formats</a:t>
            </a:r>
          </a:p>
          <a:p>
            <a:pPr lvl="1"/>
            <a:r>
              <a:rPr lang="en-US" dirty="0" smtClean="0"/>
              <a:t>Integrity problems</a:t>
            </a:r>
          </a:p>
          <a:p>
            <a:pPr lvl="2"/>
            <a:r>
              <a:rPr lang="en-US" dirty="0" smtClean="0"/>
              <a:t>Integrity constraints  (e.g. account balance &gt; 0) become part of program code</a:t>
            </a:r>
          </a:p>
          <a:p>
            <a:pPr lvl="2"/>
            <a:r>
              <a:rPr lang="en-US" dirty="0" smtClean="0"/>
              <a:t>Hard to add new constraints or change existing ones</a:t>
            </a:r>
          </a:p>
          <a:p>
            <a:pPr lvl="1"/>
            <a:r>
              <a:rPr lang="en-US" dirty="0" smtClean="0"/>
              <a:t>Atomicity of updates</a:t>
            </a:r>
          </a:p>
          <a:p>
            <a:pPr lvl="2"/>
            <a:r>
              <a:rPr lang="en-US" dirty="0" smtClean="0"/>
              <a:t>Failures may leave database in an inconsistent state with partial updates carried out</a:t>
            </a:r>
          </a:p>
          <a:p>
            <a:pPr lvl="2"/>
            <a:r>
              <a:rPr lang="en-US" dirty="0" smtClean="0"/>
              <a:t>E.g. transfer of funds from one account to another should either complete or not happen at all</a:t>
            </a:r>
          </a:p>
          <a:p>
            <a:pPr lvl="1"/>
            <a:r>
              <a:rPr lang="en-US" dirty="0" smtClean="0"/>
              <a:t>Concurrent access by multiple users</a:t>
            </a:r>
          </a:p>
          <a:p>
            <a:pPr lvl="2"/>
            <a:r>
              <a:rPr lang="en-US" dirty="0" smtClean="0"/>
              <a:t>Concurrent accessed needed for performance</a:t>
            </a:r>
          </a:p>
          <a:p>
            <a:pPr lvl="2"/>
            <a:r>
              <a:rPr lang="en-US" dirty="0" smtClean="0"/>
              <a:t>Uncontrolled concurrent accesses can lead to inconsistencies</a:t>
            </a:r>
          </a:p>
          <a:p>
            <a:pPr lvl="3"/>
            <a:r>
              <a:rPr lang="en-US" dirty="0" smtClean="0"/>
              <a:t>E.g. two people reading a balance and updating it at the same time</a:t>
            </a:r>
          </a:p>
          <a:p>
            <a:pPr lvl="1"/>
            <a:r>
              <a:rPr lang="en-US" dirty="0" smtClean="0"/>
              <a:t>Security problems</a:t>
            </a:r>
          </a:p>
          <a:p>
            <a:r>
              <a:rPr lang="en-US" dirty="0" smtClean="0"/>
              <a:t>Database systems offer solutions to all the above problems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97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Drawbacks of using file systems to store data:</a:t>
            </a:r>
          </a:p>
          <a:p>
            <a:pPr lvl="1"/>
            <a:r>
              <a:rPr lang="en-US" dirty="0" smtClean="0"/>
              <a:t>Data redundancy and inconsistency</a:t>
            </a:r>
          </a:p>
          <a:p>
            <a:pPr lvl="2"/>
            <a:r>
              <a:rPr lang="en-US" dirty="0" smtClean="0"/>
              <a:t>Multiple file formats, duplication of information in different files</a:t>
            </a:r>
          </a:p>
          <a:p>
            <a:pPr lvl="1"/>
            <a:r>
              <a:rPr lang="en-US" dirty="0" smtClean="0"/>
              <a:t>Difficulty in accessing data </a:t>
            </a:r>
          </a:p>
          <a:p>
            <a:pPr lvl="2"/>
            <a:r>
              <a:rPr lang="en-US" dirty="0" smtClean="0"/>
              <a:t>Need to write a new program to carry out each new task</a:t>
            </a:r>
          </a:p>
          <a:p>
            <a:pPr lvl="1"/>
            <a:r>
              <a:rPr lang="en-US" dirty="0" smtClean="0"/>
              <a:t>Data isolation — multiple files and formats</a:t>
            </a:r>
          </a:p>
          <a:p>
            <a:pPr lvl="1"/>
            <a:r>
              <a:rPr lang="en-US" dirty="0" smtClean="0"/>
              <a:t>Integrity problems</a:t>
            </a:r>
          </a:p>
          <a:p>
            <a:pPr lvl="2"/>
            <a:r>
              <a:rPr lang="en-US" dirty="0" smtClean="0"/>
              <a:t>Integrity constraints  (e.g. account balance &gt; 0) become part of program code</a:t>
            </a:r>
          </a:p>
          <a:p>
            <a:pPr lvl="2"/>
            <a:r>
              <a:rPr lang="en-US" dirty="0" smtClean="0"/>
              <a:t>Hard to add new constraints or change existing ones</a:t>
            </a:r>
          </a:p>
          <a:p>
            <a:pPr lvl="1"/>
            <a:r>
              <a:rPr lang="en-US" dirty="0" smtClean="0"/>
              <a:t>Atomicity of updates</a:t>
            </a:r>
          </a:p>
          <a:p>
            <a:pPr lvl="2"/>
            <a:r>
              <a:rPr lang="en-US" dirty="0" smtClean="0"/>
              <a:t>Failures may leave database in an inconsistent state with partial updates carried out</a:t>
            </a:r>
          </a:p>
          <a:p>
            <a:pPr lvl="2"/>
            <a:r>
              <a:rPr lang="en-US" dirty="0" smtClean="0"/>
              <a:t>E.g. transfer of funds from one account to another should either complete or not happen at all</a:t>
            </a:r>
          </a:p>
          <a:p>
            <a:pPr lvl="1"/>
            <a:r>
              <a:rPr lang="en-US" dirty="0" smtClean="0"/>
              <a:t>Concurrent access by multiple users</a:t>
            </a:r>
          </a:p>
          <a:p>
            <a:pPr lvl="2"/>
            <a:r>
              <a:rPr lang="en-US" dirty="0" smtClean="0"/>
              <a:t>Concurrent accessed needed for performance</a:t>
            </a:r>
          </a:p>
          <a:p>
            <a:pPr lvl="2"/>
            <a:r>
              <a:rPr lang="en-US" dirty="0" smtClean="0"/>
              <a:t>Uncontrolled concurrent accesses can lead to inconsistencies</a:t>
            </a:r>
          </a:p>
          <a:p>
            <a:pPr lvl="3"/>
            <a:r>
              <a:rPr lang="en-US" dirty="0" smtClean="0"/>
              <a:t>E.g. two people reading a balance and updating it at the same time</a:t>
            </a:r>
          </a:p>
          <a:p>
            <a:pPr lvl="1"/>
            <a:r>
              <a:rPr lang="en-US" dirty="0" smtClean="0"/>
              <a:t>Security problems</a:t>
            </a:r>
          </a:p>
          <a:p>
            <a:r>
              <a:rPr lang="en-US" dirty="0" smtClean="0"/>
              <a:t>Database systems offer solutions to all the above problems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97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infact</a:t>
            </a:r>
            <a:r>
              <a:rPr lang="en-US" dirty="0" smtClean="0"/>
              <a:t> it is better to use regular files under the following circumstances:</a:t>
            </a:r>
          </a:p>
          <a:p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Embedded systems with limited storage capacity, where a general-purpose DBMS would not fit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25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imp characteristic of the database approach is that it provides some level of data abstraction. 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abstraction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generally refers to the suppression of details of data organization and storage, and the highlighting of the essential features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an improved understanding of data. 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of the main characteristics of the database approach is to support data abstraction so that different users can perceive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at their preferred level of detail.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model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a collection of high-level data description constructs that hide many low-level storage details. 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defined operations are used to specify the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 aspect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</a:t>
            </a:r>
            <a:r>
              <a:rPr lang="en-GB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behavior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a database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42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DBMS allows a user to define the data to be stored in terms of a data model. Most database management systems today are based on the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relational data model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we will focus on in this book.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the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implementational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model of the DBMS hides many details, it is nonetheless closer to how the DBMS stores data than to how a user thinks about the underlying enterprise.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conceptual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model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a more abstract, high-level data model that makes it easier for a user to come up with a good initial description of the data in an enterprise.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173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entity-relationship (E-R) data model is based on a perception of a real world that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consists of a collection of basic objects, called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entities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of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relationships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among these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objects. An entity is a “thing” or “object” in the real world that is distinguishable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other objects. For example, each person is an entity, and bank accounts can be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considered as entities.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Entities are described in a database by a set of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attributes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relationship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an association among several entities. For example, a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depositor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relationship associates a customer with each account that she has. The set of all entities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same type and the set of all relationships of the same type are termed an</a:t>
            </a:r>
          </a:p>
          <a:p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entity set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relationship set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respectively.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overall logical structure (schema) of a database can be expressed graphically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an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E-R diagram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which is built up from the following components: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347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relational model uses a collection of tables to represent both data and the relationships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among those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915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distinction between database schema and database state is very important.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we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define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new database, we specify its database schema only to the DBMS.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this point, the corresponding database state is the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empty state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no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data.We</a:t>
            </a:r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 the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 state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database when the database is first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populated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loaded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the initial data. From then on, every time an update operation is applied to the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database, we get another database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185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Program operation independence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3140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three-schema architecture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was proposed to help achieve and visualize the database characteristics described in last slide.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 smtClean="0"/>
              <a:t>Internal schema Typically uses a </a:t>
            </a:r>
            <a:r>
              <a:rPr lang="en-US" sz="2000" b="1" dirty="0" smtClean="0"/>
              <a:t>physical</a:t>
            </a:r>
            <a:r>
              <a:rPr lang="en-US" sz="2000" dirty="0" smtClean="0"/>
              <a:t> data model.</a:t>
            </a:r>
          </a:p>
          <a:p>
            <a:endParaRPr lang="en-US" dirty="0" smtClean="0"/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conceptual schema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hides the details of physical storage structures and concentrates on describing entities, data types, relationships, user operations, and constraints. Usually, a representational (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implementational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or conceptual  data model is used to describe the conceptual schema when a database system is implemented.  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External schemas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which usually are also in terms of the data model of the DBMS, allow data access to be customized (and authorized) at the level of individual users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groups of users. 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 given database has exactly one conceptual schema and one physical schema because it has just one set of stored relations, but it may have several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external schemas, each tailored to a particular group of users. 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external schema consists of a collection of one or more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views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relations from the conceptual schema.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view is conceptually a relation, but the records in a view are not stored in the DBMS. Rather, they are computed using a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denition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the view, in terms of relations stored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DBMS. The external schema design is guided by end user requirements. </a:t>
            </a:r>
            <a:endParaRPr lang="en-US" dirty="0" smtClean="0"/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Most DBMSs do not separate the three levels completely and explicitly, but support the three-schema architecture to some extent.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Notice that the three schemas are only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descriptions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data; the stored data that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actually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exists is at the physical level only. In a DBMS based on the three-schema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architecture, each user group refers to its own external schema. Hence, the DBMS must transform a request specified on an external schema into a request against the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conceptual schema, and then into a request on the internal schema for processing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 the stored database.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processes of transforming requests and results between levels are called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mappings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4213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three-schema architecture can be used to further explain the concept of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</a:p>
          <a:p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independence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which can be defined as the capacity to change the schema at one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 of a database system without having to change the schema at the next higher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the same data as before remains in the database, we should not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have to change the conceptual schema. For example, providing an access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path to improve retrieval speed of section records (Figure 1.2) by semester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year should not require a query such as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 all sections offered in fall 2008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changed, although the query would be executed more efficiently by the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DBMS by utilizing the new access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0411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three-schema architecture can be used to further explain the concept of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</a:p>
          <a:p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independence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which can be defined as the capacity to change the schema at one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 of a database system without having to change the schema at the next higher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change the conceptual schema to expand the database (by adding a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 type or data item), to change constraints, or to reduce the database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(by removing a record type or data item). In the last case, external schemas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refer only to the remaining data should not be affected. For example, the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external schema of Figure 1.5(a) should not be affected by changing the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GRADE_REPORT file (or record type) shown in Figure 1.2 into the one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shown in Figure 1.6(a). Only the view definition and the mappings need to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 changed in a DBMS that supports logical data independence. After the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conceptual schema undergoes a logical reorganization, application programs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reference the external schema constructs must work as before.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Generally, physical data independence exists in most databases and file environments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physical details such as the exact location of data on disk, and hardware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details of storage encoding, placement, compression, splitting, merging of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records, and so on are hidden from the user. Applications remain unaware of these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details. On the other hand, logical data independence is harder to achieve because it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allows structural and constraint changes without affecting application programs—a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much stricter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0411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DBMS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 provide appropriate languages and interfaces for each category of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3097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14FFBE-81A7-4036-A390-682688A0C7A9}" type="slidenum">
              <a:rPr lang="en-CA"/>
              <a:pPr/>
              <a:t>32</a:t>
            </a:fld>
            <a:endParaRPr lang="en-CA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DBMSs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DDL is used to define both conceptual and external schemas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In relational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DBMSs, SQL is used in the role of VDL to define user or application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views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results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predefined queries (see Chapters 4 and 5)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0373822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DB1A44-1B98-4531-A1E3-9127D7AB83BE}" type="slidenum">
              <a:rPr lang="en-CA"/>
              <a:pPr/>
              <a:t>33</a:t>
            </a:fld>
            <a:endParaRPr lang="en-CA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Once the database schemas are compiled and the database is populated with data,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 must have some means to manipulate the database. Typical manipulations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include retrieval, insertion, deletion, and modification of the data. The DBMS provides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set of operations or a language called the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manipulation language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DML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for these purposes.  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current DBMSs, the preceding types of languages are usually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considered distinct</a:t>
            </a:r>
          </a:p>
          <a:p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languages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rather, a comprehensive integrated language is used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Relational Algebra is a procedural Language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typical example of a comprehensive database language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the SQL relational database language (see Chapters 4 and 5), which represents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combination of DDL, VDL, and DML, as well as statements for constraint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specification, schema evolution, and other features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1111766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2.3 illustrates, in a simplified form, the typical DBMS components. 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figure is divided into two parts. 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top part of the figure refers to the various users of the database environment and their interfaces. 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lower part shows the internals of the DBMS responsible for storage of data and processing of transactions.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database and the DBMS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catalog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usually stored on disk. Access to the disk is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controlled primarily by the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operating system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which schedules disk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read/write. Many DBMSs have their own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buffer management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module to schedule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disk read/write, because this has a considerable effect on performance. Reducing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disk read/write improves performance considerably. A higher-level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stored data</a:t>
            </a:r>
          </a:p>
          <a:p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manager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module of the DBMS controls access to DBMS information that is stored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disk, whether it is part of the database or the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catalog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us consider the top part of Figure 2.3 first. It shows interfaces for the DBA staff,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casual users who work with interactive interfaces to formulate queries, application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programmers who create programs using some host programming languages, and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parametric users who do data entry work by supplying parameters to predefined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transactions. The DBA staff works on defining the database and tuning it by making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changes to its definition using the DDL and other privileged commands.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DDL compiler processes schema definitions, specified in the DDL, and stores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descriptions of the schemas (meta-data) in the DBMS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catalog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The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catalog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includes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information such as the names and sizes of files, names and data types of data items,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storage details of each file, mapping information among schemas, and constraints.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addition, the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catalog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stores many other types of information that are needed by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DBMS modules, which can then look up the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catalog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information as needed.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Casual users and persons with occasional need for information from the database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interact using some form of interface, which we call the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interactive query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interface</a:t>
            </a:r>
          </a:p>
          <a:p>
            <a:endParaRPr lang="en-US" dirty="0" smtClean="0"/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Among other things, the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query optimizer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concerned with the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rearrangement and possible reordering of operations, elimination of redundancies,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use of correct algorithms and indexes during execution. It consults the system</a:t>
            </a:r>
          </a:p>
          <a:p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catalog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statistical and other physical information about the stored data and generates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executable code that performs the necessary operations for the query and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makes calls on the runtime processor.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 programmers write programs in host languages such as Java, C, or C++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are submitted to a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precompiler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The </a:t>
            </a:r>
            <a:r>
              <a:rPr lang="en-GB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precompiler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extracts DML commands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an application program written in a host programming language. These commands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sent to the DML compiler for compilation into object code for database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access. The rest of the program is sent to the host language compiler. The object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codes for the DML commands and the rest of the program are linked, forming a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canned transaction whose executable code includes calls to the runtime database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processor. Canned transactions are executed repeatedly by parametric users, who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simply supply the parameters to the transactions. Each execution is considered to be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separate transaction. An example is a bank withdrawal transaction where the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account number and the amount may be supplied as parameters.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lower part of Figure 2.3, the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runtime database processor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executes (1) the privileged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commands, (2) the executable query plans, and (3) the canned transactions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runtime parameters. It works with the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</a:t>
            </a:r>
            <a:r>
              <a:rPr lang="en-GB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catalog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may update it with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statistics. It also works with the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stored data manager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which in turn uses basic operating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services for carrying out low-level input/output (read/write) operations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between the disk and main memory. The runtime database processor handles other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aspects of data transfer, such as management of buffers in the main memory. Some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DBMSs have their own buffer management module while others depend on the OS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buffer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management.We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have shown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concurrency control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backup and recovery</a:t>
            </a:r>
          </a:p>
          <a:p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systems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separately as a module in this figure. They are integrated into the working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runtime database processor for purposes of transaction management.</a:t>
            </a:r>
            <a:endParaRPr lang="en-US" dirty="0" smtClean="0"/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2.3 is not meant to describe a specific DBMS; rather, it illustrates typical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DBMS modules. The DBMS interacts with the operating system when disk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accesses—to the database or to the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catalog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—are needed. If the computer system is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 by many users, the OS will schedule DBMS disk access requests and DBMS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processing along with other processes. On the other hand, if the computer system is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mainly dedicated to running the database server, the DBMS will control main memory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buffering of disk pages. The DBMS also interfaces with compilers for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generalpurpose</a:t>
            </a:r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host programming languages, and with application servers and client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programs running on separate machines through the system network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86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1.3 shows the structure (with some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simplication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of a typical DBMS based on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relational data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272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B0EC1A-DC51-4D05-81EE-815D6F2846A8}" type="slidenum">
              <a:rPr lang="en-CA"/>
              <a:pPr/>
              <a:t>36</a:t>
            </a:fld>
            <a:endParaRPr lang="en-CA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Earlier architectures used mainframe computers to provide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main processing for all system functions, including user application programs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user interface programs, as well as all the DBMS functionality. The reason was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most users accessed such systems via computer terminals that did not have processing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power and only provided display capabilities. Therefore, all processing was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performed remotely on the computer system, and only display information and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controls were sent from the computer to the display terminals, which were connected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central computer via various types of communications networks.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prices of hardware declined, most users replaced their terminals with PCs and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workstations. At first, database systems used these computers similarly to how they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had used display terminals, so that the DBMS itself was still a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centralized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DBMS in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which all the DBMS functionality, application program execution, and user interface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processing were carried out on one machine. Figure 2.4 illustrates the physical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components in a centralized architecture. Gradually, DBMS systems started to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exploit the available processing power at the user side, which led to client/server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DBMS architectures.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0222484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1714B2-9533-48B6-B19F-4774329FEC03}" type="slidenum">
              <a:rPr lang="en-CA"/>
              <a:pPr/>
              <a:t>37</a:t>
            </a:fld>
            <a:endParaRPr lang="en-CA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First, we discuss client/server architecture in general, then we see how it is applied to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DBMSs. The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client/server architecture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 developed to deal with computing environments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which a large number of PCs, workstations, file servers, printers, data base servers, Web servers, e-mail servers, and other software and equipment are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connected via a network. The idea is to define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specialized servers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specific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functionalities. For example, it is possible to connect a number of PCs or small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workstations as clients to a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server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maintains the files of the client machines.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Another machine can be designated as a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printer server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being connected to various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printers; all print requests by the clients are forwarded to this machine.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Web</a:t>
            </a:r>
          </a:p>
          <a:p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Servers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e-mail servers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 fall into the specialized server category. 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(RDBMSs), many of which started as centralized systems, the system components that were first moved to the client side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were the user interface and application programs. Because SQL provided a standard language for RDBMSs, this created a logical dividing point 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between client and server. Hence, the query and transaction functionality related to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SQL processing remained on the server side. In such an architecture, the server is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often called a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query server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transaction server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because it provides these two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functionalities. In an RDBMS, the server is also often called an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SQL server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37071758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A61CFB-D186-4E31-BF10-731FDB281A3A}" type="slidenum">
              <a:rPr lang="en-CA"/>
              <a:pPr/>
              <a:t>38</a:t>
            </a:fld>
            <a:endParaRPr lang="en-CA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user interface programs and application programs can run on the client side.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DBMS access is required, the program establishes a connection to the DBMS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(which is on the server side); once the connection is created, the client program can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communicate with the DBMS. A standard called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 Database Connectivity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ODBC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provides an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 programming interface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which allows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client-side programs to call the DBMS, as long as both client and server machines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have the necessary software installed. Most DBMS vendors provide ODBC drivers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their systems. A client program can actually connect to several RDBMSs and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send query and transaction requests using the ODBC API, which are then processed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the server sites. Any query results are sent back to the client program, which can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and display the results as needed. A related standard for the Java programming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language, called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JDBC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has also been defined. This allows Java client programs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access one or more DBMSs through a standard interface.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1698255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6117D8-75BE-48BF-9427-05374201E5D1}" type="slidenum">
              <a:rPr lang="en-CA"/>
              <a:pPr/>
              <a:t>39</a:t>
            </a:fld>
            <a:endParaRPr lang="en-CA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>
            <a:normAutofit fontScale="92500" lnSpcReduction="10000"/>
          </a:bodyPr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intermediate layer or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middle tier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called the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 server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the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Web</a:t>
            </a:r>
          </a:p>
          <a:p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server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depending on the application. This server plays an intermediary role by running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 programs and storing business rules (procedures or constraints)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are used to access data from the database server.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It can also improve database security by checking a client’s credentials before forwarding a request to the database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server. Clients contain GUI interfaces and some additional application-specific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business rules. The intermediate server accepts requests from the client, processes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request and sends database queries and commands to the database server, and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then acts as a conduit for passing (partially) processed data from the database server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clients, where it may be processed further and filtered to be presented to users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GUI format. 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Thus, the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interface, application rules,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GB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access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 as the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three tiers. Figure 2.7(b) shows another architecture used by database and other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 package vendors. 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presentation layer displays information to the user and allows data entry. 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business logic layer handles intermediate rules and constraints before data is passed up to the user or down to the DBMS.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bottom layer includes all data management services. 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middle layer can also act as a Web server, which retrieves query results from the database server and formats them into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 Web pages that are viewed by the Web browser at the client side.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3598741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EE3AAC-69E7-4DF3-A531-8424B7E0AA20}" type="slidenum">
              <a:rPr lang="en-CA"/>
              <a:pPr/>
              <a:t>40</a:t>
            </a:fld>
            <a:endParaRPr lang="en-CA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third criterion is the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 of sites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 which the database is distributed. A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DBMS is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centralized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the data is stored at a single computer site. A centralized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DBMS can support multiple users, but the DBMS and the database reside totally at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single computer site. A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distributed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DBMS (DDBMS) can have the actual database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DBMS software distributed over many sites, connected by a computer network.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Homogeneous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DDBMSs use the same DBMS software at all the sites, whereas</a:t>
            </a:r>
          </a:p>
          <a:p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heterogeneous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DDBMSs can use different DBMS software at each site. It is also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possible to develop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middleware software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access several autonomous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preexisting</a:t>
            </a:r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databases stored under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heterogeneousDBMSs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This leads to a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federated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DBMS (or</a:t>
            </a:r>
          </a:p>
          <a:p>
            <a:r>
              <a:rPr lang="en-GB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multidatabase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system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in which the participating DBMSs are loosely coupled and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have a degree of local autonomy. Many DDBMSs use client-server architecture, as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described in Section 2.5.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7634146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48CDCF-A120-419F-BCBA-5FC000945C00}" type="slidenum">
              <a:rPr lang="en-CA"/>
              <a:pPr/>
              <a:t>41</a:t>
            </a:fld>
            <a:endParaRPr lang="en-CA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distributed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DBMS (DDBMS) can have the actual database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DBMS software distributed over many sites, connected by a computer network.</a:t>
            </a:r>
          </a:p>
          <a:p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Homogeneous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DDBMSs use the same DBMS software at all the sites, whereas</a:t>
            </a:r>
            <a:endParaRPr lang="en-GB" sz="1200" b="1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heterogeneous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DDBMSs can use different DBMS software at each site. It is also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possible to develop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middleware software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access several autonomous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preexisting</a:t>
            </a:r>
            <a:endParaRPr lang="en-GB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databases stored under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heterogeneousDBMSs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This leads to a 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federated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DBMS (or</a:t>
            </a:r>
          </a:p>
          <a:p>
            <a:r>
              <a:rPr lang="en-GB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multidatabase</a:t>
            </a:r>
            <a:r>
              <a:rPr lang="en-GB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system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in which the participating DBMSs are loosely coupled and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have a degree of local autonomy. Many DDBMSs use client-server architecture, as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described in Section 2.5.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9887453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Specify overall logical structure of the database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442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major drawback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data redundancy. This problem occurs because the hierarchical model handles the one-to-many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relationship very well, but is unable to deal with a many-to-many relationship, causing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to be duplicated. For example, a hierarchical chart showing an employee who reports to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one supervisor would require duplicating that employee’s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7645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Allow one to specify data constraints explicitly.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Internal parts of the object, the instance variables and method code, are not visible externally.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41B461-9498-4E58-A978-F4DA8C0F5699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911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0396F6-EA53-41E4-BC06-CA87C2B250CF}" type="slidenum">
              <a:rPr lang="en-CA"/>
              <a:pPr/>
              <a:t>47</a:t>
            </a:fld>
            <a:endParaRPr lang="en-CA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  <p:extLst>
      <p:ext uri="{BB962C8B-B14F-4D97-AF65-F5344CB8AC3E}">
        <p14:creationId xmlns:p14="http://schemas.microsoft.com/office/powerpoint/2010/main" val="12474140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9605B9-2126-4673-AE0F-187A16952A06}" type="slidenum">
              <a:rPr lang="en-CA"/>
              <a:pPr/>
              <a:t>48</a:t>
            </a:fld>
            <a:endParaRPr lang="en-CA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  <p:extLst>
      <p:ext uri="{BB962C8B-B14F-4D97-AF65-F5344CB8AC3E}">
        <p14:creationId xmlns:p14="http://schemas.microsoft.com/office/powerpoint/2010/main" val="1455066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C3F416CD-67A3-4CF0-A210-F6AF31AC147F}" type="datetimeFigureOut">
              <a:rPr lang="en-US" smtClean="0"/>
              <a:pPr/>
              <a:t>2/10/2015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pPr algn="r" eaLnBrk="1" latinLnBrk="0" hangingPunct="1"/>
            <a:fld id="{96652B35-718D-4E28-AFEB-B694A3B357E8}" type="slidenum">
              <a:rPr kumimoji="0" lang="en-US" smtClean="0"/>
              <a:pPr algn="r" eaLnBrk="1" latinLnBrk="0" hangingPunct="1"/>
              <a:t>‹#›</a:t>
            </a:fld>
            <a:endParaRPr kumimoji="0" lang="en-US" sz="1800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C3F416CD-67A3-4CF0-A210-F6AF31AC147F}" type="datetimeFigureOut">
              <a:rPr lang="en-US" smtClean="0"/>
              <a:pPr/>
              <a:t>2/10/2015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6652B35-718D-4E28-AFEB-B694A3B357E8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C3F416CD-67A3-4CF0-A210-F6AF31AC147F}" type="datetimeFigureOut">
              <a:rPr lang="en-US" smtClean="0"/>
              <a:pPr/>
              <a:t>2/10/2015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96652B35-718D-4E28-AFEB-B694A3B357E8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2/10/2015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eaLnBrk="1" latinLnBrk="0" hangingPunct="1"/>
            <a:fld id="{C3F416CD-67A3-4CF0-A210-F6AF31AC147F}" type="datetimeFigureOut">
              <a:rPr lang="en-US" smtClean="0"/>
              <a:pPr algn="l" eaLnBrk="1" latinLnBrk="0" hangingPunct="1"/>
              <a:t>2/10/2015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eaLnBrk="1" latinLnBrk="0" hangingPunct="1"/>
            <a:fld id="{96652B35-718D-4E28-AFEB-B694A3B357E8}" type="slidenum">
              <a:rPr kumimoji="0" lang="en-US" smtClean="0"/>
              <a:pPr algn="r" eaLnBrk="1" latinLnBrk="0" hangingPunct="1"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3F416CD-67A3-4CF0-A210-F6AF31AC147F}" type="datetimeFigureOut">
              <a:rPr lang="en-US" smtClean="0"/>
              <a:pPr/>
              <a:t>2/10/2015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6652B35-718D-4E28-AFEB-B694A3B357E8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2/10/2015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C3F416CD-67A3-4CF0-A210-F6AF31AC147F}" type="datetimeFigureOut">
              <a:rPr lang="en-US" smtClean="0"/>
              <a:pPr/>
              <a:t>2/10/2015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6652B35-718D-4E28-AFEB-B694A3B357E8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3F416CD-67A3-4CF0-A210-F6AF31AC147F}" type="datetimeFigureOut">
              <a:rPr lang="en-US" smtClean="0"/>
              <a:pPr/>
              <a:t>2/10/2015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6652B35-718D-4E28-AFEB-B694A3B357E8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2/10/2015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2/10/2015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C3F416CD-67A3-4CF0-A210-F6AF31AC147F}" type="datetimeFigureOut">
              <a:rPr lang="en-US" smtClean="0"/>
              <a:pPr algn="l" eaLnBrk="1" latinLnBrk="0" hangingPunct="1"/>
              <a:t>2/10/2015</a:t>
            </a:fld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800" dirty="0">
              <a:solidFill>
                <a:schemeClr val="accent2"/>
              </a:solidFill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6652B35-718D-4E28-AFEB-B694A3B357E8}" type="slidenum">
              <a:rPr kumimoji="0" lang="en-US" smtClean="0"/>
              <a:pPr algn="r" eaLnBrk="1" latinLnBrk="0" hangingPunct="1"/>
              <a:t>‹#›</a:t>
            </a:fld>
            <a:endParaRPr kumimoji="0" lang="en-US" sz="18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Introduction: Databases and Database Systems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99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DataBase</a:t>
            </a:r>
            <a:r>
              <a:rPr lang="en-US" dirty="0" smtClean="0"/>
              <a:t> 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 dirty="0" smtClean="0"/>
              <a:t>An organized collection of related data.</a:t>
            </a:r>
          </a:p>
          <a:p>
            <a:pPr>
              <a:lnSpc>
                <a:spcPct val="90000"/>
              </a:lnSpc>
            </a:pPr>
            <a:r>
              <a:rPr lang="en-US" sz="2300" dirty="0" smtClean="0"/>
              <a:t>Example of Database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a telephone book 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T.V</a:t>
            </a:r>
            <a:r>
              <a:rPr lang="en-US" sz="2000" dirty="0"/>
              <a:t>. Guide 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papers </a:t>
            </a:r>
            <a:r>
              <a:rPr lang="en-US" sz="2000" dirty="0"/>
              <a:t>in your filing cabinet 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files on your computer hard drive</a:t>
            </a:r>
            <a:endParaRPr lang="en-US" sz="2000" dirty="0" smtClean="0"/>
          </a:p>
          <a:p>
            <a:pPr lvl="1">
              <a:lnSpc>
                <a:spcPct val="90000"/>
              </a:lnSpc>
            </a:pPr>
            <a:endParaRPr lang="en-US" sz="20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76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772400" cy="487375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 smtClean="0"/>
              <a:t>Database Management System (DBMS):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A software system to facilitate the creation and maintenance of a computerized database.</a:t>
            </a:r>
          </a:p>
          <a:p>
            <a:r>
              <a:rPr lang="en-US" b="1" dirty="0" smtClean="0"/>
              <a:t>Database System:</a:t>
            </a:r>
          </a:p>
          <a:p>
            <a:pPr lvl="1"/>
            <a:r>
              <a:rPr lang="en-GB" dirty="0" smtClean="0"/>
              <a:t>A </a:t>
            </a:r>
            <a:r>
              <a:rPr lang="en-GB" dirty="0"/>
              <a:t>collection of interrelated data and </a:t>
            </a:r>
            <a:r>
              <a:rPr lang="en-GB" dirty="0" smtClean="0"/>
              <a:t>a set </a:t>
            </a:r>
            <a:r>
              <a:rPr lang="en-GB" dirty="0"/>
              <a:t>of programs to access those </a:t>
            </a:r>
            <a:r>
              <a:rPr lang="en-GB" dirty="0" smtClean="0"/>
              <a:t>data</a:t>
            </a:r>
          </a:p>
          <a:p>
            <a:pPr lvl="1"/>
            <a:r>
              <a:rPr lang="en-GB" sz="2000" dirty="0" smtClean="0"/>
              <a:t>It includes </a:t>
            </a:r>
            <a:r>
              <a:rPr lang="en-US" sz="2000" dirty="0" smtClean="0"/>
              <a:t>DBMS and the data. 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Sometimes, the applications are also included.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269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Simplified database system environment</a:t>
            </a:r>
            <a:endParaRPr lang="en-US" dirty="0"/>
          </a:p>
        </p:txBody>
      </p:sp>
      <p:pic>
        <p:nvPicPr>
          <p:cNvPr id="4" name="Picture 4" descr="fig01_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625" y="1524000"/>
            <a:ext cx="5743575" cy="496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21527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System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Some </a:t>
            </a:r>
            <a:r>
              <a:rPr lang="en-US" dirty="0"/>
              <a:t>representative </a:t>
            </a:r>
            <a:r>
              <a:rPr lang="en-US" dirty="0" smtClean="0"/>
              <a:t>applications</a:t>
            </a:r>
          </a:p>
          <a:p>
            <a:pPr lvl="1"/>
            <a:r>
              <a:rPr lang="en-US" dirty="0" smtClean="0"/>
              <a:t>Banking </a:t>
            </a:r>
          </a:p>
          <a:p>
            <a:pPr lvl="1"/>
            <a:r>
              <a:rPr lang="en-US" dirty="0" smtClean="0"/>
              <a:t>Airlines</a:t>
            </a:r>
          </a:p>
          <a:p>
            <a:pPr lvl="1"/>
            <a:r>
              <a:rPr lang="en-US" dirty="0" smtClean="0"/>
              <a:t>Universities</a:t>
            </a:r>
          </a:p>
          <a:p>
            <a:pPr lvl="1"/>
            <a:r>
              <a:rPr lang="en-US" dirty="0" smtClean="0"/>
              <a:t>Hospitals</a:t>
            </a:r>
          </a:p>
          <a:p>
            <a:pPr lvl="1"/>
            <a:r>
              <a:rPr lang="en-US" dirty="0" smtClean="0"/>
              <a:t>Telecommunication</a:t>
            </a:r>
          </a:p>
          <a:p>
            <a:pPr lvl="1"/>
            <a:r>
              <a:rPr lang="en-US" dirty="0" smtClean="0"/>
              <a:t>Sales</a:t>
            </a:r>
          </a:p>
          <a:p>
            <a:pPr lvl="1"/>
            <a:r>
              <a:rPr lang="en-US" dirty="0" smtClean="0"/>
              <a:t>Manufacturing</a:t>
            </a:r>
          </a:p>
          <a:p>
            <a:pPr lvl="1"/>
            <a:r>
              <a:rPr lang="en-US" dirty="0" smtClean="0"/>
              <a:t>Human Resources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02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Drawbacks of </a:t>
            </a:r>
            <a:r>
              <a:rPr lang="en-US" dirty="0" smtClean="0"/>
              <a:t>file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 </a:t>
            </a:r>
            <a:r>
              <a:rPr lang="en-US" dirty="0"/>
              <a:t>redundancy and inconsistency</a:t>
            </a:r>
          </a:p>
          <a:p>
            <a:pPr lvl="1"/>
            <a:r>
              <a:rPr lang="en-US" dirty="0"/>
              <a:t>Multiple file formats, duplication of information in different files</a:t>
            </a:r>
          </a:p>
          <a:p>
            <a:r>
              <a:rPr lang="en-US" dirty="0"/>
              <a:t>Difficulty in accessing data </a:t>
            </a:r>
          </a:p>
          <a:p>
            <a:pPr lvl="1"/>
            <a:r>
              <a:rPr lang="en-US" dirty="0"/>
              <a:t>Need to write a new program to carry out each new task</a:t>
            </a:r>
          </a:p>
          <a:p>
            <a:r>
              <a:rPr lang="en-US" dirty="0"/>
              <a:t>Data isolation — multiple files and formats</a:t>
            </a:r>
          </a:p>
          <a:p>
            <a:r>
              <a:rPr lang="en-US" dirty="0"/>
              <a:t>Integrity problems</a:t>
            </a:r>
          </a:p>
          <a:p>
            <a:pPr lvl="1"/>
            <a:r>
              <a:rPr lang="en-US" dirty="0"/>
              <a:t>Integrity constraints  (e.g. account balance &gt; 0) become part of program code</a:t>
            </a:r>
          </a:p>
          <a:p>
            <a:pPr lvl="1"/>
            <a:r>
              <a:rPr lang="en-US" dirty="0"/>
              <a:t>Hard to add new constraints or change existing ones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226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Drawbacks of </a:t>
            </a:r>
            <a:r>
              <a:rPr lang="en-US" dirty="0" smtClean="0"/>
              <a:t>file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Atomicity </a:t>
            </a:r>
            <a:r>
              <a:rPr lang="en-US" dirty="0"/>
              <a:t>of updates</a:t>
            </a:r>
          </a:p>
          <a:p>
            <a:pPr lvl="1"/>
            <a:r>
              <a:rPr lang="en-US" dirty="0"/>
              <a:t>Failures may leave database in an inconsistent state with partial updates carried out</a:t>
            </a:r>
          </a:p>
          <a:p>
            <a:pPr lvl="1"/>
            <a:r>
              <a:rPr lang="en-US" dirty="0"/>
              <a:t>E.g. transfer of funds from one account to another should either complete or not happen at all</a:t>
            </a:r>
          </a:p>
          <a:p>
            <a:r>
              <a:rPr lang="en-US" dirty="0"/>
              <a:t>Concurrent access by multiple users</a:t>
            </a:r>
          </a:p>
          <a:p>
            <a:pPr lvl="1"/>
            <a:r>
              <a:rPr lang="en-US" dirty="0"/>
              <a:t>Concurrent accessed needed for performance</a:t>
            </a:r>
          </a:p>
          <a:p>
            <a:pPr lvl="1"/>
            <a:r>
              <a:rPr lang="en-US" dirty="0"/>
              <a:t>Uncontrolled concurrent accesses can lead to inconsistencies</a:t>
            </a:r>
          </a:p>
          <a:p>
            <a:pPr lvl="2"/>
            <a:r>
              <a:rPr lang="en-US" dirty="0"/>
              <a:t>E.g. two people reading a balance and updating it at the same time</a:t>
            </a:r>
          </a:p>
          <a:p>
            <a:r>
              <a:rPr lang="en-US" dirty="0"/>
              <a:t>Security problems</a:t>
            </a:r>
          </a:p>
          <a:p>
            <a:r>
              <a:rPr lang="en-US" dirty="0"/>
              <a:t>Database systems offer solutions to all the above problems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81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a 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Mini-world: </a:t>
            </a:r>
            <a:r>
              <a:rPr lang="en-US" dirty="0" smtClean="0"/>
              <a:t>UNIVERSITY</a:t>
            </a:r>
          </a:p>
          <a:p>
            <a:r>
              <a:rPr lang="en-US" b="1" dirty="0" smtClean="0"/>
              <a:t>Some mini-world </a:t>
            </a:r>
            <a:r>
              <a:rPr lang="en-US" b="1" i="1" dirty="0" smtClean="0"/>
              <a:t>entities</a:t>
            </a:r>
            <a:r>
              <a:rPr lang="en-US" b="1" dirty="0" smtClean="0"/>
              <a:t>:</a:t>
            </a:r>
          </a:p>
          <a:p>
            <a:pPr lvl="1"/>
            <a:r>
              <a:rPr lang="en-US" sz="2200" dirty="0" smtClean="0"/>
              <a:t>Students </a:t>
            </a:r>
          </a:p>
          <a:p>
            <a:pPr lvl="1"/>
            <a:r>
              <a:rPr lang="en-US" sz="2200" dirty="0" smtClean="0"/>
              <a:t>Courses</a:t>
            </a:r>
            <a:r>
              <a:rPr lang="en-US" sz="2200" cap="small" dirty="0" smtClean="0"/>
              <a:t> </a:t>
            </a:r>
          </a:p>
          <a:p>
            <a:pPr lvl="1"/>
            <a:r>
              <a:rPr lang="en-US" sz="2200" dirty="0"/>
              <a:t>Section (of </a:t>
            </a:r>
            <a:r>
              <a:rPr lang="en-US" sz="2200" dirty="0" smtClean="0"/>
              <a:t>Courses</a:t>
            </a:r>
            <a:r>
              <a:rPr lang="en-US" sz="2200" dirty="0"/>
              <a:t>)</a:t>
            </a:r>
          </a:p>
          <a:p>
            <a:pPr lvl="1"/>
            <a:r>
              <a:rPr lang="en-US" sz="2200" dirty="0" smtClean="0"/>
              <a:t>Departments</a:t>
            </a:r>
          </a:p>
          <a:p>
            <a:pPr lvl="1"/>
            <a:r>
              <a:rPr lang="en-US" sz="2200" dirty="0" smtClean="0"/>
              <a:t>Instructors</a:t>
            </a:r>
            <a:endParaRPr lang="en-US" sz="1800" b="1" dirty="0"/>
          </a:p>
          <a:p>
            <a:r>
              <a:rPr lang="en-US" b="1" dirty="0" smtClean="0"/>
              <a:t>Some </a:t>
            </a:r>
            <a:r>
              <a:rPr lang="en-US" b="1" dirty="0"/>
              <a:t>mini-world </a:t>
            </a:r>
            <a:r>
              <a:rPr lang="en-US" b="1" i="1" dirty="0"/>
              <a:t>relationships</a:t>
            </a:r>
            <a:r>
              <a:rPr lang="en-US" b="1" dirty="0"/>
              <a:t>:</a:t>
            </a:r>
          </a:p>
          <a:p>
            <a:pPr lvl="1"/>
            <a:r>
              <a:rPr lang="en-US" sz="2000" dirty="0" smtClean="0"/>
              <a:t>Sections </a:t>
            </a:r>
            <a:r>
              <a:rPr lang="en-US" sz="2000" i="1" dirty="0"/>
              <a:t>are of specific</a:t>
            </a:r>
            <a:r>
              <a:rPr lang="en-US" sz="2000" dirty="0"/>
              <a:t> </a:t>
            </a:r>
            <a:r>
              <a:rPr lang="en-US" sz="2000" dirty="0" smtClean="0"/>
              <a:t>Courses</a:t>
            </a:r>
            <a:endParaRPr lang="en-US" sz="2000" dirty="0"/>
          </a:p>
          <a:p>
            <a:pPr lvl="1"/>
            <a:r>
              <a:rPr lang="en-US" sz="2000" dirty="0" smtClean="0"/>
              <a:t>Students </a:t>
            </a:r>
            <a:r>
              <a:rPr lang="en-US" sz="2000" i="1" dirty="0"/>
              <a:t>take</a:t>
            </a:r>
            <a:r>
              <a:rPr lang="en-US" sz="2000" dirty="0"/>
              <a:t> S</a:t>
            </a:r>
            <a:r>
              <a:rPr lang="en-US" sz="2000" dirty="0" smtClean="0"/>
              <a:t>ections</a:t>
            </a:r>
            <a:endParaRPr lang="en-US" sz="2000" dirty="0"/>
          </a:p>
          <a:p>
            <a:pPr lvl="1"/>
            <a:r>
              <a:rPr lang="en-US" sz="2000" dirty="0" smtClean="0"/>
              <a:t>Courses </a:t>
            </a:r>
            <a:r>
              <a:rPr lang="en-US" sz="2000" i="1" dirty="0"/>
              <a:t>have  prerequisite</a:t>
            </a:r>
            <a:r>
              <a:rPr lang="en-US" sz="2000" dirty="0"/>
              <a:t> </a:t>
            </a:r>
            <a:r>
              <a:rPr lang="en-US" sz="2000" dirty="0" smtClean="0"/>
              <a:t>Courses</a:t>
            </a:r>
            <a:endParaRPr lang="en-US" sz="2000" dirty="0"/>
          </a:p>
          <a:p>
            <a:pPr lvl="1"/>
            <a:r>
              <a:rPr lang="en-US" sz="2000" dirty="0" smtClean="0"/>
              <a:t>Instructors </a:t>
            </a:r>
            <a:r>
              <a:rPr lang="en-US" sz="2000" i="1" dirty="0"/>
              <a:t>teach</a:t>
            </a:r>
            <a:r>
              <a:rPr lang="en-US" sz="2000" dirty="0"/>
              <a:t>  </a:t>
            </a:r>
            <a:r>
              <a:rPr lang="en-US" sz="2000" dirty="0" smtClean="0"/>
              <a:t>Sections</a:t>
            </a:r>
            <a:endParaRPr lang="en-US" sz="2000" dirty="0"/>
          </a:p>
          <a:p>
            <a:pPr lvl="1"/>
            <a:r>
              <a:rPr lang="en-US" sz="2000" dirty="0" smtClean="0"/>
              <a:t>Courses </a:t>
            </a:r>
            <a:r>
              <a:rPr lang="en-US" sz="2000" i="1" dirty="0"/>
              <a:t>are offered by</a:t>
            </a:r>
            <a:r>
              <a:rPr lang="en-US" sz="2000" dirty="0"/>
              <a:t>  </a:t>
            </a:r>
            <a:r>
              <a:rPr lang="en-US" sz="2000" dirty="0" smtClean="0"/>
              <a:t>Departments</a:t>
            </a:r>
            <a:endParaRPr lang="en-US" sz="2000" dirty="0"/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91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a simple database</a:t>
            </a:r>
            <a:endParaRPr lang="en-US" dirty="0"/>
          </a:p>
        </p:txBody>
      </p:sp>
      <p:pic>
        <p:nvPicPr>
          <p:cNvPr id="4" name="Picture 4" descr="fig01_02"/>
          <p:cNvPicPr>
            <a:picLocks noGrp="1" noChangeAspect="1" noChangeArrowheads="1"/>
          </p:cNvPicPr>
          <p:nvPr>
            <p:ph sz="quarter" idx="1"/>
          </p:nvPr>
        </p:nvPicPr>
        <p:blipFill rotWithShape="1">
          <a:blip r:embed="rId2" cstate="print"/>
          <a:srcRect t="51912" r="18735"/>
          <a:stretch/>
        </p:blipFill>
        <p:spPr bwMode="auto">
          <a:xfrm>
            <a:off x="3657600" y="3581400"/>
            <a:ext cx="4467847" cy="3043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fig01_02"/>
          <p:cNvPicPr>
            <a:picLocks noChangeAspect="1" noChangeArrowheads="1"/>
          </p:cNvPicPr>
          <p:nvPr/>
        </p:nvPicPr>
        <p:blipFill rotWithShape="1">
          <a:blip r:embed="rId2" cstate="print"/>
          <a:srcRect l="17835" b="47420"/>
          <a:stretch/>
        </p:blipFill>
        <p:spPr bwMode="auto">
          <a:xfrm>
            <a:off x="304800" y="1905000"/>
            <a:ext cx="4344887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61513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 of the Database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419600" cy="4873752"/>
          </a:xfrm>
        </p:spPr>
        <p:txBody>
          <a:bodyPr/>
          <a:lstStyle/>
          <a:p>
            <a:r>
              <a:rPr lang="en-US" b="1" dirty="0" smtClean="0"/>
              <a:t>Self-describing nature of a database system:</a:t>
            </a:r>
          </a:p>
          <a:p>
            <a:pPr lvl="1"/>
            <a:r>
              <a:rPr lang="en-US" sz="2200" b="1" dirty="0" smtClean="0"/>
              <a:t>Meta-data</a:t>
            </a:r>
            <a:r>
              <a:rPr lang="en-US" sz="2200" dirty="0" smtClean="0"/>
              <a:t>, the description of DB, is stored in DBMS catalog </a:t>
            </a:r>
            <a:r>
              <a:rPr lang="en-US" sz="2200" dirty="0"/>
              <a:t> </a:t>
            </a:r>
            <a:r>
              <a:rPr lang="en-US" sz="1900" dirty="0" smtClean="0"/>
              <a:t>(e.g. data structures, types, and constraints)</a:t>
            </a:r>
          </a:p>
          <a:p>
            <a:pPr lvl="1"/>
            <a:r>
              <a:rPr lang="en-US" sz="2200" dirty="0" smtClean="0"/>
              <a:t>This allows the DBMS software to work with different database applications.</a:t>
            </a:r>
          </a:p>
          <a:p>
            <a:endParaRPr lang="en-US" b="1" dirty="0" smtClean="0"/>
          </a:p>
        </p:txBody>
      </p:sp>
      <p:pic>
        <p:nvPicPr>
          <p:cNvPr id="4" name="Picture 4" descr="fig01_01"/>
          <p:cNvPicPr>
            <a:picLocks noChangeAspect="1" noChangeArrowheads="1"/>
          </p:cNvPicPr>
          <p:nvPr/>
        </p:nvPicPr>
        <p:blipFill rotWithShape="1">
          <a:blip r:embed="rId3" cstate="print"/>
          <a:srcRect r="23871"/>
          <a:stretch/>
        </p:blipFill>
        <p:spPr bwMode="auto">
          <a:xfrm>
            <a:off x="4953000" y="1981200"/>
            <a:ext cx="3733800" cy="4240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57861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 of the Database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886200" cy="4873752"/>
          </a:xfrm>
        </p:spPr>
        <p:txBody>
          <a:bodyPr/>
          <a:lstStyle/>
          <a:p>
            <a:r>
              <a:rPr lang="en-US" b="1" dirty="0" smtClean="0"/>
              <a:t>Program-data independence:</a:t>
            </a:r>
            <a:endParaRPr lang="en-US" sz="2200" dirty="0" smtClean="0"/>
          </a:p>
          <a:p>
            <a:pPr lvl="1"/>
            <a:r>
              <a:rPr lang="en-US" sz="2200" dirty="0" smtClean="0"/>
              <a:t>Can change data structures and storage organization without changing the DBMS access programs.</a:t>
            </a:r>
          </a:p>
          <a:p>
            <a:endParaRPr lang="en-US" dirty="0"/>
          </a:p>
        </p:txBody>
      </p:sp>
      <p:pic>
        <p:nvPicPr>
          <p:cNvPr id="4" name="Picture 4" descr="fig01_01"/>
          <p:cNvPicPr>
            <a:picLocks noChangeAspect="1" noChangeArrowheads="1"/>
          </p:cNvPicPr>
          <p:nvPr/>
        </p:nvPicPr>
        <p:blipFill rotWithShape="1">
          <a:blip r:embed="rId3" cstate="print"/>
          <a:srcRect r="24149"/>
          <a:stretch/>
        </p:blipFill>
        <p:spPr bwMode="auto">
          <a:xfrm>
            <a:off x="4343400" y="1515438"/>
            <a:ext cx="4356564" cy="496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4298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 of the Database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Data Abstraction: </a:t>
            </a:r>
          </a:p>
          <a:p>
            <a:pPr lvl="1"/>
            <a:r>
              <a:rPr lang="en-US" b="1" dirty="0" smtClean="0"/>
              <a:t>Data model</a:t>
            </a:r>
            <a:r>
              <a:rPr lang="en-US" dirty="0" smtClean="0"/>
              <a:t> is used to hide storage details and present the users with a conceptual view  of the database.</a:t>
            </a:r>
          </a:p>
          <a:p>
            <a:pPr lvl="1"/>
            <a:r>
              <a:rPr lang="en-US" dirty="0" smtClean="0"/>
              <a:t>Programs refer to the data model constructs rather than data storage details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b="85020"/>
          <a:stretch/>
        </p:blipFill>
        <p:spPr bwMode="auto">
          <a:xfrm>
            <a:off x="1186354" y="5265005"/>
            <a:ext cx="6873342" cy="547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t="58892" b="7788"/>
          <a:stretch/>
        </p:blipFill>
        <p:spPr bwMode="auto">
          <a:xfrm>
            <a:off x="990600" y="4038600"/>
            <a:ext cx="6873342" cy="1218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97180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2438400"/>
            <a:ext cx="5410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422564" y="6858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 smtClean="0"/>
          </a:p>
          <a:p>
            <a:r>
              <a:rPr lang="en-US" b="1" dirty="0" smtClean="0"/>
              <a:t>Support multiple views of the data:</a:t>
            </a:r>
          </a:p>
          <a:p>
            <a:pPr lvl="1"/>
            <a:r>
              <a:rPr lang="en-US" dirty="0" smtClean="0"/>
              <a:t>Each user may see a different view of the database, which describes </a:t>
            </a:r>
            <a:r>
              <a:rPr lang="en-US" b="1" dirty="0" smtClean="0"/>
              <a:t>only</a:t>
            </a:r>
            <a:r>
              <a:rPr lang="en-US" dirty="0" smtClean="0"/>
              <a:t> the data of interest to that user.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78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Users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Database administrators: </a:t>
            </a:r>
          </a:p>
          <a:p>
            <a:pPr lvl="1"/>
            <a:r>
              <a:rPr lang="en-US" sz="2000" dirty="0" smtClean="0"/>
              <a:t>Responsible for authorizing access, coordinating and monitoring its use, acquiring software and hardware resources, and monitoring efficiency of operations.</a:t>
            </a:r>
          </a:p>
          <a:p>
            <a:r>
              <a:rPr lang="en-US" b="1" dirty="0" smtClean="0"/>
              <a:t>Database Designers: </a:t>
            </a:r>
          </a:p>
          <a:p>
            <a:pPr lvl="1"/>
            <a:r>
              <a:rPr lang="en-US" sz="2000" dirty="0" smtClean="0"/>
              <a:t>Responsible to define the content, the structure, the constraints, and transactions against the database. </a:t>
            </a:r>
          </a:p>
          <a:p>
            <a:r>
              <a:rPr lang="en-US" b="1" dirty="0" smtClean="0"/>
              <a:t>End-users: </a:t>
            </a:r>
          </a:p>
          <a:p>
            <a:pPr lvl="1"/>
            <a:r>
              <a:rPr lang="en-US" sz="2000" dirty="0" smtClean="0"/>
              <a:t>They use the data for queries, reports and some of them update the database content. </a:t>
            </a:r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602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 of DBMS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Control redundancy </a:t>
            </a:r>
          </a:p>
          <a:p>
            <a:r>
              <a:rPr lang="en-US" dirty="0" smtClean="0"/>
              <a:t>Data Sharing </a:t>
            </a:r>
          </a:p>
          <a:p>
            <a:r>
              <a:rPr lang="en-US" dirty="0" smtClean="0"/>
              <a:t>Restrict unauthorized access </a:t>
            </a:r>
          </a:p>
          <a:p>
            <a:r>
              <a:rPr lang="en-US" dirty="0" smtClean="0"/>
              <a:t>Provide Storage Structures (e.g. indexes for efficient Query Processing)</a:t>
            </a:r>
          </a:p>
          <a:p>
            <a:r>
              <a:rPr lang="en-US" dirty="0" smtClean="0"/>
              <a:t>Backup and recovery services</a:t>
            </a:r>
          </a:p>
          <a:p>
            <a:r>
              <a:rPr lang="en-US" dirty="0" smtClean="0"/>
              <a:t>Multiple interfaces for different classes of users</a:t>
            </a:r>
          </a:p>
          <a:p>
            <a:r>
              <a:rPr lang="en-US" dirty="0" smtClean="0"/>
              <a:t>Enforce integrity constraints on the database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99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</a:t>
            </a:r>
            <a:r>
              <a:rPr lang="en-US" dirty="0" smtClean="0"/>
              <a:t>ituations </a:t>
            </a:r>
            <a:r>
              <a:rPr lang="en-US" dirty="0"/>
              <a:t>where </a:t>
            </a:r>
            <a:r>
              <a:rPr lang="en-US" dirty="0" smtClean="0"/>
              <a:t>DB System is  </a:t>
            </a:r>
            <a:r>
              <a:rPr lang="en-US" dirty="0"/>
              <a:t>not desirable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Simple</a:t>
            </a:r>
            <a:r>
              <a:rPr lang="en-US" dirty="0"/>
              <a:t>, well-defined database </a:t>
            </a:r>
            <a:r>
              <a:rPr lang="en-US" dirty="0" smtClean="0"/>
              <a:t>that are not expected to change at all</a:t>
            </a:r>
          </a:p>
          <a:p>
            <a:r>
              <a:rPr lang="en-US" dirty="0" smtClean="0"/>
              <a:t>Stringent, real-time requirements that may not be met because of DBMS overhead </a:t>
            </a:r>
          </a:p>
          <a:p>
            <a:r>
              <a:rPr lang="en-US" dirty="0" smtClean="0"/>
              <a:t>Embedded </a:t>
            </a:r>
            <a:r>
              <a:rPr lang="en-US" dirty="0"/>
              <a:t>systems with limited storage capacity, </a:t>
            </a:r>
            <a:endParaRPr lang="en-US" dirty="0" smtClean="0"/>
          </a:p>
          <a:p>
            <a:r>
              <a:rPr lang="en-US" dirty="0" smtClean="0"/>
              <a:t>No </a:t>
            </a:r>
            <a:r>
              <a:rPr lang="en-US" dirty="0"/>
              <a:t>multiple-user access </a:t>
            </a:r>
            <a:r>
              <a:rPr lang="en-US" dirty="0" smtClean="0"/>
              <a:t>to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63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400800" cy="1894362"/>
          </a:xfrm>
        </p:spPr>
        <p:txBody>
          <a:bodyPr>
            <a:normAutofit fontScale="90000"/>
          </a:bodyPr>
          <a:lstStyle/>
          <a:p>
            <a:r>
              <a:rPr lang="en-US" sz="3800" dirty="0" smtClean="0"/>
              <a:t>Database System Concepts and Architecture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DESCRIBING AND STORING DATA IN A DBMS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772400" cy="4873752"/>
          </a:xfrm>
        </p:spPr>
        <p:txBody>
          <a:bodyPr>
            <a:normAutofit/>
          </a:bodyPr>
          <a:lstStyle/>
          <a:p>
            <a:r>
              <a:rPr lang="en-US" b="1" dirty="0" smtClean="0"/>
              <a:t>Data Models</a:t>
            </a:r>
          </a:p>
          <a:p>
            <a:pPr lvl="1"/>
            <a:r>
              <a:rPr lang="en-US" sz="2000" dirty="0" smtClean="0">
                <a:solidFill>
                  <a:srgbClr val="000000"/>
                </a:solidFill>
              </a:rPr>
              <a:t>A set of concepts to describe the </a:t>
            </a:r>
            <a:r>
              <a:rPr lang="en-US" sz="2000" i="1" dirty="0" smtClean="0">
                <a:solidFill>
                  <a:srgbClr val="000000"/>
                </a:solidFill>
              </a:rPr>
              <a:t>structure</a:t>
            </a:r>
            <a:r>
              <a:rPr lang="en-US" sz="2000" dirty="0" smtClean="0">
                <a:solidFill>
                  <a:srgbClr val="000000"/>
                </a:solidFill>
              </a:rPr>
              <a:t> of a database and achieve data abstraction. </a:t>
            </a:r>
          </a:p>
          <a:p>
            <a:pPr lvl="2"/>
            <a:r>
              <a:rPr lang="en-US" dirty="0" smtClean="0">
                <a:solidFill>
                  <a:srgbClr val="000000"/>
                </a:solidFill>
              </a:rPr>
              <a:t>structure includes </a:t>
            </a:r>
            <a:r>
              <a:rPr lang="en-US" sz="2000" dirty="0" smtClean="0"/>
              <a:t>data types, relationships and constraints.</a:t>
            </a:r>
          </a:p>
          <a:p>
            <a:pPr lvl="1"/>
            <a:endParaRPr lang="en-US" sz="2000" dirty="0" smtClean="0">
              <a:solidFill>
                <a:srgbClr val="000000"/>
              </a:solidFill>
            </a:endParaRPr>
          </a:p>
          <a:p>
            <a:pPr lvl="1"/>
            <a:r>
              <a:rPr lang="en-US" sz="2000" dirty="0" smtClean="0">
                <a:solidFill>
                  <a:srgbClr val="000000"/>
                </a:solidFill>
              </a:rPr>
              <a:t>Data Model Operations</a:t>
            </a:r>
          </a:p>
          <a:p>
            <a:pPr lvl="2"/>
            <a:r>
              <a:rPr lang="en-US" i="1" dirty="0" smtClean="0">
                <a:solidFill>
                  <a:srgbClr val="000000"/>
                </a:solidFill>
              </a:rPr>
              <a:t>Basic operations</a:t>
            </a:r>
            <a:r>
              <a:rPr lang="en-US" dirty="0" smtClean="0">
                <a:solidFill>
                  <a:srgbClr val="000000"/>
                </a:solidFill>
              </a:rPr>
              <a:t> (insert, delete, modify and retrieve)</a:t>
            </a:r>
          </a:p>
          <a:p>
            <a:pPr lvl="2"/>
            <a:r>
              <a:rPr lang="en-US" i="1" dirty="0" smtClean="0">
                <a:solidFill>
                  <a:srgbClr val="000000"/>
                </a:solidFill>
              </a:rPr>
              <a:t>User-defined operations (compute GPA)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Categories of Data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7200" cy="487375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 smtClean="0"/>
              <a:t>Conceptual (high-level, semantic) data models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Provide concepts that are close to the way many users perceive data. Also called </a:t>
            </a:r>
            <a:r>
              <a:rPr lang="en-US" sz="2000" b="1" i="1" dirty="0" smtClean="0"/>
              <a:t>entity-based</a:t>
            </a:r>
            <a:r>
              <a:rPr lang="en-US" sz="2000" i="1" dirty="0" smtClean="0"/>
              <a:t> </a:t>
            </a:r>
            <a:r>
              <a:rPr lang="en-US" sz="2000" dirty="0" smtClean="0"/>
              <a:t>or</a:t>
            </a:r>
            <a:r>
              <a:rPr lang="en-US" sz="2000" i="1" dirty="0" smtClean="0"/>
              <a:t> </a:t>
            </a:r>
            <a:r>
              <a:rPr lang="en-US" sz="2000" b="1" i="1" dirty="0" smtClean="0"/>
              <a:t>object-based</a:t>
            </a:r>
            <a:r>
              <a:rPr lang="en-US" sz="2000" dirty="0" smtClean="0"/>
              <a:t> data models.</a:t>
            </a:r>
          </a:p>
          <a:p>
            <a:pPr>
              <a:lnSpc>
                <a:spcPct val="90000"/>
              </a:lnSpc>
            </a:pPr>
            <a:r>
              <a:rPr lang="en-US" b="1" dirty="0" smtClean="0"/>
              <a:t>Physical (low-level, internal) data models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Provide concepts that describe details of how data is stored in the computer. </a:t>
            </a:r>
          </a:p>
          <a:p>
            <a:pPr>
              <a:lnSpc>
                <a:spcPct val="90000"/>
              </a:lnSpc>
            </a:pPr>
            <a:r>
              <a:rPr lang="en-US" b="1" dirty="0" smtClean="0"/>
              <a:t>Implementation (representational) data models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>
                <a:solidFill>
                  <a:srgbClr val="000000"/>
                </a:solidFill>
              </a:rPr>
              <a:t>Provide concepts that fall between the above two. 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>
                <a:solidFill>
                  <a:srgbClr val="000000"/>
                </a:solidFill>
              </a:rPr>
              <a:t>Balance user views with some computer storage details. 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>
                <a:solidFill>
                  <a:srgbClr val="000000"/>
                </a:solidFill>
              </a:rPr>
              <a:t>It includes relational data model.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4576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Entity-Relationship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914400"/>
          </a:xfrm>
        </p:spPr>
        <p:txBody>
          <a:bodyPr/>
          <a:lstStyle/>
          <a:p>
            <a:r>
              <a:rPr lang="en-US" dirty="0" smtClean="0"/>
              <a:t>Example of schema in the entity-relationship model</a:t>
            </a:r>
          </a:p>
          <a:p>
            <a:endParaRPr lang="en-US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3" cstate="print"/>
          <a:srcRect l="1144" t="30066" r="1308" b="30501"/>
          <a:stretch>
            <a:fillRect/>
          </a:stretch>
        </p:blipFill>
        <p:spPr bwMode="auto">
          <a:xfrm>
            <a:off x="762000" y="2819400"/>
            <a:ext cx="7508875" cy="227647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7580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Data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533400"/>
          </a:xfrm>
        </p:spPr>
        <p:txBody>
          <a:bodyPr/>
          <a:lstStyle/>
          <a:p>
            <a:r>
              <a:rPr lang="en-US" dirty="0" smtClean="0"/>
              <a:t>A Sample Relational Database</a:t>
            </a:r>
            <a:endParaRPr lang="en-US" dirty="0"/>
          </a:p>
        </p:txBody>
      </p:sp>
      <p:pic>
        <p:nvPicPr>
          <p:cNvPr id="4" name="Picture 1027"/>
          <p:cNvPicPr>
            <a:picLocks noChangeAspect="1" noChangeArrowheads="1"/>
          </p:cNvPicPr>
          <p:nvPr/>
        </p:nvPicPr>
        <p:blipFill>
          <a:blip r:embed="rId3" cstate="print"/>
          <a:srcRect l="21957" t="1437" r="21823" b="69559"/>
          <a:stretch>
            <a:fillRect/>
          </a:stretch>
        </p:blipFill>
        <p:spPr bwMode="auto">
          <a:xfrm>
            <a:off x="1828800" y="2209800"/>
            <a:ext cx="4586287" cy="1775943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</p:spPr>
      </p:pic>
      <p:pic>
        <p:nvPicPr>
          <p:cNvPr id="5" name="Picture 1028"/>
          <p:cNvPicPr>
            <a:picLocks noChangeAspect="1" noChangeArrowheads="1"/>
          </p:cNvPicPr>
          <p:nvPr/>
        </p:nvPicPr>
        <p:blipFill>
          <a:blip r:embed="rId3" cstate="print"/>
          <a:srcRect l="35521" t="62489" r="35367" b="4849"/>
          <a:stretch>
            <a:fillRect/>
          </a:stretch>
        </p:blipFill>
        <p:spPr bwMode="auto">
          <a:xfrm>
            <a:off x="4267200" y="4191000"/>
            <a:ext cx="2444546" cy="2057751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</p:spPr>
      </p:pic>
      <p:pic>
        <p:nvPicPr>
          <p:cNvPr id="6" name="Picture 1030"/>
          <p:cNvPicPr>
            <a:picLocks noChangeAspect="1" noChangeArrowheads="1"/>
          </p:cNvPicPr>
          <p:nvPr/>
        </p:nvPicPr>
        <p:blipFill>
          <a:blip r:embed="rId3" cstate="print"/>
          <a:srcRect l="37886" t="30975" r="37030" b="39034"/>
          <a:stretch>
            <a:fillRect/>
          </a:stretch>
        </p:blipFill>
        <p:spPr bwMode="auto">
          <a:xfrm>
            <a:off x="1973167" y="4191000"/>
            <a:ext cx="1989233" cy="1784784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68261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Schemas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01000" cy="487375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dirty="0" smtClean="0"/>
              <a:t>Database Schema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Description of a database </a:t>
            </a:r>
            <a:r>
              <a:rPr lang="en-US" sz="2000" dirty="0" smtClean="0">
                <a:latin typeface="Times New Roman" pitchFamily="18" charset="0"/>
              </a:rPr>
              <a:t>using the given data model</a:t>
            </a:r>
          </a:p>
          <a:p>
            <a:pPr lvl="1"/>
            <a:r>
              <a:rPr lang="en-US" sz="2000" dirty="0" smtClean="0"/>
              <a:t>Analogous to </a:t>
            </a:r>
            <a:r>
              <a:rPr lang="en-US" sz="2000" b="1" i="1" dirty="0" smtClean="0"/>
              <a:t>type information of a variable </a:t>
            </a:r>
            <a:r>
              <a:rPr lang="en-US" sz="2000" dirty="0" smtClean="0"/>
              <a:t>in a program</a:t>
            </a:r>
          </a:p>
          <a:p>
            <a:pPr>
              <a:lnSpc>
                <a:spcPct val="90000"/>
              </a:lnSpc>
            </a:pPr>
            <a:r>
              <a:rPr lang="en-US" sz="2200" dirty="0" smtClean="0"/>
              <a:t>Schema Construct</a:t>
            </a:r>
          </a:p>
          <a:p>
            <a:pPr lvl="1">
              <a:lnSpc>
                <a:spcPct val="90000"/>
              </a:lnSpc>
            </a:pPr>
            <a:r>
              <a:rPr lang="en-US" sz="1800" dirty="0" smtClean="0"/>
              <a:t>An object within the schema, e.g., STUDENT, COURSE.</a:t>
            </a:r>
          </a:p>
          <a:p>
            <a:pPr lvl="1"/>
            <a:endParaRPr lang="en-US" sz="2000" dirty="0" smtClean="0"/>
          </a:p>
          <a:p>
            <a:pPr lvl="1"/>
            <a:endParaRPr lang="en-US" sz="1000" dirty="0" smtClean="0"/>
          </a:p>
          <a:p>
            <a:pPr lvl="1">
              <a:lnSpc>
                <a:spcPct val="90000"/>
              </a:lnSpc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lnSpc>
                <a:spcPct val="90000"/>
              </a:lnSpc>
            </a:pPr>
            <a:endParaRPr lang="en-US" dirty="0" smtClean="0"/>
          </a:p>
          <a:p>
            <a:endParaRPr lang="en-US" dirty="0"/>
          </a:p>
        </p:txBody>
      </p:sp>
      <p:pic>
        <p:nvPicPr>
          <p:cNvPr id="4" name="Picture 6" descr="fig02_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3581401"/>
            <a:ext cx="5830922" cy="3153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Database State</a:t>
            </a:r>
          </a:p>
          <a:p>
            <a:pPr lvl="1"/>
            <a:r>
              <a:rPr lang="en-US" sz="2000" dirty="0" smtClean="0">
                <a:solidFill>
                  <a:srgbClr val="000000"/>
                </a:solidFill>
              </a:rPr>
              <a:t>Refers to the content of a database at a moment in time. </a:t>
            </a:r>
          </a:p>
          <a:p>
            <a:pPr lvl="1"/>
            <a:r>
              <a:rPr lang="en-US" sz="2000" dirty="0" smtClean="0"/>
              <a:t>Also called database instance or occurrence.</a:t>
            </a:r>
          </a:p>
          <a:p>
            <a:pPr lvl="1"/>
            <a:r>
              <a:rPr lang="en-US" sz="2000" dirty="0" smtClean="0"/>
              <a:t>Analogous to the </a:t>
            </a:r>
            <a:r>
              <a:rPr lang="en-US" sz="2000" b="1" i="1" dirty="0" smtClean="0"/>
              <a:t>value of a variable</a:t>
            </a:r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en-US" sz="2300" dirty="0" smtClean="0">
                <a:solidFill>
                  <a:srgbClr val="000000"/>
                </a:solidFill>
              </a:rPr>
              <a:t>Initial State </a:t>
            </a:r>
          </a:p>
          <a:p>
            <a:pPr marL="548640" lvl="2">
              <a:spcBef>
                <a:spcPts val="600"/>
              </a:spcBef>
              <a:buSzPct val="70000"/>
            </a:pPr>
            <a:r>
              <a:rPr lang="en-US" dirty="0" smtClean="0"/>
              <a:t>Database state when it is initially loaded into the system.</a:t>
            </a:r>
            <a:endParaRPr lang="en-US" sz="2000" b="1" dirty="0" smtClean="0">
              <a:solidFill>
                <a:srgbClr val="000000"/>
              </a:solidFill>
            </a:endParaRPr>
          </a:p>
          <a:p>
            <a:r>
              <a:rPr lang="en-US" sz="2300" dirty="0" smtClean="0">
                <a:solidFill>
                  <a:srgbClr val="000000"/>
                </a:solidFill>
              </a:rPr>
              <a:t>Valid State</a:t>
            </a:r>
          </a:p>
          <a:p>
            <a:pPr lvl="1"/>
            <a:r>
              <a:rPr lang="en-US" sz="2000" dirty="0" smtClean="0">
                <a:solidFill>
                  <a:srgbClr val="000000"/>
                </a:solidFill>
              </a:rPr>
              <a:t> A state that satisfies the structure and constraints of the database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a database state</a:t>
            </a:r>
            <a:endParaRPr lang="en-US" dirty="0"/>
          </a:p>
        </p:txBody>
      </p:sp>
      <p:pic>
        <p:nvPicPr>
          <p:cNvPr id="4" name="Picture 4" descr="fig01_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3425" y="1492250"/>
            <a:ext cx="4397375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Schemas versus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600200"/>
            <a:ext cx="7467600" cy="4873752"/>
          </a:xfrm>
        </p:spPr>
        <p:txBody>
          <a:bodyPr/>
          <a:lstStyle/>
          <a:p>
            <a:pPr>
              <a:lnSpc>
                <a:spcPct val="90000"/>
              </a:lnSpc>
              <a:buFont typeface="Times"/>
              <a:buChar char="•"/>
            </a:pPr>
            <a:r>
              <a:rPr lang="en-US" sz="2300" b="1" dirty="0" smtClean="0">
                <a:solidFill>
                  <a:srgbClr val="000000"/>
                </a:solidFill>
              </a:rPr>
              <a:t>Schema</a:t>
            </a:r>
            <a:r>
              <a:rPr lang="en-US" sz="2300" dirty="0" smtClean="0">
                <a:solidFill>
                  <a:srgbClr val="000000"/>
                </a:solidFill>
              </a:rPr>
              <a:t> changes very infrequently, whereas </a:t>
            </a:r>
            <a:r>
              <a:rPr lang="en-US" sz="2300" b="1" dirty="0" smtClean="0">
                <a:solidFill>
                  <a:srgbClr val="000000"/>
                </a:solidFill>
              </a:rPr>
              <a:t>state</a:t>
            </a:r>
            <a:r>
              <a:rPr lang="en-US" sz="2300" dirty="0" smtClean="0">
                <a:solidFill>
                  <a:srgbClr val="000000"/>
                </a:solidFill>
              </a:rPr>
              <a:t> changes every time the database is updated. </a:t>
            </a:r>
          </a:p>
          <a:p>
            <a:pPr>
              <a:lnSpc>
                <a:spcPct val="90000"/>
              </a:lnSpc>
              <a:buFont typeface="Times"/>
              <a:buChar char="•"/>
            </a:pPr>
            <a:endParaRPr lang="en-US" sz="900" dirty="0" smtClean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Font typeface="Times"/>
              <a:buChar char="•"/>
            </a:pPr>
            <a:r>
              <a:rPr lang="en-US" sz="2300" b="1" dirty="0" smtClean="0">
                <a:solidFill>
                  <a:srgbClr val="000000"/>
                </a:solidFill>
              </a:rPr>
              <a:t>Schema</a:t>
            </a:r>
            <a:r>
              <a:rPr lang="en-US" sz="2300" dirty="0" smtClean="0">
                <a:solidFill>
                  <a:srgbClr val="000000"/>
                </a:solidFill>
              </a:rPr>
              <a:t> is also called </a:t>
            </a:r>
            <a:r>
              <a:rPr lang="en-US" sz="2300" b="1" dirty="0" smtClean="0">
                <a:solidFill>
                  <a:srgbClr val="000000"/>
                </a:solidFill>
              </a:rPr>
              <a:t>intension</a:t>
            </a:r>
            <a:r>
              <a:rPr lang="en-US" sz="2300" dirty="0" smtClean="0">
                <a:solidFill>
                  <a:srgbClr val="000000"/>
                </a:solidFill>
              </a:rPr>
              <a:t>, whereas </a:t>
            </a:r>
            <a:r>
              <a:rPr lang="en-US" sz="2300" b="1" dirty="0" smtClean="0">
                <a:solidFill>
                  <a:srgbClr val="000000"/>
                </a:solidFill>
              </a:rPr>
              <a:t>state</a:t>
            </a:r>
            <a:r>
              <a:rPr lang="en-US" sz="2300" dirty="0" smtClean="0">
                <a:solidFill>
                  <a:srgbClr val="000000"/>
                </a:solidFill>
              </a:rPr>
              <a:t> is called </a:t>
            </a:r>
            <a:r>
              <a:rPr lang="en-US" sz="2300" b="1" dirty="0" smtClean="0">
                <a:solidFill>
                  <a:srgbClr val="000000"/>
                </a:solidFill>
              </a:rPr>
              <a:t>extension</a:t>
            </a:r>
            <a:r>
              <a:rPr lang="en-US" sz="2300" dirty="0" smtClean="0">
                <a:solidFill>
                  <a:srgbClr val="000000"/>
                </a:solidFill>
              </a:rPr>
              <a:t>.</a:t>
            </a:r>
          </a:p>
          <a:p>
            <a:endParaRPr lang="en-US" dirty="0"/>
          </a:p>
        </p:txBody>
      </p:sp>
      <p:pic>
        <p:nvPicPr>
          <p:cNvPr id="4" name="Picture 6" descr="fig02_01"/>
          <p:cNvPicPr>
            <a:picLocks noChangeAspect="1" noChangeArrowheads="1"/>
          </p:cNvPicPr>
          <p:nvPr/>
        </p:nvPicPr>
        <p:blipFill>
          <a:blip r:embed="rId3" cstate="print"/>
          <a:srcRect r="24782" b="40397"/>
          <a:stretch>
            <a:fillRect/>
          </a:stretch>
        </p:blipFill>
        <p:spPr bwMode="auto">
          <a:xfrm>
            <a:off x="914400" y="3962400"/>
            <a:ext cx="2667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fig01_02"/>
          <p:cNvPicPr>
            <a:picLocks noChangeAspect="1" noChangeArrowheads="1"/>
          </p:cNvPicPr>
          <p:nvPr/>
        </p:nvPicPr>
        <p:blipFill>
          <a:blip r:embed="rId4" cstate="print"/>
          <a:srcRect b="49686"/>
          <a:stretch>
            <a:fillRect/>
          </a:stretch>
        </p:blipFill>
        <p:spPr bwMode="auto">
          <a:xfrm>
            <a:off x="3581400" y="3581400"/>
            <a:ext cx="4397375" cy="254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066800" y="5410200"/>
            <a:ext cx="2299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Database Schema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638800" y="6248400"/>
            <a:ext cx="198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Database State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429000" y="3962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Three-Schema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Proposed to support DBMS characteristics of:</a:t>
            </a:r>
          </a:p>
          <a:p>
            <a:pPr lvl="1"/>
            <a:r>
              <a:rPr lang="en-US" sz="2200" dirty="0" smtClean="0"/>
              <a:t>Program data independence</a:t>
            </a:r>
          </a:p>
          <a:p>
            <a:pPr lvl="1"/>
            <a:r>
              <a:rPr lang="en-US" sz="2200" dirty="0" smtClean="0"/>
              <a:t>Support multiple views of the data.</a:t>
            </a:r>
          </a:p>
          <a:p>
            <a:pPr lvl="1"/>
            <a:r>
              <a:rPr lang="en-US" sz="2200" dirty="0" smtClean="0"/>
              <a:t>Use catalog to store schema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Three-Schema Architecture</a:t>
            </a:r>
            <a:endParaRPr lang="en-US" dirty="0"/>
          </a:p>
        </p:txBody>
      </p:sp>
      <p:pic>
        <p:nvPicPr>
          <p:cNvPr id="4" name="Picture 4" descr="fig02_02"/>
          <p:cNvPicPr>
            <a:picLocks noChangeAspect="1" noChangeArrowheads="1"/>
          </p:cNvPicPr>
          <p:nvPr/>
        </p:nvPicPr>
        <p:blipFill rotWithShape="1">
          <a:blip r:embed="rId3" cstate="print"/>
          <a:srcRect l="17839"/>
          <a:stretch/>
        </p:blipFill>
        <p:spPr bwMode="auto">
          <a:xfrm>
            <a:off x="152400" y="1842247"/>
            <a:ext cx="5759824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4876800" y="4724400"/>
            <a:ext cx="38682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Describes </a:t>
            </a:r>
            <a:r>
              <a:rPr lang="en-US" dirty="0"/>
              <a:t>physical storage structures and access paths.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7471" y="3762218"/>
            <a:ext cx="3657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Describes </a:t>
            </a:r>
            <a:r>
              <a:rPr lang="en-US" dirty="0"/>
              <a:t>the structure and constraints for the database </a:t>
            </a:r>
          </a:p>
        </p:txBody>
      </p:sp>
      <p:sp>
        <p:nvSpPr>
          <p:cNvPr id="6" name="Rectangle 5"/>
          <p:cNvSpPr/>
          <p:nvPr/>
        </p:nvSpPr>
        <p:spPr>
          <a:xfrm>
            <a:off x="6140824" y="2590800"/>
            <a:ext cx="26042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Describes </a:t>
            </a:r>
            <a:r>
              <a:rPr lang="en-US" dirty="0"/>
              <a:t>the various user views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Three-Schema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Mappings among schema levels are needed to transform requests and data. </a:t>
            </a:r>
          </a:p>
          <a:p>
            <a:pPr lvl="1"/>
            <a:r>
              <a:rPr lang="en-US" dirty="0" smtClean="0"/>
              <a:t>Programs refer to an external schema, and are mapped by the DBMS to the internal schema.</a:t>
            </a:r>
          </a:p>
          <a:p>
            <a:pPr lvl="1"/>
            <a:endParaRPr lang="en-US" sz="1000" dirty="0" smtClean="0"/>
          </a:p>
          <a:p>
            <a:pPr lvl="1"/>
            <a:r>
              <a:rPr lang="en-US" dirty="0" smtClean="0"/>
              <a:t>Data extracted from the internal DBMS level is reformatted to match the user’s external view</a:t>
            </a:r>
          </a:p>
          <a:p>
            <a:pPr lvl="2"/>
            <a:r>
              <a:rPr lang="en-US" dirty="0" smtClean="0"/>
              <a:t>Example: formatting the results of an SQL query for display in a Web page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Independence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495800" cy="487375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 dirty="0" smtClean="0"/>
              <a:t>Physical Data Independence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The capacity to change the internal schema without changing the conceptual schema.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For example: the internal schema may be changed </a:t>
            </a:r>
          </a:p>
          <a:p>
            <a:pPr lvl="2">
              <a:lnSpc>
                <a:spcPct val="90000"/>
              </a:lnSpc>
            </a:pPr>
            <a:r>
              <a:rPr lang="en-US" sz="1850" dirty="0" smtClean="0"/>
              <a:t>when certain file structures are reorganized or</a:t>
            </a:r>
          </a:p>
          <a:p>
            <a:pPr lvl="2">
              <a:lnSpc>
                <a:spcPct val="90000"/>
              </a:lnSpc>
            </a:pPr>
            <a:r>
              <a:rPr lang="en-US" sz="1850" dirty="0" smtClean="0"/>
              <a:t>new indexes are created to improve database performance</a:t>
            </a:r>
          </a:p>
          <a:p>
            <a:pPr>
              <a:lnSpc>
                <a:spcPct val="90000"/>
              </a:lnSpc>
            </a:pPr>
            <a:endParaRPr lang="en-US" b="1" dirty="0" smtClean="0"/>
          </a:p>
          <a:p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1066800" y="5791200"/>
            <a:ext cx="6553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100000"/>
              <a:buFont typeface="Monotype Sorts" pitchFamily="2" charset="2"/>
              <a:buChar char="*"/>
            </a:pPr>
            <a:r>
              <a:rPr lang="en-US" i="1" dirty="0" smtClean="0">
                <a:latin typeface="Book Antiqua" pitchFamily="18" charset="0"/>
              </a:rPr>
              <a:t> </a:t>
            </a:r>
            <a:r>
              <a:rPr lang="en-US" dirty="0" smtClean="0"/>
              <a:t>One of the most important benefits of using a DBMS!</a:t>
            </a:r>
            <a:endParaRPr lang="en-US" dirty="0"/>
          </a:p>
        </p:txBody>
      </p:sp>
      <p:pic>
        <p:nvPicPr>
          <p:cNvPr id="5" name="Picture 4" descr="fig02_02"/>
          <p:cNvPicPr>
            <a:picLocks noChangeAspect="1" noChangeArrowheads="1"/>
          </p:cNvPicPr>
          <p:nvPr/>
        </p:nvPicPr>
        <p:blipFill rotWithShape="1">
          <a:blip r:embed="rId3" cstate="print"/>
          <a:srcRect l="45031"/>
          <a:stretch/>
        </p:blipFill>
        <p:spPr bwMode="auto">
          <a:xfrm>
            <a:off x="5029200" y="2120605"/>
            <a:ext cx="3733799" cy="4346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Independence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343400" cy="487375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 dirty="0" smtClean="0"/>
              <a:t>Logical </a:t>
            </a:r>
            <a:r>
              <a:rPr lang="en-US" b="1" dirty="0"/>
              <a:t>Data Independence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The capacity to change the conceptual schema without changing the external schemas and the application programs. </a:t>
            </a:r>
            <a:endParaRPr lang="en-US" sz="2000" dirty="0" smtClean="0"/>
          </a:p>
          <a:p>
            <a:pPr lvl="1">
              <a:lnSpc>
                <a:spcPct val="90000"/>
              </a:lnSpc>
            </a:pPr>
            <a:r>
              <a:rPr lang="en-US" sz="1800" i="1" dirty="0" smtClean="0"/>
              <a:t>Only </a:t>
            </a:r>
            <a:r>
              <a:rPr lang="en-US" sz="1800" i="1" dirty="0"/>
              <a:t>the mappings need to be changed in </a:t>
            </a:r>
            <a:r>
              <a:rPr lang="en-US" sz="1800" i="1" dirty="0" smtClean="0"/>
              <a:t>DBMS</a:t>
            </a:r>
            <a:endParaRPr lang="en-US" sz="2000" i="1" dirty="0"/>
          </a:p>
          <a:p>
            <a:r>
              <a:rPr lang="en-GB" sz="2000" dirty="0" smtClean="0"/>
              <a:t>It is </a:t>
            </a:r>
            <a:r>
              <a:rPr lang="en-GB" sz="2000" dirty="0"/>
              <a:t>harder to achieve because </a:t>
            </a:r>
            <a:r>
              <a:rPr lang="en-GB" sz="2000" dirty="0" smtClean="0"/>
              <a:t>it allows </a:t>
            </a:r>
            <a:r>
              <a:rPr lang="en-GB" sz="2000" dirty="0"/>
              <a:t>structural and constraint changes without affecting application programs</a:t>
            </a:r>
            <a:endParaRPr lang="en-US" sz="2000" dirty="0"/>
          </a:p>
        </p:txBody>
      </p:sp>
      <p:pic>
        <p:nvPicPr>
          <p:cNvPr id="5" name="Picture 4" descr="fig02_02"/>
          <p:cNvPicPr>
            <a:picLocks noChangeAspect="1" noChangeArrowheads="1"/>
          </p:cNvPicPr>
          <p:nvPr/>
        </p:nvPicPr>
        <p:blipFill rotWithShape="1">
          <a:blip r:embed="rId3" cstate="print"/>
          <a:srcRect l="45031"/>
          <a:stretch/>
        </p:blipFill>
        <p:spPr bwMode="auto">
          <a:xfrm>
            <a:off x="5029200" y="2120605"/>
            <a:ext cx="3733799" cy="4346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0443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DBMS Languages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Data Definition Language (DDL)</a:t>
            </a:r>
          </a:p>
          <a:p>
            <a:r>
              <a:rPr lang="en-US" dirty="0" smtClean="0"/>
              <a:t>Data Manipulation Language (DML)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Slide 2- </a:t>
            </a:r>
            <a:fld id="{FC4C856E-0D73-45B4-8C58-EEBCE40AA197}" type="slidenum">
              <a:rPr lang="en-US"/>
              <a:pPr/>
              <a:t>32</a:t>
            </a:fld>
            <a:endParaRPr lang="en-CA"/>
          </a:p>
        </p:txBody>
      </p:sp>
      <p:sp>
        <p:nvSpPr>
          <p:cNvPr id="2150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DBMS Languages</a:t>
            </a:r>
          </a:p>
        </p:txBody>
      </p:sp>
      <p:sp>
        <p:nvSpPr>
          <p:cNvPr id="2150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 smtClean="0"/>
              <a:t>Data Definition Language (DDL):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Used by the DBA and database designers to specify the conceptual schema of a database.</a:t>
            </a:r>
          </a:p>
          <a:p>
            <a:pPr lvl="1"/>
            <a:r>
              <a:rPr lang="en-US" dirty="0" smtClean="0"/>
              <a:t>Specification (notation) for defining the database schema. E.g.  </a:t>
            </a:r>
            <a:br>
              <a:rPr lang="en-US" dirty="0" smtClean="0"/>
            </a:br>
            <a:r>
              <a:rPr lang="en-US" dirty="0" smtClean="0"/>
              <a:t>	    </a:t>
            </a:r>
            <a:r>
              <a:rPr lang="en-US" b="1" dirty="0" smtClean="0"/>
              <a:t>create table</a:t>
            </a:r>
            <a:r>
              <a:rPr lang="en-US" dirty="0" smtClean="0"/>
              <a:t> </a:t>
            </a:r>
            <a:r>
              <a:rPr lang="en-US" i="1" dirty="0" smtClean="0"/>
              <a:t>account</a:t>
            </a:r>
            <a:r>
              <a:rPr lang="en-US" dirty="0" smtClean="0"/>
              <a:t> (</a:t>
            </a:r>
            <a:br>
              <a:rPr lang="en-US" dirty="0" smtClean="0"/>
            </a:br>
            <a:r>
              <a:rPr lang="en-US" dirty="0" smtClean="0"/>
              <a:t>             </a:t>
            </a:r>
            <a:r>
              <a:rPr lang="en-US" i="1" dirty="0" smtClean="0"/>
              <a:t>account-number</a:t>
            </a:r>
            <a:r>
              <a:rPr lang="en-US" dirty="0" smtClean="0"/>
              <a:t>    </a:t>
            </a:r>
            <a:r>
              <a:rPr lang="en-US" b="1" dirty="0" smtClean="0"/>
              <a:t>char</a:t>
            </a:r>
            <a:r>
              <a:rPr lang="en-US" dirty="0" smtClean="0"/>
              <a:t>(10),</a:t>
            </a:r>
            <a:br>
              <a:rPr lang="en-US" dirty="0" smtClean="0"/>
            </a:br>
            <a:r>
              <a:rPr lang="en-US" dirty="0" smtClean="0"/>
              <a:t>             </a:t>
            </a:r>
            <a:r>
              <a:rPr lang="en-US" i="1" dirty="0" smtClean="0"/>
              <a:t>balance</a:t>
            </a:r>
            <a:r>
              <a:rPr lang="en-US" dirty="0" smtClean="0"/>
              <a:t>                 </a:t>
            </a:r>
            <a:r>
              <a:rPr lang="en-US" b="1" dirty="0" smtClean="0"/>
              <a:t>integer</a:t>
            </a:r>
            <a:r>
              <a:rPr lang="en-US" dirty="0" smtClean="0"/>
              <a:t>)</a:t>
            </a:r>
          </a:p>
          <a:p>
            <a:pPr lvl="1" eaLnBrk="1" hangingPunct="1">
              <a:lnSpc>
                <a:spcPct val="90000"/>
              </a:lnSpc>
            </a:pP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b="1" dirty="0" smtClean="0"/>
              <a:t>Storage definition language (SDL) </a:t>
            </a:r>
            <a:r>
              <a:rPr lang="en-US" dirty="0" smtClean="0"/>
              <a:t>is used to specify internal schema.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 smtClean="0"/>
              <a:t>View definition language (VDL)</a:t>
            </a:r>
            <a:r>
              <a:rPr lang="en-US" dirty="0" smtClean="0"/>
              <a:t> is used to define views and their mapping to conceptual schema.</a:t>
            </a:r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Slide 2- </a:t>
            </a:r>
            <a:fld id="{4392768E-FC41-46A4-83E8-C5DB191C3A63}" type="slidenum">
              <a:rPr lang="en-US"/>
              <a:pPr/>
              <a:t>33</a:t>
            </a:fld>
            <a:endParaRPr lang="en-CA"/>
          </a:p>
        </p:txBody>
      </p:sp>
      <p:sp>
        <p:nvSpPr>
          <p:cNvPr id="2253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DBMS Languages</a:t>
            </a:r>
          </a:p>
        </p:txBody>
      </p:sp>
      <p:sp>
        <p:nvSpPr>
          <p:cNvPr id="2253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79448"/>
            <a:ext cx="7924800" cy="4873752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 smtClean="0"/>
              <a:t>Data Manipulation Language (DML)</a:t>
            </a:r>
            <a:endParaRPr lang="en-US" dirty="0" smtClean="0"/>
          </a:p>
          <a:p>
            <a:pPr lvl="1" eaLnBrk="1" hangingPunct="1"/>
            <a:r>
              <a:rPr lang="en-US" dirty="0" smtClean="0"/>
              <a:t>Used to specify database retrievals and updates</a:t>
            </a:r>
          </a:p>
          <a:p>
            <a:r>
              <a:rPr lang="en-US" dirty="0" smtClean="0"/>
              <a:t>Two classes of languages </a:t>
            </a:r>
          </a:p>
          <a:p>
            <a:pPr lvl="1"/>
            <a:r>
              <a:rPr lang="en-US" b="1" dirty="0" smtClean="0"/>
              <a:t>Procedural (Low Level )</a:t>
            </a:r>
          </a:p>
          <a:p>
            <a:pPr lvl="2"/>
            <a:r>
              <a:rPr lang="en-US" dirty="0" smtClean="0"/>
              <a:t> user specifies what data is required and how to get those data </a:t>
            </a:r>
          </a:p>
          <a:p>
            <a:pPr lvl="2"/>
            <a:r>
              <a:rPr lang="en-US" dirty="0" smtClean="0"/>
              <a:t>These must be embedded in a programming language</a:t>
            </a:r>
          </a:p>
          <a:p>
            <a:pPr lvl="1"/>
            <a:r>
              <a:rPr lang="en-US" b="1" dirty="0" smtClean="0"/>
              <a:t>Nonprocedural (High Level )</a:t>
            </a:r>
          </a:p>
          <a:p>
            <a:pPr lvl="2"/>
            <a:r>
              <a:rPr lang="en-US" dirty="0" smtClean="0"/>
              <a:t> user specifies what data is required without specifying how to get those data</a:t>
            </a:r>
          </a:p>
          <a:p>
            <a:pPr lvl="2"/>
            <a:r>
              <a:rPr lang="en-US" dirty="0" smtClean="0"/>
              <a:t>May be used in a standalone way(query language) or may be embedded in a programming language (host language)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Slide 2- </a:t>
            </a:r>
            <a:fld id="{F448DB48-5C86-4700-BE9C-05DB733B9AD2}" type="slidenum">
              <a:rPr lang="en-US"/>
              <a:pPr/>
              <a:t>34</a:t>
            </a:fld>
            <a:endParaRPr lang="en-CA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305800" cy="4873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/>
              <a:t>Typical DBMS Component Modules</a:t>
            </a:r>
          </a:p>
        </p:txBody>
      </p:sp>
      <p:pic>
        <p:nvPicPr>
          <p:cNvPr id="31748" name="Picture 4" descr="fig02_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1912937"/>
            <a:ext cx="4860925" cy="4868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642" y="304800"/>
            <a:ext cx="6741493" cy="6324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112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Slide 2- </a:t>
            </a:r>
            <a:fld id="{E414A558-C50C-4EFE-BD1C-798A1FC58B90}" type="slidenum">
              <a:rPr lang="en-US"/>
              <a:pPr/>
              <a:t>36</a:t>
            </a:fld>
            <a:endParaRPr lang="en-CA"/>
          </a:p>
        </p:txBody>
      </p:sp>
      <p:sp>
        <p:nvSpPr>
          <p:cNvPr id="32771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/>
              <a:t>DBMS Architectures </a:t>
            </a:r>
          </a:p>
        </p:txBody>
      </p:sp>
      <p:sp>
        <p:nvSpPr>
          <p:cNvPr id="3277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73752"/>
          </a:xfrm>
        </p:spPr>
        <p:txBody>
          <a:bodyPr/>
          <a:lstStyle/>
          <a:p>
            <a:pPr eaLnBrk="1" hangingPunct="1"/>
            <a:r>
              <a:rPr lang="en-US" b="1" dirty="0" smtClean="0"/>
              <a:t>Centralized DBMS</a:t>
            </a:r>
            <a:endParaRPr lang="en-US" dirty="0" smtClean="0"/>
          </a:p>
          <a:p>
            <a:pPr lvl="1" eaLnBrk="1" hangingPunct="1"/>
            <a:r>
              <a:rPr lang="en-US" sz="2000" dirty="0" smtClean="0"/>
              <a:t>Combines everything into single system: DBMS software, hardware, application programs, and user interface .</a:t>
            </a:r>
          </a:p>
          <a:p>
            <a:pPr lvl="1" eaLnBrk="1" hangingPunct="1"/>
            <a:r>
              <a:rPr lang="en-US" sz="2000" dirty="0" smtClean="0"/>
              <a:t>User can connect through a remote terminal.</a:t>
            </a:r>
          </a:p>
        </p:txBody>
      </p:sp>
      <p:pic>
        <p:nvPicPr>
          <p:cNvPr id="5" name="Picture 4" descr="fig02_0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3505200"/>
            <a:ext cx="4632009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Slide 2- </a:t>
            </a:r>
            <a:fld id="{F5A4F330-CCBF-420D-A00A-95A4BCD33A5B}" type="slidenum">
              <a:rPr lang="en-US"/>
              <a:pPr/>
              <a:t>37</a:t>
            </a:fld>
            <a:endParaRPr lang="en-CA"/>
          </a:p>
        </p:txBody>
      </p:sp>
      <p:sp>
        <p:nvSpPr>
          <p:cNvPr id="34819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Basic 2-tier Client-Server Architectures</a:t>
            </a:r>
          </a:p>
        </p:txBody>
      </p:sp>
      <p:sp>
        <p:nvSpPr>
          <p:cNvPr id="34820" name="Rectangle 1029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15300" cy="4873752"/>
          </a:xfrm>
        </p:spPr>
        <p:txBody>
          <a:bodyPr/>
          <a:lstStyle/>
          <a:p>
            <a:pPr eaLnBrk="1" hangingPunct="1"/>
            <a:r>
              <a:rPr lang="en-US" sz="2000" b="1" dirty="0" smtClean="0"/>
              <a:t>Client</a:t>
            </a:r>
          </a:p>
          <a:p>
            <a:pPr lvl="1"/>
            <a:r>
              <a:rPr lang="en-US" sz="1800" dirty="0" smtClean="0"/>
              <a:t>a user machine with user interface capabilities and local processing.</a:t>
            </a:r>
          </a:p>
          <a:p>
            <a:pPr lvl="1"/>
            <a:r>
              <a:rPr lang="en-US" sz="1800" dirty="0" smtClean="0"/>
              <a:t> It can access the specialized servers as needed</a:t>
            </a:r>
            <a:endParaRPr lang="en-US" sz="2000" dirty="0" smtClean="0"/>
          </a:p>
          <a:p>
            <a:r>
              <a:rPr lang="en-US" sz="2000" b="1" dirty="0" smtClean="0"/>
              <a:t>Server</a:t>
            </a:r>
            <a:r>
              <a:rPr lang="en-US" sz="2000" dirty="0" smtClean="0"/>
              <a:t> </a:t>
            </a:r>
          </a:p>
          <a:p>
            <a:pPr lvl="1"/>
            <a:r>
              <a:rPr lang="en-US" sz="1800" dirty="0" smtClean="0"/>
              <a:t>contains both hardware and software that provide services to clients, such as printing, file access, or database access</a:t>
            </a:r>
          </a:p>
          <a:p>
            <a:pPr eaLnBrk="1" hangingPunct="1"/>
            <a:endParaRPr lang="en-US" dirty="0" smtClean="0"/>
          </a:p>
        </p:txBody>
      </p:sp>
      <p:pic>
        <p:nvPicPr>
          <p:cNvPr id="5" name="Picture 4" descr="fig02_0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4377559"/>
            <a:ext cx="7810500" cy="173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Slide 2- </a:t>
            </a:r>
            <a:fld id="{0BD863F3-9901-40E3-814D-26027401FE6C}" type="slidenum">
              <a:rPr lang="en-US"/>
              <a:pPr/>
              <a:t>38</a:t>
            </a:fld>
            <a:endParaRPr lang="en-CA"/>
          </a:p>
        </p:txBody>
      </p:sp>
      <p:sp>
        <p:nvSpPr>
          <p:cNvPr id="3789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DBMS Server</a:t>
            </a:r>
          </a:p>
        </p:txBody>
      </p:sp>
      <p:sp>
        <p:nvSpPr>
          <p:cNvPr id="3789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Provides database query and transaction services to the clients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Relational DBMS servers are often called SQL servers, query servers, or transaction servers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Applications running on clients utilize an Application Program Interface (</a:t>
            </a:r>
            <a:r>
              <a:rPr lang="en-US" sz="2000" b="1" dirty="0" smtClean="0"/>
              <a:t>API</a:t>
            </a:r>
            <a:r>
              <a:rPr lang="en-US" sz="2000" dirty="0" smtClean="0"/>
              <a:t>) to access server databases via standard interface such as: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ODBC: Open Database Connectivity standard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JDBC: for Java programming access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Slide 2- </a:t>
            </a:r>
            <a:fld id="{81FB0738-3ACD-4093-A9E7-3D9E5029D1F1}" type="slidenum">
              <a:rPr lang="en-US"/>
              <a:pPr/>
              <a:t>39</a:t>
            </a:fld>
            <a:endParaRPr lang="en-CA"/>
          </a:p>
        </p:txBody>
      </p:sp>
      <p:sp>
        <p:nvSpPr>
          <p:cNvPr id="39939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0772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Three Tier Client-Server Architecture</a:t>
            </a:r>
          </a:p>
        </p:txBody>
      </p:sp>
      <p:sp>
        <p:nvSpPr>
          <p:cNvPr id="3994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3505200" cy="456895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000" dirty="0" smtClean="0"/>
              <a:t>Adds Intermediate layer called Application Server or Web Server. </a:t>
            </a:r>
          </a:p>
          <a:p>
            <a:pPr eaLnBrk="1" hangingPunct="1"/>
            <a:r>
              <a:rPr lang="en-US" sz="2000" dirty="0" smtClean="0"/>
              <a:t>Middle Tier stores business logic that is use to access data from the database server</a:t>
            </a:r>
          </a:p>
          <a:p>
            <a:pPr eaLnBrk="1" hangingPunct="1"/>
            <a:r>
              <a:rPr lang="en-US" sz="2000" dirty="0" smtClean="0"/>
              <a:t>Enhance security as DB server is only accessible via middle tier</a:t>
            </a:r>
          </a:p>
        </p:txBody>
      </p:sp>
      <p:pic>
        <p:nvPicPr>
          <p:cNvPr id="5" name="Picture 4" descr="fig02_07"/>
          <p:cNvPicPr>
            <a:picLocks noChangeAspect="1" noChangeArrowheads="1"/>
          </p:cNvPicPr>
          <p:nvPr/>
        </p:nvPicPr>
        <p:blipFill>
          <a:blip r:embed="rId3" cstate="print"/>
          <a:srcRect l="30260"/>
          <a:stretch>
            <a:fillRect/>
          </a:stretch>
        </p:blipFill>
        <p:spPr bwMode="auto">
          <a:xfrm>
            <a:off x="3886200" y="1828800"/>
            <a:ext cx="4651169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Slide 2- </a:t>
            </a:r>
            <a:fld id="{169B283E-8F59-4B93-B08B-7D79B0548D68}" type="slidenum">
              <a:rPr lang="en-US"/>
              <a:pPr/>
              <a:t>40</a:t>
            </a:fld>
            <a:endParaRPr lang="en-CA"/>
          </a:p>
        </p:txBody>
      </p:sp>
      <p:sp>
        <p:nvSpPr>
          <p:cNvPr id="41987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Classification of DBMSs</a:t>
            </a:r>
          </a:p>
        </p:txBody>
      </p:sp>
      <p:sp>
        <p:nvSpPr>
          <p:cNvPr id="41988" name="Rectangle 1029"/>
          <p:cNvSpPr>
            <a:spLocks noGrp="1" noChangeArrowheads="1"/>
          </p:cNvSpPr>
          <p:nvPr>
            <p:ph type="body" idx="1"/>
          </p:nvPr>
        </p:nvSpPr>
        <p:spPr>
          <a:xfrm>
            <a:off x="457200" y="1679448"/>
            <a:ext cx="8077200" cy="487375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Based on the data model used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 smtClean="0"/>
              <a:t>Traditional</a:t>
            </a:r>
            <a:r>
              <a:rPr lang="en-US" dirty="0" smtClean="0"/>
              <a:t>: Relational, Network, Hierarchical.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 smtClean="0"/>
              <a:t>Emerging:</a:t>
            </a:r>
            <a:r>
              <a:rPr lang="en-US" dirty="0" smtClean="0"/>
              <a:t> Object-oriented, Object-relational.</a:t>
            </a:r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Single-user (typically used with personal computers) vs. multi-user (most DBMSs).</a:t>
            </a:r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Centralized (single computer) </a:t>
            </a:r>
            <a:br>
              <a:rPr lang="en-US" dirty="0" smtClean="0"/>
            </a:br>
            <a:r>
              <a:rPr lang="en-US" dirty="0" smtClean="0"/>
              <a:t>vs. distributed (multiple computers, multiple databases)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Slide 2- </a:t>
            </a:r>
            <a:fld id="{2525059E-3A40-4831-9A05-1F096AE5DF27}" type="slidenum">
              <a:rPr lang="en-US"/>
              <a:pPr/>
              <a:t>41</a:t>
            </a:fld>
            <a:endParaRPr lang="en-CA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Distributed DBMSs (DDBMSs)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Distributed Database Systems can have database and DBMS software distributed over many sites</a:t>
            </a:r>
          </a:p>
          <a:p>
            <a:r>
              <a:rPr lang="en-US" dirty="0" smtClean="0"/>
              <a:t>Homogeneous DDBMS</a:t>
            </a:r>
          </a:p>
          <a:p>
            <a:r>
              <a:rPr lang="en-US" dirty="0" smtClean="0"/>
              <a:t>Heterogeneous DDBMS</a:t>
            </a:r>
          </a:p>
          <a:p>
            <a:r>
              <a:rPr lang="en-US" dirty="0" smtClean="0"/>
              <a:t>Uses client-server architecture</a:t>
            </a:r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600" dirty="0" smtClean="0"/>
              <a:t> Record-based</a:t>
            </a:r>
            <a:r>
              <a:rPr lang="en-US" dirty="0" smtClean="0"/>
              <a:t> Logical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162800" cy="4873752"/>
          </a:xfrm>
        </p:spPr>
        <p:txBody>
          <a:bodyPr>
            <a:normAutofit lnSpcReduction="10000"/>
          </a:bodyPr>
          <a:lstStyle/>
          <a:p>
            <a:r>
              <a:rPr lang="en-US" sz="2000" dirty="0" smtClean="0"/>
              <a:t>Describe data at the conceptual and view levels.</a:t>
            </a:r>
          </a:p>
          <a:p>
            <a:r>
              <a:rPr lang="en-US" sz="2000" dirty="0" smtClean="0"/>
              <a:t>Provide a higher-level description of the implementation.</a:t>
            </a:r>
          </a:p>
          <a:p>
            <a:endParaRPr lang="en-US" sz="2000" dirty="0" smtClean="0"/>
          </a:p>
          <a:p>
            <a:r>
              <a:rPr lang="en-US" sz="2000" dirty="0" smtClean="0"/>
              <a:t>The database is structured in fixed-format records of several types.</a:t>
            </a:r>
          </a:p>
          <a:p>
            <a:pPr lvl="1"/>
            <a:r>
              <a:rPr lang="en-US" sz="2000" dirty="0" smtClean="0"/>
              <a:t>Each record defines a fixed number of fields, or attributes.</a:t>
            </a:r>
          </a:p>
          <a:p>
            <a:pPr lvl="1"/>
            <a:r>
              <a:rPr lang="en-US" sz="2000" dirty="0" smtClean="0"/>
              <a:t>Each field is usually of a fixed length (this simplifies the implementation).</a:t>
            </a:r>
          </a:p>
          <a:p>
            <a:endParaRPr lang="en-US" sz="2000" dirty="0" smtClean="0"/>
          </a:p>
          <a:p>
            <a:r>
              <a:rPr lang="en-US" sz="2000" dirty="0" smtClean="0"/>
              <a:t>The three most widely-accepted models are </a:t>
            </a:r>
          </a:p>
          <a:p>
            <a:pPr lvl="1"/>
            <a:r>
              <a:rPr lang="en-US" sz="2000" b="1" dirty="0" smtClean="0"/>
              <a:t>relational, </a:t>
            </a:r>
          </a:p>
          <a:p>
            <a:pPr lvl="1"/>
            <a:r>
              <a:rPr lang="en-US" sz="2000" b="1" dirty="0" smtClean="0"/>
              <a:t>network</a:t>
            </a:r>
            <a:r>
              <a:rPr lang="en-US" sz="2000" dirty="0" smtClean="0"/>
              <a:t>, and </a:t>
            </a:r>
          </a:p>
          <a:p>
            <a:pPr lvl="1"/>
            <a:r>
              <a:rPr lang="en-US" sz="2000" b="1" dirty="0" smtClean="0"/>
              <a:t>hierarchical</a:t>
            </a:r>
            <a:r>
              <a:rPr lang="en-US" sz="2000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Hierarchical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24800" cy="4873752"/>
          </a:xfrm>
        </p:spPr>
        <p:txBody>
          <a:bodyPr>
            <a:normAutofit/>
          </a:bodyPr>
          <a:lstStyle/>
          <a:p>
            <a:r>
              <a:rPr lang="en-US" dirty="0" smtClean="0"/>
              <a:t>Organization of the records is as a collection of </a:t>
            </a:r>
            <a:r>
              <a:rPr lang="en-US" b="1" dirty="0" smtClean="0"/>
              <a:t>trees </a:t>
            </a:r>
          </a:p>
          <a:p>
            <a:r>
              <a:rPr lang="en-US" dirty="0" smtClean="0"/>
              <a:t>A </a:t>
            </a:r>
            <a:r>
              <a:rPr lang="en-US" dirty="0"/>
              <a:t>child </a:t>
            </a:r>
            <a:r>
              <a:rPr lang="en-US" dirty="0" smtClean="0"/>
              <a:t>can </a:t>
            </a:r>
            <a:r>
              <a:rPr lang="en-US" dirty="0"/>
              <a:t>have </a:t>
            </a:r>
            <a:r>
              <a:rPr lang="en-US" dirty="0" smtClean="0"/>
              <a:t>only one </a:t>
            </a:r>
            <a:r>
              <a:rPr lang="en-US" dirty="0"/>
              <a:t>parent, but a parent </a:t>
            </a:r>
            <a:r>
              <a:rPr lang="en-US" dirty="0" smtClean="0"/>
              <a:t>can </a:t>
            </a:r>
            <a:r>
              <a:rPr lang="en-US" dirty="0"/>
              <a:t>have many children.</a:t>
            </a:r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r>
              <a:rPr lang="en-US" dirty="0" smtClean="0"/>
              <a:t>Drawback- Data redundancy</a:t>
            </a:r>
          </a:p>
          <a:p>
            <a:pPr lvl="1"/>
            <a:r>
              <a:rPr lang="en-US" dirty="0" smtClean="0"/>
              <a:t>Cannot handle many-to-many relationship</a:t>
            </a:r>
          </a:p>
          <a:p>
            <a:pPr lvl="1"/>
            <a:r>
              <a:rPr lang="en-US" dirty="0" smtClean="0"/>
              <a:t>Example: employee with many supervisors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60418" name="Picture 2" descr="H:\Databases\Net material\_13079_figure221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1" y="3124201"/>
            <a:ext cx="5562600" cy="175999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200" dirty="0" smtClean="0"/>
              <a:t>Data are represented by collections of records.</a:t>
            </a:r>
          </a:p>
          <a:p>
            <a:r>
              <a:rPr lang="en-US" sz="2200" dirty="0" smtClean="0"/>
              <a:t>Relationships among data are represented by links.</a:t>
            </a:r>
          </a:p>
          <a:p>
            <a:r>
              <a:rPr lang="en-US" sz="2200" dirty="0" smtClean="0"/>
              <a:t>Organization is that of an </a:t>
            </a:r>
            <a:r>
              <a:rPr lang="en-US" sz="2200" b="1" dirty="0" smtClean="0"/>
              <a:t>arbitrary graph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Eliminates hierarchical model problem issue</a:t>
            </a:r>
          </a:p>
          <a:p>
            <a:pPr lvl="1"/>
            <a:r>
              <a:rPr lang="en-US" sz="1900" dirty="0" smtClean="0"/>
              <a:t>Allow many to many relationship</a:t>
            </a:r>
          </a:p>
          <a:p>
            <a:pPr lvl="1"/>
            <a:endParaRPr lang="en-US" sz="1900" dirty="0"/>
          </a:p>
          <a:p>
            <a:pPr lvl="1"/>
            <a:endParaRPr lang="en-US" sz="1900" dirty="0" smtClean="0"/>
          </a:p>
          <a:p>
            <a:pPr lvl="1"/>
            <a:endParaRPr lang="en-US" sz="1900" dirty="0"/>
          </a:p>
          <a:p>
            <a:pPr lvl="1"/>
            <a:endParaRPr lang="en-US" sz="1900" dirty="0" smtClean="0"/>
          </a:p>
          <a:p>
            <a:pPr lvl="1"/>
            <a:endParaRPr lang="en-US" sz="1900" dirty="0"/>
          </a:p>
          <a:p>
            <a:pPr lvl="1"/>
            <a:endParaRPr lang="en-US" sz="1900" dirty="0" smtClean="0"/>
          </a:p>
          <a:p>
            <a:r>
              <a:rPr lang="en-US" sz="2200" dirty="0" smtClean="0"/>
              <a:t>Limitations: difficult to query data from multiple tables and issues in indexing scheme</a:t>
            </a:r>
            <a:endParaRPr lang="en-US" sz="1900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9394" name="Picture 2" descr="H:\Databases\Net material\_13079_figure209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3810000"/>
            <a:ext cx="2590800" cy="1524000"/>
          </a:xfrm>
          <a:prstGeom prst="rect">
            <a:avLst/>
          </a:prstGeom>
          <a:noFill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676650"/>
            <a:ext cx="212407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144780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Data and relationships are represented by a set of </a:t>
            </a:r>
            <a:r>
              <a:rPr lang="en-US" sz="2000" b="1" dirty="0" smtClean="0"/>
              <a:t>tables</a:t>
            </a:r>
            <a:r>
              <a:rPr lang="en-US" sz="2000" dirty="0" smtClean="0"/>
              <a:t>.</a:t>
            </a:r>
          </a:p>
          <a:p>
            <a:pPr lvl="0"/>
            <a:r>
              <a:rPr lang="en-US" sz="2000" dirty="0" smtClean="0"/>
              <a:t>A </a:t>
            </a:r>
            <a:r>
              <a:rPr lang="en-US" sz="2000" dirty="0" err="1" smtClean="0"/>
              <a:t>tuple</a:t>
            </a:r>
            <a:r>
              <a:rPr lang="en-US" sz="2000" dirty="0" smtClean="0"/>
              <a:t> or row contains all the data of a single instance of the table. </a:t>
            </a:r>
          </a:p>
          <a:p>
            <a:endParaRPr lang="en-US" dirty="0"/>
          </a:p>
        </p:txBody>
      </p:sp>
      <p:sp>
        <p:nvSpPr>
          <p:cNvPr id="1026" name="AutoShape 2" descr="http://www.cs.sfu.ca/cc/354/zaiane/material/notes/Chapter1/_13079_figure191.gif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http://www.cs.sfu.ca/cc/354/zaiane/material/notes/Chapter1/_13079_figure191.gif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1" name="Picture 7" descr="Relational model concept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2743200"/>
            <a:ext cx="4953000" cy="2914650"/>
          </a:xfrm>
          <a:prstGeom prst="rect">
            <a:avLst/>
          </a:prstGeom>
          <a:noFill/>
        </p:spPr>
      </p:pic>
      <p:pic>
        <p:nvPicPr>
          <p:cNvPr id="1029" name="Picture 5" descr="H:\Databases\Net material\_13079_figure191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5562600"/>
            <a:ext cx="4002561" cy="9906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762000" y="3276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57200" y="2743200"/>
            <a:ext cx="3657600" cy="25908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000" dirty="0" smtClean="0"/>
              <a:t>Each </a:t>
            </a:r>
            <a:r>
              <a:rPr lang="en-US" sz="2000" b="1" dirty="0" smtClean="0"/>
              <a:t>table</a:t>
            </a:r>
            <a:r>
              <a:rPr lang="en-US" sz="2000" dirty="0" smtClean="0"/>
              <a:t> has a number of columns with unique names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000" dirty="0" smtClean="0"/>
              <a:t>Every row must have a unique ID or key based on the data.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Data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873752"/>
          </a:xfrm>
        </p:spPr>
        <p:txBody>
          <a:bodyPr>
            <a:normAutofit/>
          </a:bodyPr>
          <a:lstStyle/>
          <a:p>
            <a:r>
              <a:rPr lang="en-US" sz="2200" dirty="0" smtClean="0"/>
              <a:t>Defines database in terms of objects, their properties and operations.</a:t>
            </a:r>
          </a:p>
          <a:p>
            <a:r>
              <a:rPr lang="en-US" sz="2200" dirty="0" smtClean="0"/>
              <a:t>Objects with same structure and behavior belong to a class</a:t>
            </a:r>
          </a:p>
          <a:p>
            <a:r>
              <a:rPr lang="en-US" sz="2200" dirty="0" smtClean="0"/>
              <a:t>Classes are organized into hierarchies</a:t>
            </a:r>
          </a:p>
          <a:p>
            <a:r>
              <a:rPr lang="en-US" sz="2200" dirty="0" smtClean="0"/>
              <a:t>The operations of each class are specified as methods</a:t>
            </a:r>
          </a:p>
          <a:p>
            <a:r>
              <a:rPr lang="en-US" sz="2200" dirty="0" smtClean="0"/>
              <a:t>Describe data at the conceptual and view levels.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487" y="4114800"/>
            <a:ext cx="3414713" cy="2394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Slide 2- </a:t>
            </a:r>
            <a:fld id="{8C9756EC-371E-41C7-8073-D0660403265D}" type="slidenum">
              <a:rPr lang="en-US"/>
              <a:pPr/>
              <a:t>47</a:t>
            </a:fld>
            <a:endParaRPr lang="en-CA"/>
          </a:p>
        </p:txBody>
      </p:sp>
      <p:sp>
        <p:nvSpPr>
          <p:cNvPr id="2457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DBMS Interfaces</a:t>
            </a:r>
          </a:p>
        </p:txBody>
      </p:sp>
      <p:sp>
        <p:nvSpPr>
          <p:cNvPr id="2458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Stand-alone query language interfaces</a:t>
            </a:r>
          </a:p>
          <a:p>
            <a:pPr lvl="1" eaLnBrk="1" hangingPunct="1"/>
            <a:r>
              <a:rPr lang="en-US" dirty="0" smtClean="0"/>
              <a:t>Example: Entering SQL queries at the DBMS interactive SQL interface (e.g. SQL*Plus in ORACLE)</a:t>
            </a:r>
          </a:p>
          <a:p>
            <a:pPr eaLnBrk="1" hangingPunct="1"/>
            <a:r>
              <a:rPr lang="en-US" dirty="0" smtClean="0"/>
              <a:t>Programmer interfaces for embedding DML in programming languages</a:t>
            </a:r>
          </a:p>
          <a:p>
            <a:pPr eaLnBrk="1" hangingPunct="1"/>
            <a:r>
              <a:rPr lang="en-US" dirty="0" smtClean="0"/>
              <a:t>User-friendly interfaces such as</a:t>
            </a:r>
          </a:p>
          <a:p>
            <a:pPr lvl="1" eaLnBrk="1" hangingPunct="1"/>
            <a:r>
              <a:rPr lang="en-US" dirty="0" smtClean="0"/>
              <a:t>Menu-based, forms-based, graphics-based, etc.</a:t>
            </a:r>
          </a:p>
        </p:txBody>
      </p:sp>
    </p:spTree>
    <p:extLst>
      <p:ext uri="{BB962C8B-B14F-4D97-AF65-F5344CB8AC3E}">
        <p14:creationId xmlns:p14="http://schemas.microsoft.com/office/powerpoint/2010/main" val="28988743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Slide 2- </a:t>
            </a:r>
            <a:fld id="{BB3BCA37-1F83-4A9D-BBBF-192A16E508C5}" type="slidenum">
              <a:rPr lang="en-US"/>
              <a:pPr/>
              <a:t>48</a:t>
            </a:fld>
            <a:endParaRPr lang="en-CA"/>
          </a:p>
        </p:txBody>
      </p:sp>
      <p:sp>
        <p:nvSpPr>
          <p:cNvPr id="2867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Database System Utilities</a:t>
            </a:r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To perform certain functions such as:</a:t>
            </a:r>
          </a:p>
          <a:p>
            <a:pPr lvl="1" eaLnBrk="1" hangingPunct="1"/>
            <a:r>
              <a:rPr lang="en-US" dirty="0" smtClean="0"/>
              <a:t>Loading data stored in existing files into a database. includes data conversion tools.</a:t>
            </a:r>
          </a:p>
          <a:p>
            <a:pPr lvl="1" eaLnBrk="1" hangingPunct="1"/>
            <a:r>
              <a:rPr lang="en-US" dirty="0" smtClean="0"/>
              <a:t>Backing up the database periodically on tape.</a:t>
            </a:r>
          </a:p>
          <a:p>
            <a:pPr lvl="1" eaLnBrk="1" hangingPunct="1"/>
            <a:r>
              <a:rPr lang="en-US" dirty="0" smtClean="0"/>
              <a:t>Reorganizing database file structures.</a:t>
            </a:r>
          </a:p>
          <a:p>
            <a:pPr lvl="1" eaLnBrk="1" hangingPunct="1"/>
            <a:r>
              <a:rPr lang="en-US" dirty="0" smtClean="0"/>
              <a:t>Report generation utilities.</a:t>
            </a:r>
          </a:p>
          <a:p>
            <a:pPr lvl="1" eaLnBrk="1" hangingPunct="1"/>
            <a:r>
              <a:rPr lang="en-US" dirty="0" smtClean="0"/>
              <a:t>Performance monitoring utilities.</a:t>
            </a:r>
          </a:p>
          <a:p>
            <a:pPr lvl="1" eaLnBrk="1" hangingPunct="1"/>
            <a:r>
              <a:rPr lang="en-US" dirty="0" smtClean="0"/>
              <a:t>Other functions, such as sorting, user monitoring, data compression, etc.</a:t>
            </a:r>
          </a:p>
        </p:txBody>
      </p:sp>
    </p:spTree>
    <p:extLst>
      <p:ext uri="{BB962C8B-B14F-4D97-AF65-F5344CB8AC3E}">
        <p14:creationId xmlns:p14="http://schemas.microsoft.com/office/powerpoint/2010/main" val="40275794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3110</TotalTime>
  <Words>5039</Words>
  <Application>Microsoft Office PowerPoint</Application>
  <PresentationFormat>On-screen Show (4:3)</PresentationFormat>
  <Paragraphs>689</Paragraphs>
  <Slides>48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Book Antiqua</vt:lpstr>
      <vt:lpstr>Calibri</vt:lpstr>
      <vt:lpstr>Century Schoolbook</vt:lpstr>
      <vt:lpstr>Monotype Sorts</vt:lpstr>
      <vt:lpstr>Times</vt:lpstr>
      <vt:lpstr>Times New Roman</vt:lpstr>
      <vt:lpstr>Wingdings</vt:lpstr>
      <vt:lpstr>Wingdings 2</vt:lpstr>
      <vt:lpstr>Oriel</vt:lpstr>
      <vt:lpstr>Introduction: Databases and Database Systems </vt:lpstr>
      <vt:lpstr>What is DataBase ? </vt:lpstr>
      <vt:lpstr>Database System</vt:lpstr>
      <vt:lpstr>Simplified database system environment</vt:lpstr>
      <vt:lpstr>Database System Applications</vt:lpstr>
      <vt:lpstr>Drawbacks of file system</vt:lpstr>
      <vt:lpstr>Drawbacks of file system</vt:lpstr>
      <vt:lpstr>Example of a Database</vt:lpstr>
      <vt:lpstr>Example of a simple database</vt:lpstr>
      <vt:lpstr>Characteristics of the Database Approach</vt:lpstr>
      <vt:lpstr>Characteristics of the Database Approach</vt:lpstr>
      <vt:lpstr>Characteristics of the Database Approach</vt:lpstr>
      <vt:lpstr>PowerPoint Presentation</vt:lpstr>
      <vt:lpstr>Database Users</vt:lpstr>
      <vt:lpstr>Advantages of DBMS</vt:lpstr>
      <vt:lpstr>situations where DB System is  not desirable </vt:lpstr>
      <vt:lpstr>Database System Concepts and Architecture </vt:lpstr>
      <vt:lpstr>DESCRIBING AND STORING DATA IN A DBMS</vt:lpstr>
      <vt:lpstr>Categories of Data Models</vt:lpstr>
      <vt:lpstr>Entity-Relationship Model</vt:lpstr>
      <vt:lpstr>Relational Data Model</vt:lpstr>
      <vt:lpstr>Database Schemas</vt:lpstr>
      <vt:lpstr>Database State</vt:lpstr>
      <vt:lpstr>Example of a database state</vt:lpstr>
      <vt:lpstr>Schemas versus State</vt:lpstr>
      <vt:lpstr>Three-Schema Architecture</vt:lpstr>
      <vt:lpstr>Three-Schema Architecture</vt:lpstr>
      <vt:lpstr>Three-Schema Architecture</vt:lpstr>
      <vt:lpstr>Data Independence</vt:lpstr>
      <vt:lpstr>Data Independence</vt:lpstr>
      <vt:lpstr>DBMS Languages</vt:lpstr>
      <vt:lpstr>DBMS Languages</vt:lpstr>
      <vt:lpstr>DBMS Languages</vt:lpstr>
      <vt:lpstr>Typical DBMS Component Modules</vt:lpstr>
      <vt:lpstr>PowerPoint Presentation</vt:lpstr>
      <vt:lpstr>DBMS Architectures </vt:lpstr>
      <vt:lpstr>Basic 2-tier Client-Server Architectures</vt:lpstr>
      <vt:lpstr>DBMS Server</vt:lpstr>
      <vt:lpstr>Three Tier Client-Server Architecture</vt:lpstr>
      <vt:lpstr>Classification of DBMSs</vt:lpstr>
      <vt:lpstr>Distributed DBMSs (DDBMSs)</vt:lpstr>
      <vt:lpstr>          Record-based Logical Models</vt:lpstr>
      <vt:lpstr>Hierarchical Model</vt:lpstr>
      <vt:lpstr>Network Model</vt:lpstr>
      <vt:lpstr>Relational Model</vt:lpstr>
      <vt:lpstr>Object Data Model</vt:lpstr>
      <vt:lpstr>DBMS Interfaces</vt:lpstr>
      <vt:lpstr>Database System Utilities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 Concepts and Architecture</dc:title>
  <dc:creator>Zareen Alamgir</dc:creator>
  <cp:lastModifiedBy>zareen alamgir</cp:lastModifiedBy>
  <cp:revision>158</cp:revision>
  <dcterms:created xsi:type="dcterms:W3CDTF">2011-01-21T04:12:33Z</dcterms:created>
  <dcterms:modified xsi:type="dcterms:W3CDTF">2015-02-10T04:01:37Z</dcterms:modified>
</cp:coreProperties>
</file>