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A7947-E287-4738-8C82-07CE4F01EF03}" type="datetime2">
              <a:rPr lang="en-US" smtClean="0"/>
              <a:t>Monday, October 7,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68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E8C025-CD7A-4966-867E-81CF82B15267}" type="datetime2">
              <a:rPr lang="en-US" smtClean="0"/>
              <a:t>Monday, October 7,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132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809929-0719-4517-94D6-FDF7F99E70F6}" type="datetime2">
              <a:rPr lang="en-US" smtClean="0"/>
              <a:t>Monday, October 7,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82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95673-5512-4AAA-9AEB-E00C61EC65D5}" type="datetime2">
              <a:rPr lang="en-US" smtClean="0"/>
              <a:t>Monday, October 7,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83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138FA-2E87-4873-8BBA-13E447C9A99A}" type="datetime2">
              <a:rPr lang="en-US" smtClean="0"/>
              <a:t>Monday, October 7, 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68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B40A-97BD-4BFB-B639-0BFF95FDE8B7}" type="datetime2">
              <a:rPr lang="en-US" smtClean="0"/>
              <a:t>Monday, October 7, 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8297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9E0E3-ECF6-4CFE-8698-AEFEBCECC3C0}" type="datetime2">
              <a:rPr lang="en-US" smtClean="0"/>
              <a:t>Monday, October 7, 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781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462FC-960E-4740-921F-B36862979F21}" type="datetime2">
              <a:rPr lang="en-US" smtClean="0"/>
              <a:t>Monday, October 7,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69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BC9E2-CB44-4C05-9BB5-496C18A241E0}" type="datetime2">
              <a:rPr lang="en-US" smtClean="0"/>
              <a:t>Monday, October 7, 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963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EBD84-71F4-4271-8C46-0D47C0A9B12E}" type="datetime2">
              <a:rPr lang="en-US" smtClean="0"/>
              <a:t>Monday, October 7,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794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E0CE1-F450-4107-B2CB-17B18F8A3F4A}" type="datetime2">
              <a:rPr lang="en-US" smtClean="0"/>
              <a:t>Monday, October 7,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71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246CB39B-5F4C-4A7E-9BE3-AAFD45576D16}" type="datetime2">
              <a:rPr lang="en-US" smtClean="0"/>
              <a:t>Monday, October 7, 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Sample Footer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9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604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25" r:id="rId4"/>
    <p:sldLayoutId id="2147483726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0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1" name="Rectangle 1050">
            <a:extLst>
              <a:ext uri="{FF2B5EF4-FFF2-40B4-BE49-F238E27FC236}">
                <a16:creationId xmlns:a16="http://schemas.microsoft.com/office/drawing/2014/main" id="{1DB043B4-68C6-45B9-82AC-A5800EADB8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47EEFD-7CD2-DCB0-2542-092581FE09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0863" y="549275"/>
            <a:ext cx="5437187" cy="298623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b="0" i="0">
                <a:effectLst/>
                <a:latin typeface="-apple-system"/>
              </a:rPr>
              <a:t>Community Service Project at Muhammadi Foundation</a:t>
            </a:r>
            <a:endParaRPr lang="en-US" sz="5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5F1E1F-3712-D025-EB22-DD789D2C0B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0863" y="3827610"/>
            <a:ext cx="5437187" cy="2265216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chemeClr val="tx1">
                    <a:alpha val="60000"/>
                  </a:schemeClr>
                </a:solidFill>
                <a:effectLst/>
                <a:latin typeface="-apple-system"/>
              </a:rPr>
              <a:t>Muhamma</a:t>
            </a:r>
            <a:r>
              <a:rPr lang="en-US" dirty="0">
                <a:solidFill>
                  <a:schemeClr val="tx1">
                    <a:alpha val="60000"/>
                  </a:schemeClr>
                </a:solidFill>
                <a:latin typeface="-apple-system"/>
              </a:rPr>
              <a:t>d Daniyal - i230579</a:t>
            </a:r>
          </a:p>
          <a:p>
            <a:r>
              <a:rPr lang="en-US" dirty="0">
                <a:solidFill>
                  <a:schemeClr val="tx1">
                    <a:alpha val="60000"/>
                  </a:schemeClr>
                </a:solidFill>
                <a:latin typeface="-apple-system"/>
              </a:rPr>
              <a:t>Abdullah Siddiqui - i230617</a:t>
            </a:r>
          </a:p>
          <a:p>
            <a:r>
              <a:rPr lang="en-US" dirty="0">
                <a:solidFill>
                  <a:schemeClr val="tx1">
                    <a:alpha val="60000"/>
                  </a:schemeClr>
                </a:solidFill>
                <a:latin typeface="-apple-system"/>
              </a:rPr>
              <a:t>Moiz Ansari - i230523</a:t>
            </a:r>
          </a:p>
          <a:p>
            <a:r>
              <a:rPr lang="en-US" dirty="0">
                <a:solidFill>
                  <a:schemeClr val="tx1">
                    <a:alpha val="60000"/>
                  </a:schemeClr>
                </a:solidFill>
                <a:latin typeface="-apple-system"/>
              </a:rPr>
              <a:t>Ali Sher – i230683</a:t>
            </a:r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1053" name="Oval 1052">
            <a:extLst>
              <a:ext uri="{FF2B5EF4-FFF2-40B4-BE49-F238E27FC236}">
                <a16:creationId xmlns:a16="http://schemas.microsoft.com/office/drawing/2014/main" id="{D87560B9-86B8-4558-93E9-FAB8DBE40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66122" y="7174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55" name="Freeform: Shape 1054">
            <a:extLst>
              <a:ext uri="{FF2B5EF4-FFF2-40B4-BE49-F238E27FC236}">
                <a16:creationId xmlns:a16="http://schemas.microsoft.com/office/drawing/2014/main" id="{71400469-1077-4353-BFB5-E4159ADF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11524143" y="5425719"/>
            <a:ext cx="826527" cy="463493"/>
          </a:xfrm>
          <a:custGeom>
            <a:avLst/>
            <a:gdLst>
              <a:gd name="connsiteX0" fmla="*/ 791231 w 826527"/>
              <a:gd name="connsiteY0" fmla="*/ 135754 h 463493"/>
              <a:gd name="connsiteX1" fmla="*/ 826527 w 826527"/>
              <a:gd name="connsiteY1" fmla="*/ 178533 h 463493"/>
              <a:gd name="connsiteX2" fmla="*/ 658803 w 826527"/>
              <a:gd name="connsiteY2" fmla="*/ 346257 h 463493"/>
              <a:gd name="connsiteX3" fmla="*/ 627362 w 826527"/>
              <a:gd name="connsiteY3" fmla="*/ 299623 h 463493"/>
              <a:gd name="connsiteX4" fmla="*/ 463493 w 826527"/>
              <a:gd name="connsiteY4" fmla="*/ 231747 h 463493"/>
              <a:gd name="connsiteX5" fmla="*/ 231747 w 826527"/>
              <a:gd name="connsiteY5" fmla="*/ 463493 h 463493"/>
              <a:gd name="connsiteX6" fmla="*/ 0 w 826527"/>
              <a:gd name="connsiteY6" fmla="*/ 463493 h 463493"/>
              <a:gd name="connsiteX7" fmla="*/ 463492 w 826527"/>
              <a:gd name="connsiteY7" fmla="*/ 0 h 463493"/>
              <a:gd name="connsiteX8" fmla="*/ 791231 w 826527"/>
              <a:gd name="connsiteY8" fmla="*/ 135754 h 463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6527" h="463493">
                <a:moveTo>
                  <a:pt x="791231" y="135754"/>
                </a:moveTo>
                <a:lnTo>
                  <a:pt x="826527" y="178533"/>
                </a:lnTo>
                <a:lnTo>
                  <a:pt x="658803" y="346257"/>
                </a:lnTo>
                <a:lnTo>
                  <a:pt x="627362" y="299623"/>
                </a:lnTo>
                <a:cubicBezTo>
                  <a:pt x="585424" y="257686"/>
                  <a:pt x="527487" y="231747"/>
                  <a:pt x="463493" y="231747"/>
                </a:cubicBezTo>
                <a:cubicBezTo>
                  <a:pt x="335503" y="231746"/>
                  <a:pt x="231746" y="335503"/>
                  <a:pt x="231747" y="463493"/>
                </a:cubicBezTo>
                <a:lnTo>
                  <a:pt x="0" y="463493"/>
                </a:lnTo>
                <a:cubicBezTo>
                  <a:pt x="0" y="207513"/>
                  <a:pt x="207513" y="0"/>
                  <a:pt x="463492" y="0"/>
                </a:cubicBezTo>
                <a:cubicBezTo>
                  <a:pt x="591482" y="0"/>
                  <a:pt x="707356" y="51879"/>
                  <a:pt x="791231" y="135754"/>
                </a:cubicBezTo>
                <a:close/>
              </a:path>
            </a:pathLst>
          </a:custGeom>
          <a:solidFill>
            <a:schemeClr val="bg2"/>
          </a:solidFill>
          <a:ln>
            <a:noFill/>
          </a:ln>
          <a:effectLst>
            <a:innerShdw blurRad="127000" dir="2700000">
              <a:schemeClr val="accent1">
                <a:lumMod val="60000"/>
                <a:lumOff val="40000"/>
                <a:alpha val="2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57" name="Freeform: Shape 1056">
            <a:extLst>
              <a:ext uri="{FF2B5EF4-FFF2-40B4-BE49-F238E27FC236}">
                <a16:creationId xmlns:a16="http://schemas.microsoft.com/office/drawing/2014/main" id="{F28851F7-6B20-43F1-90FF-B41CE11AF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11562489" y="5445666"/>
            <a:ext cx="807174" cy="508309"/>
          </a:xfrm>
          <a:custGeom>
            <a:avLst/>
            <a:gdLst>
              <a:gd name="connsiteX0" fmla="*/ 791232 w 807174"/>
              <a:gd name="connsiteY0" fmla="*/ 148880 h 508309"/>
              <a:gd name="connsiteX1" fmla="*/ 807174 w 807174"/>
              <a:gd name="connsiteY1" fmla="*/ 170072 h 508309"/>
              <a:gd name="connsiteX2" fmla="*/ 636502 w 807174"/>
              <a:gd name="connsiteY2" fmla="*/ 340744 h 508309"/>
              <a:gd name="connsiteX3" fmla="*/ 627362 w 807174"/>
              <a:gd name="connsiteY3" fmla="*/ 328595 h 508309"/>
              <a:gd name="connsiteX4" fmla="*/ 463493 w 807174"/>
              <a:gd name="connsiteY4" fmla="*/ 254155 h 508309"/>
              <a:gd name="connsiteX5" fmla="*/ 231747 w 807174"/>
              <a:gd name="connsiteY5" fmla="*/ 508309 h 508309"/>
              <a:gd name="connsiteX6" fmla="*/ 0 w 807174"/>
              <a:gd name="connsiteY6" fmla="*/ 508309 h 508309"/>
              <a:gd name="connsiteX7" fmla="*/ 463493 w 807174"/>
              <a:gd name="connsiteY7" fmla="*/ 0 h 508309"/>
              <a:gd name="connsiteX8" fmla="*/ 791232 w 807174"/>
              <a:gd name="connsiteY8" fmla="*/ 148880 h 508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07174" h="508309">
                <a:moveTo>
                  <a:pt x="791232" y="148880"/>
                </a:moveTo>
                <a:lnTo>
                  <a:pt x="807174" y="170072"/>
                </a:lnTo>
                <a:lnTo>
                  <a:pt x="636502" y="340744"/>
                </a:lnTo>
                <a:lnTo>
                  <a:pt x="627362" y="328595"/>
                </a:lnTo>
                <a:cubicBezTo>
                  <a:pt x="585425" y="282602"/>
                  <a:pt x="527487" y="254155"/>
                  <a:pt x="463493" y="254155"/>
                </a:cubicBezTo>
                <a:cubicBezTo>
                  <a:pt x="335503" y="254155"/>
                  <a:pt x="231746" y="367943"/>
                  <a:pt x="231747" y="508309"/>
                </a:cubicBezTo>
                <a:lnTo>
                  <a:pt x="0" y="508309"/>
                </a:lnTo>
                <a:cubicBezTo>
                  <a:pt x="0" y="227578"/>
                  <a:pt x="207513" y="0"/>
                  <a:pt x="463493" y="0"/>
                </a:cubicBezTo>
                <a:cubicBezTo>
                  <a:pt x="591482" y="-1"/>
                  <a:pt x="707356" y="56895"/>
                  <a:pt x="791232" y="14888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>
            <a:noFill/>
          </a:ln>
          <a:effectLst>
            <a:softEdge rad="88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026" name="Picture 2" descr="Muhammadi Welfare Foundation | LinkedIn">
            <a:extLst>
              <a:ext uri="{FF2B5EF4-FFF2-40B4-BE49-F238E27FC236}">
                <a16:creationId xmlns:a16="http://schemas.microsoft.com/office/drawing/2014/main" id="{BF691DB3-E2C8-AB1B-DDC4-83AAE8B0AE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01" r="6437"/>
          <a:stretch/>
        </p:blipFill>
        <p:spPr bwMode="auto">
          <a:xfrm>
            <a:off x="6640455" y="606796"/>
            <a:ext cx="4868976" cy="5644408"/>
          </a:xfrm>
          <a:custGeom>
            <a:avLst/>
            <a:gdLst/>
            <a:ahLst/>
            <a:cxnLst/>
            <a:rect l="l" t="t" r="r" b="b"/>
            <a:pathLst>
              <a:path w="4868976" h="5644408">
                <a:moveTo>
                  <a:pt x="2398421" y="0"/>
                </a:moveTo>
                <a:lnTo>
                  <a:pt x="4868973" y="1424628"/>
                </a:lnTo>
                <a:lnTo>
                  <a:pt x="4868976" y="1424625"/>
                </a:lnTo>
                <a:lnTo>
                  <a:pt x="4868976" y="1424628"/>
                </a:lnTo>
                <a:lnTo>
                  <a:pt x="4868976" y="4219781"/>
                </a:lnTo>
                <a:lnTo>
                  <a:pt x="2398419" y="5644408"/>
                </a:lnTo>
                <a:lnTo>
                  <a:pt x="0" y="4219781"/>
                </a:lnTo>
                <a:lnTo>
                  <a:pt x="0" y="1424628"/>
                </a:lnTo>
                <a:lnTo>
                  <a:pt x="0" y="1424625"/>
                </a:lnTo>
                <a:lnTo>
                  <a:pt x="3" y="1424628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9" name="Oval 1058">
            <a:extLst>
              <a:ext uri="{FF2B5EF4-FFF2-40B4-BE49-F238E27FC236}">
                <a16:creationId xmlns:a16="http://schemas.microsoft.com/office/drawing/2014/main" id="{09E6BACC-8290-425B-A517-1914E16D8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11865497" y="5915162"/>
            <a:ext cx="53549" cy="233295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63500" dist="2540000">
              <a:schemeClr val="accent1">
                <a:lumMod val="60000"/>
                <a:lumOff val="40000"/>
                <a:alpha val="2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403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5931BE0-4B93-4D6C-878E-ACC59D6B4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410E7F-69B2-9A2B-7505-288104E30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80363"/>
            <a:ext cx="6322614" cy="1333055"/>
          </a:xfrm>
        </p:spPr>
        <p:txBody>
          <a:bodyPr wrap="square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dirty="0"/>
              <a:t>Content Understanding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0342557-9691-41B1-9FFF-027845ED04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0971" y="1982786"/>
            <a:ext cx="734257" cy="760506"/>
            <a:chOff x="5243759" y="1363788"/>
            <a:chExt cx="734257" cy="760506"/>
          </a:xfrm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086D6FFF-B330-42B3-9F1F-607CECF8D9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8D054D43-E740-4CA9-8197-85FBE2ECC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Freeform 8">
              <a:extLst>
                <a:ext uri="{FF2B5EF4-FFF2-40B4-BE49-F238E27FC236}">
                  <a16:creationId xmlns:a16="http://schemas.microsoft.com/office/drawing/2014/main" id="{CB5EB56C-B805-41B2-88BA-B198E68E6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26" name="Graphic 25" descr="Education">
            <a:extLst>
              <a:ext uri="{FF2B5EF4-FFF2-40B4-BE49-F238E27FC236}">
                <a16:creationId xmlns:a16="http://schemas.microsoft.com/office/drawing/2014/main" id="{8CB9D1CB-6A6C-D937-7A69-9F32C940A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9150" y="1539081"/>
            <a:ext cx="3779838" cy="3779838"/>
          </a:xfrm>
          <a:custGeom>
            <a:avLst/>
            <a:gdLst/>
            <a:ahLst/>
            <a:cxnLst/>
            <a:rect l="l" t="t" r="r" b="b"/>
            <a:pathLst>
              <a:path w="5773738" h="3779838">
                <a:moveTo>
                  <a:pt x="0" y="0"/>
                </a:moveTo>
                <a:lnTo>
                  <a:pt x="5773738" y="0"/>
                </a:lnTo>
                <a:lnTo>
                  <a:pt x="5773738" y="3779838"/>
                </a:lnTo>
                <a:lnTo>
                  <a:pt x="0" y="3779838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46E03-8D33-D03D-E84F-E778D3189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7258" y="2410435"/>
            <a:ext cx="5545137" cy="2422822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</a:rPr>
              <a:t>Interactive academic sessions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</a:rPr>
              <a:t>Co-curricular activities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solidFill>
                  <a:schemeClr val="tx1"/>
                </a:solidFill>
              </a:rPr>
              <a:t>Increase their self confidence.</a:t>
            </a:r>
          </a:p>
          <a:p>
            <a:pPr>
              <a:lnSpc>
                <a:spcPct val="100000"/>
              </a:lnSpc>
            </a:pP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298647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60B7752B-728D-4CA3-8923-C4F7F77029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E0DF90-4C60-3FA8-49A9-BF61419EE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206" y="-134773"/>
            <a:ext cx="6862308" cy="377983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Objective of week</a:t>
            </a: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AFF323B2-FCDB-4497-8AF0-2F7A3C88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2787" y="0"/>
            <a:ext cx="1972470" cy="1377426"/>
          </a:xfrm>
          <a:custGeom>
            <a:avLst/>
            <a:gdLst>
              <a:gd name="connsiteX0" fmla="*/ 81022 w 1972470"/>
              <a:gd name="connsiteY0" fmla="*/ 0 h 1377426"/>
              <a:gd name="connsiteX1" fmla="*/ 1891449 w 1972470"/>
              <a:gd name="connsiteY1" fmla="*/ 0 h 1377426"/>
              <a:gd name="connsiteX2" fmla="*/ 1894967 w 1972470"/>
              <a:gd name="connsiteY2" fmla="*/ 7304 h 1377426"/>
              <a:gd name="connsiteX3" fmla="*/ 1972470 w 1972470"/>
              <a:gd name="connsiteY3" fmla="*/ 391191 h 1377426"/>
              <a:gd name="connsiteX4" fmla="*/ 986235 w 1972470"/>
              <a:gd name="connsiteY4" fmla="*/ 1377426 h 1377426"/>
              <a:gd name="connsiteX5" fmla="*/ 0 w 1972470"/>
              <a:gd name="connsiteY5" fmla="*/ 391191 h 1377426"/>
              <a:gd name="connsiteX6" fmla="*/ 77503 w 1972470"/>
              <a:gd name="connsiteY6" fmla="*/ 7304 h 1377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2470" h="1377426">
                <a:moveTo>
                  <a:pt x="81022" y="0"/>
                </a:moveTo>
                <a:lnTo>
                  <a:pt x="1891449" y="0"/>
                </a:lnTo>
                <a:lnTo>
                  <a:pt x="1894967" y="7304"/>
                </a:lnTo>
                <a:cubicBezTo>
                  <a:pt x="1944873" y="125295"/>
                  <a:pt x="1972470" y="255020"/>
                  <a:pt x="1972470" y="391191"/>
                </a:cubicBezTo>
                <a:cubicBezTo>
                  <a:pt x="1972470" y="935874"/>
                  <a:pt x="1530918" y="1377426"/>
                  <a:pt x="986235" y="1377426"/>
                </a:cubicBezTo>
                <a:cubicBezTo>
                  <a:pt x="441552" y="1377426"/>
                  <a:pt x="0" y="935874"/>
                  <a:pt x="0" y="391191"/>
                </a:cubicBezTo>
                <a:cubicBezTo>
                  <a:pt x="0" y="255020"/>
                  <a:pt x="27597" y="125295"/>
                  <a:pt x="77503" y="730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508000" dist="254000" dir="2700000">
              <a:schemeClr val="accent1">
                <a:lumMod val="60000"/>
                <a:lumOff val="40000"/>
                <a:alpha val="6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B7CADF7-83F2-4D18-8E02-975078DBAA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55456" y="1041329"/>
            <a:ext cx="734257" cy="760506"/>
            <a:chOff x="5243759" y="1363788"/>
            <a:chExt cx="734257" cy="760506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5B68AF98-121D-4CB9-B8F9-066483D455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25579FD5-6C6A-4E96-8A86-B6F79A2B5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F6C08C9-D1BF-4C48-81D5-86996BD95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76A531C-147A-4C94-B721-EA95D8E88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95682" y="4989421"/>
            <a:ext cx="1335600" cy="1262947"/>
            <a:chOff x="7735641" y="2106638"/>
            <a:chExt cx="1335600" cy="1262947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C9CFF41-146B-4B53-A1D0-A1241BF49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spect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8900000">
              <a:off x="7735641" y="210663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10200000" scaled="0"/>
            </a:gradFill>
            <a:ln>
              <a:noFill/>
            </a:ln>
            <a:effectLst>
              <a:innerShdw blurRad="254000" dist="101600" dir="42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0194B0DA-7496-49E2-8ECA-BC44509DD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8261241" y="2453712"/>
              <a:ext cx="540000" cy="1080000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F30F975-5E7D-0F0E-B36A-F6B7ED0C25CB}"/>
              </a:ext>
            </a:extLst>
          </p:cNvPr>
          <p:cNvSpPr txBox="1">
            <a:spLocks/>
          </p:cNvSpPr>
          <p:nvPr/>
        </p:nvSpPr>
        <p:spPr>
          <a:xfrm>
            <a:off x="629817" y="2511008"/>
            <a:ext cx="5111564" cy="4563057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>
                <a:solidFill>
                  <a:schemeClr val="tx1"/>
                </a:solidFill>
              </a:rPr>
              <a:t>The main Objective was to engage with the children’s and help them to stand in this world  </a:t>
            </a:r>
          </a:p>
          <a:p>
            <a:r>
              <a:rPr lang="en-US" sz="2400" dirty="0">
                <a:solidFill>
                  <a:schemeClr val="tx1"/>
                </a:solidFill>
              </a:rPr>
              <a:t>Ice breaking activities.</a:t>
            </a:r>
          </a:p>
          <a:p>
            <a:r>
              <a:rPr lang="en-US" sz="2400" dirty="0">
                <a:solidFill>
                  <a:schemeClr val="tx1"/>
                </a:solidFill>
              </a:rPr>
              <a:t>Change of plan.</a:t>
            </a:r>
          </a:p>
          <a:p>
            <a:r>
              <a:rPr lang="en-US" sz="2400" dirty="0">
                <a:solidFill>
                  <a:schemeClr val="tx1"/>
                </a:solidFill>
              </a:rPr>
              <a:t>We taught them.</a:t>
            </a:r>
          </a:p>
          <a:p>
            <a:endParaRPr lang="en-US" sz="2400" dirty="0"/>
          </a:p>
        </p:txBody>
      </p:sp>
      <p:pic>
        <p:nvPicPr>
          <p:cNvPr id="3" name="Picture 2" descr="2,000+ Teacher Helping Children Stock ...">
            <a:extLst>
              <a:ext uri="{FF2B5EF4-FFF2-40B4-BE49-F238E27FC236}">
                <a16:creationId xmlns:a16="http://schemas.microsoft.com/office/drawing/2014/main" id="{91CE8A51-FC7C-B8FD-B881-0D6D71042D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00" r="19634"/>
          <a:stretch/>
        </p:blipFill>
        <p:spPr bwMode="auto">
          <a:xfrm>
            <a:off x="6639259" y="1067860"/>
            <a:ext cx="4437493" cy="4437493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694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1E97B-5E19-F7B1-141E-53101120F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Activities and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3EB2-8C02-CA25-351B-E66FFA42B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9538" y="1881275"/>
            <a:ext cx="11090274" cy="3979625"/>
          </a:xfrm>
        </p:spPr>
        <p:txBody>
          <a:bodyPr/>
          <a:lstStyle/>
          <a:p>
            <a:r>
              <a:rPr lang="en-US" sz="2400" dirty="0">
                <a:solidFill>
                  <a:schemeClr val="tx1"/>
                </a:solidFill>
              </a:rPr>
              <a:t>Individual introduction</a:t>
            </a:r>
          </a:p>
          <a:p>
            <a:r>
              <a:rPr lang="en-US" sz="2400" dirty="0">
                <a:solidFill>
                  <a:schemeClr val="tx1"/>
                </a:solidFill>
              </a:rPr>
              <a:t>Analyzation of their academic situations</a:t>
            </a:r>
          </a:p>
          <a:p>
            <a:r>
              <a:rPr lang="en-US" sz="2400" dirty="0">
                <a:solidFill>
                  <a:schemeClr val="tx1"/>
                </a:solidFill>
              </a:rPr>
              <a:t>Interactive learning</a:t>
            </a:r>
          </a:p>
          <a:p>
            <a:r>
              <a:rPr lang="en-US" sz="2400" dirty="0">
                <a:solidFill>
                  <a:schemeClr val="tx1"/>
                </a:solidFill>
              </a:rPr>
              <a:t>Each member was assigned different classes to teach</a:t>
            </a:r>
            <a:endParaRPr lang="en-US" sz="32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275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03BDC-BA8F-1571-340A-903A20971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Assigned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249F791-0709-BBFD-0FF6-2748EA63E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7171358"/>
              </p:ext>
            </p:extLst>
          </p:nvPr>
        </p:nvGraphicFramePr>
        <p:xfrm>
          <a:off x="1603828" y="2346011"/>
          <a:ext cx="8984344" cy="28330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492172">
                  <a:extLst>
                    <a:ext uri="{9D8B030D-6E8A-4147-A177-3AD203B41FA5}">
                      <a16:colId xmlns:a16="http://schemas.microsoft.com/office/drawing/2014/main" val="988242279"/>
                    </a:ext>
                  </a:extLst>
                </a:gridCol>
                <a:gridCol w="4492172">
                  <a:extLst>
                    <a:ext uri="{9D8B030D-6E8A-4147-A177-3AD203B41FA5}">
                      <a16:colId xmlns:a16="http://schemas.microsoft.com/office/drawing/2014/main" val="2179291617"/>
                    </a:ext>
                  </a:extLst>
                </a:gridCol>
              </a:tblGrid>
              <a:tr h="63425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Member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Class Assigned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3500062"/>
                  </a:ext>
                </a:extLst>
              </a:tr>
              <a:tr h="54968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Abdullah Siddiqui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Grade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457532"/>
                  </a:ext>
                </a:extLst>
              </a:tr>
              <a:tr h="54968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Moiz Ansari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Grade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5980495"/>
                  </a:ext>
                </a:extLst>
              </a:tr>
              <a:tr h="54968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M. Daniyal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Grade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95951"/>
                  </a:ext>
                </a:extLst>
              </a:tr>
              <a:tr h="549687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Ali Sher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Grade 6, 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3629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399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B99FF-D27A-C02F-00B8-C7CE3AB1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DC23B-61FC-1D23-B0F5-D176A8F20B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No play time for the children</a:t>
            </a:r>
          </a:p>
          <a:p>
            <a:r>
              <a:rPr lang="en-US" sz="2400" dirty="0">
                <a:solidFill>
                  <a:schemeClr val="tx1"/>
                </a:solidFill>
              </a:rPr>
              <a:t>Lack of indoor activities and outdoor sports not allowed</a:t>
            </a:r>
          </a:p>
          <a:p>
            <a:r>
              <a:rPr lang="en-US" sz="2400" dirty="0">
                <a:solidFill>
                  <a:schemeClr val="tx1"/>
                </a:solidFill>
              </a:rPr>
              <a:t>No arts and crafts at school or at organization</a:t>
            </a:r>
          </a:p>
          <a:p>
            <a:r>
              <a:rPr lang="en-US" sz="2400" dirty="0">
                <a:solidFill>
                  <a:schemeClr val="tx1"/>
                </a:solidFill>
              </a:rPr>
              <a:t>Addressed Organizational needs </a:t>
            </a:r>
          </a:p>
          <a:p>
            <a:r>
              <a:rPr lang="en-US" sz="2400" dirty="0">
                <a:solidFill>
                  <a:schemeClr val="tx1"/>
                </a:solidFill>
              </a:rPr>
              <a:t>Academic challenges faces by children</a:t>
            </a:r>
          </a:p>
        </p:txBody>
      </p:sp>
    </p:spTree>
    <p:extLst>
      <p:ext uri="{BB962C8B-B14F-4D97-AF65-F5344CB8AC3E}">
        <p14:creationId xmlns:p14="http://schemas.microsoft.com/office/powerpoint/2010/main" val="2670898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232F5-01A7-5D92-7A02-2D4A82C87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E5286-321B-3F08-4C62-32824E71B9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Took permission from head for future activities</a:t>
            </a:r>
          </a:p>
          <a:p>
            <a:r>
              <a:rPr lang="en-US" sz="2400" dirty="0">
                <a:solidFill>
                  <a:schemeClr val="tx1"/>
                </a:solidFill>
              </a:rPr>
              <a:t>Made plan for upcoming activities</a:t>
            </a:r>
          </a:p>
          <a:p>
            <a:r>
              <a:rPr lang="en-US" sz="2400" dirty="0">
                <a:solidFill>
                  <a:schemeClr val="tx1"/>
                </a:solidFill>
              </a:rPr>
              <a:t>Respecting organization’s rules and laws </a:t>
            </a:r>
          </a:p>
        </p:txBody>
      </p:sp>
    </p:spTree>
    <p:extLst>
      <p:ext uri="{BB962C8B-B14F-4D97-AF65-F5344CB8AC3E}">
        <p14:creationId xmlns:p14="http://schemas.microsoft.com/office/powerpoint/2010/main" val="2709415436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Sitka Heading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162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-apple-system</vt:lpstr>
      <vt:lpstr>Arial</vt:lpstr>
      <vt:lpstr>Sitka Heading</vt:lpstr>
      <vt:lpstr>Source Sans Pro</vt:lpstr>
      <vt:lpstr>3DFloatVTI</vt:lpstr>
      <vt:lpstr>Community Service Project at Muhammadi Foundation</vt:lpstr>
      <vt:lpstr>Content Understanding</vt:lpstr>
      <vt:lpstr>Objective of week</vt:lpstr>
      <vt:lpstr>Activities and Tasks</vt:lpstr>
      <vt:lpstr>Classes Assigned</vt:lpstr>
      <vt:lpstr>Analysis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AALIYAN AHMED</dc:creator>
  <cp:lastModifiedBy>Muhammad Moiz Ansari</cp:lastModifiedBy>
  <cp:revision>6</cp:revision>
  <dcterms:created xsi:type="dcterms:W3CDTF">2024-10-06T08:06:58Z</dcterms:created>
  <dcterms:modified xsi:type="dcterms:W3CDTF">2024-10-07T06:53:46Z</dcterms:modified>
</cp:coreProperties>
</file>