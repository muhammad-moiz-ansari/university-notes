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8"/>
  </p:notesMasterIdLst>
  <p:sldIdLst>
    <p:sldId id="256" r:id="rId2"/>
    <p:sldId id="257" r:id="rId3"/>
    <p:sldId id="274" r:id="rId4"/>
    <p:sldId id="264" r:id="rId5"/>
    <p:sldId id="258" r:id="rId6"/>
    <p:sldId id="265" r:id="rId7"/>
    <p:sldId id="259" r:id="rId8"/>
    <p:sldId id="267" r:id="rId9"/>
    <p:sldId id="266" r:id="rId10"/>
    <p:sldId id="261" r:id="rId11"/>
    <p:sldId id="268" r:id="rId12"/>
    <p:sldId id="269" r:id="rId13"/>
    <p:sldId id="270" r:id="rId14"/>
    <p:sldId id="271" r:id="rId15"/>
    <p:sldId id="272" r:id="rId16"/>
    <p:sldId id="26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147"/>
    <a:srgbClr val="3B306A"/>
    <a:srgbClr val="362C5E"/>
    <a:srgbClr val="2E2650"/>
    <a:srgbClr val="423676"/>
    <a:srgbClr val="4B3D87"/>
    <a:srgbClr val="57479B"/>
    <a:srgbClr val="5C4BA3"/>
    <a:srgbClr val="382E60"/>
    <a:srgbClr val="6654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2023" autoAdjust="0"/>
  </p:normalViewPr>
  <p:slideViewPr>
    <p:cSldViewPr snapToGrid="0">
      <p:cViewPr varScale="1">
        <p:scale>
          <a:sx n="58" d="100"/>
          <a:sy n="58" d="100"/>
        </p:scale>
        <p:origin x="98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3BB674-4B1C-4DC5-AA97-97419EFE51E8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4D490-04BE-4EC6-B5C0-AD1910284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945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4D490-04BE-4EC6-B5C0-AD19102847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37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031C7-C1C7-4D29-2808-3482AD60D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2AFA52-942A-D342-14CD-FFD52C470E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95AC87-4DAD-EC50-30EA-1A7F69A39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89F31-89E3-C7D7-94A6-7AC1BB1DCF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4D490-04BE-4EC6-B5C0-AD19102847C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1472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A9C31-F968-11FE-C481-BF8E718EA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CBBD65-84D1-DADC-79C7-44E8455C03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236087-087D-1196-D10E-EA5D3E354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4BBCE-5AB8-B47D-C2ED-6CA2212C6A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4D490-04BE-4EC6-B5C0-AD19102847C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In previous solution there was a concept of timestamp that when a pass happened it makes a timestamp at that edge.</a:t>
            </a:r>
          </a:p>
          <a:p>
            <a:pPr marL="228600" indent="-228600">
              <a:buAutoNum type="arabicPeriod"/>
            </a:pPr>
            <a:r>
              <a:rPr lang="en-US" dirty="0"/>
              <a:t>But in Oberoi solution, the concept of snapshot based model is used in which graphs at different times are compared.</a:t>
            </a:r>
          </a:p>
          <a:p>
            <a:pPr marL="228600" indent="-228600">
              <a:buAutoNum type="arabicPeriod"/>
            </a:pPr>
            <a:r>
              <a:rPr lang="en-US" dirty="0"/>
              <a:t>More precise and chronological order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4D490-04BE-4EC6-B5C0-AD19102847C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725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7E7DA-7658-A71C-6FD7-81BA6199A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EF65D0-B3A4-EFE7-4A44-F628E3696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71A0D3-603F-7664-DD89-03DC998C1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In previous solution there was a concept of timestamp that when a pass happened it makes a timestamp at that edge.</a:t>
            </a:r>
          </a:p>
          <a:p>
            <a:pPr marL="228600" indent="-228600">
              <a:buAutoNum type="arabicPeriod"/>
            </a:pPr>
            <a:r>
              <a:rPr lang="en-US" dirty="0"/>
              <a:t>But in Oberoi solution, the concept of snapshot based model is used in which graphs at different times are compared.</a:t>
            </a:r>
          </a:p>
          <a:p>
            <a:pPr marL="228600" indent="-228600">
              <a:buAutoNum type="arabicPeriod"/>
            </a:pPr>
            <a:r>
              <a:rPr lang="en-US" dirty="0"/>
              <a:t>More precise and chronological order comparison.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4EACC-9F8B-10BB-1A29-68CEED2B33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4D490-04BE-4EC6-B5C0-AD19102847C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597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Comparison with Mackey and </a:t>
            </a:r>
            <a:r>
              <a:rPr lang="en-US" dirty="0" err="1"/>
              <a:t>TemporalRl</a:t>
            </a:r>
            <a:r>
              <a:rPr lang="en-US" dirty="0"/>
              <a:t> algorithms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Better runtime and success rate for subgraph  isomorphism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Runs better at large data sets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4D490-04BE-4EC6-B5C0-AD19102847C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644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59A05-CBA5-2941-5137-46800E5F1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E6E89C-1013-4A0B-B620-6A9B1A79F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9E7FA3-31A6-F1BF-11A6-170CD39CE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Comparison with Mackey and </a:t>
            </a:r>
            <a:r>
              <a:rPr lang="en-US" dirty="0" err="1"/>
              <a:t>TemporalRl</a:t>
            </a:r>
            <a:r>
              <a:rPr lang="en-US" dirty="0"/>
              <a:t> algorithms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Better runtime and success rate for subgraph  isomorphism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Runs better at large data sets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93541-9DB0-A814-020E-CA188223B6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4D490-04BE-4EC6-B5C0-AD19102847C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873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9B063-E624-5768-375F-E48D4BD0F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7844BC-CFDB-14FB-E895-B9C7AB202B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E597D2-2ADA-4B2F-8A80-CF60E4FFB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Comparison with Mackey and </a:t>
            </a:r>
            <a:r>
              <a:rPr lang="en-US" dirty="0" err="1"/>
              <a:t>TemporalRl</a:t>
            </a:r>
            <a:r>
              <a:rPr lang="en-US" dirty="0"/>
              <a:t> algorithms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Better runtime and success rate for subgraph  isomorphism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Runs better at large data sets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622BA-616D-EA93-9C6A-106CE02B8F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4D490-04BE-4EC6-B5C0-AD19102847C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899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Wednesday, December 4,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15114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Wednesday, December 4,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93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Wednesday, December 4,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242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Wednesday, December 4,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870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Wednesday, December 4, 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572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Wednesday, December 4, 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7726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Wednesday, December 4, 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62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Wednesday, December 4,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17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Wednesday, December 4,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68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Wednesday, December 4,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518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Wednesday, December 4,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48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9000">
              <a:srgbClr val="231D3E">
                <a:lumMod val="43000"/>
              </a:srgbClr>
            </a:gs>
            <a:gs pos="73000">
              <a:srgbClr val="282147"/>
            </a:gs>
            <a:gs pos="90000">
              <a:srgbClr val="362C5E"/>
            </a:gs>
            <a:gs pos="100000">
              <a:srgbClr val="3B306A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Wednesday, December 4,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1844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AC4970-CA98-455F-46FF-CE6A6732E9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5471" y="1051551"/>
            <a:ext cx="3995805" cy="2384898"/>
          </a:xfrm>
        </p:spPr>
        <p:txBody>
          <a:bodyPr anchor="b">
            <a:normAutofit/>
          </a:bodyPr>
          <a:lstStyle/>
          <a:p>
            <a:r>
              <a:rPr lang="en-US" sz="4800" dirty="0"/>
              <a:t>Dynamic Graph Isomorphism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DC88EF-75A4-ED18-AFC1-B82E4DA6D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610" y="3881567"/>
            <a:ext cx="3565525" cy="173165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>
                    <a:alpha val="60000"/>
                  </a:schemeClr>
                </a:solidFill>
              </a:rPr>
              <a:t>Moiz Ansari -  23I-0523</a:t>
            </a:r>
          </a:p>
          <a:p>
            <a:r>
              <a:rPr lang="en-US" sz="2000" dirty="0">
                <a:solidFill>
                  <a:schemeClr val="tx1">
                    <a:alpha val="60000"/>
                  </a:schemeClr>
                </a:solidFill>
              </a:rPr>
              <a:t>M. Abdullah Siddiqui -  23I-0617</a:t>
            </a:r>
          </a:p>
          <a:p>
            <a:r>
              <a:rPr lang="en-US" sz="2000" dirty="0">
                <a:solidFill>
                  <a:schemeClr val="tx1">
                    <a:alpha val="60000"/>
                  </a:schemeClr>
                </a:solidFill>
              </a:rPr>
              <a:t>M. Daniyal -  23I-0579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92A8CB-0B0A-43A5-86F4-712B0C469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850" y="444676"/>
            <a:ext cx="667802" cy="631474"/>
            <a:chOff x="10478914" y="1506691"/>
            <a:chExt cx="667802" cy="63147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63B2AC-3D19-416D-A37F-2DDA8A365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A474391-1271-45F9-A39C-8641371AB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" name="Picture 3" descr="Neon 3D circle art">
            <a:extLst>
              <a:ext uri="{FF2B5EF4-FFF2-40B4-BE49-F238E27FC236}">
                <a16:creationId xmlns:a16="http://schemas.microsoft.com/office/drawing/2014/main" id="{E13D76F1-3B97-D542-611D-6F6D32C974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86" r="9957"/>
          <a:stretch/>
        </p:blipFill>
        <p:spPr>
          <a:xfrm>
            <a:off x="4743450" y="10"/>
            <a:ext cx="7448551" cy="6857990"/>
          </a:xfrm>
          <a:custGeom>
            <a:avLst/>
            <a:gdLst/>
            <a:ahLst/>
            <a:cxnLst/>
            <a:rect l="l" t="t" r="r" b="b"/>
            <a:pathLst>
              <a:path w="7448551" h="6858000">
                <a:moveTo>
                  <a:pt x="0" y="0"/>
                </a:moveTo>
                <a:lnTo>
                  <a:pt x="7448551" y="0"/>
                </a:lnTo>
                <a:lnTo>
                  <a:pt x="744855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1AC6C06-99FE-4BA1-BC82-8406A424C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EC842D-C905-4DEA-B1C3-CA51995C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1219" y="5433223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03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44D90-B335-8E78-D44A-E6D3DD287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233" y="327037"/>
            <a:ext cx="11091600" cy="1359259"/>
          </a:xfrm>
        </p:spPr>
        <p:txBody>
          <a:bodyPr>
            <a:normAutofit fontScale="90000"/>
          </a:bodyPr>
          <a:lstStyle/>
          <a:p>
            <a:r>
              <a:rPr lang="en-US" dirty="0"/>
              <a:t>Data Preparation: Understanding the Input Dataset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12D98B3-CA0F-FB3E-2E0E-D2D919CC27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0233" y="1778530"/>
            <a:ext cx="110916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Dataset Overview: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input dataset represents football matches as a sequence of passes.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Each pass includes the following attributes:</a:t>
            </a: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Start Time (time_start): When the pass begins.</a:t>
            </a: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End Time (time_end): When the pass ends.</a:t>
            </a: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Sender ID (sender_id): The player making the pass.</a:t>
            </a: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Receiver ID (receiver_id): The player receiving the pass.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C3BD71-42FA-7846-5C34-0BC4984F2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121" y="4700820"/>
            <a:ext cx="5586332" cy="155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140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828F0-FF2A-B027-6C9A-943BCD814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7C73D-67C3-D685-AE15-17CBD3C97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233" y="327037"/>
            <a:ext cx="11091600" cy="1359259"/>
          </a:xfrm>
        </p:spPr>
        <p:txBody>
          <a:bodyPr>
            <a:normAutofit fontScale="90000"/>
          </a:bodyPr>
          <a:lstStyle/>
          <a:p>
            <a:r>
              <a:rPr lang="en-US" dirty="0"/>
              <a:t>Data Preparation: Understanding the Input Dataset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D101635-B28E-DCAF-AC88-7CC287BE78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0233" y="1686296"/>
            <a:ext cx="11091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Dataset Overview: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player positions are represented by x and 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positions of team A ranges from 1 to 14, meanwhile the positions of team B ranges from 15 to 28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71DCAA-82A7-10B7-E013-E0EA2A0E65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752" r="8817" b="22477"/>
          <a:stretch/>
        </p:blipFill>
        <p:spPr>
          <a:xfrm>
            <a:off x="6444345" y="4615215"/>
            <a:ext cx="4310744" cy="16097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AE4968-69B0-BE22-D4CE-8138CF9FE8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124" r="28851"/>
          <a:stretch/>
        </p:blipFill>
        <p:spPr>
          <a:xfrm>
            <a:off x="1317172" y="3561979"/>
            <a:ext cx="4310743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898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4589583-5D4E-E07B-3CAD-CA946C511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4637D-5BEB-AFEA-C893-95103876D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233" y="327037"/>
            <a:ext cx="11091600" cy="1332000"/>
          </a:xfrm>
        </p:spPr>
        <p:txBody>
          <a:bodyPr>
            <a:normAutofit fontScale="90000"/>
          </a:bodyPr>
          <a:lstStyle/>
          <a:p>
            <a:r>
              <a:rPr lang="en-US" dirty="0"/>
              <a:t>Data Preparation: Understanding the Input Dataset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32F4E8C-2733-9A9B-D0E4-D27411595F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0233" y="1869437"/>
            <a:ext cx="11091600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Dynamic Graph Representation: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Players are nodes (vertices), and passes are edges in a dynamic graph.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dataset encapsulates temporal information, making it ideal for analyzing evolving team strategies.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98F222D2-5CE8-00B2-0775-E101D1A25C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1872" b="82206"/>
          <a:stretch/>
        </p:blipFill>
        <p:spPr>
          <a:xfrm>
            <a:off x="7702162" y="3587181"/>
            <a:ext cx="2543385" cy="601367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4B9AAE61-89D3-2C48-DE44-0AC6A433DB5A}"/>
              </a:ext>
            </a:extLst>
          </p:cNvPr>
          <p:cNvSpPr/>
          <p:nvPr/>
        </p:nvSpPr>
        <p:spPr>
          <a:xfrm>
            <a:off x="1262741" y="3628992"/>
            <a:ext cx="947057" cy="9429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43217EE-EDD9-EA7A-8B86-F464E7DD1C32}"/>
              </a:ext>
            </a:extLst>
          </p:cNvPr>
          <p:cNvSpPr/>
          <p:nvPr/>
        </p:nvSpPr>
        <p:spPr>
          <a:xfrm>
            <a:off x="3885705" y="3716096"/>
            <a:ext cx="947057" cy="9429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F1B0071-348C-CC37-EDCD-27C0BFEE5C94}"/>
              </a:ext>
            </a:extLst>
          </p:cNvPr>
          <p:cNvSpPr/>
          <p:nvPr/>
        </p:nvSpPr>
        <p:spPr>
          <a:xfrm>
            <a:off x="1946453" y="4873500"/>
            <a:ext cx="1023258" cy="103009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A16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66A21C3-09D2-D54F-41AC-F002E2BC25FC}"/>
              </a:ext>
            </a:extLst>
          </p:cNvPr>
          <p:cNvSpPr/>
          <p:nvPr/>
        </p:nvSpPr>
        <p:spPr>
          <a:xfrm>
            <a:off x="4321133" y="5388547"/>
            <a:ext cx="1023258" cy="103009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A18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F64C7B3-E60C-B14E-211B-A21526A30FB8}"/>
              </a:ext>
            </a:extLst>
          </p:cNvPr>
          <p:cNvCxnSpPr>
            <a:stCxn id="9" idx="6"/>
            <a:endCxn id="10" idx="2"/>
          </p:cNvCxnSpPr>
          <p:nvPr/>
        </p:nvCxnSpPr>
        <p:spPr>
          <a:xfrm>
            <a:off x="2209798" y="4100487"/>
            <a:ext cx="1675907" cy="91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C365EF80-0C7D-CE68-73E5-3207E3A168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470"/>
          <a:stretch/>
        </p:blipFill>
        <p:spPr>
          <a:xfrm>
            <a:off x="7702162" y="4060943"/>
            <a:ext cx="2543385" cy="204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662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44681-47AF-0A66-D218-46660EAF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233" y="448381"/>
            <a:ext cx="11091600" cy="798748"/>
          </a:xfrm>
        </p:spPr>
        <p:txBody>
          <a:bodyPr>
            <a:normAutofit fontScale="90000"/>
          </a:bodyPr>
          <a:lstStyle/>
          <a:p>
            <a:r>
              <a:rPr lang="en-US" dirty="0"/>
              <a:t>Strategy for Segregating Passes into Matches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3208E60-75B1-3C53-17C8-1A0B1D96B0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0233" y="1213008"/>
            <a:ext cx="11351534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Segregation Strategy: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Divide the dataset into 14 matches, assuming the data includes all passes from multiple games.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Passes are assigned to a match based on: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Time Order: Passes are processed sequentially to ensure logical continuity.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Connectivity: The receiver_id of one pass must match the sender_id of the next pass in the match.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88EFF9-90EA-B2D0-F373-A5D0A7559C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36"/>
          <a:stretch/>
        </p:blipFill>
        <p:spPr>
          <a:xfrm>
            <a:off x="4165076" y="5264166"/>
            <a:ext cx="4463143" cy="2151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935382-3EBD-E8C1-F18E-0090AD54F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246" y="2063472"/>
            <a:ext cx="6316778" cy="17009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B3BB58B-20D8-D8DD-41CC-D778C0B0FED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027" b="4295"/>
          <a:stretch/>
        </p:blipFill>
        <p:spPr>
          <a:xfrm>
            <a:off x="4165076" y="5371761"/>
            <a:ext cx="4463143" cy="122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498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B0A85B-462D-01DC-435F-F399175F5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2A836-7ED7-3789-AD5B-42D1686E8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404" y="446313"/>
            <a:ext cx="5664882" cy="1275473"/>
          </a:xfrm>
        </p:spPr>
        <p:txBody>
          <a:bodyPr wrap="square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dirty="0"/>
              <a:t>Strategy for Segregating Passes into Matches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50E7F28-FED4-19AF-13E8-8B65D39E1D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3404" y="1830644"/>
            <a:ext cx="4913766" cy="366664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Handling Edge Cases: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If no match is found for a pass in the same time range, it is either: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Assigned to a new group.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Marked as a separate isolated play.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Result: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Each match’s passes are grouped logically, preserving the flow of gameplay.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 descr="Colorful pins linked with threads">
            <a:extLst>
              <a:ext uri="{FF2B5EF4-FFF2-40B4-BE49-F238E27FC236}">
                <a16:creationId xmlns:a16="http://schemas.microsoft.com/office/drawing/2014/main" id="{9249BD37-4C5F-63EF-D31A-27697D30AF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971" r="9936"/>
          <a:stretch/>
        </p:blipFill>
        <p:spPr>
          <a:xfrm>
            <a:off x="6063343" y="10"/>
            <a:ext cx="7413172" cy="6857990"/>
          </a:xfrm>
          <a:custGeom>
            <a:avLst/>
            <a:gdLst/>
            <a:ahLst/>
            <a:cxnLst/>
            <a:rect l="l" t="t" r="r" b="b"/>
            <a:pathLst>
              <a:path w="7641102" h="6858000">
                <a:moveTo>
                  <a:pt x="0" y="0"/>
                </a:moveTo>
                <a:lnTo>
                  <a:pt x="7641102" y="0"/>
                </a:lnTo>
                <a:lnTo>
                  <a:pt x="764110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FF3A87B-2255-45E0-A551-C11FAF932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0898" y="5773729"/>
            <a:ext cx="7641102" cy="1084271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347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4CC3E-B217-AD98-596A-5D134A69B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153" y="359269"/>
            <a:ext cx="11091600" cy="1332000"/>
          </a:xfrm>
        </p:spPr>
        <p:txBody>
          <a:bodyPr>
            <a:normAutofit fontScale="90000"/>
          </a:bodyPr>
          <a:lstStyle/>
          <a:p>
            <a:r>
              <a:rPr lang="en-US" dirty="0"/>
              <a:t>Adapt the Technique: Understanding and Modifications to Oberoi's Code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0278E2A-3485-6789-DE28-26B71E2B9A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4153" y="1952573"/>
            <a:ext cx="1015301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Understanding Oberoi’s Code: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provided code is designed to detect dynamic subgraph isomorphisms.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Input: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 Dynamic graphs (represented as sequences of nodes and edges).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10D0C195-E9F4-CF2E-6E4C-8580CE50C9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175" b="7968"/>
          <a:stretch/>
        </p:blipFill>
        <p:spPr>
          <a:xfrm>
            <a:off x="3210295" y="3734141"/>
            <a:ext cx="3249881" cy="266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171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3BB5ED1-8EBD-46E5-7779-24ADEAA2A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742C3-69BB-B512-400F-C95B4C27F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153" y="359269"/>
            <a:ext cx="11091600" cy="1332000"/>
          </a:xfrm>
        </p:spPr>
        <p:txBody>
          <a:bodyPr>
            <a:normAutofit fontScale="90000"/>
          </a:bodyPr>
          <a:lstStyle/>
          <a:p>
            <a:r>
              <a:rPr lang="en-US" dirty="0"/>
              <a:t>Adapt the Technique: Understanding and Modifications to Oberoi's Code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263EF84-74A8-75AF-68EF-B9EADD40E0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4153" y="1951672"/>
            <a:ext cx="1015301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Understanding Oberoi’s Code: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Output: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Matches isomorphic substructures to identify recurring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D9EA64-2B71-E4AE-6EC8-00B32EEA7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02" y="3689403"/>
            <a:ext cx="9330312" cy="244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937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6254698-E6F9-4B04-A6BE-E620311D4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B4A36-89C6-F52D-DA47-F25A624D2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153" y="359269"/>
            <a:ext cx="11091600" cy="1332000"/>
          </a:xfrm>
        </p:spPr>
        <p:txBody>
          <a:bodyPr>
            <a:normAutofit fontScale="90000"/>
          </a:bodyPr>
          <a:lstStyle/>
          <a:p>
            <a:r>
              <a:rPr lang="en-US" dirty="0"/>
              <a:t>Adapt the Technique: Understanding and Modifications to Oberoi's Code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805318C-E6D8-CFDB-86D6-41DAEF43B8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2289" y="1894015"/>
            <a:ext cx="11447421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Modifications: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Oberoi’s code input files were of the format (dgX.txt and pgX.txt), so we created files according to the file format and prevented to change the original code.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Converted raw data into dynamic graphs using the prescribed csv file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Adjusted edge cases to ensure compatibility with the dynamic graph format.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Adjusted the output to focus on football-specific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946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F2DF0E-FD00-ADBF-943E-EBA2976A5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09" y="496820"/>
            <a:ext cx="10859964" cy="634718"/>
          </a:xfrm>
        </p:spPr>
        <p:txBody>
          <a:bodyPr wrap="square" anchor="b">
            <a:normAutofit fontScale="90000"/>
          </a:bodyPr>
          <a:lstStyle/>
          <a:p>
            <a:r>
              <a:rPr lang="en-US" dirty="0"/>
              <a:t>Demonstration of the Working (Without Code)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2D4ED5-DC78-4C88-97AA-483206C53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70793" y="0"/>
            <a:ext cx="1468514" cy="1521012"/>
            <a:chOff x="5236793" y="2432482"/>
            <a:chExt cx="1468514" cy="1521012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0DE0B65A-4839-40B2-BA92-1464FEADB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463135" y="2432482"/>
              <a:ext cx="1242172" cy="729202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842A0A68-39DD-4DA7-BAD5-63B9C1398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236793" y="2566400"/>
              <a:ext cx="611884" cy="1076550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21A69E50-7E10-45C3-B4F2-19DBA7748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765469" y="2876944"/>
              <a:ext cx="630288" cy="1076550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40000"/>
                    <a:lumOff val="60000"/>
                    <a:alpha val="6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508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D166A8AB-8924-421C-BCED-B54DBC405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7897" y="5497189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3BF7D3F-F4A0-71E0-F96B-23FD4870DD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4609" y="1393234"/>
            <a:ext cx="11572065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Input Preparation: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raw dataset (passes) is processed into: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Target Graphs: Representing the passes of one team.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Pattern Graphs: Representing possible sub-patterns or passing sequences.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48CF66-5283-4610-62EE-2EDDCBA23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086" y="3159305"/>
            <a:ext cx="1981200" cy="12096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B7EB699-E3DC-7FD0-9FA4-9FF5C4C40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0855" y="3842158"/>
            <a:ext cx="7783718" cy="209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538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2599368-87A9-59CA-3B4D-0D060C0D9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574CF-C8A3-C33A-F0BD-86416B564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09" y="496820"/>
            <a:ext cx="10859964" cy="634718"/>
          </a:xfrm>
        </p:spPr>
        <p:txBody>
          <a:bodyPr wrap="square" anchor="b">
            <a:normAutofit fontScale="90000"/>
          </a:bodyPr>
          <a:lstStyle/>
          <a:p>
            <a:r>
              <a:rPr lang="en-US" dirty="0"/>
              <a:t>Demonstration of the Working (Without Code)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C35A26D4-842E-8B09-2528-B12DA21265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4609" y="1190534"/>
            <a:ext cx="11572065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Input: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 CSV file with passes for all matches.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Output: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Each match folder contains files (dgX.txt, pgX.txt) structured as: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Number of vertices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Vertex details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Number of edges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Edge details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Graph Visualization: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Dynamic graphs are created to visualize: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Player-to-player passing patterns.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Temporal evolution of team strategies.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7ACE86E4-FC08-D93C-D18A-BA86FD005C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175" b="7968"/>
          <a:stretch/>
        </p:blipFill>
        <p:spPr>
          <a:xfrm>
            <a:off x="6812898" y="3135086"/>
            <a:ext cx="2386079" cy="1953584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85C815A-AB1D-929A-18E5-5C7434443885}"/>
              </a:ext>
            </a:extLst>
          </p:cNvPr>
          <p:cNvCxnSpPr/>
          <p:nvPr/>
        </p:nvCxnSpPr>
        <p:spPr>
          <a:xfrm>
            <a:off x="4169229" y="3331029"/>
            <a:ext cx="2612571" cy="522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71FE3A3-F55A-9141-5ED8-1735E3753079}"/>
              </a:ext>
            </a:extLst>
          </p:cNvPr>
          <p:cNvCxnSpPr/>
          <p:nvPr/>
        </p:nvCxnSpPr>
        <p:spPr>
          <a:xfrm>
            <a:off x="3439886" y="3679371"/>
            <a:ext cx="3341914" cy="432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93728E-4589-493B-ECE1-8E3F44AB0588}"/>
              </a:ext>
            </a:extLst>
          </p:cNvPr>
          <p:cNvCxnSpPr/>
          <p:nvPr/>
        </p:nvCxnSpPr>
        <p:spPr>
          <a:xfrm>
            <a:off x="3875314" y="4111878"/>
            <a:ext cx="2906486" cy="383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98DC15A-B771-B64F-3CD2-543B52ADBA89}"/>
              </a:ext>
            </a:extLst>
          </p:cNvPr>
          <p:cNvCxnSpPr/>
          <p:nvPr/>
        </p:nvCxnSpPr>
        <p:spPr>
          <a:xfrm>
            <a:off x="3222171" y="4460220"/>
            <a:ext cx="3559629" cy="242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4386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593715A-1AF6-6D61-8328-9545A3E60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BA969-06F9-D38E-0E10-D72B1FD97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80" y="391886"/>
            <a:ext cx="10859964" cy="1175658"/>
          </a:xfrm>
        </p:spPr>
        <p:txBody>
          <a:bodyPr wrap="square" anchor="b">
            <a:normAutofit fontScale="90000"/>
          </a:bodyPr>
          <a:lstStyle/>
          <a:p>
            <a:r>
              <a:rPr lang="en-US" dirty="0"/>
              <a:t>Code Implementation: Converting Input to Desired Output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41100FB-CDDC-BAE8-ADE0-4D6DE3FC00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6380" y="1750982"/>
            <a:ext cx="11572065" cy="2103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Parsing Input:</a:t>
            </a:r>
          </a:p>
          <a:p>
            <a:pPr marL="742950" lvl="1" indent="-2857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Reads the dataset into memory and extracts key attributes.</a:t>
            </a:r>
          </a:p>
          <a:p>
            <a:pPr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Segregation into Matches:</a:t>
            </a:r>
          </a:p>
          <a:p>
            <a:pPr marL="742950" lvl="1" indent="-2857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Divides passes into logical groups based on time and connectivity.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34A4C3-7B59-E2F2-B2DB-36A7C1E7A5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36"/>
          <a:stretch/>
        </p:blipFill>
        <p:spPr>
          <a:xfrm>
            <a:off x="2706390" y="3979651"/>
            <a:ext cx="5349197" cy="2579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333339-318E-1442-A298-C63AC752B6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82" r="1410" b="4337"/>
          <a:stretch/>
        </p:blipFill>
        <p:spPr>
          <a:xfrm>
            <a:off x="2717408" y="4237562"/>
            <a:ext cx="5338180" cy="137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887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9454C3A-CB29-973A-B2D9-BD2C7FEC1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01014-231D-5D17-7D80-DC62B5E71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80" y="278985"/>
            <a:ext cx="10859964" cy="1175658"/>
          </a:xfrm>
        </p:spPr>
        <p:txBody>
          <a:bodyPr wrap="square" anchor="b">
            <a:normAutofit fontScale="90000"/>
          </a:bodyPr>
          <a:lstStyle/>
          <a:p>
            <a:r>
              <a:rPr lang="en-US" dirty="0"/>
              <a:t>Code Implementation: Converting Input to Desired Output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ED992DF-9F5E-4308-46C9-C9A2D334D0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6380" y="1444043"/>
            <a:ext cx="11572065" cy="3531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Dynamic Graph Construction: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Converts passes into vertices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 and edges using the format ------&gt;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File Generation: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Creates folders (target_graph, pattern_graph).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Writes graph files for each match in the appropriate format for target_graphs.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pattern_graph files are hardcoded from the Bourgeas’ papers.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8DAC2358-B070-3393-1EFB-0D5AC5BD34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175" b="7968"/>
          <a:stretch/>
        </p:blipFill>
        <p:spPr>
          <a:xfrm>
            <a:off x="5144287" y="1571399"/>
            <a:ext cx="2182021" cy="17865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F27825-F7C4-518D-3EAE-648857F48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779" y="4742859"/>
            <a:ext cx="1981200" cy="12096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02A0E3-B437-5D7A-5464-F85690436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4112" y="4736746"/>
            <a:ext cx="7097676" cy="191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155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4CE3273-2EF9-CA51-5643-872C834D1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CA89D-C63E-8F21-219A-195A49339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80" y="424541"/>
            <a:ext cx="10859964" cy="555173"/>
          </a:xfrm>
        </p:spPr>
        <p:txBody>
          <a:bodyPr wrap="square" anchor="b">
            <a:normAutofit fontScale="90000"/>
          </a:bodyPr>
          <a:lstStyle/>
          <a:p>
            <a:r>
              <a:rPr lang="en-US" dirty="0"/>
              <a:t>Identify Key Passing Patterns and Comparison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6AB59E63-ABBF-4D94-B3FD-9FD4061502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9967" y="1155624"/>
            <a:ext cx="11572065" cy="3772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Analysis Results:</a:t>
            </a:r>
          </a:p>
          <a:p>
            <a:pPr marL="742950" lvl="1" indent="-2857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code identifies key passing patterns:</a:t>
            </a:r>
          </a:p>
          <a:p>
            <a:pPr lvl="2">
              <a:lnSpc>
                <a:spcPct val="10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Frequent subgraphs (e.g., triangular formations or star patterns) are detected.</a:t>
            </a:r>
          </a:p>
          <a:p>
            <a:pPr lvl="2">
              <a:lnSpc>
                <a:spcPct val="10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Temporal variations in passing intensity are visualized.</a:t>
            </a:r>
          </a:p>
          <a:p>
            <a:pPr marL="742950" lvl="1" indent="-2857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Figures:</a:t>
            </a:r>
          </a:p>
          <a:p>
            <a:pPr marL="457200" lvl="1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  Graphs similar to Figure 3 and 4 in Bourgeais’ paper:</a:t>
            </a:r>
          </a:p>
          <a:p>
            <a:pPr lvl="3">
              <a:lnSpc>
                <a:spcPct val="10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Compare team strategies based on positional play and passing structures.</a:t>
            </a:r>
          </a:p>
          <a:p>
            <a:pPr lvl="3">
              <a:lnSpc>
                <a:spcPct val="10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Highlight differences between high-possession and counter-attacking teams.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857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5E5EFB6-B825-E89D-D20C-F6251F2A8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68E6F-4629-AB29-A404-A1DE75E12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80" y="424541"/>
            <a:ext cx="10859964" cy="555173"/>
          </a:xfrm>
        </p:spPr>
        <p:txBody>
          <a:bodyPr wrap="square" anchor="b">
            <a:normAutofit fontScale="90000"/>
          </a:bodyPr>
          <a:lstStyle/>
          <a:p>
            <a:r>
              <a:rPr lang="en-US" dirty="0"/>
              <a:t>Identify Key Passing Patterns and Comparison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4F0A2E04-AE2B-07E9-9534-F4A7579779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9967" y="1090311"/>
            <a:ext cx="11572065" cy="3772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Comparison of Strategies:</a:t>
            </a:r>
          </a:p>
          <a:p>
            <a:pPr marL="742950" lvl="1" indent="-2857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Team A:</a:t>
            </a:r>
          </a:p>
          <a:p>
            <a:pPr marL="1143000" lvl="2" indent="-22860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Emphasizes triangular passing structures in the midfield.</a:t>
            </a:r>
          </a:p>
          <a:p>
            <a:pPr marL="742950" lvl="1" indent="-2857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Team B:</a:t>
            </a:r>
          </a:p>
          <a:p>
            <a:pPr marL="1143000" lvl="2" indent="-22860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Relies on direct, long passes to break through defenses.</a:t>
            </a:r>
          </a:p>
          <a:p>
            <a:pPr marL="742950" lvl="1" indent="-2857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Insights:</a:t>
            </a:r>
          </a:p>
          <a:p>
            <a:pPr marL="1143000" lvl="2" indent="-22860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Visualization aids coaches in understanding tactical differences.</a:t>
            </a:r>
          </a:p>
          <a:p>
            <a:pPr marL="1143000" lvl="2" indent="-22860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Suggests adjustments to exploit opponent weaknesses</a:t>
            </a:r>
            <a:r>
              <a:rPr lang="en-US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516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3AAE7DE-6E42-AD9C-0791-9EA170E83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EFF7BD-017C-850E-BBCA-54897B8A3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7469" y="-97185"/>
            <a:ext cx="3565524" cy="203890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/>
              <a:t>BOURGEAS PAPER: FIG 4</a:t>
            </a:r>
          </a:p>
        </p:txBody>
      </p:sp>
      <p:pic>
        <p:nvPicPr>
          <p:cNvPr id="5" name="Content Placeholder 4" descr="A group of graphs with different colored squares&#10;&#10;Description automatically generated">
            <a:extLst>
              <a:ext uri="{FF2B5EF4-FFF2-40B4-BE49-F238E27FC236}">
                <a16:creationId xmlns:a16="http://schemas.microsoft.com/office/drawing/2014/main" id="{FBFA7AD0-C5B2-997C-7EE9-03112E1923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1" y="528152"/>
            <a:ext cx="6365787" cy="5761037"/>
          </a:xfrm>
          <a:custGeom>
            <a:avLst/>
            <a:gdLst/>
            <a:ahLst/>
            <a:cxnLst/>
            <a:rect l="l" t="t" r="r" b="b"/>
            <a:pathLst>
              <a:path w="6973888" h="5761037">
                <a:moveTo>
                  <a:pt x="0" y="0"/>
                </a:moveTo>
                <a:lnTo>
                  <a:pt x="6973888" y="0"/>
                </a:lnTo>
                <a:lnTo>
                  <a:pt x="6973888" y="5761037"/>
                </a:lnTo>
                <a:lnTo>
                  <a:pt x="0" y="5761037"/>
                </a:lnTo>
                <a:close/>
              </a:path>
            </a:pathLst>
          </a:cu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61B0F92C-925A-4D2E-839E-EB381378C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5000" y="4960218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5980E3-D54A-9BD2-81E7-B04F1ECF5EF7}"/>
              </a:ext>
            </a:extLst>
          </p:cNvPr>
          <p:cNvSpPr txBox="1"/>
          <p:nvPr/>
        </p:nvSpPr>
        <p:spPr>
          <a:xfrm>
            <a:off x="7320233" y="2194902"/>
            <a:ext cx="35655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Transition Entropy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Probability of state changing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Probability between 0-1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Reading graph by Row-Column</a:t>
            </a:r>
          </a:p>
        </p:txBody>
      </p:sp>
    </p:spTree>
    <p:extLst>
      <p:ext uri="{BB962C8B-B14F-4D97-AF65-F5344CB8AC3E}">
        <p14:creationId xmlns:p14="http://schemas.microsoft.com/office/powerpoint/2010/main" val="3016756751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AnalogousFromDarkSeedLeftStep">
      <a:dk1>
        <a:srgbClr val="000000"/>
      </a:dk1>
      <a:lt1>
        <a:srgbClr val="FFFFFF"/>
      </a:lt1>
      <a:dk2>
        <a:srgbClr val="1A1634"/>
      </a:dk2>
      <a:lt2>
        <a:srgbClr val="F0F3F3"/>
      </a:lt2>
      <a:accent1>
        <a:srgbClr val="E72950"/>
      </a:accent1>
      <a:accent2>
        <a:srgbClr val="D5178E"/>
      </a:accent2>
      <a:accent3>
        <a:srgbClr val="DF29E7"/>
      </a:accent3>
      <a:accent4>
        <a:srgbClr val="7E17D5"/>
      </a:accent4>
      <a:accent5>
        <a:srgbClr val="4129E7"/>
      </a:accent5>
      <a:accent6>
        <a:srgbClr val="174ED5"/>
      </a:accent6>
      <a:hlink>
        <a:srgbClr val="7351C5"/>
      </a:hlink>
      <a:folHlink>
        <a:srgbClr val="7F7F7F"/>
      </a:folHlink>
    </a:clrScheme>
    <a:fontScheme name="Float">
      <a:majorFont>
        <a:latin typeface="Sitka Heading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1039</TotalTime>
  <Words>978</Words>
  <Application>Microsoft Office PowerPoint</Application>
  <PresentationFormat>Widescreen</PresentationFormat>
  <Paragraphs>138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Sitka Heading</vt:lpstr>
      <vt:lpstr>Source Sans Pro</vt:lpstr>
      <vt:lpstr>Wingdings</vt:lpstr>
      <vt:lpstr>3DFloatVTI</vt:lpstr>
      <vt:lpstr>Dynamic Graph Isomorphism</vt:lpstr>
      <vt:lpstr>Data Preparation: Understanding the Input Dataset </vt:lpstr>
      <vt:lpstr>Data Preparation: Understanding the Input Dataset </vt:lpstr>
      <vt:lpstr>Data Preparation: Understanding the Input Dataset </vt:lpstr>
      <vt:lpstr>Strategy for Segregating Passes into Matches</vt:lpstr>
      <vt:lpstr>Strategy for Segregating Passes into Matches</vt:lpstr>
      <vt:lpstr>Adapt the Technique: Understanding and Modifications to Oberoi's Code</vt:lpstr>
      <vt:lpstr>Adapt the Technique: Understanding and Modifications to Oberoi's Code</vt:lpstr>
      <vt:lpstr>Adapt the Technique: Understanding and Modifications to Oberoi's Code</vt:lpstr>
      <vt:lpstr>Demonstration of the Working (Without Code)</vt:lpstr>
      <vt:lpstr>Demonstration of the Working (Without Code)</vt:lpstr>
      <vt:lpstr>Code Implementation: Converting Input to Desired Output</vt:lpstr>
      <vt:lpstr>Code Implementation: Converting Input to Desired Output</vt:lpstr>
      <vt:lpstr>Identify Key Passing Patterns and Comparison</vt:lpstr>
      <vt:lpstr>Identify Key Passing Patterns and Comparison</vt:lpstr>
      <vt:lpstr>BOURGEAS PAPER: FIG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Daniyal</dc:creator>
  <cp:lastModifiedBy>Muhammad Moiz Ansari</cp:lastModifiedBy>
  <cp:revision>14</cp:revision>
  <dcterms:created xsi:type="dcterms:W3CDTF">2024-11-15T04:32:18Z</dcterms:created>
  <dcterms:modified xsi:type="dcterms:W3CDTF">2024-12-04T21:25:56Z</dcterms:modified>
</cp:coreProperties>
</file>