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5441" autoAdjust="0"/>
  </p:normalViewPr>
  <p:slideViewPr>
    <p:cSldViewPr snapToGrid="0">
      <p:cViewPr varScale="1">
        <p:scale>
          <a:sx n="54" d="100"/>
          <a:sy n="54" d="100"/>
        </p:scale>
        <p:origin x="11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3BB674-4B1C-4DC5-AA97-97419EFE51E8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4D490-04BE-4EC6-B5C0-AD1910284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945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In static graph we could only compare on a specific instance.</a:t>
            </a:r>
          </a:p>
          <a:p>
            <a:pPr marL="228600" indent="-228600">
              <a:buAutoNum type="arabicPeriod"/>
            </a:pPr>
            <a:r>
              <a:rPr lang="en-US" dirty="0"/>
              <a:t>Oberoi solved this problem and introduced dynamic graph isomorphism which evolved over time to make comparisons of graphs that change over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A4D490-04BE-4EC6-B5C0-AD19102847C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1377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In previous solution there was a concept of timestamp that when a pass happened it makes a timestamp at that edge.</a:t>
            </a:r>
          </a:p>
          <a:p>
            <a:pPr marL="228600" indent="-228600">
              <a:buAutoNum type="arabicPeriod"/>
            </a:pPr>
            <a:r>
              <a:rPr lang="en-US" dirty="0"/>
              <a:t>But in Oberoi solution, the concept of snapshot based model is used in which graphs at different times are compared.</a:t>
            </a:r>
          </a:p>
          <a:p>
            <a:pPr marL="228600" indent="-228600">
              <a:buAutoNum type="arabicPeriod"/>
            </a:pPr>
            <a:r>
              <a:rPr lang="en-US" dirty="0"/>
              <a:t>More precise and chronological order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A4D490-04BE-4EC6-B5C0-AD19102847C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6725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Comparison with Mackey and </a:t>
            </a:r>
            <a:r>
              <a:rPr lang="en-US" dirty="0" err="1"/>
              <a:t>TemporalRl</a:t>
            </a:r>
            <a:r>
              <a:rPr lang="en-US" dirty="0"/>
              <a:t> algorithms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Better runtime and success rate for subgraph  isomorphism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Runs better at large data sets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A4D490-04BE-4EC6-B5C0-AD19102847C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644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A7947-E287-4738-8C82-07CE4F01EF03}" type="datetime2">
              <a:rPr lang="en-US" smtClean="0"/>
              <a:t>Friday, November 15,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15114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8C025-CD7A-4966-867E-81CF82B15267}" type="datetime2">
              <a:rPr lang="en-US" smtClean="0"/>
              <a:t>Friday, November 15,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793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644CBB8-40B8-42F8-9172-07A476341DDA}"/>
              </a:ext>
            </a:extLst>
          </p:cNvPr>
          <p:cNvGrpSpPr/>
          <p:nvPr/>
        </p:nvGrpSpPr>
        <p:grpSpPr>
          <a:xfrm>
            <a:off x="356481" y="879007"/>
            <a:ext cx="734257" cy="760506"/>
            <a:chOff x="5243759" y="1363788"/>
            <a:chExt cx="734257" cy="760506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5CE073E-302A-4AA7-98C7-8667DDDCFA1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4FD1AE2F-DD70-4E93-B905-E052A23F0B1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E8D529E5-8838-47F0-98A4-2D46F11E499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DA2564-D3DB-48AD-83F0-6CC6B574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63" y="474345"/>
            <a:ext cx="11077574" cy="2954655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64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9929-0719-4517-94D6-FDF7F99E70F6}" type="datetime2">
              <a:rPr lang="en-US" smtClean="0"/>
              <a:t>Friday, November 15,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752-36DA-440B-8747-0EB29140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271" y="3629772"/>
            <a:ext cx="11074866" cy="26789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BCC02B0-8581-4752-B7BC-3CE1EF17B9F7}"/>
              </a:ext>
            </a:extLst>
          </p:cNvPr>
          <p:cNvSpPr>
            <a:spLocks noChangeAspect="1"/>
          </p:cNvSpPr>
          <p:nvPr/>
        </p:nvSpPr>
        <p:spPr>
          <a:xfrm rot="18900000">
            <a:off x="11209132" y="4448189"/>
            <a:ext cx="999200" cy="1262947"/>
          </a:xfrm>
          <a:custGeom>
            <a:avLst/>
            <a:gdLst>
              <a:gd name="connsiteX0" fmla="*/ 540000 w 999200"/>
              <a:gd name="connsiteY0" fmla="*/ 0 h 1262947"/>
              <a:gd name="connsiteX1" fmla="*/ 999200 w 999200"/>
              <a:gd name="connsiteY1" fmla="*/ 815317 h 1262947"/>
              <a:gd name="connsiteX2" fmla="*/ 552185 w 999200"/>
              <a:gd name="connsiteY2" fmla="*/ 1262333 h 1262947"/>
              <a:gd name="connsiteX3" fmla="*/ 540000 w 999200"/>
              <a:gd name="connsiteY3" fmla="*/ 1262947 h 1262947"/>
              <a:gd name="connsiteX4" fmla="*/ 0 w 999200"/>
              <a:gd name="connsiteY4" fmla="*/ 992947 h 1262947"/>
              <a:gd name="connsiteX5" fmla="*/ 10971 w 999200"/>
              <a:gd name="connsiteY5" fmla="*/ 938533 h 1262947"/>
              <a:gd name="connsiteX6" fmla="*/ 15626 w 999200"/>
              <a:gd name="connsiteY6" fmla="*/ 931034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9200" h="1262947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10200000" scaled="0"/>
          </a:gradFill>
          <a:ln>
            <a:noFill/>
          </a:ln>
          <a:effectLst>
            <a:innerShdw blurRad="254000" dist="101600" dir="4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A0FF4DB-8180-4D26-AEAE-7ECDB670F71D}"/>
              </a:ext>
            </a:extLst>
          </p:cNvPr>
          <p:cNvSpPr/>
          <p:nvPr/>
        </p:nvSpPr>
        <p:spPr>
          <a:xfrm rot="2700000">
            <a:off x="11686937" y="4853516"/>
            <a:ext cx="540000" cy="978284"/>
          </a:xfrm>
          <a:custGeom>
            <a:avLst/>
            <a:gdLst>
              <a:gd name="connsiteX0" fmla="*/ 113288 w 540000"/>
              <a:gd name="connsiteY0" fmla="*/ 0 h 978284"/>
              <a:gd name="connsiteX1" fmla="*/ 539386 w 540000"/>
              <a:gd name="connsiteY1" fmla="*/ 426099 h 978284"/>
              <a:gd name="connsiteX2" fmla="*/ 540000 w 540000"/>
              <a:gd name="connsiteY2" fmla="*/ 438284 h 978284"/>
              <a:gd name="connsiteX3" fmla="*/ 270000 w 540000"/>
              <a:gd name="connsiteY3" fmla="*/ 978284 h 978284"/>
              <a:gd name="connsiteX4" fmla="*/ 0 w 540000"/>
              <a:gd name="connsiteY4" fmla="*/ 438284 h 978284"/>
              <a:gd name="connsiteX5" fmla="*/ 79081 w 540000"/>
              <a:gd name="connsiteY5" fmla="*/ 56446 h 978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000" h="978284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242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95673-5512-4AAA-9AEB-E00C61EC65D5}" type="datetime2">
              <a:rPr lang="en-US" smtClean="0"/>
              <a:t>Friday, November 15, 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870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881275"/>
            <a:ext cx="5437186" cy="535354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77270"/>
            <a:ext cx="5429114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881275"/>
            <a:ext cx="5436392" cy="535354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577270"/>
            <a:ext cx="5436391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138FA-2E87-4873-8BBA-13E447C9A99A}" type="datetime2">
              <a:rPr lang="en-US" smtClean="0"/>
              <a:t>Friday, November 15, 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572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49" y="550799"/>
            <a:ext cx="8283313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51F65-E111-4656-83BE-CFCDE2D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B40A-97BD-4BFB-B639-0BFF95FDE8B7}" type="datetime2">
              <a:rPr lang="en-US" smtClean="0"/>
              <a:t>Friday, November 15, 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F82CB-2D17-4918-821E-485475CF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6589D-A056-4817-AE15-39D87FE1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489F067-39E1-4757-BC11-6169A343F2E1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10727" y="3958416"/>
            <a:ext cx="3536330" cy="1853969"/>
          </a:xfrm>
          <a:custGeom>
            <a:avLst/>
            <a:gdLst>
              <a:gd name="connsiteX0" fmla="*/ 3536330 w 3536330"/>
              <a:gd name="connsiteY0" fmla="*/ 1853969 h 1853969"/>
              <a:gd name="connsiteX1" fmla="*/ 1682362 w 3536330"/>
              <a:gd name="connsiteY1" fmla="*/ 0 h 1853969"/>
              <a:gd name="connsiteX2" fmla="*/ 52157 w 3536330"/>
              <a:gd name="connsiteY2" fmla="*/ 970257 h 1853969"/>
              <a:gd name="connsiteX3" fmla="*/ 0 w 3536330"/>
              <a:gd name="connsiteY3" fmla="*/ 1078528 h 1853969"/>
              <a:gd name="connsiteX4" fmla="*/ 757215 w 3536330"/>
              <a:gd name="connsiteY4" fmla="*/ 1835743 h 1853969"/>
              <a:gd name="connsiteX5" fmla="*/ 774211 w 3536330"/>
              <a:gd name="connsiteY5" fmla="*/ 1667149 h 1853969"/>
              <a:gd name="connsiteX6" fmla="*/ 1682362 w 3536330"/>
              <a:gd name="connsiteY6" fmla="*/ 926985 h 1853969"/>
              <a:gd name="connsiteX7" fmla="*/ 2609345 w 3536330"/>
              <a:gd name="connsiteY7" fmla="*/ 1853969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6330" h="1853969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 flip="none" rotWithShape="1">
            <a:gsLst>
              <a:gs pos="97000">
                <a:schemeClr val="bg2"/>
              </a:gs>
              <a:gs pos="31000">
                <a:schemeClr val="bg2">
                  <a:lumMod val="90000"/>
                  <a:lumOff val="10000"/>
                </a:schemeClr>
              </a:gs>
            </a:gsLst>
            <a:lin ang="15000000" scaled="0"/>
            <a:tileRect/>
          </a:gradFill>
          <a:ln>
            <a:noFill/>
          </a:ln>
          <a:effectLst>
            <a:innerShdw blurRad="355600" dist="101600" dir="16200000">
              <a:schemeClr val="accent1">
                <a:lumMod val="60000"/>
                <a:lumOff val="40000"/>
                <a:alpha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31011-607F-42F1-B2D9-2BA8E91CC6AF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81151" y="3649708"/>
            <a:ext cx="3478701" cy="2164843"/>
          </a:xfrm>
          <a:custGeom>
            <a:avLst/>
            <a:gdLst>
              <a:gd name="connsiteX0" fmla="*/ 3478701 w 3478701"/>
              <a:gd name="connsiteY0" fmla="*/ 2164843 h 2164843"/>
              <a:gd name="connsiteX1" fmla="*/ 1624733 w 3478701"/>
              <a:gd name="connsiteY1" fmla="*/ 0 h 2164843"/>
              <a:gd name="connsiteX2" fmla="*/ 87393 w 3478701"/>
              <a:gd name="connsiteY2" fmla="*/ 954459 h 2164843"/>
              <a:gd name="connsiteX3" fmla="*/ 0 w 3478701"/>
              <a:gd name="connsiteY3" fmla="*/ 1122434 h 2164843"/>
              <a:gd name="connsiteX4" fmla="*/ 736015 w 3478701"/>
              <a:gd name="connsiteY4" fmla="*/ 1858449 h 2164843"/>
              <a:gd name="connsiteX5" fmla="*/ 739424 w 3478701"/>
              <a:gd name="connsiteY5" fmla="*/ 1842964 h 2164843"/>
              <a:gd name="connsiteX6" fmla="*/ 1624733 w 3478701"/>
              <a:gd name="connsiteY6" fmla="*/ 1082422 h 2164843"/>
              <a:gd name="connsiteX7" fmla="*/ 2551716 w 3478701"/>
              <a:gd name="connsiteY7" fmla="*/ 2164843 h 2164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78701" h="2164843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472EFA-56B5-4A41-8D4B-E9F37727F34D}"/>
              </a:ext>
            </a:extLst>
          </p:cNvPr>
          <p:cNvSpPr/>
          <p:nvPr/>
        </p:nvSpPr>
        <p:spPr>
          <a:xfrm rot="13500000" flipV="1">
            <a:off x="1512277" y="2840042"/>
            <a:ext cx="214196" cy="933178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781B6C-21AD-489D-A3CB-522BB2AC543F}"/>
              </a:ext>
            </a:extLst>
          </p:cNvPr>
          <p:cNvSpPr>
            <a:spLocks noChangeAspect="1"/>
          </p:cNvSpPr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1AD5B80-530E-44CD-8D4A-2796FB214CBF}"/>
              </a:ext>
            </a:extLst>
          </p:cNvPr>
          <p:cNvGrpSpPr/>
          <p:nvPr/>
        </p:nvGrpSpPr>
        <p:grpSpPr>
          <a:xfrm>
            <a:off x="623181" y="1514007"/>
            <a:ext cx="734257" cy="760506"/>
            <a:chOff x="5243759" y="1363788"/>
            <a:chExt cx="734257" cy="760506"/>
          </a:xfrm>
        </p:grpSpPr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2F746AA8-9050-4515-9B17-BC850368529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23EC1AC3-1698-46D5-80B7-F22F15E1A5E4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73766156-553C-46EB-93FA-4F37CC0FF5CF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57726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9E0E3-ECF6-4CFE-8698-AEFEBCECC3C0}" type="datetime2">
              <a:rPr lang="en-US" smtClean="0"/>
              <a:t>Friday, November 15, 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62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462FC-960E-4740-921F-B36862979F21}" type="datetime2">
              <a:rPr lang="en-US" smtClean="0"/>
              <a:t>Friday, November 15, 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717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98F1FBA-F8BB-42CF-8B3E-D19AAFEE96C1}"/>
              </a:ext>
            </a:extLst>
          </p:cNvPr>
          <p:cNvGrpSpPr/>
          <p:nvPr/>
        </p:nvGrpSpPr>
        <p:grpSpPr>
          <a:xfrm>
            <a:off x="334964" y="5115518"/>
            <a:ext cx="734257" cy="760506"/>
            <a:chOff x="5243759" y="1363788"/>
            <a:chExt cx="734257" cy="76050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0EE09DD-C3DB-4266-BCC3-A765CFFBF37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F301FE0-96DC-4EFB-BBEE-AED762C337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3BEAD276-8850-4C0C-9777-8537000D522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5EE0A0-B07E-479B-9684-4BD09FA4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75409"/>
            <a:ext cx="4500562" cy="984885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893A9-3462-4F51-83AE-5D2F124B9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67324" y="575409"/>
            <a:ext cx="6373813" cy="573331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9240C-79C0-4A88-A476-725DE1B9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76195"/>
            <a:ext cx="4500562" cy="4532530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C9E2-CB44-4C05-9BB5-496C18A241E0}" type="datetime2">
              <a:rPr lang="en-US" smtClean="0"/>
              <a:t>Friday, November 15, 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268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9361-B9A1-48F2-9473-23DE30E2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03906"/>
            <a:ext cx="11090275" cy="133305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86779-C2F3-447D-85F7-F6B0E2C97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EBD84-71F4-4271-8C46-0D47C0A9B12E}" type="datetime2">
              <a:rPr lang="en-US" smtClean="0"/>
              <a:t>Friday, November 15,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518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6583A-514F-4632-820D-E7EE236A4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3CBBB-7DDC-4437-8C7D-22A1C3520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9EBF-DA20-4024-8006-B158D571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0CE1-F450-4107-B2CB-17B18F8A3F4A}" type="datetime2">
              <a:rPr lang="en-US" smtClean="0"/>
              <a:t>Friday, November 15,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C8B9-14B5-4DF1-994D-AB47DB3B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6582-5F9B-4F5E-AAD5-D608CB68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488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9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246CB39B-5F4C-4A7E-9BE3-AAFD45576D16}" type="datetime2">
              <a:rPr lang="en-US" smtClean="0"/>
              <a:t>Friday, November 15,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9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9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1844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0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AC4970-CA98-455F-46FF-CE6A6732E9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5471" y="1051551"/>
            <a:ext cx="3995805" cy="2384898"/>
          </a:xfrm>
        </p:spPr>
        <p:txBody>
          <a:bodyPr anchor="b">
            <a:normAutofit/>
          </a:bodyPr>
          <a:lstStyle/>
          <a:p>
            <a:r>
              <a:rPr lang="en-US" sz="4800" dirty="0"/>
              <a:t>Dynamic Graph Isomorphism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DC88EF-75A4-ED18-AFC1-B82E4DA6D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610" y="3881567"/>
            <a:ext cx="3565525" cy="173165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>
                    <a:alpha val="60000"/>
                  </a:schemeClr>
                </a:solidFill>
              </a:rPr>
              <a:t>M. Abdullah Siddiqui -  23I-0617</a:t>
            </a:r>
          </a:p>
          <a:p>
            <a:r>
              <a:rPr lang="en-US" sz="2000" dirty="0">
                <a:solidFill>
                  <a:schemeClr val="tx1">
                    <a:alpha val="60000"/>
                  </a:schemeClr>
                </a:solidFill>
              </a:rPr>
              <a:t>M. Daniyal -  23I-0579</a:t>
            </a:r>
          </a:p>
          <a:p>
            <a:r>
              <a:rPr lang="en-US" sz="2000" dirty="0">
                <a:solidFill>
                  <a:schemeClr val="tx1">
                    <a:alpha val="60000"/>
                  </a:schemeClr>
                </a:solidFill>
              </a:rPr>
              <a:t>Moiz Ansari -  23I-0523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592A8CB-0B0A-43A5-86F4-712B0C469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41850" y="444676"/>
            <a:ext cx="667802" cy="631474"/>
            <a:chOff x="10478914" y="1506691"/>
            <a:chExt cx="667802" cy="63147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C63B2AC-3D19-416D-A37F-2DDA8A365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A474391-1271-45F9-A39C-8641371AB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4" name="Picture 3" descr="Neon 3D circle art">
            <a:extLst>
              <a:ext uri="{FF2B5EF4-FFF2-40B4-BE49-F238E27FC236}">
                <a16:creationId xmlns:a16="http://schemas.microsoft.com/office/drawing/2014/main" id="{E13D76F1-3B97-D542-611D-6F6D32C974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386" r="9957"/>
          <a:stretch/>
        </p:blipFill>
        <p:spPr>
          <a:xfrm>
            <a:off x="4743450" y="10"/>
            <a:ext cx="7448551" cy="6857990"/>
          </a:xfrm>
          <a:custGeom>
            <a:avLst/>
            <a:gdLst/>
            <a:ahLst/>
            <a:cxnLst/>
            <a:rect l="l" t="t" r="r" b="b"/>
            <a:pathLst>
              <a:path w="7448551" h="6858000">
                <a:moveTo>
                  <a:pt x="0" y="0"/>
                </a:moveTo>
                <a:lnTo>
                  <a:pt x="7448551" y="0"/>
                </a:lnTo>
                <a:lnTo>
                  <a:pt x="744855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1AC6C06-99FE-4BA1-BC82-8406A424C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AEC842D-C905-4DEA-B1C3-CA51995C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21219" y="5433223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Camera 5">
            <a:extLst>
              <a:ext uri="{FF2B5EF4-FFF2-40B4-BE49-F238E27FC236}">
                <a16:creationId xmlns:a16="http://schemas.microsoft.com/office/drawing/2014/main" id="{0F849FBF-A076-E224-2ED6-A87462F40401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2692" y="2087088"/>
            <a:ext cx="2734294" cy="2734294"/>
          </a:xfrm>
          <a:prstGeom prst="ellipse">
            <a:avLst/>
          </a:prstGeom>
          <a:ln>
            <a:noFill/>
          </a:ln>
          <a:effectLst>
            <a:outerShdw blurRad="190500" algn="tl" rotWithShape="0">
              <a:srgbClr val="000000">
                <a:alpha val="3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43803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44D90-B335-8E78-D44A-E6D3DD287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SOLVED BY OBEROI &amp; TEAM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FDE85-FB68-08BC-7627-957386614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Static graph could only compare on a specific instances.</a:t>
            </a:r>
          </a:p>
          <a:p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Introduced dynamic graph isomorphism .</a:t>
            </a:r>
          </a:p>
          <a:p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It make comparisons over time.</a:t>
            </a:r>
          </a:p>
        </p:txBody>
      </p:sp>
      <p:pic>
        <p:nvPicPr>
          <p:cNvPr id="5" name="Camera 4">
            <a:extLst>
              <a:ext uri="{FF2B5EF4-FFF2-40B4-BE49-F238E27FC236}">
                <a16:creationId xmlns:a16="http://schemas.microsoft.com/office/drawing/2014/main" id="{0BFA2A42-C6F5-3967-CA8F-803785FFAF34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88977" y="3762499"/>
            <a:ext cx="3903023" cy="3095501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177140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44681-47AF-0A66-D218-46660EAFC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 IN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1E38E-D419-1039-4787-ADBCBFF50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 previous sol we used timestamp whenever a pass is happened in a edge.</a:t>
            </a:r>
          </a:p>
          <a:p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 Oberoi sol snapshots are taken and the graph is evolved over time.</a:t>
            </a:r>
          </a:p>
          <a:p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This is a chronological order.</a:t>
            </a:r>
          </a:p>
        </p:txBody>
      </p:sp>
      <p:pic>
        <p:nvPicPr>
          <p:cNvPr id="5" name="Camera 4">
            <a:extLst>
              <a:ext uri="{FF2B5EF4-FFF2-40B4-BE49-F238E27FC236}">
                <a16:creationId xmlns:a16="http://schemas.microsoft.com/office/drawing/2014/main" id="{A185CEF9-95AC-E1E3-23D9-25B9B3F8BFE2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88977" y="3762499"/>
            <a:ext cx="3903023" cy="3095501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819498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4CC3E-B217-AD98-596A-5D134A69B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412" y="549275"/>
            <a:ext cx="11091600" cy="1332000"/>
          </a:xfrm>
        </p:spPr>
        <p:txBody>
          <a:bodyPr/>
          <a:lstStyle/>
          <a:p>
            <a:r>
              <a:rPr lang="en-US" dirty="0"/>
              <a:t>BETTER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FD2DE-21A8-838A-C99A-26150A9F8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Comparison with Mackey and Temporal RI algorithm.</a:t>
            </a:r>
          </a:p>
          <a:p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It has a better run time and success rate for the subgraph isomorphism.</a:t>
            </a:r>
          </a:p>
          <a:p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Runs better at large data sets.</a:t>
            </a:r>
          </a:p>
        </p:txBody>
      </p:sp>
      <p:pic>
        <p:nvPicPr>
          <p:cNvPr id="5" name="Camera 4">
            <a:extLst>
              <a:ext uri="{FF2B5EF4-FFF2-40B4-BE49-F238E27FC236}">
                <a16:creationId xmlns:a16="http://schemas.microsoft.com/office/drawing/2014/main" id="{480D2F53-DFEA-FC0C-03EA-5D6FEBD70571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88977" y="3762499"/>
            <a:ext cx="3903023" cy="3095501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721171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E53CC-9902-DC16-7BC0-81C26BF7F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File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9D2BBD-1E9F-A413-9AD4-93ABE9FBC1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3838" y="1881275"/>
            <a:ext cx="4465335" cy="3412375"/>
          </a:xfrm>
        </p:spPr>
      </p:pic>
      <p:pic>
        <p:nvPicPr>
          <p:cNvPr id="3" name="Camera 2">
            <a:extLst>
              <a:ext uri="{FF2B5EF4-FFF2-40B4-BE49-F238E27FC236}">
                <a16:creationId xmlns:a16="http://schemas.microsoft.com/office/drawing/2014/main" id="{FA535285-D9E3-8AE1-3613-7050D94AAAB7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88977" y="0"/>
            <a:ext cx="3903023" cy="3095501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860688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68502-8133-6E05-C93B-410FF9026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RUNNING (Output)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5FE412-00CD-687C-61D1-E22D4A26E7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290" y="2760299"/>
            <a:ext cx="10274017" cy="2701358"/>
          </a:xfrm>
        </p:spPr>
      </p:pic>
      <p:pic>
        <p:nvPicPr>
          <p:cNvPr id="4" name="Camera 3">
            <a:extLst>
              <a:ext uri="{FF2B5EF4-FFF2-40B4-BE49-F238E27FC236}">
                <a16:creationId xmlns:a16="http://schemas.microsoft.com/office/drawing/2014/main" id="{FB4CFEA2-024D-4B5F-A656-80E1378B76E4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21486" y="0"/>
            <a:ext cx="3570514" cy="2517569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163140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5931BE0-4B93-4D6C-878E-ACC59D6B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F2DF0E-FD00-ADBF-943E-EBA2976A5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3565524" cy="1997855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BOURGEAS PAPER: FIG 3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F2D4ED5-DC78-4C88-97AA-483206C53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570793" y="0"/>
            <a:ext cx="1468514" cy="1521012"/>
            <a:chOff x="5236793" y="2432482"/>
            <a:chExt cx="1468514" cy="1521012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0DE0B65A-4839-40B2-BA92-1464FEADBA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463135" y="2432482"/>
              <a:ext cx="1242172" cy="729202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4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842A0A68-39DD-4DA7-BAD5-63B9C13987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236793" y="2566400"/>
              <a:ext cx="611884" cy="1076550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4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21A69E50-7E10-45C3-B4F2-19DBA7748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765469" y="2876944"/>
              <a:ext cx="630288" cy="1076550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40000"/>
                    <a:lumOff val="60000"/>
                    <a:alpha val="6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508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9" name="Oval 18">
            <a:extLst>
              <a:ext uri="{FF2B5EF4-FFF2-40B4-BE49-F238E27FC236}">
                <a16:creationId xmlns:a16="http://schemas.microsoft.com/office/drawing/2014/main" id="{D166A8AB-8924-421C-BCED-B54DBC405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77897" y="5497189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9493C36-1657-033B-E93B-B2BC8881F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3220573"/>
            <a:ext cx="3565525" cy="2963983"/>
          </a:xfrm>
        </p:spPr>
        <p:txBody>
          <a:bodyPr anchor="t">
            <a:normAutofit/>
          </a:bodyPr>
          <a:lstStyle/>
          <a:p>
            <a:pPr marL="285750" indent="-285750"/>
            <a:r>
              <a:rPr lang="en-US" dirty="0">
                <a:solidFill>
                  <a:schemeClr val="tx1"/>
                </a:solidFill>
              </a:rPr>
              <a:t>State Entropy</a:t>
            </a:r>
          </a:p>
          <a:p>
            <a:pPr marL="285750" indent="-285750"/>
            <a:r>
              <a:rPr lang="en-US" dirty="0">
                <a:solidFill>
                  <a:schemeClr val="tx1"/>
                </a:solidFill>
              </a:rPr>
              <a:t>Probability of state changing</a:t>
            </a:r>
          </a:p>
          <a:p>
            <a:pPr marL="285750" indent="-285750"/>
            <a:r>
              <a:rPr lang="en-US" dirty="0">
                <a:solidFill>
                  <a:schemeClr val="tx1"/>
                </a:solidFill>
              </a:rPr>
              <a:t>Probability in percentage</a:t>
            </a:r>
          </a:p>
          <a:p>
            <a:pPr marL="285750" indent="-285750"/>
            <a:r>
              <a:rPr lang="en-US" dirty="0">
                <a:solidFill>
                  <a:schemeClr val="tx1"/>
                </a:solidFill>
              </a:rPr>
              <a:t>Different passing techniques</a:t>
            </a:r>
          </a:p>
        </p:txBody>
      </p:sp>
      <p:pic>
        <p:nvPicPr>
          <p:cNvPr id="5" name="Content Placeholder 4" descr="A graph of a graph&#10;&#10;Description automatically generated">
            <a:extLst>
              <a:ext uri="{FF2B5EF4-FFF2-40B4-BE49-F238E27FC236}">
                <a16:creationId xmlns:a16="http://schemas.microsoft.com/office/drawing/2014/main" id="{B59BE38A-1AED-CDD4-9FAD-E2080F99C9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0088" y="2958499"/>
            <a:ext cx="7090237" cy="3226057"/>
          </a:xfrm>
          <a:custGeom>
            <a:avLst/>
            <a:gdLst/>
            <a:ahLst/>
            <a:cxnLst/>
            <a:rect l="l" t="t" r="r" b="b"/>
            <a:pathLst>
              <a:path w="7090237" h="5759451">
                <a:moveTo>
                  <a:pt x="0" y="0"/>
                </a:moveTo>
                <a:lnTo>
                  <a:pt x="7090237" y="0"/>
                </a:lnTo>
                <a:lnTo>
                  <a:pt x="7090237" y="5759451"/>
                </a:lnTo>
                <a:lnTo>
                  <a:pt x="0" y="5759451"/>
                </a:lnTo>
                <a:close/>
              </a:path>
            </a:pathLst>
          </a:custGeom>
        </p:spPr>
      </p:pic>
      <p:pic>
        <p:nvPicPr>
          <p:cNvPr id="4" name="Camera 3">
            <a:extLst>
              <a:ext uri="{FF2B5EF4-FFF2-40B4-BE49-F238E27FC236}">
                <a16:creationId xmlns:a16="http://schemas.microsoft.com/office/drawing/2014/main" id="{B10878C4-6DD3-52AC-E5D7-8A2B8480298A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16488" y="0"/>
            <a:ext cx="3475512" cy="2756441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562538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AAE7DE-6E42-AD9C-0791-9EA170E83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EFF7BD-017C-850E-BBCA-54897B8A3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7469" y="-97185"/>
            <a:ext cx="3565524" cy="2038904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/>
              <a:t>BOURGEAS PAPER: FIG 4</a:t>
            </a:r>
          </a:p>
        </p:txBody>
      </p:sp>
      <p:pic>
        <p:nvPicPr>
          <p:cNvPr id="5" name="Content Placeholder 4" descr="A group of graphs with different colored squares&#10;&#10;Description automatically generated">
            <a:extLst>
              <a:ext uri="{FF2B5EF4-FFF2-40B4-BE49-F238E27FC236}">
                <a16:creationId xmlns:a16="http://schemas.microsoft.com/office/drawing/2014/main" id="{FBFA7AD0-C5B2-997C-7EE9-03112E1923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61" y="528152"/>
            <a:ext cx="6365787" cy="5761037"/>
          </a:xfrm>
          <a:custGeom>
            <a:avLst/>
            <a:gdLst/>
            <a:ahLst/>
            <a:cxnLst/>
            <a:rect l="l" t="t" r="r" b="b"/>
            <a:pathLst>
              <a:path w="6973888" h="5761037">
                <a:moveTo>
                  <a:pt x="0" y="0"/>
                </a:moveTo>
                <a:lnTo>
                  <a:pt x="6973888" y="0"/>
                </a:lnTo>
                <a:lnTo>
                  <a:pt x="6973888" y="5761037"/>
                </a:lnTo>
                <a:lnTo>
                  <a:pt x="0" y="5761037"/>
                </a:lnTo>
                <a:close/>
              </a:path>
            </a:pathLst>
          </a:custGeom>
        </p:spPr>
      </p:pic>
      <p:sp>
        <p:nvSpPr>
          <p:cNvPr id="24" name="Oval 23">
            <a:extLst>
              <a:ext uri="{FF2B5EF4-FFF2-40B4-BE49-F238E27FC236}">
                <a16:creationId xmlns:a16="http://schemas.microsoft.com/office/drawing/2014/main" id="{61B0F92C-925A-4D2E-839E-EB381378C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95000" y="4960218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5980E3-D54A-9BD2-81E7-B04F1ECF5EF7}"/>
              </a:ext>
            </a:extLst>
          </p:cNvPr>
          <p:cNvSpPr txBox="1"/>
          <p:nvPr/>
        </p:nvSpPr>
        <p:spPr>
          <a:xfrm>
            <a:off x="7320233" y="2194902"/>
            <a:ext cx="356552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Transition Entropy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Probability of state changing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Probability between 0-1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Reading graph by Row-Column</a:t>
            </a:r>
          </a:p>
        </p:txBody>
      </p:sp>
      <p:pic>
        <p:nvPicPr>
          <p:cNvPr id="4" name="Camera 3">
            <a:extLst>
              <a:ext uri="{FF2B5EF4-FFF2-40B4-BE49-F238E27FC236}">
                <a16:creationId xmlns:a16="http://schemas.microsoft.com/office/drawing/2014/main" id="{20FE4D21-AACA-3E24-9F97-C148893AED75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37122" y="4560125"/>
            <a:ext cx="3142543" cy="2268777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016756751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AnalogousFromDarkSeedLeftStep">
      <a:dk1>
        <a:srgbClr val="000000"/>
      </a:dk1>
      <a:lt1>
        <a:srgbClr val="FFFFFF"/>
      </a:lt1>
      <a:dk2>
        <a:srgbClr val="1A1634"/>
      </a:dk2>
      <a:lt2>
        <a:srgbClr val="F0F3F3"/>
      </a:lt2>
      <a:accent1>
        <a:srgbClr val="E72950"/>
      </a:accent1>
      <a:accent2>
        <a:srgbClr val="D5178E"/>
      </a:accent2>
      <a:accent3>
        <a:srgbClr val="DF29E7"/>
      </a:accent3>
      <a:accent4>
        <a:srgbClr val="7E17D5"/>
      </a:accent4>
      <a:accent5>
        <a:srgbClr val="4129E7"/>
      </a:accent5>
      <a:accent6>
        <a:srgbClr val="174ED5"/>
      </a:accent6>
      <a:hlink>
        <a:srgbClr val="7351C5"/>
      </a:hlink>
      <a:folHlink>
        <a:srgbClr val="7F7F7F"/>
      </a:folHlink>
    </a:clrScheme>
    <a:fontScheme name="Float">
      <a:majorFont>
        <a:latin typeface="Sitka Heading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265</Words>
  <Application>Microsoft Office PowerPoint</Application>
  <PresentationFormat>Widescreen</PresentationFormat>
  <Paragraphs>42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Sitka Heading</vt:lpstr>
      <vt:lpstr>Source Sans Pro</vt:lpstr>
      <vt:lpstr>3DFloatVTI</vt:lpstr>
      <vt:lpstr>Dynamic Graph Isomorphism</vt:lpstr>
      <vt:lpstr>PROBLEM SOLVED BY OBEROI &amp; TEAM</vt:lpstr>
      <vt:lpstr>DIFFERENCE IN SOLUTION</vt:lpstr>
      <vt:lpstr>BETTER SOLUTION</vt:lpstr>
      <vt:lpstr>Input File</vt:lpstr>
      <vt:lpstr>CODE RUNNING (Output)</vt:lpstr>
      <vt:lpstr>BOURGEAS PAPER: FIG 3</vt:lpstr>
      <vt:lpstr>BOURGEAS PAPER: FIG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Daniyal</dc:creator>
  <cp:lastModifiedBy>Muhammad Moiz Ansari</cp:lastModifiedBy>
  <cp:revision>8</cp:revision>
  <dcterms:created xsi:type="dcterms:W3CDTF">2024-11-15T04:32:18Z</dcterms:created>
  <dcterms:modified xsi:type="dcterms:W3CDTF">2024-11-15T07:22:01Z</dcterms:modified>
</cp:coreProperties>
</file>