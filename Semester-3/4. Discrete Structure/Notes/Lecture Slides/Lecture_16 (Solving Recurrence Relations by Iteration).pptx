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65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3E5DD-AFF9-441A-81A1-ABA7787C193D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101D0-E662-4322-B1BA-DB80ED378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93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Fibonacci series</a:t>
            </a:r>
            <a:r>
              <a:rPr lang="en-US"/>
              <a:t>= 0, 1, 2,3,5,8,13,21,34</a:t>
            </a:r>
            <a:r>
              <a:rPr lang="en-US" dirty="0"/>
              <a:t>, </a:t>
            </a:r>
            <a:r>
              <a:rPr lang="en-US" dirty="0" err="1"/>
              <a:t>Climibing</a:t>
            </a:r>
            <a:r>
              <a:rPr lang="en-US" dirty="0"/>
              <a:t> a staircase.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101D0-E662-4322-B1BA-DB80ED378E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4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5732" y="442976"/>
            <a:ext cx="794765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2552" y="3840480"/>
            <a:ext cx="64052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517" y="1577340"/>
            <a:ext cx="398040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12430" y="1577340"/>
            <a:ext cx="398040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99" y="385571"/>
            <a:ext cx="8763000" cy="830580"/>
          </a:xfrm>
          <a:custGeom>
            <a:avLst/>
            <a:gdLst/>
            <a:ahLst/>
            <a:cxnLst/>
            <a:rect l="l" t="t" r="r" b="b"/>
            <a:pathLst>
              <a:path w="8763000" h="830580">
                <a:moveTo>
                  <a:pt x="8762999" y="830579"/>
                </a:moveTo>
                <a:lnTo>
                  <a:pt x="8762999" y="0"/>
                </a:lnTo>
                <a:lnTo>
                  <a:pt x="0" y="0"/>
                </a:lnTo>
                <a:lnTo>
                  <a:pt x="0" y="830579"/>
                </a:lnTo>
                <a:lnTo>
                  <a:pt x="8762999" y="83057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715" y="3809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304799"/>
                </a:moveTo>
                <a:lnTo>
                  <a:pt x="304799" y="0"/>
                </a:lnTo>
                <a:lnTo>
                  <a:pt x="0" y="304799"/>
                </a:lnTo>
                <a:lnTo>
                  <a:pt x="304799" y="609599"/>
                </a:lnTo>
                <a:lnTo>
                  <a:pt x="609599" y="304799"/>
                </a:lnTo>
                <a:close/>
              </a:path>
            </a:pathLst>
          </a:custGeom>
          <a:solidFill>
            <a:srgbClr val="CBD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8015" y="1523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0999" y="190499"/>
                </a:moveTo>
                <a:lnTo>
                  <a:pt x="190499" y="0"/>
                </a:lnTo>
                <a:lnTo>
                  <a:pt x="0" y="190499"/>
                </a:lnTo>
                <a:lnTo>
                  <a:pt x="190499" y="380999"/>
                </a:lnTo>
                <a:lnTo>
                  <a:pt x="380999" y="19049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7256" y="465836"/>
            <a:ext cx="779970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464" y="1486917"/>
            <a:ext cx="7920355" cy="2732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11119" y="6377940"/>
            <a:ext cx="292811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517" y="6377940"/>
            <a:ext cx="21045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9647" y="6429481"/>
            <a:ext cx="344423" cy="290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11" Type="http://schemas.openxmlformats.org/officeDocument/2006/relationships/image" Target="../media/image23.jpg"/><Relationship Id="rId5" Type="http://schemas.openxmlformats.org/officeDocument/2006/relationships/image" Target="../media/image17.jpg"/><Relationship Id="rId10" Type="http://schemas.openxmlformats.org/officeDocument/2006/relationships/image" Target="../media/image22.jpg"/><Relationship Id="rId4" Type="http://schemas.openxmlformats.org/officeDocument/2006/relationships/image" Target="../media/image16.jpg"/><Relationship Id="rId9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5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jpg"/><Relationship Id="rId4" Type="http://schemas.openxmlformats.org/officeDocument/2006/relationships/image" Target="../media/image71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g"/><Relationship Id="rId3" Type="http://schemas.openxmlformats.org/officeDocument/2006/relationships/image" Target="../media/image74.jpg"/><Relationship Id="rId7" Type="http://schemas.openxmlformats.org/officeDocument/2006/relationships/image" Target="../media/image78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g"/><Relationship Id="rId5" Type="http://schemas.openxmlformats.org/officeDocument/2006/relationships/image" Target="../media/image76.jpg"/><Relationship Id="rId10" Type="http://schemas.openxmlformats.org/officeDocument/2006/relationships/image" Target="../media/image81.jpg"/><Relationship Id="rId4" Type="http://schemas.openxmlformats.org/officeDocument/2006/relationships/image" Target="../media/image75.jpg"/><Relationship Id="rId9" Type="http://schemas.openxmlformats.org/officeDocument/2006/relationships/image" Target="../media/image80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jp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jpg"/><Relationship Id="rId3" Type="http://schemas.openxmlformats.org/officeDocument/2006/relationships/image" Target="../media/image89.jpg"/><Relationship Id="rId7" Type="http://schemas.openxmlformats.org/officeDocument/2006/relationships/image" Target="../media/image93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jpg"/><Relationship Id="rId5" Type="http://schemas.openxmlformats.org/officeDocument/2006/relationships/image" Target="../media/image91.jpg"/><Relationship Id="rId4" Type="http://schemas.openxmlformats.org/officeDocument/2006/relationships/image" Target="../media/image90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jpg"/><Relationship Id="rId5" Type="http://schemas.openxmlformats.org/officeDocument/2006/relationships/image" Target="../media/image98.jpg"/><Relationship Id="rId4" Type="http://schemas.openxmlformats.org/officeDocument/2006/relationships/image" Target="../media/image97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7"/>
            <a:ext cx="9143999" cy="61859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40149" y="130556"/>
            <a:ext cx="2041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CHAPTER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0042" y="6336498"/>
            <a:ext cx="4032885" cy="2317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Arial"/>
                <a:cs typeface="Arial"/>
              </a:rPr>
              <a:t>Copyright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©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Cengage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Learning.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rights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reserved.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7487" y="731012"/>
            <a:ext cx="417195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SEQUENCES, MATHEMATICAL </a:t>
            </a:r>
            <a:r>
              <a:rPr sz="4000" spc="-25" dirty="0">
                <a:solidFill>
                  <a:srgbClr val="FFFFFF"/>
                </a:solidFill>
                <a:latin typeface="Arial"/>
                <a:cs typeface="Arial"/>
              </a:rPr>
              <a:t>INDUCTION,</a:t>
            </a:r>
            <a:r>
              <a:rPr sz="40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RECURSION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4970" y="2712214"/>
            <a:ext cx="591375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23770" marR="5080" indent="-221170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5659E"/>
                </a:solidFill>
                <a:latin typeface="Arial"/>
                <a:cs typeface="Arial"/>
              </a:rPr>
              <a:t>Solving</a:t>
            </a:r>
            <a:r>
              <a:rPr sz="3200" spc="-70" dirty="0">
                <a:solidFill>
                  <a:srgbClr val="15659E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15659E"/>
                </a:solidFill>
                <a:latin typeface="Arial"/>
                <a:cs typeface="Arial"/>
              </a:rPr>
              <a:t>Recurrence</a:t>
            </a:r>
            <a:r>
              <a:rPr sz="3200" spc="-95" dirty="0">
                <a:solidFill>
                  <a:srgbClr val="15659E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15659E"/>
                </a:solidFill>
                <a:latin typeface="Arial"/>
                <a:cs typeface="Arial"/>
              </a:rPr>
              <a:t>Relations</a:t>
            </a:r>
            <a:r>
              <a:rPr sz="3200" spc="-65" dirty="0">
                <a:solidFill>
                  <a:srgbClr val="15659E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15659E"/>
                </a:solidFill>
                <a:latin typeface="Arial"/>
                <a:cs typeface="Arial"/>
              </a:rPr>
              <a:t>by </a:t>
            </a:r>
            <a:r>
              <a:rPr sz="3200" spc="-10" dirty="0">
                <a:solidFill>
                  <a:srgbClr val="15659E"/>
                </a:solidFill>
                <a:latin typeface="Arial"/>
                <a:cs typeface="Arial"/>
              </a:rPr>
              <a:t>Iteration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0415" y="2209799"/>
            <a:ext cx="8563610" cy="1629410"/>
            <a:chOff x="280415" y="2209799"/>
            <a:chExt cx="8563610" cy="1629410"/>
          </a:xfrm>
        </p:grpSpPr>
        <p:sp>
          <p:nvSpPr>
            <p:cNvPr id="4" name="object 4"/>
            <p:cNvSpPr/>
            <p:nvPr/>
          </p:nvSpPr>
          <p:spPr>
            <a:xfrm>
              <a:off x="1699259" y="2487167"/>
              <a:ext cx="7145020" cy="1351915"/>
            </a:xfrm>
            <a:custGeom>
              <a:avLst/>
              <a:gdLst/>
              <a:ahLst/>
              <a:cxnLst/>
              <a:rect l="l" t="t" r="r" b="b"/>
              <a:pathLst>
                <a:path w="7145020" h="1351914">
                  <a:moveTo>
                    <a:pt x="7144512" y="1107948"/>
                  </a:moveTo>
                  <a:lnTo>
                    <a:pt x="7144512" y="27432"/>
                  </a:lnTo>
                  <a:lnTo>
                    <a:pt x="7142130" y="16716"/>
                  </a:lnTo>
                  <a:lnTo>
                    <a:pt x="7135749" y="8001"/>
                  </a:lnTo>
                  <a:lnTo>
                    <a:pt x="7126509" y="2143"/>
                  </a:lnTo>
                  <a:lnTo>
                    <a:pt x="7115556" y="0"/>
                  </a:lnTo>
                  <a:lnTo>
                    <a:pt x="243840" y="0"/>
                  </a:lnTo>
                  <a:lnTo>
                    <a:pt x="193548" y="4572"/>
                  </a:lnTo>
                  <a:lnTo>
                    <a:pt x="147828" y="19812"/>
                  </a:lnTo>
                  <a:lnTo>
                    <a:pt x="106680" y="42672"/>
                  </a:lnTo>
                  <a:lnTo>
                    <a:pt x="70104" y="71628"/>
                  </a:lnTo>
                  <a:lnTo>
                    <a:pt x="41148" y="108204"/>
                  </a:lnTo>
                  <a:lnTo>
                    <a:pt x="18288" y="150876"/>
                  </a:lnTo>
                  <a:lnTo>
                    <a:pt x="4572" y="196596"/>
                  </a:lnTo>
                  <a:lnTo>
                    <a:pt x="0" y="243840"/>
                  </a:lnTo>
                  <a:lnTo>
                    <a:pt x="0" y="1322832"/>
                  </a:lnTo>
                  <a:lnTo>
                    <a:pt x="2166" y="1334428"/>
                  </a:lnTo>
                  <a:lnTo>
                    <a:pt x="8191" y="1343596"/>
                  </a:lnTo>
                  <a:lnTo>
                    <a:pt x="17359" y="1349621"/>
                  </a:lnTo>
                  <a:lnTo>
                    <a:pt x="28956" y="1351788"/>
                  </a:lnTo>
                  <a:lnTo>
                    <a:pt x="28956" y="1295400"/>
                  </a:lnTo>
                  <a:lnTo>
                    <a:pt x="57912" y="1295400"/>
                  </a:lnTo>
                  <a:lnTo>
                    <a:pt x="57912" y="224028"/>
                  </a:lnTo>
                  <a:lnTo>
                    <a:pt x="60960" y="204216"/>
                  </a:lnTo>
                  <a:lnTo>
                    <a:pt x="80772" y="153924"/>
                  </a:lnTo>
                  <a:lnTo>
                    <a:pt x="112776" y="111252"/>
                  </a:lnTo>
                  <a:lnTo>
                    <a:pt x="156972" y="79248"/>
                  </a:lnTo>
                  <a:lnTo>
                    <a:pt x="208788" y="59436"/>
                  </a:lnTo>
                  <a:lnTo>
                    <a:pt x="7086600" y="56388"/>
                  </a:lnTo>
                  <a:lnTo>
                    <a:pt x="7086600" y="27432"/>
                  </a:lnTo>
                  <a:lnTo>
                    <a:pt x="7115556" y="56388"/>
                  </a:lnTo>
                  <a:lnTo>
                    <a:pt x="7115556" y="1223772"/>
                  </a:lnTo>
                  <a:lnTo>
                    <a:pt x="7124700" y="1200912"/>
                  </a:lnTo>
                  <a:lnTo>
                    <a:pt x="7133844" y="1179576"/>
                  </a:lnTo>
                  <a:lnTo>
                    <a:pt x="7139940" y="1155192"/>
                  </a:lnTo>
                  <a:lnTo>
                    <a:pt x="7142988" y="1130808"/>
                  </a:lnTo>
                  <a:lnTo>
                    <a:pt x="7144512" y="1107948"/>
                  </a:lnTo>
                  <a:close/>
                </a:path>
                <a:path w="7145020" h="1351914">
                  <a:moveTo>
                    <a:pt x="7115556" y="1223772"/>
                  </a:moveTo>
                  <a:lnTo>
                    <a:pt x="7115556" y="56388"/>
                  </a:lnTo>
                  <a:lnTo>
                    <a:pt x="7086600" y="56388"/>
                  </a:lnTo>
                  <a:lnTo>
                    <a:pt x="7086600" y="1107948"/>
                  </a:lnTo>
                  <a:lnTo>
                    <a:pt x="7085076" y="1127760"/>
                  </a:lnTo>
                  <a:lnTo>
                    <a:pt x="7071360" y="1182624"/>
                  </a:lnTo>
                  <a:lnTo>
                    <a:pt x="7042404" y="1228344"/>
                  </a:lnTo>
                  <a:lnTo>
                    <a:pt x="7002780" y="1263396"/>
                  </a:lnTo>
                  <a:lnTo>
                    <a:pt x="6954012" y="1286256"/>
                  </a:lnTo>
                  <a:lnTo>
                    <a:pt x="6897624" y="1295400"/>
                  </a:lnTo>
                  <a:lnTo>
                    <a:pt x="28956" y="1295400"/>
                  </a:lnTo>
                  <a:lnTo>
                    <a:pt x="57912" y="1322832"/>
                  </a:lnTo>
                  <a:lnTo>
                    <a:pt x="57912" y="1351788"/>
                  </a:lnTo>
                  <a:lnTo>
                    <a:pt x="6900672" y="1351788"/>
                  </a:lnTo>
                  <a:lnTo>
                    <a:pt x="6925056" y="1350264"/>
                  </a:lnTo>
                  <a:lnTo>
                    <a:pt x="6973824" y="1341120"/>
                  </a:lnTo>
                  <a:lnTo>
                    <a:pt x="7018020" y="1321308"/>
                  </a:lnTo>
                  <a:lnTo>
                    <a:pt x="7056120" y="1295400"/>
                  </a:lnTo>
                  <a:lnTo>
                    <a:pt x="7103364" y="1243584"/>
                  </a:lnTo>
                  <a:lnTo>
                    <a:pt x="7115556" y="1223772"/>
                  </a:lnTo>
                  <a:close/>
                </a:path>
                <a:path w="7145020" h="1351914">
                  <a:moveTo>
                    <a:pt x="57912" y="1351788"/>
                  </a:moveTo>
                  <a:lnTo>
                    <a:pt x="57912" y="1322832"/>
                  </a:lnTo>
                  <a:lnTo>
                    <a:pt x="28956" y="1295400"/>
                  </a:lnTo>
                  <a:lnTo>
                    <a:pt x="28956" y="1351788"/>
                  </a:lnTo>
                  <a:lnTo>
                    <a:pt x="57912" y="1351788"/>
                  </a:lnTo>
                  <a:close/>
                </a:path>
                <a:path w="7145020" h="1351914">
                  <a:moveTo>
                    <a:pt x="7115556" y="56388"/>
                  </a:moveTo>
                  <a:lnTo>
                    <a:pt x="7086600" y="27432"/>
                  </a:lnTo>
                  <a:lnTo>
                    <a:pt x="7086600" y="56388"/>
                  </a:lnTo>
                  <a:lnTo>
                    <a:pt x="7115556" y="56388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0415" y="2209799"/>
              <a:ext cx="2438400" cy="609600"/>
            </a:xfrm>
            <a:custGeom>
              <a:avLst/>
              <a:gdLst/>
              <a:ahLst/>
              <a:cxnLst/>
              <a:rect l="l" t="t" r="r" b="b"/>
              <a:pathLst>
                <a:path w="2438400" h="609600">
                  <a:moveTo>
                    <a:pt x="2438399" y="509015"/>
                  </a:moveTo>
                  <a:lnTo>
                    <a:pt x="2438399" y="0"/>
                  </a:lnTo>
                  <a:lnTo>
                    <a:pt x="100583" y="0"/>
                  </a:lnTo>
                  <a:lnTo>
                    <a:pt x="61721" y="8024"/>
                  </a:lnTo>
                  <a:lnTo>
                    <a:pt x="29717" y="29908"/>
                  </a:lnTo>
                  <a:lnTo>
                    <a:pt x="8000" y="62364"/>
                  </a:lnTo>
                  <a:lnTo>
                    <a:pt x="0" y="102107"/>
                  </a:lnTo>
                  <a:lnTo>
                    <a:pt x="0" y="609599"/>
                  </a:lnTo>
                  <a:lnTo>
                    <a:pt x="2336291" y="609599"/>
                  </a:lnTo>
                  <a:lnTo>
                    <a:pt x="2376035" y="601813"/>
                  </a:lnTo>
                  <a:lnTo>
                    <a:pt x="2408491" y="580453"/>
                  </a:lnTo>
                  <a:lnTo>
                    <a:pt x="2430375" y="548520"/>
                  </a:lnTo>
                  <a:lnTo>
                    <a:pt x="2438399" y="509015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4312" y="2293113"/>
            <a:ext cx="20459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sz="2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5.7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0042" y="6336498"/>
            <a:ext cx="4032885" cy="2317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Arial"/>
                <a:cs typeface="Arial"/>
              </a:rPr>
              <a:t>Copyright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©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Cengage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Learning.</a:t>
            </a:r>
            <a:r>
              <a:rPr sz="1400" spc="-1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rights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reserved.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732" y="491744"/>
            <a:ext cx="796163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Solving</a:t>
            </a:r>
            <a:r>
              <a:rPr sz="3400" spc="-60" dirty="0"/>
              <a:t> </a:t>
            </a:r>
            <a:r>
              <a:rPr sz="3400" dirty="0"/>
              <a:t>Recurrence</a:t>
            </a:r>
            <a:r>
              <a:rPr sz="3400" spc="-10" dirty="0"/>
              <a:t> </a:t>
            </a:r>
            <a:r>
              <a:rPr sz="3400" dirty="0"/>
              <a:t>Relations</a:t>
            </a:r>
            <a:r>
              <a:rPr sz="3400" spc="-40" dirty="0"/>
              <a:t> </a:t>
            </a:r>
            <a:r>
              <a:rPr sz="3400" dirty="0"/>
              <a:t>by</a:t>
            </a:r>
            <a:r>
              <a:rPr sz="3400" spc="-40" dirty="0"/>
              <a:t> </a:t>
            </a:r>
            <a:r>
              <a:rPr sz="3400" spc="-10" dirty="0"/>
              <a:t>Iteration</a:t>
            </a:r>
            <a:endParaRPr sz="3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957820" cy="434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56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Suppose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satisfies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certain </a:t>
            </a:r>
            <a:r>
              <a:rPr sz="2400" dirty="0">
                <a:latin typeface="Arial"/>
                <a:cs typeface="Arial"/>
              </a:rPr>
              <a:t>recurrence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conditions.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4622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often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helpful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sequence,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especially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compute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with </a:t>
            </a:r>
            <a:r>
              <a:rPr sz="2400" dirty="0">
                <a:latin typeface="Arial"/>
                <a:cs typeface="Arial"/>
              </a:rPr>
              <a:t>very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subscripts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examine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general </a:t>
            </a:r>
            <a:r>
              <a:rPr sz="2400" dirty="0">
                <a:latin typeface="Arial"/>
                <a:cs typeface="Arial"/>
              </a:rPr>
              <a:t>properties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Such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solution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recurrence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relation.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section,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discuss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methods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solving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recurrence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relations.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4325" y="3295906"/>
            <a:ext cx="5279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ADEE"/>
                </a:solidFill>
              </a:rPr>
              <a:t>The</a:t>
            </a:r>
            <a:r>
              <a:rPr spc="-7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Method</a:t>
            </a:r>
            <a:r>
              <a:rPr spc="-5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of</a:t>
            </a:r>
            <a:r>
              <a:rPr spc="-80" dirty="0">
                <a:solidFill>
                  <a:srgbClr val="00ADEE"/>
                </a:solidFill>
              </a:rPr>
              <a:t> </a:t>
            </a:r>
            <a:r>
              <a:rPr spc="-10" dirty="0">
                <a:solidFill>
                  <a:srgbClr val="00ADEE"/>
                </a:solidFill>
              </a:rPr>
              <a:t>Iteration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Method</a:t>
            </a:r>
            <a:r>
              <a:rPr spc="-5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Iteration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85140" y="1486917"/>
            <a:ext cx="8019415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1187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basic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method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finding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recursively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iteration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63500" marR="558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Iteration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follows: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.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recurrence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conditions,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you </a:t>
            </a:r>
            <a:r>
              <a:rPr sz="2400" dirty="0">
                <a:latin typeface="Arial"/>
                <a:cs typeface="Arial"/>
              </a:rPr>
              <a:t>start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conditions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calculate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successive </a:t>
            </a:r>
            <a:r>
              <a:rPr sz="2400" dirty="0">
                <a:latin typeface="Arial"/>
                <a:cs typeface="Arial"/>
              </a:rPr>
              <a:t>terms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until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pattern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developing.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guess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formula.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56" y="482600"/>
            <a:ext cx="7986395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dirty="0"/>
              <a:t>Example</a:t>
            </a:r>
            <a:r>
              <a:rPr sz="3500" spc="-45" dirty="0"/>
              <a:t> </a:t>
            </a:r>
            <a:r>
              <a:rPr sz="3500" dirty="0"/>
              <a:t>1</a:t>
            </a:r>
            <a:r>
              <a:rPr sz="3500" spc="-55" dirty="0"/>
              <a:t> </a:t>
            </a:r>
            <a:r>
              <a:rPr sz="3500" dirty="0"/>
              <a:t>–</a:t>
            </a:r>
            <a:r>
              <a:rPr sz="3500" spc="-45" dirty="0"/>
              <a:t> </a:t>
            </a:r>
            <a:r>
              <a:rPr sz="3500" i="1" dirty="0">
                <a:latin typeface="Arial"/>
                <a:cs typeface="Arial"/>
              </a:rPr>
              <a:t>Finding</a:t>
            </a:r>
            <a:r>
              <a:rPr sz="3500" i="1" spc="-35" dirty="0">
                <a:latin typeface="Arial"/>
                <a:cs typeface="Arial"/>
              </a:rPr>
              <a:t> </a:t>
            </a:r>
            <a:r>
              <a:rPr sz="3500" i="1" dirty="0">
                <a:latin typeface="Arial"/>
                <a:cs typeface="Arial"/>
              </a:rPr>
              <a:t>an</a:t>
            </a:r>
            <a:r>
              <a:rPr sz="3500" i="1" spc="-45" dirty="0">
                <a:latin typeface="Arial"/>
                <a:cs typeface="Arial"/>
              </a:rPr>
              <a:t> </a:t>
            </a:r>
            <a:r>
              <a:rPr sz="3500" i="1" dirty="0">
                <a:latin typeface="Arial"/>
                <a:cs typeface="Arial"/>
              </a:rPr>
              <a:t>Explicit</a:t>
            </a:r>
            <a:r>
              <a:rPr sz="3500" i="1" spc="-65" dirty="0">
                <a:latin typeface="Arial"/>
                <a:cs typeface="Arial"/>
              </a:rPr>
              <a:t> </a:t>
            </a:r>
            <a:r>
              <a:rPr sz="3500" i="1" spc="-10" dirty="0">
                <a:latin typeface="Arial"/>
                <a:cs typeface="Arial"/>
              </a:rPr>
              <a:t>Formula</a:t>
            </a:r>
            <a:endParaRPr sz="3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064" y="1486917"/>
            <a:ext cx="7733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recursively</a:t>
            </a:r>
            <a:r>
              <a:rPr sz="2400" spc="-25" dirty="0">
                <a:latin typeface="Arial"/>
                <a:cs typeface="Arial"/>
              </a:rPr>
              <a:t> as </a:t>
            </a:r>
            <a:r>
              <a:rPr sz="2400" dirty="0">
                <a:latin typeface="Arial"/>
                <a:cs typeface="Arial"/>
              </a:rPr>
              <a:t>follows: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1,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3462022"/>
            <a:ext cx="795464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iteration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guess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Arial"/>
                <a:cs typeface="Arial"/>
              </a:rPr>
              <a:t>Solution: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say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means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989" y="2526742"/>
            <a:ext cx="2067209" cy="2340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7543" y="2967227"/>
            <a:ext cx="1264919" cy="2339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65706" y="2600726"/>
            <a:ext cx="1401793" cy="1344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57385" y="3054416"/>
            <a:ext cx="1218223" cy="133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8604" y="5393435"/>
            <a:ext cx="3957131" cy="2514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47832" y="6097118"/>
            <a:ext cx="1822127" cy="2458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99338" y="6022027"/>
            <a:ext cx="2469429" cy="40368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518921"/>
            <a:ext cx="170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particular,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3974087"/>
            <a:ext cx="760095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forth.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Now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condition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begin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successive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substitutions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equations,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just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numbers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numerical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expressions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5827" y="2052827"/>
            <a:ext cx="1497393" cy="2667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7" y="2663951"/>
            <a:ext cx="1497393" cy="2667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7" y="3311569"/>
            <a:ext cx="1497393" cy="26756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5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893050" cy="397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49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reason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numerical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expressions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rather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than </a:t>
            </a:r>
            <a:r>
              <a:rPr sz="2400" dirty="0">
                <a:latin typeface="Arial"/>
                <a:cs typeface="Arial"/>
              </a:rPr>
              <a:t>numbers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seeking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numerical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pattern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underlies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general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formula.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454659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secret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success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leave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arithmetic undone.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However,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eliminate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parentheses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go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step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next.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Otherwise,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up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bewilderingly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parentheses.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9306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64" y="5729736"/>
            <a:ext cx="8192134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60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Notice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don’t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information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patterns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shorthand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notations.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ts val="1800"/>
              </a:lnSpc>
            </a:pPr>
            <a:r>
              <a:rPr sz="1800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5" y="38099"/>
            <a:ext cx="9054465" cy="1178560"/>
            <a:chOff x="13715" y="38099"/>
            <a:chExt cx="9054465" cy="1178560"/>
          </a:xfrm>
        </p:grpSpPr>
        <p:sp>
          <p:nvSpPr>
            <p:cNvPr id="4" name="object 4"/>
            <p:cNvSpPr/>
            <p:nvPr/>
          </p:nvSpPr>
          <p:spPr>
            <a:xfrm>
              <a:off x="304799" y="3855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5" y="380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015" y="152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7464" y="1486917"/>
            <a:ext cx="806259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Also,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nearly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always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helpful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shorthand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notations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regrouping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additions,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subtractions,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multiplications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numbers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repeat.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Thus,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instance,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write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7464" y="4412999"/>
            <a:ext cx="533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4420" y="3984844"/>
            <a:ext cx="3983453" cy="20920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1798" y="5082849"/>
            <a:ext cx="3164779" cy="241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345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Here’s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188" y="2426915"/>
            <a:ext cx="2058766" cy="8618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532" y="3374838"/>
            <a:ext cx="4777177" cy="8239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4329" y="4268213"/>
            <a:ext cx="5196815" cy="8288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384" y="5266025"/>
            <a:ext cx="5607761" cy="6997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08709" y="2069632"/>
            <a:ext cx="1385438" cy="1302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87261" y="2975592"/>
            <a:ext cx="1041298" cy="16728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00559" y="3885800"/>
            <a:ext cx="1514156" cy="17108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07765" y="4671761"/>
            <a:ext cx="2383250" cy="3578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03607" y="5411213"/>
            <a:ext cx="2371056" cy="8288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9050" y="2061156"/>
            <a:ext cx="679090" cy="287327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064" y="1486917"/>
            <a:ext cx="78981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Since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appears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helpful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shorthand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000" spc="-295" dirty="0">
                <a:latin typeface="Noto Sans Symbols2"/>
                <a:cs typeface="Noto Sans Symbols2"/>
              </a:rPr>
              <a:t>🞄</a:t>
            </a:r>
            <a:r>
              <a:rPr sz="2000" spc="25" dirty="0">
                <a:latin typeface="Noto Sans Symbols2"/>
                <a:cs typeface="Noto Sans Symbols2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place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·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·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·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times),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starting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again </a:t>
            </a:r>
            <a:r>
              <a:rPr sz="2400" spc="-20" dirty="0">
                <a:latin typeface="Arial"/>
                <a:cs typeface="Arial"/>
              </a:rPr>
              <a:t>from </a:t>
            </a:r>
            <a:r>
              <a:rPr sz="2400" i="1" spc="-25" dirty="0">
                <a:latin typeface="Arial"/>
                <a:cs typeface="Arial"/>
              </a:rPr>
              <a:t>a</a:t>
            </a:r>
            <a:r>
              <a:rPr sz="2400" spc="-37" baseline="-20833" dirty="0">
                <a:latin typeface="Arial"/>
                <a:cs typeface="Arial"/>
              </a:rPr>
              <a:t>0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708" y="2784498"/>
            <a:ext cx="4273018" cy="32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434" y="3199990"/>
            <a:ext cx="4271048" cy="9240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50623" y="3798923"/>
            <a:ext cx="1048225" cy="166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5943" y="2759582"/>
            <a:ext cx="1380461" cy="1299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709" y="4201562"/>
            <a:ext cx="4278002" cy="8745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0709" y="5274050"/>
            <a:ext cx="4278135" cy="87041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4669032"/>
            <a:ext cx="8023859" cy="16351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i="1" spc="-10" dirty="0">
                <a:latin typeface="Arial"/>
                <a:cs typeface="Arial"/>
              </a:rPr>
              <a:t>Guess</a:t>
            </a:r>
            <a:r>
              <a:rPr sz="2400" spc="-1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answer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obtained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just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guess.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be </a:t>
            </a:r>
            <a:r>
              <a:rPr sz="2400" dirty="0">
                <a:latin typeface="Arial"/>
                <a:cs typeface="Arial"/>
              </a:rPr>
              <a:t>sure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correctness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guess,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check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mathematical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induction.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625" y="1545209"/>
            <a:ext cx="4282687" cy="17178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092" y="3358379"/>
            <a:ext cx="4270098" cy="7370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51268" y="4317805"/>
            <a:ext cx="37920" cy="2501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9598" y="4858681"/>
            <a:ext cx="2499488" cy="2205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97353" y="2820835"/>
            <a:ext cx="2952941" cy="6086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27827" y="3819697"/>
            <a:ext cx="2922473" cy="38238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Method</a:t>
            </a:r>
            <a:r>
              <a:rPr spc="-5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9235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like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Example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term </a:t>
            </a:r>
            <a:r>
              <a:rPr sz="2400" dirty="0">
                <a:latin typeface="Arial"/>
                <a:cs typeface="Arial"/>
              </a:rPr>
              <a:t>equals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previous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plus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fixed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constant,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 </a:t>
            </a:r>
            <a:r>
              <a:rPr sz="2400" i="1" dirty="0">
                <a:latin typeface="Arial"/>
                <a:cs typeface="Arial"/>
              </a:rPr>
              <a:t>arithmetic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sequence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363" y="2813303"/>
            <a:ext cx="7891271" cy="24414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732" y="458216"/>
            <a:ext cx="801624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dirty="0"/>
              <a:t>Example</a:t>
            </a:r>
            <a:r>
              <a:rPr sz="3800" spc="-35" dirty="0"/>
              <a:t> </a:t>
            </a:r>
            <a:r>
              <a:rPr sz="3800" dirty="0"/>
              <a:t>2</a:t>
            </a:r>
            <a:r>
              <a:rPr sz="3800" spc="-40" dirty="0"/>
              <a:t> </a:t>
            </a:r>
            <a:r>
              <a:rPr sz="3800" dirty="0"/>
              <a:t>–</a:t>
            </a:r>
            <a:r>
              <a:rPr sz="3800" spc="-30" dirty="0"/>
              <a:t> </a:t>
            </a:r>
            <a:r>
              <a:rPr sz="3800" i="1" dirty="0">
                <a:latin typeface="Arial"/>
                <a:cs typeface="Arial"/>
              </a:rPr>
              <a:t>An</a:t>
            </a:r>
            <a:r>
              <a:rPr sz="3800" i="1" spc="-30" dirty="0">
                <a:latin typeface="Arial"/>
                <a:cs typeface="Arial"/>
              </a:rPr>
              <a:t> </a:t>
            </a:r>
            <a:r>
              <a:rPr sz="3800" i="1" dirty="0">
                <a:latin typeface="Arial"/>
                <a:cs typeface="Arial"/>
              </a:rPr>
              <a:t>Arithmetic</a:t>
            </a:r>
            <a:r>
              <a:rPr sz="3800" i="1" spc="-35" dirty="0">
                <a:latin typeface="Arial"/>
                <a:cs typeface="Arial"/>
              </a:rPr>
              <a:t> </a:t>
            </a:r>
            <a:r>
              <a:rPr sz="3800" i="1" spc="-10" dirty="0">
                <a:latin typeface="Arial"/>
                <a:cs typeface="Arial"/>
              </a:rPr>
              <a:t>Sequence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859395" cy="434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068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Under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gravity,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object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falling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vacuum </a:t>
            </a:r>
            <a:r>
              <a:rPr sz="2400" dirty="0">
                <a:latin typeface="Arial"/>
                <a:cs typeface="Arial"/>
              </a:rPr>
              <a:t>falls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9.8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meters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(m/sec)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faster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each </a:t>
            </a:r>
            <a:r>
              <a:rPr sz="2400" dirty="0">
                <a:latin typeface="Arial"/>
                <a:cs typeface="Arial"/>
              </a:rPr>
              <a:t>second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before.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Thus,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neglecting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air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resistance,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skydiver’s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upon </a:t>
            </a:r>
            <a:r>
              <a:rPr sz="2400" dirty="0">
                <a:latin typeface="Arial"/>
                <a:cs typeface="Arial"/>
              </a:rPr>
              <a:t>leaving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airplane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approximately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9.8m/sec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second </a:t>
            </a:r>
            <a:r>
              <a:rPr sz="2400" dirty="0">
                <a:latin typeface="Arial"/>
                <a:cs typeface="Arial"/>
              </a:rPr>
              <a:t>after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departure,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9.8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9.8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19.6m/sec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after </a:t>
            </a:r>
            <a:r>
              <a:rPr sz="2400" dirty="0">
                <a:latin typeface="Arial"/>
                <a:cs typeface="Arial"/>
              </a:rPr>
              <a:t>departure,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forth.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16446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air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resistance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neglected,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skydiver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falling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60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after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leaving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airplane?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364" y="1486917"/>
            <a:ext cx="808037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880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Let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i="1" baseline="-20833" dirty="0">
                <a:latin typeface="Arial"/>
                <a:cs typeface="Arial"/>
              </a:rPr>
              <a:t>n</a:t>
            </a:r>
            <a:r>
              <a:rPr sz="2400" i="1" spc="24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skydiver’s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m/sec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after </a:t>
            </a:r>
            <a:r>
              <a:rPr sz="2400" dirty="0">
                <a:latin typeface="Arial"/>
                <a:cs typeface="Arial"/>
              </a:rPr>
              <a:t>exiting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airplane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air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resistance.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Thus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spc="24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speed,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since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travel</a:t>
            </a:r>
            <a:endParaRPr sz="24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9.8m/sec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faster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before,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064" y="4412999"/>
            <a:ext cx="80841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arithmetic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fixed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constant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9.8,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thus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8903" y="3727703"/>
            <a:ext cx="4922520" cy="2590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8798" y="5665012"/>
            <a:ext cx="4386601" cy="24244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69761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Hence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sixty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after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exiting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neglecting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air </a:t>
            </a:r>
            <a:r>
              <a:rPr sz="2400" dirty="0">
                <a:latin typeface="Arial"/>
                <a:cs typeface="Arial"/>
              </a:rPr>
              <a:t>resistance,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skydiver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travel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3169414"/>
            <a:ext cx="7837170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Note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588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m/sec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over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half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kilometer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or </a:t>
            </a:r>
            <a:r>
              <a:rPr sz="2400" dirty="0">
                <a:latin typeface="Arial"/>
                <a:cs typeface="Arial"/>
              </a:rPr>
              <a:t>over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third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second,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fast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human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travel.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381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Happily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skydiver,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taking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air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resistance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account </a:t>
            </a:r>
            <a:r>
              <a:rPr sz="2400" dirty="0">
                <a:latin typeface="Arial"/>
                <a:cs typeface="Arial"/>
              </a:rPr>
              <a:t>cuts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considerably.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699" y="2609706"/>
            <a:ext cx="3600780" cy="2416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Method</a:t>
            </a:r>
            <a:r>
              <a:rPr spc="-5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064" y="1486917"/>
            <a:ext cx="8091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Let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fixed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nonzero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constant,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suppose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recursively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3608327"/>
            <a:ext cx="8006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iteration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guess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951" y="4338827"/>
            <a:ext cx="6185222" cy="18296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2711" y="3262811"/>
            <a:ext cx="782137" cy="1664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6047" y="2634826"/>
            <a:ext cx="3679601" cy="24225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Method</a:t>
            </a:r>
            <a:r>
              <a:rPr spc="-5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835265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important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property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geometric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with </a:t>
            </a:r>
            <a:r>
              <a:rPr sz="2400" dirty="0">
                <a:latin typeface="Arial"/>
                <a:cs typeface="Arial"/>
              </a:rPr>
              <a:t>constant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multiplier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greater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 </a:t>
            </a:r>
            <a:r>
              <a:rPr sz="2400" dirty="0">
                <a:latin typeface="Arial"/>
                <a:cs typeface="Arial"/>
              </a:rPr>
              <a:t>very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rapidly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size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subscripts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larger.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1955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instance,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geometric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constant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multiplier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064" y="4778759"/>
            <a:ext cx="80714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Thus,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tenth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already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value </a:t>
            </a:r>
            <a:r>
              <a:rPr sz="2400" dirty="0">
                <a:latin typeface="Arial"/>
                <a:cs typeface="Arial"/>
              </a:rPr>
              <a:t>10</a:t>
            </a:r>
            <a:r>
              <a:rPr sz="2400" baseline="24305" dirty="0">
                <a:latin typeface="Arial"/>
                <a:cs typeface="Arial"/>
              </a:rPr>
              <a:t>9</a:t>
            </a:r>
            <a:r>
              <a:rPr sz="2400" spc="30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1,000,000,000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billion.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9172" y="4114403"/>
            <a:ext cx="5101230" cy="28392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5" dirty="0"/>
              <a:t> </a:t>
            </a:r>
            <a:r>
              <a:rPr dirty="0"/>
              <a:t>Method</a:t>
            </a:r>
            <a:r>
              <a:rPr spc="-5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0275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box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indicates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some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quantities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are </a:t>
            </a:r>
            <a:r>
              <a:rPr sz="2400" dirty="0">
                <a:latin typeface="Arial"/>
                <a:cs typeface="Arial"/>
              </a:rPr>
              <a:t>approximately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certain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powers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10.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91" y="2663951"/>
            <a:ext cx="7290816" cy="27858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6981" y="3295906"/>
            <a:ext cx="69723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212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ADEE"/>
                </a:solidFill>
              </a:rPr>
              <a:t>Using</a:t>
            </a:r>
            <a:r>
              <a:rPr spc="-9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Formulas</a:t>
            </a:r>
            <a:r>
              <a:rPr spc="-7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to</a:t>
            </a:r>
            <a:r>
              <a:rPr spc="-105" dirty="0">
                <a:solidFill>
                  <a:srgbClr val="00ADEE"/>
                </a:solidFill>
              </a:rPr>
              <a:t> </a:t>
            </a:r>
            <a:r>
              <a:rPr spc="-10" dirty="0">
                <a:solidFill>
                  <a:srgbClr val="00ADEE"/>
                </a:solidFill>
              </a:rPr>
              <a:t>Simplify </a:t>
            </a:r>
            <a:r>
              <a:rPr dirty="0">
                <a:solidFill>
                  <a:srgbClr val="00ADEE"/>
                </a:solidFill>
              </a:rPr>
              <a:t>Solutions</a:t>
            </a:r>
            <a:r>
              <a:rPr spc="-110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Obtained</a:t>
            </a:r>
            <a:r>
              <a:rPr spc="-120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by</a:t>
            </a:r>
            <a:r>
              <a:rPr spc="-120" dirty="0">
                <a:solidFill>
                  <a:srgbClr val="00ADEE"/>
                </a:solidFill>
              </a:rPr>
              <a:t> </a:t>
            </a:r>
            <a:r>
              <a:rPr spc="-10" dirty="0">
                <a:solidFill>
                  <a:srgbClr val="00ADEE"/>
                </a:solidFill>
              </a:rPr>
              <a:t>Iteration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56" y="567944"/>
            <a:ext cx="806386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/>
              <a:t>Using</a:t>
            </a:r>
            <a:r>
              <a:rPr sz="2450" spc="-75" dirty="0"/>
              <a:t> </a:t>
            </a:r>
            <a:r>
              <a:rPr sz="2450" dirty="0"/>
              <a:t>Formulas</a:t>
            </a:r>
            <a:r>
              <a:rPr sz="2450" spc="-75" dirty="0"/>
              <a:t> </a:t>
            </a:r>
            <a:r>
              <a:rPr sz="2450" dirty="0"/>
              <a:t>to</a:t>
            </a:r>
            <a:r>
              <a:rPr sz="2450" spc="-95" dirty="0"/>
              <a:t> </a:t>
            </a:r>
            <a:r>
              <a:rPr sz="2450" dirty="0"/>
              <a:t>Simplify</a:t>
            </a:r>
            <a:r>
              <a:rPr sz="2450" spc="-75" dirty="0"/>
              <a:t> </a:t>
            </a:r>
            <a:r>
              <a:rPr sz="2450" dirty="0"/>
              <a:t>Solutions</a:t>
            </a:r>
            <a:r>
              <a:rPr sz="2450" spc="-60" dirty="0"/>
              <a:t> </a:t>
            </a:r>
            <a:r>
              <a:rPr sz="2450" dirty="0"/>
              <a:t>Obtained</a:t>
            </a:r>
            <a:r>
              <a:rPr sz="2450" spc="-70" dirty="0"/>
              <a:t> </a:t>
            </a:r>
            <a:r>
              <a:rPr sz="2450" dirty="0"/>
              <a:t>by</a:t>
            </a:r>
            <a:r>
              <a:rPr sz="2450" spc="-90" dirty="0"/>
              <a:t> </a:t>
            </a:r>
            <a:r>
              <a:rPr sz="2450" spc="-10" dirty="0"/>
              <a:t>Iteration</a:t>
            </a:r>
            <a:endParaRPr sz="24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01675">
              <a:lnSpc>
                <a:spcPct val="100000"/>
              </a:lnSpc>
              <a:spcBef>
                <a:spcPts val="100"/>
              </a:spcBef>
            </a:pPr>
            <a:r>
              <a:rPr dirty="0"/>
              <a:t>Explicit</a:t>
            </a:r>
            <a:r>
              <a:rPr spc="-35" dirty="0"/>
              <a:t> </a:t>
            </a:r>
            <a:r>
              <a:rPr dirty="0"/>
              <a:t>formulas</a:t>
            </a:r>
            <a:r>
              <a:rPr spc="-65" dirty="0"/>
              <a:t> </a:t>
            </a:r>
            <a:r>
              <a:rPr dirty="0"/>
              <a:t>obtained</a:t>
            </a:r>
            <a:r>
              <a:rPr spc="-60" dirty="0"/>
              <a:t> </a:t>
            </a:r>
            <a:r>
              <a:rPr dirty="0"/>
              <a:t>by</a:t>
            </a:r>
            <a:r>
              <a:rPr spc="-65" dirty="0"/>
              <a:t> </a:t>
            </a:r>
            <a:r>
              <a:rPr dirty="0"/>
              <a:t>iteration</a:t>
            </a:r>
            <a:r>
              <a:rPr spc="-65" dirty="0"/>
              <a:t> </a:t>
            </a:r>
            <a:r>
              <a:rPr dirty="0"/>
              <a:t>can</a:t>
            </a:r>
            <a:r>
              <a:rPr spc="-70" dirty="0"/>
              <a:t> </a:t>
            </a:r>
            <a:r>
              <a:rPr dirty="0"/>
              <a:t>often</a:t>
            </a:r>
            <a:r>
              <a:rPr spc="-80" dirty="0"/>
              <a:t> </a:t>
            </a:r>
            <a:r>
              <a:rPr spc="-35" dirty="0"/>
              <a:t>be </a:t>
            </a:r>
            <a:r>
              <a:rPr dirty="0"/>
              <a:t>simplified</a:t>
            </a:r>
            <a:r>
              <a:rPr spc="-35" dirty="0"/>
              <a:t> </a:t>
            </a:r>
            <a:r>
              <a:rPr dirty="0"/>
              <a:t>by</a:t>
            </a:r>
            <a:r>
              <a:rPr spc="-70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formulas</a:t>
            </a:r>
            <a:r>
              <a:rPr spc="-60" dirty="0"/>
              <a:t> </a:t>
            </a:r>
            <a:r>
              <a:rPr dirty="0"/>
              <a:t>such</a:t>
            </a:r>
            <a:r>
              <a:rPr spc="-60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those</a:t>
            </a:r>
            <a:r>
              <a:rPr spc="-60" dirty="0"/>
              <a:t> </a:t>
            </a:r>
            <a:r>
              <a:rPr spc="-10" dirty="0"/>
              <a:t>developed earlier.</a:t>
            </a: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instance,</a:t>
            </a:r>
            <a:r>
              <a:rPr spc="-40" dirty="0"/>
              <a:t> </a:t>
            </a:r>
            <a:r>
              <a:rPr dirty="0"/>
              <a:t>according</a:t>
            </a:r>
            <a:r>
              <a:rPr spc="-3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formula</a:t>
            </a:r>
            <a:r>
              <a:rPr spc="-5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sum</a:t>
            </a:r>
            <a:r>
              <a:rPr spc="-4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50" dirty="0"/>
              <a:t>a </a:t>
            </a:r>
            <a:r>
              <a:rPr dirty="0"/>
              <a:t>geometric</a:t>
            </a:r>
            <a:r>
              <a:rPr spc="-70" dirty="0"/>
              <a:t> </a:t>
            </a:r>
            <a:r>
              <a:rPr dirty="0"/>
              <a:t>sequence</a:t>
            </a:r>
            <a:r>
              <a:rPr spc="-5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initial</a:t>
            </a:r>
            <a:r>
              <a:rPr spc="-55" dirty="0"/>
              <a:t> </a:t>
            </a:r>
            <a:r>
              <a:rPr dirty="0"/>
              <a:t>term</a:t>
            </a:r>
            <a:r>
              <a:rPr spc="-80" dirty="0"/>
              <a:t> </a:t>
            </a:r>
            <a:r>
              <a:rPr dirty="0"/>
              <a:t>1</a:t>
            </a:r>
            <a:r>
              <a:rPr spc="-85" dirty="0"/>
              <a:t> </a:t>
            </a:r>
            <a:r>
              <a:rPr dirty="0"/>
              <a:t>(Theorem</a:t>
            </a:r>
            <a:r>
              <a:rPr spc="-65" dirty="0"/>
              <a:t> </a:t>
            </a:r>
            <a:r>
              <a:rPr dirty="0"/>
              <a:t>5.2.3),</a:t>
            </a:r>
            <a:r>
              <a:rPr spc="-85" dirty="0"/>
              <a:t> </a:t>
            </a:r>
            <a:r>
              <a:rPr spc="-25" dirty="0"/>
              <a:t>for </a:t>
            </a:r>
            <a:r>
              <a:rPr dirty="0"/>
              <a:t>each</a:t>
            </a:r>
            <a:r>
              <a:rPr spc="-35" dirty="0"/>
              <a:t> </a:t>
            </a:r>
            <a:r>
              <a:rPr dirty="0"/>
              <a:t>real</a:t>
            </a:r>
            <a:r>
              <a:rPr spc="-45" dirty="0"/>
              <a:t> </a:t>
            </a:r>
            <a:r>
              <a:rPr dirty="0"/>
              <a:t>number</a:t>
            </a:r>
            <a:r>
              <a:rPr spc="-25" dirty="0"/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dirty="0"/>
              <a:t>except</a:t>
            </a:r>
            <a:r>
              <a:rPr spc="-25" dirty="0"/>
              <a:t> 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-50" dirty="0">
                <a:latin typeface="Arial"/>
                <a:cs typeface="Arial"/>
              </a:rPr>
              <a:t> </a:t>
            </a:r>
            <a:r>
              <a:rPr dirty="0"/>
              <a:t>=</a:t>
            </a:r>
            <a:r>
              <a:rPr spc="-50" dirty="0"/>
              <a:t> </a:t>
            </a:r>
            <a:r>
              <a:rPr spc="-25" dirty="0"/>
              <a:t>1,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6413" y="4043887"/>
            <a:ext cx="6119266" cy="5959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161" y="4829292"/>
            <a:ext cx="7649226" cy="16964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56" y="567944"/>
            <a:ext cx="806386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/>
              <a:t>Using</a:t>
            </a:r>
            <a:r>
              <a:rPr sz="2450" spc="-75" dirty="0"/>
              <a:t> </a:t>
            </a:r>
            <a:r>
              <a:rPr sz="2450" dirty="0"/>
              <a:t>Formulas</a:t>
            </a:r>
            <a:r>
              <a:rPr sz="2450" spc="-75" dirty="0"/>
              <a:t> </a:t>
            </a:r>
            <a:r>
              <a:rPr sz="2450" dirty="0"/>
              <a:t>to</a:t>
            </a:r>
            <a:r>
              <a:rPr sz="2450" spc="-95" dirty="0"/>
              <a:t> </a:t>
            </a:r>
            <a:r>
              <a:rPr sz="2450" dirty="0"/>
              <a:t>Simplify</a:t>
            </a:r>
            <a:r>
              <a:rPr sz="2450" spc="-75" dirty="0"/>
              <a:t> </a:t>
            </a:r>
            <a:r>
              <a:rPr sz="2450" dirty="0"/>
              <a:t>Solutions</a:t>
            </a:r>
            <a:r>
              <a:rPr sz="2450" spc="-60" dirty="0"/>
              <a:t> </a:t>
            </a:r>
            <a:r>
              <a:rPr sz="2450" dirty="0"/>
              <a:t>Obtained</a:t>
            </a:r>
            <a:r>
              <a:rPr sz="2450" spc="-70" dirty="0"/>
              <a:t> </a:t>
            </a:r>
            <a:r>
              <a:rPr sz="2450" dirty="0"/>
              <a:t>by</a:t>
            </a:r>
            <a:r>
              <a:rPr sz="2450" spc="-90" dirty="0"/>
              <a:t> </a:t>
            </a:r>
            <a:r>
              <a:rPr sz="2450" spc="-10" dirty="0"/>
              <a:t>Iteration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207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according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spc="-50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integers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(Theorem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5.2.2),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108" y="2917507"/>
            <a:ext cx="5948308" cy="5531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903" y="3989597"/>
            <a:ext cx="7848321" cy="148156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56" y="590804"/>
            <a:ext cx="806894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Example</a:t>
            </a:r>
            <a:r>
              <a:rPr sz="2150" spc="-10" dirty="0"/>
              <a:t> </a:t>
            </a:r>
            <a:r>
              <a:rPr sz="2150" dirty="0"/>
              <a:t>5</a:t>
            </a:r>
            <a:r>
              <a:rPr sz="2150" spc="-25" dirty="0"/>
              <a:t> </a:t>
            </a:r>
            <a:r>
              <a:rPr sz="2150" dirty="0"/>
              <a:t>–</a:t>
            </a:r>
            <a:r>
              <a:rPr sz="2150" spc="-25" dirty="0"/>
              <a:t> </a:t>
            </a:r>
            <a:r>
              <a:rPr sz="2150" i="1" dirty="0">
                <a:latin typeface="Arial"/>
                <a:cs typeface="Arial"/>
              </a:rPr>
              <a:t>An</a:t>
            </a:r>
            <a:r>
              <a:rPr sz="2150" i="1" spc="-10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Explicit</a:t>
            </a:r>
            <a:r>
              <a:rPr sz="2150" i="1" spc="-45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Formula</a:t>
            </a:r>
            <a:r>
              <a:rPr sz="2150" i="1" spc="-10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for</a:t>
            </a:r>
            <a:r>
              <a:rPr sz="2150" i="1" spc="-35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the</a:t>
            </a:r>
            <a:r>
              <a:rPr sz="2150" i="1" spc="-25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Tower</a:t>
            </a:r>
            <a:r>
              <a:rPr sz="2150" i="1" spc="-20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of</a:t>
            </a:r>
            <a:r>
              <a:rPr sz="2150" i="1" spc="-25" dirty="0">
                <a:latin typeface="Arial"/>
                <a:cs typeface="Arial"/>
              </a:rPr>
              <a:t> </a:t>
            </a:r>
            <a:r>
              <a:rPr sz="2150" i="1" dirty="0">
                <a:latin typeface="Arial"/>
                <a:cs typeface="Arial"/>
              </a:rPr>
              <a:t>Hanoi</a:t>
            </a:r>
            <a:r>
              <a:rPr sz="2150" i="1" spc="-25" dirty="0">
                <a:latin typeface="Arial"/>
                <a:cs typeface="Arial"/>
              </a:rPr>
              <a:t> </a:t>
            </a:r>
            <a:r>
              <a:rPr sz="2150" i="1" spc="-10" dirty="0">
                <a:latin typeface="Arial"/>
                <a:cs typeface="Arial"/>
              </a:rPr>
              <a:t>Sequence</a:t>
            </a:r>
            <a:endParaRPr sz="2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064" y="1486917"/>
            <a:ext cx="79667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Hanoi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satisfies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recurrence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relation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3169414"/>
            <a:ext cx="3703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condition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464" y="4486151"/>
            <a:ext cx="8006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iteration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guess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sequence,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simplify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answer.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3656" y="2559826"/>
            <a:ext cx="4227295" cy="2459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3499" y="3873578"/>
            <a:ext cx="845148" cy="21653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518921"/>
            <a:ext cx="1550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By </a:t>
            </a:r>
            <a:r>
              <a:rPr sz="2400" spc="-10" dirty="0">
                <a:latin typeface="Arial"/>
                <a:cs typeface="Arial"/>
              </a:rPr>
              <a:t>iteration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045" y="2077920"/>
            <a:ext cx="824589" cy="2831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337" y="2468616"/>
            <a:ext cx="5724414" cy="9729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036" y="3615787"/>
            <a:ext cx="6173435" cy="8568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283" y="4662916"/>
            <a:ext cx="6726644" cy="9157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810" y="5664865"/>
            <a:ext cx="7275285" cy="79438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6664" y="1486917"/>
            <a:ext cx="8145145" cy="437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58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calculations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5</a:t>
            </a:r>
            <a:r>
              <a:rPr sz="2400" spc="284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sum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successive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powers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baseline="24305" dirty="0">
                <a:latin typeface="Arial"/>
                <a:cs typeface="Arial"/>
              </a:rPr>
              <a:t>0</a:t>
            </a:r>
            <a:r>
              <a:rPr sz="2400" spc="270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going</a:t>
            </a:r>
            <a:r>
              <a:rPr sz="2400" spc="-25" dirty="0">
                <a:latin typeface="Arial"/>
                <a:cs typeface="Arial"/>
              </a:rPr>
              <a:t> up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less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subscript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term.</a:t>
            </a:r>
            <a:endParaRPr sz="2400">
              <a:latin typeface="Arial"/>
              <a:cs typeface="Arial"/>
            </a:endParaRPr>
          </a:p>
          <a:p>
            <a:pPr marL="62865" marR="40640">
              <a:lnSpc>
                <a:spcPct val="100000"/>
              </a:lnSpc>
              <a:spcBef>
                <a:spcPts val="273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pattern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seem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continue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terms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obtained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preceding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 </a:t>
            </a:r>
            <a:r>
              <a:rPr sz="2400" dirty="0">
                <a:latin typeface="Arial"/>
                <a:cs typeface="Arial"/>
              </a:rPr>
              <a:t>multiplying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1;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multiplying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raises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exponent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component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1 </a:t>
            </a:r>
            <a:r>
              <a:rPr sz="2400" dirty="0">
                <a:latin typeface="Arial"/>
                <a:cs typeface="Arial"/>
              </a:rPr>
              <a:t>adds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back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previous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was </a:t>
            </a:r>
            <a:r>
              <a:rPr sz="2400" dirty="0">
                <a:latin typeface="Arial"/>
                <a:cs typeface="Arial"/>
              </a:rPr>
              <a:t>multiplied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2.</a:t>
            </a:r>
            <a:endParaRPr sz="240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  <a:spcBef>
                <a:spcPts val="2735"/>
              </a:spcBef>
            </a:pPr>
            <a:r>
              <a:rPr sz="2400" dirty="0">
                <a:latin typeface="Arial"/>
                <a:cs typeface="Arial"/>
              </a:rPr>
              <a:t>For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instance,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6,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088" y="5951861"/>
            <a:ext cx="8118342" cy="2877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410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Thus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seems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general,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2803654"/>
            <a:ext cx="70199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geometric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sequence </a:t>
            </a:r>
            <a:r>
              <a:rPr sz="2400" dirty="0">
                <a:latin typeface="Arial"/>
                <a:cs typeface="Arial"/>
              </a:rPr>
              <a:t>(Theorem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5.2.3),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9742" y="2086121"/>
            <a:ext cx="4069766" cy="2829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4344" y="5688812"/>
            <a:ext cx="5545407" cy="5543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471" y="3744467"/>
            <a:ext cx="7844300" cy="174650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5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527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Hence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seems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6655" y="2152584"/>
            <a:ext cx="3853495" cy="25498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564" y="3295906"/>
            <a:ext cx="7533640" cy="1184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10540">
              <a:lnSpc>
                <a:spcPct val="100000"/>
              </a:lnSpc>
              <a:spcBef>
                <a:spcPts val="105"/>
              </a:spcBef>
            </a:pPr>
            <a:r>
              <a:rPr sz="3800" dirty="0">
                <a:solidFill>
                  <a:srgbClr val="00ADEE"/>
                </a:solidFill>
              </a:rPr>
              <a:t>Checking</a:t>
            </a:r>
            <a:r>
              <a:rPr sz="3800" spc="-40" dirty="0">
                <a:solidFill>
                  <a:srgbClr val="00ADEE"/>
                </a:solidFill>
              </a:rPr>
              <a:t> </a:t>
            </a:r>
            <a:r>
              <a:rPr sz="3800" dirty="0">
                <a:solidFill>
                  <a:srgbClr val="00ADEE"/>
                </a:solidFill>
              </a:rPr>
              <a:t>the</a:t>
            </a:r>
            <a:r>
              <a:rPr sz="3800" spc="-40" dirty="0">
                <a:solidFill>
                  <a:srgbClr val="00ADEE"/>
                </a:solidFill>
              </a:rPr>
              <a:t> </a:t>
            </a:r>
            <a:r>
              <a:rPr sz="3800" dirty="0">
                <a:solidFill>
                  <a:srgbClr val="00ADEE"/>
                </a:solidFill>
              </a:rPr>
              <a:t>Correctness</a:t>
            </a:r>
            <a:r>
              <a:rPr sz="3800" spc="-65" dirty="0">
                <a:solidFill>
                  <a:srgbClr val="00ADEE"/>
                </a:solidFill>
              </a:rPr>
              <a:t> </a:t>
            </a:r>
            <a:r>
              <a:rPr sz="3800" dirty="0">
                <a:solidFill>
                  <a:srgbClr val="00ADEE"/>
                </a:solidFill>
              </a:rPr>
              <a:t>of</a:t>
            </a:r>
            <a:r>
              <a:rPr sz="3800" spc="-40" dirty="0">
                <a:solidFill>
                  <a:srgbClr val="00ADEE"/>
                </a:solidFill>
              </a:rPr>
              <a:t> </a:t>
            </a:r>
            <a:r>
              <a:rPr sz="3800" spc="-50" dirty="0">
                <a:solidFill>
                  <a:srgbClr val="00ADEE"/>
                </a:solidFill>
              </a:rPr>
              <a:t>a </a:t>
            </a:r>
            <a:r>
              <a:rPr sz="3800" dirty="0">
                <a:solidFill>
                  <a:srgbClr val="00ADEE"/>
                </a:solidFill>
              </a:rPr>
              <a:t>Formula</a:t>
            </a:r>
            <a:r>
              <a:rPr sz="3800" spc="-55" dirty="0">
                <a:solidFill>
                  <a:srgbClr val="00ADEE"/>
                </a:solidFill>
              </a:rPr>
              <a:t> </a:t>
            </a:r>
            <a:r>
              <a:rPr sz="3800" dirty="0">
                <a:solidFill>
                  <a:srgbClr val="00ADEE"/>
                </a:solidFill>
              </a:rPr>
              <a:t>by</a:t>
            </a:r>
            <a:r>
              <a:rPr sz="3800" spc="-50" dirty="0">
                <a:solidFill>
                  <a:srgbClr val="00ADEE"/>
                </a:solidFill>
              </a:rPr>
              <a:t> </a:t>
            </a:r>
            <a:r>
              <a:rPr sz="3800" dirty="0">
                <a:solidFill>
                  <a:srgbClr val="00ADEE"/>
                </a:solidFill>
              </a:rPr>
              <a:t>Mathematical</a:t>
            </a:r>
            <a:r>
              <a:rPr sz="3800" spc="-55" dirty="0">
                <a:solidFill>
                  <a:srgbClr val="00ADEE"/>
                </a:solidFill>
              </a:rPr>
              <a:t> </a:t>
            </a:r>
            <a:r>
              <a:rPr sz="3800" spc="-10" dirty="0">
                <a:solidFill>
                  <a:srgbClr val="00ADEE"/>
                </a:solidFill>
              </a:rPr>
              <a:t>Induction</a:t>
            </a:r>
            <a:endParaRPr sz="38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732" y="590804"/>
            <a:ext cx="803846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/>
              <a:t>Checking</a:t>
            </a:r>
            <a:r>
              <a:rPr sz="2150" spc="-40" dirty="0"/>
              <a:t> </a:t>
            </a:r>
            <a:r>
              <a:rPr sz="2150" dirty="0"/>
              <a:t>the</a:t>
            </a:r>
            <a:r>
              <a:rPr sz="2150" spc="-30" dirty="0"/>
              <a:t> </a:t>
            </a:r>
            <a:r>
              <a:rPr sz="2150" dirty="0"/>
              <a:t>Correctness</a:t>
            </a:r>
            <a:r>
              <a:rPr sz="2150" spc="-55" dirty="0"/>
              <a:t> </a:t>
            </a:r>
            <a:r>
              <a:rPr sz="2150" dirty="0"/>
              <a:t>of</a:t>
            </a:r>
            <a:r>
              <a:rPr sz="2150" spc="-30" dirty="0"/>
              <a:t> </a:t>
            </a:r>
            <a:r>
              <a:rPr sz="2150" dirty="0"/>
              <a:t>a</a:t>
            </a:r>
            <a:r>
              <a:rPr sz="2150" spc="-30" dirty="0"/>
              <a:t> </a:t>
            </a:r>
            <a:r>
              <a:rPr sz="2150" dirty="0"/>
              <a:t>Formula</a:t>
            </a:r>
            <a:r>
              <a:rPr sz="2150" spc="-40" dirty="0"/>
              <a:t> </a:t>
            </a:r>
            <a:r>
              <a:rPr sz="2150" dirty="0"/>
              <a:t>by</a:t>
            </a:r>
            <a:r>
              <a:rPr sz="2150" spc="-40" dirty="0"/>
              <a:t> </a:t>
            </a:r>
            <a:r>
              <a:rPr sz="2150" dirty="0"/>
              <a:t>Mathematical</a:t>
            </a:r>
            <a:r>
              <a:rPr sz="2150" spc="-45" dirty="0"/>
              <a:t> </a:t>
            </a:r>
            <a:r>
              <a:rPr sz="2150" spc="-10" dirty="0"/>
              <a:t>Induction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665720" cy="324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easy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mistake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wrong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formula.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2032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important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confirm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calculations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 </a:t>
            </a:r>
            <a:r>
              <a:rPr sz="2400" dirty="0">
                <a:latin typeface="Arial"/>
                <a:cs typeface="Arial"/>
              </a:rPr>
              <a:t>checking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correctness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formula.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5651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mathematical induction.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2560" marR="5080" indent="-1422400">
              <a:lnSpc>
                <a:spcPct val="100000"/>
              </a:lnSpc>
              <a:spcBef>
                <a:spcPts val="95"/>
              </a:spcBef>
            </a:pPr>
            <a:r>
              <a:rPr sz="1900" dirty="0"/>
              <a:t>Example</a:t>
            </a:r>
            <a:r>
              <a:rPr sz="1900" spc="-15" dirty="0"/>
              <a:t> </a:t>
            </a:r>
            <a:r>
              <a:rPr sz="1900" dirty="0"/>
              <a:t>7</a:t>
            </a:r>
            <a:r>
              <a:rPr sz="1900" spc="-40" dirty="0"/>
              <a:t> </a:t>
            </a:r>
            <a:r>
              <a:rPr sz="1900" dirty="0"/>
              <a:t>–</a:t>
            </a:r>
            <a:r>
              <a:rPr sz="1900" spc="-45" dirty="0"/>
              <a:t> </a:t>
            </a:r>
            <a:r>
              <a:rPr sz="1900" i="1" dirty="0">
                <a:latin typeface="Arial"/>
                <a:cs typeface="Arial"/>
              </a:rPr>
              <a:t>Using</a:t>
            </a:r>
            <a:r>
              <a:rPr sz="1900" i="1" spc="-2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Mathematical Induction</a:t>
            </a:r>
            <a:r>
              <a:rPr sz="1900" i="1" spc="-2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to</a:t>
            </a:r>
            <a:r>
              <a:rPr sz="1900" i="1" spc="-4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Verify</a:t>
            </a:r>
            <a:r>
              <a:rPr sz="1900" i="1" spc="-4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the</a:t>
            </a:r>
            <a:r>
              <a:rPr sz="1900" i="1" spc="-3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Correctness</a:t>
            </a:r>
            <a:r>
              <a:rPr sz="1900" i="1" spc="-1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of</a:t>
            </a:r>
            <a:r>
              <a:rPr sz="1900" i="1" spc="-45" dirty="0">
                <a:latin typeface="Arial"/>
                <a:cs typeface="Arial"/>
              </a:rPr>
              <a:t> </a:t>
            </a:r>
            <a:r>
              <a:rPr sz="1900" i="1" spc="-50" dirty="0">
                <a:latin typeface="Arial"/>
                <a:cs typeface="Arial"/>
              </a:rPr>
              <a:t>a </a:t>
            </a:r>
            <a:r>
              <a:rPr sz="1900" i="1" dirty="0">
                <a:latin typeface="Arial"/>
                <a:cs typeface="Arial"/>
              </a:rPr>
              <a:t>Solution</a:t>
            </a:r>
            <a:r>
              <a:rPr sz="1900" i="1" spc="-1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to</a:t>
            </a:r>
            <a:r>
              <a:rPr sz="1900" i="1" spc="-4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a</a:t>
            </a:r>
            <a:r>
              <a:rPr sz="1900" i="1" spc="-5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Recurrence</a:t>
            </a:r>
            <a:r>
              <a:rPr sz="1900" i="1" spc="-5" dirty="0">
                <a:latin typeface="Arial"/>
                <a:cs typeface="Arial"/>
              </a:rPr>
              <a:t> </a:t>
            </a:r>
            <a:r>
              <a:rPr sz="1900" i="1" spc="-10" dirty="0">
                <a:latin typeface="Arial"/>
                <a:cs typeface="Arial"/>
              </a:rPr>
              <a:t>Relation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940040" cy="434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1883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French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mathematician,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Édouard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Lucas,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invented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puzzle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Hanoi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(La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Tour </a:t>
            </a:r>
            <a:r>
              <a:rPr sz="2400" spc="-10" dirty="0">
                <a:latin typeface="Arial"/>
                <a:cs typeface="Arial"/>
              </a:rPr>
              <a:t>D’Hanoï).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15430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puzzle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consisted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eight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wood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holes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their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centers,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piled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order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decreasing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size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row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three.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37655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Those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played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game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supposed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all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another,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never </a:t>
            </a:r>
            <a:r>
              <a:rPr sz="2400" dirty="0">
                <a:latin typeface="Arial"/>
                <a:cs typeface="Arial"/>
              </a:rPr>
              <a:t>placing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smaller</a:t>
            </a:r>
            <a:r>
              <a:rPr sz="2400" spc="-20" dirty="0">
                <a:latin typeface="Arial"/>
                <a:cs typeface="Arial"/>
              </a:rPr>
              <a:t> one.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6571" y="6415537"/>
            <a:ext cx="279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31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5" y="38099"/>
            <a:ext cx="9054465" cy="1178560"/>
            <a:chOff x="13715" y="38099"/>
            <a:chExt cx="9054465" cy="1178560"/>
          </a:xfrm>
        </p:grpSpPr>
        <p:sp>
          <p:nvSpPr>
            <p:cNvPr id="4" name="object 4"/>
            <p:cNvSpPr/>
            <p:nvPr/>
          </p:nvSpPr>
          <p:spPr>
            <a:xfrm>
              <a:off x="304799" y="3855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5" y="38099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015" y="152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puzzle</a:t>
            </a:r>
            <a:r>
              <a:rPr spc="-45" dirty="0"/>
              <a:t> </a:t>
            </a:r>
            <a:r>
              <a:rPr dirty="0"/>
              <a:t>offered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prize</a:t>
            </a:r>
            <a:r>
              <a:rPr spc="-4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ten</a:t>
            </a:r>
            <a:r>
              <a:rPr spc="-65" dirty="0"/>
              <a:t> </a:t>
            </a:r>
            <a:r>
              <a:rPr dirty="0"/>
              <a:t>thousand</a:t>
            </a:r>
            <a:r>
              <a:rPr spc="-45" dirty="0"/>
              <a:t> </a:t>
            </a:r>
            <a:r>
              <a:rPr dirty="0"/>
              <a:t>francs</a:t>
            </a:r>
            <a:r>
              <a:rPr spc="-65" dirty="0"/>
              <a:t> </a:t>
            </a:r>
            <a:r>
              <a:rPr spc="-10" dirty="0"/>
              <a:t>(about</a:t>
            </a:r>
          </a:p>
          <a:p>
            <a:pPr marL="12700" marR="220345">
              <a:lnSpc>
                <a:spcPct val="100000"/>
              </a:lnSpc>
            </a:pPr>
            <a:r>
              <a:rPr dirty="0"/>
              <a:t>$34,000</a:t>
            </a:r>
            <a:r>
              <a:rPr spc="-50" dirty="0"/>
              <a:t> </a:t>
            </a:r>
            <a:r>
              <a:rPr dirty="0"/>
              <a:t>US</a:t>
            </a:r>
            <a:r>
              <a:rPr spc="-50" dirty="0"/>
              <a:t> </a:t>
            </a:r>
            <a:r>
              <a:rPr dirty="0"/>
              <a:t>today)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anyone</a:t>
            </a:r>
            <a:r>
              <a:rPr spc="-50" dirty="0"/>
              <a:t> </a:t>
            </a:r>
            <a:r>
              <a:rPr dirty="0"/>
              <a:t>who</a:t>
            </a:r>
            <a:r>
              <a:rPr spc="-50" dirty="0"/>
              <a:t> </a:t>
            </a:r>
            <a:r>
              <a:rPr dirty="0"/>
              <a:t>could</a:t>
            </a:r>
            <a:r>
              <a:rPr spc="-35" dirty="0"/>
              <a:t> </a:t>
            </a:r>
            <a:r>
              <a:rPr dirty="0"/>
              <a:t>move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tower</a:t>
            </a:r>
            <a:r>
              <a:rPr spc="-50" dirty="0"/>
              <a:t> </a:t>
            </a:r>
            <a:r>
              <a:rPr spc="-25" dirty="0"/>
              <a:t>of </a:t>
            </a:r>
            <a:r>
              <a:rPr dirty="0"/>
              <a:t>64</a:t>
            </a:r>
            <a:r>
              <a:rPr spc="-50" dirty="0"/>
              <a:t> </a:t>
            </a:r>
            <a:r>
              <a:rPr dirty="0"/>
              <a:t>disks</a:t>
            </a:r>
            <a:r>
              <a:rPr spc="-35" dirty="0"/>
              <a:t> </a:t>
            </a:r>
            <a:r>
              <a:rPr dirty="0"/>
              <a:t>by</a:t>
            </a:r>
            <a:r>
              <a:rPr spc="-55" dirty="0"/>
              <a:t> </a:t>
            </a:r>
            <a:r>
              <a:rPr dirty="0"/>
              <a:t>hand</a:t>
            </a:r>
            <a:r>
              <a:rPr spc="-40" dirty="0"/>
              <a:t> </a:t>
            </a:r>
            <a:r>
              <a:rPr dirty="0"/>
              <a:t>while</a:t>
            </a:r>
            <a:r>
              <a:rPr spc="-15" dirty="0"/>
              <a:t> </a:t>
            </a:r>
            <a:r>
              <a:rPr dirty="0"/>
              <a:t>following</a:t>
            </a:r>
            <a:r>
              <a:rPr spc="-1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rules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game.</a:t>
            </a: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pc="-10" dirty="0"/>
          </a:p>
          <a:p>
            <a:pPr marL="12700" marR="5080">
              <a:lnSpc>
                <a:spcPct val="100000"/>
              </a:lnSpc>
            </a:pPr>
            <a:r>
              <a:rPr dirty="0"/>
              <a:t>(See</a:t>
            </a:r>
            <a:r>
              <a:rPr spc="-65" dirty="0"/>
              <a:t> </a:t>
            </a:r>
            <a:r>
              <a:rPr dirty="0"/>
              <a:t>Figure</a:t>
            </a:r>
            <a:r>
              <a:rPr spc="-55" dirty="0"/>
              <a:t> </a:t>
            </a:r>
            <a:r>
              <a:rPr dirty="0"/>
              <a:t>5.6.2)</a:t>
            </a:r>
            <a:r>
              <a:rPr spc="-70" dirty="0"/>
              <a:t> </a:t>
            </a:r>
            <a:r>
              <a:rPr dirty="0"/>
              <a:t>Assuming</a:t>
            </a:r>
            <a:r>
              <a:rPr spc="-55" dirty="0"/>
              <a:t> </a:t>
            </a:r>
            <a:r>
              <a:rPr dirty="0"/>
              <a:t>that</a:t>
            </a:r>
            <a:r>
              <a:rPr spc="-70" dirty="0"/>
              <a:t> </a:t>
            </a:r>
            <a:r>
              <a:rPr dirty="0"/>
              <a:t>you</a:t>
            </a:r>
            <a:r>
              <a:rPr spc="-65" dirty="0"/>
              <a:t> </a:t>
            </a:r>
            <a:r>
              <a:rPr dirty="0"/>
              <a:t>transferred</a:t>
            </a:r>
            <a:r>
              <a:rPr spc="-7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disks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efficiently</a:t>
            </a:r>
            <a:r>
              <a:rPr spc="-60" dirty="0"/>
              <a:t>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possible,</a:t>
            </a:r>
            <a:r>
              <a:rPr spc="-35" dirty="0"/>
              <a:t> </a:t>
            </a:r>
            <a:r>
              <a:rPr dirty="0"/>
              <a:t>how</a:t>
            </a:r>
            <a:r>
              <a:rPr spc="-55" dirty="0"/>
              <a:t> </a:t>
            </a:r>
            <a:r>
              <a:rPr dirty="0"/>
              <a:t>many</a:t>
            </a:r>
            <a:r>
              <a:rPr spc="-75" dirty="0"/>
              <a:t> </a:t>
            </a:r>
            <a:r>
              <a:rPr dirty="0"/>
              <a:t>moves</a:t>
            </a:r>
            <a:r>
              <a:rPr spc="-55" dirty="0"/>
              <a:t> </a:t>
            </a:r>
            <a:r>
              <a:rPr dirty="0"/>
              <a:t>would</a:t>
            </a:r>
            <a:r>
              <a:rPr spc="-45" dirty="0"/>
              <a:t> </a:t>
            </a:r>
            <a:r>
              <a:rPr spc="-25" dirty="0"/>
              <a:t>be </a:t>
            </a:r>
            <a:r>
              <a:rPr dirty="0"/>
              <a:t>required</a:t>
            </a:r>
            <a:r>
              <a:rPr spc="-3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win</a:t>
            </a:r>
            <a:r>
              <a:rPr spc="-2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prize?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6643" y="4526026"/>
            <a:ext cx="3227134" cy="176352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42667" y="6429253"/>
            <a:ext cx="875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5.6.2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4465" marR="5080" indent="-1422400">
              <a:lnSpc>
                <a:spcPct val="100000"/>
              </a:lnSpc>
              <a:spcBef>
                <a:spcPts val="95"/>
              </a:spcBef>
            </a:pPr>
            <a:r>
              <a:rPr sz="1900" dirty="0"/>
              <a:t>Example</a:t>
            </a:r>
            <a:r>
              <a:rPr sz="1900" spc="-25" dirty="0"/>
              <a:t> </a:t>
            </a:r>
            <a:r>
              <a:rPr sz="1900" dirty="0"/>
              <a:t>7</a:t>
            </a:r>
            <a:r>
              <a:rPr sz="1900" spc="-40" dirty="0"/>
              <a:t> </a:t>
            </a:r>
            <a:r>
              <a:rPr sz="1900" dirty="0"/>
              <a:t>–</a:t>
            </a:r>
            <a:r>
              <a:rPr sz="1900" spc="-55" dirty="0"/>
              <a:t> </a:t>
            </a:r>
            <a:r>
              <a:rPr sz="1900" i="1" dirty="0">
                <a:latin typeface="Arial"/>
                <a:cs typeface="Arial"/>
              </a:rPr>
              <a:t>Using</a:t>
            </a:r>
            <a:r>
              <a:rPr sz="1900" i="1" spc="-3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Mathematical Induction</a:t>
            </a:r>
            <a:r>
              <a:rPr sz="1900" i="1" spc="-3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to</a:t>
            </a:r>
            <a:r>
              <a:rPr sz="1900" i="1" spc="-5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Verify</a:t>
            </a:r>
            <a:r>
              <a:rPr sz="1900" i="1" spc="-4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the</a:t>
            </a:r>
            <a:r>
              <a:rPr sz="1900" i="1" spc="-4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Correctness</a:t>
            </a:r>
            <a:r>
              <a:rPr sz="1900" i="1" spc="-2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of</a:t>
            </a:r>
            <a:r>
              <a:rPr sz="1900" i="1" spc="-50" dirty="0">
                <a:latin typeface="Arial"/>
                <a:cs typeface="Arial"/>
              </a:rPr>
              <a:t> a </a:t>
            </a:r>
            <a:r>
              <a:rPr sz="1900" i="1" dirty="0">
                <a:latin typeface="Arial"/>
                <a:cs typeface="Arial"/>
              </a:rPr>
              <a:t>Solution</a:t>
            </a:r>
            <a:r>
              <a:rPr sz="1900" i="1" spc="-1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to</a:t>
            </a:r>
            <a:r>
              <a:rPr sz="1900" i="1" spc="-4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a</a:t>
            </a:r>
            <a:r>
              <a:rPr sz="1900" i="1" spc="-5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Recurrence</a:t>
            </a:r>
            <a:r>
              <a:rPr sz="1900" i="1" spc="-5" dirty="0">
                <a:latin typeface="Arial"/>
                <a:cs typeface="Arial"/>
              </a:rPr>
              <a:t> </a:t>
            </a:r>
            <a:r>
              <a:rPr sz="1900" i="1" spc="-10" dirty="0">
                <a:latin typeface="Arial"/>
                <a:cs typeface="Arial"/>
              </a:rPr>
              <a:t>Relation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64" y="1486917"/>
            <a:ext cx="8041640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solution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Let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minimum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transfer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disks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pole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another.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Then,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464" y="5802888"/>
            <a:ext cx="7465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Use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mathematical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induction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 </a:t>
            </a:r>
            <a:r>
              <a:rPr sz="2400" spc="-10" dirty="0">
                <a:latin typeface="Arial"/>
                <a:cs typeface="Arial"/>
              </a:rPr>
              <a:t>correct.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4780" y="3693930"/>
            <a:ext cx="5071861" cy="168908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4465" marR="5080" indent="-1422400">
              <a:lnSpc>
                <a:spcPct val="100000"/>
              </a:lnSpc>
              <a:spcBef>
                <a:spcPts val="95"/>
              </a:spcBef>
            </a:pPr>
            <a:r>
              <a:rPr sz="1900" dirty="0"/>
              <a:t>Example</a:t>
            </a:r>
            <a:r>
              <a:rPr sz="1900" spc="-25" dirty="0"/>
              <a:t> </a:t>
            </a:r>
            <a:r>
              <a:rPr sz="1900" dirty="0"/>
              <a:t>7</a:t>
            </a:r>
            <a:r>
              <a:rPr sz="1900" spc="-40" dirty="0"/>
              <a:t> </a:t>
            </a:r>
            <a:r>
              <a:rPr sz="1900" dirty="0"/>
              <a:t>–</a:t>
            </a:r>
            <a:r>
              <a:rPr sz="1900" spc="-55" dirty="0"/>
              <a:t> </a:t>
            </a:r>
            <a:r>
              <a:rPr sz="1900" i="1" dirty="0">
                <a:latin typeface="Arial"/>
                <a:cs typeface="Arial"/>
              </a:rPr>
              <a:t>Using</a:t>
            </a:r>
            <a:r>
              <a:rPr sz="1900" i="1" spc="-3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Mathematical Induction</a:t>
            </a:r>
            <a:r>
              <a:rPr sz="1900" i="1" spc="-3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to</a:t>
            </a:r>
            <a:r>
              <a:rPr sz="1900" i="1" spc="-5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Verify</a:t>
            </a:r>
            <a:r>
              <a:rPr sz="1900" i="1" spc="-4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the</a:t>
            </a:r>
            <a:r>
              <a:rPr sz="1900" i="1" spc="-4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Correctness</a:t>
            </a:r>
            <a:r>
              <a:rPr sz="1900" i="1" spc="-2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of</a:t>
            </a:r>
            <a:r>
              <a:rPr sz="1900" i="1" spc="-50" dirty="0">
                <a:latin typeface="Arial"/>
                <a:cs typeface="Arial"/>
              </a:rPr>
              <a:t> a </a:t>
            </a:r>
            <a:r>
              <a:rPr sz="1900" i="1" dirty="0">
                <a:latin typeface="Arial"/>
                <a:cs typeface="Arial"/>
              </a:rPr>
              <a:t>Solution</a:t>
            </a:r>
            <a:r>
              <a:rPr sz="1900" i="1" spc="-1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to</a:t>
            </a:r>
            <a:r>
              <a:rPr sz="1900" i="1" spc="-45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a</a:t>
            </a:r>
            <a:r>
              <a:rPr sz="1900" i="1" spc="-50" dirty="0">
                <a:latin typeface="Arial"/>
                <a:cs typeface="Arial"/>
              </a:rPr>
              <a:t> </a:t>
            </a:r>
            <a:r>
              <a:rPr sz="1900" i="1" dirty="0">
                <a:latin typeface="Arial"/>
                <a:cs typeface="Arial"/>
              </a:rPr>
              <a:t>Recurrence</a:t>
            </a:r>
            <a:r>
              <a:rPr sz="1900" i="1" spc="-5" dirty="0">
                <a:latin typeface="Arial"/>
                <a:cs typeface="Arial"/>
              </a:rPr>
              <a:t> </a:t>
            </a:r>
            <a:r>
              <a:rPr sz="1900" i="1" spc="-10" dirty="0">
                <a:latin typeface="Arial"/>
                <a:cs typeface="Arial"/>
              </a:rPr>
              <a:t>Relation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7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8004809" cy="273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correctness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recursively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sequence?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numbers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satisfies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certain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recurrence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initial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condition,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satisfies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proposed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formula.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case,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statement: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2447" y="4521867"/>
            <a:ext cx="5067704" cy="16928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7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064" y="1413765"/>
            <a:ext cx="8028305" cy="16351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Arial"/>
                <a:cs typeface="Arial"/>
              </a:rPr>
              <a:t>Proof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Correctness:</a:t>
            </a:r>
            <a:endParaRPr sz="24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Let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specifying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spc="292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baseline="-20833" dirty="0">
                <a:latin typeface="Arial"/>
                <a:cs typeface="Arial"/>
              </a:rPr>
              <a:t>k</a:t>
            </a:r>
            <a:r>
              <a:rPr sz="2400" i="1" spc="30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baseline="-20833" dirty="0">
                <a:latin typeface="Arial"/>
                <a:cs typeface="Arial"/>
              </a:rPr>
              <a:t>k</a:t>
            </a:r>
            <a:r>
              <a:rPr sz="2400" baseline="-20833" dirty="0">
                <a:latin typeface="Arial"/>
                <a:cs typeface="Arial"/>
              </a:rPr>
              <a:t>+1</a:t>
            </a:r>
            <a:r>
              <a:rPr sz="2400" spc="322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2,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let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property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equation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3974087"/>
            <a:ext cx="7379334" cy="207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mathematical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induction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all </a:t>
            </a:r>
            <a:r>
              <a:rPr sz="2400" dirty="0">
                <a:latin typeface="Arial"/>
                <a:cs typeface="Arial"/>
              </a:rPr>
              <a:t>integers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1,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true.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Show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(1)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true: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establish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(1),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7227" y="3499103"/>
            <a:ext cx="2494788" cy="266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8537" y="6175967"/>
            <a:ext cx="2503365" cy="27937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7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420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But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left-</a:t>
            </a:r>
            <a:r>
              <a:rPr sz="2400" dirty="0">
                <a:latin typeface="Arial"/>
                <a:cs typeface="Arial"/>
              </a:rPr>
              <a:t>hand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side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(1)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2803654"/>
            <a:ext cx="444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right-</a:t>
            </a:r>
            <a:r>
              <a:rPr sz="2400" dirty="0">
                <a:latin typeface="Arial"/>
                <a:cs typeface="Arial"/>
              </a:rPr>
              <a:t>hand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side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(1)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464" y="4120391"/>
            <a:ext cx="7565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Thus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sides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(1)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same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quantity,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hence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(1)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true.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5529" y="2298116"/>
            <a:ext cx="770537" cy="2211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1351" y="2356103"/>
            <a:ext cx="2726851" cy="2255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98062" y="3507473"/>
            <a:ext cx="2141762" cy="24272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7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342505" cy="419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Show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all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integers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k</a:t>
            </a:r>
            <a:r>
              <a:rPr sz="2400" b="1" i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1,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if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(</a:t>
            </a:r>
            <a:r>
              <a:rPr sz="2400" b="1" i="1" dirty="0">
                <a:latin typeface="Arial"/>
                <a:cs typeface="Arial"/>
              </a:rPr>
              <a:t>k</a:t>
            </a:r>
            <a:r>
              <a:rPr sz="2400" b="1" dirty="0">
                <a:latin typeface="Arial"/>
                <a:cs typeface="Arial"/>
              </a:rPr>
              <a:t>)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true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then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i="1" dirty="0"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(</a:t>
            </a:r>
            <a:r>
              <a:rPr sz="2400" b="1" i="1" dirty="0">
                <a:latin typeface="Arial"/>
                <a:cs typeface="Arial"/>
              </a:rPr>
              <a:t>k</a:t>
            </a:r>
            <a:r>
              <a:rPr sz="2400" b="1" i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+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1)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also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true: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[Suppose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true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for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particular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but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arbitrarily </a:t>
            </a:r>
            <a:r>
              <a:rPr sz="2400" i="1" dirty="0">
                <a:latin typeface="Arial"/>
                <a:cs typeface="Arial"/>
              </a:rPr>
              <a:t>chosen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integer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1.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is:]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Suppose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[We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must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show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1)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true.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is:]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must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710" y="4276692"/>
            <a:ext cx="1330865" cy="2675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1741" y="4272483"/>
            <a:ext cx="1330991" cy="3540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3579" y="6030387"/>
            <a:ext cx="1779877" cy="2794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68511" y="6126276"/>
            <a:ext cx="802860" cy="14996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7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4707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But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left-</a:t>
            </a:r>
            <a:r>
              <a:rPr sz="2400" dirty="0">
                <a:latin typeface="Arial"/>
                <a:cs typeface="Arial"/>
              </a:rPr>
              <a:t>hand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side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1)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4998216"/>
            <a:ext cx="780478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which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equals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right-</a:t>
            </a:r>
            <a:r>
              <a:rPr sz="2400" dirty="0">
                <a:latin typeface="Arial"/>
                <a:cs typeface="Arial"/>
              </a:rPr>
              <a:t>hand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side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1).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[Since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the </a:t>
            </a:r>
            <a:r>
              <a:rPr sz="2400" i="1" dirty="0">
                <a:latin typeface="Arial"/>
                <a:cs typeface="Arial"/>
              </a:rPr>
              <a:t>basis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and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inductive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steps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have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been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proved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it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follows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by </a:t>
            </a:r>
            <a:r>
              <a:rPr sz="2400" i="1" dirty="0">
                <a:latin typeface="Arial"/>
                <a:cs typeface="Arial"/>
              </a:rPr>
              <a:t>mathematical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induction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given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formula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holds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for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all </a:t>
            </a:r>
            <a:r>
              <a:rPr sz="2400" i="1" dirty="0">
                <a:latin typeface="Arial"/>
                <a:cs typeface="Arial"/>
              </a:rPr>
              <a:t>integers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Symbol"/>
                <a:cs typeface="Symbol"/>
              </a:rPr>
              <a:t>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1.</a:t>
            </a:r>
            <a:r>
              <a:rPr sz="2400" i="1" spc="-2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850" y="2069496"/>
            <a:ext cx="2440604" cy="2416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8355" y="2605626"/>
            <a:ext cx="1078890" cy="2175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9786" y="3137872"/>
            <a:ext cx="1617790" cy="2633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8102" y="3744372"/>
            <a:ext cx="1534385" cy="23752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8116" y="4359689"/>
            <a:ext cx="1107354" cy="21695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30139" y="2144201"/>
            <a:ext cx="2449609" cy="17532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30136" y="3250234"/>
            <a:ext cx="3347249" cy="17538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34295" y="3781805"/>
            <a:ext cx="3879669" cy="20535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83607" y="4408931"/>
            <a:ext cx="1231802" cy="20043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1405" y="3295906"/>
            <a:ext cx="628396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0" marR="5080" indent="-870585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00ADEE"/>
                </a:solidFill>
              </a:rPr>
              <a:t>Discovering</a:t>
            </a:r>
            <a:r>
              <a:rPr spc="-13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That</a:t>
            </a:r>
            <a:r>
              <a:rPr spc="-6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an</a:t>
            </a:r>
            <a:r>
              <a:rPr spc="-75" dirty="0">
                <a:solidFill>
                  <a:srgbClr val="00ADEE"/>
                </a:solidFill>
              </a:rPr>
              <a:t> </a:t>
            </a:r>
            <a:r>
              <a:rPr spc="-10" dirty="0">
                <a:solidFill>
                  <a:srgbClr val="00ADEE"/>
                </a:solidFill>
              </a:rPr>
              <a:t>Explicit </a:t>
            </a:r>
            <a:r>
              <a:rPr dirty="0">
                <a:solidFill>
                  <a:srgbClr val="00ADEE"/>
                </a:solidFill>
              </a:rPr>
              <a:t>Formula</a:t>
            </a:r>
            <a:r>
              <a:rPr spc="-55" dirty="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Is</a:t>
            </a:r>
            <a:r>
              <a:rPr spc="-90" dirty="0">
                <a:solidFill>
                  <a:srgbClr val="00ADEE"/>
                </a:solidFill>
              </a:rPr>
              <a:t> </a:t>
            </a:r>
            <a:r>
              <a:rPr spc="-10" dirty="0">
                <a:solidFill>
                  <a:srgbClr val="00ADEE"/>
                </a:solidFill>
              </a:rPr>
              <a:t>Incorrect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02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Discovering</a:t>
            </a:r>
            <a:r>
              <a:rPr sz="2900" spc="-60" dirty="0"/>
              <a:t> </a:t>
            </a:r>
            <a:r>
              <a:rPr sz="2900" dirty="0"/>
              <a:t>That</a:t>
            </a:r>
            <a:r>
              <a:rPr sz="2900" spc="-45" dirty="0"/>
              <a:t> </a:t>
            </a:r>
            <a:r>
              <a:rPr sz="2900" dirty="0"/>
              <a:t>an</a:t>
            </a:r>
            <a:r>
              <a:rPr sz="2900" spc="-20" dirty="0"/>
              <a:t> </a:t>
            </a:r>
            <a:r>
              <a:rPr sz="2900" dirty="0"/>
              <a:t>Explicit</a:t>
            </a:r>
            <a:r>
              <a:rPr sz="2900" spc="-35" dirty="0"/>
              <a:t> </a:t>
            </a:r>
            <a:r>
              <a:rPr sz="2900" dirty="0"/>
              <a:t>Formula</a:t>
            </a:r>
            <a:r>
              <a:rPr sz="2900" spc="-60" dirty="0"/>
              <a:t> </a:t>
            </a:r>
            <a:r>
              <a:rPr sz="2900" dirty="0"/>
              <a:t>Is</a:t>
            </a:r>
            <a:r>
              <a:rPr sz="2900" spc="-25" dirty="0"/>
              <a:t> </a:t>
            </a:r>
            <a:r>
              <a:rPr sz="2900" spc="-10" dirty="0"/>
              <a:t>Incorrect</a:t>
            </a:r>
            <a:endParaRPr sz="29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80238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next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example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trying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verify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mathematical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induction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reveal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mistake.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Example</a:t>
            </a:r>
            <a:r>
              <a:rPr sz="1800" spc="-20" dirty="0"/>
              <a:t> </a:t>
            </a:r>
            <a:r>
              <a:rPr sz="1800" dirty="0"/>
              <a:t>8</a:t>
            </a:r>
            <a:r>
              <a:rPr sz="1800" spc="-30" dirty="0"/>
              <a:t> </a:t>
            </a:r>
            <a:r>
              <a:rPr sz="1800" dirty="0"/>
              <a:t>–</a:t>
            </a:r>
            <a:r>
              <a:rPr sz="1800" spc="-30" dirty="0"/>
              <a:t> </a:t>
            </a:r>
            <a:r>
              <a:rPr sz="1800" i="1" dirty="0">
                <a:latin typeface="Arial"/>
                <a:cs typeface="Arial"/>
              </a:rPr>
              <a:t>Using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Verification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by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Mathematical</a:t>
            </a:r>
            <a:r>
              <a:rPr sz="1800" i="1" spc="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Induction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to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Find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Mistake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064" y="1486917"/>
            <a:ext cx="7235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064" y="3681479"/>
            <a:ext cx="7188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Suppose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calculations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suggest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. </a:t>
            </a:r>
            <a:r>
              <a:rPr sz="2400" dirty="0">
                <a:latin typeface="Arial"/>
                <a:cs typeface="Arial"/>
              </a:rPr>
              <a:t>satisfies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explicit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formula: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464" y="5802888"/>
            <a:ext cx="3108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correct?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4132" y="2413928"/>
            <a:ext cx="4369164" cy="2424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2503" y="3050639"/>
            <a:ext cx="754169" cy="2248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7503" y="5024627"/>
            <a:ext cx="4075176" cy="28346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8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6664" y="1486917"/>
            <a:ext cx="8067040" cy="324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3175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Start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mathematical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induction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see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develops.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63500" marR="5588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proposed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passes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step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inductive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trouble,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hand,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spc="24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0" dirty="0">
                <a:latin typeface="Arial"/>
                <a:cs typeface="Arial"/>
              </a:rPr>
              <a:t> 1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definition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hand,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baseline="24305" dirty="0">
                <a:latin typeface="Arial"/>
                <a:cs typeface="Arial"/>
              </a:rPr>
              <a:t>0</a:t>
            </a:r>
            <a:r>
              <a:rPr sz="2400" spc="27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0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also.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inductive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step,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suppose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5" y="5656584"/>
            <a:ext cx="3923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770" y="4986527"/>
            <a:ext cx="4158278" cy="3338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5146" y="5098999"/>
            <a:ext cx="2383094" cy="1766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82439" y="6180156"/>
            <a:ext cx="2420496" cy="30068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8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064" y="1486917"/>
            <a:ext cx="78898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</a:t>
            </a:r>
            <a:r>
              <a:rPr sz="2400" i="1" baseline="-20833" dirty="0">
                <a:latin typeface="Arial"/>
                <a:cs typeface="Arial"/>
              </a:rPr>
              <a:t>k</a:t>
            </a:r>
            <a:r>
              <a:rPr sz="2400" baseline="-20833" dirty="0">
                <a:latin typeface="Arial"/>
                <a:cs typeface="Arial"/>
              </a:rPr>
              <a:t>+1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substitute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recurrence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relation,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inductive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hypothesis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4" y="4851911"/>
            <a:ext cx="77698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finish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verification,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therefore,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465" y="2825839"/>
            <a:ext cx="2157426" cy="2465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73324" y="2900883"/>
            <a:ext cx="1900557" cy="1707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5351" y="3424427"/>
            <a:ext cx="2386583" cy="3010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57384" y="3511652"/>
            <a:ext cx="3346424" cy="17568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72211" y="4159300"/>
            <a:ext cx="1879635" cy="24662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65701" y="4234433"/>
            <a:ext cx="1214065" cy="17183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73781" y="5597538"/>
            <a:ext cx="3462799" cy="28820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8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464" y="1486917"/>
            <a:ext cx="7617459" cy="3390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Now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equivalent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which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equivalent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240000"/>
              </a:lnSpc>
              <a:spcBef>
                <a:spcPts val="1440"/>
              </a:spcBef>
            </a:pPr>
            <a:r>
              <a:rPr sz="2400" dirty="0">
                <a:latin typeface="Arial"/>
                <a:cs typeface="Arial"/>
              </a:rPr>
              <a:t>But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false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since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any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nonnegative</a:t>
            </a:r>
            <a:r>
              <a:rPr sz="2400" spc="-10" dirty="0">
                <a:latin typeface="Arial"/>
                <a:cs typeface="Arial"/>
              </a:rPr>
              <a:t> integer. </a:t>
            </a:r>
            <a:r>
              <a:rPr sz="2400" dirty="0">
                <a:latin typeface="Arial"/>
                <a:cs typeface="Arial"/>
              </a:rPr>
              <a:t>Observe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0,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6715" y="2090378"/>
            <a:ext cx="736909" cy="191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0094" y="2073655"/>
            <a:ext cx="3347379" cy="2124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2197" y="3178648"/>
            <a:ext cx="611768" cy="1924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7620" y="3240785"/>
            <a:ext cx="2049911" cy="1760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35856" y="5277852"/>
            <a:ext cx="3999788" cy="27528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8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064" y="1486917"/>
            <a:ext cx="77419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Thus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However,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064" y="3352294"/>
            <a:ext cx="7390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So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c</a:t>
            </a:r>
            <a:r>
              <a:rPr sz="2400" spc="-37" baseline="-20833" dirty="0">
                <a:latin typeface="Arial"/>
                <a:cs typeface="Arial"/>
              </a:rPr>
              <a:t>2</a:t>
            </a:r>
            <a:r>
              <a:rPr sz="2400" spc="-25" dirty="0">
                <a:latin typeface="Arial"/>
                <a:cs typeface="Arial"/>
              </a:rPr>
              <a:t>. </a:t>
            </a:r>
            <a:r>
              <a:rPr sz="2400" dirty="0">
                <a:latin typeface="Arial"/>
                <a:cs typeface="Arial"/>
              </a:rPr>
              <a:t>Hence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sequence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</a:t>
            </a:r>
            <a:r>
              <a:rPr sz="2400" baseline="-20833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satisfy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proposed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formula.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0830" y="8696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cont’d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935" y="2668064"/>
            <a:ext cx="5276352" cy="275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02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/>
              <a:t>Discovering</a:t>
            </a:r>
            <a:r>
              <a:rPr sz="2900" spc="-60" dirty="0"/>
              <a:t> </a:t>
            </a:r>
            <a:r>
              <a:rPr sz="2900" dirty="0"/>
              <a:t>That</a:t>
            </a:r>
            <a:r>
              <a:rPr sz="2900" spc="-45" dirty="0"/>
              <a:t> </a:t>
            </a:r>
            <a:r>
              <a:rPr sz="2900" dirty="0"/>
              <a:t>an</a:t>
            </a:r>
            <a:r>
              <a:rPr sz="2900" spc="-20" dirty="0"/>
              <a:t> </a:t>
            </a:r>
            <a:r>
              <a:rPr sz="2900" dirty="0"/>
              <a:t>Explicit</a:t>
            </a:r>
            <a:r>
              <a:rPr sz="2900" spc="-35" dirty="0"/>
              <a:t> </a:t>
            </a:r>
            <a:r>
              <a:rPr sz="2900" dirty="0"/>
              <a:t>Formula</a:t>
            </a:r>
            <a:r>
              <a:rPr sz="2900" spc="-60" dirty="0"/>
              <a:t> </a:t>
            </a:r>
            <a:r>
              <a:rPr sz="2900" dirty="0"/>
              <a:t>Is</a:t>
            </a:r>
            <a:r>
              <a:rPr sz="2900" spc="-25" dirty="0"/>
              <a:t> </a:t>
            </a:r>
            <a:r>
              <a:rPr sz="2900" spc="-10" dirty="0"/>
              <a:t>Incorrect</a:t>
            </a:r>
            <a:endParaRPr sz="29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215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86917"/>
            <a:ext cx="77876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Once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found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proposed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false,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you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look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back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calculations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you </a:t>
            </a:r>
            <a:r>
              <a:rPr sz="2400" dirty="0">
                <a:latin typeface="Arial"/>
                <a:cs typeface="Arial"/>
              </a:rPr>
              <a:t>made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mistake,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again.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2298</Words>
  <Application>Microsoft Office PowerPoint</Application>
  <PresentationFormat>On-screen Show (4:3)</PresentationFormat>
  <Paragraphs>246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Arial</vt:lpstr>
      <vt:lpstr>Noto Sans Symbols2</vt:lpstr>
      <vt:lpstr>Symbol</vt:lpstr>
      <vt:lpstr>Times New Roman</vt:lpstr>
      <vt:lpstr>Office Theme</vt:lpstr>
      <vt:lpstr>CHAPTER 5</vt:lpstr>
      <vt:lpstr>PowerPoint Presentation</vt:lpstr>
      <vt:lpstr>Solving Recurrence Relations by Iteration</vt:lpstr>
      <vt:lpstr>The Method of Iteration</vt:lpstr>
      <vt:lpstr>The Method of Iteration</vt:lpstr>
      <vt:lpstr>Example 1 – Finding an Explicit Formula</vt:lpstr>
      <vt:lpstr>Example 1 – Solution</vt:lpstr>
      <vt:lpstr>Example 1 – Solution</vt:lpstr>
      <vt:lpstr>Example 1 – Solution</vt:lpstr>
      <vt:lpstr>Example 1 – Solution</vt:lpstr>
      <vt:lpstr>Example 1 – Solution</vt:lpstr>
      <vt:lpstr>Example 1 – Solution</vt:lpstr>
      <vt:lpstr>The Method of Iteration</vt:lpstr>
      <vt:lpstr>Example 2 – An Arithmetic Sequence</vt:lpstr>
      <vt:lpstr>Example 2 – Solution</vt:lpstr>
      <vt:lpstr>Example 2 – Solution</vt:lpstr>
      <vt:lpstr>The Method of Iteration</vt:lpstr>
      <vt:lpstr>The Method of Iteration</vt:lpstr>
      <vt:lpstr>The Method of Iteration</vt:lpstr>
      <vt:lpstr>Using Formulas to Simplify Solutions Obtained by Iteration</vt:lpstr>
      <vt:lpstr>Using Formulas to Simplify Solutions Obtained by Iteration</vt:lpstr>
      <vt:lpstr>Using Formulas to Simplify Solutions Obtained by Iteration</vt:lpstr>
      <vt:lpstr>Example 5 – An Explicit Formula for the Tower of Hanoi Sequence</vt:lpstr>
      <vt:lpstr>Example 5 – Solution</vt:lpstr>
      <vt:lpstr>Example 5 – Solution</vt:lpstr>
      <vt:lpstr>Example 5 – Solution</vt:lpstr>
      <vt:lpstr>Example 5 – Solution</vt:lpstr>
      <vt:lpstr>Checking the Correctness of a Formula by Mathematical Induction</vt:lpstr>
      <vt:lpstr>Checking the Correctness of a Formula by Mathematical Induction</vt:lpstr>
      <vt:lpstr>Example 7 – Using Mathematical Induction to Verify the Correctness of a Solution to a Recurrence Relation</vt:lpstr>
      <vt:lpstr>Example 7 – Using Mathematical Induction to Verify the Correctness of a Solution to a Recurrence Relation</vt:lpstr>
      <vt:lpstr>Example 7 – Using Mathematical Induction to Verify the Correctness of a Solution to a Recurrence Relation</vt:lpstr>
      <vt:lpstr>Example 7 – Solution</vt:lpstr>
      <vt:lpstr>Example 7 – Solution</vt:lpstr>
      <vt:lpstr>Example 7 – Solution</vt:lpstr>
      <vt:lpstr>Example 7 – Solution</vt:lpstr>
      <vt:lpstr>Example 7 – Solution</vt:lpstr>
      <vt:lpstr>Discovering That an Explicit Formula Is Incorrect</vt:lpstr>
      <vt:lpstr>Discovering That an Explicit Formula Is Incorrect</vt:lpstr>
      <vt:lpstr>Example 8 – Using Verification by Mathematical Induction to Find a Mistake</vt:lpstr>
      <vt:lpstr>Example 8 – Solution</vt:lpstr>
      <vt:lpstr>Example 8 – Solution</vt:lpstr>
      <vt:lpstr>Example 8 – Solution</vt:lpstr>
      <vt:lpstr>Example 8 – Solution</vt:lpstr>
      <vt:lpstr>Discovering That an Explicit Formula Is Incorrect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EppDm4_05_07.ppt [Compatibility Mode]</dc:title>
  <dc:creator>Noriko</dc:creator>
  <cp:lastModifiedBy>Fehmida Usmani</cp:lastModifiedBy>
  <cp:revision>3</cp:revision>
  <dcterms:created xsi:type="dcterms:W3CDTF">2024-10-09T01:10:03Z</dcterms:created>
  <dcterms:modified xsi:type="dcterms:W3CDTF">2024-10-09T01:44:03Z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2024-10-09T00:00:00Z</vt:filetime>
  </property>
  <property fmtid="{D5CDD505-2E9C-101B-9397-08002B2CF9AE}" pid="5" name="Producer">
    <vt:lpwstr>3-Heights(TM) PDF Security Shell 4.8.25.2 (http://www.pdf-tools.com)</vt:lpwstr>
  </property>
</Properties>
</file>