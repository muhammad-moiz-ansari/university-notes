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7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2932" y="900176"/>
            <a:ext cx="56762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999" y="842771"/>
            <a:ext cx="8763000" cy="830580"/>
          </a:xfrm>
          <a:custGeom>
            <a:avLst/>
            <a:gdLst/>
            <a:ahLst/>
            <a:cxnLst/>
            <a:rect l="l" t="t" r="r" b="b"/>
            <a:pathLst>
              <a:path w="8763000" h="830580">
                <a:moveTo>
                  <a:pt x="8762999" y="830579"/>
                </a:moveTo>
                <a:lnTo>
                  <a:pt x="8762999" y="0"/>
                </a:lnTo>
                <a:lnTo>
                  <a:pt x="0" y="0"/>
                </a:lnTo>
                <a:lnTo>
                  <a:pt x="0" y="830579"/>
                </a:lnTo>
                <a:lnTo>
                  <a:pt x="8762999" y="83057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70915" y="49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304799"/>
                </a:moveTo>
                <a:lnTo>
                  <a:pt x="304799" y="0"/>
                </a:lnTo>
                <a:lnTo>
                  <a:pt x="0" y="304799"/>
                </a:lnTo>
                <a:lnTo>
                  <a:pt x="304799" y="609599"/>
                </a:lnTo>
                <a:lnTo>
                  <a:pt x="609599" y="304799"/>
                </a:lnTo>
                <a:close/>
              </a:path>
            </a:pathLst>
          </a:custGeom>
          <a:solidFill>
            <a:srgbClr val="CBD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85215" y="60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0999" y="190499"/>
                </a:moveTo>
                <a:lnTo>
                  <a:pt x="190499" y="0"/>
                </a:lnTo>
                <a:lnTo>
                  <a:pt x="0" y="190499"/>
                </a:lnTo>
                <a:lnTo>
                  <a:pt x="190499" y="380999"/>
                </a:lnTo>
                <a:lnTo>
                  <a:pt x="380999" y="19049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2932" y="900176"/>
            <a:ext cx="790409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4664" y="1944117"/>
            <a:ext cx="7342505" cy="2531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08371" y="6924648"/>
            <a:ext cx="34290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32.jp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jp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jpg"/><Relationship Id="rId7" Type="http://schemas.openxmlformats.org/officeDocument/2006/relationships/image" Target="../media/image74.jp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jpg"/><Relationship Id="rId4" Type="http://schemas.openxmlformats.org/officeDocument/2006/relationships/image" Target="../media/image71.png"/><Relationship Id="rId9" Type="http://schemas.openxmlformats.org/officeDocument/2006/relationships/image" Target="../media/image7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60247"/>
            <a:ext cx="9143999" cy="61859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7349" y="587756"/>
            <a:ext cx="2041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CHAPTER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z="1400" dirty="0">
                <a:latin typeface="Arial MT"/>
                <a:cs typeface="Arial MT"/>
              </a:rPr>
              <a:t>Copyright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©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Cengage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Learning.</a:t>
            </a:r>
            <a:r>
              <a:rPr sz="1400" spc="-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rights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4688" y="1188213"/>
            <a:ext cx="417195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SEQUENCES, MATHEMATICAL </a:t>
            </a:r>
            <a:r>
              <a:rPr sz="4000" spc="-25" dirty="0">
                <a:solidFill>
                  <a:srgbClr val="FFFFFF"/>
                </a:solidFill>
                <a:latin typeface="Arial MT"/>
                <a:cs typeface="Arial MT"/>
              </a:rPr>
              <a:t>INDUCTION,</a:t>
            </a:r>
            <a:r>
              <a:rPr sz="4000" spc="-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RECURSION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7202" y="3273046"/>
            <a:ext cx="5676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15659E"/>
                </a:solidFill>
                <a:latin typeface="Arial MT"/>
                <a:cs typeface="Arial MT"/>
              </a:rPr>
              <a:t>Mathematical</a:t>
            </a:r>
            <a:r>
              <a:rPr sz="4000" spc="-180" dirty="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5659E"/>
                </a:solidFill>
                <a:latin typeface="Arial MT"/>
                <a:cs typeface="Arial MT"/>
              </a:rPr>
              <a:t>Induction</a:t>
            </a:r>
            <a:r>
              <a:rPr sz="4000" spc="-200" dirty="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sz="4000" spc="-25" dirty="0">
                <a:solidFill>
                  <a:srgbClr val="15659E"/>
                </a:solidFill>
                <a:latin typeface="Arial MT"/>
                <a:cs typeface="Arial MT"/>
              </a:rPr>
              <a:t>II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7615" y="2667000"/>
            <a:ext cx="8563610" cy="1629410"/>
            <a:chOff x="737615" y="2667000"/>
            <a:chExt cx="8563610" cy="1629410"/>
          </a:xfrm>
        </p:grpSpPr>
        <p:sp>
          <p:nvSpPr>
            <p:cNvPr id="4" name="object 4"/>
            <p:cNvSpPr/>
            <p:nvPr/>
          </p:nvSpPr>
          <p:spPr>
            <a:xfrm>
              <a:off x="2156460" y="2944368"/>
              <a:ext cx="7145020" cy="1351915"/>
            </a:xfrm>
            <a:custGeom>
              <a:avLst/>
              <a:gdLst/>
              <a:ahLst/>
              <a:cxnLst/>
              <a:rect l="l" t="t" r="r" b="b"/>
              <a:pathLst>
                <a:path w="7145020" h="1351914">
                  <a:moveTo>
                    <a:pt x="7144512" y="1107948"/>
                  </a:moveTo>
                  <a:lnTo>
                    <a:pt x="7144512" y="27432"/>
                  </a:lnTo>
                  <a:lnTo>
                    <a:pt x="7142130" y="16716"/>
                  </a:lnTo>
                  <a:lnTo>
                    <a:pt x="7135749" y="8001"/>
                  </a:lnTo>
                  <a:lnTo>
                    <a:pt x="7126509" y="2143"/>
                  </a:lnTo>
                  <a:lnTo>
                    <a:pt x="7115556" y="0"/>
                  </a:lnTo>
                  <a:lnTo>
                    <a:pt x="243840" y="0"/>
                  </a:lnTo>
                  <a:lnTo>
                    <a:pt x="193548" y="4572"/>
                  </a:lnTo>
                  <a:lnTo>
                    <a:pt x="147828" y="19812"/>
                  </a:lnTo>
                  <a:lnTo>
                    <a:pt x="106680" y="42672"/>
                  </a:lnTo>
                  <a:lnTo>
                    <a:pt x="70104" y="71628"/>
                  </a:lnTo>
                  <a:lnTo>
                    <a:pt x="41148" y="108204"/>
                  </a:lnTo>
                  <a:lnTo>
                    <a:pt x="18288" y="150876"/>
                  </a:lnTo>
                  <a:lnTo>
                    <a:pt x="4572" y="196596"/>
                  </a:lnTo>
                  <a:lnTo>
                    <a:pt x="0" y="243840"/>
                  </a:lnTo>
                  <a:lnTo>
                    <a:pt x="0" y="1322832"/>
                  </a:lnTo>
                  <a:lnTo>
                    <a:pt x="2166" y="1334428"/>
                  </a:lnTo>
                  <a:lnTo>
                    <a:pt x="8191" y="1343596"/>
                  </a:lnTo>
                  <a:lnTo>
                    <a:pt x="17359" y="1349621"/>
                  </a:lnTo>
                  <a:lnTo>
                    <a:pt x="28956" y="1351788"/>
                  </a:lnTo>
                  <a:lnTo>
                    <a:pt x="28956" y="1295400"/>
                  </a:lnTo>
                  <a:lnTo>
                    <a:pt x="57912" y="1295400"/>
                  </a:lnTo>
                  <a:lnTo>
                    <a:pt x="57912" y="224028"/>
                  </a:lnTo>
                  <a:lnTo>
                    <a:pt x="60960" y="204216"/>
                  </a:lnTo>
                  <a:lnTo>
                    <a:pt x="80772" y="153924"/>
                  </a:lnTo>
                  <a:lnTo>
                    <a:pt x="112776" y="111252"/>
                  </a:lnTo>
                  <a:lnTo>
                    <a:pt x="156972" y="79248"/>
                  </a:lnTo>
                  <a:lnTo>
                    <a:pt x="208788" y="59436"/>
                  </a:lnTo>
                  <a:lnTo>
                    <a:pt x="7086600" y="56388"/>
                  </a:lnTo>
                  <a:lnTo>
                    <a:pt x="7086600" y="27432"/>
                  </a:lnTo>
                  <a:lnTo>
                    <a:pt x="7115556" y="56388"/>
                  </a:lnTo>
                  <a:lnTo>
                    <a:pt x="7115556" y="1223772"/>
                  </a:lnTo>
                  <a:lnTo>
                    <a:pt x="7124700" y="1200912"/>
                  </a:lnTo>
                  <a:lnTo>
                    <a:pt x="7133844" y="1179576"/>
                  </a:lnTo>
                  <a:lnTo>
                    <a:pt x="7139940" y="1155192"/>
                  </a:lnTo>
                  <a:lnTo>
                    <a:pt x="7142988" y="1130808"/>
                  </a:lnTo>
                  <a:lnTo>
                    <a:pt x="7144512" y="1107948"/>
                  </a:lnTo>
                  <a:close/>
                </a:path>
                <a:path w="7145020" h="1351914">
                  <a:moveTo>
                    <a:pt x="7115556" y="1223772"/>
                  </a:moveTo>
                  <a:lnTo>
                    <a:pt x="7115556" y="56388"/>
                  </a:lnTo>
                  <a:lnTo>
                    <a:pt x="7086600" y="56388"/>
                  </a:lnTo>
                  <a:lnTo>
                    <a:pt x="7086600" y="1107948"/>
                  </a:lnTo>
                  <a:lnTo>
                    <a:pt x="7085076" y="1127760"/>
                  </a:lnTo>
                  <a:lnTo>
                    <a:pt x="7071360" y="1182624"/>
                  </a:lnTo>
                  <a:lnTo>
                    <a:pt x="7042404" y="1228344"/>
                  </a:lnTo>
                  <a:lnTo>
                    <a:pt x="7002780" y="1263396"/>
                  </a:lnTo>
                  <a:lnTo>
                    <a:pt x="6954012" y="1286256"/>
                  </a:lnTo>
                  <a:lnTo>
                    <a:pt x="6897624" y="1295400"/>
                  </a:lnTo>
                  <a:lnTo>
                    <a:pt x="28956" y="1295400"/>
                  </a:lnTo>
                  <a:lnTo>
                    <a:pt x="57912" y="1322832"/>
                  </a:lnTo>
                  <a:lnTo>
                    <a:pt x="57912" y="1351788"/>
                  </a:lnTo>
                  <a:lnTo>
                    <a:pt x="6900672" y="1351788"/>
                  </a:lnTo>
                  <a:lnTo>
                    <a:pt x="6925056" y="1350264"/>
                  </a:lnTo>
                  <a:lnTo>
                    <a:pt x="6973824" y="1341120"/>
                  </a:lnTo>
                  <a:lnTo>
                    <a:pt x="7018020" y="1321308"/>
                  </a:lnTo>
                  <a:lnTo>
                    <a:pt x="7056120" y="1295400"/>
                  </a:lnTo>
                  <a:lnTo>
                    <a:pt x="7103364" y="1243584"/>
                  </a:lnTo>
                  <a:lnTo>
                    <a:pt x="7115556" y="1223772"/>
                  </a:lnTo>
                  <a:close/>
                </a:path>
                <a:path w="7145020" h="1351914">
                  <a:moveTo>
                    <a:pt x="57912" y="1351788"/>
                  </a:moveTo>
                  <a:lnTo>
                    <a:pt x="57912" y="1322832"/>
                  </a:lnTo>
                  <a:lnTo>
                    <a:pt x="28956" y="1295400"/>
                  </a:lnTo>
                  <a:lnTo>
                    <a:pt x="28956" y="1351788"/>
                  </a:lnTo>
                  <a:lnTo>
                    <a:pt x="57912" y="1351788"/>
                  </a:lnTo>
                  <a:close/>
                </a:path>
                <a:path w="7145020" h="1351914">
                  <a:moveTo>
                    <a:pt x="7115556" y="56388"/>
                  </a:moveTo>
                  <a:lnTo>
                    <a:pt x="7086600" y="27432"/>
                  </a:lnTo>
                  <a:lnTo>
                    <a:pt x="7086600" y="56388"/>
                  </a:lnTo>
                  <a:lnTo>
                    <a:pt x="7115556" y="56388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7615" y="2667000"/>
              <a:ext cx="2438400" cy="609600"/>
            </a:xfrm>
            <a:custGeom>
              <a:avLst/>
              <a:gdLst/>
              <a:ahLst/>
              <a:cxnLst/>
              <a:rect l="l" t="t" r="r" b="b"/>
              <a:pathLst>
                <a:path w="2438400" h="609600">
                  <a:moveTo>
                    <a:pt x="2438399" y="509015"/>
                  </a:moveTo>
                  <a:lnTo>
                    <a:pt x="2438399" y="0"/>
                  </a:lnTo>
                  <a:lnTo>
                    <a:pt x="100583" y="0"/>
                  </a:lnTo>
                  <a:lnTo>
                    <a:pt x="61721" y="8024"/>
                  </a:lnTo>
                  <a:lnTo>
                    <a:pt x="29717" y="29908"/>
                  </a:lnTo>
                  <a:lnTo>
                    <a:pt x="8000" y="62364"/>
                  </a:lnTo>
                  <a:lnTo>
                    <a:pt x="0" y="102107"/>
                  </a:lnTo>
                  <a:lnTo>
                    <a:pt x="0" y="609599"/>
                  </a:lnTo>
                  <a:lnTo>
                    <a:pt x="2336291" y="609599"/>
                  </a:lnTo>
                  <a:lnTo>
                    <a:pt x="2376035" y="601813"/>
                  </a:lnTo>
                  <a:lnTo>
                    <a:pt x="2408491" y="580453"/>
                  </a:lnTo>
                  <a:lnTo>
                    <a:pt x="2430375" y="548520"/>
                  </a:lnTo>
                  <a:lnTo>
                    <a:pt x="2438399" y="509015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1512" y="2750314"/>
            <a:ext cx="20459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sz="2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25" dirty="0">
                <a:solidFill>
                  <a:srgbClr val="FFFFFF"/>
                </a:solidFill>
                <a:latin typeface="Arial"/>
                <a:cs typeface="Arial"/>
              </a:rPr>
              <a:t>5.3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z="1400" dirty="0">
                <a:latin typeface="Arial MT"/>
                <a:cs typeface="Arial MT"/>
              </a:rPr>
              <a:t>Copyright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©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Cengage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Learning.</a:t>
            </a:r>
            <a:r>
              <a:rPr sz="1400" spc="-1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rights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spc="-180" dirty="0"/>
              <a:t> </a:t>
            </a:r>
            <a:r>
              <a:rPr dirty="0"/>
              <a:t>Induction</a:t>
            </a:r>
            <a:r>
              <a:rPr spc="-200" dirty="0"/>
              <a:t> </a:t>
            </a:r>
            <a:r>
              <a:rPr spc="-25" dirty="0"/>
              <a:t>II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8065134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natural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courses,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deduction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presented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alternative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thought—</a:t>
            </a:r>
            <a:r>
              <a:rPr sz="2400" spc="-10" dirty="0">
                <a:latin typeface="Arial MT"/>
                <a:cs typeface="Arial MT"/>
              </a:rPr>
              <a:t>deduction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conclusion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principles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laws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logical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reasoning,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enunciate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principle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observing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hold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large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instances.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1828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sense,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mathematical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induction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inductive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deductive.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57086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Once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mathematical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induction,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theorem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known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certainly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other </a:t>
            </a:r>
            <a:r>
              <a:rPr sz="2400" dirty="0">
                <a:latin typeface="Arial MT"/>
                <a:cs typeface="Arial MT"/>
              </a:rPr>
              <a:t>mathematical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spc="-180" dirty="0"/>
              <a:t> </a:t>
            </a:r>
            <a:r>
              <a:rPr dirty="0"/>
              <a:t>Induction</a:t>
            </a:r>
            <a:r>
              <a:rPr spc="-200" dirty="0"/>
              <a:t> </a:t>
            </a:r>
            <a:r>
              <a:rPr spc="-25"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90829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Inductive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reasoning,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natural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 MT"/>
                <a:cs typeface="Arial MT"/>
              </a:rPr>
              <a:t>used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mathematics,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conjectures,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prove them.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observe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3736" y="3977387"/>
            <a:ext cx="1006096" cy="4908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1346" y="4708219"/>
            <a:ext cx="2233611" cy="563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26022" y="5490152"/>
            <a:ext cx="3152023" cy="5618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spc="-180" dirty="0"/>
              <a:t> </a:t>
            </a:r>
            <a:r>
              <a:rPr dirty="0"/>
              <a:t>Induction</a:t>
            </a:r>
            <a:r>
              <a:rPr spc="-200" dirty="0"/>
              <a:t> </a:t>
            </a:r>
            <a:r>
              <a:rPr spc="-25"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2913382"/>
            <a:ext cx="2650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substitution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5821176"/>
            <a:ext cx="76346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Thus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mathematical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knowledge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general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pattern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matter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mathematical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certainty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rather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vague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conjecture.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93" y="3503104"/>
            <a:ext cx="4087218" cy="5337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3504" y="3503035"/>
            <a:ext cx="1675960" cy="53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2299" y="4301655"/>
            <a:ext cx="1680522" cy="5333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07673" y="5078216"/>
            <a:ext cx="1297993" cy="53402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87581" y="5087122"/>
            <a:ext cx="873353" cy="48329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0661" y="2165331"/>
            <a:ext cx="3542309" cy="56251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63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300" dirty="0"/>
              <a:t>Example</a:t>
            </a:r>
            <a:r>
              <a:rPr sz="3300" spc="-55" dirty="0"/>
              <a:t> </a:t>
            </a:r>
            <a:r>
              <a:rPr sz="3300" dirty="0"/>
              <a:t>1</a:t>
            </a:r>
            <a:r>
              <a:rPr sz="3300" spc="-65" dirty="0"/>
              <a:t> </a:t>
            </a:r>
            <a:r>
              <a:rPr sz="3300" dirty="0"/>
              <a:t>–</a:t>
            </a:r>
            <a:r>
              <a:rPr sz="3300" spc="-60" dirty="0"/>
              <a:t> </a:t>
            </a:r>
            <a:r>
              <a:rPr sz="3300" i="1" dirty="0">
                <a:latin typeface="Arial"/>
                <a:cs typeface="Arial"/>
              </a:rPr>
              <a:t>Proving</a:t>
            </a:r>
            <a:r>
              <a:rPr sz="3300" i="1" spc="-55" dirty="0">
                <a:latin typeface="Arial"/>
                <a:cs typeface="Arial"/>
              </a:rPr>
              <a:t> </a:t>
            </a:r>
            <a:r>
              <a:rPr sz="3300" i="1" dirty="0">
                <a:latin typeface="Arial"/>
                <a:cs typeface="Arial"/>
              </a:rPr>
              <a:t>a</a:t>
            </a:r>
            <a:r>
              <a:rPr sz="3300" i="1" spc="-65" dirty="0">
                <a:latin typeface="Arial"/>
                <a:cs typeface="Arial"/>
              </a:rPr>
              <a:t> </a:t>
            </a:r>
            <a:r>
              <a:rPr sz="3300" i="1" dirty="0">
                <a:latin typeface="Arial"/>
                <a:cs typeface="Arial"/>
              </a:rPr>
              <a:t>Divisibility</a:t>
            </a:r>
            <a:r>
              <a:rPr sz="3300" i="1" spc="-50" dirty="0">
                <a:latin typeface="Arial"/>
                <a:cs typeface="Arial"/>
              </a:rPr>
              <a:t> </a:t>
            </a:r>
            <a:r>
              <a:rPr sz="3300" i="1" spc="-10" dirty="0">
                <a:latin typeface="Arial"/>
                <a:cs typeface="Arial"/>
              </a:rPr>
              <a:t>Property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3864" y="1944117"/>
            <a:ext cx="7728584" cy="317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mathematical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integers</a:t>
            </a:r>
            <a:endParaRPr sz="24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0,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n</a:t>
            </a:r>
            <a:r>
              <a:rPr sz="2400" i="1" spc="300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3.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>
              <a:latin typeface="Arial MT"/>
              <a:cs typeface="Arial MT"/>
            </a:endParaRPr>
          </a:p>
          <a:p>
            <a:pPr marL="63500" marR="304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previous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proofs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mathematical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induction,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you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property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P</a:t>
            </a:r>
            <a:r>
              <a:rPr sz="2400" spc="-10" dirty="0">
                <a:latin typeface="Arial MT"/>
                <a:cs typeface="Arial MT"/>
              </a:rPr>
              <a:t>(</a:t>
            </a:r>
            <a:r>
              <a:rPr sz="2400" i="1" spc="-10" dirty="0">
                <a:latin typeface="Arial"/>
                <a:cs typeface="Arial"/>
              </a:rPr>
              <a:t>n</a:t>
            </a:r>
            <a:r>
              <a:rPr sz="2400" spc="-10" dirty="0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sentence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9468" y="5569000"/>
            <a:ext cx="3072928" cy="7956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5904" y="5834907"/>
            <a:ext cx="1692595" cy="17511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5603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substitution,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(0),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3480310"/>
            <a:ext cx="6191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supposition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664" y="5016503"/>
            <a:ext cx="592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conclusion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shown,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1),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2016" y="2568635"/>
            <a:ext cx="3202053" cy="7941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5460" y="2879784"/>
            <a:ext cx="1156550" cy="1667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9515" y="4097227"/>
            <a:ext cx="3089691" cy="7960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90888" y="4380357"/>
            <a:ext cx="2300539" cy="1802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7461" y="5722913"/>
            <a:ext cx="3442847" cy="79494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8986" y="6026277"/>
            <a:ext cx="1675960" cy="16764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29640" y="1944117"/>
            <a:ext cx="7769859" cy="499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if,</a:t>
            </a:r>
            <a:endParaRPr sz="240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r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Now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(0)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because</a:t>
            </a: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spc="-30" baseline="24305" dirty="0">
                <a:latin typeface="Arial MT"/>
                <a:cs typeface="Arial MT"/>
              </a:rPr>
              <a:t> </a:t>
            </a:r>
            <a:r>
              <a:rPr sz="1575" b="1" spc="-607" baseline="42328" dirty="0">
                <a:latin typeface="Arial"/>
                <a:cs typeface="Arial"/>
              </a:rPr>
              <a:t>🞄</a:t>
            </a:r>
            <a:r>
              <a:rPr sz="1575" b="1" spc="232" baseline="42328" dirty="0">
                <a:latin typeface="Arial"/>
                <a:cs typeface="Arial"/>
              </a:rPr>
              <a:t> </a:t>
            </a:r>
            <a:r>
              <a:rPr sz="2400" baseline="24305" dirty="0">
                <a:latin typeface="Arial MT"/>
                <a:cs typeface="Arial MT"/>
              </a:rPr>
              <a:t>0</a:t>
            </a:r>
            <a:r>
              <a:rPr sz="2400" spc="284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0</a:t>
            </a:r>
            <a:r>
              <a:rPr sz="2400" spc="307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3</a:t>
            </a: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000" b="1" spc="-780" dirty="0">
                <a:latin typeface="Arial"/>
                <a:cs typeface="Arial"/>
              </a:rPr>
              <a:t>🞄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0.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 MT"/>
              <a:cs typeface="Arial MT"/>
            </a:endParaRPr>
          </a:p>
          <a:p>
            <a:pPr marL="76200" marR="28067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inductive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any </a:t>
            </a:r>
            <a:r>
              <a:rPr sz="2400" dirty="0">
                <a:latin typeface="Arial MT"/>
                <a:cs typeface="Arial MT"/>
              </a:rPr>
              <a:t>integer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greater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true.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00">
              <a:latin typeface="Arial MT"/>
              <a:cs typeface="Arial MT"/>
            </a:endParaRPr>
          </a:p>
          <a:p>
            <a:pPr marL="75565" marR="227329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7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then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1).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must </a:t>
            </a:r>
            <a:r>
              <a:rPr sz="2400" dirty="0">
                <a:latin typeface="Arial MT"/>
                <a:cs typeface="Arial MT"/>
              </a:rPr>
              <a:t>show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2(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baseline="24305" dirty="0">
                <a:latin typeface="Arial MT"/>
                <a:cs typeface="Arial MT"/>
              </a:rPr>
              <a:t>+1)</a:t>
            </a:r>
            <a:r>
              <a:rPr sz="2400" spc="292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3.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But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9264" y="4544063"/>
            <a:ext cx="7966709" cy="1244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11000"/>
              </a:lnSpc>
              <a:spcBef>
                <a:spcPts val="105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quantity,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84" baseline="24305" dirty="0">
                <a:latin typeface="Arial"/>
                <a:cs typeface="Arial"/>
              </a:rPr>
              <a:t> </a:t>
            </a:r>
            <a:r>
              <a:rPr sz="2000" b="1" spc="-78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divisible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3.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so?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inductive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hypothesis,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32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 by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77" baseline="24305" dirty="0">
                <a:latin typeface="Arial"/>
                <a:cs typeface="Arial"/>
              </a:rPr>
              <a:t> </a:t>
            </a:r>
            <a:r>
              <a:rPr sz="2000" b="1" spc="-780" dirty="0">
                <a:latin typeface="Arial"/>
                <a:cs typeface="Arial"/>
              </a:rPr>
              <a:t>🞄</a:t>
            </a:r>
            <a:r>
              <a:rPr sz="2000" b="1" spc="10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resembles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77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1.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121" y="2481297"/>
            <a:ext cx="2748303" cy="2673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4421" y="3133661"/>
            <a:ext cx="1484914" cy="2668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75697" y="3772956"/>
            <a:ext cx="1452488" cy="271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58467" y="3220882"/>
            <a:ext cx="1841952" cy="17120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9264" y="1944117"/>
            <a:ext cx="69494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Observe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happens,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subtract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54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77" baseline="24305" dirty="0">
                <a:latin typeface="Arial"/>
                <a:cs typeface="Arial"/>
              </a:rPr>
              <a:t> </a:t>
            </a:r>
            <a:r>
              <a:rPr sz="2000" b="1" spc="-78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5" dirty="0">
                <a:latin typeface="Arial MT"/>
                <a:cs typeface="Arial MT"/>
              </a:rPr>
              <a:t> 1: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9264" y="4065527"/>
            <a:ext cx="461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Adding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70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sides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gives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664" y="5912616"/>
            <a:ext cx="7943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right-</a:t>
            </a:r>
            <a:r>
              <a:rPr sz="2400" dirty="0">
                <a:latin typeface="Arial MT"/>
                <a:cs typeface="Arial MT"/>
              </a:rPr>
              <a:t>hand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side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this </a:t>
            </a:r>
            <a:r>
              <a:rPr sz="2400" dirty="0">
                <a:latin typeface="Arial MT"/>
                <a:cs typeface="Arial MT"/>
              </a:rPr>
              <a:t>equation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3;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3.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4673" y="2726436"/>
            <a:ext cx="3394009" cy="9979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9769" y="4721352"/>
            <a:ext cx="3292114" cy="9646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690562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Therefore,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left-</a:t>
            </a:r>
            <a:r>
              <a:rPr sz="2400" dirty="0">
                <a:latin typeface="Arial MT"/>
                <a:cs typeface="Arial MT"/>
              </a:rPr>
              <a:t>hand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also </a:t>
            </a:r>
            <a:r>
              <a:rPr sz="2400" dirty="0">
                <a:latin typeface="Arial MT"/>
                <a:cs typeface="Arial MT"/>
              </a:rPr>
              <a:t>divisible 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shown.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discussion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summarized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9264" y="4870200"/>
            <a:ext cx="7684770" cy="126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Arial"/>
                <a:cs typeface="Arial"/>
              </a:rPr>
              <a:t>Proof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(by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mathematical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induction):</a:t>
            </a:r>
            <a:endParaRPr sz="24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property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sentence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“2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n</a:t>
            </a:r>
            <a:r>
              <a:rPr sz="2400" i="1" spc="262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divisible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3.”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827" y="3781044"/>
            <a:ext cx="8238743" cy="9448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9995" y="6279941"/>
            <a:ext cx="3720846" cy="29534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5024120" cy="207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Show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(0)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true</a:t>
            </a:r>
            <a:r>
              <a:rPr sz="2400" spc="-2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establish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(0),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Arial MT"/>
                <a:cs typeface="Arial MT"/>
              </a:rPr>
              <a:t>But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4943351"/>
            <a:ext cx="5448935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000" b="1" spc="-78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0.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Hence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(0)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true.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7782" y="4205364"/>
            <a:ext cx="3704415" cy="2718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5321" y="3258543"/>
            <a:ext cx="3774501" cy="2956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Show</a:t>
            </a:r>
            <a:r>
              <a:rPr spc="-4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integers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k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dirty="0"/>
              <a:t>≥</a:t>
            </a:r>
            <a:r>
              <a:rPr spc="-30" dirty="0"/>
              <a:t> </a:t>
            </a:r>
            <a:r>
              <a:rPr dirty="0"/>
              <a:t>0,</a:t>
            </a:r>
            <a:r>
              <a:rPr spc="-30" dirty="0"/>
              <a:t> </a:t>
            </a:r>
            <a:r>
              <a:rPr dirty="0"/>
              <a:t>if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P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k</a:t>
            </a:r>
            <a:r>
              <a:rPr dirty="0"/>
              <a:t>)</a:t>
            </a:r>
            <a:r>
              <a:rPr spc="-3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true</a:t>
            </a:r>
            <a:r>
              <a:rPr spc="-35" dirty="0"/>
              <a:t> </a:t>
            </a:r>
            <a:r>
              <a:rPr spc="-20" dirty="0"/>
              <a:t>then</a:t>
            </a:r>
          </a:p>
          <a:p>
            <a:pPr marL="12700">
              <a:lnSpc>
                <a:spcPct val="100000"/>
              </a:lnSpc>
            </a:pPr>
            <a:r>
              <a:rPr i="1" dirty="0">
                <a:latin typeface="Arial"/>
                <a:cs typeface="Arial"/>
              </a:rPr>
              <a:t>P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k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dirty="0"/>
              <a:t>1)</a:t>
            </a:r>
            <a:r>
              <a:rPr spc="-2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also</a:t>
            </a:r>
            <a:r>
              <a:rPr spc="-30" dirty="0"/>
              <a:t> </a:t>
            </a:r>
            <a:r>
              <a:rPr spc="-20" dirty="0"/>
              <a:t>true:</a:t>
            </a:r>
          </a:p>
          <a:p>
            <a:pPr marL="12700" marR="5080">
              <a:lnSpc>
                <a:spcPct val="100000"/>
              </a:lnSpc>
              <a:spcBef>
                <a:spcPts val="2014"/>
              </a:spcBef>
            </a:pPr>
            <a:r>
              <a:rPr b="0" i="1" dirty="0">
                <a:latin typeface="Arial"/>
                <a:cs typeface="Arial"/>
              </a:rPr>
              <a:t>[Suppose</a:t>
            </a:r>
            <a:r>
              <a:rPr b="0" i="1" spc="-4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that</a:t>
            </a:r>
            <a:r>
              <a:rPr b="0" i="1" spc="-5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P</a:t>
            </a:r>
            <a:r>
              <a:rPr b="0" dirty="0">
                <a:latin typeface="Arial MT"/>
                <a:cs typeface="Arial MT"/>
              </a:rPr>
              <a:t>(</a:t>
            </a:r>
            <a:r>
              <a:rPr b="0" i="1" dirty="0">
                <a:latin typeface="Arial"/>
                <a:cs typeface="Arial"/>
              </a:rPr>
              <a:t>k</a:t>
            </a:r>
            <a:r>
              <a:rPr b="0" dirty="0">
                <a:latin typeface="Arial MT"/>
                <a:cs typeface="Arial MT"/>
              </a:rPr>
              <a:t>)</a:t>
            </a:r>
            <a:r>
              <a:rPr b="0" spc="-60" dirty="0">
                <a:latin typeface="Arial MT"/>
                <a:cs typeface="Arial MT"/>
              </a:rPr>
              <a:t> </a:t>
            </a:r>
            <a:r>
              <a:rPr b="0" i="1" dirty="0">
                <a:latin typeface="Arial"/>
                <a:cs typeface="Arial"/>
              </a:rPr>
              <a:t>is</a:t>
            </a:r>
            <a:r>
              <a:rPr b="0" i="1" spc="-4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true</a:t>
            </a:r>
            <a:r>
              <a:rPr b="0" i="1" spc="-5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for</a:t>
            </a:r>
            <a:r>
              <a:rPr b="0" i="1" spc="-5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a</a:t>
            </a:r>
            <a:r>
              <a:rPr b="0" i="1" spc="-4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particular</a:t>
            </a:r>
            <a:r>
              <a:rPr b="0" i="1" spc="-3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but</a:t>
            </a:r>
            <a:r>
              <a:rPr b="0" i="1" spc="-50" dirty="0">
                <a:latin typeface="Arial"/>
                <a:cs typeface="Arial"/>
              </a:rPr>
              <a:t> </a:t>
            </a:r>
            <a:r>
              <a:rPr b="0" i="1" spc="-10" dirty="0">
                <a:latin typeface="Arial"/>
                <a:cs typeface="Arial"/>
              </a:rPr>
              <a:t>arbitrarily </a:t>
            </a:r>
            <a:r>
              <a:rPr b="0" i="1" dirty="0">
                <a:latin typeface="Arial"/>
                <a:cs typeface="Arial"/>
              </a:rPr>
              <a:t>chosen</a:t>
            </a:r>
            <a:r>
              <a:rPr b="0" i="1" spc="-3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integer</a:t>
            </a:r>
            <a:r>
              <a:rPr b="0" i="1" spc="-2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k</a:t>
            </a:r>
            <a:r>
              <a:rPr b="0" i="1" spc="-50" dirty="0">
                <a:latin typeface="Arial"/>
                <a:cs typeface="Arial"/>
              </a:rPr>
              <a:t> </a:t>
            </a:r>
            <a:r>
              <a:rPr b="0" dirty="0">
                <a:latin typeface="Symbol"/>
                <a:cs typeface="Symbol"/>
              </a:rPr>
              <a:t>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Arial MT"/>
                <a:cs typeface="Arial MT"/>
              </a:rPr>
              <a:t>0</a:t>
            </a:r>
            <a:r>
              <a:rPr b="0" i="1" dirty="0">
                <a:latin typeface="Arial"/>
                <a:cs typeface="Arial"/>
              </a:rPr>
              <a:t>.</a:t>
            </a:r>
            <a:r>
              <a:rPr b="0" i="1" spc="-5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That</a:t>
            </a:r>
            <a:r>
              <a:rPr b="0" i="1" spc="-30" dirty="0">
                <a:latin typeface="Arial"/>
                <a:cs typeface="Arial"/>
              </a:rPr>
              <a:t> </a:t>
            </a:r>
            <a:r>
              <a:rPr b="0" i="1" spc="-20" dirty="0">
                <a:latin typeface="Arial"/>
                <a:cs typeface="Arial"/>
              </a:rPr>
              <a:t>is:]</a:t>
            </a: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b="0" dirty="0">
                <a:latin typeface="Arial MT"/>
                <a:cs typeface="Arial MT"/>
              </a:rPr>
              <a:t>Let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i="1" dirty="0">
                <a:latin typeface="Arial"/>
                <a:cs typeface="Arial"/>
              </a:rPr>
              <a:t>k</a:t>
            </a:r>
            <a:r>
              <a:rPr b="0" i="1" spc="-35" dirty="0">
                <a:latin typeface="Arial"/>
                <a:cs typeface="Arial"/>
              </a:rPr>
              <a:t> </a:t>
            </a:r>
            <a:r>
              <a:rPr b="0" dirty="0">
                <a:latin typeface="Arial MT"/>
                <a:cs typeface="Arial MT"/>
              </a:rPr>
              <a:t>be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any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integer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with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i="1" dirty="0">
                <a:latin typeface="Arial"/>
                <a:cs typeface="Arial"/>
              </a:rPr>
              <a:t>k</a:t>
            </a:r>
            <a:r>
              <a:rPr b="0" i="1" spc="-45" dirty="0">
                <a:latin typeface="Arial"/>
                <a:cs typeface="Arial"/>
              </a:rPr>
              <a:t> </a:t>
            </a:r>
            <a:r>
              <a:rPr b="0" dirty="0">
                <a:latin typeface="Symbol"/>
                <a:cs typeface="Symbol"/>
              </a:rPr>
              <a:t>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Arial MT"/>
                <a:cs typeface="Arial MT"/>
              </a:rPr>
              <a:t>0,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suppose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that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4664" y="5491992"/>
            <a:ext cx="5636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definition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divisibility,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885" y="6063755"/>
            <a:ext cx="3978459" cy="3253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0849" y="4580148"/>
            <a:ext cx="5420298" cy="66241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311390" cy="181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[We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must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show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true.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is:]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must </a:t>
            </a:r>
            <a:r>
              <a:rPr sz="2400" dirty="0">
                <a:latin typeface="Arial MT"/>
                <a:cs typeface="Arial MT"/>
              </a:rPr>
              <a:t>show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Arial MT"/>
                <a:cs typeface="Arial MT"/>
              </a:rPr>
              <a:t>But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5408" y="2921200"/>
            <a:ext cx="3304445" cy="3253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7879" y="3004820"/>
            <a:ext cx="969504" cy="1670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7729" y="3952494"/>
            <a:ext cx="2822851" cy="2667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4673" y="4638553"/>
            <a:ext cx="1534794" cy="2625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14669" y="5266044"/>
            <a:ext cx="1409678" cy="26258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10511" y="5922125"/>
            <a:ext cx="1991846" cy="31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70069" y="4725020"/>
            <a:ext cx="1838889" cy="17542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4138679"/>
            <a:ext cx="8030845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731645" algn="l"/>
                <a:tab pos="7208520" algn="l"/>
              </a:tabLst>
            </a:pPr>
            <a:r>
              <a:rPr sz="2400" spc="-25" dirty="0">
                <a:latin typeface="Arial MT"/>
                <a:cs typeface="Arial MT"/>
              </a:rPr>
              <a:t>But</a:t>
            </a:r>
            <a:r>
              <a:rPr sz="2400" dirty="0">
                <a:latin typeface="Arial MT"/>
                <a:cs typeface="Arial MT"/>
              </a:rPr>
              <a:t>	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integers,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definition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divisibility,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divisible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[as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was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be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shown]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 marR="570865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[Since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we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have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proved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basis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step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and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inductive </a:t>
            </a:r>
            <a:r>
              <a:rPr sz="2400" i="1" dirty="0">
                <a:latin typeface="Arial"/>
                <a:cs typeface="Arial"/>
              </a:rPr>
              <a:t>step,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we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conclude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proposition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true.]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2158" y="2069515"/>
            <a:ext cx="2350257" cy="3128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9870" y="2755335"/>
            <a:ext cx="1556243" cy="2923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5170" y="3449442"/>
            <a:ext cx="1489197" cy="3168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3108" y="2160976"/>
            <a:ext cx="1643524" cy="1757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62819" y="2866926"/>
            <a:ext cx="1756176" cy="1754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62819" y="3544061"/>
            <a:ext cx="1639763" cy="17183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61980" y="4171923"/>
            <a:ext cx="1031986" cy="3181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82959" y="4575047"/>
            <a:ext cx="1239672" cy="25145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0915" y="495300"/>
            <a:ext cx="9054465" cy="1178560"/>
            <a:chOff x="470915" y="495300"/>
            <a:chExt cx="9054465" cy="1178560"/>
          </a:xfrm>
        </p:grpSpPr>
        <p:sp>
          <p:nvSpPr>
            <p:cNvPr id="3" name="object 3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spc="-180" dirty="0"/>
              <a:t> </a:t>
            </a:r>
            <a:r>
              <a:rPr dirty="0"/>
              <a:t>Induction</a:t>
            </a:r>
            <a:r>
              <a:rPr spc="-200" dirty="0"/>
              <a:t> </a:t>
            </a:r>
            <a:r>
              <a:rPr spc="-25" dirty="0"/>
              <a:t>II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93140" y="1944117"/>
            <a:ext cx="71418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illustrates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mathematical </a:t>
            </a:r>
            <a:r>
              <a:rPr sz="2400" dirty="0">
                <a:latin typeface="Arial MT"/>
                <a:cs typeface="Arial MT"/>
              </a:rPr>
              <a:t>induction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inequality.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50" dirty="0"/>
              <a:t> </a:t>
            </a:r>
            <a:r>
              <a:rPr dirty="0"/>
              <a:t>2</a:t>
            </a:r>
            <a:r>
              <a:rPr spc="-70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i="1" dirty="0">
                <a:latin typeface="Arial"/>
                <a:cs typeface="Arial"/>
              </a:rPr>
              <a:t>Proving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Inequality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54951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mathematical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integers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 MT"/>
                <a:cs typeface="Arial MT"/>
              </a:rPr>
              <a:t>3,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property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inequality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5309112"/>
            <a:ext cx="75603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substitution,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(3),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4505" y="2730630"/>
            <a:ext cx="1530991" cy="3000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4696" y="4126882"/>
            <a:ext cx="4857325" cy="7910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59919" y="5908954"/>
            <a:ext cx="4240820" cy="8456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6191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supposition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3443734"/>
            <a:ext cx="4602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conclusion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9264" y="5199384"/>
            <a:ext cx="79863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observe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(3)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000" b="1" spc="-78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7,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baseline="24305" dirty="0">
                <a:latin typeface="Arial MT"/>
                <a:cs typeface="Arial MT"/>
              </a:rPr>
              <a:t>3</a:t>
            </a:r>
            <a:r>
              <a:rPr sz="2400" spc="292" baseline="24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7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25" dirty="0">
                <a:latin typeface="Arial MT"/>
                <a:cs typeface="Arial MT"/>
              </a:rPr>
              <a:t> 8.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3380" y="2481111"/>
            <a:ext cx="5617377" cy="86110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1765" y="4047912"/>
            <a:ext cx="5367745" cy="86957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164" y="1944117"/>
            <a:ext cx="7894955" cy="448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103505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inductive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inductive </a:t>
            </a:r>
            <a:r>
              <a:rPr sz="2400" dirty="0">
                <a:latin typeface="Arial MT"/>
                <a:cs typeface="Arial MT"/>
              </a:rPr>
              <a:t>hypothesis,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 MT"/>
                <a:cs typeface="Arial MT"/>
              </a:rPr>
              <a:t>3.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Arial MT"/>
              <a:cs typeface="Arial MT"/>
            </a:endParaRPr>
          </a:p>
          <a:p>
            <a:pPr marL="76200" marR="410209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300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assumed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particular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arbitrarily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chosen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 MT"/>
                <a:cs typeface="Arial MT"/>
              </a:rPr>
              <a:t>3.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400">
              <a:latin typeface="Arial MT"/>
              <a:cs typeface="Arial MT"/>
            </a:endParaRPr>
          </a:p>
          <a:p>
            <a:pPr marL="75565" marR="30480">
              <a:lnSpc>
                <a:spcPct val="100000"/>
              </a:lnSpc>
              <a:tabLst>
                <a:tab pos="4990465" algn="l"/>
              </a:tabLst>
            </a:pP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derive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1).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show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inequality</a:t>
            </a:r>
            <a:r>
              <a:rPr sz="2400" dirty="0">
                <a:latin typeface="Arial MT"/>
                <a:cs typeface="Arial MT"/>
              </a:rPr>
              <a:t>	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true.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multiplying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regrouping,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substitution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inductive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hypothesis,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215" y="4633214"/>
            <a:ext cx="2382279" cy="3046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9485" y="5623293"/>
            <a:ext cx="7450902" cy="2621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8217" y="6508421"/>
            <a:ext cx="6480307" cy="32098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3864" y="1944117"/>
            <a:ext cx="7635875" cy="439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Hence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Arial MT"/>
              <a:cs typeface="Arial MT"/>
            </a:endParaRPr>
          </a:p>
          <a:p>
            <a:pPr marL="63500" marR="2609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84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baseline="24305" dirty="0">
                <a:latin typeface="Arial MT"/>
                <a:cs typeface="Arial MT"/>
              </a:rPr>
              <a:t>+1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desired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inequality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proved.</a:t>
            </a:r>
            <a:endParaRPr sz="2400">
              <a:latin typeface="Arial MT"/>
              <a:cs typeface="Arial MT"/>
            </a:endParaRPr>
          </a:p>
          <a:p>
            <a:pPr marL="63500" marR="158750">
              <a:lnSpc>
                <a:spcPct val="100000"/>
              </a:lnSpc>
              <a:spcBef>
                <a:spcPts val="1295"/>
              </a:spcBef>
            </a:pP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quantity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i="1" baseline="24305" dirty="0">
                <a:latin typeface="Arial"/>
                <a:cs typeface="Arial"/>
              </a:rPr>
              <a:t>k</a:t>
            </a:r>
            <a:r>
              <a:rPr sz="2400" i="1" spc="262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subtracted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inequality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direction,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2400">
              <a:latin typeface="Arial MT"/>
              <a:cs typeface="Arial MT"/>
            </a:endParaRPr>
          </a:p>
          <a:p>
            <a:pPr marL="63500" marR="177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multiplying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dividing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inequality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does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direction,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889" y="2501504"/>
            <a:ext cx="2424102" cy="2882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8552" y="2546604"/>
            <a:ext cx="3491898" cy="4336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2577" y="5041238"/>
            <a:ext cx="5803639" cy="2882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39734" y="6354671"/>
            <a:ext cx="3630017" cy="5911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11980" y="6612463"/>
            <a:ext cx="1883921" cy="17511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856220" cy="178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0670">
              <a:lnSpc>
                <a:spcPct val="100000"/>
              </a:lnSpc>
              <a:spcBef>
                <a:spcPts val="100"/>
              </a:spcBef>
              <a:tabLst>
                <a:tab pos="3569335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inequality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clearly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2.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Hence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305"/>
              </a:spcBef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discussion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flowing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(but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intuitive)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proof: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5016504"/>
            <a:ext cx="5121910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Arial"/>
                <a:cs typeface="Arial"/>
              </a:rPr>
              <a:t>Proof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(by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mathematical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induction):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property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inequality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3892" y="2389448"/>
            <a:ext cx="2282801" cy="2917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61" y="3968784"/>
            <a:ext cx="8188589" cy="9110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1030" y="6188863"/>
            <a:ext cx="1514399" cy="2460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9235" y="6234109"/>
            <a:ext cx="658164" cy="16677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779525"/>
            <a:ext cx="5024120" cy="348234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400" b="1" dirty="0">
                <a:latin typeface="Arial"/>
                <a:cs typeface="Arial"/>
              </a:rPr>
              <a:t>Show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P</a:t>
            </a:r>
            <a:r>
              <a:rPr sz="2400" b="1" dirty="0">
                <a:latin typeface="Arial"/>
                <a:cs typeface="Arial"/>
              </a:rPr>
              <a:t>(3)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true: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establish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(3),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5" dirty="0">
                <a:latin typeface="Arial MT"/>
                <a:cs typeface="Arial MT"/>
              </a:rPr>
              <a:t>But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Hence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(3)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true.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9062" y="3190804"/>
            <a:ext cx="1630091" cy="2882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587" y="3258042"/>
            <a:ext cx="753489" cy="2084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2913" y="4184903"/>
            <a:ext cx="5287990" cy="33389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Show</a:t>
            </a:r>
            <a:r>
              <a:rPr spc="-4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integers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k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dirty="0"/>
              <a:t>≥</a:t>
            </a:r>
            <a:r>
              <a:rPr spc="-30" dirty="0"/>
              <a:t> </a:t>
            </a:r>
            <a:r>
              <a:rPr dirty="0"/>
              <a:t>3,</a:t>
            </a:r>
            <a:r>
              <a:rPr spc="-30" dirty="0"/>
              <a:t> </a:t>
            </a:r>
            <a:r>
              <a:rPr dirty="0"/>
              <a:t>if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P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k</a:t>
            </a:r>
            <a:r>
              <a:rPr dirty="0"/>
              <a:t>)</a:t>
            </a:r>
            <a:r>
              <a:rPr spc="-3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true</a:t>
            </a:r>
            <a:r>
              <a:rPr spc="-35" dirty="0"/>
              <a:t> </a:t>
            </a:r>
            <a:r>
              <a:rPr spc="-20" dirty="0"/>
              <a:t>then</a:t>
            </a:r>
          </a:p>
          <a:p>
            <a:pPr marL="12700">
              <a:lnSpc>
                <a:spcPct val="100000"/>
              </a:lnSpc>
            </a:pPr>
            <a:r>
              <a:rPr i="1" dirty="0">
                <a:latin typeface="Arial"/>
                <a:cs typeface="Arial"/>
              </a:rPr>
              <a:t>P</a:t>
            </a:r>
            <a:r>
              <a:rPr dirty="0"/>
              <a:t>(</a:t>
            </a:r>
            <a:r>
              <a:rPr i="1" dirty="0">
                <a:latin typeface="Arial"/>
                <a:cs typeface="Arial"/>
              </a:rPr>
              <a:t>k</a:t>
            </a:r>
            <a:r>
              <a:rPr i="1" spc="-25" dirty="0">
                <a:latin typeface="Arial"/>
                <a:cs typeface="Arial"/>
              </a:rPr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dirty="0"/>
              <a:t>1)</a:t>
            </a:r>
            <a:r>
              <a:rPr spc="-2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also</a:t>
            </a:r>
            <a:r>
              <a:rPr spc="-30" dirty="0"/>
              <a:t> </a:t>
            </a:r>
            <a:r>
              <a:rPr spc="-20" dirty="0"/>
              <a:t>true:</a:t>
            </a:r>
          </a:p>
          <a:p>
            <a:pPr marL="12700" marR="5080">
              <a:lnSpc>
                <a:spcPct val="100000"/>
              </a:lnSpc>
              <a:spcBef>
                <a:spcPts val="1295"/>
              </a:spcBef>
            </a:pPr>
            <a:r>
              <a:rPr b="0" i="1" dirty="0">
                <a:latin typeface="Arial"/>
                <a:cs typeface="Arial"/>
              </a:rPr>
              <a:t>[Suppose</a:t>
            </a:r>
            <a:r>
              <a:rPr b="0" i="1" spc="-4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that</a:t>
            </a:r>
            <a:r>
              <a:rPr b="0" i="1" spc="-5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P</a:t>
            </a:r>
            <a:r>
              <a:rPr b="0" dirty="0">
                <a:latin typeface="Arial MT"/>
                <a:cs typeface="Arial MT"/>
              </a:rPr>
              <a:t>(</a:t>
            </a:r>
            <a:r>
              <a:rPr b="0" i="1" dirty="0">
                <a:latin typeface="Arial"/>
                <a:cs typeface="Arial"/>
              </a:rPr>
              <a:t>k</a:t>
            </a:r>
            <a:r>
              <a:rPr b="0" dirty="0">
                <a:latin typeface="Arial MT"/>
                <a:cs typeface="Arial MT"/>
              </a:rPr>
              <a:t>)</a:t>
            </a:r>
            <a:r>
              <a:rPr b="0" spc="-60" dirty="0">
                <a:latin typeface="Arial MT"/>
                <a:cs typeface="Arial MT"/>
              </a:rPr>
              <a:t> </a:t>
            </a:r>
            <a:r>
              <a:rPr b="0" i="1" dirty="0">
                <a:latin typeface="Arial"/>
                <a:cs typeface="Arial"/>
              </a:rPr>
              <a:t>is</a:t>
            </a:r>
            <a:r>
              <a:rPr b="0" i="1" spc="-4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true</a:t>
            </a:r>
            <a:r>
              <a:rPr b="0" i="1" spc="-5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for</a:t>
            </a:r>
            <a:r>
              <a:rPr b="0" i="1" spc="-5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a</a:t>
            </a:r>
            <a:r>
              <a:rPr b="0" i="1" spc="-4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particular</a:t>
            </a:r>
            <a:r>
              <a:rPr b="0" i="1" spc="-3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but</a:t>
            </a:r>
            <a:r>
              <a:rPr b="0" i="1" spc="-50" dirty="0">
                <a:latin typeface="Arial"/>
                <a:cs typeface="Arial"/>
              </a:rPr>
              <a:t> </a:t>
            </a:r>
            <a:r>
              <a:rPr b="0" i="1" spc="-10" dirty="0">
                <a:latin typeface="Arial"/>
                <a:cs typeface="Arial"/>
              </a:rPr>
              <a:t>arbitrarily </a:t>
            </a:r>
            <a:r>
              <a:rPr b="0" i="1" dirty="0">
                <a:latin typeface="Arial"/>
                <a:cs typeface="Arial"/>
              </a:rPr>
              <a:t>chosen</a:t>
            </a:r>
            <a:r>
              <a:rPr b="0" i="1" spc="-3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integer</a:t>
            </a:r>
            <a:r>
              <a:rPr b="0" i="1" spc="-20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k</a:t>
            </a:r>
            <a:r>
              <a:rPr b="0" i="1" spc="-50" dirty="0">
                <a:latin typeface="Arial"/>
                <a:cs typeface="Arial"/>
              </a:rPr>
              <a:t> </a:t>
            </a:r>
            <a:r>
              <a:rPr b="0" dirty="0">
                <a:latin typeface="Symbol"/>
                <a:cs typeface="Symbol"/>
              </a:rPr>
              <a:t></a:t>
            </a:r>
            <a:r>
              <a:rPr b="0" spc="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Arial MT"/>
                <a:cs typeface="Arial MT"/>
              </a:rPr>
              <a:t>3.</a:t>
            </a:r>
            <a:r>
              <a:rPr b="0" spc="-55" dirty="0">
                <a:latin typeface="Arial MT"/>
                <a:cs typeface="Arial MT"/>
              </a:rPr>
              <a:t> </a:t>
            </a:r>
            <a:r>
              <a:rPr b="0" i="1" dirty="0">
                <a:latin typeface="Arial"/>
                <a:cs typeface="Arial"/>
              </a:rPr>
              <a:t>That</a:t>
            </a:r>
            <a:r>
              <a:rPr b="0" i="1" spc="-30" dirty="0">
                <a:latin typeface="Arial"/>
                <a:cs typeface="Arial"/>
              </a:rPr>
              <a:t> </a:t>
            </a:r>
            <a:r>
              <a:rPr b="0" i="1" spc="-20" dirty="0">
                <a:latin typeface="Arial"/>
                <a:cs typeface="Arial"/>
              </a:rPr>
              <a:t>is:]</a:t>
            </a: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b="0" i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0" dirty="0">
                <a:latin typeface="Arial MT"/>
                <a:cs typeface="Arial MT"/>
              </a:rPr>
              <a:t>Suppose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that</a:t>
            </a:r>
            <a:r>
              <a:rPr b="0" spc="-50" dirty="0">
                <a:latin typeface="Arial MT"/>
                <a:cs typeface="Arial MT"/>
              </a:rPr>
              <a:t> </a:t>
            </a:r>
            <a:r>
              <a:rPr b="0" i="1" dirty="0">
                <a:latin typeface="Arial"/>
                <a:cs typeface="Arial"/>
              </a:rPr>
              <a:t>k</a:t>
            </a:r>
            <a:r>
              <a:rPr b="0" i="1" spc="-30" dirty="0">
                <a:latin typeface="Arial"/>
                <a:cs typeface="Arial"/>
              </a:rPr>
              <a:t> </a:t>
            </a:r>
            <a:r>
              <a:rPr b="0" dirty="0">
                <a:latin typeface="Arial MT"/>
                <a:cs typeface="Arial MT"/>
              </a:rPr>
              <a:t>is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any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integer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with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i="1" dirty="0">
                <a:latin typeface="Arial"/>
                <a:cs typeface="Arial"/>
              </a:rPr>
              <a:t>k</a:t>
            </a:r>
            <a:r>
              <a:rPr b="0" i="1" spc="-45" dirty="0">
                <a:latin typeface="Arial"/>
                <a:cs typeface="Arial"/>
              </a:rPr>
              <a:t> </a:t>
            </a:r>
            <a:r>
              <a:rPr b="0" dirty="0">
                <a:latin typeface="Symbol"/>
                <a:cs typeface="Symbol"/>
              </a:rPr>
              <a:t>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Arial MT"/>
                <a:cs typeface="Arial MT"/>
              </a:rPr>
              <a:t>3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such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that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4664" y="5400552"/>
            <a:ext cx="73952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181725" algn="l"/>
              </a:tabLst>
            </a:pPr>
            <a:r>
              <a:rPr sz="2400" i="1" dirty="0">
                <a:latin typeface="Arial"/>
                <a:cs typeface="Arial"/>
              </a:rPr>
              <a:t>[We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must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show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true.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is:]</a:t>
            </a:r>
            <a:r>
              <a:rPr sz="2400" i="1" dirty="0">
                <a:latin typeface="Arial"/>
                <a:cs typeface="Arial"/>
              </a:rPr>
              <a:t>	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must </a:t>
            </a:r>
            <a:r>
              <a:rPr sz="2400" dirty="0">
                <a:latin typeface="Arial MT"/>
                <a:cs typeface="Arial MT"/>
              </a:rPr>
              <a:t>show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5785" y="4759107"/>
            <a:ext cx="1497757" cy="287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6221" y="4828669"/>
            <a:ext cx="1518031" cy="4086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4113" y="6362232"/>
            <a:ext cx="2599194" cy="3171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4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i="1" spc="-10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22225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Or,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equivalently,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Arial MT"/>
                <a:cs typeface="Arial MT"/>
              </a:rPr>
              <a:t>But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5601720"/>
            <a:ext cx="7464425" cy="126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i="1" dirty="0">
                <a:latin typeface="Arial"/>
                <a:cs typeface="Arial"/>
              </a:rPr>
              <a:t>[This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what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we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needed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show.]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Arial"/>
                <a:cs typeface="Arial"/>
              </a:rPr>
              <a:t>[Since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we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have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proved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basis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step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and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inductive </a:t>
            </a:r>
            <a:r>
              <a:rPr sz="2400" i="1" dirty="0">
                <a:latin typeface="Arial"/>
                <a:cs typeface="Arial"/>
              </a:rPr>
              <a:t>step,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we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conclude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that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the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proposition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is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true.]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2093" y="2531229"/>
            <a:ext cx="1908946" cy="2876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8878" y="2626398"/>
            <a:ext cx="920695" cy="17094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21679" y="3574199"/>
            <a:ext cx="2678463" cy="2586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9402" y="3649017"/>
            <a:ext cx="791560" cy="1710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82338" y="4251052"/>
            <a:ext cx="1144300" cy="27916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4049" y="4263753"/>
            <a:ext cx="3596491" cy="4298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55801" y="4999884"/>
            <a:ext cx="2873136" cy="27462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93421" y="5066396"/>
            <a:ext cx="1879763" cy="171252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1335</Words>
  <Application>Microsoft Office PowerPoint</Application>
  <PresentationFormat>Custom</PresentationFormat>
  <Paragraphs>174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MT</vt:lpstr>
      <vt:lpstr>Symbol</vt:lpstr>
      <vt:lpstr>Times New Roman</vt:lpstr>
      <vt:lpstr>Office Theme</vt:lpstr>
      <vt:lpstr>CHAPTER 5</vt:lpstr>
      <vt:lpstr>PowerPoint Presentation</vt:lpstr>
      <vt:lpstr>Mathematical Induction II</vt:lpstr>
      <vt:lpstr>Mathematical Induction II</vt:lpstr>
      <vt:lpstr>Mathematical Induction II</vt:lpstr>
      <vt:lpstr>Example 1 – Proving a Divisibility Property</vt:lpstr>
      <vt:lpstr>Example 1 – Solution</vt:lpstr>
      <vt:lpstr>Example 1 – Solution</vt:lpstr>
      <vt:lpstr>Example 1 – Solution</vt:lpstr>
      <vt:lpstr>Example 1 – Solution</vt:lpstr>
      <vt:lpstr>Example 1 – Solution</vt:lpstr>
      <vt:lpstr>Example 1 – Solution</vt:lpstr>
      <vt:lpstr>Example 1 – Solution</vt:lpstr>
      <vt:lpstr>Example 1 – Solution</vt:lpstr>
      <vt:lpstr>Example 1 – Solution</vt:lpstr>
      <vt:lpstr>Mathematical Induction II</vt:lpstr>
      <vt:lpstr>Example 2 – Proving an Inequality</vt:lpstr>
      <vt:lpstr>Example 2 – Solution</vt:lpstr>
      <vt:lpstr>Example 2 – Solution</vt:lpstr>
      <vt:lpstr>Example 2 – Solution</vt:lpstr>
      <vt:lpstr>Example 2 – Solution</vt:lpstr>
      <vt:lpstr>Example 2 – Solution</vt:lpstr>
      <vt:lpstr>Example 2 – Solution</vt:lpstr>
      <vt:lpstr>Example 2 –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EppDm4_05_03.ppt [Compatibility Mode]</dc:title>
  <dc:creator>Noriko</dc:creator>
  <cp:lastModifiedBy>Fehmida Usmani</cp:lastModifiedBy>
  <cp:revision>1</cp:revision>
  <dcterms:created xsi:type="dcterms:W3CDTF">2024-09-30T04:43:41Z</dcterms:created>
  <dcterms:modified xsi:type="dcterms:W3CDTF">2024-09-30T04:50:44Z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2024-09-30T00:00:00Z</vt:filetime>
  </property>
  <property fmtid="{D5CDD505-2E9C-101B-9397-08002B2CF9AE}" pid="5" name="Producer">
    <vt:lpwstr>GPL Ghostscript 8.63</vt:lpwstr>
  </property>
</Properties>
</file>